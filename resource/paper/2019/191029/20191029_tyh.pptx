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0" r:id="rId4"/>
    <p:sldId id="262" r:id="rId5"/>
    <p:sldId id="263" r:id="rId6"/>
    <p:sldId id="267" r:id="rId7"/>
    <p:sldId id="293" r:id="rId8"/>
    <p:sldId id="294" r:id="rId9"/>
    <p:sldId id="295" r:id="rId10"/>
    <p:sldId id="296" r:id="rId11"/>
    <p:sldId id="284" r:id="rId12"/>
    <p:sldId id="286" r:id="rId13"/>
    <p:sldId id="279" r:id="rId14"/>
    <p:sldId id="285" r:id="rId15"/>
    <p:sldId id="281" r:id="rId16"/>
    <p:sldId id="287" r:id="rId17"/>
    <p:sldId id="288" r:id="rId18"/>
    <p:sldId id="289" r:id="rId19"/>
    <p:sldId id="290" r:id="rId20"/>
    <p:sldId id="291" r:id="rId21"/>
    <p:sldId id="292" r:id="rId22"/>
    <p:sldId id="282" r:id="rId23"/>
    <p:sldId id="283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4.wmf"/><Relationship Id="rId4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2019/10/29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Minimum Common String Partition Revisited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Haitao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Jiang,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Binhai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Zhu,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Daming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Zhu, and Hong Zhu</a:t>
            </a:r>
          </a:p>
          <a:p>
            <a:pPr fontAlgn="ctr"/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145012" y="3873343"/>
            <a:ext cx="6653680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Workshop on Frontiers in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Algorithmics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FAW, Wuhan, China, 11-13 August 2010, pp. 45-52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200" dirty="0">
              <a:latin typeface="+mj-lt"/>
              <a:cs typeface="Times New Roman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580112" y="5357171"/>
            <a:ext cx="3375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Yuan-Hsiu Tsai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60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Date: Oct. 22, 2019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52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642918"/>
            <a:ext cx="9004993" cy="5347657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Minimum Common String Partition (MCSP) has drawn much attention due to its application in genome rearrangement. In this paper, we investigate three variants of MCSP: 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MCSP</a:t>
            </a:r>
            <a:r>
              <a:rPr lang="en-US" altLang="zh-TW" sz="2800" baseline="30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, which requires that there are at most c symbols in the alphabet; d-MCSP, which requires the occurrence of each symbol to be bounded by d; and x-balance MCSP, which requires the length of blocks not being x away from the average length. We show that 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MCSP</a:t>
            </a:r>
            <a:r>
              <a:rPr lang="en-US" altLang="zh-TW" sz="2800" baseline="30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is NP-hard when c ≥ 2. As for d-MCSP, we present an FPT algorithm which runs in O∗((d!)k) time. As it is still unknown whether an FPT algorithm only parameterized on k exists for the general case of MCSP, we also devise an FPT algorithm for the special case x-balance MCSP parameterized on both k and x.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MCSP (Minimum Common String Partition)  : </a:t>
            </a:r>
          </a:p>
          <a:p>
            <a:pPr lvl="1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 are two string X and Y, they must have some condition: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1.the length of X and Y are same.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2.X and Y have the same alphabet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3.the number of any letter in X is same in Y</a:t>
            </a:r>
          </a:p>
          <a:p>
            <a:pPr lvl="1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Then MCSP will partition X and Y such that they will have the same substring set, but the same set in X could not in same position of 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MCSP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 are two string</a:t>
            </a: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X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beabcdb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Y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abdbebc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MCSP(X,Y) 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=&gt;partition of X=(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b,e,ab,c,db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=&gt;partition of Y=(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ab,db,e,b,c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  <a:sym typeface="Wingdings" pitchFamily="2" charset="2"/>
              </a:rPr>
              <a:t>X and Y have same substring set, X can be transform to Y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We will introduce three MCSP deform</a:t>
            </a:r>
          </a:p>
          <a:p>
            <a:pPr marL="514350" lvl="1" indent="-514350">
              <a:buAutoNum type="arabicPeriod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d-MCSP: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any letter at most occur d times.</a:t>
            </a:r>
          </a:p>
          <a:p>
            <a:pPr marL="514350" lvl="1" indent="-514350">
              <a:buAutoNum type="arabicPeriod"/>
            </a:pP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MCSP</a:t>
            </a:r>
            <a:r>
              <a:rPr lang="en-US" altLang="zh-TW" baseline="30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: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alphabet at most c size</a:t>
            </a:r>
          </a:p>
          <a:p>
            <a:pPr marL="514350" lvl="1" indent="-514350">
              <a:buAutoNum type="arabicPeriod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x-balance MCSP: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if the number of partition is k, the length of every  block is from (n/k –x) to (n/k +x)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Hardness 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MCSP</a:t>
            </a:r>
            <a:r>
              <a:rPr lang="en-US" baseline="30000" dirty="0" err="1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472518" cy="4757758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1. 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MCSP</a:t>
            </a:r>
            <a:r>
              <a:rPr lang="en-US" altLang="zh-TW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NP-complete.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using 3-PARTITION is NP-complete reduce to MCSP</a:t>
            </a:r>
            <a:r>
              <a:rPr lang="en-US" altLang="zh-TW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MCSP</a:t>
            </a:r>
            <a:r>
              <a:rPr lang="en-US" altLang="zh-TW" baseline="30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NP-complete for c ≧ 2.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What is 3-Partition?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472518" cy="4757758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 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：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Question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：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Can </a:t>
            </a:r>
            <a:r>
              <a:rPr lang="en-US" altLang="zh-TW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be partitioned into </a:t>
            </a:r>
            <a:r>
              <a:rPr lang="en-US" altLang="zh-TW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disjoint sets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S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S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,…,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</a:t>
            </a:r>
            <a:r>
              <a:rPr lang="en-US" altLang="zh-TW" baseline="-25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such that, for 1≦i ≦n, </a:t>
            </a: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1571604" y="1643050"/>
          <a:ext cx="5296664" cy="1189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3111480" imgH="698400" progId="Equation.DSMT4">
                  <p:embed/>
                </p:oleObj>
              </mc:Choice>
              <mc:Fallback>
                <p:oleObj name="Equation" r:id="rId3" imgW="3111480" imgH="698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643050"/>
                        <a:ext cx="5296664" cy="1189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6286512" y="3571876"/>
          <a:ext cx="1022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5" imgW="774360" imgH="380880" progId="Equation.DSMT4">
                  <p:embed/>
                </p:oleObj>
              </mc:Choice>
              <mc:Fallback>
                <p:oleObj name="Equation" r:id="rId5" imgW="774360" imgH="3808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12" y="3571876"/>
                        <a:ext cx="10223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/>
          <a:lstStyle/>
          <a:p>
            <a:pPr algn="l"/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472518" cy="4757758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Let 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 : n=1, B=5 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28" y="1643050"/>
          <a:ext cx="4024341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2336760" imgH="622080" progId="Equation.DSMT4">
                  <p:embed/>
                </p:oleObj>
              </mc:Choice>
              <mc:Fallback>
                <p:oleObj name="Equation" r:id="rId3" imgW="2336760" imgH="6220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1643050"/>
                        <a:ext cx="4024341" cy="10715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428596" y="3786190"/>
          <a:ext cx="37861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1993680" imgH="533160" progId="Equation.DSMT4">
                  <p:embed/>
                </p:oleObj>
              </mc:Choice>
              <mc:Fallback>
                <p:oleObj name="Equation" r:id="rId5" imgW="1993680" imgH="533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3786190"/>
                        <a:ext cx="3786188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/>
          <a:lstStyle/>
          <a:p>
            <a:pPr algn="l"/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472518" cy="4757758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 : n=1, B=5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Claim: any block in the common string  partition has the form 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Why not have			    ? </a:t>
            </a:r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/>
        </p:nvGraphicFramePr>
        <p:xfrm>
          <a:off x="1992310" y="4143383"/>
          <a:ext cx="2293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" imgW="1358640" imgH="253800" progId="Equation.DSMT4">
                  <p:embed/>
                </p:oleObj>
              </mc:Choice>
              <mc:Fallback>
                <p:oleObj name="Equation" r:id="rId3" imgW="1358640" imgH="253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0" y="4143383"/>
                        <a:ext cx="22939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/>
        </p:nvGraphicFramePr>
        <p:xfrm>
          <a:off x="2857488" y="5072074"/>
          <a:ext cx="2245171" cy="436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5" imgW="1371600" imgH="266400" progId="Equation.DSMT4">
                  <p:embed/>
                </p:oleObj>
              </mc:Choice>
              <mc:Fallback>
                <p:oleObj name="Equation" r:id="rId5" imgW="1371600" imgH="266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5072074"/>
                        <a:ext cx="2245171" cy="4365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500034" y="2071678"/>
          <a:ext cx="37861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7" imgW="1993680" imgH="533160" progId="Equation.DSMT4">
                  <p:embed/>
                </p:oleObj>
              </mc:Choice>
              <mc:Fallback>
                <p:oleObj name="Equation" r:id="rId7" imgW="1993680" imgH="533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071678"/>
                        <a:ext cx="3786188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857224" y="5786438"/>
          <a:ext cx="402431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9" imgW="2336760" imgH="622080" progId="Equation.DSMT4">
                  <p:embed/>
                </p:oleObj>
              </mc:Choice>
              <mc:Fallback>
                <p:oleObj name="Equation" r:id="rId9" imgW="2336760" imgH="6220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5786438"/>
                        <a:ext cx="4024313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928670"/>
            <a:ext cx="8472518" cy="4757758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 : n=1, B=5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lvl="1" indent="-342900">
              <a:buNone/>
            </a:pP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</a:t>
            </a: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/>
        </p:nvGraphicFramePr>
        <p:xfrm>
          <a:off x="571472" y="1500174"/>
          <a:ext cx="37861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3" imgW="1993680" imgH="533160" progId="Equation.DSMT4">
                  <p:embed/>
                </p:oleObj>
              </mc:Choice>
              <mc:Fallback>
                <p:oleObj name="Equation" r:id="rId3" imgW="1993680" imgH="5331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1500174"/>
                        <a:ext cx="3786188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/>
        </p:nvGraphicFramePr>
        <p:xfrm>
          <a:off x="500034" y="2857496"/>
          <a:ext cx="70437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5" imgW="3924000" imgH="317160" progId="Equation.DSMT4">
                  <p:embed/>
                </p:oleObj>
              </mc:Choice>
              <mc:Fallback>
                <p:oleObj name="Equation" r:id="rId5" imgW="3924000" imgH="317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857496"/>
                        <a:ext cx="7043738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向下箭號 9"/>
          <p:cNvSpPr/>
          <p:nvPr/>
        </p:nvSpPr>
        <p:spPr>
          <a:xfrm>
            <a:off x="1142976" y="4286256"/>
            <a:ext cx="500066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504825" y="3571875"/>
          <a:ext cx="33035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7" imgW="1739880" imgH="266400" progId="Equation.DSMT4">
                  <p:embed/>
                </p:oleObj>
              </mc:Choice>
              <mc:Fallback>
                <p:oleObj name="Equation" r:id="rId7" imgW="1739880" imgH="266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3571875"/>
                        <a:ext cx="3303588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357158" y="5072074"/>
          <a:ext cx="43164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9" imgW="2273040" imgH="228600" progId="Equation.DSMT4">
                  <p:embed/>
                </p:oleObj>
              </mc:Choice>
              <mc:Fallback>
                <p:oleObj name="Equation" r:id="rId9" imgW="227304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5072074"/>
                        <a:ext cx="4316413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2143107" y="4286256"/>
            <a:ext cx="52231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itchFamily="18" charset="0"/>
                <a:cs typeface="Times New Roman" pitchFamily="18" charset="0"/>
              </a:rPr>
              <a:t>Why not </a:t>
            </a:r>
            <a:r>
              <a:rPr lang="en-US" altLang="zh-TW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200" dirty="0">
                <a:latin typeface="Times New Roman" pitchFamily="18" charset="0"/>
                <a:cs typeface="Times New Roman" pitchFamily="18" charset="0"/>
              </a:rPr>
              <a:t> = 00,00,01,1</a:t>
            </a:r>
            <a:r>
              <a:rPr lang="en-US" altLang="zh-TW" sz="2200" baseline="5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2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altLang="zh-TW" sz="2200" baseline="5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TW" sz="22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altLang="zh-TW" sz="2200" baseline="5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TW" sz="2200" dirty="0">
                <a:latin typeface="Times New Roman" pitchFamily="18" charset="0"/>
                <a:cs typeface="Times New Roman" pitchFamily="18" charset="0"/>
              </a:rPr>
              <a:t> ?</a:t>
            </a:r>
            <a:endParaRPr lang="zh-TW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42844" y="5864386"/>
            <a:ext cx="885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If every  block of the form 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000" i="1" baseline="50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zh-TW" sz="20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is matched to exactly three blocks of the form 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000" i="1" baseline="50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000" i="1" baseline="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Which means it is a yes 3-PARTITION instance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duo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None/>
            </a:pP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</a:t>
            </a:r>
            <a:r>
              <a:rPr lang="en-US" altLang="zh-TW" sz="32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beabcdb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=&gt;(</a:t>
            </a:r>
            <a:r>
              <a:rPr lang="en-US" altLang="zh-TW" sz="32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b,e,ab,c,db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342900" lvl="1" indent="-342900">
              <a:buNone/>
            </a:pP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zh-TW" altLang="en-US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</a:t>
            </a:r>
            <a:r>
              <a:rPr lang="zh-TW" altLang="en-US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32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abdbebc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=&gt;(</a:t>
            </a:r>
            <a:r>
              <a:rPr lang="en-US" altLang="zh-TW" sz="32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ab,db,e,b,c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duo of X =(be, ea,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db)</a:t>
            </a: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duo of Y =(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db, be,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Specific duo is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be,ab,bc,db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On d-MCSP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572560" cy="5214974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Lemma</a:t>
            </a:r>
            <a:b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b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1. </a:t>
            </a:r>
          </a:p>
          <a:p>
            <a:pPr marL="342900" lvl="1" indent="-342900">
              <a:buNone/>
            </a:pP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Each duo appears the same number of times in X and Y in the common partition.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</a:t>
            </a:r>
            <a:r>
              <a:rPr lang="zh-TW" altLang="en-US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abcdaabb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ab,cd,aabb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342900" lvl="1" indent="-342900">
              <a:buNone/>
            </a:pP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	Y</a:t>
            </a:r>
            <a:r>
              <a:rPr lang="zh-TW" altLang="en-US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</a:t>
            </a:r>
            <a:r>
              <a:rPr lang="zh-TW" altLang="en-US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aabbcbab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aabb,cb,ab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 </a:t>
            </a:r>
          </a:p>
          <a:p>
            <a:pPr marL="342900" lvl="1" indent="-342900">
              <a:buNone/>
            </a:pP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partition ,duo of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aa,ab,bb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On d-MCSP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572560" cy="5214974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Lemma</a:t>
            </a:r>
            <a:b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endParaRPr lang="en-US" altLang="zh-TW" sz="26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</a:t>
            </a:r>
            <a:r>
              <a:rPr lang="en-US" altLang="zh-TW" sz="2600" i="1" dirty="0"/>
              <a:t> </a:t>
            </a:r>
            <a:br>
              <a:rPr lang="en-US" altLang="zh-TW" sz="2600" i="1" dirty="0"/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If each duo appears </a:t>
            </a:r>
            <a:r>
              <a:rPr lang="en-US" altLang="zh-TW" sz="26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same number of times in a partition of X and a partition of Y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, then two matches are conflict if and only if the specific duos are continuous in one string and not continuous in the other. 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 =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abc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daa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 =&gt; 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a,bcd,aa,bb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 =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bc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bb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aa</a:t>
            </a:r>
            <a:r>
              <a:rPr lang="en-US" altLang="zh-TW" sz="26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 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=&gt; 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bcd,a,bb,aa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en-US" altLang="zh-TW" sz="26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On d-MCSP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572560" cy="5357850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Lemma</a:t>
            </a:r>
            <a:b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endParaRPr lang="en-US" altLang="zh-TW" sz="2600" dirty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3.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Given a pair of partition π = (P,Q) for X and Y , if all specific duos are matched and all matches are not conflict then π is a common partition. 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 =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abcdefg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 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abcd,efg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 = 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efgabcd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=&gt; 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efg,abcd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duo of X=(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bc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cd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,de,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fg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duo of Y=(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fg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,ga,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bc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cd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b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specific duo=(</a:t>
            </a:r>
            <a:r>
              <a:rPr lang="en-US" altLang="zh-TW" sz="26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ab,bc,cd,ef,fg</a:t>
            </a:r>
            <a:r>
              <a:rPr lang="en-US" altLang="zh-TW" sz="26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On d-MCSP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572560" cy="5214974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Theorem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Algorithm Cut-Duos runs in O((d!)</a:t>
            </a:r>
            <a:r>
              <a:rPr lang="en-US" altLang="zh-TW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 time.</a:t>
            </a:r>
          </a:p>
        </p:txBody>
      </p:sp>
      <p:pic>
        <p:nvPicPr>
          <p:cNvPr id="4" name="圖片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357430"/>
            <a:ext cx="8215370" cy="43106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endParaRPr lang="en-US" altLang="zh-TW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dfbac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Specify duo of X,Y :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bc,cd,df,fb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	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dfbac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   	</a:t>
            </a: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Y=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dfbac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</a:t>
            </a:r>
            <a:endParaRPr lang="zh-TW" altLang="en-US" dirty="0"/>
          </a:p>
        </p:txBody>
      </p:sp>
      <p:sp>
        <p:nvSpPr>
          <p:cNvPr id="7" name="向下箭號 6"/>
          <p:cNvSpPr/>
          <p:nvPr/>
        </p:nvSpPr>
        <p:spPr>
          <a:xfrm>
            <a:off x="1142976" y="2928934"/>
            <a:ext cx="428628" cy="7143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285852" y="5286388"/>
            <a:ext cx="46434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Specify duo of X,Y : (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sz="2600" dirty="0" err="1">
                <a:latin typeface="Times New Roman" pitchFamily="18" charset="0"/>
                <a:cs typeface="Times New Roman" pitchFamily="18" charset="0"/>
              </a:rPr>
              <a:t>,cd,df,fb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a_dfbc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Y=_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dfbac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specify duo of X,Y is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bc,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,df,fb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is using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so next to compare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but 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 is over, so next to compare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a_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Y=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compare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 , since times of duo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 in X,Y is same , so  &lt;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&gt; is match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Specify duo of X,Y :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bc,cd,</a:t>
            </a:r>
            <a:r>
              <a:rPr lang="en-US" altLang="zh-TW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,fb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4007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	X=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a_bc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	Y=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	specify duo of X,Y(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bc,cd,df,fb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)  are using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so remain of X and Y are not match, partition !!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X=&gt; (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a,b,c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Y=&gt; (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b,a,c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input the match duos</a:t>
            </a:r>
            <a:endParaRPr lang="en-US" altLang="zh-TW" sz="3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TW" sz="3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X =&gt; (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a,bc,df,b,c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</a:br>
            <a:r>
              <a:rPr lang="en-US" altLang="zh-TW" sz="3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Y =&gt; (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bc,df,b,a,c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sz="3000" dirty="0">
                <a:latin typeface="Times New Roman" pitchFamily="18" charset="0"/>
                <a:cs typeface="Times New Roman" pitchFamily="18" charset="0"/>
              </a:rPr>
            </a:br>
            <a:endParaRPr lang="zh-TW" alt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So we can get partition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abcdfbc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=&gt;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a,bc,df,b,c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	Y=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bcdfbac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=&gt; 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bc,df,b,a,c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On x-Balance MCSP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572560" cy="5214974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Theorem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Algorithm Cut-Depending-on-Length runs in 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O((2x)</a:t>
            </a:r>
            <a:r>
              <a:rPr lang="en-US" altLang="zh-TW" baseline="30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k!n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 time.</a:t>
            </a:r>
          </a:p>
        </p:txBody>
      </p:sp>
      <p:pic>
        <p:nvPicPr>
          <p:cNvPr id="4" name="圖片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645517"/>
            <a:ext cx="8056921" cy="41410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Concluding Remarks </a:t>
            </a:r>
            <a:endParaRPr lang="zh-TW" alt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785926"/>
            <a:ext cx="8572560" cy="3714776"/>
          </a:xfrm>
        </p:spPr>
        <p:txBody>
          <a:bodyPr>
            <a:normAutofit/>
          </a:bodyPr>
          <a:lstStyle/>
          <a:p>
            <a:pPr marL="514350" lvl="1" indent="-514350">
              <a:buAutoNum type="arabicPeriod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Prove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MCSP</a:t>
            </a:r>
            <a:r>
              <a:rPr lang="en-US" altLang="zh-TW" baseline="30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NP-complete when c ≧ 2.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514350" lvl="1" indent="-514350">
              <a:buAutoNum type="arabicPeriod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devise FPT algorithm for d-MCSP and x-balance MCSP since original MCSP problem is difficult to solve with an FPT algorithm only on the parameter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470</Words>
  <Application>Microsoft Office PowerPoint</Application>
  <PresentationFormat>如螢幕大小 (4:3)</PresentationFormat>
  <Paragraphs>100</Paragraphs>
  <Slides>23</Slides>
  <Notes>5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Office 佈景主題</vt:lpstr>
      <vt:lpstr>Equation</vt:lpstr>
      <vt:lpstr>Minimum Common String Partition Revisited</vt:lpstr>
      <vt:lpstr>Abstract</vt:lpstr>
      <vt:lpstr>Introduction</vt:lpstr>
      <vt:lpstr>Introduction</vt:lpstr>
      <vt:lpstr>Introduction</vt:lpstr>
      <vt:lpstr>Hardness for MCSPc</vt:lpstr>
      <vt:lpstr>What is 3-Partition?</vt:lpstr>
      <vt:lpstr>PowerPoint 簡報</vt:lpstr>
      <vt:lpstr>PowerPoint 簡報</vt:lpstr>
      <vt:lpstr>PowerPoint 簡報</vt:lpstr>
      <vt:lpstr>What is duo</vt:lpstr>
      <vt:lpstr>On d-MCSP</vt:lpstr>
      <vt:lpstr>On d-MCSP</vt:lpstr>
      <vt:lpstr>On d-MCSP</vt:lpstr>
      <vt:lpstr>On d-MCSP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On x-Balance MCSP</vt:lpstr>
      <vt:lpstr>Concluding Remarks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Indexed Dynamic Programming to Boost Edit Distance and LCSS Computation</dc:title>
  <dc:creator>阿修</dc:creator>
  <cp:lastModifiedBy>pplab</cp:lastModifiedBy>
  <cp:revision>121</cp:revision>
  <dcterms:created xsi:type="dcterms:W3CDTF">2019-09-15T07:43:36Z</dcterms:created>
  <dcterms:modified xsi:type="dcterms:W3CDTF">2019-10-29T11:40:35Z</dcterms:modified>
</cp:coreProperties>
</file>