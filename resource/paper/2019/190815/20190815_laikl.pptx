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72" r:id="rId2"/>
    <p:sldId id="273" r:id="rId3"/>
    <p:sldId id="290" r:id="rId4"/>
    <p:sldId id="314" r:id="rId5"/>
    <p:sldId id="306" r:id="rId6"/>
    <p:sldId id="310" r:id="rId7"/>
    <p:sldId id="311" r:id="rId8"/>
    <p:sldId id="312" r:id="rId9"/>
    <p:sldId id="307" r:id="rId10"/>
    <p:sldId id="304" r:id="rId11"/>
    <p:sldId id="305" r:id="rId12"/>
    <p:sldId id="309" r:id="rId13"/>
    <p:sldId id="308"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BEC917-2184-4946-BB82-84EF861DCF35}" type="datetimeFigureOut">
              <a:rPr lang="zh-TW" altLang="en-US" smtClean="0"/>
              <a:t>2019/8/15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D4844C-1032-416A-8E33-99B56B001B47}" type="slidenum">
              <a:rPr lang="zh-TW" altLang="en-US" smtClean="0"/>
              <a:t>‹#›</a:t>
            </a:fld>
            <a:endParaRPr lang="zh-TW" altLang="en-US"/>
          </a:p>
        </p:txBody>
      </p:sp>
    </p:spTree>
    <p:extLst>
      <p:ext uri="{BB962C8B-B14F-4D97-AF65-F5344CB8AC3E}">
        <p14:creationId xmlns:p14="http://schemas.microsoft.com/office/powerpoint/2010/main" val="16257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91E9FB-D310-4BD9-851D-6425E632172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05CC2D6F-06AF-4931-9709-FCA05DC51E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05EB6B2-427A-4CAE-9619-FAB6B597D067}"/>
              </a:ext>
            </a:extLst>
          </p:cNvPr>
          <p:cNvSpPr>
            <a:spLocks noGrp="1"/>
          </p:cNvSpPr>
          <p:nvPr>
            <p:ph type="dt" sz="half" idx="10"/>
          </p:nvPr>
        </p:nvSpPr>
        <p:spPr/>
        <p:txBody>
          <a:bodyPr/>
          <a:lstStyle/>
          <a:p>
            <a:fld id="{FD4304E5-8391-4D43-B972-962346D4BFC4}" type="datetimeFigureOut">
              <a:rPr lang="zh-TW" altLang="en-US" smtClean="0"/>
              <a:t>2019/8/15</a:t>
            </a:fld>
            <a:endParaRPr lang="zh-TW" altLang="en-US"/>
          </a:p>
        </p:txBody>
      </p:sp>
      <p:sp>
        <p:nvSpPr>
          <p:cNvPr id="5" name="頁尾版面配置區 4">
            <a:extLst>
              <a:ext uri="{FF2B5EF4-FFF2-40B4-BE49-F238E27FC236}">
                <a16:creationId xmlns:a16="http://schemas.microsoft.com/office/drawing/2014/main" id="{3769ABC4-7C32-44E3-9772-E2B3357F93E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55D64BD-9081-466C-8D01-FBF7065B7535}"/>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788892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C11C1B-A165-4738-A98E-CDF82413A0C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56B1918-D436-4343-9D7A-DF8FD42C6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AC802BB-9E18-4069-B6E3-D70E229B8AC6}"/>
              </a:ext>
            </a:extLst>
          </p:cNvPr>
          <p:cNvSpPr>
            <a:spLocks noGrp="1"/>
          </p:cNvSpPr>
          <p:nvPr>
            <p:ph type="dt" sz="half" idx="10"/>
          </p:nvPr>
        </p:nvSpPr>
        <p:spPr/>
        <p:txBody>
          <a:bodyPr/>
          <a:lstStyle/>
          <a:p>
            <a:fld id="{FD4304E5-8391-4D43-B972-962346D4BFC4}" type="datetimeFigureOut">
              <a:rPr lang="zh-TW" altLang="en-US" smtClean="0"/>
              <a:t>2019/8/15</a:t>
            </a:fld>
            <a:endParaRPr lang="zh-TW" altLang="en-US"/>
          </a:p>
        </p:txBody>
      </p:sp>
      <p:sp>
        <p:nvSpPr>
          <p:cNvPr id="5" name="頁尾版面配置區 4">
            <a:extLst>
              <a:ext uri="{FF2B5EF4-FFF2-40B4-BE49-F238E27FC236}">
                <a16:creationId xmlns:a16="http://schemas.microsoft.com/office/drawing/2014/main" id="{4D17E016-6221-4C76-A778-1966A7E223A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C950188-5923-4BE5-BBF8-007D2F5AFF02}"/>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3888639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FCEA3C-318E-4A4F-A7B9-E2D385E1145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363CFCA-1D31-4F2D-A2FA-912CBE68D1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73F6391A-F661-4379-94A2-4643E5BF5D69}"/>
              </a:ext>
            </a:extLst>
          </p:cNvPr>
          <p:cNvSpPr>
            <a:spLocks noGrp="1"/>
          </p:cNvSpPr>
          <p:nvPr>
            <p:ph type="dt" sz="half" idx="10"/>
          </p:nvPr>
        </p:nvSpPr>
        <p:spPr/>
        <p:txBody>
          <a:bodyPr/>
          <a:lstStyle/>
          <a:p>
            <a:fld id="{FD4304E5-8391-4D43-B972-962346D4BFC4}" type="datetimeFigureOut">
              <a:rPr lang="zh-TW" altLang="en-US" smtClean="0"/>
              <a:t>2019/8/15</a:t>
            </a:fld>
            <a:endParaRPr lang="zh-TW" altLang="en-US"/>
          </a:p>
        </p:txBody>
      </p:sp>
      <p:sp>
        <p:nvSpPr>
          <p:cNvPr id="5" name="頁尾版面配置區 4">
            <a:extLst>
              <a:ext uri="{FF2B5EF4-FFF2-40B4-BE49-F238E27FC236}">
                <a16:creationId xmlns:a16="http://schemas.microsoft.com/office/drawing/2014/main" id="{695108C4-69A9-44CA-89F5-763AB52A95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53FF97E-7194-4B2D-8634-E29DD61DA603}"/>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930596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52C97B-1F56-4785-8A30-DA86E60AABC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F29B196-61A8-4EA9-B0FF-4353875D02FE}"/>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29105522-46EF-4155-B59E-FF1C09A54256}"/>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82E778C-6D5C-4349-B49E-A36748FD2C5F}"/>
              </a:ext>
            </a:extLst>
          </p:cNvPr>
          <p:cNvSpPr>
            <a:spLocks noGrp="1"/>
          </p:cNvSpPr>
          <p:nvPr>
            <p:ph type="dt" sz="half" idx="10"/>
          </p:nvPr>
        </p:nvSpPr>
        <p:spPr/>
        <p:txBody>
          <a:bodyPr/>
          <a:lstStyle/>
          <a:p>
            <a:fld id="{FD4304E5-8391-4D43-B972-962346D4BFC4}" type="datetimeFigureOut">
              <a:rPr lang="zh-TW" altLang="en-US" smtClean="0"/>
              <a:t>2019/8/15</a:t>
            </a:fld>
            <a:endParaRPr lang="zh-TW" altLang="en-US"/>
          </a:p>
        </p:txBody>
      </p:sp>
      <p:sp>
        <p:nvSpPr>
          <p:cNvPr id="6" name="頁尾版面配置區 5">
            <a:extLst>
              <a:ext uri="{FF2B5EF4-FFF2-40B4-BE49-F238E27FC236}">
                <a16:creationId xmlns:a16="http://schemas.microsoft.com/office/drawing/2014/main" id="{7706EA42-D460-4907-9704-D34B3B57C42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7E264FC-4808-4790-BD8F-8211BE537212}"/>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762903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27751A-93CE-4DE8-B797-C436DD9F5C1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8A2ABA1-97A7-4A9B-8822-523C381771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E16E0FC9-B7AA-41A0-B866-A41045B34148}"/>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0FC33553-8EC2-4658-A3F0-AC45384FB5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503BC847-C398-4803-A4DB-B409F0FA9B54}"/>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18638424-171A-4453-A77D-F5E415EF2FA5}"/>
              </a:ext>
            </a:extLst>
          </p:cNvPr>
          <p:cNvSpPr>
            <a:spLocks noGrp="1"/>
          </p:cNvSpPr>
          <p:nvPr>
            <p:ph type="dt" sz="half" idx="10"/>
          </p:nvPr>
        </p:nvSpPr>
        <p:spPr/>
        <p:txBody>
          <a:bodyPr/>
          <a:lstStyle/>
          <a:p>
            <a:fld id="{FD4304E5-8391-4D43-B972-962346D4BFC4}" type="datetimeFigureOut">
              <a:rPr lang="zh-TW" altLang="en-US" smtClean="0"/>
              <a:t>2019/8/15</a:t>
            </a:fld>
            <a:endParaRPr lang="zh-TW" altLang="en-US"/>
          </a:p>
        </p:txBody>
      </p:sp>
      <p:sp>
        <p:nvSpPr>
          <p:cNvPr id="8" name="頁尾版面配置區 7">
            <a:extLst>
              <a:ext uri="{FF2B5EF4-FFF2-40B4-BE49-F238E27FC236}">
                <a16:creationId xmlns:a16="http://schemas.microsoft.com/office/drawing/2014/main" id="{C80A086D-9FDA-468B-AAB3-0018938B86E6}"/>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6DC85732-9691-4144-9A38-E61C8463996B}"/>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686958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441B06-8711-4961-AEB7-AEE157FB58E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2D84982-DA61-40F8-865E-241B2E63E5CB}"/>
              </a:ext>
            </a:extLst>
          </p:cNvPr>
          <p:cNvSpPr>
            <a:spLocks noGrp="1"/>
          </p:cNvSpPr>
          <p:nvPr>
            <p:ph type="dt" sz="half" idx="10"/>
          </p:nvPr>
        </p:nvSpPr>
        <p:spPr/>
        <p:txBody>
          <a:bodyPr/>
          <a:lstStyle/>
          <a:p>
            <a:fld id="{FD4304E5-8391-4D43-B972-962346D4BFC4}" type="datetimeFigureOut">
              <a:rPr lang="zh-TW" altLang="en-US" smtClean="0"/>
              <a:t>2019/8/15</a:t>
            </a:fld>
            <a:endParaRPr lang="zh-TW" altLang="en-US"/>
          </a:p>
        </p:txBody>
      </p:sp>
      <p:sp>
        <p:nvSpPr>
          <p:cNvPr id="4" name="頁尾版面配置區 3">
            <a:extLst>
              <a:ext uri="{FF2B5EF4-FFF2-40B4-BE49-F238E27FC236}">
                <a16:creationId xmlns:a16="http://schemas.microsoft.com/office/drawing/2014/main" id="{688FECA4-B1F2-4027-8D2C-8751FB26680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49751A0D-D313-4013-94A2-D4003C17EC3C}"/>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083237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B4FDBCA-0F26-49FD-AD09-208FE47B41BB}"/>
              </a:ext>
            </a:extLst>
          </p:cNvPr>
          <p:cNvSpPr>
            <a:spLocks noGrp="1"/>
          </p:cNvSpPr>
          <p:nvPr>
            <p:ph type="dt" sz="half" idx="10"/>
          </p:nvPr>
        </p:nvSpPr>
        <p:spPr/>
        <p:txBody>
          <a:bodyPr/>
          <a:lstStyle/>
          <a:p>
            <a:fld id="{FD4304E5-8391-4D43-B972-962346D4BFC4}" type="datetimeFigureOut">
              <a:rPr lang="zh-TW" altLang="en-US" smtClean="0"/>
              <a:t>2019/8/15</a:t>
            </a:fld>
            <a:endParaRPr lang="zh-TW" altLang="en-US"/>
          </a:p>
        </p:txBody>
      </p:sp>
      <p:sp>
        <p:nvSpPr>
          <p:cNvPr id="3" name="頁尾版面配置區 2">
            <a:extLst>
              <a:ext uri="{FF2B5EF4-FFF2-40B4-BE49-F238E27FC236}">
                <a16:creationId xmlns:a16="http://schemas.microsoft.com/office/drawing/2014/main" id="{A1FBB2FB-5464-4A73-AE50-DCF81B3AC41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6065D78-C5F8-47FF-AA94-888FCEFD4175}"/>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1899036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5D31BA-37F1-4225-B290-CB3296CD2E7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44D63C7-7D4E-47D8-B09A-DDD52D8956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A09B261-64A1-45E3-BCCC-4B347BCEF1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A21D7D45-2485-430D-85B6-E0EDD74702FF}"/>
              </a:ext>
            </a:extLst>
          </p:cNvPr>
          <p:cNvSpPr>
            <a:spLocks noGrp="1"/>
          </p:cNvSpPr>
          <p:nvPr>
            <p:ph type="dt" sz="half" idx="10"/>
          </p:nvPr>
        </p:nvSpPr>
        <p:spPr/>
        <p:txBody>
          <a:bodyPr/>
          <a:lstStyle/>
          <a:p>
            <a:fld id="{FD4304E5-8391-4D43-B972-962346D4BFC4}" type="datetimeFigureOut">
              <a:rPr lang="zh-TW" altLang="en-US" smtClean="0"/>
              <a:t>2019/8/15</a:t>
            </a:fld>
            <a:endParaRPr lang="zh-TW" altLang="en-US"/>
          </a:p>
        </p:txBody>
      </p:sp>
      <p:sp>
        <p:nvSpPr>
          <p:cNvPr id="6" name="頁尾版面配置區 5">
            <a:extLst>
              <a:ext uri="{FF2B5EF4-FFF2-40B4-BE49-F238E27FC236}">
                <a16:creationId xmlns:a16="http://schemas.microsoft.com/office/drawing/2014/main" id="{F0B9DB85-5A5B-48DF-A996-3201B8D8780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B426B7C-FD89-4D9B-887E-55B2A0158F04}"/>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850541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8B7B3C-2DD9-46E7-A713-12783EFB8ED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29D5A80-7E30-4CE2-9F20-F249813FD6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DD48E2E-ABAE-41A2-9298-3BB31EBF90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4BA1B74B-A084-41FB-850C-9D7955CBFB7B}"/>
              </a:ext>
            </a:extLst>
          </p:cNvPr>
          <p:cNvSpPr>
            <a:spLocks noGrp="1"/>
          </p:cNvSpPr>
          <p:nvPr>
            <p:ph type="dt" sz="half" idx="10"/>
          </p:nvPr>
        </p:nvSpPr>
        <p:spPr/>
        <p:txBody>
          <a:bodyPr/>
          <a:lstStyle/>
          <a:p>
            <a:fld id="{FD4304E5-8391-4D43-B972-962346D4BFC4}" type="datetimeFigureOut">
              <a:rPr lang="zh-TW" altLang="en-US" smtClean="0"/>
              <a:t>2019/8/15</a:t>
            </a:fld>
            <a:endParaRPr lang="zh-TW" altLang="en-US"/>
          </a:p>
        </p:txBody>
      </p:sp>
      <p:sp>
        <p:nvSpPr>
          <p:cNvPr id="6" name="頁尾版面配置區 5">
            <a:extLst>
              <a:ext uri="{FF2B5EF4-FFF2-40B4-BE49-F238E27FC236}">
                <a16:creationId xmlns:a16="http://schemas.microsoft.com/office/drawing/2014/main" id="{EB315B08-E79A-42EE-A2FC-F1C68A51BDD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73802BE-840F-4C01-9050-6E70D196A1E0}"/>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2632833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FC5363-AA72-4929-A8D8-981DE83CCA8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60E5AE7-6730-4E4A-A491-978032D4A827}"/>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324A45A-6563-4F21-B472-F95E7E9351DD}"/>
              </a:ext>
            </a:extLst>
          </p:cNvPr>
          <p:cNvSpPr>
            <a:spLocks noGrp="1"/>
          </p:cNvSpPr>
          <p:nvPr>
            <p:ph type="dt" sz="half" idx="10"/>
          </p:nvPr>
        </p:nvSpPr>
        <p:spPr/>
        <p:txBody>
          <a:bodyPr/>
          <a:lstStyle/>
          <a:p>
            <a:fld id="{FD4304E5-8391-4D43-B972-962346D4BFC4}" type="datetimeFigureOut">
              <a:rPr lang="zh-TW" altLang="en-US" smtClean="0"/>
              <a:t>2019/8/15</a:t>
            </a:fld>
            <a:endParaRPr lang="zh-TW" altLang="en-US"/>
          </a:p>
        </p:txBody>
      </p:sp>
      <p:sp>
        <p:nvSpPr>
          <p:cNvPr id="5" name="頁尾版面配置區 4">
            <a:extLst>
              <a:ext uri="{FF2B5EF4-FFF2-40B4-BE49-F238E27FC236}">
                <a16:creationId xmlns:a16="http://schemas.microsoft.com/office/drawing/2014/main" id="{2BEF7F7B-52C7-426B-9978-644A1D1D5C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D5A41F3-8A5F-4AA2-BC76-BA2BC35462E2}"/>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586339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176A2CC-7A46-4F55-85C4-AA9FCEBA2478}"/>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843CA45E-F614-4C8C-8C28-E5CB2DA98D41}"/>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2E923DF-42AC-42EC-8C59-8AE2A2D288D2}"/>
              </a:ext>
            </a:extLst>
          </p:cNvPr>
          <p:cNvSpPr>
            <a:spLocks noGrp="1"/>
          </p:cNvSpPr>
          <p:nvPr>
            <p:ph type="dt" sz="half" idx="10"/>
          </p:nvPr>
        </p:nvSpPr>
        <p:spPr/>
        <p:txBody>
          <a:bodyPr/>
          <a:lstStyle/>
          <a:p>
            <a:fld id="{FD4304E5-8391-4D43-B972-962346D4BFC4}" type="datetimeFigureOut">
              <a:rPr lang="zh-TW" altLang="en-US" smtClean="0"/>
              <a:t>2019/8/15</a:t>
            </a:fld>
            <a:endParaRPr lang="zh-TW" altLang="en-US"/>
          </a:p>
        </p:txBody>
      </p:sp>
      <p:sp>
        <p:nvSpPr>
          <p:cNvPr id="5" name="頁尾版面配置區 4">
            <a:extLst>
              <a:ext uri="{FF2B5EF4-FFF2-40B4-BE49-F238E27FC236}">
                <a16:creationId xmlns:a16="http://schemas.microsoft.com/office/drawing/2014/main" id="{05EF9B0E-8C96-4598-AD8E-7166BFAB209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AC7952-2B0D-4AEE-853B-D7C07AA430EC}"/>
              </a:ext>
            </a:extLst>
          </p:cNvPr>
          <p:cNvSpPr>
            <a:spLocks noGrp="1"/>
          </p:cNvSpPr>
          <p:nvPr>
            <p:ph type="sldNum" sz="quarter" idx="12"/>
          </p:nvPr>
        </p:nvSpPr>
        <p:spPr/>
        <p:txBody>
          <a:body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824512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2CAC3753-89D0-4CF8-9AD2-2EDC075887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D946258-EAA0-48EF-BC94-910187879B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0B7139B-A4A4-4FF6-8485-DAC90BA55F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4304E5-8391-4D43-B972-962346D4BFC4}" type="datetimeFigureOut">
              <a:rPr lang="zh-TW" altLang="en-US" smtClean="0"/>
              <a:t>2019/8/15</a:t>
            </a:fld>
            <a:endParaRPr lang="zh-TW" altLang="en-US"/>
          </a:p>
        </p:txBody>
      </p:sp>
      <p:sp>
        <p:nvSpPr>
          <p:cNvPr id="5" name="頁尾版面配置區 4">
            <a:extLst>
              <a:ext uri="{FF2B5EF4-FFF2-40B4-BE49-F238E27FC236}">
                <a16:creationId xmlns:a16="http://schemas.microsoft.com/office/drawing/2014/main" id="{CCF0E61B-8D31-44C4-971C-1AE9FB565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5CA5F1E-BB32-417E-9E65-5152DAF7A4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72A0DF-A681-43DB-AFF4-A7471DEB21FE}" type="slidenum">
              <a:rPr lang="zh-TW" altLang="en-US" smtClean="0"/>
              <a:t>‹#›</a:t>
            </a:fld>
            <a:endParaRPr lang="zh-TW" altLang="en-US"/>
          </a:p>
        </p:txBody>
      </p:sp>
    </p:spTree>
    <p:extLst>
      <p:ext uri="{BB962C8B-B14F-4D97-AF65-F5344CB8AC3E}">
        <p14:creationId xmlns:p14="http://schemas.microsoft.com/office/powerpoint/2010/main" val="670880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80D9A5-7987-4C31-A5AA-53D6FFA13CC9}"/>
              </a:ext>
            </a:extLst>
          </p:cNvPr>
          <p:cNvSpPr>
            <a:spLocks noGrp="1"/>
          </p:cNvSpPr>
          <p:nvPr>
            <p:ph type="ctrTitle"/>
          </p:nvPr>
        </p:nvSpPr>
        <p:spPr>
          <a:xfrm>
            <a:off x="380042" y="896191"/>
            <a:ext cx="11431915" cy="1754730"/>
          </a:xfrm>
        </p:spPr>
        <p:txBody>
          <a:bodyPr>
            <a:normAutofit/>
          </a:bodyPr>
          <a:lstStyle/>
          <a:p>
            <a:r>
              <a:rPr lang="en-US" altLang="zh-TW" sz="5400" dirty="0">
                <a:latin typeface="Times New Roman" panose="02020603050405020304" pitchFamily="18" charset="0"/>
                <a:cs typeface="Times New Roman" panose="02020603050405020304" pitchFamily="18" charset="0"/>
              </a:rPr>
              <a:t>A fast algorithm for the</a:t>
            </a:r>
            <a:br>
              <a:rPr lang="en-US" altLang="zh-TW" sz="5400" dirty="0">
                <a:latin typeface="Times New Roman" panose="02020603050405020304" pitchFamily="18" charset="0"/>
                <a:cs typeface="Times New Roman" panose="02020603050405020304" pitchFamily="18" charset="0"/>
              </a:rPr>
            </a:br>
            <a:r>
              <a:rPr lang="en-US" altLang="zh-TW" sz="5400" dirty="0">
                <a:latin typeface="Times New Roman" panose="02020603050405020304" pitchFamily="18" charset="0"/>
                <a:cs typeface="Times New Roman" panose="02020603050405020304" pitchFamily="18" charset="0"/>
              </a:rPr>
              <a:t> all-pairs suffix–prefix problem </a:t>
            </a:r>
            <a:endParaRPr lang="zh-TW" altLang="en-US" sz="5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1DE7FB8B-5E0F-4EA3-A472-0229D27A7FA6}"/>
              </a:ext>
            </a:extLst>
          </p:cNvPr>
          <p:cNvSpPr>
            <a:spLocks noGrp="1"/>
          </p:cNvSpPr>
          <p:nvPr>
            <p:ph type="subTitle" idx="1"/>
          </p:nvPr>
        </p:nvSpPr>
        <p:spPr>
          <a:xfrm>
            <a:off x="992332" y="3148839"/>
            <a:ext cx="10207336" cy="3266355"/>
          </a:xfrm>
        </p:spPr>
        <p:txBody>
          <a:bodyPr>
            <a:normAutofit/>
          </a:bodyPr>
          <a:lstStyle/>
          <a:p>
            <a:r>
              <a:rPr lang="en-US" altLang="zh-TW" dirty="0" err="1">
                <a:latin typeface="Times New Roman" panose="02020603050405020304" pitchFamily="18" charset="0"/>
                <a:cs typeface="Times New Roman" panose="02020603050405020304" pitchFamily="18" charset="0"/>
              </a:rPr>
              <a:t>Jihyuk</a:t>
            </a:r>
            <a:r>
              <a:rPr lang="en-US" altLang="zh-TW" dirty="0">
                <a:latin typeface="Times New Roman" panose="02020603050405020304" pitchFamily="18" charset="0"/>
                <a:cs typeface="Times New Roman" panose="02020603050405020304" pitchFamily="18" charset="0"/>
              </a:rPr>
              <a:t> Lim, </a:t>
            </a:r>
            <a:r>
              <a:rPr lang="en-US" altLang="zh-TW" dirty="0" err="1">
                <a:latin typeface="Times New Roman" panose="02020603050405020304" pitchFamily="18" charset="0"/>
                <a:cs typeface="Times New Roman" panose="02020603050405020304" pitchFamily="18" charset="0"/>
              </a:rPr>
              <a:t>Kunsoo</a:t>
            </a:r>
            <a:r>
              <a:rPr lang="en-US" altLang="zh-TW" dirty="0">
                <a:latin typeface="Times New Roman" panose="02020603050405020304" pitchFamily="18" charset="0"/>
                <a:cs typeface="Times New Roman" panose="02020603050405020304" pitchFamily="18" charset="0"/>
              </a:rPr>
              <a:t> Park</a:t>
            </a:r>
            <a:br>
              <a:rPr lang="en-US" altLang="zh-TW" dirty="0"/>
            </a:b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Theoretical Computer Science 698</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(2017)</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pp.14-24</a:t>
            </a:r>
          </a:p>
          <a:p>
            <a:br>
              <a:rPr lang="fi-FI" altLang="zh-TW" b="1" i="1" dirty="0">
                <a:latin typeface="Times New Roman" panose="02020603050405020304" pitchFamily="18" charset="0"/>
                <a:cs typeface="Times New Roman" panose="02020603050405020304" pitchFamily="18" charset="0"/>
              </a:rPr>
            </a:br>
            <a:br>
              <a:rPr lang="fi-FI" altLang="zh-TW" b="1" i="1"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Speaker:</a:t>
            </a:r>
            <a:r>
              <a:rPr lang="zh-TW" altLang="en-US"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Kuan</a:t>
            </a:r>
            <a:r>
              <a:rPr lang="en-US" altLang="zh-TW" dirty="0">
                <a:latin typeface="Times New Roman" panose="02020603050405020304" pitchFamily="18" charset="0"/>
                <a:cs typeface="Times New Roman" panose="02020603050405020304" pitchFamily="18" charset="0"/>
              </a:rPr>
              <a:t>-Lin Lai</a:t>
            </a:r>
          </a:p>
          <a:p>
            <a:r>
              <a:rPr lang="en-US" altLang="zh-TW" dirty="0">
                <a:latin typeface="Times New Roman" panose="02020603050405020304" pitchFamily="18" charset="0"/>
                <a:cs typeface="Times New Roman" panose="02020603050405020304" pitchFamily="18" charset="0"/>
              </a:rPr>
              <a:t>Date: Aug. </a:t>
            </a:r>
            <a:r>
              <a:rPr lang="en-US" altLang="zh-TW">
                <a:latin typeface="Times New Roman" panose="02020603050405020304" pitchFamily="18" charset="0"/>
                <a:cs typeface="Times New Roman" panose="02020603050405020304" pitchFamily="18" charset="0"/>
              </a:rPr>
              <a:t>15, </a:t>
            </a:r>
            <a:r>
              <a:rPr lang="en-US" altLang="zh-TW" dirty="0">
                <a:latin typeface="Times New Roman" panose="02020603050405020304" pitchFamily="18" charset="0"/>
                <a:cs typeface="Times New Roman" panose="02020603050405020304" pitchFamily="18" charset="0"/>
              </a:rPr>
              <a:t>2019</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7148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ED643E-E99E-4F12-92FE-709248FF7FF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FB915B7-780A-4747-AA36-2299BB46935A}"/>
              </a:ext>
            </a:extLst>
          </p:cNvPr>
          <p:cNvSpPr>
            <a:spLocks noGrp="1"/>
          </p:cNvSpPr>
          <p:nvPr>
            <p:ph idx="1"/>
          </p:nvPr>
        </p:nvSpPr>
        <p:spPr>
          <a:xfrm>
            <a:off x="838200" y="1690688"/>
            <a:ext cx="10746996" cy="4351338"/>
          </a:xfrm>
        </p:spPr>
        <p:txBody>
          <a:bodyPr>
            <a:normAutofit/>
          </a:bodyPr>
          <a:lstStyle/>
          <a:p>
            <a:pPr marL="0" indent="0" algn="just">
              <a:buNone/>
            </a:pPr>
            <a:r>
              <a:rPr lang="en-US" altLang="zh-TW" dirty="0">
                <a:latin typeface="Times New Roman" panose="02020603050405020304" pitchFamily="18" charset="0"/>
                <a:cs typeface="Times New Roman" panose="02020603050405020304" pitchFamily="18" charset="0"/>
              </a:rPr>
              <a:t>The all-pairs suffix–prefix problem occurs as a subproblem of DNA sequence assembly where it is the most time-consuming part of the whole assembly. Although there are algorithms for the all-pairs suffix–prefix problem which are optimal in the asymptotic time complexity, they are slower than SOF and </a:t>
            </a:r>
            <a:r>
              <a:rPr lang="en-US" altLang="zh-TW" dirty="0" err="1">
                <a:latin typeface="Times New Roman" panose="02020603050405020304" pitchFamily="18" charset="0"/>
                <a:cs typeface="Times New Roman" panose="02020603050405020304" pitchFamily="18" charset="0"/>
              </a:rPr>
              <a:t>Readjoiner</a:t>
            </a:r>
            <a:r>
              <a:rPr lang="en-US" altLang="zh-TW" dirty="0">
                <a:latin typeface="Times New Roman" panose="02020603050405020304" pitchFamily="18" charset="0"/>
                <a:cs typeface="Times New Roman" panose="02020603050405020304" pitchFamily="18" charset="0"/>
              </a:rPr>
              <a:t> which are state-of-the-art algorithms used in practice. In this paper we present an algorithm for the all-pairs suffix– prefix problem that uses a simple data structure for storing input strings and advanced algorithmic techniques for matching, which together lead to fast running time in practice. Our algorithm is 14 times faster than SOF and 18 times faster than </a:t>
            </a:r>
            <a:r>
              <a:rPr lang="en-US" altLang="zh-TW" dirty="0" err="1">
                <a:latin typeface="Times New Roman" panose="02020603050405020304" pitchFamily="18" charset="0"/>
                <a:cs typeface="Times New Roman" panose="02020603050405020304" pitchFamily="18" charset="0"/>
              </a:rPr>
              <a:t>Readjoiner</a:t>
            </a:r>
            <a:r>
              <a:rPr lang="en-US" altLang="zh-TW" dirty="0">
                <a:latin typeface="Times New Roman" panose="02020603050405020304" pitchFamily="18" charset="0"/>
                <a:cs typeface="Times New Roman" panose="02020603050405020304" pitchFamily="18" charset="0"/>
              </a:rPr>
              <a:t> on average in real datasets and random datasets.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8769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899552-D171-41FD-90EB-C05AA95FCFB7}"/>
              </a:ext>
            </a:extLst>
          </p:cNvPr>
          <p:cNvSpPr>
            <a:spLocks noGrp="1"/>
          </p:cNvSpPr>
          <p:nvPr>
            <p:ph type="title"/>
          </p:nvPr>
        </p:nvSpPr>
        <p:spPr>
          <a:xfrm>
            <a:off x="545285" y="365125"/>
            <a:ext cx="11409028" cy="1325563"/>
          </a:xfrm>
        </p:spPr>
        <p:txBody>
          <a:bodyPr>
            <a:normAutofit/>
          </a:bodyPr>
          <a:lstStyle/>
          <a:p>
            <a:r>
              <a:rPr lang="en-US" altLang="zh-TW" sz="4000" dirty="0">
                <a:latin typeface="Times New Roman" panose="02020603050405020304" pitchFamily="18" charset="0"/>
                <a:cs typeface="Times New Roman" panose="02020603050405020304" pitchFamily="18" charset="0"/>
              </a:rPr>
              <a:t>all-pairs suffix–prefix problem (APSP)</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ACE9963-43F0-4BCA-85E9-167906163823}"/>
              </a:ext>
            </a:extLst>
          </p:cNvPr>
          <p:cNvSpPr>
            <a:spLocks noGrp="1"/>
          </p:cNvSpPr>
          <p:nvPr>
            <p:ph idx="1"/>
          </p:nvPr>
        </p:nvSpPr>
        <p:spPr>
          <a:xfrm>
            <a:off x="757106" y="2441195"/>
            <a:ext cx="1037443" cy="1384995"/>
          </a:xfrm>
        </p:spPr>
        <p:txBody>
          <a:bodyPr>
            <a:normAutofit/>
          </a:bodyPr>
          <a:lstStyle/>
          <a:p>
            <a:r>
              <a:rPr lang="en-US" altLang="zh-TW" dirty="0">
                <a:latin typeface="Times New Roman" panose="02020603050405020304" pitchFamily="18" charset="0"/>
                <a:cs typeface="Times New Roman" panose="02020603050405020304" pitchFamily="18" charset="0"/>
              </a:rPr>
              <a:t>Ex:</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28781E41-E35B-40A5-A950-2F75071EC2BC}"/>
              </a:ext>
            </a:extLst>
          </p:cNvPr>
          <p:cNvSpPr txBox="1"/>
          <p:nvPr/>
        </p:nvSpPr>
        <p:spPr>
          <a:xfrm>
            <a:off x="7197754" y="2333829"/>
            <a:ext cx="4589476" cy="1384995"/>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[S1, S2] = ACGAC      </a:t>
            </a:r>
            <a:br>
              <a:rPr lang="en-US" altLang="zh-TW" sz="2800" dirty="0">
                <a:latin typeface="Times New Roman" panose="02020603050405020304" pitchFamily="18" charset="0"/>
                <a:cs typeface="Times New Roman" panose="02020603050405020304" pitchFamily="18" charset="0"/>
              </a:rPr>
            </a:br>
            <a:r>
              <a:rPr lang="en-US" altLang="zh-TW" sz="2800" dirty="0">
                <a:latin typeface="Times New Roman" panose="02020603050405020304" pitchFamily="18" charset="0"/>
                <a:cs typeface="Times New Roman" panose="02020603050405020304" pitchFamily="18" charset="0"/>
              </a:rPr>
              <a:t>[S2, S3] = ACA</a:t>
            </a:r>
            <a:br>
              <a:rPr lang="en-US" altLang="zh-TW" sz="2800" dirty="0">
                <a:latin typeface="Times New Roman" panose="02020603050405020304" pitchFamily="18" charset="0"/>
                <a:cs typeface="Times New Roman" panose="02020603050405020304" pitchFamily="18" charset="0"/>
              </a:rPr>
            </a:br>
            <a:r>
              <a:rPr lang="en-US" altLang="zh-TW" sz="2800" dirty="0">
                <a:latin typeface="Times New Roman" panose="02020603050405020304" pitchFamily="18" charset="0"/>
                <a:cs typeface="Times New Roman" panose="02020603050405020304" pitchFamily="18" charset="0"/>
              </a:rPr>
              <a:t>[S1, S3] = NULL</a:t>
            </a:r>
            <a:endParaRPr lang="zh-TW" altLang="en-US" sz="2800" dirty="0"/>
          </a:p>
        </p:txBody>
      </p:sp>
      <p:sp>
        <p:nvSpPr>
          <p:cNvPr id="5" name="文字方塊 4">
            <a:extLst>
              <a:ext uri="{FF2B5EF4-FFF2-40B4-BE49-F238E27FC236}">
                <a16:creationId xmlns:a16="http://schemas.microsoft.com/office/drawing/2014/main" id="{206F0444-439C-4930-9018-8736B3EC9600}"/>
              </a:ext>
            </a:extLst>
          </p:cNvPr>
          <p:cNvSpPr txBox="1"/>
          <p:nvPr/>
        </p:nvSpPr>
        <p:spPr>
          <a:xfrm>
            <a:off x="2109135" y="2333830"/>
            <a:ext cx="4589476" cy="1384995"/>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S1 = GGACTAAACGAC</a:t>
            </a:r>
            <a:br>
              <a:rPr lang="en-US" altLang="zh-TW" sz="2800" dirty="0">
                <a:latin typeface="Times New Roman" panose="02020603050405020304" pitchFamily="18" charset="0"/>
                <a:cs typeface="Times New Roman" panose="02020603050405020304" pitchFamily="18" charset="0"/>
              </a:rPr>
            </a:br>
            <a:r>
              <a:rPr lang="en-US" altLang="zh-TW" sz="2800" dirty="0">
                <a:latin typeface="Times New Roman" panose="02020603050405020304" pitchFamily="18" charset="0"/>
                <a:cs typeface="Times New Roman" panose="02020603050405020304" pitchFamily="18" charset="0"/>
              </a:rPr>
              <a:t>S2 = ACGACGACA</a:t>
            </a:r>
            <a:br>
              <a:rPr lang="en-US" altLang="zh-TW" sz="2800" dirty="0">
                <a:latin typeface="Times New Roman" panose="02020603050405020304" pitchFamily="18" charset="0"/>
                <a:cs typeface="Times New Roman" panose="02020603050405020304" pitchFamily="18" charset="0"/>
              </a:rPr>
            </a:br>
            <a:r>
              <a:rPr lang="en-US" altLang="zh-TW" sz="2800" dirty="0">
                <a:latin typeface="Times New Roman" panose="02020603050405020304" pitchFamily="18" charset="0"/>
                <a:cs typeface="Times New Roman" panose="02020603050405020304" pitchFamily="18" charset="0"/>
              </a:rPr>
              <a:t>S3 = ACAAATCTGGTA</a:t>
            </a:r>
            <a:endParaRPr lang="zh-TW" altLang="en-US" sz="2800" dirty="0"/>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70D22ECB-B292-41F9-8C15-7B58B95D97A8}"/>
                  </a:ext>
                </a:extLst>
              </p:cNvPr>
              <p:cNvSpPr txBox="1"/>
              <p:nvPr/>
            </p:nvSpPr>
            <p:spPr>
              <a:xfrm>
                <a:off x="3057440" y="4561750"/>
                <a:ext cx="7621746"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Other algorithms time complexity:  </a:t>
                </a:r>
                <a14:m>
                  <m:oMath xmlns:m="http://schemas.openxmlformats.org/officeDocument/2006/math">
                    <m:r>
                      <a:rPr lang="en-US" altLang="zh-TW" sz="2800" i="1" dirty="0" smtClean="0">
                        <a:latin typeface="Cambria Math" panose="02040503050406030204" pitchFamily="18" charset="0"/>
                        <a:cs typeface="Times New Roman" panose="02020603050405020304" pitchFamily="18" charset="0"/>
                      </a:rPr>
                      <m:t>𝑂</m:t>
                    </m:r>
                    <m:r>
                      <a:rPr lang="en-US" altLang="zh-TW" sz="2800" i="1" dirty="0" smtClean="0">
                        <a:latin typeface="Cambria Math" panose="02040503050406030204" pitchFamily="18" charset="0"/>
                        <a:cs typeface="Times New Roman" panose="02020603050405020304" pitchFamily="18" charset="0"/>
                      </a:rPr>
                      <m:t>(</m:t>
                    </m:r>
                    <m:r>
                      <a:rPr lang="en-US" altLang="zh-TW" sz="2800" i="1" dirty="0" smtClean="0">
                        <a:latin typeface="Cambria Math" panose="02040503050406030204" pitchFamily="18" charset="0"/>
                        <a:cs typeface="Times New Roman" panose="02020603050405020304" pitchFamily="18" charset="0"/>
                      </a:rPr>
                      <m:t>𝑁</m:t>
                    </m:r>
                    <m:r>
                      <a:rPr lang="en-US" altLang="zh-TW" sz="2800" i="1" dirty="0" smtClean="0">
                        <a:latin typeface="Cambria Math" panose="02040503050406030204" pitchFamily="18" charset="0"/>
                        <a:cs typeface="Times New Roman" panose="02020603050405020304" pitchFamily="18" charset="0"/>
                      </a:rPr>
                      <m:t>+</m:t>
                    </m:r>
                    <m:sSup>
                      <m:sSupPr>
                        <m:ctrlPr>
                          <a:rPr lang="en-US" altLang="zh-TW" sz="2800" i="1" dirty="0" smtClean="0">
                            <a:latin typeface="Cambria Math" panose="02040503050406030204" pitchFamily="18" charset="0"/>
                            <a:cs typeface="Times New Roman" panose="02020603050405020304" pitchFamily="18" charset="0"/>
                          </a:rPr>
                        </m:ctrlPr>
                      </m:sSupPr>
                      <m:e>
                        <m:r>
                          <a:rPr lang="en-US" altLang="zh-TW" sz="2800" b="0" i="1" dirty="0" smtClean="0">
                            <a:latin typeface="Cambria Math" panose="02040503050406030204" pitchFamily="18" charset="0"/>
                            <a:cs typeface="Times New Roman" panose="02020603050405020304" pitchFamily="18" charset="0"/>
                          </a:rPr>
                          <m:t>𝑘</m:t>
                        </m:r>
                      </m:e>
                      <m:sup>
                        <m:r>
                          <a:rPr lang="en-US" altLang="zh-TW" sz="2800" b="0" i="1" dirty="0" smtClean="0">
                            <a:latin typeface="Cambria Math" panose="02040503050406030204" pitchFamily="18" charset="0"/>
                            <a:cs typeface="Times New Roman" panose="02020603050405020304" pitchFamily="18" charset="0"/>
                          </a:rPr>
                          <m:t>2</m:t>
                        </m:r>
                      </m:sup>
                    </m:sSup>
                    <m:r>
                      <a:rPr lang="en-US" altLang="zh-TW" sz="2800" i="1" dirty="0" smtClean="0">
                        <a:latin typeface="Cambria Math" panose="02040503050406030204" pitchFamily="18" charset="0"/>
                        <a:cs typeface="Times New Roman" panose="02020603050405020304" pitchFamily="18" charset="0"/>
                      </a:rPr>
                      <m:t>)</m:t>
                    </m:r>
                  </m:oMath>
                </a14:m>
                <a:endParaRPr lang="zh-TW" altLang="en-US" sz="2800" dirty="0"/>
              </a:p>
            </p:txBody>
          </p:sp>
        </mc:Choice>
        <mc:Fallback xmlns="">
          <p:sp>
            <p:nvSpPr>
              <p:cNvPr id="6" name="文字方塊 5">
                <a:extLst>
                  <a:ext uri="{FF2B5EF4-FFF2-40B4-BE49-F238E27FC236}">
                    <a16:creationId xmlns:a16="http://schemas.microsoft.com/office/drawing/2014/main" id="{70D22ECB-B292-41F9-8C15-7B58B95D97A8}"/>
                  </a:ext>
                </a:extLst>
              </p:cNvPr>
              <p:cNvSpPr txBox="1">
                <a:spLocks noRot="1" noChangeAspect="1" noMove="1" noResize="1" noEditPoints="1" noAdjustHandles="1" noChangeArrowheads="1" noChangeShapeType="1" noTextEdit="1"/>
              </p:cNvSpPr>
              <p:nvPr/>
            </p:nvSpPr>
            <p:spPr>
              <a:xfrm>
                <a:off x="3057440" y="4561750"/>
                <a:ext cx="7621746" cy="523220"/>
              </a:xfrm>
              <a:prstGeom prst="rect">
                <a:avLst/>
              </a:prstGeom>
              <a:blipFill>
                <a:blip r:embed="rId2"/>
                <a:stretch>
                  <a:fillRect l="-1680" t="-12791" b="-302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28054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F175E7-F54C-42EC-AA97-AE958C1EBC9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Compact prefix tree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201D317-FE20-47BD-81C8-1568C019965A}"/>
              </a:ext>
            </a:extLst>
          </p:cNvPr>
          <p:cNvSpPr>
            <a:spLocks noGrp="1"/>
          </p:cNvSpPr>
          <p:nvPr>
            <p:ph idx="1"/>
          </p:nvPr>
        </p:nvSpPr>
        <p:spPr/>
        <p:txBody>
          <a:bodyPr/>
          <a:lstStyle/>
          <a:p>
            <a:endParaRPr lang="zh-TW" altLang="en-US" dirty="0"/>
          </a:p>
        </p:txBody>
      </p:sp>
      <p:pic>
        <p:nvPicPr>
          <p:cNvPr id="12" name="圖片 11">
            <a:extLst>
              <a:ext uri="{FF2B5EF4-FFF2-40B4-BE49-F238E27FC236}">
                <a16:creationId xmlns:a16="http://schemas.microsoft.com/office/drawing/2014/main" id="{3A30B61F-843B-442A-8CA6-49D851E298D6}"/>
              </a:ext>
            </a:extLst>
          </p:cNvPr>
          <p:cNvPicPr>
            <a:picLocks noChangeAspect="1"/>
          </p:cNvPicPr>
          <p:nvPr/>
        </p:nvPicPr>
        <p:blipFill>
          <a:blip r:embed="rId2"/>
          <a:stretch>
            <a:fillRect/>
          </a:stretch>
        </p:blipFill>
        <p:spPr>
          <a:xfrm>
            <a:off x="885825" y="1825625"/>
            <a:ext cx="10420350" cy="3514725"/>
          </a:xfrm>
          <a:prstGeom prst="rect">
            <a:avLst/>
          </a:prstGeom>
        </p:spPr>
      </p:pic>
    </p:spTree>
    <p:extLst>
      <p:ext uri="{BB962C8B-B14F-4D97-AF65-F5344CB8AC3E}">
        <p14:creationId xmlns:p14="http://schemas.microsoft.com/office/powerpoint/2010/main" val="431944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702E1E-4B24-44B3-AEF9-956099EBFFD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Preprocessing and matching</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2DD89983-7586-4F05-A803-553CB625ECFD}"/>
              </a:ext>
            </a:extLst>
          </p:cNvPr>
          <p:cNvSpPr>
            <a:spLocks noGrp="1"/>
          </p:cNvSpPr>
          <p:nvPr>
            <p:ph idx="1"/>
          </p:nvPr>
        </p:nvSpPr>
        <p:spPr>
          <a:xfrm>
            <a:off x="838200" y="1825625"/>
            <a:ext cx="1074576" cy="1794653"/>
          </a:xfrm>
        </p:spPr>
        <p:txBody>
          <a:bodyPr/>
          <a:lstStyle/>
          <a:p>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A91FD854-2F14-4EAA-8141-9C8DC075ABDC}"/>
              </a:ext>
            </a:extLst>
          </p:cNvPr>
          <p:cNvPicPr>
            <a:picLocks noChangeAspect="1"/>
          </p:cNvPicPr>
          <p:nvPr/>
        </p:nvPicPr>
        <p:blipFill>
          <a:blip r:embed="rId2"/>
          <a:stretch>
            <a:fillRect/>
          </a:stretch>
        </p:blipFill>
        <p:spPr>
          <a:xfrm>
            <a:off x="1161092" y="3336588"/>
            <a:ext cx="9602755" cy="2653151"/>
          </a:xfrm>
          <a:prstGeom prst="rect">
            <a:avLst/>
          </a:prstGeom>
        </p:spPr>
      </p:pic>
      <p:sp>
        <p:nvSpPr>
          <p:cNvPr id="11" name="矩形 10">
            <a:extLst>
              <a:ext uri="{FF2B5EF4-FFF2-40B4-BE49-F238E27FC236}">
                <a16:creationId xmlns:a16="http://schemas.microsoft.com/office/drawing/2014/main" id="{B2960053-E953-4452-875D-CEB106D2C84B}"/>
              </a:ext>
            </a:extLst>
          </p:cNvPr>
          <p:cNvSpPr/>
          <p:nvPr/>
        </p:nvSpPr>
        <p:spPr>
          <a:xfrm>
            <a:off x="2474752" y="4092971"/>
            <a:ext cx="536896" cy="3628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3E30FD01-8CDD-4BD2-BE84-9F9579B49BDA}"/>
              </a:ext>
            </a:extLst>
          </p:cNvPr>
          <p:cNvSpPr/>
          <p:nvPr/>
        </p:nvSpPr>
        <p:spPr>
          <a:xfrm>
            <a:off x="2308370" y="4748686"/>
            <a:ext cx="536896" cy="3628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4" name="圖片 13">
            <a:extLst>
              <a:ext uri="{FF2B5EF4-FFF2-40B4-BE49-F238E27FC236}">
                <a16:creationId xmlns:a16="http://schemas.microsoft.com/office/drawing/2014/main" id="{BF9A4306-EE4F-4727-94BB-507B9B130A68}"/>
              </a:ext>
            </a:extLst>
          </p:cNvPr>
          <p:cNvPicPr>
            <a:picLocks noChangeAspect="1"/>
          </p:cNvPicPr>
          <p:nvPr/>
        </p:nvPicPr>
        <p:blipFill>
          <a:blip r:embed="rId3"/>
          <a:stretch>
            <a:fillRect/>
          </a:stretch>
        </p:blipFill>
        <p:spPr>
          <a:xfrm>
            <a:off x="1916145" y="1922971"/>
            <a:ext cx="3192750" cy="1087555"/>
          </a:xfrm>
          <a:prstGeom prst="rect">
            <a:avLst/>
          </a:prstGeom>
        </p:spPr>
      </p:pic>
      <p:pic>
        <p:nvPicPr>
          <p:cNvPr id="15" name="圖片 14">
            <a:extLst>
              <a:ext uri="{FF2B5EF4-FFF2-40B4-BE49-F238E27FC236}">
                <a16:creationId xmlns:a16="http://schemas.microsoft.com/office/drawing/2014/main" id="{28E7FCCB-A574-46A2-8196-F12CBCB7E8BC}"/>
              </a:ext>
            </a:extLst>
          </p:cNvPr>
          <p:cNvPicPr>
            <a:picLocks noChangeAspect="1"/>
          </p:cNvPicPr>
          <p:nvPr/>
        </p:nvPicPr>
        <p:blipFill>
          <a:blip r:embed="rId4"/>
          <a:stretch>
            <a:fillRect/>
          </a:stretch>
        </p:blipFill>
        <p:spPr>
          <a:xfrm>
            <a:off x="5754848" y="1619626"/>
            <a:ext cx="2939424" cy="1603322"/>
          </a:xfrm>
          <a:prstGeom prst="rect">
            <a:avLst/>
          </a:prstGeom>
        </p:spPr>
      </p:pic>
    </p:spTree>
    <p:extLst>
      <p:ext uri="{BB962C8B-B14F-4D97-AF65-F5344CB8AC3E}">
        <p14:creationId xmlns:p14="http://schemas.microsoft.com/office/powerpoint/2010/main" val="3555752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DFC0CE-B9C3-4D04-88D9-E0B4F206EB1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Preprocessing and matching</a:t>
            </a:r>
            <a:endParaRPr lang="zh-TW" altLang="en-US" dirty="0"/>
          </a:p>
        </p:txBody>
      </p:sp>
      <p:sp>
        <p:nvSpPr>
          <p:cNvPr id="3" name="內容版面配置區 2">
            <a:extLst>
              <a:ext uri="{FF2B5EF4-FFF2-40B4-BE49-F238E27FC236}">
                <a16:creationId xmlns:a16="http://schemas.microsoft.com/office/drawing/2014/main" id="{8F2641C1-2D1C-4881-90A9-96533F9CB310}"/>
              </a:ext>
            </a:extLst>
          </p:cNvPr>
          <p:cNvSpPr>
            <a:spLocks noGrp="1"/>
          </p:cNvSpPr>
          <p:nvPr>
            <p:ph idx="1"/>
          </p:nvPr>
        </p:nvSpPr>
        <p:spPr>
          <a:xfrm>
            <a:off x="611697" y="1825625"/>
            <a:ext cx="3658299" cy="1513193"/>
          </a:xfrm>
        </p:spPr>
        <p:txBody>
          <a:bodyPr/>
          <a:lstStyle/>
          <a:p>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33E794CB-5C73-42D9-B033-A981F97AA833}"/>
              </a:ext>
            </a:extLst>
          </p:cNvPr>
          <p:cNvPicPr>
            <a:picLocks noChangeAspect="1"/>
          </p:cNvPicPr>
          <p:nvPr/>
        </p:nvPicPr>
        <p:blipFill>
          <a:blip r:embed="rId2"/>
          <a:stretch>
            <a:fillRect/>
          </a:stretch>
        </p:blipFill>
        <p:spPr>
          <a:xfrm>
            <a:off x="1244288" y="4327275"/>
            <a:ext cx="9602755" cy="2028751"/>
          </a:xfrm>
          <a:prstGeom prst="rect">
            <a:avLst/>
          </a:prstGeom>
        </p:spPr>
      </p:pic>
      <p:pic>
        <p:nvPicPr>
          <p:cNvPr id="4" name="圖片 3">
            <a:extLst>
              <a:ext uri="{FF2B5EF4-FFF2-40B4-BE49-F238E27FC236}">
                <a16:creationId xmlns:a16="http://schemas.microsoft.com/office/drawing/2014/main" id="{4237033D-6E06-4817-ACD5-6993D27199C4}"/>
              </a:ext>
            </a:extLst>
          </p:cNvPr>
          <p:cNvPicPr>
            <a:picLocks noChangeAspect="1"/>
          </p:cNvPicPr>
          <p:nvPr/>
        </p:nvPicPr>
        <p:blipFill>
          <a:blip r:embed="rId3"/>
          <a:stretch>
            <a:fillRect/>
          </a:stretch>
        </p:blipFill>
        <p:spPr>
          <a:xfrm>
            <a:off x="1654029" y="3638298"/>
            <a:ext cx="2743200" cy="304800"/>
          </a:xfrm>
          <a:prstGeom prst="rect">
            <a:avLst/>
          </a:prstGeom>
        </p:spPr>
      </p:pic>
      <p:pic>
        <p:nvPicPr>
          <p:cNvPr id="7" name="圖片 6">
            <a:extLst>
              <a:ext uri="{FF2B5EF4-FFF2-40B4-BE49-F238E27FC236}">
                <a16:creationId xmlns:a16="http://schemas.microsoft.com/office/drawing/2014/main" id="{8A72935E-68A9-4B5B-9E48-D22852FA1FC9}"/>
              </a:ext>
            </a:extLst>
          </p:cNvPr>
          <p:cNvPicPr>
            <a:picLocks noChangeAspect="1"/>
          </p:cNvPicPr>
          <p:nvPr/>
        </p:nvPicPr>
        <p:blipFill>
          <a:blip r:embed="rId4"/>
          <a:stretch>
            <a:fillRect/>
          </a:stretch>
        </p:blipFill>
        <p:spPr>
          <a:xfrm>
            <a:off x="4639330" y="3442798"/>
            <a:ext cx="6104826" cy="695801"/>
          </a:xfrm>
          <a:prstGeom prst="rect">
            <a:avLst/>
          </a:prstGeom>
        </p:spPr>
      </p:pic>
      <p:pic>
        <p:nvPicPr>
          <p:cNvPr id="8" name="圖片 7">
            <a:extLst>
              <a:ext uri="{FF2B5EF4-FFF2-40B4-BE49-F238E27FC236}">
                <a16:creationId xmlns:a16="http://schemas.microsoft.com/office/drawing/2014/main" id="{E67AE6B8-D415-4E49-A7D6-290DFF7299E7}"/>
              </a:ext>
            </a:extLst>
          </p:cNvPr>
          <p:cNvPicPr>
            <a:picLocks noChangeAspect="1"/>
          </p:cNvPicPr>
          <p:nvPr/>
        </p:nvPicPr>
        <p:blipFill>
          <a:blip r:embed="rId5"/>
          <a:stretch>
            <a:fillRect/>
          </a:stretch>
        </p:blipFill>
        <p:spPr>
          <a:xfrm>
            <a:off x="2555498" y="1897690"/>
            <a:ext cx="2986590" cy="1060579"/>
          </a:xfrm>
          <a:prstGeom prst="rect">
            <a:avLst/>
          </a:prstGeom>
        </p:spPr>
      </p:pic>
      <p:pic>
        <p:nvPicPr>
          <p:cNvPr id="9" name="圖片 8">
            <a:extLst>
              <a:ext uri="{FF2B5EF4-FFF2-40B4-BE49-F238E27FC236}">
                <a16:creationId xmlns:a16="http://schemas.microsoft.com/office/drawing/2014/main" id="{5F99EAAC-5897-4437-BFBC-D01693F9F1C2}"/>
              </a:ext>
            </a:extLst>
          </p:cNvPr>
          <p:cNvPicPr>
            <a:picLocks noChangeAspect="1"/>
          </p:cNvPicPr>
          <p:nvPr/>
        </p:nvPicPr>
        <p:blipFill>
          <a:blip r:embed="rId6"/>
          <a:stretch>
            <a:fillRect/>
          </a:stretch>
        </p:blipFill>
        <p:spPr>
          <a:xfrm>
            <a:off x="6441585" y="1561992"/>
            <a:ext cx="2852080" cy="1786468"/>
          </a:xfrm>
          <a:prstGeom prst="rect">
            <a:avLst/>
          </a:prstGeom>
        </p:spPr>
      </p:pic>
    </p:spTree>
    <p:extLst>
      <p:ext uri="{BB962C8B-B14F-4D97-AF65-F5344CB8AC3E}">
        <p14:creationId xmlns:p14="http://schemas.microsoft.com/office/powerpoint/2010/main" val="1630102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DFC0CE-B9C3-4D04-88D9-E0B4F206EB1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Preprocessing and matching</a:t>
            </a:r>
            <a:endParaRPr lang="zh-TW" altLang="en-US" dirty="0"/>
          </a:p>
        </p:txBody>
      </p:sp>
      <p:sp>
        <p:nvSpPr>
          <p:cNvPr id="3" name="內容版面配置區 2">
            <a:extLst>
              <a:ext uri="{FF2B5EF4-FFF2-40B4-BE49-F238E27FC236}">
                <a16:creationId xmlns:a16="http://schemas.microsoft.com/office/drawing/2014/main" id="{8F2641C1-2D1C-4881-90A9-96533F9CB310}"/>
              </a:ext>
            </a:extLst>
          </p:cNvPr>
          <p:cNvSpPr>
            <a:spLocks noGrp="1"/>
          </p:cNvSpPr>
          <p:nvPr>
            <p:ph idx="1"/>
          </p:nvPr>
        </p:nvSpPr>
        <p:spPr>
          <a:xfrm>
            <a:off x="838200" y="1825625"/>
            <a:ext cx="2390192" cy="1325563"/>
          </a:xfrm>
        </p:spPr>
        <p:txBody>
          <a:bodyPr/>
          <a:lstStyle/>
          <a:p>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BEE97EAB-11EC-4ECC-A56D-978A762AA235}"/>
              </a:ext>
            </a:extLst>
          </p:cNvPr>
          <p:cNvPicPr>
            <a:picLocks noChangeAspect="1"/>
          </p:cNvPicPr>
          <p:nvPr/>
        </p:nvPicPr>
        <p:blipFill>
          <a:blip r:embed="rId2"/>
          <a:stretch>
            <a:fillRect/>
          </a:stretch>
        </p:blipFill>
        <p:spPr>
          <a:xfrm>
            <a:off x="1014412" y="3429000"/>
            <a:ext cx="10163175" cy="3143250"/>
          </a:xfrm>
          <a:prstGeom prst="rect">
            <a:avLst/>
          </a:prstGeom>
        </p:spPr>
      </p:pic>
      <p:pic>
        <p:nvPicPr>
          <p:cNvPr id="5" name="圖片 4">
            <a:extLst>
              <a:ext uri="{FF2B5EF4-FFF2-40B4-BE49-F238E27FC236}">
                <a16:creationId xmlns:a16="http://schemas.microsoft.com/office/drawing/2014/main" id="{6B1E45B1-F427-458A-AC12-990EDD218912}"/>
              </a:ext>
            </a:extLst>
          </p:cNvPr>
          <p:cNvPicPr>
            <a:picLocks noChangeAspect="1"/>
          </p:cNvPicPr>
          <p:nvPr/>
        </p:nvPicPr>
        <p:blipFill>
          <a:blip r:embed="rId3"/>
          <a:stretch>
            <a:fillRect/>
          </a:stretch>
        </p:blipFill>
        <p:spPr>
          <a:xfrm>
            <a:off x="1197537" y="2093913"/>
            <a:ext cx="3124200" cy="1057275"/>
          </a:xfrm>
          <a:prstGeom prst="rect">
            <a:avLst/>
          </a:prstGeom>
        </p:spPr>
      </p:pic>
      <p:pic>
        <p:nvPicPr>
          <p:cNvPr id="6" name="圖片 5">
            <a:extLst>
              <a:ext uri="{FF2B5EF4-FFF2-40B4-BE49-F238E27FC236}">
                <a16:creationId xmlns:a16="http://schemas.microsoft.com/office/drawing/2014/main" id="{EBF6017F-FB8F-40D2-812A-8D3E9B03FFE8}"/>
              </a:ext>
            </a:extLst>
          </p:cNvPr>
          <p:cNvPicPr>
            <a:picLocks noChangeAspect="1"/>
          </p:cNvPicPr>
          <p:nvPr/>
        </p:nvPicPr>
        <p:blipFill>
          <a:blip r:embed="rId4"/>
          <a:stretch>
            <a:fillRect/>
          </a:stretch>
        </p:blipFill>
        <p:spPr>
          <a:xfrm>
            <a:off x="7408507" y="988467"/>
            <a:ext cx="3585956" cy="3038310"/>
          </a:xfrm>
          <a:prstGeom prst="rect">
            <a:avLst/>
          </a:prstGeom>
        </p:spPr>
      </p:pic>
    </p:spTree>
    <p:extLst>
      <p:ext uri="{BB962C8B-B14F-4D97-AF65-F5344CB8AC3E}">
        <p14:creationId xmlns:p14="http://schemas.microsoft.com/office/powerpoint/2010/main" val="4115595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19023-78A3-45AD-A034-5565C0902BC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Pseudocode</a:t>
            </a:r>
            <a:endParaRPr lang="zh-TW" altLang="en-US" dirty="0"/>
          </a:p>
        </p:txBody>
      </p:sp>
      <p:sp>
        <p:nvSpPr>
          <p:cNvPr id="3" name="內容版面配置區 2">
            <a:extLst>
              <a:ext uri="{FF2B5EF4-FFF2-40B4-BE49-F238E27FC236}">
                <a16:creationId xmlns:a16="http://schemas.microsoft.com/office/drawing/2014/main" id="{CD822C80-D1B6-45E5-8826-74EBFFED037C}"/>
              </a:ext>
            </a:extLst>
          </p:cNvPr>
          <p:cNvSpPr>
            <a:spLocks noGrp="1"/>
          </p:cNvSpPr>
          <p:nvPr>
            <p:ph idx="1"/>
          </p:nvPr>
        </p:nvSpPr>
        <p:spPr/>
        <p:txBody>
          <a:bodyPr/>
          <a:lstStyle/>
          <a:p>
            <a:endParaRPr lang="zh-TW" altLang="en-US" dirty="0"/>
          </a:p>
        </p:txBody>
      </p:sp>
      <p:pic>
        <p:nvPicPr>
          <p:cNvPr id="14" name="圖片 13">
            <a:extLst>
              <a:ext uri="{FF2B5EF4-FFF2-40B4-BE49-F238E27FC236}">
                <a16:creationId xmlns:a16="http://schemas.microsoft.com/office/drawing/2014/main" id="{C1B0D279-E9CE-438B-B19D-F00A6A4C7DE8}"/>
              </a:ext>
            </a:extLst>
          </p:cNvPr>
          <p:cNvPicPr>
            <a:picLocks noChangeAspect="1"/>
          </p:cNvPicPr>
          <p:nvPr/>
        </p:nvPicPr>
        <p:blipFill>
          <a:blip r:embed="rId2"/>
          <a:stretch>
            <a:fillRect/>
          </a:stretch>
        </p:blipFill>
        <p:spPr>
          <a:xfrm>
            <a:off x="976544" y="1510019"/>
            <a:ext cx="10377256" cy="5153506"/>
          </a:xfrm>
          <a:prstGeom prst="rect">
            <a:avLst/>
          </a:prstGeom>
        </p:spPr>
      </p:pic>
    </p:spTree>
    <p:extLst>
      <p:ext uri="{BB962C8B-B14F-4D97-AF65-F5344CB8AC3E}">
        <p14:creationId xmlns:p14="http://schemas.microsoft.com/office/powerpoint/2010/main" val="2616563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E88787-785C-415E-9128-4BCC1DB85C5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Output step</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79EECD1B-4E47-413B-981B-23ABF9BCF9E1}"/>
              </a:ext>
            </a:extLst>
          </p:cNvPr>
          <p:cNvSpPr>
            <a:spLocks noGrp="1"/>
          </p:cNvSpPr>
          <p:nvPr>
            <p:ph idx="1"/>
          </p:nvPr>
        </p:nvSpPr>
        <p:spPr>
          <a:xfrm>
            <a:off x="838200" y="2107095"/>
            <a:ext cx="2614127" cy="1149289"/>
          </a:xfrm>
        </p:spPr>
        <p:txBody>
          <a:bodyPr/>
          <a:lstStyle/>
          <a:p>
            <a:endParaRPr lang="zh-TW" altLang="en-US" dirty="0"/>
          </a:p>
        </p:txBody>
      </p:sp>
      <p:pic>
        <p:nvPicPr>
          <p:cNvPr id="5" name="圖片 4">
            <a:extLst>
              <a:ext uri="{FF2B5EF4-FFF2-40B4-BE49-F238E27FC236}">
                <a16:creationId xmlns:a16="http://schemas.microsoft.com/office/drawing/2014/main" id="{86B7A607-AB06-4AF1-842F-F171E209031D}"/>
              </a:ext>
            </a:extLst>
          </p:cNvPr>
          <p:cNvPicPr>
            <a:picLocks noChangeAspect="1"/>
          </p:cNvPicPr>
          <p:nvPr/>
        </p:nvPicPr>
        <p:blipFill>
          <a:blip r:embed="rId2"/>
          <a:stretch>
            <a:fillRect/>
          </a:stretch>
        </p:blipFill>
        <p:spPr>
          <a:xfrm>
            <a:off x="1521181" y="2073275"/>
            <a:ext cx="8963025" cy="4419600"/>
          </a:xfrm>
          <a:prstGeom prst="rect">
            <a:avLst/>
          </a:prstGeom>
        </p:spPr>
      </p:pic>
    </p:spTree>
    <p:extLst>
      <p:ext uri="{BB962C8B-B14F-4D97-AF65-F5344CB8AC3E}">
        <p14:creationId xmlns:p14="http://schemas.microsoft.com/office/powerpoint/2010/main" val="1549761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57068C-7ABF-4844-82F9-46572928B207}"/>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CC4852B7-A3CC-46F6-84F0-038014C1A0BE}"/>
              </a:ext>
            </a:extLst>
          </p:cNvPr>
          <p:cNvSpPr>
            <a:spLocks noGrp="1"/>
          </p:cNvSpPr>
          <p:nvPr>
            <p:ph idx="1"/>
          </p:nvPr>
        </p:nvSpPr>
        <p:spPr>
          <a:xfrm>
            <a:off x="464975" y="1803633"/>
            <a:ext cx="2175587" cy="4432464"/>
          </a:xfrm>
        </p:spPr>
        <p:txBody>
          <a:bodyPr/>
          <a:lstStyle/>
          <a:p>
            <a:pPr marL="0" indent="0">
              <a:buNone/>
            </a:pPr>
            <a:endParaRPr lang="zh-TW" altLang="en-US"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4C2865D1-0BB9-47FE-A2F7-618ED1F396E1}"/>
              </a:ext>
            </a:extLst>
          </p:cNvPr>
          <p:cNvPicPr>
            <a:picLocks noChangeAspect="1"/>
          </p:cNvPicPr>
          <p:nvPr/>
        </p:nvPicPr>
        <p:blipFill>
          <a:blip r:embed="rId2"/>
          <a:stretch>
            <a:fillRect/>
          </a:stretch>
        </p:blipFill>
        <p:spPr>
          <a:xfrm>
            <a:off x="232487" y="1690688"/>
            <a:ext cx="11727025" cy="2253604"/>
          </a:xfrm>
          <a:prstGeom prst="rect">
            <a:avLst/>
          </a:prstGeom>
        </p:spPr>
      </p:pic>
      <p:pic>
        <p:nvPicPr>
          <p:cNvPr id="8" name="圖片 7">
            <a:extLst>
              <a:ext uri="{FF2B5EF4-FFF2-40B4-BE49-F238E27FC236}">
                <a16:creationId xmlns:a16="http://schemas.microsoft.com/office/drawing/2014/main" id="{B5761C66-38EA-4C31-AE32-E298EB93AA16}"/>
              </a:ext>
            </a:extLst>
          </p:cNvPr>
          <p:cNvPicPr>
            <a:picLocks noChangeAspect="1"/>
          </p:cNvPicPr>
          <p:nvPr/>
        </p:nvPicPr>
        <p:blipFill>
          <a:blip r:embed="rId3"/>
          <a:stretch>
            <a:fillRect/>
          </a:stretch>
        </p:blipFill>
        <p:spPr>
          <a:xfrm>
            <a:off x="232487" y="4639029"/>
            <a:ext cx="11727025" cy="1475081"/>
          </a:xfrm>
          <a:prstGeom prst="rect">
            <a:avLst/>
          </a:prstGeom>
        </p:spPr>
      </p:pic>
    </p:spTree>
    <p:extLst>
      <p:ext uri="{BB962C8B-B14F-4D97-AF65-F5344CB8AC3E}">
        <p14:creationId xmlns:p14="http://schemas.microsoft.com/office/powerpoint/2010/main" val="2258277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1A4D80-87D0-4230-B4CF-611B40EFE23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2CC9214D-2FAF-460A-89D7-5DE79A8D0502}"/>
              </a:ext>
            </a:extLst>
          </p:cNvPr>
          <p:cNvSpPr>
            <a:spLocks noGrp="1"/>
          </p:cNvSpPr>
          <p:nvPr>
            <p:ph idx="1"/>
          </p:nvPr>
        </p:nvSpPr>
        <p:spPr>
          <a:xfrm>
            <a:off x="1526796" y="1825625"/>
            <a:ext cx="9827004" cy="4351338"/>
          </a:xfrm>
        </p:spPr>
        <p:txBody>
          <a:bodyPr/>
          <a:lstStyle/>
          <a:p>
            <a:endParaRPr lang="zh-TW" altLang="en-US" dirty="0"/>
          </a:p>
        </p:txBody>
      </p:sp>
      <p:pic>
        <p:nvPicPr>
          <p:cNvPr id="5" name="圖片 4">
            <a:extLst>
              <a:ext uri="{FF2B5EF4-FFF2-40B4-BE49-F238E27FC236}">
                <a16:creationId xmlns:a16="http://schemas.microsoft.com/office/drawing/2014/main" id="{3002A744-63CA-4C7B-AA2D-E47771B36E3A}"/>
              </a:ext>
            </a:extLst>
          </p:cNvPr>
          <p:cNvPicPr>
            <a:picLocks noChangeAspect="1"/>
          </p:cNvPicPr>
          <p:nvPr/>
        </p:nvPicPr>
        <p:blipFill>
          <a:blip r:embed="rId2"/>
          <a:stretch>
            <a:fillRect/>
          </a:stretch>
        </p:blipFill>
        <p:spPr>
          <a:xfrm>
            <a:off x="454484" y="1825625"/>
            <a:ext cx="11283032" cy="4424173"/>
          </a:xfrm>
          <a:prstGeom prst="rect">
            <a:avLst/>
          </a:prstGeom>
        </p:spPr>
      </p:pic>
      <p:sp>
        <p:nvSpPr>
          <p:cNvPr id="6" name="矩形: 圓角 5">
            <a:extLst>
              <a:ext uri="{FF2B5EF4-FFF2-40B4-BE49-F238E27FC236}">
                <a16:creationId xmlns:a16="http://schemas.microsoft.com/office/drawing/2014/main" id="{F1B34FF1-D95B-401B-A04E-864D381D95FD}"/>
              </a:ext>
            </a:extLst>
          </p:cNvPr>
          <p:cNvSpPr/>
          <p:nvPr/>
        </p:nvSpPr>
        <p:spPr>
          <a:xfrm>
            <a:off x="1963024" y="2854993"/>
            <a:ext cx="9689284" cy="41944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圓角 6">
            <a:extLst>
              <a:ext uri="{FF2B5EF4-FFF2-40B4-BE49-F238E27FC236}">
                <a16:creationId xmlns:a16="http://schemas.microsoft.com/office/drawing/2014/main" id="{70548CC1-8B38-4210-A042-52B18E4555AE}"/>
              </a:ext>
            </a:extLst>
          </p:cNvPr>
          <p:cNvSpPr/>
          <p:nvPr/>
        </p:nvSpPr>
        <p:spPr>
          <a:xfrm>
            <a:off x="1963024" y="3827986"/>
            <a:ext cx="9689284" cy="41944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圓角 7">
            <a:extLst>
              <a:ext uri="{FF2B5EF4-FFF2-40B4-BE49-F238E27FC236}">
                <a16:creationId xmlns:a16="http://schemas.microsoft.com/office/drawing/2014/main" id="{58B7D3E0-68AB-44AD-9A28-5A854937D8AB}"/>
              </a:ext>
            </a:extLst>
          </p:cNvPr>
          <p:cNvSpPr/>
          <p:nvPr/>
        </p:nvSpPr>
        <p:spPr>
          <a:xfrm>
            <a:off x="1963024" y="4784521"/>
            <a:ext cx="9689284" cy="41944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圓角 8">
            <a:extLst>
              <a:ext uri="{FF2B5EF4-FFF2-40B4-BE49-F238E27FC236}">
                <a16:creationId xmlns:a16="http://schemas.microsoft.com/office/drawing/2014/main" id="{6557C007-3627-4E1E-9AC4-5C18259D827C}"/>
              </a:ext>
            </a:extLst>
          </p:cNvPr>
          <p:cNvSpPr/>
          <p:nvPr/>
        </p:nvSpPr>
        <p:spPr>
          <a:xfrm>
            <a:off x="1963024" y="5757514"/>
            <a:ext cx="9689284" cy="41944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126738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A5433C-A968-44FF-BD4F-29BF0B035F7D}"/>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458B472-EB9C-464B-866D-C68D217D57B5}"/>
              </a:ext>
            </a:extLst>
          </p:cNvPr>
          <p:cNvSpPr>
            <a:spLocks noGrp="1"/>
          </p:cNvSpPr>
          <p:nvPr>
            <p:ph idx="1"/>
          </p:nvPr>
        </p:nvSpPr>
        <p:spPr/>
        <p:txBody>
          <a:bodyPr/>
          <a:lstStyle/>
          <a:p>
            <a:endParaRPr lang="zh-TW" altLang="en-US" dirty="0"/>
          </a:p>
        </p:txBody>
      </p:sp>
      <p:pic>
        <p:nvPicPr>
          <p:cNvPr id="7" name="圖片 6">
            <a:extLst>
              <a:ext uri="{FF2B5EF4-FFF2-40B4-BE49-F238E27FC236}">
                <a16:creationId xmlns:a16="http://schemas.microsoft.com/office/drawing/2014/main" id="{6D72C1FC-A212-4618-A48A-935E292E850C}"/>
              </a:ext>
            </a:extLst>
          </p:cNvPr>
          <p:cNvPicPr>
            <a:picLocks noChangeAspect="1"/>
          </p:cNvPicPr>
          <p:nvPr/>
        </p:nvPicPr>
        <p:blipFill>
          <a:blip r:embed="rId2"/>
          <a:stretch>
            <a:fillRect/>
          </a:stretch>
        </p:blipFill>
        <p:spPr>
          <a:xfrm>
            <a:off x="80962" y="1884093"/>
            <a:ext cx="12030075" cy="4076700"/>
          </a:xfrm>
          <a:prstGeom prst="rect">
            <a:avLst/>
          </a:prstGeom>
        </p:spPr>
      </p:pic>
    </p:spTree>
    <p:extLst>
      <p:ext uri="{BB962C8B-B14F-4D97-AF65-F5344CB8AC3E}">
        <p14:creationId xmlns:p14="http://schemas.microsoft.com/office/powerpoint/2010/main" val="2160284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6D1E12-7BE2-43EB-B11E-1C763244714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Experiments</a:t>
            </a:r>
            <a:endParaRPr lang="zh-TW" altLang="en-US" dirty="0"/>
          </a:p>
        </p:txBody>
      </p:sp>
      <p:sp>
        <p:nvSpPr>
          <p:cNvPr id="3" name="內容版面配置區 2">
            <a:extLst>
              <a:ext uri="{FF2B5EF4-FFF2-40B4-BE49-F238E27FC236}">
                <a16:creationId xmlns:a16="http://schemas.microsoft.com/office/drawing/2014/main" id="{3E21380C-0912-447F-BD3B-0CDC50EE74DB}"/>
              </a:ext>
            </a:extLst>
          </p:cNvPr>
          <p:cNvSpPr>
            <a:spLocks noGrp="1"/>
          </p:cNvSpPr>
          <p:nvPr>
            <p:ph idx="1"/>
          </p:nvPr>
        </p:nvSpPr>
        <p:spPr/>
        <p:txBody>
          <a:bodyPr/>
          <a:lstStyle/>
          <a:p>
            <a:endParaRPr lang="zh-TW" altLang="en-US" sz="4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E82F9600-93FB-4EE4-BBE6-C342B8730920}"/>
              </a:ext>
            </a:extLst>
          </p:cNvPr>
          <p:cNvPicPr>
            <a:picLocks noChangeAspect="1"/>
          </p:cNvPicPr>
          <p:nvPr/>
        </p:nvPicPr>
        <p:blipFill>
          <a:blip r:embed="rId2"/>
          <a:stretch>
            <a:fillRect/>
          </a:stretch>
        </p:blipFill>
        <p:spPr>
          <a:xfrm>
            <a:off x="2057400" y="1643856"/>
            <a:ext cx="8077200" cy="4714875"/>
          </a:xfrm>
          <a:prstGeom prst="rect">
            <a:avLst/>
          </a:prstGeom>
        </p:spPr>
      </p:pic>
    </p:spTree>
    <p:extLst>
      <p:ext uri="{BB962C8B-B14F-4D97-AF65-F5344CB8AC3E}">
        <p14:creationId xmlns:p14="http://schemas.microsoft.com/office/powerpoint/2010/main" val="191981676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7578</TotalTime>
  <Words>186</Words>
  <Application>Microsoft Office PowerPoint</Application>
  <PresentationFormat>寬螢幕</PresentationFormat>
  <Paragraphs>21</Paragraphs>
  <Slides>13</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13</vt:i4>
      </vt:variant>
    </vt:vector>
  </HeadingPairs>
  <TitlesOfParts>
    <vt:vector size="19" baseType="lpstr">
      <vt:lpstr>Arial</vt:lpstr>
      <vt:lpstr>Calibri</vt:lpstr>
      <vt:lpstr>Calibri Light</vt:lpstr>
      <vt:lpstr>Cambria Math</vt:lpstr>
      <vt:lpstr>Times New Roman</vt:lpstr>
      <vt:lpstr>Office 佈景主題</vt:lpstr>
      <vt:lpstr>A fast algorithm for the  all-pairs suffix–prefix problem </vt:lpstr>
      <vt:lpstr>Abstract</vt:lpstr>
      <vt:lpstr>all-pairs suffix–prefix problem (APSP)</vt:lpstr>
      <vt:lpstr>Compact prefix tree</vt:lpstr>
      <vt:lpstr>Preprocessing and matching</vt:lpstr>
      <vt:lpstr>Preprocessing and matching</vt:lpstr>
      <vt:lpstr>Preprocessing and matching</vt:lpstr>
      <vt:lpstr>Pseudocode</vt:lpstr>
      <vt:lpstr>Output step</vt:lpstr>
      <vt:lpstr>Experiments</vt:lpstr>
      <vt:lpstr>Experiments</vt:lpstr>
      <vt:lpstr>Experiments</vt:lpstr>
      <vt:lpstr>Experiments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冠霖</dc:creator>
  <cp:lastModifiedBy>pplabeveryone</cp:lastModifiedBy>
  <cp:revision>131</cp:revision>
  <dcterms:created xsi:type="dcterms:W3CDTF">2019-02-17T13:02:40Z</dcterms:created>
  <dcterms:modified xsi:type="dcterms:W3CDTF">2019-08-15T06:37:31Z</dcterms:modified>
</cp:coreProperties>
</file>