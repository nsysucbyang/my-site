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311" r:id="rId3"/>
    <p:sldId id="312" r:id="rId4"/>
    <p:sldId id="306" r:id="rId5"/>
    <p:sldId id="320" r:id="rId6"/>
    <p:sldId id="319" r:id="rId7"/>
    <p:sldId id="313" r:id="rId8"/>
    <p:sldId id="314" r:id="rId9"/>
    <p:sldId id="315" r:id="rId10"/>
    <p:sldId id="317" r:id="rId11"/>
    <p:sldId id="308" r:id="rId12"/>
    <p:sldId id="31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3971" autoAdjust="0"/>
  </p:normalViewPr>
  <p:slideViewPr>
    <p:cSldViewPr snapToGrid="0">
      <p:cViewPr>
        <p:scale>
          <a:sx n="75" d="100"/>
          <a:sy n="75" d="100"/>
        </p:scale>
        <p:origin x="1040" y="-4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2019/8/14</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4025034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06879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2019/8/14</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50" y="1538969"/>
            <a:ext cx="8348184" cy="877881"/>
          </a:xfrm>
        </p:spPr>
        <p:txBody>
          <a:bodyPr>
            <a:noAutofit/>
          </a:bodyPr>
          <a:lstStyle/>
          <a:p>
            <a:r>
              <a:rPr lang="en-US" altLang="zh-TW" sz="3600" dirty="0" err="1">
                <a:latin typeface="Times New Roman" panose="02020603050405020304" pitchFamily="18" charset="0"/>
                <a:cs typeface="Times New Roman" panose="02020603050405020304" pitchFamily="18" charset="0"/>
              </a:rPr>
              <a:t>MatAlign</a:t>
            </a:r>
            <a:r>
              <a:rPr lang="en-US"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Precise Protein </a:t>
            </a:r>
            <a:r>
              <a:rPr lang="en-US" altLang="zh-TW" sz="3600" dirty="0" smtClean="0">
                <a:latin typeface="Times New Roman" panose="02020603050405020304" pitchFamily="18" charset="0"/>
                <a:cs typeface="Times New Roman" panose="02020603050405020304" pitchFamily="18" charset="0"/>
              </a:rPr>
              <a:t>Structure</a:t>
            </a:r>
            <a:r>
              <a:rPr lang="zh-TW" altLang="en-US" sz="3600" dirty="0" smtClean="0">
                <a:latin typeface="Times New Roman" panose="02020603050405020304" pitchFamily="18" charset="0"/>
                <a:cs typeface="Times New Roman" panose="02020603050405020304" pitchFamily="18" charset="0"/>
              </a:rPr>
              <a:t> </a:t>
            </a:r>
            <a:r>
              <a:rPr lang="en-US" altLang="zh-TW" sz="3600" dirty="0" smtClean="0">
                <a:latin typeface="Times New Roman" panose="02020603050405020304" pitchFamily="18" charset="0"/>
                <a:cs typeface="Times New Roman" panose="02020603050405020304" pitchFamily="18" charset="0"/>
              </a:rPr>
              <a:t>Comparison</a:t>
            </a:r>
            <a:r>
              <a:rPr lang="zh-TW" altLang="en-US" sz="3600" dirty="0" smtClean="0">
                <a:latin typeface="Times New Roman" panose="02020603050405020304" pitchFamily="18" charset="0"/>
                <a:cs typeface="Times New Roman" panose="02020603050405020304" pitchFamily="18" charset="0"/>
              </a:rPr>
              <a:t> </a:t>
            </a:r>
            <a:r>
              <a:rPr lang="en-US" altLang="zh-TW" sz="3600" dirty="0" smtClean="0">
                <a:latin typeface="Times New Roman" panose="02020603050405020304" pitchFamily="18" charset="0"/>
                <a:cs typeface="Times New Roman" panose="02020603050405020304" pitchFamily="18" charset="0"/>
              </a:rPr>
              <a:t>by </a:t>
            </a:r>
            <a:r>
              <a:rPr lang="en-US" altLang="zh-TW" sz="3600" dirty="0">
                <a:latin typeface="Times New Roman" panose="02020603050405020304" pitchFamily="18" charset="0"/>
                <a:cs typeface="Times New Roman" panose="02020603050405020304" pitchFamily="18" charset="0"/>
              </a:rPr>
              <a:t>Matrix Alignment</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err="1">
                <a:latin typeface="Times New Roman" panose="02020603050405020304" pitchFamily="18" charset="0"/>
                <a:cs typeface="Times New Roman" panose="02020603050405020304" pitchFamily="18" charset="0"/>
              </a:rPr>
              <a:t>Zeyar</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Aung,and</a:t>
            </a:r>
            <a:r>
              <a:rPr lang="en-US" altLang="zh-TW" sz="2800" dirty="0">
                <a:latin typeface="Times New Roman" panose="02020603050405020304" pitchFamily="18" charset="0"/>
                <a:cs typeface="Times New Roman" panose="02020603050405020304" pitchFamily="18" charset="0"/>
              </a:rPr>
              <a:t>  Kian-lee Tan</a:t>
            </a:r>
            <a:endParaRPr lang="en-US"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Date:Aug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smtClean="0">
                <a:latin typeface="Times New Roman" panose="02020603050405020304" pitchFamily="18" charset="0"/>
                <a:ea typeface="標楷體" panose="03000509000000000000" pitchFamily="65" charset="-120"/>
                <a:cs typeface="Times New Roman" panose="02020603050405020304" pitchFamily="18" charset="0"/>
              </a:rPr>
              <a:t>15,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Journal of Bioinformatics and Computational Biology</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Vol. 4, No. 6 (2006) 1197–1216</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75101"/>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We propose a detailed protein structure alignment method named “</a:t>
            </a:r>
            <a:r>
              <a:rPr lang="en-US" altLang="zh-TW" dirty="0" err="1">
                <a:latin typeface="Times New Roman" panose="02020603050405020304" pitchFamily="18" charset="0"/>
                <a:cs typeface="Times New Roman" panose="02020603050405020304" pitchFamily="18" charset="0"/>
              </a:rPr>
              <a:t>MatAlign</a:t>
            </a:r>
            <a:r>
              <a:rPr lang="en-US" altLang="zh-TW" dirty="0">
                <a:latin typeface="Times New Roman" panose="02020603050405020304" pitchFamily="18" charset="0"/>
                <a:cs typeface="Times New Roman" panose="02020603050405020304" pitchFamily="18" charset="0"/>
              </a:rPr>
              <a:t>”. It is a two-step algorithm. Firstly, we represent 3D protein structures as 2D distance matrices, and align these matrices by means of dynamic programming in order to ﬁnd the </a:t>
            </a:r>
            <a:r>
              <a:rPr lang="en-US" altLang="zh-TW" dirty="0" smtClean="0">
                <a:latin typeface="Times New Roman" panose="02020603050405020304" pitchFamily="18" charset="0"/>
                <a:cs typeface="Times New Roman" panose="02020603050405020304" pitchFamily="18" charset="0"/>
              </a:rPr>
              <a:t>initially </a:t>
            </a:r>
            <a:r>
              <a:rPr lang="en-US" altLang="zh-TW" dirty="0">
                <a:latin typeface="Times New Roman" panose="02020603050405020304" pitchFamily="18" charset="0"/>
                <a:cs typeface="Times New Roman" panose="02020603050405020304" pitchFamily="18" charset="0"/>
              </a:rPr>
              <a:t>aligned residue pairs. Secondly, we reﬁne the initial alignment iteratively into the optimal one according to an objective scoring function. We compare our method against DALI and CE, which are among the most accurate and the most widely used of the existing structural comparison tools. On the benchmark set of 68 protein structure pairs by Fischer et al., </a:t>
            </a:r>
            <a:r>
              <a:rPr lang="en-US" altLang="zh-TW" dirty="0" err="1">
                <a:latin typeface="Times New Roman" panose="02020603050405020304" pitchFamily="18" charset="0"/>
                <a:cs typeface="Times New Roman" panose="02020603050405020304" pitchFamily="18" charset="0"/>
              </a:rPr>
              <a:t>MatAlign</a:t>
            </a:r>
            <a:r>
              <a:rPr lang="en-US" altLang="zh-TW" dirty="0">
                <a:latin typeface="Times New Roman" panose="02020603050405020304" pitchFamily="18" charset="0"/>
                <a:cs typeface="Times New Roman" panose="02020603050405020304" pitchFamily="18" charset="0"/>
              </a:rPr>
              <a:t> provides better alignment results, according to four </a:t>
            </a:r>
            <a:r>
              <a:rPr lang="en-US" altLang="zh-TW" dirty="0" smtClean="0">
                <a:latin typeface="Times New Roman" panose="02020603050405020304" pitchFamily="18" charset="0"/>
                <a:cs typeface="Times New Roman" panose="02020603050405020304" pitchFamily="18" charset="0"/>
              </a:rPr>
              <a:t>diﬀerent </a:t>
            </a:r>
            <a:r>
              <a:rPr lang="en-US" altLang="zh-TW" dirty="0">
                <a:latin typeface="Times New Roman" panose="02020603050405020304" pitchFamily="18" charset="0"/>
                <a:cs typeface="Times New Roman" panose="02020603050405020304" pitchFamily="18" charset="0"/>
              </a:rPr>
              <a:t>criteria, than both DALI and CE in a majority of cases.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90897"/>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834128"/>
            <a:ext cx="8626301" cy="5131633"/>
          </a:xfrm>
        </p:spPr>
        <p:txBody>
          <a:bodyPr>
            <a:noAutofit/>
          </a:bodyPr>
          <a:lstStyle/>
          <a:p>
            <a:pPr marL="0" indent="0">
              <a:lnSpc>
                <a:spcPts val="3200"/>
              </a:lnSpc>
              <a:buNone/>
            </a:pPr>
            <a:r>
              <a:rPr lang="en-US" altLang="zh-TW" dirty="0" err="1">
                <a:latin typeface="Times New Roman" panose="02020603050405020304" pitchFamily="18" charset="0"/>
                <a:cs typeface="Times New Roman" panose="02020603050405020304" pitchFamily="18" charset="0"/>
              </a:rPr>
              <a:t>MatAlign</a:t>
            </a:r>
            <a:r>
              <a:rPr lang="en-US" altLang="zh-TW" dirty="0">
                <a:latin typeface="Times New Roman" panose="02020603050405020304" pitchFamily="18" charset="0"/>
                <a:cs typeface="Times New Roman" panose="02020603050405020304" pitchFamily="18" charset="0"/>
              </a:rPr>
              <a:t> also performs as well in structural database search as DALI does, and much better than CE does. </a:t>
            </a:r>
            <a:r>
              <a:rPr lang="en-US" altLang="zh-TW" dirty="0" err="1">
                <a:latin typeface="Times New Roman" panose="02020603050405020304" pitchFamily="18" charset="0"/>
                <a:cs typeface="Times New Roman" panose="02020603050405020304" pitchFamily="18" charset="0"/>
              </a:rPr>
              <a:t>MatAlign</a:t>
            </a:r>
            <a:r>
              <a:rPr lang="en-US" altLang="zh-TW" dirty="0">
                <a:latin typeface="Times New Roman" panose="02020603050405020304" pitchFamily="18" charset="0"/>
                <a:cs typeface="Times New Roman" panose="02020603050405020304" pitchFamily="18" charset="0"/>
              </a:rPr>
              <a:t> is about two to three times faster than DALI, and has about the same speed as CE. The software and the supplementary information for this paper are available at http://xena1.ddns.comp.nus.edu.sg/ ∼ genesis/</a:t>
            </a:r>
            <a:r>
              <a:rPr lang="en-US" altLang="zh-TW" dirty="0" err="1">
                <a:latin typeface="Times New Roman" panose="02020603050405020304" pitchFamily="18" charset="0"/>
                <a:cs typeface="Times New Roman" panose="02020603050405020304" pitchFamily="18" charset="0"/>
              </a:rPr>
              <a:t>MatAlign</a:t>
            </a:r>
            <a:r>
              <a:rPr lang="en-US" altLang="zh-TW" dirty="0">
                <a:latin typeface="Times New Roman" panose="02020603050405020304" pitchFamily="18" charset="0"/>
                <a:cs typeface="Times New Roman" panose="02020603050405020304" pitchFamily="18" charset="0"/>
              </a:rPr>
              <a:t>/.</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8" y="289176"/>
            <a:ext cx="8491867" cy="583367"/>
          </a:xfrm>
        </p:spPr>
        <p:txBody>
          <a:bodyPr>
            <a:noAutofit/>
          </a:bodyPr>
          <a:lstStyle/>
          <a:p>
            <a:r>
              <a:rPr lang="en-US" altLang="zh-TW" sz="3200" dirty="0">
                <a:latin typeface="Times New Roman" panose="02020603050405020304" pitchFamily="18" charset="0"/>
                <a:cs typeface="Times New Roman" panose="02020603050405020304" pitchFamily="18" charset="0"/>
              </a:rPr>
              <a:t>Distance matrix representation</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351160" y="929710"/>
            <a:ext cx="8494666" cy="4790747"/>
          </a:xfrm>
          <a:prstGeom prst="rect">
            <a:avLst/>
          </a:prstGeom>
        </p:spPr>
      </p:pic>
      <p:pic>
        <p:nvPicPr>
          <p:cNvPr id="9" name="圖片 8"/>
          <p:cNvPicPr>
            <a:picLocks noChangeAspect="1"/>
          </p:cNvPicPr>
          <p:nvPr/>
        </p:nvPicPr>
        <p:blipFill>
          <a:blip r:embed="rId4"/>
          <a:stretch>
            <a:fillRect/>
          </a:stretch>
        </p:blipFill>
        <p:spPr>
          <a:xfrm>
            <a:off x="450551" y="5903125"/>
            <a:ext cx="5542745" cy="566345"/>
          </a:xfrm>
          <a:prstGeom prst="rect">
            <a:avLst/>
          </a:prstGeom>
        </p:spPr>
      </p:pic>
      <p:pic>
        <p:nvPicPr>
          <p:cNvPr id="12" name="圖片 11"/>
          <p:cNvPicPr>
            <a:picLocks noChangeAspect="1"/>
          </p:cNvPicPr>
          <p:nvPr/>
        </p:nvPicPr>
        <p:blipFill>
          <a:blip r:embed="rId5"/>
          <a:stretch>
            <a:fillRect/>
          </a:stretch>
        </p:blipFill>
        <p:spPr>
          <a:xfrm>
            <a:off x="1953731" y="5537789"/>
            <a:ext cx="312390" cy="385893"/>
          </a:xfrm>
          <a:prstGeom prst="rect">
            <a:avLst/>
          </a:prstGeom>
        </p:spPr>
      </p:pic>
    </p:spTree>
    <p:extLst>
      <p:ext uri="{BB962C8B-B14F-4D97-AF65-F5344CB8AC3E}">
        <p14:creationId xmlns:p14="http://schemas.microsoft.com/office/powerpoint/2010/main" val="11308117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stretch>
            <a:fillRect/>
          </a:stretch>
        </p:blipFill>
        <p:spPr>
          <a:xfrm>
            <a:off x="104392" y="1197134"/>
            <a:ext cx="8681799" cy="5301198"/>
          </a:xfrm>
          <a:prstGeom prst="rect">
            <a:avLst/>
          </a:prstGeom>
        </p:spPr>
      </p:pic>
      <p:sp>
        <p:nvSpPr>
          <p:cNvPr id="8" name="標題 1">
            <a:extLst>
              <a:ext uri="{FF2B5EF4-FFF2-40B4-BE49-F238E27FC236}">
                <a16:creationId xmlns:a16="http://schemas.microsoft.com/office/drawing/2014/main" id="{94B01AB9-0651-4F6D-A93A-D571F0BAE9A7}"/>
              </a:ext>
            </a:extLst>
          </p:cNvPr>
          <p:cNvSpPr>
            <a:spLocks noGrp="1"/>
          </p:cNvSpPr>
          <p:nvPr>
            <p:ph type="title"/>
          </p:nvPr>
        </p:nvSpPr>
        <p:spPr>
          <a:xfrm>
            <a:off x="125358" y="289176"/>
            <a:ext cx="8491867" cy="583367"/>
          </a:xfrm>
        </p:spPr>
        <p:txBody>
          <a:bodyPr>
            <a:noAutofit/>
          </a:bodyPr>
          <a:lstStyle/>
          <a:p>
            <a:r>
              <a:rPr lang="en-US" altLang="zh-TW" sz="3200" dirty="0">
                <a:latin typeface="Times New Roman" panose="02020603050405020304" pitchFamily="18" charset="0"/>
                <a:cs typeface="Times New Roman" panose="02020603050405020304" pitchFamily="18" charset="0"/>
              </a:rPr>
              <a:t>Needleman–</a:t>
            </a:r>
            <a:r>
              <a:rPr lang="en-US" altLang="zh-TW" sz="3200" dirty="0" err="1">
                <a:latin typeface="Times New Roman" panose="02020603050405020304" pitchFamily="18" charset="0"/>
                <a:cs typeface="Times New Roman" panose="02020603050405020304" pitchFamily="18" charset="0"/>
              </a:rPr>
              <a:t>Wunsch</a:t>
            </a:r>
            <a:r>
              <a:rPr lang="en-US" altLang="zh-TW" sz="3200" dirty="0">
                <a:latin typeface="Times New Roman" panose="02020603050405020304" pitchFamily="18" charset="0"/>
                <a:cs typeface="Times New Roman" panose="02020603050405020304" pitchFamily="18" charset="0"/>
              </a:rPr>
              <a:t> </a:t>
            </a:r>
            <a:r>
              <a:rPr lang="en-US" altLang="zh-TW" sz="3200" dirty="0" smtClean="0">
                <a:latin typeface="Times New Roman" panose="02020603050405020304" pitchFamily="18" charset="0"/>
                <a:cs typeface="Times New Roman" panose="02020603050405020304" pitchFamily="18" charset="0"/>
              </a:rPr>
              <a:t>algorithm</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8257616" y="3448524"/>
            <a:ext cx="347131" cy="380997"/>
          </a:xfrm>
          <a:prstGeom prst="rect">
            <a:avLst/>
          </a:prstGeom>
        </p:spPr>
      </p:pic>
      <p:pic>
        <p:nvPicPr>
          <p:cNvPr id="13" name="圖片 12"/>
          <p:cNvPicPr>
            <a:picLocks noChangeAspect="1"/>
          </p:cNvPicPr>
          <p:nvPr/>
        </p:nvPicPr>
        <p:blipFill>
          <a:blip r:embed="rId4"/>
          <a:stretch>
            <a:fillRect/>
          </a:stretch>
        </p:blipFill>
        <p:spPr>
          <a:xfrm>
            <a:off x="7940040" y="3537917"/>
            <a:ext cx="161088" cy="238633"/>
          </a:xfrm>
          <a:prstGeom prst="rect">
            <a:avLst/>
          </a:prstGeom>
        </p:spPr>
      </p:pic>
      <p:pic>
        <p:nvPicPr>
          <p:cNvPr id="14" name="圖片 13"/>
          <p:cNvPicPr>
            <a:picLocks noChangeAspect="1"/>
          </p:cNvPicPr>
          <p:nvPr/>
        </p:nvPicPr>
        <p:blipFill>
          <a:blip r:embed="rId4"/>
          <a:stretch>
            <a:fillRect/>
          </a:stretch>
        </p:blipFill>
        <p:spPr>
          <a:xfrm>
            <a:off x="8076172" y="3519705"/>
            <a:ext cx="168966" cy="238633"/>
          </a:xfrm>
          <a:prstGeom prst="rect">
            <a:avLst/>
          </a:prstGeom>
        </p:spPr>
      </p:pic>
      <p:pic>
        <p:nvPicPr>
          <p:cNvPr id="16" name="圖片 15"/>
          <p:cNvPicPr>
            <a:picLocks noChangeAspect="1"/>
          </p:cNvPicPr>
          <p:nvPr/>
        </p:nvPicPr>
        <p:blipFill>
          <a:blip r:embed="rId5"/>
          <a:stretch>
            <a:fillRect/>
          </a:stretch>
        </p:blipFill>
        <p:spPr>
          <a:xfrm>
            <a:off x="244034" y="2176208"/>
            <a:ext cx="2736233" cy="3826905"/>
          </a:xfrm>
          <a:prstGeom prst="rect">
            <a:avLst/>
          </a:prstGeom>
        </p:spPr>
      </p:pic>
      <p:pic>
        <p:nvPicPr>
          <p:cNvPr id="17" name="圖片 16"/>
          <p:cNvPicPr>
            <a:picLocks noChangeAspect="1"/>
          </p:cNvPicPr>
          <p:nvPr/>
        </p:nvPicPr>
        <p:blipFill>
          <a:blip r:embed="rId6"/>
          <a:stretch>
            <a:fillRect/>
          </a:stretch>
        </p:blipFill>
        <p:spPr>
          <a:xfrm>
            <a:off x="244034" y="2396070"/>
            <a:ext cx="2666980" cy="965193"/>
          </a:xfrm>
          <a:prstGeom prst="rect">
            <a:avLst/>
          </a:prstGeom>
        </p:spPr>
      </p:pic>
      <p:sp>
        <p:nvSpPr>
          <p:cNvPr id="15" name="矩形 14"/>
          <p:cNvSpPr/>
          <p:nvPr/>
        </p:nvSpPr>
        <p:spPr>
          <a:xfrm>
            <a:off x="331538" y="2045301"/>
            <a:ext cx="304800" cy="2963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8" name="圖片 17"/>
          <p:cNvPicPr>
            <a:picLocks noChangeAspect="1"/>
          </p:cNvPicPr>
          <p:nvPr/>
        </p:nvPicPr>
        <p:blipFill>
          <a:blip r:embed="rId7"/>
          <a:stretch>
            <a:fillRect/>
          </a:stretch>
        </p:blipFill>
        <p:spPr>
          <a:xfrm>
            <a:off x="231556" y="3776550"/>
            <a:ext cx="2641580" cy="1015992"/>
          </a:xfrm>
          <a:prstGeom prst="rect">
            <a:avLst/>
          </a:prstGeom>
        </p:spPr>
      </p:pic>
      <p:sp>
        <p:nvSpPr>
          <p:cNvPr id="19" name="矩形 18"/>
          <p:cNvSpPr/>
          <p:nvPr/>
        </p:nvSpPr>
        <p:spPr>
          <a:xfrm>
            <a:off x="331538" y="3442973"/>
            <a:ext cx="304800" cy="296334"/>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 name="圖片 19"/>
          <p:cNvPicPr>
            <a:picLocks noChangeAspect="1"/>
          </p:cNvPicPr>
          <p:nvPr/>
        </p:nvPicPr>
        <p:blipFill>
          <a:blip r:embed="rId8"/>
          <a:stretch>
            <a:fillRect/>
          </a:stretch>
        </p:blipFill>
        <p:spPr>
          <a:xfrm>
            <a:off x="244034" y="5147910"/>
            <a:ext cx="2683913" cy="973659"/>
          </a:xfrm>
          <a:prstGeom prst="rect">
            <a:avLst/>
          </a:prstGeom>
        </p:spPr>
      </p:pic>
      <p:sp>
        <p:nvSpPr>
          <p:cNvPr id="21" name="矩形 20"/>
          <p:cNvSpPr/>
          <p:nvPr/>
        </p:nvSpPr>
        <p:spPr>
          <a:xfrm>
            <a:off x="331538" y="4808107"/>
            <a:ext cx="304800" cy="296334"/>
          </a:xfrm>
          <a:prstGeom prst="rect">
            <a:avLst/>
          </a:prstGeom>
          <a:solidFill>
            <a:srgbClr val="210A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59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89176"/>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The </a:t>
            </a:r>
            <a:r>
              <a:rPr lang="en-US" altLang="zh-TW" sz="3200" dirty="0" err="1">
                <a:latin typeface="Times New Roman" panose="02020603050405020304" pitchFamily="18" charset="0"/>
                <a:cs typeface="Times New Roman" panose="02020603050405020304" pitchFamily="18" charset="0"/>
              </a:rPr>
              <a:t>MatAlign</a:t>
            </a:r>
            <a:r>
              <a:rPr lang="en-US" altLang="zh-TW" sz="3200" dirty="0">
                <a:latin typeface="Times New Roman" panose="02020603050405020304" pitchFamily="18" charset="0"/>
                <a:cs typeface="Times New Roman" panose="02020603050405020304" pitchFamily="18" charset="0"/>
              </a:rPr>
              <a:t> Method</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2"/>
          <a:stretch>
            <a:fillRect/>
          </a:stretch>
        </p:blipFill>
        <p:spPr>
          <a:xfrm>
            <a:off x="452106" y="1050431"/>
            <a:ext cx="8334085" cy="5434793"/>
          </a:xfrm>
          <a:prstGeom prst="rect">
            <a:avLst/>
          </a:prstGeom>
        </p:spPr>
      </p:pic>
    </p:spTree>
    <p:extLst>
      <p:ext uri="{BB962C8B-B14F-4D97-AF65-F5344CB8AC3E}">
        <p14:creationId xmlns:p14="http://schemas.microsoft.com/office/powerpoint/2010/main" val="37326675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448866" y="1457538"/>
            <a:ext cx="3934289" cy="4157230"/>
          </a:xfrm>
          <a:prstGeom prst="rect">
            <a:avLst/>
          </a:prstGeom>
        </p:spPr>
      </p:pic>
      <p:pic>
        <p:nvPicPr>
          <p:cNvPr id="10" name="圖片 9"/>
          <p:cNvPicPr>
            <a:picLocks noChangeAspect="1"/>
          </p:cNvPicPr>
          <p:nvPr/>
        </p:nvPicPr>
        <p:blipFill>
          <a:blip r:embed="rId4"/>
          <a:stretch>
            <a:fillRect/>
          </a:stretch>
        </p:blipFill>
        <p:spPr>
          <a:xfrm>
            <a:off x="4562060" y="1385056"/>
            <a:ext cx="4184393" cy="4229712"/>
          </a:xfrm>
          <a:prstGeom prst="rect">
            <a:avLst/>
          </a:prstGeom>
        </p:spPr>
      </p:pic>
    </p:spTree>
    <p:extLst>
      <p:ext uri="{BB962C8B-B14F-4D97-AF65-F5344CB8AC3E}">
        <p14:creationId xmlns:p14="http://schemas.microsoft.com/office/powerpoint/2010/main" val="24204654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682413" y="69574"/>
            <a:ext cx="4621586" cy="5774638"/>
          </a:xfrm>
          <a:prstGeom prst="rect">
            <a:avLst/>
          </a:prstGeom>
        </p:spPr>
      </p:pic>
      <p:pic>
        <p:nvPicPr>
          <p:cNvPr id="2" name="圖片 1"/>
          <p:cNvPicPr>
            <a:picLocks noChangeAspect="1"/>
          </p:cNvPicPr>
          <p:nvPr/>
        </p:nvPicPr>
        <p:blipFill>
          <a:blip r:embed="rId4"/>
          <a:stretch>
            <a:fillRect/>
          </a:stretch>
        </p:blipFill>
        <p:spPr>
          <a:xfrm>
            <a:off x="2133526" y="5844212"/>
            <a:ext cx="5930077" cy="868478"/>
          </a:xfrm>
          <a:prstGeom prst="rect">
            <a:avLst/>
          </a:prstGeom>
        </p:spPr>
      </p:pic>
      <p:sp>
        <p:nvSpPr>
          <p:cNvPr id="3" name="矩形 2"/>
          <p:cNvSpPr/>
          <p:nvPr/>
        </p:nvSpPr>
        <p:spPr>
          <a:xfrm>
            <a:off x="5098564" y="773355"/>
            <a:ext cx="4572000" cy="707886"/>
          </a:xfrm>
          <a:prstGeom prst="rect">
            <a:avLst/>
          </a:prstGeom>
        </p:spPr>
        <p:txBody>
          <a:bodyPr>
            <a:spAutoFit/>
          </a:bodyPr>
          <a:lstStyle/>
          <a:p>
            <a:r>
              <a:rPr lang="zh-TW" altLang="en-US" sz="2000" dirty="0">
                <a:latin typeface="Times New Roman" panose="02020603050405020304" pitchFamily="18" charset="0"/>
                <a:cs typeface="Times New Roman" panose="02020603050405020304" pitchFamily="18" charset="0"/>
              </a:rPr>
              <a:t>We use the empirically chosen values </a:t>
            </a:r>
            <a:endParaRPr lang="en-US" altLang="zh-TW" sz="2000" dirty="0" smtClean="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α </a:t>
            </a:r>
            <a:r>
              <a:rPr lang="zh-TW" altLang="en-US" sz="2000" dirty="0">
                <a:latin typeface="Times New Roman" panose="02020603050405020304" pitchFamily="18" charset="0"/>
                <a:cs typeface="Times New Roman" panose="02020603050405020304" pitchFamily="18" charset="0"/>
              </a:rPr>
              <a:t>= 0.75 and TMatch = 1.6 </a:t>
            </a:r>
          </a:p>
        </p:txBody>
      </p:sp>
      <p:pic>
        <p:nvPicPr>
          <p:cNvPr id="6" name="圖片 5"/>
          <p:cNvPicPr>
            <a:picLocks noChangeAspect="1"/>
          </p:cNvPicPr>
          <p:nvPr/>
        </p:nvPicPr>
        <p:blipFill>
          <a:blip r:embed="rId5"/>
          <a:stretch>
            <a:fillRect/>
          </a:stretch>
        </p:blipFill>
        <p:spPr>
          <a:xfrm>
            <a:off x="7980906" y="1151699"/>
            <a:ext cx="165394" cy="230113"/>
          </a:xfrm>
          <a:prstGeom prst="rect">
            <a:avLst/>
          </a:prstGeom>
        </p:spPr>
      </p:pic>
      <p:sp>
        <p:nvSpPr>
          <p:cNvPr id="7" name="矩形 6"/>
          <p:cNvSpPr/>
          <p:nvPr/>
        </p:nvSpPr>
        <p:spPr>
          <a:xfrm>
            <a:off x="5098564" y="2150139"/>
            <a:ext cx="4572000" cy="1015663"/>
          </a:xfrm>
          <a:prstGeom prst="rect">
            <a:avLst/>
          </a:prstGeom>
        </p:spPr>
        <p:txBody>
          <a:bodyPr>
            <a:spAutoFit/>
          </a:bodyPr>
          <a:lstStyle/>
          <a:p>
            <a:r>
              <a:rPr lang="en-US" altLang="zh-TW" sz="2000" dirty="0">
                <a:latin typeface="Times New Roman" panose="02020603050405020304" pitchFamily="18" charset="0"/>
                <a:cs typeface="Times New Roman" panose="02020603050405020304" pitchFamily="18" charset="0"/>
              </a:rPr>
              <a:t>The function Match( • , • ) is used </a:t>
            </a:r>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in </a:t>
            </a:r>
            <a:r>
              <a:rPr lang="en-US" altLang="zh-TW" sz="2000" dirty="0">
                <a:latin typeface="Times New Roman" panose="02020603050405020304" pitchFamily="18" charset="0"/>
                <a:cs typeface="Times New Roman" panose="02020603050405020304" pitchFamily="18" charset="0"/>
              </a:rPr>
              <a:t>the dynamic programming’s </a:t>
            </a:r>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selection </a:t>
            </a:r>
            <a:r>
              <a:rPr lang="en-US" altLang="zh-TW" sz="2000" dirty="0">
                <a:latin typeface="Times New Roman" panose="02020603050405020304" pitchFamily="18" charset="0"/>
                <a:cs typeface="Times New Roman" panose="02020603050405020304" pitchFamily="18" charset="0"/>
              </a:rPr>
              <a:t>step.</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4347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151915" y="496957"/>
            <a:ext cx="4061657" cy="4694927"/>
          </a:xfrm>
          <a:prstGeom prst="rect">
            <a:avLst/>
          </a:prstGeom>
        </p:spPr>
      </p:pic>
      <p:pic>
        <p:nvPicPr>
          <p:cNvPr id="6" name="圖片 5"/>
          <p:cNvPicPr>
            <a:picLocks noChangeAspect="1"/>
          </p:cNvPicPr>
          <p:nvPr/>
        </p:nvPicPr>
        <p:blipFill>
          <a:blip r:embed="rId3"/>
          <a:stretch>
            <a:fillRect/>
          </a:stretch>
        </p:blipFill>
        <p:spPr>
          <a:xfrm>
            <a:off x="4213572" y="101014"/>
            <a:ext cx="4532863" cy="6485136"/>
          </a:xfrm>
          <a:prstGeom prst="rect">
            <a:avLst/>
          </a:prstGeom>
        </p:spPr>
      </p:pic>
    </p:spTree>
    <p:extLst>
      <p:ext uri="{BB962C8B-B14F-4D97-AF65-F5344CB8AC3E}">
        <p14:creationId xmlns:p14="http://schemas.microsoft.com/office/powerpoint/2010/main" val="18690067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282315" y="119270"/>
            <a:ext cx="8046677" cy="4881650"/>
          </a:xfrm>
          <a:prstGeom prst="rect">
            <a:avLst/>
          </a:prstGeom>
        </p:spPr>
      </p:pic>
      <p:pic>
        <p:nvPicPr>
          <p:cNvPr id="3" name="圖片 2"/>
          <p:cNvPicPr>
            <a:picLocks noChangeAspect="1"/>
          </p:cNvPicPr>
          <p:nvPr/>
        </p:nvPicPr>
        <p:blipFill>
          <a:blip r:embed="rId3"/>
          <a:stretch>
            <a:fillRect/>
          </a:stretch>
        </p:blipFill>
        <p:spPr>
          <a:xfrm>
            <a:off x="465751" y="5000920"/>
            <a:ext cx="6213345" cy="878327"/>
          </a:xfrm>
          <a:prstGeom prst="rect">
            <a:avLst/>
          </a:prstGeom>
        </p:spPr>
      </p:pic>
      <p:pic>
        <p:nvPicPr>
          <p:cNvPr id="4" name="圖片 3"/>
          <p:cNvPicPr>
            <a:picLocks noChangeAspect="1"/>
          </p:cNvPicPr>
          <p:nvPr/>
        </p:nvPicPr>
        <p:blipFill>
          <a:blip r:embed="rId4"/>
          <a:stretch>
            <a:fillRect/>
          </a:stretch>
        </p:blipFill>
        <p:spPr>
          <a:xfrm>
            <a:off x="465751" y="5879247"/>
            <a:ext cx="4136066" cy="784321"/>
          </a:xfrm>
          <a:prstGeom prst="rect">
            <a:avLst/>
          </a:prstGeom>
        </p:spPr>
      </p:pic>
    </p:spTree>
    <p:extLst>
      <p:ext uri="{BB962C8B-B14F-4D97-AF65-F5344CB8AC3E}">
        <p14:creationId xmlns:p14="http://schemas.microsoft.com/office/powerpoint/2010/main" val="19282064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Results:</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1797455" y="1113184"/>
            <a:ext cx="4730896" cy="2616444"/>
          </a:xfrm>
          <a:prstGeom prst="rect">
            <a:avLst/>
          </a:prstGeom>
        </p:spPr>
      </p:pic>
      <p:pic>
        <p:nvPicPr>
          <p:cNvPr id="3" name="圖片 2"/>
          <p:cNvPicPr>
            <a:picLocks noChangeAspect="1"/>
          </p:cNvPicPr>
          <p:nvPr/>
        </p:nvPicPr>
        <p:blipFill>
          <a:blip r:embed="rId3"/>
          <a:stretch>
            <a:fillRect/>
          </a:stretch>
        </p:blipFill>
        <p:spPr>
          <a:xfrm>
            <a:off x="2112240" y="3974476"/>
            <a:ext cx="4159351" cy="2529440"/>
          </a:xfrm>
          <a:prstGeom prst="rect">
            <a:avLst/>
          </a:prstGeom>
        </p:spPr>
      </p:pic>
    </p:spTree>
    <p:extLst>
      <p:ext uri="{BB962C8B-B14F-4D97-AF65-F5344CB8AC3E}">
        <p14:creationId xmlns:p14="http://schemas.microsoft.com/office/powerpoint/2010/main" val="2541818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2796987" y="3351013"/>
            <a:ext cx="4008740" cy="3194822"/>
          </a:xfrm>
          <a:prstGeom prst="rect">
            <a:avLst/>
          </a:prstGeom>
        </p:spPr>
      </p:pic>
      <p:pic>
        <p:nvPicPr>
          <p:cNvPr id="4" name="圖片 3"/>
          <p:cNvPicPr>
            <a:picLocks noChangeAspect="1"/>
          </p:cNvPicPr>
          <p:nvPr/>
        </p:nvPicPr>
        <p:blipFill>
          <a:blip r:embed="rId3"/>
          <a:stretch>
            <a:fillRect/>
          </a:stretch>
        </p:blipFill>
        <p:spPr>
          <a:xfrm>
            <a:off x="487017" y="1133306"/>
            <a:ext cx="8348870" cy="1981672"/>
          </a:xfrm>
          <a:prstGeom prst="rect">
            <a:avLst/>
          </a:prstGeom>
        </p:spPr>
      </p:pic>
    </p:spTree>
    <p:extLst>
      <p:ext uri="{BB962C8B-B14F-4D97-AF65-F5344CB8AC3E}">
        <p14:creationId xmlns:p14="http://schemas.microsoft.com/office/powerpoint/2010/main" val="3336030377"/>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87297</TotalTime>
  <Words>293</Words>
  <Application>Microsoft Office PowerPoint</Application>
  <PresentationFormat>如螢幕大小 (4:3)</PresentationFormat>
  <Paragraphs>26</Paragraphs>
  <Slides>12</Slides>
  <Notes>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12</vt:i4>
      </vt:variant>
    </vt:vector>
  </HeadingPairs>
  <TitlesOfParts>
    <vt:vector size="20" baseType="lpstr">
      <vt:lpstr>新細明體</vt:lpstr>
      <vt:lpstr>標楷體</vt:lpstr>
      <vt:lpstr>Arial</vt:lpstr>
      <vt:lpstr>Calibri</vt:lpstr>
      <vt:lpstr>Calibri Light</vt:lpstr>
      <vt:lpstr>Tahoma</vt:lpstr>
      <vt:lpstr>Times New Roman</vt:lpstr>
      <vt:lpstr>Office 佈景主題</vt:lpstr>
      <vt:lpstr>MatAlign: Precise Protein Structure Comparison by Matrix Alignment</vt:lpstr>
      <vt:lpstr>Abstract(1/2)</vt:lpstr>
      <vt:lpstr>Abstract(2/2)</vt:lpstr>
      <vt:lpstr>Distance matrix representation:</vt:lpstr>
      <vt:lpstr>Needleman–Wunsch algorithm:</vt:lpstr>
      <vt:lpstr>The MatAlign Method:</vt:lpstr>
      <vt:lpstr>PowerPoint 簡報</vt:lpstr>
      <vt:lpstr>PowerPoint 簡報</vt:lpstr>
      <vt:lpstr>PowerPoint 簡報</vt:lpstr>
      <vt:lpstr>PowerPoint 簡報</vt:lpstr>
      <vt:lpstr>Results:</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豐仰 蔡</cp:lastModifiedBy>
  <cp:revision>723</cp:revision>
  <dcterms:created xsi:type="dcterms:W3CDTF">2017-09-25T08:45:50Z</dcterms:created>
  <dcterms:modified xsi:type="dcterms:W3CDTF">2019-08-15T03:52:30Z</dcterms:modified>
</cp:coreProperties>
</file>