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88" r:id="rId5"/>
    <p:sldId id="299" r:id="rId6"/>
    <p:sldId id="301" r:id="rId7"/>
    <p:sldId id="300" r:id="rId8"/>
    <p:sldId id="304" r:id="rId9"/>
    <p:sldId id="305" r:id="rId10"/>
    <p:sldId id="302" r:id="rId11"/>
    <p:sldId id="303" r:id="rId12"/>
    <p:sldId id="278" r:id="rId13"/>
    <p:sldId id="279" r:id="rId14"/>
    <p:sldId id="280" r:id="rId15"/>
    <p:sldId id="285"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0" autoAdjust="0"/>
    <p:restoredTop sz="79741" autoAdjust="0"/>
  </p:normalViewPr>
  <p:slideViewPr>
    <p:cSldViewPr snapToGrid="0">
      <p:cViewPr varScale="1">
        <p:scale>
          <a:sx n="52" d="100"/>
          <a:sy n="52" d="100"/>
        </p:scale>
        <p:origin x="1206" y="120"/>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8DE3D63E-ED49-4D7E-8867-5402EFEDA3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E957D7-6998-44F0-8EFD-129034B48C23}" type="slidenum">
              <a:rPr lang="zh-TW" altLang="en-US" smtClean="0"/>
              <a:t>‹#›</a:t>
            </a:fld>
            <a:endParaRPr lang="zh-TW" altLang="en-US"/>
          </a:p>
        </p:txBody>
      </p:sp>
    </p:spTree>
    <p:extLst>
      <p:ext uri="{BB962C8B-B14F-4D97-AF65-F5344CB8AC3E}">
        <p14:creationId xmlns:p14="http://schemas.microsoft.com/office/powerpoint/2010/main" val="185444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EA978-E737-40E5-8864-39E2E87DFE56}" type="datetimeFigureOut">
              <a:rPr lang="zh-TW" altLang="en-US" smtClean="0"/>
              <a:t>2019/5/13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F998F-39E5-4E28-B0C3-37396970755F}" type="slidenum">
              <a:rPr lang="zh-TW" altLang="en-US" smtClean="0"/>
              <a:t>‹#›</a:t>
            </a:fld>
            <a:endParaRPr lang="zh-TW" altLang="en-US"/>
          </a:p>
        </p:txBody>
      </p:sp>
    </p:spTree>
    <p:extLst>
      <p:ext uri="{BB962C8B-B14F-4D97-AF65-F5344CB8AC3E}">
        <p14:creationId xmlns:p14="http://schemas.microsoft.com/office/powerpoint/2010/main" val="3501703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a:t>
            </a:fld>
            <a:endParaRPr lang="zh-TW" altLang="en-US"/>
          </a:p>
        </p:txBody>
      </p:sp>
    </p:spTree>
    <p:extLst>
      <p:ext uri="{BB962C8B-B14F-4D97-AF65-F5344CB8AC3E}">
        <p14:creationId xmlns:p14="http://schemas.microsoft.com/office/powerpoint/2010/main" val="1910138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2</a:t>
            </a:fld>
            <a:endParaRPr lang="zh-TW" altLang="en-US"/>
          </a:p>
        </p:txBody>
      </p:sp>
    </p:spTree>
    <p:extLst>
      <p:ext uri="{BB962C8B-B14F-4D97-AF65-F5344CB8AC3E}">
        <p14:creationId xmlns:p14="http://schemas.microsoft.com/office/powerpoint/2010/main" val="251646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3</a:t>
            </a:fld>
            <a:endParaRPr lang="zh-TW" altLang="en-US"/>
          </a:p>
        </p:txBody>
      </p:sp>
    </p:spTree>
    <p:extLst>
      <p:ext uri="{BB962C8B-B14F-4D97-AF65-F5344CB8AC3E}">
        <p14:creationId xmlns:p14="http://schemas.microsoft.com/office/powerpoint/2010/main" val="3634989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4</a:t>
            </a:fld>
            <a:endParaRPr lang="zh-TW" altLang="en-US"/>
          </a:p>
        </p:txBody>
      </p:sp>
    </p:spTree>
    <p:extLst>
      <p:ext uri="{BB962C8B-B14F-4D97-AF65-F5344CB8AC3E}">
        <p14:creationId xmlns:p14="http://schemas.microsoft.com/office/powerpoint/2010/main" val="1000999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A26C46-D0C2-4B38-8A04-667613125F65}"/>
              </a:ext>
            </a:extLst>
          </p:cNvPr>
          <p:cNvSpPr>
            <a:spLocks noGrp="1"/>
          </p:cNvSpPr>
          <p:nvPr>
            <p:ph type="ctrTitle" hasCustomPrompt="1"/>
          </p:nvPr>
        </p:nvSpPr>
        <p:spPr>
          <a:xfrm>
            <a:off x="1524000" y="1122363"/>
            <a:ext cx="9144000" cy="2387600"/>
          </a:xfrm>
        </p:spPr>
        <p:txBody>
          <a:bodyPr anchor="b"/>
          <a:lstStyle>
            <a:lvl1pPr algn="ctr">
              <a:defRPr sz="6000"/>
            </a:lvl1pPr>
          </a:lstStyle>
          <a:p>
            <a:pPr algn="ctr"/>
            <a:r>
              <a:rPr lang="en-US" altLang="zh-TW" sz="6000" dirty="0"/>
              <a:t>Inception-v4,</a:t>
            </a:r>
            <a:r>
              <a:rPr lang="zh-TW" altLang="en-US" sz="6000" dirty="0"/>
              <a:t> </a:t>
            </a:r>
            <a:r>
              <a:rPr lang="en-US" altLang="zh-TW" sz="6000" dirty="0"/>
              <a:t>Inception-</a:t>
            </a:r>
            <a:r>
              <a:rPr lang="en-US" altLang="zh-TW" sz="6000" dirty="0" err="1"/>
              <a:t>ResNet</a:t>
            </a:r>
            <a:r>
              <a:rPr lang="zh-TW" altLang="en-US" sz="6000" dirty="0"/>
              <a:t> </a:t>
            </a:r>
            <a:r>
              <a:rPr lang="en-US" altLang="zh-TW" sz="6000" dirty="0"/>
              <a:t>and the</a:t>
            </a:r>
            <a:r>
              <a:rPr lang="zh-TW" altLang="en-US" sz="6000" dirty="0"/>
              <a:t> </a:t>
            </a:r>
            <a:r>
              <a:rPr lang="en-US" altLang="zh-TW" sz="6000" dirty="0"/>
              <a:t>Impact</a:t>
            </a:r>
            <a:r>
              <a:rPr lang="zh-TW" altLang="en-US" sz="6000" dirty="0"/>
              <a:t> </a:t>
            </a:r>
            <a:r>
              <a:rPr lang="en-US" altLang="zh-TW" sz="6000" dirty="0"/>
              <a:t>of</a:t>
            </a:r>
            <a:r>
              <a:rPr lang="zh-TW" altLang="en-US" sz="6000" dirty="0"/>
              <a:t> </a:t>
            </a:r>
            <a:r>
              <a:rPr lang="en-US" altLang="zh-TW" sz="6000" dirty="0"/>
              <a:t>Residual</a:t>
            </a:r>
            <a:r>
              <a:rPr lang="zh-TW" altLang="en-US" sz="6000" dirty="0"/>
              <a:t> </a:t>
            </a:r>
            <a:r>
              <a:rPr lang="en-US" altLang="zh-TW" sz="6000" dirty="0"/>
              <a:t>Connections on</a:t>
            </a:r>
            <a:r>
              <a:rPr lang="zh-TW" altLang="en-US" sz="6000" dirty="0"/>
              <a:t> </a:t>
            </a:r>
            <a:r>
              <a:rPr lang="en-US" altLang="zh-TW" sz="6000" dirty="0"/>
              <a:t>Learning</a:t>
            </a:r>
          </a:p>
        </p:txBody>
      </p:sp>
      <p:sp>
        <p:nvSpPr>
          <p:cNvPr id="3" name="副標題 2">
            <a:extLst>
              <a:ext uri="{FF2B5EF4-FFF2-40B4-BE49-F238E27FC236}">
                <a16:creationId xmlns:a16="http://schemas.microsoft.com/office/drawing/2014/main" id="{8696A7FC-CF28-4579-BC74-610A32CF5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2C6E288-DD27-4113-B6F7-DD4F3944F7AD}"/>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EFB0A3A0-D31F-474E-9349-609AC727685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3F3CDA-AD1A-40A6-9C8D-642369690FE7}"/>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702767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EBDB89-794A-4CE8-AB36-695FA6BD6D4E}"/>
              </a:ext>
            </a:extLst>
          </p:cNvPr>
          <p:cNvSpPr>
            <a:spLocks noGrp="1"/>
          </p:cNvSpPr>
          <p:nvPr>
            <p:ph type="title" hasCustomPrompt="1"/>
          </p:nvPr>
        </p:nvSpPr>
        <p:spPr/>
        <p:txBody>
          <a:bodyPr/>
          <a:lstStyle>
            <a:lvl1pPr>
              <a:defRPr/>
            </a:lvl1pPr>
          </a:lstStyle>
          <a:p>
            <a:pPr algn="ctr"/>
            <a:r>
              <a:rPr lang="en-US" altLang="zh-TW" sz="4400" dirty="0"/>
              <a:t>Inception-v4,</a:t>
            </a:r>
            <a:r>
              <a:rPr lang="zh-TW" altLang="en-US" sz="4400" dirty="0"/>
              <a:t> </a:t>
            </a:r>
            <a:r>
              <a:rPr lang="en-US" altLang="zh-TW" sz="4400" dirty="0"/>
              <a:t>Inception-</a:t>
            </a:r>
            <a:r>
              <a:rPr lang="en-US" altLang="zh-TW" sz="4400" dirty="0" err="1"/>
              <a:t>ResNet</a:t>
            </a:r>
            <a:r>
              <a:rPr lang="zh-TW" altLang="en-US" sz="4400" dirty="0"/>
              <a:t> </a:t>
            </a:r>
            <a:r>
              <a:rPr lang="en-US" altLang="zh-TW" sz="4400" dirty="0"/>
              <a:t>and the</a:t>
            </a:r>
            <a:r>
              <a:rPr lang="zh-TW" altLang="en-US" sz="4400" dirty="0"/>
              <a:t> </a:t>
            </a:r>
            <a:r>
              <a:rPr lang="en-US" altLang="zh-TW" sz="4400" dirty="0"/>
              <a:t>Impact</a:t>
            </a:r>
            <a:r>
              <a:rPr lang="zh-TW" altLang="en-US" sz="4400" dirty="0"/>
              <a:t> </a:t>
            </a:r>
            <a:r>
              <a:rPr lang="en-US" altLang="zh-TW" sz="4400" dirty="0"/>
              <a:t>of</a:t>
            </a:r>
            <a:r>
              <a:rPr lang="zh-TW" altLang="en-US" sz="4400" dirty="0"/>
              <a:t> </a:t>
            </a:r>
            <a:r>
              <a:rPr lang="en-US" altLang="zh-TW" sz="4400" dirty="0"/>
              <a:t>Residual</a:t>
            </a:r>
            <a:r>
              <a:rPr lang="zh-TW" altLang="en-US" sz="4400" dirty="0"/>
              <a:t> </a:t>
            </a:r>
            <a:r>
              <a:rPr lang="en-US" altLang="zh-TW" sz="4400" dirty="0"/>
              <a:t>Connections on</a:t>
            </a:r>
            <a:r>
              <a:rPr lang="zh-TW" altLang="en-US" sz="4400" dirty="0"/>
              <a:t> </a:t>
            </a:r>
            <a:r>
              <a:rPr lang="en-US" altLang="zh-TW" sz="4400" dirty="0"/>
              <a:t>Learning</a:t>
            </a:r>
          </a:p>
        </p:txBody>
      </p:sp>
      <p:sp>
        <p:nvSpPr>
          <p:cNvPr id="3" name="內容版面配置區 2">
            <a:extLst>
              <a:ext uri="{FF2B5EF4-FFF2-40B4-BE49-F238E27FC236}">
                <a16:creationId xmlns:a16="http://schemas.microsoft.com/office/drawing/2014/main" id="{EB355D9C-ACD8-4D02-92FE-DE58E61C017B}"/>
              </a:ext>
            </a:extLst>
          </p:cNvPr>
          <p:cNvSpPr>
            <a:spLocks noGrp="1"/>
          </p:cNvSpPr>
          <p:nvPr>
            <p:ph idx="1" hasCustomPrompt="1"/>
          </p:nvPr>
        </p:nvSpPr>
        <p:spPr/>
        <p:txBody>
          <a:bodyPr/>
          <a:lstStyle>
            <a:lvl1pPr>
              <a:defRPr/>
            </a:lvl1pPr>
          </a:lstStyle>
          <a:p>
            <a:pPr algn="ctr"/>
            <a:r>
              <a:rPr lang="en-US" altLang="zh-TW" sz="2800" dirty="0"/>
              <a:t>Inception-v4,</a:t>
            </a:r>
            <a:r>
              <a:rPr lang="zh-TW" altLang="en-US" sz="2800" dirty="0"/>
              <a:t> </a:t>
            </a:r>
            <a:r>
              <a:rPr lang="en-US" altLang="zh-TW" sz="2800" dirty="0"/>
              <a:t>Inception-</a:t>
            </a:r>
            <a:r>
              <a:rPr lang="en-US" altLang="zh-TW" sz="2800" dirty="0" err="1"/>
              <a:t>ResNet</a:t>
            </a:r>
            <a:r>
              <a:rPr lang="zh-TW" altLang="en-US" sz="2800" dirty="0"/>
              <a:t> </a:t>
            </a:r>
            <a:r>
              <a:rPr lang="en-US" altLang="zh-TW" sz="2800" dirty="0"/>
              <a:t>and the</a:t>
            </a:r>
            <a:r>
              <a:rPr lang="zh-TW" altLang="en-US" sz="2800" dirty="0"/>
              <a:t> </a:t>
            </a:r>
            <a:r>
              <a:rPr lang="en-US" altLang="zh-TW" sz="2800" dirty="0"/>
              <a:t>Impact</a:t>
            </a:r>
            <a:r>
              <a:rPr lang="zh-TW" altLang="en-US" sz="2800" dirty="0"/>
              <a:t> </a:t>
            </a:r>
            <a:r>
              <a:rPr lang="en-US" altLang="zh-TW" sz="2800" dirty="0"/>
              <a:t>of</a:t>
            </a:r>
            <a:r>
              <a:rPr lang="zh-TW" altLang="en-US" sz="2800" dirty="0"/>
              <a:t> </a:t>
            </a:r>
            <a:r>
              <a:rPr lang="en-US" altLang="zh-TW" sz="2800" dirty="0"/>
              <a:t>Residual</a:t>
            </a:r>
            <a:r>
              <a:rPr lang="zh-TW" altLang="en-US" sz="2800" dirty="0"/>
              <a:t> </a:t>
            </a:r>
            <a:r>
              <a:rPr lang="en-US" altLang="zh-TW" sz="2800" dirty="0"/>
              <a:t>Connections on</a:t>
            </a:r>
            <a:r>
              <a:rPr lang="zh-TW" altLang="en-US" sz="2800" dirty="0"/>
              <a:t> </a:t>
            </a:r>
            <a:r>
              <a:rPr lang="en-US" altLang="zh-TW" sz="2800" dirty="0"/>
              <a:t>Learning</a:t>
            </a:r>
          </a:p>
          <a:p>
            <a:pPr lvl="4"/>
            <a:endParaRPr lang="zh-TW" altLang="en-US" dirty="0"/>
          </a:p>
        </p:txBody>
      </p:sp>
      <p:sp>
        <p:nvSpPr>
          <p:cNvPr id="4" name="日期版面配置區 3">
            <a:extLst>
              <a:ext uri="{FF2B5EF4-FFF2-40B4-BE49-F238E27FC236}">
                <a16:creationId xmlns:a16="http://schemas.microsoft.com/office/drawing/2014/main" id="{E14533FF-8DFC-4215-8621-E079E0E0C6B8}"/>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0F5AF5C5-4D3D-4B57-8AD6-10D2C77E8F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9515229-E48F-43C7-83FD-26EC70D3A5CF}"/>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690211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1B7635-2C67-4B5F-B633-DE0A6674A10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74DF3E2-EB35-4698-9CCF-D80288D1DA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534EB538-7C2A-4CAB-82F5-CA3240F4E502}"/>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F4C302FB-35CA-41FD-A10F-FC0DD69C39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7CEC10E-9E91-4967-8F39-826CDE439C3C}"/>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236531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2A850-6DCA-42A6-ACB7-A13657B8AAC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3BAFDB8-FB0E-4F58-958B-1D9824F647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8EDCE71-D1BF-471D-9DFE-8FCDC7D6720E}"/>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9EBE791-BD89-45CD-9728-D389BB316219}"/>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6" name="頁尾版面配置區 5">
            <a:extLst>
              <a:ext uri="{FF2B5EF4-FFF2-40B4-BE49-F238E27FC236}">
                <a16:creationId xmlns:a16="http://schemas.microsoft.com/office/drawing/2014/main" id="{DF1989AF-5EE3-4C62-AFC1-48071A5041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3AD171-B164-46A3-ACE4-5A4588DE4EBE}"/>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2982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6E3CD-9E81-449C-964D-C3AE690F6C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33DB46E-F8D2-4AD5-8C6D-174A15CCF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C900BFE-FCA7-45BF-A6E3-3849877BAC92}"/>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FAA5323-9AAC-44CC-9039-6D896FDA9F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F3E0D19-8D65-429B-867C-99B0C7A2A58D}"/>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E7D6A61-05EC-4F52-B753-19D1ED295D5A}"/>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8" name="頁尾版面配置區 7">
            <a:extLst>
              <a:ext uri="{FF2B5EF4-FFF2-40B4-BE49-F238E27FC236}">
                <a16:creationId xmlns:a16="http://schemas.microsoft.com/office/drawing/2014/main" id="{E9F13DBC-FB1E-496C-A620-D2BC47148A7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FD43FB8-3CB1-40E5-9850-0A010B5BEA38}"/>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1567142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F5786E-467E-4BB0-B2DA-E5FB8EEEA3F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74C4EA2-83A3-43CE-A98A-0CCBACA8F292}"/>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4" name="頁尾版面配置區 3">
            <a:extLst>
              <a:ext uri="{FF2B5EF4-FFF2-40B4-BE49-F238E27FC236}">
                <a16:creationId xmlns:a16="http://schemas.microsoft.com/office/drawing/2014/main" id="{F8901214-6687-4452-BC6E-31C56AC8060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8D80292-6BB7-4ADF-9ECD-60E137EBFBAA}"/>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5156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443BF5F-86C6-434F-B7E0-6808B578AF98}"/>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3" name="頁尾版面配置區 2">
            <a:extLst>
              <a:ext uri="{FF2B5EF4-FFF2-40B4-BE49-F238E27FC236}">
                <a16:creationId xmlns:a16="http://schemas.microsoft.com/office/drawing/2014/main" id="{B3B3AD15-105B-4FC3-AC21-9641BDAC583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7818F38-1B71-447F-9564-B81F209BA222}"/>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
        <p:nvSpPr>
          <p:cNvPr id="5" name="標題 4">
            <a:extLst>
              <a:ext uri="{FF2B5EF4-FFF2-40B4-BE49-F238E27FC236}">
                <a16:creationId xmlns:a16="http://schemas.microsoft.com/office/drawing/2014/main" id="{BEE2DA72-19CB-4313-BF78-8672CB13F3C8}"/>
              </a:ext>
            </a:extLst>
          </p:cNvPr>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70050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3" name="日期版面配置區 2">
            <a:extLst>
              <a:ext uri="{FF2B5EF4-FFF2-40B4-BE49-F238E27FC236}">
                <a16:creationId xmlns:a16="http://schemas.microsoft.com/office/drawing/2014/main" id="{9047244B-BFDF-4F36-BBD0-22A3D39FD098}"/>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4" name="頁尾版面配置區 3">
            <a:extLst>
              <a:ext uri="{FF2B5EF4-FFF2-40B4-BE49-F238E27FC236}">
                <a16:creationId xmlns:a16="http://schemas.microsoft.com/office/drawing/2014/main" id="{6AF92A0C-D083-4C91-9540-F32B21ACE37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3783A3B-3529-409C-A336-4F875A77C0B9}"/>
              </a:ext>
            </a:extLst>
          </p:cNvPr>
          <p:cNvSpPr>
            <a:spLocks noGrp="1"/>
          </p:cNvSpPr>
          <p:nvPr>
            <p:ph type="sldNum" sz="quarter" idx="12"/>
          </p:nvPr>
        </p:nvSpPr>
        <p:spPr/>
        <p:txBody>
          <a:bodyPr/>
          <a:lstStyle/>
          <a:p>
            <a:r>
              <a:rPr lang="zh-TW" altLang="en-US"/>
              <a:t>題目</a:t>
            </a:r>
            <a:endParaRPr lang="zh-TW" altLang="en-US" dirty="0"/>
          </a:p>
        </p:txBody>
      </p:sp>
    </p:spTree>
    <p:extLst>
      <p:ext uri="{BB962C8B-B14F-4D97-AF65-F5344CB8AC3E}">
        <p14:creationId xmlns:p14="http://schemas.microsoft.com/office/powerpoint/2010/main" val="3040817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E71BDE-3C86-4D85-A91A-0C327B7E25D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57129F5-F019-4EBB-A25D-BEB2D17AB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796812B-AE4D-44A9-BF5B-FFE96F39E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F166050-82C5-4644-9E42-83C5662F55E5}"/>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6" name="頁尾版面配置區 5">
            <a:extLst>
              <a:ext uri="{FF2B5EF4-FFF2-40B4-BE49-F238E27FC236}">
                <a16:creationId xmlns:a16="http://schemas.microsoft.com/office/drawing/2014/main" id="{DBEB40FC-9F77-4C91-B89E-EAC4E95418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7FB4B68-3BDB-43EA-9E04-D8EAD722DC2B}"/>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4289493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1580DA-6254-468B-9CFE-B25750B25D5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957F645-620B-4A08-BA0C-2941F4D860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5F39D3C-E300-49A2-976B-E6CD983C7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5388065-1E1B-41E6-9E04-08417E9CA9F7}"/>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6" name="頁尾版面配置區 5">
            <a:extLst>
              <a:ext uri="{FF2B5EF4-FFF2-40B4-BE49-F238E27FC236}">
                <a16:creationId xmlns:a16="http://schemas.microsoft.com/office/drawing/2014/main" id="{B2B2ADC8-34C8-40FF-8AE6-3F1CC0C990A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9EA9464-CACA-4A71-86D7-9E2C9D08CA4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42686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FF4E2B-6B0C-4896-BC2F-11BE3B9087E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D501112A-1FBE-4682-B37E-A328CB3A77D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137BC29-3592-4F0B-A50C-9655C9B6AB90}"/>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7B9A55B6-82BB-4FB0-A273-AD7C1DC7843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2C7894-3FCD-414D-9BB4-7847CA2FA1F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772502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E544434-5D2F-4B0D-9ED1-56B4D4FE9BD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DCC4A77-67E4-42D7-930B-28BC9A0B9E4D}"/>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E0AC741-A57F-4A06-BBBA-E770840299E1}"/>
              </a:ext>
            </a:extLst>
          </p:cNvPr>
          <p:cNvSpPr>
            <a:spLocks noGrp="1"/>
          </p:cNvSpPr>
          <p:nvPr>
            <p:ph type="dt" sz="half" idx="10"/>
          </p:nvPr>
        </p:nvSpPr>
        <p:spPr/>
        <p:txBody>
          <a:bodyPr/>
          <a:lstStyle/>
          <a:p>
            <a:fld id="{9516F5E9-A161-4F7E-8227-15CB11B54BE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CCB7C003-D59F-45CF-A10A-EBBFB156E4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251B9BD-6658-4E84-971B-BFC05738DB56}"/>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16303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D5D394F-0282-4C9F-8398-410567349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algn="ctr"/>
            <a:r>
              <a:rPr lang="en-US" altLang="zh-TW" sz="4400" dirty="0"/>
              <a:t>Inception-v4,</a:t>
            </a:r>
            <a:r>
              <a:rPr lang="zh-TW" altLang="en-US" sz="4400" dirty="0"/>
              <a:t> </a:t>
            </a:r>
            <a:r>
              <a:rPr lang="en-US" altLang="zh-TW" sz="4400" dirty="0"/>
              <a:t>Inception-</a:t>
            </a:r>
            <a:r>
              <a:rPr lang="en-US" altLang="zh-TW" sz="4400" dirty="0" err="1"/>
              <a:t>ResNet</a:t>
            </a:r>
            <a:r>
              <a:rPr lang="zh-TW" altLang="en-US" sz="4400" dirty="0"/>
              <a:t> </a:t>
            </a:r>
            <a:r>
              <a:rPr lang="en-US" altLang="zh-TW" sz="4400" dirty="0"/>
              <a:t>and the</a:t>
            </a:r>
            <a:r>
              <a:rPr lang="zh-TW" altLang="en-US" sz="4400" dirty="0"/>
              <a:t> </a:t>
            </a:r>
            <a:r>
              <a:rPr lang="en-US" altLang="zh-TW" sz="4400" dirty="0"/>
              <a:t>Impact</a:t>
            </a:r>
            <a:r>
              <a:rPr lang="zh-TW" altLang="en-US" sz="4400" dirty="0"/>
              <a:t> </a:t>
            </a:r>
            <a:r>
              <a:rPr lang="en-US" altLang="zh-TW" sz="4400" dirty="0"/>
              <a:t>of</a:t>
            </a:r>
            <a:r>
              <a:rPr lang="zh-TW" altLang="en-US" sz="4400" dirty="0"/>
              <a:t> </a:t>
            </a:r>
            <a:r>
              <a:rPr lang="en-US" altLang="zh-TW" sz="4400" dirty="0"/>
              <a:t>Residual</a:t>
            </a:r>
            <a:r>
              <a:rPr lang="zh-TW" altLang="en-US" sz="4400" dirty="0"/>
              <a:t> </a:t>
            </a:r>
            <a:r>
              <a:rPr lang="en-US" altLang="zh-TW" sz="4400" dirty="0"/>
              <a:t>Connections on</a:t>
            </a:r>
            <a:r>
              <a:rPr lang="zh-TW" altLang="en-US" sz="4400" dirty="0"/>
              <a:t> </a:t>
            </a:r>
            <a:r>
              <a:rPr lang="en-US" altLang="zh-TW" sz="4400" dirty="0"/>
              <a:t>Learning</a:t>
            </a:r>
          </a:p>
        </p:txBody>
      </p:sp>
      <p:sp>
        <p:nvSpPr>
          <p:cNvPr id="3" name="文字版面配置區 2">
            <a:extLst>
              <a:ext uri="{FF2B5EF4-FFF2-40B4-BE49-F238E27FC236}">
                <a16:creationId xmlns:a16="http://schemas.microsoft.com/office/drawing/2014/main" id="{182102D4-0F3D-47CB-AA62-F36DB98E4B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871246-AE1D-4613-995F-569583A45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6F5E9-A161-4F7E-8227-15CB11B54BE5}" type="datetimeFigureOut">
              <a:rPr lang="zh-TW" altLang="en-US" smtClean="0"/>
              <a:t>2019/5/13</a:t>
            </a:fld>
            <a:endParaRPr lang="zh-TW" altLang="en-US"/>
          </a:p>
        </p:txBody>
      </p:sp>
      <p:sp>
        <p:nvSpPr>
          <p:cNvPr id="5" name="頁尾版面配置區 4">
            <a:extLst>
              <a:ext uri="{FF2B5EF4-FFF2-40B4-BE49-F238E27FC236}">
                <a16:creationId xmlns:a16="http://schemas.microsoft.com/office/drawing/2014/main" id="{C3A19071-CFE5-4F2F-9F76-8900809E7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4224D7B-415F-4E25-A807-CEE7D9CD27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TW" altLang="en-US" dirty="0"/>
              <a:t>題目</a:t>
            </a:r>
          </a:p>
        </p:txBody>
      </p:sp>
    </p:spTree>
    <p:extLst>
      <p:ext uri="{BB962C8B-B14F-4D97-AF65-F5344CB8AC3E}">
        <p14:creationId xmlns:p14="http://schemas.microsoft.com/office/powerpoint/2010/main" val="3618432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75B0156-9AD4-4A08-8BF7-F7E716BC2005}"/>
              </a:ext>
            </a:extLst>
          </p:cNvPr>
          <p:cNvSpPr/>
          <p:nvPr/>
        </p:nvSpPr>
        <p:spPr>
          <a:xfrm>
            <a:off x="0" y="327817"/>
            <a:ext cx="11854447" cy="2585323"/>
          </a:xfrm>
          <a:prstGeom prst="rect">
            <a:avLst/>
          </a:prstGeom>
        </p:spPr>
        <p:txBody>
          <a:bodyPr wrap="square">
            <a:spAutoFit/>
          </a:bodyPr>
          <a:lstStyle/>
          <a:p>
            <a:pPr algn="ctr"/>
            <a:r>
              <a:rPr lang="en-US" altLang="zh-TW" sz="5400" dirty="0"/>
              <a:t>Batch Normalization: </a:t>
            </a:r>
          </a:p>
          <a:p>
            <a:pPr algn="ctr"/>
            <a:r>
              <a:rPr lang="en-US" altLang="zh-TW" sz="5400" dirty="0"/>
              <a:t>Accelerating Deep Network Training by Reducing Internal Covariate Shift</a:t>
            </a:r>
            <a:endParaRPr lang="zh-TW" altLang="en-US" dirty="0"/>
          </a:p>
        </p:txBody>
      </p:sp>
      <p:sp>
        <p:nvSpPr>
          <p:cNvPr id="3" name="矩形 2">
            <a:extLst>
              <a:ext uri="{FF2B5EF4-FFF2-40B4-BE49-F238E27FC236}">
                <a16:creationId xmlns:a16="http://schemas.microsoft.com/office/drawing/2014/main" id="{4F253964-4333-4642-9684-0AEB002C9A3E}"/>
              </a:ext>
            </a:extLst>
          </p:cNvPr>
          <p:cNvSpPr/>
          <p:nvPr/>
        </p:nvSpPr>
        <p:spPr>
          <a:xfrm>
            <a:off x="3311459" y="3212566"/>
            <a:ext cx="5727438" cy="584775"/>
          </a:xfrm>
          <a:prstGeom prst="rect">
            <a:avLst/>
          </a:prstGeom>
        </p:spPr>
        <p:txBody>
          <a:bodyPr wrap="square">
            <a:spAutoFit/>
          </a:bodyPr>
          <a:lstStyle/>
          <a:p>
            <a:r>
              <a:rPr lang="en-US" altLang="zh-TW" sz="3200" dirty="0"/>
              <a:t>Sergey </a:t>
            </a:r>
            <a:r>
              <a:rPr lang="en-US" altLang="zh-TW" sz="3200" dirty="0" err="1"/>
              <a:t>Ioffe</a:t>
            </a:r>
            <a:r>
              <a:rPr lang="en-US" altLang="zh-TW" sz="3200" dirty="0"/>
              <a:t> ,</a:t>
            </a:r>
            <a:r>
              <a:rPr lang="zh-TW" altLang="en-US" sz="3200" dirty="0"/>
              <a:t> </a:t>
            </a:r>
            <a:r>
              <a:rPr lang="en-US" altLang="zh-TW" sz="3200" dirty="0"/>
              <a:t>Christian </a:t>
            </a:r>
            <a:r>
              <a:rPr lang="en-US" altLang="zh-TW" sz="3200" dirty="0" err="1"/>
              <a:t>Szegedy</a:t>
            </a:r>
            <a:endParaRPr lang="en-US" altLang="zh-TW" sz="3200" dirty="0"/>
          </a:p>
        </p:txBody>
      </p:sp>
      <p:sp>
        <p:nvSpPr>
          <p:cNvPr id="4" name="矩形 3">
            <a:extLst>
              <a:ext uri="{FF2B5EF4-FFF2-40B4-BE49-F238E27FC236}">
                <a16:creationId xmlns:a16="http://schemas.microsoft.com/office/drawing/2014/main" id="{86AD574A-1A01-44E2-AA65-BEB4B4206B23}"/>
              </a:ext>
            </a:extLst>
          </p:cNvPr>
          <p:cNvSpPr/>
          <p:nvPr/>
        </p:nvSpPr>
        <p:spPr>
          <a:xfrm>
            <a:off x="799171" y="4317376"/>
            <a:ext cx="11392829" cy="523220"/>
          </a:xfrm>
          <a:prstGeom prst="rect">
            <a:avLst/>
          </a:prstGeom>
        </p:spPr>
        <p:txBody>
          <a:bodyPr wrap="square">
            <a:spAutoFit/>
          </a:bodyPr>
          <a:lstStyle/>
          <a:p>
            <a:r>
              <a:rPr lang="en-US" altLang="zh-TW" sz="2800"/>
              <a:t>Submitted on 11 Feb 2015 (v1), last revised 2 Mar 2015 (this version, v3)</a:t>
            </a:r>
            <a:endParaRPr lang="en-US" altLang="zh-TW" sz="2800" dirty="0"/>
          </a:p>
        </p:txBody>
      </p:sp>
      <p:sp>
        <p:nvSpPr>
          <p:cNvPr id="5" name="矩形 4">
            <a:extLst>
              <a:ext uri="{FF2B5EF4-FFF2-40B4-BE49-F238E27FC236}">
                <a16:creationId xmlns:a16="http://schemas.microsoft.com/office/drawing/2014/main" id="{E8029974-43D5-45D0-B929-5463BA243FDA}"/>
              </a:ext>
            </a:extLst>
          </p:cNvPr>
          <p:cNvSpPr/>
          <p:nvPr/>
        </p:nvSpPr>
        <p:spPr>
          <a:xfrm>
            <a:off x="8541786" y="5883852"/>
            <a:ext cx="6096000" cy="646331"/>
          </a:xfrm>
          <a:prstGeom prst="rect">
            <a:avLst/>
          </a:prstGeom>
        </p:spPr>
        <p:txBody>
          <a:bodyPr>
            <a:spAutoFit/>
          </a:bodyPr>
          <a:lstStyle/>
          <a:p>
            <a:r>
              <a:rPr lang="en-US" altLang="zh-TW" dirty="0">
                <a:latin typeface="Times New Roman" panose="02020603050405020304" pitchFamily="18" charset="0"/>
                <a:cs typeface="Times New Roman" panose="02020603050405020304" pitchFamily="18" charset="0"/>
              </a:rPr>
              <a:t>Presenter : Chia-Lin Chen</a:t>
            </a:r>
          </a:p>
          <a:p>
            <a:r>
              <a:rPr lang="en-US" altLang="zh-TW" dirty="0">
                <a:latin typeface="Times New Roman" panose="02020603050405020304" pitchFamily="18" charset="0"/>
                <a:cs typeface="Times New Roman" panose="02020603050405020304" pitchFamily="18" charset="0"/>
              </a:rPr>
              <a:t>May 13, 2019</a:t>
            </a:r>
          </a:p>
        </p:txBody>
      </p:sp>
    </p:spTree>
    <p:extLst>
      <p:ext uri="{BB962C8B-B14F-4D97-AF65-F5344CB8AC3E}">
        <p14:creationId xmlns:p14="http://schemas.microsoft.com/office/powerpoint/2010/main" val="2601768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C741B37-929F-4A16-98E0-CF0057ADE5BD}"/>
              </a:ext>
            </a:extLst>
          </p:cNvPr>
          <p:cNvSpPr/>
          <p:nvPr/>
        </p:nvSpPr>
        <p:spPr>
          <a:xfrm>
            <a:off x="491153" y="482195"/>
            <a:ext cx="11585618" cy="3724096"/>
          </a:xfrm>
          <a:prstGeom prst="rect">
            <a:avLst/>
          </a:prstGeom>
        </p:spPr>
        <p:txBody>
          <a:bodyPr wrap="square">
            <a:spAutoFit/>
          </a:bodyPr>
          <a:lstStyle/>
          <a:p>
            <a:r>
              <a:rPr lang="zh-TW" altLang="en-US" sz="4400" dirty="0"/>
              <a:t>Abstract</a:t>
            </a:r>
            <a:r>
              <a:rPr lang="en-US" altLang="zh-TW" sz="4400" dirty="0"/>
              <a:t>(1/3) </a:t>
            </a:r>
          </a:p>
          <a:p>
            <a:r>
              <a:rPr lang="en-US" altLang="zh-TW" sz="3200" dirty="0"/>
              <a:t>Training Deep Neural Networks is complicated</a:t>
            </a:r>
            <a:r>
              <a:rPr lang="zh-TW" altLang="en-US" sz="3200" dirty="0"/>
              <a:t> </a:t>
            </a:r>
            <a:r>
              <a:rPr lang="en-US" altLang="zh-TW" sz="3200" dirty="0"/>
              <a:t>by the fact that the distribution of each layer’s inputs changes during training, as the parameters of the previous layers change. This slows down the training by requiring lower learning rates and careful parameter initialization, and makes it notoriously hard to train models with saturating nonlinearities. </a:t>
            </a:r>
          </a:p>
        </p:txBody>
      </p:sp>
      <p:sp>
        <p:nvSpPr>
          <p:cNvPr id="3" name="矩形 2">
            <a:extLst>
              <a:ext uri="{FF2B5EF4-FFF2-40B4-BE49-F238E27FC236}">
                <a16:creationId xmlns:a16="http://schemas.microsoft.com/office/drawing/2014/main" id="{742A4D60-9DCC-4859-97B7-7DA53BD90476}"/>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spTree>
    <p:extLst>
      <p:ext uri="{BB962C8B-B14F-4D97-AF65-F5344CB8AC3E}">
        <p14:creationId xmlns:p14="http://schemas.microsoft.com/office/powerpoint/2010/main" val="39812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21DB7-10DD-4E80-A357-35944853BC31}"/>
              </a:ext>
            </a:extLst>
          </p:cNvPr>
          <p:cNvSpPr/>
          <p:nvPr/>
        </p:nvSpPr>
        <p:spPr>
          <a:xfrm>
            <a:off x="410949" y="408462"/>
            <a:ext cx="10349977" cy="4708981"/>
          </a:xfrm>
          <a:prstGeom prst="rect">
            <a:avLst/>
          </a:prstGeom>
        </p:spPr>
        <p:txBody>
          <a:bodyPr wrap="square">
            <a:spAutoFit/>
          </a:bodyPr>
          <a:lstStyle/>
          <a:p>
            <a:r>
              <a:rPr lang="zh-TW" altLang="en-US" sz="4400" dirty="0"/>
              <a:t>Abstract</a:t>
            </a:r>
            <a:r>
              <a:rPr lang="en-US" altLang="zh-TW" sz="4400" dirty="0"/>
              <a:t>(2/3)</a:t>
            </a:r>
          </a:p>
          <a:p>
            <a:r>
              <a:rPr lang="en-US" altLang="zh-TW" sz="3200" dirty="0"/>
              <a:t>We refer to this phenomenon as internal covariate shift, and address the problem by normalizing layer inputs. Our method draws its strength from making normalization a part of the model</a:t>
            </a:r>
            <a:r>
              <a:rPr lang="zh-TW" altLang="en-US" sz="3200" dirty="0"/>
              <a:t> </a:t>
            </a:r>
            <a:r>
              <a:rPr lang="en-US" altLang="zh-TW" sz="3200" dirty="0"/>
              <a:t>architecture and performing</a:t>
            </a:r>
            <a:r>
              <a:rPr lang="zh-TW" altLang="en-US" sz="3200" dirty="0"/>
              <a:t> </a:t>
            </a:r>
            <a:r>
              <a:rPr lang="en-US" altLang="zh-TW" sz="3200" dirty="0"/>
              <a:t>the normalization for each training mini-batch. Batch Normalization allows us to use much higher learning</a:t>
            </a:r>
            <a:r>
              <a:rPr lang="zh-TW" altLang="en-US" sz="3200" dirty="0"/>
              <a:t> </a:t>
            </a:r>
            <a:r>
              <a:rPr lang="en-US" altLang="zh-TW" sz="3200" dirty="0"/>
              <a:t>rates and be less careful about initialization. It also acts as a </a:t>
            </a:r>
            <a:r>
              <a:rPr lang="en-US" altLang="zh-TW" sz="3200" dirty="0" err="1"/>
              <a:t>regularizer</a:t>
            </a:r>
            <a:r>
              <a:rPr lang="en-US" altLang="zh-TW" sz="3200" dirty="0"/>
              <a:t>, in some cases eliminating the need for Dropout. </a:t>
            </a:r>
            <a:endParaRPr lang="zh-TW" altLang="en-US" sz="3200" dirty="0"/>
          </a:p>
        </p:txBody>
      </p:sp>
      <p:sp>
        <p:nvSpPr>
          <p:cNvPr id="4" name="矩形 3">
            <a:extLst>
              <a:ext uri="{FF2B5EF4-FFF2-40B4-BE49-F238E27FC236}">
                <a16:creationId xmlns:a16="http://schemas.microsoft.com/office/drawing/2014/main" id="{4622A415-1105-45FA-9454-A704221F93D3}"/>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spTree>
    <p:extLst>
      <p:ext uri="{BB962C8B-B14F-4D97-AF65-F5344CB8AC3E}">
        <p14:creationId xmlns:p14="http://schemas.microsoft.com/office/powerpoint/2010/main" val="300997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21DB7-10DD-4E80-A357-35944853BC31}"/>
              </a:ext>
            </a:extLst>
          </p:cNvPr>
          <p:cNvSpPr/>
          <p:nvPr/>
        </p:nvSpPr>
        <p:spPr>
          <a:xfrm>
            <a:off x="489009" y="408462"/>
            <a:ext cx="9792416" cy="4708981"/>
          </a:xfrm>
          <a:prstGeom prst="rect">
            <a:avLst/>
          </a:prstGeom>
        </p:spPr>
        <p:txBody>
          <a:bodyPr wrap="square">
            <a:spAutoFit/>
          </a:bodyPr>
          <a:lstStyle/>
          <a:p>
            <a:r>
              <a:rPr lang="zh-TW" altLang="en-US" sz="4400" dirty="0"/>
              <a:t>Abstract</a:t>
            </a:r>
            <a:r>
              <a:rPr lang="en-US" altLang="zh-TW" sz="4400" dirty="0"/>
              <a:t>(3/3)</a:t>
            </a:r>
          </a:p>
          <a:p>
            <a:r>
              <a:rPr lang="en-US" altLang="zh-TW" sz="3200" dirty="0"/>
              <a:t>Applied to a state-of-the-art image classiﬁcation model, Batch Normalization achieves the same accuracy with 14 times fewer training steps, and beats the original model by a signiﬁcant margin. Using an ensemble of batch</a:t>
            </a:r>
            <a:r>
              <a:rPr lang="zh-TW" altLang="en-US" sz="3200" dirty="0"/>
              <a:t> </a:t>
            </a:r>
            <a:r>
              <a:rPr lang="en-US" altLang="zh-TW" sz="3200" dirty="0"/>
              <a:t>normalized</a:t>
            </a:r>
            <a:r>
              <a:rPr lang="zh-TW" altLang="en-US" sz="3200" dirty="0"/>
              <a:t> </a:t>
            </a:r>
            <a:r>
              <a:rPr lang="en-US" altLang="zh-TW" sz="3200" dirty="0"/>
              <a:t>networks, we improve</a:t>
            </a:r>
            <a:r>
              <a:rPr lang="zh-TW" altLang="en-US" sz="3200" dirty="0"/>
              <a:t> </a:t>
            </a:r>
            <a:r>
              <a:rPr lang="en-US" altLang="zh-TW" sz="3200" dirty="0"/>
              <a:t>upon the best published result on ImageNet classiﬁcation: reaching 4.9% top-5 validation error (and 4.8% test error), exceeding the accuracy of human raters.</a:t>
            </a:r>
            <a:endParaRPr lang="zh-TW" altLang="en-US" sz="3200" dirty="0"/>
          </a:p>
        </p:txBody>
      </p:sp>
      <p:sp>
        <p:nvSpPr>
          <p:cNvPr id="4" name="矩形 3">
            <a:extLst>
              <a:ext uri="{FF2B5EF4-FFF2-40B4-BE49-F238E27FC236}">
                <a16:creationId xmlns:a16="http://schemas.microsoft.com/office/drawing/2014/main" id="{568B0859-24E2-4E27-BE64-3B1F6DA2F382}"/>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spTree>
    <p:extLst>
      <p:ext uri="{BB962C8B-B14F-4D97-AF65-F5344CB8AC3E}">
        <p14:creationId xmlns:p14="http://schemas.microsoft.com/office/powerpoint/2010/main" val="4244401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5BA62F54-D375-411C-B200-2483F56A2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147285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B9D8D29-92E0-4F68-A60F-86F9FA8B0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443" y="0"/>
            <a:ext cx="9067902" cy="6021871"/>
          </a:xfrm>
          <a:prstGeom prst="rect">
            <a:avLst/>
          </a:prstGeom>
        </p:spPr>
      </p:pic>
      <p:sp>
        <p:nvSpPr>
          <p:cNvPr id="5" name="矩形 4">
            <a:extLst>
              <a:ext uri="{FF2B5EF4-FFF2-40B4-BE49-F238E27FC236}">
                <a16:creationId xmlns:a16="http://schemas.microsoft.com/office/drawing/2014/main" id="{347BE1BA-3E31-4D80-9488-50E2D2B0E9C2}"/>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spTree>
    <p:extLst>
      <p:ext uri="{BB962C8B-B14F-4D97-AF65-F5344CB8AC3E}">
        <p14:creationId xmlns:p14="http://schemas.microsoft.com/office/powerpoint/2010/main" val="3321948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850469B-F2B9-493B-B5DD-AA7F3C839490}"/>
              </a:ext>
            </a:extLst>
          </p:cNvPr>
          <p:cNvPicPr>
            <a:picLocks noChangeAspect="1"/>
          </p:cNvPicPr>
          <p:nvPr/>
        </p:nvPicPr>
        <p:blipFill rotWithShape="1">
          <a:blip r:embed="rId2">
            <a:extLst>
              <a:ext uri="{28A0092B-C50C-407E-A947-70E740481C1C}">
                <a14:useLocalDpi xmlns:a14="http://schemas.microsoft.com/office/drawing/2010/main" val="0"/>
              </a:ext>
            </a:extLst>
          </a:blip>
          <a:srcRect t="55131"/>
          <a:stretch/>
        </p:blipFill>
        <p:spPr>
          <a:xfrm>
            <a:off x="378060" y="4078013"/>
            <a:ext cx="10752387" cy="2779987"/>
          </a:xfrm>
          <a:prstGeom prst="rect">
            <a:avLst/>
          </a:prstGeom>
        </p:spPr>
      </p:pic>
      <p:pic>
        <p:nvPicPr>
          <p:cNvPr id="4" name="圖片 3">
            <a:extLst>
              <a:ext uri="{FF2B5EF4-FFF2-40B4-BE49-F238E27FC236}">
                <a16:creationId xmlns:a16="http://schemas.microsoft.com/office/drawing/2014/main" id="{B47D14A6-0772-479C-B4F0-F37FAD736559}"/>
              </a:ext>
            </a:extLst>
          </p:cNvPr>
          <p:cNvPicPr>
            <a:picLocks noChangeAspect="1"/>
          </p:cNvPicPr>
          <p:nvPr/>
        </p:nvPicPr>
        <p:blipFill rotWithShape="1">
          <a:blip r:embed="rId2">
            <a:extLst>
              <a:ext uri="{28A0092B-C50C-407E-A947-70E740481C1C}">
                <a14:useLocalDpi xmlns:a14="http://schemas.microsoft.com/office/drawing/2010/main" val="0"/>
              </a:ext>
            </a:extLst>
          </a:blip>
          <a:srcRect b="55131"/>
          <a:stretch/>
        </p:blipFill>
        <p:spPr>
          <a:xfrm>
            <a:off x="430356" y="676057"/>
            <a:ext cx="10700091" cy="2766465"/>
          </a:xfrm>
          <a:prstGeom prst="rect">
            <a:avLst/>
          </a:prstGeom>
        </p:spPr>
      </p:pic>
    </p:spTree>
    <p:extLst>
      <p:ext uri="{BB962C8B-B14F-4D97-AF65-F5344CB8AC3E}">
        <p14:creationId xmlns:p14="http://schemas.microsoft.com/office/powerpoint/2010/main" val="3643805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055B848-1B93-4316-9BE6-C67B47846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0099"/>
            <a:ext cx="12181591" cy="4833446"/>
          </a:xfrm>
          <a:prstGeom prst="rect">
            <a:avLst/>
          </a:prstGeom>
        </p:spPr>
      </p:pic>
    </p:spTree>
    <p:extLst>
      <p:ext uri="{BB962C8B-B14F-4D97-AF65-F5344CB8AC3E}">
        <p14:creationId xmlns:p14="http://schemas.microsoft.com/office/powerpoint/2010/main" val="1177574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A8C747C-3309-4517-921E-A39909B44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283" y="532996"/>
            <a:ext cx="9383434" cy="5792008"/>
          </a:xfrm>
          <a:prstGeom prst="rect">
            <a:avLst/>
          </a:prstGeom>
        </p:spPr>
      </p:pic>
    </p:spTree>
    <p:extLst>
      <p:ext uri="{BB962C8B-B14F-4D97-AF65-F5344CB8AC3E}">
        <p14:creationId xmlns:p14="http://schemas.microsoft.com/office/powerpoint/2010/main" val="266890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8C94FC7-C4B3-40F1-9C93-AB076E8B4A86}"/>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pic>
        <p:nvPicPr>
          <p:cNvPr id="4" name="圖片 3">
            <a:extLst>
              <a:ext uri="{FF2B5EF4-FFF2-40B4-BE49-F238E27FC236}">
                <a16:creationId xmlns:a16="http://schemas.microsoft.com/office/drawing/2014/main" id="{9163C2FA-3AE3-475E-8CFD-496CBDBF2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09" y="217485"/>
            <a:ext cx="7665491" cy="6178850"/>
          </a:xfrm>
          <a:prstGeom prst="rect">
            <a:avLst/>
          </a:prstGeom>
        </p:spPr>
      </p:pic>
    </p:spTree>
    <p:extLst>
      <p:ext uri="{BB962C8B-B14F-4D97-AF65-F5344CB8AC3E}">
        <p14:creationId xmlns:p14="http://schemas.microsoft.com/office/powerpoint/2010/main" val="1224856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BDCF86E-F0A2-47FA-B2FA-6E0540CC4C84}"/>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pic>
        <p:nvPicPr>
          <p:cNvPr id="4" name="圖片 3">
            <a:extLst>
              <a:ext uri="{FF2B5EF4-FFF2-40B4-BE49-F238E27FC236}">
                <a16:creationId xmlns:a16="http://schemas.microsoft.com/office/drawing/2014/main" id="{D1F17370-C793-4C95-A761-66DDB0EE58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249" y="0"/>
            <a:ext cx="4919226" cy="6809713"/>
          </a:xfrm>
          <a:prstGeom prst="rect">
            <a:avLst/>
          </a:prstGeom>
        </p:spPr>
      </p:pic>
    </p:spTree>
    <p:extLst>
      <p:ext uri="{BB962C8B-B14F-4D97-AF65-F5344CB8AC3E}">
        <p14:creationId xmlns:p14="http://schemas.microsoft.com/office/powerpoint/2010/main" val="3675755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(1/3)</a:t>
            </a:r>
            <a:endParaRPr lang="zh-TW" altLang="en-US" sz="3600" dirty="0"/>
          </a:p>
        </p:txBody>
      </p:sp>
      <p:sp>
        <p:nvSpPr>
          <p:cNvPr id="4" name="矩形 3">
            <a:extLst>
              <a:ext uri="{FF2B5EF4-FFF2-40B4-BE49-F238E27FC236}">
                <a16:creationId xmlns:a16="http://schemas.microsoft.com/office/drawing/2014/main" id="{C4FF328B-8614-4DDC-A247-2FE0DC167FB7}"/>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pic>
        <p:nvPicPr>
          <p:cNvPr id="5" name="圖片 4">
            <a:extLst>
              <a:ext uri="{FF2B5EF4-FFF2-40B4-BE49-F238E27FC236}">
                <a16:creationId xmlns:a16="http://schemas.microsoft.com/office/drawing/2014/main" id="{D7E04F5C-4BCE-4FB9-BCEA-18C060809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718" y="1220432"/>
            <a:ext cx="6727275" cy="5093508"/>
          </a:xfrm>
          <a:prstGeom prst="rect">
            <a:avLst/>
          </a:prstGeom>
        </p:spPr>
      </p:pic>
    </p:spTree>
    <p:extLst>
      <p:ext uri="{BB962C8B-B14F-4D97-AF65-F5344CB8AC3E}">
        <p14:creationId xmlns:p14="http://schemas.microsoft.com/office/powerpoint/2010/main" val="1176341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(2/3)</a:t>
            </a:r>
            <a:endParaRPr lang="zh-TW" altLang="en-US" sz="3600" dirty="0"/>
          </a:p>
        </p:txBody>
      </p:sp>
      <p:sp>
        <p:nvSpPr>
          <p:cNvPr id="6" name="矩形 5">
            <a:extLst>
              <a:ext uri="{FF2B5EF4-FFF2-40B4-BE49-F238E27FC236}">
                <a16:creationId xmlns:a16="http://schemas.microsoft.com/office/drawing/2014/main" id="{99ABDF36-361C-44FC-B9EE-B2D1AB9ECBCD}"/>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pic>
        <p:nvPicPr>
          <p:cNvPr id="4" name="圖片 3">
            <a:extLst>
              <a:ext uri="{FF2B5EF4-FFF2-40B4-BE49-F238E27FC236}">
                <a16:creationId xmlns:a16="http://schemas.microsoft.com/office/drawing/2014/main" id="{C6C88DC5-A12D-45E8-9F73-E84F4DBE3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02" y="1272983"/>
            <a:ext cx="7005307" cy="5293215"/>
          </a:xfrm>
          <a:prstGeom prst="rect">
            <a:avLst/>
          </a:prstGeom>
        </p:spPr>
      </p:pic>
    </p:spTree>
    <p:extLst>
      <p:ext uri="{BB962C8B-B14F-4D97-AF65-F5344CB8AC3E}">
        <p14:creationId xmlns:p14="http://schemas.microsoft.com/office/powerpoint/2010/main" val="115628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(3/3)</a:t>
            </a:r>
            <a:endParaRPr lang="zh-TW" altLang="en-US" sz="3600" dirty="0"/>
          </a:p>
        </p:txBody>
      </p:sp>
      <p:sp>
        <p:nvSpPr>
          <p:cNvPr id="5" name="矩形 4">
            <a:extLst>
              <a:ext uri="{FF2B5EF4-FFF2-40B4-BE49-F238E27FC236}">
                <a16:creationId xmlns:a16="http://schemas.microsoft.com/office/drawing/2014/main" id="{BD45F161-5984-48D4-9C78-58463612E38F}"/>
              </a:ext>
            </a:extLst>
          </p:cNvPr>
          <p:cNvSpPr/>
          <p:nvPr/>
        </p:nvSpPr>
        <p:spPr>
          <a:xfrm>
            <a:off x="7535917" y="5934670"/>
            <a:ext cx="4540854" cy="923330"/>
          </a:xfrm>
          <a:prstGeom prst="rect">
            <a:avLst/>
          </a:prstGeom>
          <a:ln>
            <a:solidFill>
              <a:schemeClr val="tx1"/>
            </a:solidFill>
          </a:ln>
        </p:spPr>
        <p:txBody>
          <a:bodyPr wrap="square">
            <a:spAutoFit/>
          </a:bodyPr>
          <a:lstStyle/>
          <a:p>
            <a:pPr algn="ctr"/>
            <a:r>
              <a:rPr lang="en-US" altLang="zh-TW" dirty="0"/>
              <a:t>Batch Normalization: </a:t>
            </a:r>
          </a:p>
          <a:p>
            <a:pPr algn="ctr"/>
            <a:r>
              <a:rPr lang="en-US" altLang="zh-TW" dirty="0"/>
              <a:t>Accelerating Deep Network Training by Reducing Internal Covariate Shift</a:t>
            </a:r>
            <a:endParaRPr lang="zh-TW" altLang="en-US" dirty="0"/>
          </a:p>
        </p:txBody>
      </p:sp>
      <p:pic>
        <p:nvPicPr>
          <p:cNvPr id="4" name="圖片 3">
            <a:extLst>
              <a:ext uri="{FF2B5EF4-FFF2-40B4-BE49-F238E27FC236}">
                <a16:creationId xmlns:a16="http://schemas.microsoft.com/office/drawing/2014/main" id="{D9ACE843-E721-4AF2-884E-FB33CB635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8" y="1184180"/>
            <a:ext cx="11843500" cy="3745172"/>
          </a:xfrm>
          <a:prstGeom prst="rect">
            <a:avLst/>
          </a:prstGeom>
        </p:spPr>
      </p:pic>
    </p:spTree>
    <p:extLst>
      <p:ext uri="{BB962C8B-B14F-4D97-AF65-F5344CB8AC3E}">
        <p14:creationId xmlns:p14="http://schemas.microsoft.com/office/powerpoint/2010/main" val="1789993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76B49376-83BE-4341-9D7B-B9F4A523581A}"/>
              </a:ext>
            </a:extLst>
          </p:cNvPr>
          <p:cNvSpPr txBox="1"/>
          <p:nvPr/>
        </p:nvSpPr>
        <p:spPr>
          <a:xfrm>
            <a:off x="3520967" y="2828835"/>
            <a:ext cx="4359270" cy="1200329"/>
          </a:xfrm>
          <a:prstGeom prst="rect">
            <a:avLst/>
          </a:prstGeom>
          <a:noFill/>
        </p:spPr>
        <p:txBody>
          <a:bodyPr wrap="none" rtlCol="0">
            <a:spAutoFit/>
          </a:bodyPr>
          <a:lstStyle/>
          <a:p>
            <a:r>
              <a:rPr lang="en-US" altLang="zh-TW" sz="7200" dirty="0"/>
              <a:t>Thank you!</a:t>
            </a:r>
            <a:endParaRPr lang="zh-TW" altLang="en-US" sz="7200" dirty="0"/>
          </a:p>
        </p:txBody>
      </p:sp>
    </p:spTree>
    <p:extLst>
      <p:ext uri="{BB962C8B-B14F-4D97-AF65-F5344CB8AC3E}">
        <p14:creationId xmlns:p14="http://schemas.microsoft.com/office/powerpoint/2010/main" val="308882352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4446</TotalTime>
  <Words>387</Words>
  <Application>Microsoft Office PowerPoint</Application>
  <PresentationFormat>寬螢幕</PresentationFormat>
  <Paragraphs>38</Paragraphs>
  <Slides>15</Slides>
  <Notes>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佳琳 陳</dc:creator>
  <cp:lastModifiedBy>YanLee</cp:lastModifiedBy>
  <cp:revision>287</cp:revision>
  <dcterms:created xsi:type="dcterms:W3CDTF">2019-02-09T07:24:26Z</dcterms:created>
  <dcterms:modified xsi:type="dcterms:W3CDTF">2019-05-13T07:11:36Z</dcterms:modified>
</cp:coreProperties>
</file>