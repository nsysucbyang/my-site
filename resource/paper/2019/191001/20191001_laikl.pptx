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2" r:id="rId2"/>
    <p:sldId id="273" r:id="rId3"/>
    <p:sldId id="290" r:id="rId4"/>
    <p:sldId id="329" r:id="rId5"/>
    <p:sldId id="319" r:id="rId6"/>
    <p:sldId id="320" r:id="rId7"/>
    <p:sldId id="322" r:id="rId8"/>
    <p:sldId id="325" r:id="rId9"/>
    <p:sldId id="326" r:id="rId10"/>
    <p:sldId id="321" r:id="rId11"/>
    <p:sldId id="324" r:id="rId12"/>
    <p:sldId id="316" r:id="rId13"/>
    <p:sldId id="327" r:id="rId14"/>
    <p:sldId id="328" r:id="rId15"/>
    <p:sldId id="323" r:id="rId16"/>
    <p:sldId id="317" r:id="rId17"/>
    <p:sldId id="311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EC917-2184-4946-BB82-84EF861DCF35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4844C-1032-416A-8E33-99B56B001B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91E9FB-D310-4BD9-851D-6425E6321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CC2D6F-06AF-4931-9709-FCA05DC51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5EB6B2-427A-4CAE-9619-FAB6B597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69ABC4-7C32-44E3-9772-E2B3357F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5D64BD-9081-466C-8D01-FBF7065B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89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11C1B-A165-4738-A98E-CDF82413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B1918-D436-4343-9D7A-DF8FD42C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802BB-9E18-4069-B6E3-D70E229B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17E016-6221-4C76-A778-1966A7E2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950188-5923-4BE5-BBF8-007D2F5A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63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FCEA3C-318E-4A4F-A7B9-E2D385E1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63CFCA-1D31-4F2D-A2FA-912CBE68D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F6391A-F661-4379-94A2-4643E5BF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108C4-69A9-44CA-89F5-763AB52A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3FF97E-7194-4B2D-8634-E29DD61D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59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52C97B-1F56-4785-8A30-DA86E60A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9B196-61A8-4EA9-B0FF-4353875D0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9105522-46EF-4155-B59E-FF1C09A54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2E778C-6D5C-4349-B49E-A36748FD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06EA42-D460-4907-9704-D34B3B57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E264FC-4808-4790-BD8F-8211BE53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9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7751A-93CE-4DE8-B797-C436DD9F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A2ABA1-97A7-4A9B-8822-523C38177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6E0FC9-B7AA-41A0-B866-A41045B34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FC33553-8EC2-4658-A3F0-AC45384FB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03BC847-C398-4803-A4DB-B409F0FA9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638424-171A-4453-A77D-F5E415EF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0A086D-9FDA-468B-AAB3-0018938B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DC85732-9691-4144-9A38-E61C8463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95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441B06-8711-4961-AEB7-AEE157FB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D84982-DA61-40F8-865E-241B2E63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8FECA4-B1F2-4027-8D2C-8751FB26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751A0D-D313-4013-94A2-D4003C17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23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B4FDBCA-0F26-49FD-AD09-208FE47B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1FBB2FB-5464-4A73-AE50-DCF81B3A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065D78-C5F8-47FF-AA94-888FCEFD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03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D31BA-37F1-4225-B290-CB3296CD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4D63C7-7D4E-47D8-B09A-DDD52D895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A09B261-64A1-45E3-BCCC-4B347BCE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1D7D45-2485-430D-85B6-E0EDD747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B9DB85-5A5B-48DF-A996-3201B8D8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426B7C-FD89-4D9B-887E-55B2A01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54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8B7B3C-2DD9-46E7-A713-12783EFB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9D5A80-7E30-4CE2-9F20-F249813FD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DD48E2E-ABAE-41A2-9298-3BB31EBF9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A1B74B-A084-41FB-850C-9D7955CB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315B08-E79A-42EE-A2FC-F1C68A51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3802BE-840F-4C01-9050-6E70D196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83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FC5363-AA72-4929-A8D8-981DE83C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0E5AE7-6730-4E4A-A491-978032D4A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24A45A-6563-4F21-B472-F95E7E93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EF7F7B-52C7-426B-9978-644A1D1D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5A41F3-8A5F-4AA2-BC76-BA2BC354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33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176A2CC-7A46-4F55-85C4-AA9FCEBA2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3CA45E-F614-4C8C-8C28-E5CB2DA9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E923DF-42AC-42EC-8C59-8AE2A2D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EF9B0E-8C96-4598-AD8E-7166BFAB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AC7952-2B0D-4AEE-853B-D7C07AA4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51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CAC3753-89D0-4CF8-9AD2-2EDC0758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946258-EAA0-48EF-BC94-91018787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B7139B-A4A4-4FF6-8485-DAC90BA55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304E5-8391-4D43-B972-962346D4BFC4}" type="datetimeFigureOut">
              <a:rPr lang="zh-TW" altLang="en-US" smtClean="0"/>
              <a:t>2019/10/1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F0E61B-8D31-44C4-971C-1AE9FB565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CA5F1E-BB32-417E-9E65-5152DAF7A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88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80D9A5-7987-4C31-A5AA-53D6FFA1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042" y="896191"/>
            <a:ext cx="11431915" cy="175473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pattern matching in degenerate strings with Burrows-Wheeler transform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E7FB8B-5E0F-4EA3-A472-0229D27A7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322" y="3023004"/>
            <a:ext cx="10855354" cy="3266355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J.W. Daykin, R.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Groult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Lecroq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Lefebvre,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Léonard, L.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Mouchard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É.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Prieur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-Gaston, B. Watson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Informtion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 Letters 147(2019),  pp. 82-87</a:t>
            </a:r>
          </a:p>
          <a:p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-Lin Lai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Oct. 1, 2019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4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D643E-E99E-4F12-92FE-709248FF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FB915B7-780A-4747-AA36-2299BB4693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746996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degenerate or indeterminate string on an alphabet is a sequence of non-empty subsets of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Given a degenerate string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length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its Burrows–Wheeler transform we present a new method for searching for a degenerate pattern of length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running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𝑚𝑛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on a constant size alphabet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Furthermore, it is a hybrid pattern matching technique that works on both regular and degenerate strings. A degenerate string is said to be conservative if its number of non-solid letters is upper-bounded by a fixed positive constant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in this case we show that the search time complexity is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𝑞𝑚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counting the number of occurrences and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𝑞𝑚</m:t>
                            </m:r>
                          </m:e>
                          <m:sup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𝑜𝑐𝑐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reporting the found occurrences where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occurrences of the pattern in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Experimental results show that our method performs well in practice.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FB915B7-780A-4747-AA36-2299BB4693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746996" cy="4351338"/>
              </a:xfrm>
              <a:blipFill>
                <a:blip r:embed="rId2"/>
                <a:stretch>
                  <a:fillRect l="-1192" t="-3361" r="-1192" b="-1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876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899552-D171-41FD-90EB-C05AA95F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85" y="365125"/>
            <a:ext cx="11409028" cy="13255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Conservative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degenerate string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CE9963-43F0-4BCA-85E9-16790616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692" y="2044006"/>
            <a:ext cx="1037443" cy="690806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06F0444-439C-4930-9018-8736B3EC9600}"/>
              </a:ext>
            </a:extLst>
          </p:cNvPr>
          <p:cNvSpPr txBox="1"/>
          <p:nvPr/>
        </p:nvSpPr>
        <p:spPr>
          <a:xfrm>
            <a:off x="2293692" y="1931269"/>
            <a:ext cx="69425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1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{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}.{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c,d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}.{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}.{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}.{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c.{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}.a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c b a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8819D9B-5780-414E-B4F2-10884D2FD094}"/>
              </a:ext>
            </a:extLst>
          </p:cNvPr>
          <p:cNvSpPr txBox="1"/>
          <p:nvPr/>
        </p:nvSpPr>
        <p:spPr>
          <a:xfrm>
            <a:off x="8848822" y="2967335"/>
            <a:ext cx="2646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Non-Conservative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6CF4FC-A099-459B-A8A9-CE6B55A1994A}"/>
              </a:ext>
            </a:extLst>
          </p:cNvPr>
          <p:cNvSpPr txBox="1"/>
          <p:nvPr/>
        </p:nvSpPr>
        <p:spPr>
          <a:xfrm>
            <a:off x="5313644" y="3974316"/>
            <a:ext cx="4375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degenerate string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AE6D848-173C-4C6F-A0CE-84E25E99F6FE}"/>
              </a:ext>
            </a:extLst>
          </p:cNvPr>
          <p:cNvSpPr txBox="1"/>
          <p:nvPr/>
        </p:nvSpPr>
        <p:spPr>
          <a:xfrm>
            <a:off x="2293692" y="5573951"/>
            <a:ext cx="1872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symbol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CD5043C7-0C5C-4F97-835C-52096BDDE87B}"/>
              </a:ext>
            </a:extLst>
          </p:cNvPr>
          <p:cNvCxnSpPr>
            <a:cxnSpLocks/>
          </p:cNvCxnSpPr>
          <p:nvPr/>
        </p:nvCxnSpPr>
        <p:spPr>
          <a:xfrm flipV="1">
            <a:off x="3229846" y="5380607"/>
            <a:ext cx="0" cy="1933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76677D9-DD7B-41CB-B650-BFF66863E223}"/>
              </a:ext>
            </a:extLst>
          </p:cNvPr>
          <p:cNvSpPr txBox="1"/>
          <p:nvPr/>
        </p:nvSpPr>
        <p:spPr>
          <a:xfrm>
            <a:off x="5313644" y="4939884"/>
            <a:ext cx="3251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string</a:t>
            </a:r>
          </a:p>
        </p:txBody>
      </p:sp>
    </p:spTree>
    <p:extLst>
      <p:ext uri="{BB962C8B-B14F-4D97-AF65-F5344CB8AC3E}">
        <p14:creationId xmlns:p14="http://schemas.microsoft.com/office/powerpoint/2010/main" val="102805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31FB4-98D4-4212-A8EF-B4464AB6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Degenerate string matching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87D3A28-F146-4547-A8E3-EDCA07EA8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Ex: T = 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a,b,c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a,b,c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P = c.{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}.a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c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≠∅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a,b,c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≠∅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a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≠∅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=&gt; Matching !!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87D3A28-F146-4547-A8E3-EDCA07EA8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533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A7671A-7DDF-4D68-9788-012FA32E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30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6956EF-9AA8-429D-80D4-9EA7CFDEE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4581" y="3694017"/>
            <a:ext cx="1927865" cy="96739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sorting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0D3CCBF-829B-48A8-8D80-7EDDE9B32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603091"/>
              </p:ext>
            </p:extLst>
          </p:nvPr>
        </p:nvGraphicFramePr>
        <p:xfrm>
          <a:off x="1101151" y="2263301"/>
          <a:ext cx="3700112" cy="4053420"/>
        </p:xfrm>
        <a:graphic>
          <a:graphicData uri="http://schemas.openxmlformats.org/drawingml/2006/table">
            <a:tbl>
              <a:tblPr/>
              <a:tblGrid>
                <a:gridCol w="525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3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35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9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35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2179F12-70E4-4949-8987-A08339C82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086442"/>
              </p:ext>
            </p:extLst>
          </p:nvPr>
        </p:nvGraphicFramePr>
        <p:xfrm>
          <a:off x="7197151" y="2263301"/>
          <a:ext cx="3847792" cy="4053420"/>
        </p:xfrm>
        <a:graphic>
          <a:graphicData uri="http://schemas.openxmlformats.org/drawingml/2006/table">
            <a:tbl>
              <a:tblPr/>
              <a:tblGrid>
                <a:gridCol w="722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9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F4DEA76-B8D7-472A-A4A2-20D04D9184A6}"/>
              </a:ext>
            </a:extLst>
          </p:cNvPr>
          <p:cNvCxnSpPr/>
          <p:nvPr/>
        </p:nvCxnSpPr>
        <p:spPr>
          <a:xfrm>
            <a:off x="5050172" y="4177717"/>
            <a:ext cx="15100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1E67361D-5072-476F-A18F-474522E65E0E}"/>
              </a:ext>
            </a:extLst>
          </p:cNvPr>
          <p:cNvSpPr/>
          <p:nvPr/>
        </p:nvSpPr>
        <p:spPr>
          <a:xfrm>
            <a:off x="1101151" y="142449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acaacg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03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216264-C312-4349-BD69-EB6EE2DF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45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949674-AEF8-496D-9617-0E8C0EDB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DA24054F-5CDB-40BC-A62E-D29BF7C0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2526" y="5978846"/>
            <a:ext cx="2057400" cy="365125"/>
          </a:xfrm>
        </p:spPr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AAD04BE-E7D3-4837-8CBF-42540BA92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141226"/>
              </p:ext>
            </p:extLst>
          </p:nvPr>
        </p:nvGraphicFramePr>
        <p:xfrm>
          <a:off x="6228630" y="1734307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9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文字方塊 4">
            <a:extLst>
              <a:ext uri="{FF2B5EF4-FFF2-40B4-BE49-F238E27FC236}">
                <a16:creationId xmlns:a16="http://schemas.microsoft.com/office/drawing/2014/main" id="{4C1C3EE3-3836-424F-861A-6057EF809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991" y="2279533"/>
            <a:ext cx="3209533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s(“a”) = 2, e(“a”) = 4.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ca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s(“ca”) = 5, e(“ca”) = 5.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Find s(P), e(P).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682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29176F-C7CF-4AC1-AA10-AB0862B84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257448-1328-4DB9-9D0A-6699BA6B1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52D3D041-EC41-498E-BC4A-59B854ED00CC}"/>
              </a:ext>
            </a:extLst>
          </p:cNvPr>
          <p:cNvSpPr txBox="1">
            <a:spLocks/>
          </p:cNvSpPr>
          <p:nvPr/>
        </p:nvSpPr>
        <p:spPr>
          <a:xfrm>
            <a:off x="2586381" y="1630741"/>
            <a:ext cx="7755717" cy="4784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4F61242-C64B-4CE0-9426-C198651DC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745769"/>
              </p:ext>
            </p:extLst>
          </p:nvPr>
        </p:nvGraphicFramePr>
        <p:xfrm>
          <a:off x="2186256" y="1570585"/>
          <a:ext cx="3847792" cy="4571580"/>
        </p:xfrm>
        <a:graphic>
          <a:graphicData uri="http://schemas.openxmlformats.org/drawingml/2006/table">
            <a:tbl>
              <a:tblPr/>
              <a:tblGrid>
                <a:gridCol w="722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9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B6D6687-CF88-4EF7-97CE-9B04BC8F3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755286"/>
              </p:ext>
            </p:extLst>
          </p:nvPr>
        </p:nvGraphicFramePr>
        <p:xfrm>
          <a:off x="6992031" y="2061776"/>
          <a:ext cx="1506538" cy="1189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46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C (c)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D953BBE-17F0-430F-AD19-0B8FCB0E5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33952"/>
              </p:ext>
            </p:extLst>
          </p:nvPr>
        </p:nvGraphicFramePr>
        <p:xfrm>
          <a:off x="8852799" y="2073295"/>
          <a:ext cx="15609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rank</a:t>
                      </a:r>
                      <a:r>
                        <a:rPr lang="en-US" altLang="zh-TW" sz="2000" baseline="-25000" dirty="0" err="1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(L,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1EDBDC9F-962C-41B9-ADDD-395087DD0F16}"/>
              </a:ext>
            </a:extLst>
          </p:cNvPr>
          <p:cNvSpPr txBox="1"/>
          <p:nvPr/>
        </p:nvSpPr>
        <p:spPr>
          <a:xfrm>
            <a:off x="8832034" y="256687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err="1"/>
              <a:t>i</a:t>
            </a:r>
            <a:endParaRPr lang="zh-TW" altLang="en-US" i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73FDD03-D830-481C-9987-F88387D47764}"/>
              </a:ext>
            </a:extLst>
          </p:cNvPr>
          <p:cNvSpPr txBox="1"/>
          <p:nvPr/>
        </p:nvSpPr>
        <p:spPr>
          <a:xfrm>
            <a:off x="8924197" y="2382205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/>
              <a:t>c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641204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73E6F4-B055-42EA-A336-110E08704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6264B1-CE8A-4F14-B1EC-E3708F757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F63B67A5-B1A0-42DC-9AE3-793E442CBCFA}"/>
              </a:ext>
            </a:extLst>
          </p:cNvPr>
          <p:cNvSpPr txBox="1">
            <a:spLocks/>
          </p:cNvSpPr>
          <p:nvPr/>
        </p:nvSpPr>
        <p:spPr>
          <a:xfrm>
            <a:off x="1278765" y="1850254"/>
            <a:ext cx="8665029" cy="5037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acaacg</a:t>
            </a:r>
            <a:r>
              <a:rPr lang="en-US" altLang="zh-TW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$,  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P=ac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sz="2600" dirty="0">
                <a:latin typeface="Times New Roman" charset="0"/>
              </a:rPr>
              <a:t>s(</a:t>
            </a:r>
            <a:r>
              <a:rPr lang="en-US" altLang="zh-TW" sz="2600" i="1" dirty="0">
                <a:latin typeface="Times New Roman" charset="0"/>
              </a:rPr>
              <a:t>NULL</a:t>
            </a:r>
            <a:r>
              <a:rPr lang="en-US" altLang="zh-TW" sz="2600" dirty="0">
                <a:latin typeface="Times New Roman" charset="0"/>
              </a:rPr>
              <a:t>)=1, e(</a:t>
            </a:r>
            <a:r>
              <a:rPr lang="en-US" altLang="zh-TW" sz="2600" i="1" dirty="0">
                <a:latin typeface="Times New Roman" charset="0"/>
              </a:rPr>
              <a:t>NULL</a:t>
            </a:r>
            <a:r>
              <a:rPr lang="en-US" altLang="zh-TW" sz="2600" dirty="0">
                <a:latin typeface="Times New Roman" charset="0"/>
              </a:rPr>
              <a:t>) = 7.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sz="2600" dirty="0">
                <a:latin typeface="Times New Roman" charset="0"/>
              </a:rPr>
              <a:t>x=‘c’ and Y = </a:t>
            </a:r>
            <a:r>
              <a:rPr lang="en-US" altLang="zh-TW" sz="2600" i="1" dirty="0">
                <a:latin typeface="Times New Roman" charset="0"/>
              </a:rPr>
              <a:t>NULL</a:t>
            </a:r>
            <a:r>
              <a:rPr lang="en-US" altLang="zh-TW" sz="2600" dirty="0">
                <a:latin typeface="Times New Roman" charset="0"/>
              </a:rPr>
              <a:t>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sz="2600" dirty="0">
                <a:latin typeface="Times New Roman" charset="0"/>
              </a:rPr>
              <a:t>C(c)=4, 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sz="2600" dirty="0" err="1">
                <a:latin typeface="Times New Roman" charset="0"/>
              </a:rPr>
              <a:t>rank</a:t>
            </a:r>
            <a:r>
              <a:rPr lang="en-US" altLang="zh-TW" sz="2600" baseline="-25000" dirty="0" err="1">
                <a:latin typeface="Times New Roman" charset="0"/>
              </a:rPr>
              <a:t>c</a:t>
            </a:r>
            <a:r>
              <a:rPr lang="en-US" altLang="zh-TW" sz="2600" dirty="0">
                <a:latin typeface="Times New Roman" charset="0"/>
              </a:rPr>
              <a:t>(BWT, s(</a:t>
            </a:r>
            <a:r>
              <a:rPr lang="en-US" altLang="zh-TW" sz="2600" i="1" dirty="0">
                <a:latin typeface="Times New Roman" charset="0"/>
              </a:rPr>
              <a:t>NULL</a:t>
            </a:r>
            <a:r>
              <a:rPr lang="en-US" altLang="zh-TW" sz="2600" dirty="0">
                <a:latin typeface="Times New Roman" charset="0"/>
              </a:rPr>
              <a:t>)-1) = 0,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sz="2600" dirty="0" err="1">
                <a:latin typeface="Times New Roman" charset="0"/>
              </a:rPr>
              <a:t>rank</a:t>
            </a:r>
            <a:r>
              <a:rPr lang="en-US" altLang="zh-TW" sz="2600" baseline="-25000" dirty="0" err="1">
                <a:latin typeface="Times New Roman" charset="0"/>
              </a:rPr>
              <a:t>c</a:t>
            </a:r>
            <a:r>
              <a:rPr lang="en-US" altLang="zh-TW" sz="2600" dirty="0">
                <a:latin typeface="Times New Roman" charset="0"/>
              </a:rPr>
              <a:t>(BWT, e(</a:t>
            </a:r>
            <a:r>
              <a:rPr lang="en-US" altLang="zh-TW" sz="2600" i="1" dirty="0">
                <a:latin typeface="Times New Roman" charset="0"/>
              </a:rPr>
              <a:t>NULL</a:t>
            </a:r>
            <a:r>
              <a:rPr lang="en-US" altLang="zh-TW" sz="2600" dirty="0">
                <a:latin typeface="Times New Roman" charset="0"/>
              </a:rPr>
              <a:t>)) = 2.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TW" sz="2600" dirty="0">
                <a:latin typeface="Times New Roman" charset="0"/>
              </a:rPr>
              <a:t>s(c)=4+0+1=5, e(c) = 4+2=6.</a:t>
            </a:r>
          </a:p>
          <a:p>
            <a:pPr algn="l">
              <a:spcBef>
                <a:spcPct val="0"/>
              </a:spcBef>
            </a:pP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71077D2-D7CB-4C58-B8F0-04A13B106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105056"/>
              </p:ext>
            </p:extLst>
          </p:nvPr>
        </p:nvGraphicFramePr>
        <p:xfrm>
          <a:off x="6801005" y="1745984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9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17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A1670-E5C3-453E-847D-6DC75D41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DF88FF-BDF5-47A0-B882-BB07A6D05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116" y="1825625"/>
            <a:ext cx="10166684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acaacg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$,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P=ac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TW" dirty="0">
              <a:latin typeface="Times New Roman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TW" dirty="0">
                <a:latin typeface="Times New Roman" charset="0"/>
              </a:rPr>
              <a:t>s(c)=5, e(c) = 6.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TW" dirty="0">
                <a:latin typeface="Times New Roman" charset="0"/>
              </a:rPr>
              <a:t>x=‘a’ and Y = ‘ c’.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TW" dirty="0">
                <a:latin typeface="Times New Roman" charset="0"/>
              </a:rPr>
              <a:t>C(a)=1, 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TW" dirty="0" err="1">
                <a:latin typeface="Times New Roman" charset="0"/>
              </a:rPr>
              <a:t>rank</a:t>
            </a:r>
            <a:r>
              <a:rPr lang="en-US" altLang="zh-TW" baseline="-25000" dirty="0" err="1">
                <a:latin typeface="Times New Roman" charset="0"/>
              </a:rPr>
              <a:t>c</a:t>
            </a:r>
            <a:r>
              <a:rPr lang="en-US" altLang="zh-TW" dirty="0">
                <a:latin typeface="Times New Roman" charset="0"/>
              </a:rPr>
              <a:t>(BWT, s(c)-1) = 1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TW" dirty="0" err="1">
                <a:latin typeface="Times New Roman" charset="0"/>
              </a:rPr>
              <a:t>rank</a:t>
            </a:r>
            <a:r>
              <a:rPr lang="en-US" altLang="zh-TW" baseline="-25000" dirty="0" err="1">
                <a:latin typeface="Times New Roman" charset="0"/>
              </a:rPr>
              <a:t>c</a:t>
            </a:r>
            <a:r>
              <a:rPr lang="en-US" altLang="zh-TW" dirty="0">
                <a:latin typeface="Times New Roman" charset="0"/>
              </a:rPr>
              <a:t>(BWT, e(c)) = 3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TW" dirty="0">
                <a:latin typeface="Times New Roman" charset="0"/>
              </a:rPr>
              <a:t>s(ac)=1+1+1=3, e(ac) = 1+3=4.</a:t>
            </a:r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76049D8-60E1-495F-8E17-B374514C2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281303"/>
              </p:ext>
            </p:extLst>
          </p:nvPr>
        </p:nvGraphicFramePr>
        <p:xfrm>
          <a:off x="6720065" y="1666343"/>
          <a:ext cx="3847792" cy="4510620"/>
        </p:xfrm>
        <a:graphic>
          <a:graphicData uri="http://schemas.openxmlformats.org/drawingml/2006/table">
            <a:tbl>
              <a:tblPr/>
              <a:tblGrid>
                <a:gridCol w="722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9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81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BEBEDA-1963-4D18-86D7-34B9BB6D6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degenerate pattern in a degenerate string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FF957C-7DAB-4637-A328-4B3B3EF65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DCABA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{c}.{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}.{a}</a:t>
            </a:r>
          </a:p>
          <a:p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8A1BD48-70AF-4A6A-BB82-A47915B03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40103"/>
              </p:ext>
            </p:extLst>
          </p:nvPr>
        </p:nvGraphicFramePr>
        <p:xfrm>
          <a:off x="1629332" y="2898440"/>
          <a:ext cx="3847792" cy="3413460"/>
        </p:xfrm>
        <a:graphic>
          <a:graphicData uri="http://schemas.openxmlformats.org/drawingml/2006/table">
            <a:tbl>
              <a:tblPr/>
              <a:tblGrid>
                <a:gridCol w="722233">
                  <a:extLst>
                    <a:ext uri="{9D8B030D-6E8A-4147-A177-3AD203B41FA5}">
                      <a16:colId xmlns:a16="http://schemas.microsoft.com/office/drawing/2014/main" val="3038636695"/>
                    </a:ext>
                  </a:extLst>
                </a:gridCol>
                <a:gridCol w="601359">
                  <a:extLst>
                    <a:ext uri="{9D8B030D-6E8A-4147-A177-3AD203B41FA5}">
                      <a16:colId xmlns:a16="http://schemas.microsoft.com/office/drawing/2014/main" val="2911378663"/>
                    </a:ext>
                  </a:extLst>
                </a:gridCol>
                <a:gridCol w="356360">
                  <a:extLst>
                    <a:ext uri="{9D8B030D-6E8A-4147-A177-3AD203B41FA5}">
                      <a16:colId xmlns:a16="http://schemas.microsoft.com/office/drawing/2014/main" val="3828369655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2932862754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46770146"/>
                    </a:ext>
                  </a:extLst>
                </a:gridCol>
                <a:gridCol w="360672">
                  <a:extLst>
                    <a:ext uri="{9D8B030D-6E8A-4147-A177-3AD203B41FA5}">
                      <a16:colId xmlns:a16="http://schemas.microsoft.com/office/drawing/2014/main" val="1890417728"/>
                    </a:ext>
                  </a:extLst>
                </a:gridCol>
                <a:gridCol w="456267">
                  <a:extLst>
                    <a:ext uri="{9D8B030D-6E8A-4147-A177-3AD203B41FA5}">
                      <a16:colId xmlns:a16="http://schemas.microsoft.com/office/drawing/2014/main" val="571835566"/>
                    </a:ext>
                  </a:extLst>
                </a:gridCol>
                <a:gridCol w="266347">
                  <a:extLst>
                    <a:ext uri="{9D8B030D-6E8A-4147-A177-3AD203B41FA5}">
                      <a16:colId xmlns:a16="http://schemas.microsoft.com/office/drawing/2014/main" val="856676432"/>
                    </a:ext>
                  </a:extLst>
                </a:gridCol>
                <a:gridCol w="361941">
                  <a:extLst>
                    <a:ext uri="{9D8B030D-6E8A-4147-A177-3AD203B41FA5}">
                      <a16:colId xmlns:a16="http://schemas.microsoft.com/office/drawing/2014/main" val="3442978177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484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94407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9179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917487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72948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3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3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423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86874A-734F-415D-9F21-E9D8C2D0D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74633"/>
              </p:ext>
            </p:extLst>
          </p:nvPr>
        </p:nvGraphicFramePr>
        <p:xfrm>
          <a:off x="7273271" y="2898440"/>
          <a:ext cx="4080529" cy="3413460"/>
        </p:xfrm>
        <a:graphic>
          <a:graphicData uri="http://schemas.openxmlformats.org/drawingml/2006/table">
            <a:tbl>
              <a:tblPr/>
              <a:tblGrid>
                <a:gridCol w="765918">
                  <a:extLst>
                    <a:ext uri="{9D8B030D-6E8A-4147-A177-3AD203B41FA5}">
                      <a16:colId xmlns:a16="http://schemas.microsoft.com/office/drawing/2014/main" val="3038636695"/>
                    </a:ext>
                  </a:extLst>
                </a:gridCol>
                <a:gridCol w="544138">
                  <a:extLst>
                    <a:ext uri="{9D8B030D-6E8A-4147-A177-3AD203B41FA5}">
                      <a16:colId xmlns:a16="http://schemas.microsoft.com/office/drawing/2014/main" val="2911378663"/>
                    </a:ext>
                  </a:extLst>
                </a:gridCol>
                <a:gridCol w="471509">
                  <a:extLst>
                    <a:ext uri="{9D8B030D-6E8A-4147-A177-3AD203B41FA5}">
                      <a16:colId xmlns:a16="http://schemas.microsoft.com/office/drawing/2014/main" val="3828369655"/>
                    </a:ext>
                  </a:extLst>
                </a:gridCol>
                <a:gridCol w="382488">
                  <a:extLst>
                    <a:ext uri="{9D8B030D-6E8A-4147-A177-3AD203B41FA5}">
                      <a16:colId xmlns:a16="http://schemas.microsoft.com/office/drawing/2014/main" val="2932862754"/>
                    </a:ext>
                  </a:extLst>
                </a:gridCol>
                <a:gridCol w="383833">
                  <a:extLst>
                    <a:ext uri="{9D8B030D-6E8A-4147-A177-3AD203B41FA5}">
                      <a16:colId xmlns:a16="http://schemas.microsoft.com/office/drawing/2014/main" val="46770146"/>
                    </a:ext>
                  </a:extLst>
                </a:gridCol>
                <a:gridCol w="382488">
                  <a:extLst>
                    <a:ext uri="{9D8B030D-6E8A-4147-A177-3AD203B41FA5}">
                      <a16:colId xmlns:a16="http://schemas.microsoft.com/office/drawing/2014/main" val="1890417728"/>
                    </a:ext>
                  </a:extLst>
                </a:gridCol>
                <a:gridCol w="483865">
                  <a:extLst>
                    <a:ext uri="{9D8B030D-6E8A-4147-A177-3AD203B41FA5}">
                      <a16:colId xmlns:a16="http://schemas.microsoft.com/office/drawing/2014/main" val="571835566"/>
                    </a:ext>
                  </a:extLst>
                </a:gridCol>
                <a:gridCol w="282457">
                  <a:extLst>
                    <a:ext uri="{9D8B030D-6E8A-4147-A177-3AD203B41FA5}">
                      <a16:colId xmlns:a16="http://schemas.microsoft.com/office/drawing/2014/main" val="856676432"/>
                    </a:ext>
                  </a:extLst>
                </a:gridCol>
                <a:gridCol w="383833">
                  <a:extLst>
                    <a:ext uri="{9D8B030D-6E8A-4147-A177-3AD203B41FA5}">
                      <a16:colId xmlns:a16="http://schemas.microsoft.com/office/drawing/2014/main" val="3442978177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484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94407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9179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917487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72948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4239"/>
                  </a:ext>
                </a:extLst>
              </a:tr>
            </a:tbl>
          </a:graphicData>
        </a:graphic>
      </p:graphicFrame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A2FF1B3-61C3-4B5C-9FF7-86AE01010FC8}"/>
              </a:ext>
            </a:extLst>
          </p:cNvPr>
          <p:cNvSpPr txBox="1">
            <a:spLocks/>
          </p:cNvSpPr>
          <p:nvPr/>
        </p:nvSpPr>
        <p:spPr>
          <a:xfrm>
            <a:off x="5049473" y="4046355"/>
            <a:ext cx="1927865" cy="967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   sorting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9F1E0B50-2397-4707-BE8F-C34EAE5A7523}"/>
              </a:ext>
            </a:extLst>
          </p:cNvPr>
          <p:cNvCxnSpPr/>
          <p:nvPr/>
        </p:nvCxnSpPr>
        <p:spPr>
          <a:xfrm>
            <a:off x="5285064" y="4530055"/>
            <a:ext cx="15100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832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BB2A79-632D-4C21-8692-91993695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degenerate pattern in a degenerate string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534ED0-E467-4571-B994-E1DBD7C0D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7AB514E-BD5F-4DE6-A81E-1BC355365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883018"/>
              </p:ext>
            </p:extLst>
          </p:nvPr>
        </p:nvGraphicFramePr>
        <p:xfrm>
          <a:off x="6536528" y="2375030"/>
          <a:ext cx="1506538" cy="1189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46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C (c)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D26BFD2-87A4-41DA-A041-31DAC05C6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228966"/>
              </p:ext>
            </p:extLst>
          </p:nvPr>
        </p:nvGraphicFramePr>
        <p:xfrm>
          <a:off x="8907594" y="2375030"/>
          <a:ext cx="1560912" cy="2773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rank</a:t>
                      </a:r>
                      <a:r>
                        <a:rPr lang="en-US" altLang="zh-TW" sz="2000" baseline="-25000" dirty="0" err="1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(L,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9" marR="91459"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A23C1FF8-F952-4F93-AEF8-55F2AFEEF938}"/>
              </a:ext>
            </a:extLst>
          </p:cNvPr>
          <p:cNvSpPr txBox="1"/>
          <p:nvPr/>
        </p:nvSpPr>
        <p:spPr>
          <a:xfrm>
            <a:off x="8886829" y="2868606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err="1"/>
              <a:t>i</a:t>
            </a:r>
            <a:endParaRPr lang="zh-TW" altLang="en-US" i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00A056D-206F-4E7E-A737-57F3D1A40958}"/>
              </a:ext>
            </a:extLst>
          </p:cNvPr>
          <p:cNvSpPr txBox="1"/>
          <p:nvPr/>
        </p:nvSpPr>
        <p:spPr>
          <a:xfrm>
            <a:off x="8978992" y="2683940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/>
              <a:t>c</a:t>
            </a:r>
            <a:endParaRPr lang="zh-TW" altLang="en-US" i="1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EE49404-4C70-41FC-A4FD-4CED510C8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173977"/>
              </p:ext>
            </p:extLst>
          </p:nvPr>
        </p:nvGraphicFramePr>
        <p:xfrm>
          <a:off x="1971413" y="2149645"/>
          <a:ext cx="4080529" cy="3413460"/>
        </p:xfrm>
        <a:graphic>
          <a:graphicData uri="http://schemas.openxmlformats.org/drawingml/2006/table">
            <a:tbl>
              <a:tblPr/>
              <a:tblGrid>
                <a:gridCol w="765918">
                  <a:extLst>
                    <a:ext uri="{9D8B030D-6E8A-4147-A177-3AD203B41FA5}">
                      <a16:colId xmlns:a16="http://schemas.microsoft.com/office/drawing/2014/main" val="3038636695"/>
                    </a:ext>
                  </a:extLst>
                </a:gridCol>
                <a:gridCol w="544138">
                  <a:extLst>
                    <a:ext uri="{9D8B030D-6E8A-4147-A177-3AD203B41FA5}">
                      <a16:colId xmlns:a16="http://schemas.microsoft.com/office/drawing/2014/main" val="2911378663"/>
                    </a:ext>
                  </a:extLst>
                </a:gridCol>
                <a:gridCol w="471509">
                  <a:extLst>
                    <a:ext uri="{9D8B030D-6E8A-4147-A177-3AD203B41FA5}">
                      <a16:colId xmlns:a16="http://schemas.microsoft.com/office/drawing/2014/main" val="3828369655"/>
                    </a:ext>
                  </a:extLst>
                </a:gridCol>
                <a:gridCol w="382488">
                  <a:extLst>
                    <a:ext uri="{9D8B030D-6E8A-4147-A177-3AD203B41FA5}">
                      <a16:colId xmlns:a16="http://schemas.microsoft.com/office/drawing/2014/main" val="2932862754"/>
                    </a:ext>
                  </a:extLst>
                </a:gridCol>
                <a:gridCol w="383833">
                  <a:extLst>
                    <a:ext uri="{9D8B030D-6E8A-4147-A177-3AD203B41FA5}">
                      <a16:colId xmlns:a16="http://schemas.microsoft.com/office/drawing/2014/main" val="46770146"/>
                    </a:ext>
                  </a:extLst>
                </a:gridCol>
                <a:gridCol w="382488">
                  <a:extLst>
                    <a:ext uri="{9D8B030D-6E8A-4147-A177-3AD203B41FA5}">
                      <a16:colId xmlns:a16="http://schemas.microsoft.com/office/drawing/2014/main" val="1890417728"/>
                    </a:ext>
                  </a:extLst>
                </a:gridCol>
                <a:gridCol w="483865">
                  <a:extLst>
                    <a:ext uri="{9D8B030D-6E8A-4147-A177-3AD203B41FA5}">
                      <a16:colId xmlns:a16="http://schemas.microsoft.com/office/drawing/2014/main" val="571835566"/>
                    </a:ext>
                  </a:extLst>
                </a:gridCol>
                <a:gridCol w="282457">
                  <a:extLst>
                    <a:ext uri="{9D8B030D-6E8A-4147-A177-3AD203B41FA5}">
                      <a16:colId xmlns:a16="http://schemas.microsoft.com/office/drawing/2014/main" val="856676432"/>
                    </a:ext>
                  </a:extLst>
                </a:gridCol>
                <a:gridCol w="383833">
                  <a:extLst>
                    <a:ext uri="{9D8B030D-6E8A-4147-A177-3AD203B41FA5}">
                      <a16:colId xmlns:a16="http://schemas.microsoft.com/office/drawing/2014/main" val="3442978177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484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94407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9179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917487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72948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131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962AEE-A572-4DDA-9D02-7B05AF62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degenerate pattern in a degenerate string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18B047-69C4-4119-968E-B1FED95EF7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a,b,c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a,b,c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=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DCABA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{c}.{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}.{a}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{a}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≠∅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{a}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≠∅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(BWT, s(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NULL</a:t>
                </a:r>
                <a:r>
                  <a:rPr lang="en-US" altLang="zh-TW" dirty="0">
                    <a:latin typeface="Times New Roman" charset="0"/>
                  </a:rPr>
                  <a:t>)-1) = 0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(BWT, e(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NULL</a:t>
                </a:r>
                <a:r>
                  <a:rPr lang="en-US" altLang="zh-TW" dirty="0">
                    <a:latin typeface="Times New Roman" charset="0"/>
                  </a:rPr>
                  <a:t>)) = 2  =&gt; (1,2)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(BWT, s(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NULL</a:t>
                </a:r>
                <a:r>
                  <a:rPr lang="en-US" altLang="zh-TW" dirty="0">
                    <a:latin typeface="Times New Roman" charset="0"/>
                  </a:rPr>
                  <a:t>)-1) = 0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(BWT, e(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NULL</a:t>
                </a:r>
                <a:r>
                  <a:rPr lang="en-US" altLang="zh-TW" dirty="0">
                    <a:latin typeface="Times New Roman" charset="0"/>
                  </a:rPr>
                  <a:t>)) = 1  =&gt; (3,3)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endParaRPr lang="en-US" altLang="zh-TW" dirty="0">
                  <a:latin typeface="Times New Roman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endParaRPr lang="en-US" altLang="zh-TW" dirty="0">
                  <a:latin typeface="Times New Roman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18B047-69C4-4119-968E-B1FED95EF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DE1947B-159D-431B-8505-4200559A2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39039"/>
              </p:ext>
            </p:extLst>
          </p:nvPr>
        </p:nvGraphicFramePr>
        <p:xfrm>
          <a:off x="7466202" y="2763503"/>
          <a:ext cx="4080529" cy="3413460"/>
        </p:xfrm>
        <a:graphic>
          <a:graphicData uri="http://schemas.openxmlformats.org/drawingml/2006/table">
            <a:tbl>
              <a:tblPr/>
              <a:tblGrid>
                <a:gridCol w="765918">
                  <a:extLst>
                    <a:ext uri="{9D8B030D-6E8A-4147-A177-3AD203B41FA5}">
                      <a16:colId xmlns:a16="http://schemas.microsoft.com/office/drawing/2014/main" val="3038636695"/>
                    </a:ext>
                  </a:extLst>
                </a:gridCol>
                <a:gridCol w="544138">
                  <a:extLst>
                    <a:ext uri="{9D8B030D-6E8A-4147-A177-3AD203B41FA5}">
                      <a16:colId xmlns:a16="http://schemas.microsoft.com/office/drawing/2014/main" val="2911378663"/>
                    </a:ext>
                  </a:extLst>
                </a:gridCol>
                <a:gridCol w="471509">
                  <a:extLst>
                    <a:ext uri="{9D8B030D-6E8A-4147-A177-3AD203B41FA5}">
                      <a16:colId xmlns:a16="http://schemas.microsoft.com/office/drawing/2014/main" val="3828369655"/>
                    </a:ext>
                  </a:extLst>
                </a:gridCol>
                <a:gridCol w="382488">
                  <a:extLst>
                    <a:ext uri="{9D8B030D-6E8A-4147-A177-3AD203B41FA5}">
                      <a16:colId xmlns:a16="http://schemas.microsoft.com/office/drawing/2014/main" val="2932862754"/>
                    </a:ext>
                  </a:extLst>
                </a:gridCol>
                <a:gridCol w="383833">
                  <a:extLst>
                    <a:ext uri="{9D8B030D-6E8A-4147-A177-3AD203B41FA5}">
                      <a16:colId xmlns:a16="http://schemas.microsoft.com/office/drawing/2014/main" val="46770146"/>
                    </a:ext>
                  </a:extLst>
                </a:gridCol>
                <a:gridCol w="382488">
                  <a:extLst>
                    <a:ext uri="{9D8B030D-6E8A-4147-A177-3AD203B41FA5}">
                      <a16:colId xmlns:a16="http://schemas.microsoft.com/office/drawing/2014/main" val="1890417728"/>
                    </a:ext>
                  </a:extLst>
                </a:gridCol>
                <a:gridCol w="483865">
                  <a:extLst>
                    <a:ext uri="{9D8B030D-6E8A-4147-A177-3AD203B41FA5}">
                      <a16:colId xmlns:a16="http://schemas.microsoft.com/office/drawing/2014/main" val="571835566"/>
                    </a:ext>
                  </a:extLst>
                </a:gridCol>
                <a:gridCol w="282457">
                  <a:extLst>
                    <a:ext uri="{9D8B030D-6E8A-4147-A177-3AD203B41FA5}">
                      <a16:colId xmlns:a16="http://schemas.microsoft.com/office/drawing/2014/main" val="856676432"/>
                    </a:ext>
                  </a:extLst>
                </a:gridCol>
                <a:gridCol w="383833">
                  <a:extLst>
                    <a:ext uri="{9D8B030D-6E8A-4147-A177-3AD203B41FA5}">
                      <a16:colId xmlns:a16="http://schemas.microsoft.com/office/drawing/2014/main" val="3442978177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484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94407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9179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917487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72948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879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962AEE-A572-4DDA-9D02-7B05AF62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degenerate pattern in a degenerate string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18B047-69C4-4119-968E-B1FED95EF7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3005" y="1825881"/>
                <a:ext cx="10791738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a,b,c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a,b,c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=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DCABA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{c}.{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}.{a}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≠∅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≠∅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(BWT, s(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)-1) = 0, </a:t>
                </a: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(BWT, e(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)) = 0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(BWT, s(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)-1) = 0, </a:t>
                </a: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(BWT, e(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)) = 1 =&gt; (1,1)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(BWT, s(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)-1) = 0, </a:t>
                </a: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(BWT, e(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)) = 1 =&gt; (3,3)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(BWT, s(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)-1) = 3, </a:t>
                </a: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(BWT, e(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)) = 3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18B047-69C4-4119-968E-B1FED95EF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3005" y="1825881"/>
                <a:ext cx="10791738" cy="4351338"/>
              </a:xfrm>
              <a:blipFill>
                <a:blip r:embed="rId2"/>
                <a:stretch>
                  <a:fillRect l="-10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DE1947B-159D-431B-8505-4200559A2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295254"/>
              </p:ext>
            </p:extLst>
          </p:nvPr>
        </p:nvGraphicFramePr>
        <p:xfrm>
          <a:off x="8355435" y="2766875"/>
          <a:ext cx="4080529" cy="3413460"/>
        </p:xfrm>
        <a:graphic>
          <a:graphicData uri="http://schemas.openxmlformats.org/drawingml/2006/table">
            <a:tbl>
              <a:tblPr/>
              <a:tblGrid>
                <a:gridCol w="765918">
                  <a:extLst>
                    <a:ext uri="{9D8B030D-6E8A-4147-A177-3AD203B41FA5}">
                      <a16:colId xmlns:a16="http://schemas.microsoft.com/office/drawing/2014/main" val="3038636695"/>
                    </a:ext>
                  </a:extLst>
                </a:gridCol>
                <a:gridCol w="544138">
                  <a:extLst>
                    <a:ext uri="{9D8B030D-6E8A-4147-A177-3AD203B41FA5}">
                      <a16:colId xmlns:a16="http://schemas.microsoft.com/office/drawing/2014/main" val="2911378663"/>
                    </a:ext>
                  </a:extLst>
                </a:gridCol>
                <a:gridCol w="471509">
                  <a:extLst>
                    <a:ext uri="{9D8B030D-6E8A-4147-A177-3AD203B41FA5}">
                      <a16:colId xmlns:a16="http://schemas.microsoft.com/office/drawing/2014/main" val="3828369655"/>
                    </a:ext>
                  </a:extLst>
                </a:gridCol>
                <a:gridCol w="382488">
                  <a:extLst>
                    <a:ext uri="{9D8B030D-6E8A-4147-A177-3AD203B41FA5}">
                      <a16:colId xmlns:a16="http://schemas.microsoft.com/office/drawing/2014/main" val="2932862754"/>
                    </a:ext>
                  </a:extLst>
                </a:gridCol>
                <a:gridCol w="383833">
                  <a:extLst>
                    <a:ext uri="{9D8B030D-6E8A-4147-A177-3AD203B41FA5}">
                      <a16:colId xmlns:a16="http://schemas.microsoft.com/office/drawing/2014/main" val="46770146"/>
                    </a:ext>
                  </a:extLst>
                </a:gridCol>
                <a:gridCol w="382488">
                  <a:extLst>
                    <a:ext uri="{9D8B030D-6E8A-4147-A177-3AD203B41FA5}">
                      <a16:colId xmlns:a16="http://schemas.microsoft.com/office/drawing/2014/main" val="1890417728"/>
                    </a:ext>
                  </a:extLst>
                </a:gridCol>
                <a:gridCol w="483865">
                  <a:extLst>
                    <a:ext uri="{9D8B030D-6E8A-4147-A177-3AD203B41FA5}">
                      <a16:colId xmlns:a16="http://schemas.microsoft.com/office/drawing/2014/main" val="571835566"/>
                    </a:ext>
                  </a:extLst>
                </a:gridCol>
                <a:gridCol w="282457">
                  <a:extLst>
                    <a:ext uri="{9D8B030D-6E8A-4147-A177-3AD203B41FA5}">
                      <a16:colId xmlns:a16="http://schemas.microsoft.com/office/drawing/2014/main" val="856676432"/>
                    </a:ext>
                  </a:extLst>
                </a:gridCol>
                <a:gridCol w="383833">
                  <a:extLst>
                    <a:ext uri="{9D8B030D-6E8A-4147-A177-3AD203B41FA5}">
                      <a16:colId xmlns:a16="http://schemas.microsoft.com/office/drawing/2014/main" val="3442978177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484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94407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9179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917487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72948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4239"/>
                  </a:ext>
                </a:extLst>
              </a:tr>
            </a:tbl>
          </a:graphicData>
        </a:graphic>
      </p:graphicFrame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34ADF8CA-8368-4844-AA28-157B0CAE226B}"/>
              </a:ext>
            </a:extLst>
          </p:cNvPr>
          <p:cNvCxnSpPr/>
          <p:nvPr/>
        </p:nvCxnSpPr>
        <p:spPr>
          <a:xfrm>
            <a:off x="7189365" y="4001550"/>
            <a:ext cx="377504" cy="3607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B0EAEBF-B247-4A4C-992D-83F1883D6EB2}"/>
              </a:ext>
            </a:extLst>
          </p:cNvPr>
          <p:cNvCxnSpPr>
            <a:cxnSpLocks/>
          </p:cNvCxnSpPr>
          <p:nvPr/>
        </p:nvCxnSpPr>
        <p:spPr>
          <a:xfrm flipH="1">
            <a:off x="7189365" y="4001550"/>
            <a:ext cx="377504" cy="3607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63CD947-66A3-4964-A519-3BE1C7D2EE51}"/>
              </a:ext>
            </a:extLst>
          </p:cNvPr>
          <p:cNvCxnSpPr/>
          <p:nvPr/>
        </p:nvCxnSpPr>
        <p:spPr>
          <a:xfrm>
            <a:off x="7189365" y="5665082"/>
            <a:ext cx="377504" cy="3607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AB59808A-0AFF-4335-A29B-BA1A27B6C136}"/>
              </a:ext>
            </a:extLst>
          </p:cNvPr>
          <p:cNvCxnSpPr>
            <a:cxnSpLocks/>
          </p:cNvCxnSpPr>
          <p:nvPr/>
        </p:nvCxnSpPr>
        <p:spPr>
          <a:xfrm flipH="1">
            <a:off x="7189365" y="5665082"/>
            <a:ext cx="377504" cy="3607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571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962AEE-A572-4DDA-9D02-7B05AF62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degenerate pattern in a degenerate string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18B047-69C4-4119-968E-B1FED95EF7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0361" y="1938767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a,b,c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a,b,c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=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DCABA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{c}.{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}.{a}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{c}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≠∅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{c}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≠∅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{c}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≠∅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(BWT, s(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)-1) = 0, </a:t>
                </a: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(BWT, e(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charset="0"/>
                  </a:rPr>
                  <a:t>)) = 1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C</a:t>
                </a:r>
                <a:r>
                  <a:rPr lang="en-US" altLang="zh-TW" dirty="0">
                    <a:latin typeface="Times New Roman" charset="0"/>
                  </a:rPr>
                  <a:t>(BWT, s(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)-1) = 0, </a:t>
                </a:r>
                <a:r>
                  <a:rPr lang="en-US" altLang="zh-TW" dirty="0" err="1">
                    <a:latin typeface="Times New Roman" charset="0"/>
                  </a:rPr>
                  <a:t>rank</a:t>
                </a:r>
                <a:r>
                  <a:rPr lang="en-US" altLang="zh-TW" baseline="-25000" dirty="0" err="1">
                    <a:latin typeface="Times New Roman" charset="0"/>
                  </a:rPr>
                  <a:t>C</a:t>
                </a:r>
                <a:r>
                  <a:rPr lang="en-US" altLang="zh-TW" dirty="0">
                    <a:latin typeface="Times New Roman" charset="0"/>
                  </a:rPr>
                  <a:t>(BWT, e(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charset="0"/>
                  </a:rPr>
                  <a:t>)) = 1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endParaRPr lang="en-US" altLang="zh-TW" dirty="0">
                  <a:latin typeface="Times New Roman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18B047-69C4-4119-968E-B1FED95EF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0361" y="1938767"/>
                <a:ext cx="10515600" cy="4351338"/>
              </a:xfrm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DE1947B-159D-431B-8505-4200559A2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800224"/>
              </p:ext>
            </p:extLst>
          </p:nvPr>
        </p:nvGraphicFramePr>
        <p:xfrm>
          <a:off x="8254767" y="2876645"/>
          <a:ext cx="4080529" cy="3413460"/>
        </p:xfrm>
        <a:graphic>
          <a:graphicData uri="http://schemas.openxmlformats.org/drawingml/2006/table">
            <a:tbl>
              <a:tblPr/>
              <a:tblGrid>
                <a:gridCol w="765918">
                  <a:extLst>
                    <a:ext uri="{9D8B030D-6E8A-4147-A177-3AD203B41FA5}">
                      <a16:colId xmlns:a16="http://schemas.microsoft.com/office/drawing/2014/main" val="3038636695"/>
                    </a:ext>
                  </a:extLst>
                </a:gridCol>
                <a:gridCol w="544138">
                  <a:extLst>
                    <a:ext uri="{9D8B030D-6E8A-4147-A177-3AD203B41FA5}">
                      <a16:colId xmlns:a16="http://schemas.microsoft.com/office/drawing/2014/main" val="2911378663"/>
                    </a:ext>
                  </a:extLst>
                </a:gridCol>
                <a:gridCol w="426465">
                  <a:extLst>
                    <a:ext uri="{9D8B030D-6E8A-4147-A177-3AD203B41FA5}">
                      <a16:colId xmlns:a16="http://schemas.microsoft.com/office/drawing/2014/main" val="3828369655"/>
                    </a:ext>
                  </a:extLst>
                </a:gridCol>
                <a:gridCol w="427532">
                  <a:extLst>
                    <a:ext uri="{9D8B030D-6E8A-4147-A177-3AD203B41FA5}">
                      <a16:colId xmlns:a16="http://schemas.microsoft.com/office/drawing/2014/main" val="2932862754"/>
                    </a:ext>
                  </a:extLst>
                </a:gridCol>
                <a:gridCol w="383833">
                  <a:extLst>
                    <a:ext uri="{9D8B030D-6E8A-4147-A177-3AD203B41FA5}">
                      <a16:colId xmlns:a16="http://schemas.microsoft.com/office/drawing/2014/main" val="46770146"/>
                    </a:ext>
                  </a:extLst>
                </a:gridCol>
                <a:gridCol w="382488">
                  <a:extLst>
                    <a:ext uri="{9D8B030D-6E8A-4147-A177-3AD203B41FA5}">
                      <a16:colId xmlns:a16="http://schemas.microsoft.com/office/drawing/2014/main" val="1890417728"/>
                    </a:ext>
                  </a:extLst>
                </a:gridCol>
                <a:gridCol w="483865">
                  <a:extLst>
                    <a:ext uri="{9D8B030D-6E8A-4147-A177-3AD203B41FA5}">
                      <a16:colId xmlns:a16="http://schemas.microsoft.com/office/drawing/2014/main" val="571835566"/>
                    </a:ext>
                  </a:extLst>
                </a:gridCol>
                <a:gridCol w="282457">
                  <a:extLst>
                    <a:ext uri="{9D8B030D-6E8A-4147-A177-3AD203B41FA5}">
                      <a16:colId xmlns:a16="http://schemas.microsoft.com/office/drawing/2014/main" val="856676432"/>
                    </a:ext>
                  </a:extLst>
                </a:gridCol>
                <a:gridCol w="383833">
                  <a:extLst>
                    <a:ext uri="{9D8B030D-6E8A-4147-A177-3AD203B41FA5}">
                      <a16:colId xmlns:a16="http://schemas.microsoft.com/office/drawing/2014/main" val="3442978177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1414" marR="91414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484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944074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917909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917487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729482"/>
                  </a:ext>
                </a:extLst>
              </a:tr>
              <a:tr h="579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14" marR="91414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690" marB="45690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新細明體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32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T="45690" marB="4569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896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8094F-375F-4422-A72C-A679CE59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443174-7314-4B86-8C20-E6BE3556D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20CE4C7-EE45-488A-B116-C6450FFCE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621" y="3970091"/>
            <a:ext cx="6981825" cy="26479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96D9A3C-A016-4B99-BBC5-092D61D36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621" y="1636466"/>
            <a:ext cx="7334250" cy="23336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AFBF75-1821-4C37-A4CE-098056576684}"/>
              </a:ext>
            </a:extLst>
          </p:cNvPr>
          <p:cNvSpPr/>
          <p:nvPr/>
        </p:nvSpPr>
        <p:spPr>
          <a:xfrm>
            <a:off x="3061982" y="2788138"/>
            <a:ext cx="6695507" cy="2942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5CB4CF-048E-464E-8916-0E7787649881}"/>
              </a:ext>
            </a:extLst>
          </p:cNvPr>
          <p:cNvSpPr/>
          <p:nvPr/>
        </p:nvSpPr>
        <p:spPr>
          <a:xfrm>
            <a:off x="3466053" y="5692127"/>
            <a:ext cx="5866394" cy="2942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58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13A90E-36BF-4720-BFA8-2E3AC8D4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ECDE10-471C-4A92-AAF8-9F4ABE26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5959"/>
            <a:ext cx="9892004" cy="3751004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CBD34EC-F7AA-4128-8F0D-8B90CD53C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2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33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FC0CE-B9C3-4D04-88D9-E0B4F206E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2641C1-2D1C-4881-90A9-96533F9CB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075" y="1800458"/>
            <a:ext cx="2390192" cy="1325563"/>
          </a:xfrm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2F7ED23-7E61-47B9-B763-B67E67F53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0458"/>
            <a:ext cx="12192000" cy="436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95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12859</TotalTime>
  <Words>1319</Words>
  <Application>Microsoft Office PowerPoint</Application>
  <PresentationFormat>寬螢幕</PresentationFormat>
  <Paragraphs>783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Office 佈景主題</vt:lpstr>
      <vt:lpstr>Efficient pattern matching in degenerate strings with Burrows-Wheeler transform</vt:lpstr>
      <vt:lpstr>Abstract </vt:lpstr>
      <vt:lpstr>Conservative degenerate string</vt:lpstr>
      <vt:lpstr>Degenerate string matching</vt:lpstr>
      <vt:lpstr>Burrows-Wheeler Transform</vt:lpstr>
      <vt:lpstr>Burrows-Wheeler Transform</vt:lpstr>
      <vt:lpstr>Burrows-Wheeler Transform</vt:lpstr>
      <vt:lpstr>Burrows-Wheeler Transform</vt:lpstr>
      <vt:lpstr>Burrows-Wheeler Transform</vt:lpstr>
      <vt:lpstr>Searching degenerate pattern in a degenerate string</vt:lpstr>
      <vt:lpstr>Searching degenerate pattern in a degenerate string</vt:lpstr>
      <vt:lpstr>Searching degenerate pattern in a degenerate string</vt:lpstr>
      <vt:lpstr>Searching degenerate pattern in a degenerate string</vt:lpstr>
      <vt:lpstr>Searching degenerate pattern in a degenerate string</vt:lpstr>
      <vt:lpstr>Pseudocode</vt:lpstr>
      <vt:lpstr>Experiment</vt:lpstr>
      <vt:lpstr>Experiment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冠霖</dc:creator>
  <cp:lastModifiedBy>pplabeveryone</cp:lastModifiedBy>
  <cp:revision>191</cp:revision>
  <dcterms:created xsi:type="dcterms:W3CDTF">2019-02-17T13:02:40Z</dcterms:created>
  <dcterms:modified xsi:type="dcterms:W3CDTF">2019-10-01T10:22:42Z</dcterms:modified>
</cp:coreProperties>
</file>