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311" r:id="rId3"/>
    <p:sldId id="312" r:id="rId4"/>
    <p:sldId id="322" r:id="rId5"/>
    <p:sldId id="334" r:id="rId6"/>
    <p:sldId id="327" r:id="rId7"/>
    <p:sldId id="328" r:id="rId8"/>
    <p:sldId id="329" r:id="rId9"/>
    <p:sldId id="333" r:id="rId10"/>
    <p:sldId id="330" r:id="rId11"/>
    <p:sldId id="331" r:id="rId12"/>
    <p:sldId id="335" r:id="rId13"/>
    <p:sldId id="321" r:id="rId14"/>
    <p:sldId id="317" r:id="rId15"/>
    <p:sldId id="324" r:id="rId16"/>
    <p:sldId id="318" r:id="rId17"/>
    <p:sldId id="319" r:id="rId18"/>
    <p:sldId id="325" r:id="rId19"/>
    <p:sldId id="320" r:id="rId20"/>
    <p:sldId id="337" r:id="rId21"/>
    <p:sldId id="336" r:id="rId22"/>
    <p:sldId id="315"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6666FF"/>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1520" autoAdjust="0"/>
  </p:normalViewPr>
  <p:slideViewPr>
    <p:cSldViewPr snapToGrid="0">
      <p:cViewPr varScale="1">
        <p:scale>
          <a:sx n="56" d="100"/>
          <a:sy n="56" d="100"/>
        </p:scale>
        <p:origin x="1604" y="4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2019/10/1</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google.com/search?q=eleginops+maclovinus&amp;sxsrf=ACYBGNT4itv1OJ1wjJN6ReYANZQImsBvKQ:1569855195903&amp;tbm=isch&amp;source=iu&amp;ictx=1&amp;fir=wLOIMLie-44KkM:,Mg2pmSOrC9ay6M,/m/0g55zyz&amp;vet=1&amp;usg=AI4_-kTbwO5cQsX0wiF5oU5qnc0DocWXCA&amp;sa=X&amp;ved=2ahUKEwjMybOq5vjkAhUIyosBHU6VDhYQ_B0wE3oECAgQAw#imgrc=wLOIMLie-44KkM:"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4250931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62223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159382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368449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2598439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975372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2269151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3527946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1813994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smtClean="0">
                <a:solidFill>
                  <a:schemeClr val="tx1"/>
                </a:solidFill>
                <a:effectLst/>
                <a:latin typeface="+mn-lt"/>
                <a:ea typeface="+mn-ea"/>
                <a:cs typeface="+mn-cs"/>
              </a:rPr>
              <a:t>細胞色素</a:t>
            </a:r>
            <a:r>
              <a:rPr lang="en-US" altLang="zh-TW" sz="1200" b="0" i="0" kern="1200" dirty="0" smtClean="0">
                <a:solidFill>
                  <a:schemeClr val="tx1"/>
                </a:solidFill>
                <a:effectLst/>
                <a:latin typeface="+mn-lt"/>
                <a:ea typeface="+mn-ea"/>
                <a:cs typeface="+mn-cs"/>
              </a:rPr>
              <a:t>c</a:t>
            </a:r>
            <a:r>
              <a:rPr lang="zh-TW" altLang="en-US" sz="1200" b="0" i="0" kern="1200" dirty="0" smtClean="0">
                <a:solidFill>
                  <a:schemeClr val="tx1"/>
                </a:solidFill>
                <a:effectLst/>
                <a:latin typeface="+mn-lt"/>
                <a:ea typeface="+mn-ea"/>
                <a:cs typeface="+mn-cs"/>
              </a:rPr>
              <a:t> </a:t>
            </a:r>
            <a:r>
              <a:rPr lang="en-US" altLang="zh-TW" sz="1200" b="1" dirty="0" smtClean="0">
                <a:latin typeface="Times New Roman" panose="02020603050405020304" pitchFamily="18" charset="0"/>
                <a:cs typeface="Times New Roman" panose="02020603050405020304" pitchFamily="18" charset="0"/>
              </a:rPr>
              <a:t>cytochrome </a:t>
            </a:r>
            <a:r>
              <a:rPr lang="en-US" altLang="zh-TW" sz="1200" b="1" i="1" dirty="0" smtClean="0">
                <a:latin typeface="Times New Roman" panose="02020603050405020304" pitchFamily="18" charset="0"/>
                <a:cs typeface="Times New Roman" panose="02020603050405020304" pitchFamily="18" charset="0"/>
              </a:rPr>
              <a:t>c</a:t>
            </a:r>
            <a:endParaRPr lang="en-US" altLang="zh-TW"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zh-TW" sz="1200" b="0" i="0" kern="1200" dirty="0" smtClean="0">
                <a:solidFill>
                  <a:schemeClr val="tx1"/>
                </a:solidFill>
                <a:effectLst/>
                <a:latin typeface="+mn-lt"/>
                <a:ea typeface="+mn-ea"/>
                <a:cs typeface="+mn-cs"/>
              </a:rPr>
              <a:t>北方</a:t>
            </a:r>
            <a:r>
              <a:rPr lang="zh-TW" altLang="zh-TW" sz="1200" b="0" i="0" kern="1200" dirty="0" smtClean="0">
                <a:solidFill>
                  <a:schemeClr val="tx1"/>
                </a:solidFill>
                <a:effectLst/>
                <a:latin typeface="+mn-lt"/>
                <a:ea typeface="+mn-ea"/>
                <a:cs typeface="+mn-cs"/>
              </a:rPr>
              <a:t>藍鰭金槍魚</a:t>
            </a:r>
            <a:r>
              <a:rPr lang="zh-TW" altLang="en-US" sz="1200" b="0" i="0" kern="1200" dirty="0" smtClean="0">
                <a:solidFill>
                  <a:schemeClr val="tx1"/>
                </a:solidFill>
                <a:effectLst/>
                <a:latin typeface="+mn-lt"/>
                <a:ea typeface="+mn-ea"/>
                <a:cs typeface="+mn-cs"/>
              </a:rPr>
              <a:t>  </a:t>
            </a:r>
            <a:r>
              <a:rPr lang="la-Latn" altLang="zh-TW" sz="1200" b="0" i="1" kern="1200" dirty="0" smtClean="0">
                <a:solidFill>
                  <a:schemeClr val="tx1"/>
                </a:solidFill>
                <a:effectLst/>
                <a:latin typeface="+mn-lt"/>
                <a:ea typeface="+mn-ea"/>
                <a:cs typeface="+mn-cs"/>
              </a:rPr>
              <a:t>Thunnus thynnus</a:t>
            </a:r>
            <a:endParaRPr lang="zh-TW" altLang="zh-TW" sz="1200" b="0" i="0" kern="1200" dirty="0" smtClean="0">
              <a:solidFill>
                <a:schemeClr val="tx1"/>
              </a:solidFill>
              <a:effectLst/>
              <a:latin typeface="+mn-lt"/>
              <a:ea typeface="+mn-ea"/>
              <a:cs typeface="+mn-cs"/>
            </a:endParaRPr>
          </a:p>
          <a:p>
            <a:r>
              <a:rPr lang="zh-TW" altLang="en-US" sz="1200" b="0" i="0" kern="1200" dirty="0" smtClean="0">
                <a:solidFill>
                  <a:schemeClr val="tx1"/>
                </a:solidFill>
                <a:effectLst/>
                <a:latin typeface="+mn-lt"/>
                <a:ea typeface="+mn-ea"/>
                <a:cs typeface="+mn-cs"/>
              </a:rPr>
              <a:t>正鰹 </a:t>
            </a:r>
            <a:r>
              <a:rPr lang="en-US" altLang="zh-TW" sz="1200" b="0" i="0" kern="1200" dirty="0" err="1" smtClean="0">
                <a:solidFill>
                  <a:schemeClr val="tx1"/>
                </a:solidFill>
                <a:effectLst/>
                <a:latin typeface="+mn-lt"/>
                <a:ea typeface="+mn-ea"/>
                <a:cs typeface="+mn-cs"/>
              </a:rPr>
              <a:t>Katsuwonus</a:t>
            </a:r>
            <a:r>
              <a:rPr lang="en-US" altLang="zh-TW" sz="1200" b="0" i="0" kern="1200" dirty="0" smtClean="0">
                <a:solidFill>
                  <a:schemeClr val="tx1"/>
                </a:solidFill>
                <a:effectLst/>
                <a:latin typeface="+mn-lt"/>
                <a:ea typeface="+mn-ea"/>
                <a:cs typeface="+mn-cs"/>
              </a:rPr>
              <a:t> </a:t>
            </a:r>
            <a:r>
              <a:rPr lang="en-US" altLang="zh-TW" sz="1200" b="0" i="0" kern="1200" dirty="0" err="1" smtClean="0">
                <a:solidFill>
                  <a:schemeClr val="tx1"/>
                </a:solidFill>
                <a:effectLst/>
                <a:latin typeface="+mn-lt"/>
                <a:ea typeface="+mn-ea"/>
                <a:cs typeface="+mn-cs"/>
              </a:rPr>
              <a:t>pelamis</a:t>
            </a:r>
            <a:endParaRPr lang="en-US" altLang="zh-TW" sz="1200" b="0" i="0" kern="1200" dirty="0" smtClean="0">
              <a:solidFill>
                <a:schemeClr val="tx1"/>
              </a:solidFill>
              <a:effectLst/>
              <a:latin typeface="+mn-lt"/>
              <a:ea typeface="+mn-ea"/>
              <a:cs typeface="+mn-cs"/>
            </a:endParaRPr>
          </a:p>
          <a:p>
            <a:r>
              <a:rPr lang="zh-TW" altLang="en-US" dirty="0" smtClean="0"/>
              <a:t>酸性硫氧化鐵桿菌 </a:t>
            </a:r>
            <a:r>
              <a:rPr lang="en-US" altLang="zh-TW" dirty="0" err="1" smtClean="0"/>
              <a:t>acidithiobacillus</a:t>
            </a:r>
            <a:r>
              <a:rPr lang="en-US" altLang="zh-TW" dirty="0" smtClean="0"/>
              <a:t> </a:t>
            </a:r>
            <a:r>
              <a:rPr lang="en-US" altLang="zh-TW" dirty="0" err="1" smtClean="0"/>
              <a:t>ferrooxidans</a:t>
            </a:r>
            <a:endParaRPr lang="zh-TW" alt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釀酒酵母 </a:t>
            </a:r>
            <a:r>
              <a:rPr lang="en-US" altLang="zh-TW" dirty="0" smtClean="0"/>
              <a:t>  cerevisiae yeast</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副球菌 </a:t>
            </a:r>
            <a:r>
              <a:rPr lang="en-US" altLang="zh-TW" dirty="0" err="1" smtClean="0"/>
              <a:t>paracoccus</a:t>
            </a:r>
            <a:r>
              <a:rPr lang="en-US" altLang="zh-TW" dirty="0" smtClean="0"/>
              <a:t> </a:t>
            </a:r>
            <a:r>
              <a:rPr lang="en-US" altLang="zh-TW" dirty="0" err="1" smtClean="0"/>
              <a:t>versutus</a:t>
            </a:r>
            <a:endParaRPr lang="zh-TW" altLang="en-US" dirty="0" smtClean="0"/>
          </a:p>
          <a:p>
            <a:endParaRPr lang="en-US" altLang="zh-TW" dirty="0" smtClean="0"/>
          </a:p>
          <a:p>
            <a:r>
              <a:rPr lang="zh-TW" altLang="en-US" dirty="0" smtClean="0"/>
              <a:t>我們還希望看到結構比較在將不同物種的同源蛋白聚集成系統發育樹中的性能。但是，受目前解決的蛋白質結構數量的限制，我們不能選擇由公認的條形碼基因編碼的蛋白質，例如細胞色素</a:t>
            </a:r>
            <a:r>
              <a:rPr lang="en-US" altLang="zh-TW" dirty="0" smtClean="0"/>
              <a:t>c</a:t>
            </a:r>
            <a:r>
              <a:rPr lang="zh-TW" altLang="en-US" dirty="0" smtClean="0"/>
              <a:t>氧化酶</a:t>
            </a:r>
            <a:r>
              <a:rPr lang="en-US" altLang="zh-TW" dirty="0" smtClean="0"/>
              <a:t>I</a:t>
            </a:r>
            <a:r>
              <a:rPr lang="zh-TW" altLang="en-US" dirty="0" smtClean="0"/>
              <a:t>（</a:t>
            </a:r>
            <a:r>
              <a:rPr lang="en-US" altLang="zh-TW" dirty="0" smtClean="0"/>
              <a:t>COI</a:t>
            </a:r>
            <a:r>
              <a:rPr lang="zh-TW" altLang="en-US" dirty="0" smtClean="0"/>
              <a:t>）或細胞色素</a:t>
            </a:r>
            <a:r>
              <a:rPr lang="en-US" altLang="zh-TW" dirty="0" smtClean="0"/>
              <a:t>b</a:t>
            </a:r>
            <a:r>
              <a:rPr lang="zh-TW" altLang="en-US" dirty="0" smtClean="0"/>
              <a:t>（</a:t>
            </a:r>
            <a:r>
              <a:rPr lang="en-US" altLang="zh-TW" dirty="0" smtClean="0"/>
              <a:t>Hebert</a:t>
            </a:r>
            <a:r>
              <a:rPr lang="zh-TW" altLang="en-US" dirty="0" smtClean="0"/>
              <a:t>，</a:t>
            </a:r>
            <a:r>
              <a:rPr lang="en-US" altLang="zh-TW" dirty="0" err="1" smtClean="0"/>
              <a:t>Ratnasingham</a:t>
            </a:r>
            <a:r>
              <a:rPr lang="zh-TW" altLang="en-US" dirty="0" smtClean="0"/>
              <a:t>，＆</a:t>
            </a:r>
            <a:r>
              <a:rPr lang="en-US" altLang="zh-TW" dirty="0" smtClean="0"/>
              <a:t>de </a:t>
            </a:r>
            <a:r>
              <a:rPr lang="en-US" altLang="zh-TW" dirty="0" err="1" smtClean="0"/>
              <a:t>Waard</a:t>
            </a:r>
            <a:r>
              <a:rPr lang="zh-TW" altLang="en-US" dirty="0" smtClean="0"/>
              <a:t>，</a:t>
            </a:r>
            <a:r>
              <a:rPr lang="en-US" altLang="zh-TW" dirty="0" smtClean="0"/>
              <a:t>2003</a:t>
            </a:r>
            <a:r>
              <a:rPr lang="zh-TW" altLang="en-US" dirty="0" smtClean="0"/>
              <a:t>）。 。考慮到已解決的現有結構數量以及進化過程中的保守程度，我們選擇了細胞色素</a:t>
            </a:r>
            <a:r>
              <a:rPr lang="en-US" altLang="zh-TW" dirty="0" smtClean="0"/>
              <a:t>c</a:t>
            </a:r>
            <a:r>
              <a:rPr lang="zh-TW" altLang="en-US" dirty="0" smtClean="0"/>
              <a:t>作為我們的第一個分子標記（</a:t>
            </a:r>
            <a:r>
              <a:rPr lang="en-US" altLang="zh-TW" dirty="0" smtClean="0"/>
              <a:t>Wilson</a:t>
            </a:r>
            <a:r>
              <a:rPr lang="zh-TW" altLang="en-US" dirty="0" smtClean="0"/>
              <a:t>＆</a:t>
            </a:r>
            <a:r>
              <a:rPr lang="en-US" altLang="zh-TW" dirty="0" err="1" smtClean="0"/>
              <a:t>Sarich</a:t>
            </a:r>
            <a:r>
              <a:rPr lang="zh-TW" altLang="en-US" dirty="0" smtClean="0"/>
              <a:t>，</a:t>
            </a:r>
            <a:r>
              <a:rPr lang="en-US" altLang="zh-TW" dirty="0" smtClean="0"/>
              <a:t>1969</a:t>
            </a:r>
            <a:r>
              <a:rPr lang="zh-TW" altLang="en-US" dirty="0" smtClean="0"/>
              <a:t>）。在使用（</a:t>
            </a:r>
            <a:r>
              <a:rPr lang="en-US" altLang="zh-TW" dirty="0" smtClean="0"/>
              <a:t>3D</a:t>
            </a:r>
            <a:r>
              <a:rPr lang="zh-TW" altLang="en-US" dirty="0" smtClean="0"/>
              <a:t>）</a:t>
            </a:r>
            <a:r>
              <a:rPr lang="en-US" altLang="zh-TW" dirty="0" err="1" smtClean="0"/>
              <a:t>Yau</a:t>
            </a:r>
            <a:r>
              <a:rPr lang="en-US" altLang="zh-TW" dirty="0" smtClean="0"/>
              <a:t> – </a:t>
            </a:r>
            <a:r>
              <a:rPr lang="en-US" altLang="zh-TW" dirty="0" err="1" smtClean="0"/>
              <a:t>Hausdorff</a:t>
            </a:r>
            <a:r>
              <a:rPr lang="zh-TW" altLang="en-US" dirty="0" smtClean="0"/>
              <a:t>距離比較九種物種中細胞色素</a:t>
            </a:r>
            <a:r>
              <a:rPr lang="en-US" altLang="zh-TW" dirty="0" smtClean="0"/>
              <a:t>c</a:t>
            </a:r>
            <a:r>
              <a:rPr lang="zh-TW" altLang="en-US" dirty="0" smtClean="0"/>
              <a:t>的結構後，我們得到了距離矩陣並構建了圖</a:t>
            </a:r>
            <a:r>
              <a:rPr lang="en-US" altLang="zh-TW" dirty="0" smtClean="0"/>
              <a:t>4</a:t>
            </a:r>
            <a:r>
              <a:rPr lang="zh-TW" altLang="en-US" dirty="0" smtClean="0"/>
              <a:t>所示的</a:t>
            </a:r>
            <a:r>
              <a:rPr lang="en-US" altLang="zh-TW" dirty="0" smtClean="0"/>
              <a:t>UPGMA</a:t>
            </a:r>
            <a:r>
              <a:rPr lang="zh-TW" altLang="en-US" dirty="0" smtClean="0"/>
              <a:t>系統樹。為進行比較，我們還使用了序列比對和自然載體方法生成相同</a:t>
            </a:r>
            <a:r>
              <a:rPr lang="en-US" altLang="zh-TW" dirty="0" smtClean="0"/>
              <a:t>9</a:t>
            </a:r>
            <a:r>
              <a:rPr lang="zh-TW" altLang="en-US" dirty="0" smtClean="0"/>
              <a:t>種</a:t>
            </a:r>
            <a:r>
              <a:rPr lang="en-US" altLang="zh-TW" dirty="0" smtClean="0"/>
              <a:t>UPGMA</a:t>
            </a:r>
            <a:r>
              <a:rPr lang="zh-TW" altLang="en-US" dirty="0" smtClean="0"/>
              <a:t>系統發育樹。對於序列比對方法，我們使用</a:t>
            </a:r>
            <a:r>
              <a:rPr lang="en-US" altLang="zh-TW" dirty="0" smtClean="0"/>
              <a:t>BLOSUM</a:t>
            </a:r>
            <a:r>
              <a:rPr lang="zh-TW" altLang="en-US" dirty="0" smtClean="0"/>
              <a:t>矩陣作為替換矩陣。從細菌到哺乳動物，所選擇的</a:t>
            </a:r>
            <a:r>
              <a:rPr lang="en-US" altLang="zh-TW" dirty="0" smtClean="0"/>
              <a:t>9</a:t>
            </a:r>
            <a:r>
              <a:rPr lang="zh-TW" altLang="en-US" dirty="0" smtClean="0"/>
              <a:t>個物種各不相同，這在進化距離上有很大的跨度。從結果中，我們可以看到，由三個不同定義的距離生成的三個系統發育樹之間存在一致性和差異性。在所有三種方法中，鼠標和馬都聚集到一個分支中。在（</a:t>
            </a:r>
            <a:r>
              <a:rPr lang="en-US" altLang="zh-TW" dirty="0" smtClean="0"/>
              <a:t>3D</a:t>
            </a:r>
            <a:r>
              <a:rPr lang="zh-TW" altLang="en-US" dirty="0" smtClean="0"/>
              <a:t>）</a:t>
            </a:r>
            <a:r>
              <a:rPr lang="en-US" altLang="zh-TW" dirty="0" err="1" smtClean="0"/>
              <a:t>Yau</a:t>
            </a:r>
            <a:r>
              <a:rPr lang="en-US" altLang="zh-TW" dirty="0" smtClean="0"/>
              <a:t> – </a:t>
            </a:r>
            <a:r>
              <a:rPr lang="en-US" altLang="zh-TW" dirty="0" err="1" smtClean="0"/>
              <a:t>Hausdorff</a:t>
            </a:r>
            <a:r>
              <a:rPr lang="zh-TW" altLang="en-US" dirty="0" smtClean="0"/>
              <a:t>和序列比對方法中，兩種金槍魚聚集成同一分支。在通過（</a:t>
            </a:r>
            <a:r>
              <a:rPr lang="en-US" altLang="zh-TW" dirty="0" smtClean="0"/>
              <a:t>3D</a:t>
            </a:r>
            <a:r>
              <a:rPr lang="zh-TW" altLang="en-US" dirty="0" smtClean="0"/>
              <a:t>）</a:t>
            </a:r>
            <a:r>
              <a:rPr lang="en-US" altLang="zh-TW" dirty="0" err="1" smtClean="0"/>
              <a:t>Yau</a:t>
            </a:r>
            <a:r>
              <a:rPr lang="en-US" altLang="zh-TW" dirty="0" smtClean="0"/>
              <a:t> – </a:t>
            </a:r>
            <a:r>
              <a:rPr lang="en-US" altLang="zh-TW" dirty="0" err="1" smtClean="0"/>
              <a:t>Hausdorff</a:t>
            </a:r>
            <a:r>
              <a:rPr lang="zh-TW" altLang="en-US" dirty="0" smtClean="0"/>
              <a:t>方法生成的系統發育樹中，同一分支中的物種屬於同一類，但是四種哺乳動物被分為兩個遠程分支。與通過序列比對生成的樹（細菌魚類和哺乳動物是自下而上的順序）相比，（</a:t>
            </a:r>
            <a:r>
              <a:rPr lang="en-US" altLang="zh-TW" dirty="0" smtClean="0"/>
              <a:t>3D</a:t>
            </a:r>
            <a:r>
              <a:rPr lang="zh-TW" altLang="en-US" dirty="0" smtClean="0"/>
              <a:t>）</a:t>
            </a:r>
            <a:r>
              <a:rPr lang="en-US" altLang="zh-TW" dirty="0" err="1" smtClean="0"/>
              <a:t>Yau</a:t>
            </a:r>
            <a:r>
              <a:rPr lang="en-US" altLang="zh-TW" dirty="0" smtClean="0"/>
              <a:t> – </a:t>
            </a:r>
            <a:r>
              <a:rPr lang="en-US" altLang="zh-TW" dirty="0" err="1" smtClean="0"/>
              <a:t>Hausdorff</a:t>
            </a:r>
            <a:r>
              <a:rPr lang="zh-TW" altLang="en-US" dirty="0" smtClean="0"/>
              <a:t>樹顯示出較差的物種等級。但是，序列比對方法有一個錯誤，即牛群靠近細菌，進化水平很低。這可能是由於所選物種之間的進化距離過大所致。因此，總的來說，基於結構比較的系統發育分析是通過（</a:t>
            </a:r>
            <a:r>
              <a:rPr lang="en-US" altLang="zh-TW" dirty="0" smtClean="0"/>
              <a:t>3D</a:t>
            </a:r>
            <a:r>
              <a:rPr lang="zh-TW" altLang="en-US" dirty="0" smtClean="0"/>
              <a:t>）</a:t>
            </a:r>
            <a:r>
              <a:rPr lang="en-US" altLang="zh-TW" dirty="0" err="1" smtClean="0"/>
              <a:t>Yau</a:t>
            </a:r>
            <a:r>
              <a:rPr lang="en-US" altLang="zh-TW" dirty="0" smtClean="0"/>
              <a:t> – </a:t>
            </a:r>
            <a:r>
              <a:rPr lang="en-US" altLang="zh-TW" dirty="0" err="1" smtClean="0"/>
              <a:t>Hausdorff</a:t>
            </a:r>
            <a:r>
              <a:rPr lang="zh-TW" altLang="en-US" dirty="0" smtClean="0"/>
              <a:t>距離選擇細胞色素</a:t>
            </a:r>
            <a:r>
              <a:rPr lang="en-US" altLang="zh-TW" dirty="0" smtClean="0"/>
              <a:t>c</a:t>
            </a:r>
            <a:r>
              <a:rPr lang="zh-TW" altLang="en-US" dirty="0" smtClean="0"/>
              <a:t>作為分子條形碼計算得出的，可以實現物種的基本聚類。與序列比對方法相比，每種方法都有其自身的缺點。結構比較可以很好地將物種分類為簇，並且序列比對更能顯示進化層次。</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3702760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zh-TW" sz="1200" b="0" i="0" kern="1200" dirty="0" smtClean="0">
                <a:solidFill>
                  <a:schemeClr val="tx1"/>
                </a:solidFill>
                <a:effectLst/>
                <a:latin typeface="+mn-lt"/>
                <a:ea typeface="+mn-ea"/>
                <a:cs typeface="+mn-cs"/>
              </a:rPr>
              <a:t>北方</a:t>
            </a:r>
            <a:r>
              <a:rPr lang="zh-TW" altLang="zh-TW" sz="1200" b="0" i="0" kern="1200" dirty="0" smtClean="0">
                <a:solidFill>
                  <a:schemeClr val="tx1"/>
                </a:solidFill>
                <a:effectLst/>
                <a:latin typeface="+mn-lt"/>
                <a:ea typeface="+mn-ea"/>
                <a:cs typeface="+mn-cs"/>
              </a:rPr>
              <a:t>藍鰭金槍魚</a:t>
            </a:r>
            <a:r>
              <a:rPr lang="zh-TW" altLang="en-US" sz="1200" b="0" i="0" kern="1200" dirty="0" smtClean="0">
                <a:solidFill>
                  <a:schemeClr val="tx1"/>
                </a:solidFill>
                <a:effectLst/>
                <a:latin typeface="+mn-lt"/>
                <a:ea typeface="+mn-ea"/>
                <a:cs typeface="+mn-cs"/>
              </a:rPr>
              <a:t>  </a:t>
            </a:r>
            <a:r>
              <a:rPr lang="la-Latn" altLang="zh-TW" sz="1200" b="0" i="1" kern="1200" dirty="0" smtClean="0">
                <a:solidFill>
                  <a:schemeClr val="tx1"/>
                </a:solidFill>
                <a:effectLst/>
                <a:latin typeface="+mn-lt"/>
                <a:ea typeface="+mn-ea"/>
                <a:cs typeface="+mn-cs"/>
              </a:rPr>
              <a:t>Thunnus thynnus</a:t>
            </a:r>
            <a:endParaRPr lang="zh-TW" altLang="zh-TW" sz="1200" b="0" i="0" kern="1200" dirty="0" smtClean="0">
              <a:solidFill>
                <a:schemeClr val="tx1"/>
              </a:solidFill>
              <a:effectLst/>
              <a:latin typeface="+mn-lt"/>
              <a:ea typeface="+mn-ea"/>
              <a:cs typeface="+mn-cs"/>
            </a:endParaRPr>
          </a:p>
          <a:p>
            <a:r>
              <a:rPr lang="zh-TW" altLang="en-US" sz="1200" b="0" i="0" kern="1200" dirty="0" smtClean="0">
                <a:solidFill>
                  <a:schemeClr val="tx1"/>
                </a:solidFill>
                <a:effectLst/>
                <a:latin typeface="+mn-lt"/>
                <a:ea typeface="+mn-ea"/>
                <a:cs typeface="+mn-cs"/>
              </a:rPr>
              <a:t>正鰹 </a:t>
            </a:r>
            <a:r>
              <a:rPr lang="en-US" altLang="zh-TW" sz="1200" b="0" i="0" kern="1200" dirty="0" err="1" smtClean="0">
                <a:solidFill>
                  <a:schemeClr val="tx1"/>
                </a:solidFill>
                <a:effectLst/>
                <a:latin typeface="+mn-lt"/>
                <a:ea typeface="+mn-ea"/>
                <a:cs typeface="+mn-cs"/>
              </a:rPr>
              <a:t>Katsuwonus</a:t>
            </a:r>
            <a:r>
              <a:rPr lang="en-US" altLang="zh-TW" sz="1200" b="0" i="0" kern="1200" dirty="0" smtClean="0">
                <a:solidFill>
                  <a:schemeClr val="tx1"/>
                </a:solidFill>
                <a:effectLst/>
                <a:latin typeface="+mn-lt"/>
                <a:ea typeface="+mn-ea"/>
                <a:cs typeface="+mn-cs"/>
              </a:rPr>
              <a:t> </a:t>
            </a:r>
            <a:r>
              <a:rPr lang="en-US" altLang="zh-TW" sz="1200" b="0" i="0" kern="1200" dirty="0" err="1" smtClean="0">
                <a:solidFill>
                  <a:schemeClr val="tx1"/>
                </a:solidFill>
                <a:effectLst/>
                <a:latin typeface="+mn-lt"/>
                <a:ea typeface="+mn-ea"/>
                <a:cs typeface="+mn-cs"/>
              </a:rPr>
              <a:t>pelamis</a:t>
            </a:r>
            <a:endParaRPr lang="en-US" altLang="zh-TW" sz="1200" b="0" i="0" kern="1200" dirty="0" smtClean="0">
              <a:solidFill>
                <a:schemeClr val="tx1"/>
              </a:solidFill>
              <a:effectLst/>
              <a:latin typeface="+mn-lt"/>
              <a:ea typeface="+mn-ea"/>
              <a:cs typeface="+mn-cs"/>
            </a:endParaRPr>
          </a:p>
          <a:p>
            <a:r>
              <a:rPr lang="zh-TW" altLang="en-US" dirty="0" smtClean="0"/>
              <a:t>酸性硫氧化鐵桿菌 </a:t>
            </a:r>
            <a:r>
              <a:rPr lang="en-US" altLang="zh-TW" dirty="0" err="1" smtClean="0"/>
              <a:t>acidithiobacillus</a:t>
            </a:r>
            <a:r>
              <a:rPr lang="en-US" altLang="zh-TW" dirty="0" smtClean="0"/>
              <a:t> </a:t>
            </a:r>
            <a:r>
              <a:rPr lang="en-US" altLang="zh-TW" dirty="0" err="1" smtClean="0"/>
              <a:t>ferrooxidans</a:t>
            </a:r>
            <a:endParaRPr lang="zh-TW" alt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釀酒酵母 </a:t>
            </a:r>
            <a:r>
              <a:rPr lang="en-US" altLang="zh-TW" dirty="0" smtClean="0"/>
              <a:t>  cerevisiae yeast</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副球菌 </a:t>
            </a:r>
            <a:r>
              <a:rPr lang="en-US" altLang="zh-TW" dirty="0" err="1" smtClean="0"/>
              <a:t>paracoccus</a:t>
            </a:r>
            <a:r>
              <a:rPr lang="en-US" altLang="zh-TW" dirty="0" smtClean="0"/>
              <a:t> </a:t>
            </a:r>
            <a:r>
              <a:rPr lang="en-US" altLang="zh-TW" dirty="0" err="1" smtClean="0"/>
              <a:t>versutus</a:t>
            </a:r>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20129469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zh-TW" sz="1200" b="0" i="0" kern="1200" dirty="0" smtClean="0">
                <a:solidFill>
                  <a:schemeClr val="tx1"/>
                </a:solidFill>
                <a:effectLst/>
                <a:latin typeface="+mn-lt"/>
                <a:ea typeface="+mn-ea"/>
                <a:cs typeface="+mn-cs"/>
              </a:rPr>
              <a:t>北方藍鰭金槍魚</a:t>
            </a:r>
            <a:r>
              <a:rPr lang="zh-TW" altLang="en-US" sz="1200" b="0" i="0" kern="1200" dirty="0" smtClean="0">
                <a:solidFill>
                  <a:schemeClr val="tx1"/>
                </a:solidFill>
                <a:effectLst/>
                <a:latin typeface="+mn-lt"/>
                <a:ea typeface="+mn-ea"/>
                <a:cs typeface="+mn-cs"/>
              </a:rPr>
              <a:t>  </a:t>
            </a:r>
            <a:r>
              <a:rPr lang="la-Latn" altLang="zh-TW" sz="1200" b="0" i="1" kern="1200" dirty="0" smtClean="0">
                <a:solidFill>
                  <a:schemeClr val="tx1"/>
                </a:solidFill>
                <a:effectLst/>
                <a:latin typeface="+mn-lt"/>
                <a:ea typeface="+mn-ea"/>
                <a:cs typeface="+mn-cs"/>
              </a:rPr>
              <a:t>Thunnus thynnus</a:t>
            </a:r>
            <a:endParaRPr lang="zh-TW" altLang="zh-TW" sz="1200" b="0" i="0" kern="1200" dirty="0" smtClean="0">
              <a:solidFill>
                <a:schemeClr val="tx1"/>
              </a:solidFill>
              <a:effectLst/>
              <a:latin typeface="+mn-lt"/>
              <a:ea typeface="+mn-ea"/>
              <a:cs typeface="+mn-cs"/>
            </a:endParaRPr>
          </a:p>
          <a:p>
            <a:r>
              <a:rPr lang="zh-TW" altLang="en-US" sz="1200" b="0" i="0" kern="1200" dirty="0" smtClean="0">
                <a:solidFill>
                  <a:schemeClr val="tx1"/>
                </a:solidFill>
                <a:effectLst/>
                <a:latin typeface="+mn-lt"/>
                <a:ea typeface="+mn-ea"/>
                <a:cs typeface="+mn-cs"/>
              </a:rPr>
              <a:t>正鰹 </a:t>
            </a:r>
            <a:r>
              <a:rPr lang="en-US" altLang="zh-TW" sz="1200" b="0" i="0" kern="1200" dirty="0" err="1" smtClean="0">
                <a:solidFill>
                  <a:schemeClr val="tx1"/>
                </a:solidFill>
                <a:effectLst/>
                <a:latin typeface="+mn-lt"/>
                <a:ea typeface="+mn-ea"/>
                <a:cs typeface="+mn-cs"/>
              </a:rPr>
              <a:t>Katsuwonus</a:t>
            </a:r>
            <a:r>
              <a:rPr lang="en-US" altLang="zh-TW" sz="1200" b="0" i="0" kern="1200" dirty="0" smtClean="0">
                <a:solidFill>
                  <a:schemeClr val="tx1"/>
                </a:solidFill>
                <a:effectLst/>
                <a:latin typeface="+mn-lt"/>
                <a:ea typeface="+mn-ea"/>
                <a:cs typeface="+mn-cs"/>
              </a:rPr>
              <a:t> </a:t>
            </a:r>
            <a:r>
              <a:rPr lang="en-US" altLang="zh-TW" sz="1200" b="0" i="0" kern="1200" dirty="0" err="1" smtClean="0">
                <a:solidFill>
                  <a:schemeClr val="tx1"/>
                </a:solidFill>
                <a:effectLst/>
                <a:latin typeface="+mn-lt"/>
                <a:ea typeface="+mn-ea"/>
                <a:cs typeface="+mn-cs"/>
              </a:rPr>
              <a:t>pelamis</a:t>
            </a:r>
            <a:endParaRPr lang="en-US" altLang="zh-TW" sz="1200" b="0" i="0" kern="1200" dirty="0" smtClean="0">
              <a:solidFill>
                <a:schemeClr val="tx1"/>
              </a:solidFill>
              <a:effectLst/>
              <a:latin typeface="+mn-lt"/>
              <a:ea typeface="+mn-ea"/>
              <a:cs typeface="+mn-cs"/>
            </a:endParaRPr>
          </a:p>
          <a:p>
            <a:r>
              <a:rPr lang="zh-TW" altLang="en-US" dirty="0" smtClean="0"/>
              <a:t>酸性硫氧化鐵桿菌 </a:t>
            </a:r>
            <a:r>
              <a:rPr lang="en-US" altLang="zh-TW" dirty="0" err="1" smtClean="0"/>
              <a:t>acidithiobacillus</a:t>
            </a:r>
            <a:r>
              <a:rPr lang="en-US" altLang="zh-TW" dirty="0" smtClean="0"/>
              <a:t> </a:t>
            </a:r>
            <a:r>
              <a:rPr lang="en-US" altLang="zh-TW" dirty="0" err="1" smtClean="0"/>
              <a:t>ferrooxidans</a:t>
            </a:r>
            <a:endParaRPr lang="zh-TW" alt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釀酒酵母 </a:t>
            </a:r>
            <a:r>
              <a:rPr lang="en-US" altLang="zh-TW" dirty="0" smtClean="0"/>
              <a:t>  cerevisiae yeast</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副球菌 </a:t>
            </a:r>
            <a:r>
              <a:rPr lang="en-US" altLang="zh-TW" dirty="0" err="1" smtClean="0"/>
              <a:t>paracoccus</a:t>
            </a:r>
            <a:r>
              <a:rPr lang="en-US" altLang="zh-TW" dirty="0" smtClean="0"/>
              <a:t> </a:t>
            </a:r>
            <a:r>
              <a:rPr lang="en-US" altLang="zh-TW" dirty="0" err="1" smtClean="0"/>
              <a:t>versutus</a:t>
            </a:r>
            <a:endParaRPr lang="zh-TW" altLang="en-US" dirty="0" smtClean="0"/>
          </a:p>
          <a:p>
            <a:endParaRPr lang="en-US" altLang="zh-TW" dirty="0" smtClean="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16</a:t>
            </a:fld>
            <a:endParaRPr lang="zh-TW" altLang="en-US"/>
          </a:p>
        </p:txBody>
      </p:sp>
    </p:spTree>
    <p:extLst>
      <p:ext uri="{BB962C8B-B14F-4D97-AF65-F5344CB8AC3E}">
        <p14:creationId xmlns:p14="http://schemas.microsoft.com/office/powerpoint/2010/main" val="35881988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200" b="0" i="0" kern="1200" dirty="0" smtClean="0">
                <a:solidFill>
                  <a:schemeClr val="tx1"/>
                </a:solidFill>
                <a:effectLst/>
                <a:latin typeface="+mn-lt"/>
                <a:ea typeface="+mn-ea"/>
                <a:cs typeface="+mn-cs"/>
              </a:rPr>
              <a:t>伯氏肩孔南極魚</a:t>
            </a:r>
            <a:r>
              <a:rPr lang="zh-TW" altLang="en-US" sz="1200" b="0" i="0" kern="1200" dirty="0" smtClean="0">
                <a:solidFill>
                  <a:schemeClr val="tx1"/>
                </a:solidFill>
                <a:effectLst/>
                <a:latin typeface="+mn-lt"/>
                <a:ea typeface="+mn-ea"/>
                <a:cs typeface="+mn-cs"/>
              </a:rPr>
              <a:t> </a:t>
            </a:r>
            <a:r>
              <a:rPr lang="en-US" altLang="zh-TW" sz="1200" b="0" i="0" kern="1200" dirty="0" err="1" smtClean="0">
                <a:solidFill>
                  <a:schemeClr val="tx1"/>
                </a:solidFill>
                <a:effectLst/>
                <a:latin typeface="+mn-lt"/>
                <a:ea typeface="+mn-ea"/>
                <a:cs typeface="+mn-cs"/>
              </a:rPr>
              <a:t>Trematomus</a:t>
            </a:r>
            <a:r>
              <a:rPr lang="en-US" altLang="zh-TW" sz="1200" b="0" i="0" kern="1200" dirty="0" smtClean="0">
                <a:solidFill>
                  <a:schemeClr val="tx1"/>
                </a:solidFill>
                <a:effectLst/>
                <a:latin typeface="+mn-lt"/>
                <a:ea typeface="+mn-ea"/>
                <a:cs typeface="+mn-cs"/>
              </a:rPr>
              <a:t> </a:t>
            </a:r>
            <a:r>
              <a:rPr lang="en-US" altLang="zh-TW" sz="1200" b="0" i="0" kern="1200" dirty="0" err="1" smtClean="0">
                <a:solidFill>
                  <a:schemeClr val="tx1"/>
                </a:solidFill>
                <a:effectLst/>
                <a:latin typeface="+mn-lt"/>
                <a:ea typeface="+mn-ea"/>
                <a:cs typeface="+mn-cs"/>
              </a:rPr>
              <a:t>bernacchii</a:t>
            </a:r>
            <a:endParaRPr lang="en-US" altLang="zh-TW" sz="1200" b="0" i="0" kern="1200" dirty="0" smtClean="0">
              <a:solidFill>
                <a:schemeClr val="tx1"/>
              </a:solidFill>
              <a:effectLst/>
              <a:latin typeface="+mn-lt"/>
              <a:ea typeface="+mn-ea"/>
              <a:cs typeface="+mn-cs"/>
            </a:endParaRPr>
          </a:p>
          <a:p>
            <a:r>
              <a:rPr lang="zh-TW" altLang="zh-TW" sz="1200" b="0" i="0" kern="1200" dirty="0" smtClean="0">
                <a:solidFill>
                  <a:schemeClr val="tx1"/>
                </a:solidFill>
                <a:effectLst/>
                <a:latin typeface="+mn-lt"/>
                <a:ea typeface="+mn-ea"/>
                <a:cs typeface="+mn-cs"/>
              </a:rPr>
              <a:t>油南極魚</a:t>
            </a:r>
          </a:p>
          <a:p>
            <a:endParaRPr lang="en-US" altLang="zh-TW" sz="1200" b="0" i="0" u="none" strike="noStrike" kern="1200" dirty="0" smtClean="0">
              <a:solidFill>
                <a:schemeClr val="tx1"/>
              </a:solidFill>
              <a:effectLst/>
              <a:latin typeface="+mn-lt"/>
              <a:ea typeface="+mn-ea"/>
              <a:cs typeface="+mn-cs"/>
              <a:hlinkClick r:id="rId3"/>
            </a:endParaRPr>
          </a:p>
          <a:p>
            <a:r>
              <a:rPr lang="zh-TW" altLang="en-US" sz="1200" b="0" i="0" u="none" strike="noStrike" kern="1200" dirty="0" smtClean="0">
                <a:solidFill>
                  <a:schemeClr val="tx1"/>
                </a:solidFill>
                <a:effectLst/>
                <a:latin typeface="+mn-lt"/>
                <a:ea typeface="+mn-ea"/>
                <a:cs typeface="+mn-cs"/>
                <a:hlinkClick r:id="rId3"/>
              </a:rPr>
              <a:t>我們還選擇了作為血紅蛋白亞基的</a:t>
            </a:r>
            <a:r>
              <a:rPr lang="en-US" altLang="zh-TW" sz="1200" b="0" i="0" u="none" strike="noStrike" kern="1200" dirty="0" smtClean="0">
                <a:solidFill>
                  <a:schemeClr val="tx1"/>
                </a:solidFill>
                <a:effectLst/>
                <a:latin typeface="+mn-lt"/>
                <a:ea typeface="+mn-ea"/>
                <a:cs typeface="+mn-cs"/>
                <a:hlinkClick r:id="rId3"/>
              </a:rPr>
              <a:t>b</a:t>
            </a:r>
            <a:r>
              <a:rPr lang="zh-TW" altLang="en-US" sz="1200" b="0" i="0" u="none" strike="noStrike" kern="1200" dirty="0" smtClean="0">
                <a:solidFill>
                  <a:schemeClr val="tx1"/>
                </a:solidFill>
                <a:effectLst/>
                <a:latin typeface="+mn-lt"/>
                <a:ea typeface="+mn-ea"/>
                <a:cs typeface="+mn-cs"/>
                <a:hlinkClick r:id="rId3"/>
              </a:rPr>
              <a:t>球蛋白作為花藥分子標記。在使用（</a:t>
            </a:r>
            <a:r>
              <a:rPr lang="en-US" altLang="zh-TW" sz="1200" b="0" i="0" u="none" strike="noStrike" kern="1200" dirty="0" smtClean="0">
                <a:solidFill>
                  <a:schemeClr val="tx1"/>
                </a:solidFill>
                <a:effectLst/>
                <a:latin typeface="+mn-lt"/>
                <a:ea typeface="+mn-ea"/>
                <a:cs typeface="+mn-cs"/>
                <a:hlinkClick r:id="rId3"/>
              </a:rPr>
              <a:t>3D</a:t>
            </a:r>
            <a:r>
              <a:rPr lang="zh-TW" altLang="en-US" sz="1200" b="0" i="0" u="none" strike="noStrike" kern="1200" dirty="0" smtClean="0">
                <a:solidFill>
                  <a:schemeClr val="tx1"/>
                </a:solidFill>
                <a:effectLst/>
                <a:latin typeface="+mn-lt"/>
                <a:ea typeface="+mn-ea"/>
                <a:cs typeface="+mn-cs"/>
                <a:hlinkClick r:id="rId3"/>
              </a:rPr>
              <a:t>）</a:t>
            </a:r>
            <a:r>
              <a:rPr lang="en-US" altLang="zh-TW" sz="1200" b="0" i="0" u="none" strike="noStrike" kern="1200" dirty="0" err="1" smtClean="0">
                <a:solidFill>
                  <a:schemeClr val="tx1"/>
                </a:solidFill>
                <a:effectLst/>
                <a:latin typeface="+mn-lt"/>
                <a:ea typeface="+mn-ea"/>
                <a:cs typeface="+mn-cs"/>
                <a:hlinkClick r:id="rId3"/>
              </a:rPr>
              <a:t>Yau</a:t>
            </a:r>
            <a:r>
              <a:rPr lang="en-US" altLang="zh-TW" sz="1200" b="0" i="0" u="none" strike="noStrike" kern="1200" dirty="0" smtClean="0">
                <a:solidFill>
                  <a:schemeClr val="tx1"/>
                </a:solidFill>
                <a:effectLst/>
                <a:latin typeface="+mn-lt"/>
                <a:ea typeface="+mn-ea"/>
                <a:cs typeface="+mn-cs"/>
                <a:hlinkClick r:id="rId3"/>
              </a:rPr>
              <a:t> – </a:t>
            </a:r>
            <a:r>
              <a:rPr lang="en-US" altLang="zh-TW" sz="1200" b="0" i="0" u="none" strike="noStrike" kern="1200" dirty="0" err="1" smtClean="0">
                <a:solidFill>
                  <a:schemeClr val="tx1"/>
                </a:solidFill>
                <a:effectLst/>
                <a:latin typeface="+mn-lt"/>
                <a:ea typeface="+mn-ea"/>
                <a:cs typeface="+mn-cs"/>
                <a:hlinkClick r:id="rId3"/>
              </a:rPr>
              <a:t>Hausdorff</a:t>
            </a:r>
            <a:r>
              <a:rPr lang="zh-TW" altLang="en-US" sz="1200" b="0" i="0" u="none" strike="noStrike" kern="1200" dirty="0" smtClean="0">
                <a:solidFill>
                  <a:schemeClr val="tx1"/>
                </a:solidFill>
                <a:effectLst/>
                <a:latin typeface="+mn-lt"/>
                <a:ea typeface="+mn-ea"/>
                <a:cs typeface="+mn-cs"/>
                <a:hlinkClick r:id="rId3"/>
              </a:rPr>
              <a:t>距離比較</a:t>
            </a:r>
            <a:r>
              <a:rPr lang="en-US" altLang="zh-TW" sz="1200" b="0" i="0" u="none" strike="noStrike" kern="1200" dirty="0" smtClean="0">
                <a:solidFill>
                  <a:schemeClr val="tx1"/>
                </a:solidFill>
                <a:effectLst/>
                <a:latin typeface="+mn-lt"/>
                <a:ea typeface="+mn-ea"/>
                <a:cs typeface="+mn-cs"/>
                <a:hlinkClick r:id="rId3"/>
              </a:rPr>
              <a:t>9</a:t>
            </a:r>
            <a:r>
              <a:rPr lang="zh-TW" altLang="en-US" sz="1200" b="0" i="0" u="none" strike="noStrike" kern="1200" dirty="0" smtClean="0">
                <a:solidFill>
                  <a:schemeClr val="tx1"/>
                </a:solidFill>
                <a:effectLst/>
                <a:latin typeface="+mn-lt"/>
                <a:ea typeface="+mn-ea"/>
                <a:cs typeface="+mn-cs"/>
                <a:hlinkClick r:id="rId3"/>
              </a:rPr>
              <a:t>種物種中</a:t>
            </a:r>
            <a:r>
              <a:rPr lang="en-US" altLang="zh-TW" sz="1200" b="0" i="0" u="none" strike="noStrike" kern="1200" dirty="0" smtClean="0">
                <a:solidFill>
                  <a:schemeClr val="tx1"/>
                </a:solidFill>
                <a:effectLst/>
                <a:latin typeface="+mn-lt"/>
                <a:ea typeface="+mn-ea"/>
                <a:cs typeface="+mn-cs"/>
                <a:hlinkClick r:id="rId3"/>
              </a:rPr>
              <a:t>b</a:t>
            </a:r>
            <a:r>
              <a:rPr lang="zh-TW" altLang="en-US" sz="1200" b="0" i="0" u="none" strike="noStrike" kern="1200" dirty="0" smtClean="0">
                <a:solidFill>
                  <a:schemeClr val="tx1"/>
                </a:solidFill>
                <a:effectLst/>
                <a:latin typeface="+mn-lt"/>
                <a:ea typeface="+mn-ea"/>
                <a:cs typeface="+mn-cs"/>
                <a:hlinkClick r:id="rId3"/>
              </a:rPr>
              <a:t>珠蛋白的結構後，我們得到了距離矩陣並構建瞭如圖</a:t>
            </a:r>
            <a:r>
              <a:rPr lang="en-US" altLang="zh-TW" sz="1200" b="0" i="0" u="none" strike="noStrike" kern="1200" dirty="0" smtClean="0">
                <a:solidFill>
                  <a:schemeClr val="tx1"/>
                </a:solidFill>
                <a:effectLst/>
                <a:latin typeface="+mn-lt"/>
                <a:ea typeface="+mn-ea"/>
                <a:cs typeface="+mn-cs"/>
                <a:hlinkClick r:id="rId3"/>
              </a:rPr>
              <a:t>5</a:t>
            </a:r>
            <a:r>
              <a:rPr lang="zh-TW" altLang="en-US" sz="1200" b="0" i="0" u="none" strike="noStrike" kern="1200" dirty="0" smtClean="0">
                <a:solidFill>
                  <a:schemeClr val="tx1"/>
                </a:solidFill>
                <a:effectLst/>
                <a:latin typeface="+mn-lt"/>
                <a:ea typeface="+mn-ea"/>
                <a:cs typeface="+mn-cs"/>
                <a:hlinkClick r:id="rId3"/>
              </a:rPr>
              <a:t>所示的</a:t>
            </a:r>
            <a:r>
              <a:rPr lang="en-US" altLang="zh-TW" sz="1200" b="0" i="0" u="none" strike="noStrike" kern="1200" dirty="0" smtClean="0">
                <a:solidFill>
                  <a:schemeClr val="tx1"/>
                </a:solidFill>
                <a:effectLst/>
                <a:latin typeface="+mn-lt"/>
                <a:ea typeface="+mn-ea"/>
                <a:cs typeface="+mn-cs"/>
                <a:hlinkClick r:id="rId3"/>
              </a:rPr>
              <a:t>UPGMA</a:t>
            </a:r>
            <a:r>
              <a:rPr lang="zh-TW" altLang="en-US" sz="1200" b="0" i="0" u="none" strike="noStrike" kern="1200" dirty="0" smtClean="0">
                <a:solidFill>
                  <a:schemeClr val="tx1"/>
                </a:solidFill>
                <a:effectLst/>
                <a:latin typeface="+mn-lt"/>
                <a:ea typeface="+mn-ea"/>
                <a:cs typeface="+mn-cs"/>
                <a:hlinkClick r:id="rId3"/>
              </a:rPr>
              <a:t>系統樹。再次使用序列比對和自然矢量方法進行比較。在序列比對方法中，我們使用</a:t>
            </a:r>
            <a:r>
              <a:rPr lang="en-US" altLang="zh-TW" sz="1200" b="0" i="0" u="none" strike="noStrike" kern="1200" dirty="0" smtClean="0">
                <a:solidFill>
                  <a:schemeClr val="tx1"/>
                </a:solidFill>
                <a:effectLst/>
                <a:latin typeface="+mn-lt"/>
                <a:ea typeface="+mn-ea"/>
                <a:cs typeface="+mn-cs"/>
                <a:hlinkClick r:id="rId3"/>
              </a:rPr>
              <a:t>BLOSUM</a:t>
            </a:r>
            <a:r>
              <a:rPr lang="zh-TW" altLang="en-US" sz="1200" b="0" i="0" u="none" strike="noStrike" kern="1200" dirty="0" smtClean="0">
                <a:solidFill>
                  <a:schemeClr val="tx1"/>
                </a:solidFill>
                <a:effectLst/>
                <a:latin typeface="+mn-lt"/>
                <a:ea typeface="+mn-ea"/>
                <a:cs typeface="+mn-cs"/>
                <a:hlinkClick r:id="rId3"/>
              </a:rPr>
              <a:t>矩陣作為替換矩陣。這次選擇的</a:t>
            </a:r>
            <a:r>
              <a:rPr lang="en-US" altLang="zh-TW" sz="1200" b="0" i="0" u="none" strike="noStrike" kern="1200" dirty="0" smtClean="0">
                <a:solidFill>
                  <a:schemeClr val="tx1"/>
                </a:solidFill>
                <a:effectLst/>
                <a:latin typeface="+mn-lt"/>
                <a:ea typeface="+mn-ea"/>
                <a:cs typeface="+mn-cs"/>
                <a:hlinkClick r:id="rId3"/>
              </a:rPr>
              <a:t>9</a:t>
            </a:r>
            <a:r>
              <a:rPr lang="zh-TW" altLang="en-US" sz="1200" b="0" i="0" u="none" strike="noStrike" kern="1200" dirty="0" smtClean="0">
                <a:solidFill>
                  <a:schemeClr val="tx1"/>
                </a:solidFill>
                <a:effectLst/>
                <a:latin typeface="+mn-lt"/>
                <a:ea typeface="+mn-ea"/>
                <a:cs typeface="+mn-cs"/>
                <a:hlinkClick r:id="rId3"/>
              </a:rPr>
              <a:t>個物種，從魚類到哺乳動物，變化不大。因此，在這種情況下，序列比對工作良好。在其係統發育樹中，有兩個屬於</a:t>
            </a:r>
            <a:r>
              <a:rPr lang="en-US" altLang="zh-TW" sz="1200" b="0" i="0" u="none" strike="noStrike" kern="1200" dirty="0" err="1" smtClean="0">
                <a:solidFill>
                  <a:schemeClr val="tx1"/>
                </a:solidFill>
                <a:effectLst/>
                <a:latin typeface="+mn-lt"/>
                <a:ea typeface="+mn-ea"/>
                <a:cs typeface="+mn-cs"/>
                <a:hlinkClick r:id="rId3"/>
              </a:rPr>
              <a:t>Perciformes</a:t>
            </a:r>
            <a:r>
              <a:rPr lang="zh-TW" altLang="en-US" sz="1200" b="0" i="0" u="none" strike="noStrike" kern="1200" dirty="0" smtClean="0">
                <a:solidFill>
                  <a:schemeClr val="tx1"/>
                </a:solidFill>
                <a:effectLst/>
                <a:latin typeface="+mn-lt"/>
                <a:ea typeface="+mn-ea"/>
                <a:cs typeface="+mn-cs"/>
                <a:hlinkClick r:id="rId3"/>
              </a:rPr>
              <a:t>的物種，它們聚集在同一分支下。 </a:t>
            </a:r>
            <a:r>
              <a:rPr lang="en-US" altLang="zh-TW" sz="1200" b="0" i="0" u="none" strike="noStrike" kern="1200" dirty="0" err="1" smtClean="0">
                <a:solidFill>
                  <a:schemeClr val="tx1"/>
                </a:solidFill>
                <a:effectLst/>
                <a:latin typeface="+mn-lt"/>
                <a:ea typeface="+mn-ea"/>
                <a:cs typeface="+mn-cs"/>
                <a:hlinkClick r:id="rId3"/>
              </a:rPr>
              <a:t>Bovidae</a:t>
            </a:r>
            <a:r>
              <a:rPr lang="zh-TW" altLang="en-US" sz="1200" b="0" i="0" u="none" strike="noStrike" kern="1200" dirty="0" smtClean="0">
                <a:solidFill>
                  <a:schemeClr val="tx1"/>
                </a:solidFill>
                <a:effectLst/>
                <a:latin typeface="+mn-lt"/>
                <a:ea typeface="+mn-ea"/>
                <a:cs typeface="+mn-cs"/>
                <a:hlinkClick r:id="rId3"/>
              </a:rPr>
              <a:t>家族的牛和山羊聚集在同一分支中；來自犬科的狼和狗聚集在同一分支中，進化等級表現良好。 （</a:t>
            </a:r>
            <a:r>
              <a:rPr lang="en-US" altLang="zh-TW" sz="1200" b="0" i="0" u="none" strike="noStrike" kern="1200" dirty="0" smtClean="0">
                <a:solidFill>
                  <a:schemeClr val="tx1"/>
                </a:solidFill>
                <a:effectLst/>
                <a:latin typeface="+mn-lt"/>
                <a:ea typeface="+mn-ea"/>
                <a:cs typeface="+mn-cs"/>
                <a:hlinkClick r:id="rId3"/>
              </a:rPr>
              <a:t>3D</a:t>
            </a:r>
            <a:r>
              <a:rPr lang="zh-TW" altLang="en-US" sz="1200" b="0" i="0" u="none" strike="noStrike" kern="1200" dirty="0" smtClean="0">
                <a:solidFill>
                  <a:schemeClr val="tx1"/>
                </a:solidFill>
                <a:effectLst/>
                <a:latin typeface="+mn-lt"/>
                <a:ea typeface="+mn-ea"/>
                <a:cs typeface="+mn-cs"/>
                <a:hlinkClick r:id="rId3"/>
              </a:rPr>
              <a:t>）</a:t>
            </a:r>
            <a:r>
              <a:rPr lang="en-US" altLang="zh-TW" sz="1200" b="0" i="0" u="none" strike="noStrike" kern="1200" dirty="0" err="1" smtClean="0">
                <a:solidFill>
                  <a:schemeClr val="tx1"/>
                </a:solidFill>
                <a:effectLst/>
                <a:latin typeface="+mn-lt"/>
                <a:ea typeface="+mn-ea"/>
                <a:cs typeface="+mn-cs"/>
                <a:hlinkClick r:id="rId3"/>
              </a:rPr>
              <a:t>Yau</a:t>
            </a:r>
            <a:r>
              <a:rPr lang="en-US" altLang="zh-TW" sz="1200" b="0" i="0" u="none" strike="noStrike" kern="1200" dirty="0" smtClean="0">
                <a:solidFill>
                  <a:schemeClr val="tx1"/>
                </a:solidFill>
                <a:effectLst/>
                <a:latin typeface="+mn-lt"/>
                <a:ea typeface="+mn-ea"/>
                <a:cs typeface="+mn-cs"/>
                <a:hlinkClick r:id="rId3"/>
              </a:rPr>
              <a:t> – </a:t>
            </a:r>
            <a:r>
              <a:rPr lang="en-US" altLang="zh-TW" sz="1200" b="0" i="0" u="none" strike="noStrike" kern="1200" dirty="0" err="1" smtClean="0">
                <a:solidFill>
                  <a:schemeClr val="tx1"/>
                </a:solidFill>
                <a:effectLst/>
                <a:latin typeface="+mn-lt"/>
                <a:ea typeface="+mn-ea"/>
                <a:cs typeface="+mn-cs"/>
                <a:hlinkClick r:id="rId3"/>
              </a:rPr>
              <a:t>Hausdorff</a:t>
            </a:r>
            <a:r>
              <a:rPr lang="zh-TW" altLang="en-US" sz="1200" b="0" i="0" u="none" strike="noStrike" kern="1200" dirty="0" smtClean="0">
                <a:solidFill>
                  <a:schemeClr val="tx1"/>
                </a:solidFill>
                <a:effectLst/>
                <a:latin typeface="+mn-lt"/>
                <a:ea typeface="+mn-ea"/>
                <a:cs typeface="+mn-cs"/>
                <a:hlinkClick r:id="rId3"/>
              </a:rPr>
              <a:t>結構比較的樹與序列比對的樹非常相似。唯一的區別在於細節。狼和狗很近，但不在同一個分支。牛和山羊是封閉的，但也不在同一個分支中。我們可以看到，在分析密切相關的物種時，結構比較通常可以很好地對物種進行聚類，但是分辨率不高。為了獲得高分辨率，我們需要使用同一蛋白質的許多</a:t>
            </a:r>
            <a:r>
              <a:rPr lang="en-US" altLang="zh-TW" sz="1200" b="0" i="0" u="none" strike="noStrike" kern="1200" dirty="0" smtClean="0">
                <a:solidFill>
                  <a:schemeClr val="tx1"/>
                </a:solidFill>
                <a:effectLst/>
                <a:latin typeface="+mn-lt"/>
                <a:ea typeface="+mn-ea"/>
                <a:cs typeface="+mn-cs"/>
                <a:hlinkClick r:id="rId3"/>
              </a:rPr>
              <a:t>3D</a:t>
            </a:r>
            <a:r>
              <a:rPr lang="zh-TW" altLang="en-US" sz="1200" b="0" i="0" u="none" strike="noStrike" kern="1200" dirty="0" smtClean="0">
                <a:solidFill>
                  <a:schemeClr val="tx1"/>
                </a:solidFill>
                <a:effectLst/>
                <a:latin typeface="+mn-lt"/>
                <a:ea typeface="+mn-ea"/>
                <a:cs typeface="+mn-cs"/>
                <a:hlinkClick r:id="rId3"/>
              </a:rPr>
              <a:t>結構。但是，即使僅使用一種蛋白質結構進行結構比較，也可以揭示遠處物種之間的關係。在系統發育分析中，結構比較和序列比較可能會相互補充。高分辨率的序列比對可以很好地識別密切相關物種之間的親緣關係，並且結構比較可以揭示遠距離物種之間的關係。</a:t>
            </a:r>
            <a:r>
              <a:rPr lang="zh-TW" altLang="zh-TW" sz="1200" b="0" i="0" u="none" strike="noStrike" kern="1200" dirty="0" smtClean="0">
                <a:solidFill>
                  <a:schemeClr val="tx1"/>
                </a:solidFill>
                <a:effectLst/>
                <a:latin typeface="+mn-lt"/>
                <a:ea typeface="+mn-ea"/>
                <a:cs typeface="+mn-cs"/>
                <a:hlinkClick r:id="rId3"/>
              </a:rPr>
              <a:t/>
            </a:r>
            <a:br>
              <a:rPr lang="zh-TW" altLang="zh-TW" sz="1200" b="0" i="0" u="none" strike="noStrike" kern="1200" dirty="0" smtClean="0">
                <a:solidFill>
                  <a:schemeClr val="tx1"/>
                </a:solidFill>
                <a:effectLst/>
                <a:latin typeface="+mn-lt"/>
                <a:ea typeface="+mn-ea"/>
                <a:cs typeface="+mn-cs"/>
                <a:hlinkClick r:id="rId3"/>
              </a:rPr>
            </a:b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17</a:t>
            </a:fld>
            <a:endParaRPr lang="zh-TW" altLang="en-US"/>
          </a:p>
        </p:txBody>
      </p:sp>
    </p:spTree>
    <p:extLst>
      <p:ext uri="{BB962C8B-B14F-4D97-AF65-F5344CB8AC3E}">
        <p14:creationId xmlns:p14="http://schemas.microsoft.com/office/powerpoint/2010/main" val="3262310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200" b="0" i="0" kern="1200" dirty="0" smtClean="0">
                <a:solidFill>
                  <a:schemeClr val="tx1"/>
                </a:solidFill>
                <a:effectLst/>
                <a:latin typeface="+mn-lt"/>
                <a:ea typeface="+mn-ea"/>
                <a:cs typeface="+mn-cs"/>
              </a:rPr>
              <a:t>伯氏肩孔南極魚</a:t>
            </a:r>
            <a:r>
              <a:rPr lang="zh-TW" altLang="en-US" sz="1200" b="0" i="0" kern="1200" dirty="0" smtClean="0">
                <a:solidFill>
                  <a:schemeClr val="tx1"/>
                </a:solidFill>
                <a:effectLst/>
                <a:latin typeface="+mn-lt"/>
                <a:ea typeface="+mn-ea"/>
                <a:cs typeface="+mn-cs"/>
              </a:rPr>
              <a:t> </a:t>
            </a:r>
            <a:r>
              <a:rPr lang="en-US" altLang="zh-TW" sz="1200" b="0" i="0" kern="1200" dirty="0" err="1" smtClean="0">
                <a:solidFill>
                  <a:schemeClr val="tx1"/>
                </a:solidFill>
                <a:effectLst/>
                <a:latin typeface="+mn-lt"/>
                <a:ea typeface="+mn-ea"/>
                <a:cs typeface="+mn-cs"/>
              </a:rPr>
              <a:t>Trematomus</a:t>
            </a:r>
            <a:r>
              <a:rPr lang="en-US" altLang="zh-TW" sz="1200" b="0" i="0" kern="1200" dirty="0" smtClean="0">
                <a:solidFill>
                  <a:schemeClr val="tx1"/>
                </a:solidFill>
                <a:effectLst/>
                <a:latin typeface="+mn-lt"/>
                <a:ea typeface="+mn-ea"/>
                <a:cs typeface="+mn-cs"/>
              </a:rPr>
              <a:t> </a:t>
            </a:r>
            <a:r>
              <a:rPr lang="en-US" altLang="zh-TW" sz="1200" b="0" i="0" kern="1200" dirty="0" err="1" smtClean="0">
                <a:solidFill>
                  <a:schemeClr val="tx1"/>
                </a:solidFill>
                <a:effectLst/>
                <a:latin typeface="+mn-lt"/>
                <a:ea typeface="+mn-ea"/>
                <a:cs typeface="+mn-cs"/>
              </a:rPr>
              <a:t>bernacchii</a:t>
            </a:r>
            <a:endParaRPr lang="en-US" altLang="zh-TW" sz="1200" b="0" i="0" kern="1200" dirty="0" smtClean="0">
              <a:solidFill>
                <a:schemeClr val="tx1"/>
              </a:solidFill>
              <a:effectLst/>
              <a:latin typeface="+mn-lt"/>
              <a:ea typeface="+mn-ea"/>
              <a:cs typeface="+mn-cs"/>
            </a:endParaRPr>
          </a:p>
          <a:p>
            <a:r>
              <a:rPr lang="zh-TW" altLang="zh-TW" sz="1200" b="0" i="0" kern="1200" dirty="0" smtClean="0">
                <a:solidFill>
                  <a:schemeClr val="tx1"/>
                </a:solidFill>
                <a:effectLst/>
                <a:latin typeface="+mn-lt"/>
                <a:ea typeface="+mn-ea"/>
                <a:cs typeface="+mn-cs"/>
              </a:rPr>
              <a:t>油南極</a:t>
            </a:r>
            <a:r>
              <a:rPr lang="zh-TW" altLang="zh-TW" sz="1200" b="0" i="0" kern="1200" dirty="0" smtClean="0">
                <a:solidFill>
                  <a:schemeClr val="tx1"/>
                </a:solidFill>
                <a:effectLst/>
                <a:latin typeface="+mn-lt"/>
                <a:ea typeface="+mn-ea"/>
                <a:cs typeface="+mn-cs"/>
              </a:rPr>
              <a:t>魚</a:t>
            </a:r>
            <a:endParaRPr lang="en-US" altLang="zh-TW" sz="1200" b="0" i="0" kern="1200" dirty="0" smtClean="0">
              <a:solidFill>
                <a:schemeClr val="tx1"/>
              </a:solidFill>
              <a:effectLst/>
              <a:latin typeface="+mn-lt"/>
              <a:ea typeface="+mn-ea"/>
              <a:cs typeface="+mn-cs"/>
            </a:endParaRPr>
          </a:p>
          <a:p>
            <a:endParaRPr lang="zh-TW" altLang="zh-TW" sz="1200" b="0" i="0" kern="1200" dirty="0" smtClean="0">
              <a:solidFill>
                <a:schemeClr val="tx1"/>
              </a:solidFill>
              <a:effectLst/>
              <a:latin typeface="+mn-lt"/>
              <a:ea typeface="+mn-ea"/>
              <a:cs typeface="+mn-cs"/>
            </a:endParaRPr>
          </a:p>
          <a:p>
            <a:r>
              <a:rPr lang="zh-TW" altLang="en-US" dirty="0" smtClean="0"/>
              <a:t>我們還選擇了作為血紅蛋白亞基的</a:t>
            </a:r>
            <a:r>
              <a:rPr lang="en-US" altLang="zh-TW" dirty="0" smtClean="0"/>
              <a:t>b</a:t>
            </a:r>
            <a:r>
              <a:rPr lang="zh-TW" altLang="en-US" dirty="0" smtClean="0"/>
              <a:t>球蛋白作為花藥分子標記。在使用（</a:t>
            </a:r>
            <a:r>
              <a:rPr lang="en-US" altLang="zh-TW" dirty="0" smtClean="0"/>
              <a:t>3D</a:t>
            </a:r>
            <a:r>
              <a:rPr lang="zh-TW" altLang="en-US" dirty="0" smtClean="0"/>
              <a:t>）</a:t>
            </a:r>
            <a:r>
              <a:rPr lang="en-US" altLang="zh-TW" dirty="0" err="1" smtClean="0"/>
              <a:t>Yau</a:t>
            </a:r>
            <a:r>
              <a:rPr lang="en-US" altLang="zh-TW" dirty="0" smtClean="0"/>
              <a:t> – </a:t>
            </a:r>
            <a:r>
              <a:rPr lang="en-US" altLang="zh-TW" dirty="0" err="1" smtClean="0"/>
              <a:t>Hausdorff</a:t>
            </a:r>
            <a:r>
              <a:rPr lang="zh-TW" altLang="en-US" dirty="0" smtClean="0"/>
              <a:t>距離比較</a:t>
            </a:r>
            <a:r>
              <a:rPr lang="en-US" altLang="zh-TW" dirty="0" smtClean="0"/>
              <a:t>9</a:t>
            </a:r>
            <a:r>
              <a:rPr lang="zh-TW" altLang="en-US" dirty="0" smtClean="0"/>
              <a:t>種物種中</a:t>
            </a:r>
            <a:r>
              <a:rPr lang="en-US" altLang="zh-TW" dirty="0" smtClean="0"/>
              <a:t>b</a:t>
            </a:r>
            <a:r>
              <a:rPr lang="zh-TW" altLang="en-US" dirty="0" smtClean="0"/>
              <a:t>珠蛋白的結構後，我們得到了距離矩陣並構建瞭如圖</a:t>
            </a:r>
            <a:r>
              <a:rPr lang="en-US" altLang="zh-TW" dirty="0" smtClean="0"/>
              <a:t>5</a:t>
            </a:r>
            <a:r>
              <a:rPr lang="zh-TW" altLang="en-US" dirty="0" smtClean="0"/>
              <a:t>所示的</a:t>
            </a:r>
            <a:r>
              <a:rPr lang="en-US" altLang="zh-TW" dirty="0" smtClean="0"/>
              <a:t>UPGMA</a:t>
            </a:r>
            <a:r>
              <a:rPr lang="zh-TW" altLang="en-US" dirty="0" smtClean="0"/>
              <a:t>系統樹。再次使用序列比對和自然矢量方法進行比較。在序列比對方法中，我們使用</a:t>
            </a:r>
            <a:r>
              <a:rPr lang="en-US" altLang="zh-TW" dirty="0" smtClean="0"/>
              <a:t>BLOSUM</a:t>
            </a:r>
            <a:r>
              <a:rPr lang="zh-TW" altLang="en-US" dirty="0" smtClean="0"/>
              <a:t>矩陣作為替換矩陣。這次選擇的</a:t>
            </a:r>
            <a:r>
              <a:rPr lang="en-US" altLang="zh-TW" dirty="0" smtClean="0"/>
              <a:t>9</a:t>
            </a:r>
            <a:r>
              <a:rPr lang="zh-TW" altLang="en-US" dirty="0" smtClean="0"/>
              <a:t>個物種，從魚類到哺乳動物，變化不大。因此，在這種情況下，序列比對工作良好。在其係統發育樹中，有兩個屬於</a:t>
            </a:r>
            <a:r>
              <a:rPr lang="en-US" altLang="zh-TW" dirty="0" err="1" smtClean="0"/>
              <a:t>Perciformes</a:t>
            </a:r>
            <a:r>
              <a:rPr lang="zh-TW" altLang="en-US" dirty="0" smtClean="0"/>
              <a:t>的物種，它們聚集在同一分支下。 </a:t>
            </a:r>
            <a:r>
              <a:rPr lang="en-US" altLang="zh-TW" dirty="0" err="1" smtClean="0"/>
              <a:t>Bovidae</a:t>
            </a:r>
            <a:r>
              <a:rPr lang="zh-TW" altLang="en-US" dirty="0" smtClean="0"/>
              <a:t>家族的牛和山羊聚集在同一分支中；來自犬科的狼和狗聚集在同一分支中，進化等級表現良好。 （</a:t>
            </a:r>
            <a:r>
              <a:rPr lang="en-US" altLang="zh-TW" dirty="0" smtClean="0"/>
              <a:t>3D</a:t>
            </a:r>
            <a:r>
              <a:rPr lang="zh-TW" altLang="en-US" dirty="0" smtClean="0"/>
              <a:t>）</a:t>
            </a:r>
            <a:r>
              <a:rPr lang="en-US" altLang="zh-TW" dirty="0" err="1" smtClean="0"/>
              <a:t>Yau</a:t>
            </a:r>
            <a:r>
              <a:rPr lang="en-US" altLang="zh-TW" dirty="0" smtClean="0"/>
              <a:t> – </a:t>
            </a:r>
            <a:r>
              <a:rPr lang="en-US" altLang="zh-TW" dirty="0" err="1" smtClean="0"/>
              <a:t>Hausdorff</a:t>
            </a:r>
            <a:r>
              <a:rPr lang="zh-TW" altLang="en-US" dirty="0" smtClean="0"/>
              <a:t>結構比較的樹與序列比對的樹非常相似。唯一的區別在於細節。狼和狗很近，但不在同一個分支。牛和山羊是封閉的，但也不在同一個分支中。我們可以看到，在分析密切相關的物種時，結構比較通常可以很好地對物種進行聚類，但是分辨率不高。為了獲得高分辨率，我們需要使用同一蛋白質的許多</a:t>
            </a:r>
            <a:r>
              <a:rPr lang="en-US" altLang="zh-TW" dirty="0" smtClean="0"/>
              <a:t>3D</a:t>
            </a:r>
            <a:r>
              <a:rPr lang="zh-TW" altLang="en-US" dirty="0" smtClean="0"/>
              <a:t>結構。但是，即使僅使用一種蛋白質結構進行結構比較，也可以揭示遠處物種之間的關係。在系統發育分析中，結構比較和序列比較可能會相互補充。高分辨率的序列比對可以很好地識別密切相關物種之間的親緣關係，並且結構比較可以揭示遠距離物種之間的關係。</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18</a:t>
            </a:fld>
            <a:endParaRPr lang="zh-TW" altLang="en-US"/>
          </a:p>
        </p:txBody>
      </p:sp>
    </p:spTree>
    <p:extLst>
      <p:ext uri="{BB962C8B-B14F-4D97-AF65-F5344CB8AC3E}">
        <p14:creationId xmlns:p14="http://schemas.microsoft.com/office/powerpoint/2010/main" val="3948837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200" b="0" i="0" kern="1200" dirty="0" smtClean="0">
                <a:solidFill>
                  <a:schemeClr val="tx1"/>
                </a:solidFill>
                <a:effectLst/>
                <a:latin typeface="+mn-lt"/>
                <a:ea typeface="+mn-ea"/>
                <a:cs typeface="+mn-cs"/>
              </a:rPr>
              <a:t>伯氏肩孔南極魚</a:t>
            </a:r>
            <a:r>
              <a:rPr lang="zh-TW" altLang="en-US" sz="1200" b="0" i="0" kern="1200" dirty="0" smtClean="0">
                <a:solidFill>
                  <a:schemeClr val="tx1"/>
                </a:solidFill>
                <a:effectLst/>
                <a:latin typeface="+mn-lt"/>
                <a:ea typeface="+mn-ea"/>
                <a:cs typeface="+mn-cs"/>
              </a:rPr>
              <a:t> </a:t>
            </a:r>
            <a:r>
              <a:rPr lang="en-US" altLang="zh-TW" sz="1200" b="0" i="0" kern="1200" dirty="0" err="1" smtClean="0">
                <a:solidFill>
                  <a:schemeClr val="tx1"/>
                </a:solidFill>
                <a:effectLst/>
                <a:latin typeface="+mn-lt"/>
                <a:ea typeface="+mn-ea"/>
                <a:cs typeface="+mn-cs"/>
              </a:rPr>
              <a:t>Trematomus</a:t>
            </a:r>
            <a:r>
              <a:rPr lang="en-US" altLang="zh-TW" sz="1200" b="0" i="0" kern="1200" dirty="0" smtClean="0">
                <a:solidFill>
                  <a:schemeClr val="tx1"/>
                </a:solidFill>
                <a:effectLst/>
                <a:latin typeface="+mn-lt"/>
                <a:ea typeface="+mn-ea"/>
                <a:cs typeface="+mn-cs"/>
              </a:rPr>
              <a:t> </a:t>
            </a:r>
            <a:r>
              <a:rPr lang="en-US" altLang="zh-TW" sz="1200" b="0" i="0" kern="1200" dirty="0" err="1" smtClean="0">
                <a:solidFill>
                  <a:schemeClr val="tx1"/>
                </a:solidFill>
                <a:effectLst/>
                <a:latin typeface="+mn-lt"/>
                <a:ea typeface="+mn-ea"/>
                <a:cs typeface="+mn-cs"/>
              </a:rPr>
              <a:t>bernacchii</a:t>
            </a:r>
            <a:endParaRPr lang="en-US" altLang="zh-TW" sz="1200" b="0" i="0" kern="1200" dirty="0" smtClean="0">
              <a:solidFill>
                <a:schemeClr val="tx1"/>
              </a:solidFill>
              <a:effectLst/>
              <a:latin typeface="+mn-lt"/>
              <a:ea typeface="+mn-ea"/>
              <a:cs typeface="+mn-cs"/>
            </a:endParaRPr>
          </a:p>
          <a:p>
            <a:r>
              <a:rPr lang="zh-TW" altLang="zh-TW" sz="1200" b="0" i="0" kern="1200" dirty="0" smtClean="0">
                <a:solidFill>
                  <a:schemeClr val="tx1"/>
                </a:solidFill>
                <a:effectLst/>
                <a:latin typeface="+mn-lt"/>
                <a:ea typeface="+mn-ea"/>
                <a:cs typeface="+mn-cs"/>
              </a:rPr>
              <a:t>油南極魚</a:t>
            </a:r>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19</a:t>
            </a:fld>
            <a:endParaRPr lang="zh-TW" altLang="en-US"/>
          </a:p>
        </p:txBody>
      </p:sp>
    </p:spTree>
    <p:extLst>
      <p:ext uri="{BB962C8B-B14F-4D97-AF65-F5344CB8AC3E}">
        <p14:creationId xmlns:p14="http://schemas.microsoft.com/office/powerpoint/2010/main" val="36192082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22</a:t>
            </a:fld>
            <a:endParaRPr lang="zh-TW" altLang="en-US"/>
          </a:p>
        </p:txBody>
      </p:sp>
    </p:spTree>
    <p:extLst>
      <p:ext uri="{BB962C8B-B14F-4D97-AF65-F5344CB8AC3E}">
        <p14:creationId xmlns:p14="http://schemas.microsoft.com/office/powerpoint/2010/main" val="2821870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2019/10/1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2019/10/1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2019/10/1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2019/10/1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2019/10/1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2019/10/1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2019/10/1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2019/10/1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2019/10/1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2019/10/1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2019/10/1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2019/10/1</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gif"/></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gif"/></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gif"/></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50" y="1538969"/>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Comparing protein structures and inferring functions with a novel three-dimensional </a:t>
            </a:r>
            <a:r>
              <a:rPr lang="en-US" altLang="zh-TW" sz="3600" dirty="0" err="1">
                <a:latin typeface="Times New Roman" panose="02020603050405020304" pitchFamily="18" charset="0"/>
                <a:cs typeface="Times New Roman" panose="02020603050405020304" pitchFamily="18" charset="0"/>
              </a:rPr>
              <a:t>Yau</a:t>
            </a:r>
            <a:r>
              <a:rPr lang="en-US" altLang="zh-TW" sz="3600" dirty="0">
                <a:latin typeface="Times New Roman" panose="02020603050405020304" pitchFamily="18" charset="0"/>
                <a:cs typeface="Times New Roman" panose="02020603050405020304" pitchFamily="18" charset="0"/>
              </a:rPr>
              <a:t>–</a:t>
            </a:r>
            <a:r>
              <a:rPr lang="en-US" altLang="zh-TW" sz="3600" dirty="0" err="1">
                <a:latin typeface="Times New Roman" panose="02020603050405020304" pitchFamily="18" charset="0"/>
                <a:cs typeface="Times New Roman" panose="02020603050405020304" pitchFamily="18" charset="0"/>
              </a:rPr>
              <a:t>Hausdorff</a:t>
            </a:r>
            <a:r>
              <a:rPr lang="en-US" altLang="zh-TW" sz="3600" dirty="0">
                <a:latin typeface="Times New Roman" panose="02020603050405020304" pitchFamily="18" charset="0"/>
                <a:cs typeface="Times New Roman" panose="02020603050405020304" pitchFamily="18" charset="0"/>
              </a:rPr>
              <a:t> method</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30149" y="2900196"/>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Kun Tian, Xin Zhao, </a:t>
            </a:r>
            <a:r>
              <a:rPr lang="en-US" altLang="zh-TW" sz="2800" dirty="0" err="1">
                <a:latin typeface="Times New Roman" panose="02020603050405020304" pitchFamily="18" charset="0"/>
                <a:cs typeface="Times New Roman" panose="02020603050405020304" pitchFamily="18" charset="0"/>
              </a:rPr>
              <a:t>Yuning</a:t>
            </a:r>
            <a:r>
              <a:rPr lang="en-US" altLang="zh-TW" sz="2800" dirty="0">
                <a:latin typeface="Times New Roman" panose="02020603050405020304" pitchFamily="18" charset="0"/>
                <a:cs typeface="Times New Roman" panose="02020603050405020304" pitchFamily="18" charset="0"/>
              </a:rPr>
              <a:t> </a:t>
            </a:r>
            <a:r>
              <a:rPr lang="en-US" altLang="zh-TW" sz="2800" dirty="0" smtClean="0">
                <a:latin typeface="Times New Roman" panose="02020603050405020304" pitchFamily="18" charset="0"/>
                <a:cs typeface="Times New Roman" panose="02020603050405020304" pitchFamily="18" charset="0"/>
              </a:rPr>
              <a:t>Zhang, and Stephen </a:t>
            </a:r>
            <a:r>
              <a:rPr lang="en-US" altLang="zh-TW" sz="2800" dirty="0" err="1">
                <a:latin typeface="Times New Roman" panose="02020603050405020304" pitchFamily="18" charset="0"/>
                <a:cs typeface="Times New Roman" panose="02020603050405020304" pitchFamily="18" charset="0"/>
              </a:rPr>
              <a:t>Yau</a:t>
            </a:r>
            <a:endParaRPr lang="en-US"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cs typeface="Times New Roman" panose="02020603050405020304" pitchFamily="18" charset="0"/>
              </a:rPr>
              <a:t>Feng-Yang</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Tsai</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1800" dirty="0" err="1" smtClean="0">
                <a:latin typeface="Times New Roman" panose="02020603050405020304" pitchFamily="18" charset="0"/>
                <a:ea typeface="標楷體" panose="03000509000000000000" pitchFamily="65" charset="-120"/>
                <a:cs typeface="Times New Roman" panose="02020603050405020304" pitchFamily="18" charset="0"/>
              </a:rPr>
              <a:t>Date:Oct</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1, 2019.</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692797" y="3922940"/>
            <a:ext cx="7622889" cy="830997"/>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Journal of Bioinformatics and Computational Biology</a:t>
            </a:r>
          </a:p>
          <a:p>
            <a:pPr algn="ctr"/>
            <a:r>
              <a:rPr lang="en-US" altLang="zh-TW" sz="2400" dirty="0" smtClean="0">
                <a:latin typeface="Times New Roman" panose="02020603050405020304" pitchFamily="18" charset="0"/>
                <a:ea typeface="Tahoma" panose="020B0604030504040204" pitchFamily="34" charset="0"/>
                <a:cs typeface="Times New Roman" panose="02020603050405020304" pitchFamily="18" charset="0"/>
              </a:rPr>
              <a:t>2018 Dec; 37(16): 4151-4160</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44067"/>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Structures and functions of proteins play various essential roles in biological processes. The functions of newly discovered proteins can be predicted by comparing their structures with that of </a:t>
            </a:r>
            <a:r>
              <a:rPr lang="en-US" altLang="zh-TW" dirty="0" smtClean="0">
                <a:latin typeface="Times New Roman" panose="02020603050405020304" pitchFamily="18" charset="0"/>
                <a:cs typeface="Times New Roman" panose="02020603050405020304" pitchFamily="18" charset="0"/>
              </a:rPr>
              <a:t>known-functional </a:t>
            </a:r>
            <a:r>
              <a:rPr lang="en-US" altLang="zh-TW" dirty="0">
                <a:latin typeface="Times New Roman" panose="02020603050405020304" pitchFamily="18" charset="0"/>
                <a:cs typeface="Times New Roman" panose="02020603050405020304" pitchFamily="18" charset="0"/>
              </a:rPr>
              <a:t>proteins. Many approaches have been proposed for measuring the protein structure similarity, such as the template-modeling (TM)-score method, </a:t>
            </a:r>
            <a:r>
              <a:rPr lang="en-US" altLang="zh-TW" dirty="0" err="1">
                <a:latin typeface="Times New Roman" panose="02020603050405020304" pitchFamily="18" charset="0"/>
                <a:cs typeface="Times New Roman" panose="02020603050405020304" pitchFamily="18" charset="0"/>
              </a:rPr>
              <a:t>GRaphlet</a:t>
            </a:r>
            <a:r>
              <a:rPr lang="en-US" altLang="zh-TW" dirty="0">
                <a:latin typeface="Times New Roman" panose="02020603050405020304" pitchFamily="18" charset="0"/>
                <a:cs typeface="Times New Roman" panose="02020603050405020304" pitchFamily="18" charset="0"/>
              </a:rPr>
              <a:t> (GR)-Align method as well as the </a:t>
            </a:r>
            <a:r>
              <a:rPr lang="en-US" altLang="zh-TW" dirty="0" smtClean="0">
                <a:latin typeface="Times New Roman" panose="02020603050405020304" pitchFamily="18" charset="0"/>
                <a:cs typeface="Times New Roman" panose="02020603050405020304" pitchFamily="18" charset="0"/>
              </a:rPr>
              <a:t>commonly </a:t>
            </a:r>
            <a:r>
              <a:rPr lang="en-US" altLang="zh-TW" dirty="0">
                <a:latin typeface="Times New Roman" panose="02020603050405020304" pitchFamily="18" charset="0"/>
                <a:cs typeface="Times New Roman" panose="02020603050405020304" pitchFamily="18" charset="0"/>
              </a:rPr>
              <a:t>used root-mean-square deviation (RMSD) measures. However, the alignment comparisons between the similarity of protein structure cost much time on large dataset, and the accuracy still have room to improve. In this study, we introduce a new three-dimensional (3D) </a:t>
            </a:r>
            <a:r>
              <a:rPr lang="en-US" altLang="zh-TW" dirty="0" err="1">
                <a:latin typeface="Times New Roman" panose="02020603050405020304" pitchFamily="18" charset="0"/>
                <a:cs typeface="Times New Roman" panose="02020603050405020304" pitchFamily="18" charset="0"/>
              </a:rPr>
              <a:t>Yau</a:t>
            </a:r>
            <a:r>
              <a:rPr lang="en-US" altLang="zh-TW" dirty="0">
                <a:latin typeface="Times New Roman" panose="02020603050405020304" pitchFamily="18" charset="0"/>
                <a:cs typeface="Times New Roman" panose="02020603050405020304" pitchFamily="18" charset="0"/>
              </a:rPr>
              <a:t> – </a:t>
            </a:r>
            <a:r>
              <a:rPr lang="en-US" altLang="zh-TW" dirty="0" err="1" smtClean="0">
                <a:latin typeface="Times New Roman" panose="02020603050405020304" pitchFamily="18" charset="0"/>
                <a:cs typeface="Times New Roman" panose="02020603050405020304" pitchFamily="18" charset="0"/>
              </a:rPr>
              <a:t>Hausdorff</a:t>
            </a:r>
            <a:r>
              <a:rPr lang="en-US" altLang="zh-TW" dirty="0" smtClean="0">
                <a:latin typeface="Times New Roman" panose="02020603050405020304" pitchFamily="18" charset="0"/>
                <a:cs typeface="Times New Roman" panose="02020603050405020304" pitchFamily="18" charset="0"/>
              </a:rPr>
              <a:t> distance between any two 3D objects. </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25359" y="290897"/>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25358" y="874264"/>
            <a:ext cx="8759149"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The (3D) </a:t>
            </a:r>
            <a:r>
              <a:rPr lang="en-US" altLang="zh-TW" dirty="0" err="1">
                <a:latin typeface="Times New Roman" panose="02020603050405020304" pitchFamily="18" charset="0"/>
                <a:cs typeface="Times New Roman" panose="02020603050405020304" pitchFamily="18" charset="0"/>
              </a:rPr>
              <a:t>Yau</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Hausdorff</a:t>
            </a:r>
            <a:r>
              <a:rPr lang="en-US" altLang="zh-TW" dirty="0">
                <a:latin typeface="Times New Roman" panose="02020603050405020304" pitchFamily="18" charset="0"/>
                <a:cs typeface="Times New Roman" panose="02020603050405020304" pitchFamily="18" charset="0"/>
              </a:rPr>
              <a:t> distance can be used in particular to measure the similarity/dissimilarity of two proteins of any size and does not need aligning and </a:t>
            </a:r>
            <a:r>
              <a:rPr lang="en-US" altLang="zh-TW" dirty="0" smtClean="0">
                <a:latin typeface="Times New Roman" panose="02020603050405020304" pitchFamily="18" charset="0"/>
                <a:cs typeface="Times New Roman" panose="02020603050405020304" pitchFamily="18" charset="0"/>
              </a:rPr>
              <a:t>superimposing </a:t>
            </a:r>
            <a:r>
              <a:rPr lang="en-US" altLang="zh-TW" dirty="0">
                <a:latin typeface="Times New Roman" panose="02020603050405020304" pitchFamily="18" charset="0"/>
                <a:cs typeface="Times New Roman" panose="02020603050405020304" pitchFamily="18" charset="0"/>
              </a:rPr>
              <a:t>two structures. We apply structural similarity to study function similarity and perform </a:t>
            </a:r>
            <a:r>
              <a:rPr lang="en-US" altLang="zh-TW" dirty="0" smtClean="0">
                <a:latin typeface="Times New Roman" panose="02020603050405020304" pitchFamily="18" charset="0"/>
                <a:cs typeface="Times New Roman" panose="02020603050405020304" pitchFamily="18" charset="0"/>
              </a:rPr>
              <a:t>phylogenetic analysis on </a:t>
            </a:r>
            <a:r>
              <a:rPr lang="en-US" altLang="zh-TW" dirty="0">
                <a:latin typeface="Times New Roman" panose="02020603050405020304" pitchFamily="18" charset="0"/>
                <a:cs typeface="Times New Roman" panose="02020603050405020304" pitchFamily="18" charset="0"/>
              </a:rPr>
              <a:t>several datasets. The results show that (3D) </a:t>
            </a:r>
            <a:r>
              <a:rPr lang="en-US" altLang="zh-TW" dirty="0" err="1">
                <a:latin typeface="Times New Roman" panose="02020603050405020304" pitchFamily="18" charset="0"/>
                <a:cs typeface="Times New Roman" panose="02020603050405020304" pitchFamily="18" charset="0"/>
              </a:rPr>
              <a:t>Yau</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Hausdorff</a:t>
            </a:r>
            <a:r>
              <a:rPr lang="en-US" altLang="zh-TW" dirty="0">
                <a:latin typeface="Times New Roman" panose="02020603050405020304" pitchFamily="18" charset="0"/>
                <a:cs typeface="Times New Roman" panose="02020603050405020304" pitchFamily="18" charset="0"/>
              </a:rPr>
              <a:t> distance could serve as a more precise and effective method to discover biological relationships between proteins than other methods on structure comparison.</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3853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25359" y="290897"/>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Method:</a:t>
            </a:r>
            <a:endParaRPr lang="zh-TW" altLang="en-US" sz="3200" b="1" dirty="0">
              <a:latin typeface="Times New Roman" panose="02020603050405020304" pitchFamily="18" charset="0"/>
              <a:cs typeface="Times New Roman" panose="02020603050405020304" pitchFamily="18" charset="0"/>
            </a:endParaRPr>
          </a:p>
        </p:txBody>
      </p:sp>
      <p:pic>
        <p:nvPicPr>
          <p:cNvPr id="10" name="圖片 9"/>
          <p:cNvPicPr>
            <a:picLocks noChangeAspect="1"/>
          </p:cNvPicPr>
          <p:nvPr/>
        </p:nvPicPr>
        <p:blipFill>
          <a:blip r:embed="rId3"/>
          <a:stretch>
            <a:fillRect/>
          </a:stretch>
        </p:blipFill>
        <p:spPr>
          <a:xfrm>
            <a:off x="1027858" y="2727543"/>
            <a:ext cx="6067757" cy="694599"/>
          </a:xfrm>
          <a:prstGeom prst="rect">
            <a:avLst/>
          </a:prstGeom>
        </p:spPr>
      </p:pic>
      <p:pic>
        <p:nvPicPr>
          <p:cNvPr id="12" name="圖片 11"/>
          <p:cNvPicPr>
            <a:picLocks noChangeAspect="1"/>
          </p:cNvPicPr>
          <p:nvPr/>
        </p:nvPicPr>
        <p:blipFill>
          <a:blip r:embed="rId4"/>
          <a:stretch>
            <a:fillRect/>
          </a:stretch>
        </p:blipFill>
        <p:spPr>
          <a:xfrm>
            <a:off x="1015654" y="3800877"/>
            <a:ext cx="7267848" cy="799992"/>
          </a:xfrm>
          <a:prstGeom prst="rect">
            <a:avLst/>
          </a:prstGeom>
        </p:spPr>
      </p:pic>
      <p:sp>
        <p:nvSpPr>
          <p:cNvPr id="13" name="矩形 12"/>
          <p:cNvSpPr/>
          <p:nvPr/>
        </p:nvSpPr>
        <p:spPr>
          <a:xfrm>
            <a:off x="1027858" y="1356424"/>
            <a:ext cx="6081701" cy="830997"/>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D</a:t>
            </a:r>
            <a:r>
              <a:rPr lang="zh-TW" altLang="en-US" sz="2400" dirty="0" smtClean="0">
                <a:latin typeface="Times New Roman" panose="02020603050405020304" pitchFamily="18" charset="0"/>
                <a:cs typeface="Times New Roman" panose="02020603050405020304" pitchFamily="18" charset="0"/>
              </a:rPr>
              <a:t>efining </a:t>
            </a:r>
            <a:r>
              <a:rPr lang="zh-TW" altLang="en-US" sz="2400" dirty="0">
                <a:latin typeface="Times New Roman" panose="02020603050405020304" pitchFamily="18" charset="0"/>
                <a:cs typeface="Times New Roman" panose="02020603050405020304" pitchFamily="18" charset="0"/>
              </a:rPr>
              <a:t>the minimum 1D Hausdorff distance of two finite point sets </a:t>
            </a:r>
            <a:r>
              <a:rPr lang="zh-TW" altLang="en-US" sz="2400" dirty="0" smtClean="0">
                <a:latin typeface="Times New Roman" panose="02020603050405020304" pitchFamily="18" charset="0"/>
                <a:cs typeface="Times New Roman" panose="02020603050405020304" pitchFamily="18" charset="0"/>
              </a:rPr>
              <a:t> A  and B  in </a:t>
            </a:r>
            <a:r>
              <a:rPr lang="zh-TW" altLang="en-US" sz="2400" i="1" dirty="0">
                <a:latin typeface="Times New Roman" panose="02020603050405020304" pitchFamily="18" charset="0"/>
                <a:cs typeface="Times New Roman" panose="02020603050405020304" pitchFamily="18" charset="0"/>
              </a:rPr>
              <a:t>R</a:t>
            </a:r>
            <a:r>
              <a:rPr lang="zh-TW" altLang="en-US" sz="2400" dirty="0">
                <a:latin typeface="Times New Roman" panose="02020603050405020304" pitchFamily="18" charset="0"/>
                <a:cs typeface="Times New Roman" panose="02020603050405020304" pitchFamily="18" charset="0"/>
              </a:rPr>
              <a:t> as</a:t>
            </a:r>
          </a:p>
        </p:txBody>
      </p:sp>
      <p:pic>
        <p:nvPicPr>
          <p:cNvPr id="3" name="圖片 2"/>
          <p:cNvPicPr>
            <a:picLocks noChangeAspect="1"/>
          </p:cNvPicPr>
          <p:nvPr/>
        </p:nvPicPr>
        <p:blipFill>
          <a:blip r:embed="rId5"/>
          <a:stretch>
            <a:fillRect/>
          </a:stretch>
        </p:blipFill>
        <p:spPr>
          <a:xfrm>
            <a:off x="3993742" y="1844619"/>
            <a:ext cx="303936" cy="274285"/>
          </a:xfrm>
          <a:prstGeom prst="rect">
            <a:avLst/>
          </a:prstGeom>
        </p:spPr>
      </p:pic>
      <p:pic>
        <p:nvPicPr>
          <p:cNvPr id="4" name="圖片 3"/>
          <p:cNvPicPr>
            <a:picLocks noChangeAspect="1"/>
          </p:cNvPicPr>
          <p:nvPr/>
        </p:nvPicPr>
        <p:blipFill>
          <a:blip r:embed="rId6"/>
          <a:stretch>
            <a:fillRect/>
          </a:stretch>
        </p:blipFill>
        <p:spPr>
          <a:xfrm>
            <a:off x="4843799" y="1835554"/>
            <a:ext cx="305718" cy="283350"/>
          </a:xfrm>
          <a:prstGeom prst="rect">
            <a:avLst/>
          </a:prstGeom>
        </p:spPr>
      </p:pic>
      <p:sp>
        <p:nvSpPr>
          <p:cNvPr id="5" name="矩形 4"/>
          <p:cNvSpPr/>
          <p:nvPr/>
        </p:nvSpPr>
        <p:spPr>
          <a:xfrm>
            <a:off x="1004226" y="5556808"/>
            <a:ext cx="6115019" cy="830997"/>
          </a:xfrm>
          <a:prstGeom prst="rect">
            <a:avLst/>
          </a:prstGeom>
        </p:spPr>
        <p:txBody>
          <a:bodyPr wrap="square">
            <a:spAutoFit/>
          </a:bodyPr>
          <a:lstStyle/>
          <a:p>
            <a:r>
              <a:rPr lang="en-US" altLang="zh-TW" sz="1600" dirty="0" smtClean="0">
                <a:latin typeface="Times New Roman" panose="02020603050405020304" pitchFamily="18" charset="0"/>
                <a:cs typeface="Times New Roman" panose="02020603050405020304" pitchFamily="18" charset="0"/>
              </a:rPr>
              <a:t>【</a:t>
            </a:r>
            <a:r>
              <a:rPr lang="zh-TW" altLang="en-US" sz="1600" dirty="0" smtClean="0">
                <a:latin typeface="Times New Roman" panose="02020603050405020304" pitchFamily="18" charset="0"/>
                <a:cs typeface="Times New Roman" panose="02020603050405020304" pitchFamily="18" charset="0"/>
              </a:rPr>
              <a:t>Banghe Li</a:t>
            </a:r>
            <a:r>
              <a:rPr lang="en-US" altLang="zh-TW" sz="1600" dirty="0">
                <a:latin typeface="Times New Roman" panose="02020603050405020304" pitchFamily="18" charset="0"/>
                <a:cs typeface="Times New Roman" panose="02020603050405020304" pitchFamily="18" charset="0"/>
              </a:rPr>
              <a:t>, A new algorithm for computing the minimum </a:t>
            </a:r>
            <a:r>
              <a:rPr lang="en-US" altLang="zh-TW" sz="1600" dirty="0" err="1" smtClean="0">
                <a:latin typeface="Times New Roman" panose="02020603050405020304" pitchFamily="18" charset="0"/>
                <a:cs typeface="Times New Roman" panose="02020603050405020304" pitchFamily="18" charset="0"/>
              </a:rPr>
              <a:t>Hausdorff</a:t>
            </a:r>
            <a:r>
              <a:rPr lang="en-US" altLang="zh-TW" sz="1600" dirty="0" smtClean="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distance between two point sets on </a:t>
            </a:r>
            <a:r>
              <a:rPr lang="en-US" altLang="zh-TW" sz="1600" dirty="0" smtClean="0">
                <a:latin typeface="Times New Roman" panose="02020603050405020304" pitchFamily="18" charset="0"/>
                <a:cs typeface="Times New Roman" panose="02020603050405020304" pitchFamily="18" charset="0"/>
              </a:rPr>
              <a:t> a </a:t>
            </a:r>
            <a:r>
              <a:rPr lang="en-US" altLang="zh-TW" sz="1600" dirty="0">
                <a:latin typeface="Times New Roman" panose="02020603050405020304" pitchFamily="18" charset="0"/>
                <a:cs typeface="Times New Roman" panose="02020603050405020304" pitchFamily="18" charset="0"/>
              </a:rPr>
              <a:t>line under </a:t>
            </a:r>
            <a:r>
              <a:rPr lang="en-US" altLang="zh-TW" sz="1600" dirty="0" smtClean="0">
                <a:latin typeface="Times New Roman" panose="02020603050405020304" pitchFamily="18" charset="0"/>
                <a:cs typeface="Times New Roman" panose="02020603050405020304" pitchFamily="18" charset="0"/>
              </a:rPr>
              <a:t>translation, </a:t>
            </a:r>
            <a:r>
              <a:rPr lang="en-US" altLang="zh-TW" sz="1600" dirty="0">
                <a:latin typeface="Times New Roman" panose="02020603050405020304" pitchFamily="18" charset="0"/>
                <a:cs typeface="Times New Roman" panose="02020603050405020304" pitchFamily="18" charset="0"/>
              </a:rPr>
              <a:t>Information Processing Letters, Vol106(2008), PP. </a:t>
            </a:r>
            <a:r>
              <a:rPr lang="en-US" altLang="zh-TW" sz="1600" dirty="0" smtClean="0">
                <a:latin typeface="Times New Roman" panose="02020603050405020304" pitchFamily="18" charset="0"/>
                <a:cs typeface="Times New Roman" panose="02020603050405020304" pitchFamily="18" charset="0"/>
              </a:rPr>
              <a:t>52-58.】</a:t>
            </a:r>
            <a:endParaRPr lang="zh-TW"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1367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stretch>
            <a:fillRect/>
          </a:stretch>
        </p:blipFill>
        <p:spPr>
          <a:xfrm>
            <a:off x="6002313" y="1326026"/>
            <a:ext cx="1187759" cy="452095"/>
          </a:xfrm>
          <a:prstGeom prst="rect">
            <a:avLst/>
          </a:prstGeom>
        </p:spPr>
      </p:pic>
      <p:pic>
        <p:nvPicPr>
          <p:cNvPr id="6" name="圖片 5"/>
          <p:cNvPicPr>
            <a:picLocks noChangeAspect="1"/>
          </p:cNvPicPr>
          <p:nvPr/>
        </p:nvPicPr>
        <p:blipFill>
          <a:blip r:embed="rId3"/>
          <a:stretch>
            <a:fillRect/>
          </a:stretch>
        </p:blipFill>
        <p:spPr>
          <a:xfrm>
            <a:off x="6431600" y="4617866"/>
            <a:ext cx="970227" cy="452095"/>
          </a:xfrm>
          <a:prstGeom prst="rect">
            <a:avLst/>
          </a:prstGeom>
        </p:spPr>
      </p:pic>
      <p:pic>
        <p:nvPicPr>
          <p:cNvPr id="3" name="圖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0426" y="1077861"/>
            <a:ext cx="5965057" cy="4172803"/>
          </a:xfrm>
          <a:prstGeom prst="rect">
            <a:avLst/>
          </a:prstGeom>
        </p:spPr>
      </p:pic>
      <p:pic>
        <p:nvPicPr>
          <p:cNvPr id="7" name="圖片 6"/>
          <p:cNvPicPr>
            <a:picLocks noChangeAspect="1"/>
          </p:cNvPicPr>
          <p:nvPr/>
        </p:nvPicPr>
        <p:blipFill>
          <a:blip r:embed="rId3"/>
          <a:stretch>
            <a:fillRect/>
          </a:stretch>
        </p:blipFill>
        <p:spPr>
          <a:xfrm>
            <a:off x="6111078" y="1190331"/>
            <a:ext cx="1187759" cy="452095"/>
          </a:xfrm>
          <a:prstGeom prst="rect">
            <a:avLst/>
          </a:prstGeom>
        </p:spPr>
      </p:pic>
      <p:pic>
        <p:nvPicPr>
          <p:cNvPr id="8" name="圖片 7"/>
          <p:cNvPicPr>
            <a:picLocks noChangeAspect="1"/>
          </p:cNvPicPr>
          <p:nvPr/>
        </p:nvPicPr>
        <p:blipFill>
          <a:blip r:embed="rId3"/>
          <a:stretch>
            <a:fillRect/>
          </a:stretch>
        </p:blipFill>
        <p:spPr>
          <a:xfrm>
            <a:off x="6219845" y="4437162"/>
            <a:ext cx="970227" cy="452095"/>
          </a:xfrm>
          <a:prstGeom prst="rect">
            <a:avLst/>
          </a:prstGeom>
        </p:spPr>
      </p:pic>
    </p:spTree>
    <p:extLst>
      <p:ext uri="{BB962C8B-B14F-4D97-AF65-F5344CB8AC3E}">
        <p14:creationId xmlns:p14="http://schemas.microsoft.com/office/powerpoint/2010/main" val="42948725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stretch>
            <a:fillRect/>
          </a:stretch>
        </p:blipFill>
        <p:spPr>
          <a:xfrm>
            <a:off x="6002313" y="1326026"/>
            <a:ext cx="1187759" cy="452095"/>
          </a:xfrm>
          <a:prstGeom prst="rect">
            <a:avLst/>
          </a:prstGeom>
        </p:spPr>
      </p:pic>
      <p:pic>
        <p:nvPicPr>
          <p:cNvPr id="6" name="圖片 5"/>
          <p:cNvPicPr>
            <a:picLocks noChangeAspect="1"/>
          </p:cNvPicPr>
          <p:nvPr/>
        </p:nvPicPr>
        <p:blipFill>
          <a:blip r:embed="rId3"/>
          <a:stretch>
            <a:fillRect/>
          </a:stretch>
        </p:blipFill>
        <p:spPr>
          <a:xfrm>
            <a:off x="6431600" y="4617866"/>
            <a:ext cx="970227" cy="452095"/>
          </a:xfrm>
          <a:prstGeom prst="rect">
            <a:avLst/>
          </a:prstGeom>
        </p:spPr>
      </p:pic>
      <p:pic>
        <p:nvPicPr>
          <p:cNvPr id="3" name="圖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0426" y="1077861"/>
            <a:ext cx="5965057" cy="4172804"/>
          </a:xfrm>
          <a:prstGeom prst="rect">
            <a:avLst/>
          </a:prstGeom>
        </p:spPr>
      </p:pic>
      <p:pic>
        <p:nvPicPr>
          <p:cNvPr id="7" name="圖片 6"/>
          <p:cNvPicPr>
            <a:picLocks noChangeAspect="1"/>
          </p:cNvPicPr>
          <p:nvPr/>
        </p:nvPicPr>
        <p:blipFill>
          <a:blip r:embed="rId3"/>
          <a:stretch>
            <a:fillRect/>
          </a:stretch>
        </p:blipFill>
        <p:spPr>
          <a:xfrm>
            <a:off x="6111078" y="1190331"/>
            <a:ext cx="1187759" cy="452095"/>
          </a:xfrm>
          <a:prstGeom prst="rect">
            <a:avLst/>
          </a:prstGeom>
        </p:spPr>
      </p:pic>
      <p:pic>
        <p:nvPicPr>
          <p:cNvPr id="8" name="圖片 7"/>
          <p:cNvPicPr>
            <a:picLocks noChangeAspect="1"/>
          </p:cNvPicPr>
          <p:nvPr/>
        </p:nvPicPr>
        <p:blipFill>
          <a:blip r:embed="rId3"/>
          <a:stretch>
            <a:fillRect/>
          </a:stretch>
        </p:blipFill>
        <p:spPr>
          <a:xfrm>
            <a:off x="6219845" y="4437162"/>
            <a:ext cx="970227" cy="452095"/>
          </a:xfrm>
          <a:prstGeom prst="rect">
            <a:avLst/>
          </a:prstGeom>
        </p:spPr>
      </p:pic>
    </p:spTree>
    <p:extLst>
      <p:ext uri="{BB962C8B-B14F-4D97-AF65-F5344CB8AC3E}">
        <p14:creationId xmlns:p14="http://schemas.microsoft.com/office/powerpoint/2010/main" val="31221298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stretch>
            <a:fillRect/>
          </a:stretch>
        </p:blipFill>
        <p:spPr>
          <a:xfrm>
            <a:off x="6002313" y="1326026"/>
            <a:ext cx="1187759" cy="452095"/>
          </a:xfrm>
          <a:prstGeom prst="rect">
            <a:avLst/>
          </a:prstGeom>
        </p:spPr>
      </p:pic>
      <p:pic>
        <p:nvPicPr>
          <p:cNvPr id="6" name="圖片 5"/>
          <p:cNvPicPr>
            <a:picLocks noChangeAspect="1"/>
          </p:cNvPicPr>
          <p:nvPr/>
        </p:nvPicPr>
        <p:blipFill>
          <a:blip r:embed="rId3"/>
          <a:stretch>
            <a:fillRect/>
          </a:stretch>
        </p:blipFill>
        <p:spPr>
          <a:xfrm>
            <a:off x="6431600" y="4617866"/>
            <a:ext cx="970227" cy="452095"/>
          </a:xfrm>
          <a:prstGeom prst="rect">
            <a:avLst/>
          </a:prstGeom>
        </p:spPr>
      </p:pic>
      <p:pic>
        <p:nvPicPr>
          <p:cNvPr id="7" name="圖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0426" y="1077861"/>
            <a:ext cx="5965057" cy="4172803"/>
          </a:xfrm>
          <a:prstGeom prst="rect">
            <a:avLst/>
          </a:prstGeom>
        </p:spPr>
      </p:pic>
      <p:pic>
        <p:nvPicPr>
          <p:cNvPr id="8" name="圖片 7"/>
          <p:cNvPicPr>
            <a:picLocks noChangeAspect="1"/>
          </p:cNvPicPr>
          <p:nvPr/>
        </p:nvPicPr>
        <p:blipFill>
          <a:blip r:embed="rId3"/>
          <a:stretch>
            <a:fillRect/>
          </a:stretch>
        </p:blipFill>
        <p:spPr>
          <a:xfrm>
            <a:off x="6111078" y="1190331"/>
            <a:ext cx="1187759" cy="452095"/>
          </a:xfrm>
          <a:prstGeom prst="rect">
            <a:avLst/>
          </a:prstGeom>
        </p:spPr>
      </p:pic>
      <p:pic>
        <p:nvPicPr>
          <p:cNvPr id="9" name="圖片 8"/>
          <p:cNvPicPr>
            <a:picLocks noChangeAspect="1"/>
          </p:cNvPicPr>
          <p:nvPr/>
        </p:nvPicPr>
        <p:blipFill>
          <a:blip r:embed="rId3"/>
          <a:stretch>
            <a:fillRect/>
          </a:stretch>
        </p:blipFill>
        <p:spPr>
          <a:xfrm>
            <a:off x="6219845" y="4437162"/>
            <a:ext cx="970227" cy="452095"/>
          </a:xfrm>
          <a:prstGeom prst="rect">
            <a:avLst/>
          </a:prstGeom>
        </p:spPr>
      </p:pic>
    </p:spTree>
    <p:extLst>
      <p:ext uri="{BB962C8B-B14F-4D97-AF65-F5344CB8AC3E}">
        <p14:creationId xmlns:p14="http://schemas.microsoft.com/office/powerpoint/2010/main" val="42458008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stretch>
            <a:fillRect/>
          </a:stretch>
        </p:blipFill>
        <p:spPr>
          <a:xfrm>
            <a:off x="6002313" y="1326026"/>
            <a:ext cx="1187759" cy="452095"/>
          </a:xfrm>
          <a:prstGeom prst="rect">
            <a:avLst/>
          </a:prstGeom>
        </p:spPr>
      </p:pic>
      <p:pic>
        <p:nvPicPr>
          <p:cNvPr id="6" name="圖片 5"/>
          <p:cNvPicPr>
            <a:picLocks noChangeAspect="1"/>
          </p:cNvPicPr>
          <p:nvPr/>
        </p:nvPicPr>
        <p:blipFill>
          <a:blip r:embed="rId3"/>
          <a:stretch>
            <a:fillRect/>
          </a:stretch>
        </p:blipFill>
        <p:spPr>
          <a:xfrm>
            <a:off x="6431600" y="4617866"/>
            <a:ext cx="970227" cy="452095"/>
          </a:xfrm>
          <a:prstGeom prst="rect">
            <a:avLst/>
          </a:prstGeom>
        </p:spPr>
      </p:pic>
      <p:pic>
        <p:nvPicPr>
          <p:cNvPr id="7" name="圖片 6"/>
          <p:cNvPicPr>
            <a:picLocks noChangeAspect="1"/>
          </p:cNvPicPr>
          <p:nvPr/>
        </p:nvPicPr>
        <p:blipFill>
          <a:blip r:embed="rId3"/>
          <a:stretch>
            <a:fillRect/>
          </a:stretch>
        </p:blipFill>
        <p:spPr>
          <a:xfrm>
            <a:off x="6002313" y="1326026"/>
            <a:ext cx="1187759" cy="452095"/>
          </a:xfrm>
          <a:prstGeom prst="rect">
            <a:avLst/>
          </a:prstGeom>
        </p:spPr>
      </p:pic>
      <p:pic>
        <p:nvPicPr>
          <p:cNvPr id="8" name="圖片 7"/>
          <p:cNvPicPr>
            <a:picLocks noChangeAspect="1"/>
          </p:cNvPicPr>
          <p:nvPr/>
        </p:nvPicPr>
        <p:blipFill>
          <a:blip r:embed="rId3"/>
          <a:stretch>
            <a:fillRect/>
          </a:stretch>
        </p:blipFill>
        <p:spPr>
          <a:xfrm>
            <a:off x="6431600" y="4617866"/>
            <a:ext cx="970227" cy="452095"/>
          </a:xfrm>
          <a:prstGeom prst="rect">
            <a:avLst/>
          </a:prstGeom>
        </p:spPr>
      </p:pic>
      <p:pic>
        <p:nvPicPr>
          <p:cNvPr id="9" name="圖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0426" y="1077861"/>
            <a:ext cx="5965056" cy="4172803"/>
          </a:xfrm>
          <a:prstGeom prst="rect">
            <a:avLst/>
          </a:prstGeom>
        </p:spPr>
      </p:pic>
      <p:pic>
        <p:nvPicPr>
          <p:cNvPr id="10" name="圖片 9"/>
          <p:cNvPicPr>
            <a:picLocks noChangeAspect="1"/>
          </p:cNvPicPr>
          <p:nvPr/>
        </p:nvPicPr>
        <p:blipFill>
          <a:blip r:embed="rId3"/>
          <a:stretch>
            <a:fillRect/>
          </a:stretch>
        </p:blipFill>
        <p:spPr>
          <a:xfrm>
            <a:off x="6111078" y="1190331"/>
            <a:ext cx="1187759" cy="452095"/>
          </a:xfrm>
          <a:prstGeom prst="rect">
            <a:avLst/>
          </a:prstGeom>
        </p:spPr>
      </p:pic>
      <p:pic>
        <p:nvPicPr>
          <p:cNvPr id="11" name="圖片 10"/>
          <p:cNvPicPr>
            <a:picLocks noChangeAspect="1"/>
          </p:cNvPicPr>
          <p:nvPr/>
        </p:nvPicPr>
        <p:blipFill>
          <a:blip r:embed="rId3"/>
          <a:stretch>
            <a:fillRect/>
          </a:stretch>
        </p:blipFill>
        <p:spPr>
          <a:xfrm>
            <a:off x="6219845" y="4437162"/>
            <a:ext cx="970227" cy="452095"/>
          </a:xfrm>
          <a:prstGeom prst="rect">
            <a:avLst/>
          </a:prstGeom>
        </p:spPr>
      </p:pic>
    </p:spTree>
    <p:extLst>
      <p:ext uri="{BB962C8B-B14F-4D97-AF65-F5344CB8AC3E}">
        <p14:creationId xmlns:p14="http://schemas.microsoft.com/office/powerpoint/2010/main" val="3977056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stretch>
            <a:fillRect/>
          </a:stretch>
        </p:blipFill>
        <p:spPr>
          <a:xfrm>
            <a:off x="6002313" y="1326026"/>
            <a:ext cx="1187759" cy="452095"/>
          </a:xfrm>
          <a:prstGeom prst="rect">
            <a:avLst/>
          </a:prstGeom>
        </p:spPr>
      </p:pic>
      <p:pic>
        <p:nvPicPr>
          <p:cNvPr id="6" name="圖片 5"/>
          <p:cNvPicPr>
            <a:picLocks noChangeAspect="1"/>
          </p:cNvPicPr>
          <p:nvPr/>
        </p:nvPicPr>
        <p:blipFill>
          <a:blip r:embed="rId3"/>
          <a:stretch>
            <a:fillRect/>
          </a:stretch>
        </p:blipFill>
        <p:spPr>
          <a:xfrm>
            <a:off x="6431600" y="4617866"/>
            <a:ext cx="970227" cy="452095"/>
          </a:xfrm>
          <a:prstGeom prst="rect">
            <a:avLst/>
          </a:prstGeom>
        </p:spPr>
      </p:pic>
      <p:pic>
        <p:nvPicPr>
          <p:cNvPr id="7" name="圖片 6"/>
          <p:cNvPicPr>
            <a:picLocks noChangeAspect="1"/>
          </p:cNvPicPr>
          <p:nvPr/>
        </p:nvPicPr>
        <p:blipFill>
          <a:blip r:embed="rId3"/>
          <a:stretch>
            <a:fillRect/>
          </a:stretch>
        </p:blipFill>
        <p:spPr>
          <a:xfrm>
            <a:off x="6002313" y="1326026"/>
            <a:ext cx="1187759" cy="452095"/>
          </a:xfrm>
          <a:prstGeom prst="rect">
            <a:avLst/>
          </a:prstGeom>
        </p:spPr>
      </p:pic>
      <p:pic>
        <p:nvPicPr>
          <p:cNvPr id="8" name="圖片 7"/>
          <p:cNvPicPr>
            <a:picLocks noChangeAspect="1"/>
          </p:cNvPicPr>
          <p:nvPr/>
        </p:nvPicPr>
        <p:blipFill>
          <a:blip r:embed="rId3"/>
          <a:stretch>
            <a:fillRect/>
          </a:stretch>
        </p:blipFill>
        <p:spPr>
          <a:xfrm>
            <a:off x="6431600" y="4617866"/>
            <a:ext cx="970227" cy="452095"/>
          </a:xfrm>
          <a:prstGeom prst="rect">
            <a:avLst/>
          </a:prstGeom>
        </p:spPr>
      </p:pic>
      <p:pic>
        <p:nvPicPr>
          <p:cNvPr id="9" name="圖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0426" y="1077861"/>
            <a:ext cx="5965056" cy="4172802"/>
          </a:xfrm>
          <a:prstGeom prst="rect">
            <a:avLst/>
          </a:prstGeom>
        </p:spPr>
      </p:pic>
      <p:pic>
        <p:nvPicPr>
          <p:cNvPr id="10" name="圖片 9"/>
          <p:cNvPicPr>
            <a:picLocks noChangeAspect="1"/>
          </p:cNvPicPr>
          <p:nvPr/>
        </p:nvPicPr>
        <p:blipFill>
          <a:blip r:embed="rId3"/>
          <a:stretch>
            <a:fillRect/>
          </a:stretch>
        </p:blipFill>
        <p:spPr>
          <a:xfrm>
            <a:off x="6111078" y="1190331"/>
            <a:ext cx="1187759" cy="452095"/>
          </a:xfrm>
          <a:prstGeom prst="rect">
            <a:avLst/>
          </a:prstGeom>
        </p:spPr>
      </p:pic>
      <p:pic>
        <p:nvPicPr>
          <p:cNvPr id="11" name="圖片 10"/>
          <p:cNvPicPr>
            <a:picLocks noChangeAspect="1"/>
          </p:cNvPicPr>
          <p:nvPr/>
        </p:nvPicPr>
        <p:blipFill>
          <a:blip r:embed="rId3"/>
          <a:stretch>
            <a:fillRect/>
          </a:stretch>
        </p:blipFill>
        <p:spPr>
          <a:xfrm>
            <a:off x="6219845" y="4437162"/>
            <a:ext cx="970227" cy="452095"/>
          </a:xfrm>
          <a:prstGeom prst="rect">
            <a:avLst/>
          </a:prstGeom>
        </p:spPr>
      </p:pic>
    </p:spTree>
    <p:extLst>
      <p:ext uri="{BB962C8B-B14F-4D97-AF65-F5344CB8AC3E}">
        <p14:creationId xmlns:p14="http://schemas.microsoft.com/office/powerpoint/2010/main" val="16623490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stretch>
            <a:fillRect/>
          </a:stretch>
        </p:blipFill>
        <p:spPr>
          <a:xfrm>
            <a:off x="6002313" y="1326026"/>
            <a:ext cx="1187759" cy="452095"/>
          </a:xfrm>
          <a:prstGeom prst="rect">
            <a:avLst/>
          </a:prstGeom>
        </p:spPr>
      </p:pic>
      <p:pic>
        <p:nvPicPr>
          <p:cNvPr id="6" name="圖片 5"/>
          <p:cNvPicPr>
            <a:picLocks noChangeAspect="1"/>
          </p:cNvPicPr>
          <p:nvPr/>
        </p:nvPicPr>
        <p:blipFill>
          <a:blip r:embed="rId3"/>
          <a:stretch>
            <a:fillRect/>
          </a:stretch>
        </p:blipFill>
        <p:spPr>
          <a:xfrm>
            <a:off x="6431600" y="4617866"/>
            <a:ext cx="970227" cy="452095"/>
          </a:xfrm>
          <a:prstGeom prst="rect">
            <a:avLst/>
          </a:prstGeom>
        </p:spPr>
      </p:pic>
      <p:pic>
        <p:nvPicPr>
          <p:cNvPr id="7" name="圖片 6"/>
          <p:cNvPicPr>
            <a:picLocks noChangeAspect="1"/>
          </p:cNvPicPr>
          <p:nvPr/>
        </p:nvPicPr>
        <p:blipFill>
          <a:blip r:embed="rId3"/>
          <a:stretch>
            <a:fillRect/>
          </a:stretch>
        </p:blipFill>
        <p:spPr>
          <a:xfrm>
            <a:off x="6002313" y="1326026"/>
            <a:ext cx="1187759" cy="452095"/>
          </a:xfrm>
          <a:prstGeom prst="rect">
            <a:avLst/>
          </a:prstGeom>
        </p:spPr>
      </p:pic>
      <p:pic>
        <p:nvPicPr>
          <p:cNvPr id="8" name="圖片 7"/>
          <p:cNvPicPr>
            <a:picLocks noChangeAspect="1"/>
          </p:cNvPicPr>
          <p:nvPr/>
        </p:nvPicPr>
        <p:blipFill>
          <a:blip r:embed="rId3"/>
          <a:stretch>
            <a:fillRect/>
          </a:stretch>
        </p:blipFill>
        <p:spPr>
          <a:xfrm>
            <a:off x="6431600" y="4617866"/>
            <a:ext cx="970227" cy="452095"/>
          </a:xfrm>
          <a:prstGeom prst="rect">
            <a:avLst/>
          </a:prstGeom>
        </p:spPr>
      </p:pic>
      <p:pic>
        <p:nvPicPr>
          <p:cNvPr id="9" name="圖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0426" y="1077861"/>
            <a:ext cx="5965056" cy="4172803"/>
          </a:xfrm>
          <a:prstGeom prst="rect">
            <a:avLst/>
          </a:prstGeom>
        </p:spPr>
      </p:pic>
      <p:pic>
        <p:nvPicPr>
          <p:cNvPr id="10" name="圖片 9"/>
          <p:cNvPicPr>
            <a:picLocks noChangeAspect="1"/>
          </p:cNvPicPr>
          <p:nvPr/>
        </p:nvPicPr>
        <p:blipFill>
          <a:blip r:embed="rId3"/>
          <a:stretch>
            <a:fillRect/>
          </a:stretch>
        </p:blipFill>
        <p:spPr>
          <a:xfrm>
            <a:off x="6111078" y="1190331"/>
            <a:ext cx="1187759" cy="452095"/>
          </a:xfrm>
          <a:prstGeom prst="rect">
            <a:avLst/>
          </a:prstGeom>
        </p:spPr>
      </p:pic>
      <p:pic>
        <p:nvPicPr>
          <p:cNvPr id="11" name="圖片 10"/>
          <p:cNvPicPr>
            <a:picLocks noChangeAspect="1"/>
          </p:cNvPicPr>
          <p:nvPr/>
        </p:nvPicPr>
        <p:blipFill>
          <a:blip r:embed="rId3"/>
          <a:stretch>
            <a:fillRect/>
          </a:stretch>
        </p:blipFill>
        <p:spPr>
          <a:xfrm>
            <a:off x="6219845" y="4437162"/>
            <a:ext cx="970227" cy="452095"/>
          </a:xfrm>
          <a:prstGeom prst="rect">
            <a:avLst/>
          </a:prstGeom>
        </p:spPr>
      </p:pic>
    </p:spTree>
    <p:extLst>
      <p:ext uri="{BB962C8B-B14F-4D97-AF65-F5344CB8AC3E}">
        <p14:creationId xmlns:p14="http://schemas.microsoft.com/office/powerpoint/2010/main" val="29306880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stretch>
            <a:fillRect/>
          </a:stretch>
        </p:blipFill>
        <p:spPr>
          <a:xfrm>
            <a:off x="6002313" y="1326026"/>
            <a:ext cx="1187759" cy="452095"/>
          </a:xfrm>
          <a:prstGeom prst="rect">
            <a:avLst/>
          </a:prstGeom>
        </p:spPr>
      </p:pic>
      <p:pic>
        <p:nvPicPr>
          <p:cNvPr id="6" name="圖片 5"/>
          <p:cNvPicPr>
            <a:picLocks noChangeAspect="1"/>
          </p:cNvPicPr>
          <p:nvPr/>
        </p:nvPicPr>
        <p:blipFill>
          <a:blip r:embed="rId3"/>
          <a:stretch>
            <a:fillRect/>
          </a:stretch>
        </p:blipFill>
        <p:spPr>
          <a:xfrm>
            <a:off x="6431600" y="4617866"/>
            <a:ext cx="970227" cy="452095"/>
          </a:xfrm>
          <a:prstGeom prst="rect">
            <a:avLst/>
          </a:prstGeom>
        </p:spPr>
      </p:pic>
      <p:pic>
        <p:nvPicPr>
          <p:cNvPr id="4" name="圖片 3"/>
          <p:cNvPicPr>
            <a:picLocks noChangeAspect="1"/>
          </p:cNvPicPr>
          <p:nvPr/>
        </p:nvPicPr>
        <p:blipFill>
          <a:blip r:embed="rId3"/>
          <a:stretch>
            <a:fillRect/>
          </a:stretch>
        </p:blipFill>
        <p:spPr>
          <a:xfrm>
            <a:off x="6002313" y="1326026"/>
            <a:ext cx="1187759" cy="452095"/>
          </a:xfrm>
          <a:prstGeom prst="rect">
            <a:avLst/>
          </a:prstGeom>
        </p:spPr>
      </p:pic>
      <p:pic>
        <p:nvPicPr>
          <p:cNvPr id="7" name="圖片 6"/>
          <p:cNvPicPr>
            <a:picLocks noChangeAspect="1"/>
          </p:cNvPicPr>
          <p:nvPr/>
        </p:nvPicPr>
        <p:blipFill>
          <a:blip r:embed="rId3"/>
          <a:stretch>
            <a:fillRect/>
          </a:stretch>
        </p:blipFill>
        <p:spPr>
          <a:xfrm>
            <a:off x="6431600" y="4617866"/>
            <a:ext cx="970227" cy="452095"/>
          </a:xfrm>
          <a:prstGeom prst="rect">
            <a:avLst/>
          </a:prstGeom>
        </p:spPr>
      </p:pic>
      <p:pic>
        <p:nvPicPr>
          <p:cNvPr id="8" name="圖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0426" y="1077861"/>
            <a:ext cx="5965056" cy="4172803"/>
          </a:xfrm>
          <a:prstGeom prst="rect">
            <a:avLst/>
          </a:prstGeom>
        </p:spPr>
      </p:pic>
      <p:pic>
        <p:nvPicPr>
          <p:cNvPr id="9" name="圖片 8"/>
          <p:cNvPicPr>
            <a:picLocks noChangeAspect="1"/>
          </p:cNvPicPr>
          <p:nvPr/>
        </p:nvPicPr>
        <p:blipFill>
          <a:blip r:embed="rId3"/>
          <a:stretch>
            <a:fillRect/>
          </a:stretch>
        </p:blipFill>
        <p:spPr>
          <a:xfrm>
            <a:off x="6111078" y="1190331"/>
            <a:ext cx="1187759" cy="452095"/>
          </a:xfrm>
          <a:prstGeom prst="rect">
            <a:avLst/>
          </a:prstGeom>
        </p:spPr>
      </p:pic>
      <p:pic>
        <p:nvPicPr>
          <p:cNvPr id="10" name="圖片 9"/>
          <p:cNvPicPr>
            <a:picLocks noChangeAspect="1"/>
          </p:cNvPicPr>
          <p:nvPr/>
        </p:nvPicPr>
        <p:blipFill>
          <a:blip r:embed="rId3"/>
          <a:stretch>
            <a:fillRect/>
          </a:stretch>
        </p:blipFill>
        <p:spPr>
          <a:xfrm>
            <a:off x="6219845" y="4437162"/>
            <a:ext cx="970227" cy="452095"/>
          </a:xfrm>
          <a:prstGeom prst="rect">
            <a:avLst/>
          </a:prstGeom>
        </p:spPr>
      </p:pic>
    </p:spTree>
    <p:extLst>
      <p:ext uri="{BB962C8B-B14F-4D97-AF65-F5344CB8AC3E}">
        <p14:creationId xmlns:p14="http://schemas.microsoft.com/office/powerpoint/2010/main" val="6045258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1096438" y="684024"/>
            <a:ext cx="6067757" cy="694599"/>
          </a:xfrm>
          <a:prstGeom prst="rect">
            <a:avLst/>
          </a:prstGeom>
        </p:spPr>
      </p:pic>
      <p:sp>
        <p:nvSpPr>
          <p:cNvPr id="5" name="矩形 4"/>
          <p:cNvSpPr/>
          <p:nvPr/>
        </p:nvSpPr>
        <p:spPr>
          <a:xfrm>
            <a:off x="1096438" y="4430375"/>
            <a:ext cx="7128234" cy="1200329"/>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Parameter t denotes the amount by which A is </a:t>
            </a:r>
            <a:r>
              <a:rPr lang="en-US" altLang="zh-TW" sz="2400" b="1" dirty="0">
                <a:latin typeface="Times New Roman" panose="02020603050405020304" pitchFamily="18" charset="0"/>
                <a:cs typeface="Times New Roman" panose="02020603050405020304" pitchFamily="18" charset="0"/>
              </a:rPr>
              <a:t>shifted</a:t>
            </a:r>
            <a:r>
              <a:rPr lang="en-US" altLang="zh-TW" sz="2400" dirty="0" smtClean="0">
                <a:latin typeface="Times New Roman" panose="02020603050405020304" pitchFamily="18" charset="0"/>
                <a:cs typeface="Times New Roman" panose="02020603050405020304" pitchFamily="18" charset="0"/>
              </a:rPr>
              <a:t>.</a:t>
            </a:r>
          </a:p>
          <a:p>
            <a:r>
              <a:rPr lang="en-US" altLang="zh-TW" sz="2400" dirty="0" smtClean="0">
                <a:latin typeface="Times New Roman" panose="02020603050405020304" pitchFamily="18" charset="0"/>
                <a:cs typeface="Times New Roman" panose="02020603050405020304" pitchFamily="18" charset="0"/>
              </a:rPr>
              <a:t> </a:t>
            </a:r>
          </a:p>
          <a:p>
            <a:r>
              <a:rPr lang="en-US" altLang="zh-TW" sz="2400" b="1" dirty="0" smtClean="0">
                <a:latin typeface="Times New Roman" panose="02020603050405020304" pitchFamily="18" charset="0"/>
                <a:cs typeface="Times New Roman" panose="02020603050405020304" pitchFamily="18" charset="0"/>
              </a:rPr>
              <a:t>Goal</a:t>
            </a:r>
            <a:r>
              <a:rPr lang="en-US" altLang="zh-TW" sz="2400" dirty="0">
                <a:latin typeface="Times New Roman" panose="02020603050405020304" pitchFamily="18" charset="0"/>
                <a:cs typeface="Times New Roman" panose="02020603050405020304" pitchFamily="18" charset="0"/>
              </a:rPr>
              <a:t>: shift set A to get minimum </a:t>
            </a:r>
            <a:r>
              <a:rPr lang="en-US" altLang="zh-TW" sz="2400" dirty="0" err="1">
                <a:latin typeface="Times New Roman" panose="02020603050405020304" pitchFamily="18" charset="0"/>
                <a:cs typeface="Times New Roman" panose="02020603050405020304" pitchFamily="18" charset="0"/>
              </a:rPr>
              <a:t>Hausdorff</a:t>
            </a:r>
            <a:r>
              <a:rPr lang="en-US" altLang="zh-TW" sz="2400" dirty="0">
                <a:latin typeface="Times New Roman" panose="02020603050405020304" pitchFamily="18" charset="0"/>
                <a:cs typeface="Times New Roman" panose="02020603050405020304" pitchFamily="18" charset="0"/>
              </a:rPr>
              <a:t> distance</a:t>
            </a:r>
            <a:endParaRPr lang="zh-TW" altLang="en-US" sz="2400"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3"/>
          <a:stretch>
            <a:fillRect/>
          </a:stretch>
        </p:blipFill>
        <p:spPr>
          <a:xfrm>
            <a:off x="1700564" y="1723546"/>
            <a:ext cx="5628571" cy="2361905"/>
          </a:xfrm>
          <a:prstGeom prst="rect">
            <a:avLst/>
          </a:prstGeom>
        </p:spPr>
      </p:pic>
    </p:spTree>
    <p:extLst>
      <p:ext uri="{BB962C8B-B14F-4D97-AF65-F5344CB8AC3E}">
        <p14:creationId xmlns:p14="http://schemas.microsoft.com/office/powerpoint/2010/main" val="836353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708650" y="1485765"/>
            <a:ext cx="5996950" cy="1482616"/>
          </a:xfrm>
          <a:prstGeom prst="rect">
            <a:avLst/>
          </a:prstGeom>
        </p:spPr>
      </p:pic>
      <p:pic>
        <p:nvPicPr>
          <p:cNvPr id="5" name="圖片 4"/>
          <p:cNvPicPr>
            <a:picLocks noChangeAspect="1"/>
          </p:cNvPicPr>
          <p:nvPr/>
        </p:nvPicPr>
        <p:blipFill>
          <a:blip r:embed="rId3"/>
          <a:stretch>
            <a:fillRect/>
          </a:stretch>
        </p:blipFill>
        <p:spPr>
          <a:xfrm>
            <a:off x="708650" y="597615"/>
            <a:ext cx="7105313" cy="492703"/>
          </a:xfrm>
          <a:prstGeom prst="rect">
            <a:avLst/>
          </a:prstGeom>
        </p:spPr>
      </p:pic>
      <p:pic>
        <p:nvPicPr>
          <p:cNvPr id="6" name="圖片 5"/>
          <p:cNvPicPr>
            <a:picLocks noChangeAspect="1"/>
          </p:cNvPicPr>
          <p:nvPr/>
        </p:nvPicPr>
        <p:blipFill>
          <a:blip r:embed="rId4"/>
          <a:stretch>
            <a:fillRect/>
          </a:stretch>
        </p:blipFill>
        <p:spPr>
          <a:xfrm>
            <a:off x="708649" y="3397076"/>
            <a:ext cx="5915072" cy="758530"/>
          </a:xfrm>
          <a:prstGeom prst="rect">
            <a:avLst/>
          </a:prstGeom>
        </p:spPr>
      </p:pic>
      <p:pic>
        <p:nvPicPr>
          <p:cNvPr id="7" name="圖片 6"/>
          <p:cNvPicPr>
            <a:picLocks noChangeAspect="1"/>
          </p:cNvPicPr>
          <p:nvPr/>
        </p:nvPicPr>
        <p:blipFill>
          <a:blip r:embed="rId5"/>
          <a:stretch>
            <a:fillRect/>
          </a:stretch>
        </p:blipFill>
        <p:spPr>
          <a:xfrm>
            <a:off x="692234" y="4435581"/>
            <a:ext cx="5878885" cy="758105"/>
          </a:xfrm>
          <a:prstGeom prst="rect">
            <a:avLst/>
          </a:prstGeom>
        </p:spPr>
      </p:pic>
      <p:pic>
        <p:nvPicPr>
          <p:cNvPr id="9" name="圖片 8"/>
          <p:cNvPicPr>
            <a:picLocks noChangeAspect="1"/>
          </p:cNvPicPr>
          <p:nvPr/>
        </p:nvPicPr>
        <p:blipFill>
          <a:blip r:embed="rId6"/>
          <a:stretch>
            <a:fillRect/>
          </a:stretch>
        </p:blipFill>
        <p:spPr>
          <a:xfrm>
            <a:off x="708649" y="5473661"/>
            <a:ext cx="5221095" cy="576877"/>
          </a:xfrm>
          <a:prstGeom prst="rect">
            <a:avLst/>
          </a:prstGeom>
        </p:spPr>
      </p:pic>
    </p:spTree>
    <p:extLst>
      <p:ext uri="{BB962C8B-B14F-4D97-AF65-F5344CB8AC3E}">
        <p14:creationId xmlns:p14="http://schemas.microsoft.com/office/powerpoint/2010/main" val="28241606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p:cNvSpPr>
            <a:spLocks noGrp="1" noChangeArrowheads="1"/>
          </p:cNvSpPr>
          <p:nvPr>
            <p:ph type="title"/>
          </p:nvPr>
        </p:nvSpPr>
        <p:spPr>
          <a:xfrm>
            <a:off x="229773" y="350492"/>
            <a:ext cx="8815373" cy="1143000"/>
          </a:xfrm>
          <a:noFill/>
        </p:spPr>
        <p:txBody>
          <a:bodyPr>
            <a:normAutofit/>
          </a:bodyPr>
          <a:lstStyle/>
          <a:p>
            <a:r>
              <a:rPr lang="en-US" altLang="zh-TW" sz="3600" b="1" dirty="0">
                <a:latin typeface="Times New Roman" panose="02020603050405020304" pitchFamily="18" charset="0"/>
                <a:cs typeface="Times New Roman" panose="02020603050405020304" pitchFamily="18" charset="0"/>
              </a:rPr>
              <a:t>Molecular phylogenetic analysis choosing cytochrome </a:t>
            </a:r>
            <a:r>
              <a:rPr lang="en-US" altLang="zh-TW" sz="3600" b="1" i="1" dirty="0">
                <a:latin typeface="Times New Roman" panose="02020603050405020304" pitchFamily="18" charset="0"/>
                <a:cs typeface="Times New Roman" panose="02020603050405020304" pitchFamily="18" charset="0"/>
              </a:rPr>
              <a:t>c</a:t>
            </a:r>
            <a:r>
              <a:rPr lang="en-US" altLang="zh-TW" sz="3600" b="1" dirty="0">
                <a:latin typeface="Times New Roman" panose="02020603050405020304" pitchFamily="18" charset="0"/>
                <a:cs typeface="Times New Roman" panose="02020603050405020304" pitchFamily="18" charset="0"/>
              </a:rPr>
              <a:t> as the molecular barcode</a:t>
            </a:r>
            <a:endParaRPr lang="zh-TW" altLang="en-US" sz="3600"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202466" y="2018210"/>
            <a:ext cx="6191235" cy="3782226"/>
          </a:xfrm>
          <a:prstGeom prst="rect">
            <a:avLst/>
          </a:prstGeom>
        </p:spPr>
      </p:pic>
      <p:pic>
        <p:nvPicPr>
          <p:cNvPr id="2" name="圖片 1"/>
          <p:cNvPicPr>
            <a:picLocks noChangeAspect="1"/>
          </p:cNvPicPr>
          <p:nvPr/>
        </p:nvPicPr>
        <p:blipFill>
          <a:blip r:embed="rId4"/>
          <a:stretch>
            <a:fillRect/>
          </a:stretch>
        </p:blipFill>
        <p:spPr>
          <a:xfrm>
            <a:off x="6707738" y="2018210"/>
            <a:ext cx="459680" cy="248475"/>
          </a:xfrm>
          <a:prstGeom prst="rect">
            <a:avLst/>
          </a:prstGeom>
        </p:spPr>
      </p:pic>
      <p:pic>
        <p:nvPicPr>
          <p:cNvPr id="5" name="圖片 4"/>
          <p:cNvPicPr>
            <a:picLocks noChangeAspect="1"/>
          </p:cNvPicPr>
          <p:nvPr/>
        </p:nvPicPr>
        <p:blipFill>
          <a:blip r:embed="rId5"/>
          <a:stretch>
            <a:fillRect/>
          </a:stretch>
        </p:blipFill>
        <p:spPr>
          <a:xfrm>
            <a:off x="6698501" y="3012837"/>
            <a:ext cx="468917" cy="131626"/>
          </a:xfrm>
          <a:prstGeom prst="rect">
            <a:avLst/>
          </a:prstGeom>
        </p:spPr>
      </p:pic>
      <p:pic>
        <p:nvPicPr>
          <p:cNvPr id="6" name="圖片 5"/>
          <p:cNvPicPr>
            <a:picLocks noChangeAspect="1"/>
          </p:cNvPicPr>
          <p:nvPr/>
        </p:nvPicPr>
        <p:blipFill>
          <a:blip r:embed="rId6"/>
          <a:stretch>
            <a:fillRect/>
          </a:stretch>
        </p:blipFill>
        <p:spPr>
          <a:xfrm>
            <a:off x="6698500" y="4014011"/>
            <a:ext cx="468918" cy="145526"/>
          </a:xfrm>
          <a:prstGeom prst="rect">
            <a:avLst/>
          </a:prstGeom>
        </p:spPr>
      </p:pic>
      <p:sp>
        <p:nvSpPr>
          <p:cNvPr id="8" name="矩形 7"/>
          <p:cNvSpPr/>
          <p:nvPr/>
        </p:nvSpPr>
        <p:spPr>
          <a:xfrm>
            <a:off x="6662359" y="2332127"/>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鯖形目</a:t>
            </a:r>
          </a:p>
        </p:txBody>
      </p:sp>
      <p:sp>
        <p:nvSpPr>
          <p:cNvPr id="9" name="矩形 8"/>
          <p:cNvSpPr/>
          <p:nvPr/>
        </p:nvSpPr>
        <p:spPr>
          <a:xfrm>
            <a:off x="6662359" y="3302238"/>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真菌界</a:t>
            </a:r>
          </a:p>
        </p:txBody>
      </p:sp>
      <p:sp>
        <p:nvSpPr>
          <p:cNvPr id="11" name="矩形 10"/>
          <p:cNvSpPr/>
          <p:nvPr/>
        </p:nvSpPr>
        <p:spPr>
          <a:xfrm>
            <a:off x="6662359" y="4409645"/>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哺乳綱</a:t>
            </a:r>
          </a:p>
        </p:txBody>
      </p:sp>
    </p:spTree>
    <p:extLst>
      <p:ext uri="{BB962C8B-B14F-4D97-AF65-F5344CB8AC3E}">
        <p14:creationId xmlns:p14="http://schemas.microsoft.com/office/powerpoint/2010/main" val="7539275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p:cNvSpPr>
            <a:spLocks noGrp="1" noChangeArrowheads="1"/>
          </p:cNvSpPr>
          <p:nvPr>
            <p:ph type="title"/>
          </p:nvPr>
        </p:nvSpPr>
        <p:spPr>
          <a:xfrm>
            <a:off x="229773" y="350492"/>
            <a:ext cx="8815373" cy="1143000"/>
          </a:xfrm>
          <a:noFill/>
        </p:spPr>
        <p:txBody>
          <a:bodyPr>
            <a:normAutofit/>
          </a:bodyPr>
          <a:lstStyle/>
          <a:p>
            <a:r>
              <a:rPr lang="en-US" altLang="zh-TW" sz="3600" b="1" dirty="0">
                <a:latin typeface="Times New Roman" panose="02020603050405020304" pitchFamily="18" charset="0"/>
                <a:cs typeface="Times New Roman" panose="02020603050405020304" pitchFamily="18" charset="0"/>
              </a:rPr>
              <a:t>Molecular phylogenetic analysis choosing cytochrome </a:t>
            </a:r>
            <a:r>
              <a:rPr lang="en-US" altLang="zh-TW" sz="3600" b="1" i="1" dirty="0">
                <a:latin typeface="Times New Roman" panose="02020603050405020304" pitchFamily="18" charset="0"/>
                <a:cs typeface="Times New Roman" panose="02020603050405020304" pitchFamily="18" charset="0"/>
              </a:rPr>
              <a:t>c</a:t>
            </a:r>
            <a:r>
              <a:rPr lang="en-US" altLang="zh-TW" sz="3600" b="1" dirty="0">
                <a:latin typeface="Times New Roman" panose="02020603050405020304" pitchFamily="18" charset="0"/>
                <a:cs typeface="Times New Roman" panose="02020603050405020304" pitchFamily="18" charset="0"/>
              </a:rPr>
              <a:t> as the molecular barcode</a:t>
            </a:r>
            <a:endParaRPr lang="zh-TW" altLang="en-US" sz="3600" b="1"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3"/>
          <a:stretch>
            <a:fillRect/>
          </a:stretch>
        </p:blipFill>
        <p:spPr>
          <a:xfrm>
            <a:off x="229773" y="2012908"/>
            <a:ext cx="6704796" cy="4053470"/>
          </a:xfrm>
          <a:prstGeom prst="rect">
            <a:avLst/>
          </a:prstGeom>
        </p:spPr>
      </p:pic>
      <p:pic>
        <p:nvPicPr>
          <p:cNvPr id="12" name="圖片 11"/>
          <p:cNvPicPr>
            <a:picLocks noChangeAspect="1"/>
          </p:cNvPicPr>
          <p:nvPr/>
        </p:nvPicPr>
        <p:blipFill>
          <a:blip r:embed="rId4"/>
          <a:stretch>
            <a:fillRect/>
          </a:stretch>
        </p:blipFill>
        <p:spPr>
          <a:xfrm>
            <a:off x="7234211" y="2049234"/>
            <a:ext cx="459680" cy="248475"/>
          </a:xfrm>
          <a:prstGeom prst="rect">
            <a:avLst/>
          </a:prstGeom>
        </p:spPr>
      </p:pic>
      <p:pic>
        <p:nvPicPr>
          <p:cNvPr id="13" name="圖片 12"/>
          <p:cNvPicPr>
            <a:picLocks noChangeAspect="1"/>
          </p:cNvPicPr>
          <p:nvPr/>
        </p:nvPicPr>
        <p:blipFill>
          <a:blip r:embed="rId5"/>
          <a:stretch>
            <a:fillRect/>
          </a:stretch>
        </p:blipFill>
        <p:spPr>
          <a:xfrm>
            <a:off x="7224974" y="3043861"/>
            <a:ext cx="468917" cy="131626"/>
          </a:xfrm>
          <a:prstGeom prst="rect">
            <a:avLst/>
          </a:prstGeom>
        </p:spPr>
      </p:pic>
      <p:pic>
        <p:nvPicPr>
          <p:cNvPr id="14" name="圖片 13"/>
          <p:cNvPicPr>
            <a:picLocks noChangeAspect="1"/>
          </p:cNvPicPr>
          <p:nvPr/>
        </p:nvPicPr>
        <p:blipFill>
          <a:blip r:embed="rId6"/>
          <a:stretch>
            <a:fillRect/>
          </a:stretch>
        </p:blipFill>
        <p:spPr>
          <a:xfrm>
            <a:off x="7224973" y="4045035"/>
            <a:ext cx="468918" cy="145526"/>
          </a:xfrm>
          <a:prstGeom prst="rect">
            <a:avLst/>
          </a:prstGeom>
        </p:spPr>
      </p:pic>
      <p:sp>
        <p:nvSpPr>
          <p:cNvPr id="16" name="矩形 15"/>
          <p:cNvSpPr/>
          <p:nvPr/>
        </p:nvSpPr>
        <p:spPr>
          <a:xfrm>
            <a:off x="7188832" y="2363151"/>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鯖形目</a:t>
            </a:r>
          </a:p>
        </p:txBody>
      </p:sp>
      <p:sp>
        <p:nvSpPr>
          <p:cNvPr id="17" name="矩形 16"/>
          <p:cNvSpPr/>
          <p:nvPr/>
        </p:nvSpPr>
        <p:spPr>
          <a:xfrm>
            <a:off x="7188832" y="3333262"/>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真菌界</a:t>
            </a:r>
          </a:p>
        </p:txBody>
      </p:sp>
      <p:sp>
        <p:nvSpPr>
          <p:cNvPr id="18" name="矩形 17"/>
          <p:cNvSpPr/>
          <p:nvPr/>
        </p:nvSpPr>
        <p:spPr>
          <a:xfrm>
            <a:off x="7188832" y="4440669"/>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哺乳綱</a:t>
            </a:r>
          </a:p>
        </p:txBody>
      </p:sp>
    </p:spTree>
    <p:extLst>
      <p:ext uri="{BB962C8B-B14F-4D97-AF65-F5344CB8AC3E}">
        <p14:creationId xmlns:p14="http://schemas.microsoft.com/office/powerpoint/2010/main" val="29042089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57019" y="2152073"/>
            <a:ext cx="6869424" cy="3408626"/>
          </a:xfrm>
          <a:prstGeom prst="rect">
            <a:avLst/>
          </a:prstGeom>
        </p:spPr>
      </p:pic>
      <p:sp>
        <p:nvSpPr>
          <p:cNvPr id="9" name="Rectangle 2"/>
          <p:cNvSpPr>
            <a:spLocks noGrp="1" noChangeArrowheads="1"/>
          </p:cNvSpPr>
          <p:nvPr>
            <p:ph type="title"/>
          </p:nvPr>
        </p:nvSpPr>
        <p:spPr>
          <a:xfrm>
            <a:off x="229773" y="350492"/>
            <a:ext cx="8815373" cy="1143000"/>
          </a:xfrm>
          <a:noFill/>
        </p:spPr>
        <p:txBody>
          <a:bodyPr>
            <a:normAutofit/>
          </a:bodyPr>
          <a:lstStyle/>
          <a:p>
            <a:r>
              <a:rPr lang="en-US" altLang="zh-TW" sz="3600" b="1" dirty="0">
                <a:latin typeface="Times New Roman" panose="02020603050405020304" pitchFamily="18" charset="0"/>
                <a:cs typeface="Times New Roman" panose="02020603050405020304" pitchFamily="18" charset="0"/>
              </a:rPr>
              <a:t>Molecular phylogenetic analysis choosing cytochrome </a:t>
            </a:r>
            <a:r>
              <a:rPr lang="en-US" altLang="zh-TW" sz="3600" b="1" i="1" dirty="0">
                <a:latin typeface="Times New Roman" panose="02020603050405020304" pitchFamily="18" charset="0"/>
                <a:cs typeface="Times New Roman" panose="02020603050405020304" pitchFamily="18" charset="0"/>
              </a:rPr>
              <a:t>c</a:t>
            </a:r>
            <a:r>
              <a:rPr lang="en-US" altLang="zh-TW" sz="3600" b="1" dirty="0">
                <a:latin typeface="Times New Roman" panose="02020603050405020304" pitchFamily="18" charset="0"/>
                <a:cs typeface="Times New Roman" panose="02020603050405020304" pitchFamily="18" charset="0"/>
              </a:rPr>
              <a:t> as the molecular barcode</a:t>
            </a:r>
            <a:endParaRPr lang="zh-TW" altLang="en-US" sz="3600" b="1"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4"/>
          <a:stretch>
            <a:fillRect/>
          </a:stretch>
        </p:blipFill>
        <p:spPr>
          <a:xfrm>
            <a:off x="7428175" y="2027835"/>
            <a:ext cx="459680" cy="248475"/>
          </a:xfrm>
          <a:prstGeom prst="rect">
            <a:avLst/>
          </a:prstGeom>
        </p:spPr>
      </p:pic>
      <p:pic>
        <p:nvPicPr>
          <p:cNvPr id="5" name="圖片 4"/>
          <p:cNvPicPr>
            <a:picLocks noChangeAspect="1"/>
          </p:cNvPicPr>
          <p:nvPr/>
        </p:nvPicPr>
        <p:blipFill>
          <a:blip r:embed="rId5"/>
          <a:stretch>
            <a:fillRect/>
          </a:stretch>
        </p:blipFill>
        <p:spPr>
          <a:xfrm>
            <a:off x="7418938" y="3022462"/>
            <a:ext cx="468917" cy="131626"/>
          </a:xfrm>
          <a:prstGeom prst="rect">
            <a:avLst/>
          </a:prstGeom>
        </p:spPr>
      </p:pic>
      <p:pic>
        <p:nvPicPr>
          <p:cNvPr id="6" name="圖片 5"/>
          <p:cNvPicPr>
            <a:picLocks noChangeAspect="1"/>
          </p:cNvPicPr>
          <p:nvPr/>
        </p:nvPicPr>
        <p:blipFill>
          <a:blip r:embed="rId6"/>
          <a:stretch>
            <a:fillRect/>
          </a:stretch>
        </p:blipFill>
        <p:spPr>
          <a:xfrm>
            <a:off x="7418937" y="4023636"/>
            <a:ext cx="468918" cy="145526"/>
          </a:xfrm>
          <a:prstGeom prst="rect">
            <a:avLst/>
          </a:prstGeom>
        </p:spPr>
      </p:pic>
      <p:sp>
        <p:nvSpPr>
          <p:cNvPr id="7" name="矩形 6"/>
          <p:cNvSpPr/>
          <p:nvPr/>
        </p:nvSpPr>
        <p:spPr>
          <a:xfrm>
            <a:off x="7382796" y="2341752"/>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鯖形目</a:t>
            </a:r>
          </a:p>
        </p:txBody>
      </p:sp>
      <p:sp>
        <p:nvSpPr>
          <p:cNvPr id="8" name="矩形 7"/>
          <p:cNvSpPr/>
          <p:nvPr/>
        </p:nvSpPr>
        <p:spPr>
          <a:xfrm>
            <a:off x="7382796" y="3311863"/>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真菌界</a:t>
            </a:r>
          </a:p>
        </p:txBody>
      </p:sp>
      <p:sp>
        <p:nvSpPr>
          <p:cNvPr id="10" name="矩形 9"/>
          <p:cNvSpPr/>
          <p:nvPr/>
        </p:nvSpPr>
        <p:spPr>
          <a:xfrm>
            <a:off x="7418937" y="4286262"/>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哺乳綱</a:t>
            </a:r>
          </a:p>
        </p:txBody>
      </p:sp>
    </p:spTree>
    <p:extLst>
      <p:ext uri="{BB962C8B-B14F-4D97-AF65-F5344CB8AC3E}">
        <p14:creationId xmlns:p14="http://schemas.microsoft.com/office/powerpoint/2010/main" val="18069256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p:cNvSpPr>
            <a:spLocks noGrp="1" noChangeArrowheads="1"/>
          </p:cNvSpPr>
          <p:nvPr>
            <p:ph type="title"/>
          </p:nvPr>
        </p:nvSpPr>
        <p:spPr>
          <a:xfrm>
            <a:off x="229773" y="350492"/>
            <a:ext cx="8815373" cy="1143000"/>
          </a:xfrm>
          <a:noFill/>
        </p:spPr>
        <p:txBody>
          <a:bodyPr>
            <a:normAutofit/>
          </a:bodyPr>
          <a:lstStyle/>
          <a:p>
            <a:r>
              <a:rPr lang="en-US" altLang="zh-TW" sz="3600" b="1" dirty="0">
                <a:latin typeface="Times New Roman" panose="02020603050405020304" pitchFamily="18" charset="0"/>
                <a:cs typeface="Times New Roman" panose="02020603050405020304" pitchFamily="18" charset="0"/>
              </a:rPr>
              <a:t>Molecular phylogenetic analysis choosing </a:t>
            </a:r>
            <a:r>
              <a:rPr lang="el-GR" altLang="zh-TW" sz="3600" b="1" i="1" dirty="0" smtClean="0">
                <a:latin typeface="Times New Roman" panose="02020603050405020304" pitchFamily="18" charset="0"/>
                <a:cs typeface="Times New Roman" panose="02020603050405020304" pitchFamily="18" charset="0"/>
              </a:rPr>
              <a:t>β</a:t>
            </a:r>
            <a:r>
              <a:rPr lang="en-US" altLang="zh-TW" sz="3600" b="1" dirty="0" smtClean="0">
                <a:latin typeface="Times New Roman" panose="02020603050405020304" pitchFamily="18" charset="0"/>
                <a:cs typeface="Times New Roman" panose="02020603050405020304" pitchFamily="18" charset="0"/>
              </a:rPr>
              <a:t> </a:t>
            </a:r>
            <a:r>
              <a:rPr lang="en-US" altLang="zh-TW" sz="3600" b="1" dirty="0">
                <a:latin typeface="Times New Roman" panose="02020603050405020304" pitchFamily="18" charset="0"/>
                <a:cs typeface="Times New Roman" panose="02020603050405020304" pitchFamily="18" charset="0"/>
              </a:rPr>
              <a:t>globin as the molecular barcode</a:t>
            </a:r>
            <a:endParaRPr lang="zh-TW" altLang="en-US" sz="3600" b="1"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3"/>
          <a:stretch>
            <a:fillRect/>
          </a:stretch>
        </p:blipFill>
        <p:spPr>
          <a:xfrm>
            <a:off x="229773" y="2176323"/>
            <a:ext cx="6031345" cy="3547850"/>
          </a:xfrm>
          <a:prstGeom prst="rect">
            <a:avLst/>
          </a:prstGeom>
        </p:spPr>
      </p:pic>
      <p:pic>
        <p:nvPicPr>
          <p:cNvPr id="2" name="圖片 1"/>
          <p:cNvPicPr>
            <a:picLocks noChangeAspect="1"/>
          </p:cNvPicPr>
          <p:nvPr/>
        </p:nvPicPr>
        <p:blipFill>
          <a:blip r:embed="rId4"/>
          <a:stretch>
            <a:fillRect/>
          </a:stretch>
        </p:blipFill>
        <p:spPr>
          <a:xfrm>
            <a:off x="6851705" y="3580654"/>
            <a:ext cx="468918" cy="193107"/>
          </a:xfrm>
          <a:prstGeom prst="rect">
            <a:avLst/>
          </a:prstGeom>
        </p:spPr>
      </p:pic>
      <p:pic>
        <p:nvPicPr>
          <p:cNvPr id="8" name="圖片 7"/>
          <p:cNvPicPr>
            <a:picLocks noChangeAspect="1"/>
          </p:cNvPicPr>
          <p:nvPr/>
        </p:nvPicPr>
        <p:blipFill>
          <a:blip r:embed="rId5"/>
          <a:stretch>
            <a:fillRect/>
          </a:stretch>
        </p:blipFill>
        <p:spPr>
          <a:xfrm>
            <a:off x="6860943" y="4620341"/>
            <a:ext cx="459680" cy="248475"/>
          </a:xfrm>
          <a:prstGeom prst="rect">
            <a:avLst/>
          </a:prstGeom>
        </p:spPr>
      </p:pic>
      <p:pic>
        <p:nvPicPr>
          <p:cNvPr id="9" name="圖片 8"/>
          <p:cNvPicPr>
            <a:picLocks noChangeAspect="1"/>
          </p:cNvPicPr>
          <p:nvPr/>
        </p:nvPicPr>
        <p:blipFill>
          <a:blip r:embed="rId6"/>
          <a:stretch>
            <a:fillRect/>
          </a:stretch>
        </p:blipFill>
        <p:spPr>
          <a:xfrm>
            <a:off x="6851705" y="2431825"/>
            <a:ext cx="468918" cy="178011"/>
          </a:xfrm>
          <a:prstGeom prst="rect">
            <a:avLst/>
          </a:prstGeom>
        </p:spPr>
      </p:pic>
      <p:sp>
        <p:nvSpPr>
          <p:cNvPr id="10" name="矩形 9"/>
          <p:cNvSpPr/>
          <p:nvPr/>
        </p:nvSpPr>
        <p:spPr>
          <a:xfrm>
            <a:off x="6851705" y="2734074"/>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雜食目</a:t>
            </a:r>
          </a:p>
        </p:txBody>
      </p:sp>
      <p:sp>
        <p:nvSpPr>
          <p:cNvPr id="11" name="矩形 10"/>
          <p:cNvSpPr/>
          <p:nvPr/>
        </p:nvSpPr>
        <p:spPr>
          <a:xfrm>
            <a:off x="6860943" y="3856427"/>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食草目</a:t>
            </a:r>
          </a:p>
        </p:txBody>
      </p:sp>
      <p:sp>
        <p:nvSpPr>
          <p:cNvPr id="12" name="矩形 11"/>
          <p:cNvSpPr/>
          <p:nvPr/>
        </p:nvSpPr>
        <p:spPr>
          <a:xfrm>
            <a:off x="6860943" y="4981581"/>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鱸形目</a:t>
            </a:r>
          </a:p>
        </p:txBody>
      </p:sp>
    </p:spTree>
    <p:extLst>
      <p:ext uri="{BB962C8B-B14F-4D97-AF65-F5344CB8AC3E}">
        <p14:creationId xmlns:p14="http://schemas.microsoft.com/office/powerpoint/2010/main" val="39526871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p:cNvSpPr>
            <a:spLocks noGrp="1" noChangeArrowheads="1"/>
          </p:cNvSpPr>
          <p:nvPr>
            <p:ph type="title"/>
          </p:nvPr>
        </p:nvSpPr>
        <p:spPr>
          <a:xfrm>
            <a:off x="229773" y="350492"/>
            <a:ext cx="8815373" cy="1143000"/>
          </a:xfrm>
          <a:noFill/>
        </p:spPr>
        <p:txBody>
          <a:bodyPr>
            <a:normAutofit/>
          </a:bodyPr>
          <a:lstStyle/>
          <a:p>
            <a:r>
              <a:rPr lang="en-US" altLang="zh-TW" sz="3600" b="1" dirty="0">
                <a:latin typeface="Times New Roman" panose="02020603050405020304" pitchFamily="18" charset="0"/>
                <a:cs typeface="Times New Roman" panose="02020603050405020304" pitchFamily="18" charset="0"/>
              </a:rPr>
              <a:t>Molecular phylogenetic analysis choosing </a:t>
            </a:r>
            <a:r>
              <a:rPr lang="el-GR" altLang="zh-TW" sz="3600" b="1" i="1" dirty="0" smtClean="0">
                <a:latin typeface="Times New Roman" panose="02020603050405020304" pitchFamily="18" charset="0"/>
                <a:cs typeface="Times New Roman" panose="02020603050405020304" pitchFamily="18" charset="0"/>
              </a:rPr>
              <a:t>β</a:t>
            </a:r>
            <a:r>
              <a:rPr lang="en-US" altLang="zh-TW" sz="3600" b="1" dirty="0" smtClean="0">
                <a:latin typeface="Times New Roman" panose="02020603050405020304" pitchFamily="18" charset="0"/>
                <a:cs typeface="Times New Roman" panose="02020603050405020304" pitchFamily="18" charset="0"/>
              </a:rPr>
              <a:t> </a:t>
            </a:r>
            <a:r>
              <a:rPr lang="en-US" altLang="zh-TW" sz="3600" b="1" dirty="0">
                <a:latin typeface="Times New Roman" panose="02020603050405020304" pitchFamily="18" charset="0"/>
                <a:cs typeface="Times New Roman" panose="02020603050405020304" pitchFamily="18" charset="0"/>
              </a:rPr>
              <a:t>globin as the molecular barcode</a:t>
            </a:r>
            <a:endParaRPr lang="zh-TW" altLang="en-US" sz="3600" b="1"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a:blip r:embed="rId3"/>
          <a:stretch>
            <a:fillRect/>
          </a:stretch>
        </p:blipFill>
        <p:spPr>
          <a:xfrm>
            <a:off x="77247" y="2075587"/>
            <a:ext cx="6406680" cy="3557459"/>
          </a:xfrm>
          <a:prstGeom prst="rect">
            <a:avLst/>
          </a:prstGeom>
        </p:spPr>
      </p:pic>
      <p:pic>
        <p:nvPicPr>
          <p:cNvPr id="5" name="圖片 4"/>
          <p:cNvPicPr>
            <a:picLocks noChangeAspect="1"/>
          </p:cNvPicPr>
          <p:nvPr/>
        </p:nvPicPr>
        <p:blipFill>
          <a:blip r:embed="rId4"/>
          <a:stretch>
            <a:fillRect/>
          </a:stretch>
        </p:blipFill>
        <p:spPr>
          <a:xfrm>
            <a:off x="6851705" y="3580654"/>
            <a:ext cx="468918" cy="193107"/>
          </a:xfrm>
          <a:prstGeom prst="rect">
            <a:avLst/>
          </a:prstGeom>
        </p:spPr>
      </p:pic>
      <p:pic>
        <p:nvPicPr>
          <p:cNvPr id="8" name="圖片 7"/>
          <p:cNvPicPr>
            <a:picLocks noChangeAspect="1"/>
          </p:cNvPicPr>
          <p:nvPr/>
        </p:nvPicPr>
        <p:blipFill>
          <a:blip r:embed="rId5"/>
          <a:stretch>
            <a:fillRect/>
          </a:stretch>
        </p:blipFill>
        <p:spPr>
          <a:xfrm>
            <a:off x="6860943" y="4620341"/>
            <a:ext cx="459680" cy="248475"/>
          </a:xfrm>
          <a:prstGeom prst="rect">
            <a:avLst/>
          </a:prstGeom>
        </p:spPr>
      </p:pic>
      <p:pic>
        <p:nvPicPr>
          <p:cNvPr id="9" name="圖片 8"/>
          <p:cNvPicPr>
            <a:picLocks noChangeAspect="1"/>
          </p:cNvPicPr>
          <p:nvPr/>
        </p:nvPicPr>
        <p:blipFill>
          <a:blip r:embed="rId6"/>
          <a:stretch>
            <a:fillRect/>
          </a:stretch>
        </p:blipFill>
        <p:spPr>
          <a:xfrm>
            <a:off x="6851705" y="2431825"/>
            <a:ext cx="468918" cy="178011"/>
          </a:xfrm>
          <a:prstGeom prst="rect">
            <a:avLst/>
          </a:prstGeom>
        </p:spPr>
      </p:pic>
      <p:sp>
        <p:nvSpPr>
          <p:cNvPr id="10" name="矩形 9"/>
          <p:cNvSpPr/>
          <p:nvPr/>
        </p:nvSpPr>
        <p:spPr>
          <a:xfrm>
            <a:off x="6851705" y="2734074"/>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雜食目</a:t>
            </a:r>
          </a:p>
        </p:txBody>
      </p:sp>
      <p:sp>
        <p:nvSpPr>
          <p:cNvPr id="11" name="矩形 10"/>
          <p:cNvSpPr/>
          <p:nvPr/>
        </p:nvSpPr>
        <p:spPr>
          <a:xfrm>
            <a:off x="6860943" y="3856427"/>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食草目</a:t>
            </a:r>
          </a:p>
        </p:txBody>
      </p:sp>
      <p:sp>
        <p:nvSpPr>
          <p:cNvPr id="12" name="矩形 11"/>
          <p:cNvSpPr/>
          <p:nvPr/>
        </p:nvSpPr>
        <p:spPr>
          <a:xfrm>
            <a:off x="6860943" y="4981581"/>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鱸形目</a:t>
            </a:r>
          </a:p>
        </p:txBody>
      </p:sp>
    </p:spTree>
    <p:extLst>
      <p:ext uri="{BB962C8B-B14F-4D97-AF65-F5344CB8AC3E}">
        <p14:creationId xmlns:p14="http://schemas.microsoft.com/office/powerpoint/2010/main" val="1379655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p:cNvSpPr>
            <a:spLocks noGrp="1" noChangeArrowheads="1"/>
          </p:cNvSpPr>
          <p:nvPr>
            <p:ph type="title"/>
          </p:nvPr>
        </p:nvSpPr>
        <p:spPr>
          <a:xfrm>
            <a:off x="229773" y="350492"/>
            <a:ext cx="8815373" cy="1143000"/>
          </a:xfrm>
          <a:noFill/>
        </p:spPr>
        <p:txBody>
          <a:bodyPr>
            <a:normAutofit/>
          </a:bodyPr>
          <a:lstStyle/>
          <a:p>
            <a:r>
              <a:rPr lang="en-US" altLang="zh-TW" sz="3600" b="1" dirty="0">
                <a:latin typeface="Times New Roman" panose="02020603050405020304" pitchFamily="18" charset="0"/>
                <a:cs typeface="Times New Roman" panose="02020603050405020304" pitchFamily="18" charset="0"/>
              </a:rPr>
              <a:t>Molecular phylogenetic analysis choosing </a:t>
            </a:r>
            <a:r>
              <a:rPr lang="el-GR" altLang="zh-TW" sz="3600" b="1" i="1" dirty="0" smtClean="0">
                <a:latin typeface="Times New Roman" panose="02020603050405020304" pitchFamily="18" charset="0"/>
                <a:cs typeface="Times New Roman" panose="02020603050405020304" pitchFamily="18" charset="0"/>
              </a:rPr>
              <a:t>β</a:t>
            </a:r>
            <a:r>
              <a:rPr lang="en-US" altLang="zh-TW" sz="3600" b="1" dirty="0" smtClean="0">
                <a:latin typeface="Times New Roman" panose="02020603050405020304" pitchFamily="18" charset="0"/>
                <a:cs typeface="Times New Roman" panose="02020603050405020304" pitchFamily="18" charset="0"/>
              </a:rPr>
              <a:t> </a:t>
            </a:r>
            <a:r>
              <a:rPr lang="en-US" altLang="zh-TW" sz="3600" b="1" dirty="0">
                <a:latin typeface="Times New Roman" panose="02020603050405020304" pitchFamily="18" charset="0"/>
                <a:cs typeface="Times New Roman" panose="02020603050405020304" pitchFamily="18" charset="0"/>
              </a:rPr>
              <a:t>globin as the molecular barcode</a:t>
            </a:r>
            <a:endParaRPr lang="zh-TW" altLang="en-US" sz="3600" b="1" dirty="0">
              <a:latin typeface="Times New Roman" panose="02020603050405020304" pitchFamily="18" charset="0"/>
              <a:cs typeface="Times New Roman" panose="02020603050405020304" pitchFamily="18" charset="0"/>
            </a:endParaRPr>
          </a:p>
        </p:txBody>
      </p:sp>
      <p:pic>
        <p:nvPicPr>
          <p:cNvPr id="8" name="圖片 7"/>
          <p:cNvPicPr>
            <a:picLocks noChangeAspect="1"/>
          </p:cNvPicPr>
          <p:nvPr/>
        </p:nvPicPr>
        <p:blipFill>
          <a:blip r:embed="rId3"/>
          <a:stretch>
            <a:fillRect/>
          </a:stretch>
        </p:blipFill>
        <p:spPr>
          <a:xfrm>
            <a:off x="129012" y="2198255"/>
            <a:ext cx="6793882" cy="3594736"/>
          </a:xfrm>
          <a:prstGeom prst="rect">
            <a:avLst/>
          </a:prstGeom>
        </p:spPr>
      </p:pic>
      <p:pic>
        <p:nvPicPr>
          <p:cNvPr id="4" name="圖片 3"/>
          <p:cNvPicPr>
            <a:picLocks noChangeAspect="1"/>
          </p:cNvPicPr>
          <p:nvPr/>
        </p:nvPicPr>
        <p:blipFill>
          <a:blip r:embed="rId4"/>
          <a:stretch>
            <a:fillRect/>
          </a:stretch>
        </p:blipFill>
        <p:spPr>
          <a:xfrm>
            <a:off x="7034585" y="3590280"/>
            <a:ext cx="468918" cy="193107"/>
          </a:xfrm>
          <a:prstGeom prst="rect">
            <a:avLst/>
          </a:prstGeom>
        </p:spPr>
      </p:pic>
      <p:pic>
        <p:nvPicPr>
          <p:cNvPr id="5" name="圖片 4"/>
          <p:cNvPicPr>
            <a:picLocks noChangeAspect="1"/>
          </p:cNvPicPr>
          <p:nvPr/>
        </p:nvPicPr>
        <p:blipFill>
          <a:blip r:embed="rId5"/>
          <a:stretch>
            <a:fillRect/>
          </a:stretch>
        </p:blipFill>
        <p:spPr>
          <a:xfrm>
            <a:off x="7043823" y="4629967"/>
            <a:ext cx="459680" cy="248475"/>
          </a:xfrm>
          <a:prstGeom prst="rect">
            <a:avLst/>
          </a:prstGeom>
        </p:spPr>
      </p:pic>
      <p:pic>
        <p:nvPicPr>
          <p:cNvPr id="6" name="圖片 5"/>
          <p:cNvPicPr>
            <a:picLocks noChangeAspect="1"/>
          </p:cNvPicPr>
          <p:nvPr/>
        </p:nvPicPr>
        <p:blipFill>
          <a:blip r:embed="rId6"/>
          <a:stretch>
            <a:fillRect/>
          </a:stretch>
        </p:blipFill>
        <p:spPr>
          <a:xfrm>
            <a:off x="7034585" y="2441451"/>
            <a:ext cx="468918" cy="178011"/>
          </a:xfrm>
          <a:prstGeom prst="rect">
            <a:avLst/>
          </a:prstGeom>
        </p:spPr>
      </p:pic>
      <p:sp>
        <p:nvSpPr>
          <p:cNvPr id="7" name="矩形 6"/>
          <p:cNvSpPr/>
          <p:nvPr/>
        </p:nvSpPr>
        <p:spPr>
          <a:xfrm>
            <a:off x="7034585" y="2743700"/>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雜食目</a:t>
            </a:r>
          </a:p>
        </p:txBody>
      </p:sp>
      <p:sp>
        <p:nvSpPr>
          <p:cNvPr id="9" name="矩形 8"/>
          <p:cNvSpPr/>
          <p:nvPr/>
        </p:nvSpPr>
        <p:spPr>
          <a:xfrm>
            <a:off x="7043823" y="3866053"/>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食草目</a:t>
            </a:r>
          </a:p>
        </p:txBody>
      </p:sp>
      <p:sp>
        <p:nvSpPr>
          <p:cNvPr id="10" name="矩形 9"/>
          <p:cNvSpPr/>
          <p:nvPr/>
        </p:nvSpPr>
        <p:spPr>
          <a:xfrm>
            <a:off x="7043823" y="4991207"/>
            <a:ext cx="1107996" cy="461665"/>
          </a:xfrm>
          <a:prstGeom prst="rect">
            <a:avLst/>
          </a:prstGeom>
        </p:spPr>
        <p:txBody>
          <a:bodyPr wrap="none">
            <a:spAutoFit/>
          </a:bodyPr>
          <a:lstStyle/>
          <a:p>
            <a:r>
              <a:rPr lang="zh-TW" altLang="en-US" sz="2400" dirty="0">
                <a:latin typeface="標楷體" panose="03000509000000000000" pitchFamily="65" charset="-120"/>
                <a:ea typeface="標楷體" panose="03000509000000000000" pitchFamily="65" charset="-120"/>
              </a:rPr>
              <a:t>鱸形目</a:t>
            </a:r>
          </a:p>
        </p:txBody>
      </p:sp>
    </p:spTree>
    <p:extLst>
      <p:ext uri="{BB962C8B-B14F-4D97-AF65-F5344CB8AC3E}">
        <p14:creationId xmlns:p14="http://schemas.microsoft.com/office/powerpoint/2010/main" val="25711565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229773" y="350492"/>
            <a:ext cx="8815373" cy="1143000"/>
          </a:xfrm>
          <a:noFill/>
        </p:spPr>
        <p:txBody>
          <a:bodyPr>
            <a:normAutofit/>
          </a:bodyPr>
          <a:lstStyle/>
          <a:p>
            <a:r>
              <a:rPr lang="zh-TW" altLang="en-US" sz="3600" b="1" dirty="0">
                <a:latin typeface="Times New Roman" panose="02020603050405020304" pitchFamily="18" charset="0"/>
                <a:cs typeface="Times New Roman" panose="02020603050405020304" pitchFamily="18" charset="0"/>
              </a:rPr>
              <a:t>PR </a:t>
            </a:r>
            <a:r>
              <a:rPr lang="zh-TW" altLang="en-US" sz="3600" b="1" dirty="0" smtClean="0">
                <a:latin typeface="Times New Roman" panose="02020603050405020304" pitchFamily="18" charset="0"/>
                <a:cs typeface="Times New Roman" panose="02020603050405020304" pitchFamily="18" charset="0"/>
              </a:rPr>
              <a:t>curve</a:t>
            </a:r>
            <a:r>
              <a:rPr lang="en-US" altLang="zh-TW" sz="3600" b="1" dirty="0" smtClean="0">
                <a:latin typeface="Times New Roman" panose="02020603050405020304" pitchFamily="18" charset="0"/>
                <a:cs typeface="Times New Roman" panose="02020603050405020304" pitchFamily="18" charset="0"/>
              </a:rPr>
              <a:t>:</a:t>
            </a:r>
            <a:endParaRPr lang="zh-TW" altLang="en-US" sz="3600" b="1" dirty="0">
              <a:latin typeface="Times New Roman" panose="02020603050405020304" pitchFamily="18" charset="0"/>
              <a:cs typeface="Times New Roman" panose="02020603050405020304" pitchFamily="18"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1418147318"/>
              </p:ext>
            </p:extLst>
          </p:nvPr>
        </p:nvGraphicFramePr>
        <p:xfrm>
          <a:off x="2435777" y="1953829"/>
          <a:ext cx="5062302" cy="3290741"/>
        </p:xfrm>
        <a:graphic>
          <a:graphicData uri="http://schemas.openxmlformats.org/drawingml/2006/table">
            <a:tbl>
              <a:tblPr firstRow="1" bandRow="1">
                <a:tableStyleId>{5C22544A-7EE6-4342-B048-85BDC9FD1C3A}</a:tableStyleId>
              </a:tblPr>
              <a:tblGrid>
                <a:gridCol w="1559584">
                  <a:extLst>
                    <a:ext uri="{9D8B030D-6E8A-4147-A177-3AD203B41FA5}">
                      <a16:colId xmlns:a16="http://schemas.microsoft.com/office/drawing/2014/main" val="24232187"/>
                    </a:ext>
                  </a:extLst>
                </a:gridCol>
                <a:gridCol w="1868229">
                  <a:extLst>
                    <a:ext uri="{9D8B030D-6E8A-4147-A177-3AD203B41FA5}">
                      <a16:colId xmlns:a16="http://schemas.microsoft.com/office/drawing/2014/main" val="4152101541"/>
                    </a:ext>
                  </a:extLst>
                </a:gridCol>
                <a:gridCol w="1634489">
                  <a:extLst>
                    <a:ext uri="{9D8B030D-6E8A-4147-A177-3AD203B41FA5}">
                      <a16:colId xmlns:a16="http://schemas.microsoft.com/office/drawing/2014/main" val="58385435"/>
                    </a:ext>
                  </a:extLst>
                </a:gridCol>
              </a:tblGrid>
              <a:tr h="1109411">
                <a:tc>
                  <a:txBody>
                    <a:bodyPr/>
                    <a:lstStyle/>
                    <a:p>
                      <a:pPr algn="ctr"/>
                      <a:endParaRPr lang="en-US" altLang="zh-TW" sz="2000" dirty="0" smtClean="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3600" b="1" i="0" kern="1200" dirty="0" smtClean="0">
                          <a:solidFill>
                            <a:schemeClr val="lt1"/>
                          </a:solidFill>
                          <a:effectLst/>
                          <a:latin typeface="Times New Roman" panose="02020603050405020304" pitchFamily="18" charset="0"/>
                          <a:ea typeface="+mn-ea"/>
                          <a:cs typeface="Times New Roman" panose="02020603050405020304" pitchFamily="18" charset="0"/>
                        </a:rPr>
                        <a:t>Yes</a:t>
                      </a:r>
                      <a:endParaRPr lang="zh-TW" altLang="en-US" sz="3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3600" dirty="0" smtClean="0">
                          <a:latin typeface="Times New Roman" panose="02020603050405020304" pitchFamily="18" charset="0"/>
                          <a:cs typeface="Times New Roman" panose="02020603050405020304" pitchFamily="18" charset="0"/>
                        </a:rPr>
                        <a:t>No</a:t>
                      </a:r>
                      <a:endParaRPr lang="zh-TW" altLang="en-US" sz="3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30398988"/>
                  </a:ext>
                </a:extLst>
              </a:tr>
              <a:tr h="998921">
                <a:tc>
                  <a:txBody>
                    <a:bodyPr/>
                    <a:lstStyle/>
                    <a:p>
                      <a:pPr algn="ctr"/>
                      <a:r>
                        <a:rPr lang="en-US" altLang="zh-TW" sz="3600" b="1" u="none" dirty="0" smtClean="0">
                          <a:solidFill>
                            <a:schemeClr val="tx1"/>
                          </a:solidFill>
                          <a:latin typeface="Times New Roman" panose="02020603050405020304" pitchFamily="18" charset="0"/>
                          <a:cs typeface="Times New Roman" panose="02020603050405020304" pitchFamily="18" charset="0"/>
                        </a:rPr>
                        <a:t>Yes</a:t>
                      </a:r>
                      <a:endParaRPr lang="zh-TW" altLang="en-US" sz="3600" b="1" u="none"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3600" dirty="0" smtClean="0">
                          <a:latin typeface="Times New Roman" panose="02020603050405020304" pitchFamily="18" charset="0"/>
                          <a:cs typeface="Times New Roman" panose="02020603050405020304" pitchFamily="18" charset="0"/>
                        </a:rPr>
                        <a:t>TP</a:t>
                      </a:r>
                      <a:endParaRPr lang="en-US" altLang="zh-TW" sz="3600" dirty="0" smtClean="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3600" b="0" dirty="0" smtClean="0">
                          <a:solidFill>
                            <a:srgbClr val="FF0000"/>
                          </a:solidFill>
                          <a:latin typeface="Times New Roman" panose="02020603050405020304" pitchFamily="18" charset="0"/>
                          <a:cs typeface="Times New Roman" panose="02020603050405020304" pitchFamily="18" charset="0"/>
                        </a:rPr>
                        <a:t>FP</a:t>
                      </a:r>
                      <a:endParaRPr lang="zh-TW" altLang="en-US" sz="3600" b="0" dirty="0">
                        <a:solidFill>
                          <a:srgbClr val="FF0000"/>
                        </a:solidFill>
                        <a:latin typeface="Times New Roman" panose="02020603050405020304" pitchFamily="18" charset="0"/>
                        <a:cs typeface="Times New Roman" panose="02020603050405020304" pitchFamily="18" charset="0"/>
                      </a:endParaRPr>
                    </a:p>
                  </a:txBody>
                  <a:tcPr marL="25400" marR="25400" marT="6350" marB="6350" anchor="ctr"/>
                </a:tc>
                <a:extLst>
                  <a:ext uri="{0D108BD9-81ED-4DB2-BD59-A6C34878D82A}">
                    <a16:rowId xmlns:a16="http://schemas.microsoft.com/office/drawing/2014/main" val="2656183062"/>
                  </a:ext>
                </a:extLst>
              </a:tr>
              <a:tr h="1182409">
                <a:tc>
                  <a:txBody>
                    <a:bodyPr/>
                    <a:lstStyle/>
                    <a:p>
                      <a:pPr algn="ctr"/>
                      <a:r>
                        <a:rPr lang="en-US" altLang="zh-TW" sz="3600" b="1" u="none" dirty="0" smtClean="0">
                          <a:solidFill>
                            <a:schemeClr val="tx1"/>
                          </a:solidFill>
                          <a:latin typeface="Times New Roman" panose="02020603050405020304" pitchFamily="18" charset="0"/>
                          <a:cs typeface="Times New Roman" panose="02020603050405020304" pitchFamily="18" charset="0"/>
                        </a:rPr>
                        <a:t>No</a:t>
                      </a:r>
                      <a:endParaRPr lang="zh-TW" altLang="en-US" sz="3600" b="1" u="none"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3600" dirty="0" smtClean="0">
                          <a:solidFill>
                            <a:srgbClr val="FF0000"/>
                          </a:solidFill>
                          <a:latin typeface="Times New Roman" panose="02020603050405020304" pitchFamily="18" charset="0"/>
                          <a:cs typeface="Times New Roman" panose="02020603050405020304" pitchFamily="18" charset="0"/>
                        </a:rPr>
                        <a:t>FN</a:t>
                      </a:r>
                      <a:endParaRPr lang="en-US" altLang="zh-TW" sz="3600" dirty="0" smtClean="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3600" b="0" dirty="0" smtClean="0">
                          <a:latin typeface="Times New Roman" panose="02020603050405020304" pitchFamily="18" charset="0"/>
                          <a:cs typeface="Times New Roman" panose="02020603050405020304" pitchFamily="18" charset="0"/>
                        </a:rPr>
                        <a:t>TN</a:t>
                      </a:r>
                      <a:endParaRPr lang="zh-TW" altLang="en-US" sz="3600" b="0" dirty="0">
                        <a:latin typeface="Times New Roman" panose="02020603050405020304" pitchFamily="18" charset="0"/>
                        <a:cs typeface="Times New Roman" panose="02020603050405020304" pitchFamily="18" charset="0"/>
                      </a:endParaRPr>
                    </a:p>
                  </a:txBody>
                  <a:tcPr marL="25400" marR="25400" marT="6350" marB="6350" anchor="ctr"/>
                </a:tc>
                <a:extLst>
                  <a:ext uri="{0D108BD9-81ED-4DB2-BD59-A6C34878D82A}">
                    <a16:rowId xmlns:a16="http://schemas.microsoft.com/office/drawing/2014/main" val="1115031835"/>
                  </a:ext>
                </a:extLst>
              </a:tr>
            </a:tbl>
          </a:graphicData>
        </a:graphic>
      </p:graphicFrame>
    </p:spTree>
    <p:extLst>
      <p:ext uri="{BB962C8B-B14F-4D97-AF65-F5344CB8AC3E}">
        <p14:creationId xmlns:p14="http://schemas.microsoft.com/office/powerpoint/2010/main" val="27475519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229773" y="350492"/>
            <a:ext cx="8815373" cy="1143000"/>
          </a:xfrm>
          <a:noFill/>
        </p:spPr>
        <p:txBody>
          <a:bodyPr>
            <a:normAutofit/>
          </a:bodyPr>
          <a:lstStyle/>
          <a:p>
            <a:r>
              <a:rPr lang="zh-TW" altLang="en-US" sz="3600" b="1" dirty="0">
                <a:latin typeface="Times New Roman" panose="02020603050405020304" pitchFamily="18" charset="0"/>
                <a:cs typeface="Times New Roman" panose="02020603050405020304" pitchFamily="18" charset="0"/>
              </a:rPr>
              <a:t>PR </a:t>
            </a:r>
            <a:r>
              <a:rPr lang="zh-TW" altLang="en-US" sz="3600" b="1" dirty="0" smtClean="0">
                <a:latin typeface="Times New Roman" panose="02020603050405020304" pitchFamily="18" charset="0"/>
                <a:cs typeface="Times New Roman" panose="02020603050405020304" pitchFamily="18" charset="0"/>
              </a:rPr>
              <a:t>curve</a:t>
            </a:r>
            <a:r>
              <a:rPr lang="en-US" altLang="zh-TW" sz="3600" b="1" dirty="0" smtClean="0">
                <a:latin typeface="Times New Roman" panose="02020603050405020304" pitchFamily="18" charset="0"/>
                <a:cs typeface="Times New Roman" panose="02020603050405020304" pitchFamily="18" charset="0"/>
              </a:rPr>
              <a:t>:</a:t>
            </a:r>
            <a:endParaRPr lang="zh-TW" altLang="en-US" sz="3600" b="1" dirty="0">
              <a:latin typeface="Times New Roman" panose="02020603050405020304" pitchFamily="18" charset="0"/>
              <a:cs typeface="Times New Roman" panose="02020603050405020304" pitchFamily="18" charset="0"/>
            </a:endParaRPr>
          </a:p>
        </p:txBody>
      </p:sp>
      <p:sp>
        <p:nvSpPr>
          <p:cNvPr id="6" name="矩形 5"/>
          <p:cNvSpPr/>
          <p:nvPr/>
        </p:nvSpPr>
        <p:spPr>
          <a:xfrm>
            <a:off x="229773" y="1611270"/>
            <a:ext cx="6536787"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(TP): the number of </a:t>
            </a:r>
            <a:r>
              <a:rPr lang="zh-TW" altLang="en-US" sz="2400" dirty="0" smtClean="0">
                <a:latin typeface="Times New Roman" panose="02020603050405020304" pitchFamily="18" charset="0"/>
                <a:cs typeface="Times New Roman" panose="02020603050405020304" pitchFamily="18" charset="0"/>
              </a:rPr>
              <a:t>distances smaller </a:t>
            </a:r>
            <a:r>
              <a:rPr lang="zh-TW" altLang="en-US" sz="2400" dirty="0">
                <a:latin typeface="Times New Roman" panose="02020603050405020304" pitchFamily="18" charset="0"/>
                <a:cs typeface="Times New Roman" panose="02020603050405020304" pitchFamily="18" charset="0"/>
              </a:rPr>
              <a:t>than d coming from the same </a:t>
            </a:r>
            <a:r>
              <a:rPr lang="zh-TW" altLang="en-US" sz="2400" dirty="0" smtClean="0">
                <a:latin typeface="Times New Roman" panose="02020603050405020304" pitchFamily="18" charset="0"/>
                <a:cs typeface="Times New Roman" panose="02020603050405020304" pitchFamily="18" charset="0"/>
              </a:rPr>
              <a:t>group</a:t>
            </a:r>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7" name="矩形 6"/>
          <p:cNvSpPr/>
          <p:nvPr/>
        </p:nvSpPr>
        <p:spPr>
          <a:xfrm>
            <a:off x="229773" y="2779947"/>
            <a:ext cx="6982557"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(TN): the number of distances greater than </a:t>
            </a:r>
            <a:r>
              <a:rPr lang="zh-TW" altLang="en-US" sz="2400" dirty="0" smtClean="0">
                <a:latin typeface="Times New Roman" panose="02020603050405020304" pitchFamily="18" charset="0"/>
                <a:cs typeface="Times New Roman" panose="02020603050405020304" pitchFamily="18" charset="0"/>
              </a:rPr>
              <a:t>or equal </a:t>
            </a:r>
            <a:r>
              <a:rPr lang="zh-TW" altLang="en-US" sz="2400" dirty="0">
                <a:latin typeface="Times New Roman" panose="02020603050405020304" pitchFamily="18" charset="0"/>
                <a:cs typeface="Times New Roman" panose="02020603050405020304" pitchFamily="18" charset="0"/>
              </a:rPr>
              <a:t>to d coming from different </a:t>
            </a:r>
            <a:r>
              <a:rPr lang="zh-TW" altLang="en-US" sz="2400" dirty="0" smtClean="0">
                <a:latin typeface="Times New Roman" panose="02020603050405020304" pitchFamily="18" charset="0"/>
                <a:cs typeface="Times New Roman" panose="02020603050405020304" pitchFamily="18" charset="0"/>
              </a:rPr>
              <a:t>groups</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8" name="矩形 7"/>
          <p:cNvSpPr/>
          <p:nvPr/>
        </p:nvSpPr>
        <p:spPr>
          <a:xfrm>
            <a:off x="229773" y="3997736"/>
            <a:ext cx="7738110"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(FN): </a:t>
            </a:r>
            <a:r>
              <a:rPr lang="zh-TW" altLang="en-US" sz="2400" dirty="0" smtClean="0">
                <a:latin typeface="Times New Roman" panose="02020603050405020304" pitchFamily="18" charset="0"/>
                <a:cs typeface="Times New Roman" panose="02020603050405020304" pitchFamily="18" charset="0"/>
              </a:rPr>
              <a:t>the </a:t>
            </a:r>
            <a:r>
              <a:rPr lang="zh-TW" altLang="en-US" sz="2400" dirty="0">
                <a:latin typeface="Times New Roman" panose="02020603050405020304" pitchFamily="18" charset="0"/>
                <a:cs typeface="Times New Roman" panose="02020603050405020304" pitchFamily="18" charset="0"/>
              </a:rPr>
              <a:t>number of distances greater than or equal </a:t>
            </a:r>
            <a:r>
              <a:rPr lang="zh-TW" altLang="en-US" sz="2400" dirty="0" smtClean="0">
                <a:latin typeface="Times New Roman" panose="02020603050405020304" pitchFamily="18" charset="0"/>
                <a:cs typeface="Times New Roman" panose="02020603050405020304" pitchFamily="18" charset="0"/>
              </a:rPr>
              <a:t>to d </a:t>
            </a:r>
            <a:r>
              <a:rPr lang="zh-TW" altLang="en-US" sz="2400" dirty="0">
                <a:latin typeface="Times New Roman" panose="02020603050405020304" pitchFamily="18" charset="0"/>
                <a:cs typeface="Times New Roman" panose="02020603050405020304" pitchFamily="18" charset="0"/>
              </a:rPr>
              <a:t>coming from the same </a:t>
            </a:r>
            <a:r>
              <a:rPr lang="zh-TW" altLang="en-US" sz="2400" dirty="0" smtClean="0">
                <a:latin typeface="Times New Roman" panose="02020603050405020304" pitchFamily="18" charset="0"/>
                <a:cs typeface="Times New Roman" panose="02020603050405020304" pitchFamily="18" charset="0"/>
              </a:rPr>
              <a:t>group</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9" name="矩形 8"/>
          <p:cNvSpPr/>
          <p:nvPr/>
        </p:nvSpPr>
        <p:spPr>
          <a:xfrm>
            <a:off x="229773" y="5215525"/>
            <a:ext cx="6068157" cy="830997"/>
          </a:xfrm>
          <a:prstGeom prst="rect">
            <a:avLst/>
          </a:prstGeom>
        </p:spPr>
        <p:txBody>
          <a:bodyPr wrap="square">
            <a:spAutoFit/>
          </a:bodyPr>
          <a:lstStyle/>
          <a:p>
            <a:r>
              <a:rPr lang="zh-TW" altLang="en-US" sz="2400" dirty="0" smtClean="0">
                <a:latin typeface="Times New Roman" panose="02020603050405020304" pitchFamily="18" charset="0"/>
                <a:cs typeface="Times New Roman" panose="02020603050405020304" pitchFamily="18" charset="0"/>
              </a:rPr>
              <a:t>(FP</a:t>
            </a:r>
            <a:r>
              <a:rPr lang="zh-TW" altLang="en-US" sz="2400" dirty="0">
                <a:latin typeface="Times New Roman" panose="02020603050405020304" pitchFamily="18" charset="0"/>
                <a:cs typeface="Times New Roman" panose="02020603050405020304" pitchFamily="18" charset="0"/>
              </a:rPr>
              <a:t>)</a:t>
            </a:r>
            <a:r>
              <a:rPr lang="zh-TW" altLang="en-US" sz="2400" dirty="0" smtClean="0">
                <a:latin typeface="Times New Roman" panose="02020603050405020304" pitchFamily="18" charset="0"/>
                <a:cs typeface="Times New Roman" panose="02020603050405020304" pitchFamily="18" charset="0"/>
              </a:rPr>
              <a:t>: the </a:t>
            </a:r>
            <a:r>
              <a:rPr lang="zh-TW" altLang="en-US" sz="2400" dirty="0">
                <a:latin typeface="Times New Roman" panose="02020603050405020304" pitchFamily="18" charset="0"/>
                <a:cs typeface="Times New Roman" panose="02020603050405020304" pitchFamily="18" charset="0"/>
              </a:rPr>
              <a:t>number of distances smaller than </a:t>
            </a:r>
            <a:r>
              <a:rPr lang="zh-TW" altLang="en-US" sz="2400" dirty="0" smtClean="0">
                <a:latin typeface="Times New Roman" panose="02020603050405020304" pitchFamily="18" charset="0"/>
                <a:cs typeface="Times New Roman" panose="02020603050405020304" pitchFamily="18" charset="0"/>
              </a:rPr>
              <a:t>d coming </a:t>
            </a:r>
            <a:r>
              <a:rPr lang="zh-TW" altLang="en-US" sz="2400" dirty="0">
                <a:latin typeface="Times New Roman" panose="02020603050405020304" pitchFamily="18" charset="0"/>
                <a:cs typeface="Times New Roman" panose="02020603050405020304" pitchFamily="18" charset="0"/>
              </a:rPr>
              <a:t>from </a:t>
            </a:r>
            <a:r>
              <a:rPr lang="zh-TW" altLang="en-US" sz="2400" dirty="0" smtClean="0">
                <a:latin typeface="Times New Roman" panose="02020603050405020304" pitchFamily="18" charset="0"/>
                <a:cs typeface="Times New Roman" panose="02020603050405020304" pitchFamily="18" charset="0"/>
              </a:rPr>
              <a:t>different </a:t>
            </a:r>
            <a:r>
              <a:rPr lang="zh-TW" altLang="en-US" sz="2400" dirty="0">
                <a:latin typeface="Times New Roman" panose="02020603050405020304" pitchFamily="18" charset="0"/>
                <a:cs typeface="Times New Roman" panose="02020603050405020304" pitchFamily="18" charset="0"/>
              </a:rPr>
              <a:t>groups. </a:t>
            </a:r>
          </a:p>
        </p:txBody>
      </p:sp>
    </p:spTree>
    <p:extLst>
      <p:ext uri="{BB962C8B-B14F-4D97-AF65-F5344CB8AC3E}">
        <p14:creationId xmlns:p14="http://schemas.microsoft.com/office/powerpoint/2010/main" val="14453867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p:cNvSpPr>
            <a:spLocks noGrp="1" noChangeArrowheads="1"/>
          </p:cNvSpPr>
          <p:nvPr>
            <p:ph type="title"/>
          </p:nvPr>
        </p:nvSpPr>
        <p:spPr>
          <a:xfrm>
            <a:off x="164313" y="147417"/>
            <a:ext cx="8815373" cy="1143000"/>
          </a:xfrm>
          <a:noFill/>
        </p:spPr>
        <p:txBody>
          <a:bodyPr>
            <a:normAutofit fontScale="90000"/>
          </a:bodyPr>
          <a:lstStyle/>
          <a:p>
            <a:r>
              <a:rPr lang="zh-TW" altLang="en-US" sz="3600" b="1" dirty="0" smtClean="0">
                <a:latin typeface="Times New Roman" panose="02020603050405020304" pitchFamily="18" charset="0"/>
                <a:cs typeface="Times New Roman" panose="02020603050405020304" pitchFamily="18" charset="0"/>
              </a:rPr>
              <a:t>Classification </a:t>
            </a:r>
            <a:r>
              <a:rPr lang="zh-TW" altLang="en-US" sz="3600" b="1" dirty="0">
                <a:latin typeface="Times New Roman" panose="02020603050405020304" pitchFamily="18" charset="0"/>
                <a:cs typeface="Times New Roman" panose="02020603050405020304" pitchFamily="18" charset="0"/>
              </a:rPr>
              <a:t>analysis of 260 protein domains by</a:t>
            </a:r>
            <a:br>
              <a:rPr lang="zh-TW" altLang="en-US" sz="3600" b="1" dirty="0">
                <a:latin typeface="Times New Roman" panose="02020603050405020304" pitchFamily="18" charset="0"/>
                <a:cs typeface="Times New Roman" panose="02020603050405020304" pitchFamily="18" charset="0"/>
              </a:rPr>
            </a:br>
            <a:r>
              <a:rPr lang="zh-TW" altLang="en-US" sz="3600" b="1" dirty="0">
                <a:latin typeface="Times New Roman" panose="02020603050405020304" pitchFamily="18" charset="0"/>
                <a:cs typeface="Times New Roman" panose="02020603050405020304" pitchFamily="18" charset="0"/>
              </a:rPr>
              <a:t>(3D) Yau – Hausdorff method</a:t>
            </a:r>
          </a:p>
        </p:txBody>
      </p:sp>
      <p:pic>
        <p:nvPicPr>
          <p:cNvPr id="5" name="圖片 4"/>
          <p:cNvPicPr>
            <a:picLocks noChangeAspect="1"/>
          </p:cNvPicPr>
          <p:nvPr/>
        </p:nvPicPr>
        <p:blipFill>
          <a:blip r:embed="rId3"/>
          <a:stretch>
            <a:fillRect/>
          </a:stretch>
        </p:blipFill>
        <p:spPr>
          <a:xfrm>
            <a:off x="983960" y="1188712"/>
            <a:ext cx="5096800" cy="4021965"/>
          </a:xfrm>
          <a:prstGeom prst="rect">
            <a:avLst/>
          </a:prstGeom>
        </p:spPr>
      </p:pic>
      <p:pic>
        <p:nvPicPr>
          <p:cNvPr id="2" name="圖片 1"/>
          <p:cNvPicPr>
            <a:picLocks noChangeAspect="1"/>
          </p:cNvPicPr>
          <p:nvPr/>
        </p:nvPicPr>
        <p:blipFill>
          <a:blip r:embed="rId4"/>
          <a:stretch>
            <a:fillRect/>
          </a:stretch>
        </p:blipFill>
        <p:spPr>
          <a:xfrm>
            <a:off x="130867" y="5210677"/>
            <a:ext cx="8848819" cy="1310935"/>
          </a:xfrm>
          <a:prstGeom prst="rect">
            <a:avLst/>
          </a:prstGeom>
        </p:spPr>
      </p:pic>
      <p:sp>
        <p:nvSpPr>
          <p:cNvPr id="3" name="矩形 2"/>
          <p:cNvSpPr/>
          <p:nvPr/>
        </p:nvSpPr>
        <p:spPr>
          <a:xfrm>
            <a:off x="6156990" y="1768764"/>
            <a:ext cx="2955681"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t>
            </a:r>
            <a:r>
              <a:rPr lang="zh-TW" altLang="en-US" dirty="0" smtClean="0">
                <a:latin typeface="Times New Roman" panose="02020603050405020304" pitchFamily="18" charset="0"/>
                <a:cs typeface="Times New Roman" panose="02020603050405020304" pitchFamily="18" charset="0"/>
              </a:rPr>
              <a:t>recision </a:t>
            </a:r>
            <a:r>
              <a:rPr lang="zh-TW" altLang="en-US" dirty="0">
                <a:latin typeface="Times New Roman" panose="02020603050405020304" pitchFamily="18" charset="0"/>
                <a:cs typeface="Times New Roman" panose="02020603050405020304" pitchFamily="18" charset="0"/>
              </a:rPr>
              <a:t>rate P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TP/(TP</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FP)</a:t>
            </a:r>
            <a:endParaRPr lang="zh-TW" altLang="en-US" dirty="0">
              <a:latin typeface="Times New Roman" panose="02020603050405020304" pitchFamily="18" charset="0"/>
              <a:cs typeface="Times New Roman" panose="02020603050405020304" pitchFamily="18" charset="0"/>
            </a:endParaRPr>
          </a:p>
        </p:txBody>
      </p:sp>
      <p:sp>
        <p:nvSpPr>
          <p:cNvPr id="4" name="矩形 3"/>
          <p:cNvSpPr/>
          <p:nvPr/>
        </p:nvSpPr>
        <p:spPr>
          <a:xfrm>
            <a:off x="6156990" y="2431777"/>
            <a:ext cx="2812629" cy="369332"/>
          </a:xfrm>
          <a:prstGeom prst="rect">
            <a:avLst/>
          </a:prstGeom>
        </p:spPr>
        <p:txBody>
          <a:bodyPr wrap="none">
            <a:spAutoFit/>
          </a:bodyPr>
          <a:lstStyle/>
          <a:p>
            <a:r>
              <a:rPr lang="en-US" altLang="zh-TW" dirty="0" smtClean="0">
                <a:latin typeface="Times New Roman" panose="02020603050405020304" pitchFamily="18" charset="0"/>
                <a:cs typeface="Times New Roman" panose="02020603050405020304" pitchFamily="18" charset="0"/>
              </a:rPr>
              <a:t>Recall </a:t>
            </a:r>
            <a:r>
              <a:rPr lang="en-US" altLang="zh-TW" dirty="0">
                <a:latin typeface="Times New Roman" panose="02020603050405020304" pitchFamily="18" charset="0"/>
                <a:cs typeface="Times New Roman" panose="02020603050405020304" pitchFamily="18" charset="0"/>
              </a:rPr>
              <a:t>rate R </a:t>
            </a:r>
            <a:r>
              <a:rPr lang="en-US" altLang="zh-TW" dirty="0" smtClean="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TP/(</a:t>
            </a:r>
            <a:r>
              <a:rPr lang="en-US" altLang="zh-TW" dirty="0" smtClean="0">
                <a:latin typeface="Times New Roman" panose="02020603050405020304" pitchFamily="18" charset="0"/>
                <a:cs typeface="Times New Roman" panose="02020603050405020304" pitchFamily="18" charset="0"/>
              </a:rPr>
              <a:t>TP+FN)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90067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90094</TotalTime>
  <Words>1791</Words>
  <Application>Microsoft Office PowerPoint</Application>
  <PresentationFormat>如螢幕大小 (4:3)</PresentationFormat>
  <Paragraphs>104</Paragraphs>
  <Slides>22</Slides>
  <Notes>18</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22</vt:i4>
      </vt:variant>
    </vt:vector>
  </HeadingPairs>
  <TitlesOfParts>
    <vt:vector size="30" baseType="lpstr">
      <vt:lpstr>新細明體</vt:lpstr>
      <vt:lpstr>標楷體</vt:lpstr>
      <vt:lpstr>Arial</vt:lpstr>
      <vt:lpstr>Calibri</vt:lpstr>
      <vt:lpstr>Calibri Light</vt:lpstr>
      <vt:lpstr>Tahoma</vt:lpstr>
      <vt:lpstr>Times New Roman</vt:lpstr>
      <vt:lpstr>Office 佈景主題</vt:lpstr>
      <vt:lpstr>Comparing protein structures and inferring functions with a novel three-dimensional Yau–Hausdorff method</vt:lpstr>
      <vt:lpstr>Abstract(1/2)</vt:lpstr>
      <vt:lpstr>Abstract(2/2)</vt:lpstr>
      <vt:lpstr>Method:</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Molecular phylogenetic analysis choosing cytochrome c as the molecular barcode</vt:lpstr>
      <vt:lpstr>Molecular phylogenetic analysis choosing cytochrome c as the molecular barcode</vt:lpstr>
      <vt:lpstr>Molecular phylogenetic analysis choosing cytochrome c as the molecular barcode</vt:lpstr>
      <vt:lpstr>Molecular phylogenetic analysis choosing β globin as the molecular barcode</vt:lpstr>
      <vt:lpstr>Molecular phylogenetic analysis choosing β globin as the molecular barcode</vt:lpstr>
      <vt:lpstr>Molecular phylogenetic analysis choosing β globin as the molecular barcode</vt:lpstr>
      <vt:lpstr>PR curve:</vt:lpstr>
      <vt:lpstr>PR curve:</vt:lpstr>
      <vt:lpstr>Classification analysis of 260 protein domains by (3D) Yau – Hausdorff method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蔡豐仰</cp:lastModifiedBy>
  <cp:revision>878</cp:revision>
  <dcterms:created xsi:type="dcterms:W3CDTF">2017-09-25T08:45:50Z</dcterms:created>
  <dcterms:modified xsi:type="dcterms:W3CDTF">2019-10-01T10:16:36Z</dcterms:modified>
</cp:coreProperties>
</file>