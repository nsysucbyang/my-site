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321" r:id="rId2"/>
    <p:sldId id="311" r:id="rId3"/>
    <p:sldId id="339" r:id="rId4"/>
    <p:sldId id="306" r:id="rId5"/>
    <p:sldId id="323" r:id="rId6"/>
    <p:sldId id="324" r:id="rId7"/>
    <p:sldId id="326" r:id="rId8"/>
    <p:sldId id="331" r:id="rId9"/>
    <p:sldId id="327" r:id="rId10"/>
    <p:sldId id="328" r:id="rId11"/>
    <p:sldId id="340" r:id="rId12"/>
    <p:sldId id="345" r:id="rId13"/>
    <p:sldId id="344" r:id="rId14"/>
    <p:sldId id="346" r:id="rId15"/>
    <p:sldId id="342" r:id="rId16"/>
    <p:sldId id="343"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3971" autoAdjust="0"/>
  </p:normalViewPr>
  <p:slideViewPr>
    <p:cSldViewPr snapToGrid="0">
      <p:cViewPr varScale="1">
        <p:scale>
          <a:sx n="107" d="100"/>
          <a:sy n="107" d="100"/>
        </p:scale>
        <p:origin x="1764"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2019/9/30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89970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Aligning distance matrices for structural alignment</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2019/9/30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8" y="1027725"/>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Gene Classification Using Codon Usage and Support Vector Machines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6" y="2811283"/>
            <a:ext cx="8536249" cy="717223"/>
          </a:xfrm>
        </p:spPr>
        <p:txBody>
          <a:bodyPr>
            <a:noAutofit/>
          </a:bodyPr>
          <a:lstStyle/>
          <a:p>
            <a:r>
              <a:rPr lang="fr-FR" altLang="zh-TW" sz="2800" dirty="0">
                <a:latin typeface="Times New Roman" panose="02020603050405020304" pitchFamily="18" charset="0"/>
                <a:cs typeface="Times New Roman" panose="02020603050405020304" pitchFamily="18" charset="0"/>
              </a:rPr>
              <a:t>Jianmin Ma, Minh N. Nguyen, and Jagath C. Rajapakse</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Oct. 1,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IEEE/ACM Transaction on Computational Biology and Bioinformatics, vol. 6, no. 1, January-March 2009</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5736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A novel approach for gene classification, adopting codon usage bias as feature inputs to support vector machines (SVMs) is proposed. The DNA sequence is first converted to a 59-dimensional feature vector, where each element corresponds to the relative synonymous usage (RSCU) frequency of a codon. Since the input to the classifier is independent of sequence length, the approach is especially useful when sequences to be classified are of differing lengths and homology-based methods tend to fail. The method is demonstrated with 1,841 Human Leukocyte Antigen (HLA) sequences, which are classified into two major classes, </a:t>
            </a:r>
          </a:p>
          <a:p>
            <a:pPr marL="0" indent="0">
              <a:lnSpc>
                <a:spcPts val="3200"/>
              </a:lnSpc>
              <a:buNone/>
            </a:pPr>
            <a:r>
              <a:rPr lang="en-US" altLang="zh-TW" dirty="0">
                <a:latin typeface="Times New Roman" panose="02020603050405020304" pitchFamily="18" charset="0"/>
                <a:cs typeface="Times New Roman" panose="02020603050405020304" pitchFamily="18" charset="0"/>
              </a:rPr>
              <a:t>HLA-I and HLA-II. Each major class is further classified into subgroups. </a:t>
            </a: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5736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 Using codon usage frequencies, binary SVM achieved an accuracy rate of 99.3 percent for HLA major class classification and multiclass SVM achieved accuracy rates of 99.73 percent and 98.38 percent for the subclass classification of HLA-I and HLA-II molecules, respectively. Comparisons with K-Means clustering and other classifiers and homology-based features are given. Results indicate that the classification based on codon usage bias is consistent with biological functions of HLA molecules.</a:t>
            </a:r>
          </a:p>
        </p:txBody>
      </p:sp>
    </p:spTree>
    <p:extLst>
      <p:ext uri="{BB962C8B-B14F-4D97-AF65-F5344CB8AC3E}">
        <p14:creationId xmlns:p14="http://schemas.microsoft.com/office/powerpoint/2010/main" val="263743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HLA </a:t>
            </a:r>
            <a:r>
              <a:rPr lang="en-US" altLang="zh-TW" sz="3200" b="1" dirty="0"/>
              <a:t>(</a:t>
            </a:r>
            <a:r>
              <a:rPr lang="en-US" altLang="zh-TW" sz="3200" b="1" dirty="0">
                <a:latin typeface="Times New Roman" panose="02020603050405020304" pitchFamily="18" charset="0"/>
                <a:cs typeface="Times New Roman" panose="02020603050405020304" pitchFamily="18" charset="0"/>
              </a:rPr>
              <a:t>Human Leukocyte Antigen)</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E9F4E047-6802-4BA1-92F0-D95FAE092421}"/>
              </a:ext>
            </a:extLst>
          </p:cNvPr>
          <p:cNvPicPr>
            <a:picLocks noChangeAspect="1"/>
          </p:cNvPicPr>
          <p:nvPr/>
        </p:nvPicPr>
        <p:blipFill>
          <a:blip r:embed="rId4"/>
          <a:stretch>
            <a:fillRect/>
          </a:stretch>
        </p:blipFill>
        <p:spPr>
          <a:xfrm>
            <a:off x="2169420" y="934318"/>
            <a:ext cx="4805160" cy="5785448"/>
          </a:xfrm>
          <a:prstGeom prst="rect">
            <a:avLst/>
          </a:prstGeom>
        </p:spPr>
      </p:pic>
    </p:spTree>
    <p:extLst>
      <p:ext uri="{BB962C8B-B14F-4D97-AF65-F5344CB8AC3E}">
        <p14:creationId xmlns:p14="http://schemas.microsoft.com/office/powerpoint/2010/main" val="1130811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a:spLocks noGrp="1"/>
          </p:cNvSpPr>
          <p:nvPr>
            <p:ph type="title"/>
          </p:nvPr>
        </p:nvSpPr>
        <p:spPr>
          <a:xfrm>
            <a:off x="628649" y="365126"/>
            <a:ext cx="8188779" cy="1333045"/>
          </a:xfrm>
        </p:spPr>
        <p:txBody>
          <a:bodyPr>
            <a:noAutofit/>
          </a:bodyPr>
          <a:lstStyle/>
          <a:p>
            <a:r>
              <a:rPr lang="en-US" altLang="zh-TW" sz="3200" b="1" dirty="0">
                <a:latin typeface="Times New Roman" panose="02020603050405020304" pitchFamily="18" charset="0"/>
                <a:cs typeface="Times New Roman" panose="02020603050405020304" pitchFamily="18" charset="0"/>
              </a:rPr>
              <a:t>Methods of Gene Classification</a:t>
            </a:r>
            <a:endParaRPr lang="zh-TW" altLang="en-US" sz="3200" b="1"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BA17E02E-21F6-4DE3-A481-CE9C1903A4C6}"/>
              </a:ext>
            </a:extLst>
          </p:cNvPr>
          <p:cNvPicPr>
            <a:picLocks noChangeAspect="1"/>
          </p:cNvPicPr>
          <p:nvPr/>
        </p:nvPicPr>
        <p:blipFill>
          <a:blip r:embed="rId2"/>
          <a:stretch>
            <a:fillRect/>
          </a:stretch>
        </p:blipFill>
        <p:spPr>
          <a:xfrm>
            <a:off x="2519257" y="1554736"/>
            <a:ext cx="4105486" cy="4560779"/>
          </a:xfrm>
          <a:prstGeom prst="rect">
            <a:avLst/>
          </a:prstGeom>
        </p:spPr>
      </p:pic>
    </p:spTree>
    <p:extLst>
      <p:ext uri="{BB962C8B-B14F-4D97-AF65-F5344CB8AC3E}">
        <p14:creationId xmlns:p14="http://schemas.microsoft.com/office/powerpoint/2010/main" val="610620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BC21BCE9-DEDD-443E-BF9A-E9B32AEC6C3B}"/>
              </a:ext>
            </a:extLst>
          </p:cNvPr>
          <p:cNvSpPr>
            <a:spLocks noGrp="1"/>
          </p:cNvSpPr>
          <p:nvPr>
            <p:ph type="title"/>
          </p:nvPr>
        </p:nvSpPr>
        <p:spPr>
          <a:xfrm>
            <a:off x="628649" y="365126"/>
            <a:ext cx="8188779" cy="1333045"/>
          </a:xfrm>
        </p:spPr>
        <p:txBody>
          <a:bodyPr>
            <a:noAutofit/>
          </a:bodyPr>
          <a:lstStyle/>
          <a:p>
            <a:r>
              <a:rPr lang="en-US" altLang="zh-TW" sz="3200" b="1" dirty="0">
                <a:latin typeface="Times New Roman" panose="02020603050405020304" pitchFamily="18" charset="0"/>
                <a:cs typeface="Times New Roman" panose="02020603050405020304" pitchFamily="18" charset="0"/>
              </a:rPr>
              <a:t>RSCU</a:t>
            </a:r>
            <a:br>
              <a:rPr lang="en-US" altLang="zh-TW" sz="3200" b="1" dirty="0">
                <a:latin typeface="Times New Roman" panose="02020603050405020304" pitchFamily="18" charset="0"/>
                <a:cs typeface="Times New Roman" panose="02020603050405020304" pitchFamily="18" charset="0"/>
              </a:rPr>
            </a:br>
            <a:r>
              <a:rPr lang="en-US" altLang="zh-TW" sz="2000" b="1" dirty="0">
                <a:latin typeface="Times New Roman" panose="02020603050405020304" pitchFamily="18" charset="0"/>
                <a:cs typeface="Times New Roman" panose="02020603050405020304" pitchFamily="18" charset="0"/>
              </a:rPr>
              <a:t>(Computation of Relative Synonymous Codon Usage Frequency)</a:t>
            </a:r>
            <a:endParaRPr lang="zh-TW" altLang="en-US" sz="2000" b="1"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id="{593615A2-E598-4C40-889E-28235F2D403C}"/>
              </a:ext>
            </a:extLst>
          </p:cNvPr>
          <p:cNvSpPr>
            <a:spLocks noGrp="1"/>
          </p:cNvSpPr>
          <p:nvPr>
            <p:ph idx="1"/>
          </p:nvPr>
        </p:nvSpPr>
        <p:spPr>
          <a:xfrm>
            <a:off x="628650" y="3669083"/>
            <a:ext cx="7886700" cy="2628833"/>
          </a:xfrm>
        </p:spPr>
        <p:txBody>
          <a:bodyPr/>
          <a:lstStyle/>
          <a:p>
            <a:r>
              <a:rPr lang="en-US" altLang="zh-TW" dirty="0" err="1">
                <a:latin typeface="Times New Roman" panose="02020603050405020304" pitchFamily="18" charset="0"/>
                <a:cs typeface="Times New Roman" panose="02020603050405020304" pitchFamily="18" charset="0"/>
              </a:rPr>
              <a:t>obsk</a:t>
            </a:r>
            <a:r>
              <a:rPr lang="en-US" altLang="zh-TW" dirty="0">
                <a:latin typeface="Times New Roman" panose="02020603050405020304" pitchFamily="18" charset="0"/>
                <a:cs typeface="Times New Roman" panose="02020603050405020304" pitchFamily="18" charset="0"/>
              </a:rPr>
              <a:t> : observed number of codon k</a:t>
            </a:r>
          </a:p>
          <a:p>
            <a:r>
              <a:rPr lang="en-US" altLang="zh-TW" dirty="0" err="1">
                <a:latin typeface="Times New Roman" panose="02020603050405020304" pitchFamily="18" charset="0"/>
                <a:cs typeface="Times New Roman" panose="02020603050405020304" pitchFamily="18" charset="0"/>
              </a:rPr>
              <a:t>totk</a:t>
            </a:r>
            <a:r>
              <a:rPr lang="en-US" altLang="zh-TW" dirty="0">
                <a:latin typeface="Times New Roman" panose="02020603050405020304" pitchFamily="18" charset="0"/>
                <a:cs typeface="Times New Roman" panose="02020603050405020304" pitchFamily="18" charset="0"/>
              </a:rPr>
              <a:t> : total observed number of codons coding for the amino acid coded by codon k</a:t>
            </a:r>
          </a:p>
          <a:p>
            <a:r>
              <a:rPr lang="en-US" altLang="zh-TW" dirty="0" err="1">
                <a:latin typeface="Times New Roman" panose="02020603050405020304" pitchFamily="18" charset="0"/>
                <a:cs typeface="Times New Roman" panose="02020603050405020304" pitchFamily="18" charset="0"/>
              </a:rPr>
              <a:t>nk</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 number of synonymous codons of codon k</a:t>
            </a:r>
            <a:endParaRPr lang="zh-TW" altLang="en-US"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77E5929-733D-4046-8669-0B301504490E}"/>
              </a:ext>
            </a:extLst>
          </p:cNvPr>
          <p:cNvPicPr>
            <a:picLocks noChangeAspect="1"/>
          </p:cNvPicPr>
          <p:nvPr/>
        </p:nvPicPr>
        <p:blipFill>
          <a:blip r:embed="rId2"/>
          <a:stretch>
            <a:fillRect/>
          </a:stretch>
        </p:blipFill>
        <p:spPr>
          <a:xfrm>
            <a:off x="3452952" y="2164579"/>
            <a:ext cx="2238095" cy="1038095"/>
          </a:xfrm>
          <a:prstGeom prst="rect">
            <a:avLst/>
          </a:prstGeom>
        </p:spPr>
      </p:pic>
    </p:spTree>
    <p:extLst>
      <p:ext uri="{BB962C8B-B14F-4D97-AF65-F5344CB8AC3E}">
        <p14:creationId xmlns:p14="http://schemas.microsoft.com/office/powerpoint/2010/main" val="37866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Binary SVM</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2877417"/>
            <a:ext cx="7886700" cy="4351338"/>
          </a:xfrm>
        </p:spPr>
        <p:txBody>
          <a:bodyPr>
            <a:normAutofit/>
          </a:bodyPr>
          <a:lstStyle/>
          <a:p>
            <a:pPr marL="0" indent="0">
              <a:lnSpc>
                <a:spcPct val="150000"/>
              </a:lnSpc>
              <a:buNone/>
            </a:pPr>
            <a:r>
              <a:rPr lang="zh-TW" altLang="en-US" sz="1800" dirty="0"/>
              <a:t> </a:t>
            </a:r>
            <a:endParaRPr lang="zh-TW" altLang="zh-TW" sz="1800" dirty="0"/>
          </a:p>
        </p:txBody>
      </p:sp>
      <p:pic>
        <p:nvPicPr>
          <p:cNvPr id="4" name="圖片 3">
            <a:extLst>
              <a:ext uri="{FF2B5EF4-FFF2-40B4-BE49-F238E27FC236}">
                <a16:creationId xmlns:a16="http://schemas.microsoft.com/office/drawing/2014/main" id="{59B21788-EBF6-45F6-8992-46DD210FAE95}"/>
              </a:ext>
            </a:extLst>
          </p:cNvPr>
          <p:cNvPicPr>
            <a:picLocks noChangeAspect="1"/>
          </p:cNvPicPr>
          <p:nvPr/>
        </p:nvPicPr>
        <p:blipFill>
          <a:blip r:embed="rId2"/>
          <a:stretch>
            <a:fillRect/>
          </a:stretch>
        </p:blipFill>
        <p:spPr>
          <a:xfrm>
            <a:off x="1647792" y="1452666"/>
            <a:ext cx="5848415" cy="2341720"/>
          </a:xfrm>
          <a:prstGeom prst="rect">
            <a:avLst/>
          </a:prstGeom>
        </p:spPr>
      </p:pic>
      <mc:AlternateContent xmlns:mc="http://schemas.openxmlformats.org/markup-compatibility/2006">
        <mc:Choice xmlns:a14="http://schemas.microsoft.com/office/drawing/2010/main" Requires="a14">
          <p:sp>
            <p:nvSpPr>
              <p:cNvPr id="5" name="內容版面配置區 6">
                <a:extLst>
                  <a:ext uri="{FF2B5EF4-FFF2-40B4-BE49-F238E27FC236}">
                    <a16:creationId xmlns:a16="http://schemas.microsoft.com/office/drawing/2014/main" id="{C2A8BB7A-9242-41E5-AD36-1B556E509A8B}"/>
                  </a:ext>
                </a:extLst>
              </p:cNvPr>
              <p:cNvSpPr txBox="1">
                <a:spLocks/>
              </p:cNvSpPr>
              <p:nvPr/>
            </p:nvSpPr>
            <p:spPr>
              <a:xfrm>
                <a:off x="628650" y="3948166"/>
                <a:ext cx="7886700" cy="262883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𝜉</m:t>
                        </m:r>
                      </m:e>
                      <m:sub>
                        <m:acc>
                          <m:accPr>
                            <m:chr m:val="̇"/>
                            <m:ctrlPr>
                              <a:rPr lang="en-US" altLang="zh-TW" i="1" dirty="0">
                                <a:latin typeface="Cambria Math" panose="02040503050406030204" pitchFamily="18" charset="0"/>
                              </a:rPr>
                            </m:ctrlPr>
                          </m:accPr>
                          <m:e>
                            <m:r>
                              <a:rPr lang="en-US" altLang="zh-TW" i="1" dirty="0">
                                <a:latin typeface="Cambria Math" panose="02040503050406030204" pitchFamily="18" charset="0"/>
                              </a:rPr>
                              <m:t>𝑗</m:t>
                            </m:r>
                          </m:e>
                        </m:acc>
                      </m:sub>
                    </m:sSub>
                  </m:oMath>
                </a14:m>
                <a:r>
                  <a:rPr lang="en-US" altLang="zh-TW" dirty="0">
                    <a:latin typeface="Times New Roman" panose="02020603050405020304" pitchFamily="18" charset="0"/>
                    <a:cs typeface="Times New Roman" panose="02020603050405020304" pitchFamily="18" charset="0"/>
                  </a:rPr>
                  <a:t>: the magnitude of error in the classification</a:t>
                </a:r>
              </a:p>
              <a:p>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dirty="0" smtClean="0">
                        <a:latin typeface="Cambria Math" panose="02040503050406030204" pitchFamily="18" charset="0"/>
                      </a:rPr>
                      <m:t>∅</m:t>
                    </m:r>
                  </m:oMath>
                </a14:m>
                <a:r>
                  <a:rPr lang="en-US" altLang="zh-TW" dirty="0">
                    <a:latin typeface="Times New Roman" panose="02020603050405020304" pitchFamily="18" charset="0"/>
                    <a:cs typeface="Times New Roman" panose="02020603050405020304" pitchFamily="18" charset="0"/>
                  </a:rPr>
                  <a:t> : the mapping function to a higher dimension </a:t>
                </a:r>
              </a:p>
              <a:p>
                <a:r>
                  <a:rPr lang="en-US" altLang="zh-TW" dirty="0">
                    <a:latin typeface="Times New Roman" panose="02020603050405020304" pitchFamily="18" charset="0"/>
                    <a:cs typeface="Times New Roman" panose="02020603050405020304" pitchFamily="18" charset="0"/>
                  </a:rPr>
                  <a:t> b</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 bias used to classify samples</a:t>
                </a:r>
              </a:p>
              <a:p>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zh-TW" altLang="en-US" i="1" dirty="0" smtClean="0">
                        <a:latin typeface="Cambria Math" panose="02040503050406030204" pitchFamily="18" charset="0"/>
                      </a:rPr>
                      <m:t>𝛾</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the sensitivity parameter that decides the trade-off between the training error and the margin of separation</a:t>
                </a:r>
              </a:p>
              <a:p>
                <a:endParaRPr lang="zh-TW" altLang="en-US" dirty="0">
                  <a:latin typeface="Times New Roman" panose="02020603050405020304" pitchFamily="18" charset="0"/>
                  <a:cs typeface="Times New Roman" panose="02020603050405020304" pitchFamily="18" charset="0"/>
                </a:endParaRPr>
              </a:p>
            </p:txBody>
          </p:sp>
        </mc:Choice>
        <mc:Fallback>
          <p:sp>
            <p:nvSpPr>
              <p:cNvPr id="5" name="內容版面配置區 6">
                <a:extLst>
                  <a:ext uri="{FF2B5EF4-FFF2-40B4-BE49-F238E27FC236}">
                    <a16:creationId xmlns:a16="http://schemas.microsoft.com/office/drawing/2014/main" id="{C2A8BB7A-9242-41E5-AD36-1B556E509A8B}"/>
                  </a:ext>
                </a:extLst>
              </p:cNvPr>
              <p:cNvSpPr txBox="1">
                <a:spLocks noRot="1" noChangeAspect="1" noMove="1" noResize="1" noEditPoints="1" noAdjustHandles="1" noChangeArrowheads="1" noChangeShapeType="1" noTextEdit="1"/>
              </p:cNvSpPr>
              <p:nvPr/>
            </p:nvSpPr>
            <p:spPr>
              <a:xfrm>
                <a:off x="628650" y="3948166"/>
                <a:ext cx="7886700" cy="2628833"/>
              </a:xfrm>
              <a:prstGeom prst="rect">
                <a:avLst/>
              </a:prstGeom>
              <a:blipFill>
                <a:blip r:embed="rId3"/>
                <a:stretch>
                  <a:fillRect l="-1391" t="-5336" b="-34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41434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F7087912-7003-426A-A408-A8208906E091}"/>
              </a:ext>
            </a:extLst>
          </p:cNvPr>
          <p:cNvSpPr>
            <a:spLocks noGrp="1"/>
          </p:cNvSpPr>
          <p:nvPr>
            <p:ph type="title"/>
          </p:nvPr>
        </p:nvSpPr>
        <p:spPr>
          <a:xfrm>
            <a:off x="628650" y="263072"/>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Binary SVM</a:t>
            </a:r>
            <a:endParaRPr lang="zh-TW" altLang="en-US" sz="3200" b="1"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0BB965BA-8CCE-43A1-A85A-4E6DFA111ACC}"/>
              </a:ext>
            </a:extLst>
          </p:cNvPr>
          <p:cNvPicPr>
            <a:picLocks noChangeAspect="1"/>
          </p:cNvPicPr>
          <p:nvPr/>
        </p:nvPicPr>
        <p:blipFill>
          <a:blip r:embed="rId2"/>
          <a:stretch>
            <a:fillRect/>
          </a:stretch>
        </p:blipFill>
        <p:spPr>
          <a:xfrm>
            <a:off x="1752770" y="1142249"/>
            <a:ext cx="5638456" cy="1424578"/>
          </a:xfrm>
          <a:prstGeom prst="rect">
            <a:avLst/>
          </a:prstGeom>
        </p:spPr>
      </p:pic>
      <p:pic>
        <p:nvPicPr>
          <p:cNvPr id="11" name="圖片 10">
            <a:extLst>
              <a:ext uri="{FF2B5EF4-FFF2-40B4-BE49-F238E27FC236}">
                <a16:creationId xmlns:a16="http://schemas.microsoft.com/office/drawing/2014/main" id="{50CF9312-C052-4F74-AB96-00CB82CD1439}"/>
              </a:ext>
            </a:extLst>
          </p:cNvPr>
          <p:cNvPicPr>
            <a:picLocks noChangeAspect="1"/>
          </p:cNvPicPr>
          <p:nvPr/>
        </p:nvPicPr>
        <p:blipFill>
          <a:blip r:embed="rId3"/>
          <a:stretch>
            <a:fillRect/>
          </a:stretch>
        </p:blipFill>
        <p:spPr>
          <a:xfrm>
            <a:off x="1829919" y="2699284"/>
            <a:ext cx="5770540" cy="326634"/>
          </a:xfrm>
          <a:prstGeom prst="rect">
            <a:avLst/>
          </a:prstGeom>
        </p:spPr>
      </p:pic>
      <p:pic>
        <p:nvPicPr>
          <p:cNvPr id="14" name="圖片 13">
            <a:extLst>
              <a:ext uri="{FF2B5EF4-FFF2-40B4-BE49-F238E27FC236}">
                <a16:creationId xmlns:a16="http://schemas.microsoft.com/office/drawing/2014/main" id="{0F99951F-E8A8-46C2-BD93-50F73CB19B2C}"/>
              </a:ext>
            </a:extLst>
          </p:cNvPr>
          <p:cNvPicPr>
            <a:picLocks noChangeAspect="1"/>
          </p:cNvPicPr>
          <p:nvPr/>
        </p:nvPicPr>
        <p:blipFill>
          <a:blip r:embed="rId4"/>
          <a:stretch>
            <a:fillRect/>
          </a:stretch>
        </p:blipFill>
        <p:spPr>
          <a:xfrm>
            <a:off x="1910603" y="3182739"/>
            <a:ext cx="4491212" cy="326634"/>
          </a:xfrm>
          <a:prstGeom prst="rect">
            <a:avLst/>
          </a:prstGeom>
        </p:spPr>
      </p:pic>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41C8A3F4-5B58-4DBD-8860-73CC59BF5118}"/>
                  </a:ext>
                </a:extLst>
              </p:cNvPr>
              <p:cNvSpPr/>
              <p:nvPr/>
            </p:nvSpPr>
            <p:spPr>
              <a:xfrm>
                <a:off x="628651" y="3706193"/>
                <a:ext cx="7886700" cy="860748"/>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Once the parameters </a:t>
                </a:r>
                <a14:m>
                  <m:oMath xmlns:m="http://schemas.openxmlformats.org/officeDocument/2006/math">
                    <m:sSub>
                      <m:sSubPr>
                        <m:ctrlPr>
                          <a:rPr lang="zh-TW" altLang="en-US" sz="2400" i="1" dirty="0" smtClean="0">
                            <a:latin typeface="Cambria Math" panose="02040503050406030204" pitchFamily="18" charset="0"/>
                          </a:rPr>
                        </m:ctrlPr>
                      </m:sSubPr>
                      <m:e>
                        <m:r>
                          <a:rPr lang="zh-TW" altLang="en-US" sz="2400" i="1" dirty="0">
                            <a:latin typeface="Cambria Math" panose="02040503050406030204" pitchFamily="18" charset="0"/>
                          </a:rPr>
                          <m:t>𝛼</m:t>
                        </m:r>
                      </m:e>
                      <m:sub>
                        <m:r>
                          <a:rPr lang="zh-TW" altLang="en-US" sz="2400" i="1" dirty="0">
                            <a:latin typeface="Cambria Math" panose="02040503050406030204" pitchFamily="18" charset="0"/>
                          </a:rPr>
                          <m:t>𝑗</m:t>
                        </m:r>
                      </m:sub>
                    </m:sSub>
                    <m:r>
                      <a:rPr lang="en-US" altLang="zh-TW" sz="2400" b="0" i="1" dirty="0" smtClean="0">
                        <a:latin typeface="Cambria Math" panose="02040503050406030204" pitchFamily="18" charset="0"/>
                      </a:rPr>
                      <m:t> </m:t>
                    </m:r>
                  </m:oMath>
                </a14:m>
                <a:r>
                  <a:rPr lang="zh-TW" altLang="en-US" sz="2400" dirty="0">
                    <a:latin typeface="Times New Roman" panose="02020603050405020304" pitchFamily="18" charset="0"/>
                    <a:cs typeface="Times New Roman" panose="02020603050405020304" pitchFamily="18" charset="0"/>
                  </a:rPr>
                  <a:t>are obtained from the optimization, the resulting discriminant function f is given b</a:t>
                </a:r>
                <a:r>
                  <a:rPr lang="en-US" altLang="zh-TW" sz="2400" dirty="0">
                    <a:latin typeface="Times New Roman" panose="02020603050405020304" pitchFamily="18" charset="0"/>
                    <a:cs typeface="Times New Roman" panose="02020603050405020304" pitchFamily="18" charset="0"/>
                  </a:rPr>
                  <a:t>y</a:t>
                </a:r>
                <a:endParaRPr lang="zh-TW" altLang="en-US" sz="2400" dirty="0">
                  <a:latin typeface="Times New Roman" panose="02020603050405020304" pitchFamily="18" charset="0"/>
                  <a:cs typeface="Times New Roman" panose="02020603050405020304" pitchFamily="18" charset="0"/>
                </a:endParaRPr>
              </a:p>
            </p:txBody>
          </p:sp>
        </mc:Choice>
        <mc:Fallback>
          <p:sp>
            <p:nvSpPr>
              <p:cNvPr id="15" name="矩形 14">
                <a:extLst>
                  <a:ext uri="{FF2B5EF4-FFF2-40B4-BE49-F238E27FC236}">
                    <a16:creationId xmlns:a16="http://schemas.microsoft.com/office/drawing/2014/main" id="{41C8A3F4-5B58-4DBD-8860-73CC59BF5118}"/>
                  </a:ext>
                </a:extLst>
              </p:cNvPr>
              <p:cNvSpPr>
                <a:spLocks noRot="1" noChangeAspect="1" noMove="1" noResize="1" noEditPoints="1" noAdjustHandles="1" noChangeArrowheads="1" noChangeShapeType="1" noTextEdit="1"/>
              </p:cNvSpPr>
              <p:nvPr/>
            </p:nvSpPr>
            <p:spPr>
              <a:xfrm>
                <a:off x="628651" y="3706193"/>
                <a:ext cx="7886700" cy="860748"/>
              </a:xfrm>
              <a:prstGeom prst="rect">
                <a:avLst/>
              </a:prstGeom>
              <a:blipFill>
                <a:blip r:embed="rId5"/>
                <a:stretch>
                  <a:fillRect l="-1159" t="-5674" r="-1777" b="-15603"/>
                </a:stretch>
              </a:blipFill>
            </p:spPr>
            <p:txBody>
              <a:bodyPr/>
              <a:lstStyle/>
              <a:p>
                <a:r>
                  <a:rPr lang="zh-TW" altLang="en-US">
                    <a:noFill/>
                  </a:rPr>
                  <a:t> </a:t>
                </a:r>
              </a:p>
            </p:txBody>
          </p:sp>
        </mc:Fallback>
      </mc:AlternateContent>
      <p:pic>
        <p:nvPicPr>
          <p:cNvPr id="17" name="圖片 16">
            <a:extLst>
              <a:ext uri="{FF2B5EF4-FFF2-40B4-BE49-F238E27FC236}">
                <a16:creationId xmlns:a16="http://schemas.microsoft.com/office/drawing/2014/main" id="{ECEB70A4-71EB-4959-8865-DCB0E569D2EE}"/>
              </a:ext>
            </a:extLst>
          </p:cNvPr>
          <p:cNvPicPr>
            <a:picLocks noChangeAspect="1"/>
          </p:cNvPicPr>
          <p:nvPr/>
        </p:nvPicPr>
        <p:blipFill>
          <a:blip r:embed="rId6"/>
          <a:stretch>
            <a:fillRect/>
          </a:stretch>
        </p:blipFill>
        <p:spPr>
          <a:xfrm>
            <a:off x="1854707" y="4566941"/>
            <a:ext cx="5434585" cy="894442"/>
          </a:xfrm>
          <a:prstGeom prst="rect">
            <a:avLst/>
          </a:prstGeom>
        </p:spPr>
      </p:pic>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2D894726-D51A-4E27-9681-FBFB99937B61}"/>
                  </a:ext>
                </a:extLst>
              </p:cNvPr>
              <p:cNvSpPr/>
              <p:nvPr/>
            </p:nvSpPr>
            <p:spPr>
              <a:xfrm>
                <a:off x="628650" y="5427689"/>
                <a:ext cx="7886700"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The class corresponding HLA-I if </a:t>
                </a:r>
                <a14:m>
                  <m:oMath xmlns:m="http://schemas.openxmlformats.org/officeDocument/2006/math">
                    <m:r>
                      <a:rPr lang="en-US" altLang="zh-TW" sz="2400" i="1" smtClean="0">
                        <a:latin typeface="Cambria Math" panose="02040503050406030204" pitchFamily="18" charset="0"/>
                      </a:rPr>
                      <m:t>𝑓</m:t>
                    </m:r>
                    <m:d>
                      <m:dPr>
                        <m:ctrlPr>
                          <a:rPr lang="en-US" altLang="zh-TW" sz="2400" i="1" smtClean="0">
                            <a:latin typeface="Cambria Math" panose="02040503050406030204" pitchFamily="18" charset="0"/>
                          </a:rPr>
                        </m:ctrlPr>
                      </m:dPr>
                      <m:e>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𝑟</m:t>
                            </m:r>
                          </m:e>
                          <m:sub>
                            <m:r>
                              <a:rPr lang="en-US" altLang="zh-TW" sz="2400" i="1" smtClean="0">
                                <a:latin typeface="Cambria Math" panose="02040503050406030204" pitchFamily="18" charset="0"/>
                              </a:rPr>
                              <m:t>𝑖</m:t>
                            </m:r>
                          </m:sub>
                        </m:sSub>
                      </m:e>
                    </m:d>
                  </m:oMath>
                </a14:m>
                <a:r>
                  <a:rPr lang="en-US" altLang="zh-TW" sz="2400" dirty="0">
                    <a:latin typeface="Times New Roman" panose="02020603050405020304" pitchFamily="18" charset="0"/>
                    <a:cs typeface="Times New Roman" panose="02020603050405020304" pitchFamily="18" charset="0"/>
                  </a:rPr>
                  <a:t> &lt; 0 or HLA-II if </a:t>
                </a:r>
                <a14:m>
                  <m:oMath xmlns:m="http://schemas.openxmlformats.org/officeDocument/2006/math">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𝑟</m:t>
                            </m:r>
                          </m:e>
                          <m:sub>
                            <m:r>
                              <a:rPr lang="en-US" altLang="zh-TW" sz="2400" i="1">
                                <a:latin typeface="Cambria Math" panose="02040503050406030204" pitchFamily="18" charset="0"/>
                              </a:rPr>
                              <m:t>𝑖</m:t>
                            </m:r>
                          </m:sub>
                        </m:sSub>
                      </m:e>
                    </m:d>
                    <m:r>
                      <a:rPr lang="en-US" altLang="zh-TW" sz="2400" i="1" smtClean="0">
                        <a:latin typeface="Cambria Math" panose="02040503050406030204" pitchFamily="18" charset="0"/>
                      </a:rPr>
                      <m:t>≥</m:t>
                    </m:r>
                    <m:r>
                      <a:rPr lang="en-US" altLang="zh-TW" sz="2400" i="1">
                        <a:latin typeface="Cambria Math" panose="02040503050406030204" pitchFamily="18" charset="0"/>
                      </a:rPr>
                      <m:t> </m:t>
                    </m:r>
                  </m:oMath>
                </a14:m>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p:txBody>
          </p:sp>
        </mc:Choice>
        <mc:Fallback>
          <p:sp>
            <p:nvSpPr>
              <p:cNvPr id="18" name="矩形 17">
                <a:extLst>
                  <a:ext uri="{FF2B5EF4-FFF2-40B4-BE49-F238E27FC236}">
                    <a16:creationId xmlns:a16="http://schemas.microsoft.com/office/drawing/2014/main" id="{2D894726-D51A-4E27-9681-FBFB99937B61}"/>
                  </a:ext>
                </a:extLst>
              </p:cNvPr>
              <p:cNvSpPr>
                <a:spLocks noRot="1" noChangeAspect="1" noMove="1" noResize="1" noEditPoints="1" noAdjustHandles="1" noChangeArrowheads="1" noChangeShapeType="1" noTextEdit="1"/>
              </p:cNvSpPr>
              <p:nvPr/>
            </p:nvSpPr>
            <p:spPr>
              <a:xfrm>
                <a:off x="628650" y="5427689"/>
                <a:ext cx="7886700" cy="830997"/>
              </a:xfrm>
              <a:prstGeom prst="rect">
                <a:avLst/>
              </a:prstGeom>
              <a:blipFill>
                <a:blip r:embed="rId7"/>
                <a:stretch>
                  <a:fillRect l="-1159" t="-5839" b="-1532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08339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B84405B-FE54-4F24-AFC5-B7EE33AC2544}"/>
              </a:ext>
            </a:extLst>
          </p:cNvPr>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Multiclass SVM</a:t>
            </a:r>
            <a:endParaRPr lang="zh-TW" alt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8B65262E-D1F8-4275-91C0-5F8FCD6C76B9}"/>
                  </a:ext>
                </a:extLst>
              </p:cNvPr>
              <p:cNvSpPr/>
              <p:nvPr/>
            </p:nvSpPr>
            <p:spPr>
              <a:xfrm>
                <a:off x="628650" y="3003192"/>
                <a:ext cx="7886700" cy="2677656"/>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The subclas</a:t>
                </a:r>
                <a:r>
                  <a:rPr lang="en-US" altLang="zh-TW" sz="2800" dirty="0">
                    <a:latin typeface="Times New Roman" panose="02020603050405020304" pitchFamily="18" charset="0"/>
                    <a:cs typeface="Times New Roman" panose="02020603050405020304" pitchFamily="18" charset="0"/>
                  </a:rPr>
                  <a:t>s </a:t>
                </a:r>
                <a:r>
                  <a:rPr lang="zh-TW" altLang="en-US" sz="2800" dirty="0">
                    <a:latin typeface="Times New Roman" panose="02020603050405020304" pitchFamily="18" charset="0"/>
                    <a:cs typeface="Times New Roman" panose="02020603050405020304" pitchFamily="18" charset="0"/>
                  </a:rPr>
                  <a:t>is determined by </a:t>
                </a:r>
                <a:r>
                  <a:rPr lang="en-US" altLang="zh-TW" sz="2800" dirty="0" err="1">
                    <a:latin typeface="Times New Roman" panose="02020603050405020304" pitchFamily="18" charset="0"/>
                    <a:cs typeface="Times New Roman" panose="02020603050405020304" pitchFamily="18" charset="0"/>
                  </a:rPr>
                  <a:t>arg</a:t>
                </a:r>
                <a:r>
                  <a:rPr lang="en-US" altLang="zh-TW" sz="2800" dirty="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altLang="zh-TW" sz="2800" i="1" smtClean="0">
                                <a:latin typeface="Cambria Math" panose="02040503050406030204" pitchFamily="18" charset="0"/>
                                <a:cs typeface="Times New Roman" panose="02020603050405020304" pitchFamily="18" charset="0"/>
                              </a:rPr>
                            </m:ctrlPr>
                          </m:limLowPr>
                          <m:e>
                            <m:r>
                              <m:rPr>
                                <m:sty m:val="p"/>
                              </m:rPr>
                              <a:rPr lang="en-US" altLang="zh-TW" sz="2800" i="0" smtClean="0">
                                <a:latin typeface="Cambria Math" panose="02040503050406030204" pitchFamily="18" charset="0"/>
                                <a:cs typeface="Times New Roman" panose="02020603050405020304" pitchFamily="18" charset="0"/>
                              </a:rPr>
                              <m:t>max</m:t>
                            </m:r>
                          </m:e>
                          <m:lim>
                            <m:r>
                              <a:rPr lang="en-US" altLang="zh-TW" sz="2800" b="0" i="1" smtClean="0">
                                <a:latin typeface="Cambria Math" panose="02040503050406030204" pitchFamily="18" charset="0"/>
                                <a:cs typeface="Times New Roman" panose="02020603050405020304" pitchFamily="18" charset="0"/>
                              </a:rPr>
                              <m:t>𝑐</m:t>
                            </m:r>
                            <m:r>
                              <a:rPr lang="en-US" altLang="zh-TW" sz="28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800" b="0" i="1" smtClean="0">
                                <a:latin typeface="Cambria Math" panose="02040503050406030204" pitchFamily="18" charset="0"/>
                                <a:ea typeface="Cambria Math" panose="02040503050406030204" pitchFamily="18" charset="0"/>
                              </a:rPr>
                              <m:t>𝛺</m:t>
                            </m:r>
                          </m:lim>
                        </m:limLow>
                      </m:fName>
                      <m:e>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𝑓</m:t>
                            </m:r>
                          </m:e>
                          <m:sup>
                            <m:r>
                              <a:rPr lang="en-US" altLang="zh-TW" sz="2800" b="0" i="1" smtClean="0">
                                <a:latin typeface="Cambria Math" panose="02040503050406030204" pitchFamily="18" charset="0"/>
                                <a:ea typeface="Cambria Math" panose="02040503050406030204" pitchFamily="18" charset="0"/>
                              </a:rPr>
                              <m:t>𝑐</m:t>
                            </m:r>
                          </m:sup>
                        </m:sSup>
                        <m:d>
                          <m:dPr>
                            <m:ctrlPr>
                              <a:rPr lang="en-US" altLang="zh-TW" sz="2800" b="0" i="1" smtClean="0">
                                <a:latin typeface="Cambria Math" panose="02040503050406030204" pitchFamily="18" charset="0"/>
                                <a:ea typeface="Cambria Math" panose="02040503050406030204" pitchFamily="18" charset="0"/>
                              </a:rPr>
                            </m:ctrlPr>
                          </m:dPr>
                          <m:e>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𝑟</m:t>
                                </m:r>
                              </m:e>
                              <m:sub>
                                <m:r>
                                  <a:rPr lang="en-US" altLang="zh-TW" sz="2800" b="0" i="1" smtClean="0">
                                    <a:latin typeface="Cambria Math" panose="02040503050406030204" pitchFamily="18" charset="0"/>
                                    <a:ea typeface="Cambria Math" panose="02040503050406030204" pitchFamily="18" charset="0"/>
                                  </a:rPr>
                                  <m:t>𝑖</m:t>
                                </m:r>
                              </m:sub>
                            </m:sSub>
                          </m:e>
                        </m:d>
                      </m:e>
                    </m:func>
                  </m:oMath>
                </a14:m>
                <a:endParaRPr lang="en-US" altLang="zh-TW" sz="2800" dirty="0">
                  <a:latin typeface="Times New Roman" panose="02020603050405020304" pitchFamily="18" charset="0"/>
                  <a:cs typeface="Times New Roman" panose="02020603050405020304" pitchFamily="18" charset="0"/>
                </a:endParaRPr>
              </a:p>
              <a:p>
                <a:endParaRPr lang="en-US" altLang="zh-TW" sz="2800" dirty="0">
                  <a:latin typeface="Cambria Math" panose="02040503050406030204" pitchFamily="18" charset="0"/>
                </a:endParaRPr>
              </a:p>
              <a:p>
                <a14:m>
                  <m:oMath xmlns:m="http://schemas.openxmlformats.org/officeDocument/2006/math">
                    <m:sSub>
                      <m:sSubPr>
                        <m:ctrlPr>
                          <a:rPr lang="en-US" altLang="zh-TW" sz="2800" smtClean="0">
                            <a:latin typeface="Cambria Math" panose="02040503050406030204" pitchFamily="18" charset="0"/>
                          </a:rPr>
                        </m:ctrlPr>
                      </m:sSubPr>
                      <m:e>
                        <m:r>
                          <a:rPr lang="en-US" altLang="zh-TW" sz="2800" i="1" smtClean="0">
                            <a:latin typeface="Cambria Math" panose="02040503050406030204" pitchFamily="18" charset="0"/>
                          </a:rPr>
                          <m:t>𝛺</m:t>
                        </m:r>
                      </m:e>
                      <m:sub>
                        <m:r>
                          <a:rPr lang="en-US" altLang="zh-TW" sz="2800" i="0" smtClean="0">
                            <a:latin typeface="Cambria Math" panose="02040503050406030204" pitchFamily="18" charset="0"/>
                          </a:rPr>
                          <m:t>1</m:t>
                        </m:r>
                      </m:sub>
                    </m:sSub>
                  </m:oMath>
                </a14:m>
                <a:r>
                  <a:rPr lang="en-US" altLang="zh-TW" sz="2800" dirty="0">
                    <a:latin typeface="Times New Roman" panose="02020603050405020304" pitchFamily="18" charset="0"/>
                    <a:cs typeface="Times New Roman" panose="02020603050405020304" pitchFamily="18" charset="0"/>
                  </a:rPr>
                  <a:t>= {HLA-A, HLA-B, HLA-C}</a:t>
                </a:r>
              </a:p>
              <a:p>
                <a14:m>
                  <m:oMath xmlns:m="http://schemas.openxmlformats.org/officeDocument/2006/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𝛺</m:t>
                        </m:r>
                      </m:e>
                      <m:sub>
                        <m:r>
                          <a:rPr lang="en-US" altLang="zh-TW" sz="2800" b="0" i="0" smtClean="0">
                            <a:latin typeface="Cambria Math" panose="02040503050406030204" pitchFamily="18" charset="0"/>
                          </a:rPr>
                          <m:t>2</m:t>
                        </m:r>
                      </m:sub>
                    </m:sSub>
                  </m:oMath>
                </a14:m>
                <a:r>
                  <a:rPr lang="en-US" altLang="zh-TW" sz="2800" dirty="0">
                    <a:latin typeface="Times New Roman" panose="02020603050405020304" pitchFamily="18" charset="0"/>
                    <a:cs typeface="Times New Roman" panose="02020603050405020304" pitchFamily="18" charset="0"/>
                  </a:rPr>
                  <a:t>= {HLA-DPB1, HLA-DQA1, HLA-DQB1, </a:t>
                </a:r>
              </a:p>
              <a:p>
                <a:r>
                  <a:rPr lang="en-US" altLang="zh-TW" sz="2800" dirty="0">
                    <a:latin typeface="Times New Roman" panose="02020603050405020304" pitchFamily="18" charset="0"/>
                    <a:cs typeface="Times New Roman" panose="02020603050405020304" pitchFamily="18" charset="0"/>
                  </a:rPr>
                  <a:t>HLA-DRB1, HLA-DRB3}</a:t>
                </a:r>
              </a:p>
              <a:p>
                <a:endParaRPr lang="zh-TW" altLang="en-US" sz="2800" dirty="0">
                  <a:latin typeface="Times New Roman" panose="02020603050405020304" pitchFamily="18" charset="0"/>
                  <a:cs typeface="Times New Roman" panose="02020603050405020304" pitchFamily="18" charset="0"/>
                </a:endParaRPr>
              </a:p>
            </p:txBody>
          </p:sp>
        </mc:Choice>
        <mc:Fallback>
          <p:sp>
            <p:nvSpPr>
              <p:cNvPr id="7" name="矩形 6">
                <a:extLst>
                  <a:ext uri="{FF2B5EF4-FFF2-40B4-BE49-F238E27FC236}">
                    <a16:creationId xmlns:a16="http://schemas.microsoft.com/office/drawing/2014/main" id="{8B65262E-D1F8-4275-91C0-5F8FCD6C76B9}"/>
                  </a:ext>
                </a:extLst>
              </p:cNvPr>
              <p:cNvSpPr>
                <a:spLocks noRot="1" noChangeAspect="1" noMove="1" noResize="1" noEditPoints="1" noAdjustHandles="1" noChangeArrowheads="1" noChangeShapeType="1" noTextEdit="1"/>
              </p:cNvSpPr>
              <p:nvPr/>
            </p:nvSpPr>
            <p:spPr>
              <a:xfrm>
                <a:off x="628650" y="3003192"/>
                <a:ext cx="7886700" cy="2677656"/>
              </a:xfrm>
              <a:prstGeom prst="rect">
                <a:avLst/>
              </a:prstGeom>
              <a:blipFill>
                <a:blip r:embed="rId2"/>
                <a:stretch>
                  <a:fillRect l="-1546" t="-2506"/>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FDE9C70E-F620-4012-BBB3-611EDE1709E1}"/>
              </a:ext>
            </a:extLst>
          </p:cNvPr>
          <p:cNvPicPr>
            <a:picLocks noChangeAspect="1"/>
          </p:cNvPicPr>
          <p:nvPr/>
        </p:nvPicPr>
        <p:blipFill>
          <a:blip r:embed="rId3"/>
          <a:stretch>
            <a:fillRect/>
          </a:stretch>
        </p:blipFill>
        <p:spPr>
          <a:xfrm>
            <a:off x="2024381" y="1670585"/>
            <a:ext cx="5095238" cy="1114286"/>
          </a:xfrm>
          <a:prstGeom prst="rect">
            <a:avLst/>
          </a:prstGeom>
        </p:spPr>
      </p:pic>
    </p:spTree>
    <p:extLst>
      <p:ext uri="{BB962C8B-B14F-4D97-AF65-F5344CB8AC3E}">
        <p14:creationId xmlns:p14="http://schemas.microsoft.com/office/powerpoint/2010/main" val="377819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Classification of HLA Molecules Using SVM and Codon Bias</a:t>
            </a:r>
            <a:endParaRPr lang="zh-TW" altLang="en-US" sz="3200" b="1"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FE6D71D5-C462-4F1A-B4AD-0E510B188B3E}"/>
              </a:ext>
            </a:extLst>
          </p:cNvPr>
          <p:cNvSpPr>
            <a:spLocks noGrp="1"/>
          </p:cNvSpPr>
          <p:nvPr>
            <p:ph idx="1"/>
          </p:nvPr>
        </p:nvSpPr>
        <p:spPr>
          <a:xfrm>
            <a:off x="628650" y="4598347"/>
            <a:ext cx="7886700" cy="4351338"/>
          </a:xfrm>
        </p:spPr>
        <p:txBody>
          <a:bodyPr/>
          <a:lstStyle/>
          <a:p>
            <a:r>
              <a:rPr lang="en-US" altLang="zh-TW" dirty="0">
                <a:latin typeface="Times New Roman" panose="02020603050405020304" pitchFamily="18" charset="0"/>
                <a:cs typeface="Times New Roman" panose="02020603050405020304" pitchFamily="18" charset="0"/>
              </a:rPr>
              <a:t>Ten-fold cross validation </a:t>
            </a:r>
          </a:p>
          <a:p>
            <a:r>
              <a:rPr lang="en-US" altLang="zh-TW" dirty="0">
                <a:latin typeface="Times New Roman" panose="02020603050405020304" pitchFamily="18" charset="0"/>
                <a:cs typeface="Times New Roman" panose="02020603050405020304" pitchFamily="18" charset="0"/>
              </a:rPr>
              <a:t>Different kernel function and parameters</a:t>
            </a:r>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885B7011-B387-4B54-AB7F-C09807172CF5}"/>
              </a:ext>
            </a:extLst>
          </p:cNvPr>
          <p:cNvPicPr>
            <a:picLocks noChangeAspect="1"/>
          </p:cNvPicPr>
          <p:nvPr/>
        </p:nvPicPr>
        <p:blipFill>
          <a:blip r:embed="rId2"/>
          <a:stretch>
            <a:fillRect/>
          </a:stretch>
        </p:blipFill>
        <p:spPr>
          <a:xfrm>
            <a:off x="1067238" y="2543285"/>
            <a:ext cx="7009524" cy="1771429"/>
          </a:xfrm>
          <a:prstGeom prst="rect">
            <a:avLst/>
          </a:prstGeom>
        </p:spPr>
      </p:pic>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 HLA major class classification</a:t>
            </a:r>
          </a:p>
        </p:txBody>
      </p:sp>
    </p:spTree>
    <p:extLst>
      <p:ext uri="{BB962C8B-B14F-4D97-AF65-F5344CB8AC3E}">
        <p14:creationId xmlns:p14="http://schemas.microsoft.com/office/powerpoint/2010/main" val="265324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Classification of HLA Molecules Using SVM and Codon Bias</a:t>
            </a:r>
            <a:endParaRPr lang="zh-TW" altLang="en-US" sz="3200" b="1"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FE6D71D5-C462-4F1A-B4AD-0E510B188B3E}"/>
              </a:ext>
            </a:extLst>
          </p:cNvPr>
          <p:cNvSpPr>
            <a:spLocks noGrp="1"/>
          </p:cNvSpPr>
          <p:nvPr>
            <p:ph idx="1"/>
          </p:nvPr>
        </p:nvSpPr>
        <p:spPr>
          <a:xfrm>
            <a:off x="628649" y="2225660"/>
            <a:ext cx="7887821" cy="435443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For HLA-I subclass classification, we first considered the subclasses of HLA-A, HLA-B, and HLA-C, as the numbers of sequences in other subclasses such as HLA-E, HLA-F, and HLA-G are less than 25, to be included in the analysis. For similar reason, we only consider the subclasses of HLADPB1, HLA-DQA1, HLA-DQB1, HLA-DRB1, and HLADRB3 for HLA-II subclass classification.</a:t>
            </a:r>
            <a:endParaRPr lang="zh-TW" altLang="en-US" sz="2400" dirty="0">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 HLA-I and HLA-Ⅱ subclass classification</a:t>
            </a:r>
          </a:p>
        </p:txBody>
      </p:sp>
      <p:pic>
        <p:nvPicPr>
          <p:cNvPr id="2" name="圖片 1">
            <a:extLst>
              <a:ext uri="{FF2B5EF4-FFF2-40B4-BE49-F238E27FC236}">
                <a16:creationId xmlns:a16="http://schemas.microsoft.com/office/drawing/2014/main" id="{39CFE2DA-A844-4BB0-BB89-A05891154A9B}"/>
              </a:ext>
            </a:extLst>
          </p:cNvPr>
          <p:cNvPicPr>
            <a:picLocks noChangeAspect="1"/>
          </p:cNvPicPr>
          <p:nvPr/>
        </p:nvPicPr>
        <p:blipFill>
          <a:blip r:embed="rId2"/>
          <a:stretch>
            <a:fillRect/>
          </a:stretch>
        </p:blipFill>
        <p:spPr>
          <a:xfrm>
            <a:off x="446554" y="4763594"/>
            <a:ext cx="8250891" cy="1505403"/>
          </a:xfrm>
          <a:prstGeom prst="rect">
            <a:avLst/>
          </a:prstGeom>
        </p:spPr>
      </p:pic>
    </p:spTree>
    <p:extLst>
      <p:ext uri="{BB962C8B-B14F-4D97-AF65-F5344CB8AC3E}">
        <p14:creationId xmlns:p14="http://schemas.microsoft.com/office/powerpoint/2010/main" val="2533631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Classification of HLA Molecules Using SVM and Codon Bias</a:t>
            </a:r>
            <a:endParaRPr lang="zh-TW" altLang="en-US" sz="3200" b="1"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FE6D71D5-C462-4F1A-B4AD-0E510B188B3E}"/>
              </a:ext>
            </a:extLst>
          </p:cNvPr>
          <p:cNvSpPr>
            <a:spLocks noGrp="1"/>
          </p:cNvSpPr>
          <p:nvPr>
            <p:ph idx="1"/>
          </p:nvPr>
        </p:nvSpPr>
        <p:spPr>
          <a:xfrm>
            <a:off x="628649" y="2225660"/>
            <a:ext cx="7887821" cy="4354433"/>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They also performed multiclass SVM on the original data set for the subclass classification of HLA-I and HLA-II molecules without excluding subclasses having less than 25 samples. </a:t>
            </a:r>
            <a:r>
              <a:rPr lang="en-US" altLang="zh-TW" sz="2400" dirty="0">
                <a:solidFill>
                  <a:srgbClr val="FF0000"/>
                </a:solidFill>
                <a:latin typeface="Times New Roman" panose="02020603050405020304" pitchFamily="18" charset="0"/>
                <a:cs typeface="Times New Roman" panose="02020603050405020304" pitchFamily="18" charset="0"/>
              </a:rPr>
              <a:t>Two-fold cross validation </a:t>
            </a:r>
            <a:r>
              <a:rPr lang="en-US" altLang="zh-TW" sz="2400" dirty="0">
                <a:latin typeface="Times New Roman" panose="02020603050405020304" pitchFamily="18" charset="0"/>
                <a:cs typeface="Times New Roman" panose="02020603050405020304" pitchFamily="18" charset="0"/>
              </a:rPr>
              <a:t>was adopted as the numbers of sequences in the subclasses of HLA-E, HLA-F, HLA-DMA, HLA-DMB, HLA-DOA, HLA-DOB, or HLADRA were small. The multiclass SVM achieved the accuracies of </a:t>
            </a:r>
            <a:r>
              <a:rPr lang="en-US" altLang="zh-TW" sz="2400" dirty="0">
                <a:solidFill>
                  <a:srgbClr val="FF0000"/>
                </a:solidFill>
                <a:latin typeface="Times New Roman" panose="02020603050405020304" pitchFamily="18" charset="0"/>
                <a:cs typeface="Times New Roman" panose="02020603050405020304" pitchFamily="18" charset="0"/>
              </a:rPr>
              <a:t>99.39</a:t>
            </a:r>
            <a:r>
              <a:rPr lang="en-US" altLang="zh-TW" sz="2400" dirty="0">
                <a:latin typeface="Times New Roman" panose="02020603050405020304" pitchFamily="18" charset="0"/>
                <a:cs typeface="Times New Roman" panose="02020603050405020304" pitchFamily="18" charset="0"/>
              </a:rPr>
              <a:t> percent for the classification of six subclasses of HLA-I and </a:t>
            </a:r>
            <a:r>
              <a:rPr lang="en-US" altLang="zh-TW" sz="2400" dirty="0">
                <a:solidFill>
                  <a:srgbClr val="FF0000"/>
                </a:solidFill>
                <a:latin typeface="Times New Roman" panose="02020603050405020304" pitchFamily="18" charset="0"/>
                <a:cs typeface="Times New Roman" panose="02020603050405020304" pitchFamily="18" charset="0"/>
              </a:rPr>
              <a:t>98.71</a:t>
            </a:r>
            <a:r>
              <a:rPr lang="en-US" altLang="zh-TW" sz="2400" dirty="0">
                <a:latin typeface="Times New Roman" panose="02020603050405020304" pitchFamily="18" charset="0"/>
                <a:cs typeface="Times New Roman" panose="02020603050405020304" pitchFamily="18" charset="0"/>
              </a:rPr>
              <a:t> percent for 13 subclasses of HLA-II.</a:t>
            </a:r>
            <a:endParaRPr lang="zh-TW" altLang="en-US" sz="2400" dirty="0">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 HLA-I and HLA-Ⅱ subclass classification</a:t>
            </a:r>
          </a:p>
        </p:txBody>
      </p:sp>
    </p:spTree>
    <p:extLst>
      <p:ext uri="{BB962C8B-B14F-4D97-AF65-F5344CB8AC3E}">
        <p14:creationId xmlns:p14="http://schemas.microsoft.com/office/powerpoint/2010/main" val="202962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Classification of HLA Molecules Using SVM and Codon Bias</a:t>
            </a:r>
            <a:endParaRPr lang="zh-TW" altLang="en-US" sz="3200" b="1" dirty="0">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 Significance analysis of codon usage</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T-test</a:t>
            </a:r>
          </a:p>
          <a:p>
            <a:r>
              <a:rPr lang="en-US" altLang="zh-TW" dirty="0">
                <a:latin typeface="Times New Roman" panose="02020603050405020304" pitchFamily="18" charset="0"/>
                <a:cs typeface="Times New Roman" panose="02020603050405020304" pitchFamily="18" charset="0"/>
              </a:rPr>
              <a:t>Bonferroni correction</a:t>
            </a:r>
          </a:p>
        </p:txBody>
      </p:sp>
    </p:spTree>
    <p:extLst>
      <p:ext uri="{BB962C8B-B14F-4D97-AF65-F5344CB8AC3E}">
        <p14:creationId xmlns:p14="http://schemas.microsoft.com/office/powerpoint/2010/main" val="1529943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97CA72F9-E11F-4A31-A137-AEE95A866A98}"/>
              </a:ext>
            </a:extLst>
          </p:cNvPr>
          <p:cNvPicPr>
            <a:picLocks noChangeAspect="1"/>
          </p:cNvPicPr>
          <p:nvPr/>
        </p:nvPicPr>
        <p:blipFill>
          <a:blip r:embed="rId2"/>
          <a:stretch>
            <a:fillRect/>
          </a:stretch>
        </p:blipFill>
        <p:spPr>
          <a:xfrm>
            <a:off x="1584141" y="335159"/>
            <a:ext cx="5975718" cy="6187681"/>
          </a:xfrm>
          <a:prstGeom prst="rect">
            <a:avLst/>
          </a:prstGeom>
        </p:spPr>
      </p:pic>
    </p:spTree>
    <p:extLst>
      <p:ext uri="{BB962C8B-B14F-4D97-AF65-F5344CB8AC3E}">
        <p14:creationId xmlns:p14="http://schemas.microsoft.com/office/powerpoint/2010/main" val="1086570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b="1" dirty="0">
                <a:latin typeface="Times New Roman" panose="02020603050405020304" pitchFamily="18" charset="0"/>
                <a:cs typeface="Times New Roman" panose="02020603050405020304" pitchFamily="18" charset="0"/>
              </a:rPr>
              <a:t>Results and Conclusion</a:t>
            </a:r>
            <a:endParaRPr lang="zh-TW" altLang="en-US" sz="3200" b="1" dirty="0">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SVM outperformed all other methods in major class and subclass classifications of HLA molecules.</a:t>
            </a:r>
          </a:p>
        </p:txBody>
      </p:sp>
      <p:pic>
        <p:nvPicPr>
          <p:cNvPr id="7" name="圖片 6">
            <a:extLst>
              <a:ext uri="{FF2B5EF4-FFF2-40B4-BE49-F238E27FC236}">
                <a16:creationId xmlns:a16="http://schemas.microsoft.com/office/drawing/2014/main" id="{C52B8A98-B4F8-41A0-A47C-458DE8BCD2E6}"/>
              </a:ext>
            </a:extLst>
          </p:cNvPr>
          <p:cNvPicPr>
            <a:picLocks noChangeAspect="1"/>
          </p:cNvPicPr>
          <p:nvPr/>
        </p:nvPicPr>
        <p:blipFill>
          <a:blip r:embed="rId2"/>
          <a:stretch>
            <a:fillRect/>
          </a:stretch>
        </p:blipFill>
        <p:spPr>
          <a:xfrm>
            <a:off x="475129" y="2531985"/>
            <a:ext cx="8193741" cy="3841048"/>
          </a:xfrm>
          <a:prstGeom prst="rect">
            <a:avLst/>
          </a:prstGeom>
        </p:spPr>
      </p:pic>
    </p:spTree>
    <p:extLst>
      <p:ext uri="{BB962C8B-B14F-4D97-AF65-F5344CB8AC3E}">
        <p14:creationId xmlns:p14="http://schemas.microsoft.com/office/powerpoint/2010/main" val="2317266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CCD9A6FD-B4EA-4C07-B89E-36BD31561594}"/>
              </a:ext>
            </a:extLst>
          </p:cNvPr>
          <p:cNvSpPr>
            <a:spLocks noGrp="1"/>
          </p:cNvSpPr>
          <p:nvPr>
            <p:ph type="title"/>
          </p:nvPr>
        </p:nvSpPr>
        <p:spPr>
          <a:xfrm>
            <a:off x="628650" y="281001"/>
            <a:ext cx="7886700" cy="1325563"/>
          </a:xfrm>
        </p:spPr>
        <p:txBody>
          <a:bodyPr>
            <a:normAutofit/>
          </a:bodyPr>
          <a:lstStyle/>
          <a:p>
            <a:r>
              <a:rPr lang="en-US" altLang="zh-TW" b="1" dirty="0">
                <a:latin typeface="Times New Roman" panose="02020603050405020304" pitchFamily="18" charset="0"/>
                <a:cs typeface="Times New Roman" panose="02020603050405020304" pitchFamily="18" charset="0"/>
              </a:rPr>
              <a:t>Results and Conclusion</a:t>
            </a:r>
            <a:endParaRPr lang="zh-TW" altLang="en-US" sz="3200" b="1" dirty="0">
              <a:latin typeface="Times New Roman" panose="02020603050405020304" pitchFamily="18" charset="0"/>
              <a:cs typeface="Times New Roman" panose="02020603050405020304" pitchFamily="18" charset="0"/>
            </a:endParaRPr>
          </a:p>
        </p:txBody>
      </p:sp>
      <p:sp>
        <p:nvSpPr>
          <p:cNvPr id="9" name="內容版面配置區 5">
            <a:extLst>
              <a:ext uri="{FF2B5EF4-FFF2-40B4-BE49-F238E27FC236}">
                <a16:creationId xmlns:a16="http://schemas.microsoft.com/office/drawing/2014/main" id="{ADE7DD28-B61C-409E-B8C6-34F61EA05003}"/>
              </a:ext>
            </a:extLst>
          </p:cNvPr>
          <p:cNvSpPr txBox="1">
            <a:spLocks/>
          </p:cNvSpPr>
          <p:nvPr/>
        </p:nvSpPr>
        <p:spPr>
          <a:xfrm>
            <a:off x="628650" y="1606564"/>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codon usage bias is an effective feature for gene classification better than homology-based method</a:t>
            </a:r>
          </a:p>
        </p:txBody>
      </p:sp>
      <p:pic>
        <p:nvPicPr>
          <p:cNvPr id="2" name="圖片 1">
            <a:extLst>
              <a:ext uri="{FF2B5EF4-FFF2-40B4-BE49-F238E27FC236}">
                <a16:creationId xmlns:a16="http://schemas.microsoft.com/office/drawing/2014/main" id="{08BE1E8F-6E8A-48C6-8706-69C2EF097FBB}"/>
              </a:ext>
            </a:extLst>
          </p:cNvPr>
          <p:cNvPicPr>
            <a:picLocks noChangeAspect="1"/>
          </p:cNvPicPr>
          <p:nvPr/>
        </p:nvPicPr>
        <p:blipFill>
          <a:blip r:embed="rId2"/>
          <a:stretch>
            <a:fillRect/>
          </a:stretch>
        </p:blipFill>
        <p:spPr>
          <a:xfrm>
            <a:off x="1748190" y="3327626"/>
            <a:ext cx="5647619" cy="1923810"/>
          </a:xfrm>
          <a:prstGeom prst="rect">
            <a:avLst/>
          </a:prstGeom>
        </p:spPr>
      </p:pic>
    </p:spTree>
    <p:extLst>
      <p:ext uri="{BB962C8B-B14F-4D97-AF65-F5344CB8AC3E}">
        <p14:creationId xmlns:p14="http://schemas.microsoft.com/office/powerpoint/2010/main" val="944888417"/>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88175</TotalTime>
  <Words>692</Words>
  <Application>Microsoft Office PowerPoint</Application>
  <PresentationFormat>如螢幕大小 (4:3)</PresentationFormat>
  <Paragraphs>55</Paragraphs>
  <Slides>16</Slides>
  <Notes>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Calibri Light</vt:lpstr>
      <vt:lpstr>Cambria Math</vt:lpstr>
      <vt:lpstr>Times New Roman</vt:lpstr>
      <vt:lpstr>Wingdings</vt:lpstr>
      <vt:lpstr>Office 佈景主題</vt:lpstr>
      <vt:lpstr>Gene Classification Using Codon Usage and Support Vector Machines</vt:lpstr>
      <vt:lpstr>Abstract(1/2)</vt:lpstr>
      <vt:lpstr>Abstract(2/2)</vt:lpstr>
      <vt:lpstr>HLA (Human Leukocyte Antigen)</vt:lpstr>
      <vt:lpstr>Methods of Gene Classification</vt:lpstr>
      <vt:lpstr>RSCU (Computation of Relative Synonymous Codon Usage Frequency)</vt:lpstr>
      <vt:lpstr>Binary SVM</vt:lpstr>
      <vt:lpstr>Binary SVM</vt:lpstr>
      <vt:lpstr>Multiclass SVM</vt:lpstr>
      <vt:lpstr>Classification of HLA Molecules Using SVM and Codon Bias</vt:lpstr>
      <vt:lpstr>Classification of HLA Molecules Using SVM and Codon Bias</vt:lpstr>
      <vt:lpstr>Classification of HLA Molecules Using SVM and Codon Bias</vt:lpstr>
      <vt:lpstr>Classification of HLA Molecules Using SVM and Codon Bias</vt:lpstr>
      <vt:lpstr>PowerPoint 簡報</vt:lpstr>
      <vt:lpstr>Results and Conclusion</vt:lpstr>
      <vt:lpstr>Results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769</cp:revision>
  <dcterms:created xsi:type="dcterms:W3CDTF">2017-09-25T08:45:50Z</dcterms:created>
  <dcterms:modified xsi:type="dcterms:W3CDTF">2019-09-30T20:52:59Z</dcterms:modified>
</cp:coreProperties>
</file>