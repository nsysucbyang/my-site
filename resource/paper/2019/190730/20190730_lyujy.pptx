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3" r:id="rId3"/>
    <p:sldId id="257" r:id="rId4"/>
    <p:sldId id="283" r:id="rId5"/>
    <p:sldId id="317" r:id="rId6"/>
    <p:sldId id="312" r:id="rId7"/>
    <p:sldId id="319" r:id="rId8"/>
    <p:sldId id="313" r:id="rId9"/>
    <p:sldId id="316" r:id="rId10"/>
    <p:sldId id="318"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68" d="100"/>
          <a:sy n="68" d="100"/>
        </p:scale>
        <p:origin x="5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2019/7/29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239110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315618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3987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2019/7/29</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93638" y="500281"/>
            <a:ext cx="11693562" cy="1909432"/>
          </a:xfrm>
        </p:spPr>
        <p:txBody>
          <a:bodyPr>
            <a:normAutofit/>
          </a:bodyPr>
          <a:lstStyle/>
          <a:p>
            <a:r>
              <a:rPr lang="en-US" altLang="zh-TW" sz="4000" b="1" dirty="0">
                <a:latin typeface="Times New Roman" panose="02020603050405020304" pitchFamily="18" charset="0"/>
                <a:cs typeface="Times New Roman" panose="02020603050405020304" pitchFamily="18" charset="0"/>
              </a:rPr>
              <a:t>Prediction and interpretation of miRNA-disease associations based on miRNA target genes using canonical correlation analysis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err="1">
                <a:latin typeface="Times New Roman" panose="02020603050405020304" pitchFamily="18" charset="0"/>
                <a:cs typeface="Times New Roman" panose="02020603050405020304" pitchFamily="18" charset="0"/>
              </a:rPr>
              <a:t>Hailin</a:t>
            </a:r>
            <a:r>
              <a:rPr lang="en-US" altLang="zh-TW" sz="2800" dirty="0">
                <a:latin typeface="Times New Roman" panose="02020603050405020304" pitchFamily="18" charset="0"/>
                <a:cs typeface="Times New Roman" panose="02020603050405020304" pitchFamily="18" charset="0"/>
              </a:rPr>
              <a:t> Chen1, </a:t>
            </a:r>
            <a:r>
              <a:rPr lang="en-US" altLang="zh-TW" sz="2800" dirty="0" err="1">
                <a:latin typeface="Times New Roman" panose="02020603050405020304" pitchFamily="18" charset="0"/>
                <a:cs typeface="Times New Roman" panose="02020603050405020304" pitchFamily="18" charset="0"/>
              </a:rPr>
              <a:t>Zuping</a:t>
            </a:r>
            <a:r>
              <a:rPr lang="en-US" altLang="zh-TW" sz="2800" dirty="0">
                <a:latin typeface="Times New Roman" panose="02020603050405020304" pitchFamily="18" charset="0"/>
                <a:cs typeface="Times New Roman" panose="02020603050405020304" pitchFamily="18" charset="0"/>
              </a:rPr>
              <a:t> Zhang, Dayi Feng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BioMed Central(BMC) Bioinformatics, Volume 20,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July</a:t>
            </a:r>
            <a:r>
              <a:rPr lang="en-US" altLang="zh-TW" dirty="0">
                <a:latin typeface="Times New Roman" panose="02020603050405020304" pitchFamily="18" charset="0"/>
                <a:cs typeface="Times New Roman" panose="02020603050405020304" pitchFamily="18" charset="0"/>
              </a:rPr>
              <a:t> 25, 2019</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July 30,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125768"/>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cs typeface="Times New Roman" panose="02020603050405020304" pitchFamily="18" charset="0"/>
              </a:rPr>
              <a:t>Background: It has been shown that the deregulation of miRNAs is associated with the development and progression of many human diseases. To reduce time and cost of biological experiments, a number of algorithms have been proposed for predicting miRNA-disease associations. However, the existing methods rarely investigated the cause-and-effect mechanism behind these associations, which hindered further biomedical follow-ups. </a:t>
            </a:r>
          </a:p>
          <a:p>
            <a:pPr marL="0" indent="0" algn="just">
              <a:lnSpc>
                <a:spcPct val="150000"/>
              </a:lnSpc>
              <a:buNone/>
            </a:pPr>
            <a:r>
              <a:rPr lang="en-US" altLang="zh-TW" sz="2200" spc="-150" dirty="0">
                <a:cs typeface="Times New Roman" panose="02020603050405020304" pitchFamily="18" charset="0"/>
              </a:rPr>
              <a:t>Results: In this study, we presented a CCA-based model in which the possible molecular causes of miRNA -disease associations were comprehensively revealed by extracting correlated sets of genes and diseases based on the co-occurrence of miRNAs in target gene profiles and disease profiles. Our method directly suggested the underlying genes involved, which could be used for experimental tests and confirmation. The inference of associated diseases of a new miRNA was made by taking into account the weight vectors of the extracted sets.</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cs typeface="Times New Roman" panose="02020603050405020304" pitchFamily="18" charset="0"/>
              </a:rPr>
              <a:t>We extracted 60 pairs of correlated sets from 404 miRNAs with two profiles for 2796 target genes and 362 diseases. The extracted diseases could be considered as possible outcomes of miRNAs regulating the target genes which appeared in the same set, some of which were supported by independent source of information. Furthermore, we tested our method on the 404 miRNAs under the condition of 5-fold cross validations and received an AUC value of 0.84606. Finally, we extensively inferred miRNA-disease associations for 100 new miRNAs and some interesting prediction results were validated by established databases. </a:t>
            </a:r>
          </a:p>
          <a:p>
            <a:pPr marL="0" indent="0" algn="just">
              <a:lnSpc>
                <a:spcPct val="150000"/>
              </a:lnSpc>
              <a:buNone/>
            </a:pPr>
            <a:r>
              <a:rPr lang="en-US" altLang="zh-TW" sz="2200" spc="-150" dirty="0">
                <a:cs typeface="Times New Roman" panose="02020603050405020304" pitchFamily="18" charset="0"/>
              </a:rPr>
              <a:t>Conclusions: The encouraging results demonstrated that our method could provide a biologically relevant prediction and interpretation of associations between miRNAs and diseases, which were of great usefulness when guiding biological experiments for scientific research.</a:t>
            </a:r>
            <a:endParaRPr lang="en-US" altLang="zh-TW" sz="2200" spc="-1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Construction of gene profiles and disease profiles for miRNAs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400" dirty="0"/>
          </a:p>
        </p:txBody>
      </p:sp>
      <p:pic>
        <p:nvPicPr>
          <p:cNvPr id="6" name="圖片 5">
            <a:extLst>
              <a:ext uri="{FF2B5EF4-FFF2-40B4-BE49-F238E27FC236}">
                <a16:creationId xmlns:a16="http://schemas.microsoft.com/office/drawing/2014/main" id="{E13F54D3-D66F-4C65-8A50-FFE54D076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0007" y="1366267"/>
            <a:ext cx="9053793" cy="4697216"/>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Canonical correlation coefficient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2"/>
            <a:ext cx="10844605" cy="4694163"/>
          </a:xfrm>
        </p:spPr>
        <p:txBody>
          <a:bodyPr>
            <a:normAutofit/>
          </a:bodyPr>
          <a:lstStyle/>
          <a:p>
            <a:r>
              <a:rPr lang="it-IT" altLang="zh-TW" dirty="0"/>
              <a:t>u</a:t>
            </a:r>
            <a:r>
              <a:rPr lang="it-IT" altLang="zh-TW" baseline="-25000" dirty="0"/>
              <a:t>i </a:t>
            </a:r>
            <a:r>
              <a:rPr lang="it-IT" altLang="zh-TW" dirty="0"/>
              <a:t>= α</a:t>
            </a:r>
            <a:r>
              <a:rPr lang="it-IT" altLang="zh-TW" baseline="30000" dirty="0"/>
              <a:t>T</a:t>
            </a:r>
            <a:r>
              <a:rPr lang="it-IT" altLang="zh-TW" dirty="0"/>
              <a:t> t</a:t>
            </a:r>
            <a:r>
              <a:rPr lang="it-IT" altLang="zh-TW" baseline="-25000" dirty="0"/>
              <a:t>i</a:t>
            </a:r>
            <a:r>
              <a:rPr lang="it-IT" altLang="zh-TW" dirty="0"/>
              <a:t> , v</a:t>
            </a:r>
            <a:r>
              <a:rPr lang="it-IT" altLang="zh-TW" baseline="-25000" dirty="0"/>
              <a:t>i</a:t>
            </a:r>
            <a:r>
              <a:rPr lang="it-IT" altLang="zh-TW" dirty="0"/>
              <a:t> = β</a:t>
            </a:r>
            <a:r>
              <a:rPr lang="it-IT" altLang="zh-TW" baseline="30000" dirty="0"/>
              <a:t>T</a:t>
            </a:r>
            <a:r>
              <a:rPr lang="it-IT" altLang="zh-TW" dirty="0"/>
              <a:t> d</a:t>
            </a:r>
            <a:r>
              <a:rPr lang="it-IT" altLang="zh-TW" baseline="-25000" dirty="0"/>
              <a:t>i</a:t>
            </a:r>
            <a:r>
              <a:rPr lang="it-IT" altLang="zh-TW" dirty="0"/>
              <a:t> (i = 1,2,3,…,n)</a:t>
            </a:r>
          </a:p>
          <a:p>
            <a:r>
              <a:rPr lang="el-GR" altLang="zh-TW" dirty="0"/>
              <a:t>α = (α</a:t>
            </a:r>
            <a:r>
              <a:rPr lang="el-GR" altLang="zh-TW" baseline="-25000" dirty="0"/>
              <a:t>1</a:t>
            </a:r>
            <a:r>
              <a:rPr lang="el-GR" altLang="zh-TW" dirty="0"/>
              <a:t>, α</a:t>
            </a:r>
            <a:r>
              <a:rPr lang="el-GR" altLang="zh-TW" baseline="-25000" dirty="0"/>
              <a:t>2</a:t>
            </a:r>
            <a:r>
              <a:rPr lang="el-GR" altLang="zh-TW" dirty="0"/>
              <a:t>, α</a:t>
            </a:r>
            <a:r>
              <a:rPr lang="el-GR" altLang="zh-TW" baseline="-25000" dirty="0"/>
              <a:t>3</a:t>
            </a:r>
            <a:r>
              <a:rPr lang="el-GR" altLang="zh-TW" dirty="0"/>
              <a:t>, …, α</a:t>
            </a:r>
            <a:r>
              <a:rPr lang="en-US" altLang="zh-TW" i="1" baseline="-25000" dirty="0"/>
              <a:t>p</a:t>
            </a:r>
            <a:r>
              <a:rPr lang="en-US" altLang="zh-TW" dirty="0"/>
              <a:t>)</a:t>
            </a:r>
            <a:r>
              <a:rPr lang="en-US" altLang="zh-TW" baseline="30000" dirty="0"/>
              <a:t>T</a:t>
            </a:r>
            <a:r>
              <a:rPr lang="en-US" altLang="zh-TW" dirty="0"/>
              <a:t>, </a:t>
            </a:r>
            <a:r>
              <a:rPr lang="fr-FR" altLang="zh-TW" dirty="0"/>
              <a:t>β = (β</a:t>
            </a:r>
            <a:r>
              <a:rPr lang="fr-FR" altLang="zh-TW" baseline="-25000" dirty="0"/>
              <a:t>1</a:t>
            </a:r>
            <a:r>
              <a:rPr lang="fr-FR" altLang="zh-TW" dirty="0"/>
              <a:t>, β</a:t>
            </a:r>
            <a:r>
              <a:rPr lang="fr-FR" altLang="zh-TW" baseline="-25000" dirty="0"/>
              <a:t>2</a:t>
            </a:r>
            <a:r>
              <a:rPr lang="fr-FR" altLang="zh-TW" dirty="0"/>
              <a:t>, β</a:t>
            </a:r>
            <a:r>
              <a:rPr lang="fr-FR" altLang="zh-TW" baseline="-25000" dirty="0"/>
              <a:t>3</a:t>
            </a:r>
            <a:r>
              <a:rPr lang="fr-FR" altLang="zh-TW" dirty="0"/>
              <a:t>, …, β</a:t>
            </a:r>
            <a:r>
              <a:rPr lang="fr-FR" altLang="zh-TW" i="1" baseline="-25000" dirty="0"/>
              <a:t>q</a:t>
            </a:r>
            <a:r>
              <a:rPr lang="fr-FR" altLang="zh-TW" dirty="0"/>
              <a:t>)</a:t>
            </a:r>
            <a:r>
              <a:rPr lang="fr-FR" altLang="zh-TW" baseline="30000" dirty="0"/>
              <a:t>T</a:t>
            </a:r>
          </a:p>
          <a:p>
            <a:r>
              <a:rPr lang="en-US" altLang="zh-TW" dirty="0"/>
              <a:t>Let X denote the n × p matrix and Y denote the n × q matrix.</a:t>
            </a:r>
          </a:p>
          <a:p>
            <a:endParaRPr lang="en-US" altLang="zh-TW" baseline="30000" dirty="0"/>
          </a:p>
          <a:p>
            <a:endParaRPr lang="en-US" altLang="zh-TW" baseline="30000" dirty="0"/>
          </a:p>
          <a:p>
            <a:pPr marL="0" indent="0">
              <a:buNone/>
            </a:pPr>
            <a:endParaRPr lang="en-US" altLang="zh-TW" baseline="30000" dirty="0"/>
          </a:p>
          <a:p>
            <a:r>
              <a:rPr lang="en-US" altLang="zh-TW" baseline="30000" dirty="0"/>
              <a:t>the maximization problem can be formally rewritten as follows:</a:t>
            </a:r>
          </a:p>
          <a:p>
            <a:endParaRPr lang="en-US" altLang="zh-TW" baseline="30000" dirty="0"/>
          </a:p>
        </p:txBody>
      </p:sp>
      <p:pic>
        <p:nvPicPr>
          <p:cNvPr id="5" name="圖片 4" descr="一張含有 物件 的圖片&#10;&#10;自動產生的描述">
            <a:extLst>
              <a:ext uri="{FF2B5EF4-FFF2-40B4-BE49-F238E27FC236}">
                <a16:creationId xmlns:a16="http://schemas.microsoft.com/office/drawing/2014/main" id="{8812A442-BCE1-4662-9CA7-6207198809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476" y="2695107"/>
            <a:ext cx="6284139" cy="1189716"/>
          </a:xfrm>
          <a:prstGeom prst="rect">
            <a:avLst/>
          </a:prstGeom>
        </p:spPr>
      </p:pic>
      <p:pic>
        <p:nvPicPr>
          <p:cNvPr id="8" name="圖片 7">
            <a:extLst>
              <a:ext uri="{FF2B5EF4-FFF2-40B4-BE49-F238E27FC236}">
                <a16:creationId xmlns:a16="http://schemas.microsoft.com/office/drawing/2014/main" id="{6A9EAD03-520D-4FDB-8078-879E5F6C39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2476" y="4162893"/>
            <a:ext cx="6094025" cy="626488"/>
          </a:xfrm>
          <a:prstGeom prst="rect">
            <a:avLst/>
          </a:prstGeom>
        </p:spPr>
      </p:pic>
      <p:pic>
        <p:nvPicPr>
          <p:cNvPr id="10" name="圖片 9" descr="一張含有 物件 的圖片&#10;&#10;自動產生的描述">
            <a:extLst>
              <a:ext uri="{FF2B5EF4-FFF2-40B4-BE49-F238E27FC236}">
                <a16:creationId xmlns:a16="http://schemas.microsoft.com/office/drawing/2014/main" id="{BA8439E8-1906-47D6-98B4-CDF35D39F5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2476" y="4919270"/>
            <a:ext cx="6173846" cy="1318535"/>
          </a:xfrm>
          <a:prstGeom prst="rect">
            <a:avLst/>
          </a:prstGeom>
        </p:spPr>
      </p:pic>
    </p:spTree>
    <p:extLst>
      <p:ext uri="{BB962C8B-B14F-4D97-AF65-F5344CB8AC3E}">
        <p14:creationId xmlns:p14="http://schemas.microsoft.com/office/powerpoint/2010/main" val="954643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Canonical correlation analysis (CCA)</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300" dirty="0"/>
          </a:p>
        </p:txBody>
      </p:sp>
      <p:pic>
        <p:nvPicPr>
          <p:cNvPr id="6" name="圖片 5" descr="一張含有 螢幕擷取畫面 的圖片&#10;&#10;自動產生的描述">
            <a:extLst>
              <a:ext uri="{FF2B5EF4-FFF2-40B4-BE49-F238E27FC236}">
                <a16:creationId xmlns:a16="http://schemas.microsoft.com/office/drawing/2014/main" id="{0269DAE4-8FE0-4521-B295-1DCB8A52A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331" y="1868850"/>
            <a:ext cx="11602669" cy="4289193"/>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id="{E7C39DC8-3FB2-4BA0-B83B-9C16E2364094}"/>
              </a:ext>
            </a:extLst>
          </p:cNvPr>
          <p:cNvSpPr>
            <a:spLocks noGrp="1"/>
          </p:cNvSpPr>
          <p:nvPr>
            <p:ph idx="1"/>
          </p:nvPr>
        </p:nvSpPr>
        <p:spPr>
          <a:xfrm>
            <a:off x="398033" y="1247887"/>
            <a:ext cx="10515600" cy="4351338"/>
          </a:xfrm>
        </p:spPr>
        <p:txBody>
          <a:bodyPr/>
          <a:lstStyle/>
          <a:p>
            <a:r>
              <a:rPr lang="en-US" altLang="zh-TW" dirty="0"/>
              <a:t>They are well tuned and we obtain the best AUC value of 0.84606 with c1 = 0.01, c2 = 0.01 and K = 60.</a:t>
            </a:r>
            <a:endParaRPr lang="zh-TW" altLang="en-US" dirty="0"/>
          </a:p>
        </p:txBody>
      </p:sp>
      <p:pic>
        <p:nvPicPr>
          <p:cNvPr id="11" name="圖片 10">
            <a:extLst>
              <a:ext uri="{FF2B5EF4-FFF2-40B4-BE49-F238E27FC236}">
                <a16:creationId xmlns:a16="http://schemas.microsoft.com/office/drawing/2014/main" id="{7DE27311-4934-42E1-98A0-45A5CE209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099" y="2317021"/>
            <a:ext cx="6172392" cy="2213070"/>
          </a:xfrm>
          <a:prstGeom prst="rect">
            <a:avLst/>
          </a:prstGeom>
        </p:spPr>
      </p:pic>
      <p:pic>
        <p:nvPicPr>
          <p:cNvPr id="13" name="圖片 12">
            <a:extLst>
              <a:ext uri="{FF2B5EF4-FFF2-40B4-BE49-F238E27FC236}">
                <a16:creationId xmlns:a16="http://schemas.microsoft.com/office/drawing/2014/main" id="{0D17D9F8-C436-43CB-85C0-38F39D207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6491" y="1815310"/>
            <a:ext cx="5017476" cy="5042690"/>
          </a:xfrm>
          <a:prstGeom prst="rect">
            <a:avLst/>
          </a:prstGeom>
        </p:spPr>
      </p:pic>
    </p:spTree>
    <p:extLst>
      <p:ext uri="{BB962C8B-B14F-4D97-AF65-F5344CB8AC3E}">
        <p14:creationId xmlns:p14="http://schemas.microsoft.com/office/powerpoint/2010/main" val="241515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Statistics of the datasets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pPr marL="0" indent="0">
              <a:buNone/>
            </a:pPr>
            <a:endParaRPr lang="en-US" altLang="zh-TW" sz="2300" dirty="0"/>
          </a:p>
        </p:txBody>
      </p:sp>
      <p:pic>
        <p:nvPicPr>
          <p:cNvPr id="5" name="圖片 4" descr="一張含有 螢幕擷取畫面 的圖片&#10;&#10;自動產生的描述">
            <a:extLst>
              <a:ext uri="{FF2B5EF4-FFF2-40B4-BE49-F238E27FC236}">
                <a16:creationId xmlns:a16="http://schemas.microsoft.com/office/drawing/2014/main" id="{036F8E97-4E32-4873-9B58-2BD989741A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4332" y="1664465"/>
            <a:ext cx="7675428" cy="4131733"/>
          </a:xfrm>
          <a:prstGeom prst="rect">
            <a:avLst/>
          </a:prstGeom>
        </p:spPr>
      </p:pic>
    </p:spTree>
    <p:extLst>
      <p:ext uri="{BB962C8B-B14F-4D97-AF65-F5344CB8AC3E}">
        <p14:creationId xmlns:p14="http://schemas.microsoft.com/office/powerpoint/2010/main" val="2417251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The top 10 predicted results for hsa-miR-203a</a:t>
            </a:r>
          </a:p>
        </p:txBody>
      </p:sp>
      <p:pic>
        <p:nvPicPr>
          <p:cNvPr id="8" name="圖片 7" descr="一張含有 螢幕擷取畫面 的圖片&#10;&#10;自動產生的描述">
            <a:extLst>
              <a:ext uri="{FF2B5EF4-FFF2-40B4-BE49-F238E27FC236}">
                <a16:creationId xmlns:a16="http://schemas.microsoft.com/office/drawing/2014/main" id="{C323525F-7A14-4034-B98B-C47C7DB9B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5792" y="1842531"/>
            <a:ext cx="6996006" cy="5019179"/>
          </a:xfrm>
          <a:prstGeom prst="rect">
            <a:avLst/>
          </a:prstGeom>
        </p:spPr>
      </p:pic>
    </p:spTree>
    <p:extLst>
      <p:ext uri="{BB962C8B-B14F-4D97-AF65-F5344CB8AC3E}">
        <p14:creationId xmlns:p14="http://schemas.microsoft.com/office/powerpoint/2010/main" val="143011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id="{E7C39DC8-3FB2-4BA0-B83B-9C16E2364094}"/>
              </a:ext>
            </a:extLst>
          </p:cNvPr>
          <p:cNvSpPr>
            <a:spLocks noGrp="1"/>
          </p:cNvSpPr>
          <p:nvPr>
            <p:ph idx="1"/>
          </p:nvPr>
        </p:nvSpPr>
        <p:spPr>
          <a:xfrm>
            <a:off x="398033" y="1247887"/>
            <a:ext cx="10515600" cy="4351338"/>
          </a:xfrm>
        </p:spPr>
        <p:txBody>
          <a:bodyPr/>
          <a:lstStyle/>
          <a:p>
            <a:r>
              <a:rPr lang="en-US" altLang="zh-TW" dirty="0"/>
              <a:t>The top 10 predicted diseases by our method</a:t>
            </a:r>
            <a:endParaRPr lang="zh-TW" altLang="en-US" dirty="0"/>
          </a:p>
        </p:txBody>
      </p:sp>
      <p:pic>
        <p:nvPicPr>
          <p:cNvPr id="6" name="圖片 5" descr="一張含有 螢幕擷取畫面 的圖片&#10;&#10;自動產生的描述">
            <a:extLst>
              <a:ext uri="{FF2B5EF4-FFF2-40B4-BE49-F238E27FC236}">
                <a16:creationId xmlns:a16="http://schemas.microsoft.com/office/drawing/2014/main" id="{B5B008EA-F743-45E3-9BA2-81F25C9BB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9375" y="1869333"/>
            <a:ext cx="6685174" cy="4830405"/>
          </a:xfrm>
          <a:prstGeom prst="rect">
            <a:avLst/>
          </a:prstGeom>
        </p:spPr>
      </p:pic>
    </p:spTree>
    <p:extLst>
      <p:ext uri="{BB962C8B-B14F-4D97-AF65-F5344CB8AC3E}">
        <p14:creationId xmlns:p14="http://schemas.microsoft.com/office/powerpoint/2010/main" val="364374298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5207</TotalTime>
  <Words>497</Words>
  <Application>Microsoft Office PowerPoint</Application>
  <PresentationFormat>寬螢幕</PresentationFormat>
  <Paragraphs>43</Paragraphs>
  <Slides>10</Slides>
  <Notes>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Arial</vt:lpstr>
      <vt:lpstr>Calibri</vt:lpstr>
      <vt:lpstr>Calibri Light</vt:lpstr>
      <vt:lpstr>Times New Roman</vt:lpstr>
      <vt:lpstr>Office 佈景主題</vt:lpstr>
      <vt:lpstr>Prediction and interpretation of miRNA-disease associations based on miRNA target genes using canonical correlation analysis</vt:lpstr>
      <vt:lpstr>Abstract (1/2)</vt:lpstr>
      <vt:lpstr>Abstract (2/2)</vt:lpstr>
      <vt:lpstr>Construction of gene profiles and disease profiles for miRNAs</vt:lpstr>
      <vt:lpstr>Canonical correlation coefficient</vt:lpstr>
      <vt:lpstr>Canonical correlation analysis (CCA)</vt:lpstr>
      <vt:lpstr>Results</vt:lpstr>
      <vt:lpstr>Statistics of the datasets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1076</cp:revision>
  <dcterms:created xsi:type="dcterms:W3CDTF">2018-10-30T09:09:31Z</dcterms:created>
  <dcterms:modified xsi:type="dcterms:W3CDTF">2019-07-30T10:21:41Z</dcterms:modified>
</cp:coreProperties>
</file>