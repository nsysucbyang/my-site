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7" r:id="rId10"/>
    <p:sldId id="266"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吳篤承" initials="吳篤承" lastIdx="1" clrIdx="0">
    <p:extLst>
      <p:ext uri="{19B8F6BF-5375-455C-9EA6-DF929625EA0E}">
        <p15:presenceInfo xmlns:p15="http://schemas.microsoft.com/office/powerpoint/2012/main" userId="吳篤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0867" autoAdjust="0"/>
  </p:normalViewPr>
  <p:slideViewPr>
    <p:cSldViewPr snapToGrid="0">
      <p:cViewPr varScale="1">
        <p:scale>
          <a:sx n="63" d="100"/>
          <a:sy n="63" d="100"/>
        </p:scale>
        <p:origin x="6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2019/5/7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95F44A6D-44A4-4AC5-A338-742D4C0C8050}"/>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5" name="頁尾版面配置區 4">
            <a:extLst>
              <a:ext uri="{FF2B5EF4-FFF2-40B4-BE49-F238E27FC236}">
                <a16:creationId xmlns:a16="http://schemas.microsoft.com/office/drawing/2014/main" xmlns=""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DB714A2-D640-4631-BD91-D40EA7B8E5E1}"/>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5" name="頁尾版面配置區 4">
            <a:extLst>
              <a:ext uri="{FF2B5EF4-FFF2-40B4-BE49-F238E27FC236}">
                <a16:creationId xmlns:a16="http://schemas.microsoft.com/office/drawing/2014/main" xmlns=""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92DC7246-3967-4A8C-89BD-498BAD9237DB}"/>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5" name="頁尾版面配置區 4">
            <a:extLst>
              <a:ext uri="{FF2B5EF4-FFF2-40B4-BE49-F238E27FC236}">
                <a16:creationId xmlns:a16="http://schemas.microsoft.com/office/drawing/2014/main" xmlns=""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78EECCAB-4CA7-44B9-B7B8-DC7FF51030C5}"/>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6" name="頁尾版面配置區 5">
            <a:extLst>
              <a:ext uri="{FF2B5EF4-FFF2-40B4-BE49-F238E27FC236}">
                <a16:creationId xmlns:a16="http://schemas.microsoft.com/office/drawing/2014/main" xmlns=""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2891BEAE-F89E-4D1D-88D1-CE02EB287033}"/>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8" name="頁尾版面配置區 7">
            <a:extLst>
              <a:ext uri="{FF2B5EF4-FFF2-40B4-BE49-F238E27FC236}">
                <a16:creationId xmlns:a16="http://schemas.microsoft.com/office/drawing/2014/main" xmlns=""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B26AC26-EB83-4AB6-9E2F-C8457BF27656}"/>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4" name="頁尾版面配置區 3">
            <a:extLst>
              <a:ext uri="{FF2B5EF4-FFF2-40B4-BE49-F238E27FC236}">
                <a16:creationId xmlns:a16="http://schemas.microsoft.com/office/drawing/2014/main" xmlns=""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EC7FE82F-7353-4EB6-B115-3F4F883AB669}"/>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3" name="頁尾版面配置區 2">
            <a:extLst>
              <a:ext uri="{FF2B5EF4-FFF2-40B4-BE49-F238E27FC236}">
                <a16:creationId xmlns:a16="http://schemas.microsoft.com/office/drawing/2014/main" xmlns=""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3DE41C95-2028-4108-B014-39C5648C739C}"/>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6" name="頁尾版面配置區 5">
            <a:extLst>
              <a:ext uri="{FF2B5EF4-FFF2-40B4-BE49-F238E27FC236}">
                <a16:creationId xmlns:a16="http://schemas.microsoft.com/office/drawing/2014/main" xmlns=""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73C1A871-1FB1-426F-B468-F433644ACEE0}"/>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6" name="頁尾版面配置區 5">
            <a:extLst>
              <a:ext uri="{FF2B5EF4-FFF2-40B4-BE49-F238E27FC236}">
                <a16:creationId xmlns:a16="http://schemas.microsoft.com/office/drawing/2014/main" xmlns=""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386A780-A433-4084-B504-8CA5C05D15EC}"/>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5" name="頁尾版面配置區 4">
            <a:extLst>
              <a:ext uri="{FF2B5EF4-FFF2-40B4-BE49-F238E27FC236}">
                <a16:creationId xmlns:a16="http://schemas.microsoft.com/office/drawing/2014/main" xmlns=""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7B7CDCD-2B53-481E-994C-32B4B7592300}"/>
              </a:ext>
            </a:extLst>
          </p:cNvPr>
          <p:cNvSpPr>
            <a:spLocks noGrp="1"/>
          </p:cNvSpPr>
          <p:nvPr>
            <p:ph type="dt" sz="half" idx="10"/>
          </p:nvPr>
        </p:nvSpPr>
        <p:spPr/>
        <p:txBody>
          <a:bodyPr/>
          <a:lstStyle/>
          <a:p>
            <a:fld id="{41044C1A-2725-48AE-A699-EA8E8FEFF634}" type="datetimeFigureOut">
              <a:rPr lang="zh-TW" altLang="en-US" smtClean="0"/>
              <a:t>2019/5/7</a:t>
            </a:fld>
            <a:endParaRPr lang="zh-TW" altLang="en-US"/>
          </a:p>
        </p:txBody>
      </p:sp>
      <p:sp>
        <p:nvSpPr>
          <p:cNvPr id="5" name="頁尾版面配置區 4">
            <a:extLst>
              <a:ext uri="{FF2B5EF4-FFF2-40B4-BE49-F238E27FC236}">
                <a16:creationId xmlns:a16="http://schemas.microsoft.com/office/drawing/2014/main" xmlns=""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2019/5/7</a:t>
            </a:fld>
            <a:endParaRPr lang="zh-TW" altLang="en-US"/>
          </a:p>
        </p:txBody>
      </p:sp>
      <p:sp>
        <p:nvSpPr>
          <p:cNvPr id="5" name="頁尾版面配置區 4">
            <a:extLst>
              <a:ext uri="{FF2B5EF4-FFF2-40B4-BE49-F238E27FC236}">
                <a16:creationId xmlns:a16="http://schemas.microsoft.com/office/drawing/2014/main" xmlns=""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0B6A882-00D3-47EF-9E00-5F5448FB3E79}"/>
              </a:ext>
            </a:extLst>
          </p:cNvPr>
          <p:cNvSpPr>
            <a:spLocks noGrp="1"/>
          </p:cNvSpPr>
          <p:nvPr>
            <p:ph type="ctrTitle"/>
          </p:nvPr>
        </p:nvSpPr>
        <p:spPr>
          <a:xfrm>
            <a:off x="1524000" y="1557487"/>
            <a:ext cx="9144000" cy="649317"/>
          </a:xfrm>
        </p:spPr>
        <p:txBody>
          <a:bodyPr>
            <a:noAutofit/>
          </a:bodyPr>
          <a:lstStyle/>
          <a:p>
            <a:r>
              <a:rPr lang="en-US" altLang="zh-TW" sz="3200" dirty="0">
                <a:latin typeface="Times New Roman" panose="02020603050405020304" pitchFamily="18" charset="0"/>
                <a:cs typeface="Times New Roman" panose="02020603050405020304" pitchFamily="18" charset="0"/>
              </a:rPr>
              <a:t>Longest substring palindrome after edit</a:t>
            </a:r>
          </a:p>
        </p:txBody>
      </p:sp>
      <p:sp>
        <p:nvSpPr>
          <p:cNvPr id="3" name="副標題 2">
            <a:extLst>
              <a:ext uri="{FF2B5EF4-FFF2-40B4-BE49-F238E27FC236}">
                <a16:creationId xmlns:a16="http://schemas.microsoft.com/office/drawing/2014/main" xmlns="" id="{7DA53B5D-3737-4D8B-A009-A9D02CAEE169}"/>
              </a:ext>
            </a:extLst>
          </p:cNvPr>
          <p:cNvSpPr>
            <a:spLocks noGrp="1"/>
          </p:cNvSpPr>
          <p:nvPr>
            <p:ph type="subTitle" idx="1"/>
          </p:nvPr>
        </p:nvSpPr>
        <p:spPr>
          <a:xfrm>
            <a:off x="1523999" y="2597496"/>
            <a:ext cx="9144000" cy="425017"/>
          </a:xfrm>
        </p:spPr>
        <p:txBody>
          <a:bodyPr>
            <a:noAutofit/>
          </a:bodyPr>
          <a:lstStyle/>
          <a:p>
            <a:r>
              <a:rPr lang="en-US" altLang="zh-TW" sz="2200" dirty="0">
                <a:latin typeface="Times New Roman" panose="02020603050405020304" pitchFamily="18" charset="0"/>
                <a:cs typeface="Times New Roman" panose="02020603050405020304" pitchFamily="18" charset="0"/>
              </a:rPr>
              <a:t>Mitsuru Funakoshi, </a:t>
            </a:r>
            <a:r>
              <a:rPr lang="en-US" altLang="zh-TW" sz="2200" dirty="0" err="1">
                <a:latin typeface="Times New Roman" panose="02020603050405020304" pitchFamily="18" charset="0"/>
                <a:cs typeface="Times New Roman" panose="02020603050405020304" pitchFamily="18" charset="0"/>
              </a:rPr>
              <a:t>Yuto</a:t>
            </a:r>
            <a:r>
              <a:rPr lang="en-US" altLang="zh-TW" sz="2200" dirty="0">
                <a:latin typeface="Times New Roman" panose="02020603050405020304" pitchFamily="18" charset="0"/>
                <a:cs typeface="Times New Roman" panose="02020603050405020304" pitchFamily="18" charset="0"/>
              </a:rPr>
              <a:t> Nakashima, </a:t>
            </a:r>
            <a:r>
              <a:rPr lang="en-US" altLang="zh-TW" sz="2200" dirty="0" err="1">
                <a:latin typeface="Times New Roman" panose="02020603050405020304" pitchFamily="18" charset="0"/>
                <a:cs typeface="Times New Roman" panose="02020603050405020304" pitchFamily="18" charset="0"/>
              </a:rPr>
              <a:t>Shunsuke</a:t>
            </a:r>
            <a:r>
              <a:rPr lang="en-US" altLang="zh-TW" sz="2200" dirty="0">
                <a:latin typeface="Times New Roman" panose="02020603050405020304" pitchFamily="18" charset="0"/>
                <a:cs typeface="Times New Roman" panose="02020603050405020304" pitchFamily="18" charset="0"/>
              </a:rPr>
              <a:t> </a:t>
            </a:r>
            <a:r>
              <a:rPr lang="en-US" altLang="zh-TW" sz="2200" dirty="0" err="1">
                <a:latin typeface="Times New Roman" panose="02020603050405020304" pitchFamily="18" charset="0"/>
                <a:cs typeface="Times New Roman" panose="02020603050405020304" pitchFamily="18" charset="0"/>
              </a:rPr>
              <a:t>Inenaga</a:t>
            </a:r>
            <a:r>
              <a:rPr lang="en-US" altLang="zh-TW" sz="2200" dirty="0">
                <a:latin typeface="Times New Roman" panose="02020603050405020304" pitchFamily="18" charset="0"/>
                <a:cs typeface="Times New Roman" panose="02020603050405020304" pitchFamily="18" charset="0"/>
              </a:rPr>
              <a:t>, Hideo </a:t>
            </a:r>
            <a:r>
              <a:rPr lang="en-US" altLang="zh-TW" sz="2200" dirty="0" err="1">
                <a:latin typeface="Times New Roman" panose="02020603050405020304" pitchFamily="18" charset="0"/>
                <a:cs typeface="Times New Roman" panose="02020603050405020304" pitchFamily="18" charset="0"/>
              </a:rPr>
              <a:t>Bannai</a:t>
            </a:r>
            <a:r>
              <a:rPr lang="en-US" altLang="zh-TW" sz="2200" dirty="0">
                <a:latin typeface="Times New Roman" panose="02020603050405020304" pitchFamily="18" charset="0"/>
                <a:cs typeface="Times New Roman" panose="02020603050405020304" pitchFamily="18" charset="0"/>
              </a:rPr>
              <a:t>, and Masayuki Takeda</a:t>
            </a:r>
            <a:endParaRPr lang="zh-TW" altLang="en-US" sz="22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xmlns="" id="{8F2527E8-BB8F-41FB-8AF1-03DCC96BC069}"/>
              </a:ext>
            </a:extLst>
          </p:cNvPr>
          <p:cNvSpPr txBox="1"/>
          <p:nvPr/>
        </p:nvSpPr>
        <p:spPr>
          <a:xfrm>
            <a:off x="2457827" y="3601720"/>
            <a:ext cx="7276351" cy="400110"/>
          </a:xfrm>
          <a:prstGeom prst="rect">
            <a:avLst/>
          </a:prstGeom>
          <a:noFill/>
        </p:spPr>
        <p:txBody>
          <a:bodyPr wrap="none" rtlCol="0">
            <a:spAutoFit/>
          </a:bodyPr>
          <a:lstStyle/>
          <a:p>
            <a:pPr algn="ctr"/>
            <a:r>
              <a:rPr lang="en-US" altLang="zh-TW" sz="2000" dirty="0">
                <a:latin typeface="Times New Roman" panose="02020603050405020304" pitchFamily="18" charset="0"/>
                <a:cs typeface="Times New Roman" panose="02020603050405020304" pitchFamily="18" charset="0"/>
              </a:rPr>
              <a:t>Annual Symposium on Combinatorial Pattern Matching (CPM 2018)</a:t>
            </a:r>
          </a:p>
        </p:txBody>
      </p:sp>
      <p:sp>
        <p:nvSpPr>
          <p:cNvPr id="9" name="文字方塊 8">
            <a:extLst>
              <a:ext uri="{FF2B5EF4-FFF2-40B4-BE49-F238E27FC236}">
                <a16:creationId xmlns:a16="http://schemas.microsoft.com/office/drawing/2014/main" xmlns="" id="{6BC92671-3184-4146-A361-F82079153C2E}"/>
              </a:ext>
            </a:extLst>
          </p:cNvPr>
          <p:cNvSpPr txBox="1"/>
          <p:nvPr/>
        </p:nvSpPr>
        <p:spPr>
          <a:xfrm>
            <a:off x="8116045" y="5019194"/>
            <a:ext cx="327660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Du-Cheng Wu</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xmlns="" id="{52A0654C-2F84-4026-9FCF-04C8DF590D5F}"/>
              </a:ext>
            </a:extLst>
          </p:cNvPr>
          <p:cNvSpPr txBox="1"/>
          <p:nvPr/>
        </p:nvSpPr>
        <p:spPr>
          <a:xfrm>
            <a:off x="8754490" y="5480859"/>
            <a:ext cx="254832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Date: May. 7, 2019</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49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It is known that the length of the longest substring palindromes (</a:t>
            </a:r>
            <a:r>
              <a:rPr lang="en-US" altLang="zh-TW" dirty="0" err="1">
                <a:latin typeface="Times New Roman" panose="02020603050405020304" pitchFamily="18" charset="0"/>
                <a:cs typeface="Times New Roman" panose="02020603050405020304" pitchFamily="18" charset="0"/>
              </a:rPr>
              <a:t>LSPals</a:t>
            </a:r>
            <a:r>
              <a:rPr lang="en-US" altLang="zh-TW" dirty="0">
                <a:latin typeface="Times New Roman" panose="02020603050405020304" pitchFamily="18" charset="0"/>
                <a:cs typeface="Times New Roman" panose="02020603050405020304" pitchFamily="18" charset="0"/>
              </a:rPr>
              <a:t>) of a given string T of length n can be computed in O(n) time by </a:t>
            </a:r>
            <a:r>
              <a:rPr lang="en-US" altLang="zh-TW" dirty="0" err="1">
                <a:latin typeface="Times New Roman" panose="02020603050405020304" pitchFamily="18" charset="0"/>
                <a:cs typeface="Times New Roman" panose="02020603050405020304" pitchFamily="18" charset="0"/>
              </a:rPr>
              <a:t>Manacher's</a:t>
            </a:r>
            <a:r>
              <a:rPr lang="en-US" altLang="zh-TW" dirty="0">
                <a:latin typeface="Times New Roman" panose="02020603050405020304" pitchFamily="18" charset="0"/>
                <a:cs typeface="Times New Roman" panose="02020603050405020304" pitchFamily="18" charset="0"/>
              </a:rPr>
              <a:t> algorithm [J. ACM '75]. In this paper, we consider the problem of finding the </a:t>
            </a:r>
            <a:r>
              <a:rPr lang="en-US" altLang="zh-TW" dirty="0" err="1">
                <a:latin typeface="Times New Roman" panose="02020603050405020304" pitchFamily="18" charset="0"/>
                <a:cs typeface="Times New Roman" panose="02020603050405020304" pitchFamily="18" charset="0"/>
              </a:rPr>
              <a:t>LSPal</a:t>
            </a:r>
            <a:r>
              <a:rPr lang="en-US" altLang="zh-TW" dirty="0">
                <a:latin typeface="Times New Roman" panose="02020603050405020304" pitchFamily="18" charset="0"/>
                <a:cs typeface="Times New Roman" panose="02020603050405020304" pitchFamily="18" charset="0"/>
              </a:rPr>
              <a:t> after the string is edited. We present an algorithm that uses O(n) time and space for preprocessing, and answers the length of the </a:t>
            </a:r>
            <a:r>
              <a:rPr lang="en-US" altLang="zh-TW" dirty="0" err="1">
                <a:latin typeface="Times New Roman" panose="02020603050405020304" pitchFamily="18" charset="0"/>
                <a:cs typeface="Times New Roman" panose="02020603050405020304" pitchFamily="18" charset="0"/>
              </a:rPr>
              <a:t>LSPals</a:t>
            </a:r>
            <a:r>
              <a:rPr lang="en-US" altLang="zh-TW" dirty="0">
                <a:latin typeface="Times New Roman" panose="02020603050405020304" pitchFamily="18" charset="0"/>
                <a:cs typeface="Times New Roman" panose="02020603050405020304" pitchFamily="18" charset="0"/>
              </a:rPr>
              <a:t> in O(log (min {sigma, log n })) time after single character substitution, insertion, or deletion, where sigma denotes the number of distinct characters appearing in T. We also propose an algorithm that uses O(n) time and space for preprocessing, and answers the length of the </a:t>
            </a:r>
            <a:r>
              <a:rPr lang="en-US" altLang="zh-TW" dirty="0" err="1">
                <a:latin typeface="Times New Roman" panose="02020603050405020304" pitchFamily="18" charset="0"/>
                <a:cs typeface="Times New Roman" panose="02020603050405020304" pitchFamily="18" charset="0"/>
              </a:rPr>
              <a:t>LSPals</a:t>
            </a:r>
            <a:r>
              <a:rPr lang="en-US" altLang="zh-TW" dirty="0">
                <a:latin typeface="Times New Roman" panose="02020603050405020304" pitchFamily="18" charset="0"/>
                <a:cs typeface="Times New Roman" panose="02020603050405020304" pitchFamily="18" charset="0"/>
              </a:rPr>
              <a:t> in O(l + log n) time, after an existing substring in T is replaced by a string of arbitrary length l.</a:t>
            </a:r>
          </a:p>
        </p:txBody>
      </p:sp>
    </p:spTree>
    <p:extLst>
      <p:ext uri="{BB962C8B-B14F-4D97-AF65-F5344CB8AC3E}">
        <p14:creationId xmlns:p14="http://schemas.microsoft.com/office/powerpoint/2010/main" val="1500703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Longest Substring Palindrome (</a:t>
            </a:r>
            <a:r>
              <a:rPr lang="en-US" altLang="zh-TW" sz="3200" dirty="0" err="1">
                <a:latin typeface="Times New Roman" panose="02020603050405020304" pitchFamily="18" charset="0"/>
                <a:cs typeface="Times New Roman" panose="02020603050405020304" pitchFamily="18" charset="0"/>
              </a:rPr>
              <a:t>LSPal</a:t>
            </a:r>
            <a:r>
              <a:rPr lang="en-US" altLang="zh-TW" sz="3200" dirty="0">
                <a:latin typeface="Times New Roman" panose="02020603050405020304" pitchFamily="18" charset="0"/>
                <a:cs typeface="Times New Roman" panose="02020603050405020304" pitchFamily="18" charset="0"/>
              </a:rPr>
              <a:t>)</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X = </a:t>
            </a:r>
            <a:r>
              <a:rPr lang="en-US" altLang="zh-TW" dirty="0" err="1">
                <a:latin typeface="Times New Roman" panose="02020603050405020304" pitchFamily="18" charset="0"/>
                <a:cs typeface="Times New Roman" panose="02020603050405020304" pitchFamily="18" charset="0"/>
              </a:rPr>
              <a:t>bbabcbabaaba</a:t>
            </a: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Substring palindrome = (bb, </a:t>
            </a:r>
            <a:r>
              <a:rPr lang="en-US" altLang="zh-TW" dirty="0" err="1">
                <a:latin typeface="Times New Roman" panose="02020603050405020304" pitchFamily="18" charset="0"/>
                <a:cs typeface="Times New Roman" panose="02020603050405020304" pitchFamily="18" charset="0"/>
              </a:rPr>
              <a:t>bab</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babcbab</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abaaba</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Longest substring palindrome= </a:t>
            </a:r>
            <a:r>
              <a:rPr lang="en-US" altLang="zh-TW" dirty="0" err="1">
                <a:latin typeface="Times New Roman" panose="02020603050405020304" pitchFamily="18" charset="0"/>
                <a:cs typeface="Times New Roman" panose="02020603050405020304" pitchFamily="18" charset="0"/>
              </a:rPr>
              <a:t>babcbab</a:t>
            </a: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Find </a:t>
            </a:r>
            <a:r>
              <a:rPr lang="en-US" altLang="zh-TW" dirty="0" err="1">
                <a:latin typeface="Times New Roman" panose="02020603050405020304" pitchFamily="18" charset="0"/>
                <a:cs typeface="Times New Roman" panose="02020603050405020304" pitchFamily="18" charset="0"/>
              </a:rPr>
              <a:t>LSPal</a:t>
            </a:r>
            <a:r>
              <a:rPr lang="en-US" altLang="zh-TW" dirty="0">
                <a:latin typeface="Times New Roman" panose="02020603050405020304" pitchFamily="18" charset="0"/>
                <a:cs typeface="Times New Roman" panose="02020603050405020304" pitchFamily="18" charset="0"/>
              </a:rPr>
              <a:t> is O(n)</a:t>
            </a:r>
          </a:p>
        </p:txBody>
      </p:sp>
    </p:spTree>
    <p:extLst>
      <p:ext uri="{BB962C8B-B14F-4D97-AF65-F5344CB8AC3E}">
        <p14:creationId xmlns:p14="http://schemas.microsoft.com/office/powerpoint/2010/main" val="21930414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1-ELSPal</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044449"/>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MaxPalEnd(</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s,d,t</a:t>
                </a:r>
                <a:r>
                  <a:rPr lang="en-US" altLang="zh-TW" dirty="0">
                    <a:latin typeface="Times New Roman" panose="02020603050405020304" pitchFamily="18" charset="0"/>
                    <a:cs typeface="Times New Roman" panose="02020603050405020304" pitchFamily="18" charset="0"/>
                  </a:rPr>
                  <a:t>〉= s, </a:t>
                </a:r>
                <a:r>
                  <a:rPr lang="en-US" altLang="zh-TW" dirty="0" err="1">
                    <a:latin typeface="Times New Roman" panose="02020603050405020304" pitchFamily="18" charset="0"/>
                    <a:cs typeface="Times New Roman" panose="02020603050405020304" pitchFamily="18" charset="0"/>
                  </a:rPr>
                  <a:t>s+d</a:t>
                </a:r>
                <a:r>
                  <a:rPr lang="en-US" altLang="zh-TW" dirty="0">
                    <a:latin typeface="Times New Roman" panose="02020603050405020304" pitchFamily="18" charset="0"/>
                    <a:cs typeface="Times New Roman" panose="02020603050405020304" pitchFamily="18" charset="0"/>
                  </a:rPr>
                  <a:t>, …, s+(t-1)d</a:t>
                </a:r>
              </a:p>
              <a:p>
                <a:pPr marL="0" indent="0">
                  <a:buNone/>
                </a:pPr>
                <a14:m>
                  <m:oMathPara xmlns:m="http://schemas.openxmlformats.org/officeDocument/2006/math">
                    <m:oMathParaPr>
                      <m:jc m:val="left"/>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𝑑</m:t>
                          </m:r>
                        </m:e>
                        <m:sub>
                          <m:r>
                            <a:rPr lang="en-US" altLang="zh-TW" b="0" i="1" smtClean="0">
                              <a:latin typeface="Cambria Math" panose="02040503050406030204" pitchFamily="18" charset="0"/>
                              <a:cs typeface="Times New Roman" panose="02020603050405020304" pitchFamily="18" charset="0"/>
                            </a:rPr>
                            <m:t>𝑗</m:t>
                          </m:r>
                        </m:sub>
                      </m:sSub>
                      <m:r>
                        <a:rPr lang="en-US" altLang="zh-TW" b="0" i="1" smtClean="0">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𝑗</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𝑗</m:t>
                          </m:r>
                        </m:sub>
                      </m:sSub>
                      <m:r>
                        <a:rPr lang="en-US" altLang="zh-TW" b="0" i="0" smtClean="0">
                          <a:latin typeface="Cambria Math" panose="02040503050406030204" pitchFamily="18" charset="0"/>
                          <a:cs typeface="Times New Roman" panose="02020603050405020304" pitchFamily="18" charset="0"/>
                        </a:rPr>
                        <m:t> </m:t>
                      </m:r>
                    </m:oMath>
                  </m:oMathPara>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X = </a:t>
                </a:r>
                <a:r>
                  <a:rPr lang="en-US" altLang="zh-TW" dirty="0" err="1">
                    <a:latin typeface="Times New Roman" panose="02020603050405020304" pitchFamily="18" charset="0"/>
                    <a:cs typeface="Times New Roman" panose="02020603050405020304" pitchFamily="18" charset="0"/>
                  </a:rPr>
                  <a:t>bbaabaabaacaabaaba</a:t>
                </a:r>
                <a:r>
                  <a:rPr lang="en-US" altLang="zh-TW" dirty="0" err="1">
                    <a:solidFill>
                      <a:srgbClr val="FF0000"/>
                    </a:solidFill>
                    <a:latin typeface="Times New Roman" panose="02020603050405020304" pitchFamily="18" charset="0"/>
                    <a:cs typeface="Times New Roman" panose="02020603050405020304" pitchFamily="18" charset="0"/>
                  </a:rPr>
                  <a:t>a</a:t>
                </a:r>
                <a:r>
                  <a:rPr lang="en-US" altLang="zh-TW" dirty="0" err="1">
                    <a:latin typeface="Times New Roman" panose="02020603050405020304" pitchFamily="18" charset="0"/>
                    <a:cs typeface="Times New Roman" panose="02020603050405020304" pitchFamily="18" charset="0"/>
                  </a:rPr>
                  <a:t>aa</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err="1">
                    <a:latin typeface="Times New Roman" panose="02020603050405020304" pitchFamily="18" charset="0"/>
                    <a:cs typeface="Times New Roman" panose="02020603050405020304" pitchFamily="18" charset="0"/>
                  </a:rPr>
                  <a:t>SPals</a:t>
                </a:r>
                <a:r>
                  <a:rPr lang="en-US" altLang="zh-TW" dirty="0">
                    <a:latin typeface="Times New Roman" panose="02020603050405020304" pitchFamily="18" charset="0"/>
                    <a:cs typeface="Times New Roman" panose="02020603050405020304" pitchFamily="18" charset="0"/>
                  </a:rPr>
                  <a:t> end at </a:t>
                </a:r>
                <a:r>
                  <a:rPr lang="en-US" altLang="zh-TW" dirty="0" err="1">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=(aa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aabaa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aabaabaa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aabaabaacaabaabaa</a:t>
                </a:r>
                <a:r>
                  <a:rPr lang="en-US" altLang="zh-TW" dirty="0">
                    <a:latin typeface="Times New Roman" panose="02020603050405020304" pitchFamily="18" charset="0"/>
                    <a:cs typeface="Times New Roman" panose="02020603050405020304" pitchFamily="18" charset="0"/>
                  </a:rPr>
                  <a:t>)</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MaxPalEnd</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〈2, 3, 3〉, 〈17, 9, 1〉</a:t>
                </a:r>
              </a:p>
            </p:txBody>
          </p:sp>
        </mc:Choice>
        <mc:Fallback>
          <p:sp>
            <p:nvSpPr>
              <p:cNvPr id="12" name="內容版面配置區 11">
                <a:extLst>
                  <a:ext uri="{FF2B5EF4-FFF2-40B4-BE49-F238E27FC236}">
                    <a16:creationId xmlns:a16="http://schemas.microsoft.com/office/drawing/2014/main" xmlns:a14="http://schemas.microsoft.com/office/drawing/2010/main" xmlns="" id="{652F1AAC-13A7-4F2E-8939-B8B124487E32}"/>
                  </a:ext>
                </a:extLst>
              </p:cNvPr>
              <p:cNvSpPr>
                <a:spLocks noGrp="1" noRot="1" noChangeAspect="1" noMove="1" noResize="1" noEditPoints="1" noAdjustHandles="1" noChangeArrowheads="1" noChangeShapeType="1" noTextEdit="1"/>
              </p:cNvSpPr>
              <p:nvPr>
                <p:ph idx="1"/>
              </p:nvPr>
            </p:nvSpPr>
            <p:spPr>
              <a:xfrm>
                <a:off x="838200" y="1132513"/>
                <a:ext cx="10693400" cy="5044449"/>
              </a:xfrm>
              <a:blipFill rotWithShape="0">
                <a:blip r:embed="rId2"/>
                <a:stretch>
                  <a:fillRect l="-1197" t="-217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126428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1-ELSPal substitutions</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192087"/>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SPals</a:t>
                </a:r>
                <a:r>
                  <a:rPr lang="en-US" altLang="zh-TW" dirty="0">
                    <a:latin typeface="Times New Roman" panose="02020603050405020304" pitchFamily="18" charset="0"/>
                    <a:cs typeface="Times New Roman" panose="02020603050405020304" pitchFamily="18" charset="0"/>
                  </a:rPr>
                  <a:t> end at i-1</a:t>
                </a:r>
                <a:r>
                  <a:rPr lang="en-US" altLang="zh-TW" dirty="0" smtClean="0">
                    <a:latin typeface="Times New Roman" panose="02020603050405020304" pitchFamily="18" charset="0"/>
                    <a:cs typeface="Times New Roman" panose="02020603050405020304" pitchFamily="18" charset="0"/>
                  </a:rPr>
                  <a:t>=(aa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aabaa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aabaabaa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aabaabaacaabaabaa</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err="1">
                    <a:latin typeface="Times New Roman" panose="02020603050405020304" pitchFamily="18" charset="0"/>
                    <a:cs typeface="Times New Roman" panose="02020603050405020304" pitchFamily="18" charset="0"/>
                  </a:rPr>
                  <a:t>MaxPalEnd</a:t>
                </a:r>
                <a:r>
                  <a:rPr lang="en-US" altLang="zh-TW" dirty="0">
                    <a:latin typeface="Times New Roman" panose="02020603050405020304" pitchFamily="18" charset="0"/>
                    <a:cs typeface="Times New Roman" panose="02020603050405020304" pitchFamily="18" charset="0"/>
                  </a:rPr>
                  <a:t>(i-1) = 〈2, 3, 3〉, 〈17, 9, 1〉</a:t>
                </a:r>
              </a:p>
              <a:p>
                <a:pPr marL="0" indent="0">
                  <a:buNone/>
                </a:pPr>
                <a:r>
                  <a:rPr lang="en-US" altLang="zh-TW" dirty="0">
                    <a:latin typeface="Times New Roman" panose="02020603050405020304" pitchFamily="18" charset="0"/>
                    <a:cs typeface="Times New Roman" panose="02020603050405020304" pitchFamily="18" charset="0"/>
                  </a:rPr>
                  <a:t>LCE(</a:t>
                </a:r>
                <a14:m>
                  <m:oMath xmlns:m="http://schemas.openxmlformats.org/officeDocument/2006/math">
                    <m:sSup>
                      <m:sSupPr>
                        <m:ctrlPr>
                          <a:rPr lang="en-US" altLang="zh-TW" i="1" dirty="0" smtClean="0">
                            <a:latin typeface="Cambria Math" panose="02040503050406030204" pitchFamily="18" charset="0"/>
                            <a:cs typeface="Times New Roman" panose="02020603050405020304" pitchFamily="18" charset="0"/>
                          </a:rPr>
                        </m:ctrlPr>
                      </m:sSupPr>
                      <m:e>
                        <m:r>
                          <m:rPr>
                            <m:nor/>
                          </m:rPr>
                          <a:rPr lang="en-US" altLang="zh-TW" dirty="0">
                            <a:latin typeface="Times New Roman" panose="02020603050405020304" pitchFamily="18" charset="0"/>
                            <a:cs typeface="Times New Roman" panose="02020603050405020304" pitchFamily="18" charset="0"/>
                          </a:rPr>
                          <m:t>i</m:t>
                        </m:r>
                        <m:r>
                          <m:rPr>
                            <m:nor/>
                          </m:rPr>
                          <a:rPr lang="en-US" altLang="zh-TW" dirty="0">
                            <a:latin typeface="Times New Roman" panose="02020603050405020304" pitchFamily="18" charset="0"/>
                            <a:cs typeface="Times New Roman" panose="02020603050405020304" pitchFamily="18" charset="0"/>
                          </a:rPr>
                          <m:t>−</m:t>
                        </m:r>
                        <m:r>
                          <m:rPr>
                            <m:nor/>
                          </m:rPr>
                          <a:rPr lang="en-US" altLang="zh-TW" dirty="0">
                            <a:latin typeface="Times New Roman" panose="02020603050405020304" pitchFamily="18" charset="0"/>
                            <a:cs typeface="Times New Roman" panose="02020603050405020304" pitchFamily="18" charset="0"/>
                          </a:rPr>
                          <m:t>s</m:t>
                        </m:r>
                        <m:r>
                          <m:rPr>
                            <m:nor/>
                          </m:rPr>
                          <a:rPr lang="en-US" altLang="zh-TW" dirty="0">
                            <a:latin typeface="Times New Roman" panose="02020603050405020304" pitchFamily="18" charset="0"/>
                            <a:cs typeface="Times New Roman" panose="02020603050405020304" pitchFamily="18" charset="0"/>
                          </a:rPr>
                          <m:t>−(</m:t>
                        </m:r>
                        <m:r>
                          <m:rPr>
                            <m:nor/>
                          </m:rPr>
                          <a:rPr lang="en-US" altLang="zh-TW" dirty="0">
                            <a:latin typeface="Times New Roman" panose="02020603050405020304" pitchFamily="18" charset="0"/>
                            <a:cs typeface="Times New Roman" panose="02020603050405020304" pitchFamily="18" charset="0"/>
                          </a:rPr>
                          <m:t>j</m:t>
                        </m:r>
                        <m:r>
                          <m:rPr>
                            <m:nor/>
                          </m:rPr>
                          <a:rPr lang="en-US" altLang="zh-TW" dirty="0">
                            <a:latin typeface="Times New Roman" panose="02020603050405020304" pitchFamily="18" charset="0"/>
                            <a:cs typeface="Times New Roman" panose="02020603050405020304" pitchFamily="18" charset="0"/>
                          </a:rPr>
                          <m:t>−1)</m:t>
                        </m:r>
                        <m:r>
                          <m:rPr>
                            <m:nor/>
                          </m:rPr>
                          <a:rPr lang="en-US" altLang="zh-TW" dirty="0">
                            <a:latin typeface="Times New Roman" panose="02020603050405020304" pitchFamily="18" charset="0"/>
                            <a:cs typeface="Times New Roman" panose="02020603050405020304" pitchFamily="18" charset="0"/>
                          </a:rPr>
                          <m:t>d</m:t>
                        </m:r>
                        <m:r>
                          <m:rPr>
                            <m:nor/>
                          </m:rPr>
                          <a:rPr lang="en-US" altLang="zh-TW" dirty="0">
                            <a:latin typeface="Times New Roman" panose="02020603050405020304" pitchFamily="18" charset="0"/>
                            <a:cs typeface="Times New Roman" panose="02020603050405020304" pitchFamily="18" charset="0"/>
                          </a:rPr>
                          <m:t>−2</m:t>
                        </m:r>
                      </m:e>
                      <m:sup>
                        <m:r>
                          <a:rPr lang="en-US" altLang="zh-TW" b="0" i="1" dirty="0" smtClean="0">
                            <a:latin typeface="Cambria Math" panose="02040503050406030204" pitchFamily="18" charset="0"/>
                            <a:cs typeface="Times New Roman" panose="02020603050405020304" pitchFamily="18" charset="0"/>
                          </a:rPr>
                          <m:t>𝑅</m:t>
                        </m:r>
                      </m:sup>
                    </m:sSup>
                  </m:oMath>
                </a14:m>
                <a:r>
                  <a:rPr lang="en-US" altLang="zh-TW" dirty="0">
                    <a:latin typeface="Times New Roman" panose="02020603050405020304" pitchFamily="18" charset="0"/>
                    <a:cs typeface="Times New Roman" panose="02020603050405020304" pitchFamily="18" charset="0"/>
                  </a:rPr>
                  <a:t>, i+1)</a:t>
                </a:r>
              </a:p>
              <a:p>
                <a:pPr marL="0" indent="0">
                  <a:buNone/>
                </a:pPr>
                <a:r>
                  <a:rPr lang="en-US" altLang="zh-TW" dirty="0">
                    <a:latin typeface="Times New Roman" panose="02020603050405020304" pitchFamily="18" charset="0"/>
                    <a:cs typeface="Times New Roman" panose="02020603050405020304" pitchFamily="18" charset="0"/>
                  </a:rPr>
                  <a:t>O(min{</a:t>
                </a:r>
                <a:r>
                  <a:rPr lang="el-GR" altLang="zh-TW" dirty="0">
                    <a:latin typeface="Times New Roman" panose="02020603050405020304" pitchFamily="18" charset="0"/>
                    <a:cs typeface="Times New Roman" panose="02020603050405020304" pitchFamily="18" charset="0"/>
                  </a:rPr>
                  <a:t>σ</a:t>
                </a: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func>
                      <m:funcPr>
                        <m:ctrlPr>
                          <a:rPr lang="en-US" altLang="zh-TW" i="1" smtClean="0">
                            <a:latin typeface="Cambria Math" panose="02040503050406030204" pitchFamily="18" charset="0"/>
                            <a:cs typeface="Times New Roman" panose="02020603050405020304" pitchFamily="18" charset="0"/>
                          </a:rPr>
                        </m:ctrlPr>
                      </m:funcPr>
                      <m:fName>
                        <m:r>
                          <m:rPr>
                            <m:sty m:val="p"/>
                          </m:rPr>
                          <a:rPr lang="en-US" altLang="zh-TW" i="0" smtClean="0">
                            <a:latin typeface="Cambria Math" panose="02040503050406030204" pitchFamily="18" charset="0"/>
                            <a:cs typeface="Times New Roman" panose="02020603050405020304" pitchFamily="18" charset="0"/>
                          </a:rPr>
                          <m:t>log</m:t>
                        </m:r>
                      </m:fName>
                      <m:e>
                        <m:r>
                          <a:rPr lang="en-US" altLang="zh-TW" b="0" i="1" smtClean="0">
                            <a:latin typeface="Cambria Math" panose="02040503050406030204" pitchFamily="18" charset="0"/>
                            <a:cs typeface="Times New Roman" panose="02020603050405020304" pitchFamily="18" charset="0"/>
                          </a:rPr>
                          <m:t>𝑛</m:t>
                        </m:r>
                      </m:e>
                    </m:func>
                  </m:oMath>
                </a14:m>
                <a:r>
                  <a:rPr lang="en-US" altLang="zh-TW" dirty="0">
                    <a:latin typeface="Times New Roman" panose="02020603050405020304" pitchFamily="18" charset="0"/>
                    <a:cs typeface="Times New Roman" panose="02020603050405020304" pitchFamily="18" charset="0"/>
                  </a:rPr>
                  <a:t>})</a:t>
                </a:r>
              </a:p>
            </p:txBody>
          </p:sp>
        </mc:Choice>
        <mc:Fallback>
          <p:sp>
            <p:nvSpPr>
              <p:cNvPr id="12" name="內容版面配置區 11">
                <a:extLst>
                  <a:ext uri="{FF2B5EF4-FFF2-40B4-BE49-F238E27FC236}">
                    <a16:creationId xmlns:a16="http://schemas.microsoft.com/office/drawing/2014/main" xmlns:a14="http://schemas.microsoft.com/office/drawing/2010/main" xmlns="" id="{652F1AAC-13A7-4F2E-8939-B8B124487E32}"/>
                  </a:ext>
                </a:extLst>
              </p:cNvPr>
              <p:cNvSpPr>
                <a:spLocks noGrp="1" noRot="1" noChangeAspect="1" noMove="1" noResize="1" noEditPoints="1" noAdjustHandles="1" noChangeArrowheads="1" noChangeShapeType="1" noTextEdit="1"/>
              </p:cNvSpPr>
              <p:nvPr>
                <p:ph idx="1"/>
              </p:nvPr>
            </p:nvSpPr>
            <p:spPr>
              <a:xfrm>
                <a:off x="838200" y="1132513"/>
                <a:ext cx="10693400" cy="5192087"/>
              </a:xfrm>
              <a:blipFill rotWithShape="0">
                <a:blip r:embed="rId2"/>
                <a:stretch>
                  <a:fillRect l="-1197" b="-1643"/>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xmlns="" id="{5014E46D-E063-415E-B99E-2F4236E90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1337" y="1034473"/>
            <a:ext cx="5846763" cy="2809365"/>
          </a:xfrm>
          <a:prstGeom prst="rect">
            <a:avLst/>
          </a:prstGeom>
        </p:spPr>
      </p:pic>
    </p:spTree>
    <p:extLst>
      <p:ext uri="{BB962C8B-B14F-4D97-AF65-F5344CB8AC3E}">
        <p14:creationId xmlns:p14="http://schemas.microsoft.com/office/powerpoint/2010/main" val="9762290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1-ELSPal deletion</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192087"/>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xmlns="" id="{254E9BC7-FCC6-4A37-971D-A21E425D4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262" y="909955"/>
            <a:ext cx="8657476" cy="5582920"/>
          </a:xfrm>
          <a:prstGeom prst="rect">
            <a:avLst/>
          </a:prstGeom>
        </p:spPr>
      </p:pic>
    </p:spTree>
    <p:extLst>
      <p:ext uri="{BB962C8B-B14F-4D97-AF65-F5344CB8AC3E}">
        <p14:creationId xmlns:p14="http://schemas.microsoft.com/office/powerpoint/2010/main" val="7543890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1-ELSPal insertion</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192087"/>
          </a:xfrm>
        </p:spPr>
        <p:txBody>
          <a:bodyPr>
            <a:normAutofit/>
          </a:bodyPr>
          <a:lstStyle/>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T[1…</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cT</a:t>
            </a:r>
            <a:r>
              <a:rPr lang="en-US" altLang="zh-TW" dirty="0">
                <a:latin typeface="Times New Roman" panose="02020603050405020304" pitchFamily="18" charset="0"/>
                <a:cs typeface="Times New Roman" panose="02020603050405020304" pitchFamily="18" charset="0"/>
              </a:rPr>
              <a:t>[i+1…n]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If c = 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or T[i+1] same </a:t>
            </a:r>
            <a:r>
              <a:rPr lang="en-US" altLang="zh-TW" dirty="0" smtClean="0">
                <a:latin typeface="Times New Roman" panose="02020603050405020304" pitchFamily="18" charset="0"/>
                <a:cs typeface="Times New Roman" panose="02020603050405020304" pitchFamily="18" charset="0"/>
              </a:rPr>
              <a:t>as</a:t>
            </a:r>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deletion</a:t>
            </a:r>
          </a:p>
          <a:p>
            <a:pPr marL="0" indent="0">
              <a:buNone/>
            </a:pPr>
            <a:r>
              <a:rPr lang="en-US" altLang="zh-TW" dirty="0">
                <a:latin typeface="Times New Roman" panose="02020603050405020304" pitchFamily="18" charset="0"/>
                <a:cs typeface="Times New Roman" panose="02020603050405020304" pitchFamily="18" charset="0"/>
              </a:rPr>
              <a:t>If c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or T[i+1] </a:t>
            </a:r>
            <a:r>
              <a:rPr lang="en-US" altLang="zh-TW">
                <a:latin typeface="Times New Roman" panose="02020603050405020304" pitchFamily="18" charset="0"/>
                <a:cs typeface="Times New Roman" panose="02020603050405020304" pitchFamily="18" charset="0"/>
              </a:rPr>
              <a:t>same </a:t>
            </a:r>
            <a:r>
              <a:rPr lang="en-US" altLang="zh-TW" smtClean="0">
                <a:latin typeface="Times New Roman" panose="02020603050405020304" pitchFamily="18" charset="0"/>
                <a:cs typeface="Times New Roman" panose="02020603050405020304" pitchFamily="18" charset="0"/>
              </a:rPr>
              <a:t>as</a:t>
            </a:r>
            <a:r>
              <a:rPr lang="en-US" altLang="zh-TW"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substitution</a:t>
            </a:r>
          </a:p>
        </p:txBody>
      </p:sp>
    </p:spTree>
    <p:extLst>
      <p:ext uri="{BB962C8B-B14F-4D97-AF65-F5344CB8AC3E}">
        <p14:creationId xmlns:p14="http://schemas.microsoft.com/office/powerpoint/2010/main" val="41796234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a:t>
            </a:r>
            <a:r>
              <a:rPr lang="en-US" altLang="zh-TW" sz="3200" dirty="0" err="1">
                <a:latin typeface="Times New Roman" panose="02020603050405020304" pitchFamily="18" charset="0"/>
                <a:cs typeface="Times New Roman" panose="02020603050405020304" pitchFamily="18" charset="0"/>
              </a:rPr>
              <a:t>ELSPal</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192087"/>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MaxPalEnd</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=〈3, 3, 5〉</a:t>
            </a:r>
          </a:p>
        </p:txBody>
      </p:sp>
      <p:pic>
        <p:nvPicPr>
          <p:cNvPr id="4" name="圖片 3">
            <a:extLst>
              <a:ext uri="{FF2B5EF4-FFF2-40B4-BE49-F238E27FC236}">
                <a16:creationId xmlns:a16="http://schemas.microsoft.com/office/drawing/2014/main" xmlns="" id="{D2EB1805-F590-49BF-BBEA-BDE36E846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1100" y="1023456"/>
            <a:ext cx="7467600" cy="2705100"/>
          </a:xfrm>
          <a:prstGeom prst="rect">
            <a:avLst/>
          </a:prstGeom>
        </p:spPr>
      </p:pic>
      <p:pic>
        <p:nvPicPr>
          <p:cNvPr id="8" name="圖片 7">
            <a:extLst>
              <a:ext uri="{FF2B5EF4-FFF2-40B4-BE49-F238E27FC236}">
                <a16:creationId xmlns:a16="http://schemas.microsoft.com/office/drawing/2014/main" xmlns="" id="{7F68F4A1-1240-4B1D-A1A0-0EB83EA96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5112" y="3528531"/>
            <a:ext cx="6581775" cy="400050"/>
          </a:xfrm>
          <a:prstGeom prst="rect">
            <a:avLst/>
          </a:prstGeom>
        </p:spPr>
      </p:pic>
      <p:pic>
        <p:nvPicPr>
          <p:cNvPr id="10" name="圖片 9">
            <a:extLst>
              <a:ext uri="{FF2B5EF4-FFF2-40B4-BE49-F238E27FC236}">
                <a16:creationId xmlns:a16="http://schemas.microsoft.com/office/drawing/2014/main" xmlns="" id="{2EE2375F-E415-4181-98F2-101C3333A7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280" y="4813834"/>
            <a:ext cx="9215438" cy="1296934"/>
          </a:xfrm>
          <a:prstGeom prst="rect">
            <a:avLst/>
          </a:prstGeom>
        </p:spPr>
      </p:pic>
    </p:spTree>
    <p:extLst>
      <p:ext uri="{BB962C8B-B14F-4D97-AF65-F5344CB8AC3E}">
        <p14:creationId xmlns:p14="http://schemas.microsoft.com/office/powerpoint/2010/main" val="5027874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a:t>
            </a:r>
            <a:r>
              <a:rPr lang="en-US" altLang="zh-TW" sz="3200" dirty="0" err="1">
                <a:latin typeface="Times New Roman" panose="02020603050405020304" pitchFamily="18" charset="0"/>
                <a:cs typeface="Times New Roman" panose="02020603050405020304" pitchFamily="18" charset="0"/>
              </a:rPr>
              <a:t>ELSPal</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192087"/>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Time complexity = O(L+</a:t>
                </a:r>
                <a14:m>
                  <m:oMath xmlns:m="http://schemas.openxmlformats.org/officeDocument/2006/math">
                    <m:func>
                      <m:funcPr>
                        <m:ctrlPr>
                          <a:rPr lang="en-US" altLang="zh-TW" i="1" smtClean="0">
                            <a:latin typeface="Cambria Math" panose="02040503050406030204" pitchFamily="18" charset="0"/>
                            <a:cs typeface="Times New Roman" panose="02020603050405020304" pitchFamily="18" charset="0"/>
                          </a:rPr>
                        </m:ctrlPr>
                      </m:funcPr>
                      <m:fName>
                        <m:r>
                          <m:rPr>
                            <m:sty m:val="p"/>
                          </m:rPr>
                          <a:rPr lang="en-US" altLang="zh-TW" i="0" smtClean="0">
                            <a:latin typeface="Cambria Math" panose="02040503050406030204" pitchFamily="18" charset="0"/>
                            <a:cs typeface="Times New Roman" panose="02020603050405020304" pitchFamily="18" charset="0"/>
                          </a:rPr>
                          <m:t>log</m:t>
                        </m:r>
                      </m:fName>
                      <m:e>
                        <m:r>
                          <a:rPr lang="en-US" altLang="zh-TW" b="0" i="1" smtClean="0">
                            <a:latin typeface="Cambria Math" panose="02040503050406030204" pitchFamily="18" charset="0"/>
                            <a:cs typeface="Times New Roman" panose="02020603050405020304" pitchFamily="18" charset="0"/>
                          </a:rPr>
                          <m:t>𝑛</m:t>
                        </m:r>
                      </m:e>
                    </m:func>
                  </m:oMath>
                </a14:m>
                <a:r>
                  <a:rPr lang="en-US" altLang="zh-TW" dirty="0">
                    <a:latin typeface="Times New Roman" panose="02020603050405020304" pitchFamily="18" charset="0"/>
                    <a:cs typeface="Times New Roman" panose="02020603050405020304" pitchFamily="18" charset="0"/>
                  </a:rPr>
                  <a:t>)</a:t>
                </a:r>
              </a:p>
            </p:txBody>
          </p:sp>
        </mc:Choice>
        <mc:Fallback xmlns="">
          <p:sp>
            <p:nvSpPr>
              <p:cNvPr id="12" name="內容版面配置區 11">
                <a:extLst>
                  <a:ext uri="{FF2B5EF4-FFF2-40B4-BE49-F238E27FC236}">
                    <a16:creationId xmlns:a16="http://schemas.microsoft.com/office/drawing/2014/main" id="{652F1AAC-13A7-4F2E-8939-B8B124487E32}"/>
                  </a:ext>
                </a:extLst>
              </p:cNvPr>
              <p:cNvSpPr>
                <a:spLocks noGrp="1" noRot="1" noChangeAspect="1" noMove="1" noResize="1" noEditPoints="1" noAdjustHandles="1" noChangeArrowheads="1" noChangeShapeType="1" noTextEdit="1"/>
              </p:cNvSpPr>
              <p:nvPr>
                <p:ph idx="1"/>
              </p:nvPr>
            </p:nvSpPr>
            <p:spPr>
              <a:xfrm>
                <a:off x="838200" y="1132513"/>
                <a:ext cx="10693400" cy="5192087"/>
              </a:xfrm>
              <a:blipFill>
                <a:blip r:embed="rId2"/>
                <a:stretch>
                  <a:fillRect l="-1197"/>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xmlns="" id="{6BDB5E40-BBC8-4308-95C4-50DFF96CC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637" y="1034473"/>
            <a:ext cx="8086725" cy="4163039"/>
          </a:xfrm>
          <a:prstGeom prst="rect">
            <a:avLst/>
          </a:prstGeom>
        </p:spPr>
      </p:pic>
    </p:spTree>
    <p:extLst>
      <p:ext uri="{BB962C8B-B14F-4D97-AF65-F5344CB8AC3E}">
        <p14:creationId xmlns:p14="http://schemas.microsoft.com/office/powerpoint/2010/main" val="11254321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a:t>
            </a:r>
            <a:r>
              <a:rPr lang="en-US" altLang="zh-TW" sz="3200" dirty="0" err="1">
                <a:latin typeface="Times New Roman" panose="02020603050405020304" pitchFamily="18" charset="0"/>
                <a:cs typeface="Times New Roman" panose="02020603050405020304" pitchFamily="18" charset="0"/>
              </a:rPr>
              <a:t>ELSPal</a:t>
            </a:r>
            <a:r>
              <a:rPr lang="en-US" altLang="zh-TW" sz="3200" dirty="0">
                <a:latin typeface="Times New Roman" panose="02020603050405020304" pitchFamily="18" charset="0"/>
                <a:cs typeface="Times New Roman" panose="02020603050405020304" pitchFamily="18" charset="0"/>
              </a:rPr>
              <a:t> center in X</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xmlns="" id="{652F1AAC-13A7-4F2E-8939-B8B124487E32}"/>
              </a:ext>
            </a:extLst>
          </p:cNvPr>
          <p:cNvSpPr>
            <a:spLocks noGrp="1"/>
          </p:cNvSpPr>
          <p:nvPr>
            <p:ph idx="1"/>
          </p:nvPr>
        </p:nvSpPr>
        <p:spPr>
          <a:xfrm>
            <a:off x="838200" y="1132513"/>
            <a:ext cx="10693400" cy="5192087"/>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Time and space complexity = O(L)</a:t>
            </a:r>
          </a:p>
        </p:txBody>
      </p:sp>
      <p:pic>
        <p:nvPicPr>
          <p:cNvPr id="5" name="圖片 4">
            <a:extLst>
              <a:ext uri="{FF2B5EF4-FFF2-40B4-BE49-F238E27FC236}">
                <a16:creationId xmlns:a16="http://schemas.microsoft.com/office/drawing/2014/main" xmlns="" id="{148DC386-AF46-437B-9C43-E489A6C56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7925" y="1034473"/>
            <a:ext cx="7296150" cy="3276600"/>
          </a:xfrm>
          <a:prstGeom prst="rect">
            <a:avLst/>
          </a:prstGeom>
        </p:spPr>
      </p:pic>
    </p:spTree>
    <p:extLst>
      <p:ext uri="{BB962C8B-B14F-4D97-AF65-F5344CB8AC3E}">
        <p14:creationId xmlns:p14="http://schemas.microsoft.com/office/powerpoint/2010/main" val="1407089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3286</TotalTime>
  <Words>350</Words>
  <Application>Microsoft Office PowerPoint</Application>
  <PresentationFormat>寬螢幕</PresentationFormat>
  <Paragraphs>74</Paragraphs>
  <Slides>10</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Arial</vt:lpstr>
      <vt:lpstr>Calibri</vt:lpstr>
      <vt:lpstr>Calibri Light</vt:lpstr>
      <vt:lpstr>Cambria Math</vt:lpstr>
      <vt:lpstr>Times New Roman</vt:lpstr>
      <vt:lpstr>Office 佈景主題</vt:lpstr>
      <vt:lpstr>Longest substring palindrome after edit</vt:lpstr>
      <vt:lpstr>Abstract</vt:lpstr>
      <vt:lpstr>Longest Substring Palindrome (LSPal)</vt:lpstr>
      <vt:lpstr>1-ELSPal</vt:lpstr>
      <vt:lpstr>1-ELSPal substitutions</vt:lpstr>
      <vt:lpstr>1-ELSPal deletion</vt:lpstr>
      <vt:lpstr>1-ELSPal insertion</vt:lpstr>
      <vt:lpstr>L-ELSPal</vt:lpstr>
      <vt:lpstr>L-ELSPal</vt:lpstr>
      <vt:lpstr>L-ELSPal center in X</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pplab-class</cp:lastModifiedBy>
  <cp:revision>144</cp:revision>
  <dcterms:created xsi:type="dcterms:W3CDTF">2018-09-30T05:00:05Z</dcterms:created>
  <dcterms:modified xsi:type="dcterms:W3CDTF">2019-05-07T11:40:20Z</dcterms:modified>
</cp:coreProperties>
</file>