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328" r:id="rId4"/>
    <p:sldId id="336" r:id="rId5"/>
    <p:sldId id="337" r:id="rId6"/>
    <p:sldId id="338" r:id="rId7"/>
    <p:sldId id="342" r:id="rId8"/>
    <p:sldId id="343" r:id="rId9"/>
    <p:sldId id="344" r:id="rId10"/>
    <p:sldId id="346" r:id="rId1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167" autoAdjust="0"/>
    <p:restoredTop sz="95048" autoAdjust="0"/>
  </p:normalViewPr>
  <p:slideViewPr>
    <p:cSldViewPr snapToGrid="0">
      <p:cViewPr varScale="1">
        <p:scale>
          <a:sx n="113" d="100"/>
          <a:sy n="113" d="100"/>
        </p:scale>
        <p:origin x="21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2D822E-287D-49A6-BB7D-CFD94BDB4C78}" type="datetimeFigureOut">
              <a:rPr lang="zh-TW" altLang="en-US" smtClean="0"/>
              <a:t>2019/5/7</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C6E11E-5ACF-409F-8557-659632981D46}" type="slidenum">
              <a:rPr lang="zh-TW" altLang="en-US" smtClean="0"/>
              <a:t>‹#›</a:t>
            </a:fld>
            <a:endParaRPr lang="zh-TW" altLang="en-US"/>
          </a:p>
        </p:txBody>
      </p:sp>
    </p:spTree>
    <p:extLst>
      <p:ext uri="{BB962C8B-B14F-4D97-AF65-F5344CB8AC3E}">
        <p14:creationId xmlns:p14="http://schemas.microsoft.com/office/powerpoint/2010/main" val="3157977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70C6E11E-5ACF-409F-8557-659632981D46}" type="slidenum">
              <a:rPr lang="zh-TW" altLang="en-US" smtClean="0"/>
              <a:t>1</a:t>
            </a:fld>
            <a:endParaRPr lang="zh-TW" altLang="en-US"/>
          </a:p>
        </p:txBody>
      </p:sp>
    </p:spTree>
    <p:extLst>
      <p:ext uri="{BB962C8B-B14F-4D97-AF65-F5344CB8AC3E}">
        <p14:creationId xmlns:p14="http://schemas.microsoft.com/office/powerpoint/2010/main" val="19323796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685800" y="1143000"/>
            <a:ext cx="5486400" cy="3086100"/>
          </a:xfrm>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4</a:t>
            </a:fld>
            <a:endParaRPr lang="zh-TW" altLang="en-US"/>
          </a:p>
        </p:txBody>
      </p:sp>
    </p:spTree>
    <p:extLst>
      <p:ext uri="{BB962C8B-B14F-4D97-AF65-F5344CB8AC3E}">
        <p14:creationId xmlns:p14="http://schemas.microsoft.com/office/powerpoint/2010/main" val="1242249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685800" y="1143000"/>
            <a:ext cx="5486400" cy="3086100"/>
          </a:xfrm>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5</a:t>
            </a:fld>
            <a:endParaRPr lang="zh-TW" altLang="en-US"/>
          </a:p>
        </p:txBody>
      </p:sp>
    </p:spTree>
    <p:extLst>
      <p:ext uri="{BB962C8B-B14F-4D97-AF65-F5344CB8AC3E}">
        <p14:creationId xmlns:p14="http://schemas.microsoft.com/office/powerpoint/2010/main" val="13556594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685800" y="1143000"/>
            <a:ext cx="5486400" cy="3086100"/>
          </a:xfrm>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6</a:t>
            </a:fld>
            <a:endParaRPr lang="zh-TW" altLang="en-US"/>
          </a:p>
        </p:txBody>
      </p:sp>
    </p:spTree>
    <p:extLst>
      <p:ext uri="{BB962C8B-B14F-4D97-AF65-F5344CB8AC3E}">
        <p14:creationId xmlns:p14="http://schemas.microsoft.com/office/powerpoint/2010/main" val="23798053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685800" y="1143000"/>
            <a:ext cx="5486400" cy="3086100"/>
          </a:xfrm>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7</a:t>
            </a:fld>
            <a:endParaRPr lang="zh-TW" altLang="en-US"/>
          </a:p>
        </p:txBody>
      </p:sp>
    </p:spTree>
    <p:extLst>
      <p:ext uri="{BB962C8B-B14F-4D97-AF65-F5344CB8AC3E}">
        <p14:creationId xmlns:p14="http://schemas.microsoft.com/office/powerpoint/2010/main" val="2814377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685800" y="1143000"/>
            <a:ext cx="5486400" cy="3086100"/>
          </a:xfrm>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8</a:t>
            </a:fld>
            <a:endParaRPr lang="zh-TW" altLang="en-US"/>
          </a:p>
        </p:txBody>
      </p:sp>
    </p:spTree>
    <p:extLst>
      <p:ext uri="{BB962C8B-B14F-4D97-AF65-F5344CB8AC3E}">
        <p14:creationId xmlns:p14="http://schemas.microsoft.com/office/powerpoint/2010/main" val="36729355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685800" y="1143000"/>
            <a:ext cx="5486400" cy="3086100"/>
          </a:xfrm>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9</a:t>
            </a:fld>
            <a:endParaRPr lang="zh-TW" altLang="en-US"/>
          </a:p>
        </p:txBody>
      </p:sp>
    </p:spTree>
    <p:extLst>
      <p:ext uri="{BB962C8B-B14F-4D97-AF65-F5344CB8AC3E}">
        <p14:creationId xmlns:p14="http://schemas.microsoft.com/office/powerpoint/2010/main" val="18224974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685800" y="1143000"/>
            <a:ext cx="5486400" cy="3086100"/>
          </a:xfrm>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10</a:t>
            </a:fld>
            <a:endParaRPr lang="zh-TW" altLang="en-US"/>
          </a:p>
        </p:txBody>
      </p:sp>
    </p:spTree>
    <p:extLst>
      <p:ext uri="{BB962C8B-B14F-4D97-AF65-F5344CB8AC3E}">
        <p14:creationId xmlns:p14="http://schemas.microsoft.com/office/powerpoint/2010/main" val="24296378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2019/5/7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9221070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2019/5/7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34909575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1" y="1709740"/>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2019/5/7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290611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5E5C1F2B-1D51-40D0-A135-9C9D0A35B8E2}" type="datetimeFigureOut">
              <a:rPr lang="zh-TW" altLang="en-US" smtClean="0"/>
              <a:t>2019/5/7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33069136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7"/>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839789"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6172201"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5E5C1F2B-1D51-40D0-A135-9C9D0A35B8E2}" type="datetimeFigureOut">
              <a:rPr lang="zh-TW" altLang="en-US" smtClean="0"/>
              <a:t>2019/5/7</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33364730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5E5C1F2B-1D51-40D0-A135-9C9D0A35B8E2}" type="datetimeFigureOut">
              <a:rPr lang="zh-TW" altLang="en-US" smtClean="0"/>
              <a:t>2019/5/7</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7939764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5E5C1F2B-1D51-40D0-A135-9C9D0A35B8E2}" type="datetimeFigureOut">
              <a:rPr lang="zh-TW" altLang="en-US" smtClean="0"/>
              <a:t>2019/5/7</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14010919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5E5C1F2B-1D51-40D0-A135-9C9D0A35B8E2}" type="datetimeFigureOut">
              <a:rPr lang="zh-TW" altLang="en-US" smtClean="0"/>
              <a:t>2019/5/7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406270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7"/>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5E5C1F2B-1D51-40D0-A135-9C9D0A35B8E2}" type="datetimeFigureOut">
              <a:rPr lang="zh-TW" altLang="en-US" smtClean="0"/>
              <a:t>2019/5/7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3781416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2019/5/7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1789388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1"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1"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2019/5/7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233407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5C1F2B-1D51-40D0-A135-9C9D0A35B8E2}" type="datetimeFigureOut">
              <a:rPr lang="zh-TW" altLang="en-US" smtClean="0"/>
              <a:t>2019/5/7</a:t>
            </a:fld>
            <a:endParaRPr lang="zh-TW" altLang="en-US"/>
          </a:p>
        </p:txBody>
      </p:sp>
      <p:sp>
        <p:nvSpPr>
          <p:cNvPr id="5" name="頁尾版面配置區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40011100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793749" y="449565"/>
            <a:ext cx="10604501" cy="2902356"/>
          </a:xfrm>
        </p:spPr>
        <p:txBody>
          <a:bodyPr>
            <a:noAutofit/>
          </a:bodyPr>
          <a:lstStyle/>
          <a:p>
            <a:r>
              <a:rPr lang="en-US" altLang="zh-TW" sz="4800" b="1" dirty="0">
                <a:latin typeface="Times New Roman" panose="02020603050405020304" pitchFamily="18" charset="0"/>
                <a:cs typeface="Times New Roman" panose="02020603050405020304" pitchFamily="18" charset="0"/>
              </a:rPr>
              <a:t>Using Deep Learning Neural Networks and Candlestick</a:t>
            </a:r>
            <a:r>
              <a:rPr lang="zh-TW" altLang="en-US" sz="4800" b="1" dirty="0">
                <a:latin typeface="Times New Roman" panose="02020603050405020304" pitchFamily="18" charset="0"/>
                <a:cs typeface="Times New Roman" panose="02020603050405020304" pitchFamily="18" charset="0"/>
              </a:rPr>
              <a:t> </a:t>
            </a:r>
            <a:r>
              <a:rPr lang="en-US" altLang="zh-TW" sz="4800" b="1" dirty="0">
                <a:latin typeface="Times New Roman" panose="02020603050405020304" pitchFamily="18" charset="0"/>
                <a:cs typeface="Times New Roman" panose="02020603050405020304" pitchFamily="18" charset="0"/>
              </a:rPr>
              <a:t>Chart Representation to Predict Stock Market</a:t>
            </a:r>
            <a:endParaRPr lang="zh-TW" altLang="en-US" sz="4800" b="1" dirty="0">
              <a:latin typeface="Times New Roman" panose="02020603050405020304" pitchFamily="18" charset="0"/>
              <a:cs typeface="Times New Roman" panose="02020603050405020304" pitchFamily="18" charset="0"/>
            </a:endParaRPr>
          </a:p>
        </p:txBody>
      </p:sp>
      <p:sp>
        <p:nvSpPr>
          <p:cNvPr id="3" name="副標題 2"/>
          <p:cNvSpPr>
            <a:spLocks noGrp="1"/>
          </p:cNvSpPr>
          <p:nvPr>
            <p:ph type="subTitle" idx="1"/>
          </p:nvPr>
        </p:nvSpPr>
        <p:spPr>
          <a:xfrm>
            <a:off x="1871133" y="3669771"/>
            <a:ext cx="8449735" cy="2719740"/>
          </a:xfrm>
        </p:spPr>
        <p:txBody>
          <a:bodyPr>
            <a:normAutofit/>
          </a:bodyPr>
          <a:lstStyle/>
          <a:p>
            <a:r>
              <a:rPr lang="en-US" altLang="zh-TW" dirty="0" err="1">
                <a:latin typeface="Times New Roman" panose="02020603050405020304" pitchFamily="18" charset="0"/>
                <a:cs typeface="Times New Roman" panose="02020603050405020304" pitchFamily="18" charset="0"/>
              </a:rPr>
              <a:t>Rosdyana</a:t>
            </a: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Mangir</a:t>
            </a: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Irawan</a:t>
            </a:r>
            <a:r>
              <a:rPr lang="en-US" altLang="zh-TW" dirty="0">
                <a:latin typeface="Times New Roman" panose="02020603050405020304" pitchFamily="18" charset="0"/>
                <a:cs typeface="Times New Roman" panose="02020603050405020304" pitchFamily="18" charset="0"/>
              </a:rPr>
              <a:t> Kusuma, Trang-</a:t>
            </a:r>
            <a:r>
              <a:rPr lang="en-US" altLang="zh-TW" dirty="0" err="1">
                <a:latin typeface="Times New Roman" panose="02020603050405020304" pitchFamily="18" charset="0"/>
                <a:cs typeface="Times New Roman" panose="02020603050405020304" pitchFamily="18" charset="0"/>
              </a:rPr>
              <a:t>Thi</a:t>
            </a:r>
            <a:r>
              <a:rPr lang="en-US" altLang="zh-TW" dirty="0">
                <a:latin typeface="Times New Roman" panose="02020603050405020304" pitchFamily="18" charset="0"/>
                <a:cs typeface="Times New Roman" panose="02020603050405020304" pitchFamily="18" charset="0"/>
              </a:rPr>
              <a:t> Ho(</a:t>
            </a:r>
            <a:r>
              <a:rPr lang="zh-TW" altLang="en-US" dirty="0"/>
              <a:t>賀耀華</a:t>
            </a:r>
            <a:r>
              <a:rPr lang="en-US" altLang="zh-TW" dirty="0">
                <a:latin typeface="Times New Roman" panose="02020603050405020304" pitchFamily="18" charset="0"/>
                <a:cs typeface="Times New Roman" panose="02020603050405020304" pitchFamily="18" charset="0"/>
              </a:rPr>
              <a:t>), Wei-Chun Kao(</a:t>
            </a:r>
            <a:r>
              <a:rPr lang="zh-TW" altLang="en-US" dirty="0"/>
              <a:t>高偉鈞</a:t>
            </a:r>
            <a:r>
              <a:rPr lang="en-US" altLang="zh-TW" dirty="0">
                <a:latin typeface="Times New Roman" panose="02020603050405020304" pitchFamily="18" charset="0"/>
                <a:cs typeface="Times New Roman" panose="02020603050405020304" pitchFamily="18" charset="0"/>
              </a:rPr>
              <a:t>), Yu-Yen </a:t>
            </a:r>
            <a:r>
              <a:rPr lang="en-US" altLang="zh-TW" dirty="0" err="1">
                <a:latin typeface="Times New Roman" panose="02020603050405020304" pitchFamily="18" charset="0"/>
                <a:cs typeface="Times New Roman" panose="02020603050405020304" pitchFamily="18" charset="0"/>
              </a:rPr>
              <a:t>Ou</a:t>
            </a:r>
            <a:r>
              <a:rPr lang="en-US" altLang="zh-TW" dirty="0">
                <a:latin typeface="Times New Roman" panose="02020603050405020304" pitchFamily="18" charset="0"/>
                <a:cs typeface="Times New Roman" panose="02020603050405020304" pitchFamily="18" charset="0"/>
              </a:rPr>
              <a:t>(</a:t>
            </a:r>
            <a:r>
              <a:rPr lang="zh-TW" altLang="en-US" dirty="0">
                <a:latin typeface="Times New Roman" panose="02020603050405020304" pitchFamily="18" charset="0"/>
                <a:cs typeface="Times New Roman" panose="02020603050405020304" pitchFamily="18" charset="0"/>
              </a:rPr>
              <a:t>歐昱言</a:t>
            </a:r>
            <a:r>
              <a:rPr lang="en-US" altLang="zh-TW" dirty="0">
                <a:latin typeface="Times New Roman" panose="02020603050405020304" pitchFamily="18" charset="0"/>
                <a:cs typeface="Times New Roman" panose="02020603050405020304" pitchFamily="18" charset="0"/>
              </a:rPr>
              <a:t>) and Kai-Lung Hua(</a:t>
            </a:r>
            <a:r>
              <a:rPr lang="zh-TW" altLang="en-US" dirty="0">
                <a:latin typeface="Times New Roman" panose="02020603050405020304" pitchFamily="18" charset="0"/>
                <a:cs typeface="Times New Roman" panose="02020603050405020304" pitchFamily="18" charset="0"/>
              </a:rPr>
              <a:t>許佳龍</a:t>
            </a:r>
            <a:r>
              <a:rPr lang="en-US" altLang="zh-TW" dirty="0">
                <a:latin typeface="Times New Roman" panose="02020603050405020304" pitchFamily="18" charset="0"/>
                <a:cs typeface="Times New Roman" panose="02020603050405020304" pitchFamily="18" charset="0"/>
              </a:rPr>
              <a:t>)</a:t>
            </a:r>
          </a:p>
          <a:p>
            <a:r>
              <a:rPr lang="en-US" altLang="zh-TW" dirty="0">
                <a:latin typeface="Times New Roman" panose="02020603050405020304" pitchFamily="18" charset="0"/>
                <a:cs typeface="Times New Roman" panose="02020603050405020304" pitchFamily="18" charset="0"/>
              </a:rPr>
              <a:t>arXiv:1903.12258v1, Feb 26, 2019</a:t>
            </a:r>
          </a:p>
          <a:p>
            <a:r>
              <a:rPr lang="en-US" altLang="zh-TW" dirty="0">
                <a:latin typeface="Times New Roman" panose="02020603050405020304" pitchFamily="18" charset="0"/>
                <a:cs typeface="Times New Roman" panose="02020603050405020304" pitchFamily="18" charset="0"/>
              </a:rPr>
              <a:t>Presenter: Cheng-Han Wu</a:t>
            </a:r>
          </a:p>
          <a:p>
            <a:r>
              <a:rPr lang="en-US" altLang="zh-TW" dirty="0">
                <a:latin typeface="Times New Roman" panose="02020603050405020304" pitchFamily="18" charset="0"/>
                <a:cs typeface="Times New Roman" panose="02020603050405020304" pitchFamily="18" charset="0"/>
              </a:rPr>
              <a:t>Date:2019/5/7</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56846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Abstract(1/2)</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838201" y="1825626"/>
            <a:ext cx="10515600" cy="4595055"/>
          </a:xfrm>
        </p:spPr>
        <p:txBody>
          <a:bodyPr>
            <a:noAutofit/>
          </a:bodyPr>
          <a:lstStyle/>
          <a:p>
            <a:pPr marL="0" indent="0" algn="just">
              <a:buNone/>
            </a:pPr>
            <a:r>
              <a:rPr lang="en-US" altLang="zh-TW" dirty="0">
                <a:latin typeface="Times New Roman" panose="02020603050405020304" pitchFamily="18" charset="0"/>
                <a:cs typeface="Times New Roman" panose="02020603050405020304" pitchFamily="18" charset="0"/>
              </a:rPr>
              <a:t>Stock market prediction is still a challenging problem because there are many factors effect to the stock market price such as company news and performance, industry performance, investor sentiment, social media sentiment and economic factors. This work explores the predictability in the stock market using Deep Convolutional Network and candlestick charts. The outcome is utilized to design a decision support framework that can be used by traders to provide suggested indications of future stock price direction. We perform this work using various types of neural networks like convolutional neural network, residual network and visual geometry group network. From stock market historical data, we converted it to candlestick charts. </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86666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Abstract(2/2)</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838201" y="1825626"/>
            <a:ext cx="10515600" cy="4595055"/>
          </a:xfrm>
        </p:spPr>
        <p:txBody>
          <a:bodyPr>
            <a:noAutofit/>
          </a:bodyPr>
          <a:lstStyle/>
          <a:p>
            <a:pPr marL="0" indent="0" algn="just">
              <a:buNone/>
            </a:pPr>
            <a:r>
              <a:rPr lang="en-US" altLang="zh-TW" dirty="0">
                <a:latin typeface="Times New Roman" panose="02020603050405020304" pitchFamily="18" charset="0"/>
                <a:cs typeface="Times New Roman" panose="02020603050405020304" pitchFamily="18" charset="0"/>
              </a:rPr>
              <a:t>Finally, these candlestick charts will be feed as input for training a Convolutional Neural Network model. This Convolutional Neural Network model will help us to analyze the patterns inside the candlestick chart and predict the future movements of stock market. The effectiveness of our method is evaluated in stock market prediction with a promising results 92.2% and 92.1% accuracy for Taiwan and Indonesian stock market dataset, respectively. The constructed model have been implemented as a web-based system freely available at http://140.138.155.216/deepcandle/ for predicting stock market using candlestick chart and deep learning neural networks.</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354963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Data</a:t>
            </a:r>
            <a:endParaRPr lang="zh-TW" altLang="en-US" dirty="0">
              <a:latin typeface="Times New Roman" panose="02020603050405020304" pitchFamily="18" charset="0"/>
              <a:cs typeface="Times New Roman" panose="02020603050405020304" pitchFamily="18" charset="0"/>
            </a:endParaRPr>
          </a:p>
        </p:txBody>
      </p:sp>
      <p:sp>
        <p:nvSpPr>
          <p:cNvPr id="8" name="內容版面配置區 7">
            <a:extLst>
              <a:ext uri="{FF2B5EF4-FFF2-40B4-BE49-F238E27FC236}">
                <a16:creationId xmlns:a16="http://schemas.microsoft.com/office/drawing/2014/main" id="{9570FBEF-7F42-444A-BEF1-A6535ADFED5E}"/>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Taiwan Top 50 Index (TW50)</a:t>
            </a:r>
          </a:p>
          <a:p>
            <a:r>
              <a:rPr lang="en-US" altLang="zh-TW" dirty="0">
                <a:latin typeface="Times New Roman" panose="02020603050405020304" pitchFamily="18" charset="0"/>
                <a:cs typeface="Times New Roman" panose="02020603050405020304" pitchFamily="18" charset="0"/>
              </a:rPr>
              <a:t>Indonesia Top 10 index (ID10)</a:t>
            </a:r>
            <a:endParaRPr lang="zh-TW" altLang="en-US" dirty="0">
              <a:latin typeface="Times New Roman" panose="02020603050405020304" pitchFamily="18" charset="0"/>
              <a:cs typeface="Times New Roman" panose="02020603050405020304" pitchFamily="18" charset="0"/>
            </a:endParaRPr>
          </a:p>
        </p:txBody>
      </p:sp>
      <p:pic>
        <p:nvPicPr>
          <p:cNvPr id="6" name="圖片 5" descr="一張含有 螢幕擷取畫面 的圖片&#10;&#10;自動產生的描述">
            <a:extLst>
              <a:ext uri="{FF2B5EF4-FFF2-40B4-BE49-F238E27FC236}">
                <a16:creationId xmlns:a16="http://schemas.microsoft.com/office/drawing/2014/main" id="{6D542124-EA4D-4213-AE0F-57CD87C010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4745" y="3332829"/>
            <a:ext cx="10802509" cy="1425438"/>
          </a:xfrm>
          <a:prstGeom prst="rect">
            <a:avLst/>
          </a:prstGeom>
        </p:spPr>
      </p:pic>
    </p:spTree>
    <p:extLst>
      <p:ext uri="{BB962C8B-B14F-4D97-AF65-F5344CB8AC3E}">
        <p14:creationId xmlns:p14="http://schemas.microsoft.com/office/powerpoint/2010/main" val="13547230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Input</a:t>
            </a:r>
            <a:endParaRPr lang="zh-TW" altLang="en-US" dirty="0">
              <a:latin typeface="Times New Roman" panose="02020603050405020304" pitchFamily="18" charset="0"/>
              <a:cs typeface="Times New Roman" panose="02020603050405020304" pitchFamily="18" charset="0"/>
            </a:endParaRPr>
          </a:p>
        </p:txBody>
      </p:sp>
      <p:pic>
        <p:nvPicPr>
          <p:cNvPr id="10" name="內容版面配置區 9" descr="一張含有 時鐘, 物件 的圖片&#10;&#10;自動產生的描述">
            <a:extLst>
              <a:ext uri="{FF2B5EF4-FFF2-40B4-BE49-F238E27FC236}">
                <a16:creationId xmlns:a16="http://schemas.microsoft.com/office/drawing/2014/main" id="{0B6F7645-2570-47E0-9731-0E8C3546B21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38200" y="1690690"/>
            <a:ext cx="10515600" cy="2216453"/>
          </a:xfrm>
        </p:spPr>
      </p:pic>
      <p:pic>
        <p:nvPicPr>
          <p:cNvPr id="12" name="圖片 11" descr="一張含有 物件 的圖片&#10;&#10;自動產生的描述">
            <a:extLst>
              <a:ext uri="{FF2B5EF4-FFF2-40B4-BE49-F238E27FC236}">
                <a16:creationId xmlns:a16="http://schemas.microsoft.com/office/drawing/2014/main" id="{3E29F868-FB48-4523-98AA-8449A501694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8067" y="3907143"/>
            <a:ext cx="10883900" cy="2220286"/>
          </a:xfrm>
          <a:prstGeom prst="rect">
            <a:avLst/>
          </a:prstGeom>
        </p:spPr>
      </p:pic>
    </p:spTree>
    <p:extLst>
      <p:ext uri="{BB962C8B-B14F-4D97-AF65-F5344CB8AC3E}">
        <p14:creationId xmlns:p14="http://schemas.microsoft.com/office/powerpoint/2010/main" val="31174351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CNN</a:t>
            </a:r>
            <a:endParaRPr lang="zh-TW" altLang="en-US" dirty="0">
              <a:latin typeface="Times New Roman" panose="02020603050405020304" pitchFamily="18" charset="0"/>
              <a:cs typeface="Times New Roman" panose="02020603050405020304" pitchFamily="18" charset="0"/>
            </a:endParaRPr>
          </a:p>
        </p:txBody>
      </p:sp>
      <p:pic>
        <p:nvPicPr>
          <p:cNvPr id="11" name="內容版面配置區 10" descr="一張含有 螢幕擷取畫面 的圖片&#10;&#10;自動產生的描述">
            <a:extLst>
              <a:ext uri="{FF2B5EF4-FFF2-40B4-BE49-F238E27FC236}">
                <a16:creationId xmlns:a16="http://schemas.microsoft.com/office/drawing/2014/main" id="{F97DEB6D-E19C-4A2E-A838-D416220E41F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944535" y="1413393"/>
            <a:ext cx="1607720" cy="5373170"/>
          </a:xfrm>
        </p:spPr>
      </p:pic>
    </p:spTree>
    <p:extLst>
      <p:ext uri="{BB962C8B-B14F-4D97-AF65-F5344CB8AC3E}">
        <p14:creationId xmlns:p14="http://schemas.microsoft.com/office/powerpoint/2010/main" val="33771229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Evaluation</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85A908CD-0E73-4EEE-93AD-EA231A663E06}"/>
              </a:ext>
            </a:extLst>
          </p:cNvPr>
          <p:cNvSpPr>
            <a:spLocks noGrp="1"/>
          </p:cNvSpPr>
          <p:nvPr>
            <p:ph idx="1"/>
          </p:nvPr>
        </p:nvSpPr>
        <p:spPr/>
        <p:txBody>
          <a:bodyPr/>
          <a:lstStyle/>
          <a:p>
            <a:endParaRPr lang="zh-TW" altLang="en-US" dirty="0"/>
          </a:p>
        </p:txBody>
      </p:sp>
      <p:pic>
        <p:nvPicPr>
          <p:cNvPr id="6" name="內容版面配置區 4">
            <a:extLst>
              <a:ext uri="{FF2B5EF4-FFF2-40B4-BE49-F238E27FC236}">
                <a16:creationId xmlns:a16="http://schemas.microsoft.com/office/drawing/2014/main" id="{9E6D14CC-371F-4F6F-B773-C942AA99BB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63895" y="1690690"/>
            <a:ext cx="8464210" cy="4318036"/>
          </a:xfrm>
          <a:prstGeom prst="rect">
            <a:avLst/>
          </a:prstGeom>
        </p:spPr>
      </p:pic>
    </p:spTree>
    <p:extLst>
      <p:ext uri="{BB962C8B-B14F-4D97-AF65-F5344CB8AC3E}">
        <p14:creationId xmlns:p14="http://schemas.microsoft.com/office/powerpoint/2010/main" val="32904107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Experiment Result (TW50)</a:t>
            </a:r>
            <a:endParaRPr lang="zh-TW" altLang="en-US" dirty="0">
              <a:latin typeface="Times New Roman" panose="02020603050405020304" pitchFamily="18" charset="0"/>
              <a:cs typeface="Times New Roman" panose="02020603050405020304" pitchFamily="18" charset="0"/>
            </a:endParaRPr>
          </a:p>
        </p:txBody>
      </p:sp>
      <p:pic>
        <p:nvPicPr>
          <p:cNvPr id="7" name="內容版面配置區 6" descr="一張含有 牆 的圖片&#10;&#10;自動產生的描述">
            <a:extLst>
              <a:ext uri="{FF2B5EF4-FFF2-40B4-BE49-F238E27FC236}">
                <a16:creationId xmlns:a16="http://schemas.microsoft.com/office/drawing/2014/main" id="{1F576864-B67C-4173-A1C5-3D19CD23F23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253691" y="1761067"/>
            <a:ext cx="9684617" cy="4247639"/>
          </a:xfrm>
        </p:spPr>
      </p:pic>
    </p:spTree>
    <p:extLst>
      <p:ext uri="{BB962C8B-B14F-4D97-AF65-F5344CB8AC3E}">
        <p14:creationId xmlns:p14="http://schemas.microsoft.com/office/powerpoint/2010/main" val="23732726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Experimental Result (ID10)</a:t>
            </a:r>
            <a:endParaRPr lang="zh-TW" altLang="en-US" dirty="0">
              <a:latin typeface="Times New Roman" panose="02020603050405020304" pitchFamily="18" charset="0"/>
              <a:cs typeface="Times New Roman" panose="02020603050405020304" pitchFamily="18" charset="0"/>
            </a:endParaRPr>
          </a:p>
        </p:txBody>
      </p:sp>
      <p:pic>
        <p:nvPicPr>
          <p:cNvPr id="6" name="內容版面配置區 5">
            <a:extLst>
              <a:ext uri="{FF2B5EF4-FFF2-40B4-BE49-F238E27FC236}">
                <a16:creationId xmlns:a16="http://schemas.microsoft.com/office/drawing/2014/main" id="{BAE85645-81EA-427A-9FA4-4B592E704DE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150791" y="1792290"/>
            <a:ext cx="9890418" cy="4320659"/>
          </a:xfrm>
        </p:spPr>
      </p:pic>
    </p:spTree>
    <p:extLst>
      <p:ext uri="{BB962C8B-B14F-4D97-AF65-F5344CB8AC3E}">
        <p14:creationId xmlns:p14="http://schemas.microsoft.com/office/powerpoint/2010/main" val="27267810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Experimental Result</a:t>
            </a:r>
            <a:endParaRPr lang="zh-TW" altLang="en-US" dirty="0">
              <a:latin typeface="Times New Roman" panose="02020603050405020304" pitchFamily="18" charset="0"/>
              <a:cs typeface="Times New Roman" panose="02020603050405020304" pitchFamily="18" charset="0"/>
            </a:endParaRPr>
          </a:p>
        </p:txBody>
      </p:sp>
      <p:pic>
        <p:nvPicPr>
          <p:cNvPr id="6" name="內容版面配置區 5">
            <a:extLst>
              <a:ext uri="{FF2B5EF4-FFF2-40B4-BE49-F238E27FC236}">
                <a16:creationId xmlns:a16="http://schemas.microsoft.com/office/drawing/2014/main" id="{8274AFAB-13D0-496D-A871-D0C3EBE394CE}"/>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38200" y="1417269"/>
            <a:ext cx="5429974" cy="5199960"/>
          </a:xfrm>
        </p:spPr>
      </p:pic>
      <p:pic>
        <p:nvPicPr>
          <p:cNvPr id="9" name="圖片 8" descr="一張含有 牆, 填字遊戲, 文字, 室內 的圖片&#10;&#10;自動產生的描述">
            <a:extLst>
              <a:ext uri="{FF2B5EF4-FFF2-40B4-BE49-F238E27FC236}">
                <a16:creationId xmlns:a16="http://schemas.microsoft.com/office/drawing/2014/main" id="{05FF3050-F01B-45AA-912E-1D1C239DC65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62773" y="1417269"/>
            <a:ext cx="4496427" cy="1943371"/>
          </a:xfrm>
          <a:prstGeom prst="rect">
            <a:avLst/>
          </a:prstGeom>
        </p:spPr>
      </p:pic>
      <p:pic>
        <p:nvPicPr>
          <p:cNvPr id="11" name="圖片 10" descr="一張含有 螢幕擷取畫面, 黑色 的圖片&#10;&#10;自動產生的描述">
            <a:extLst>
              <a:ext uri="{FF2B5EF4-FFF2-40B4-BE49-F238E27FC236}">
                <a16:creationId xmlns:a16="http://schemas.microsoft.com/office/drawing/2014/main" id="{F7EF34A1-279A-4070-BB64-0354A7734F5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62773" y="3611478"/>
            <a:ext cx="2772162" cy="1209844"/>
          </a:xfrm>
          <a:prstGeom prst="rect">
            <a:avLst/>
          </a:prstGeom>
        </p:spPr>
      </p:pic>
    </p:spTree>
    <p:extLst>
      <p:ext uri="{BB962C8B-B14F-4D97-AF65-F5344CB8AC3E}">
        <p14:creationId xmlns:p14="http://schemas.microsoft.com/office/powerpoint/2010/main" val="1974974468"/>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19903</TotalTime>
  <Words>326</Words>
  <Application>Microsoft Office PowerPoint</Application>
  <PresentationFormat>寬螢幕</PresentationFormat>
  <Paragraphs>26</Paragraphs>
  <Slides>10</Slides>
  <Notes>8</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10</vt:i4>
      </vt:variant>
    </vt:vector>
  </HeadingPairs>
  <TitlesOfParts>
    <vt:vector size="15" baseType="lpstr">
      <vt:lpstr>Arial</vt:lpstr>
      <vt:lpstr>Calibri</vt:lpstr>
      <vt:lpstr>Calibri Light</vt:lpstr>
      <vt:lpstr>Times New Roman</vt:lpstr>
      <vt:lpstr>Office 佈景主題</vt:lpstr>
      <vt:lpstr>Using Deep Learning Neural Networks and Candlestick Chart Representation to Predict Stock Market</vt:lpstr>
      <vt:lpstr>Abstract(1/2)</vt:lpstr>
      <vt:lpstr>Abstract(2/2)</vt:lpstr>
      <vt:lpstr>Data</vt:lpstr>
      <vt:lpstr>Input</vt:lpstr>
      <vt:lpstr>CNN</vt:lpstr>
      <vt:lpstr>Evaluation</vt:lpstr>
      <vt:lpstr>Experiment Result (TW50)</vt:lpstr>
      <vt:lpstr>Experimental Result (ID10)</vt:lpstr>
      <vt:lpstr>Experimental Result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Efficient Selectivity and Backup Operators in Monte-Carlo Tree Search</dc:title>
  <dc:creator>Trixie</dc:creator>
  <cp:lastModifiedBy>承翰 吳</cp:lastModifiedBy>
  <cp:revision>705</cp:revision>
  <dcterms:created xsi:type="dcterms:W3CDTF">2017-09-07T05:36:32Z</dcterms:created>
  <dcterms:modified xsi:type="dcterms:W3CDTF">2019-05-07T08:18:17Z</dcterms:modified>
</cp:coreProperties>
</file>