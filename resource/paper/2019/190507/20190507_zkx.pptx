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58" r:id="rId3"/>
    <p:sldId id="259" r:id="rId4"/>
    <p:sldId id="260" r:id="rId5"/>
    <p:sldId id="355" r:id="rId6"/>
    <p:sldId id="358" r:id="rId7"/>
    <p:sldId id="359" r:id="rId8"/>
    <p:sldId id="360" r:id="rId9"/>
    <p:sldId id="357" r:id="rId10"/>
    <p:sldId id="361" r:id="rId11"/>
    <p:sldId id="362" r:id="rId12"/>
    <p:sldId id="363" r:id="rId13"/>
    <p:sldId id="366" r:id="rId14"/>
    <p:sldId id="364" r:id="rId15"/>
    <p:sldId id="365" r:id="rId16"/>
    <p:sldId id="367" r:id="rId17"/>
    <p:sldId id="369" r:id="rId18"/>
    <p:sldId id="370" r:id="rId19"/>
    <p:sldId id="368" r:id="rId20"/>
    <p:sldId id="356" r:id="rId21"/>
    <p:sldId id="349" r:id="rId22"/>
    <p:sldId id="371" r:id="rId23"/>
    <p:sldId id="374" r:id="rId24"/>
    <p:sldId id="375" r:id="rId25"/>
    <p:sldId id="372" r:id="rId26"/>
    <p:sldId id="373"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4660"/>
  </p:normalViewPr>
  <p:slideViewPr>
    <p:cSldViewPr snapToGrid="0">
      <p:cViewPr varScale="1">
        <p:scale>
          <a:sx n="108" d="100"/>
          <a:sy n="108" d="100"/>
        </p:scale>
        <p:origin x="63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E1CC90-5860-4773-94E4-A7C5C8AC2E96}" type="datetimeFigureOut">
              <a:rPr lang="zh-CN" altLang="en-US" smtClean="0"/>
              <a:t>2019/5/6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0889F-DB18-4D0A-BA0B-9C49CA35EF45}" type="slidenum">
              <a:rPr lang="zh-CN" altLang="en-US" smtClean="0"/>
              <a:t>‹#›</a:t>
            </a:fld>
            <a:endParaRPr lang="zh-CN" altLang="en-US"/>
          </a:p>
        </p:txBody>
      </p:sp>
    </p:spTree>
    <p:extLst>
      <p:ext uri="{BB962C8B-B14F-4D97-AF65-F5344CB8AC3E}">
        <p14:creationId xmlns:p14="http://schemas.microsoft.com/office/powerpoint/2010/main" val="3436611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academic.microsoft.com/conference/1127325140"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academic.microsoft.com/conferences"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msra.cn/zh-cn/news/features/gan-20170511"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hlinkClick r:id="rId3"/>
              </a:rPr>
              <a:t>https://academic.microsoft.com/conference/1127325140</a:t>
            </a:r>
            <a:endParaRPr lang="en-US" altLang="zh-CN" dirty="0"/>
          </a:p>
          <a:p>
            <a:pPr marL="0" lvl="0" indent="0" algn="l" rtl="0">
              <a:spcBef>
                <a:spcPts val="0"/>
              </a:spcBef>
              <a:spcAft>
                <a:spcPts val="0"/>
              </a:spcAft>
              <a:buNone/>
            </a:pPr>
            <a:r>
              <a:rPr lang="en-US" altLang="zh-CN" dirty="0">
                <a:hlinkClick r:id="rId4"/>
              </a:rPr>
              <a:t>https://academic.microsoft.com/conferences</a:t>
            </a:r>
            <a:endParaRPr lang="en-US"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8834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7627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3149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7610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26609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Radford, A., et al. (2015). "Unsupervised representation learning with deep convolutional generative adversarial networks." </a:t>
            </a:r>
            <a:r>
              <a:rPr lang="en-US" b="0" i="0" u="sng" baseline="0" dirty="0" err="1"/>
              <a:t>arXiv</a:t>
            </a:r>
            <a:r>
              <a:rPr lang="en-US" b="0" i="0" u="sng" baseline="0" dirty="0"/>
              <a:t> preprint arXiv:1511.06434</a:t>
            </a: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1886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2546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12245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Radford, A., et al. (2015). "Unsupervised representation learning with deep convolutional generative adversarial networks." </a:t>
            </a:r>
            <a:r>
              <a:rPr lang="en-US" b="0" i="0" u="sng" baseline="0" dirty="0" err="1"/>
              <a:t>arXiv</a:t>
            </a:r>
            <a:r>
              <a:rPr lang="en-US" b="0" i="0" u="sng" baseline="0" dirty="0"/>
              <a:t> preprint arXiv:1511.06434</a:t>
            </a: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8715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Radford, A., et al. (2015). "Unsupervised representation learning with deep convolutional generative adversarial networks." </a:t>
            </a:r>
            <a:r>
              <a:rPr lang="en-US" b="0" i="0" u="sng" baseline="0" dirty="0" err="1"/>
              <a:t>arXiv</a:t>
            </a:r>
            <a:r>
              <a:rPr lang="en-US" b="0" i="0" u="sng" baseline="0" dirty="0"/>
              <a:t> preprint arXiv:1511.06434</a:t>
            </a: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9925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Radford, A., et al. (2015). "Unsupervised representation learning with deep convolutional generative adversarial networks." </a:t>
            </a:r>
            <a:r>
              <a:rPr lang="en-US" b="0" i="0" u="sng" baseline="0" dirty="0" err="1"/>
              <a:t>arXiv</a:t>
            </a:r>
            <a:r>
              <a:rPr lang="en-US" b="0" i="0" u="sng" baseline="0" dirty="0"/>
              <a:t> preprint arXiv:1511.06434</a:t>
            </a: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9821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Radford, A., et al. (2015). "Unsupervised representation learning with deep convolutional generative adversarial networks." </a:t>
            </a:r>
            <a:r>
              <a:rPr lang="en-US" b="0" i="0" u="sng" baseline="0" dirty="0" err="1"/>
              <a:t>arXiv</a:t>
            </a:r>
            <a:r>
              <a:rPr lang="en-US" b="0" i="0" u="sng" baseline="0" dirty="0"/>
              <a:t> preprint arXiv:1511.06434</a:t>
            </a: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13653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Radford, A., et al. (2015). "Unsupervised representation learning with deep convolutional generative adversarial networks." </a:t>
            </a:r>
            <a:r>
              <a:rPr lang="en-US" b="0" i="0" u="sng" baseline="0" dirty="0" err="1"/>
              <a:t>arXiv</a:t>
            </a:r>
            <a:r>
              <a:rPr lang="en-US" b="0" i="0" u="sng" baseline="0" dirty="0"/>
              <a:t> preprint arXiv:1511.06434</a:t>
            </a: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72490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Radford, A., et al. (2015). "Unsupervised representation learning with deep convolutional generative adversarial networks." </a:t>
            </a:r>
            <a:r>
              <a:rPr lang="en-US" b="0" i="0" u="sng" baseline="0" dirty="0" err="1"/>
              <a:t>arXiv</a:t>
            </a:r>
            <a:r>
              <a:rPr lang="en-US" b="0" i="0" u="sng" baseline="0" dirty="0"/>
              <a:t> preprint arXiv:1511.06434</a:t>
            </a: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242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Radford, A., et al. (2015). "Unsupervised representation learning with deep convolutional generative adversarial networks." </a:t>
            </a:r>
            <a:r>
              <a:rPr lang="en-US" b="0" i="0" u="sng" baseline="0" dirty="0" err="1"/>
              <a:t>arXiv</a:t>
            </a:r>
            <a:r>
              <a:rPr lang="en-US" b="0" i="0" u="sng" baseline="0" dirty="0"/>
              <a:t> preprint arXiv:1511.06434</a:t>
            </a: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71561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Radford, A., et al. (2015). "Unsupervised representation learning with deep convolutional generative adversarial networks." </a:t>
            </a:r>
            <a:r>
              <a:rPr lang="en-US" b="0" i="0" u="sng" baseline="0" dirty="0" err="1"/>
              <a:t>arXiv</a:t>
            </a:r>
            <a:r>
              <a:rPr lang="en-US" b="0" i="0" u="sng" baseline="0" dirty="0"/>
              <a:t> preprint arXiv:1511.06434</a:t>
            </a:r>
            <a:r>
              <a:rPr lang="en-US" b="0" i="0" u="none" baseline="0" dirty="0"/>
              <a:t>.</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62481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hlinkClick r:id="rId3"/>
              </a:rPr>
              <a:t>https://www.msra.cn/zh-cn/news/features/gan-20170511</a:t>
            </a: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85772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11989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13427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25492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23076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50925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3626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2019/5/6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2019/5/6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2019/5/6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2019/5/6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2019/5/6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2019/5/6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2019/5/6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2019/5/6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2019/5/6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2019/5/6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2019/5/6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2019/5/6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tmp"/></Relationships>
</file>

<file path=ppt/slides/_rels/slide5.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tmp"/></Relationships>
</file>

<file path=ppt/slides/_rels/slide7.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tmp"/></Relationships>
</file>

<file path=ppt/slides/_rels/slide25.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856855" y="471398"/>
            <a:ext cx="10477020" cy="1356957"/>
          </a:xfrm>
          <a:prstGeom prst="rect">
            <a:avLst/>
          </a:prstGeom>
          <a:noFill/>
          <a:ln>
            <a:noFill/>
          </a:ln>
        </p:spPr>
        <p:txBody>
          <a:bodyPr spcFirstLastPara="1" wrap="square" lIns="91425" tIns="45700" rIns="91425" bIns="45700" anchor="b" anchorCtr="0">
            <a:noAutofit/>
          </a:bodyPr>
          <a:lstStyle/>
          <a:p>
            <a:pPr lvl="0">
              <a:buSzPts val="3600"/>
            </a:pPr>
            <a:r>
              <a:rPr lang="en-US" sz="3600" dirty="0">
                <a:latin typeface="Calibri" panose="020F0502020204030204" charset="0"/>
                <a:cs typeface="Calibri" panose="020F0502020204030204" charset="0"/>
              </a:rPr>
              <a:t>Generative Adversarial Nets</a:t>
            </a:r>
          </a:p>
        </p:txBody>
      </p:sp>
      <p:sp>
        <p:nvSpPr>
          <p:cNvPr id="90" name="Google Shape;90;p13"/>
          <p:cNvSpPr txBox="1">
            <a:spLocks noGrp="1"/>
          </p:cNvSpPr>
          <p:nvPr>
            <p:ph type="subTitle" idx="1"/>
          </p:nvPr>
        </p:nvSpPr>
        <p:spPr>
          <a:xfrm>
            <a:off x="1145540" y="2339975"/>
            <a:ext cx="9899650" cy="1039495"/>
          </a:xfrm>
          <a:prstGeom prst="rect">
            <a:avLst/>
          </a:prstGeom>
          <a:noFill/>
          <a:ln>
            <a:noFill/>
          </a:ln>
        </p:spPr>
        <p:txBody>
          <a:bodyPr spcFirstLastPara="1" wrap="square" lIns="91425" tIns="45700" rIns="91425" bIns="45700" anchor="t" anchorCtr="0">
            <a:noAutofit/>
          </a:bodyPr>
          <a:lstStyle/>
          <a:p>
            <a:pPr lvl="0">
              <a:spcBef>
                <a:spcPts val="0"/>
              </a:spcBef>
              <a:buSzPts val="2800"/>
            </a:pPr>
            <a:r>
              <a:rPr lang="es-ES" altLang="zh-CN" dirty="0"/>
              <a:t>Ian J. Goodfellow, Jean Pouget-Abadie, Mehdi Mirza, Bing Xu, David Warde-Farley, Sherjil Ozair, Aaron Courville, Yoshua Bengio</a:t>
            </a:r>
            <a:endParaRPr sz="2600" dirty="0"/>
          </a:p>
        </p:txBody>
      </p:sp>
      <p:sp>
        <p:nvSpPr>
          <p:cNvPr id="91" name="Google Shape;91;p13"/>
          <p:cNvSpPr txBox="1">
            <a:spLocks noGrp="1"/>
          </p:cNvSpPr>
          <p:nvPr>
            <p:ph type="sldNum" idx="12"/>
          </p:nvPr>
        </p:nvSpPr>
        <p:spPr>
          <a:xfrm>
            <a:off x="8354568" y="6485003"/>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lang="en-US"/>
          </a:p>
        </p:txBody>
      </p:sp>
      <p:sp>
        <p:nvSpPr>
          <p:cNvPr id="92" name="Google Shape;92;p13"/>
          <p:cNvSpPr txBox="1"/>
          <p:nvPr/>
        </p:nvSpPr>
        <p:spPr>
          <a:xfrm>
            <a:off x="1048428" y="3891090"/>
            <a:ext cx="10095142" cy="902739"/>
          </a:xfrm>
          <a:prstGeom prst="rect">
            <a:avLst/>
          </a:prstGeom>
          <a:noFill/>
          <a:ln>
            <a:noFill/>
          </a:ln>
        </p:spPr>
        <p:txBody>
          <a:bodyPr spcFirstLastPara="1" wrap="square" lIns="91425" tIns="45700" rIns="91425" bIns="45700" anchor="t" anchorCtr="0">
            <a:noAutofit/>
          </a:bodyPr>
          <a:lstStyle/>
          <a:p>
            <a:pPr lvl="0" algn="ctr">
              <a:lnSpc>
                <a:spcPct val="90000"/>
              </a:lnSpc>
              <a:buClr>
                <a:schemeClr val="dk1"/>
              </a:buClr>
              <a:buSzPts val="2800"/>
            </a:pPr>
            <a:r>
              <a:rPr lang="en-US" sz="2800" dirty="0">
                <a:solidFill>
                  <a:schemeClr val="dk1"/>
                </a:solidFill>
                <a:latin typeface="Calibri" panose="020F0502020204030204" charset="0"/>
                <a:ea typeface="Questrial" panose="02000000000000000000"/>
                <a:cs typeface="Calibri" panose="020F0502020204030204" charset="0"/>
                <a:sym typeface="Questrial" panose="02000000000000000000"/>
              </a:rPr>
              <a:t>	</a:t>
            </a:r>
          </a:p>
          <a:p>
            <a:pPr lvl="0" algn="ctr">
              <a:lnSpc>
                <a:spcPct val="90000"/>
              </a:lnSpc>
              <a:buClr>
                <a:schemeClr val="dk1"/>
              </a:buClr>
              <a:buSzPts val="2800"/>
            </a:pPr>
            <a:r>
              <a:rPr lang="en-US" sz="2800" b="1" dirty="0">
                <a:solidFill>
                  <a:schemeClr val="dk1"/>
                </a:solidFill>
                <a:latin typeface="Calibri" panose="020F0502020204030204" charset="0"/>
                <a:ea typeface="Questrial" panose="02000000000000000000"/>
                <a:cs typeface="Calibri" panose="020F0502020204030204" charset="0"/>
                <a:sym typeface="Questrial" panose="02000000000000000000"/>
              </a:rPr>
              <a:t>Advances in Neural Information Processing Systems 27 (NIPS 2014)</a:t>
            </a:r>
            <a:r>
              <a:rPr lang="zh-CN" altLang="en-US" sz="2800" b="1" dirty="0">
                <a:solidFill>
                  <a:schemeClr val="dk1"/>
                </a:solidFill>
                <a:latin typeface="Calibri" panose="020F0502020204030204" charset="0"/>
                <a:ea typeface="Questrial" panose="02000000000000000000"/>
                <a:cs typeface="Calibri" panose="020F0502020204030204" charset="0"/>
                <a:sym typeface="Questrial" panose="02000000000000000000"/>
              </a:rPr>
              <a:t>， </a:t>
            </a:r>
            <a:r>
              <a:rPr lang="en-US" altLang="zh-CN" sz="2800" b="1" dirty="0">
                <a:solidFill>
                  <a:schemeClr val="dk1"/>
                </a:solidFill>
                <a:latin typeface="Calibri" panose="020F0502020204030204" charset="0"/>
                <a:ea typeface="Questrial" panose="02000000000000000000"/>
                <a:cs typeface="Calibri" panose="020F0502020204030204" charset="0"/>
                <a:sym typeface="Questrial" panose="02000000000000000000"/>
              </a:rPr>
              <a:t>2672-2680</a:t>
            </a:r>
            <a:r>
              <a:rPr lang="en-US" sz="2800" b="1" dirty="0">
                <a:solidFill>
                  <a:schemeClr val="dk1"/>
                </a:solidFill>
                <a:latin typeface="Calibri" panose="020F0502020204030204" charset="0"/>
                <a:ea typeface="Questrial" panose="02000000000000000000"/>
                <a:cs typeface="Calibri" panose="020F0502020204030204" charset="0"/>
                <a:sym typeface="Questrial" panose="02000000000000000000"/>
              </a:rPr>
              <a:t>. Curran Associates, Inc.</a:t>
            </a:r>
            <a:endParaRPr lang="en-US" sz="2800"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
        <p:nvSpPr>
          <p:cNvPr id="93" name="Google Shape;93;p13"/>
          <p:cNvSpPr txBox="1"/>
          <p:nvPr/>
        </p:nvSpPr>
        <p:spPr>
          <a:xfrm>
            <a:off x="1192823" y="5265553"/>
            <a:ext cx="9806355" cy="9027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Presenter: </a:t>
            </a:r>
            <a:r>
              <a:rPr lang="en-US" sz="2800" b="0" i="0" u="none" strike="noStrike" cap="none" dirty="0" err="1">
                <a:solidFill>
                  <a:schemeClr val="dk1"/>
                </a:solidFill>
                <a:latin typeface="Calibri" panose="020F0502020204030204" charset="0"/>
                <a:ea typeface="Questrial" panose="02000000000000000000"/>
                <a:cs typeface="Calibri" panose="020F0502020204030204" charset="0"/>
                <a:sym typeface="Questrial" panose="02000000000000000000"/>
              </a:rPr>
              <a:t>KeXin</a:t>
            </a: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 Zhu</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a:p>
            <a:pPr marL="0" marR="0" lvl="0" indent="0" algn="ctr" rtl="0">
              <a:lnSpc>
                <a:spcPct val="90000"/>
              </a:lnSpc>
              <a:spcBef>
                <a:spcPts val="100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Date: 2019/05/06</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 (1/2)</a:t>
            </a:r>
          </a:p>
        </p:txBody>
      </p:sp>
      <p:sp>
        <p:nvSpPr>
          <p:cNvPr id="99" name="Google Shape;99;p14"/>
          <p:cNvSpPr txBox="1">
            <a:spLocks noGrp="1"/>
          </p:cNvSpPr>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dirty="0"/>
              <a:t>We propose a new framework for estimating generative models via an adversarial process, in which we simultaneously train two models: a generative model G that captures the data distribution, and a discriminative model D that estimates the probability that a sample came from the training data rather than G. The training procedure for G is to maximize the probability of D making a mistake. This framework corresponds to a minimax two-player game. </a:t>
            </a:r>
          </a:p>
        </p:txBody>
      </p:sp>
      <p:sp>
        <p:nvSpPr>
          <p:cNvPr id="100" name="Google Shape;100;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 (2/2)</a:t>
            </a:r>
          </a:p>
        </p:txBody>
      </p:sp>
      <p:sp>
        <p:nvSpPr>
          <p:cNvPr id="106" name="Google Shape;106;p15"/>
          <p:cNvSpPr txBox="1">
            <a:spLocks noGrp="1"/>
          </p:cNvSpPr>
          <p:nvPr>
            <p:ph type="body" idx="1"/>
          </p:nvPr>
        </p:nvSpPr>
        <p:spPr>
          <a:xfrm>
            <a:off x="838200" y="1690690"/>
            <a:ext cx="10011032"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altLang="zh-CN" dirty="0"/>
              <a:t>In the space of arbitrary functions G and D, a unique solution exists, with G recovering the training data distribution and D equal to 1/2 everywhere. In the case where G and D are defined by multilayer </a:t>
            </a:r>
            <a:r>
              <a:rPr lang="en-US" altLang="zh-CN" dirty="0" err="1"/>
              <a:t>perceptrons</a:t>
            </a:r>
            <a:r>
              <a:rPr lang="en-US" altLang="zh-CN" dirty="0"/>
              <a:t>, the entire system can be trained with backpropagation. There is no need for any Markov chains or unrolled approximate inference networks during either training or generation of samples. Experiments demonstrate the potential of the framework through qualitative and quantitative evaluation of the generated samples.</a:t>
            </a:r>
          </a:p>
        </p:txBody>
      </p:sp>
      <p:sp>
        <p:nvSpPr>
          <p:cNvPr id="107" name="Google Shape;107;p1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Generative Adversarial Nets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lang="en-US"/>
          </a:p>
        </p:txBody>
      </p:sp>
      <p:pic>
        <p:nvPicPr>
          <p:cNvPr id="3" name="图片 2">
            <a:extLst>
              <a:ext uri="{FF2B5EF4-FFF2-40B4-BE49-F238E27FC236}">
                <a16:creationId xmlns:a16="http://schemas.microsoft.com/office/drawing/2014/main" id="{EDA1D377-C8DA-43AC-82F9-721A84885EF9}"/>
              </a:ext>
            </a:extLst>
          </p:cNvPr>
          <p:cNvPicPr>
            <a:picLocks noChangeAspect="1"/>
          </p:cNvPicPr>
          <p:nvPr/>
        </p:nvPicPr>
        <p:blipFill rotWithShape="1">
          <a:blip r:embed="rId3">
            <a:extLst>
              <a:ext uri="{28A0092B-C50C-407E-A947-70E740481C1C}">
                <a14:useLocalDpi xmlns:a14="http://schemas.microsoft.com/office/drawing/2010/main" val="0"/>
              </a:ext>
            </a:extLst>
          </a:blip>
          <a:srcRect t="13916"/>
          <a:stretch/>
        </p:blipFill>
        <p:spPr>
          <a:xfrm>
            <a:off x="813650" y="1615818"/>
            <a:ext cx="10564699" cy="524841"/>
          </a:xfrm>
          <a:prstGeom prst="rect">
            <a:avLst/>
          </a:prstGeom>
        </p:spPr>
      </p:pic>
      <p:pic>
        <p:nvPicPr>
          <p:cNvPr id="5" name="图片 4">
            <a:extLst>
              <a:ext uri="{FF2B5EF4-FFF2-40B4-BE49-F238E27FC236}">
                <a16:creationId xmlns:a16="http://schemas.microsoft.com/office/drawing/2014/main" id="{8FDD4862-BA94-4EC7-B9BF-D3F191711F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569" y="2140659"/>
            <a:ext cx="11526859" cy="3610479"/>
          </a:xfrm>
          <a:prstGeom prst="rect">
            <a:avLst/>
          </a:prstGeom>
        </p:spPr>
      </p:pic>
    </p:spTree>
    <p:extLst>
      <p:ext uri="{BB962C8B-B14F-4D97-AF65-F5344CB8AC3E}">
        <p14:creationId xmlns:p14="http://schemas.microsoft.com/office/powerpoint/2010/main" val="218260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731668" y="136523"/>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Generative Adversarial Nets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lang="en-US"/>
          </a:p>
        </p:txBody>
      </p:sp>
      <p:pic>
        <p:nvPicPr>
          <p:cNvPr id="4" name="图片 3">
            <a:extLst>
              <a:ext uri="{FF2B5EF4-FFF2-40B4-BE49-F238E27FC236}">
                <a16:creationId xmlns:a16="http://schemas.microsoft.com/office/drawing/2014/main" id="{77A7DEF5-D28F-4D74-AB99-53597C3D8B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0832" y="1279523"/>
            <a:ext cx="8070336" cy="5259391"/>
          </a:xfrm>
          <a:prstGeom prst="rect">
            <a:avLst/>
          </a:prstGeom>
        </p:spPr>
      </p:pic>
    </p:spTree>
    <p:extLst>
      <p:ext uri="{BB962C8B-B14F-4D97-AF65-F5344CB8AC3E}">
        <p14:creationId xmlns:p14="http://schemas.microsoft.com/office/powerpoint/2010/main" val="3406458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Generative Adversarial Nets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lang="en-US"/>
          </a:p>
        </p:txBody>
      </p:sp>
      <p:pic>
        <p:nvPicPr>
          <p:cNvPr id="4" name="图片 3">
            <a:extLst>
              <a:ext uri="{FF2B5EF4-FFF2-40B4-BE49-F238E27FC236}">
                <a16:creationId xmlns:a16="http://schemas.microsoft.com/office/drawing/2014/main" id="{039BFD26-A7CC-4989-B00F-22D5717C19DF}"/>
              </a:ext>
            </a:extLst>
          </p:cNvPr>
          <p:cNvPicPr>
            <a:picLocks noChangeAspect="1"/>
          </p:cNvPicPr>
          <p:nvPr/>
        </p:nvPicPr>
        <p:blipFill rotWithShape="1">
          <a:blip r:embed="rId3">
            <a:extLst>
              <a:ext uri="{28A0092B-C50C-407E-A947-70E740481C1C}">
                <a14:useLocalDpi xmlns:a14="http://schemas.microsoft.com/office/drawing/2010/main" val="0"/>
              </a:ext>
            </a:extLst>
          </a:blip>
          <a:srcRect r="35341"/>
          <a:stretch/>
        </p:blipFill>
        <p:spPr>
          <a:xfrm>
            <a:off x="2101993" y="1796619"/>
            <a:ext cx="4834023" cy="1027084"/>
          </a:xfrm>
          <a:prstGeom prst="rect">
            <a:avLst/>
          </a:prstGeom>
        </p:spPr>
      </p:pic>
      <p:pic>
        <p:nvPicPr>
          <p:cNvPr id="7" name="图片 6">
            <a:extLst>
              <a:ext uri="{FF2B5EF4-FFF2-40B4-BE49-F238E27FC236}">
                <a16:creationId xmlns:a16="http://schemas.microsoft.com/office/drawing/2014/main" id="{B53433CD-EC16-4097-814B-909D65F216A8}"/>
              </a:ext>
            </a:extLst>
          </p:cNvPr>
          <p:cNvPicPr>
            <a:picLocks noChangeAspect="1"/>
          </p:cNvPicPr>
          <p:nvPr/>
        </p:nvPicPr>
        <p:blipFill rotWithShape="1">
          <a:blip r:embed="rId4">
            <a:extLst>
              <a:ext uri="{28A0092B-C50C-407E-A947-70E740481C1C}">
                <a14:useLocalDpi xmlns:a14="http://schemas.microsoft.com/office/drawing/2010/main" val="0"/>
              </a:ext>
            </a:extLst>
          </a:blip>
          <a:srcRect t="2517" b="-1"/>
          <a:stretch/>
        </p:blipFill>
        <p:spPr>
          <a:xfrm>
            <a:off x="2101993" y="2929632"/>
            <a:ext cx="7988014" cy="3200910"/>
          </a:xfrm>
          <a:prstGeom prst="rect">
            <a:avLst/>
          </a:prstGeom>
        </p:spPr>
      </p:pic>
    </p:spTree>
    <p:extLst>
      <p:ext uri="{BB962C8B-B14F-4D97-AF65-F5344CB8AC3E}">
        <p14:creationId xmlns:p14="http://schemas.microsoft.com/office/powerpoint/2010/main" val="3431587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Generative Adversarial Nets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lang="en-US"/>
          </a:p>
        </p:txBody>
      </p:sp>
      <p:pic>
        <p:nvPicPr>
          <p:cNvPr id="4" name="图片 3">
            <a:extLst>
              <a:ext uri="{FF2B5EF4-FFF2-40B4-BE49-F238E27FC236}">
                <a16:creationId xmlns:a16="http://schemas.microsoft.com/office/drawing/2014/main" id="{8DEA8169-C7E8-48BF-8A5A-2C0F4B776E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206" y="1690690"/>
            <a:ext cx="11563587" cy="3594464"/>
          </a:xfrm>
          <a:prstGeom prst="rect">
            <a:avLst/>
          </a:prstGeom>
        </p:spPr>
      </p:pic>
    </p:spTree>
    <p:extLst>
      <p:ext uri="{BB962C8B-B14F-4D97-AF65-F5344CB8AC3E}">
        <p14:creationId xmlns:p14="http://schemas.microsoft.com/office/powerpoint/2010/main" val="1310564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Generative Adversarial Nets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lang="en-US"/>
          </a:p>
        </p:txBody>
      </p:sp>
      <p:pic>
        <p:nvPicPr>
          <p:cNvPr id="6" name="图片 5">
            <a:extLst>
              <a:ext uri="{FF2B5EF4-FFF2-40B4-BE49-F238E27FC236}">
                <a16:creationId xmlns:a16="http://schemas.microsoft.com/office/drawing/2014/main" id="{799FFB09-8A43-41D5-B6CC-A9BB04B654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8898" y="1437040"/>
            <a:ext cx="7754204" cy="5055833"/>
          </a:xfrm>
          <a:prstGeom prst="rect">
            <a:avLst/>
          </a:prstGeom>
        </p:spPr>
      </p:pic>
    </p:spTree>
    <p:extLst>
      <p:ext uri="{BB962C8B-B14F-4D97-AF65-F5344CB8AC3E}">
        <p14:creationId xmlns:p14="http://schemas.microsoft.com/office/powerpoint/2010/main" val="1054027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Deep Convolutional GANs (DCGAN)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lang="en-US"/>
          </a:p>
        </p:txBody>
      </p:sp>
      <p:pic>
        <p:nvPicPr>
          <p:cNvPr id="7" name="图片 6">
            <a:extLst>
              <a:ext uri="{FF2B5EF4-FFF2-40B4-BE49-F238E27FC236}">
                <a16:creationId xmlns:a16="http://schemas.microsoft.com/office/drawing/2014/main" id="{315AA903-5E2E-4B35-A405-CE21833154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827" y="2095130"/>
            <a:ext cx="11492346" cy="3180996"/>
          </a:xfrm>
          <a:prstGeom prst="rect">
            <a:avLst/>
          </a:prstGeom>
        </p:spPr>
      </p:pic>
    </p:spTree>
    <p:extLst>
      <p:ext uri="{BB962C8B-B14F-4D97-AF65-F5344CB8AC3E}">
        <p14:creationId xmlns:p14="http://schemas.microsoft.com/office/powerpoint/2010/main" val="1148664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Deep Convolutional GANs (DCGAN)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lang="en-US"/>
          </a:p>
        </p:txBody>
      </p:sp>
      <p:pic>
        <p:nvPicPr>
          <p:cNvPr id="5" name="图片 4">
            <a:extLst>
              <a:ext uri="{FF2B5EF4-FFF2-40B4-BE49-F238E27FC236}">
                <a16:creationId xmlns:a16="http://schemas.microsoft.com/office/drawing/2014/main" id="{69018E21-80D4-4AAD-B81B-386AB9FB2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5793" y="1690690"/>
            <a:ext cx="9860414" cy="4030249"/>
          </a:xfrm>
          <a:prstGeom prst="rect">
            <a:avLst/>
          </a:prstGeom>
        </p:spPr>
      </p:pic>
    </p:spTree>
    <p:extLst>
      <p:ext uri="{BB962C8B-B14F-4D97-AF65-F5344CB8AC3E}">
        <p14:creationId xmlns:p14="http://schemas.microsoft.com/office/powerpoint/2010/main" val="2510259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Deep Convolutional GANs (DCGAN)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lang="en-US"/>
          </a:p>
        </p:txBody>
      </p:sp>
      <p:pic>
        <p:nvPicPr>
          <p:cNvPr id="1026" name="Picture 2" descr="http://ww2.sinaimg.cn/large/8c2b2f6fjw1f99h94gnlbg20az0aldi4.gif">
            <a:extLst>
              <a:ext uri="{FF2B5EF4-FFF2-40B4-BE49-F238E27FC236}">
                <a16:creationId xmlns:a16="http://schemas.microsoft.com/office/drawing/2014/main" id="{27757EF0-00AF-4AE0-8CCB-2F766720163B}"/>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214812" y="2111637"/>
            <a:ext cx="3762375" cy="362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8441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14206"/>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Deep Convolutional GANs (DCGAN)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lang="en-US"/>
          </a:p>
        </p:txBody>
      </p:sp>
      <p:pic>
        <p:nvPicPr>
          <p:cNvPr id="3" name="图片 2">
            <a:extLst>
              <a:ext uri="{FF2B5EF4-FFF2-40B4-BE49-F238E27FC236}">
                <a16:creationId xmlns:a16="http://schemas.microsoft.com/office/drawing/2014/main" id="{67C299E8-CFC7-40E4-A9B9-D9DFF98778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6000" y="1368871"/>
            <a:ext cx="7920000" cy="5158380"/>
          </a:xfrm>
          <a:prstGeom prst="rect">
            <a:avLst/>
          </a:prstGeom>
        </p:spPr>
      </p:pic>
    </p:spTree>
    <p:extLst>
      <p:ext uri="{BB962C8B-B14F-4D97-AF65-F5344CB8AC3E}">
        <p14:creationId xmlns:p14="http://schemas.microsoft.com/office/powerpoint/2010/main" val="450118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14206"/>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Deep Convolutional GANs (DCGAN)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lang="en-US"/>
          </a:p>
        </p:txBody>
      </p:sp>
      <p:pic>
        <p:nvPicPr>
          <p:cNvPr id="4" name="图片 3">
            <a:extLst>
              <a:ext uri="{FF2B5EF4-FFF2-40B4-BE49-F238E27FC236}">
                <a16:creationId xmlns:a16="http://schemas.microsoft.com/office/drawing/2014/main" id="{D0020719-ED84-4E98-BD05-62BA53C712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6000" y="1346131"/>
            <a:ext cx="7920000" cy="4909769"/>
          </a:xfrm>
          <a:prstGeom prst="rect">
            <a:avLst/>
          </a:prstGeom>
        </p:spPr>
      </p:pic>
    </p:spTree>
    <p:extLst>
      <p:ext uri="{BB962C8B-B14F-4D97-AF65-F5344CB8AC3E}">
        <p14:creationId xmlns:p14="http://schemas.microsoft.com/office/powerpoint/2010/main" val="2722235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Deep Convolutional GANs (DCGAN)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lang="en-US"/>
          </a:p>
        </p:txBody>
      </p:sp>
      <p:pic>
        <p:nvPicPr>
          <p:cNvPr id="3" name="图片 2">
            <a:extLst>
              <a:ext uri="{FF2B5EF4-FFF2-40B4-BE49-F238E27FC236}">
                <a16:creationId xmlns:a16="http://schemas.microsoft.com/office/drawing/2014/main" id="{F8B28EB2-BE6E-4EF3-8AAA-958072AEC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5209" y="1690690"/>
            <a:ext cx="8221581" cy="4100168"/>
          </a:xfrm>
          <a:prstGeom prst="rect">
            <a:avLst/>
          </a:prstGeom>
        </p:spPr>
      </p:pic>
    </p:spTree>
    <p:extLst>
      <p:ext uri="{BB962C8B-B14F-4D97-AF65-F5344CB8AC3E}">
        <p14:creationId xmlns:p14="http://schemas.microsoft.com/office/powerpoint/2010/main" val="3113204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Deep Convolutional GANs (DCGAN)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lang="en-US"/>
          </a:p>
        </p:txBody>
      </p:sp>
      <p:pic>
        <p:nvPicPr>
          <p:cNvPr id="9" name="图片 8">
            <a:extLst>
              <a:ext uri="{FF2B5EF4-FFF2-40B4-BE49-F238E27FC236}">
                <a16:creationId xmlns:a16="http://schemas.microsoft.com/office/drawing/2014/main" id="{F21ECEF1-854D-43C2-9DE1-51E551091B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42" y="1536029"/>
            <a:ext cx="7640116" cy="4820323"/>
          </a:xfrm>
          <a:prstGeom prst="rect">
            <a:avLst/>
          </a:prstGeom>
        </p:spPr>
      </p:pic>
    </p:spTree>
    <p:extLst>
      <p:ext uri="{BB962C8B-B14F-4D97-AF65-F5344CB8AC3E}">
        <p14:creationId xmlns:p14="http://schemas.microsoft.com/office/powerpoint/2010/main" val="2261388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Deep Convolutional GANs (DCGAN)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lang="en-US"/>
          </a:p>
        </p:txBody>
      </p:sp>
      <p:pic>
        <p:nvPicPr>
          <p:cNvPr id="7" name="图片 6">
            <a:extLst>
              <a:ext uri="{FF2B5EF4-FFF2-40B4-BE49-F238E27FC236}">
                <a16:creationId xmlns:a16="http://schemas.microsoft.com/office/drawing/2014/main" id="{9AB52741-40B2-4E48-AAB5-11165FBDBF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0231" y="1690690"/>
            <a:ext cx="7611537" cy="3877216"/>
          </a:xfrm>
          <a:prstGeom prst="rect">
            <a:avLst/>
          </a:prstGeom>
        </p:spPr>
      </p:pic>
    </p:spTree>
    <p:extLst>
      <p:ext uri="{BB962C8B-B14F-4D97-AF65-F5344CB8AC3E}">
        <p14:creationId xmlns:p14="http://schemas.microsoft.com/office/powerpoint/2010/main" val="3190845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Deep Convolutional GANs (DCGAN)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lang="en-US"/>
          </a:p>
        </p:txBody>
      </p:sp>
      <p:pic>
        <p:nvPicPr>
          <p:cNvPr id="3" name="图片 2">
            <a:extLst>
              <a:ext uri="{FF2B5EF4-FFF2-40B4-BE49-F238E27FC236}">
                <a16:creationId xmlns:a16="http://schemas.microsoft.com/office/drawing/2014/main" id="{4A87F7E1-81B7-4F41-8889-5E2ED1B07F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1178" y="1690690"/>
            <a:ext cx="7649643" cy="3934374"/>
          </a:xfrm>
          <a:prstGeom prst="rect">
            <a:avLst/>
          </a:prstGeom>
        </p:spPr>
      </p:pic>
    </p:spTree>
    <p:extLst>
      <p:ext uri="{BB962C8B-B14F-4D97-AF65-F5344CB8AC3E}">
        <p14:creationId xmlns:p14="http://schemas.microsoft.com/office/powerpoint/2010/main" val="883501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Deep Convolutional GANs (DCGAN)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lang="en-US"/>
          </a:p>
        </p:txBody>
      </p:sp>
      <p:pic>
        <p:nvPicPr>
          <p:cNvPr id="3" name="图片 2">
            <a:extLst>
              <a:ext uri="{FF2B5EF4-FFF2-40B4-BE49-F238E27FC236}">
                <a16:creationId xmlns:a16="http://schemas.microsoft.com/office/drawing/2014/main" id="{65EAA821-56FF-4AA7-BFAC-2F1698DEEA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7389" y="2332597"/>
            <a:ext cx="7497221" cy="3381847"/>
          </a:xfrm>
          <a:prstGeom prst="rect">
            <a:avLst/>
          </a:prstGeom>
        </p:spPr>
      </p:pic>
    </p:spTree>
    <p:extLst>
      <p:ext uri="{BB962C8B-B14F-4D97-AF65-F5344CB8AC3E}">
        <p14:creationId xmlns:p14="http://schemas.microsoft.com/office/powerpoint/2010/main" val="2971519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Deep Convolutional GANs (DCGAN)</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lang="en-US"/>
          </a:p>
        </p:txBody>
      </p:sp>
      <p:pic>
        <p:nvPicPr>
          <p:cNvPr id="9" name="图片 8">
            <a:extLst>
              <a:ext uri="{FF2B5EF4-FFF2-40B4-BE49-F238E27FC236}">
                <a16:creationId xmlns:a16="http://schemas.microsoft.com/office/drawing/2014/main" id="{F21ECEF1-854D-43C2-9DE1-51E551091B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42" y="1536029"/>
            <a:ext cx="7640116" cy="4820323"/>
          </a:xfrm>
          <a:prstGeom prst="rect">
            <a:avLst/>
          </a:prstGeom>
        </p:spPr>
      </p:pic>
    </p:spTree>
    <p:extLst>
      <p:ext uri="{BB962C8B-B14F-4D97-AF65-F5344CB8AC3E}">
        <p14:creationId xmlns:p14="http://schemas.microsoft.com/office/powerpoint/2010/main" val="3522908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731668" y="136523"/>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3 Semi-supervised learning</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lang="en-US"/>
          </a:p>
        </p:txBody>
      </p:sp>
      <p:pic>
        <p:nvPicPr>
          <p:cNvPr id="3" name="图片 2">
            <a:extLst>
              <a:ext uri="{FF2B5EF4-FFF2-40B4-BE49-F238E27FC236}">
                <a16:creationId xmlns:a16="http://schemas.microsoft.com/office/drawing/2014/main" id="{E1732EC4-CD84-4F92-8153-DB6D93D1015B}"/>
              </a:ext>
            </a:extLst>
          </p:cNvPr>
          <p:cNvPicPr>
            <a:picLocks noChangeAspect="1"/>
          </p:cNvPicPr>
          <p:nvPr/>
        </p:nvPicPr>
        <p:blipFill rotWithShape="1">
          <a:blip r:embed="rId3">
            <a:extLst>
              <a:ext uri="{28A0092B-C50C-407E-A947-70E740481C1C}">
                <a14:useLocalDpi xmlns:a14="http://schemas.microsoft.com/office/drawing/2010/main" val="0"/>
              </a:ext>
            </a:extLst>
          </a:blip>
          <a:srcRect t="1840" b="1"/>
          <a:stretch/>
        </p:blipFill>
        <p:spPr>
          <a:xfrm>
            <a:off x="1668109" y="1947633"/>
            <a:ext cx="8855782" cy="2870550"/>
          </a:xfrm>
          <a:prstGeom prst="rect">
            <a:avLst/>
          </a:prstGeom>
        </p:spPr>
      </p:pic>
    </p:spTree>
    <p:extLst>
      <p:ext uri="{BB962C8B-B14F-4D97-AF65-F5344CB8AC3E}">
        <p14:creationId xmlns:p14="http://schemas.microsoft.com/office/powerpoint/2010/main" val="186268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4</a:t>
            </a:r>
            <a:r>
              <a:rPr lang="zh-CN" altLang="en-US" dirty="0">
                <a:sym typeface="+mn-ea"/>
              </a:rPr>
              <a:t> </a:t>
            </a:r>
            <a:r>
              <a:rPr lang="en-US" dirty="0">
                <a:sym typeface="+mn-ea"/>
              </a:rPr>
              <a:t>Scenario Generation Using Generative Adversarial Networks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lang="en-US"/>
          </a:p>
        </p:txBody>
      </p:sp>
      <p:pic>
        <p:nvPicPr>
          <p:cNvPr id="5" name="图片 4">
            <a:extLst>
              <a:ext uri="{FF2B5EF4-FFF2-40B4-BE49-F238E27FC236}">
                <a16:creationId xmlns:a16="http://schemas.microsoft.com/office/drawing/2014/main" id="{95569CE0-DD0A-466E-B67C-A8E84CEDCE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1936" y="1684347"/>
            <a:ext cx="7792537" cy="4791744"/>
          </a:xfrm>
          <a:prstGeom prst="rect">
            <a:avLst/>
          </a:prstGeom>
        </p:spPr>
      </p:pic>
    </p:spTree>
    <p:extLst>
      <p:ext uri="{BB962C8B-B14F-4D97-AF65-F5344CB8AC3E}">
        <p14:creationId xmlns:p14="http://schemas.microsoft.com/office/powerpoint/2010/main" val="3071440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4</a:t>
            </a:r>
            <a:r>
              <a:rPr lang="zh-CN" altLang="en-US" dirty="0">
                <a:sym typeface="+mn-ea"/>
              </a:rPr>
              <a:t> </a:t>
            </a:r>
            <a:r>
              <a:rPr lang="en-US" dirty="0">
                <a:sym typeface="+mn-ea"/>
              </a:rPr>
              <a:t>Scenario Generation Using Generative Adversarial Networks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lang="en-US"/>
          </a:p>
        </p:txBody>
      </p:sp>
      <p:pic>
        <p:nvPicPr>
          <p:cNvPr id="3" name="图片 2">
            <a:extLst>
              <a:ext uri="{FF2B5EF4-FFF2-40B4-BE49-F238E27FC236}">
                <a16:creationId xmlns:a16="http://schemas.microsoft.com/office/drawing/2014/main" id="{10C94713-C509-43F8-A165-44FD3D414E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8124" y="1691005"/>
            <a:ext cx="7155751" cy="4610298"/>
          </a:xfrm>
          <a:prstGeom prst="rect">
            <a:avLst/>
          </a:prstGeom>
        </p:spPr>
      </p:pic>
    </p:spTree>
    <p:extLst>
      <p:ext uri="{BB962C8B-B14F-4D97-AF65-F5344CB8AC3E}">
        <p14:creationId xmlns:p14="http://schemas.microsoft.com/office/powerpoint/2010/main" val="3903123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4</a:t>
            </a:r>
            <a:r>
              <a:rPr lang="zh-CN" altLang="en-US" dirty="0">
                <a:sym typeface="+mn-ea"/>
              </a:rPr>
              <a:t> </a:t>
            </a:r>
            <a:r>
              <a:rPr lang="en-US" dirty="0">
                <a:sym typeface="+mn-ea"/>
              </a:rPr>
              <a:t>Scenario Generation Using Generative Adversarial Networks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lang="en-US"/>
          </a:p>
        </p:txBody>
      </p:sp>
      <p:pic>
        <p:nvPicPr>
          <p:cNvPr id="3" name="图片 2">
            <a:extLst>
              <a:ext uri="{FF2B5EF4-FFF2-40B4-BE49-F238E27FC236}">
                <a16:creationId xmlns:a16="http://schemas.microsoft.com/office/drawing/2014/main" id="{776CAFC7-F09E-4E1E-B536-647B0F2A83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3364" y="1691005"/>
            <a:ext cx="4565272" cy="5134131"/>
          </a:xfrm>
          <a:prstGeom prst="rect">
            <a:avLst/>
          </a:prstGeom>
        </p:spPr>
      </p:pic>
    </p:spTree>
    <p:extLst>
      <p:ext uri="{BB962C8B-B14F-4D97-AF65-F5344CB8AC3E}">
        <p14:creationId xmlns:p14="http://schemas.microsoft.com/office/powerpoint/2010/main" val="2388552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4</a:t>
            </a:r>
            <a:r>
              <a:rPr lang="zh-CN" altLang="en-US" dirty="0">
                <a:sym typeface="+mn-ea"/>
              </a:rPr>
              <a:t> </a:t>
            </a:r>
            <a:r>
              <a:rPr lang="en-US" dirty="0">
                <a:sym typeface="+mn-ea"/>
              </a:rPr>
              <a:t>Scenario Generation Using Generative Adversarial Networks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lang="en-US"/>
          </a:p>
        </p:txBody>
      </p:sp>
      <p:pic>
        <p:nvPicPr>
          <p:cNvPr id="3" name="图片 2">
            <a:extLst>
              <a:ext uri="{FF2B5EF4-FFF2-40B4-BE49-F238E27FC236}">
                <a16:creationId xmlns:a16="http://schemas.microsoft.com/office/drawing/2014/main" id="{8EED92F1-25AB-4444-B4BB-5017AA870085}"/>
              </a:ext>
            </a:extLst>
          </p:cNvPr>
          <p:cNvPicPr>
            <a:picLocks noChangeAspect="1"/>
          </p:cNvPicPr>
          <p:nvPr/>
        </p:nvPicPr>
        <p:blipFill rotWithShape="1">
          <a:blip r:embed="rId3">
            <a:extLst>
              <a:ext uri="{28A0092B-C50C-407E-A947-70E740481C1C}">
                <a14:useLocalDpi xmlns:a14="http://schemas.microsoft.com/office/drawing/2010/main" val="0"/>
              </a:ext>
            </a:extLst>
          </a:blip>
          <a:srcRect t="27723"/>
          <a:stretch/>
        </p:blipFill>
        <p:spPr>
          <a:xfrm>
            <a:off x="2807766" y="2880750"/>
            <a:ext cx="5477639" cy="695422"/>
          </a:xfrm>
          <a:prstGeom prst="rect">
            <a:avLst/>
          </a:prstGeom>
        </p:spPr>
      </p:pic>
      <p:pic>
        <p:nvPicPr>
          <p:cNvPr id="5" name="图片 4">
            <a:extLst>
              <a:ext uri="{FF2B5EF4-FFF2-40B4-BE49-F238E27FC236}">
                <a16:creationId xmlns:a16="http://schemas.microsoft.com/office/drawing/2014/main" id="{989630E7-0D99-4200-8467-C6E44C3ECB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7766" y="1821459"/>
            <a:ext cx="4877481" cy="695422"/>
          </a:xfrm>
          <a:prstGeom prst="rect">
            <a:avLst/>
          </a:prstGeom>
        </p:spPr>
      </p:pic>
      <p:pic>
        <p:nvPicPr>
          <p:cNvPr id="1026" name="Picture 2" descr="http://upload-images.jianshu.io/upload_images/3596589-72a9092dd247615f.png?imageMogr2/auto-orient/strip%7CimageView2/2/w/1240">
            <a:extLst>
              <a:ext uri="{FF2B5EF4-FFF2-40B4-BE49-F238E27FC236}">
                <a16:creationId xmlns:a16="http://schemas.microsoft.com/office/drawing/2014/main" id="{330E6546-FE60-41AD-B022-D1CE5A8BC8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7766" y="4765917"/>
            <a:ext cx="4677480" cy="647651"/>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106;p15">
            <a:extLst>
              <a:ext uri="{FF2B5EF4-FFF2-40B4-BE49-F238E27FC236}">
                <a16:creationId xmlns:a16="http://schemas.microsoft.com/office/drawing/2014/main" id="{091B57DF-B828-4935-88EE-F9EEC5AB6F19}"/>
              </a:ext>
            </a:extLst>
          </p:cNvPr>
          <p:cNvSpPr txBox="1">
            <a:spLocks/>
          </p:cNvSpPr>
          <p:nvPr/>
        </p:nvSpPr>
        <p:spPr>
          <a:xfrm>
            <a:off x="952689" y="1691005"/>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Font typeface="Arial" panose="020B0604020202020204" pitchFamily="34" charset="0"/>
              <a:buNone/>
            </a:pPr>
            <a:r>
              <a:rPr lang="en-US" altLang="zh-CN" dirty="0"/>
              <a:t>KL</a:t>
            </a:r>
            <a:r>
              <a:rPr lang="zh-CN" altLang="en-US" dirty="0"/>
              <a:t>散度：</a:t>
            </a:r>
            <a:endParaRPr lang="en-US" altLang="zh-CN" dirty="0"/>
          </a:p>
          <a:p>
            <a:pPr marL="0" indent="0">
              <a:spcBef>
                <a:spcPts val="0"/>
              </a:spcBef>
              <a:buSzPts val="2800"/>
              <a:buFont typeface="Arial" panose="020B0604020202020204" pitchFamily="34" charset="0"/>
              <a:buNone/>
            </a:pPr>
            <a:endParaRPr lang="en-US" altLang="zh-CN" dirty="0"/>
          </a:p>
          <a:p>
            <a:pPr marL="0" indent="0">
              <a:spcBef>
                <a:spcPts val="0"/>
              </a:spcBef>
              <a:buSzPts val="2800"/>
              <a:buFont typeface="Arial" panose="020B0604020202020204" pitchFamily="34" charset="0"/>
              <a:buNone/>
            </a:pPr>
            <a:endParaRPr lang="en-US" altLang="zh-CN" dirty="0"/>
          </a:p>
          <a:p>
            <a:pPr marL="0" indent="0">
              <a:spcBef>
                <a:spcPts val="0"/>
              </a:spcBef>
              <a:buSzPts val="2800"/>
              <a:buFont typeface="Arial" panose="020B0604020202020204" pitchFamily="34" charset="0"/>
              <a:buNone/>
            </a:pPr>
            <a:r>
              <a:rPr lang="en-US" altLang="zh-CN" dirty="0"/>
              <a:t>JS</a:t>
            </a:r>
            <a:r>
              <a:rPr lang="zh-CN" altLang="en-US" dirty="0"/>
              <a:t>散度：</a:t>
            </a:r>
            <a:endParaRPr lang="en-US" altLang="zh-CN" dirty="0"/>
          </a:p>
          <a:p>
            <a:pPr marL="0" indent="0">
              <a:spcBef>
                <a:spcPts val="0"/>
              </a:spcBef>
              <a:buSzPts val="2800"/>
              <a:buFont typeface="Arial" panose="020B0604020202020204" pitchFamily="34" charset="0"/>
              <a:buNone/>
            </a:pPr>
            <a:endParaRPr lang="en-US" altLang="zh-CN" dirty="0"/>
          </a:p>
          <a:p>
            <a:pPr marL="0" indent="0">
              <a:spcBef>
                <a:spcPts val="0"/>
              </a:spcBef>
              <a:buSzPts val="2800"/>
              <a:buFont typeface="Arial" panose="020B0604020202020204" pitchFamily="34" charset="0"/>
              <a:buNone/>
            </a:pPr>
            <a:endParaRPr lang="en-US" altLang="zh-CN" dirty="0"/>
          </a:p>
          <a:p>
            <a:pPr marL="0" indent="0">
              <a:spcBef>
                <a:spcPts val="0"/>
              </a:spcBef>
              <a:buSzPts val="2800"/>
              <a:buNone/>
            </a:pPr>
            <a:r>
              <a:rPr lang="en-US" altLang="zh-CN" dirty="0"/>
              <a:t>Wasserstein</a:t>
            </a:r>
            <a:r>
              <a:rPr lang="zh-CN" altLang="en-US" dirty="0"/>
              <a:t>距離：</a:t>
            </a:r>
            <a:endParaRPr lang="en-US" altLang="zh-CN" dirty="0"/>
          </a:p>
          <a:p>
            <a:pPr marL="0" indent="0">
              <a:spcBef>
                <a:spcPts val="0"/>
              </a:spcBef>
              <a:buSzPts val="2800"/>
              <a:buFont typeface="Arial" panose="020B0604020202020204" pitchFamily="34" charset="0"/>
              <a:buNone/>
            </a:pPr>
            <a:endParaRPr lang="en-US" altLang="zh-CN" dirty="0"/>
          </a:p>
        </p:txBody>
      </p:sp>
    </p:spTree>
    <p:extLst>
      <p:ext uri="{BB962C8B-B14F-4D97-AF65-F5344CB8AC3E}">
        <p14:creationId xmlns:p14="http://schemas.microsoft.com/office/powerpoint/2010/main" val="2856619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4</a:t>
            </a:r>
            <a:r>
              <a:rPr lang="zh-CN" altLang="en-US" dirty="0">
                <a:sym typeface="+mn-ea"/>
              </a:rPr>
              <a:t> </a:t>
            </a:r>
            <a:r>
              <a:rPr lang="en-US" dirty="0">
                <a:sym typeface="+mn-ea"/>
              </a:rPr>
              <a:t>Scenario Generation Using Generative Adversarial Networks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lang="en-US"/>
          </a:p>
        </p:txBody>
      </p:sp>
      <p:pic>
        <p:nvPicPr>
          <p:cNvPr id="3" name="图片 2">
            <a:extLst>
              <a:ext uri="{FF2B5EF4-FFF2-40B4-BE49-F238E27FC236}">
                <a16:creationId xmlns:a16="http://schemas.microsoft.com/office/drawing/2014/main" id="{9B3DEF68-D4BC-4BE0-B90B-1BD68484EE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1957" y="1691005"/>
            <a:ext cx="4828085" cy="4869402"/>
          </a:xfrm>
          <a:prstGeom prst="rect">
            <a:avLst/>
          </a:prstGeom>
        </p:spPr>
      </p:pic>
    </p:spTree>
    <p:extLst>
      <p:ext uri="{BB962C8B-B14F-4D97-AF65-F5344CB8AC3E}">
        <p14:creationId xmlns:p14="http://schemas.microsoft.com/office/powerpoint/2010/main" val="4251345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562610" y="365125"/>
            <a:ext cx="10791190" cy="1325880"/>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sym typeface="+mn-ea"/>
              </a:rPr>
              <a:t>4</a:t>
            </a:r>
            <a:r>
              <a:rPr lang="zh-CN" altLang="en-US" dirty="0">
                <a:sym typeface="+mn-ea"/>
              </a:rPr>
              <a:t> </a:t>
            </a:r>
            <a:r>
              <a:rPr lang="en-US" dirty="0">
                <a:sym typeface="+mn-ea"/>
              </a:rPr>
              <a:t>Scenario Generation Using Generative Adversarial Networks</a:t>
            </a:r>
            <a:endParaRPr lang="en-US" dirty="0"/>
          </a:p>
        </p:txBody>
      </p:sp>
      <p:sp>
        <p:nvSpPr>
          <p:cNvPr id="121" name="Google Shape;121;p1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lang="en-US"/>
          </a:p>
        </p:txBody>
      </p:sp>
      <p:pic>
        <p:nvPicPr>
          <p:cNvPr id="3" name="图片 2">
            <a:extLst>
              <a:ext uri="{FF2B5EF4-FFF2-40B4-BE49-F238E27FC236}">
                <a16:creationId xmlns:a16="http://schemas.microsoft.com/office/drawing/2014/main" id="{AEABFB48-C462-438D-B549-F3B437CB43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571" y="1691005"/>
            <a:ext cx="11478857" cy="4075623"/>
          </a:xfrm>
          <a:prstGeom prst="rect">
            <a:avLst/>
          </a:prstGeom>
        </p:spPr>
      </p:pic>
    </p:spTree>
    <p:extLst>
      <p:ext uri="{BB962C8B-B14F-4D97-AF65-F5344CB8AC3E}">
        <p14:creationId xmlns:p14="http://schemas.microsoft.com/office/powerpoint/2010/main" val="15867660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1543</TotalTime>
  <Words>668</Words>
  <Application>Microsoft Office PowerPoint</Application>
  <PresentationFormat>宽屏</PresentationFormat>
  <Paragraphs>106</Paragraphs>
  <Slides>26</Slides>
  <Notes>26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26</vt:i4>
      </vt:variant>
    </vt:vector>
  </HeadingPairs>
  <TitlesOfParts>
    <vt:vector size="31" baseType="lpstr">
      <vt:lpstr>Questrial</vt:lpstr>
      <vt:lpstr>等线</vt:lpstr>
      <vt:lpstr>Arial</vt:lpstr>
      <vt:lpstr>Calibri</vt:lpstr>
      <vt:lpstr>Office 主题</vt:lpstr>
      <vt:lpstr>Generative Adversarial Nets</vt:lpstr>
      <vt:lpstr>Abstract (1/2)</vt:lpstr>
      <vt:lpstr>Abstract (2/2)</vt:lpstr>
      <vt:lpstr>1 Generative Adversarial Nets</vt:lpstr>
      <vt:lpstr>1 Generative Adversarial Nets</vt:lpstr>
      <vt:lpstr>1 Generative Adversarial Nets</vt:lpstr>
      <vt:lpstr>1 Generative Adversarial Nets</vt:lpstr>
      <vt:lpstr>1 Generative Adversarial Nets</vt:lpstr>
      <vt:lpstr>2 Deep Convolutional GANs (DCGAN)</vt:lpstr>
      <vt:lpstr>2 Deep Convolutional GANs (DCGAN)</vt:lpstr>
      <vt:lpstr>2 Deep Convolutional GANs (DCGAN)</vt:lpstr>
      <vt:lpstr>2 Deep Convolutional GANs (DCGAN)</vt:lpstr>
      <vt:lpstr>2 Deep Convolutional GANs (DCGAN)</vt:lpstr>
      <vt:lpstr>2 Deep Convolutional GANs (DCGAN)</vt:lpstr>
      <vt:lpstr>2 Deep Convolutional GANs (DCGAN)</vt:lpstr>
      <vt:lpstr>2 Deep Convolutional GANs (DCGAN)</vt:lpstr>
      <vt:lpstr>2 Deep Convolutional GANs (DCGAN)</vt:lpstr>
      <vt:lpstr>2 Deep Convolutional GANs (DCGAN)</vt:lpstr>
      <vt:lpstr>2 Deep Convolutional GANs (DCGAN)</vt:lpstr>
      <vt:lpstr>3 Semi-supervised learning</vt:lpstr>
      <vt:lpstr>4 Scenario Generation Using Generative Adversarial Networks</vt:lpstr>
      <vt:lpstr>4 Scenario Generation Using Generative Adversarial Networks</vt:lpstr>
      <vt:lpstr>4 Scenario Generation Using Generative Adversarial Networks</vt:lpstr>
      <vt:lpstr>4 Scenario Generation Using Generative Adversarial Networks</vt:lpstr>
      <vt:lpstr>4 Scenario Generation Using Generative Adversarial Networks</vt:lpstr>
      <vt:lpstr>4 Scenario Generation Using Generative Adversarial Networks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DEEP  CONVOLUTIONAL  NETWORKS   WITH MANY  CHANNELS  ARE  GAUSSIAN PROCESSES</dc:title>
  <dc:creator>zkx</dc:creator>
  <cp:lastModifiedBy>zkxshg@gmail.com</cp:lastModifiedBy>
  <cp:revision>99</cp:revision>
  <dcterms:created xsi:type="dcterms:W3CDTF">2019-04-02T05:36:00Z</dcterms:created>
  <dcterms:modified xsi:type="dcterms:W3CDTF">2019-05-06T14:25:13Z</dcterms:modified>
</cp:coreProperties>
</file>