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吳篤承" initials="吳篤承" lastIdx="1" clrIdx="0">
    <p:extLst>
      <p:ext uri="{19B8F6BF-5375-455C-9EA6-DF929625EA0E}">
        <p15:presenceInfo xmlns:p15="http://schemas.microsoft.com/office/powerpoint/2012/main" userId="吳篤承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0867" autoAdjust="0"/>
  </p:normalViewPr>
  <p:slideViewPr>
    <p:cSldViewPr snapToGrid="0">
      <p:cViewPr varScale="1">
        <p:scale>
          <a:sx n="63" d="100"/>
          <a:sy n="63" d="100"/>
        </p:scale>
        <p:origin x="60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5392-FD07-4F5A-B34E-BA69B7FEBBF7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45C38-81A3-45D4-9959-4EF52C41C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042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BC481E-5F61-46D0-A7EB-4B78E26B7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17ADD499-6C14-47C8-A9DB-F37A274DE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5F44A6D-44A4-4AC5-A338-742D4C0C8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2AA9A011-8B20-4955-AB02-9C883200A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1D080B5D-51A0-4CC6-B85E-EECDD9C7E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132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BE791F4F-64C2-4448-AEA3-D8BAD00F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F9B64CD7-FFD4-4659-9A78-313C8279F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DB714A2-D640-4631-BD91-D40EA7B8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E61BB7E8-FCCA-40E1-AF1F-1EC08D980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3F37759F-4DEC-4AF9-AAF6-96479F6F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626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44AF7F4-DE89-4B56-ABEB-65BE6D95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C0726E6B-7A4E-46A3-888F-3ECB35C6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2DC7246-3967-4A8C-89BD-498BAD92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D8A016C2-FC45-4CB6-AE5C-B5A2929EC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00643CBF-BA29-45F4-B839-D048AC73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054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03084E2-FF74-41D8-B7FC-96287DBE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830DA591-3941-4641-B043-A7B686026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D58EE040-2A49-41BF-9734-4F1C3C128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8EECCAB-4CA7-44B9-B7B8-DC7FF510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31F1834D-5465-453A-8482-4EA306D6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EEDEEDDC-2E51-41D6-BBEE-C8A5AEE9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6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60891CDC-A371-490F-A9D6-C81ACFD42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AA6414E1-9AA2-4412-BC87-8B794947A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F8352C1-957A-43C9-A792-1F703940C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xmlns="" id="{3189CE18-112C-4840-B26C-362D7C230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xmlns="" id="{F7815674-7564-427E-B7B9-22E8C7F54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xmlns="" id="{2891BEAE-F89E-4D1D-88D1-CE02EB28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xmlns="" id="{001E6835-0CA2-4E4B-AA2A-F90C8E50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xmlns="" id="{AF7BAAA1-3B0C-467E-B178-590BB83B6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28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9DDB431-29CB-4FE4-9ADC-233E5E38B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AB26AC26-EB83-4AB6-9E2F-C8457BF2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DA0D9A16-24C2-4ED2-BD1F-40A62B4B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xmlns="" id="{8002A40A-1FF4-4F68-B9F8-CCFE6F0A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310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xmlns="" id="{EC7FE82F-7353-4EB6-B115-3F4F883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xmlns="" id="{6B99597B-30C7-4D52-AD5F-C858CCF8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C558E562-3645-444D-99EF-C224D8AC7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500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DB5C8A51-2D2B-48E7-9226-50EB6A22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1A09DA89-D924-4187-86BB-0DE7413CB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9A862BBB-0FF2-4F4D-A76D-1F88CE615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3DE41C95-2028-4108-B014-39C5648C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2BD103DD-D7EC-4F8E-92E4-F3DF3C87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A26E5469-9EC0-4784-86DB-CFF18B624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7051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20BCCB00-EDDD-4021-BFA8-37AF232E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xmlns="" id="{0B62902F-3F9A-4799-B356-32DB2D43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xmlns="" id="{341559B7-9AC4-469F-8F42-A7EAC5608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xmlns="" id="{73C1A871-1FB1-426F-B468-F433644A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xmlns="" id="{002851D3-4076-4BC5-9DED-D4BED17F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xmlns="" id="{4E57C28A-8893-4984-9E48-FEAF55A0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359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329808D-8B18-4D63-9A86-7E543A995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1C65D312-39D6-45B8-A43D-EE4F531E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D386A780-A433-4084-B504-8CA5C05D1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8C6AE278-5465-4135-8119-D4FFB673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BC2B663D-8C1E-4440-923C-9B28783B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291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xmlns="" id="{B0F0B3FC-BDB6-4C40-9E7A-DD251A121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xmlns="" id="{31B69DA4-DCBA-402E-B952-6FEF25C77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97B7CDCD-2B53-481E-994C-32B4B7592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5DFB1F8A-6E1A-49FD-88DC-360B7C266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6025657-A7D6-4D60-8308-3F54ECF1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6976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AF27AA62-E1D3-4683-9BB1-A8FDBF764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8E70A9A6-A017-41A2-86FB-D99634A9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ADA99EE0-24C1-43B5-8CD7-D94555000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44C1A-2725-48AE-A699-EA8E8FEFF634}" type="datetimeFigureOut">
              <a:rPr lang="zh-TW" altLang="en-US" smtClean="0"/>
              <a:t>2019/5/20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6FDC897C-57B6-471F-85EC-BDD367E81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4AE00D97-13C0-4E9B-84D0-9482705853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A04DF-79DB-43AD-84D4-1FD653C12CA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86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15998"/>
            <a:ext cx="9144000" cy="649317"/>
          </a:xfrm>
        </p:spPr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Algorithm for LCS Problem between Two Arbitrary Sequences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33362"/>
            <a:ext cx="9144000" cy="425017"/>
          </a:xfrm>
        </p:spPr>
        <p:txBody>
          <a:bodyPr>
            <a:noAutofit/>
          </a:bodyPr>
          <a:lstStyle/>
          <a:p>
            <a:r>
              <a:rPr lang="en-US" altLang="zh-TW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Yubo</a:t>
            </a: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8F2527E8-BB8F-41FB-8AF1-03DCC96BC069}"/>
              </a:ext>
            </a:extLst>
          </p:cNvPr>
          <p:cNvSpPr txBox="1"/>
          <p:nvPr/>
        </p:nvSpPr>
        <p:spPr>
          <a:xfrm>
            <a:off x="3675306" y="3601720"/>
            <a:ext cx="48413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Problems in Engineering, 2018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6BC92671-3184-4146-A361-F82079153C2E}"/>
              </a:ext>
            </a:extLst>
          </p:cNvPr>
          <p:cNvSpPr txBox="1"/>
          <p:nvPr/>
        </p:nvSpPr>
        <p:spPr>
          <a:xfrm>
            <a:off x="8116045" y="5019194"/>
            <a:ext cx="3276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Du-Cheng Wu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52A0654C-2F84-4026-9FCF-04C8DF590D5F}"/>
              </a:ext>
            </a:extLst>
          </p:cNvPr>
          <p:cNvSpPr txBox="1"/>
          <p:nvPr/>
        </p:nvSpPr>
        <p:spPr>
          <a:xfrm>
            <a:off x="8690433" y="5480859"/>
            <a:ext cx="27022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049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id="{E39EF1E7-604C-4E09-A7D2-D4B34B063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63782"/>
                <a:ext cx="10515600" cy="5060849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longest common subsequence (LCS) problem is a classic computer </a:t>
                </a:r>
              </a:p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science problem. For the essential problem of computing LCS between </a:t>
                </a:r>
              </a:p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arbitrary sequences s1 and s2, this paper proposes an algorithm </a:t>
                </a:r>
              </a:p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O(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n+r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 and O(r+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time, where r is the total number of </a:t>
                </a:r>
              </a:p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elements in the set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)|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]}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algorithm can be more </a:t>
                </a:r>
              </a:p>
              <a:p>
                <a:pPr marL="0" indent="0" algn="just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than relevant classical algorithms in specific ranges of r.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39EF1E7-604C-4E09-A7D2-D4B34B063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63782"/>
                <a:ext cx="10515600" cy="5060849"/>
              </a:xfrm>
              <a:blipFill>
                <a:blip r:embed="rId2"/>
                <a:stretch>
                  <a:fillRect l="-1217" t="-21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7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US" altLang="zh-TW" sz="4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fafa</a:t>
            </a: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altLang="zh-TW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TW" sz="4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r>
              <a:rPr lang="en-US" altLang="zh-TW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4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</a:t>
            </a: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 </a:t>
            </a: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fafa</a:t>
            </a:r>
            <a:endParaRPr lang="en-US" altLang="zh-TW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04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04444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016738"/>
              </p:ext>
            </p:extLst>
          </p:nvPr>
        </p:nvGraphicFramePr>
        <p:xfrm>
          <a:off x="1790700" y="4353887"/>
          <a:ext cx="7315200" cy="1371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BBBA13FF-4EA5-439B-957D-C34F18091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712752"/>
              </p:ext>
            </p:extLst>
          </p:nvPr>
        </p:nvGraphicFramePr>
        <p:xfrm>
          <a:off x="1790700" y="1810490"/>
          <a:ext cx="4559298" cy="9144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xmlns="" val="1023148766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3328677592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3262277372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152482290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1862283281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330584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6168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2864342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3E7C8E39-D3C3-4C7C-AD2E-451BC5B9B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257561"/>
              </p:ext>
            </p:extLst>
          </p:nvPr>
        </p:nvGraphicFramePr>
        <p:xfrm>
          <a:off x="1790700" y="2971800"/>
          <a:ext cx="4559298" cy="9144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759883">
                  <a:extLst>
                    <a:ext uri="{9D8B030D-6E8A-4147-A177-3AD203B41FA5}">
                      <a16:colId xmlns:a16="http://schemas.microsoft.com/office/drawing/2014/main" xmlns="" val="1436850750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3692709715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3414723212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3843310258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685295859"/>
                    </a:ext>
                  </a:extLst>
                </a:gridCol>
                <a:gridCol w="759883">
                  <a:extLst>
                    <a:ext uri="{9D8B030D-6E8A-4147-A177-3AD203B41FA5}">
                      <a16:colId xmlns:a16="http://schemas.microsoft.com/office/drawing/2014/main" xmlns="" val="23501714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01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61019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09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L[0]=(1, 3)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73505"/>
              </p:ext>
            </p:extLst>
          </p:nvPr>
        </p:nvGraphicFramePr>
        <p:xfrm>
          <a:off x="2616197" y="1178684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37499"/>
              </p:ext>
            </p:extLst>
          </p:nvPr>
        </p:nvGraphicFramePr>
        <p:xfrm>
          <a:off x="2616198" y="265298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62680"/>
              </p:ext>
            </p:extLst>
          </p:nvPr>
        </p:nvGraphicFramePr>
        <p:xfrm>
          <a:off x="2616197" y="4179611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958615"/>
              </p:ext>
            </p:extLst>
          </p:nvPr>
        </p:nvGraphicFramePr>
        <p:xfrm>
          <a:off x="2616198" y="5617865"/>
          <a:ext cx="7315200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1D4C279C-BC7E-4BC7-869B-494014850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617217"/>
              </p:ext>
            </p:extLst>
          </p:nvPr>
        </p:nvGraphicFramePr>
        <p:xfrm>
          <a:off x="10401294" y="2866349"/>
          <a:ext cx="1308098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54049">
                  <a:extLst>
                    <a:ext uri="{9D8B030D-6E8A-4147-A177-3AD203B41FA5}">
                      <a16:colId xmlns:a16="http://schemas.microsoft.com/office/drawing/2014/main" xmlns="" val="2732047270"/>
                    </a:ext>
                  </a:extLst>
                </a:gridCol>
                <a:gridCol w="654049">
                  <a:extLst>
                    <a:ext uri="{9D8B030D-6E8A-4147-A177-3AD203B41FA5}">
                      <a16:colId xmlns:a16="http://schemas.microsoft.com/office/drawing/2014/main" xmlns="" val="301542452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3007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19900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281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L[0]=(1, 3)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L[1]=(2, 4)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68901"/>
              </p:ext>
            </p:extLst>
          </p:nvPr>
        </p:nvGraphicFramePr>
        <p:xfrm>
          <a:off x="2616195" y="1147009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080161"/>
              </p:ext>
            </p:extLst>
          </p:nvPr>
        </p:nvGraphicFramePr>
        <p:xfrm>
          <a:off x="2616196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021204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757095"/>
              </p:ext>
            </p:extLst>
          </p:nvPr>
        </p:nvGraphicFramePr>
        <p:xfrm>
          <a:off x="2616197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60E2DB3E-47C6-4404-ACFD-81A27EA4F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929509"/>
              </p:ext>
            </p:extLst>
          </p:nvPr>
        </p:nvGraphicFramePr>
        <p:xfrm>
          <a:off x="10401294" y="2866349"/>
          <a:ext cx="1308098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54049">
                  <a:extLst>
                    <a:ext uri="{9D8B030D-6E8A-4147-A177-3AD203B41FA5}">
                      <a16:colId xmlns:a16="http://schemas.microsoft.com/office/drawing/2014/main" xmlns="" val="2732047270"/>
                    </a:ext>
                  </a:extLst>
                </a:gridCol>
                <a:gridCol w="654049">
                  <a:extLst>
                    <a:ext uri="{9D8B030D-6E8A-4147-A177-3AD203B41FA5}">
                      <a16:colId xmlns:a16="http://schemas.microsoft.com/office/drawing/2014/main" xmlns="" val="301542452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30078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19900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7454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549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L[1]=(2, 4)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L[2]=(2, 1)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359615"/>
              </p:ext>
            </p:extLst>
          </p:nvPr>
        </p:nvGraphicFramePr>
        <p:xfrm>
          <a:off x="2616195" y="1183311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344947"/>
              </p:ext>
            </p:extLst>
          </p:nvPr>
        </p:nvGraphicFramePr>
        <p:xfrm>
          <a:off x="2616196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62722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664449"/>
              </p:ext>
            </p:extLst>
          </p:nvPr>
        </p:nvGraphicFramePr>
        <p:xfrm>
          <a:off x="2616197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C63B1E08-17CB-4CE9-A363-ABE6C7286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340171"/>
              </p:ext>
            </p:extLst>
          </p:nvPr>
        </p:nvGraphicFramePr>
        <p:xfrm>
          <a:off x="10401290" y="2917825"/>
          <a:ext cx="1308098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54049">
                  <a:extLst>
                    <a:ext uri="{9D8B030D-6E8A-4147-A177-3AD203B41FA5}">
                      <a16:colId xmlns:a16="http://schemas.microsoft.com/office/drawing/2014/main" xmlns="" val="3295328862"/>
                    </a:ext>
                  </a:extLst>
                </a:gridCol>
                <a:gridCol w="654049">
                  <a:extLst>
                    <a:ext uri="{9D8B030D-6E8A-4147-A177-3AD203B41FA5}">
                      <a16:colId xmlns:a16="http://schemas.microsoft.com/office/drawing/2014/main" xmlns="" val="397839251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6963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70639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13635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27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L[2]=(2, 1)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L[3]=(3, 5)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747432"/>
              </p:ext>
            </p:extLst>
          </p:nvPr>
        </p:nvGraphicFramePr>
        <p:xfrm>
          <a:off x="2616195" y="1208711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336332"/>
              </p:ext>
            </p:extLst>
          </p:nvPr>
        </p:nvGraphicFramePr>
        <p:xfrm>
          <a:off x="2616196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308102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53528"/>
              </p:ext>
            </p:extLst>
          </p:nvPr>
        </p:nvGraphicFramePr>
        <p:xfrm>
          <a:off x="2616197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46DF319B-6C02-4A30-8BDC-8305837B5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12912"/>
              </p:ext>
            </p:extLst>
          </p:nvPr>
        </p:nvGraphicFramePr>
        <p:xfrm>
          <a:off x="10401290" y="2930525"/>
          <a:ext cx="1308098" cy="17068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54049">
                  <a:extLst>
                    <a:ext uri="{9D8B030D-6E8A-4147-A177-3AD203B41FA5}">
                      <a16:colId xmlns:a16="http://schemas.microsoft.com/office/drawing/2014/main" xmlns="" val="2992198332"/>
                    </a:ext>
                  </a:extLst>
                </a:gridCol>
                <a:gridCol w="654049">
                  <a:extLst>
                    <a:ext uri="{9D8B030D-6E8A-4147-A177-3AD203B41FA5}">
                      <a16:colId xmlns:a16="http://schemas.microsoft.com/office/drawing/2014/main" xmlns="" val="354751909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56236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18671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489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23292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70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L[3]=(3, 5)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L[4]=(3, 2)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337383"/>
              </p:ext>
            </p:extLst>
          </p:nvPr>
        </p:nvGraphicFramePr>
        <p:xfrm>
          <a:off x="2616195" y="1208711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659825"/>
              </p:ext>
            </p:extLst>
          </p:nvPr>
        </p:nvGraphicFramePr>
        <p:xfrm>
          <a:off x="2616196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970386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(1, 0)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84252"/>
              </p:ext>
            </p:extLst>
          </p:nvPr>
        </p:nvGraphicFramePr>
        <p:xfrm>
          <a:off x="2616197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0C676C50-876B-4F5C-AB05-9387EE0EE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52752"/>
              </p:ext>
            </p:extLst>
          </p:nvPr>
        </p:nvGraphicFramePr>
        <p:xfrm>
          <a:off x="10401290" y="2917825"/>
          <a:ext cx="1308098" cy="17068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54049">
                  <a:extLst>
                    <a:ext uri="{9D8B030D-6E8A-4147-A177-3AD203B41FA5}">
                      <a16:colId xmlns:a16="http://schemas.microsoft.com/office/drawing/2014/main" xmlns="" val="934844700"/>
                    </a:ext>
                  </a:extLst>
                </a:gridCol>
                <a:gridCol w="654049">
                  <a:extLst>
                    <a:ext uri="{9D8B030D-6E8A-4147-A177-3AD203B41FA5}">
                      <a16:colId xmlns:a16="http://schemas.microsoft.com/office/drawing/2014/main" xmlns="" val="47422300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6654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68509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86041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365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31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L[4]=(3, 2)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L[5]=(4, 4)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840475"/>
              </p:ext>
            </p:extLst>
          </p:nvPr>
        </p:nvGraphicFramePr>
        <p:xfrm>
          <a:off x="2616195" y="1165771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319734"/>
              </p:ext>
            </p:extLst>
          </p:nvPr>
        </p:nvGraphicFramePr>
        <p:xfrm>
          <a:off x="2616195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393983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949495"/>
              </p:ext>
            </p:extLst>
          </p:nvPr>
        </p:nvGraphicFramePr>
        <p:xfrm>
          <a:off x="2616198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B5DC9107-F56B-4956-BB52-395BA52BE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86302"/>
              </p:ext>
            </p:extLst>
          </p:nvPr>
        </p:nvGraphicFramePr>
        <p:xfrm>
          <a:off x="10401288" y="2917825"/>
          <a:ext cx="1308098" cy="17068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54049">
                  <a:extLst>
                    <a:ext uri="{9D8B030D-6E8A-4147-A177-3AD203B41FA5}">
                      <a16:colId xmlns:a16="http://schemas.microsoft.com/office/drawing/2014/main" xmlns="" val="1539936978"/>
                    </a:ext>
                  </a:extLst>
                </a:gridCol>
                <a:gridCol w="654049">
                  <a:extLst>
                    <a:ext uri="{9D8B030D-6E8A-4147-A177-3AD203B41FA5}">
                      <a16:colId xmlns:a16="http://schemas.microsoft.com/office/drawing/2014/main" xmlns="" val="201447397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414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04603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96953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</a:t>
                      </a:r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759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7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L[4]=(3, 2)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L[5]=(4, 4)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419936"/>
              </p:ext>
            </p:extLst>
          </p:nvPr>
        </p:nvGraphicFramePr>
        <p:xfrm>
          <a:off x="2616195" y="1189949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973862"/>
              </p:ext>
            </p:extLst>
          </p:nvPr>
        </p:nvGraphicFramePr>
        <p:xfrm>
          <a:off x="2616195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098347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(1, 2)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676841"/>
              </p:ext>
            </p:extLst>
          </p:nvPr>
        </p:nvGraphicFramePr>
        <p:xfrm>
          <a:off x="2616198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B75C97F4-291D-4CB3-96A6-ABC638396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175941"/>
              </p:ext>
            </p:extLst>
          </p:nvPr>
        </p:nvGraphicFramePr>
        <p:xfrm>
          <a:off x="10236200" y="2905125"/>
          <a:ext cx="1587500" cy="17068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62758">
                  <a:extLst>
                    <a:ext uri="{9D8B030D-6E8A-4147-A177-3AD203B41FA5}">
                      <a16:colId xmlns:a16="http://schemas.microsoft.com/office/drawing/2014/main" xmlns="" val="1686510345"/>
                    </a:ext>
                  </a:extLst>
                </a:gridCol>
                <a:gridCol w="924742">
                  <a:extLst>
                    <a:ext uri="{9D8B030D-6E8A-4147-A177-3AD203B41FA5}">
                      <a16:colId xmlns:a16="http://schemas.microsoft.com/office/drawing/2014/main" xmlns="" val="262800345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2482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01340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29522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02919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280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L[4]=(3, 2)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L[5]=(4, 4)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429542"/>
              </p:ext>
            </p:extLst>
          </p:nvPr>
        </p:nvGraphicFramePr>
        <p:xfrm>
          <a:off x="2616195" y="1170611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15472"/>
              </p:ext>
            </p:extLst>
          </p:nvPr>
        </p:nvGraphicFramePr>
        <p:xfrm>
          <a:off x="2616195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(4, 7)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61573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(3, 3)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203220"/>
              </p:ext>
            </p:extLst>
          </p:nvPr>
        </p:nvGraphicFramePr>
        <p:xfrm>
          <a:off x="2616198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A0BB7630-20A6-4AA2-841B-3E698D0CB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001403"/>
              </p:ext>
            </p:extLst>
          </p:nvPr>
        </p:nvGraphicFramePr>
        <p:xfrm>
          <a:off x="10261600" y="2916239"/>
          <a:ext cx="1587500" cy="2133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62758">
                  <a:extLst>
                    <a:ext uri="{9D8B030D-6E8A-4147-A177-3AD203B41FA5}">
                      <a16:colId xmlns:a16="http://schemas.microsoft.com/office/drawing/2014/main" xmlns="" val="2110306389"/>
                    </a:ext>
                  </a:extLst>
                </a:gridCol>
                <a:gridCol w="924742">
                  <a:extLst>
                    <a:ext uri="{9D8B030D-6E8A-4147-A177-3AD203B41FA5}">
                      <a16:colId xmlns:a16="http://schemas.microsoft.com/office/drawing/2014/main" xmlns="" val="38995144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9956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0, 2, 6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0820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19070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53879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21874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212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L[4]=(3, 2)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s2′=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L[5]=(4, 4)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s2′=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pre =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510374"/>
              </p:ext>
            </p:extLst>
          </p:nvPr>
        </p:nvGraphicFramePr>
        <p:xfrm>
          <a:off x="2616195" y="1153071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0D375185-AA9D-484E-913B-3E828F31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087438"/>
              </p:ext>
            </p:extLst>
          </p:nvPr>
        </p:nvGraphicFramePr>
        <p:xfrm>
          <a:off x="2616195" y="4084639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63682669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565553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17016385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52268867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02709994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054714206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148135000"/>
                    </a:ext>
                  </a:extLst>
                </a:gridCol>
              </a:tblGrid>
              <a:tr h="307012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50736572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64198841"/>
                  </a:ext>
                </a:extLst>
              </a:tr>
              <a:tr h="30701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(2, 8)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(4, 7)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0483798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xmlns="" id="{0C2018B5-B0AE-4AE7-8655-00AD6E0A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92567"/>
              </p:ext>
            </p:extLst>
          </p:nvPr>
        </p:nvGraphicFramePr>
        <p:xfrm>
          <a:off x="2616196" y="2637294"/>
          <a:ext cx="7315196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045028">
                  <a:extLst>
                    <a:ext uri="{9D8B030D-6E8A-4147-A177-3AD203B41FA5}">
                      <a16:colId xmlns:a16="http://schemas.microsoft.com/office/drawing/2014/main" xmlns="" val="2499513982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39313286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1193188327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83554570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4017308445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3758825393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xmlns="" val="223670068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7988625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31547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 -)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(1, 6)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(4, 7)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2382459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299997"/>
              </p:ext>
            </p:extLst>
          </p:nvPr>
        </p:nvGraphicFramePr>
        <p:xfrm>
          <a:off x="2616198" y="5617865"/>
          <a:ext cx="7315191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799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6CA0462C-178C-4C22-8C16-773D82F91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18591"/>
              </p:ext>
            </p:extLst>
          </p:nvPr>
        </p:nvGraphicFramePr>
        <p:xfrm>
          <a:off x="10287000" y="2814156"/>
          <a:ext cx="1587500" cy="21336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62758">
                  <a:extLst>
                    <a:ext uri="{9D8B030D-6E8A-4147-A177-3AD203B41FA5}">
                      <a16:colId xmlns:a16="http://schemas.microsoft.com/office/drawing/2014/main" xmlns="" val="3185341766"/>
                    </a:ext>
                  </a:extLst>
                </a:gridCol>
                <a:gridCol w="924742">
                  <a:extLst>
                    <a:ext uri="{9D8B030D-6E8A-4147-A177-3AD203B41FA5}">
                      <a16:colId xmlns:a16="http://schemas.microsoft.com/office/drawing/2014/main" xmlns="" val="67248197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44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0, 2, 6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10468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 </a:t>
                      </a:r>
                      <a:r>
                        <a:rPr lang="en-US" altLang="zh-TW" sz="2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080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3, 5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46606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46920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519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Subsequence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xmlns="" id="{652F1AAC-13A7-4F2E-8939-B8B12448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3"/>
            <a:ext cx="10515600" cy="54968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 =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 =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L[7] = (5, 5) and pre[7] = 5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L[5] = (4, 4) and pre[5] = 4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L[4] = (3, 2) and pre[4] = 2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L[2] = (2, 1) and pre[2] = -   </a:t>
            </a:r>
          </a:p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LCS(s1, s2) = s1[2][3][4][5] = s2[1][2][4][5]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fafa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4B2370B5-536E-4F7A-9B21-85C4A5F284C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16195" y="1153071"/>
          <a:ext cx="7315200" cy="128016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41160188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42037402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6800448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1590048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5613268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369451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7684684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60396825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290537999"/>
                    </a:ext>
                  </a:extLst>
                </a:gridCol>
              </a:tblGrid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34758189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69627006"/>
                  </a:ext>
                </a:extLst>
              </a:tr>
              <a:tr h="40989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(1, 3)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(4, 4)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(4, 1)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(5, 5)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(5, 2)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9508469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C3585514-2FB1-4B06-8AF7-2EA977E2B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46862"/>
              </p:ext>
            </p:extLst>
          </p:nvPr>
        </p:nvGraphicFramePr>
        <p:xfrm>
          <a:off x="2616196" y="3002280"/>
          <a:ext cx="7315200" cy="853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xmlns="" val="145577535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1446997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80851120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835022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68909469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40242748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28170703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394833546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xmlns="" val="1788151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94115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960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56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7CA785F5-828E-4DE7-B96F-4D3D4F0F7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275" y="1034473"/>
            <a:ext cx="5318125" cy="563333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xmlns="" id="{18617EC1-72AC-44A7-8EB5-56F20659E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465041"/>
            <a:ext cx="5497513" cy="192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58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02CD88E0-92F0-4756-A55F-499E0B45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9348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xmlns="" id="{652F1AAC-13A7-4F2E-8939-B8B124487E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2513"/>
                <a:ext cx="10515600" cy="549688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zh-TW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&lt; </m:t>
                      </m:r>
                      <m:sSup>
                        <m:sSup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⇒0≤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&lt; </m:t>
                      </m:r>
                      <m:f>
                        <m:fPr>
                          <m:ctrlPr>
                            <a:rPr lang="en-US" altLang="zh-TW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TW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內容版面配置區 11">
                <a:extLst>
                  <a:ext uri="{FF2B5EF4-FFF2-40B4-BE49-F238E27FC236}">
                    <a16:creationId xmlns:a16="http://schemas.microsoft.com/office/drawing/2014/main" id="{652F1AAC-13A7-4F2E-8939-B8B124487E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2513"/>
                <a:ext cx="10515600" cy="549688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50E0581A-B320-4DC1-B6CD-40B011035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087" y="1699731"/>
            <a:ext cx="6219825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06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3348</TotalTime>
  <Words>2159</Words>
  <Application>Microsoft Office PowerPoint</Application>
  <PresentationFormat>寬螢幕</PresentationFormat>
  <Paragraphs>989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An Efficient Algorithm for LCS Problem between Two Arbitrary Sequences</vt:lpstr>
      <vt:lpstr>Abstract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Longest Common Subsequence</vt:lpstr>
      <vt:lpstr>Algorithm</vt:lpstr>
      <vt:lpstr>Complexity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and algorithm for sequence alignment</dc:title>
  <dc:creator>吳篤承</dc:creator>
  <cp:lastModifiedBy>pplab-class</cp:lastModifiedBy>
  <cp:revision>163</cp:revision>
  <dcterms:created xsi:type="dcterms:W3CDTF">2018-09-30T05:00:05Z</dcterms:created>
  <dcterms:modified xsi:type="dcterms:W3CDTF">2019-05-20T08:24:20Z</dcterms:modified>
</cp:coreProperties>
</file>