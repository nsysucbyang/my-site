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311" r:id="rId3"/>
    <p:sldId id="312" r:id="rId4"/>
    <p:sldId id="306" r:id="rId5"/>
    <p:sldId id="317" r:id="rId6"/>
    <p:sldId id="318" r:id="rId7"/>
    <p:sldId id="319" r:id="rId8"/>
    <p:sldId id="320" r:id="rId9"/>
    <p:sldId id="314" r:id="rId10"/>
    <p:sldId id="315" r:id="rId11"/>
    <p:sldId id="322" r:id="rId12"/>
    <p:sldId id="316" r:id="rId13"/>
    <p:sldId id="308"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63" autoAdjust="0"/>
    <p:restoredTop sz="93971" autoAdjust="0"/>
  </p:normalViewPr>
  <p:slideViewPr>
    <p:cSldViewPr snapToGrid="0">
      <p:cViewPr varScale="1">
        <p:scale>
          <a:sx n="63" d="100"/>
          <a:sy n="63" d="100"/>
        </p:scale>
        <p:origin x="1386" y="66"/>
      </p:cViewPr>
      <p:guideLst>
        <p:guide orient="horz" pos="2160"/>
        <p:guide pos="2880"/>
      </p:guideLst>
    </p:cSldViewPr>
  </p:slideViewPr>
  <p:notesTextViewPr>
    <p:cViewPr>
      <p:scale>
        <a:sx n="125" d="100"/>
        <a:sy n="125"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2019/5/20</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smtClean="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4250931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2019/5/20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2019/5/20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2019/5/20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2019/5/20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2019/5/20</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2019/5/20</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2019/5/20</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2019/5/20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2019/5/20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2019/5/20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2019/5/20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2019/5/20</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B447A32-0D96-4B57-86B2-82EC84E8995E}"/>
              </a:ext>
            </a:extLst>
          </p:cNvPr>
          <p:cNvSpPr>
            <a:spLocks noGrp="1"/>
          </p:cNvSpPr>
          <p:nvPr>
            <p:ph type="ctrTitle"/>
          </p:nvPr>
        </p:nvSpPr>
        <p:spPr>
          <a:xfrm>
            <a:off x="330150" y="1538969"/>
            <a:ext cx="8348184" cy="877881"/>
          </a:xfrm>
        </p:spPr>
        <p:txBody>
          <a:bodyPr>
            <a:noAutofit/>
          </a:bodyPr>
          <a:lstStyle/>
          <a:p>
            <a:r>
              <a:rPr lang="en-US" altLang="zh-TW" sz="4000" dirty="0">
                <a:latin typeface="Times New Roman" panose="02020603050405020304" pitchFamily="18" charset="0"/>
                <a:cs typeface="Times New Roman" panose="02020603050405020304" pitchFamily="18" charset="0"/>
              </a:rPr>
              <a:t>Position Specific Scoring Matrix and Synergistic </a:t>
            </a:r>
            <a:r>
              <a:rPr lang="en-US" altLang="zh-TW" sz="4000" dirty="0" smtClean="0">
                <a:latin typeface="Times New Roman" panose="02020603050405020304" pitchFamily="18" charset="0"/>
                <a:cs typeface="Times New Roman" panose="02020603050405020304" pitchFamily="18" charset="0"/>
              </a:rPr>
              <a:t>Multiclass </a:t>
            </a:r>
            <a:r>
              <a:rPr lang="en-US" altLang="zh-TW" sz="4000" dirty="0">
                <a:latin typeface="Times New Roman" panose="02020603050405020304" pitchFamily="18" charset="0"/>
                <a:cs typeface="Times New Roman" panose="02020603050405020304" pitchFamily="18" charset="0"/>
              </a:rPr>
              <a:t>SVM for Identification of Genes</a:t>
            </a:r>
            <a:endParaRPr lang="zh-TW" altLang="en-US" sz="40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xmlns="" id="{61456E59-5D91-4093-B1A4-6F308EA967FD}"/>
              </a:ext>
            </a:extLst>
          </p:cNvPr>
          <p:cNvSpPr>
            <a:spLocks noGrp="1"/>
          </p:cNvSpPr>
          <p:nvPr>
            <p:ph type="subTitle" idx="1"/>
          </p:nvPr>
        </p:nvSpPr>
        <p:spPr>
          <a:xfrm>
            <a:off x="330149" y="2900196"/>
            <a:ext cx="8536249" cy="717223"/>
          </a:xfrm>
        </p:spPr>
        <p:txBody>
          <a:bodyPr>
            <a:noAutofit/>
          </a:bodyPr>
          <a:lstStyle/>
          <a:p>
            <a:r>
              <a:rPr lang="en-US" altLang="zh-TW" sz="2800" dirty="0">
                <a:latin typeface="Times New Roman" panose="02020603050405020304" pitchFamily="18" charset="0"/>
                <a:cs typeface="Times New Roman" panose="02020603050405020304" pitchFamily="18" charset="0"/>
              </a:rPr>
              <a:t>M. </a:t>
            </a:r>
            <a:r>
              <a:rPr lang="en-US" altLang="zh-TW" sz="2800" dirty="0" err="1">
                <a:latin typeface="Times New Roman" panose="02020603050405020304" pitchFamily="18" charset="0"/>
                <a:cs typeface="Times New Roman" panose="02020603050405020304" pitchFamily="18" charset="0"/>
              </a:rPr>
              <a:t>Arif</a:t>
            </a:r>
            <a:r>
              <a:rPr lang="en-US" altLang="zh-TW"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Wani</a:t>
            </a:r>
            <a:r>
              <a:rPr lang="en-US" altLang="zh-TW"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Heena</a:t>
            </a:r>
            <a:r>
              <a:rPr lang="en-US" altLang="zh-TW" sz="2800" dirty="0">
                <a:latin typeface="Times New Roman" panose="02020603050405020304" pitchFamily="18" charset="0"/>
                <a:cs typeface="Times New Roman" panose="02020603050405020304" pitchFamily="18" charset="0"/>
              </a:rPr>
              <a:t> Farooq Bhat, and Tariq Rashid Jan</a:t>
            </a:r>
            <a:endParaRPr lang="en-US" altLang="zh-TW" sz="2800" dirty="0" smtClean="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xmlns="" id="{A64E0364-4674-4930-835E-A413D880DCDB}"/>
              </a:ext>
            </a:extLst>
          </p:cNvPr>
          <p:cNvSpPr txBox="1">
            <a:spLocks/>
          </p:cNvSpPr>
          <p:nvPr/>
        </p:nvSpPr>
        <p:spPr>
          <a:xfrm>
            <a:off x="4761182" y="5443584"/>
            <a:ext cx="3264031"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smtClean="0">
                <a:latin typeface="Times New Roman" panose="02020603050405020304" pitchFamily="18" charset="0"/>
                <a:cs typeface="Times New Roman" panose="02020603050405020304" pitchFamily="18" charset="0"/>
              </a:rPr>
              <a:t>Feng-Yang</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Tsai</a:t>
            </a: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Date: May</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20, 2019.</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540450" y="3869932"/>
            <a:ext cx="8226058" cy="830997"/>
          </a:xfrm>
          <a:prstGeom prst="rect">
            <a:avLst/>
          </a:prstGeom>
        </p:spPr>
        <p:txBody>
          <a:bodyPr wrap="square">
            <a:spAutoFit/>
          </a:bodyPr>
          <a:lstStyle/>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2018 17th IEEE International Conference on Machine Learning and Applications (ICMLA</a:t>
            </a:r>
            <a:r>
              <a:rPr lang="en-US" altLang="zh-TW" sz="2400" dirty="0" smtClean="0">
                <a:latin typeface="Times New Roman" panose="02020603050405020304" pitchFamily="18" charset="0"/>
                <a:ea typeface="Tahoma" panose="020B0604030504040204" pitchFamily="34" charset="0"/>
                <a:cs typeface="Times New Roman" panose="02020603050405020304" pitchFamily="18" charset="0"/>
              </a:rPr>
              <a:t>), Orlando, USA.</a:t>
            </a:r>
            <a:endParaRPr lang="zh-TW"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172833"/>
      </p:ext>
    </p:extLst>
  </p:cSld>
  <p:clrMapOvr>
    <a:masterClrMapping/>
  </p:clrMapOvr>
  <mc:AlternateContent xmlns:mc="http://schemas.openxmlformats.org/markup-compatibility/2006" xmlns:p14="http://schemas.microsoft.com/office/powerpoint/2010/main">
    <mc:Choice Requires="p14">
      <p:transition spd="slow" p14:dur="2000" advTm="2519"/>
    </mc:Choice>
    <mc:Fallback xmlns="">
      <p:transition spd="slow" advTm="2519"/>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39007" y="439984"/>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xmlns="" id="{5E26DCC3-1991-4383-BF81-99FF895536EE}"/>
              </a:ext>
            </a:extLst>
          </p:cNvPr>
          <p:cNvSpPr>
            <a:spLocks noGrp="1"/>
          </p:cNvSpPr>
          <p:nvPr>
            <p:ph idx="1"/>
          </p:nvPr>
        </p:nvSpPr>
        <p:spPr>
          <a:xfrm>
            <a:off x="139007" y="1175751"/>
            <a:ext cx="8940338"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In genome annotation field several methods have been developed to locate the patterns of genes in genome sequence. In this paper we propose a novel method for identifying genes from protein sequences. The first step of the proposed method involves computing a position specific scoring matrix (PSSM) of protein sequences. The normalized PSSM is used to convert protein sequences into training data set. The data set is simplified by averaging the normalized values corresponding to the same amino acid that occur at more than one location of the protein sequence. The resulting training data set is used to train multiclass Support Vector Machine (SVM) classifier that relates simplified normalized values of amino acid to various genes. </a:t>
            </a:r>
            <a:endParaRPr lang="fr-F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44839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25359" y="439984"/>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xmlns="" id="{5E26DCC3-1991-4383-BF81-99FF895536EE}"/>
              </a:ext>
            </a:extLst>
          </p:cNvPr>
          <p:cNvSpPr>
            <a:spLocks noGrp="1"/>
          </p:cNvSpPr>
          <p:nvPr>
            <p:ph idx="1"/>
          </p:nvPr>
        </p:nvSpPr>
        <p:spPr>
          <a:xfrm>
            <a:off x="139008" y="1023351"/>
            <a:ext cx="8626301"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The results of several multiclass SVMs are synergistically combined for improving the results. The proposed approach is tested on genome </a:t>
            </a:r>
            <a:r>
              <a:rPr lang="en-US" altLang="zh-TW" dirty="0" err="1">
                <a:latin typeface="Times New Roman" panose="02020603050405020304" pitchFamily="18" charset="0"/>
                <a:cs typeface="Times New Roman" panose="02020603050405020304" pitchFamily="18" charset="0"/>
              </a:rPr>
              <a:t>DNAset</a:t>
            </a:r>
            <a:r>
              <a:rPr lang="en-US" altLang="zh-TW" dirty="0">
                <a:latin typeface="Times New Roman" panose="02020603050405020304" pitchFamily="18" charset="0"/>
                <a:cs typeface="Times New Roman" panose="02020603050405020304" pitchFamily="18" charset="0"/>
              </a:rPr>
              <a:t> dataset. Empirical evaluation shows that the proposed new approach produces good results of identifying genes using protein sequences.</a:t>
            </a:r>
            <a:endParaRPr lang="fr-F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13853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25359" y="439984"/>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Proposed Approach For Identifying </a:t>
            </a:r>
            <a:r>
              <a:rPr lang="en-US" altLang="zh-TW" sz="3200" b="1" dirty="0" smtClean="0">
                <a:latin typeface="Times New Roman" panose="02020603050405020304" pitchFamily="18" charset="0"/>
                <a:cs typeface="Times New Roman" panose="02020603050405020304" pitchFamily="18" charset="0"/>
              </a:rPr>
              <a:t>Genes :</a:t>
            </a:r>
            <a:endParaRPr lang="zh-TW" altLang="en-US" sz="3200" b="1" dirty="0">
              <a:latin typeface="Times New Roman" panose="02020603050405020304" pitchFamily="18" charset="0"/>
              <a:cs typeface="Times New Roman" panose="02020603050405020304" pitchFamily="18" charset="0"/>
            </a:endParaRPr>
          </a:p>
        </p:txBody>
      </p:sp>
      <p:sp>
        <p:nvSpPr>
          <p:cNvPr id="5" name="矩形 4"/>
          <p:cNvSpPr/>
          <p:nvPr/>
        </p:nvSpPr>
        <p:spPr>
          <a:xfrm>
            <a:off x="528052" y="1498708"/>
            <a:ext cx="7223323" cy="830997"/>
          </a:xfrm>
          <a:prstGeom prst="rect">
            <a:avLst/>
          </a:prstGeom>
        </p:spPr>
        <p:txBody>
          <a:bodyPr wrap="square">
            <a:spAutoFit/>
          </a:bodyPr>
          <a:lstStyle/>
          <a:p>
            <a:r>
              <a:rPr lang="en-US" altLang="zh-TW" sz="2400" dirty="0" smtClean="0">
                <a:latin typeface="Times New Roman" panose="02020603050405020304" pitchFamily="18" charset="0"/>
                <a:cs typeface="Times New Roman" panose="02020603050405020304" pitchFamily="18" charset="0"/>
              </a:rPr>
              <a:t>1. A </a:t>
            </a:r>
            <a:r>
              <a:rPr lang="en-US" altLang="zh-TW" sz="2400" dirty="0">
                <a:latin typeface="Times New Roman" panose="02020603050405020304" pitchFamily="18" charset="0"/>
                <a:cs typeface="Times New Roman" panose="02020603050405020304" pitchFamily="18" charset="0"/>
              </a:rPr>
              <a:t>normalized Position Specific Scoring Matrix (PSSM) </a:t>
            </a:r>
            <a:r>
              <a:rPr lang="en-US" altLang="zh-TW" sz="2400" dirty="0" smtClean="0">
                <a:latin typeface="Times New Roman" panose="02020603050405020304" pitchFamily="18" charset="0"/>
                <a:cs typeface="Times New Roman" panose="02020603050405020304" pitchFamily="18" charset="0"/>
              </a:rPr>
              <a:t>     of </a:t>
            </a:r>
            <a:r>
              <a:rPr lang="en-US" altLang="zh-TW" sz="2400" dirty="0">
                <a:latin typeface="Times New Roman" panose="02020603050405020304" pitchFamily="18" charset="0"/>
                <a:cs typeface="Times New Roman" panose="02020603050405020304" pitchFamily="18" charset="0"/>
              </a:rPr>
              <a:t>protein sequences is computed.</a:t>
            </a:r>
            <a:endParaRPr lang="zh-TW" altLang="en-US" sz="2400" dirty="0">
              <a:latin typeface="Times New Roman" panose="02020603050405020304" pitchFamily="18" charset="0"/>
              <a:cs typeface="Times New Roman" panose="02020603050405020304" pitchFamily="18" charset="0"/>
            </a:endParaRPr>
          </a:p>
        </p:txBody>
      </p:sp>
      <p:sp>
        <p:nvSpPr>
          <p:cNvPr id="7" name="矩形 6"/>
          <p:cNvSpPr/>
          <p:nvPr/>
        </p:nvSpPr>
        <p:spPr>
          <a:xfrm>
            <a:off x="528051" y="2726881"/>
            <a:ext cx="7223323" cy="830997"/>
          </a:xfrm>
          <a:prstGeom prst="rect">
            <a:avLst/>
          </a:prstGeom>
        </p:spPr>
        <p:txBody>
          <a:bodyPr wrap="square">
            <a:spAutoFit/>
          </a:bodyPr>
          <a:lstStyle/>
          <a:p>
            <a:r>
              <a:rPr lang="en-US" altLang="zh-TW" sz="2400" dirty="0" smtClean="0">
                <a:latin typeface="Times New Roman" panose="02020603050405020304" pitchFamily="18" charset="0"/>
                <a:cs typeface="Times New Roman" panose="02020603050405020304" pitchFamily="18" charset="0"/>
              </a:rPr>
              <a:t>2. </a:t>
            </a:r>
            <a:r>
              <a:rPr lang="zh-TW" altLang="en-US" sz="2400" dirty="0" smtClean="0">
                <a:latin typeface="Times New Roman" panose="02020603050405020304" pitchFamily="18" charset="0"/>
                <a:cs typeface="Times New Roman" panose="02020603050405020304" pitchFamily="18" charset="0"/>
              </a:rPr>
              <a:t>Each </a:t>
            </a:r>
            <a:r>
              <a:rPr lang="zh-TW" altLang="en-US" sz="2400" dirty="0">
                <a:latin typeface="Times New Roman" panose="02020603050405020304" pitchFamily="18" charset="0"/>
                <a:cs typeface="Times New Roman" panose="02020603050405020304" pitchFamily="18" charset="0"/>
              </a:rPr>
              <a:t>protein sequence is labelled with an appropriate </a:t>
            </a:r>
            <a:r>
              <a:rPr lang="zh-TW" altLang="en-US" sz="2400" dirty="0" smtClean="0">
                <a:latin typeface="Times New Roman" panose="02020603050405020304" pitchFamily="18" charset="0"/>
                <a:cs typeface="Times New Roman" panose="02020603050405020304" pitchFamily="18" charset="0"/>
              </a:rPr>
              <a:t>   gene </a:t>
            </a:r>
            <a:r>
              <a:rPr lang="zh-TW" altLang="en-US" sz="2400" dirty="0">
                <a:latin typeface="Times New Roman" panose="02020603050405020304" pitchFamily="18" charset="0"/>
                <a:cs typeface="Times New Roman" panose="02020603050405020304" pitchFamily="18" charset="0"/>
              </a:rPr>
              <a:t>name that it represents.</a:t>
            </a:r>
          </a:p>
        </p:txBody>
      </p:sp>
      <p:sp>
        <p:nvSpPr>
          <p:cNvPr id="8" name="矩形 7"/>
          <p:cNvSpPr/>
          <p:nvPr/>
        </p:nvSpPr>
        <p:spPr>
          <a:xfrm>
            <a:off x="528051" y="3955054"/>
            <a:ext cx="7332094" cy="830997"/>
          </a:xfrm>
          <a:prstGeom prst="rect">
            <a:avLst/>
          </a:prstGeom>
        </p:spPr>
        <p:txBody>
          <a:bodyPr wrap="square">
            <a:spAutoFit/>
          </a:bodyPr>
          <a:lstStyle/>
          <a:p>
            <a:r>
              <a:rPr lang="en-US" altLang="zh-TW" sz="2400" dirty="0" smtClean="0">
                <a:latin typeface="Times New Roman" panose="02020603050405020304" pitchFamily="18" charset="0"/>
                <a:cs typeface="Times New Roman" panose="02020603050405020304" pitchFamily="18" charset="0"/>
              </a:rPr>
              <a:t>3. </a:t>
            </a:r>
            <a:r>
              <a:rPr lang="zh-TW" altLang="en-US" sz="2400" dirty="0" smtClean="0">
                <a:latin typeface="Times New Roman" panose="02020603050405020304" pitchFamily="18" charset="0"/>
                <a:cs typeface="Times New Roman" panose="02020603050405020304" pitchFamily="18" charset="0"/>
              </a:rPr>
              <a:t>The </a:t>
            </a:r>
            <a:r>
              <a:rPr lang="zh-TW" altLang="en-US" sz="2400" dirty="0">
                <a:latin typeface="Times New Roman" panose="02020603050405020304" pitchFamily="18" charset="0"/>
                <a:cs typeface="Times New Roman" panose="02020603050405020304" pitchFamily="18" charset="0"/>
              </a:rPr>
              <a:t>protein sequences are transformed into training </a:t>
            </a:r>
            <a:r>
              <a:rPr lang="zh-TW" altLang="en-US" sz="2400" dirty="0" smtClean="0">
                <a:latin typeface="Times New Roman" panose="02020603050405020304" pitchFamily="18" charset="0"/>
                <a:cs typeface="Times New Roman" panose="02020603050405020304" pitchFamily="18" charset="0"/>
              </a:rPr>
              <a:t>dataset </a:t>
            </a:r>
            <a:r>
              <a:rPr lang="zh-TW" altLang="en-US" sz="2400" dirty="0">
                <a:latin typeface="Times New Roman" panose="02020603050405020304" pitchFamily="18" charset="0"/>
                <a:cs typeface="Times New Roman" panose="02020603050405020304" pitchFamily="18" charset="0"/>
              </a:rPr>
              <a:t>using the normalized PSSM.</a:t>
            </a:r>
          </a:p>
        </p:txBody>
      </p:sp>
      <p:sp>
        <p:nvSpPr>
          <p:cNvPr id="9" name="矩形 8"/>
          <p:cNvSpPr/>
          <p:nvPr/>
        </p:nvSpPr>
        <p:spPr>
          <a:xfrm>
            <a:off x="528051" y="5183227"/>
            <a:ext cx="7484008" cy="830997"/>
          </a:xfrm>
          <a:prstGeom prst="rect">
            <a:avLst/>
          </a:prstGeom>
        </p:spPr>
        <p:txBody>
          <a:bodyPr wrap="square">
            <a:spAutoFit/>
          </a:bodyPr>
          <a:lstStyle/>
          <a:p>
            <a:r>
              <a:rPr lang="en-US" altLang="zh-TW" sz="2400" dirty="0" smtClean="0">
                <a:latin typeface="Times New Roman" panose="02020603050405020304" pitchFamily="18" charset="0"/>
                <a:cs typeface="Times New Roman" panose="02020603050405020304" pitchFamily="18" charset="0"/>
              </a:rPr>
              <a:t>4. </a:t>
            </a:r>
            <a:r>
              <a:rPr lang="zh-TW" altLang="en-US" sz="2400" dirty="0" smtClean="0">
                <a:latin typeface="Times New Roman" panose="02020603050405020304" pitchFamily="18" charset="0"/>
                <a:cs typeface="Times New Roman" panose="02020603050405020304" pitchFamily="18" charset="0"/>
              </a:rPr>
              <a:t>Synergistic </a:t>
            </a:r>
            <a:r>
              <a:rPr lang="zh-TW" altLang="en-US" sz="2400" dirty="0">
                <a:latin typeface="Times New Roman" panose="02020603050405020304" pitchFamily="18" charset="0"/>
                <a:cs typeface="Times New Roman" panose="02020603050405020304" pitchFamily="18" charset="0"/>
              </a:rPr>
              <a:t>multiclass SVM classifier is trained with the training dataset obtained above.</a:t>
            </a:r>
          </a:p>
        </p:txBody>
      </p:sp>
    </p:spTree>
    <p:extLst>
      <p:ext uri="{BB962C8B-B14F-4D97-AF65-F5344CB8AC3E}">
        <p14:creationId xmlns:p14="http://schemas.microsoft.com/office/powerpoint/2010/main" val="11308117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97650" y="208651"/>
            <a:ext cx="7886700"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PSSM of Protein Sequences :</a:t>
            </a:r>
            <a:endParaRPr lang="zh-TW" altLang="en-US" sz="3200" b="1" dirty="0">
              <a:latin typeface="Times New Roman" panose="02020603050405020304" pitchFamily="18" charset="0"/>
              <a:cs typeface="Times New Roman" panose="02020603050405020304" pitchFamily="18"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1372939846"/>
              </p:ext>
            </p:extLst>
          </p:nvPr>
        </p:nvGraphicFramePr>
        <p:xfrm>
          <a:off x="1921163" y="1253836"/>
          <a:ext cx="7065818" cy="4899236"/>
        </p:xfrm>
        <a:graphic>
          <a:graphicData uri="http://schemas.openxmlformats.org/drawingml/2006/table">
            <a:tbl>
              <a:tblPr firstRow="1" bandRow="1">
                <a:tableStyleId>{5C22544A-7EE6-4342-B048-85BDC9FD1C3A}</a:tableStyleId>
              </a:tblPr>
              <a:tblGrid>
                <a:gridCol w="849746">
                  <a:extLst>
                    <a:ext uri="{9D8B030D-6E8A-4147-A177-3AD203B41FA5}">
                      <a16:colId xmlns:a16="http://schemas.microsoft.com/office/drawing/2014/main" xmlns="" val="1605233861"/>
                    </a:ext>
                  </a:extLst>
                </a:gridCol>
                <a:gridCol w="720435">
                  <a:extLst>
                    <a:ext uri="{9D8B030D-6E8A-4147-A177-3AD203B41FA5}">
                      <a16:colId xmlns:a16="http://schemas.microsoft.com/office/drawing/2014/main" xmlns="" val="3543228249"/>
                    </a:ext>
                  </a:extLst>
                </a:gridCol>
                <a:gridCol w="785091">
                  <a:extLst>
                    <a:ext uri="{9D8B030D-6E8A-4147-A177-3AD203B41FA5}">
                      <a16:colId xmlns:a16="http://schemas.microsoft.com/office/drawing/2014/main" xmlns="" val="3120355256"/>
                    </a:ext>
                  </a:extLst>
                </a:gridCol>
                <a:gridCol w="785091">
                  <a:extLst>
                    <a:ext uri="{9D8B030D-6E8A-4147-A177-3AD203B41FA5}">
                      <a16:colId xmlns:a16="http://schemas.microsoft.com/office/drawing/2014/main" xmlns="" val="4147274184"/>
                    </a:ext>
                  </a:extLst>
                </a:gridCol>
                <a:gridCol w="785091">
                  <a:extLst>
                    <a:ext uri="{9D8B030D-6E8A-4147-A177-3AD203B41FA5}">
                      <a16:colId xmlns:a16="http://schemas.microsoft.com/office/drawing/2014/main" xmlns="" val="59069133"/>
                    </a:ext>
                  </a:extLst>
                </a:gridCol>
                <a:gridCol w="785091">
                  <a:extLst>
                    <a:ext uri="{9D8B030D-6E8A-4147-A177-3AD203B41FA5}">
                      <a16:colId xmlns:a16="http://schemas.microsoft.com/office/drawing/2014/main" xmlns="" val="677377355"/>
                    </a:ext>
                  </a:extLst>
                </a:gridCol>
                <a:gridCol w="785091">
                  <a:extLst>
                    <a:ext uri="{9D8B030D-6E8A-4147-A177-3AD203B41FA5}">
                      <a16:colId xmlns:a16="http://schemas.microsoft.com/office/drawing/2014/main" xmlns="" val="3373296654"/>
                    </a:ext>
                  </a:extLst>
                </a:gridCol>
                <a:gridCol w="785091">
                  <a:extLst>
                    <a:ext uri="{9D8B030D-6E8A-4147-A177-3AD203B41FA5}">
                      <a16:colId xmlns:a16="http://schemas.microsoft.com/office/drawing/2014/main" xmlns="" val="3828455172"/>
                    </a:ext>
                  </a:extLst>
                </a:gridCol>
                <a:gridCol w="785091">
                  <a:extLst>
                    <a:ext uri="{9D8B030D-6E8A-4147-A177-3AD203B41FA5}">
                      <a16:colId xmlns:a16="http://schemas.microsoft.com/office/drawing/2014/main" xmlns="" val="2865496101"/>
                    </a:ext>
                  </a:extLst>
                </a:gridCol>
              </a:tblGrid>
              <a:tr h="387196">
                <a:tc>
                  <a:txBody>
                    <a:bodyPr/>
                    <a:lstStyle/>
                    <a:p>
                      <a:pPr algn="ctr"/>
                      <a:r>
                        <a:rPr lang="en-US" altLang="zh-TW" dirty="0" smtClean="0"/>
                        <a:t>Amino</a:t>
                      </a:r>
                      <a:r>
                        <a:rPr lang="en-US" altLang="zh-TW" baseline="0" dirty="0" smtClean="0"/>
                        <a:t> Acid</a:t>
                      </a:r>
                      <a:endParaRPr lang="zh-TW" altLang="en-US" dirty="0"/>
                    </a:p>
                  </a:txBody>
                  <a:tcPr anchor="ctr"/>
                </a:tc>
                <a:tc>
                  <a:txBody>
                    <a:bodyPr/>
                    <a:lstStyle/>
                    <a:p>
                      <a:pPr algn="ctr"/>
                      <a:r>
                        <a:rPr lang="en-US" altLang="zh-TW" dirty="0" smtClean="0"/>
                        <a:t>1</a:t>
                      </a:r>
                      <a:endParaRPr lang="zh-TW" altLang="en-US" dirty="0"/>
                    </a:p>
                  </a:txBody>
                  <a:tcPr anchor="ctr"/>
                </a:tc>
                <a:tc>
                  <a:txBody>
                    <a:bodyPr/>
                    <a:lstStyle/>
                    <a:p>
                      <a:pPr algn="ctr"/>
                      <a:r>
                        <a:rPr lang="en-US" altLang="zh-TW" dirty="0" smtClean="0"/>
                        <a:t>2</a:t>
                      </a:r>
                      <a:endParaRPr lang="zh-TW" altLang="en-US" dirty="0"/>
                    </a:p>
                  </a:txBody>
                  <a:tcPr anchor="ctr"/>
                </a:tc>
                <a:tc>
                  <a:txBody>
                    <a:bodyPr/>
                    <a:lstStyle/>
                    <a:p>
                      <a:pPr algn="ctr"/>
                      <a:r>
                        <a:rPr lang="en-US" altLang="zh-TW" dirty="0" smtClean="0"/>
                        <a:t>3</a:t>
                      </a:r>
                      <a:endParaRPr lang="zh-TW" altLang="en-US" dirty="0"/>
                    </a:p>
                  </a:txBody>
                  <a:tcPr anchor="ctr"/>
                </a:tc>
                <a:tc>
                  <a:txBody>
                    <a:bodyPr/>
                    <a:lstStyle/>
                    <a:p>
                      <a:pPr algn="ctr"/>
                      <a:r>
                        <a:rPr lang="en-US" altLang="zh-TW" dirty="0" smtClean="0"/>
                        <a:t>4</a:t>
                      </a:r>
                      <a:endParaRPr lang="zh-TW" altLang="en-US" dirty="0"/>
                    </a:p>
                  </a:txBody>
                  <a:tcPr anchor="ctr"/>
                </a:tc>
                <a:tc>
                  <a:txBody>
                    <a:bodyPr/>
                    <a:lstStyle/>
                    <a:p>
                      <a:pPr algn="ctr"/>
                      <a:r>
                        <a:rPr lang="en-US" altLang="zh-TW" dirty="0" smtClean="0"/>
                        <a:t>5</a:t>
                      </a:r>
                      <a:endParaRPr lang="zh-TW" altLang="en-US" dirty="0"/>
                    </a:p>
                  </a:txBody>
                  <a:tcPr anchor="ctr"/>
                </a:tc>
                <a:tc>
                  <a:txBody>
                    <a:bodyPr/>
                    <a:lstStyle/>
                    <a:p>
                      <a:pPr algn="ctr"/>
                      <a:r>
                        <a:rPr lang="en-US" altLang="zh-TW" dirty="0" smtClean="0"/>
                        <a:t>6</a:t>
                      </a:r>
                      <a:endParaRPr lang="zh-TW" altLang="en-US" dirty="0"/>
                    </a:p>
                  </a:txBody>
                  <a:tcPr anchor="ctr"/>
                </a:tc>
                <a:tc>
                  <a:txBody>
                    <a:bodyPr/>
                    <a:lstStyle/>
                    <a:p>
                      <a:pPr algn="ctr"/>
                      <a:r>
                        <a:rPr lang="en-US" altLang="zh-TW" dirty="0" smtClean="0"/>
                        <a:t>7</a:t>
                      </a:r>
                      <a:endParaRPr lang="zh-TW" altLang="en-US" dirty="0"/>
                    </a:p>
                  </a:txBody>
                  <a:tcPr anchor="ctr"/>
                </a:tc>
                <a:tc>
                  <a:txBody>
                    <a:bodyPr/>
                    <a:lstStyle/>
                    <a:p>
                      <a:pPr algn="ctr"/>
                      <a:r>
                        <a:rPr lang="en-US" altLang="zh-TW" dirty="0" smtClean="0"/>
                        <a:t>8</a:t>
                      </a:r>
                      <a:endParaRPr lang="zh-TW" altLang="en-US" dirty="0"/>
                    </a:p>
                  </a:txBody>
                  <a:tcPr anchor="ctr"/>
                </a:tc>
                <a:extLst>
                  <a:ext uri="{0D108BD9-81ED-4DB2-BD59-A6C34878D82A}">
                    <a16:rowId xmlns:a16="http://schemas.microsoft.com/office/drawing/2014/main" xmlns="" val="3343172437"/>
                  </a:ext>
                </a:extLst>
              </a:tr>
              <a:tr h="387196">
                <a:tc>
                  <a:txBody>
                    <a:bodyPr/>
                    <a:lstStyle/>
                    <a:p>
                      <a:pPr algn="ctr"/>
                      <a:r>
                        <a:rPr lang="en-US" altLang="zh-TW" dirty="0" smtClean="0"/>
                        <a:t>N</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0</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extLst>
                  <a:ext uri="{0D108BD9-81ED-4DB2-BD59-A6C34878D82A}">
                    <a16:rowId xmlns:a16="http://schemas.microsoft.com/office/drawing/2014/main" xmlns="" val="1994635947"/>
                  </a:ext>
                </a:extLst>
              </a:tr>
              <a:tr h="387196">
                <a:tc>
                  <a:txBody>
                    <a:bodyPr/>
                    <a:lstStyle/>
                    <a:p>
                      <a:pPr algn="ctr"/>
                      <a:r>
                        <a:rPr lang="en-US" altLang="zh-TW" dirty="0" smtClean="0"/>
                        <a:t>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0</a:t>
                      </a:r>
                      <a:endParaRPr lang="zh-TW" altLang="en-US" dirty="0"/>
                    </a:p>
                  </a:txBody>
                  <a:tcPr/>
                </a:tc>
                <a:extLst>
                  <a:ext uri="{0D108BD9-81ED-4DB2-BD59-A6C34878D82A}">
                    <a16:rowId xmlns:a16="http://schemas.microsoft.com/office/drawing/2014/main" xmlns="" val="2607260541"/>
                  </a:ext>
                </a:extLst>
              </a:tr>
              <a:tr h="387196">
                <a:tc>
                  <a:txBody>
                    <a:bodyPr/>
                    <a:lstStyle/>
                    <a:p>
                      <a:pPr algn="ctr"/>
                      <a:r>
                        <a:rPr lang="en-US" altLang="zh-TW" dirty="0" smtClean="0"/>
                        <a:t>E</a:t>
                      </a:r>
                      <a:endParaRPr lang="zh-TW" altLang="en-US" dirty="0"/>
                    </a:p>
                  </a:txBody>
                  <a:tcPr/>
                </a:tc>
                <a:tc>
                  <a:txBody>
                    <a:bodyPr/>
                    <a:lstStyle/>
                    <a:p>
                      <a:pPr algn="ctr"/>
                      <a:r>
                        <a:rPr lang="en-US" altLang="zh-TW" dirty="0" smtClean="0"/>
                        <a:t>0</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1</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0</a:t>
                      </a:r>
                    </a:p>
                  </a:txBody>
                  <a:tcPr/>
                </a:tc>
                <a:tc>
                  <a:txBody>
                    <a:bodyPr/>
                    <a:lstStyle/>
                    <a:p>
                      <a:pPr algn="ctr"/>
                      <a:r>
                        <a:rPr lang="en-US" altLang="zh-TW" dirty="0" smtClean="0"/>
                        <a:t>2</a:t>
                      </a:r>
                      <a:endParaRPr lang="zh-TW" altLang="en-US" dirty="0"/>
                    </a:p>
                  </a:txBody>
                  <a:tcPr/>
                </a:tc>
                <a:tc>
                  <a:txBody>
                    <a:bodyPr/>
                    <a:lstStyle/>
                    <a:p>
                      <a:pPr algn="ctr"/>
                      <a:r>
                        <a:rPr lang="en-US" altLang="zh-TW" dirty="0" smtClean="0"/>
                        <a:t>1</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0</a:t>
                      </a:r>
                    </a:p>
                  </a:txBody>
                  <a:tcPr/>
                </a:tc>
                <a:tc>
                  <a:txBody>
                    <a:bodyPr/>
                    <a:lstStyle/>
                    <a:p>
                      <a:pPr algn="ctr"/>
                      <a:r>
                        <a:rPr lang="en-US" altLang="zh-TW" dirty="0" smtClean="0"/>
                        <a:t>2</a:t>
                      </a:r>
                      <a:endParaRPr lang="zh-TW" altLang="en-US" dirty="0"/>
                    </a:p>
                  </a:txBody>
                  <a:tcPr/>
                </a:tc>
                <a:extLst>
                  <a:ext uri="{0D108BD9-81ED-4DB2-BD59-A6C34878D82A}">
                    <a16:rowId xmlns:a16="http://schemas.microsoft.com/office/drawing/2014/main" xmlns="" val="2138694041"/>
                  </a:ext>
                </a:extLst>
              </a:tr>
              <a:tr h="387196">
                <a:tc>
                  <a:txBody>
                    <a:bodyPr/>
                    <a:lstStyle/>
                    <a:p>
                      <a:pPr algn="ctr"/>
                      <a:r>
                        <a:rPr lang="en-US" altLang="zh-TW" dirty="0" smtClean="0"/>
                        <a:t>G</a:t>
                      </a:r>
                      <a:endParaRPr lang="zh-TW" altLang="en-US" dirty="0"/>
                    </a:p>
                  </a:txBody>
                  <a:tcPr/>
                </a:tc>
                <a:tc>
                  <a:txBody>
                    <a:bodyPr/>
                    <a:lstStyle/>
                    <a:p>
                      <a:pPr algn="ctr"/>
                      <a:r>
                        <a:rPr lang="en-US" altLang="zh-TW" dirty="0" smtClean="0"/>
                        <a:t>0</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1</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0</a:t>
                      </a:r>
                      <a:endParaRPr lang="zh-TW" altLang="en-US"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0</a:t>
                      </a:r>
                      <a:endParaRPr lang="zh-TW" altLang="en-US" dirty="0" smtClean="0"/>
                    </a:p>
                  </a:txBody>
                  <a:tcPr/>
                </a:tc>
                <a:tc>
                  <a:txBody>
                    <a:bodyPr/>
                    <a:lstStyle/>
                    <a:p>
                      <a:pPr algn="ctr"/>
                      <a:r>
                        <a:rPr lang="en-US" altLang="zh-TW" dirty="0" smtClean="0"/>
                        <a:t>1</a:t>
                      </a:r>
                      <a:endParaRPr lang="zh-TW" altLang="en-US" dirty="0"/>
                    </a:p>
                  </a:txBody>
                  <a:tcPr/>
                </a:tc>
                <a:extLst>
                  <a:ext uri="{0D108BD9-81ED-4DB2-BD59-A6C34878D82A}">
                    <a16:rowId xmlns:a16="http://schemas.microsoft.com/office/drawing/2014/main" xmlns="" val="3549637273"/>
                  </a:ext>
                </a:extLst>
              </a:tr>
              <a:tr h="387196">
                <a:tc>
                  <a:txBody>
                    <a:bodyPr/>
                    <a:lstStyle/>
                    <a:p>
                      <a:pPr algn="ctr"/>
                      <a:r>
                        <a:rPr lang="en-US" altLang="zh-TW" dirty="0" smtClean="0"/>
                        <a:t>W</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0</a:t>
                      </a:r>
                      <a:endParaRPr lang="zh-TW" altLang="en-US" dirty="0" smtClean="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0</a:t>
                      </a:r>
                      <a:endParaRPr lang="zh-TW" altLang="en-US" dirty="0" smtClean="0"/>
                    </a:p>
                  </a:txBody>
                  <a:tcPr/>
                </a:tc>
                <a:extLst>
                  <a:ext uri="{0D108BD9-81ED-4DB2-BD59-A6C34878D82A}">
                    <a16:rowId xmlns:a16="http://schemas.microsoft.com/office/drawing/2014/main" xmlns="" val="4251251268"/>
                  </a:ext>
                </a:extLst>
              </a:tr>
              <a:tr h="387196">
                <a:tc>
                  <a:txBody>
                    <a:bodyPr/>
                    <a:lstStyle/>
                    <a:p>
                      <a:pPr algn="ctr"/>
                      <a:r>
                        <a:rPr lang="en-US" altLang="zh-TW" dirty="0" smtClean="0"/>
                        <a:t>I</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2</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1</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extLst>
                  <a:ext uri="{0D108BD9-81ED-4DB2-BD59-A6C34878D82A}">
                    <a16:rowId xmlns:a16="http://schemas.microsoft.com/office/drawing/2014/main" xmlns="" val="4128702581"/>
                  </a:ext>
                </a:extLst>
              </a:tr>
              <a:tr h="387196">
                <a:tc>
                  <a:txBody>
                    <a:bodyPr/>
                    <a:lstStyle/>
                    <a:p>
                      <a:pPr algn="ctr"/>
                      <a:r>
                        <a:rPr lang="en-US" altLang="zh-TW" dirty="0" smtClean="0"/>
                        <a:t>H</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extLst>
                  <a:ext uri="{0D108BD9-81ED-4DB2-BD59-A6C34878D82A}">
                    <a16:rowId xmlns:a16="http://schemas.microsoft.com/office/drawing/2014/main" xmlns="" val="4252483310"/>
                  </a:ext>
                </a:extLst>
              </a:tr>
              <a:tr h="387196">
                <a:tc>
                  <a:txBody>
                    <a:bodyPr/>
                    <a:lstStyle/>
                    <a:p>
                      <a:pPr algn="ctr"/>
                      <a:r>
                        <a:rPr lang="en-US" altLang="zh-TW" dirty="0" smtClean="0"/>
                        <a:t>R</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1</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extLst>
                  <a:ext uri="{0D108BD9-81ED-4DB2-BD59-A6C34878D82A}">
                    <a16:rowId xmlns:a16="http://schemas.microsoft.com/office/drawing/2014/main" xmlns="" val="4026282657"/>
                  </a:ext>
                </a:extLst>
              </a:tr>
              <a:tr h="387196">
                <a:tc>
                  <a:txBody>
                    <a:bodyPr/>
                    <a:lstStyle/>
                    <a:p>
                      <a:pPr algn="ctr"/>
                      <a:r>
                        <a:rPr lang="en-US" altLang="zh-TW" dirty="0" smtClean="0"/>
                        <a:t>A</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1</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extLst>
                  <a:ext uri="{0D108BD9-81ED-4DB2-BD59-A6C34878D82A}">
                    <a16:rowId xmlns:a16="http://schemas.microsoft.com/office/drawing/2014/main" xmlns="" val="582421337"/>
                  </a:ext>
                </a:extLst>
              </a:tr>
              <a:tr h="387196">
                <a:tc>
                  <a:txBody>
                    <a:bodyPr/>
                    <a:lstStyle/>
                    <a:p>
                      <a:pPr algn="ctr"/>
                      <a:r>
                        <a:rPr lang="en-US" altLang="zh-TW" dirty="0" smtClean="0"/>
                        <a:t>C</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0</a:t>
                      </a:r>
                      <a:endParaRPr lang="zh-TW" altLang="en-US" dirty="0" smtClean="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extLst>
                  <a:ext uri="{0D108BD9-81ED-4DB2-BD59-A6C34878D82A}">
                    <a16:rowId xmlns:a16="http://schemas.microsoft.com/office/drawing/2014/main" xmlns="" val="535659147"/>
                  </a:ext>
                </a:extLst>
              </a:tr>
              <a:tr h="387196">
                <a:tc>
                  <a:txBody>
                    <a:bodyPr/>
                    <a:lstStyle/>
                    <a:p>
                      <a:pPr algn="ctr"/>
                      <a:r>
                        <a:rPr lang="en-US" altLang="zh-TW" dirty="0" smtClean="0"/>
                        <a:t>…</a:t>
                      </a:r>
                      <a:endParaRPr lang="zh-TW" altLang="en-US" dirty="0"/>
                    </a:p>
                  </a:txBody>
                  <a:tcPr/>
                </a:tc>
                <a:tc>
                  <a:txBody>
                    <a:bodyPr/>
                    <a:lstStyle/>
                    <a:p>
                      <a:pPr algn="ct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a:t>
                      </a:r>
                      <a:endParaRPr lang="zh-TW" altLang="en-US" dirty="0"/>
                    </a:p>
                  </a:txBody>
                  <a:tcPr/>
                </a:tc>
                <a:tc>
                  <a:txBody>
                    <a:bodyPr/>
                    <a:lstStyle/>
                    <a:p>
                      <a:pPr algn="ct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a:t>
                      </a:r>
                      <a:endParaRPr lang="zh-TW" altLang="en-US" dirty="0"/>
                    </a:p>
                  </a:txBody>
                  <a:tcPr/>
                </a:tc>
                <a:tc>
                  <a:txBody>
                    <a:bodyPr/>
                    <a:lstStyle/>
                    <a:p>
                      <a:pPr algn="ct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a:t>
                      </a:r>
                      <a:endParaRPr lang="zh-TW" altLang="en-US" dirty="0"/>
                    </a:p>
                  </a:txBody>
                  <a:tcPr/>
                </a:tc>
                <a:tc>
                  <a:txBody>
                    <a:bodyPr/>
                    <a:lstStyle/>
                    <a:p>
                      <a:pPr algn="ct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a:t>
                      </a:r>
                      <a:endParaRPr lang="zh-TW" altLang="en-US" dirty="0"/>
                    </a:p>
                  </a:txBody>
                  <a:tcPr/>
                </a:tc>
                <a:tc>
                  <a:txBody>
                    <a:bodyPr/>
                    <a:lstStyle/>
                    <a:p>
                      <a:pPr algn="ct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a:t>
                      </a:r>
                      <a:endParaRPr lang="zh-TW" altLang="en-US" dirty="0"/>
                    </a:p>
                  </a:txBody>
                  <a:tcPr/>
                </a:tc>
                <a:tc>
                  <a:txBody>
                    <a:bodyPr/>
                    <a:lstStyle/>
                    <a:p>
                      <a:pPr algn="ct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a:t>
                      </a:r>
                      <a:endParaRPr lang="zh-TW" altLang="en-US" dirty="0"/>
                    </a:p>
                  </a:txBody>
                  <a:tcPr/>
                </a:tc>
                <a:tc>
                  <a:txBody>
                    <a:bodyPr/>
                    <a:lstStyle/>
                    <a:p>
                      <a:pPr algn="ct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mn-lt"/>
                          <a:ea typeface="+mn-ea"/>
                          <a:cs typeface="+mn-cs"/>
                        </a:rPr>
                        <a:t>…</a:t>
                      </a:r>
                      <a:endParaRPr lang="zh-TW" altLang="en-US" dirty="0" smtClean="0"/>
                    </a:p>
                  </a:txBody>
                  <a:tcPr/>
                </a:tc>
                <a:extLst>
                  <a:ext uri="{0D108BD9-81ED-4DB2-BD59-A6C34878D82A}">
                    <a16:rowId xmlns:a16="http://schemas.microsoft.com/office/drawing/2014/main" xmlns="" val="2706528726"/>
                  </a:ext>
                </a:extLst>
              </a:tr>
            </a:tbl>
          </a:graphicData>
        </a:graphic>
      </p:graphicFrame>
      <p:sp>
        <p:nvSpPr>
          <p:cNvPr id="13" name="Rectangle 3"/>
          <p:cNvSpPr txBox="1">
            <a:spLocks noChangeArrowheads="1"/>
          </p:cNvSpPr>
          <p:nvPr/>
        </p:nvSpPr>
        <p:spPr>
          <a:xfrm>
            <a:off x="2" y="1022928"/>
            <a:ext cx="1810326" cy="1828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altLang="zh-TW" sz="2400" dirty="0" smtClean="0">
                <a:latin typeface="Times New Roman" panose="02020603050405020304" pitchFamily="18" charset="0"/>
                <a:cs typeface="Times New Roman" panose="02020603050405020304" pitchFamily="18" charset="0"/>
              </a:rPr>
              <a:t>NTEGEWIE</a:t>
            </a:r>
          </a:p>
          <a:p>
            <a:pPr>
              <a:buFontTx/>
              <a:buNone/>
            </a:pPr>
            <a:r>
              <a:rPr lang="en-US" altLang="zh-TW" sz="2400" dirty="0" smtClean="0">
                <a:latin typeface="Times New Roman" panose="02020603050405020304" pitchFamily="18" charset="0"/>
                <a:cs typeface="Times New Roman" panose="02020603050405020304" pitchFamily="18" charset="0"/>
              </a:rPr>
              <a:t>NITRGEWE</a:t>
            </a:r>
          </a:p>
          <a:p>
            <a:pPr>
              <a:buFontTx/>
              <a:buNone/>
            </a:pPr>
            <a:r>
              <a:rPr lang="en-US" altLang="zh-TW" sz="2400" dirty="0" smtClean="0">
                <a:latin typeface="Times New Roman" panose="02020603050405020304" pitchFamily="18" charset="0"/>
                <a:cs typeface="Times New Roman" panose="02020603050405020304" pitchFamily="18" charset="0"/>
              </a:rPr>
              <a:t>NIAGECCG</a:t>
            </a: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61024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97650" y="208651"/>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PSSM of Protein </a:t>
            </a:r>
            <a:r>
              <a:rPr lang="en-US" altLang="zh-TW" sz="3200" b="1" dirty="0" smtClean="0">
                <a:latin typeface="Times New Roman" panose="02020603050405020304" pitchFamily="18" charset="0"/>
                <a:cs typeface="Times New Roman" panose="02020603050405020304" pitchFamily="18" charset="0"/>
              </a:rPr>
              <a:t>Sequences :</a:t>
            </a:r>
            <a:endParaRPr lang="zh-TW" altLang="en-US" sz="3200" b="1" dirty="0">
              <a:latin typeface="Times New Roman" panose="02020603050405020304" pitchFamily="18" charset="0"/>
              <a:cs typeface="Times New Roman" panose="02020603050405020304" pitchFamily="18"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2029404464"/>
              </p:ext>
            </p:extLst>
          </p:nvPr>
        </p:nvGraphicFramePr>
        <p:xfrm>
          <a:off x="1921165" y="1253836"/>
          <a:ext cx="6908797" cy="4899236"/>
        </p:xfrm>
        <a:graphic>
          <a:graphicData uri="http://schemas.openxmlformats.org/drawingml/2006/table">
            <a:tbl>
              <a:tblPr firstRow="1" bandRow="1">
                <a:tableStyleId>{5C22544A-7EE6-4342-B048-85BDC9FD1C3A}</a:tableStyleId>
              </a:tblPr>
              <a:tblGrid>
                <a:gridCol w="849744">
                  <a:extLst>
                    <a:ext uri="{9D8B030D-6E8A-4147-A177-3AD203B41FA5}">
                      <a16:colId xmlns:a16="http://schemas.microsoft.com/office/drawing/2014/main" xmlns="" val="1605233861"/>
                    </a:ext>
                  </a:extLst>
                </a:gridCol>
                <a:gridCol w="685545">
                  <a:extLst>
                    <a:ext uri="{9D8B030D-6E8A-4147-A177-3AD203B41FA5}">
                      <a16:colId xmlns:a16="http://schemas.microsoft.com/office/drawing/2014/main" xmlns="" val="3543228249"/>
                    </a:ext>
                  </a:extLst>
                </a:gridCol>
                <a:gridCol w="767644">
                  <a:extLst>
                    <a:ext uri="{9D8B030D-6E8A-4147-A177-3AD203B41FA5}">
                      <a16:colId xmlns:a16="http://schemas.microsoft.com/office/drawing/2014/main" xmlns="" val="3120355256"/>
                    </a:ext>
                  </a:extLst>
                </a:gridCol>
                <a:gridCol w="767644">
                  <a:extLst>
                    <a:ext uri="{9D8B030D-6E8A-4147-A177-3AD203B41FA5}">
                      <a16:colId xmlns:a16="http://schemas.microsoft.com/office/drawing/2014/main" xmlns="" val="4147274184"/>
                    </a:ext>
                  </a:extLst>
                </a:gridCol>
                <a:gridCol w="767644">
                  <a:extLst>
                    <a:ext uri="{9D8B030D-6E8A-4147-A177-3AD203B41FA5}">
                      <a16:colId xmlns:a16="http://schemas.microsoft.com/office/drawing/2014/main" xmlns="" val="59069133"/>
                    </a:ext>
                  </a:extLst>
                </a:gridCol>
                <a:gridCol w="767644">
                  <a:extLst>
                    <a:ext uri="{9D8B030D-6E8A-4147-A177-3AD203B41FA5}">
                      <a16:colId xmlns:a16="http://schemas.microsoft.com/office/drawing/2014/main" xmlns="" val="677377355"/>
                    </a:ext>
                  </a:extLst>
                </a:gridCol>
                <a:gridCol w="767644">
                  <a:extLst>
                    <a:ext uri="{9D8B030D-6E8A-4147-A177-3AD203B41FA5}">
                      <a16:colId xmlns:a16="http://schemas.microsoft.com/office/drawing/2014/main" xmlns="" val="3373296654"/>
                    </a:ext>
                  </a:extLst>
                </a:gridCol>
                <a:gridCol w="767644">
                  <a:extLst>
                    <a:ext uri="{9D8B030D-6E8A-4147-A177-3AD203B41FA5}">
                      <a16:colId xmlns:a16="http://schemas.microsoft.com/office/drawing/2014/main" xmlns="" val="3828455172"/>
                    </a:ext>
                  </a:extLst>
                </a:gridCol>
                <a:gridCol w="767644">
                  <a:extLst>
                    <a:ext uri="{9D8B030D-6E8A-4147-A177-3AD203B41FA5}">
                      <a16:colId xmlns:a16="http://schemas.microsoft.com/office/drawing/2014/main" xmlns="" val="1453140998"/>
                    </a:ext>
                  </a:extLst>
                </a:gridCol>
              </a:tblGrid>
              <a:tr h="387196">
                <a:tc>
                  <a:txBody>
                    <a:bodyPr/>
                    <a:lstStyle/>
                    <a:p>
                      <a:pPr algn="ctr"/>
                      <a:r>
                        <a:rPr lang="en-US" altLang="zh-TW" dirty="0" smtClean="0"/>
                        <a:t>Amino</a:t>
                      </a:r>
                      <a:r>
                        <a:rPr lang="en-US" altLang="zh-TW" baseline="0" dirty="0" smtClean="0"/>
                        <a:t> Acid</a:t>
                      </a:r>
                      <a:endParaRPr lang="zh-TW" altLang="en-US" dirty="0"/>
                    </a:p>
                  </a:txBody>
                  <a:tcPr anchor="ctr"/>
                </a:tc>
                <a:tc>
                  <a:txBody>
                    <a:bodyPr/>
                    <a:lstStyle/>
                    <a:p>
                      <a:pPr algn="ctr"/>
                      <a:r>
                        <a:rPr lang="en-US" altLang="zh-TW" dirty="0" smtClean="0"/>
                        <a:t>1</a:t>
                      </a:r>
                      <a:endParaRPr lang="zh-TW" altLang="en-US" dirty="0"/>
                    </a:p>
                  </a:txBody>
                  <a:tcPr anchor="ctr"/>
                </a:tc>
                <a:tc>
                  <a:txBody>
                    <a:bodyPr/>
                    <a:lstStyle/>
                    <a:p>
                      <a:pPr algn="ctr"/>
                      <a:r>
                        <a:rPr lang="en-US" altLang="zh-TW" dirty="0" smtClean="0"/>
                        <a:t>2</a:t>
                      </a:r>
                      <a:endParaRPr lang="zh-TW" altLang="en-US" dirty="0"/>
                    </a:p>
                  </a:txBody>
                  <a:tcPr anchor="ctr"/>
                </a:tc>
                <a:tc>
                  <a:txBody>
                    <a:bodyPr/>
                    <a:lstStyle/>
                    <a:p>
                      <a:pPr algn="ctr"/>
                      <a:r>
                        <a:rPr lang="en-US" altLang="zh-TW" dirty="0" smtClean="0"/>
                        <a:t>3</a:t>
                      </a:r>
                      <a:endParaRPr lang="zh-TW" altLang="en-US" dirty="0"/>
                    </a:p>
                  </a:txBody>
                  <a:tcPr anchor="ctr"/>
                </a:tc>
                <a:tc>
                  <a:txBody>
                    <a:bodyPr/>
                    <a:lstStyle/>
                    <a:p>
                      <a:pPr algn="ctr"/>
                      <a:r>
                        <a:rPr lang="en-US" altLang="zh-TW" dirty="0" smtClean="0"/>
                        <a:t>4</a:t>
                      </a:r>
                      <a:endParaRPr lang="zh-TW" altLang="en-US" dirty="0"/>
                    </a:p>
                  </a:txBody>
                  <a:tcPr anchor="ctr"/>
                </a:tc>
                <a:tc>
                  <a:txBody>
                    <a:bodyPr/>
                    <a:lstStyle/>
                    <a:p>
                      <a:pPr algn="ctr"/>
                      <a:r>
                        <a:rPr lang="en-US" altLang="zh-TW" dirty="0" smtClean="0"/>
                        <a:t>5</a:t>
                      </a:r>
                      <a:endParaRPr lang="zh-TW" altLang="en-US" dirty="0"/>
                    </a:p>
                  </a:txBody>
                  <a:tcPr anchor="ctr"/>
                </a:tc>
                <a:tc>
                  <a:txBody>
                    <a:bodyPr/>
                    <a:lstStyle/>
                    <a:p>
                      <a:pPr algn="ctr"/>
                      <a:r>
                        <a:rPr lang="en-US" altLang="zh-TW" dirty="0" smtClean="0"/>
                        <a:t>6</a:t>
                      </a:r>
                      <a:endParaRPr lang="zh-TW" altLang="en-US" dirty="0"/>
                    </a:p>
                  </a:txBody>
                  <a:tcPr anchor="ctr"/>
                </a:tc>
                <a:tc>
                  <a:txBody>
                    <a:bodyPr/>
                    <a:lstStyle/>
                    <a:p>
                      <a:pPr algn="ctr"/>
                      <a:r>
                        <a:rPr lang="en-US" altLang="zh-TW" dirty="0" smtClean="0"/>
                        <a:t>7</a:t>
                      </a:r>
                      <a:endParaRPr lang="zh-TW" altLang="en-US" dirty="0"/>
                    </a:p>
                  </a:txBody>
                  <a:tcPr anchor="ctr"/>
                </a:tc>
                <a:tc>
                  <a:txBody>
                    <a:bodyPr/>
                    <a:lstStyle/>
                    <a:p>
                      <a:pPr algn="ctr"/>
                      <a:r>
                        <a:rPr lang="en-US" altLang="zh-TW" dirty="0" smtClean="0"/>
                        <a:t>8</a:t>
                      </a:r>
                      <a:endParaRPr lang="zh-TW" altLang="en-US" dirty="0"/>
                    </a:p>
                  </a:txBody>
                  <a:tcPr anchor="ctr"/>
                </a:tc>
                <a:extLst>
                  <a:ext uri="{0D108BD9-81ED-4DB2-BD59-A6C34878D82A}">
                    <a16:rowId xmlns:a16="http://schemas.microsoft.com/office/drawing/2014/main" xmlns="" val="3343172437"/>
                  </a:ext>
                </a:extLst>
              </a:tr>
              <a:tr h="387196">
                <a:tc>
                  <a:txBody>
                    <a:bodyPr/>
                    <a:lstStyle/>
                    <a:p>
                      <a:pPr algn="ctr"/>
                      <a:r>
                        <a:rPr lang="en-US" altLang="zh-TW" dirty="0" smtClean="0"/>
                        <a:t>N</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0</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extLst>
                  <a:ext uri="{0D108BD9-81ED-4DB2-BD59-A6C34878D82A}">
                    <a16:rowId xmlns:a16="http://schemas.microsoft.com/office/drawing/2014/main" xmlns="" val="1994635947"/>
                  </a:ext>
                </a:extLst>
              </a:tr>
              <a:tr h="387196">
                <a:tc>
                  <a:txBody>
                    <a:bodyPr/>
                    <a:lstStyle/>
                    <a:p>
                      <a:pPr algn="ctr"/>
                      <a:r>
                        <a:rPr lang="en-US" altLang="zh-TW" dirty="0" smtClean="0"/>
                        <a:t>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0.33</a:t>
                      </a:r>
                      <a:endParaRPr lang="zh-TW" altLang="en-US" dirty="0"/>
                    </a:p>
                  </a:txBody>
                  <a:tcPr/>
                </a:tc>
                <a:tc>
                  <a:txBody>
                    <a:bodyPr/>
                    <a:lstStyle/>
                    <a:p>
                      <a:pPr algn="ctr"/>
                      <a:r>
                        <a:rPr lang="en-US" altLang="zh-TW" dirty="0" smtClean="0"/>
                        <a:t>0.33</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0</a:t>
                      </a:r>
                      <a:endParaRPr lang="zh-TW" altLang="en-US" dirty="0"/>
                    </a:p>
                  </a:txBody>
                  <a:tcPr/>
                </a:tc>
                <a:extLst>
                  <a:ext uri="{0D108BD9-81ED-4DB2-BD59-A6C34878D82A}">
                    <a16:rowId xmlns:a16="http://schemas.microsoft.com/office/drawing/2014/main" xmlns="" val="2607260541"/>
                  </a:ext>
                </a:extLst>
              </a:tr>
              <a:tr h="387196">
                <a:tc>
                  <a:txBody>
                    <a:bodyPr/>
                    <a:lstStyle/>
                    <a:p>
                      <a:pPr algn="ctr"/>
                      <a:r>
                        <a:rPr lang="en-US" altLang="zh-TW" dirty="0" smtClean="0"/>
                        <a:t>E</a:t>
                      </a:r>
                      <a:endParaRPr lang="zh-TW" altLang="en-US" dirty="0"/>
                    </a:p>
                  </a:txBody>
                  <a:tcPr/>
                </a:tc>
                <a:tc>
                  <a:txBody>
                    <a:bodyPr/>
                    <a:lstStyle/>
                    <a:p>
                      <a:pPr algn="ctr"/>
                      <a:r>
                        <a:rPr lang="en-US" altLang="zh-TW" dirty="0" smtClean="0"/>
                        <a:t>0</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0.33</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0</a:t>
                      </a:r>
                    </a:p>
                  </a:txBody>
                  <a:tcPr/>
                </a:tc>
                <a:tc>
                  <a:txBody>
                    <a:bodyPr/>
                    <a:lstStyle/>
                    <a:p>
                      <a:pPr algn="ctr"/>
                      <a:r>
                        <a:rPr lang="en-US" altLang="zh-TW" dirty="0" smtClean="0"/>
                        <a:t>0.66</a:t>
                      </a:r>
                      <a:endParaRPr lang="zh-TW" altLang="en-US" dirty="0"/>
                    </a:p>
                  </a:txBody>
                  <a:tcPr/>
                </a:tc>
                <a:tc>
                  <a:txBody>
                    <a:bodyPr/>
                    <a:lstStyle/>
                    <a:p>
                      <a:pPr algn="ctr"/>
                      <a:r>
                        <a:rPr lang="en-US" altLang="zh-TW" dirty="0" smtClean="0"/>
                        <a:t>0.33</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0</a:t>
                      </a:r>
                    </a:p>
                  </a:txBody>
                  <a:tcPr/>
                </a:tc>
                <a:tc>
                  <a:txBody>
                    <a:bodyPr/>
                    <a:lstStyle/>
                    <a:p>
                      <a:pPr algn="ctr"/>
                      <a:r>
                        <a:rPr lang="en-US" altLang="zh-TW" dirty="0" smtClean="0"/>
                        <a:t>0.66</a:t>
                      </a:r>
                      <a:endParaRPr lang="zh-TW" altLang="en-US" dirty="0"/>
                    </a:p>
                  </a:txBody>
                  <a:tcPr/>
                </a:tc>
                <a:extLst>
                  <a:ext uri="{0D108BD9-81ED-4DB2-BD59-A6C34878D82A}">
                    <a16:rowId xmlns:a16="http://schemas.microsoft.com/office/drawing/2014/main" xmlns="" val="2138694041"/>
                  </a:ext>
                </a:extLst>
              </a:tr>
              <a:tr h="387196">
                <a:tc>
                  <a:txBody>
                    <a:bodyPr/>
                    <a:lstStyle/>
                    <a:p>
                      <a:pPr algn="ctr"/>
                      <a:r>
                        <a:rPr lang="en-US" altLang="zh-TW" dirty="0" smtClean="0"/>
                        <a:t>G</a:t>
                      </a:r>
                      <a:endParaRPr lang="zh-TW" altLang="en-US" dirty="0"/>
                    </a:p>
                  </a:txBody>
                  <a:tcPr/>
                </a:tc>
                <a:tc>
                  <a:txBody>
                    <a:bodyPr/>
                    <a:lstStyle/>
                    <a:p>
                      <a:pPr algn="ctr"/>
                      <a:r>
                        <a:rPr lang="en-US" altLang="zh-TW" dirty="0" smtClean="0"/>
                        <a:t>0</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0.66</a:t>
                      </a:r>
                      <a:endParaRPr lang="zh-TW" altLang="en-US" dirty="0"/>
                    </a:p>
                  </a:txBody>
                  <a:tcPr/>
                </a:tc>
                <a:tc>
                  <a:txBody>
                    <a:bodyPr/>
                    <a:lstStyle/>
                    <a:p>
                      <a:pPr algn="ctr"/>
                      <a:r>
                        <a:rPr lang="en-US" altLang="zh-TW" dirty="0" smtClean="0"/>
                        <a:t>0.33</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0</a:t>
                      </a:r>
                      <a:endParaRPr lang="zh-TW" altLang="en-US"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0</a:t>
                      </a:r>
                      <a:endParaRPr lang="zh-TW" altLang="en-US" dirty="0" smtClean="0"/>
                    </a:p>
                  </a:txBody>
                  <a:tcPr/>
                </a:tc>
                <a:tc>
                  <a:txBody>
                    <a:bodyPr/>
                    <a:lstStyle/>
                    <a:p>
                      <a:pPr algn="ctr"/>
                      <a:r>
                        <a:rPr lang="en-US" altLang="zh-TW" dirty="0" smtClean="0"/>
                        <a:t>0.33</a:t>
                      </a:r>
                      <a:endParaRPr lang="zh-TW" altLang="en-US" dirty="0"/>
                    </a:p>
                  </a:txBody>
                  <a:tcPr/>
                </a:tc>
                <a:extLst>
                  <a:ext uri="{0D108BD9-81ED-4DB2-BD59-A6C34878D82A}">
                    <a16:rowId xmlns:a16="http://schemas.microsoft.com/office/drawing/2014/main" xmlns="" val="3549637273"/>
                  </a:ext>
                </a:extLst>
              </a:tr>
              <a:tr h="387196">
                <a:tc>
                  <a:txBody>
                    <a:bodyPr/>
                    <a:lstStyle/>
                    <a:p>
                      <a:pPr algn="ctr"/>
                      <a:r>
                        <a:rPr lang="en-US" altLang="zh-TW" dirty="0" smtClean="0"/>
                        <a:t>W</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0</a:t>
                      </a:r>
                      <a:endParaRPr lang="zh-TW" altLang="en-US" dirty="0" smtClean="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0.33</a:t>
                      </a:r>
                      <a:endParaRPr lang="zh-TW" altLang="en-US" dirty="0"/>
                    </a:p>
                  </a:txBody>
                  <a:tcPr/>
                </a:tc>
                <a:tc>
                  <a:txBody>
                    <a:bodyPr/>
                    <a:lstStyle/>
                    <a:p>
                      <a:pPr algn="ctr"/>
                      <a:r>
                        <a:rPr lang="en-US" altLang="zh-TW" dirty="0" smtClean="0"/>
                        <a:t>0.33</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0</a:t>
                      </a:r>
                      <a:endParaRPr lang="zh-TW" altLang="en-US" dirty="0" smtClean="0"/>
                    </a:p>
                  </a:txBody>
                  <a:tcPr/>
                </a:tc>
                <a:extLst>
                  <a:ext uri="{0D108BD9-81ED-4DB2-BD59-A6C34878D82A}">
                    <a16:rowId xmlns:a16="http://schemas.microsoft.com/office/drawing/2014/main" xmlns="" val="4251251268"/>
                  </a:ext>
                </a:extLst>
              </a:tr>
              <a:tr h="387196">
                <a:tc>
                  <a:txBody>
                    <a:bodyPr/>
                    <a:lstStyle/>
                    <a:p>
                      <a:pPr algn="ctr"/>
                      <a:r>
                        <a:rPr lang="en-US" altLang="zh-TW" dirty="0" smtClean="0"/>
                        <a:t>I</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0.66</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0.33</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extLst>
                  <a:ext uri="{0D108BD9-81ED-4DB2-BD59-A6C34878D82A}">
                    <a16:rowId xmlns:a16="http://schemas.microsoft.com/office/drawing/2014/main" xmlns="" val="4128702581"/>
                  </a:ext>
                </a:extLst>
              </a:tr>
              <a:tr h="387196">
                <a:tc>
                  <a:txBody>
                    <a:bodyPr/>
                    <a:lstStyle/>
                    <a:p>
                      <a:pPr algn="ctr"/>
                      <a:r>
                        <a:rPr lang="en-US" altLang="zh-TW" dirty="0" smtClean="0"/>
                        <a:t>H</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extLst>
                  <a:ext uri="{0D108BD9-81ED-4DB2-BD59-A6C34878D82A}">
                    <a16:rowId xmlns:a16="http://schemas.microsoft.com/office/drawing/2014/main" xmlns="" val="4252483310"/>
                  </a:ext>
                </a:extLst>
              </a:tr>
              <a:tr h="387196">
                <a:tc>
                  <a:txBody>
                    <a:bodyPr/>
                    <a:lstStyle/>
                    <a:p>
                      <a:pPr algn="ctr"/>
                      <a:r>
                        <a:rPr lang="en-US" altLang="zh-TW" dirty="0" smtClean="0"/>
                        <a:t>R</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0.33</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extLst>
                  <a:ext uri="{0D108BD9-81ED-4DB2-BD59-A6C34878D82A}">
                    <a16:rowId xmlns:a16="http://schemas.microsoft.com/office/drawing/2014/main" xmlns="" val="4026282657"/>
                  </a:ext>
                </a:extLst>
              </a:tr>
              <a:tr h="387196">
                <a:tc>
                  <a:txBody>
                    <a:bodyPr/>
                    <a:lstStyle/>
                    <a:p>
                      <a:pPr algn="ctr"/>
                      <a:r>
                        <a:rPr lang="en-US" altLang="zh-TW" dirty="0" smtClean="0"/>
                        <a:t>A</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0.33</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extLst>
                  <a:ext uri="{0D108BD9-81ED-4DB2-BD59-A6C34878D82A}">
                    <a16:rowId xmlns:a16="http://schemas.microsoft.com/office/drawing/2014/main" xmlns="" val="582421337"/>
                  </a:ext>
                </a:extLst>
              </a:tr>
              <a:tr h="387196">
                <a:tc>
                  <a:txBody>
                    <a:bodyPr/>
                    <a:lstStyle/>
                    <a:p>
                      <a:pPr algn="ctr"/>
                      <a:r>
                        <a:rPr lang="en-US" altLang="zh-TW" dirty="0" smtClean="0"/>
                        <a:t>C</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0</a:t>
                      </a:r>
                      <a:endParaRPr lang="zh-TW" altLang="en-US" dirty="0" smtClean="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0.33</a:t>
                      </a:r>
                      <a:endParaRPr lang="zh-TW" altLang="en-US" dirty="0"/>
                    </a:p>
                  </a:txBody>
                  <a:tcPr/>
                </a:tc>
                <a:tc>
                  <a:txBody>
                    <a:bodyPr/>
                    <a:lstStyle/>
                    <a:p>
                      <a:pPr algn="ctr"/>
                      <a:r>
                        <a:rPr lang="en-US" altLang="zh-TW" dirty="0" smtClean="0"/>
                        <a:t>0.33</a:t>
                      </a:r>
                      <a:endParaRPr lang="zh-TW" altLang="en-US" dirty="0"/>
                    </a:p>
                  </a:txBody>
                  <a:tcPr/>
                </a:tc>
                <a:tc>
                  <a:txBody>
                    <a:bodyPr/>
                    <a:lstStyle/>
                    <a:p>
                      <a:pPr algn="ctr"/>
                      <a:r>
                        <a:rPr lang="en-US" altLang="zh-TW" dirty="0" smtClean="0"/>
                        <a:t>0</a:t>
                      </a:r>
                      <a:endParaRPr lang="zh-TW" altLang="en-US" dirty="0"/>
                    </a:p>
                  </a:txBody>
                  <a:tcPr/>
                </a:tc>
                <a:extLst>
                  <a:ext uri="{0D108BD9-81ED-4DB2-BD59-A6C34878D82A}">
                    <a16:rowId xmlns:a16="http://schemas.microsoft.com/office/drawing/2014/main" xmlns="" val="535659147"/>
                  </a:ext>
                </a:extLst>
              </a:tr>
              <a:tr h="387196">
                <a:tc>
                  <a:txBody>
                    <a:bodyPr/>
                    <a:lstStyle/>
                    <a:p>
                      <a:pPr algn="ctr"/>
                      <a:r>
                        <a:rPr lang="en-US" altLang="zh-TW" dirty="0" smtClean="0"/>
                        <a:t>…</a:t>
                      </a:r>
                      <a:endParaRPr lang="zh-TW" altLang="en-US" dirty="0"/>
                    </a:p>
                  </a:txBody>
                  <a:tcPr/>
                </a:tc>
                <a:tc>
                  <a:txBody>
                    <a:bodyPr/>
                    <a:lstStyle/>
                    <a:p>
                      <a:pPr algn="ct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a:t>
                      </a:r>
                      <a:endParaRPr lang="zh-TW" altLang="en-US" dirty="0"/>
                    </a:p>
                  </a:txBody>
                  <a:tcPr/>
                </a:tc>
                <a:tc>
                  <a:txBody>
                    <a:bodyPr/>
                    <a:lstStyle/>
                    <a:p>
                      <a:pPr algn="ct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a:t>
                      </a:r>
                      <a:endParaRPr lang="zh-TW" altLang="en-US" dirty="0"/>
                    </a:p>
                  </a:txBody>
                  <a:tcPr/>
                </a:tc>
                <a:tc>
                  <a:txBody>
                    <a:bodyPr/>
                    <a:lstStyle/>
                    <a:p>
                      <a:pPr algn="ct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a:t>
                      </a:r>
                      <a:endParaRPr lang="zh-TW" altLang="en-US" dirty="0"/>
                    </a:p>
                  </a:txBody>
                  <a:tcPr/>
                </a:tc>
                <a:tc>
                  <a:txBody>
                    <a:bodyPr/>
                    <a:lstStyle/>
                    <a:p>
                      <a:pPr algn="ct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a:t>
                      </a:r>
                      <a:endParaRPr lang="zh-TW" altLang="en-US" dirty="0"/>
                    </a:p>
                  </a:txBody>
                  <a:tcPr/>
                </a:tc>
                <a:tc>
                  <a:txBody>
                    <a:bodyPr/>
                    <a:lstStyle/>
                    <a:p>
                      <a:pPr algn="ct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a:t>
                      </a:r>
                      <a:endParaRPr lang="zh-TW" altLang="en-US" dirty="0"/>
                    </a:p>
                  </a:txBody>
                  <a:tcPr/>
                </a:tc>
                <a:tc>
                  <a:txBody>
                    <a:bodyPr/>
                    <a:lstStyle/>
                    <a:p>
                      <a:pPr algn="ct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a:t>
                      </a:r>
                      <a:endParaRPr lang="zh-TW" altLang="en-US" dirty="0"/>
                    </a:p>
                  </a:txBody>
                  <a:tcPr/>
                </a:tc>
                <a:tc>
                  <a:txBody>
                    <a:bodyPr/>
                    <a:lstStyle/>
                    <a:p>
                      <a:pPr algn="ct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a:t>
                      </a:r>
                      <a:endParaRPr lang="zh-TW" altLang="en-US" dirty="0"/>
                    </a:p>
                  </a:txBody>
                  <a:tcPr/>
                </a:tc>
                <a:tc>
                  <a:txBody>
                    <a:bodyPr/>
                    <a:lstStyle/>
                    <a:p>
                      <a:pPr algn="ctr"/>
                      <a:r>
                        <a:rPr kumimoji="0" lang="en-US" altLang="zh-TW" sz="1800" b="0" i="0" u="none" strike="noStrike" kern="1200" cap="none" spc="0" normalizeH="0" baseline="0" noProof="0" dirty="0" smtClean="0">
                          <a:ln>
                            <a:noFill/>
                          </a:ln>
                          <a:solidFill>
                            <a:prstClr val="black"/>
                          </a:solidFill>
                          <a:effectLst/>
                          <a:uLnTx/>
                          <a:uFillTx/>
                          <a:latin typeface="+mn-lt"/>
                          <a:ea typeface="+mn-ea"/>
                          <a:cs typeface="+mn-cs"/>
                        </a:rPr>
                        <a:t>…</a:t>
                      </a:r>
                      <a:endParaRPr lang="zh-TW" altLang="en-US" dirty="0"/>
                    </a:p>
                  </a:txBody>
                  <a:tcPr/>
                </a:tc>
                <a:extLst>
                  <a:ext uri="{0D108BD9-81ED-4DB2-BD59-A6C34878D82A}">
                    <a16:rowId xmlns:a16="http://schemas.microsoft.com/office/drawing/2014/main" xmlns="" val="2706528726"/>
                  </a:ext>
                </a:extLst>
              </a:tr>
            </a:tbl>
          </a:graphicData>
        </a:graphic>
      </p:graphicFrame>
      <p:sp>
        <p:nvSpPr>
          <p:cNvPr id="6" name="Rectangle 3"/>
          <p:cNvSpPr txBox="1">
            <a:spLocks noChangeArrowheads="1"/>
          </p:cNvSpPr>
          <p:nvPr/>
        </p:nvSpPr>
        <p:spPr>
          <a:xfrm>
            <a:off x="2" y="1022928"/>
            <a:ext cx="1810326" cy="1828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altLang="zh-TW" sz="2400" dirty="0" smtClean="0">
                <a:latin typeface="Times New Roman" panose="02020603050405020304" pitchFamily="18" charset="0"/>
                <a:cs typeface="Times New Roman" panose="02020603050405020304" pitchFamily="18" charset="0"/>
              </a:rPr>
              <a:t>NTEGEWIE</a:t>
            </a:r>
          </a:p>
          <a:p>
            <a:pPr>
              <a:buFontTx/>
              <a:buNone/>
            </a:pPr>
            <a:r>
              <a:rPr lang="en-US" altLang="zh-TW" sz="2400" dirty="0" smtClean="0">
                <a:latin typeface="Times New Roman" panose="02020603050405020304" pitchFamily="18" charset="0"/>
                <a:cs typeface="Times New Roman" panose="02020603050405020304" pitchFamily="18" charset="0"/>
              </a:rPr>
              <a:t>NITRGEWE</a:t>
            </a:r>
          </a:p>
          <a:p>
            <a:pPr>
              <a:buFontTx/>
              <a:buNone/>
            </a:pPr>
            <a:r>
              <a:rPr lang="en-US" altLang="zh-TW" sz="2400" dirty="0" smtClean="0">
                <a:latin typeface="Times New Roman" panose="02020603050405020304" pitchFamily="18" charset="0"/>
                <a:cs typeface="Times New Roman" panose="02020603050405020304" pitchFamily="18" charset="0"/>
              </a:rPr>
              <a:t>NIAGECCG</a:t>
            </a: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19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97650" y="208651"/>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PSSM of Protein </a:t>
            </a:r>
            <a:r>
              <a:rPr lang="en-US" altLang="zh-TW" sz="3200" b="1" dirty="0" smtClean="0">
                <a:latin typeface="Times New Roman" panose="02020603050405020304" pitchFamily="18" charset="0"/>
                <a:cs typeface="Times New Roman" panose="02020603050405020304" pitchFamily="18" charset="0"/>
              </a:rPr>
              <a:t>Sequences :</a:t>
            </a:r>
            <a:endParaRPr lang="zh-TW" altLang="en-US" sz="3200" b="1" dirty="0">
              <a:latin typeface="Times New Roman" panose="02020603050405020304" pitchFamily="18" charset="0"/>
              <a:cs typeface="Times New Roman" panose="02020603050405020304" pitchFamily="18"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1474802922"/>
              </p:ext>
            </p:extLst>
          </p:nvPr>
        </p:nvGraphicFramePr>
        <p:xfrm>
          <a:off x="1075553" y="1492370"/>
          <a:ext cx="6908797" cy="4899236"/>
        </p:xfrm>
        <a:graphic>
          <a:graphicData uri="http://schemas.openxmlformats.org/drawingml/2006/table">
            <a:tbl>
              <a:tblPr firstRow="1" bandRow="1">
                <a:tableStyleId>{5C22544A-7EE6-4342-B048-85BDC9FD1C3A}</a:tableStyleId>
              </a:tblPr>
              <a:tblGrid>
                <a:gridCol w="845611">
                  <a:extLst>
                    <a:ext uri="{9D8B030D-6E8A-4147-A177-3AD203B41FA5}">
                      <a16:colId xmlns:a16="http://schemas.microsoft.com/office/drawing/2014/main" xmlns="" val="1605233861"/>
                    </a:ext>
                  </a:extLst>
                </a:gridCol>
                <a:gridCol w="689678">
                  <a:extLst>
                    <a:ext uri="{9D8B030D-6E8A-4147-A177-3AD203B41FA5}">
                      <a16:colId xmlns:a16="http://schemas.microsoft.com/office/drawing/2014/main" xmlns="" val="3543228249"/>
                    </a:ext>
                  </a:extLst>
                </a:gridCol>
                <a:gridCol w="767644">
                  <a:extLst>
                    <a:ext uri="{9D8B030D-6E8A-4147-A177-3AD203B41FA5}">
                      <a16:colId xmlns:a16="http://schemas.microsoft.com/office/drawing/2014/main" xmlns="" val="3120355256"/>
                    </a:ext>
                  </a:extLst>
                </a:gridCol>
                <a:gridCol w="767644">
                  <a:extLst>
                    <a:ext uri="{9D8B030D-6E8A-4147-A177-3AD203B41FA5}">
                      <a16:colId xmlns:a16="http://schemas.microsoft.com/office/drawing/2014/main" xmlns="" val="4147274184"/>
                    </a:ext>
                  </a:extLst>
                </a:gridCol>
                <a:gridCol w="767644">
                  <a:extLst>
                    <a:ext uri="{9D8B030D-6E8A-4147-A177-3AD203B41FA5}">
                      <a16:colId xmlns:a16="http://schemas.microsoft.com/office/drawing/2014/main" xmlns="" val="59069133"/>
                    </a:ext>
                  </a:extLst>
                </a:gridCol>
                <a:gridCol w="767644">
                  <a:extLst>
                    <a:ext uri="{9D8B030D-6E8A-4147-A177-3AD203B41FA5}">
                      <a16:colId xmlns:a16="http://schemas.microsoft.com/office/drawing/2014/main" xmlns="" val="677377355"/>
                    </a:ext>
                  </a:extLst>
                </a:gridCol>
                <a:gridCol w="767644">
                  <a:extLst>
                    <a:ext uri="{9D8B030D-6E8A-4147-A177-3AD203B41FA5}">
                      <a16:colId xmlns:a16="http://schemas.microsoft.com/office/drawing/2014/main" xmlns="" val="3373296654"/>
                    </a:ext>
                  </a:extLst>
                </a:gridCol>
                <a:gridCol w="767644">
                  <a:extLst>
                    <a:ext uri="{9D8B030D-6E8A-4147-A177-3AD203B41FA5}">
                      <a16:colId xmlns:a16="http://schemas.microsoft.com/office/drawing/2014/main" xmlns="" val="3828455172"/>
                    </a:ext>
                  </a:extLst>
                </a:gridCol>
                <a:gridCol w="767644">
                  <a:extLst>
                    <a:ext uri="{9D8B030D-6E8A-4147-A177-3AD203B41FA5}">
                      <a16:colId xmlns:a16="http://schemas.microsoft.com/office/drawing/2014/main" xmlns="" val="4212300762"/>
                    </a:ext>
                  </a:extLst>
                </a:gridCol>
              </a:tblGrid>
              <a:tr h="387196">
                <a:tc>
                  <a:txBody>
                    <a:bodyPr/>
                    <a:lstStyle/>
                    <a:p>
                      <a:pPr algn="ctr"/>
                      <a:r>
                        <a:rPr lang="en-US" altLang="zh-TW" dirty="0" smtClean="0"/>
                        <a:t>Amino</a:t>
                      </a:r>
                      <a:r>
                        <a:rPr lang="en-US" altLang="zh-TW" baseline="0" dirty="0" smtClean="0"/>
                        <a:t> Acid</a:t>
                      </a:r>
                      <a:endParaRPr lang="zh-TW" altLang="en-US" dirty="0"/>
                    </a:p>
                  </a:txBody>
                  <a:tcPr anchor="ctr"/>
                </a:tc>
                <a:tc>
                  <a:txBody>
                    <a:bodyPr/>
                    <a:lstStyle/>
                    <a:p>
                      <a:pPr algn="ctr"/>
                      <a:r>
                        <a:rPr lang="en-US" altLang="zh-TW" dirty="0" smtClean="0"/>
                        <a:t>1</a:t>
                      </a:r>
                      <a:endParaRPr lang="zh-TW" altLang="en-US" dirty="0"/>
                    </a:p>
                  </a:txBody>
                  <a:tcPr anchor="ctr"/>
                </a:tc>
                <a:tc>
                  <a:txBody>
                    <a:bodyPr/>
                    <a:lstStyle/>
                    <a:p>
                      <a:pPr algn="ctr"/>
                      <a:r>
                        <a:rPr lang="en-US" altLang="zh-TW" dirty="0" smtClean="0"/>
                        <a:t>2</a:t>
                      </a:r>
                      <a:endParaRPr lang="zh-TW" altLang="en-US" dirty="0"/>
                    </a:p>
                  </a:txBody>
                  <a:tcPr anchor="ctr"/>
                </a:tc>
                <a:tc>
                  <a:txBody>
                    <a:bodyPr/>
                    <a:lstStyle/>
                    <a:p>
                      <a:pPr algn="ctr"/>
                      <a:r>
                        <a:rPr lang="en-US" altLang="zh-TW" dirty="0" smtClean="0"/>
                        <a:t>3</a:t>
                      </a:r>
                      <a:endParaRPr lang="zh-TW" altLang="en-US" dirty="0"/>
                    </a:p>
                  </a:txBody>
                  <a:tcPr anchor="ctr"/>
                </a:tc>
                <a:tc>
                  <a:txBody>
                    <a:bodyPr/>
                    <a:lstStyle/>
                    <a:p>
                      <a:pPr algn="ctr"/>
                      <a:r>
                        <a:rPr lang="en-US" altLang="zh-TW" dirty="0" smtClean="0"/>
                        <a:t>4</a:t>
                      </a:r>
                      <a:endParaRPr lang="zh-TW" altLang="en-US" dirty="0"/>
                    </a:p>
                  </a:txBody>
                  <a:tcPr anchor="ctr"/>
                </a:tc>
                <a:tc>
                  <a:txBody>
                    <a:bodyPr/>
                    <a:lstStyle/>
                    <a:p>
                      <a:pPr algn="ctr"/>
                      <a:r>
                        <a:rPr lang="en-US" altLang="zh-TW" dirty="0" smtClean="0"/>
                        <a:t>5</a:t>
                      </a:r>
                      <a:endParaRPr lang="zh-TW" altLang="en-US" dirty="0"/>
                    </a:p>
                  </a:txBody>
                  <a:tcPr anchor="ctr"/>
                </a:tc>
                <a:tc>
                  <a:txBody>
                    <a:bodyPr/>
                    <a:lstStyle/>
                    <a:p>
                      <a:pPr algn="ctr"/>
                      <a:r>
                        <a:rPr lang="en-US" altLang="zh-TW" dirty="0" smtClean="0"/>
                        <a:t>6</a:t>
                      </a:r>
                      <a:endParaRPr lang="zh-TW" altLang="en-US" dirty="0"/>
                    </a:p>
                  </a:txBody>
                  <a:tcPr anchor="ctr"/>
                </a:tc>
                <a:tc>
                  <a:txBody>
                    <a:bodyPr/>
                    <a:lstStyle/>
                    <a:p>
                      <a:pPr algn="ctr"/>
                      <a:r>
                        <a:rPr lang="en-US" altLang="zh-TW" dirty="0" smtClean="0"/>
                        <a:t>7</a:t>
                      </a:r>
                      <a:endParaRPr lang="zh-TW" altLang="en-US" dirty="0"/>
                    </a:p>
                  </a:txBody>
                  <a:tcPr anchor="ctr"/>
                </a:tc>
                <a:tc>
                  <a:txBody>
                    <a:bodyPr/>
                    <a:lstStyle/>
                    <a:p>
                      <a:pPr algn="ctr"/>
                      <a:r>
                        <a:rPr lang="en-US" altLang="zh-TW" dirty="0" smtClean="0"/>
                        <a:t>8</a:t>
                      </a:r>
                      <a:endParaRPr lang="zh-TW" altLang="en-US" dirty="0"/>
                    </a:p>
                  </a:txBody>
                  <a:tcPr anchor="ctr"/>
                </a:tc>
                <a:extLst>
                  <a:ext uri="{0D108BD9-81ED-4DB2-BD59-A6C34878D82A}">
                    <a16:rowId xmlns:a16="http://schemas.microsoft.com/office/drawing/2014/main" xmlns="" val="3343172437"/>
                  </a:ext>
                </a:extLst>
              </a:tr>
              <a:tr h="387196">
                <a:tc>
                  <a:txBody>
                    <a:bodyPr/>
                    <a:lstStyle/>
                    <a:p>
                      <a:pPr algn="ctr"/>
                      <a:r>
                        <a:rPr lang="en-US" altLang="zh-TW" dirty="0" smtClean="0"/>
                        <a:t>N</a:t>
                      </a:r>
                      <a:endParaRPr lang="zh-TW" altLang="en-US" dirty="0"/>
                    </a:p>
                  </a:txBody>
                  <a:tcPr/>
                </a:tc>
                <a:tc>
                  <a:txBody>
                    <a:bodyPr/>
                    <a:lstStyle/>
                    <a:p>
                      <a:pPr algn="ctr"/>
                      <a:r>
                        <a:rPr lang="en-US" altLang="zh-TW" dirty="0" smtClean="0"/>
                        <a:t>1.30</a:t>
                      </a:r>
                      <a:endParaRPr lang="zh-TW" altLang="en-US" dirty="0"/>
                    </a:p>
                  </a:txBody>
                  <a:tcPr/>
                </a:tc>
                <a:tc>
                  <a:txBody>
                    <a:bodyPr/>
                    <a:lstStyle/>
                    <a:p>
                      <a:pPr algn="ctr"/>
                      <a:r>
                        <a:rPr lang="en-US" altLang="zh-TW" dirty="0" smtClean="0"/>
                        <a:t>0</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extLst>
                  <a:ext uri="{0D108BD9-81ED-4DB2-BD59-A6C34878D82A}">
                    <a16:rowId xmlns:a16="http://schemas.microsoft.com/office/drawing/2014/main" xmlns="" val="1994635947"/>
                  </a:ext>
                </a:extLst>
              </a:tr>
              <a:tr h="387196">
                <a:tc>
                  <a:txBody>
                    <a:bodyPr/>
                    <a:lstStyle/>
                    <a:p>
                      <a:pPr algn="ctr"/>
                      <a:r>
                        <a:rPr lang="en-US" altLang="zh-TW" dirty="0" smtClean="0"/>
                        <a:t>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0.82</a:t>
                      </a:r>
                      <a:endParaRPr lang="zh-TW" altLang="en-US" dirty="0"/>
                    </a:p>
                  </a:txBody>
                  <a:tcPr/>
                </a:tc>
                <a:tc>
                  <a:txBody>
                    <a:bodyPr/>
                    <a:lstStyle/>
                    <a:p>
                      <a:pPr algn="ctr"/>
                      <a:r>
                        <a:rPr lang="en-US" altLang="zh-TW" dirty="0" smtClean="0"/>
                        <a:t>0.82</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0</a:t>
                      </a:r>
                      <a:endParaRPr lang="zh-TW" altLang="en-US" dirty="0"/>
                    </a:p>
                  </a:txBody>
                  <a:tcPr/>
                </a:tc>
                <a:extLst>
                  <a:ext uri="{0D108BD9-81ED-4DB2-BD59-A6C34878D82A}">
                    <a16:rowId xmlns:a16="http://schemas.microsoft.com/office/drawing/2014/main" xmlns="" val="2607260541"/>
                  </a:ext>
                </a:extLst>
              </a:tr>
              <a:tr h="387196">
                <a:tc>
                  <a:txBody>
                    <a:bodyPr/>
                    <a:lstStyle/>
                    <a:p>
                      <a:pPr algn="ctr"/>
                      <a:r>
                        <a:rPr lang="en-US" altLang="zh-TW" dirty="0" smtClean="0"/>
                        <a:t>E</a:t>
                      </a:r>
                      <a:endParaRPr lang="zh-TW" altLang="en-US" dirty="0"/>
                    </a:p>
                  </a:txBody>
                  <a:tcPr/>
                </a:tc>
                <a:tc>
                  <a:txBody>
                    <a:bodyPr/>
                    <a:lstStyle/>
                    <a:p>
                      <a:pPr algn="ctr"/>
                      <a:r>
                        <a:rPr lang="en-US" altLang="zh-TW" dirty="0" smtClean="0"/>
                        <a:t>0</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0.82</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0</a:t>
                      </a:r>
                    </a:p>
                  </a:txBody>
                  <a:tcPr/>
                </a:tc>
                <a:tc>
                  <a:txBody>
                    <a:bodyPr/>
                    <a:lstStyle/>
                    <a:p>
                      <a:pPr algn="ctr"/>
                      <a:r>
                        <a:rPr lang="en-US" altLang="zh-TW" dirty="0" smtClean="0"/>
                        <a:t>1.12</a:t>
                      </a:r>
                      <a:endParaRPr lang="zh-TW" altLang="en-US" dirty="0"/>
                    </a:p>
                  </a:txBody>
                  <a:tcPr/>
                </a:tc>
                <a:tc>
                  <a:txBody>
                    <a:bodyPr/>
                    <a:lstStyle/>
                    <a:p>
                      <a:pPr algn="ctr"/>
                      <a:r>
                        <a:rPr lang="en-US" altLang="zh-TW" dirty="0" smtClean="0"/>
                        <a:t>0.82</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0</a:t>
                      </a:r>
                    </a:p>
                  </a:txBody>
                  <a:tcPr/>
                </a:tc>
                <a:tc>
                  <a:txBody>
                    <a:bodyPr/>
                    <a:lstStyle/>
                    <a:p>
                      <a:pPr algn="ctr"/>
                      <a:r>
                        <a:rPr lang="en-US" altLang="zh-TW" dirty="0" smtClean="0"/>
                        <a:t>1.12</a:t>
                      </a:r>
                      <a:endParaRPr lang="zh-TW" altLang="en-US" dirty="0"/>
                    </a:p>
                  </a:txBody>
                  <a:tcPr/>
                </a:tc>
                <a:extLst>
                  <a:ext uri="{0D108BD9-81ED-4DB2-BD59-A6C34878D82A}">
                    <a16:rowId xmlns:a16="http://schemas.microsoft.com/office/drawing/2014/main" xmlns="" val="2138694041"/>
                  </a:ext>
                </a:extLst>
              </a:tr>
              <a:tr h="387196">
                <a:tc>
                  <a:txBody>
                    <a:bodyPr/>
                    <a:lstStyle/>
                    <a:p>
                      <a:pPr algn="ctr"/>
                      <a:r>
                        <a:rPr lang="en-US" altLang="zh-TW" dirty="0" smtClean="0"/>
                        <a:t>G</a:t>
                      </a:r>
                      <a:endParaRPr lang="zh-TW" altLang="en-US" dirty="0"/>
                    </a:p>
                  </a:txBody>
                  <a:tcPr/>
                </a:tc>
                <a:tc>
                  <a:txBody>
                    <a:bodyPr/>
                    <a:lstStyle/>
                    <a:p>
                      <a:pPr algn="ctr"/>
                      <a:r>
                        <a:rPr lang="en-US" altLang="zh-TW" dirty="0" smtClean="0"/>
                        <a:t>0</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1.12</a:t>
                      </a:r>
                      <a:endParaRPr lang="zh-TW" altLang="en-US" dirty="0" smtClean="0"/>
                    </a:p>
                  </a:txBody>
                  <a:tcPr/>
                </a:tc>
                <a:tc>
                  <a:txBody>
                    <a:bodyPr/>
                    <a:lstStyle/>
                    <a:p>
                      <a:pPr algn="ctr"/>
                      <a:r>
                        <a:rPr lang="en-US" altLang="zh-TW" dirty="0" smtClean="0"/>
                        <a:t>0.82</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0</a:t>
                      </a:r>
                      <a:endParaRPr lang="zh-TW" altLang="en-US"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0</a:t>
                      </a:r>
                      <a:endParaRPr lang="zh-TW" altLang="en-US" dirty="0" smtClean="0"/>
                    </a:p>
                  </a:txBody>
                  <a:tcPr/>
                </a:tc>
                <a:tc>
                  <a:txBody>
                    <a:bodyPr/>
                    <a:lstStyle/>
                    <a:p>
                      <a:pPr algn="ctr"/>
                      <a:r>
                        <a:rPr lang="en-US" altLang="zh-TW" dirty="0" smtClean="0"/>
                        <a:t>0.82</a:t>
                      </a:r>
                      <a:endParaRPr lang="zh-TW" altLang="en-US" dirty="0"/>
                    </a:p>
                  </a:txBody>
                  <a:tcPr/>
                </a:tc>
                <a:extLst>
                  <a:ext uri="{0D108BD9-81ED-4DB2-BD59-A6C34878D82A}">
                    <a16:rowId xmlns:a16="http://schemas.microsoft.com/office/drawing/2014/main" xmlns="" val="3549637273"/>
                  </a:ext>
                </a:extLst>
              </a:tr>
              <a:tr h="387196">
                <a:tc>
                  <a:txBody>
                    <a:bodyPr/>
                    <a:lstStyle/>
                    <a:p>
                      <a:pPr algn="ctr"/>
                      <a:r>
                        <a:rPr lang="en-US" altLang="zh-TW" dirty="0" smtClean="0"/>
                        <a:t>W</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0</a:t>
                      </a:r>
                      <a:endParaRPr lang="zh-TW" altLang="en-US" dirty="0" smtClean="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0.82</a:t>
                      </a:r>
                      <a:endParaRPr lang="zh-TW" altLang="en-US" dirty="0"/>
                    </a:p>
                  </a:txBody>
                  <a:tcPr/>
                </a:tc>
                <a:tc>
                  <a:txBody>
                    <a:bodyPr/>
                    <a:lstStyle/>
                    <a:p>
                      <a:pPr algn="ctr"/>
                      <a:r>
                        <a:rPr lang="en-US" altLang="zh-TW" dirty="0" smtClean="0"/>
                        <a:t>0.82</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0</a:t>
                      </a:r>
                      <a:endParaRPr lang="zh-TW" altLang="en-US" dirty="0" smtClean="0"/>
                    </a:p>
                  </a:txBody>
                  <a:tcPr/>
                </a:tc>
                <a:extLst>
                  <a:ext uri="{0D108BD9-81ED-4DB2-BD59-A6C34878D82A}">
                    <a16:rowId xmlns:a16="http://schemas.microsoft.com/office/drawing/2014/main" xmlns="" val="4251251268"/>
                  </a:ext>
                </a:extLst>
              </a:tr>
              <a:tr h="387196">
                <a:tc>
                  <a:txBody>
                    <a:bodyPr/>
                    <a:lstStyle/>
                    <a:p>
                      <a:pPr algn="ctr"/>
                      <a:r>
                        <a:rPr lang="en-US" altLang="zh-TW" dirty="0" smtClean="0"/>
                        <a:t>I</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1.12</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0.82</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extLst>
                  <a:ext uri="{0D108BD9-81ED-4DB2-BD59-A6C34878D82A}">
                    <a16:rowId xmlns:a16="http://schemas.microsoft.com/office/drawing/2014/main" xmlns="" val="4128702581"/>
                  </a:ext>
                </a:extLst>
              </a:tr>
              <a:tr h="387196">
                <a:tc>
                  <a:txBody>
                    <a:bodyPr/>
                    <a:lstStyle/>
                    <a:p>
                      <a:pPr algn="ctr"/>
                      <a:r>
                        <a:rPr lang="en-US" altLang="zh-TW" dirty="0" smtClean="0"/>
                        <a:t>H</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extLst>
                  <a:ext uri="{0D108BD9-81ED-4DB2-BD59-A6C34878D82A}">
                    <a16:rowId xmlns:a16="http://schemas.microsoft.com/office/drawing/2014/main" xmlns="" val="4252483310"/>
                  </a:ext>
                </a:extLst>
              </a:tr>
              <a:tr h="387196">
                <a:tc>
                  <a:txBody>
                    <a:bodyPr/>
                    <a:lstStyle/>
                    <a:p>
                      <a:pPr algn="ctr"/>
                      <a:r>
                        <a:rPr lang="en-US" altLang="zh-TW" dirty="0" smtClean="0"/>
                        <a:t>R</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0.82</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extLst>
                  <a:ext uri="{0D108BD9-81ED-4DB2-BD59-A6C34878D82A}">
                    <a16:rowId xmlns:a16="http://schemas.microsoft.com/office/drawing/2014/main" xmlns="" val="4026282657"/>
                  </a:ext>
                </a:extLst>
              </a:tr>
              <a:tr h="387196">
                <a:tc>
                  <a:txBody>
                    <a:bodyPr/>
                    <a:lstStyle/>
                    <a:p>
                      <a:pPr algn="ctr"/>
                      <a:r>
                        <a:rPr lang="en-US" altLang="zh-TW" dirty="0" smtClean="0"/>
                        <a:t>A</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0.82</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extLst>
                  <a:ext uri="{0D108BD9-81ED-4DB2-BD59-A6C34878D82A}">
                    <a16:rowId xmlns:a16="http://schemas.microsoft.com/office/drawing/2014/main" xmlns="" val="582421337"/>
                  </a:ext>
                </a:extLst>
              </a:tr>
              <a:tr h="387196">
                <a:tc>
                  <a:txBody>
                    <a:bodyPr/>
                    <a:lstStyle/>
                    <a:p>
                      <a:pPr algn="ctr"/>
                      <a:r>
                        <a:rPr lang="en-US" altLang="zh-TW" dirty="0" smtClean="0"/>
                        <a:t>C</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0</a:t>
                      </a:r>
                      <a:endParaRPr lang="zh-TW" altLang="en-US" dirty="0" smtClean="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endParaRPr>
                    </a:p>
                  </a:txBody>
                  <a:tcPr/>
                </a:tc>
                <a:tc>
                  <a:txBody>
                    <a:bodyPr/>
                    <a:lstStyle/>
                    <a:p>
                      <a:pPr algn="ctr"/>
                      <a:r>
                        <a:rPr lang="en-US" altLang="zh-TW" dirty="0" smtClean="0"/>
                        <a:t>0.82</a:t>
                      </a:r>
                      <a:endParaRPr lang="zh-TW" altLang="en-US" dirty="0"/>
                    </a:p>
                  </a:txBody>
                  <a:tcPr/>
                </a:tc>
                <a:tc>
                  <a:txBody>
                    <a:bodyPr/>
                    <a:lstStyle/>
                    <a:p>
                      <a:pPr algn="ctr"/>
                      <a:r>
                        <a:rPr lang="en-US" altLang="zh-TW" dirty="0" smtClean="0"/>
                        <a:t>0.82</a:t>
                      </a:r>
                      <a:endParaRPr lang="zh-TW" altLang="en-US" dirty="0"/>
                    </a:p>
                  </a:txBody>
                  <a:tcPr/>
                </a:tc>
                <a:tc>
                  <a:txBody>
                    <a:bodyPr/>
                    <a:lstStyle/>
                    <a:p>
                      <a:pPr algn="ctr"/>
                      <a:r>
                        <a:rPr lang="en-US" altLang="zh-TW" dirty="0" smtClean="0"/>
                        <a:t>0</a:t>
                      </a:r>
                      <a:endParaRPr lang="zh-TW" altLang="en-US" dirty="0"/>
                    </a:p>
                  </a:txBody>
                  <a:tcPr/>
                </a:tc>
                <a:extLst>
                  <a:ext uri="{0D108BD9-81ED-4DB2-BD59-A6C34878D82A}">
                    <a16:rowId xmlns:a16="http://schemas.microsoft.com/office/drawing/2014/main" xmlns="" val="535659147"/>
                  </a:ext>
                </a:extLst>
              </a:tr>
              <a:tr h="387196">
                <a:tc>
                  <a:txBody>
                    <a:bodyPr/>
                    <a:lstStyle/>
                    <a:p>
                      <a:pPr algn="ctr"/>
                      <a:r>
                        <a:rPr lang="en-US" altLang="zh-TW" dirty="0" smtClean="0"/>
                        <a:t>…</a:t>
                      </a:r>
                      <a:endParaRPr lang="zh-TW" altLang="en-US" dirty="0"/>
                    </a:p>
                  </a:txBody>
                  <a:tcPr/>
                </a:tc>
                <a:tc>
                  <a:txBody>
                    <a:bodyPr/>
                    <a:lstStyle/>
                    <a:p>
                      <a:pPr algn="ct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a:t>
                      </a:r>
                      <a:endParaRPr lang="zh-TW" altLang="en-US" dirty="0"/>
                    </a:p>
                  </a:txBody>
                  <a:tcPr/>
                </a:tc>
                <a:tc>
                  <a:txBody>
                    <a:bodyPr/>
                    <a:lstStyle/>
                    <a:p>
                      <a:pPr algn="ct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a:t>
                      </a:r>
                      <a:endParaRPr lang="zh-TW" altLang="en-US" dirty="0"/>
                    </a:p>
                  </a:txBody>
                  <a:tcPr/>
                </a:tc>
                <a:tc>
                  <a:txBody>
                    <a:bodyPr/>
                    <a:lstStyle/>
                    <a:p>
                      <a:pPr algn="ct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a:t>
                      </a:r>
                      <a:endParaRPr lang="zh-TW" altLang="en-US" dirty="0"/>
                    </a:p>
                  </a:txBody>
                  <a:tcPr/>
                </a:tc>
                <a:tc>
                  <a:txBody>
                    <a:bodyPr/>
                    <a:lstStyle/>
                    <a:p>
                      <a:pPr algn="ct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a:t>
                      </a:r>
                      <a:endParaRPr lang="zh-TW" altLang="en-US" dirty="0"/>
                    </a:p>
                  </a:txBody>
                  <a:tcPr/>
                </a:tc>
                <a:tc>
                  <a:txBody>
                    <a:bodyPr/>
                    <a:lstStyle/>
                    <a:p>
                      <a:pPr algn="ct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a:t>
                      </a:r>
                      <a:endParaRPr lang="zh-TW" altLang="en-US" dirty="0"/>
                    </a:p>
                  </a:txBody>
                  <a:tcPr/>
                </a:tc>
                <a:tc>
                  <a:txBody>
                    <a:bodyPr/>
                    <a:lstStyle/>
                    <a:p>
                      <a:pPr algn="ctr"/>
                      <a:r>
                        <a:rPr kumimoji="0" lang="en-US" altLang="zh-TW" sz="18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t>…</a:t>
                      </a:r>
                      <a:endParaRPr lang="zh-TW" altLang="en-US" dirty="0"/>
                    </a:p>
                  </a:txBody>
                  <a:tcPr/>
                </a:tc>
                <a:tc>
                  <a:txBody>
                    <a:bodyPr/>
                    <a:lstStyle/>
                    <a:p>
                      <a:pPr algn="ctr"/>
                      <a:r>
                        <a:rPr kumimoji="0" lang="en-US" altLang="zh-TW" sz="1800" b="0" i="0" u="none" strike="noStrike" kern="1200" cap="none" spc="0" normalizeH="0" baseline="0" noProof="0" dirty="0" smtClean="0">
                          <a:ln>
                            <a:noFill/>
                          </a:ln>
                          <a:solidFill>
                            <a:prstClr val="black"/>
                          </a:solidFill>
                          <a:effectLst/>
                          <a:uLnTx/>
                          <a:uFillTx/>
                          <a:latin typeface="Calibri" panose="020F0502020204030204"/>
                          <a:ea typeface="新細明體" panose="02020500000000000000" pitchFamily="18" charset="-120"/>
                          <a:cs typeface="+mn-cs"/>
                        </a:rPr>
                        <a:t>…</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mn-lt"/>
                          <a:ea typeface="+mn-ea"/>
                          <a:cs typeface="+mn-cs"/>
                        </a:rPr>
                        <a:t>…</a:t>
                      </a:r>
                      <a:endParaRPr lang="zh-TW" altLang="en-US" dirty="0" smtClean="0"/>
                    </a:p>
                  </a:txBody>
                  <a:tcPr/>
                </a:tc>
                <a:extLst>
                  <a:ext uri="{0D108BD9-81ED-4DB2-BD59-A6C34878D82A}">
                    <a16:rowId xmlns:a16="http://schemas.microsoft.com/office/drawing/2014/main" xmlns="" val="2706528726"/>
                  </a:ext>
                </a:extLst>
              </a:tr>
            </a:tbl>
          </a:graphicData>
        </a:graphic>
      </p:graphicFrame>
      <p:pic>
        <p:nvPicPr>
          <p:cNvPr id="3" name="圖片 2"/>
          <p:cNvPicPr>
            <a:picLocks noChangeAspect="1"/>
          </p:cNvPicPr>
          <p:nvPr/>
        </p:nvPicPr>
        <p:blipFill>
          <a:blip r:embed="rId2"/>
          <a:stretch>
            <a:fillRect/>
          </a:stretch>
        </p:blipFill>
        <p:spPr>
          <a:xfrm>
            <a:off x="41568" y="792018"/>
            <a:ext cx="3759193" cy="581191"/>
          </a:xfrm>
          <a:prstGeom prst="rect">
            <a:avLst/>
          </a:prstGeom>
        </p:spPr>
      </p:pic>
    </p:spTree>
    <p:extLst>
      <p:ext uri="{BB962C8B-B14F-4D97-AF65-F5344CB8AC3E}">
        <p14:creationId xmlns:p14="http://schemas.microsoft.com/office/powerpoint/2010/main" val="36003937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97650" y="208651"/>
            <a:ext cx="6718786" cy="583367"/>
          </a:xfrm>
        </p:spPr>
        <p:txBody>
          <a:bodyPr>
            <a:normAutofit fontScale="90000"/>
          </a:bodyPr>
          <a:lstStyle/>
          <a:p>
            <a:r>
              <a:rPr lang="en-US" altLang="zh-TW" sz="3200" b="1" dirty="0">
                <a:latin typeface="Times New Roman" panose="02020603050405020304" pitchFamily="18" charset="0"/>
                <a:cs typeface="Times New Roman" panose="02020603050405020304" pitchFamily="18" charset="0"/>
              </a:rPr>
              <a:t>Normalize t</a:t>
            </a:r>
            <a:r>
              <a:rPr lang="en-US" altLang="zh-TW" sz="3200" b="1" dirty="0" smtClean="0">
                <a:latin typeface="Times New Roman" panose="02020603050405020304" pitchFamily="18" charset="0"/>
                <a:cs typeface="Times New Roman" panose="02020603050405020304" pitchFamily="18" charset="0"/>
              </a:rPr>
              <a:t>he </a:t>
            </a:r>
            <a:r>
              <a:rPr lang="en-US" altLang="zh-TW" sz="3200" b="1" dirty="0">
                <a:latin typeface="Times New Roman" panose="02020603050405020304" pitchFamily="18" charset="0"/>
                <a:cs typeface="Times New Roman" panose="02020603050405020304" pitchFamily="18" charset="0"/>
              </a:rPr>
              <a:t>values of the PSSM </a:t>
            </a:r>
            <a:r>
              <a:rPr lang="en-US" altLang="zh-TW" sz="3200" b="1" dirty="0" smtClean="0">
                <a:latin typeface="Times New Roman" panose="02020603050405020304" pitchFamily="18" charset="0"/>
                <a:cs typeface="Times New Roman" panose="02020603050405020304" pitchFamily="18" charset="0"/>
              </a:rPr>
              <a:t>score :</a:t>
            </a:r>
            <a:endParaRPr lang="zh-TW" altLang="en-US" sz="3200" b="1" dirty="0">
              <a:latin typeface="Times New Roman" panose="02020603050405020304" pitchFamily="18" charset="0"/>
              <a:cs typeface="Times New Roman" panose="02020603050405020304" pitchFamily="18"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1551148803"/>
              </p:ext>
            </p:extLst>
          </p:nvPr>
        </p:nvGraphicFramePr>
        <p:xfrm>
          <a:off x="1006765" y="1425376"/>
          <a:ext cx="7139709" cy="5160887"/>
        </p:xfrm>
        <a:graphic>
          <a:graphicData uri="http://schemas.openxmlformats.org/drawingml/2006/table">
            <a:tbl>
              <a:tblPr firstRow="1" bandRow="1">
                <a:tableStyleId>{5C22544A-7EE6-4342-B048-85BDC9FD1C3A}</a:tableStyleId>
              </a:tblPr>
              <a:tblGrid>
                <a:gridCol w="895926">
                  <a:extLst>
                    <a:ext uri="{9D8B030D-6E8A-4147-A177-3AD203B41FA5}">
                      <a16:colId xmlns:a16="http://schemas.microsoft.com/office/drawing/2014/main" xmlns="" val="1605233861"/>
                    </a:ext>
                  </a:extLst>
                </a:gridCol>
                <a:gridCol w="690676">
                  <a:extLst>
                    <a:ext uri="{9D8B030D-6E8A-4147-A177-3AD203B41FA5}">
                      <a16:colId xmlns:a16="http://schemas.microsoft.com/office/drawing/2014/main" xmlns="" val="3543228249"/>
                    </a:ext>
                  </a:extLst>
                </a:gridCol>
                <a:gridCol w="793301">
                  <a:extLst>
                    <a:ext uri="{9D8B030D-6E8A-4147-A177-3AD203B41FA5}">
                      <a16:colId xmlns:a16="http://schemas.microsoft.com/office/drawing/2014/main" xmlns="" val="3120355256"/>
                    </a:ext>
                  </a:extLst>
                </a:gridCol>
                <a:gridCol w="793301">
                  <a:extLst>
                    <a:ext uri="{9D8B030D-6E8A-4147-A177-3AD203B41FA5}">
                      <a16:colId xmlns:a16="http://schemas.microsoft.com/office/drawing/2014/main" xmlns="" val="4147274184"/>
                    </a:ext>
                  </a:extLst>
                </a:gridCol>
                <a:gridCol w="793301">
                  <a:extLst>
                    <a:ext uri="{9D8B030D-6E8A-4147-A177-3AD203B41FA5}">
                      <a16:colId xmlns:a16="http://schemas.microsoft.com/office/drawing/2014/main" xmlns="" val="59069133"/>
                    </a:ext>
                  </a:extLst>
                </a:gridCol>
                <a:gridCol w="793301">
                  <a:extLst>
                    <a:ext uri="{9D8B030D-6E8A-4147-A177-3AD203B41FA5}">
                      <a16:colId xmlns:a16="http://schemas.microsoft.com/office/drawing/2014/main" xmlns="" val="677377355"/>
                    </a:ext>
                  </a:extLst>
                </a:gridCol>
                <a:gridCol w="793301">
                  <a:extLst>
                    <a:ext uri="{9D8B030D-6E8A-4147-A177-3AD203B41FA5}">
                      <a16:colId xmlns:a16="http://schemas.microsoft.com/office/drawing/2014/main" xmlns="" val="3373296654"/>
                    </a:ext>
                  </a:extLst>
                </a:gridCol>
                <a:gridCol w="793301">
                  <a:extLst>
                    <a:ext uri="{9D8B030D-6E8A-4147-A177-3AD203B41FA5}">
                      <a16:colId xmlns:a16="http://schemas.microsoft.com/office/drawing/2014/main" xmlns="" val="3828455172"/>
                    </a:ext>
                  </a:extLst>
                </a:gridCol>
                <a:gridCol w="793301">
                  <a:extLst>
                    <a:ext uri="{9D8B030D-6E8A-4147-A177-3AD203B41FA5}">
                      <a16:colId xmlns:a16="http://schemas.microsoft.com/office/drawing/2014/main" xmlns="" val="250128876"/>
                    </a:ext>
                  </a:extLst>
                </a:gridCol>
              </a:tblGrid>
              <a:tr h="863207">
                <a:tc>
                  <a:txBody>
                    <a:bodyPr/>
                    <a:lstStyle/>
                    <a:p>
                      <a:pPr algn="ctr"/>
                      <a:r>
                        <a:rPr lang="en-US" altLang="zh-TW" dirty="0" smtClean="0">
                          <a:latin typeface="Times New Roman" panose="02020603050405020304" pitchFamily="18" charset="0"/>
                          <a:cs typeface="Times New Roman" panose="02020603050405020304" pitchFamily="18" charset="0"/>
                        </a:rPr>
                        <a:t>Amino</a:t>
                      </a:r>
                      <a:r>
                        <a:rPr lang="en-US" altLang="zh-TW" baseline="0" dirty="0" smtClean="0">
                          <a:latin typeface="Times New Roman" panose="02020603050405020304" pitchFamily="18" charset="0"/>
                          <a:cs typeface="Times New Roman" panose="02020603050405020304" pitchFamily="18" charset="0"/>
                        </a:rPr>
                        <a:t> Acid</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8</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3343172437"/>
                  </a:ext>
                </a:extLst>
              </a:tr>
              <a:tr h="374056">
                <a:tc>
                  <a:txBody>
                    <a:bodyPr/>
                    <a:lstStyle/>
                    <a:p>
                      <a:pPr algn="ctr"/>
                      <a:r>
                        <a:rPr lang="en-US" altLang="zh-TW" dirty="0" smtClean="0">
                          <a:latin typeface="Times New Roman" panose="02020603050405020304" pitchFamily="18" charset="0"/>
                          <a:cs typeface="Times New Roman" panose="02020603050405020304" pitchFamily="18" charset="0"/>
                        </a:rPr>
                        <a:t>N</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1</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0</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994635947"/>
                  </a:ext>
                </a:extLst>
              </a:tr>
              <a:tr h="374056">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2607260541"/>
                  </a:ext>
                </a:extLst>
              </a:tr>
              <a:tr h="374056">
                <a:tc>
                  <a:txBody>
                    <a:bodyPr/>
                    <a:lstStyle/>
                    <a:p>
                      <a:pPr algn="ctr"/>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latin typeface="Times New Roman" panose="02020603050405020304" pitchFamily="18" charset="0"/>
                          <a:cs typeface="Times New Roman" panose="02020603050405020304" pitchFamily="18" charset="0"/>
                        </a:rPr>
                        <a:t>0</a:t>
                      </a:r>
                    </a:p>
                  </a:txBody>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0.625</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latin typeface="Times New Roman" panose="02020603050405020304" pitchFamily="18" charset="0"/>
                          <a:cs typeface="Times New Roman" panose="02020603050405020304" pitchFamily="18" charset="0"/>
                        </a:rPr>
                        <a:t>0</a:t>
                      </a:r>
                    </a:p>
                  </a:txBody>
                  <a:tcPr/>
                </a:tc>
                <a:tc>
                  <a:txBody>
                    <a:bodyPr/>
                    <a:lstStyle/>
                    <a:p>
                      <a:pPr algn="ctr"/>
                      <a:r>
                        <a:rPr lang="en-US" altLang="zh-TW" b="1" dirty="0" smtClean="0">
                          <a:solidFill>
                            <a:srgbClr val="FF0000"/>
                          </a:solidFill>
                          <a:latin typeface="Times New Roman" panose="02020603050405020304" pitchFamily="18" charset="0"/>
                          <a:cs typeface="Times New Roman" panose="02020603050405020304" pitchFamily="18" charset="0"/>
                        </a:rPr>
                        <a:t>0.625</a:t>
                      </a:r>
                      <a:endParaRPr lang="zh-TW" altLang="en-US" b="1"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2138694041"/>
                  </a:ext>
                </a:extLst>
              </a:tr>
              <a:tr h="374056">
                <a:tc>
                  <a:txBody>
                    <a:bodyPr/>
                    <a:lstStyle/>
                    <a:p>
                      <a:pPr algn="ctr"/>
                      <a:r>
                        <a:rPr lang="en-US" altLang="zh-TW" dirty="0" smtClean="0">
                          <a:latin typeface="Times New Roman" panose="02020603050405020304" pitchFamily="18" charset="0"/>
                          <a:cs typeface="Times New Roman" panose="02020603050405020304" pitchFamily="18" charset="0"/>
                        </a:rPr>
                        <a:t>G</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0.625</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latin typeface="Times New Roman" panose="02020603050405020304" pitchFamily="18" charset="0"/>
                          <a:cs typeface="Times New Roman" panose="02020603050405020304" pitchFamily="18" charset="0"/>
                        </a:rPr>
                        <a:t>0</a:t>
                      </a:r>
                      <a:endParaRPr lang="zh-TW" altLang="en-US" dirty="0" smtClean="0">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latin typeface="Times New Roman" panose="02020603050405020304" pitchFamily="18" charset="0"/>
                          <a:cs typeface="Times New Roman" panose="02020603050405020304" pitchFamily="18" charset="0"/>
                        </a:rPr>
                        <a:t>0</a:t>
                      </a:r>
                      <a:endParaRPr lang="zh-TW" altLang="en-US" dirty="0" smtClean="0">
                        <a:latin typeface="Times New Roman" panose="02020603050405020304" pitchFamily="18" charset="0"/>
                        <a:cs typeface="Times New Roman" panose="02020603050405020304" pitchFamily="18" charset="0"/>
                      </a:endParaRPr>
                    </a:p>
                  </a:txBody>
                  <a:tcPr/>
                </a:tc>
                <a:tc>
                  <a:txBody>
                    <a:bodyPr/>
                    <a:lstStyle/>
                    <a:p>
                      <a:pPr algn="ctr"/>
                      <a:r>
                        <a:rPr lang="en-US" altLang="zh-TW" b="1" dirty="0" smtClean="0">
                          <a:solidFill>
                            <a:srgbClr val="FF0000"/>
                          </a:solidFill>
                          <a:latin typeface="Times New Roman" panose="02020603050405020304" pitchFamily="18" charset="0"/>
                          <a:cs typeface="Times New Roman" panose="02020603050405020304" pitchFamily="18" charset="0"/>
                        </a:rPr>
                        <a:t>0</a:t>
                      </a:r>
                      <a:endParaRPr lang="zh-TW" altLang="en-US" b="1"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3549637273"/>
                  </a:ext>
                </a:extLst>
              </a:tr>
              <a:tr h="374056">
                <a:tc>
                  <a:txBody>
                    <a:bodyPr/>
                    <a:lstStyle/>
                    <a:p>
                      <a:pPr algn="ctr"/>
                      <a:r>
                        <a:rPr lang="en-US" altLang="zh-TW" dirty="0" smtClean="0">
                          <a:latin typeface="Times New Roman" panose="02020603050405020304" pitchFamily="18" charset="0"/>
                          <a:cs typeface="Times New Roman" panose="02020603050405020304" pitchFamily="18" charset="0"/>
                        </a:rPr>
                        <a:t>W</a:t>
                      </a:r>
                      <a:endParaRPr lang="zh-TW" altLang="en-US" dirty="0">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latin typeface="Times New Roman" panose="02020603050405020304" pitchFamily="18" charset="0"/>
                          <a:cs typeface="Times New Roman" panose="02020603050405020304" pitchFamily="18" charset="0"/>
                        </a:rPr>
                        <a:t>0</a:t>
                      </a:r>
                      <a:endParaRPr lang="zh-TW" altLang="en-US" dirty="0" smtClean="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latin typeface="Times New Roman" panose="02020603050405020304" pitchFamily="18" charset="0"/>
                          <a:cs typeface="Times New Roman" panose="02020603050405020304" pitchFamily="18" charset="0"/>
                        </a:rPr>
                        <a:t>0</a:t>
                      </a:r>
                      <a:endParaRPr lang="zh-TW" altLang="en-US" dirty="0" smtClean="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4251251268"/>
                  </a:ext>
                </a:extLst>
              </a:tr>
              <a:tr h="374056">
                <a:tc>
                  <a:txBody>
                    <a:bodyPr/>
                    <a:lstStyle/>
                    <a:p>
                      <a:pPr algn="ctr"/>
                      <a:r>
                        <a:rPr lang="en-US" altLang="zh-TW" dirty="0" smtClean="0">
                          <a:latin typeface="Times New Roman" panose="02020603050405020304" pitchFamily="18" charset="0"/>
                          <a:cs typeface="Times New Roman" panose="02020603050405020304" pitchFamily="18" charset="0"/>
                        </a:rPr>
                        <a:t>I</a:t>
                      </a:r>
                      <a:endParaRPr lang="zh-TW" altLang="en-US"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0.625</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extLst>
                  <a:ext uri="{0D108BD9-81ED-4DB2-BD59-A6C34878D82A}">
                    <a16:rowId xmlns:a16="http://schemas.microsoft.com/office/drawing/2014/main" xmlns="" val="4128702581"/>
                  </a:ext>
                </a:extLst>
              </a:tr>
              <a:tr h="365518">
                <a:tc>
                  <a:txBody>
                    <a:bodyPr/>
                    <a:lstStyle/>
                    <a:p>
                      <a:pPr algn="ctr"/>
                      <a:r>
                        <a:rPr lang="en-US" altLang="zh-TW" dirty="0" smtClean="0">
                          <a:latin typeface="Times New Roman" panose="02020603050405020304" pitchFamily="18" charset="0"/>
                          <a:cs typeface="Times New Roman" panose="02020603050405020304" pitchFamily="18" charset="0"/>
                        </a:rPr>
                        <a:t>H</a:t>
                      </a:r>
                      <a:endParaRPr lang="zh-TW" altLang="en-US"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extLst>
                  <a:ext uri="{0D108BD9-81ED-4DB2-BD59-A6C34878D82A}">
                    <a16:rowId xmlns:a16="http://schemas.microsoft.com/office/drawing/2014/main" xmlns="" val="4252483310"/>
                  </a:ext>
                </a:extLst>
              </a:tr>
              <a:tr h="374056">
                <a:tc>
                  <a:txBody>
                    <a:bodyPr/>
                    <a:lstStyle/>
                    <a:p>
                      <a:pPr algn="ctr"/>
                      <a:r>
                        <a:rPr lang="en-US" altLang="zh-TW" dirty="0" smtClean="0">
                          <a:latin typeface="Times New Roman" panose="02020603050405020304" pitchFamily="18" charset="0"/>
                          <a:cs typeface="Times New Roman" panose="02020603050405020304" pitchFamily="18" charset="0"/>
                        </a:rPr>
                        <a:t>R</a:t>
                      </a:r>
                      <a:endParaRPr lang="zh-TW" altLang="en-US"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extLst>
                  <a:ext uri="{0D108BD9-81ED-4DB2-BD59-A6C34878D82A}">
                    <a16:rowId xmlns:a16="http://schemas.microsoft.com/office/drawing/2014/main" xmlns="" val="4026282657"/>
                  </a:ext>
                </a:extLst>
              </a:tr>
              <a:tr h="374056">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extLst>
                  <a:ext uri="{0D108BD9-81ED-4DB2-BD59-A6C34878D82A}">
                    <a16:rowId xmlns:a16="http://schemas.microsoft.com/office/drawing/2014/main" xmlns="" val="582421337"/>
                  </a:ext>
                </a:extLst>
              </a:tr>
              <a:tr h="374056">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latin typeface="Times New Roman" panose="02020603050405020304" pitchFamily="18" charset="0"/>
                          <a:cs typeface="Times New Roman" panose="02020603050405020304" pitchFamily="18" charset="0"/>
                        </a:rPr>
                        <a:t>0</a:t>
                      </a:r>
                      <a:endParaRPr lang="zh-TW" altLang="en-US" dirty="0" smtClean="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tc>
                <a:extLst>
                  <a:ext uri="{0D108BD9-81ED-4DB2-BD59-A6C34878D82A}">
                    <a16:rowId xmlns:a16="http://schemas.microsoft.com/office/drawing/2014/main" xmlns="" val="535659147"/>
                  </a:ext>
                </a:extLst>
              </a:tr>
              <a:tr h="365518">
                <a:tc>
                  <a:txBody>
                    <a:bodyPr/>
                    <a:lstStyle/>
                    <a:p>
                      <a:pPr algn="ctr"/>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kumimoji="0" lang="en-US" altLang="zh-TW"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kumimoji="0" lang="en-US" altLang="zh-TW" sz="1800" b="0" i="0" u="none" strike="noStrike" kern="1200" cap="none" spc="0" normalizeH="0" baseline="0" noProof="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kumimoji="0" lang="en-US" altLang="zh-TW"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kumimoji="0" lang="en-US" altLang="zh-TW"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2706528726"/>
                  </a:ext>
                </a:extLst>
              </a:tr>
            </a:tbl>
          </a:graphicData>
        </a:graphic>
      </p:graphicFrame>
      <p:sp>
        <p:nvSpPr>
          <p:cNvPr id="5" name="文字方塊 4"/>
          <p:cNvSpPr txBox="1"/>
          <p:nvPr/>
        </p:nvSpPr>
        <p:spPr>
          <a:xfrm>
            <a:off x="277091" y="877864"/>
            <a:ext cx="5819478" cy="461665"/>
          </a:xfrm>
          <a:prstGeom prst="rect">
            <a:avLst/>
          </a:prstGeom>
          <a:noFill/>
        </p:spPr>
        <p:txBody>
          <a:bodyPr wrap="none" rtlCol="0">
            <a:spAutoFit/>
          </a:bodyPr>
          <a:lstStyle/>
          <a:p>
            <a:r>
              <a:rPr lang="en-US" altLang="zh-TW" sz="2400" dirty="0" smtClean="0">
                <a:latin typeface="Times New Roman" panose="02020603050405020304" pitchFamily="18" charset="0"/>
                <a:cs typeface="Times New Roman" panose="02020603050405020304" pitchFamily="18" charset="0"/>
              </a:rPr>
              <a:t>PSSM=(Score(</a:t>
            </a:r>
            <a:r>
              <a:rPr lang="en-US" altLang="zh-TW" sz="2400" dirty="0" err="1">
                <a:latin typeface="Times New Roman" panose="02020603050405020304" pitchFamily="18" charset="0"/>
                <a:cs typeface="Times New Roman" panose="02020603050405020304" pitchFamily="18" charset="0"/>
              </a:rPr>
              <a:t>i</a:t>
            </a:r>
            <a:r>
              <a:rPr lang="en-US" altLang="zh-TW" sz="2400" dirty="0" err="1" smtClean="0">
                <a:latin typeface="Times New Roman" panose="02020603050405020304" pitchFamily="18" charset="0"/>
                <a:cs typeface="Times New Roman" panose="02020603050405020304" pitchFamily="18" charset="0"/>
              </a:rPr>
              <a:t>,j</a:t>
            </a:r>
            <a:r>
              <a:rPr lang="en-US" altLang="zh-TW" sz="2400" dirty="0" smtClean="0">
                <a:latin typeface="Times New Roman" panose="02020603050405020304" pitchFamily="18" charset="0"/>
                <a:cs typeface="Times New Roman" panose="02020603050405020304" pitchFamily="18" charset="0"/>
              </a:rPr>
              <a:t>)-</a:t>
            </a:r>
            <a:r>
              <a:rPr lang="en-US" altLang="zh-TW" sz="2400" dirty="0" err="1" smtClean="0">
                <a:latin typeface="Times New Roman" panose="02020603050405020304" pitchFamily="18" charset="0"/>
                <a:cs typeface="Times New Roman" panose="02020603050405020304" pitchFamily="18" charset="0"/>
              </a:rPr>
              <a:t>MinVal</a:t>
            </a:r>
            <a:r>
              <a:rPr lang="en-US" altLang="zh-TW" sz="2400" dirty="0" smtClean="0">
                <a:latin typeface="Times New Roman" panose="02020603050405020304" pitchFamily="18" charset="0"/>
                <a:cs typeface="Times New Roman" panose="02020603050405020304" pitchFamily="18" charset="0"/>
              </a:rPr>
              <a:t>)/(</a:t>
            </a:r>
            <a:r>
              <a:rPr lang="en-US" altLang="zh-TW" sz="2400" dirty="0" err="1" smtClean="0">
                <a:latin typeface="Times New Roman" panose="02020603050405020304" pitchFamily="18" charset="0"/>
                <a:cs typeface="Times New Roman" panose="02020603050405020304" pitchFamily="18" charset="0"/>
              </a:rPr>
              <a:t>MaxVal-MinVal</a:t>
            </a:r>
            <a:r>
              <a:rPr lang="en-US" altLang="zh-TW" sz="2400" dirty="0" smtClean="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6" name="文字方塊 5"/>
          <p:cNvSpPr txBox="1"/>
          <p:nvPr/>
        </p:nvSpPr>
        <p:spPr>
          <a:xfrm>
            <a:off x="6539346" y="632302"/>
            <a:ext cx="1387367" cy="400110"/>
          </a:xfrm>
          <a:prstGeom prst="rect">
            <a:avLst/>
          </a:prstGeom>
          <a:noFill/>
        </p:spPr>
        <p:txBody>
          <a:bodyPr wrap="none" rtlCol="0">
            <a:spAutoFit/>
          </a:bodyPr>
          <a:lstStyle/>
          <a:p>
            <a:r>
              <a:rPr lang="en-US" altLang="zh-TW" sz="2000" dirty="0" smtClean="0">
                <a:latin typeface="Times New Roman" panose="02020603050405020304" pitchFamily="18" charset="0"/>
                <a:cs typeface="Times New Roman" panose="02020603050405020304" pitchFamily="18" charset="0"/>
              </a:rPr>
              <a:t>MaxVal:1.3</a:t>
            </a:r>
            <a:endParaRPr lang="en-US" altLang="zh-TW" dirty="0" smtClean="0">
              <a:latin typeface="Times New Roman" panose="02020603050405020304" pitchFamily="18" charset="0"/>
              <a:cs typeface="Times New Roman" panose="02020603050405020304" pitchFamily="18" charset="0"/>
            </a:endParaRPr>
          </a:p>
        </p:txBody>
      </p:sp>
      <p:sp>
        <p:nvSpPr>
          <p:cNvPr id="9" name="文字方塊 8"/>
          <p:cNvSpPr txBox="1"/>
          <p:nvPr/>
        </p:nvSpPr>
        <p:spPr>
          <a:xfrm>
            <a:off x="6539346" y="944588"/>
            <a:ext cx="1496290" cy="400110"/>
          </a:xfrm>
          <a:prstGeom prst="rect">
            <a:avLst/>
          </a:prstGeom>
          <a:noFill/>
        </p:spPr>
        <p:txBody>
          <a:bodyPr wrap="square" rtlCol="0">
            <a:spAutoFit/>
          </a:bodyPr>
          <a:lstStyle/>
          <a:p>
            <a:r>
              <a:rPr lang="en-US" altLang="zh-TW" sz="2000" dirty="0" smtClean="0">
                <a:latin typeface="Times New Roman" panose="02020603050405020304" pitchFamily="18" charset="0"/>
                <a:cs typeface="Times New Roman" panose="02020603050405020304" pitchFamily="18" charset="0"/>
              </a:rPr>
              <a:t>MinVal:0.82</a:t>
            </a:r>
          </a:p>
        </p:txBody>
      </p:sp>
    </p:spTree>
    <p:extLst>
      <p:ext uri="{BB962C8B-B14F-4D97-AF65-F5344CB8AC3E}">
        <p14:creationId xmlns:p14="http://schemas.microsoft.com/office/powerpoint/2010/main" val="4697993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25358" y="439984"/>
            <a:ext cx="8353623" cy="583367"/>
          </a:xfrm>
        </p:spPr>
        <p:txBody>
          <a:bodyPr>
            <a:normAutofit fontScale="90000"/>
          </a:bodyPr>
          <a:lstStyle/>
          <a:p>
            <a:r>
              <a:rPr lang="en-US" altLang="zh-TW" sz="3200" b="1" dirty="0">
                <a:latin typeface="Times New Roman" panose="02020603050405020304" pitchFamily="18" charset="0"/>
                <a:cs typeface="Times New Roman" panose="02020603050405020304" pitchFamily="18" charset="0"/>
              </a:rPr>
              <a:t>Labelling of Protein Sequences with Gene Names :</a:t>
            </a:r>
            <a:endParaRPr lang="zh-TW" altLang="en-US" sz="3200" b="1" dirty="0">
              <a:latin typeface="Times New Roman" panose="02020603050405020304" pitchFamily="18" charset="0"/>
              <a:cs typeface="Times New Roman" panose="02020603050405020304" pitchFamily="18" charset="0"/>
            </a:endParaRPr>
          </a:p>
        </p:txBody>
      </p:sp>
      <p:pic>
        <p:nvPicPr>
          <p:cNvPr id="4" name="圖片 3"/>
          <p:cNvPicPr>
            <a:picLocks noChangeAspect="1"/>
          </p:cNvPicPr>
          <p:nvPr/>
        </p:nvPicPr>
        <p:blipFill>
          <a:blip r:embed="rId2"/>
          <a:stretch>
            <a:fillRect/>
          </a:stretch>
        </p:blipFill>
        <p:spPr>
          <a:xfrm>
            <a:off x="-65920" y="1663702"/>
            <a:ext cx="9302283" cy="3586960"/>
          </a:xfrm>
          <a:prstGeom prst="rect">
            <a:avLst/>
          </a:prstGeom>
        </p:spPr>
      </p:pic>
      <p:sp>
        <p:nvSpPr>
          <p:cNvPr id="6" name="矩形 5"/>
          <p:cNvSpPr/>
          <p:nvPr/>
        </p:nvSpPr>
        <p:spPr>
          <a:xfrm>
            <a:off x="346363" y="5417724"/>
            <a:ext cx="6183746" cy="830997"/>
          </a:xfrm>
          <a:prstGeom prst="rect">
            <a:avLst/>
          </a:prstGeom>
        </p:spPr>
        <p:txBody>
          <a:bodyPr wrap="square">
            <a:spAutoFit/>
          </a:bodyPr>
          <a:lstStyle/>
          <a:p>
            <a:r>
              <a:rPr lang="zh-TW" altLang="en-US" sz="2400" dirty="0">
                <a:latin typeface="標楷體" panose="03000509000000000000" pitchFamily="65" charset="-120"/>
                <a:ea typeface="標楷體" panose="03000509000000000000" pitchFamily="65" charset="-120"/>
              </a:rPr>
              <a:t>蝦夷盤扇貝</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標楷體" panose="03000509000000000000" pitchFamily="65" charset="-120"/>
                <a:ea typeface="標楷體" panose="03000509000000000000" pitchFamily="65" charset="-120"/>
              </a:rPr>
              <a:t>學名：</a:t>
            </a:r>
            <a:r>
              <a:rPr lang="en-US" altLang="zh-TW" sz="2400" dirty="0" err="1">
                <a:latin typeface="Times New Roman" panose="02020603050405020304" pitchFamily="18" charset="0"/>
                <a:cs typeface="Times New Roman" panose="02020603050405020304" pitchFamily="18" charset="0"/>
              </a:rPr>
              <a:t>Mizuhopecten</a:t>
            </a:r>
            <a:r>
              <a:rPr lang="en-US" altLang="zh-TW"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yessoensis</a:t>
            </a:r>
            <a:r>
              <a:rPr lang="zh-TW" altLang="en-US" sz="2400" dirty="0" smtClean="0">
                <a:latin typeface="Times New Roman" panose="02020603050405020304" pitchFamily="18" charset="0"/>
                <a:cs typeface="Times New Roman" panose="02020603050405020304" pitchFamily="18" charset="0"/>
              </a:rPr>
              <a:t>）</a:t>
            </a:r>
            <a:endParaRPr lang="en-US" altLang="zh-TW" sz="2400" dirty="0" smtClean="0">
              <a:latin typeface="Times New Roman" panose="02020603050405020304" pitchFamily="18" charset="0"/>
              <a:cs typeface="Times New Roman" panose="02020603050405020304" pitchFamily="18" charset="0"/>
            </a:endParaRPr>
          </a:p>
          <a:p>
            <a:r>
              <a:rPr lang="zh-TW" altLang="en-US" sz="2400" dirty="0">
                <a:latin typeface="標楷體" panose="03000509000000000000" pitchFamily="65" charset="-120"/>
                <a:ea typeface="標楷體" panose="03000509000000000000" pitchFamily="65" charset="-120"/>
              </a:rPr>
              <a:t>外皮蛋白</a:t>
            </a:r>
            <a:endParaRPr lang="zh-TW" altLang="en-US" sz="3200" dirty="0">
              <a:latin typeface="標楷體" panose="03000509000000000000" pitchFamily="65" charset="-120"/>
              <a:ea typeface="標楷體" panose="03000509000000000000" pitchFamily="65" charset="-120"/>
              <a:cs typeface="Times New Roman" panose="02020603050405020304" pitchFamily="18" charset="0"/>
            </a:endParaRPr>
          </a:p>
        </p:txBody>
      </p:sp>
      <p:sp>
        <p:nvSpPr>
          <p:cNvPr id="11" name="矩形 10"/>
          <p:cNvSpPr/>
          <p:nvPr/>
        </p:nvSpPr>
        <p:spPr>
          <a:xfrm>
            <a:off x="125358" y="1013249"/>
            <a:ext cx="5682902" cy="461665"/>
          </a:xfrm>
          <a:prstGeom prst="rect">
            <a:avLst/>
          </a:prstGeom>
        </p:spPr>
        <p:txBody>
          <a:bodyPr wrap="none">
            <a:spAutoFit/>
          </a:bodyPr>
          <a:lstStyle/>
          <a:p>
            <a:r>
              <a:rPr lang="zh-TW" altLang="en-US" sz="2400" dirty="0">
                <a:latin typeface="Times New Roman" panose="02020603050405020304" pitchFamily="18" charset="0"/>
                <a:cs typeface="Times New Roman" panose="02020603050405020304" pitchFamily="18" charset="0"/>
              </a:rPr>
              <a:t>BLAST: Basic Local Alignment Search Tool</a:t>
            </a:r>
          </a:p>
        </p:txBody>
      </p:sp>
    </p:spTree>
    <p:extLst>
      <p:ext uri="{BB962C8B-B14F-4D97-AF65-F5344CB8AC3E}">
        <p14:creationId xmlns:p14="http://schemas.microsoft.com/office/powerpoint/2010/main" val="39033541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25359" y="560057"/>
            <a:ext cx="7097477" cy="583367"/>
          </a:xfrm>
        </p:spPr>
        <p:txBody>
          <a:bodyPr>
            <a:normAutofit fontScale="90000"/>
          </a:bodyPr>
          <a:lstStyle/>
          <a:p>
            <a:r>
              <a:rPr lang="en-US" altLang="zh-TW" sz="3200" b="1" dirty="0">
                <a:latin typeface="Times New Roman" panose="02020603050405020304" pitchFamily="18" charset="0"/>
                <a:cs typeface="Times New Roman" panose="02020603050405020304" pitchFamily="18" charset="0"/>
              </a:rPr>
              <a:t>Transforming Protein Sequences into Training Data Set :</a:t>
            </a:r>
            <a:endParaRPr lang="zh-TW" altLang="en-US" sz="3200" b="1" dirty="0">
              <a:latin typeface="Times New Roman" panose="02020603050405020304" pitchFamily="18" charset="0"/>
              <a:cs typeface="Times New Roman" panose="02020603050405020304" pitchFamily="18" charset="0"/>
            </a:endParaRPr>
          </a:p>
        </p:txBody>
      </p:sp>
      <p:sp>
        <p:nvSpPr>
          <p:cNvPr id="4" name="向右箭號 3"/>
          <p:cNvSpPr/>
          <p:nvPr/>
        </p:nvSpPr>
        <p:spPr>
          <a:xfrm>
            <a:off x="1984447" y="2770929"/>
            <a:ext cx="609600" cy="3971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7" name="表格 16"/>
          <p:cNvGraphicFramePr>
            <a:graphicFrameLocks noGrp="1"/>
          </p:cNvGraphicFramePr>
          <p:nvPr>
            <p:extLst>
              <p:ext uri="{D42A27DB-BD31-4B8C-83A1-F6EECF244321}">
                <p14:modId xmlns:p14="http://schemas.microsoft.com/office/powerpoint/2010/main" val="1728022404"/>
              </p:ext>
            </p:extLst>
          </p:nvPr>
        </p:nvGraphicFramePr>
        <p:xfrm>
          <a:off x="2801215" y="1979373"/>
          <a:ext cx="6076874" cy="2588932"/>
        </p:xfrm>
        <a:graphic>
          <a:graphicData uri="http://schemas.openxmlformats.org/drawingml/2006/table">
            <a:tbl>
              <a:tblPr firstRow="1" bandRow="1">
                <a:effectLst/>
                <a:tableStyleId>{5C22544A-7EE6-4342-B048-85BDC9FD1C3A}</a:tableStyleId>
              </a:tblPr>
              <a:tblGrid>
                <a:gridCol w="739231">
                  <a:extLst>
                    <a:ext uri="{9D8B030D-6E8A-4147-A177-3AD203B41FA5}">
                      <a16:colId xmlns:a16="http://schemas.microsoft.com/office/drawing/2014/main" xmlns="" val="1605233861"/>
                    </a:ext>
                  </a:extLst>
                </a:gridCol>
                <a:gridCol w="763338">
                  <a:extLst>
                    <a:ext uri="{9D8B030D-6E8A-4147-A177-3AD203B41FA5}">
                      <a16:colId xmlns:a16="http://schemas.microsoft.com/office/drawing/2014/main" xmlns="" val="3543228249"/>
                    </a:ext>
                  </a:extLst>
                </a:gridCol>
                <a:gridCol w="751285">
                  <a:extLst>
                    <a:ext uri="{9D8B030D-6E8A-4147-A177-3AD203B41FA5}">
                      <a16:colId xmlns:a16="http://schemas.microsoft.com/office/drawing/2014/main" xmlns="" val="3120355256"/>
                    </a:ext>
                  </a:extLst>
                </a:gridCol>
                <a:gridCol w="817880">
                  <a:extLst>
                    <a:ext uri="{9D8B030D-6E8A-4147-A177-3AD203B41FA5}">
                      <a16:colId xmlns:a16="http://schemas.microsoft.com/office/drawing/2014/main" xmlns="" val="4147274184"/>
                    </a:ext>
                  </a:extLst>
                </a:gridCol>
                <a:gridCol w="806882">
                  <a:extLst>
                    <a:ext uri="{9D8B030D-6E8A-4147-A177-3AD203B41FA5}">
                      <a16:colId xmlns:a16="http://schemas.microsoft.com/office/drawing/2014/main" xmlns="" val="59069133"/>
                    </a:ext>
                  </a:extLst>
                </a:gridCol>
                <a:gridCol w="695688">
                  <a:extLst>
                    <a:ext uri="{9D8B030D-6E8A-4147-A177-3AD203B41FA5}">
                      <a16:colId xmlns:a16="http://schemas.microsoft.com/office/drawing/2014/main" xmlns="" val="677377355"/>
                    </a:ext>
                  </a:extLst>
                </a:gridCol>
                <a:gridCol w="650881">
                  <a:extLst>
                    <a:ext uri="{9D8B030D-6E8A-4147-A177-3AD203B41FA5}">
                      <a16:colId xmlns:a16="http://schemas.microsoft.com/office/drawing/2014/main" xmlns="" val="3373296654"/>
                    </a:ext>
                  </a:extLst>
                </a:gridCol>
                <a:gridCol w="851689">
                  <a:extLst>
                    <a:ext uri="{9D8B030D-6E8A-4147-A177-3AD203B41FA5}">
                      <a16:colId xmlns:a16="http://schemas.microsoft.com/office/drawing/2014/main" xmlns="" val="2318073021"/>
                    </a:ext>
                  </a:extLst>
                </a:gridCol>
              </a:tblGrid>
              <a:tr h="277238">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N</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BF5"/>
                    </a:solidFill>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T</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BF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E</a:t>
                      </a:r>
                      <a:endParaRPr kumimoji="0" lang="zh-TW"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BF5"/>
                    </a:solidFill>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G</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BF5"/>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000" b="0" dirty="0" smtClean="0">
                          <a:solidFill>
                            <a:schemeClr val="tx1"/>
                          </a:solidFill>
                          <a:latin typeface="Times New Roman" panose="02020603050405020304" pitchFamily="18" charset="0"/>
                          <a:cs typeface="Times New Roman" panose="02020603050405020304" pitchFamily="18" charset="0"/>
                        </a:rPr>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BF5"/>
                    </a:solidFill>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W</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BF5"/>
                    </a:solidFill>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I</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BF5"/>
                    </a:solidFill>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E</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BF5"/>
                    </a:solidFill>
                  </a:tcPr>
                </a:tc>
                <a:extLst>
                  <a:ext uri="{0D108BD9-81ED-4DB2-BD59-A6C34878D82A}">
                    <a16:rowId xmlns:a16="http://schemas.microsoft.com/office/drawing/2014/main" xmlns="" val="1994635947"/>
                  </a:ext>
                </a:extLst>
              </a:tr>
              <a:tr h="607732">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1</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0.625</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0.625</a:t>
                      </a:r>
                      <a:endParaRPr kumimoji="0" lang="zh-TW"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0.625</a:t>
                      </a:r>
                      <a:endParaRPr kumimoji="0" lang="zh-TW"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07260541"/>
                  </a:ext>
                </a:extLst>
              </a:tr>
              <a:tr h="387196">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N</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I</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T</a:t>
                      </a:r>
                      <a:endParaRPr kumimoji="0" lang="zh-TW"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R</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000" b="0" dirty="0" smtClean="0">
                          <a:solidFill>
                            <a:schemeClr val="tx1"/>
                          </a:solidFill>
                          <a:latin typeface="Times New Roman" panose="02020603050405020304" pitchFamily="18" charset="0"/>
                          <a:cs typeface="Times New Roman" panose="02020603050405020304" pitchFamily="18" charset="0"/>
                        </a:rPr>
                        <a:t>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E</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W</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E</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38694041"/>
                  </a:ext>
                </a:extLst>
              </a:tr>
              <a:tr h="387196">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1</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0.625</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smtClean="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smtClean="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0.625</a:t>
                      </a:r>
                      <a:endParaRPr kumimoji="0" lang="zh-TW"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49637273"/>
                  </a:ext>
                </a:extLst>
              </a:tr>
              <a:tr h="387196">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N</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I</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a:t>
                      </a:r>
                      <a:endParaRPr kumimoji="0" lang="zh-TW"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G</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000" b="0" dirty="0" smtClean="0">
                          <a:solidFill>
                            <a:schemeClr val="tx1"/>
                          </a:solidFill>
                          <a:latin typeface="Times New Roman" panose="02020603050405020304" pitchFamily="18" charset="0"/>
                          <a:cs typeface="Times New Roman" panose="02020603050405020304" pitchFamily="18" charset="0"/>
                        </a:rPr>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C</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C</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G</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51251268"/>
                  </a:ext>
                </a:extLst>
              </a:tr>
              <a:tr h="387196">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1</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0.625</a:t>
                      </a:r>
                      <a:endParaRPr kumimoji="0" lang="zh-TW" altLang="en-US"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0.625</a:t>
                      </a:r>
                      <a:endParaRPr kumimoji="0" lang="zh-TW"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0.625</a:t>
                      </a:r>
                      <a:endParaRPr kumimoji="0" lang="zh-TW" altLang="en-US"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28702581"/>
                  </a:ext>
                </a:extLst>
              </a:tr>
            </a:tbl>
          </a:graphicData>
        </a:graphic>
      </p:graphicFrame>
      <p:sp>
        <p:nvSpPr>
          <p:cNvPr id="19" name="Rectangle 3"/>
          <p:cNvSpPr txBox="1">
            <a:spLocks noChangeArrowheads="1"/>
          </p:cNvSpPr>
          <p:nvPr/>
        </p:nvSpPr>
        <p:spPr>
          <a:xfrm>
            <a:off x="125359" y="2359439"/>
            <a:ext cx="1810326" cy="1828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altLang="zh-TW" sz="2400" dirty="0" smtClean="0">
                <a:latin typeface="Times New Roman" panose="02020603050405020304" pitchFamily="18" charset="0"/>
                <a:cs typeface="Times New Roman" panose="02020603050405020304" pitchFamily="18" charset="0"/>
              </a:rPr>
              <a:t>NTEGEWIE</a:t>
            </a:r>
          </a:p>
          <a:p>
            <a:pPr>
              <a:buFontTx/>
              <a:buNone/>
            </a:pPr>
            <a:r>
              <a:rPr lang="en-US" altLang="zh-TW" sz="2400" dirty="0" smtClean="0">
                <a:latin typeface="Times New Roman" panose="02020603050405020304" pitchFamily="18" charset="0"/>
                <a:cs typeface="Times New Roman" panose="02020603050405020304" pitchFamily="18" charset="0"/>
              </a:rPr>
              <a:t>NITRGEWE</a:t>
            </a:r>
          </a:p>
          <a:p>
            <a:pPr>
              <a:buFontTx/>
              <a:buNone/>
            </a:pPr>
            <a:r>
              <a:rPr lang="en-US" altLang="zh-TW" sz="2400" dirty="0" smtClean="0">
                <a:latin typeface="Times New Roman" panose="02020603050405020304" pitchFamily="18" charset="0"/>
                <a:cs typeface="Times New Roman" panose="02020603050405020304" pitchFamily="18" charset="0"/>
              </a:rPr>
              <a:t>NIAGECCG</a:t>
            </a: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78098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25359" y="560057"/>
            <a:ext cx="7097477" cy="583367"/>
          </a:xfrm>
        </p:spPr>
        <p:txBody>
          <a:bodyPr>
            <a:normAutofit fontScale="90000"/>
          </a:bodyPr>
          <a:lstStyle/>
          <a:p>
            <a:r>
              <a:rPr lang="en-US" altLang="zh-TW" sz="3200" b="1" dirty="0">
                <a:latin typeface="Times New Roman" panose="02020603050405020304" pitchFamily="18" charset="0"/>
                <a:cs typeface="Times New Roman" panose="02020603050405020304" pitchFamily="18" charset="0"/>
              </a:rPr>
              <a:t>Transforming Protein Sequences into Training Data Set :</a:t>
            </a:r>
            <a:endParaRPr lang="zh-TW" altLang="en-US" sz="3200" b="1" dirty="0">
              <a:latin typeface="Times New Roman" panose="02020603050405020304" pitchFamily="18" charset="0"/>
              <a:cs typeface="Times New Roman" panose="02020603050405020304" pitchFamily="18" charset="0"/>
            </a:endParaRPr>
          </a:p>
        </p:txBody>
      </p:sp>
      <p:sp>
        <p:nvSpPr>
          <p:cNvPr id="4" name="向右箭號 3"/>
          <p:cNvSpPr/>
          <p:nvPr/>
        </p:nvSpPr>
        <p:spPr>
          <a:xfrm>
            <a:off x="1984447" y="2770929"/>
            <a:ext cx="609600" cy="3971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7" name="表格 16"/>
          <p:cNvGraphicFramePr>
            <a:graphicFrameLocks noGrp="1"/>
          </p:cNvGraphicFramePr>
          <p:nvPr>
            <p:extLst>
              <p:ext uri="{D42A27DB-BD31-4B8C-83A1-F6EECF244321}">
                <p14:modId xmlns:p14="http://schemas.microsoft.com/office/powerpoint/2010/main" val="3470413204"/>
              </p:ext>
            </p:extLst>
          </p:nvPr>
        </p:nvGraphicFramePr>
        <p:xfrm>
          <a:off x="2801215" y="1979373"/>
          <a:ext cx="6076874" cy="2588932"/>
        </p:xfrm>
        <a:graphic>
          <a:graphicData uri="http://schemas.openxmlformats.org/drawingml/2006/table">
            <a:tbl>
              <a:tblPr firstRow="1" bandRow="1">
                <a:effectLst/>
                <a:tableStyleId>{5C22544A-7EE6-4342-B048-85BDC9FD1C3A}</a:tableStyleId>
              </a:tblPr>
              <a:tblGrid>
                <a:gridCol w="739231">
                  <a:extLst>
                    <a:ext uri="{9D8B030D-6E8A-4147-A177-3AD203B41FA5}">
                      <a16:colId xmlns:a16="http://schemas.microsoft.com/office/drawing/2014/main" xmlns="" val="1605233861"/>
                    </a:ext>
                  </a:extLst>
                </a:gridCol>
                <a:gridCol w="763338">
                  <a:extLst>
                    <a:ext uri="{9D8B030D-6E8A-4147-A177-3AD203B41FA5}">
                      <a16:colId xmlns:a16="http://schemas.microsoft.com/office/drawing/2014/main" xmlns="" val="3543228249"/>
                    </a:ext>
                  </a:extLst>
                </a:gridCol>
                <a:gridCol w="785452">
                  <a:extLst>
                    <a:ext uri="{9D8B030D-6E8A-4147-A177-3AD203B41FA5}">
                      <a16:colId xmlns:a16="http://schemas.microsoft.com/office/drawing/2014/main" xmlns="" val="3120355256"/>
                    </a:ext>
                  </a:extLst>
                </a:gridCol>
                <a:gridCol w="822037">
                  <a:extLst>
                    <a:ext uri="{9D8B030D-6E8A-4147-A177-3AD203B41FA5}">
                      <a16:colId xmlns:a16="http://schemas.microsoft.com/office/drawing/2014/main" xmlns="" val="4147274184"/>
                    </a:ext>
                  </a:extLst>
                </a:gridCol>
                <a:gridCol w="831272">
                  <a:extLst>
                    <a:ext uri="{9D8B030D-6E8A-4147-A177-3AD203B41FA5}">
                      <a16:colId xmlns:a16="http://schemas.microsoft.com/office/drawing/2014/main" xmlns="" val="59069133"/>
                    </a:ext>
                  </a:extLst>
                </a:gridCol>
                <a:gridCol w="822037">
                  <a:extLst>
                    <a:ext uri="{9D8B030D-6E8A-4147-A177-3AD203B41FA5}">
                      <a16:colId xmlns:a16="http://schemas.microsoft.com/office/drawing/2014/main" xmlns="" val="677377355"/>
                    </a:ext>
                  </a:extLst>
                </a:gridCol>
                <a:gridCol w="461818">
                  <a:extLst>
                    <a:ext uri="{9D8B030D-6E8A-4147-A177-3AD203B41FA5}">
                      <a16:colId xmlns:a16="http://schemas.microsoft.com/office/drawing/2014/main" xmlns="" val="3373296654"/>
                    </a:ext>
                  </a:extLst>
                </a:gridCol>
                <a:gridCol w="851689">
                  <a:extLst>
                    <a:ext uri="{9D8B030D-6E8A-4147-A177-3AD203B41FA5}">
                      <a16:colId xmlns:a16="http://schemas.microsoft.com/office/drawing/2014/main" xmlns="" val="2318073021"/>
                    </a:ext>
                  </a:extLst>
                </a:gridCol>
              </a:tblGrid>
              <a:tr h="277238">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N</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BF5"/>
                    </a:solidFill>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T</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BF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E</a:t>
                      </a:r>
                      <a:endParaRPr kumimoji="0" lang="zh-TW"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BF5"/>
                    </a:solidFill>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G</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BF5"/>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000" b="0" dirty="0" smtClean="0">
                          <a:solidFill>
                            <a:schemeClr val="tx1"/>
                          </a:solidFill>
                          <a:latin typeface="Times New Roman" panose="02020603050405020304" pitchFamily="18" charset="0"/>
                          <a:cs typeface="Times New Roman" panose="02020603050405020304" pitchFamily="18" charset="0"/>
                        </a:rPr>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BF5"/>
                    </a:solidFill>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W</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BF5"/>
                    </a:solidFill>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I</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BF5"/>
                    </a:solidFill>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E</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BF5"/>
                    </a:solidFill>
                  </a:tcPr>
                </a:tc>
                <a:extLst>
                  <a:ext uri="{0D108BD9-81ED-4DB2-BD59-A6C34878D82A}">
                    <a16:rowId xmlns:a16="http://schemas.microsoft.com/office/drawing/2014/main" xmlns="" val="1994635947"/>
                  </a:ext>
                </a:extLst>
              </a:tr>
              <a:tr h="607732">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1</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1" dirty="0" smtClean="0">
                          <a:solidFill>
                            <a:srgbClr val="00B050"/>
                          </a:solidFill>
                          <a:latin typeface="Times New Roman" panose="02020603050405020304" pitchFamily="18" charset="0"/>
                          <a:cs typeface="Times New Roman" panose="02020603050405020304" pitchFamily="18" charset="0"/>
                        </a:rPr>
                        <a:t>0.416</a:t>
                      </a:r>
                      <a:endParaRPr lang="zh-TW" altLang="en-US" sz="2000" b="1" dirty="0">
                        <a:solidFill>
                          <a:srgbClr val="00B05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0.625</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1" dirty="0" smtClean="0">
                          <a:solidFill>
                            <a:srgbClr val="00B050"/>
                          </a:solidFill>
                          <a:latin typeface="Times New Roman" panose="02020603050405020304" pitchFamily="18" charset="0"/>
                          <a:cs typeface="Times New Roman" panose="02020603050405020304" pitchFamily="18" charset="0"/>
                        </a:rPr>
                        <a:t>0.416</a:t>
                      </a:r>
                      <a:endParaRPr lang="zh-TW" altLang="en-US" sz="2000" b="1" dirty="0">
                        <a:solidFill>
                          <a:srgbClr val="00B05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1" dirty="0" smtClean="0">
                          <a:solidFill>
                            <a:srgbClr val="00B050"/>
                          </a:solidFill>
                          <a:latin typeface="Times New Roman" panose="02020603050405020304" pitchFamily="18" charset="0"/>
                          <a:cs typeface="Times New Roman" panose="02020603050405020304" pitchFamily="18" charset="0"/>
                        </a:rPr>
                        <a:t>0.416</a:t>
                      </a:r>
                      <a:endParaRPr lang="zh-TW" altLang="en-US" sz="2000" b="1" dirty="0">
                        <a:solidFill>
                          <a:srgbClr val="00B05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07260541"/>
                  </a:ext>
                </a:extLst>
              </a:tr>
              <a:tr h="387196">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N</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I</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T</a:t>
                      </a:r>
                      <a:endParaRPr kumimoji="0" lang="zh-TW"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R</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000" b="0" dirty="0" smtClean="0">
                          <a:solidFill>
                            <a:schemeClr val="tx1"/>
                          </a:solidFill>
                          <a:latin typeface="Times New Roman" panose="02020603050405020304" pitchFamily="18" charset="0"/>
                          <a:cs typeface="Times New Roman" panose="02020603050405020304" pitchFamily="18" charset="0"/>
                        </a:rPr>
                        <a:t>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E</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W</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E</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38694041"/>
                  </a:ext>
                </a:extLst>
              </a:tr>
              <a:tr h="387196">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1</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0.625</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smtClean="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b="1" dirty="0" smtClean="0">
                          <a:solidFill>
                            <a:srgbClr val="00B050"/>
                          </a:solidFill>
                          <a:latin typeface="Times New Roman" panose="02020603050405020304" pitchFamily="18" charset="0"/>
                          <a:cs typeface="Times New Roman" panose="02020603050405020304" pitchFamily="18" charset="0"/>
                        </a:rPr>
                        <a:t>0.3125</a:t>
                      </a:r>
                      <a:endParaRPr lang="zh-TW" altLang="en-US" sz="1800" b="1" dirty="0">
                        <a:solidFill>
                          <a:srgbClr val="00B05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b="1" dirty="0" smtClean="0">
                          <a:solidFill>
                            <a:srgbClr val="00B050"/>
                          </a:solidFill>
                          <a:latin typeface="Times New Roman" panose="02020603050405020304" pitchFamily="18" charset="0"/>
                          <a:cs typeface="Times New Roman" panose="02020603050405020304" pitchFamily="18" charset="0"/>
                        </a:rPr>
                        <a:t>0.3125</a:t>
                      </a:r>
                      <a:endParaRPr lang="zh-TW" altLang="en-US" sz="1800" b="1" dirty="0">
                        <a:solidFill>
                          <a:srgbClr val="00B05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49637273"/>
                  </a:ext>
                </a:extLst>
              </a:tr>
              <a:tr h="387196">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N</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I</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a:t>
                      </a:r>
                      <a:endParaRPr kumimoji="0" lang="zh-TW"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G</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000" b="0" dirty="0" smtClean="0">
                          <a:solidFill>
                            <a:schemeClr val="tx1"/>
                          </a:solidFill>
                          <a:latin typeface="Times New Roman" panose="02020603050405020304" pitchFamily="18" charset="0"/>
                          <a:cs typeface="Times New Roman" panose="02020603050405020304" pitchFamily="18" charset="0"/>
                        </a:rPr>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C</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C</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smtClean="0">
                          <a:solidFill>
                            <a:schemeClr val="tx1"/>
                          </a:solidFill>
                          <a:latin typeface="Times New Roman" panose="02020603050405020304" pitchFamily="18" charset="0"/>
                          <a:cs typeface="Times New Roman" panose="02020603050405020304" pitchFamily="18" charset="0"/>
                        </a:rPr>
                        <a:t>G</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51251268"/>
                  </a:ext>
                </a:extLst>
              </a:tr>
              <a:tr h="387196">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1</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0.625</a:t>
                      </a:r>
                      <a:endParaRPr kumimoji="0" lang="zh-TW" altLang="en-US"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1" dirty="0" smtClean="0">
                          <a:solidFill>
                            <a:srgbClr val="FF0000"/>
                          </a:solidFill>
                          <a:latin typeface="Times New Roman" panose="02020603050405020304" pitchFamily="18" charset="0"/>
                          <a:cs typeface="Times New Roman" panose="02020603050405020304" pitchFamily="18" charset="0"/>
                        </a:rPr>
                        <a:t>0</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b="1" dirty="0" smtClean="0">
                          <a:solidFill>
                            <a:srgbClr val="00B050"/>
                          </a:solidFill>
                          <a:latin typeface="Times New Roman" panose="02020603050405020304" pitchFamily="18" charset="0"/>
                          <a:cs typeface="Times New Roman" panose="02020603050405020304" pitchFamily="18" charset="0"/>
                        </a:rPr>
                        <a:t>0.3125</a:t>
                      </a:r>
                      <a:endParaRPr lang="zh-TW" altLang="en-US" sz="1800" b="1" dirty="0">
                        <a:solidFill>
                          <a:srgbClr val="00B05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0.625</a:t>
                      </a:r>
                      <a:endParaRPr kumimoji="0" lang="zh-TW" altLang="en-US"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0</a:t>
                      </a:r>
                      <a:endParaRPr kumimoji="0" lang="zh-TW" altLang="en-US" sz="2000" b="1" i="0" u="none" strike="noStrike" kern="1200" cap="none" spc="0" normalizeH="0" baseline="0" noProof="0" dirty="0" smtClean="0">
                        <a:ln>
                          <a:noFill/>
                        </a:ln>
                        <a:solidFill>
                          <a:srgbClr val="FF0000"/>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b="1" dirty="0" smtClean="0">
                          <a:solidFill>
                            <a:srgbClr val="00B050"/>
                          </a:solidFill>
                          <a:latin typeface="Times New Roman" panose="02020603050405020304" pitchFamily="18" charset="0"/>
                          <a:cs typeface="Times New Roman" panose="02020603050405020304" pitchFamily="18" charset="0"/>
                        </a:rPr>
                        <a:t>0.3125</a:t>
                      </a:r>
                      <a:endParaRPr lang="zh-TW" altLang="en-US" sz="1800" b="1" dirty="0">
                        <a:solidFill>
                          <a:srgbClr val="00B05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28702581"/>
                  </a:ext>
                </a:extLst>
              </a:tr>
            </a:tbl>
          </a:graphicData>
        </a:graphic>
      </p:graphicFrame>
      <p:sp>
        <p:nvSpPr>
          <p:cNvPr id="19" name="Rectangle 3"/>
          <p:cNvSpPr txBox="1">
            <a:spLocks noChangeArrowheads="1"/>
          </p:cNvSpPr>
          <p:nvPr/>
        </p:nvSpPr>
        <p:spPr>
          <a:xfrm>
            <a:off x="125359" y="2359439"/>
            <a:ext cx="1810326" cy="1828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altLang="zh-TW" sz="2400" dirty="0" smtClean="0">
                <a:latin typeface="Times New Roman" panose="02020603050405020304" pitchFamily="18" charset="0"/>
                <a:cs typeface="Times New Roman" panose="02020603050405020304" pitchFamily="18" charset="0"/>
              </a:rPr>
              <a:t>NTEGEWIE</a:t>
            </a:r>
          </a:p>
          <a:p>
            <a:pPr>
              <a:buFontTx/>
              <a:buNone/>
            </a:pPr>
            <a:r>
              <a:rPr lang="en-US" altLang="zh-TW" sz="2400" dirty="0" smtClean="0">
                <a:latin typeface="Times New Roman" panose="02020603050405020304" pitchFamily="18" charset="0"/>
                <a:cs typeface="Times New Roman" panose="02020603050405020304" pitchFamily="18" charset="0"/>
              </a:rPr>
              <a:t>NITRGEWE</a:t>
            </a:r>
          </a:p>
          <a:p>
            <a:pPr>
              <a:buFontTx/>
              <a:buNone/>
            </a:pPr>
            <a:r>
              <a:rPr lang="en-US" altLang="zh-TW" sz="2400" dirty="0" smtClean="0">
                <a:latin typeface="Times New Roman" panose="02020603050405020304" pitchFamily="18" charset="0"/>
                <a:cs typeface="Times New Roman" panose="02020603050405020304" pitchFamily="18" charset="0"/>
              </a:rPr>
              <a:t>NIAGECCG</a:t>
            </a: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93566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25359" y="439984"/>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Synergistic Multiclass SVM Classifier  </a:t>
            </a:r>
            <a:r>
              <a:rPr lang="en-US" altLang="zh-TW" sz="3200" b="1" dirty="0" smtClean="0">
                <a:latin typeface="Times New Roman" panose="02020603050405020304" pitchFamily="18" charset="0"/>
                <a:cs typeface="Times New Roman" panose="02020603050405020304" pitchFamily="18" charset="0"/>
              </a:rPr>
              <a:t>:</a:t>
            </a:r>
            <a:endParaRPr lang="zh-TW" altLang="en-US" sz="3200" b="1"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2"/>
          <a:stretch>
            <a:fillRect/>
          </a:stretch>
        </p:blipFill>
        <p:spPr>
          <a:xfrm>
            <a:off x="1382514" y="1447211"/>
            <a:ext cx="5372390" cy="4403442"/>
          </a:xfrm>
          <a:prstGeom prst="rect">
            <a:avLst/>
          </a:prstGeom>
        </p:spPr>
      </p:pic>
      <p:sp>
        <p:nvSpPr>
          <p:cNvPr id="5" name="Rectangle 3"/>
          <p:cNvSpPr txBox="1">
            <a:spLocks noChangeArrowheads="1"/>
          </p:cNvSpPr>
          <p:nvPr/>
        </p:nvSpPr>
        <p:spPr>
          <a:xfrm>
            <a:off x="3947049" y="4936253"/>
            <a:ext cx="4716659" cy="1828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altLang="zh-TW" sz="2400" dirty="0" smtClean="0">
                <a:latin typeface="Times New Roman" panose="02020603050405020304" pitchFamily="18" charset="0"/>
                <a:cs typeface="Times New Roman" panose="02020603050405020304" pitchFamily="18" charset="0"/>
              </a:rPr>
              <a:t>Test set:</a:t>
            </a:r>
          </a:p>
          <a:p>
            <a:pPr>
              <a:buFontTx/>
              <a:buNone/>
            </a:pPr>
            <a:r>
              <a:rPr lang="en-US" altLang="zh-TW" sz="2400" dirty="0" err="1" smtClean="0">
                <a:latin typeface="Times New Roman" panose="02020603050405020304" pitchFamily="18" charset="0"/>
                <a:cs typeface="Times New Roman" panose="02020603050405020304" pitchFamily="18" charset="0"/>
              </a:rPr>
              <a:t>DNAset</a:t>
            </a:r>
            <a:r>
              <a:rPr lang="en-US" altLang="zh-TW" sz="2400" dirty="0" smtClean="0">
                <a:latin typeface="Times New Roman" panose="02020603050405020304" pitchFamily="18" charset="0"/>
                <a:cs typeface="Times New Roman" panose="02020603050405020304" pitchFamily="18" charset="0"/>
              </a:rPr>
              <a:t>(DNA-Binding proteins).</a:t>
            </a: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48113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xmlns="" id="{94B01AB9-0651-4F6D-A93A-D571F0BAE9A7}"/>
              </a:ext>
            </a:extLst>
          </p:cNvPr>
          <p:cNvSpPr>
            <a:spLocks noGrp="1"/>
          </p:cNvSpPr>
          <p:nvPr>
            <p:ph type="title"/>
          </p:nvPr>
        </p:nvSpPr>
        <p:spPr>
          <a:xfrm>
            <a:off x="125359" y="439984"/>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Results:</a:t>
            </a:r>
            <a:endParaRPr lang="zh-TW" altLang="en-US" sz="3200" b="1"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2"/>
          <a:stretch>
            <a:fillRect/>
          </a:stretch>
        </p:blipFill>
        <p:spPr>
          <a:xfrm>
            <a:off x="2452474" y="1023351"/>
            <a:ext cx="3966799" cy="5548001"/>
          </a:xfrm>
          <a:prstGeom prst="rect">
            <a:avLst/>
          </a:prstGeom>
        </p:spPr>
      </p:pic>
    </p:spTree>
    <p:extLst>
      <p:ext uri="{BB962C8B-B14F-4D97-AF65-F5344CB8AC3E}">
        <p14:creationId xmlns:p14="http://schemas.microsoft.com/office/powerpoint/2010/main" val="254181879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78799</TotalTime>
  <Words>931</Words>
  <Application>Microsoft Office PowerPoint</Application>
  <PresentationFormat>如螢幕大小 (4:3)</PresentationFormat>
  <Paragraphs>574</Paragraphs>
  <Slides>13</Slides>
  <Notes>3</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13</vt:i4>
      </vt:variant>
    </vt:vector>
  </HeadingPairs>
  <TitlesOfParts>
    <vt:vector size="21" baseType="lpstr">
      <vt:lpstr>新細明體</vt:lpstr>
      <vt:lpstr>標楷體</vt:lpstr>
      <vt:lpstr>Arial</vt:lpstr>
      <vt:lpstr>Calibri</vt:lpstr>
      <vt:lpstr>Calibri Light</vt:lpstr>
      <vt:lpstr>Tahoma</vt:lpstr>
      <vt:lpstr>Times New Roman</vt:lpstr>
      <vt:lpstr>Office 佈景主題</vt:lpstr>
      <vt:lpstr>Position Specific Scoring Matrix and Synergistic Multiclass SVM for Identification of Genes</vt:lpstr>
      <vt:lpstr>Abstract(1/2)</vt:lpstr>
      <vt:lpstr>Abstract(2/2)</vt:lpstr>
      <vt:lpstr>Proposed Approach For Identifying Genes :</vt:lpstr>
      <vt:lpstr>PSSM of Protein Sequences :</vt:lpstr>
      <vt:lpstr>PSSM of Protein Sequences :</vt:lpstr>
      <vt:lpstr>PSSM of Protein Sequences :</vt:lpstr>
      <vt:lpstr>Normalize the values of the PSSM score :</vt:lpstr>
      <vt:lpstr>Labelling of Protein Sequences with Gene Names :</vt:lpstr>
      <vt:lpstr>Transforming Protein Sequences into Training Data Set :</vt:lpstr>
      <vt:lpstr>Transforming Protein Sequences into Training Data Set :</vt:lpstr>
      <vt:lpstr>Synergistic Multiclass SVM Classifier  :</vt:lpstr>
      <vt:lpstr>Results: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pplab-class</cp:lastModifiedBy>
  <cp:revision>652</cp:revision>
  <dcterms:created xsi:type="dcterms:W3CDTF">2017-09-25T08:45:50Z</dcterms:created>
  <dcterms:modified xsi:type="dcterms:W3CDTF">2019-05-20T08:21:30Z</dcterms:modified>
</cp:coreProperties>
</file>