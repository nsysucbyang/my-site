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85" r:id="rId2"/>
    <p:sldId id="322" r:id="rId3"/>
    <p:sldId id="323" r:id="rId4"/>
    <p:sldId id="327" r:id="rId5"/>
    <p:sldId id="328" r:id="rId6"/>
    <p:sldId id="324" r:id="rId7"/>
    <p:sldId id="325" r:id="rId8"/>
    <p:sldId id="326" r:id="rId9"/>
    <p:sldId id="321" r:id="rId10"/>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44" autoAdjust="0"/>
    <p:restoredTop sz="91740" autoAdjust="0"/>
  </p:normalViewPr>
  <p:slideViewPr>
    <p:cSldViewPr>
      <p:cViewPr varScale="1">
        <p:scale>
          <a:sx n="63" d="100"/>
          <a:sy n="63" d="100"/>
        </p:scale>
        <p:origin x="1364"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6DE2EE-1BAA-4351-B125-34E9F9F75556}" type="datetimeFigureOut">
              <a:rPr lang="zh-TW" altLang="en-US" smtClean="0"/>
              <a:t>2019/11/1</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45B4DA-D3AD-4183-8000-47877BB382A8}" type="slidenum">
              <a:rPr lang="zh-TW" altLang="en-US" smtClean="0"/>
              <a:t>‹#›</a:t>
            </a:fld>
            <a:endParaRPr lang="zh-TW" altLang="en-US"/>
          </a:p>
        </p:txBody>
      </p:sp>
    </p:spTree>
    <p:extLst>
      <p:ext uri="{BB962C8B-B14F-4D97-AF65-F5344CB8AC3E}">
        <p14:creationId xmlns:p14="http://schemas.microsoft.com/office/powerpoint/2010/main" val="2656659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u="none" strike="noStrike" kern="1200" baseline="0" dirty="0">
                <a:solidFill>
                  <a:schemeClr val="tx1"/>
                </a:solidFill>
                <a:latin typeface="+mn-lt"/>
                <a:ea typeface="+mn-ea"/>
                <a:cs typeface="+mn-cs"/>
              </a:rPr>
              <a:t>第一位作者是以色列人，第二位是美國人。當時他們在</a:t>
            </a:r>
            <a:r>
              <a:rPr lang="en-US" altLang="zh-TW" sz="1200" b="0" i="0" u="none" strike="noStrike" kern="1200" baseline="0" dirty="0">
                <a:solidFill>
                  <a:schemeClr val="tx1"/>
                </a:solidFill>
                <a:latin typeface="+mn-lt"/>
                <a:ea typeface="+mn-ea"/>
                <a:cs typeface="+mn-cs"/>
              </a:rPr>
              <a:t>AT&amp;T</a:t>
            </a:r>
            <a:r>
              <a:rPr lang="zh-TW" altLang="en-US" sz="1200" b="0" i="0" u="none" strike="noStrike" kern="1200" baseline="0" dirty="0">
                <a:solidFill>
                  <a:schemeClr val="tx1"/>
                </a:solidFill>
                <a:latin typeface="+mn-lt"/>
                <a:ea typeface="+mn-ea"/>
                <a:cs typeface="+mn-cs"/>
              </a:rPr>
              <a:t> </a:t>
            </a:r>
            <a:r>
              <a:rPr lang="en-US" altLang="zh-TW" sz="1200" b="0" i="0" u="none" strike="noStrike" kern="1200" baseline="0" dirty="0">
                <a:solidFill>
                  <a:schemeClr val="tx1"/>
                </a:solidFill>
                <a:latin typeface="+mn-lt"/>
                <a:ea typeface="+mn-ea"/>
                <a:cs typeface="+mn-cs"/>
              </a:rPr>
              <a:t>LAB</a:t>
            </a:r>
            <a:r>
              <a:rPr lang="zh-TW" altLang="en-US" sz="1200" b="0" i="0" u="none" strike="noStrike" kern="1200" baseline="0" dirty="0">
                <a:solidFill>
                  <a:schemeClr val="tx1"/>
                </a:solidFill>
                <a:latin typeface="+mn-lt"/>
                <a:ea typeface="+mn-ea"/>
                <a:cs typeface="+mn-cs"/>
              </a:rPr>
              <a:t>工作</a:t>
            </a:r>
            <a:endParaRPr lang="en-US" altLang="zh-TW" sz="1200" b="0" i="0" u="none" strike="noStrike" kern="1200" baseline="0" dirty="0">
              <a:solidFill>
                <a:schemeClr val="tx1"/>
              </a:solidFill>
              <a:latin typeface="+mn-lt"/>
              <a:ea typeface="+mn-ea"/>
              <a:cs typeface="+mn-cs"/>
            </a:endParaRPr>
          </a:p>
          <a:p>
            <a:r>
              <a:rPr lang="zh-TW" altLang="en-US" sz="1200" b="0" i="0" u="none" strike="noStrike" kern="1200" baseline="0" dirty="0">
                <a:solidFill>
                  <a:schemeClr val="tx1"/>
                </a:solidFill>
                <a:latin typeface="+mn-lt"/>
                <a:ea typeface="+mn-ea"/>
                <a:cs typeface="+mn-cs"/>
              </a:rPr>
              <a:t>目前第二位作者在微軟工作。</a:t>
            </a:r>
            <a:endParaRPr lang="en-US" altLang="zh-TW" sz="1200" b="0" i="0" u="none" strike="noStrike" kern="1200" baseline="0" dirty="0">
              <a:solidFill>
                <a:schemeClr val="tx1"/>
              </a:solidFill>
              <a:latin typeface="+mn-lt"/>
              <a:ea typeface="+mn-ea"/>
              <a:cs typeface="+mn-cs"/>
            </a:endParaRPr>
          </a:p>
        </p:txBody>
      </p:sp>
      <p:sp>
        <p:nvSpPr>
          <p:cNvPr id="4" name="投影片編號版面配置區 3"/>
          <p:cNvSpPr>
            <a:spLocks noGrp="1"/>
          </p:cNvSpPr>
          <p:nvPr>
            <p:ph type="sldNum" sz="quarter" idx="5"/>
          </p:nvPr>
        </p:nvSpPr>
        <p:spPr/>
        <p:txBody>
          <a:bodyPr/>
          <a:lstStyle/>
          <a:p>
            <a:fld id="{D445B4DA-D3AD-4183-8000-47877BB382A8}" type="slidenum">
              <a:rPr lang="zh-TW" altLang="en-US" smtClean="0"/>
              <a:t>1</a:t>
            </a:fld>
            <a:endParaRPr lang="zh-TW" altLang="en-US"/>
          </a:p>
        </p:txBody>
      </p:sp>
    </p:spTree>
    <p:extLst>
      <p:ext uri="{BB962C8B-B14F-4D97-AF65-F5344CB8AC3E}">
        <p14:creationId xmlns:p14="http://schemas.microsoft.com/office/powerpoint/2010/main" val="4244054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4092E363-0F2D-487A-A071-E2D60B6CBD6D}" type="datetimeFigureOut">
              <a:rPr lang="zh-TW" altLang="en-US" smtClean="0"/>
              <a:t>2019/11/1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3A7B17A-699C-4125-A5AD-2CB22A65A136}" type="slidenum">
              <a:rPr lang="zh-TW" altLang="en-US" smtClean="0"/>
              <a:t>‹#›</a:t>
            </a:fld>
            <a:endParaRPr lang="zh-TW" altLang="en-US"/>
          </a:p>
        </p:txBody>
      </p:sp>
    </p:spTree>
    <p:extLst>
      <p:ext uri="{BB962C8B-B14F-4D97-AF65-F5344CB8AC3E}">
        <p14:creationId xmlns:p14="http://schemas.microsoft.com/office/powerpoint/2010/main" val="3798077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4092E363-0F2D-487A-A071-E2D60B6CBD6D}" type="datetimeFigureOut">
              <a:rPr lang="zh-TW" altLang="en-US" smtClean="0"/>
              <a:t>2019/11/1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3A7B17A-699C-4125-A5AD-2CB22A65A136}" type="slidenum">
              <a:rPr lang="zh-TW" altLang="en-US" smtClean="0"/>
              <a:t>‹#›</a:t>
            </a:fld>
            <a:endParaRPr lang="zh-TW" altLang="en-US"/>
          </a:p>
        </p:txBody>
      </p:sp>
    </p:spTree>
    <p:extLst>
      <p:ext uri="{BB962C8B-B14F-4D97-AF65-F5344CB8AC3E}">
        <p14:creationId xmlns:p14="http://schemas.microsoft.com/office/powerpoint/2010/main" val="606862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4092E363-0F2D-487A-A071-E2D60B6CBD6D}" type="datetimeFigureOut">
              <a:rPr lang="zh-TW" altLang="en-US" smtClean="0"/>
              <a:t>2019/11/1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3A7B17A-699C-4125-A5AD-2CB22A65A136}" type="slidenum">
              <a:rPr lang="zh-TW" altLang="en-US" smtClean="0"/>
              <a:t>‹#›</a:t>
            </a:fld>
            <a:endParaRPr lang="zh-TW" altLang="en-US"/>
          </a:p>
        </p:txBody>
      </p:sp>
    </p:spTree>
    <p:extLst>
      <p:ext uri="{BB962C8B-B14F-4D97-AF65-F5344CB8AC3E}">
        <p14:creationId xmlns:p14="http://schemas.microsoft.com/office/powerpoint/2010/main" val="1843475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4092E363-0F2D-487A-A071-E2D60B6CBD6D}" type="datetimeFigureOut">
              <a:rPr lang="zh-TW" altLang="en-US" smtClean="0"/>
              <a:t>2019/11/1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3A7B17A-699C-4125-A5AD-2CB22A65A136}" type="slidenum">
              <a:rPr lang="zh-TW" altLang="en-US" smtClean="0"/>
              <a:t>‹#›</a:t>
            </a:fld>
            <a:endParaRPr lang="zh-TW" altLang="en-US"/>
          </a:p>
        </p:txBody>
      </p:sp>
    </p:spTree>
    <p:extLst>
      <p:ext uri="{BB962C8B-B14F-4D97-AF65-F5344CB8AC3E}">
        <p14:creationId xmlns:p14="http://schemas.microsoft.com/office/powerpoint/2010/main" val="2699239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4092E363-0F2D-487A-A071-E2D60B6CBD6D}" type="datetimeFigureOut">
              <a:rPr lang="zh-TW" altLang="en-US" smtClean="0"/>
              <a:t>2019/11/1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A3A7B17A-699C-4125-A5AD-2CB22A65A136}" type="slidenum">
              <a:rPr lang="zh-TW" altLang="en-US" smtClean="0"/>
              <a:t>‹#›</a:t>
            </a:fld>
            <a:endParaRPr lang="zh-TW" altLang="en-US"/>
          </a:p>
        </p:txBody>
      </p:sp>
    </p:spTree>
    <p:extLst>
      <p:ext uri="{BB962C8B-B14F-4D97-AF65-F5344CB8AC3E}">
        <p14:creationId xmlns:p14="http://schemas.microsoft.com/office/powerpoint/2010/main" val="4219755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4092E363-0F2D-487A-A071-E2D60B6CBD6D}" type="datetimeFigureOut">
              <a:rPr lang="zh-TW" altLang="en-US" smtClean="0"/>
              <a:t>2019/11/1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A3A7B17A-699C-4125-A5AD-2CB22A65A136}" type="slidenum">
              <a:rPr lang="zh-TW" altLang="en-US" smtClean="0"/>
              <a:t>‹#›</a:t>
            </a:fld>
            <a:endParaRPr lang="zh-TW" altLang="en-US"/>
          </a:p>
        </p:txBody>
      </p:sp>
    </p:spTree>
    <p:extLst>
      <p:ext uri="{BB962C8B-B14F-4D97-AF65-F5344CB8AC3E}">
        <p14:creationId xmlns:p14="http://schemas.microsoft.com/office/powerpoint/2010/main" val="3675545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4092E363-0F2D-487A-A071-E2D60B6CBD6D}" type="datetimeFigureOut">
              <a:rPr lang="zh-TW" altLang="en-US" smtClean="0"/>
              <a:t>2019/11/1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A3A7B17A-699C-4125-A5AD-2CB22A65A136}" type="slidenum">
              <a:rPr lang="zh-TW" altLang="en-US" smtClean="0"/>
              <a:t>‹#›</a:t>
            </a:fld>
            <a:endParaRPr lang="zh-TW" altLang="en-US"/>
          </a:p>
        </p:txBody>
      </p:sp>
    </p:spTree>
    <p:extLst>
      <p:ext uri="{BB962C8B-B14F-4D97-AF65-F5344CB8AC3E}">
        <p14:creationId xmlns:p14="http://schemas.microsoft.com/office/powerpoint/2010/main" val="2964889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4092E363-0F2D-487A-A071-E2D60B6CBD6D}" type="datetimeFigureOut">
              <a:rPr lang="zh-TW" altLang="en-US" smtClean="0"/>
              <a:t>2019/11/1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3A7B17A-699C-4125-A5AD-2CB22A65A136}" type="slidenum">
              <a:rPr lang="zh-TW" altLang="en-US" smtClean="0"/>
              <a:t>‹#›</a:t>
            </a:fld>
            <a:endParaRPr lang="zh-TW" altLang="en-US"/>
          </a:p>
        </p:txBody>
      </p:sp>
    </p:spTree>
    <p:extLst>
      <p:ext uri="{BB962C8B-B14F-4D97-AF65-F5344CB8AC3E}">
        <p14:creationId xmlns:p14="http://schemas.microsoft.com/office/powerpoint/2010/main" val="2834804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4092E363-0F2D-487A-A071-E2D60B6CBD6D}" type="datetimeFigureOut">
              <a:rPr lang="zh-TW" altLang="en-US" smtClean="0"/>
              <a:t>2019/11/1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3A7B17A-699C-4125-A5AD-2CB22A65A136}" type="slidenum">
              <a:rPr lang="zh-TW" altLang="en-US" smtClean="0"/>
              <a:t>‹#›</a:t>
            </a:fld>
            <a:endParaRPr lang="zh-TW" altLang="en-US"/>
          </a:p>
        </p:txBody>
      </p:sp>
    </p:spTree>
    <p:extLst>
      <p:ext uri="{BB962C8B-B14F-4D97-AF65-F5344CB8AC3E}">
        <p14:creationId xmlns:p14="http://schemas.microsoft.com/office/powerpoint/2010/main" val="2402866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4092E363-0F2D-487A-A071-E2D60B6CBD6D}" type="datetimeFigureOut">
              <a:rPr lang="zh-TW" altLang="en-US" smtClean="0"/>
              <a:t>2019/11/1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3A7B17A-699C-4125-A5AD-2CB22A65A136}" type="slidenum">
              <a:rPr lang="zh-TW" altLang="en-US" smtClean="0"/>
              <a:t>‹#›</a:t>
            </a:fld>
            <a:endParaRPr lang="zh-TW" altLang="en-US"/>
          </a:p>
        </p:txBody>
      </p:sp>
    </p:spTree>
    <p:extLst>
      <p:ext uri="{BB962C8B-B14F-4D97-AF65-F5344CB8AC3E}">
        <p14:creationId xmlns:p14="http://schemas.microsoft.com/office/powerpoint/2010/main" val="3864148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4092E363-0F2D-487A-A071-E2D60B6CBD6D}" type="datetimeFigureOut">
              <a:rPr lang="zh-TW" altLang="en-US" smtClean="0"/>
              <a:t>2019/11/1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3A7B17A-699C-4125-A5AD-2CB22A65A136}" type="slidenum">
              <a:rPr lang="zh-TW" altLang="en-US" smtClean="0"/>
              <a:t>‹#›</a:t>
            </a:fld>
            <a:endParaRPr lang="zh-TW" altLang="en-US"/>
          </a:p>
        </p:txBody>
      </p:sp>
    </p:spTree>
    <p:extLst>
      <p:ext uri="{BB962C8B-B14F-4D97-AF65-F5344CB8AC3E}">
        <p14:creationId xmlns:p14="http://schemas.microsoft.com/office/powerpoint/2010/main" val="3610514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92E363-0F2D-487A-A071-E2D60B6CBD6D}" type="datetimeFigureOut">
              <a:rPr lang="zh-TW" altLang="en-US" smtClean="0"/>
              <a:t>2019/11/1</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A7B17A-699C-4125-A5AD-2CB22A65A136}" type="slidenum">
              <a:rPr lang="zh-TW" altLang="en-US" smtClean="0"/>
              <a:t>‹#›</a:t>
            </a:fld>
            <a:endParaRPr lang="zh-TW" altLang="en-US"/>
          </a:p>
        </p:txBody>
      </p:sp>
    </p:spTree>
    <p:extLst>
      <p:ext uri="{BB962C8B-B14F-4D97-AF65-F5344CB8AC3E}">
        <p14:creationId xmlns:p14="http://schemas.microsoft.com/office/powerpoint/2010/main" val="25675686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A5FC4C-15D3-44B9-AFC7-17377E223E70}"/>
              </a:ext>
            </a:extLst>
          </p:cNvPr>
          <p:cNvSpPr/>
          <p:nvPr/>
        </p:nvSpPr>
        <p:spPr>
          <a:xfrm>
            <a:off x="-839886" y="705797"/>
            <a:ext cx="10823769" cy="2308324"/>
          </a:xfrm>
          <a:prstGeom prst="rect">
            <a:avLst/>
          </a:prstGeom>
        </p:spPr>
        <p:txBody>
          <a:bodyPr wrap="square">
            <a:spAutoFit/>
          </a:bodyPr>
          <a:lstStyle/>
          <a:p>
            <a:pPr algn="ctr"/>
            <a:r>
              <a:rPr lang="en-US" altLang="zh-TW" sz="4800" dirty="0">
                <a:latin typeface="Cath-Aceightythree"/>
              </a:rPr>
              <a:t>A Decision-Theoretic </a:t>
            </a:r>
          </a:p>
          <a:p>
            <a:pPr algn="ctr"/>
            <a:r>
              <a:rPr lang="en-US" altLang="zh-TW" sz="4800" dirty="0">
                <a:latin typeface="Cath-Aceightythree"/>
              </a:rPr>
              <a:t>Generalization of On-Line Learning</a:t>
            </a:r>
          </a:p>
          <a:p>
            <a:pPr algn="ctr"/>
            <a:r>
              <a:rPr lang="en-US" altLang="zh-TW" sz="4800" dirty="0">
                <a:latin typeface="Cath-Aceightythree"/>
              </a:rPr>
              <a:t>and an Application to Boosting</a:t>
            </a:r>
            <a:endParaRPr lang="zh-TW" altLang="en-US" sz="4800" dirty="0"/>
          </a:p>
        </p:txBody>
      </p:sp>
      <p:sp>
        <p:nvSpPr>
          <p:cNvPr id="3" name="矩形 2">
            <a:extLst>
              <a:ext uri="{FF2B5EF4-FFF2-40B4-BE49-F238E27FC236}">
                <a16:creationId xmlns:a16="http://schemas.microsoft.com/office/drawing/2014/main" id="{39232D36-4022-4F80-9EBF-9D79538C2107}"/>
              </a:ext>
            </a:extLst>
          </p:cNvPr>
          <p:cNvSpPr/>
          <p:nvPr/>
        </p:nvSpPr>
        <p:spPr>
          <a:xfrm>
            <a:off x="-515849" y="3296695"/>
            <a:ext cx="10175696" cy="523220"/>
          </a:xfrm>
          <a:prstGeom prst="rect">
            <a:avLst/>
          </a:prstGeom>
        </p:spPr>
        <p:txBody>
          <a:bodyPr wrap="square">
            <a:spAutoFit/>
          </a:bodyPr>
          <a:lstStyle/>
          <a:p>
            <a:pPr algn="ctr"/>
            <a:r>
              <a:rPr lang="en-US" altLang="zh-TW" sz="2800" dirty="0">
                <a:latin typeface="Cath-Aaeightyone"/>
              </a:rPr>
              <a:t>Yoav Freund and </a:t>
            </a:r>
            <a:r>
              <a:rPr lang="en-US" altLang="zh-TW" sz="2800" dirty="0">
                <a:solidFill>
                  <a:srgbClr val="222222"/>
                </a:solidFill>
                <a:latin typeface="arial" panose="020B0604020202020204" pitchFamily="34" charset="0"/>
              </a:rPr>
              <a:t>Robert Elias </a:t>
            </a:r>
            <a:r>
              <a:rPr lang="en-US" altLang="zh-TW" sz="2800" dirty="0" err="1">
                <a:solidFill>
                  <a:srgbClr val="222222"/>
                </a:solidFill>
                <a:latin typeface="arial" panose="020B0604020202020204" pitchFamily="34" charset="0"/>
              </a:rPr>
              <a:t>Schapire</a:t>
            </a:r>
            <a:endParaRPr lang="en-US" altLang="zh-TW" sz="4400" dirty="0"/>
          </a:p>
        </p:txBody>
      </p:sp>
      <p:sp>
        <p:nvSpPr>
          <p:cNvPr id="4" name="矩形 3">
            <a:extLst>
              <a:ext uri="{FF2B5EF4-FFF2-40B4-BE49-F238E27FC236}">
                <a16:creationId xmlns:a16="http://schemas.microsoft.com/office/drawing/2014/main" id="{B5F23D5C-146B-47F5-B381-C99CFE8E0CD2}"/>
              </a:ext>
            </a:extLst>
          </p:cNvPr>
          <p:cNvSpPr/>
          <p:nvPr/>
        </p:nvSpPr>
        <p:spPr>
          <a:xfrm>
            <a:off x="5364087" y="6021288"/>
            <a:ext cx="3774005" cy="707886"/>
          </a:xfrm>
          <a:prstGeom prst="rect">
            <a:avLst/>
          </a:prstGeom>
        </p:spPr>
        <p:txBody>
          <a:bodyPr wrap="square">
            <a:spAutoFit/>
          </a:bodyPr>
          <a:lstStyle/>
          <a:p>
            <a:pPr algn="r"/>
            <a:r>
              <a:rPr lang="en-US" altLang="zh-TW" sz="2000" dirty="0">
                <a:latin typeface="Times New Roman" panose="02020603050405020304" pitchFamily="18" charset="0"/>
                <a:cs typeface="Times New Roman" panose="02020603050405020304" pitchFamily="18" charset="0"/>
              </a:rPr>
              <a:t>Presenter : Chia-Lin Chen</a:t>
            </a:r>
          </a:p>
          <a:p>
            <a:pPr algn="r"/>
            <a:r>
              <a:rPr lang="en-US" altLang="zh-TW" sz="2000" dirty="0">
                <a:latin typeface="Times New Roman" panose="02020603050405020304" pitchFamily="18" charset="0"/>
                <a:cs typeface="Times New Roman" panose="02020603050405020304" pitchFamily="18" charset="0"/>
              </a:rPr>
              <a:t>Oct. 8th, 2019</a:t>
            </a:r>
          </a:p>
        </p:txBody>
      </p:sp>
      <p:sp>
        <p:nvSpPr>
          <p:cNvPr id="7" name="矩形 6">
            <a:extLst>
              <a:ext uri="{FF2B5EF4-FFF2-40B4-BE49-F238E27FC236}">
                <a16:creationId xmlns:a16="http://schemas.microsoft.com/office/drawing/2014/main" id="{123D4FEB-BCC0-4B30-98EF-813D6A69AC2C}"/>
              </a:ext>
            </a:extLst>
          </p:cNvPr>
          <p:cNvSpPr/>
          <p:nvPr/>
        </p:nvSpPr>
        <p:spPr>
          <a:xfrm>
            <a:off x="275212" y="4689769"/>
            <a:ext cx="8593571" cy="461665"/>
          </a:xfrm>
          <a:prstGeom prst="rect">
            <a:avLst/>
          </a:prstGeom>
        </p:spPr>
        <p:txBody>
          <a:bodyPr wrap="none">
            <a:spAutoFit/>
          </a:bodyPr>
          <a:lstStyle/>
          <a:p>
            <a:r>
              <a:rPr lang="en-US" altLang="zh-TW" sz="2400" dirty="0">
                <a:latin typeface="Cath-Aeeightyfive"/>
              </a:rPr>
              <a:t>Journal of computer and system sciences Vol.</a:t>
            </a:r>
            <a:r>
              <a:rPr lang="en-US" altLang="zh-TW" sz="2400" dirty="0">
                <a:latin typeface="Cath-Abeightytwo"/>
              </a:rPr>
              <a:t>55</a:t>
            </a:r>
            <a:r>
              <a:rPr lang="en-US" altLang="zh-TW" sz="2400" dirty="0">
                <a:latin typeface="Cath-Aaeightyone"/>
              </a:rPr>
              <a:t>, pp.119-139 (1997)</a:t>
            </a:r>
            <a:endParaRPr lang="zh-TW" altLang="en-US" sz="2400" dirty="0"/>
          </a:p>
        </p:txBody>
      </p:sp>
    </p:spTree>
    <p:extLst>
      <p:ext uri="{BB962C8B-B14F-4D97-AF65-F5344CB8AC3E}">
        <p14:creationId xmlns:p14="http://schemas.microsoft.com/office/powerpoint/2010/main" val="596640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077E1A-5CA9-4400-B367-811FEFD205D1}"/>
              </a:ext>
            </a:extLst>
          </p:cNvPr>
          <p:cNvSpPr>
            <a:spLocks noGrp="1"/>
          </p:cNvSpPr>
          <p:nvPr>
            <p:ph type="title"/>
          </p:nvPr>
        </p:nvSpPr>
        <p:spPr>
          <a:xfrm>
            <a:off x="160987" y="35267"/>
            <a:ext cx="8229600" cy="1143000"/>
          </a:xfrm>
        </p:spPr>
        <p:txBody>
          <a:bodyPr/>
          <a:lstStyle/>
          <a:p>
            <a:pPr algn="l"/>
            <a:r>
              <a:rPr lang="en-US" altLang="zh-TW" dirty="0"/>
              <a:t>Abstract(1/2)</a:t>
            </a:r>
            <a:endParaRPr lang="zh-TW" altLang="en-US" dirty="0"/>
          </a:p>
        </p:txBody>
      </p:sp>
      <p:sp>
        <p:nvSpPr>
          <p:cNvPr id="3" name="內容版面配置區 2">
            <a:extLst>
              <a:ext uri="{FF2B5EF4-FFF2-40B4-BE49-F238E27FC236}">
                <a16:creationId xmlns:a16="http://schemas.microsoft.com/office/drawing/2014/main" id="{5BA62B1F-6839-46F9-9BC2-421361156335}"/>
              </a:ext>
            </a:extLst>
          </p:cNvPr>
          <p:cNvSpPr>
            <a:spLocks noGrp="1"/>
          </p:cNvSpPr>
          <p:nvPr>
            <p:ph idx="1"/>
          </p:nvPr>
        </p:nvSpPr>
        <p:spPr>
          <a:xfrm>
            <a:off x="186771" y="980728"/>
            <a:ext cx="8856984" cy="5256584"/>
          </a:xfrm>
        </p:spPr>
        <p:txBody>
          <a:bodyPr>
            <a:noAutofit/>
          </a:bodyPr>
          <a:lstStyle/>
          <a:p>
            <a:pPr marL="0" indent="0">
              <a:buNone/>
            </a:pPr>
            <a:r>
              <a:rPr lang="en-US" altLang="zh-TW" sz="3000" dirty="0"/>
              <a:t>In the first part of the paper we consider the problem of dynamically apportioning resources among a set of options in a worst-case on-line framework. The model we study can be interpreted as a broad, abstract extension of the well-studied on-line prediction model to a general decision-theoretic setting. We show that the multiplicative weight-update </a:t>
            </a:r>
            <a:r>
              <a:rPr lang="en-US" altLang="zh-TW" sz="3000" dirty="0" err="1"/>
              <a:t>Littlestone</a:t>
            </a:r>
            <a:r>
              <a:rPr lang="en-US" altLang="zh-TW" sz="3000" dirty="0"/>
              <a:t> </a:t>
            </a:r>
            <a:r>
              <a:rPr lang="en-US" altLang="zh-TW" sz="3000" dirty="0" err="1"/>
              <a:t>Warmuth</a:t>
            </a:r>
            <a:r>
              <a:rPr lang="en-US" altLang="zh-TW" sz="3000" dirty="0"/>
              <a:t> rule can be adapted to this model, yielding bounds that are slightly weaker in some cases, but applicable to a considerably more general class of learning problems.</a:t>
            </a:r>
            <a:endParaRPr lang="zh-TW" altLang="en-US" sz="3000" dirty="0"/>
          </a:p>
        </p:txBody>
      </p:sp>
    </p:spTree>
    <p:extLst>
      <p:ext uri="{BB962C8B-B14F-4D97-AF65-F5344CB8AC3E}">
        <p14:creationId xmlns:p14="http://schemas.microsoft.com/office/powerpoint/2010/main" val="3954895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A7A705-4792-4EB4-B5E8-3B8411BB3AB9}"/>
              </a:ext>
            </a:extLst>
          </p:cNvPr>
          <p:cNvSpPr>
            <a:spLocks noGrp="1"/>
          </p:cNvSpPr>
          <p:nvPr>
            <p:ph type="title"/>
          </p:nvPr>
        </p:nvSpPr>
        <p:spPr>
          <a:xfrm>
            <a:off x="107504" y="5760"/>
            <a:ext cx="8229600" cy="1143000"/>
          </a:xfrm>
        </p:spPr>
        <p:txBody>
          <a:bodyPr/>
          <a:lstStyle/>
          <a:p>
            <a:pPr algn="l"/>
            <a:r>
              <a:rPr lang="en-US" altLang="zh-TW" dirty="0"/>
              <a:t>Abstract(2/2)</a:t>
            </a:r>
            <a:endParaRPr lang="zh-TW" altLang="en-US" dirty="0"/>
          </a:p>
        </p:txBody>
      </p:sp>
      <p:sp>
        <p:nvSpPr>
          <p:cNvPr id="3" name="內容版面配置區 2">
            <a:extLst>
              <a:ext uri="{FF2B5EF4-FFF2-40B4-BE49-F238E27FC236}">
                <a16:creationId xmlns:a16="http://schemas.microsoft.com/office/drawing/2014/main" id="{47492A65-8755-442D-9E45-6549C9A99AC4}"/>
              </a:ext>
            </a:extLst>
          </p:cNvPr>
          <p:cNvSpPr>
            <a:spLocks noGrp="1"/>
          </p:cNvSpPr>
          <p:nvPr>
            <p:ph idx="1"/>
          </p:nvPr>
        </p:nvSpPr>
        <p:spPr>
          <a:xfrm>
            <a:off x="30052" y="777616"/>
            <a:ext cx="9144000" cy="4968552"/>
          </a:xfrm>
        </p:spPr>
        <p:txBody>
          <a:bodyPr>
            <a:noAutofit/>
          </a:bodyPr>
          <a:lstStyle/>
          <a:p>
            <a:pPr marL="0" indent="0">
              <a:lnSpc>
                <a:spcPct val="120000"/>
              </a:lnSpc>
              <a:buNone/>
            </a:pPr>
            <a:r>
              <a:rPr lang="en-US" altLang="zh-TW" sz="2800" dirty="0"/>
              <a:t>We show how the resulting learning algorithm can be applied to a variety of problems, including gambling, multiple-outcome prediction, repeated games, and prediction of points in    . In the second part of the paper we apply the multiplicative weight-update technique to derive a new boosting algorithm. This boosting algorithm does not require any prior knowledge about the performance of the weak learning algorithm. We also study generalizations of the new boosting algorithm to the problem of learning functions whose range, rather than being binary, is an arbitrary finite set or a bounded segment of the real line.</a:t>
            </a:r>
            <a:endParaRPr lang="zh-TW" altLang="en-US" sz="2800" dirty="0"/>
          </a:p>
        </p:txBody>
      </p:sp>
      <p:pic>
        <p:nvPicPr>
          <p:cNvPr id="4" name="圖片 3">
            <a:extLst>
              <a:ext uri="{FF2B5EF4-FFF2-40B4-BE49-F238E27FC236}">
                <a16:creationId xmlns:a16="http://schemas.microsoft.com/office/drawing/2014/main" id="{CD7FC4AD-DBD4-4E53-B776-D45DC8C8BB88}"/>
              </a:ext>
            </a:extLst>
          </p:cNvPr>
          <p:cNvPicPr>
            <a:picLocks noChangeAspect="1"/>
          </p:cNvPicPr>
          <p:nvPr/>
        </p:nvPicPr>
        <p:blipFill rotWithShape="1">
          <a:blip r:embed="rId2"/>
          <a:srcRect l="1" r="40996" b="64940"/>
          <a:stretch/>
        </p:blipFill>
        <p:spPr>
          <a:xfrm>
            <a:off x="395536" y="2420888"/>
            <a:ext cx="288032" cy="288032"/>
          </a:xfrm>
          <a:prstGeom prst="rect">
            <a:avLst/>
          </a:prstGeom>
        </p:spPr>
      </p:pic>
    </p:spTree>
    <p:extLst>
      <p:ext uri="{BB962C8B-B14F-4D97-AF65-F5344CB8AC3E}">
        <p14:creationId xmlns:p14="http://schemas.microsoft.com/office/powerpoint/2010/main" val="4097561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C8FB752-DFBF-46BD-A39A-DB2F8227331B}"/>
              </a:ext>
            </a:extLst>
          </p:cNvPr>
          <p:cNvSpPr>
            <a:spLocks noGrp="1"/>
          </p:cNvSpPr>
          <p:nvPr>
            <p:ph type="title"/>
          </p:nvPr>
        </p:nvSpPr>
        <p:spPr/>
        <p:txBody>
          <a:bodyPr/>
          <a:lstStyle/>
          <a:p>
            <a:r>
              <a:rPr lang="en-US" altLang="zh-TW" dirty="0"/>
              <a:t>Introduction</a:t>
            </a:r>
            <a:endParaRPr lang="zh-TW" altLang="en-US" dirty="0"/>
          </a:p>
        </p:txBody>
      </p:sp>
      <p:sp>
        <p:nvSpPr>
          <p:cNvPr id="3" name="內容版面配置區 2">
            <a:extLst>
              <a:ext uri="{FF2B5EF4-FFF2-40B4-BE49-F238E27FC236}">
                <a16:creationId xmlns:a16="http://schemas.microsoft.com/office/drawing/2014/main" id="{61620915-1061-4A26-811E-3ABB98EBF139}"/>
              </a:ext>
            </a:extLst>
          </p:cNvPr>
          <p:cNvSpPr>
            <a:spLocks noGrp="1"/>
          </p:cNvSpPr>
          <p:nvPr>
            <p:ph idx="1"/>
          </p:nvPr>
        </p:nvSpPr>
        <p:spPr/>
        <p:txBody>
          <a:bodyPr/>
          <a:lstStyle/>
          <a:p>
            <a:r>
              <a:rPr lang="en-US" altLang="zh-TW" dirty="0"/>
              <a:t>“a weak learning algorithm that performs</a:t>
            </a:r>
          </a:p>
          <a:p>
            <a:pPr marL="0" indent="0">
              <a:buNone/>
            </a:pPr>
            <a:r>
              <a:rPr lang="en-US" altLang="zh-TW" dirty="0"/>
              <a:t>just slightly better than random guessing into one with arbitrarily high accuracy.”</a:t>
            </a:r>
          </a:p>
          <a:p>
            <a:pPr marL="0" indent="0">
              <a:buNone/>
            </a:pPr>
            <a:endParaRPr lang="zh-TW" altLang="en-US" dirty="0"/>
          </a:p>
        </p:txBody>
      </p:sp>
      <p:sp>
        <p:nvSpPr>
          <p:cNvPr id="4" name="文字方塊 3">
            <a:extLst>
              <a:ext uri="{FF2B5EF4-FFF2-40B4-BE49-F238E27FC236}">
                <a16:creationId xmlns:a16="http://schemas.microsoft.com/office/drawing/2014/main" id="{366E70F1-F175-4D02-970C-985E01B2D0BD}"/>
              </a:ext>
            </a:extLst>
          </p:cNvPr>
          <p:cNvSpPr txBox="1"/>
          <p:nvPr/>
        </p:nvSpPr>
        <p:spPr>
          <a:xfrm>
            <a:off x="2411760" y="4293096"/>
            <a:ext cx="4726358" cy="1569660"/>
          </a:xfrm>
          <a:prstGeom prst="rect">
            <a:avLst/>
          </a:prstGeom>
          <a:noFill/>
          <a:ln w="19050">
            <a:noFill/>
          </a:ln>
        </p:spPr>
        <p:txBody>
          <a:bodyPr wrap="none" rtlCol="0">
            <a:spAutoFit/>
          </a:bodyPr>
          <a:lstStyle/>
          <a:p>
            <a:r>
              <a:rPr lang="en-US" altLang="zh-TW" sz="4800" dirty="0">
                <a:solidFill>
                  <a:srgbClr val="FF0000"/>
                </a:solidFill>
              </a:rPr>
              <a:t>Ada</a:t>
            </a:r>
            <a:r>
              <a:rPr lang="en-US" altLang="zh-TW" sz="4800" dirty="0"/>
              <a:t>ptive </a:t>
            </a:r>
            <a:r>
              <a:rPr lang="en-US" altLang="zh-TW" sz="4800" dirty="0">
                <a:solidFill>
                  <a:srgbClr val="FF0000"/>
                </a:solidFill>
              </a:rPr>
              <a:t>Boost</a:t>
            </a:r>
            <a:r>
              <a:rPr lang="en-US" altLang="zh-TW" sz="4800" dirty="0"/>
              <a:t>ing</a:t>
            </a:r>
          </a:p>
          <a:p>
            <a:pPr algn="ctr"/>
            <a:r>
              <a:rPr lang="zh-TW" altLang="en-US" sz="4800" dirty="0"/>
              <a:t>自適應增強</a:t>
            </a:r>
          </a:p>
        </p:txBody>
      </p:sp>
    </p:spTree>
    <p:extLst>
      <p:ext uri="{BB962C8B-B14F-4D97-AF65-F5344CB8AC3E}">
        <p14:creationId xmlns:p14="http://schemas.microsoft.com/office/powerpoint/2010/main" val="2455539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E1A116-EC0C-444D-9ABC-FFB7C85DCE3A}"/>
              </a:ext>
            </a:extLst>
          </p:cNvPr>
          <p:cNvSpPr>
            <a:spLocks noGrp="1"/>
          </p:cNvSpPr>
          <p:nvPr>
            <p:ph type="title"/>
          </p:nvPr>
        </p:nvSpPr>
        <p:spPr/>
        <p:txBody>
          <a:bodyPr>
            <a:normAutofit/>
          </a:bodyPr>
          <a:lstStyle/>
          <a:p>
            <a:r>
              <a:rPr lang="en-US" altLang="zh-TW" sz="3200" dirty="0"/>
              <a:t>Each time step: boost itself</a:t>
            </a:r>
            <a:endParaRPr lang="zh-TW" altLang="en-US" sz="3200" dirty="0"/>
          </a:p>
        </p:txBody>
      </p:sp>
      <p:pic>
        <p:nvPicPr>
          <p:cNvPr id="5" name="內容版面配置區 4">
            <a:extLst>
              <a:ext uri="{FF2B5EF4-FFF2-40B4-BE49-F238E27FC236}">
                <a16:creationId xmlns:a16="http://schemas.microsoft.com/office/drawing/2014/main" id="{E5E70187-960D-4736-9E92-45E642CAB6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699315"/>
            <a:ext cx="8229600" cy="4327733"/>
          </a:xfrm>
        </p:spPr>
      </p:pic>
      <p:sp>
        <p:nvSpPr>
          <p:cNvPr id="6" name="矩形 5">
            <a:extLst>
              <a:ext uri="{FF2B5EF4-FFF2-40B4-BE49-F238E27FC236}">
                <a16:creationId xmlns:a16="http://schemas.microsoft.com/office/drawing/2014/main" id="{A744E9D8-D8EF-412D-BCE6-7C55184AF767}"/>
              </a:ext>
            </a:extLst>
          </p:cNvPr>
          <p:cNvSpPr/>
          <p:nvPr/>
        </p:nvSpPr>
        <p:spPr>
          <a:xfrm>
            <a:off x="2267744" y="1988840"/>
            <a:ext cx="504056"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79E3ADF1-C933-4ECE-840A-724E56C8F213}"/>
              </a:ext>
            </a:extLst>
          </p:cNvPr>
          <p:cNvSpPr/>
          <p:nvPr/>
        </p:nvSpPr>
        <p:spPr>
          <a:xfrm>
            <a:off x="4973216" y="1988840"/>
            <a:ext cx="504056"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81D58245-5B88-4187-A114-04F294358D5B}"/>
              </a:ext>
            </a:extLst>
          </p:cNvPr>
          <p:cNvSpPr/>
          <p:nvPr/>
        </p:nvSpPr>
        <p:spPr>
          <a:xfrm>
            <a:off x="7688037" y="1988840"/>
            <a:ext cx="504056"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9975F5A3-D3ED-4957-80A8-0388FCC9ACEE}"/>
              </a:ext>
            </a:extLst>
          </p:cNvPr>
          <p:cNvSpPr/>
          <p:nvPr/>
        </p:nvSpPr>
        <p:spPr>
          <a:xfrm>
            <a:off x="2267744" y="4007944"/>
            <a:ext cx="504056"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8A9181F0-2142-420A-AD2C-0E6988CA10DA}"/>
              </a:ext>
            </a:extLst>
          </p:cNvPr>
          <p:cNvSpPr/>
          <p:nvPr/>
        </p:nvSpPr>
        <p:spPr>
          <a:xfrm>
            <a:off x="5076056" y="4007944"/>
            <a:ext cx="504056"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6C2951C1-D285-4AC0-BF56-091FE34F9E13}"/>
              </a:ext>
            </a:extLst>
          </p:cNvPr>
          <p:cNvSpPr/>
          <p:nvPr/>
        </p:nvSpPr>
        <p:spPr>
          <a:xfrm>
            <a:off x="7812360" y="4007265"/>
            <a:ext cx="504056" cy="21670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706167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BE5DBAB1-62AA-4FAE-B31A-B850C509AD30}"/>
              </a:ext>
            </a:extLst>
          </p:cNvPr>
          <p:cNvPicPr>
            <a:picLocks noChangeAspect="1"/>
          </p:cNvPicPr>
          <p:nvPr/>
        </p:nvPicPr>
        <p:blipFill>
          <a:blip r:embed="rId2"/>
          <a:stretch>
            <a:fillRect/>
          </a:stretch>
        </p:blipFill>
        <p:spPr>
          <a:xfrm>
            <a:off x="1824347" y="0"/>
            <a:ext cx="5495306" cy="6858000"/>
          </a:xfrm>
          <a:prstGeom prst="rect">
            <a:avLst/>
          </a:prstGeom>
        </p:spPr>
      </p:pic>
      <p:sp>
        <p:nvSpPr>
          <p:cNvPr id="3" name="箭號: 向右 2">
            <a:extLst>
              <a:ext uri="{FF2B5EF4-FFF2-40B4-BE49-F238E27FC236}">
                <a16:creationId xmlns:a16="http://schemas.microsoft.com/office/drawing/2014/main" id="{0CBA4402-8183-41DD-A9A5-7F01E54C4123}"/>
              </a:ext>
            </a:extLst>
          </p:cNvPr>
          <p:cNvSpPr/>
          <p:nvPr/>
        </p:nvSpPr>
        <p:spPr>
          <a:xfrm rot="10800000">
            <a:off x="5724128" y="2348880"/>
            <a:ext cx="978408" cy="48463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箭號: 向右 3">
            <a:extLst>
              <a:ext uri="{FF2B5EF4-FFF2-40B4-BE49-F238E27FC236}">
                <a16:creationId xmlns:a16="http://schemas.microsoft.com/office/drawing/2014/main" id="{194A5788-7F56-4A4F-9CCB-A2BC6C078215}"/>
              </a:ext>
            </a:extLst>
          </p:cNvPr>
          <p:cNvSpPr/>
          <p:nvPr/>
        </p:nvSpPr>
        <p:spPr>
          <a:xfrm rot="10800000">
            <a:off x="5724128" y="4361124"/>
            <a:ext cx="978408" cy="484632"/>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箭號: 向右 4">
            <a:extLst>
              <a:ext uri="{FF2B5EF4-FFF2-40B4-BE49-F238E27FC236}">
                <a16:creationId xmlns:a16="http://schemas.microsoft.com/office/drawing/2014/main" id="{C2556581-8604-4C17-A3C6-95A1AF2B53EF}"/>
              </a:ext>
            </a:extLst>
          </p:cNvPr>
          <p:cNvSpPr/>
          <p:nvPr/>
        </p:nvSpPr>
        <p:spPr>
          <a:xfrm rot="10800000">
            <a:off x="5724127" y="3782173"/>
            <a:ext cx="978408" cy="484632"/>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11A36AE1-9FDE-4D32-9190-172F098BF58D}"/>
              </a:ext>
            </a:extLst>
          </p:cNvPr>
          <p:cNvSpPr txBox="1"/>
          <p:nvPr/>
        </p:nvSpPr>
        <p:spPr>
          <a:xfrm>
            <a:off x="7236296" y="1340768"/>
            <a:ext cx="1887633" cy="646331"/>
          </a:xfrm>
          <a:prstGeom prst="rect">
            <a:avLst/>
          </a:prstGeom>
          <a:noFill/>
          <a:ln w="19050">
            <a:solidFill>
              <a:schemeClr val="tx1"/>
            </a:solidFill>
          </a:ln>
        </p:spPr>
        <p:txBody>
          <a:bodyPr wrap="none" rtlCol="0">
            <a:spAutoFit/>
          </a:bodyPr>
          <a:lstStyle/>
          <a:p>
            <a:r>
              <a:rPr lang="en-US" altLang="zh-TW" dirty="0"/>
              <a:t>AdaBoost:</a:t>
            </a:r>
          </a:p>
          <a:p>
            <a:r>
              <a:rPr lang="en-US" altLang="zh-TW" dirty="0">
                <a:solidFill>
                  <a:srgbClr val="FF0000"/>
                </a:solidFill>
              </a:rPr>
              <a:t>Ada</a:t>
            </a:r>
            <a:r>
              <a:rPr lang="en-US" altLang="zh-TW" dirty="0"/>
              <a:t>ptive </a:t>
            </a:r>
            <a:r>
              <a:rPr lang="en-US" altLang="zh-TW" dirty="0">
                <a:solidFill>
                  <a:srgbClr val="FF0000"/>
                </a:solidFill>
              </a:rPr>
              <a:t>Boost</a:t>
            </a:r>
            <a:r>
              <a:rPr lang="en-US" altLang="zh-TW" dirty="0"/>
              <a:t>ing</a:t>
            </a:r>
            <a:endParaRPr lang="zh-TW" altLang="en-US" dirty="0"/>
          </a:p>
        </p:txBody>
      </p:sp>
    </p:spTree>
    <p:extLst>
      <p:ext uri="{BB962C8B-B14F-4D97-AF65-F5344CB8AC3E}">
        <p14:creationId xmlns:p14="http://schemas.microsoft.com/office/powerpoint/2010/main" val="2630521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2858A99D-E52F-4AFF-84A0-F0DF7DF51FB8}"/>
              </a:ext>
            </a:extLst>
          </p:cNvPr>
          <p:cNvPicPr>
            <a:picLocks noChangeAspect="1"/>
          </p:cNvPicPr>
          <p:nvPr/>
        </p:nvPicPr>
        <p:blipFill>
          <a:blip r:embed="rId2"/>
          <a:stretch>
            <a:fillRect/>
          </a:stretch>
        </p:blipFill>
        <p:spPr>
          <a:xfrm>
            <a:off x="1533525" y="9525"/>
            <a:ext cx="6076950" cy="6838950"/>
          </a:xfrm>
          <a:prstGeom prst="rect">
            <a:avLst/>
          </a:prstGeom>
        </p:spPr>
      </p:pic>
    </p:spTree>
    <p:extLst>
      <p:ext uri="{BB962C8B-B14F-4D97-AF65-F5344CB8AC3E}">
        <p14:creationId xmlns:p14="http://schemas.microsoft.com/office/powerpoint/2010/main" val="2803926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3A194A54-51B1-4E23-83EE-002779235546}"/>
              </a:ext>
            </a:extLst>
          </p:cNvPr>
          <p:cNvPicPr>
            <a:picLocks noChangeAspect="1"/>
          </p:cNvPicPr>
          <p:nvPr/>
        </p:nvPicPr>
        <p:blipFill>
          <a:blip r:embed="rId2"/>
          <a:stretch>
            <a:fillRect/>
          </a:stretch>
        </p:blipFill>
        <p:spPr>
          <a:xfrm>
            <a:off x="1259632" y="152636"/>
            <a:ext cx="6303204" cy="6552728"/>
          </a:xfrm>
          <a:prstGeom prst="rect">
            <a:avLst/>
          </a:prstGeom>
        </p:spPr>
      </p:pic>
    </p:spTree>
    <p:extLst>
      <p:ext uri="{BB962C8B-B14F-4D97-AF65-F5344CB8AC3E}">
        <p14:creationId xmlns:p14="http://schemas.microsoft.com/office/powerpoint/2010/main" val="4140183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DF7CA560-8D97-46F6-A9C7-F7A52E05846C}"/>
              </a:ext>
            </a:extLst>
          </p:cNvPr>
          <p:cNvSpPr txBox="1"/>
          <p:nvPr/>
        </p:nvSpPr>
        <p:spPr>
          <a:xfrm>
            <a:off x="2627784" y="2828835"/>
            <a:ext cx="4333174" cy="1200329"/>
          </a:xfrm>
          <a:prstGeom prst="rect">
            <a:avLst/>
          </a:prstGeom>
          <a:noFill/>
        </p:spPr>
        <p:txBody>
          <a:bodyPr wrap="none" rtlCol="0">
            <a:spAutoFit/>
          </a:bodyPr>
          <a:lstStyle/>
          <a:p>
            <a:r>
              <a:rPr lang="en-US" altLang="zh-TW" sz="7200" dirty="0"/>
              <a:t>Thank You!</a:t>
            </a:r>
            <a:endParaRPr lang="zh-TW" altLang="en-US" sz="7200" dirty="0"/>
          </a:p>
        </p:txBody>
      </p:sp>
    </p:spTree>
    <p:extLst>
      <p:ext uri="{BB962C8B-B14F-4D97-AF65-F5344CB8AC3E}">
        <p14:creationId xmlns:p14="http://schemas.microsoft.com/office/powerpoint/2010/main" val="45789946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949</TotalTime>
  <Words>303</Words>
  <Application>Microsoft Office PowerPoint</Application>
  <PresentationFormat>如螢幕大小 (4:3)</PresentationFormat>
  <Paragraphs>23</Paragraphs>
  <Slides>9</Slides>
  <Notes>1</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9</vt:i4>
      </vt:variant>
    </vt:vector>
  </HeadingPairs>
  <TitlesOfParts>
    <vt:vector size="19" baseType="lpstr">
      <vt:lpstr>Cath-Aaeightyone</vt:lpstr>
      <vt:lpstr>Cath-Abeightytwo</vt:lpstr>
      <vt:lpstr>Cath-Aceightythree</vt:lpstr>
      <vt:lpstr>Cath-Aeeightyfive</vt:lpstr>
      <vt:lpstr>新細明體</vt:lpstr>
      <vt:lpstr>Arial</vt:lpstr>
      <vt:lpstr>Arial</vt:lpstr>
      <vt:lpstr>Calibri</vt:lpstr>
      <vt:lpstr>Times New Roman</vt:lpstr>
      <vt:lpstr>Office 佈景主題</vt:lpstr>
      <vt:lpstr>PowerPoint 簡報</vt:lpstr>
      <vt:lpstr>Abstract(1/2)</vt:lpstr>
      <vt:lpstr>Abstract(2/2)</vt:lpstr>
      <vt:lpstr>Introduction</vt:lpstr>
      <vt:lpstr>Each time step: boost itself</vt:lpstr>
      <vt:lpstr>PowerPoint 簡報</vt:lpstr>
      <vt:lpstr>PowerPoint 簡報</vt:lpstr>
      <vt:lpstr>PowerPoint 簡報</vt:lpstr>
      <vt:lpstr>PowerPoint 簡報</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Fuzzy Control Sytems : Past, Present and Future</dc:title>
  <dc:creator>中文</dc:creator>
  <cp:lastModifiedBy>蔡豐仰</cp:lastModifiedBy>
  <cp:revision>230</cp:revision>
  <dcterms:created xsi:type="dcterms:W3CDTF">2019-05-14T11:49:57Z</dcterms:created>
  <dcterms:modified xsi:type="dcterms:W3CDTF">2019-11-01T09:03:51Z</dcterms:modified>
</cp:coreProperties>
</file>