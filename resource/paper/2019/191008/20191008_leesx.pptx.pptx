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70" r:id="rId10"/>
    <p:sldId id="264" r:id="rId11"/>
    <p:sldId id="266" r:id="rId12"/>
    <p:sldId id="265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281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52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162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696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430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18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726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483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264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11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144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D972B-29BC-47DB-8F10-3728CC574CAA}" type="datetimeFigureOut">
              <a:rPr lang="zh-TW" altLang="en-US" smtClean="0"/>
              <a:t>2019/10/8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6BB86-06C4-47B7-9086-6DA589C781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6553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95984" y="1251061"/>
            <a:ext cx="9144000" cy="858203"/>
          </a:xfrm>
        </p:spPr>
        <p:txBody>
          <a:bodyPr>
            <a:noAutofit/>
          </a:bodyPr>
          <a:lstStyle/>
          <a:p>
            <a:r>
              <a:rPr lang="en-US" altLang="zh-TW" sz="36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Longest Common </a:t>
            </a:r>
            <a:r>
              <a:rPr lang="en-US" altLang="zh-TW" sz="3600" b="1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Subsequence</a:t>
            </a:r>
            <a:r>
              <a:rPr lang="zh-TW" altLang="en-US" sz="3600" b="1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 </a:t>
            </a:r>
            <a:r>
              <a:rPr lang="en-US" altLang="zh-TW" sz="3600" b="1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k </a:t>
            </a:r>
            <a:r>
              <a:rPr lang="en-US" altLang="zh-TW" sz="36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Length Substrings</a:t>
            </a:r>
            <a:endParaRPr lang="zh-TW" altLang="en-US" sz="36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31392" y="3132606"/>
            <a:ext cx="9144000" cy="2743200"/>
          </a:xfrm>
        </p:spPr>
        <p:txBody>
          <a:bodyPr>
            <a:norm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Gary Benson, </a:t>
            </a:r>
            <a:r>
              <a:rPr lang="en-US" altLang="zh-TW" sz="2000" dirty="0" err="1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Avivit</a:t>
            </a:r>
            <a:r>
              <a:rPr lang="en-US" altLang="zh-TW" sz="2000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Levy, and B. Riva Shalom</a:t>
            </a:r>
          </a:p>
          <a:p>
            <a:endParaRPr lang="en-US" altLang="zh-TW" sz="2000" dirty="0" smtClean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nb-NO" altLang="zh-TW" sz="2000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SISAP 2013, </a:t>
            </a:r>
            <a:r>
              <a:rPr lang="nb-NO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pp. </a:t>
            </a:r>
            <a:r>
              <a:rPr lang="nb-NO" altLang="zh-TW" sz="2000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257–265</a:t>
            </a:r>
            <a:endParaRPr lang="zh-TW" altLang="en-US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7680960" y="5051274"/>
            <a:ext cx="374904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2400" b="1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Presenter: Shao-Xuan Lee</a:t>
            </a:r>
            <a:endParaRPr lang="en-US" altLang="zh-TW" sz="2400" b="1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2400" b="1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Date: Oct. 8, 2019</a:t>
            </a:r>
          </a:p>
          <a:p>
            <a:endParaRPr lang="zh-TW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559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6656" y="374269"/>
            <a:ext cx="10515600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76656" y="1699832"/>
                <a:ext cx="10515600" cy="431692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In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this paper we define a new problem, motivated by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computational biology, 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LCSk</a:t>
                </a:r>
                <a:r>
                  <a:rPr lang="en-US" altLang="zh-TW" i="1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aiming at finding the maximal number of </a:t>
                </a:r>
                <a:r>
                  <a:rPr lang="en-US" altLang="zh-TW" i="1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k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length </a:t>
                </a:r>
                <a:r>
                  <a:rPr lang="en-US" altLang="zh-TW" i="1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substrings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, matching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in both input string while preserving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their order of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appearance in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the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input strings. The traditional LCS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definition is a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special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case of our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problem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, where </a:t>
                </a:r>
                <a:r>
                  <a:rPr lang="en-US" altLang="zh-TW" i="1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k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= 1. We provide an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algorithm, solving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the general case in </a:t>
                </a:r>
                <a:r>
                  <a:rPr lang="en-US" altLang="zh-TW" i="1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O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𝑛</m:t>
                        </m:r>
                      </m:e>
                      <m:sup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)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time, where </a:t>
                </a:r>
                <a:r>
                  <a:rPr lang="en-US" altLang="zh-TW" i="1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n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is the length of the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input,  equaling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the time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required for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the special case of </a:t>
                </a:r>
                <a:r>
                  <a:rPr lang="en-US" altLang="zh-TW" i="1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k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= 1. The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space requirement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is </a:t>
                </a:r>
                <a:r>
                  <a:rPr lang="en-US" altLang="zh-TW" i="1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O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kn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). In order to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enable 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backtracking of the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solution </a:t>
                </a:r>
                <a:r>
                  <a:rPr lang="en-US" altLang="zh-TW" i="1" dirty="0" smtClean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O</a:t>
                </a:r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) space is needed.</a:t>
                </a:r>
                <a:endParaRPr lang="zh-TW" altLang="en-US" dirty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1699832"/>
                <a:ext cx="10515600" cy="4316920"/>
              </a:xfrm>
              <a:blipFill rotWithShape="0">
                <a:blip r:embed="rId2"/>
                <a:stretch>
                  <a:fillRect l="-1043" r="-14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76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8137" y="417858"/>
            <a:ext cx="10515600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LCSK(1/2)</a:t>
            </a:r>
            <a:endParaRPr lang="zh-TW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8137" y="208174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spc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12345678</a:t>
            </a:r>
            <a:r>
              <a:rPr lang="zh-TW" altLang="en-US" spc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b="1" spc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b="1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pc="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TW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altLang="zh-TW" spc="6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TW" spc="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</a:p>
          <a:p>
            <a:r>
              <a:rPr lang="en-US" altLang="zh-TW" b="1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pc="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TW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pc="6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TW" spc="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altLang="zh-TW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  <a:p>
            <a:pPr marL="0" indent="0">
              <a:buNone/>
            </a:pPr>
            <a:endParaRPr lang="en-US" altLang="zh-TW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pc="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LCS2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US" altLang="zh-TW" spc="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TW" spc="6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altLang="zh-TW" spc="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zh-TW" altLang="en-US" spc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73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9056" y="410589"/>
            <a:ext cx="10515600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LCSK(2/2)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9056" y="222713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TW" altLang="en-US" spc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pc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12345678</a:t>
            </a:r>
          </a:p>
          <a:p>
            <a:r>
              <a:rPr lang="en-US" altLang="zh-TW" b="1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pc="7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CTT</a:t>
            </a:r>
            <a:r>
              <a:rPr lang="en-US" altLang="zh-TW" spc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pc="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CTTT</a:t>
            </a:r>
          </a:p>
          <a:p>
            <a:r>
              <a:rPr lang="en-US" altLang="zh-TW" b="1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pc="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CTG</a:t>
            </a:r>
            <a:r>
              <a:rPr lang="en-US" altLang="zh-TW" spc="7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CTT</a:t>
            </a:r>
            <a:r>
              <a:rPr lang="en-US" altLang="zh-TW" spc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pc="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LCS3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pc="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CTT</a:t>
            </a:r>
            <a:r>
              <a:rPr lang="en-US" altLang="zh-TW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,TTT</a:t>
            </a:r>
            <a:endParaRPr lang="en-US" altLang="zh-TW" b="1" spc="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b="1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4" name="橢圓 3"/>
          <p:cNvSpPr/>
          <p:nvPr/>
        </p:nvSpPr>
        <p:spPr>
          <a:xfrm>
            <a:off x="3454908" y="2611484"/>
            <a:ext cx="941832" cy="57607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3151632" y="3187556"/>
            <a:ext cx="944880" cy="57607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3345180" y="4724049"/>
            <a:ext cx="941832" cy="57607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590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84060"/>
            <a:ext cx="11268075" cy="2085975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585216" y="2952952"/>
            <a:ext cx="100852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spc="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 sz="2400" spc="19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sz="24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2 3 4 5 6 7 8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G C G T 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T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G C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(5,3)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contains{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obtained in two ways: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matched to b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matched to b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matched to b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(5,3)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{(1,3), (5,3), (4,1)}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91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850261"/>
            <a:ext cx="8809811" cy="253555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878631"/>
            <a:ext cx="9425559" cy="118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內容版面配置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8075605"/>
              </p:ext>
            </p:extLst>
          </p:nvPr>
        </p:nvGraphicFramePr>
        <p:xfrm>
          <a:off x="673608" y="877824"/>
          <a:ext cx="10692387" cy="53459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</a:tblGrid>
              <a:tr h="664334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</a:p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1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(1,1)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2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3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4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5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6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7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8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36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454857"/>
              </p:ext>
            </p:extLst>
          </p:nvPr>
        </p:nvGraphicFramePr>
        <p:xfrm>
          <a:off x="646176" y="937593"/>
          <a:ext cx="10692387" cy="532166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</a:tblGrid>
              <a:tr h="431806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</a:p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1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(1,1)(1,5)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2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3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4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5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6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7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8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97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內容版面配置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4020476"/>
              </p:ext>
            </p:extLst>
          </p:nvPr>
        </p:nvGraphicFramePr>
        <p:xfrm>
          <a:off x="646176" y="937593"/>
          <a:ext cx="10692387" cy="532166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</a:tblGrid>
              <a:tr h="431806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</a:p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1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(1,1)(1,5)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2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3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4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5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6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7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8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02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1269208"/>
              </p:ext>
            </p:extLst>
          </p:nvPr>
        </p:nvGraphicFramePr>
        <p:xfrm>
          <a:off x="646176" y="937593"/>
          <a:ext cx="10692387" cy="538438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</a:tblGrid>
              <a:tr h="431806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</a:p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1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2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(1,1) (2,2)</a:t>
                      </a:r>
                      <a:endParaRPr lang="zh-TW" alt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3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4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5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6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7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8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線接點 5"/>
          <p:cNvCxnSpPr/>
          <p:nvPr/>
        </p:nvCxnSpPr>
        <p:spPr>
          <a:xfrm>
            <a:off x="3639312" y="2679192"/>
            <a:ext cx="4846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71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1295767"/>
              </p:ext>
            </p:extLst>
          </p:nvPr>
        </p:nvGraphicFramePr>
        <p:xfrm>
          <a:off x="655320" y="946737"/>
          <a:ext cx="10692387" cy="550983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</a:tblGrid>
              <a:tr h="431806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</a:p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1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3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2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(1,1)(2,2)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3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4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(4,5)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5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6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7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8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>
            <a:off x="5141977" y="2704957"/>
            <a:ext cx="1789175" cy="996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03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內容版面配置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941818"/>
              </p:ext>
            </p:extLst>
          </p:nvPr>
        </p:nvGraphicFramePr>
        <p:xfrm>
          <a:off x="646176" y="937593"/>
          <a:ext cx="10692387" cy="563527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</a:tblGrid>
              <a:tr h="431806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</a:p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1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3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2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(1,1)(2,2)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3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4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5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(4,5)(5,6)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</a:p>
                    <a:p>
                      <a:pPr algn="ctr"/>
                      <a:r>
                        <a:rPr lang="en-US" altLang="zh-TW" dirty="0" smtClean="0"/>
                        <a:t>(4,5)(5,7)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6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(4,5)(6,6)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(6,7)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7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8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直線單箭頭接點 10"/>
          <p:cNvCxnSpPr/>
          <p:nvPr/>
        </p:nvCxnSpPr>
        <p:spPr>
          <a:xfrm>
            <a:off x="7571232" y="4005072"/>
            <a:ext cx="1764792" cy="9784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24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內容版面配置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2503842"/>
              </p:ext>
            </p:extLst>
          </p:nvPr>
        </p:nvGraphicFramePr>
        <p:xfrm>
          <a:off x="646176" y="937593"/>
          <a:ext cx="10692387" cy="569799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</a:tblGrid>
              <a:tr h="431806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</a:p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1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3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2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(1,1)(2,2)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3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4          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635175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5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(4,5)(5,6)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</a:p>
                    <a:p>
                      <a:pPr algn="ctr"/>
                      <a:r>
                        <a:rPr lang="en-US" altLang="zh-TW" dirty="0" smtClean="0"/>
                        <a:t>(4,5)(5,7)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6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(4,5)(6,6)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(6,7)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7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</a:p>
                    <a:p>
                      <a:pPr algn="ctr"/>
                      <a:r>
                        <a:rPr lang="en-US" altLang="zh-TW" dirty="0" smtClean="0"/>
                        <a:t>(4,1)(7,2)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(6,7)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8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>
            <a:off x="9875520" y="5212080"/>
            <a:ext cx="9144" cy="3749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27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內容版面配置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5175690"/>
              </p:ext>
            </p:extLst>
          </p:nvPr>
        </p:nvGraphicFramePr>
        <p:xfrm>
          <a:off x="646176" y="937593"/>
          <a:ext cx="10692387" cy="569799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  <a:gridCol w="1188043"/>
              </a:tblGrid>
              <a:tr h="431806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</a:p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</a:p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</a:p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1          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(1,1)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 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3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2         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 T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(1,1)(2,2)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b="1" dirty="0" smtClean="0"/>
                        <a:t>  3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(1,1)(1,5)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4         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 C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(1,1)(4,1)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(4,5)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635175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5          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(4,5)(5,6)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</a:p>
                    <a:p>
                      <a:pPr algn="ctr"/>
                      <a:r>
                        <a:rPr lang="en-US" altLang="zh-TW" dirty="0" smtClean="0"/>
                        <a:t>(4,5)(5,7)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6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(4,5)(6,6)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(6,7)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7          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</a:p>
                    <a:p>
                      <a:pPr algn="ctr"/>
                      <a:r>
                        <a:rPr lang="en-US" altLang="zh-TW" dirty="0" smtClean="0"/>
                        <a:t>(4,1)(7,2)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(4,1)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(4,5)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(6,7)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77358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  8          G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 flipH="1" flipV="1">
            <a:off x="7552944" y="3895344"/>
            <a:ext cx="1645920" cy="10332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H="1" flipV="1">
            <a:off x="2706624" y="2075688"/>
            <a:ext cx="4105656" cy="14996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 flipH="1" flipV="1">
            <a:off x="9189720" y="5247179"/>
            <a:ext cx="9144" cy="3566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23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65048" y="539496"/>
            <a:ext cx="10491216" cy="5513832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LCSK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</a:p>
          <a:p>
            <a:pPr algn="l"/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O(n</a:t>
            </a:r>
            <a:r>
              <a:rPr lang="en-US" altLang="zh-TW" sz="28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time complexity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O(m)</a:t>
            </a:r>
          </a:p>
          <a:p>
            <a:pPr algn="l"/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m is the number of k matching in the solution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O(n</a:t>
            </a:r>
            <a:r>
              <a:rPr lang="en-US" altLang="zh-TW" sz="28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79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1396</Words>
  <Application>Microsoft Office PowerPoint</Application>
  <PresentationFormat>寬螢幕</PresentationFormat>
  <Paragraphs>607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Longest Common Subsequence in k Length Substrings</vt:lpstr>
      <vt:lpstr>Abstract</vt:lpstr>
      <vt:lpstr>LCSK(1/2)</vt:lpstr>
      <vt:lpstr>LCSK(2/2)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Longest Common Subsequen in k Length Substrings</dc:title>
  <dc:creator>ASUS</dc:creator>
  <cp:lastModifiedBy>ASUS</cp:lastModifiedBy>
  <cp:revision>33</cp:revision>
  <dcterms:created xsi:type="dcterms:W3CDTF">2019-10-04T13:59:23Z</dcterms:created>
  <dcterms:modified xsi:type="dcterms:W3CDTF">2019-10-08T09:47:54Z</dcterms:modified>
</cp:coreProperties>
</file>