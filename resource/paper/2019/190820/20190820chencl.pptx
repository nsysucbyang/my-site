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56" r:id="rId2"/>
    <p:sldId id="279" r:id="rId3"/>
    <p:sldId id="27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0" r:id="rId12"/>
    <p:sldId id="281" r:id="rId13"/>
    <p:sldId id="266" r:id="rId14"/>
    <p:sldId id="267" r:id="rId15"/>
    <p:sldId id="268" r:id="rId16"/>
    <p:sldId id="269" r:id="rId17"/>
    <p:sldId id="271" r:id="rId18"/>
    <p:sldId id="272" r:id="rId19"/>
    <p:sldId id="273" r:id="rId20"/>
    <p:sldId id="270" r:id="rId21"/>
    <p:sldId id="274" r:id="rId22"/>
    <p:sldId id="275" r:id="rId23"/>
    <p:sldId id="276" r:id="rId24"/>
    <p:sldId id="277" r:id="rId25"/>
    <p:sldId id="282" r:id="rId26"/>
  </p:sldIdLst>
  <p:sldSz cx="9144000" cy="5143500" type="screen16x9"/>
  <p:notesSz cx="6858000" cy="9144000"/>
  <p:embeddedFontLst>
    <p:embeddedFont>
      <p:font typeface="Open Sans" panose="02020500000000000000" charset="0"/>
      <p:regular r:id="rId28"/>
      <p:bold r:id="rId29"/>
      <p:italic r:id="rId30"/>
      <p:boldItalic r:id="rId31"/>
    </p:embeddedFont>
    <p:embeddedFont>
      <p:font typeface="PT Sans Narrow" panose="02020500000000000000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354" autoAdjust="0"/>
  </p:normalViewPr>
  <p:slideViewPr>
    <p:cSldViewPr snapToGrid="0">
      <p:cViewPr varScale="1">
        <p:scale>
          <a:sx n="99" d="100"/>
          <a:sy n="99" d="100"/>
        </p:scale>
        <p:origin x="99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aChen0/PM25/blob/master/PM25OpenData_useKNN.ipynb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第一位</a:t>
            </a:r>
            <a:r>
              <a:rPr lang="en-US" altLang="zh-TW" dirty="0"/>
              <a:t>:</a:t>
            </a:r>
            <a:r>
              <a:rPr lang="zh-TW" altLang="en-US" dirty="0"/>
              <a:t>清大統計系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第二位</a:t>
            </a:r>
            <a:r>
              <a:rPr lang="en-US" altLang="zh-TW" dirty="0"/>
              <a:t>:</a:t>
            </a:r>
            <a:r>
              <a:rPr lang="zh-TW" altLang="en-US" dirty="0"/>
              <a:t>中研院資科所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第三位</a:t>
            </a:r>
            <a:r>
              <a:rPr lang="en-US" altLang="zh-TW" dirty="0"/>
              <a:t>:</a:t>
            </a:r>
            <a:r>
              <a:rPr lang="zh-TW" altLang="en-US" dirty="0"/>
              <a:t>中興應數系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第四位</a:t>
            </a:r>
            <a:r>
              <a:rPr lang="en-US" altLang="zh-TW" dirty="0"/>
              <a:t>:</a:t>
            </a:r>
            <a:r>
              <a:rPr lang="zh-TW" altLang="en-US" dirty="0"/>
              <a:t>中山應數系</a:t>
            </a:r>
            <a:endParaRPr lang="en-US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第五位</a:t>
            </a:r>
            <a:r>
              <a:rPr lang="en-US" altLang="zh-TW" dirty="0"/>
              <a:t>:</a:t>
            </a:r>
            <a:r>
              <a:rPr lang="zh-TW" altLang="en-US" dirty="0"/>
              <a:t>中研院統計所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6025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d1197f72c_2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d1197f72c_2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d1197f72c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d1197f72c_2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從1950年代開始 人們意識到了空氣污染的問題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例如1952 倫敦霧霾造成的死傷比前一年多3000多人</a:t>
            </a:r>
            <a:r>
              <a:rPr lang="en" sz="1000" dirty="0"/>
              <a:t>cause more than 3,000 excess deaths compared with previous years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PM2.5 會cause harm to health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5d1197f72c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5d1197f72c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d1197f72c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d1197f72c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5d1197f72c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5d1197f72c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5d09fcf97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5d09fcf97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-30% of data are missing ：</a:t>
            </a:r>
            <a:r>
              <a:rPr lang="en"/>
              <a:t>Due to internet connection error and airboxes are deployed after 1/1/17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5d1197f72c_2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5d1197f72c_2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https://github.com/LanaChen0/PM25/blob/master/PM25OpenData_useKNN.ipynb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altLang="zh-TW" dirty="0"/>
              <a:t>y(s)</a:t>
            </a:r>
            <a:r>
              <a:rPr lang="zh-TW" altLang="en-US" dirty="0"/>
              <a:t>是某時間下的濃度；某時間可以單位是小時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Beta </a:t>
            </a:r>
            <a:r>
              <a:rPr lang="en-US" altLang="zh-TW" dirty="0" err="1"/>
              <a:t>prond</a:t>
            </a:r>
            <a:r>
              <a:rPr lang="en-US" altLang="zh-TW" dirty="0"/>
              <a:t> </a:t>
            </a:r>
            <a:r>
              <a:rPr lang="zh-TW" altLang="en-US" dirty="0"/>
              <a:t>是迴歸係數</a:t>
            </a:r>
            <a:endParaRPr lang="en-US" altLang="zh-TW" dirty="0"/>
          </a:p>
          <a:p>
            <a:pPr marL="158750" indent="0">
              <a:buNone/>
            </a:pPr>
            <a:r>
              <a:rPr lang="en-US" altLang="zh-TW" dirty="0"/>
              <a:t>Phi(s)</a:t>
            </a:r>
            <a:r>
              <a:rPr lang="zh-TW" altLang="en-US" dirty="0"/>
              <a:t>是</a:t>
            </a:r>
            <a:r>
              <a:rPr lang="en-US" altLang="zh-TW" dirty="0"/>
              <a:t>multiresolution function</a:t>
            </a:r>
          </a:p>
          <a:p>
            <a:pPr marL="158750" indent="0">
              <a:buNone/>
            </a:pPr>
            <a:r>
              <a:rPr lang="en-US" altLang="zh-TW" dirty="0"/>
              <a:t>Ng(s)</a:t>
            </a:r>
            <a:r>
              <a:rPr lang="zh-TW" altLang="en-US" dirty="0"/>
              <a:t>是</a:t>
            </a:r>
            <a:r>
              <a:rPr lang="en-US" altLang="zh-TW" dirty="0" err="1"/>
              <a:t>corvarinace</a:t>
            </a:r>
            <a:r>
              <a:rPr lang="zh-TW" altLang="en-US" dirty="0"/>
              <a:t>取</a:t>
            </a:r>
            <a:r>
              <a:rPr lang="en-US" altLang="zh-TW" dirty="0" err="1"/>
              <a:t>exponention</a:t>
            </a:r>
            <a:r>
              <a:rPr lang="zh-TW" altLang="en-US" dirty="0"/>
              <a:t>；可得知相關性</a:t>
            </a:r>
            <a:endParaRPr lang="en-US" altLang="zh-TW" dirty="0"/>
          </a:p>
          <a:p>
            <a:pPr marL="158750" indent="0">
              <a:buNone/>
            </a:pPr>
            <a:r>
              <a:rPr lang="zh-TW" altLang="en-US" dirty="0"/>
              <a:t>透過此</a:t>
            </a:r>
            <a:r>
              <a:rPr lang="en-US" altLang="zh-TW" dirty="0"/>
              <a:t>kriging</a:t>
            </a:r>
            <a:r>
              <a:rPr lang="zh-TW" altLang="en-US" dirty="0"/>
              <a:t>公式</a:t>
            </a:r>
            <a:r>
              <a:rPr lang="en-US" altLang="zh-TW" dirty="0"/>
              <a:t>=&gt;</a:t>
            </a:r>
            <a:r>
              <a:rPr lang="zh-TW" altLang="en-US" dirty="0"/>
              <a:t>改進</a:t>
            </a:r>
            <a:r>
              <a:rPr lang="en-US" altLang="zh-TW" dirty="0"/>
              <a:t>model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2417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09551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d1197f72c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d1197f72c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Ｋ=25最好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d1197f72c_1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d1197f72c_1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農曆新年 23:00 證明時間 1/27除夕夜0:00最強 1/28農曆新年當天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南部最為嚴重，北部因為管制而值較低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d1197f72c_1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d1197f72c_1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玉皇大帝誕辰(Feb 04 23:00 - Feb 05 9:00) 初九 鞭炮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5d1197f72c_1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5d1197f72c_1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霧霾 從北開始被影響到南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5d1197f72c_1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5d1197f72c_1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有偏差 分散 誤差大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RMSE(85)分佈都大於三  紅： bias &gt;3 紅色6點 	bias 介於-3 3 黃色31點	 bias&lt;-3藍色48點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縱軸</a:t>
            </a:r>
            <a:r>
              <a:rPr lang="en-US" altLang="zh-TW" dirty="0"/>
              <a:t>:RMSE/bias</a:t>
            </a:r>
            <a:endParaRPr lang="en" altLang="zh-TW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/>
              <a:t>橫軸</a:t>
            </a:r>
            <a:r>
              <a:rPr lang="en-US" altLang="zh-TW" dirty="0"/>
              <a:t>:</a:t>
            </a:r>
            <a:r>
              <a:rPr lang="zh-TW" altLang="en-US" dirty="0"/>
              <a:t>時間</a:t>
            </a:r>
            <a:r>
              <a:rPr lang="en-US" altLang="zh-TW" dirty="0"/>
              <a:t>(</a:t>
            </a:r>
            <a:r>
              <a:rPr lang="zh-TW" altLang="en-US" dirty="0"/>
              <a:t>毫秒</a:t>
            </a:r>
            <a:r>
              <a:rPr lang="en-US" altLang="zh-TW" dirty="0"/>
              <a:t>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5d1197f72c_1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5d1197f72c_1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A: RMSE&gt;3 bias &gt;3 長期在放Pm2.5高的地方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B: </a:t>
            </a:r>
            <a:r>
              <a:rPr lang="en" altLang="zh-TW" dirty="0"/>
              <a:t>RMSE &gt;3 bias &lt;-3 </a:t>
            </a:r>
            <a:r>
              <a:rPr lang="en" dirty="0"/>
              <a:t>放在室內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C: RMSE &gt;3 bias 介於-3 3 放在不穩定區 ex: 餐廳 (有時有油煙由時沒有) abnormal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D: 穩定區域 normal </a:t>
            </a: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5d1197f72c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5d1197f72c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features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上面兩圖： 從室外到室內 400, 1250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下面兩圖： 從室內到室外 1200, 625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d20211d34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d20211d34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5d1197f72c_1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5d1197f72c_1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怎麼算RMSE 跟MAE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5d1197f72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5d1197f72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下降RMSEerror rates 4%　MAE 8.2%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d1197f72c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5d1197f72c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5d1197f72c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5d1197f72c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5d1197f72c_2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5d1197f72c_2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559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m25.lass-net.or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Real-time PM2.5 mapping and anomaly detection from AirBoxes in Taiwan</a:t>
            </a:r>
            <a:endParaRPr sz="30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570150" y="2629800"/>
            <a:ext cx="6246000" cy="106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altLang="zh-TW" dirty="0"/>
              <a:t>G. Huang, L.-J. Chen, W.-H. Hwang,</a:t>
            </a:r>
          </a:p>
          <a:p>
            <a:pPr marL="0" lvl="0" indent="0"/>
            <a:r>
              <a:rPr lang="en-US" altLang="zh-TW" dirty="0"/>
              <a:t> S. Tzeng, H.-C. Huang</a:t>
            </a:r>
            <a:endParaRPr sz="1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6C2175-1C37-405A-88EE-1F469E17C50D}"/>
              </a:ext>
            </a:extLst>
          </p:cNvPr>
          <p:cNvSpPr/>
          <p:nvPr/>
        </p:nvSpPr>
        <p:spPr>
          <a:xfrm>
            <a:off x="7040880" y="4508733"/>
            <a:ext cx="219993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TW" dirty="0"/>
              <a:t>Present: Chia-Lin, Chen</a:t>
            </a:r>
          </a:p>
          <a:p>
            <a:pPr lvl="0" algn="ctr"/>
            <a:r>
              <a:rPr lang="en-US" altLang="zh-TW" dirty="0"/>
              <a:t>Aug. 20</a:t>
            </a:r>
            <a:r>
              <a:rPr lang="en-US" altLang="zh-TW" sz="1200" dirty="0"/>
              <a:t>th</a:t>
            </a:r>
            <a:r>
              <a:rPr lang="en-US" altLang="zh-TW" dirty="0"/>
              <a:t> 2019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EDDDF6-1881-40E4-8B45-B4A36FE9563C}"/>
              </a:ext>
            </a:extLst>
          </p:cNvPr>
          <p:cNvSpPr/>
          <p:nvPr/>
        </p:nvSpPr>
        <p:spPr>
          <a:xfrm>
            <a:off x="3407381" y="3465167"/>
            <a:ext cx="21788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solidFill>
                  <a:srgbClr val="1C1D1E"/>
                </a:solidFill>
                <a:latin typeface="Open Sans" panose="02020500000000000000" charset="0"/>
              </a:rPr>
              <a:t>Oct. 11</a:t>
            </a:r>
            <a:r>
              <a:rPr lang="en-US" altLang="zh-TW" sz="1600" dirty="0">
                <a:solidFill>
                  <a:srgbClr val="1C1D1E"/>
                </a:solidFill>
                <a:latin typeface="Open Sans" panose="02020500000000000000" charset="0"/>
              </a:rPr>
              <a:t>th</a:t>
            </a:r>
            <a:r>
              <a:rPr lang="en-US" altLang="zh-TW" sz="2400" dirty="0">
                <a:solidFill>
                  <a:srgbClr val="1C1D1E"/>
                </a:solidFill>
                <a:latin typeface="Open Sans" panose="02020500000000000000" charset="0"/>
              </a:rPr>
              <a:t> 2018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5ABD-3B60-4EEE-94D8-94A3AD5D64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60338"/>
            <a:ext cx="8570913" cy="941387"/>
          </a:xfrm>
        </p:spPr>
        <p:txBody>
          <a:bodyPr/>
          <a:lstStyle/>
          <a:p>
            <a:pPr algn="l"/>
            <a:r>
              <a:rPr lang="en-US" altLang="zh-TW" dirty="0"/>
              <a:t>Abstract(1/2)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806AF8-3F99-49ED-BA28-0A54DFDED8AC}"/>
              </a:ext>
            </a:extLst>
          </p:cNvPr>
          <p:cNvSpPr txBox="1"/>
          <p:nvPr/>
        </p:nvSpPr>
        <p:spPr>
          <a:xfrm>
            <a:off x="101975" y="1017478"/>
            <a:ext cx="9278502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Fine particulate matter (PM2.5) has gained increasing attention</a:t>
            </a:r>
          </a:p>
          <a:p>
            <a:r>
              <a:rPr lang="en-US" altLang="zh-TW" sz="2400" dirty="0"/>
              <a:t>due to its adverse health effects to human. In Taiwan, </a:t>
            </a:r>
          </a:p>
          <a:p>
            <a:r>
              <a:rPr lang="en-US" altLang="zh-TW" sz="2400" dirty="0"/>
              <a:t>it was conventionally monitored by large environmental monitoring </a:t>
            </a:r>
          </a:p>
          <a:p>
            <a:r>
              <a:rPr lang="en-US" altLang="zh-TW" sz="2400" dirty="0"/>
              <a:t>stations of the </a:t>
            </a:r>
            <a:r>
              <a:rPr lang="en-US" altLang="zh-TW" sz="2400" b="1" dirty="0"/>
              <a:t>E</a:t>
            </a:r>
            <a:r>
              <a:rPr lang="en-US" altLang="zh-TW" sz="2400" dirty="0"/>
              <a:t>nvironmental </a:t>
            </a:r>
            <a:r>
              <a:rPr lang="en-US" altLang="zh-TW" sz="2400" b="1" dirty="0"/>
              <a:t>P</a:t>
            </a:r>
            <a:r>
              <a:rPr lang="en-US" altLang="zh-TW" sz="2400" dirty="0"/>
              <a:t>rotection </a:t>
            </a:r>
            <a:r>
              <a:rPr lang="en-US" altLang="zh-TW" sz="2400" b="1" dirty="0"/>
              <a:t>A</a:t>
            </a:r>
            <a:r>
              <a:rPr lang="en-US" altLang="zh-TW" sz="2400" dirty="0"/>
              <a:t>dministration(EPA).</a:t>
            </a:r>
          </a:p>
          <a:p>
            <a:r>
              <a:rPr lang="en-US" altLang="zh-TW" sz="2400" dirty="0"/>
              <a:t>However, only a small number of </a:t>
            </a:r>
            <a:r>
              <a:rPr lang="en-US" altLang="zh-TW" sz="2400" b="1" dirty="0"/>
              <a:t>77</a:t>
            </a:r>
            <a:r>
              <a:rPr lang="en-US" altLang="zh-TW" sz="2400" dirty="0"/>
              <a:t> monitoring stations </a:t>
            </a:r>
          </a:p>
          <a:p>
            <a:r>
              <a:rPr lang="en-US" altLang="zh-TW" sz="2400" dirty="0"/>
              <a:t>are currently established. Recently, a project using a large number</a:t>
            </a:r>
          </a:p>
          <a:p>
            <a:r>
              <a:rPr lang="en-US" altLang="zh-TW" sz="2400" dirty="0"/>
              <a:t>of small devices, called Air-Boxes, was launched in March 2016</a:t>
            </a:r>
          </a:p>
          <a:p>
            <a:r>
              <a:rPr lang="en-US" altLang="zh-TW" sz="2400" dirty="0"/>
              <a:t>to monitor PM2.5 concentrations. Although thousands of </a:t>
            </a:r>
            <a:r>
              <a:rPr lang="en-US" altLang="zh-TW" sz="2400" dirty="0" err="1"/>
              <a:t>AirBoxes</a:t>
            </a:r>
            <a:r>
              <a:rPr lang="en-US" altLang="zh-TW" sz="2400" dirty="0"/>
              <a:t> </a:t>
            </a:r>
          </a:p>
          <a:p>
            <a:r>
              <a:rPr lang="en-US" altLang="zh-TW" sz="2400" dirty="0"/>
              <a:t>have been deployed across Taiwan to give a broader coverage,</a:t>
            </a:r>
          </a:p>
          <a:p>
            <a:r>
              <a:rPr lang="en-US" altLang="zh-TW" sz="2400" dirty="0"/>
              <a:t>they are mostly located in big cities and </a:t>
            </a:r>
          </a:p>
          <a:p>
            <a:r>
              <a:rPr lang="en-US" altLang="zh-TW" sz="2400" dirty="0"/>
              <a:t>their measurements are less accurate.</a:t>
            </a:r>
          </a:p>
        </p:txBody>
      </p:sp>
    </p:spTree>
    <p:extLst>
      <p:ext uri="{BB962C8B-B14F-4D97-AF65-F5344CB8AC3E}">
        <p14:creationId xmlns:p14="http://schemas.microsoft.com/office/powerpoint/2010/main" val="1242151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5ABD-3B60-4EEE-94D8-94A3AD5D64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8570913" cy="941388"/>
          </a:xfrm>
        </p:spPr>
        <p:txBody>
          <a:bodyPr/>
          <a:lstStyle/>
          <a:p>
            <a:pPr algn="l"/>
            <a:r>
              <a:rPr lang="en-US" altLang="zh-TW" dirty="0"/>
              <a:t>Abstract(2/2)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1806AF8-3F99-49ED-BA28-0A54DFDED8AC}"/>
              </a:ext>
            </a:extLst>
          </p:cNvPr>
          <p:cNvSpPr txBox="1"/>
          <p:nvPr/>
        </p:nvSpPr>
        <p:spPr>
          <a:xfrm>
            <a:off x="0" y="764577"/>
            <a:ext cx="9376285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In this paper, we apply a robust kriging method that provides a </a:t>
            </a:r>
          </a:p>
          <a:p>
            <a:r>
              <a:rPr lang="en-US" altLang="zh-TW" sz="2400" dirty="0"/>
              <a:t>smoothly varied real-time PM2.5 concentration map and</a:t>
            </a:r>
          </a:p>
          <a:p>
            <a:r>
              <a:rPr lang="en-US" altLang="zh-TW" sz="2400" dirty="0"/>
              <a:t>its associated standard error map. In addition, we develop a novel </a:t>
            </a:r>
          </a:p>
          <a:p>
            <a:r>
              <a:rPr lang="en-US" altLang="zh-TW" sz="2400" dirty="0" err="1"/>
              <a:t>spatio</a:t>
            </a:r>
            <a:r>
              <a:rPr lang="en-US" altLang="zh-TW" sz="2400" dirty="0"/>
              <a:t>-temporal control chart that monitors anomalous</a:t>
            </a:r>
          </a:p>
          <a:p>
            <a:r>
              <a:rPr lang="en-US" altLang="zh-TW" sz="2400" dirty="0"/>
              <a:t>measurements by utilizing neighboring </a:t>
            </a:r>
            <a:r>
              <a:rPr lang="en-US" altLang="zh-TW" sz="2400" dirty="0" err="1"/>
              <a:t>AirBox</a:t>
            </a:r>
            <a:r>
              <a:rPr lang="en-US" altLang="zh-TW" sz="2400" dirty="0"/>
              <a:t> information.</a:t>
            </a:r>
          </a:p>
          <a:p>
            <a:r>
              <a:rPr lang="en-US" altLang="zh-TW" sz="2400" dirty="0"/>
              <a:t>Our method automatically adapts to different neighboring structures</a:t>
            </a:r>
          </a:p>
          <a:p>
            <a:r>
              <a:rPr lang="en-US" altLang="zh-TW" sz="2400" dirty="0"/>
              <a:t>at different </a:t>
            </a:r>
            <a:r>
              <a:rPr lang="en-US" altLang="zh-TW" sz="2400" dirty="0" err="1"/>
              <a:t>AirBox</a:t>
            </a:r>
            <a:r>
              <a:rPr lang="en-US" altLang="zh-TW" sz="2400" dirty="0"/>
              <a:t> locations without the need to specify</a:t>
            </a:r>
          </a:p>
          <a:p>
            <a:r>
              <a:rPr lang="en-US" altLang="zh-TW" sz="2400" dirty="0"/>
              <a:t>a neighborhood range. The proposed method has abilities to detect</a:t>
            </a:r>
          </a:p>
          <a:p>
            <a:r>
              <a:rPr lang="en-US" altLang="zh-TW" sz="2400" dirty="0"/>
              <a:t>potential emission sources, malfunctioned </a:t>
            </a:r>
            <a:r>
              <a:rPr lang="en-US" altLang="zh-TW" sz="2400" dirty="0" err="1"/>
              <a:t>AirBoxes</a:t>
            </a:r>
            <a:r>
              <a:rPr lang="en-US" altLang="zh-TW" sz="2400" dirty="0"/>
              <a:t>, </a:t>
            </a:r>
          </a:p>
          <a:p>
            <a:r>
              <a:rPr lang="en-US" altLang="zh-TW" sz="2400" dirty="0"/>
              <a:t>and </a:t>
            </a:r>
            <a:r>
              <a:rPr lang="en-US" altLang="zh-TW" sz="2400" dirty="0" err="1"/>
              <a:t>AirBoxes</a:t>
            </a:r>
            <a:r>
              <a:rPr lang="en-US" altLang="zh-TW" sz="2400" dirty="0"/>
              <a:t> that are wrongly put indoors.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34938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by Contents</a:t>
            </a:r>
            <a:endParaRPr dirty="0"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Background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Data Collection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AirBox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Mapping PM2.5 by Kriging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Comparing to Different Methods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Conclusion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Background</a:t>
            </a:r>
            <a:endParaRPr sz="4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Data Collection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1283 AirBoxes across Taiwan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1/1/17 to 2/28/17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from  Open Data Portal provided by the LASS community 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u="sng" dirty="0">
                <a:hlinkClick r:id="rId3"/>
              </a:rPr>
              <a:t>https://pm25.lass-net.org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dirty="0"/>
              <a:t>Sample rate: 5-6 min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AirBox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222275" y="423475"/>
            <a:ext cx="8520600" cy="4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/>
              <a:t>+:</a:t>
            </a:r>
            <a:endParaRPr sz="3000" b="1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+Easy to deploy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3000" b="1"/>
              <a:t>-: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-30% of data are missing 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-Are mostly placed in big cities (Taipei, Taoyuan,Taichung, Tainan, Kaohsiung)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-locations of the AirBoxes are only given to 3 decimal points (privacy issue)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-less precise compare to large monitoring stations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Mapping PM2.5 by Kriging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70C2C-5811-4822-AC58-3464A616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077"/>
            <a:ext cx="9755089" cy="707400"/>
          </a:xfrm>
        </p:spPr>
        <p:txBody>
          <a:bodyPr/>
          <a:lstStyle/>
          <a:p>
            <a:r>
              <a:rPr lang="en-US" altLang="zh-TW" sz="3200" dirty="0"/>
              <a:t>Mapping PM2.5 by kriging with robust model fitting(1/2)</a:t>
            </a:r>
            <a:endParaRPr lang="zh-TW" altLang="en-US" sz="32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7660AED-992F-46CF-96CA-4117AAFFE86A}"/>
              </a:ext>
            </a:extLst>
          </p:cNvPr>
          <p:cNvSpPr txBox="1"/>
          <p:nvPr/>
        </p:nvSpPr>
        <p:spPr>
          <a:xfrm>
            <a:off x="444617" y="947956"/>
            <a:ext cx="6540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We shall provide a PM2.5 map and its associated standard error map </a:t>
            </a:r>
          </a:p>
          <a:p>
            <a:r>
              <a:rPr lang="en-US" altLang="zh-TW" sz="1600" dirty="0"/>
              <a:t>for each time separately by fitting a separate model.</a:t>
            </a:r>
            <a:endParaRPr lang="zh-TW" altLang="en-US" sz="16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105E4D1-D14C-4AC2-BED7-2864796C5669}"/>
              </a:ext>
            </a:extLst>
          </p:cNvPr>
          <p:cNvSpPr/>
          <p:nvPr/>
        </p:nvSpPr>
        <p:spPr>
          <a:xfrm>
            <a:off x="2907596" y="3429316"/>
            <a:ext cx="28905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(Exponential </a:t>
            </a:r>
            <a:r>
              <a:rPr lang="en-US" altLang="zh-TW" dirty="0" err="1"/>
              <a:t>corvariance</a:t>
            </a:r>
            <a:r>
              <a:rPr lang="en-US" altLang="zh-TW" dirty="0"/>
              <a:t> function)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B3D2460-B82F-43C3-9356-97C534F2A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85" y="1807407"/>
            <a:ext cx="8166687" cy="1495586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2BFBCC4-E8E5-469F-A1D6-FBABD5219F2B}"/>
              </a:ext>
            </a:extLst>
          </p:cNvPr>
          <p:cNvSpPr txBox="1"/>
          <p:nvPr/>
        </p:nvSpPr>
        <p:spPr>
          <a:xfrm>
            <a:off x="3174569" y="2312153"/>
            <a:ext cx="674177" cy="5191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36FE1CE-F026-4FA9-85DA-A78B0E4164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39" y="4409060"/>
            <a:ext cx="8942522" cy="3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344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D70C2C-5811-4822-AC58-3464A616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1077"/>
            <a:ext cx="9755089" cy="707400"/>
          </a:xfrm>
        </p:spPr>
        <p:txBody>
          <a:bodyPr/>
          <a:lstStyle/>
          <a:p>
            <a:r>
              <a:rPr lang="en-US" altLang="zh-TW" sz="3200" dirty="0"/>
              <a:t>Mapping PM2.5 by kriging with robust model fitting(2/2)</a:t>
            </a:r>
            <a:endParaRPr lang="zh-TW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D49DAD-C479-4A91-896A-82E0D0F462B1}"/>
              </a:ext>
            </a:extLst>
          </p:cNvPr>
          <p:cNvSpPr/>
          <p:nvPr/>
        </p:nvSpPr>
        <p:spPr>
          <a:xfrm>
            <a:off x="709356" y="926235"/>
            <a:ext cx="26180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STIXTwoText-Bold"/>
              </a:rPr>
              <a:t>Anomaly detection</a:t>
            </a:r>
            <a:endParaRPr lang="zh-TW" altLang="en-US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110DC8-9B87-4EC8-8689-F07F229D7DAD}"/>
              </a:ext>
            </a:extLst>
          </p:cNvPr>
          <p:cNvSpPr/>
          <p:nvPr/>
        </p:nvSpPr>
        <p:spPr>
          <a:xfrm>
            <a:off x="2286000" y="138681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000" dirty="0">
                <a:latin typeface="STIXTwoText"/>
              </a:rPr>
              <a:t>Root mean squared error (RMSE)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9CB1421-78E1-4000-A088-4A3A35A23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9387" y="2062162"/>
            <a:ext cx="3705225" cy="101917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DD06F28-E086-484B-B315-F6902CF4EB56}"/>
              </a:ext>
            </a:extLst>
          </p:cNvPr>
          <p:cNvSpPr txBox="1"/>
          <p:nvPr/>
        </p:nvSpPr>
        <p:spPr>
          <a:xfrm>
            <a:off x="2536254" y="4153974"/>
            <a:ext cx="3350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If RMSE&gt;3, </a:t>
            </a:r>
            <a:r>
              <a:rPr lang="zh-TW" altLang="en-US" sz="2000" dirty="0"/>
              <a:t> </a:t>
            </a:r>
            <a:r>
              <a:rPr lang="en-US" altLang="zh-TW" sz="2000" dirty="0"/>
              <a:t>then abnormal.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452905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/>
          <p:cNvPicPr preferRelativeResize="0"/>
          <p:nvPr/>
        </p:nvPicPr>
        <p:blipFill rotWithShape="1">
          <a:blip r:embed="rId3">
            <a:alphaModFix/>
          </a:blip>
          <a:srcRect t="1430" b="-1429"/>
          <a:stretch/>
        </p:blipFill>
        <p:spPr>
          <a:xfrm>
            <a:off x="1120474" y="42550"/>
            <a:ext cx="6903063" cy="50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68757E3-19D8-4E62-8AB4-85D6001FBC0D}"/>
              </a:ext>
            </a:extLst>
          </p:cNvPr>
          <p:cNvSpPr txBox="1"/>
          <p:nvPr/>
        </p:nvSpPr>
        <p:spPr>
          <a:xfrm>
            <a:off x="6966488" y="3084163"/>
            <a:ext cx="1057038" cy="1650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975" y="0"/>
            <a:ext cx="4972050" cy="50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D353F34-37AA-4FBC-A949-B143C38C3B42}"/>
              </a:ext>
            </a:extLst>
          </p:cNvPr>
          <p:cNvSpPr txBox="1"/>
          <p:nvPr/>
        </p:nvSpPr>
        <p:spPr>
          <a:xfrm>
            <a:off x="194110" y="433952"/>
            <a:ext cx="21082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Chinese New Year</a:t>
            </a:r>
          </a:p>
          <a:p>
            <a:r>
              <a:rPr lang="en-US" altLang="zh-TW" sz="1800" dirty="0"/>
              <a:t>1/27 0:00</a:t>
            </a:r>
            <a:r>
              <a:rPr lang="zh-TW" altLang="en-US" sz="1800" dirty="0"/>
              <a:t> </a:t>
            </a:r>
            <a:r>
              <a:rPr lang="en-US" altLang="zh-TW" sz="1800" dirty="0"/>
              <a:t>eve</a:t>
            </a:r>
          </a:p>
          <a:p>
            <a:r>
              <a:rPr lang="en-US" altLang="zh-TW" sz="1800" dirty="0"/>
              <a:t>1/28 first day</a:t>
            </a:r>
            <a:endParaRPr lang="zh-TW" altLang="en-US" sz="1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297BD5D-7BBD-486A-A489-62055CCA5763}"/>
              </a:ext>
            </a:extLst>
          </p:cNvPr>
          <p:cNvSpPr txBox="1"/>
          <p:nvPr/>
        </p:nvSpPr>
        <p:spPr>
          <a:xfrm>
            <a:off x="4043481" y="1702777"/>
            <a:ext cx="1057038" cy="16505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 rotWithShape="1">
          <a:blip r:embed="rId3">
            <a:alphaModFix/>
          </a:blip>
          <a:srcRect b="1293"/>
          <a:stretch/>
        </p:blipFill>
        <p:spPr>
          <a:xfrm>
            <a:off x="2177350" y="0"/>
            <a:ext cx="4789275" cy="49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5B642FD5-464F-4F3C-B3A7-4830F6692A00}"/>
              </a:ext>
            </a:extLst>
          </p:cNvPr>
          <p:cNvSpPr txBox="1"/>
          <p:nvPr/>
        </p:nvSpPr>
        <p:spPr>
          <a:xfrm>
            <a:off x="154982" y="364210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Yu Huang’s Birthday</a:t>
            </a:r>
          </a:p>
          <a:p>
            <a:r>
              <a:rPr lang="en-US" altLang="zh-TW" sz="1800" dirty="0"/>
              <a:t>2/5</a:t>
            </a:r>
            <a:endParaRPr lang="zh-TW" alt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l="4771" t="1274" r="3820" b="6363"/>
          <a:stretch/>
        </p:blipFill>
        <p:spPr>
          <a:xfrm>
            <a:off x="2153150" y="0"/>
            <a:ext cx="4837701" cy="507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9B669699-26F6-448B-A1DE-3D615937FEF1}"/>
              </a:ext>
            </a:extLst>
          </p:cNvPr>
          <p:cNvSpPr txBox="1"/>
          <p:nvPr/>
        </p:nvSpPr>
        <p:spPr>
          <a:xfrm>
            <a:off x="209228" y="395207"/>
            <a:ext cx="1787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800" dirty="0"/>
              <a:t>Smog from</a:t>
            </a:r>
          </a:p>
          <a:p>
            <a:r>
              <a:rPr lang="en-US" altLang="zh-TW" sz="1800" dirty="0"/>
              <a:t>Mainland China</a:t>
            </a:r>
            <a:endParaRPr lang="zh-TW" alt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4.Figure and Explain</a:t>
            </a:r>
            <a:endParaRPr/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475" y="37700"/>
            <a:ext cx="8019301" cy="49693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2CB3B2C-EE41-432E-BED4-D70BCCBC11E7}"/>
              </a:ext>
            </a:extLst>
          </p:cNvPr>
          <p:cNvSpPr/>
          <p:nvPr/>
        </p:nvSpPr>
        <p:spPr>
          <a:xfrm>
            <a:off x="158607" y="451743"/>
            <a:ext cx="1627369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/>
              <a:t>RMSE&gt;3</a:t>
            </a:r>
          </a:p>
          <a:p>
            <a:endParaRPr lang="en-US" altLang="zh-TW" dirty="0"/>
          </a:p>
          <a:p>
            <a:r>
              <a:rPr lang="en-US" altLang="zh-TW" dirty="0"/>
              <a:t>and</a:t>
            </a:r>
          </a:p>
          <a:p>
            <a:endParaRPr lang="en-US" altLang="zh-TW" dirty="0"/>
          </a:p>
          <a:p>
            <a:r>
              <a:rPr lang="en-US" altLang="zh-TW" dirty="0"/>
              <a:t>Red: bias&gt;3</a:t>
            </a:r>
          </a:p>
          <a:p>
            <a:r>
              <a:rPr lang="en-US" altLang="zh-TW" dirty="0"/>
              <a:t>Yellow: bias(-3,3)</a:t>
            </a:r>
          </a:p>
          <a:p>
            <a:r>
              <a:rPr lang="en-US" altLang="zh-TW" dirty="0"/>
              <a:t>Blue: bias&lt;-3</a:t>
            </a:r>
            <a:endParaRPr lang="en" altLang="zh-TW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9"/>
          <p:cNvPicPr preferRelativeResize="0"/>
          <p:nvPr/>
        </p:nvPicPr>
        <p:blipFill rotWithShape="1">
          <a:blip r:embed="rId3">
            <a:alphaModFix/>
          </a:blip>
          <a:srcRect b="11886"/>
          <a:stretch/>
        </p:blipFill>
        <p:spPr>
          <a:xfrm>
            <a:off x="375575" y="0"/>
            <a:ext cx="7877181" cy="50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02B2B7D-6E98-4F06-86BA-62A737F05357}"/>
              </a:ext>
            </a:extLst>
          </p:cNvPr>
          <p:cNvSpPr/>
          <p:nvPr/>
        </p:nvSpPr>
        <p:spPr>
          <a:xfrm>
            <a:off x="1185491" y="196097"/>
            <a:ext cx="1588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/>
              <a:t>RMSE&gt;3 bias &gt;3 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D93093F-0F14-4DB0-85DB-02A493872B57}"/>
              </a:ext>
            </a:extLst>
          </p:cNvPr>
          <p:cNvSpPr/>
          <p:nvPr/>
        </p:nvSpPr>
        <p:spPr>
          <a:xfrm>
            <a:off x="4954844" y="248996"/>
            <a:ext cx="169790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/>
              <a:t>RMSE &gt;3 bias &lt;-3 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32C04D-16F7-4390-9DFB-2405D4C6B062}"/>
              </a:ext>
            </a:extLst>
          </p:cNvPr>
          <p:cNvSpPr/>
          <p:nvPr/>
        </p:nvSpPr>
        <p:spPr>
          <a:xfrm>
            <a:off x="1185491" y="2780599"/>
            <a:ext cx="18020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/>
              <a:t>RMSE &gt;3 bias (-3,3)</a:t>
            </a:r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E269E52-0D3C-4ED2-BE03-64BF25E56A93}"/>
              </a:ext>
            </a:extLst>
          </p:cNvPr>
          <p:cNvSpPr/>
          <p:nvPr/>
        </p:nvSpPr>
        <p:spPr>
          <a:xfrm>
            <a:off x="4954844" y="2780599"/>
            <a:ext cx="17572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TW" dirty="0"/>
              <a:t>RMSE &lt;=3, normal </a:t>
            </a:r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4.Figure and Explain</a:t>
            </a:r>
            <a:endParaRPr/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b="7859"/>
          <a:stretch/>
        </p:blipFill>
        <p:spPr>
          <a:xfrm>
            <a:off x="387125" y="0"/>
            <a:ext cx="8272749" cy="50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Comparing to Different Methods</a:t>
            </a:r>
            <a:endParaRPr sz="4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4.Figure and Explain</a:t>
            </a:r>
            <a:endParaRPr/>
          </a:p>
        </p:txBody>
      </p:sp>
      <p:sp>
        <p:nvSpPr>
          <p:cNvPr id="168" name="Google Shape;168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69" name="Google Shape;16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2" y="0"/>
            <a:ext cx="90806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75" name="Google Shape;1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66327"/>
            <a:ext cx="9144001" cy="3388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Conclusion</a:t>
            </a:r>
            <a:endParaRPr sz="4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Kriging method has lower average RMSE and average MAE.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Kriging computation becomes slower as more data provided. 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AirBoxs still provide higher measurement error than large stations.</a:t>
            </a:r>
            <a:endParaRPr dirty="0"/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Further research is needed (humidity &amp; temperature) 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END</a:t>
            </a:r>
            <a:endParaRPr sz="4800" dirty="0"/>
          </a:p>
        </p:txBody>
      </p:sp>
    </p:spTree>
    <p:extLst>
      <p:ext uri="{BB962C8B-B14F-4D97-AF65-F5344CB8AC3E}">
        <p14:creationId xmlns:p14="http://schemas.microsoft.com/office/powerpoint/2010/main" val="4174224771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803</Words>
  <Application>Microsoft Office PowerPoint</Application>
  <PresentationFormat>如螢幕大小 (16:9)</PresentationFormat>
  <Paragraphs>123</Paragraphs>
  <Slides>25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STIXTwoText-Bold</vt:lpstr>
      <vt:lpstr>STIXTwoText</vt:lpstr>
      <vt:lpstr>PT Sans Narrow</vt:lpstr>
      <vt:lpstr>Arial</vt:lpstr>
      <vt:lpstr>Times New Roman</vt:lpstr>
      <vt:lpstr>Open Sans</vt:lpstr>
      <vt:lpstr>Tropic</vt:lpstr>
      <vt:lpstr> Real-time PM2.5 mapping and anomaly detection from AirBoxes in Taiwan</vt:lpstr>
      <vt:lpstr>Abstract(1/2)</vt:lpstr>
      <vt:lpstr>Abstract(2/2)</vt:lpstr>
      <vt:lpstr>Table by Contents</vt:lpstr>
      <vt:lpstr>Background</vt:lpstr>
      <vt:lpstr>Data Collection</vt:lpstr>
      <vt:lpstr>PowerPoint 簡報</vt:lpstr>
      <vt:lpstr>AirBox</vt:lpstr>
      <vt:lpstr>PowerPoint 簡報</vt:lpstr>
      <vt:lpstr>Mapping PM2.5 by Kriging</vt:lpstr>
      <vt:lpstr>Mapping PM2.5 by kriging with robust model fitting(1/2)</vt:lpstr>
      <vt:lpstr>Mapping PM2.5 by kriging with robust model fitting(2/2)</vt:lpstr>
      <vt:lpstr>PowerPoint 簡報</vt:lpstr>
      <vt:lpstr>PowerPoint 簡報</vt:lpstr>
      <vt:lpstr>PowerPoint 簡報</vt:lpstr>
      <vt:lpstr>PowerPoint 簡報</vt:lpstr>
      <vt:lpstr>4.Figure and Explain</vt:lpstr>
      <vt:lpstr>PowerPoint 簡報</vt:lpstr>
      <vt:lpstr>4.Figure and Explain</vt:lpstr>
      <vt:lpstr>Comparing to Different Methods</vt:lpstr>
      <vt:lpstr>4.Figure and Explain</vt:lpstr>
      <vt:lpstr>PowerPoint 簡報</vt:lpstr>
      <vt:lpstr>Conclusion</vt:lpstr>
      <vt:lpstr>PowerPoint 簡報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Real-time PM2.5 mapping and anomaly detection from AirBoxes in Taiwan</dc:title>
  <cp:lastModifiedBy>YanLee</cp:lastModifiedBy>
  <cp:revision>27</cp:revision>
  <dcterms:modified xsi:type="dcterms:W3CDTF">2019-08-20T11:04:01Z</dcterms:modified>
</cp:coreProperties>
</file>