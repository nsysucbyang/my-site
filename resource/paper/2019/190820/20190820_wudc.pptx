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61" d="100"/>
          <a:sy n="61" d="100"/>
        </p:scale>
        <p:origin x="7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2019/8/20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455" y="1715998"/>
            <a:ext cx="10520193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Quadratic-time algorithm for a string constrained LCS problem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003983"/>
            <a:ext cx="9144000" cy="425017"/>
          </a:xfrm>
        </p:spPr>
        <p:txBody>
          <a:bodyPr>
            <a:noAutofit/>
          </a:bodyPr>
          <a:lstStyle/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Sebastian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endParaRPr lang="pl-PL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3073006" y="3873343"/>
            <a:ext cx="60460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112 (2012) 423–426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270574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8875612" y="5480859"/>
            <a:ext cx="2671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Aug. </a:t>
            </a:r>
            <a:r>
              <a:rPr lang="en-US" altLang="zh-TW" sz="2400">
                <a:latin typeface="Times New Roman" panose="02020603050405020304" pitchFamily="18" charset="0"/>
                <a:cs typeface="Times New Roman" panose="02020603050405020304" pitchFamily="18" charset="0"/>
              </a:rPr>
              <a:t>20,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39EF1E7-604C-4E09-A7D2-D4B34B06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60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finding a longest common subsequence of two main sequences with some constraint that must be a substring of the result (STR-IC-LCS) was formulated recently. It is a variant of the constrained longest common subsequence problem. As the known algorithms for the STR-IC-LCS problem are cubic-time, the presented quadratic-time algorithm is significantly faster.</a:t>
            </a:r>
          </a:p>
        </p:txBody>
      </p:sp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subsequence(CLCS)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cca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accatg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longest common subsequence(CLCS)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gccac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accatg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agt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aggccac</a:t>
            </a:r>
            <a:r>
              <a:rPr lang="en-US" altLang="zh-TW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accatg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STR-IC-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ttg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95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367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STR-IC-LCS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AB5D28D4-84BC-4EFD-9DA1-E70F18DBE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64273"/>
              </p:ext>
            </p:extLst>
          </p:nvPr>
        </p:nvGraphicFramePr>
        <p:xfrm>
          <a:off x="863367" y="1503307"/>
          <a:ext cx="4652304" cy="4720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7692">
                  <a:extLst>
                    <a:ext uri="{9D8B030D-6E8A-4147-A177-3AD203B41FA5}">
                      <a16:colId xmlns:a16="http://schemas.microsoft.com/office/drawing/2014/main" xmlns="" val="1310680245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671121760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799706030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1182772875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451391024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2678951316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1219632673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1161241817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786380172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311783336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807612324"/>
                    </a:ext>
                  </a:extLst>
                </a:gridCol>
                <a:gridCol w="387692">
                  <a:extLst>
                    <a:ext uri="{9D8B030D-6E8A-4147-A177-3AD203B41FA5}">
                      <a16:colId xmlns:a16="http://schemas.microsoft.com/office/drawing/2014/main" xmlns="" val="3995815356"/>
                    </a:ext>
                  </a:extLst>
                </a:gridCol>
              </a:tblGrid>
              <a:tr h="387692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095485184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168171562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608412453"/>
                  </a:ext>
                </a:extLst>
              </a:tr>
              <a:tr h="3348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4072779801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989283627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686330037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17934635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255862983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87132380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87341408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887990952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68025385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4D3CB69F-291F-4546-9B3C-D9BBFF560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814072"/>
              </p:ext>
            </p:extLst>
          </p:nvPr>
        </p:nvGraphicFramePr>
        <p:xfrm>
          <a:off x="6305725" y="1503307"/>
          <a:ext cx="4294440" cy="47203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7870">
                  <a:extLst>
                    <a:ext uri="{9D8B030D-6E8A-4147-A177-3AD203B41FA5}">
                      <a16:colId xmlns:a16="http://schemas.microsoft.com/office/drawing/2014/main" xmlns="" val="1310680245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799706030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1182772875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451391024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2678951316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1219632673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1161241817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786380172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311783336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807612324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995815356"/>
                    </a:ext>
                  </a:extLst>
                </a:gridCol>
                <a:gridCol w="357870">
                  <a:extLst>
                    <a:ext uri="{9D8B030D-6E8A-4147-A177-3AD203B41FA5}">
                      <a16:colId xmlns:a16="http://schemas.microsoft.com/office/drawing/2014/main" xmlns="" val="3014859605"/>
                    </a:ext>
                  </a:extLst>
                </a:gridCol>
              </a:tblGrid>
              <a:tr h="387692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095485184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608412453"/>
                  </a:ext>
                </a:extLst>
              </a:tr>
              <a:tr h="3348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4072779801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989283627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686330037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17934635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255862983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87132380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873414085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1887990952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2680253856"/>
                  </a:ext>
                </a:extLst>
              </a:tr>
              <a:tr h="387692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564" marR="88564" marT="44282" marB="44282"/>
                </a:tc>
                <a:extLst>
                  <a:ext uri="{0D108BD9-81ED-4DB2-BD59-A6C34878D82A}">
                    <a16:rowId xmlns:a16="http://schemas.microsoft.com/office/drawing/2014/main" xmlns="" val="3221807478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DBDDFE77-F2DB-4720-A761-08AD2739C081}"/>
              </a:ext>
            </a:extLst>
          </p:cNvPr>
          <p:cNvSpPr txBox="1"/>
          <p:nvPr/>
        </p:nvSpPr>
        <p:spPr>
          <a:xfrm>
            <a:off x="2593900" y="1036761"/>
            <a:ext cx="1191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matrix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2773F2FC-4BAE-42B0-A36A-62CF1218D000}"/>
              </a:ext>
            </a:extLst>
          </p:cNvPr>
          <p:cNvSpPr txBox="1"/>
          <p:nvPr/>
        </p:nvSpPr>
        <p:spPr>
          <a:xfrm>
            <a:off x="7857326" y="1030109"/>
            <a:ext cx="11912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matrix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圓形: 空心 8">
            <a:extLst>
              <a:ext uri="{FF2B5EF4-FFF2-40B4-BE49-F238E27FC236}">
                <a16:creationId xmlns:a16="http://schemas.microsoft.com/office/drawing/2014/main" xmlns="" id="{F15B27D8-590C-4E6C-895D-CF19DEB62DF1}"/>
              </a:ext>
            </a:extLst>
          </p:cNvPr>
          <p:cNvSpPr/>
          <p:nvPr/>
        </p:nvSpPr>
        <p:spPr>
          <a:xfrm>
            <a:off x="2038524" y="2310485"/>
            <a:ext cx="352337" cy="352337"/>
          </a:xfrm>
          <a:prstGeom prst="donut">
            <a:avLst>
              <a:gd name="adj" fmla="val 59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0" name="圓形: 空心 9">
            <a:extLst>
              <a:ext uri="{FF2B5EF4-FFF2-40B4-BE49-F238E27FC236}">
                <a16:creationId xmlns:a16="http://schemas.microsoft.com/office/drawing/2014/main" xmlns="" id="{37EB20B3-0203-4F8F-9358-F40FC46087AA}"/>
              </a:ext>
            </a:extLst>
          </p:cNvPr>
          <p:cNvSpPr/>
          <p:nvPr/>
        </p:nvSpPr>
        <p:spPr>
          <a:xfrm>
            <a:off x="2038524" y="3863491"/>
            <a:ext cx="352337" cy="352337"/>
          </a:xfrm>
          <a:prstGeom prst="donut">
            <a:avLst>
              <a:gd name="adj" fmla="val 59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圓形: 空心 10">
            <a:extLst>
              <a:ext uri="{FF2B5EF4-FFF2-40B4-BE49-F238E27FC236}">
                <a16:creationId xmlns:a16="http://schemas.microsoft.com/office/drawing/2014/main" xmlns="" id="{B33D2D9C-1A54-45F4-A667-DB7B5E03492F}"/>
              </a:ext>
            </a:extLst>
          </p:cNvPr>
          <p:cNvSpPr/>
          <p:nvPr/>
        </p:nvSpPr>
        <p:spPr>
          <a:xfrm>
            <a:off x="8809838" y="5475554"/>
            <a:ext cx="352337" cy="352337"/>
          </a:xfrm>
          <a:prstGeom prst="donut">
            <a:avLst>
              <a:gd name="adj" fmla="val 59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19ED4218-C23C-40BE-873F-035267B506FF}"/>
              </a:ext>
            </a:extLst>
          </p:cNvPr>
          <p:cNvSpPr txBox="1"/>
          <p:nvPr/>
        </p:nvSpPr>
        <p:spPr>
          <a:xfrm>
            <a:off x="5377343" y="1030108"/>
            <a:ext cx="1124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</a:t>
            </a:r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aga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E686E636-71A9-4101-82C7-39A91AD660ED}"/>
              </a:ext>
            </a:extLst>
          </p:cNvPr>
          <p:cNvCxnSpPr>
            <a:cxnSpLocks/>
          </p:cNvCxnSpPr>
          <p:nvPr/>
        </p:nvCxnSpPr>
        <p:spPr>
          <a:xfrm flipH="1" flipV="1">
            <a:off x="1879134" y="3742896"/>
            <a:ext cx="159390" cy="198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xmlns="" id="{10DD093E-044B-4124-8538-19F29AA0C4D3}"/>
              </a:ext>
            </a:extLst>
          </p:cNvPr>
          <p:cNvCxnSpPr>
            <a:cxnSpLocks/>
          </p:cNvCxnSpPr>
          <p:nvPr/>
        </p:nvCxnSpPr>
        <p:spPr>
          <a:xfrm flipH="1" flipV="1">
            <a:off x="1512140" y="3329561"/>
            <a:ext cx="159390" cy="198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xmlns="" id="{401FA2C9-0349-4C20-A139-1A44942B3D33}"/>
              </a:ext>
            </a:extLst>
          </p:cNvPr>
          <p:cNvCxnSpPr>
            <a:cxnSpLocks/>
          </p:cNvCxnSpPr>
          <p:nvPr/>
        </p:nvCxnSpPr>
        <p:spPr>
          <a:xfrm>
            <a:off x="9064301" y="5764111"/>
            <a:ext cx="195747" cy="2121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D2A210D1-86C2-4354-B87C-A976E022A0EE}"/>
              </a:ext>
            </a:extLst>
          </p:cNvPr>
          <p:cNvCxnSpPr>
            <a:cxnSpLocks/>
          </p:cNvCxnSpPr>
          <p:nvPr/>
        </p:nvCxnSpPr>
        <p:spPr>
          <a:xfrm flipH="1" flipV="1">
            <a:off x="1958829" y="2150749"/>
            <a:ext cx="159390" cy="198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19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xmlns="" id="{652F1AAC-13A7-4F2E-8939-B8B124487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i’={min{q} | p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subsequence of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}</a:t>
                </a:r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j’={min{q} | p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subsequence of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}</a:t>
                </a:r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−1, 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a:rPr lang="en-US" altLang="zh-TW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F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+1                </m:t>
                            </m:r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1, 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a:rPr lang="en-US" altLang="zh-TW" i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i</m:t>
                                        </m:r>
                                        <m: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j</m:t>
                                        </m:r>
                                        <m:r>
                                          <a:rPr lang="en-US" altLang="zh-TW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TW" i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  <m:r>
                              <a:rPr lang="en-US" altLang="zh-TW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   </m:t>
                            </m:r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if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altLang="zh-TW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en-US" altLang="zh-TW" i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= max{F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 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i’, j’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 - 2} if p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52F1AAC-13A7-4F2E-8939-B8B124487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513"/>
                <a:ext cx="10515600" cy="5044449"/>
              </a:xfrm>
              <a:blipFill rotWithShape="0">
                <a:blip r:embed="rId2"/>
                <a:stretch>
                  <a:fillRect l="-1217" t="-2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8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84FAA2C0-C8F6-4E74-B830-476161AAA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605" y="1034473"/>
            <a:ext cx="6752789" cy="56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0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826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3931</TotalTime>
  <Words>481</Words>
  <Application>Microsoft Office PowerPoint</Application>
  <PresentationFormat>寬螢幕</PresentationFormat>
  <Paragraphs>335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Quadratic-time algorithm for a string constrained LCS problem</vt:lpstr>
      <vt:lpstr>Abstract</vt:lpstr>
      <vt:lpstr>constrained longest common subsequence(CLCS)</vt:lpstr>
      <vt:lpstr>constrained longest common subsequence(CLCS)</vt:lpstr>
      <vt:lpstr>STR-IC-LCS</vt:lpstr>
      <vt:lpstr>STR-IC-LCS</vt:lpstr>
      <vt:lpstr>Algorithm</vt:lpstr>
      <vt:lpstr>Algorithm</vt:lpstr>
      <vt:lpstr>Complexity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265</cp:revision>
  <dcterms:created xsi:type="dcterms:W3CDTF">2018-09-30T05:00:05Z</dcterms:created>
  <dcterms:modified xsi:type="dcterms:W3CDTF">2019-08-20T11:04:56Z</dcterms:modified>
</cp:coreProperties>
</file>