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72" r:id="rId2"/>
    <p:sldId id="273" r:id="rId3"/>
    <p:sldId id="315" r:id="rId4"/>
    <p:sldId id="290" r:id="rId5"/>
    <p:sldId id="316" r:id="rId6"/>
    <p:sldId id="314" r:id="rId7"/>
    <p:sldId id="306" r:id="rId8"/>
    <p:sldId id="317" r:id="rId9"/>
    <p:sldId id="311"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EC917-2184-4946-BB82-84EF861DCF35}" type="datetimeFigureOut">
              <a:rPr lang="zh-TW" altLang="en-US" smtClean="0"/>
              <a:t>2019/9/10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4844C-1032-416A-8E33-99B56B001B47}" type="slidenum">
              <a:rPr lang="zh-TW" altLang="en-US" smtClean="0"/>
              <a:t>‹#›</a:t>
            </a:fld>
            <a:endParaRPr lang="zh-TW" altLang="en-US"/>
          </a:p>
        </p:txBody>
      </p:sp>
    </p:spTree>
    <p:extLst>
      <p:ext uri="{BB962C8B-B14F-4D97-AF65-F5344CB8AC3E}">
        <p14:creationId xmlns:p14="http://schemas.microsoft.com/office/powerpoint/2010/main" val="1625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91E9FB-D310-4BD9-851D-6425E632172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5CC2D6F-06AF-4931-9709-FCA05DC51E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05EB6B2-427A-4CAE-9619-FAB6B597D067}"/>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3769ABC4-7C32-44E3-9772-E2B3357F93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55D64BD-9081-466C-8D01-FBF7065B753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788892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11C1B-A165-4738-A98E-CDF82413A0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B1918-D436-4343-9D7A-DF8FD42C6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AC802BB-9E18-4069-B6E3-D70E229B8AC6}"/>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4D17E016-6221-4C76-A778-1966A7E223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950188-5923-4BE5-BBF8-007D2F5AFF0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388863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CEA3C-318E-4A4F-A7B9-E2D385E1145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363CFCA-1D31-4F2D-A2FA-912CBE68D1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3F6391A-F661-4379-94A2-4643E5BF5D69}"/>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695108C4-69A9-44CA-89F5-763AB52A95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3FF97E-7194-4B2D-8634-E29DD61DA603}"/>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93059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2C97B-1F56-4785-8A30-DA86E60AABC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F29B196-61A8-4EA9-B0FF-4353875D02FE}"/>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9105522-46EF-4155-B59E-FF1C09A5425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82E778C-6D5C-4349-B49E-A36748FD2C5F}"/>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6" name="頁尾版面配置區 5">
            <a:extLst>
              <a:ext uri="{FF2B5EF4-FFF2-40B4-BE49-F238E27FC236}">
                <a16:creationId xmlns:a16="http://schemas.microsoft.com/office/drawing/2014/main" id="{7706EA42-D460-4907-9704-D34B3B57C4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7E264FC-4808-4790-BD8F-8211BE53721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76290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7751A-93CE-4DE8-B797-C436DD9F5C1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A2ABA1-97A7-4A9B-8822-523C38177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E16E0FC9-B7AA-41A0-B866-A41045B3414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FC33553-8EC2-4658-A3F0-AC45384FB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503BC847-C398-4803-A4DB-B409F0FA9B54}"/>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8638424-171A-4453-A77D-F5E415EF2FA5}"/>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8" name="頁尾版面配置區 7">
            <a:extLst>
              <a:ext uri="{FF2B5EF4-FFF2-40B4-BE49-F238E27FC236}">
                <a16:creationId xmlns:a16="http://schemas.microsoft.com/office/drawing/2014/main" id="{C80A086D-9FDA-468B-AAB3-0018938B86E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DC85732-9691-4144-9A38-E61C8463996B}"/>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68695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441B06-8711-4961-AEB7-AEE157FB58E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2D84982-DA61-40F8-865E-241B2E63E5CB}"/>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4" name="頁尾版面配置區 3">
            <a:extLst>
              <a:ext uri="{FF2B5EF4-FFF2-40B4-BE49-F238E27FC236}">
                <a16:creationId xmlns:a16="http://schemas.microsoft.com/office/drawing/2014/main" id="{688FECA4-B1F2-4027-8D2C-8751FB26680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9751A0D-D313-4013-94A2-D4003C17EC3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08323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B4FDBCA-0F26-49FD-AD09-208FE47B41BB}"/>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3" name="頁尾版面配置區 2">
            <a:extLst>
              <a:ext uri="{FF2B5EF4-FFF2-40B4-BE49-F238E27FC236}">
                <a16:creationId xmlns:a16="http://schemas.microsoft.com/office/drawing/2014/main" id="{A1FBB2FB-5464-4A73-AE50-DCF81B3AC41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6065D78-C5F8-47FF-AA94-888FCEFD417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89903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5D31BA-37F1-4225-B290-CB3296CD2E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44D63C7-7D4E-47D8-B09A-DDD52D895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A09B261-64A1-45E3-BCCC-4B347BCEF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21D7D45-2485-430D-85B6-E0EDD74702FF}"/>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6" name="頁尾版面配置區 5">
            <a:extLst>
              <a:ext uri="{FF2B5EF4-FFF2-40B4-BE49-F238E27FC236}">
                <a16:creationId xmlns:a16="http://schemas.microsoft.com/office/drawing/2014/main" id="{F0B9DB85-5A5B-48DF-A996-3201B8D8780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B426B7C-FD89-4D9B-887E-55B2A0158F04}"/>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85054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B7B3C-2DD9-46E7-A713-12783EFB8ED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29D5A80-7E30-4CE2-9F20-F249813FD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DD48E2E-ABAE-41A2-9298-3BB31EBF90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BA1B74B-A084-41FB-850C-9D7955CBFB7B}"/>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6" name="頁尾版面配置區 5">
            <a:extLst>
              <a:ext uri="{FF2B5EF4-FFF2-40B4-BE49-F238E27FC236}">
                <a16:creationId xmlns:a16="http://schemas.microsoft.com/office/drawing/2014/main" id="{EB315B08-E79A-42EE-A2FC-F1C68A51BDD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3802BE-840F-4C01-9050-6E70D196A1E0}"/>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63283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FC5363-AA72-4929-A8D8-981DE83CCA8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0E5AE7-6730-4E4A-A491-978032D4A82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24A45A-6563-4F21-B472-F95E7E9351DD}"/>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2BEF7F7B-52C7-426B-9978-644A1D1D5C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5A41F3-8A5F-4AA2-BC76-BA2BC35462E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58633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176A2CC-7A46-4F55-85C4-AA9FCEBA247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43CA45E-F614-4C8C-8C28-E5CB2DA98D4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E923DF-42AC-42EC-8C59-8AE2A2D288D2}"/>
              </a:ext>
            </a:extLst>
          </p:cNvPr>
          <p:cNvSpPr>
            <a:spLocks noGrp="1"/>
          </p:cNvSpPr>
          <p:nvPr>
            <p:ph type="dt" sz="half" idx="10"/>
          </p:nvPr>
        </p:nvSpPr>
        <p:spPr/>
        <p:txBody>
          <a:body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05EF9B0E-8C96-4598-AD8E-7166BFAB20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AC7952-2B0D-4AEE-853B-D7C07AA430E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82451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CAC3753-89D0-4CF8-9AD2-2EDC07588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D946258-EAA0-48EF-BC94-91018787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B7139B-A4A4-4FF6-8485-DAC90BA55F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304E5-8391-4D43-B972-962346D4BFC4}" type="datetimeFigureOut">
              <a:rPr lang="zh-TW" altLang="en-US" smtClean="0"/>
              <a:t>2019/9/10</a:t>
            </a:fld>
            <a:endParaRPr lang="zh-TW" altLang="en-US"/>
          </a:p>
        </p:txBody>
      </p:sp>
      <p:sp>
        <p:nvSpPr>
          <p:cNvPr id="5" name="頁尾版面配置區 4">
            <a:extLst>
              <a:ext uri="{FF2B5EF4-FFF2-40B4-BE49-F238E27FC236}">
                <a16:creationId xmlns:a16="http://schemas.microsoft.com/office/drawing/2014/main" id="{CCF0E61B-8D31-44C4-971C-1AE9FB565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5CA5F1E-BB32-417E-9E65-5152DAF7A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67088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80D9A5-7987-4C31-A5AA-53D6FFA13CC9}"/>
              </a:ext>
            </a:extLst>
          </p:cNvPr>
          <p:cNvSpPr>
            <a:spLocks noGrp="1"/>
          </p:cNvSpPr>
          <p:nvPr>
            <p:ph type="ctrTitle"/>
          </p:nvPr>
        </p:nvSpPr>
        <p:spPr>
          <a:xfrm>
            <a:off x="380042" y="896191"/>
            <a:ext cx="11431915" cy="1754730"/>
          </a:xfrm>
        </p:spPr>
        <p:txBody>
          <a:bodyPr>
            <a:normAutofit fontScale="90000"/>
          </a:bodyPr>
          <a:lstStyle/>
          <a:p>
            <a:r>
              <a:rPr lang="en-US" altLang="zh-TW" dirty="0">
                <a:latin typeface="Times New Roman" panose="02020603050405020304" pitchFamily="18" charset="0"/>
                <a:cs typeface="Times New Roman" panose="02020603050405020304" pitchFamily="18" charset="0"/>
              </a:rPr>
              <a:t>Flexible and Efficient Algorithms for Abelian Matching in Genome Sequence</a:t>
            </a:r>
          </a:p>
        </p:txBody>
      </p:sp>
      <p:sp>
        <p:nvSpPr>
          <p:cNvPr id="3" name="副標題 2">
            <a:extLst>
              <a:ext uri="{FF2B5EF4-FFF2-40B4-BE49-F238E27FC236}">
                <a16:creationId xmlns:a16="http://schemas.microsoft.com/office/drawing/2014/main" id="{1DE7FB8B-5E0F-4EA3-A472-0229D27A7FA6}"/>
              </a:ext>
            </a:extLst>
          </p:cNvPr>
          <p:cNvSpPr>
            <a:spLocks noGrp="1"/>
          </p:cNvSpPr>
          <p:nvPr>
            <p:ph type="subTitle" idx="1"/>
          </p:nvPr>
        </p:nvSpPr>
        <p:spPr>
          <a:xfrm>
            <a:off x="668322" y="3023004"/>
            <a:ext cx="10855354" cy="3266355"/>
          </a:xfrm>
        </p:spPr>
        <p:txBody>
          <a:bodyPr>
            <a:normAutofit/>
          </a:bodyPr>
          <a:lstStyle/>
          <a:p>
            <a:r>
              <a:rPr lang="it-IT" altLang="zh-TW" dirty="0">
                <a:latin typeface="Times New Roman" panose="02020603050405020304" pitchFamily="18" charset="0"/>
                <a:cs typeface="Times New Roman" panose="02020603050405020304" pitchFamily="18" charset="0"/>
              </a:rPr>
              <a:t>Simone Faro and Arianna Pavone</a:t>
            </a:r>
            <a:br>
              <a:rPr lang="en-US" altLang="zh-TW" dirty="0">
                <a:latin typeface="Times New Roman" panose="02020603050405020304" pitchFamily="18" charset="0"/>
                <a:cs typeface="Times New Roman" panose="02020603050405020304" pitchFamily="18" charset="0"/>
              </a:rPr>
            </a:b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Proceedings of International Work-Conference on Bioinformatics and Biomedical Engineering (IWBBIO), Granada, Spain, May 5-7, 2019,  pp. 307-318</a:t>
            </a:r>
          </a:p>
          <a:p>
            <a:br>
              <a:rPr lang="fi-FI" altLang="zh-TW" b="1" i="1" dirty="0">
                <a:latin typeface="Times New Roman" panose="02020603050405020304" pitchFamily="18" charset="0"/>
                <a:cs typeface="Times New Roman" panose="02020603050405020304" pitchFamily="18" charset="0"/>
              </a:rPr>
            </a:br>
            <a:br>
              <a:rPr lang="fi-FI" altLang="zh-TW" b="1" i="1"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Speaker:</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Kuan</a:t>
            </a:r>
            <a:r>
              <a:rPr lang="en-US" altLang="zh-TW" dirty="0">
                <a:latin typeface="Times New Roman" panose="02020603050405020304" pitchFamily="18" charset="0"/>
                <a:cs typeface="Times New Roman" panose="02020603050405020304" pitchFamily="18" charset="0"/>
              </a:rPr>
              <a:t>-Lin Lai</a:t>
            </a:r>
          </a:p>
          <a:p>
            <a:r>
              <a:rPr lang="en-US" altLang="zh-TW" dirty="0">
                <a:latin typeface="Times New Roman" panose="02020603050405020304" pitchFamily="18" charset="0"/>
                <a:cs typeface="Times New Roman" panose="02020603050405020304" pitchFamily="18" charset="0"/>
              </a:rPr>
              <a:t>Date: Sept. 10, 2019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14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ED643E-E99E-4F12-92FE-709248FF7FF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FB915B7-780A-4747-AA36-2299BB46935A}"/>
              </a:ext>
            </a:extLst>
          </p:cNvPr>
          <p:cNvSpPr>
            <a:spLocks noGrp="1"/>
          </p:cNvSpPr>
          <p:nvPr>
            <p:ph idx="1"/>
          </p:nvPr>
        </p:nvSpPr>
        <p:spPr>
          <a:xfrm>
            <a:off x="838200" y="1690688"/>
            <a:ext cx="10746996" cy="4351338"/>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Approximate matching in strings is a fundamental and challenging problem in computer science and in computational biology, and increasingly fast algorithms are highly demanded in many applications including text processing and </a:t>
            </a:r>
            <a:r>
              <a:rPr lang="en-US" altLang="zh-TW" dirty="0" err="1">
                <a:latin typeface="Times New Roman" panose="02020603050405020304" pitchFamily="18" charset="0"/>
                <a:cs typeface="Times New Roman" panose="02020603050405020304" pitchFamily="18" charset="0"/>
              </a:rPr>
              <a:t>dna</a:t>
            </a:r>
            <a:r>
              <a:rPr lang="en-US" altLang="zh-TW" dirty="0">
                <a:latin typeface="Times New Roman" panose="02020603050405020304" pitchFamily="18" charset="0"/>
                <a:cs typeface="Times New Roman" panose="02020603050405020304" pitchFamily="18" charset="0"/>
              </a:rPr>
              <a:t> sequence analysis. Recently efficient solutions to specific approximate matching problems on genomic sequences have been designed using a filtering technique, based on the general abelian matching problem, which firstly locates the set of all candidate matching positions and then perform an additional verification test on the collected positions.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6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299DA4-BD0D-4E1C-90CC-7A5E731F938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D64B203A-D7A8-427F-9853-1DD85A5E70A2}"/>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The abelian pattern matching problem consists in finding all substrings of a text which are permutations of a given pattern. In this paper we present a new class of algorithms based on a new efficient fingerprint computation approach, called Heap-Counting, which turns out to be fast, flexible and easy to be implemented. We prove that, when applied for searching short patterns on a </a:t>
            </a:r>
            <a:r>
              <a:rPr lang="en-US" altLang="zh-TW" dirty="0" err="1">
                <a:latin typeface="Times New Roman" panose="02020603050405020304" pitchFamily="18" charset="0"/>
                <a:cs typeface="Times New Roman" panose="02020603050405020304" pitchFamily="18" charset="0"/>
              </a:rPr>
              <a:t>dna</a:t>
            </a:r>
            <a:r>
              <a:rPr lang="en-US" altLang="zh-TW" dirty="0">
                <a:latin typeface="Times New Roman" panose="02020603050405020304" pitchFamily="18" charset="0"/>
                <a:cs typeface="Times New Roman" panose="02020603050405020304" pitchFamily="18" charset="0"/>
              </a:rPr>
              <a:t> sequence, our solutions have a linear worst case time complexity. In addition we present an experimental evaluation which shows that our newly presented algorithms are among the most efficient and flexible solutions in practice for the abelian matching problem in </a:t>
            </a:r>
            <a:r>
              <a:rPr lang="en-US" altLang="zh-TW" dirty="0" err="1">
                <a:latin typeface="Times New Roman" panose="02020603050405020304" pitchFamily="18" charset="0"/>
                <a:cs typeface="Times New Roman" panose="02020603050405020304" pitchFamily="18" charset="0"/>
              </a:rPr>
              <a:t>dna</a:t>
            </a:r>
            <a:r>
              <a:rPr lang="en-US" altLang="zh-TW" dirty="0">
                <a:latin typeface="Times New Roman" panose="02020603050405020304" pitchFamily="18" charset="0"/>
                <a:cs typeface="Times New Roman" panose="02020603050405020304" pitchFamily="18" charset="0"/>
              </a:rPr>
              <a:t> sequences.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369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899552-D171-41FD-90EB-C05AA95FCFB7}"/>
              </a:ext>
            </a:extLst>
          </p:cNvPr>
          <p:cNvSpPr>
            <a:spLocks noGrp="1"/>
          </p:cNvSpPr>
          <p:nvPr>
            <p:ph type="title"/>
          </p:nvPr>
        </p:nvSpPr>
        <p:spPr>
          <a:xfrm>
            <a:off x="545285" y="365125"/>
            <a:ext cx="11409028"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Abelian pattern matching problem</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ACE9963-43F0-4BCA-85E9-167906163823}"/>
              </a:ext>
            </a:extLst>
          </p:cNvPr>
          <p:cNvSpPr>
            <a:spLocks noGrp="1"/>
          </p:cNvSpPr>
          <p:nvPr>
            <p:ph idx="1"/>
          </p:nvPr>
        </p:nvSpPr>
        <p:spPr>
          <a:xfrm>
            <a:off x="1071692" y="2044006"/>
            <a:ext cx="1037443" cy="690806"/>
          </a:xfrm>
        </p:spPr>
        <p:txBody>
          <a:bodyPr>
            <a:normAutofit/>
          </a:bodyPr>
          <a:lstStyle/>
          <a:p>
            <a:r>
              <a:rPr lang="en-US" altLang="zh-TW" dirty="0">
                <a:latin typeface="Times New Roman" panose="02020603050405020304" pitchFamily="18" charset="0"/>
                <a:cs typeface="Times New Roman" panose="02020603050405020304" pitchFamily="18" charset="0"/>
              </a:rPr>
              <a:t>Ex:</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28781E41-E35B-40A5-A950-2F75071EC2BC}"/>
              </a:ext>
            </a:extLst>
          </p:cNvPr>
          <p:cNvSpPr txBox="1"/>
          <p:nvPr/>
        </p:nvSpPr>
        <p:spPr>
          <a:xfrm>
            <a:off x="1734798" y="3855378"/>
            <a:ext cx="8872054" cy="1077218"/>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Finding all permutations match x:  </a:t>
            </a:r>
            <a:br>
              <a:rPr lang="en-US" altLang="zh-TW" sz="2800" dirty="0">
                <a:latin typeface="Times New Roman" panose="02020603050405020304" pitchFamily="18" charset="0"/>
                <a:cs typeface="Times New Roman" panose="02020603050405020304" pitchFamily="18" charset="0"/>
              </a:rPr>
            </a:br>
            <a:r>
              <a:rPr lang="en-US" altLang="zh-TW" sz="3600" dirty="0" err="1">
                <a:latin typeface="Times New Roman" panose="02020603050405020304" pitchFamily="18" charset="0"/>
                <a:cs typeface="Times New Roman" panose="02020603050405020304" pitchFamily="18" charset="0"/>
              </a:rPr>
              <a:t>ccgata</a:t>
            </a:r>
            <a:r>
              <a:rPr lang="en-US" altLang="zh-TW" sz="3600" dirty="0">
                <a:latin typeface="Times New Roman" panose="02020603050405020304" pitchFamily="18" charset="0"/>
                <a:cs typeface="Times New Roman" panose="02020603050405020304" pitchFamily="18" charset="0"/>
              </a:rPr>
              <a:t>, </a:t>
            </a:r>
            <a:r>
              <a:rPr lang="en-US" altLang="zh-TW" sz="3600" dirty="0" err="1">
                <a:latin typeface="Times New Roman" panose="02020603050405020304" pitchFamily="18" charset="0"/>
                <a:cs typeface="Times New Roman" panose="02020603050405020304" pitchFamily="18" charset="0"/>
              </a:rPr>
              <a:t>cgatac</a:t>
            </a:r>
            <a:r>
              <a:rPr lang="en-US" altLang="zh-TW" sz="3600" dirty="0">
                <a:latin typeface="Times New Roman" panose="02020603050405020304" pitchFamily="18" charset="0"/>
                <a:cs typeface="Times New Roman" panose="02020603050405020304" pitchFamily="18" charset="0"/>
              </a:rPr>
              <a:t>, </a:t>
            </a:r>
            <a:r>
              <a:rPr lang="en-US" altLang="zh-TW" sz="3600" dirty="0" err="1">
                <a:latin typeface="Times New Roman" panose="02020603050405020304" pitchFamily="18" charset="0"/>
                <a:cs typeface="Times New Roman" panose="02020603050405020304" pitchFamily="18" charset="0"/>
              </a:rPr>
              <a:t>atacgc</a:t>
            </a:r>
            <a:r>
              <a:rPr lang="en-US" altLang="zh-TW" sz="3600" dirty="0">
                <a:latin typeface="Times New Roman" panose="02020603050405020304" pitchFamily="18" charset="0"/>
                <a:cs typeface="Times New Roman" panose="02020603050405020304" pitchFamily="18" charset="0"/>
              </a:rPr>
              <a:t>, </a:t>
            </a:r>
            <a:r>
              <a:rPr lang="en-US" altLang="zh-TW" sz="3600" dirty="0" err="1">
                <a:latin typeface="Times New Roman" panose="02020603050405020304" pitchFamily="18" charset="0"/>
                <a:cs typeface="Times New Roman" panose="02020603050405020304" pitchFamily="18" charset="0"/>
              </a:rPr>
              <a:t>tacgca</a:t>
            </a:r>
            <a:r>
              <a:rPr lang="en-US" altLang="zh-TW" sz="3600" dirty="0">
                <a:latin typeface="Times New Roman" panose="02020603050405020304" pitchFamily="18" charset="0"/>
                <a:cs typeface="Times New Roman" panose="02020603050405020304" pitchFamily="18" charset="0"/>
              </a:rPr>
              <a:t>, </a:t>
            </a:r>
            <a:r>
              <a:rPr lang="en-US" altLang="zh-TW" sz="3600" dirty="0" err="1">
                <a:latin typeface="Times New Roman" panose="02020603050405020304" pitchFamily="18" charset="0"/>
                <a:cs typeface="Times New Roman" panose="02020603050405020304" pitchFamily="18" charset="0"/>
              </a:rPr>
              <a:t>acgcat</a:t>
            </a:r>
            <a:r>
              <a:rPr lang="en-US" altLang="zh-TW" sz="3600" dirty="0">
                <a:latin typeface="Times New Roman" panose="02020603050405020304" pitchFamily="18" charset="0"/>
                <a:cs typeface="Times New Roman" panose="02020603050405020304" pitchFamily="18" charset="0"/>
              </a:rPr>
              <a:t>   </a:t>
            </a:r>
            <a:endParaRPr lang="zh-TW" altLang="en-US" sz="2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06F0444-439C-4930-9018-8736B3EC9600}"/>
              </a:ext>
            </a:extLst>
          </p:cNvPr>
          <p:cNvSpPr txBox="1"/>
          <p:nvPr/>
        </p:nvSpPr>
        <p:spPr>
          <a:xfrm>
            <a:off x="2318860" y="1939658"/>
            <a:ext cx="4065162" cy="1200329"/>
          </a:xfrm>
          <a:prstGeom prst="rect">
            <a:avLst/>
          </a:prstGeom>
          <a:noFill/>
        </p:spPr>
        <p:txBody>
          <a:bodyPr wrap="square" rtlCol="0">
            <a:spAutoFit/>
          </a:bodyPr>
          <a:lstStyle/>
          <a:p>
            <a:r>
              <a:rPr lang="en-US" altLang="zh-TW" sz="3600" dirty="0">
                <a:latin typeface="Times New Roman" panose="02020603050405020304" pitchFamily="18" charset="0"/>
                <a:cs typeface="Times New Roman" panose="02020603050405020304" pitchFamily="18" charset="0"/>
              </a:rPr>
              <a:t>y = </a:t>
            </a:r>
            <a:r>
              <a:rPr lang="en-US" altLang="zh-TW" sz="3600" dirty="0" err="1">
                <a:latin typeface="Times New Roman" panose="02020603050405020304" pitchFamily="18" charset="0"/>
                <a:cs typeface="Times New Roman" panose="02020603050405020304" pitchFamily="18" charset="0"/>
              </a:rPr>
              <a:t>ccgatacgcattgac</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x = </a:t>
            </a:r>
            <a:r>
              <a:rPr lang="en-US" altLang="zh-TW" sz="3600" dirty="0" err="1">
                <a:latin typeface="Times New Roman" panose="02020603050405020304" pitchFamily="18" charset="0"/>
                <a:cs typeface="Times New Roman" panose="02020603050405020304" pitchFamily="18" charset="0"/>
              </a:rPr>
              <a:t>accgta</a:t>
            </a:r>
            <a:endParaRPr lang="zh-TW" altLang="en-US" sz="3600" dirty="0"/>
          </a:p>
        </p:txBody>
      </p:sp>
      <p:sp>
        <p:nvSpPr>
          <p:cNvPr id="6" name="文字方塊 5">
            <a:extLst>
              <a:ext uri="{FF2B5EF4-FFF2-40B4-BE49-F238E27FC236}">
                <a16:creationId xmlns:a16="http://schemas.microsoft.com/office/drawing/2014/main" id="{58819D9B-5780-414E-B4F2-10884D2FD094}"/>
              </a:ext>
            </a:extLst>
          </p:cNvPr>
          <p:cNvSpPr txBox="1"/>
          <p:nvPr/>
        </p:nvSpPr>
        <p:spPr>
          <a:xfrm>
            <a:off x="1805408" y="4815281"/>
            <a:ext cx="303727" cy="369332"/>
          </a:xfrm>
          <a:prstGeom prst="rect">
            <a:avLst/>
          </a:prstGeom>
          <a:noFill/>
        </p:spPr>
        <p:txBody>
          <a:bodyPr wrap="square" rtlCol="0">
            <a:spAutoFit/>
          </a:bodyPr>
          <a:lstStyle/>
          <a:p>
            <a:r>
              <a:rPr lang="en-US" altLang="zh-TW" dirty="0"/>
              <a:t>1</a:t>
            </a:r>
          </a:p>
        </p:txBody>
      </p:sp>
      <p:sp>
        <p:nvSpPr>
          <p:cNvPr id="8" name="文字方塊 7">
            <a:extLst>
              <a:ext uri="{FF2B5EF4-FFF2-40B4-BE49-F238E27FC236}">
                <a16:creationId xmlns:a16="http://schemas.microsoft.com/office/drawing/2014/main" id="{2CA87E64-244F-41ED-AF32-D2857A296F60}"/>
              </a:ext>
            </a:extLst>
          </p:cNvPr>
          <p:cNvSpPr txBox="1"/>
          <p:nvPr/>
        </p:nvSpPr>
        <p:spPr>
          <a:xfrm>
            <a:off x="3146998" y="4815281"/>
            <a:ext cx="303727" cy="369332"/>
          </a:xfrm>
          <a:prstGeom prst="rect">
            <a:avLst/>
          </a:prstGeom>
          <a:noFill/>
        </p:spPr>
        <p:txBody>
          <a:bodyPr wrap="square" rtlCol="0">
            <a:spAutoFit/>
          </a:bodyPr>
          <a:lstStyle/>
          <a:p>
            <a:r>
              <a:rPr lang="en-US" altLang="zh-TW" dirty="0"/>
              <a:t>2</a:t>
            </a:r>
          </a:p>
        </p:txBody>
      </p:sp>
      <p:sp>
        <p:nvSpPr>
          <p:cNvPr id="9" name="文字方塊 8">
            <a:extLst>
              <a:ext uri="{FF2B5EF4-FFF2-40B4-BE49-F238E27FC236}">
                <a16:creationId xmlns:a16="http://schemas.microsoft.com/office/drawing/2014/main" id="{578CF402-CAE6-45EC-BD8A-E20D379210CB}"/>
              </a:ext>
            </a:extLst>
          </p:cNvPr>
          <p:cNvSpPr txBox="1"/>
          <p:nvPr/>
        </p:nvSpPr>
        <p:spPr>
          <a:xfrm>
            <a:off x="4574803" y="4815281"/>
            <a:ext cx="303727" cy="369332"/>
          </a:xfrm>
          <a:prstGeom prst="rect">
            <a:avLst/>
          </a:prstGeom>
          <a:noFill/>
        </p:spPr>
        <p:txBody>
          <a:bodyPr wrap="square" rtlCol="0">
            <a:spAutoFit/>
          </a:bodyPr>
          <a:lstStyle/>
          <a:p>
            <a:r>
              <a:rPr lang="en-US" altLang="zh-TW" dirty="0"/>
              <a:t>4</a:t>
            </a:r>
          </a:p>
        </p:txBody>
      </p:sp>
      <p:sp>
        <p:nvSpPr>
          <p:cNvPr id="10" name="文字方塊 9">
            <a:extLst>
              <a:ext uri="{FF2B5EF4-FFF2-40B4-BE49-F238E27FC236}">
                <a16:creationId xmlns:a16="http://schemas.microsoft.com/office/drawing/2014/main" id="{7F14DFCF-DE11-4BDE-A552-A44296EB398F}"/>
              </a:ext>
            </a:extLst>
          </p:cNvPr>
          <p:cNvSpPr txBox="1"/>
          <p:nvPr/>
        </p:nvSpPr>
        <p:spPr>
          <a:xfrm>
            <a:off x="5946072" y="4815281"/>
            <a:ext cx="303727" cy="369332"/>
          </a:xfrm>
          <a:prstGeom prst="rect">
            <a:avLst/>
          </a:prstGeom>
          <a:noFill/>
        </p:spPr>
        <p:txBody>
          <a:bodyPr wrap="square" rtlCol="0">
            <a:spAutoFit/>
          </a:bodyPr>
          <a:lstStyle/>
          <a:p>
            <a:r>
              <a:rPr lang="en-US" altLang="zh-TW" dirty="0"/>
              <a:t>5</a:t>
            </a:r>
          </a:p>
        </p:txBody>
      </p:sp>
      <p:sp>
        <p:nvSpPr>
          <p:cNvPr id="11" name="文字方塊 10">
            <a:extLst>
              <a:ext uri="{FF2B5EF4-FFF2-40B4-BE49-F238E27FC236}">
                <a16:creationId xmlns:a16="http://schemas.microsoft.com/office/drawing/2014/main" id="{D894F324-4A4B-4FF3-979C-EF5DAC0B7036}"/>
              </a:ext>
            </a:extLst>
          </p:cNvPr>
          <p:cNvSpPr txBox="1"/>
          <p:nvPr/>
        </p:nvSpPr>
        <p:spPr>
          <a:xfrm>
            <a:off x="7373877" y="4815281"/>
            <a:ext cx="303727" cy="369332"/>
          </a:xfrm>
          <a:prstGeom prst="rect">
            <a:avLst/>
          </a:prstGeom>
          <a:noFill/>
        </p:spPr>
        <p:txBody>
          <a:bodyPr wrap="square" rtlCol="0">
            <a:spAutoFit/>
          </a:bodyPr>
          <a:lstStyle/>
          <a:p>
            <a:r>
              <a:rPr lang="en-US" altLang="zh-TW" dirty="0"/>
              <a:t>6</a:t>
            </a:r>
          </a:p>
        </p:txBody>
      </p:sp>
    </p:spTree>
    <p:extLst>
      <p:ext uri="{BB962C8B-B14F-4D97-AF65-F5344CB8AC3E}">
        <p14:creationId xmlns:p14="http://schemas.microsoft.com/office/powerpoint/2010/main" val="102805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962AEE-A572-4DDA-9D02-7B05AF6280E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Heap function</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8E7CAA6B-2DC7-46AA-899C-12AB7D82B92B}"/>
              </a:ext>
            </a:extLst>
          </p:cNvPr>
          <p:cNvSpPr txBox="1">
            <a:spLocks/>
          </p:cNvSpPr>
          <p:nvPr/>
        </p:nvSpPr>
        <p:spPr>
          <a:xfrm>
            <a:off x="1784756" y="2169240"/>
            <a:ext cx="1037443" cy="6908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a:latin typeface="Times New Roman" panose="02020603050405020304" pitchFamily="18" charset="0"/>
                <a:cs typeface="Times New Roman" panose="02020603050405020304" pitchFamily="18" charset="0"/>
              </a:rPr>
              <a:t>Ex:</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F21E751-5220-4C96-B4D6-B4327129575A}"/>
              </a:ext>
            </a:extLst>
          </p:cNvPr>
          <p:cNvSpPr txBox="1"/>
          <p:nvPr/>
        </p:nvSpPr>
        <p:spPr>
          <a:xfrm>
            <a:off x="2083968" y="3544385"/>
            <a:ext cx="8872054" cy="1384995"/>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Heap function: h(a) = 1, h(c) = 5, h(t) = 25, h(g) = 125</a:t>
            </a:r>
            <a:br>
              <a:rPr lang="en-US" altLang="zh-TW" sz="2800" dirty="0">
                <a:latin typeface="Times New Roman" panose="02020603050405020304" pitchFamily="18" charset="0"/>
                <a:cs typeface="Times New Roman" panose="02020603050405020304" pitchFamily="18" charset="0"/>
              </a:rPr>
            </a:b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=&gt; h(x) = h(a) + h(c) + h(c) + h(g) + h(t) + h(a) = 162 </a:t>
            </a:r>
            <a:endParaRPr lang="zh-TW"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98B38427-8BA3-42FA-B67B-4D58F1F3E140}"/>
                  </a:ext>
                </a:extLst>
              </p:cNvPr>
              <p:cNvSpPr txBox="1"/>
              <p:nvPr/>
            </p:nvSpPr>
            <p:spPr>
              <a:xfrm>
                <a:off x="2914478" y="2127114"/>
                <a:ext cx="4065162" cy="1200329"/>
              </a:xfrm>
              <a:prstGeom prst="rect">
                <a:avLst/>
              </a:prstGeom>
              <a:noFill/>
            </p:spPr>
            <p:txBody>
              <a:bodyPr wrap="square" rtlCol="0">
                <a:spAutoFit/>
              </a:bodyPr>
              <a:lstStyle/>
              <a:p>
                <a14:m>
                  <m:oMath xmlns:m="http://schemas.openxmlformats.org/officeDocument/2006/math">
                    <m:r>
                      <a:rPr lang="en-US" altLang="zh-TW" sz="3600" i="1" smtClean="0">
                        <a:latin typeface="Cambria Math" panose="02040503050406030204" pitchFamily="18" charset="0"/>
                      </a:rPr>
                      <m:t>𝛴</m:t>
                    </m:r>
                  </m:oMath>
                </a14:m>
                <a:r>
                  <a:rPr lang="en-US" altLang="zh-TW" sz="3600" dirty="0">
                    <a:latin typeface="Times New Roman" panose="02020603050405020304" pitchFamily="18" charset="0"/>
                    <a:cs typeface="Times New Roman" panose="02020603050405020304" pitchFamily="18" charset="0"/>
                  </a:rPr>
                  <a:t>={a, c, g, t}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x = </a:t>
                </a:r>
                <a:r>
                  <a:rPr lang="en-US" altLang="zh-TW" sz="3600" dirty="0" err="1">
                    <a:latin typeface="Times New Roman" panose="02020603050405020304" pitchFamily="18" charset="0"/>
                    <a:cs typeface="Times New Roman" panose="02020603050405020304" pitchFamily="18" charset="0"/>
                  </a:rPr>
                  <a:t>accgta</a:t>
                </a:r>
                <a:endParaRPr lang="zh-TW" altLang="en-US" sz="3600" dirty="0"/>
              </a:p>
            </p:txBody>
          </p:sp>
        </mc:Choice>
        <mc:Fallback xmlns="">
          <p:sp>
            <p:nvSpPr>
              <p:cNvPr id="6" name="文字方塊 5">
                <a:extLst>
                  <a:ext uri="{FF2B5EF4-FFF2-40B4-BE49-F238E27FC236}">
                    <a16:creationId xmlns:a16="http://schemas.microsoft.com/office/drawing/2014/main" id="{98B38427-8BA3-42FA-B67B-4D58F1F3E140}"/>
                  </a:ext>
                </a:extLst>
              </p:cNvPr>
              <p:cNvSpPr txBox="1">
                <a:spLocks noRot="1" noChangeAspect="1" noMove="1" noResize="1" noEditPoints="1" noAdjustHandles="1" noChangeArrowheads="1" noChangeShapeType="1" noTextEdit="1"/>
              </p:cNvSpPr>
              <p:nvPr/>
            </p:nvSpPr>
            <p:spPr>
              <a:xfrm>
                <a:off x="2914478" y="2127114"/>
                <a:ext cx="4065162" cy="1200329"/>
              </a:xfrm>
              <a:prstGeom prst="rect">
                <a:avLst/>
              </a:prstGeom>
              <a:blipFill>
                <a:blip r:embed="rId2"/>
                <a:stretch>
                  <a:fillRect l="-4498" t="-8629" b="-172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1887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F175E7-F54C-42EC-AA97-AE958C1EBC95}"/>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Prefix-Based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201D317-FE20-47BD-81C8-1568C019965A}"/>
              </a:ext>
            </a:extLst>
          </p:cNvPr>
          <p:cNvSpPr>
            <a:spLocks noGrp="1"/>
          </p:cNvSpPr>
          <p:nvPr>
            <p:ph idx="1"/>
          </p:nvPr>
        </p:nvSpPr>
        <p:spPr>
          <a:xfrm>
            <a:off x="838200" y="1825625"/>
            <a:ext cx="6695113" cy="4351338"/>
          </a:xfrm>
        </p:spPr>
        <p:txBody>
          <a:bodyPr/>
          <a:lstStyle/>
          <a:p>
            <a:pPr marL="0" indent="0">
              <a:buNone/>
            </a:pPr>
            <a:r>
              <a:rPr lang="en-US" altLang="zh-TW" sz="3200" dirty="0">
                <a:latin typeface="Times New Roman" panose="02020603050405020304" pitchFamily="18" charset="0"/>
                <a:cs typeface="Times New Roman" panose="02020603050405020304" pitchFamily="18" charset="0"/>
              </a:rPr>
              <a:t>y = </a:t>
            </a:r>
            <a:r>
              <a:rPr lang="en-US" altLang="zh-TW" sz="3200" dirty="0" err="1">
                <a:latin typeface="Times New Roman" panose="02020603050405020304" pitchFamily="18" charset="0"/>
                <a:cs typeface="Times New Roman" panose="02020603050405020304" pitchFamily="18" charset="0"/>
              </a:rPr>
              <a:t>ccgatacgcattgac</a:t>
            </a:r>
            <a:endParaRPr lang="en-US" altLang="zh-TW" sz="32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h(y[0..m-1]) = 162</a:t>
            </a:r>
          </a:p>
          <a:p>
            <a:pPr marL="0" indent="0">
              <a:buNone/>
            </a:pPr>
            <a:r>
              <a:rPr lang="en-US" altLang="zh-TW" sz="2400" dirty="0">
                <a:latin typeface="Times New Roman" panose="02020603050405020304" pitchFamily="18" charset="0"/>
                <a:cs typeface="Times New Roman" panose="02020603050405020304" pitchFamily="18" charset="0"/>
              </a:rPr>
              <a:t>h(y[1..m]) = h(y[0..m-1]) – h(y[0]) + h[m]</a:t>
            </a:r>
          </a:p>
          <a:p>
            <a:pPr marL="0" indent="0">
              <a:buNone/>
            </a:pPr>
            <a:r>
              <a:rPr lang="en-US" altLang="zh-TW" sz="2400" dirty="0">
                <a:latin typeface="Times New Roman" panose="02020603050405020304" pitchFamily="18" charset="0"/>
                <a:cs typeface="Times New Roman" panose="02020603050405020304" pitchFamily="18" charset="0"/>
              </a:rPr>
              <a:t>                 = 162  </a:t>
            </a:r>
          </a:p>
          <a:p>
            <a:pPr marL="0" indent="0">
              <a:buNone/>
            </a:pPr>
            <a:r>
              <a:rPr lang="en-US" altLang="zh-TW" sz="2400" dirty="0">
                <a:latin typeface="Times New Roman" panose="02020603050405020304" pitchFamily="18" charset="0"/>
                <a:cs typeface="Times New Roman" panose="02020603050405020304" pitchFamily="18" charset="0"/>
              </a:rPr>
              <a:t>h(y[2..m+1]) = h(y[1..m]) – h(y[1]) + h[m+1]</a:t>
            </a:r>
          </a:p>
          <a:p>
            <a:pPr marL="0" indent="0">
              <a:buNone/>
            </a:pPr>
            <a:r>
              <a:rPr lang="en-US" altLang="zh-TW" sz="2400" dirty="0">
                <a:latin typeface="Times New Roman" panose="02020603050405020304" pitchFamily="18" charset="0"/>
                <a:cs typeface="Times New Roman" panose="02020603050405020304" pitchFamily="18" charset="0"/>
              </a:rPr>
              <a:t>                     = 282  </a:t>
            </a:r>
          </a:p>
          <a:p>
            <a:pPr marL="0" indent="0">
              <a:buNone/>
            </a:pPr>
            <a:r>
              <a:rPr lang="en-US" altLang="zh-TW" sz="2400" dirty="0">
                <a:latin typeface="Times New Roman" panose="02020603050405020304" pitchFamily="18" charset="0"/>
                <a:cs typeface="Times New Roman" panose="02020603050405020304" pitchFamily="18" charset="0"/>
              </a:rPr>
              <a:t>h(y[3..m+2]) = h(y[2..m+1]) – h(y[2]) + h[m+2]</a:t>
            </a:r>
          </a:p>
          <a:p>
            <a:pPr marL="0" indent="0">
              <a:buNone/>
            </a:pPr>
            <a:r>
              <a:rPr lang="en-US" altLang="zh-TW" sz="2400" dirty="0">
                <a:latin typeface="Times New Roman" panose="02020603050405020304" pitchFamily="18" charset="0"/>
                <a:cs typeface="Times New Roman" panose="02020603050405020304" pitchFamily="18" charset="0"/>
              </a:rPr>
              <a:t>                     = 162  </a:t>
            </a:r>
          </a:p>
          <a:p>
            <a:pPr marL="0" indent="0">
              <a:buNone/>
            </a:pPr>
            <a:endParaRPr lang="zh-TW" altLang="en-US" sz="2400" dirty="0"/>
          </a:p>
        </p:txBody>
      </p:sp>
      <p:pic>
        <p:nvPicPr>
          <p:cNvPr id="4" name="圖片 3">
            <a:extLst>
              <a:ext uri="{FF2B5EF4-FFF2-40B4-BE49-F238E27FC236}">
                <a16:creationId xmlns:a16="http://schemas.microsoft.com/office/drawing/2014/main" id="{A0FDAF11-8105-483F-9FE6-8A86BDC55FD4}"/>
              </a:ext>
            </a:extLst>
          </p:cNvPr>
          <p:cNvPicPr>
            <a:picLocks noChangeAspect="1"/>
          </p:cNvPicPr>
          <p:nvPr/>
        </p:nvPicPr>
        <p:blipFill>
          <a:blip r:embed="rId2"/>
          <a:stretch>
            <a:fillRect/>
          </a:stretch>
        </p:blipFill>
        <p:spPr>
          <a:xfrm rot="5400000">
            <a:off x="3065477" y="5916220"/>
            <a:ext cx="457200" cy="209550"/>
          </a:xfrm>
          <a:prstGeom prst="rect">
            <a:avLst/>
          </a:prstGeom>
        </p:spPr>
      </p:pic>
      <p:sp>
        <p:nvSpPr>
          <p:cNvPr id="6" name="內容版面配置區 2">
            <a:extLst>
              <a:ext uri="{FF2B5EF4-FFF2-40B4-BE49-F238E27FC236}">
                <a16:creationId xmlns:a16="http://schemas.microsoft.com/office/drawing/2014/main" id="{C3628CDC-A14E-4643-9192-828CA09F3E87}"/>
              </a:ext>
            </a:extLst>
          </p:cNvPr>
          <p:cNvSpPr txBox="1">
            <a:spLocks/>
          </p:cNvSpPr>
          <p:nvPr/>
        </p:nvSpPr>
        <p:spPr>
          <a:xfrm>
            <a:off x="6978941" y="2090898"/>
            <a:ext cx="4488809" cy="8588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3200" dirty="0">
                <a:latin typeface="Times New Roman" panose="02020603050405020304" pitchFamily="18" charset="0"/>
                <a:cs typeface="Times New Roman" panose="02020603050405020304" pitchFamily="18" charset="0"/>
              </a:rPr>
              <a:t>c </a:t>
            </a:r>
            <a:r>
              <a:rPr lang="en-US" altLang="zh-TW" sz="3200" dirty="0" err="1">
                <a:latin typeface="Times New Roman" panose="02020603050405020304" pitchFamily="18" charset="0"/>
                <a:cs typeface="Times New Roman" panose="02020603050405020304" pitchFamily="18" charset="0"/>
              </a:rPr>
              <a:t>c</a:t>
            </a:r>
            <a:r>
              <a:rPr lang="en-US" altLang="zh-TW" sz="3200" dirty="0">
                <a:latin typeface="Times New Roman" panose="02020603050405020304" pitchFamily="18" charset="0"/>
                <a:cs typeface="Times New Roman" panose="02020603050405020304" pitchFamily="18" charset="0"/>
              </a:rPr>
              <a:t> g a t a c g c a t </a:t>
            </a:r>
            <a:r>
              <a:rPr lang="en-US" altLang="zh-TW" sz="3200" dirty="0" err="1">
                <a:latin typeface="Times New Roman" panose="02020603050405020304" pitchFamily="18" charset="0"/>
                <a:cs typeface="Times New Roman" panose="02020603050405020304" pitchFamily="18" charset="0"/>
              </a:rPr>
              <a:t>t</a:t>
            </a:r>
            <a:r>
              <a:rPr lang="en-US" altLang="zh-TW" sz="3200" dirty="0">
                <a:latin typeface="Times New Roman" panose="02020603050405020304" pitchFamily="18" charset="0"/>
                <a:cs typeface="Times New Roman" panose="02020603050405020304" pitchFamily="18" charset="0"/>
              </a:rPr>
              <a:t> g a c</a:t>
            </a:r>
          </a:p>
        </p:txBody>
      </p:sp>
      <p:cxnSp>
        <p:nvCxnSpPr>
          <p:cNvPr id="7" name="直線接點 6">
            <a:extLst>
              <a:ext uri="{FF2B5EF4-FFF2-40B4-BE49-F238E27FC236}">
                <a16:creationId xmlns:a16="http://schemas.microsoft.com/office/drawing/2014/main" id="{C104D6C2-D515-46F7-B6F6-D0999E896257}"/>
              </a:ext>
            </a:extLst>
          </p:cNvPr>
          <p:cNvCxnSpPr>
            <a:cxnSpLocks/>
          </p:cNvCxnSpPr>
          <p:nvPr/>
        </p:nvCxnSpPr>
        <p:spPr>
          <a:xfrm>
            <a:off x="7080309" y="2676088"/>
            <a:ext cx="154357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79579EDE-1785-49EA-85F2-1FC81FBC4BFE}"/>
              </a:ext>
            </a:extLst>
          </p:cNvPr>
          <p:cNvSpPr txBox="1"/>
          <p:nvPr/>
        </p:nvSpPr>
        <p:spPr>
          <a:xfrm>
            <a:off x="7533314" y="2685083"/>
            <a:ext cx="536896" cy="369332"/>
          </a:xfrm>
          <a:prstGeom prst="rect">
            <a:avLst/>
          </a:prstGeom>
          <a:noFill/>
        </p:spPr>
        <p:txBody>
          <a:bodyPr wrap="square" rtlCol="0">
            <a:spAutoFit/>
          </a:bodyPr>
          <a:lstStyle/>
          <a:p>
            <a:r>
              <a:rPr lang="en-US" altLang="zh-TW" dirty="0">
                <a:solidFill>
                  <a:srgbClr val="FF0000"/>
                </a:solidFill>
              </a:rPr>
              <a:t>162</a:t>
            </a:r>
            <a:endParaRPr lang="zh-TW" altLang="en-US" dirty="0">
              <a:solidFill>
                <a:srgbClr val="FF0000"/>
              </a:solidFill>
            </a:endParaRPr>
          </a:p>
        </p:txBody>
      </p:sp>
      <p:cxnSp>
        <p:nvCxnSpPr>
          <p:cNvPr id="10" name="直線接點 9">
            <a:extLst>
              <a:ext uri="{FF2B5EF4-FFF2-40B4-BE49-F238E27FC236}">
                <a16:creationId xmlns:a16="http://schemas.microsoft.com/office/drawing/2014/main" id="{0B33CF85-3E9C-4BE4-B7B3-4093C235F740}"/>
              </a:ext>
            </a:extLst>
          </p:cNvPr>
          <p:cNvCxnSpPr>
            <a:cxnSpLocks/>
          </p:cNvCxnSpPr>
          <p:nvPr/>
        </p:nvCxnSpPr>
        <p:spPr>
          <a:xfrm>
            <a:off x="7366933" y="3054415"/>
            <a:ext cx="152539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7F629B7C-EE6E-4597-80F3-A14442892E0D}"/>
              </a:ext>
            </a:extLst>
          </p:cNvPr>
          <p:cNvSpPr txBox="1"/>
          <p:nvPr/>
        </p:nvSpPr>
        <p:spPr>
          <a:xfrm>
            <a:off x="7819938" y="3063410"/>
            <a:ext cx="536896" cy="369332"/>
          </a:xfrm>
          <a:prstGeom prst="rect">
            <a:avLst/>
          </a:prstGeom>
          <a:noFill/>
        </p:spPr>
        <p:txBody>
          <a:bodyPr wrap="square" rtlCol="0">
            <a:spAutoFit/>
          </a:bodyPr>
          <a:lstStyle/>
          <a:p>
            <a:r>
              <a:rPr lang="en-US" altLang="zh-TW" dirty="0">
                <a:solidFill>
                  <a:srgbClr val="FF0000"/>
                </a:solidFill>
              </a:rPr>
              <a:t>162</a:t>
            </a:r>
            <a:endParaRPr lang="zh-TW" altLang="en-US" dirty="0">
              <a:solidFill>
                <a:srgbClr val="FF0000"/>
              </a:solidFill>
            </a:endParaRPr>
          </a:p>
        </p:txBody>
      </p:sp>
      <p:cxnSp>
        <p:nvCxnSpPr>
          <p:cNvPr id="15" name="直線接點 14">
            <a:extLst>
              <a:ext uri="{FF2B5EF4-FFF2-40B4-BE49-F238E27FC236}">
                <a16:creationId xmlns:a16="http://schemas.microsoft.com/office/drawing/2014/main" id="{8E38277D-6D33-4935-811D-FA7638FBE76D}"/>
              </a:ext>
            </a:extLst>
          </p:cNvPr>
          <p:cNvCxnSpPr>
            <a:cxnSpLocks/>
          </p:cNvCxnSpPr>
          <p:nvPr/>
        </p:nvCxnSpPr>
        <p:spPr>
          <a:xfrm>
            <a:off x="7633982" y="3456462"/>
            <a:ext cx="1510019" cy="89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335F6DC8-BD9B-4EF7-A4A2-9842EC4D7EB6}"/>
              </a:ext>
            </a:extLst>
          </p:cNvPr>
          <p:cNvSpPr txBox="1"/>
          <p:nvPr/>
        </p:nvSpPr>
        <p:spPr>
          <a:xfrm>
            <a:off x="8086987" y="3465457"/>
            <a:ext cx="536896" cy="369332"/>
          </a:xfrm>
          <a:prstGeom prst="rect">
            <a:avLst/>
          </a:prstGeom>
          <a:noFill/>
          <a:ln>
            <a:noFill/>
          </a:ln>
        </p:spPr>
        <p:txBody>
          <a:bodyPr wrap="square" rtlCol="0">
            <a:spAutoFit/>
          </a:bodyPr>
          <a:lstStyle/>
          <a:p>
            <a:r>
              <a:rPr lang="en-US" altLang="zh-TW" dirty="0"/>
              <a:t>282</a:t>
            </a:r>
            <a:endParaRPr lang="zh-TW" altLang="en-US" dirty="0"/>
          </a:p>
        </p:txBody>
      </p:sp>
      <p:cxnSp>
        <p:nvCxnSpPr>
          <p:cNvPr id="18" name="直線接點 17">
            <a:extLst>
              <a:ext uri="{FF2B5EF4-FFF2-40B4-BE49-F238E27FC236}">
                <a16:creationId xmlns:a16="http://schemas.microsoft.com/office/drawing/2014/main" id="{64361656-4B8E-47E6-9146-7218C0E46BBC}"/>
              </a:ext>
            </a:extLst>
          </p:cNvPr>
          <p:cNvCxnSpPr>
            <a:cxnSpLocks/>
          </p:cNvCxnSpPr>
          <p:nvPr/>
        </p:nvCxnSpPr>
        <p:spPr>
          <a:xfrm>
            <a:off x="7944374" y="3867503"/>
            <a:ext cx="152539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CC5FE845-F102-4985-ABC3-30BB3565B709}"/>
              </a:ext>
            </a:extLst>
          </p:cNvPr>
          <p:cNvSpPr txBox="1"/>
          <p:nvPr/>
        </p:nvSpPr>
        <p:spPr>
          <a:xfrm>
            <a:off x="8397379" y="3876498"/>
            <a:ext cx="536896" cy="369332"/>
          </a:xfrm>
          <a:prstGeom prst="rect">
            <a:avLst/>
          </a:prstGeom>
          <a:noFill/>
        </p:spPr>
        <p:txBody>
          <a:bodyPr wrap="square" rtlCol="0">
            <a:spAutoFit/>
          </a:bodyPr>
          <a:lstStyle/>
          <a:p>
            <a:r>
              <a:rPr lang="en-US" altLang="zh-TW" dirty="0">
                <a:solidFill>
                  <a:srgbClr val="FF0000"/>
                </a:solidFill>
              </a:rPr>
              <a:t>162</a:t>
            </a:r>
            <a:endParaRPr lang="zh-TW" altLang="en-US" dirty="0">
              <a:solidFill>
                <a:srgbClr val="FF0000"/>
              </a:solidFill>
            </a:endParaRPr>
          </a:p>
        </p:txBody>
      </p:sp>
      <p:pic>
        <p:nvPicPr>
          <p:cNvPr id="20" name="圖片 19">
            <a:extLst>
              <a:ext uri="{FF2B5EF4-FFF2-40B4-BE49-F238E27FC236}">
                <a16:creationId xmlns:a16="http://schemas.microsoft.com/office/drawing/2014/main" id="{C5768990-0601-485A-B86A-B9A0A783D17A}"/>
              </a:ext>
            </a:extLst>
          </p:cNvPr>
          <p:cNvPicPr>
            <a:picLocks noChangeAspect="1"/>
          </p:cNvPicPr>
          <p:nvPr/>
        </p:nvPicPr>
        <p:blipFill>
          <a:blip r:embed="rId2"/>
          <a:stretch>
            <a:fillRect/>
          </a:stretch>
        </p:blipFill>
        <p:spPr>
          <a:xfrm rot="5400000">
            <a:off x="8915401" y="4968468"/>
            <a:ext cx="457200" cy="209550"/>
          </a:xfrm>
          <a:prstGeom prst="rect">
            <a:avLst/>
          </a:prstGeom>
        </p:spPr>
      </p:pic>
    </p:spTree>
    <p:extLst>
      <p:ext uri="{BB962C8B-B14F-4D97-AF65-F5344CB8AC3E}">
        <p14:creationId xmlns:p14="http://schemas.microsoft.com/office/powerpoint/2010/main" val="431944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702E1E-4B24-44B3-AEF9-956099EBFFD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Suffix-Based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2DD89983-7586-4F05-A803-553CB625ECFD}"/>
                  </a:ext>
                </a:extLst>
              </p:cNvPr>
              <p:cNvSpPr>
                <a:spLocks noGrp="1"/>
              </p:cNvSpPr>
              <p:nvPr>
                <p:ph idx="1"/>
              </p:nvPr>
            </p:nvSpPr>
            <p:spPr>
              <a:xfrm>
                <a:off x="611695" y="2225122"/>
                <a:ext cx="5143151" cy="3308437"/>
              </a:xfrm>
            </p:spPr>
            <p:txBody>
              <a:bodyPr>
                <a:normAutofit/>
              </a:bodyPr>
              <a:lstStyle/>
              <a:p>
                <a:pPr marL="0" indent="0">
                  <a:buNone/>
                </a:pPr>
                <a:r>
                  <a:rPr lang="en-US" altLang="zh-TW" sz="3200" dirty="0">
                    <a:latin typeface="Times New Roman" panose="02020603050405020304" pitchFamily="18" charset="0"/>
                    <a:cs typeface="Times New Roman" panose="02020603050405020304" pitchFamily="18" charset="0"/>
                  </a:rPr>
                  <a:t>y = </a:t>
                </a:r>
                <a:r>
                  <a:rPr lang="en-US" altLang="zh-TW" sz="3200" dirty="0" err="1">
                    <a:latin typeface="Times New Roman" panose="02020603050405020304" pitchFamily="18" charset="0"/>
                    <a:cs typeface="Times New Roman" panose="02020603050405020304" pitchFamily="18" charset="0"/>
                  </a:rPr>
                  <a:t>agtcagaccatccagata</a:t>
                </a:r>
                <a:endParaRPr lang="en-US" altLang="zh-TW" sz="3200" dirty="0">
                  <a:latin typeface="Times New Roman" panose="02020603050405020304" pitchFamily="18" charset="0"/>
                  <a:cs typeface="Times New Roman" panose="02020603050405020304" pitchFamily="18" charset="0"/>
                </a:endParaRPr>
              </a:p>
              <a:p>
                <a:pPr marL="0" indent="0">
                  <a:buNone/>
                </a:pPr>
                <a:r>
                  <a:rPr lang="en-US" altLang="zh-TW" sz="3200" dirty="0">
                    <a:latin typeface="Times New Roman" panose="02020603050405020304" pitchFamily="18" charset="0"/>
                    <a:cs typeface="Times New Roman" panose="02020603050405020304" pitchFamily="18" charset="0"/>
                  </a:rPr>
                  <a:t>x = </a:t>
                </a:r>
                <a:r>
                  <a:rPr lang="en-US" altLang="zh-TW" sz="3200" dirty="0" err="1">
                    <a:latin typeface="Times New Roman" panose="02020603050405020304" pitchFamily="18" charset="0"/>
                    <a:cs typeface="Times New Roman" panose="02020603050405020304" pitchFamily="18" charset="0"/>
                  </a:rPr>
                  <a:t>agcac</a:t>
                </a:r>
                <a:endParaRPr lang="en-US" altLang="zh-TW" sz="3200"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=&gt; </a:t>
                </a:r>
                <a14:m>
                  <m:oMath xmlns:m="http://schemas.openxmlformats.org/officeDocument/2006/math">
                    <m:acc>
                      <m:accPr>
                        <m:chr m:val="̅"/>
                        <m:ctrlPr>
                          <a:rPr lang="en-US" altLang="zh-TW" i="1" dirty="0" smtClean="0">
                            <a:latin typeface="Cambria Math" panose="02040503050406030204" pitchFamily="18" charset="0"/>
                            <a:cs typeface="Times New Roman" panose="02020603050405020304" pitchFamily="18" charset="0"/>
                          </a:rPr>
                        </m:ctrlPr>
                      </m:accPr>
                      <m:e>
                        <m:r>
                          <a:rPr lang="en-US" altLang="zh-TW" b="0" i="1" dirty="0" smtClean="0">
                            <a:latin typeface="Cambria Math" panose="02040503050406030204" pitchFamily="18" charset="0"/>
                            <a:cs typeface="Times New Roman" panose="02020603050405020304" pitchFamily="18" charset="0"/>
                          </a:rPr>
                          <m:t>𝑦</m:t>
                        </m:r>
                      </m:e>
                    </m:acc>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ag*</a:t>
                </a:r>
                <a:r>
                  <a:rPr lang="en-US" altLang="zh-TW" sz="3200" dirty="0" err="1">
                    <a:latin typeface="Times New Roman" panose="02020603050405020304" pitchFamily="18" charset="0"/>
                    <a:cs typeface="Times New Roman" panose="02020603050405020304" pitchFamily="18" charset="0"/>
                  </a:rPr>
                  <a:t>cagacca</a:t>
                </a:r>
                <a:r>
                  <a:rPr lang="en-US" altLang="zh-TW" sz="3200" dirty="0">
                    <a:latin typeface="Times New Roman" panose="02020603050405020304" pitchFamily="18" charset="0"/>
                    <a:cs typeface="Times New Roman" panose="02020603050405020304" pitchFamily="18" charset="0"/>
                  </a:rPr>
                  <a:t>*</a:t>
                </a:r>
                <a:r>
                  <a:rPr lang="en-US" altLang="zh-TW" sz="3200" dirty="0" err="1">
                    <a:latin typeface="Times New Roman" panose="02020603050405020304" pitchFamily="18" charset="0"/>
                    <a:cs typeface="Times New Roman" panose="02020603050405020304" pitchFamily="18" charset="0"/>
                  </a:rPr>
                  <a:t>ccaga</a:t>
                </a:r>
                <a:r>
                  <a:rPr lang="en-US" altLang="zh-TW" sz="3200" dirty="0">
                    <a:latin typeface="Times New Roman" panose="02020603050405020304" pitchFamily="18" charset="0"/>
                    <a:cs typeface="Times New Roman" panose="02020603050405020304" pitchFamily="18" charset="0"/>
                  </a:rPr>
                  <a:t>*a</a:t>
                </a:r>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2DD89983-7586-4F05-A803-553CB625ECFD}"/>
                  </a:ext>
                </a:extLst>
              </p:cNvPr>
              <p:cNvSpPr>
                <a:spLocks noGrp="1" noRot="1" noChangeAspect="1" noMove="1" noResize="1" noEditPoints="1" noAdjustHandles="1" noChangeArrowheads="1" noChangeShapeType="1" noTextEdit="1"/>
              </p:cNvSpPr>
              <p:nvPr>
                <p:ph idx="1"/>
              </p:nvPr>
            </p:nvSpPr>
            <p:spPr>
              <a:xfrm>
                <a:off x="611695" y="2225122"/>
                <a:ext cx="5143151" cy="3308437"/>
              </a:xfrm>
              <a:blipFill>
                <a:blip r:embed="rId2"/>
                <a:stretch>
                  <a:fillRect l="-2962" t="-4052"/>
                </a:stretch>
              </a:blipFill>
            </p:spPr>
            <p:txBody>
              <a:bodyPr/>
              <a:lstStyle/>
              <a:p>
                <a:r>
                  <a:rPr lang="zh-TW" altLang="en-US">
                    <a:noFill/>
                  </a:rPr>
                  <a:t> </a:t>
                </a:r>
              </a:p>
            </p:txBody>
          </p:sp>
        </mc:Fallback>
      </mc:AlternateContent>
      <p:sp>
        <p:nvSpPr>
          <p:cNvPr id="13" name="內容版面配置區 2">
            <a:extLst>
              <a:ext uri="{FF2B5EF4-FFF2-40B4-BE49-F238E27FC236}">
                <a16:creationId xmlns:a16="http://schemas.microsoft.com/office/drawing/2014/main" id="{BA44C09D-B467-4542-A7A3-FA46F9EF15AA}"/>
              </a:ext>
            </a:extLst>
          </p:cNvPr>
          <p:cNvSpPr txBox="1">
            <a:spLocks/>
          </p:cNvSpPr>
          <p:nvPr/>
        </p:nvSpPr>
        <p:spPr>
          <a:xfrm>
            <a:off x="6096000" y="2443235"/>
            <a:ext cx="5732477" cy="8588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3200" dirty="0">
                <a:latin typeface="Times New Roman" panose="02020603050405020304" pitchFamily="18" charset="0"/>
                <a:cs typeface="Times New Roman" panose="02020603050405020304" pitchFamily="18" charset="0"/>
              </a:rPr>
              <a:t>a g * c a g a c </a:t>
            </a:r>
            <a:r>
              <a:rPr lang="en-US" altLang="zh-TW" sz="3200" dirty="0" err="1">
                <a:latin typeface="Times New Roman" panose="02020603050405020304" pitchFamily="18" charset="0"/>
                <a:cs typeface="Times New Roman" panose="02020603050405020304" pitchFamily="18" charset="0"/>
              </a:rPr>
              <a:t>c</a:t>
            </a:r>
            <a:r>
              <a:rPr lang="en-US" altLang="zh-TW" sz="3200" dirty="0">
                <a:latin typeface="Times New Roman" panose="02020603050405020304" pitchFamily="18" charset="0"/>
                <a:cs typeface="Times New Roman" panose="02020603050405020304" pitchFamily="18" charset="0"/>
              </a:rPr>
              <a:t> a * c </a:t>
            </a:r>
            <a:r>
              <a:rPr lang="en-US" altLang="zh-TW" sz="3200" dirty="0" err="1">
                <a:latin typeface="Times New Roman" panose="02020603050405020304" pitchFamily="18" charset="0"/>
                <a:cs typeface="Times New Roman" panose="02020603050405020304" pitchFamily="18" charset="0"/>
              </a:rPr>
              <a:t>c</a:t>
            </a:r>
            <a:r>
              <a:rPr lang="en-US" altLang="zh-TW" sz="3200" dirty="0">
                <a:latin typeface="Times New Roman" panose="02020603050405020304" pitchFamily="18" charset="0"/>
                <a:cs typeface="Times New Roman" panose="02020603050405020304" pitchFamily="18" charset="0"/>
              </a:rPr>
              <a:t> a g a * a</a:t>
            </a:r>
          </a:p>
        </p:txBody>
      </p:sp>
      <p:cxnSp>
        <p:nvCxnSpPr>
          <p:cNvPr id="7" name="直線單箭頭接點 6">
            <a:extLst>
              <a:ext uri="{FF2B5EF4-FFF2-40B4-BE49-F238E27FC236}">
                <a16:creationId xmlns:a16="http://schemas.microsoft.com/office/drawing/2014/main" id="{B1CEF2C1-7FDF-49FE-B987-65ED4AF7967C}"/>
              </a:ext>
            </a:extLst>
          </p:cNvPr>
          <p:cNvCxnSpPr/>
          <p:nvPr/>
        </p:nvCxnSpPr>
        <p:spPr>
          <a:xfrm flipH="1">
            <a:off x="6037277" y="3011647"/>
            <a:ext cx="152959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4D6DF49E-BA78-471A-9AB2-8B727AD1BBDA}"/>
              </a:ext>
            </a:extLst>
          </p:cNvPr>
          <p:cNvCxnSpPr/>
          <p:nvPr/>
        </p:nvCxnSpPr>
        <p:spPr>
          <a:xfrm flipH="1">
            <a:off x="7038363" y="3167853"/>
            <a:ext cx="14093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77F50CE9-46CB-4383-897E-90C61398B8A3}"/>
              </a:ext>
            </a:extLst>
          </p:cNvPr>
          <p:cNvCxnSpPr>
            <a:cxnSpLocks/>
          </p:cNvCxnSpPr>
          <p:nvPr/>
        </p:nvCxnSpPr>
        <p:spPr>
          <a:xfrm>
            <a:off x="7357145" y="3318855"/>
            <a:ext cx="13590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60E0C24-F275-4528-BF76-8161610E12B0}"/>
              </a:ext>
            </a:extLst>
          </p:cNvPr>
          <p:cNvCxnSpPr>
            <a:cxnSpLocks/>
          </p:cNvCxnSpPr>
          <p:nvPr/>
        </p:nvCxnSpPr>
        <p:spPr>
          <a:xfrm>
            <a:off x="7626991" y="3462866"/>
            <a:ext cx="13590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A987385C-A74A-4F12-A47E-C2EFADEC69A0}"/>
              </a:ext>
            </a:extLst>
          </p:cNvPr>
          <p:cNvCxnSpPr>
            <a:cxnSpLocks/>
          </p:cNvCxnSpPr>
          <p:nvPr/>
        </p:nvCxnSpPr>
        <p:spPr>
          <a:xfrm>
            <a:off x="7938781" y="3647424"/>
            <a:ext cx="1359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0485D529-3AC7-42A5-93D4-4F27418E9B0E}"/>
              </a:ext>
            </a:extLst>
          </p:cNvPr>
          <p:cNvCxnSpPr/>
          <p:nvPr/>
        </p:nvCxnSpPr>
        <p:spPr>
          <a:xfrm flipH="1">
            <a:off x="9297797" y="3848759"/>
            <a:ext cx="14093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75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E8050AC-8FEF-4135-983F-2F1E1A80A14E}"/>
              </a:ext>
            </a:extLst>
          </p:cNvPr>
          <p:cNvPicPr>
            <a:picLocks noChangeAspect="1"/>
          </p:cNvPicPr>
          <p:nvPr/>
        </p:nvPicPr>
        <p:blipFill>
          <a:blip r:embed="rId2"/>
          <a:stretch>
            <a:fillRect/>
          </a:stretch>
        </p:blipFill>
        <p:spPr>
          <a:xfrm>
            <a:off x="6481583" y="1556464"/>
            <a:ext cx="3834623" cy="5167312"/>
          </a:xfrm>
          <a:prstGeom prst="rect">
            <a:avLst/>
          </a:prstGeom>
        </p:spPr>
      </p:pic>
      <p:sp>
        <p:nvSpPr>
          <p:cNvPr id="2" name="標題 1">
            <a:extLst>
              <a:ext uri="{FF2B5EF4-FFF2-40B4-BE49-F238E27FC236}">
                <a16:creationId xmlns:a16="http://schemas.microsoft.com/office/drawing/2014/main" id="{AC13A90E-36BF-4720-BFA8-2E3AC8D4153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Pseudocode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6ECDE10-471C-4A92-AAF8-9F4ABE2644B9}"/>
              </a:ext>
            </a:extLst>
          </p:cNvPr>
          <p:cNvSpPr>
            <a:spLocks noGrp="1"/>
          </p:cNvSpPr>
          <p:nvPr>
            <p:ph idx="1"/>
          </p:nvPr>
        </p:nvSpPr>
        <p:spPr>
          <a:xfrm>
            <a:off x="838200" y="2425959"/>
            <a:ext cx="9892004" cy="3751004"/>
          </a:xfrm>
        </p:spPr>
        <p:txBody>
          <a:bodyPr/>
          <a:lstStyle/>
          <a:p>
            <a:endParaRPr lang="zh-TW" altLang="en-US" dirty="0"/>
          </a:p>
        </p:txBody>
      </p:sp>
      <p:pic>
        <p:nvPicPr>
          <p:cNvPr id="4" name="圖片 3">
            <a:extLst>
              <a:ext uri="{FF2B5EF4-FFF2-40B4-BE49-F238E27FC236}">
                <a16:creationId xmlns:a16="http://schemas.microsoft.com/office/drawing/2014/main" id="{223CFA0B-36BE-4212-8073-B60779B47065}"/>
              </a:ext>
            </a:extLst>
          </p:cNvPr>
          <p:cNvPicPr>
            <a:picLocks noChangeAspect="1"/>
          </p:cNvPicPr>
          <p:nvPr/>
        </p:nvPicPr>
        <p:blipFill>
          <a:blip r:embed="rId3"/>
          <a:stretch>
            <a:fillRect/>
          </a:stretch>
        </p:blipFill>
        <p:spPr>
          <a:xfrm>
            <a:off x="923740" y="1765479"/>
            <a:ext cx="4786678" cy="4749282"/>
          </a:xfrm>
          <a:prstGeom prst="rect">
            <a:avLst/>
          </a:prstGeom>
        </p:spPr>
      </p:pic>
    </p:spTree>
    <p:extLst>
      <p:ext uri="{BB962C8B-B14F-4D97-AF65-F5344CB8AC3E}">
        <p14:creationId xmlns:p14="http://schemas.microsoft.com/office/powerpoint/2010/main" val="2895633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FC0CE-B9C3-4D04-88D9-E0B4F206EB1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t>
            </a:r>
            <a:endParaRPr lang="zh-TW" altLang="en-US" dirty="0"/>
          </a:p>
        </p:txBody>
      </p:sp>
      <p:sp>
        <p:nvSpPr>
          <p:cNvPr id="3" name="內容版面配置區 2">
            <a:extLst>
              <a:ext uri="{FF2B5EF4-FFF2-40B4-BE49-F238E27FC236}">
                <a16:creationId xmlns:a16="http://schemas.microsoft.com/office/drawing/2014/main" id="{8F2641C1-2D1C-4881-90A9-96533F9CB310}"/>
              </a:ext>
            </a:extLst>
          </p:cNvPr>
          <p:cNvSpPr>
            <a:spLocks noGrp="1"/>
          </p:cNvSpPr>
          <p:nvPr>
            <p:ph idx="1"/>
          </p:nvPr>
        </p:nvSpPr>
        <p:spPr>
          <a:xfrm>
            <a:off x="655075" y="1800458"/>
            <a:ext cx="2390192" cy="1325563"/>
          </a:xfrm>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B6EB5DE6-83D8-493C-8ECC-7BD99202F6C5}"/>
              </a:ext>
            </a:extLst>
          </p:cNvPr>
          <p:cNvPicPr>
            <a:picLocks noChangeAspect="1"/>
          </p:cNvPicPr>
          <p:nvPr/>
        </p:nvPicPr>
        <p:blipFill>
          <a:blip r:embed="rId2"/>
          <a:stretch>
            <a:fillRect/>
          </a:stretch>
        </p:blipFill>
        <p:spPr>
          <a:xfrm>
            <a:off x="828675" y="1501238"/>
            <a:ext cx="10525125" cy="5143500"/>
          </a:xfrm>
          <a:prstGeom prst="rect">
            <a:avLst/>
          </a:prstGeom>
        </p:spPr>
      </p:pic>
    </p:spTree>
    <p:extLst>
      <p:ext uri="{BB962C8B-B14F-4D97-AF65-F5344CB8AC3E}">
        <p14:creationId xmlns:p14="http://schemas.microsoft.com/office/powerpoint/2010/main" val="411559546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9920</TotalTime>
  <Words>465</Words>
  <Application>Microsoft Office PowerPoint</Application>
  <PresentationFormat>寬螢幕</PresentationFormat>
  <Paragraphs>43</Paragraphs>
  <Slides>9</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Arial</vt:lpstr>
      <vt:lpstr>Calibri</vt:lpstr>
      <vt:lpstr>Calibri Light</vt:lpstr>
      <vt:lpstr>Cambria Math</vt:lpstr>
      <vt:lpstr>Times New Roman</vt:lpstr>
      <vt:lpstr>Office 佈景主題</vt:lpstr>
      <vt:lpstr>Flexible and Efficient Algorithms for Abelian Matching in Genome Sequence</vt:lpstr>
      <vt:lpstr>Abstract (1/2)</vt:lpstr>
      <vt:lpstr>Abstract (2/2)</vt:lpstr>
      <vt:lpstr>Abelian pattern matching problem</vt:lpstr>
      <vt:lpstr>Heap function</vt:lpstr>
      <vt:lpstr>Prefix-Based Algorithm</vt:lpstr>
      <vt:lpstr>Suffix-Based Algorithm</vt:lpstr>
      <vt:lpstr>Pseudocode</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冠霖</dc:creator>
  <cp:lastModifiedBy>pplabeveryone</cp:lastModifiedBy>
  <cp:revision>154</cp:revision>
  <dcterms:created xsi:type="dcterms:W3CDTF">2019-02-17T13:02:40Z</dcterms:created>
  <dcterms:modified xsi:type="dcterms:W3CDTF">2019-09-10T10:09:16Z</dcterms:modified>
</cp:coreProperties>
</file>