
<file path=[Content_Types].xml><?xml version="1.0" encoding="utf-8"?>
<Types xmlns="http://schemas.openxmlformats.org/package/2006/content-types">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321" r:id="rId2"/>
    <p:sldId id="311" r:id="rId3"/>
    <p:sldId id="322" r:id="rId4"/>
    <p:sldId id="323" r:id="rId5"/>
    <p:sldId id="324" r:id="rId6"/>
    <p:sldId id="326" r:id="rId7"/>
    <p:sldId id="331" r:id="rId8"/>
    <p:sldId id="327" r:id="rId9"/>
    <p:sldId id="328" r:id="rId10"/>
    <p:sldId id="332" r:id="rId11"/>
    <p:sldId id="333" r:id="rId12"/>
    <p:sldId id="336" r:id="rId13"/>
    <p:sldId id="335" r:id="rId14"/>
    <p:sldId id="337" r:id="rId15"/>
    <p:sldId id="338"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豐仰 蔡" initials="豐仰" lastIdx="1" clrIdx="0">
    <p:extLst>
      <p:ext uri="{19B8F6BF-5375-455C-9EA6-DF929625EA0E}">
        <p15:presenceInfo xmlns:p15="http://schemas.microsoft.com/office/powerpoint/2012/main" userId="8fbda77307fba9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0AFE"/>
    <a:srgbClr val="E9EB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3971" autoAdjust="0"/>
  </p:normalViewPr>
  <p:slideViewPr>
    <p:cSldViewPr snapToGrid="0">
      <p:cViewPr varScale="1">
        <p:scale>
          <a:sx n="83" d="100"/>
          <a:sy n="83" d="100"/>
        </p:scale>
        <p:origin x="1638" y="7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t>2019/9/10</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en-US" altLang="zh-TW" sz="1200" b="0" i="0" kern="1200" dirty="0" smtClean="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a:t>
            </a:fld>
            <a:endParaRPr lang="zh-TW" altLang="en-US"/>
          </a:p>
        </p:txBody>
      </p:sp>
    </p:spTree>
    <p:extLst>
      <p:ext uri="{BB962C8B-B14F-4D97-AF65-F5344CB8AC3E}">
        <p14:creationId xmlns:p14="http://schemas.microsoft.com/office/powerpoint/2010/main" val="31141255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2019/9/10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2019/9/10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FA6EFCFE-425C-4696-9D05-22E06C3112FC}" type="datetimeFigureOut">
              <a:rPr lang="zh-TW" altLang="en-US" smtClean="0"/>
              <a:t>2019/9/10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FA6EFCFE-425C-4696-9D05-22E06C3112FC}" type="datetimeFigureOut">
              <a:rPr lang="zh-TW" altLang="en-US" smtClean="0"/>
              <a:t>2019/9/10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6EFCFE-425C-4696-9D05-22E06C3112FC}" type="datetimeFigureOut">
              <a:rPr lang="zh-TW" altLang="en-US" smtClean="0"/>
              <a:t>2019/9/10</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FA6EFCFE-425C-4696-9D05-22E06C3112FC}" type="datetimeFigureOut">
              <a:rPr lang="zh-TW" altLang="en-US" smtClean="0"/>
              <a:t>2019/9/10</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6EFCFE-425C-4696-9D05-22E06C3112FC}" type="datetimeFigureOut">
              <a:rPr lang="zh-TW" altLang="en-US" smtClean="0"/>
              <a:t>2019/9/10</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2019/9/10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2019/9/10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2019/9/10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2019/9/10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6EFCFE-425C-4696-9D05-22E06C3112FC}" type="datetimeFigureOut">
              <a:rPr lang="zh-TW" altLang="en-US" smtClean="0"/>
              <a:t>2019/9/10</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BB447A32-0D96-4B57-86B2-82EC84E8995E}"/>
              </a:ext>
            </a:extLst>
          </p:cNvPr>
          <p:cNvSpPr>
            <a:spLocks noGrp="1"/>
          </p:cNvSpPr>
          <p:nvPr>
            <p:ph type="ctrTitle"/>
          </p:nvPr>
        </p:nvSpPr>
        <p:spPr>
          <a:xfrm>
            <a:off x="330148" y="964972"/>
            <a:ext cx="8348184" cy="877881"/>
          </a:xfrm>
        </p:spPr>
        <p:txBody>
          <a:bodyPr>
            <a:noAutofit/>
          </a:bodyPr>
          <a:lstStyle/>
          <a:p>
            <a:r>
              <a:rPr lang="fr-FR" altLang="zh-TW" sz="4000" dirty="0" smtClean="0">
                <a:latin typeface="Times New Roman" panose="02020603050405020304" pitchFamily="18" charset="0"/>
                <a:cs typeface="Times New Roman" panose="02020603050405020304" pitchFamily="18" charset="0"/>
              </a:rPr>
              <a:t>Multiple </a:t>
            </a:r>
            <a:r>
              <a:rPr lang="fr-FR" altLang="zh-TW" sz="4000" dirty="0">
                <a:latin typeface="Times New Roman" panose="02020603050405020304" pitchFamily="18" charset="0"/>
                <a:cs typeface="Times New Roman" panose="02020603050405020304" pitchFamily="18" charset="0"/>
              </a:rPr>
              <a:t>protein sequence </a:t>
            </a:r>
            <a:r>
              <a:rPr lang="fr-FR" altLang="zh-TW" sz="4000" dirty="0" smtClean="0">
                <a:latin typeface="Times New Roman" panose="02020603050405020304" pitchFamily="18" charset="0"/>
                <a:cs typeface="Times New Roman" panose="02020603050405020304" pitchFamily="18" charset="0"/>
              </a:rPr>
              <a:t>alignment</a:t>
            </a:r>
            <a:endParaRPr lang="zh-TW" altLang="en-US" sz="40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xmlns="" id="{61456E59-5D91-4093-B1A4-6F308EA967FD}"/>
              </a:ext>
            </a:extLst>
          </p:cNvPr>
          <p:cNvSpPr>
            <a:spLocks noGrp="1"/>
          </p:cNvSpPr>
          <p:nvPr>
            <p:ph type="subTitle" idx="1"/>
          </p:nvPr>
        </p:nvSpPr>
        <p:spPr>
          <a:xfrm>
            <a:off x="236116" y="2811283"/>
            <a:ext cx="8536249" cy="717223"/>
          </a:xfrm>
        </p:spPr>
        <p:txBody>
          <a:bodyPr>
            <a:noAutofit/>
          </a:bodyPr>
          <a:lstStyle/>
          <a:p>
            <a:r>
              <a:rPr lang="fr-FR" altLang="zh-TW" sz="2800" dirty="0" smtClean="0">
                <a:latin typeface="Times New Roman" panose="02020603050405020304" pitchFamily="18" charset="0"/>
                <a:cs typeface="Times New Roman" panose="02020603050405020304" pitchFamily="18" charset="0"/>
              </a:rPr>
              <a:t>Jimin Pei</a:t>
            </a:r>
            <a:endParaRPr lang="en-US" altLang="zh-TW" sz="2800"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xmlns="" id="{A64E0364-4674-4930-835E-A413D880DCDB}"/>
              </a:ext>
            </a:extLst>
          </p:cNvPr>
          <p:cNvSpPr txBox="1">
            <a:spLocks/>
          </p:cNvSpPr>
          <p:nvPr/>
        </p:nvSpPr>
        <p:spPr>
          <a:xfrm>
            <a:off x="4761182" y="5443584"/>
            <a:ext cx="3486173" cy="85647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1800" dirty="0">
                <a:latin typeface="Times New Roman" panose="02020603050405020304" pitchFamily="18" charset="0"/>
                <a:cs typeface="Times New Roman" panose="02020603050405020304" pitchFamily="18" charset="0"/>
              </a:rPr>
              <a:t>Presenter</a:t>
            </a:r>
            <a:r>
              <a:rPr lang="en-US" altLang="zh-TW" sz="1800" dirty="0"/>
              <a:t> </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800" dirty="0" smtClean="0">
                <a:latin typeface="Times New Roman" panose="02020603050405020304" pitchFamily="18" charset="0"/>
                <a:cs typeface="Times New Roman" panose="02020603050405020304" pitchFamily="18" charset="0"/>
              </a:rPr>
              <a:t> </a:t>
            </a:r>
            <a:r>
              <a:rPr lang="en-US" altLang="zh-TW" sz="1800" dirty="0" err="1" smtClean="0">
                <a:latin typeface="Times New Roman" panose="02020603050405020304" pitchFamily="18" charset="0"/>
                <a:cs typeface="Times New Roman" panose="02020603050405020304" pitchFamily="18" charset="0"/>
              </a:rPr>
              <a:t>Chih</a:t>
            </a:r>
            <a:r>
              <a:rPr lang="en-US" altLang="zh-TW" sz="1800" dirty="0" smtClean="0">
                <a:latin typeface="Times New Roman" panose="02020603050405020304" pitchFamily="18" charset="0"/>
                <a:cs typeface="Times New Roman" panose="02020603050405020304" pitchFamily="18" charset="0"/>
              </a:rPr>
              <a:t>-Kai Wu</a:t>
            </a:r>
          </a:p>
          <a:p>
            <a:pPr algn="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Date: Sep.10, 2019.</a:t>
            </a:r>
            <a:endParaRPr lang="zh-TW" altLang="en-US" sz="1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 name="矩形 4"/>
          <p:cNvSpPr/>
          <p:nvPr/>
        </p:nvSpPr>
        <p:spPr>
          <a:xfrm>
            <a:off x="692797" y="3922940"/>
            <a:ext cx="7622889" cy="1077218"/>
          </a:xfrm>
          <a:prstGeom prst="rect">
            <a:avLst/>
          </a:prstGeom>
        </p:spPr>
        <p:txBody>
          <a:bodyPr wrap="square">
            <a:spAutoFit/>
          </a:bodyPr>
          <a:lstStyle/>
          <a:p>
            <a:pPr algn="ctr"/>
            <a:r>
              <a:rPr lang="en-US" altLang="zh-TW" sz="3200" dirty="0" smtClean="0">
                <a:latin typeface="Times New Roman" panose="02020603050405020304" pitchFamily="18" charset="0"/>
                <a:cs typeface="Times New Roman" panose="02020603050405020304" pitchFamily="18" charset="0"/>
              </a:rPr>
              <a:t>Current Opinion in Structural Biology</a:t>
            </a:r>
          </a:p>
          <a:p>
            <a:pPr algn="ctr"/>
            <a:r>
              <a:rPr lang="en-US" altLang="zh-TW" sz="3200" dirty="0" smtClean="0">
                <a:latin typeface="Times New Roman" panose="02020603050405020304" pitchFamily="18" charset="0"/>
                <a:cs typeface="Times New Roman" panose="02020603050405020304" pitchFamily="18" charset="0"/>
              </a:rPr>
              <a:t> Vol. </a:t>
            </a:r>
            <a:r>
              <a:rPr lang="en-US" altLang="zh-TW" sz="3200" smtClean="0">
                <a:latin typeface="Times New Roman" panose="02020603050405020304" pitchFamily="18" charset="0"/>
                <a:cs typeface="Times New Roman" panose="02020603050405020304" pitchFamily="18" charset="0"/>
              </a:rPr>
              <a:t>18, May 2008, pp. </a:t>
            </a:r>
            <a:r>
              <a:rPr lang="en-US" altLang="zh-TW" sz="3200" dirty="0" smtClean="0">
                <a:latin typeface="Times New Roman" panose="02020603050405020304" pitchFamily="18" charset="0"/>
                <a:cs typeface="Times New Roman" panose="02020603050405020304" pitchFamily="18" charset="0"/>
              </a:rPr>
              <a:t>382-386</a:t>
            </a:r>
          </a:p>
        </p:txBody>
      </p:sp>
    </p:spTree>
    <p:extLst>
      <p:ext uri="{BB962C8B-B14F-4D97-AF65-F5344CB8AC3E}">
        <p14:creationId xmlns:p14="http://schemas.microsoft.com/office/powerpoint/2010/main" val="829859479"/>
      </p:ext>
    </p:extLst>
  </p:cSld>
  <p:clrMapOvr>
    <a:masterClrMapping/>
  </p:clrMapOvr>
  <mc:AlternateContent xmlns:mc="http://schemas.openxmlformats.org/markup-compatibility/2006" xmlns:p14="http://schemas.microsoft.com/office/powerpoint/2010/main">
    <mc:Choice Requires="p14">
      <p:transition spd="slow" p14:dur="2000" advTm="2519"/>
    </mc:Choice>
    <mc:Fallback xmlns="">
      <p:transition spd="slow" advTm="2519"/>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139007" y="260700"/>
            <a:ext cx="7886700" cy="583367"/>
          </a:xfrm>
        </p:spPr>
        <p:txBody>
          <a:bodyPr>
            <a:normAutofit/>
          </a:bodyPr>
          <a:lstStyle/>
          <a:p>
            <a:r>
              <a:rPr lang="en-US" altLang="zh-TW" sz="3200" b="1" dirty="0" smtClean="0">
                <a:latin typeface="Times New Roman" panose="02020603050405020304" pitchFamily="18" charset="0"/>
                <a:cs typeface="Times New Roman" panose="02020603050405020304" pitchFamily="18" charset="0"/>
              </a:rPr>
              <a:t>Abstract</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xmlns="" id="{5E26DCC3-1991-4383-BF81-99FF895536EE}"/>
              </a:ext>
            </a:extLst>
          </p:cNvPr>
          <p:cNvSpPr>
            <a:spLocks noGrp="1"/>
          </p:cNvSpPr>
          <p:nvPr>
            <p:ph idx="1"/>
          </p:nvPr>
        </p:nvSpPr>
        <p:spPr>
          <a:xfrm>
            <a:off x="139007" y="1003575"/>
            <a:ext cx="9004993" cy="5131633"/>
          </a:xfrm>
        </p:spPr>
        <p:txBody>
          <a:bodyPr>
            <a:noAutofit/>
          </a:bodyPr>
          <a:lstStyle/>
          <a:p>
            <a:pPr marL="0" indent="0">
              <a:lnSpc>
                <a:spcPts val="3200"/>
              </a:lnSpc>
              <a:buNone/>
            </a:pPr>
            <a:r>
              <a:rPr lang="en-US" altLang="zh-TW" dirty="0">
                <a:latin typeface="Times New Roman" panose="02020603050405020304" pitchFamily="18" charset="0"/>
                <a:cs typeface="Times New Roman" panose="02020603050405020304" pitchFamily="18" charset="0"/>
              </a:rPr>
              <a:t>Multiple sequence alignments are essential in computational analysis of protein sequences and structures, with applications in structure modeling, functional site prediction, phylogenetic analysis and sequence database searching. Constructing accurate multiple alignments for divergent protein sequences remains a difficult computational task, and alignment speed becomes an issue for large sequence datasets. Here, I review methodologies and recent advances in the multiple protein sequence alignment field, with emphasis on the use of additional sequence and structural information to improve alignment quality.</a:t>
            </a:r>
            <a:endParaRPr lang="fr-FR"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448398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3803" y="1061257"/>
            <a:ext cx="8273422" cy="4672829"/>
          </a:xfrm>
        </p:spPr>
      </p:pic>
      <p:sp>
        <p:nvSpPr>
          <p:cNvPr id="5" name="矩形 4"/>
          <p:cNvSpPr/>
          <p:nvPr/>
        </p:nvSpPr>
        <p:spPr>
          <a:xfrm>
            <a:off x="674914" y="5922800"/>
            <a:ext cx="8469086" cy="369332"/>
          </a:xfrm>
          <a:prstGeom prst="rect">
            <a:avLst/>
          </a:prstGeom>
        </p:spPr>
        <p:txBody>
          <a:bodyPr wrap="square">
            <a:spAutoFit/>
          </a:bodyPr>
          <a:lstStyle/>
          <a:p>
            <a:r>
              <a:rPr lang="zh-TW" altLang="en-US" dirty="0" smtClean="0"/>
              <a:t>Clustal W以</a:t>
            </a:r>
            <a:r>
              <a:rPr lang="zh-TW" altLang="en-US" dirty="0"/>
              <a:t>多個生物個體的酸性核醣體</a:t>
            </a:r>
            <a:r>
              <a:rPr lang="zh-TW" altLang="en-US" dirty="0" smtClean="0"/>
              <a:t>蛋白的</a:t>
            </a:r>
            <a:r>
              <a:rPr lang="zh-TW" altLang="en-US" dirty="0"/>
              <a:t>前90個位置所作的多重序列比對</a:t>
            </a:r>
          </a:p>
        </p:txBody>
      </p:sp>
      <p:sp>
        <p:nvSpPr>
          <p:cNvPr id="6" name="標題 1">
            <a:extLst>
              <a:ext uri="{FF2B5EF4-FFF2-40B4-BE49-F238E27FC236}">
                <a16:creationId xmlns:a16="http://schemas.microsoft.com/office/drawing/2014/main" xmlns="" id="{94B01AB9-0651-4F6D-A93A-D571F0BAE9A7}"/>
              </a:ext>
            </a:extLst>
          </p:cNvPr>
          <p:cNvSpPr>
            <a:spLocks noGrp="1"/>
          </p:cNvSpPr>
          <p:nvPr>
            <p:ph type="title"/>
          </p:nvPr>
        </p:nvSpPr>
        <p:spPr>
          <a:xfrm>
            <a:off x="125358" y="289176"/>
            <a:ext cx="8491867" cy="583367"/>
          </a:xfrm>
        </p:spPr>
        <p:txBody>
          <a:bodyPr>
            <a:noAutofit/>
          </a:bodyPr>
          <a:lstStyle/>
          <a:p>
            <a:r>
              <a:rPr lang="en-US" altLang="zh-TW" sz="3200" b="1" dirty="0" smtClean="0">
                <a:latin typeface="Times New Roman" panose="02020603050405020304" pitchFamily="18" charset="0"/>
                <a:cs typeface="Times New Roman" panose="02020603050405020304" pitchFamily="18" charset="0"/>
              </a:rPr>
              <a:t>MSA </a:t>
            </a:r>
            <a:r>
              <a:rPr lang="en-US" altLang="zh-TW" sz="3200" b="1" dirty="0" smtClean="0"/>
              <a:t>(</a:t>
            </a:r>
            <a:r>
              <a:rPr lang="en-US" altLang="zh-TW" sz="3200" b="1" dirty="0" smtClean="0">
                <a:latin typeface="Times New Roman" panose="02020603050405020304" pitchFamily="18" charset="0"/>
                <a:cs typeface="Times New Roman" panose="02020603050405020304" pitchFamily="18" charset="0"/>
              </a:rPr>
              <a:t>Multiple </a:t>
            </a:r>
            <a:r>
              <a:rPr lang="en-US" altLang="zh-TW" sz="3200" b="1" dirty="0">
                <a:latin typeface="Times New Roman" panose="02020603050405020304" pitchFamily="18" charset="0"/>
                <a:cs typeface="Times New Roman" panose="02020603050405020304" pitchFamily="18" charset="0"/>
              </a:rPr>
              <a:t>sequence </a:t>
            </a:r>
            <a:r>
              <a:rPr lang="en-US" altLang="zh-TW" sz="3200" b="1" dirty="0" smtClean="0">
                <a:latin typeface="Times New Roman" panose="02020603050405020304" pitchFamily="18" charset="0"/>
                <a:cs typeface="Times New Roman" panose="02020603050405020304" pitchFamily="18" charset="0"/>
              </a:rPr>
              <a:t>alignment)</a:t>
            </a:r>
            <a:endParaRPr lang="zh-TW" altLang="en-US"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7543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46725" y="2015238"/>
            <a:ext cx="5149049" cy="1334357"/>
          </a:xfrm>
        </p:spPr>
      </p:pic>
      <p:sp>
        <p:nvSpPr>
          <p:cNvPr id="5" name="矩形 4"/>
          <p:cNvSpPr/>
          <p:nvPr/>
        </p:nvSpPr>
        <p:spPr>
          <a:xfrm>
            <a:off x="816863" y="3666663"/>
            <a:ext cx="7812350" cy="2723823"/>
          </a:xfrm>
          <a:prstGeom prst="rect">
            <a:avLst/>
          </a:prstGeom>
        </p:spPr>
        <p:txBody>
          <a:bodyPr wrap="square">
            <a:spAutoFit/>
          </a:bodyPr>
          <a:lstStyle/>
          <a:p>
            <a:pPr>
              <a:lnSpc>
                <a:spcPct val="200000"/>
              </a:lnSpc>
            </a:pPr>
            <a:r>
              <a:rPr lang="zh-TW" altLang="zh-TW" kern="100" dirty="0">
                <a:latin typeface="Calibri" panose="020F0502020204030204" pitchFamily="34" charset="0"/>
                <a:cs typeface="Times New Roman" panose="02020603050405020304" pitchFamily="18" charset="0"/>
              </a:rPr>
              <a:t>雖然成對</a:t>
            </a:r>
            <a:r>
              <a:rPr lang="zh-TW" altLang="zh-TW" kern="100" dirty="0" smtClean="0">
                <a:latin typeface="Calibri" panose="020F0502020204030204" pitchFamily="34" charset="0"/>
                <a:cs typeface="Times New Roman" panose="02020603050405020304" pitchFamily="18" charset="0"/>
              </a:rPr>
              <a:t>比對具有</a:t>
            </a:r>
            <a:r>
              <a:rPr lang="zh-TW" altLang="zh-TW" kern="100" dirty="0">
                <a:latin typeface="Calibri" panose="020F0502020204030204" pitchFamily="34" charset="0"/>
                <a:cs typeface="Times New Roman" panose="02020603050405020304" pitchFamily="18" charset="0"/>
              </a:rPr>
              <a:t>簡單且易處理的算法，</a:t>
            </a:r>
            <a:r>
              <a:rPr lang="zh-TW" altLang="zh-TW" kern="100" dirty="0" smtClean="0">
                <a:latin typeface="Calibri" panose="020F0502020204030204" pitchFamily="34" charset="0"/>
                <a:cs typeface="Times New Roman" panose="02020603050405020304" pitchFamily="18" charset="0"/>
              </a:rPr>
              <a:t>但是在</a:t>
            </a:r>
            <a:r>
              <a:rPr lang="zh-TW" altLang="zh-TW" kern="100" dirty="0">
                <a:latin typeface="Calibri" panose="020F0502020204030204" pitchFamily="34" charset="0"/>
                <a:cs typeface="Times New Roman" panose="02020603050405020304" pitchFamily="18" charset="0"/>
              </a:rPr>
              <a:t>對齊多個</a:t>
            </a:r>
            <a:r>
              <a:rPr lang="zh-TW" altLang="zh-TW" kern="100" dirty="0" smtClean="0">
                <a:latin typeface="Calibri" panose="020F0502020204030204" pitchFamily="34" charset="0"/>
                <a:cs typeface="Times New Roman" panose="02020603050405020304" pitchFamily="18" charset="0"/>
              </a:rPr>
              <a:t>序列</a:t>
            </a:r>
            <a:r>
              <a:rPr lang="zh-TW" altLang="en-US" kern="100" dirty="0" smtClean="0">
                <a:latin typeface="Calibri" panose="020F0502020204030204" pitchFamily="34" charset="0"/>
                <a:cs typeface="Times New Roman" panose="02020603050405020304" pitchFamily="18" charset="0"/>
              </a:rPr>
              <a:t>的</a:t>
            </a:r>
            <a:r>
              <a:rPr lang="zh-TW" altLang="zh-TW" kern="100" dirty="0" smtClean="0">
                <a:latin typeface="Calibri" panose="020F0502020204030204" pitchFamily="34" charset="0"/>
                <a:cs typeface="Times New Roman" panose="02020603050405020304" pitchFamily="18" charset="0"/>
              </a:rPr>
              <a:t>計算上</a:t>
            </a:r>
            <a:r>
              <a:rPr lang="zh-TW" altLang="en-US" kern="100" dirty="0" smtClean="0">
                <a:latin typeface="Calibri" panose="020F0502020204030204" pitchFamily="34" charset="0"/>
                <a:cs typeface="Times New Roman" panose="02020603050405020304" pitchFamily="18" charset="0"/>
              </a:rPr>
              <a:t>的成本是很高的，</a:t>
            </a:r>
            <a:r>
              <a:rPr lang="zh-TW" altLang="zh-TW" dirty="0" smtClean="0"/>
              <a:t>因此</a:t>
            </a:r>
            <a:r>
              <a:rPr lang="zh-TW" altLang="zh-TW" dirty="0"/>
              <a:t>，開發了許多用多序列比對發展出來相似的演算法，包括常用的漸進比對</a:t>
            </a:r>
            <a:r>
              <a:rPr lang="zh-TW" altLang="zh-TW" dirty="0" smtClean="0"/>
              <a:t>技術。</a:t>
            </a:r>
            <a:r>
              <a:rPr lang="zh-TW" altLang="en-US" dirty="0" smtClean="0"/>
              <a:t>但</a:t>
            </a:r>
            <a:r>
              <a:rPr lang="zh-TW" altLang="zh-TW" dirty="0" smtClean="0"/>
              <a:t>漸進方法</a:t>
            </a:r>
            <a:r>
              <a:rPr lang="zh-TW" altLang="en-US" dirty="0"/>
              <a:t>也</a:t>
            </a:r>
            <a:r>
              <a:rPr lang="zh-TW" altLang="zh-TW" dirty="0" smtClean="0"/>
              <a:t>不能</a:t>
            </a:r>
            <a:r>
              <a:rPr lang="zh-TW" altLang="zh-TW" dirty="0"/>
              <a:t>保證是最佳解，也不能更正每個成對比對步驟中產生的錯誤</a:t>
            </a:r>
            <a:r>
              <a:rPr lang="zh-TW" altLang="zh-TW" dirty="0" smtClean="0"/>
              <a:t>。</a:t>
            </a:r>
            <a:endParaRPr lang="en-US" altLang="zh-TW" dirty="0" smtClean="0"/>
          </a:p>
          <a:p>
            <a:pPr>
              <a:lnSpc>
                <a:spcPct val="150000"/>
              </a:lnSpc>
            </a:pPr>
            <a:endParaRPr lang="en-US" altLang="zh-TW" dirty="0" smtClean="0"/>
          </a:p>
        </p:txBody>
      </p:sp>
      <p:sp>
        <p:nvSpPr>
          <p:cNvPr id="6" name="標題 1"/>
          <p:cNvSpPr>
            <a:spLocks noGrp="1"/>
          </p:cNvSpPr>
          <p:nvPr>
            <p:ph type="title"/>
          </p:nvPr>
        </p:nvSpPr>
        <p:spPr>
          <a:xfrm>
            <a:off x="628649" y="365126"/>
            <a:ext cx="8188779" cy="1333045"/>
          </a:xfrm>
        </p:spPr>
        <p:txBody>
          <a:bodyPr>
            <a:noAutofit/>
          </a:bodyPr>
          <a:lstStyle/>
          <a:p>
            <a:r>
              <a:rPr lang="en-US" altLang="zh-TW" sz="3200" b="1" dirty="0">
                <a:latin typeface="Times New Roman" panose="02020603050405020304" pitchFamily="18" charset="0"/>
                <a:cs typeface="Times New Roman" panose="02020603050405020304" pitchFamily="18" charset="0"/>
              </a:rPr>
              <a:t>Computational methods for multiple </a:t>
            </a:r>
            <a:r>
              <a:rPr lang="en-US" altLang="zh-TW" sz="3200" b="1" dirty="0" smtClean="0">
                <a:latin typeface="Times New Roman" panose="02020603050405020304" pitchFamily="18" charset="0"/>
                <a:cs typeface="Times New Roman" panose="02020603050405020304" pitchFamily="18" charset="0"/>
              </a:rPr>
              <a:t>protein</a:t>
            </a:r>
            <a:r>
              <a:rPr lang="zh-TW" altLang="en-US" sz="3200" b="1" dirty="0" smtClean="0">
                <a:latin typeface="Times New Roman" panose="02020603050405020304" pitchFamily="18" charset="0"/>
                <a:cs typeface="Times New Roman" panose="02020603050405020304" pitchFamily="18" charset="0"/>
              </a:rPr>
              <a:t> </a:t>
            </a:r>
            <a:r>
              <a:rPr lang="en-US" altLang="zh-TW" sz="3200" b="1" dirty="0" smtClean="0">
                <a:latin typeface="Times New Roman" panose="02020603050405020304" pitchFamily="18" charset="0"/>
                <a:cs typeface="Times New Roman" panose="02020603050405020304" pitchFamily="18" charset="0"/>
              </a:rPr>
              <a:t>sequence </a:t>
            </a:r>
            <a:r>
              <a:rPr lang="en-US" altLang="zh-TW" sz="3200" b="1" dirty="0">
                <a:latin typeface="Times New Roman" panose="02020603050405020304" pitchFamily="18" charset="0"/>
                <a:cs typeface="Times New Roman" panose="02020603050405020304" pitchFamily="18" charset="0"/>
              </a:rPr>
              <a:t>alignments</a:t>
            </a:r>
            <a:endParaRPr lang="zh-TW" altLang="en-US"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06201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sp>
        <p:nvSpPr>
          <p:cNvPr id="3" name="內容版面配置區 2"/>
          <p:cNvSpPr>
            <a:spLocks noGrp="1"/>
          </p:cNvSpPr>
          <p:nvPr>
            <p:ph idx="1"/>
          </p:nvPr>
        </p:nvSpPr>
        <p:spPr>
          <a:xfrm>
            <a:off x="628650" y="1825625"/>
            <a:ext cx="8027078" cy="4351338"/>
          </a:xfrm>
        </p:spPr>
        <p:txBody>
          <a:bodyPr>
            <a:noAutofit/>
          </a:bodyPr>
          <a:lstStyle/>
          <a:p>
            <a:pPr marL="0" indent="0">
              <a:lnSpc>
                <a:spcPct val="150000"/>
              </a:lnSpc>
              <a:buNone/>
            </a:pPr>
            <a:r>
              <a:rPr lang="zh-TW" altLang="zh-TW" sz="1800" dirty="0" smtClean="0"/>
              <a:t>為了改善漸進式比對中的錯誤</a:t>
            </a:r>
            <a:endParaRPr lang="en-US" altLang="zh-TW" sz="1800" dirty="0" smtClean="0"/>
          </a:p>
          <a:p>
            <a:pPr marL="0" indent="0">
              <a:lnSpc>
                <a:spcPct val="150000"/>
              </a:lnSpc>
              <a:buNone/>
            </a:pPr>
            <a:r>
              <a:rPr lang="en-US" altLang="zh-TW" sz="1800" dirty="0" smtClean="0">
                <a:latin typeface="Times New Roman" panose="02020603050405020304" pitchFamily="18" charset="0"/>
                <a:cs typeface="Times New Roman" panose="02020603050405020304" pitchFamily="18" charset="0"/>
              </a:rPr>
              <a:t>T-Coffee</a:t>
            </a:r>
            <a:r>
              <a:rPr lang="en-US" altLang="zh-TW" sz="1800" dirty="0">
                <a:latin typeface="Times New Roman" panose="02020603050405020304" pitchFamily="18" charset="0"/>
                <a:cs typeface="Times New Roman" panose="02020603050405020304" pitchFamily="18" charset="0"/>
              </a:rPr>
              <a:t> </a:t>
            </a:r>
            <a:r>
              <a:rPr lang="en-US" altLang="zh-TW" sz="1800" dirty="0" smtClean="0">
                <a:latin typeface="Times New Roman" panose="02020603050405020304" pitchFamily="18" charset="0"/>
                <a:cs typeface="Times New Roman" panose="02020603050405020304" pitchFamily="18" charset="0"/>
              </a:rPr>
              <a:t>(</a:t>
            </a:r>
            <a:r>
              <a:rPr lang="en-US" altLang="zh-TW" sz="1800" dirty="0">
                <a:latin typeface="Times New Roman" panose="02020603050405020304" pitchFamily="18" charset="0"/>
                <a:cs typeface="Times New Roman" panose="02020603050405020304" pitchFamily="18" charset="0"/>
              </a:rPr>
              <a:t>Tree-based Consistency Objective Function For alignment Evaluation) </a:t>
            </a:r>
            <a:endParaRPr lang="en-US" altLang="zh-TW" sz="1800" dirty="0" smtClean="0">
              <a:latin typeface="Times New Roman" panose="02020603050405020304" pitchFamily="18" charset="0"/>
              <a:cs typeface="Times New Roman" panose="02020603050405020304" pitchFamily="18" charset="0"/>
            </a:endParaRPr>
          </a:p>
          <a:p>
            <a:pPr marL="0" indent="0">
              <a:lnSpc>
                <a:spcPct val="150000"/>
              </a:lnSpc>
              <a:buNone/>
            </a:pPr>
            <a:r>
              <a:rPr lang="zh-TW" altLang="zh-TW" sz="1800" dirty="0" smtClean="0"/>
              <a:t>首創了對漸進式比對中一致性的資訊探勘。</a:t>
            </a:r>
            <a:r>
              <a:rPr lang="zh-TW" altLang="en-US" sz="1800" dirty="0" smtClean="0"/>
              <a:t>基</a:t>
            </a:r>
            <a:r>
              <a:rPr lang="zh-TW" altLang="en-US" sz="1800" dirty="0"/>
              <a:t>於</a:t>
            </a:r>
            <a:r>
              <a:rPr lang="zh-TW" altLang="zh-TW" sz="1800" dirty="0" smtClean="0"/>
              <a:t>一致性</a:t>
            </a:r>
            <a:r>
              <a:rPr lang="zh-TW" altLang="en-US" sz="1800" dirty="0" smtClean="0"/>
              <a:t>的條件下</a:t>
            </a:r>
            <a:r>
              <a:rPr lang="zh-TW" altLang="zh-TW" sz="1800" dirty="0" smtClean="0"/>
              <a:t>的兩個序列的相似</a:t>
            </a:r>
            <a:r>
              <a:rPr lang="zh-TW" altLang="en-US" sz="1800" dirty="0" smtClean="0"/>
              <a:t>性</a:t>
            </a:r>
            <a:r>
              <a:rPr lang="zh-TW" altLang="zh-TW" sz="1800" dirty="0" smtClean="0"/>
              <a:t>評分除了取決於它們的成對比對</a:t>
            </a:r>
            <a:r>
              <a:rPr lang="zh-TW" altLang="en-US" sz="1800" dirty="0" smtClean="0"/>
              <a:t>外</a:t>
            </a:r>
            <a:r>
              <a:rPr lang="zh-TW" altLang="zh-TW" sz="1800" dirty="0" smtClean="0"/>
              <a:t>，還取決於它們與其他序列</a:t>
            </a:r>
            <a:r>
              <a:rPr lang="zh-TW" altLang="en-US" sz="1800" dirty="0" smtClean="0"/>
              <a:t>的</a:t>
            </a:r>
            <a:r>
              <a:rPr lang="zh-TW" altLang="zh-TW" sz="1800" dirty="0" smtClean="0"/>
              <a:t>比對</a:t>
            </a:r>
            <a:r>
              <a:rPr lang="zh-TW" altLang="en-US" sz="1800" dirty="0" smtClean="0"/>
              <a:t>。</a:t>
            </a:r>
            <a:endParaRPr lang="en-US" altLang="zh-TW" sz="1800" dirty="0" smtClean="0"/>
          </a:p>
          <a:p>
            <a:pPr marL="0" indent="0">
              <a:lnSpc>
                <a:spcPct val="170000"/>
              </a:lnSpc>
              <a:buNone/>
            </a:pPr>
            <a:r>
              <a:rPr lang="zh-TW" altLang="en-US" sz="1800" dirty="0" smtClean="0"/>
              <a:t>例如對於</a:t>
            </a:r>
            <a:r>
              <a:rPr lang="zh-TW" altLang="en-US" sz="1800" dirty="0"/>
              <a:t>三個序列</a:t>
            </a:r>
            <a:r>
              <a:rPr lang="en-US" altLang="zh-TW" sz="1800" dirty="0"/>
              <a:t>A</a:t>
            </a:r>
            <a:r>
              <a:rPr lang="zh-TW" altLang="en-US" sz="1800" dirty="0"/>
              <a:t>，</a:t>
            </a:r>
            <a:r>
              <a:rPr lang="en-US" altLang="zh-TW" sz="1800" dirty="0"/>
              <a:t>B</a:t>
            </a:r>
            <a:r>
              <a:rPr lang="zh-TW" altLang="en-US" sz="1800" dirty="0"/>
              <a:t>和</a:t>
            </a:r>
            <a:r>
              <a:rPr lang="en-US" altLang="zh-TW" sz="1800" dirty="0"/>
              <a:t>C</a:t>
            </a:r>
            <a:r>
              <a:rPr lang="zh-TW" altLang="en-US" sz="1800" dirty="0" smtClean="0"/>
              <a:t>，殘</a:t>
            </a:r>
            <a:r>
              <a:rPr lang="zh-TW" altLang="en-US" sz="1800" dirty="0"/>
              <a:t>基</a:t>
            </a:r>
            <a:r>
              <a:rPr lang="en-US" altLang="zh-TW" sz="1800" dirty="0"/>
              <a:t>Ai</a:t>
            </a:r>
            <a:r>
              <a:rPr lang="zh-TW" altLang="en-US" sz="1800" dirty="0"/>
              <a:t>與殘基</a:t>
            </a:r>
            <a:r>
              <a:rPr lang="en-US" altLang="zh-TW" sz="1800" dirty="0" err="1"/>
              <a:t>Bj</a:t>
            </a:r>
            <a:r>
              <a:rPr lang="zh-TW" altLang="en-US" sz="1800" dirty="0"/>
              <a:t>比對並且殘基</a:t>
            </a:r>
            <a:r>
              <a:rPr lang="en-US" altLang="zh-TW" sz="1800" dirty="0" err="1"/>
              <a:t>Bj</a:t>
            </a:r>
            <a:r>
              <a:rPr lang="zh-TW" altLang="en-US" sz="1800" dirty="0"/>
              <a:t>與殘基</a:t>
            </a:r>
            <a:r>
              <a:rPr lang="en-US" altLang="zh-TW" sz="1800" dirty="0" err="1"/>
              <a:t>Ck</a:t>
            </a:r>
            <a:r>
              <a:rPr lang="zh-TW" altLang="en-US" sz="1800" dirty="0"/>
              <a:t>比對，則這意味著殘基</a:t>
            </a:r>
            <a:r>
              <a:rPr lang="en-US" altLang="zh-TW" sz="1800" dirty="0"/>
              <a:t>Ai</a:t>
            </a:r>
            <a:r>
              <a:rPr lang="zh-TW" altLang="en-US" sz="1800" dirty="0"/>
              <a:t>和</a:t>
            </a:r>
            <a:r>
              <a:rPr lang="en-US" altLang="zh-TW" sz="1800" dirty="0" err="1"/>
              <a:t>Ck</a:t>
            </a:r>
            <a:r>
              <a:rPr lang="zh-TW" altLang="en-US" sz="1800" dirty="0"/>
              <a:t>可以通過中間序列</a:t>
            </a:r>
            <a:r>
              <a:rPr lang="en-US" altLang="zh-TW" sz="1800" dirty="0"/>
              <a:t>B</a:t>
            </a:r>
            <a:r>
              <a:rPr lang="zh-TW" altLang="en-US" sz="1800" dirty="0"/>
              <a:t>來比對</a:t>
            </a:r>
            <a:r>
              <a:rPr lang="zh-TW" altLang="en-US" sz="1800" dirty="0" smtClean="0"/>
              <a:t>。透過這種傳遞，使得</a:t>
            </a:r>
            <a:r>
              <a:rPr lang="zh-TW" altLang="en-US" sz="1800" dirty="0"/>
              <a:t>兩個序列的</a:t>
            </a:r>
            <a:r>
              <a:rPr lang="zh-TW" altLang="en-US" sz="1800" dirty="0" smtClean="0"/>
              <a:t>比對會包含</a:t>
            </a:r>
            <a:r>
              <a:rPr lang="zh-TW" altLang="en-US" sz="1800" dirty="0"/>
              <a:t>它們與其他</a:t>
            </a:r>
            <a:r>
              <a:rPr lang="zh-TW" altLang="en-US" sz="1800" dirty="0" smtClean="0"/>
              <a:t>序列比對</a:t>
            </a:r>
            <a:r>
              <a:rPr lang="zh-TW" altLang="en-US" sz="1800" dirty="0"/>
              <a:t>的信息</a:t>
            </a:r>
            <a:r>
              <a:rPr lang="zh-TW" altLang="en-US" sz="1800" dirty="0" smtClean="0"/>
              <a:t>。</a:t>
            </a:r>
            <a:endParaRPr lang="zh-TW" altLang="zh-TW" sz="1800" dirty="0" smtClean="0"/>
          </a:p>
          <a:p>
            <a:pPr marL="0" indent="0">
              <a:buNone/>
            </a:pPr>
            <a:endParaRPr lang="zh-TW" altLang="zh-TW" sz="1800" dirty="0" smtClean="0"/>
          </a:p>
          <a:p>
            <a:pPr marL="0" indent="0">
              <a:buNone/>
            </a:pPr>
            <a:r>
              <a:rPr lang="en-US" altLang="zh-TW" sz="1800" dirty="0"/>
              <a:t> </a:t>
            </a:r>
          </a:p>
          <a:p>
            <a:endParaRPr lang="zh-TW" altLang="en-US" sz="1800" dirty="0"/>
          </a:p>
        </p:txBody>
      </p:sp>
    </p:spTree>
    <p:extLst>
      <p:ext uri="{BB962C8B-B14F-4D97-AF65-F5344CB8AC3E}">
        <p14:creationId xmlns:p14="http://schemas.microsoft.com/office/powerpoint/2010/main" val="3786600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200" b="1" dirty="0">
                <a:latin typeface="Times New Roman" panose="02020603050405020304" pitchFamily="18" charset="0"/>
                <a:cs typeface="Times New Roman" panose="02020603050405020304" pitchFamily="18" charset="0"/>
              </a:rPr>
              <a:t>Using additional information </a:t>
            </a:r>
            <a:r>
              <a:rPr lang="en-US" altLang="zh-TW" sz="3200" b="1" dirty="0" smtClean="0">
                <a:latin typeface="Times New Roman" panose="02020603050405020304" pitchFamily="18" charset="0"/>
                <a:cs typeface="Times New Roman" panose="02020603050405020304" pitchFamily="18" charset="0"/>
              </a:rPr>
              <a:t>improves</a:t>
            </a:r>
            <a:r>
              <a:rPr lang="zh-TW" altLang="en-US" sz="3200" b="1" dirty="0" smtClean="0">
                <a:latin typeface="Times New Roman" panose="02020603050405020304" pitchFamily="18" charset="0"/>
                <a:cs typeface="Times New Roman" panose="02020603050405020304" pitchFamily="18" charset="0"/>
              </a:rPr>
              <a:t> </a:t>
            </a:r>
            <a:r>
              <a:rPr lang="en-US" altLang="zh-TW" sz="3200" b="1" dirty="0" smtClean="0">
                <a:latin typeface="Times New Roman" panose="02020603050405020304" pitchFamily="18" charset="0"/>
                <a:cs typeface="Times New Roman" panose="02020603050405020304" pitchFamily="18" charset="0"/>
              </a:rPr>
              <a:t>alignment </a:t>
            </a:r>
            <a:r>
              <a:rPr lang="en-US" altLang="zh-TW" sz="3200" b="1" dirty="0">
                <a:latin typeface="Times New Roman" panose="02020603050405020304" pitchFamily="18" charset="0"/>
                <a:cs typeface="Times New Roman" panose="02020603050405020304" pitchFamily="18" charset="0"/>
              </a:rPr>
              <a:t>quality</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628650" y="1864405"/>
            <a:ext cx="7886700" cy="4351338"/>
          </a:xfrm>
        </p:spPr>
        <p:txBody>
          <a:bodyPr>
            <a:normAutofit/>
          </a:bodyPr>
          <a:lstStyle/>
          <a:p>
            <a:pPr marL="0" indent="0">
              <a:lnSpc>
                <a:spcPct val="150000"/>
              </a:lnSpc>
              <a:buNone/>
            </a:pPr>
            <a:endParaRPr lang="en-US" altLang="zh-TW" sz="1800" dirty="0" smtClean="0"/>
          </a:p>
          <a:p>
            <a:pPr marL="0" indent="0">
              <a:lnSpc>
                <a:spcPct val="150000"/>
              </a:lnSpc>
              <a:buNone/>
            </a:pPr>
            <a:r>
              <a:rPr lang="zh-TW" altLang="zh-TW" sz="1800" dirty="0" smtClean="0"/>
              <a:t>輸入</a:t>
            </a:r>
            <a:r>
              <a:rPr lang="zh-TW" altLang="zh-TW" sz="1800" dirty="0"/>
              <a:t>序列中信息</a:t>
            </a:r>
            <a:r>
              <a:rPr lang="zh-TW" altLang="zh-TW" sz="1800" dirty="0" smtClean="0"/>
              <a:t>的對齊</a:t>
            </a:r>
            <a:r>
              <a:rPr lang="zh-TW" altLang="zh-TW" sz="1800" dirty="0"/>
              <a:t>方法平均</a:t>
            </a:r>
            <a:r>
              <a:rPr lang="zh-TW" altLang="zh-TW" sz="1800" dirty="0" smtClean="0"/>
              <a:t>表現</a:t>
            </a:r>
            <a:r>
              <a:rPr lang="zh-TW" altLang="en-US" sz="1800" dirty="0" smtClean="0"/>
              <a:t>皆不錯</a:t>
            </a:r>
            <a:r>
              <a:rPr lang="zh-TW" altLang="zh-TW" sz="1800" dirty="0" smtClean="0"/>
              <a:t>，</a:t>
            </a:r>
            <a:r>
              <a:rPr lang="zh-TW" altLang="en-US" sz="1800" dirty="0" smtClean="0"/>
              <a:t>但是</a:t>
            </a:r>
            <a:r>
              <a:rPr lang="zh-TW" altLang="zh-TW" sz="1800" dirty="0" smtClean="0"/>
              <a:t>當</a:t>
            </a:r>
            <a:r>
              <a:rPr lang="zh-TW" altLang="zh-TW" sz="1800" dirty="0"/>
              <a:t>序列相似性低於一定比例時（例如，同一性小於</a:t>
            </a:r>
            <a:r>
              <a:rPr lang="en-US" altLang="zh-TW" sz="1800" dirty="0"/>
              <a:t>20</a:t>
            </a:r>
            <a:r>
              <a:rPr lang="zh-TW" altLang="zh-TW" sz="1800" dirty="0" smtClean="0"/>
              <a:t>％），</a:t>
            </a:r>
            <a:r>
              <a:rPr lang="zh-TW" altLang="en-US" sz="1800" dirty="0" smtClean="0"/>
              <a:t>對齊的表現都</a:t>
            </a:r>
            <a:r>
              <a:rPr lang="zh-TW" altLang="en-US" sz="1800" dirty="0"/>
              <a:t>差強人意</a:t>
            </a:r>
            <a:r>
              <a:rPr lang="zh-TW" altLang="en-US" sz="1800" dirty="0" smtClean="0"/>
              <a:t>。</a:t>
            </a:r>
            <a:endParaRPr lang="en-US" altLang="zh-TW" sz="1800" dirty="0" smtClean="0"/>
          </a:p>
          <a:p>
            <a:pPr marL="0" indent="0">
              <a:lnSpc>
                <a:spcPct val="150000"/>
              </a:lnSpc>
              <a:buNone/>
            </a:pPr>
            <a:endParaRPr lang="en-US" altLang="zh-TW" sz="1800" dirty="0"/>
          </a:p>
          <a:p>
            <a:pPr marL="0" indent="0">
              <a:lnSpc>
                <a:spcPct val="150000"/>
              </a:lnSpc>
              <a:buNone/>
            </a:pPr>
            <a:r>
              <a:rPr lang="zh-TW" altLang="en-US" sz="1800" dirty="0" smtClean="0"/>
              <a:t>近年來</a:t>
            </a:r>
            <a:r>
              <a:rPr lang="zh-TW" altLang="en-US" sz="1800" dirty="0"/>
              <a:t>，序列和結構的數據庫正在迅速擴大，提供許多有用的來源，以進一步改善多蛋白質序列比對</a:t>
            </a:r>
            <a:r>
              <a:rPr lang="zh-TW" altLang="en-US" sz="1800" dirty="0" smtClean="0"/>
              <a:t>。</a:t>
            </a:r>
            <a:endParaRPr lang="en-US" altLang="zh-TW" sz="1800" dirty="0" smtClean="0"/>
          </a:p>
          <a:p>
            <a:pPr marL="0" indent="0">
              <a:lnSpc>
                <a:spcPct val="150000"/>
              </a:lnSpc>
              <a:buNone/>
            </a:pPr>
            <a:r>
              <a:rPr lang="zh-TW" altLang="en-US" sz="1800" dirty="0" smtClean="0"/>
              <a:t> </a:t>
            </a:r>
            <a:endParaRPr lang="zh-TW" altLang="zh-TW" sz="1800" dirty="0"/>
          </a:p>
        </p:txBody>
      </p:sp>
    </p:spTree>
    <p:extLst>
      <p:ext uri="{BB962C8B-B14F-4D97-AF65-F5344CB8AC3E}">
        <p14:creationId xmlns:p14="http://schemas.microsoft.com/office/powerpoint/2010/main" val="124143433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841714" y="1152818"/>
            <a:ext cx="7886700" cy="4351338"/>
          </a:xfrm>
        </p:spPr>
        <p:txBody>
          <a:bodyPr>
            <a:normAutofit/>
          </a:bodyPr>
          <a:lstStyle/>
          <a:p>
            <a:pPr marL="0" indent="0">
              <a:lnSpc>
                <a:spcPct val="150000"/>
              </a:lnSpc>
              <a:buNone/>
            </a:pPr>
            <a:r>
              <a:rPr lang="zh-TW" altLang="en-US" sz="1800" dirty="0"/>
              <a:t>在一些多重比對方法中利用了三種類型的附加信息：</a:t>
            </a:r>
            <a:endParaRPr lang="en-US" altLang="zh-TW" sz="1800" dirty="0"/>
          </a:p>
          <a:p>
            <a:pPr marL="342900" indent="-342900">
              <a:lnSpc>
                <a:spcPct val="150000"/>
              </a:lnSpc>
              <a:buAutoNum type="arabicPeriod"/>
            </a:pPr>
            <a:r>
              <a:rPr lang="en-US" altLang="zh-TW" sz="1800" dirty="0">
                <a:latin typeface="Times New Roman" panose="02020603050405020304" pitchFamily="18" charset="0"/>
                <a:cs typeface="Times New Roman" panose="02020603050405020304" pitchFamily="18" charset="0"/>
              </a:rPr>
              <a:t>Sequence homologs </a:t>
            </a:r>
          </a:p>
          <a:p>
            <a:pPr marL="342900" indent="-342900">
              <a:lnSpc>
                <a:spcPct val="150000"/>
              </a:lnSpc>
              <a:buAutoNum type="arabicPeriod"/>
            </a:pPr>
            <a:r>
              <a:rPr lang="en-US" altLang="zh-TW" sz="1800" dirty="0">
                <a:latin typeface="Times New Roman" panose="02020603050405020304" pitchFamily="18" charset="0"/>
                <a:cs typeface="Times New Roman" panose="02020603050405020304" pitchFamily="18" charset="0"/>
              </a:rPr>
              <a:t>Predicted secondary structures </a:t>
            </a:r>
          </a:p>
          <a:p>
            <a:pPr marL="342900" indent="-342900">
              <a:lnSpc>
                <a:spcPct val="150000"/>
              </a:lnSpc>
              <a:buAutoNum type="arabicPeriod"/>
            </a:pPr>
            <a:r>
              <a:rPr lang="en-US" altLang="zh-TW" sz="1800" dirty="0">
                <a:latin typeface="Times New Roman" panose="02020603050405020304" pitchFamily="18" charset="0"/>
                <a:cs typeface="Times New Roman" panose="02020603050405020304" pitchFamily="18" charset="0"/>
              </a:rPr>
              <a:t>3-dimensional (3D) structures</a:t>
            </a:r>
          </a:p>
        </p:txBody>
      </p:sp>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1070" y="3761359"/>
            <a:ext cx="5959109" cy="2115660"/>
          </a:xfrm>
          <a:prstGeom prst="rect">
            <a:avLst/>
          </a:prstGeom>
        </p:spPr>
      </p:pic>
    </p:spTree>
    <p:extLst>
      <p:ext uri="{BB962C8B-B14F-4D97-AF65-F5344CB8AC3E}">
        <p14:creationId xmlns:p14="http://schemas.microsoft.com/office/powerpoint/2010/main" val="70833947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717427" y="1497151"/>
            <a:ext cx="7886700" cy="4351338"/>
          </a:xfrm>
        </p:spPr>
        <p:txBody>
          <a:bodyPr>
            <a:normAutofit/>
          </a:bodyPr>
          <a:lstStyle/>
          <a:p>
            <a:pPr marL="0" indent="0">
              <a:lnSpc>
                <a:spcPct val="150000"/>
              </a:lnSpc>
              <a:buNone/>
            </a:pPr>
            <a:endParaRPr lang="en-US" altLang="zh-TW" sz="1800" dirty="0" smtClean="0"/>
          </a:p>
          <a:p>
            <a:pPr marL="0" indent="0">
              <a:lnSpc>
                <a:spcPct val="150000"/>
              </a:lnSpc>
              <a:buNone/>
            </a:pPr>
            <a:r>
              <a:rPr lang="en-US" altLang="zh-TW" sz="1800" dirty="0" smtClean="0">
                <a:latin typeface="Times New Roman" panose="02020603050405020304" pitchFamily="18" charset="0"/>
                <a:cs typeface="Times New Roman" panose="02020603050405020304" pitchFamily="18" charset="0"/>
              </a:rPr>
              <a:t>MAFFT</a:t>
            </a:r>
            <a:r>
              <a:rPr lang="zh-TW" altLang="zh-TW" sz="1800" dirty="0" smtClean="0"/>
              <a:t>包有一個程序（</a:t>
            </a:r>
            <a:r>
              <a:rPr lang="en-US" altLang="zh-TW" sz="1800" dirty="0" err="1" smtClean="0">
                <a:latin typeface="Times New Roman" panose="02020603050405020304" pitchFamily="18" charset="0"/>
                <a:cs typeface="Times New Roman" panose="02020603050405020304" pitchFamily="18" charset="0"/>
              </a:rPr>
              <a:t>Mafft</a:t>
            </a:r>
            <a:r>
              <a:rPr lang="en-US" altLang="zh-TW" sz="1800" dirty="0" smtClean="0">
                <a:latin typeface="Times New Roman" panose="02020603050405020304" pitchFamily="18" charset="0"/>
                <a:cs typeface="Times New Roman" panose="02020603050405020304" pitchFamily="18" charset="0"/>
              </a:rPr>
              <a:t>-homologs</a:t>
            </a:r>
            <a:r>
              <a:rPr lang="zh-TW" altLang="zh-TW" sz="1800" dirty="0" smtClean="0"/>
              <a:t>），</a:t>
            </a:r>
            <a:r>
              <a:rPr lang="zh-TW" altLang="en-US" sz="1800" dirty="0" smtClean="0"/>
              <a:t>能</a:t>
            </a:r>
            <a:r>
              <a:rPr lang="zh-TW" altLang="zh-TW" sz="1800" dirty="0" smtClean="0"/>
              <a:t>將目標序列與找到的數據庫同源物對齊，以獲得更準確的目標比對</a:t>
            </a:r>
            <a:r>
              <a:rPr lang="zh-TW" altLang="en-US" sz="1800" dirty="0" smtClean="0"/>
              <a:t>。</a:t>
            </a:r>
            <a:endParaRPr lang="en-US" altLang="zh-TW" sz="1800" dirty="0" smtClean="0"/>
          </a:p>
          <a:p>
            <a:pPr marL="0" indent="0">
              <a:lnSpc>
                <a:spcPct val="150000"/>
              </a:lnSpc>
              <a:buNone/>
            </a:pPr>
            <a:r>
              <a:rPr lang="en-US" altLang="zh-TW" sz="1800" dirty="0" smtClean="0">
                <a:latin typeface="Times New Roman" panose="02020603050405020304" pitchFamily="18" charset="0"/>
                <a:cs typeface="Times New Roman" panose="02020603050405020304" pitchFamily="18" charset="0"/>
              </a:rPr>
              <a:t>PSI-BLAST</a:t>
            </a:r>
            <a:r>
              <a:rPr lang="zh-TW" altLang="en-US" sz="1800" dirty="0" smtClean="0">
                <a:latin typeface="Times New Roman" panose="02020603050405020304" pitchFamily="18" charset="0"/>
                <a:cs typeface="Times New Roman" panose="02020603050405020304" pitchFamily="18" charset="0"/>
              </a:rPr>
              <a:t> </a:t>
            </a:r>
            <a:r>
              <a:rPr lang="zh-TW" altLang="en-US" sz="1800" dirty="0" smtClean="0"/>
              <a:t>搜索</a:t>
            </a:r>
            <a:r>
              <a:rPr lang="zh-TW" altLang="en-US" sz="1800" dirty="0"/>
              <a:t>識別數據庫同源物以構建序列</a:t>
            </a:r>
            <a:r>
              <a:rPr lang="zh-TW" altLang="en-US" sz="1800" dirty="0" smtClean="0"/>
              <a:t>譜預測</a:t>
            </a:r>
            <a:r>
              <a:rPr lang="zh-TW" altLang="en-US" sz="1800" dirty="0"/>
              <a:t>二級結構</a:t>
            </a:r>
            <a:r>
              <a:rPr lang="zh-TW" altLang="en-US" sz="1800" dirty="0" smtClean="0"/>
              <a:t>，用於</a:t>
            </a:r>
            <a:r>
              <a:rPr lang="zh-TW" altLang="en-US" sz="1800" dirty="0"/>
              <a:t>對齊過程。 使用數據庫中序列同源物和預測的二級結構後，比原始</a:t>
            </a:r>
            <a:r>
              <a:rPr lang="zh-TW" altLang="en-US" sz="1800" dirty="0" smtClean="0"/>
              <a:t>方法準確度增加了</a:t>
            </a:r>
            <a:r>
              <a:rPr lang="zh-TW" altLang="en-US" sz="1800" dirty="0"/>
              <a:t>大約</a:t>
            </a:r>
            <a:r>
              <a:rPr lang="en-US" altLang="zh-TW" sz="1800" dirty="0"/>
              <a:t>10</a:t>
            </a:r>
            <a:r>
              <a:rPr lang="zh-TW" altLang="en-US" sz="1800" dirty="0"/>
              <a:t>％，並且在最困難的低相似區域中，準確度</a:t>
            </a:r>
            <a:r>
              <a:rPr lang="zh-TW" altLang="en-US" sz="1800" dirty="0" smtClean="0"/>
              <a:t>增加了</a:t>
            </a:r>
            <a:r>
              <a:rPr lang="en-US" altLang="zh-TW" sz="1800" dirty="0" smtClean="0"/>
              <a:t>10%</a:t>
            </a:r>
            <a:r>
              <a:rPr lang="zh-TW" altLang="en-US" sz="1800" dirty="0" smtClean="0"/>
              <a:t>以上。</a:t>
            </a:r>
            <a:endParaRPr lang="zh-TW" altLang="zh-TW" sz="1800" dirty="0"/>
          </a:p>
        </p:txBody>
      </p:sp>
    </p:spTree>
    <p:extLst>
      <p:ext uri="{BB962C8B-B14F-4D97-AF65-F5344CB8AC3E}">
        <p14:creationId xmlns:p14="http://schemas.microsoft.com/office/powerpoint/2010/main" val="377819429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a:xfrm>
            <a:off x="628650" y="1266332"/>
            <a:ext cx="7886700" cy="4351338"/>
          </a:xfrm>
        </p:spPr>
        <p:txBody>
          <a:bodyPr>
            <a:normAutofit/>
          </a:bodyPr>
          <a:lstStyle/>
          <a:p>
            <a:pPr marL="0" indent="0">
              <a:lnSpc>
                <a:spcPct val="150000"/>
              </a:lnSpc>
              <a:buNone/>
            </a:pPr>
            <a:endParaRPr lang="en-US" altLang="zh-TW" sz="1800" dirty="0" smtClean="0"/>
          </a:p>
          <a:p>
            <a:pPr marL="0" indent="0">
              <a:lnSpc>
                <a:spcPct val="150000"/>
              </a:lnSpc>
              <a:buNone/>
            </a:pPr>
            <a:r>
              <a:rPr lang="zh-TW" altLang="en-US" sz="1800" dirty="0" smtClean="0"/>
              <a:t>雖然使用</a:t>
            </a:r>
            <a:r>
              <a:rPr lang="zh-TW" altLang="en-US" sz="1800" dirty="0"/>
              <a:t>其他信息來源可以平均提高對齊質量，</a:t>
            </a:r>
            <a:r>
              <a:rPr lang="zh-TW" altLang="en-US" sz="1800" dirty="0" smtClean="0"/>
              <a:t>但是這些</a:t>
            </a:r>
            <a:r>
              <a:rPr lang="zh-TW" altLang="en-US" sz="1800" dirty="0"/>
              <a:t>來源中的</a:t>
            </a:r>
            <a:r>
              <a:rPr lang="zh-TW" altLang="en-US" sz="1800" dirty="0" smtClean="0"/>
              <a:t>錯誤資訊也可能會導致</a:t>
            </a:r>
            <a:r>
              <a:rPr lang="zh-TW" altLang="en-US" sz="1800" dirty="0"/>
              <a:t>對齊不良的情況</a:t>
            </a:r>
            <a:r>
              <a:rPr lang="zh-TW" altLang="en-US" sz="1800" dirty="0" smtClean="0"/>
              <a:t>。</a:t>
            </a:r>
            <a:endParaRPr lang="en-US" altLang="zh-TW" sz="1800" dirty="0" smtClean="0"/>
          </a:p>
          <a:p>
            <a:pPr marL="0" indent="0">
              <a:lnSpc>
                <a:spcPct val="150000"/>
              </a:lnSpc>
              <a:buNone/>
            </a:pPr>
            <a:endParaRPr lang="en-US" altLang="zh-TW" sz="1800" dirty="0" smtClean="0"/>
          </a:p>
          <a:p>
            <a:pPr marL="0" indent="0">
              <a:lnSpc>
                <a:spcPct val="150000"/>
              </a:lnSpc>
              <a:buNone/>
            </a:pPr>
            <a:r>
              <a:rPr lang="zh-TW" altLang="en-US" sz="1800" dirty="0" smtClean="0"/>
              <a:t>例如</a:t>
            </a:r>
            <a:r>
              <a:rPr lang="zh-TW" altLang="en-US" sz="1800" dirty="0"/>
              <a:t>，同源物比對中的</a:t>
            </a:r>
            <a:r>
              <a:rPr lang="zh-TW" altLang="en-US" sz="1800" dirty="0" smtClean="0"/>
              <a:t>錯誤</a:t>
            </a:r>
            <a:r>
              <a:rPr lang="zh-TW" altLang="en-US" sz="1800" dirty="0"/>
              <a:t>可能導致序列譜的錯誤估計，二級</a:t>
            </a:r>
            <a:r>
              <a:rPr lang="zh-TW" altLang="en-US" sz="1800" dirty="0" smtClean="0"/>
              <a:t>結構的預測</a:t>
            </a:r>
            <a:r>
              <a:rPr lang="zh-TW" altLang="en-US" sz="1800" dirty="0"/>
              <a:t>可能是不正確的，並且純粹從幾何角度進行的</a:t>
            </a:r>
            <a:r>
              <a:rPr lang="en-US" altLang="zh-TW" sz="1800" dirty="0"/>
              <a:t>3D</a:t>
            </a:r>
            <a:r>
              <a:rPr lang="zh-TW" altLang="en-US" sz="1800" dirty="0"/>
              <a:t>結構比較可能與基於序列進化模型的結果</a:t>
            </a:r>
            <a:r>
              <a:rPr lang="zh-TW" altLang="en-US" sz="1800" dirty="0" smtClean="0"/>
              <a:t>相互矛盾。</a:t>
            </a:r>
            <a:endParaRPr lang="zh-TW" altLang="en-US" sz="1800" dirty="0"/>
          </a:p>
        </p:txBody>
      </p:sp>
    </p:spTree>
    <p:extLst>
      <p:ext uri="{BB962C8B-B14F-4D97-AF65-F5344CB8AC3E}">
        <p14:creationId xmlns:p14="http://schemas.microsoft.com/office/powerpoint/2010/main" val="26532408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8650" y="593059"/>
            <a:ext cx="7886700" cy="1325563"/>
          </a:xfrm>
        </p:spPr>
        <p:txBody>
          <a:bodyPr>
            <a:normAutofit/>
          </a:bodyPr>
          <a:lstStyle/>
          <a:p>
            <a:r>
              <a:rPr lang="en-US" altLang="zh-TW" sz="3200" b="1" dirty="0" smtClean="0">
                <a:latin typeface="Times New Roman" panose="02020603050405020304" pitchFamily="18" charset="0"/>
                <a:cs typeface="Times New Roman" panose="02020603050405020304" pitchFamily="18" charset="0"/>
              </a:rPr>
              <a:t>Evaluation </a:t>
            </a:r>
            <a:r>
              <a:rPr lang="en-US" altLang="zh-TW" sz="3200" b="1" dirty="0">
                <a:latin typeface="Times New Roman" panose="02020603050405020304" pitchFamily="18" charset="0"/>
                <a:cs typeface="Times New Roman" panose="02020603050405020304" pitchFamily="18" charset="0"/>
              </a:rPr>
              <a:t>of alignment quality</a:t>
            </a:r>
            <a:r>
              <a:rPr lang="zh-TW" altLang="en-US" sz="3200" b="1" dirty="0">
                <a:latin typeface="Times New Roman" panose="02020603050405020304" pitchFamily="18" charset="0"/>
                <a:cs typeface="Times New Roman" panose="02020603050405020304" pitchFamily="18" charset="0"/>
              </a:rPr>
              <a:t/>
            </a:r>
            <a:br>
              <a:rPr lang="zh-TW" altLang="en-US" sz="3200" b="1" dirty="0">
                <a:latin typeface="Times New Roman" panose="02020603050405020304" pitchFamily="18" charset="0"/>
                <a:cs typeface="Times New Roman" panose="02020603050405020304" pitchFamily="18" charset="0"/>
              </a:rPr>
            </a:b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628650" y="1845158"/>
            <a:ext cx="7886700" cy="4351338"/>
          </a:xfrm>
        </p:spPr>
        <p:txBody>
          <a:bodyPr>
            <a:normAutofit/>
          </a:bodyPr>
          <a:lstStyle/>
          <a:p>
            <a:pPr marL="0" indent="0">
              <a:lnSpc>
                <a:spcPct val="200000"/>
              </a:lnSpc>
              <a:buNone/>
            </a:pPr>
            <a:r>
              <a:rPr lang="zh-TW" altLang="en-US" sz="1800" dirty="0" smtClean="0">
                <a:latin typeface="Times New Roman" panose="02020603050405020304" pitchFamily="18" charset="0"/>
                <a:cs typeface="Times New Roman" panose="02020603050405020304" pitchFamily="18" charset="0"/>
              </a:rPr>
              <a:t>評估效能的</a:t>
            </a:r>
            <a:r>
              <a:rPr lang="zh-TW" altLang="en-US" sz="1800" dirty="0">
                <a:latin typeface="Times New Roman" panose="02020603050405020304" pitchFamily="18" charset="0"/>
                <a:cs typeface="Times New Roman" panose="02020603050405020304" pitchFamily="18" charset="0"/>
              </a:rPr>
              <a:t>基本方法是將測試對象與標準的參考</a:t>
            </a:r>
            <a:r>
              <a:rPr lang="zh-TW" altLang="en-US" sz="1800" dirty="0" smtClean="0">
                <a:latin typeface="Times New Roman" panose="02020603050405020304" pitchFamily="18" charset="0"/>
                <a:cs typeface="Times New Roman" panose="02020603050405020304" pitchFamily="18" charset="0"/>
              </a:rPr>
              <a:t>目標進行</a:t>
            </a:r>
            <a:r>
              <a:rPr lang="zh-TW" altLang="en-US" sz="1800" dirty="0">
                <a:latin typeface="Times New Roman" panose="02020603050405020304" pitchFamily="18" charset="0"/>
                <a:cs typeface="Times New Roman" panose="02020603050405020304" pitchFamily="18" charset="0"/>
              </a:rPr>
              <a:t>比較。 </a:t>
            </a:r>
            <a:endParaRPr lang="en-US" altLang="zh-TW" sz="1800" dirty="0" smtClean="0">
              <a:latin typeface="Times New Roman" panose="02020603050405020304" pitchFamily="18" charset="0"/>
              <a:cs typeface="Times New Roman" panose="02020603050405020304" pitchFamily="18" charset="0"/>
            </a:endParaRPr>
          </a:p>
          <a:p>
            <a:pPr marL="0" indent="0">
              <a:lnSpc>
                <a:spcPct val="200000"/>
              </a:lnSpc>
              <a:buNone/>
            </a:pPr>
            <a:r>
              <a:rPr lang="zh-TW" altLang="en-US" sz="1800" dirty="0" smtClean="0">
                <a:latin typeface="Times New Roman" panose="02020603050405020304" pitchFamily="18" charset="0"/>
                <a:cs typeface="Times New Roman" panose="02020603050405020304" pitchFamily="18" charset="0"/>
              </a:rPr>
              <a:t>常用</a:t>
            </a:r>
            <a:r>
              <a:rPr lang="zh-TW" altLang="en-US" sz="1800" dirty="0">
                <a:latin typeface="Times New Roman" panose="02020603050405020304" pitchFamily="18" charset="0"/>
                <a:cs typeface="Times New Roman" panose="02020603050405020304" pitchFamily="18" charset="0"/>
              </a:rPr>
              <a:t>的參考比對基準包括</a:t>
            </a:r>
            <a:r>
              <a:rPr lang="en-US" altLang="zh-TW" sz="1800" dirty="0" err="1">
                <a:latin typeface="Times New Roman" panose="02020603050405020304" pitchFamily="18" charset="0"/>
                <a:cs typeface="Times New Roman" panose="02020603050405020304" pitchFamily="18" charset="0"/>
              </a:rPr>
              <a:t>BaliBASE</a:t>
            </a:r>
            <a:r>
              <a:rPr lang="en-US" altLang="zh-TW" sz="1800" dirty="0">
                <a:latin typeface="Times New Roman" panose="02020603050405020304" pitchFamily="18" charset="0"/>
                <a:cs typeface="Times New Roman" panose="02020603050405020304" pitchFamily="18" charset="0"/>
              </a:rPr>
              <a:t> </a:t>
            </a:r>
            <a:r>
              <a:rPr lang="zh-TW" altLang="en-US" sz="1800" dirty="0" smtClean="0">
                <a:latin typeface="Times New Roman" panose="02020603050405020304" pitchFamily="18" charset="0"/>
                <a:cs typeface="Times New Roman" panose="02020603050405020304" pitchFamily="18" charset="0"/>
              </a:rPr>
              <a:t>，</a:t>
            </a:r>
            <a:r>
              <a:rPr lang="en-US" altLang="zh-TW" sz="1800" dirty="0">
                <a:latin typeface="Times New Roman" panose="02020603050405020304" pitchFamily="18" charset="0"/>
                <a:cs typeface="Times New Roman" panose="02020603050405020304" pitchFamily="18" charset="0"/>
              </a:rPr>
              <a:t>HOMSTRAD </a:t>
            </a:r>
            <a:r>
              <a:rPr lang="zh-TW" altLang="en-US" sz="1800" dirty="0" smtClean="0">
                <a:latin typeface="Times New Roman" panose="02020603050405020304" pitchFamily="18" charset="0"/>
                <a:cs typeface="Times New Roman" panose="02020603050405020304" pitchFamily="18" charset="0"/>
              </a:rPr>
              <a:t>，</a:t>
            </a:r>
            <a:r>
              <a:rPr lang="en-US" altLang="zh-TW" sz="1800" dirty="0">
                <a:latin typeface="Times New Roman" panose="02020603050405020304" pitchFamily="18" charset="0"/>
                <a:cs typeface="Times New Roman" panose="02020603050405020304" pitchFamily="18" charset="0"/>
              </a:rPr>
              <a:t>PREFAB </a:t>
            </a:r>
            <a:r>
              <a:rPr lang="zh-TW" altLang="en-US" sz="1800" dirty="0" smtClean="0">
                <a:latin typeface="Times New Roman" panose="02020603050405020304" pitchFamily="18" charset="0"/>
                <a:cs typeface="Times New Roman" panose="02020603050405020304" pitchFamily="18" charset="0"/>
              </a:rPr>
              <a:t>，</a:t>
            </a:r>
            <a:r>
              <a:rPr lang="en-US" altLang="zh-TW" sz="1800" dirty="0">
                <a:latin typeface="Times New Roman" panose="02020603050405020304" pitchFamily="18" charset="0"/>
                <a:cs typeface="Times New Roman" panose="02020603050405020304" pitchFamily="18" charset="0"/>
              </a:rPr>
              <a:t>OXBENCH </a:t>
            </a:r>
            <a:r>
              <a:rPr lang="zh-TW" altLang="en-US" sz="1800" dirty="0" smtClean="0">
                <a:latin typeface="Times New Roman" panose="02020603050405020304" pitchFamily="18" charset="0"/>
                <a:cs typeface="Times New Roman" panose="02020603050405020304" pitchFamily="18" charset="0"/>
              </a:rPr>
              <a:t>和</a:t>
            </a:r>
            <a:r>
              <a:rPr lang="en-US" altLang="zh-TW" sz="1800" dirty="0" err="1">
                <a:latin typeface="Times New Roman" panose="02020603050405020304" pitchFamily="18" charset="0"/>
                <a:cs typeface="Times New Roman" panose="02020603050405020304" pitchFamily="18" charset="0"/>
              </a:rPr>
              <a:t>SABmark</a:t>
            </a:r>
            <a:r>
              <a:rPr lang="en-US" altLang="zh-TW" sz="1800" dirty="0">
                <a:latin typeface="Times New Roman" panose="02020603050405020304" pitchFamily="18" charset="0"/>
                <a:cs typeface="Times New Roman" panose="02020603050405020304" pitchFamily="18" charset="0"/>
              </a:rPr>
              <a:t> </a:t>
            </a:r>
            <a:r>
              <a:rPr lang="zh-TW" altLang="en-US" sz="1800" dirty="0" smtClean="0">
                <a:latin typeface="Times New Roman" panose="02020603050405020304" pitchFamily="18" charset="0"/>
                <a:cs typeface="Times New Roman" panose="02020603050405020304" pitchFamily="18" charset="0"/>
              </a:rPr>
              <a:t>。 </a:t>
            </a:r>
            <a:r>
              <a:rPr lang="zh-TW" altLang="en-US" sz="1800" dirty="0">
                <a:latin typeface="Times New Roman" panose="02020603050405020304" pitchFamily="18" charset="0"/>
                <a:cs typeface="Times New Roman" panose="02020603050405020304" pitchFamily="18" charset="0"/>
              </a:rPr>
              <a:t>為了提高參考質量，這些基準測試中的比對通常是人工策劃（在</a:t>
            </a:r>
            <a:r>
              <a:rPr lang="en-US" altLang="zh-TW" sz="1800" dirty="0" err="1">
                <a:latin typeface="Times New Roman" panose="02020603050405020304" pitchFamily="18" charset="0"/>
                <a:cs typeface="Times New Roman" panose="02020603050405020304" pitchFamily="18" charset="0"/>
              </a:rPr>
              <a:t>BaliBASE</a:t>
            </a:r>
            <a:r>
              <a:rPr lang="zh-TW" altLang="en-US" sz="1800" dirty="0">
                <a:latin typeface="Times New Roman" panose="02020603050405020304" pitchFamily="18" charset="0"/>
                <a:cs typeface="Times New Roman" panose="02020603050405020304" pitchFamily="18" charset="0"/>
              </a:rPr>
              <a:t>和</a:t>
            </a:r>
            <a:r>
              <a:rPr lang="en-US" altLang="zh-TW" sz="1800" dirty="0">
                <a:latin typeface="Times New Roman" panose="02020603050405020304" pitchFamily="18" charset="0"/>
                <a:cs typeface="Times New Roman" panose="02020603050405020304" pitchFamily="18" charset="0"/>
              </a:rPr>
              <a:t>HOMSTRAD</a:t>
            </a:r>
            <a:r>
              <a:rPr lang="zh-TW" altLang="en-US" sz="1800" dirty="0">
                <a:latin typeface="Times New Roman" panose="02020603050405020304" pitchFamily="18" charset="0"/>
                <a:cs typeface="Times New Roman" panose="02020603050405020304" pitchFamily="18" charset="0"/>
              </a:rPr>
              <a:t>的情況下）或基於不同結構比較程序（</a:t>
            </a:r>
            <a:r>
              <a:rPr lang="en-US" altLang="zh-TW" sz="1800" dirty="0">
                <a:latin typeface="Times New Roman" panose="02020603050405020304" pitchFamily="18" charset="0"/>
                <a:cs typeface="Times New Roman" panose="02020603050405020304" pitchFamily="18" charset="0"/>
              </a:rPr>
              <a:t>PREFAB</a:t>
            </a:r>
            <a:r>
              <a:rPr lang="zh-TW" altLang="en-US" sz="1800" dirty="0">
                <a:latin typeface="Times New Roman" panose="02020603050405020304" pitchFamily="18" charset="0"/>
                <a:cs typeface="Times New Roman" panose="02020603050405020304" pitchFamily="18" charset="0"/>
              </a:rPr>
              <a:t>和</a:t>
            </a:r>
            <a:r>
              <a:rPr lang="en-US" altLang="zh-TW" sz="1800" dirty="0" err="1">
                <a:latin typeface="Times New Roman" panose="02020603050405020304" pitchFamily="18" charset="0"/>
                <a:cs typeface="Times New Roman" panose="02020603050405020304" pitchFamily="18" charset="0"/>
              </a:rPr>
              <a:t>SABmark</a:t>
            </a:r>
            <a:r>
              <a:rPr lang="zh-TW" altLang="en-US" sz="1800" dirty="0" smtClean="0">
                <a:latin typeface="Times New Roman" panose="02020603050405020304" pitchFamily="18" charset="0"/>
                <a:cs typeface="Times New Roman" panose="02020603050405020304" pitchFamily="18" charset="0"/>
              </a:rPr>
              <a:t>）。 </a:t>
            </a:r>
            <a:endParaRPr lang="en-US" altLang="zh-TW" sz="1800" dirty="0" smtClean="0">
              <a:latin typeface="Times New Roman" panose="02020603050405020304" pitchFamily="18" charset="0"/>
              <a:cs typeface="Times New Roman" panose="02020603050405020304" pitchFamily="18" charset="0"/>
            </a:endParaRPr>
          </a:p>
          <a:p>
            <a:pPr marL="0" indent="0">
              <a:lnSpc>
                <a:spcPct val="200000"/>
              </a:lnSpc>
              <a:buNone/>
            </a:pPr>
            <a:r>
              <a:rPr lang="en-US" altLang="zh-TW" sz="1800" dirty="0" smtClean="0">
                <a:latin typeface="Times New Roman" panose="02020603050405020304" pitchFamily="18" charset="0"/>
                <a:cs typeface="Times New Roman" panose="02020603050405020304" pitchFamily="18" charset="0"/>
              </a:rPr>
              <a:t>PREFAB</a:t>
            </a:r>
            <a:r>
              <a:rPr lang="zh-TW" altLang="en-US" sz="1800" dirty="0">
                <a:latin typeface="Times New Roman" panose="02020603050405020304" pitchFamily="18" charset="0"/>
                <a:cs typeface="Times New Roman" panose="02020603050405020304" pitchFamily="18" charset="0"/>
              </a:rPr>
              <a:t>數據庫中有</a:t>
            </a:r>
            <a:r>
              <a:rPr lang="zh-TW" altLang="en-US" sz="1800" dirty="0" smtClean="0">
                <a:latin typeface="Times New Roman" panose="02020603050405020304" pitchFamily="18" charset="0"/>
                <a:cs typeface="Times New Roman" panose="02020603050405020304" pitchFamily="18" charset="0"/>
              </a:rPr>
              <a:t>大量不同的參考目標， </a:t>
            </a:r>
            <a:r>
              <a:rPr lang="en-US" altLang="zh-TW" sz="1800" dirty="0" err="1">
                <a:latin typeface="Times New Roman" panose="02020603050405020304" pitchFamily="18" charset="0"/>
                <a:cs typeface="Times New Roman" panose="02020603050405020304" pitchFamily="18" charset="0"/>
              </a:rPr>
              <a:t>SABmark</a:t>
            </a:r>
            <a:r>
              <a:rPr lang="zh-TW" altLang="en-US" sz="1800" dirty="0">
                <a:latin typeface="Times New Roman" panose="02020603050405020304" pitchFamily="18" charset="0"/>
                <a:cs typeface="Times New Roman" panose="02020603050405020304" pitchFamily="18" charset="0"/>
              </a:rPr>
              <a:t>數據</a:t>
            </a:r>
            <a:r>
              <a:rPr lang="zh-TW" altLang="en-US" sz="1800" dirty="0" smtClean="0">
                <a:latin typeface="Times New Roman" panose="02020603050405020304" pitchFamily="18" charset="0"/>
                <a:cs typeface="Times New Roman" panose="02020603050405020304" pitchFamily="18" charset="0"/>
              </a:rPr>
              <a:t>庫則具有用於不同序列對齊的資料。</a:t>
            </a:r>
            <a:endParaRPr lang="zh-TW" altLang="zh-TW"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795848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761815" y="1137387"/>
            <a:ext cx="7886700" cy="4351338"/>
          </a:xfrm>
        </p:spPr>
        <p:txBody>
          <a:bodyPr>
            <a:normAutofit/>
          </a:bodyPr>
          <a:lstStyle/>
          <a:p>
            <a:pPr marL="0" indent="0">
              <a:lnSpc>
                <a:spcPct val="200000"/>
              </a:lnSpc>
              <a:buNone/>
            </a:pPr>
            <a:r>
              <a:rPr lang="zh-TW" altLang="en-US" sz="1800" dirty="0"/>
              <a:t>雖然基於結構的對齊可以作為高質量的參考，但它們有幾個缺點</a:t>
            </a:r>
            <a:r>
              <a:rPr lang="zh-TW" altLang="en-US" sz="1800" dirty="0" smtClean="0"/>
              <a:t>。</a:t>
            </a:r>
            <a:endParaRPr lang="en-US" altLang="zh-TW" sz="1800" dirty="0" smtClean="0"/>
          </a:p>
          <a:p>
            <a:pPr marL="342900" indent="-342900">
              <a:lnSpc>
                <a:spcPct val="200000"/>
              </a:lnSpc>
              <a:buAutoNum type="arabicPeriod"/>
            </a:pPr>
            <a:r>
              <a:rPr lang="zh-TW" altLang="en-US" sz="1800" dirty="0" smtClean="0"/>
              <a:t>結構</a:t>
            </a:r>
            <a:r>
              <a:rPr lang="zh-TW" altLang="en-US" sz="1800" dirty="0"/>
              <a:t>比對仍然可能有錯誤，特別是對於結構相似</a:t>
            </a:r>
            <a:r>
              <a:rPr lang="zh-TW" altLang="en-US" sz="1800" dirty="0" smtClean="0"/>
              <a:t>性較</a:t>
            </a:r>
            <a:r>
              <a:rPr lang="zh-TW" altLang="en-US" sz="1800" dirty="0"/>
              <a:t>低的</a:t>
            </a:r>
            <a:r>
              <a:rPr lang="zh-TW" altLang="en-US" sz="1800" dirty="0" smtClean="0"/>
              <a:t>蛋白質</a:t>
            </a:r>
            <a:endParaRPr lang="en-US" altLang="zh-TW" sz="1800" dirty="0" smtClean="0"/>
          </a:p>
          <a:p>
            <a:pPr marL="342900" indent="-342900">
              <a:lnSpc>
                <a:spcPct val="200000"/>
              </a:lnSpc>
              <a:buAutoNum type="arabicPeriod"/>
            </a:pPr>
            <a:r>
              <a:rPr lang="zh-TW" altLang="en-US" sz="1800" dirty="0" smtClean="0"/>
              <a:t>在</a:t>
            </a:r>
            <a:r>
              <a:rPr lang="zh-TW" altLang="en-US" sz="1800" dirty="0"/>
              <a:t>某些區域</a:t>
            </a:r>
            <a:r>
              <a:rPr lang="zh-TW" altLang="en-US" sz="1800" dirty="0" smtClean="0"/>
              <a:t>中很難定義</a:t>
            </a:r>
            <a:r>
              <a:rPr lang="zh-TW" altLang="en-US" sz="1800" dirty="0"/>
              <a:t>最佳結構</a:t>
            </a:r>
            <a:r>
              <a:rPr lang="zh-TW" altLang="en-US" sz="1800" dirty="0" smtClean="0"/>
              <a:t>比對的條件，</a:t>
            </a:r>
            <a:r>
              <a:rPr lang="zh-TW" altLang="en-US" sz="1800" dirty="0"/>
              <a:t>並且對於結構上不同的蛋白質是不可能的</a:t>
            </a:r>
            <a:r>
              <a:rPr lang="zh-TW" altLang="en-US" sz="1800" dirty="0" smtClean="0"/>
              <a:t>。</a:t>
            </a:r>
            <a:endParaRPr lang="en-US" altLang="zh-TW" sz="1800" dirty="0" smtClean="0"/>
          </a:p>
          <a:p>
            <a:pPr marL="342900" indent="-342900">
              <a:lnSpc>
                <a:spcPct val="200000"/>
              </a:lnSpc>
              <a:buAutoNum type="arabicPeriod"/>
            </a:pPr>
            <a:r>
              <a:rPr lang="zh-TW" altLang="en-US" sz="1800" dirty="0" smtClean="0"/>
              <a:t>對於</a:t>
            </a:r>
            <a:r>
              <a:rPr lang="zh-TW" altLang="en-US" sz="1800" dirty="0"/>
              <a:t>多域蛋白質存在多種對齊結構相似部分的方法，但結構比較程序</a:t>
            </a:r>
            <a:r>
              <a:rPr lang="zh-TW" altLang="en-US" sz="1800" dirty="0" smtClean="0"/>
              <a:t>通常只有報告</a:t>
            </a:r>
            <a:r>
              <a:rPr lang="zh-TW" altLang="en-US" sz="1800" dirty="0"/>
              <a:t>一種比對。</a:t>
            </a:r>
            <a:endParaRPr lang="zh-TW" altLang="zh-TW" sz="1800" dirty="0"/>
          </a:p>
        </p:txBody>
      </p:sp>
    </p:spTree>
    <p:extLst>
      <p:ext uri="{BB962C8B-B14F-4D97-AF65-F5344CB8AC3E}">
        <p14:creationId xmlns:p14="http://schemas.microsoft.com/office/powerpoint/2010/main" val="213037753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628650" y="1599026"/>
            <a:ext cx="7886700" cy="4351338"/>
          </a:xfrm>
        </p:spPr>
        <p:txBody>
          <a:bodyPr>
            <a:normAutofit/>
          </a:bodyPr>
          <a:lstStyle/>
          <a:p>
            <a:pPr marL="0" indent="0">
              <a:lnSpc>
                <a:spcPct val="200000"/>
              </a:lnSpc>
              <a:buNone/>
            </a:pPr>
            <a:r>
              <a:rPr lang="zh-TW" altLang="en-US" sz="1800" dirty="0" smtClean="0"/>
              <a:t>隨著序列</a:t>
            </a:r>
            <a:r>
              <a:rPr lang="zh-TW" altLang="en-US" sz="1800" dirty="0"/>
              <a:t>數據</a:t>
            </a:r>
            <a:r>
              <a:rPr lang="zh-TW" altLang="en-US" sz="1800" dirty="0" smtClean="0"/>
              <a:t>庫的規模迅速增加，對於</a:t>
            </a:r>
            <a:r>
              <a:rPr lang="zh-TW" altLang="en-US" sz="1800" dirty="0"/>
              <a:t>漸進方法</a:t>
            </a:r>
            <a:r>
              <a:rPr lang="zh-TW" altLang="en-US" sz="1800" dirty="0" smtClean="0"/>
              <a:t>，開發</a:t>
            </a:r>
            <a:r>
              <a:rPr lang="zh-TW" altLang="en-US" sz="1800" dirty="0"/>
              <a:t>了許多快速樹構建方法來處理大量</a:t>
            </a:r>
            <a:r>
              <a:rPr lang="zh-TW" altLang="en-US" sz="1800" dirty="0" smtClean="0"/>
              <a:t>序列。</a:t>
            </a:r>
            <a:endParaRPr lang="en-US" altLang="zh-TW" sz="1800" dirty="0" smtClean="0"/>
          </a:p>
          <a:p>
            <a:pPr marL="0" indent="0">
              <a:lnSpc>
                <a:spcPct val="200000"/>
              </a:lnSpc>
              <a:buNone/>
            </a:pPr>
            <a:r>
              <a:rPr lang="zh-TW" altLang="en-US" sz="1800" dirty="0" smtClean="0"/>
              <a:t>對齊</a:t>
            </a:r>
            <a:r>
              <a:rPr lang="zh-TW" altLang="en-US" sz="1800" dirty="0">
                <a:latin typeface="Times New Roman" panose="02020603050405020304" pitchFamily="18" charset="0"/>
                <a:cs typeface="Times New Roman" panose="02020603050405020304" pitchFamily="18" charset="0"/>
              </a:rPr>
              <a:t>的迭代細化通常</a:t>
            </a:r>
            <a:r>
              <a:rPr lang="zh-TW" altLang="en-US" sz="1800" dirty="0" smtClean="0">
                <a:latin typeface="Times New Roman" panose="02020603050405020304" pitchFamily="18" charset="0"/>
                <a:cs typeface="Times New Roman" panose="02020603050405020304" pitchFamily="18" charset="0"/>
              </a:rPr>
              <a:t>涉及許多的步驟，其中識別</a:t>
            </a:r>
            <a:r>
              <a:rPr lang="zh-TW" altLang="en-US" sz="1800" dirty="0">
                <a:latin typeface="Times New Roman" panose="02020603050405020304" pitchFamily="18" charset="0"/>
                <a:cs typeface="Times New Roman" panose="02020603050405020304" pitchFamily="18" charset="0"/>
              </a:rPr>
              <a:t>和</a:t>
            </a:r>
            <a:r>
              <a:rPr lang="zh-TW" altLang="en-US" sz="1800" dirty="0" smtClean="0">
                <a:latin typeface="Times New Roman" panose="02020603050405020304" pitchFamily="18" charset="0"/>
                <a:cs typeface="Times New Roman" panose="02020603050405020304" pitchFamily="18" charset="0"/>
              </a:rPr>
              <a:t>固定核心的部分可以提高</a:t>
            </a:r>
            <a:r>
              <a:rPr lang="zh-TW" altLang="en-US" sz="1800" dirty="0">
                <a:latin typeface="Times New Roman" panose="02020603050405020304" pitchFamily="18" charset="0"/>
                <a:cs typeface="Times New Roman" panose="02020603050405020304" pitchFamily="18" charset="0"/>
              </a:rPr>
              <a:t>速度，如在</a:t>
            </a:r>
            <a:r>
              <a:rPr lang="en-US" altLang="zh-TW" sz="1800" dirty="0">
                <a:latin typeface="Times New Roman" panose="02020603050405020304" pitchFamily="18" charset="0"/>
                <a:cs typeface="Times New Roman" panose="02020603050405020304" pitchFamily="18" charset="0"/>
              </a:rPr>
              <a:t>MUSCLE</a:t>
            </a:r>
            <a:r>
              <a:rPr lang="zh-TW" altLang="en-US" sz="1800" dirty="0">
                <a:latin typeface="Times New Roman" panose="02020603050405020304" pitchFamily="18" charset="0"/>
                <a:cs typeface="Times New Roman" panose="02020603050405020304" pitchFamily="18" charset="0"/>
              </a:rPr>
              <a:t>和</a:t>
            </a:r>
            <a:r>
              <a:rPr lang="en-US" altLang="zh-TW" sz="1800" dirty="0">
                <a:latin typeface="Times New Roman" panose="02020603050405020304" pitchFamily="18" charset="0"/>
                <a:cs typeface="Times New Roman" panose="02020603050405020304" pitchFamily="18" charset="0"/>
              </a:rPr>
              <a:t>MAFFT</a:t>
            </a:r>
            <a:r>
              <a:rPr lang="zh-TW" altLang="en-US" sz="1800" dirty="0">
                <a:latin typeface="Times New Roman" panose="02020603050405020304" pitchFamily="18" charset="0"/>
                <a:cs typeface="Times New Roman" panose="02020603050405020304" pitchFamily="18" charset="0"/>
              </a:rPr>
              <a:t>中實現的</a:t>
            </a:r>
            <a:r>
              <a:rPr lang="zh-TW" altLang="en-US" sz="1800" dirty="0" smtClean="0">
                <a:latin typeface="Times New Roman" panose="02020603050405020304" pitchFamily="18" charset="0"/>
                <a:cs typeface="Times New Roman" panose="02020603050405020304" pitchFamily="18" charset="0"/>
              </a:rPr>
              <a:t>。</a:t>
            </a:r>
            <a:endParaRPr lang="en-US" altLang="zh-TW" sz="1800" dirty="0" smtClean="0">
              <a:latin typeface="Times New Roman" panose="02020603050405020304" pitchFamily="18" charset="0"/>
              <a:cs typeface="Times New Roman" panose="02020603050405020304" pitchFamily="18" charset="0"/>
            </a:endParaRPr>
          </a:p>
          <a:p>
            <a:pPr marL="0" indent="0">
              <a:lnSpc>
                <a:spcPct val="200000"/>
              </a:lnSpc>
              <a:buNone/>
            </a:pPr>
            <a:r>
              <a:rPr lang="zh-TW" altLang="en-US" sz="1800" dirty="0" smtClean="0"/>
              <a:t>減少</a:t>
            </a:r>
            <a:r>
              <a:rPr lang="zh-TW" altLang="en-US" sz="1800" dirty="0"/>
              <a:t>計算時間和復雜性的方法</a:t>
            </a:r>
            <a:r>
              <a:rPr lang="zh-TW" altLang="en-US" sz="1800" dirty="0" smtClean="0"/>
              <a:t>是不同</a:t>
            </a:r>
            <a:r>
              <a:rPr lang="zh-TW" altLang="en-US" sz="1800" dirty="0"/>
              <a:t>的序列</a:t>
            </a:r>
            <a:r>
              <a:rPr lang="zh-TW" altLang="en-US" sz="1800" dirty="0" smtClean="0"/>
              <a:t>集會使用</a:t>
            </a:r>
            <a:r>
              <a:rPr lang="zh-TW" altLang="en-US" sz="1800" dirty="0"/>
              <a:t>不同的</a:t>
            </a:r>
            <a:r>
              <a:rPr lang="zh-TW" altLang="en-US" sz="1800" dirty="0" smtClean="0"/>
              <a:t>策略，高度</a:t>
            </a:r>
            <a:r>
              <a:rPr lang="zh-TW" altLang="en-US" sz="1800" dirty="0"/>
              <a:t>相似的序列可以</a:t>
            </a:r>
            <a:r>
              <a:rPr lang="zh-TW" altLang="en-US" sz="1800" dirty="0" smtClean="0"/>
              <a:t>快速比對，但是相似度較低的序列就需要</a:t>
            </a:r>
            <a:r>
              <a:rPr lang="zh-TW" altLang="en-US" sz="1800" dirty="0"/>
              <a:t>更複雜的技術和額外</a:t>
            </a:r>
            <a:r>
              <a:rPr lang="zh-TW" altLang="en-US" sz="1800" dirty="0" smtClean="0"/>
              <a:t>的來源增強</a:t>
            </a:r>
            <a:r>
              <a:rPr lang="zh-TW" altLang="en-US" sz="1800" dirty="0"/>
              <a:t>發散序列的對準</a:t>
            </a:r>
            <a:r>
              <a:rPr lang="zh-TW" altLang="en-US" sz="1800" dirty="0" smtClean="0"/>
              <a:t>質量。</a:t>
            </a:r>
            <a:endParaRPr lang="zh-TW" altLang="zh-TW" sz="1800" dirty="0"/>
          </a:p>
        </p:txBody>
      </p:sp>
      <p:sp>
        <p:nvSpPr>
          <p:cNvPr id="4" name="標題 3"/>
          <p:cNvSpPr>
            <a:spLocks noGrp="1"/>
          </p:cNvSpPr>
          <p:nvPr>
            <p:ph type="title"/>
          </p:nvPr>
        </p:nvSpPr>
        <p:spPr>
          <a:xfrm>
            <a:off x="628650" y="571287"/>
            <a:ext cx="8621882" cy="1325563"/>
          </a:xfrm>
        </p:spPr>
        <p:txBody>
          <a:bodyPr>
            <a:normAutofit/>
          </a:bodyPr>
          <a:lstStyle/>
          <a:p>
            <a:r>
              <a:rPr lang="en-US" altLang="zh-TW" sz="3200" b="1" dirty="0">
                <a:latin typeface="Times New Roman" panose="02020603050405020304" pitchFamily="18" charset="0"/>
                <a:cs typeface="Times New Roman" panose="02020603050405020304" pitchFamily="18" charset="0"/>
              </a:rPr>
              <a:t>Alignment speed and </a:t>
            </a:r>
            <a:r>
              <a:rPr lang="en-US" altLang="zh-TW" sz="3200" b="1" dirty="0" smtClean="0">
                <a:latin typeface="Times New Roman" panose="02020603050405020304" pitchFamily="18" charset="0"/>
                <a:cs typeface="Times New Roman" panose="02020603050405020304" pitchFamily="18" charset="0"/>
              </a:rPr>
              <a:t>program</a:t>
            </a:r>
            <a:r>
              <a:rPr lang="zh-TW" altLang="en-US" sz="3200" b="1" dirty="0" smtClean="0">
                <a:latin typeface="Times New Roman" panose="02020603050405020304" pitchFamily="18" charset="0"/>
                <a:cs typeface="Times New Roman" panose="02020603050405020304" pitchFamily="18" charset="0"/>
              </a:rPr>
              <a:t> </a:t>
            </a:r>
            <a:r>
              <a:rPr lang="en-US" altLang="zh-TW" sz="3200" b="1" dirty="0" smtClean="0">
                <a:latin typeface="Times New Roman" panose="02020603050405020304" pitchFamily="18" charset="0"/>
                <a:cs typeface="Times New Roman" panose="02020603050405020304" pitchFamily="18" charset="0"/>
              </a:rPr>
              <a:t>selection</a:t>
            </a:r>
            <a:r>
              <a:rPr lang="zh-TW" altLang="en-US" dirty="0"/>
              <a:t/>
            </a:r>
            <a:br>
              <a:rPr lang="zh-TW" altLang="en-US" dirty="0"/>
            </a:br>
            <a:endParaRPr lang="zh-TW" altLang="en-US" dirty="0"/>
          </a:p>
        </p:txBody>
      </p:sp>
    </p:spTree>
    <p:extLst>
      <p:ext uri="{BB962C8B-B14F-4D97-AF65-F5344CB8AC3E}">
        <p14:creationId xmlns:p14="http://schemas.microsoft.com/office/powerpoint/2010/main" val="80407010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566505" y="636018"/>
            <a:ext cx="7886700" cy="4351338"/>
          </a:xfrm>
        </p:spPr>
        <p:txBody>
          <a:bodyPr>
            <a:normAutofit/>
          </a:bodyPr>
          <a:lstStyle/>
          <a:p>
            <a:pPr marL="0" indent="0">
              <a:lnSpc>
                <a:spcPct val="200000"/>
              </a:lnSpc>
              <a:buNone/>
            </a:pPr>
            <a:r>
              <a:rPr lang="zh-TW" altLang="zh-TW" sz="1800" dirty="0"/>
              <a:t>為了減少計算</a:t>
            </a:r>
            <a:r>
              <a:rPr lang="zh-TW" altLang="zh-TW" sz="1800" dirty="0">
                <a:latin typeface="Times New Roman" panose="02020603050405020304" pitchFamily="18" charset="0"/>
                <a:cs typeface="Times New Roman" panose="02020603050405020304" pitchFamily="18" charset="0"/>
              </a:rPr>
              <a:t>時間，</a:t>
            </a:r>
            <a:r>
              <a:rPr lang="en-US" altLang="zh-TW" sz="1800" dirty="0" smtClean="0">
                <a:latin typeface="Times New Roman" panose="02020603050405020304" pitchFamily="18" charset="0"/>
                <a:cs typeface="Times New Roman" panose="02020603050405020304" pitchFamily="18" charset="0"/>
              </a:rPr>
              <a:t>PROMALS3D</a:t>
            </a:r>
            <a:r>
              <a:rPr lang="zh-TW" altLang="zh-TW" sz="1800" dirty="0" smtClean="0">
                <a:latin typeface="Times New Roman" panose="02020603050405020304" pitchFamily="18" charset="0"/>
                <a:cs typeface="Times New Roman" panose="02020603050405020304" pitchFamily="18" charset="0"/>
              </a:rPr>
              <a:t>對</a:t>
            </a:r>
            <a:r>
              <a:rPr lang="zh-TW" altLang="zh-TW" sz="1800" dirty="0">
                <a:latin typeface="Times New Roman" panose="02020603050405020304" pitchFamily="18" charset="0"/>
                <a:cs typeface="Times New Roman" panose="02020603050405020304" pitchFamily="18" charset="0"/>
              </a:rPr>
              <a:t>代表性的</a:t>
            </a:r>
            <a:r>
              <a:rPr lang="zh-TW" altLang="zh-TW" sz="1800" dirty="0" smtClean="0">
                <a:latin typeface="Times New Roman" panose="02020603050405020304" pitchFamily="18" charset="0"/>
                <a:cs typeface="Times New Roman" panose="02020603050405020304" pitchFamily="18" charset="0"/>
              </a:rPr>
              <a:t>序列</a:t>
            </a:r>
            <a:r>
              <a:rPr lang="zh-TW" altLang="en-US" sz="1800" dirty="0" smtClean="0">
                <a:latin typeface="Times New Roman" panose="02020603050405020304" pitchFamily="18" charset="0"/>
                <a:cs typeface="Times New Roman" panose="02020603050405020304" pitchFamily="18" charset="0"/>
              </a:rPr>
              <a:t>建立</a:t>
            </a:r>
            <a:r>
              <a:rPr lang="zh-TW" altLang="zh-TW" sz="1800" dirty="0" smtClean="0">
                <a:latin typeface="Times New Roman" panose="02020603050405020304" pitchFamily="18" charset="0"/>
                <a:cs typeface="Times New Roman" panose="02020603050405020304" pitchFamily="18" charset="0"/>
              </a:rPr>
              <a:t>序列數據搜索</a:t>
            </a:r>
            <a:r>
              <a:rPr lang="zh-TW" altLang="zh-TW" sz="1800" dirty="0">
                <a:latin typeface="Times New Roman" panose="02020603050405020304" pitchFamily="18" charset="0"/>
                <a:cs typeface="Times New Roman" panose="02020603050405020304" pitchFamily="18" charset="0"/>
              </a:rPr>
              <a:t>庫</a:t>
            </a:r>
            <a:r>
              <a:rPr lang="zh-TW" altLang="zh-TW" sz="1800" dirty="0" smtClean="0">
                <a:latin typeface="Times New Roman" panose="02020603050405020304" pitchFamily="18" charset="0"/>
                <a:cs typeface="Times New Roman" panose="02020603050405020304" pitchFamily="18" charset="0"/>
              </a:rPr>
              <a:t>，</a:t>
            </a:r>
            <a:r>
              <a:rPr lang="zh-TW" altLang="zh-TW" sz="1800" dirty="0">
                <a:latin typeface="Times New Roman" panose="02020603050405020304" pitchFamily="18" charset="0"/>
                <a:cs typeface="Times New Roman" panose="02020603050405020304" pitchFamily="18" charset="0"/>
              </a:rPr>
              <a:t>並使用預先計算的結構對齊數據庫。已經開發了許多多重校準程序和</a:t>
            </a:r>
            <a:r>
              <a:rPr lang="en-US" altLang="zh-TW" sz="1800" dirty="0">
                <a:latin typeface="Times New Roman" panose="02020603050405020304" pitchFamily="18" charset="0"/>
                <a:cs typeface="Times New Roman" panose="02020603050405020304" pitchFamily="18" charset="0"/>
              </a:rPr>
              <a:t>Web</a:t>
            </a:r>
            <a:r>
              <a:rPr lang="zh-TW" altLang="zh-TW" sz="1800" dirty="0">
                <a:latin typeface="Times New Roman" panose="02020603050405020304" pitchFamily="18" charset="0"/>
                <a:cs typeface="Times New Roman" panose="02020603050405020304" pitchFamily="18" charset="0"/>
              </a:rPr>
              <a:t>服務器，為用戶提供</a:t>
            </a:r>
            <a:r>
              <a:rPr lang="zh-TW" altLang="zh-TW" sz="1800" dirty="0" smtClean="0">
                <a:latin typeface="Times New Roman" panose="02020603050405020304" pitchFamily="18" charset="0"/>
                <a:cs typeface="Times New Roman" panose="02020603050405020304" pitchFamily="18" charset="0"/>
              </a:rPr>
              <a:t>了</a:t>
            </a:r>
            <a:r>
              <a:rPr lang="zh-TW" altLang="en-US" sz="1800" dirty="0" smtClean="0">
                <a:latin typeface="Times New Roman" panose="02020603050405020304" pitchFamily="18" charset="0"/>
                <a:cs typeface="Times New Roman" panose="02020603050405020304" pitchFamily="18" charset="0"/>
              </a:rPr>
              <a:t>不同的</a:t>
            </a:r>
            <a:r>
              <a:rPr lang="zh-TW" altLang="zh-TW" sz="1800" dirty="0" smtClean="0">
                <a:latin typeface="Times New Roman" panose="02020603050405020304" pitchFamily="18" charset="0"/>
                <a:cs typeface="Times New Roman" panose="02020603050405020304" pitchFamily="18" charset="0"/>
              </a:rPr>
              <a:t>選擇。</a:t>
            </a:r>
            <a:endParaRPr lang="en-US" altLang="zh-TW" sz="1800" dirty="0" smtClean="0">
              <a:latin typeface="Times New Roman" panose="02020603050405020304" pitchFamily="18" charset="0"/>
              <a:cs typeface="Times New Roman" panose="02020603050405020304" pitchFamily="18" charset="0"/>
            </a:endParaRPr>
          </a:p>
          <a:p>
            <a:pPr marL="0" indent="0">
              <a:lnSpc>
                <a:spcPct val="200000"/>
              </a:lnSpc>
              <a:buNone/>
            </a:pPr>
            <a:r>
              <a:rPr lang="zh-TW" altLang="en-US" sz="1800" dirty="0" smtClean="0">
                <a:latin typeface="Times New Roman" panose="02020603050405020304" pitchFamily="18" charset="0"/>
                <a:cs typeface="Times New Roman" panose="02020603050405020304" pitchFamily="18" charset="0"/>
              </a:rPr>
              <a:t>下圖列出</a:t>
            </a:r>
            <a:r>
              <a:rPr lang="zh-TW" altLang="en-US" sz="1800" dirty="0">
                <a:latin typeface="Times New Roman" panose="02020603050405020304" pitchFamily="18" charset="0"/>
                <a:cs typeface="Times New Roman" panose="02020603050405020304" pitchFamily="18" charset="0"/>
              </a:rPr>
              <a:t>了一些</a:t>
            </a:r>
            <a:r>
              <a:rPr lang="zh-TW" altLang="en-US" sz="1800" dirty="0" smtClean="0">
                <a:latin typeface="Times New Roman" panose="02020603050405020304" pitchFamily="18" charset="0"/>
                <a:cs typeface="Times New Roman" panose="02020603050405020304" pitchFamily="18" charset="0"/>
              </a:rPr>
              <a:t>程序和其網址</a:t>
            </a:r>
            <a:r>
              <a:rPr lang="zh-TW" altLang="en-US" sz="1800" dirty="0" smtClean="0"/>
              <a:t>。</a:t>
            </a:r>
            <a:endParaRPr lang="en-US" altLang="zh-TW" sz="1800" dirty="0" smtClean="0"/>
          </a:p>
          <a:p>
            <a:pPr marL="0" indent="0">
              <a:lnSpc>
                <a:spcPct val="200000"/>
              </a:lnSpc>
              <a:buNone/>
            </a:pPr>
            <a:endParaRPr lang="zh-TW" altLang="en-US" sz="1800" dirty="0"/>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185" y="3133645"/>
            <a:ext cx="8611341" cy="2980849"/>
          </a:xfrm>
          <a:prstGeom prst="rect">
            <a:avLst/>
          </a:prstGeom>
        </p:spPr>
      </p:pic>
    </p:spTree>
    <p:extLst>
      <p:ext uri="{BB962C8B-B14F-4D97-AF65-F5344CB8AC3E}">
        <p14:creationId xmlns:p14="http://schemas.microsoft.com/office/powerpoint/2010/main" val="21173396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690794" y="1523785"/>
            <a:ext cx="7886700" cy="4351338"/>
          </a:xfrm>
        </p:spPr>
        <p:txBody>
          <a:bodyPr>
            <a:normAutofit/>
          </a:bodyPr>
          <a:lstStyle/>
          <a:p>
            <a:pPr marL="0" indent="0">
              <a:lnSpc>
                <a:spcPct val="200000"/>
              </a:lnSpc>
              <a:buNone/>
            </a:pPr>
            <a:r>
              <a:rPr lang="zh-TW" altLang="en-US" sz="1800" dirty="0" smtClean="0"/>
              <a:t>如果</a:t>
            </a:r>
            <a:r>
              <a:rPr lang="zh-TW" altLang="en-US" sz="1800" dirty="0"/>
              <a:t>目標序列</a:t>
            </a:r>
            <a:r>
              <a:rPr lang="zh-TW" altLang="en-US" sz="1800" dirty="0">
                <a:latin typeface="Times New Roman" panose="02020603050405020304" pitchFamily="18" charset="0"/>
                <a:cs typeface="Times New Roman" panose="02020603050405020304" pitchFamily="18" charset="0"/>
              </a:rPr>
              <a:t>集彼此相對相似</a:t>
            </a:r>
            <a:r>
              <a:rPr lang="zh-TW" altLang="en-US" sz="1800" dirty="0" smtClean="0">
                <a:latin typeface="Times New Roman" panose="02020603050405020304" pitchFamily="18" charset="0"/>
                <a:cs typeface="Times New Roman" panose="02020603050405020304" pitchFamily="18" charset="0"/>
              </a:rPr>
              <a:t>，</a:t>
            </a:r>
            <a:r>
              <a:rPr lang="en-US" altLang="zh-TW" sz="1800" dirty="0" err="1" smtClean="0">
                <a:latin typeface="Times New Roman" panose="02020603050405020304" pitchFamily="18" charset="0"/>
                <a:cs typeface="Times New Roman" panose="02020603050405020304" pitchFamily="18" charset="0"/>
              </a:rPr>
              <a:t>ClustalW</a:t>
            </a:r>
            <a:r>
              <a:rPr lang="zh-TW" altLang="en-US" sz="1800" dirty="0">
                <a:latin typeface="Times New Roman" panose="02020603050405020304" pitchFamily="18" charset="0"/>
                <a:cs typeface="Times New Roman" panose="02020603050405020304" pitchFamily="18" charset="0"/>
              </a:rPr>
              <a:t>，</a:t>
            </a:r>
            <a:r>
              <a:rPr lang="en-US" altLang="zh-TW" sz="1800" dirty="0" smtClean="0">
                <a:latin typeface="Times New Roman" panose="02020603050405020304" pitchFamily="18" charset="0"/>
                <a:cs typeface="Times New Roman" panose="02020603050405020304" pitchFamily="18" charset="0"/>
              </a:rPr>
              <a:t>MAFFT</a:t>
            </a:r>
            <a:r>
              <a:rPr lang="zh-TW" altLang="en-US" sz="1800" dirty="0" smtClean="0">
                <a:latin typeface="Times New Roman" panose="02020603050405020304" pitchFamily="18" charset="0"/>
                <a:cs typeface="Times New Roman" panose="02020603050405020304" pitchFamily="18" charset="0"/>
              </a:rPr>
              <a:t> 和 </a:t>
            </a:r>
            <a:r>
              <a:rPr lang="en-US" altLang="zh-TW" sz="1800" dirty="0" smtClean="0">
                <a:latin typeface="Times New Roman" panose="02020603050405020304" pitchFamily="18" charset="0"/>
                <a:cs typeface="Times New Roman" panose="02020603050405020304" pitchFamily="18" charset="0"/>
              </a:rPr>
              <a:t>MUSCLE</a:t>
            </a:r>
            <a:r>
              <a:rPr lang="zh-TW" altLang="en-US" sz="1800" dirty="0" smtClean="0">
                <a:latin typeface="Times New Roman" panose="02020603050405020304" pitchFamily="18" charset="0"/>
                <a:cs typeface="Times New Roman" panose="02020603050405020304" pitchFamily="18" charset="0"/>
              </a:rPr>
              <a:t> 等程序即可產生合理的比對選擇</a:t>
            </a:r>
            <a:r>
              <a:rPr lang="zh-TW" altLang="en-US" sz="1800" dirty="0">
                <a:latin typeface="Times New Roman" panose="02020603050405020304" pitchFamily="18" charset="0"/>
                <a:cs typeface="Times New Roman" panose="02020603050405020304" pitchFamily="18" charset="0"/>
              </a:rPr>
              <a:t>，並且它們能夠快速的處理大量序列。但是，如果目標是</a:t>
            </a:r>
            <a:r>
              <a:rPr lang="zh-TW" altLang="en-US" sz="1800" dirty="0" smtClean="0">
                <a:latin typeface="Times New Roman" panose="02020603050405020304" pitchFamily="18" charset="0"/>
                <a:cs typeface="Times New Roman" panose="02020603050405020304" pitchFamily="18" charset="0"/>
              </a:rPr>
              <a:t>較分散的，</a:t>
            </a:r>
            <a:r>
              <a:rPr lang="zh-TW" altLang="en-US" sz="1800" dirty="0">
                <a:latin typeface="Times New Roman" panose="02020603050405020304" pitchFamily="18" charset="0"/>
                <a:cs typeface="Times New Roman" panose="02020603050405020304" pitchFamily="18" charset="0"/>
              </a:rPr>
              <a:t>使用</a:t>
            </a:r>
            <a:r>
              <a:rPr lang="en-US" altLang="zh-TW" sz="1800" dirty="0">
                <a:latin typeface="Times New Roman" panose="02020603050405020304" pitchFamily="18" charset="0"/>
                <a:cs typeface="Times New Roman" panose="02020603050405020304" pitchFamily="18" charset="0"/>
              </a:rPr>
              <a:t>SPEM</a:t>
            </a:r>
            <a:r>
              <a:rPr lang="zh-TW" altLang="en-US" sz="1800" dirty="0">
                <a:latin typeface="Times New Roman" panose="02020603050405020304" pitchFamily="18" charset="0"/>
                <a:cs typeface="Times New Roman" panose="02020603050405020304" pitchFamily="18" charset="0"/>
              </a:rPr>
              <a:t>，</a:t>
            </a:r>
            <a:r>
              <a:rPr lang="en-US" altLang="zh-TW" sz="1800" dirty="0">
                <a:latin typeface="Times New Roman" panose="02020603050405020304" pitchFamily="18" charset="0"/>
                <a:cs typeface="Times New Roman" panose="02020603050405020304" pitchFamily="18" charset="0"/>
              </a:rPr>
              <a:t>PROMALS</a:t>
            </a:r>
            <a:r>
              <a:rPr lang="zh-TW" altLang="en-US" sz="1800" dirty="0">
                <a:latin typeface="Times New Roman" panose="02020603050405020304" pitchFamily="18" charset="0"/>
                <a:cs typeface="Times New Roman" panose="02020603050405020304" pitchFamily="18" charset="0"/>
              </a:rPr>
              <a:t>，</a:t>
            </a:r>
            <a:r>
              <a:rPr lang="en-US" altLang="zh-TW" sz="1800" dirty="0">
                <a:latin typeface="Times New Roman" panose="02020603050405020304" pitchFamily="18" charset="0"/>
                <a:cs typeface="Times New Roman" panose="02020603050405020304" pitchFamily="18" charset="0"/>
              </a:rPr>
              <a:t>PROMALS3D</a:t>
            </a:r>
            <a:r>
              <a:rPr lang="zh-TW" altLang="en-US" sz="1800" dirty="0">
                <a:latin typeface="Times New Roman" panose="02020603050405020304" pitchFamily="18" charset="0"/>
                <a:cs typeface="Times New Roman" panose="02020603050405020304" pitchFamily="18" charset="0"/>
              </a:rPr>
              <a:t>和</a:t>
            </a:r>
            <a:r>
              <a:rPr lang="en-US" altLang="zh-TW" sz="1800" dirty="0">
                <a:latin typeface="Times New Roman" panose="02020603050405020304" pitchFamily="18" charset="0"/>
                <a:cs typeface="Times New Roman" panose="02020603050405020304" pitchFamily="18" charset="0"/>
              </a:rPr>
              <a:t>Expresso</a:t>
            </a:r>
            <a:r>
              <a:rPr lang="zh-TW" altLang="en-US" sz="1800" dirty="0">
                <a:latin typeface="Times New Roman" panose="02020603050405020304" pitchFamily="18" charset="0"/>
                <a:cs typeface="Times New Roman" panose="02020603050405020304" pitchFamily="18" charset="0"/>
              </a:rPr>
              <a:t>等附加信息的</a:t>
            </a:r>
            <a:r>
              <a:rPr lang="zh-TW" altLang="en-US" sz="1800" dirty="0" smtClean="0">
                <a:latin typeface="Times New Roman" panose="02020603050405020304" pitchFamily="18" charset="0"/>
                <a:cs typeface="Times New Roman" panose="02020603050405020304" pitchFamily="18" charset="0"/>
              </a:rPr>
              <a:t>程序會更</a:t>
            </a:r>
            <a:r>
              <a:rPr lang="zh-TW" altLang="en-US" sz="1800" dirty="0">
                <a:latin typeface="Times New Roman" panose="02020603050405020304" pitchFamily="18" charset="0"/>
                <a:cs typeface="Times New Roman" panose="02020603050405020304" pitchFamily="18" charset="0"/>
              </a:rPr>
              <a:t>合適。</a:t>
            </a:r>
          </a:p>
        </p:txBody>
      </p:sp>
    </p:spTree>
    <p:extLst>
      <p:ext uri="{BB962C8B-B14F-4D97-AF65-F5344CB8AC3E}">
        <p14:creationId xmlns:p14="http://schemas.microsoft.com/office/powerpoint/2010/main" val="39948786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200" b="1" dirty="0">
                <a:latin typeface="Times New Roman" panose="02020603050405020304" pitchFamily="18" charset="0"/>
                <a:cs typeface="Times New Roman" panose="02020603050405020304" pitchFamily="18" charset="0"/>
              </a:rPr>
              <a:t>Conclusions</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normAutofit/>
          </a:bodyPr>
          <a:lstStyle/>
          <a:p>
            <a:pPr marL="0" indent="0">
              <a:lnSpc>
                <a:spcPct val="200000"/>
              </a:lnSpc>
              <a:buNone/>
            </a:pPr>
            <a:r>
              <a:rPr lang="zh-TW" altLang="zh-TW" sz="1800" dirty="0">
                <a:latin typeface="Times New Roman" panose="02020603050405020304" pitchFamily="18" charset="0"/>
                <a:cs typeface="Times New Roman" panose="02020603050405020304" pitchFamily="18" charset="0"/>
              </a:rPr>
              <a:t>在多序列比對領域中近年來不斷發展，出現了許多方法和</a:t>
            </a:r>
            <a:r>
              <a:rPr lang="zh-TW" altLang="zh-TW" sz="1800" dirty="0" smtClean="0">
                <a:latin typeface="Times New Roman" panose="02020603050405020304" pitchFamily="18" charset="0"/>
                <a:cs typeface="Times New Roman" panose="02020603050405020304" pitchFamily="18" charset="0"/>
              </a:rPr>
              <a:t>網</a:t>
            </a:r>
            <a:r>
              <a:rPr lang="zh-TW" altLang="en-US" sz="1800" dirty="0" smtClean="0">
                <a:latin typeface="Times New Roman" panose="02020603050405020304" pitchFamily="18" charset="0"/>
                <a:cs typeface="Times New Roman" panose="02020603050405020304" pitchFamily="18" charset="0"/>
              </a:rPr>
              <a:t>路</a:t>
            </a:r>
            <a:r>
              <a:rPr lang="zh-TW" altLang="zh-TW" sz="1800" dirty="0" smtClean="0">
                <a:latin typeface="Times New Roman" panose="02020603050405020304" pitchFamily="18" charset="0"/>
                <a:cs typeface="Times New Roman" panose="02020603050405020304" pitchFamily="18" charset="0"/>
              </a:rPr>
              <a:t>服務</a:t>
            </a:r>
            <a:r>
              <a:rPr lang="zh-TW" altLang="zh-TW" sz="1800" dirty="0">
                <a:latin typeface="Times New Roman" panose="02020603050405020304" pitchFamily="18" charset="0"/>
                <a:cs typeface="Times New Roman" panose="02020603050405020304" pitchFamily="18" charset="0"/>
              </a:rPr>
              <a:t>器。</a:t>
            </a:r>
          </a:p>
          <a:p>
            <a:pPr marL="0" indent="0">
              <a:lnSpc>
                <a:spcPct val="200000"/>
              </a:lnSpc>
              <a:buNone/>
            </a:pPr>
            <a:r>
              <a:rPr lang="zh-TW" altLang="zh-TW" sz="1800" dirty="0">
                <a:latin typeface="Times New Roman" panose="02020603050405020304" pitchFamily="18" charset="0"/>
                <a:cs typeface="Times New Roman" panose="02020603050405020304" pitchFamily="18" charset="0"/>
              </a:rPr>
              <a:t>迭代細化和一致性評分仍然是改進漸進式對齊的主要</a:t>
            </a:r>
            <a:r>
              <a:rPr lang="zh-TW" altLang="zh-TW" sz="1800" dirty="0" smtClean="0">
                <a:latin typeface="Times New Roman" panose="02020603050405020304" pitchFamily="18" charset="0"/>
                <a:cs typeface="Times New Roman" panose="02020603050405020304" pitchFamily="18" charset="0"/>
              </a:rPr>
              <a:t>技術</a:t>
            </a:r>
            <a:r>
              <a:rPr lang="zh-TW" altLang="en-US" sz="1800" dirty="0" smtClean="0">
                <a:latin typeface="Times New Roman" panose="02020603050405020304" pitchFamily="18" charset="0"/>
                <a:cs typeface="Times New Roman" panose="02020603050405020304" pitchFamily="18" charset="0"/>
              </a:rPr>
              <a:t>，</a:t>
            </a:r>
            <a:r>
              <a:rPr lang="zh-TW" altLang="zh-TW" sz="1800" dirty="0" smtClean="0">
                <a:latin typeface="Times New Roman" panose="02020603050405020304" pitchFamily="18" charset="0"/>
                <a:cs typeface="Times New Roman" panose="02020603050405020304" pitchFamily="18" charset="0"/>
              </a:rPr>
              <a:t>也</a:t>
            </a:r>
            <a:r>
              <a:rPr lang="zh-TW" altLang="zh-TW" sz="1800" dirty="0">
                <a:latin typeface="Times New Roman" panose="02020603050405020304" pitchFamily="18" charset="0"/>
                <a:cs typeface="Times New Roman" panose="02020603050405020304" pitchFamily="18" charset="0"/>
              </a:rPr>
              <a:t>證明了添加數據庫序列和結構信息在增強比對精確度</a:t>
            </a:r>
            <a:r>
              <a:rPr lang="zh-TW" altLang="zh-TW" sz="1800" dirty="0" smtClean="0">
                <a:latin typeface="Times New Roman" panose="02020603050405020304" pitchFamily="18" charset="0"/>
                <a:cs typeface="Times New Roman" panose="02020603050405020304" pitchFamily="18" charset="0"/>
              </a:rPr>
              <a:t>方面</a:t>
            </a:r>
            <a:r>
              <a:rPr lang="zh-TW" altLang="en-US" sz="1800" dirty="0" smtClean="0">
                <a:latin typeface="Times New Roman" panose="02020603050405020304" pitchFamily="18" charset="0"/>
                <a:cs typeface="Times New Roman" panose="02020603050405020304" pitchFamily="18" charset="0"/>
              </a:rPr>
              <a:t>確實</a:t>
            </a:r>
            <a:r>
              <a:rPr lang="zh-TW" altLang="zh-TW" sz="1800" dirty="0" smtClean="0">
                <a:latin typeface="Times New Roman" panose="02020603050405020304" pitchFamily="18" charset="0"/>
                <a:cs typeface="Times New Roman" panose="02020603050405020304" pitchFamily="18" charset="0"/>
              </a:rPr>
              <a:t>是</a:t>
            </a:r>
            <a:r>
              <a:rPr lang="zh-TW" altLang="zh-TW" sz="1800" dirty="0">
                <a:latin typeface="Times New Roman" panose="02020603050405020304" pitchFamily="18" charset="0"/>
                <a:cs typeface="Times New Roman" panose="02020603050405020304" pitchFamily="18" charset="0"/>
              </a:rPr>
              <a:t>有效的，</a:t>
            </a:r>
            <a:r>
              <a:rPr lang="zh-TW" altLang="zh-TW" sz="1800" dirty="0" smtClean="0">
                <a:latin typeface="Times New Roman" panose="02020603050405020304" pitchFamily="18" charset="0"/>
                <a:cs typeface="Times New Roman" panose="02020603050405020304" pitchFamily="18" charset="0"/>
              </a:rPr>
              <a:t>尤其是</a:t>
            </a:r>
            <a:r>
              <a:rPr lang="zh-TW" altLang="en-US" sz="1800" dirty="0" smtClean="0">
                <a:latin typeface="Times New Roman" panose="02020603050405020304" pitchFamily="18" charset="0"/>
                <a:cs typeface="Times New Roman" panose="02020603050405020304" pitchFamily="18" charset="0"/>
              </a:rPr>
              <a:t>比</a:t>
            </a:r>
            <a:r>
              <a:rPr lang="zh-TW" altLang="zh-TW" sz="1800" dirty="0" smtClean="0">
                <a:latin typeface="Times New Roman" panose="02020603050405020304" pitchFamily="18" charset="0"/>
                <a:cs typeface="Times New Roman" panose="02020603050405020304" pitchFamily="18" charset="0"/>
              </a:rPr>
              <a:t>對</a:t>
            </a:r>
            <a:r>
              <a:rPr lang="zh-TW" altLang="en-US" sz="1800" dirty="0" smtClean="0">
                <a:latin typeface="Times New Roman" panose="02020603050405020304" pitchFamily="18" charset="0"/>
                <a:cs typeface="Times New Roman" panose="02020603050405020304" pitchFamily="18" charset="0"/>
              </a:rPr>
              <a:t>較發散的</a:t>
            </a:r>
            <a:r>
              <a:rPr lang="zh-TW" altLang="zh-TW" sz="1800" dirty="0" smtClean="0">
                <a:latin typeface="Times New Roman" panose="02020603050405020304" pitchFamily="18" charset="0"/>
                <a:cs typeface="Times New Roman" panose="02020603050405020304" pitchFamily="18" charset="0"/>
              </a:rPr>
              <a:t>相關序列。</a:t>
            </a:r>
            <a:endParaRPr lang="zh-TW" altLang="zh-TW" sz="1800" dirty="0">
              <a:latin typeface="Times New Roman" panose="02020603050405020304" pitchFamily="18" charset="0"/>
              <a:cs typeface="Times New Roman" panose="02020603050405020304" pitchFamily="18" charset="0"/>
            </a:endParaRPr>
          </a:p>
          <a:p>
            <a:pPr marL="0" indent="0">
              <a:lnSpc>
                <a:spcPct val="200000"/>
              </a:lnSpc>
              <a:buNone/>
            </a:pPr>
            <a:r>
              <a:rPr lang="zh-TW" altLang="zh-TW" sz="1800" dirty="0">
                <a:latin typeface="Times New Roman" panose="02020603050405020304" pitchFamily="18" charset="0"/>
                <a:cs typeface="Times New Roman" panose="02020603050405020304" pitchFamily="18" charset="0"/>
              </a:rPr>
              <a:t>此外</a:t>
            </a:r>
            <a:r>
              <a:rPr lang="en-US" altLang="zh-TW" sz="1800" dirty="0">
                <a:latin typeface="Times New Roman" panose="02020603050405020304" pitchFamily="18" charset="0"/>
                <a:cs typeface="Times New Roman" panose="02020603050405020304" pitchFamily="18" charset="0"/>
              </a:rPr>
              <a:t>Expresso</a:t>
            </a:r>
            <a:r>
              <a:rPr lang="zh-TW" altLang="zh-TW" sz="1800" dirty="0">
                <a:latin typeface="Times New Roman" panose="02020603050405020304" pitchFamily="18" charset="0"/>
                <a:cs typeface="Times New Roman" panose="02020603050405020304" pitchFamily="18" charset="0"/>
              </a:rPr>
              <a:t>和</a:t>
            </a:r>
            <a:r>
              <a:rPr lang="en-US" altLang="zh-TW" sz="1800" dirty="0">
                <a:latin typeface="Times New Roman" panose="02020603050405020304" pitchFamily="18" charset="0"/>
                <a:cs typeface="Times New Roman" panose="02020603050405020304" pitchFamily="18" charset="0"/>
              </a:rPr>
              <a:t>PROMALS3D</a:t>
            </a:r>
            <a:r>
              <a:rPr lang="zh-TW" altLang="zh-TW" sz="1800" dirty="0">
                <a:latin typeface="Times New Roman" panose="02020603050405020304" pitchFamily="18" charset="0"/>
                <a:cs typeface="Times New Roman" panose="02020603050405020304" pitchFamily="18" charset="0"/>
              </a:rPr>
              <a:t>等服務器實現了這些流程的自動化，並促進了高</a:t>
            </a:r>
            <a:r>
              <a:rPr lang="zh-TW" altLang="zh-TW" sz="1800" dirty="0" smtClean="0">
                <a:latin typeface="Times New Roman" panose="02020603050405020304" pitchFamily="18" charset="0"/>
                <a:cs typeface="Times New Roman" panose="02020603050405020304" pitchFamily="18" charset="0"/>
              </a:rPr>
              <a:t>質量的</a:t>
            </a:r>
            <a:r>
              <a:rPr lang="zh-TW" altLang="zh-TW" sz="1800" dirty="0">
                <a:latin typeface="Times New Roman" panose="02020603050405020304" pitchFamily="18" charset="0"/>
                <a:cs typeface="Times New Roman" panose="02020603050405020304" pitchFamily="18" charset="0"/>
              </a:rPr>
              <a:t>生成。</a:t>
            </a:r>
          </a:p>
        </p:txBody>
      </p:sp>
    </p:spTree>
    <p:extLst>
      <p:ext uri="{BB962C8B-B14F-4D97-AF65-F5344CB8AC3E}">
        <p14:creationId xmlns:p14="http://schemas.microsoft.com/office/powerpoint/2010/main" val="2099975041"/>
      </p:ext>
    </p:extLst>
  </p:cSld>
  <p:clrMapOvr>
    <a:masterClrMapping/>
  </p:clrMapOvr>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87495</TotalTime>
  <Words>986</Words>
  <Application>Microsoft Office PowerPoint</Application>
  <PresentationFormat>如螢幕大小 (4:3)</PresentationFormat>
  <Paragraphs>56</Paragraphs>
  <Slides>15</Slides>
  <Notes>2</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15</vt:i4>
      </vt:variant>
    </vt:vector>
  </HeadingPairs>
  <TitlesOfParts>
    <vt:vector size="22" baseType="lpstr">
      <vt:lpstr>新細明體</vt:lpstr>
      <vt:lpstr>標楷體</vt:lpstr>
      <vt:lpstr>Arial</vt:lpstr>
      <vt:lpstr>Calibri</vt:lpstr>
      <vt:lpstr>Calibri Light</vt:lpstr>
      <vt:lpstr>Times New Roman</vt:lpstr>
      <vt:lpstr>Office 佈景主題</vt:lpstr>
      <vt:lpstr>Multiple protein sequence alignment</vt:lpstr>
      <vt:lpstr>Abstract</vt:lpstr>
      <vt:lpstr>MSA (Multiple sequence alignment)</vt:lpstr>
      <vt:lpstr>Computational methods for multiple protein sequence alignments</vt:lpstr>
      <vt:lpstr>PowerPoint 簡報</vt:lpstr>
      <vt:lpstr>Using additional information improves alignment quality</vt:lpstr>
      <vt:lpstr>PowerPoint 簡報</vt:lpstr>
      <vt:lpstr>PowerPoint 簡報</vt:lpstr>
      <vt:lpstr>PowerPoint 簡報</vt:lpstr>
      <vt:lpstr>Evaluation of alignment quality </vt:lpstr>
      <vt:lpstr>PowerPoint 簡報</vt:lpstr>
      <vt:lpstr>Alignment speed and program selection </vt:lpstr>
      <vt:lpstr>PowerPoint 簡報</vt:lpstr>
      <vt:lpstr>PowerPoint 簡報</vt:lpstr>
      <vt:lpstr>Conclusions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
  <cp:lastModifiedBy>pplab-class</cp:lastModifiedBy>
  <cp:revision>742</cp:revision>
  <dcterms:created xsi:type="dcterms:W3CDTF">2017-09-25T08:45:50Z</dcterms:created>
  <dcterms:modified xsi:type="dcterms:W3CDTF">2019-09-10T11:21:20Z</dcterms:modified>
</cp:coreProperties>
</file>