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311" r:id="rId3"/>
    <p:sldId id="312" r:id="rId4"/>
    <p:sldId id="324" r:id="rId5"/>
    <p:sldId id="315" r:id="rId6"/>
    <p:sldId id="325" r:id="rId7"/>
    <p:sldId id="321" r:id="rId8"/>
    <p:sldId id="322" r:id="rId9"/>
    <p:sldId id="320" r:id="rId10"/>
    <p:sldId id="331" r:id="rId11"/>
    <p:sldId id="326" r:id="rId12"/>
    <p:sldId id="32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6666FF"/>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59" autoAdjust="0"/>
    <p:restoredTop sz="76147" autoAdjust="0"/>
  </p:normalViewPr>
  <p:slideViewPr>
    <p:cSldViewPr snapToGrid="0">
      <p:cViewPr varScale="1">
        <p:scale>
          <a:sx n="86" d="100"/>
          <a:sy n="86" d="100"/>
        </p:scale>
        <p:origin x="2220" y="7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30" Type="http://schemas.microsoft.com/office/2015/10/relationships/revisionInfo" Target="revisionInfo.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2019/9/10</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smtClean="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42509316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28218704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631914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3C93A9A-B9E0-4539-9FAA-675604F6F2DF}" type="slidenum">
              <a:rPr lang="zh-CN" altLang="en-US"/>
              <a:pPr eaLnBrk="1" hangingPunct="1"/>
              <a:t>10</a:t>
            </a:fld>
            <a:endParaRPr lang="zh-CN" altLang="en-US"/>
          </a:p>
        </p:txBody>
      </p:sp>
      <p:sp>
        <p:nvSpPr>
          <p:cNvPr id="33795" name="Rectangle 2"/>
          <p:cNvSpPr>
            <a:spLocks noGrp="1" noRot="1" noChangeAspect="1" noChangeArrowheads="1" noTextEdit="1"/>
          </p:cNvSpPr>
          <p:nvPr>
            <p:ph type="sldImg"/>
          </p:nvPr>
        </p:nvSpPr>
        <p:spPr>
          <a:xfrm>
            <a:off x="1141413" y="754063"/>
            <a:ext cx="4391025" cy="3294062"/>
          </a:xfrm>
        </p:spPr>
      </p:sp>
      <p:sp>
        <p:nvSpPr>
          <p:cNvPr id="33796" name="Rectangle 3"/>
          <p:cNvSpPr>
            <a:spLocks noGrp="1" noChangeArrowheads="1"/>
          </p:cNvSpPr>
          <p:nvPr>
            <p:ph type="body" idx="1"/>
          </p:nvPr>
        </p:nvSpPr>
        <p:spPr>
          <a:noFill/>
        </p:spPr>
        <p:txBody>
          <a:bodyPr/>
          <a:lstStyle/>
          <a:p>
            <a:pPr eaLnBrk="1" hangingPunct="1"/>
            <a:endParaRPr lang="en-US" altLang="zh-CN" dirty="0" smtClean="0"/>
          </a:p>
        </p:txBody>
      </p:sp>
    </p:spTree>
    <p:extLst>
      <p:ext uri="{BB962C8B-B14F-4D97-AF65-F5344CB8AC3E}">
        <p14:creationId xmlns:p14="http://schemas.microsoft.com/office/powerpoint/2010/main" val="41413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3D5E9E5-2385-4DC3-9880-6CC1DAA69097}" type="slidenum">
              <a:rPr lang="zh-CN" altLang="en-US"/>
              <a:pPr eaLnBrk="1" hangingPunct="1"/>
              <a:t>11</a:t>
            </a:fld>
            <a:endParaRPr lang="zh-CN" altLang="en-US"/>
          </a:p>
        </p:txBody>
      </p:sp>
      <p:sp>
        <p:nvSpPr>
          <p:cNvPr id="34819" name="Rectangle 2"/>
          <p:cNvSpPr>
            <a:spLocks noGrp="1" noRot="1" noChangeAspect="1" noChangeArrowheads="1" noTextEdit="1"/>
          </p:cNvSpPr>
          <p:nvPr>
            <p:ph type="sldImg"/>
          </p:nvPr>
        </p:nvSpPr>
        <p:spPr>
          <a:xfrm>
            <a:off x="1141413" y="754063"/>
            <a:ext cx="4391025" cy="3294062"/>
          </a:xfrm>
        </p:spPr>
      </p:sp>
      <p:sp>
        <p:nvSpPr>
          <p:cNvPr id="34820" name="Rectangle 3"/>
          <p:cNvSpPr>
            <a:spLocks noGrp="1" noChangeArrowheads="1"/>
          </p:cNvSpPr>
          <p:nvPr>
            <p:ph type="body" idx="1"/>
          </p:nvPr>
        </p:nvSpPr>
        <p:spPr>
          <a:noFill/>
        </p:spPr>
        <p:txBody>
          <a:bodyPr/>
          <a:lstStyle/>
          <a:p>
            <a:pPr eaLnBrk="1" hangingPunct="1"/>
            <a:endParaRPr lang="en-US" altLang="zh-CN" dirty="0" smtClean="0"/>
          </a:p>
        </p:txBody>
      </p:sp>
    </p:spTree>
    <p:extLst>
      <p:ext uri="{BB962C8B-B14F-4D97-AF65-F5344CB8AC3E}">
        <p14:creationId xmlns:p14="http://schemas.microsoft.com/office/powerpoint/2010/main" val="1328498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2F0D21F-5C21-466D-A41B-65EDE7A2C047}" type="slidenum">
              <a:rPr lang="zh-CN" altLang="en-US"/>
              <a:pPr eaLnBrk="1" hangingPunct="1"/>
              <a:t>12</a:t>
            </a:fld>
            <a:endParaRPr lang="zh-CN" altLang="en-US"/>
          </a:p>
        </p:txBody>
      </p:sp>
      <p:sp>
        <p:nvSpPr>
          <p:cNvPr id="35843" name="Rectangle 2"/>
          <p:cNvSpPr>
            <a:spLocks noGrp="1" noRot="1" noChangeAspect="1" noChangeArrowheads="1" noTextEdit="1"/>
          </p:cNvSpPr>
          <p:nvPr>
            <p:ph type="sldImg"/>
          </p:nvPr>
        </p:nvSpPr>
        <p:spPr>
          <a:xfrm>
            <a:off x="1141413" y="754063"/>
            <a:ext cx="4391025" cy="3294062"/>
          </a:xfrm>
        </p:spPr>
      </p:sp>
      <p:sp>
        <p:nvSpPr>
          <p:cNvPr id="35844" name="Rectangle 3"/>
          <p:cNvSpPr>
            <a:spLocks noGrp="1" noChangeArrowheads="1"/>
          </p:cNvSpPr>
          <p:nvPr>
            <p:ph type="body" idx="1"/>
          </p:nvPr>
        </p:nvSpPr>
        <p:spPr>
          <a:noFill/>
        </p:spPr>
        <p:txBody>
          <a:bodyPr/>
          <a:lstStyle/>
          <a:p>
            <a:pPr eaLnBrk="1" hangingPunct="1"/>
            <a:endParaRPr lang="en-US" altLang="zh-CN" dirty="0" smtClean="0"/>
          </a:p>
        </p:txBody>
      </p:sp>
    </p:spTree>
    <p:extLst>
      <p:ext uri="{BB962C8B-B14F-4D97-AF65-F5344CB8AC3E}">
        <p14:creationId xmlns:p14="http://schemas.microsoft.com/office/powerpoint/2010/main" val="4093551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2019/9/10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4"/>
          <p:cNvSpPr>
            <a:spLocks noGrp="1" noChangeArrowheads="1"/>
          </p:cNvSpPr>
          <p:nvPr>
            <p:ph type="dt" sz="half" idx="10"/>
          </p:nvPr>
        </p:nvSpPr>
        <p:spPr>
          <a:ln/>
        </p:spPr>
        <p:txBody>
          <a:bodyPr/>
          <a:lstStyle>
            <a:lvl1pPr>
              <a:defRPr/>
            </a:lvl1pPr>
          </a:lstStyle>
          <a:p>
            <a:pPr>
              <a:defRPr/>
            </a:pPr>
            <a:endParaRPr lang="zh-CN" alt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zh-CN" altLang="en-US"/>
          </a:p>
        </p:txBody>
      </p:sp>
      <p:sp>
        <p:nvSpPr>
          <p:cNvPr id="8" name="Rectangle 6"/>
          <p:cNvSpPr>
            <a:spLocks noGrp="1" noChangeArrowheads="1"/>
          </p:cNvSpPr>
          <p:nvPr>
            <p:ph type="sldNum" sz="quarter" idx="12"/>
          </p:nvPr>
        </p:nvSpPr>
        <p:spPr>
          <a:ln/>
        </p:spPr>
        <p:txBody>
          <a:bodyPr/>
          <a:lstStyle>
            <a:lvl1pPr>
              <a:defRPr/>
            </a:lvl1pPr>
          </a:lstStyle>
          <a:p>
            <a:fld id="{0ADDC8AB-3C98-4E47-B73A-84DACC994FFB}" type="slidenum">
              <a:rPr lang="zh-CN" altLang="en-US"/>
              <a:pPr/>
              <a:t>‹#›</a:t>
            </a:fld>
            <a:endParaRPr lang="zh-CN" altLang="en-US"/>
          </a:p>
        </p:txBody>
      </p:sp>
    </p:spTree>
    <p:extLst>
      <p:ext uri="{BB962C8B-B14F-4D97-AF65-F5344CB8AC3E}">
        <p14:creationId xmlns:p14="http://schemas.microsoft.com/office/powerpoint/2010/main" val="288200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2019/9/10</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wmf"/><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3.png"/><Relationship Id="rId7" Type="http://schemas.openxmlformats.org/officeDocument/2006/relationships/image" Target="../media/image9.png"/><Relationship Id="rId12" Type="http://schemas.openxmlformats.org/officeDocument/2006/relationships/image" Target="../media/image14.wmf"/><Relationship Id="rId17" Type="http://schemas.openxmlformats.org/officeDocument/2006/relationships/image" Target="../media/image19.png"/><Relationship Id="rId2" Type="http://schemas.openxmlformats.org/officeDocument/2006/relationships/slideLayout" Target="../slideLayouts/slideLayout2.xml"/><Relationship Id="rId16" Type="http://schemas.openxmlformats.org/officeDocument/2006/relationships/image" Target="../media/image18.png"/><Relationship Id="rId20" Type="http://schemas.openxmlformats.org/officeDocument/2006/relationships/oleObject" Target="../embeddings/oleObject1.bin"/><Relationship Id="rId1" Type="http://schemas.openxmlformats.org/officeDocument/2006/relationships/vmlDrawing" Target="../drawings/vmlDrawing1.v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wmf"/><Relationship Id="rId15" Type="http://schemas.openxmlformats.org/officeDocument/2006/relationships/image" Target="../media/image17.png"/><Relationship Id="rId23" Type="http://schemas.openxmlformats.org/officeDocument/2006/relationships/image" Target="../media/image4.png"/><Relationship Id="rId10" Type="http://schemas.openxmlformats.org/officeDocument/2006/relationships/image" Target="../media/image12.wmf"/><Relationship Id="rId19" Type="http://schemas.openxmlformats.org/officeDocument/2006/relationships/image" Target="../media/image21.wmf"/><Relationship Id="rId4" Type="http://schemas.openxmlformats.org/officeDocument/2006/relationships/image" Target="../media/image6.wmf"/><Relationship Id="rId9" Type="http://schemas.openxmlformats.org/officeDocument/2006/relationships/image" Target="../media/image11.wmf"/><Relationship Id="rId14" Type="http://schemas.openxmlformats.org/officeDocument/2006/relationships/image" Target="../media/image16.png"/><Relationship Id="rId22"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9.jpeg"/><Relationship Id="rId4" Type="http://schemas.openxmlformats.org/officeDocument/2006/relationships/image" Target="../media/image28.jpeg"/></Relationships>
</file>

<file path=ppt/slides/_rels/slide1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notesSlide" Target="../notesSlides/notesSlide8.xml"/><Relationship Id="rId7" Type="http://schemas.openxmlformats.org/officeDocument/2006/relationships/image" Target="../media/image32.wmf"/><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31.wmf"/><Relationship Id="rId4" Type="http://schemas.openxmlformats.org/officeDocument/2006/relationships/oleObject" Target="../embeddings/oleObject3.bin"/><Relationship Id="rId9" Type="http://schemas.openxmlformats.org/officeDocument/2006/relationships/image" Target="../media/image3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30150" y="1538969"/>
            <a:ext cx="8348184" cy="877881"/>
          </a:xfrm>
        </p:spPr>
        <p:txBody>
          <a:bodyPr>
            <a:noAutofit/>
          </a:bodyPr>
          <a:lstStyle/>
          <a:p>
            <a:r>
              <a:rPr lang="en-US" altLang="zh-TW" sz="3600" dirty="0">
                <a:latin typeface="Times New Roman" panose="02020603050405020304" pitchFamily="18" charset="0"/>
                <a:cs typeface="Times New Roman" panose="02020603050405020304" pitchFamily="18" charset="0"/>
              </a:rPr>
              <a:t>Protein structure alignment beyond</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spatial proximity</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30149" y="2900196"/>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Sheng </a:t>
            </a:r>
            <a:r>
              <a:rPr lang="en-US" altLang="zh-TW" sz="2800" dirty="0" smtClean="0">
                <a:latin typeface="Times New Roman" panose="02020603050405020304" pitchFamily="18" charset="0"/>
                <a:cs typeface="Times New Roman" panose="02020603050405020304" pitchFamily="18" charset="0"/>
              </a:rPr>
              <a:t>Wang, </a:t>
            </a:r>
            <a:r>
              <a:rPr lang="en-US" altLang="zh-TW" sz="2800" dirty="0" err="1" smtClean="0">
                <a:latin typeface="Times New Roman" panose="02020603050405020304" pitchFamily="18" charset="0"/>
                <a:cs typeface="Times New Roman" panose="02020603050405020304" pitchFamily="18" charset="0"/>
              </a:rPr>
              <a:t>Jianzhu</a:t>
            </a:r>
            <a:r>
              <a:rPr lang="en-US" altLang="zh-TW" sz="2800" dirty="0" smtClean="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Ma, Jian </a:t>
            </a:r>
            <a:r>
              <a:rPr lang="en-US" altLang="zh-TW" sz="2800" dirty="0" smtClean="0">
                <a:latin typeface="Times New Roman" panose="02020603050405020304" pitchFamily="18" charset="0"/>
                <a:cs typeface="Times New Roman" panose="02020603050405020304" pitchFamily="18" charset="0"/>
              </a:rPr>
              <a:t>Peng, and </a:t>
            </a:r>
            <a:r>
              <a:rPr lang="en-US" altLang="zh-TW" sz="2800" dirty="0" err="1" smtClean="0">
                <a:latin typeface="Times New Roman" panose="02020603050405020304" pitchFamily="18" charset="0"/>
                <a:cs typeface="Times New Roman" panose="02020603050405020304" pitchFamily="18" charset="0"/>
              </a:rPr>
              <a:t>Jinbo</a:t>
            </a:r>
            <a:r>
              <a:rPr lang="en-US" altLang="zh-TW" sz="2800" dirty="0" smtClean="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Xu</a:t>
            </a: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264031"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cs typeface="Times New Roman" panose="02020603050405020304" pitchFamily="18" charset="0"/>
              </a:rPr>
              <a:t>Feng-Yang</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Tsai</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1800" dirty="0" err="1" smtClean="0">
                <a:latin typeface="Times New Roman" panose="02020603050405020304" pitchFamily="18" charset="0"/>
                <a:ea typeface="標楷體" panose="03000509000000000000" pitchFamily="65" charset="-120"/>
                <a:cs typeface="Times New Roman" panose="02020603050405020304" pitchFamily="18" charset="0"/>
              </a:rPr>
              <a:t>Date:Sep</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10, 2019.</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692797" y="3922940"/>
            <a:ext cx="7622889" cy="523220"/>
          </a:xfrm>
          <a:prstGeom prst="rect">
            <a:avLst/>
          </a:prstGeom>
        </p:spPr>
        <p:txBody>
          <a:bodyPr wrap="square">
            <a:spAutoFit/>
          </a:bodyPr>
          <a:lstStyle/>
          <a:p>
            <a:pPr algn="ctr"/>
            <a:r>
              <a:rPr lang="en-US" altLang="zh-TW" sz="2800" dirty="0" smtClean="0">
                <a:latin typeface="Times New Roman" panose="02020603050405020304" pitchFamily="18" charset="0"/>
                <a:cs typeface="Times New Roman" panose="02020603050405020304" pitchFamily="18" charset="0"/>
              </a:rPr>
              <a:t>Scientific Reports, 3 </a:t>
            </a:r>
            <a:r>
              <a:rPr lang="en-US" altLang="zh-TW" sz="2800" dirty="0">
                <a:latin typeface="Times New Roman" panose="02020603050405020304" pitchFamily="18" charset="0"/>
                <a:cs typeface="Times New Roman" panose="02020603050405020304" pitchFamily="18" charset="0"/>
              </a:rPr>
              <a:t>: </a:t>
            </a:r>
            <a:r>
              <a:rPr lang="en-US" altLang="zh-TW" sz="2800" dirty="0" smtClean="0">
                <a:latin typeface="Times New Roman" panose="02020603050405020304" pitchFamily="18" charset="0"/>
                <a:cs typeface="Times New Roman" panose="02020603050405020304" pitchFamily="18" charset="0"/>
              </a:rPr>
              <a:t>1448, (2013</a:t>
            </a:r>
            <a:r>
              <a:rPr lang="en-US" altLang="zh-TW" sz="2800" dirty="0">
                <a:latin typeface="Times New Roman" panose="02020603050405020304" pitchFamily="18" charset="0"/>
                <a:cs typeface="Times New Roman" panose="02020603050405020304" pitchFamily="18" charset="0"/>
              </a:rPr>
              <a:t>)</a:t>
            </a:r>
            <a:endParaRPr lang="zh-TW" alt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172833"/>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675101"/>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Protein structure alignment is a fundamental problem in computational structure biology. Many programs have been developed for automatic protein structure alignment, but most of them align two protein structures purely based upon geometric similarity without considering </a:t>
            </a:r>
            <a:r>
              <a:rPr lang="en-US" altLang="zh-TW" dirty="0" smtClean="0">
                <a:latin typeface="Times New Roman" panose="02020603050405020304" pitchFamily="18" charset="0"/>
                <a:cs typeface="Times New Roman" panose="02020603050405020304" pitchFamily="18" charset="0"/>
              </a:rPr>
              <a:t>evolutionary </a:t>
            </a:r>
            <a:r>
              <a:rPr lang="en-US" altLang="zh-TW" dirty="0">
                <a:latin typeface="Times New Roman" panose="02020603050405020304" pitchFamily="18" charset="0"/>
                <a:cs typeface="Times New Roman" panose="02020603050405020304" pitchFamily="18" charset="0"/>
              </a:rPr>
              <a:t>and functional relationship. As such, these programs may generate structure alignments which are not very biologically meaningful from the evolutionary perspective. This paper presents a novel method </a:t>
            </a:r>
            <a:r>
              <a:rPr lang="en-US" altLang="zh-TW" dirty="0" err="1">
                <a:latin typeface="Times New Roman" panose="02020603050405020304" pitchFamily="18" charset="0"/>
                <a:cs typeface="Times New Roman" panose="02020603050405020304" pitchFamily="18" charset="0"/>
              </a:rPr>
              <a:t>DeepAlign</a:t>
            </a:r>
            <a:r>
              <a:rPr lang="en-US" altLang="zh-TW" dirty="0">
                <a:latin typeface="Times New Roman" panose="02020603050405020304" pitchFamily="18" charset="0"/>
                <a:cs typeface="Times New Roman" panose="02020603050405020304" pitchFamily="18" charset="0"/>
              </a:rPr>
              <a:t> for automatic pairwise protein structure alignment. </a:t>
            </a:r>
            <a:r>
              <a:rPr lang="en-US" altLang="zh-TW" dirty="0" err="1">
                <a:latin typeface="Times New Roman" panose="02020603050405020304" pitchFamily="18" charset="0"/>
                <a:cs typeface="Times New Roman" panose="02020603050405020304" pitchFamily="18" charset="0"/>
              </a:rPr>
              <a:t>DeepAlign</a:t>
            </a:r>
            <a:r>
              <a:rPr lang="en-US" altLang="zh-TW" dirty="0">
                <a:latin typeface="Times New Roman" panose="02020603050405020304" pitchFamily="18" charset="0"/>
                <a:cs typeface="Times New Roman" panose="02020603050405020304" pitchFamily="18" charset="0"/>
              </a:rPr>
              <a:t> aligns two protein structures using not only spatial </a:t>
            </a:r>
            <a:r>
              <a:rPr lang="en-US" altLang="zh-TW" dirty="0" smtClean="0">
                <a:latin typeface="Times New Roman" panose="02020603050405020304" pitchFamily="18" charset="0"/>
                <a:cs typeface="Times New Roman" panose="02020603050405020304" pitchFamily="18" charset="0"/>
              </a:rPr>
              <a:t>proximity </a:t>
            </a:r>
            <a:r>
              <a:rPr lang="en-US" altLang="zh-TW" dirty="0">
                <a:latin typeface="Times New Roman" panose="02020603050405020304" pitchFamily="18" charset="0"/>
                <a:cs typeface="Times New Roman" panose="02020603050405020304" pitchFamily="18" charset="0"/>
              </a:rPr>
              <a:t>of equivalent residues (after rigid-body superposition), but also evolutionary relationship and </a:t>
            </a:r>
            <a:r>
              <a:rPr lang="en-US" altLang="zh-TW" dirty="0" smtClean="0">
                <a:latin typeface="Times New Roman" panose="02020603050405020304" pitchFamily="18" charset="0"/>
                <a:cs typeface="Times New Roman" panose="02020603050405020304" pitchFamily="18" charset="0"/>
              </a:rPr>
              <a:t>hydrogen-bonding similarity. </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44839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25359" y="290897"/>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25359" y="834128"/>
            <a:ext cx="8626301"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Experimental results show that </a:t>
            </a:r>
            <a:r>
              <a:rPr lang="en-US" altLang="zh-TW" dirty="0" err="1">
                <a:latin typeface="Times New Roman" panose="02020603050405020304" pitchFamily="18" charset="0"/>
                <a:cs typeface="Times New Roman" panose="02020603050405020304" pitchFamily="18" charset="0"/>
              </a:rPr>
              <a:t>DeepAlign</a:t>
            </a:r>
            <a:r>
              <a:rPr lang="en-US" altLang="zh-TW" dirty="0">
                <a:latin typeface="Times New Roman" panose="02020603050405020304" pitchFamily="18" charset="0"/>
                <a:cs typeface="Times New Roman" panose="02020603050405020304" pitchFamily="18" charset="0"/>
              </a:rPr>
              <a:t> can generate structure alignments much more </a:t>
            </a:r>
            <a:r>
              <a:rPr lang="en-US" altLang="zh-TW" dirty="0" smtClean="0">
                <a:latin typeface="Times New Roman" panose="02020603050405020304" pitchFamily="18" charset="0"/>
                <a:cs typeface="Times New Roman" panose="02020603050405020304" pitchFamily="18" charset="0"/>
              </a:rPr>
              <a:t>consistent </a:t>
            </a:r>
            <a:r>
              <a:rPr lang="en-US" altLang="zh-TW" dirty="0">
                <a:latin typeface="Times New Roman" panose="02020603050405020304" pitchFamily="18" charset="0"/>
                <a:cs typeface="Times New Roman" panose="02020603050405020304" pitchFamily="18" charset="0"/>
              </a:rPr>
              <a:t>with manually-curated alignments than other automatic tools especially when proteins under consideration are remote homologs. These results imply that in addition to geometric similarity, evolutionary information and hydrogen-bonding similarity are essential to aligning two protein structures.</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13853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526774" y="873402"/>
            <a:ext cx="8458200" cy="4525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Tx/>
              <a:buNone/>
            </a:pPr>
            <a:r>
              <a:rPr lang="en-US" altLang="zh-CN" sz="3000" b="1" dirty="0" smtClean="0">
                <a:latin typeface="Times New Roman" panose="02020603050405020304" pitchFamily="18" charset="0"/>
                <a:sym typeface="Arial" panose="020B0604020202020204" pitchFamily="34" charset="0"/>
              </a:rPr>
              <a:t>D</a:t>
            </a:r>
            <a:r>
              <a:rPr lang="zh-CN" altLang="en-US" sz="3000" b="1" dirty="0" smtClean="0">
                <a:latin typeface="Times New Roman" panose="02020603050405020304" pitchFamily="18" charset="0"/>
                <a:sym typeface="Arial" panose="020B0604020202020204" pitchFamily="34" charset="0"/>
              </a:rPr>
              <a:t>esign a scoring function</a:t>
            </a:r>
            <a:r>
              <a:rPr lang="zh-CN" altLang="en-US" sz="3000" dirty="0" smtClean="0">
                <a:latin typeface="Times New Roman" panose="02020603050405020304" pitchFamily="18" charset="0"/>
                <a:sym typeface="Arial" panose="020B0604020202020204" pitchFamily="34" charset="0"/>
              </a:rPr>
              <a:t> </a:t>
            </a:r>
          </a:p>
          <a:p>
            <a:pPr>
              <a:lnSpc>
                <a:spcPct val="80000"/>
              </a:lnSpc>
            </a:pPr>
            <a:r>
              <a:rPr lang="en-US" altLang="zh-CN" sz="3000" dirty="0" smtClean="0">
                <a:latin typeface="Times New Roman" panose="02020603050405020304" pitchFamily="18" charset="0"/>
                <a:sym typeface="Arial" panose="020B0604020202020204" pitchFamily="34" charset="0"/>
              </a:rPr>
              <a:t> local structure similarity</a:t>
            </a:r>
          </a:p>
          <a:p>
            <a:pPr>
              <a:lnSpc>
                <a:spcPct val="80000"/>
              </a:lnSpc>
            </a:pPr>
            <a:r>
              <a:rPr lang="en-US" altLang="zh-CN" sz="3000" dirty="0" smtClean="0">
                <a:latin typeface="Times New Roman" panose="02020603050405020304" pitchFamily="18" charset="0"/>
                <a:sym typeface="Arial" panose="020B0604020202020204" pitchFamily="34" charset="0"/>
              </a:rPr>
              <a:t> </a:t>
            </a:r>
            <a:r>
              <a:rPr lang="zh-CN" altLang="en-US" sz="3000" dirty="0" smtClean="0">
                <a:latin typeface="Times New Roman" panose="02020603050405020304" pitchFamily="18" charset="0"/>
                <a:sym typeface="Arial" panose="020B0604020202020204" pitchFamily="34" charset="0"/>
              </a:rPr>
              <a:t>evolutionary and functional information</a:t>
            </a:r>
          </a:p>
          <a:p>
            <a:pPr>
              <a:lnSpc>
                <a:spcPct val="80000"/>
              </a:lnSpc>
            </a:pPr>
            <a:r>
              <a:rPr lang="en-US" altLang="zh-CN" sz="3000" dirty="0" smtClean="0">
                <a:latin typeface="Times New Roman" panose="02020603050405020304" pitchFamily="18" charset="0"/>
                <a:sym typeface="Arial" panose="020B0604020202020204" pitchFamily="34" charset="0"/>
              </a:rPr>
              <a:t> angular similarity for hydrogen bonding</a:t>
            </a:r>
          </a:p>
          <a:p>
            <a:pPr>
              <a:lnSpc>
                <a:spcPct val="80000"/>
              </a:lnSpc>
            </a:pPr>
            <a:endParaRPr lang="en-US" altLang="zh-CN" sz="3000" b="1" dirty="0" smtClean="0">
              <a:latin typeface="Times New Roman" panose="02020603050405020304" pitchFamily="18" charset="0"/>
              <a:sym typeface="Arial" panose="020B0604020202020204" pitchFamily="34" charset="0"/>
            </a:endParaRPr>
          </a:p>
          <a:p>
            <a:pPr>
              <a:lnSpc>
                <a:spcPct val="80000"/>
              </a:lnSpc>
              <a:buFontTx/>
              <a:buNone/>
            </a:pPr>
            <a:r>
              <a:rPr lang="en-US" altLang="zh-CN" sz="3000" b="1" dirty="0" smtClean="0">
                <a:latin typeface="Times New Roman" panose="02020603050405020304" pitchFamily="18" charset="0"/>
                <a:sym typeface="Arial" panose="020B0604020202020204" pitchFamily="34" charset="0"/>
              </a:rPr>
              <a:t>Employ a fast and efficient search algorithm</a:t>
            </a:r>
            <a:r>
              <a:rPr lang="en-US" altLang="zh-CN" sz="3000" dirty="0" smtClean="0">
                <a:latin typeface="Times New Roman" panose="02020603050405020304" pitchFamily="18" charset="0"/>
                <a:sym typeface="Arial" panose="020B0604020202020204" pitchFamily="34" charset="0"/>
              </a:rPr>
              <a:t> </a:t>
            </a:r>
          </a:p>
          <a:p>
            <a:pPr>
              <a:lnSpc>
                <a:spcPct val="80000"/>
              </a:lnSpc>
            </a:pPr>
            <a:r>
              <a:rPr lang="en-US" altLang="zh-CN" sz="3000" dirty="0" smtClean="0">
                <a:latin typeface="Times New Roman" panose="02020603050405020304" pitchFamily="18" charset="0"/>
                <a:sym typeface="Arial" panose="020B0604020202020204" pitchFamily="34" charset="0"/>
              </a:rPr>
              <a:t>from highly similar local structures pair (SFP)</a:t>
            </a:r>
          </a:p>
          <a:p>
            <a:pPr>
              <a:lnSpc>
                <a:spcPct val="80000"/>
              </a:lnSpc>
            </a:pPr>
            <a:r>
              <a:rPr lang="en-US" altLang="zh-CN" sz="3000" dirty="0" smtClean="0">
                <a:latin typeface="Times New Roman" panose="02020603050405020304" pitchFamily="18" charset="0"/>
                <a:sym typeface="Arial" panose="020B0604020202020204" pitchFamily="34" charset="0"/>
              </a:rPr>
              <a:t>recruit new SFPs that satisfies spatial constrains</a:t>
            </a:r>
          </a:p>
          <a:p>
            <a:pPr>
              <a:lnSpc>
                <a:spcPct val="80000"/>
              </a:lnSpc>
            </a:pPr>
            <a:r>
              <a:rPr lang="en-US" altLang="zh-CN" sz="3000" dirty="0" smtClean="0">
                <a:latin typeface="Times New Roman" panose="02020603050405020304" pitchFamily="18" charset="0"/>
                <a:sym typeface="Arial" panose="020B0604020202020204" pitchFamily="34" charset="0"/>
              </a:rPr>
              <a:t>final refine the alignment within a bound</a:t>
            </a:r>
          </a:p>
          <a:p>
            <a:pPr>
              <a:lnSpc>
                <a:spcPct val="80000"/>
              </a:lnSpc>
            </a:pPr>
            <a:endParaRPr lang="zh-CN" altLang="en-US" sz="3000" dirty="0" smtClean="0">
              <a:latin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28280887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3"/>
          <a:stretch>
            <a:fillRect/>
          </a:stretch>
        </p:blipFill>
        <p:spPr>
          <a:xfrm>
            <a:off x="0" y="2752726"/>
            <a:ext cx="9219467" cy="719760"/>
          </a:xfrm>
          <a:prstGeom prst="rect">
            <a:avLst/>
          </a:prstGeom>
        </p:spPr>
      </p:pic>
      <p:sp>
        <p:nvSpPr>
          <p:cNvPr id="15" name="Rectangle 2"/>
          <p:cNvSpPr>
            <a:spLocks noGrp="1" noChangeArrowheads="1"/>
          </p:cNvSpPr>
          <p:nvPr>
            <p:ph type="title"/>
          </p:nvPr>
        </p:nvSpPr>
        <p:spPr>
          <a:xfrm>
            <a:off x="229774" y="350492"/>
            <a:ext cx="8229600" cy="1143000"/>
          </a:xfrm>
          <a:noFill/>
        </p:spPr>
        <p:txBody>
          <a:bodyPr>
            <a:normAutofit/>
          </a:bodyPr>
          <a:lstStyle/>
          <a:p>
            <a:pPr eaLnBrk="1" hangingPunct="1"/>
            <a:r>
              <a:rPr lang="zh-CN" altLang="en-US" sz="3600" b="1" dirty="0" smtClean="0">
                <a:latin typeface="Times New Roman" panose="02020603050405020304" pitchFamily="18" charset="0"/>
                <a:cs typeface="Times New Roman" panose="02020603050405020304" pitchFamily="18" charset="0"/>
                <a:sym typeface="Arial" panose="020B0604020202020204" pitchFamily="34" charset="0"/>
              </a:rPr>
              <a:t>Scoring </a:t>
            </a:r>
            <a:r>
              <a:rPr lang="en-US" altLang="zh-CN" sz="3600" b="1" dirty="0" smtClean="0">
                <a:latin typeface="Times New Roman" panose="02020603050405020304" pitchFamily="18" charset="0"/>
                <a:cs typeface="Times New Roman" panose="02020603050405020304" pitchFamily="18" charset="0"/>
                <a:sym typeface="Arial" panose="020B0604020202020204" pitchFamily="34" charset="0"/>
              </a:rPr>
              <a:t>F</a:t>
            </a:r>
            <a:r>
              <a:rPr lang="zh-CN" altLang="en-US" sz="3600" b="1" dirty="0" smtClean="0">
                <a:latin typeface="Times New Roman" panose="02020603050405020304" pitchFamily="18" charset="0"/>
                <a:cs typeface="Times New Roman" panose="02020603050405020304" pitchFamily="18" charset="0"/>
                <a:sym typeface="Arial" panose="020B0604020202020204" pitchFamily="34" charset="0"/>
              </a:rPr>
              <a:t>unction</a:t>
            </a:r>
          </a:p>
        </p:txBody>
      </p:sp>
      <p:sp>
        <p:nvSpPr>
          <p:cNvPr id="16" name="AutoShape 3"/>
          <p:cNvSpPr>
            <a:spLocks/>
          </p:cNvSpPr>
          <p:nvPr/>
        </p:nvSpPr>
        <p:spPr bwMode="auto">
          <a:xfrm rot="16200000" flipV="1">
            <a:off x="3885406" y="1132680"/>
            <a:ext cx="360362" cy="3025775"/>
          </a:xfrm>
          <a:prstGeom prst="rightBrace">
            <a:avLst>
              <a:gd name="adj1" fmla="val 6997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cs typeface="Times New Roman" panose="02020603050405020304" pitchFamily="18" charset="0"/>
            </a:endParaRPr>
          </a:p>
        </p:txBody>
      </p:sp>
      <p:sp>
        <p:nvSpPr>
          <p:cNvPr id="17" name="AutoShape 4"/>
          <p:cNvSpPr>
            <a:spLocks/>
          </p:cNvSpPr>
          <p:nvPr/>
        </p:nvSpPr>
        <p:spPr bwMode="auto">
          <a:xfrm rot="16200000" flipV="1">
            <a:off x="7147856" y="2117101"/>
            <a:ext cx="360363" cy="1219200"/>
          </a:xfrm>
          <a:prstGeom prst="rightBrace">
            <a:avLst>
              <a:gd name="adj1" fmla="val 2819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cs typeface="Times New Roman" panose="02020603050405020304" pitchFamily="18" charset="0"/>
            </a:endParaRPr>
          </a:p>
        </p:txBody>
      </p:sp>
      <p:sp>
        <p:nvSpPr>
          <p:cNvPr id="18" name="Text Box 5"/>
          <p:cNvSpPr txBox="1">
            <a:spLocks noChangeArrowheads="1"/>
          </p:cNvSpPr>
          <p:nvPr/>
        </p:nvSpPr>
        <p:spPr bwMode="auto">
          <a:xfrm>
            <a:off x="2813188" y="1946274"/>
            <a:ext cx="2449513" cy="519113"/>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latin typeface="Times New Roman" panose="02020603050405020304" pitchFamily="18" charset="0"/>
                <a:cs typeface="Times New Roman" panose="02020603050405020304" pitchFamily="18" charset="0"/>
              </a:rPr>
              <a:t>local similarity</a:t>
            </a:r>
          </a:p>
        </p:txBody>
      </p:sp>
      <p:sp>
        <p:nvSpPr>
          <p:cNvPr id="19" name="Text Box 6"/>
          <p:cNvSpPr txBox="1">
            <a:spLocks noChangeArrowheads="1"/>
          </p:cNvSpPr>
          <p:nvPr/>
        </p:nvSpPr>
        <p:spPr bwMode="auto">
          <a:xfrm>
            <a:off x="6048859" y="1943443"/>
            <a:ext cx="2736850" cy="52322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latin typeface="Times New Roman" panose="02020603050405020304" pitchFamily="18" charset="0"/>
                <a:cs typeface="Times New Roman" panose="02020603050405020304" pitchFamily="18" charset="0"/>
              </a:rPr>
              <a:t>global similarity</a:t>
            </a:r>
          </a:p>
        </p:txBody>
      </p:sp>
      <p:sp>
        <p:nvSpPr>
          <p:cNvPr id="20" name="Text Box 7"/>
          <p:cNvSpPr txBox="1">
            <a:spLocks noChangeArrowheads="1"/>
          </p:cNvSpPr>
          <p:nvPr/>
        </p:nvSpPr>
        <p:spPr bwMode="auto">
          <a:xfrm>
            <a:off x="314325" y="3717925"/>
            <a:ext cx="8577263"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latin typeface="Times New Roman" panose="02020603050405020304" pitchFamily="18" charset="0"/>
                <a:cs typeface="Times New Roman" panose="02020603050405020304" pitchFamily="18" charset="0"/>
              </a:rPr>
              <a:t>CLESUM</a:t>
            </a:r>
            <a:r>
              <a:rPr lang="en-US" altLang="zh-CN" sz="2400" b="1" i="1"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 the local structure substitution matrix;</a:t>
            </a:r>
          </a:p>
          <a:p>
            <a:pPr eaLnBrk="1" hangingPunct="1"/>
            <a:r>
              <a:rPr lang="en-US" altLang="zh-CN" sz="2400" b="1" dirty="0">
                <a:latin typeface="Times New Roman" panose="02020603050405020304" pitchFamily="18" charset="0"/>
                <a:cs typeface="Times New Roman" panose="02020603050405020304" pitchFamily="18" charset="0"/>
              </a:rPr>
              <a:t>BLOSUM</a:t>
            </a:r>
            <a:r>
              <a:rPr lang="en-US" altLang="zh-CN" sz="2400" b="1" i="1"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 the amino acid substitution matrix; </a:t>
            </a:r>
          </a:p>
          <a:p>
            <a:pPr eaLnBrk="1" hangingPunct="1"/>
            <a:r>
              <a:rPr lang="en-US" altLang="zh-CN" sz="2400" b="1" dirty="0">
                <a:latin typeface="Times New Roman" panose="02020603050405020304" pitchFamily="18" charset="0"/>
                <a:cs typeface="Times New Roman" panose="02020603050405020304" pitchFamily="18" charset="0"/>
              </a:rPr>
              <a:t>v(</a:t>
            </a:r>
            <a:r>
              <a:rPr lang="en-US" altLang="zh-CN" sz="2400" b="1" dirty="0" err="1">
                <a:latin typeface="Times New Roman" panose="02020603050405020304" pitchFamily="18" charset="0"/>
                <a:cs typeface="Times New Roman" panose="02020603050405020304" pitchFamily="18" charset="0"/>
              </a:rPr>
              <a:t>i,j</a:t>
            </a:r>
            <a:r>
              <a:rPr lang="en-US" altLang="zh-CN" sz="2400" b="1"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 measures the angular similarity using three vectors; </a:t>
            </a:r>
          </a:p>
          <a:p>
            <a:pPr eaLnBrk="1" hangingPunct="1"/>
            <a:r>
              <a:rPr lang="en-US" altLang="zh-CN" sz="2400" b="1" dirty="0">
                <a:latin typeface="Times New Roman" panose="02020603050405020304" pitchFamily="18" charset="0"/>
                <a:cs typeface="Times New Roman" panose="02020603050405020304" pitchFamily="18" charset="0"/>
              </a:rPr>
              <a:t>d(</a:t>
            </a:r>
            <a:r>
              <a:rPr lang="en-US" altLang="zh-CN" sz="2400" b="1" dirty="0" err="1">
                <a:latin typeface="Times New Roman" panose="02020603050405020304" pitchFamily="18" charset="0"/>
                <a:cs typeface="Times New Roman" panose="02020603050405020304" pitchFamily="18" charset="0"/>
              </a:rPr>
              <a:t>i,j</a:t>
            </a:r>
            <a:r>
              <a:rPr lang="en-US" altLang="zh-CN" sz="2400" b="1"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 measures the spatial proximity of two aligned residues.</a:t>
            </a:r>
          </a:p>
          <a:p>
            <a:pPr eaLnBrk="1" hangingPunct="1"/>
            <a:r>
              <a:rPr lang="en-US" altLang="zh-CN" sz="2400" dirty="0">
                <a:latin typeface="Times New Roman" panose="02020603050405020304" pitchFamily="18" charset="0"/>
                <a:cs typeface="Times New Roman" panose="02020603050405020304" pitchFamily="18" charset="0"/>
              </a:rPr>
              <a:t> </a:t>
            </a:r>
          </a:p>
        </p:txBody>
      </p:sp>
      <p:pic>
        <p:nvPicPr>
          <p:cNvPr id="3" name="圖片 2"/>
          <p:cNvPicPr>
            <a:picLocks noChangeAspect="1"/>
          </p:cNvPicPr>
          <p:nvPr/>
        </p:nvPicPr>
        <p:blipFill>
          <a:blip r:embed="rId4"/>
          <a:stretch>
            <a:fillRect/>
          </a:stretch>
        </p:blipFill>
        <p:spPr>
          <a:xfrm>
            <a:off x="314325" y="5276335"/>
            <a:ext cx="6173626" cy="1168905"/>
          </a:xfrm>
          <a:prstGeom prst="rect">
            <a:avLst/>
          </a:prstGeom>
        </p:spPr>
      </p:pic>
    </p:spTree>
    <p:extLst>
      <p:ext uri="{BB962C8B-B14F-4D97-AF65-F5344CB8AC3E}">
        <p14:creationId xmlns:p14="http://schemas.microsoft.com/office/powerpoint/2010/main" val="18690067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063" y="179388"/>
            <a:ext cx="868362" cy="113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52400"/>
            <a:ext cx="835025" cy="1169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7025" y="244475"/>
            <a:ext cx="835025" cy="107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0938" y="303213"/>
            <a:ext cx="776287" cy="992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2925" y="1560513"/>
            <a:ext cx="977900"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9"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43063" y="1484313"/>
            <a:ext cx="944562" cy="106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5138" y="2574925"/>
            <a:ext cx="903287" cy="104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0825" y="2498725"/>
            <a:ext cx="936625"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025" y="3751263"/>
            <a:ext cx="842963" cy="1009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3"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4863" y="3733800"/>
            <a:ext cx="868362" cy="102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00200" y="3835400"/>
            <a:ext cx="835025" cy="925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59025" y="3770313"/>
            <a:ext cx="776288" cy="966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6" name="Picture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4025" y="4724400"/>
            <a:ext cx="741363" cy="992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7" name="Picture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76338" y="4799013"/>
            <a:ext cx="801687"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22463" y="4849813"/>
            <a:ext cx="741362"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9" name="Picture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87400" y="5791200"/>
            <a:ext cx="809625"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 name="Picture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73225" y="5703888"/>
            <a:ext cx="969963" cy="925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Rectangle 19"/>
          <p:cNvSpPr>
            <a:spLocks noChangeArrowheads="1"/>
          </p:cNvSpPr>
          <p:nvPr/>
        </p:nvSpPr>
        <p:spPr bwMode="auto">
          <a:xfrm>
            <a:off x="149225" y="152400"/>
            <a:ext cx="3048000" cy="12954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cs typeface="Times New Roman" panose="02020603050405020304" pitchFamily="18" charset="0"/>
            </a:endParaRPr>
          </a:p>
        </p:txBody>
      </p:sp>
      <p:sp>
        <p:nvSpPr>
          <p:cNvPr id="22" name="Rectangle 20"/>
          <p:cNvSpPr>
            <a:spLocks noChangeArrowheads="1"/>
          </p:cNvSpPr>
          <p:nvPr/>
        </p:nvSpPr>
        <p:spPr bwMode="auto">
          <a:xfrm>
            <a:off x="454025" y="1560513"/>
            <a:ext cx="2209800" cy="20574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cs typeface="Times New Roman" panose="02020603050405020304" pitchFamily="18" charset="0"/>
            </a:endParaRPr>
          </a:p>
        </p:txBody>
      </p:sp>
      <p:sp>
        <p:nvSpPr>
          <p:cNvPr id="23" name="Rectangle 21"/>
          <p:cNvSpPr>
            <a:spLocks noChangeArrowheads="1"/>
          </p:cNvSpPr>
          <p:nvPr/>
        </p:nvSpPr>
        <p:spPr bwMode="auto">
          <a:xfrm>
            <a:off x="149225" y="3733800"/>
            <a:ext cx="2971800" cy="2971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cs typeface="Times New Roman" panose="02020603050405020304" pitchFamily="18" charset="0"/>
            </a:endParaRPr>
          </a:p>
        </p:txBody>
      </p:sp>
      <p:graphicFrame>
        <p:nvGraphicFramePr>
          <p:cNvPr id="24" name="Object 22"/>
          <p:cNvGraphicFramePr>
            <a:graphicFrameLocks noChangeAspect="1"/>
          </p:cNvGraphicFramePr>
          <p:nvPr>
            <p:extLst>
              <p:ext uri="{D42A27DB-BD31-4B8C-83A1-F6EECF244321}">
                <p14:modId xmlns:p14="http://schemas.microsoft.com/office/powerpoint/2010/main" val="794145336"/>
              </p:ext>
            </p:extLst>
          </p:nvPr>
        </p:nvGraphicFramePr>
        <p:xfrm>
          <a:off x="3421063" y="1116013"/>
          <a:ext cx="3400425" cy="3886200"/>
        </p:xfrm>
        <a:graphic>
          <a:graphicData uri="http://schemas.openxmlformats.org/presentationml/2006/ole">
            <mc:AlternateContent xmlns:mc="http://schemas.openxmlformats.org/markup-compatibility/2006">
              <mc:Choice xmlns:v="urn:schemas-microsoft-com:vml" Requires="v">
                <p:oleObj spid="_x0000_s1168" r:id="rId20" imgW="7123810" imgH="8139683" progId="Photoshop.Image.8">
                  <p:embed/>
                </p:oleObj>
              </mc:Choice>
              <mc:Fallback>
                <p:oleObj r:id="rId20" imgW="7123810" imgH="8139683" progId="Photoshop.Image.8">
                  <p:embed/>
                  <p:pic>
                    <p:nvPicPr>
                      <p:cNvPr id="6166" name="Object 2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421063" y="1116013"/>
                        <a:ext cx="3400425"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Object 23"/>
          <p:cNvGraphicFramePr>
            <a:graphicFrameLocks noChangeAspect="1"/>
          </p:cNvGraphicFramePr>
          <p:nvPr>
            <p:extLst>
              <p:ext uri="{D42A27DB-BD31-4B8C-83A1-F6EECF244321}">
                <p14:modId xmlns:p14="http://schemas.microsoft.com/office/powerpoint/2010/main" val="914039884"/>
              </p:ext>
            </p:extLst>
          </p:nvPr>
        </p:nvGraphicFramePr>
        <p:xfrm>
          <a:off x="7016750" y="1593850"/>
          <a:ext cx="1423988" cy="2819400"/>
        </p:xfrm>
        <a:graphic>
          <a:graphicData uri="http://schemas.openxmlformats.org/presentationml/2006/ole">
            <mc:AlternateContent xmlns:mc="http://schemas.openxmlformats.org/markup-compatibility/2006">
              <mc:Choice xmlns:v="urn:schemas-microsoft-com:vml" Requires="v">
                <p:oleObj spid="_x0000_s1169" r:id="rId22" imgW="1282540" imgH="2539683" progId="Photoshop.Image.8">
                  <p:embed/>
                </p:oleObj>
              </mc:Choice>
              <mc:Fallback>
                <p:oleObj r:id="rId22" imgW="1282540" imgH="2539683" progId="Photoshop.Image.8">
                  <p:embed/>
                  <p:pic>
                    <p:nvPicPr>
                      <p:cNvPr id="6167" name="Object 2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016750" y="1593850"/>
                        <a:ext cx="1423988"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 name="Arc 24"/>
          <p:cNvSpPr>
            <a:spLocks/>
          </p:cNvSpPr>
          <p:nvPr/>
        </p:nvSpPr>
        <p:spPr bwMode="auto">
          <a:xfrm>
            <a:off x="7778750" y="2736850"/>
            <a:ext cx="152400" cy="228600"/>
          </a:xfrm>
          <a:custGeom>
            <a:avLst/>
            <a:gdLst>
              <a:gd name="T0" fmla="*/ 49710 w 32056"/>
              <a:gd name="T1" fmla="*/ 0 h 43200"/>
              <a:gd name="T2" fmla="*/ 0 w 32056"/>
              <a:gd name="T3" fmla="*/ 214318 h 43200"/>
              <a:gd name="T4" fmla="*/ 49710 w 32056"/>
              <a:gd name="T5" fmla="*/ 114300 h 43200"/>
              <a:gd name="T6" fmla="*/ 0 60000 65536"/>
              <a:gd name="T7" fmla="*/ 0 60000 65536"/>
              <a:gd name="T8" fmla="*/ 0 60000 65536"/>
            </a:gdLst>
            <a:ahLst/>
            <a:cxnLst>
              <a:cxn ang="T6">
                <a:pos x="T0" y="T1"/>
              </a:cxn>
              <a:cxn ang="T7">
                <a:pos x="T2" y="T3"/>
              </a:cxn>
              <a:cxn ang="T8">
                <a:pos x="T4" y="T5"/>
              </a:cxn>
            </a:cxnLst>
            <a:rect l="0" t="0" r="r" b="b"/>
            <a:pathLst>
              <a:path w="32056" h="43200" fill="none" extrusionOk="0">
                <a:moveTo>
                  <a:pt x="10455" y="0"/>
                </a:moveTo>
                <a:cubicBezTo>
                  <a:pt x="22385" y="0"/>
                  <a:pt x="32056" y="9670"/>
                  <a:pt x="32056" y="21600"/>
                </a:cubicBezTo>
                <a:cubicBezTo>
                  <a:pt x="32056" y="33529"/>
                  <a:pt x="22385" y="43200"/>
                  <a:pt x="10456" y="43200"/>
                </a:cubicBezTo>
                <a:cubicBezTo>
                  <a:pt x="6798" y="43200"/>
                  <a:pt x="3200" y="42271"/>
                  <a:pt x="0" y="40500"/>
                </a:cubicBezTo>
              </a:path>
              <a:path w="32056" h="43200" stroke="0" extrusionOk="0">
                <a:moveTo>
                  <a:pt x="10455" y="0"/>
                </a:moveTo>
                <a:cubicBezTo>
                  <a:pt x="22385" y="0"/>
                  <a:pt x="32056" y="9670"/>
                  <a:pt x="32056" y="21600"/>
                </a:cubicBezTo>
                <a:cubicBezTo>
                  <a:pt x="32056" y="33529"/>
                  <a:pt x="22385" y="43200"/>
                  <a:pt x="10456" y="43200"/>
                </a:cubicBezTo>
                <a:cubicBezTo>
                  <a:pt x="6798" y="43200"/>
                  <a:pt x="3200" y="42271"/>
                  <a:pt x="0" y="40500"/>
                </a:cubicBezTo>
                <a:lnTo>
                  <a:pt x="10456" y="21600"/>
                </a:lnTo>
                <a:lnTo>
                  <a:pt x="10455" y="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latin typeface="Times New Roman" panose="02020603050405020304" pitchFamily="18" charset="0"/>
              <a:cs typeface="Times New Roman" panose="02020603050405020304" pitchFamily="18" charset="0"/>
            </a:endParaRPr>
          </a:p>
        </p:txBody>
      </p:sp>
      <p:sp>
        <p:nvSpPr>
          <p:cNvPr id="27" name="Rectangle 25"/>
          <p:cNvSpPr>
            <a:spLocks noChangeArrowheads="1"/>
          </p:cNvSpPr>
          <p:nvPr/>
        </p:nvSpPr>
        <p:spPr bwMode="auto">
          <a:xfrm flipH="1">
            <a:off x="7931150" y="250825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cs typeface="Times New Roman" panose="02020603050405020304" pitchFamily="18" charset="0"/>
              </a:rPr>
              <a:t>θ </a:t>
            </a:r>
          </a:p>
        </p:txBody>
      </p:sp>
      <p:sp>
        <p:nvSpPr>
          <p:cNvPr id="28" name="Arc 26"/>
          <p:cNvSpPr>
            <a:spLocks/>
          </p:cNvSpPr>
          <p:nvPr/>
        </p:nvSpPr>
        <p:spPr bwMode="auto">
          <a:xfrm flipV="1">
            <a:off x="7669213" y="3346450"/>
            <a:ext cx="161925" cy="293688"/>
          </a:xfrm>
          <a:custGeom>
            <a:avLst/>
            <a:gdLst>
              <a:gd name="T0" fmla="*/ 161925 w 22839"/>
              <a:gd name="T1" fmla="*/ 293434 h 41643"/>
              <a:gd name="T2" fmla="*/ 96046 w 22839"/>
              <a:gd name="T3" fmla="*/ 0 h 41643"/>
              <a:gd name="T4" fmla="*/ 153141 w 22839"/>
              <a:gd name="T5" fmla="*/ 141354 h 41643"/>
              <a:gd name="T6" fmla="*/ 0 60000 65536"/>
              <a:gd name="T7" fmla="*/ 0 60000 65536"/>
              <a:gd name="T8" fmla="*/ 0 60000 65536"/>
            </a:gdLst>
            <a:ahLst/>
            <a:cxnLst>
              <a:cxn ang="T6">
                <a:pos x="T0" y="T1"/>
              </a:cxn>
              <a:cxn ang="T7">
                <a:pos x="T2" y="T3"/>
              </a:cxn>
              <a:cxn ang="T8">
                <a:pos x="T4" y="T5"/>
              </a:cxn>
            </a:cxnLst>
            <a:rect l="0" t="0" r="r" b="b"/>
            <a:pathLst>
              <a:path w="22839" h="41643" fill="none" extrusionOk="0">
                <a:moveTo>
                  <a:pt x="22839" y="41607"/>
                </a:moveTo>
                <a:cubicBezTo>
                  <a:pt x="22426" y="41631"/>
                  <a:pt x="22013" y="41642"/>
                  <a:pt x="21600" y="41643"/>
                </a:cubicBezTo>
                <a:cubicBezTo>
                  <a:pt x="9670" y="41643"/>
                  <a:pt x="0" y="31972"/>
                  <a:pt x="0" y="20043"/>
                </a:cubicBezTo>
                <a:cubicBezTo>
                  <a:pt x="-1" y="11222"/>
                  <a:pt x="5362" y="3288"/>
                  <a:pt x="13547" y="0"/>
                </a:cubicBezTo>
              </a:path>
              <a:path w="22839" h="41643" stroke="0" extrusionOk="0">
                <a:moveTo>
                  <a:pt x="22839" y="41607"/>
                </a:moveTo>
                <a:cubicBezTo>
                  <a:pt x="22426" y="41631"/>
                  <a:pt x="22013" y="41642"/>
                  <a:pt x="21600" y="41643"/>
                </a:cubicBezTo>
                <a:cubicBezTo>
                  <a:pt x="9670" y="41643"/>
                  <a:pt x="0" y="31972"/>
                  <a:pt x="0" y="20043"/>
                </a:cubicBezTo>
                <a:cubicBezTo>
                  <a:pt x="-1" y="11222"/>
                  <a:pt x="5362" y="3288"/>
                  <a:pt x="13547" y="0"/>
                </a:cubicBezTo>
                <a:lnTo>
                  <a:pt x="21600" y="20043"/>
                </a:lnTo>
                <a:lnTo>
                  <a:pt x="22839" y="41607"/>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latin typeface="Times New Roman" panose="02020603050405020304" pitchFamily="18" charset="0"/>
              <a:cs typeface="Times New Roman" panose="02020603050405020304" pitchFamily="18" charset="0"/>
            </a:endParaRPr>
          </a:p>
        </p:txBody>
      </p:sp>
      <p:sp>
        <p:nvSpPr>
          <p:cNvPr id="29" name="Rectangle 27"/>
          <p:cNvSpPr>
            <a:spLocks noChangeArrowheads="1"/>
          </p:cNvSpPr>
          <p:nvPr/>
        </p:nvSpPr>
        <p:spPr bwMode="auto">
          <a:xfrm flipH="1">
            <a:off x="7373938" y="357505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Times New Roman" panose="02020603050405020304" pitchFamily="18" charset="0"/>
                <a:cs typeface="Times New Roman" panose="02020603050405020304" pitchFamily="18" charset="0"/>
              </a:rPr>
              <a:t>θ’ </a:t>
            </a:r>
          </a:p>
        </p:txBody>
      </p:sp>
      <p:sp>
        <p:nvSpPr>
          <p:cNvPr id="30" name="Arc 28"/>
          <p:cNvSpPr>
            <a:spLocks/>
          </p:cNvSpPr>
          <p:nvPr/>
        </p:nvSpPr>
        <p:spPr bwMode="auto">
          <a:xfrm flipH="1">
            <a:off x="7526338" y="3041650"/>
            <a:ext cx="609600" cy="152400"/>
          </a:xfrm>
          <a:custGeom>
            <a:avLst/>
            <a:gdLst>
              <a:gd name="T0" fmla="*/ 530620 w 43200"/>
              <a:gd name="T1" fmla="*/ 22613 h 42398"/>
              <a:gd name="T2" fmla="*/ 222504 w 43200"/>
              <a:gd name="T3" fmla="*/ 0 h 42398"/>
              <a:gd name="T4" fmla="*/ 304800 w 43200"/>
              <a:gd name="T5" fmla="*/ 74759 h 42398"/>
              <a:gd name="T6" fmla="*/ 0 60000 65536"/>
              <a:gd name="T7" fmla="*/ 0 60000 65536"/>
              <a:gd name="T8" fmla="*/ 0 60000 65536"/>
            </a:gdLst>
            <a:ahLst/>
            <a:cxnLst>
              <a:cxn ang="T6">
                <a:pos x="T0" y="T1"/>
              </a:cxn>
              <a:cxn ang="T7">
                <a:pos x="T2" y="T3"/>
              </a:cxn>
              <a:cxn ang="T8">
                <a:pos x="T4" y="T5"/>
              </a:cxn>
            </a:cxnLst>
            <a:rect l="0" t="0" r="r" b="b"/>
            <a:pathLst>
              <a:path w="43200" h="42398" fill="none" extrusionOk="0">
                <a:moveTo>
                  <a:pt x="37603" y="6290"/>
                </a:moveTo>
                <a:cubicBezTo>
                  <a:pt x="41205" y="10264"/>
                  <a:pt x="43200" y="15435"/>
                  <a:pt x="43200" y="20798"/>
                </a:cubicBezTo>
                <a:cubicBezTo>
                  <a:pt x="43200" y="32727"/>
                  <a:pt x="33529" y="42398"/>
                  <a:pt x="21600" y="42398"/>
                </a:cubicBezTo>
                <a:cubicBezTo>
                  <a:pt x="9670" y="42398"/>
                  <a:pt x="0" y="32727"/>
                  <a:pt x="0" y="20798"/>
                </a:cubicBezTo>
                <a:cubicBezTo>
                  <a:pt x="-1" y="11114"/>
                  <a:pt x="6444" y="2614"/>
                  <a:pt x="15768" y="0"/>
                </a:cubicBezTo>
              </a:path>
              <a:path w="43200" h="42398" stroke="0" extrusionOk="0">
                <a:moveTo>
                  <a:pt x="37603" y="6290"/>
                </a:moveTo>
                <a:cubicBezTo>
                  <a:pt x="41205" y="10264"/>
                  <a:pt x="43200" y="15435"/>
                  <a:pt x="43200" y="20798"/>
                </a:cubicBezTo>
                <a:cubicBezTo>
                  <a:pt x="43200" y="32727"/>
                  <a:pt x="33529" y="42398"/>
                  <a:pt x="21600" y="42398"/>
                </a:cubicBezTo>
                <a:cubicBezTo>
                  <a:pt x="9670" y="42398"/>
                  <a:pt x="0" y="32727"/>
                  <a:pt x="0" y="20798"/>
                </a:cubicBezTo>
                <a:cubicBezTo>
                  <a:pt x="-1" y="11114"/>
                  <a:pt x="6444" y="2614"/>
                  <a:pt x="15768" y="0"/>
                </a:cubicBezTo>
                <a:lnTo>
                  <a:pt x="21600" y="20798"/>
                </a:lnTo>
                <a:lnTo>
                  <a:pt x="37603" y="6290"/>
                </a:lnTo>
                <a:close/>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latin typeface="Times New Roman" panose="02020603050405020304" pitchFamily="18" charset="0"/>
              <a:cs typeface="Times New Roman" panose="02020603050405020304" pitchFamily="18" charset="0"/>
            </a:endParaRPr>
          </a:p>
        </p:txBody>
      </p:sp>
      <p:sp>
        <p:nvSpPr>
          <p:cNvPr id="31" name="Rectangle 29"/>
          <p:cNvSpPr>
            <a:spLocks noChangeArrowheads="1"/>
          </p:cNvSpPr>
          <p:nvPr/>
        </p:nvSpPr>
        <p:spPr bwMode="auto">
          <a:xfrm flipH="1">
            <a:off x="8212138" y="2813050"/>
            <a:ext cx="3048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a:latin typeface="Times New Roman" panose="02020603050405020304" pitchFamily="18" charset="0"/>
                <a:cs typeface="Times New Roman" panose="02020603050405020304" pitchFamily="18" charset="0"/>
              </a:rPr>
              <a:t>τ</a:t>
            </a:r>
            <a:r>
              <a:rPr lang="en-US" altLang="zh-CN">
                <a:latin typeface="Times New Roman" panose="02020603050405020304" pitchFamily="18" charset="0"/>
                <a:cs typeface="Times New Roman" panose="02020603050405020304" pitchFamily="18" charset="0"/>
              </a:rPr>
              <a:t> </a:t>
            </a:r>
          </a:p>
        </p:txBody>
      </p:sp>
      <p:sp>
        <p:nvSpPr>
          <p:cNvPr id="32" name="Oval 30"/>
          <p:cNvSpPr>
            <a:spLocks noChangeArrowheads="1"/>
          </p:cNvSpPr>
          <p:nvPr/>
        </p:nvSpPr>
        <p:spPr bwMode="auto">
          <a:xfrm rot="839386">
            <a:off x="6086475" y="2479675"/>
            <a:ext cx="561975" cy="1371600"/>
          </a:xfrm>
          <a:prstGeom prst="ellipse">
            <a:avLst/>
          </a:prstGeom>
          <a:noFill/>
          <a:ln w="19050">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cs typeface="Times New Roman" panose="02020603050405020304" pitchFamily="18" charset="0"/>
            </a:endParaRPr>
          </a:p>
        </p:txBody>
      </p:sp>
      <p:sp>
        <p:nvSpPr>
          <p:cNvPr id="33" name="Oval 31"/>
          <p:cNvSpPr>
            <a:spLocks noChangeArrowheads="1"/>
          </p:cNvSpPr>
          <p:nvPr/>
        </p:nvSpPr>
        <p:spPr bwMode="auto">
          <a:xfrm rot="839386">
            <a:off x="7083425" y="1744663"/>
            <a:ext cx="1455738" cy="2981325"/>
          </a:xfrm>
          <a:prstGeom prst="ellipse">
            <a:avLst/>
          </a:prstGeom>
          <a:noFill/>
          <a:ln w="19050">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cs typeface="Times New Roman" panose="02020603050405020304" pitchFamily="18" charset="0"/>
            </a:endParaRPr>
          </a:p>
        </p:txBody>
      </p:sp>
      <p:sp>
        <p:nvSpPr>
          <p:cNvPr id="34" name="Text Box 32"/>
          <p:cNvSpPr txBox="1">
            <a:spLocks noChangeArrowheads="1"/>
          </p:cNvSpPr>
          <p:nvPr/>
        </p:nvSpPr>
        <p:spPr bwMode="auto">
          <a:xfrm>
            <a:off x="7931150" y="189865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latin typeface="Times New Roman" panose="02020603050405020304" pitchFamily="18" charset="0"/>
                <a:cs typeface="Times New Roman" panose="02020603050405020304" pitchFamily="18" charset="0"/>
                <a:sym typeface="Wingdings" panose="05000000000000000000" pitchFamily="2" charset="2"/>
              </a:rPr>
              <a:t>i-2</a:t>
            </a:r>
          </a:p>
        </p:txBody>
      </p:sp>
      <p:sp>
        <p:nvSpPr>
          <p:cNvPr id="35" name="Text Box 33"/>
          <p:cNvSpPr txBox="1">
            <a:spLocks noChangeArrowheads="1"/>
          </p:cNvSpPr>
          <p:nvPr/>
        </p:nvSpPr>
        <p:spPr bwMode="auto">
          <a:xfrm>
            <a:off x="7169150" y="288925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latin typeface="Times New Roman" panose="02020603050405020304" pitchFamily="18" charset="0"/>
                <a:cs typeface="Times New Roman" panose="02020603050405020304" pitchFamily="18" charset="0"/>
                <a:sym typeface="Wingdings" panose="05000000000000000000" pitchFamily="2" charset="2"/>
              </a:rPr>
              <a:t>i-1</a:t>
            </a:r>
          </a:p>
        </p:txBody>
      </p:sp>
      <p:sp>
        <p:nvSpPr>
          <p:cNvPr id="36" name="Text Box 34"/>
          <p:cNvSpPr txBox="1">
            <a:spLocks noChangeArrowheads="1"/>
          </p:cNvSpPr>
          <p:nvPr/>
        </p:nvSpPr>
        <p:spPr bwMode="auto">
          <a:xfrm>
            <a:off x="8083550" y="327025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latin typeface="Times New Roman" panose="02020603050405020304" pitchFamily="18" charset="0"/>
                <a:cs typeface="Times New Roman" panose="02020603050405020304" pitchFamily="18" charset="0"/>
                <a:sym typeface="Wingdings" panose="05000000000000000000" pitchFamily="2" charset="2"/>
              </a:rPr>
              <a:t>i</a:t>
            </a:r>
          </a:p>
        </p:txBody>
      </p:sp>
      <p:sp>
        <p:nvSpPr>
          <p:cNvPr id="37" name="Text Box 35"/>
          <p:cNvSpPr txBox="1">
            <a:spLocks noChangeArrowheads="1"/>
          </p:cNvSpPr>
          <p:nvPr/>
        </p:nvSpPr>
        <p:spPr bwMode="auto">
          <a:xfrm>
            <a:off x="7750175" y="4127216"/>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b="1">
                <a:latin typeface="Times New Roman" panose="02020603050405020304" pitchFamily="18" charset="0"/>
                <a:cs typeface="Times New Roman" panose="02020603050405020304" pitchFamily="18" charset="0"/>
                <a:sym typeface="Wingdings" panose="05000000000000000000" pitchFamily="2" charset="2"/>
              </a:rPr>
              <a:t>i+1</a:t>
            </a:r>
          </a:p>
        </p:txBody>
      </p:sp>
      <p:sp>
        <p:nvSpPr>
          <p:cNvPr id="38" name="Line 36"/>
          <p:cNvSpPr>
            <a:spLocks noChangeShapeType="1"/>
          </p:cNvSpPr>
          <p:nvPr/>
        </p:nvSpPr>
        <p:spPr bwMode="auto">
          <a:xfrm flipH="1">
            <a:off x="5873750" y="4108450"/>
            <a:ext cx="1143000" cy="111125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latin typeface="Times New Roman" panose="02020603050405020304" pitchFamily="18" charset="0"/>
              <a:cs typeface="Times New Roman" panose="02020603050405020304" pitchFamily="18" charset="0"/>
            </a:endParaRPr>
          </a:p>
        </p:txBody>
      </p:sp>
      <p:sp>
        <p:nvSpPr>
          <p:cNvPr id="39" name="Line 37"/>
          <p:cNvSpPr>
            <a:spLocks noChangeShapeType="1"/>
          </p:cNvSpPr>
          <p:nvPr/>
        </p:nvSpPr>
        <p:spPr bwMode="auto">
          <a:xfrm>
            <a:off x="6650038" y="2889250"/>
            <a:ext cx="5191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latin typeface="Times New Roman" panose="02020603050405020304" pitchFamily="18" charset="0"/>
              <a:cs typeface="Times New Roman" panose="02020603050405020304" pitchFamily="18" charset="0"/>
            </a:endParaRPr>
          </a:p>
        </p:txBody>
      </p:sp>
      <p:sp>
        <p:nvSpPr>
          <p:cNvPr id="40" name="Text Box 38"/>
          <p:cNvSpPr txBox="1">
            <a:spLocks noChangeArrowheads="1"/>
          </p:cNvSpPr>
          <p:nvPr/>
        </p:nvSpPr>
        <p:spPr bwMode="auto">
          <a:xfrm>
            <a:off x="6630988" y="2492375"/>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chemeClr val="tx2"/>
                </a:solidFill>
                <a:latin typeface="Times New Roman" panose="02020603050405020304" pitchFamily="18" charset="0"/>
                <a:cs typeface="Times New Roman" panose="02020603050405020304" pitchFamily="18" charset="0"/>
              </a:rPr>
              <a:t>(</a:t>
            </a:r>
            <a:r>
              <a:rPr lang="en-US" altLang="zh-CN" b="1">
                <a:solidFill>
                  <a:schemeClr val="tx2"/>
                </a:solidFill>
                <a:latin typeface="Times New Roman" panose="02020603050405020304" pitchFamily="18" charset="0"/>
                <a:cs typeface="Times New Roman" panose="02020603050405020304" pitchFamily="18" charset="0"/>
              </a:rPr>
              <a:t>A)</a:t>
            </a:r>
          </a:p>
        </p:txBody>
      </p:sp>
      <p:sp>
        <p:nvSpPr>
          <p:cNvPr id="41" name="Text Box 39"/>
          <p:cNvSpPr txBox="1">
            <a:spLocks noChangeArrowheads="1"/>
          </p:cNvSpPr>
          <p:nvPr/>
        </p:nvSpPr>
        <p:spPr bwMode="auto">
          <a:xfrm>
            <a:off x="6407150" y="467836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a:solidFill>
                  <a:schemeClr val="tx2"/>
                </a:solidFill>
                <a:latin typeface="Times New Roman" panose="02020603050405020304" pitchFamily="18" charset="0"/>
                <a:cs typeface="Times New Roman" panose="02020603050405020304" pitchFamily="18" charset="0"/>
              </a:rPr>
              <a:t>(</a:t>
            </a:r>
            <a:r>
              <a:rPr lang="en-US" altLang="zh-CN" b="1">
                <a:solidFill>
                  <a:schemeClr val="tx2"/>
                </a:solidFill>
                <a:latin typeface="Times New Roman" panose="02020603050405020304" pitchFamily="18" charset="0"/>
                <a:cs typeface="Times New Roman" panose="02020603050405020304" pitchFamily="18" charset="0"/>
              </a:rPr>
              <a:t>B)</a:t>
            </a:r>
          </a:p>
        </p:txBody>
      </p:sp>
      <p:sp>
        <p:nvSpPr>
          <p:cNvPr id="42" name="Rectangle 40"/>
          <p:cNvSpPr>
            <a:spLocks noChangeArrowheads="1"/>
          </p:cNvSpPr>
          <p:nvPr/>
        </p:nvSpPr>
        <p:spPr bwMode="auto">
          <a:xfrm>
            <a:off x="3348038" y="5222875"/>
            <a:ext cx="5562600" cy="51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100">
                <a:latin typeface="Times New Roman" panose="02020603050405020304" pitchFamily="18" charset="0"/>
                <a:cs typeface="Times New Roman" panose="02020603050405020304" pitchFamily="18" charset="0"/>
              </a:rPr>
              <a:t>R</a:t>
            </a:r>
            <a:r>
              <a:rPr lang="en-US" altLang="zh-CN" sz="1100" b="1">
                <a:solidFill>
                  <a:srgbClr val="0000FF"/>
                </a:solidFill>
                <a:latin typeface="Times New Roman" panose="02020603050405020304" pitchFamily="18" charset="0"/>
                <a:cs typeface="Times New Roman" panose="02020603050405020304" pitchFamily="18" charset="0"/>
              </a:rPr>
              <a:t>RFEDECC</a:t>
            </a:r>
            <a:r>
              <a:rPr lang="en-US" altLang="zh-CN" sz="1100">
                <a:latin typeface="Times New Roman" panose="02020603050405020304" pitchFamily="18" charset="0"/>
                <a:cs typeface="Times New Roman" panose="02020603050405020304" pitchFamily="18" charset="0"/>
              </a:rPr>
              <a:t>GA</a:t>
            </a:r>
            <a:r>
              <a:rPr lang="en-US" altLang="zh-CN" sz="1100" b="1">
                <a:solidFill>
                  <a:srgbClr val="FF0000"/>
                </a:solidFill>
                <a:latin typeface="Times New Roman" panose="02020603050405020304" pitchFamily="18" charset="0"/>
                <a:cs typeface="Times New Roman" panose="02020603050405020304" pitchFamily="18" charset="0"/>
              </a:rPr>
              <a:t>IHHHHHHHHHHHHHHH</a:t>
            </a:r>
            <a:r>
              <a:rPr lang="en-US" altLang="zh-CN" sz="1100">
                <a:latin typeface="Times New Roman" panose="02020603050405020304" pitchFamily="18" charset="0"/>
                <a:cs typeface="Times New Roman" panose="02020603050405020304" pitchFamily="18" charset="0"/>
              </a:rPr>
              <a:t>OMICQEECBLDFQNB</a:t>
            </a:r>
            <a:r>
              <a:rPr lang="en-US" altLang="zh-CN" sz="1100" b="1">
                <a:solidFill>
                  <a:srgbClr val="00FFFF"/>
                </a:solidFill>
                <a:latin typeface="Times New Roman" panose="02020603050405020304" pitchFamily="18" charset="0"/>
                <a:cs typeface="Times New Roman" panose="02020603050405020304" pitchFamily="18" charset="0"/>
              </a:rPr>
              <a:t>FEEEEFE</a:t>
            </a:r>
            <a:r>
              <a:rPr lang="en-US" altLang="zh-CN" sz="1100">
                <a:latin typeface="Times New Roman" panose="02020603050405020304" pitchFamily="18" charset="0"/>
                <a:cs typeface="Times New Roman" panose="02020603050405020304" pitchFamily="18" charset="0"/>
              </a:rPr>
              <a:t>QNNGCP</a:t>
            </a:r>
          </a:p>
          <a:p>
            <a:pPr eaLnBrk="1" hangingPunct="1">
              <a:spcBef>
                <a:spcPct val="50000"/>
              </a:spcBef>
            </a:pPr>
            <a:r>
              <a:rPr lang="en-US" altLang="zh-CN" sz="1100">
                <a:latin typeface="Times New Roman" panose="02020603050405020304" pitchFamily="18" charset="0"/>
                <a:cs typeface="Times New Roman" panose="02020603050405020304" pitchFamily="18" charset="0"/>
              </a:rPr>
              <a:t>L</a:t>
            </a:r>
            <a:r>
              <a:rPr lang="en-US" altLang="zh-CN" sz="1100" b="1">
                <a:solidFill>
                  <a:srgbClr val="00FF00"/>
                </a:solidFill>
                <a:latin typeface="Times New Roman" panose="02020603050405020304" pitchFamily="18" charset="0"/>
                <a:cs typeface="Times New Roman" panose="02020603050405020304" pitchFamily="18" charset="0"/>
              </a:rPr>
              <a:t>DDEEEDEEE</a:t>
            </a:r>
            <a:r>
              <a:rPr lang="en-US" altLang="zh-CN" sz="1100">
                <a:latin typeface="Times New Roman" panose="02020603050405020304" pitchFamily="18" charset="0"/>
                <a:cs typeface="Times New Roman" panose="02020603050405020304" pitchFamily="18" charset="0"/>
              </a:rPr>
              <a:t>NOG</a:t>
            </a:r>
            <a:r>
              <a:rPr lang="en-US" altLang="zh-CN" sz="1100" b="1">
                <a:solidFill>
                  <a:srgbClr val="CCCC00"/>
                </a:solidFill>
                <a:latin typeface="Times New Roman" panose="02020603050405020304" pitchFamily="18" charset="0"/>
                <a:cs typeface="Times New Roman" panose="02020603050405020304" pitchFamily="18" charset="0"/>
              </a:rPr>
              <a:t>CEDEEEEE</a:t>
            </a:r>
            <a:r>
              <a:rPr lang="en-US" altLang="zh-CN" sz="1100">
                <a:latin typeface="Times New Roman" panose="02020603050405020304" pitchFamily="18" charset="0"/>
                <a:cs typeface="Times New Roman" panose="02020603050405020304" pitchFamily="18" charset="0"/>
              </a:rPr>
              <a:t>EPKKOG</a:t>
            </a:r>
            <a:r>
              <a:rPr lang="en-US" altLang="zh-CN" sz="1100" b="1">
                <a:solidFill>
                  <a:srgbClr val="CC6600"/>
                </a:solidFill>
                <a:latin typeface="Times New Roman" panose="02020603050405020304" pitchFamily="18" charset="0"/>
                <a:cs typeface="Times New Roman" panose="02020603050405020304" pitchFamily="18" charset="0"/>
              </a:rPr>
              <a:t>FEDPLDE</a:t>
            </a:r>
            <a:r>
              <a:rPr lang="en-US" altLang="zh-CN" sz="1100">
                <a:latin typeface="Times New Roman" panose="02020603050405020304" pitchFamily="18" charset="0"/>
                <a:cs typeface="Times New Roman" panose="02020603050405020304" pitchFamily="18" charset="0"/>
              </a:rPr>
              <a:t>QBGCCR</a:t>
            </a:r>
          </a:p>
        </p:txBody>
      </p:sp>
      <p:sp>
        <p:nvSpPr>
          <p:cNvPr id="43" name="Text Box 41"/>
          <p:cNvSpPr txBox="1">
            <a:spLocks noChangeArrowheads="1"/>
          </p:cNvSpPr>
          <p:nvPr/>
        </p:nvSpPr>
        <p:spPr bwMode="auto">
          <a:xfrm>
            <a:off x="3663950" y="260350"/>
            <a:ext cx="48006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dirty="0">
                <a:latin typeface="Times New Roman" panose="02020603050405020304" pitchFamily="18" charset="0"/>
                <a:cs typeface="Times New Roman" panose="02020603050405020304" pitchFamily="18" charset="0"/>
              </a:rPr>
              <a:t>The transformation from 3D structure to 1D CLE strings</a:t>
            </a:r>
          </a:p>
        </p:txBody>
      </p:sp>
      <p:sp>
        <p:nvSpPr>
          <p:cNvPr id="44" name="Rectangle 42"/>
          <p:cNvSpPr>
            <a:spLocks noChangeArrowheads="1"/>
          </p:cNvSpPr>
          <p:nvPr/>
        </p:nvSpPr>
        <p:spPr bwMode="auto">
          <a:xfrm>
            <a:off x="2663825" y="1412875"/>
            <a:ext cx="685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solidFill>
                  <a:srgbClr val="FF0000"/>
                </a:solidFill>
                <a:latin typeface="Times New Roman" panose="02020603050405020304" pitchFamily="18" charset="0"/>
                <a:cs typeface="Times New Roman" panose="02020603050405020304" pitchFamily="18" charset="0"/>
              </a:rPr>
              <a:t>alpha</a:t>
            </a:r>
          </a:p>
        </p:txBody>
      </p:sp>
      <p:sp>
        <p:nvSpPr>
          <p:cNvPr id="45" name="Rectangle 43"/>
          <p:cNvSpPr>
            <a:spLocks noChangeArrowheads="1"/>
          </p:cNvSpPr>
          <p:nvPr/>
        </p:nvSpPr>
        <p:spPr bwMode="auto">
          <a:xfrm>
            <a:off x="2587625" y="3389313"/>
            <a:ext cx="685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solidFill>
                  <a:srgbClr val="0000FF"/>
                </a:solidFill>
                <a:latin typeface="Times New Roman" panose="02020603050405020304" pitchFamily="18" charset="0"/>
                <a:cs typeface="Times New Roman" panose="02020603050405020304" pitchFamily="18" charset="0"/>
              </a:rPr>
              <a:t>beta</a:t>
            </a:r>
          </a:p>
        </p:txBody>
      </p:sp>
      <p:sp>
        <p:nvSpPr>
          <p:cNvPr id="46" name="Rectangle 44"/>
          <p:cNvSpPr>
            <a:spLocks noChangeArrowheads="1"/>
          </p:cNvSpPr>
          <p:nvPr/>
        </p:nvSpPr>
        <p:spPr bwMode="auto">
          <a:xfrm>
            <a:off x="2587625" y="6400800"/>
            <a:ext cx="685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Times New Roman" panose="02020603050405020304" pitchFamily="18" charset="0"/>
                <a:cs typeface="Times New Roman" panose="02020603050405020304" pitchFamily="18" charset="0"/>
              </a:rPr>
              <a:t>coil</a:t>
            </a:r>
          </a:p>
        </p:txBody>
      </p:sp>
      <p:sp>
        <p:nvSpPr>
          <p:cNvPr id="47" name="Rectangle 45"/>
          <p:cNvSpPr>
            <a:spLocks noChangeArrowheads="1"/>
          </p:cNvSpPr>
          <p:nvPr/>
        </p:nvSpPr>
        <p:spPr bwMode="auto">
          <a:xfrm>
            <a:off x="3349625" y="6142038"/>
            <a:ext cx="5543550" cy="527050"/>
          </a:xfrm>
          <a:prstGeom prst="rect">
            <a:avLst/>
          </a:prstGeom>
          <a:noFill/>
          <a:ln w="9525">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b="1" dirty="0">
                <a:latin typeface="Times New Roman" panose="02020603050405020304" pitchFamily="18" charset="0"/>
                <a:cs typeface="Times New Roman" panose="02020603050405020304" pitchFamily="18" charset="0"/>
              </a:rPr>
              <a:t>S Wang</a:t>
            </a:r>
            <a:r>
              <a:rPr lang="en-US" altLang="zh-CN" sz="1400" dirty="0">
                <a:latin typeface="Times New Roman" panose="02020603050405020304" pitchFamily="18" charset="0"/>
                <a:cs typeface="Times New Roman" panose="02020603050405020304" pitchFamily="18" charset="0"/>
              </a:rPr>
              <a:t>, WM Zheng, </a:t>
            </a:r>
            <a:r>
              <a:rPr lang="en-US" altLang="zh-CN" sz="1400" i="1" dirty="0">
                <a:latin typeface="Times New Roman" panose="02020603050405020304" pitchFamily="18" charset="0"/>
                <a:cs typeface="Times New Roman" panose="02020603050405020304" pitchFamily="18" charset="0"/>
              </a:rPr>
              <a:t>“</a:t>
            </a:r>
            <a:r>
              <a:rPr lang="en-US" altLang="zh-CN" sz="1400" i="1" dirty="0" err="1">
                <a:latin typeface="Times New Roman" panose="02020603050405020304" pitchFamily="18" charset="0"/>
                <a:cs typeface="Times New Roman" panose="02020603050405020304" pitchFamily="18" charset="0"/>
              </a:rPr>
              <a:t>CLePAPS</a:t>
            </a:r>
            <a:r>
              <a:rPr lang="en-US" altLang="zh-CN" sz="1400" i="1" dirty="0">
                <a:latin typeface="Times New Roman" panose="02020603050405020304" pitchFamily="18" charset="0"/>
                <a:cs typeface="Times New Roman" panose="02020603050405020304" pitchFamily="18" charset="0"/>
              </a:rPr>
              <a:t>: Fast Pair Alignment of Protein Structures Based on Conformational Letters.”</a:t>
            </a:r>
            <a:r>
              <a:rPr lang="en-US" altLang="zh-CN" sz="1400" dirty="0">
                <a:latin typeface="Times New Roman" panose="02020603050405020304" pitchFamily="18" charset="0"/>
                <a:cs typeface="Times New Roman" panose="02020603050405020304" pitchFamily="18" charset="0"/>
              </a:rPr>
              <a:t> JBCB, 2008</a:t>
            </a:r>
          </a:p>
        </p:txBody>
      </p:sp>
    </p:spTree>
    <p:extLst>
      <p:ext uri="{BB962C8B-B14F-4D97-AF65-F5344CB8AC3E}">
        <p14:creationId xmlns:p14="http://schemas.microsoft.com/office/powerpoint/2010/main" val="42362498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843" y="1320802"/>
            <a:ext cx="7978775" cy="4764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3"/>
          <p:cNvSpPr txBox="1">
            <a:spLocks noChangeArrowheads="1"/>
          </p:cNvSpPr>
          <p:nvPr/>
        </p:nvSpPr>
        <p:spPr bwMode="auto">
          <a:xfrm>
            <a:off x="320192" y="407055"/>
            <a:ext cx="880938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lang="en-US" altLang="zh-CN" sz="2800"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rPr>
              <a:t>CLESUM </a:t>
            </a:r>
            <a:r>
              <a:rPr lang="en-US" altLang="zh-CN" sz="2800"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rPr>
              <a:t>C</a:t>
            </a:r>
            <a:r>
              <a:rPr lang="en-US" altLang="zh-CN" sz="2800" dirty="0">
                <a:latin typeface="Times New Roman" panose="02020603050405020304" pitchFamily="18" charset="0"/>
                <a:cs typeface="Times New Roman" panose="02020603050405020304" pitchFamily="18" charset="0"/>
              </a:rPr>
              <a:t>onformational </a:t>
            </a:r>
            <a:r>
              <a:rPr lang="en-US" altLang="zh-CN" sz="2800" b="1" dirty="0" smtClean="0">
                <a:latin typeface="Times New Roman" panose="02020603050405020304" pitchFamily="18" charset="0"/>
                <a:cs typeface="Times New Roman" panose="02020603050405020304" pitchFamily="18" charset="0"/>
              </a:rPr>
              <a:t>Le</a:t>
            </a:r>
            <a:r>
              <a:rPr lang="en-US" altLang="zh-CN" sz="2800" dirty="0" smtClean="0">
                <a:latin typeface="Times New Roman" panose="02020603050405020304" pitchFamily="18" charset="0"/>
                <a:cs typeface="Times New Roman" panose="02020603050405020304" pitchFamily="18" charset="0"/>
              </a:rPr>
              <a:t>tter </a:t>
            </a:r>
            <a:r>
              <a:rPr lang="en-US" altLang="zh-CN" sz="2800" b="1" dirty="0" smtClean="0">
                <a:latin typeface="Times New Roman" panose="02020603050405020304" pitchFamily="18" charset="0"/>
                <a:cs typeface="Times New Roman" panose="02020603050405020304" pitchFamily="18" charset="0"/>
              </a:rPr>
              <a:t>Su</a:t>
            </a:r>
            <a:r>
              <a:rPr lang="en-US" altLang="zh-CN" sz="2800" dirty="0" smtClean="0">
                <a:latin typeface="Times New Roman" panose="02020603050405020304" pitchFamily="18" charset="0"/>
                <a:cs typeface="Times New Roman" panose="02020603050405020304" pitchFamily="18" charset="0"/>
              </a:rPr>
              <a:t>bstitution </a:t>
            </a:r>
            <a:r>
              <a:rPr lang="en-US" altLang="zh-CN" sz="2800" b="1" dirty="0">
                <a:latin typeface="Times New Roman" panose="02020603050405020304" pitchFamily="18" charset="0"/>
                <a:cs typeface="Times New Roman" panose="02020603050405020304" pitchFamily="18" charset="0"/>
              </a:rPr>
              <a:t>M</a:t>
            </a:r>
            <a:r>
              <a:rPr lang="en-US" altLang="zh-CN" sz="2800" dirty="0">
                <a:latin typeface="Times New Roman" panose="02020603050405020304" pitchFamily="18" charset="0"/>
                <a:cs typeface="Times New Roman" panose="02020603050405020304" pitchFamily="18" charset="0"/>
              </a:rPr>
              <a:t>atrix</a:t>
            </a:r>
          </a:p>
        </p:txBody>
      </p:sp>
      <p:sp>
        <p:nvSpPr>
          <p:cNvPr id="9" name="Text Box 9"/>
          <p:cNvSpPr txBox="1">
            <a:spLocks noChangeArrowheads="1"/>
          </p:cNvSpPr>
          <p:nvPr/>
        </p:nvSpPr>
        <p:spPr bwMode="auto">
          <a:xfrm>
            <a:off x="5943598" y="2096577"/>
            <a:ext cx="2016125"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ea typeface="Arial Unicode MS" pitchFamily="34" charset="-122"/>
              </a:rPr>
              <a:t>evolutionary  </a:t>
            </a:r>
          </a:p>
          <a:p>
            <a:pPr eaLnBrk="1" hangingPunct="1">
              <a:spcBef>
                <a:spcPct val="50000"/>
              </a:spcBef>
            </a:pPr>
            <a:r>
              <a:rPr lang="en-US" altLang="zh-CN" sz="2000" dirty="0">
                <a:ea typeface="Arial Unicode MS" pitchFamily="34" charset="-122"/>
              </a:rPr>
              <a:t>    + geometric</a:t>
            </a:r>
          </a:p>
        </p:txBody>
      </p:sp>
      <p:sp>
        <p:nvSpPr>
          <p:cNvPr id="10" name="AutoShape 10"/>
          <p:cNvSpPr>
            <a:spLocks noChangeArrowheads="1"/>
          </p:cNvSpPr>
          <p:nvPr/>
        </p:nvSpPr>
        <p:spPr bwMode="auto">
          <a:xfrm>
            <a:off x="5727699" y="1734343"/>
            <a:ext cx="2447925" cy="1441450"/>
          </a:xfrm>
          <a:prstGeom prst="roundRect">
            <a:avLst>
              <a:gd name="adj" fmla="val 16667"/>
            </a:avLst>
          </a:prstGeom>
          <a:noFill/>
          <a:ln w="9525">
            <a:solidFill>
              <a:srgbClr val="009900"/>
            </a:solidFill>
            <a:round/>
            <a:headEnd/>
            <a:tailEnd/>
          </a:ln>
          <a:effectLst/>
          <a:extLst>
            <a:ext uri="{909E8E84-426E-40DD-AFC4-6F175D3DCCD1}">
              <a14:hiddenFill xmlns:a14="http://schemas.microsoft.com/office/drawing/2010/main">
                <a:solidFill>
                  <a:schemeClr val="accent1">
                    <a:alpha val="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 name="Rectangle 11"/>
          <p:cNvSpPr>
            <a:spLocks noChangeArrowheads="1"/>
          </p:cNvSpPr>
          <p:nvPr/>
        </p:nvSpPr>
        <p:spPr bwMode="auto">
          <a:xfrm>
            <a:off x="458788" y="981075"/>
            <a:ext cx="8370887" cy="24288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 name="Line 12"/>
          <p:cNvSpPr>
            <a:spLocks noChangeShapeType="1"/>
          </p:cNvSpPr>
          <p:nvPr/>
        </p:nvSpPr>
        <p:spPr bwMode="auto">
          <a:xfrm>
            <a:off x="457200" y="1125538"/>
            <a:ext cx="80549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3" name="Rectangle 13"/>
          <p:cNvSpPr>
            <a:spLocks noChangeArrowheads="1"/>
          </p:cNvSpPr>
          <p:nvPr/>
        </p:nvSpPr>
        <p:spPr bwMode="auto">
          <a:xfrm>
            <a:off x="539439" y="6291126"/>
            <a:ext cx="8370888" cy="207962"/>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 name="Line 14"/>
          <p:cNvSpPr>
            <a:spLocks noChangeShapeType="1"/>
          </p:cNvSpPr>
          <p:nvPr/>
        </p:nvSpPr>
        <p:spPr bwMode="auto">
          <a:xfrm>
            <a:off x="469900" y="6350619"/>
            <a:ext cx="80549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Tree>
    <p:extLst>
      <p:ext uri="{BB962C8B-B14F-4D97-AF65-F5344CB8AC3E}">
        <p14:creationId xmlns:p14="http://schemas.microsoft.com/office/powerpoint/2010/main" val="37496359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429508" y="5575987"/>
            <a:ext cx="656155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cs typeface="Times New Roman" panose="02020603050405020304" pitchFamily="18" charset="0"/>
                <a:sym typeface="Arial" panose="020B0604020202020204" pitchFamily="34" charset="0"/>
              </a:rPr>
              <a:t>The three vectors used in the </a:t>
            </a:r>
            <a:r>
              <a:rPr lang="en-US" altLang="zh-CN" sz="2800" dirty="0">
                <a:latin typeface="Times New Roman" panose="02020603050405020304" pitchFamily="18" charset="0"/>
                <a:cs typeface="Times New Roman" panose="02020603050405020304" pitchFamily="18" charset="0"/>
                <a:sym typeface="Arial" panose="020B0604020202020204" pitchFamily="34" charset="0"/>
              </a:rPr>
              <a:t>vector-score </a:t>
            </a:r>
            <a:r>
              <a:rPr lang="en-US" altLang="zh-CN" sz="2800" i="1" dirty="0">
                <a:latin typeface="Times New Roman" panose="02020603050405020304" pitchFamily="18" charset="0"/>
                <a:cs typeface="Times New Roman" panose="02020603050405020304" pitchFamily="18" charset="0"/>
                <a:sym typeface="Arial" panose="020B0604020202020204" pitchFamily="34" charset="0"/>
              </a:rPr>
              <a:t>v(</a:t>
            </a:r>
            <a:r>
              <a:rPr lang="en-US" altLang="zh-CN" sz="2800" i="1" dirty="0" err="1">
                <a:latin typeface="Times New Roman" panose="02020603050405020304" pitchFamily="18" charset="0"/>
                <a:cs typeface="Times New Roman" panose="02020603050405020304" pitchFamily="18" charset="0"/>
                <a:sym typeface="Arial" panose="020B0604020202020204" pitchFamily="34" charset="0"/>
              </a:rPr>
              <a:t>i,j</a:t>
            </a:r>
            <a:r>
              <a:rPr lang="en-US" altLang="zh-CN" sz="2800" i="1" dirty="0">
                <a:latin typeface="Times New Roman" panose="02020603050405020304" pitchFamily="18" charset="0"/>
                <a:cs typeface="Times New Roman" panose="02020603050405020304" pitchFamily="18" charset="0"/>
                <a:sym typeface="Arial" panose="020B0604020202020204" pitchFamily="34" charset="0"/>
              </a:rPr>
              <a:t>)</a:t>
            </a:r>
            <a:r>
              <a:rPr lang="zh-CN" altLang="en-US" sz="2800" dirty="0">
                <a:latin typeface="Times New Roman" panose="02020603050405020304" pitchFamily="18" charset="0"/>
                <a:cs typeface="Times New Roman" panose="02020603050405020304" pitchFamily="18" charset="0"/>
                <a:sym typeface="Arial" panose="020B0604020202020204" pitchFamily="34" charset="0"/>
              </a:rPr>
              <a:t>.</a:t>
            </a:r>
          </a:p>
        </p:txBody>
      </p:sp>
      <p:sp>
        <p:nvSpPr>
          <p:cNvPr id="4" name="Text Box 4"/>
          <p:cNvSpPr txBox="1">
            <a:spLocks noChangeArrowheads="1"/>
          </p:cNvSpPr>
          <p:nvPr/>
        </p:nvSpPr>
        <p:spPr bwMode="auto">
          <a:xfrm>
            <a:off x="156817" y="195833"/>
            <a:ext cx="568739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b="1" dirty="0">
                <a:latin typeface="Times New Roman" panose="02020603050405020304" pitchFamily="18" charset="0"/>
                <a:cs typeface="Times New Roman" panose="02020603050405020304" pitchFamily="18" charset="0"/>
                <a:sym typeface="Arial" panose="020B0604020202020204" pitchFamily="34" charset="0"/>
              </a:rPr>
              <a:t>Using three vector's deviation for angular similarity</a:t>
            </a:r>
          </a:p>
        </p:txBody>
      </p:sp>
      <p:pic>
        <p:nvPicPr>
          <p:cNvPr id="5" name="Picture 5" descr="CA_CA_C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437" y="1313470"/>
            <a:ext cx="2806700" cy="349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圖片 5"/>
          <p:cNvPicPr>
            <a:picLocks noChangeAspect="1"/>
          </p:cNvPicPr>
          <p:nvPr/>
        </p:nvPicPr>
        <p:blipFill>
          <a:blip r:embed="rId4"/>
          <a:stretch>
            <a:fillRect/>
          </a:stretch>
        </p:blipFill>
        <p:spPr>
          <a:xfrm>
            <a:off x="1333156" y="4629316"/>
            <a:ext cx="6547262" cy="946671"/>
          </a:xfrm>
          <a:prstGeom prst="rect">
            <a:avLst/>
          </a:prstGeom>
        </p:spPr>
      </p:pic>
    </p:spTree>
    <p:extLst>
      <p:ext uri="{BB962C8B-B14F-4D97-AF65-F5344CB8AC3E}">
        <p14:creationId xmlns:p14="http://schemas.microsoft.com/office/powerpoint/2010/main" val="38175622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2510" y="406400"/>
            <a:ext cx="6212957" cy="523220"/>
          </a:xfrm>
          <a:prstGeom prst="rect">
            <a:avLst/>
          </a:prstGeom>
        </p:spPr>
        <p:txBody>
          <a:bodyPr wrap="square">
            <a:spAutoFit/>
          </a:bodyPr>
          <a:lstStyle/>
          <a:p>
            <a:r>
              <a:rPr lang="zh-TW" altLang="en-US" sz="2800" b="1" dirty="0">
                <a:latin typeface="Times New Roman" panose="02020603050405020304" pitchFamily="18" charset="0"/>
                <a:cs typeface="Times New Roman" panose="02020603050405020304" pitchFamily="18" charset="0"/>
              </a:rPr>
              <a:t>The DeepAlign algorithm </a:t>
            </a:r>
            <a:r>
              <a:rPr lang="zh-TW" altLang="en-US" sz="2800" b="1" dirty="0" smtClean="0">
                <a:latin typeface="Times New Roman" panose="02020603050405020304" pitchFamily="18" charset="0"/>
                <a:cs typeface="Times New Roman" panose="02020603050405020304" pitchFamily="18" charset="0"/>
              </a:rPr>
              <a:t>flowchart</a:t>
            </a:r>
            <a:endParaRPr lang="zh-TW" altLang="en-US" sz="2800" b="1" dirty="0">
              <a:latin typeface="Times New Roman" panose="02020603050405020304" pitchFamily="18" charset="0"/>
              <a:cs typeface="Times New Roman" panose="02020603050405020304" pitchFamily="18" charset="0"/>
            </a:endParaRPr>
          </a:p>
        </p:txBody>
      </p:sp>
      <p:pic>
        <p:nvPicPr>
          <p:cNvPr id="4" name="Picture 2" descr="CLEF_Flowchart_neo"/>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753927" y="1381125"/>
            <a:ext cx="7564437" cy="3190875"/>
          </a:xfrm>
          <a:prstGeom prst="rect">
            <a:avLst/>
          </a:prstGeom>
          <a:noFill/>
        </p:spPr>
      </p:pic>
      <p:pic>
        <p:nvPicPr>
          <p:cNvPr id="5" name="Picture 2" descr="CLEF_Flowchart_neo"/>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753927" y="1381125"/>
            <a:ext cx="7564437" cy="3190875"/>
          </a:xfrm>
          <a:prstGeom prst="rect">
            <a:avLst/>
          </a:prstGeom>
          <a:noFill/>
        </p:spPr>
      </p:pic>
      <p:sp>
        <p:nvSpPr>
          <p:cNvPr id="6" name="Text Box 3"/>
          <p:cNvSpPr txBox="1">
            <a:spLocks noChangeArrowheads="1"/>
          </p:cNvSpPr>
          <p:nvPr/>
        </p:nvSpPr>
        <p:spPr bwMode="auto">
          <a:xfrm>
            <a:off x="6226039" y="4124325"/>
            <a:ext cx="1873250"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dirty="0">
                <a:latin typeface="Times New Roman" panose="02020603050405020304" pitchFamily="18" charset="0"/>
                <a:cs typeface="Times New Roman" panose="02020603050405020304" pitchFamily="18" charset="0"/>
              </a:rPr>
              <a:t>DeepAlign</a:t>
            </a:r>
            <a:r>
              <a:rPr lang="en-US" altLang="zh-CN" sz="1600" dirty="0">
                <a:latin typeface="Times New Roman" panose="02020603050405020304" pitchFamily="18" charset="0"/>
                <a:cs typeface="Times New Roman" panose="02020603050405020304" pitchFamily="18" charset="0"/>
              </a:rPr>
              <a:t>-score</a:t>
            </a:r>
            <a:endParaRPr lang="zh-CN" altLang="en-US" sz="1600" dirty="0">
              <a:latin typeface="Times New Roman" panose="02020603050405020304" pitchFamily="18" charset="0"/>
              <a:cs typeface="Times New Roman" panose="02020603050405020304" pitchFamily="18" charset="0"/>
            </a:endParaRPr>
          </a:p>
        </p:txBody>
      </p:sp>
      <p:sp>
        <p:nvSpPr>
          <p:cNvPr id="7" name="Text Box 4"/>
          <p:cNvSpPr txBox="1">
            <a:spLocks noChangeArrowheads="1"/>
          </p:cNvSpPr>
          <p:nvPr/>
        </p:nvSpPr>
        <p:spPr bwMode="auto">
          <a:xfrm>
            <a:off x="3851139" y="1517650"/>
            <a:ext cx="1095172"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Times New Roman" panose="02020603050405020304" pitchFamily="18" charset="0"/>
                <a:cs typeface="Times New Roman" panose="02020603050405020304" pitchFamily="18" charset="0"/>
              </a:rPr>
              <a:t>SFP_long</a:t>
            </a:r>
            <a:endParaRPr lang="zh-CN" altLang="en-US">
              <a:latin typeface="Times New Roman" panose="02020603050405020304" pitchFamily="18" charset="0"/>
              <a:cs typeface="Times New Roman" panose="02020603050405020304" pitchFamily="18" charset="0"/>
            </a:endParaRPr>
          </a:p>
        </p:txBody>
      </p:sp>
      <p:sp>
        <p:nvSpPr>
          <p:cNvPr id="8" name="Text Box 5"/>
          <p:cNvSpPr txBox="1">
            <a:spLocks noChangeArrowheads="1"/>
          </p:cNvSpPr>
          <p:nvPr/>
        </p:nvSpPr>
        <p:spPr bwMode="auto">
          <a:xfrm>
            <a:off x="3835264" y="2603500"/>
            <a:ext cx="1146468" cy="369332"/>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Times New Roman" panose="02020603050405020304" pitchFamily="18" charset="0"/>
                <a:cs typeface="Times New Roman" panose="02020603050405020304" pitchFamily="18" charset="0"/>
              </a:rPr>
              <a:t>SFP_short</a:t>
            </a:r>
            <a:endParaRPr lang="zh-CN" altLang="en-US">
              <a:latin typeface="Times New Roman" panose="02020603050405020304" pitchFamily="18" charset="0"/>
              <a:cs typeface="Times New Roman" panose="02020603050405020304" pitchFamily="18" charset="0"/>
            </a:endParaRPr>
          </a:p>
        </p:txBody>
      </p:sp>
      <p:sp>
        <p:nvSpPr>
          <p:cNvPr id="11" name="Rectangle 8"/>
          <p:cNvSpPr>
            <a:spLocks noChangeArrowheads="1"/>
          </p:cNvSpPr>
          <p:nvPr/>
        </p:nvSpPr>
        <p:spPr bwMode="auto">
          <a:xfrm>
            <a:off x="535023" y="5172075"/>
            <a:ext cx="104493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dirty="0" smtClean="0">
                <a:latin typeface="Times New Roman" panose="02020603050405020304" pitchFamily="18" charset="0"/>
                <a:cs typeface="Times New Roman" panose="02020603050405020304" pitchFamily="18" charset="0"/>
              </a:rPr>
              <a:t>1. SFP stands for Similar Fragment Pair, using </a:t>
            </a:r>
            <a:endParaRPr lang="en-US" altLang="zh-CN" b="1" dirty="0">
              <a:latin typeface="Times New Roman" panose="02020603050405020304" pitchFamily="18" charset="0"/>
              <a:cs typeface="Times New Roman" panose="02020603050405020304" pitchFamily="18" charset="0"/>
            </a:endParaRPr>
          </a:p>
        </p:txBody>
      </p:sp>
      <p:sp>
        <p:nvSpPr>
          <p:cNvPr id="12" name="Text Box 9"/>
          <p:cNvSpPr txBox="1">
            <a:spLocks noChangeArrowheads="1"/>
          </p:cNvSpPr>
          <p:nvPr/>
        </p:nvSpPr>
        <p:spPr bwMode="auto">
          <a:xfrm>
            <a:off x="3584439" y="3133725"/>
            <a:ext cx="2362200" cy="366713"/>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i="1">
                <a:latin typeface="Times New Roman" panose="02020603050405020304" pitchFamily="18" charset="0"/>
                <a:cs typeface="Times New Roman" panose="02020603050405020304" pitchFamily="18" charset="0"/>
              </a:rPr>
              <a:t>Sort both SFP lists</a:t>
            </a:r>
            <a:endParaRPr lang="zh-CN" altLang="en-US" i="1">
              <a:latin typeface="Times New Roman" panose="02020603050405020304" pitchFamily="18" charset="0"/>
              <a:cs typeface="Times New Roman" panose="02020603050405020304" pitchFamily="18" charset="0"/>
            </a:endParaRPr>
          </a:p>
        </p:txBody>
      </p:sp>
      <p:pic>
        <p:nvPicPr>
          <p:cNvPr id="14" name="圖片 13"/>
          <p:cNvPicPr>
            <a:picLocks noChangeAspect="1"/>
          </p:cNvPicPr>
          <p:nvPr/>
        </p:nvPicPr>
        <p:blipFill>
          <a:blip r:embed="rId3"/>
          <a:stretch>
            <a:fillRect/>
          </a:stretch>
        </p:blipFill>
        <p:spPr>
          <a:xfrm>
            <a:off x="772977" y="5648715"/>
            <a:ext cx="4723311" cy="283217"/>
          </a:xfrm>
          <a:prstGeom prst="rect">
            <a:avLst/>
          </a:prstGeom>
        </p:spPr>
      </p:pic>
    </p:spTree>
    <p:extLst>
      <p:ext uri="{BB962C8B-B14F-4D97-AF65-F5344CB8AC3E}">
        <p14:creationId xmlns:p14="http://schemas.microsoft.com/office/powerpoint/2010/main" val="39547398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295275" y="179013"/>
            <a:ext cx="682114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dirty="0">
                <a:latin typeface="Times New Roman" panose="02020603050405020304" pitchFamily="18" charset="0"/>
                <a:cs typeface="Times New Roman" panose="02020603050405020304" pitchFamily="18" charset="0"/>
                <a:sym typeface="Arial" panose="020B0604020202020204" pitchFamily="34" charset="0"/>
              </a:rPr>
              <a:t>Final refinement on </a:t>
            </a:r>
            <a:r>
              <a:rPr lang="en-US" altLang="zh-CN" sz="2800" b="1" dirty="0" err="1">
                <a:latin typeface="Times New Roman" panose="02020603050405020304" pitchFamily="18" charset="0"/>
                <a:cs typeface="Times New Roman" panose="02020603050405020304" pitchFamily="18" charset="0"/>
                <a:sym typeface="Arial" panose="020B0604020202020204" pitchFamily="34" charset="0"/>
              </a:rPr>
              <a:t>DeepAlign</a:t>
            </a:r>
            <a:r>
              <a:rPr lang="en-US" altLang="zh-CN" sz="2800" b="1" dirty="0">
                <a:latin typeface="Times New Roman" panose="02020603050405020304" pitchFamily="18" charset="0"/>
                <a:cs typeface="Times New Roman" panose="02020603050405020304" pitchFamily="18" charset="0"/>
                <a:sym typeface="Arial" panose="020B0604020202020204" pitchFamily="34" charset="0"/>
              </a:rPr>
              <a:t>-score only in bounded area</a:t>
            </a:r>
          </a:p>
        </p:txBody>
      </p:sp>
      <p:sp>
        <p:nvSpPr>
          <p:cNvPr id="15363" name="Rectangle 3"/>
          <p:cNvSpPr>
            <a:spLocks noChangeArrowheads="1"/>
          </p:cNvSpPr>
          <p:nvPr/>
        </p:nvSpPr>
        <p:spPr bwMode="auto">
          <a:xfrm>
            <a:off x="164824" y="1196974"/>
            <a:ext cx="3816350"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latin typeface="Times New Roman" panose="02020603050405020304" pitchFamily="18" charset="0"/>
                <a:cs typeface="Times New Roman" panose="02020603050405020304" pitchFamily="18" charset="0"/>
              </a:rPr>
              <a:t>(1) refined fine-grained alignment</a:t>
            </a:r>
          </a:p>
        </p:txBody>
      </p:sp>
      <p:sp>
        <p:nvSpPr>
          <p:cNvPr id="15364" name="Rectangle 4"/>
          <p:cNvSpPr>
            <a:spLocks noChangeArrowheads="1"/>
          </p:cNvSpPr>
          <p:nvPr/>
        </p:nvSpPr>
        <p:spPr bwMode="auto">
          <a:xfrm>
            <a:off x="4457976" y="1196974"/>
            <a:ext cx="4572000"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latin typeface="Times New Roman" panose="02020603050405020304" pitchFamily="18" charset="0"/>
                <a:cs typeface="Times New Roman" panose="02020603050405020304" pitchFamily="18" charset="0"/>
              </a:rPr>
              <a:t>(2) bounded area upon the alignment</a:t>
            </a:r>
          </a:p>
        </p:txBody>
      </p:sp>
      <p:pic>
        <p:nvPicPr>
          <p:cNvPr id="15365" name="Picture 5" descr="Local_DynaProg_Hori_f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5600" y="4291013"/>
            <a:ext cx="2879725" cy="226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6" descr="Local_DynaProg_Hori_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575" y="1676400"/>
            <a:ext cx="253365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7" name="Picture 7" descr="Local_DynaProg_Hori_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8625" y="1639888"/>
            <a:ext cx="2609850"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8" name="Rectangle 8"/>
          <p:cNvSpPr>
            <a:spLocks noChangeArrowheads="1"/>
          </p:cNvSpPr>
          <p:nvPr/>
        </p:nvSpPr>
        <p:spPr bwMode="auto">
          <a:xfrm>
            <a:off x="466725" y="4219575"/>
            <a:ext cx="3926371"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latin typeface="Times New Roman" panose="02020603050405020304" pitchFamily="18" charset="0"/>
                <a:cs typeface="Times New Roman" panose="02020603050405020304" pitchFamily="18" charset="0"/>
              </a:rPr>
              <a:t>(3) dynamic programming to find a path  </a:t>
            </a:r>
          </a:p>
          <a:p>
            <a:pPr eaLnBrk="1" hangingPunct="1"/>
            <a:r>
              <a:rPr lang="en-US" altLang="zh-CN" sz="2400" dirty="0">
                <a:latin typeface="Times New Roman" panose="02020603050405020304" pitchFamily="18" charset="0"/>
                <a:cs typeface="Times New Roman" panose="02020603050405020304" pitchFamily="18" charset="0"/>
              </a:rPr>
              <a:t>     with maximal </a:t>
            </a:r>
            <a:r>
              <a:rPr lang="en-US" altLang="zh-CN" sz="2400" dirty="0" err="1">
                <a:latin typeface="Times New Roman" panose="02020603050405020304" pitchFamily="18" charset="0"/>
                <a:cs typeface="Times New Roman" panose="02020603050405020304" pitchFamily="18" charset="0"/>
              </a:rPr>
              <a:t>DeepAlign</a:t>
            </a:r>
            <a:r>
              <a:rPr lang="en-US" altLang="zh-CN" sz="2400" dirty="0">
                <a:latin typeface="Times New Roman" panose="02020603050405020304" pitchFamily="18" charset="0"/>
                <a:cs typeface="Times New Roman" panose="02020603050405020304" pitchFamily="18" charset="0"/>
              </a:rPr>
              <a:t>-score within </a:t>
            </a:r>
          </a:p>
          <a:p>
            <a:pPr eaLnBrk="1" hangingPunct="1"/>
            <a:r>
              <a:rPr lang="en-US" altLang="zh-CN" sz="2400" dirty="0">
                <a:latin typeface="Times New Roman" panose="02020603050405020304" pitchFamily="18" charset="0"/>
                <a:cs typeface="Times New Roman" panose="02020603050405020304" pitchFamily="18" charset="0"/>
              </a:rPr>
              <a:t>     bounded area</a:t>
            </a:r>
          </a:p>
        </p:txBody>
      </p:sp>
      <p:sp>
        <p:nvSpPr>
          <p:cNvPr id="15369" name="Line 9"/>
          <p:cNvSpPr>
            <a:spLocks noChangeShapeType="1"/>
          </p:cNvSpPr>
          <p:nvPr/>
        </p:nvSpPr>
        <p:spPr bwMode="auto">
          <a:xfrm>
            <a:off x="3505200" y="2709863"/>
            <a:ext cx="2290763" cy="0"/>
          </a:xfrm>
          <a:prstGeom prst="line">
            <a:avLst/>
          </a:prstGeom>
          <a:noFill/>
          <a:ln w="635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sz="2400">
              <a:latin typeface="Times New Roman" panose="02020603050405020304" pitchFamily="18" charset="0"/>
              <a:cs typeface="Times New Roman" panose="02020603050405020304" pitchFamily="18" charset="0"/>
            </a:endParaRPr>
          </a:p>
        </p:txBody>
      </p:sp>
      <p:sp>
        <p:nvSpPr>
          <p:cNvPr id="15370" name="Line 10"/>
          <p:cNvSpPr>
            <a:spLocks noChangeShapeType="1"/>
          </p:cNvSpPr>
          <p:nvPr/>
        </p:nvSpPr>
        <p:spPr bwMode="auto">
          <a:xfrm flipH="1">
            <a:off x="6875463" y="3525838"/>
            <a:ext cx="1587" cy="912812"/>
          </a:xfrm>
          <a:prstGeom prst="line">
            <a:avLst/>
          </a:prstGeom>
          <a:noFill/>
          <a:ln w="635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12049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body" idx="1"/>
          </p:nvPr>
        </p:nvSpPr>
        <p:spPr>
          <a:xfrm>
            <a:off x="457200" y="1412875"/>
            <a:ext cx="8229600" cy="4525963"/>
          </a:xfrm>
        </p:spPr>
        <p:txBody>
          <a:bodyPr/>
          <a:lstStyle/>
          <a:p>
            <a:pPr eaLnBrk="1" hangingPunct="1"/>
            <a:r>
              <a:rPr lang="en-US" altLang="zh-CN" sz="2600" b="1" dirty="0" smtClean="0">
                <a:latin typeface="Times New Roman" panose="02020603050405020304" pitchFamily="18" charset="0"/>
                <a:cs typeface="Times New Roman" panose="02020603050405020304" pitchFamily="18" charset="0"/>
              </a:rPr>
              <a:t>CDD (Conserved Domain Database</a:t>
            </a:r>
            <a:r>
              <a:rPr lang="en-US" altLang="zh-CN" sz="2600" dirty="0" smtClean="0">
                <a:latin typeface="Times New Roman" panose="02020603050405020304" pitchFamily="18" charset="0"/>
                <a:cs typeface="Times New Roman" panose="02020603050405020304" pitchFamily="18" charset="0"/>
              </a:rPr>
              <a:t>): contains 3591 conserved domain structure alignments.</a:t>
            </a:r>
          </a:p>
          <a:p>
            <a:pPr eaLnBrk="1" hangingPunct="1"/>
            <a:r>
              <a:rPr lang="en-US" altLang="zh-CN" sz="2600" b="1" dirty="0" smtClean="0">
                <a:latin typeface="Times New Roman" panose="02020603050405020304" pitchFamily="18" charset="0"/>
                <a:cs typeface="Times New Roman" panose="02020603050405020304" pitchFamily="18" charset="0"/>
              </a:rPr>
              <a:t>MALUDUP</a:t>
            </a:r>
            <a:r>
              <a:rPr lang="en-US" altLang="zh-CN" sz="2600" dirty="0" smtClean="0">
                <a:latin typeface="Times New Roman" panose="02020603050405020304" pitchFamily="18" charset="0"/>
                <a:cs typeface="Times New Roman" panose="02020603050405020304" pitchFamily="18" charset="0"/>
              </a:rPr>
              <a:t>:  contains 241 alignments for </a:t>
            </a:r>
            <a:r>
              <a:rPr lang="en-US" altLang="zh-CN" sz="2600" b="1" i="1" dirty="0" smtClean="0">
                <a:latin typeface="Times New Roman" panose="02020603050405020304" pitchFamily="18" charset="0"/>
                <a:cs typeface="Times New Roman" panose="02020603050405020304" pitchFamily="18" charset="0"/>
              </a:rPr>
              <a:t>homologous</a:t>
            </a:r>
            <a:r>
              <a:rPr lang="en-US" altLang="zh-CN" sz="2600" i="1" dirty="0" smtClean="0">
                <a:latin typeface="Times New Roman" panose="02020603050405020304" pitchFamily="18" charset="0"/>
                <a:cs typeface="Times New Roman" panose="02020603050405020304" pitchFamily="18" charset="0"/>
              </a:rPr>
              <a:t> </a:t>
            </a:r>
            <a:r>
              <a:rPr lang="en-US" altLang="zh-CN" sz="2600" dirty="0" smtClean="0">
                <a:latin typeface="Times New Roman" panose="02020603050405020304" pitchFamily="18" charset="0"/>
                <a:cs typeface="Times New Roman" panose="02020603050405020304" pitchFamily="18" charset="0"/>
              </a:rPr>
              <a:t>domains originated from internal duplication.</a:t>
            </a:r>
          </a:p>
          <a:p>
            <a:pPr eaLnBrk="1" hangingPunct="1"/>
            <a:r>
              <a:rPr lang="en-US" altLang="zh-CN" sz="2600" b="1" dirty="0" smtClean="0">
                <a:latin typeface="Times New Roman" panose="02020603050405020304" pitchFamily="18" charset="0"/>
                <a:cs typeface="Times New Roman" panose="02020603050405020304" pitchFamily="18" charset="0"/>
              </a:rPr>
              <a:t>MALISAM</a:t>
            </a:r>
            <a:r>
              <a:rPr lang="en-US" altLang="zh-CN" sz="2600" dirty="0" smtClean="0">
                <a:latin typeface="Times New Roman" panose="02020603050405020304" pitchFamily="18" charset="0"/>
                <a:cs typeface="Times New Roman" panose="02020603050405020304" pitchFamily="18" charset="0"/>
              </a:rPr>
              <a:t>: contains 130 alignments for structurally </a:t>
            </a:r>
            <a:r>
              <a:rPr lang="en-US" altLang="zh-CN" sz="2600" b="1" i="1" dirty="0" smtClean="0">
                <a:latin typeface="Times New Roman" panose="02020603050405020304" pitchFamily="18" charset="0"/>
                <a:cs typeface="Times New Roman" panose="02020603050405020304" pitchFamily="18" charset="0"/>
              </a:rPr>
              <a:t>analogous</a:t>
            </a:r>
            <a:r>
              <a:rPr lang="en-US" altLang="zh-CN" sz="2600" i="1" dirty="0" smtClean="0">
                <a:latin typeface="Times New Roman" panose="02020603050405020304" pitchFamily="18" charset="0"/>
                <a:cs typeface="Times New Roman" panose="02020603050405020304" pitchFamily="18" charset="0"/>
              </a:rPr>
              <a:t> </a:t>
            </a:r>
            <a:r>
              <a:rPr lang="en-US" altLang="zh-CN" sz="2600" dirty="0" smtClean="0">
                <a:latin typeface="Times New Roman" panose="02020603050405020304" pitchFamily="18" charset="0"/>
                <a:cs typeface="Times New Roman" panose="02020603050405020304" pitchFamily="18" charset="0"/>
              </a:rPr>
              <a:t>motifs in proteins.</a:t>
            </a:r>
          </a:p>
          <a:p>
            <a:pPr eaLnBrk="1" hangingPunct="1"/>
            <a:endParaRPr lang="zh-CN" altLang="en-US" sz="2600" b="1" dirty="0" smtClean="0">
              <a:latin typeface="Times New Roman" panose="02020603050405020304" pitchFamily="18" charset="0"/>
              <a:cs typeface="Times New Roman" panose="02020603050405020304" pitchFamily="18" charset="0"/>
            </a:endParaRPr>
          </a:p>
        </p:txBody>
      </p:sp>
      <p:sp>
        <p:nvSpPr>
          <p:cNvPr id="16387" name="Rectangle 3"/>
          <p:cNvSpPr>
            <a:spLocks noGrp="1" noChangeArrowheads="1"/>
          </p:cNvSpPr>
          <p:nvPr>
            <p:ph type="title"/>
          </p:nvPr>
        </p:nvSpPr>
        <p:spPr>
          <a:xfrm>
            <a:off x="179387" y="85067"/>
            <a:ext cx="8785225" cy="1143000"/>
          </a:xfrm>
        </p:spPr>
        <p:txBody>
          <a:bodyPr>
            <a:normAutofit/>
          </a:bodyPr>
          <a:lstStyle/>
          <a:p>
            <a:pPr eaLnBrk="1" hangingPunct="1"/>
            <a:r>
              <a:rPr lang="en-US" altLang="zh-CN" sz="3600" b="1" dirty="0" smtClean="0">
                <a:latin typeface="Times New Roman" panose="02020603050405020304" pitchFamily="18" charset="0"/>
                <a:cs typeface="Times New Roman" panose="02020603050405020304" pitchFamily="18" charset="0"/>
              </a:rPr>
              <a:t>Result on manually-curated data</a:t>
            </a:r>
          </a:p>
        </p:txBody>
      </p:sp>
      <p:pic>
        <p:nvPicPr>
          <p:cNvPr id="16388" name="Picture 4" descr="ws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425" y="4149725"/>
            <a:ext cx="5486400" cy="221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38740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79388" y="164306"/>
            <a:ext cx="8229600" cy="1143000"/>
          </a:xfrm>
        </p:spPr>
        <p:txBody>
          <a:bodyPr>
            <a:normAutofit/>
          </a:bodyPr>
          <a:lstStyle/>
          <a:p>
            <a:pPr eaLnBrk="1" hangingPunct="1"/>
            <a:r>
              <a:rPr lang="en-US" altLang="zh-CN" sz="3600" b="1" dirty="0" smtClean="0">
                <a:latin typeface="Times New Roman" panose="02020603050405020304" pitchFamily="18" charset="0"/>
                <a:cs typeface="Times New Roman" panose="02020603050405020304" pitchFamily="18" charset="0"/>
              </a:rPr>
              <a:t>Result on discrimination data</a:t>
            </a:r>
            <a:endParaRPr lang="en-US" altLang="zh-CN" sz="4000" b="1" dirty="0" smtClean="0">
              <a:latin typeface="Times New Roman" panose="02020603050405020304" pitchFamily="18" charset="0"/>
              <a:cs typeface="Times New Roman" panose="02020603050405020304" pitchFamily="18" charset="0"/>
            </a:endParaRPr>
          </a:p>
        </p:txBody>
      </p:sp>
      <p:sp>
        <p:nvSpPr>
          <p:cNvPr id="17411" name="Rectangle 3"/>
          <p:cNvSpPr>
            <a:spLocks noGrp="1" noChangeArrowheads="1"/>
          </p:cNvSpPr>
          <p:nvPr>
            <p:ph type="body" sz="half" idx="1"/>
          </p:nvPr>
        </p:nvSpPr>
        <p:spPr>
          <a:xfrm>
            <a:off x="457200" y="1600200"/>
            <a:ext cx="8229600" cy="1901825"/>
          </a:xfrm>
        </p:spPr>
        <p:txBody>
          <a:bodyPr/>
          <a:lstStyle/>
          <a:p>
            <a:pPr eaLnBrk="1" hangingPunct="1">
              <a:lnSpc>
                <a:spcPct val="80000"/>
              </a:lnSpc>
            </a:pPr>
            <a:r>
              <a:rPr lang="en-US" altLang="zh-CN" sz="2600" dirty="0" smtClean="0">
                <a:latin typeface="Times New Roman" panose="02020603050405020304" pitchFamily="18" charset="0"/>
                <a:cs typeface="Times New Roman" panose="02020603050405020304" pitchFamily="18" charset="0"/>
                <a:sym typeface="Arial" panose="020B0604020202020204" pitchFamily="34" charset="0"/>
              </a:rPr>
              <a:t>We use </a:t>
            </a:r>
            <a:r>
              <a:rPr lang="en-US" altLang="zh-CN" sz="2600" b="1" dirty="0" err="1" smtClean="0">
                <a:latin typeface="Times New Roman" panose="02020603050405020304" pitchFamily="18" charset="0"/>
                <a:cs typeface="Times New Roman" panose="02020603050405020304" pitchFamily="18" charset="0"/>
                <a:sym typeface="Arial" panose="020B0604020202020204" pitchFamily="34" charset="0"/>
              </a:rPr>
              <a:t>SABmark</a:t>
            </a:r>
            <a:r>
              <a:rPr lang="en-US" altLang="zh-CN" sz="2600" dirty="0" smtClean="0">
                <a:latin typeface="Times New Roman" panose="02020603050405020304" pitchFamily="18" charset="0"/>
                <a:cs typeface="Times New Roman" panose="02020603050405020304" pitchFamily="18" charset="0"/>
                <a:sym typeface="Arial" panose="020B0604020202020204" pitchFamily="34" charset="0"/>
              </a:rPr>
              <a:t> to test the ability of identifying distant homologs (</a:t>
            </a:r>
            <a:r>
              <a:rPr lang="en-US" altLang="zh-CN" sz="2600" b="1" dirty="0" smtClean="0">
                <a:latin typeface="Times New Roman" panose="02020603050405020304" pitchFamily="18" charset="0"/>
                <a:cs typeface="Times New Roman" panose="02020603050405020304" pitchFamily="18" charset="0"/>
                <a:sym typeface="Arial" panose="020B0604020202020204" pitchFamily="34" charset="0"/>
              </a:rPr>
              <a:t>super-family</a:t>
            </a:r>
            <a:r>
              <a:rPr lang="en-US" altLang="zh-CN" sz="2600" dirty="0" smtClean="0">
                <a:latin typeface="Times New Roman" panose="02020603050405020304" pitchFamily="18" charset="0"/>
                <a:cs typeface="Times New Roman" panose="02020603050405020304" pitchFamily="18" charset="0"/>
                <a:sym typeface="Arial" panose="020B0604020202020204" pitchFamily="34" charset="0"/>
              </a:rPr>
              <a:t>) and structural analogs (fold) among those negative data (with no structural similarity)</a:t>
            </a:r>
          </a:p>
          <a:p>
            <a:pPr eaLnBrk="1" hangingPunct="1">
              <a:lnSpc>
                <a:spcPct val="80000"/>
              </a:lnSpc>
            </a:pPr>
            <a:endParaRPr lang="zh-CN" altLang="en-US" sz="3400" b="1" dirty="0" smtClean="0">
              <a:latin typeface="Times New Roman" panose="02020603050405020304" pitchFamily="18" charset="0"/>
              <a:cs typeface="Times New Roman" panose="02020603050405020304" pitchFamily="18" charset="0"/>
            </a:endParaRPr>
          </a:p>
        </p:txBody>
      </p:sp>
      <p:graphicFrame>
        <p:nvGraphicFramePr>
          <p:cNvPr id="17412" name="Object 4"/>
          <p:cNvGraphicFramePr>
            <a:graphicFrameLocks noGrp="1" noChangeAspect="1"/>
          </p:cNvGraphicFramePr>
          <p:nvPr>
            <p:ph sz="quarter" idx="2"/>
            <p:extLst>
              <p:ext uri="{D42A27DB-BD31-4B8C-83A1-F6EECF244321}">
                <p14:modId xmlns:p14="http://schemas.microsoft.com/office/powerpoint/2010/main" val="3889918744"/>
              </p:ext>
            </p:extLst>
          </p:nvPr>
        </p:nvGraphicFramePr>
        <p:xfrm>
          <a:off x="107950" y="2914650"/>
          <a:ext cx="4186238" cy="3135313"/>
        </p:xfrm>
        <a:graphic>
          <a:graphicData uri="http://schemas.openxmlformats.org/presentationml/2006/ole">
            <mc:AlternateContent xmlns:mc="http://schemas.openxmlformats.org/markup-compatibility/2006">
              <mc:Choice xmlns:v="urn:schemas-microsoft-com:vml" Requires="v">
                <p:oleObj spid="_x0000_s2168" r:id="rId4" imgW="2750820" imgH="2057400" progId="WPS.Doc.6">
                  <p:embed/>
                </p:oleObj>
              </mc:Choice>
              <mc:Fallback>
                <p:oleObj r:id="rId4" imgW="2750820" imgH="2057400" progId="WPS.Doc.6">
                  <p:embed/>
                  <p:pic>
                    <p:nvPicPr>
                      <p:cNvPr id="1741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50" y="2914650"/>
                        <a:ext cx="4186238" cy="3135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3" name="Object 5"/>
          <p:cNvGraphicFramePr>
            <a:graphicFrameLocks noGrp="1" noChangeAspect="1"/>
          </p:cNvGraphicFramePr>
          <p:nvPr>
            <p:ph sz="quarter" idx="3"/>
            <p:extLst>
              <p:ext uri="{D42A27DB-BD31-4B8C-83A1-F6EECF244321}">
                <p14:modId xmlns:p14="http://schemas.microsoft.com/office/powerpoint/2010/main" val="2480057474"/>
              </p:ext>
            </p:extLst>
          </p:nvPr>
        </p:nvGraphicFramePr>
        <p:xfrm>
          <a:off x="4567238" y="2819400"/>
          <a:ext cx="4186237" cy="3230563"/>
        </p:xfrm>
        <a:graphic>
          <a:graphicData uri="http://schemas.openxmlformats.org/presentationml/2006/ole">
            <mc:AlternateContent xmlns:mc="http://schemas.openxmlformats.org/markup-compatibility/2006">
              <mc:Choice xmlns:v="urn:schemas-microsoft-com:vml" Requires="v">
                <p:oleObj spid="_x0000_s2169" r:id="rId6" imgW="2667000" imgH="2057400" progId="WPS.Doc.6">
                  <p:embed/>
                </p:oleObj>
              </mc:Choice>
              <mc:Fallback>
                <p:oleObj r:id="rId6" imgW="2667000" imgH="2057400" progId="WPS.Doc.6">
                  <p:embed/>
                  <p:pic>
                    <p:nvPicPr>
                      <p:cNvPr id="17413"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67238" y="2819400"/>
                        <a:ext cx="4186237" cy="32305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4" name="Text Box 6"/>
          <p:cNvSpPr txBox="1">
            <a:spLocks noChangeArrowheads="1"/>
          </p:cNvSpPr>
          <p:nvPr/>
        </p:nvSpPr>
        <p:spPr bwMode="auto">
          <a:xfrm>
            <a:off x="1919288" y="6049963"/>
            <a:ext cx="13598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0000FF"/>
                </a:solidFill>
                <a:latin typeface="Times New Roman" panose="02020603050405020304" pitchFamily="18" charset="0"/>
                <a:cs typeface="Times New Roman" panose="02020603050405020304" pitchFamily="18" charset="0"/>
                <a:sym typeface="Arial" panose="020B0604020202020204" pitchFamily="34" charset="0"/>
              </a:rPr>
              <a:t>super-family</a:t>
            </a:r>
            <a:endParaRPr lang="zh-CN" altLang="en-US">
              <a:latin typeface="Times New Roman" panose="02020603050405020304" pitchFamily="18" charset="0"/>
              <a:cs typeface="Times New Roman" panose="02020603050405020304" pitchFamily="18" charset="0"/>
            </a:endParaRPr>
          </a:p>
        </p:txBody>
      </p:sp>
      <p:sp>
        <p:nvSpPr>
          <p:cNvPr id="17415" name="Text Box 7"/>
          <p:cNvSpPr txBox="1">
            <a:spLocks noChangeArrowheads="1"/>
          </p:cNvSpPr>
          <p:nvPr/>
        </p:nvSpPr>
        <p:spPr bwMode="auto">
          <a:xfrm>
            <a:off x="6661150" y="6049963"/>
            <a:ext cx="6142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FF0000"/>
                </a:solidFill>
                <a:latin typeface="Times New Roman" panose="02020603050405020304" pitchFamily="18" charset="0"/>
                <a:cs typeface="Times New Roman" panose="02020603050405020304" pitchFamily="18" charset="0"/>
                <a:sym typeface="Arial" panose="020B0604020202020204" pitchFamily="34" charset="0"/>
              </a:rPr>
              <a:t>fold </a:t>
            </a:r>
            <a:endParaRPr lang="zh-CN" altLang="en-US">
              <a:latin typeface="Times New Roman" panose="02020603050405020304" pitchFamily="18" charset="0"/>
              <a:cs typeface="Times New Roman" panose="02020603050405020304" pitchFamily="18" charset="0"/>
            </a:endParaRPr>
          </a:p>
        </p:txBody>
      </p:sp>
      <p:pic>
        <p:nvPicPr>
          <p:cNvPr id="17416" name="Picture 8" descr="auc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5875" y="4573588"/>
            <a:ext cx="1811338"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7" name="Picture 9" descr="auc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97738" y="4645025"/>
            <a:ext cx="1666875"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151469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88243</TotalTime>
  <Words>515</Words>
  <Application>Microsoft Office PowerPoint</Application>
  <PresentationFormat>如螢幕大小 (4:3)</PresentationFormat>
  <Paragraphs>75</Paragraphs>
  <Slides>12</Slides>
  <Notes>8</Notes>
  <HiddenSlides>0</HiddenSlides>
  <MMClips>0</MMClips>
  <ScaleCrop>false</ScaleCrop>
  <HeadingPairs>
    <vt:vector size="8" baseType="variant">
      <vt:variant>
        <vt:lpstr>使用字型</vt:lpstr>
      </vt:variant>
      <vt:variant>
        <vt:i4>11</vt:i4>
      </vt:variant>
      <vt:variant>
        <vt:lpstr>佈景主題</vt:lpstr>
      </vt:variant>
      <vt:variant>
        <vt:i4>1</vt:i4>
      </vt:variant>
      <vt:variant>
        <vt:lpstr>內嵌 OLE 伺服程式</vt:lpstr>
      </vt:variant>
      <vt:variant>
        <vt:i4>2</vt:i4>
      </vt:variant>
      <vt:variant>
        <vt:lpstr>投影片標題</vt:lpstr>
      </vt:variant>
      <vt:variant>
        <vt:i4>12</vt:i4>
      </vt:variant>
    </vt:vector>
  </HeadingPairs>
  <TitlesOfParts>
    <vt:vector size="26" baseType="lpstr">
      <vt:lpstr>Arial Unicode MS</vt:lpstr>
      <vt:lpstr>等线</vt:lpstr>
      <vt:lpstr>等线 Light</vt:lpstr>
      <vt:lpstr>宋体</vt:lpstr>
      <vt:lpstr>新細明體</vt:lpstr>
      <vt:lpstr>標楷體</vt:lpstr>
      <vt:lpstr>Arial</vt:lpstr>
      <vt:lpstr>Calibri</vt:lpstr>
      <vt:lpstr>Calibri Light</vt:lpstr>
      <vt:lpstr>Times New Roman</vt:lpstr>
      <vt:lpstr>Wingdings</vt:lpstr>
      <vt:lpstr>Office 佈景主題</vt:lpstr>
      <vt:lpstr>Photoshop.Image.8</vt:lpstr>
      <vt:lpstr>WPS.Doc.6</vt:lpstr>
      <vt:lpstr>Protein structure alignment beyond spatial proximity</vt:lpstr>
      <vt:lpstr>Abstract(1/2)</vt:lpstr>
      <vt:lpstr>Abstract(2/2)</vt:lpstr>
      <vt:lpstr>PowerPoint 簡報</vt:lpstr>
      <vt:lpstr>Scoring Function</vt:lpstr>
      <vt:lpstr>PowerPoint 簡報</vt:lpstr>
      <vt:lpstr>PowerPoint 簡報</vt:lpstr>
      <vt:lpstr>PowerPoint 簡報</vt:lpstr>
      <vt:lpstr>PowerPoint 簡報</vt:lpstr>
      <vt:lpstr>PowerPoint 簡報</vt:lpstr>
      <vt:lpstr>Result on manually-curated data</vt:lpstr>
      <vt:lpstr>Result on discrimination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蔡豐仰</cp:lastModifiedBy>
  <cp:revision>794</cp:revision>
  <dcterms:created xsi:type="dcterms:W3CDTF">2017-09-25T08:45:50Z</dcterms:created>
  <dcterms:modified xsi:type="dcterms:W3CDTF">2019-09-10T10:20:53Z</dcterms:modified>
</cp:coreProperties>
</file>