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73" r:id="rId3"/>
    <p:sldId id="257" r:id="rId4"/>
    <p:sldId id="283" r:id="rId5"/>
    <p:sldId id="295" r:id="rId6"/>
    <p:sldId id="296" r:id="rId7"/>
    <p:sldId id="290" r:id="rId8"/>
    <p:sldId id="292" r:id="rId9"/>
    <p:sldId id="294" r:id="rId10"/>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u" initials="l" lastIdx="1" clrIdx="0">
    <p:extLst>
      <p:ext uri="{19B8F6BF-5375-455C-9EA6-DF929625EA0E}">
        <p15:presenceInfo xmlns:p15="http://schemas.microsoft.com/office/powerpoint/2012/main" userId="lu"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15" autoAdjust="0"/>
    <p:restoredTop sz="94660"/>
  </p:normalViewPr>
  <p:slideViewPr>
    <p:cSldViewPr snapToGrid="0">
      <p:cViewPr varScale="1">
        <p:scale>
          <a:sx n="89" d="100"/>
          <a:sy n="89" d="100"/>
        </p:scale>
        <p:origin x="12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6F1585-2514-4ABD-9D02-307B86E5C09C}" type="datetimeFigureOut">
              <a:rPr lang="zh-TW" altLang="en-US" smtClean="0"/>
              <a:t>2019/1/22</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677D1C-3D7C-420B-BCA3-33BEDD3D5A80}" type="slidenum">
              <a:rPr lang="zh-TW" altLang="en-US" smtClean="0"/>
              <a:t>‹#›</a:t>
            </a:fld>
            <a:endParaRPr lang="zh-TW" altLang="en-US"/>
          </a:p>
        </p:txBody>
      </p:sp>
    </p:spTree>
    <p:extLst>
      <p:ext uri="{BB962C8B-B14F-4D97-AF65-F5344CB8AC3E}">
        <p14:creationId xmlns:p14="http://schemas.microsoft.com/office/powerpoint/2010/main" val="2838945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27209215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3574880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25152831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26509816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6</a:t>
            </a:fld>
            <a:endParaRPr lang="zh-TW" altLang="en-US"/>
          </a:p>
        </p:txBody>
      </p:sp>
    </p:spTree>
    <p:extLst>
      <p:ext uri="{BB962C8B-B14F-4D97-AF65-F5344CB8AC3E}">
        <p14:creationId xmlns:p14="http://schemas.microsoft.com/office/powerpoint/2010/main" val="3134422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7</a:t>
            </a:fld>
            <a:endParaRPr lang="zh-TW" altLang="en-US"/>
          </a:p>
        </p:txBody>
      </p:sp>
    </p:spTree>
    <p:extLst>
      <p:ext uri="{BB962C8B-B14F-4D97-AF65-F5344CB8AC3E}">
        <p14:creationId xmlns:p14="http://schemas.microsoft.com/office/powerpoint/2010/main" val="8453290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8</a:t>
            </a:fld>
            <a:endParaRPr lang="zh-TW" altLang="en-US"/>
          </a:p>
        </p:txBody>
      </p:sp>
    </p:spTree>
    <p:extLst>
      <p:ext uri="{BB962C8B-B14F-4D97-AF65-F5344CB8AC3E}">
        <p14:creationId xmlns:p14="http://schemas.microsoft.com/office/powerpoint/2010/main" val="26585576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CFD9DDC-1562-41E3-9F1A-6464E55FA6CC}"/>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78DFE20D-93A5-46C2-A49A-F0C15C370E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2E469C4C-F457-4167-B363-FB6DD59DC296}"/>
              </a:ext>
            </a:extLst>
          </p:cNvPr>
          <p:cNvSpPr>
            <a:spLocks noGrp="1"/>
          </p:cNvSpPr>
          <p:nvPr>
            <p:ph type="dt" sz="half" idx="10"/>
          </p:nvPr>
        </p:nvSpPr>
        <p:spPr/>
        <p:txBody>
          <a:bodyPr/>
          <a:lstStyle/>
          <a:p>
            <a:fld id="{289B6366-6E92-4855-9B33-10136FFB9F55}" type="datetimeFigureOut">
              <a:rPr lang="zh-TW" altLang="en-US" smtClean="0"/>
              <a:t>2019/1/22</a:t>
            </a:fld>
            <a:endParaRPr lang="zh-TW" altLang="en-US"/>
          </a:p>
        </p:txBody>
      </p:sp>
      <p:sp>
        <p:nvSpPr>
          <p:cNvPr id="5" name="頁尾版面配置區 4">
            <a:extLst>
              <a:ext uri="{FF2B5EF4-FFF2-40B4-BE49-F238E27FC236}">
                <a16:creationId xmlns:a16="http://schemas.microsoft.com/office/drawing/2014/main" id="{DFFC6E50-6AB9-4105-98EF-724B3C0041C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950C054-D98D-4C90-938F-17BEFCE88E95}"/>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311873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7533DA1-7165-4DF5-971F-78735A9CE42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A9257B16-48F3-4742-8243-9C7ED79E7ABC}"/>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88E6861-BAD9-4B1E-B7CC-ED4F8B71DB22}"/>
              </a:ext>
            </a:extLst>
          </p:cNvPr>
          <p:cNvSpPr>
            <a:spLocks noGrp="1"/>
          </p:cNvSpPr>
          <p:nvPr>
            <p:ph type="dt" sz="half" idx="10"/>
          </p:nvPr>
        </p:nvSpPr>
        <p:spPr/>
        <p:txBody>
          <a:bodyPr/>
          <a:lstStyle/>
          <a:p>
            <a:fld id="{289B6366-6E92-4855-9B33-10136FFB9F55}" type="datetimeFigureOut">
              <a:rPr lang="zh-TW" altLang="en-US" smtClean="0"/>
              <a:t>2019/1/22</a:t>
            </a:fld>
            <a:endParaRPr lang="zh-TW" altLang="en-US"/>
          </a:p>
        </p:txBody>
      </p:sp>
      <p:sp>
        <p:nvSpPr>
          <p:cNvPr id="5" name="頁尾版面配置區 4">
            <a:extLst>
              <a:ext uri="{FF2B5EF4-FFF2-40B4-BE49-F238E27FC236}">
                <a16:creationId xmlns:a16="http://schemas.microsoft.com/office/drawing/2014/main" id="{F706F4B5-A649-474C-8BFE-57517ED0EAD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28F86C2-A14C-422A-8FC6-1D63EF61726C}"/>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636614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B4346D0-9FE7-4F7E-985A-585F1F59E5C2}"/>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A6063CD7-FE57-450D-939C-29084736AE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DBCE3ACB-7971-48F1-9875-489AE8943338}"/>
              </a:ext>
            </a:extLst>
          </p:cNvPr>
          <p:cNvSpPr>
            <a:spLocks noGrp="1"/>
          </p:cNvSpPr>
          <p:nvPr>
            <p:ph type="dt" sz="half" idx="10"/>
          </p:nvPr>
        </p:nvSpPr>
        <p:spPr/>
        <p:txBody>
          <a:bodyPr/>
          <a:lstStyle/>
          <a:p>
            <a:fld id="{289B6366-6E92-4855-9B33-10136FFB9F55}" type="datetimeFigureOut">
              <a:rPr lang="zh-TW" altLang="en-US" smtClean="0"/>
              <a:t>2019/1/22</a:t>
            </a:fld>
            <a:endParaRPr lang="zh-TW" altLang="en-US"/>
          </a:p>
        </p:txBody>
      </p:sp>
      <p:sp>
        <p:nvSpPr>
          <p:cNvPr id="5" name="頁尾版面配置區 4">
            <a:extLst>
              <a:ext uri="{FF2B5EF4-FFF2-40B4-BE49-F238E27FC236}">
                <a16:creationId xmlns:a16="http://schemas.microsoft.com/office/drawing/2014/main" id="{35413690-EB95-4432-8BFC-09F929C3BB3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34FA246-600E-4025-B715-2485B36E1332}"/>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28819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C1659F-69D8-4B85-B7A6-F42E1F3A37EE}"/>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ABEBF960-4F47-46F0-89DB-C64F0F1E1283}"/>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F16245D3-5283-415A-84E2-E6274B6E00A2}"/>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62DDA930-81B0-4724-B815-F2EBD1DC4556}"/>
              </a:ext>
            </a:extLst>
          </p:cNvPr>
          <p:cNvSpPr>
            <a:spLocks noGrp="1"/>
          </p:cNvSpPr>
          <p:nvPr>
            <p:ph type="dt" sz="half" idx="10"/>
          </p:nvPr>
        </p:nvSpPr>
        <p:spPr/>
        <p:txBody>
          <a:bodyPr/>
          <a:lstStyle/>
          <a:p>
            <a:fld id="{289B6366-6E92-4855-9B33-10136FFB9F55}" type="datetimeFigureOut">
              <a:rPr lang="zh-TW" altLang="en-US" smtClean="0"/>
              <a:t>2019/1/22</a:t>
            </a:fld>
            <a:endParaRPr lang="zh-TW" altLang="en-US"/>
          </a:p>
        </p:txBody>
      </p:sp>
      <p:sp>
        <p:nvSpPr>
          <p:cNvPr id="6" name="頁尾版面配置區 5">
            <a:extLst>
              <a:ext uri="{FF2B5EF4-FFF2-40B4-BE49-F238E27FC236}">
                <a16:creationId xmlns:a16="http://schemas.microsoft.com/office/drawing/2014/main" id="{F39B2AB0-21DB-4DB7-82C3-46F676AEB0E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B797DCFC-9953-4E19-A454-CA08295F589E}"/>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2228669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60DB38-9964-45C8-A1EF-D1F8C2A33AEB}"/>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A59A4D11-828E-4CB5-A6AE-5F8FA90F4A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5DEDA618-7B28-4B92-955D-D9F57DA002F3}"/>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1B7155B0-41F4-4173-8A9E-AC97385B04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AE9D421D-015E-480B-A473-59B674316675}"/>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B161ED9B-DFA5-480A-AD88-6DFF046FCB53}"/>
              </a:ext>
            </a:extLst>
          </p:cNvPr>
          <p:cNvSpPr>
            <a:spLocks noGrp="1"/>
          </p:cNvSpPr>
          <p:nvPr>
            <p:ph type="dt" sz="half" idx="10"/>
          </p:nvPr>
        </p:nvSpPr>
        <p:spPr/>
        <p:txBody>
          <a:bodyPr/>
          <a:lstStyle/>
          <a:p>
            <a:fld id="{289B6366-6E92-4855-9B33-10136FFB9F55}" type="datetimeFigureOut">
              <a:rPr lang="zh-TW" altLang="en-US" smtClean="0"/>
              <a:t>2019/1/22</a:t>
            </a:fld>
            <a:endParaRPr lang="zh-TW" altLang="en-US"/>
          </a:p>
        </p:txBody>
      </p:sp>
      <p:sp>
        <p:nvSpPr>
          <p:cNvPr id="8" name="頁尾版面配置區 7">
            <a:extLst>
              <a:ext uri="{FF2B5EF4-FFF2-40B4-BE49-F238E27FC236}">
                <a16:creationId xmlns:a16="http://schemas.microsoft.com/office/drawing/2014/main" id="{F3B77038-7B39-4853-9220-09E92BEB16F8}"/>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127B11AF-87CE-457B-9D69-58137A50985B}"/>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215180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83FC20B-A168-4787-91C9-454E6B2BC8C5}"/>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D2DA7D75-DCEA-4D5F-817A-1F76017002B1}"/>
              </a:ext>
            </a:extLst>
          </p:cNvPr>
          <p:cNvSpPr>
            <a:spLocks noGrp="1"/>
          </p:cNvSpPr>
          <p:nvPr>
            <p:ph type="dt" sz="half" idx="10"/>
          </p:nvPr>
        </p:nvSpPr>
        <p:spPr/>
        <p:txBody>
          <a:bodyPr/>
          <a:lstStyle/>
          <a:p>
            <a:fld id="{289B6366-6E92-4855-9B33-10136FFB9F55}" type="datetimeFigureOut">
              <a:rPr lang="zh-TW" altLang="en-US" smtClean="0"/>
              <a:t>2019/1/22</a:t>
            </a:fld>
            <a:endParaRPr lang="zh-TW" altLang="en-US"/>
          </a:p>
        </p:txBody>
      </p:sp>
      <p:sp>
        <p:nvSpPr>
          <p:cNvPr id="4" name="頁尾版面配置區 3">
            <a:extLst>
              <a:ext uri="{FF2B5EF4-FFF2-40B4-BE49-F238E27FC236}">
                <a16:creationId xmlns:a16="http://schemas.microsoft.com/office/drawing/2014/main" id="{6E420462-1E6B-4811-A101-C24EE185E4F6}"/>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EF5204FD-F249-467A-809E-2B53F765C671}"/>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179819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00AA5AFE-F983-4BD0-A86F-D18589BB081B}"/>
              </a:ext>
            </a:extLst>
          </p:cNvPr>
          <p:cNvSpPr>
            <a:spLocks noGrp="1"/>
          </p:cNvSpPr>
          <p:nvPr>
            <p:ph type="dt" sz="half" idx="10"/>
          </p:nvPr>
        </p:nvSpPr>
        <p:spPr/>
        <p:txBody>
          <a:bodyPr/>
          <a:lstStyle/>
          <a:p>
            <a:fld id="{289B6366-6E92-4855-9B33-10136FFB9F55}" type="datetimeFigureOut">
              <a:rPr lang="zh-TW" altLang="en-US" smtClean="0"/>
              <a:t>2019/1/22</a:t>
            </a:fld>
            <a:endParaRPr lang="zh-TW" altLang="en-US"/>
          </a:p>
        </p:txBody>
      </p:sp>
      <p:sp>
        <p:nvSpPr>
          <p:cNvPr id="3" name="頁尾版面配置區 2">
            <a:extLst>
              <a:ext uri="{FF2B5EF4-FFF2-40B4-BE49-F238E27FC236}">
                <a16:creationId xmlns:a16="http://schemas.microsoft.com/office/drawing/2014/main" id="{8AE15BC6-0BDC-4D5E-B093-968EA5FDED06}"/>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571BFC94-F3F4-4DC3-AAE4-BC932631BD05}"/>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724721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A77FD33-544D-451E-8F35-6516C626BEC6}"/>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3A37D552-228A-402E-AE3D-2AEAE23C9D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25E0435F-1CA3-499B-A972-EE4FA12CA1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C189A80C-0898-442B-A9DB-6CE747D9C7F0}"/>
              </a:ext>
            </a:extLst>
          </p:cNvPr>
          <p:cNvSpPr>
            <a:spLocks noGrp="1"/>
          </p:cNvSpPr>
          <p:nvPr>
            <p:ph type="dt" sz="half" idx="10"/>
          </p:nvPr>
        </p:nvSpPr>
        <p:spPr/>
        <p:txBody>
          <a:bodyPr/>
          <a:lstStyle/>
          <a:p>
            <a:fld id="{289B6366-6E92-4855-9B33-10136FFB9F55}" type="datetimeFigureOut">
              <a:rPr lang="zh-TW" altLang="en-US" smtClean="0"/>
              <a:t>2019/1/22</a:t>
            </a:fld>
            <a:endParaRPr lang="zh-TW" altLang="en-US"/>
          </a:p>
        </p:txBody>
      </p:sp>
      <p:sp>
        <p:nvSpPr>
          <p:cNvPr id="6" name="頁尾版面配置區 5">
            <a:extLst>
              <a:ext uri="{FF2B5EF4-FFF2-40B4-BE49-F238E27FC236}">
                <a16:creationId xmlns:a16="http://schemas.microsoft.com/office/drawing/2014/main" id="{DF1EF31A-4A67-484F-8573-1D1F63C18EB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48DADBDA-C04D-4B1F-9E13-784372684EE0}"/>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945764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19C6B2-1FC1-4D82-AE09-83971387173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053A6602-82D6-4233-AD5A-DC49828316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AF7135F2-2932-4070-9CCA-6213EFE682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14D3864F-50D1-4DBD-A5B6-1645AA45EA59}"/>
              </a:ext>
            </a:extLst>
          </p:cNvPr>
          <p:cNvSpPr>
            <a:spLocks noGrp="1"/>
          </p:cNvSpPr>
          <p:nvPr>
            <p:ph type="dt" sz="half" idx="10"/>
          </p:nvPr>
        </p:nvSpPr>
        <p:spPr/>
        <p:txBody>
          <a:bodyPr/>
          <a:lstStyle/>
          <a:p>
            <a:fld id="{289B6366-6E92-4855-9B33-10136FFB9F55}" type="datetimeFigureOut">
              <a:rPr lang="zh-TW" altLang="en-US" smtClean="0"/>
              <a:t>2019/1/22</a:t>
            </a:fld>
            <a:endParaRPr lang="zh-TW" altLang="en-US"/>
          </a:p>
        </p:txBody>
      </p:sp>
      <p:sp>
        <p:nvSpPr>
          <p:cNvPr id="6" name="頁尾版面配置區 5">
            <a:extLst>
              <a:ext uri="{FF2B5EF4-FFF2-40B4-BE49-F238E27FC236}">
                <a16:creationId xmlns:a16="http://schemas.microsoft.com/office/drawing/2014/main" id="{D59F5A93-207A-45A5-9BEC-53C28FF8F1E0}"/>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4103368-FB4E-41AE-811C-7BC7ADAFC7D3}"/>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2552169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29C4861-2A8C-4410-8E4A-4441FC1320E8}"/>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91ED451D-7435-47B8-AA6C-87B8EEA207EC}"/>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1A2253F-98FC-4AD8-AB1E-608801808E4B}"/>
              </a:ext>
            </a:extLst>
          </p:cNvPr>
          <p:cNvSpPr>
            <a:spLocks noGrp="1"/>
          </p:cNvSpPr>
          <p:nvPr>
            <p:ph type="dt" sz="half" idx="10"/>
          </p:nvPr>
        </p:nvSpPr>
        <p:spPr/>
        <p:txBody>
          <a:bodyPr/>
          <a:lstStyle/>
          <a:p>
            <a:fld id="{289B6366-6E92-4855-9B33-10136FFB9F55}" type="datetimeFigureOut">
              <a:rPr lang="zh-TW" altLang="en-US" smtClean="0"/>
              <a:t>2019/1/22</a:t>
            </a:fld>
            <a:endParaRPr lang="zh-TW" altLang="en-US"/>
          </a:p>
        </p:txBody>
      </p:sp>
      <p:sp>
        <p:nvSpPr>
          <p:cNvPr id="5" name="頁尾版面配置區 4">
            <a:extLst>
              <a:ext uri="{FF2B5EF4-FFF2-40B4-BE49-F238E27FC236}">
                <a16:creationId xmlns:a16="http://schemas.microsoft.com/office/drawing/2014/main" id="{A12D5CBA-DDC5-46C6-9551-77D0E481A03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021B7B3-C52D-4681-8005-1EC96B7EE50D}"/>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555386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C702BAFC-3D18-4325-B382-BF414846856F}"/>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2D2FEE02-A709-4FB0-9DDE-940FDB4B61FF}"/>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1DB4D53-3EC7-453D-BD90-F21F29EA365F}"/>
              </a:ext>
            </a:extLst>
          </p:cNvPr>
          <p:cNvSpPr>
            <a:spLocks noGrp="1"/>
          </p:cNvSpPr>
          <p:nvPr>
            <p:ph type="dt" sz="half" idx="10"/>
          </p:nvPr>
        </p:nvSpPr>
        <p:spPr/>
        <p:txBody>
          <a:bodyPr/>
          <a:lstStyle/>
          <a:p>
            <a:fld id="{289B6366-6E92-4855-9B33-10136FFB9F55}" type="datetimeFigureOut">
              <a:rPr lang="zh-TW" altLang="en-US" smtClean="0"/>
              <a:t>2019/1/22</a:t>
            </a:fld>
            <a:endParaRPr lang="zh-TW" altLang="en-US"/>
          </a:p>
        </p:txBody>
      </p:sp>
      <p:sp>
        <p:nvSpPr>
          <p:cNvPr id="5" name="頁尾版面配置區 4">
            <a:extLst>
              <a:ext uri="{FF2B5EF4-FFF2-40B4-BE49-F238E27FC236}">
                <a16:creationId xmlns:a16="http://schemas.microsoft.com/office/drawing/2014/main" id="{324CA5CE-17CD-419F-8C13-16D273AFBF2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3B6B85C-8189-47A7-8D84-0B8FD90A869B}"/>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658974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8C2E46CB-D80A-4DE1-9C2C-DBEB59D1D1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A01FB3C-2F61-41E2-A419-5D2378D7B7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C1DBDDA-1C0E-4B2A-A31E-1956DBF268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9B6366-6E92-4855-9B33-10136FFB9F55}" type="datetimeFigureOut">
              <a:rPr lang="zh-TW" altLang="en-US" smtClean="0"/>
              <a:t>2019/1/22</a:t>
            </a:fld>
            <a:endParaRPr lang="zh-TW" altLang="en-US"/>
          </a:p>
        </p:txBody>
      </p:sp>
      <p:sp>
        <p:nvSpPr>
          <p:cNvPr id="5" name="頁尾版面配置區 4">
            <a:extLst>
              <a:ext uri="{FF2B5EF4-FFF2-40B4-BE49-F238E27FC236}">
                <a16:creationId xmlns:a16="http://schemas.microsoft.com/office/drawing/2014/main" id="{5420D0D2-BA69-4AB7-97C4-062135932B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534B1C00-4FD7-4FEA-B3B1-0FC2095819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8472938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DABD277-3DCF-4084-9E03-BF06B086F7E6}"/>
              </a:ext>
            </a:extLst>
          </p:cNvPr>
          <p:cNvSpPr>
            <a:spLocks noGrp="1"/>
          </p:cNvSpPr>
          <p:nvPr>
            <p:ph type="ctrTitle"/>
          </p:nvPr>
        </p:nvSpPr>
        <p:spPr>
          <a:xfrm>
            <a:off x="1054248" y="500281"/>
            <a:ext cx="10832952" cy="1683521"/>
          </a:xfrm>
        </p:spPr>
        <p:txBody>
          <a:bodyPr>
            <a:normAutofit/>
          </a:bodyPr>
          <a:lstStyle/>
          <a:p>
            <a:r>
              <a:rPr lang="en-US" altLang="zh-TW" sz="4000" b="1" dirty="0">
                <a:latin typeface="Times New Roman" panose="02020603050405020304" pitchFamily="18" charset="0"/>
                <a:cs typeface="Times New Roman" panose="02020603050405020304" pitchFamily="18" charset="0"/>
              </a:rPr>
              <a:t>Classification of fMRI data using Dynamic Time Warping based functional connectivity analysis</a:t>
            </a:r>
            <a:endParaRPr lang="zh-TW" altLang="en-US" sz="4000" b="1"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2FF96485-B26C-4B59-B13D-880AA0BD68EA}"/>
              </a:ext>
            </a:extLst>
          </p:cNvPr>
          <p:cNvSpPr>
            <a:spLocks noGrp="1"/>
          </p:cNvSpPr>
          <p:nvPr>
            <p:ph type="subTitle" idx="1"/>
          </p:nvPr>
        </p:nvSpPr>
        <p:spPr>
          <a:xfrm>
            <a:off x="1317324" y="2290880"/>
            <a:ext cx="9911378" cy="1564381"/>
          </a:xfrm>
        </p:spPr>
        <p:txBody>
          <a:bodyPr>
            <a:normAutofit/>
          </a:bodyPr>
          <a:lstStyle/>
          <a:p>
            <a:endParaRPr lang="en-US" altLang="zh-TW" dirty="0"/>
          </a:p>
          <a:p>
            <a:r>
              <a:rPr lang="en-US" altLang="zh-TW" sz="2800" dirty="0">
                <a:latin typeface="Times New Roman" panose="02020603050405020304" pitchFamily="18" charset="0"/>
                <a:cs typeface="Times New Roman" panose="02020603050405020304" pitchFamily="18" charset="0"/>
              </a:rPr>
              <a:t>Regina </a:t>
            </a:r>
            <a:r>
              <a:rPr lang="en-US" altLang="zh-TW" sz="2800" dirty="0" err="1">
                <a:latin typeface="Times New Roman" panose="02020603050405020304" pitchFamily="18" charset="0"/>
                <a:cs typeface="Times New Roman" panose="02020603050405020304" pitchFamily="18" charset="0"/>
              </a:rPr>
              <a:t>Meszlényi</a:t>
            </a:r>
            <a:r>
              <a:rPr lang="en-US" altLang="zh-TW" sz="2800" dirty="0">
                <a:latin typeface="Times New Roman" panose="02020603050405020304" pitchFamily="18" charset="0"/>
                <a:cs typeface="Times New Roman" panose="02020603050405020304" pitchFamily="18" charset="0"/>
              </a:rPr>
              <a:t>,</a:t>
            </a:r>
            <a:r>
              <a:rPr lang="zh-TW" altLang="en-US" sz="2800" dirty="0">
                <a:latin typeface="Times New Roman" panose="02020603050405020304" pitchFamily="18" charset="0"/>
                <a:cs typeface="Times New Roman" panose="02020603050405020304" pitchFamily="18" charset="0"/>
              </a:rPr>
              <a:t> </a:t>
            </a:r>
            <a:r>
              <a:rPr lang="en-US" altLang="zh-TW" sz="2800" dirty="0" err="1">
                <a:latin typeface="Times New Roman" panose="02020603050405020304" pitchFamily="18" charset="0"/>
                <a:cs typeface="Times New Roman" panose="02020603050405020304" pitchFamily="18" charset="0"/>
              </a:rPr>
              <a:t>Ladislav</a:t>
            </a:r>
            <a:r>
              <a:rPr lang="en-US" altLang="zh-TW" sz="2800" dirty="0">
                <a:latin typeface="Times New Roman" panose="02020603050405020304" pitchFamily="18" charset="0"/>
                <a:cs typeface="Times New Roman" panose="02020603050405020304" pitchFamily="18" charset="0"/>
              </a:rPr>
              <a:t> </a:t>
            </a:r>
            <a:r>
              <a:rPr lang="en-US" altLang="zh-TW" sz="2800" dirty="0" err="1">
                <a:latin typeface="Times New Roman" panose="02020603050405020304" pitchFamily="18" charset="0"/>
                <a:cs typeface="Times New Roman" panose="02020603050405020304" pitchFamily="18" charset="0"/>
              </a:rPr>
              <a:t>Peska</a:t>
            </a:r>
            <a:r>
              <a:rPr lang="en-US" altLang="zh-TW" sz="2800" dirty="0">
                <a:latin typeface="Times New Roman" panose="02020603050405020304" pitchFamily="18" charset="0"/>
                <a:cs typeface="Times New Roman" panose="02020603050405020304" pitchFamily="18" charset="0"/>
              </a:rPr>
              <a:t>,</a:t>
            </a:r>
            <a:r>
              <a:rPr lang="zh-TW" altLang="en-US" sz="2800" dirty="0">
                <a:latin typeface="Times New Roman" panose="02020603050405020304" pitchFamily="18" charset="0"/>
                <a:cs typeface="Times New Roman" panose="02020603050405020304" pitchFamily="18" charset="0"/>
              </a:rPr>
              <a:t> </a:t>
            </a:r>
            <a:r>
              <a:rPr lang="en-US" altLang="zh-TW" sz="2800" dirty="0">
                <a:latin typeface="Times New Roman" panose="02020603050405020304" pitchFamily="18" charset="0"/>
                <a:cs typeface="Times New Roman" panose="02020603050405020304" pitchFamily="18" charset="0"/>
              </a:rPr>
              <a:t>Viktor </a:t>
            </a:r>
            <a:r>
              <a:rPr lang="en-US" altLang="zh-TW" sz="2800" dirty="0" err="1">
                <a:latin typeface="Times New Roman" panose="02020603050405020304" pitchFamily="18" charset="0"/>
                <a:cs typeface="Times New Roman" panose="02020603050405020304" pitchFamily="18" charset="0"/>
              </a:rPr>
              <a:t>Gál</a:t>
            </a:r>
            <a:r>
              <a:rPr lang="en-US" altLang="zh-TW" sz="2800" dirty="0">
                <a:latin typeface="Times New Roman" panose="02020603050405020304" pitchFamily="18" charset="0"/>
                <a:cs typeface="Times New Roman" panose="02020603050405020304" pitchFamily="18" charset="0"/>
              </a:rPr>
              <a:t>,</a:t>
            </a:r>
            <a:r>
              <a:rPr lang="zh-TW" altLang="en-US" sz="2800" dirty="0">
                <a:latin typeface="Times New Roman" panose="02020603050405020304" pitchFamily="18" charset="0"/>
                <a:cs typeface="Times New Roman" panose="02020603050405020304" pitchFamily="18" charset="0"/>
              </a:rPr>
              <a:t> </a:t>
            </a:r>
            <a:r>
              <a:rPr lang="en-US" altLang="zh-TW" sz="2800" dirty="0" err="1">
                <a:latin typeface="Times New Roman" panose="02020603050405020304" pitchFamily="18" charset="0"/>
                <a:cs typeface="Times New Roman" panose="02020603050405020304" pitchFamily="18" charset="0"/>
              </a:rPr>
              <a:t>Zoltán</a:t>
            </a:r>
            <a:r>
              <a:rPr lang="en-US" altLang="zh-TW" sz="2800" dirty="0">
                <a:latin typeface="Times New Roman" panose="02020603050405020304" pitchFamily="18" charset="0"/>
                <a:cs typeface="Times New Roman" panose="02020603050405020304" pitchFamily="18" charset="0"/>
              </a:rPr>
              <a:t> </a:t>
            </a:r>
            <a:r>
              <a:rPr lang="en-US" altLang="zh-TW" sz="2800" dirty="0" err="1">
                <a:latin typeface="Times New Roman" panose="02020603050405020304" pitchFamily="18" charset="0"/>
                <a:cs typeface="Times New Roman" panose="02020603050405020304" pitchFamily="18" charset="0"/>
              </a:rPr>
              <a:t>Vidnyánszky</a:t>
            </a:r>
            <a:r>
              <a:rPr lang="en-US" altLang="zh-TW" sz="2800" dirty="0">
                <a:latin typeface="Times New Roman" panose="02020603050405020304" pitchFamily="18" charset="0"/>
                <a:cs typeface="Times New Roman" panose="02020603050405020304" pitchFamily="18" charset="0"/>
              </a:rPr>
              <a:t>,</a:t>
            </a:r>
            <a:r>
              <a:rPr lang="zh-TW" altLang="en-US" sz="2800" dirty="0">
                <a:latin typeface="Times New Roman" panose="02020603050405020304" pitchFamily="18" charset="0"/>
                <a:cs typeface="Times New Roman" panose="02020603050405020304" pitchFamily="18" charset="0"/>
              </a:rPr>
              <a:t> </a:t>
            </a:r>
            <a:r>
              <a:rPr lang="en-US" altLang="zh-TW" sz="2800" dirty="0" err="1">
                <a:latin typeface="Times New Roman" panose="02020603050405020304" pitchFamily="18" charset="0"/>
                <a:cs typeface="Times New Roman" panose="02020603050405020304" pitchFamily="18" charset="0"/>
              </a:rPr>
              <a:t>Krisztian</a:t>
            </a:r>
            <a:r>
              <a:rPr lang="en-US" altLang="zh-TW" sz="2800" dirty="0">
                <a:latin typeface="Times New Roman" panose="02020603050405020304" pitchFamily="18" charset="0"/>
                <a:cs typeface="Times New Roman" panose="02020603050405020304" pitchFamily="18" charset="0"/>
              </a:rPr>
              <a:t> </a:t>
            </a:r>
            <a:r>
              <a:rPr lang="en-US" altLang="zh-TW" sz="2800" dirty="0" err="1">
                <a:latin typeface="Times New Roman" panose="02020603050405020304" pitchFamily="18" charset="0"/>
                <a:cs typeface="Times New Roman" panose="02020603050405020304" pitchFamily="18" charset="0"/>
              </a:rPr>
              <a:t>Buza</a:t>
            </a:r>
            <a:endParaRPr lang="zh-TW" altLang="en-US" sz="2800"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id="{64AE8193-1DE0-47D4-9DBB-4734B89CA666}"/>
              </a:ext>
            </a:extLst>
          </p:cNvPr>
          <p:cNvSpPr txBox="1">
            <a:spLocks/>
          </p:cNvSpPr>
          <p:nvPr/>
        </p:nvSpPr>
        <p:spPr>
          <a:xfrm>
            <a:off x="1808588" y="3880917"/>
            <a:ext cx="8142235" cy="120745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dirty="0">
                <a:latin typeface="Times New Roman" panose="02020603050405020304" pitchFamily="18" charset="0"/>
                <a:cs typeface="Times New Roman" panose="02020603050405020304" pitchFamily="18" charset="0"/>
              </a:rPr>
              <a:t>24th European Signal Processing Conference (EUSIPCO),2016, Pages 245 – 249, Budapest, Hungary</a:t>
            </a:r>
          </a:p>
        </p:txBody>
      </p:sp>
      <p:sp>
        <p:nvSpPr>
          <p:cNvPr id="5" name="副標題 2">
            <a:extLst>
              <a:ext uri="{FF2B5EF4-FFF2-40B4-BE49-F238E27FC236}">
                <a16:creationId xmlns:a16="http://schemas.microsoft.com/office/drawing/2014/main" id="{83311FB5-1C7C-4049-9C63-3A86A28231CF}"/>
              </a:ext>
            </a:extLst>
          </p:cNvPr>
          <p:cNvSpPr txBox="1">
            <a:spLocks/>
          </p:cNvSpPr>
          <p:nvPr/>
        </p:nvSpPr>
        <p:spPr>
          <a:xfrm>
            <a:off x="8616875" y="5526721"/>
            <a:ext cx="2893807" cy="83099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Speaker: </a:t>
            </a: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Jheng</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-Yan </a:t>
            </a: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Lyu</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Date: 2019.01.22</a:t>
            </a:r>
          </a:p>
        </p:txBody>
      </p:sp>
    </p:spTree>
    <p:extLst>
      <p:ext uri="{BB962C8B-B14F-4D97-AF65-F5344CB8AC3E}">
        <p14:creationId xmlns:p14="http://schemas.microsoft.com/office/powerpoint/2010/main" val="3014946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775916" y="136524"/>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Abstract</a:t>
            </a:r>
            <a:r>
              <a:rPr lang="zh-TW" altLang="en-US" sz="36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(1/2)</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2</a:t>
            </a:fld>
            <a:endParaRPr lang="zh-TW" altLang="en-US"/>
          </a:p>
        </p:txBody>
      </p:sp>
      <p:sp>
        <p:nvSpPr>
          <p:cNvPr id="7" name="內容版面配置區 6">
            <a:extLst>
              <a:ext uri="{FF2B5EF4-FFF2-40B4-BE49-F238E27FC236}">
                <a16:creationId xmlns:a16="http://schemas.microsoft.com/office/drawing/2014/main" id="{878CA31B-C758-4215-B281-353CA02EC37A}"/>
              </a:ext>
            </a:extLst>
          </p:cNvPr>
          <p:cNvSpPr>
            <a:spLocks noGrp="1"/>
          </p:cNvSpPr>
          <p:nvPr>
            <p:ph idx="1"/>
          </p:nvPr>
        </p:nvSpPr>
        <p:spPr>
          <a:xfrm>
            <a:off x="1775916" y="713148"/>
            <a:ext cx="8155484" cy="5825764"/>
          </a:xfrm>
        </p:spPr>
        <p:txBody>
          <a:bodyPr>
            <a:noAutofit/>
          </a:bodyPr>
          <a:lstStyle/>
          <a:p>
            <a:pPr marL="0" indent="0" algn="just">
              <a:lnSpc>
                <a:spcPct val="150000"/>
              </a:lnSpc>
              <a:buNone/>
            </a:pPr>
            <a:r>
              <a:rPr lang="en-US" altLang="zh-TW" sz="2300" dirty="0">
                <a:latin typeface="Times New Roman" panose="02020603050405020304" pitchFamily="18" charset="0"/>
                <a:cs typeface="Times New Roman" panose="02020603050405020304" pitchFamily="18" charset="0"/>
              </a:rPr>
              <a:t>The synchronized spontaneous low frequency fluctuations of the BOLD signal, as captured by functional MRI measurements, is known to represent the functional connections of different brain areas. The aforementioned MRI measurements result in high-dimensional time series, the dimensions of which correspond to the activity of different brain regions. Recently we have shown that Dynamic Time Warping (DTW) distance can be used as a similarity measure between BOLD signals of brain regions as an alternative of the traditionally used correlation coefficient. We have characterized the new metric’s stability in multiple measurements, and between subjects in homogenous groups. </a:t>
            </a:r>
          </a:p>
        </p:txBody>
      </p:sp>
    </p:spTree>
    <p:extLst>
      <p:ext uri="{BB962C8B-B14F-4D97-AF65-F5344CB8AC3E}">
        <p14:creationId xmlns:p14="http://schemas.microsoft.com/office/powerpoint/2010/main" val="15950678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775916" y="402175"/>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Abstract (2/2)</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3</a:t>
            </a:fld>
            <a:endParaRPr lang="zh-TW" altLang="en-US"/>
          </a:p>
        </p:txBody>
      </p:sp>
      <p:sp>
        <p:nvSpPr>
          <p:cNvPr id="7" name="內容版面配置區 6">
            <a:extLst>
              <a:ext uri="{FF2B5EF4-FFF2-40B4-BE49-F238E27FC236}">
                <a16:creationId xmlns:a16="http://schemas.microsoft.com/office/drawing/2014/main" id="{878CA31B-C758-4215-B281-353CA02EC37A}"/>
              </a:ext>
            </a:extLst>
          </p:cNvPr>
          <p:cNvSpPr>
            <a:spLocks noGrp="1"/>
          </p:cNvSpPr>
          <p:nvPr>
            <p:ph idx="1"/>
          </p:nvPr>
        </p:nvSpPr>
        <p:spPr>
          <a:xfrm>
            <a:off x="1775916" y="895713"/>
            <a:ext cx="8489852" cy="5445183"/>
          </a:xfrm>
        </p:spPr>
        <p:txBody>
          <a:bodyPr vert="horz" lIns="91440" tIns="45720" rIns="91440" bIns="45720" rtlCol="0">
            <a:noAutofit/>
          </a:bodyPr>
          <a:lstStyle/>
          <a:p>
            <a:pPr marL="0" indent="0" algn="just">
              <a:lnSpc>
                <a:spcPct val="150000"/>
              </a:lnSpc>
              <a:spcBef>
                <a:spcPts val="0"/>
              </a:spcBef>
              <a:buNone/>
            </a:pPr>
            <a:r>
              <a:rPr lang="en-US" altLang="zh-TW" sz="2300" dirty="0">
                <a:latin typeface="Times New Roman" panose="02020603050405020304" pitchFamily="18" charset="0"/>
                <a:cs typeface="Times New Roman" panose="02020603050405020304" pitchFamily="18" charset="0"/>
              </a:rPr>
              <a:t>In this paper we investigated the DTW metric’s sensitivity and demonstrated that DTW-based models outperform correlation-based models in resting-state fMRI data classification tasks. Additionally, we show that functional connectivity networks resulting from DTW-based models as compared to the correlation-based models are more stable and sensitive to differences between healthy subjects and patient groups.</a:t>
            </a:r>
            <a:endParaRPr lang="en-US" altLang="zh-TW" sz="2300" dirty="0">
              <a:latin typeface="Times New Roman" panose="02020603050405020304" pitchFamily="18" charset="0"/>
            </a:endParaRPr>
          </a:p>
        </p:txBody>
      </p:sp>
    </p:spTree>
    <p:extLst>
      <p:ext uri="{BB962C8B-B14F-4D97-AF65-F5344CB8AC3E}">
        <p14:creationId xmlns:p14="http://schemas.microsoft.com/office/powerpoint/2010/main" val="320478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9188988" cy="833020"/>
          </a:xfrm>
        </p:spPr>
        <p:txBody>
          <a:bodyPr>
            <a:normAutofit/>
          </a:bodyPr>
          <a:lstStyle/>
          <a:p>
            <a:r>
              <a:rPr lang="en-US" altLang="zh-TW" sz="3600">
                <a:latin typeface="Times New Roman" panose="02020603050405020304" pitchFamily="18" charset="0"/>
                <a:cs typeface="Times New Roman" panose="02020603050405020304" pitchFamily="18" charset="0"/>
              </a:rPr>
              <a:t>Classifiers</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4</a:t>
            </a:fld>
            <a:endParaRPr lang="zh-TW" altLang="en-US"/>
          </a:p>
        </p:txBody>
      </p:sp>
      <p:sp>
        <p:nvSpPr>
          <p:cNvPr id="11" name="內容版面配置區 10">
            <a:extLst>
              <a:ext uri="{FF2B5EF4-FFF2-40B4-BE49-F238E27FC236}">
                <a16:creationId xmlns:a16="http://schemas.microsoft.com/office/drawing/2014/main" id="{C2C833C2-C5C2-4AEB-B3FF-A7027832BC21}"/>
              </a:ext>
            </a:extLst>
          </p:cNvPr>
          <p:cNvSpPr>
            <a:spLocks noGrp="1"/>
          </p:cNvSpPr>
          <p:nvPr>
            <p:ph idx="1"/>
          </p:nvPr>
        </p:nvSpPr>
        <p:spPr>
          <a:xfrm>
            <a:off x="838200" y="1265573"/>
            <a:ext cx="10844605" cy="4694163"/>
          </a:xfrm>
        </p:spPr>
        <p:txBody>
          <a:bodyPr>
            <a:normAutofit/>
          </a:bodyPr>
          <a:lstStyle/>
          <a:p>
            <a:r>
              <a:rPr lang="en-US" altLang="zh-TW" sz="2700" dirty="0"/>
              <a:t>SVM:</a:t>
            </a:r>
          </a:p>
          <a:p>
            <a:pPr marL="0" indent="0">
              <a:buNone/>
            </a:pPr>
            <a:r>
              <a:rPr lang="en-US" altLang="zh-TW" sz="2700" dirty="0"/>
              <a:t>SVM objective is to find optimal hyperplane </a:t>
            </a:r>
            <a:r>
              <a:rPr lang="zh-TW" altLang="en-US" sz="2700" dirty="0"/>
              <a:t>𝑥𝑇𝛽</a:t>
            </a:r>
            <a:r>
              <a:rPr lang="en-US" altLang="zh-TW" sz="2700" dirty="0"/>
              <a:t>+</a:t>
            </a:r>
            <a:r>
              <a:rPr lang="zh-TW" altLang="en-US" sz="2700" dirty="0"/>
              <a:t>𝛽</a:t>
            </a:r>
            <a:r>
              <a:rPr lang="en-US" altLang="zh-TW" sz="2700" dirty="0"/>
              <a:t>0=0, separating training examples of the both classes:</a:t>
            </a:r>
          </a:p>
          <a:p>
            <a:pPr marL="0" indent="0">
              <a:buNone/>
            </a:pPr>
            <a:endParaRPr lang="en-US" altLang="zh-TW" sz="2700" dirty="0"/>
          </a:p>
          <a:p>
            <a:pPr marL="0" indent="0">
              <a:buNone/>
            </a:pPr>
            <a:endParaRPr lang="en-US" altLang="zh-TW" sz="2700" dirty="0"/>
          </a:p>
          <a:p>
            <a:pPr marL="0" indent="0">
              <a:buNone/>
            </a:pPr>
            <a:r>
              <a:rPr lang="en-US" altLang="zh-TW" sz="2700" dirty="0"/>
              <a:t>subject to ∀</a:t>
            </a:r>
            <a:r>
              <a:rPr lang="zh-TW" altLang="en-US" sz="2700" dirty="0"/>
              <a:t>𝑖</a:t>
            </a:r>
            <a:r>
              <a:rPr lang="en-US" altLang="zh-TW" sz="2700" dirty="0"/>
              <a:t>: </a:t>
            </a:r>
            <a:r>
              <a:rPr lang="zh-TW" altLang="en-US" sz="2700" dirty="0"/>
              <a:t>𝜉𝑖≥</a:t>
            </a:r>
            <a:r>
              <a:rPr lang="en-US" altLang="zh-TW" sz="2700" dirty="0"/>
              <a:t>0,</a:t>
            </a:r>
            <a:r>
              <a:rPr lang="zh-TW" altLang="en-US" sz="2700" dirty="0"/>
              <a:t>𝑦𝑖</a:t>
            </a:r>
            <a:r>
              <a:rPr lang="en-US" altLang="zh-TW" sz="2700" dirty="0"/>
              <a:t>(</a:t>
            </a:r>
            <a:r>
              <a:rPr lang="zh-TW" altLang="en-US" sz="2700" dirty="0"/>
              <a:t>𝑥𝑖𝑇𝛽</a:t>
            </a:r>
            <a:r>
              <a:rPr lang="en-US" altLang="zh-TW" sz="2700" dirty="0"/>
              <a:t>+</a:t>
            </a:r>
            <a:r>
              <a:rPr lang="zh-TW" altLang="en-US" sz="2700" dirty="0"/>
              <a:t>𝛽</a:t>
            </a:r>
            <a:r>
              <a:rPr lang="en-US" altLang="zh-TW" sz="2700" dirty="0"/>
              <a:t>0)≥1−</a:t>
            </a:r>
            <a:r>
              <a:rPr lang="zh-TW" altLang="en-US" sz="2700" dirty="0"/>
              <a:t>𝜉𝑖</a:t>
            </a:r>
            <a:endParaRPr lang="en-US" altLang="zh-TW" sz="2700" dirty="0"/>
          </a:p>
        </p:txBody>
      </p:sp>
      <p:pic>
        <p:nvPicPr>
          <p:cNvPr id="6" name="圖片 5">
            <a:extLst>
              <a:ext uri="{FF2B5EF4-FFF2-40B4-BE49-F238E27FC236}">
                <a16:creationId xmlns:a16="http://schemas.microsoft.com/office/drawing/2014/main" id="{FD87F52F-5B64-4A4B-B5D2-EC58593754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2574388"/>
            <a:ext cx="5731921" cy="962962"/>
          </a:xfrm>
          <a:prstGeom prst="rect">
            <a:avLst/>
          </a:prstGeom>
        </p:spPr>
      </p:pic>
      <p:pic>
        <p:nvPicPr>
          <p:cNvPr id="10" name="圖片 9">
            <a:extLst>
              <a:ext uri="{FF2B5EF4-FFF2-40B4-BE49-F238E27FC236}">
                <a16:creationId xmlns:a16="http://schemas.microsoft.com/office/drawing/2014/main" id="{C8B7561B-59BC-4761-B78B-357444E68A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98345" y="2439657"/>
            <a:ext cx="3804413" cy="4099255"/>
          </a:xfrm>
          <a:prstGeom prst="rect">
            <a:avLst/>
          </a:prstGeom>
        </p:spPr>
      </p:pic>
    </p:spTree>
    <p:extLst>
      <p:ext uri="{BB962C8B-B14F-4D97-AF65-F5344CB8AC3E}">
        <p14:creationId xmlns:p14="http://schemas.microsoft.com/office/powerpoint/2010/main" val="815446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Classifiers</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5</a:t>
            </a:fld>
            <a:endParaRPr lang="zh-TW" altLang="en-US"/>
          </a:p>
        </p:txBody>
      </p:sp>
      <p:sp>
        <p:nvSpPr>
          <p:cNvPr id="11" name="內容版面配置區 10">
            <a:extLst>
              <a:ext uri="{FF2B5EF4-FFF2-40B4-BE49-F238E27FC236}">
                <a16:creationId xmlns:a16="http://schemas.microsoft.com/office/drawing/2014/main" id="{C2C833C2-C5C2-4AEB-B3FF-A7027832BC21}"/>
              </a:ext>
            </a:extLst>
          </p:cNvPr>
          <p:cNvSpPr>
            <a:spLocks noGrp="1"/>
          </p:cNvSpPr>
          <p:nvPr>
            <p:ph idx="1"/>
          </p:nvPr>
        </p:nvSpPr>
        <p:spPr>
          <a:xfrm>
            <a:off x="838199" y="1825624"/>
            <a:ext cx="11070515" cy="4599824"/>
          </a:xfrm>
        </p:spPr>
        <p:txBody>
          <a:bodyPr>
            <a:normAutofit/>
          </a:bodyPr>
          <a:lstStyle/>
          <a:p>
            <a:r>
              <a:rPr lang="en-US" altLang="zh-TW" sz="2700" dirty="0"/>
              <a:t>LASSO regression:</a:t>
            </a:r>
          </a:p>
          <a:p>
            <a:pPr marL="0" indent="0">
              <a:buNone/>
            </a:pPr>
            <a:r>
              <a:rPr lang="en-US" altLang="zh-TW" sz="2700" dirty="0"/>
              <a:t>The LASSO’s objective is to find the parameter vector </a:t>
            </a:r>
            <a:r>
              <a:rPr lang="zh-TW" altLang="en-US" sz="2700" dirty="0"/>
              <a:t>𝜃⃑ </a:t>
            </a:r>
            <a:r>
              <a:rPr lang="en-US" altLang="zh-TW" sz="2700" dirty="0"/>
              <a:t>that minimizes the sum of squared errors and the regularization term:</a:t>
            </a:r>
            <a:endParaRPr lang="zh-TW" altLang="en-US" sz="2700" dirty="0"/>
          </a:p>
          <a:p>
            <a:endParaRPr lang="en-US" altLang="zh-TW" sz="2700" dirty="0"/>
          </a:p>
        </p:txBody>
      </p:sp>
      <p:pic>
        <p:nvPicPr>
          <p:cNvPr id="5" name="圖片 4">
            <a:extLst>
              <a:ext uri="{FF2B5EF4-FFF2-40B4-BE49-F238E27FC236}">
                <a16:creationId xmlns:a16="http://schemas.microsoft.com/office/drawing/2014/main" id="{70CBC55B-B648-4BEE-8DD5-15A2B4BBE1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199" y="3299851"/>
            <a:ext cx="4638675" cy="581025"/>
          </a:xfrm>
          <a:prstGeom prst="rect">
            <a:avLst/>
          </a:prstGeom>
        </p:spPr>
      </p:pic>
      <p:pic>
        <p:nvPicPr>
          <p:cNvPr id="9" name="圖片 8">
            <a:extLst>
              <a:ext uri="{FF2B5EF4-FFF2-40B4-BE49-F238E27FC236}">
                <a16:creationId xmlns:a16="http://schemas.microsoft.com/office/drawing/2014/main" id="{F0C07395-9A24-418D-AB29-3C560665A3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01710" y="3089908"/>
            <a:ext cx="6266103" cy="3768092"/>
          </a:xfrm>
          <a:prstGeom prst="rect">
            <a:avLst/>
          </a:prstGeom>
        </p:spPr>
      </p:pic>
    </p:spTree>
    <p:extLst>
      <p:ext uri="{BB962C8B-B14F-4D97-AF65-F5344CB8AC3E}">
        <p14:creationId xmlns:p14="http://schemas.microsoft.com/office/powerpoint/2010/main" val="22168304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Correlation Based Method</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6</a:t>
            </a:fld>
            <a:endParaRPr lang="zh-TW" altLang="en-US"/>
          </a:p>
        </p:txBody>
      </p:sp>
      <p:sp>
        <p:nvSpPr>
          <p:cNvPr id="11" name="內容版面配置區 10">
            <a:extLst>
              <a:ext uri="{FF2B5EF4-FFF2-40B4-BE49-F238E27FC236}">
                <a16:creationId xmlns:a16="http://schemas.microsoft.com/office/drawing/2014/main" id="{C2C833C2-C5C2-4AEB-B3FF-A7027832BC21}"/>
              </a:ext>
            </a:extLst>
          </p:cNvPr>
          <p:cNvSpPr>
            <a:spLocks noGrp="1"/>
          </p:cNvSpPr>
          <p:nvPr>
            <p:ph idx="1"/>
          </p:nvPr>
        </p:nvSpPr>
        <p:spPr>
          <a:xfrm>
            <a:off x="838199" y="1376979"/>
            <a:ext cx="11070515" cy="5048469"/>
          </a:xfrm>
        </p:spPr>
        <p:txBody>
          <a:bodyPr>
            <a:normAutofit/>
          </a:bodyPr>
          <a:lstStyle/>
          <a:p>
            <a:r>
              <a:rPr lang="en-US" altLang="zh-TW" dirty="0">
                <a:latin typeface="Times New Roman" panose="02020603050405020304" pitchFamily="18" charset="0"/>
                <a:cs typeface="Times New Roman" panose="02020603050405020304" pitchFamily="18" charset="0"/>
              </a:rPr>
              <a:t>Correlation Based Method</a:t>
            </a:r>
            <a:r>
              <a:rPr lang="en-US" altLang="zh-TW" sz="2700" dirty="0"/>
              <a:t>:</a:t>
            </a:r>
          </a:p>
          <a:p>
            <a:pPr marL="0" indent="0">
              <a:buNone/>
            </a:pPr>
            <a:r>
              <a:rPr lang="en-US" altLang="zh-TW" sz="2700" dirty="0"/>
              <a:t>The idea of the correlation of parts of one image with parts of the next (in order to find image flow) has been used more often as part of flow estimating algorithms than as a single method in its own right.</a:t>
            </a:r>
          </a:p>
        </p:txBody>
      </p:sp>
      <p:pic>
        <p:nvPicPr>
          <p:cNvPr id="6" name="圖片 5">
            <a:extLst>
              <a:ext uri="{FF2B5EF4-FFF2-40B4-BE49-F238E27FC236}">
                <a16:creationId xmlns:a16="http://schemas.microsoft.com/office/drawing/2014/main" id="{23C0F3AE-49DC-4F1A-99F9-9BAB0F6A66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5166" y="3387443"/>
            <a:ext cx="9525000" cy="2857500"/>
          </a:xfrm>
          <a:prstGeom prst="rect">
            <a:avLst/>
          </a:prstGeom>
        </p:spPr>
      </p:pic>
    </p:spTree>
    <p:extLst>
      <p:ext uri="{BB962C8B-B14F-4D97-AF65-F5344CB8AC3E}">
        <p14:creationId xmlns:p14="http://schemas.microsoft.com/office/powerpoint/2010/main" val="17992033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Results</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7</a:t>
            </a:fld>
            <a:endParaRPr lang="zh-TW" altLang="en-US"/>
          </a:p>
        </p:txBody>
      </p:sp>
      <p:sp>
        <p:nvSpPr>
          <p:cNvPr id="11" name="內容版面配置區 10">
            <a:extLst>
              <a:ext uri="{FF2B5EF4-FFF2-40B4-BE49-F238E27FC236}">
                <a16:creationId xmlns:a16="http://schemas.microsoft.com/office/drawing/2014/main" id="{C2C833C2-C5C2-4AEB-B3FF-A7027832BC21}"/>
              </a:ext>
            </a:extLst>
          </p:cNvPr>
          <p:cNvSpPr>
            <a:spLocks noGrp="1"/>
          </p:cNvSpPr>
          <p:nvPr>
            <p:ph idx="1"/>
          </p:nvPr>
        </p:nvSpPr>
        <p:spPr>
          <a:xfrm>
            <a:off x="838200" y="1825625"/>
            <a:ext cx="10515600" cy="4351338"/>
          </a:xfrm>
        </p:spPr>
        <p:txBody>
          <a:bodyPr>
            <a:normAutofit/>
          </a:bodyPr>
          <a:lstStyle/>
          <a:p>
            <a:endParaRPr lang="en-US" altLang="zh-TW" sz="2700" dirty="0"/>
          </a:p>
        </p:txBody>
      </p:sp>
      <p:pic>
        <p:nvPicPr>
          <p:cNvPr id="5" name="圖片 4">
            <a:extLst>
              <a:ext uri="{FF2B5EF4-FFF2-40B4-BE49-F238E27FC236}">
                <a16:creationId xmlns:a16="http://schemas.microsoft.com/office/drawing/2014/main" id="{E5F8398A-A38E-4409-94D7-5C3886198A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37905" y="1499214"/>
            <a:ext cx="6340815" cy="2533878"/>
          </a:xfrm>
          <a:prstGeom prst="rect">
            <a:avLst/>
          </a:prstGeom>
        </p:spPr>
      </p:pic>
      <p:pic>
        <p:nvPicPr>
          <p:cNvPr id="8" name="圖片 7">
            <a:extLst>
              <a:ext uri="{FF2B5EF4-FFF2-40B4-BE49-F238E27FC236}">
                <a16:creationId xmlns:a16="http://schemas.microsoft.com/office/drawing/2014/main" id="{55F7D952-BBBF-4166-8814-9DCDE1AEF8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07809" y="4033092"/>
            <a:ext cx="6201009" cy="2290895"/>
          </a:xfrm>
          <a:prstGeom prst="rect">
            <a:avLst/>
          </a:prstGeom>
        </p:spPr>
      </p:pic>
    </p:spTree>
    <p:extLst>
      <p:ext uri="{BB962C8B-B14F-4D97-AF65-F5344CB8AC3E}">
        <p14:creationId xmlns:p14="http://schemas.microsoft.com/office/powerpoint/2010/main" val="41689090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92937" y="313694"/>
            <a:ext cx="10515600" cy="1325563"/>
          </a:xfrm>
        </p:spPr>
        <p:txBody>
          <a:bodyPr>
            <a:normAutofit/>
          </a:bodyPr>
          <a:lstStyle/>
          <a:p>
            <a:r>
              <a:rPr lang="en-US" altLang="zh-TW" dirty="0">
                <a:latin typeface="Times New Roman" panose="02020603050405020304" pitchFamily="18" charset="0"/>
                <a:cs typeface="Times New Roman" panose="02020603050405020304" pitchFamily="18" charset="0"/>
              </a:rPr>
              <a:t>Results</a:t>
            </a:r>
            <a:endParaRPr lang="zh-TW" altLang="en-US" dirty="0">
              <a:latin typeface="Times New Roman" panose="02020603050405020304" pitchFamily="18" charset="0"/>
              <a:cs typeface="Times New Roman" panose="02020603050405020304" pitchFamily="18" charset="0"/>
            </a:endParaRPr>
          </a:p>
        </p:txBody>
      </p:sp>
      <p:sp>
        <p:nvSpPr>
          <p:cNvPr id="8" name="內容版面配置區 10">
            <a:extLst>
              <a:ext uri="{FF2B5EF4-FFF2-40B4-BE49-F238E27FC236}">
                <a16:creationId xmlns:a16="http://schemas.microsoft.com/office/drawing/2014/main" id="{650212D9-9F50-46B3-8507-D984FD9BF0BB}"/>
              </a:ext>
            </a:extLst>
          </p:cNvPr>
          <p:cNvSpPr>
            <a:spLocks noGrp="1"/>
          </p:cNvSpPr>
          <p:nvPr>
            <p:ph idx="1"/>
          </p:nvPr>
        </p:nvSpPr>
        <p:spPr>
          <a:xfrm>
            <a:off x="838199" y="1825625"/>
            <a:ext cx="5257801" cy="4667250"/>
          </a:xfrm>
        </p:spPr>
        <p:txBody>
          <a:bodyPr>
            <a:normAutofit/>
          </a:bodyPr>
          <a:lstStyle/>
          <a:p>
            <a:pPr algn="just"/>
            <a:endParaRPr lang="zh-TW" altLang="en-US" sz="2400" dirty="0"/>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normAutofit/>
          </a:bodyPr>
          <a:lstStyle/>
          <a:p>
            <a:pPr>
              <a:spcAft>
                <a:spcPts val="600"/>
              </a:spcAft>
            </a:pPr>
            <a:fld id="{872633CA-77E0-4863-94F8-E28139DFB2B4}" type="slidenum">
              <a:rPr lang="zh-TW" altLang="en-US" smtClean="0"/>
              <a:pPr>
                <a:spcAft>
                  <a:spcPts val="600"/>
                </a:spcAft>
              </a:pPr>
              <a:t>8</a:t>
            </a:fld>
            <a:endParaRPr lang="zh-TW" altLang="en-US"/>
          </a:p>
        </p:txBody>
      </p:sp>
      <p:pic>
        <p:nvPicPr>
          <p:cNvPr id="6" name="圖片 5">
            <a:extLst>
              <a:ext uri="{FF2B5EF4-FFF2-40B4-BE49-F238E27FC236}">
                <a16:creationId xmlns:a16="http://schemas.microsoft.com/office/drawing/2014/main" id="{9AB5D156-002E-4648-8268-26D7B0C9D8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2937" y="1187781"/>
            <a:ext cx="6670306" cy="4750439"/>
          </a:xfrm>
          <a:prstGeom prst="rect">
            <a:avLst/>
          </a:prstGeom>
        </p:spPr>
      </p:pic>
      <p:pic>
        <p:nvPicPr>
          <p:cNvPr id="12" name="圖片 11">
            <a:extLst>
              <a:ext uri="{FF2B5EF4-FFF2-40B4-BE49-F238E27FC236}">
                <a16:creationId xmlns:a16="http://schemas.microsoft.com/office/drawing/2014/main" id="{E5C888D8-D717-45C5-8353-D9BE11725E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87248" y="1187781"/>
            <a:ext cx="5387227" cy="5136658"/>
          </a:xfrm>
          <a:prstGeom prst="rect">
            <a:avLst/>
          </a:prstGeom>
        </p:spPr>
      </p:pic>
    </p:spTree>
    <p:extLst>
      <p:ext uri="{BB962C8B-B14F-4D97-AF65-F5344CB8AC3E}">
        <p14:creationId xmlns:p14="http://schemas.microsoft.com/office/powerpoint/2010/main" val="35295014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B641926-9EFF-4CDF-974F-38DC8864D744}"/>
              </a:ext>
            </a:extLst>
          </p:cNvPr>
          <p:cNvSpPr>
            <a:spLocks noGrp="1"/>
          </p:cNvSpPr>
          <p:nvPr>
            <p:ph type="title"/>
          </p:nvPr>
        </p:nvSpPr>
        <p:spPr/>
        <p:txBody>
          <a:bodyPr/>
          <a:lstStyle/>
          <a:p>
            <a:r>
              <a:rPr lang="en-US" altLang="zh-TW" dirty="0"/>
              <a:t>functional Magnetic Resonance Imaging(FMRI)</a:t>
            </a:r>
            <a:endParaRPr lang="zh-TW" altLang="en-US" dirty="0"/>
          </a:p>
        </p:txBody>
      </p:sp>
      <p:sp>
        <p:nvSpPr>
          <p:cNvPr id="3" name="內容版面配置區 2">
            <a:extLst>
              <a:ext uri="{FF2B5EF4-FFF2-40B4-BE49-F238E27FC236}">
                <a16:creationId xmlns:a16="http://schemas.microsoft.com/office/drawing/2014/main" id="{27649181-64CE-4261-B9FC-FD0BD3C9035B}"/>
              </a:ext>
            </a:extLst>
          </p:cNvPr>
          <p:cNvSpPr>
            <a:spLocks noGrp="1"/>
          </p:cNvSpPr>
          <p:nvPr>
            <p:ph idx="1"/>
          </p:nvPr>
        </p:nvSpPr>
        <p:spPr/>
        <p:txBody>
          <a:bodyPr/>
          <a:lstStyle/>
          <a:p>
            <a:r>
              <a:rPr lang="en-US" altLang="zh-TW" dirty="0"/>
              <a:t>d</a:t>
            </a:r>
            <a:endParaRPr lang="zh-TW" altLang="en-US" dirty="0"/>
          </a:p>
        </p:txBody>
      </p:sp>
      <p:pic>
        <p:nvPicPr>
          <p:cNvPr id="5" name="圖片 4">
            <a:extLst>
              <a:ext uri="{FF2B5EF4-FFF2-40B4-BE49-F238E27FC236}">
                <a16:creationId xmlns:a16="http://schemas.microsoft.com/office/drawing/2014/main" id="{06A5F311-B432-498C-A689-3AE350E709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825625"/>
            <a:ext cx="9959788" cy="4619032"/>
          </a:xfrm>
          <a:prstGeom prst="rect">
            <a:avLst/>
          </a:prstGeom>
        </p:spPr>
      </p:pic>
    </p:spTree>
    <p:extLst>
      <p:ext uri="{BB962C8B-B14F-4D97-AF65-F5344CB8AC3E}">
        <p14:creationId xmlns:p14="http://schemas.microsoft.com/office/powerpoint/2010/main" val="803330686"/>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662</TotalTime>
  <Words>374</Words>
  <Application>Microsoft Office PowerPoint</Application>
  <PresentationFormat>寬螢幕</PresentationFormat>
  <Paragraphs>40</Paragraphs>
  <Slides>9</Slides>
  <Notes>7</Notes>
  <HiddenSlides>1</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9</vt:i4>
      </vt:variant>
    </vt:vector>
  </HeadingPairs>
  <TitlesOfParts>
    <vt:vector size="14" baseType="lpstr">
      <vt:lpstr>Arial</vt:lpstr>
      <vt:lpstr>Calibri</vt:lpstr>
      <vt:lpstr>Calibri Light</vt:lpstr>
      <vt:lpstr>Times New Roman</vt:lpstr>
      <vt:lpstr>Office 佈景主題</vt:lpstr>
      <vt:lpstr>Classification of fMRI data using Dynamic Time Warping based functional connectivity analysis</vt:lpstr>
      <vt:lpstr>Abstract (1/2)</vt:lpstr>
      <vt:lpstr>Abstract (2/2)</vt:lpstr>
      <vt:lpstr>Classifiers</vt:lpstr>
      <vt:lpstr>Classifiers</vt:lpstr>
      <vt:lpstr>Correlation Based Method</vt:lpstr>
      <vt:lpstr>Results</vt:lpstr>
      <vt:lpstr>Results</vt:lpstr>
      <vt:lpstr>functional Magnetic Resonance Imaging(FMRI)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Fast and Accurate Template Averaging for Time Series Classification</dc:title>
  <dc:creator>lu</dc:creator>
  <cp:lastModifiedBy>lu</cp:lastModifiedBy>
  <cp:revision>410</cp:revision>
  <dcterms:created xsi:type="dcterms:W3CDTF">2018-10-30T09:09:31Z</dcterms:created>
  <dcterms:modified xsi:type="dcterms:W3CDTF">2019-01-22T09:46:23Z</dcterms:modified>
</cp:coreProperties>
</file>