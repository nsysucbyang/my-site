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9" r:id="rId5"/>
    <p:sldId id="272" r:id="rId6"/>
    <p:sldId id="273" r:id="rId7"/>
    <p:sldId id="275" r:id="rId8"/>
    <p:sldId id="276" r:id="rId9"/>
    <p:sldId id="282" r:id="rId10"/>
    <p:sldId id="283" r:id="rId11"/>
    <p:sldId id="277" r:id="rId12"/>
    <p:sldId id="280" r:id="rId13"/>
    <p:sldId id="278" r:id="rId14"/>
    <p:sldId id="269" r:id="rId15"/>
    <p:sldId id="270" r:id="rId16"/>
    <p:sldId id="281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0AB36-EC8B-4D0F-B1AA-7547928EA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AC0A1F-D434-44CF-A5A8-DA44EED41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39E77D-917B-4E56-A01E-0749F4F4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3A26D1-6B8A-4EC9-8B6D-0BD5A675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C2FC7A-881D-45F2-B205-5B10B90D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963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38C6AA-8327-4A69-A9DF-B4941E5A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C352DE-13E2-424C-B908-8673AFB8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C89F3C-53C4-4DAB-BC3F-F8AC4ACB5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7E5924-5994-47C2-946D-BE645A85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B687FB-06D1-47EE-A463-FD1AE818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452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D996D3-EA9E-47C7-AA01-34AEA0CB9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69AC10-052F-4084-89E1-9924E84D4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7704BF-1BCD-443A-B220-A07559FAD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0E7173-0D69-4C45-BFC5-D8DE5E4D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536ABE-56EF-4511-B618-FB3A0FB6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60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2CC92-C361-48F3-A4E5-DE73DC90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B4CAC5-4B25-49FF-9446-0DBC2F19D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E292247-9742-447C-B64D-BA63D5A55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0E4D09-C9E7-40A8-BB6F-74AC1E62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A257E2-EBC6-4B55-BD9E-7123084B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E746E0-713E-4C78-90AA-F918B0E4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871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58717D-B3D8-48B2-B2CB-66A90CC6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F11BF2-7F43-4A53-BDCB-A30A1AA55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3D3E44-C96B-4952-A078-4F2FACD7F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D191CB3-B201-4BBE-AE19-94EC078C5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ABF6532-9829-4370-9761-D6BD62BBF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21FE61D-78A7-40F5-8D24-19C6B5CE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711474F-86F3-4D70-8A50-364B30254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734C63E-84AB-4557-BF48-C4E55F15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794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9322A6-01F2-40AC-AD8B-FB086E057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574F49-DF79-4A7F-9353-6F574A482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A6725F0-AC36-4586-B0DD-2624F5FA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4F7DA00-9536-4020-B3FF-57282D93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64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EDD6CA-3AEB-44DF-B28E-93E3921F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30E9DAB-5A6D-48BD-B04F-DF77C6C4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366A82-3CEE-4676-8DD8-19553A71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60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D0E4ED-6A71-414F-9A6C-B185D5FD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12FAC7-1B8C-436A-9C41-46C1F0941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3974BAA-2FA9-4C1B-92ED-39442FA3A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AB9F3E-80F5-4E71-8ADE-6FB352E2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B6EBD4-54FC-4D83-9460-EFDB05F1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5F7AA0-0D7C-4446-9F30-0F5C8031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43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8249D5-0026-4A19-B3EC-5BCEDFC1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6672553-861D-4901-BCE9-A4654619C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E946AB-C890-475C-9EBB-E608FE05F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9B5619-EE00-4314-B6ED-A7B271CB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EC57C0-6A9B-4D8A-A5D4-95E6DF1A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FCF9E3-DB12-46BA-9425-454592F8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83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16B4C-E4C7-4633-B778-8103B659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C3CA0B-0673-40C0-BBFD-65B170C86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754753-1DAB-45EB-9351-F3673FEB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406CE3-3DEB-4643-BE7B-B985B4AC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667CB4-9A5F-445F-AED0-27B3B1B3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613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A642FC4-8287-4E51-BE95-28B81EEE6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70BF2C-CB82-4B78-BDC0-73A195749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E89081-C719-46CC-AEB5-70CDF0B9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429980-706C-423F-8BED-2780846F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2A9547-DC8E-4032-B21D-4C245CFE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884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15FA965-F656-495C-B952-4B175A5B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1905AE-3B16-48F5-84C4-EDEB6EC1F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631EB8-4498-4FE9-AC9C-41E291235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A2DDC-B924-44D4-AEB6-E957A9FA1DCD}" type="datetimeFigureOut">
              <a:rPr lang="zh-TW" altLang="en-US" smtClean="0"/>
              <a:t>2019/1/22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581649-FFF8-4F22-9B00-8AC866AD0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8705E9-A6F9-4108-AF5F-04A35E77D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14C32-77AE-4A64-B2CD-BB81DA9629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1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7615F0-1485-415C-9C01-B9BACA877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497" y="722489"/>
            <a:ext cx="9636802" cy="2206303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A Fast Clustering Algorithm Based on Pruning Unnecessary Distance Computations in DBSCAN for High-Dimensional Data</a:t>
            </a:r>
            <a:endParaRPr lang="zh-TW" altLang="en-US" sz="4000" b="1" baseline="-25000" dirty="0">
              <a:ea typeface="新細明體-ExtB" panose="02020500000000000000" pitchFamily="18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35F5719-E925-4841-9F3C-3144FFD34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429000"/>
            <a:ext cx="9144000" cy="3016877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Yewang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Chen(</a:t>
            </a:r>
            <a:r>
              <a:rPr lang="zh-TW" altLang="en-US" sz="2600" dirty="0"/>
              <a:t>陈叶旺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Shengyu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Tang(</a:t>
            </a:r>
            <a:r>
              <a:rPr lang="zh-TW" altLang="en-US" sz="2600" dirty="0"/>
              <a:t>汤盛宇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Nizar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Bouguila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Cheng Wang(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王成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Jixiang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Du(</a:t>
            </a:r>
            <a:r>
              <a:rPr lang="zh-TW" altLang="en-US" sz="2600" dirty="0"/>
              <a:t>杜吉祥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</a:t>
            </a: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HaiLin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Li(</a:t>
            </a:r>
            <a:r>
              <a:rPr lang="zh-TW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李海林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sv-SE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</a:br>
            <a:br>
              <a:rPr lang="sv-SE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</a:br>
            <a:endParaRPr lang="sv-SE" altLang="zh-TW" dirty="0">
              <a:latin typeface="Times New Roman" panose="02020603050405020304" pitchFamily="18" charset="0"/>
              <a:ea typeface="新細明體-ExtB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sz="2600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Pattern Recognition 83 (2018) 375-387</a:t>
            </a:r>
          </a:p>
          <a:p>
            <a:br>
              <a:rPr lang="en-US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：</a:t>
            </a:r>
            <a:r>
              <a:rPr lang="en-US" altLang="zh-TW" dirty="0" err="1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Date: 2019 / 01 /</a:t>
            </a:r>
            <a:r>
              <a:rPr lang="sv-SE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 22</a:t>
            </a:r>
            <a:endParaRPr lang="zh-TW" altLang="en-US" dirty="0">
              <a:latin typeface="Times New Roman" panose="02020603050405020304" pitchFamily="18" charset="0"/>
              <a:ea typeface="新細明體-ExtB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53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3D0B0B-7547-4071-90BA-536B104D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ea typeface="新細明體-ExtB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5B338F-83E0-43F0-AE3C-68350790C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02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is an important technique to deal with large scale data which are explosively created in internet. Most data are high-dimensional with a lot of noise, which brings great challenges to retrieval, classification and understanding. No current existing approach is “optimal” for large scale data. For example, DBSCAN requires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time, Fast-DBSCAN only works well in 2 dimensions, and ρ-Approximate DBSCAN runs in O(n) expected time which needs dimension D to be a relative small constant for the linear running time to hold. However, we prove theoretically and experimentally that ρ-Approximate DBSCAN degenerates to an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algorithm in very high dimension such that 2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&gt; n.</a:t>
            </a:r>
            <a:endParaRPr lang="zh-TW" altLang="en-US" dirty="0">
              <a:latin typeface="Times New Roman" panose="02020603050405020304" pitchFamily="18" charset="0"/>
              <a:ea typeface="新細明體-ExtB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38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D16D66-BEF9-4F84-9EDB-52F47BF4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新細明體-ExtB" panose="02020500000000000000" pitchFamily="18" charset="-12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ea typeface="新細明體-ExtB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86F83E-3B37-40DD-A43C-E0432117E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12773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propose a novel local neighborhood searching technique, and apply it to improve DBSCAN, named as NQ-DBSCAN, such that a large number of unnecessary distance computations can be effectively reduced. Theoretical analysis and experimental results show that NQ-DBSCAN averagely runs in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n∗log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(n)) with the help of indexing technique, and the best case is O(n) if proper parameters are used, which makes it suitable for many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</a:t>
            </a:r>
            <a:endParaRPr lang="zh-TW" altLang="en-US" dirty="0">
              <a:ea typeface="新細明體-ExtB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7387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41B5B5-CF6F-492F-9BBE-56F421489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definitions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9CDA018-FF88-4FB7-AC57-A10E558DD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core point: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zh-TW" alt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𝜖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begChr m:val=""/>
                        <m:endChr m:val="|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𝑀𝑖𝑛𝑃𝑡𝑠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directly density-reachable: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is directly density-reachable from a point q with respect to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MinPts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p ∈ N (q) and q is a core point.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9CDA018-FF88-4FB7-AC57-A10E558DD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C028B1F2-FCE5-4BEC-AD46-C61856CF1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660" y="3883847"/>
            <a:ext cx="3781953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927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41B5B5-CF6F-492F-9BBE-56F421489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definitions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CDA018-FF88-4FB7-AC57-A10E558DD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density-reachable: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is density-reachable from a point q with respect to and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there is a chain of points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q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 such that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directly density-reachable from p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1E53013-FCC3-459E-A5DF-C932CD56C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414" y="3784358"/>
            <a:ext cx="4315427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87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B48F2-C042-4350-8A2F-52844643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DBSCAN: </a:t>
            </a:r>
            <a:r>
              <a:rPr lang="en-US" altLang="zh-TW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AF11B8E-7806-45D5-A91F-2056B7C8E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767" y="1421143"/>
            <a:ext cx="7325806" cy="4844056"/>
          </a:xfr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BA87AF34-1EEB-4AD5-9D48-03551F17E5AE}"/>
              </a:ext>
            </a:extLst>
          </p:cNvPr>
          <p:cNvSpPr/>
          <p:nvPr/>
        </p:nvSpPr>
        <p:spPr>
          <a:xfrm>
            <a:off x="6695698" y="4382186"/>
            <a:ext cx="93306" cy="839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9BC7C9E-08B5-4A8D-A1BD-2E4A34230337}"/>
              </a:ext>
            </a:extLst>
          </p:cNvPr>
          <p:cNvSpPr/>
          <p:nvPr/>
        </p:nvSpPr>
        <p:spPr>
          <a:xfrm>
            <a:off x="6835657" y="3929022"/>
            <a:ext cx="93306" cy="839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流程圖: 接點 7">
            <a:extLst>
              <a:ext uri="{FF2B5EF4-FFF2-40B4-BE49-F238E27FC236}">
                <a16:creationId xmlns:a16="http://schemas.microsoft.com/office/drawing/2014/main" id="{19929A64-3E55-4AC1-AB92-E51D4FFAB33C}"/>
              </a:ext>
            </a:extLst>
          </p:cNvPr>
          <p:cNvSpPr/>
          <p:nvPr/>
        </p:nvSpPr>
        <p:spPr>
          <a:xfrm>
            <a:off x="5957455" y="3677424"/>
            <a:ext cx="1569792" cy="1493498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接點 8">
            <a:extLst>
              <a:ext uri="{FF2B5EF4-FFF2-40B4-BE49-F238E27FC236}">
                <a16:creationId xmlns:a16="http://schemas.microsoft.com/office/drawing/2014/main" id="{58D2C8CF-449C-440F-9271-2936627FF538}"/>
              </a:ext>
            </a:extLst>
          </p:cNvPr>
          <p:cNvSpPr/>
          <p:nvPr/>
        </p:nvSpPr>
        <p:spPr>
          <a:xfrm>
            <a:off x="6097414" y="3231194"/>
            <a:ext cx="1569792" cy="1493498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5621925-BBA4-415F-AD29-6065D0AEC369}"/>
              </a:ext>
            </a:extLst>
          </p:cNvPr>
          <p:cNvSpPr/>
          <p:nvPr/>
        </p:nvSpPr>
        <p:spPr>
          <a:xfrm>
            <a:off x="7276815" y="4682704"/>
            <a:ext cx="93306" cy="839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>
            <a:extLst>
              <a:ext uri="{FF2B5EF4-FFF2-40B4-BE49-F238E27FC236}">
                <a16:creationId xmlns:a16="http://schemas.microsoft.com/office/drawing/2014/main" id="{D6133D11-3B51-44C5-B16A-D118EF68E936}"/>
              </a:ext>
            </a:extLst>
          </p:cNvPr>
          <p:cNvSpPr/>
          <p:nvPr/>
        </p:nvSpPr>
        <p:spPr>
          <a:xfrm>
            <a:off x="6538572" y="3943359"/>
            <a:ext cx="1569792" cy="1493498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056DA3AB-49D2-4320-8380-03918010624D}"/>
              </a:ext>
            </a:extLst>
          </p:cNvPr>
          <p:cNvSpPr/>
          <p:nvPr/>
        </p:nvSpPr>
        <p:spPr>
          <a:xfrm>
            <a:off x="6343377" y="3901371"/>
            <a:ext cx="93306" cy="839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1D4B941-A99B-44B2-9417-B8F5F2CE2B39}"/>
              </a:ext>
            </a:extLst>
          </p:cNvPr>
          <p:cNvSpPr/>
          <p:nvPr/>
        </p:nvSpPr>
        <p:spPr>
          <a:xfrm>
            <a:off x="6026021" y="4343493"/>
            <a:ext cx="93306" cy="839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4E50224D-F66B-4538-A6BC-FE46563015BE}"/>
              </a:ext>
            </a:extLst>
          </p:cNvPr>
          <p:cNvSpPr/>
          <p:nvPr/>
        </p:nvSpPr>
        <p:spPr>
          <a:xfrm>
            <a:off x="6047934" y="4682703"/>
            <a:ext cx="93306" cy="839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829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1" grpId="1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B48F2-C042-4350-8A2F-52844643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A0A47DC-A9B2-44C1-A349-41998C211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200" y="1149790"/>
            <a:ext cx="6487430" cy="4867954"/>
          </a:xfrm>
          <a:prstGeom prst="rect">
            <a:avLst/>
          </a:prstGeom>
        </p:spPr>
      </p:pic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F6390923-EFD5-4D58-BF40-5ADAA340A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65" y="2092897"/>
            <a:ext cx="4629796" cy="2981741"/>
          </a:xfr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FA3C08D-D21F-40A9-806E-AA83E3918B05}"/>
              </a:ext>
            </a:extLst>
          </p:cNvPr>
          <p:cNvSpPr/>
          <p:nvPr/>
        </p:nvSpPr>
        <p:spPr>
          <a:xfrm>
            <a:off x="1468073" y="2994870"/>
            <a:ext cx="1283516" cy="218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B26159-8A57-48DF-AFBE-4D14B72D16B3}"/>
              </a:ext>
            </a:extLst>
          </p:cNvPr>
          <p:cNvSpPr/>
          <p:nvPr/>
        </p:nvSpPr>
        <p:spPr>
          <a:xfrm>
            <a:off x="6712590" y="3952613"/>
            <a:ext cx="1283516" cy="2181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699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B48F2-C042-4350-8A2F-52844643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NQ-DBSCAN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EDB7E8-D2E5-4A90-A0F1-47A04AA7F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15614E-D052-4388-B62C-7F15CA0F9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492" y="1419658"/>
            <a:ext cx="5163271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75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B48F2-C042-4350-8A2F-52844643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NQ-DBSCAN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EDB7E8-D2E5-4A90-A0F1-47A04AA7F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𝑀𝑖𝑛𝑃𝑡𝑠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p is a core point.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(2) p is a non-core point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1 ≤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MinPts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EDB7E8-D2E5-4A90-A0F1-47A04AA7F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橢圓 5"/>
          <p:cNvSpPr/>
          <p:nvPr/>
        </p:nvSpPr>
        <p:spPr>
          <a:xfrm>
            <a:off x="5385658" y="4178181"/>
            <a:ext cx="83128" cy="665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2759825" y="4350826"/>
            <a:ext cx="83128" cy="665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616930" y="4485435"/>
            <a:ext cx="83128" cy="665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1880060" y="4888984"/>
            <a:ext cx="83128" cy="665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/>
          <p:cNvCxnSpPr>
            <a:endCxn id="8" idx="3"/>
          </p:cNvCxnSpPr>
          <p:nvPr/>
        </p:nvCxnSpPr>
        <p:spPr>
          <a:xfrm flipV="1">
            <a:off x="1963188" y="4542197"/>
            <a:ext cx="4665916" cy="38003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1472737" y="4493820"/>
            <a:ext cx="980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759825" y="3914833"/>
            <a:ext cx="1090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p(1)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726330" y="3649047"/>
            <a:ext cx="1484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p(2)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504016" y="3959818"/>
            <a:ext cx="171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p(3)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670613" y="4857101"/>
            <a:ext cx="206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p,c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,(3)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557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B48F2-C042-4350-8A2F-52844643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NQ-DBSCAN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EDB7E8-D2E5-4A90-A0F1-47A04AA7F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705" y="1825625"/>
                <a:ext cx="10697095" cy="4351338"/>
              </a:xfrm>
            </p:spPr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p ∈ P, if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(p)| &lt;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MinPts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∀q 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(p) is non-core point.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p ∈ P 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𝑀𝑖𝑛𝑃𝑡𝑠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l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l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∀ o ∈ O, o is a non-core point,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O = {o|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altLang="zh-TW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l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</a:t>
                </a: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EDB7E8-D2E5-4A90-A0F1-47A04AA7F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705" y="1825625"/>
                <a:ext cx="10697095" cy="4351338"/>
              </a:xfrm>
              <a:blipFill>
                <a:blip r:embed="rId2"/>
                <a:stretch>
                  <a:fillRect l="-1026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779" y="1264141"/>
            <a:ext cx="5176285" cy="491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5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B48F2-C042-4350-8A2F-52844643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NQ-DBSCAN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FA36529-6050-4F75-9D00-8F830DA3C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927" y="1644504"/>
            <a:ext cx="4893306" cy="4772921"/>
          </a:xfrm>
        </p:spPr>
      </p:pic>
    </p:spTree>
    <p:extLst>
      <p:ext uri="{BB962C8B-B14F-4D97-AF65-F5344CB8AC3E}">
        <p14:creationId xmlns:p14="http://schemas.microsoft.com/office/powerpoint/2010/main" val="862120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B48F2-C042-4350-8A2F-52844643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NQ-DBSCAN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EDB7E8-D2E5-4A90-A0F1-47A04AA7FE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6705" y="1825625"/>
                <a:ext cx="10697095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𝐼𝑓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𝑡h𝑒𝑛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altLang="zh-TW" dirty="0"/>
                  <a:t> </a:t>
                </a:r>
                <a:endParaRPr lang="en-US" altLang="zh-TW" b="1" dirty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𝑡h𝑒𝑛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nor/>
                      </m:rPr>
                      <a:rPr lang="zh-TW" altLang="en-US" i="1"/>
                      <m:t>∉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br>
                  <a:rPr lang="en-US" altLang="zh-TW" i="1" dirty="0"/>
                </a:br>
                <a:endParaRPr lang="en-US" altLang="zh-TW" i="1" dirty="0"/>
              </a:p>
              <a:p>
                <a:r>
                  <a:rPr lang="en-US" altLang="zh-TW" dirty="0"/>
                  <a:t>Let p, q ∈ P, and N</a:t>
                </a:r>
                <a:r>
                  <a:rPr lang="en-US" altLang="zh-TW" baseline="-25000" dirty="0"/>
                  <a:t>2</a:t>
                </a:r>
                <a14:m>
                  <m:oMath xmlns:m="http://schemas.openxmlformats.org/officeDocument/2006/math">
                    <m:r>
                      <a:rPr lang="zh-TW" altLang="en-US" i="1" baseline="-2500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/>
                  <a:t>(p) is already obtained,</a:t>
                </a:r>
                <a:br>
                  <a:rPr lang="en-US" altLang="zh-TW" dirty="0"/>
                </a:br>
                <a:r>
                  <a:rPr lang="en-US" altLang="zh-TW" dirty="0"/>
                  <a:t>in order to get N</a:t>
                </a:r>
                <a14:m>
                  <m:oMath xmlns:m="http://schemas.openxmlformats.org/officeDocument/2006/math">
                    <m:r>
                      <a:rPr lang="zh-TW" altLang="en-US" i="1" baseline="-2500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/>
                  <a:t>(q), the searching range is</a:t>
                </a:r>
                <a:br>
                  <a:rPr lang="en-US" altLang="zh-TW" dirty="0"/>
                </a:br>
                <a:r>
                  <a:rPr lang="en-US" altLang="zh-TW" dirty="0"/>
                  <a:t>p</a:t>
                </a:r>
                <a:r>
                  <a:rPr lang="en-US" altLang="zh-TW" baseline="-25000" dirty="0"/>
                  <a:t>(L)</a:t>
                </a:r>
                <a:r>
                  <a:rPr lang="en-US" altLang="zh-TW" dirty="0"/>
                  <a:t>, p</a:t>
                </a:r>
                <a:r>
                  <a:rPr lang="en-US" altLang="zh-TW" baseline="-25000" dirty="0"/>
                  <a:t>(L+1)</a:t>
                </a:r>
                <a:r>
                  <a:rPr lang="en-US" altLang="zh-TW" dirty="0"/>
                  <a:t>, ..., p</a:t>
                </a:r>
                <a:r>
                  <a:rPr lang="en-US" altLang="zh-TW" baseline="-25000" dirty="0"/>
                  <a:t>(U-1)</a:t>
                </a:r>
                <a:r>
                  <a:rPr lang="en-US" altLang="zh-TW" dirty="0"/>
                  <a:t>, p</a:t>
                </a:r>
                <a:r>
                  <a:rPr lang="en-US" altLang="zh-TW" baseline="-25000" dirty="0"/>
                  <a:t>(U)</a:t>
                </a:r>
                <a:r>
                  <a:rPr lang="en-US" altLang="zh-TW" dirty="0"/>
                  <a:t>, where L, U </a:t>
                </a:r>
                <a:br>
                  <a:rPr lang="en-US" altLang="zh-TW" dirty="0"/>
                </a:br>
                <a:r>
                  <a:rPr lang="en-US" altLang="zh-TW" dirty="0"/>
                  <a:t>satisfy </a:t>
                </a:r>
                <a:r>
                  <a:rPr lang="en-US" altLang="zh-TW" dirty="0" err="1"/>
                  <a:t>d</a:t>
                </a:r>
                <a:r>
                  <a:rPr lang="en-US" altLang="zh-TW" baseline="-25000" dirty="0" err="1"/>
                  <a:t>p,p</a:t>
                </a:r>
                <a:r>
                  <a:rPr lang="en-US" altLang="zh-TW" baseline="-25000" dirty="0"/>
                  <a:t>(L−1) </a:t>
                </a:r>
                <a:r>
                  <a:rPr lang="en-US" altLang="zh-TW" dirty="0"/>
                  <a:t>&lt;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/>
                  <a:t>− </a:t>
                </a:r>
                <a:r>
                  <a:rPr lang="en-US" altLang="zh-TW" dirty="0" err="1"/>
                  <a:t>d</a:t>
                </a:r>
                <a:r>
                  <a:rPr lang="en-US" altLang="zh-TW" baseline="-25000" dirty="0" err="1"/>
                  <a:t>p,q</a:t>
                </a:r>
                <a:r>
                  <a:rPr lang="en-US" altLang="zh-TW" baseline="-25000" dirty="0"/>
                  <a:t> </a:t>
                </a:r>
                <a:r>
                  <a:rPr lang="zh-TW" altLang="en-US" baseline="-25000" dirty="0"/>
                  <a:t> </a:t>
                </a:r>
                <a:r>
                  <a:rPr lang="en-US" altLang="zh-TW" dirty="0"/>
                  <a:t>&lt; </a:t>
                </a:r>
                <a:r>
                  <a:rPr lang="en-US" altLang="zh-TW" dirty="0" err="1"/>
                  <a:t>d</a:t>
                </a:r>
                <a:r>
                  <a:rPr lang="en-US" altLang="zh-TW" baseline="-25000" dirty="0" err="1"/>
                  <a:t>p,p</a:t>
                </a:r>
                <a:r>
                  <a:rPr lang="en-US" altLang="zh-TW" baseline="-25000" dirty="0"/>
                  <a:t>(L)</a:t>
                </a:r>
                <a:r>
                  <a:rPr lang="en-US" altLang="zh-TW" dirty="0"/>
                  <a:t> </a:t>
                </a:r>
                <a:br>
                  <a:rPr lang="en-US" altLang="zh-TW" dirty="0"/>
                </a:br>
                <a:r>
                  <a:rPr lang="zh-TW" altLang="en-US" dirty="0"/>
                  <a:t>            </a:t>
                </a:r>
                <a:r>
                  <a:rPr lang="en-US" altLang="zh-TW" dirty="0" err="1"/>
                  <a:t>d</a:t>
                </a:r>
                <a:r>
                  <a:rPr lang="en-US" altLang="zh-TW" baseline="-25000" dirty="0" err="1"/>
                  <a:t>p,p</a:t>
                </a:r>
                <a:r>
                  <a:rPr lang="en-US" altLang="zh-TW" baseline="-25000" dirty="0"/>
                  <a:t>(U)</a:t>
                </a:r>
                <a:r>
                  <a:rPr lang="en-US" altLang="zh-TW" dirty="0"/>
                  <a:t> &lt;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altLang="zh-TW" dirty="0"/>
                  <a:t>+ </a:t>
                </a:r>
                <a:r>
                  <a:rPr lang="en-US" altLang="zh-TW" dirty="0" err="1"/>
                  <a:t>d</a:t>
                </a:r>
                <a:r>
                  <a:rPr lang="en-US" altLang="zh-TW" baseline="-25000" dirty="0" err="1"/>
                  <a:t>p,q</a:t>
                </a:r>
                <a:r>
                  <a:rPr lang="en-US" altLang="zh-TW" dirty="0"/>
                  <a:t> &lt; </a:t>
                </a:r>
                <a:r>
                  <a:rPr lang="en-US" altLang="zh-TW" dirty="0" err="1"/>
                  <a:t>d</a:t>
                </a:r>
                <a:r>
                  <a:rPr lang="en-US" altLang="zh-TW" baseline="-25000" dirty="0" err="1"/>
                  <a:t>p,p</a:t>
                </a:r>
                <a:r>
                  <a:rPr lang="en-US" altLang="zh-TW" baseline="-25000" dirty="0"/>
                  <a:t>(U+1) </a:t>
                </a:r>
                <a:r>
                  <a:rPr lang="en-US" altLang="zh-TW" dirty="0"/>
                  <a:t>.</a:t>
                </a:r>
                <a:endParaRPr lang="en-US" altLang="zh-TW" i="1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EDB7E8-D2E5-4A90-A0F1-47A04AA7FE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6705" y="1825625"/>
                <a:ext cx="10697095" cy="4351338"/>
              </a:xfrm>
              <a:blipFill>
                <a:blip r:embed="rId2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4F15614E-D052-4388-B62C-7F15CA0F9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056" y="1487977"/>
            <a:ext cx="4688985" cy="468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79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B48F2-C042-4350-8A2F-52844643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NQ-DBSCAN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71262B7-E373-46D9-86D2-AAC50C1C7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11" y="1779328"/>
            <a:ext cx="4717985" cy="4351338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94584A5-6D2C-45C0-8697-D933ABDF6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591" y="1779328"/>
            <a:ext cx="5455298" cy="288762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8ED0943-9BB8-4741-B3AC-0331B6DEF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517" y="2415711"/>
            <a:ext cx="3629532" cy="301984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D5527F4-3358-4333-AA1B-159D1C9E5D34}"/>
              </a:ext>
            </a:extLst>
          </p:cNvPr>
          <p:cNvSpPr/>
          <p:nvPr/>
        </p:nvSpPr>
        <p:spPr>
          <a:xfrm>
            <a:off x="2189968" y="3792354"/>
            <a:ext cx="2333906" cy="192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03AD06-6D50-468A-9DB3-3C6513BCACF0}"/>
              </a:ext>
            </a:extLst>
          </p:cNvPr>
          <p:cNvSpPr/>
          <p:nvPr/>
        </p:nvSpPr>
        <p:spPr>
          <a:xfrm>
            <a:off x="1940802" y="5243052"/>
            <a:ext cx="1129657" cy="1925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89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4FBE72-695D-441E-AFF3-D3B03419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C07AC31-09ED-4919-86E1-E9F84A4EE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" y="2454442"/>
            <a:ext cx="4396600" cy="3012324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8B58131-69D5-4C0F-AD6C-3A6B994BB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864" y="2444916"/>
            <a:ext cx="4026272" cy="30218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476FCF8-9FC1-41F4-A207-FB6EB2582D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728" y="2454443"/>
            <a:ext cx="3897792" cy="301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81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689E67-1ABA-44F2-901F-F2F307F2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CDC2945-9692-4E21-9CDE-A532D946C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05" y="2654848"/>
            <a:ext cx="5463903" cy="3112668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B27926F-0999-4EFC-BF4A-076B3DF89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295" y="2568220"/>
            <a:ext cx="6096000" cy="31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95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689E67-1ABA-44F2-901F-F2F307F2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F1B792-718E-40AB-8FD8-AF2C3C007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1486152"/>
            <a:ext cx="4808762" cy="2539377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113CA31-4B70-45B4-A9F2-AC0224ECB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835" y="1486152"/>
            <a:ext cx="4472766" cy="253937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A838DC9-7E61-4D67-BE06-F20A700972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428" y="4131089"/>
            <a:ext cx="3732288" cy="236178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F90B955-F7C6-4D38-849B-DE4F45E512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433" y="4073434"/>
            <a:ext cx="4027852" cy="247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41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401</Words>
  <Application>Microsoft Office PowerPoint</Application>
  <PresentationFormat>寬螢幕</PresentationFormat>
  <Paragraphs>39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Office 佈景主題</vt:lpstr>
      <vt:lpstr>A Fast Clustering Algorithm Based on Pruning Unnecessary Distance Computations in DBSCAN for High-Dimensional Data</vt:lpstr>
      <vt:lpstr>Abstract(1/2)</vt:lpstr>
      <vt:lpstr>Abstract(2/2)</vt:lpstr>
      <vt:lpstr>Some definitions</vt:lpstr>
      <vt:lpstr>Some definitions</vt:lpstr>
      <vt:lpstr>DBSCAN: MinPts=6</vt:lpstr>
      <vt:lpstr>DBSCAN</vt:lpstr>
      <vt:lpstr>NQ-DBSCAN</vt:lpstr>
      <vt:lpstr>NQ-DBSCAN</vt:lpstr>
      <vt:lpstr>NQ-DBSCAN</vt:lpstr>
      <vt:lpstr>NQ-DBSCAN</vt:lpstr>
      <vt:lpstr>NQ-DBSCAN</vt:lpstr>
      <vt:lpstr>NQ-DBSCAN</vt:lpstr>
      <vt:lpstr>Experiments</vt:lpstr>
      <vt:lpstr>Experiments</vt:lpstr>
      <vt:lpstr>Experiments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clustering algorithm based on pruning unnecessary distance computations in DBSCAN for high-dimensional data</dc:title>
  <dc:creator>冠霖</dc:creator>
  <cp:lastModifiedBy>冠霖</cp:lastModifiedBy>
  <cp:revision>30</cp:revision>
  <dcterms:created xsi:type="dcterms:W3CDTF">2019-01-17T06:47:00Z</dcterms:created>
  <dcterms:modified xsi:type="dcterms:W3CDTF">2019-01-21T22:49:34Z</dcterms:modified>
</cp:coreProperties>
</file>