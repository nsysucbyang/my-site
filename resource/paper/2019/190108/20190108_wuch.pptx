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327" r:id="rId4"/>
    <p:sldId id="338" r:id="rId5"/>
    <p:sldId id="339" r:id="rId6"/>
    <p:sldId id="325" r:id="rId7"/>
    <p:sldId id="326" r:id="rId8"/>
    <p:sldId id="329" r:id="rId9"/>
    <p:sldId id="335" r:id="rId10"/>
    <p:sldId id="337" r:id="rId11"/>
    <p:sldId id="336" r:id="rId1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67" autoAdjust="0"/>
    <p:restoredTop sz="95048" autoAdjust="0"/>
  </p:normalViewPr>
  <p:slideViewPr>
    <p:cSldViewPr snapToGrid="0">
      <p:cViewPr varScale="1">
        <p:scale>
          <a:sx n="70" d="100"/>
          <a:sy n="70" d="100"/>
        </p:scale>
        <p:origin x="32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2D822E-287D-49A6-BB7D-CFD94BDB4C78}" type="datetimeFigureOut">
              <a:rPr lang="zh-TW" altLang="en-US" smtClean="0"/>
              <a:t>2019/1/8</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C6E11E-5ACF-409F-8557-659632981D46}" type="slidenum">
              <a:rPr lang="zh-TW" altLang="en-US" smtClean="0"/>
              <a:t>‹#›</a:t>
            </a:fld>
            <a:endParaRPr lang="zh-TW" altLang="en-US"/>
          </a:p>
        </p:txBody>
      </p:sp>
    </p:spTree>
    <p:extLst>
      <p:ext uri="{BB962C8B-B14F-4D97-AF65-F5344CB8AC3E}">
        <p14:creationId xmlns:p14="http://schemas.microsoft.com/office/powerpoint/2010/main" val="3157977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1</a:t>
            </a:fld>
            <a:endParaRPr lang="zh-TW" altLang="en-US"/>
          </a:p>
        </p:txBody>
      </p:sp>
    </p:spTree>
    <p:extLst>
      <p:ext uri="{BB962C8B-B14F-4D97-AF65-F5344CB8AC3E}">
        <p14:creationId xmlns:p14="http://schemas.microsoft.com/office/powerpoint/2010/main" val="1932379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zh-TW" altLang="en-US" dirty="0"/>
                  <a:t>三角形</a:t>
                </a:r>
                <a:r>
                  <a:rPr lang="en-US" altLang="zh-TW" dirty="0"/>
                  <a:t>=WINDOW</a:t>
                </a:r>
                <a:r>
                  <a:rPr lang="zh-TW" altLang="en-US" dirty="0"/>
                  <a:t> </a:t>
                </a:r>
                <a:r>
                  <a:rPr lang="en-US" altLang="zh-TW" dirty="0"/>
                  <a:t>SIZE</a:t>
                </a:r>
                <a:r>
                  <a:rPr lang="zh-TW" altLang="en-US" dirty="0"/>
                  <a:t>，</a:t>
                </a:r>
                <a:r>
                  <a:rPr lang="en-US" altLang="zh-TW" dirty="0"/>
                  <a:t>&lt;&gt;</a:t>
                </a:r>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3</a:t>
            </a:fld>
            <a:endParaRPr lang="zh-TW" altLang="en-US"/>
          </a:p>
        </p:txBody>
      </p:sp>
    </p:spTree>
    <p:extLst>
      <p:ext uri="{BB962C8B-B14F-4D97-AF65-F5344CB8AC3E}">
        <p14:creationId xmlns:p14="http://schemas.microsoft.com/office/powerpoint/2010/main" val="3979152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4</a:t>
            </a:fld>
            <a:endParaRPr lang="zh-TW" altLang="en-US"/>
          </a:p>
        </p:txBody>
      </p:sp>
    </p:spTree>
    <p:extLst>
      <p:ext uri="{BB962C8B-B14F-4D97-AF65-F5344CB8AC3E}">
        <p14:creationId xmlns:p14="http://schemas.microsoft.com/office/powerpoint/2010/main" val="2661953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5</a:t>
            </a:fld>
            <a:endParaRPr lang="zh-TW" altLang="en-US"/>
          </a:p>
        </p:txBody>
      </p:sp>
    </p:spTree>
    <p:extLst>
      <p:ext uri="{BB962C8B-B14F-4D97-AF65-F5344CB8AC3E}">
        <p14:creationId xmlns:p14="http://schemas.microsoft.com/office/powerpoint/2010/main" val="40142023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6</a:t>
            </a:fld>
            <a:endParaRPr lang="zh-TW" altLang="en-US"/>
          </a:p>
        </p:txBody>
      </p:sp>
    </p:spTree>
    <p:extLst>
      <p:ext uri="{BB962C8B-B14F-4D97-AF65-F5344CB8AC3E}">
        <p14:creationId xmlns:p14="http://schemas.microsoft.com/office/powerpoint/2010/main" val="20818183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zh-TW" altLang="en-US" dirty="0"/>
                  <a:t>三角形</a:t>
                </a:r>
                <a:r>
                  <a:rPr lang="en-US" altLang="zh-TW" dirty="0"/>
                  <a:t>=WINDOW</a:t>
                </a:r>
                <a:r>
                  <a:rPr lang="zh-TW" altLang="en-US" dirty="0"/>
                  <a:t> </a:t>
                </a:r>
                <a:r>
                  <a:rPr lang="en-US" altLang="zh-TW" dirty="0"/>
                  <a:t>SIZE</a:t>
                </a:r>
                <a:r>
                  <a:rPr lang="zh-TW" altLang="en-US" dirty="0"/>
                  <a:t>，</a:t>
                </a:r>
                <a:r>
                  <a:rPr lang="en-US" altLang="zh-TW" dirty="0"/>
                  <a:t>&lt;&gt;</a:t>
                </a:r>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7</a:t>
            </a:fld>
            <a:endParaRPr lang="zh-TW" altLang="en-US"/>
          </a:p>
        </p:txBody>
      </p:sp>
    </p:spTree>
    <p:extLst>
      <p:ext uri="{BB962C8B-B14F-4D97-AF65-F5344CB8AC3E}">
        <p14:creationId xmlns:p14="http://schemas.microsoft.com/office/powerpoint/2010/main" val="2852860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8</a:t>
            </a:fld>
            <a:endParaRPr lang="zh-TW" altLang="en-US"/>
          </a:p>
        </p:txBody>
      </p:sp>
    </p:spTree>
    <p:extLst>
      <p:ext uri="{BB962C8B-B14F-4D97-AF65-F5344CB8AC3E}">
        <p14:creationId xmlns:p14="http://schemas.microsoft.com/office/powerpoint/2010/main" val="3372789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zh-TW" altLang="en-US" dirty="0"/>
                  <a:t>三角形</a:t>
                </a:r>
                <a:r>
                  <a:rPr lang="en-US" altLang="zh-TW" dirty="0"/>
                  <a:t>=WINDOW</a:t>
                </a:r>
                <a:r>
                  <a:rPr lang="zh-TW" altLang="en-US" dirty="0"/>
                  <a:t> </a:t>
                </a:r>
                <a:r>
                  <a:rPr lang="en-US" altLang="zh-TW" dirty="0"/>
                  <a:t>SIZE</a:t>
                </a:r>
                <a:r>
                  <a:rPr lang="zh-TW" altLang="en-US" dirty="0"/>
                  <a:t>，</a:t>
                </a:r>
                <a:r>
                  <a:rPr lang="en-US" altLang="zh-TW" dirty="0"/>
                  <a:t>&lt;&gt;</a:t>
                </a:r>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9</a:t>
            </a:fld>
            <a:endParaRPr lang="zh-TW" altLang="en-US"/>
          </a:p>
        </p:txBody>
      </p:sp>
    </p:spTree>
    <p:extLst>
      <p:ext uri="{BB962C8B-B14F-4D97-AF65-F5344CB8AC3E}">
        <p14:creationId xmlns:p14="http://schemas.microsoft.com/office/powerpoint/2010/main" val="42678022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zh-TW" altLang="en-US" dirty="0"/>
                  <a:t>三角形</a:t>
                </a:r>
                <a:r>
                  <a:rPr lang="en-US" altLang="zh-TW" dirty="0"/>
                  <a:t>=WINDOW</a:t>
                </a:r>
                <a:r>
                  <a:rPr lang="zh-TW" altLang="en-US" dirty="0"/>
                  <a:t> </a:t>
                </a:r>
                <a:r>
                  <a:rPr lang="en-US" altLang="zh-TW" dirty="0"/>
                  <a:t>SIZE</a:t>
                </a:r>
                <a:r>
                  <a:rPr lang="zh-TW" altLang="en-US" dirty="0"/>
                  <a:t>，</a:t>
                </a:r>
                <a:r>
                  <a:rPr lang="en-US" altLang="zh-TW" dirty="0"/>
                  <a:t>&lt;&gt;</a:t>
                </a:r>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10</a:t>
            </a:fld>
            <a:endParaRPr lang="zh-TW" altLang="en-US"/>
          </a:p>
        </p:txBody>
      </p:sp>
    </p:spTree>
    <p:extLst>
      <p:ext uri="{BB962C8B-B14F-4D97-AF65-F5344CB8AC3E}">
        <p14:creationId xmlns:p14="http://schemas.microsoft.com/office/powerpoint/2010/main" val="36902288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685800" y="1143000"/>
            <a:ext cx="5486400" cy="3086100"/>
          </a:xfrm>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zh-TW" altLang="en-US" dirty="0"/>
                  <a:t>三角形</a:t>
                </a:r>
                <a:r>
                  <a:rPr lang="en-US" altLang="zh-TW" dirty="0"/>
                  <a:t>=WINDOW</a:t>
                </a:r>
                <a:r>
                  <a:rPr lang="zh-TW" altLang="en-US" dirty="0"/>
                  <a:t> </a:t>
                </a:r>
                <a:r>
                  <a:rPr lang="en-US" altLang="zh-TW" dirty="0"/>
                  <a:t>SIZE</a:t>
                </a:r>
                <a:r>
                  <a:rPr lang="zh-TW" altLang="en-US" dirty="0"/>
                  <a:t>，</a:t>
                </a:r>
                <a:r>
                  <a:rPr lang="en-US" altLang="zh-TW" dirty="0"/>
                  <a:t>&lt;&gt;</a:t>
                </a:r>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11</a:t>
            </a:fld>
            <a:endParaRPr lang="zh-TW" altLang="en-US"/>
          </a:p>
        </p:txBody>
      </p:sp>
    </p:spTree>
    <p:extLst>
      <p:ext uri="{BB962C8B-B14F-4D97-AF65-F5344CB8AC3E}">
        <p14:creationId xmlns:p14="http://schemas.microsoft.com/office/powerpoint/2010/main" val="25453241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2019/1/8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922107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2019/1/8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490957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1" y="1709740"/>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2019/1/8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290611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2019/1/8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306913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7"/>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9"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1"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5E5C1F2B-1D51-40D0-A135-9C9D0A35B8E2}" type="datetimeFigureOut">
              <a:rPr lang="zh-TW" altLang="en-US" smtClean="0"/>
              <a:t>2019/1/8</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336473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5E5C1F2B-1D51-40D0-A135-9C9D0A35B8E2}" type="datetimeFigureOut">
              <a:rPr lang="zh-TW" altLang="en-US" smtClean="0"/>
              <a:t>2019/1/8</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793976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E5C1F2B-1D51-40D0-A135-9C9D0A35B8E2}" type="datetimeFigureOut">
              <a:rPr lang="zh-TW" altLang="en-US" smtClean="0"/>
              <a:t>2019/1/8</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1401091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2019/1/8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406270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2019/1/8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378141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2019/1/8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1789388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1"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1"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2019/1/8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233407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5C1F2B-1D51-40D0-A135-9C9D0A35B8E2}" type="datetimeFigureOut">
              <a:rPr lang="zh-TW" altLang="en-US" smtClean="0"/>
              <a:t>2019/1/8</a:t>
            </a:fld>
            <a:endParaRPr lang="zh-TW" altLang="en-US"/>
          </a:p>
        </p:txBody>
      </p:sp>
      <p:sp>
        <p:nvSpPr>
          <p:cNvPr id="5" name="頁尾版面配置區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4001110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793749" y="449565"/>
            <a:ext cx="10604501" cy="2902356"/>
          </a:xfrm>
        </p:spPr>
        <p:txBody>
          <a:bodyPr>
            <a:noAutofit/>
          </a:bodyPr>
          <a:lstStyle/>
          <a:p>
            <a:r>
              <a:rPr lang="en-US" altLang="zh-TW" sz="4800" b="1" dirty="0">
                <a:latin typeface="Times New Roman" panose="02020603050405020304" pitchFamily="18" charset="0"/>
                <a:cs typeface="Times New Roman" panose="02020603050405020304" pitchFamily="18" charset="0"/>
              </a:rPr>
              <a:t>A generalized financial time series forecasting model based on automatic feature engineering using genetic algorithms and support vector machine</a:t>
            </a:r>
            <a:endParaRPr lang="zh-TW" altLang="en-US" sz="4800" b="1"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1871133" y="3669771"/>
            <a:ext cx="8449735" cy="2719740"/>
          </a:xfrm>
        </p:spPr>
        <p:txBody>
          <a:bodyPr>
            <a:normAutofit/>
          </a:bodyPr>
          <a:lstStyle/>
          <a:p>
            <a:r>
              <a:rPr lang="en-US" altLang="zh-TW" dirty="0">
                <a:latin typeface="Times New Roman" panose="02020603050405020304" pitchFamily="18" charset="0"/>
                <a:cs typeface="Times New Roman" panose="02020603050405020304" pitchFamily="18" charset="0"/>
              </a:rPr>
              <a:t>Norberto </a:t>
            </a:r>
            <a:r>
              <a:rPr lang="en-US" altLang="zh-TW" dirty="0" err="1">
                <a:latin typeface="Times New Roman" panose="02020603050405020304" pitchFamily="18" charset="0"/>
                <a:cs typeface="Times New Roman" panose="02020603050405020304" pitchFamily="18" charset="0"/>
              </a:rPr>
              <a:t>Ritzmann</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Júnior</a:t>
            </a:r>
            <a:r>
              <a:rPr lang="en-US" altLang="zh-TW" dirty="0">
                <a:latin typeface="Times New Roman" panose="02020603050405020304" pitchFamily="18" charset="0"/>
                <a:cs typeface="Times New Roman" panose="02020603050405020304" pitchFamily="18" charset="0"/>
              </a:rPr>
              <a:t> and Julio Cesar </a:t>
            </a:r>
            <a:r>
              <a:rPr lang="en-US" altLang="zh-TW" dirty="0" err="1">
                <a:latin typeface="Times New Roman" panose="02020603050405020304" pitchFamily="18" charset="0"/>
                <a:cs typeface="Times New Roman" panose="02020603050405020304" pitchFamily="18" charset="0"/>
              </a:rPr>
              <a:t>Nievola</a:t>
            </a:r>
            <a:endParaRPr lang="en-US" altLang="zh-TW" dirty="0">
              <a:latin typeface="Times New Roman" panose="02020603050405020304" pitchFamily="18" charset="0"/>
              <a:cs typeface="Times New Roman" panose="02020603050405020304" pitchFamily="18" charset="0"/>
            </a:endParaRPr>
          </a:p>
          <a:p>
            <a:r>
              <a:rPr lang="en-US" altLang="zh-TW">
                <a:latin typeface="Times New Roman" panose="02020603050405020304" pitchFamily="18" charset="0"/>
                <a:cs typeface="Times New Roman" panose="02020603050405020304" pitchFamily="18" charset="0"/>
              </a:rPr>
              <a:t> </a:t>
            </a:r>
            <a:r>
              <a:rPr lang="en-US" altLang="zh-TW" smtClean="0">
                <a:latin typeface="Times New Roman" panose="02020603050405020304" pitchFamily="18" charset="0"/>
                <a:cs typeface="Times New Roman" panose="02020603050405020304" pitchFamily="18" charset="0"/>
              </a:rPr>
              <a:t>arXiv:1809.06775, 18 Sept, 2018</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Presenter: Cheng-Han Wu</a:t>
            </a:r>
          </a:p>
          <a:p>
            <a:r>
              <a:rPr lang="en-US" altLang="zh-TW" dirty="0">
                <a:latin typeface="Times New Roman" panose="02020603050405020304" pitchFamily="18" charset="0"/>
                <a:cs typeface="Times New Roman" panose="02020603050405020304" pitchFamily="18" charset="0"/>
              </a:rPr>
              <a:t>Date:2019/1/8</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5684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1" y="1825626"/>
            <a:ext cx="10515600" cy="4595055"/>
          </a:xfrm>
        </p:spPr>
        <p:txBody>
          <a:bodyPr>
            <a:normAutofit/>
          </a:bodyPr>
          <a:lstStyle/>
          <a:p>
            <a:pPr marL="0" indent="0" algn="just">
              <a:buNone/>
            </a:pPr>
            <a:r>
              <a:rPr lang="en-US" altLang="zh-TW" dirty="0">
                <a:latin typeface="Times New Roman" panose="02020603050405020304" pitchFamily="18" charset="0"/>
                <a:cs typeface="Times New Roman" panose="02020603050405020304" pitchFamily="18" charset="0"/>
              </a:rPr>
              <a:t>We propose the genetic algorithm for time window optimization, which is an embedded genetic algorithm (GA), to optimize the time window (TW) of the attributes using feature selection and support vector machine. This GA is evolved using the results of a trading simulation, and it determines the best TW for each technical indicator. An appropriate evaluation was conducted using a walk-forward trading simulation, and the trained model was verified to be generalizable for forecasting other stock data. The results show that using the GA to determine the TW can improve the rate of return, leading to better prediction models than those resulting from using the default TW.</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8666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Evaluation</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1825625"/>
                <a:ext cx="10515600" cy="4351339"/>
              </a:xfrm>
            </p:spPr>
            <p:txBody>
              <a:bodyPr>
                <a:normAutofit fontScale="92500"/>
              </a:bodyPr>
              <a:lstStyle/>
              <a:p>
                <a:r>
                  <a:rPr lang="en-US" altLang="zh-TW" dirty="0">
                    <a:latin typeface="Times New Roman" panose="02020603050405020304" pitchFamily="18" charset="0"/>
                    <a:cs typeface="Times New Roman" panose="02020603050405020304" pitchFamily="18" charset="0"/>
                  </a:rPr>
                  <a:t>Total profit </a:t>
                </a: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𝑇𝑃</m:t>
                      </m:r>
                      <m:d>
                        <m:d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𝑥</m:t>
                          </m:r>
                        </m:e>
                      </m:d>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nary>
                        <m:naryPr>
                          <m:chr m:val="∑"/>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naryPr>
                        <m:sub>
                          <m:r>
                            <m:rPr>
                              <m:brk m:alnAt="23"/>
                            </m:r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=0</m:t>
                          </m:r>
                        </m:sub>
                        <m:sup>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𝑁𝑆</m:t>
                          </m:r>
                        </m:sup>
                        <m:e>
                          <m:d>
                            <m:dPr>
                              <m:begChr m:val="["/>
                              <m:endChr m:val="]"/>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𝐴</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𝑠𝑒𝑙𝑙</m:t>
                                  </m:r>
                                  <m:d>
                                    <m:d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𝑡</m:t>
                                      </m:r>
                                    </m:e>
                                  </m:d>
                                </m:sub>
                              </m:s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𝑃</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𝑠𝑒𝑙𝑙</m:t>
                                  </m:r>
                                  <m:d>
                                    <m:d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𝑡</m:t>
                                      </m:r>
                                    </m:e>
                                  </m:d>
                                </m:sub>
                              </m:s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𝐴</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𝑏𝑢𝑦</m:t>
                                  </m:r>
                                </m:sub>
                              </m:s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𝑃</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𝑏𝑢𝑦</m:t>
                                  </m:r>
                                </m:sub>
                              </m:sSub>
                            </m:e>
                          </m:d>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𝑁𝑇</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𝑡𝑐𝑜𝑠𝑡</m:t>
                          </m:r>
                        </m:e>
                      </m:nary>
                    </m:oMath>
                  </m:oMathPara>
                </a14:m>
                <a:endParaRPr lang="en-US" altLang="zh-TW"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𝑁𝑆</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altLang="zh-TW" b="0" i="0" smtClean="0">
                          <a:latin typeface="Cambria Math" panose="02040503050406030204" pitchFamily="18" charset="0"/>
                          <a:ea typeface="Cambria Math" panose="02040503050406030204" pitchFamily="18" charset="0"/>
                          <a:cs typeface="Times New Roman" panose="02020603050405020304" pitchFamily="18" charset="0"/>
                        </a:rPr>
                        <m:t>number</m:t>
                      </m:r>
                      <m:r>
                        <a:rPr lang="en-US" altLang="zh-TW" b="0" i="0" smtClean="0">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ea typeface="Cambria Math" panose="02040503050406030204" pitchFamily="18" charset="0"/>
                          <a:cs typeface="Times New Roman" panose="02020603050405020304" pitchFamily="18" charset="0"/>
                        </a:rPr>
                        <m:t>of</m:t>
                      </m:r>
                      <m:r>
                        <a:rPr lang="en-US" altLang="zh-TW" b="0" i="0" smtClean="0">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ea typeface="Cambria Math" panose="02040503050406030204" pitchFamily="18" charset="0"/>
                          <a:cs typeface="Times New Roman" panose="02020603050405020304" pitchFamily="18" charset="0"/>
                        </a:rPr>
                        <m:t>sales</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𝑁𝑇</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altLang="zh-TW" b="0" i="0" smtClean="0">
                          <a:latin typeface="Cambria Math" panose="02040503050406030204" pitchFamily="18" charset="0"/>
                          <a:ea typeface="Cambria Math" panose="02040503050406030204" pitchFamily="18" charset="0"/>
                          <a:cs typeface="Times New Roman" panose="02020603050405020304" pitchFamily="18" charset="0"/>
                        </a:rPr>
                        <m:t>number</m:t>
                      </m:r>
                      <m:r>
                        <a:rPr lang="en-US" altLang="zh-TW" b="0" i="0" smtClean="0">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ea typeface="Cambria Math" panose="02040503050406030204" pitchFamily="18" charset="0"/>
                          <a:cs typeface="Times New Roman" panose="02020603050405020304" pitchFamily="18" charset="0"/>
                        </a:rPr>
                        <m:t>of</m:t>
                      </m:r>
                      <m:r>
                        <a:rPr lang="en-US" altLang="zh-TW" b="0" i="0" smtClean="0">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ltLang="zh-TW" b="0" i="0" smtClean="0">
                          <a:latin typeface="Cambria Math" panose="02040503050406030204" pitchFamily="18" charset="0"/>
                          <a:ea typeface="Cambria Math" panose="02040503050406030204" pitchFamily="18" charset="0"/>
                          <a:cs typeface="Times New Roman" panose="02020603050405020304" pitchFamily="18" charset="0"/>
                        </a:rPr>
                        <m:t>transaction</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 </m:t>
                      </m:r>
                      <m:r>
                        <a:rPr lang="en-US" altLang="zh-TW" i="1">
                          <a:latin typeface="Cambria Math" panose="02040503050406030204" pitchFamily="18" charset="0"/>
                          <a:ea typeface="Cambria Math" panose="02040503050406030204" pitchFamily="18" charset="0"/>
                          <a:cs typeface="Times New Roman" panose="02020603050405020304" pitchFamily="18" charset="0"/>
                        </a:rPr>
                        <m:t>𝑡𝑐𝑜𝑠𝑡</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=5.00</m:t>
                      </m:r>
                    </m:oMath>
                  </m:oMathPara>
                </a14:m>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Rate of return</a:t>
                </a: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cs typeface="Times New Roman" panose="02020603050405020304" pitchFamily="18" charset="0"/>
                        </a:rPr>
                        <m:t>𝑅𝑅</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𝑥</m:t>
                          </m:r>
                        </m:e>
                      </m:d>
                      <m:r>
                        <a:rPr lang="en-US" altLang="zh-TW" b="0" i="1" smtClean="0">
                          <a:latin typeface="Cambria Math" panose="02040503050406030204" pitchFamily="18" charset="0"/>
                          <a:cs typeface="Times New Roman" panose="02020603050405020304" pitchFamily="18" charset="0"/>
                        </a:rPr>
                        <m:t>=</m:t>
                      </m:r>
                      <m:f>
                        <m:fPr>
                          <m:ctrlPr>
                            <a:rPr lang="en-US" altLang="zh-TW" b="0" i="1" smtClean="0">
                              <a:latin typeface="Cambria Math" panose="02040503050406030204" pitchFamily="18" charset="0"/>
                              <a:cs typeface="Times New Roman" panose="02020603050405020304" pitchFamily="18" charset="0"/>
                            </a:rPr>
                          </m:ctrlPr>
                        </m:fPr>
                        <m:num>
                          <m:r>
                            <a:rPr lang="en-US" altLang="zh-TW" b="0" i="1" smtClean="0">
                              <a:latin typeface="Cambria Math" panose="02040503050406030204" pitchFamily="18" charset="0"/>
                              <a:cs typeface="Times New Roman" panose="02020603050405020304" pitchFamily="18" charset="0"/>
                            </a:rPr>
                            <m:t>𝑇𝑃</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𝑥</m:t>
                          </m:r>
                          <m:r>
                            <a:rPr lang="en-US" altLang="zh-TW" b="0" i="1" smtClean="0">
                              <a:latin typeface="Cambria Math" panose="02040503050406030204" pitchFamily="18" charset="0"/>
                              <a:cs typeface="Times New Roman" panose="02020603050405020304" pitchFamily="18" charset="0"/>
                            </a:rPr>
                            <m:t>)</m:t>
                          </m:r>
                        </m:num>
                        <m:den>
                          <m:r>
                            <a:rPr lang="en-US" altLang="zh-TW" b="0" i="1" smtClean="0">
                              <a:latin typeface="Cambria Math" panose="02040503050406030204" pitchFamily="18" charset="0"/>
                              <a:cs typeface="Times New Roman" panose="02020603050405020304" pitchFamily="18" charset="0"/>
                            </a:rPr>
                            <m:t>𝐼𝑛𝑣</m:t>
                          </m:r>
                        </m:den>
                      </m:f>
                      <m:r>
                        <a:rPr lang="en-US" altLang="zh-TW" b="0" i="1" smtClean="0">
                          <a:latin typeface="Cambria Math" panose="02040503050406030204" pitchFamily="18" charset="0"/>
                          <a:cs typeface="Times New Roman" panose="02020603050405020304" pitchFamily="18" charset="0"/>
                        </a:rPr>
                        <m:t>∗100</m:t>
                      </m:r>
                    </m:oMath>
                  </m:oMathPara>
                </a14:m>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Maximum drawdown (MDD)</a:t>
                </a: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cs typeface="Times New Roman" panose="02020603050405020304" pitchFamily="18" charset="0"/>
                        </a:rPr>
                        <m:t>𝑀𝐷𝐷</m:t>
                      </m:r>
                      <m:r>
                        <a:rPr lang="en-US" altLang="zh-TW" b="0" i="1" smtClean="0">
                          <a:latin typeface="Cambria Math" panose="02040503050406030204" pitchFamily="18" charset="0"/>
                          <a:cs typeface="Times New Roman" panose="02020603050405020304" pitchFamily="18" charset="0"/>
                        </a:rPr>
                        <m:t>=</m:t>
                      </m:r>
                      <m:r>
                        <m:rPr>
                          <m:sty m:val="p"/>
                        </m:rPr>
                        <a:rPr lang="en-US" altLang="zh-TW" b="0" i="0" smtClean="0">
                          <a:latin typeface="Cambria Math" panose="02040503050406030204" pitchFamily="18" charset="0"/>
                          <a:cs typeface="Times New Roman" panose="02020603050405020304" pitchFamily="18" charset="0"/>
                        </a:rPr>
                        <m:t>min</m:t>
                      </m:r>
                      <m:r>
                        <a:rPr lang="en-US" altLang="zh-TW" b="0" i="1" smtClean="0">
                          <a:latin typeface="Cambria Math" panose="02040503050406030204" pitchFamily="18" charset="0"/>
                          <a:cs typeface="Times New Roman" panose="02020603050405020304" pitchFamily="18" charset="0"/>
                        </a:rPr>
                        <m:t>⁡(</m:t>
                      </m:r>
                      <m:f>
                        <m:fPr>
                          <m:ctrlPr>
                            <a:rPr lang="en-US" altLang="zh-TW" b="0" i="1" smtClean="0">
                              <a:latin typeface="Cambria Math" panose="02040503050406030204" pitchFamily="18" charset="0"/>
                              <a:cs typeface="Times New Roman" panose="02020603050405020304" pitchFamily="18" charset="0"/>
                            </a:rPr>
                          </m:ctrlPr>
                        </m:fPr>
                        <m:num>
                          <m:r>
                            <a:rPr lang="en-US" altLang="zh-TW" b="0" i="1" smtClean="0">
                              <a:latin typeface="Cambria Math" panose="02040503050406030204" pitchFamily="18" charset="0"/>
                              <a:cs typeface="Times New Roman" panose="02020603050405020304" pitchFamily="18" charset="0"/>
                            </a:rPr>
                            <m:t>𝑎𝑐𝑐𝑢𝑚𝑢𝑙𝑎𝑡𝑒𝑑</m:t>
                          </m:r>
                          <m:r>
                            <a:rPr lang="en-US" altLang="zh-TW" b="0" i="1" smtClean="0">
                              <a:latin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cs typeface="Times New Roman" panose="02020603050405020304" pitchFamily="18" charset="0"/>
                            </a:rPr>
                            <m:t>𝑝𝑟𝑜𝑓𝑖𝑡</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𝑥</m:t>
                          </m:r>
                          <m:r>
                            <a:rPr lang="en-US" altLang="zh-TW" b="0" i="1" smtClean="0">
                              <a:latin typeface="Cambria Math" panose="02040503050406030204" pitchFamily="18" charset="0"/>
                              <a:cs typeface="Times New Roman" panose="02020603050405020304" pitchFamily="18" charset="0"/>
                            </a:rPr>
                            <m:t>)</m:t>
                          </m:r>
                        </m:num>
                        <m:den>
                          <m:func>
                            <m:funcPr>
                              <m:ctrlPr>
                                <a:rPr lang="en-US" altLang="zh-TW" b="0" i="1" smtClean="0">
                                  <a:latin typeface="Cambria Math" panose="02040503050406030204" pitchFamily="18" charset="0"/>
                                  <a:cs typeface="Times New Roman" panose="02020603050405020304" pitchFamily="18" charset="0"/>
                                </a:rPr>
                              </m:ctrlPr>
                            </m:funcPr>
                            <m:fName>
                              <m:r>
                                <m:rPr>
                                  <m:sty m:val="p"/>
                                </m:rPr>
                                <a:rPr lang="en-US" altLang="zh-TW" b="0" i="0" smtClean="0">
                                  <a:latin typeface="Cambria Math" panose="02040503050406030204" pitchFamily="18" charset="0"/>
                                  <a:cs typeface="Times New Roman" panose="02020603050405020304" pitchFamily="18" charset="0"/>
                                </a:rPr>
                                <m:t>max</m:t>
                              </m:r>
                            </m:fName>
                            <m:e>
                              <m:d>
                                <m:dPr>
                                  <m:ctrlPr>
                                    <a:rPr lang="en-US" altLang="zh-TW" b="0" i="1" smtClean="0">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𝑎𝑐𝑐𝑢𝑚𝑢𝑙𝑎𝑡𝑒𝑑</m:t>
                                  </m:r>
                                  <m:r>
                                    <a:rPr lang="en-US" altLang="zh-TW" i="1">
                                      <a:latin typeface="Cambria Math" panose="02040503050406030204" pitchFamily="18" charset="0"/>
                                      <a:cs typeface="Times New Roman" panose="02020603050405020304" pitchFamily="18" charset="0"/>
                                    </a:rPr>
                                    <m:t> </m:t>
                                  </m:r>
                                  <m:r>
                                    <a:rPr lang="en-US" altLang="zh-TW" i="1">
                                      <a:latin typeface="Cambria Math" panose="02040503050406030204" pitchFamily="18" charset="0"/>
                                      <a:cs typeface="Times New Roman" panose="02020603050405020304" pitchFamily="18" charset="0"/>
                                    </a:rPr>
                                    <m:t>𝑝𝑟𝑜𝑓𝑖𝑡</m:t>
                                  </m:r>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𝑥</m:t>
                                      </m:r>
                                    </m:e>
                                  </m:d>
                                </m:e>
                              </m:d>
                            </m:e>
                          </m:func>
                          <m:r>
                            <a:rPr lang="en-US" altLang="zh-TW" b="0" i="1" smtClean="0">
                              <a:latin typeface="Cambria Math" panose="02040503050406030204" pitchFamily="18" charset="0"/>
                              <a:cs typeface="Times New Roman" panose="02020603050405020304" pitchFamily="18" charset="0"/>
                            </a:rPr>
                            <m:t>−1</m:t>
                          </m:r>
                        </m:den>
                      </m:f>
                      <m:r>
                        <a:rPr lang="en-US" altLang="zh-TW" b="0" i="1" smtClean="0">
                          <a:latin typeface="Cambria Math" panose="02040503050406030204" pitchFamily="18" charset="0"/>
                          <a:cs typeface="Times New Roman" panose="02020603050405020304" pitchFamily="18" charset="0"/>
                        </a:rPr>
                        <m:t>)</m:t>
                      </m:r>
                    </m:oMath>
                  </m:oMathPara>
                </a14:m>
                <a:endParaRPr lang="en-US" altLang="zh-TW"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1825625"/>
                <a:ext cx="10515600" cy="4351339"/>
              </a:xfrm>
              <a:blipFill>
                <a:blip r:embed="rId3"/>
                <a:stretch>
                  <a:fillRect l="-928" t="-210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5973562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Data (2000/1/1~2004/12/31)</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825625"/>
            <a:ext cx="10515600" cy="4351339"/>
          </a:xfrm>
        </p:spPr>
        <p:txBody>
          <a:bodyPr/>
          <a:lstStyle/>
          <a:p>
            <a:r>
              <a:rPr lang="en-US" altLang="zh-TW" dirty="0">
                <a:latin typeface="Times New Roman" panose="02020603050405020304" pitchFamily="18" charset="0"/>
                <a:cs typeface="Times New Roman" panose="02020603050405020304" pitchFamily="18" charset="0"/>
              </a:rPr>
              <a:t>Microsoft (MSFT)</a:t>
            </a:r>
          </a:p>
          <a:p>
            <a:r>
              <a:rPr lang="en-US" altLang="zh-TW" dirty="0">
                <a:latin typeface="Times New Roman" panose="02020603050405020304" pitchFamily="18" charset="0"/>
                <a:cs typeface="Times New Roman" panose="02020603050405020304" pitchFamily="18" charset="0"/>
              </a:rPr>
              <a:t>Nike (NKE)</a:t>
            </a:r>
          </a:p>
          <a:p>
            <a:r>
              <a:rPr lang="en-US" altLang="zh-TW" dirty="0">
                <a:latin typeface="Times New Roman" panose="02020603050405020304" pitchFamily="18" charset="0"/>
                <a:cs typeface="Times New Roman" panose="02020603050405020304" pitchFamily="18" charset="0"/>
              </a:rPr>
              <a:t>Goldman Sacks </a:t>
            </a:r>
            <a:r>
              <a:rPr lang="zh-TW" altLang="en-US" dirty="0">
                <a:latin typeface="Times New Roman" panose="02020603050405020304" pitchFamily="18" charset="0"/>
                <a:cs typeface="Times New Roman" panose="02020603050405020304" pitchFamily="18" charset="0"/>
              </a:rPr>
              <a:t>高盛</a:t>
            </a:r>
            <a:r>
              <a:rPr lang="en-US" altLang="zh-TW" dirty="0">
                <a:latin typeface="Times New Roman" panose="02020603050405020304" pitchFamily="18" charset="0"/>
                <a:cs typeface="Times New Roman" panose="02020603050405020304" pitchFamily="18" charset="0"/>
              </a:rPr>
              <a:t>(GS)</a:t>
            </a:r>
          </a:p>
          <a:p>
            <a:r>
              <a:rPr lang="en-US" altLang="zh-TW" dirty="0">
                <a:latin typeface="Times New Roman" panose="02020603050405020304" pitchFamily="18" charset="0"/>
                <a:cs typeface="Times New Roman" panose="02020603050405020304" pitchFamily="18" charset="0"/>
              </a:rPr>
              <a:t>Intel (INTC)</a:t>
            </a: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57769" y="1599846"/>
            <a:ext cx="4971429" cy="5032375"/>
          </a:xfrm>
          <a:prstGeom prst="rect">
            <a:avLst/>
          </a:prstGeom>
        </p:spPr>
      </p:pic>
    </p:spTree>
    <p:extLst>
      <p:ext uri="{BB962C8B-B14F-4D97-AF65-F5344CB8AC3E}">
        <p14:creationId xmlns:p14="http://schemas.microsoft.com/office/powerpoint/2010/main" val="1159306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Genetic algorithm</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910167" y="1876425"/>
            <a:ext cx="10515600" cy="4351339"/>
          </a:xfrm>
        </p:spPr>
        <p:txBody>
          <a:bodyPr/>
          <a:lstStyle/>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               crossover</a:t>
            </a:r>
          </a:p>
          <a:p>
            <a:pPr marL="0" indent="0">
              <a:buNone/>
            </a:pPr>
            <a:r>
              <a:rPr lang="en-US" altLang="zh-TW" dirty="0">
                <a:latin typeface="Times New Roman" panose="02020603050405020304" pitchFamily="18" charset="0"/>
                <a:cs typeface="Times New Roman" panose="02020603050405020304" pitchFamily="18" charset="0"/>
              </a:rPr>
              <a:t>               </a:t>
            </a:r>
          </a:p>
          <a:p>
            <a:pPr marL="0" indent="0">
              <a:buNone/>
            </a:pPr>
            <a:r>
              <a:rPr lang="en-US" altLang="zh-TW" dirty="0">
                <a:latin typeface="Times New Roman" panose="02020603050405020304" pitchFamily="18" charset="0"/>
                <a:cs typeface="Times New Roman" panose="02020603050405020304" pitchFamily="18" charset="0"/>
              </a:rPr>
              <a:t>               mutation</a:t>
            </a: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                fitness                    good or </a:t>
            </a:r>
            <a:r>
              <a:rPr lang="en-US" altLang="zh-TW">
                <a:latin typeface="Times New Roman" panose="02020603050405020304" pitchFamily="18" charset="0"/>
                <a:cs typeface="Times New Roman" panose="02020603050405020304" pitchFamily="18" charset="0"/>
              </a:rPr>
              <a:t>bad?</a:t>
            </a:r>
            <a:endParaRPr lang="en-US" altLang="zh-TW" dirty="0">
              <a:latin typeface="Times New Roman" panose="02020603050405020304" pitchFamily="18" charset="0"/>
              <a:cs typeface="Times New Roman" panose="02020603050405020304" pitchFamily="18" charset="0"/>
            </a:endParaRPr>
          </a:p>
        </p:txBody>
      </p:sp>
      <p:sp>
        <p:nvSpPr>
          <p:cNvPr id="4" name="矩形 3">
            <a:extLst>
              <a:ext uri="{FF2B5EF4-FFF2-40B4-BE49-F238E27FC236}">
                <a16:creationId xmlns:a16="http://schemas.microsoft.com/office/drawing/2014/main" xmlns="" id="{0D97CC68-D14A-4EB5-AE19-1C97C846F927}"/>
              </a:ext>
            </a:extLst>
          </p:cNvPr>
          <p:cNvSpPr/>
          <p:nvPr/>
        </p:nvSpPr>
        <p:spPr>
          <a:xfrm>
            <a:off x="2772834" y="1926166"/>
            <a:ext cx="3090333" cy="347133"/>
          </a:xfrm>
          <a:prstGeom prst="rect">
            <a:avLst/>
          </a:prstGeom>
          <a:solidFill>
            <a:srgbClr val="FF000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xmlns="" id="{62BDDF2A-120E-4269-A5AD-4D466CA467F9}"/>
              </a:ext>
            </a:extLst>
          </p:cNvPr>
          <p:cNvSpPr/>
          <p:nvPr/>
        </p:nvSpPr>
        <p:spPr>
          <a:xfrm>
            <a:off x="6096000" y="1926165"/>
            <a:ext cx="3090333" cy="347133"/>
          </a:xfrm>
          <a:prstGeom prst="rect">
            <a:avLst/>
          </a:prstGeom>
          <a:solidFill>
            <a:schemeClr val="accent6">
              <a:lumMod val="60000"/>
              <a:lumOff val="4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xmlns="" id="{8E551128-40FC-49CE-A0A7-944A1760B2D9}"/>
              </a:ext>
            </a:extLst>
          </p:cNvPr>
          <p:cNvSpPr/>
          <p:nvPr/>
        </p:nvSpPr>
        <p:spPr>
          <a:xfrm>
            <a:off x="4474634" y="2932641"/>
            <a:ext cx="3090333" cy="347133"/>
          </a:xfrm>
          <a:prstGeom prst="rect">
            <a:avLst/>
          </a:prstGeom>
          <a:solidFill>
            <a:srgbClr val="FF000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dirty="0"/>
          </a:p>
        </p:txBody>
      </p:sp>
      <p:sp>
        <p:nvSpPr>
          <p:cNvPr id="8" name="矩形 7">
            <a:extLst>
              <a:ext uri="{FF2B5EF4-FFF2-40B4-BE49-F238E27FC236}">
                <a16:creationId xmlns:a16="http://schemas.microsoft.com/office/drawing/2014/main" xmlns="" id="{CDC5ED35-6A0D-4B5D-92B6-C28D4725A866}"/>
              </a:ext>
            </a:extLst>
          </p:cNvPr>
          <p:cNvSpPr/>
          <p:nvPr/>
        </p:nvSpPr>
        <p:spPr>
          <a:xfrm>
            <a:off x="5314950" y="2932640"/>
            <a:ext cx="1265766" cy="347133"/>
          </a:xfrm>
          <a:prstGeom prst="rect">
            <a:avLst/>
          </a:prstGeom>
          <a:solidFill>
            <a:schemeClr val="accent6">
              <a:lumMod val="60000"/>
              <a:lumOff val="4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xmlns="" id="{08047CAF-66D0-4C76-A373-1BFAA547D766}"/>
              </a:ext>
            </a:extLst>
          </p:cNvPr>
          <p:cNvSpPr/>
          <p:nvPr/>
        </p:nvSpPr>
        <p:spPr>
          <a:xfrm>
            <a:off x="4578350" y="2932640"/>
            <a:ext cx="239183" cy="347133"/>
          </a:xfrm>
          <a:prstGeom prst="rect">
            <a:avLst/>
          </a:prstGeom>
          <a:solidFill>
            <a:schemeClr val="accent6">
              <a:lumMod val="60000"/>
              <a:lumOff val="4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10" name="文字方塊 9">
            <a:extLst>
              <a:ext uri="{FF2B5EF4-FFF2-40B4-BE49-F238E27FC236}">
                <a16:creationId xmlns:a16="http://schemas.microsoft.com/office/drawing/2014/main" xmlns="" id="{7DBDCFC2-6E87-47F3-BCB2-3C77C9A3DBCE}"/>
              </a:ext>
            </a:extLst>
          </p:cNvPr>
          <p:cNvSpPr txBox="1"/>
          <p:nvPr/>
        </p:nvSpPr>
        <p:spPr>
          <a:xfrm>
            <a:off x="4127501" y="1583267"/>
            <a:ext cx="347134" cy="369332"/>
          </a:xfrm>
          <a:prstGeom prst="rect">
            <a:avLst/>
          </a:prstGeom>
          <a:noFill/>
        </p:spPr>
        <p:txBody>
          <a:bodyPr wrap="square" rtlCol="0">
            <a:spAutoFit/>
          </a:bodyPr>
          <a:lstStyle/>
          <a:p>
            <a:r>
              <a:rPr lang="en-US" altLang="zh-TW" dirty="0"/>
              <a:t>a</a:t>
            </a:r>
            <a:endParaRPr lang="zh-TW" altLang="en-US" dirty="0"/>
          </a:p>
        </p:txBody>
      </p:sp>
      <p:sp>
        <p:nvSpPr>
          <p:cNvPr id="11" name="文字方塊 10">
            <a:extLst>
              <a:ext uri="{FF2B5EF4-FFF2-40B4-BE49-F238E27FC236}">
                <a16:creationId xmlns:a16="http://schemas.microsoft.com/office/drawing/2014/main" xmlns="" id="{962753C9-8EB8-4D95-8083-0074B38A8098}"/>
              </a:ext>
            </a:extLst>
          </p:cNvPr>
          <p:cNvSpPr txBox="1"/>
          <p:nvPr/>
        </p:nvSpPr>
        <p:spPr>
          <a:xfrm>
            <a:off x="7518402" y="1556833"/>
            <a:ext cx="347134" cy="369332"/>
          </a:xfrm>
          <a:prstGeom prst="rect">
            <a:avLst/>
          </a:prstGeom>
          <a:noFill/>
        </p:spPr>
        <p:txBody>
          <a:bodyPr wrap="square" rtlCol="0">
            <a:spAutoFit/>
          </a:bodyPr>
          <a:lstStyle/>
          <a:p>
            <a:r>
              <a:rPr lang="en-US" altLang="zh-TW" dirty="0"/>
              <a:t>b</a:t>
            </a:r>
            <a:endParaRPr lang="zh-TW" altLang="en-US" dirty="0"/>
          </a:p>
        </p:txBody>
      </p:sp>
      <p:sp>
        <p:nvSpPr>
          <p:cNvPr id="12" name="矩形 11">
            <a:extLst>
              <a:ext uri="{FF2B5EF4-FFF2-40B4-BE49-F238E27FC236}">
                <a16:creationId xmlns:a16="http://schemas.microsoft.com/office/drawing/2014/main" xmlns="" id="{9182ED16-F926-4D95-BE51-338DAAF42611}"/>
              </a:ext>
            </a:extLst>
          </p:cNvPr>
          <p:cNvSpPr/>
          <p:nvPr/>
        </p:nvSpPr>
        <p:spPr>
          <a:xfrm>
            <a:off x="4474634" y="4009231"/>
            <a:ext cx="3090333" cy="347133"/>
          </a:xfrm>
          <a:prstGeom prst="rect">
            <a:avLst/>
          </a:prstGeom>
          <a:solidFill>
            <a:srgbClr val="FF000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dirty="0"/>
          </a:p>
        </p:txBody>
      </p:sp>
      <p:sp>
        <p:nvSpPr>
          <p:cNvPr id="13" name="矩形 12">
            <a:extLst>
              <a:ext uri="{FF2B5EF4-FFF2-40B4-BE49-F238E27FC236}">
                <a16:creationId xmlns:a16="http://schemas.microsoft.com/office/drawing/2014/main" xmlns="" id="{FE31DD9D-3C2C-4ECA-A25A-F142B0EDD498}"/>
              </a:ext>
            </a:extLst>
          </p:cNvPr>
          <p:cNvSpPr/>
          <p:nvPr/>
        </p:nvSpPr>
        <p:spPr>
          <a:xfrm>
            <a:off x="5314950" y="4009230"/>
            <a:ext cx="1265766" cy="347133"/>
          </a:xfrm>
          <a:prstGeom prst="rect">
            <a:avLst/>
          </a:prstGeom>
          <a:solidFill>
            <a:schemeClr val="accent6">
              <a:lumMod val="60000"/>
              <a:lumOff val="4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xmlns="" id="{532A03E1-BCB1-476E-8282-EC78C85F9B65}"/>
              </a:ext>
            </a:extLst>
          </p:cNvPr>
          <p:cNvSpPr/>
          <p:nvPr/>
        </p:nvSpPr>
        <p:spPr>
          <a:xfrm>
            <a:off x="4665133" y="4009230"/>
            <a:ext cx="152400" cy="347133"/>
          </a:xfrm>
          <a:prstGeom prst="rect">
            <a:avLst/>
          </a:prstGeom>
          <a:solidFill>
            <a:schemeClr val="accent6">
              <a:lumMod val="60000"/>
              <a:lumOff val="4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444687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GATWO</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1825625"/>
                <a:ext cx="10515600" cy="4351339"/>
              </a:xfrm>
            </p:spPr>
            <p:txBody>
              <a:bodyPr/>
              <a:lstStyle/>
              <a:p>
                <a:r>
                  <a:rPr lang="en-US" altLang="zh-TW" dirty="0">
                    <a:latin typeface="Times New Roman" panose="02020603050405020304" pitchFamily="18" charset="0"/>
                    <a:cs typeface="Times New Roman" panose="02020603050405020304" pitchFamily="18" charset="0"/>
                  </a:rPr>
                  <a:t>Population : 30 chromosomes</a:t>
                </a:r>
              </a:p>
              <a:p>
                <a:r>
                  <a:rPr lang="en-US" altLang="zh-TW" dirty="0">
                    <a:latin typeface="Times New Roman" panose="02020603050405020304" pitchFamily="18" charset="0"/>
                    <a:cs typeface="Times New Roman" panose="02020603050405020304" pitchFamily="18" charset="0"/>
                  </a:rPr>
                  <a:t>Fitness function :</a:t>
                </a:r>
              </a:p>
              <a:p>
                <a:pPr marL="0" indent="0">
                  <a:buNone/>
                </a:pPr>
                <a:r>
                  <a:rPr lang="en-US" altLang="zh-TW" dirty="0">
                    <a:cs typeface="Times New Roman" panose="02020603050405020304" pitchFamily="18" charset="0"/>
                  </a:rPr>
                  <a:t>          </a:t>
                </a:r>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𝐺𝐴𝑇𝑊𝑂</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𝑥</m:t>
                        </m:r>
                      </m:e>
                    </m:d>
                    <m:r>
                      <a:rPr lang="en-US" altLang="zh-TW" b="0" i="1" smtClean="0">
                        <a:latin typeface="Cambria Math" panose="02040503050406030204" pitchFamily="18" charset="0"/>
                        <a:cs typeface="Times New Roman" panose="02020603050405020304" pitchFamily="18" charset="0"/>
                      </a:rPr>
                      <m:t>=</m:t>
                    </m:r>
                    <m:r>
                      <m:rPr>
                        <m:sty m:val="p"/>
                      </m:rPr>
                      <a:rPr lang="en-US" altLang="zh-TW" b="0" i="0" smtClean="0">
                        <a:latin typeface="Cambria Math" panose="02040503050406030204" pitchFamily="18" charset="0"/>
                        <a:cs typeface="Times New Roman" panose="02020603050405020304" pitchFamily="18" charset="0"/>
                      </a:rPr>
                      <m:t>max</m:t>
                    </m:r>
                    <m:r>
                      <a:rPr lang="en-US" altLang="zh-TW" b="0" i="1" smtClean="0">
                        <a:latin typeface="Cambria Math" panose="02040503050406030204" pitchFamily="18" charset="0"/>
                        <a:cs typeface="Times New Roman" panose="02020603050405020304" pitchFamily="18" charset="0"/>
                      </a:rPr>
                      <m:t>⁡(</m:t>
                    </m:r>
                    <m:f>
                      <m:fPr>
                        <m:ctrlPr>
                          <a:rPr lang="en-US" altLang="zh-TW" b="0" i="1" smtClean="0">
                            <a:latin typeface="Cambria Math" panose="02040503050406030204" pitchFamily="18" charset="0"/>
                            <a:cs typeface="Times New Roman" panose="02020603050405020304" pitchFamily="18" charset="0"/>
                          </a:rPr>
                        </m:ctrlPr>
                      </m:fPr>
                      <m:num>
                        <m:r>
                          <a:rPr lang="en-US" altLang="zh-TW" b="0" i="1" smtClean="0">
                            <a:latin typeface="Cambria Math" panose="02040503050406030204" pitchFamily="18" charset="0"/>
                            <a:cs typeface="Times New Roman" panose="02020603050405020304" pitchFamily="18" charset="0"/>
                          </a:rPr>
                          <m:t>1</m:t>
                        </m:r>
                      </m:num>
                      <m:den>
                        <m:r>
                          <a:rPr lang="en-US" altLang="zh-TW" b="0" i="1" smtClean="0">
                            <a:latin typeface="Cambria Math" panose="02040503050406030204" pitchFamily="18" charset="0"/>
                            <a:cs typeface="Times New Roman" panose="02020603050405020304" pitchFamily="18" charset="0"/>
                          </a:rPr>
                          <m:t>𝑛</m:t>
                        </m:r>
                      </m:den>
                    </m:f>
                    <m:nary>
                      <m:naryPr>
                        <m:chr m:val="∑"/>
                        <m:ctrlPr>
                          <a:rPr lang="en-US" altLang="zh-TW" b="0" i="1" smtClean="0">
                            <a:latin typeface="Cambria Math" panose="02040503050406030204" pitchFamily="18" charset="0"/>
                            <a:cs typeface="Times New Roman" panose="02020603050405020304" pitchFamily="18" charset="0"/>
                          </a:rPr>
                        </m:ctrlPr>
                      </m:naryPr>
                      <m:sub>
                        <m:r>
                          <m:rPr>
                            <m:brk m:alnAt="23"/>
                          </m:rPr>
                          <a:rPr lang="en-US" altLang="zh-TW" b="0" i="1" smtClean="0">
                            <a:latin typeface="Cambria Math" panose="02040503050406030204" pitchFamily="18" charset="0"/>
                            <a:cs typeface="Times New Roman" panose="02020603050405020304" pitchFamily="18" charset="0"/>
                          </a:rPr>
                          <m:t>𝑠</m:t>
                        </m:r>
                        <m:r>
                          <a:rPr lang="en-US" altLang="zh-TW" b="0" i="1" smtClean="0">
                            <a:latin typeface="Cambria Math" panose="02040503050406030204" pitchFamily="18" charset="0"/>
                            <a:cs typeface="Times New Roman" panose="02020603050405020304" pitchFamily="18" charset="0"/>
                          </a:rPr>
                          <m:t>=0</m:t>
                        </m:r>
                      </m:sub>
                      <m:sup>
                        <m:r>
                          <a:rPr lang="en-US" altLang="zh-TW" b="0" i="1" smtClean="0">
                            <a:latin typeface="Cambria Math" panose="02040503050406030204" pitchFamily="18" charset="0"/>
                            <a:cs typeface="Times New Roman" panose="02020603050405020304" pitchFamily="18" charset="0"/>
                          </a:rPr>
                          <m:t>𝑛</m:t>
                        </m:r>
                      </m:sup>
                      <m:e>
                        <m:r>
                          <a:rPr lang="en-US" altLang="zh-TW" b="0" i="1" smtClean="0">
                            <a:latin typeface="Cambria Math" panose="02040503050406030204" pitchFamily="18" charset="0"/>
                            <a:cs typeface="Times New Roman" panose="02020603050405020304" pitchFamily="18" charset="0"/>
                          </a:rPr>
                          <m:t>𝑅</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𝑅</m:t>
                            </m:r>
                          </m:e>
                          <m:sub>
                            <m:r>
                              <a:rPr lang="en-US" altLang="zh-TW" b="0" i="1" smtClean="0">
                                <a:latin typeface="Cambria Math" panose="02040503050406030204" pitchFamily="18" charset="0"/>
                                <a:cs typeface="Times New Roman" panose="02020603050405020304" pitchFamily="18" charset="0"/>
                              </a:rPr>
                              <m:t>𝑠</m:t>
                            </m:r>
                          </m:sub>
                        </m:sSub>
                      </m:e>
                    </m:nary>
                    <m:r>
                      <a:rPr lang="en-US" altLang="zh-TW" b="0" i="1" smtClean="0">
                        <a:latin typeface="Cambria Math" panose="02040503050406030204" pitchFamily="18" charset="0"/>
                        <a:cs typeface="Times New Roman" panose="02020603050405020304" pitchFamily="18" charset="0"/>
                      </a:rPr>
                      <m:t>)</m:t>
                    </m:r>
                  </m:oMath>
                </a14:m>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Mutation : 10%</a:t>
                </a:r>
              </a:p>
              <a:p>
                <a:r>
                  <a:rPr lang="en-US" altLang="zh-TW" dirty="0">
                    <a:latin typeface="Times New Roman" panose="02020603050405020304" pitchFamily="18" charset="0"/>
                    <a:cs typeface="Times New Roman" panose="02020603050405020304" pitchFamily="18" charset="0"/>
                  </a:rPr>
                  <a:t>Stop condition : 100 rounds</a:t>
                </a: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1825625"/>
                <a:ext cx="10515600" cy="4351339"/>
              </a:xfrm>
              <a:blipFill>
                <a:blip r:embed="rId3"/>
                <a:stretch>
                  <a:fillRect l="-1043" t="-2381"/>
                </a:stretch>
              </a:blipFill>
            </p:spPr>
            <p:txBody>
              <a:bodyPr/>
              <a:lstStyle/>
              <a:p>
                <a:r>
                  <a:rPr lang="zh-TW" altLang="en-US">
                    <a:noFill/>
                  </a:rPr>
                  <a:t> </a:t>
                </a:r>
              </a:p>
            </p:txBody>
          </p:sp>
        </mc:Fallback>
      </mc:AlternateContent>
      <p:pic>
        <p:nvPicPr>
          <p:cNvPr id="7" name="圖片 6">
            <a:extLst>
              <a:ext uri="{FF2B5EF4-FFF2-40B4-BE49-F238E27FC236}">
                <a16:creationId xmlns:a16="http://schemas.microsoft.com/office/drawing/2014/main" xmlns="" id="{1557CCA7-6CF6-4B70-9139-DBFCC25678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38911" y="2345267"/>
            <a:ext cx="5032893" cy="4147606"/>
          </a:xfrm>
          <a:prstGeom prst="rect">
            <a:avLst/>
          </a:prstGeom>
        </p:spPr>
      </p:pic>
    </p:spTree>
    <p:extLst>
      <p:ext uri="{BB962C8B-B14F-4D97-AF65-F5344CB8AC3E}">
        <p14:creationId xmlns:p14="http://schemas.microsoft.com/office/powerpoint/2010/main" val="2396815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support vector machine (SVM)</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1825625"/>
                <a:ext cx="10515600" cy="4351339"/>
              </a:xfrm>
            </p:spPr>
            <p:txBody>
              <a:bodyPr/>
              <a:lstStyle/>
              <a:p>
                <a:r>
                  <a:rPr lang="en-US" altLang="zh-TW" dirty="0">
                    <a:latin typeface="Times New Roman" panose="02020603050405020304" pitchFamily="18" charset="0"/>
                    <a:cs typeface="Times New Roman" panose="02020603050405020304" pitchFamily="18" charset="0"/>
                  </a:rPr>
                  <a:t>Input vector </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𝑥</m:t>
                        </m:r>
                      </m:e>
                      <m:sub>
                        <m:r>
                          <a:rPr lang="en-US" altLang="zh-TW" i="1">
                            <a:latin typeface="Cambria Math" panose="02040503050406030204" pitchFamily="18" charset="0"/>
                            <a:cs typeface="Times New Roman" panose="02020603050405020304" pitchFamily="18" charset="0"/>
                          </a:rPr>
                          <m:t>𝑖</m:t>
                        </m:r>
                      </m:sub>
                    </m:sSub>
                    <m:r>
                      <a:rPr lang="en-US" altLang="zh-TW"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𝑅</m:t>
                        </m:r>
                      </m:e>
                      <m:sup>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𝑑</m:t>
                        </m:r>
                      </m:sup>
                    </m:sSup>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 (</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𝑖</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=1,2,…,</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𝑁</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z-score normalization : </a:t>
                </a:r>
                <a14:m>
                  <m:oMath xmlns:m="http://schemas.openxmlformats.org/officeDocument/2006/math">
                    <m:sSup>
                      <m:sSupPr>
                        <m:ctrlPr>
                          <a:rPr lang="en-US" altLang="zh-TW" i="1">
                            <a:latin typeface="Cambria Math" panose="02040503050406030204" pitchFamily="18" charset="0"/>
                            <a:cs typeface="Times New Roman" panose="02020603050405020304" pitchFamily="18" charset="0"/>
                          </a:rPr>
                        </m:ctrlPr>
                      </m:sSupPr>
                      <m:e>
                        <m:r>
                          <a:rPr lang="en-US" altLang="zh-TW" i="1">
                            <a:latin typeface="Cambria Math" panose="02040503050406030204" pitchFamily="18" charset="0"/>
                            <a:cs typeface="Times New Roman" panose="02020603050405020304" pitchFamily="18" charset="0"/>
                          </a:rPr>
                          <m:t>𝑥</m:t>
                        </m:r>
                      </m:e>
                      <m:sup>
                        <m:r>
                          <a:rPr lang="en-US" altLang="zh-TW" i="1">
                            <a:latin typeface="Cambria Math" panose="02040503050406030204" pitchFamily="18" charset="0"/>
                            <a:cs typeface="Times New Roman" panose="02020603050405020304" pitchFamily="18" charset="0"/>
                          </a:rPr>
                          <m:t>′</m:t>
                        </m:r>
                      </m:sup>
                    </m:sSup>
                    <m:r>
                      <a:rPr lang="en-US" altLang="zh-TW" i="1">
                        <a:latin typeface="Cambria Math" panose="02040503050406030204" pitchFamily="18" charset="0"/>
                        <a:cs typeface="Times New Roman" panose="02020603050405020304" pitchFamily="18" charset="0"/>
                      </a:rPr>
                      <m:t>=</m:t>
                    </m:r>
                    <m:f>
                      <m:fPr>
                        <m:ctrlPr>
                          <a:rPr lang="en-US" altLang="zh-TW" i="1">
                            <a:latin typeface="Cambria Math" panose="02040503050406030204" pitchFamily="18" charset="0"/>
                            <a:cs typeface="Times New Roman" panose="02020603050405020304" pitchFamily="18" charset="0"/>
                          </a:rPr>
                        </m:ctrlPr>
                      </m:fPr>
                      <m:num>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𝑥</m:t>
                        </m:r>
                        <m:r>
                          <a:rPr lang="en-US" altLang="zh-TW" i="1">
                            <a:latin typeface="Cambria Math" panose="02040503050406030204" pitchFamily="18" charset="0"/>
                            <a:cs typeface="Times New Roman" panose="02020603050405020304" pitchFamily="18" charset="0"/>
                          </a:rPr>
                          <m:t>−</m:t>
                        </m:r>
                        <m:r>
                          <a:rPr lang="zh-TW" altLang="en-US" i="1">
                            <a:latin typeface="Cambria Math" panose="02040503050406030204" pitchFamily="18" charset="0"/>
                            <a:cs typeface="Times New Roman" panose="02020603050405020304" pitchFamily="18" charset="0"/>
                          </a:rPr>
                          <m:t>𝜇</m:t>
                        </m:r>
                        <m:r>
                          <a:rPr lang="en-US" altLang="zh-TW" i="1">
                            <a:latin typeface="Cambria Math" panose="02040503050406030204" pitchFamily="18" charset="0"/>
                            <a:cs typeface="Times New Roman" panose="02020603050405020304" pitchFamily="18" charset="0"/>
                          </a:rPr>
                          <m:t>)</m:t>
                        </m:r>
                      </m:num>
                      <m:den>
                        <m:r>
                          <a:rPr lang="zh-TW" altLang="en-US" i="1">
                            <a:latin typeface="Cambria Math" panose="02040503050406030204" pitchFamily="18" charset="0"/>
                            <a:cs typeface="Times New Roman" panose="02020603050405020304" pitchFamily="18" charset="0"/>
                          </a:rPr>
                          <m:t>𝜎</m:t>
                        </m:r>
                      </m:den>
                    </m:f>
                  </m:oMath>
                </a14:m>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Label</a:t>
                </a:r>
                <a:r>
                  <a:rPr lang="zh-TW" altLang="en-US"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𝑦</m:t>
                        </m:r>
                      </m:e>
                      <m:sub>
                        <m:r>
                          <a:rPr lang="en-US" altLang="zh-TW" b="0" i="1" smtClean="0">
                            <a:latin typeface="Cambria Math" panose="02040503050406030204" pitchFamily="18" charset="0"/>
                            <a:cs typeface="Times New Roman" panose="02020603050405020304" pitchFamily="18" charset="0"/>
                          </a:rPr>
                          <m:t>𝑖</m:t>
                        </m:r>
                      </m:sub>
                    </m:s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∈{+1,−1}</m:t>
                    </m:r>
                  </m:oMath>
                </a14:m>
                <a:endParaRPr lang="en-US" altLang="zh-TW"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cs typeface="Times New Roman" panose="02020603050405020304" pitchFamily="18" charset="0"/>
                        </a:rPr>
                        <m:t>𝑓</m:t>
                      </m:r>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𝑥</m:t>
                          </m:r>
                        </m:e>
                      </m:d>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𝑠𝑔𝑛</m:t>
                      </m:r>
                      <m:r>
                        <a:rPr lang="en-US" altLang="zh-TW" b="0" i="1" smtClean="0">
                          <a:latin typeface="Cambria Math" panose="02040503050406030204" pitchFamily="18" charset="0"/>
                          <a:cs typeface="Times New Roman" panose="02020603050405020304" pitchFamily="18" charset="0"/>
                        </a:rPr>
                        <m:t>(</m:t>
                      </m:r>
                      <m:nary>
                        <m:naryPr>
                          <m:chr m:val="∑"/>
                          <m:ctrlPr>
                            <a:rPr lang="en-US" altLang="zh-TW" b="0" i="1" smtClean="0">
                              <a:latin typeface="Cambria Math" panose="02040503050406030204" pitchFamily="18" charset="0"/>
                              <a:cs typeface="Times New Roman" panose="02020603050405020304" pitchFamily="18" charset="0"/>
                            </a:rPr>
                          </m:ctrlPr>
                        </m:naryPr>
                        <m:sub>
                          <m:r>
                            <m:rPr>
                              <m:brk m:alnAt="23"/>
                            </m:rPr>
                            <a:rPr lang="en-US" altLang="zh-TW" b="0" i="1" smtClean="0">
                              <a:latin typeface="Cambria Math" panose="02040503050406030204" pitchFamily="18" charset="0"/>
                              <a:cs typeface="Times New Roman" panose="02020603050405020304" pitchFamily="18" charset="0"/>
                            </a:rPr>
                            <m:t>𝑖</m:t>
                          </m:r>
                          <m:r>
                            <a:rPr lang="en-US" altLang="zh-TW" b="0" i="1" smtClean="0">
                              <a:latin typeface="Cambria Math" panose="02040503050406030204" pitchFamily="18" charset="0"/>
                              <a:cs typeface="Times New Roman" panose="02020603050405020304" pitchFamily="18" charset="0"/>
                            </a:rPr>
                            <m:t>=1</m:t>
                          </m:r>
                        </m:sub>
                        <m:sup>
                          <m:r>
                            <a:rPr lang="en-US" altLang="zh-TW" b="0" i="1" smtClean="0">
                              <a:latin typeface="Cambria Math" panose="02040503050406030204" pitchFamily="18" charset="0"/>
                              <a:cs typeface="Times New Roman" panose="02020603050405020304" pitchFamily="18" charset="0"/>
                            </a:rPr>
                            <m:t>𝑁</m:t>
                          </m:r>
                        </m:sup>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𝑦</m:t>
                              </m:r>
                            </m:e>
                            <m:sub>
                              <m:r>
                                <a:rPr lang="en-US" altLang="zh-TW" b="0" i="1" smtClean="0">
                                  <a:latin typeface="Cambria Math" panose="02040503050406030204" pitchFamily="18" charset="0"/>
                                  <a:cs typeface="Times New Roman" panose="02020603050405020304" pitchFamily="18" charset="0"/>
                                </a:rPr>
                                <m:t>𝑖</m:t>
                              </m:r>
                            </m:sub>
                          </m:sSub>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𝑎</m:t>
                              </m:r>
                            </m:e>
                            <m:sub>
                              <m:r>
                                <a:rPr lang="en-US" altLang="zh-TW" b="0" i="1" smtClean="0">
                                  <a:latin typeface="Cambria Math" panose="02040503050406030204" pitchFamily="18" charset="0"/>
                                  <a:cs typeface="Times New Roman" panose="02020603050405020304" pitchFamily="18" charset="0"/>
                                </a:rPr>
                                <m:t>𝑖</m:t>
                              </m:r>
                            </m:sub>
                          </m:s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𝑘</m:t>
                          </m:r>
                          <m:d>
                            <m:d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𝑥</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𝑗</m:t>
                                  </m:r>
                                </m:sub>
                              </m:s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𝑥</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𝑖</m:t>
                                  </m:r>
                                </m:sub>
                              </m:sSub>
                            </m:e>
                          </m:d>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𝑏</m:t>
                          </m:r>
                        </m:e>
                      </m:nary>
                      <m:r>
                        <a:rPr lang="en-US" altLang="zh-TW" b="0" i="1" smtClean="0">
                          <a:latin typeface="Cambria Math" panose="02040503050406030204" pitchFamily="18" charset="0"/>
                          <a:cs typeface="Times New Roman" panose="02020603050405020304" pitchFamily="18" charset="0"/>
                        </a:rPr>
                        <m:t>)</m:t>
                      </m:r>
                    </m:oMath>
                  </m:oMathPara>
                </a14:m>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1825625"/>
                <a:ext cx="10515600" cy="4351339"/>
              </a:xfrm>
              <a:blipFill rotWithShape="0">
                <a:blip r:embed="rId3"/>
                <a:stretch>
                  <a:fillRect l="-1043" t="-2101"/>
                </a:stretch>
              </a:blipFill>
            </p:spPr>
            <p:txBody>
              <a:bodyPr/>
              <a:lstStyle/>
              <a:p>
                <a:r>
                  <a:rPr lang="zh-TW" altLang="en-US">
                    <a:noFill/>
                  </a:rPr>
                  <a:t> </a:t>
                </a:r>
              </a:p>
            </p:txBody>
          </p:sp>
        </mc:Fallback>
      </mc:AlternateContent>
      <p:pic>
        <p:nvPicPr>
          <p:cNvPr id="4" name="圖片 3">
            <a:extLst>
              <a:ext uri="{FF2B5EF4-FFF2-40B4-BE49-F238E27FC236}">
                <a16:creationId xmlns:a16="http://schemas.microsoft.com/office/drawing/2014/main" xmlns="" id="{0E5FDAF1-6BA0-47EF-8C37-FE7F8340F0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44332" y="4794193"/>
            <a:ext cx="5130801" cy="1791813"/>
          </a:xfrm>
          <a:prstGeom prst="rect">
            <a:avLst/>
          </a:prstGeom>
        </p:spPr>
      </p:pic>
    </p:spTree>
    <p:extLst>
      <p:ext uri="{BB962C8B-B14F-4D97-AF65-F5344CB8AC3E}">
        <p14:creationId xmlns:p14="http://schemas.microsoft.com/office/powerpoint/2010/main" val="3650515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830793"/>
            <a:ext cx="10515600" cy="1325563"/>
          </a:xfrm>
        </p:spPr>
        <p:txBody>
          <a:bodyPr>
            <a:normAutofit/>
          </a:bodyPr>
          <a:lstStyle/>
          <a:p>
            <a:r>
              <a:rPr lang="en-US" altLang="zh-TW" dirty="0">
                <a:latin typeface="Times New Roman" panose="02020603050405020304" pitchFamily="18" charset="0"/>
                <a:cs typeface="Times New Roman" panose="02020603050405020304" pitchFamily="18" charset="0"/>
              </a:rPr>
              <a:t>GATWO</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train &amp; test</a:t>
            </a:r>
            <a:endParaRPr lang="zh-TW" altLang="en-US" dirty="0">
              <a:latin typeface="Times New Roman" panose="02020603050405020304" pitchFamily="18" charset="0"/>
              <a:cs typeface="Times New Roman" panose="02020603050405020304" pitchFamily="18" charset="0"/>
            </a:endParaRPr>
          </a:p>
        </p:txBody>
      </p:sp>
      <p:pic>
        <p:nvPicPr>
          <p:cNvPr id="4" name="內容版面配置區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688125" y="288927"/>
            <a:ext cx="4665675" cy="6158693"/>
          </a:xfrm>
        </p:spPr>
      </p:pic>
    </p:spTree>
    <p:extLst>
      <p:ext uri="{BB962C8B-B14F-4D97-AF65-F5344CB8AC3E}">
        <p14:creationId xmlns:p14="http://schemas.microsoft.com/office/powerpoint/2010/main" val="1778659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Stress testing</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825625"/>
            <a:ext cx="10515600" cy="4351339"/>
          </a:xfrm>
        </p:spPr>
        <p:txBody>
          <a:bodyPr/>
          <a:lstStyle/>
          <a:p>
            <a:r>
              <a:rPr lang="en-US" altLang="zh-TW" dirty="0">
                <a:latin typeface="Times New Roman" panose="02020603050405020304" pitchFamily="18" charset="0"/>
                <a:cs typeface="Times New Roman" panose="02020603050405020304" pitchFamily="18" charset="0"/>
              </a:rPr>
              <a:t>GE(</a:t>
            </a:r>
            <a:r>
              <a:rPr lang="zh-TW" altLang="en-US" dirty="0">
                <a:latin typeface="Times New Roman" panose="02020603050405020304" pitchFamily="18" charset="0"/>
                <a:cs typeface="Times New Roman" panose="02020603050405020304" pitchFamily="18" charset="0"/>
              </a:rPr>
              <a:t>奇異</a:t>
            </a:r>
            <a:r>
              <a:rPr lang="en-US" altLang="zh-TW" dirty="0">
                <a:latin typeface="Times New Roman" panose="02020603050405020304" pitchFamily="18" charset="0"/>
                <a:cs typeface="Times New Roman" panose="02020603050405020304" pitchFamily="18" charset="0"/>
              </a:rPr>
              <a:t>), Pfizer(</a:t>
            </a:r>
            <a:r>
              <a:rPr lang="zh-TW" altLang="en-US" dirty="0">
                <a:latin typeface="Times New Roman" panose="02020603050405020304" pitchFamily="18" charset="0"/>
                <a:cs typeface="Times New Roman" panose="02020603050405020304" pitchFamily="18" charset="0"/>
              </a:rPr>
              <a:t>輝瑞</a:t>
            </a:r>
            <a:r>
              <a:rPr lang="en-US" altLang="zh-TW" dirty="0">
                <a:latin typeface="Times New Roman" panose="02020603050405020304" pitchFamily="18" charset="0"/>
                <a:cs typeface="Times New Roman" panose="02020603050405020304" pitchFamily="18" charset="0"/>
              </a:rPr>
              <a:t>), and Google: 2008/2/1~2009/5/31</a:t>
            </a: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p:pic>
        <p:nvPicPr>
          <p:cNvPr id="6" name="圖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0324" y="2301130"/>
            <a:ext cx="7491351" cy="1700164"/>
          </a:xfrm>
          <a:prstGeom prst="rect">
            <a:avLst/>
          </a:prstGeom>
        </p:spPr>
      </p:pic>
      <p:pic>
        <p:nvPicPr>
          <p:cNvPr id="7" name="圖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65277" y="4001294"/>
            <a:ext cx="8515177" cy="2721173"/>
          </a:xfrm>
          <a:prstGeom prst="rect">
            <a:avLst/>
          </a:prstGeom>
        </p:spPr>
      </p:pic>
    </p:spTree>
    <p:extLst>
      <p:ext uri="{BB962C8B-B14F-4D97-AF65-F5344CB8AC3E}">
        <p14:creationId xmlns:p14="http://schemas.microsoft.com/office/powerpoint/2010/main" val="2392380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Up-trend testing</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825625"/>
            <a:ext cx="10515600" cy="4351339"/>
          </a:xfrm>
        </p:spPr>
        <p:txBody>
          <a:bodyPr/>
          <a:lstStyle/>
          <a:p>
            <a:r>
              <a:rPr lang="en-US" altLang="zh-TW" dirty="0">
                <a:latin typeface="Times New Roman" panose="02020603050405020304" pitchFamily="18" charset="0"/>
                <a:cs typeface="Times New Roman" panose="02020603050405020304" pitchFamily="18" charset="0"/>
              </a:rPr>
              <a:t>Apple (AAPL): 2014/1/1~2015/1/31</a:t>
            </a:r>
          </a:p>
          <a:p>
            <a:r>
              <a:rPr lang="en-US" altLang="zh-TW" dirty="0">
                <a:latin typeface="Times New Roman" panose="02020603050405020304" pitchFamily="18" charset="0"/>
                <a:cs typeface="Times New Roman" panose="02020603050405020304" pitchFamily="18" charset="0"/>
              </a:rPr>
              <a:t>Microsoft stock(MSFT): 2013/7/1~2014/8/31</a:t>
            </a: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466" y="4001294"/>
            <a:ext cx="7154273" cy="1581371"/>
          </a:xfrm>
          <a:prstGeom prst="rect">
            <a:avLst/>
          </a:prstGeom>
        </p:spPr>
      </p:pic>
      <p:pic>
        <p:nvPicPr>
          <p:cNvPr id="5" name="圖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74739" y="934975"/>
            <a:ext cx="3835671" cy="4656563"/>
          </a:xfrm>
          <a:prstGeom prst="rect">
            <a:avLst/>
          </a:prstGeom>
        </p:spPr>
      </p:pic>
    </p:spTree>
    <p:extLst>
      <p:ext uri="{BB962C8B-B14F-4D97-AF65-F5344CB8AC3E}">
        <p14:creationId xmlns:p14="http://schemas.microsoft.com/office/powerpoint/2010/main" val="4199349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Comparison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825625"/>
            <a:ext cx="10515600" cy="4351339"/>
          </a:xfrm>
        </p:spPr>
        <p:txBody>
          <a:bodyPr/>
          <a:lstStyle/>
          <a:p>
            <a:r>
              <a:rPr lang="en-US" altLang="zh-TW" dirty="0">
                <a:latin typeface="Times New Roman" panose="02020603050405020304" pitchFamily="18" charset="0"/>
                <a:cs typeface="Times New Roman" panose="02020603050405020304" pitchFamily="18" charset="0"/>
              </a:rPr>
              <a:t>QCOM(</a:t>
            </a:r>
            <a:r>
              <a:rPr lang="zh-TW" altLang="en-US" dirty="0">
                <a:latin typeface="Times New Roman" panose="02020603050405020304" pitchFamily="18" charset="0"/>
                <a:cs typeface="Times New Roman" panose="02020603050405020304" pitchFamily="18" charset="0"/>
              </a:rPr>
              <a:t>高通</a:t>
            </a:r>
            <a:r>
              <a:rPr lang="en-US" altLang="zh-TW" dirty="0">
                <a:latin typeface="Times New Roman" panose="02020603050405020304" pitchFamily="18" charset="0"/>
                <a:cs typeface="Times New Roman" panose="02020603050405020304" pitchFamily="18" charset="0"/>
              </a:rPr>
              <a:t>), GE(</a:t>
            </a:r>
            <a:r>
              <a:rPr lang="zh-TW" altLang="en-US" dirty="0">
                <a:latin typeface="Times New Roman" panose="02020603050405020304" pitchFamily="18" charset="0"/>
                <a:cs typeface="Times New Roman" panose="02020603050405020304" pitchFamily="18" charset="0"/>
              </a:rPr>
              <a:t>奇異</a:t>
            </a:r>
            <a:r>
              <a:rPr lang="en-US" altLang="zh-TW" dirty="0">
                <a:latin typeface="Times New Roman" panose="02020603050405020304" pitchFamily="18" charset="0"/>
                <a:cs typeface="Times New Roman" panose="02020603050405020304" pitchFamily="18" charset="0"/>
              </a:rPr>
              <a:t>), and MCD(</a:t>
            </a:r>
            <a:r>
              <a:rPr lang="zh-TW" altLang="en-US" dirty="0">
                <a:latin typeface="Times New Roman" panose="02020603050405020304" pitchFamily="18" charset="0"/>
                <a:cs typeface="Times New Roman" panose="02020603050405020304" pitchFamily="18" charset="0"/>
              </a:rPr>
              <a:t>麥當勞</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2003/1/1~2013/10/21</a:t>
            </a: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p:pic>
        <p:nvPicPr>
          <p:cNvPr id="6" name="圖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3652" y="3135086"/>
            <a:ext cx="9364695" cy="2267629"/>
          </a:xfrm>
          <a:prstGeom prst="rect">
            <a:avLst/>
          </a:prstGeom>
        </p:spPr>
      </p:pic>
    </p:spTree>
    <p:extLst>
      <p:ext uri="{BB962C8B-B14F-4D97-AF65-F5344CB8AC3E}">
        <p14:creationId xmlns:p14="http://schemas.microsoft.com/office/powerpoint/2010/main" val="3437149223"/>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19035</TotalTime>
  <Words>299</Words>
  <Application>Microsoft Office PowerPoint</Application>
  <PresentationFormat>寬螢幕</PresentationFormat>
  <Paragraphs>67</Paragraphs>
  <Slides>11</Slides>
  <Notes>10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11</vt:i4>
      </vt:variant>
    </vt:vector>
  </HeadingPairs>
  <TitlesOfParts>
    <vt:vector size="18" baseType="lpstr">
      <vt:lpstr>新細明體</vt:lpstr>
      <vt:lpstr>Arial</vt:lpstr>
      <vt:lpstr>Calibri</vt:lpstr>
      <vt:lpstr>Calibri Light</vt:lpstr>
      <vt:lpstr>Cambria Math</vt:lpstr>
      <vt:lpstr>Times New Roman</vt:lpstr>
      <vt:lpstr>Office 佈景主題</vt:lpstr>
      <vt:lpstr>A generalized financial time series forecasting model based on automatic feature engineering using genetic algorithms and support vector machine</vt:lpstr>
      <vt:lpstr>Abstract</vt:lpstr>
      <vt:lpstr>Evaluation</vt:lpstr>
      <vt:lpstr>Data (2000/1/1~2004/12/31)</vt:lpstr>
      <vt:lpstr>Genetic algorithm</vt:lpstr>
      <vt:lpstr>GATWO</vt:lpstr>
      <vt:lpstr>support vector machine (SVM)</vt:lpstr>
      <vt:lpstr>GATWO train &amp; test</vt:lpstr>
      <vt:lpstr>Stress testing</vt:lpstr>
      <vt:lpstr>Up-trend testing</vt:lpstr>
      <vt:lpstr>Comparison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Efficient Selectivity and Backup Operators in Monte-Carlo Tree Search</dc:title>
  <dc:creator>Trixie</dc:creator>
  <cp:lastModifiedBy>pplab-class</cp:lastModifiedBy>
  <cp:revision>661</cp:revision>
  <dcterms:created xsi:type="dcterms:W3CDTF">2017-09-07T05:36:32Z</dcterms:created>
  <dcterms:modified xsi:type="dcterms:W3CDTF">2019-01-08T10:31:41Z</dcterms:modified>
</cp:coreProperties>
</file>