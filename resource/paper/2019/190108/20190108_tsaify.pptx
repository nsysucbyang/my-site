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58" r:id="rId4"/>
    <p:sldId id="284" r:id="rId5"/>
    <p:sldId id="277" r:id="rId6"/>
    <p:sldId id="285" r:id="rId7"/>
    <p:sldId id="272" r:id="rId8"/>
    <p:sldId id="280" r:id="rId9"/>
    <p:sldId id="287" r:id="rId10"/>
    <p:sldId id="286" r:id="rId11"/>
    <p:sldId id="273" r:id="rId12"/>
    <p:sldId id="288" r:id="rId13"/>
    <p:sldId id="264" r:id="rId14"/>
    <p:sldId id="265" r:id="rId15"/>
    <p:sldId id="266" r:id="rId16"/>
    <p:sldId id="267" r:id="rId17"/>
    <p:sldId id="268"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8592" autoAdjust="0"/>
  </p:normalViewPr>
  <p:slideViewPr>
    <p:cSldViewPr snapToGrid="0">
      <p:cViewPr varScale="1">
        <p:scale>
          <a:sx n="66" d="100"/>
          <a:sy n="66" d="100"/>
        </p:scale>
        <p:origin x="1368" y="66"/>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2019/1/8</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200" b="0" i="0" kern="1200" dirty="0" smtClean="0">
                <a:solidFill>
                  <a:schemeClr val="tx1"/>
                </a:solidFill>
                <a:effectLst/>
                <a:latin typeface="+mn-lt"/>
                <a:ea typeface="+mn-ea"/>
                <a:cs typeface="+mn-cs"/>
              </a:rPr>
              <a:t>https://www.google.com.tw/maps/place/Shanghai+Jiaotong+University/@31.2010056,121.4306523,17z/data=!3m1!4b1!4m5!3m4!1s0x35b265386b226333:0x39a5f5781d8a1dc7!8m2!3d31.201001!4d121.432841?hl=zh-TW&amp;authuser=0</a:t>
            </a:r>
          </a:p>
          <a:p>
            <a:r>
              <a:rPr lang="zh-TW" altLang="en-US" sz="1200" b="0" i="0" kern="1200" dirty="0" smtClean="0">
                <a:solidFill>
                  <a:schemeClr val="tx1"/>
                </a:solidFill>
                <a:effectLst/>
                <a:latin typeface="+mn-lt"/>
                <a:ea typeface="+mn-ea"/>
                <a:cs typeface="+mn-cs"/>
              </a:rPr>
              <a:t>丁鵬</a:t>
            </a:r>
            <a:endParaRPr lang="en-US" altLang="zh-TW" sz="1200" b="0" i="0" kern="1200" dirty="0" smtClean="0">
              <a:solidFill>
                <a:schemeClr val="tx1"/>
              </a:solidFill>
              <a:effectLst/>
              <a:latin typeface="+mn-lt"/>
              <a:ea typeface="+mn-ea"/>
              <a:cs typeface="+mn-cs"/>
            </a:endParaRPr>
          </a:p>
          <a:p>
            <a:r>
              <a:rPr lang="zh-TW" altLang="en-US" sz="1200" b="0" i="0" kern="1200" dirty="0" smtClean="0">
                <a:solidFill>
                  <a:schemeClr val="tx1"/>
                </a:solidFill>
                <a:effectLst/>
                <a:latin typeface="+mn-lt"/>
                <a:ea typeface="+mn-ea"/>
                <a:cs typeface="+mn-cs"/>
              </a:rPr>
              <a:t>饒若楠</a:t>
            </a:r>
            <a:endParaRPr lang="en-US" altLang="zh-TW" sz="1200" b="0" i="0" kern="1200" dirty="0" smtClean="0">
              <a:solidFill>
                <a:schemeClr val="tx1"/>
              </a:solidFill>
              <a:effectLst/>
              <a:latin typeface="+mn-lt"/>
              <a:ea typeface="+mn-ea"/>
              <a:cs typeface="+mn-cs"/>
            </a:endParaRPr>
          </a:p>
          <a:p>
            <a:r>
              <a:rPr lang="zh-TW" altLang="en-US" sz="1200" b="0" i="0" kern="1200" dirty="0" smtClean="0">
                <a:solidFill>
                  <a:schemeClr val="tx1"/>
                </a:solidFill>
                <a:effectLst/>
                <a:latin typeface="+mn-lt"/>
                <a:ea typeface="+mn-ea"/>
                <a:cs typeface="+mn-cs"/>
              </a:rPr>
              <a:t>李金科</a:t>
            </a:r>
            <a:endParaRPr lang="en-US" altLang="zh-TW" sz="1200" b="0" i="0" kern="1200" dirty="0" smtClean="0">
              <a:solidFill>
                <a:schemeClr val="tx1"/>
              </a:solidFill>
              <a:effectLst/>
              <a:latin typeface="+mn-lt"/>
              <a:ea typeface="+mn-ea"/>
              <a:cs typeface="+mn-cs"/>
            </a:endParaRPr>
          </a:p>
          <a:p>
            <a:r>
              <a:rPr lang="zh-TW" altLang="en-US" sz="1200" b="0" i="0" kern="1200" dirty="0" smtClean="0">
                <a:solidFill>
                  <a:schemeClr val="tx1"/>
                </a:solidFill>
                <a:effectLst/>
                <a:latin typeface="+mn-lt"/>
                <a:ea typeface="+mn-ea"/>
                <a:cs typeface="+mn-cs"/>
              </a:rPr>
              <a:t>思維宇</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smtClean="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740362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在RRL中，時間t的動作不僅取決於時間t的當前市場狀況，而且還依賴於時間t-1的先前動作，因為頻繁變化的交易位置將帶來大的交易成本。</a:t>
            </a:r>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30396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夏普比率定義為在第</a:t>
                </a:r>
                <a:r>
                  <a:rPr lang="en-US" altLang="zh-TW" dirty="0" smtClean="0"/>
                  <a:t>1, 2, ..., T,</a:t>
                </a:r>
                <a:r>
                  <a:rPr lang="zh-TW" altLang="en-US" dirty="0" smtClean="0"/>
                  <a:t>期間獲得的收益的平均收益與標準差的比率</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第一個項目是</a:t>
                </a:r>
                <a:r>
                  <a:rPr lang="zh-TW" altLang="en-US" dirty="0"/>
                  <a:t>根據時間t-1的</a:t>
                </a:r>
                <a:r>
                  <a:rPr lang="zh-TW" altLang="en-US" dirty="0" smtClean="0"/>
                  <a:t>決策</a:t>
                </a:r>
                <a14:m>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𝐴</m:t>
                        </m:r>
                      </m:e>
                      <m:sub>
                        <m:r>
                          <a:rPr lang="zh-TW" altLang="en-US" i="1">
                            <a:latin typeface="Cambria Math" panose="02040503050406030204" pitchFamily="18" charset="0"/>
                          </a:rPr>
                          <m:t>𝑡</m:t>
                        </m:r>
                        <m:r>
                          <a:rPr lang="zh-TW" altLang="en-US">
                            <a:latin typeface="Cambria Math" panose="02040503050406030204" pitchFamily="18" charset="0"/>
                          </a:rPr>
                          <m:t>−1</m:t>
                        </m:r>
                      </m:sub>
                    </m:sSub>
                  </m:oMath>
                </a14:m>
                <a:r>
                  <a:rPr lang="zh-TW" altLang="en-US" dirty="0" smtClean="0"/>
                  <a:t>獲得</a:t>
                </a:r>
                <a:r>
                  <a:rPr lang="zh-TW" altLang="en-US" dirty="0"/>
                  <a:t>的利潤或損失，第二</a:t>
                </a:r>
                <a:r>
                  <a:rPr lang="zh-TW" altLang="en-US" dirty="0" smtClean="0"/>
                  <a:t>個</a:t>
                </a:r>
                <a:r>
                  <a:rPr lang="zh-TW" altLang="en-US" dirty="0"/>
                  <a:t>項目</a:t>
                </a:r>
                <a:r>
                  <a:rPr lang="zh-TW" altLang="en-US" dirty="0" smtClean="0"/>
                  <a:t>是</a:t>
                </a:r>
                <a:r>
                  <a:rPr lang="zh-TW" altLang="en-US" dirty="0"/>
                  <a:t>在時間t改變交易頭寸時的交易成本。</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最直接的RRL目標是在1,2，......，T期間最大化累積獎勵。整個T訓練期間的累積獎勵可以定義為</a:t>
                </a:r>
              </a:p>
              <a:p>
                <a:endParaRPr lang="zh-TW"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smtClean="0"/>
              </a:p>
              <a:p>
                <a:endParaRPr lang="zh-TW" altLang="en-US" dirty="0"/>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夏普比率定義為在第</a:t>
                </a:r>
                <a:r>
                  <a:rPr lang="en-US" altLang="zh-TW" dirty="0" smtClean="0"/>
                  <a:t>1, 2, ..., T,</a:t>
                </a:r>
                <a:r>
                  <a:rPr lang="zh-TW" altLang="en-US" dirty="0" smtClean="0"/>
                  <a:t>期間獲得的收益的平均收益與標準差的比率</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第一個項目是</a:t>
                </a:r>
                <a:r>
                  <a:rPr lang="zh-TW" altLang="en-US" dirty="0"/>
                  <a:t>根據時間t-1的</a:t>
                </a:r>
                <a:r>
                  <a:rPr lang="zh-TW" altLang="en-US" dirty="0" smtClean="0"/>
                  <a:t>決策</a:t>
                </a:r>
                <a:r>
                  <a:rPr lang="zh-TW" altLang="en-US" i="0">
                    <a:latin typeface="Cambria Math" panose="02040503050406030204" pitchFamily="18" charset="0"/>
                  </a:rPr>
                  <a:t>𝐴_(𝑡−1)</a:t>
                </a:r>
                <a:r>
                  <a:rPr lang="zh-TW" altLang="en-US" dirty="0" smtClean="0"/>
                  <a:t>獲得</a:t>
                </a:r>
                <a:r>
                  <a:rPr lang="zh-TW" altLang="en-US" dirty="0"/>
                  <a:t>的利潤或損失，第二</a:t>
                </a:r>
                <a:r>
                  <a:rPr lang="zh-TW" altLang="en-US" dirty="0" smtClean="0"/>
                  <a:t>個</a:t>
                </a:r>
                <a:r>
                  <a:rPr lang="zh-TW" altLang="en-US" dirty="0"/>
                  <a:t>項目</a:t>
                </a:r>
                <a:r>
                  <a:rPr lang="zh-TW" altLang="en-US" dirty="0" smtClean="0"/>
                  <a:t>是</a:t>
                </a:r>
                <a:r>
                  <a:rPr lang="zh-TW" altLang="en-US" dirty="0"/>
                  <a:t>在時間t改變交易頭寸時的交易成本。</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最直接的RRL目標是在1,2，......，T期間最大化累積獎勵。整個T訓練期間的累積獎勵可以定義為</a:t>
                </a:r>
              </a:p>
              <a:p>
                <a:endParaRPr lang="zh-TW"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smtClean="0"/>
              </a:p>
              <a:p>
                <a:endParaRPr lang="zh-TW" altLang="en-US" dirty="0"/>
              </a:p>
            </p:txBody>
          </p:sp>
        </mc:Fallback>
      </mc:AlternateContent>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419461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LSTM將交易操作保留在內存中以生成連續操作並降低交易成本。 而且，LSTM可以記住長時間步驟中的更多功能，以做出正確的決策。 然後，交易行為遵循以下等式：</a:t>
            </a:r>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322267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a:p>
            <a:r>
              <a:rPr lang="zh-TW" altLang="en-US" sz="1200" b="0" i="0" kern="1200" dirty="0" smtClean="0">
                <a:solidFill>
                  <a:schemeClr val="tx1"/>
                </a:solidFill>
                <a:effectLst/>
                <a:latin typeface="+mn-lt"/>
                <a:ea typeface="+mn-ea"/>
                <a:cs typeface="+mn-cs"/>
              </a:rPr>
              <a:t>因為他不能成功的表達除了訓練數據以外的其他數據</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這就叫做過擬合</a:t>
            </a:r>
            <a:r>
              <a:rPr lang="en-US" altLang="zh-TW" sz="1200" b="0" i="0" kern="1200" dirty="0" smtClean="0">
                <a:solidFill>
                  <a:schemeClr val="tx1"/>
                </a:solidFill>
                <a:effectLst/>
                <a:latin typeface="+mn-lt"/>
                <a:ea typeface="+mn-ea"/>
                <a:cs typeface="+mn-cs"/>
              </a:rPr>
              <a:t>. Overfitting.</a:t>
            </a:r>
          </a:p>
          <a:p>
            <a:r>
              <a:rPr lang="zh-TW" altLang="en-US" sz="1200" b="0" i="0" kern="1200" dirty="0" smtClean="0">
                <a:solidFill>
                  <a:schemeClr val="tx1"/>
                </a:solidFill>
                <a:effectLst/>
                <a:latin typeface="+mn-lt"/>
                <a:ea typeface="+mn-ea"/>
                <a:cs typeface="+mn-cs"/>
              </a:rPr>
              <a:t>還有一種專門用在神經網絡的正規化的方法</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叫作</a:t>
            </a:r>
            <a:r>
              <a:rPr lang="en-US" altLang="zh-TW" sz="1200" b="0" i="0" kern="1200" dirty="0" smtClean="0">
                <a:solidFill>
                  <a:schemeClr val="tx1"/>
                </a:solidFill>
                <a:effectLst/>
                <a:latin typeface="+mn-lt"/>
                <a:ea typeface="+mn-ea"/>
                <a:cs typeface="+mn-cs"/>
              </a:rPr>
              <a:t>dropout. </a:t>
            </a:r>
            <a:r>
              <a:rPr lang="zh-TW" altLang="en-US" sz="1200" b="0" i="0" kern="1200" dirty="0" smtClean="0">
                <a:solidFill>
                  <a:schemeClr val="tx1"/>
                </a:solidFill>
                <a:effectLst/>
                <a:latin typeface="+mn-lt"/>
                <a:ea typeface="+mn-ea"/>
                <a:cs typeface="+mn-cs"/>
              </a:rPr>
              <a:t>在訓練的時候</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我們隨機忽略掉一些神經元和神經聯結</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是這個神經網絡變得”不完整”</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用一個不完整的神經網絡訓練一次</a:t>
            </a:r>
            <a:r>
              <a:rPr lang="en-US" altLang="zh-TW" sz="1200" b="0" i="0" kern="1200" dirty="0" smtClean="0">
                <a:solidFill>
                  <a:schemeClr val="tx1"/>
                </a:solidFill>
                <a:effectLst/>
                <a:latin typeface="+mn-lt"/>
                <a:ea typeface="+mn-ea"/>
                <a:cs typeface="+mn-cs"/>
              </a:rPr>
              <a:t>.</a:t>
            </a:r>
          </a:p>
          <a:p>
            <a:r>
              <a:rPr lang="zh-TW" altLang="en-US" sz="1200" b="0" i="0" kern="1200" dirty="0" smtClean="0">
                <a:solidFill>
                  <a:schemeClr val="tx1"/>
                </a:solidFill>
                <a:effectLst/>
                <a:latin typeface="+mn-lt"/>
                <a:ea typeface="+mn-ea"/>
                <a:cs typeface="+mn-cs"/>
              </a:rPr>
              <a:t>到第二次再隨機忽略另一些</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變成另一個不完整的神經網絡</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有了這些隨機</a:t>
            </a:r>
            <a:r>
              <a:rPr lang="en-US" altLang="zh-TW" sz="1200" b="0" i="0" kern="1200" dirty="0" smtClean="0">
                <a:solidFill>
                  <a:schemeClr val="tx1"/>
                </a:solidFill>
                <a:effectLst/>
                <a:latin typeface="+mn-lt"/>
                <a:ea typeface="+mn-ea"/>
                <a:cs typeface="+mn-cs"/>
              </a:rPr>
              <a:t>drop </a:t>
            </a:r>
            <a:r>
              <a:rPr lang="zh-TW" altLang="en-US" sz="1200" b="0" i="0" kern="1200" dirty="0" smtClean="0">
                <a:solidFill>
                  <a:schemeClr val="tx1"/>
                </a:solidFill>
                <a:effectLst/>
                <a:latin typeface="+mn-lt"/>
                <a:ea typeface="+mn-ea"/>
                <a:cs typeface="+mn-cs"/>
              </a:rPr>
              <a:t>掉的規則</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我們可以想像其實每次訓練的時候</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我們都讓每一次預測結果都不會依賴於其中某部分特定的神經元</a:t>
            </a:r>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852362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268025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其中k代表一天的時間，第一個項目是衡量平均每日利潤，第二個項目是描述波動率，這意味著波動率越小，交易期間的風險就越小。</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雖然</a:t>
            </a:r>
            <a:r>
              <a:rPr lang="en-US" altLang="zh-TW" dirty="0" smtClean="0"/>
              <a:t>RL</a:t>
            </a:r>
            <a:r>
              <a:rPr lang="zh-TW" altLang="en-US" dirty="0" smtClean="0"/>
              <a:t>提供了一個很好的交易模型，但眾所周知，強大的特徵對於決策非常重要。 不良的特徵提取將直接影響交易系統。為了提取好的特徵，深度學習在圖像分類，語音識別和自然語言處理中表現良好。 深度學習是一種表示學習框架，其基礎設施被描述為多層神經網絡。 深度學習可以從大數據中學習強大的功能。 深度學習和強化學習相結合已成為一種快速發展的趨勢</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3591710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smtClean="0">
                <a:latin typeface="Times New Roman" panose="02020603050405020304" pitchFamily="18" charset="0"/>
                <a:cs typeface="Times New Roman" panose="02020603050405020304" pitchFamily="18" charset="0"/>
              </a:rPr>
              <a:t> we set TC = 1 .</a:t>
            </a:r>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3603060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B＆H遵循每天收盤價的趨勢。 當開盤價低於一天內的收盤價時，B＆H會提供收益。</a:t>
            </a:r>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225153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2019/1/8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B447A32-0D96-4B57-86B2-82EC84E8995E}"/>
              </a:ext>
            </a:extLst>
          </p:cNvPr>
          <p:cNvSpPr>
            <a:spLocks noGrp="1"/>
          </p:cNvSpPr>
          <p:nvPr>
            <p:ph type="ctrTitle"/>
          </p:nvPr>
        </p:nvSpPr>
        <p:spPr>
          <a:xfrm>
            <a:off x="430922" y="1064304"/>
            <a:ext cx="8366235" cy="1605324"/>
          </a:xfrm>
        </p:spPr>
        <p:txBody>
          <a:bodyPr>
            <a:noAutofit/>
          </a:bodyPr>
          <a:lstStyle/>
          <a:p>
            <a:r>
              <a:rPr lang="en-US" altLang="zh-TW" sz="4000" dirty="0">
                <a:latin typeface="Times New Roman" panose="02020603050405020304" pitchFamily="18" charset="0"/>
                <a:cs typeface="Times New Roman" panose="02020603050405020304" pitchFamily="18" charset="0"/>
              </a:rPr>
              <a:t>A Multi-Objective Deep Reinforcement Learning Approach for Stock Index</a:t>
            </a:r>
            <a:br>
              <a:rPr lang="en-US" altLang="zh-TW" sz="4000" dirty="0">
                <a:latin typeface="Times New Roman" panose="02020603050405020304" pitchFamily="18" charset="0"/>
                <a:cs typeface="Times New Roman" panose="02020603050405020304" pitchFamily="18" charset="0"/>
              </a:rPr>
            </a:br>
            <a:r>
              <a:rPr lang="en-US" altLang="zh-TW" sz="4000" dirty="0" err="1">
                <a:latin typeface="Times New Roman" panose="02020603050405020304" pitchFamily="18" charset="0"/>
                <a:cs typeface="Times New Roman" panose="02020603050405020304" pitchFamily="18" charset="0"/>
              </a:rPr>
              <a:t>Futures’s</a:t>
            </a:r>
            <a:r>
              <a:rPr lang="en-US" altLang="zh-TW" sz="4000" dirty="0">
                <a:latin typeface="Times New Roman" panose="02020603050405020304" pitchFamily="18" charset="0"/>
                <a:cs typeface="Times New Roman" panose="02020603050405020304" pitchFamily="18" charset="0"/>
              </a:rPr>
              <a:t> Intraday Trading</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61456E59-5D91-4093-B1A4-6F308EA967FD}"/>
              </a:ext>
            </a:extLst>
          </p:cNvPr>
          <p:cNvSpPr>
            <a:spLocks noGrp="1"/>
          </p:cNvSpPr>
          <p:nvPr>
            <p:ph type="subTitle" idx="1"/>
          </p:nvPr>
        </p:nvSpPr>
        <p:spPr>
          <a:xfrm>
            <a:off x="270202" y="3451415"/>
            <a:ext cx="8526955" cy="433133"/>
          </a:xfrm>
        </p:spPr>
        <p:txBody>
          <a:bodyPr>
            <a:noAutofit/>
          </a:bodyPr>
          <a:lstStyle/>
          <a:p>
            <a:r>
              <a:rPr lang="en-US" altLang="zh-TW" dirty="0" err="1"/>
              <a:t>Weiyu</a:t>
            </a:r>
            <a:r>
              <a:rPr lang="en-US" altLang="zh-TW" dirty="0"/>
              <a:t> Si, </a:t>
            </a:r>
            <a:r>
              <a:rPr lang="en-US" altLang="zh-TW" dirty="0" err="1"/>
              <a:t>Jinke</a:t>
            </a:r>
            <a:r>
              <a:rPr lang="en-US" altLang="zh-TW" dirty="0"/>
              <a:t> Li, </a:t>
            </a:r>
            <a:r>
              <a:rPr lang="en-US" altLang="zh-TW" dirty="0" err="1"/>
              <a:t>Ruonan</a:t>
            </a:r>
            <a:r>
              <a:rPr lang="en-US" altLang="zh-TW" dirty="0"/>
              <a:t> Rao  </a:t>
            </a:r>
            <a:r>
              <a:rPr lang="en-US" altLang="zh-TW" dirty="0" smtClean="0"/>
              <a:t>,</a:t>
            </a:r>
            <a:r>
              <a:rPr lang="en-US" altLang="zh-TW" dirty="0"/>
              <a:t> Peng Ding</a:t>
            </a:r>
            <a:endParaRPr lang="zh-TW" altLang="en-US"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副標題 2">
            <a:extLst>
              <a:ext uri="{FF2B5EF4-FFF2-40B4-BE49-F238E27FC236}">
                <a16:creationId xmlns:a16="http://schemas.microsoft.com/office/drawing/2014/main" xmlns="" id="{A64E0364-4674-4930-835E-A413D880DCDB}"/>
              </a:ext>
            </a:extLst>
          </p:cNvPr>
          <p:cNvSpPr txBox="1">
            <a:spLocks/>
          </p:cNvSpPr>
          <p:nvPr/>
        </p:nvSpPr>
        <p:spPr>
          <a:xfrm>
            <a:off x="4785516" y="5485626"/>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cs typeface="Times New Roman" panose="02020603050405020304" pitchFamily="18" charset="0"/>
              </a:rPr>
              <a:t>Feng-Yang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Tsai</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2018.1.8</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a:extLst>
              <a:ext uri="{FF2B5EF4-FFF2-40B4-BE49-F238E27FC236}">
                <a16:creationId xmlns:a16="http://schemas.microsoft.com/office/drawing/2014/main" xmlns="" id="{776243CF-D414-4295-8B1E-9BF6541E940C}"/>
              </a:ext>
            </a:extLst>
          </p:cNvPr>
          <p:cNvSpPr/>
          <p:nvPr/>
        </p:nvSpPr>
        <p:spPr>
          <a:xfrm>
            <a:off x="592580" y="4009331"/>
            <a:ext cx="8071945" cy="830997"/>
          </a:xfrm>
          <a:prstGeom prst="rect">
            <a:avLst/>
          </a:prstGeom>
        </p:spPr>
        <p:txBody>
          <a:bodyPr wrap="square">
            <a:spAutoFit/>
          </a:bodyPr>
          <a:lstStyle/>
          <a:p>
            <a:pPr algn="ctr"/>
            <a:r>
              <a:rPr lang="en-US" altLang="zh-TW" sz="2400" dirty="0">
                <a:latin typeface="Times New Roman" panose="02020603050405020304" pitchFamily="18" charset="0"/>
                <a:cs typeface="Times New Roman" panose="02020603050405020304" pitchFamily="18" charset="0"/>
              </a:rPr>
              <a:t>2017 10th International Symposium on Computational Intelligence and </a:t>
            </a:r>
            <a:r>
              <a:rPr lang="en-US" altLang="zh-TW" sz="2400" dirty="0" smtClean="0">
                <a:latin typeface="Times New Roman" panose="02020603050405020304" pitchFamily="18" charset="0"/>
                <a:cs typeface="Times New Roman" panose="02020603050405020304" pitchFamily="18" charset="0"/>
              </a:rPr>
              <a:t>Design, Hangzhou, China, Pages </a:t>
            </a:r>
            <a:r>
              <a:rPr lang="en-US" altLang="zh-TW" sz="2400" dirty="0" smtClean="0">
                <a:latin typeface="Times New Roman" panose="02020603050405020304" pitchFamily="18" charset="0"/>
                <a:cs typeface="Times New Roman" panose="02020603050405020304" pitchFamily="18" charset="0"/>
              </a:rPr>
              <a:t>431–436</a:t>
            </a:r>
            <a:endParaRPr lang="zh-TW" altLang="en-US" sz="32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52906" y="644700"/>
            <a:ext cx="7886700" cy="583367"/>
          </a:xfrm>
        </p:spPr>
        <p:txBody>
          <a:bodyPr>
            <a:normAutofit/>
          </a:bodyPr>
          <a:lstStyle/>
          <a:p>
            <a:r>
              <a:rPr lang="en-US" altLang="zh-TW" sz="3200" dirty="0" smtClean="0">
                <a:latin typeface="Times New Roman" panose="02020603050405020304" pitchFamily="18" charset="0"/>
                <a:cs typeface="Times New Roman" panose="02020603050405020304" pitchFamily="18" charset="0"/>
              </a:rPr>
              <a:t>Abstract(1/2)</a:t>
            </a:r>
            <a:endParaRPr lang="zh-TW" altLang="en-US" sz="32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452906" y="1353683"/>
            <a:ext cx="8335931" cy="5131633"/>
          </a:xfrm>
        </p:spPr>
        <p:txBody>
          <a:bodyPr>
            <a:noAutofit/>
          </a:bodyPr>
          <a:lstStyle/>
          <a:p>
            <a:pPr marL="0" indent="0" algn="just">
              <a:lnSpc>
                <a:spcPts val="3000"/>
              </a:lnSpc>
              <a:spcBef>
                <a:spcPts val="0"/>
              </a:spcBef>
              <a:buNone/>
            </a:pPr>
            <a:r>
              <a:rPr lang="en-US" altLang="zh-TW" sz="2600" dirty="0">
                <a:latin typeface="Times New Roman" panose="02020603050405020304" pitchFamily="18" charset="0"/>
                <a:ea typeface="標楷體" panose="03000509000000000000" pitchFamily="65" charset="-120"/>
                <a:cs typeface="Times New Roman" panose="02020603050405020304" pitchFamily="18" charset="0"/>
              </a:rPr>
              <a:t>Modern artiﬁcial intelligence has been widely discussed to practice in automated ﬁnancial asserts trading. Automated intraday trading means that the agent can react to the market conditions automatically, while simultaneously make the right decisions. Besides, the proﬁts will be made within a day considering </a:t>
            </a:r>
            <a:r>
              <a:rPr lang="en-US" altLang="zh-TW" sz="2600" dirty="0" smtClean="0">
                <a:latin typeface="Times New Roman" panose="02020603050405020304" pitchFamily="18" charset="0"/>
                <a:ea typeface="標楷體" panose="03000509000000000000" pitchFamily="65" charset="-120"/>
                <a:cs typeface="Times New Roman" panose="02020603050405020304" pitchFamily="18" charset="0"/>
              </a:rPr>
              <a:t>transaction </a:t>
            </a:r>
            <a:r>
              <a:rPr lang="en-US" altLang="zh-TW" sz="2600" dirty="0">
                <a:latin typeface="Times New Roman" panose="02020603050405020304" pitchFamily="18" charset="0"/>
                <a:ea typeface="標楷體" panose="03000509000000000000" pitchFamily="65" charset="-120"/>
                <a:cs typeface="Times New Roman" panose="02020603050405020304" pitchFamily="18" charset="0"/>
              </a:rPr>
              <a:t>cost charged by the brokerage company. In this paper, we introduce a </a:t>
            </a:r>
            <a:r>
              <a:rPr lang="en-US" altLang="zh-TW" sz="2600" dirty="0" smtClean="0">
                <a:latin typeface="Times New Roman" panose="02020603050405020304" pitchFamily="18" charset="0"/>
                <a:ea typeface="標楷體" panose="03000509000000000000" pitchFamily="65" charset="-120"/>
                <a:cs typeface="Times New Roman" panose="02020603050405020304" pitchFamily="18" charset="0"/>
              </a:rPr>
              <a:t>multi-objective </a:t>
            </a:r>
            <a:r>
              <a:rPr lang="en-US" altLang="zh-TW" sz="2600" dirty="0">
                <a:latin typeface="Times New Roman" panose="02020603050405020304" pitchFamily="18" charset="0"/>
                <a:ea typeface="標楷體" panose="03000509000000000000" pitchFamily="65" charset="-120"/>
                <a:cs typeface="Times New Roman" panose="02020603050405020304" pitchFamily="18" charset="0"/>
              </a:rPr>
              <a:t>deep reinforcement learning approach for intraday ﬁnancial signal representation and trading. We design the deep neural networks to automatically discover the dynamic market features, then a reinforcement learning method implemented by a special kind of recurrent neural network (LSTM) is applied to make continuous trading decisions. </a:t>
            </a:r>
            <a:endParaRPr lang="zh-TW" altLang="en-US" sz="26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452906" y="1385722"/>
            <a:ext cx="8335931" cy="5131633"/>
          </a:xfrm>
        </p:spPr>
        <p:txBody>
          <a:bodyPr>
            <a:noAutofit/>
          </a:bodyPr>
          <a:lstStyle/>
          <a:p>
            <a:pPr marL="0" indent="0" algn="just">
              <a:lnSpc>
                <a:spcPts val="3000"/>
              </a:lnSpc>
              <a:buNone/>
            </a:pPr>
            <a:r>
              <a:rPr lang="en-US" altLang="zh-TW" sz="2600" dirty="0">
                <a:latin typeface="Times New Roman" panose="02020603050405020304" pitchFamily="18" charset="0"/>
                <a:ea typeface="標楷體" panose="03000509000000000000" pitchFamily="65" charset="-120"/>
                <a:cs typeface="Times New Roman" panose="02020603050405020304" pitchFamily="18" charset="0"/>
              </a:rPr>
              <a:t>In terms of balancing the proﬁt and risk, we implement a multi-objective structure which includes two objectives with different weights. We conduct experiments on stock index futures data, and our analysis and experiments not only offer insights into ﬁnancial market features mining, but also provide a straightforward and reliable method to make proﬁts, which sheds light on its wide application on automated ﬁnancial </a:t>
            </a:r>
            <a:r>
              <a:rPr lang="en-US" altLang="zh-TW" sz="2600" dirty="0" smtClean="0">
                <a:latin typeface="Times New Roman" panose="02020603050405020304" pitchFamily="18" charset="0"/>
                <a:ea typeface="標楷體" panose="03000509000000000000" pitchFamily="65" charset="-120"/>
                <a:cs typeface="Times New Roman" panose="02020603050405020304" pitchFamily="18" charset="0"/>
              </a:rPr>
              <a:t>trading.</a:t>
            </a:r>
            <a:endParaRPr lang="zh-TW" altLang="en-US" sz="2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標題 1">
            <a:extLst>
              <a:ext uri="{FF2B5EF4-FFF2-40B4-BE49-F238E27FC236}">
                <a16:creationId xmlns:a16="http://schemas.microsoft.com/office/drawing/2014/main" xmlns="" id="{94B01AB9-0651-4F6D-A93A-D571F0BAE9A7}"/>
              </a:ext>
            </a:extLst>
          </p:cNvPr>
          <p:cNvSpPr>
            <a:spLocks noGrp="1"/>
          </p:cNvSpPr>
          <p:nvPr>
            <p:ph type="title"/>
          </p:nvPr>
        </p:nvSpPr>
        <p:spPr>
          <a:xfrm>
            <a:off x="452906" y="644700"/>
            <a:ext cx="7886700" cy="583367"/>
          </a:xfrm>
        </p:spPr>
        <p:txBody>
          <a:bodyPr>
            <a:normAutofit/>
          </a:bodyPr>
          <a:lstStyle/>
          <a:p>
            <a:r>
              <a:rPr lang="en-US" altLang="zh-TW" sz="3200" dirty="0" smtClean="0">
                <a:latin typeface="Times New Roman" panose="02020603050405020304" pitchFamily="18" charset="0"/>
                <a:cs typeface="Times New Roman" panose="02020603050405020304" pitchFamily="18" charset="0"/>
              </a:rPr>
              <a:t>Abstract(2/2)</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51224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809296" y="1555531"/>
            <a:ext cx="7662042" cy="3416320"/>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1.Actor-based</a:t>
            </a:r>
          </a:p>
          <a:p>
            <a:r>
              <a:rPr lang="en-US" altLang="zh-TW" sz="2400" dirty="0" smtClean="0">
                <a:latin typeface="Times New Roman" panose="02020603050405020304" pitchFamily="18" charset="0"/>
                <a:cs typeface="Times New Roman" panose="02020603050405020304" pitchFamily="18" charset="0"/>
              </a:rPr>
              <a:t>A </a:t>
            </a:r>
            <a:r>
              <a:rPr lang="en-US" altLang="zh-TW" sz="2400" dirty="0">
                <a:latin typeface="Times New Roman" panose="02020603050405020304" pitchFamily="18" charset="0"/>
                <a:cs typeface="Times New Roman" panose="02020603050405020304" pitchFamily="18" charset="0"/>
              </a:rPr>
              <a:t>recurrent reinforcement learning (RRL) model designed to implement risk control, cost-sensitive trading strategies that use the </a:t>
            </a:r>
            <a:r>
              <a:rPr lang="en-US" altLang="zh-TW" sz="2400" b="1" dirty="0">
                <a:latin typeface="Times New Roman" panose="02020603050405020304" pitchFamily="18" charset="0"/>
                <a:cs typeface="Times New Roman" panose="02020603050405020304" pitchFamily="18" charset="0"/>
              </a:rPr>
              <a:t>Sharp ratio </a:t>
            </a:r>
            <a:r>
              <a:rPr lang="en-US" altLang="zh-TW" sz="2400" dirty="0">
                <a:latin typeface="Times New Roman" panose="02020603050405020304" pitchFamily="18" charset="0"/>
                <a:cs typeface="Times New Roman" panose="02020603050405020304" pitchFamily="18" charset="0"/>
              </a:rPr>
              <a:t>as an objective function</a:t>
            </a:r>
            <a:r>
              <a:rPr lang="en-US" altLang="zh-TW" sz="2400" dirty="0" smtClean="0">
                <a:latin typeface="Times New Roman" panose="02020603050405020304" pitchFamily="18" charset="0"/>
                <a:cs typeface="Times New Roman" panose="02020603050405020304" pitchFamily="18" charset="0"/>
              </a:rPr>
              <a:t>.</a:t>
            </a: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2.Critic-based</a:t>
            </a:r>
          </a:p>
          <a:p>
            <a:r>
              <a:rPr lang="en-US" altLang="zh-TW" sz="2400" dirty="0" smtClean="0">
                <a:latin typeface="Times New Roman" panose="02020603050405020304" pitchFamily="18" charset="0"/>
                <a:cs typeface="Times New Roman" panose="02020603050405020304" pitchFamily="18" charset="0"/>
              </a:rPr>
              <a:t>These </a:t>
            </a:r>
            <a:r>
              <a:rPr lang="en-US" altLang="zh-TW" sz="2400" dirty="0">
                <a:latin typeface="Times New Roman" panose="02020603050405020304" pitchFamily="18" charset="0"/>
                <a:cs typeface="Times New Roman" panose="02020603050405020304" pitchFamily="18" charset="0"/>
              </a:rPr>
              <a:t>value function methods, such as TD-learning </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Q-learning </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and </a:t>
            </a:r>
            <a:r>
              <a:rPr lang="en-US" altLang="zh-TW" sz="2400" dirty="0" err="1">
                <a:latin typeface="Times New Roman" panose="02020603050405020304" pitchFamily="18" charset="0"/>
                <a:cs typeface="Times New Roman" panose="02020603050405020304" pitchFamily="18" charset="0"/>
              </a:rPr>
              <a:t>Sarsa</a:t>
            </a:r>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are often used to solve discrete space optimization </a:t>
            </a:r>
            <a:r>
              <a:rPr lang="en-US" altLang="zh-TW" sz="2400" dirty="0" smtClean="0">
                <a:latin typeface="Times New Roman" panose="02020603050405020304" pitchFamily="18" charset="0"/>
                <a:cs typeface="Times New Roman" panose="02020603050405020304" pitchFamily="18" charset="0"/>
              </a:rPr>
              <a:t>problems.</a:t>
            </a:r>
            <a:endParaRPr lang="zh-TW" altLang="en-US" sz="2400" dirty="0">
              <a:latin typeface="Times New Roman" panose="02020603050405020304" pitchFamily="18" charset="0"/>
              <a:cs typeface="Times New Roman" panose="02020603050405020304" pitchFamily="18" charset="0"/>
            </a:endParaRPr>
          </a:p>
        </p:txBody>
      </p:sp>
      <p:sp>
        <p:nvSpPr>
          <p:cNvPr id="5" name="矩形 4"/>
          <p:cNvSpPr/>
          <p:nvPr/>
        </p:nvSpPr>
        <p:spPr>
          <a:xfrm>
            <a:off x="809296" y="492516"/>
            <a:ext cx="3937232" cy="523220"/>
          </a:xfrm>
          <a:prstGeom prst="rect">
            <a:avLst/>
          </a:prstGeom>
        </p:spPr>
        <p:txBody>
          <a:bodyPr wrap="none">
            <a:spAutoFit/>
          </a:bodyPr>
          <a:lstStyle/>
          <a:p>
            <a:r>
              <a:rPr lang="en-US" altLang="zh-TW" sz="2800" b="1" dirty="0">
                <a:latin typeface="Times New Roman" panose="02020603050405020304" pitchFamily="18" charset="0"/>
                <a:cs typeface="Times New Roman" panose="02020603050405020304" pitchFamily="18" charset="0"/>
              </a:rPr>
              <a:t>Reinforcement learning:</a:t>
            </a:r>
          </a:p>
        </p:txBody>
      </p:sp>
    </p:spTree>
    <p:extLst>
      <p:ext uri="{BB962C8B-B14F-4D97-AF65-F5344CB8AC3E}">
        <p14:creationId xmlns:p14="http://schemas.microsoft.com/office/powerpoint/2010/main" val="21027711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539239" y="777767"/>
            <a:ext cx="6643586" cy="470064"/>
          </a:xfrm>
          <a:prstGeom prst="rect">
            <a:avLst/>
          </a:prstGeom>
        </p:spPr>
      </p:pic>
      <p:sp>
        <p:nvSpPr>
          <p:cNvPr id="11" name="矩形 10"/>
          <p:cNvSpPr/>
          <p:nvPr/>
        </p:nvSpPr>
        <p:spPr>
          <a:xfrm>
            <a:off x="1031882" y="1580380"/>
            <a:ext cx="7107340" cy="830997"/>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     represents </a:t>
            </a:r>
            <a:r>
              <a:rPr lang="en-US" altLang="zh-TW" sz="2400" dirty="0">
                <a:latin typeface="Times New Roman" panose="02020603050405020304" pitchFamily="18" charset="0"/>
                <a:cs typeface="Times New Roman" panose="02020603050405020304" pitchFamily="18" charset="0"/>
              </a:rPr>
              <a:t>the trading decision {long, neutral, short} token </a:t>
            </a:r>
            <a:r>
              <a:rPr lang="en-US" altLang="zh-TW" sz="2400" dirty="0" smtClean="0">
                <a:latin typeface="Times New Roman" panose="02020603050405020304" pitchFamily="18" charset="0"/>
                <a:cs typeface="Times New Roman" panose="02020603050405020304" pitchFamily="18" charset="0"/>
              </a:rPr>
              <a:t>at time t.</a:t>
            </a:r>
            <a:endParaRPr lang="zh-TW" altLang="en-US" sz="2400" dirty="0"/>
          </a:p>
        </p:txBody>
      </p:sp>
      <p:pic>
        <p:nvPicPr>
          <p:cNvPr id="12" name="圖片 11"/>
          <p:cNvPicPr>
            <a:picLocks noChangeAspect="1"/>
          </p:cNvPicPr>
          <p:nvPr/>
        </p:nvPicPr>
        <p:blipFill>
          <a:blip r:embed="rId4"/>
          <a:stretch>
            <a:fillRect/>
          </a:stretch>
        </p:blipFill>
        <p:spPr>
          <a:xfrm>
            <a:off x="1048688" y="1515629"/>
            <a:ext cx="354441" cy="416991"/>
          </a:xfrm>
          <a:prstGeom prst="rect">
            <a:avLst/>
          </a:prstGeom>
        </p:spPr>
      </p:pic>
      <p:sp>
        <p:nvSpPr>
          <p:cNvPr id="13" name="矩形 12"/>
          <p:cNvSpPr/>
          <p:nvPr/>
        </p:nvSpPr>
        <p:spPr>
          <a:xfrm>
            <a:off x="1031882" y="2563562"/>
            <a:ext cx="6434678"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 </a:t>
            </a:r>
            <a:r>
              <a:rPr lang="zh-TW" altLang="en-US" sz="2400" dirty="0" smtClean="0">
                <a:latin typeface="Times New Roman" panose="02020603050405020304" pitchFamily="18" charset="0"/>
                <a:cs typeface="Times New Roman" panose="02020603050405020304" pitchFamily="18" charset="0"/>
              </a:rPr>
              <a:t>     represents </a:t>
            </a:r>
            <a:r>
              <a:rPr lang="zh-TW" altLang="en-US" sz="2400" dirty="0">
                <a:latin typeface="Times New Roman" panose="02020603050405020304" pitchFamily="18" charset="0"/>
                <a:cs typeface="Times New Roman" panose="02020603050405020304" pitchFamily="18" charset="0"/>
              </a:rPr>
              <a:t>the feature vector of the </a:t>
            </a:r>
            <a:r>
              <a:rPr lang="zh-TW" altLang="en-US" sz="2400" dirty="0" smtClean="0">
                <a:latin typeface="Times New Roman" panose="02020603050405020304" pitchFamily="18" charset="0"/>
                <a:cs typeface="Times New Roman" panose="02020603050405020304" pitchFamily="18" charset="0"/>
              </a:rPr>
              <a:t>current market </a:t>
            </a:r>
            <a:r>
              <a:rPr lang="zh-TW" altLang="en-US" sz="2400" dirty="0">
                <a:latin typeface="Times New Roman" panose="02020603050405020304" pitchFamily="18" charset="0"/>
                <a:cs typeface="Times New Roman" panose="02020603050405020304" pitchFamily="18" charset="0"/>
              </a:rPr>
              <a:t>condition at time </a:t>
            </a:r>
            <a:r>
              <a:rPr lang="zh-TW" altLang="en-US" sz="2400" dirty="0" smtClean="0">
                <a:latin typeface="Times New Roman" panose="02020603050405020304" pitchFamily="18" charset="0"/>
                <a:cs typeface="Times New Roman" panose="02020603050405020304" pitchFamily="18" charset="0"/>
              </a:rPr>
              <a:t>t</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pic>
        <p:nvPicPr>
          <p:cNvPr id="14" name="圖片 13"/>
          <p:cNvPicPr>
            <a:picLocks noChangeAspect="1"/>
          </p:cNvPicPr>
          <p:nvPr/>
        </p:nvPicPr>
        <p:blipFill>
          <a:blip r:embed="rId5"/>
          <a:stretch>
            <a:fillRect/>
          </a:stretch>
        </p:blipFill>
        <p:spPr>
          <a:xfrm>
            <a:off x="1126475" y="2602549"/>
            <a:ext cx="388051" cy="376963"/>
          </a:xfrm>
          <a:prstGeom prst="rect">
            <a:avLst/>
          </a:prstGeom>
        </p:spPr>
      </p:pic>
      <mc:AlternateContent xmlns:mc="http://schemas.openxmlformats.org/markup-compatibility/2006" xmlns:a14="http://schemas.microsoft.com/office/drawing/2010/main">
        <mc:Choice Requires="a14">
          <p:sp>
            <p:nvSpPr>
              <p:cNvPr id="16" name="矩形 15"/>
              <p:cNvSpPr/>
              <p:nvPr/>
            </p:nvSpPr>
            <p:spPr>
              <a:xfrm>
                <a:off x="1031882" y="3754703"/>
                <a:ext cx="6865602" cy="830997"/>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T</a:t>
                </a:r>
                <a:r>
                  <a:rPr lang="zh-TW" altLang="en-US" sz="2400" dirty="0" smtClean="0">
                    <a:latin typeface="Times New Roman" panose="02020603050405020304" pitchFamily="18" charset="0"/>
                    <a:cs typeface="Times New Roman" panose="02020603050405020304" pitchFamily="18" charset="0"/>
                  </a:rPr>
                  <a:t>he </a:t>
                </a:r>
                <a:r>
                  <a:rPr lang="zh-TW" altLang="en-US" sz="2400" dirty="0">
                    <a:latin typeface="Times New Roman" panose="02020603050405020304" pitchFamily="18" charset="0"/>
                    <a:cs typeface="Times New Roman" panose="02020603050405020304" pitchFamily="18" charset="0"/>
                  </a:rPr>
                  <a:t>price sequence is described as </a:t>
                </a:r>
                <a14:m>
                  <m:oMath xmlns:m="http://schemas.openxmlformats.org/officeDocument/2006/math">
                    <m:sSub>
                      <m:sSubPr>
                        <m:ctrlPr>
                          <a:rPr lang="zh-TW" altLang="en-US" sz="2400" i="1" dirty="0">
                            <a:latin typeface="Cambria Math" panose="02040503050406030204" pitchFamily="18" charset="0"/>
                          </a:rPr>
                        </m:ctrlPr>
                      </m:sSubPr>
                      <m:e>
                        <m:r>
                          <a:rPr lang="zh-TW" altLang="en-US" sz="2400" i="1" dirty="0">
                            <a:latin typeface="Cambria Math" panose="02040503050406030204" pitchFamily="18" charset="0"/>
                          </a:rPr>
                          <m:t>𝑝</m:t>
                        </m:r>
                      </m:e>
                      <m:sub>
                        <m:r>
                          <a:rPr lang="en-US" altLang="zh-TW" sz="2400" b="0" i="1" dirty="0" smtClean="0">
                            <a:latin typeface="Cambria Math" panose="02040503050406030204" pitchFamily="18" charset="0"/>
                          </a:rPr>
                          <m:t>1</m:t>
                        </m:r>
                      </m:sub>
                    </m:sSub>
                  </m:oMath>
                </a14:m>
                <a:r>
                  <a:rPr lang="zh-TW" alt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TW" altLang="en-US" sz="2400" i="1" dirty="0" smtClean="0">
                            <a:latin typeface="Cambria Math" panose="02040503050406030204" pitchFamily="18" charset="0"/>
                          </a:rPr>
                        </m:ctrlPr>
                      </m:sSubPr>
                      <m:e>
                        <m:r>
                          <a:rPr lang="zh-TW" altLang="en-US" sz="2400" i="1" dirty="0">
                            <a:latin typeface="Cambria Math" panose="02040503050406030204" pitchFamily="18" charset="0"/>
                          </a:rPr>
                          <m:t>𝑝</m:t>
                        </m:r>
                      </m:e>
                      <m:sub>
                        <m:r>
                          <a:rPr lang="en-US" altLang="zh-TW" sz="2400" b="0" i="1" dirty="0" smtClean="0">
                            <a:latin typeface="Cambria Math" panose="02040503050406030204" pitchFamily="18" charset="0"/>
                          </a:rPr>
                          <m:t>2</m:t>
                        </m:r>
                      </m:sub>
                    </m:sSub>
                  </m:oMath>
                </a14:m>
                <a:r>
                  <a:rPr lang="zh-TW" altLang="en-US" sz="2400"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zh-TW" altLang="en-US" sz="2400" i="1" dirty="0">
                            <a:latin typeface="Cambria Math" panose="02040503050406030204" pitchFamily="18" charset="0"/>
                          </a:rPr>
                        </m:ctrlPr>
                      </m:sSubPr>
                      <m:e>
                        <m:r>
                          <a:rPr lang="zh-TW" altLang="en-US" sz="2400" i="1" dirty="0">
                            <a:latin typeface="Cambria Math" panose="02040503050406030204" pitchFamily="18" charset="0"/>
                          </a:rPr>
                          <m:t>𝑝</m:t>
                        </m:r>
                      </m:e>
                      <m:sub>
                        <m:r>
                          <a:rPr lang="zh-TW" altLang="en-US" sz="2400" i="1" dirty="0">
                            <a:latin typeface="Cambria Math" panose="02040503050406030204" pitchFamily="18" charset="0"/>
                          </a:rPr>
                          <m:t>𝑡</m:t>
                        </m:r>
                      </m:sub>
                    </m:sSub>
                  </m:oMath>
                </a14:m>
                <a:r>
                  <a:rPr lang="zh-TW" altLang="en-US" sz="2400" dirty="0">
                    <a:latin typeface="Times New Roman" panose="02020603050405020304" pitchFamily="18" charset="0"/>
                    <a:cs typeface="Times New Roman" panose="02020603050405020304" pitchFamily="18" charset="0"/>
                  </a:rPr>
                  <a:t> </a:t>
                </a:r>
                <a:r>
                  <a:rPr lang="zh-TW" altLang="en-US" sz="2400" dirty="0" smtClean="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and the return at time t is deﬁned by </a:t>
                </a:r>
                <a14:m>
                  <m:oMath xmlns:m="http://schemas.openxmlformats.org/officeDocument/2006/math">
                    <m:sSub>
                      <m:sSubPr>
                        <m:ctrlPr>
                          <a:rPr lang="zh-TW" altLang="en-US" sz="2400" i="1">
                            <a:latin typeface="Cambria Math" panose="02040503050406030204" pitchFamily="18" charset="0"/>
                          </a:rPr>
                        </m:ctrlPr>
                      </m:sSubPr>
                      <m:e>
                        <m:r>
                          <a:rPr lang="zh-TW" altLang="en-US" sz="2400" i="1">
                            <a:latin typeface="Cambria Math" panose="02040503050406030204" pitchFamily="18" charset="0"/>
                          </a:rPr>
                          <m:t>𝑟</m:t>
                        </m:r>
                      </m:e>
                      <m:sub>
                        <m:r>
                          <a:rPr lang="zh-TW" altLang="en-US" sz="2400" i="1">
                            <a:latin typeface="Cambria Math" panose="02040503050406030204" pitchFamily="18" charset="0"/>
                          </a:rPr>
                          <m:t>𝑡</m:t>
                        </m:r>
                      </m:sub>
                    </m:sSub>
                    <m:r>
                      <a:rPr lang="zh-TW" altLang="en-US" sz="2400" i="1">
                        <a:latin typeface="Cambria Math" panose="02040503050406030204" pitchFamily="18" charset="0"/>
                      </a:rPr>
                      <m:t> </m:t>
                    </m:r>
                  </m:oMath>
                </a14:m>
                <a:r>
                  <a:rPr lang="zh-TW" alt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TW" altLang="en-US" sz="2400" i="1" dirty="0" smtClean="0">
                            <a:latin typeface="Cambria Math" panose="02040503050406030204" pitchFamily="18" charset="0"/>
                          </a:rPr>
                        </m:ctrlPr>
                      </m:sSubPr>
                      <m:e>
                        <m:r>
                          <a:rPr lang="zh-TW" altLang="en-US" sz="2400" i="1" dirty="0" smtClean="0">
                            <a:latin typeface="Cambria Math" panose="02040503050406030204" pitchFamily="18" charset="0"/>
                          </a:rPr>
                          <m:t>𝑝</m:t>
                        </m:r>
                      </m:e>
                      <m:sub>
                        <m:r>
                          <a:rPr lang="zh-TW" altLang="en-US" sz="2400" i="1" dirty="0" smtClean="0">
                            <a:latin typeface="Cambria Math" panose="02040503050406030204" pitchFamily="18" charset="0"/>
                          </a:rPr>
                          <m:t>𝑡</m:t>
                        </m:r>
                      </m:sub>
                    </m:sSub>
                  </m:oMath>
                </a14:m>
                <a:r>
                  <a:rPr lang="zh-TW" altLang="en-US" sz="2400"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zh-TW" altLang="en-US" sz="2400" i="1" dirty="0" smtClean="0">
                            <a:latin typeface="Cambria Math" panose="02040503050406030204" pitchFamily="18" charset="0"/>
                          </a:rPr>
                        </m:ctrlPr>
                      </m:sSubPr>
                      <m:e>
                        <m:r>
                          <a:rPr lang="en-US" altLang="zh-TW" sz="2400" b="0" i="1" dirty="0" smtClean="0">
                            <a:latin typeface="Cambria Math" panose="02040503050406030204" pitchFamily="18" charset="0"/>
                          </a:rPr>
                          <m:t>𝑝</m:t>
                        </m:r>
                      </m:e>
                      <m:sub>
                        <m:r>
                          <a:rPr lang="zh-TW" altLang="en-US" sz="2400" i="1" dirty="0" smtClean="0">
                            <a:latin typeface="Cambria Math" panose="02040503050406030204" pitchFamily="18" charset="0"/>
                          </a:rPr>
                          <m:t>𝑡</m:t>
                        </m:r>
                        <m:r>
                          <a:rPr lang="zh-TW" altLang="en-US" sz="2400" i="0" dirty="0" smtClean="0">
                            <a:latin typeface="Cambria Math" panose="02040503050406030204" pitchFamily="18" charset="0"/>
                          </a:rPr>
                          <m:t>−1</m:t>
                        </m:r>
                      </m:sub>
                    </m:sSub>
                  </m:oMath>
                </a14:m>
                <a:r>
                  <a:rPr lang="zh-TW" altLang="en-US"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6" name="矩形 15"/>
              <p:cNvSpPr>
                <a:spLocks noRot="1" noChangeAspect="1" noMove="1" noResize="1" noEditPoints="1" noAdjustHandles="1" noChangeArrowheads="1" noChangeShapeType="1" noTextEdit="1"/>
              </p:cNvSpPr>
              <p:nvPr/>
            </p:nvSpPr>
            <p:spPr>
              <a:xfrm>
                <a:off x="1031882" y="3754703"/>
                <a:ext cx="6865602" cy="830997"/>
              </a:xfrm>
              <a:prstGeom prst="rect">
                <a:avLst/>
              </a:prstGeom>
              <a:blipFill>
                <a:blip r:embed="rId6"/>
                <a:stretch>
                  <a:fillRect l="-1331" t="-5882" b="-161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048688" y="4945845"/>
                <a:ext cx="7748471" cy="830997"/>
              </a:xfrm>
              <a:prstGeom prst="rect">
                <a:avLst/>
              </a:prstGeom>
            </p:spPr>
            <p:txBody>
              <a:bodyPr wrap="square">
                <a:spAutoFit/>
              </a:bodyPr>
              <a:lstStyle/>
              <a:p>
                <a:r>
                  <a:rPr lang="zh-TW" altLang="en-US" sz="2400" dirty="0" smtClean="0">
                    <a:latin typeface="Times New Roman" panose="02020603050405020304" pitchFamily="18" charset="0"/>
                    <a:cs typeface="Times New Roman" panose="02020603050405020304" pitchFamily="18" charset="0"/>
                  </a:rPr>
                  <a:t>The feature vector at time point t uses lagged returns </a:t>
                </a:r>
                <a:r>
                  <a:rPr lang="zh-TW" altLang="en-US" sz="2400" dirty="0" smtClean="0"/>
                  <a:t> </a:t>
                </a:r>
                <a14:m>
                  <m:oMath xmlns:m="http://schemas.openxmlformats.org/officeDocument/2006/math">
                    <m:sSub>
                      <m:sSubPr>
                        <m:ctrlPr>
                          <a:rPr lang="zh-TW" altLang="en-US" sz="2400" i="1" dirty="0">
                            <a:latin typeface="Cambria Math" panose="02040503050406030204" pitchFamily="18" charset="0"/>
                          </a:rPr>
                        </m:ctrlPr>
                      </m:sSubPr>
                      <m:e>
                        <m:r>
                          <a:rPr lang="en-US" altLang="zh-TW" sz="2400" b="0" i="1" dirty="0" smtClean="0">
                            <a:latin typeface="Cambria Math" panose="02040503050406030204" pitchFamily="18" charset="0"/>
                          </a:rPr>
                          <m:t>𝑓</m:t>
                        </m:r>
                      </m:e>
                      <m:sub>
                        <m:r>
                          <a:rPr lang="zh-TW" altLang="en-US" sz="2400" i="1" dirty="0">
                            <a:latin typeface="Cambria Math" panose="02040503050406030204" pitchFamily="18" charset="0"/>
                          </a:rPr>
                          <m:t>𝑡</m:t>
                        </m:r>
                      </m:sub>
                    </m:sSub>
                  </m:oMath>
                </a14:m>
                <a:r>
                  <a:rPr lang="zh-TW" altLang="en-US" sz="2400" dirty="0">
                    <a:latin typeface="Times New Roman" panose="02020603050405020304" pitchFamily="18" charset="0"/>
                    <a:cs typeface="Times New Roman" panose="02020603050405020304" pitchFamily="18" charset="0"/>
                  </a:rPr>
                  <a:t> </a:t>
                </a:r>
                <a:r>
                  <a:rPr lang="zh-TW" altLang="en-US" sz="2400" dirty="0" smtClean="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TW" altLang="en-US" sz="2400" i="1" dirty="0" smtClean="0">
                            <a:latin typeface="Cambria Math" panose="02040503050406030204" pitchFamily="18" charset="0"/>
                          </a:rPr>
                        </m:ctrlPr>
                      </m:sSubPr>
                      <m:e>
                        <m:r>
                          <a:rPr lang="zh-TW" altLang="en-US" sz="2400" i="1" dirty="0" smtClean="0">
                            <a:latin typeface="Cambria Math" panose="02040503050406030204" pitchFamily="18" charset="0"/>
                          </a:rPr>
                          <m:t>𝑟</m:t>
                        </m:r>
                      </m:e>
                      <m:sub>
                        <m:r>
                          <a:rPr lang="zh-TW" altLang="en-US" sz="2400" i="1" dirty="0" smtClean="0">
                            <a:latin typeface="Cambria Math" panose="02040503050406030204" pitchFamily="18" charset="0"/>
                          </a:rPr>
                          <m:t>𝑡</m:t>
                        </m:r>
                        <m:r>
                          <a:rPr lang="zh-TW" altLang="en-US" sz="2400" i="0" dirty="0" smtClean="0">
                            <a:latin typeface="Cambria Math" panose="02040503050406030204" pitchFamily="18" charset="0"/>
                          </a:rPr>
                          <m:t>−</m:t>
                        </m:r>
                        <m:r>
                          <a:rPr lang="zh-TW" altLang="en-US" sz="2400" i="1" dirty="0" smtClean="0">
                            <a:latin typeface="Cambria Math" panose="02040503050406030204" pitchFamily="18" charset="0"/>
                          </a:rPr>
                          <m:t>𝑚</m:t>
                        </m:r>
                        <m:r>
                          <a:rPr lang="zh-TW" altLang="en-US" sz="2400" i="0" dirty="0" smtClean="0">
                            <a:latin typeface="Cambria Math" panose="02040503050406030204" pitchFamily="18" charset="0"/>
                          </a:rPr>
                          <m:t>+1</m:t>
                        </m:r>
                      </m:sub>
                    </m:sSub>
                  </m:oMath>
                </a14:m>
                <a:r>
                  <a:rPr lang="zh-TW" altLang="en-US" sz="2400" dirty="0" smtClean="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TW" altLang="en-US" sz="2400" i="1" smtClean="0">
                            <a:latin typeface="Cambria Math" panose="02040503050406030204" pitchFamily="18" charset="0"/>
                          </a:rPr>
                        </m:ctrlPr>
                      </m:sSubPr>
                      <m:e>
                        <m:r>
                          <a:rPr lang="zh-TW" altLang="en-US" sz="2400" i="1" smtClean="0">
                            <a:latin typeface="Cambria Math" panose="02040503050406030204" pitchFamily="18" charset="0"/>
                          </a:rPr>
                          <m:t>𝑟</m:t>
                        </m:r>
                      </m:e>
                      <m:sub>
                        <m:r>
                          <a:rPr lang="zh-TW" altLang="en-US" sz="2400" i="1" smtClean="0">
                            <a:latin typeface="Cambria Math" panose="02040503050406030204" pitchFamily="18" charset="0"/>
                          </a:rPr>
                          <m:t>𝑡</m:t>
                        </m:r>
                      </m:sub>
                    </m:sSub>
                  </m:oMath>
                </a14:m>
                <a:r>
                  <a:rPr lang="zh-TW" altLang="en-US" sz="2400" dirty="0" smtClean="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 </a:t>
                </a:r>
                <a:r>
                  <a:rPr lang="zh-TW" altLang="en-US" sz="2400" dirty="0" smtClean="0">
                    <a:latin typeface="Times New Roman" panose="02020603050405020304" pitchFamily="18" charset="0"/>
                    <a:cs typeface="Times New Roman" panose="02020603050405020304" pitchFamily="18" charset="0"/>
                  </a:rPr>
                  <a:t>R</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1048688" y="4945845"/>
                <a:ext cx="7748471" cy="830997"/>
              </a:xfrm>
              <a:prstGeom prst="rect">
                <a:avLst/>
              </a:prstGeom>
              <a:blipFill>
                <a:blip r:embed="rId7"/>
                <a:stretch>
                  <a:fillRect l="-1180" t="-6569" b="-1532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694229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26"/>
          <p:cNvSpPr/>
          <p:nvPr/>
        </p:nvSpPr>
        <p:spPr>
          <a:xfrm>
            <a:off x="4716265" y="926221"/>
            <a:ext cx="312049" cy="1505262"/>
          </a:xfrm>
          <a:prstGeom prst="rect">
            <a:avLst/>
          </a:prstGeom>
          <a:ln/>
        </p:spPr>
        <p:style>
          <a:lnRef idx="1">
            <a:schemeClr val="accent2"/>
          </a:lnRef>
          <a:fillRef idx="2">
            <a:schemeClr val="accent2"/>
          </a:fillRef>
          <a:effectRef idx="1">
            <a:schemeClr val="accent2"/>
          </a:effectRef>
          <a:fontRef idx="minor">
            <a:schemeClr val="dk1"/>
          </a:fontRef>
        </p:style>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dirty="0">
              <a:solidFill>
                <a:schemeClr val="dk1"/>
              </a:solidFill>
              <a:latin typeface="Arial"/>
              <a:ea typeface="Arial"/>
              <a:cs typeface="Arial"/>
              <a:sym typeface="Arial"/>
            </a:endParaRPr>
          </a:p>
        </p:txBody>
      </p:sp>
      <p:sp>
        <p:nvSpPr>
          <p:cNvPr id="5" name="Shape 238"/>
          <p:cNvSpPr/>
          <p:nvPr/>
        </p:nvSpPr>
        <p:spPr>
          <a:xfrm>
            <a:off x="4744908" y="1018532"/>
            <a:ext cx="247823" cy="247823"/>
          </a:xfrm>
          <a:prstGeom prst="ellipse">
            <a:avLst/>
          </a:prstGeom>
          <a:gradFill>
            <a:gsLst>
              <a:gs pos="0">
                <a:srgbClr val="FFE379"/>
              </a:gs>
              <a:gs pos="35000">
                <a:srgbClr val="FFEBA2"/>
              </a:gs>
              <a:gs pos="100000">
                <a:srgbClr val="FFF5D9"/>
              </a:gs>
            </a:gsLst>
            <a:lin ang="16200038" scaled="0"/>
          </a:gradFill>
          <a:ln w="9525" cap="flat" cmpd="sng">
            <a:solidFill>
              <a:srgbClr val="F3B100"/>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dirty="0">
              <a:solidFill>
                <a:schemeClr val="dk1"/>
              </a:solidFill>
              <a:latin typeface="Arial"/>
              <a:ea typeface="Arial"/>
              <a:cs typeface="Arial"/>
              <a:sym typeface="Arial"/>
            </a:endParaRPr>
          </a:p>
        </p:txBody>
      </p:sp>
      <p:sp>
        <p:nvSpPr>
          <p:cNvPr id="6" name="Shape 239"/>
          <p:cNvSpPr/>
          <p:nvPr/>
        </p:nvSpPr>
        <p:spPr>
          <a:xfrm>
            <a:off x="4751704" y="1348884"/>
            <a:ext cx="247030" cy="247030"/>
          </a:xfrm>
          <a:prstGeom prst="ellipse">
            <a:avLst/>
          </a:prstGeom>
          <a:gradFill>
            <a:gsLst>
              <a:gs pos="0">
                <a:srgbClr val="FFE379"/>
              </a:gs>
              <a:gs pos="35000">
                <a:srgbClr val="FFEBA2"/>
              </a:gs>
              <a:gs pos="100000">
                <a:srgbClr val="FFF5D9"/>
              </a:gs>
            </a:gsLst>
            <a:lin ang="16200038" scaled="0"/>
          </a:gradFill>
          <a:ln w="9525" cap="flat" cmpd="sng">
            <a:solidFill>
              <a:srgbClr val="F3B100"/>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dirty="0">
              <a:solidFill>
                <a:schemeClr val="dk1"/>
              </a:solidFill>
              <a:latin typeface="Arial"/>
              <a:ea typeface="Arial"/>
              <a:cs typeface="Arial"/>
              <a:sym typeface="Arial"/>
            </a:endParaRPr>
          </a:p>
        </p:txBody>
      </p:sp>
      <p:sp>
        <p:nvSpPr>
          <p:cNvPr id="7" name="Shape 240"/>
          <p:cNvSpPr/>
          <p:nvPr/>
        </p:nvSpPr>
        <p:spPr>
          <a:xfrm>
            <a:off x="4761772" y="2119062"/>
            <a:ext cx="242473" cy="242473"/>
          </a:xfrm>
          <a:prstGeom prst="ellipse">
            <a:avLst/>
          </a:prstGeom>
          <a:gradFill>
            <a:gsLst>
              <a:gs pos="0">
                <a:srgbClr val="FFE379"/>
              </a:gs>
              <a:gs pos="35000">
                <a:srgbClr val="FFEBA2"/>
              </a:gs>
              <a:gs pos="100000">
                <a:srgbClr val="FFF5D9"/>
              </a:gs>
            </a:gsLst>
            <a:lin ang="16200038" scaled="0"/>
          </a:gradFill>
          <a:ln w="9525" cap="flat" cmpd="sng">
            <a:solidFill>
              <a:srgbClr val="F3B100"/>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dirty="0">
              <a:solidFill>
                <a:schemeClr val="dk1"/>
              </a:solidFill>
              <a:latin typeface="Arial"/>
              <a:ea typeface="Arial"/>
              <a:cs typeface="Arial"/>
              <a:sym typeface="Arial"/>
            </a:endParaRPr>
          </a:p>
        </p:txBody>
      </p:sp>
      <p:sp>
        <p:nvSpPr>
          <p:cNvPr id="8" name="Shape 241"/>
          <p:cNvSpPr txBox="1"/>
          <p:nvPr/>
        </p:nvSpPr>
        <p:spPr>
          <a:xfrm rot="5400000">
            <a:off x="4743605" y="1711837"/>
            <a:ext cx="579899" cy="394441"/>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2800" b="0" i="0" u="none" strike="noStrike" cap="none" dirty="0">
                <a:solidFill>
                  <a:srgbClr val="000000"/>
                </a:solidFill>
                <a:latin typeface="Arial"/>
                <a:ea typeface="Arial"/>
                <a:cs typeface="Arial"/>
                <a:sym typeface="Arial"/>
              </a:rPr>
              <a:t>…</a:t>
            </a:r>
          </a:p>
        </p:txBody>
      </p:sp>
      <p:sp>
        <p:nvSpPr>
          <p:cNvPr id="9" name="向左箭號 112"/>
          <p:cNvSpPr/>
          <p:nvPr/>
        </p:nvSpPr>
        <p:spPr>
          <a:xfrm flipH="1">
            <a:off x="4317484" y="1509682"/>
            <a:ext cx="361871" cy="365207"/>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0" name="文字方塊 9"/>
          <p:cNvSpPr txBox="1"/>
          <p:nvPr/>
        </p:nvSpPr>
        <p:spPr>
          <a:xfrm flipH="1">
            <a:off x="3774259" y="1351669"/>
            <a:ext cx="727565"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 name="Shape 226"/>
          <p:cNvSpPr/>
          <p:nvPr/>
        </p:nvSpPr>
        <p:spPr>
          <a:xfrm>
            <a:off x="3640656" y="1018532"/>
            <a:ext cx="300424" cy="1317289"/>
          </a:xfrm>
          <a:prstGeom prst="rect">
            <a:avLst/>
          </a:prstGeom>
          <a:ln/>
        </p:spPr>
        <p:style>
          <a:lnRef idx="1">
            <a:schemeClr val="accent2"/>
          </a:lnRef>
          <a:fillRef idx="2">
            <a:schemeClr val="accent2"/>
          </a:fillRef>
          <a:effectRef idx="1">
            <a:schemeClr val="accent2"/>
          </a:effectRef>
          <a:fontRef idx="minor">
            <a:schemeClr val="dk1"/>
          </a:fontRef>
        </p:style>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dirty="0">
              <a:solidFill>
                <a:schemeClr val="dk1"/>
              </a:solidFill>
              <a:latin typeface="Arial"/>
              <a:ea typeface="Arial"/>
              <a:cs typeface="Arial"/>
              <a:sym typeface="Arial"/>
            </a:endParaRPr>
          </a:p>
        </p:txBody>
      </p:sp>
      <p:cxnSp>
        <p:nvCxnSpPr>
          <p:cNvPr id="12" name="Shape 229"/>
          <p:cNvCxnSpPr/>
          <p:nvPr/>
        </p:nvCxnSpPr>
        <p:spPr>
          <a:xfrm>
            <a:off x="5038857" y="1140413"/>
            <a:ext cx="383836" cy="0"/>
          </a:xfrm>
          <a:prstGeom prst="straightConnector1">
            <a:avLst/>
          </a:prstGeom>
          <a:noFill/>
          <a:ln w="25400" cap="flat" cmpd="sng">
            <a:solidFill>
              <a:schemeClr val="dk1"/>
            </a:solidFill>
            <a:prstDash val="solid"/>
            <a:round/>
            <a:headEnd type="none" w="med" len="med"/>
            <a:tailEnd type="triangle" w="lg" len="lg"/>
          </a:ln>
        </p:spPr>
      </p:cxnSp>
      <p:cxnSp>
        <p:nvCxnSpPr>
          <p:cNvPr id="13" name="Shape 229"/>
          <p:cNvCxnSpPr/>
          <p:nvPr/>
        </p:nvCxnSpPr>
        <p:spPr>
          <a:xfrm>
            <a:off x="5034725" y="1553709"/>
            <a:ext cx="383836" cy="0"/>
          </a:xfrm>
          <a:prstGeom prst="straightConnector1">
            <a:avLst/>
          </a:prstGeom>
          <a:noFill/>
          <a:ln w="25400" cap="flat" cmpd="sng">
            <a:solidFill>
              <a:schemeClr val="dk1"/>
            </a:solidFill>
            <a:prstDash val="solid"/>
            <a:round/>
            <a:headEnd type="none" w="med" len="med"/>
            <a:tailEnd type="triangle" w="lg" len="lg"/>
          </a:ln>
        </p:spPr>
      </p:cxnSp>
      <p:cxnSp>
        <p:nvCxnSpPr>
          <p:cNvPr id="14" name="Shape 229"/>
          <p:cNvCxnSpPr/>
          <p:nvPr/>
        </p:nvCxnSpPr>
        <p:spPr>
          <a:xfrm>
            <a:off x="5028013" y="2222564"/>
            <a:ext cx="383836" cy="0"/>
          </a:xfrm>
          <a:prstGeom prst="straightConnector1">
            <a:avLst/>
          </a:prstGeom>
          <a:noFill/>
          <a:ln w="25400" cap="flat" cmpd="sng">
            <a:solidFill>
              <a:schemeClr val="dk1"/>
            </a:solidFill>
            <a:prstDash val="solid"/>
            <a:round/>
            <a:headEnd type="none" w="med" len="med"/>
            <a:tailEnd type="triangle" w="lg" len="lg"/>
          </a:ln>
        </p:spPr>
      </p:cxnSp>
      <p:sp>
        <p:nvSpPr>
          <p:cNvPr id="15" name="向左箭號 66"/>
          <p:cNvSpPr/>
          <p:nvPr/>
        </p:nvSpPr>
        <p:spPr>
          <a:xfrm flipH="1">
            <a:off x="3231469" y="1509682"/>
            <a:ext cx="361871" cy="365207"/>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6" name="向左箭號 67"/>
          <p:cNvSpPr/>
          <p:nvPr/>
        </p:nvSpPr>
        <p:spPr>
          <a:xfrm flipH="1">
            <a:off x="2396196" y="1496248"/>
            <a:ext cx="432365" cy="365207"/>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7" name="矩形 16"/>
          <p:cNvSpPr/>
          <p:nvPr/>
        </p:nvSpPr>
        <p:spPr>
          <a:xfrm flipH="1">
            <a:off x="2767738" y="861640"/>
            <a:ext cx="2340518" cy="166822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Shape 226"/>
          <p:cNvSpPr/>
          <p:nvPr/>
        </p:nvSpPr>
        <p:spPr>
          <a:xfrm>
            <a:off x="2886221" y="1018532"/>
            <a:ext cx="300424" cy="1317289"/>
          </a:xfrm>
          <a:prstGeom prst="rect">
            <a:avLst/>
          </a:prstGeom>
          <a:ln/>
        </p:spPr>
        <p:style>
          <a:lnRef idx="1">
            <a:schemeClr val="accent2"/>
          </a:lnRef>
          <a:fillRef idx="2">
            <a:schemeClr val="accent2"/>
          </a:fillRef>
          <a:effectRef idx="1">
            <a:schemeClr val="accent2"/>
          </a:effectRef>
          <a:fontRef idx="minor">
            <a:schemeClr val="dk1"/>
          </a:fontRef>
        </p:style>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dirty="0">
              <a:solidFill>
                <a:schemeClr val="dk1"/>
              </a:solidFill>
              <a:latin typeface="Arial"/>
              <a:ea typeface="Arial"/>
              <a:cs typeface="Arial"/>
              <a:sym typeface="Arial"/>
            </a:endParaRPr>
          </a:p>
        </p:txBody>
      </p:sp>
      <p:sp>
        <p:nvSpPr>
          <p:cNvPr id="19" name="文字方塊 18"/>
          <p:cNvSpPr txBox="1"/>
          <p:nvPr/>
        </p:nvSpPr>
        <p:spPr>
          <a:xfrm>
            <a:off x="752762" y="2222246"/>
            <a:ext cx="1283377" cy="461665"/>
          </a:xfrm>
          <a:prstGeom prst="rect">
            <a:avLst/>
          </a:prstGeom>
          <a:noFill/>
        </p:spPr>
        <p:txBody>
          <a:bodyPr wrap="square" rtlCol="0">
            <a:spAutoFit/>
          </a:bodyPr>
          <a:lstStyle/>
          <a:p>
            <a:pPr algn="ctr"/>
            <a:r>
              <a:rPr lang="en-US" altLang="zh-TW" sz="2400" dirty="0" smtClean="0"/>
              <a:t>data</a:t>
            </a:r>
            <a:endParaRPr lang="zh-TW" altLang="en-US" sz="2400" dirty="0"/>
          </a:p>
        </p:txBody>
      </p:sp>
      <p:sp>
        <p:nvSpPr>
          <p:cNvPr id="20" name="文字方塊 19"/>
          <p:cNvSpPr txBox="1"/>
          <p:nvPr/>
        </p:nvSpPr>
        <p:spPr>
          <a:xfrm>
            <a:off x="5476809" y="1994238"/>
            <a:ext cx="895587"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marL="0" lvl="1" algn="ctr"/>
            <a:r>
              <a:rPr lang="en-US" altLang="zh-TW" sz="2000" dirty="0" smtClean="0">
                <a:latin typeface="Times New Roman" panose="02020603050405020304" pitchFamily="18" charset="0"/>
                <a:ea typeface="微軟正黑體" panose="020B0604030504040204" pitchFamily="34" charset="-120"/>
                <a:cs typeface="Times New Roman" panose="02020603050405020304" pitchFamily="18" charset="0"/>
              </a:rPr>
              <a:t>short</a:t>
            </a:r>
            <a:endParaRPr lang="en-US" altLang="zh-TW" sz="2000"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21" name="文字方塊 20"/>
          <p:cNvSpPr txBox="1"/>
          <p:nvPr/>
        </p:nvSpPr>
        <p:spPr>
          <a:xfrm>
            <a:off x="5476809" y="1395859"/>
            <a:ext cx="895587"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marL="0" lvl="1" algn="ctr"/>
            <a:r>
              <a:rPr lang="en-US" altLang="zh-TW" sz="2000" dirty="0" smtClean="0">
                <a:latin typeface="Times New Roman" panose="02020603050405020304" pitchFamily="18" charset="0"/>
                <a:ea typeface="微軟正黑體" panose="020B0604030504040204" pitchFamily="34" charset="-120"/>
                <a:cs typeface="Times New Roman" panose="02020603050405020304" pitchFamily="18" charset="0"/>
              </a:rPr>
              <a:t>neutral</a:t>
            </a:r>
            <a:endParaRPr lang="en-US" altLang="zh-TW" sz="2000"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22" name="文字方塊 21"/>
          <p:cNvSpPr txBox="1"/>
          <p:nvPr/>
        </p:nvSpPr>
        <p:spPr>
          <a:xfrm>
            <a:off x="5480758" y="939155"/>
            <a:ext cx="89163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marL="0" lvl="1" algn="ctr"/>
            <a:r>
              <a:rPr lang="en-US" altLang="zh-TW" sz="2000" dirty="0">
                <a:latin typeface="Times New Roman" panose="02020603050405020304" pitchFamily="18" charset="0"/>
                <a:ea typeface="微軟正黑體" panose="020B0604030504040204" pitchFamily="34" charset="-120"/>
                <a:cs typeface="Times New Roman" panose="02020603050405020304" pitchFamily="18" charset="0"/>
              </a:rPr>
              <a:t>l</a:t>
            </a:r>
            <a:r>
              <a:rPr lang="en-US" altLang="zh-TW" sz="2000" dirty="0" smtClean="0">
                <a:latin typeface="Times New Roman" panose="02020603050405020304" pitchFamily="18" charset="0"/>
                <a:ea typeface="微軟正黑體" panose="020B0604030504040204" pitchFamily="34" charset="-120"/>
                <a:cs typeface="Times New Roman" panose="02020603050405020304" pitchFamily="18" charset="0"/>
              </a:rPr>
              <a:t>ong</a:t>
            </a:r>
            <a:endParaRPr lang="en-US" altLang="zh-TW" sz="2000"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23" name="文字方塊 22"/>
          <p:cNvSpPr txBox="1"/>
          <p:nvPr/>
        </p:nvSpPr>
        <p:spPr>
          <a:xfrm>
            <a:off x="7212145" y="1285606"/>
            <a:ext cx="1628991"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altLang="zh-TW" sz="2400" dirty="0" smtClean="0">
                <a:solidFill>
                  <a:srgbClr val="FF0000"/>
                </a:solidFill>
              </a:rPr>
              <a:t>Probability </a:t>
            </a:r>
            <a:r>
              <a:rPr lang="en-US" altLang="zh-TW" sz="2400" dirty="0">
                <a:solidFill>
                  <a:srgbClr val="FF0000"/>
                </a:solidFill>
              </a:rPr>
              <a:t>of </a:t>
            </a:r>
            <a:r>
              <a:rPr lang="en-US" altLang="zh-TW" sz="2400" dirty="0" smtClean="0">
                <a:solidFill>
                  <a:srgbClr val="FF0000"/>
                </a:solidFill>
              </a:rPr>
              <a:t>taking the </a:t>
            </a:r>
            <a:r>
              <a:rPr lang="en-US" altLang="zh-TW" sz="2400" dirty="0">
                <a:solidFill>
                  <a:srgbClr val="FF0000"/>
                </a:solidFill>
              </a:rPr>
              <a:t>action</a:t>
            </a:r>
            <a:endParaRPr lang="zh-TW" altLang="en-US" sz="2400" dirty="0">
              <a:solidFill>
                <a:srgbClr val="FF0000"/>
              </a:solidFill>
            </a:endParaRPr>
          </a:p>
        </p:txBody>
      </p:sp>
      <p:sp>
        <p:nvSpPr>
          <p:cNvPr id="25" name="文字方塊 24"/>
          <p:cNvSpPr txBox="1"/>
          <p:nvPr/>
        </p:nvSpPr>
        <p:spPr>
          <a:xfrm>
            <a:off x="6319088" y="915622"/>
            <a:ext cx="637575" cy="461665"/>
          </a:xfrm>
          <a:prstGeom prst="rect">
            <a:avLst/>
          </a:prstGeom>
          <a:noFill/>
        </p:spPr>
        <p:txBody>
          <a:bodyPr wrap="square" rtlCol="0">
            <a:spAutoFit/>
          </a:bodyPr>
          <a:lstStyle/>
          <a:p>
            <a:pPr algn="ctr"/>
            <a:r>
              <a:rPr lang="en-US" altLang="zh-TW" sz="2400" dirty="0" smtClean="0"/>
              <a:t>0.7</a:t>
            </a:r>
            <a:endParaRPr lang="zh-TW" altLang="en-US" sz="2400" dirty="0"/>
          </a:p>
        </p:txBody>
      </p:sp>
      <p:sp>
        <p:nvSpPr>
          <p:cNvPr id="26" name="文字方塊 25"/>
          <p:cNvSpPr txBox="1"/>
          <p:nvPr/>
        </p:nvSpPr>
        <p:spPr>
          <a:xfrm>
            <a:off x="6322035" y="1386538"/>
            <a:ext cx="637575" cy="461665"/>
          </a:xfrm>
          <a:prstGeom prst="rect">
            <a:avLst/>
          </a:prstGeom>
          <a:noFill/>
        </p:spPr>
        <p:txBody>
          <a:bodyPr wrap="square" rtlCol="0">
            <a:spAutoFit/>
          </a:bodyPr>
          <a:lstStyle/>
          <a:p>
            <a:pPr algn="ctr"/>
            <a:r>
              <a:rPr lang="en-US" altLang="zh-TW" sz="2400" dirty="0"/>
              <a:t>0.2</a:t>
            </a:r>
            <a:endParaRPr lang="zh-TW" altLang="en-US" sz="2400" dirty="0"/>
          </a:p>
        </p:txBody>
      </p:sp>
      <p:sp>
        <p:nvSpPr>
          <p:cNvPr id="27" name="文字方塊 26"/>
          <p:cNvSpPr txBox="1"/>
          <p:nvPr/>
        </p:nvSpPr>
        <p:spPr>
          <a:xfrm>
            <a:off x="6328064" y="1963460"/>
            <a:ext cx="637575" cy="461665"/>
          </a:xfrm>
          <a:prstGeom prst="rect">
            <a:avLst/>
          </a:prstGeom>
          <a:noFill/>
        </p:spPr>
        <p:txBody>
          <a:bodyPr wrap="square" rtlCol="0">
            <a:spAutoFit/>
          </a:bodyPr>
          <a:lstStyle/>
          <a:p>
            <a:pPr algn="ctr"/>
            <a:r>
              <a:rPr lang="en-US" altLang="zh-TW" sz="2400" dirty="0" smtClean="0"/>
              <a:t>0.1</a:t>
            </a:r>
            <a:endParaRPr lang="zh-TW" altLang="en-US" sz="2400" dirty="0"/>
          </a:p>
        </p:txBody>
      </p:sp>
      <p:sp>
        <p:nvSpPr>
          <p:cNvPr id="28" name="右大括弧 27"/>
          <p:cNvSpPr/>
          <p:nvPr/>
        </p:nvSpPr>
        <p:spPr>
          <a:xfrm>
            <a:off x="6877188" y="836562"/>
            <a:ext cx="241292" cy="1719055"/>
          </a:xfrm>
          <a:prstGeom prst="rightBrace">
            <a:avLst>
              <a:gd name="adj1" fmla="val 52545"/>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pic>
        <p:nvPicPr>
          <p:cNvPr id="29" name="圖片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210" y="1033827"/>
            <a:ext cx="1738483" cy="1229829"/>
          </a:xfrm>
          <a:prstGeom prst="rect">
            <a:avLst/>
          </a:prstGeom>
        </p:spPr>
      </p:pic>
      <p:sp>
        <p:nvSpPr>
          <p:cNvPr id="30" name="文字方塊 29"/>
          <p:cNvSpPr txBox="1"/>
          <p:nvPr/>
        </p:nvSpPr>
        <p:spPr>
          <a:xfrm>
            <a:off x="3412404" y="265603"/>
            <a:ext cx="2091787" cy="523220"/>
          </a:xfrm>
          <a:prstGeom prst="rect">
            <a:avLst/>
          </a:prstGeom>
          <a:noFill/>
        </p:spPr>
        <p:txBody>
          <a:bodyPr wrap="square" rtlCol="0">
            <a:spAutoFit/>
          </a:bodyPr>
          <a:lstStyle/>
          <a:p>
            <a:r>
              <a:rPr lang="en-US" altLang="zh-TW" sz="2800" b="1" dirty="0" smtClean="0">
                <a:latin typeface="Times New Roman" panose="02020603050405020304" pitchFamily="18" charset="0"/>
                <a:cs typeface="Times New Roman" panose="02020603050405020304" pitchFamily="18" charset="0"/>
              </a:rPr>
              <a:t>RNN</a:t>
            </a:r>
            <a:endParaRPr lang="zh-TW" altLang="en-US" sz="2800" b="1" dirty="0">
              <a:latin typeface="Times New Roman" panose="02020603050405020304" pitchFamily="18" charset="0"/>
              <a:cs typeface="Times New Roman" panose="02020603050405020304" pitchFamily="18" charset="0"/>
            </a:endParaRPr>
          </a:p>
        </p:txBody>
      </p:sp>
      <p:pic>
        <p:nvPicPr>
          <p:cNvPr id="31" name="圖片 30"/>
          <p:cNvPicPr>
            <a:picLocks noChangeAspect="1"/>
          </p:cNvPicPr>
          <p:nvPr/>
        </p:nvPicPr>
        <p:blipFill>
          <a:blip r:embed="rId4"/>
          <a:stretch>
            <a:fillRect/>
          </a:stretch>
        </p:blipFill>
        <p:spPr>
          <a:xfrm>
            <a:off x="978539" y="5637453"/>
            <a:ext cx="5229602" cy="921122"/>
          </a:xfrm>
          <a:prstGeom prst="rect">
            <a:avLst/>
          </a:prstGeom>
        </p:spPr>
      </p:pic>
      <p:pic>
        <p:nvPicPr>
          <p:cNvPr id="32" name="圖片 31"/>
          <p:cNvPicPr>
            <a:picLocks noChangeAspect="1"/>
          </p:cNvPicPr>
          <p:nvPr/>
        </p:nvPicPr>
        <p:blipFill>
          <a:blip r:embed="rId5"/>
          <a:stretch>
            <a:fillRect/>
          </a:stretch>
        </p:blipFill>
        <p:spPr>
          <a:xfrm>
            <a:off x="752761" y="4529466"/>
            <a:ext cx="5483445" cy="1094585"/>
          </a:xfrm>
          <a:prstGeom prst="rect">
            <a:avLst/>
          </a:prstGeom>
        </p:spPr>
      </p:pic>
      <p:sp>
        <p:nvSpPr>
          <p:cNvPr id="33" name="矩形 32"/>
          <p:cNvSpPr/>
          <p:nvPr/>
        </p:nvSpPr>
        <p:spPr>
          <a:xfrm>
            <a:off x="898226" y="2834390"/>
            <a:ext cx="6479629"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 At ∈ {1, 0, −1} represents the trading </a:t>
            </a:r>
            <a:r>
              <a:rPr lang="zh-TW" altLang="en-US" sz="2400" dirty="0" smtClean="0">
                <a:latin typeface="Times New Roman" panose="02020603050405020304" pitchFamily="18" charset="0"/>
                <a:cs typeface="Times New Roman" panose="02020603050405020304" pitchFamily="18" charset="0"/>
              </a:rPr>
              <a:t>decision {</a:t>
            </a:r>
            <a:r>
              <a:rPr lang="zh-TW" altLang="en-US" sz="2400" b="1" dirty="0" smtClean="0">
                <a:latin typeface="Times New Roman" panose="02020603050405020304" pitchFamily="18" charset="0"/>
                <a:cs typeface="Times New Roman" panose="02020603050405020304" pitchFamily="18" charset="0"/>
              </a:rPr>
              <a:t>long, </a:t>
            </a:r>
            <a:r>
              <a:rPr lang="zh-TW" altLang="en-US" sz="2400" b="1" dirty="0">
                <a:latin typeface="Times New Roman" panose="02020603050405020304" pitchFamily="18" charset="0"/>
                <a:cs typeface="Times New Roman" panose="02020603050405020304" pitchFamily="18" charset="0"/>
              </a:rPr>
              <a:t>neutral, short</a:t>
            </a:r>
            <a:r>
              <a:rPr lang="zh-TW" altLang="en-US" sz="2400" dirty="0">
                <a:latin typeface="Times New Roman" panose="02020603050405020304" pitchFamily="18" charset="0"/>
                <a:cs typeface="Times New Roman" panose="02020603050405020304" pitchFamily="18" charset="0"/>
              </a:rPr>
              <a:t>}</a:t>
            </a:r>
          </a:p>
        </p:txBody>
      </p:sp>
      <p:pic>
        <p:nvPicPr>
          <p:cNvPr id="34" name="圖片 33"/>
          <p:cNvPicPr>
            <a:picLocks noChangeAspect="1"/>
          </p:cNvPicPr>
          <p:nvPr/>
        </p:nvPicPr>
        <p:blipFill>
          <a:blip r:embed="rId6"/>
          <a:stretch>
            <a:fillRect/>
          </a:stretch>
        </p:blipFill>
        <p:spPr>
          <a:xfrm>
            <a:off x="752761" y="3671290"/>
            <a:ext cx="5816205" cy="765550"/>
          </a:xfrm>
          <a:prstGeom prst="rect">
            <a:avLst/>
          </a:prstGeom>
        </p:spPr>
      </p:pic>
    </p:spTree>
    <p:extLst>
      <p:ext uri="{BB962C8B-B14F-4D97-AF65-F5344CB8AC3E}">
        <p14:creationId xmlns:p14="http://schemas.microsoft.com/office/powerpoint/2010/main" val="151582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animBg="1"/>
      <p:bldP spid="10" grpId="0"/>
      <p:bldP spid="11" grpId="0" animBg="1"/>
      <p:bldP spid="15" grpId="0" animBg="1"/>
      <p:bldP spid="16" grpId="0" animBg="1"/>
      <p:bldP spid="17" grpId="0" animBg="1"/>
      <p:bldP spid="18" grpId="0" animBg="1"/>
      <p:bldP spid="19" grpId="0"/>
      <p:bldP spid="20" grpId="0" animBg="1"/>
      <p:bldP spid="21" grpId="0" animBg="1"/>
      <p:bldP spid="22" grpId="0" animBg="1"/>
      <p:bldP spid="23" grpId="0" animBg="1"/>
      <p:bldP spid="25" grpId="0"/>
      <p:bldP spid="26" grpId="0"/>
      <p:bldP spid="27" grpId="0"/>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1229083" y="835187"/>
            <a:ext cx="7000517" cy="5880797"/>
          </a:xfrm>
          <a:prstGeom prst="rect">
            <a:avLst/>
          </a:prstGeom>
        </p:spPr>
      </p:pic>
      <p:sp>
        <p:nvSpPr>
          <p:cNvPr id="5" name="矩形 4"/>
          <p:cNvSpPr/>
          <p:nvPr/>
        </p:nvSpPr>
        <p:spPr>
          <a:xfrm>
            <a:off x="357351" y="311967"/>
            <a:ext cx="8156028" cy="523220"/>
          </a:xfrm>
          <a:prstGeom prst="rect">
            <a:avLst/>
          </a:prstGeom>
        </p:spPr>
        <p:txBody>
          <a:bodyPr wrap="square">
            <a:spAutoFit/>
          </a:bodyPr>
          <a:lstStyle/>
          <a:p>
            <a:r>
              <a:rPr lang="zh-TW" altLang="en-US" sz="2800" b="1" dirty="0" smtClean="0">
                <a:latin typeface="Times New Roman" panose="02020603050405020304" pitchFamily="18" charset="0"/>
                <a:cs typeface="Times New Roman" panose="02020603050405020304" pitchFamily="18" charset="0"/>
              </a:rPr>
              <a:t>Multi-Objective </a:t>
            </a:r>
            <a:r>
              <a:rPr lang="en-US" altLang="zh-TW" sz="2800" b="1" dirty="0" smtClean="0">
                <a:latin typeface="Times New Roman" panose="02020603050405020304" pitchFamily="18" charset="0"/>
                <a:cs typeface="Times New Roman" panose="02020603050405020304" pitchFamily="18" charset="0"/>
              </a:rPr>
              <a:t>Deep Reinforcement Learning:</a:t>
            </a:r>
            <a:endParaRPr lang="zh-TW"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43758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9144" y="580017"/>
            <a:ext cx="7162801" cy="830997"/>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W</a:t>
            </a:r>
            <a:r>
              <a:rPr lang="zh-TW" altLang="en-US" sz="2400" dirty="0" smtClean="0">
                <a:latin typeface="Times New Roman" panose="02020603050405020304" pitchFamily="18" charset="0"/>
                <a:cs typeface="Times New Roman" panose="02020603050405020304" pitchFamily="18" charset="0"/>
              </a:rPr>
              <a:t>e </a:t>
            </a:r>
            <a:r>
              <a:rPr lang="zh-TW" altLang="en-US" sz="2400" dirty="0">
                <a:latin typeface="Times New Roman" panose="02020603050405020304" pitchFamily="18" charset="0"/>
                <a:cs typeface="Times New Roman" panose="02020603050405020304" pitchFamily="18" charset="0"/>
              </a:rPr>
              <a:t>use multiple fully-connected </a:t>
            </a:r>
            <a:r>
              <a:rPr lang="zh-TW" altLang="en-US" sz="2400" dirty="0" smtClean="0">
                <a:latin typeface="Times New Roman" panose="02020603050405020304" pitchFamily="18" charset="0"/>
                <a:cs typeface="Times New Roman" panose="02020603050405020304" pitchFamily="18" charset="0"/>
              </a:rPr>
              <a:t>hidden layers </a:t>
            </a:r>
            <a:r>
              <a:rPr lang="zh-TW" altLang="en-US" sz="2400" dirty="0">
                <a:latin typeface="Times New Roman" panose="02020603050405020304" pitchFamily="18" charset="0"/>
                <a:cs typeface="Times New Roman" panose="02020603050405020304" pitchFamily="18" charset="0"/>
              </a:rPr>
              <a:t>(FC) to extract hidden </a:t>
            </a:r>
            <a:r>
              <a:rPr lang="zh-TW" altLang="en-US" sz="2400" dirty="0" smtClean="0">
                <a:latin typeface="Times New Roman" panose="02020603050405020304" pitchFamily="18" charset="0"/>
                <a:cs typeface="Times New Roman" panose="02020603050405020304" pitchFamily="18" charset="0"/>
              </a:rPr>
              <a:t>features</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5" name="矩形 4"/>
          <p:cNvSpPr/>
          <p:nvPr/>
        </p:nvSpPr>
        <p:spPr>
          <a:xfrm>
            <a:off x="909144" y="1612883"/>
            <a:ext cx="7257395" cy="1200329"/>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After learning the hidden features, we implement a </a:t>
            </a:r>
            <a:r>
              <a:rPr lang="zh-TW" altLang="en-US" sz="2400" dirty="0" smtClean="0">
                <a:latin typeface="Times New Roman" panose="02020603050405020304" pitchFamily="18" charset="0"/>
                <a:cs typeface="Times New Roman" panose="02020603050405020304" pitchFamily="18" charset="0"/>
              </a:rPr>
              <a:t>special kind </a:t>
            </a:r>
            <a:r>
              <a:rPr lang="zh-TW" altLang="en-US" sz="2400" dirty="0">
                <a:latin typeface="Times New Roman" panose="02020603050405020304" pitchFamily="18" charset="0"/>
                <a:cs typeface="Times New Roman" panose="02020603050405020304" pitchFamily="18" charset="0"/>
              </a:rPr>
              <a:t>of recurrent neural network to make decisions.</a:t>
            </a:r>
          </a:p>
        </p:txBody>
      </p:sp>
      <p:pic>
        <p:nvPicPr>
          <p:cNvPr id="8" name="圖片 7"/>
          <p:cNvPicPr>
            <a:picLocks noChangeAspect="1"/>
          </p:cNvPicPr>
          <p:nvPr/>
        </p:nvPicPr>
        <p:blipFill>
          <a:blip r:embed="rId3"/>
          <a:stretch>
            <a:fillRect/>
          </a:stretch>
        </p:blipFill>
        <p:spPr>
          <a:xfrm>
            <a:off x="1237662" y="3015081"/>
            <a:ext cx="6505764" cy="3301432"/>
          </a:xfrm>
          <a:prstGeom prst="rect">
            <a:avLst/>
          </a:prstGeom>
        </p:spPr>
      </p:pic>
    </p:spTree>
    <p:extLst>
      <p:ext uri="{BB962C8B-B14F-4D97-AF65-F5344CB8AC3E}">
        <p14:creationId xmlns:p14="http://schemas.microsoft.com/office/powerpoint/2010/main" val="16973221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834124" y="918680"/>
            <a:ext cx="5775682" cy="2263167"/>
          </a:xfrm>
          <a:prstGeom prst="rect">
            <a:avLst/>
          </a:prstGeom>
        </p:spPr>
      </p:pic>
      <p:sp>
        <p:nvSpPr>
          <p:cNvPr id="5" name="矩形 4"/>
          <p:cNvSpPr/>
          <p:nvPr/>
        </p:nvSpPr>
        <p:spPr>
          <a:xfrm>
            <a:off x="729021" y="582858"/>
            <a:ext cx="4922951" cy="523220"/>
          </a:xfrm>
          <a:prstGeom prst="rect">
            <a:avLst/>
          </a:prstGeom>
        </p:spPr>
        <p:txBody>
          <a:bodyPr wrap="none">
            <a:spAutoFit/>
          </a:bodyPr>
          <a:lstStyle/>
          <a:p>
            <a:r>
              <a:rPr lang="zh-TW" altLang="en-US" sz="2800" b="1" dirty="0" smtClean="0">
                <a:latin typeface="Times New Roman" panose="02020603050405020304" pitchFamily="18" charset="0"/>
                <a:cs typeface="Times New Roman" panose="02020603050405020304" pitchFamily="18" charset="0"/>
              </a:rPr>
              <a:t>Dropout </a:t>
            </a:r>
            <a:r>
              <a:rPr lang="zh-TW" altLang="en-US" sz="2800" b="1" dirty="0">
                <a:latin typeface="Times New Roman" panose="02020603050405020304" pitchFamily="18" charset="0"/>
                <a:cs typeface="Times New Roman" panose="02020603050405020304" pitchFamily="18" charset="0"/>
              </a:rPr>
              <a:t>for Feature </a:t>
            </a:r>
            <a:r>
              <a:rPr lang="zh-TW" altLang="en-US" sz="2800" b="1" dirty="0" smtClean="0">
                <a:latin typeface="Times New Roman" panose="02020603050405020304" pitchFamily="18" charset="0"/>
                <a:cs typeface="Times New Roman" panose="02020603050405020304" pitchFamily="18" charset="0"/>
              </a:rPr>
              <a:t>Learning</a:t>
            </a:r>
            <a:r>
              <a:rPr lang="en-US" altLang="zh-TW" sz="2800" b="1" dirty="0" smtClean="0">
                <a:latin typeface="Times New Roman" panose="02020603050405020304" pitchFamily="18" charset="0"/>
                <a:cs typeface="Times New Roman" panose="02020603050405020304" pitchFamily="18" charset="0"/>
              </a:rPr>
              <a:t>:</a:t>
            </a:r>
            <a:endParaRPr lang="zh-TW" altLang="en-US" sz="28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2469" y="3517669"/>
            <a:ext cx="6018795" cy="2997868"/>
          </a:xfrm>
          <a:prstGeom prst="rect">
            <a:avLst/>
          </a:prstGeom>
        </p:spPr>
      </p:pic>
    </p:spTree>
    <p:extLst>
      <p:ext uri="{BB962C8B-B14F-4D97-AF65-F5344CB8AC3E}">
        <p14:creationId xmlns:p14="http://schemas.microsoft.com/office/powerpoint/2010/main" val="7970910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770219" y="3146868"/>
            <a:ext cx="6040484" cy="2819514"/>
          </a:xfrm>
          <a:prstGeom prst="rect">
            <a:avLst/>
          </a:prstGeom>
        </p:spPr>
      </p:pic>
      <p:sp>
        <p:nvSpPr>
          <p:cNvPr id="5" name="文字方塊 4"/>
          <p:cNvSpPr txBox="1"/>
          <p:nvPr/>
        </p:nvSpPr>
        <p:spPr>
          <a:xfrm>
            <a:off x="1082565" y="2916035"/>
            <a:ext cx="2364827" cy="461665"/>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LSTM:</a:t>
            </a:r>
            <a:endParaRPr lang="zh-TW" altLang="en-US" sz="2400"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770219" y="5966382"/>
            <a:ext cx="5671190" cy="640134"/>
          </a:xfrm>
          <a:prstGeom prst="rect">
            <a:avLst/>
          </a:prstGeom>
        </p:spPr>
      </p:pic>
      <p:pic>
        <p:nvPicPr>
          <p:cNvPr id="7" name="圖片 6"/>
          <p:cNvPicPr>
            <a:picLocks noChangeAspect="1"/>
          </p:cNvPicPr>
          <p:nvPr/>
        </p:nvPicPr>
        <p:blipFill>
          <a:blip r:embed="rId4"/>
          <a:stretch>
            <a:fillRect/>
          </a:stretch>
        </p:blipFill>
        <p:spPr>
          <a:xfrm>
            <a:off x="1354725" y="260880"/>
            <a:ext cx="6328337" cy="2721628"/>
          </a:xfrm>
          <a:prstGeom prst="rect">
            <a:avLst/>
          </a:prstGeom>
        </p:spPr>
      </p:pic>
    </p:spTree>
    <p:extLst>
      <p:ext uri="{BB962C8B-B14F-4D97-AF65-F5344CB8AC3E}">
        <p14:creationId xmlns:p14="http://schemas.microsoft.com/office/powerpoint/2010/main" val="23440953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1205985" y="3331780"/>
            <a:ext cx="5552167" cy="1263666"/>
          </a:xfrm>
          <a:prstGeom prst="rect">
            <a:avLst/>
          </a:prstGeom>
        </p:spPr>
      </p:pic>
      <p:pic>
        <p:nvPicPr>
          <p:cNvPr id="8" name="圖片 7"/>
          <p:cNvPicPr>
            <a:picLocks noChangeAspect="1"/>
          </p:cNvPicPr>
          <p:nvPr/>
        </p:nvPicPr>
        <p:blipFill>
          <a:blip r:embed="rId4"/>
          <a:stretch>
            <a:fillRect/>
          </a:stretch>
        </p:blipFill>
        <p:spPr>
          <a:xfrm>
            <a:off x="1354725" y="260880"/>
            <a:ext cx="6328337" cy="2721628"/>
          </a:xfrm>
          <a:prstGeom prst="rect">
            <a:avLst/>
          </a:prstGeom>
        </p:spPr>
      </p:pic>
    </p:spTree>
    <p:extLst>
      <p:ext uri="{BB962C8B-B14F-4D97-AF65-F5344CB8AC3E}">
        <p14:creationId xmlns:p14="http://schemas.microsoft.com/office/powerpoint/2010/main" val="11410683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3"/>
          <a:stretch>
            <a:fillRect/>
          </a:stretch>
        </p:blipFill>
        <p:spPr>
          <a:xfrm>
            <a:off x="1003738" y="2165132"/>
            <a:ext cx="7119943" cy="1352128"/>
          </a:xfrm>
          <a:prstGeom prst="rect">
            <a:avLst/>
          </a:prstGeom>
        </p:spPr>
      </p:pic>
      <p:sp>
        <p:nvSpPr>
          <p:cNvPr id="11" name="矩形 10"/>
          <p:cNvSpPr/>
          <p:nvPr/>
        </p:nvSpPr>
        <p:spPr>
          <a:xfrm>
            <a:off x="1034453" y="4066491"/>
            <a:ext cx="7089228" cy="1200329"/>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α, β is adjustable to give the system direction what kind of strategy the system will learn. In this paper, α = 1, β = 0.01 .</a:t>
            </a:r>
          </a:p>
        </p:txBody>
      </p:sp>
      <p:sp>
        <p:nvSpPr>
          <p:cNvPr id="6" name="矩形 5"/>
          <p:cNvSpPr/>
          <p:nvPr/>
        </p:nvSpPr>
        <p:spPr>
          <a:xfrm>
            <a:off x="809296" y="492516"/>
            <a:ext cx="4393325" cy="523220"/>
          </a:xfrm>
          <a:prstGeom prst="rect">
            <a:avLst/>
          </a:prstGeom>
        </p:spPr>
        <p:txBody>
          <a:bodyPr wrap="square">
            <a:spAutoFit/>
          </a:bodyPr>
          <a:lstStyle/>
          <a:p>
            <a:r>
              <a:rPr lang="zh-TW" altLang="en-US" sz="2800" b="1" dirty="0" smtClean="0">
                <a:latin typeface="Times New Roman" panose="02020603050405020304" pitchFamily="18" charset="0"/>
                <a:cs typeface="Times New Roman" panose="02020603050405020304" pitchFamily="18" charset="0"/>
              </a:rPr>
              <a:t>Multi</a:t>
            </a:r>
            <a:r>
              <a:rPr lang="zh-TW" altLang="en-US" sz="2800" b="1" dirty="0">
                <a:latin typeface="Times New Roman" panose="02020603050405020304" pitchFamily="18" charset="0"/>
                <a:cs typeface="Times New Roman" panose="02020603050405020304" pitchFamily="18" charset="0"/>
              </a:rPr>
              <a:t>-Objectiv</a:t>
            </a:r>
            <a:r>
              <a:rPr lang="zh-TW" altLang="en-US" sz="2800" b="1" dirty="0" smtClean="0">
                <a:latin typeface="Times New Roman" panose="02020603050405020304" pitchFamily="18" charset="0"/>
                <a:cs typeface="Times New Roman" panose="02020603050405020304" pitchFamily="18" charset="0"/>
              </a:rPr>
              <a:t>e Structure</a:t>
            </a:r>
            <a:r>
              <a:rPr lang="en-US" altLang="zh-TW" sz="2800" b="1" dirty="0" smtClean="0">
                <a:latin typeface="Times New Roman" panose="02020603050405020304" pitchFamily="18" charset="0"/>
                <a:cs typeface="Times New Roman" panose="02020603050405020304" pitchFamily="18" charset="0"/>
              </a:rPr>
              <a:t>:</a:t>
            </a:r>
            <a:endParaRPr lang="zh-TW"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26969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451945" y="423266"/>
            <a:ext cx="8050923" cy="5388953"/>
          </a:xfrm>
          <a:prstGeom prst="rect">
            <a:avLst/>
          </a:prstGeom>
        </p:spPr>
      </p:pic>
      <p:sp>
        <p:nvSpPr>
          <p:cNvPr id="7" name="矩形 6"/>
          <p:cNvSpPr/>
          <p:nvPr/>
        </p:nvSpPr>
        <p:spPr>
          <a:xfrm>
            <a:off x="987973" y="5801707"/>
            <a:ext cx="7304689" cy="461665"/>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smtClean="0">
                <a:latin typeface="Times New Roman" panose="02020603050405020304" pitchFamily="18" charset="0"/>
                <a:cs typeface="Times New Roman" panose="02020603050405020304" pitchFamily="18" charset="0"/>
              </a:rPr>
              <a:t>ransaction </a:t>
            </a:r>
            <a:r>
              <a:rPr lang="zh-TW" altLang="en-US" sz="2400" dirty="0">
                <a:latin typeface="Times New Roman" panose="02020603050405020304" pitchFamily="18" charset="0"/>
                <a:cs typeface="Times New Roman" panose="02020603050405020304" pitchFamily="18" charset="0"/>
              </a:rPr>
              <a:t>cost is an important </a:t>
            </a:r>
            <a:r>
              <a:rPr lang="zh-TW" altLang="en-US" sz="2400" dirty="0" smtClean="0">
                <a:latin typeface="Times New Roman" panose="02020603050405020304" pitchFamily="18" charset="0"/>
                <a:cs typeface="Times New Roman" panose="02020603050405020304" pitchFamily="18" charset="0"/>
              </a:rPr>
              <a:t>factor of </a:t>
            </a:r>
            <a:r>
              <a:rPr lang="zh-TW" altLang="en-US" sz="2400" dirty="0">
                <a:latin typeface="Times New Roman" panose="02020603050405020304" pitchFamily="18" charset="0"/>
                <a:cs typeface="Times New Roman" panose="02020603050405020304" pitchFamily="18" charset="0"/>
              </a:rPr>
              <a:t>intraday trading.</a:t>
            </a:r>
          </a:p>
        </p:txBody>
      </p:sp>
      <p:sp>
        <p:nvSpPr>
          <p:cNvPr id="9" name="矩形 8"/>
          <p:cNvSpPr/>
          <p:nvPr/>
        </p:nvSpPr>
        <p:spPr>
          <a:xfrm>
            <a:off x="571367" y="257319"/>
            <a:ext cx="3345788" cy="523220"/>
          </a:xfrm>
          <a:prstGeom prst="rect">
            <a:avLst/>
          </a:prstGeom>
        </p:spPr>
        <p:txBody>
          <a:bodyPr wrap="none">
            <a:spAutoFit/>
          </a:bodyPr>
          <a:lstStyle/>
          <a:p>
            <a:r>
              <a:rPr lang="en-US" altLang="zh-TW" sz="2800" b="1" dirty="0" smtClean="0">
                <a:latin typeface="Times New Roman" panose="02020603050405020304" pitchFamily="18" charset="0"/>
                <a:cs typeface="Times New Roman" panose="02020603050405020304" pitchFamily="18" charset="0"/>
              </a:rPr>
              <a:t>Experimental Result</a:t>
            </a:r>
            <a:endParaRPr lang="zh-TW"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50054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p:cNvPicPr>
            <a:picLocks noChangeAspect="1"/>
          </p:cNvPicPr>
          <p:nvPr/>
        </p:nvPicPr>
        <p:blipFill>
          <a:blip r:embed="rId3"/>
          <a:stretch>
            <a:fillRect/>
          </a:stretch>
        </p:blipFill>
        <p:spPr>
          <a:xfrm>
            <a:off x="708321" y="254089"/>
            <a:ext cx="7995372" cy="3456064"/>
          </a:xfrm>
          <a:prstGeom prst="rect">
            <a:avLst/>
          </a:prstGeom>
        </p:spPr>
      </p:pic>
      <p:sp>
        <p:nvSpPr>
          <p:cNvPr id="7" name="矩形 6"/>
          <p:cNvSpPr/>
          <p:nvPr/>
        </p:nvSpPr>
        <p:spPr>
          <a:xfrm>
            <a:off x="1003739" y="3814852"/>
            <a:ext cx="7404537" cy="2677656"/>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In Figure 3, MODRL outperforms RRL and B&amp;H </a:t>
            </a:r>
            <a:r>
              <a:rPr lang="zh-TW" altLang="en-US" sz="2400" dirty="0" smtClean="0">
                <a:latin typeface="Times New Roman" panose="02020603050405020304" pitchFamily="18" charset="0"/>
                <a:cs typeface="Times New Roman" panose="02020603050405020304" pitchFamily="18" charset="0"/>
              </a:rPr>
              <a:t>on total </a:t>
            </a:r>
            <a:r>
              <a:rPr lang="zh-TW" altLang="en-US" sz="2400" dirty="0">
                <a:latin typeface="Times New Roman" panose="02020603050405020304" pitchFamily="18" charset="0"/>
                <a:cs typeface="Times New Roman" panose="02020603050405020304" pitchFamily="18" charset="0"/>
              </a:rPr>
              <a:t>proﬁts. MODRL make proﬁts both on upward </a:t>
            </a:r>
            <a:r>
              <a:rPr lang="zh-TW" altLang="en-US" sz="2400" dirty="0" smtClean="0">
                <a:latin typeface="Times New Roman" panose="02020603050405020304" pitchFamily="18" charset="0"/>
                <a:cs typeface="Times New Roman" panose="02020603050405020304" pitchFamily="18" charset="0"/>
              </a:rPr>
              <a:t>trend and </a:t>
            </a:r>
            <a:r>
              <a:rPr lang="zh-TW" altLang="en-US" sz="2400" dirty="0">
                <a:latin typeface="Times New Roman" panose="02020603050405020304" pitchFamily="18" charset="0"/>
                <a:cs typeface="Times New Roman" panose="02020603050405020304" pitchFamily="18" charset="0"/>
              </a:rPr>
              <a:t>downward trend. In most cases, RRL choose to </a:t>
            </a:r>
            <a:r>
              <a:rPr lang="zh-TW" altLang="en-US" sz="2400" dirty="0" smtClean="0">
                <a:latin typeface="Times New Roman" panose="02020603050405020304" pitchFamily="18" charset="0"/>
                <a:cs typeface="Times New Roman" panose="02020603050405020304" pitchFamily="18" charset="0"/>
              </a:rPr>
              <a:t>do nothing, </a:t>
            </a:r>
            <a:r>
              <a:rPr lang="zh-TW" altLang="en-US" sz="2400" dirty="0">
                <a:latin typeface="Times New Roman" panose="02020603050405020304" pitchFamily="18" charset="0"/>
                <a:cs typeface="Times New Roman" panose="02020603050405020304" pitchFamily="18" charset="0"/>
              </a:rPr>
              <a:t>which may due to the volatility within a day </a:t>
            </a:r>
            <a:r>
              <a:rPr lang="zh-TW" altLang="en-US" sz="2400" dirty="0" smtClean="0">
                <a:latin typeface="Times New Roman" panose="02020603050405020304" pitchFamily="18" charset="0"/>
                <a:cs typeface="Times New Roman" panose="02020603050405020304" pitchFamily="18" charset="0"/>
              </a:rPr>
              <a:t>when considering </a:t>
            </a:r>
            <a:r>
              <a:rPr lang="zh-TW" altLang="en-US" sz="2400" dirty="0">
                <a:latin typeface="Times New Roman" panose="02020603050405020304" pitchFamily="18" charset="0"/>
                <a:cs typeface="Times New Roman" panose="02020603050405020304" pitchFamily="18" charset="0"/>
              </a:rPr>
              <a:t>the transaction cost. B&amp;H follows the trend </a:t>
            </a:r>
            <a:r>
              <a:rPr lang="zh-TW" altLang="en-US" sz="2400" dirty="0" smtClean="0">
                <a:latin typeface="Times New Roman" panose="02020603050405020304" pitchFamily="18" charset="0"/>
                <a:cs typeface="Times New Roman" panose="02020603050405020304" pitchFamily="18" charset="0"/>
              </a:rPr>
              <a:t>of</a:t>
            </a:r>
            <a:r>
              <a:rPr lang="en-US" altLang="zh-TW" sz="2400" dirty="0">
                <a:latin typeface="Times New Roman" panose="02020603050405020304" pitchFamily="18" charset="0"/>
                <a:cs typeface="Times New Roman" panose="02020603050405020304" pitchFamily="18" charset="0"/>
              </a:rPr>
              <a:t>close price each day. B&amp;H make proﬁts when the open </a:t>
            </a:r>
            <a:r>
              <a:rPr lang="en-US" altLang="zh-TW" sz="2400" dirty="0" smtClean="0">
                <a:latin typeface="Times New Roman" panose="02020603050405020304" pitchFamily="18" charset="0"/>
                <a:cs typeface="Times New Roman" panose="02020603050405020304" pitchFamily="18" charset="0"/>
              </a:rPr>
              <a:t>price is </a:t>
            </a:r>
            <a:r>
              <a:rPr lang="en-US" altLang="zh-TW" sz="2400" dirty="0">
                <a:latin typeface="Times New Roman" panose="02020603050405020304" pitchFamily="18" charset="0"/>
                <a:cs typeface="Times New Roman" panose="02020603050405020304" pitchFamily="18" charset="0"/>
              </a:rPr>
              <a:t>lower than close price within a day.</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37219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503155" y="479006"/>
            <a:ext cx="8241451" cy="3535237"/>
          </a:xfrm>
          <a:prstGeom prst="rect">
            <a:avLst/>
          </a:prstGeom>
        </p:spPr>
      </p:pic>
      <p:sp>
        <p:nvSpPr>
          <p:cNvPr id="5" name="矩形 4"/>
          <p:cNvSpPr/>
          <p:nvPr/>
        </p:nvSpPr>
        <p:spPr>
          <a:xfrm>
            <a:off x="660811" y="4014243"/>
            <a:ext cx="7242968" cy="2308324"/>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In Figure 4, it is obvious that when the trend is not obvious, RRL, MODRL and B&amp;H do not make proﬁts, but in the latter, MODRL gains better performance than B&amp;H and RRL. The RRL performs worse than B&amp;H, which may be because RRL pay more transaction cost for changing positions.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7727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stretch>
            <a:fillRect/>
          </a:stretch>
        </p:blipFill>
        <p:spPr>
          <a:xfrm>
            <a:off x="667406" y="457363"/>
            <a:ext cx="7791348" cy="3189258"/>
          </a:xfrm>
          <a:prstGeom prst="rect">
            <a:avLst/>
          </a:prstGeom>
        </p:spPr>
      </p:pic>
      <p:sp>
        <p:nvSpPr>
          <p:cNvPr id="6" name="矩形 5"/>
          <p:cNvSpPr/>
          <p:nvPr/>
        </p:nvSpPr>
        <p:spPr>
          <a:xfrm>
            <a:off x="667406" y="3932928"/>
            <a:ext cx="8014139" cy="1938992"/>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From Figure 5, MODRL and RRL achieve much </a:t>
            </a:r>
            <a:r>
              <a:rPr lang="en-US" altLang="zh-TW" sz="2400" dirty="0" smtClean="0">
                <a:latin typeface="Times New Roman" panose="02020603050405020304" pitchFamily="18" charset="0"/>
                <a:cs typeface="Times New Roman" panose="02020603050405020304" pitchFamily="18" charset="0"/>
              </a:rPr>
              <a:t>more proﬁts </a:t>
            </a:r>
            <a:r>
              <a:rPr lang="en-US" altLang="zh-TW" sz="2400" dirty="0">
                <a:latin typeface="Times New Roman" panose="02020603050405020304" pitchFamily="18" charset="0"/>
                <a:cs typeface="Times New Roman" panose="02020603050405020304" pitchFamily="18" charset="0"/>
              </a:rPr>
              <a:t>during the trading period. MODRL are more </a:t>
            </a:r>
            <a:r>
              <a:rPr lang="en-US" altLang="zh-TW" sz="2400" dirty="0" smtClean="0">
                <a:latin typeface="Times New Roman" panose="02020603050405020304" pitchFamily="18" charset="0"/>
                <a:cs typeface="Times New Roman" panose="02020603050405020304" pitchFamily="18" charset="0"/>
              </a:rPr>
              <a:t>stable to </a:t>
            </a:r>
            <a:r>
              <a:rPr lang="en-US" altLang="zh-TW" sz="2400" dirty="0">
                <a:latin typeface="Times New Roman" panose="02020603050405020304" pitchFamily="18" charset="0"/>
                <a:cs typeface="Times New Roman" panose="02020603050405020304" pitchFamily="18" charset="0"/>
              </a:rPr>
              <a:t>gain proﬁts, and the RRL ﬂuctuates during some </a:t>
            </a:r>
            <a:r>
              <a:rPr lang="en-US" altLang="zh-TW" sz="2400" dirty="0" smtClean="0">
                <a:latin typeface="Times New Roman" panose="02020603050405020304" pitchFamily="18" charset="0"/>
                <a:cs typeface="Times New Roman" panose="02020603050405020304" pitchFamily="18" charset="0"/>
              </a:rPr>
              <a:t>periods. B&amp;H </a:t>
            </a:r>
            <a:r>
              <a:rPr lang="en-US" altLang="zh-TW" sz="2400" dirty="0">
                <a:latin typeface="Times New Roman" panose="02020603050405020304" pitchFamily="18" charset="0"/>
                <a:cs typeface="Times New Roman" panose="02020603050405020304" pitchFamily="18" charset="0"/>
              </a:rPr>
              <a:t>has the same trend as the prices, and makes loss </a:t>
            </a:r>
            <a:r>
              <a:rPr lang="en-US" altLang="zh-TW" sz="2400" dirty="0" smtClean="0">
                <a:latin typeface="Times New Roman" panose="02020603050405020304" pitchFamily="18" charset="0"/>
                <a:cs typeface="Times New Roman" panose="02020603050405020304" pitchFamily="18" charset="0"/>
              </a:rPr>
              <a:t>when the </a:t>
            </a:r>
            <a:r>
              <a:rPr lang="en-US" altLang="zh-TW" sz="2400" dirty="0">
                <a:latin typeface="Times New Roman" panose="02020603050405020304" pitchFamily="18" charset="0"/>
                <a:cs typeface="Times New Roman" panose="02020603050405020304" pitchFamily="18" charset="0"/>
              </a:rPr>
              <a:t>price is downward trend.</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74403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541467" y="1100641"/>
            <a:ext cx="8213651" cy="1965180"/>
          </a:xfrm>
          <a:prstGeom prst="rect">
            <a:avLst/>
          </a:prstGeom>
        </p:spPr>
      </p:pic>
      <p:sp>
        <p:nvSpPr>
          <p:cNvPr id="5" name="矩形 4"/>
          <p:cNvSpPr/>
          <p:nvPr/>
        </p:nvSpPr>
        <p:spPr>
          <a:xfrm>
            <a:off x="541467" y="3628128"/>
            <a:ext cx="8434367" cy="2677656"/>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It can be observed from Table I that, for the intraday trading, MODRL can gain </a:t>
            </a:r>
            <a:r>
              <a:rPr lang="en-US" altLang="zh-TW" sz="2400" b="1" dirty="0">
                <a:latin typeface="Times New Roman" panose="02020603050405020304" pitchFamily="18" charset="0"/>
                <a:cs typeface="Times New Roman" panose="02020603050405020304" pitchFamily="18" charset="0"/>
              </a:rPr>
              <a:t>more average points </a:t>
            </a:r>
            <a:r>
              <a:rPr lang="en-US" altLang="zh-TW" sz="2400" dirty="0">
                <a:latin typeface="Times New Roman" panose="02020603050405020304" pitchFamily="18" charset="0"/>
                <a:cs typeface="Times New Roman" panose="02020603050405020304" pitchFamily="18" charset="0"/>
              </a:rPr>
              <a:t>each day than RRL, which means MODRL is possible to make proﬁts for intraday trading. As for Sharp Ratio, MODRL obtains the higher SR than RRL and B&amp;H, except for IF contracts, because the total </a:t>
            </a:r>
            <a:r>
              <a:rPr lang="en-US" altLang="zh-TW" sz="2400" b="1" dirty="0">
                <a:latin typeface="Times New Roman" panose="02020603050405020304" pitchFamily="18" charset="0"/>
                <a:cs typeface="Times New Roman" panose="02020603050405020304" pitchFamily="18" charset="0"/>
              </a:rPr>
              <a:t>trading number </a:t>
            </a:r>
            <a:r>
              <a:rPr lang="en-US" altLang="zh-TW" sz="2400" dirty="0">
                <a:latin typeface="Times New Roman" panose="02020603050405020304" pitchFamily="18" charset="0"/>
                <a:cs typeface="Times New Roman" panose="02020603050405020304" pitchFamily="18" charset="0"/>
              </a:rPr>
              <a:t>of RRL is only 6. MODRL has the highest number of transactions and makes the highest proﬁts in these three trading systems.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20357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50398</TotalTime>
  <Words>1289</Words>
  <Application>Microsoft Office PowerPoint</Application>
  <PresentationFormat>如螢幕大小 (4:3)</PresentationFormat>
  <Paragraphs>74</Paragraphs>
  <Slides>17</Slides>
  <Notes>11</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17</vt:i4>
      </vt:variant>
    </vt:vector>
  </HeadingPairs>
  <TitlesOfParts>
    <vt:vector size="26" baseType="lpstr">
      <vt:lpstr>微軟正黑體</vt:lpstr>
      <vt:lpstr>新細明體</vt:lpstr>
      <vt:lpstr>標楷體</vt:lpstr>
      <vt:lpstr>Arial</vt:lpstr>
      <vt:lpstr>Calibri</vt:lpstr>
      <vt:lpstr>Calibri Light</vt:lpstr>
      <vt:lpstr>Cambria Math</vt:lpstr>
      <vt:lpstr>Times New Roman</vt:lpstr>
      <vt:lpstr>Office 佈景主題</vt:lpstr>
      <vt:lpstr>A Multi-Objective Deep Reinforcement Learning Approach for Stock Index Futures’s Intraday Trading</vt:lpstr>
      <vt:lpstr>Abstract(1/2)</vt:lpstr>
      <vt:lpstr>Abstract(2/2)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pplab-class</cp:lastModifiedBy>
  <cp:revision>350</cp:revision>
  <dcterms:created xsi:type="dcterms:W3CDTF">2017-09-25T08:45:50Z</dcterms:created>
  <dcterms:modified xsi:type="dcterms:W3CDTF">2019-01-08T12:30:03Z</dcterms:modified>
</cp:coreProperties>
</file>