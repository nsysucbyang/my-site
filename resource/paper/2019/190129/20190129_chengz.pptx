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sldIdLst>
    <p:sldId id="256" r:id="rId2"/>
    <p:sldId id="321" r:id="rId3"/>
    <p:sldId id="273" r:id="rId4"/>
    <p:sldId id="336" r:id="rId5"/>
    <p:sldId id="312" r:id="rId6"/>
    <p:sldId id="322" r:id="rId7"/>
    <p:sldId id="338" r:id="rId8"/>
    <p:sldId id="339" r:id="rId9"/>
    <p:sldId id="341" r:id="rId10"/>
    <p:sldId id="342" r:id="rId11"/>
    <p:sldId id="343" r:id="rId12"/>
    <p:sldId id="344" r:id="rId13"/>
    <p:sldId id="340" r:id="rId14"/>
    <p:sldId id="346" r:id="rId15"/>
    <p:sldId id="359" r:id="rId16"/>
    <p:sldId id="345" r:id="rId17"/>
    <p:sldId id="347" r:id="rId18"/>
    <p:sldId id="348" r:id="rId19"/>
    <p:sldId id="350" r:id="rId20"/>
    <p:sldId id="351" r:id="rId21"/>
    <p:sldId id="353" r:id="rId22"/>
    <p:sldId id="354" r:id="rId23"/>
    <p:sldId id="355" r:id="rId24"/>
    <p:sldId id="356" r:id="rId25"/>
    <p:sldId id="357" r:id="rId26"/>
    <p:sldId id="358"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5FBEBF5-6C27-43DA-9D2C-B1537964028B}">
          <p14:sldIdLst>
            <p14:sldId id="256"/>
            <p14:sldId id="321"/>
            <p14:sldId id="273"/>
            <p14:sldId id="336"/>
          </p14:sldIdLst>
        </p14:section>
        <p14:section name="Definition" id="{6C1D86F6-7C31-4808-829F-2ED22781BCA5}">
          <p14:sldIdLst>
            <p14:sldId id="312"/>
            <p14:sldId id="322"/>
          </p14:sldIdLst>
        </p14:section>
        <p14:section name="Global" id="{4E4391B7-960B-4308-86F7-029E0668E7DF}">
          <p14:sldIdLst>
            <p14:sldId id="338"/>
            <p14:sldId id="339"/>
            <p14:sldId id="341"/>
            <p14:sldId id="342"/>
            <p14:sldId id="343"/>
            <p14:sldId id="344"/>
            <p14:sldId id="340"/>
            <p14:sldId id="346"/>
            <p14:sldId id="359"/>
            <p14:sldId id="345"/>
            <p14:sldId id="347"/>
          </p14:sldIdLst>
        </p14:section>
        <p14:section name="Local" id="{B3DC3715-B725-4D93-89F1-4BBAFB50A219}">
          <p14:sldIdLst>
            <p14:sldId id="348"/>
            <p14:sldId id="350"/>
            <p14:sldId id="351"/>
            <p14:sldId id="353"/>
            <p14:sldId id="354"/>
            <p14:sldId id="355"/>
            <p14:sldId id="356"/>
            <p14:sldId id="357"/>
          </p14:sldIdLst>
        </p14:section>
        <p14:section name="test" id="{5A0672B8-76E0-491A-93E0-1923641389C1}">
          <p14:sldIdLst>
            <p14:sldId id="35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0F0"/>
    <a:srgbClr val="DFBDE9"/>
    <a:srgbClr val="DEEBF7"/>
    <a:srgbClr val="4472C4"/>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8" autoAdjust="0"/>
    <p:restoredTop sz="85059" autoAdjust="0"/>
  </p:normalViewPr>
  <p:slideViewPr>
    <p:cSldViewPr snapToGrid="0">
      <p:cViewPr>
        <p:scale>
          <a:sx n="100" d="100"/>
          <a:sy n="100" d="100"/>
        </p:scale>
        <p:origin x="1062"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2019/1/22</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https://books.google.com.tw/books?hl=zh-TW&amp;lr=&amp;id=rs51DwAAQBAJ&amp;oi=fnd&amp;pg=PA22&amp;dq=algorithms+for+strings+and+sequences+pairwise+alignment&amp;ots=qZY01gYoOZ&amp;sig=l6X1wDzL4-Si1-HrLxpaszyAqS0&amp;redir_esc=y#v=onepage&amp;q=algorithms%20for%20strings%20and%20sequences%20pairwise%20alignment&amp;f=false</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米蘭比可卡大學</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75537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604233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delta</a:t>
            </a:r>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546627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974966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155755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855970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177491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250931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299691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19240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789290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117724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793828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978609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399228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18</a:t>
            </a:fld>
            <a:endParaRPr lang="zh-TW" altLang="en-US"/>
          </a:p>
        </p:txBody>
      </p:sp>
    </p:spTree>
    <p:extLst>
      <p:ext uri="{BB962C8B-B14F-4D97-AF65-F5344CB8AC3E}">
        <p14:creationId xmlns:p14="http://schemas.microsoft.com/office/powerpoint/2010/main" val="356989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3866673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20</a:t>
            </a:fld>
            <a:endParaRPr lang="zh-TW" altLang="en-US"/>
          </a:p>
        </p:txBody>
      </p:sp>
    </p:spTree>
    <p:extLst>
      <p:ext uri="{BB962C8B-B14F-4D97-AF65-F5344CB8AC3E}">
        <p14:creationId xmlns:p14="http://schemas.microsoft.com/office/powerpoint/2010/main" val="1856883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21</a:t>
            </a:fld>
            <a:endParaRPr lang="zh-TW" altLang="en-US"/>
          </a:p>
        </p:txBody>
      </p:sp>
    </p:spTree>
    <p:extLst>
      <p:ext uri="{BB962C8B-B14F-4D97-AF65-F5344CB8AC3E}">
        <p14:creationId xmlns:p14="http://schemas.microsoft.com/office/powerpoint/2010/main" val="2551740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22</a:t>
            </a:fld>
            <a:endParaRPr lang="zh-TW" altLang="en-US"/>
          </a:p>
        </p:txBody>
      </p:sp>
    </p:spTree>
    <p:extLst>
      <p:ext uri="{BB962C8B-B14F-4D97-AF65-F5344CB8AC3E}">
        <p14:creationId xmlns:p14="http://schemas.microsoft.com/office/powerpoint/2010/main" val="23200397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23</a:t>
            </a:fld>
            <a:endParaRPr lang="zh-TW" altLang="en-US"/>
          </a:p>
        </p:txBody>
      </p:sp>
    </p:spTree>
    <p:extLst>
      <p:ext uri="{BB962C8B-B14F-4D97-AF65-F5344CB8AC3E}">
        <p14:creationId xmlns:p14="http://schemas.microsoft.com/office/powerpoint/2010/main" val="5351453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24</a:t>
            </a:fld>
            <a:endParaRPr lang="zh-TW" altLang="en-US"/>
          </a:p>
        </p:txBody>
      </p:sp>
    </p:spTree>
    <p:extLst>
      <p:ext uri="{BB962C8B-B14F-4D97-AF65-F5344CB8AC3E}">
        <p14:creationId xmlns:p14="http://schemas.microsoft.com/office/powerpoint/2010/main" val="3753668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25</a:t>
            </a:fld>
            <a:endParaRPr lang="zh-TW" altLang="en-US"/>
          </a:p>
        </p:txBody>
      </p:sp>
    </p:spTree>
    <p:extLst>
      <p:ext uri="{BB962C8B-B14F-4D97-AF65-F5344CB8AC3E}">
        <p14:creationId xmlns:p14="http://schemas.microsoft.com/office/powerpoint/2010/main" val="1069985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26</a:t>
            </a:fld>
            <a:endParaRPr lang="zh-TW" altLang="en-US"/>
          </a:p>
        </p:txBody>
      </p:sp>
    </p:spTree>
    <p:extLst>
      <p:ext uri="{BB962C8B-B14F-4D97-AF65-F5344CB8AC3E}">
        <p14:creationId xmlns:p14="http://schemas.microsoft.com/office/powerpoint/2010/main" val="649837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2019/1/22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2019/1/22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2019/1/22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2019/1/22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2019/1/22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2019/1/22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2019/1/22</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2019/1/22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2019/1/22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2019/1/22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2019/1/22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2019/1/22</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00.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6.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 y="810792"/>
            <a:ext cx="9144000" cy="1639565"/>
          </a:xfrm>
        </p:spPr>
        <p:txBody>
          <a:bodyPr>
            <a:noAutofit/>
          </a:bodyPr>
          <a:lstStyle/>
          <a:p>
            <a:br>
              <a:rPr lang="zh-TW" altLang="en-US" sz="4400" b="1" dirty="0">
                <a:latin typeface="Times New Roman" panose="02020603050405020304" pitchFamily="18" charset="0"/>
                <a:cs typeface="Times New Roman" panose="02020603050405020304" pitchFamily="18" charset="0"/>
              </a:rPr>
            </a:br>
            <a:r>
              <a:rPr lang="en-US" altLang="zh-TW" sz="4400" b="1" dirty="0">
                <a:latin typeface="Times New Roman" panose="02020603050405020304" pitchFamily="18" charset="0"/>
                <a:cs typeface="Times New Roman" panose="02020603050405020304" pitchFamily="18" charset="0"/>
              </a:rPr>
              <a:t>Algorithms for Strings and Sequences: Pairwise Alignment </a:t>
            </a:r>
            <a:endParaRPr lang="zh-TW" altLang="en-US" sz="44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4704" y="2857533"/>
            <a:ext cx="8674592" cy="571467"/>
          </a:xfrm>
        </p:spPr>
        <p:txBody>
          <a:bodyPr>
            <a:normAutofit/>
          </a:bodyPr>
          <a:lstStyle/>
          <a:p>
            <a:r>
              <a:rPr lang="en-US" altLang="zh-TW" sz="2600" dirty="0">
                <a:latin typeface="Times New Roman" panose="02020603050405020304" pitchFamily="18" charset="0"/>
                <a:ea typeface="+mj-ea"/>
                <a:cs typeface="Times New Roman" panose="02020603050405020304" pitchFamily="18" charset="0"/>
              </a:rPr>
              <a:t> </a:t>
            </a:r>
            <a:r>
              <a:rPr lang="en-US" altLang="zh-TW" sz="2600" dirty="0" err="1">
                <a:latin typeface="Times New Roman" panose="02020603050405020304" pitchFamily="18" charset="0"/>
                <a:ea typeface="+mj-ea"/>
                <a:cs typeface="Times New Roman" panose="02020603050405020304" pitchFamily="18" charset="0"/>
              </a:rPr>
              <a:t>StefanoBeretta</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519184" y="5444444"/>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Guan-</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2019.01.22</a:t>
            </a:r>
          </a:p>
        </p:txBody>
      </p:sp>
      <p:sp>
        <p:nvSpPr>
          <p:cNvPr id="6" name="矩形 5">
            <a:extLst>
              <a:ext uri="{FF2B5EF4-FFF2-40B4-BE49-F238E27FC236}">
                <a16:creationId xmlns:a16="http://schemas.microsoft.com/office/drawing/2014/main" id="{ADEB69C1-BEBB-4D8A-BCF3-51571A635FE9}"/>
              </a:ext>
            </a:extLst>
          </p:cNvPr>
          <p:cNvSpPr/>
          <p:nvPr/>
        </p:nvSpPr>
        <p:spPr>
          <a:xfrm flipH="1">
            <a:off x="636996" y="4176483"/>
            <a:ext cx="7870005" cy="830997"/>
          </a:xfrm>
          <a:prstGeom prst="rect">
            <a:avLst/>
          </a:prstGeom>
        </p:spPr>
        <p:txBody>
          <a:bodyPr wrap="square">
            <a:spAutoFit/>
          </a:bodyPr>
          <a:lstStyle/>
          <a:p>
            <a:pPr algn="ctr"/>
            <a:r>
              <a:rPr lang="en-US" altLang="zh-TW" sz="2400" dirty="0">
                <a:latin typeface="Times New Roman" panose="02020603050405020304" pitchFamily="18" charset="0"/>
                <a:ea typeface="+mj-ea"/>
                <a:cs typeface="Times New Roman" panose="02020603050405020304" pitchFamily="18" charset="0"/>
              </a:rPr>
              <a:t>Encyclopedia of Bioinformatics and Computational Biology, Volume 1, 2019, Pages 22-29</a:t>
            </a:r>
          </a:p>
        </p:txBody>
      </p:sp>
      <p:sp>
        <p:nvSpPr>
          <p:cNvPr id="5" name="矩形 4">
            <a:extLst>
              <a:ext uri="{FF2B5EF4-FFF2-40B4-BE49-F238E27FC236}">
                <a16:creationId xmlns:a16="http://schemas.microsoft.com/office/drawing/2014/main" id="{6E3B1481-72B8-428A-B7C2-4C98C4A5B17D}"/>
              </a:ext>
            </a:extLst>
          </p:cNvPr>
          <p:cNvSpPr/>
          <p:nvPr/>
        </p:nvSpPr>
        <p:spPr>
          <a:xfrm>
            <a:off x="1767386" y="3521130"/>
            <a:ext cx="5609228" cy="492443"/>
          </a:xfrm>
          <a:prstGeom prst="rect">
            <a:avLst/>
          </a:prstGeom>
        </p:spPr>
        <p:txBody>
          <a:bodyPr wrap="none">
            <a:spAutoFit/>
          </a:bodyPr>
          <a:lstStyle/>
          <a:p>
            <a:r>
              <a:rPr lang="en-US" altLang="zh-TW" sz="2600" dirty="0">
                <a:latin typeface="Times New Roman" panose="02020603050405020304" pitchFamily="18" charset="0"/>
                <a:ea typeface="+mj-ea"/>
                <a:cs typeface="Times New Roman" panose="02020603050405020304" pitchFamily="18" charset="0"/>
              </a:rPr>
              <a:t>University of Milan-</a:t>
            </a:r>
            <a:r>
              <a:rPr lang="en-US" altLang="zh-TW" sz="2600" dirty="0" err="1">
                <a:latin typeface="Times New Roman" panose="02020603050405020304" pitchFamily="18" charset="0"/>
                <a:ea typeface="+mj-ea"/>
                <a:cs typeface="Times New Roman" panose="02020603050405020304" pitchFamily="18" charset="0"/>
              </a:rPr>
              <a:t>Biocca</a:t>
            </a:r>
            <a:r>
              <a:rPr lang="en-US" altLang="zh-TW" sz="2600" dirty="0">
                <a:latin typeface="Times New Roman" panose="02020603050405020304" pitchFamily="18" charset="0"/>
                <a:ea typeface="+mj-ea"/>
                <a:cs typeface="Times New Roman" panose="02020603050405020304" pitchFamily="18" charset="0"/>
              </a:rPr>
              <a:t>, Milan, Italy</a:t>
            </a:r>
            <a:endParaRPr lang="zh-TW" altLang="en-US" sz="26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4A3BA73D-1A08-4134-9EA0-49E8666A400A}"/>
              </a:ext>
            </a:extLst>
          </p:cNvPr>
          <p:cNvPicPr>
            <a:picLocks noChangeAspect="1"/>
          </p:cNvPicPr>
          <p:nvPr/>
        </p:nvPicPr>
        <p:blipFill>
          <a:blip r:embed="rId3"/>
          <a:stretch>
            <a:fillRect/>
          </a:stretch>
        </p:blipFill>
        <p:spPr>
          <a:xfrm>
            <a:off x="0" y="344774"/>
            <a:ext cx="9144000" cy="6168452"/>
          </a:xfrm>
          <a:prstGeom prst="rect">
            <a:avLst/>
          </a:prstGeom>
        </p:spPr>
      </p:pic>
      <p:sp>
        <p:nvSpPr>
          <p:cNvPr id="3" name="矩形 2">
            <a:extLst>
              <a:ext uri="{FF2B5EF4-FFF2-40B4-BE49-F238E27FC236}">
                <a16:creationId xmlns:a16="http://schemas.microsoft.com/office/drawing/2014/main" id="{20D8F8CA-AA8D-4C45-BC32-506B63CB2C3E}"/>
              </a:ext>
            </a:extLst>
          </p:cNvPr>
          <p:cNvSpPr/>
          <p:nvPr/>
        </p:nvSpPr>
        <p:spPr>
          <a:xfrm>
            <a:off x="2832842" y="1323319"/>
            <a:ext cx="904511" cy="461665"/>
          </a:xfrm>
          <a:prstGeom prst="rect">
            <a:avLst/>
          </a:prstGeom>
        </p:spPr>
        <p:txBody>
          <a:bodyPr wrap="square">
            <a:spAutoFit/>
          </a:bodyPr>
          <a:lstStyle/>
          <a:p>
            <a:pPr algn="ctr" fontAlgn="base"/>
            <a:r>
              <a:rPr lang="zh-TW" altLang="en-US" sz="1200" b="1" dirty="0">
                <a:latin typeface="inherit"/>
              </a:rPr>
              <a:t>米蘭</a:t>
            </a:r>
            <a:endParaRPr lang="en-US" altLang="zh-TW" sz="1200" b="1" dirty="0">
              <a:latin typeface="inherit"/>
            </a:endParaRPr>
          </a:p>
          <a:p>
            <a:pPr algn="ctr" fontAlgn="base"/>
            <a:r>
              <a:rPr lang="en-US" altLang="zh-TW" sz="1200" b="1" dirty="0">
                <a:latin typeface="Roboto"/>
              </a:rPr>
              <a:t>Milano</a:t>
            </a:r>
          </a:p>
        </p:txBody>
      </p:sp>
      <p:cxnSp>
        <p:nvCxnSpPr>
          <p:cNvPr id="8" name="直線接點 7">
            <a:extLst>
              <a:ext uri="{FF2B5EF4-FFF2-40B4-BE49-F238E27FC236}">
                <a16:creationId xmlns:a16="http://schemas.microsoft.com/office/drawing/2014/main" id="{CDB6B672-4599-4BCD-A2D8-D3F345FE997D}"/>
              </a:ext>
            </a:extLst>
          </p:cNvPr>
          <p:cNvCxnSpPr>
            <a:cxnSpLocks/>
          </p:cNvCxnSpPr>
          <p:nvPr/>
        </p:nvCxnSpPr>
        <p:spPr>
          <a:xfrm>
            <a:off x="5348905" y="4629360"/>
            <a:ext cx="566120" cy="85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28" name="Picture 4" descr="ãèè­è«¾ãçåçæå°çµæ">
            <a:extLst>
              <a:ext uri="{FF2B5EF4-FFF2-40B4-BE49-F238E27FC236}">
                <a16:creationId xmlns:a16="http://schemas.microsoft.com/office/drawing/2014/main" id="{A32A93B4-DBBC-4C49-AC48-993845746E5D}"/>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8222" t="10890" r="7082" b="11333"/>
          <a:stretch/>
        </p:blipFill>
        <p:spPr bwMode="auto">
          <a:xfrm>
            <a:off x="613746" y="3048000"/>
            <a:ext cx="1815130"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49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750"/>
                                        <p:tgtEl>
                                          <p:spTgt spid="1028"/>
                                        </p:tgtEl>
                                      </p:cBhvr>
                                    </p:animEffect>
                                    <p:anim calcmode="lin" valueType="num">
                                      <p:cBhvr>
                                        <p:cTn id="8" dur="750" fill="hold"/>
                                        <p:tgtEl>
                                          <p:spTgt spid="1028"/>
                                        </p:tgtEl>
                                        <p:attrNameLst>
                                          <p:attrName>ppt_w</p:attrName>
                                        </p:attrNameLst>
                                      </p:cBhvr>
                                      <p:tavLst>
                                        <p:tav tm="0" fmla="#ppt_w*sin(2.5*pi*$)">
                                          <p:val>
                                            <p:fltVal val="0"/>
                                          </p:val>
                                        </p:tav>
                                        <p:tav tm="100000">
                                          <p:val>
                                            <p:fltVal val="1"/>
                                          </p:val>
                                        </p:tav>
                                      </p:tavLst>
                                    </p:anim>
                                    <p:anim calcmode="lin" valueType="num">
                                      <p:cBhvr>
                                        <p:cTn id="9" dur="750" fill="hold"/>
                                        <p:tgtEl>
                                          <p:spTgt spid="10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r>
              <a:rPr lang="zh-TW" altLang="en-US" sz="3600" dirty="0">
                <a:latin typeface="Times New Roman" panose="02020603050405020304" pitchFamily="18" charset="0"/>
                <a:cs typeface="Times New Roman" panose="02020603050405020304" pitchFamily="18" charset="0"/>
              </a:rPr>
              <a:t> </a:t>
            </a: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02231" y="1150706"/>
            <a:ext cx="8237271" cy="5205645"/>
          </a:xfrm>
        </p:spPr>
        <p:txBody>
          <a:bodyPr>
            <a:noAutofit/>
          </a:bodyPr>
          <a:lstStyle/>
          <a:p>
            <a:pPr marL="0" indent="0">
              <a:lnSpc>
                <a:spcPct val="100000"/>
              </a:lnSpc>
              <a:buNone/>
            </a:pPr>
            <a:r>
              <a:rPr lang="en-US" altLang="zh-TW" dirty="0">
                <a:latin typeface="Times New Roman" panose="02020603050405020304" pitchFamily="18" charset="0"/>
                <a:cs typeface="Times New Roman" panose="02020603050405020304" pitchFamily="18" charset="0"/>
              </a:rPr>
              <a:t>Pairwise alignment between two biological sequences, such as DNA, RNA, or proteins, is a classical and well studied bioinformatic problem. In fact, this latter problem can be found in many biological analyses such as those involving data coming from sequencing processes.</a:t>
            </a:r>
          </a:p>
          <a:p>
            <a:pPr marL="0" indent="0">
              <a:lnSpc>
                <a:spcPct val="100000"/>
              </a:lnSpc>
              <a:buNone/>
            </a:pPr>
            <a:r>
              <a:rPr lang="en-US" altLang="zh-TW" dirty="0">
                <a:latin typeface="Times New Roman" panose="02020603050405020304" pitchFamily="18" charset="0"/>
                <a:cs typeface="Times New Roman" panose="02020603050405020304" pitchFamily="18" charset="0"/>
              </a:rPr>
              <a:t>In this work we will formalize the computational problem, and we will present the two most common variants, which are the global and the local versions.</a:t>
            </a:r>
          </a:p>
        </p:txBody>
      </p:sp>
    </p:spTree>
    <p:extLst>
      <p:ext uri="{BB962C8B-B14F-4D97-AF65-F5344CB8AC3E}">
        <p14:creationId xmlns:p14="http://schemas.microsoft.com/office/powerpoint/2010/main" val="159506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(2/2)</a:t>
            </a:r>
            <a:r>
              <a:rPr lang="zh-TW" altLang="en-US" sz="3600" dirty="0">
                <a:latin typeface="Times New Roman" panose="02020603050405020304" pitchFamily="18" charset="0"/>
                <a:cs typeface="Times New Roman" panose="02020603050405020304" pitchFamily="18" charset="0"/>
              </a:rPr>
              <a:t> </a:t>
            </a: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02232" y="1150706"/>
            <a:ext cx="8113118" cy="5707294"/>
          </a:xfrm>
        </p:spPr>
        <p:txBody>
          <a:bodyPr vert="horz" lIns="91440" tIns="45720" rIns="91440" bIns="45720" rtlCol="0">
            <a:noAutofit/>
          </a:bodyPr>
          <a:lstStyle/>
          <a:p>
            <a:pPr marL="0" indent="0">
              <a:lnSpc>
                <a:spcPct val="100000"/>
              </a:lnSpc>
              <a:buNone/>
            </a:pPr>
            <a:r>
              <a:rPr lang="en-US" altLang="zh-TW" dirty="0">
                <a:latin typeface="Times New Roman" panose="02020603050405020304" pitchFamily="18" charset="0"/>
                <a:cs typeface="Times New Roman" panose="02020603050405020304" pitchFamily="18" charset="0"/>
              </a:rPr>
              <a:t>More precisely, we will describe the dynamic programming algorithm proposed by Needleman and Wunsch for finding the optimal global pairwise alignment between two strings with respect to a given scoring function, and also the algorithm of Smith and Waterman for the local version. </a:t>
            </a:r>
          </a:p>
          <a:p>
            <a:pPr marL="0" indent="0">
              <a:lnSpc>
                <a:spcPct val="100000"/>
              </a:lnSpc>
              <a:buNone/>
            </a:pPr>
            <a:r>
              <a:rPr lang="en-US" altLang="zh-TW" dirty="0">
                <a:latin typeface="Times New Roman" panose="02020603050405020304" pitchFamily="18" charset="0"/>
                <a:cs typeface="Times New Roman" panose="02020603050405020304" pitchFamily="18" charset="0"/>
              </a:rPr>
              <a:t>Here, we will provide the details of both the algorithmic procedures and some examples showing their usage in reconstructing optimal alignments. Finally, we will also discuss some alternative scoring functions that are used in practice to deal with the pairwise alignment of biological sequences.</a:t>
            </a:r>
          </a:p>
          <a:p>
            <a:pPr marL="0" indent="0">
              <a:lnSpc>
                <a:spcPct val="100000"/>
              </a:lnSpc>
              <a:buNone/>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056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 (1/2)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251FFCC-757A-4E43-BADE-BFDEC40CFB25}"/>
                  </a:ext>
                </a:extLst>
              </p:cNvPr>
              <p:cNvSpPr/>
              <p:nvPr/>
            </p:nvSpPr>
            <p:spPr>
              <a:xfrm>
                <a:off x="402232" y="1164320"/>
                <a:ext cx="8741768" cy="1261884"/>
              </a:xfrm>
              <a:prstGeom prst="rect">
                <a:avLst/>
              </a:prstGeom>
            </p:spPr>
            <p:txBody>
              <a:bodyPr wrap="square">
                <a:spAutoFit/>
              </a:bodyPr>
              <a:lstStyle/>
              <a:p>
                <a:r>
                  <a:rPr lang="en-US" altLang="zh-TW" sz="2800" b="1" dirty="0">
                    <a:latin typeface="Times New Roman" panose="02020603050405020304" pitchFamily="18" charset="0"/>
                  </a:rPr>
                  <a:t>Pairwise alignment problem: </a:t>
                </a:r>
              </a:p>
              <a:p>
                <a:r>
                  <a:rPr lang="en-US" altLang="zh-TW" sz="2400" dirty="0">
                    <a:latin typeface="Times New Roman" panose="02020603050405020304" pitchFamily="18" charset="0"/>
                  </a:rPr>
                  <a:t>Given two strings </a:t>
                </a:r>
                <a14:m>
                  <m:oMath xmlns:m="http://schemas.openxmlformats.org/officeDocument/2006/math">
                    <m:r>
                      <a:rPr lang="en-US" altLang="zh-TW" sz="2400" i="1" dirty="0" smtClean="0">
                        <a:latin typeface="Cambria Math" panose="02040503050406030204" pitchFamily="18" charset="0"/>
                      </a:rPr>
                      <m:t>𝑠</m:t>
                    </m:r>
                  </m:oMath>
                </a14:m>
                <a:r>
                  <a:rPr lang="en-US" altLang="zh-TW" sz="2400" dirty="0">
                    <a:latin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rPr>
                      <m:t>𝑡</m:t>
                    </m:r>
                    <m:r>
                      <a:rPr lang="en-US" altLang="zh-TW" sz="2400" b="0" i="1" dirty="0" smtClean="0">
                        <a:latin typeface="Cambria Math" panose="02040503050406030204" pitchFamily="18" charset="0"/>
                      </a:rPr>
                      <m:t>,</m:t>
                    </m:r>
                  </m:oMath>
                </a14:m>
                <a:r>
                  <a:rPr lang="en-US" altLang="zh-TW" sz="2400" dirty="0">
                    <a:latin typeface="Times New Roman" panose="02020603050405020304" pitchFamily="18" charset="0"/>
                  </a:rPr>
                  <a:t> find the optimal alignment </a:t>
                </a:r>
              </a:p>
              <a:p>
                <a:r>
                  <a:rPr lang="en-US" altLang="zh-TW" sz="2400" dirty="0">
                    <a:latin typeface="Times New Roman" panose="02020603050405020304" pitchFamily="18" charset="0"/>
                  </a:rPr>
                  <a:t>(with a given scoring function)</a:t>
                </a:r>
                <a:endParaRPr lang="zh-TW" altLang="en-US" sz="2400" dirty="0">
                  <a:solidFill>
                    <a:srgbClr val="0070C0"/>
                  </a:solidFill>
                  <a:latin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8251FFCC-757A-4E43-BADE-BFDEC40CFB25}"/>
                  </a:ext>
                </a:extLst>
              </p:cNvPr>
              <p:cNvSpPr>
                <a:spLocks noRot="1" noChangeAspect="1" noMove="1" noResize="1" noEditPoints="1" noAdjustHandles="1" noChangeArrowheads="1" noChangeShapeType="1" noTextEdit="1"/>
              </p:cNvSpPr>
              <p:nvPr/>
            </p:nvSpPr>
            <p:spPr>
              <a:xfrm>
                <a:off x="402232" y="1164320"/>
                <a:ext cx="8741768" cy="1261884"/>
              </a:xfrm>
              <a:prstGeom prst="rect">
                <a:avLst/>
              </a:prstGeom>
              <a:blipFill>
                <a:blip r:embed="rId3"/>
                <a:stretch>
                  <a:fillRect l="-1464" t="-5314" b="-101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0CE12766-E472-4E58-BFA4-DFC969C4C286}"/>
                  </a:ext>
                </a:extLst>
              </p:cNvPr>
              <p:cNvGraphicFramePr>
                <a:graphicFrameLocks noGrp="1"/>
              </p:cNvGraphicFramePr>
              <p:nvPr>
                <p:extLst>
                  <p:ext uri="{D42A27DB-BD31-4B8C-83A1-F6EECF244321}">
                    <p14:modId xmlns:p14="http://schemas.microsoft.com/office/powerpoint/2010/main" val="1412281181"/>
                  </p:ext>
                </p:extLst>
              </p:nvPr>
            </p:nvGraphicFramePr>
            <p:xfrm>
              <a:off x="1071376" y="2579031"/>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7" name="表格 16">
                <a:extLst>
                  <a:ext uri="{FF2B5EF4-FFF2-40B4-BE49-F238E27FC236}">
                    <a16:creationId xmlns:a16="http://schemas.microsoft.com/office/drawing/2014/main" id="{0CE12766-E472-4E58-BFA4-DFC969C4C286}"/>
                  </a:ext>
                </a:extLst>
              </p:cNvPr>
              <p:cNvGraphicFramePr>
                <a:graphicFrameLocks noGrp="1"/>
              </p:cNvGraphicFramePr>
              <p:nvPr>
                <p:extLst>
                  <p:ext uri="{D42A27DB-BD31-4B8C-83A1-F6EECF244321}">
                    <p14:modId xmlns:p14="http://schemas.microsoft.com/office/powerpoint/2010/main" val="1412281181"/>
                  </p:ext>
                </p:extLst>
              </p:nvPr>
            </p:nvGraphicFramePr>
            <p:xfrm>
              <a:off x="1071376" y="2579031"/>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8734"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41D80944-9F98-445B-AE0B-7B37CA50CB36}"/>
                  </a:ext>
                </a:extLst>
              </p:cNvPr>
              <p:cNvGraphicFramePr>
                <a:graphicFrameLocks noGrp="1"/>
              </p:cNvGraphicFramePr>
              <p:nvPr>
                <p:extLst>
                  <p:ext uri="{D42A27DB-BD31-4B8C-83A1-F6EECF244321}">
                    <p14:modId xmlns:p14="http://schemas.microsoft.com/office/powerpoint/2010/main" val="3464646260"/>
                  </p:ext>
                </p:extLst>
              </p:nvPr>
            </p:nvGraphicFramePr>
            <p:xfrm>
              <a:off x="1071376" y="3259888"/>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41D80944-9F98-445B-AE0B-7B37CA50CB36}"/>
                  </a:ext>
                </a:extLst>
              </p:cNvPr>
              <p:cNvGraphicFramePr>
                <a:graphicFrameLocks noGrp="1"/>
              </p:cNvGraphicFramePr>
              <p:nvPr>
                <p:extLst>
                  <p:ext uri="{D42A27DB-BD31-4B8C-83A1-F6EECF244321}">
                    <p14:modId xmlns:p14="http://schemas.microsoft.com/office/powerpoint/2010/main" val="3464646260"/>
                  </p:ext>
                </p:extLst>
              </p:nvPr>
            </p:nvGraphicFramePr>
            <p:xfrm>
              <a:off x="1071376" y="3259888"/>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597468"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218914A4-E94B-48C4-A9BE-F23C8EC5EC73}"/>
                  </a:ext>
                </a:extLst>
              </p:cNvPr>
              <p:cNvGraphicFramePr>
                <a:graphicFrameLocks noGrp="1"/>
              </p:cNvGraphicFramePr>
              <p:nvPr>
                <p:extLst>
                  <p:ext uri="{D42A27DB-BD31-4B8C-83A1-F6EECF244321}">
                    <p14:modId xmlns:p14="http://schemas.microsoft.com/office/powerpoint/2010/main" val="3312142497"/>
                  </p:ext>
                </p:extLst>
              </p:nvPr>
            </p:nvGraphicFramePr>
            <p:xfrm>
              <a:off x="1071376" y="4113541"/>
              <a:ext cx="50148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9" name="表格 8">
                <a:extLst>
                  <a:ext uri="{FF2B5EF4-FFF2-40B4-BE49-F238E27FC236}">
                    <a16:creationId xmlns:a16="http://schemas.microsoft.com/office/drawing/2014/main" id="{218914A4-E94B-48C4-A9BE-F23C8EC5EC73}"/>
                  </a:ext>
                </a:extLst>
              </p:cNvPr>
              <p:cNvGraphicFramePr>
                <a:graphicFrameLocks noGrp="1"/>
              </p:cNvGraphicFramePr>
              <p:nvPr>
                <p:extLst>
                  <p:ext uri="{D42A27DB-BD31-4B8C-83A1-F6EECF244321}">
                    <p14:modId xmlns:p14="http://schemas.microsoft.com/office/powerpoint/2010/main" val="3312142497"/>
                  </p:ext>
                </p:extLst>
              </p:nvPr>
            </p:nvGraphicFramePr>
            <p:xfrm>
              <a:off x="1071376" y="4113541"/>
              <a:ext cx="50148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6"/>
                          <a:stretch>
                            <a:fillRect t="-11628" r="-94557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F58DC4FE-14F2-45AF-ACE7-5EEE504A3670}"/>
                  </a:ext>
                </a:extLst>
              </p:cNvPr>
              <p:cNvGraphicFramePr>
                <a:graphicFrameLocks noGrp="1"/>
              </p:cNvGraphicFramePr>
              <p:nvPr>
                <p:extLst>
                  <p:ext uri="{D42A27DB-BD31-4B8C-83A1-F6EECF244321}">
                    <p14:modId xmlns:p14="http://schemas.microsoft.com/office/powerpoint/2010/main" val="3067619406"/>
                  </p:ext>
                </p:extLst>
              </p:nvPr>
            </p:nvGraphicFramePr>
            <p:xfrm>
              <a:off x="1071976" y="4784528"/>
              <a:ext cx="50148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3554195520"/>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0" name="表格 9">
                <a:extLst>
                  <a:ext uri="{FF2B5EF4-FFF2-40B4-BE49-F238E27FC236}">
                    <a16:creationId xmlns:a16="http://schemas.microsoft.com/office/drawing/2014/main" id="{F58DC4FE-14F2-45AF-ACE7-5EEE504A3670}"/>
                  </a:ext>
                </a:extLst>
              </p:cNvPr>
              <p:cNvGraphicFramePr>
                <a:graphicFrameLocks noGrp="1"/>
              </p:cNvGraphicFramePr>
              <p:nvPr>
                <p:extLst>
                  <p:ext uri="{D42A27DB-BD31-4B8C-83A1-F6EECF244321}">
                    <p14:modId xmlns:p14="http://schemas.microsoft.com/office/powerpoint/2010/main" val="3067619406"/>
                  </p:ext>
                </p:extLst>
              </p:nvPr>
            </p:nvGraphicFramePr>
            <p:xfrm>
              <a:off x="1071976" y="4784528"/>
              <a:ext cx="50148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3554195520"/>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7"/>
                          <a:stretch>
                            <a:fillRect t="-11628" r="-94557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
        <p:nvSpPr>
          <p:cNvPr id="11" name="矩形 10">
            <a:extLst>
              <a:ext uri="{FF2B5EF4-FFF2-40B4-BE49-F238E27FC236}">
                <a16:creationId xmlns:a16="http://schemas.microsoft.com/office/drawing/2014/main" id="{1B2D3E6E-C711-468F-BACA-225B627A61BA}"/>
              </a:ext>
            </a:extLst>
          </p:cNvPr>
          <p:cNvSpPr/>
          <p:nvPr/>
        </p:nvSpPr>
        <p:spPr>
          <a:xfrm>
            <a:off x="6243889" y="2281583"/>
            <a:ext cx="2485521" cy="1631216"/>
          </a:xfrm>
          <a:prstGeom prst="rect">
            <a:avLst/>
          </a:prstGeom>
          <a:ln w="19050">
            <a:solidFill>
              <a:schemeClr val="tx1"/>
            </a:solidFill>
          </a:ln>
        </p:spPr>
        <p:txBody>
          <a:bodyPr wrap="square">
            <a:spAutoFit/>
          </a:bodyPr>
          <a:lstStyle/>
          <a:p>
            <a:r>
              <a:rPr lang="en-US" altLang="zh-TW" sz="2000" dirty="0">
                <a:latin typeface="Times New Roman" panose="02020603050405020304" pitchFamily="18" charset="0"/>
              </a:rPr>
              <a:t>Score:</a:t>
            </a:r>
          </a:p>
          <a:p>
            <a:r>
              <a:rPr lang="en-US" altLang="zh-TW" sz="2000" dirty="0">
                <a:solidFill>
                  <a:srgbClr val="0070C0"/>
                </a:solidFill>
                <a:latin typeface="Times New Roman" panose="02020603050405020304" pitchFamily="18" charset="0"/>
              </a:rPr>
              <a:t>	</a:t>
            </a:r>
            <a:r>
              <a:rPr lang="zh-TW" altLang="en-US" sz="2000" dirty="0">
                <a:solidFill>
                  <a:srgbClr val="FF0000"/>
                </a:solidFill>
                <a:latin typeface="Times New Roman" panose="02020603050405020304" pitchFamily="18" charset="0"/>
              </a:rPr>
              <a:t>⑴ </a:t>
            </a:r>
            <a:r>
              <a:rPr lang="en-US" altLang="zh-TW" sz="2000" dirty="0">
                <a:solidFill>
                  <a:srgbClr val="FF0000"/>
                </a:solidFill>
                <a:latin typeface="Times New Roman" panose="02020603050405020304" pitchFamily="18" charset="0"/>
              </a:rPr>
              <a:t>Match: 1</a:t>
            </a:r>
          </a:p>
          <a:p>
            <a:r>
              <a:rPr lang="en-US" altLang="zh-TW" sz="2000" dirty="0">
                <a:solidFill>
                  <a:srgbClr val="0070C0"/>
                </a:solidFill>
                <a:latin typeface="Times New Roman" panose="02020603050405020304" pitchFamily="18" charset="0"/>
              </a:rPr>
              <a:t>	</a:t>
            </a:r>
            <a:r>
              <a:rPr lang="zh-TW" altLang="en-US" sz="2000" dirty="0">
                <a:solidFill>
                  <a:srgbClr val="00B050"/>
                </a:solidFill>
                <a:latin typeface="Times New Roman" panose="02020603050405020304" pitchFamily="18" charset="0"/>
              </a:rPr>
              <a:t>⑵ </a:t>
            </a:r>
            <a:r>
              <a:rPr lang="en-US" altLang="zh-TW" sz="2000" dirty="0">
                <a:solidFill>
                  <a:srgbClr val="00B050"/>
                </a:solidFill>
                <a:latin typeface="Times New Roman" panose="02020603050405020304" pitchFamily="18" charset="0"/>
              </a:rPr>
              <a:t>Mismatch: -1</a:t>
            </a:r>
          </a:p>
          <a:p>
            <a:r>
              <a:rPr lang="en-US" altLang="zh-TW" sz="2000" dirty="0">
                <a:solidFill>
                  <a:srgbClr val="00B050"/>
                </a:solidFill>
                <a:latin typeface="Times New Roman" panose="02020603050405020304" pitchFamily="18" charset="0"/>
              </a:rPr>
              <a:t>	</a:t>
            </a:r>
            <a:r>
              <a:rPr lang="zh-TW" altLang="en-US" sz="2000" dirty="0">
                <a:solidFill>
                  <a:srgbClr val="00B050"/>
                </a:solidFill>
                <a:latin typeface="Times New Roman" panose="02020603050405020304" pitchFamily="18" charset="0"/>
              </a:rPr>
              <a:t>⑶ </a:t>
            </a:r>
            <a:r>
              <a:rPr lang="en-US" altLang="zh-TW" sz="2000" dirty="0">
                <a:solidFill>
                  <a:srgbClr val="00B050"/>
                </a:solidFill>
                <a:latin typeface="Times New Roman" panose="02020603050405020304" pitchFamily="18" charset="0"/>
              </a:rPr>
              <a:t>Insertion: -1</a:t>
            </a:r>
          </a:p>
          <a:p>
            <a:r>
              <a:rPr lang="en-US" altLang="zh-TW" sz="2000" dirty="0">
                <a:solidFill>
                  <a:srgbClr val="00B050"/>
                </a:solidFill>
                <a:latin typeface="Times New Roman" panose="02020603050405020304" pitchFamily="18" charset="0"/>
              </a:rPr>
              <a:t>	</a:t>
            </a:r>
            <a:r>
              <a:rPr lang="zh-TW" altLang="en-US" sz="2000" dirty="0">
                <a:solidFill>
                  <a:srgbClr val="00B050"/>
                </a:solidFill>
                <a:latin typeface="Times New Roman" panose="02020603050405020304" pitchFamily="18" charset="0"/>
              </a:rPr>
              <a:t>⑷ </a:t>
            </a:r>
            <a:r>
              <a:rPr lang="en-US" altLang="zh-TW" sz="2000" dirty="0">
                <a:solidFill>
                  <a:srgbClr val="00B050"/>
                </a:solidFill>
                <a:latin typeface="Times New Roman" panose="02020603050405020304" pitchFamily="18" charset="0"/>
              </a:rPr>
              <a:t>Deletion: -1</a:t>
            </a:r>
            <a:endParaRPr lang="zh-TW" altLang="en-US" sz="2000" dirty="0">
              <a:solidFill>
                <a:srgbClr val="00B050"/>
              </a:solidFill>
              <a:latin typeface="Times New Roman" panose="02020603050405020304" pitchFamily="18" charset="0"/>
            </a:endParaRPr>
          </a:p>
        </p:txBody>
      </p:sp>
      <p:graphicFrame>
        <p:nvGraphicFramePr>
          <p:cNvPr id="12" name="表格 11">
            <a:extLst>
              <a:ext uri="{FF2B5EF4-FFF2-40B4-BE49-F238E27FC236}">
                <a16:creationId xmlns:a16="http://schemas.microsoft.com/office/drawing/2014/main" id="{9AFFC229-5B21-461B-8EC0-B38D816EB265}"/>
              </a:ext>
            </a:extLst>
          </p:cNvPr>
          <p:cNvGraphicFramePr>
            <a:graphicFrameLocks noGrp="1"/>
          </p:cNvGraphicFramePr>
          <p:nvPr>
            <p:extLst>
              <p:ext uri="{D42A27DB-BD31-4B8C-83A1-F6EECF244321}">
                <p14:modId xmlns:p14="http://schemas.microsoft.com/office/powerpoint/2010/main" val="1532007604"/>
              </p:ext>
            </p:extLst>
          </p:nvPr>
        </p:nvGraphicFramePr>
        <p:xfrm>
          <a:off x="470251" y="5455110"/>
          <a:ext cx="6516000" cy="103632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3554195520"/>
                    </a:ext>
                  </a:extLst>
                </a:gridCol>
                <a:gridCol w="900000">
                  <a:extLst>
                    <a:ext uri="{9D8B030D-6E8A-4147-A177-3AD203B41FA5}">
                      <a16:colId xmlns:a16="http://schemas.microsoft.com/office/drawing/2014/main" val="808168844"/>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type</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zh-TW" altLang="en-US" sz="2800" dirty="0">
                          <a:solidFill>
                            <a:srgbClr val="FF0000"/>
                          </a:solidFill>
                          <a:latin typeface="Times New Roman" panose="02020603050405020304" pitchFamily="18" charset="0"/>
                        </a:rPr>
                        <a:t>⑴</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00B050"/>
                          </a:solidFill>
                          <a:latin typeface="Times New Roman" panose="02020603050405020304" pitchFamily="18" charset="0"/>
                        </a:rPr>
                        <a:t>⑷</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FF0000"/>
                          </a:solidFill>
                          <a:latin typeface="Times New Roman" panose="02020603050405020304" pitchFamily="18" charset="0"/>
                        </a:rPr>
                        <a:t>⑴</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00B050"/>
                          </a:solidFill>
                          <a:latin typeface="Times New Roman" panose="02020603050405020304" pitchFamily="18" charset="0"/>
                        </a:rPr>
                        <a:t>⑶</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FF0000"/>
                          </a:solidFill>
                          <a:latin typeface="Times New Roman" panose="02020603050405020304" pitchFamily="18" charset="0"/>
                        </a:rPr>
                        <a:t>⑴</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00B050"/>
                          </a:solidFill>
                          <a:latin typeface="Times New Roman" panose="02020603050405020304" pitchFamily="18" charset="0"/>
                        </a:rPr>
                        <a:t>⑵</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rgbClr val="FF0000"/>
                          </a:solidFill>
                          <a:latin typeface="Times New Roman" panose="02020603050405020304" pitchFamily="18" charset="0"/>
                        </a:rPr>
                        <a:t>⑴</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score</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rgbClr val="00B050"/>
                          </a:solidFill>
                          <a:latin typeface="Times New Roman" panose="02020603050405020304" pitchFamily="18" charset="0"/>
                          <a:cs typeface="Times New Roman" panose="02020603050405020304" pitchFamily="18" charset="0"/>
                        </a:rPr>
                        <a:t>-1</a:t>
                      </a:r>
                      <a:endParaRPr lang="zh-TW" altLang="en-US" sz="2800"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rgbClr val="00B050"/>
                          </a:solidFill>
                          <a:latin typeface="Times New Roman" panose="02020603050405020304" pitchFamily="18" charset="0"/>
                          <a:cs typeface="Times New Roman" panose="02020603050405020304" pitchFamily="18" charset="0"/>
                        </a:rPr>
                        <a:t>-1</a:t>
                      </a:r>
                      <a:endParaRPr lang="zh-TW" altLang="en-US" sz="2800"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B050"/>
                          </a:solidFill>
                          <a:latin typeface="Times New Roman" panose="02020603050405020304" pitchFamily="18" charset="0"/>
                          <a:cs typeface="Times New Roman" panose="02020603050405020304" pitchFamily="18" charset="0"/>
                        </a:rPr>
                        <a:t>-1</a:t>
                      </a:r>
                      <a:endParaRPr lang="zh-TW" altLang="en-US" sz="2800" dirty="0">
                        <a:solidFill>
                          <a:srgbClr val="00B05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164087"/>
                  </a:ext>
                </a:extLst>
              </a:tr>
            </a:tbl>
          </a:graphicData>
        </a:graphic>
      </p:graphicFrame>
    </p:spTree>
    <p:extLst>
      <p:ext uri="{BB962C8B-B14F-4D97-AF65-F5344CB8AC3E}">
        <p14:creationId xmlns:p14="http://schemas.microsoft.com/office/powerpoint/2010/main" val="218889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 (2/2)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8251FFCC-757A-4E43-BADE-BFDEC40CFB25}"/>
                  </a:ext>
                </a:extLst>
              </p:cNvPr>
              <p:cNvSpPr/>
              <p:nvPr/>
            </p:nvSpPr>
            <p:spPr>
              <a:xfrm>
                <a:off x="402231" y="1048172"/>
                <a:ext cx="7617818" cy="892552"/>
              </a:xfrm>
              <a:prstGeom prst="rect">
                <a:avLst/>
              </a:prstGeom>
            </p:spPr>
            <p:txBody>
              <a:bodyPr wrap="square">
                <a:spAutoFit/>
              </a:bodyPr>
              <a:lstStyle/>
              <a:p>
                <a:r>
                  <a:rPr lang="en-US" altLang="zh-TW" sz="2800" b="1" dirty="0">
                    <a:latin typeface="Times New Roman" panose="02020603050405020304" pitchFamily="18" charset="0"/>
                  </a:rPr>
                  <a:t>Global pairwise alignment: </a:t>
                </a:r>
              </a:p>
              <a:p>
                <a:r>
                  <a:rPr lang="en-US" altLang="zh-TW" sz="2400" dirty="0">
                    <a:latin typeface="Times New Roman" panose="02020603050405020304" pitchFamily="18" charset="0"/>
                  </a:rPr>
                  <a:t>	find the best alignment over the full length of </a:t>
                </a:r>
                <a14:m>
                  <m:oMath xmlns:m="http://schemas.openxmlformats.org/officeDocument/2006/math">
                    <m:r>
                      <a:rPr lang="en-US" altLang="zh-TW" sz="2400" b="0" i="1" smtClean="0">
                        <a:latin typeface="Cambria Math" panose="02040503050406030204" pitchFamily="18" charset="0"/>
                      </a:rPr>
                      <m:t>𝑠</m:t>
                    </m:r>
                  </m:oMath>
                </a14:m>
                <a:r>
                  <a:rPr lang="en-US" altLang="zh-TW" sz="2400" dirty="0">
                    <a:latin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rPr>
                      <m:t>𝑡</m:t>
                    </m:r>
                  </m:oMath>
                </a14:m>
                <a:r>
                  <a:rPr lang="en-US" altLang="zh-TW" sz="2400" dirty="0">
                    <a:latin typeface="Times New Roman" panose="02020603050405020304" pitchFamily="18" charset="0"/>
                  </a:rPr>
                  <a:t> </a:t>
                </a:r>
                <a:endParaRPr lang="zh-TW" altLang="en-US" sz="2400" dirty="0">
                  <a:solidFill>
                    <a:srgbClr val="0070C0"/>
                  </a:solidFill>
                  <a:latin typeface="Times New Roman" panose="02020603050405020304" pitchFamily="18" charset="0"/>
                </a:endParaRPr>
              </a:p>
            </p:txBody>
          </p:sp>
        </mc:Choice>
        <mc:Fallback>
          <p:sp>
            <p:nvSpPr>
              <p:cNvPr id="16" name="矩形 15">
                <a:extLst>
                  <a:ext uri="{FF2B5EF4-FFF2-40B4-BE49-F238E27FC236}">
                    <a16:creationId xmlns:a16="http://schemas.microsoft.com/office/drawing/2014/main" id="{8251FFCC-757A-4E43-BADE-BFDEC40CFB25}"/>
                  </a:ext>
                </a:extLst>
              </p:cNvPr>
              <p:cNvSpPr>
                <a:spLocks noRot="1" noChangeAspect="1" noMove="1" noResize="1" noEditPoints="1" noAdjustHandles="1" noChangeArrowheads="1" noChangeShapeType="1" noTextEdit="1"/>
              </p:cNvSpPr>
              <p:nvPr/>
            </p:nvSpPr>
            <p:spPr>
              <a:xfrm>
                <a:off x="402231" y="1048172"/>
                <a:ext cx="7617818" cy="892552"/>
              </a:xfrm>
              <a:prstGeom prst="rect">
                <a:avLst/>
              </a:prstGeom>
              <a:blipFill>
                <a:blip r:embed="rId3"/>
                <a:stretch>
                  <a:fillRect l="-1680" t="-7534" b="-1506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9B9DDBC4-DE36-4840-AE57-0D4BE4693D10}"/>
                  </a:ext>
                </a:extLst>
              </p:cNvPr>
              <p:cNvSpPr/>
              <p:nvPr/>
            </p:nvSpPr>
            <p:spPr>
              <a:xfrm>
                <a:off x="402231" y="2435263"/>
                <a:ext cx="7617818" cy="892552"/>
              </a:xfrm>
              <a:prstGeom prst="rect">
                <a:avLst/>
              </a:prstGeom>
            </p:spPr>
            <p:txBody>
              <a:bodyPr wrap="square">
                <a:spAutoFit/>
              </a:bodyPr>
              <a:lstStyle/>
              <a:p>
                <a:r>
                  <a:rPr lang="en-US" altLang="zh-TW" sz="2800" b="1" dirty="0">
                    <a:latin typeface="Times New Roman" panose="02020603050405020304" pitchFamily="18" charset="0"/>
                  </a:rPr>
                  <a:t>Local pairwise alignment: </a:t>
                </a:r>
              </a:p>
              <a:p>
                <a:r>
                  <a:rPr lang="en-US" altLang="zh-TW" sz="2400" dirty="0">
                    <a:latin typeface="Times New Roman" panose="02020603050405020304" pitchFamily="18" charset="0"/>
                  </a:rPr>
                  <a:t>	identify the most similar parts (</a:t>
                </a:r>
                <a:r>
                  <a:rPr lang="en-US" altLang="zh-TW" sz="2400" dirty="0">
                    <a:solidFill>
                      <a:schemeClr val="tx1"/>
                    </a:solidFill>
                    <a:latin typeface="Times New Roman" panose="02020603050405020304" pitchFamily="18" charset="0"/>
                  </a:rPr>
                  <a:t>substrings) of </a:t>
                </a:r>
                <a14:m>
                  <m:oMath xmlns:m="http://schemas.openxmlformats.org/officeDocument/2006/math">
                    <m:r>
                      <a:rPr lang="en-US" altLang="zh-TW" sz="2400" b="0" i="1" smtClean="0">
                        <a:solidFill>
                          <a:schemeClr val="tx1"/>
                        </a:solidFill>
                        <a:latin typeface="Cambria Math" panose="02040503050406030204" pitchFamily="18" charset="0"/>
                      </a:rPr>
                      <m:t>𝑠</m:t>
                    </m:r>
                  </m:oMath>
                </a14:m>
                <a:r>
                  <a:rPr lang="zh-TW" altLang="en-US" sz="2400" dirty="0">
                    <a:solidFill>
                      <a:schemeClr val="tx1"/>
                    </a:solidFill>
                    <a:latin typeface="Times New Roman" panose="02020603050405020304" pitchFamily="18" charset="0"/>
                  </a:rPr>
                  <a:t> </a:t>
                </a:r>
                <a:r>
                  <a:rPr lang="en-US" altLang="zh-TW" sz="2400" dirty="0">
                    <a:solidFill>
                      <a:schemeClr val="tx1"/>
                    </a:solidFill>
                    <a:latin typeface="Times New Roman" panose="02020603050405020304" pitchFamily="18" charset="0"/>
                  </a:rPr>
                  <a:t>and </a:t>
                </a:r>
                <a14:m>
                  <m:oMath xmlns:m="http://schemas.openxmlformats.org/officeDocument/2006/math">
                    <m:r>
                      <a:rPr lang="en-US" altLang="zh-TW" sz="2400" i="1" dirty="0" smtClean="0">
                        <a:solidFill>
                          <a:schemeClr val="tx1"/>
                        </a:solidFill>
                        <a:latin typeface="Cambria Math" panose="02040503050406030204" pitchFamily="18" charset="0"/>
                      </a:rPr>
                      <m:t>𝑡</m:t>
                    </m:r>
                  </m:oMath>
                </a14:m>
                <a:endParaRPr lang="zh-TW" altLang="en-US" sz="2400" dirty="0">
                  <a:solidFill>
                    <a:srgbClr val="0070C0"/>
                  </a:solidFill>
                  <a:latin typeface="Times New Roman" panose="02020603050405020304" pitchFamily="18" charset="0"/>
                </a:endParaRPr>
              </a:p>
            </p:txBody>
          </p:sp>
        </mc:Choice>
        <mc:Fallback>
          <p:sp>
            <p:nvSpPr>
              <p:cNvPr id="7" name="矩形 6">
                <a:extLst>
                  <a:ext uri="{FF2B5EF4-FFF2-40B4-BE49-F238E27FC236}">
                    <a16:creationId xmlns:a16="http://schemas.microsoft.com/office/drawing/2014/main" id="{9B9DDBC4-DE36-4840-AE57-0D4BE4693D10}"/>
                  </a:ext>
                </a:extLst>
              </p:cNvPr>
              <p:cNvSpPr>
                <a:spLocks noRot="1" noChangeAspect="1" noMove="1" noResize="1" noEditPoints="1" noAdjustHandles="1" noChangeArrowheads="1" noChangeShapeType="1" noTextEdit="1"/>
              </p:cNvSpPr>
              <p:nvPr/>
            </p:nvSpPr>
            <p:spPr>
              <a:xfrm>
                <a:off x="402231" y="2435263"/>
                <a:ext cx="7617818" cy="892552"/>
              </a:xfrm>
              <a:prstGeom prst="rect">
                <a:avLst/>
              </a:prstGeom>
              <a:blipFill>
                <a:blip r:embed="rId4"/>
                <a:stretch>
                  <a:fillRect l="-1680" t="-6803" b="-14286"/>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23BD5C35-8CEC-433D-9EB5-D89B5B856F8E}"/>
              </a:ext>
            </a:extLst>
          </p:cNvPr>
          <p:cNvSpPr/>
          <p:nvPr/>
        </p:nvSpPr>
        <p:spPr>
          <a:xfrm>
            <a:off x="0" y="5710020"/>
            <a:ext cx="8772525" cy="646331"/>
          </a:xfrm>
          <a:prstGeom prst="rect">
            <a:avLst/>
          </a:prstGeom>
        </p:spPr>
        <p:txBody>
          <a:bodyPr wrap="square">
            <a:spAutoFit/>
          </a:bodyPr>
          <a:lstStyle/>
          <a:p>
            <a:pPr marL="171450" indent="-171450">
              <a:buFont typeface="Arial" panose="020B0604020202020204" pitchFamily="34" charset="0"/>
              <a:buChar char="•"/>
            </a:pPr>
            <a:r>
              <a:rPr lang="en-US" altLang="zh-TW" sz="1200" i="1" dirty="0">
                <a:solidFill>
                  <a:srgbClr val="000000"/>
                </a:solidFill>
                <a:latin typeface="HIBAH J+ Adv O T 8202eda 3"/>
              </a:rPr>
              <a:t>Needleman, S.B., Wunsch, C.D., “A general method applicable to the search for similarities in the amino acid sequence of two proteins”, Journal of Molecular Biology 48, 443–453, 1970. </a:t>
            </a:r>
          </a:p>
          <a:p>
            <a:pPr marL="171450" indent="-171450">
              <a:buFont typeface="Arial" panose="020B0604020202020204" pitchFamily="34" charset="0"/>
              <a:buChar char="•"/>
            </a:pPr>
            <a:r>
              <a:rPr lang="en-US" altLang="zh-TW" sz="1200" i="1" dirty="0">
                <a:solidFill>
                  <a:srgbClr val="000000"/>
                </a:solidFill>
                <a:latin typeface="HIBAH J+ Adv O T 8202eda 3"/>
              </a:rPr>
              <a:t>Smith, T.F., Waterman, M.S., “Identi</a:t>
            </a:r>
            <a:r>
              <a:rPr lang="en-US" altLang="zh-TW" sz="1200" i="1" dirty="0">
                <a:solidFill>
                  <a:srgbClr val="000000"/>
                </a:solidFill>
                <a:latin typeface="HIBAH L+ Adv O T 8202eda 3+fb"/>
              </a:rPr>
              <a:t>fi</a:t>
            </a:r>
            <a:r>
              <a:rPr lang="en-US" altLang="zh-TW" sz="1200" i="1" dirty="0">
                <a:solidFill>
                  <a:srgbClr val="000000"/>
                </a:solidFill>
                <a:latin typeface="HIBAH J+ Adv O T 8202eda 3"/>
              </a:rPr>
              <a:t>cation of common molecular subsequences”, Journal of Molecular Biology 147, 195</a:t>
            </a:r>
            <a:r>
              <a:rPr lang="en-US" altLang="zh-TW" sz="1200" i="1" dirty="0">
                <a:solidFill>
                  <a:srgbClr val="000000"/>
                </a:solidFill>
                <a:latin typeface="HIBAH K+ Adv O T 8202eda 3+ 20"/>
              </a:rPr>
              <a:t>–</a:t>
            </a:r>
            <a:r>
              <a:rPr lang="en-US" altLang="zh-TW" sz="1200" i="1" dirty="0">
                <a:solidFill>
                  <a:srgbClr val="000000"/>
                </a:solidFill>
                <a:latin typeface="HIBAH J+ Adv O T 8202eda 3"/>
              </a:rPr>
              <a:t>197, 1981 </a:t>
            </a:r>
            <a:endParaRPr lang="zh-TW" altLang="en-US" sz="3600" i="1" dirty="0"/>
          </a:p>
        </p:txBody>
      </p:sp>
    </p:spTree>
    <p:extLst>
      <p:ext uri="{BB962C8B-B14F-4D97-AF65-F5344CB8AC3E}">
        <p14:creationId xmlns:p14="http://schemas.microsoft.com/office/powerpoint/2010/main" val="430996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(1/4) </a:t>
            </a:r>
            <a:r>
              <a:rPr lang="en-US" altLang="zh-TW" sz="2800" dirty="0">
                <a:latin typeface="Times New Roman" panose="02020603050405020304" pitchFamily="18" charset="0"/>
                <a:cs typeface="Times New Roman" panose="02020603050405020304" pitchFamily="18" charset="0"/>
              </a:rPr>
              <a:t>&lt; DP &gt; </a:t>
            </a:r>
            <a:endParaRPr lang="zh-TW" altLang="en-US" sz="36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757EF4F4-23D9-4E4F-8165-A04E986CA6B9}"/>
              </a:ext>
            </a:extLst>
          </p:cNvPr>
          <p:cNvPicPr>
            <a:picLocks noChangeAspect="1"/>
          </p:cNvPicPr>
          <p:nvPr/>
        </p:nvPicPr>
        <p:blipFill>
          <a:blip r:embed="rId3"/>
          <a:stretch>
            <a:fillRect/>
          </a:stretch>
        </p:blipFill>
        <p:spPr>
          <a:xfrm>
            <a:off x="1290636" y="2319338"/>
            <a:ext cx="6562725" cy="4219575"/>
          </a:xfrm>
          <a:prstGeom prst="rect">
            <a:avLst/>
          </a:prstGeom>
        </p:spPr>
      </p:pic>
      <p:pic>
        <p:nvPicPr>
          <p:cNvPr id="2" name="圖片 1">
            <a:extLst>
              <a:ext uri="{FF2B5EF4-FFF2-40B4-BE49-F238E27FC236}">
                <a16:creationId xmlns:a16="http://schemas.microsoft.com/office/drawing/2014/main" id="{A7F466D3-C87C-481D-8A7A-8D97EE4161D3}"/>
              </a:ext>
            </a:extLst>
          </p:cNvPr>
          <p:cNvPicPr>
            <a:picLocks noChangeAspect="1"/>
          </p:cNvPicPr>
          <p:nvPr/>
        </p:nvPicPr>
        <p:blipFill>
          <a:blip r:embed="rId4"/>
          <a:stretch>
            <a:fillRect/>
          </a:stretch>
        </p:blipFill>
        <p:spPr>
          <a:xfrm>
            <a:off x="2276473" y="1117017"/>
            <a:ext cx="4591050" cy="1133475"/>
          </a:xfrm>
          <a:prstGeom prst="rect">
            <a:avLst/>
          </a:prstGeom>
        </p:spPr>
      </p:pic>
    </p:spTree>
    <p:extLst>
      <p:ext uri="{BB962C8B-B14F-4D97-AF65-F5344CB8AC3E}">
        <p14:creationId xmlns:p14="http://schemas.microsoft.com/office/powerpoint/2010/main" val="306679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ext uri="{D42A27DB-BD31-4B8C-83A1-F6EECF244321}">
                    <p14:modId xmlns:p14="http://schemas.microsoft.com/office/powerpoint/2010/main" val="583702752"/>
                  </p:ext>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ext uri="{D42A27DB-BD31-4B8C-83A1-F6EECF244321}">
                    <p14:modId xmlns:p14="http://schemas.microsoft.com/office/powerpoint/2010/main" val="583702752"/>
                  </p:ext>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47650491"/>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47650491"/>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814562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77398297"/>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77398297"/>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813232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414628134"/>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414628134"/>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1420390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058378329"/>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058378329"/>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690194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058677189"/>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058677189"/>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-5</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-6</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-4</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3416332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317791979"/>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317791979"/>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ext uri="{D42A27DB-BD31-4B8C-83A1-F6EECF244321}">
                    <p14:modId xmlns:p14="http://schemas.microsoft.com/office/powerpoint/2010/main" val="2928680732"/>
                  </p:ext>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ext uri="{D42A27DB-BD31-4B8C-83A1-F6EECF244321}">
                    <p14:modId xmlns:p14="http://schemas.microsoft.com/office/powerpoint/2010/main" val="2928680732"/>
                  </p:ext>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181492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931133733"/>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931133733"/>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2787019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4063815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(4/4) </a:t>
            </a:r>
            <a:r>
              <a:rPr lang="en-US" altLang="zh-TW" sz="2800" dirty="0">
                <a:latin typeface="Times New Roman" panose="02020603050405020304" pitchFamily="18" charset="0"/>
                <a:cs typeface="Times New Roman" panose="02020603050405020304" pitchFamily="18" charset="0"/>
              </a:rPr>
              <a:t>&lt; traceback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09212626"/>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09212626"/>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xmlns="">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-4</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0</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
        <p:nvSpPr>
          <p:cNvPr id="2" name="橢圓 1">
            <a:extLst>
              <a:ext uri="{FF2B5EF4-FFF2-40B4-BE49-F238E27FC236}">
                <a16:creationId xmlns:a16="http://schemas.microsoft.com/office/drawing/2014/main" id="{5D66CB3C-0630-4C49-85DD-1DD259B954D1}"/>
              </a:ext>
            </a:extLst>
          </p:cNvPr>
          <p:cNvSpPr/>
          <p:nvPr/>
        </p:nvSpPr>
        <p:spPr>
          <a:xfrm>
            <a:off x="7753049" y="5613007"/>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790802DC-3A4D-4684-BD44-641498B8B0D2}"/>
              </a:ext>
            </a:extLst>
          </p:cNvPr>
          <p:cNvSpPr/>
          <p:nvPr/>
        </p:nvSpPr>
        <p:spPr>
          <a:xfrm>
            <a:off x="7334250" y="5130800"/>
            <a:ext cx="406099" cy="38575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橢圓 16">
            <a:extLst>
              <a:ext uri="{FF2B5EF4-FFF2-40B4-BE49-F238E27FC236}">
                <a16:creationId xmlns:a16="http://schemas.microsoft.com/office/drawing/2014/main" id="{47420CB6-ED14-467E-AC0D-38832F34848B}"/>
              </a:ext>
            </a:extLst>
          </p:cNvPr>
          <p:cNvSpPr/>
          <p:nvPr/>
        </p:nvSpPr>
        <p:spPr>
          <a:xfrm>
            <a:off x="6902780" y="4582763"/>
            <a:ext cx="397684" cy="39656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橢圓 17">
            <a:extLst>
              <a:ext uri="{FF2B5EF4-FFF2-40B4-BE49-F238E27FC236}">
                <a16:creationId xmlns:a16="http://schemas.microsoft.com/office/drawing/2014/main" id="{B6C24CCA-9E08-4C76-B216-E7989700DF11}"/>
              </a:ext>
            </a:extLst>
          </p:cNvPr>
          <p:cNvSpPr/>
          <p:nvPr/>
        </p:nvSpPr>
        <p:spPr>
          <a:xfrm>
            <a:off x="6481245" y="4094781"/>
            <a:ext cx="389418" cy="38831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橢圓 20">
            <a:extLst>
              <a:ext uri="{FF2B5EF4-FFF2-40B4-BE49-F238E27FC236}">
                <a16:creationId xmlns:a16="http://schemas.microsoft.com/office/drawing/2014/main" id="{88FD0F2D-6A65-4623-A584-D032AA4D590D}"/>
              </a:ext>
            </a:extLst>
          </p:cNvPr>
          <p:cNvSpPr/>
          <p:nvPr/>
        </p:nvSpPr>
        <p:spPr>
          <a:xfrm>
            <a:off x="6037650" y="4085064"/>
            <a:ext cx="389418" cy="38831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橢圓 21">
            <a:extLst>
              <a:ext uri="{FF2B5EF4-FFF2-40B4-BE49-F238E27FC236}">
                <a16:creationId xmlns:a16="http://schemas.microsoft.com/office/drawing/2014/main" id="{DD2813BF-AAD4-4419-BF74-15B5F097DDC6}"/>
              </a:ext>
            </a:extLst>
          </p:cNvPr>
          <p:cNvSpPr/>
          <p:nvPr/>
        </p:nvSpPr>
        <p:spPr>
          <a:xfrm>
            <a:off x="5600700" y="3533771"/>
            <a:ext cx="418630" cy="42179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橢圓 22">
            <a:extLst>
              <a:ext uri="{FF2B5EF4-FFF2-40B4-BE49-F238E27FC236}">
                <a16:creationId xmlns:a16="http://schemas.microsoft.com/office/drawing/2014/main" id="{3F1E71D9-1BE8-4146-BBAA-D3177127A808}"/>
              </a:ext>
            </a:extLst>
          </p:cNvPr>
          <p:cNvSpPr/>
          <p:nvPr/>
        </p:nvSpPr>
        <p:spPr>
          <a:xfrm>
            <a:off x="5171979" y="3026980"/>
            <a:ext cx="426083" cy="4248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橢圓 23">
            <a:extLst>
              <a:ext uri="{FF2B5EF4-FFF2-40B4-BE49-F238E27FC236}">
                <a16:creationId xmlns:a16="http://schemas.microsoft.com/office/drawing/2014/main" id="{31DF4E99-8BB5-4F21-A873-87A1EFD5CC2D}"/>
              </a:ext>
            </a:extLst>
          </p:cNvPr>
          <p:cNvSpPr/>
          <p:nvPr/>
        </p:nvSpPr>
        <p:spPr>
          <a:xfrm>
            <a:off x="5164360" y="2495792"/>
            <a:ext cx="426082" cy="4248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58909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8" grpId="0" animBg="1"/>
      <p:bldP spid="21" grpId="0" animBg="1"/>
      <p:bldP spid="22" grpId="0" animBg="1"/>
      <p:bldP spid="23"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Global type (4/4) </a:t>
            </a:r>
            <a:r>
              <a:rPr lang="en-US" altLang="zh-TW" sz="2800" dirty="0">
                <a:latin typeface="Times New Roman" panose="02020603050405020304" pitchFamily="18" charset="0"/>
                <a:cs typeface="Times New Roman" panose="02020603050405020304" pitchFamily="18" charset="0"/>
              </a:rPr>
              <a:t>&lt; traceback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ext uri="{D42A27DB-BD31-4B8C-83A1-F6EECF244321}">
                    <p14:modId xmlns:p14="http://schemas.microsoft.com/office/powerpoint/2010/main" val="1672580464"/>
                  </p:ext>
                </p:extLst>
              </p:nvPr>
            </p:nvGraphicFramePr>
            <p:xfrm>
              <a:off x="4393390" y="210183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ext uri="{D42A27DB-BD31-4B8C-83A1-F6EECF244321}">
                    <p14:modId xmlns:p14="http://schemas.microsoft.com/office/powerpoint/2010/main" val="1672580464"/>
                  </p:ext>
                </p:extLst>
              </p:nvPr>
            </p:nvGraphicFramePr>
            <p:xfrm>
              <a:off x="4393390" y="210183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60000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ext uri="{D42A27DB-BD31-4B8C-83A1-F6EECF244321}">
                    <p14:modId xmlns:p14="http://schemas.microsoft.com/office/powerpoint/2010/main" val="701556816"/>
                  </p:ext>
                </p:extLst>
              </p:nvPr>
            </p:nvGraphicFramePr>
            <p:xfrm>
              <a:off x="4393390" y="278438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ext uri="{D42A27DB-BD31-4B8C-83A1-F6EECF244321}">
                    <p14:modId xmlns:p14="http://schemas.microsoft.com/office/powerpoint/2010/main" val="701556816"/>
                  </p:ext>
                </p:extLst>
              </p:nvPr>
            </p:nvGraphicFramePr>
            <p:xfrm>
              <a:off x="4393390" y="278438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60000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4174844472"/>
                  </p:ext>
                </p:extLst>
              </p:nvPr>
            </p:nvGraphicFramePr>
            <p:xfrm>
              <a:off x="460369" y="186500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4174844472"/>
                  </p:ext>
                </p:extLst>
              </p:nvPr>
            </p:nvGraphicFramePr>
            <p:xfrm>
              <a:off x="460369" y="186500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718E6147-21F3-4AEA-99F9-F65FF636AC03}"/>
                  </a:ext>
                </a:extLst>
              </p:cNvPr>
              <p:cNvGraphicFramePr>
                <a:graphicFrameLocks noGrp="1"/>
              </p:cNvGraphicFramePr>
              <p:nvPr>
                <p:extLst>
                  <p:ext uri="{D42A27DB-BD31-4B8C-83A1-F6EECF244321}">
                    <p14:modId xmlns:p14="http://schemas.microsoft.com/office/powerpoint/2010/main" val="1133485375"/>
                  </p:ext>
                </p:extLst>
              </p:nvPr>
            </p:nvGraphicFramePr>
            <p:xfrm>
              <a:off x="4344541" y="3719842"/>
              <a:ext cx="3744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gridCol w="468000">
                      <a:extLst>
                        <a:ext uri="{9D8B030D-6E8A-4147-A177-3AD203B41FA5}">
                          <a16:colId xmlns:a16="http://schemas.microsoft.com/office/drawing/2014/main" val="2102142507"/>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6" name="表格 15">
                <a:extLst>
                  <a:ext uri="{FF2B5EF4-FFF2-40B4-BE49-F238E27FC236}">
                    <a16:creationId xmlns:a16="http://schemas.microsoft.com/office/drawing/2014/main" id="{718E6147-21F3-4AEA-99F9-F65FF636AC03}"/>
                  </a:ext>
                </a:extLst>
              </p:cNvPr>
              <p:cNvGraphicFramePr>
                <a:graphicFrameLocks noGrp="1"/>
              </p:cNvGraphicFramePr>
              <p:nvPr>
                <p:extLst>
                  <p:ext uri="{D42A27DB-BD31-4B8C-83A1-F6EECF244321}">
                    <p14:modId xmlns:p14="http://schemas.microsoft.com/office/powerpoint/2010/main" val="1133485375"/>
                  </p:ext>
                </p:extLst>
              </p:nvPr>
            </p:nvGraphicFramePr>
            <p:xfrm>
              <a:off x="4344541" y="3719842"/>
              <a:ext cx="3744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gridCol w="468000">
                      <a:extLst>
                        <a:ext uri="{9D8B030D-6E8A-4147-A177-3AD203B41FA5}">
                          <a16:colId xmlns:a16="http://schemas.microsoft.com/office/drawing/2014/main" val="2102142507"/>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6"/>
                          <a:stretch>
                            <a:fillRect t="-11628" r="-701299"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A71D32B0-191D-48EF-8225-22D6880CC606}"/>
                  </a:ext>
                </a:extLst>
              </p:cNvPr>
              <p:cNvGraphicFramePr>
                <a:graphicFrameLocks noGrp="1"/>
              </p:cNvGraphicFramePr>
              <p:nvPr>
                <p:extLst>
                  <p:ext uri="{D42A27DB-BD31-4B8C-83A1-F6EECF244321}">
                    <p14:modId xmlns:p14="http://schemas.microsoft.com/office/powerpoint/2010/main" val="2189385022"/>
                  </p:ext>
                </p:extLst>
              </p:nvPr>
            </p:nvGraphicFramePr>
            <p:xfrm>
              <a:off x="4344541" y="4488679"/>
              <a:ext cx="3744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gridCol w="468000">
                      <a:extLst>
                        <a:ext uri="{9D8B030D-6E8A-4147-A177-3AD203B41FA5}">
                          <a16:colId xmlns:a16="http://schemas.microsoft.com/office/drawing/2014/main" val="3554195520"/>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9" name="表格 18">
                <a:extLst>
                  <a:ext uri="{FF2B5EF4-FFF2-40B4-BE49-F238E27FC236}">
                    <a16:creationId xmlns:a16="http://schemas.microsoft.com/office/drawing/2014/main" id="{A71D32B0-191D-48EF-8225-22D6880CC606}"/>
                  </a:ext>
                </a:extLst>
              </p:cNvPr>
              <p:cNvGraphicFramePr>
                <a:graphicFrameLocks noGrp="1"/>
              </p:cNvGraphicFramePr>
              <p:nvPr>
                <p:extLst>
                  <p:ext uri="{D42A27DB-BD31-4B8C-83A1-F6EECF244321}">
                    <p14:modId xmlns:p14="http://schemas.microsoft.com/office/powerpoint/2010/main" val="2189385022"/>
                  </p:ext>
                </p:extLst>
              </p:nvPr>
            </p:nvGraphicFramePr>
            <p:xfrm>
              <a:off x="4344541" y="4488679"/>
              <a:ext cx="3744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gridCol w="468000">
                      <a:extLst>
                        <a:ext uri="{9D8B030D-6E8A-4147-A177-3AD203B41FA5}">
                          <a16:colId xmlns:a16="http://schemas.microsoft.com/office/drawing/2014/main" val="3554195520"/>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7"/>
                          <a:stretch>
                            <a:fillRect t="-11628" r="-701299"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Tree>
    <p:extLst>
      <p:ext uri="{BB962C8B-B14F-4D97-AF65-F5344CB8AC3E}">
        <p14:creationId xmlns:p14="http://schemas.microsoft.com/office/powerpoint/2010/main" val="145289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18</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(1/4) </a:t>
            </a:r>
            <a:r>
              <a:rPr lang="en-US" altLang="zh-TW" sz="2800" dirty="0">
                <a:latin typeface="Times New Roman" panose="02020603050405020304" pitchFamily="18" charset="0"/>
                <a:cs typeface="Times New Roman" panose="02020603050405020304" pitchFamily="18" charset="0"/>
              </a:rPr>
              <a:t>&lt; DP &gt; </a:t>
            </a:r>
            <a:endParaRPr lang="zh-TW" altLang="en-US" sz="36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78CB93E1-4435-4942-9712-A213F77D8E99}"/>
              </a:ext>
            </a:extLst>
          </p:cNvPr>
          <p:cNvPicPr>
            <a:picLocks noChangeAspect="1"/>
          </p:cNvPicPr>
          <p:nvPr/>
        </p:nvPicPr>
        <p:blipFill>
          <a:blip r:embed="rId3"/>
          <a:stretch>
            <a:fillRect/>
          </a:stretch>
        </p:blipFill>
        <p:spPr>
          <a:xfrm>
            <a:off x="2735860" y="1212267"/>
            <a:ext cx="3672280" cy="1234380"/>
          </a:xfrm>
          <a:prstGeom prst="rect">
            <a:avLst/>
          </a:prstGeom>
        </p:spPr>
      </p:pic>
    </p:spTree>
    <p:extLst>
      <p:ext uri="{BB962C8B-B14F-4D97-AF65-F5344CB8AC3E}">
        <p14:creationId xmlns:p14="http://schemas.microsoft.com/office/powerpoint/2010/main" val="777450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19</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239523225"/>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239523225"/>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100788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20</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3295738438"/>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3295738438"/>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4001352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21</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(2/4) </a:t>
            </a:r>
            <a:r>
              <a:rPr lang="en-US" altLang="zh-TW" sz="2800" dirty="0">
                <a:latin typeface="Times New Roman" panose="02020603050405020304" pitchFamily="18" charset="0"/>
                <a:cs typeface="Times New Roman" panose="02020603050405020304" pitchFamily="18" charset="0"/>
              </a:rPr>
              <a:t>&lt; score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717690394"/>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717690394"/>
                  </p:ext>
                </p:extLst>
              </p:nvPr>
            </p:nvGraphicFramePr>
            <p:xfrm>
              <a:off x="1980000" y="1936125"/>
              <a:ext cx="5184000" cy="4145280"/>
            </p:xfrm>
            <a:graphic>
              <a:graphicData uri="http://schemas.openxmlformats.org/drawingml/2006/table">
                <a:tbl>
                  <a:tblPr firstRow="1" bandRow="1">
                    <a:tableStyleId>{5940675A-B579-460E-94D1-54222C63F5DA}</a:tableStyleId>
                  </a:tblPr>
                  <a:tblGrid>
                    <a:gridCol w="648000">
                      <a:extLst>
                        <a:ext uri="{9D8B030D-6E8A-4147-A177-3AD203B41FA5}">
                          <a16:colId xmlns:a16="http://schemas.microsoft.com/office/drawing/2014/main" val="106444939"/>
                        </a:ext>
                      </a:extLst>
                    </a:gridCol>
                    <a:gridCol w="648000">
                      <a:extLst>
                        <a:ext uri="{9D8B030D-6E8A-4147-A177-3AD203B41FA5}">
                          <a16:colId xmlns:a16="http://schemas.microsoft.com/office/drawing/2014/main" val="3438003960"/>
                        </a:ext>
                      </a:extLst>
                    </a:gridCol>
                    <a:gridCol w="648000">
                      <a:extLst>
                        <a:ext uri="{9D8B030D-6E8A-4147-A177-3AD203B41FA5}">
                          <a16:colId xmlns:a16="http://schemas.microsoft.com/office/drawing/2014/main" val="1539556327"/>
                        </a:ext>
                      </a:extLst>
                    </a:gridCol>
                    <a:gridCol w="648000">
                      <a:extLst>
                        <a:ext uri="{9D8B030D-6E8A-4147-A177-3AD203B41FA5}">
                          <a16:colId xmlns:a16="http://schemas.microsoft.com/office/drawing/2014/main" val="1393179428"/>
                        </a:ext>
                      </a:extLst>
                    </a:gridCol>
                    <a:gridCol w="648000">
                      <a:extLst>
                        <a:ext uri="{9D8B030D-6E8A-4147-A177-3AD203B41FA5}">
                          <a16:colId xmlns:a16="http://schemas.microsoft.com/office/drawing/2014/main" val="3965888546"/>
                        </a:ext>
                      </a:extLst>
                    </a:gridCol>
                    <a:gridCol w="648000">
                      <a:extLst>
                        <a:ext uri="{9D8B030D-6E8A-4147-A177-3AD203B41FA5}">
                          <a16:colId xmlns:a16="http://schemas.microsoft.com/office/drawing/2014/main" val="82904498"/>
                        </a:ext>
                      </a:extLst>
                    </a:gridCol>
                    <a:gridCol w="648000">
                      <a:extLst>
                        <a:ext uri="{9D8B030D-6E8A-4147-A177-3AD203B41FA5}">
                          <a16:colId xmlns:a16="http://schemas.microsoft.com/office/drawing/2014/main" val="2214715668"/>
                        </a:ext>
                      </a:extLst>
                    </a:gridCol>
                    <a:gridCol w="648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887" t="-11765" r="-6047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35" t="-111765" r="-698131"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1</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3</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0</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2</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3475944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22</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797126278"/>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797126278"/>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ext uri="{D42A27DB-BD31-4B8C-83A1-F6EECF244321}">
                    <p14:modId xmlns:p14="http://schemas.microsoft.com/office/powerpoint/2010/main" val="507581683"/>
                  </p:ext>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ext uri="{D42A27DB-BD31-4B8C-83A1-F6EECF244321}">
                    <p14:modId xmlns:p14="http://schemas.microsoft.com/office/powerpoint/2010/main" val="507581683"/>
                  </p:ext>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284215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23</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81291265"/>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1781291265"/>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892697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24</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(4/4) </a:t>
            </a:r>
            <a:r>
              <a:rPr lang="en-US" altLang="zh-TW" sz="2800" dirty="0">
                <a:latin typeface="Times New Roman" panose="02020603050405020304" pitchFamily="18" charset="0"/>
                <a:cs typeface="Times New Roman" panose="02020603050405020304" pitchFamily="18" charset="0"/>
              </a:rPr>
              <a:t>&lt; trackback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
        <p:nvSpPr>
          <p:cNvPr id="11" name="橢圓 10">
            <a:extLst>
              <a:ext uri="{FF2B5EF4-FFF2-40B4-BE49-F238E27FC236}">
                <a16:creationId xmlns:a16="http://schemas.microsoft.com/office/drawing/2014/main" id="{C592CCED-581E-4DF0-BCF6-9F061532864C}"/>
              </a:ext>
            </a:extLst>
          </p:cNvPr>
          <p:cNvSpPr/>
          <p:nvPr/>
        </p:nvSpPr>
        <p:spPr>
          <a:xfrm>
            <a:off x="3161999" y="5108182"/>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15400BB8-F58E-4B09-A1C7-58FBB9AE7FD4}"/>
              </a:ext>
            </a:extLst>
          </p:cNvPr>
          <p:cNvSpPr/>
          <p:nvPr/>
        </p:nvSpPr>
        <p:spPr>
          <a:xfrm>
            <a:off x="7333949" y="5108182"/>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562E4990-653D-4E69-AEBC-CCBCBC3F67F5}"/>
              </a:ext>
            </a:extLst>
          </p:cNvPr>
          <p:cNvSpPr/>
          <p:nvPr/>
        </p:nvSpPr>
        <p:spPr>
          <a:xfrm>
            <a:off x="6892422" y="4574782"/>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橢圓 13">
            <a:extLst>
              <a:ext uri="{FF2B5EF4-FFF2-40B4-BE49-F238E27FC236}">
                <a16:creationId xmlns:a16="http://schemas.microsoft.com/office/drawing/2014/main" id="{025D8F46-5763-4D41-B0DD-48DEA8842259}"/>
              </a:ext>
            </a:extLst>
          </p:cNvPr>
          <p:cNvSpPr/>
          <p:nvPr/>
        </p:nvSpPr>
        <p:spPr>
          <a:xfrm>
            <a:off x="6467475" y="4060432"/>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橢圓 15">
            <a:extLst>
              <a:ext uri="{FF2B5EF4-FFF2-40B4-BE49-F238E27FC236}">
                <a16:creationId xmlns:a16="http://schemas.microsoft.com/office/drawing/2014/main" id="{EAD1CC98-0BC3-482E-BD37-DA492DC27B06}"/>
              </a:ext>
            </a:extLst>
          </p:cNvPr>
          <p:cNvSpPr/>
          <p:nvPr/>
        </p:nvSpPr>
        <p:spPr>
          <a:xfrm>
            <a:off x="6041474" y="4060432"/>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橢圓 16">
            <a:extLst>
              <a:ext uri="{FF2B5EF4-FFF2-40B4-BE49-F238E27FC236}">
                <a16:creationId xmlns:a16="http://schemas.microsoft.com/office/drawing/2014/main" id="{171F2A2F-485B-4260-BDCA-7B5467A4DC31}"/>
              </a:ext>
            </a:extLst>
          </p:cNvPr>
          <p:cNvSpPr/>
          <p:nvPr/>
        </p:nvSpPr>
        <p:spPr>
          <a:xfrm>
            <a:off x="5609773" y="3547620"/>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橢圓 17">
            <a:extLst>
              <a:ext uri="{FF2B5EF4-FFF2-40B4-BE49-F238E27FC236}">
                <a16:creationId xmlns:a16="http://schemas.microsoft.com/office/drawing/2014/main" id="{44AB2061-78E3-4CC3-9FE2-F17A6C8238CD}"/>
              </a:ext>
            </a:extLst>
          </p:cNvPr>
          <p:cNvSpPr/>
          <p:nvPr/>
        </p:nvSpPr>
        <p:spPr>
          <a:xfrm>
            <a:off x="5168547" y="3025283"/>
            <a:ext cx="412651" cy="4039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65061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25</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(4/4) </a:t>
            </a:r>
            <a:r>
              <a:rPr lang="en-US" altLang="zh-TW" sz="2800" dirty="0">
                <a:latin typeface="Times New Roman" panose="02020603050405020304" pitchFamily="18" charset="0"/>
                <a:cs typeface="Times New Roman" panose="02020603050405020304" pitchFamily="18" charset="0"/>
              </a:rPr>
              <a:t>&lt; traceback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4393390" y="210183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ext uri="{D42A27DB-BD31-4B8C-83A1-F6EECF244321}">
                    <p14:modId xmlns:p14="http://schemas.microsoft.com/office/powerpoint/2010/main" val="1672580464"/>
                  </p:ext>
                </p:extLst>
              </p:nvPr>
            </p:nvGraphicFramePr>
            <p:xfrm>
              <a:off x="4393390" y="210183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60000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393390" y="278438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ext uri="{D42A27DB-BD31-4B8C-83A1-F6EECF244321}">
                    <p14:modId xmlns:p14="http://schemas.microsoft.com/office/powerpoint/2010/main" val="701556816"/>
                  </p:ext>
                </p:extLst>
              </p:nvPr>
            </p:nvGraphicFramePr>
            <p:xfrm>
              <a:off x="4393390" y="2784389"/>
              <a:ext cx="3276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gridCol w="468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600000"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815961928"/>
                  </p:ext>
                </p:extLst>
              </p:nvPr>
            </p:nvGraphicFramePr>
            <p:xfrm>
              <a:off x="460369" y="186500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815961928"/>
                  </p:ext>
                </p:extLst>
              </p:nvPr>
            </p:nvGraphicFramePr>
            <p:xfrm>
              <a:off x="460369" y="186500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6" name="表格 15">
                <a:extLst>
                  <a:ext uri="{FF2B5EF4-FFF2-40B4-BE49-F238E27FC236}">
                    <a16:creationId xmlns:a16="http://schemas.microsoft.com/office/drawing/2014/main" id="{718E6147-21F3-4AEA-99F9-F65FF636AC03}"/>
                  </a:ext>
                </a:extLst>
              </p:cNvPr>
              <p:cNvGraphicFramePr>
                <a:graphicFrameLocks noGrp="1"/>
              </p:cNvGraphicFramePr>
              <p:nvPr>
                <p:extLst>
                  <p:ext uri="{D42A27DB-BD31-4B8C-83A1-F6EECF244321}">
                    <p14:modId xmlns:p14="http://schemas.microsoft.com/office/powerpoint/2010/main" val="4161514735"/>
                  </p:ext>
                </p:extLst>
              </p:nvPr>
            </p:nvGraphicFramePr>
            <p:xfrm>
              <a:off x="4344541" y="3719842"/>
              <a:ext cx="2808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6" name="表格 15">
                <a:extLst>
                  <a:ext uri="{FF2B5EF4-FFF2-40B4-BE49-F238E27FC236}">
                    <a16:creationId xmlns:a16="http://schemas.microsoft.com/office/drawing/2014/main" id="{718E6147-21F3-4AEA-99F9-F65FF636AC03}"/>
                  </a:ext>
                </a:extLst>
              </p:cNvPr>
              <p:cNvGraphicFramePr>
                <a:graphicFrameLocks noGrp="1"/>
              </p:cNvGraphicFramePr>
              <p:nvPr>
                <p:extLst>
                  <p:ext uri="{D42A27DB-BD31-4B8C-83A1-F6EECF244321}">
                    <p14:modId xmlns:p14="http://schemas.microsoft.com/office/powerpoint/2010/main" val="4161514735"/>
                  </p:ext>
                </p:extLst>
              </p:nvPr>
            </p:nvGraphicFramePr>
            <p:xfrm>
              <a:off x="4344541" y="3719842"/>
              <a:ext cx="2808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6"/>
                          <a:stretch>
                            <a:fillRect t="-11628" r="-502597"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9" name="表格 18">
                <a:extLst>
                  <a:ext uri="{FF2B5EF4-FFF2-40B4-BE49-F238E27FC236}">
                    <a16:creationId xmlns:a16="http://schemas.microsoft.com/office/drawing/2014/main" id="{A71D32B0-191D-48EF-8225-22D6880CC606}"/>
                  </a:ext>
                </a:extLst>
              </p:cNvPr>
              <p:cNvGraphicFramePr>
                <a:graphicFrameLocks noGrp="1"/>
              </p:cNvGraphicFramePr>
              <p:nvPr>
                <p:extLst>
                  <p:ext uri="{D42A27DB-BD31-4B8C-83A1-F6EECF244321}">
                    <p14:modId xmlns:p14="http://schemas.microsoft.com/office/powerpoint/2010/main" val="2651868516"/>
                  </p:ext>
                </p:extLst>
              </p:nvPr>
            </p:nvGraphicFramePr>
            <p:xfrm>
              <a:off x="4344541" y="4488679"/>
              <a:ext cx="2808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9" name="表格 18">
                <a:extLst>
                  <a:ext uri="{FF2B5EF4-FFF2-40B4-BE49-F238E27FC236}">
                    <a16:creationId xmlns:a16="http://schemas.microsoft.com/office/drawing/2014/main" id="{A71D32B0-191D-48EF-8225-22D6880CC606}"/>
                  </a:ext>
                </a:extLst>
              </p:cNvPr>
              <p:cNvGraphicFramePr>
                <a:graphicFrameLocks noGrp="1"/>
              </p:cNvGraphicFramePr>
              <p:nvPr>
                <p:extLst>
                  <p:ext uri="{D42A27DB-BD31-4B8C-83A1-F6EECF244321}">
                    <p14:modId xmlns:p14="http://schemas.microsoft.com/office/powerpoint/2010/main" val="2651868516"/>
                  </p:ext>
                </p:extLst>
              </p:nvPr>
            </p:nvGraphicFramePr>
            <p:xfrm>
              <a:off x="4344541" y="4488679"/>
              <a:ext cx="2808000" cy="5181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06444939"/>
                        </a:ext>
                      </a:extLst>
                    </a:gridCol>
                    <a:gridCol w="468000">
                      <a:extLst>
                        <a:ext uri="{9D8B030D-6E8A-4147-A177-3AD203B41FA5}">
                          <a16:colId xmlns:a16="http://schemas.microsoft.com/office/drawing/2014/main" val="3438003960"/>
                        </a:ext>
                      </a:extLst>
                    </a:gridCol>
                    <a:gridCol w="468000">
                      <a:extLst>
                        <a:ext uri="{9D8B030D-6E8A-4147-A177-3AD203B41FA5}">
                          <a16:colId xmlns:a16="http://schemas.microsoft.com/office/drawing/2014/main" val="1539556327"/>
                        </a:ext>
                      </a:extLst>
                    </a:gridCol>
                    <a:gridCol w="468000">
                      <a:extLst>
                        <a:ext uri="{9D8B030D-6E8A-4147-A177-3AD203B41FA5}">
                          <a16:colId xmlns:a16="http://schemas.microsoft.com/office/drawing/2014/main" val="1393179428"/>
                        </a:ext>
                      </a:extLst>
                    </a:gridCol>
                    <a:gridCol w="468000">
                      <a:extLst>
                        <a:ext uri="{9D8B030D-6E8A-4147-A177-3AD203B41FA5}">
                          <a16:colId xmlns:a16="http://schemas.microsoft.com/office/drawing/2014/main" val="3965888546"/>
                        </a:ext>
                      </a:extLst>
                    </a:gridCol>
                    <a:gridCol w="468000">
                      <a:extLst>
                        <a:ext uri="{9D8B030D-6E8A-4147-A177-3AD203B41FA5}">
                          <a16:colId xmlns:a16="http://schemas.microsoft.com/office/drawing/2014/main" val="82904498"/>
                        </a:ext>
                      </a:extLst>
                    </a:gridCol>
                  </a:tblGrid>
                  <a:tr h="518160">
                    <a:tc>
                      <a:txBody>
                        <a:bodyPr/>
                        <a:lstStyle/>
                        <a:p>
                          <a:endParaRPr lang="zh-TW"/>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7"/>
                          <a:stretch>
                            <a:fillRect t="-11628" r="-502597"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Tree>
    <p:extLst>
      <p:ext uri="{BB962C8B-B14F-4D97-AF65-F5344CB8AC3E}">
        <p14:creationId xmlns:p14="http://schemas.microsoft.com/office/powerpoint/2010/main" val="41630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26</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Local type (3/4) </a:t>
            </a:r>
            <a:r>
              <a:rPr lang="en-US" altLang="zh-TW" sz="2800" dirty="0">
                <a:latin typeface="Times New Roman" panose="02020603050405020304" pitchFamily="18" charset="0"/>
                <a:cs typeface="Times New Roman" panose="02020603050405020304" pitchFamily="18" charset="0"/>
              </a:rPr>
              <a:t>&lt; arrow matrix &gt;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𝑠</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6" name="表格 5">
                <a:extLst>
                  <a:ext uri="{FF2B5EF4-FFF2-40B4-BE49-F238E27FC236}">
                    <a16:creationId xmlns:a16="http://schemas.microsoft.com/office/drawing/2014/main" id="{AEC5FAB8-AEFA-489C-BEC9-E0A3BF926DC5}"/>
                  </a:ext>
                </a:extLst>
              </p:cNvPr>
              <p:cNvGraphicFramePr>
                <a:graphicFrameLocks noGrp="1"/>
              </p:cNvGraphicFramePr>
              <p:nvPr>
                <p:extLst/>
              </p:nvPr>
            </p:nvGraphicFramePr>
            <p:xfrm>
              <a:off x="556369" y="1143019"/>
              <a:ext cx="336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598734"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𝑡</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8" name="表格 7">
                <a:extLst>
                  <a:ext uri="{FF2B5EF4-FFF2-40B4-BE49-F238E27FC236}">
                    <a16:creationId xmlns:a16="http://schemas.microsoft.com/office/drawing/2014/main" id="{CD2D13A3-6D2E-4A02-8DAB-CC7C5AB8C127}"/>
                  </a:ext>
                </a:extLst>
              </p:cNvPr>
              <p:cNvGraphicFramePr>
                <a:graphicFrameLocks noGrp="1"/>
              </p:cNvGraphicFramePr>
              <p:nvPr>
                <p:extLst/>
              </p:nvPr>
            </p:nvGraphicFramePr>
            <p:xfrm>
              <a:off x="4572000" y="1143019"/>
              <a:ext cx="3351600" cy="518160"/>
            </p:xfrm>
            <a:graphic>
              <a:graphicData uri="http://schemas.openxmlformats.org/drawingml/2006/table">
                <a:tbl>
                  <a:tblPr firstRow="1" bandRow="1">
                    <a:tableStyleId>{5940675A-B579-460E-94D1-54222C63F5DA}</a:tableStyleId>
                  </a:tblPr>
                  <a:tblGrid>
                    <a:gridCol w="478800">
                      <a:extLst>
                        <a:ext uri="{9D8B030D-6E8A-4147-A177-3AD203B41FA5}">
                          <a16:colId xmlns:a16="http://schemas.microsoft.com/office/drawing/2014/main" val="106444939"/>
                        </a:ext>
                      </a:extLst>
                    </a:gridCol>
                    <a:gridCol w="478800">
                      <a:extLst>
                        <a:ext uri="{9D8B030D-6E8A-4147-A177-3AD203B41FA5}">
                          <a16:colId xmlns:a16="http://schemas.microsoft.com/office/drawing/2014/main" val="3438003960"/>
                        </a:ext>
                      </a:extLst>
                    </a:gridCol>
                    <a:gridCol w="478800">
                      <a:extLst>
                        <a:ext uri="{9D8B030D-6E8A-4147-A177-3AD203B41FA5}">
                          <a16:colId xmlns:a16="http://schemas.microsoft.com/office/drawing/2014/main" val="1539556327"/>
                        </a:ext>
                      </a:extLst>
                    </a:gridCol>
                    <a:gridCol w="478800">
                      <a:extLst>
                        <a:ext uri="{9D8B030D-6E8A-4147-A177-3AD203B41FA5}">
                          <a16:colId xmlns:a16="http://schemas.microsoft.com/office/drawing/2014/main" val="1393179428"/>
                        </a:ext>
                      </a:extLst>
                    </a:gridCol>
                    <a:gridCol w="478800">
                      <a:extLst>
                        <a:ext uri="{9D8B030D-6E8A-4147-A177-3AD203B41FA5}">
                          <a16:colId xmlns:a16="http://schemas.microsoft.com/office/drawing/2014/main" val="3965888546"/>
                        </a:ext>
                      </a:extLst>
                    </a:gridCol>
                    <a:gridCol w="478800">
                      <a:extLst>
                        <a:ext uri="{9D8B030D-6E8A-4147-A177-3AD203B41FA5}">
                          <a16:colId xmlns:a16="http://schemas.microsoft.com/office/drawing/2014/main" val="82904498"/>
                        </a:ext>
                      </a:extLst>
                    </a:gridCol>
                    <a:gridCol w="478800">
                      <a:extLst>
                        <a:ext uri="{9D8B030D-6E8A-4147-A177-3AD203B41FA5}">
                          <a16:colId xmlns:a16="http://schemas.microsoft.com/office/drawing/2014/main" val="221471566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59620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92257700"/>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345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9" name="表格 8">
                <a:extLst>
                  <a:ext uri="{FF2B5EF4-FFF2-40B4-BE49-F238E27FC236}">
                    <a16:creationId xmlns:a16="http://schemas.microsoft.com/office/drawing/2014/main" id="{834F2CCF-615D-4B3A-BD70-966DB25050AE}"/>
                  </a:ext>
                </a:extLst>
              </p:cNvPr>
              <p:cNvGraphicFramePr>
                <a:graphicFrameLocks noGrp="1"/>
              </p:cNvGraphicFramePr>
              <p:nvPr>
                <p:extLst>
                  <p:ext uri="{D42A27DB-BD31-4B8C-83A1-F6EECF244321}">
                    <p14:modId xmlns:p14="http://schemas.microsoft.com/office/powerpoint/2010/main" val="292257700"/>
                  </p:ext>
                </p:extLst>
              </p:nvPr>
            </p:nvGraphicFramePr>
            <p:xfrm>
              <a:off x="4729950"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08" t="-111765" r="-702817" b="-634118"/>
                          </a:stretch>
                        </a:blip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chemeClr val="tx1"/>
                              </a:solidFill>
                              <a:latin typeface="微軟正黑體 Light" panose="020B0304030504040204" pitchFamily="34" charset="-120"/>
                              <a:ea typeface="微軟正黑體 Light" panose="020B0304030504040204" pitchFamily="34" charset="-120"/>
                              <a:cs typeface="Times New Roman" panose="02020603050405020304" pitchFamily="18" charset="0"/>
                            </a:rPr>
                            <a:t>.</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229371">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2293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𝜖</m:t>
                                </m:r>
                              </m:oMath>
                            </m:oMathPara>
                          </a14:m>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Choice>
        <mc:Fallback>
          <p:graphicFrame>
            <p:nvGraphicFramePr>
              <p:cNvPr id="10" name="表格 9">
                <a:extLst>
                  <a:ext uri="{FF2B5EF4-FFF2-40B4-BE49-F238E27FC236}">
                    <a16:creationId xmlns:a16="http://schemas.microsoft.com/office/drawing/2014/main" id="{AB3ECF57-BCF2-4695-8ABD-A13F97D2410D}"/>
                  </a:ext>
                </a:extLst>
              </p:cNvPr>
              <p:cNvGraphicFramePr>
                <a:graphicFrameLocks noGrp="1"/>
              </p:cNvGraphicFramePr>
              <p:nvPr>
                <p:extLst/>
              </p:nvPr>
            </p:nvGraphicFramePr>
            <p:xfrm>
              <a:off x="556369" y="1936125"/>
              <a:ext cx="3456000" cy="4145280"/>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106444939"/>
                        </a:ext>
                      </a:extLst>
                    </a:gridCol>
                    <a:gridCol w="432000">
                      <a:extLst>
                        <a:ext uri="{9D8B030D-6E8A-4147-A177-3AD203B41FA5}">
                          <a16:colId xmlns:a16="http://schemas.microsoft.com/office/drawing/2014/main" val="3438003960"/>
                        </a:ext>
                      </a:extLst>
                    </a:gridCol>
                    <a:gridCol w="432000">
                      <a:extLst>
                        <a:ext uri="{9D8B030D-6E8A-4147-A177-3AD203B41FA5}">
                          <a16:colId xmlns:a16="http://schemas.microsoft.com/office/drawing/2014/main" val="1539556327"/>
                        </a:ext>
                      </a:extLst>
                    </a:gridCol>
                    <a:gridCol w="432000">
                      <a:extLst>
                        <a:ext uri="{9D8B030D-6E8A-4147-A177-3AD203B41FA5}">
                          <a16:colId xmlns:a16="http://schemas.microsoft.com/office/drawing/2014/main" val="1393179428"/>
                        </a:ext>
                      </a:extLst>
                    </a:gridCol>
                    <a:gridCol w="432000">
                      <a:extLst>
                        <a:ext uri="{9D8B030D-6E8A-4147-A177-3AD203B41FA5}">
                          <a16:colId xmlns:a16="http://schemas.microsoft.com/office/drawing/2014/main" val="3965888546"/>
                        </a:ext>
                      </a:extLst>
                    </a:gridCol>
                    <a:gridCol w="432000">
                      <a:extLst>
                        <a:ext uri="{9D8B030D-6E8A-4147-A177-3AD203B41FA5}">
                          <a16:colId xmlns:a16="http://schemas.microsoft.com/office/drawing/2014/main" val="82904498"/>
                        </a:ext>
                      </a:extLst>
                    </a:gridCol>
                    <a:gridCol w="432000">
                      <a:extLst>
                        <a:ext uri="{9D8B030D-6E8A-4147-A177-3AD203B41FA5}">
                          <a16:colId xmlns:a16="http://schemas.microsoft.com/office/drawing/2014/main" val="2214715668"/>
                        </a:ext>
                      </a:extLst>
                    </a:gridCol>
                    <a:gridCol w="432000">
                      <a:extLst>
                        <a:ext uri="{9D8B030D-6E8A-4147-A177-3AD203B41FA5}">
                          <a16:colId xmlns:a16="http://schemas.microsoft.com/office/drawing/2014/main" val="2102142507"/>
                        </a:ext>
                      </a:extLst>
                    </a:gridCol>
                  </a:tblGrid>
                  <a:tr h="518160">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408" t="-11765" r="-602817" b="-73411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r h="51816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408" t="-111765" r="-702817" b="-634118"/>
                          </a:stretch>
                        </a:blip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19485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025684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171816"/>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846689"/>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58505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143312"/>
                      </a:ext>
                    </a:extLst>
                  </a:tr>
                  <a:tr h="518160">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875439"/>
                      </a:ext>
                    </a:extLst>
                  </a:tr>
                </a:tbl>
              </a:graphicData>
            </a:graphic>
          </p:graphicFrame>
        </mc:Fallback>
      </mc:AlternateContent>
    </p:spTree>
    <p:extLst>
      <p:ext uri="{BB962C8B-B14F-4D97-AF65-F5344CB8AC3E}">
        <p14:creationId xmlns:p14="http://schemas.microsoft.com/office/powerpoint/2010/main" val="303649447"/>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63609</TotalTime>
  <Words>2535</Words>
  <Application>Microsoft Office PowerPoint</Application>
  <PresentationFormat>如螢幕大小 (4:3)</PresentationFormat>
  <Paragraphs>1729</Paragraphs>
  <Slides>26</Slides>
  <Notes>26</Notes>
  <HiddenSlides>1</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26</vt:i4>
      </vt:variant>
    </vt:vector>
  </HeadingPairs>
  <TitlesOfParts>
    <vt:vector size="38" baseType="lpstr">
      <vt:lpstr>HIBAH J+ Adv O T 8202eda 3</vt:lpstr>
      <vt:lpstr>HIBAH K+ Adv O T 8202eda 3+ 20</vt:lpstr>
      <vt:lpstr>HIBAH L+ Adv O T 8202eda 3+fb</vt:lpstr>
      <vt:lpstr>inherit</vt:lpstr>
      <vt:lpstr>Roboto</vt:lpstr>
      <vt:lpstr>微軟正黑體 Light</vt:lpstr>
      <vt:lpstr>Arial</vt:lpstr>
      <vt:lpstr>Calibri</vt:lpstr>
      <vt:lpstr>Calibri Light</vt:lpstr>
      <vt:lpstr>Cambria Math</vt:lpstr>
      <vt:lpstr>Times New Roman</vt:lpstr>
      <vt:lpstr>Office 佈景主題</vt:lpstr>
      <vt:lpstr> Algorithms for Strings and Sequences: Pairwise Alignment </vt:lpstr>
      <vt:lpstr>PowerPoint 簡報</vt:lpstr>
      <vt:lpstr>Abstract (1/2) </vt:lpstr>
      <vt:lpstr>Abstract (2/2)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787</cp:revision>
  <dcterms:created xsi:type="dcterms:W3CDTF">2017-09-25T08:45:50Z</dcterms:created>
  <dcterms:modified xsi:type="dcterms:W3CDTF">2019-01-22T10:09:24Z</dcterms:modified>
</cp:coreProperties>
</file>