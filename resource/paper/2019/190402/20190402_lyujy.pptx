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3" r:id="rId3"/>
    <p:sldId id="257" r:id="rId4"/>
    <p:sldId id="283" r:id="rId5"/>
    <p:sldId id="303" r:id="rId6"/>
    <p:sldId id="295" r:id="rId7"/>
    <p:sldId id="306" r:id="rId8"/>
    <p:sldId id="305" r:id="rId9"/>
    <p:sldId id="296" r:id="rId10"/>
    <p:sldId id="290" r:id="rId11"/>
    <p:sldId id="297" r:id="rId12"/>
    <p:sldId id="307" r:id="rId13"/>
    <p:sldId id="301" r:id="rId14"/>
    <p:sldId id="298" r:id="rId15"/>
    <p:sldId id="304"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68" d="100"/>
          <a:sy n="68" d="100"/>
        </p:scale>
        <p:origin x="52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2019/4/2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67124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650981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13442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756256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4010393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923414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zh.wikipedia.org/wiki/%E5%8E%9F%E5%AD%90" TargetMode="External"/><Relationship Id="rId13" Type="http://schemas.openxmlformats.org/officeDocument/2006/relationships/hyperlink" Target="https://zh.wikipedia.org/wiki/%E7%BB%93%E6%9E%84%E7%94%9F%E7%89%A9%E5%AD%A6" TargetMode="External"/><Relationship Id="rId3" Type="http://schemas.openxmlformats.org/officeDocument/2006/relationships/hyperlink" Target="https://zh.wikipedia.org/wiki/%E9%95%BF%E5%BA%A6" TargetMode="External"/><Relationship Id="rId7" Type="http://schemas.openxmlformats.org/officeDocument/2006/relationships/hyperlink" Target="https://zh.wikipedia.org/wiki/%E7%BA%B3%E7%B1%B3" TargetMode="External"/><Relationship Id="rId12" Type="http://schemas.openxmlformats.org/officeDocument/2006/relationships/hyperlink" Target="https://zh.wikipedia.org/wiki/%E9%93%80" TargetMode="External"/><Relationship Id="rId2" Type="http://schemas.openxmlformats.org/officeDocument/2006/relationships/hyperlink" Target="https://zh.wikipedia.org/wiki/%C3%85" TargetMode="External"/><Relationship Id="rId1" Type="http://schemas.openxmlformats.org/officeDocument/2006/relationships/slideLayout" Target="../slideLayouts/slideLayout2.xml"/><Relationship Id="rId6" Type="http://schemas.openxmlformats.org/officeDocument/2006/relationships/hyperlink" Target="https://zh.wikipedia.org/wiki/%E7%B1%B3_(%E5%8D%95%E4%BD%8D)" TargetMode="External"/><Relationship Id="rId11" Type="http://schemas.openxmlformats.org/officeDocument/2006/relationships/hyperlink" Target="https://zh.wikipedia.org/wiki/%E6%B0%A2" TargetMode="External"/><Relationship Id="rId5" Type="http://schemas.openxmlformats.org/officeDocument/2006/relationships/hyperlink" Target="https://zh.wikipedia.org/wiki/%E5%9B%BD%E9%99%85%E5%8D%95%E4%BD%8D%E5%88%B6" TargetMode="External"/><Relationship Id="rId10" Type="http://schemas.openxmlformats.org/officeDocument/2006/relationships/hyperlink" Target="https://zh.wikipedia.org/wiki/%E5%85%B1%E5%83%B9%E5%8D%8A%E5%BE%91" TargetMode="External"/><Relationship Id="rId4" Type="http://schemas.openxmlformats.org/officeDocument/2006/relationships/hyperlink" Target="https://zh.wikipedia.org/wiki/%E8%AE%A1%E9%87%8F%E5%8D%95%E4%BD%8D" TargetMode="External"/><Relationship Id="rId9" Type="http://schemas.openxmlformats.org/officeDocument/2006/relationships/hyperlink" Target="https://zh.wikipedia.org/wiki/%E5%8F%AF%E8%A7%81%E5%85%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err="1">
                <a:latin typeface="Times New Roman" panose="02020603050405020304" pitchFamily="18" charset="0"/>
                <a:cs typeface="Times New Roman" panose="02020603050405020304" pitchFamily="18" charset="0"/>
              </a:rPr>
              <a:t>MolDock</a:t>
            </a:r>
            <a:r>
              <a:rPr lang="en-US" altLang="zh-TW" sz="4000" b="1" dirty="0">
                <a:latin typeface="Times New Roman" panose="02020603050405020304" pitchFamily="18" charset="0"/>
                <a:cs typeface="Times New Roman" panose="02020603050405020304" pitchFamily="18" charset="0"/>
              </a:rPr>
              <a:t>: A New Technique for High-Accuracy Molecular Docking</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René Thomsen, and Mikael H. Christensen</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808588" y="3880917"/>
            <a:ext cx="8142235" cy="12074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Journal of Medicinal Chemistry,2006, Pages </a:t>
            </a:r>
            <a:r>
              <a:rPr lang="en-US" altLang="zh-TW" dirty="0"/>
              <a:t>3315 - 3321</a:t>
            </a:r>
            <a:r>
              <a:rPr lang="en-US" altLang="zh-TW" dirty="0">
                <a:latin typeface="Times New Roman" panose="02020603050405020304" pitchFamily="18" charset="0"/>
                <a:cs typeface="Times New Roman" panose="02020603050405020304" pitchFamily="18" charset="0"/>
              </a:rPr>
              <a:t>, Aarhus C, Denmark</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Apr. 02, 2019</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In this article we introduce a molecular docking algorithm called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is based on a new heuristic search algorithm that combines differential evolution with a cavity prediction algorithm. The docking scoring function of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is an extension of the piecewise linear potential (PLP) including new hydrogen bonding and electrostatic terms. To further improve docking accuracy, a re-ranking scoring function is introduced, which identifies the most promising docking solution from the solutions obtained by the docking algorithm.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The docking accuracy of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has been evaluated by docking flexible ligands to 77 protein targets. </a:t>
            </a:r>
            <a:r>
              <a:rPr lang="en-US" altLang="zh-TW" sz="2300" dirty="0" err="1">
                <a:latin typeface="Times New Roman" panose="02020603050405020304" pitchFamily="18" charset="0"/>
                <a:cs typeface="Times New Roman" panose="02020603050405020304" pitchFamily="18" charset="0"/>
              </a:rPr>
              <a:t>MolDock</a:t>
            </a:r>
            <a:r>
              <a:rPr lang="en-US" altLang="zh-TW" sz="2300" dirty="0">
                <a:latin typeface="Times New Roman" panose="02020603050405020304" pitchFamily="18" charset="0"/>
                <a:cs typeface="Times New Roman" panose="02020603050405020304" pitchFamily="18" charset="0"/>
              </a:rPr>
              <a:t> was able to identify the correct binding mode of 87% of the complexes. In comparison, the accuracy of Glide and </a:t>
            </a:r>
            <a:r>
              <a:rPr lang="en-US" altLang="zh-TW" sz="2300" dirty="0" err="1">
                <a:latin typeface="Times New Roman" panose="02020603050405020304" pitchFamily="18" charset="0"/>
                <a:cs typeface="Times New Roman" panose="02020603050405020304" pitchFamily="18" charset="0"/>
              </a:rPr>
              <a:t>Surflex</a:t>
            </a:r>
            <a:r>
              <a:rPr lang="en-US" altLang="zh-TW" sz="2300" dirty="0">
                <a:latin typeface="Times New Roman" panose="02020603050405020304" pitchFamily="18" charset="0"/>
                <a:cs typeface="Times New Roman" panose="02020603050405020304" pitchFamily="18" charset="0"/>
              </a:rPr>
              <a:t> is 82% and 75%, respectively. </a:t>
            </a:r>
            <a:r>
              <a:rPr lang="en-US" altLang="zh-TW" sz="2300" dirty="0" err="1">
                <a:latin typeface="Times New Roman" panose="02020603050405020304" pitchFamily="18" charset="0"/>
                <a:cs typeface="Times New Roman" panose="02020603050405020304" pitchFamily="18" charset="0"/>
              </a:rPr>
              <a:t>FlexX</a:t>
            </a:r>
            <a:r>
              <a:rPr lang="en-US" altLang="zh-TW" sz="2300" dirty="0">
                <a:latin typeface="Times New Roman" panose="02020603050405020304" pitchFamily="18" charset="0"/>
                <a:cs typeface="Times New Roman" panose="02020603050405020304" pitchFamily="18" charset="0"/>
              </a:rPr>
              <a:t> obtained 58% and GOLD 78% on subsets containing 76 and 55 cases, respectively.</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Guided Differential Evolution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dirty="0"/>
              <a:t>Initialization: Use uniform random rotations by Shoemake, K</a:t>
            </a:r>
            <a:endParaRPr lang="en-US" altLang="zh-TW" sz="2700" dirty="0"/>
          </a:p>
          <a:p>
            <a:r>
              <a:rPr lang="en-US" altLang="zh-TW" sz="2700" dirty="0"/>
              <a:t>Population size=50</a:t>
            </a:r>
          </a:p>
          <a:p>
            <a:r>
              <a:rPr lang="en-US" altLang="zh-TW" sz="2700" dirty="0"/>
              <a:t>Crossover rate=0.9</a:t>
            </a:r>
          </a:p>
          <a:p>
            <a:r>
              <a:rPr lang="en-US" altLang="zh-TW" sz="2700" dirty="0"/>
              <a:t>Scaling factor=0.5</a:t>
            </a:r>
          </a:p>
          <a:p>
            <a:r>
              <a:rPr lang="en-US" altLang="zh-TW" sz="2700" dirty="0"/>
              <a:t>Max evaluations=100,000</a:t>
            </a:r>
          </a:p>
        </p:txBody>
      </p:sp>
      <p:pic>
        <p:nvPicPr>
          <p:cNvPr id="6" name="圖片 5">
            <a:extLst>
              <a:ext uri="{FF2B5EF4-FFF2-40B4-BE49-F238E27FC236}">
                <a16:creationId xmlns:a16="http://schemas.microsoft.com/office/drawing/2014/main" xmlns="" id="{0D267F6D-6687-4BB8-82BD-567606685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262" y="1662186"/>
            <a:ext cx="7443738" cy="4980394"/>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Guided Differential Evolution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sz="2700" dirty="0"/>
              <a:t>U(0,1) is a uniformly distributed number between 0 and 1. </a:t>
            </a:r>
          </a:p>
          <a:p>
            <a:r>
              <a:rPr lang="en-US" altLang="zh-TW" sz="2700" dirty="0"/>
              <a:t>PC is the probability of crossover (crossover rate)</a:t>
            </a:r>
          </a:p>
          <a:p>
            <a:r>
              <a:rPr lang="en-US" altLang="zh-TW" sz="2700" dirty="0"/>
              <a:t>F is the scaling factor, and n is the number of problem parameters.</a:t>
            </a:r>
          </a:p>
        </p:txBody>
      </p:sp>
      <p:pic>
        <p:nvPicPr>
          <p:cNvPr id="8" name="圖片 7">
            <a:extLst>
              <a:ext uri="{FF2B5EF4-FFF2-40B4-BE49-F238E27FC236}">
                <a16:creationId xmlns:a16="http://schemas.microsoft.com/office/drawing/2014/main" xmlns="" id="{5EF54496-66B9-47E3-919F-40CC3F5AD5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053" y="2929672"/>
            <a:ext cx="9036893" cy="3392490"/>
          </a:xfrm>
          <a:prstGeom prst="rect">
            <a:avLst/>
          </a:prstGeom>
        </p:spPr>
      </p:pic>
    </p:spTree>
    <p:extLst>
      <p:ext uri="{BB962C8B-B14F-4D97-AF65-F5344CB8AC3E}">
        <p14:creationId xmlns:p14="http://schemas.microsoft.com/office/powerpoint/2010/main" val="406145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Cavity Prediction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452283"/>
            <a:ext cx="5971392" cy="4973165"/>
          </a:xfrm>
        </p:spPr>
        <p:txBody>
          <a:bodyPr>
            <a:normAutofit/>
          </a:bodyPr>
          <a:lstStyle/>
          <a:p>
            <a:r>
              <a:rPr lang="en-US" altLang="zh-TW" sz="2700" dirty="0"/>
              <a:t>To determine the potential binding sites</a:t>
            </a:r>
          </a:p>
          <a:p>
            <a:r>
              <a:rPr lang="en-US" altLang="zh-TW" sz="2700" dirty="0"/>
              <a:t>Create a discrete grid with a resolution of 0.8 </a:t>
            </a:r>
            <a:r>
              <a:rPr lang="en-US" altLang="zh-TW" sz="2400" dirty="0"/>
              <a:t>Å</a:t>
            </a:r>
            <a:r>
              <a:rPr lang="en-US" altLang="zh-TW" sz="2700" dirty="0"/>
              <a:t>, covering the protein</a:t>
            </a:r>
          </a:p>
          <a:p>
            <a:r>
              <a:rPr lang="en-US" altLang="zh-TW" sz="2700" dirty="0"/>
              <a:t>At every grid point, a sphere of radius 1.4 </a:t>
            </a:r>
            <a:r>
              <a:rPr lang="en-US" altLang="zh-TW" sz="2400" dirty="0"/>
              <a:t>Å</a:t>
            </a:r>
            <a:r>
              <a:rPr lang="en-US" altLang="zh-TW" sz="2700" dirty="0"/>
              <a:t> is placed.</a:t>
            </a:r>
          </a:p>
        </p:txBody>
      </p:sp>
      <p:pic>
        <p:nvPicPr>
          <p:cNvPr id="8" name="圖片 7">
            <a:extLst>
              <a:ext uri="{FF2B5EF4-FFF2-40B4-BE49-F238E27FC236}">
                <a16:creationId xmlns:a16="http://schemas.microsoft.com/office/drawing/2014/main" xmlns="" id="{C67DC62C-3C8C-4086-9134-C69E5262E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8101" y="1452283"/>
            <a:ext cx="4655478" cy="4829696"/>
          </a:xfrm>
          <a:prstGeom prst="rect">
            <a:avLst/>
          </a:prstGeom>
        </p:spPr>
      </p:pic>
    </p:spTree>
    <p:extLst>
      <p:ext uri="{BB962C8B-B14F-4D97-AF65-F5344CB8AC3E}">
        <p14:creationId xmlns:p14="http://schemas.microsoft.com/office/powerpoint/2010/main" val="2216830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3146FB3-9430-48B4-8270-3411BD4F9FAC}"/>
              </a:ext>
            </a:extLst>
          </p:cNvPr>
          <p:cNvSpPr>
            <a:spLocks noGrp="1"/>
          </p:cNvSpPr>
          <p:nvPr>
            <p:ph type="title"/>
          </p:nvPr>
        </p:nvSpPr>
        <p:spPr/>
        <p:txBody>
          <a:bodyPr/>
          <a:lstStyle/>
          <a:p>
            <a:r>
              <a:rPr lang="en-US" altLang="zh-TW" dirty="0"/>
              <a:t>van der Waals radii</a:t>
            </a:r>
            <a:endParaRPr lang="zh-TW" altLang="en-US" dirty="0"/>
          </a:p>
        </p:txBody>
      </p:sp>
      <p:sp>
        <p:nvSpPr>
          <p:cNvPr id="3" name="內容版面配置區 2">
            <a:extLst>
              <a:ext uri="{FF2B5EF4-FFF2-40B4-BE49-F238E27FC236}">
                <a16:creationId xmlns:a16="http://schemas.microsoft.com/office/drawing/2014/main" xmlns="" id="{1B27FA2F-7E72-4047-A207-AF674BD8969B}"/>
              </a:ext>
            </a:extLst>
          </p:cNvPr>
          <p:cNvSpPr>
            <a:spLocks noGrp="1"/>
          </p:cNvSpPr>
          <p:nvPr>
            <p:ph idx="1"/>
          </p:nvPr>
        </p:nvSpPr>
        <p:spPr/>
        <p:txBody>
          <a:bodyPr/>
          <a:lstStyle/>
          <a:p>
            <a:r>
              <a:rPr lang="zh-TW" altLang="en-US" dirty="0"/>
              <a:t>凡得瓦半徑＝兩個相鄰非鍵結原子間距離的一半</a:t>
            </a:r>
          </a:p>
        </p:txBody>
      </p:sp>
      <p:pic>
        <p:nvPicPr>
          <p:cNvPr id="5" name="圖片 4">
            <a:extLst>
              <a:ext uri="{FF2B5EF4-FFF2-40B4-BE49-F238E27FC236}">
                <a16:creationId xmlns:a16="http://schemas.microsoft.com/office/drawing/2014/main" xmlns="" id="{90D6C130-4C9D-4EC0-B90B-938CD287B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343" y="2425158"/>
            <a:ext cx="7668695" cy="3886742"/>
          </a:xfrm>
          <a:prstGeom prst="rect">
            <a:avLst/>
          </a:prstGeom>
        </p:spPr>
      </p:pic>
    </p:spTree>
    <p:extLst>
      <p:ext uri="{BB962C8B-B14F-4D97-AF65-F5344CB8AC3E}">
        <p14:creationId xmlns:p14="http://schemas.microsoft.com/office/powerpoint/2010/main" val="19534160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85845F-B0AB-43B0-B9DF-F047AA11030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Cavity Prediction</a:t>
            </a:r>
            <a:endParaRPr lang="zh-TW" altLang="en-US" dirty="0"/>
          </a:p>
        </p:txBody>
      </p:sp>
      <p:sp>
        <p:nvSpPr>
          <p:cNvPr id="3" name="內容版面配置區 2">
            <a:extLst>
              <a:ext uri="{FF2B5EF4-FFF2-40B4-BE49-F238E27FC236}">
                <a16:creationId xmlns:a16="http://schemas.microsoft.com/office/drawing/2014/main" xmlns="" id="{5FEB9CFE-559C-4809-8510-3F4F4A8F5C4E}"/>
              </a:ext>
            </a:extLst>
          </p:cNvPr>
          <p:cNvSpPr>
            <a:spLocks noGrp="1"/>
          </p:cNvSpPr>
          <p:nvPr>
            <p:ph idx="1"/>
          </p:nvPr>
        </p:nvSpPr>
        <p:spPr/>
        <p:txBody>
          <a:bodyPr>
            <a:normAutofit fontScale="92500" lnSpcReduction="20000"/>
          </a:bodyPr>
          <a:lstStyle/>
          <a:p>
            <a:r>
              <a:rPr lang="en-US" altLang="zh-TW" dirty="0"/>
              <a:t>The cavity prediction algorithm works as follows: first, a discrete grid with a resolution of 0.8 Å, covering the protein, is created. At every grid point, a sphere of radius 1.4 Å is placed. Whether this sphere will overlap with any of the spheres determined by the van der Waals radii of the protein atoms was checked. Grid points where the probe clashes with the protein atom spheres will be referred to as part of the inaccessible volume; all other points are referred to as accessible. Second, each accessible grid point is checked to see whether it is part of a cavity using the following procedure. From the current grid point, a random direction is chosen, and this direction (and the opposite direction) is followed until the grid boundaries are hit, checking if an inaccessible grid point is hit on the way. This is repeated a number of times, and if the percentage of lines hitting an inaccessible volume is larger than a given threshold, the point is marked as being part of a cavity.</a:t>
            </a:r>
          </a:p>
          <a:p>
            <a:endParaRPr lang="zh-TW" altLang="en-US" dirty="0"/>
          </a:p>
        </p:txBody>
      </p:sp>
    </p:spTree>
    <p:extLst>
      <p:ext uri="{BB962C8B-B14F-4D97-AF65-F5344CB8AC3E}">
        <p14:creationId xmlns:p14="http://schemas.microsoft.com/office/powerpoint/2010/main" val="15753129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Scoring Function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307881"/>
            <a:ext cx="11070515" cy="5048469"/>
          </a:xfrm>
        </p:spPr>
        <p:txBody>
          <a:bodyPr>
            <a:normAutofit/>
          </a:bodyPr>
          <a:lstStyle/>
          <a:p>
            <a:r>
              <a:rPr lang="en-US" altLang="zh-TW" dirty="0"/>
              <a:t>E</a:t>
            </a:r>
            <a:r>
              <a:rPr lang="en-US" altLang="zh-TW" baseline="-25000" dirty="0"/>
              <a:t>PLP</a:t>
            </a:r>
            <a:r>
              <a:rPr lang="en-US" altLang="zh-TW" dirty="0"/>
              <a:t>(0)=A</a:t>
            </a:r>
            <a:r>
              <a:rPr lang="en-US" altLang="zh-TW" baseline="-25000" dirty="0"/>
              <a:t>0</a:t>
            </a:r>
            <a:endParaRPr lang="en-US" altLang="zh-TW" sz="2300" baseline="-25000" dirty="0"/>
          </a:p>
          <a:p>
            <a:r>
              <a:rPr lang="en-US" altLang="zh-TW" dirty="0"/>
              <a:t>E</a:t>
            </a:r>
            <a:r>
              <a:rPr lang="en-US" altLang="zh-TW" baseline="-25000" dirty="0"/>
              <a:t>PLP</a:t>
            </a:r>
            <a:r>
              <a:rPr lang="en-US" altLang="zh-TW" dirty="0"/>
              <a:t>(R</a:t>
            </a:r>
            <a:r>
              <a:rPr lang="en-US" altLang="zh-TW" baseline="-25000" dirty="0"/>
              <a:t>1</a:t>
            </a:r>
            <a:r>
              <a:rPr lang="en-US" altLang="zh-TW" dirty="0"/>
              <a:t>)=0</a:t>
            </a:r>
            <a:endParaRPr lang="en-US" altLang="zh-TW" baseline="-25000" dirty="0"/>
          </a:p>
          <a:p>
            <a:r>
              <a:rPr lang="en-US" altLang="zh-TW" dirty="0"/>
              <a:t>E</a:t>
            </a:r>
            <a:r>
              <a:rPr lang="en-US" altLang="zh-TW" baseline="-25000" dirty="0"/>
              <a:t>PLP</a:t>
            </a:r>
            <a:r>
              <a:rPr lang="en-US" altLang="zh-TW" dirty="0"/>
              <a:t>(R</a:t>
            </a:r>
            <a:r>
              <a:rPr lang="en-US" altLang="zh-TW" baseline="-25000" dirty="0"/>
              <a:t>2</a:t>
            </a:r>
            <a:r>
              <a:rPr lang="en-US" altLang="zh-TW" dirty="0"/>
              <a:t>)=A</a:t>
            </a:r>
            <a:r>
              <a:rPr lang="en-US" altLang="zh-TW" baseline="-25000" dirty="0"/>
              <a:t>1</a:t>
            </a:r>
          </a:p>
          <a:p>
            <a:r>
              <a:rPr lang="en-US" altLang="zh-TW" dirty="0"/>
              <a:t>E</a:t>
            </a:r>
            <a:r>
              <a:rPr lang="en-US" altLang="zh-TW" baseline="-25000" dirty="0"/>
              <a:t>PLP</a:t>
            </a:r>
            <a:r>
              <a:rPr lang="en-US" altLang="zh-TW" dirty="0"/>
              <a:t>(R</a:t>
            </a:r>
            <a:r>
              <a:rPr lang="en-US" altLang="zh-TW" baseline="-25000" dirty="0"/>
              <a:t>3</a:t>
            </a:r>
            <a:r>
              <a:rPr lang="en-US" altLang="zh-TW" dirty="0"/>
              <a:t>)=A</a:t>
            </a:r>
            <a:r>
              <a:rPr lang="en-US" altLang="zh-TW" baseline="-25000" dirty="0"/>
              <a:t>1</a:t>
            </a:r>
          </a:p>
          <a:p>
            <a:r>
              <a:rPr lang="en-US" altLang="zh-TW" dirty="0"/>
              <a:t>E</a:t>
            </a:r>
            <a:r>
              <a:rPr lang="en-US" altLang="zh-TW" baseline="-25000" dirty="0"/>
              <a:t>PLP</a:t>
            </a:r>
            <a:r>
              <a:rPr lang="en-US" altLang="zh-TW" dirty="0"/>
              <a:t>(r)=0,r&gt;= R</a:t>
            </a:r>
            <a:r>
              <a:rPr lang="en-US" altLang="zh-TW" baseline="-25000" dirty="0"/>
              <a:t>4</a:t>
            </a:r>
          </a:p>
          <a:p>
            <a:endParaRPr lang="en-US" altLang="zh-TW" dirty="0"/>
          </a:p>
        </p:txBody>
      </p:sp>
      <p:pic>
        <p:nvPicPr>
          <p:cNvPr id="6" name="圖片 5">
            <a:extLst>
              <a:ext uri="{FF2B5EF4-FFF2-40B4-BE49-F238E27FC236}">
                <a16:creationId xmlns:a16="http://schemas.microsoft.com/office/drawing/2014/main" xmlns="" id="{4721D0B7-D3A7-4318-815A-C6B1325E87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109" y="943695"/>
            <a:ext cx="4953691" cy="1743318"/>
          </a:xfrm>
          <a:prstGeom prst="rect">
            <a:avLst/>
          </a:prstGeom>
        </p:spPr>
      </p:pic>
      <p:pic>
        <p:nvPicPr>
          <p:cNvPr id="9" name="圖片 8">
            <a:extLst>
              <a:ext uri="{FF2B5EF4-FFF2-40B4-BE49-F238E27FC236}">
                <a16:creationId xmlns:a16="http://schemas.microsoft.com/office/drawing/2014/main" xmlns="" id="{EF68FAB2-1F78-4D56-A7A0-6C03E30517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786290"/>
            <a:ext cx="5172609" cy="1743318"/>
          </a:xfrm>
          <a:prstGeom prst="rect">
            <a:avLst/>
          </a:prstGeom>
        </p:spPr>
      </p:pic>
      <p:pic>
        <p:nvPicPr>
          <p:cNvPr id="13" name="圖片 12">
            <a:extLst>
              <a:ext uri="{FF2B5EF4-FFF2-40B4-BE49-F238E27FC236}">
                <a16:creationId xmlns:a16="http://schemas.microsoft.com/office/drawing/2014/main" xmlns="" id="{ABEC7A30-D75C-425F-ACD7-CB403D469E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593" y="4524095"/>
            <a:ext cx="5172797" cy="1343212"/>
          </a:xfrm>
          <a:prstGeom prst="rect">
            <a:avLst/>
          </a:prstGeom>
        </p:spPr>
      </p:pic>
      <p:pic>
        <p:nvPicPr>
          <p:cNvPr id="15" name="圖片 14">
            <a:extLst>
              <a:ext uri="{FF2B5EF4-FFF2-40B4-BE49-F238E27FC236}">
                <a16:creationId xmlns:a16="http://schemas.microsoft.com/office/drawing/2014/main" xmlns="" id="{8BF33B52-DE2B-4401-96B2-EAEA098CD5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638411"/>
            <a:ext cx="5058481" cy="1228896"/>
          </a:xfrm>
          <a:prstGeom prst="rect">
            <a:avLst/>
          </a:prstGeom>
        </p:spPr>
      </p:pic>
    </p:spTree>
    <p:extLst>
      <p:ext uri="{BB962C8B-B14F-4D97-AF65-F5344CB8AC3E}">
        <p14:creationId xmlns:p14="http://schemas.microsoft.com/office/powerpoint/2010/main" val="1799203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7" name="內容版面配置區 6">
            <a:extLst>
              <a:ext uri="{FF2B5EF4-FFF2-40B4-BE49-F238E27FC236}">
                <a16:creationId xmlns:a16="http://schemas.microsoft.com/office/drawing/2014/main" xmlns="" id="{484BDC1B-6EC4-4614-ADD1-5BE154F8C346}"/>
              </a:ext>
            </a:extLst>
          </p:cNvPr>
          <p:cNvSpPr>
            <a:spLocks noGrp="1"/>
          </p:cNvSpPr>
          <p:nvPr>
            <p:ph idx="1"/>
          </p:nvPr>
        </p:nvSpPr>
        <p:spPr/>
        <p:txBody>
          <a:bodyPr/>
          <a:lstStyle/>
          <a:p>
            <a:r>
              <a:rPr lang="en-US" altLang="zh-TW" dirty="0"/>
              <a:t>Overall Accuracy</a:t>
            </a:r>
            <a:endParaRPr lang="zh-TW" altLang="en-US" dirty="0"/>
          </a:p>
        </p:txBody>
      </p:sp>
      <p:pic>
        <p:nvPicPr>
          <p:cNvPr id="9" name="圖片 8">
            <a:extLst>
              <a:ext uri="{FF2B5EF4-FFF2-40B4-BE49-F238E27FC236}">
                <a16:creationId xmlns:a16="http://schemas.microsoft.com/office/drawing/2014/main" xmlns="" id="{AF26713E-251E-4A30-9E64-1A5538670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579" y="136525"/>
            <a:ext cx="8177462" cy="6721475"/>
          </a:xfrm>
          <a:prstGeom prst="rect">
            <a:avLst/>
          </a:prstGeom>
        </p:spPr>
      </p:pic>
    </p:spTree>
    <p:extLst>
      <p:ext uri="{BB962C8B-B14F-4D97-AF65-F5344CB8AC3E}">
        <p14:creationId xmlns:p14="http://schemas.microsoft.com/office/powerpoint/2010/main" val="4168909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Comparison with Glide and </a:t>
            </a:r>
            <a:r>
              <a:rPr lang="en-US" altLang="zh-TW" sz="3600" dirty="0" err="1">
                <a:latin typeface="Times New Roman" panose="02020603050405020304" pitchFamily="18" charset="0"/>
                <a:cs typeface="Times New Roman" panose="02020603050405020304" pitchFamily="18" charset="0"/>
              </a:rPr>
              <a:t>Surflex</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895850"/>
          </a:xfrm>
        </p:spPr>
        <p:txBody>
          <a:bodyPr>
            <a:normAutofit/>
          </a:bodyPr>
          <a:lstStyle/>
          <a:p>
            <a:r>
              <a:rPr lang="en-US" altLang="zh-TW" sz="2700" dirty="0"/>
              <a:t>Glide compares the RMSD of the predicted poses to energy-minimized ligands and not to the </a:t>
            </a:r>
            <a:r>
              <a:rPr lang="en-US" altLang="zh-TW" sz="2700" dirty="0" err="1"/>
              <a:t>cocrystallized</a:t>
            </a:r>
            <a:r>
              <a:rPr lang="en-US" altLang="zh-TW" sz="2700" dirty="0"/>
              <a:t> native ligands.</a:t>
            </a:r>
          </a:p>
        </p:txBody>
      </p:sp>
      <p:pic>
        <p:nvPicPr>
          <p:cNvPr id="5" name="圖片 4">
            <a:extLst>
              <a:ext uri="{FF2B5EF4-FFF2-40B4-BE49-F238E27FC236}">
                <a16:creationId xmlns:a16="http://schemas.microsoft.com/office/drawing/2014/main" xmlns="" id="{EE21E749-10C8-4F23-AD22-710DBBD53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3531" y="2841195"/>
            <a:ext cx="7658325" cy="2864709"/>
          </a:xfrm>
          <a:prstGeom prst="rect">
            <a:avLst/>
          </a:prstGeom>
        </p:spPr>
      </p:pic>
    </p:spTree>
    <p:extLst>
      <p:ext uri="{BB962C8B-B14F-4D97-AF65-F5344CB8AC3E}">
        <p14:creationId xmlns:p14="http://schemas.microsoft.com/office/powerpoint/2010/main" val="3367461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950DAF4-F2F2-4CCA-82E8-D228511E7165}"/>
              </a:ext>
            </a:extLst>
          </p:cNvPr>
          <p:cNvSpPr>
            <a:spLocks noGrp="1"/>
          </p:cNvSpPr>
          <p:nvPr>
            <p:ph type="title"/>
          </p:nvPr>
        </p:nvSpPr>
        <p:spPr/>
        <p:txBody>
          <a:bodyPr/>
          <a:lstStyle/>
          <a:p>
            <a:r>
              <a:rPr lang="en-US" altLang="zh-TW" dirty="0"/>
              <a:t>RMSD</a:t>
            </a:r>
            <a:endParaRPr lang="zh-TW" altLang="en-US" dirty="0"/>
          </a:p>
        </p:txBody>
      </p:sp>
      <p:pic>
        <p:nvPicPr>
          <p:cNvPr id="5" name="內容版面配置區 4">
            <a:extLst>
              <a:ext uri="{FF2B5EF4-FFF2-40B4-BE49-F238E27FC236}">
                <a16:creationId xmlns:a16="http://schemas.microsoft.com/office/drawing/2014/main" xmlns="" id="{DBF9E1CB-CC3C-4866-AB61-1D542DCBB71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97330" y="1673009"/>
            <a:ext cx="6054863" cy="4881722"/>
          </a:xfrm>
        </p:spPr>
      </p:pic>
    </p:spTree>
    <p:extLst>
      <p:ext uri="{BB962C8B-B14F-4D97-AF65-F5344CB8AC3E}">
        <p14:creationId xmlns:p14="http://schemas.microsoft.com/office/powerpoint/2010/main" val="24551428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Comparison with </a:t>
            </a:r>
            <a:r>
              <a:rPr lang="en-US" altLang="zh-TW" sz="3600" dirty="0" err="1">
                <a:latin typeface="Times New Roman" panose="02020603050405020304" pitchFamily="18" charset="0"/>
                <a:cs typeface="Times New Roman" panose="02020603050405020304" pitchFamily="18" charset="0"/>
              </a:rPr>
              <a:t>FlexX</a:t>
            </a:r>
            <a:r>
              <a:rPr lang="en-US" altLang="zh-TW" sz="3600" dirty="0">
                <a:latin typeface="Times New Roman" panose="02020603050405020304" pitchFamily="18" charset="0"/>
                <a:cs typeface="Times New Roman" panose="02020603050405020304" pitchFamily="18" charset="0"/>
              </a:rPr>
              <a:t> and GOLD</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13</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895850"/>
          </a:xfrm>
        </p:spPr>
        <p:txBody>
          <a:bodyPr>
            <a:normAutofit/>
          </a:bodyPr>
          <a:lstStyle/>
          <a:p>
            <a:endParaRPr lang="en-US" altLang="zh-TW" sz="2700" dirty="0"/>
          </a:p>
        </p:txBody>
      </p:sp>
      <p:pic>
        <p:nvPicPr>
          <p:cNvPr id="6" name="圖片 5">
            <a:extLst>
              <a:ext uri="{FF2B5EF4-FFF2-40B4-BE49-F238E27FC236}">
                <a16:creationId xmlns:a16="http://schemas.microsoft.com/office/drawing/2014/main" xmlns="" id="{DCB0FE7E-27B6-4337-A687-34154E2B8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5354" y="1825625"/>
            <a:ext cx="5961371" cy="2084935"/>
          </a:xfrm>
          <a:prstGeom prst="rect">
            <a:avLst/>
          </a:prstGeom>
        </p:spPr>
      </p:pic>
      <p:pic>
        <p:nvPicPr>
          <p:cNvPr id="8" name="圖片 7">
            <a:extLst>
              <a:ext uri="{FF2B5EF4-FFF2-40B4-BE49-F238E27FC236}">
                <a16:creationId xmlns:a16="http://schemas.microsoft.com/office/drawing/2014/main" xmlns="" id="{92D1138D-CD66-4D6A-A374-59FB2BB77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5504" y="4069180"/>
            <a:ext cx="6635271" cy="2167959"/>
          </a:xfrm>
          <a:prstGeom prst="rect">
            <a:avLst/>
          </a:prstGeom>
        </p:spPr>
      </p:pic>
    </p:spTree>
    <p:extLst>
      <p:ext uri="{BB962C8B-B14F-4D97-AF65-F5344CB8AC3E}">
        <p14:creationId xmlns:p14="http://schemas.microsoft.com/office/powerpoint/2010/main" val="190718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Search Robustness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351338"/>
          </a:xfrm>
        </p:spPr>
        <p:txBody>
          <a:bodyPr>
            <a:normAutofit/>
          </a:bodyPr>
          <a:lstStyle/>
          <a:p>
            <a:endParaRPr lang="en-US" altLang="zh-TW" sz="2700" dirty="0"/>
          </a:p>
        </p:txBody>
      </p:sp>
      <p:pic>
        <p:nvPicPr>
          <p:cNvPr id="5" name="圖片 4">
            <a:extLst>
              <a:ext uri="{FF2B5EF4-FFF2-40B4-BE49-F238E27FC236}">
                <a16:creationId xmlns:a16="http://schemas.microsoft.com/office/drawing/2014/main" xmlns="" id="{773CC16D-1021-43D2-89BE-A1167AB05F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9960" y="1889919"/>
            <a:ext cx="6051615" cy="4222749"/>
          </a:xfrm>
          <a:prstGeom prst="rect">
            <a:avLst/>
          </a:prstGeom>
        </p:spPr>
      </p:pic>
    </p:spTree>
    <p:extLst>
      <p:ext uri="{BB962C8B-B14F-4D97-AF65-F5344CB8AC3E}">
        <p14:creationId xmlns:p14="http://schemas.microsoft.com/office/powerpoint/2010/main" val="3997398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2FE1832-1DFE-42BD-A928-F3F4BAFF98AB}"/>
              </a:ext>
            </a:extLst>
          </p:cNvPr>
          <p:cNvSpPr>
            <a:spLocks noGrp="1"/>
          </p:cNvSpPr>
          <p:nvPr>
            <p:ph type="title"/>
          </p:nvPr>
        </p:nvSpPr>
        <p:spPr/>
        <p:txBody>
          <a:bodyPr/>
          <a:lstStyle/>
          <a:p>
            <a:r>
              <a:rPr lang="en-US" altLang="zh-TW" dirty="0"/>
              <a:t>Å</a:t>
            </a:r>
            <a:endParaRPr lang="zh-TW" altLang="en-US" dirty="0"/>
          </a:p>
        </p:txBody>
      </p:sp>
      <p:sp>
        <p:nvSpPr>
          <p:cNvPr id="3" name="內容版面配置區 2">
            <a:extLst>
              <a:ext uri="{FF2B5EF4-FFF2-40B4-BE49-F238E27FC236}">
                <a16:creationId xmlns:a16="http://schemas.microsoft.com/office/drawing/2014/main" xmlns="" id="{064F210F-C4EC-4C07-805B-75623DDCB2B1}"/>
              </a:ext>
            </a:extLst>
          </p:cNvPr>
          <p:cNvSpPr>
            <a:spLocks noGrp="1"/>
          </p:cNvSpPr>
          <p:nvPr>
            <p:ph idx="1"/>
          </p:nvPr>
        </p:nvSpPr>
        <p:spPr/>
        <p:txBody>
          <a:bodyPr/>
          <a:lstStyle/>
          <a:p>
            <a:r>
              <a:rPr lang="zh-TW" altLang="en-US" b="1" dirty="0"/>
              <a:t>埃格斯特朗</a:t>
            </a:r>
            <a:r>
              <a:rPr lang="zh-TW" altLang="en-US" dirty="0"/>
              <a:t>（</a:t>
            </a:r>
            <a:r>
              <a:rPr lang="en-US" altLang="zh-TW" dirty="0" err="1"/>
              <a:t>Ångström</a:t>
            </a:r>
            <a:r>
              <a:rPr lang="en-US" altLang="zh-TW" dirty="0"/>
              <a:t>, </a:t>
            </a:r>
            <a:r>
              <a:rPr lang="zh-TW" altLang="en-US" dirty="0"/>
              <a:t>簡稱</a:t>
            </a:r>
            <a:r>
              <a:rPr lang="zh-TW" altLang="en-US" b="1" dirty="0"/>
              <a:t>埃</a:t>
            </a:r>
            <a:r>
              <a:rPr lang="zh-TW" altLang="en-US" dirty="0"/>
              <a:t>，符號</a:t>
            </a:r>
            <a:r>
              <a:rPr lang="en-US" altLang="zh-TW" b="1" dirty="0">
                <a:hlinkClick r:id="rId2" tooltip="Å"/>
              </a:rPr>
              <a:t>Å</a:t>
            </a:r>
            <a:r>
              <a:rPr lang="zh-TW" altLang="en-US" dirty="0"/>
              <a:t>）是一個</a:t>
            </a:r>
            <a:r>
              <a:rPr lang="zh-TW" altLang="en-US" dirty="0">
                <a:hlinkClick r:id="rId3" tooltip="長度"/>
              </a:rPr>
              <a:t>長度</a:t>
            </a:r>
            <a:r>
              <a:rPr lang="zh-TW" altLang="en-US" dirty="0">
                <a:hlinkClick r:id="rId4" tooltip="計量單位"/>
              </a:rPr>
              <a:t>計量單位</a:t>
            </a:r>
            <a:r>
              <a:rPr lang="zh-TW" altLang="en-US" dirty="0"/>
              <a:t>。</a:t>
            </a:r>
          </a:p>
          <a:p>
            <a:r>
              <a:rPr lang="zh-TW" altLang="en-US" dirty="0"/>
              <a:t>它不是</a:t>
            </a:r>
            <a:r>
              <a:rPr lang="zh-TW" altLang="en-US" dirty="0">
                <a:hlinkClick r:id="rId5" tooltip="國際單位制"/>
              </a:rPr>
              <a:t>國際制單位</a:t>
            </a:r>
            <a:r>
              <a:rPr lang="zh-TW" altLang="en-US" dirty="0"/>
              <a:t>，但是可與國際制單位進行換算，即</a:t>
            </a:r>
            <a:r>
              <a:rPr lang="en-US" altLang="zh-TW" dirty="0"/>
              <a:t>1 Å = 10</a:t>
            </a:r>
            <a:r>
              <a:rPr lang="en-US" altLang="zh-TW" baseline="30000" dirty="0"/>
              <a:t>–10</a:t>
            </a:r>
            <a:r>
              <a:rPr lang="zh-TW" altLang="en-US" dirty="0"/>
              <a:t> </a:t>
            </a:r>
            <a:r>
              <a:rPr lang="zh-TW" altLang="en-US" dirty="0">
                <a:hlinkClick r:id="rId6" tooltip="米 (單位)"/>
              </a:rPr>
              <a:t>米</a:t>
            </a:r>
            <a:r>
              <a:rPr lang="zh-TW" altLang="en-US" dirty="0"/>
              <a:t> </a:t>
            </a:r>
            <a:r>
              <a:rPr lang="en-US" altLang="zh-TW" dirty="0"/>
              <a:t>= 0.1</a:t>
            </a:r>
            <a:r>
              <a:rPr lang="zh-TW" altLang="en-US" dirty="0">
                <a:hlinkClick r:id="rId7" tooltip="奈米"/>
              </a:rPr>
              <a:t>奈米</a:t>
            </a:r>
            <a:r>
              <a:rPr lang="zh-TW" altLang="en-US" dirty="0"/>
              <a:t>。</a:t>
            </a:r>
          </a:p>
          <a:p>
            <a:r>
              <a:rPr lang="zh-TW" altLang="en-US" dirty="0"/>
              <a:t>一般用於</a:t>
            </a:r>
            <a:r>
              <a:rPr lang="zh-TW" altLang="en-US" dirty="0">
                <a:hlinkClick r:id="rId8" tooltip="原子"/>
              </a:rPr>
              <a:t>原子</a:t>
            </a:r>
            <a:r>
              <a:rPr lang="zh-TW" altLang="en-US" dirty="0"/>
              <a:t>直徑、化學鍵長和</a:t>
            </a:r>
            <a:r>
              <a:rPr lang="zh-TW" altLang="en-US" dirty="0">
                <a:hlinkClick r:id="rId9" tooltip="可見光"/>
              </a:rPr>
              <a:t>可見光</a:t>
            </a:r>
            <a:r>
              <a:rPr lang="zh-TW" altLang="en-US" dirty="0"/>
              <a:t>的波長。原子的</a:t>
            </a:r>
            <a:r>
              <a:rPr lang="zh-TW" altLang="en-US" dirty="0">
                <a:hlinkClick r:id="rId10" tooltip="共價半徑"/>
              </a:rPr>
              <a:t>共價半徑</a:t>
            </a:r>
            <a:r>
              <a:rPr lang="zh-TW" altLang="en-US" dirty="0"/>
              <a:t>在</a:t>
            </a:r>
            <a:r>
              <a:rPr lang="en-US" altLang="zh-TW" dirty="0"/>
              <a:t>0.3</a:t>
            </a:r>
            <a:r>
              <a:rPr lang="zh-TW" altLang="en-US" dirty="0"/>
              <a:t>埃（</a:t>
            </a:r>
            <a:r>
              <a:rPr lang="zh-TW" altLang="en-US" dirty="0">
                <a:hlinkClick r:id="rId11" tooltip="氫"/>
              </a:rPr>
              <a:t>氫</a:t>
            </a:r>
            <a:r>
              <a:rPr lang="zh-TW" altLang="en-US" dirty="0"/>
              <a:t>）和</a:t>
            </a:r>
            <a:r>
              <a:rPr lang="en-US" altLang="zh-TW" dirty="0"/>
              <a:t>1.7</a:t>
            </a:r>
            <a:r>
              <a:rPr lang="zh-TW" altLang="en-US" dirty="0"/>
              <a:t>埃（</a:t>
            </a:r>
            <a:r>
              <a:rPr lang="zh-TW" altLang="en-US" dirty="0">
                <a:hlinkClick r:id="rId12" tooltip="鈾"/>
              </a:rPr>
              <a:t>鈾</a:t>
            </a:r>
            <a:r>
              <a:rPr lang="zh-TW" altLang="en-US" dirty="0"/>
              <a:t>，最重的天然元素）之間。它還被廣泛應用於</a:t>
            </a:r>
            <a:r>
              <a:rPr lang="zh-TW" altLang="en-US" dirty="0">
                <a:hlinkClick r:id="rId13" tooltip="結構生物學"/>
              </a:rPr>
              <a:t>結構生物學</a:t>
            </a:r>
            <a:r>
              <a:rPr lang="zh-TW" altLang="en-US" dirty="0"/>
              <a:t>。</a:t>
            </a:r>
          </a:p>
          <a:p>
            <a:endParaRPr lang="zh-TW" altLang="en-US" dirty="0"/>
          </a:p>
        </p:txBody>
      </p:sp>
    </p:spTree>
    <p:extLst>
      <p:ext uri="{BB962C8B-B14F-4D97-AF65-F5344CB8AC3E}">
        <p14:creationId xmlns:p14="http://schemas.microsoft.com/office/powerpoint/2010/main" val="899548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5997</TotalTime>
  <Words>626</Words>
  <Application>Microsoft Office PowerPoint</Application>
  <PresentationFormat>寬螢幕</PresentationFormat>
  <Paragraphs>65</Paragraphs>
  <Slides>15</Slides>
  <Notes>10</Notes>
  <HiddenSlides>4</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新細明體</vt:lpstr>
      <vt:lpstr>標楷體</vt:lpstr>
      <vt:lpstr>Arial</vt:lpstr>
      <vt:lpstr>Calibri</vt:lpstr>
      <vt:lpstr>Calibri Light</vt:lpstr>
      <vt:lpstr>Times New Roman</vt:lpstr>
      <vt:lpstr>Office 佈景主題</vt:lpstr>
      <vt:lpstr>MolDock: A New Technique for High-Accuracy Molecular Docking</vt:lpstr>
      <vt:lpstr>Abstract (1/2)</vt:lpstr>
      <vt:lpstr>Abstract (2/2)</vt:lpstr>
      <vt:lpstr>Guided Differential Evolution</vt:lpstr>
      <vt:lpstr>Guided Differential Evolution</vt:lpstr>
      <vt:lpstr>Cavity Prediction</vt:lpstr>
      <vt:lpstr>van der Waals radii</vt:lpstr>
      <vt:lpstr>Cavity Prediction</vt:lpstr>
      <vt:lpstr>Scoring Function</vt:lpstr>
      <vt:lpstr>Results</vt:lpstr>
      <vt:lpstr>Comparison with Glide and Surflex</vt:lpstr>
      <vt:lpstr>RMSD</vt:lpstr>
      <vt:lpstr>Comparison with FlexX and GOLD</vt:lpstr>
      <vt:lpstr>Search Robustness</vt:lpstr>
      <vt:lpstr>Å</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724</cp:revision>
  <dcterms:created xsi:type="dcterms:W3CDTF">2018-10-30T09:09:31Z</dcterms:created>
  <dcterms:modified xsi:type="dcterms:W3CDTF">2019-04-02T10:37:40Z</dcterms:modified>
</cp:coreProperties>
</file>