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317" r:id="rId6"/>
    <p:sldId id="318" r:id="rId7"/>
    <p:sldId id="309" r:id="rId8"/>
    <p:sldId id="320" r:id="rId9"/>
    <p:sldId id="310" r:id="rId10"/>
    <p:sldId id="311" r:id="rId11"/>
    <p:sldId id="319" r:id="rId12"/>
    <p:sldId id="312" r:id="rId13"/>
    <p:sldId id="321" r:id="rId14"/>
    <p:sldId id="313" r:id="rId15"/>
    <p:sldId id="322" r:id="rId16"/>
    <p:sldId id="314" r:id="rId17"/>
    <p:sldId id="315" r:id="rId18"/>
    <p:sldId id="327" r:id="rId19"/>
    <p:sldId id="328" r:id="rId20"/>
    <p:sldId id="323" r:id="rId21"/>
    <p:sldId id="324" r:id="rId22"/>
    <p:sldId id="325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8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1CC90-5860-4773-94E4-A7C5C8AC2E96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B0889F-DB18-4D0A-BA0B-9C49CA35EF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61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clr.cc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>
                <a:hlinkClick r:id="rId3"/>
              </a:rPr>
              <a:t>https://iclr.cc/</a:t>
            </a:r>
            <a:endParaRPr dirty="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606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16928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2965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1627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0621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185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11069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9247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79538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8979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44692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25103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19930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6912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98596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38799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29199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8672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98223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51041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37770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538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2019/4/2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tmp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tmp"/><Relationship Id="rId4" Type="http://schemas.openxmlformats.org/officeDocument/2006/relationships/image" Target="../media/image10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tmp"/><Relationship Id="rId5" Type="http://schemas.openxmlformats.org/officeDocument/2006/relationships/image" Target="../media/image18.tmp"/><Relationship Id="rId4" Type="http://schemas.openxmlformats.org/officeDocument/2006/relationships/image" Target="../media/image17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tm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tmp"/><Relationship Id="rId5" Type="http://schemas.openxmlformats.org/officeDocument/2006/relationships/image" Target="../media/image25.tmp"/><Relationship Id="rId4" Type="http://schemas.openxmlformats.org/officeDocument/2006/relationships/image" Target="../media/image24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m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ctrTitle"/>
          </p:nvPr>
        </p:nvSpPr>
        <p:spPr>
          <a:xfrm>
            <a:off x="856855" y="471398"/>
            <a:ext cx="10477020" cy="1356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SzPts val="3600"/>
            </a:pPr>
            <a:r>
              <a:rPr lang="en-US" sz="3600" dirty="0">
                <a:latin typeface="Calibri" panose="020F0502020204030204" charset="0"/>
                <a:cs typeface="Calibri" panose="020F0502020204030204" charset="0"/>
              </a:rPr>
              <a:t>BAYESIAN  DEEP  CONVOLUTIONAL  NETWORKS   WITH MANY  CHANNELS  ARE  GAUSSIAN PROCESSES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145540" y="2339975"/>
            <a:ext cx="9899650" cy="1039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800"/>
            </a:pPr>
            <a:r>
              <a:rPr lang="es-ES" altLang="zh-CN" dirty="0"/>
              <a:t>Novak R, Xiao L, Bahri Y, et al. </a:t>
            </a:r>
            <a:endParaRPr sz="2600" dirty="0"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8354568" y="648500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  <p:sp>
        <p:nvSpPr>
          <p:cNvPr id="92" name="Google Shape;92;p13"/>
          <p:cNvSpPr txBox="1"/>
          <p:nvPr/>
        </p:nvSpPr>
        <p:spPr>
          <a:xfrm>
            <a:off x="1048428" y="3891090"/>
            <a:ext cx="10095142" cy="902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2800"/>
            </a:pPr>
            <a:r>
              <a:rPr lang="en-US" sz="2800" b="1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Published as a conference paper at ICLR 2019, May 6-9, New Orleans. </a:t>
            </a:r>
            <a:endParaRPr lang="en-US" sz="2800" strike="noStrike" cap="none" dirty="0">
              <a:solidFill>
                <a:schemeClr val="dk1"/>
              </a:solidFill>
              <a:latin typeface="Calibri" panose="020F0502020204030204" charset="0"/>
              <a:ea typeface="Questrial" panose="02000000000000000000"/>
              <a:cs typeface="Calibri" panose="020F0502020204030204" charset="0"/>
              <a:sym typeface="Questrial" panose="0200000000000000000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192823" y="5265553"/>
            <a:ext cx="9806355" cy="902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Presenter: </a:t>
            </a:r>
            <a:r>
              <a:rPr lang="en-US" sz="2800" b="0" i="0" u="none" strike="noStrike" cap="none" dirty="0" err="1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Ke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-Xin Zhu</a:t>
            </a:r>
            <a:endParaRPr sz="2800" b="0" i="0" u="none" strike="noStrike" cap="none" dirty="0">
              <a:solidFill>
                <a:schemeClr val="dk1"/>
              </a:solidFill>
              <a:latin typeface="Calibri" panose="020F0502020204030204" charset="0"/>
              <a:ea typeface="Questrial" panose="02000000000000000000"/>
              <a:cs typeface="Calibri" panose="020F0502020204030204" charset="0"/>
              <a:sym typeface="Questrial" panose="0200000000000000000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 panose="020F0502020204030204" charset="0"/>
                <a:ea typeface="Questrial" panose="02000000000000000000"/>
                <a:cs typeface="Calibri" panose="020F0502020204030204" charset="0"/>
                <a:sym typeface="Questrial" panose="02000000000000000000"/>
              </a:rPr>
              <a:t>Date: 2019/04/02</a:t>
            </a:r>
            <a:endParaRPr sz="2800" b="0" i="0" u="none" strike="noStrike" cap="none" dirty="0">
              <a:solidFill>
                <a:schemeClr val="dk1"/>
              </a:solidFill>
              <a:latin typeface="Calibri" panose="020F0502020204030204" charset="0"/>
              <a:ea typeface="Questrial" panose="02000000000000000000"/>
              <a:cs typeface="Calibri" panose="020F0502020204030204" charset="0"/>
              <a:sym typeface="Questrial" panose="020000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estrial" panose="02000000000000000000"/>
              <a:buNone/>
            </a:pPr>
            <a:r>
              <a:rPr lang="en-US" dirty="0"/>
              <a:t>Abstract (1/2)</a:t>
            </a: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838200" y="1568950"/>
            <a:ext cx="10109886" cy="444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/>
              <a:t>There is a previously identified equivalence between wide fully connected neural networks (FCNs) and Gaussian processes (GPs). This equivalence enables, for instance, test set predictions that would have resulted from a fully Bayesian</a:t>
            </a:r>
            <a:r>
              <a:rPr lang="en-US"/>
              <a:t>, </a:t>
            </a:r>
            <a:r>
              <a:rPr lang="en-US" smtClean="0"/>
              <a:t>infinitely </a:t>
            </a:r>
            <a:r>
              <a:rPr lang="en-US" dirty="0"/>
              <a:t>wide trained FCN to be computed without ever instantiating the FCN, but by instead evaluating the corresponding GP. In this work, we derive an analogous equivalence for multi-layer convolutional neural networks (CNNs) both with and without pooling layers, and achieve state of the art results on CIFAR10 for GPs without trainable kernels. We also introduce a Monte Carlo method to estimate the GP corresponding to a given neural network architecture, even in cases where the analytic form has too many terms to be computationally feasible.</a:t>
            </a: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estrial" panose="02000000000000000000"/>
              <a:buNone/>
            </a:pPr>
            <a:r>
              <a:rPr lang="en-US" dirty="0"/>
              <a:t>Abstract (2/2)</a:t>
            </a:r>
          </a:p>
        </p:txBody>
      </p:sp>
      <p:sp>
        <p:nvSpPr>
          <p:cNvPr id="106" name="Google Shape;106;p15"/>
          <p:cNvSpPr txBox="1">
            <a:spLocks noGrp="1"/>
          </p:cNvSpPr>
          <p:nvPr>
            <p:ph type="body" idx="1"/>
          </p:nvPr>
        </p:nvSpPr>
        <p:spPr>
          <a:xfrm>
            <a:off x="838200" y="1581650"/>
            <a:ext cx="10011032" cy="444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/>
              <a:t>Surprisingly, in the absence of pooling layers, the GPs corresponding to CNNs with and without weight sharing are identical. As a consequence, translation equivariance, beneficial in finite channel CNNs trained with stochastic gradient descent (SGD), is guaranteed to play no role in the Bayesian treatment of the </a:t>
            </a:r>
            <a:r>
              <a:rPr lang="en-US" dirty="0" smtClean="0"/>
              <a:t>infinite </a:t>
            </a:r>
            <a:r>
              <a:rPr lang="en-US" dirty="0"/>
              <a:t>channel limit – a qualitative difference between the two regimes that is not present in the FCN case. We confirm experimentally, that while in some scenarios the performance of SGD-trained finite CNNs approaches that of the </a:t>
            </a:r>
            <a:r>
              <a:rPr lang="en-US" dirty="0" smtClean="0"/>
              <a:t>corresponding </a:t>
            </a:r>
            <a:r>
              <a:rPr lang="en-US" dirty="0"/>
              <a:t>GPs as the channel count increases, with careful tuning SGD-trained CNNs can significantly outperform their corresponding GPs, suggesting advantages from SGD training compared to fully Bayesian parameter estimation.</a:t>
            </a:r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Questrial" panose="02000000000000000000"/>
              <a:buNone/>
            </a:pPr>
            <a:r>
              <a:rPr lang="en-US" dirty="0"/>
              <a:t>1.INTRODUCTION</a:t>
            </a:r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9561C702-0D32-4643-99D8-7B3AE2003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424" y="1370107"/>
            <a:ext cx="6483151" cy="4986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2. MANY-CHANNEL BAYESIAN CNNS ARE GAUSSIAN PROCESSES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64203910-703A-40D9-9932-9CA080239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170" y="1784501"/>
            <a:ext cx="6937660" cy="4228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15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2. MANY-CHANNEL BAYESIAN CNNS ARE GAUSSIAN PROCESSES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9AD2CA0E-074B-47B5-ABF9-07EC98656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332" y="1867519"/>
            <a:ext cx="5877745" cy="114316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776438F9-8CAE-4B3E-AABA-92740C7B69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147" y="3187193"/>
            <a:ext cx="5830114" cy="110505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8873C1DD-ACCF-42A8-AC12-939880346E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200" y="4466929"/>
            <a:ext cx="5811061" cy="85737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56632201-0EB5-4B91-9BC9-DCD4AB6ED8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542" y="5498981"/>
            <a:ext cx="5801535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81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2. MANY-CHANNEL BAYESIAN CNNS ARE GAUSSIAN PROCESSES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08D422BB-EB9A-4BA7-B6A7-2491EFB74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350" y="1691005"/>
            <a:ext cx="4819300" cy="42261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700405" y="136523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altLang="zh-CN" sz="3200" dirty="0"/>
              <a:t>2.2 CORRESPONDENCE BETWEEN GAUSSIAN PROCESSES AND BAYESIAN DEEP CNNS WITH INFINITELY MANY CHANNELS</a:t>
            </a:r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BEE6BB3F-521B-43DC-B124-B1ADE8287F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1" y="1189024"/>
            <a:ext cx="5197153" cy="553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073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altLang="zh-CN" sz="3200" dirty="0"/>
              <a:t>2.2.1 A SINGLE CONVOLUTIONAL LAYER IS A GP CONDITIONED ON THE UNCENTERED COVARIANCE MATRIX OF THE PREVIOUS LAYER’S ACTIVATIONS</a:t>
            </a:r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C9FE2B58-0CA5-444F-8281-1A0C82F1BC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5068" y="2051571"/>
            <a:ext cx="5811061" cy="98121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xmlns="" id="{0C13DD85-B55E-4A5B-B0A1-CF5D86B06D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672" y="3258401"/>
            <a:ext cx="5915851" cy="113363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77855C83-EA34-4F7D-BA63-01D2EF4BD3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619" y="4454270"/>
            <a:ext cx="5953956" cy="1505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3200" dirty="0">
                <a:sym typeface="+mn-ea"/>
              </a:rPr>
              <a:t>2.2.2 ACTIVATION COVARIANCE MATRIX BECOMES DETERMINISTIC WITH INCREASING CHANNEL COUNT</a:t>
            </a:r>
            <a:endParaRPr lang="en-US" sz="3200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1826AE59-7EE6-49E7-8C12-A66BA5993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813" y="1857327"/>
            <a:ext cx="6062374" cy="18177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808635E1-B8C1-4E87-AA60-8BD9EC0F2E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662" y="3856985"/>
            <a:ext cx="6084676" cy="10306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sz="3200" dirty="0">
                <a:sym typeface="+mn-ea"/>
              </a:rPr>
              <a:t>2.2.3 A CONDITIONALLY NORMAL RANDOM VARIABLE BECOMES NORMAL IF ITS COVARIANCE BECOMES DETERMINISTIC</a:t>
            </a:r>
            <a:endParaRPr lang="en-US" sz="3200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6ADA8E92-3D30-430A-AE3A-9B92771C92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270" y="2302946"/>
            <a:ext cx="6403460" cy="225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82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3.</a:t>
            </a:r>
            <a:r>
              <a:rPr lang="zh-CN" altLang="en-US" dirty="0">
                <a:sym typeface="+mn-ea"/>
              </a:rPr>
              <a:t> </a:t>
            </a:r>
            <a:r>
              <a:rPr lang="en-US" dirty="0">
                <a:sym typeface="+mn-ea"/>
              </a:rPr>
              <a:t>TRANSFORMING A GP OVER SPATIAL LOCATIONS INTO A GP OVER CLASSES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F157E24E-A470-436D-8EC4-182F0413C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016" y="1889780"/>
            <a:ext cx="6106377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14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3.</a:t>
            </a:r>
            <a:r>
              <a:rPr lang="zh-CN" altLang="en-US" dirty="0">
                <a:sym typeface="+mn-ea"/>
              </a:rPr>
              <a:t> </a:t>
            </a:r>
            <a:r>
              <a:rPr lang="en-US" dirty="0">
                <a:sym typeface="+mn-ea"/>
              </a:rPr>
              <a:t>TRANSFORMING A GP OVER SPATIAL LOCATIONS INTO A GP OVER CLASSES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1AF44482-85CE-465A-A0D9-B8853F1E7954}"/>
              </a:ext>
            </a:extLst>
          </p:cNvPr>
          <p:cNvGrpSpPr/>
          <p:nvPr/>
        </p:nvGrpSpPr>
        <p:grpSpPr>
          <a:xfrm>
            <a:off x="3000279" y="1781401"/>
            <a:ext cx="5915851" cy="4887645"/>
            <a:chOff x="558205" y="1790850"/>
            <a:chExt cx="5915851" cy="4887645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xmlns="" id="{97D07476-5C25-4EC2-807C-D9C0581AD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205" y="1790850"/>
              <a:ext cx="5400000" cy="122847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xmlns="" id="{A7D0B480-2ED7-445D-AA7D-A8C7FD2AF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205" y="2924104"/>
              <a:ext cx="5400000" cy="1788254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xmlns="" id="{F34EDA6E-6F1C-4E4C-8411-6637E108D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205" y="4712358"/>
              <a:ext cx="5915851" cy="1038370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xmlns="" id="{22215392-0961-40DF-B111-1AA296CE4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8048" y="5765991"/>
              <a:ext cx="5010157" cy="9125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945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4 </a:t>
            </a:r>
            <a:r>
              <a:rPr lang="en-US" sz="4000" dirty="0">
                <a:sym typeface="+mn-ea"/>
              </a:rPr>
              <a:t>MONTE CARLO EVALUATION OF INTRACTABLE GP KERNELS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543A7448-FD5C-4CCE-AFB6-F1676D981E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149" y="1831826"/>
            <a:ext cx="4744112" cy="47631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874F6B28-77A4-498A-8501-EEB3A40A6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990" y="2552091"/>
            <a:ext cx="5944430" cy="30960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4 </a:t>
            </a:r>
            <a:r>
              <a:rPr lang="en-US" sz="4000" dirty="0">
                <a:sym typeface="+mn-ea"/>
              </a:rPr>
              <a:t>MONTE CARLO EVALUATION OF INTRACTABLE GP KERNELS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4180C7AB-95B8-4F0B-8F0A-8EA6FCD826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841"/>
          <a:stretch/>
        </p:blipFill>
        <p:spPr>
          <a:xfrm>
            <a:off x="1193470" y="2051310"/>
            <a:ext cx="4600339" cy="30284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10B5EE6C-F095-47A0-96BB-3B98F28EAD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48"/>
          <a:stretch/>
        </p:blipFill>
        <p:spPr>
          <a:xfrm>
            <a:off x="5793809" y="2051310"/>
            <a:ext cx="4600339" cy="382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9118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5 DISCUSSION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 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xmlns="" id="{BBEA6E98-DC1B-4DA0-9178-D7D8317B03A5}"/>
              </a:ext>
            </a:extLst>
          </p:cNvPr>
          <p:cNvGrpSpPr/>
          <p:nvPr/>
        </p:nvGrpSpPr>
        <p:grpSpPr>
          <a:xfrm>
            <a:off x="2511954" y="4247065"/>
            <a:ext cx="6664749" cy="1612119"/>
            <a:chOff x="986011" y="2100432"/>
            <a:chExt cx="6664749" cy="1612119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xmlns="" id="{4A4926C4-F6F8-4387-ACAC-3648DA20CF26}"/>
                </a:ext>
              </a:extLst>
            </p:cNvPr>
            <p:cNvGrpSpPr/>
            <p:nvPr/>
          </p:nvGrpSpPr>
          <p:grpSpPr>
            <a:xfrm>
              <a:off x="986011" y="2100432"/>
              <a:ext cx="6664749" cy="992722"/>
              <a:chOff x="986011" y="2100432"/>
              <a:chExt cx="6664749" cy="992722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xmlns="" id="{EC686360-51AB-4129-BF0E-BB82AD8D2B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20235" y="2100432"/>
                <a:ext cx="6530525" cy="507439"/>
              </a:xfrm>
              <a:prstGeom prst="rect">
                <a:avLst/>
              </a:prstGeom>
            </p:spPr>
          </p:pic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xmlns="" id="{13D2431C-8B38-4E15-807F-2D76F42671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6011" y="2693921"/>
                <a:ext cx="5507068" cy="399233"/>
              </a:xfrm>
              <a:prstGeom prst="rect">
                <a:avLst/>
              </a:prstGeom>
            </p:spPr>
          </p:pic>
        </p:grp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xmlns="" id="{EAA4E69F-C0BD-476D-A9CD-A9B2AEC56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235" y="3179205"/>
              <a:ext cx="6530525" cy="533346"/>
            </a:xfrm>
            <a:prstGeom prst="rect">
              <a:avLst/>
            </a:prstGeom>
          </p:spPr>
        </p:pic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xmlns="" id="{57598F22-E43F-4FA7-AA72-D80533C04CB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58708"/>
          <a:stretch/>
        </p:blipFill>
        <p:spPr>
          <a:xfrm>
            <a:off x="2602754" y="1691005"/>
            <a:ext cx="6483151" cy="20588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6 CONCLUSION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 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6EE46DA3-EA32-40DD-83AA-AA2C0DBDD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484" y="1245561"/>
            <a:ext cx="4997441" cy="52473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6 CONCLUSION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78489AC5-2071-4627-AEBD-DDF7432FA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018" y="1505847"/>
            <a:ext cx="7029963" cy="516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9110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6 CONCLUSION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E4EC670E-7398-46F6-B62F-1578782BC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806" y="1372176"/>
            <a:ext cx="7134388" cy="49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86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6 CONCLUSION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C3290096-C999-456D-B200-01EC19ED9F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442" y="1751159"/>
            <a:ext cx="7459116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654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6 CONCLUSION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9B14E8CF-2718-4462-9867-FE571FE49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152" y="1295889"/>
            <a:ext cx="7487695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2353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562610" y="365125"/>
            <a:ext cx="10791190" cy="132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400"/>
            </a:pPr>
            <a:r>
              <a:rPr lang="en-US" dirty="0">
                <a:sym typeface="+mn-ea"/>
              </a:rPr>
              <a:t>6 CONCLUSION</a:t>
            </a:r>
            <a:endParaRPr lang="en-US" dirty="0"/>
          </a:p>
        </p:txBody>
      </p:sp>
      <p:sp>
        <p:nvSpPr>
          <p:cNvPr id="121" name="Google Shape;121;p1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F7D10AC2-D780-43D5-9429-C5C710BEF1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5"/>
          <a:stretch/>
        </p:blipFill>
        <p:spPr>
          <a:xfrm>
            <a:off x="2323573" y="1691005"/>
            <a:ext cx="7544853" cy="373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26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475</Words>
  <Application>Microsoft Office PowerPoint</Application>
  <PresentationFormat>寬螢幕</PresentationFormat>
  <Paragraphs>52</Paragraphs>
  <Slides>22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8" baseType="lpstr">
      <vt:lpstr>等线</vt:lpstr>
      <vt:lpstr>微软雅黑</vt:lpstr>
      <vt:lpstr>Questrial</vt:lpstr>
      <vt:lpstr>Arial</vt:lpstr>
      <vt:lpstr>Calibri</vt:lpstr>
      <vt:lpstr>Office 主题</vt:lpstr>
      <vt:lpstr>BAYESIAN  DEEP  CONVOLUTIONAL  NETWORKS   WITH MANY  CHANNELS  ARE  GAUSSIAN PROCESSES</vt:lpstr>
      <vt:lpstr>Abstract (1/2)</vt:lpstr>
      <vt:lpstr>Abstract (2/2)</vt:lpstr>
      <vt:lpstr>1.INTRODUCTION</vt:lpstr>
      <vt:lpstr>2. MANY-CHANNEL BAYESIAN CNNS ARE GAUSSIAN PROCESSES</vt:lpstr>
      <vt:lpstr>2. MANY-CHANNEL BAYESIAN CNNS ARE GAUSSIAN PROCESSES</vt:lpstr>
      <vt:lpstr>2. MANY-CHANNEL BAYESIAN CNNS ARE GAUSSIAN PROCESSES</vt:lpstr>
      <vt:lpstr>2.2 CORRESPONDENCE BETWEEN GAUSSIAN PROCESSES AND BAYESIAN DEEP CNNS WITH INFINITELY MANY CHANNELS</vt:lpstr>
      <vt:lpstr>2.2.1 A SINGLE CONVOLUTIONAL LAYER IS A GP CONDITIONED ON THE UNCENTERED COVARIANCE MATRIX OF THE PREVIOUS LAYER’S ACTIVATIONS</vt:lpstr>
      <vt:lpstr>2.2.2 ACTIVATION COVARIANCE MATRIX BECOMES DETERMINISTIC WITH INCREASING CHANNEL COUNT</vt:lpstr>
      <vt:lpstr>2.2.3 A CONDITIONALLY NORMAL RANDOM VARIABLE BECOMES NORMAL IF ITS COVARIANCE BECOMES DETERMINISTIC</vt:lpstr>
      <vt:lpstr>3. TRANSFORMING A GP OVER SPATIAL LOCATIONS INTO A GP OVER CLASSES</vt:lpstr>
      <vt:lpstr>3. TRANSFORMING A GP OVER SPATIAL LOCATIONS INTO A GP OVER CLASSES</vt:lpstr>
      <vt:lpstr>4 MONTE CARLO EVALUATION OF INTRACTABLE GP KERNELS</vt:lpstr>
      <vt:lpstr>4 MONTE CARLO EVALUATION OF INTRACTABLE GP KERNELS</vt:lpstr>
      <vt:lpstr>5 DISCUSSION</vt:lpstr>
      <vt:lpstr>6 CONCLUSION</vt:lpstr>
      <vt:lpstr>6 CONCLUSION</vt:lpstr>
      <vt:lpstr>6 CONCLUSION</vt:lpstr>
      <vt:lpstr>6 CONCLUSION</vt:lpstr>
      <vt:lpstr>6 CONCLUSION</vt:lpstr>
      <vt:lpstr>6 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 DEEP  CONVOLUTIONAL  NETWORKS   WITH MANY  CHANNELS  ARE  GAUSSIAN PROCESSES</dc:title>
  <dc:creator>zkx</dc:creator>
  <cp:lastModifiedBy>pplab-class</cp:lastModifiedBy>
  <cp:revision>25</cp:revision>
  <dcterms:created xsi:type="dcterms:W3CDTF">2019-04-02T05:36:00Z</dcterms:created>
  <dcterms:modified xsi:type="dcterms:W3CDTF">2019-04-02T11:22:23Z</dcterms:modified>
</cp:coreProperties>
</file>