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6" r:id="rId2"/>
    <p:sldId id="257" r:id="rId3"/>
    <p:sldId id="258" r:id="rId4"/>
    <p:sldId id="286" r:id="rId5"/>
    <p:sldId id="259" r:id="rId6"/>
    <p:sldId id="260" r:id="rId7"/>
    <p:sldId id="261" r:id="rId8"/>
    <p:sldId id="262" r:id="rId9"/>
    <p:sldId id="263" r:id="rId10"/>
    <p:sldId id="264" r:id="rId11"/>
    <p:sldId id="287" r:id="rId12"/>
    <p:sldId id="266" r:id="rId13"/>
    <p:sldId id="272" r:id="rId14"/>
    <p:sldId id="269" r:id="rId15"/>
    <p:sldId id="267" r:id="rId16"/>
    <p:sldId id="277" r:id="rId17"/>
    <p:sldId id="278" r:id="rId18"/>
    <p:sldId id="279" r:id="rId19"/>
    <p:sldId id="280" r:id="rId20"/>
    <p:sldId id="281" r:id="rId21"/>
    <p:sldId id="282" r:id="rId22"/>
    <p:sldId id="284" r:id="rId23"/>
    <p:sldId id="285" r:id="rId24"/>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850" autoAdjust="0"/>
    <p:restoredTop sz="79741" autoAdjust="0"/>
  </p:normalViewPr>
  <p:slideViewPr>
    <p:cSldViewPr snapToGrid="0">
      <p:cViewPr varScale="1">
        <p:scale>
          <a:sx n="73" d="100"/>
          <a:sy n="73" d="100"/>
        </p:scale>
        <p:origin x="87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7FEA978-E737-40E5-8864-39E2E87DFE56}" type="datetimeFigureOut">
              <a:rPr lang="zh-TW" altLang="en-US" smtClean="0"/>
              <a:t>2019/4/2</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7F998F-39E5-4E28-B0C3-37396970755F}" type="slidenum">
              <a:rPr lang="zh-TW" altLang="en-US" smtClean="0"/>
              <a:t>‹#›</a:t>
            </a:fld>
            <a:endParaRPr lang="zh-TW" altLang="en-US"/>
          </a:p>
        </p:txBody>
      </p:sp>
    </p:spTree>
    <p:extLst>
      <p:ext uri="{BB962C8B-B14F-4D97-AF65-F5344CB8AC3E}">
        <p14:creationId xmlns:p14="http://schemas.microsoft.com/office/powerpoint/2010/main" val="35017030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www.jmlr.org/papers/" TargetMode="External"/><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hlinkClick r:id="rId3"/>
              </a:rPr>
              <a:t>http://www.jmlr.org/papers/</a:t>
            </a:r>
            <a:r>
              <a:rPr lang="en-US" altLang="zh-TW" dirty="0"/>
              <a:t> </a:t>
            </a:r>
            <a:r>
              <a:rPr lang="zh-TW" altLang="en-US" dirty="0"/>
              <a:t>的 </a:t>
            </a:r>
            <a:r>
              <a:rPr lang="en-US" altLang="zh-TW" dirty="0"/>
              <a:t>paper </a:t>
            </a:r>
            <a:r>
              <a:rPr lang="zh-TW" altLang="en-US" dirty="0"/>
              <a:t>的 </a:t>
            </a:r>
            <a:r>
              <a:rPr lang="en-US" altLang="zh-TW" dirty="0"/>
              <a:t>15 </a:t>
            </a:r>
            <a:r>
              <a:rPr lang="zh-TW" altLang="en-US" dirty="0"/>
              <a:t>的</a:t>
            </a:r>
            <a:r>
              <a:rPr lang="en-US" altLang="zh-TW" dirty="0"/>
              <a:t>dropout</a:t>
            </a:r>
            <a:r>
              <a:rPr lang="zh-TW" altLang="en-US" dirty="0"/>
              <a:t>那篇論文</a:t>
            </a:r>
            <a:endParaRPr lang="en-US" altLang="zh-TW" dirty="0"/>
          </a:p>
          <a:p>
            <a:r>
              <a:rPr lang="en-US" altLang="zh-TW" dirty="0"/>
              <a:t>All of authors are from </a:t>
            </a:r>
            <a:r>
              <a:rPr lang="en-US" altLang="zh-TW" dirty="0" err="1"/>
              <a:t>Unovesity</a:t>
            </a:r>
            <a:r>
              <a:rPr lang="en-US" altLang="zh-TW" dirty="0"/>
              <a:t> of Toronto.</a:t>
            </a:r>
          </a:p>
          <a:p>
            <a:r>
              <a:rPr lang="zh-TW" altLang="en-US" sz="1200" b="0" i="0" kern="1200" dirty="0">
                <a:solidFill>
                  <a:schemeClr val="tx1"/>
                </a:solidFill>
                <a:effectLst/>
                <a:latin typeface="+mn-lt"/>
                <a:ea typeface="+mn-ea"/>
                <a:cs typeface="+mn-cs"/>
              </a:rPr>
              <a:t>此篇論文被放入維基百科</a:t>
            </a:r>
            <a:r>
              <a:rPr lang="en-US" altLang="zh-TW" sz="1200" b="0" i="0" kern="1200" dirty="0" err="1">
                <a:solidFill>
                  <a:schemeClr val="tx1"/>
                </a:solidFill>
                <a:effectLst/>
                <a:latin typeface="+mn-lt"/>
                <a:ea typeface="+mn-ea"/>
                <a:cs typeface="+mn-cs"/>
              </a:rPr>
              <a:t>droput</a:t>
            </a:r>
            <a:r>
              <a:rPr lang="zh-TW" altLang="en-US" sz="1200" b="0" i="0" kern="1200" dirty="0">
                <a:solidFill>
                  <a:schemeClr val="tx1"/>
                </a:solidFill>
                <a:effectLst/>
                <a:latin typeface="+mn-lt"/>
                <a:ea typeface="+mn-ea"/>
                <a:cs typeface="+mn-cs"/>
              </a:rPr>
              <a:t>一詞的</a:t>
            </a:r>
            <a:r>
              <a:rPr lang="en-US" altLang="zh-TW" sz="1200" b="0" i="0" kern="1200" dirty="0" err="1">
                <a:solidFill>
                  <a:schemeClr val="tx1"/>
                </a:solidFill>
                <a:effectLst/>
                <a:latin typeface="+mn-lt"/>
                <a:ea typeface="+mn-ea"/>
                <a:cs typeface="+mn-cs"/>
              </a:rPr>
              <a:t>refference</a:t>
            </a:r>
            <a:r>
              <a:rPr lang="zh-TW" altLang="en-US" sz="1200" b="0" i="0" kern="1200" dirty="0">
                <a:solidFill>
                  <a:schemeClr val="tx1"/>
                </a:solidFill>
                <a:effectLst/>
                <a:latin typeface="+mn-lt"/>
                <a:ea typeface="+mn-ea"/>
                <a:cs typeface="+mn-cs"/>
              </a:rPr>
              <a:t>。</a:t>
            </a:r>
            <a:endParaRPr lang="en-US" altLang="zh-TW" dirty="0"/>
          </a:p>
          <a:p>
            <a:r>
              <a:rPr lang="en-US" altLang="zh-TW" sz="1200" dirty="0"/>
              <a:t>Geoﬀrey Hinton(</a:t>
            </a:r>
            <a:r>
              <a:rPr lang="zh-TW" altLang="en-US" sz="1200" dirty="0"/>
              <a:t>加拿大人</a:t>
            </a:r>
            <a:r>
              <a:rPr lang="en-US" altLang="zh-TW" sz="1200" dirty="0"/>
              <a:t>)</a:t>
            </a:r>
            <a:r>
              <a:rPr lang="zh-TW" altLang="en-US" sz="1200" dirty="0"/>
              <a:t>被譽為深度學習之父，也是反向傳播算法的發明者之一，甚至榮獲</a:t>
            </a:r>
            <a:r>
              <a:rPr lang="en-US" altLang="zh-TW" sz="1200" dirty="0"/>
              <a:t>2018</a:t>
            </a:r>
            <a:r>
              <a:rPr lang="zh-TW" altLang="en-US" sz="1200" dirty="0"/>
              <a:t>年圖靈獎。</a:t>
            </a:r>
            <a:endParaRPr lang="en-US" altLang="zh-TW" sz="1200" dirty="0"/>
          </a:p>
          <a:p>
            <a:r>
              <a:rPr lang="zh-TW" altLang="en-US" sz="1200" b="0" i="0" kern="1200" dirty="0">
                <a:solidFill>
                  <a:schemeClr val="tx1"/>
                </a:solidFill>
                <a:effectLst/>
                <a:latin typeface="+mn-lt"/>
                <a:ea typeface="+mn-ea"/>
                <a:cs typeface="+mn-cs"/>
              </a:rPr>
              <a:t>他研究了使用神經網絡進行機器學習、記憶、感知和符號處理的方法，並在這些領域發表了超過</a:t>
            </a:r>
            <a:r>
              <a:rPr lang="en-US" altLang="zh-TW" sz="1200" b="0" i="0" kern="1200" dirty="0">
                <a:solidFill>
                  <a:schemeClr val="tx1"/>
                </a:solidFill>
                <a:effectLst/>
                <a:latin typeface="+mn-lt"/>
                <a:ea typeface="+mn-ea"/>
                <a:cs typeface="+mn-cs"/>
              </a:rPr>
              <a:t>200</a:t>
            </a:r>
            <a:r>
              <a:rPr lang="zh-TW" altLang="en-US" sz="1200" b="0" i="0" kern="1200" dirty="0">
                <a:solidFill>
                  <a:schemeClr val="tx1"/>
                </a:solidFill>
                <a:effectLst/>
                <a:latin typeface="+mn-lt"/>
                <a:ea typeface="+mn-ea"/>
                <a:cs typeface="+mn-cs"/>
              </a:rPr>
              <a:t>篇論文。</a:t>
            </a:r>
            <a:endParaRPr lang="en-US" altLang="zh-TW" sz="1200" b="0" i="0" kern="1200" dirty="0">
              <a:solidFill>
                <a:schemeClr val="tx1"/>
              </a:solidFill>
              <a:effectLst/>
              <a:latin typeface="+mn-lt"/>
              <a:ea typeface="+mn-ea"/>
              <a:cs typeface="+mn-cs"/>
            </a:endParaRPr>
          </a:p>
          <a:p>
            <a:r>
              <a:rPr lang="zh-TW" altLang="en-US" sz="1200" b="0" i="0" kern="1200" dirty="0">
                <a:solidFill>
                  <a:schemeClr val="tx1"/>
                </a:solidFill>
                <a:effectLst/>
                <a:latin typeface="+mn-lt"/>
                <a:ea typeface="+mn-ea"/>
                <a:cs typeface="+mn-cs"/>
              </a:rPr>
              <a:t>目前任職於</a:t>
            </a:r>
            <a:r>
              <a:rPr lang="en-US" altLang="zh-TW" sz="1200" b="0" i="0" kern="1200" dirty="0">
                <a:solidFill>
                  <a:schemeClr val="tx1"/>
                </a:solidFill>
                <a:effectLst/>
                <a:latin typeface="+mn-lt"/>
                <a:ea typeface="+mn-ea"/>
                <a:cs typeface="+mn-cs"/>
              </a:rPr>
              <a:t>Google</a:t>
            </a:r>
            <a:r>
              <a:rPr lang="zh-TW" altLang="en-US" sz="1200" b="0" i="0" kern="1200" dirty="0">
                <a:solidFill>
                  <a:schemeClr val="tx1"/>
                </a:solidFill>
                <a:effectLst/>
                <a:latin typeface="+mn-lt"/>
                <a:ea typeface="+mn-ea"/>
                <a:cs typeface="+mn-cs"/>
              </a:rPr>
              <a:t>的</a:t>
            </a:r>
            <a:r>
              <a:rPr lang="en-US" altLang="zh-TW" sz="1200" b="0" i="0" kern="1200" dirty="0">
                <a:solidFill>
                  <a:schemeClr val="tx1"/>
                </a:solidFill>
                <a:effectLst/>
                <a:latin typeface="+mn-lt"/>
                <a:ea typeface="+mn-ea"/>
                <a:cs typeface="+mn-cs"/>
              </a:rPr>
              <a:t>Google</a:t>
            </a:r>
            <a:r>
              <a:rPr lang="zh-TW" altLang="en-US" sz="1200" b="0" i="0" kern="1200" dirty="0">
                <a:solidFill>
                  <a:schemeClr val="tx1"/>
                </a:solidFill>
                <a:effectLst/>
                <a:latin typeface="+mn-lt"/>
                <a:ea typeface="+mn-ea"/>
                <a:cs typeface="+mn-cs"/>
              </a:rPr>
              <a:t> </a:t>
            </a:r>
            <a:r>
              <a:rPr lang="en-US" altLang="zh-TW" sz="1200" b="0" i="0" kern="1200" dirty="0">
                <a:solidFill>
                  <a:schemeClr val="tx1"/>
                </a:solidFill>
                <a:effectLst/>
                <a:latin typeface="+mn-lt"/>
                <a:ea typeface="+mn-ea"/>
                <a:cs typeface="+mn-cs"/>
              </a:rPr>
              <a:t>Brain</a:t>
            </a:r>
            <a:r>
              <a:rPr lang="zh-TW" altLang="en-US" sz="1200" b="0" i="0" kern="1200" dirty="0">
                <a:solidFill>
                  <a:schemeClr val="tx1"/>
                </a:solidFill>
                <a:effectLst/>
                <a:latin typeface="+mn-lt"/>
                <a:ea typeface="+mn-ea"/>
                <a:cs typeface="+mn-cs"/>
              </a:rPr>
              <a:t>、多倫多大學任教。</a:t>
            </a:r>
            <a:endParaRPr lang="en-US" altLang="zh-TW" sz="1200" b="0" i="0" kern="1200" dirty="0">
              <a:solidFill>
                <a:schemeClr val="tx1"/>
              </a:solidFill>
              <a:effectLst/>
              <a:latin typeface="+mn-lt"/>
              <a:ea typeface="+mn-ea"/>
              <a:cs typeface="+mn-cs"/>
            </a:endParaRPr>
          </a:p>
          <a:p>
            <a:r>
              <a:rPr lang="en-US" altLang="zh-TW" sz="1200" b="0" i="0" kern="1200" dirty="0">
                <a:solidFill>
                  <a:schemeClr val="tx1"/>
                </a:solidFill>
                <a:effectLst/>
                <a:latin typeface="+mn-lt"/>
                <a:ea typeface="+mn-ea"/>
                <a:cs typeface="+mn-cs"/>
              </a:rPr>
              <a:t>2018</a:t>
            </a:r>
            <a:r>
              <a:rPr lang="zh-TW" altLang="en-US" sz="1200" b="0" i="0" kern="1200" dirty="0">
                <a:solidFill>
                  <a:schemeClr val="tx1"/>
                </a:solidFill>
                <a:effectLst/>
                <a:latin typeface="+mn-lt"/>
                <a:ea typeface="+mn-ea"/>
                <a:cs typeface="+mn-cs"/>
              </a:rPr>
              <a:t>年又發表了一篇論文</a:t>
            </a:r>
            <a:r>
              <a:rPr lang="en-US" altLang="zh-TW" sz="1200" b="0" i="0" kern="1200" dirty="0">
                <a:solidFill>
                  <a:schemeClr val="tx1"/>
                </a:solidFill>
                <a:effectLst/>
                <a:latin typeface="+mn-lt"/>
                <a:ea typeface="+mn-ea"/>
                <a:cs typeface="+mn-cs"/>
              </a:rPr>
              <a:t>:Targeted </a:t>
            </a:r>
            <a:r>
              <a:rPr lang="en-US" altLang="zh-TW" dirty="0"/>
              <a:t>Dropout</a:t>
            </a:r>
            <a:r>
              <a:rPr lang="zh-TW" altLang="en-US" dirty="0"/>
              <a:t>因此未來</a:t>
            </a:r>
            <a:r>
              <a:rPr lang="en-US" altLang="zh-TW" dirty="0"/>
              <a:t>python</a:t>
            </a:r>
            <a:r>
              <a:rPr lang="zh-TW" altLang="en-US" dirty="0"/>
              <a:t>的</a:t>
            </a:r>
            <a:r>
              <a:rPr lang="en-US" altLang="zh-TW" dirty="0"/>
              <a:t>dropout</a:t>
            </a:r>
            <a:r>
              <a:rPr lang="zh-TW" altLang="en-US" dirty="0"/>
              <a:t>或許會被改寫</a:t>
            </a:r>
            <a:r>
              <a:rPr lang="en-US" altLang="zh-TW" dirty="0"/>
              <a:t>(?)</a:t>
            </a:r>
            <a:endParaRPr lang="en-US" altLang="zh-TW" sz="1200" b="0" i="0" kern="1200" dirty="0">
              <a:solidFill>
                <a:schemeClr val="tx1"/>
              </a:solidFill>
              <a:effectLst/>
              <a:latin typeface="+mn-lt"/>
              <a:ea typeface="+mn-ea"/>
              <a:cs typeface="+mn-cs"/>
            </a:endParaRPr>
          </a:p>
          <a:p>
            <a:endParaRPr lang="en-US" altLang="zh-TW" dirty="0"/>
          </a:p>
        </p:txBody>
      </p:sp>
      <p:sp>
        <p:nvSpPr>
          <p:cNvPr id="4" name="投影片編號版面配置區 3"/>
          <p:cNvSpPr>
            <a:spLocks noGrp="1"/>
          </p:cNvSpPr>
          <p:nvPr>
            <p:ph type="sldNum" sz="quarter" idx="5"/>
          </p:nvPr>
        </p:nvSpPr>
        <p:spPr/>
        <p:txBody>
          <a:bodyPr/>
          <a:lstStyle/>
          <a:p>
            <a:fld id="{377F998F-39E5-4E28-B0C3-37396970755F}" type="slidenum">
              <a:rPr lang="zh-TW" altLang="en-US" smtClean="0"/>
              <a:t>1</a:t>
            </a:fld>
            <a:endParaRPr lang="zh-TW" altLang="en-US"/>
          </a:p>
        </p:txBody>
      </p:sp>
    </p:spTree>
    <p:extLst>
      <p:ext uri="{BB962C8B-B14F-4D97-AF65-F5344CB8AC3E}">
        <p14:creationId xmlns:p14="http://schemas.microsoft.com/office/powerpoint/2010/main" val="19101380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Dropout</a:t>
            </a:r>
            <a:r>
              <a:rPr lang="zh-TW" altLang="en-US" dirty="0"/>
              <a:t>一詞由</a:t>
            </a:r>
            <a:r>
              <a:rPr lang="en-US" altLang="zh-TW" dirty="0"/>
              <a:t>Hinton</a:t>
            </a:r>
            <a:r>
              <a:rPr lang="zh-TW" altLang="en-US" dirty="0"/>
              <a:t>先生</a:t>
            </a:r>
            <a:r>
              <a:rPr lang="en-US" altLang="zh-TW" dirty="0"/>
              <a:t>(</a:t>
            </a:r>
            <a:r>
              <a:rPr lang="zh-TW" altLang="en-US" dirty="0"/>
              <a:t>本論文作者之一</a:t>
            </a:r>
            <a:r>
              <a:rPr lang="en-US" altLang="zh-TW" dirty="0"/>
              <a:t>)</a:t>
            </a:r>
            <a:r>
              <a:rPr lang="zh-TW" altLang="en-US" dirty="0"/>
              <a:t>於</a:t>
            </a:r>
            <a:r>
              <a:rPr lang="en-US" altLang="zh-TW" dirty="0"/>
              <a:t>2012</a:t>
            </a:r>
            <a:r>
              <a:rPr lang="zh-TW" altLang="en-US" dirty="0"/>
              <a:t>年另一篇論文首次提到。</a:t>
            </a:r>
            <a:endParaRPr lang="en-US" altLang="zh-TW" dirty="0"/>
          </a:p>
          <a:p>
            <a:r>
              <a:rPr lang="en-US" altLang="zh-TW" dirty="0"/>
              <a:t>Improving neural networks by preventing co-adaptation of feature detectors </a:t>
            </a:r>
          </a:p>
          <a:p>
            <a:r>
              <a:rPr lang="zh-TW" altLang="en-US" dirty="0"/>
              <a:t>此篇為該篇進化版且展示眾多</a:t>
            </a:r>
            <a:r>
              <a:rPr lang="en-US" altLang="zh-TW" dirty="0"/>
              <a:t>dropout</a:t>
            </a:r>
            <a:r>
              <a:rPr lang="zh-TW" altLang="en-US" dirty="0"/>
              <a:t>實作研究結果。</a:t>
            </a:r>
          </a:p>
        </p:txBody>
      </p:sp>
      <p:sp>
        <p:nvSpPr>
          <p:cNvPr id="4" name="投影片編號版面配置區 3"/>
          <p:cNvSpPr>
            <a:spLocks noGrp="1"/>
          </p:cNvSpPr>
          <p:nvPr>
            <p:ph type="sldNum" sz="quarter" idx="5"/>
          </p:nvPr>
        </p:nvSpPr>
        <p:spPr/>
        <p:txBody>
          <a:bodyPr/>
          <a:lstStyle/>
          <a:p>
            <a:fld id="{377F998F-39E5-4E28-B0C3-37396970755F}" type="slidenum">
              <a:rPr lang="zh-TW" altLang="en-US" smtClean="0"/>
              <a:t>2</a:t>
            </a:fld>
            <a:endParaRPr lang="zh-TW" altLang="en-US"/>
          </a:p>
        </p:txBody>
      </p:sp>
    </p:spTree>
    <p:extLst>
      <p:ext uri="{BB962C8B-B14F-4D97-AF65-F5344CB8AC3E}">
        <p14:creationId xmlns:p14="http://schemas.microsoft.com/office/powerpoint/2010/main" val="25164678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377F998F-39E5-4E28-B0C3-37396970755F}" type="slidenum">
              <a:rPr lang="zh-TW" altLang="en-US" smtClean="0"/>
              <a:t>3</a:t>
            </a:fld>
            <a:endParaRPr lang="zh-TW" altLang="en-US"/>
          </a:p>
        </p:txBody>
      </p:sp>
    </p:spTree>
    <p:extLst>
      <p:ext uri="{BB962C8B-B14F-4D97-AF65-F5344CB8AC3E}">
        <p14:creationId xmlns:p14="http://schemas.microsoft.com/office/powerpoint/2010/main" val="36349897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377F998F-39E5-4E28-B0C3-37396970755F}" type="slidenum">
              <a:rPr lang="zh-TW" altLang="en-US" smtClean="0"/>
              <a:t>14</a:t>
            </a:fld>
            <a:endParaRPr lang="zh-TW" altLang="en-US"/>
          </a:p>
        </p:txBody>
      </p:sp>
    </p:spTree>
    <p:extLst>
      <p:ext uri="{BB962C8B-B14F-4D97-AF65-F5344CB8AC3E}">
        <p14:creationId xmlns:p14="http://schemas.microsoft.com/office/powerpoint/2010/main" val="30443219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A26C46-D0C2-4B38-8A04-667613125F65}"/>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8696A7FC-CF28-4579-BC74-610A32CF580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B2C6E288-DD27-4113-B6F7-DD4F3944F7AD}"/>
              </a:ext>
            </a:extLst>
          </p:cNvPr>
          <p:cNvSpPr>
            <a:spLocks noGrp="1"/>
          </p:cNvSpPr>
          <p:nvPr>
            <p:ph type="dt" sz="half" idx="10"/>
          </p:nvPr>
        </p:nvSpPr>
        <p:spPr/>
        <p:txBody>
          <a:bodyPr/>
          <a:lstStyle/>
          <a:p>
            <a:fld id="{9516F5E9-A161-4F7E-8227-15CB11B54BE5}" type="datetimeFigureOut">
              <a:rPr lang="zh-TW" altLang="en-US" smtClean="0"/>
              <a:t>2019/4/2</a:t>
            </a:fld>
            <a:endParaRPr lang="zh-TW" altLang="en-US"/>
          </a:p>
        </p:txBody>
      </p:sp>
      <p:sp>
        <p:nvSpPr>
          <p:cNvPr id="5" name="頁尾版面配置區 4">
            <a:extLst>
              <a:ext uri="{FF2B5EF4-FFF2-40B4-BE49-F238E27FC236}">
                <a16:creationId xmlns:a16="http://schemas.microsoft.com/office/drawing/2014/main" id="{EFB0A3A0-D31F-474E-9349-609AC727685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423F3CDA-AD1A-40A6-9C8D-642369690FE7}"/>
              </a:ext>
            </a:extLst>
          </p:cNvPr>
          <p:cNvSpPr>
            <a:spLocks noGrp="1"/>
          </p:cNvSpPr>
          <p:nvPr>
            <p:ph type="sldNum" sz="quarter" idx="12"/>
          </p:nvPr>
        </p:nvSpPr>
        <p:spPr/>
        <p:txBody>
          <a:bodyPr/>
          <a:lstStyle/>
          <a:p>
            <a:fld id="{51CC637B-58DD-46A8-AF7F-A0A444BD02EC}" type="slidenum">
              <a:rPr lang="zh-TW" altLang="en-US" smtClean="0"/>
              <a:t>‹#›</a:t>
            </a:fld>
            <a:endParaRPr lang="zh-TW" altLang="en-US"/>
          </a:p>
        </p:txBody>
      </p:sp>
    </p:spTree>
    <p:extLst>
      <p:ext uri="{BB962C8B-B14F-4D97-AF65-F5344CB8AC3E}">
        <p14:creationId xmlns:p14="http://schemas.microsoft.com/office/powerpoint/2010/main" val="37027674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9EBDB89-794A-4CE8-AB36-695FA6BD6D4E}"/>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EB355D9C-ACD8-4D02-92FE-DE58E61C017B}"/>
              </a:ext>
            </a:extLst>
          </p:cNvPr>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E14533FF-8DFC-4215-8621-E079E0E0C6B8}"/>
              </a:ext>
            </a:extLst>
          </p:cNvPr>
          <p:cNvSpPr>
            <a:spLocks noGrp="1"/>
          </p:cNvSpPr>
          <p:nvPr>
            <p:ph type="dt" sz="half" idx="10"/>
          </p:nvPr>
        </p:nvSpPr>
        <p:spPr/>
        <p:txBody>
          <a:bodyPr/>
          <a:lstStyle/>
          <a:p>
            <a:fld id="{9516F5E9-A161-4F7E-8227-15CB11B54BE5}" type="datetimeFigureOut">
              <a:rPr lang="zh-TW" altLang="en-US" smtClean="0"/>
              <a:t>2019/4/2</a:t>
            </a:fld>
            <a:endParaRPr lang="zh-TW" altLang="en-US"/>
          </a:p>
        </p:txBody>
      </p:sp>
      <p:sp>
        <p:nvSpPr>
          <p:cNvPr id="5" name="頁尾版面配置區 4">
            <a:extLst>
              <a:ext uri="{FF2B5EF4-FFF2-40B4-BE49-F238E27FC236}">
                <a16:creationId xmlns:a16="http://schemas.microsoft.com/office/drawing/2014/main" id="{0F5AF5C5-4D3D-4B57-8AD6-10D2C77E8F2F}"/>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39515229-E48F-43C7-83FD-26EC70D3A5CF}"/>
              </a:ext>
            </a:extLst>
          </p:cNvPr>
          <p:cNvSpPr>
            <a:spLocks noGrp="1"/>
          </p:cNvSpPr>
          <p:nvPr>
            <p:ph type="sldNum" sz="quarter" idx="12"/>
          </p:nvPr>
        </p:nvSpPr>
        <p:spPr/>
        <p:txBody>
          <a:bodyPr/>
          <a:lstStyle/>
          <a:p>
            <a:fld id="{51CC637B-58DD-46A8-AF7F-A0A444BD02EC}" type="slidenum">
              <a:rPr lang="zh-TW" altLang="en-US" smtClean="0"/>
              <a:t>‹#›</a:t>
            </a:fld>
            <a:endParaRPr lang="zh-TW" altLang="en-US"/>
          </a:p>
        </p:txBody>
      </p:sp>
    </p:spTree>
    <p:extLst>
      <p:ext uri="{BB962C8B-B14F-4D97-AF65-F5344CB8AC3E}">
        <p14:creationId xmlns:p14="http://schemas.microsoft.com/office/powerpoint/2010/main" val="26902119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B1B7635-2C67-4B5F-B633-DE0A6674A10F}"/>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D74DF3E2-EB35-4698-9CCF-D80288D1DA1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a:extLst>
              <a:ext uri="{FF2B5EF4-FFF2-40B4-BE49-F238E27FC236}">
                <a16:creationId xmlns:a16="http://schemas.microsoft.com/office/drawing/2014/main" id="{534EB538-7C2A-4CAB-82F5-CA3240F4E502}"/>
              </a:ext>
            </a:extLst>
          </p:cNvPr>
          <p:cNvSpPr>
            <a:spLocks noGrp="1"/>
          </p:cNvSpPr>
          <p:nvPr>
            <p:ph type="dt" sz="half" idx="10"/>
          </p:nvPr>
        </p:nvSpPr>
        <p:spPr/>
        <p:txBody>
          <a:bodyPr/>
          <a:lstStyle/>
          <a:p>
            <a:fld id="{9516F5E9-A161-4F7E-8227-15CB11B54BE5}" type="datetimeFigureOut">
              <a:rPr lang="zh-TW" altLang="en-US" smtClean="0"/>
              <a:t>2019/4/2</a:t>
            </a:fld>
            <a:endParaRPr lang="zh-TW" altLang="en-US"/>
          </a:p>
        </p:txBody>
      </p:sp>
      <p:sp>
        <p:nvSpPr>
          <p:cNvPr id="5" name="頁尾版面配置區 4">
            <a:extLst>
              <a:ext uri="{FF2B5EF4-FFF2-40B4-BE49-F238E27FC236}">
                <a16:creationId xmlns:a16="http://schemas.microsoft.com/office/drawing/2014/main" id="{F4C302FB-35CA-41FD-A10F-FC0DD69C39B5}"/>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C7CEC10E-9E91-4967-8F39-826CDE439C3C}"/>
              </a:ext>
            </a:extLst>
          </p:cNvPr>
          <p:cNvSpPr>
            <a:spLocks noGrp="1"/>
          </p:cNvSpPr>
          <p:nvPr>
            <p:ph type="sldNum" sz="quarter" idx="12"/>
          </p:nvPr>
        </p:nvSpPr>
        <p:spPr/>
        <p:txBody>
          <a:bodyPr/>
          <a:lstStyle/>
          <a:p>
            <a:fld id="{51CC637B-58DD-46A8-AF7F-A0A444BD02EC}" type="slidenum">
              <a:rPr lang="zh-TW" altLang="en-US" smtClean="0"/>
              <a:t>‹#›</a:t>
            </a:fld>
            <a:endParaRPr lang="zh-TW" altLang="en-US"/>
          </a:p>
        </p:txBody>
      </p:sp>
    </p:spTree>
    <p:extLst>
      <p:ext uri="{BB962C8B-B14F-4D97-AF65-F5344CB8AC3E}">
        <p14:creationId xmlns:p14="http://schemas.microsoft.com/office/powerpoint/2010/main" val="32365316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752A850-6DCA-42A6-ACB7-A13657B8AAC9}"/>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F3BAFDB8-FB0E-4F58-958B-1D9824F647EF}"/>
              </a:ext>
            </a:extLst>
          </p:cNvPr>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18EDCE71-D1BF-471D-9DFE-8FCDC7D6720E}"/>
              </a:ext>
            </a:extLst>
          </p:cNvPr>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D9EBE791-BD89-45CD-9728-D389BB316219}"/>
              </a:ext>
            </a:extLst>
          </p:cNvPr>
          <p:cNvSpPr>
            <a:spLocks noGrp="1"/>
          </p:cNvSpPr>
          <p:nvPr>
            <p:ph type="dt" sz="half" idx="10"/>
          </p:nvPr>
        </p:nvSpPr>
        <p:spPr/>
        <p:txBody>
          <a:bodyPr/>
          <a:lstStyle/>
          <a:p>
            <a:fld id="{9516F5E9-A161-4F7E-8227-15CB11B54BE5}" type="datetimeFigureOut">
              <a:rPr lang="zh-TW" altLang="en-US" smtClean="0"/>
              <a:t>2019/4/2</a:t>
            </a:fld>
            <a:endParaRPr lang="zh-TW" altLang="en-US"/>
          </a:p>
        </p:txBody>
      </p:sp>
      <p:sp>
        <p:nvSpPr>
          <p:cNvPr id="6" name="頁尾版面配置區 5">
            <a:extLst>
              <a:ext uri="{FF2B5EF4-FFF2-40B4-BE49-F238E27FC236}">
                <a16:creationId xmlns:a16="http://schemas.microsoft.com/office/drawing/2014/main" id="{DF1989AF-5EE3-4C62-AFC1-48071A504167}"/>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023AD171-B164-46A3-ACE4-5A4588DE4EBE}"/>
              </a:ext>
            </a:extLst>
          </p:cNvPr>
          <p:cNvSpPr>
            <a:spLocks noGrp="1"/>
          </p:cNvSpPr>
          <p:nvPr>
            <p:ph type="sldNum" sz="quarter" idx="12"/>
          </p:nvPr>
        </p:nvSpPr>
        <p:spPr/>
        <p:txBody>
          <a:bodyPr/>
          <a:lstStyle/>
          <a:p>
            <a:fld id="{51CC637B-58DD-46A8-AF7F-A0A444BD02EC}" type="slidenum">
              <a:rPr lang="zh-TW" altLang="en-US" smtClean="0"/>
              <a:t>‹#›</a:t>
            </a:fld>
            <a:endParaRPr lang="zh-TW" altLang="en-US"/>
          </a:p>
        </p:txBody>
      </p:sp>
    </p:spTree>
    <p:extLst>
      <p:ext uri="{BB962C8B-B14F-4D97-AF65-F5344CB8AC3E}">
        <p14:creationId xmlns:p14="http://schemas.microsoft.com/office/powerpoint/2010/main" val="22982755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156E3CD-9E81-449C-964D-C3AE690F6C1A}"/>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033DB46E-F8D2-4AD5-8C6D-174A15CCF63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a:extLst>
              <a:ext uri="{FF2B5EF4-FFF2-40B4-BE49-F238E27FC236}">
                <a16:creationId xmlns:a16="http://schemas.microsoft.com/office/drawing/2014/main" id="{FC900BFE-FCA7-45BF-A6E3-3849877BAC92}"/>
              </a:ext>
            </a:extLst>
          </p:cNvPr>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EFAA5323-9AAC-44CC-9039-6D896FDA9FF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a:extLst>
              <a:ext uri="{FF2B5EF4-FFF2-40B4-BE49-F238E27FC236}">
                <a16:creationId xmlns:a16="http://schemas.microsoft.com/office/drawing/2014/main" id="{DF3E0D19-8D65-429B-867C-99B0C7A2A58D}"/>
              </a:ext>
            </a:extLst>
          </p:cNvPr>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3E7D6A61-05EC-4F52-B753-19D1ED295D5A}"/>
              </a:ext>
            </a:extLst>
          </p:cNvPr>
          <p:cNvSpPr>
            <a:spLocks noGrp="1"/>
          </p:cNvSpPr>
          <p:nvPr>
            <p:ph type="dt" sz="half" idx="10"/>
          </p:nvPr>
        </p:nvSpPr>
        <p:spPr/>
        <p:txBody>
          <a:bodyPr/>
          <a:lstStyle/>
          <a:p>
            <a:fld id="{9516F5E9-A161-4F7E-8227-15CB11B54BE5}" type="datetimeFigureOut">
              <a:rPr lang="zh-TW" altLang="en-US" smtClean="0"/>
              <a:t>2019/4/2</a:t>
            </a:fld>
            <a:endParaRPr lang="zh-TW" altLang="en-US"/>
          </a:p>
        </p:txBody>
      </p:sp>
      <p:sp>
        <p:nvSpPr>
          <p:cNvPr id="8" name="頁尾版面配置區 7">
            <a:extLst>
              <a:ext uri="{FF2B5EF4-FFF2-40B4-BE49-F238E27FC236}">
                <a16:creationId xmlns:a16="http://schemas.microsoft.com/office/drawing/2014/main" id="{E9F13DBC-FB1E-496C-A620-D2BC47148A7F}"/>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CFD43FB8-3CB1-40E5-9850-0A010B5BEA38}"/>
              </a:ext>
            </a:extLst>
          </p:cNvPr>
          <p:cNvSpPr>
            <a:spLocks noGrp="1"/>
          </p:cNvSpPr>
          <p:nvPr>
            <p:ph type="sldNum" sz="quarter" idx="12"/>
          </p:nvPr>
        </p:nvSpPr>
        <p:spPr/>
        <p:txBody>
          <a:bodyPr/>
          <a:lstStyle/>
          <a:p>
            <a:fld id="{51CC637B-58DD-46A8-AF7F-A0A444BD02EC}" type="slidenum">
              <a:rPr lang="zh-TW" altLang="en-US" smtClean="0"/>
              <a:t>‹#›</a:t>
            </a:fld>
            <a:endParaRPr lang="zh-TW" altLang="en-US"/>
          </a:p>
        </p:txBody>
      </p:sp>
    </p:spTree>
    <p:extLst>
      <p:ext uri="{BB962C8B-B14F-4D97-AF65-F5344CB8AC3E}">
        <p14:creationId xmlns:p14="http://schemas.microsoft.com/office/powerpoint/2010/main" val="15671423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BF5786E-467E-4BB0-B2DA-E5FB8EEEA3F9}"/>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574C4EA2-83A3-43CE-A98A-0CCBACA8F292}"/>
              </a:ext>
            </a:extLst>
          </p:cNvPr>
          <p:cNvSpPr>
            <a:spLocks noGrp="1"/>
          </p:cNvSpPr>
          <p:nvPr>
            <p:ph type="dt" sz="half" idx="10"/>
          </p:nvPr>
        </p:nvSpPr>
        <p:spPr/>
        <p:txBody>
          <a:bodyPr/>
          <a:lstStyle/>
          <a:p>
            <a:fld id="{9516F5E9-A161-4F7E-8227-15CB11B54BE5}" type="datetimeFigureOut">
              <a:rPr lang="zh-TW" altLang="en-US" smtClean="0"/>
              <a:t>2019/4/2</a:t>
            </a:fld>
            <a:endParaRPr lang="zh-TW" altLang="en-US"/>
          </a:p>
        </p:txBody>
      </p:sp>
      <p:sp>
        <p:nvSpPr>
          <p:cNvPr id="4" name="頁尾版面配置區 3">
            <a:extLst>
              <a:ext uri="{FF2B5EF4-FFF2-40B4-BE49-F238E27FC236}">
                <a16:creationId xmlns:a16="http://schemas.microsoft.com/office/drawing/2014/main" id="{F8901214-6687-4452-BC6E-31C56AC80601}"/>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E8D80292-6BB7-4ADF-9ECD-60E137EBFBAA}"/>
              </a:ext>
            </a:extLst>
          </p:cNvPr>
          <p:cNvSpPr>
            <a:spLocks noGrp="1"/>
          </p:cNvSpPr>
          <p:nvPr>
            <p:ph type="sldNum" sz="quarter" idx="12"/>
          </p:nvPr>
        </p:nvSpPr>
        <p:spPr/>
        <p:txBody>
          <a:bodyPr/>
          <a:lstStyle/>
          <a:p>
            <a:fld id="{51CC637B-58DD-46A8-AF7F-A0A444BD02EC}" type="slidenum">
              <a:rPr lang="zh-TW" altLang="en-US" smtClean="0"/>
              <a:t>‹#›</a:t>
            </a:fld>
            <a:endParaRPr lang="zh-TW" altLang="en-US"/>
          </a:p>
        </p:txBody>
      </p:sp>
    </p:spTree>
    <p:extLst>
      <p:ext uri="{BB962C8B-B14F-4D97-AF65-F5344CB8AC3E}">
        <p14:creationId xmlns:p14="http://schemas.microsoft.com/office/powerpoint/2010/main" val="2515601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7443BF5F-86C6-434F-B7E0-6808B578AF98}"/>
              </a:ext>
            </a:extLst>
          </p:cNvPr>
          <p:cNvSpPr>
            <a:spLocks noGrp="1"/>
          </p:cNvSpPr>
          <p:nvPr>
            <p:ph type="dt" sz="half" idx="10"/>
          </p:nvPr>
        </p:nvSpPr>
        <p:spPr/>
        <p:txBody>
          <a:bodyPr/>
          <a:lstStyle/>
          <a:p>
            <a:fld id="{9516F5E9-A161-4F7E-8227-15CB11B54BE5}" type="datetimeFigureOut">
              <a:rPr lang="zh-TW" altLang="en-US" smtClean="0"/>
              <a:t>2019/4/2</a:t>
            </a:fld>
            <a:endParaRPr lang="zh-TW" altLang="en-US"/>
          </a:p>
        </p:txBody>
      </p:sp>
      <p:sp>
        <p:nvSpPr>
          <p:cNvPr id="3" name="頁尾版面配置區 2">
            <a:extLst>
              <a:ext uri="{FF2B5EF4-FFF2-40B4-BE49-F238E27FC236}">
                <a16:creationId xmlns:a16="http://schemas.microsoft.com/office/drawing/2014/main" id="{B3B3AD15-105B-4FC3-AC21-9641BDAC5832}"/>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27818F38-1B71-447F-9564-B81F209BA222}"/>
              </a:ext>
            </a:extLst>
          </p:cNvPr>
          <p:cNvSpPr>
            <a:spLocks noGrp="1"/>
          </p:cNvSpPr>
          <p:nvPr>
            <p:ph type="sldNum" sz="quarter" idx="12"/>
          </p:nvPr>
        </p:nvSpPr>
        <p:spPr/>
        <p:txBody>
          <a:bodyPr/>
          <a:lstStyle/>
          <a:p>
            <a:fld id="{51CC637B-58DD-46A8-AF7F-A0A444BD02EC}" type="slidenum">
              <a:rPr lang="zh-TW" altLang="en-US" smtClean="0"/>
              <a:t>‹#›</a:t>
            </a:fld>
            <a:endParaRPr lang="zh-TW" altLang="en-US"/>
          </a:p>
        </p:txBody>
      </p:sp>
    </p:spTree>
    <p:extLst>
      <p:ext uri="{BB962C8B-B14F-4D97-AF65-F5344CB8AC3E}">
        <p14:creationId xmlns:p14="http://schemas.microsoft.com/office/powerpoint/2010/main" val="7005041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9E71BDE-3C86-4D85-A91A-0C327B7E25D1}"/>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B57129F5-F019-4EBB-A25D-BEB2D17ABF8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E796812B-AE4D-44A9-BF5B-FFE96F39E47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3F166050-82C5-4644-9E42-83C5662F55E5}"/>
              </a:ext>
            </a:extLst>
          </p:cNvPr>
          <p:cNvSpPr>
            <a:spLocks noGrp="1"/>
          </p:cNvSpPr>
          <p:nvPr>
            <p:ph type="dt" sz="half" idx="10"/>
          </p:nvPr>
        </p:nvSpPr>
        <p:spPr/>
        <p:txBody>
          <a:bodyPr/>
          <a:lstStyle/>
          <a:p>
            <a:fld id="{9516F5E9-A161-4F7E-8227-15CB11B54BE5}" type="datetimeFigureOut">
              <a:rPr lang="zh-TW" altLang="en-US" smtClean="0"/>
              <a:t>2019/4/2</a:t>
            </a:fld>
            <a:endParaRPr lang="zh-TW" altLang="en-US"/>
          </a:p>
        </p:txBody>
      </p:sp>
      <p:sp>
        <p:nvSpPr>
          <p:cNvPr id="6" name="頁尾版面配置區 5">
            <a:extLst>
              <a:ext uri="{FF2B5EF4-FFF2-40B4-BE49-F238E27FC236}">
                <a16:creationId xmlns:a16="http://schemas.microsoft.com/office/drawing/2014/main" id="{DBEB40FC-9F77-4C91-B89E-EAC4E95418AD}"/>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E7FB4B68-3BDB-43EA-9E04-D8EAD722DC2B}"/>
              </a:ext>
            </a:extLst>
          </p:cNvPr>
          <p:cNvSpPr>
            <a:spLocks noGrp="1"/>
          </p:cNvSpPr>
          <p:nvPr>
            <p:ph type="sldNum" sz="quarter" idx="12"/>
          </p:nvPr>
        </p:nvSpPr>
        <p:spPr/>
        <p:txBody>
          <a:bodyPr/>
          <a:lstStyle/>
          <a:p>
            <a:fld id="{51CC637B-58DD-46A8-AF7F-A0A444BD02EC}" type="slidenum">
              <a:rPr lang="zh-TW" altLang="en-US" smtClean="0"/>
              <a:t>‹#›</a:t>
            </a:fld>
            <a:endParaRPr lang="zh-TW" altLang="en-US"/>
          </a:p>
        </p:txBody>
      </p:sp>
    </p:spTree>
    <p:extLst>
      <p:ext uri="{BB962C8B-B14F-4D97-AF65-F5344CB8AC3E}">
        <p14:creationId xmlns:p14="http://schemas.microsoft.com/office/powerpoint/2010/main" val="42894935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11580DA-6254-468B-9CFE-B25750B25D5D}"/>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F957F645-620B-4A08-BA0C-2941F4D860D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45F39D3C-E300-49A2-976B-E6CD983C7F5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25388065-1E1B-41E6-9E04-08417E9CA9F7}"/>
              </a:ext>
            </a:extLst>
          </p:cNvPr>
          <p:cNvSpPr>
            <a:spLocks noGrp="1"/>
          </p:cNvSpPr>
          <p:nvPr>
            <p:ph type="dt" sz="half" idx="10"/>
          </p:nvPr>
        </p:nvSpPr>
        <p:spPr/>
        <p:txBody>
          <a:bodyPr/>
          <a:lstStyle/>
          <a:p>
            <a:fld id="{9516F5E9-A161-4F7E-8227-15CB11B54BE5}" type="datetimeFigureOut">
              <a:rPr lang="zh-TW" altLang="en-US" smtClean="0"/>
              <a:t>2019/4/2</a:t>
            </a:fld>
            <a:endParaRPr lang="zh-TW" altLang="en-US"/>
          </a:p>
        </p:txBody>
      </p:sp>
      <p:sp>
        <p:nvSpPr>
          <p:cNvPr id="6" name="頁尾版面配置區 5">
            <a:extLst>
              <a:ext uri="{FF2B5EF4-FFF2-40B4-BE49-F238E27FC236}">
                <a16:creationId xmlns:a16="http://schemas.microsoft.com/office/drawing/2014/main" id="{B2B2ADC8-34C8-40FF-8AE6-3F1CC0C990A4}"/>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B9EA9464-CACA-4A71-86D7-9E2C9D08CA4D}"/>
              </a:ext>
            </a:extLst>
          </p:cNvPr>
          <p:cNvSpPr>
            <a:spLocks noGrp="1"/>
          </p:cNvSpPr>
          <p:nvPr>
            <p:ph type="sldNum" sz="quarter" idx="12"/>
          </p:nvPr>
        </p:nvSpPr>
        <p:spPr/>
        <p:txBody>
          <a:bodyPr/>
          <a:lstStyle/>
          <a:p>
            <a:fld id="{51CC637B-58DD-46A8-AF7F-A0A444BD02EC}" type="slidenum">
              <a:rPr lang="zh-TW" altLang="en-US" smtClean="0"/>
              <a:t>‹#›</a:t>
            </a:fld>
            <a:endParaRPr lang="zh-TW" altLang="en-US"/>
          </a:p>
        </p:txBody>
      </p:sp>
    </p:spTree>
    <p:extLst>
      <p:ext uri="{BB962C8B-B14F-4D97-AF65-F5344CB8AC3E}">
        <p14:creationId xmlns:p14="http://schemas.microsoft.com/office/powerpoint/2010/main" val="34268674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FFF4E2B-6B0C-4896-BC2F-11BE3B9087E2}"/>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D501112A-1FBE-4682-B37E-A328CB3A77DD}"/>
              </a:ext>
            </a:extLst>
          </p:cNvPr>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D137BC29-3592-4F0B-A50C-9655C9B6AB90}"/>
              </a:ext>
            </a:extLst>
          </p:cNvPr>
          <p:cNvSpPr>
            <a:spLocks noGrp="1"/>
          </p:cNvSpPr>
          <p:nvPr>
            <p:ph type="dt" sz="half" idx="10"/>
          </p:nvPr>
        </p:nvSpPr>
        <p:spPr/>
        <p:txBody>
          <a:bodyPr/>
          <a:lstStyle/>
          <a:p>
            <a:fld id="{9516F5E9-A161-4F7E-8227-15CB11B54BE5}" type="datetimeFigureOut">
              <a:rPr lang="zh-TW" altLang="en-US" smtClean="0"/>
              <a:t>2019/4/2</a:t>
            </a:fld>
            <a:endParaRPr lang="zh-TW" altLang="en-US"/>
          </a:p>
        </p:txBody>
      </p:sp>
      <p:sp>
        <p:nvSpPr>
          <p:cNvPr id="5" name="頁尾版面配置區 4">
            <a:extLst>
              <a:ext uri="{FF2B5EF4-FFF2-40B4-BE49-F238E27FC236}">
                <a16:creationId xmlns:a16="http://schemas.microsoft.com/office/drawing/2014/main" id="{7B9A55B6-82BB-4FB0-A273-AD7C1DC78438}"/>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932C7894-3FCD-414D-9BB4-7847CA2FA1FD}"/>
              </a:ext>
            </a:extLst>
          </p:cNvPr>
          <p:cNvSpPr>
            <a:spLocks noGrp="1"/>
          </p:cNvSpPr>
          <p:nvPr>
            <p:ph type="sldNum" sz="quarter" idx="12"/>
          </p:nvPr>
        </p:nvSpPr>
        <p:spPr/>
        <p:txBody>
          <a:bodyPr/>
          <a:lstStyle/>
          <a:p>
            <a:fld id="{51CC637B-58DD-46A8-AF7F-A0A444BD02EC}" type="slidenum">
              <a:rPr lang="zh-TW" altLang="en-US" smtClean="0"/>
              <a:t>‹#›</a:t>
            </a:fld>
            <a:endParaRPr lang="zh-TW" altLang="en-US"/>
          </a:p>
        </p:txBody>
      </p:sp>
    </p:spTree>
    <p:extLst>
      <p:ext uri="{BB962C8B-B14F-4D97-AF65-F5344CB8AC3E}">
        <p14:creationId xmlns:p14="http://schemas.microsoft.com/office/powerpoint/2010/main" val="27725023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2E544434-5D2F-4B0D-9ED1-56B4D4FE9BDF}"/>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CDCC4A77-67E4-42D7-930B-28BC9A0B9E4D}"/>
              </a:ext>
            </a:extLst>
          </p:cNvPr>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1E0AC741-A57F-4A06-BBBA-E770840299E1}"/>
              </a:ext>
            </a:extLst>
          </p:cNvPr>
          <p:cNvSpPr>
            <a:spLocks noGrp="1"/>
          </p:cNvSpPr>
          <p:nvPr>
            <p:ph type="dt" sz="half" idx="10"/>
          </p:nvPr>
        </p:nvSpPr>
        <p:spPr/>
        <p:txBody>
          <a:bodyPr/>
          <a:lstStyle/>
          <a:p>
            <a:fld id="{9516F5E9-A161-4F7E-8227-15CB11B54BE5}" type="datetimeFigureOut">
              <a:rPr lang="zh-TW" altLang="en-US" smtClean="0"/>
              <a:t>2019/4/2</a:t>
            </a:fld>
            <a:endParaRPr lang="zh-TW" altLang="en-US"/>
          </a:p>
        </p:txBody>
      </p:sp>
      <p:sp>
        <p:nvSpPr>
          <p:cNvPr id="5" name="頁尾版面配置區 4">
            <a:extLst>
              <a:ext uri="{FF2B5EF4-FFF2-40B4-BE49-F238E27FC236}">
                <a16:creationId xmlns:a16="http://schemas.microsoft.com/office/drawing/2014/main" id="{CCB7C003-D59F-45CF-A10A-EBBFB156E443}"/>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3251B9BD-6658-4E84-971B-BFC05738DB56}"/>
              </a:ext>
            </a:extLst>
          </p:cNvPr>
          <p:cNvSpPr>
            <a:spLocks noGrp="1"/>
          </p:cNvSpPr>
          <p:nvPr>
            <p:ph type="sldNum" sz="quarter" idx="12"/>
          </p:nvPr>
        </p:nvSpPr>
        <p:spPr/>
        <p:txBody>
          <a:bodyPr/>
          <a:lstStyle/>
          <a:p>
            <a:fld id="{51CC637B-58DD-46A8-AF7F-A0A444BD02EC}" type="slidenum">
              <a:rPr lang="zh-TW" altLang="en-US" smtClean="0"/>
              <a:t>‹#›</a:t>
            </a:fld>
            <a:endParaRPr lang="zh-TW" altLang="en-US"/>
          </a:p>
        </p:txBody>
      </p:sp>
    </p:spTree>
    <p:extLst>
      <p:ext uri="{BB962C8B-B14F-4D97-AF65-F5344CB8AC3E}">
        <p14:creationId xmlns:p14="http://schemas.microsoft.com/office/powerpoint/2010/main" val="3163037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CD5D394F-0282-4C9F-8398-410567349DC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182102D4-0F3D-47CB-AA62-F36DB98E4BE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66871246-AE1D-4613-995F-569583A45EC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516F5E9-A161-4F7E-8227-15CB11B54BE5}" type="datetimeFigureOut">
              <a:rPr lang="zh-TW" altLang="en-US" smtClean="0"/>
              <a:t>2019/4/2</a:t>
            </a:fld>
            <a:endParaRPr lang="zh-TW" altLang="en-US"/>
          </a:p>
        </p:txBody>
      </p:sp>
      <p:sp>
        <p:nvSpPr>
          <p:cNvPr id="5" name="頁尾版面配置區 4">
            <a:extLst>
              <a:ext uri="{FF2B5EF4-FFF2-40B4-BE49-F238E27FC236}">
                <a16:creationId xmlns:a16="http://schemas.microsoft.com/office/drawing/2014/main" id="{C3A19071-CFE5-4F2F-9F76-8900809E78B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74224D7B-415F-4E25-A807-CEE7D9CD273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CC637B-58DD-46A8-AF7F-A0A444BD02EC}" type="slidenum">
              <a:rPr lang="zh-TW" altLang="en-US" smtClean="0"/>
              <a:t>‹#›</a:t>
            </a:fld>
            <a:endParaRPr lang="zh-TW" altLang="en-US"/>
          </a:p>
        </p:txBody>
      </p:sp>
    </p:spTree>
    <p:extLst>
      <p:ext uri="{BB962C8B-B14F-4D97-AF65-F5344CB8AC3E}">
        <p14:creationId xmlns:p14="http://schemas.microsoft.com/office/powerpoint/2010/main" val="36184323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075B0156-9AD4-4A08-8BF7-F7E716BC2005}"/>
              </a:ext>
            </a:extLst>
          </p:cNvPr>
          <p:cNvSpPr/>
          <p:nvPr/>
        </p:nvSpPr>
        <p:spPr>
          <a:xfrm>
            <a:off x="509953" y="468142"/>
            <a:ext cx="11315700" cy="2862322"/>
          </a:xfrm>
          <a:prstGeom prst="rect">
            <a:avLst/>
          </a:prstGeom>
        </p:spPr>
        <p:txBody>
          <a:bodyPr wrap="square">
            <a:spAutoFit/>
          </a:bodyPr>
          <a:lstStyle/>
          <a:p>
            <a:pPr algn="ctr"/>
            <a:r>
              <a:rPr lang="en-US" altLang="zh-TW" sz="6000" dirty="0"/>
              <a:t>Dropout: A Simple Way to Prevent Neural Networks from Overﬁtting</a:t>
            </a:r>
          </a:p>
          <a:p>
            <a:pPr algn="ctr"/>
            <a:r>
              <a:rPr lang="en-US" altLang="zh-TW" sz="6000" dirty="0"/>
              <a:t> </a:t>
            </a:r>
            <a:endParaRPr lang="zh-TW" altLang="en-US" dirty="0"/>
          </a:p>
        </p:txBody>
      </p:sp>
      <p:sp>
        <p:nvSpPr>
          <p:cNvPr id="3" name="矩形 2">
            <a:extLst>
              <a:ext uri="{FF2B5EF4-FFF2-40B4-BE49-F238E27FC236}">
                <a16:creationId xmlns:a16="http://schemas.microsoft.com/office/drawing/2014/main" id="{4F253964-4333-4642-9684-0AEB002C9A3E}"/>
              </a:ext>
            </a:extLst>
          </p:cNvPr>
          <p:cNvSpPr/>
          <p:nvPr/>
        </p:nvSpPr>
        <p:spPr>
          <a:xfrm>
            <a:off x="669697" y="3040754"/>
            <a:ext cx="11315700" cy="461665"/>
          </a:xfrm>
          <a:prstGeom prst="rect">
            <a:avLst/>
          </a:prstGeom>
        </p:spPr>
        <p:txBody>
          <a:bodyPr wrap="square">
            <a:spAutoFit/>
          </a:bodyPr>
          <a:lstStyle/>
          <a:p>
            <a:r>
              <a:rPr lang="en-US" altLang="zh-TW" sz="2400" dirty="0"/>
              <a:t>Nitish Srivastava, Geoﬀrey Hinton, Alex </a:t>
            </a:r>
            <a:r>
              <a:rPr lang="en-US" altLang="zh-TW" sz="2400" dirty="0" err="1"/>
              <a:t>Krizhevsky</a:t>
            </a:r>
            <a:r>
              <a:rPr lang="en-US" altLang="zh-TW" sz="2400" dirty="0"/>
              <a:t>, Ilya </a:t>
            </a:r>
            <a:r>
              <a:rPr lang="en-US" altLang="zh-TW" sz="2400" dirty="0" err="1"/>
              <a:t>Sutskever</a:t>
            </a:r>
            <a:r>
              <a:rPr lang="en-US" altLang="zh-TW" sz="2400" dirty="0"/>
              <a:t>, Ruslan </a:t>
            </a:r>
            <a:r>
              <a:rPr lang="en-US" altLang="zh-TW" sz="2400" dirty="0" err="1"/>
              <a:t>Salakhutdinov</a:t>
            </a:r>
            <a:endParaRPr lang="zh-TW" altLang="en-US" sz="2400" dirty="0"/>
          </a:p>
        </p:txBody>
      </p:sp>
      <p:sp>
        <p:nvSpPr>
          <p:cNvPr id="4" name="矩形 3">
            <a:extLst>
              <a:ext uri="{FF2B5EF4-FFF2-40B4-BE49-F238E27FC236}">
                <a16:creationId xmlns:a16="http://schemas.microsoft.com/office/drawing/2014/main" id="{86AD574A-1A01-44E2-AA65-BEB4B4206B23}"/>
              </a:ext>
            </a:extLst>
          </p:cNvPr>
          <p:cNvSpPr/>
          <p:nvPr/>
        </p:nvSpPr>
        <p:spPr>
          <a:xfrm>
            <a:off x="1655731" y="3990910"/>
            <a:ext cx="8850141" cy="830997"/>
          </a:xfrm>
          <a:prstGeom prst="rect">
            <a:avLst/>
          </a:prstGeom>
        </p:spPr>
        <p:txBody>
          <a:bodyPr wrap="square">
            <a:spAutoFit/>
          </a:bodyPr>
          <a:lstStyle/>
          <a:p>
            <a:r>
              <a:rPr lang="en-US" altLang="zh-TW" sz="2400" dirty="0">
                <a:latin typeface="Lucida Grande"/>
              </a:rPr>
              <a:t>Journal of Machine Learning Research </a:t>
            </a:r>
            <a:r>
              <a:rPr lang="en-US" altLang="zh-TW" sz="2400" dirty="0"/>
              <a:t>15(Jun):1929−1958, 2014.</a:t>
            </a:r>
            <a:endParaRPr lang="en-US" altLang="zh-TW" sz="2400" dirty="0">
              <a:latin typeface="Lucida Grande"/>
            </a:endParaRPr>
          </a:p>
          <a:p>
            <a:endParaRPr lang="en-US" altLang="zh-TW" sz="2400" dirty="0">
              <a:latin typeface="Lucida Grande"/>
            </a:endParaRPr>
          </a:p>
        </p:txBody>
      </p:sp>
      <p:sp>
        <p:nvSpPr>
          <p:cNvPr id="5" name="矩形 4">
            <a:extLst>
              <a:ext uri="{FF2B5EF4-FFF2-40B4-BE49-F238E27FC236}">
                <a16:creationId xmlns:a16="http://schemas.microsoft.com/office/drawing/2014/main" id="{E8029974-43D5-45D0-B929-5463BA243FDA}"/>
              </a:ext>
            </a:extLst>
          </p:cNvPr>
          <p:cNvSpPr/>
          <p:nvPr/>
        </p:nvSpPr>
        <p:spPr>
          <a:xfrm>
            <a:off x="8541786" y="5883852"/>
            <a:ext cx="6096000" cy="646331"/>
          </a:xfrm>
          <a:prstGeom prst="rect">
            <a:avLst/>
          </a:prstGeom>
        </p:spPr>
        <p:txBody>
          <a:bodyPr>
            <a:spAutoFit/>
          </a:bodyPr>
          <a:lstStyle/>
          <a:p>
            <a:r>
              <a:rPr lang="en-US" altLang="zh-TW" dirty="0">
                <a:latin typeface="Times New Roman" panose="02020603050405020304" pitchFamily="18" charset="0"/>
                <a:cs typeface="Times New Roman" panose="02020603050405020304" pitchFamily="18" charset="0"/>
              </a:rPr>
              <a:t>Presenter : Chia-Lin, Chen</a:t>
            </a:r>
          </a:p>
          <a:p>
            <a:r>
              <a:rPr lang="en-US" altLang="zh-TW" dirty="0">
                <a:latin typeface="Times New Roman" panose="02020603050405020304" pitchFamily="18" charset="0"/>
                <a:cs typeface="Times New Roman" panose="02020603050405020304" pitchFamily="18" charset="0"/>
              </a:rPr>
              <a:t>April 2, 2019</a:t>
            </a:r>
          </a:p>
        </p:txBody>
      </p:sp>
    </p:spTree>
    <p:extLst>
      <p:ext uri="{BB962C8B-B14F-4D97-AF65-F5344CB8AC3E}">
        <p14:creationId xmlns:p14="http://schemas.microsoft.com/office/powerpoint/2010/main" val="26017680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5C741B37-929F-4A16-98E0-CF0057ADE5BD}"/>
              </a:ext>
            </a:extLst>
          </p:cNvPr>
          <p:cNvSpPr/>
          <p:nvPr/>
        </p:nvSpPr>
        <p:spPr>
          <a:xfrm>
            <a:off x="981807" y="694069"/>
            <a:ext cx="8294078" cy="3970318"/>
          </a:xfrm>
          <a:prstGeom prst="rect">
            <a:avLst/>
          </a:prstGeom>
        </p:spPr>
        <p:txBody>
          <a:bodyPr wrap="square">
            <a:spAutoFit/>
          </a:bodyPr>
          <a:lstStyle/>
          <a:p>
            <a:r>
              <a:rPr lang="zh-TW" altLang="en-US" sz="3600" dirty="0"/>
              <a:t>Abstract</a:t>
            </a:r>
            <a:r>
              <a:rPr lang="en-US" altLang="zh-TW" sz="3600" dirty="0"/>
              <a:t>(1/2)</a:t>
            </a:r>
          </a:p>
          <a:p>
            <a:r>
              <a:rPr lang="en-US" altLang="zh-TW" sz="2400" dirty="0"/>
              <a:t>Deep neural nets with a large number of parameters are very powerful machine learning systems. However, overﬁtting is a serious problem in such networks. Large networks are also slow to use, making it diﬃcult to deal with overﬁtting by combining the predictions of many diﬀerent large neural nets at test time.</a:t>
            </a:r>
          </a:p>
          <a:p>
            <a:r>
              <a:rPr lang="en-US" altLang="zh-TW" sz="2400" dirty="0"/>
              <a:t>Dropout is a technique for addressing this problem. The key idea is to randomly drop units (along with their connections) from the neural network during training. This prevents units from co-adapting too much. </a:t>
            </a:r>
            <a:endParaRPr lang="zh-TW" altLang="en-US" sz="2400" dirty="0"/>
          </a:p>
        </p:txBody>
      </p:sp>
    </p:spTree>
    <p:extLst>
      <p:ext uri="{BB962C8B-B14F-4D97-AF65-F5344CB8AC3E}">
        <p14:creationId xmlns:p14="http://schemas.microsoft.com/office/powerpoint/2010/main" val="3981288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8D921DB7-10DD-4E80-A357-35944853BC31}"/>
              </a:ext>
            </a:extLst>
          </p:cNvPr>
          <p:cNvSpPr/>
          <p:nvPr/>
        </p:nvSpPr>
        <p:spPr>
          <a:xfrm>
            <a:off x="823545" y="720696"/>
            <a:ext cx="8311663" cy="4339650"/>
          </a:xfrm>
          <a:prstGeom prst="rect">
            <a:avLst/>
          </a:prstGeom>
        </p:spPr>
        <p:txBody>
          <a:bodyPr wrap="square">
            <a:spAutoFit/>
          </a:bodyPr>
          <a:lstStyle/>
          <a:p>
            <a:r>
              <a:rPr lang="zh-TW" altLang="en-US" sz="3600" dirty="0"/>
              <a:t>Abstract</a:t>
            </a:r>
            <a:r>
              <a:rPr lang="en-US" altLang="zh-TW" sz="3600" dirty="0"/>
              <a:t>(2/2)</a:t>
            </a:r>
          </a:p>
          <a:p>
            <a:r>
              <a:rPr lang="en-US" altLang="zh-TW" sz="2400" dirty="0"/>
              <a:t>During training, dropout samples from an exponential number of diﬀerent “thinned” networks. At test time, it is easy to approximate the eﬀect of averaging the predictions of all these thinned networks by simply using a single </a:t>
            </a:r>
            <a:r>
              <a:rPr lang="en-US" altLang="zh-TW" sz="2400" dirty="0" err="1"/>
              <a:t>unthinned</a:t>
            </a:r>
            <a:r>
              <a:rPr lang="en-US" altLang="zh-TW" sz="2400" dirty="0"/>
              <a:t> network that has smaller weights. This signiﬁcantly reduces overﬁtting and gives major improvements over other regularization methods. We show that dropout improves the performance of neural networks on supervised learning tasks in vision, speech recognition, document classiﬁcation and computational biology, obtaining state-of-the-art results on many benchmark data sets.</a:t>
            </a:r>
            <a:endParaRPr lang="zh-TW" altLang="en-US" sz="2400" dirty="0"/>
          </a:p>
        </p:txBody>
      </p:sp>
    </p:spTree>
    <p:extLst>
      <p:ext uri="{BB962C8B-B14F-4D97-AF65-F5344CB8AC3E}">
        <p14:creationId xmlns:p14="http://schemas.microsoft.com/office/powerpoint/2010/main" val="30099736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a:extLst>
              <a:ext uri="{FF2B5EF4-FFF2-40B4-BE49-F238E27FC236}">
                <a16:creationId xmlns:a16="http://schemas.microsoft.com/office/drawing/2014/main" id="{2298D56C-5267-452E-84D2-709F5BECBF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3113" y="710858"/>
            <a:ext cx="9877799" cy="4722991"/>
          </a:xfrm>
          <a:prstGeom prst="rect">
            <a:avLst/>
          </a:prstGeom>
        </p:spPr>
      </p:pic>
    </p:spTree>
    <p:extLst>
      <p:ext uri="{BB962C8B-B14F-4D97-AF65-F5344CB8AC3E}">
        <p14:creationId xmlns:p14="http://schemas.microsoft.com/office/powerpoint/2010/main" val="42011618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a:extLst>
              <a:ext uri="{FF2B5EF4-FFF2-40B4-BE49-F238E27FC236}">
                <a16:creationId xmlns:a16="http://schemas.microsoft.com/office/drawing/2014/main" id="{EBDF657C-0D8F-4E44-8D13-2943D9AC56D7}"/>
              </a:ext>
            </a:extLst>
          </p:cNvPr>
          <p:cNvSpPr txBox="1"/>
          <p:nvPr/>
        </p:nvSpPr>
        <p:spPr>
          <a:xfrm>
            <a:off x="485375" y="421084"/>
            <a:ext cx="11496417" cy="5632311"/>
          </a:xfrm>
          <a:prstGeom prst="rect">
            <a:avLst/>
          </a:prstGeom>
          <a:noFill/>
        </p:spPr>
        <p:txBody>
          <a:bodyPr wrap="square" rtlCol="0">
            <a:spAutoFit/>
          </a:bodyPr>
          <a:lstStyle/>
          <a:p>
            <a:r>
              <a:rPr lang="en-US" altLang="zh-TW" sz="3600" dirty="0"/>
              <a:t>Motivation(1/2)</a:t>
            </a:r>
          </a:p>
          <a:p>
            <a:endParaRPr lang="en-US" altLang="zh-TW" sz="3600" dirty="0"/>
          </a:p>
          <a:p>
            <a:r>
              <a:rPr lang="en-US" altLang="zh-TW" sz="2400" dirty="0"/>
              <a:t>“A motivation for dropout comes from a theory of the role of sex in evolution.”</a:t>
            </a:r>
          </a:p>
          <a:p>
            <a:endParaRPr lang="en-US" altLang="zh-TW" sz="2400" dirty="0"/>
          </a:p>
          <a:p>
            <a:r>
              <a:rPr lang="en-US" altLang="zh-TW" sz="2400" dirty="0"/>
              <a:t>“Sexual reproduction involves taking half the genes of one parent and half of the other, adding a very small amount of random mutation, and combining them to produce an offspring. “</a:t>
            </a:r>
          </a:p>
          <a:p>
            <a:endParaRPr lang="en-US" altLang="zh-TW" sz="2400" dirty="0"/>
          </a:p>
          <a:p>
            <a:r>
              <a:rPr lang="en-US" altLang="zh-TW" sz="2400" dirty="0"/>
              <a:t>“Since a gene cannot rely on a large set of partners to be present at all times, it must learn to do something useful on its own or in collaboration with a small number of other genes. According to this theory, the role of sexual reproduction is not just to allow useful new genes to spread throughout the population, but also to facilitate this process by reducing complex co-adaptations that would reduce the chance of a new gene improving the ﬁtness of an individual.”</a:t>
            </a:r>
            <a:endParaRPr lang="zh-TW" altLang="en-US" sz="2400" dirty="0"/>
          </a:p>
        </p:txBody>
      </p:sp>
    </p:spTree>
    <p:extLst>
      <p:ext uri="{BB962C8B-B14F-4D97-AF65-F5344CB8AC3E}">
        <p14:creationId xmlns:p14="http://schemas.microsoft.com/office/powerpoint/2010/main" val="28646520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a:extLst>
              <a:ext uri="{FF2B5EF4-FFF2-40B4-BE49-F238E27FC236}">
                <a16:creationId xmlns:a16="http://schemas.microsoft.com/office/drawing/2014/main" id="{0D710B46-606A-4B84-BB79-B54EADC1D0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83277" y="209953"/>
            <a:ext cx="6336508" cy="6438095"/>
          </a:xfrm>
          <a:prstGeom prst="rect">
            <a:avLst/>
          </a:prstGeom>
        </p:spPr>
      </p:pic>
      <p:sp>
        <p:nvSpPr>
          <p:cNvPr id="6" name="矩形 5">
            <a:extLst>
              <a:ext uri="{FF2B5EF4-FFF2-40B4-BE49-F238E27FC236}">
                <a16:creationId xmlns:a16="http://schemas.microsoft.com/office/drawing/2014/main" id="{1D6CB0A3-2D62-4F1F-99A1-4235284DDEBD}"/>
              </a:ext>
            </a:extLst>
          </p:cNvPr>
          <p:cNvSpPr/>
          <p:nvPr/>
        </p:nvSpPr>
        <p:spPr>
          <a:xfrm>
            <a:off x="462700" y="504242"/>
            <a:ext cx="3171253" cy="646331"/>
          </a:xfrm>
          <a:prstGeom prst="rect">
            <a:avLst/>
          </a:prstGeom>
        </p:spPr>
        <p:txBody>
          <a:bodyPr wrap="none">
            <a:spAutoFit/>
          </a:bodyPr>
          <a:lstStyle/>
          <a:p>
            <a:r>
              <a:rPr lang="en-US" altLang="zh-TW" sz="3600"/>
              <a:t>Motivation(2/2</a:t>
            </a:r>
            <a:r>
              <a:rPr lang="en-US" altLang="zh-TW" sz="3600" dirty="0"/>
              <a:t>)</a:t>
            </a:r>
          </a:p>
        </p:txBody>
      </p:sp>
    </p:spTree>
    <p:extLst>
      <p:ext uri="{BB962C8B-B14F-4D97-AF65-F5344CB8AC3E}">
        <p14:creationId xmlns:p14="http://schemas.microsoft.com/office/powerpoint/2010/main" val="28120042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B47C348C-5E6A-4A56-882B-6B95269851B5}"/>
              </a:ext>
            </a:extLst>
          </p:cNvPr>
          <p:cNvSpPr/>
          <p:nvPr/>
        </p:nvSpPr>
        <p:spPr>
          <a:xfrm>
            <a:off x="442283" y="290927"/>
            <a:ext cx="3632854" cy="646331"/>
          </a:xfrm>
          <a:prstGeom prst="rect">
            <a:avLst/>
          </a:prstGeom>
        </p:spPr>
        <p:txBody>
          <a:bodyPr wrap="none">
            <a:spAutoFit/>
          </a:bodyPr>
          <a:lstStyle/>
          <a:p>
            <a:r>
              <a:rPr lang="en-US" altLang="zh-TW" sz="3600" dirty="0"/>
              <a:t>Related Work(1/2)</a:t>
            </a:r>
            <a:endParaRPr lang="zh-TW" altLang="en-US" sz="3600" dirty="0"/>
          </a:p>
        </p:txBody>
      </p:sp>
      <p:sp>
        <p:nvSpPr>
          <p:cNvPr id="3" name="矩形 2">
            <a:extLst>
              <a:ext uri="{FF2B5EF4-FFF2-40B4-BE49-F238E27FC236}">
                <a16:creationId xmlns:a16="http://schemas.microsoft.com/office/drawing/2014/main" id="{666D50CE-FC57-4BCE-930C-C80CB6112892}"/>
              </a:ext>
            </a:extLst>
          </p:cNvPr>
          <p:cNvSpPr/>
          <p:nvPr/>
        </p:nvSpPr>
        <p:spPr>
          <a:xfrm>
            <a:off x="442283" y="937258"/>
            <a:ext cx="11255731" cy="5539978"/>
          </a:xfrm>
          <a:prstGeom prst="rect">
            <a:avLst/>
          </a:prstGeom>
        </p:spPr>
        <p:txBody>
          <a:bodyPr wrap="square">
            <a:spAutoFit/>
          </a:bodyPr>
          <a:lstStyle/>
          <a:p>
            <a:r>
              <a:rPr lang="en-US" altLang="zh-TW" sz="2400" dirty="0"/>
              <a:t>“</a:t>
            </a:r>
            <a:r>
              <a:rPr lang="zh-TW" altLang="en-US" sz="2400" dirty="0"/>
              <a:t>Dropout can be interpreted as a way of regularizing a neural network by adding noise to its hidden units</a:t>
            </a:r>
            <a:r>
              <a:rPr lang="en-US" altLang="zh-TW" sz="2400" dirty="0"/>
              <a:t>, this idea is from (DAEs) by Vincent et al. (2008, 2010) where noise is added to the input units of an autoencoder and the network is trained to reconstruct the noise-free input.”</a:t>
            </a:r>
          </a:p>
          <a:p>
            <a:endParaRPr lang="en-US" altLang="zh-TW" sz="2400" dirty="0"/>
          </a:p>
          <a:p>
            <a:r>
              <a:rPr lang="en-US" altLang="zh-TW" sz="2400" dirty="0"/>
              <a:t>“Our work extends this idea by showing that dropout can be eﬀectively applied in the hidden layers as well and that it can be interpreted as a form of model averaging.”</a:t>
            </a:r>
          </a:p>
          <a:p>
            <a:endParaRPr lang="en-US" altLang="zh-TW" sz="2400" dirty="0"/>
          </a:p>
          <a:p>
            <a:r>
              <a:rPr lang="en-US" altLang="zh-TW" sz="2400" dirty="0"/>
              <a:t>“We also show that adding noise is not only useful for unsupervised feature learning but can also be extended to supervised learning </a:t>
            </a:r>
            <a:r>
              <a:rPr lang="en-US" altLang="zh-TW" sz="2400" dirty="0" err="1"/>
              <a:t>problems.In</a:t>
            </a:r>
            <a:r>
              <a:rPr lang="en-US" altLang="zh-TW" sz="2400" dirty="0"/>
              <a:t> fact, our method can be applied to other neuron-based architectures, for example, Boltzmann Machines.”</a:t>
            </a:r>
          </a:p>
          <a:p>
            <a:endParaRPr lang="en-US" altLang="zh-TW" sz="2400" dirty="0"/>
          </a:p>
          <a:p>
            <a:r>
              <a:rPr lang="en-US" altLang="zh-TW" sz="2400" dirty="0"/>
              <a:t>“While 5% noise typically works best for DAEs, we found that  dropping out 20% of the input units and 50% of the hidden units was often found to be optimal.”</a:t>
            </a:r>
          </a:p>
          <a:p>
            <a:endParaRPr lang="zh-TW" altLang="en-US" dirty="0"/>
          </a:p>
        </p:txBody>
      </p:sp>
    </p:spTree>
    <p:extLst>
      <p:ext uri="{BB962C8B-B14F-4D97-AF65-F5344CB8AC3E}">
        <p14:creationId xmlns:p14="http://schemas.microsoft.com/office/powerpoint/2010/main" val="8917593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7637558E-A05E-474E-9910-A918E0AB85E6}"/>
              </a:ext>
            </a:extLst>
          </p:cNvPr>
          <p:cNvSpPr/>
          <p:nvPr/>
        </p:nvSpPr>
        <p:spPr>
          <a:xfrm>
            <a:off x="682813" y="375010"/>
            <a:ext cx="3632854" cy="646331"/>
          </a:xfrm>
          <a:prstGeom prst="rect">
            <a:avLst/>
          </a:prstGeom>
        </p:spPr>
        <p:txBody>
          <a:bodyPr wrap="none">
            <a:spAutoFit/>
          </a:bodyPr>
          <a:lstStyle/>
          <a:p>
            <a:r>
              <a:rPr lang="en-US" altLang="zh-TW" sz="3600" dirty="0"/>
              <a:t>Related Work(2/2)</a:t>
            </a:r>
            <a:endParaRPr lang="zh-TW" altLang="en-US" sz="3600" dirty="0"/>
          </a:p>
        </p:txBody>
      </p:sp>
      <p:sp>
        <p:nvSpPr>
          <p:cNvPr id="3" name="矩形 2">
            <a:extLst>
              <a:ext uri="{FF2B5EF4-FFF2-40B4-BE49-F238E27FC236}">
                <a16:creationId xmlns:a16="http://schemas.microsoft.com/office/drawing/2014/main" id="{5E742481-853D-4514-BC72-ACD03B0C04DE}"/>
              </a:ext>
            </a:extLst>
          </p:cNvPr>
          <p:cNvSpPr/>
          <p:nvPr/>
        </p:nvSpPr>
        <p:spPr>
          <a:xfrm>
            <a:off x="882869" y="1317210"/>
            <a:ext cx="10909738" cy="4524315"/>
          </a:xfrm>
          <a:prstGeom prst="rect">
            <a:avLst/>
          </a:prstGeom>
        </p:spPr>
        <p:txBody>
          <a:bodyPr wrap="square">
            <a:spAutoFit/>
          </a:bodyPr>
          <a:lstStyle/>
          <a:p>
            <a:r>
              <a:rPr lang="en-US" altLang="zh-TW" sz="2400" dirty="0"/>
              <a:t>“In this paper, we show that, in simple cases, dropout can be analytically marginalized out to obtain deterministic regularization methods. “</a:t>
            </a:r>
          </a:p>
          <a:p>
            <a:endParaRPr lang="en-US" altLang="zh-TW" sz="2400" dirty="0"/>
          </a:p>
          <a:p>
            <a:r>
              <a:rPr lang="en-US" altLang="zh-TW" sz="2400" dirty="0"/>
              <a:t>“Recently, van der </a:t>
            </a:r>
            <a:r>
              <a:rPr lang="en-US" altLang="zh-TW" sz="2400" dirty="0" err="1"/>
              <a:t>Maaten</a:t>
            </a:r>
            <a:r>
              <a:rPr lang="en-US" altLang="zh-TW" sz="2400" dirty="0"/>
              <a:t> et al. (2013) also explored deterministic </a:t>
            </a:r>
            <a:r>
              <a:rPr lang="en-US" altLang="zh-TW" sz="2400" dirty="0" err="1"/>
              <a:t>regularizers</a:t>
            </a:r>
            <a:r>
              <a:rPr lang="en-US" altLang="zh-TW" sz="2400" dirty="0"/>
              <a:t> corresponding to different exponential-family noise distributions, including dropout (which they refer to as “</a:t>
            </a:r>
            <a:r>
              <a:rPr lang="en-US" altLang="zh-TW" sz="2400" dirty="0" err="1"/>
              <a:t>blankout</a:t>
            </a:r>
            <a:r>
              <a:rPr lang="en-US" altLang="zh-TW" sz="2400" dirty="0"/>
              <a:t> noise”). However, they apply noise to the inputs and only explore models with no hidden layers.”</a:t>
            </a:r>
          </a:p>
          <a:p>
            <a:endParaRPr lang="en-US" altLang="zh-TW" sz="2400" dirty="0"/>
          </a:p>
          <a:p>
            <a:r>
              <a:rPr lang="en-US" altLang="zh-TW" sz="2400" dirty="0"/>
              <a:t>“In dropout, we minimize the loss function stochastically under a noise distribution. This can be seen as minimizing an expected loss function”</a:t>
            </a:r>
          </a:p>
          <a:p>
            <a:endParaRPr lang="en-US" altLang="zh-TW" sz="2400" dirty="0"/>
          </a:p>
          <a:p>
            <a:endParaRPr lang="zh-TW" altLang="en-US" sz="2400" dirty="0"/>
          </a:p>
        </p:txBody>
      </p:sp>
    </p:spTree>
    <p:extLst>
      <p:ext uri="{BB962C8B-B14F-4D97-AF65-F5344CB8AC3E}">
        <p14:creationId xmlns:p14="http://schemas.microsoft.com/office/powerpoint/2010/main" val="30620491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a:extLst>
              <a:ext uri="{FF2B5EF4-FFF2-40B4-BE49-F238E27FC236}">
                <a16:creationId xmlns:a16="http://schemas.microsoft.com/office/drawing/2014/main" id="{29EDEBD3-19D4-40D8-A42D-FE86D8098DB4}"/>
              </a:ext>
            </a:extLst>
          </p:cNvPr>
          <p:cNvPicPr>
            <a:picLocks noChangeAspect="1"/>
          </p:cNvPicPr>
          <p:nvPr/>
        </p:nvPicPr>
        <p:blipFill rotWithShape="1">
          <a:blip r:embed="rId2">
            <a:extLst>
              <a:ext uri="{28A0092B-C50C-407E-A947-70E740481C1C}">
                <a14:useLocalDpi xmlns:a14="http://schemas.microsoft.com/office/drawing/2010/main" val="0"/>
              </a:ext>
            </a:extLst>
          </a:blip>
          <a:srcRect l="32593" t="35575" r="33403" b="46287"/>
          <a:stretch/>
        </p:blipFill>
        <p:spPr>
          <a:xfrm>
            <a:off x="1785978" y="4465798"/>
            <a:ext cx="3563007" cy="1114097"/>
          </a:xfrm>
          <a:prstGeom prst="rect">
            <a:avLst/>
          </a:prstGeom>
        </p:spPr>
      </p:pic>
      <p:sp>
        <p:nvSpPr>
          <p:cNvPr id="16" name="矩形 15">
            <a:extLst>
              <a:ext uri="{FF2B5EF4-FFF2-40B4-BE49-F238E27FC236}">
                <a16:creationId xmlns:a16="http://schemas.microsoft.com/office/drawing/2014/main" id="{6D73AEE9-1987-48F4-AE10-5C1EB50A40D7}"/>
              </a:ext>
            </a:extLst>
          </p:cNvPr>
          <p:cNvSpPr/>
          <p:nvPr/>
        </p:nvSpPr>
        <p:spPr>
          <a:xfrm>
            <a:off x="315311" y="1656988"/>
            <a:ext cx="11719034" cy="2677656"/>
          </a:xfrm>
          <a:prstGeom prst="rect">
            <a:avLst/>
          </a:prstGeom>
        </p:spPr>
        <p:txBody>
          <a:bodyPr wrap="square">
            <a:spAutoFit/>
          </a:bodyPr>
          <a:lstStyle/>
          <a:p>
            <a:r>
              <a:rPr lang="en-US" altLang="zh-TW" sz="2400" dirty="0"/>
              <a:t> Consider a neural network with L hidden layers. </a:t>
            </a:r>
          </a:p>
          <a:p>
            <a:r>
              <a:rPr lang="en-US" altLang="zh-TW" sz="2400" dirty="0"/>
              <a:t>Let l ∈ {1, . . . , L} index the hidden layers of the network. </a:t>
            </a:r>
          </a:p>
          <a:p>
            <a:r>
              <a:rPr lang="en-US" altLang="zh-TW" sz="2400" dirty="0"/>
              <a:t>Let z (l) denote the vector of inputs into layer l, y (l) denote the vector of outputs from layer l. </a:t>
            </a:r>
          </a:p>
          <a:p>
            <a:r>
              <a:rPr lang="en-US" altLang="zh-TW" sz="2400" dirty="0"/>
              <a:t>W(l) and b (l) are the weights and biases at layer l. The feed-forward operation of a standard neural network (Figure 3a)  can be described as (for l ∈ {0, . . . , L − 1} and any hidden unit </a:t>
            </a:r>
            <a:r>
              <a:rPr lang="en-US" altLang="zh-TW" sz="2400" dirty="0" err="1"/>
              <a:t>i</a:t>
            </a:r>
            <a:r>
              <a:rPr lang="en-US" altLang="zh-TW" sz="2400" dirty="0"/>
              <a:t>)</a:t>
            </a:r>
          </a:p>
          <a:p>
            <a:r>
              <a:rPr lang="zh-TW" altLang="en-US" sz="2400" dirty="0"/>
              <a:t>where f is any activation function, for example, f(x) = 1/(1 + exp(−x)). </a:t>
            </a:r>
          </a:p>
          <a:p>
            <a:endParaRPr lang="zh-TW" altLang="en-US" sz="2400" dirty="0"/>
          </a:p>
        </p:txBody>
      </p:sp>
      <p:pic>
        <p:nvPicPr>
          <p:cNvPr id="18" name="圖片 17">
            <a:extLst>
              <a:ext uri="{FF2B5EF4-FFF2-40B4-BE49-F238E27FC236}">
                <a16:creationId xmlns:a16="http://schemas.microsoft.com/office/drawing/2014/main" id="{0681FAF3-D7C4-425D-98AC-61AAF7AB9A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86349" y="3576877"/>
            <a:ext cx="2301358" cy="3248270"/>
          </a:xfrm>
          <a:prstGeom prst="rect">
            <a:avLst/>
          </a:prstGeom>
        </p:spPr>
      </p:pic>
      <p:sp>
        <p:nvSpPr>
          <p:cNvPr id="23" name="矩形 22">
            <a:extLst>
              <a:ext uri="{FF2B5EF4-FFF2-40B4-BE49-F238E27FC236}">
                <a16:creationId xmlns:a16="http://schemas.microsoft.com/office/drawing/2014/main" id="{9DD9DF5C-A2D1-4E08-B5D1-6C6795090D27}"/>
              </a:ext>
            </a:extLst>
          </p:cNvPr>
          <p:cNvSpPr/>
          <p:nvPr/>
        </p:nvSpPr>
        <p:spPr>
          <a:xfrm>
            <a:off x="10137028" y="6225202"/>
            <a:ext cx="1241237" cy="369332"/>
          </a:xfrm>
          <a:prstGeom prst="rect">
            <a:avLst/>
          </a:prstGeom>
        </p:spPr>
        <p:txBody>
          <a:bodyPr wrap="none">
            <a:spAutoFit/>
          </a:bodyPr>
          <a:lstStyle/>
          <a:p>
            <a:r>
              <a:rPr lang="zh-TW" altLang="en-US" dirty="0"/>
              <a:t>(Figure 3a) </a:t>
            </a:r>
          </a:p>
        </p:txBody>
      </p:sp>
      <p:sp>
        <p:nvSpPr>
          <p:cNvPr id="7" name="矩形 6">
            <a:extLst>
              <a:ext uri="{FF2B5EF4-FFF2-40B4-BE49-F238E27FC236}">
                <a16:creationId xmlns:a16="http://schemas.microsoft.com/office/drawing/2014/main" id="{51FD7149-2F73-48ED-A5D4-79D4191090B2}"/>
              </a:ext>
            </a:extLst>
          </p:cNvPr>
          <p:cNvSpPr/>
          <p:nvPr/>
        </p:nvSpPr>
        <p:spPr>
          <a:xfrm>
            <a:off x="726053" y="658871"/>
            <a:ext cx="4622932" cy="646331"/>
          </a:xfrm>
          <a:prstGeom prst="rect">
            <a:avLst/>
          </a:prstGeom>
        </p:spPr>
        <p:txBody>
          <a:bodyPr wrap="none">
            <a:spAutoFit/>
          </a:bodyPr>
          <a:lstStyle/>
          <a:p>
            <a:r>
              <a:rPr lang="zh-TW" altLang="en-US" dirty="0"/>
              <a:t> </a:t>
            </a:r>
            <a:r>
              <a:rPr lang="zh-TW" altLang="en-US" sz="3600" dirty="0"/>
              <a:t>Model Description</a:t>
            </a:r>
            <a:r>
              <a:rPr lang="en-US" altLang="zh-TW" sz="3600" dirty="0"/>
              <a:t>(1/2)</a:t>
            </a:r>
            <a:endParaRPr lang="zh-TW" altLang="en-US" dirty="0"/>
          </a:p>
        </p:txBody>
      </p:sp>
    </p:spTree>
    <p:extLst>
      <p:ext uri="{BB962C8B-B14F-4D97-AF65-F5344CB8AC3E}">
        <p14:creationId xmlns:p14="http://schemas.microsoft.com/office/powerpoint/2010/main" val="4102271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a:extLst>
              <a:ext uri="{FF2B5EF4-FFF2-40B4-BE49-F238E27FC236}">
                <a16:creationId xmlns:a16="http://schemas.microsoft.com/office/drawing/2014/main" id="{8BD10B18-B55F-4729-91D5-B83F10C4527B}"/>
              </a:ext>
            </a:extLst>
          </p:cNvPr>
          <p:cNvPicPr>
            <a:picLocks noChangeAspect="1"/>
          </p:cNvPicPr>
          <p:nvPr/>
        </p:nvPicPr>
        <p:blipFill rotWithShape="1">
          <a:blip r:embed="rId2">
            <a:extLst>
              <a:ext uri="{28A0092B-C50C-407E-A947-70E740481C1C}">
                <a14:useLocalDpi xmlns:a14="http://schemas.microsoft.com/office/drawing/2010/main" val="0"/>
              </a:ext>
            </a:extLst>
          </a:blip>
          <a:srcRect t="60387" r="17454"/>
          <a:stretch/>
        </p:blipFill>
        <p:spPr>
          <a:xfrm>
            <a:off x="431763" y="1765739"/>
            <a:ext cx="8649175" cy="2433146"/>
          </a:xfrm>
          <a:prstGeom prst="rect">
            <a:avLst/>
          </a:prstGeom>
        </p:spPr>
      </p:pic>
      <p:sp>
        <p:nvSpPr>
          <p:cNvPr id="3" name="矩形 2">
            <a:extLst>
              <a:ext uri="{FF2B5EF4-FFF2-40B4-BE49-F238E27FC236}">
                <a16:creationId xmlns:a16="http://schemas.microsoft.com/office/drawing/2014/main" id="{6DA059EF-55CD-4383-96C1-27A36BD3F99F}"/>
              </a:ext>
            </a:extLst>
          </p:cNvPr>
          <p:cNvSpPr/>
          <p:nvPr/>
        </p:nvSpPr>
        <p:spPr>
          <a:xfrm>
            <a:off x="705870" y="532665"/>
            <a:ext cx="4674228" cy="646331"/>
          </a:xfrm>
          <a:prstGeom prst="rect">
            <a:avLst/>
          </a:prstGeom>
        </p:spPr>
        <p:txBody>
          <a:bodyPr wrap="none">
            <a:spAutoFit/>
          </a:bodyPr>
          <a:lstStyle/>
          <a:p>
            <a:r>
              <a:rPr lang="zh-TW" altLang="en-US" sz="3600" dirty="0"/>
              <a:t> Model Description</a:t>
            </a:r>
            <a:r>
              <a:rPr lang="en-US" altLang="zh-TW" sz="3600" dirty="0"/>
              <a:t>(2/2)</a:t>
            </a:r>
            <a:endParaRPr lang="zh-TW" altLang="en-US" sz="3600" dirty="0"/>
          </a:p>
        </p:txBody>
      </p:sp>
      <p:pic>
        <p:nvPicPr>
          <p:cNvPr id="4" name="圖片 3">
            <a:extLst>
              <a:ext uri="{FF2B5EF4-FFF2-40B4-BE49-F238E27FC236}">
                <a16:creationId xmlns:a16="http://schemas.microsoft.com/office/drawing/2014/main" id="{7A76B4C5-C236-49B7-8208-A1495F9409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36241" y="2606555"/>
            <a:ext cx="4166571" cy="4151610"/>
          </a:xfrm>
          <a:prstGeom prst="rect">
            <a:avLst/>
          </a:prstGeom>
        </p:spPr>
      </p:pic>
      <p:sp>
        <p:nvSpPr>
          <p:cNvPr id="5" name="矩形 4">
            <a:extLst>
              <a:ext uri="{FF2B5EF4-FFF2-40B4-BE49-F238E27FC236}">
                <a16:creationId xmlns:a16="http://schemas.microsoft.com/office/drawing/2014/main" id="{0B6A52FA-4BDD-4EAA-B7D9-5E58376EB652}"/>
              </a:ext>
            </a:extLst>
          </p:cNvPr>
          <p:cNvSpPr/>
          <p:nvPr/>
        </p:nvSpPr>
        <p:spPr>
          <a:xfrm>
            <a:off x="10457284" y="6166210"/>
            <a:ext cx="1241237" cy="369332"/>
          </a:xfrm>
          <a:prstGeom prst="rect">
            <a:avLst/>
          </a:prstGeom>
        </p:spPr>
        <p:txBody>
          <a:bodyPr wrap="none">
            <a:spAutoFit/>
          </a:bodyPr>
          <a:lstStyle/>
          <a:p>
            <a:r>
              <a:rPr lang="zh-TW" altLang="en-US" dirty="0"/>
              <a:t>(Figure 3</a:t>
            </a:r>
            <a:r>
              <a:rPr lang="en-US" altLang="zh-TW" dirty="0"/>
              <a:t>b</a:t>
            </a:r>
            <a:r>
              <a:rPr lang="zh-TW" altLang="en-US" dirty="0"/>
              <a:t>) </a:t>
            </a:r>
          </a:p>
        </p:txBody>
      </p:sp>
    </p:spTree>
    <p:extLst>
      <p:ext uri="{BB962C8B-B14F-4D97-AF65-F5344CB8AC3E}">
        <p14:creationId xmlns:p14="http://schemas.microsoft.com/office/powerpoint/2010/main" val="12450354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8284EF2E-3B90-44AD-9BFF-6C3E0B40EA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96572" y="3026980"/>
            <a:ext cx="7341253" cy="2875544"/>
          </a:xfrm>
          <a:prstGeom prst="rect">
            <a:avLst/>
          </a:prstGeom>
        </p:spPr>
      </p:pic>
      <p:sp>
        <p:nvSpPr>
          <p:cNvPr id="5" name="文字方塊 4">
            <a:extLst>
              <a:ext uri="{FF2B5EF4-FFF2-40B4-BE49-F238E27FC236}">
                <a16:creationId xmlns:a16="http://schemas.microsoft.com/office/drawing/2014/main" id="{12EA60FB-C47A-4CBB-902F-5F17F0C60314}"/>
              </a:ext>
            </a:extLst>
          </p:cNvPr>
          <p:cNvSpPr txBox="1"/>
          <p:nvPr/>
        </p:nvSpPr>
        <p:spPr>
          <a:xfrm>
            <a:off x="252248" y="478351"/>
            <a:ext cx="9701049" cy="1631216"/>
          </a:xfrm>
          <a:prstGeom prst="rect">
            <a:avLst/>
          </a:prstGeom>
          <a:noFill/>
        </p:spPr>
        <p:txBody>
          <a:bodyPr wrap="square" rtlCol="0">
            <a:spAutoFit/>
          </a:bodyPr>
          <a:lstStyle/>
          <a:p>
            <a:r>
              <a:rPr lang="en-US" altLang="zh-TW" sz="4400" dirty="0">
                <a:solidFill>
                  <a:srgbClr val="FF0000"/>
                </a:solidFill>
              </a:rPr>
              <a:t>V.S.</a:t>
            </a:r>
            <a:r>
              <a:rPr lang="en-US" altLang="zh-TW" sz="4400" dirty="0"/>
              <a:t> </a:t>
            </a:r>
          </a:p>
          <a:p>
            <a:r>
              <a:rPr lang="en-US" altLang="zh-TW" sz="2800" dirty="0"/>
              <a:t>Improving neural networks by preventing co-adaptation of feature detectors (Geoﬀrey Hinton, 2012)</a:t>
            </a:r>
            <a:endParaRPr lang="zh-TW" altLang="en-US" sz="2800" dirty="0"/>
          </a:p>
        </p:txBody>
      </p:sp>
    </p:spTree>
    <p:extLst>
      <p:ext uri="{BB962C8B-B14F-4D97-AF65-F5344CB8AC3E}">
        <p14:creationId xmlns:p14="http://schemas.microsoft.com/office/powerpoint/2010/main" val="40273800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49AFC555-82D6-4FB0-9851-48D2764F7C58}"/>
              </a:ext>
            </a:extLst>
          </p:cNvPr>
          <p:cNvSpPr/>
          <p:nvPr/>
        </p:nvSpPr>
        <p:spPr>
          <a:xfrm>
            <a:off x="398869" y="427561"/>
            <a:ext cx="5352427" cy="646331"/>
          </a:xfrm>
          <a:prstGeom prst="rect">
            <a:avLst/>
          </a:prstGeom>
        </p:spPr>
        <p:txBody>
          <a:bodyPr wrap="none">
            <a:spAutoFit/>
          </a:bodyPr>
          <a:lstStyle/>
          <a:p>
            <a:r>
              <a:rPr lang="zh-TW" altLang="en-US" sz="3600" dirty="0"/>
              <a:t>Learning Dropout Nets</a:t>
            </a:r>
            <a:r>
              <a:rPr lang="en-US" altLang="zh-TW" sz="3600" dirty="0"/>
              <a:t>(1/3)</a:t>
            </a:r>
            <a:endParaRPr lang="zh-TW" altLang="en-US" sz="3600" dirty="0"/>
          </a:p>
        </p:txBody>
      </p:sp>
      <p:sp>
        <p:nvSpPr>
          <p:cNvPr id="4" name="矩形 3">
            <a:extLst>
              <a:ext uri="{FF2B5EF4-FFF2-40B4-BE49-F238E27FC236}">
                <a16:creationId xmlns:a16="http://schemas.microsoft.com/office/drawing/2014/main" id="{767171E1-C66D-46A9-88DD-E08A9C66BEA9}"/>
              </a:ext>
            </a:extLst>
          </p:cNvPr>
          <p:cNvSpPr/>
          <p:nvPr/>
        </p:nvSpPr>
        <p:spPr>
          <a:xfrm>
            <a:off x="738761" y="3233824"/>
            <a:ext cx="253596" cy="2677656"/>
          </a:xfrm>
          <a:prstGeom prst="rect">
            <a:avLst/>
          </a:prstGeom>
        </p:spPr>
        <p:txBody>
          <a:bodyPr wrap="none">
            <a:spAutoFit/>
          </a:bodyPr>
          <a:lstStyle/>
          <a:p>
            <a:endParaRPr lang="en-US" altLang="zh-TW" sz="2400" b="1" dirty="0"/>
          </a:p>
          <a:p>
            <a:endParaRPr lang="en-US" altLang="zh-TW" sz="2400" dirty="0"/>
          </a:p>
          <a:p>
            <a:endParaRPr lang="en-US" altLang="zh-TW" sz="2400" dirty="0"/>
          </a:p>
          <a:p>
            <a:endParaRPr lang="en-US" altLang="zh-TW" sz="2400" dirty="0"/>
          </a:p>
          <a:p>
            <a:endParaRPr lang="en-US" altLang="zh-TW" sz="2400" dirty="0"/>
          </a:p>
          <a:p>
            <a:endParaRPr lang="en-US" altLang="zh-TW" sz="2400" dirty="0"/>
          </a:p>
          <a:p>
            <a:r>
              <a:rPr lang="zh-TW" altLang="en-US" sz="2400" dirty="0"/>
              <a:t> </a:t>
            </a:r>
          </a:p>
        </p:txBody>
      </p:sp>
      <p:sp>
        <p:nvSpPr>
          <p:cNvPr id="6" name="矩形 5">
            <a:extLst>
              <a:ext uri="{FF2B5EF4-FFF2-40B4-BE49-F238E27FC236}">
                <a16:creationId xmlns:a16="http://schemas.microsoft.com/office/drawing/2014/main" id="{DA344706-3537-447E-AFFB-B6E78EE8010E}"/>
              </a:ext>
            </a:extLst>
          </p:cNvPr>
          <p:cNvSpPr/>
          <p:nvPr/>
        </p:nvSpPr>
        <p:spPr>
          <a:xfrm>
            <a:off x="1541701" y="1461360"/>
            <a:ext cx="9259614" cy="461665"/>
          </a:xfrm>
          <a:prstGeom prst="rect">
            <a:avLst/>
          </a:prstGeom>
        </p:spPr>
        <p:txBody>
          <a:bodyPr wrap="square">
            <a:spAutoFit/>
          </a:bodyPr>
          <a:lstStyle/>
          <a:p>
            <a:r>
              <a:rPr lang="en-US" altLang="zh-TW" sz="2400" dirty="0"/>
              <a:t>“</a:t>
            </a:r>
            <a:r>
              <a:rPr lang="zh-TW" altLang="en-US" sz="2400" dirty="0"/>
              <a:t>This section describes a procedure for training dropout neural nets.</a:t>
            </a:r>
            <a:r>
              <a:rPr lang="en-US" altLang="zh-TW" sz="2400" dirty="0"/>
              <a:t>"</a:t>
            </a:r>
            <a:endParaRPr lang="zh-TW" altLang="en-US" sz="2400" dirty="0"/>
          </a:p>
        </p:txBody>
      </p:sp>
      <p:sp>
        <p:nvSpPr>
          <p:cNvPr id="7" name="矩形 6">
            <a:extLst>
              <a:ext uri="{FF2B5EF4-FFF2-40B4-BE49-F238E27FC236}">
                <a16:creationId xmlns:a16="http://schemas.microsoft.com/office/drawing/2014/main" id="{6311EE54-CB79-4224-9B34-C2699EE9379E}"/>
              </a:ext>
            </a:extLst>
          </p:cNvPr>
          <p:cNvSpPr/>
          <p:nvPr/>
        </p:nvSpPr>
        <p:spPr>
          <a:xfrm>
            <a:off x="1541701" y="2559729"/>
            <a:ext cx="6096000" cy="4185761"/>
          </a:xfrm>
          <a:prstGeom prst="rect">
            <a:avLst/>
          </a:prstGeom>
        </p:spPr>
        <p:txBody>
          <a:bodyPr>
            <a:spAutoFit/>
          </a:bodyPr>
          <a:lstStyle/>
          <a:p>
            <a:pPr marL="285750" indent="-285750">
              <a:buFont typeface="Arial" panose="020B0604020202020204" pitchFamily="34" charset="0"/>
              <a:buChar char="•"/>
            </a:pPr>
            <a:r>
              <a:rPr lang="zh-TW" altLang="en-US" sz="2400" b="1" dirty="0"/>
              <a:t>Backpropagation</a:t>
            </a:r>
            <a:endParaRPr lang="en-US" altLang="zh-TW" sz="2400" b="1" dirty="0"/>
          </a:p>
          <a:p>
            <a:pPr lvl="0"/>
            <a:endParaRPr lang="en-US" altLang="zh-TW" sz="2400" b="1" dirty="0">
              <a:solidFill>
                <a:prstClr val="black"/>
              </a:solidFill>
            </a:endParaRPr>
          </a:p>
          <a:p>
            <a:pPr marL="285750" lvl="0" indent="-285750">
              <a:buFont typeface="Arial" panose="020B0604020202020204" pitchFamily="34" charset="0"/>
              <a:buChar char="•"/>
            </a:pPr>
            <a:r>
              <a:rPr lang="zh-TW" altLang="en-US" sz="2400" b="1" dirty="0">
                <a:solidFill>
                  <a:prstClr val="black"/>
                </a:solidFill>
              </a:rPr>
              <a:t>Unsupervised Pretraining</a:t>
            </a:r>
            <a:endParaRPr lang="en-US" altLang="zh-TW" sz="2400" b="1" dirty="0">
              <a:solidFill>
                <a:prstClr val="black"/>
              </a:solidFill>
            </a:endParaRPr>
          </a:p>
          <a:p>
            <a:pPr lvl="0"/>
            <a:endParaRPr lang="en-US" altLang="zh-TW" b="1" dirty="0">
              <a:solidFill>
                <a:prstClr val="black"/>
              </a:solidFill>
            </a:endParaRPr>
          </a:p>
          <a:p>
            <a:pPr lvl="0"/>
            <a:endParaRPr lang="en-US" altLang="zh-TW" b="1" dirty="0">
              <a:solidFill>
                <a:prstClr val="black"/>
              </a:solidFill>
            </a:endParaRPr>
          </a:p>
          <a:p>
            <a:pPr lvl="0"/>
            <a:endParaRPr lang="en-US" altLang="zh-TW" b="1" dirty="0">
              <a:solidFill>
                <a:prstClr val="black"/>
              </a:solidFill>
            </a:endParaRPr>
          </a:p>
          <a:p>
            <a:pPr lvl="0"/>
            <a:endParaRPr lang="en-US" altLang="zh-TW" b="1" dirty="0">
              <a:solidFill>
                <a:prstClr val="black"/>
              </a:solidFill>
            </a:endParaRPr>
          </a:p>
          <a:p>
            <a:endParaRPr lang="en-US" altLang="zh-TW" b="1" dirty="0"/>
          </a:p>
          <a:p>
            <a:endParaRPr lang="en-US" altLang="zh-TW" sz="1400" b="1" dirty="0"/>
          </a:p>
          <a:p>
            <a:endParaRPr lang="en-US" altLang="zh-TW" dirty="0"/>
          </a:p>
          <a:p>
            <a:endParaRPr lang="en-US" altLang="zh-TW" dirty="0"/>
          </a:p>
          <a:p>
            <a:endParaRPr lang="en-US" altLang="zh-TW" dirty="0"/>
          </a:p>
          <a:p>
            <a:endParaRPr lang="en-US" altLang="zh-TW" dirty="0"/>
          </a:p>
          <a:p>
            <a:r>
              <a:rPr lang="zh-TW" altLang="en-US" dirty="0"/>
              <a:t> </a:t>
            </a:r>
          </a:p>
        </p:txBody>
      </p:sp>
    </p:spTree>
    <p:extLst>
      <p:ext uri="{BB962C8B-B14F-4D97-AF65-F5344CB8AC3E}">
        <p14:creationId xmlns:p14="http://schemas.microsoft.com/office/powerpoint/2010/main" val="27063948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49AFC555-82D6-4FB0-9851-48D2764F7C58}"/>
              </a:ext>
            </a:extLst>
          </p:cNvPr>
          <p:cNvSpPr/>
          <p:nvPr/>
        </p:nvSpPr>
        <p:spPr>
          <a:xfrm>
            <a:off x="398869" y="427561"/>
            <a:ext cx="5352427" cy="646331"/>
          </a:xfrm>
          <a:prstGeom prst="rect">
            <a:avLst/>
          </a:prstGeom>
        </p:spPr>
        <p:txBody>
          <a:bodyPr wrap="none">
            <a:spAutoFit/>
          </a:bodyPr>
          <a:lstStyle/>
          <a:p>
            <a:r>
              <a:rPr lang="zh-TW" altLang="en-US" sz="3600" dirty="0"/>
              <a:t>Learning Dropout Nets</a:t>
            </a:r>
            <a:r>
              <a:rPr lang="en-US" altLang="zh-TW" sz="3600" dirty="0"/>
              <a:t>(2/3)</a:t>
            </a:r>
            <a:endParaRPr lang="zh-TW" altLang="en-US" sz="3600" dirty="0"/>
          </a:p>
        </p:txBody>
      </p:sp>
      <p:sp>
        <p:nvSpPr>
          <p:cNvPr id="4" name="矩形 3">
            <a:extLst>
              <a:ext uri="{FF2B5EF4-FFF2-40B4-BE49-F238E27FC236}">
                <a16:creationId xmlns:a16="http://schemas.microsoft.com/office/drawing/2014/main" id="{31EC81AB-A00A-475A-8D80-4ACADE5E9F59}"/>
              </a:ext>
            </a:extLst>
          </p:cNvPr>
          <p:cNvSpPr/>
          <p:nvPr/>
        </p:nvSpPr>
        <p:spPr>
          <a:xfrm>
            <a:off x="567558" y="1278220"/>
            <a:ext cx="10689022" cy="5386090"/>
          </a:xfrm>
          <a:prstGeom prst="rect">
            <a:avLst/>
          </a:prstGeom>
        </p:spPr>
        <p:txBody>
          <a:bodyPr wrap="square">
            <a:spAutoFit/>
          </a:bodyPr>
          <a:lstStyle/>
          <a:p>
            <a:pPr marL="457200" indent="-457200">
              <a:buFont typeface="Arial" panose="020B0604020202020204" pitchFamily="34" charset="0"/>
              <a:buChar char="•"/>
            </a:pPr>
            <a:r>
              <a:rPr lang="zh-TW" altLang="en-US" sz="3200" b="1" dirty="0"/>
              <a:t>Backpropagation</a:t>
            </a:r>
            <a:endParaRPr lang="en-US" altLang="zh-TW" sz="3200" b="1" dirty="0"/>
          </a:p>
          <a:p>
            <a:endParaRPr lang="en-US" altLang="zh-TW" sz="2400" b="1" dirty="0"/>
          </a:p>
          <a:p>
            <a:endParaRPr lang="en-US" altLang="zh-TW" dirty="0"/>
          </a:p>
          <a:p>
            <a:r>
              <a:rPr lang="en-US" altLang="zh-TW" sz="2400" dirty="0"/>
              <a:t>“Dropout neural networks can be trained using stochastic gradient descent in a manner similar to standard neural nets. The only diﬀerence is that for each training case in a mini-batch, we sample a thinned network by dropping out units.”</a:t>
            </a:r>
          </a:p>
          <a:p>
            <a:endParaRPr lang="en-US" altLang="zh-TW" sz="2400" dirty="0"/>
          </a:p>
          <a:p>
            <a:r>
              <a:rPr lang="en-US" altLang="zh-TW" sz="2400" dirty="0"/>
              <a:t>“The gradients for each parameter are averaged over the training cases in each mini-batch. Any training case which does not use a parameter contributes a gradient of zero for that parameter. Many methods have been used to improve stochastic gradient descent such as momentum, annealed learning rates and L2 weight decay. Those were found to be useful for dropout neural networks as well. “</a:t>
            </a:r>
          </a:p>
          <a:p>
            <a:endParaRPr lang="en-US" altLang="zh-TW" dirty="0"/>
          </a:p>
          <a:p>
            <a:endParaRPr lang="en-US" altLang="zh-TW" dirty="0"/>
          </a:p>
          <a:p>
            <a:r>
              <a:rPr lang="zh-TW" altLang="en-US" dirty="0"/>
              <a:t> </a:t>
            </a:r>
          </a:p>
        </p:txBody>
      </p:sp>
    </p:spTree>
    <p:extLst>
      <p:ext uri="{BB962C8B-B14F-4D97-AF65-F5344CB8AC3E}">
        <p14:creationId xmlns:p14="http://schemas.microsoft.com/office/powerpoint/2010/main" val="7208435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49AFC555-82D6-4FB0-9851-48D2764F7C58}"/>
              </a:ext>
            </a:extLst>
          </p:cNvPr>
          <p:cNvSpPr/>
          <p:nvPr/>
        </p:nvSpPr>
        <p:spPr>
          <a:xfrm>
            <a:off x="398869" y="427561"/>
            <a:ext cx="5352427" cy="646331"/>
          </a:xfrm>
          <a:prstGeom prst="rect">
            <a:avLst/>
          </a:prstGeom>
        </p:spPr>
        <p:txBody>
          <a:bodyPr wrap="none">
            <a:spAutoFit/>
          </a:bodyPr>
          <a:lstStyle/>
          <a:p>
            <a:r>
              <a:rPr lang="zh-TW" altLang="en-US" sz="3600" dirty="0"/>
              <a:t>Learning Dropout Nets</a:t>
            </a:r>
            <a:r>
              <a:rPr lang="en-US" altLang="zh-TW" sz="3600" dirty="0"/>
              <a:t>(3/3)</a:t>
            </a:r>
            <a:endParaRPr lang="zh-TW" altLang="en-US" sz="3600" dirty="0"/>
          </a:p>
        </p:txBody>
      </p:sp>
      <p:sp>
        <p:nvSpPr>
          <p:cNvPr id="4" name="矩形 3">
            <a:extLst>
              <a:ext uri="{FF2B5EF4-FFF2-40B4-BE49-F238E27FC236}">
                <a16:creationId xmlns:a16="http://schemas.microsoft.com/office/drawing/2014/main" id="{31EC81AB-A00A-475A-8D80-4ACADE5E9F59}"/>
              </a:ext>
            </a:extLst>
          </p:cNvPr>
          <p:cNvSpPr/>
          <p:nvPr/>
        </p:nvSpPr>
        <p:spPr>
          <a:xfrm>
            <a:off x="398869" y="1243786"/>
            <a:ext cx="10689022" cy="6217087"/>
          </a:xfrm>
          <a:prstGeom prst="rect">
            <a:avLst/>
          </a:prstGeom>
        </p:spPr>
        <p:txBody>
          <a:bodyPr wrap="square">
            <a:spAutoFit/>
          </a:bodyPr>
          <a:lstStyle/>
          <a:p>
            <a:pPr marL="457200" indent="-457200">
              <a:buFont typeface="Arial" panose="020B0604020202020204" pitchFamily="34" charset="0"/>
              <a:buChar char="•"/>
            </a:pPr>
            <a:r>
              <a:rPr lang="zh-TW" altLang="en-US" sz="3200" b="1" dirty="0"/>
              <a:t>Backpropagation</a:t>
            </a:r>
            <a:endParaRPr lang="en-US" altLang="zh-TW" sz="3200" b="1" dirty="0"/>
          </a:p>
          <a:p>
            <a:endParaRPr lang="en-US" altLang="zh-TW" sz="2400" b="1" dirty="0"/>
          </a:p>
          <a:p>
            <a:r>
              <a:rPr lang="en-US" altLang="zh-TW" sz="2400" b="1" u="sng" dirty="0"/>
              <a:t>Activate</a:t>
            </a:r>
          </a:p>
          <a:p>
            <a:r>
              <a:rPr lang="en-US" altLang="zh-TW" sz="2400" dirty="0"/>
              <a:t>Step1-1: use an </a:t>
            </a:r>
            <a:r>
              <a:rPr lang="en-US" altLang="zh-TW" sz="2400" dirty="0">
                <a:solidFill>
                  <a:srgbClr val="403D3A"/>
                </a:solidFill>
              </a:rPr>
              <a:t>activation function f</a:t>
            </a:r>
          </a:p>
          <a:p>
            <a:r>
              <a:rPr lang="en-US" altLang="zh-TW" sz="2400" dirty="0"/>
              <a:t>Step1-2:calculate an error e</a:t>
            </a:r>
          </a:p>
          <a:p>
            <a:endParaRPr lang="en-US" altLang="zh-TW" sz="2400" dirty="0"/>
          </a:p>
          <a:p>
            <a:endParaRPr lang="en-US" altLang="zh-TW" sz="2400" dirty="0"/>
          </a:p>
          <a:p>
            <a:endParaRPr lang="en-US" altLang="zh-TW" sz="2400" dirty="0"/>
          </a:p>
          <a:p>
            <a:endParaRPr lang="en-US" altLang="zh-TW" sz="2400" dirty="0"/>
          </a:p>
          <a:p>
            <a:endParaRPr lang="en-US" altLang="zh-TW" sz="2400" dirty="0"/>
          </a:p>
          <a:p>
            <a:endParaRPr lang="en-US" altLang="zh-TW" sz="2400" b="1" u="sng" dirty="0"/>
          </a:p>
          <a:p>
            <a:r>
              <a:rPr lang="en-US" altLang="zh-TW" sz="2400" b="1" u="sng" dirty="0"/>
              <a:t>Update</a:t>
            </a:r>
          </a:p>
          <a:p>
            <a:r>
              <a:rPr lang="en-US" altLang="zh-TW" sz="2400" dirty="0"/>
              <a:t>Step2-1:multiply error e with </a:t>
            </a:r>
            <a:r>
              <a:rPr lang="en-US" altLang="zh-TW" sz="2400" dirty="0">
                <a:solidFill>
                  <a:srgbClr val="403D3A"/>
                </a:solidFill>
              </a:rPr>
              <a:t>f as a result g</a:t>
            </a:r>
            <a:endParaRPr lang="en-US" altLang="zh-TW" sz="2400" dirty="0"/>
          </a:p>
          <a:p>
            <a:r>
              <a:rPr lang="en-US" altLang="zh-TW" sz="2400" dirty="0"/>
              <a:t>Step2-2:multiply g with a ratio r and plus it to the weight</a:t>
            </a:r>
          </a:p>
          <a:p>
            <a:endParaRPr lang="en-US" altLang="zh-TW" dirty="0"/>
          </a:p>
          <a:p>
            <a:endParaRPr lang="en-US" altLang="zh-TW" dirty="0"/>
          </a:p>
          <a:p>
            <a:r>
              <a:rPr lang="zh-TW" altLang="en-US" dirty="0"/>
              <a:t> </a:t>
            </a:r>
          </a:p>
        </p:txBody>
      </p:sp>
      <p:pic>
        <p:nvPicPr>
          <p:cNvPr id="6" name="圖片 5">
            <a:extLst>
              <a:ext uri="{FF2B5EF4-FFF2-40B4-BE49-F238E27FC236}">
                <a16:creationId xmlns:a16="http://schemas.microsoft.com/office/drawing/2014/main" id="{969866E9-42F7-48CC-B64F-2DC0F1AB56E8}"/>
              </a:ext>
            </a:extLst>
          </p:cNvPr>
          <p:cNvPicPr>
            <a:picLocks noChangeAspect="1"/>
          </p:cNvPicPr>
          <p:nvPr/>
        </p:nvPicPr>
        <p:blipFill rotWithShape="1">
          <a:blip r:embed="rId3">
            <a:extLst>
              <a:ext uri="{28A0092B-C50C-407E-A947-70E740481C1C}">
                <a14:useLocalDpi xmlns:a14="http://schemas.microsoft.com/office/drawing/2010/main" val="0"/>
              </a:ext>
            </a:extLst>
          </a:blip>
          <a:srcRect l="1646" t="54253" r="-1"/>
          <a:stretch/>
        </p:blipFill>
        <p:spPr>
          <a:xfrm>
            <a:off x="8502868" y="3481734"/>
            <a:ext cx="3441926" cy="3137338"/>
          </a:xfrm>
          <a:prstGeom prst="rect">
            <a:avLst/>
          </a:prstGeom>
        </p:spPr>
      </p:pic>
      <p:pic>
        <p:nvPicPr>
          <p:cNvPr id="8" name="圖片 7">
            <a:extLst>
              <a:ext uri="{FF2B5EF4-FFF2-40B4-BE49-F238E27FC236}">
                <a16:creationId xmlns:a16="http://schemas.microsoft.com/office/drawing/2014/main" id="{15AC246C-E087-4CA0-8F79-4A8C3BE36FE3}"/>
              </a:ext>
            </a:extLst>
          </p:cNvPr>
          <p:cNvPicPr>
            <a:picLocks noChangeAspect="1"/>
          </p:cNvPicPr>
          <p:nvPr/>
        </p:nvPicPr>
        <p:blipFill rotWithShape="1">
          <a:blip r:embed="rId3">
            <a:extLst>
              <a:ext uri="{28A0092B-C50C-407E-A947-70E740481C1C}">
                <a14:useLocalDpi xmlns:a14="http://schemas.microsoft.com/office/drawing/2010/main" val="0"/>
              </a:ext>
            </a:extLst>
          </a:blip>
          <a:srcRect l="1646" r="-1" b="51293"/>
          <a:stretch/>
        </p:blipFill>
        <p:spPr>
          <a:xfrm>
            <a:off x="8502868" y="187866"/>
            <a:ext cx="3441927" cy="3340323"/>
          </a:xfrm>
          <a:prstGeom prst="rect">
            <a:avLst/>
          </a:prstGeom>
        </p:spPr>
      </p:pic>
      <p:pic>
        <p:nvPicPr>
          <p:cNvPr id="12" name="圖片 11">
            <a:extLst>
              <a:ext uri="{FF2B5EF4-FFF2-40B4-BE49-F238E27FC236}">
                <a16:creationId xmlns:a16="http://schemas.microsoft.com/office/drawing/2014/main" id="{CD39D291-1EBE-4F00-ACC2-62FB1F3A9A4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7205" y="3261324"/>
            <a:ext cx="6658091" cy="1894183"/>
          </a:xfrm>
          <a:prstGeom prst="rect">
            <a:avLst/>
          </a:prstGeom>
        </p:spPr>
      </p:pic>
    </p:spTree>
    <p:extLst>
      <p:ext uri="{BB962C8B-B14F-4D97-AF65-F5344CB8AC3E}">
        <p14:creationId xmlns:p14="http://schemas.microsoft.com/office/powerpoint/2010/main" val="32228647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78DBBF1C-2E1C-4763-A973-0B093F5392A2}"/>
              </a:ext>
            </a:extLst>
          </p:cNvPr>
          <p:cNvSpPr/>
          <p:nvPr/>
        </p:nvSpPr>
        <p:spPr>
          <a:xfrm>
            <a:off x="483442" y="304091"/>
            <a:ext cx="5023683" cy="646331"/>
          </a:xfrm>
          <a:prstGeom prst="rect">
            <a:avLst/>
          </a:prstGeom>
        </p:spPr>
        <p:txBody>
          <a:bodyPr wrap="none">
            <a:spAutoFit/>
          </a:bodyPr>
          <a:lstStyle/>
          <a:p>
            <a:r>
              <a:rPr lang="zh-TW" altLang="en-US" sz="3600" dirty="0"/>
              <a:t>Experimental Results</a:t>
            </a:r>
            <a:r>
              <a:rPr lang="en-US" altLang="zh-TW" sz="3600" dirty="0"/>
              <a:t>(1/8)</a:t>
            </a:r>
            <a:endParaRPr lang="zh-TW" altLang="en-US" sz="3600" dirty="0"/>
          </a:p>
        </p:txBody>
      </p:sp>
      <p:pic>
        <p:nvPicPr>
          <p:cNvPr id="5" name="圖片 4">
            <a:extLst>
              <a:ext uri="{FF2B5EF4-FFF2-40B4-BE49-F238E27FC236}">
                <a16:creationId xmlns:a16="http://schemas.microsoft.com/office/drawing/2014/main" id="{0C0985D7-B66B-44A5-933F-2EECEDCC28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3442" y="1387364"/>
            <a:ext cx="11647277" cy="4633171"/>
          </a:xfrm>
          <a:prstGeom prst="rect">
            <a:avLst/>
          </a:prstGeom>
        </p:spPr>
      </p:pic>
    </p:spTree>
    <p:extLst>
      <p:ext uri="{BB962C8B-B14F-4D97-AF65-F5344CB8AC3E}">
        <p14:creationId xmlns:p14="http://schemas.microsoft.com/office/powerpoint/2010/main" val="39847129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78DBBF1C-2E1C-4763-A973-0B093F5392A2}"/>
              </a:ext>
            </a:extLst>
          </p:cNvPr>
          <p:cNvSpPr/>
          <p:nvPr/>
        </p:nvSpPr>
        <p:spPr>
          <a:xfrm>
            <a:off x="483442" y="304091"/>
            <a:ext cx="5023683" cy="646331"/>
          </a:xfrm>
          <a:prstGeom prst="rect">
            <a:avLst/>
          </a:prstGeom>
        </p:spPr>
        <p:txBody>
          <a:bodyPr wrap="none">
            <a:spAutoFit/>
          </a:bodyPr>
          <a:lstStyle/>
          <a:p>
            <a:r>
              <a:rPr lang="zh-TW" altLang="en-US" sz="3600" dirty="0"/>
              <a:t>Experimental Results</a:t>
            </a:r>
            <a:r>
              <a:rPr lang="en-US" altLang="zh-TW" sz="3600" dirty="0"/>
              <a:t>(2/8)</a:t>
            </a:r>
            <a:endParaRPr lang="zh-TW" altLang="en-US" sz="3600" dirty="0"/>
          </a:p>
        </p:txBody>
      </p:sp>
      <p:pic>
        <p:nvPicPr>
          <p:cNvPr id="4" name="圖片 3">
            <a:extLst>
              <a:ext uri="{FF2B5EF4-FFF2-40B4-BE49-F238E27FC236}">
                <a16:creationId xmlns:a16="http://schemas.microsoft.com/office/drawing/2014/main" id="{549B9210-80EB-4538-8E3E-FCD9D64504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1824" y="1246879"/>
            <a:ext cx="11268351" cy="4849121"/>
          </a:xfrm>
          <a:prstGeom prst="rect">
            <a:avLst/>
          </a:prstGeom>
        </p:spPr>
      </p:pic>
    </p:spTree>
    <p:extLst>
      <p:ext uri="{BB962C8B-B14F-4D97-AF65-F5344CB8AC3E}">
        <p14:creationId xmlns:p14="http://schemas.microsoft.com/office/powerpoint/2010/main" val="3033919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78DBBF1C-2E1C-4763-A973-0B093F5392A2}"/>
              </a:ext>
            </a:extLst>
          </p:cNvPr>
          <p:cNvSpPr/>
          <p:nvPr/>
        </p:nvSpPr>
        <p:spPr>
          <a:xfrm>
            <a:off x="483442" y="304091"/>
            <a:ext cx="5023683" cy="646331"/>
          </a:xfrm>
          <a:prstGeom prst="rect">
            <a:avLst/>
          </a:prstGeom>
        </p:spPr>
        <p:txBody>
          <a:bodyPr wrap="none">
            <a:spAutoFit/>
          </a:bodyPr>
          <a:lstStyle/>
          <a:p>
            <a:r>
              <a:rPr lang="zh-TW" altLang="en-US" sz="3600" dirty="0"/>
              <a:t>Experimental Results</a:t>
            </a:r>
            <a:r>
              <a:rPr lang="en-US" altLang="zh-TW" sz="3600" dirty="0"/>
              <a:t>(3/8)</a:t>
            </a:r>
            <a:endParaRPr lang="zh-TW" altLang="en-US" sz="3600" dirty="0"/>
          </a:p>
        </p:txBody>
      </p:sp>
      <p:pic>
        <p:nvPicPr>
          <p:cNvPr id="4" name="圖片 3">
            <a:extLst>
              <a:ext uri="{FF2B5EF4-FFF2-40B4-BE49-F238E27FC236}">
                <a16:creationId xmlns:a16="http://schemas.microsoft.com/office/drawing/2014/main" id="{197C8DAE-DAAE-41BC-AE1B-BC4AA2A9818C}"/>
              </a:ext>
            </a:extLst>
          </p:cNvPr>
          <p:cNvPicPr>
            <a:picLocks noChangeAspect="1"/>
          </p:cNvPicPr>
          <p:nvPr/>
        </p:nvPicPr>
        <p:blipFill rotWithShape="1">
          <a:blip r:embed="rId2">
            <a:extLst>
              <a:ext uri="{28A0092B-C50C-407E-A947-70E740481C1C}">
                <a14:useLocalDpi xmlns:a14="http://schemas.microsoft.com/office/drawing/2010/main" val="0"/>
              </a:ext>
            </a:extLst>
          </a:blip>
          <a:srcRect b="10285"/>
          <a:stretch/>
        </p:blipFill>
        <p:spPr>
          <a:xfrm>
            <a:off x="2077516" y="1023994"/>
            <a:ext cx="7318732" cy="5654798"/>
          </a:xfrm>
          <a:prstGeom prst="rect">
            <a:avLst/>
          </a:prstGeom>
        </p:spPr>
      </p:pic>
    </p:spTree>
    <p:extLst>
      <p:ext uri="{BB962C8B-B14F-4D97-AF65-F5344CB8AC3E}">
        <p14:creationId xmlns:p14="http://schemas.microsoft.com/office/powerpoint/2010/main" val="11763410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78DBBF1C-2E1C-4763-A973-0B093F5392A2}"/>
              </a:ext>
            </a:extLst>
          </p:cNvPr>
          <p:cNvSpPr/>
          <p:nvPr/>
        </p:nvSpPr>
        <p:spPr>
          <a:xfrm>
            <a:off x="483442" y="304091"/>
            <a:ext cx="5023683" cy="646331"/>
          </a:xfrm>
          <a:prstGeom prst="rect">
            <a:avLst/>
          </a:prstGeom>
        </p:spPr>
        <p:txBody>
          <a:bodyPr wrap="none">
            <a:spAutoFit/>
          </a:bodyPr>
          <a:lstStyle/>
          <a:p>
            <a:r>
              <a:rPr lang="zh-TW" altLang="en-US" sz="3600" dirty="0"/>
              <a:t>Experimental Results</a:t>
            </a:r>
            <a:r>
              <a:rPr lang="en-US" altLang="zh-TW" sz="3600" dirty="0"/>
              <a:t>(4/8)</a:t>
            </a:r>
            <a:endParaRPr lang="zh-TW" altLang="en-US" sz="3600" dirty="0"/>
          </a:p>
        </p:txBody>
      </p:sp>
      <p:pic>
        <p:nvPicPr>
          <p:cNvPr id="4" name="圖片 3">
            <a:extLst>
              <a:ext uri="{FF2B5EF4-FFF2-40B4-BE49-F238E27FC236}">
                <a16:creationId xmlns:a16="http://schemas.microsoft.com/office/drawing/2014/main" id="{B5A1CCCF-35A9-4333-A09A-2F8D0B1EB0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8908" y="1120366"/>
            <a:ext cx="8592749" cy="4820323"/>
          </a:xfrm>
          <a:prstGeom prst="rect">
            <a:avLst/>
          </a:prstGeom>
        </p:spPr>
      </p:pic>
    </p:spTree>
    <p:extLst>
      <p:ext uri="{BB962C8B-B14F-4D97-AF65-F5344CB8AC3E}">
        <p14:creationId xmlns:p14="http://schemas.microsoft.com/office/powerpoint/2010/main" val="1156285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78DBBF1C-2E1C-4763-A973-0B093F5392A2}"/>
              </a:ext>
            </a:extLst>
          </p:cNvPr>
          <p:cNvSpPr/>
          <p:nvPr/>
        </p:nvSpPr>
        <p:spPr>
          <a:xfrm>
            <a:off x="483442" y="304091"/>
            <a:ext cx="5023683" cy="646331"/>
          </a:xfrm>
          <a:prstGeom prst="rect">
            <a:avLst/>
          </a:prstGeom>
        </p:spPr>
        <p:txBody>
          <a:bodyPr wrap="none">
            <a:spAutoFit/>
          </a:bodyPr>
          <a:lstStyle/>
          <a:p>
            <a:r>
              <a:rPr lang="zh-TW" altLang="en-US" sz="3600" dirty="0"/>
              <a:t>Experimental Results</a:t>
            </a:r>
            <a:r>
              <a:rPr lang="en-US" altLang="zh-TW" sz="3600" dirty="0"/>
              <a:t>(5/8)</a:t>
            </a:r>
            <a:endParaRPr lang="zh-TW" altLang="en-US" sz="3600" dirty="0"/>
          </a:p>
        </p:txBody>
      </p:sp>
      <p:pic>
        <p:nvPicPr>
          <p:cNvPr id="4" name="圖片 3">
            <a:extLst>
              <a:ext uri="{FF2B5EF4-FFF2-40B4-BE49-F238E27FC236}">
                <a16:creationId xmlns:a16="http://schemas.microsoft.com/office/drawing/2014/main" id="{8834A792-BEB1-4749-97E7-F3AF944325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66522" y="866376"/>
            <a:ext cx="6659565" cy="5991624"/>
          </a:xfrm>
          <a:prstGeom prst="rect">
            <a:avLst/>
          </a:prstGeom>
        </p:spPr>
      </p:pic>
    </p:spTree>
    <p:extLst>
      <p:ext uri="{BB962C8B-B14F-4D97-AF65-F5344CB8AC3E}">
        <p14:creationId xmlns:p14="http://schemas.microsoft.com/office/powerpoint/2010/main" val="17899937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78DBBF1C-2E1C-4763-A973-0B093F5392A2}"/>
              </a:ext>
            </a:extLst>
          </p:cNvPr>
          <p:cNvSpPr/>
          <p:nvPr/>
        </p:nvSpPr>
        <p:spPr>
          <a:xfrm>
            <a:off x="483442" y="304091"/>
            <a:ext cx="5023683" cy="646331"/>
          </a:xfrm>
          <a:prstGeom prst="rect">
            <a:avLst/>
          </a:prstGeom>
        </p:spPr>
        <p:txBody>
          <a:bodyPr wrap="none">
            <a:spAutoFit/>
          </a:bodyPr>
          <a:lstStyle/>
          <a:p>
            <a:r>
              <a:rPr lang="zh-TW" altLang="en-US" sz="3600" dirty="0"/>
              <a:t>Experimental Results</a:t>
            </a:r>
            <a:r>
              <a:rPr lang="en-US" altLang="zh-TW" sz="3600" dirty="0"/>
              <a:t>(6/8)</a:t>
            </a:r>
            <a:endParaRPr lang="zh-TW" altLang="en-US" sz="3600" dirty="0"/>
          </a:p>
        </p:txBody>
      </p:sp>
      <p:sp>
        <p:nvSpPr>
          <p:cNvPr id="2" name="矩形 1">
            <a:extLst>
              <a:ext uri="{FF2B5EF4-FFF2-40B4-BE49-F238E27FC236}">
                <a16:creationId xmlns:a16="http://schemas.microsoft.com/office/drawing/2014/main" id="{0156A9BB-D83C-440E-B5E6-29DFAD246DE9}"/>
              </a:ext>
            </a:extLst>
          </p:cNvPr>
          <p:cNvSpPr/>
          <p:nvPr/>
        </p:nvSpPr>
        <p:spPr>
          <a:xfrm>
            <a:off x="483442" y="1038347"/>
            <a:ext cx="8849744" cy="1938992"/>
          </a:xfrm>
          <a:prstGeom prst="rect">
            <a:avLst/>
          </a:prstGeom>
        </p:spPr>
        <p:txBody>
          <a:bodyPr wrap="square">
            <a:spAutoFit/>
          </a:bodyPr>
          <a:lstStyle/>
          <a:p>
            <a:r>
              <a:rPr lang="zh-TW" altLang="en-US" sz="2400" dirty="0"/>
              <a:t>6.2 Results on TIMIT</a:t>
            </a:r>
          </a:p>
          <a:p>
            <a:r>
              <a:rPr lang="zh-TW" altLang="en-US" sz="2400" dirty="0"/>
              <a:t>Next, we applied dropout to a speech recognition task. We use the TIMIT data set which consists of recordings from 680 speakers covering 8 major dialects of American English reading ten phonetically-rich sentences in a controlled noise-free environment.</a:t>
            </a:r>
          </a:p>
        </p:txBody>
      </p:sp>
      <p:pic>
        <p:nvPicPr>
          <p:cNvPr id="5" name="圖片 4">
            <a:extLst>
              <a:ext uri="{FF2B5EF4-FFF2-40B4-BE49-F238E27FC236}">
                <a16:creationId xmlns:a16="http://schemas.microsoft.com/office/drawing/2014/main" id="{A2E97852-A2DB-444F-A7E2-BCE8CA47C8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3450" y="3200641"/>
            <a:ext cx="10002646" cy="3353268"/>
          </a:xfrm>
          <a:prstGeom prst="rect">
            <a:avLst/>
          </a:prstGeom>
        </p:spPr>
      </p:pic>
    </p:spTree>
    <p:extLst>
      <p:ext uri="{BB962C8B-B14F-4D97-AF65-F5344CB8AC3E}">
        <p14:creationId xmlns:p14="http://schemas.microsoft.com/office/powerpoint/2010/main" val="978456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78DBBF1C-2E1C-4763-A973-0B093F5392A2}"/>
              </a:ext>
            </a:extLst>
          </p:cNvPr>
          <p:cNvSpPr/>
          <p:nvPr/>
        </p:nvSpPr>
        <p:spPr>
          <a:xfrm>
            <a:off x="483442" y="304091"/>
            <a:ext cx="5023683" cy="646331"/>
          </a:xfrm>
          <a:prstGeom prst="rect">
            <a:avLst/>
          </a:prstGeom>
        </p:spPr>
        <p:txBody>
          <a:bodyPr wrap="none">
            <a:spAutoFit/>
          </a:bodyPr>
          <a:lstStyle/>
          <a:p>
            <a:r>
              <a:rPr lang="zh-TW" altLang="en-US" sz="3600" dirty="0"/>
              <a:t>Experimental Results</a:t>
            </a:r>
            <a:r>
              <a:rPr lang="en-US" altLang="zh-TW" sz="3600" dirty="0"/>
              <a:t>(7/8)</a:t>
            </a:r>
            <a:endParaRPr lang="zh-TW" altLang="en-US" sz="3600" dirty="0"/>
          </a:p>
        </p:txBody>
      </p:sp>
      <p:sp>
        <p:nvSpPr>
          <p:cNvPr id="2" name="矩形 1">
            <a:extLst>
              <a:ext uri="{FF2B5EF4-FFF2-40B4-BE49-F238E27FC236}">
                <a16:creationId xmlns:a16="http://schemas.microsoft.com/office/drawing/2014/main" id="{E0ABC685-AC9D-420A-B3AF-273BA848CE6F}"/>
              </a:ext>
            </a:extLst>
          </p:cNvPr>
          <p:cNvSpPr/>
          <p:nvPr/>
        </p:nvSpPr>
        <p:spPr>
          <a:xfrm>
            <a:off x="1005410" y="1426044"/>
            <a:ext cx="5645328" cy="461665"/>
          </a:xfrm>
          <a:prstGeom prst="rect">
            <a:avLst/>
          </a:prstGeom>
        </p:spPr>
        <p:txBody>
          <a:bodyPr wrap="none">
            <a:spAutoFit/>
          </a:bodyPr>
          <a:lstStyle/>
          <a:p>
            <a:r>
              <a:rPr lang="zh-TW" altLang="en-US" sz="2400" dirty="0"/>
              <a:t>Comparison with Bayesian Neural Networks</a:t>
            </a:r>
          </a:p>
        </p:txBody>
      </p:sp>
      <p:pic>
        <p:nvPicPr>
          <p:cNvPr id="5" name="圖片 4">
            <a:extLst>
              <a:ext uri="{FF2B5EF4-FFF2-40B4-BE49-F238E27FC236}">
                <a16:creationId xmlns:a16="http://schemas.microsoft.com/office/drawing/2014/main" id="{648567CA-40D9-4B68-BFF0-AF44871176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14721" y="2550604"/>
            <a:ext cx="8059275" cy="2419688"/>
          </a:xfrm>
          <a:prstGeom prst="rect">
            <a:avLst/>
          </a:prstGeom>
        </p:spPr>
      </p:pic>
    </p:spTree>
    <p:extLst>
      <p:ext uri="{BB962C8B-B14F-4D97-AF65-F5344CB8AC3E}">
        <p14:creationId xmlns:p14="http://schemas.microsoft.com/office/powerpoint/2010/main" val="10390005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78DBBF1C-2E1C-4763-A973-0B093F5392A2}"/>
              </a:ext>
            </a:extLst>
          </p:cNvPr>
          <p:cNvSpPr/>
          <p:nvPr/>
        </p:nvSpPr>
        <p:spPr>
          <a:xfrm>
            <a:off x="483442" y="304091"/>
            <a:ext cx="5023683" cy="646331"/>
          </a:xfrm>
          <a:prstGeom prst="rect">
            <a:avLst/>
          </a:prstGeom>
        </p:spPr>
        <p:txBody>
          <a:bodyPr wrap="none">
            <a:spAutoFit/>
          </a:bodyPr>
          <a:lstStyle/>
          <a:p>
            <a:r>
              <a:rPr lang="zh-TW" altLang="en-US" sz="3600" dirty="0"/>
              <a:t>Experimental Results</a:t>
            </a:r>
            <a:r>
              <a:rPr lang="en-US" altLang="zh-TW" sz="3600" dirty="0"/>
              <a:t>(8/8)</a:t>
            </a:r>
            <a:endParaRPr lang="zh-TW" altLang="en-US" sz="3600" dirty="0"/>
          </a:p>
        </p:txBody>
      </p:sp>
      <p:sp>
        <p:nvSpPr>
          <p:cNvPr id="2" name="矩形 1">
            <a:extLst>
              <a:ext uri="{FF2B5EF4-FFF2-40B4-BE49-F238E27FC236}">
                <a16:creationId xmlns:a16="http://schemas.microsoft.com/office/drawing/2014/main" id="{3A53C970-927D-40F2-AFB1-BB84DC8D570B}"/>
              </a:ext>
            </a:extLst>
          </p:cNvPr>
          <p:cNvSpPr/>
          <p:nvPr/>
        </p:nvSpPr>
        <p:spPr>
          <a:xfrm>
            <a:off x="1015698" y="1625741"/>
            <a:ext cx="5080302" cy="461665"/>
          </a:xfrm>
          <a:prstGeom prst="rect">
            <a:avLst/>
          </a:prstGeom>
        </p:spPr>
        <p:txBody>
          <a:bodyPr wrap="none">
            <a:spAutoFit/>
          </a:bodyPr>
          <a:lstStyle/>
          <a:p>
            <a:r>
              <a:rPr lang="zh-TW" altLang="en-US" sz="2400" dirty="0"/>
              <a:t>Comparison with Standard Regularizers</a:t>
            </a:r>
          </a:p>
        </p:txBody>
      </p:sp>
      <p:pic>
        <p:nvPicPr>
          <p:cNvPr id="5" name="圖片 4">
            <a:extLst>
              <a:ext uri="{FF2B5EF4-FFF2-40B4-BE49-F238E27FC236}">
                <a16:creationId xmlns:a16="http://schemas.microsoft.com/office/drawing/2014/main" id="{19346436-1FCA-47DB-853B-6581C28621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04394" y="2941888"/>
            <a:ext cx="7964011" cy="2676899"/>
          </a:xfrm>
          <a:prstGeom prst="rect">
            <a:avLst/>
          </a:prstGeom>
        </p:spPr>
      </p:pic>
    </p:spTree>
    <p:extLst>
      <p:ext uri="{BB962C8B-B14F-4D97-AF65-F5344CB8AC3E}">
        <p14:creationId xmlns:p14="http://schemas.microsoft.com/office/powerpoint/2010/main" val="21891273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a:extLst>
              <a:ext uri="{FF2B5EF4-FFF2-40B4-BE49-F238E27FC236}">
                <a16:creationId xmlns:a16="http://schemas.microsoft.com/office/drawing/2014/main" id="{76B49376-83BE-4341-9D7B-B9F4A523581A}"/>
              </a:ext>
            </a:extLst>
          </p:cNvPr>
          <p:cNvSpPr txBox="1"/>
          <p:nvPr/>
        </p:nvSpPr>
        <p:spPr>
          <a:xfrm>
            <a:off x="3520967" y="2828835"/>
            <a:ext cx="4359270" cy="1200329"/>
          </a:xfrm>
          <a:prstGeom prst="rect">
            <a:avLst/>
          </a:prstGeom>
          <a:noFill/>
        </p:spPr>
        <p:txBody>
          <a:bodyPr wrap="none" rtlCol="0">
            <a:spAutoFit/>
          </a:bodyPr>
          <a:lstStyle/>
          <a:p>
            <a:r>
              <a:rPr lang="en-US" altLang="zh-TW" sz="7200" dirty="0"/>
              <a:t>Thank you!</a:t>
            </a:r>
            <a:endParaRPr lang="zh-TW" altLang="en-US" sz="7200" dirty="0"/>
          </a:p>
        </p:txBody>
      </p:sp>
    </p:spTree>
    <p:extLst>
      <p:ext uri="{BB962C8B-B14F-4D97-AF65-F5344CB8AC3E}">
        <p14:creationId xmlns:p14="http://schemas.microsoft.com/office/powerpoint/2010/main" val="3088823528"/>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3954</TotalTime>
  <Words>1338</Words>
  <Application>Microsoft Office PowerPoint</Application>
  <PresentationFormat>寬螢幕</PresentationFormat>
  <Paragraphs>122</Paragraphs>
  <Slides>23</Slides>
  <Notes>4</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23</vt:i4>
      </vt:variant>
    </vt:vector>
  </HeadingPairs>
  <TitlesOfParts>
    <vt:vector size="29" baseType="lpstr">
      <vt:lpstr>Lucida Grande</vt:lpstr>
      <vt:lpstr>Arial</vt:lpstr>
      <vt:lpstr>Calibri</vt:lpstr>
      <vt:lpstr>Calibri Light</vt:lpstr>
      <vt:lpstr>Times New Roman</vt:lpstr>
      <vt:lpstr>Office 佈景主題</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佳琳 陳</dc:creator>
  <cp:lastModifiedBy>佳琳 陳</cp:lastModifiedBy>
  <cp:revision>171</cp:revision>
  <dcterms:created xsi:type="dcterms:W3CDTF">2019-02-09T07:24:26Z</dcterms:created>
  <dcterms:modified xsi:type="dcterms:W3CDTF">2019-04-02T10:21:46Z</dcterms:modified>
</cp:coreProperties>
</file>