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73" r:id="rId3"/>
    <p:sldId id="257" r:id="rId4"/>
    <p:sldId id="283" r:id="rId5"/>
    <p:sldId id="328" r:id="rId6"/>
    <p:sldId id="320" r:id="rId7"/>
    <p:sldId id="317" r:id="rId8"/>
    <p:sldId id="312" r:id="rId9"/>
    <p:sldId id="326" r:id="rId10"/>
    <p:sldId id="327" r:id="rId11"/>
    <p:sldId id="319" r:id="rId12"/>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u" initials="l" lastIdx="2" clrIdx="0">
    <p:extLst>
      <p:ext uri="{19B8F6BF-5375-455C-9EA6-DF929625EA0E}">
        <p15:presenceInfo xmlns:p15="http://schemas.microsoft.com/office/powerpoint/2012/main" userId="lu"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15" autoAdjust="0"/>
    <p:restoredTop sz="94235" autoAdjust="0"/>
  </p:normalViewPr>
  <p:slideViewPr>
    <p:cSldViewPr snapToGrid="0">
      <p:cViewPr varScale="1">
        <p:scale>
          <a:sx n="107" d="100"/>
          <a:sy n="107" d="100"/>
        </p:scale>
        <p:origin x="6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6F1585-2514-4ABD-9D02-307B86E5C09C}" type="datetimeFigureOut">
              <a:rPr lang="zh-TW" altLang="en-US" smtClean="0"/>
              <a:t>2019/10/15</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677D1C-3D7C-420B-BCA3-33BEDD3D5A80}" type="slidenum">
              <a:rPr lang="zh-TW" altLang="en-US" smtClean="0"/>
              <a:t>‹#›</a:t>
            </a:fld>
            <a:endParaRPr lang="zh-TW" altLang="en-US"/>
          </a:p>
        </p:txBody>
      </p:sp>
    </p:spTree>
    <p:extLst>
      <p:ext uri="{BB962C8B-B14F-4D97-AF65-F5344CB8AC3E}">
        <p14:creationId xmlns:p14="http://schemas.microsoft.com/office/powerpoint/2010/main" val="28389453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2</a:t>
            </a:fld>
            <a:endParaRPr lang="zh-TW" altLang="en-US"/>
          </a:p>
        </p:txBody>
      </p:sp>
    </p:spTree>
    <p:extLst>
      <p:ext uri="{BB962C8B-B14F-4D97-AF65-F5344CB8AC3E}">
        <p14:creationId xmlns:p14="http://schemas.microsoft.com/office/powerpoint/2010/main" val="27209215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3</a:t>
            </a:fld>
            <a:endParaRPr lang="zh-TW" altLang="en-US"/>
          </a:p>
        </p:txBody>
      </p:sp>
    </p:spTree>
    <p:extLst>
      <p:ext uri="{BB962C8B-B14F-4D97-AF65-F5344CB8AC3E}">
        <p14:creationId xmlns:p14="http://schemas.microsoft.com/office/powerpoint/2010/main" val="3574880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4</a:t>
            </a:fld>
            <a:endParaRPr lang="zh-TW" altLang="en-US"/>
          </a:p>
        </p:txBody>
      </p:sp>
    </p:spTree>
    <p:extLst>
      <p:ext uri="{BB962C8B-B14F-4D97-AF65-F5344CB8AC3E}">
        <p14:creationId xmlns:p14="http://schemas.microsoft.com/office/powerpoint/2010/main" val="25152831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5</a:t>
            </a:fld>
            <a:endParaRPr lang="zh-TW" altLang="en-US"/>
          </a:p>
        </p:txBody>
      </p:sp>
    </p:spTree>
    <p:extLst>
      <p:ext uri="{BB962C8B-B14F-4D97-AF65-F5344CB8AC3E}">
        <p14:creationId xmlns:p14="http://schemas.microsoft.com/office/powerpoint/2010/main" val="25152831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7</a:t>
            </a:fld>
            <a:endParaRPr lang="zh-TW" altLang="en-US"/>
          </a:p>
        </p:txBody>
      </p:sp>
    </p:spTree>
    <p:extLst>
      <p:ext uri="{BB962C8B-B14F-4D97-AF65-F5344CB8AC3E}">
        <p14:creationId xmlns:p14="http://schemas.microsoft.com/office/powerpoint/2010/main" val="22391102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8</a:t>
            </a:fld>
            <a:endParaRPr lang="zh-TW" altLang="en-US"/>
          </a:p>
        </p:txBody>
      </p:sp>
    </p:spTree>
    <p:extLst>
      <p:ext uri="{BB962C8B-B14F-4D97-AF65-F5344CB8AC3E}">
        <p14:creationId xmlns:p14="http://schemas.microsoft.com/office/powerpoint/2010/main" val="40007922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9</a:t>
            </a:fld>
            <a:endParaRPr lang="zh-TW" altLang="en-US"/>
          </a:p>
        </p:txBody>
      </p:sp>
    </p:spTree>
    <p:extLst>
      <p:ext uri="{BB962C8B-B14F-4D97-AF65-F5344CB8AC3E}">
        <p14:creationId xmlns:p14="http://schemas.microsoft.com/office/powerpoint/2010/main" val="39554104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10</a:t>
            </a:fld>
            <a:endParaRPr lang="zh-TW" altLang="en-US"/>
          </a:p>
        </p:txBody>
      </p:sp>
    </p:spTree>
    <p:extLst>
      <p:ext uri="{BB962C8B-B14F-4D97-AF65-F5344CB8AC3E}">
        <p14:creationId xmlns:p14="http://schemas.microsoft.com/office/powerpoint/2010/main" val="21650919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CFD9DDC-1562-41E3-9F1A-6464E55FA6CC}"/>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78DFE20D-93A5-46C2-A49A-F0C15C370E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2E469C4C-F457-4167-B363-FB6DD59DC296}"/>
              </a:ext>
            </a:extLst>
          </p:cNvPr>
          <p:cNvSpPr>
            <a:spLocks noGrp="1"/>
          </p:cNvSpPr>
          <p:nvPr>
            <p:ph type="dt" sz="half" idx="10"/>
          </p:nvPr>
        </p:nvSpPr>
        <p:spPr/>
        <p:txBody>
          <a:bodyPr/>
          <a:lstStyle/>
          <a:p>
            <a:fld id="{289B6366-6E92-4855-9B33-10136FFB9F55}" type="datetimeFigureOut">
              <a:rPr lang="zh-TW" altLang="en-US" smtClean="0"/>
              <a:t>2019/10/15</a:t>
            </a:fld>
            <a:endParaRPr lang="zh-TW" altLang="en-US"/>
          </a:p>
        </p:txBody>
      </p:sp>
      <p:sp>
        <p:nvSpPr>
          <p:cNvPr id="5" name="頁尾版面配置區 4">
            <a:extLst>
              <a:ext uri="{FF2B5EF4-FFF2-40B4-BE49-F238E27FC236}">
                <a16:creationId xmlns:a16="http://schemas.microsoft.com/office/drawing/2014/main" id="{DFFC6E50-6AB9-4105-98EF-724B3C0041C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0950C054-D98D-4C90-938F-17BEFCE88E95}"/>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3118731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7533DA1-7165-4DF5-971F-78735A9CE427}"/>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A9257B16-48F3-4742-8243-9C7ED79E7ABC}"/>
              </a:ext>
            </a:extLst>
          </p:cNvPr>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088E6861-BAD9-4B1E-B7CC-ED4F8B71DB22}"/>
              </a:ext>
            </a:extLst>
          </p:cNvPr>
          <p:cNvSpPr>
            <a:spLocks noGrp="1"/>
          </p:cNvSpPr>
          <p:nvPr>
            <p:ph type="dt" sz="half" idx="10"/>
          </p:nvPr>
        </p:nvSpPr>
        <p:spPr/>
        <p:txBody>
          <a:bodyPr/>
          <a:lstStyle/>
          <a:p>
            <a:fld id="{289B6366-6E92-4855-9B33-10136FFB9F55}" type="datetimeFigureOut">
              <a:rPr lang="zh-TW" altLang="en-US" smtClean="0"/>
              <a:t>2019/10/15</a:t>
            </a:fld>
            <a:endParaRPr lang="zh-TW" altLang="en-US"/>
          </a:p>
        </p:txBody>
      </p:sp>
      <p:sp>
        <p:nvSpPr>
          <p:cNvPr id="5" name="頁尾版面配置區 4">
            <a:extLst>
              <a:ext uri="{FF2B5EF4-FFF2-40B4-BE49-F238E27FC236}">
                <a16:creationId xmlns:a16="http://schemas.microsoft.com/office/drawing/2014/main" id="{F706F4B5-A649-474C-8BFE-57517ED0EAD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28F86C2-A14C-422A-8FC6-1D63EF61726C}"/>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6366149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B4346D0-9FE7-4F7E-985A-585F1F59E5C2}"/>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A6063CD7-FE57-450D-939C-29084736AE3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id="{DBCE3ACB-7971-48F1-9875-489AE8943338}"/>
              </a:ext>
            </a:extLst>
          </p:cNvPr>
          <p:cNvSpPr>
            <a:spLocks noGrp="1"/>
          </p:cNvSpPr>
          <p:nvPr>
            <p:ph type="dt" sz="half" idx="10"/>
          </p:nvPr>
        </p:nvSpPr>
        <p:spPr/>
        <p:txBody>
          <a:bodyPr/>
          <a:lstStyle/>
          <a:p>
            <a:fld id="{289B6366-6E92-4855-9B33-10136FFB9F55}" type="datetimeFigureOut">
              <a:rPr lang="zh-TW" altLang="en-US" smtClean="0"/>
              <a:t>2019/10/15</a:t>
            </a:fld>
            <a:endParaRPr lang="zh-TW" altLang="en-US"/>
          </a:p>
        </p:txBody>
      </p:sp>
      <p:sp>
        <p:nvSpPr>
          <p:cNvPr id="5" name="頁尾版面配置區 4">
            <a:extLst>
              <a:ext uri="{FF2B5EF4-FFF2-40B4-BE49-F238E27FC236}">
                <a16:creationId xmlns:a16="http://schemas.microsoft.com/office/drawing/2014/main" id="{35413690-EB95-4432-8BFC-09F929C3BB3D}"/>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34FA246-600E-4025-B715-2485B36E1332}"/>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3288196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C1659F-69D8-4B85-B7A6-F42E1F3A37EE}"/>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ABEBF960-4F47-46F0-89DB-C64F0F1E1283}"/>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F16245D3-5283-415A-84E2-E6274B6E00A2}"/>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62DDA930-81B0-4724-B815-F2EBD1DC4556}"/>
              </a:ext>
            </a:extLst>
          </p:cNvPr>
          <p:cNvSpPr>
            <a:spLocks noGrp="1"/>
          </p:cNvSpPr>
          <p:nvPr>
            <p:ph type="dt" sz="half" idx="10"/>
          </p:nvPr>
        </p:nvSpPr>
        <p:spPr/>
        <p:txBody>
          <a:bodyPr/>
          <a:lstStyle/>
          <a:p>
            <a:fld id="{289B6366-6E92-4855-9B33-10136FFB9F55}" type="datetimeFigureOut">
              <a:rPr lang="zh-TW" altLang="en-US" smtClean="0"/>
              <a:t>2019/10/15</a:t>
            </a:fld>
            <a:endParaRPr lang="zh-TW" altLang="en-US"/>
          </a:p>
        </p:txBody>
      </p:sp>
      <p:sp>
        <p:nvSpPr>
          <p:cNvPr id="6" name="頁尾版面配置區 5">
            <a:extLst>
              <a:ext uri="{FF2B5EF4-FFF2-40B4-BE49-F238E27FC236}">
                <a16:creationId xmlns:a16="http://schemas.microsoft.com/office/drawing/2014/main" id="{F39B2AB0-21DB-4DB7-82C3-46F676AEB0E8}"/>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B797DCFC-9953-4E19-A454-CA08295F589E}"/>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22286691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F60DB38-9964-45C8-A1EF-D1F8C2A33AEB}"/>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A59A4D11-828E-4CB5-A6AE-5F8FA90F4A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id="{5DEDA618-7B28-4B92-955D-D9F57DA002F3}"/>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1B7155B0-41F4-4173-8A9E-AC97385B04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id="{AE9D421D-015E-480B-A473-59B674316675}"/>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B161ED9B-DFA5-480A-AD88-6DFF046FCB53}"/>
              </a:ext>
            </a:extLst>
          </p:cNvPr>
          <p:cNvSpPr>
            <a:spLocks noGrp="1"/>
          </p:cNvSpPr>
          <p:nvPr>
            <p:ph type="dt" sz="half" idx="10"/>
          </p:nvPr>
        </p:nvSpPr>
        <p:spPr/>
        <p:txBody>
          <a:bodyPr/>
          <a:lstStyle/>
          <a:p>
            <a:fld id="{289B6366-6E92-4855-9B33-10136FFB9F55}" type="datetimeFigureOut">
              <a:rPr lang="zh-TW" altLang="en-US" smtClean="0"/>
              <a:t>2019/10/15</a:t>
            </a:fld>
            <a:endParaRPr lang="zh-TW" altLang="en-US"/>
          </a:p>
        </p:txBody>
      </p:sp>
      <p:sp>
        <p:nvSpPr>
          <p:cNvPr id="8" name="頁尾版面配置區 7">
            <a:extLst>
              <a:ext uri="{FF2B5EF4-FFF2-40B4-BE49-F238E27FC236}">
                <a16:creationId xmlns:a16="http://schemas.microsoft.com/office/drawing/2014/main" id="{F3B77038-7B39-4853-9220-09E92BEB16F8}"/>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127B11AF-87CE-457B-9D69-58137A50985B}"/>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215180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83FC20B-A168-4787-91C9-454E6B2BC8C5}"/>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D2DA7D75-DCEA-4D5F-817A-1F76017002B1}"/>
              </a:ext>
            </a:extLst>
          </p:cNvPr>
          <p:cNvSpPr>
            <a:spLocks noGrp="1"/>
          </p:cNvSpPr>
          <p:nvPr>
            <p:ph type="dt" sz="half" idx="10"/>
          </p:nvPr>
        </p:nvSpPr>
        <p:spPr/>
        <p:txBody>
          <a:bodyPr/>
          <a:lstStyle/>
          <a:p>
            <a:fld id="{289B6366-6E92-4855-9B33-10136FFB9F55}" type="datetimeFigureOut">
              <a:rPr lang="zh-TW" altLang="en-US" smtClean="0"/>
              <a:t>2019/10/15</a:t>
            </a:fld>
            <a:endParaRPr lang="zh-TW" altLang="en-US"/>
          </a:p>
        </p:txBody>
      </p:sp>
      <p:sp>
        <p:nvSpPr>
          <p:cNvPr id="4" name="頁尾版面配置區 3">
            <a:extLst>
              <a:ext uri="{FF2B5EF4-FFF2-40B4-BE49-F238E27FC236}">
                <a16:creationId xmlns:a16="http://schemas.microsoft.com/office/drawing/2014/main" id="{6E420462-1E6B-4811-A101-C24EE185E4F6}"/>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EF5204FD-F249-467A-809E-2B53F765C671}"/>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3179819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00AA5AFE-F983-4BD0-A86F-D18589BB081B}"/>
              </a:ext>
            </a:extLst>
          </p:cNvPr>
          <p:cNvSpPr>
            <a:spLocks noGrp="1"/>
          </p:cNvSpPr>
          <p:nvPr>
            <p:ph type="dt" sz="half" idx="10"/>
          </p:nvPr>
        </p:nvSpPr>
        <p:spPr/>
        <p:txBody>
          <a:bodyPr/>
          <a:lstStyle/>
          <a:p>
            <a:fld id="{289B6366-6E92-4855-9B33-10136FFB9F55}" type="datetimeFigureOut">
              <a:rPr lang="zh-TW" altLang="en-US" smtClean="0"/>
              <a:t>2019/10/15</a:t>
            </a:fld>
            <a:endParaRPr lang="zh-TW" altLang="en-US"/>
          </a:p>
        </p:txBody>
      </p:sp>
      <p:sp>
        <p:nvSpPr>
          <p:cNvPr id="3" name="頁尾版面配置區 2">
            <a:extLst>
              <a:ext uri="{FF2B5EF4-FFF2-40B4-BE49-F238E27FC236}">
                <a16:creationId xmlns:a16="http://schemas.microsoft.com/office/drawing/2014/main" id="{8AE15BC6-0BDC-4D5E-B093-968EA5FDED06}"/>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571BFC94-F3F4-4DC3-AAE4-BC932631BD05}"/>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7247210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A77FD33-544D-451E-8F35-6516C626BEC6}"/>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3A37D552-228A-402E-AE3D-2AEAE23C9DD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25E0435F-1CA3-499B-A972-EE4FA12CA1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C189A80C-0898-442B-A9DB-6CE747D9C7F0}"/>
              </a:ext>
            </a:extLst>
          </p:cNvPr>
          <p:cNvSpPr>
            <a:spLocks noGrp="1"/>
          </p:cNvSpPr>
          <p:nvPr>
            <p:ph type="dt" sz="half" idx="10"/>
          </p:nvPr>
        </p:nvSpPr>
        <p:spPr/>
        <p:txBody>
          <a:bodyPr/>
          <a:lstStyle/>
          <a:p>
            <a:fld id="{289B6366-6E92-4855-9B33-10136FFB9F55}" type="datetimeFigureOut">
              <a:rPr lang="zh-TW" altLang="en-US" smtClean="0"/>
              <a:t>2019/10/15</a:t>
            </a:fld>
            <a:endParaRPr lang="zh-TW" altLang="en-US"/>
          </a:p>
        </p:txBody>
      </p:sp>
      <p:sp>
        <p:nvSpPr>
          <p:cNvPr id="6" name="頁尾版面配置區 5">
            <a:extLst>
              <a:ext uri="{FF2B5EF4-FFF2-40B4-BE49-F238E27FC236}">
                <a16:creationId xmlns:a16="http://schemas.microsoft.com/office/drawing/2014/main" id="{DF1EF31A-4A67-484F-8573-1D1F63C18EB1}"/>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48DADBDA-C04D-4B1F-9E13-784372684EE0}"/>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9457642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619C6B2-1FC1-4D82-AE09-83971387173B}"/>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053A6602-82D6-4233-AD5A-DC49828316B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AF7135F2-2932-4070-9CCA-6213EFE682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14D3864F-50D1-4DBD-A5B6-1645AA45EA59}"/>
              </a:ext>
            </a:extLst>
          </p:cNvPr>
          <p:cNvSpPr>
            <a:spLocks noGrp="1"/>
          </p:cNvSpPr>
          <p:nvPr>
            <p:ph type="dt" sz="half" idx="10"/>
          </p:nvPr>
        </p:nvSpPr>
        <p:spPr/>
        <p:txBody>
          <a:bodyPr/>
          <a:lstStyle/>
          <a:p>
            <a:fld id="{289B6366-6E92-4855-9B33-10136FFB9F55}" type="datetimeFigureOut">
              <a:rPr lang="zh-TW" altLang="en-US" smtClean="0"/>
              <a:t>2019/10/15</a:t>
            </a:fld>
            <a:endParaRPr lang="zh-TW" altLang="en-US"/>
          </a:p>
        </p:txBody>
      </p:sp>
      <p:sp>
        <p:nvSpPr>
          <p:cNvPr id="6" name="頁尾版面配置區 5">
            <a:extLst>
              <a:ext uri="{FF2B5EF4-FFF2-40B4-BE49-F238E27FC236}">
                <a16:creationId xmlns:a16="http://schemas.microsoft.com/office/drawing/2014/main" id="{D59F5A93-207A-45A5-9BEC-53C28FF8F1E0}"/>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54103368-FB4E-41AE-811C-7BC7ADAFC7D3}"/>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25521693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29C4861-2A8C-4410-8E4A-4441FC1320E8}"/>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91ED451D-7435-47B8-AA6C-87B8EEA207EC}"/>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91A2253F-98FC-4AD8-AB1E-608801808E4B}"/>
              </a:ext>
            </a:extLst>
          </p:cNvPr>
          <p:cNvSpPr>
            <a:spLocks noGrp="1"/>
          </p:cNvSpPr>
          <p:nvPr>
            <p:ph type="dt" sz="half" idx="10"/>
          </p:nvPr>
        </p:nvSpPr>
        <p:spPr/>
        <p:txBody>
          <a:bodyPr/>
          <a:lstStyle/>
          <a:p>
            <a:fld id="{289B6366-6E92-4855-9B33-10136FFB9F55}" type="datetimeFigureOut">
              <a:rPr lang="zh-TW" altLang="en-US" smtClean="0"/>
              <a:t>2019/10/15</a:t>
            </a:fld>
            <a:endParaRPr lang="zh-TW" altLang="en-US"/>
          </a:p>
        </p:txBody>
      </p:sp>
      <p:sp>
        <p:nvSpPr>
          <p:cNvPr id="5" name="頁尾版面配置區 4">
            <a:extLst>
              <a:ext uri="{FF2B5EF4-FFF2-40B4-BE49-F238E27FC236}">
                <a16:creationId xmlns:a16="http://schemas.microsoft.com/office/drawing/2014/main" id="{A12D5CBA-DDC5-46C6-9551-77D0E481A03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0021B7B3-C52D-4681-8005-1EC96B7EE50D}"/>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35553865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C702BAFC-3D18-4325-B382-BF414846856F}"/>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2D2FEE02-A709-4FB0-9DDE-940FDB4B61FF}"/>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01DB4D53-3EC7-453D-BD90-F21F29EA365F}"/>
              </a:ext>
            </a:extLst>
          </p:cNvPr>
          <p:cNvSpPr>
            <a:spLocks noGrp="1"/>
          </p:cNvSpPr>
          <p:nvPr>
            <p:ph type="dt" sz="half" idx="10"/>
          </p:nvPr>
        </p:nvSpPr>
        <p:spPr/>
        <p:txBody>
          <a:bodyPr/>
          <a:lstStyle/>
          <a:p>
            <a:fld id="{289B6366-6E92-4855-9B33-10136FFB9F55}" type="datetimeFigureOut">
              <a:rPr lang="zh-TW" altLang="en-US" smtClean="0"/>
              <a:t>2019/10/15</a:t>
            </a:fld>
            <a:endParaRPr lang="zh-TW" altLang="en-US"/>
          </a:p>
        </p:txBody>
      </p:sp>
      <p:sp>
        <p:nvSpPr>
          <p:cNvPr id="5" name="頁尾版面配置區 4">
            <a:extLst>
              <a:ext uri="{FF2B5EF4-FFF2-40B4-BE49-F238E27FC236}">
                <a16:creationId xmlns:a16="http://schemas.microsoft.com/office/drawing/2014/main" id="{324CA5CE-17CD-419F-8C13-16D273AFBF2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C3B6B85C-8189-47A7-8D84-0B8FD90A869B}"/>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6589745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8C2E46CB-D80A-4DE1-9C2C-DBEB59D1D1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3A01FB3C-2F61-41E2-A419-5D2378D7B77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AC1DBDDA-1C0E-4B2A-A31E-1956DBF268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9B6366-6E92-4855-9B33-10136FFB9F55}" type="datetimeFigureOut">
              <a:rPr lang="zh-TW" altLang="en-US" smtClean="0"/>
              <a:t>2019/10/15</a:t>
            </a:fld>
            <a:endParaRPr lang="zh-TW" altLang="en-US"/>
          </a:p>
        </p:txBody>
      </p:sp>
      <p:sp>
        <p:nvSpPr>
          <p:cNvPr id="5" name="頁尾版面配置區 4">
            <a:extLst>
              <a:ext uri="{FF2B5EF4-FFF2-40B4-BE49-F238E27FC236}">
                <a16:creationId xmlns:a16="http://schemas.microsoft.com/office/drawing/2014/main" id="{5420D0D2-BA69-4AB7-97C4-062135932B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534B1C00-4FD7-4FEA-B3B1-0FC20958196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8472938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DABD277-3DCF-4084-9E03-BF06B086F7E6}"/>
              </a:ext>
            </a:extLst>
          </p:cNvPr>
          <p:cNvSpPr>
            <a:spLocks noGrp="1"/>
          </p:cNvSpPr>
          <p:nvPr>
            <p:ph type="ctrTitle"/>
          </p:nvPr>
        </p:nvSpPr>
        <p:spPr>
          <a:xfrm>
            <a:off x="35859" y="500281"/>
            <a:ext cx="12120282" cy="1683521"/>
          </a:xfrm>
        </p:spPr>
        <p:txBody>
          <a:bodyPr>
            <a:normAutofit/>
          </a:bodyPr>
          <a:lstStyle/>
          <a:p>
            <a:r>
              <a:rPr lang="en-US" altLang="zh-TW" sz="3200" b="1" dirty="0">
                <a:latin typeface="Times New Roman" panose="02020603050405020304" pitchFamily="18" charset="0"/>
                <a:cs typeface="Times New Roman" panose="02020603050405020304" pitchFamily="18" charset="0"/>
              </a:rPr>
              <a:t>Prediction of Drug-Disease Associations for Drug Repositioning Through Drug-miRNA-Disease Heterogeneous Network</a:t>
            </a:r>
            <a:endParaRPr lang="zh-TW" altLang="en-US" sz="3200" b="1"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2FF96485-B26C-4B59-B13D-880AA0BD68EA}"/>
              </a:ext>
            </a:extLst>
          </p:cNvPr>
          <p:cNvSpPr>
            <a:spLocks noGrp="1"/>
          </p:cNvSpPr>
          <p:nvPr>
            <p:ph type="subTitle" idx="1"/>
          </p:nvPr>
        </p:nvSpPr>
        <p:spPr>
          <a:xfrm>
            <a:off x="1317324" y="2290880"/>
            <a:ext cx="10193358" cy="1590037"/>
          </a:xfrm>
        </p:spPr>
        <p:txBody>
          <a:bodyPr>
            <a:normAutofit/>
          </a:bodyPr>
          <a:lstStyle/>
          <a:p>
            <a:endParaRPr lang="en-US" altLang="zh-TW" dirty="0"/>
          </a:p>
          <a:p>
            <a:r>
              <a:rPr lang="en-US" altLang="zh-TW" sz="2800" dirty="0" err="1"/>
              <a:t>Hailin</a:t>
            </a:r>
            <a:r>
              <a:rPr lang="en-US" altLang="zh-TW" sz="2800" dirty="0"/>
              <a:t> Chen, </a:t>
            </a:r>
            <a:r>
              <a:rPr lang="en-US" altLang="zh-TW" sz="2800" dirty="0" err="1"/>
              <a:t>Zuping</a:t>
            </a:r>
            <a:r>
              <a:rPr lang="en-US" altLang="zh-TW" sz="2800" dirty="0"/>
              <a:t> Zhang</a:t>
            </a:r>
            <a:endParaRPr lang="zh-TW" altLang="en-US" sz="2800" dirty="0">
              <a:latin typeface="Times New Roman" panose="02020603050405020304" pitchFamily="18" charset="0"/>
              <a:cs typeface="Times New Roman" panose="02020603050405020304" pitchFamily="18" charset="0"/>
            </a:endParaRPr>
          </a:p>
        </p:txBody>
      </p:sp>
      <p:sp>
        <p:nvSpPr>
          <p:cNvPr id="4" name="副標題 2">
            <a:extLst>
              <a:ext uri="{FF2B5EF4-FFF2-40B4-BE49-F238E27FC236}">
                <a16:creationId xmlns:a16="http://schemas.microsoft.com/office/drawing/2014/main" id="{64AE8193-1DE0-47D4-9DBB-4734B89CA666}"/>
              </a:ext>
            </a:extLst>
          </p:cNvPr>
          <p:cNvSpPr txBox="1">
            <a:spLocks/>
          </p:cNvSpPr>
          <p:nvPr/>
        </p:nvSpPr>
        <p:spPr>
          <a:xfrm>
            <a:off x="1398494" y="3987995"/>
            <a:ext cx="8552329" cy="110037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TW" dirty="0">
                <a:latin typeface="Times New Roman" panose="02020603050405020304" pitchFamily="18" charset="0"/>
                <a:cs typeface="Times New Roman" panose="02020603050405020304" pitchFamily="18" charset="0"/>
              </a:rPr>
              <a:t>IEEE Access, Volume 6,</a:t>
            </a:r>
            <a:r>
              <a:rPr lang="en-US" altLang="zh-TW" dirty="0"/>
              <a:t> Pages 45281 - 45287</a:t>
            </a:r>
            <a:r>
              <a:rPr lang="en-US" altLang="zh-TW" dirty="0">
                <a:latin typeface="Times New Roman" panose="02020603050405020304" pitchFamily="18" charset="0"/>
                <a:cs typeface="Times New Roman" panose="02020603050405020304" pitchFamily="18" charset="0"/>
              </a:rPr>
              <a:t>, 2018</a:t>
            </a:r>
          </a:p>
        </p:txBody>
      </p:sp>
      <p:sp>
        <p:nvSpPr>
          <p:cNvPr id="5" name="副標題 2">
            <a:extLst>
              <a:ext uri="{FF2B5EF4-FFF2-40B4-BE49-F238E27FC236}">
                <a16:creationId xmlns:a16="http://schemas.microsoft.com/office/drawing/2014/main" id="{83311FB5-1C7C-4049-9C63-3A86A28231CF}"/>
              </a:ext>
            </a:extLst>
          </p:cNvPr>
          <p:cNvSpPr txBox="1">
            <a:spLocks/>
          </p:cNvSpPr>
          <p:nvPr/>
        </p:nvSpPr>
        <p:spPr>
          <a:xfrm>
            <a:off x="8616875" y="5526721"/>
            <a:ext cx="2893807" cy="830998"/>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Speaker: </a:t>
            </a:r>
            <a:r>
              <a:rPr lang="en-US" altLang="zh-TW" sz="2000" dirty="0" err="1">
                <a:latin typeface="Times New Roman" panose="02020603050405020304" pitchFamily="18" charset="0"/>
                <a:ea typeface="標楷體" panose="03000509000000000000" pitchFamily="65" charset="-120"/>
                <a:cs typeface="Times New Roman" panose="02020603050405020304" pitchFamily="18" charset="0"/>
              </a:rPr>
              <a:t>Jheng</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-Yan </a:t>
            </a:r>
            <a:r>
              <a:rPr lang="en-US" altLang="zh-TW" sz="2000" dirty="0" err="1">
                <a:latin typeface="Times New Roman" panose="02020603050405020304" pitchFamily="18" charset="0"/>
                <a:ea typeface="標楷體" panose="03000509000000000000" pitchFamily="65" charset="-120"/>
                <a:cs typeface="Times New Roman" panose="02020603050405020304" pitchFamily="18" charset="0"/>
              </a:rPr>
              <a:t>Lyu</a:t>
            </a:r>
            <a:endParaRPr lang="en-US" altLang="zh-TW" sz="2000" dirty="0">
              <a:latin typeface="Times New Roman" panose="02020603050405020304" pitchFamily="18" charset="0"/>
              <a:ea typeface="標楷體" panose="03000509000000000000" pitchFamily="65" charset="-120"/>
              <a:cs typeface="Times New Roman" panose="02020603050405020304" pitchFamily="18" charset="0"/>
            </a:endParaRPr>
          </a:p>
          <a:p>
            <a:pPr algn="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Date: Oct. 15, 2019</a:t>
            </a:r>
          </a:p>
        </p:txBody>
      </p:sp>
    </p:spTree>
    <p:extLst>
      <p:ext uri="{BB962C8B-B14F-4D97-AF65-F5344CB8AC3E}">
        <p14:creationId xmlns:p14="http://schemas.microsoft.com/office/powerpoint/2010/main" val="3014946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80913" y="27469"/>
            <a:ext cx="7886700" cy="742817"/>
          </a:xfrm>
        </p:spPr>
        <p:txBody>
          <a:bodyPr>
            <a:normAutofit/>
          </a:bodyPr>
          <a:lstStyle/>
          <a:p>
            <a:r>
              <a:rPr lang="en-US" altLang="zh-TW" sz="3600" dirty="0">
                <a:latin typeface="Times New Roman" panose="02020603050405020304" pitchFamily="18" charset="0"/>
                <a:cs typeface="Times New Roman" panose="02020603050405020304" pitchFamily="18" charset="0"/>
              </a:rPr>
              <a:t>Abstract</a:t>
            </a:r>
            <a:r>
              <a:rPr lang="zh-TW" altLang="en-US" sz="3600" dirty="0">
                <a:latin typeface="Times New Roman" panose="02020603050405020304" pitchFamily="18" charset="0"/>
                <a:cs typeface="Times New Roman" panose="02020603050405020304" pitchFamily="18" charset="0"/>
              </a:rPr>
              <a:t> </a:t>
            </a:r>
            <a:r>
              <a:rPr lang="en-US" altLang="zh-TW" sz="3600" dirty="0">
                <a:latin typeface="Times New Roman" panose="02020603050405020304" pitchFamily="18" charset="0"/>
                <a:cs typeface="Times New Roman" panose="02020603050405020304" pitchFamily="18" charset="0"/>
              </a:rPr>
              <a:t>(1/2)</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p:txBody>
          <a:bodyPr/>
          <a:lstStyle/>
          <a:p>
            <a:fld id="{872633CA-77E0-4863-94F8-E28139DFB2B4}" type="slidenum">
              <a:rPr lang="zh-TW" altLang="en-US" smtClean="0"/>
              <a:t>2</a:t>
            </a:fld>
            <a:endParaRPr lang="zh-TW" altLang="en-US"/>
          </a:p>
        </p:txBody>
      </p:sp>
      <p:sp>
        <p:nvSpPr>
          <p:cNvPr id="7" name="內容版面配置區 6">
            <a:extLst>
              <a:ext uri="{FF2B5EF4-FFF2-40B4-BE49-F238E27FC236}">
                <a16:creationId xmlns:a16="http://schemas.microsoft.com/office/drawing/2014/main" id="{878CA31B-C758-4215-B281-353CA02EC37A}"/>
              </a:ext>
            </a:extLst>
          </p:cNvPr>
          <p:cNvSpPr>
            <a:spLocks noGrp="1"/>
          </p:cNvSpPr>
          <p:nvPr>
            <p:ph idx="1"/>
          </p:nvPr>
        </p:nvSpPr>
        <p:spPr>
          <a:xfrm>
            <a:off x="580913" y="613185"/>
            <a:ext cx="10875981" cy="6108289"/>
          </a:xfrm>
        </p:spPr>
        <p:txBody>
          <a:bodyPr>
            <a:noAutofit/>
          </a:bodyPr>
          <a:lstStyle/>
          <a:p>
            <a:pPr marL="0" indent="0" algn="just">
              <a:lnSpc>
                <a:spcPct val="150000"/>
              </a:lnSpc>
              <a:buNone/>
            </a:pPr>
            <a:r>
              <a:rPr lang="en-US" altLang="zh-TW" sz="2200" spc="-150" dirty="0">
                <a:cs typeface="Times New Roman" panose="02020603050405020304" pitchFamily="18" charset="0"/>
              </a:rPr>
              <a:t>Drug repositioning, which refers to the identification of new clinical indications for existing drugs, has become an important strategy for drug discovery. The most recent studies in pharmacogenomics have demonstrated that drugs can target microRNAs (miRNAs) and regulate their expression levels. Given the intriguing fact that the inappropriate expression of miRNAs is related to many kinds of human diseases, developing small-molecule drugs to target specific miRNAs and modulate their activities would be a promising approach to disease treatment, which offers an innovative insight for drug repositioning. In this paper, we proposed a miRNA-based computational method HNBI to infer novel drug-disease associations for drug repositioning. Similarity measurements and experimentally supported association information were first integrated to construct a three-layer drug-miRNA-disease heterogeneous network. Our method then updated the strength of weight between unlinked drug-miRNA, miRNA-disease, and drug-disease pairs iteratively till stabilized. Based on information flow on the heterogeneous network, the final weight of drug-disease associations was received by summarizing the values of paths connecting the two types of nodes. </a:t>
            </a:r>
          </a:p>
        </p:txBody>
      </p:sp>
    </p:spTree>
    <p:extLst>
      <p:ext uri="{BB962C8B-B14F-4D97-AF65-F5344CB8AC3E}">
        <p14:creationId xmlns:p14="http://schemas.microsoft.com/office/powerpoint/2010/main" val="15950678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17271" y="145695"/>
            <a:ext cx="7886700" cy="742817"/>
          </a:xfrm>
        </p:spPr>
        <p:txBody>
          <a:bodyPr>
            <a:normAutofit/>
          </a:bodyPr>
          <a:lstStyle/>
          <a:p>
            <a:r>
              <a:rPr lang="en-US" altLang="zh-TW" sz="3600" dirty="0">
                <a:latin typeface="Times New Roman" panose="02020603050405020304" pitchFamily="18" charset="0"/>
                <a:cs typeface="Times New Roman" panose="02020603050405020304" pitchFamily="18" charset="0"/>
              </a:rPr>
              <a:t>Abstract (2/2)</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p:txBody>
          <a:bodyPr/>
          <a:lstStyle/>
          <a:p>
            <a:fld id="{872633CA-77E0-4863-94F8-E28139DFB2B4}" type="slidenum">
              <a:rPr lang="zh-TW" altLang="en-US" smtClean="0"/>
              <a:t>3</a:t>
            </a:fld>
            <a:endParaRPr lang="zh-TW" altLang="en-US"/>
          </a:p>
        </p:txBody>
      </p:sp>
      <p:sp>
        <p:nvSpPr>
          <p:cNvPr id="7" name="內容版面配置區 6">
            <a:extLst>
              <a:ext uri="{FF2B5EF4-FFF2-40B4-BE49-F238E27FC236}">
                <a16:creationId xmlns:a16="http://schemas.microsoft.com/office/drawing/2014/main" id="{878CA31B-C758-4215-B281-353CA02EC37A}"/>
              </a:ext>
            </a:extLst>
          </p:cNvPr>
          <p:cNvSpPr>
            <a:spLocks noGrp="1"/>
          </p:cNvSpPr>
          <p:nvPr>
            <p:ph idx="1"/>
          </p:nvPr>
        </p:nvSpPr>
        <p:spPr>
          <a:xfrm>
            <a:off x="517271" y="888513"/>
            <a:ext cx="11455990" cy="5652136"/>
          </a:xfrm>
        </p:spPr>
        <p:txBody>
          <a:bodyPr vert="horz" lIns="91440" tIns="45720" rIns="91440" bIns="45720" rtlCol="0">
            <a:noAutofit/>
          </a:bodyPr>
          <a:lstStyle/>
          <a:p>
            <a:pPr marL="0" indent="0" algn="just">
              <a:lnSpc>
                <a:spcPct val="150000"/>
              </a:lnSpc>
              <a:buNone/>
            </a:pPr>
            <a:r>
              <a:rPr lang="en-US" altLang="zh-TW" sz="2200" spc="-150" dirty="0">
                <a:cs typeface="Times New Roman" panose="02020603050405020304" pitchFamily="18" charset="0"/>
              </a:rPr>
              <a:t>We prioritized the potential drug-disease associations according to the new weight. When applied to the collected data set for cross-validation experiments, our method showed superior performance in drug-disease association predictions compared with two state-of-the-art methods. Furthermore, our method HNBI incorporated information of target miRNAs to understand the mechanisms of action of drugs and the molecular mechanisms of diseases. A case study on the drug Terazosin indicated that some predicted indications with high ranks were supported by the recent literature, which further illustrated the practical usefulness of our method. Finally, comprehensive predictions of associations between drugs and diseases were released for future drug repositioning studies.</a:t>
            </a:r>
            <a:endParaRPr lang="en-US" altLang="zh-TW" sz="2200" spc="-15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04781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838200" y="432552"/>
            <a:ext cx="10844604" cy="729274"/>
          </a:xfrm>
        </p:spPr>
        <p:txBody>
          <a:bodyPr>
            <a:normAutofit/>
          </a:bodyPr>
          <a:lstStyle/>
          <a:p>
            <a:r>
              <a:rPr lang="en-US" altLang="zh-TW" sz="3600" dirty="0">
                <a:latin typeface="Times New Roman" panose="02020603050405020304" pitchFamily="18" charset="0"/>
                <a:cs typeface="Times New Roman" panose="02020603050405020304" pitchFamily="18" charset="0"/>
              </a:rPr>
              <a:t>Similarities</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4</a:t>
            </a:fld>
            <a:endParaRPr lang="zh-TW" altLang="en-US"/>
          </a:p>
        </p:txBody>
      </p:sp>
      <p:sp>
        <p:nvSpPr>
          <p:cNvPr id="17" name="內容版面配置區 16">
            <a:extLst>
              <a:ext uri="{FF2B5EF4-FFF2-40B4-BE49-F238E27FC236}">
                <a16:creationId xmlns:a16="http://schemas.microsoft.com/office/drawing/2014/main" id="{B3B369A4-994D-4FC9-B14F-FC14ACB6A342}"/>
              </a:ext>
            </a:extLst>
          </p:cNvPr>
          <p:cNvSpPr>
            <a:spLocks noGrp="1"/>
          </p:cNvSpPr>
          <p:nvPr>
            <p:ph idx="1"/>
          </p:nvPr>
        </p:nvSpPr>
        <p:spPr>
          <a:xfrm>
            <a:off x="838200" y="1161826"/>
            <a:ext cx="10633038" cy="4929076"/>
          </a:xfrm>
        </p:spPr>
        <p:txBody>
          <a:bodyPr/>
          <a:lstStyle/>
          <a:p>
            <a:r>
              <a:rPr lang="en-US" altLang="zh-TW" dirty="0"/>
              <a:t>Drug-drug similarities</a:t>
            </a:r>
          </a:p>
          <a:p>
            <a:pPr lvl="1"/>
            <a:r>
              <a:rPr lang="en-US" altLang="zh-TW" dirty="0"/>
              <a:t>chemical structures : The similarity score between two drugs is computed based on their fingerprints</a:t>
            </a:r>
          </a:p>
          <a:p>
            <a:pPr lvl="1"/>
            <a:r>
              <a:rPr lang="en-US" altLang="zh-TW" dirty="0"/>
              <a:t>functional consistency</a:t>
            </a:r>
          </a:p>
          <a:p>
            <a:pPr lvl="1"/>
            <a:r>
              <a:rPr lang="en-US" altLang="zh-TW" dirty="0"/>
              <a:t>side effects : drug side effects associations extracted from package inserts using text mining methods.</a:t>
            </a:r>
          </a:p>
          <a:p>
            <a:pPr lvl="2"/>
            <a:r>
              <a:rPr lang="en-US" altLang="zh-TW" dirty="0"/>
              <a:t>the similarity between drugs according to the </a:t>
            </a:r>
            <a:r>
              <a:rPr lang="en-US" altLang="zh-TW" u="sng" dirty="0"/>
              <a:t>Jaccard score</a:t>
            </a:r>
            <a:r>
              <a:rPr lang="en-US" altLang="zh-TW" dirty="0"/>
              <a:t> between either their known side effects or top 10 predicted side effects in case they are unknown.</a:t>
            </a:r>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miRNA-miRNA similarities</a:t>
            </a:r>
          </a:p>
          <a:p>
            <a:r>
              <a:rPr lang="en-US" altLang="zh-TW" dirty="0">
                <a:latin typeface="Times New Roman" panose="02020603050405020304" pitchFamily="18" charset="0"/>
                <a:cs typeface="Times New Roman" panose="02020603050405020304" pitchFamily="18" charset="0"/>
              </a:rPr>
              <a:t>Disease-disease similarities</a:t>
            </a:r>
            <a:endParaRPr lang="zh-TW" altLang="en-US" dirty="0"/>
          </a:p>
        </p:txBody>
      </p:sp>
    </p:spTree>
    <p:extLst>
      <p:ext uri="{BB962C8B-B14F-4D97-AF65-F5344CB8AC3E}">
        <p14:creationId xmlns:p14="http://schemas.microsoft.com/office/powerpoint/2010/main" val="8154466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838200" y="432552"/>
            <a:ext cx="10844604" cy="729274"/>
          </a:xfrm>
        </p:spPr>
        <p:txBody>
          <a:bodyPr>
            <a:normAutofit/>
          </a:bodyPr>
          <a:lstStyle/>
          <a:p>
            <a:r>
              <a:rPr lang="en-US" altLang="zh-TW" sz="3600" dirty="0">
                <a:latin typeface="Times New Roman" panose="02020603050405020304" pitchFamily="18" charset="0"/>
                <a:cs typeface="Times New Roman" panose="02020603050405020304" pitchFamily="18" charset="0"/>
              </a:rPr>
              <a:t>Disease similarity measurement</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5</a:t>
            </a:fld>
            <a:endParaRPr lang="zh-TW" altLang="en-US"/>
          </a:p>
        </p:txBody>
      </p:sp>
      <p:sp>
        <p:nvSpPr>
          <p:cNvPr id="17" name="內容版面配置區 16">
            <a:extLst>
              <a:ext uri="{FF2B5EF4-FFF2-40B4-BE49-F238E27FC236}">
                <a16:creationId xmlns:a16="http://schemas.microsoft.com/office/drawing/2014/main" id="{B3B369A4-994D-4FC9-B14F-FC14ACB6A342}"/>
              </a:ext>
            </a:extLst>
          </p:cNvPr>
          <p:cNvSpPr>
            <a:spLocks noGrp="1"/>
          </p:cNvSpPr>
          <p:nvPr>
            <p:ph idx="1"/>
          </p:nvPr>
        </p:nvSpPr>
        <p:spPr>
          <a:xfrm>
            <a:off x="838200" y="1161826"/>
            <a:ext cx="10633038" cy="4929076"/>
          </a:xfrm>
        </p:spPr>
        <p:txBody>
          <a:bodyPr/>
          <a:lstStyle/>
          <a:p>
            <a:endParaRPr lang="zh-TW" altLang="en-US" dirty="0"/>
          </a:p>
        </p:txBody>
      </p:sp>
      <p:pic>
        <p:nvPicPr>
          <p:cNvPr id="5" name="圖片 4">
            <a:extLst>
              <a:ext uri="{FF2B5EF4-FFF2-40B4-BE49-F238E27FC236}">
                <a16:creationId xmlns:a16="http://schemas.microsoft.com/office/drawing/2014/main" id="{4D9190C9-28EB-4261-A9A7-95D37CC6F3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5802" y="1193926"/>
            <a:ext cx="6842509" cy="1081145"/>
          </a:xfrm>
          <a:prstGeom prst="rect">
            <a:avLst/>
          </a:prstGeom>
        </p:spPr>
      </p:pic>
      <p:pic>
        <p:nvPicPr>
          <p:cNvPr id="8" name="圖片 7" descr="一張含有 物件, 手錶 的圖片&#10;&#10;自動產生的描述">
            <a:extLst>
              <a:ext uri="{FF2B5EF4-FFF2-40B4-BE49-F238E27FC236}">
                <a16:creationId xmlns:a16="http://schemas.microsoft.com/office/drawing/2014/main" id="{ABB82C29-83FA-40B0-BED6-9C4C98084F6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5802" y="2609366"/>
            <a:ext cx="3583548" cy="1005587"/>
          </a:xfrm>
          <a:prstGeom prst="rect">
            <a:avLst/>
          </a:prstGeom>
        </p:spPr>
      </p:pic>
      <p:pic>
        <p:nvPicPr>
          <p:cNvPr id="19" name="圖片 18" descr="一張含有 物件 的圖片&#10;&#10;自動產生的描述">
            <a:extLst>
              <a:ext uri="{FF2B5EF4-FFF2-40B4-BE49-F238E27FC236}">
                <a16:creationId xmlns:a16="http://schemas.microsoft.com/office/drawing/2014/main" id="{1E020F7D-C022-44F0-A128-D545E54F6DC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15802" y="3957399"/>
            <a:ext cx="5800382" cy="1251062"/>
          </a:xfrm>
          <a:prstGeom prst="rect">
            <a:avLst/>
          </a:prstGeom>
        </p:spPr>
      </p:pic>
      <p:pic>
        <p:nvPicPr>
          <p:cNvPr id="20" name="內容版面配置區 14" descr="一張含有 物件, 手錶 的圖片&#10;&#10;自動產生的描述">
            <a:extLst>
              <a:ext uri="{FF2B5EF4-FFF2-40B4-BE49-F238E27FC236}">
                <a16:creationId xmlns:a16="http://schemas.microsoft.com/office/drawing/2014/main" id="{D7017DF6-CE4C-40AC-B289-53069FF58AD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21120" y="5435613"/>
            <a:ext cx="5919699" cy="788013"/>
          </a:xfrm>
          <a:prstGeom prst="rect">
            <a:avLst/>
          </a:prstGeom>
        </p:spPr>
      </p:pic>
    </p:spTree>
    <p:extLst>
      <p:ext uri="{BB962C8B-B14F-4D97-AF65-F5344CB8AC3E}">
        <p14:creationId xmlns:p14="http://schemas.microsoft.com/office/powerpoint/2010/main" val="18315496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DF843F6-EE57-48F9-BFE5-DDD702F8E535}"/>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Disease similarity measurement</a:t>
            </a:r>
            <a:endParaRPr lang="zh-TW" altLang="en-US" dirty="0"/>
          </a:p>
        </p:txBody>
      </p:sp>
      <p:sp>
        <p:nvSpPr>
          <p:cNvPr id="9" name="內容版面配置區 8">
            <a:extLst>
              <a:ext uri="{FF2B5EF4-FFF2-40B4-BE49-F238E27FC236}">
                <a16:creationId xmlns:a16="http://schemas.microsoft.com/office/drawing/2014/main" id="{3036FC36-076A-4378-BF87-F8B3D7BF7873}"/>
              </a:ext>
            </a:extLst>
          </p:cNvPr>
          <p:cNvSpPr>
            <a:spLocks noGrp="1"/>
          </p:cNvSpPr>
          <p:nvPr>
            <p:ph idx="1"/>
          </p:nvPr>
        </p:nvSpPr>
        <p:spPr/>
        <p:txBody>
          <a:bodyPr/>
          <a:lstStyle/>
          <a:p>
            <a:r>
              <a:rPr lang="en-US" altLang="zh-TW" dirty="0"/>
              <a:t>The DV value of ‘breast neoplasms’ is 1.0 (breast neoplasms) + 0.5 (breast diseases) + 0.5 (neoplasms by site) + 0.5 × 0.5 (neoplasms) + 0.5 × 0.5 (skin diseases) + 0.5 × 0.5 × 0.5 (skin and connective tissue diseases) = 2.6250</a:t>
            </a:r>
            <a:endParaRPr lang="zh-TW" altLang="en-US" dirty="0"/>
          </a:p>
        </p:txBody>
      </p:sp>
      <p:pic>
        <p:nvPicPr>
          <p:cNvPr id="10" name="內容版面配置區 6" descr="一張含有 螢幕擷取畫面 的圖片&#10;&#10;自動產生的描述">
            <a:extLst>
              <a:ext uri="{FF2B5EF4-FFF2-40B4-BE49-F238E27FC236}">
                <a16:creationId xmlns:a16="http://schemas.microsoft.com/office/drawing/2014/main" id="{214B983B-BD24-424C-B4E8-62E99B2745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27020" y="3193473"/>
            <a:ext cx="5982535" cy="3467584"/>
          </a:xfrm>
          <a:prstGeom prst="rect">
            <a:avLst/>
          </a:prstGeom>
        </p:spPr>
      </p:pic>
    </p:spTree>
    <p:extLst>
      <p:ext uri="{BB962C8B-B14F-4D97-AF65-F5344CB8AC3E}">
        <p14:creationId xmlns:p14="http://schemas.microsoft.com/office/powerpoint/2010/main" val="20482042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838200" y="234245"/>
            <a:ext cx="9188988" cy="833020"/>
          </a:xfrm>
        </p:spPr>
        <p:txBody>
          <a:bodyPr>
            <a:normAutofit/>
          </a:bodyPr>
          <a:lstStyle/>
          <a:p>
            <a:r>
              <a:rPr lang="en-US" altLang="zh-TW" sz="3600" dirty="0">
                <a:latin typeface="Times New Roman" panose="02020603050405020304" pitchFamily="18" charset="0"/>
                <a:cs typeface="Times New Roman" panose="02020603050405020304" pitchFamily="18" charset="0"/>
              </a:rPr>
              <a:t>MiRNA similarity measurement</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7</a:t>
            </a:fld>
            <a:endParaRPr lang="zh-TW" altLang="en-US"/>
          </a:p>
        </p:txBody>
      </p:sp>
      <p:sp>
        <p:nvSpPr>
          <p:cNvPr id="9" name="內容版面配置區 8">
            <a:extLst>
              <a:ext uri="{FF2B5EF4-FFF2-40B4-BE49-F238E27FC236}">
                <a16:creationId xmlns:a16="http://schemas.microsoft.com/office/drawing/2014/main" id="{905D25AF-56D7-4410-9414-52BE4D8E951B}"/>
              </a:ext>
            </a:extLst>
          </p:cNvPr>
          <p:cNvSpPr>
            <a:spLocks noGrp="1"/>
          </p:cNvSpPr>
          <p:nvPr>
            <p:ph idx="1"/>
          </p:nvPr>
        </p:nvSpPr>
        <p:spPr>
          <a:xfrm>
            <a:off x="838199" y="1536138"/>
            <a:ext cx="10661725" cy="4735570"/>
          </a:xfrm>
        </p:spPr>
        <p:txBody>
          <a:bodyPr/>
          <a:lstStyle/>
          <a:p>
            <a:r>
              <a:rPr lang="en-US" altLang="zh-TW" dirty="0"/>
              <a:t>MiRNA ma is associated with diseases d1, d2, d3, d4 and d8</a:t>
            </a:r>
          </a:p>
          <a:p>
            <a:r>
              <a:rPr lang="en-US" altLang="zh-TW" dirty="0"/>
              <a:t>MiRNA mb is associated with d1, d2, d5 and d8.</a:t>
            </a:r>
          </a:p>
          <a:p>
            <a:r>
              <a:rPr lang="en-US" altLang="zh-TW" dirty="0" err="1"/>
              <a:t>DTa</a:t>
            </a:r>
            <a:r>
              <a:rPr lang="en-US" altLang="zh-TW" dirty="0"/>
              <a:t>={d1,d2,d3,d4,d8} </a:t>
            </a:r>
          </a:p>
          <a:p>
            <a:r>
              <a:rPr lang="en-US" altLang="zh-TW" dirty="0" err="1"/>
              <a:t>DTb</a:t>
            </a:r>
            <a:r>
              <a:rPr lang="en-US" altLang="zh-TW" dirty="0"/>
              <a:t>={d1,d2,d5,d8}</a:t>
            </a:r>
            <a:endParaRPr lang="zh-TW" altLang="en-US" dirty="0"/>
          </a:p>
        </p:txBody>
      </p:sp>
      <p:pic>
        <p:nvPicPr>
          <p:cNvPr id="16" name="圖片 15" descr="一張含有 個人, 物件 的圖片&#10;&#10;自動產生的描述">
            <a:extLst>
              <a:ext uri="{FF2B5EF4-FFF2-40B4-BE49-F238E27FC236}">
                <a16:creationId xmlns:a16="http://schemas.microsoft.com/office/drawing/2014/main" id="{CABA7C41-05AE-44B1-A2A2-B165F7D150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75740" y="3649451"/>
            <a:ext cx="5513908" cy="1020367"/>
          </a:xfrm>
          <a:prstGeom prst="rect">
            <a:avLst/>
          </a:prstGeom>
        </p:spPr>
      </p:pic>
      <p:pic>
        <p:nvPicPr>
          <p:cNvPr id="18" name="圖片 17" descr="一張含有 物件 的圖片&#10;&#10;自動產生的描述">
            <a:extLst>
              <a:ext uri="{FF2B5EF4-FFF2-40B4-BE49-F238E27FC236}">
                <a16:creationId xmlns:a16="http://schemas.microsoft.com/office/drawing/2014/main" id="{45B63D4A-9B81-41E6-8EA9-66D69D5EC20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52327" y="4754460"/>
            <a:ext cx="7810126" cy="1134804"/>
          </a:xfrm>
          <a:prstGeom prst="rect">
            <a:avLst/>
          </a:prstGeom>
        </p:spPr>
      </p:pic>
    </p:spTree>
    <p:extLst>
      <p:ext uri="{BB962C8B-B14F-4D97-AF65-F5344CB8AC3E}">
        <p14:creationId xmlns:p14="http://schemas.microsoft.com/office/powerpoint/2010/main" val="9546437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838200" y="432552"/>
            <a:ext cx="9188988" cy="833020"/>
          </a:xfrm>
        </p:spPr>
        <p:txBody>
          <a:bodyPr>
            <a:normAutofit/>
          </a:bodyPr>
          <a:lstStyle/>
          <a:p>
            <a:r>
              <a:rPr lang="en-US" altLang="zh-TW" sz="3600" dirty="0"/>
              <a:t>Associations</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8</a:t>
            </a:fld>
            <a:endParaRPr lang="zh-TW" altLang="en-US"/>
          </a:p>
        </p:txBody>
      </p:sp>
      <p:sp>
        <p:nvSpPr>
          <p:cNvPr id="11" name="內容版面配置區 10">
            <a:extLst>
              <a:ext uri="{FF2B5EF4-FFF2-40B4-BE49-F238E27FC236}">
                <a16:creationId xmlns:a16="http://schemas.microsoft.com/office/drawing/2014/main" id="{C2C833C2-C5C2-4AEB-B3FF-A7027832BC21}"/>
              </a:ext>
            </a:extLst>
          </p:cNvPr>
          <p:cNvSpPr>
            <a:spLocks noGrp="1"/>
          </p:cNvSpPr>
          <p:nvPr>
            <p:ph idx="1"/>
          </p:nvPr>
        </p:nvSpPr>
        <p:spPr>
          <a:xfrm>
            <a:off x="838200" y="1265573"/>
            <a:ext cx="10844605" cy="4694163"/>
          </a:xfrm>
        </p:spPr>
        <p:txBody>
          <a:bodyPr>
            <a:normAutofit/>
          </a:bodyPr>
          <a:lstStyle/>
          <a:p>
            <a:r>
              <a:rPr lang="en-US" altLang="zh-TW" sz="2300" dirty="0"/>
              <a:t>Drug-miRNA associations</a:t>
            </a:r>
          </a:p>
          <a:p>
            <a:r>
              <a:rPr lang="en-US" altLang="zh-TW" sz="2300" dirty="0"/>
              <a:t>miRNA-disease associations</a:t>
            </a:r>
          </a:p>
          <a:p>
            <a:r>
              <a:rPr lang="en-US" altLang="zh-TW" sz="2300" dirty="0"/>
              <a:t>Drug-disease associations</a:t>
            </a:r>
          </a:p>
        </p:txBody>
      </p:sp>
      <p:pic>
        <p:nvPicPr>
          <p:cNvPr id="5" name="圖片 4">
            <a:extLst>
              <a:ext uri="{FF2B5EF4-FFF2-40B4-BE49-F238E27FC236}">
                <a16:creationId xmlns:a16="http://schemas.microsoft.com/office/drawing/2014/main" id="{21A0E541-3D4B-4B99-988E-459887CA92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22900" y="1438428"/>
            <a:ext cx="5892383" cy="4620164"/>
          </a:xfrm>
          <a:prstGeom prst="rect">
            <a:avLst/>
          </a:prstGeom>
        </p:spPr>
      </p:pic>
    </p:spTree>
    <p:extLst>
      <p:ext uri="{BB962C8B-B14F-4D97-AF65-F5344CB8AC3E}">
        <p14:creationId xmlns:p14="http://schemas.microsoft.com/office/powerpoint/2010/main" val="42214974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838200" y="432552"/>
            <a:ext cx="9188988" cy="833020"/>
          </a:xfrm>
        </p:spPr>
        <p:txBody>
          <a:bodyPr>
            <a:normAutofit/>
          </a:bodyPr>
          <a:lstStyle/>
          <a:p>
            <a:r>
              <a:rPr lang="en-US" altLang="zh-TW" sz="3600" dirty="0">
                <a:latin typeface="Times New Roman" panose="02020603050405020304" pitchFamily="18" charset="0"/>
                <a:cs typeface="Times New Roman" panose="02020603050405020304" pitchFamily="18" charset="0"/>
              </a:rPr>
              <a:t>Method</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9</a:t>
            </a:fld>
            <a:endParaRPr lang="zh-TW" altLang="en-US"/>
          </a:p>
        </p:txBody>
      </p:sp>
      <p:sp>
        <p:nvSpPr>
          <p:cNvPr id="11" name="內容版面配置區 10">
            <a:extLst>
              <a:ext uri="{FF2B5EF4-FFF2-40B4-BE49-F238E27FC236}">
                <a16:creationId xmlns:a16="http://schemas.microsoft.com/office/drawing/2014/main" id="{C2C833C2-C5C2-4AEB-B3FF-A7027832BC21}"/>
              </a:ext>
            </a:extLst>
          </p:cNvPr>
          <p:cNvSpPr>
            <a:spLocks noGrp="1"/>
          </p:cNvSpPr>
          <p:nvPr>
            <p:ph idx="1"/>
          </p:nvPr>
        </p:nvSpPr>
        <p:spPr>
          <a:xfrm>
            <a:off x="838200" y="1265573"/>
            <a:ext cx="10844605" cy="4694163"/>
          </a:xfrm>
        </p:spPr>
        <p:txBody>
          <a:bodyPr>
            <a:normAutofit/>
          </a:bodyPr>
          <a:lstStyle/>
          <a:p>
            <a:r>
              <a:rPr lang="en-US" altLang="zh-TW" sz="2300" dirty="0"/>
              <a:t>R={r1,r2,…,rm}, drug nodes</a:t>
            </a:r>
          </a:p>
          <a:p>
            <a:r>
              <a:rPr lang="en-US" altLang="zh-TW" sz="2300" dirty="0"/>
              <a:t>T={t1,t2,…,</a:t>
            </a:r>
            <a:r>
              <a:rPr lang="en-US" altLang="zh-TW" sz="2300" dirty="0" err="1"/>
              <a:t>tn</a:t>
            </a:r>
            <a:r>
              <a:rPr lang="en-US" altLang="zh-TW" sz="2300" dirty="0"/>
              <a:t>}, miRNA nodes</a:t>
            </a:r>
          </a:p>
          <a:p>
            <a:r>
              <a:rPr lang="en-US" altLang="zh-TW" sz="2300" dirty="0"/>
              <a:t>D={d1,d2,…,dk}, disease nodes</a:t>
            </a:r>
          </a:p>
          <a:p>
            <a:r>
              <a:rPr lang="en-US" altLang="zh-TW" sz="2300" dirty="0"/>
              <a:t>α is a decay factor</a:t>
            </a:r>
          </a:p>
          <a:p>
            <a:endParaRPr lang="en-US" altLang="zh-TW" sz="2300" dirty="0"/>
          </a:p>
        </p:txBody>
      </p:sp>
      <p:pic>
        <p:nvPicPr>
          <p:cNvPr id="13" name="圖片 12">
            <a:extLst>
              <a:ext uri="{FF2B5EF4-FFF2-40B4-BE49-F238E27FC236}">
                <a16:creationId xmlns:a16="http://schemas.microsoft.com/office/drawing/2014/main" id="{F3A133DC-0ACB-4FC9-B648-9A3B335732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23497" y="1095843"/>
            <a:ext cx="7119286" cy="942083"/>
          </a:xfrm>
          <a:prstGeom prst="rect">
            <a:avLst/>
          </a:prstGeom>
        </p:spPr>
      </p:pic>
      <p:pic>
        <p:nvPicPr>
          <p:cNvPr id="15" name="圖片 14" descr="一張含有 桌, 畫畫 的圖片&#10;&#10;自動產生的描述">
            <a:extLst>
              <a:ext uri="{FF2B5EF4-FFF2-40B4-BE49-F238E27FC236}">
                <a16:creationId xmlns:a16="http://schemas.microsoft.com/office/drawing/2014/main" id="{FA775FF9-E5E3-4576-87AD-F832BE0EEDF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50631" y="2346845"/>
            <a:ext cx="5795604" cy="763207"/>
          </a:xfrm>
          <a:prstGeom prst="rect">
            <a:avLst/>
          </a:prstGeom>
        </p:spPr>
      </p:pic>
      <p:pic>
        <p:nvPicPr>
          <p:cNvPr id="17" name="圖片 16" descr="一張含有 物件, 時鐘, 桌 的圖片&#10;&#10;自動產生的描述">
            <a:extLst>
              <a:ext uri="{FF2B5EF4-FFF2-40B4-BE49-F238E27FC236}">
                <a16:creationId xmlns:a16="http://schemas.microsoft.com/office/drawing/2014/main" id="{01BC6BFA-4DB7-4E3A-A77A-598D1AEDE73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07451" y="3460337"/>
            <a:ext cx="6701910" cy="751282"/>
          </a:xfrm>
          <a:prstGeom prst="rect">
            <a:avLst/>
          </a:prstGeom>
        </p:spPr>
      </p:pic>
    </p:spTree>
    <p:extLst>
      <p:ext uri="{BB962C8B-B14F-4D97-AF65-F5344CB8AC3E}">
        <p14:creationId xmlns:p14="http://schemas.microsoft.com/office/powerpoint/2010/main" val="42642575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838200" y="432552"/>
            <a:ext cx="9188988" cy="833020"/>
          </a:xfrm>
        </p:spPr>
        <p:txBody>
          <a:bodyPr>
            <a:normAutofit/>
          </a:bodyPr>
          <a:lstStyle/>
          <a:p>
            <a:r>
              <a:rPr lang="en-US" altLang="zh-TW" sz="3600" dirty="0">
                <a:latin typeface="Times New Roman" panose="02020603050405020304" pitchFamily="18" charset="0"/>
                <a:cs typeface="Times New Roman" panose="02020603050405020304" pitchFamily="18" charset="0"/>
              </a:rPr>
              <a:t>Method</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10</a:t>
            </a:fld>
            <a:endParaRPr lang="zh-TW" altLang="en-US"/>
          </a:p>
        </p:txBody>
      </p:sp>
      <p:sp>
        <p:nvSpPr>
          <p:cNvPr id="10" name="內容版面配置區 9">
            <a:extLst>
              <a:ext uri="{FF2B5EF4-FFF2-40B4-BE49-F238E27FC236}">
                <a16:creationId xmlns:a16="http://schemas.microsoft.com/office/drawing/2014/main" id="{FC3B8E22-E7F1-4C68-8C65-C4427715109D}"/>
              </a:ext>
            </a:extLst>
          </p:cNvPr>
          <p:cNvSpPr>
            <a:spLocks noGrp="1"/>
          </p:cNvSpPr>
          <p:nvPr>
            <p:ph idx="1"/>
          </p:nvPr>
        </p:nvSpPr>
        <p:spPr>
          <a:xfrm>
            <a:off x="676835" y="1253331"/>
            <a:ext cx="10515600" cy="4351338"/>
          </a:xfrm>
        </p:spPr>
        <p:txBody>
          <a:bodyPr/>
          <a:lstStyle/>
          <a:p>
            <a:r>
              <a:rPr lang="en-US" altLang="zh-TW" dirty="0"/>
              <a:t>R={r1,r2,…,rm}, drug nodes</a:t>
            </a:r>
          </a:p>
          <a:p>
            <a:r>
              <a:rPr lang="en-US" altLang="zh-TW" dirty="0"/>
              <a:t>T={t1,t2,…,</a:t>
            </a:r>
            <a:r>
              <a:rPr lang="en-US" altLang="zh-TW" dirty="0" err="1"/>
              <a:t>tn</a:t>
            </a:r>
            <a:r>
              <a:rPr lang="en-US" altLang="zh-TW" dirty="0"/>
              <a:t>}, miRNA nodes</a:t>
            </a:r>
          </a:p>
          <a:p>
            <a:r>
              <a:rPr lang="en-US" altLang="zh-TW" dirty="0"/>
              <a:t>D={d1,d2,…,dk}, disease nodes</a:t>
            </a:r>
          </a:p>
          <a:p>
            <a:endParaRPr lang="en-US" altLang="zh-TW" dirty="0"/>
          </a:p>
          <a:p>
            <a:endParaRPr lang="zh-TW" altLang="en-US" dirty="0"/>
          </a:p>
        </p:txBody>
      </p:sp>
      <p:pic>
        <p:nvPicPr>
          <p:cNvPr id="7" name="圖片 6" descr="一張含有 物件, 時鐘 的圖片&#10;&#10;自動產生的描述">
            <a:extLst>
              <a:ext uri="{FF2B5EF4-FFF2-40B4-BE49-F238E27FC236}">
                <a16:creationId xmlns:a16="http://schemas.microsoft.com/office/drawing/2014/main" id="{DE1A2ED8-7488-4E24-92E0-C385C17F537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12013" y="4685459"/>
            <a:ext cx="6750460" cy="989176"/>
          </a:xfrm>
          <a:prstGeom prst="rect">
            <a:avLst/>
          </a:prstGeom>
        </p:spPr>
      </p:pic>
      <p:pic>
        <p:nvPicPr>
          <p:cNvPr id="13" name="圖片 12" descr="一張含有 物件 的圖片&#10;&#10;自動產生的描述">
            <a:extLst>
              <a:ext uri="{FF2B5EF4-FFF2-40B4-BE49-F238E27FC236}">
                <a16:creationId xmlns:a16="http://schemas.microsoft.com/office/drawing/2014/main" id="{4EE3CECB-2B33-4176-A832-4EAF7E26C53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12478" y="3285982"/>
            <a:ext cx="6778785" cy="1169126"/>
          </a:xfrm>
          <a:prstGeom prst="rect">
            <a:avLst/>
          </a:prstGeom>
        </p:spPr>
      </p:pic>
    </p:spTree>
    <p:extLst>
      <p:ext uri="{BB962C8B-B14F-4D97-AF65-F5344CB8AC3E}">
        <p14:creationId xmlns:p14="http://schemas.microsoft.com/office/powerpoint/2010/main" val="23018666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24E785A-5355-4B30-8CE3-D326A77A0C3C}"/>
              </a:ext>
            </a:extLst>
          </p:cNvPr>
          <p:cNvSpPr>
            <a:spLocks noGrp="1"/>
          </p:cNvSpPr>
          <p:nvPr>
            <p:ph type="title"/>
          </p:nvPr>
        </p:nvSpPr>
        <p:spPr>
          <a:xfrm>
            <a:off x="398033" y="311973"/>
            <a:ext cx="10955767" cy="935914"/>
          </a:xfrm>
        </p:spPr>
        <p:txBody>
          <a:bodyPr/>
          <a:lstStyle/>
          <a:p>
            <a:r>
              <a:rPr lang="en-US" altLang="zh-TW" dirty="0">
                <a:latin typeface="Times New Roman" panose="02020603050405020304" pitchFamily="18" charset="0"/>
                <a:cs typeface="Times New Roman" panose="02020603050405020304" pitchFamily="18" charset="0"/>
              </a:rPr>
              <a:t>Results</a:t>
            </a:r>
            <a:endParaRPr lang="zh-TW" altLang="en-US" dirty="0"/>
          </a:p>
        </p:txBody>
      </p:sp>
      <p:pic>
        <p:nvPicPr>
          <p:cNvPr id="6" name="內容版面配置區 5" descr="一張含有 螢幕擷取畫面 的圖片&#10;&#10;自動產生的描述">
            <a:extLst>
              <a:ext uri="{FF2B5EF4-FFF2-40B4-BE49-F238E27FC236}">
                <a16:creationId xmlns:a16="http://schemas.microsoft.com/office/drawing/2014/main" id="{613D0BC7-24BE-432A-8FC2-3E3EB000FE3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64658" y="1355353"/>
            <a:ext cx="8812307" cy="5502647"/>
          </a:xfrm>
        </p:spPr>
      </p:pic>
    </p:spTree>
    <p:extLst>
      <p:ext uri="{BB962C8B-B14F-4D97-AF65-F5344CB8AC3E}">
        <p14:creationId xmlns:p14="http://schemas.microsoft.com/office/powerpoint/2010/main" val="2415157383"/>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7748</TotalTime>
  <Words>618</Words>
  <Application>Microsoft Office PowerPoint</Application>
  <PresentationFormat>寬螢幕</PresentationFormat>
  <Paragraphs>56</Paragraphs>
  <Slides>11</Slides>
  <Notes>8</Notes>
  <HiddenSlides>3</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11</vt:i4>
      </vt:variant>
    </vt:vector>
  </HeadingPairs>
  <TitlesOfParts>
    <vt:vector size="16" baseType="lpstr">
      <vt:lpstr>Arial</vt:lpstr>
      <vt:lpstr>Calibri</vt:lpstr>
      <vt:lpstr>Calibri Light</vt:lpstr>
      <vt:lpstr>Times New Roman</vt:lpstr>
      <vt:lpstr>Office 佈景主題</vt:lpstr>
      <vt:lpstr>Prediction of Drug-Disease Associations for Drug Repositioning Through Drug-miRNA-Disease Heterogeneous Network</vt:lpstr>
      <vt:lpstr>Abstract (1/2)</vt:lpstr>
      <vt:lpstr>Abstract (2/2)</vt:lpstr>
      <vt:lpstr>Similarities</vt:lpstr>
      <vt:lpstr>Disease similarity measurement</vt:lpstr>
      <vt:lpstr>Disease similarity measurement</vt:lpstr>
      <vt:lpstr>MiRNA similarity measurement</vt:lpstr>
      <vt:lpstr>Associations</vt:lpstr>
      <vt:lpstr>Method</vt:lpstr>
      <vt:lpstr>Method</vt:lpstr>
      <vt:lpstr>Results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Fast and Accurate Template Averaging for Time Series Classification</dc:title>
  <dc:creator>lu</dc:creator>
  <cp:lastModifiedBy>lu</cp:lastModifiedBy>
  <cp:revision>1417</cp:revision>
  <dcterms:created xsi:type="dcterms:W3CDTF">2018-10-30T09:09:31Z</dcterms:created>
  <dcterms:modified xsi:type="dcterms:W3CDTF">2019-10-15T10:05:54Z</dcterms:modified>
</cp:coreProperties>
</file>