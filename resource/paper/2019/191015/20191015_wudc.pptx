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吳篤承" initials="吳篤承" lastIdx="1" clrIdx="0">
    <p:extLst>
      <p:ext uri="{19B8F6BF-5375-455C-9EA6-DF929625EA0E}">
        <p15:presenceInfo xmlns:p15="http://schemas.microsoft.com/office/powerpoint/2012/main" userId="吳篤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0867" autoAdjust="0"/>
  </p:normalViewPr>
  <p:slideViewPr>
    <p:cSldViewPr snapToGrid="0">
      <p:cViewPr varScale="1">
        <p:scale>
          <a:sx n="114" d="100"/>
          <a:sy n="114" d="100"/>
        </p:scale>
        <p:origin x="18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2019/10/15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5F44A6D-44A4-4AC5-A338-742D4C0C8050}"/>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B714A2-D640-4631-BD91-D40EA7B8E5E1}"/>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92DC7246-3967-4A8C-89BD-498BAD9237DB}"/>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8EECCAB-4CA7-44B9-B7B8-DC7FF51030C5}"/>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6" name="頁尾版面配置區 5">
            <a:extLst>
              <a:ext uri="{FF2B5EF4-FFF2-40B4-BE49-F238E27FC236}">
                <a16:creationId xmlns:a16="http://schemas.microsoft.com/office/drawing/2014/main"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891BEAE-F89E-4D1D-88D1-CE02EB287033}"/>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8" name="頁尾版面配置區 7">
            <a:extLst>
              <a:ext uri="{FF2B5EF4-FFF2-40B4-BE49-F238E27FC236}">
                <a16:creationId xmlns:a16="http://schemas.microsoft.com/office/drawing/2014/main"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B26AC26-EB83-4AB6-9E2F-C8457BF27656}"/>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4" name="頁尾版面配置區 3">
            <a:extLst>
              <a:ext uri="{FF2B5EF4-FFF2-40B4-BE49-F238E27FC236}">
                <a16:creationId xmlns:a16="http://schemas.microsoft.com/office/drawing/2014/main"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C7FE82F-7353-4EB6-B115-3F4F883AB669}"/>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3" name="頁尾版面配置區 2">
            <a:extLst>
              <a:ext uri="{FF2B5EF4-FFF2-40B4-BE49-F238E27FC236}">
                <a16:creationId xmlns:a16="http://schemas.microsoft.com/office/drawing/2014/main"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DE41C95-2028-4108-B014-39C5648C739C}"/>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6" name="頁尾版面配置區 5">
            <a:extLst>
              <a:ext uri="{FF2B5EF4-FFF2-40B4-BE49-F238E27FC236}">
                <a16:creationId xmlns:a16="http://schemas.microsoft.com/office/drawing/2014/main"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3C1A871-1FB1-426F-B468-F433644ACEE0}"/>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6" name="頁尾版面配置區 5">
            <a:extLst>
              <a:ext uri="{FF2B5EF4-FFF2-40B4-BE49-F238E27FC236}">
                <a16:creationId xmlns:a16="http://schemas.microsoft.com/office/drawing/2014/main"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386A780-A433-4084-B504-8CA5C05D15EC}"/>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7B7CDCD-2B53-481E-994C-32B4B7592300}"/>
              </a:ext>
            </a:extLst>
          </p:cNvPr>
          <p:cNvSpPr>
            <a:spLocks noGrp="1"/>
          </p:cNvSpPr>
          <p:nvPr>
            <p:ph type="dt" sz="half" idx="10"/>
          </p:nvPr>
        </p:nvSpPr>
        <p:spPr/>
        <p:txBody>
          <a:bodyPr/>
          <a:lstStyle/>
          <a:p>
            <a:fld id="{41044C1A-2725-48AE-A699-EA8E8FEFF634}"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2019/10/15</a:t>
            </a:fld>
            <a:endParaRPr lang="zh-TW" altLang="en-US"/>
          </a:p>
        </p:txBody>
      </p:sp>
      <p:sp>
        <p:nvSpPr>
          <p:cNvPr id="5" name="頁尾版面配置區 4">
            <a:extLst>
              <a:ext uri="{FF2B5EF4-FFF2-40B4-BE49-F238E27FC236}">
                <a16:creationId xmlns:a16="http://schemas.microsoft.com/office/drawing/2014/main"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523999" y="1707609"/>
            <a:ext cx="9144000" cy="649317"/>
          </a:xfrm>
        </p:spPr>
        <p:txBody>
          <a:bodyPr>
            <a:noAutofit/>
          </a:bodyPr>
          <a:lstStyle/>
          <a:p>
            <a:r>
              <a:rPr lang="en-US" altLang="zh-TW" sz="3200" dirty="0">
                <a:latin typeface="Times New Roman" panose="02020603050405020304" pitchFamily="18" charset="0"/>
                <a:cs typeface="Times New Roman" panose="02020603050405020304" pitchFamily="18" charset="0"/>
              </a:rPr>
              <a:t>Polynomial-Delay Enumeration of Maximal Common Subsequences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523999" y="3003983"/>
            <a:ext cx="9144000" cy="425017"/>
          </a:xfrm>
        </p:spPr>
        <p:txBody>
          <a:bodyPr>
            <a:noAutofit/>
          </a:bodyPr>
          <a:lstStyle/>
          <a:p>
            <a:pPr lvl="1"/>
            <a:r>
              <a:rPr lang="it-IT" altLang="zh-TW" dirty="0">
                <a:latin typeface="Times New Roman" panose="02020603050405020304" pitchFamily="18" charset="0"/>
                <a:cs typeface="Times New Roman" panose="02020603050405020304" pitchFamily="18" charset="0"/>
              </a:rPr>
              <a:t>Alessio Conte, Roberto Grossi, Giulia Punzi</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a:t>
            </a:r>
            <a:r>
              <a:rPr lang="it-IT" altLang="zh-TW" dirty="0">
                <a:latin typeface="Times New Roman" panose="02020603050405020304" pitchFamily="18" charset="0"/>
                <a:cs typeface="Times New Roman" panose="02020603050405020304" pitchFamily="18" charset="0"/>
              </a:rPr>
              <a:t> Takeaki Uno</a:t>
            </a:r>
            <a:endParaRPr lang="pl-PL" altLang="zh-TW"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1653130" y="3873343"/>
            <a:ext cx="8885766" cy="769441"/>
          </a:xfrm>
          <a:prstGeom prst="rect">
            <a:avLst/>
          </a:prstGeom>
          <a:noFill/>
        </p:spPr>
        <p:txBody>
          <a:bodyPr wrap="none" rtlCol="0">
            <a:spAutoFit/>
          </a:bodyPr>
          <a:lstStyle/>
          <a:p>
            <a:pPr algn="ctr"/>
            <a:r>
              <a:rPr lang="en-US" altLang="zh-TW" sz="2200" dirty="0">
                <a:latin typeface="Times New Roman" panose="02020603050405020304" pitchFamily="18" charset="0"/>
                <a:cs typeface="Times New Roman" panose="02020603050405020304" pitchFamily="18" charset="0"/>
              </a:rPr>
              <a:t>String Processing and Information Retrieval, 26th International Symposium, </a:t>
            </a:r>
          </a:p>
          <a:p>
            <a:pPr algn="ctr"/>
            <a:r>
              <a:rPr lang="en-US" altLang="zh-TW" sz="2200" dirty="0">
                <a:latin typeface="Times New Roman" panose="02020603050405020304" pitchFamily="18" charset="0"/>
                <a:cs typeface="Times New Roman" panose="02020603050405020304" pitchFamily="18" charset="0"/>
              </a:rPr>
              <a:t>SPIRE 2019, Segovia, Spain, October 7–9, 2019, pp. 189-202</a:t>
            </a:r>
          </a:p>
        </p:txBody>
      </p:sp>
      <p:sp>
        <p:nvSpPr>
          <p:cNvPr id="9" name="文字方塊 8">
            <a:extLst>
              <a:ext uri="{FF2B5EF4-FFF2-40B4-BE49-F238E27FC236}">
                <a16:creationId xmlns:a16="http://schemas.microsoft.com/office/drawing/2014/main" id="{6BC92671-3184-4146-A361-F82079153C2E}"/>
              </a:ext>
            </a:extLst>
          </p:cNvPr>
          <p:cNvSpPr txBox="1"/>
          <p:nvPr/>
        </p:nvSpPr>
        <p:spPr>
          <a:xfrm>
            <a:off x="8233491" y="5022042"/>
            <a:ext cx="327660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Du-Cheng Wu</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8908100" y="5483707"/>
            <a:ext cx="260199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Date: Oct. 15, 2019</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163782"/>
            <a:ext cx="10515600" cy="5060849"/>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A Maximal Common Subsequence (MCS) between two strings X and Y is an inclusion-maximal subsequence of both X and Y. MCSs are a natural generalization of the classical concept of Longest Common Subsequence (LCS), which can be seen as a longest MCS. We study the problem of efficiently listing all the distinct MCSs between two strings. As discussed in the paper, this problem is algorithmically challenging as the same MCS cannot be listed multiple times: for example, dynamic programming [Fraser et al., CPM 1998] incurs in an exponential waste of time, and a recent algorithm for finding an MCS [Sakai, CPM 2018] does not seem to immediately extend to listing. We follow an alternative and novel graph-based approach, proposing the first output-sensitive algorithm for this problem: it takes polynomial time in n per MCS found, where   n=max{|X|,|Y|} , with polynomial preprocessing time and space.</a:t>
            </a:r>
          </a:p>
        </p:txBody>
      </p:sp>
    </p:spTree>
    <p:extLst>
      <p:ext uri="{BB962C8B-B14F-4D97-AF65-F5344CB8AC3E}">
        <p14:creationId xmlns:p14="http://schemas.microsoft.com/office/powerpoint/2010/main" val="150070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Maximal common subsequence(MCS)</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r>
              <a:rPr lang="en-US" altLang="zh-TW" dirty="0">
                <a:latin typeface="Times New Roman" panose="02020603050405020304" pitchFamily="18" charset="0"/>
                <a:cs typeface="Times New Roman" panose="02020603050405020304" pitchFamily="18" charset="0"/>
              </a:rPr>
              <a:t>X = ACEDF</a:t>
            </a:r>
          </a:p>
          <a:p>
            <a:r>
              <a:rPr lang="en-US" altLang="zh-TW" dirty="0">
                <a:latin typeface="Times New Roman" panose="02020603050405020304" pitchFamily="18" charset="0"/>
                <a:cs typeface="Times New Roman" panose="02020603050405020304" pitchFamily="18" charset="0"/>
              </a:rPr>
              <a:t>Y = AEDCF</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LCS = AEDF</a:t>
            </a:r>
          </a:p>
          <a:p>
            <a:r>
              <a:rPr lang="en-US" altLang="zh-TW" dirty="0">
                <a:latin typeface="Times New Roman" panose="02020603050405020304" pitchFamily="18" charset="0"/>
                <a:cs typeface="Times New Roman" panose="02020603050405020304" pitchFamily="18" charset="0"/>
              </a:rPr>
              <a:t>MCS = AEDF, ACF</a:t>
            </a:r>
          </a:p>
        </p:txBody>
      </p:sp>
    </p:spTree>
    <p:extLst>
      <p:ext uri="{BB962C8B-B14F-4D97-AF65-F5344CB8AC3E}">
        <p14:creationId xmlns:p14="http://schemas.microsoft.com/office/powerpoint/2010/main" val="2193041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MCS as a Graph Problem</a:t>
            </a:r>
            <a:endParaRPr lang="zh-TW" altLang="en-US" sz="32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7DE12A4D-917F-4FF1-9FFE-018A7F43F9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17972"/>
            <a:ext cx="10515600" cy="3027328"/>
          </a:xfrm>
        </p:spPr>
      </p:pic>
      <p:pic>
        <p:nvPicPr>
          <p:cNvPr id="6" name="圖片 5">
            <a:extLst>
              <a:ext uri="{FF2B5EF4-FFF2-40B4-BE49-F238E27FC236}">
                <a16:creationId xmlns:a16="http://schemas.microsoft.com/office/drawing/2014/main" id="{43BBC0F8-3C3B-49B8-B712-10EA6AA12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504300"/>
            <a:ext cx="10622891" cy="1753435"/>
          </a:xfrm>
          <a:prstGeom prst="rect">
            <a:avLst/>
          </a:prstGeom>
        </p:spPr>
      </p:pic>
    </p:spTree>
    <p:extLst>
      <p:ext uri="{BB962C8B-B14F-4D97-AF65-F5344CB8AC3E}">
        <p14:creationId xmlns:p14="http://schemas.microsoft.com/office/powerpoint/2010/main" val="1510413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Times New Roman" panose="02020603050405020304" pitchFamily="18" charset="0"/>
                <a:cs typeface="Times New Roman" panose="02020603050405020304" pitchFamily="18" charset="0"/>
              </a:rPr>
              <a:t>Unshiftable</a:t>
            </a:r>
            <a:r>
              <a:rPr lang="en-US" altLang="zh-TW" sz="3200" dirty="0">
                <a:latin typeface="Times New Roman" panose="02020603050405020304" pitchFamily="18" charset="0"/>
                <a:cs typeface="Times New Roman" panose="02020603050405020304" pitchFamily="18" charset="0"/>
              </a:rPr>
              <a:t> Edge</a:t>
            </a:r>
            <a:endParaRPr lang="zh-TW" altLang="en-US" sz="32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B890B1C2-6366-41CA-AB12-95C4FE9E9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278229"/>
            <a:ext cx="9907398" cy="2575380"/>
          </a:xfrm>
          <a:prstGeom prst="rect">
            <a:avLst/>
          </a:prstGeom>
        </p:spPr>
      </p:pic>
      <p:pic>
        <p:nvPicPr>
          <p:cNvPr id="10" name="圖片 9">
            <a:extLst>
              <a:ext uri="{FF2B5EF4-FFF2-40B4-BE49-F238E27FC236}">
                <a16:creationId xmlns:a16="http://schemas.microsoft.com/office/drawing/2014/main" id="{EB6CD580-CE3A-4714-89B0-142D77D181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02542"/>
            <a:ext cx="9907398" cy="1107617"/>
          </a:xfrm>
          <a:prstGeom prst="rect">
            <a:avLst/>
          </a:prstGeom>
        </p:spPr>
      </p:pic>
    </p:spTree>
    <p:extLst>
      <p:ext uri="{BB962C8B-B14F-4D97-AF65-F5344CB8AC3E}">
        <p14:creationId xmlns:p14="http://schemas.microsoft.com/office/powerpoint/2010/main" val="1559583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Times New Roman" panose="02020603050405020304" pitchFamily="18" charset="0"/>
                <a:cs typeface="Times New Roman" panose="02020603050405020304" pitchFamily="18" charset="0"/>
              </a:rPr>
              <a:t>Unshiftable</a:t>
            </a:r>
            <a:r>
              <a:rPr lang="en-US" altLang="zh-TW" sz="3200" dirty="0">
                <a:latin typeface="Times New Roman" panose="02020603050405020304" pitchFamily="18" charset="0"/>
                <a:cs typeface="Times New Roman" panose="02020603050405020304" pitchFamily="18" charset="0"/>
              </a:rPr>
              <a:t> Edge</a:t>
            </a:r>
            <a:endParaRPr lang="zh-TW" altLang="en-US" sz="3200" dirty="0">
              <a:latin typeface="Times New Roman" panose="02020603050405020304" pitchFamily="18" charset="0"/>
              <a:cs typeface="Times New Roman" panose="02020603050405020304" pitchFamily="18" charset="0"/>
            </a:endParaRPr>
          </a:p>
        </p:txBody>
      </p:sp>
      <p:pic>
        <p:nvPicPr>
          <p:cNvPr id="46" name="圖片 45">
            <a:extLst>
              <a:ext uri="{FF2B5EF4-FFF2-40B4-BE49-F238E27FC236}">
                <a16:creationId xmlns:a16="http://schemas.microsoft.com/office/drawing/2014/main" id="{AE936693-A4A0-41B4-ABAD-9D4AD09B9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6536" y="1034473"/>
            <a:ext cx="6638925" cy="2428875"/>
          </a:xfrm>
          <a:prstGeom prst="rect">
            <a:avLst/>
          </a:prstGeom>
        </p:spPr>
      </p:pic>
      <p:pic>
        <p:nvPicPr>
          <p:cNvPr id="48" name="圖片 47">
            <a:extLst>
              <a:ext uri="{FF2B5EF4-FFF2-40B4-BE49-F238E27FC236}">
                <a16:creationId xmlns:a16="http://schemas.microsoft.com/office/drawing/2014/main" id="{A5428181-8C94-4D9E-AEE0-F9C6F500C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6523" y="3987800"/>
            <a:ext cx="6838950" cy="2505075"/>
          </a:xfrm>
          <a:prstGeom prst="rect">
            <a:avLst/>
          </a:prstGeom>
        </p:spPr>
      </p:pic>
    </p:spTree>
    <p:extLst>
      <p:ext uri="{BB962C8B-B14F-4D97-AF65-F5344CB8AC3E}">
        <p14:creationId xmlns:p14="http://schemas.microsoft.com/office/powerpoint/2010/main" val="583671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Times New Roman" panose="02020603050405020304" pitchFamily="18" charset="0"/>
                <a:cs typeface="Times New Roman" panose="02020603050405020304" pitchFamily="18" charset="0"/>
              </a:rPr>
              <a:t>Unshiftable</a:t>
            </a:r>
            <a:r>
              <a:rPr lang="en-US" altLang="zh-TW" sz="3200" dirty="0">
                <a:latin typeface="Times New Roman" panose="02020603050405020304" pitchFamily="18" charset="0"/>
                <a:cs typeface="Times New Roman" panose="02020603050405020304" pitchFamily="18" charset="0"/>
              </a:rPr>
              <a:t> Edge</a:t>
            </a:r>
            <a:endParaRPr lang="zh-TW" altLang="en-US" sz="32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A914F636-885B-41FF-A7C9-53272F8188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4625" y="1034473"/>
            <a:ext cx="6762750" cy="2657475"/>
          </a:xfrm>
          <a:prstGeom prst="rect">
            <a:avLst/>
          </a:prstGeom>
        </p:spPr>
      </p:pic>
      <p:pic>
        <p:nvPicPr>
          <p:cNvPr id="6" name="圖片 5">
            <a:extLst>
              <a:ext uri="{FF2B5EF4-FFF2-40B4-BE49-F238E27FC236}">
                <a16:creationId xmlns:a16="http://schemas.microsoft.com/office/drawing/2014/main" id="{F98F8D0A-7FA3-48AF-8BB7-C67C94FDD4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7537" y="4311650"/>
            <a:ext cx="5876925" cy="2181225"/>
          </a:xfrm>
          <a:prstGeom prst="rect">
            <a:avLst/>
          </a:prstGeom>
        </p:spPr>
      </p:pic>
    </p:spTree>
    <p:extLst>
      <p:ext uri="{BB962C8B-B14F-4D97-AF65-F5344CB8AC3E}">
        <p14:creationId xmlns:p14="http://schemas.microsoft.com/office/powerpoint/2010/main" val="120243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Candidate Extensions</a:t>
            </a:r>
            <a:endParaRPr lang="zh-TW" altLang="en-US" sz="32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EFC48DC9-D2AD-4F02-A382-9C98CA656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7374" y="940098"/>
            <a:ext cx="8918196" cy="2857765"/>
          </a:xfrm>
          <a:prstGeom prst="rect">
            <a:avLst/>
          </a:prstGeom>
        </p:spPr>
      </p:pic>
      <p:pic>
        <p:nvPicPr>
          <p:cNvPr id="8" name="圖片 7">
            <a:extLst>
              <a:ext uri="{FF2B5EF4-FFF2-40B4-BE49-F238E27FC236}">
                <a16:creationId xmlns:a16="http://schemas.microsoft.com/office/drawing/2014/main" id="{934395EA-0C25-466F-B307-00354A047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0292" y="3797863"/>
            <a:ext cx="9194334" cy="2838775"/>
          </a:xfrm>
          <a:prstGeom prst="rect">
            <a:avLst/>
          </a:prstGeom>
        </p:spPr>
      </p:pic>
    </p:spTree>
    <p:extLst>
      <p:ext uri="{BB962C8B-B14F-4D97-AF65-F5344CB8AC3E}">
        <p14:creationId xmlns:p14="http://schemas.microsoft.com/office/powerpoint/2010/main" val="3061634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Times New Roman" panose="02020603050405020304" pitchFamily="18" charset="0"/>
                <a:cs typeface="Times New Roman" panose="02020603050405020304" pitchFamily="18" charset="0"/>
              </a:rPr>
              <a:t>EnumerateMCS</a:t>
            </a:r>
            <a:r>
              <a:rPr lang="en-US" altLang="zh-TW" sz="3200" dirty="0">
                <a:latin typeface="Times New Roman" panose="02020603050405020304" pitchFamily="18" charset="0"/>
                <a:cs typeface="Times New Roman" panose="02020603050405020304" pitchFamily="18" charset="0"/>
              </a:rPr>
              <a:t> algorithm</a:t>
            </a:r>
            <a:endParaRPr lang="zh-TW" altLang="en-US" sz="32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4CE1840A-A3FD-4CEA-80A8-8927884FF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4514" y="1034473"/>
            <a:ext cx="7602972" cy="5660990"/>
          </a:xfrm>
          <a:prstGeom prst="rect">
            <a:avLst/>
          </a:prstGeom>
        </p:spPr>
      </p:pic>
    </p:spTree>
    <p:extLst>
      <p:ext uri="{BB962C8B-B14F-4D97-AF65-F5344CB8AC3E}">
        <p14:creationId xmlns:p14="http://schemas.microsoft.com/office/powerpoint/2010/main" val="2741544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Times New Roman" panose="02020603050405020304" pitchFamily="18" charset="0"/>
                <a:cs typeface="Times New Roman" panose="02020603050405020304" pitchFamily="18" charset="0"/>
              </a:rPr>
              <a:t>EnumerateMCS</a:t>
            </a:r>
            <a:r>
              <a:rPr lang="en-US" altLang="zh-TW" sz="3200" dirty="0">
                <a:latin typeface="Times New Roman" panose="02020603050405020304" pitchFamily="18" charset="0"/>
                <a:cs typeface="Times New Roman" panose="02020603050405020304" pitchFamily="18" charset="0"/>
              </a:rPr>
              <a:t> algorithm</a:t>
            </a:r>
            <a:endParaRPr lang="zh-TW" altLang="en-US" sz="32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3F1205FA-FD08-4858-9B16-9EB5DE827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875" y="1490006"/>
            <a:ext cx="10364249" cy="5002869"/>
          </a:xfrm>
          <a:prstGeom prst="rect">
            <a:avLst/>
          </a:prstGeom>
        </p:spPr>
      </p:pic>
    </p:spTree>
    <p:extLst>
      <p:ext uri="{BB962C8B-B14F-4D97-AF65-F5344CB8AC3E}">
        <p14:creationId xmlns:p14="http://schemas.microsoft.com/office/powerpoint/2010/main" val="3684134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Complexity</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pPr marL="0" indent="0">
              <a:buNone/>
            </a:pPr>
            <a:endParaRPr lang="en-US" altLang="zh-TW" dirty="0"/>
          </a:p>
          <a:p>
            <a:r>
              <a:rPr lang="en-US" altLang="zh-TW" dirty="0">
                <a:latin typeface="Times New Roman" panose="02020603050405020304" pitchFamily="18" charset="0"/>
                <a:cs typeface="Times New Roman" panose="02020603050405020304" pitchFamily="18" charset="0"/>
              </a:rPr>
              <a:t>O(n</a:t>
            </a:r>
            <a:r>
              <a:rPr lang="el-GR" altLang="zh-TW" dirty="0">
                <a:latin typeface="Times New Roman" panose="02020603050405020304" pitchFamily="18" charset="0"/>
                <a:cs typeface="Times New Roman" panose="02020603050405020304" pitchFamily="18" charset="0"/>
              </a:rPr>
              <a:t>σ</a:t>
            </a:r>
            <a:r>
              <a:rPr lang="en-US" altLang="zh-TW" dirty="0">
                <a:latin typeface="Times New Roman" panose="02020603050405020304" pitchFamily="18" charset="0"/>
                <a:cs typeface="Times New Roman" panose="02020603050405020304" pitchFamily="18" charset="0"/>
              </a:rPr>
              <a:t>(</a:t>
            </a:r>
            <a:r>
              <a:rPr lang="el-GR" altLang="zh-TW" dirty="0">
                <a:latin typeface="Times New Roman" panose="02020603050405020304" pitchFamily="18" charset="0"/>
                <a:cs typeface="Times New Roman" panose="02020603050405020304" pitchFamily="18" charset="0"/>
              </a:rPr>
              <a:t>σ</a:t>
            </a:r>
            <a:r>
              <a:rPr lang="en-US" altLang="zh-TW" dirty="0">
                <a:latin typeface="Times New Roman" panose="02020603050405020304" pitchFamily="18" charset="0"/>
                <a:cs typeface="Times New Roman" panose="02020603050405020304" pitchFamily="18" charset="0"/>
              </a:rPr>
              <a:t>+log n)) polynomial delay</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O(n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r>
              <a:rPr lang="el-GR" altLang="zh-TW" dirty="0">
                <a:latin typeface="Times New Roman" panose="02020603050405020304" pitchFamily="18" charset="0"/>
                <a:cs typeface="Times New Roman" panose="02020603050405020304" pitchFamily="18" charset="0"/>
              </a:rPr>
              <a:t>σ</a:t>
            </a:r>
            <a:r>
              <a:rPr lang="en-US" altLang="zh-TW" dirty="0">
                <a:latin typeface="Times New Roman" panose="02020603050405020304" pitchFamily="18" charset="0"/>
                <a:cs typeface="Times New Roman" panose="02020603050405020304" pitchFamily="18" charset="0"/>
              </a:rPr>
              <a:t>+log n)) preprocessing time</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O(n</a:t>
            </a:r>
            <a:r>
              <a:rPr lang="en-US" altLang="zh-TW" baseline="30000" dirty="0">
                <a:latin typeface="Times New Roman" panose="02020603050405020304" pitchFamily="18" charset="0"/>
                <a:cs typeface="Times New Roman" panose="02020603050405020304" pitchFamily="18" charset="0"/>
              </a:rPr>
              <a:t>2</a:t>
            </a:r>
            <a:r>
              <a:rPr lang="en-US" altLang="zh-TW">
                <a:latin typeface="Times New Roman" panose="02020603050405020304" pitchFamily="18" charset="0"/>
                <a:cs typeface="Times New Roman" panose="02020603050405020304" pitchFamily="18" charset="0"/>
              </a:rPr>
              <a:t>) space</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40662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3951</TotalTime>
  <Words>294</Words>
  <Application>Microsoft Office PowerPoint</Application>
  <PresentationFormat>寬螢幕</PresentationFormat>
  <Paragraphs>31</Paragraphs>
  <Slides>11</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Polynomial-Delay Enumeration of Maximal Common Subsequences</vt:lpstr>
      <vt:lpstr>Abstract</vt:lpstr>
      <vt:lpstr>Maximal common subsequence(MCS)</vt:lpstr>
      <vt:lpstr>MCS as a Graph Problem</vt:lpstr>
      <vt:lpstr>Unshiftable Edge</vt:lpstr>
      <vt:lpstr>Unshiftable Edge</vt:lpstr>
      <vt:lpstr>Unshiftable Edge</vt:lpstr>
      <vt:lpstr>Candidate Extensions</vt:lpstr>
      <vt:lpstr>EnumerateMCS algorithm</vt:lpstr>
      <vt:lpstr>EnumerateMCS algorithm</vt:lpstr>
      <vt:lpstr>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tu cheng</cp:lastModifiedBy>
  <cp:revision>256</cp:revision>
  <dcterms:created xsi:type="dcterms:W3CDTF">2018-09-30T05:00:05Z</dcterms:created>
  <dcterms:modified xsi:type="dcterms:W3CDTF">2019-10-15T10:29:38Z</dcterms:modified>
</cp:coreProperties>
</file>