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5"/>
  </p:notesMasterIdLst>
  <p:sldIdLst>
    <p:sldId id="256" r:id="rId2"/>
    <p:sldId id="257" r:id="rId3"/>
    <p:sldId id="281" r:id="rId4"/>
    <p:sldId id="282" r:id="rId5"/>
    <p:sldId id="285" r:id="rId6"/>
    <p:sldId id="290" r:id="rId7"/>
    <p:sldId id="292" r:id="rId8"/>
    <p:sldId id="287" r:id="rId9"/>
    <p:sldId id="286" r:id="rId10"/>
    <p:sldId id="293" r:id="rId11"/>
    <p:sldId id="288" r:id="rId12"/>
    <p:sldId id="289" r:id="rId13"/>
    <p:sldId id="294"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480" autoAdjust="0"/>
    <p:restoredTop sz="93971" autoAdjust="0"/>
  </p:normalViewPr>
  <p:slideViewPr>
    <p:cSldViewPr snapToGrid="0">
      <p:cViewPr varScale="1">
        <p:scale>
          <a:sx n="60" d="100"/>
          <a:sy n="60" d="100"/>
        </p:scale>
        <p:origin x="1548" y="60"/>
      </p:cViewPr>
      <p:guideLst>
        <p:guide orient="horz" pos="2160"/>
        <p:guide pos="2880"/>
      </p:guideLst>
    </p:cSldViewPr>
  </p:slideViewPr>
  <p:notesTextViewPr>
    <p:cViewPr>
      <p:scale>
        <a:sx n="125" d="100"/>
        <a:sy n="125"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30"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EB1F98-CDCA-4E1F-B89C-7712647B005A}" type="datetimeFigureOut">
              <a:rPr lang="zh-TW" altLang="en-US" smtClean="0"/>
              <a:t>2019/4/9</a:t>
            </a:fld>
            <a:endParaRPr lang="zh-TW" altLang="en-US"/>
          </a:p>
        </p:txBody>
      </p:sp>
      <p:sp>
        <p:nvSpPr>
          <p:cNvPr id="4" name="投影片影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E0A4FA-366C-40B7-9E40-EFBC7A72D852}" type="slidenum">
              <a:rPr lang="zh-TW" altLang="en-US" smtClean="0"/>
              <a:t>‹#›</a:t>
            </a:fld>
            <a:endParaRPr lang="zh-TW" altLang="en-US"/>
          </a:p>
        </p:txBody>
      </p:sp>
    </p:spTree>
    <p:extLst>
      <p:ext uri="{BB962C8B-B14F-4D97-AF65-F5344CB8AC3E}">
        <p14:creationId xmlns:p14="http://schemas.microsoft.com/office/powerpoint/2010/main" val="680661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www.ncbi.nlm.nih.gov/nuccore/V00662.1/"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en-US" altLang="zh-TW" sz="1200" b="0" i="0" kern="1200" dirty="0" smtClean="0">
              <a:solidFill>
                <a:schemeClr val="tx1"/>
              </a:solidFill>
              <a:effectLst/>
              <a:latin typeface="+mn-lt"/>
              <a:ea typeface="+mn-ea"/>
              <a:cs typeface="+mn-cs"/>
            </a:endParaRPr>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a:t>
            </a:fld>
            <a:endParaRPr lang="zh-TW" altLang="en-US"/>
          </a:p>
        </p:txBody>
      </p:sp>
    </p:spTree>
    <p:extLst>
      <p:ext uri="{BB962C8B-B14F-4D97-AF65-F5344CB8AC3E}">
        <p14:creationId xmlns:p14="http://schemas.microsoft.com/office/powerpoint/2010/main" val="5812154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2</a:t>
            </a:fld>
            <a:endParaRPr lang="zh-TW" altLang="en-US"/>
          </a:p>
        </p:txBody>
      </p:sp>
    </p:spTree>
    <p:extLst>
      <p:ext uri="{BB962C8B-B14F-4D97-AF65-F5344CB8AC3E}">
        <p14:creationId xmlns:p14="http://schemas.microsoft.com/office/powerpoint/2010/main" val="3574880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3</a:t>
            </a:fld>
            <a:endParaRPr lang="zh-TW" altLang="en-US"/>
          </a:p>
        </p:txBody>
      </p:sp>
    </p:spTree>
    <p:extLst>
      <p:ext uri="{BB962C8B-B14F-4D97-AF65-F5344CB8AC3E}">
        <p14:creationId xmlns:p14="http://schemas.microsoft.com/office/powerpoint/2010/main" val="36118773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4</a:t>
            </a:fld>
            <a:endParaRPr lang="zh-TW" altLang="en-US"/>
          </a:p>
        </p:txBody>
      </p:sp>
    </p:spTree>
    <p:extLst>
      <p:ext uri="{BB962C8B-B14F-4D97-AF65-F5344CB8AC3E}">
        <p14:creationId xmlns:p14="http://schemas.microsoft.com/office/powerpoint/2010/main" val="24363278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5</a:t>
            </a:fld>
            <a:endParaRPr lang="zh-TW" altLang="en-US"/>
          </a:p>
        </p:txBody>
      </p:sp>
    </p:spTree>
    <p:extLst>
      <p:ext uri="{BB962C8B-B14F-4D97-AF65-F5344CB8AC3E}">
        <p14:creationId xmlns:p14="http://schemas.microsoft.com/office/powerpoint/2010/main" val="1896356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6</a:t>
            </a:fld>
            <a:endParaRPr lang="zh-TW" altLang="en-US"/>
          </a:p>
        </p:txBody>
      </p:sp>
    </p:spTree>
    <p:extLst>
      <p:ext uri="{BB962C8B-B14F-4D97-AF65-F5344CB8AC3E}">
        <p14:creationId xmlns:p14="http://schemas.microsoft.com/office/powerpoint/2010/main" val="6240941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7</a:t>
            </a:fld>
            <a:endParaRPr lang="zh-TW" altLang="en-US"/>
          </a:p>
        </p:txBody>
      </p:sp>
    </p:spTree>
    <p:extLst>
      <p:ext uri="{BB962C8B-B14F-4D97-AF65-F5344CB8AC3E}">
        <p14:creationId xmlns:p14="http://schemas.microsoft.com/office/powerpoint/2010/main" val="32341902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8</a:t>
            </a:fld>
            <a:endParaRPr lang="zh-TW" altLang="en-US"/>
          </a:p>
        </p:txBody>
      </p:sp>
    </p:spTree>
    <p:extLst>
      <p:ext uri="{BB962C8B-B14F-4D97-AF65-F5344CB8AC3E}">
        <p14:creationId xmlns:p14="http://schemas.microsoft.com/office/powerpoint/2010/main" val="12555957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9</a:t>
            </a:fld>
            <a:endParaRPr lang="zh-TW" altLang="en-US"/>
          </a:p>
        </p:txBody>
      </p:sp>
    </p:spTree>
    <p:extLst>
      <p:ext uri="{BB962C8B-B14F-4D97-AF65-F5344CB8AC3E}">
        <p14:creationId xmlns:p14="http://schemas.microsoft.com/office/powerpoint/2010/main" val="41421135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smtClean="0"/>
              <a:t>A /</a:t>
            </a:r>
            <a:r>
              <a:rPr lang="zh-TW" altLang="en-US" dirty="0" smtClean="0"/>
              <a:t>藍翅</a:t>
            </a:r>
            <a:r>
              <a:rPr lang="en-US" altLang="zh-TW" dirty="0" smtClean="0"/>
              <a:t>teal / Ohio / 1864/2006</a:t>
            </a:r>
            <a:r>
              <a:rPr lang="zh-TW" altLang="en-US" dirty="0" smtClean="0"/>
              <a:t>（</a:t>
            </a:r>
            <a:r>
              <a:rPr lang="en-US" altLang="zh-TW" dirty="0" smtClean="0"/>
              <a:t>H3N8</a:t>
            </a:r>
            <a:r>
              <a:rPr lang="zh-TW" altLang="en-US" dirty="0" smtClean="0"/>
              <a:t>）與</a:t>
            </a:r>
            <a:r>
              <a:rPr lang="en-US" altLang="zh-TW" dirty="0" smtClean="0"/>
              <a:t>2003</a:t>
            </a:r>
            <a:r>
              <a:rPr lang="zh-TW" altLang="en-US" dirty="0" smtClean="0"/>
              <a:t>年至</a:t>
            </a:r>
            <a:r>
              <a:rPr lang="en-US" altLang="zh-TW" dirty="0" smtClean="0"/>
              <a:t>2006</a:t>
            </a:r>
            <a:r>
              <a:rPr lang="zh-TW" altLang="en-US" dirty="0" smtClean="0"/>
              <a:t>年亞洲國家的</a:t>
            </a:r>
            <a:r>
              <a:rPr lang="en-US" altLang="zh-TW" dirty="0" smtClean="0"/>
              <a:t>H5N1</a:t>
            </a:r>
            <a:r>
              <a:rPr lang="zh-TW" altLang="en-US" dirty="0" smtClean="0"/>
              <a:t>禽流感病毒爆發有關。</a:t>
            </a:r>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10</a:t>
            </a:fld>
            <a:endParaRPr lang="zh-TW" altLang="en-US"/>
          </a:p>
        </p:txBody>
      </p:sp>
    </p:spTree>
    <p:extLst>
      <p:ext uri="{BB962C8B-B14F-4D97-AF65-F5344CB8AC3E}">
        <p14:creationId xmlns:p14="http://schemas.microsoft.com/office/powerpoint/2010/main" val="30295291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smtClean="0">
                <a:hlinkClick r:id="rId3"/>
              </a:rPr>
              <a:t>https://www.ncbi.nlm.nih.gov/nuccore/V00662.1/</a:t>
            </a:r>
            <a:endParaRPr lang="en-US" altLang="zh-TW" dirty="0" smtClean="0"/>
          </a:p>
          <a:p>
            <a:r>
              <a:rPr lang="zh-TW" altLang="en-US" sz="1200" b="0" i="0" kern="1200" dirty="0" smtClean="0">
                <a:solidFill>
                  <a:schemeClr val="tx1"/>
                </a:solidFill>
                <a:effectLst/>
                <a:latin typeface="+mn-lt"/>
                <a:ea typeface="+mn-ea"/>
                <a:cs typeface="+mn-cs"/>
              </a:rPr>
              <a:t>大貓熊具備肉食動物的生理特徵卻不以肉為主食」，是因為一個名叫「</a:t>
            </a:r>
            <a:r>
              <a:rPr lang="en-US" altLang="zh-TW" sz="1200" b="0" i="0" kern="1200" dirty="0" smtClean="0">
                <a:solidFill>
                  <a:schemeClr val="tx1"/>
                </a:solidFill>
                <a:effectLst/>
                <a:latin typeface="+mn-lt"/>
                <a:ea typeface="+mn-ea"/>
                <a:cs typeface="+mn-cs"/>
              </a:rPr>
              <a:t>T1R1</a:t>
            </a:r>
            <a:r>
              <a:rPr lang="zh-TW" altLang="en-US" sz="1200" b="0" i="0" kern="1200" dirty="0" smtClean="0">
                <a:solidFill>
                  <a:schemeClr val="tx1"/>
                </a:solidFill>
                <a:effectLst/>
                <a:latin typeface="+mn-lt"/>
                <a:ea typeface="+mn-ea"/>
                <a:cs typeface="+mn-cs"/>
              </a:rPr>
              <a:t>」的基因失活了，造成貓熊無法感覺肉類的鮮味。但牠們的消化系統仍然是食肉動物的消化系統，因此只能依靠腸內細菌分解竹葉</a:t>
            </a:r>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12</a:t>
            </a:fld>
            <a:endParaRPr lang="zh-TW" altLang="en-US"/>
          </a:p>
        </p:txBody>
      </p:sp>
    </p:spTree>
    <p:extLst>
      <p:ext uri="{BB962C8B-B14F-4D97-AF65-F5344CB8AC3E}">
        <p14:creationId xmlns:p14="http://schemas.microsoft.com/office/powerpoint/2010/main" val="6281408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2019/4/9</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465846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2019/4/9</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677946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FA6EFCFE-425C-4696-9D05-22E06C3112FC}" type="datetimeFigureOut">
              <a:rPr lang="zh-TW" altLang="en-US" smtClean="0"/>
              <a:t>2019/4/9</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443438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FA6EFCFE-425C-4696-9D05-22E06C3112FC}" type="datetimeFigureOut">
              <a:rPr lang="zh-TW" altLang="en-US" smtClean="0"/>
              <a:t>2019/4/9</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2106894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FA6EFCFE-425C-4696-9D05-22E06C3112FC}" type="datetimeFigureOut">
              <a:rPr lang="zh-TW" altLang="en-US" smtClean="0"/>
              <a:t>2019/4/9</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573240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FA6EFCFE-425C-4696-9D05-22E06C3112FC}" type="datetimeFigureOut">
              <a:rPr lang="zh-TW" altLang="en-US" smtClean="0"/>
              <a:t>2019/4/9</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926587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6EFCFE-425C-4696-9D05-22E06C3112FC}" type="datetimeFigureOut">
              <a:rPr lang="zh-TW" altLang="en-US" smtClean="0"/>
              <a:t>2019/4/9</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996154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FA6EFCFE-425C-4696-9D05-22E06C3112FC}" type="datetimeFigureOut">
              <a:rPr lang="zh-TW" altLang="en-US" smtClean="0"/>
              <a:t>2019/4/9</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707834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FA6EFCFE-425C-4696-9D05-22E06C3112FC}" type="datetimeFigureOut">
              <a:rPr lang="zh-TW" altLang="en-US" smtClean="0"/>
              <a:t>2019/4/9</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6848322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2019/4/9</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4246856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2019/4/9</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0091451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6EFCFE-425C-4696-9D05-22E06C3112FC}" type="datetimeFigureOut">
              <a:rPr lang="zh-TW" altLang="en-US" smtClean="0"/>
              <a:t>2019/4/9</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1086228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image" Target="../media/image50.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BB447A32-0D96-4B57-86B2-82EC84E8995E}"/>
              </a:ext>
            </a:extLst>
          </p:cNvPr>
          <p:cNvSpPr>
            <a:spLocks noGrp="1"/>
          </p:cNvSpPr>
          <p:nvPr>
            <p:ph type="ctrTitle"/>
          </p:nvPr>
        </p:nvSpPr>
        <p:spPr>
          <a:xfrm>
            <a:off x="485244" y="1089809"/>
            <a:ext cx="8436359" cy="1605324"/>
          </a:xfrm>
        </p:spPr>
        <p:txBody>
          <a:bodyPr>
            <a:noAutofit/>
          </a:bodyPr>
          <a:lstStyle/>
          <a:p>
            <a:r>
              <a:rPr lang="en-US" altLang="zh-TW" sz="4000" dirty="0">
                <a:latin typeface="Times New Roman" panose="02020603050405020304" pitchFamily="18" charset="0"/>
                <a:cs typeface="Times New Roman" panose="02020603050405020304" pitchFamily="18" charset="0"/>
              </a:rPr>
              <a:t>A Novel Method of Characterizing Genetic Sequences: Genome Space with Biological Distance and Applications</a:t>
            </a:r>
            <a:endParaRPr lang="zh-TW" altLang="en-US" sz="40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xmlns="" id="{61456E59-5D91-4093-B1A4-6F308EA967FD}"/>
              </a:ext>
            </a:extLst>
          </p:cNvPr>
          <p:cNvSpPr>
            <a:spLocks noGrp="1"/>
          </p:cNvSpPr>
          <p:nvPr>
            <p:ph type="subTitle" idx="1"/>
          </p:nvPr>
        </p:nvSpPr>
        <p:spPr>
          <a:xfrm>
            <a:off x="330149" y="2900196"/>
            <a:ext cx="8536249" cy="717223"/>
          </a:xfrm>
        </p:spPr>
        <p:txBody>
          <a:bodyPr>
            <a:noAutofit/>
          </a:bodyPr>
          <a:lstStyle/>
          <a:p>
            <a:r>
              <a:rPr lang="en-US" altLang="zh-TW" sz="2800" dirty="0" smtClean="0">
                <a:latin typeface="Times New Roman" panose="02020603050405020304" pitchFamily="18" charset="0"/>
                <a:cs typeface="Times New Roman" panose="02020603050405020304" pitchFamily="18" charset="0"/>
              </a:rPr>
              <a:t>Mo Deng, </a:t>
            </a:r>
            <a:r>
              <a:rPr lang="en-US" altLang="zh-TW" sz="2800" dirty="0" err="1" smtClean="0">
                <a:latin typeface="Times New Roman" panose="02020603050405020304" pitchFamily="18" charset="0"/>
                <a:cs typeface="Times New Roman" panose="02020603050405020304" pitchFamily="18" charset="0"/>
              </a:rPr>
              <a:t>Chenglong</a:t>
            </a:r>
            <a:r>
              <a:rPr lang="en-US" altLang="zh-TW" sz="2800" dirty="0" smtClean="0">
                <a:latin typeface="Times New Roman" panose="02020603050405020304" pitchFamily="18" charset="0"/>
                <a:cs typeface="Times New Roman" panose="02020603050405020304" pitchFamily="18" charset="0"/>
              </a:rPr>
              <a:t> Yu, Qian Liang, </a:t>
            </a:r>
            <a:r>
              <a:rPr lang="en-US" altLang="zh-TW" sz="2800" dirty="0" err="1" smtClean="0">
                <a:latin typeface="Times New Roman" panose="02020603050405020304" pitchFamily="18" charset="0"/>
                <a:cs typeface="Times New Roman" panose="02020603050405020304" pitchFamily="18" charset="0"/>
              </a:rPr>
              <a:t>Rong</a:t>
            </a:r>
            <a:r>
              <a:rPr lang="en-US" altLang="zh-TW" sz="2800" dirty="0" smtClean="0">
                <a:latin typeface="Times New Roman" panose="02020603050405020304" pitchFamily="18" charset="0"/>
                <a:cs typeface="Times New Roman" panose="02020603050405020304" pitchFamily="18" charset="0"/>
              </a:rPr>
              <a:t> He, </a:t>
            </a:r>
            <a:r>
              <a:rPr lang="en-US" altLang="zh-TW" sz="2800" dirty="0">
                <a:latin typeface="Times New Roman" panose="02020603050405020304" pitchFamily="18" charset="0"/>
                <a:cs typeface="Times New Roman" panose="02020603050405020304" pitchFamily="18" charset="0"/>
              </a:rPr>
              <a:t>and </a:t>
            </a:r>
            <a:r>
              <a:rPr lang="en-US" altLang="zh-TW" sz="2800" dirty="0" err="1" smtClean="0">
                <a:latin typeface="Times New Roman" panose="02020603050405020304" pitchFamily="18" charset="0"/>
                <a:cs typeface="Times New Roman" panose="02020603050405020304" pitchFamily="18" charset="0"/>
              </a:rPr>
              <a:t>ShingTung</a:t>
            </a:r>
            <a:r>
              <a:rPr lang="en-US" altLang="zh-TW" sz="2800" dirty="0" smtClean="0">
                <a:latin typeface="Times New Roman" panose="02020603050405020304" pitchFamily="18" charset="0"/>
                <a:cs typeface="Times New Roman" panose="02020603050405020304" pitchFamily="18" charset="0"/>
              </a:rPr>
              <a:t> </a:t>
            </a:r>
            <a:r>
              <a:rPr lang="en-US" altLang="zh-TW" sz="2800" dirty="0" err="1" smtClean="0">
                <a:latin typeface="Times New Roman" panose="02020603050405020304" pitchFamily="18" charset="0"/>
                <a:cs typeface="Times New Roman" panose="02020603050405020304" pitchFamily="18" charset="0"/>
              </a:rPr>
              <a:t>Yau</a:t>
            </a:r>
            <a:r>
              <a:rPr lang="en-US" altLang="zh-TW" sz="2800" dirty="0" smtClean="0">
                <a:latin typeface="Times New Roman" panose="02020603050405020304" pitchFamily="18" charset="0"/>
                <a:cs typeface="Times New Roman" panose="02020603050405020304" pitchFamily="18" charset="0"/>
              </a:rPr>
              <a:t>(</a:t>
            </a:r>
            <a:r>
              <a:rPr lang="zh-TW" altLang="zh-TW" dirty="0">
                <a:latin typeface="標楷體" panose="03000509000000000000" pitchFamily="65" charset="-120"/>
                <a:ea typeface="標楷體" panose="03000509000000000000" pitchFamily="65" charset="-120"/>
              </a:rPr>
              <a:t>丘成</a:t>
            </a:r>
            <a:r>
              <a:rPr lang="zh-TW" altLang="zh-TW" dirty="0" smtClean="0">
                <a:latin typeface="標楷體" panose="03000509000000000000" pitchFamily="65" charset="-120"/>
                <a:ea typeface="標楷體" panose="03000509000000000000" pitchFamily="65" charset="-120"/>
              </a:rPr>
              <a:t>桐</a:t>
            </a:r>
            <a:r>
              <a:rPr lang="en-US" altLang="zh-TW" sz="2800" dirty="0" smtClean="0">
                <a:latin typeface="Times New Roman" panose="02020603050405020304" pitchFamily="18" charset="0"/>
                <a:cs typeface="Times New Roman" panose="02020603050405020304" pitchFamily="18" charset="0"/>
              </a:rPr>
              <a:t>)</a:t>
            </a:r>
          </a:p>
        </p:txBody>
      </p:sp>
      <p:sp>
        <p:nvSpPr>
          <p:cNvPr id="4" name="副標題 2">
            <a:extLst>
              <a:ext uri="{FF2B5EF4-FFF2-40B4-BE49-F238E27FC236}">
                <a16:creationId xmlns:a16="http://schemas.microsoft.com/office/drawing/2014/main" xmlns="" id="{A64E0364-4674-4930-835E-A413D880DCDB}"/>
              </a:ext>
            </a:extLst>
          </p:cNvPr>
          <p:cNvSpPr txBox="1">
            <a:spLocks/>
          </p:cNvSpPr>
          <p:nvPr/>
        </p:nvSpPr>
        <p:spPr>
          <a:xfrm>
            <a:off x="4761182" y="5443584"/>
            <a:ext cx="3264031" cy="856478"/>
          </a:xfrm>
          <a:prstGeom prst="rect">
            <a:avLst/>
          </a:prstGeom>
        </p:spPr>
        <p:txBody>
          <a:bodyPr vert="horz" lIns="68580" tIns="34290" rIns="68580" bIns="3429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altLang="zh-TW" sz="1800" dirty="0">
                <a:latin typeface="Times New Roman" panose="02020603050405020304" pitchFamily="18" charset="0"/>
                <a:cs typeface="Times New Roman" panose="02020603050405020304" pitchFamily="18" charset="0"/>
              </a:rPr>
              <a:t>Presenter</a:t>
            </a:r>
            <a:r>
              <a:rPr lang="en-US" altLang="zh-TW" sz="1800" dirty="0"/>
              <a:t> </a:t>
            </a:r>
            <a:r>
              <a:rPr lang="en-US" altLang="zh-TW" sz="1800" dirty="0" smtClean="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1800" dirty="0" smtClean="0">
                <a:latin typeface="Times New Roman" panose="02020603050405020304" pitchFamily="18" charset="0"/>
                <a:cs typeface="Times New Roman" panose="02020603050405020304" pitchFamily="18" charset="0"/>
              </a:rPr>
              <a:t>Feng-Yang</a:t>
            </a:r>
            <a:r>
              <a:rPr lang="en-US" altLang="zh-TW" sz="1800" dirty="0" smtClean="0">
                <a:latin typeface="Times New Roman" panose="02020603050405020304" pitchFamily="18" charset="0"/>
                <a:ea typeface="標楷體" panose="03000509000000000000" pitchFamily="65" charset="-120"/>
                <a:cs typeface="Times New Roman" panose="02020603050405020304" pitchFamily="18" charset="0"/>
              </a:rPr>
              <a:t> Tsai</a:t>
            </a:r>
            <a:endParaRPr lang="en-US" altLang="zh-TW" sz="1800" dirty="0">
              <a:latin typeface="Times New Roman" panose="02020603050405020304" pitchFamily="18" charset="0"/>
              <a:ea typeface="標楷體" panose="03000509000000000000" pitchFamily="65" charset="-120"/>
              <a:cs typeface="Times New Roman" panose="02020603050405020304" pitchFamily="18" charset="0"/>
            </a:endParaRPr>
          </a:p>
          <a:p>
            <a:pPr algn="r"/>
            <a:r>
              <a:rPr lang="en-US" altLang="zh-TW" sz="1800" dirty="0" err="1" smtClean="0">
                <a:latin typeface="Times New Roman" panose="02020603050405020304" pitchFamily="18" charset="0"/>
                <a:ea typeface="標楷體" panose="03000509000000000000" pitchFamily="65" charset="-120"/>
                <a:cs typeface="Times New Roman" panose="02020603050405020304" pitchFamily="18" charset="0"/>
              </a:rPr>
              <a:t>Date:Apr</a:t>
            </a:r>
            <a:r>
              <a:rPr lang="en-US" altLang="zh-TW" sz="1800" dirty="0" smtClean="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1800" dirty="0">
                <a:latin typeface="Times New Roman" panose="02020603050405020304" pitchFamily="18" charset="0"/>
                <a:ea typeface="標楷體" panose="03000509000000000000" pitchFamily="65" charset="-120"/>
                <a:cs typeface="Times New Roman" panose="02020603050405020304" pitchFamily="18" charset="0"/>
              </a:rPr>
              <a:t>9</a:t>
            </a:r>
            <a:r>
              <a:rPr lang="en-US" altLang="zh-TW" sz="1800" dirty="0" smtClean="0">
                <a:latin typeface="Times New Roman" panose="02020603050405020304" pitchFamily="18" charset="0"/>
                <a:ea typeface="標楷體" panose="03000509000000000000" pitchFamily="65" charset="-120"/>
                <a:cs typeface="Times New Roman" panose="02020603050405020304" pitchFamily="18" charset="0"/>
              </a:rPr>
              <a:t>, 2019.</a:t>
            </a:r>
            <a:endParaRPr lang="zh-TW" altLang="en-US" sz="18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5" name="矩形 4"/>
          <p:cNvSpPr/>
          <p:nvPr/>
        </p:nvSpPr>
        <p:spPr>
          <a:xfrm>
            <a:off x="590394" y="4059633"/>
            <a:ext cx="8226058" cy="461665"/>
          </a:xfrm>
          <a:prstGeom prst="rect">
            <a:avLst/>
          </a:prstGeom>
        </p:spPr>
        <p:txBody>
          <a:bodyPr wrap="square">
            <a:spAutoFit/>
          </a:bodyPr>
          <a:lstStyle/>
          <a:p>
            <a:pPr algn="ctr"/>
            <a:r>
              <a:rPr lang="en-US" altLang="zh-TW" sz="2400" dirty="0" err="1" smtClean="0">
                <a:latin typeface="Times New Roman" panose="02020603050405020304" pitchFamily="18" charset="0"/>
                <a:cs typeface="Times New Roman" panose="02020603050405020304" pitchFamily="18" charset="0"/>
              </a:rPr>
              <a:t>PLoS</a:t>
            </a:r>
            <a:r>
              <a:rPr lang="en-US" altLang="zh-TW" sz="2400" dirty="0" smtClean="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One </a:t>
            </a:r>
            <a:r>
              <a:rPr lang="en-US" altLang="zh-TW" sz="2400" dirty="0" smtClean="0">
                <a:latin typeface="Times New Roman" panose="02020603050405020304" pitchFamily="18" charset="0"/>
                <a:cs typeface="Times New Roman" panose="02020603050405020304" pitchFamily="18" charset="0"/>
              </a:rPr>
              <a:t>Volume 6, Issue 3, 2011. </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1172833"/>
      </p:ext>
    </p:extLst>
  </p:cSld>
  <p:clrMapOvr>
    <a:masterClrMapping/>
  </p:clrMapOvr>
  <mc:AlternateContent xmlns:mc="http://schemas.openxmlformats.org/markup-compatibility/2006" xmlns:p14="http://schemas.microsoft.com/office/powerpoint/2010/main">
    <mc:Choice Requires="p14">
      <p:transition spd="slow" p14:dur="2000" advTm="2519"/>
    </mc:Choice>
    <mc:Fallback xmlns="">
      <p:transition spd="slow" advTm="2519"/>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139007" y="439984"/>
            <a:ext cx="7886700" cy="583367"/>
          </a:xfrm>
        </p:spPr>
        <p:txBody>
          <a:bodyPr>
            <a:normAutofit/>
          </a:bodyPr>
          <a:lstStyle/>
          <a:p>
            <a:r>
              <a:rPr lang="en-US" altLang="zh-TW" sz="3200" b="1" dirty="0" smtClean="0">
                <a:latin typeface="Times New Roman" panose="02020603050405020304" pitchFamily="18" charset="0"/>
                <a:cs typeface="Times New Roman" panose="02020603050405020304" pitchFamily="18" charset="0"/>
              </a:rPr>
              <a:t>Abstract(1/3)</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xmlns="" id="{5E26DCC3-1991-4383-BF81-99FF895536EE}"/>
              </a:ext>
            </a:extLst>
          </p:cNvPr>
          <p:cNvSpPr>
            <a:spLocks noGrp="1"/>
          </p:cNvSpPr>
          <p:nvPr>
            <p:ph idx="1"/>
          </p:nvPr>
        </p:nvSpPr>
        <p:spPr>
          <a:xfrm>
            <a:off x="139008" y="1023351"/>
            <a:ext cx="8704742" cy="5131633"/>
          </a:xfrm>
        </p:spPr>
        <p:txBody>
          <a:bodyPr>
            <a:noAutofit/>
          </a:bodyPr>
          <a:lstStyle/>
          <a:p>
            <a:pPr marL="0" indent="0">
              <a:lnSpc>
                <a:spcPts val="3200"/>
              </a:lnSpc>
              <a:buNone/>
            </a:pPr>
            <a:r>
              <a:rPr lang="en-US" altLang="zh-TW" dirty="0" smtClean="0">
                <a:latin typeface="Times New Roman" panose="02020603050405020304" pitchFamily="18" charset="0"/>
                <a:cs typeface="Times New Roman" panose="02020603050405020304" pitchFamily="18" charset="0"/>
              </a:rPr>
              <a:t>Most existing methods for phylogenetic analysis involve developing an evolutionary model and then using some type of computational algorithm to perform multiple sequence alignment. There are two problems with this approach: (1) different evolutionary models can lead to different results, and (2) the computation time required for multiple alignments makes it impossible to </a:t>
            </a:r>
            <a:r>
              <a:rPr lang="en-US" altLang="zh-TW" dirty="0" err="1" smtClean="0">
                <a:latin typeface="Times New Roman" panose="02020603050405020304" pitchFamily="18" charset="0"/>
                <a:cs typeface="Times New Roman" panose="02020603050405020304" pitchFamily="18" charset="0"/>
              </a:rPr>
              <a:t>analyse</a:t>
            </a:r>
            <a:r>
              <a:rPr lang="en-US" altLang="zh-TW" dirty="0" smtClean="0">
                <a:latin typeface="Times New Roman" panose="02020603050405020304" pitchFamily="18" charset="0"/>
                <a:cs typeface="Times New Roman" panose="02020603050405020304" pitchFamily="18" charset="0"/>
              </a:rPr>
              <a:t> the phylogeny of a whole genome. This motivates us to create a new approach to characterize genetic sequences. To each DNA sequence, we associate a natural vector based on the distributions of nucleotides. This produces a one-to-one correspondence between the DNA sequence and its natural vector. We define the distance</a:t>
            </a:r>
            <a:r>
              <a:rPr lang="en-US" altLang="zh-TW" dirty="0">
                <a:latin typeface="Times New Roman" panose="02020603050405020304" pitchFamily="18" charset="0"/>
                <a:cs typeface="Times New Roman" panose="02020603050405020304" pitchFamily="18" charset="0"/>
              </a:rPr>
              <a:t> between two DNA sequences </a:t>
            </a:r>
            <a:endParaRPr lang="fr-FR" altLang="zh-TW"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047819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125359" y="439984"/>
            <a:ext cx="7886700" cy="583367"/>
          </a:xfrm>
        </p:spPr>
        <p:txBody>
          <a:bodyPr>
            <a:normAutofit/>
          </a:bodyPr>
          <a:lstStyle/>
          <a:p>
            <a:r>
              <a:rPr lang="en-US" altLang="zh-TW" sz="3200" b="1" dirty="0" smtClean="0">
                <a:latin typeface="Times New Roman" panose="02020603050405020304" pitchFamily="18" charset="0"/>
                <a:cs typeface="Times New Roman" panose="02020603050405020304" pitchFamily="18" charset="0"/>
              </a:rPr>
              <a:t>Abstract(2/3)</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xmlns="" id="{5E26DCC3-1991-4383-BF81-99FF895536EE}"/>
              </a:ext>
            </a:extLst>
          </p:cNvPr>
          <p:cNvSpPr>
            <a:spLocks noGrp="1"/>
          </p:cNvSpPr>
          <p:nvPr>
            <p:ph idx="1"/>
          </p:nvPr>
        </p:nvSpPr>
        <p:spPr>
          <a:xfrm>
            <a:off x="139008" y="1023351"/>
            <a:ext cx="9004992" cy="5131633"/>
          </a:xfrm>
        </p:spPr>
        <p:txBody>
          <a:bodyPr>
            <a:noAutofit/>
          </a:bodyPr>
          <a:lstStyle/>
          <a:p>
            <a:pPr marL="0" indent="0">
              <a:lnSpc>
                <a:spcPts val="3200"/>
              </a:lnSpc>
              <a:buNone/>
            </a:pPr>
            <a:r>
              <a:rPr lang="en-US" altLang="zh-TW" dirty="0" smtClean="0">
                <a:latin typeface="Times New Roman" panose="02020603050405020304" pitchFamily="18" charset="0"/>
                <a:cs typeface="Times New Roman" panose="02020603050405020304" pitchFamily="18" charset="0"/>
              </a:rPr>
              <a:t>to be the distance between their associated natural vectors. This creates a genome space with a biological distance which makes global comparison of genomes with same topology possible. We use our proposed method to analyze the genomes of the new influenza A (H1N1) virus, human rhinoviruses (HRV) and mammalian mitochondrial. The result shows that a triple-</a:t>
            </a:r>
            <a:r>
              <a:rPr lang="en-US" altLang="zh-TW" dirty="0" err="1" smtClean="0">
                <a:latin typeface="Times New Roman" panose="02020603050405020304" pitchFamily="18" charset="0"/>
                <a:cs typeface="Times New Roman" panose="02020603050405020304" pitchFamily="18" charset="0"/>
              </a:rPr>
              <a:t>reassortant</a:t>
            </a:r>
            <a:r>
              <a:rPr lang="en-US" altLang="zh-TW" dirty="0" smtClean="0">
                <a:latin typeface="Times New Roman" panose="02020603050405020304" pitchFamily="18" charset="0"/>
                <a:cs typeface="Times New Roman" panose="02020603050405020304" pitchFamily="18" charset="0"/>
              </a:rPr>
              <a:t> swine virus circulating in North America and the Eurasian swine virus belong to the lineage of the influenza A (H1N1) virus. For the HRV and mammalian mitochondrial genomes, the results coincide with biologists’ analyses. Our </a:t>
            </a:r>
            <a:r>
              <a:rPr lang="en-US" altLang="zh-TW" dirty="0">
                <a:latin typeface="Times New Roman" panose="02020603050405020304" pitchFamily="18" charset="0"/>
                <a:cs typeface="Times New Roman" panose="02020603050405020304" pitchFamily="18" charset="0"/>
              </a:rPr>
              <a:t>approach provides a powerful new tool for analyzing and annotating genomes and their phylogenetic relationships. Whole or partial genomes can </a:t>
            </a:r>
            <a:r>
              <a:rPr lang="en-US" altLang="zh-TW" dirty="0" smtClean="0">
                <a:latin typeface="Times New Roman" panose="02020603050405020304" pitchFamily="18" charset="0"/>
                <a:cs typeface="Times New Roman" panose="02020603050405020304" pitchFamily="18" charset="0"/>
              </a:rPr>
              <a:t>be</a:t>
            </a:r>
            <a:endParaRPr lang="fr-FR" altLang="zh-TW"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8937387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125359" y="439984"/>
            <a:ext cx="7886700" cy="583367"/>
          </a:xfrm>
        </p:spPr>
        <p:txBody>
          <a:bodyPr>
            <a:normAutofit/>
          </a:bodyPr>
          <a:lstStyle/>
          <a:p>
            <a:r>
              <a:rPr lang="en-US" altLang="zh-TW" sz="3200" b="1" dirty="0" smtClean="0">
                <a:latin typeface="Times New Roman" panose="02020603050405020304" pitchFamily="18" charset="0"/>
                <a:cs typeface="Times New Roman" panose="02020603050405020304" pitchFamily="18" charset="0"/>
              </a:rPr>
              <a:t>Abstract(3/3)</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xmlns="" id="{5E26DCC3-1991-4383-BF81-99FF895536EE}"/>
              </a:ext>
            </a:extLst>
          </p:cNvPr>
          <p:cNvSpPr>
            <a:spLocks noGrp="1"/>
          </p:cNvSpPr>
          <p:nvPr>
            <p:ph idx="1"/>
          </p:nvPr>
        </p:nvSpPr>
        <p:spPr>
          <a:xfrm>
            <a:off x="139008" y="1023351"/>
            <a:ext cx="9004992" cy="5131633"/>
          </a:xfrm>
        </p:spPr>
        <p:txBody>
          <a:bodyPr>
            <a:noAutofit/>
          </a:bodyPr>
          <a:lstStyle/>
          <a:p>
            <a:pPr marL="0" indent="0">
              <a:lnSpc>
                <a:spcPts val="3200"/>
              </a:lnSpc>
              <a:buNone/>
            </a:pPr>
            <a:r>
              <a:rPr lang="en-US" altLang="zh-TW" dirty="0">
                <a:latin typeface="Times New Roman" panose="02020603050405020304" pitchFamily="18" charset="0"/>
                <a:cs typeface="Times New Roman" panose="02020603050405020304" pitchFamily="18" charset="0"/>
              </a:rPr>
              <a:t>handled more easily and more quickly than using multiple alignment methods. </a:t>
            </a:r>
            <a:endParaRPr lang="fr-FR" altLang="zh-TW"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2150127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125359" y="439984"/>
            <a:ext cx="7886700" cy="583367"/>
          </a:xfrm>
        </p:spPr>
        <p:txBody>
          <a:bodyPr>
            <a:normAutofit/>
          </a:bodyPr>
          <a:lstStyle/>
          <a:p>
            <a:r>
              <a:rPr lang="en-US" altLang="zh-TW" sz="3200" b="1" dirty="0" smtClean="0">
                <a:latin typeface="Times New Roman" panose="02020603050405020304" pitchFamily="18" charset="0"/>
                <a:cs typeface="Times New Roman" panose="02020603050405020304" pitchFamily="18" charset="0"/>
              </a:rPr>
              <a:t>Natural Vector:</a:t>
            </a:r>
            <a:endParaRPr lang="zh-TW" altLang="en-US" sz="3200" b="1" dirty="0">
              <a:latin typeface="Times New Roman" panose="02020603050405020304" pitchFamily="18" charset="0"/>
              <a:cs typeface="Times New Roman" panose="02020603050405020304" pitchFamily="18" charset="0"/>
            </a:endParaRPr>
          </a:p>
        </p:txBody>
      </p:sp>
      <p:pic>
        <p:nvPicPr>
          <p:cNvPr id="4" name="圖片 3"/>
          <p:cNvPicPr>
            <a:picLocks noChangeAspect="1"/>
          </p:cNvPicPr>
          <p:nvPr/>
        </p:nvPicPr>
        <p:blipFill>
          <a:blip r:embed="rId3"/>
          <a:stretch>
            <a:fillRect/>
          </a:stretch>
        </p:blipFill>
        <p:spPr>
          <a:xfrm>
            <a:off x="672975" y="1550759"/>
            <a:ext cx="6430581" cy="1251138"/>
          </a:xfrm>
          <a:prstGeom prst="rect">
            <a:avLst/>
          </a:prstGeom>
        </p:spPr>
      </p:pic>
      <p:sp>
        <p:nvSpPr>
          <p:cNvPr id="5" name="矩形 4"/>
          <p:cNvSpPr/>
          <p:nvPr/>
        </p:nvSpPr>
        <p:spPr>
          <a:xfrm>
            <a:off x="1553047" y="4949673"/>
            <a:ext cx="2511008" cy="523220"/>
          </a:xfrm>
          <a:prstGeom prst="rect">
            <a:avLst/>
          </a:prstGeom>
        </p:spPr>
        <p:txBody>
          <a:bodyPr wrap="none">
            <a:spAutoFit/>
          </a:bodyPr>
          <a:lstStyle/>
          <a:p>
            <a:r>
              <a:rPr lang="zh-TW" altLang="en-US" sz="2800" dirty="0" smtClean="0">
                <a:latin typeface="Times New Roman" panose="02020603050405020304" pitchFamily="18" charset="0"/>
                <a:cs typeface="Times New Roman" panose="02020603050405020304" pitchFamily="18" charset="0"/>
              </a:rPr>
              <a:t>GTTCAA</a:t>
            </a:r>
            <a:r>
              <a:rPr lang="en-US" altLang="zh-TW" sz="2800" dirty="0" smtClean="0">
                <a:latin typeface="Times New Roman" panose="02020603050405020304" pitchFamily="18" charset="0"/>
                <a:cs typeface="Times New Roman" panose="02020603050405020304" pitchFamily="18" charset="0"/>
              </a:rPr>
              <a:t>TACT</a:t>
            </a:r>
            <a:endParaRPr lang="zh-TW" altLang="en-US" sz="2800" dirty="0">
              <a:latin typeface="Times New Roman" panose="02020603050405020304" pitchFamily="18" charset="0"/>
              <a:cs typeface="Times New Roman" panose="02020603050405020304" pitchFamily="18" charset="0"/>
            </a:endParaRPr>
          </a:p>
        </p:txBody>
      </p:sp>
      <p:pic>
        <p:nvPicPr>
          <p:cNvPr id="7" name="圖片 6"/>
          <p:cNvPicPr>
            <a:picLocks noChangeAspect="1"/>
          </p:cNvPicPr>
          <p:nvPr/>
        </p:nvPicPr>
        <p:blipFill>
          <a:blip r:embed="rId4"/>
          <a:stretch>
            <a:fillRect/>
          </a:stretch>
        </p:blipFill>
        <p:spPr>
          <a:xfrm>
            <a:off x="926882" y="3828788"/>
            <a:ext cx="2307637" cy="935875"/>
          </a:xfrm>
          <a:prstGeom prst="rect">
            <a:avLst/>
          </a:prstGeom>
        </p:spPr>
      </p:pic>
      <p:pic>
        <p:nvPicPr>
          <p:cNvPr id="10" name="圖片 9"/>
          <p:cNvPicPr>
            <a:picLocks noChangeAspect="1"/>
          </p:cNvPicPr>
          <p:nvPr/>
        </p:nvPicPr>
        <p:blipFill>
          <a:blip r:embed="rId5"/>
          <a:stretch>
            <a:fillRect/>
          </a:stretch>
        </p:blipFill>
        <p:spPr>
          <a:xfrm>
            <a:off x="1008768" y="5657904"/>
            <a:ext cx="2798957" cy="405646"/>
          </a:xfrm>
          <a:prstGeom prst="rect">
            <a:avLst/>
          </a:prstGeom>
        </p:spPr>
      </p:pic>
      <p:pic>
        <p:nvPicPr>
          <p:cNvPr id="13" name="圖片 12"/>
          <p:cNvPicPr>
            <a:picLocks noChangeAspect="1"/>
          </p:cNvPicPr>
          <p:nvPr/>
        </p:nvPicPr>
        <p:blipFill>
          <a:blip r:embed="rId6"/>
          <a:stretch>
            <a:fillRect/>
          </a:stretch>
        </p:blipFill>
        <p:spPr>
          <a:xfrm>
            <a:off x="3533737" y="3758587"/>
            <a:ext cx="1320288" cy="1065229"/>
          </a:xfrm>
          <a:prstGeom prst="rect">
            <a:avLst/>
          </a:prstGeom>
        </p:spPr>
      </p:pic>
      <mc:AlternateContent xmlns:mc="http://schemas.openxmlformats.org/markup-compatibility/2006" xmlns:a14="http://schemas.microsoft.com/office/drawing/2010/main">
        <mc:Choice Requires="a14">
          <p:sp>
            <p:nvSpPr>
              <p:cNvPr id="14" name="矩形 13"/>
              <p:cNvSpPr/>
              <p:nvPr/>
            </p:nvSpPr>
            <p:spPr>
              <a:xfrm>
                <a:off x="926882" y="2879903"/>
                <a:ext cx="7854287" cy="830997"/>
              </a:xfrm>
              <a:prstGeom prst="rect">
                <a:avLst/>
              </a:prstGeom>
            </p:spPr>
            <p:txBody>
              <a:bodyPr wrap="square">
                <a:spAutoFit/>
              </a:bodyPr>
              <a:lstStyle/>
              <a:p>
                <a14:m>
                  <m:oMath xmlns:m="http://schemas.openxmlformats.org/officeDocument/2006/math">
                    <m:sSub>
                      <m:sSubPr>
                        <m:ctrlPr>
                          <a:rPr lang="zh-TW" altLang="en-US" sz="2400" i="1" dirty="0" smtClean="0">
                            <a:latin typeface="Cambria Math" panose="02040503050406030204" pitchFamily="18" charset="0"/>
                          </a:rPr>
                        </m:ctrlPr>
                      </m:sSubPr>
                      <m:e>
                        <m:r>
                          <a:rPr lang="zh-TW" altLang="en-US" sz="2400" i="1" dirty="0" smtClean="0">
                            <a:latin typeface="Cambria Math" panose="02040503050406030204" pitchFamily="18" charset="0"/>
                          </a:rPr>
                          <m:t>𝑛</m:t>
                        </m:r>
                      </m:e>
                      <m:sub>
                        <m:r>
                          <a:rPr lang="zh-TW" altLang="en-US" sz="2400" i="1" dirty="0" smtClean="0">
                            <a:latin typeface="Cambria Math" panose="02040503050406030204" pitchFamily="18" charset="0"/>
                          </a:rPr>
                          <m:t>𝑘</m:t>
                        </m:r>
                      </m:sub>
                    </m:sSub>
                  </m:oMath>
                </a14:m>
                <a:r>
                  <a:rPr lang="zh-TW" altLang="en-US" sz="2400" dirty="0" smtClean="0">
                    <a:latin typeface="Times New Roman" panose="02020603050405020304" pitchFamily="18" charset="0"/>
                    <a:cs typeface="Times New Roman" panose="02020603050405020304" pitchFamily="18" charset="0"/>
                  </a:rPr>
                  <a:t> </a:t>
                </a:r>
                <a:r>
                  <a:rPr lang="zh-TW" altLang="en-US" sz="2400" dirty="0">
                    <a:latin typeface="Times New Roman" panose="02020603050405020304" pitchFamily="18" charset="0"/>
                    <a:cs typeface="Times New Roman" panose="02020603050405020304" pitchFamily="18" charset="0"/>
                  </a:rPr>
                  <a:t>denotes the number of nucleotide </a:t>
                </a:r>
                <a:r>
                  <a:rPr lang="zh-TW" altLang="en-US" sz="2400" dirty="0" smtClean="0">
                    <a:latin typeface="Times New Roman" panose="02020603050405020304" pitchFamily="18" charset="0"/>
                    <a:cs typeface="Times New Roman" panose="02020603050405020304" pitchFamily="18" charset="0"/>
                  </a:rPr>
                  <a:t>k in </a:t>
                </a:r>
                <a:r>
                  <a:rPr lang="zh-TW" altLang="en-US" sz="2400" dirty="0">
                    <a:latin typeface="Times New Roman" panose="02020603050405020304" pitchFamily="18" charset="0"/>
                    <a:cs typeface="Times New Roman" panose="02020603050405020304" pitchFamily="18" charset="0"/>
                  </a:rPr>
                  <a:t>the DNA sequence </a:t>
                </a:r>
                <a:endParaRPr lang="en-US" altLang="zh-TW" sz="2400" dirty="0">
                  <a:latin typeface="Times New Roman" panose="02020603050405020304" pitchFamily="18" charset="0"/>
                  <a:cs typeface="Times New Roman" panose="02020603050405020304" pitchFamily="18" charset="0"/>
                </a:endParaRPr>
              </a:p>
              <a:p>
                <a14:m>
                  <m:oMath xmlns:m="http://schemas.openxmlformats.org/officeDocument/2006/math">
                    <m:r>
                      <a:rPr lang="zh-TW" altLang="en-US" sz="2400" i="1" dirty="0" smtClean="0">
                        <a:latin typeface="Cambria Math" panose="02040503050406030204" pitchFamily="18" charset="0"/>
                      </a:rPr>
                      <m:t>𝑛</m:t>
                    </m:r>
                  </m:oMath>
                </a14:m>
                <a:r>
                  <a:rPr lang="zh-TW" altLang="en-US" sz="2400" dirty="0" smtClean="0">
                    <a:latin typeface="Times New Roman" panose="02020603050405020304" pitchFamily="18" charset="0"/>
                    <a:cs typeface="Times New Roman" panose="02020603050405020304" pitchFamily="18" charset="0"/>
                  </a:rPr>
                  <a:t> </a:t>
                </a:r>
                <a:r>
                  <a:rPr lang="zh-TW" altLang="en-US" sz="2400" dirty="0">
                    <a:latin typeface="Times New Roman" panose="02020603050405020304" pitchFamily="18" charset="0"/>
                    <a:cs typeface="Times New Roman" panose="02020603050405020304" pitchFamily="18" charset="0"/>
                  </a:rPr>
                  <a:t>is the length of the DNA sequence.</a:t>
                </a:r>
              </a:p>
            </p:txBody>
          </p:sp>
        </mc:Choice>
        <mc:Fallback xmlns="">
          <p:sp>
            <p:nvSpPr>
              <p:cNvPr id="14" name="矩形 13"/>
              <p:cNvSpPr>
                <a:spLocks noRot="1" noChangeAspect="1" noMove="1" noResize="1" noEditPoints="1" noAdjustHandles="1" noChangeArrowheads="1" noChangeShapeType="1" noTextEdit="1"/>
              </p:cNvSpPr>
              <p:nvPr/>
            </p:nvSpPr>
            <p:spPr>
              <a:xfrm>
                <a:off x="926882" y="2879903"/>
                <a:ext cx="7854287" cy="830997"/>
              </a:xfrm>
              <a:prstGeom prst="rect">
                <a:avLst/>
              </a:prstGeom>
              <a:blipFill>
                <a:blip r:embed="rId7"/>
                <a:stretch>
                  <a:fillRect t="-5839" b="-15328"/>
                </a:stretch>
              </a:blipFill>
            </p:spPr>
            <p:txBody>
              <a:bodyPr/>
              <a:lstStyle/>
              <a:p>
                <a:r>
                  <a:rPr lang="zh-TW" altLang="en-US">
                    <a:noFill/>
                  </a:rPr>
                  <a:t> </a:t>
                </a:r>
              </a:p>
            </p:txBody>
          </p:sp>
        </mc:Fallback>
      </mc:AlternateContent>
      <p:pic>
        <p:nvPicPr>
          <p:cNvPr id="16" name="圖片 15"/>
          <p:cNvPicPr>
            <a:picLocks noChangeAspect="1"/>
          </p:cNvPicPr>
          <p:nvPr/>
        </p:nvPicPr>
        <p:blipFill>
          <a:blip r:embed="rId8"/>
          <a:stretch>
            <a:fillRect/>
          </a:stretch>
        </p:blipFill>
        <p:spPr>
          <a:xfrm>
            <a:off x="4406522" y="5394723"/>
            <a:ext cx="2316950" cy="901036"/>
          </a:xfrm>
          <a:prstGeom prst="rect">
            <a:avLst/>
          </a:prstGeom>
        </p:spPr>
      </p:pic>
      <p:sp>
        <p:nvSpPr>
          <p:cNvPr id="3" name="文字方塊 2"/>
          <p:cNvSpPr txBox="1"/>
          <p:nvPr/>
        </p:nvSpPr>
        <p:spPr>
          <a:xfrm>
            <a:off x="926882" y="4980451"/>
            <a:ext cx="626165" cy="461665"/>
          </a:xfrm>
          <a:prstGeom prst="rect">
            <a:avLst/>
          </a:prstGeom>
          <a:noFill/>
        </p:spPr>
        <p:txBody>
          <a:bodyPr wrap="square" rtlCol="0">
            <a:spAutoFit/>
          </a:bodyPr>
          <a:lstStyle/>
          <a:p>
            <a:r>
              <a:rPr lang="en-US" altLang="zh-TW" sz="2400" dirty="0" smtClean="0">
                <a:latin typeface="Times New Roman" panose="02020603050405020304" pitchFamily="18" charset="0"/>
                <a:cs typeface="Times New Roman" panose="02020603050405020304" pitchFamily="18" charset="0"/>
              </a:rPr>
              <a:t>EX</a:t>
            </a:r>
            <a:r>
              <a:rPr lang="en-US" altLang="zh-TW" dirty="0" smtClean="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3208017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125359" y="439984"/>
            <a:ext cx="7886700" cy="583367"/>
          </a:xfrm>
        </p:spPr>
        <p:txBody>
          <a:bodyPr>
            <a:normAutofit/>
          </a:bodyPr>
          <a:lstStyle/>
          <a:p>
            <a:r>
              <a:rPr lang="en-US" altLang="zh-TW" sz="3200" b="1" dirty="0" smtClean="0">
                <a:latin typeface="Times New Roman" panose="02020603050405020304" pitchFamily="18" charset="0"/>
                <a:cs typeface="Times New Roman" panose="02020603050405020304" pitchFamily="18" charset="0"/>
              </a:rPr>
              <a:t>Natural Vector:</a:t>
            </a:r>
            <a:endParaRPr lang="zh-TW" altLang="en-US" sz="3200" b="1" dirty="0">
              <a:latin typeface="Times New Roman" panose="02020603050405020304" pitchFamily="18" charset="0"/>
              <a:cs typeface="Times New Roman" panose="02020603050405020304" pitchFamily="18" charset="0"/>
            </a:endParaRPr>
          </a:p>
        </p:txBody>
      </p:sp>
      <p:pic>
        <p:nvPicPr>
          <p:cNvPr id="6" name="圖片 5"/>
          <p:cNvPicPr>
            <a:picLocks noChangeAspect="1"/>
          </p:cNvPicPr>
          <p:nvPr/>
        </p:nvPicPr>
        <p:blipFill>
          <a:blip r:embed="rId3"/>
          <a:stretch>
            <a:fillRect/>
          </a:stretch>
        </p:blipFill>
        <p:spPr>
          <a:xfrm>
            <a:off x="125359" y="1184606"/>
            <a:ext cx="7946552" cy="1276882"/>
          </a:xfrm>
          <a:prstGeom prst="rect">
            <a:avLst/>
          </a:prstGeom>
        </p:spPr>
      </p:pic>
      <p:sp>
        <p:nvSpPr>
          <p:cNvPr id="3" name="向下箭號 2"/>
          <p:cNvSpPr/>
          <p:nvPr/>
        </p:nvSpPr>
        <p:spPr>
          <a:xfrm>
            <a:off x="3850345" y="2335226"/>
            <a:ext cx="436728" cy="80521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4" name="圖片 3"/>
          <p:cNvPicPr>
            <a:picLocks noChangeAspect="1"/>
          </p:cNvPicPr>
          <p:nvPr/>
        </p:nvPicPr>
        <p:blipFill>
          <a:blip r:embed="rId4"/>
          <a:stretch>
            <a:fillRect/>
          </a:stretch>
        </p:blipFill>
        <p:spPr>
          <a:xfrm>
            <a:off x="6461818" y="3281550"/>
            <a:ext cx="3100482" cy="687553"/>
          </a:xfrm>
          <a:prstGeom prst="rect">
            <a:avLst/>
          </a:prstGeom>
        </p:spPr>
      </p:pic>
      <p:pic>
        <p:nvPicPr>
          <p:cNvPr id="7" name="圖片 6"/>
          <p:cNvPicPr>
            <a:picLocks noChangeAspect="1"/>
          </p:cNvPicPr>
          <p:nvPr/>
        </p:nvPicPr>
        <p:blipFill>
          <a:blip r:embed="rId5"/>
          <a:stretch>
            <a:fillRect/>
          </a:stretch>
        </p:blipFill>
        <p:spPr>
          <a:xfrm>
            <a:off x="125359" y="3255112"/>
            <a:ext cx="6411919" cy="713991"/>
          </a:xfrm>
          <a:prstGeom prst="rect">
            <a:avLst/>
          </a:prstGeom>
        </p:spPr>
      </p:pic>
      <p:pic>
        <p:nvPicPr>
          <p:cNvPr id="9" name="圖片 8"/>
          <p:cNvPicPr>
            <a:picLocks noChangeAspect="1"/>
          </p:cNvPicPr>
          <p:nvPr/>
        </p:nvPicPr>
        <p:blipFill>
          <a:blip r:embed="rId6"/>
          <a:stretch>
            <a:fillRect/>
          </a:stretch>
        </p:blipFill>
        <p:spPr>
          <a:xfrm>
            <a:off x="125359" y="4762727"/>
            <a:ext cx="6549043" cy="560115"/>
          </a:xfrm>
          <a:prstGeom prst="rect">
            <a:avLst/>
          </a:prstGeom>
        </p:spPr>
      </p:pic>
      <p:pic>
        <p:nvPicPr>
          <p:cNvPr id="10" name="圖片 9"/>
          <p:cNvPicPr>
            <a:picLocks noChangeAspect="1"/>
          </p:cNvPicPr>
          <p:nvPr/>
        </p:nvPicPr>
        <p:blipFill>
          <a:blip r:embed="rId7"/>
          <a:stretch>
            <a:fillRect/>
          </a:stretch>
        </p:blipFill>
        <p:spPr>
          <a:xfrm>
            <a:off x="6674402" y="4762727"/>
            <a:ext cx="2365428" cy="547925"/>
          </a:xfrm>
          <a:prstGeom prst="rect">
            <a:avLst/>
          </a:prstGeom>
        </p:spPr>
      </p:pic>
      <p:sp>
        <p:nvSpPr>
          <p:cNvPr id="11" name="向下箭號 10"/>
          <p:cNvSpPr/>
          <p:nvPr/>
        </p:nvSpPr>
        <p:spPr>
          <a:xfrm>
            <a:off x="3850345" y="3934067"/>
            <a:ext cx="436728" cy="80521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48311913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125359" y="439984"/>
            <a:ext cx="7886700" cy="583367"/>
          </a:xfrm>
        </p:spPr>
        <p:txBody>
          <a:bodyPr>
            <a:normAutofit/>
          </a:bodyPr>
          <a:lstStyle/>
          <a:p>
            <a:r>
              <a:rPr lang="en-US" altLang="zh-TW" sz="3200" b="1" dirty="0" smtClean="0">
                <a:latin typeface="Times New Roman" panose="02020603050405020304" pitchFamily="18" charset="0"/>
                <a:cs typeface="Times New Roman" panose="02020603050405020304" pitchFamily="18" charset="0"/>
              </a:rPr>
              <a:t>Natural Vector:</a:t>
            </a:r>
            <a:endParaRPr lang="zh-TW" altLang="en-US" sz="3200" b="1" dirty="0">
              <a:latin typeface="Times New Roman" panose="02020603050405020304" pitchFamily="18" charset="0"/>
              <a:cs typeface="Times New Roman" panose="02020603050405020304" pitchFamily="18" charset="0"/>
            </a:endParaRPr>
          </a:p>
        </p:txBody>
      </p:sp>
      <p:pic>
        <p:nvPicPr>
          <p:cNvPr id="9" name="圖片 8"/>
          <p:cNvPicPr>
            <a:picLocks noChangeAspect="1"/>
          </p:cNvPicPr>
          <p:nvPr/>
        </p:nvPicPr>
        <p:blipFill>
          <a:blip r:embed="rId3"/>
          <a:stretch>
            <a:fillRect/>
          </a:stretch>
        </p:blipFill>
        <p:spPr>
          <a:xfrm>
            <a:off x="125359" y="1350787"/>
            <a:ext cx="6549043" cy="560115"/>
          </a:xfrm>
          <a:prstGeom prst="rect">
            <a:avLst/>
          </a:prstGeom>
        </p:spPr>
      </p:pic>
      <p:pic>
        <p:nvPicPr>
          <p:cNvPr id="10" name="圖片 9"/>
          <p:cNvPicPr>
            <a:picLocks noChangeAspect="1"/>
          </p:cNvPicPr>
          <p:nvPr/>
        </p:nvPicPr>
        <p:blipFill>
          <a:blip r:embed="rId4"/>
          <a:stretch>
            <a:fillRect/>
          </a:stretch>
        </p:blipFill>
        <p:spPr>
          <a:xfrm>
            <a:off x="6674402" y="1350787"/>
            <a:ext cx="2365428" cy="547925"/>
          </a:xfrm>
          <a:prstGeom prst="rect">
            <a:avLst/>
          </a:prstGeom>
        </p:spPr>
      </p:pic>
      <p:sp>
        <p:nvSpPr>
          <p:cNvPr id="13" name="矩形 12"/>
          <p:cNvSpPr/>
          <p:nvPr/>
        </p:nvSpPr>
        <p:spPr>
          <a:xfrm>
            <a:off x="125359" y="2238338"/>
            <a:ext cx="8523027" cy="523220"/>
          </a:xfrm>
          <a:prstGeom prst="rect">
            <a:avLst/>
          </a:prstGeom>
        </p:spPr>
        <p:txBody>
          <a:bodyPr wrap="square">
            <a:spAutoFit/>
          </a:bodyPr>
          <a:lstStyle/>
          <a:p>
            <a:r>
              <a:rPr lang="zh-TW" altLang="en-US" sz="2800" dirty="0">
                <a:latin typeface="Times New Roman" panose="02020603050405020304" pitchFamily="18" charset="0"/>
                <a:cs typeface="Times New Roman" panose="02020603050405020304" pitchFamily="18" charset="0"/>
              </a:rPr>
              <a:t>if there are 19 A, 15 C, 21 G and 22 T in the </a:t>
            </a:r>
            <a:r>
              <a:rPr lang="zh-TW" altLang="en-US" sz="2800" dirty="0" smtClean="0">
                <a:latin typeface="Times New Roman" panose="02020603050405020304" pitchFamily="18" charset="0"/>
                <a:cs typeface="Times New Roman" panose="02020603050405020304" pitchFamily="18" charset="0"/>
              </a:rPr>
              <a:t>sequence</a:t>
            </a:r>
            <a:r>
              <a:rPr lang="en-US" altLang="zh-TW" sz="2800" dirty="0" smtClean="0">
                <a:latin typeface="Times New Roman" panose="02020603050405020304" pitchFamily="18" charset="0"/>
                <a:cs typeface="Times New Roman" panose="02020603050405020304" pitchFamily="18" charset="0"/>
              </a:rPr>
              <a:t>.</a:t>
            </a:r>
            <a:endParaRPr lang="zh-TW" altLang="en-US" sz="2800" dirty="0">
              <a:latin typeface="Times New Roman" panose="02020603050405020304" pitchFamily="18" charset="0"/>
              <a:cs typeface="Times New Roman" panose="02020603050405020304" pitchFamily="18" charset="0"/>
            </a:endParaRPr>
          </a:p>
        </p:txBody>
      </p:sp>
      <p:pic>
        <p:nvPicPr>
          <p:cNvPr id="5" name="圖片 4"/>
          <p:cNvPicPr>
            <a:picLocks noChangeAspect="1"/>
          </p:cNvPicPr>
          <p:nvPr/>
        </p:nvPicPr>
        <p:blipFill>
          <a:blip r:embed="rId5"/>
          <a:stretch>
            <a:fillRect/>
          </a:stretch>
        </p:blipFill>
        <p:spPr>
          <a:xfrm>
            <a:off x="125359" y="3746117"/>
            <a:ext cx="5900284" cy="1039639"/>
          </a:xfrm>
          <a:prstGeom prst="rect">
            <a:avLst/>
          </a:prstGeom>
        </p:spPr>
      </p:pic>
      <p:pic>
        <p:nvPicPr>
          <p:cNvPr id="8" name="圖片 7"/>
          <p:cNvPicPr>
            <a:picLocks noChangeAspect="1"/>
          </p:cNvPicPr>
          <p:nvPr/>
        </p:nvPicPr>
        <p:blipFill>
          <a:blip r:embed="rId6"/>
          <a:stretch>
            <a:fillRect/>
          </a:stretch>
        </p:blipFill>
        <p:spPr>
          <a:xfrm>
            <a:off x="125359" y="3120263"/>
            <a:ext cx="2877503" cy="396392"/>
          </a:xfrm>
          <a:prstGeom prst="rect">
            <a:avLst/>
          </a:prstGeom>
        </p:spPr>
      </p:pic>
      <p:pic>
        <p:nvPicPr>
          <p:cNvPr id="12" name="圖片 11"/>
          <p:cNvPicPr>
            <a:picLocks noChangeAspect="1"/>
          </p:cNvPicPr>
          <p:nvPr/>
        </p:nvPicPr>
        <p:blipFill>
          <a:blip r:embed="rId7"/>
          <a:stretch>
            <a:fillRect/>
          </a:stretch>
        </p:blipFill>
        <p:spPr>
          <a:xfrm>
            <a:off x="3882944" y="3200656"/>
            <a:ext cx="1173707" cy="315998"/>
          </a:xfrm>
          <a:prstGeom prst="rect">
            <a:avLst/>
          </a:prstGeom>
        </p:spPr>
      </p:pic>
      <p:pic>
        <p:nvPicPr>
          <p:cNvPr id="15" name="圖片 14"/>
          <p:cNvPicPr>
            <a:picLocks noChangeAspect="1"/>
          </p:cNvPicPr>
          <p:nvPr/>
        </p:nvPicPr>
        <p:blipFill>
          <a:blip r:embed="rId8"/>
          <a:stretch>
            <a:fillRect/>
          </a:stretch>
        </p:blipFill>
        <p:spPr>
          <a:xfrm>
            <a:off x="5056651" y="3120263"/>
            <a:ext cx="1330501" cy="419397"/>
          </a:xfrm>
          <a:prstGeom prst="rect">
            <a:avLst/>
          </a:prstGeom>
        </p:spPr>
      </p:pic>
      <p:sp>
        <p:nvSpPr>
          <p:cNvPr id="16" name="向右箭號 15"/>
          <p:cNvSpPr/>
          <p:nvPr/>
        </p:nvSpPr>
        <p:spPr>
          <a:xfrm>
            <a:off x="3106871" y="3207858"/>
            <a:ext cx="807443" cy="22120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3" name="圖片 2"/>
          <p:cNvPicPr>
            <a:picLocks noChangeAspect="1"/>
          </p:cNvPicPr>
          <p:nvPr/>
        </p:nvPicPr>
        <p:blipFill>
          <a:blip r:embed="rId9"/>
          <a:stretch>
            <a:fillRect/>
          </a:stretch>
        </p:blipFill>
        <p:spPr>
          <a:xfrm>
            <a:off x="267547" y="5230546"/>
            <a:ext cx="7080844" cy="1079538"/>
          </a:xfrm>
          <a:prstGeom prst="rect">
            <a:avLst/>
          </a:prstGeom>
        </p:spPr>
      </p:pic>
      <p:pic>
        <p:nvPicPr>
          <p:cNvPr id="4" name="圖片 3"/>
          <p:cNvPicPr>
            <a:picLocks noChangeAspect="1"/>
          </p:cNvPicPr>
          <p:nvPr/>
        </p:nvPicPr>
        <p:blipFill>
          <a:blip r:embed="rId10"/>
          <a:stretch>
            <a:fillRect/>
          </a:stretch>
        </p:blipFill>
        <p:spPr>
          <a:xfrm>
            <a:off x="4386872" y="5207540"/>
            <a:ext cx="513052" cy="101594"/>
          </a:xfrm>
          <a:prstGeom prst="rect">
            <a:avLst/>
          </a:prstGeom>
        </p:spPr>
      </p:pic>
      <p:pic>
        <p:nvPicPr>
          <p:cNvPr id="14" name="圖片 13"/>
          <p:cNvPicPr>
            <a:picLocks noChangeAspect="1"/>
          </p:cNvPicPr>
          <p:nvPr/>
        </p:nvPicPr>
        <p:blipFill>
          <a:blip r:embed="rId10"/>
          <a:stretch>
            <a:fillRect/>
          </a:stretch>
        </p:blipFill>
        <p:spPr>
          <a:xfrm>
            <a:off x="5046645" y="5207540"/>
            <a:ext cx="513052" cy="101594"/>
          </a:xfrm>
          <a:prstGeom prst="rect">
            <a:avLst/>
          </a:prstGeom>
        </p:spPr>
      </p:pic>
    </p:spTree>
    <p:extLst>
      <p:ext uri="{BB962C8B-B14F-4D97-AF65-F5344CB8AC3E}">
        <p14:creationId xmlns:p14="http://schemas.microsoft.com/office/powerpoint/2010/main" val="101065414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Rectangle 3"/>
              <p:cNvSpPr>
                <a:spLocks noChangeArrowheads="1"/>
              </p:cNvSpPr>
              <p:nvPr/>
            </p:nvSpPr>
            <p:spPr bwMode="auto">
              <a:xfrm>
                <a:off x="532900" y="1325699"/>
                <a:ext cx="8147077" cy="3496022"/>
              </a:xfrm>
              <a:prstGeom prst="rect">
                <a:avLst/>
              </a:prstGeom>
              <a:solidFill>
                <a:schemeClr val="bg1"/>
              </a:solidFill>
              <a:ln>
                <a:noFill/>
              </a:ln>
              <a:effec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TW" altLang="zh-TW"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lvl="0" defTabSz="914400">
                  <a:buFontTx/>
                  <a:buAutoNum type="arabicPeriod"/>
                </a:pPr>
                <a:r>
                  <a:rPr kumimoji="0" lang="zh-TW" altLang="zh-TW" sz="2400" b="0" i="0" u="none" strike="noStrike" cap="none" normalizeH="0" baseline="0" dirty="0" smtClean="0">
                    <a:ln>
                      <a:noFill/>
                    </a:ln>
                    <a:solidFill>
                      <a:srgbClr val="000000"/>
                    </a:solidFill>
                    <a:effectLst/>
                    <a:latin typeface="Times New Roman" panose="02020603050405020304" pitchFamily="18" charset="0"/>
                    <a:ea typeface="helvetica" panose="020B0604020202020204" pitchFamily="34" charset="0"/>
                    <a:cs typeface="Times New Roman" panose="02020603050405020304" pitchFamily="18" charset="0"/>
                  </a:rPr>
                  <a:t>At the beginning, each data point is a cluster denoted</a:t>
                </a:r>
                <a:r>
                  <a:rPr kumimoji="0" lang="en-US" altLang="zh-TW" sz="2400" b="0" i="0" u="none" strike="noStrike" cap="none" normalizeH="0" dirty="0" smtClean="0">
                    <a:ln>
                      <a:noFill/>
                    </a:ln>
                    <a:solidFill>
                      <a:srgbClr val="000000"/>
                    </a:solidFill>
                    <a:effectLst/>
                    <a:latin typeface="Times New Roman" panose="02020603050405020304" pitchFamily="18" charset="0"/>
                    <a:ea typeface="helvetica" panose="020B0604020202020204" pitchFamily="34" charset="0"/>
                    <a:cs typeface="Times New Roman" panose="02020603050405020304" pitchFamily="18" charset="0"/>
                  </a:rPr>
                  <a:t> </a:t>
                </a:r>
                <a:r>
                  <a:rPr kumimoji="0" lang="zh-TW" altLang="zh-TW" sz="2400" b="0" i="0" u="none" strike="noStrike" cap="none" normalizeH="0" baseline="0" dirty="0" smtClean="0">
                    <a:ln>
                      <a:noFill/>
                    </a:ln>
                    <a:solidFill>
                      <a:srgbClr val="000000"/>
                    </a:solidFill>
                    <a:effectLst/>
                    <a:latin typeface="Times New Roman" panose="02020603050405020304" pitchFamily="18" charset="0"/>
                    <a:ea typeface="helvetica" panose="020B0604020202020204" pitchFamily="34" charset="0"/>
                    <a:cs typeface="Times New Roman" panose="02020603050405020304" pitchFamily="18" charset="0"/>
                  </a:rPr>
                  <a:t>by </a:t>
                </a:r>
                <a14:m>
                  <m:oMath xmlns:m="http://schemas.openxmlformats.org/officeDocument/2006/math">
                    <m:sSub>
                      <m:sSubPr>
                        <m:ctrlPr>
                          <a:rPr kumimoji="0" lang="zh-TW" altLang="zh-TW" sz="3200" b="0" i="1" u="none" strike="noStrike" cap="none" normalizeH="0" baseline="0" dirty="0" smtClean="0">
                            <a:ln>
                              <a:noFill/>
                            </a:ln>
                            <a:solidFill>
                              <a:srgbClr val="000000"/>
                            </a:solidFill>
                            <a:effectLst/>
                            <a:latin typeface="Cambria Math" panose="02040503050406030204" pitchFamily="18" charset="0"/>
                          </a:rPr>
                        </m:ctrlPr>
                      </m:sSubPr>
                      <m:e>
                        <m:r>
                          <a:rPr kumimoji="0" lang="zh-TW" altLang="zh-TW" sz="3200" b="0" i="0" u="none" strike="noStrike" cap="none" normalizeH="0" baseline="0" dirty="0" smtClean="0">
                            <a:ln>
                              <a:noFill/>
                            </a:ln>
                            <a:solidFill>
                              <a:srgbClr val="000000"/>
                            </a:solidFill>
                            <a:effectLst/>
                            <a:latin typeface="Cambria Math" panose="02040503050406030204" pitchFamily="18" charset="0"/>
                          </a:rPr>
                          <m:t>𝑐</m:t>
                        </m:r>
                      </m:e>
                      <m:sub>
                        <m:r>
                          <a:rPr kumimoji="0" lang="zh-TW" altLang="zh-TW" sz="3200" b="0" i="0" u="none" strike="noStrike" cap="none" normalizeH="0" baseline="0" dirty="0" smtClean="0">
                            <a:ln>
                              <a:noFill/>
                            </a:ln>
                            <a:solidFill>
                              <a:srgbClr val="000000"/>
                            </a:solidFill>
                            <a:effectLst/>
                            <a:latin typeface="Cambria Math" panose="02040503050406030204" pitchFamily="18" charset="0"/>
                          </a:rPr>
                          <m:t>𝑖</m:t>
                        </m:r>
                      </m:sub>
                    </m:sSub>
                  </m:oMath>
                </a14:m>
                <a:r>
                  <a:rPr kumimoji="0" lang="zh-TW" altLang="zh-TW" sz="2400" b="0" i="0" u="none" strike="noStrike" cap="none" normalizeH="0" baseline="0" dirty="0" smtClean="0">
                    <a:ln>
                      <a:noFill/>
                    </a:ln>
                    <a:solidFill>
                      <a:srgbClr val="000000"/>
                    </a:solidFill>
                    <a:effectLst/>
                    <a:latin typeface="Times New Roman" panose="02020603050405020304" pitchFamily="18" charset="0"/>
                    <a:ea typeface="MathJax_Main"/>
                    <a:cs typeface="Times New Roman" panose="02020603050405020304" pitchFamily="18" charset="0"/>
                  </a:rPr>
                  <a:t>,</a:t>
                </a:r>
                <a14:m>
                  <m:oMath xmlns:m="http://schemas.openxmlformats.org/officeDocument/2006/math">
                    <m:r>
                      <a:rPr lang="zh-TW" altLang="zh-TW" sz="2400" dirty="0">
                        <a:solidFill>
                          <a:srgbClr val="000000"/>
                        </a:solidFill>
                        <a:latin typeface="Cambria Math" panose="02040503050406030204" pitchFamily="18" charset="0"/>
                      </a:rPr>
                      <m:t>𝑖</m:t>
                    </m:r>
                  </m:oMath>
                </a14:m>
                <a:r>
                  <a:rPr kumimoji="0" lang="zh-TW" altLang="zh-TW" sz="2400" b="0" i="0" u="none" strike="noStrike" cap="none" normalizeH="0" baseline="0" dirty="0" smtClean="0">
                    <a:ln>
                      <a:noFill/>
                    </a:ln>
                    <a:solidFill>
                      <a:srgbClr val="000000"/>
                    </a:solidFill>
                    <a:effectLst/>
                    <a:latin typeface="Times New Roman" panose="02020603050405020304" pitchFamily="18" charset="0"/>
                    <a:ea typeface="MathJax_Main"/>
                    <a:cs typeface="Times New Roman" panose="02020603050405020304" pitchFamily="18" charset="0"/>
                  </a:rPr>
                  <a:t>=1,2,…,</a:t>
                </a:r>
                <a:r>
                  <a:rPr kumimoji="0" lang="zh-TW" altLang="zh-TW" sz="2400" b="0" i="0" u="none" strike="noStrike" cap="none" normalizeH="0" baseline="0" dirty="0" smtClean="0">
                    <a:ln>
                      <a:noFill/>
                    </a:ln>
                    <a:solidFill>
                      <a:srgbClr val="000000"/>
                    </a:solidFill>
                    <a:effectLst/>
                    <a:latin typeface="Times New Roman" panose="02020603050405020304" pitchFamily="18" charset="0"/>
                    <a:ea typeface="MathJax_Math-italic"/>
                    <a:cs typeface="Times New Roman" panose="02020603050405020304" pitchFamily="18" charset="0"/>
                  </a:rPr>
                  <a:t>n</a:t>
                </a:r>
                <a:r>
                  <a:rPr kumimoji="0" lang="en-US" altLang="zh-TW" sz="2400" b="0" i="0" u="none" strike="noStrike" cap="none" normalizeH="0" baseline="0" dirty="0" smtClean="0">
                    <a:ln>
                      <a:noFill/>
                    </a:ln>
                    <a:solidFill>
                      <a:srgbClr val="000000"/>
                    </a:solidFill>
                    <a:effectLst/>
                    <a:latin typeface="Times New Roman" panose="02020603050405020304" pitchFamily="18" charset="0"/>
                    <a:ea typeface="MathJax_Math-italic"/>
                    <a:cs typeface="Times New Roman" panose="02020603050405020304" pitchFamily="18" charset="0"/>
                  </a:rPr>
                  <a:t>.</a:t>
                </a:r>
                <a:endParaRPr lang="en-US" altLang="zh-TW" sz="2400" dirty="0">
                  <a:solidFill>
                    <a:srgbClr val="000000"/>
                  </a:solidFill>
                  <a:latin typeface="Times New Roman" panose="02020603050405020304" pitchFamily="18" charset="0"/>
                  <a:ea typeface="MathJax_Math-italic"/>
                  <a:cs typeface="Times New Roman" panose="02020603050405020304" pitchFamily="18" charset="0"/>
                </a:endParaRPr>
              </a:p>
              <a:p>
                <a:pPr lvl="0" defTabSz="914400">
                  <a:buFontTx/>
                  <a:buAutoNum type="arabicPeriod"/>
                </a:pPr>
                <a:r>
                  <a:rPr kumimoji="0" lang="zh-TW" altLang="zh-TW" sz="2400" b="0" i="0" u="none" strike="noStrike" cap="none" normalizeH="0" baseline="0" dirty="0" smtClean="0">
                    <a:ln>
                      <a:noFill/>
                    </a:ln>
                    <a:solidFill>
                      <a:srgbClr val="000000"/>
                    </a:solidFill>
                    <a:effectLst/>
                    <a:latin typeface="Times New Roman" panose="02020603050405020304" pitchFamily="18" charset="0"/>
                    <a:ea typeface="helvetica" panose="020B0604020202020204" pitchFamily="34" charset="0"/>
                    <a:cs typeface="Times New Roman" panose="02020603050405020304" pitchFamily="18" charset="0"/>
                  </a:rPr>
                  <a:t>Find the nearest two clusters </a:t>
                </a:r>
                <a:r>
                  <a:rPr lang="zh-TW" altLang="zh-TW" sz="2400" dirty="0">
                    <a:solidFill>
                      <a:srgbClr val="000000"/>
                    </a:solidFill>
                  </a:rPr>
                  <a:t> </a:t>
                </a:r>
                <a14:m>
                  <m:oMath xmlns:m="http://schemas.openxmlformats.org/officeDocument/2006/math">
                    <m:sSub>
                      <m:sSubPr>
                        <m:ctrlPr>
                          <a:rPr lang="zh-TW" altLang="zh-TW" sz="3200" i="1" dirty="0">
                            <a:solidFill>
                              <a:srgbClr val="000000"/>
                            </a:solidFill>
                            <a:latin typeface="Cambria Math" panose="02040503050406030204" pitchFamily="18" charset="0"/>
                          </a:rPr>
                        </m:ctrlPr>
                      </m:sSubPr>
                      <m:e>
                        <m:r>
                          <a:rPr lang="zh-TW" altLang="zh-TW" sz="3200" dirty="0">
                            <a:solidFill>
                              <a:srgbClr val="000000"/>
                            </a:solidFill>
                            <a:latin typeface="Cambria Math" panose="02040503050406030204" pitchFamily="18" charset="0"/>
                          </a:rPr>
                          <m:t>𝑐</m:t>
                        </m:r>
                      </m:e>
                      <m:sub>
                        <m:r>
                          <a:rPr lang="zh-TW" altLang="zh-TW" sz="3200" dirty="0" smtClean="0">
                            <a:solidFill>
                              <a:srgbClr val="000000"/>
                            </a:solidFill>
                            <a:latin typeface="Cambria Math" panose="02040503050406030204" pitchFamily="18" charset="0"/>
                          </a:rPr>
                          <m:t>𝑖</m:t>
                        </m:r>
                      </m:sub>
                    </m:sSub>
                    <m:r>
                      <a:rPr lang="zh-TW" altLang="zh-TW" sz="3200" i="1" dirty="0">
                        <a:solidFill>
                          <a:srgbClr val="000000"/>
                        </a:solidFill>
                        <a:latin typeface="Cambria Math" panose="02040503050406030204" pitchFamily="18" charset="0"/>
                      </a:rPr>
                      <m:t> </m:t>
                    </m:r>
                  </m:oMath>
                </a14:m>
                <a:r>
                  <a:rPr kumimoji="0" lang="zh-TW" altLang="zh-TW" sz="2400" b="0" i="0" u="none" strike="noStrike" cap="none" normalizeH="0" baseline="0" dirty="0" smtClean="0">
                    <a:ln>
                      <a:noFill/>
                    </a:ln>
                    <a:solidFill>
                      <a:srgbClr val="000000"/>
                    </a:solidFill>
                    <a:effectLst/>
                    <a:latin typeface="Times New Roman" panose="02020603050405020304" pitchFamily="18" charset="0"/>
                    <a:ea typeface="helvetica" panose="020B0604020202020204" pitchFamily="34" charset="0"/>
                    <a:cs typeface="Times New Roman" panose="02020603050405020304" pitchFamily="18" charset="0"/>
                  </a:rPr>
                  <a:t> and </a:t>
                </a:r>
                <a:r>
                  <a:rPr lang="zh-TW" altLang="zh-TW" sz="2400" dirty="0">
                    <a:solidFill>
                      <a:srgbClr val="000000"/>
                    </a:solidFill>
                  </a:rPr>
                  <a:t> </a:t>
                </a:r>
                <a14:m>
                  <m:oMath xmlns:m="http://schemas.openxmlformats.org/officeDocument/2006/math">
                    <m:sSub>
                      <m:sSubPr>
                        <m:ctrlPr>
                          <a:rPr lang="zh-TW" altLang="zh-TW" sz="3200" i="1" dirty="0">
                            <a:solidFill>
                              <a:srgbClr val="000000"/>
                            </a:solidFill>
                            <a:latin typeface="Cambria Math" panose="02040503050406030204" pitchFamily="18" charset="0"/>
                          </a:rPr>
                        </m:ctrlPr>
                      </m:sSubPr>
                      <m:e>
                        <m:r>
                          <a:rPr lang="zh-TW" altLang="zh-TW" sz="3200" dirty="0">
                            <a:solidFill>
                              <a:srgbClr val="000000"/>
                            </a:solidFill>
                            <a:latin typeface="Cambria Math" panose="02040503050406030204" pitchFamily="18" charset="0"/>
                          </a:rPr>
                          <m:t>𝑐</m:t>
                        </m:r>
                      </m:e>
                      <m:sub>
                        <m:r>
                          <m:rPr>
                            <m:sty m:val="p"/>
                          </m:rPr>
                          <a:rPr lang="en-US" altLang="zh-TW" sz="3200" b="0" i="0" dirty="0" smtClean="0">
                            <a:solidFill>
                              <a:srgbClr val="000000"/>
                            </a:solidFill>
                            <a:latin typeface="Cambria Math" panose="02040503050406030204" pitchFamily="18" charset="0"/>
                          </a:rPr>
                          <m:t>j</m:t>
                        </m:r>
                      </m:sub>
                    </m:sSub>
                    <m:r>
                      <a:rPr lang="zh-TW" altLang="zh-TW" sz="3200" i="1" dirty="0">
                        <a:solidFill>
                          <a:srgbClr val="000000"/>
                        </a:solidFill>
                        <a:latin typeface="Cambria Math" panose="02040503050406030204" pitchFamily="18" charset="0"/>
                      </a:rPr>
                      <m:t> </m:t>
                    </m:r>
                  </m:oMath>
                </a14:m>
                <a:r>
                  <a:rPr kumimoji="0" lang="zh-TW" altLang="zh-TW" sz="2400" b="0" i="0" u="none" strike="noStrike" cap="none" normalizeH="0" baseline="0" dirty="0" smtClean="0">
                    <a:ln>
                      <a:noFill/>
                    </a:ln>
                    <a:solidFill>
                      <a:srgbClr val="000000"/>
                    </a:solidFill>
                    <a:effectLst/>
                    <a:latin typeface="Times New Roman" panose="02020603050405020304" pitchFamily="18" charset="0"/>
                    <a:ea typeface="helvetica" panose="020B0604020202020204" pitchFamily="34" charset="0"/>
                    <a:cs typeface="Times New Roman" panose="02020603050405020304" pitchFamily="18" charset="0"/>
                  </a:rPr>
                  <a:t> within all clusters.</a:t>
                </a:r>
              </a:p>
              <a:p>
                <a:pPr lvl="0" defTabSz="914400">
                  <a:buFontTx/>
                  <a:buAutoNum type="arabicPeriod" startAt="3"/>
                </a:pPr>
                <a:r>
                  <a:rPr kumimoji="0" lang="zh-TW" altLang="zh-TW" sz="2400" b="0" i="0" u="none" strike="noStrike" cap="none" normalizeH="0" baseline="0" dirty="0" smtClean="0">
                    <a:ln>
                      <a:noFill/>
                    </a:ln>
                    <a:solidFill>
                      <a:srgbClr val="000000"/>
                    </a:solidFill>
                    <a:effectLst/>
                    <a:latin typeface="Times New Roman" panose="02020603050405020304" pitchFamily="18" charset="0"/>
                    <a:ea typeface="helvetica" panose="020B0604020202020204" pitchFamily="34" charset="0"/>
                    <a:cs typeface="Times New Roman" panose="02020603050405020304" pitchFamily="18" charset="0"/>
                  </a:rPr>
                  <a:t>Combine </a:t>
                </a:r>
                <a:r>
                  <a:rPr lang="zh-TW" altLang="zh-TW" sz="2400" dirty="0">
                    <a:solidFill>
                      <a:srgbClr val="000000"/>
                    </a:solidFill>
                  </a:rPr>
                  <a:t> </a:t>
                </a:r>
                <a14:m>
                  <m:oMath xmlns:m="http://schemas.openxmlformats.org/officeDocument/2006/math">
                    <m:sSub>
                      <m:sSubPr>
                        <m:ctrlPr>
                          <a:rPr lang="zh-TW" altLang="zh-TW" sz="3200" i="1" dirty="0">
                            <a:solidFill>
                              <a:srgbClr val="000000"/>
                            </a:solidFill>
                            <a:latin typeface="Cambria Math" panose="02040503050406030204" pitchFamily="18" charset="0"/>
                          </a:rPr>
                        </m:ctrlPr>
                      </m:sSubPr>
                      <m:e>
                        <m:r>
                          <a:rPr lang="zh-TW" altLang="zh-TW" sz="3200" dirty="0">
                            <a:solidFill>
                              <a:srgbClr val="000000"/>
                            </a:solidFill>
                            <a:latin typeface="Cambria Math" panose="02040503050406030204" pitchFamily="18" charset="0"/>
                          </a:rPr>
                          <m:t>𝑐</m:t>
                        </m:r>
                      </m:e>
                      <m:sub>
                        <m:r>
                          <a:rPr lang="zh-TW" altLang="zh-TW" sz="3200" dirty="0">
                            <a:solidFill>
                              <a:srgbClr val="000000"/>
                            </a:solidFill>
                            <a:latin typeface="Cambria Math" panose="02040503050406030204" pitchFamily="18" charset="0"/>
                          </a:rPr>
                          <m:t>𝑖</m:t>
                        </m:r>
                      </m:sub>
                    </m:sSub>
                    <m:r>
                      <a:rPr lang="zh-TW" altLang="zh-TW" sz="3200" i="1" dirty="0">
                        <a:solidFill>
                          <a:srgbClr val="000000"/>
                        </a:solidFill>
                        <a:latin typeface="Cambria Math" panose="02040503050406030204" pitchFamily="18" charset="0"/>
                      </a:rPr>
                      <m:t> </m:t>
                    </m:r>
                  </m:oMath>
                </a14:m>
                <a:r>
                  <a:rPr kumimoji="0" lang="zh-TW" altLang="zh-TW" sz="2400" b="0" i="0" u="none" strike="noStrike" cap="none" normalizeH="0" baseline="0" dirty="0" smtClean="0">
                    <a:ln>
                      <a:noFill/>
                    </a:ln>
                    <a:solidFill>
                      <a:srgbClr val="000000"/>
                    </a:solidFill>
                    <a:effectLst/>
                    <a:latin typeface="Times New Roman" panose="02020603050405020304" pitchFamily="18" charset="0"/>
                    <a:ea typeface="helvetica" panose="020B0604020202020204" pitchFamily="34" charset="0"/>
                    <a:cs typeface="Times New Roman" panose="02020603050405020304" pitchFamily="18" charset="0"/>
                  </a:rPr>
                  <a:t> and </a:t>
                </a:r>
                <a:r>
                  <a:rPr lang="zh-TW" altLang="zh-TW" sz="2400" dirty="0">
                    <a:solidFill>
                      <a:srgbClr val="000000"/>
                    </a:solidFill>
                  </a:rPr>
                  <a:t> </a:t>
                </a:r>
                <a14:m>
                  <m:oMath xmlns:m="http://schemas.openxmlformats.org/officeDocument/2006/math">
                    <m:sSub>
                      <m:sSubPr>
                        <m:ctrlPr>
                          <a:rPr lang="zh-TW" altLang="zh-TW" sz="3200" i="1" dirty="0">
                            <a:solidFill>
                              <a:srgbClr val="000000"/>
                            </a:solidFill>
                            <a:latin typeface="Cambria Math" panose="02040503050406030204" pitchFamily="18" charset="0"/>
                          </a:rPr>
                        </m:ctrlPr>
                      </m:sSubPr>
                      <m:e>
                        <m:r>
                          <a:rPr lang="zh-TW" altLang="zh-TW" sz="3200" dirty="0">
                            <a:solidFill>
                              <a:srgbClr val="000000"/>
                            </a:solidFill>
                            <a:latin typeface="Cambria Math" panose="02040503050406030204" pitchFamily="18" charset="0"/>
                          </a:rPr>
                          <m:t>𝑐</m:t>
                        </m:r>
                      </m:e>
                      <m:sub>
                        <m:r>
                          <m:rPr>
                            <m:sty m:val="p"/>
                          </m:rPr>
                          <a:rPr lang="en-US" altLang="zh-TW" sz="3200" b="0" i="0" dirty="0" smtClean="0">
                            <a:solidFill>
                              <a:srgbClr val="000000"/>
                            </a:solidFill>
                            <a:latin typeface="Cambria Math" panose="02040503050406030204" pitchFamily="18" charset="0"/>
                          </a:rPr>
                          <m:t>j</m:t>
                        </m:r>
                      </m:sub>
                    </m:sSub>
                    <m:r>
                      <a:rPr lang="zh-TW" altLang="zh-TW" sz="3200" i="1" dirty="0">
                        <a:solidFill>
                          <a:srgbClr val="000000"/>
                        </a:solidFill>
                        <a:latin typeface="Cambria Math" panose="02040503050406030204" pitchFamily="18" charset="0"/>
                      </a:rPr>
                      <m:t> </m:t>
                    </m:r>
                  </m:oMath>
                </a14:m>
                <a:r>
                  <a:rPr kumimoji="0" lang="zh-TW" altLang="zh-TW" sz="2400" b="0" i="0" u="none" strike="noStrike" cap="none" normalizeH="0" baseline="0" dirty="0" smtClean="0">
                    <a:ln>
                      <a:noFill/>
                    </a:ln>
                    <a:solidFill>
                      <a:srgbClr val="000000"/>
                    </a:solidFill>
                    <a:effectLst/>
                    <a:latin typeface="Times New Roman" panose="02020603050405020304" pitchFamily="18" charset="0"/>
                    <a:ea typeface="helvetica" panose="020B0604020202020204" pitchFamily="34" charset="0"/>
                    <a:cs typeface="Times New Roman" panose="02020603050405020304" pitchFamily="18" charset="0"/>
                  </a:rPr>
                  <a:t> into a new cluster.</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zh-TW" altLang="zh-TW" sz="2400" b="0" i="0" u="none" strike="noStrike" cap="none" normalizeH="0" baseline="0" dirty="0" smtClean="0">
                    <a:ln>
                      <a:noFill/>
                    </a:ln>
                    <a:solidFill>
                      <a:srgbClr val="000000"/>
                    </a:solidFill>
                    <a:effectLst/>
                    <a:latin typeface="Times New Roman" panose="02020603050405020304" pitchFamily="18" charset="0"/>
                    <a:ea typeface="helvetica" panose="020B0604020202020204" pitchFamily="34" charset="0"/>
                    <a:cs typeface="Times New Roman" panose="02020603050405020304" pitchFamily="18" charset="0"/>
                  </a:rPr>
                  <a:t>If the number of clusters is equal to the desired one, stop. Otherwise go back to step 2 to create more clusters.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zh-TW" altLang="zh-TW"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mc:Choice>
        <mc:Fallback xmlns="">
          <p:sp>
            <p:nvSpPr>
              <p:cNvPr id="5" name="Rectangle 3"/>
              <p:cNvSpPr>
                <a:spLocks noRot="1" noChangeAspect="1" noMove="1" noResize="1" noEditPoints="1" noAdjustHandles="1" noChangeArrowheads="1" noChangeShapeType="1" noTextEdit="1"/>
              </p:cNvSpPr>
              <p:nvPr/>
            </p:nvSpPr>
            <p:spPr bwMode="auto">
              <a:xfrm>
                <a:off x="532900" y="1325699"/>
                <a:ext cx="8147077" cy="3496022"/>
              </a:xfrm>
              <a:prstGeom prst="rect">
                <a:avLst/>
              </a:prstGeom>
              <a:blipFill>
                <a:blip r:embed="rId3"/>
                <a:stretch>
                  <a:fillRect l="-1122"/>
                </a:stretch>
              </a:blipFill>
              <a:ln>
                <a:noFill/>
              </a:ln>
              <a:effectLst/>
            </p:spPr>
            <p:txBody>
              <a:bodyPr/>
              <a:lstStyle/>
              <a:p>
                <a:r>
                  <a:rPr lang="zh-TW" altLang="en-US">
                    <a:noFill/>
                  </a:rPr>
                  <a:t> </a:t>
                </a:r>
              </a:p>
            </p:txBody>
          </p:sp>
        </mc:Fallback>
      </mc:AlternateContent>
      <p:sp>
        <p:nvSpPr>
          <p:cNvPr id="6" name="標題 1">
            <a:extLst>
              <a:ext uri="{FF2B5EF4-FFF2-40B4-BE49-F238E27FC236}">
                <a16:creationId xmlns:a16="http://schemas.microsoft.com/office/drawing/2014/main" xmlns="" id="{94B01AB9-0651-4F6D-A93A-D571F0BAE9A7}"/>
              </a:ext>
            </a:extLst>
          </p:cNvPr>
          <p:cNvSpPr>
            <a:spLocks noGrp="1"/>
          </p:cNvSpPr>
          <p:nvPr>
            <p:ph type="title"/>
          </p:nvPr>
        </p:nvSpPr>
        <p:spPr>
          <a:xfrm>
            <a:off x="125359" y="439984"/>
            <a:ext cx="7886700" cy="583367"/>
          </a:xfrm>
        </p:spPr>
        <p:txBody>
          <a:bodyPr>
            <a:normAutofit/>
          </a:bodyPr>
          <a:lstStyle/>
          <a:p>
            <a:r>
              <a:rPr lang="en-US" altLang="zh-TW" sz="3200" b="1" dirty="0">
                <a:solidFill>
                  <a:srgbClr val="000000"/>
                </a:solidFill>
                <a:latin typeface="Times New Roman" panose="02020603050405020304" pitchFamily="18" charset="0"/>
                <a:cs typeface="Times New Roman" panose="02020603050405020304" pitchFamily="18" charset="0"/>
              </a:rPr>
              <a:t>Agglomerative Hierarchical </a:t>
            </a:r>
            <a:r>
              <a:rPr lang="en-US" altLang="zh-TW" sz="3200" b="1" dirty="0" smtClean="0">
                <a:solidFill>
                  <a:srgbClr val="000000"/>
                </a:solidFill>
                <a:latin typeface="Times New Roman" panose="02020603050405020304" pitchFamily="18" charset="0"/>
                <a:cs typeface="Times New Roman" panose="02020603050405020304" pitchFamily="18" charset="0"/>
              </a:rPr>
              <a:t>Clustering:</a:t>
            </a:r>
            <a:endParaRPr lang="zh-TW" altLang="en-US"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4502415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3"/>
          <a:stretch>
            <a:fillRect/>
          </a:stretch>
        </p:blipFill>
        <p:spPr>
          <a:xfrm>
            <a:off x="-288269" y="1023351"/>
            <a:ext cx="9718873" cy="4989068"/>
          </a:xfrm>
          <a:prstGeom prst="rect">
            <a:avLst/>
          </a:prstGeom>
        </p:spPr>
      </p:pic>
      <p:sp>
        <p:nvSpPr>
          <p:cNvPr id="3" name="標題 1">
            <a:extLst>
              <a:ext uri="{FF2B5EF4-FFF2-40B4-BE49-F238E27FC236}">
                <a16:creationId xmlns:a16="http://schemas.microsoft.com/office/drawing/2014/main" xmlns="" id="{94B01AB9-0651-4F6D-A93A-D571F0BAE9A7}"/>
              </a:ext>
            </a:extLst>
          </p:cNvPr>
          <p:cNvSpPr>
            <a:spLocks noGrp="1"/>
          </p:cNvSpPr>
          <p:nvPr>
            <p:ph type="title"/>
          </p:nvPr>
        </p:nvSpPr>
        <p:spPr>
          <a:xfrm>
            <a:off x="125359" y="439984"/>
            <a:ext cx="7886700" cy="583367"/>
          </a:xfrm>
        </p:spPr>
        <p:txBody>
          <a:bodyPr>
            <a:normAutofit/>
          </a:bodyPr>
          <a:lstStyle/>
          <a:p>
            <a:r>
              <a:rPr lang="en-US" altLang="zh-TW" sz="3200" b="1" dirty="0" smtClean="0">
                <a:solidFill>
                  <a:srgbClr val="000000"/>
                </a:solidFill>
                <a:latin typeface="Times New Roman" panose="02020603050405020304" pitchFamily="18" charset="0"/>
                <a:cs typeface="Times New Roman" panose="02020603050405020304" pitchFamily="18" charset="0"/>
              </a:rPr>
              <a:t>Results:</a:t>
            </a:r>
            <a:endParaRPr lang="zh-TW" altLang="en-US"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4545854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3"/>
          <a:stretch>
            <a:fillRect/>
          </a:stretch>
        </p:blipFill>
        <p:spPr>
          <a:xfrm rot="5400000">
            <a:off x="2428732" y="106171"/>
            <a:ext cx="4609470" cy="5941094"/>
          </a:xfrm>
          <a:prstGeom prst="rect">
            <a:avLst/>
          </a:prstGeom>
        </p:spPr>
      </p:pic>
      <p:sp>
        <p:nvSpPr>
          <p:cNvPr id="5" name="橢圓 4"/>
          <p:cNvSpPr/>
          <p:nvPr/>
        </p:nvSpPr>
        <p:spPr>
          <a:xfrm>
            <a:off x="2260602" y="3623733"/>
            <a:ext cx="203200" cy="22859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橢圓 12"/>
          <p:cNvSpPr/>
          <p:nvPr/>
        </p:nvSpPr>
        <p:spPr>
          <a:xfrm>
            <a:off x="3188255" y="3818464"/>
            <a:ext cx="203200" cy="228599"/>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橢圓 13"/>
          <p:cNvSpPr/>
          <p:nvPr/>
        </p:nvSpPr>
        <p:spPr>
          <a:xfrm>
            <a:off x="2521229" y="3999204"/>
            <a:ext cx="203200" cy="228599"/>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71140665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2"/>
          <a:stretch>
            <a:fillRect/>
          </a:stretch>
        </p:blipFill>
        <p:spPr>
          <a:xfrm>
            <a:off x="846816" y="0"/>
            <a:ext cx="7369136" cy="6777156"/>
          </a:xfrm>
          <a:prstGeom prst="rect">
            <a:avLst/>
          </a:prstGeom>
        </p:spPr>
      </p:pic>
      <p:cxnSp>
        <p:nvCxnSpPr>
          <p:cNvPr id="3" name="直線接點 2"/>
          <p:cNvCxnSpPr/>
          <p:nvPr/>
        </p:nvCxnSpPr>
        <p:spPr>
          <a:xfrm flipH="1">
            <a:off x="2107096" y="5317435"/>
            <a:ext cx="864704" cy="82494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直線接點 7"/>
          <p:cNvCxnSpPr/>
          <p:nvPr/>
        </p:nvCxnSpPr>
        <p:spPr>
          <a:xfrm flipH="1" flipV="1">
            <a:off x="1341783" y="1679713"/>
            <a:ext cx="1197665" cy="655983"/>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直線接點 10"/>
          <p:cNvCxnSpPr/>
          <p:nvPr/>
        </p:nvCxnSpPr>
        <p:spPr>
          <a:xfrm flipH="1" flipV="1">
            <a:off x="2266123" y="894522"/>
            <a:ext cx="844825" cy="89452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直線接點 14"/>
          <p:cNvCxnSpPr/>
          <p:nvPr/>
        </p:nvCxnSpPr>
        <p:spPr>
          <a:xfrm flipH="1" flipV="1">
            <a:off x="2782957" y="655983"/>
            <a:ext cx="586408" cy="90446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835749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3"/>
          <a:stretch>
            <a:fillRect/>
          </a:stretch>
        </p:blipFill>
        <p:spPr>
          <a:xfrm rot="5400000">
            <a:off x="-487901" y="1849923"/>
            <a:ext cx="7084769" cy="3337092"/>
          </a:xfrm>
          <a:prstGeom prst="rect">
            <a:avLst/>
          </a:prstGeom>
        </p:spPr>
      </p:pic>
      <p:sp>
        <p:nvSpPr>
          <p:cNvPr id="2" name="矩形 1"/>
          <p:cNvSpPr/>
          <p:nvPr/>
        </p:nvSpPr>
        <p:spPr>
          <a:xfrm>
            <a:off x="5939107" y="959538"/>
            <a:ext cx="1210588" cy="400110"/>
          </a:xfrm>
          <a:prstGeom prst="rect">
            <a:avLst/>
          </a:prstGeom>
        </p:spPr>
        <p:txBody>
          <a:bodyPr wrap="none">
            <a:spAutoFit/>
          </a:bodyPr>
          <a:lstStyle/>
          <a:p>
            <a:r>
              <a:rPr lang="en-US" altLang="zh-TW" sz="2000" dirty="0" smtClean="0">
                <a:solidFill>
                  <a:srgbClr val="222222"/>
                </a:solidFill>
                <a:latin typeface="標楷體" panose="03000509000000000000" pitchFamily="65" charset="-120"/>
                <a:ea typeface="標楷體" panose="03000509000000000000" pitchFamily="65" charset="-120"/>
              </a:rPr>
              <a:t>1.</a:t>
            </a:r>
            <a:r>
              <a:rPr lang="zh-TW" altLang="en-US" sz="2000" dirty="0" smtClean="0">
                <a:solidFill>
                  <a:srgbClr val="222222"/>
                </a:solidFill>
                <a:latin typeface="標楷體" panose="03000509000000000000" pitchFamily="65" charset="-120"/>
                <a:ea typeface="標楷體" panose="03000509000000000000" pitchFamily="65" charset="-120"/>
              </a:rPr>
              <a:t>猬</a:t>
            </a:r>
            <a:r>
              <a:rPr lang="zh-TW" altLang="en-US" sz="2000" dirty="0">
                <a:solidFill>
                  <a:srgbClr val="222222"/>
                </a:solidFill>
                <a:latin typeface="標楷體" panose="03000509000000000000" pitchFamily="65" charset="-120"/>
                <a:ea typeface="標楷體" panose="03000509000000000000" pitchFamily="65" charset="-120"/>
              </a:rPr>
              <a:t>形目</a:t>
            </a:r>
            <a:endParaRPr lang="zh-TW" altLang="en-US" sz="2000" dirty="0">
              <a:latin typeface="標楷體" panose="03000509000000000000" pitchFamily="65" charset="-120"/>
              <a:ea typeface="標楷體" panose="03000509000000000000" pitchFamily="65" charset="-120"/>
            </a:endParaRPr>
          </a:p>
        </p:txBody>
      </p:sp>
      <p:sp>
        <p:nvSpPr>
          <p:cNvPr id="3" name="矩形 2"/>
          <p:cNvSpPr/>
          <p:nvPr/>
        </p:nvSpPr>
        <p:spPr>
          <a:xfrm>
            <a:off x="5939107" y="1443157"/>
            <a:ext cx="1210588" cy="400110"/>
          </a:xfrm>
          <a:prstGeom prst="rect">
            <a:avLst/>
          </a:prstGeom>
        </p:spPr>
        <p:txBody>
          <a:bodyPr wrap="none">
            <a:spAutoFit/>
          </a:bodyPr>
          <a:lstStyle/>
          <a:p>
            <a:r>
              <a:rPr lang="en-US" altLang="zh-TW" sz="2000" dirty="0" smtClean="0">
                <a:latin typeface="標楷體" panose="03000509000000000000" pitchFamily="65" charset="-120"/>
                <a:ea typeface="標楷體" panose="03000509000000000000" pitchFamily="65" charset="-120"/>
              </a:rPr>
              <a:t>2.</a:t>
            </a:r>
            <a:r>
              <a:rPr lang="zh-TW" altLang="en-US" sz="2000" dirty="0" smtClean="0">
                <a:latin typeface="標楷體" panose="03000509000000000000" pitchFamily="65" charset="-120"/>
                <a:ea typeface="標楷體" panose="03000509000000000000" pitchFamily="65" charset="-120"/>
              </a:rPr>
              <a:t>靈長</a:t>
            </a:r>
            <a:r>
              <a:rPr lang="zh-TW" altLang="en-US" sz="2000" dirty="0">
                <a:latin typeface="標楷體" panose="03000509000000000000" pitchFamily="65" charset="-120"/>
                <a:ea typeface="標楷體" panose="03000509000000000000" pitchFamily="65" charset="-120"/>
              </a:rPr>
              <a:t>目</a:t>
            </a:r>
            <a:endParaRPr lang="zh-TW" altLang="en-US" sz="2000" dirty="0">
              <a:latin typeface="標楷體" panose="03000509000000000000" pitchFamily="65" charset="-120"/>
              <a:ea typeface="標楷體" panose="03000509000000000000" pitchFamily="65" charset="-120"/>
            </a:endParaRPr>
          </a:p>
        </p:txBody>
      </p:sp>
      <p:sp>
        <p:nvSpPr>
          <p:cNvPr id="5" name="矩形 4"/>
          <p:cNvSpPr/>
          <p:nvPr/>
        </p:nvSpPr>
        <p:spPr>
          <a:xfrm>
            <a:off x="5939107" y="1926776"/>
            <a:ext cx="1210588" cy="400110"/>
          </a:xfrm>
          <a:prstGeom prst="rect">
            <a:avLst/>
          </a:prstGeom>
        </p:spPr>
        <p:txBody>
          <a:bodyPr wrap="none">
            <a:spAutoFit/>
          </a:bodyPr>
          <a:lstStyle/>
          <a:p>
            <a:r>
              <a:rPr lang="en-US" altLang="zh-TW" sz="2000" dirty="0" smtClean="0">
                <a:latin typeface="標楷體" panose="03000509000000000000" pitchFamily="65" charset="-120"/>
                <a:ea typeface="標楷體" panose="03000509000000000000" pitchFamily="65" charset="-120"/>
              </a:rPr>
              <a:t>3.</a:t>
            </a:r>
            <a:r>
              <a:rPr lang="zh-TW" altLang="en-US" sz="2000" dirty="0" smtClean="0">
                <a:latin typeface="標楷體" panose="03000509000000000000" pitchFamily="65" charset="-120"/>
                <a:ea typeface="標楷體" panose="03000509000000000000" pitchFamily="65" charset="-120"/>
              </a:rPr>
              <a:t>食</a:t>
            </a:r>
            <a:r>
              <a:rPr lang="zh-TW" altLang="en-US" sz="2000" dirty="0" smtClean="0">
                <a:latin typeface="標楷體" panose="03000509000000000000" pitchFamily="65" charset="-120"/>
                <a:ea typeface="標楷體" panose="03000509000000000000" pitchFamily="65" charset="-120"/>
              </a:rPr>
              <a:t>肉目</a:t>
            </a:r>
            <a:endParaRPr lang="zh-TW" altLang="en-US" sz="2000" dirty="0">
              <a:latin typeface="標楷體" panose="03000509000000000000" pitchFamily="65" charset="-120"/>
              <a:ea typeface="標楷體" panose="03000509000000000000" pitchFamily="65" charset="-120"/>
            </a:endParaRPr>
          </a:p>
        </p:txBody>
      </p:sp>
      <p:sp>
        <p:nvSpPr>
          <p:cNvPr id="6" name="矩形 5"/>
          <p:cNvSpPr/>
          <p:nvPr/>
        </p:nvSpPr>
        <p:spPr>
          <a:xfrm>
            <a:off x="5939107" y="2410395"/>
            <a:ext cx="1210588" cy="400110"/>
          </a:xfrm>
          <a:prstGeom prst="rect">
            <a:avLst/>
          </a:prstGeom>
        </p:spPr>
        <p:txBody>
          <a:bodyPr wrap="none">
            <a:spAutoFit/>
          </a:bodyPr>
          <a:lstStyle/>
          <a:p>
            <a:r>
              <a:rPr lang="en-US" altLang="zh-TW" sz="2000" dirty="0" smtClean="0">
                <a:latin typeface="標楷體" panose="03000509000000000000" pitchFamily="65" charset="-120"/>
                <a:ea typeface="標楷體" panose="03000509000000000000" pitchFamily="65" charset="-120"/>
              </a:rPr>
              <a:t>4.</a:t>
            </a:r>
            <a:r>
              <a:rPr lang="zh-TW" altLang="en-US" sz="2000" dirty="0" smtClean="0">
                <a:latin typeface="標楷體" panose="03000509000000000000" pitchFamily="65" charset="-120"/>
                <a:ea typeface="標楷體" panose="03000509000000000000" pitchFamily="65" charset="-120"/>
              </a:rPr>
              <a:t>奇蹄</a:t>
            </a:r>
            <a:r>
              <a:rPr lang="zh-TW" altLang="en-US" sz="2000" dirty="0">
                <a:latin typeface="標楷體" panose="03000509000000000000" pitchFamily="65" charset="-120"/>
                <a:ea typeface="標楷體" panose="03000509000000000000" pitchFamily="65" charset="-120"/>
              </a:rPr>
              <a:t>目</a:t>
            </a:r>
          </a:p>
        </p:txBody>
      </p:sp>
      <p:sp>
        <p:nvSpPr>
          <p:cNvPr id="7" name="矩形 6"/>
          <p:cNvSpPr/>
          <p:nvPr/>
        </p:nvSpPr>
        <p:spPr>
          <a:xfrm>
            <a:off x="5939107" y="2876925"/>
            <a:ext cx="1980029" cy="400110"/>
          </a:xfrm>
          <a:prstGeom prst="rect">
            <a:avLst/>
          </a:prstGeom>
        </p:spPr>
        <p:txBody>
          <a:bodyPr wrap="none">
            <a:spAutoFit/>
          </a:bodyPr>
          <a:lstStyle/>
          <a:p>
            <a:r>
              <a:rPr lang="en-US" altLang="zh-TW" sz="2000" dirty="0" smtClean="0">
                <a:latin typeface="標楷體" panose="03000509000000000000" pitchFamily="65" charset="-120"/>
                <a:ea typeface="標楷體" panose="03000509000000000000" pitchFamily="65" charset="-120"/>
              </a:rPr>
              <a:t>5.</a:t>
            </a:r>
            <a:r>
              <a:rPr lang="zh-TW" altLang="en-US" sz="2000" dirty="0" smtClean="0">
                <a:latin typeface="標楷體" panose="03000509000000000000" pitchFamily="65" charset="-120"/>
                <a:ea typeface="標楷體" panose="03000509000000000000" pitchFamily="65" charset="-120"/>
              </a:rPr>
              <a:t>鯨</a:t>
            </a:r>
            <a:r>
              <a:rPr lang="zh-TW" altLang="en-US" sz="2000" dirty="0">
                <a:latin typeface="標楷體" panose="03000509000000000000" pitchFamily="65" charset="-120"/>
                <a:ea typeface="標楷體" panose="03000509000000000000" pitchFamily="65" charset="-120"/>
              </a:rPr>
              <a:t>目和偶蹄目</a:t>
            </a:r>
          </a:p>
        </p:txBody>
      </p:sp>
      <p:sp>
        <p:nvSpPr>
          <p:cNvPr id="8" name="矩形 7"/>
          <p:cNvSpPr/>
          <p:nvPr/>
        </p:nvSpPr>
        <p:spPr>
          <a:xfrm>
            <a:off x="5939107" y="3318415"/>
            <a:ext cx="1210588" cy="400110"/>
          </a:xfrm>
          <a:prstGeom prst="rect">
            <a:avLst/>
          </a:prstGeom>
        </p:spPr>
        <p:txBody>
          <a:bodyPr wrap="none">
            <a:spAutoFit/>
          </a:bodyPr>
          <a:lstStyle/>
          <a:p>
            <a:r>
              <a:rPr lang="en-US" altLang="zh-TW" sz="2000" dirty="0" smtClean="0">
                <a:latin typeface="標楷體" panose="03000509000000000000" pitchFamily="65" charset="-120"/>
                <a:ea typeface="標楷體" panose="03000509000000000000" pitchFamily="65" charset="-120"/>
              </a:rPr>
              <a:t>6.</a:t>
            </a:r>
            <a:r>
              <a:rPr lang="zh-TW" altLang="en-US" sz="2000" dirty="0" smtClean="0">
                <a:latin typeface="標楷體" panose="03000509000000000000" pitchFamily="65" charset="-120"/>
                <a:ea typeface="標楷體" panose="03000509000000000000" pitchFamily="65" charset="-120"/>
              </a:rPr>
              <a:t>兔</a:t>
            </a:r>
            <a:r>
              <a:rPr lang="zh-TW" altLang="en-US" sz="2000" dirty="0">
                <a:latin typeface="標楷體" panose="03000509000000000000" pitchFamily="65" charset="-120"/>
                <a:ea typeface="標楷體" panose="03000509000000000000" pitchFamily="65" charset="-120"/>
              </a:rPr>
              <a:t>形目</a:t>
            </a:r>
          </a:p>
        </p:txBody>
      </p:sp>
      <p:sp>
        <p:nvSpPr>
          <p:cNvPr id="9" name="矩形 8"/>
          <p:cNvSpPr/>
          <p:nvPr/>
        </p:nvSpPr>
        <p:spPr>
          <a:xfrm>
            <a:off x="5939107" y="3759905"/>
            <a:ext cx="1210588" cy="400110"/>
          </a:xfrm>
          <a:prstGeom prst="rect">
            <a:avLst/>
          </a:prstGeom>
        </p:spPr>
        <p:txBody>
          <a:bodyPr wrap="none">
            <a:spAutoFit/>
          </a:bodyPr>
          <a:lstStyle/>
          <a:p>
            <a:r>
              <a:rPr lang="en-US" altLang="zh-TW" sz="2000" dirty="0" smtClean="0">
                <a:latin typeface="標楷體" panose="03000509000000000000" pitchFamily="65" charset="-120"/>
                <a:ea typeface="標楷體" panose="03000509000000000000" pitchFamily="65" charset="-120"/>
              </a:rPr>
              <a:t>7.</a:t>
            </a:r>
            <a:r>
              <a:rPr lang="zh-TW" altLang="en-US" sz="2000" dirty="0" smtClean="0">
                <a:latin typeface="標楷體" panose="03000509000000000000" pitchFamily="65" charset="-120"/>
                <a:ea typeface="標楷體" panose="03000509000000000000" pitchFamily="65" charset="-120"/>
              </a:rPr>
              <a:t>囓</a:t>
            </a:r>
            <a:r>
              <a:rPr lang="zh-TW" altLang="en-US" sz="2000" dirty="0">
                <a:latin typeface="標楷體" panose="03000509000000000000" pitchFamily="65" charset="-120"/>
                <a:ea typeface="標楷體" panose="03000509000000000000" pitchFamily="65" charset="-120"/>
              </a:rPr>
              <a:t>齒目</a:t>
            </a:r>
          </a:p>
        </p:txBody>
      </p:sp>
    </p:spTree>
    <p:extLst>
      <p:ext uri="{BB962C8B-B14F-4D97-AF65-F5344CB8AC3E}">
        <p14:creationId xmlns:p14="http://schemas.microsoft.com/office/powerpoint/2010/main" val="410533252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2"/>
          <a:stretch>
            <a:fillRect/>
          </a:stretch>
        </p:blipFill>
        <p:spPr>
          <a:xfrm>
            <a:off x="417487" y="679511"/>
            <a:ext cx="8348826" cy="4985590"/>
          </a:xfrm>
          <a:prstGeom prst="rect">
            <a:avLst/>
          </a:prstGeom>
        </p:spPr>
      </p:pic>
    </p:spTree>
    <p:extLst>
      <p:ext uri="{BB962C8B-B14F-4D97-AF65-F5344CB8AC3E}">
        <p14:creationId xmlns:p14="http://schemas.microsoft.com/office/powerpoint/2010/main" val="247868425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69788</TotalTime>
  <Words>522</Words>
  <Application>Microsoft Office PowerPoint</Application>
  <PresentationFormat>如螢幕大小 (4:3)</PresentationFormat>
  <Paragraphs>47</Paragraphs>
  <Slides>13</Slides>
  <Notes>11</Notes>
  <HiddenSlides>0</HiddenSlides>
  <MMClips>0</MMClips>
  <ScaleCrop>false</ScaleCrop>
  <HeadingPairs>
    <vt:vector size="6" baseType="variant">
      <vt:variant>
        <vt:lpstr>使用字型</vt:lpstr>
      </vt:variant>
      <vt:variant>
        <vt:i4>10</vt:i4>
      </vt:variant>
      <vt:variant>
        <vt:lpstr>佈景主題</vt:lpstr>
      </vt:variant>
      <vt:variant>
        <vt:i4>1</vt:i4>
      </vt:variant>
      <vt:variant>
        <vt:lpstr>投影片標題</vt:lpstr>
      </vt:variant>
      <vt:variant>
        <vt:i4>13</vt:i4>
      </vt:variant>
    </vt:vector>
  </HeadingPairs>
  <TitlesOfParts>
    <vt:vector size="24" baseType="lpstr">
      <vt:lpstr>MathJax_Main</vt:lpstr>
      <vt:lpstr>MathJax_Math-italic</vt:lpstr>
      <vt:lpstr>新細明體</vt:lpstr>
      <vt:lpstr>標楷體</vt:lpstr>
      <vt:lpstr>Arial</vt:lpstr>
      <vt:lpstr>Calibri</vt:lpstr>
      <vt:lpstr>Calibri Light</vt:lpstr>
      <vt:lpstr>Cambria Math</vt:lpstr>
      <vt:lpstr>helvetica</vt:lpstr>
      <vt:lpstr>Times New Roman</vt:lpstr>
      <vt:lpstr>Office 佈景主題</vt:lpstr>
      <vt:lpstr>A Novel Method of Characterizing Genetic Sequences: Genome Space with Biological Distance and Applications</vt:lpstr>
      <vt:lpstr>Abstract(1/3)</vt:lpstr>
      <vt:lpstr>Abstract(2/3)</vt:lpstr>
      <vt:lpstr>Abstract(3/3)</vt:lpstr>
      <vt:lpstr>Natural Vector:</vt:lpstr>
      <vt:lpstr>Natural Vector:</vt:lpstr>
      <vt:lpstr>Natural Vector:</vt:lpstr>
      <vt:lpstr>Agglomerative Hierarchical Clustering:</vt:lpstr>
      <vt:lpstr>Results:</vt:lpstr>
      <vt:lpstr>PowerPoint 簡報</vt:lpstr>
      <vt:lpstr>PowerPoint 簡報</vt:lpstr>
      <vt:lpstr>PowerPoint 簡報</vt:lpstr>
      <vt:lpstr>PowerPoint 簡報</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fast algorithm for computing a longest common increasing subsequence</dc:title>
  <dc:creator>GaryC</dc:creator>
  <cp:lastModifiedBy>pplab-class</cp:lastModifiedBy>
  <cp:revision>514</cp:revision>
  <dcterms:created xsi:type="dcterms:W3CDTF">2017-09-25T08:45:50Z</dcterms:created>
  <dcterms:modified xsi:type="dcterms:W3CDTF">2019-04-09T12:28:23Z</dcterms:modified>
</cp:coreProperties>
</file>