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321" r:id="rId2"/>
    <p:sldId id="311" r:id="rId3"/>
    <p:sldId id="324" r:id="rId4"/>
    <p:sldId id="328" r:id="rId5"/>
    <p:sldId id="335" r:id="rId6"/>
    <p:sldId id="330" r:id="rId7"/>
    <p:sldId id="333" r:id="rId8"/>
    <p:sldId id="327" r:id="rId9"/>
    <p:sldId id="331" r:id="rId10"/>
    <p:sldId id="332" r:id="rId11"/>
    <p:sldId id="334"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3971" autoAdjust="0"/>
  </p:normalViewPr>
  <p:slideViewPr>
    <p:cSldViewPr snapToGrid="0">
      <p:cViewPr varScale="1">
        <p:scale>
          <a:sx n="68" d="100"/>
          <a:sy n="68" d="100"/>
        </p:scale>
        <p:origin x="1464" y="5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2019/12/18</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702473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846550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423290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2367416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2019/12/18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2019/12/18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2019/12/18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2019/12/18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2019/12/18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2019/12/18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2019/12/18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47" y="1337834"/>
            <a:ext cx="8348184" cy="877881"/>
          </a:xfrm>
        </p:spPr>
        <p:txBody>
          <a:bodyPr>
            <a:noAutofit/>
          </a:bodyPr>
          <a:lstStyle/>
          <a:p>
            <a:r>
              <a:rPr lang="en-US" altLang="zh-TW" sz="4000" dirty="0">
                <a:latin typeface="Times New Roman" panose="02020603050405020304" pitchFamily="18" charset="0"/>
                <a:cs typeface="Times New Roman" panose="02020603050405020304" pitchFamily="18" charset="0"/>
              </a:rPr>
              <a:t>A Comparison of the Animal Recognition between the Real Objects and the Modeled 3D Objects</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36114" y="2702812"/>
            <a:ext cx="8536249" cy="717223"/>
          </a:xfrm>
        </p:spPr>
        <p:txBody>
          <a:bodyPr>
            <a:noAutofit/>
          </a:bodyPr>
          <a:lstStyle/>
          <a:p>
            <a:r>
              <a:rPr lang="fr-FR" altLang="zh-TW" dirty="0">
                <a:latin typeface="Times New Roman" panose="02020603050405020304" pitchFamily="18" charset="0"/>
                <a:cs typeface="Times New Roman" panose="02020603050405020304" pitchFamily="18" charset="0"/>
              </a:rPr>
              <a:t>Matuska Slavomir, Hudec Robert, Hlubik Jan, Talapka Jozef</a:t>
            </a:r>
            <a:endParaRPr lang="en-US" altLang="zh-TW"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Chih</a:t>
            </a:r>
            <a:r>
              <a:rPr lang="en-US" altLang="zh-TW" sz="1800" dirty="0">
                <a:latin typeface="Times New Roman" panose="02020603050405020304" pitchFamily="18" charset="0"/>
                <a:cs typeface="Times New Roman" panose="02020603050405020304" pitchFamily="18" charset="0"/>
              </a:rPr>
              <a:t>-Kai Wu</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Dec.18, 2019.</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528220" y="3839154"/>
            <a:ext cx="9219461"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26th Conference </a:t>
            </a:r>
            <a:r>
              <a:rPr lang="en-US" altLang="zh-TW" sz="2000" dirty="0" err="1">
                <a:latin typeface="Times New Roman" panose="02020603050405020304" pitchFamily="18" charset="0"/>
                <a:cs typeface="Times New Roman" panose="02020603050405020304" pitchFamily="18" charset="0"/>
              </a:rPr>
              <a:t>Radioelektronika</a:t>
            </a:r>
            <a:r>
              <a:rPr lang="en-US" altLang="zh-TW" sz="2000" dirty="0">
                <a:latin typeface="Times New Roman" panose="02020603050405020304" pitchFamily="18" charset="0"/>
                <a:cs typeface="Times New Roman" panose="02020603050405020304" pitchFamily="18" charset="0"/>
              </a:rPr>
              <a:t> 2016, April 19-20, </a:t>
            </a:r>
            <a:r>
              <a:rPr lang="en-US" altLang="zh-TW" sz="2000" dirty="0" err="1">
                <a:latin typeface="Times New Roman" panose="02020603050405020304" pitchFamily="18" charset="0"/>
                <a:cs typeface="Times New Roman" panose="02020603050405020304" pitchFamily="18" charset="0"/>
              </a:rPr>
              <a:t>Košice</a:t>
            </a:r>
            <a:r>
              <a:rPr lang="en-US" altLang="zh-TW" sz="2000" dirty="0">
                <a:latin typeface="Times New Roman" panose="02020603050405020304" pitchFamily="18" charset="0"/>
                <a:cs typeface="Times New Roman" panose="02020603050405020304" pitchFamily="18" charset="0"/>
              </a:rPr>
              <a:t>, Slovak Republic</a:t>
            </a: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199175"/>
            <a:ext cx="9004993" cy="4704476"/>
          </a:xfrm>
        </p:spPr>
        <p:txBody>
          <a:bodyPr>
            <a:noAutofit/>
          </a:bodyPr>
          <a:lstStyle/>
          <a:p>
            <a:pPr marL="0" indent="0">
              <a:lnSpc>
                <a:spcPct val="150000"/>
              </a:lnSpc>
              <a:buNone/>
            </a:pPr>
            <a:r>
              <a:rPr lang="en-US" altLang="zh-TW" sz="2000" dirty="0">
                <a:latin typeface="Times New Roman" panose="02020603050405020304" pitchFamily="18" charset="0"/>
                <a:cs typeface="Times New Roman" panose="02020603050405020304" pitchFamily="18" charset="0"/>
              </a:rPr>
              <a:t>This paper proposed about comparison of the animal</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recognition processed on the real world objects and the</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modeled 3D objects. The object classification consists of the</a:t>
            </a:r>
          </a:p>
          <a:p>
            <a:pPr marL="0" indent="0">
              <a:lnSpc>
                <a:spcPct val="150000"/>
              </a:lnSpc>
              <a:buNone/>
            </a:pPr>
            <a:r>
              <a:rPr lang="en-US" altLang="zh-TW" sz="2000" dirty="0">
                <a:latin typeface="Times New Roman" panose="02020603050405020304" pitchFamily="18" charset="0"/>
                <a:cs typeface="Times New Roman" panose="02020603050405020304" pitchFamily="18" charset="0"/>
              </a:rPr>
              <a:t>three main steps – feature extraction, training classifier and</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image evaluation. Feature description is based on locale</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visual descriptors like SIFT or SURF. Support Vector</a:t>
            </a:r>
          </a:p>
          <a:p>
            <a:pPr marL="0" indent="0">
              <a:lnSpc>
                <a:spcPct val="150000"/>
              </a:lnSpc>
              <a:buNone/>
            </a:pPr>
            <a:r>
              <a:rPr lang="en-US" altLang="zh-TW" sz="2000" dirty="0">
                <a:latin typeface="Times New Roman" panose="02020603050405020304" pitchFamily="18" charset="0"/>
                <a:cs typeface="Times New Roman" panose="02020603050405020304" pitchFamily="18" charset="0"/>
              </a:rPr>
              <a:t>Machine (SVM) in combination with the bags of visual</a:t>
            </a:r>
            <a:r>
              <a:rPr lang="zh-TW" altLang="en-US"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keypoints</a:t>
            </a:r>
            <a:r>
              <a:rPr lang="en-US" altLang="zh-TW" sz="2000" dirty="0">
                <a:latin typeface="Times New Roman" panose="02020603050405020304" pitchFamily="18" charset="0"/>
                <a:cs typeface="Times New Roman" panose="02020603050405020304" pitchFamily="18" charset="0"/>
              </a:rPr>
              <a:t> (BOW) is used to classify descriptors. The 3D</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models were created using photogrammetry and 3D</a:t>
            </a:r>
          </a:p>
          <a:p>
            <a:pPr marL="0" indent="0">
              <a:lnSpc>
                <a:spcPct val="150000"/>
              </a:lnSpc>
              <a:buNone/>
            </a:pPr>
            <a:r>
              <a:rPr lang="en-US" altLang="zh-TW" sz="2000" dirty="0">
                <a:latin typeface="Times New Roman" panose="02020603050405020304" pitchFamily="18" charset="0"/>
                <a:cs typeface="Times New Roman" panose="02020603050405020304" pitchFamily="18" charset="0"/>
              </a:rPr>
              <a:t>modeling for ideal 3D models of mammals. This method of</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3D model creation is described in details.</a:t>
            </a:r>
            <a:endParaRPr lang="fr-FR" altLang="zh-TW"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The generation of the 3D model</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44067"/>
            <a:ext cx="9004993" cy="4704476"/>
          </a:xfrm>
        </p:spPr>
        <p:txBody>
          <a:bodyPr>
            <a:noAutofit/>
          </a:bodyPr>
          <a:lstStyle/>
          <a:p>
            <a:pPr marL="0" indent="0">
              <a:lnSpc>
                <a:spcPct val="150000"/>
              </a:lnSpc>
              <a:buNone/>
            </a:pPr>
            <a:r>
              <a:rPr lang="en-US" altLang="zh-TW" sz="2000" dirty="0">
                <a:latin typeface="Times New Roman" panose="02020603050405020304" pitchFamily="18" charset="0"/>
                <a:cs typeface="Times New Roman" panose="02020603050405020304" pitchFamily="18" charset="0"/>
              </a:rPr>
              <a:t>The first step in the procedure of 3D object creation was</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taking the photos of the mounted animals from the different</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angles and positions. Some part of the animals were pictured</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in the more detail to increase the model precision. For every</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model, more than 150 pictures were taken.</a:t>
            </a:r>
            <a:endParaRPr lang="fr-FR" altLang="zh-TW" sz="2000"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691" y="2766227"/>
            <a:ext cx="7648575" cy="3829050"/>
          </a:xfrm>
          <a:prstGeom prst="rect">
            <a:avLst/>
          </a:prstGeom>
        </p:spPr>
      </p:pic>
    </p:spTree>
    <p:extLst>
      <p:ext uri="{BB962C8B-B14F-4D97-AF65-F5344CB8AC3E}">
        <p14:creationId xmlns:p14="http://schemas.microsoft.com/office/powerpoint/2010/main" val="2032169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Experimental</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244631"/>
            <a:ext cx="9004993" cy="5299970"/>
          </a:xfrm>
        </p:spPr>
        <p:txBody>
          <a:bodyPr>
            <a:noAutofit/>
          </a:bodyPr>
          <a:lstStyle/>
          <a:p>
            <a:pPr marL="0" indent="0">
              <a:lnSpc>
                <a:spcPct val="150000"/>
              </a:lnSpc>
              <a:buNone/>
            </a:pPr>
            <a:r>
              <a:rPr lang="en-US" altLang="zh-TW" sz="2000" dirty="0">
                <a:latin typeface="Times New Roman" panose="02020603050405020304" pitchFamily="18" charset="0"/>
                <a:cs typeface="Times New Roman" panose="02020603050405020304" pitchFamily="18" charset="0"/>
              </a:rPr>
              <a:t>There were two different testing databases. </a:t>
            </a:r>
          </a:p>
          <a:p>
            <a:pPr marL="0" indent="0">
              <a:lnSpc>
                <a:spcPct val="150000"/>
              </a:lnSpc>
              <a:buNone/>
            </a:pPr>
            <a:r>
              <a:rPr lang="en-US" altLang="zh-TW" sz="2000" dirty="0">
                <a:latin typeface="Times New Roman" panose="02020603050405020304" pitchFamily="18" charset="0"/>
                <a:cs typeface="Times New Roman" panose="02020603050405020304" pitchFamily="18" charset="0"/>
              </a:rPr>
              <a:t>The first one was created by randomly selected and removed images from training database.</a:t>
            </a:r>
          </a:p>
          <a:p>
            <a:pPr marL="0" indent="0">
              <a:lnSpc>
                <a:spcPct val="150000"/>
              </a:lnSpc>
              <a:buNone/>
            </a:pPr>
            <a:r>
              <a:rPr lang="en-US" altLang="zh-TW" sz="2000" dirty="0">
                <a:latin typeface="Times New Roman" panose="02020603050405020304" pitchFamily="18" charset="0"/>
                <a:cs typeface="Times New Roman" panose="02020603050405020304" pitchFamily="18" charset="0"/>
              </a:rPr>
              <a:t>The second testing database was created from the 3D</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models of the animal, where these models were inserted to the background images.</a:t>
            </a:r>
          </a:p>
          <a:p>
            <a:pPr marL="0" indent="0">
              <a:lnSpc>
                <a:spcPct val="150000"/>
              </a:lnSpc>
              <a:buNone/>
            </a:pPr>
            <a:r>
              <a:rPr lang="en-US" altLang="zh-TW" sz="2000" dirty="0">
                <a:latin typeface="Times New Roman" panose="02020603050405020304" pitchFamily="18" charset="0"/>
                <a:cs typeface="Times New Roman" panose="02020603050405020304" pitchFamily="18" charset="0"/>
              </a:rPr>
              <a:t>Four detectors, SURF, SUSIFT, SIFT and SISURF, </a:t>
            </a:r>
          </a:p>
          <a:p>
            <a:pPr marL="0" indent="0">
              <a:lnSpc>
                <a:spcPct val="150000"/>
              </a:lnSpc>
              <a:buNone/>
            </a:pPr>
            <a:r>
              <a:rPr lang="en-US" altLang="zh-TW" sz="2000" dirty="0">
                <a:latin typeface="Times New Roman" panose="02020603050405020304" pitchFamily="18" charset="0"/>
                <a:cs typeface="Times New Roman" panose="02020603050405020304" pitchFamily="18" charset="0"/>
              </a:rPr>
              <a:t>four descriptors SURF, </a:t>
            </a:r>
            <a:r>
              <a:rPr lang="en-US" altLang="zh-TW" sz="2000" dirty="0" err="1">
                <a:latin typeface="Times New Roman" panose="02020603050405020304" pitchFamily="18" charset="0"/>
                <a:cs typeface="Times New Roman" panose="02020603050405020304" pitchFamily="18" charset="0"/>
              </a:rPr>
              <a:t>OpponentSURF</a:t>
            </a:r>
            <a:r>
              <a:rPr lang="en-US" altLang="zh-TW" sz="2000" dirty="0">
                <a:latin typeface="Times New Roman" panose="02020603050405020304" pitchFamily="18" charset="0"/>
                <a:cs typeface="Times New Roman" panose="02020603050405020304" pitchFamily="18" charset="0"/>
              </a:rPr>
              <a:t>, SIFT, </a:t>
            </a:r>
            <a:r>
              <a:rPr lang="en-US" altLang="zh-TW" sz="2000" dirty="0" err="1">
                <a:latin typeface="Times New Roman" panose="02020603050405020304" pitchFamily="18" charset="0"/>
                <a:cs typeface="Times New Roman" panose="02020603050405020304" pitchFamily="18" charset="0"/>
              </a:rPr>
              <a:t>OpponentSIFT</a:t>
            </a:r>
            <a:endParaRPr lang="en-US" altLang="zh-TW"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9582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1867" y="1040445"/>
            <a:ext cx="5172075" cy="5238750"/>
          </a:xfrm>
          <a:prstGeom prst="rect">
            <a:avLst/>
          </a:prstGeom>
        </p:spPr>
      </p:pic>
    </p:spTree>
    <p:extLst>
      <p:ext uri="{BB962C8B-B14F-4D97-AF65-F5344CB8AC3E}">
        <p14:creationId xmlns:p14="http://schemas.microsoft.com/office/powerpoint/2010/main" val="1863532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Experimental</a:t>
            </a:r>
            <a:endParaRPr lang="zh-TW" altLang="en-US" sz="3200" b="1" dirty="0">
              <a:latin typeface="Times New Roman" panose="02020603050405020304" pitchFamily="18" charset="0"/>
              <a:cs typeface="Times New Roman" panose="02020603050405020304" pitchFamily="18" charset="0"/>
            </a:endParaRPr>
          </a:p>
        </p:txBody>
      </p:sp>
      <p:sp>
        <p:nvSpPr>
          <p:cNvPr id="5" name="內容版面配置區 4"/>
          <p:cNvSpPr>
            <a:spLocks noGrp="1"/>
          </p:cNvSpPr>
          <p:nvPr>
            <p:ph idx="1"/>
          </p:nvPr>
        </p:nvSpPr>
        <p:spPr>
          <a:xfrm>
            <a:off x="139007" y="1195310"/>
            <a:ext cx="9031626" cy="4717218"/>
          </a:xfrm>
        </p:spPr>
        <p:txBody>
          <a:bodyPr>
            <a:normAutofit/>
          </a:bodyPr>
          <a:lstStyle/>
          <a:p>
            <a:pPr marL="0" indent="0">
              <a:lnSpc>
                <a:spcPct val="150000"/>
              </a:lnSpc>
              <a:buNone/>
            </a:pPr>
            <a:r>
              <a:rPr lang="en-US" altLang="zh-TW" sz="2000" dirty="0">
                <a:latin typeface="Times New Roman" panose="02020603050405020304" pitchFamily="18" charset="0"/>
                <a:cs typeface="Times New Roman" panose="02020603050405020304" pitchFamily="18" charset="0"/>
              </a:rPr>
              <a:t>The horizontal axis defines the </a:t>
            </a:r>
            <a:r>
              <a:rPr lang="en-US" altLang="zh-TW" sz="2000" dirty="0" err="1">
                <a:latin typeface="Times New Roman" panose="02020603050405020304" pitchFamily="18" charset="0"/>
                <a:cs typeface="Times New Roman" panose="02020603050405020304" pitchFamily="18" charset="0"/>
              </a:rPr>
              <a:t>keypoint</a:t>
            </a:r>
            <a:r>
              <a:rPr lang="en-US" altLang="zh-TW" sz="2000" dirty="0">
                <a:latin typeface="Times New Roman" panose="02020603050405020304" pitchFamily="18" charset="0"/>
                <a:cs typeface="Times New Roman" panose="02020603050405020304" pitchFamily="18" charset="0"/>
              </a:rPr>
              <a:t> detector and the vertical axis defines success rate of classification. </a:t>
            </a:r>
          </a:p>
        </p:txBody>
      </p:sp>
    </p:spTree>
    <p:extLst>
      <p:ext uri="{BB962C8B-B14F-4D97-AF65-F5344CB8AC3E}">
        <p14:creationId xmlns:p14="http://schemas.microsoft.com/office/powerpoint/2010/main" val="33461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9230" y="576455"/>
            <a:ext cx="7485540" cy="4803963"/>
          </a:xfrm>
        </p:spPr>
      </p:pic>
    </p:spTree>
    <p:extLst>
      <p:ext uri="{BB962C8B-B14F-4D97-AF65-F5344CB8AC3E}">
        <p14:creationId xmlns:p14="http://schemas.microsoft.com/office/powerpoint/2010/main" val="2557826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988" y="836666"/>
            <a:ext cx="7546021" cy="4798560"/>
          </a:xfrm>
          <a:prstGeom prst="rect">
            <a:avLst/>
          </a:prstGeom>
        </p:spPr>
      </p:pic>
    </p:spTree>
    <p:extLst>
      <p:ext uri="{BB962C8B-B14F-4D97-AF65-F5344CB8AC3E}">
        <p14:creationId xmlns:p14="http://schemas.microsoft.com/office/powerpoint/2010/main" val="1096868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4417" y="798991"/>
            <a:ext cx="7930247" cy="5038039"/>
          </a:xfrm>
        </p:spPr>
      </p:pic>
    </p:spTree>
    <p:extLst>
      <p:ext uri="{BB962C8B-B14F-4D97-AF65-F5344CB8AC3E}">
        <p14:creationId xmlns:p14="http://schemas.microsoft.com/office/powerpoint/2010/main" val="919079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1100831"/>
            <a:ext cx="7970739" cy="4909220"/>
          </a:xfrm>
        </p:spPr>
      </p:pic>
    </p:spTree>
    <p:extLst>
      <p:ext uri="{BB962C8B-B14F-4D97-AF65-F5344CB8AC3E}">
        <p14:creationId xmlns:p14="http://schemas.microsoft.com/office/powerpoint/2010/main" val="4202277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Conclusion</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199175"/>
            <a:ext cx="9004993" cy="4704476"/>
          </a:xfrm>
        </p:spPr>
        <p:txBody>
          <a:bodyPr>
            <a:noAutofit/>
          </a:bodyPr>
          <a:lstStyle/>
          <a:p>
            <a:pPr marL="0" indent="0">
              <a:lnSpc>
                <a:spcPct val="200000"/>
              </a:lnSpc>
              <a:buNone/>
            </a:pPr>
            <a:r>
              <a:rPr lang="en-US" altLang="zh-TW" sz="2000" dirty="0">
                <a:latin typeface="Times New Roman" panose="02020603050405020304" pitchFamily="18" charset="0"/>
                <a:cs typeface="Times New Roman" panose="02020603050405020304" pitchFamily="18" charset="0"/>
              </a:rPr>
              <a:t>From the realized experiment is evident, that the success rate of the 3D model database was in the most case comparable with success rate of the database with the real objects. Creating the testing database using 3D modeling can save a lot of time and money and we can model the different scenes and situations. In the future, the 3D models will be animated and the videos with 3D models will be created. With these videos, we can simulate the migration of the wild animals and then we can create the migration corridors for particular mammals in particular areas. </a:t>
            </a:r>
            <a:endParaRPr lang="fr-FR" altLang="zh-TW"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5820440"/>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88151</TotalTime>
  <Words>412</Words>
  <Application>Microsoft Office PowerPoint</Application>
  <PresentationFormat>如螢幕大小 (4:3)</PresentationFormat>
  <Paragraphs>28</Paragraphs>
  <Slides>11</Slides>
  <Notes>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Arial</vt:lpstr>
      <vt:lpstr>Calibri</vt:lpstr>
      <vt:lpstr>Calibri Light</vt:lpstr>
      <vt:lpstr>Times New Roman</vt:lpstr>
      <vt:lpstr>Office 佈景主題</vt:lpstr>
      <vt:lpstr>A Comparison of the Animal Recognition between the Real Objects and the Modeled 3D Objects</vt:lpstr>
      <vt:lpstr>Abstract</vt:lpstr>
      <vt:lpstr>The generation of the 3D model</vt:lpstr>
      <vt:lpstr>Experimental</vt:lpstr>
      <vt:lpstr>PowerPoint 簡報</vt:lpstr>
      <vt:lpstr>Experimental</vt:lpstr>
      <vt:lpstr>PowerPoint 簡報</vt:lpstr>
      <vt:lpstr>PowerPoint 簡報</vt:lpstr>
      <vt:lpstr>PowerPoint 簡報</vt:lpstr>
      <vt:lpstr>PowerPoint 簡報</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User</dc:creator>
  <cp:lastModifiedBy>pplab</cp:lastModifiedBy>
  <cp:revision>768</cp:revision>
  <dcterms:created xsi:type="dcterms:W3CDTF">2017-09-25T08:45:50Z</dcterms:created>
  <dcterms:modified xsi:type="dcterms:W3CDTF">2019-12-18T11:44:22Z</dcterms:modified>
</cp:coreProperties>
</file>