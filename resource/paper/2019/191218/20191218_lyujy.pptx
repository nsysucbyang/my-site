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3" r:id="rId3"/>
    <p:sldId id="257" r:id="rId4"/>
    <p:sldId id="283" r:id="rId5"/>
    <p:sldId id="330" r:id="rId6"/>
    <p:sldId id="328" r:id="rId7"/>
    <p:sldId id="331" r:id="rId8"/>
    <p:sldId id="320" r:id="rId9"/>
    <p:sldId id="317" r:id="rId10"/>
    <p:sldId id="312" r:id="rId11"/>
    <p:sldId id="329"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2"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235" autoAdjust="0"/>
  </p:normalViewPr>
  <p:slideViewPr>
    <p:cSldViewPr snapToGrid="0">
      <p:cViewPr varScale="1">
        <p:scale>
          <a:sx n="68" d="100"/>
          <a:sy n="68"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2019/12/18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618691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776690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E677D1C-3D7C-420B-BCA3-33BEDD3D5A80}" type="slidenum">
              <a:rPr lang="zh-TW" altLang="en-US" smtClean="0"/>
              <a:t>8</a:t>
            </a:fld>
            <a:endParaRPr lang="zh-TW" altLang="en-US"/>
          </a:p>
        </p:txBody>
      </p:sp>
    </p:spTree>
    <p:extLst>
      <p:ext uri="{BB962C8B-B14F-4D97-AF65-F5344CB8AC3E}">
        <p14:creationId xmlns:p14="http://schemas.microsoft.com/office/powerpoint/2010/main" val="276789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r>
              <a:rPr lang="en-US" altLang="zh-TW" dirty="0"/>
              <a:t>λ  be the jumping probability the random walker jumps from the miRNA network to the phenotype network</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2239110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4000792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3178352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2019/12/18</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2019/12/18</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35859" y="500281"/>
            <a:ext cx="12120282" cy="1683521"/>
          </a:xfrm>
        </p:spPr>
        <p:txBody>
          <a:bodyPr>
            <a:normAutofit/>
          </a:bodyPr>
          <a:lstStyle/>
          <a:p>
            <a:r>
              <a:rPr lang="en-US" altLang="zh-TW" sz="3200" b="1" dirty="0">
                <a:latin typeface="Times New Roman" panose="02020603050405020304" pitchFamily="18" charset="0"/>
                <a:cs typeface="Times New Roman" panose="02020603050405020304" pitchFamily="18" charset="0"/>
              </a:rPr>
              <a:t>Disease phenotype similarity improves the prediction of novel disease-associated microRNAs</a:t>
            </a:r>
            <a:endParaRPr lang="zh-TW" altLang="en-US" sz="32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a:t>Duc-</a:t>
            </a:r>
            <a:r>
              <a:rPr lang="en-US" altLang="zh-TW" sz="2800" dirty="0" err="1"/>
              <a:t>Hau</a:t>
            </a:r>
            <a:r>
              <a:rPr lang="en-US" altLang="zh-TW" sz="2800" dirty="0"/>
              <a:t> Le</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367552" y="3987993"/>
            <a:ext cx="11591366" cy="138186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2nd National Foundation for Science and Technology Development Conference on Information and Computer Science (NICS), 2015, pages 76 - 81, </a:t>
            </a:r>
            <a:r>
              <a:rPr lang="it-IT" altLang="zh-TW" dirty="0">
                <a:latin typeface="Times New Roman" panose="02020603050405020304" pitchFamily="18" charset="0"/>
                <a:cs typeface="Times New Roman" panose="02020603050405020304" pitchFamily="18" charset="0"/>
              </a:rPr>
              <a:t>Ho Chi Minh City, Vietnam</a:t>
            </a:r>
            <a:endParaRPr lang="en-US" altLang="zh-TW" dirty="0">
              <a:latin typeface="Times New Roman" panose="02020603050405020304" pitchFamily="18" charset="0"/>
              <a:cs typeface="Times New Roman" panose="02020603050405020304" pitchFamily="18" charset="0"/>
            </a:endParaRP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Dec. 18, 2019</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80913" y="27469"/>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80913" y="613185"/>
            <a:ext cx="10875981" cy="6108289"/>
          </a:xfrm>
        </p:spPr>
        <p:txBody>
          <a:bodyPr>
            <a:noAutofit/>
          </a:bodyPr>
          <a:lstStyle/>
          <a:p>
            <a:pPr marL="0" indent="0" algn="just">
              <a:lnSpc>
                <a:spcPct val="150000"/>
              </a:lnSpc>
              <a:buNone/>
            </a:pPr>
            <a:r>
              <a:rPr lang="en-US" altLang="zh-TW" sz="2200" spc="-150" dirty="0">
                <a:cs typeface="Times New Roman" panose="02020603050405020304" pitchFamily="18" charset="0"/>
              </a:rPr>
              <a:t>Many studies have shown roles of miRNAs (microRNAs) on human disease and a number of computational methods have been proposed to predict such associations by ranking candidate microRNAs according to their relevance to a disease. Among them, network-based methods are becoming dominant since they well exploit the “disease module” principle in miRNA functional similarity networks. Of which, Random Walk with Restart (RWR) algorithm-based method on a miRNA functional similarity network, namely RWRMDA, is state-of-the-art one. The use of this algorithm was inspired from its success in predicting disease gene because “disease module” principle also exists in protein interaction networks. Besides, many other algorithms were also designed for prediction of disease genes. However, they have not yet been utilized for disease microRNA prediction. In this study, we proposed a method, namely RWRHMDA, for prediction of disease-associated miRNAs. This method was based on RWRH algorithm, which was successfully proposed for disease gene prediction on a heterogeneous network of genes and disease phenotypes.</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7271" y="14569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17271" y="888513"/>
            <a:ext cx="11455990" cy="5652136"/>
          </a:xfrm>
        </p:spPr>
        <p:txBody>
          <a:bodyPr vert="horz" lIns="91440" tIns="45720" rIns="91440" bIns="45720" rtlCol="0">
            <a:noAutofit/>
          </a:bodyPr>
          <a:lstStyle/>
          <a:p>
            <a:pPr marL="0" indent="0" algn="just">
              <a:lnSpc>
                <a:spcPct val="150000"/>
              </a:lnSpc>
              <a:buNone/>
            </a:pPr>
            <a:r>
              <a:rPr lang="en-US" altLang="zh-TW" sz="2200" spc="-150" dirty="0">
                <a:cs typeface="Times New Roman" panose="02020603050405020304" pitchFamily="18" charset="0"/>
              </a:rPr>
              <a:t>We used this algorithm to rank disease candidate miRNAs on a heterogeneous network of phenotypes and miRNAs, which was constructed by integrating a shared target gene-based microRNA functional similarity network and a disease phenotype similarity network. Comparing the prediction performance of RWRHMDA with that of RWRMDA on a set of 35 disease phenotypes, we found that RWRHMDA significantly outperformed RWRMDA irrespective of parameter settings since it better exploited “disease module” principle. In addition, using RWRHMDA method, we identified eight novel Alzheimer's disease-associated miRNAs.</a:t>
            </a:r>
            <a:endParaRPr lang="en-US" altLang="zh-TW" sz="2200" spc="-1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Construction of a Homogeneous miRNA Network</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r>
              <a:rPr lang="en-US" altLang="zh-TW" dirty="0"/>
              <a:t>N is the number of all targets.</a:t>
            </a:r>
          </a:p>
          <a:p>
            <a:r>
              <a:rPr lang="en-US" altLang="zh-TW" dirty="0"/>
              <a:t>K</a:t>
            </a:r>
            <a:r>
              <a:rPr lang="en-US" altLang="zh-TW" baseline="-25000" dirty="0"/>
              <a:t>i</a:t>
            </a:r>
            <a:r>
              <a:rPr lang="en-US" altLang="zh-TW" dirty="0"/>
              <a:t> is the total number of genes that are annotated in the GO term </a:t>
            </a:r>
            <a:r>
              <a:rPr lang="en-US" altLang="zh-TW" dirty="0" err="1"/>
              <a:t>i</a:t>
            </a:r>
            <a:r>
              <a:rPr lang="en-US" altLang="zh-TW" dirty="0"/>
              <a:t> and targeted by miRNAs.</a:t>
            </a:r>
          </a:p>
          <a:p>
            <a:r>
              <a:rPr lang="en-US" altLang="zh-TW" dirty="0"/>
              <a:t>M is the size of A ∩ B</a:t>
            </a:r>
          </a:p>
        </p:txBody>
      </p:sp>
      <p:pic>
        <p:nvPicPr>
          <p:cNvPr id="18" name="圖片 17">
            <a:extLst>
              <a:ext uri="{FF2B5EF4-FFF2-40B4-BE49-F238E27FC236}">
                <a16:creationId xmlns:a16="http://schemas.microsoft.com/office/drawing/2014/main" id="{46F7A4DC-5C5D-42CB-A41B-A7FECCD17F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2686" y="3147870"/>
            <a:ext cx="7088161" cy="2753792"/>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Construction of a Homogeneous miRNA Network</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r>
              <a:rPr lang="en-US" altLang="zh-TW" dirty="0" err="1"/>
              <a:t>w</a:t>
            </a:r>
            <a:r>
              <a:rPr lang="en-US" altLang="zh-TW" baseline="-25000" dirty="0" err="1"/>
              <a:t>ij</a:t>
            </a:r>
            <a:r>
              <a:rPr lang="en-US" altLang="zh-TW" dirty="0"/>
              <a:t>  is weight of interaction between miRNA </a:t>
            </a:r>
            <a:r>
              <a:rPr lang="en-US" altLang="zh-TW" dirty="0" err="1"/>
              <a:t>i</a:t>
            </a:r>
            <a:r>
              <a:rPr lang="en-US" altLang="zh-TW" dirty="0"/>
              <a:t> and j.</a:t>
            </a:r>
          </a:p>
          <a:p>
            <a:r>
              <a:rPr lang="en-US" altLang="zh-TW" b="1" dirty="0"/>
              <a:t>min</a:t>
            </a:r>
            <a:r>
              <a:rPr lang="en-US" altLang="zh-TW" dirty="0"/>
              <a:t> and </a:t>
            </a:r>
            <a:r>
              <a:rPr lang="en-US" altLang="zh-TW" b="1" dirty="0"/>
              <a:t>max</a:t>
            </a:r>
            <a:r>
              <a:rPr lang="en-US" altLang="zh-TW" dirty="0"/>
              <a:t> are the smallest and largest values of interaction weights of each miRNA functional network.</a:t>
            </a:r>
            <a:endParaRPr lang="zh-TW" altLang="en-US" dirty="0"/>
          </a:p>
        </p:txBody>
      </p:sp>
      <p:pic>
        <p:nvPicPr>
          <p:cNvPr id="11" name="圖片 10" descr="一張含有 畫畫, 時鐘, 遊戲 的圖片&#10;&#10;自動產生的描述">
            <a:extLst>
              <a:ext uri="{FF2B5EF4-FFF2-40B4-BE49-F238E27FC236}">
                <a16:creationId xmlns:a16="http://schemas.microsoft.com/office/drawing/2014/main" id="{963C681A-8F98-4DEF-9CB7-C81E466335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5913" y="3018867"/>
            <a:ext cx="5003180" cy="2366369"/>
          </a:xfrm>
          <a:prstGeom prst="rect">
            <a:avLst/>
          </a:prstGeom>
        </p:spPr>
      </p:pic>
      <p:pic>
        <p:nvPicPr>
          <p:cNvPr id="13" name="圖片 12" descr="一張含有 物件, 時鐘, 儀錶 的圖片&#10;&#10;自動產生的描述">
            <a:extLst>
              <a:ext uri="{FF2B5EF4-FFF2-40B4-BE49-F238E27FC236}">
                <a16:creationId xmlns:a16="http://schemas.microsoft.com/office/drawing/2014/main" id="{7CF8C783-2C64-4B31-AADB-77542705CB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4635" y="3018867"/>
            <a:ext cx="2769646" cy="956991"/>
          </a:xfrm>
          <a:prstGeom prst="rect">
            <a:avLst/>
          </a:prstGeom>
        </p:spPr>
      </p:pic>
      <p:pic>
        <p:nvPicPr>
          <p:cNvPr id="15" name="圖片 14" descr="一張含有 物件, 時鐘 的圖片&#10;&#10;自動產生的描述">
            <a:extLst>
              <a:ext uri="{FF2B5EF4-FFF2-40B4-BE49-F238E27FC236}">
                <a16:creationId xmlns:a16="http://schemas.microsoft.com/office/drawing/2014/main" id="{E5419E23-E289-453C-8601-71FD4E9103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4040" y="4144004"/>
            <a:ext cx="2893490" cy="1362305"/>
          </a:xfrm>
          <a:prstGeom prst="rect">
            <a:avLst/>
          </a:prstGeom>
        </p:spPr>
      </p:pic>
    </p:spTree>
    <p:extLst>
      <p:ext uri="{BB962C8B-B14F-4D97-AF65-F5344CB8AC3E}">
        <p14:creationId xmlns:p14="http://schemas.microsoft.com/office/powerpoint/2010/main" val="1962186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33356" y="408510"/>
            <a:ext cx="10925288" cy="596550"/>
          </a:xfrm>
        </p:spPr>
        <p:txBody>
          <a:bodyPr>
            <a:noAutofit/>
          </a:bodyPr>
          <a:lstStyle/>
          <a:p>
            <a:r>
              <a:rPr lang="en-US" altLang="zh-TW" sz="3200" dirty="0">
                <a:latin typeface="Times New Roman" panose="02020603050405020304" pitchFamily="18" charset="0"/>
                <a:cs typeface="Times New Roman" panose="02020603050405020304" pitchFamily="18" charset="0"/>
              </a:rPr>
              <a:t>Construction of a Heterogeneous Network of Disease Phenotypes and MiRNAs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720762" y="1520414"/>
            <a:ext cx="10633038" cy="4929076"/>
          </a:xfrm>
        </p:spPr>
        <p:txBody>
          <a:bodyPr/>
          <a:lstStyle/>
          <a:p>
            <a:endParaRPr lang="zh-TW" altLang="en-US" dirty="0"/>
          </a:p>
        </p:txBody>
      </p:sp>
      <p:pic>
        <p:nvPicPr>
          <p:cNvPr id="6" name="圖片 5" descr="一張含有 文字 的圖片&#10;&#10;自動產生的描述">
            <a:extLst>
              <a:ext uri="{FF2B5EF4-FFF2-40B4-BE49-F238E27FC236}">
                <a16:creationId xmlns:a16="http://schemas.microsoft.com/office/drawing/2014/main" id="{5C49B594-E5BB-49DB-8861-29BC7B6A02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0236" y="1134540"/>
            <a:ext cx="5000625" cy="5314950"/>
          </a:xfrm>
          <a:prstGeom prst="rect">
            <a:avLst/>
          </a:prstGeom>
        </p:spPr>
      </p:pic>
      <p:pic>
        <p:nvPicPr>
          <p:cNvPr id="9" name="圖片 8" descr="一張含有 文字 的圖片&#10;&#10;自動產生的描述">
            <a:extLst>
              <a:ext uri="{FF2B5EF4-FFF2-40B4-BE49-F238E27FC236}">
                <a16:creationId xmlns:a16="http://schemas.microsoft.com/office/drawing/2014/main" id="{74576248-A78C-40A9-BE50-92D0325C63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762" y="1614683"/>
            <a:ext cx="6142110" cy="3937706"/>
          </a:xfrm>
          <a:prstGeom prst="rect">
            <a:avLst/>
          </a:prstGeom>
        </p:spPr>
      </p:pic>
    </p:spTree>
    <p:extLst>
      <p:ext uri="{BB962C8B-B14F-4D97-AF65-F5344CB8AC3E}">
        <p14:creationId xmlns:p14="http://schemas.microsoft.com/office/powerpoint/2010/main" val="1831549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33356" y="408510"/>
            <a:ext cx="10925288" cy="596550"/>
          </a:xfrm>
        </p:spPr>
        <p:txBody>
          <a:bodyPr>
            <a:noAutofit/>
          </a:bodyPr>
          <a:lstStyle/>
          <a:p>
            <a:r>
              <a:rPr lang="en-US" altLang="zh-TW" sz="3200" dirty="0">
                <a:latin typeface="Times New Roman" panose="02020603050405020304" pitchFamily="18" charset="0"/>
                <a:cs typeface="Times New Roman" panose="02020603050405020304" pitchFamily="18" charset="0"/>
              </a:rPr>
              <a:t>Construction of a Heterogeneous Network of Disease Phenotypes and MiRNAs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720762" y="1520414"/>
            <a:ext cx="10633038" cy="4929076"/>
          </a:xfrm>
        </p:spPr>
        <p:txBody>
          <a:bodyPr/>
          <a:lstStyle/>
          <a:p>
            <a:r>
              <a:rPr lang="en-US" altLang="zh-TW" dirty="0"/>
              <a:t>Example of concept expansion using the </a:t>
            </a:r>
            <a:r>
              <a:rPr lang="en-US" altLang="zh-TW" dirty="0" err="1"/>
              <a:t>MeSH</a:t>
            </a:r>
            <a:r>
              <a:rPr lang="en-US" altLang="zh-TW" dirty="0"/>
              <a:t> hierarchical structure. The concept ‘Photoreceptors’ (with </a:t>
            </a:r>
            <a:r>
              <a:rPr lang="en-US" altLang="zh-TW" dirty="0" err="1"/>
              <a:t>MeSH</a:t>
            </a:r>
            <a:r>
              <a:rPr lang="en-US" altLang="zh-TW" dirty="0"/>
              <a:t> descriptor: D010786) is found twice in an OMIM record. Expansion of this concept gives the hypernym ‘Retina’ (D012160). The relevance of the concept ‘Retina’ is derived from ‘Photoreceptors’ according to equation (1). ‘Retina’ has seven descendants or hyponyms, thus its relevance becomes 1/7 × 2 (for two times ‘Photoreceptors’). Similarly, Retina's hypernym ‘Eye’ (D005123) has 11 hyponyms, so that ‘Photoreceptors’ contributes 1/11 × 1/7 × 2 (=0.026) to the relevance of ‘Eye’. (Squared brackets indicate the </a:t>
            </a:r>
            <a:r>
              <a:rPr lang="en-US" altLang="zh-TW" dirty="0" err="1"/>
              <a:t>MeSH</a:t>
            </a:r>
            <a:r>
              <a:rPr lang="en-US" altLang="zh-TW" dirty="0"/>
              <a:t> tree position and a ‘+’ sign that there are more specific concepts underneath).</a:t>
            </a:r>
            <a:endParaRPr lang="zh-TW" altLang="en-US" dirty="0"/>
          </a:p>
        </p:txBody>
      </p:sp>
    </p:spTree>
    <p:extLst>
      <p:ext uri="{BB962C8B-B14F-4D97-AF65-F5344CB8AC3E}">
        <p14:creationId xmlns:p14="http://schemas.microsoft.com/office/powerpoint/2010/main" val="3037778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F843F6-EE57-48F9-BFE5-DDD702F8E535}"/>
              </a:ext>
            </a:extLst>
          </p:cNvPr>
          <p:cNvSpPr>
            <a:spLocks noGrp="1"/>
          </p:cNvSpPr>
          <p:nvPr>
            <p:ph type="title"/>
          </p:nvPr>
        </p:nvSpPr>
        <p:spPr>
          <a:xfrm>
            <a:off x="838200" y="365126"/>
            <a:ext cx="10690412" cy="1024404"/>
          </a:xfrm>
        </p:spPr>
        <p:txBody>
          <a:bodyPr>
            <a:normAutofit/>
          </a:bodyPr>
          <a:lstStyle/>
          <a:p>
            <a:r>
              <a:rPr lang="en-US" altLang="zh-TW" sz="3200" dirty="0">
                <a:latin typeface="Times New Roman" panose="02020603050405020304" pitchFamily="18" charset="0"/>
                <a:cs typeface="Times New Roman" panose="02020603050405020304" pitchFamily="18" charset="0"/>
              </a:rPr>
              <a:t>Random Walk with Restart on a Homogenous MiRNA Network</a:t>
            </a:r>
            <a:endParaRPr lang="zh-TW" altLang="en-US" sz="3200" dirty="0">
              <a:latin typeface="Times New Roman" panose="02020603050405020304" pitchFamily="18" charset="0"/>
              <a:cs typeface="Times New Roman" panose="02020603050405020304" pitchFamily="18" charset="0"/>
            </a:endParaRPr>
          </a:p>
        </p:txBody>
      </p:sp>
      <p:sp>
        <p:nvSpPr>
          <p:cNvPr id="9" name="內容版面配置區 8">
            <a:extLst>
              <a:ext uri="{FF2B5EF4-FFF2-40B4-BE49-F238E27FC236}">
                <a16:creationId xmlns:a16="http://schemas.microsoft.com/office/drawing/2014/main" id="{3036FC36-076A-4378-BF87-F8B3D7BF7873}"/>
              </a:ext>
            </a:extLst>
          </p:cNvPr>
          <p:cNvSpPr>
            <a:spLocks noGrp="1"/>
          </p:cNvSpPr>
          <p:nvPr>
            <p:ph idx="1"/>
          </p:nvPr>
        </p:nvSpPr>
        <p:spPr>
          <a:xfrm>
            <a:off x="838200" y="1389530"/>
            <a:ext cx="10515600" cy="4787433"/>
          </a:xfrm>
        </p:spPr>
        <p:txBody>
          <a:bodyPr/>
          <a:lstStyle/>
          <a:p>
            <a:r>
              <a:rPr lang="en-US" altLang="zh-TW" dirty="0"/>
              <a:t>The set of source nodes (S) was specified by miRNAs known to be associated with d</a:t>
            </a:r>
            <a:endParaRPr lang="zh-TW" altLang="en-US" dirty="0"/>
          </a:p>
        </p:txBody>
      </p:sp>
      <p:pic>
        <p:nvPicPr>
          <p:cNvPr id="12" name="圖片 11" descr="一張含有 物件, 時鐘 的圖片&#10;&#10;自動產生的描述">
            <a:extLst>
              <a:ext uri="{FF2B5EF4-FFF2-40B4-BE49-F238E27FC236}">
                <a16:creationId xmlns:a16="http://schemas.microsoft.com/office/drawing/2014/main" id="{B9E9BFAA-C051-4E1C-8D89-EA6D00332A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8681" y="4285522"/>
            <a:ext cx="4324157" cy="1756689"/>
          </a:xfrm>
          <a:prstGeom prst="rect">
            <a:avLst/>
          </a:prstGeom>
        </p:spPr>
      </p:pic>
      <p:pic>
        <p:nvPicPr>
          <p:cNvPr id="14" name="圖片 13" descr="一張含有 畫畫 的圖片&#10;&#10;自動產生的描述">
            <a:extLst>
              <a:ext uri="{FF2B5EF4-FFF2-40B4-BE49-F238E27FC236}">
                <a16:creationId xmlns:a16="http://schemas.microsoft.com/office/drawing/2014/main" id="{E96C7806-D0BC-414B-B9EC-7DEB9ED9F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1478" y="2845827"/>
            <a:ext cx="4813646" cy="1106586"/>
          </a:xfrm>
          <a:prstGeom prst="rect">
            <a:avLst/>
          </a:prstGeom>
        </p:spPr>
      </p:pic>
      <p:pic>
        <p:nvPicPr>
          <p:cNvPr id="16" name="圖片 15" descr="一張含有 刀 的圖片&#10;&#10;自動產生的描述">
            <a:extLst>
              <a:ext uri="{FF2B5EF4-FFF2-40B4-BE49-F238E27FC236}">
                <a16:creationId xmlns:a16="http://schemas.microsoft.com/office/drawing/2014/main" id="{C616EC34-531A-46D5-B268-9485F06168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8542" y="4285522"/>
            <a:ext cx="3830611" cy="1575205"/>
          </a:xfrm>
          <a:prstGeom prst="rect">
            <a:avLst/>
          </a:prstGeom>
        </p:spPr>
      </p:pic>
    </p:spTree>
    <p:extLst>
      <p:ext uri="{BB962C8B-B14F-4D97-AF65-F5344CB8AC3E}">
        <p14:creationId xmlns:p14="http://schemas.microsoft.com/office/powerpoint/2010/main" val="2048204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234245"/>
            <a:ext cx="10869706" cy="1047708"/>
          </a:xfrm>
        </p:spPr>
        <p:txBody>
          <a:bodyPr>
            <a:noAutofit/>
          </a:bodyPr>
          <a:lstStyle/>
          <a:p>
            <a:r>
              <a:rPr lang="en-US" altLang="zh-TW" sz="3200" dirty="0">
                <a:latin typeface="Times New Roman" panose="02020603050405020304" pitchFamily="18" charset="0"/>
                <a:cs typeface="Times New Roman" panose="02020603050405020304" pitchFamily="18" charset="0"/>
              </a:rPr>
              <a:t>Random Walk with Restart on a Heterogeneous MiRNA Network</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9" name="內容版面配置區 8">
            <a:extLst>
              <a:ext uri="{FF2B5EF4-FFF2-40B4-BE49-F238E27FC236}">
                <a16:creationId xmlns:a16="http://schemas.microsoft.com/office/drawing/2014/main" id="{905D25AF-56D7-4410-9414-52BE4D8E951B}"/>
              </a:ext>
            </a:extLst>
          </p:cNvPr>
          <p:cNvSpPr>
            <a:spLocks noGrp="1"/>
          </p:cNvSpPr>
          <p:nvPr>
            <p:ph idx="1"/>
          </p:nvPr>
        </p:nvSpPr>
        <p:spPr>
          <a:xfrm>
            <a:off x="838199" y="1536138"/>
            <a:ext cx="10661725" cy="4735570"/>
          </a:xfrm>
        </p:spPr>
        <p:txBody>
          <a:bodyPr/>
          <a:lstStyle/>
          <a:p>
            <a:endParaRPr lang="zh-TW" altLang="en-US" dirty="0"/>
          </a:p>
        </p:txBody>
      </p:sp>
      <p:pic>
        <p:nvPicPr>
          <p:cNvPr id="5" name="圖片 4" descr="一張含有 物件, 時鐘 的圖片&#10;&#10;自動產生的描述">
            <a:extLst>
              <a:ext uri="{FF2B5EF4-FFF2-40B4-BE49-F238E27FC236}">
                <a16:creationId xmlns:a16="http://schemas.microsoft.com/office/drawing/2014/main" id="{88545EDB-E832-458D-BA8F-6A544B1C5A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5819" y="4140103"/>
            <a:ext cx="3879296" cy="1592553"/>
          </a:xfrm>
          <a:prstGeom prst="rect">
            <a:avLst/>
          </a:prstGeom>
        </p:spPr>
      </p:pic>
      <p:pic>
        <p:nvPicPr>
          <p:cNvPr id="7" name="圖片 6" descr="一張含有 時鐘 的圖片&#10;&#10;自動產生的描述">
            <a:extLst>
              <a:ext uri="{FF2B5EF4-FFF2-40B4-BE49-F238E27FC236}">
                <a16:creationId xmlns:a16="http://schemas.microsoft.com/office/drawing/2014/main" id="{8CE0E3CC-7031-42C3-960A-C5BE82AD19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9477" y="1374801"/>
            <a:ext cx="3277879" cy="1446123"/>
          </a:xfrm>
          <a:prstGeom prst="rect">
            <a:avLst/>
          </a:prstGeom>
        </p:spPr>
      </p:pic>
      <p:pic>
        <p:nvPicPr>
          <p:cNvPr id="10" name="圖片 9" descr="一張含有 文字 的圖片&#10;&#10;自動產生的描述">
            <a:extLst>
              <a:ext uri="{FF2B5EF4-FFF2-40B4-BE49-F238E27FC236}">
                <a16:creationId xmlns:a16="http://schemas.microsoft.com/office/drawing/2014/main" id="{A85ABEE0-E5E1-44B2-8609-36FFE3029D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4324" y="2820924"/>
            <a:ext cx="5327435" cy="3596019"/>
          </a:xfrm>
          <a:prstGeom prst="rect">
            <a:avLst/>
          </a:prstGeom>
        </p:spPr>
      </p:pic>
    </p:spTree>
    <p:extLst>
      <p:ext uri="{BB962C8B-B14F-4D97-AF65-F5344CB8AC3E}">
        <p14:creationId xmlns:p14="http://schemas.microsoft.com/office/powerpoint/2010/main" val="954643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200" dirty="0">
                <a:latin typeface="Times New Roman" panose="02020603050405020304" pitchFamily="18" charset="0"/>
                <a:cs typeface="Times New Roman" panose="02020603050405020304" pitchFamily="18" charset="0"/>
              </a:rPr>
              <a:t>Results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10" name="內容版面配置區 9">
            <a:extLst>
              <a:ext uri="{FF2B5EF4-FFF2-40B4-BE49-F238E27FC236}">
                <a16:creationId xmlns:a16="http://schemas.microsoft.com/office/drawing/2014/main" id="{5F7F6B21-C69F-4EA7-88C0-9FC869CB6C8A}"/>
              </a:ext>
            </a:extLst>
          </p:cNvPr>
          <p:cNvSpPr>
            <a:spLocks noGrp="1"/>
          </p:cNvSpPr>
          <p:nvPr>
            <p:ph idx="1"/>
          </p:nvPr>
        </p:nvSpPr>
        <p:spPr/>
        <p:txBody>
          <a:bodyPr/>
          <a:lstStyle/>
          <a:p>
            <a:endParaRPr lang="zh-TW" altLang="en-US" dirty="0"/>
          </a:p>
        </p:txBody>
      </p:sp>
      <p:pic>
        <p:nvPicPr>
          <p:cNvPr id="6" name="圖片 5">
            <a:extLst>
              <a:ext uri="{FF2B5EF4-FFF2-40B4-BE49-F238E27FC236}">
                <a16:creationId xmlns:a16="http://schemas.microsoft.com/office/drawing/2014/main" id="{04E52B1F-F7E5-46A7-BB6B-15E7C03781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0397" y="1265572"/>
            <a:ext cx="7185212" cy="4721353"/>
          </a:xfrm>
          <a:prstGeom prst="rect">
            <a:avLst/>
          </a:prstGeom>
        </p:spPr>
      </p:pic>
    </p:spTree>
    <p:extLst>
      <p:ext uri="{BB962C8B-B14F-4D97-AF65-F5344CB8AC3E}">
        <p14:creationId xmlns:p14="http://schemas.microsoft.com/office/powerpoint/2010/main" val="4221497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200" dirty="0">
                <a:latin typeface="Times New Roman" panose="02020603050405020304" pitchFamily="18" charset="0"/>
                <a:cs typeface="Times New Roman" panose="02020603050405020304" pitchFamily="18" charset="0"/>
              </a:rPr>
              <a:t>Results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11</a:t>
            </a:fld>
            <a:endParaRPr lang="zh-TW" altLang="en-US"/>
          </a:p>
        </p:txBody>
      </p:sp>
      <p:pic>
        <p:nvPicPr>
          <p:cNvPr id="8" name="內容版面配置區 7" descr="一張含有 螢幕擷取畫面 的圖片&#10;&#10;自動產生的描述">
            <a:extLst>
              <a:ext uri="{FF2B5EF4-FFF2-40B4-BE49-F238E27FC236}">
                <a16:creationId xmlns:a16="http://schemas.microsoft.com/office/drawing/2014/main" id="{EDBA8774-F9A2-4B2C-A3C7-75DB2ADFD25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97258" y="1875487"/>
            <a:ext cx="7210425" cy="3543300"/>
          </a:xfrm>
        </p:spPr>
      </p:pic>
    </p:spTree>
    <p:extLst>
      <p:ext uri="{BB962C8B-B14F-4D97-AF65-F5344CB8AC3E}">
        <p14:creationId xmlns:p14="http://schemas.microsoft.com/office/powerpoint/2010/main" val="57630962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8118</TotalTime>
  <Words>651</Words>
  <Application>Microsoft Office PowerPoint</Application>
  <PresentationFormat>寬螢幕</PresentationFormat>
  <Paragraphs>45</Paragraphs>
  <Slides>11</Slides>
  <Notes>10</Notes>
  <HiddenSlides>1</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Arial</vt:lpstr>
      <vt:lpstr>Calibri</vt:lpstr>
      <vt:lpstr>Calibri Light</vt:lpstr>
      <vt:lpstr>Times New Roman</vt:lpstr>
      <vt:lpstr>Office 佈景主題</vt:lpstr>
      <vt:lpstr>Disease phenotype similarity improves the prediction of novel disease-associated microRNAs</vt:lpstr>
      <vt:lpstr>Abstract (1/2)</vt:lpstr>
      <vt:lpstr>Abstract (2/2)</vt:lpstr>
      <vt:lpstr>Construction of a Homogeneous miRNA Network</vt:lpstr>
      <vt:lpstr>Construction of a Homogeneous miRNA Network</vt:lpstr>
      <vt:lpstr>Construction of a Heterogeneous Network of Disease Phenotypes and MiRNAs</vt:lpstr>
      <vt:lpstr>Construction of a Heterogeneous Network of Disease Phenotypes and MiRNAs</vt:lpstr>
      <vt:lpstr>Random Walk with Restart on a Homogenous MiRNA Network</vt:lpstr>
      <vt:lpstr>Random Walk with Restart on a Heterogeneous MiRNA Network</vt:lpstr>
      <vt:lpstr>Results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M073040026</cp:lastModifiedBy>
  <cp:revision>1564</cp:revision>
  <dcterms:created xsi:type="dcterms:W3CDTF">2018-10-30T09:09:31Z</dcterms:created>
  <dcterms:modified xsi:type="dcterms:W3CDTF">2019-12-18T10:31:34Z</dcterms:modified>
</cp:coreProperties>
</file>