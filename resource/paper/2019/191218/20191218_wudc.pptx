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8" r:id="rId5"/>
    <p:sldId id="269" r:id="rId6"/>
    <p:sldId id="270" r:id="rId7"/>
    <p:sldId id="271" r:id="rId8"/>
    <p:sldId id="276" r:id="rId9"/>
    <p:sldId id="272" r:id="rId10"/>
    <p:sldId id="273" r:id="rId11"/>
    <p:sldId id="274" r:id="rId1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吳篤承" initials="吳篤承" lastIdx="1" clrIdx="0">
    <p:extLst>
      <p:ext uri="{19B8F6BF-5375-455C-9EA6-DF929625EA0E}">
        <p15:presenceInfo xmlns:p15="http://schemas.microsoft.com/office/powerpoint/2012/main" userId="吳篤承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中等深淺樣式 4 - 輔色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60" autoAdjust="0"/>
    <p:restoredTop sz="90867" autoAdjust="0"/>
  </p:normalViewPr>
  <p:slideViewPr>
    <p:cSldViewPr snapToGrid="0">
      <p:cViewPr varScale="1">
        <p:scale>
          <a:sx n="114" d="100"/>
          <a:sy n="114" d="100"/>
        </p:scale>
        <p:origin x="18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B85392-FD07-4F5A-B34E-BA69B7FEBBF7}" type="datetimeFigureOut">
              <a:rPr lang="zh-TW" altLang="en-US" smtClean="0"/>
              <a:t>2019/12/18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745C38-81A3-45D4-9959-4EF52C41C41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0424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745C38-81A3-45D4-9959-4EF52C41C41F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38194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BC481E-5F61-46D0-A7EB-4B78E26B7A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7ADD499-6C14-47C8-A9DB-F37A274DE0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5F44A6D-44A4-4AC5-A338-742D4C0C8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2019/12/18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AA9A011-8B20-4955-AB02-9C883200A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D080B5D-51A0-4CC6-B85E-EECDD9C7E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1324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791F4F-64C2-4448-AEA3-D8BAD00F9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9B64CD7-FFD4-4659-9A78-313C8279F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DB714A2-D640-4631-BD91-D40EA7B8E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2019/12/18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61BB7E8-FCCA-40E1-AF1F-1EC08D980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F37759F-4DEC-4AF9-AAF6-96479F6F8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6266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4AF7F4-DE89-4B56-ABEB-65BE6D95F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0726E6B-7A4E-46A3-888F-3ECB35C60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2DC7246-3967-4A8C-89BD-498BAD923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2019/12/18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8A016C2-FC45-4CB6-AE5C-B5A2929EC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0643CBF-BA29-45F4-B839-D048AC73E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0549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3084E2-FF74-41D8-B7FC-96287DBED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30DA591-3941-4641-B043-A7B6860269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58EE040-2A49-41BF-9734-4F1C3C128D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8EECCAB-4CA7-44B9-B7B8-DC7FF5103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2019/12/18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1F1834D-5465-453A-8482-4EA306D63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EDEEDDC-2E51-41D6-BBEE-C8A5AEE90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0628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891CDC-A371-490F-A9D6-C81ACFD42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A6414E1-9AA2-4412-BC87-8B794947A8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F8352C1-957A-43C9-A792-1F703940CD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3189CE18-112C-4840-B26C-362D7C230E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F7815674-7564-427E-B7B9-22E8C7F540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2891BEAE-F89E-4D1D-88D1-CE02EB287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2019/12/18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01E6835-0CA2-4E4B-AA2A-F90C8E504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AF7BAAA1-3B0C-467E-B178-590BB83B6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5285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DDB431-29CB-4FE4-9ADC-233E5E38B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B26AC26-EB83-4AB6-9E2F-C8457BF27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2019/12/18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A0D9A16-24C2-4ED2-BD1F-40A62B4B5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002A40A-1FF4-4F68-B9F8-CCFE6F0A6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3102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C7FE82F-7353-4EB6-B115-3F4F883AB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2019/12/18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B99597B-30C7-4D52-AD5F-C858CCF87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558E562-3645-444D-99EF-C224D8AC7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2500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5C8A51-2D2B-48E7-9226-50EB6A225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A09DA89-D924-4187-86BB-0DE7413CB9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A862BBB-0FF2-4F4D-A76D-1F88CE6159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DE41C95-2028-4108-B014-39C5648C7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2019/12/18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BD103DD-D7EC-4F8E-92E4-F3DF3C873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26E5469-9EC0-4784-86DB-CFF18B624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7051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BCCB00-EDDD-4021-BFA8-37AF232E0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0B62902F-3F9A-4799-B356-32DB2D43C0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41559B7-9AC4-469F-8F42-A7EAC56083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3C1A871-1FB1-426F-B468-F433644AC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2019/12/18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02851D3-4076-4BC5-9DED-D4BED17FE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E57C28A-8893-4984-9E48-FEAF55A07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4359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329808D-8B18-4D63-9A86-7E543A995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C65D312-39D6-45B8-A43D-EE4F531E6F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386A780-A433-4084-B504-8CA5C05D1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2019/12/18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C6AE278-5465-4135-8119-D4FFB673E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C2B663D-8C1E-4440-923C-9B28783B6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2910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0F0B3FC-BDB6-4C40-9E7A-DD251A121D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1B69DA4-DCBA-402E-B952-6FEF25C778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7B7CDCD-2B53-481E-994C-32B4B7592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2019/12/18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DFB1F8A-6E1A-49FD-88DC-360B7C266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6025657-A7D6-4D60-8308-3F54ECF10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6976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F27AA62-E1D3-4683-9BB1-A8FDBF764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E70A9A6-A017-41A2-86FB-D99634A987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DA99EE0-24C1-43B5-8CD7-D945550006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044C1A-2725-48AE-A699-EA8E8FEFF634}" type="datetimeFigureOut">
              <a:rPr lang="zh-TW" altLang="en-US" smtClean="0"/>
              <a:t>2019/12/18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FDC897C-57B6-471F-85EC-BDD367E81C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AE00D97-13C0-4E9B-84D0-9482705853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7869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0B6A882-00D3-47EF-9E00-5F5448FB3E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707609"/>
            <a:ext cx="9144000" cy="649317"/>
          </a:xfrm>
        </p:spPr>
        <p:txBody>
          <a:bodyPr>
            <a:no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space efficient algorithm for the longest common subsequence in k-length substrings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DA53B5D-3737-4D8B-A009-A9D02CAEE1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3003983"/>
            <a:ext cx="9144000" cy="425017"/>
          </a:xfrm>
        </p:spPr>
        <p:txBody>
          <a:bodyPr>
            <a:noAutofit/>
          </a:bodyPr>
          <a:lstStyle/>
          <a:p>
            <a:pPr lvl="1"/>
            <a:r>
              <a:rPr lang="it-IT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Daxin Zhu,Lei Wang, Tinran Wang and Xiaodong Wang</a:t>
            </a:r>
            <a:endParaRPr lang="pl-PL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F2527E8-BB8F-41FB-8AF1-03DCC96BC069}"/>
              </a:ext>
            </a:extLst>
          </p:cNvPr>
          <p:cNvSpPr txBox="1"/>
          <p:nvPr/>
        </p:nvSpPr>
        <p:spPr>
          <a:xfrm>
            <a:off x="1973602" y="3873343"/>
            <a:ext cx="824482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Theoretical Computer Science, Volume 687, 29 July 2017, Pages 79-92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6BC92671-3184-4146-A361-F82079153C2E}"/>
              </a:ext>
            </a:extLst>
          </p:cNvPr>
          <p:cNvSpPr txBox="1"/>
          <p:nvPr/>
        </p:nvSpPr>
        <p:spPr>
          <a:xfrm>
            <a:off x="8233491" y="5022042"/>
            <a:ext cx="32766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Du-Cheng Wu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2A0654C-2F84-4026-9FCF-04C8DF590D5F}"/>
              </a:ext>
            </a:extLst>
          </p:cNvPr>
          <p:cNvSpPr txBox="1"/>
          <p:nvPr/>
        </p:nvSpPr>
        <p:spPr>
          <a:xfrm>
            <a:off x="8856804" y="5483707"/>
            <a:ext cx="26532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Dec. 18, 2019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70499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39EF1E7-604C-4E09-A7D2-D4B34B0635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3782"/>
            <a:ext cx="10515600" cy="506084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space efficient algorithms to solve the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LCSk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problem and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LCSk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problem are presented in this paper. The algorithms improve the time and space complexities of the algorithms of Benson et al. [4]. The space cost of the first algorithm to solve the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LCSk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problem is reduced from O(n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to O(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if the size of the two input sequences are both n. The time and space costs of the second algorithm to solve the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LCSk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problem are both improved. The time cost is reduced from O(kn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to O(n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and the space cost is reduced from O(n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to O(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In the case of k = O(1), the two algorithms are both linear space algorithms.</a:t>
            </a:r>
          </a:p>
        </p:txBody>
      </p:sp>
    </p:spTree>
    <p:extLst>
      <p:ext uri="{BB962C8B-B14F-4D97-AF65-F5344CB8AC3E}">
        <p14:creationId xmlns:p14="http://schemas.microsoft.com/office/powerpoint/2010/main" val="1500703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LCSk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LCSk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id="{652F1AAC-13A7-4F2E-8939-B8B12448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2513"/>
            <a:ext cx="10515600" cy="504444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TW" dirty="0"/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ct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ct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cg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ctaacg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= 2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ctaacg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LCSk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ctcg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ctac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acac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accg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LCSk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actcg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3041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LCSk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LCSk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id="{652F1AAC-13A7-4F2E-8939-B8B12448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2513"/>
            <a:ext cx="10515600" cy="504444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TW" dirty="0"/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altLang="zh-TW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ct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gacact</a:t>
            </a:r>
            <a:r>
              <a:rPr lang="en-US" altLang="zh-TW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cg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ct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</a:t>
            </a:r>
            <a:r>
              <a:rPr lang="en-US" altLang="zh-TW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cg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= 2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ctaacg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LCSk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ctcg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ctac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acac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accg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LCSk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actcg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9454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LCSk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LCSk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id="{652F1AAC-13A7-4F2E-8939-B8B12448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2513"/>
            <a:ext cx="10515600" cy="504444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TW" dirty="0"/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ctgac</a:t>
            </a:r>
            <a:r>
              <a:rPr lang="en-US" altLang="zh-TW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</a:t>
            </a:r>
            <a:r>
              <a:rPr lang="en-US" altLang="zh-TW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cg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US" altLang="zh-TW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</a:t>
            </a:r>
            <a:r>
              <a:rPr lang="en-US" altLang="zh-TW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cg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= 2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ctaacg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LCSk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ctcg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ctac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acac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accg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LCSk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actcg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29087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LCSk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LCSk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id="{652F1AAC-13A7-4F2E-8939-B8B12448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2513"/>
            <a:ext cx="10515600" cy="504444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TW" dirty="0"/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C04BF5A3-357D-4530-B81B-BE5B58E0BE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1243105"/>
              </p:ext>
            </p:extLst>
          </p:nvPr>
        </p:nvGraphicFramePr>
        <p:xfrm>
          <a:off x="838200" y="1389380"/>
          <a:ext cx="4078800" cy="44500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53200">
                  <a:extLst>
                    <a:ext uri="{9D8B030D-6E8A-4147-A177-3AD203B41FA5}">
                      <a16:colId xmlns:a16="http://schemas.microsoft.com/office/drawing/2014/main" val="4271676942"/>
                    </a:ext>
                  </a:extLst>
                </a:gridCol>
                <a:gridCol w="453200">
                  <a:extLst>
                    <a:ext uri="{9D8B030D-6E8A-4147-A177-3AD203B41FA5}">
                      <a16:colId xmlns:a16="http://schemas.microsoft.com/office/drawing/2014/main" val="2054147446"/>
                    </a:ext>
                  </a:extLst>
                </a:gridCol>
                <a:gridCol w="453200">
                  <a:extLst>
                    <a:ext uri="{9D8B030D-6E8A-4147-A177-3AD203B41FA5}">
                      <a16:colId xmlns:a16="http://schemas.microsoft.com/office/drawing/2014/main" val="3579738766"/>
                    </a:ext>
                  </a:extLst>
                </a:gridCol>
                <a:gridCol w="453200">
                  <a:extLst>
                    <a:ext uri="{9D8B030D-6E8A-4147-A177-3AD203B41FA5}">
                      <a16:colId xmlns:a16="http://schemas.microsoft.com/office/drawing/2014/main" val="4036689953"/>
                    </a:ext>
                  </a:extLst>
                </a:gridCol>
                <a:gridCol w="453200">
                  <a:extLst>
                    <a:ext uri="{9D8B030D-6E8A-4147-A177-3AD203B41FA5}">
                      <a16:colId xmlns:a16="http://schemas.microsoft.com/office/drawing/2014/main" val="2464507505"/>
                    </a:ext>
                  </a:extLst>
                </a:gridCol>
                <a:gridCol w="453200">
                  <a:extLst>
                    <a:ext uri="{9D8B030D-6E8A-4147-A177-3AD203B41FA5}">
                      <a16:colId xmlns:a16="http://schemas.microsoft.com/office/drawing/2014/main" val="2841315442"/>
                    </a:ext>
                  </a:extLst>
                </a:gridCol>
                <a:gridCol w="453200">
                  <a:extLst>
                    <a:ext uri="{9D8B030D-6E8A-4147-A177-3AD203B41FA5}">
                      <a16:colId xmlns:a16="http://schemas.microsoft.com/office/drawing/2014/main" val="3767741423"/>
                    </a:ext>
                  </a:extLst>
                </a:gridCol>
                <a:gridCol w="453200">
                  <a:extLst>
                    <a:ext uri="{9D8B030D-6E8A-4147-A177-3AD203B41FA5}">
                      <a16:colId xmlns:a16="http://schemas.microsoft.com/office/drawing/2014/main" val="367129838"/>
                    </a:ext>
                  </a:extLst>
                </a:gridCol>
                <a:gridCol w="453200">
                  <a:extLst>
                    <a:ext uri="{9D8B030D-6E8A-4147-A177-3AD203B41FA5}">
                      <a16:colId xmlns:a16="http://schemas.microsoft.com/office/drawing/2014/main" val="30953297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66528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9807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22282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06108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4559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3522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709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140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0868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6691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41675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2697583"/>
                  </a:ext>
                </a:extLst>
              </a:tr>
            </a:tbl>
          </a:graphicData>
        </a:graphic>
      </p:graphicFrame>
      <p:sp>
        <p:nvSpPr>
          <p:cNvPr id="10" name="文字方塊 9">
            <a:extLst>
              <a:ext uri="{FF2B5EF4-FFF2-40B4-BE49-F238E27FC236}">
                <a16:creationId xmlns:a16="http://schemas.microsoft.com/office/drawing/2014/main" id="{5C40D3DD-5191-4618-94D6-A4F67925CE69}"/>
              </a:ext>
            </a:extLst>
          </p:cNvPr>
          <p:cNvSpPr txBox="1"/>
          <p:nvPr/>
        </p:nvSpPr>
        <p:spPr>
          <a:xfrm>
            <a:off x="1898010" y="5910608"/>
            <a:ext cx="20790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O(nm) space 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0F016FAF-78E9-4994-92A2-670A4F6B284B}"/>
              </a:ext>
            </a:extLst>
          </p:cNvPr>
          <p:cNvCxnSpPr/>
          <p:nvPr/>
        </p:nvCxnSpPr>
        <p:spPr>
          <a:xfrm>
            <a:off x="2097248" y="2041627"/>
            <a:ext cx="687897" cy="60090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B52DDC2F-09BC-4A86-8681-DB18E9B89933}"/>
              </a:ext>
            </a:extLst>
          </p:cNvPr>
          <p:cNvCxnSpPr/>
          <p:nvPr/>
        </p:nvCxnSpPr>
        <p:spPr>
          <a:xfrm>
            <a:off x="3415718" y="3128547"/>
            <a:ext cx="687897" cy="60090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16" name="表格 7">
            <a:extLst>
              <a:ext uri="{FF2B5EF4-FFF2-40B4-BE49-F238E27FC236}">
                <a16:creationId xmlns:a16="http://schemas.microsoft.com/office/drawing/2014/main" id="{B4F9A1DB-4780-4164-8EA8-2E2BECC619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9526286"/>
              </p:ext>
            </p:extLst>
          </p:nvPr>
        </p:nvGraphicFramePr>
        <p:xfrm>
          <a:off x="6015952" y="1389380"/>
          <a:ext cx="4078800" cy="44500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53200">
                  <a:extLst>
                    <a:ext uri="{9D8B030D-6E8A-4147-A177-3AD203B41FA5}">
                      <a16:colId xmlns:a16="http://schemas.microsoft.com/office/drawing/2014/main" val="4271676942"/>
                    </a:ext>
                  </a:extLst>
                </a:gridCol>
                <a:gridCol w="453200">
                  <a:extLst>
                    <a:ext uri="{9D8B030D-6E8A-4147-A177-3AD203B41FA5}">
                      <a16:colId xmlns:a16="http://schemas.microsoft.com/office/drawing/2014/main" val="2054147446"/>
                    </a:ext>
                  </a:extLst>
                </a:gridCol>
                <a:gridCol w="453200">
                  <a:extLst>
                    <a:ext uri="{9D8B030D-6E8A-4147-A177-3AD203B41FA5}">
                      <a16:colId xmlns:a16="http://schemas.microsoft.com/office/drawing/2014/main" val="3579738766"/>
                    </a:ext>
                  </a:extLst>
                </a:gridCol>
                <a:gridCol w="453200">
                  <a:extLst>
                    <a:ext uri="{9D8B030D-6E8A-4147-A177-3AD203B41FA5}">
                      <a16:colId xmlns:a16="http://schemas.microsoft.com/office/drawing/2014/main" val="4036689953"/>
                    </a:ext>
                  </a:extLst>
                </a:gridCol>
                <a:gridCol w="453200">
                  <a:extLst>
                    <a:ext uri="{9D8B030D-6E8A-4147-A177-3AD203B41FA5}">
                      <a16:colId xmlns:a16="http://schemas.microsoft.com/office/drawing/2014/main" val="2464507505"/>
                    </a:ext>
                  </a:extLst>
                </a:gridCol>
                <a:gridCol w="453200">
                  <a:extLst>
                    <a:ext uri="{9D8B030D-6E8A-4147-A177-3AD203B41FA5}">
                      <a16:colId xmlns:a16="http://schemas.microsoft.com/office/drawing/2014/main" val="2841315442"/>
                    </a:ext>
                  </a:extLst>
                </a:gridCol>
                <a:gridCol w="453200">
                  <a:extLst>
                    <a:ext uri="{9D8B030D-6E8A-4147-A177-3AD203B41FA5}">
                      <a16:colId xmlns:a16="http://schemas.microsoft.com/office/drawing/2014/main" val="3767741423"/>
                    </a:ext>
                  </a:extLst>
                </a:gridCol>
                <a:gridCol w="453200">
                  <a:extLst>
                    <a:ext uri="{9D8B030D-6E8A-4147-A177-3AD203B41FA5}">
                      <a16:colId xmlns:a16="http://schemas.microsoft.com/office/drawing/2014/main" val="367129838"/>
                    </a:ext>
                  </a:extLst>
                </a:gridCol>
                <a:gridCol w="453200">
                  <a:extLst>
                    <a:ext uri="{9D8B030D-6E8A-4147-A177-3AD203B41FA5}">
                      <a16:colId xmlns:a16="http://schemas.microsoft.com/office/drawing/2014/main" val="30953297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66528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9807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22282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06108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4559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3522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709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140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0868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6691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41675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2697583"/>
                  </a:ext>
                </a:extLst>
              </a:tr>
            </a:tbl>
          </a:graphicData>
        </a:graphic>
      </p:graphicFrame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AFDB20A1-4E72-4BB5-A266-0D8F6CB2C316}"/>
              </a:ext>
            </a:extLst>
          </p:cNvPr>
          <p:cNvCxnSpPr/>
          <p:nvPr/>
        </p:nvCxnSpPr>
        <p:spPr>
          <a:xfrm>
            <a:off x="7257875" y="2024849"/>
            <a:ext cx="687897" cy="60090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DCAC166C-0F58-4DC6-9CB8-BD9D634555C3}"/>
              </a:ext>
            </a:extLst>
          </p:cNvPr>
          <p:cNvCxnSpPr/>
          <p:nvPr/>
        </p:nvCxnSpPr>
        <p:spPr>
          <a:xfrm>
            <a:off x="8608503" y="3128546"/>
            <a:ext cx="687897" cy="60090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DF38FE77-BDAA-40E0-BA18-A4E9A7741140}"/>
              </a:ext>
            </a:extLst>
          </p:cNvPr>
          <p:cNvSpPr/>
          <p:nvPr/>
        </p:nvSpPr>
        <p:spPr>
          <a:xfrm>
            <a:off x="5603846" y="4001724"/>
            <a:ext cx="4900568" cy="183773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E209CE6-3C4F-4F31-9E81-FD7EFA363428}"/>
              </a:ext>
            </a:extLst>
          </p:cNvPr>
          <p:cNvSpPr/>
          <p:nvPr/>
        </p:nvSpPr>
        <p:spPr>
          <a:xfrm>
            <a:off x="5603846" y="1753299"/>
            <a:ext cx="4900568" cy="110297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1BD5BACB-3D24-48FA-8C94-1FC68175A1F8}"/>
              </a:ext>
            </a:extLst>
          </p:cNvPr>
          <p:cNvSpPr txBox="1"/>
          <p:nvPr/>
        </p:nvSpPr>
        <p:spPr>
          <a:xfrm>
            <a:off x="7257875" y="5910608"/>
            <a:ext cx="20790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kn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space 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0297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LCSk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LCSk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id="{652F1AAC-13A7-4F2E-8939-B8B12448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2513"/>
            <a:ext cx="10515600" cy="504444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7111ED4-8C8F-4A51-AEA9-BC015BD2ABAD}"/>
              </a:ext>
            </a:extLst>
          </p:cNvPr>
          <p:cNvSpPr/>
          <p:nvPr/>
        </p:nvSpPr>
        <p:spPr>
          <a:xfrm>
            <a:off x="1728132" y="1661019"/>
            <a:ext cx="6795083" cy="402672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5F7E27F-A4A3-4FD7-A0DD-4D7521650E0E}"/>
              </a:ext>
            </a:extLst>
          </p:cNvPr>
          <p:cNvSpPr/>
          <p:nvPr/>
        </p:nvSpPr>
        <p:spPr>
          <a:xfrm>
            <a:off x="1728131" y="2701254"/>
            <a:ext cx="6568581" cy="402672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98F611C-869C-4C58-B16C-339DA45648FC}"/>
              </a:ext>
            </a:extLst>
          </p:cNvPr>
          <p:cNvSpPr txBox="1"/>
          <p:nvPr/>
        </p:nvSpPr>
        <p:spPr>
          <a:xfrm>
            <a:off x="4135772" y="2108071"/>
            <a:ext cx="19798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match: 7</a:t>
            </a:r>
            <a:endParaRPr lang="zh-TW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箭號: 向下 8">
            <a:extLst>
              <a:ext uri="{FF2B5EF4-FFF2-40B4-BE49-F238E27FC236}">
                <a16:creationId xmlns:a16="http://schemas.microsoft.com/office/drawing/2014/main" id="{C40491B6-393E-481B-9890-9D9C7921A0DD}"/>
              </a:ext>
            </a:extLst>
          </p:cNvPr>
          <p:cNvSpPr/>
          <p:nvPr/>
        </p:nvSpPr>
        <p:spPr>
          <a:xfrm>
            <a:off x="4513278" y="3169464"/>
            <a:ext cx="335559" cy="93823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6842611-B7BC-44FD-B174-BD2AF4ED74EC}"/>
              </a:ext>
            </a:extLst>
          </p:cNvPr>
          <p:cNvSpPr/>
          <p:nvPr/>
        </p:nvSpPr>
        <p:spPr>
          <a:xfrm>
            <a:off x="1728132" y="4219541"/>
            <a:ext cx="6795083" cy="402672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E830BC4-7429-474B-808C-4448D93ED027}"/>
              </a:ext>
            </a:extLst>
          </p:cNvPr>
          <p:cNvSpPr/>
          <p:nvPr/>
        </p:nvSpPr>
        <p:spPr>
          <a:xfrm>
            <a:off x="1728131" y="5259776"/>
            <a:ext cx="6568581" cy="402672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8A027EF6-82EE-45AB-AE19-0A07917C907A}"/>
              </a:ext>
            </a:extLst>
          </p:cNvPr>
          <p:cNvSpPr txBox="1"/>
          <p:nvPr/>
        </p:nvSpPr>
        <p:spPr>
          <a:xfrm>
            <a:off x="2701256" y="4664026"/>
            <a:ext cx="19798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match: 4</a:t>
            </a:r>
            <a:endParaRPr lang="zh-TW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28583F3-41FE-4ED2-8A4E-80912F4E3756}"/>
              </a:ext>
            </a:extLst>
          </p:cNvPr>
          <p:cNvSpPr/>
          <p:nvPr/>
        </p:nvSpPr>
        <p:spPr>
          <a:xfrm>
            <a:off x="1728131" y="5259776"/>
            <a:ext cx="2860648" cy="4026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4A63A82-E721-488B-8A32-5F2D7C3756D4}"/>
              </a:ext>
            </a:extLst>
          </p:cNvPr>
          <p:cNvSpPr/>
          <p:nvPr/>
        </p:nvSpPr>
        <p:spPr>
          <a:xfrm>
            <a:off x="1728133" y="4219541"/>
            <a:ext cx="3296874" cy="4026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096AC844-3175-4DB6-BC5D-210CCD3A9222}"/>
              </a:ext>
            </a:extLst>
          </p:cNvPr>
          <p:cNvSpPr txBox="1"/>
          <p:nvPr/>
        </p:nvSpPr>
        <p:spPr>
          <a:xfrm>
            <a:off x="5531144" y="4663905"/>
            <a:ext cx="19798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match: 3</a:t>
            </a:r>
            <a:endParaRPr lang="zh-TW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789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LCSk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LCSk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id="{652F1AAC-13A7-4F2E-8939-B8B12448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2513"/>
            <a:ext cx="10515600" cy="504444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7111ED4-8C8F-4A51-AEA9-BC015BD2ABAD}"/>
              </a:ext>
            </a:extLst>
          </p:cNvPr>
          <p:cNvSpPr/>
          <p:nvPr/>
        </p:nvSpPr>
        <p:spPr>
          <a:xfrm>
            <a:off x="1728132" y="1661019"/>
            <a:ext cx="6795083" cy="402672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5F7E27F-A4A3-4FD7-A0DD-4D7521650E0E}"/>
              </a:ext>
            </a:extLst>
          </p:cNvPr>
          <p:cNvSpPr/>
          <p:nvPr/>
        </p:nvSpPr>
        <p:spPr>
          <a:xfrm>
            <a:off x="1728130" y="2197602"/>
            <a:ext cx="6568581" cy="402672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6842611-B7BC-44FD-B174-BD2AF4ED74EC}"/>
              </a:ext>
            </a:extLst>
          </p:cNvPr>
          <p:cNvSpPr/>
          <p:nvPr/>
        </p:nvSpPr>
        <p:spPr>
          <a:xfrm>
            <a:off x="1728130" y="3105186"/>
            <a:ext cx="6795085" cy="402672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E830BC4-7429-474B-808C-4448D93ED027}"/>
              </a:ext>
            </a:extLst>
          </p:cNvPr>
          <p:cNvSpPr/>
          <p:nvPr/>
        </p:nvSpPr>
        <p:spPr>
          <a:xfrm>
            <a:off x="1728129" y="3654737"/>
            <a:ext cx="6568581" cy="402672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28583F3-41FE-4ED2-8A4E-80912F4E3756}"/>
              </a:ext>
            </a:extLst>
          </p:cNvPr>
          <p:cNvSpPr/>
          <p:nvPr/>
        </p:nvSpPr>
        <p:spPr>
          <a:xfrm>
            <a:off x="1728129" y="3665363"/>
            <a:ext cx="6568579" cy="4026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4A63A82-E721-488B-8A32-5F2D7C3756D4}"/>
              </a:ext>
            </a:extLst>
          </p:cNvPr>
          <p:cNvSpPr/>
          <p:nvPr/>
        </p:nvSpPr>
        <p:spPr>
          <a:xfrm>
            <a:off x="1728132" y="3105186"/>
            <a:ext cx="3296874" cy="4026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9A82FB7-980B-4EE7-971A-90C70FF8ABA9}"/>
              </a:ext>
            </a:extLst>
          </p:cNvPr>
          <p:cNvSpPr/>
          <p:nvPr/>
        </p:nvSpPr>
        <p:spPr>
          <a:xfrm>
            <a:off x="1728129" y="4742843"/>
            <a:ext cx="6795085" cy="402672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5CF28A8-068A-4637-9F64-F453C0A17F31}"/>
              </a:ext>
            </a:extLst>
          </p:cNvPr>
          <p:cNvSpPr/>
          <p:nvPr/>
        </p:nvSpPr>
        <p:spPr>
          <a:xfrm>
            <a:off x="1728128" y="5292394"/>
            <a:ext cx="6568581" cy="402672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B93CECE-2315-4581-ADBA-3121BB9F1EBA}"/>
              </a:ext>
            </a:extLst>
          </p:cNvPr>
          <p:cNvSpPr/>
          <p:nvPr/>
        </p:nvSpPr>
        <p:spPr>
          <a:xfrm>
            <a:off x="1728128" y="5303020"/>
            <a:ext cx="6568579" cy="4026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A0C0695-769E-4309-84E4-5B4472A09DFC}"/>
              </a:ext>
            </a:extLst>
          </p:cNvPr>
          <p:cNvSpPr/>
          <p:nvPr/>
        </p:nvSpPr>
        <p:spPr>
          <a:xfrm>
            <a:off x="4546833" y="4742843"/>
            <a:ext cx="3976381" cy="4026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D253AE0-830C-4777-9294-47E8EBBD28A3}"/>
              </a:ext>
            </a:extLst>
          </p:cNvPr>
          <p:cNvSpPr txBox="1"/>
          <p:nvPr/>
        </p:nvSpPr>
        <p:spPr>
          <a:xfrm>
            <a:off x="1728128" y="1258349"/>
            <a:ext cx="6979644" cy="3695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                                     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(i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–i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+ 1+ k) / 2                           i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箭號: 向下 31">
            <a:extLst>
              <a:ext uri="{FF2B5EF4-FFF2-40B4-BE49-F238E27FC236}">
                <a16:creationId xmlns:a16="http://schemas.microsoft.com/office/drawing/2014/main" id="{C17B751C-D51B-405A-835D-3A243E15B06F}"/>
              </a:ext>
            </a:extLst>
          </p:cNvPr>
          <p:cNvSpPr/>
          <p:nvPr/>
        </p:nvSpPr>
        <p:spPr>
          <a:xfrm>
            <a:off x="4974666" y="1249950"/>
            <a:ext cx="75501" cy="35426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箭號: 向下 32">
            <a:extLst>
              <a:ext uri="{FF2B5EF4-FFF2-40B4-BE49-F238E27FC236}">
                <a16:creationId xmlns:a16="http://schemas.microsoft.com/office/drawing/2014/main" id="{6C0A4265-F5E1-4EAE-AC89-894448C2EEE4}"/>
              </a:ext>
            </a:extLst>
          </p:cNvPr>
          <p:cNvSpPr/>
          <p:nvPr/>
        </p:nvSpPr>
        <p:spPr>
          <a:xfrm>
            <a:off x="4974666" y="2707484"/>
            <a:ext cx="75501" cy="35426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A6C27B19-C39B-4038-AFDD-A96EC8459B9C}"/>
              </a:ext>
            </a:extLst>
          </p:cNvPr>
          <p:cNvSpPr txBox="1"/>
          <p:nvPr/>
        </p:nvSpPr>
        <p:spPr>
          <a:xfrm>
            <a:off x="1728128" y="2713952"/>
            <a:ext cx="6979644" cy="3695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                                     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(i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–i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+ 1+ k) / 2                           i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F33F44D3-B052-40D6-9EE3-AFE3A412D53C}"/>
              </a:ext>
            </a:extLst>
          </p:cNvPr>
          <p:cNvSpPr txBox="1"/>
          <p:nvPr/>
        </p:nvSpPr>
        <p:spPr>
          <a:xfrm>
            <a:off x="1728128" y="4373329"/>
            <a:ext cx="6979644" cy="3695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                                     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(i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–i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+ 1+ k) / 2                           i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箭號: 向下 35">
            <a:extLst>
              <a:ext uri="{FF2B5EF4-FFF2-40B4-BE49-F238E27FC236}">
                <a16:creationId xmlns:a16="http://schemas.microsoft.com/office/drawing/2014/main" id="{E6806613-532D-4279-B204-2894671D4A8D}"/>
              </a:ext>
            </a:extLst>
          </p:cNvPr>
          <p:cNvSpPr/>
          <p:nvPr/>
        </p:nvSpPr>
        <p:spPr>
          <a:xfrm>
            <a:off x="4949505" y="4355418"/>
            <a:ext cx="75501" cy="35426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376C9115-9BE6-4A61-9018-3198AC5D4387}"/>
              </a:ext>
            </a:extLst>
          </p:cNvPr>
          <p:cNvCxnSpPr>
            <a:cxnSpLocks/>
          </p:cNvCxnSpPr>
          <p:nvPr/>
        </p:nvCxnSpPr>
        <p:spPr>
          <a:xfrm>
            <a:off x="4546833" y="4532549"/>
            <a:ext cx="402672" cy="0"/>
          </a:xfrm>
          <a:prstGeom prst="straightConnector1">
            <a:avLst/>
          </a:prstGeom>
          <a:ln w="1905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4BAD4D72-1095-47F5-9A0C-15BD1D939419}"/>
              </a:ext>
            </a:extLst>
          </p:cNvPr>
          <p:cNvSpPr txBox="1"/>
          <p:nvPr/>
        </p:nvSpPr>
        <p:spPr>
          <a:xfrm>
            <a:off x="4609745" y="4220864"/>
            <a:ext cx="402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k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200717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LCSk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LCSk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id="{652F1AAC-13A7-4F2E-8939-B8B12448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2513"/>
            <a:ext cx="10515600" cy="504444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7111ED4-8C8F-4A51-AEA9-BC015BD2ABAD}"/>
              </a:ext>
            </a:extLst>
          </p:cNvPr>
          <p:cNvSpPr/>
          <p:nvPr/>
        </p:nvSpPr>
        <p:spPr>
          <a:xfrm>
            <a:off x="1728132" y="1661019"/>
            <a:ext cx="6795083" cy="402672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5F7E27F-A4A3-4FD7-A0DD-4D7521650E0E}"/>
              </a:ext>
            </a:extLst>
          </p:cNvPr>
          <p:cNvSpPr/>
          <p:nvPr/>
        </p:nvSpPr>
        <p:spPr>
          <a:xfrm>
            <a:off x="1728130" y="2197602"/>
            <a:ext cx="6568581" cy="402672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6842611-B7BC-44FD-B174-BD2AF4ED74EC}"/>
              </a:ext>
            </a:extLst>
          </p:cNvPr>
          <p:cNvSpPr/>
          <p:nvPr/>
        </p:nvSpPr>
        <p:spPr>
          <a:xfrm>
            <a:off x="5100506" y="3105186"/>
            <a:ext cx="3422709" cy="402672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E830BC4-7429-474B-808C-4448D93ED027}"/>
              </a:ext>
            </a:extLst>
          </p:cNvPr>
          <p:cNvSpPr/>
          <p:nvPr/>
        </p:nvSpPr>
        <p:spPr>
          <a:xfrm>
            <a:off x="4664279" y="3654737"/>
            <a:ext cx="3632431" cy="402672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28583F3-41FE-4ED2-8A4E-80912F4E3756}"/>
              </a:ext>
            </a:extLst>
          </p:cNvPr>
          <p:cNvSpPr/>
          <p:nvPr/>
        </p:nvSpPr>
        <p:spPr>
          <a:xfrm>
            <a:off x="1728130" y="3665363"/>
            <a:ext cx="2860648" cy="4026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4A63A82-E721-488B-8A32-5F2D7C3756D4}"/>
              </a:ext>
            </a:extLst>
          </p:cNvPr>
          <p:cNvSpPr/>
          <p:nvPr/>
        </p:nvSpPr>
        <p:spPr>
          <a:xfrm>
            <a:off x="1728132" y="3105186"/>
            <a:ext cx="3296874" cy="4026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140549E-F3D3-4AB8-818E-D1C3DA8C4B06}"/>
              </a:ext>
            </a:extLst>
          </p:cNvPr>
          <p:cNvSpPr/>
          <p:nvPr/>
        </p:nvSpPr>
        <p:spPr>
          <a:xfrm>
            <a:off x="5083729" y="4719826"/>
            <a:ext cx="1484851" cy="402672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4DA35EF-C923-4C43-8FD5-224525C6CAD2}"/>
              </a:ext>
            </a:extLst>
          </p:cNvPr>
          <p:cNvSpPr/>
          <p:nvPr/>
        </p:nvSpPr>
        <p:spPr>
          <a:xfrm>
            <a:off x="4664279" y="5269377"/>
            <a:ext cx="1577129" cy="402672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76AD044-8E42-4FE7-BCB3-D7B2314E9C0A}"/>
              </a:ext>
            </a:extLst>
          </p:cNvPr>
          <p:cNvSpPr/>
          <p:nvPr/>
        </p:nvSpPr>
        <p:spPr>
          <a:xfrm>
            <a:off x="3263316" y="5280003"/>
            <a:ext cx="1325461" cy="4026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985ECF1-0481-4FFF-8750-A6BBED3B1001}"/>
              </a:ext>
            </a:extLst>
          </p:cNvPr>
          <p:cNvSpPr/>
          <p:nvPr/>
        </p:nvSpPr>
        <p:spPr>
          <a:xfrm>
            <a:off x="3322040" y="4719826"/>
            <a:ext cx="1702966" cy="4026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D1E17ED-D098-46CD-A691-A550634B6C1F}"/>
              </a:ext>
            </a:extLst>
          </p:cNvPr>
          <p:cNvSpPr/>
          <p:nvPr/>
        </p:nvSpPr>
        <p:spPr>
          <a:xfrm>
            <a:off x="1728132" y="4730452"/>
            <a:ext cx="1535185" cy="4026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5019F89-003F-4BF4-AC90-9E720A0056F6}"/>
              </a:ext>
            </a:extLst>
          </p:cNvPr>
          <p:cNvSpPr/>
          <p:nvPr/>
        </p:nvSpPr>
        <p:spPr>
          <a:xfrm>
            <a:off x="1728130" y="5280003"/>
            <a:ext cx="1459687" cy="4026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D4C0DEE-D8C3-4503-B634-752223A94936}"/>
              </a:ext>
            </a:extLst>
          </p:cNvPr>
          <p:cNvSpPr/>
          <p:nvPr/>
        </p:nvSpPr>
        <p:spPr>
          <a:xfrm>
            <a:off x="6627303" y="4721125"/>
            <a:ext cx="1879134" cy="40267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85D65B7-1949-4B9A-A0A7-B75A0EA307E2}"/>
              </a:ext>
            </a:extLst>
          </p:cNvPr>
          <p:cNvSpPr/>
          <p:nvPr/>
        </p:nvSpPr>
        <p:spPr>
          <a:xfrm>
            <a:off x="6316910" y="5263574"/>
            <a:ext cx="1979800" cy="40267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箭號: 向下 2">
            <a:extLst>
              <a:ext uri="{FF2B5EF4-FFF2-40B4-BE49-F238E27FC236}">
                <a16:creationId xmlns:a16="http://schemas.microsoft.com/office/drawing/2014/main" id="{D471BCC4-2C5E-46D2-9045-2771C8C50D44}"/>
              </a:ext>
            </a:extLst>
          </p:cNvPr>
          <p:cNvSpPr/>
          <p:nvPr/>
        </p:nvSpPr>
        <p:spPr>
          <a:xfrm>
            <a:off x="4588777" y="2659310"/>
            <a:ext cx="184559" cy="35426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箭號: 向下 29">
            <a:extLst>
              <a:ext uri="{FF2B5EF4-FFF2-40B4-BE49-F238E27FC236}">
                <a16:creationId xmlns:a16="http://schemas.microsoft.com/office/drawing/2014/main" id="{321F047C-251C-4902-A833-BD660D6B53A1}"/>
              </a:ext>
            </a:extLst>
          </p:cNvPr>
          <p:cNvSpPr/>
          <p:nvPr/>
        </p:nvSpPr>
        <p:spPr>
          <a:xfrm>
            <a:off x="3204594" y="4222112"/>
            <a:ext cx="184559" cy="35426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箭號: 向下 30">
            <a:extLst>
              <a:ext uri="{FF2B5EF4-FFF2-40B4-BE49-F238E27FC236}">
                <a16:creationId xmlns:a16="http://schemas.microsoft.com/office/drawing/2014/main" id="{76F59A2B-523F-4147-9049-01238AEA7EB3}"/>
              </a:ext>
            </a:extLst>
          </p:cNvPr>
          <p:cNvSpPr/>
          <p:nvPr/>
        </p:nvSpPr>
        <p:spPr>
          <a:xfrm>
            <a:off x="6384021" y="4211486"/>
            <a:ext cx="184559" cy="35426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DAF4E0A-4D39-4403-A9E8-E8EF0BEF1DCE}"/>
              </a:ext>
            </a:extLst>
          </p:cNvPr>
          <p:cNvSpPr txBox="1"/>
          <p:nvPr/>
        </p:nvSpPr>
        <p:spPr>
          <a:xfrm>
            <a:off x="1652629" y="5820324"/>
            <a:ext cx="66440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最後在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數量為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的時候輸出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substring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25137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LCSk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LCSk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id="{652F1AAC-13A7-4F2E-8939-B8B12448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2513"/>
            <a:ext cx="10515600" cy="504444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TW" dirty="0"/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4A90073-9354-45BB-BBF1-C354F1CB41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927289"/>
            <a:ext cx="5334000" cy="3476625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5D81B867-7DFF-492F-BB8E-E111A80837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916803"/>
            <a:ext cx="5752452" cy="3874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557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LCSk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LCSk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id="{652F1AAC-13A7-4F2E-8939-B8B12448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2513"/>
            <a:ext cx="10515600" cy="504444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TW" dirty="0"/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2439821-5A98-4D10-A50F-6B53279F4D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877436"/>
            <a:ext cx="8201025" cy="142875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6131FAB9-626D-48EA-B968-FF7FDEFFD3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306186"/>
            <a:ext cx="8974261" cy="2597153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BEA16AA6-3699-4A8A-BED5-C5000F6AD4A2}"/>
              </a:ext>
            </a:extLst>
          </p:cNvPr>
          <p:cNvSpPr txBox="1"/>
          <p:nvPr/>
        </p:nvSpPr>
        <p:spPr>
          <a:xfrm>
            <a:off x="838200" y="5246015"/>
            <a:ext cx="77317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complexity: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mn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 complexity: O(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kn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978081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4144</TotalTime>
  <Words>638</Words>
  <Application>Microsoft Office PowerPoint</Application>
  <PresentationFormat>寬螢幕</PresentationFormat>
  <Paragraphs>294</Paragraphs>
  <Slides>11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Office 佈景主題</vt:lpstr>
      <vt:lpstr>A space efficient algorithm for the longest common subsequence in k-length substrings</vt:lpstr>
      <vt:lpstr>Abstract</vt:lpstr>
      <vt:lpstr>LCSk, LCSk+</vt:lpstr>
      <vt:lpstr>LCSk, LCSk+</vt:lpstr>
      <vt:lpstr>LCSk, LCSk+</vt:lpstr>
      <vt:lpstr>LCSk, LCSk+</vt:lpstr>
      <vt:lpstr>LCSk, LCSk+</vt:lpstr>
      <vt:lpstr>LCSk, LCSk+</vt:lpstr>
      <vt:lpstr>LCSk, LCSk+</vt:lpstr>
      <vt:lpstr>LCSk, LCSk+</vt:lpstr>
      <vt:lpstr>LCSk, LCSk+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model and algorithm for sequence alignment</dc:title>
  <dc:creator>吳篤承</dc:creator>
  <cp:lastModifiedBy>tu cheng</cp:lastModifiedBy>
  <cp:revision>271</cp:revision>
  <dcterms:created xsi:type="dcterms:W3CDTF">2018-09-30T05:00:05Z</dcterms:created>
  <dcterms:modified xsi:type="dcterms:W3CDTF">2019-12-18T10:21:41Z</dcterms:modified>
</cp:coreProperties>
</file>