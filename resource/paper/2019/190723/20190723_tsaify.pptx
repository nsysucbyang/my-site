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311" r:id="rId3"/>
    <p:sldId id="312" r:id="rId4"/>
    <p:sldId id="322" r:id="rId5"/>
    <p:sldId id="333" r:id="rId6"/>
    <p:sldId id="323" r:id="rId7"/>
    <p:sldId id="324" r:id="rId8"/>
    <p:sldId id="326" r:id="rId9"/>
    <p:sldId id="334" r:id="rId10"/>
    <p:sldId id="327" r:id="rId11"/>
    <p:sldId id="330" r:id="rId12"/>
    <p:sldId id="335" r:id="rId13"/>
    <p:sldId id="336" r:id="rId14"/>
    <p:sldId id="33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9" autoAdjust="0"/>
    <p:restoredTop sz="93971" autoAdjust="0"/>
  </p:normalViewPr>
  <p:slideViewPr>
    <p:cSldViewPr snapToGrid="0">
      <p:cViewPr varScale="1">
        <p:scale>
          <a:sx n="64" d="100"/>
          <a:sy n="64" d="100"/>
        </p:scale>
        <p:origin x="1376" y="5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2019/7/23</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4250931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9C7AB3-817F-4540-A6FA-DB159EFB553B}" type="slidenum">
              <a:rPr lang="en-US" altLang="zh-TW"/>
              <a:pPr/>
              <a:t>6</a:t>
            </a:fld>
            <a:endParaRPr lang="en-US" altLang="zh-TW"/>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p:txBody>
          <a:bodyPr/>
          <a:lstStyle/>
          <a:p>
            <a:r>
              <a:rPr lang="en-US" altLang="zh-TW" dirty="0"/>
              <a:t>Give an example of valid and invalid alignments here (draw pictures)</a:t>
            </a:r>
          </a:p>
        </p:txBody>
      </p:sp>
    </p:spTree>
    <p:extLst>
      <p:ext uri="{BB962C8B-B14F-4D97-AF65-F5344CB8AC3E}">
        <p14:creationId xmlns:p14="http://schemas.microsoft.com/office/powerpoint/2010/main" val="3123590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B2FD5A9-AA22-40C2-88DE-BC3C2E5D5B81}" type="slidenum">
              <a:rPr lang="en-US" altLang="zh-TW" smtClean="0"/>
              <a:pPr/>
              <a:t>7</a:t>
            </a:fld>
            <a:endParaRPr lang="en-US" altLang="zh-TW"/>
          </a:p>
        </p:txBody>
      </p:sp>
    </p:spTree>
    <p:extLst>
      <p:ext uri="{BB962C8B-B14F-4D97-AF65-F5344CB8AC3E}">
        <p14:creationId xmlns:p14="http://schemas.microsoft.com/office/powerpoint/2010/main" val="3687025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DB803A-8333-465A-AE2B-9D2C68186C7C}" type="slidenum">
              <a:rPr lang="en-US" altLang="zh-TW"/>
              <a:pPr/>
              <a:t>8</a:t>
            </a:fld>
            <a:endParaRPr lang="en-US" altLang="zh-TW"/>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altLang="zh-TW" dirty="0"/>
          </a:p>
        </p:txBody>
      </p:sp>
    </p:spTree>
    <p:extLst>
      <p:ext uri="{BB962C8B-B14F-4D97-AF65-F5344CB8AC3E}">
        <p14:creationId xmlns:p14="http://schemas.microsoft.com/office/powerpoint/2010/main" val="3899389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1CPC</a:t>
            </a:r>
            <a:r>
              <a:rPr lang="zh-TW" altLang="en-US" dirty="0" smtClean="0"/>
              <a:t>藻藍蛋白</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1COL</a:t>
            </a:r>
            <a:r>
              <a:rPr lang="zh-TW" altLang="en-US" dirty="0" smtClean="0"/>
              <a:t>大腸桿菌</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426521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1CPC</a:t>
            </a:r>
            <a:r>
              <a:rPr lang="zh-TW" altLang="en-US" dirty="0" smtClean="0"/>
              <a:t>藻藍蛋白</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1COL</a:t>
            </a:r>
            <a:r>
              <a:rPr lang="zh-TW" altLang="en-US" dirty="0" smtClean="0"/>
              <a:t>大腸桿菌</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3878407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1CPC</a:t>
            </a:r>
            <a:r>
              <a:rPr lang="zh-TW" altLang="en-US" dirty="0" smtClean="0"/>
              <a:t>藻藍蛋白</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1COL</a:t>
            </a:r>
            <a:r>
              <a:rPr lang="zh-TW" altLang="en-US" dirty="0" smtClean="0"/>
              <a:t>大腸桿菌</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3620379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2019/7/23</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50" y="1538969"/>
            <a:ext cx="8348184" cy="877881"/>
          </a:xfrm>
        </p:spPr>
        <p:txBody>
          <a:bodyPr>
            <a:noAutofit/>
          </a:bodyPr>
          <a:lstStyle/>
          <a:p>
            <a:r>
              <a:rPr lang="en-US" altLang="zh-TW" sz="4000" dirty="0">
                <a:latin typeface="Times New Roman" panose="02020603050405020304" pitchFamily="18" charset="0"/>
                <a:cs typeface="Times New Roman" panose="02020603050405020304" pitchFamily="18" charset="0"/>
              </a:rPr>
              <a:t>Protein Structure Alignment by Incremental Combinatorial Extension (CE) of the Optimal Path</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30149" y="2900196"/>
            <a:ext cx="8536249" cy="717223"/>
          </a:xfrm>
        </p:spPr>
        <p:txBody>
          <a:bodyPr>
            <a:noAutofit/>
          </a:bodyPr>
          <a:lstStyle/>
          <a:p>
            <a:r>
              <a:rPr lang="en-US" altLang="zh-TW" sz="2800" dirty="0" smtClean="0">
                <a:latin typeface="Times New Roman" panose="02020603050405020304" pitchFamily="18" charset="0"/>
                <a:cs typeface="Times New Roman" panose="02020603050405020304" pitchFamily="18" charset="0"/>
              </a:rPr>
              <a:t>Ilya </a:t>
            </a:r>
            <a:r>
              <a:rPr lang="en-US" altLang="zh-TW" sz="2800" dirty="0">
                <a:latin typeface="Times New Roman" panose="02020603050405020304" pitchFamily="18" charset="0"/>
                <a:cs typeface="Times New Roman" panose="02020603050405020304" pitchFamily="18" charset="0"/>
              </a:rPr>
              <a:t>N. </a:t>
            </a:r>
            <a:r>
              <a:rPr lang="en-US" altLang="zh-TW" sz="2800" dirty="0" err="1">
                <a:latin typeface="Times New Roman" panose="02020603050405020304" pitchFamily="18" charset="0"/>
                <a:cs typeface="Times New Roman" panose="02020603050405020304" pitchFamily="18" charset="0"/>
              </a:rPr>
              <a:t>Shindyalov</a:t>
            </a:r>
            <a:r>
              <a:rPr lang="en-US" altLang="zh-TW" sz="2800" dirty="0">
                <a:latin typeface="Times New Roman" panose="02020603050405020304" pitchFamily="18" charset="0"/>
                <a:cs typeface="Times New Roman" panose="02020603050405020304" pitchFamily="18" charset="0"/>
              </a:rPr>
              <a:t>, Philip E. Bourne</a:t>
            </a: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err="1" smtClean="0">
                <a:latin typeface="Times New Roman" panose="02020603050405020304" pitchFamily="18" charset="0"/>
                <a:ea typeface="標楷體" panose="03000509000000000000" pitchFamily="65" charset="-120"/>
                <a:cs typeface="Times New Roman" panose="02020603050405020304" pitchFamily="18" charset="0"/>
              </a:rPr>
              <a:t>Date:Jul</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23,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7" y="3922940"/>
            <a:ext cx="7622889" cy="461665"/>
          </a:xfrm>
          <a:prstGeom prst="rect">
            <a:avLst/>
          </a:prstGeom>
        </p:spPr>
        <p:txBody>
          <a:bodyPr wrap="square">
            <a:spAutoFit/>
          </a:bodyPr>
          <a:lstStyle/>
          <a:p>
            <a:pPr algn="ctr"/>
            <a:r>
              <a:rPr lang="nl-NL" altLang="zh-TW" sz="2400" dirty="0">
                <a:latin typeface="Times New Roman" panose="02020603050405020304" pitchFamily="18" charset="0"/>
                <a:ea typeface="Tahoma" panose="020B0604030504040204" pitchFamily="34" charset="0"/>
                <a:cs typeface="Times New Roman" panose="02020603050405020304" pitchFamily="18" charset="0"/>
              </a:rPr>
              <a:t>Protein Engineering vol.11 no.9 pp.739–747, 1998</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08865"/>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A new algorithm is reported which builds an alignment between two protein structures. The algorithm involves a combinatorial extension (CE) of an alignment path deﬁned by aligned fragment pairs (AFPs) rather than the more conventional techniques using dynamic programming and Monte Carlo optimization. AFPs, as the name suggests, are pairs of fragments, one from each protein, which confer structure similarity. AFPs are based on local geometry, rather than global features such as orientation of secondary structures and overall topology. Combinations of AFPs that represent possible continuous alignment paths are selectively extended or discarded thereby leading to a single optimal alignment.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290897"/>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25359" y="1026633"/>
            <a:ext cx="8626301"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The algorithm is fast and accurate in ﬁnding an optimal structure alignment and hence suitable for database scanning and detailed analysis of large protein families. The method has been tested and compared with results from Dali and VAST using a representative sample of similar structures. Several new structural similarities not detected by these other methods are reported</a:t>
            </a:r>
            <a:r>
              <a:rPr lang="en-US" altLang="zh-TW" dirty="0" smtClean="0">
                <a:latin typeface="Times New Roman" panose="02020603050405020304" pitchFamily="18" charset="0"/>
                <a:cs typeface="Times New Roman" panose="02020603050405020304" pitchFamily="18" charset="0"/>
              </a:rPr>
              <a:t>.</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3853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04800" y="204259"/>
            <a:ext cx="7886700" cy="1325563"/>
          </a:xfrm>
        </p:spPr>
        <p:txBody>
          <a:bodyPr>
            <a:normAutofit/>
          </a:bodyPr>
          <a:lstStyle/>
          <a:p>
            <a:r>
              <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rPr>
              <a:t>Alignment Fragment Pairs</a:t>
            </a:r>
          </a:p>
        </p:txBody>
      </p:sp>
      <p:sp>
        <p:nvSpPr>
          <p:cNvPr id="10245" name="Rectangle 5"/>
          <p:cNvSpPr>
            <a:spLocks noGrp="1" noChangeArrowheads="1"/>
          </p:cNvSpPr>
          <p:nvPr>
            <p:ph type="body" idx="1"/>
          </p:nvPr>
        </p:nvSpPr>
        <p:spPr>
          <a:xfrm>
            <a:off x="419100" y="1529822"/>
            <a:ext cx="7772400" cy="4114800"/>
          </a:xfrm>
        </p:spPr>
        <p:txBody>
          <a:bodyPr/>
          <a:lstStyle/>
          <a:p>
            <a:pPr>
              <a:buFont typeface="Wingdings" panose="05000000000000000000" pitchFamily="2" charset="2"/>
              <a:buChar char="§"/>
            </a:pP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For a pair of proteins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and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B</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an alignment fragment pair (AFP) is defined as a continuous segment of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aligned against a continuous segment of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B</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of the same size (without gaps).</a:t>
            </a:r>
          </a:p>
          <a:p>
            <a:pPr>
              <a:buFont typeface="Wingdings" panose="05000000000000000000" pitchFamily="2" charset="2"/>
              <a:buChar char="§"/>
            </a:pP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If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n</a:t>
            </a:r>
            <a:r>
              <a:rPr lang="en-US" altLang="zh-TW" baseline="-25000" dirty="0">
                <a:latin typeface="Times New Roman" panose="02020603050405020304" pitchFamily="18" charset="0"/>
                <a:ea typeface="新細明體" panose="02020500000000000000" pitchFamily="18" charset="-120"/>
                <a:cs typeface="Times New Roman" panose="02020603050405020304" pitchFamily="18" charset="0"/>
              </a:rPr>
              <a:t>1</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and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n</a:t>
            </a:r>
            <a:r>
              <a:rPr lang="en-US" altLang="zh-TW" baseline="-25000" dirty="0">
                <a:latin typeface="Times New Roman" panose="02020603050405020304" pitchFamily="18" charset="0"/>
                <a:ea typeface="新細明體" panose="02020500000000000000" pitchFamily="18" charset="-120"/>
                <a:cs typeface="Times New Roman" panose="02020603050405020304" pitchFamily="18" charset="0"/>
              </a:rPr>
              <a:t>2</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are the lengths of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A</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and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B</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and AFP length is set to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m</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then there is a total of </a:t>
            </a:r>
            <a:endParaRPr lang="en-US" altLang="zh-TW" dirty="0" smtClean="0">
              <a:latin typeface="Times New Roman" panose="02020603050405020304" pitchFamily="18" charset="0"/>
              <a:ea typeface="新細明體" panose="02020500000000000000" pitchFamily="18" charset="-120"/>
              <a:cs typeface="Times New Roman" panose="02020603050405020304" pitchFamily="18" charset="0"/>
            </a:endParaRPr>
          </a:p>
          <a:p>
            <a:pPr marL="0" indent="0">
              <a:buNone/>
            </a:pPr>
            <a:r>
              <a:rPr lang="en-US" altLang="zh-TW" dirty="0" smtClean="0">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n</a:t>
            </a:r>
            <a:r>
              <a:rPr lang="en-US" altLang="zh-TW" baseline="-25000" dirty="0">
                <a:latin typeface="Times New Roman" panose="02020603050405020304" pitchFamily="18" charset="0"/>
                <a:ea typeface="新細明體" panose="02020500000000000000" pitchFamily="18" charset="-120"/>
                <a:cs typeface="Times New Roman" panose="02020603050405020304" pitchFamily="18" charset="0"/>
              </a:rPr>
              <a:t>1</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 m</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a:t>
            </a:r>
            <a:r>
              <a:rPr lang="en-US" altLang="zh-TW" dirty="0">
                <a:latin typeface="Times New Roman" panose="02020603050405020304" pitchFamily="18" charset="0"/>
                <a:ea typeface="新細明體" panose="02020500000000000000" pitchFamily="18" charset="-12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n</a:t>
            </a:r>
            <a:r>
              <a:rPr lang="en-US" altLang="zh-TW" baseline="-25000" dirty="0">
                <a:latin typeface="Times New Roman" panose="02020603050405020304" pitchFamily="18" charset="0"/>
                <a:ea typeface="新細明體" panose="02020500000000000000" pitchFamily="18" charset="-120"/>
                <a:cs typeface="Times New Roman" panose="02020603050405020304" pitchFamily="18" charset="0"/>
              </a:rPr>
              <a:t>2</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 m</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AFPs.</a:t>
            </a:r>
            <a:endParaRPr lang="en-US" altLang="zh-TW" baseline="-25000" dirty="0">
              <a:latin typeface="Times New Roman" panose="02020603050405020304" pitchFamily="18" charset="0"/>
              <a:ea typeface="新細明體" panose="02020500000000000000" pitchFamily="18" charset="-120"/>
              <a:cs typeface="Times New Roman" panose="02020603050405020304" pitchFamily="18" charset="0"/>
            </a:endParaRPr>
          </a:p>
          <a:p>
            <a:pPr>
              <a:buFont typeface="Wingdings" panose="05000000000000000000" pitchFamily="2" charset="2"/>
              <a:buChar char="§"/>
            </a:pPr>
            <a:endParaRPr lang="en-US" altLang="zh-TW" baseline="-25000" dirty="0">
              <a:latin typeface="Times New Roman" panose="02020603050405020304" pitchFamily="18"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6837306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40415" y="186221"/>
            <a:ext cx="7886700" cy="1325563"/>
          </a:xfrm>
        </p:spPr>
        <p:txBody>
          <a:bodyPr>
            <a:normAutofit/>
          </a:bodyPr>
          <a:lstStyle/>
          <a:p>
            <a:r>
              <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rPr>
              <a:t>Alignment Fragment Pairs</a:t>
            </a:r>
          </a:p>
        </p:txBody>
      </p:sp>
      <p:pic>
        <p:nvPicPr>
          <p:cNvPr id="3" name="圖片 2"/>
          <p:cNvPicPr>
            <a:picLocks noChangeAspect="1"/>
          </p:cNvPicPr>
          <p:nvPr/>
        </p:nvPicPr>
        <p:blipFill>
          <a:blip r:embed="rId2"/>
          <a:stretch>
            <a:fillRect/>
          </a:stretch>
        </p:blipFill>
        <p:spPr>
          <a:xfrm>
            <a:off x="497251" y="1400081"/>
            <a:ext cx="3905784" cy="5013394"/>
          </a:xfrm>
          <a:prstGeom prst="rect">
            <a:avLst/>
          </a:prstGeom>
        </p:spPr>
      </p:pic>
      <p:pic>
        <p:nvPicPr>
          <p:cNvPr id="4" name="圖片 3"/>
          <p:cNvPicPr>
            <a:picLocks noChangeAspect="1"/>
          </p:cNvPicPr>
          <p:nvPr/>
        </p:nvPicPr>
        <p:blipFill>
          <a:blip r:embed="rId3"/>
          <a:stretch>
            <a:fillRect/>
          </a:stretch>
        </p:blipFill>
        <p:spPr>
          <a:xfrm>
            <a:off x="4670583" y="1338968"/>
            <a:ext cx="4055973" cy="5135620"/>
          </a:xfrm>
          <a:prstGeom prst="rect">
            <a:avLst/>
          </a:prstGeom>
        </p:spPr>
      </p:pic>
    </p:spTree>
    <p:extLst>
      <p:ext uri="{BB962C8B-B14F-4D97-AF65-F5344CB8AC3E}">
        <p14:creationId xmlns:p14="http://schemas.microsoft.com/office/powerpoint/2010/main" val="17411048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Rectangle 9"/>
          <p:cNvSpPr>
            <a:spLocks noGrp="1" noChangeArrowheads="1"/>
          </p:cNvSpPr>
          <p:nvPr>
            <p:ph type="title"/>
          </p:nvPr>
        </p:nvSpPr>
        <p:spPr>
          <a:xfrm>
            <a:off x="509472" y="501116"/>
            <a:ext cx="7772400" cy="838200"/>
          </a:xfrm>
        </p:spPr>
        <p:txBody>
          <a:bodyPr>
            <a:normAutofit/>
          </a:bodyPr>
          <a:lstStyle/>
          <a:p>
            <a:r>
              <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rPr>
              <a:t>Defining an Alignment</a:t>
            </a:r>
          </a:p>
        </p:txBody>
      </p:sp>
      <p:sp>
        <p:nvSpPr>
          <p:cNvPr id="14346" name="Rectangle 10"/>
          <p:cNvSpPr>
            <a:spLocks noGrp="1" noChangeArrowheads="1"/>
          </p:cNvSpPr>
          <p:nvPr>
            <p:ph type="body" idx="1"/>
          </p:nvPr>
        </p:nvSpPr>
        <p:spPr>
          <a:xfrm>
            <a:off x="509472" y="1454879"/>
            <a:ext cx="7772400" cy="4572000"/>
          </a:xfrm>
        </p:spPr>
        <p:txBody>
          <a:bodyPr>
            <a:normAutofit/>
          </a:bodyPr>
          <a:lstStyle/>
          <a:p>
            <a:pPr marL="609600" indent="-609600">
              <a:lnSpc>
                <a:spcPct val="90000"/>
              </a:lnSpc>
            </a:pP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An alignment is defined as a continuous path of AFPs of fixed length </a:t>
            </a:r>
            <a:r>
              <a:rPr lang="en-US" altLang="zh-TW" sz="2400" i="1" dirty="0">
                <a:latin typeface="Times New Roman" panose="02020603050405020304" pitchFamily="18" charset="0"/>
                <a:ea typeface="新細明體" panose="02020500000000000000" pitchFamily="18" charset="-120"/>
                <a:cs typeface="Times New Roman" panose="02020603050405020304" pitchFamily="18" charset="0"/>
              </a:rPr>
              <a:t>m </a:t>
            </a:r>
            <a:r>
              <a:rPr lang="en-US" altLang="zh-TW" sz="2400" dirty="0" err="1">
                <a:latin typeface="Times New Roman" panose="02020603050405020304" pitchFamily="18" charset="0"/>
                <a:ea typeface="新細明體" panose="02020500000000000000" pitchFamily="18" charset="-120"/>
                <a:cs typeface="Times New Roman" panose="02020603050405020304" pitchFamily="18" charset="0"/>
              </a:rPr>
              <a:t>s.t.</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for every two consecutive AFPs there may be gaps inserted into either </a:t>
            </a:r>
            <a:r>
              <a:rPr lang="en-US" altLang="zh-TW" sz="2400" i="1" dirty="0">
                <a:latin typeface="Times New Roman" panose="02020603050405020304" pitchFamily="18" charset="0"/>
                <a:ea typeface="新細明體" panose="02020500000000000000" pitchFamily="18" charset="-120"/>
                <a:cs typeface="Times New Roman" panose="02020603050405020304" pitchFamily="18" charset="0"/>
              </a:rPr>
              <a:t>A</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or </a:t>
            </a:r>
            <a:r>
              <a:rPr lang="en-US" altLang="zh-TW" sz="2400" i="1" dirty="0">
                <a:latin typeface="Times New Roman" panose="02020603050405020304" pitchFamily="18" charset="0"/>
                <a:ea typeface="新細明體" panose="02020500000000000000" pitchFamily="18" charset="-120"/>
                <a:cs typeface="Times New Roman" panose="02020603050405020304" pitchFamily="18" charset="0"/>
              </a:rPr>
              <a:t>B</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but not into both.  That is, for every two consecutive AFPs </a:t>
            </a:r>
            <a:r>
              <a:rPr lang="en-US" altLang="zh-TW" sz="2400" i="1" dirty="0" err="1">
                <a:latin typeface="Times New Roman" panose="02020603050405020304" pitchFamily="18" charset="0"/>
                <a:ea typeface="新細明體" panose="02020500000000000000" pitchFamily="18" charset="-120"/>
                <a:cs typeface="Times New Roman" panose="02020603050405020304" pitchFamily="18" charset="0"/>
              </a:rPr>
              <a:t>i</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and </a:t>
            </a:r>
            <a:r>
              <a:rPr lang="en-US" altLang="zh-TW" sz="2400" i="1" dirty="0">
                <a:latin typeface="Times New Roman" panose="02020603050405020304" pitchFamily="18" charset="0"/>
                <a:ea typeface="新細明體" panose="02020500000000000000" pitchFamily="18" charset="-120"/>
                <a:cs typeface="Times New Roman" panose="02020603050405020304" pitchFamily="18" charset="0"/>
              </a:rPr>
              <a:t>i+1, </a:t>
            </a:r>
            <a:r>
              <a:rPr lang="en-US" altLang="zh-TW" sz="2400" dirty="0" smtClean="0">
                <a:latin typeface="Times New Roman" panose="02020603050405020304" pitchFamily="18" charset="0"/>
                <a:ea typeface="新細明體" panose="02020500000000000000" pitchFamily="18" charset="-120"/>
                <a:cs typeface="Times New Roman" panose="02020603050405020304" pitchFamily="18" charset="0"/>
              </a:rPr>
              <a:t>we </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have </a:t>
            </a:r>
            <a:endParaRPr lang="en-US" altLang="zh-TW" sz="2400" dirty="0" smtClean="0">
              <a:latin typeface="Times New Roman" panose="02020603050405020304" pitchFamily="18" charset="0"/>
              <a:ea typeface="新細明體" panose="02020500000000000000" pitchFamily="18" charset="-120"/>
              <a:cs typeface="Times New Roman" panose="02020603050405020304" pitchFamily="18" charset="0"/>
            </a:endParaRPr>
          </a:p>
          <a:p>
            <a:pPr marL="609600" indent="-609600">
              <a:lnSpc>
                <a:spcPct val="90000"/>
              </a:lnSpc>
            </a:pP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a:p>
            <a:pPr marL="609600" indent="-609600">
              <a:lnSpc>
                <a:spcPct val="90000"/>
              </a:lnSpc>
            </a:pPr>
            <a:endParaRPr lang="en-US" altLang="zh-TW" sz="2400" dirty="0" smtClean="0">
              <a:latin typeface="Times New Roman" panose="02020603050405020304" pitchFamily="18" charset="0"/>
              <a:ea typeface="新細明體" panose="02020500000000000000" pitchFamily="18" charset="-120"/>
              <a:cs typeface="Times New Roman" panose="02020603050405020304" pitchFamily="18" charset="0"/>
            </a:endParaRPr>
          </a:p>
          <a:p>
            <a:pPr marL="609600" indent="-609600">
              <a:lnSpc>
                <a:spcPct val="90000"/>
              </a:lnSpc>
            </a:pP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a:p>
            <a:pPr marL="609600" indent="-609600">
              <a:lnSpc>
                <a:spcPct val="90000"/>
              </a:lnSpc>
              <a:buFontTx/>
              <a:buNone/>
            </a:pPr>
            <a:r>
              <a:rPr lang="en-US" altLang="zh-TW" sz="2400" dirty="0" smtClean="0">
                <a:latin typeface="Times New Roman" panose="02020603050405020304" pitchFamily="18" charset="0"/>
                <a:ea typeface="新細明體" panose="02020500000000000000" pitchFamily="18" charset="-120"/>
                <a:cs typeface="Times New Roman" panose="02020603050405020304" pitchFamily="18" charset="0"/>
              </a:rPr>
              <a:t>	</a:t>
            </a:r>
          </a:p>
          <a:p>
            <a:pPr marL="609600" indent="-609600">
              <a:lnSpc>
                <a:spcPct val="90000"/>
              </a:lnSpc>
              <a:buFontTx/>
              <a:buNone/>
            </a:pP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2400" dirty="0" smtClean="0">
                <a:latin typeface="Times New Roman" panose="02020603050405020304" pitchFamily="18" charset="0"/>
                <a:ea typeface="新細明體" panose="02020500000000000000" pitchFamily="18" charset="-120"/>
                <a:cs typeface="Times New Roman" panose="02020603050405020304" pitchFamily="18" charset="0"/>
              </a:rPr>
              <a:t>Where </a:t>
            </a:r>
            <a:r>
              <a:rPr lang="en-US" altLang="zh-TW" sz="2400" i="1" dirty="0" err="1">
                <a:latin typeface="Times New Roman" panose="02020603050405020304" pitchFamily="18" charset="0"/>
                <a:ea typeface="新細明體" panose="02020500000000000000" pitchFamily="18" charset="-120"/>
                <a:cs typeface="Times New Roman" panose="02020603050405020304" pitchFamily="18" charset="0"/>
              </a:rPr>
              <a:t>p</a:t>
            </a:r>
            <a:r>
              <a:rPr lang="en-US" altLang="zh-TW" sz="2400" i="1" baseline="-25000" dirty="0" err="1">
                <a:latin typeface="Times New Roman" panose="02020603050405020304" pitchFamily="18" charset="0"/>
                <a:ea typeface="新細明體" panose="02020500000000000000" pitchFamily="18" charset="-120"/>
                <a:cs typeface="Times New Roman" panose="02020603050405020304" pitchFamily="18" charset="0"/>
              </a:rPr>
              <a:t>i</a:t>
            </a:r>
            <a:r>
              <a:rPr lang="en-US" altLang="zh-TW" sz="2400" i="1" baseline="30000" dirty="0" err="1">
                <a:latin typeface="Times New Roman" panose="02020603050405020304" pitchFamily="18" charset="0"/>
                <a:ea typeface="新細明體" panose="02020500000000000000" pitchFamily="18" charset="-120"/>
                <a:cs typeface="Times New Roman" panose="02020603050405020304" pitchFamily="18" charset="0"/>
              </a:rPr>
              <a:t>A</a:t>
            </a:r>
            <a:r>
              <a:rPr lang="en-US" altLang="zh-TW" sz="2400" i="1" dirty="0">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represents the starting position of AFP </a:t>
            </a:r>
            <a:r>
              <a:rPr lang="en-US" altLang="zh-TW" sz="2400" i="1" dirty="0" err="1">
                <a:latin typeface="Times New Roman" panose="02020603050405020304" pitchFamily="18" charset="0"/>
                <a:ea typeface="新細明體" panose="02020500000000000000" pitchFamily="18" charset="-120"/>
                <a:cs typeface="Times New Roman" panose="02020603050405020304" pitchFamily="18" charset="0"/>
              </a:rPr>
              <a:t>i</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in </a:t>
            </a:r>
            <a:endParaRPr lang="en-US" altLang="zh-TW" sz="2400" dirty="0" smtClean="0">
              <a:latin typeface="Times New Roman" panose="02020603050405020304" pitchFamily="18" charset="0"/>
              <a:ea typeface="新細明體" panose="02020500000000000000" pitchFamily="18" charset="-120"/>
              <a:cs typeface="Times New Roman" panose="02020603050405020304" pitchFamily="18" charset="0"/>
            </a:endParaRPr>
          </a:p>
          <a:p>
            <a:pPr marL="609600" indent="-609600">
              <a:lnSpc>
                <a:spcPct val="90000"/>
              </a:lnSpc>
              <a:buFontTx/>
              <a:buNone/>
            </a:pPr>
            <a:r>
              <a:rPr lang="en-US" altLang="zh-TW" sz="2400" dirty="0" smtClean="0">
                <a:latin typeface="Times New Roman" panose="02020603050405020304" pitchFamily="18" charset="0"/>
                <a:ea typeface="新細明體" panose="02020500000000000000" pitchFamily="18" charset="-120"/>
                <a:cs typeface="Times New Roman" panose="02020603050405020304" pitchFamily="18" charset="0"/>
              </a:rPr>
              <a:t>	protein</a:t>
            </a:r>
            <a:r>
              <a:rPr lang="zh-TW" altLang="en-US" sz="2400" dirty="0" smtClean="0">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2400" i="1" dirty="0" smtClean="0">
                <a:latin typeface="Times New Roman" panose="02020603050405020304" pitchFamily="18" charset="0"/>
                <a:ea typeface="新細明體" panose="02020500000000000000" pitchFamily="18" charset="-120"/>
                <a:cs typeface="Times New Roman" panose="02020603050405020304" pitchFamily="18" charset="0"/>
              </a:rPr>
              <a:t>A</a:t>
            </a: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p:txBody>
      </p:sp>
      <p:pic>
        <p:nvPicPr>
          <p:cNvPr id="4" name="圖片 3"/>
          <p:cNvPicPr>
            <a:picLocks noChangeAspect="1"/>
          </p:cNvPicPr>
          <p:nvPr/>
        </p:nvPicPr>
        <p:blipFill>
          <a:blip r:embed="rId3"/>
          <a:stretch>
            <a:fillRect/>
          </a:stretch>
        </p:blipFill>
        <p:spPr>
          <a:xfrm>
            <a:off x="1791170" y="3156251"/>
            <a:ext cx="5573726" cy="1666950"/>
          </a:xfrm>
          <a:prstGeom prst="rect">
            <a:avLst/>
          </a:prstGeom>
        </p:spPr>
      </p:pic>
    </p:spTree>
    <p:extLst>
      <p:ext uri="{BB962C8B-B14F-4D97-AF65-F5344CB8AC3E}">
        <p14:creationId xmlns:p14="http://schemas.microsoft.com/office/powerpoint/2010/main" val="15599406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12545" y="426720"/>
            <a:ext cx="7772400" cy="838200"/>
          </a:xfrm>
        </p:spPr>
        <p:txBody>
          <a:bodyPr>
            <a:normAutofit/>
          </a:bodyPr>
          <a:lstStyle/>
          <a:p>
            <a:r>
              <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rPr>
              <a:t>The CE Algorithm</a:t>
            </a:r>
          </a:p>
        </p:txBody>
      </p:sp>
      <p:sp>
        <p:nvSpPr>
          <p:cNvPr id="18436" name="Rectangle 4"/>
          <p:cNvSpPr>
            <a:spLocks noGrp="1" noChangeArrowheads="1"/>
          </p:cNvSpPr>
          <p:nvPr>
            <p:ph type="body" idx="1"/>
          </p:nvPr>
        </p:nvSpPr>
        <p:spPr>
          <a:xfrm>
            <a:off x="685800" y="1600200"/>
            <a:ext cx="7772400" cy="4495800"/>
          </a:xfrm>
        </p:spPr>
        <p:txBody>
          <a:bodyPr/>
          <a:lstStyle/>
          <a:p>
            <a:pPr marL="609600" indent="-609600"/>
            <a:r>
              <a:rPr lang="en-US" altLang="zh-TW" sz="2800" dirty="0">
                <a:latin typeface="Times New Roman" panose="02020603050405020304" pitchFamily="18" charset="0"/>
                <a:ea typeface="新細明體" panose="02020500000000000000" pitchFamily="18" charset="-120"/>
                <a:cs typeface="Times New Roman" panose="02020603050405020304" pitchFamily="18" charset="0"/>
              </a:rPr>
              <a:t>Goal: Find a “good” local alignment for structures of proteins </a:t>
            </a:r>
            <a:r>
              <a:rPr lang="en-US" altLang="zh-TW" sz="2800" i="1" dirty="0">
                <a:latin typeface="Times New Roman" panose="02020603050405020304" pitchFamily="18" charset="0"/>
                <a:ea typeface="新細明體" panose="02020500000000000000" pitchFamily="18" charset="-120"/>
                <a:cs typeface="Times New Roman" panose="02020603050405020304" pitchFamily="18" charset="0"/>
              </a:rPr>
              <a:t>A</a:t>
            </a:r>
            <a:r>
              <a:rPr lang="en-US" altLang="zh-TW" sz="2800" dirty="0">
                <a:latin typeface="Times New Roman" panose="02020603050405020304" pitchFamily="18" charset="0"/>
                <a:ea typeface="新細明體" panose="02020500000000000000" pitchFamily="18" charset="-120"/>
                <a:cs typeface="Times New Roman" panose="02020603050405020304" pitchFamily="18" charset="0"/>
              </a:rPr>
              <a:t> and </a:t>
            </a:r>
            <a:r>
              <a:rPr lang="en-US" altLang="zh-TW" sz="2800" i="1" dirty="0">
                <a:latin typeface="Times New Roman" panose="02020603050405020304" pitchFamily="18" charset="0"/>
                <a:ea typeface="新細明體" panose="02020500000000000000" pitchFamily="18" charset="-120"/>
                <a:cs typeface="Times New Roman" panose="02020603050405020304" pitchFamily="18" charset="0"/>
              </a:rPr>
              <a:t>B.</a:t>
            </a:r>
          </a:p>
          <a:p>
            <a:pPr marL="609600" indent="-609600"/>
            <a:r>
              <a:rPr lang="en-US" altLang="zh-TW" sz="2800" dirty="0">
                <a:latin typeface="Times New Roman" panose="02020603050405020304" pitchFamily="18" charset="0"/>
                <a:ea typeface="新細明體" panose="02020500000000000000" pitchFamily="18" charset="-120"/>
                <a:cs typeface="Times New Roman" panose="02020603050405020304" pitchFamily="18" charset="0"/>
              </a:rPr>
              <a:t>Basic idea: </a:t>
            </a:r>
          </a:p>
          <a:p>
            <a:pPr marL="609600" indent="-609600">
              <a:buFontTx/>
              <a:buAutoNum type="arabicPeriod"/>
            </a:pPr>
            <a:r>
              <a:rPr lang="en-US" altLang="zh-TW" sz="2800" dirty="0">
                <a:latin typeface="Times New Roman" panose="02020603050405020304" pitchFamily="18" charset="0"/>
                <a:ea typeface="新細明體" panose="02020500000000000000" pitchFamily="18" charset="-120"/>
                <a:cs typeface="Times New Roman" panose="02020603050405020304" pitchFamily="18" charset="0"/>
              </a:rPr>
              <a:t>Select some initial AFP. </a:t>
            </a:r>
          </a:p>
          <a:p>
            <a:pPr marL="609600" indent="-609600">
              <a:buFontTx/>
              <a:buAutoNum type="arabicPeriod"/>
            </a:pPr>
            <a:r>
              <a:rPr lang="en-US" altLang="zh-TW" sz="2800" dirty="0">
                <a:latin typeface="Times New Roman" panose="02020603050405020304" pitchFamily="18" charset="0"/>
                <a:ea typeface="新細明體" panose="02020500000000000000" pitchFamily="18" charset="-120"/>
                <a:cs typeface="Times New Roman" panose="02020603050405020304" pitchFamily="18" charset="0"/>
              </a:rPr>
              <a:t>Build an alignment path by incrementally adding AFPs in a way that satisfies the conditions on the previous slide.  </a:t>
            </a:r>
          </a:p>
          <a:p>
            <a:pPr marL="609600" indent="-609600">
              <a:buFontTx/>
              <a:buAutoNum type="arabicPeriod"/>
            </a:pPr>
            <a:r>
              <a:rPr lang="en-US" altLang="zh-TW" sz="2800" dirty="0">
                <a:latin typeface="Times New Roman" panose="02020603050405020304" pitchFamily="18" charset="0"/>
                <a:ea typeface="新細明體" panose="02020500000000000000" pitchFamily="18" charset="-120"/>
                <a:cs typeface="Times New Roman" panose="02020603050405020304" pitchFamily="18" charset="0"/>
              </a:rPr>
              <a:t>Repeat step (2) until the length of each protein is traversed, or until no “good” AFPs remain.</a:t>
            </a:r>
          </a:p>
        </p:txBody>
      </p:sp>
    </p:spTree>
    <p:extLst>
      <p:ext uri="{BB962C8B-B14F-4D97-AF65-F5344CB8AC3E}">
        <p14:creationId xmlns:p14="http://schemas.microsoft.com/office/powerpoint/2010/main" val="37511196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62467" y="127000"/>
            <a:ext cx="8153400" cy="914400"/>
          </a:xfrm>
        </p:spPr>
        <p:txBody>
          <a:bodyPr>
            <a:normAutofit/>
          </a:bodyPr>
          <a:lstStyle/>
          <a:p>
            <a:r>
              <a:rPr lang="en-US" altLang="zh-TW" sz="4000" b="1" dirty="0" smtClean="0">
                <a:latin typeface="Times New Roman" panose="02020603050405020304" pitchFamily="18" charset="0"/>
                <a:ea typeface="新細明體" panose="02020500000000000000" pitchFamily="18" charset="-120"/>
                <a:cs typeface="Times New Roman" panose="02020603050405020304" pitchFamily="18" charset="0"/>
              </a:rPr>
              <a:t>AFP </a:t>
            </a:r>
            <a:r>
              <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rPr>
              <a:t>Distances</a:t>
            </a:r>
          </a:p>
        </p:txBody>
      </p:sp>
      <p:sp>
        <p:nvSpPr>
          <p:cNvPr id="22531" name="Rectangle 3"/>
          <p:cNvSpPr>
            <a:spLocks noGrp="1" noChangeArrowheads="1"/>
          </p:cNvSpPr>
          <p:nvPr>
            <p:ph type="body" idx="1"/>
          </p:nvPr>
        </p:nvSpPr>
        <p:spPr>
          <a:xfrm>
            <a:off x="447575" y="1253602"/>
            <a:ext cx="8077200" cy="4114800"/>
          </a:xfrm>
        </p:spPr>
        <p:txBody>
          <a:bodyPr>
            <a:normAutofit/>
          </a:bodyPr>
          <a:lstStyle/>
          <a:p>
            <a:pPr>
              <a:lnSpc>
                <a:spcPct val="90000"/>
              </a:lnSpc>
            </a:pP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We can define the distance between two different AFPs </a:t>
            </a:r>
            <a:r>
              <a:rPr lang="en-US" altLang="zh-TW" sz="2400" i="1" dirty="0" err="1">
                <a:latin typeface="Times New Roman" panose="02020603050405020304" pitchFamily="18" charset="0"/>
                <a:ea typeface="新細明體" panose="02020500000000000000" pitchFamily="18" charset="-120"/>
                <a:cs typeface="Times New Roman" panose="02020603050405020304" pitchFamily="18" charset="0"/>
              </a:rPr>
              <a:t>i</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and </a:t>
            </a:r>
            <a:r>
              <a:rPr lang="en-US" altLang="zh-TW" sz="2400" i="1" dirty="0">
                <a:latin typeface="Times New Roman" panose="02020603050405020304" pitchFamily="18" charset="0"/>
                <a:ea typeface="新細明體" panose="02020500000000000000" pitchFamily="18" charset="-120"/>
                <a:cs typeface="Times New Roman" panose="02020603050405020304" pitchFamily="18" charset="0"/>
              </a:rPr>
              <a:t>j</a:t>
            </a: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as:</a:t>
            </a:r>
          </a:p>
          <a:p>
            <a:pPr>
              <a:lnSpc>
                <a:spcPct val="90000"/>
              </a:lnSpc>
            </a:pP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a:p>
            <a:pPr>
              <a:lnSpc>
                <a:spcPct val="90000"/>
              </a:lnSpc>
              <a:buFontTx/>
              <a:buNone/>
            </a:pP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a:t>
            </a:r>
          </a:p>
          <a:p>
            <a:pPr>
              <a:lnSpc>
                <a:spcPct val="90000"/>
              </a:lnSpc>
              <a:buFontTx/>
              <a:buNone/>
            </a:pPr>
            <a:r>
              <a:rPr lang="en-US" altLang="zh-TW" sz="2400" dirty="0">
                <a:latin typeface="Times New Roman" panose="02020603050405020304" pitchFamily="18" charset="0"/>
                <a:ea typeface="新細明體" panose="02020500000000000000" pitchFamily="18" charset="-120"/>
                <a:cs typeface="Times New Roman" panose="02020603050405020304" pitchFamily="18" charset="0"/>
              </a:rPr>
              <a:t>  </a:t>
            </a:r>
            <a:endParaRPr lang="en-US" altLang="zh-TW" sz="2400" dirty="0" smtClean="0">
              <a:latin typeface="Times New Roman" panose="02020603050405020304" pitchFamily="18" charset="0"/>
              <a:ea typeface="新細明體" panose="02020500000000000000" pitchFamily="18" charset="-120"/>
              <a:cs typeface="Times New Roman" panose="02020603050405020304" pitchFamily="18" charset="0"/>
            </a:endParaRPr>
          </a:p>
          <a:p>
            <a:pPr>
              <a:lnSpc>
                <a:spcPct val="90000"/>
              </a:lnSpc>
              <a:buFontTx/>
              <a:buNone/>
            </a:pP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a:p>
            <a:pPr>
              <a:lnSpc>
                <a:spcPct val="90000"/>
              </a:lnSpc>
              <a:buFontTx/>
              <a:buNone/>
            </a:pPr>
            <a:r>
              <a:rPr lang="en-US" altLang="zh-TW" sz="2400" dirty="0" smtClean="0">
                <a:latin typeface="Times New Roman" panose="02020603050405020304" pitchFamily="18" charset="0"/>
                <a:ea typeface="新細明體" panose="02020500000000000000" pitchFamily="18" charset="-120"/>
                <a:cs typeface="Times New Roman" panose="02020603050405020304" pitchFamily="18" charset="0"/>
              </a:rPr>
              <a:t>   </a:t>
            </a: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a:p>
            <a:pPr>
              <a:lnSpc>
                <a:spcPct val="90000"/>
              </a:lnSpc>
              <a:buFontTx/>
              <a:buNone/>
            </a:pP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6" name="矩形 5"/>
          <p:cNvSpPr/>
          <p:nvPr/>
        </p:nvSpPr>
        <p:spPr>
          <a:xfrm>
            <a:off x="1130893" y="2004521"/>
            <a:ext cx="2281394" cy="461665"/>
          </a:xfrm>
          <a:prstGeom prst="rect">
            <a:avLst/>
          </a:prstGeom>
        </p:spPr>
        <p:txBody>
          <a:bodyPr wrap="none">
            <a:spAutoFit/>
          </a:bodyPr>
          <a:lstStyle/>
          <a:p>
            <a:r>
              <a:rPr lang="en-US" altLang="zh-TW" sz="2400" b="1" dirty="0" smtClean="0">
                <a:latin typeface="Times New Roman" panose="02020603050405020304" pitchFamily="18" charset="0"/>
                <a:cs typeface="Times New Roman" panose="02020603050405020304" pitchFamily="18" charset="0"/>
              </a:rPr>
              <a:t>I</a:t>
            </a:r>
            <a:r>
              <a:rPr lang="zh-TW" altLang="en-US" sz="2400" b="1" dirty="0" smtClean="0">
                <a:latin typeface="Times New Roman" panose="02020603050405020304" pitchFamily="18" charset="0"/>
                <a:cs typeface="Times New Roman" panose="02020603050405020304" pitchFamily="18" charset="0"/>
              </a:rPr>
              <a:t>ndependent set</a:t>
            </a:r>
            <a:endParaRPr lang="zh-TW" altLang="en-US" sz="2400" b="1" dirty="0">
              <a:latin typeface="Times New Roman" panose="02020603050405020304" pitchFamily="18" charset="0"/>
              <a:cs typeface="Times New Roman" panose="02020603050405020304" pitchFamily="18" charset="0"/>
            </a:endParaRPr>
          </a:p>
        </p:txBody>
      </p:sp>
      <p:sp>
        <p:nvSpPr>
          <p:cNvPr id="7" name="矩形 6"/>
          <p:cNvSpPr/>
          <p:nvPr/>
        </p:nvSpPr>
        <p:spPr>
          <a:xfrm>
            <a:off x="1130893" y="4666533"/>
            <a:ext cx="1149674" cy="461665"/>
          </a:xfrm>
          <a:prstGeom prst="rect">
            <a:avLst/>
          </a:prstGeom>
        </p:spPr>
        <p:txBody>
          <a:bodyPr wrap="none">
            <a:spAutoFit/>
          </a:bodyPr>
          <a:lstStyle/>
          <a:p>
            <a:r>
              <a:rPr lang="en-US" altLang="zh-TW" sz="2400" b="1" dirty="0">
                <a:latin typeface="Times New Roman" panose="02020603050405020304" pitchFamily="18" charset="0"/>
                <a:cs typeface="Times New Roman" panose="02020603050405020304" pitchFamily="18" charset="0"/>
              </a:rPr>
              <a:t>F</a:t>
            </a:r>
            <a:r>
              <a:rPr lang="zh-TW" altLang="en-US" sz="2400" b="1" dirty="0" smtClean="0">
                <a:latin typeface="Times New Roman" panose="02020603050405020304" pitchFamily="18" charset="0"/>
                <a:cs typeface="Times New Roman" panose="02020603050405020304" pitchFamily="18" charset="0"/>
              </a:rPr>
              <a:t>ull set</a:t>
            </a:r>
            <a:endParaRPr lang="zh-TW" altLang="en-US" sz="24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4"/>
          <a:stretch>
            <a:fillRect/>
          </a:stretch>
        </p:blipFill>
        <p:spPr>
          <a:xfrm>
            <a:off x="1130893" y="5303292"/>
            <a:ext cx="5995153" cy="1003904"/>
          </a:xfrm>
          <a:prstGeom prst="rect">
            <a:avLst/>
          </a:prstGeom>
        </p:spPr>
      </p:pic>
      <p:sp>
        <p:nvSpPr>
          <p:cNvPr id="8" name="文字方塊 7"/>
          <p:cNvSpPr txBox="1"/>
          <p:nvPr/>
        </p:nvSpPr>
        <p:spPr>
          <a:xfrm>
            <a:off x="7126046" y="3663557"/>
            <a:ext cx="543739"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(4)</a:t>
            </a:r>
          </a:p>
        </p:txBody>
      </p:sp>
      <p:sp>
        <p:nvSpPr>
          <p:cNvPr id="11" name="文字方塊 10"/>
          <p:cNvSpPr txBox="1"/>
          <p:nvPr/>
        </p:nvSpPr>
        <p:spPr>
          <a:xfrm>
            <a:off x="7317730" y="5665200"/>
            <a:ext cx="543739"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(5)</a:t>
            </a:r>
          </a:p>
        </p:txBody>
      </p:sp>
      <p:graphicFrame>
        <p:nvGraphicFramePr>
          <p:cNvPr id="5" name="物件 4"/>
          <p:cNvGraphicFramePr>
            <a:graphicFrameLocks noChangeAspect="1"/>
          </p:cNvGraphicFramePr>
          <p:nvPr>
            <p:extLst>
              <p:ext uri="{D42A27DB-BD31-4B8C-83A1-F6EECF244321}">
                <p14:modId xmlns:p14="http://schemas.microsoft.com/office/powerpoint/2010/main" val="1015505800"/>
              </p:ext>
            </p:extLst>
          </p:nvPr>
        </p:nvGraphicFramePr>
        <p:xfrm>
          <a:off x="1130893" y="2641281"/>
          <a:ext cx="7261201" cy="1706882"/>
        </p:xfrm>
        <a:graphic>
          <a:graphicData uri="http://schemas.openxmlformats.org/presentationml/2006/ole">
            <mc:AlternateContent xmlns:mc="http://schemas.openxmlformats.org/markup-compatibility/2006">
              <mc:Choice xmlns:v="urn:schemas-microsoft-com:vml" Requires="v">
                <p:oleObj spid="_x0000_s1032" name="方程式" r:id="rId5" imgW="3568700" imgH="838200" progId="Equation.3">
                  <p:embed/>
                </p:oleObj>
              </mc:Choice>
              <mc:Fallback>
                <p:oleObj name="方程式" r:id="rId5" imgW="3568700" imgH="8382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0893" y="2641281"/>
                        <a:ext cx="7261201" cy="1706882"/>
                      </a:xfrm>
                      <a:prstGeom prst="rect">
                        <a:avLst/>
                      </a:prstGeom>
                      <a:noFill/>
                    </p:spPr>
                  </p:pic>
                </p:oleObj>
              </mc:Fallback>
            </mc:AlternateContent>
          </a:graphicData>
        </a:graphic>
      </p:graphicFrame>
    </p:spTree>
    <p:extLst>
      <p:ext uri="{BB962C8B-B14F-4D97-AF65-F5344CB8AC3E}">
        <p14:creationId xmlns:p14="http://schemas.microsoft.com/office/powerpoint/2010/main" val="13073496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40415" y="186221"/>
            <a:ext cx="7886700" cy="1325563"/>
          </a:xfrm>
        </p:spPr>
        <p:txBody>
          <a:bodyPr>
            <a:normAutofit/>
          </a:bodyPr>
          <a:lstStyle/>
          <a:p>
            <a:r>
              <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rPr>
              <a:t>Alignment Fragment Pairs</a:t>
            </a:r>
          </a:p>
        </p:txBody>
      </p:sp>
      <p:pic>
        <p:nvPicPr>
          <p:cNvPr id="3" name="圖片 2"/>
          <p:cNvPicPr>
            <a:picLocks noChangeAspect="1"/>
          </p:cNvPicPr>
          <p:nvPr/>
        </p:nvPicPr>
        <p:blipFill>
          <a:blip r:embed="rId2"/>
          <a:stretch>
            <a:fillRect/>
          </a:stretch>
        </p:blipFill>
        <p:spPr>
          <a:xfrm>
            <a:off x="497251" y="1400081"/>
            <a:ext cx="3905784" cy="5013394"/>
          </a:xfrm>
          <a:prstGeom prst="rect">
            <a:avLst/>
          </a:prstGeom>
        </p:spPr>
      </p:pic>
      <p:pic>
        <p:nvPicPr>
          <p:cNvPr id="4" name="圖片 3"/>
          <p:cNvPicPr>
            <a:picLocks noChangeAspect="1"/>
          </p:cNvPicPr>
          <p:nvPr/>
        </p:nvPicPr>
        <p:blipFill>
          <a:blip r:embed="rId3"/>
          <a:stretch>
            <a:fillRect/>
          </a:stretch>
        </p:blipFill>
        <p:spPr>
          <a:xfrm>
            <a:off x="4670583" y="1338968"/>
            <a:ext cx="4055973" cy="5135620"/>
          </a:xfrm>
          <a:prstGeom prst="rect">
            <a:avLst/>
          </a:prstGeom>
        </p:spPr>
      </p:pic>
    </p:spTree>
    <p:extLst>
      <p:ext uri="{BB962C8B-B14F-4D97-AF65-F5344CB8AC3E}">
        <p14:creationId xmlns:p14="http://schemas.microsoft.com/office/powerpoint/2010/main" val="18743486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20537" y="206374"/>
            <a:ext cx="7886700" cy="1325563"/>
          </a:xfrm>
        </p:spPr>
        <p:txBody>
          <a:bodyPr>
            <a:normAutofit/>
          </a:bodyPr>
          <a:lstStyle/>
          <a:p>
            <a:r>
              <a:rPr lang="en-US" altLang="zh-TW" sz="4000" b="1" dirty="0" smtClean="0">
                <a:latin typeface="Times New Roman" panose="02020603050405020304" pitchFamily="18" charset="0"/>
                <a:ea typeface="新細明體" panose="02020500000000000000" pitchFamily="18" charset="-120"/>
                <a:cs typeface="Times New Roman" panose="02020603050405020304" pitchFamily="18" charset="0"/>
              </a:rPr>
              <a:t>Extending the </a:t>
            </a:r>
            <a:r>
              <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rPr>
              <a:t>Alignment Path</a:t>
            </a:r>
          </a:p>
        </p:txBody>
      </p:sp>
      <p:sp>
        <p:nvSpPr>
          <p:cNvPr id="24579" name="Rectangle 3"/>
          <p:cNvSpPr>
            <a:spLocks noGrp="1" noChangeArrowheads="1"/>
          </p:cNvSpPr>
          <p:nvPr>
            <p:ph type="body" idx="1"/>
          </p:nvPr>
        </p:nvSpPr>
        <p:spPr>
          <a:xfrm>
            <a:off x="320537" y="1369288"/>
            <a:ext cx="7886700" cy="4351338"/>
          </a:xfrm>
        </p:spPr>
        <p:txBody>
          <a:bodyPr/>
          <a:lstStyle/>
          <a:p>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Suppose our alignment path already consists of AFPs 0…</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n</a:t>
            </a:r>
            <a:r>
              <a:rPr lang="en-US" altLang="zh-TW" dirty="0">
                <a:latin typeface="Times New Roman" panose="02020603050405020304" pitchFamily="18" charset="0"/>
                <a:ea typeface="新細明體" panose="02020500000000000000" pitchFamily="18" charset="-120"/>
                <a:cs typeface="Times New Roman" panose="02020603050405020304" pitchFamily="18" charset="0"/>
                <a:sym typeface="Symbol" panose="05050102010706020507" pitchFamily="18" charset="2"/>
              </a:rPr>
              <a:t>1, and we are trying to decide whether to add AFP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sym typeface="Symbol" panose="05050102010706020507" pitchFamily="18" charset="2"/>
              </a:rPr>
              <a:t>n</a:t>
            </a:r>
            <a:r>
              <a:rPr lang="en-US" altLang="zh-TW" dirty="0">
                <a:latin typeface="Times New Roman" panose="02020603050405020304" pitchFamily="18" charset="0"/>
                <a:ea typeface="新細明體" panose="02020500000000000000" pitchFamily="18" charset="-120"/>
                <a:cs typeface="Times New Roman" panose="02020603050405020304" pitchFamily="18" charset="0"/>
                <a:sym typeface="Symbol" panose="05050102010706020507" pitchFamily="18" charset="2"/>
              </a:rPr>
              <a:t> to the path.  We will do so only if:</a:t>
            </a:r>
          </a:p>
          <a:p>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dirty="0" smtClean="0">
                <a:latin typeface="Times New Roman" panose="02020603050405020304" pitchFamily="18" charset="0"/>
                <a:ea typeface="新細明體" panose="02020500000000000000" pitchFamily="18" charset="-120"/>
                <a:cs typeface="Times New Roman" panose="02020603050405020304" pitchFamily="18" charset="0"/>
              </a:rPr>
              <a:t>                         </a:t>
            </a:r>
            <a:endParaRPr lang="en-US" altLang="zh-TW" dirty="0">
              <a:latin typeface="Times New Roman" panose="02020603050405020304" pitchFamily="18" charset="0"/>
              <a:ea typeface="新細明體" panose="02020500000000000000" pitchFamily="18" charset="-120"/>
              <a:cs typeface="Times New Roman" panose="02020603050405020304" pitchFamily="18" charset="0"/>
            </a:endParaRPr>
          </a:p>
        </p:txBody>
      </p:sp>
      <p:pic>
        <p:nvPicPr>
          <p:cNvPr id="3" name="圖片 2"/>
          <p:cNvPicPr>
            <a:picLocks noChangeAspect="1"/>
          </p:cNvPicPr>
          <p:nvPr/>
        </p:nvPicPr>
        <p:blipFill>
          <a:blip r:embed="rId2"/>
          <a:stretch>
            <a:fillRect/>
          </a:stretch>
        </p:blipFill>
        <p:spPr>
          <a:xfrm>
            <a:off x="1552953" y="2925259"/>
            <a:ext cx="4299207" cy="3471407"/>
          </a:xfrm>
          <a:prstGeom prst="rect">
            <a:avLst/>
          </a:prstGeom>
        </p:spPr>
      </p:pic>
      <p:sp>
        <p:nvSpPr>
          <p:cNvPr id="7" name="文字方塊 6"/>
          <p:cNvSpPr txBox="1"/>
          <p:nvPr/>
        </p:nvSpPr>
        <p:spPr>
          <a:xfrm>
            <a:off x="5749692" y="3263279"/>
            <a:ext cx="543739"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(6)</a:t>
            </a:r>
          </a:p>
        </p:txBody>
      </p:sp>
      <p:sp>
        <p:nvSpPr>
          <p:cNvPr id="8" name="文字方塊 7"/>
          <p:cNvSpPr txBox="1"/>
          <p:nvPr/>
        </p:nvSpPr>
        <p:spPr>
          <a:xfrm>
            <a:off x="5749693" y="4199297"/>
            <a:ext cx="543739"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(7)</a:t>
            </a:r>
          </a:p>
        </p:txBody>
      </p:sp>
      <p:sp>
        <p:nvSpPr>
          <p:cNvPr id="9" name="文字方塊 8"/>
          <p:cNvSpPr txBox="1"/>
          <p:nvPr/>
        </p:nvSpPr>
        <p:spPr>
          <a:xfrm>
            <a:off x="5749694" y="5596980"/>
            <a:ext cx="543739"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7011499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90403" y="360145"/>
            <a:ext cx="7772400" cy="838200"/>
          </a:xfrm>
        </p:spPr>
        <p:txBody>
          <a:bodyPr>
            <a:normAutofit/>
          </a:bodyPr>
          <a:lstStyle/>
          <a:p>
            <a:r>
              <a:rPr lang="en-US" altLang="zh-TW" sz="4000" b="1" dirty="0" smtClean="0">
                <a:latin typeface="Times New Roman" panose="02020603050405020304" pitchFamily="18" charset="0"/>
                <a:ea typeface="新細明體" panose="02020500000000000000" pitchFamily="18" charset="-120"/>
                <a:cs typeface="Times New Roman" panose="02020603050405020304" pitchFamily="18" charset="0"/>
              </a:rPr>
              <a:t>Results and Conclusion</a:t>
            </a:r>
            <a:endPar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8675" name="Rectangle 3"/>
          <p:cNvSpPr>
            <a:spLocks noGrp="1" noChangeArrowheads="1"/>
          </p:cNvSpPr>
          <p:nvPr>
            <p:ph type="body" idx="1"/>
          </p:nvPr>
        </p:nvSpPr>
        <p:spPr>
          <a:xfrm>
            <a:off x="531795" y="1211234"/>
            <a:ext cx="7772400" cy="4572000"/>
          </a:xfrm>
        </p:spPr>
        <p:txBody>
          <a:bodyPr/>
          <a:lstStyle/>
          <a:p>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The CE method is highly configurable, which is at once its strength and weakness.  Adjusting multiple parameters, such as AFP length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m</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cutoff distances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D</a:t>
            </a:r>
            <a:r>
              <a:rPr lang="en-US" altLang="zh-TW" baseline="-25000" dirty="0">
                <a:latin typeface="Times New Roman" panose="02020603050405020304" pitchFamily="18" charset="0"/>
                <a:ea typeface="新細明體" panose="02020500000000000000" pitchFamily="18" charset="-120"/>
                <a:cs typeface="Times New Roman" panose="02020603050405020304" pitchFamily="18" charset="0"/>
              </a:rPr>
              <a:t>0</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and </a:t>
            </a:r>
            <a:r>
              <a:rPr lang="en-US" altLang="zh-TW" i="1" dirty="0">
                <a:latin typeface="Times New Roman" panose="02020603050405020304" pitchFamily="18" charset="0"/>
                <a:ea typeface="新細明體" panose="02020500000000000000" pitchFamily="18" charset="-120"/>
                <a:cs typeface="Times New Roman" panose="02020603050405020304" pitchFamily="18" charset="0"/>
              </a:rPr>
              <a:t>D</a:t>
            </a:r>
            <a:r>
              <a:rPr lang="en-US" altLang="zh-TW" baseline="-25000" dirty="0">
                <a:latin typeface="Times New Roman" panose="02020603050405020304" pitchFamily="18" charset="0"/>
                <a:ea typeface="新細明體" panose="02020500000000000000" pitchFamily="18" charset="-120"/>
                <a:cs typeface="Times New Roman" panose="02020603050405020304" pitchFamily="18" charset="0"/>
              </a:rPr>
              <a:t>1</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 and definitions for AFP distances, can result varying alignments and execution speeds.</a:t>
            </a:r>
          </a:p>
        </p:txBody>
      </p:sp>
      <p:pic>
        <p:nvPicPr>
          <p:cNvPr id="2" name="圖片 1"/>
          <p:cNvPicPr>
            <a:picLocks noChangeAspect="1"/>
          </p:cNvPicPr>
          <p:nvPr/>
        </p:nvPicPr>
        <p:blipFill>
          <a:blip r:embed="rId3"/>
          <a:stretch>
            <a:fillRect/>
          </a:stretch>
        </p:blipFill>
        <p:spPr>
          <a:xfrm>
            <a:off x="126799" y="3314354"/>
            <a:ext cx="3885732" cy="3223534"/>
          </a:xfrm>
          <a:prstGeom prst="rect">
            <a:avLst/>
          </a:prstGeom>
        </p:spPr>
      </p:pic>
      <p:pic>
        <p:nvPicPr>
          <p:cNvPr id="3" name="圖片 2"/>
          <p:cNvPicPr>
            <a:picLocks noChangeAspect="1"/>
          </p:cNvPicPr>
          <p:nvPr/>
        </p:nvPicPr>
        <p:blipFill>
          <a:blip r:embed="rId4"/>
          <a:stretch>
            <a:fillRect/>
          </a:stretch>
        </p:blipFill>
        <p:spPr>
          <a:xfrm>
            <a:off x="4012531" y="3212341"/>
            <a:ext cx="4291664" cy="3325547"/>
          </a:xfrm>
          <a:prstGeom prst="rect">
            <a:avLst/>
          </a:prstGeom>
        </p:spPr>
      </p:pic>
    </p:spTree>
    <p:extLst>
      <p:ext uri="{BB962C8B-B14F-4D97-AF65-F5344CB8AC3E}">
        <p14:creationId xmlns:p14="http://schemas.microsoft.com/office/powerpoint/2010/main" val="4207023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90403" y="360145"/>
            <a:ext cx="7772400" cy="838200"/>
          </a:xfrm>
        </p:spPr>
        <p:txBody>
          <a:bodyPr>
            <a:normAutofit/>
          </a:bodyPr>
          <a:lstStyle/>
          <a:p>
            <a:r>
              <a:rPr lang="en-US" altLang="zh-TW" sz="4000" b="1" dirty="0" smtClean="0">
                <a:latin typeface="Times New Roman" panose="02020603050405020304" pitchFamily="18" charset="0"/>
                <a:ea typeface="新細明體" panose="02020500000000000000" pitchFamily="18" charset="-120"/>
                <a:cs typeface="Times New Roman" panose="02020603050405020304" pitchFamily="18" charset="0"/>
              </a:rPr>
              <a:t>Results and Conclusion</a:t>
            </a:r>
            <a:endPar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endParaRPr>
          </a:p>
        </p:txBody>
      </p:sp>
      <p:pic>
        <p:nvPicPr>
          <p:cNvPr id="4" name="圖片 3"/>
          <p:cNvPicPr>
            <a:picLocks noChangeAspect="1"/>
          </p:cNvPicPr>
          <p:nvPr/>
        </p:nvPicPr>
        <p:blipFill>
          <a:blip r:embed="rId3"/>
          <a:stretch>
            <a:fillRect/>
          </a:stretch>
        </p:blipFill>
        <p:spPr>
          <a:xfrm>
            <a:off x="390403" y="2021305"/>
            <a:ext cx="8634111" cy="2578721"/>
          </a:xfrm>
          <a:prstGeom prst="rect">
            <a:avLst/>
          </a:prstGeom>
        </p:spPr>
      </p:pic>
    </p:spTree>
    <p:extLst>
      <p:ext uri="{BB962C8B-B14F-4D97-AF65-F5344CB8AC3E}">
        <p14:creationId xmlns:p14="http://schemas.microsoft.com/office/powerpoint/2010/main" val="31725136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90403" y="360145"/>
            <a:ext cx="7772400" cy="838200"/>
          </a:xfrm>
        </p:spPr>
        <p:txBody>
          <a:bodyPr>
            <a:normAutofit/>
          </a:bodyPr>
          <a:lstStyle/>
          <a:p>
            <a:r>
              <a:rPr lang="en-US" altLang="zh-TW" sz="4000" b="1" dirty="0" smtClean="0">
                <a:latin typeface="Times New Roman" panose="02020603050405020304" pitchFamily="18" charset="0"/>
                <a:ea typeface="新細明體" panose="02020500000000000000" pitchFamily="18" charset="-120"/>
                <a:cs typeface="Times New Roman" panose="02020603050405020304" pitchFamily="18" charset="0"/>
              </a:rPr>
              <a:t>Results and Conclusion</a:t>
            </a:r>
            <a:endPar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1527543" y="1970852"/>
            <a:ext cx="5835784" cy="3370464"/>
          </a:xfrm>
          <a:prstGeom prst="rect">
            <a:avLst/>
          </a:prstGeom>
        </p:spPr>
      </p:pic>
    </p:spTree>
    <p:extLst>
      <p:ext uri="{BB962C8B-B14F-4D97-AF65-F5344CB8AC3E}">
        <p14:creationId xmlns:p14="http://schemas.microsoft.com/office/powerpoint/2010/main" val="27295505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14866" y="358187"/>
            <a:ext cx="7772400" cy="838200"/>
          </a:xfrm>
        </p:spPr>
        <p:txBody>
          <a:bodyPr>
            <a:normAutofit/>
          </a:bodyPr>
          <a:lstStyle/>
          <a:p>
            <a:r>
              <a:rPr lang="en-US" altLang="zh-TW" sz="4000" b="1" dirty="0">
                <a:latin typeface="Times New Roman" panose="02020603050405020304" pitchFamily="18" charset="0"/>
                <a:ea typeface="新細明體" panose="02020500000000000000" pitchFamily="18" charset="-120"/>
                <a:cs typeface="Times New Roman" panose="02020603050405020304" pitchFamily="18" charset="0"/>
              </a:rPr>
              <a:t>Results and Conclusion</a:t>
            </a:r>
          </a:p>
        </p:txBody>
      </p:sp>
      <p:sp>
        <p:nvSpPr>
          <p:cNvPr id="29699" name="Rectangle 3"/>
          <p:cNvSpPr>
            <a:spLocks noGrp="1" noChangeArrowheads="1"/>
          </p:cNvSpPr>
          <p:nvPr>
            <p:ph type="body" idx="1"/>
          </p:nvPr>
        </p:nvSpPr>
        <p:spPr>
          <a:xfrm>
            <a:off x="685800" y="1278467"/>
            <a:ext cx="7772400" cy="4572000"/>
          </a:xfrm>
        </p:spPr>
        <p:txBody>
          <a:bodyPr/>
          <a:lstStyle/>
          <a:p>
            <a:pPr>
              <a:lnSpc>
                <a:spcPct val="90000"/>
              </a:lnSpc>
            </a:pP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In general, CE does not outperform previously existing structural alignment methods, such as Dali and </a:t>
            </a:r>
            <a:r>
              <a:rPr lang="en-US" altLang="zh-TW" dirty="0" smtClean="0">
                <a:latin typeface="Times New Roman" panose="02020603050405020304" pitchFamily="18" charset="0"/>
                <a:ea typeface="新細明體" panose="02020500000000000000" pitchFamily="18" charset="-120"/>
                <a:cs typeface="Times New Roman" panose="02020603050405020304" pitchFamily="18" charset="0"/>
              </a:rPr>
              <a:t>VAST</a:t>
            </a:r>
            <a:r>
              <a:rPr lang="en-US" altLang="zh-TW" dirty="0">
                <a:latin typeface="Times New Roman" panose="02020603050405020304" pitchFamily="18" charset="0"/>
                <a:ea typeface="新細明體" panose="02020500000000000000" pitchFamily="18" charset="-120"/>
                <a:cs typeface="Times New Roman" panose="02020603050405020304" pitchFamily="18" charset="0"/>
              </a:rPr>
              <a:t>.</a:t>
            </a:r>
          </a:p>
        </p:txBody>
      </p:sp>
      <p:pic>
        <p:nvPicPr>
          <p:cNvPr id="2" name="圖片 1"/>
          <p:cNvPicPr>
            <a:picLocks noChangeAspect="1"/>
          </p:cNvPicPr>
          <p:nvPr/>
        </p:nvPicPr>
        <p:blipFill>
          <a:blip r:embed="rId2"/>
          <a:stretch>
            <a:fillRect/>
          </a:stretch>
        </p:blipFill>
        <p:spPr>
          <a:xfrm>
            <a:off x="1078786" y="2698785"/>
            <a:ext cx="6986427" cy="3580270"/>
          </a:xfrm>
          <a:prstGeom prst="rect">
            <a:avLst/>
          </a:prstGeom>
        </p:spPr>
      </p:pic>
    </p:spTree>
    <p:extLst>
      <p:ext uri="{BB962C8B-B14F-4D97-AF65-F5344CB8AC3E}">
        <p14:creationId xmlns:p14="http://schemas.microsoft.com/office/powerpoint/2010/main" val="24941627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90317</TotalTime>
  <Words>627</Words>
  <Application>Microsoft Office PowerPoint</Application>
  <PresentationFormat>如螢幕大小 (4:3)</PresentationFormat>
  <Paragraphs>68</Paragraphs>
  <Slides>14</Slides>
  <Notes>9</Notes>
  <HiddenSlides>0</HiddenSlides>
  <MMClips>0</MMClips>
  <ScaleCrop>false</ScaleCrop>
  <HeadingPairs>
    <vt:vector size="8" baseType="variant">
      <vt:variant>
        <vt:lpstr>使用字型</vt:lpstr>
      </vt:variant>
      <vt:variant>
        <vt:i4>9</vt:i4>
      </vt:variant>
      <vt:variant>
        <vt:lpstr>佈景主題</vt:lpstr>
      </vt:variant>
      <vt:variant>
        <vt:i4>1</vt:i4>
      </vt:variant>
      <vt:variant>
        <vt:lpstr>內嵌 OLE 伺服程式</vt:lpstr>
      </vt:variant>
      <vt:variant>
        <vt:i4>1</vt:i4>
      </vt:variant>
      <vt:variant>
        <vt:lpstr>投影片標題</vt:lpstr>
      </vt:variant>
      <vt:variant>
        <vt:i4>14</vt:i4>
      </vt:variant>
    </vt:vector>
  </HeadingPairs>
  <TitlesOfParts>
    <vt:vector size="25" baseType="lpstr">
      <vt:lpstr>新細明體</vt:lpstr>
      <vt:lpstr>標楷體</vt:lpstr>
      <vt:lpstr>Arial</vt:lpstr>
      <vt:lpstr>Calibri</vt:lpstr>
      <vt:lpstr>Calibri Light</vt:lpstr>
      <vt:lpstr>Symbol</vt:lpstr>
      <vt:lpstr>Tahoma</vt:lpstr>
      <vt:lpstr>Times New Roman</vt:lpstr>
      <vt:lpstr>Wingdings</vt:lpstr>
      <vt:lpstr>Office 佈景主題</vt:lpstr>
      <vt:lpstr>Microsoft 方程式編輯器 3.0</vt:lpstr>
      <vt:lpstr>Protein Structure Alignment by Incremental Combinatorial Extension (CE) of the Optimal Path</vt:lpstr>
      <vt:lpstr>Abstract(1/2)</vt:lpstr>
      <vt:lpstr>Abstract(2/2)</vt:lpstr>
      <vt:lpstr>Alignment Fragment Pairs</vt:lpstr>
      <vt:lpstr>Alignment Fragment Pairs</vt:lpstr>
      <vt:lpstr>Defining an Alignment</vt:lpstr>
      <vt:lpstr>The CE Algorithm</vt:lpstr>
      <vt:lpstr>AFP Distances</vt:lpstr>
      <vt:lpstr>Alignment Fragment Pairs</vt:lpstr>
      <vt:lpstr>Extending the Alignment Path</vt:lpstr>
      <vt:lpstr>Results and Conclusion</vt:lpstr>
      <vt:lpstr>Results and Conclusion</vt:lpstr>
      <vt:lpstr>Results and Conclusion</vt:lpstr>
      <vt:lpstr>Results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豐仰 蔡</cp:lastModifiedBy>
  <cp:revision>735</cp:revision>
  <dcterms:created xsi:type="dcterms:W3CDTF">2017-09-25T08:45:50Z</dcterms:created>
  <dcterms:modified xsi:type="dcterms:W3CDTF">2019-07-23T11:12:51Z</dcterms:modified>
</cp:coreProperties>
</file>