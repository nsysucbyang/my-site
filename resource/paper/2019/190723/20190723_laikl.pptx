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2" r:id="rId2"/>
    <p:sldId id="273" r:id="rId3"/>
    <p:sldId id="324" r:id="rId4"/>
    <p:sldId id="351" r:id="rId5"/>
    <p:sldId id="339" r:id="rId6"/>
    <p:sldId id="341" r:id="rId7"/>
    <p:sldId id="343" r:id="rId8"/>
    <p:sldId id="347" r:id="rId9"/>
    <p:sldId id="340" r:id="rId10"/>
    <p:sldId id="344" r:id="rId11"/>
    <p:sldId id="320" r:id="rId12"/>
    <p:sldId id="348" r:id="rId13"/>
    <p:sldId id="349" r:id="rId14"/>
    <p:sldId id="326" r:id="rId15"/>
    <p:sldId id="345" r:id="rId16"/>
    <p:sldId id="323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labeveryone" initials="p" lastIdx="1" clrIdx="0">
    <p:extLst>
      <p:ext uri="{19B8F6BF-5375-455C-9EA6-DF929625EA0E}">
        <p15:presenceInfo xmlns:p15="http://schemas.microsoft.com/office/powerpoint/2012/main" userId="pplabevery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EC917-2184-4946-BB82-84EF861DCF35}" type="datetimeFigureOut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844C-1032-416A-8E33-99B56B001B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維羅納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4844C-1032-416A-8E33-99B56B001B4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39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291E9FB-D310-4BD9-851D-6425E632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05CC2D6F-06AF-4931-9709-FCA05DC51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605EB6B2-427A-4CAE-9619-FAB6B597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DF39B-ACCF-4698-B3D8-AC12F836EF1A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3769ABC4-7C32-44E3-9772-E2B3357F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55D64BD-9081-466C-8D01-FBF7065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9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6C11C1B-A165-4738-A98E-CDF82413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56B1918-D436-4343-9D7A-DF8FD42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FAC802BB-9E18-4069-B6E3-D70E22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480A9-2CB8-47CA-A793-84CBC30B9F17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4D17E016-6221-4C76-A778-1966A7E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C950188-5923-4BE5-BBF8-007D2F5A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3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FCEA3C-318E-4A4F-A7B9-E2D385E1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D363CFCA-1D31-4F2D-A2FA-912CBE68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73F6391A-F661-4379-94A2-4643E5BF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3DC9-E994-4937-B206-27E5872EE929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95108C4-69A9-44CA-89F5-763AB52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A53FF97E-7194-4B2D-8634-E29DD61D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9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152C97B-1F56-4785-8A30-DA86E60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F29B196-61A8-4EA9-B0FF-4353875D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29105522-46EF-4155-B59E-FF1C09A54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E82E778C-6D5C-4349-B49E-A36748F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F7627-3D85-41C9-83FC-13952FBB265F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7706EA42-D460-4907-9704-D34B3B57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37E264FC-4808-4790-BD8F-8211BE53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A27751A-93CE-4DE8-B797-C436DD9F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08A2ABA1-97A7-4A9B-8822-523C3817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E16E0FC9-B7AA-41A0-B866-A41045B3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0FC33553-8EC2-4658-A3F0-AC45384FB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503BC847-C398-4803-A4DB-B409F0FA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18638424-171A-4453-A77D-F5E415E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F3995-4927-45FA-8995-DBC3D9D8B61D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C80A086D-9FDA-468B-AAB3-0018938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6DC85732-9691-4144-9A38-E61C8463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5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E441B06-8711-4961-AEB7-AEE157F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B2D84982-DA61-40F8-865E-241B2E63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2B423-610C-404B-9446-3A6F4FF5ABBC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688FECA4-B1F2-4027-8D2C-8751FB26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49751A0D-D313-4013-94A2-D4003C1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23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BB4FDBCA-0F26-49FD-AD09-208FE4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D1D84-1922-4BDA-841B-2B9315942FF0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A1FBB2FB-5464-4A73-AE50-DCF81B3A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6065D78-C5F8-47FF-AA94-888FCEF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3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05D31BA-37F1-4225-B290-CB3296C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44D63C7-7D4E-47D8-B09A-DDD52D895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0A09B261-64A1-45E3-BCCC-4B347BCE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A21D7D45-2485-430D-85B6-E0EDD74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550C7-50C9-49E1-BAAA-D09EF424B286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F0B9DB85-5A5B-48DF-A996-3201B8D8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BB426B7C-FD89-4D9B-887E-55B2A01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C8B7B3C-2DD9-46E7-A713-12783EFB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429D5A80-7E30-4CE2-9F20-F249813FD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DD48E2E-ABAE-41A2-9298-3BB31EBF9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4BA1B74B-A084-41FB-850C-9D7955CB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21BE4-B5C0-4243-98A5-596F4C40395A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EB315B08-E79A-42EE-A2FC-F1C68A5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973802BE-840F-4C01-9050-6E70D196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3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4FC5363-AA72-4929-A8D8-981DE83C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A60E5AE7-6730-4E4A-A491-978032D4A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5324A45A-6563-4F21-B472-F95E7E93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88DDB-2856-402A-9CDB-0EBE9C17111F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BEF7F7B-52C7-426B-9978-644A1D1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D5A41F3-8A5F-4AA2-BC76-BA2BC35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33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9176A2CC-7A46-4F55-85C4-AA9FCEBA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843CA45E-F614-4C8C-8C28-E5CB2DA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2E923DF-42AC-42EC-8C59-8AE2A2D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782C-3D96-4B00-8A0F-B1FA7B5F3C27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05EF9B0E-8C96-4598-AD8E-7166BFAB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8AC7952-2B0D-4AEE-853B-D7C07AA4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2CAC3753-89D0-4CF8-9AD2-2EDC0758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0D946258-EAA0-48EF-BC94-91018787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50B7139B-A4A4-4FF6-8485-DAC90BA5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4B4BB-4265-4981-8EFC-1D65149BBF46}" type="datetime1">
              <a:rPr lang="zh-TW" altLang="en-US" smtClean="0"/>
              <a:t>2019/7/23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F0E61B-8D31-44C4-971C-1AE9FB565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5CA5F1E-BB32-417E-9E65-5152DAF7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8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880" y="1092965"/>
            <a:ext cx="11148240" cy="1437553"/>
          </a:xfrm>
        </p:spPr>
        <p:txBody>
          <a:bodyPr>
            <a:noAutofit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Unique Palindromic Substring Queries on Run-Length Encoded Strings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9002" y="3076948"/>
            <a:ext cx="11533996" cy="3781052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Kiichi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Watanabe,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Yuto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Nakashima,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Shunsuke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Inenaga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Hideo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Bannai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Masayuki Takeda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International Workshop on Combinatorial Algorithms (IWOCA)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Pisa, Italy, 23-25 July,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430-441, 2019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July 23,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0D3D5DA-CA03-4E74-BB03-6983A0AC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174" y="6356350"/>
            <a:ext cx="428625" cy="365125"/>
          </a:xfrm>
        </p:spPr>
        <p:txBody>
          <a:bodyPr/>
          <a:lstStyle/>
          <a:p>
            <a:fld id="{DF72A0DF-A681-43DB-AFF4-A7471DEB21F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ED643E-E99E-4F12-92FE-709248FF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9FB915B7-780A-4747-AA36-2299BB4693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10764915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string S, a palindromic substring S[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..j] is said to be a shortest unique palindromic substring (SUPS) for an interval [s, t] in S, if S[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..j] occurs exactly once in S, the interval 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j] contains [s, t], and every palindromic substring containing [s, t] which is shorter than S[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..j] occurs at least twice in S. In this paper, we study the problem of answering SUPS queries on run-length encoded strings. We show how to preprocess a given run-length encoded string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𝑅𝐿𝐸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size m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 and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𝑅𝐿𝐸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ad>
                      <m:radPr>
                        <m:degHide m:val="on"/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</m:t>
                        </m:r>
                        <m:r>
                          <m:rPr>
                            <m:sty m:val="p"/>
                          </m:rPr>
                          <a:rPr lang="en-US" altLang="zh-TW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ra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so that all SUPSs for any subsequent query interval can be answered in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</m:t>
                        </m:r>
                        <m:r>
                          <m:rPr>
                            <m:sty m:val="p"/>
                          </m:rPr>
                          <a:rPr lang="en-US" altLang="zh-TW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rad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time, where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outputs,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𝑅𝐿𝐸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number of distinct runs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𝑅𝐿𝐸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FB915B7-780A-4747-AA36-2299BB4693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10764915" cy="4351338"/>
              </a:xfrm>
              <a:blipFill>
                <a:blip r:embed="rId2"/>
                <a:stretch>
                  <a:fillRect l="-1133" t="-3361" r="-1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8DE391CC-80F5-4C57-9BD1-096FAF14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87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F2D4E36-40BE-4782-BD8D-088F5B88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MUPS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003E7E8-E62F-4445-BE04-FEF6F7790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398" y="1899515"/>
            <a:ext cx="11050152" cy="4129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MUPS: minimal unique palindrome substring</a:t>
            </a:r>
            <a:br>
              <a:rPr lang="en-US" altLang="zh-TW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831E1836-0057-4AA6-ABEF-1E93D8E1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054" y="3429000"/>
            <a:ext cx="9405891" cy="246981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6A802BD5-DFAE-4E4E-B05F-FFC4F7D5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4F10B97B-D026-408B-A746-86BA0BDC50A8}"/>
              </a:ext>
            </a:extLst>
          </p:cNvPr>
          <p:cNvSpPr/>
          <p:nvPr/>
        </p:nvSpPr>
        <p:spPr>
          <a:xfrm>
            <a:off x="2057400" y="4957928"/>
            <a:ext cx="7667625" cy="899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2762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7D038A6-F688-49E4-9E70-DC82AA10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3691B2BE-3F38-4295-9243-39B6BD2D48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847850"/>
                <a:ext cx="11353800" cy="4351338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altLang="zh-TW" sz="5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SUPS: shortest unique palindromic substring</a:t>
                </a: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TW" sz="38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3800" i="1" dirty="0"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en-US" altLang="zh-TW" sz="38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sz="3800" i="1" dirty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𝑠𝑡𝑟𝑖𝑛𝑔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𝑐𝑎𝑙𝑙𝑒𝑑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𝑠h𝑜𝑟𝑡𝑒𝑠𝑡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𝑢𝑛𝑖𝑞𝑢𝑒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𝑝𝑎𝑙𝑖𝑛𝑑𝑟𝑜𝑚𝑖𝑐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𝑠𝑢𝑏𝑠𝑡𝑟𝑖𝑛𝑔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𝑆𝑈𝑃𝑆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𝑖𝑛𝑡𝑒𝑟𝑣𝑎𝑙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3800" i="1" dirty="0" smtClean="0">
                          <a:latin typeface="Cambria Math" panose="02040503050406030204" pitchFamily="18" charset="0"/>
                        </a:rPr>
                        <m:t>𝑖𝑓𝑓</m:t>
                      </m:r>
                    </m:oMath>
                  </m:oMathPara>
                </a14:m>
                <a:endParaRPr lang="en-US" altLang="zh-TW" sz="3800" dirty="0">
                  <a:latin typeface="Times New Roman" panose="02020603050405020304" pitchFamily="18" charset="0"/>
                </a:endParaRPr>
              </a:p>
              <a:p>
                <a:pPr marL="514350" indent="-514350">
                  <a:buAutoNum type="arabicParenBoth"/>
                </a:pPr>
                <a14:m>
                  <m:oMath xmlns:m="http://schemas.openxmlformats.org/officeDocument/2006/math"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𝑢𝑛𝑖𝑞𝑢𝑒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𝑝𝑎𝑙𝑖𝑛𝑑𝑟𝑜𝑚𝑖𝑐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𝑠𝑢𝑏𝑠𝑡𝑟𝑖𝑛𝑔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en-US" altLang="zh-TW" sz="3800" dirty="0"/>
              </a:p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14:m>
                  <m:oMath xmlns:m="http://schemas.openxmlformats.org/officeDocument/2006/math"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] ⊆ [</m:t>
                    </m:r>
                    <m:r>
                      <a:rPr lang="en-US" altLang="zh-TW" sz="38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TW" sz="3800" dirty="0"/>
              </a:p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14:m>
                  <m:oMath xmlns:m="http://schemas.openxmlformats.org/officeDocument/2006/math"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𝑡h𝑒𝑟𝑒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𝑢𝑛𝑖𝑞𝑢𝑒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𝑝𝑎𝑙𝑖𝑛𝑑𝑟𝑜𝑚𝑖𝑐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𝑠𝑢𝑏𝑠𝑡𝑟𝑖𝑛𝑔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sz="3800" b="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8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altLang="zh-TW" sz="3800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800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]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𝑠𝑢𝑐h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[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] ⊆ [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′..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3800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] 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 |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| &lt; |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TW" sz="380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sz="3800" dirty="0"/>
              </a:p>
              <a:p>
                <a:pPr marL="514350" indent="-514350">
                  <a:buAutoNum type="arabicParenBoth"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Both"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691B2BE-3F38-4295-9243-39B6BD2D48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847850"/>
                <a:ext cx="11353800" cy="4351338"/>
              </a:xfrm>
              <a:blipFill>
                <a:blip r:embed="rId2"/>
                <a:stretch>
                  <a:fillRect l="-859" t="-33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066444BC-E0C2-4B35-9A9A-3F84665BE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CCA44A02-B96D-4C17-A57A-2A27B8884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054" y="3886532"/>
            <a:ext cx="9405891" cy="246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8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EB9F144-F370-49D1-9660-0EDB4977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Run Length Encoding (RLE)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FB96923F-0742-4649-8E93-39EC9AF9AC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4604"/>
                <a:ext cx="10515600" cy="45929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Ex1:  S </a:t>
                </a:r>
                <a:r>
                  <a:rPr lang="en-US" altLang="zh-TW" dirty="0"/>
                  <a:t>=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bbbaabbabbaaabbaaabbb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𝑅𝐿𝐸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:r>
                  <a:rPr lang="en-US" altLang="zh-TW" dirty="0"/>
                  <a:t>=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(b,3),(a,2),(b,2),(a,1),(b,2),(a,3),(b,2),(a,3),(b,3)</a:t>
                </a:r>
              </a:p>
              <a:p>
                <a:pPr marL="0" indent="0">
                  <a:buNone/>
                </a:pPr>
                <a:endParaRPr lang="en-US" altLang="zh-TW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Ex2:  S </a:t>
                </a:r>
                <a:r>
                  <a:rPr lang="en-US" altLang="zh-TW" dirty="0"/>
                  <a:t>=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caabbcccbbaac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𝑅𝐿𝐸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𝑅𝐿𝐸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𝑏𝑜𝑢𝑛𝑑𝑒𝑑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𝑅𝐿𝐸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𝑚𝑎𝑥𝑖𝑚𝑎𝑙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</a:t>
                </a:r>
                <a:r>
                  <a:rPr lang="en-US" altLang="zh-TW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B96923F-0742-4649-8E93-39EC9AF9AC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4604"/>
                <a:ext cx="10515600" cy="4592930"/>
              </a:xfrm>
              <a:blipFill>
                <a:blip r:embed="rId2"/>
                <a:stretch>
                  <a:fillRect l="-1217" t="-2523" b="-5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9FD3D073-4311-46C2-A014-6940DB59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68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6E4815A-03CF-4864-A39E-E92646D7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A58AC77-852A-4020-8DD9-1E7B902D3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2E4366ED-095D-45F5-B542-664012D6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707"/>
            <a:ext cx="11082291" cy="2036585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B0AB63BB-5777-42F9-B9CD-CE9F7457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63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EE62A8D-69FB-41C9-8F2F-B2D3D8E8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F1D5E18-7E33-4B40-A10C-34F070A2B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41F30233-7462-473B-A7A2-FFF864F9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65" y="1690688"/>
            <a:ext cx="10909503" cy="116182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9C187148-DA29-43AE-AE90-E925031CE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65" y="3547267"/>
            <a:ext cx="11055188" cy="85612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9EE6F627-1F4D-4264-8B0B-9C9197B03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65" y="5098143"/>
            <a:ext cx="7212563" cy="450785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xmlns="" id="{7E6549F5-60EF-4C19-A1AE-61CB5F5B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xmlns="" id="{5D4F5855-BFA6-407B-8481-17527100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56765"/>
            <a:ext cx="10719384" cy="365125"/>
          </a:xfrm>
        </p:spPr>
        <p:txBody>
          <a:bodyPr/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Inoue 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Algorithms and combinatorial properties on shortest unique palindromic substrings. J. Discrete Algorithms 52–53, 122–132 (2018)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42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F2D4E36-40BE-4782-BD8D-088F5B886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MUPS and SUPS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A003E7E8-E62F-4445-BE04-FEF6F7790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398" y="1899516"/>
            <a:ext cx="7738595" cy="15294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MUPS: minimal unique palindrome substring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SUPS:  shortest unique palindrome substring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60635F87-A339-422B-A31F-623D6509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8</a:t>
            </a:fld>
            <a:endParaRPr lang="zh-TW" altLang="en-US"/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323EB864-EEF7-43BB-8CDC-2D67F933E020}"/>
              </a:ext>
            </a:extLst>
          </p:cNvPr>
          <p:cNvCxnSpPr>
            <a:cxnSpLocks/>
          </p:cNvCxnSpPr>
          <p:nvPr/>
        </p:nvCxnSpPr>
        <p:spPr>
          <a:xfrm>
            <a:off x="3733800" y="5254408"/>
            <a:ext cx="218122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1316C866-0C77-4E5E-9D20-48B56F4B7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3214687"/>
            <a:ext cx="9372600" cy="1971675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325A79D0-9862-425B-95E3-BEEE06B77126}"/>
              </a:ext>
            </a:extLst>
          </p:cNvPr>
          <p:cNvSpPr txBox="1"/>
          <p:nvPr/>
        </p:nvSpPr>
        <p:spPr>
          <a:xfrm>
            <a:off x="3990975" y="5371246"/>
            <a:ext cx="1943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SUPS for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[6, 7]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697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D3C3DBF-0553-4D9A-9517-080E2E99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RLE Version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Manacher’s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423C97AC-1F0F-4959-AAC5-A0CEAF7C4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dirty="0"/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bbbaabbbab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#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b#b#b#a#a#b#b#b#a#b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dirty="0"/>
              <a:t>=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b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A9F76E09-7173-48F6-A167-ECD62494A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278177"/>
              </p:ext>
            </p:extLst>
          </p:nvPr>
        </p:nvGraphicFramePr>
        <p:xfrm>
          <a:off x="1845567" y="2591062"/>
          <a:ext cx="808928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464">
                  <a:extLst>
                    <a:ext uri="{9D8B030D-6E8A-4147-A177-3AD203B41FA5}">
                      <a16:colId xmlns:a16="http://schemas.microsoft.com/office/drawing/2014/main" xmlns="" val="3258932786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4092665787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2578084998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2126698113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131969471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2626089131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3969505014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201117380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1692537289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1985020645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1886413190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3820081893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4017514379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2331078753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2181702417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852427912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3508818770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1583296817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3032280199"/>
                    </a:ext>
                  </a:extLst>
                </a:gridCol>
                <a:gridCol w="404464">
                  <a:extLst>
                    <a:ext uri="{9D8B030D-6E8A-4147-A177-3AD203B41FA5}">
                      <a16:colId xmlns:a16="http://schemas.microsoft.com/office/drawing/2014/main" xmlns="" val="1279885670"/>
                    </a:ext>
                  </a:extLst>
                </a:gridCol>
              </a:tblGrid>
              <a:tr h="550128">
                <a:tc>
                  <a:txBody>
                    <a:bodyPr/>
                    <a:lstStyle/>
                    <a:p>
                      <a:r>
                        <a:rPr lang="en-US" altLang="zh-TW" sz="3200" b="0" i="1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32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#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45410351"/>
                  </a:ext>
                </a:extLst>
              </a:tr>
              <a:tr h="550128">
                <a:tc>
                  <a:txBody>
                    <a:bodyPr/>
                    <a:lstStyle/>
                    <a:p>
                      <a:r>
                        <a:rPr lang="en-US" altLang="zh-TW" sz="3200" b="0" i="1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TW" altLang="en-US" sz="3200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7994380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7D2BC75B-9E45-4AA5-AC68-F3C136745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075848"/>
              </p:ext>
            </p:extLst>
          </p:nvPr>
        </p:nvGraphicFramePr>
        <p:xfrm>
          <a:off x="2209553" y="5140643"/>
          <a:ext cx="709425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425">
                  <a:extLst>
                    <a:ext uri="{9D8B030D-6E8A-4147-A177-3AD203B41FA5}">
                      <a16:colId xmlns:a16="http://schemas.microsoft.com/office/drawing/2014/main" xmlns="" val="1621226818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2135529917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675557264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663071944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1120778552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2538087120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2369221436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2455971675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1742312423"/>
                    </a:ext>
                  </a:extLst>
                </a:gridCol>
                <a:gridCol w="709425">
                  <a:extLst>
                    <a:ext uri="{9D8B030D-6E8A-4147-A177-3AD203B41FA5}">
                      <a16:colId xmlns:a16="http://schemas.microsoft.com/office/drawing/2014/main" xmlns="" val="3454613279"/>
                    </a:ext>
                  </a:extLst>
                </a:gridCol>
              </a:tblGrid>
              <a:tr h="4825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7490583"/>
                  </a:ext>
                </a:extLst>
              </a:tr>
              <a:tr h="4825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43033023"/>
                  </a:ext>
                </a:extLst>
              </a:tr>
            </a:tbl>
          </a:graphicData>
        </a:graphic>
      </p:graphicFrame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F0A4FE8-D102-4E83-8397-010E092B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238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737E653-C7AE-4BAA-BBCE-3B34DFAF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version EERTREE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4BD01EF-6D50-40E1-B337-CC4A6EF3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495488" cy="435133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Edge(    )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link (    )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-1: imaginary string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0 : empty string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xmlns="" id="{328103EF-BA46-425A-BE36-FCC3C088FFAF}"/>
              </a:ext>
            </a:extLst>
          </p:cNvPr>
          <p:cNvCxnSpPr>
            <a:cxnSpLocks/>
          </p:cNvCxnSpPr>
          <p:nvPr/>
        </p:nvCxnSpPr>
        <p:spPr>
          <a:xfrm>
            <a:off x="2182335" y="2110189"/>
            <a:ext cx="30080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35DA01BC-FC77-4C35-9B28-A3C32B5CB7E9}"/>
              </a:ext>
            </a:extLst>
          </p:cNvPr>
          <p:cNvCxnSpPr>
            <a:cxnSpLocks/>
          </p:cNvCxnSpPr>
          <p:nvPr/>
        </p:nvCxnSpPr>
        <p:spPr>
          <a:xfrm>
            <a:off x="3154260" y="2676088"/>
            <a:ext cx="10905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xmlns="" id="{F804C833-A296-4E71-AF9E-CABB4DAC4921}"/>
              </a:ext>
            </a:extLst>
          </p:cNvPr>
          <p:cNvCxnSpPr>
            <a:cxnSpLocks/>
          </p:cNvCxnSpPr>
          <p:nvPr/>
        </p:nvCxnSpPr>
        <p:spPr>
          <a:xfrm>
            <a:off x="3355596" y="2676088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F9CC1A06-4F80-429F-9D5C-D47B0D0B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985" y="781050"/>
            <a:ext cx="3581400" cy="52959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B606443F-F94F-4AF0-BC1E-BFF9300D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9384" y="6356350"/>
            <a:ext cx="634415" cy="365125"/>
          </a:xfrm>
        </p:spPr>
        <p:txBody>
          <a:bodyPr/>
          <a:lstStyle/>
          <a:p>
            <a:fld id="{DF72A0DF-A681-43DB-AFF4-A7471DEB21FE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A75BE858-5949-44E2-A87D-6E642C40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56765"/>
            <a:ext cx="10719384" cy="365125"/>
          </a:xfrm>
        </p:spPr>
        <p:txBody>
          <a:bodyPr/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Mikhail 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Rubinchik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Arseny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M. 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Shur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EERTREE: an efficient data structure for processing palindromes in strings. Eur. J. Comb. 68, 249–265 (2018)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67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737E653-C7AE-4BAA-BBCE-3B34DFAF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RLE version of EERTREE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4BD01EF-6D50-40E1-B337-CC4A6EF3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4954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3200" dirty="0"/>
              <a:t>=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651C9D65-5703-4393-86D2-7A71931A5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492" y="2752875"/>
            <a:ext cx="7084708" cy="3108967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xmlns="" id="{C007A78D-675D-4C9D-B68E-073B3C8D8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419823"/>
              </p:ext>
            </p:extLst>
          </p:nvPr>
        </p:nvGraphicFramePr>
        <p:xfrm>
          <a:off x="4824356" y="1607496"/>
          <a:ext cx="7367640" cy="96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764">
                  <a:extLst>
                    <a:ext uri="{9D8B030D-6E8A-4147-A177-3AD203B41FA5}">
                      <a16:colId xmlns:a16="http://schemas.microsoft.com/office/drawing/2014/main" xmlns="" val="1621226818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2135529917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675557264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663071944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1120778552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2538087120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2369221436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2455971675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1742312423"/>
                    </a:ext>
                  </a:extLst>
                </a:gridCol>
                <a:gridCol w="736764">
                  <a:extLst>
                    <a:ext uri="{9D8B030D-6E8A-4147-A177-3AD203B41FA5}">
                      <a16:colId xmlns:a16="http://schemas.microsoft.com/office/drawing/2014/main" xmlns="" val="3454613279"/>
                    </a:ext>
                  </a:extLst>
                </a:gridCol>
              </a:tblGrid>
              <a:tr h="4825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47490583"/>
                  </a:ext>
                </a:extLst>
              </a:tr>
              <a:tr h="4825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solidFill>
                            <a:schemeClr val="tx1"/>
                          </a:solidFill>
                        </a:rPr>
                        <a:t>CPal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43033023"/>
                  </a:ext>
                </a:extLst>
              </a:tr>
            </a:tbl>
          </a:graphicData>
        </a:graphic>
      </p:graphicFrame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79A44717-4EA5-44C6-A205-5F6E1AB0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03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67ED622-4ACB-49BC-91C1-8BB64A76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 of MUPS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B595D6AF-3EDB-46E1-9498-7775A56CA1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9550" y="2005012"/>
                <a:ext cx="117729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baseline="30000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b="0" i="1" baseline="30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 MUPS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  <a:br>
                  <a:rPr lang="en-US" altLang="zh-TW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400" i="1" baseline="30000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𝑀𝑈𝑃𝑆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</a:rPr>
                      <m:t>𝑖𝑓𝑓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𝑙𝑎𝑟𝑔𝑒𝑠𝑡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𝑒𝑥𝑝𝑜𝑛𝑒𝑛𝑡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𝑎𝑙𝑙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𝑟𝑢𝑛𝑠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 dirty="0" err="1">
                        <a:latin typeface="Cambria Math" panose="02040503050406030204" pitchFamily="18" charset="0"/>
                      </a:rPr>
                      <m:t>𝑜𝑐𝑐</m:t>
                    </m:r>
                    <m:r>
                      <a:rPr lang="en-US" altLang="zh-TW" sz="2400" i="1" baseline="-25000" dirty="0" err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sz="2400" i="1" baseline="30000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= 1</m:t>
                    </m:r>
                  </m:oMath>
                </a14:m>
                <a:endParaRPr lang="en-US" altLang="zh-TW" sz="2400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form MUPS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  <a:br>
                  <a:rPr lang="en-US" altLang="zh-TW" i="1" dirty="0">
                    <a:latin typeface="Cambria Math" panose="02040503050406030204" pitchFamily="18" charset="0"/>
                  </a:rPr>
                </a:br>
                <a:r>
                  <a:rPr lang="en-US" altLang="zh-TW" i="1" dirty="0">
                    <a:latin typeface="Cambria Math" panose="02040503050406030204" pitchFamily="18" charset="0"/>
                  </a:rPr>
                  <a:t>               </a:t>
                </a:r>
                <a:br>
                  <a:rPr lang="en-US" altLang="zh-TW" i="1" dirty="0">
                    <a:latin typeface="Cambria Math" panose="02040503050406030204" pitchFamily="18" charset="0"/>
                  </a:rPr>
                </a:br>
                <a:r>
                  <a:rPr lang="en-US" altLang="zh-TW" i="1" dirty="0">
                    <a:latin typeface="Cambria Math" panose="02040503050406030204" pitchFamily="18" charset="0"/>
                  </a:rPr>
                  <a:t/>
                </a:r>
                <a:br>
                  <a:rPr lang="en-US" altLang="zh-TW" i="1" dirty="0">
                    <a:latin typeface="Cambria Math" panose="02040503050406030204" pitchFamily="18" charset="0"/>
                  </a:rPr>
                </a:br>
                <a:r>
                  <a:rPr lang="en-US" altLang="zh-TW" i="1" dirty="0">
                    <a:latin typeface="Cambria Math" panose="02040503050406030204" pitchFamily="18" charset="0"/>
                  </a:rPr>
                  <a:t/>
                </a:r>
                <a:br>
                  <a:rPr lang="en-US" altLang="zh-TW" i="1" dirty="0">
                    <a:latin typeface="Cambria Math" panose="02040503050406030204" pitchFamily="18" charset="0"/>
                  </a:rPr>
                </a:b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595D6AF-3EDB-46E1-9498-7775A56CA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9550" y="2005012"/>
                <a:ext cx="11772900" cy="4351338"/>
              </a:xfrm>
              <a:blipFill>
                <a:blip r:embed="rId2"/>
                <a:stretch>
                  <a:fillRect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5452E74A-7C83-4CD6-A69B-A01A22F8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4174" y="6356350"/>
            <a:ext cx="809625" cy="365125"/>
          </a:xfrm>
        </p:spPr>
        <p:txBody>
          <a:bodyPr/>
          <a:lstStyle/>
          <a:p>
            <a:fld id="{DF72A0DF-A681-43DB-AFF4-A7471DEB21FE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C67FC353-2ADA-4A07-A99B-91797BE07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481077"/>
              </p:ext>
            </p:extLst>
          </p:nvPr>
        </p:nvGraphicFramePr>
        <p:xfrm>
          <a:off x="1266824" y="4593790"/>
          <a:ext cx="9496431" cy="946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211">
                  <a:extLst>
                    <a:ext uri="{9D8B030D-6E8A-4147-A177-3AD203B41FA5}">
                      <a16:colId xmlns:a16="http://schemas.microsoft.com/office/drawing/2014/main" xmlns="" val="68673900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2895202433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1602165330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3094078092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2641767142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3171497746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2660681935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3551274223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3899273994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893930349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461807139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2296102704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2860613520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1507961697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4221691649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3378338475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2774815860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418874279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4277572403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759454440"/>
                    </a:ext>
                  </a:extLst>
                </a:gridCol>
                <a:gridCol w="452211">
                  <a:extLst>
                    <a:ext uri="{9D8B030D-6E8A-4147-A177-3AD203B41FA5}">
                      <a16:colId xmlns:a16="http://schemas.microsoft.com/office/drawing/2014/main" xmlns="" val="2473548246"/>
                    </a:ext>
                  </a:extLst>
                </a:gridCol>
              </a:tblGrid>
              <a:tr h="3922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1461157"/>
                  </a:ext>
                </a:extLst>
              </a:tr>
              <a:tr h="55012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70468348"/>
                  </a:ext>
                </a:extLst>
              </a:tr>
            </a:tbl>
          </a:graphicData>
        </a:graphic>
      </p:graphicFrame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xmlns="" id="{0249BAB2-2199-4E1E-BA17-1A710F0245FE}"/>
              </a:ext>
            </a:extLst>
          </p:cNvPr>
          <p:cNvCxnSpPr>
            <a:cxnSpLocks/>
          </p:cNvCxnSpPr>
          <p:nvPr/>
        </p:nvCxnSpPr>
        <p:spPr>
          <a:xfrm>
            <a:off x="7229475" y="5540158"/>
            <a:ext cx="253365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xmlns="" id="{5CDE4566-2204-42F4-B7A7-AFC39B37BA0C}"/>
              </a:ext>
            </a:extLst>
          </p:cNvPr>
          <p:cNvCxnSpPr>
            <a:cxnSpLocks/>
          </p:cNvCxnSpPr>
          <p:nvPr/>
        </p:nvCxnSpPr>
        <p:spPr>
          <a:xfrm>
            <a:off x="5924550" y="5657850"/>
            <a:ext cx="24765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xmlns="" id="{9D1A775E-40B1-4FC0-BFBC-6F24100290A0}"/>
              </a:ext>
            </a:extLst>
          </p:cNvPr>
          <p:cNvCxnSpPr>
            <a:cxnSpLocks/>
          </p:cNvCxnSpPr>
          <p:nvPr/>
        </p:nvCxnSpPr>
        <p:spPr>
          <a:xfrm>
            <a:off x="4067175" y="5530633"/>
            <a:ext cx="2114549" cy="4763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xmlns="" id="{5255AA5C-C7AB-43D2-B415-7F5EF9FA9EF3}"/>
              </a:ext>
            </a:extLst>
          </p:cNvPr>
          <p:cNvCxnSpPr>
            <a:cxnSpLocks/>
          </p:cNvCxnSpPr>
          <p:nvPr/>
        </p:nvCxnSpPr>
        <p:spPr>
          <a:xfrm>
            <a:off x="1781180" y="5525870"/>
            <a:ext cx="2114549" cy="4763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99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737E653-C7AE-4BAA-BBCE-3B34DFAF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MUPS from e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rtre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E4BD01EF-6D50-40E1-B337-CC4A6EF34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69246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TW" sz="3200" dirty="0"/>
              <a:t>=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b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TW" sz="3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MUPS: 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baab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abbaaabba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aabbaa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651C9D65-5703-4393-86D2-7A71931A5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942" y="2933059"/>
            <a:ext cx="7084708" cy="3108967"/>
          </a:xfrm>
          <a:prstGeom prst="rect">
            <a:avLst/>
          </a:prstGeom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79A44717-4EA5-44C6-A205-5F6E1AB0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2676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F7809A48-B256-4587-A9F1-2A9BD4407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2A1FE7F7-6220-42D2-9AB7-57E079C8B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1: [3, 9]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2: [6, 11]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 3: [6, 7], [9, 11]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9E442957-5195-45FC-824E-B1E2A01A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3DFF7200-10B8-4E6C-A598-15B72807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2" y="3581400"/>
            <a:ext cx="9458325" cy="1524000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xmlns="" id="{5C30D501-0F4F-4B4A-8AB0-433270177042}"/>
              </a:ext>
            </a:extLst>
          </p:cNvPr>
          <p:cNvCxnSpPr>
            <a:cxnSpLocks/>
          </p:cNvCxnSpPr>
          <p:nvPr/>
        </p:nvCxnSpPr>
        <p:spPr>
          <a:xfrm flipV="1">
            <a:off x="3409950" y="5105400"/>
            <a:ext cx="3028950" cy="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xmlns="" id="{8D357F90-712A-4FA2-B308-7D7F41D5E700}"/>
              </a:ext>
            </a:extLst>
          </p:cNvPr>
          <p:cNvCxnSpPr>
            <a:cxnSpLocks/>
          </p:cNvCxnSpPr>
          <p:nvPr/>
        </p:nvCxnSpPr>
        <p:spPr>
          <a:xfrm>
            <a:off x="4371975" y="2574987"/>
            <a:ext cx="457200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xmlns="" id="{D8A0F232-CB75-4D24-830B-46C64F9C3B12}"/>
              </a:ext>
            </a:extLst>
          </p:cNvPr>
          <p:cNvCxnSpPr>
            <a:cxnSpLocks/>
          </p:cNvCxnSpPr>
          <p:nvPr/>
        </p:nvCxnSpPr>
        <p:spPr>
          <a:xfrm>
            <a:off x="3905250" y="5282983"/>
            <a:ext cx="208597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xmlns="" id="{3E294454-74BC-42D3-8E7E-92B6EFCFBFA3}"/>
              </a:ext>
            </a:extLst>
          </p:cNvPr>
          <p:cNvCxnSpPr>
            <a:cxnSpLocks/>
          </p:cNvCxnSpPr>
          <p:nvPr/>
        </p:nvCxnSpPr>
        <p:spPr>
          <a:xfrm>
            <a:off x="4686300" y="5454433"/>
            <a:ext cx="392430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xmlns="" id="{4F88ACB1-51C1-48D5-9695-3421CE890788}"/>
              </a:ext>
            </a:extLst>
          </p:cNvPr>
          <p:cNvCxnSpPr>
            <a:cxnSpLocks/>
          </p:cNvCxnSpPr>
          <p:nvPr/>
        </p:nvCxnSpPr>
        <p:spPr>
          <a:xfrm>
            <a:off x="5162550" y="3092233"/>
            <a:ext cx="447675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723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7E0FD8D-1179-4A3B-A62C-E7EA33DA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339411CC-EE41-445A-B6A2-F121C583C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2B03E283-CA84-4640-ADEF-201A51C5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D4E1CA6C-C912-417F-878A-86113B380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75814"/>
            <a:ext cx="10086975" cy="15335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48F4095C-AEA4-44F0-9662-1565190F6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33129"/>
            <a:ext cx="9505950" cy="46650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xmlns="" id="{DFD8142E-2C3C-40FC-8A36-7D57B72A5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93249"/>
            <a:ext cx="10194496" cy="1808261"/>
          </a:xfrm>
          <a:prstGeom prst="rect">
            <a:avLst/>
          </a:prstGeom>
        </p:spPr>
      </p:pic>
      <p:sp>
        <p:nvSpPr>
          <p:cNvPr id="10" name="頁尾版面配置區 4">
            <a:extLst>
              <a:ext uri="{FF2B5EF4-FFF2-40B4-BE49-F238E27FC236}">
                <a16:creationId xmlns:a16="http://schemas.microsoft.com/office/drawing/2014/main" xmlns="" id="{49567CBD-A281-4584-B4A5-B2DE3045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56765"/>
            <a:ext cx="9982200" cy="365125"/>
          </a:xfrm>
        </p:spPr>
        <p:txBody>
          <a:bodyPr/>
          <a:lstStyle/>
          <a:p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Beame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Faith E.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Fich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Optimal bounds for the predecessor problem and related problems. J. </a:t>
            </a:r>
            <a:r>
              <a:rPr lang="en-US" altLang="zh-TW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Syst. Sci. 65(1), 38–72 (2002)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398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7A391FE-EE5F-4D1D-88F8-DD99BF2E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579D344B-257F-4049-88FE-6F55CD8AE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B9FC9474-7834-4EC6-B0F7-47FA47603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2528887"/>
            <a:ext cx="10086975" cy="1800225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CCE213FD-A105-4B95-8F73-A5B5F579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380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15385</TotalTime>
  <Words>561</Words>
  <Application>Microsoft Office PowerPoint</Application>
  <PresentationFormat>寬螢幕</PresentationFormat>
  <Paragraphs>197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Cambria Math</vt:lpstr>
      <vt:lpstr>Tahoma</vt:lpstr>
      <vt:lpstr>Times New Roman</vt:lpstr>
      <vt:lpstr>Office 佈景主題</vt:lpstr>
      <vt:lpstr>Shortest Unique Palindromic Substring Queries on Run-Length Encoded Strings</vt:lpstr>
      <vt:lpstr>Abstract</vt:lpstr>
      <vt:lpstr>MUPS </vt:lpstr>
      <vt:lpstr>SUPS</vt:lpstr>
      <vt:lpstr>Run Length Encoding (RLE)</vt:lpstr>
      <vt:lpstr>Problem</vt:lpstr>
      <vt:lpstr>PowerPoint 簡報</vt:lpstr>
      <vt:lpstr>MUPS and SUPS</vt:lpstr>
      <vt:lpstr>RLE Version of Manacher’s Algorithm</vt:lpstr>
      <vt:lpstr>Basic version EERTREE</vt:lpstr>
      <vt:lpstr>RLE version of EERTREE</vt:lpstr>
      <vt:lpstr>The form of MUPS</vt:lpstr>
      <vt:lpstr>Get MUPS from e2rtre2</vt:lpstr>
      <vt:lpstr>Query algorithm</vt:lpstr>
      <vt:lpstr>Complexity analysis</vt:lpstr>
      <vt:lpstr>Complexity analysis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冠霖</dc:creator>
  <cp:lastModifiedBy>pplab-class</cp:lastModifiedBy>
  <cp:revision>253</cp:revision>
  <dcterms:created xsi:type="dcterms:W3CDTF">2019-02-17T13:02:40Z</dcterms:created>
  <dcterms:modified xsi:type="dcterms:W3CDTF">2019-07-23T10:19:33Z</dcterms:modified>
</cp:coreProperties>
</file>