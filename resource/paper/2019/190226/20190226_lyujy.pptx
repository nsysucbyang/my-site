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73" r:id="rId3"/>
    <p:sldId id="257" r:id="rId4"/>
    <p:sldId id="283" r:id="rId5"/>
    <p:sldId id="303" r:id="rId6"/>
    <p:sldId id="295" r:id="rId7"/>
    <p:sldId id="296" r:id="rId8"/>
    <p:sldId id="290" r:id="rId9"/>
    <p:sldId id="297" r:id="rId10"/>
    <p:sldId id="301" r:id="rId11"/>
    <p:sldId id="298" r:id="rId12"/>
    <p:sldId id="299" r:id="rId13"/>
    <p:sldId id="300" r:id="rId14"/>
    <p:sldId id="302" r:id="rId15"/>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 initials="l" lastIdx="1" clrIdx="0">
    <p:extLst>
      <p:ext uri="{19B8F6BF-5375-455C-9EA6-DF929625EA0E}">
        <p15:presenceInfo xmlns:p15="http://schemas.microsoft.com/office/powerpoint/2012/main" userId="l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p:cViewPr varScale="1">
        <p:scale>
          <a:sx n="64" d="100"/>
          <a:sy n="64" d="100"/>
        </p:scale>
        <p:origin x="68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F1585-2514-4ABD-9D02-307B86E5C09C}" type="datetimeFigureOut">
              <a:rPr lang="zh-TW" altLang="en-US" smtClean="0"/>
              <a:t>2019/2/26</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77D1C-3D7C-420B-BCA3-33BEDD3D5A80}" type="slidenum">
              <a:rPr lang="zh-TW" altLang="en-US" smtClean="0"/>
              <a:t>‹#›</a:t>
            </a:fld>
            <a:endParaRPr lang="zh-TW" altLang="en-US"/>
          </a:p>
        </p:txBody>
      </p:sp>
    </p:spTree>
    <p:extLst>
      <p:ext uri="{BB962C8B-B14F-4D97-AF65-F5344CB8AC3E}">
        <p14:creationId xmlns:p14="http://schemas.microsoft.com/office/powerpoint/2010/main" val="2838945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515283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4671249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26509816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31344221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8453290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7562560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40103935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29234144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1967481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13</a:t>
            </a:fld>
            <a:endParaRPr lang="zh-TW" altLang="en-US"/>
          </a:p>
        </p:txBody>
      </p:sp>
    </p:spTree>
    <p:extLst>
      <p:ext uri="{BB962C8B-B14F-4D97-AF65-F5344CB8AC3E}">
        <p14:creationId xmlns:p14="http://schemas.microsoft.com/office/powerpoint/2010/main" val="16579286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CFD9DDC-1562-41E3-9F1A-6464E55FA6C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xmlns="" id="{78DFE20D-93A5-46C2-A49A-F0C15C370E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xmlns="" id="{2E469C4C-F457-4167-B363-FB6DD59DC296}"/>
              </a:ext>
            </a:extLst>
          </p:cNvPr>
          <p:cNvSpPr>
            <a:spLocks noGrp="1"/>
          </p:cNvSpPr>
          <p:nvPr>
            <p:ph type="dt" sz="half" idx="10"/>
          </p:nvPr>
        </p:nvSpPr>
        <p:spPr/>
        <p:txBody>
          <a:bodyPr/>
          <a:lstStyle/>
          <a:p>
            <a:fld id="{289B6366-6E92-4855-9B33-10136FFB9F55}" type="datetimeFigureOut">
              <a:rPr lang="zh-TW" altLang="en-US" smtClean="0"/>
              <a:t>2019/2/26</a:t>
            </a:fld>
            <a:endParaRPr lang="zh-TW" altLang="en-US"/>
          </a:p>
        </p:txBody>
      </p:sp>
      <p:sp>
        <p:nvSpPr>
          <p:cNvPr id="5" name="頁尾版面配置區 4">
            <a:extLst>
              <a:ext uri="{FF2B5EF4-FFF2-40B4-BE49-F238E27FC236}">
                <a16:creationId xmlns:a16="http://schemas.microsoft.com/office/drawing/2014/main" xmlns="" id="{DFFC6E50-6AB9-4105-98EF-724B3C0041C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0950C054-D98D-4C90-938F-17BEFCE88E9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31187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7533DA1-7165-4DF5-971F-78735A9CE42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A9257B16-48F3-4742-8243-9C7ED79E7ABC}"/>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088E6861-BAD9-4B1E-B7CC-ED4F8B71DB22}"/>
              </a:ext>
            </a:extLst>
          </p:cNvPr>
          <p:cNvSpPr>
            <a:spLocks noGrp="1"/>
          </p:cNvSpPr>
          <p:nvPr>
            <p:ph type="dt" sz="half" idx="10"/>
          </p:nvPr>
        </p:nvSpPr>
        <p:spPr/>
        <p:txBody>
          <a:bodyPr/>
          <a:lstStyle/>
          <a:p>
            <a:fld id="{289B6366-6E92-4855-9B33-10136FFB9F55}" type="datetimeFigureOut">
              <a:rPr lang="zh-TW" altLang="en-US" smtClean="0"/>
              <a:t>2019/2/26</a:t>
            </a:fld>
            <a:endParaRPr lang="zh-TW" altLang="en-US"/>
          </a:p>
        </p:txBody>
      </p:sp>
      <p:sp>
        <p:nvSpPr>
          <p:cNvPr id="5" name="頁尾版面配置區 4">
            <a:extLst>
              <a:ext uri="{FF2B5EF4-FFF2-40B4-BE49-F238E27FC236}">
                <a16:creationId xmlns:a16="http://schemas.microsoft.com/office/drawing/2014/main" xmlns="" id="{F706F4B5-A649-474C-8BFE-57517ED0EAD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228F86C2-A14C-422A-8FC6-1D63EF61726C}"/>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636614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B4346D0-9FE7-4F7E-985A-585F1F59E5C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A6063CD7-FE57-450D-939C-29084736AE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DBCE3ACB-7971-48F1-9875-489AE8943338}"/>
              </a:ext>
            </a:extLst>
          </p:cNvPr>
          <p:cNvSpPr>
            <a:spLocks noGrp="1"/>
          </p:cNvSpPr>
          <p:nvPr>
            <p:ph type="dt" sz="half" idx="10"/>
          </p:nvPr>
        </p:nvSpPr>
        <p:spPr/>
        <p:txBody>
          <a:bodyPr/>
          <a:lstStyle/>
          <a:p>
            <a:fld id="{289B6366-6E92-4855-9B33-10136FFB9F55}" type="datetimeFigureOut">
              <a:rPr lang="zh-TW" altLang="en-US" smtClean="0"/>
              <a:t>2019/2/26</a:t>
            </a:fld>
            <a:endParaRPr lang="zh-TW" altLang="en-US"/>
          </a:p>
        </p:txBody>
      </p:sp>
      <p:sp>
        <p:nvSpPr>
          <p:cNvPr id="5" name="頁尾版面配置區 4">
            <a:extLst>
              <a:ext uri="{FF2B5EF4-FFF2-40B4-BE49-F238E27FC236}">
                <a16:creationId xmlns:a16="http://schemas.microsoft.com/office/drawing/2014/main" xmlns="" id="{35413690-EB95-4432-8BFC-09F929C3BB3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934FA246-600E-4025-B715-2485B36E1332}"/>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28819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CC1659F-69D8-4B85-B7A6-F42E1F3A37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ABEBF960-4F47-46F0-89DB-C64F0F1E1283}"/>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F16245D3-5283-415A-84E2-E6274B6E00A2}"/>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62DDA930-81B0-4724-B815-F2EBD1DC4556}"/>
              </a:ext>
            </a:extLst>
          </p:cNvPr>
          <p:cNvSpPr>
            <a:spLocks noGrp="1"/>
          </p:cNvSpPr>
          <p:nvPr>
            <p:ph type="dt" sz="half" idx="10"/>
          </p:nvPr>
        </p:nvSpPr>
        <p:spPr/>
        <p:txBody>
          <a:bodyPr/>
          <a:lstStyle/>
          <a:p>
            <a:fld id="{289B6366-6E92-4855-9B33-10136FFB9F55}" type="datetimeFigureOut">
              <a:rPr lang="zh-TW" altLang="en-US" smtClean="0"/>
              <a:t>2019/2/26</a:t>
            </a:fld>
            <a:endParaRPr lang="zh-TW" altLang="en-US"/>
          </a:p>
        </p:txBody>
      </p:sp>
      <p:sp>
        <p:nvSpPr>
          <p:cNvPr id="6" name="頁尾版面配置區 5">
            <a:extLst>
              <a:ext uri="{FF2B5EF4-FFF2-40B4-BE49-F238E27FC236}">
                <a16:creationId xmlns:a16="http://schemas.microsoft.com/office/drawing/2014/main" xmlns="" id="{F39B2AB0-21DB-4DB7-82C3-46F676AEB0E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B797DCFC-9953-4E19-A454-CA08295F589E}"/>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22866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F60DB38-9964-45C8-A1EF-D1F8C2A33AE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A59A4D11-828E-4CB5-A6AE-5F8FA90F4A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5DEDA618-7B28-4B92-955D-D9F57DA002F3}"/>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1B7155B0-41F4-4173-8A9E-AC97385B04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AE9D421D-015E-480B-A473-59B674316675}"/>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B161ED9B-DFA5-480A-AD88-6DFF046FCB53}"/>
              </a:ext>
            </a:extLst>
          </p:cNvPr>
          <p:cNvSpPr>
            <a:spLocks noGrp="1"/>
          </p:cNvSpPr>
          <p:nvPr>
            <p:ph type="dt" sz="half" idx="10"/>
          </p:nvPr>
        </p:nvSpPr>
        <p:spPr/>
        <p:txBody>
          <a:bodyPr/>
          <a:lstStyle/>
          <a:p>
            <a:fld id="{289B6366-6E92-4855-9B33-10136FFB9F55}" type="datetimeFigureOut">
              <a:rPr lang="zh-TW" altLang="en-US" smtClean="0"/>
              <a:t>2019/2/26</a:t>
            </a:fld>
            <a:endParaRPr lang="zh-TW" altLang="en-US"/>
          </a:p>
        </p:txBody>
      </p:sp>
      <p:sp>
        <p:nvSpPr>
          <p:cNvPr id="8" name="頁尾版面配置區 7">
            <a:extLst>
              <a:ext uri="{FF2B5EF4-FFF2-40B4-BE49-F238E27FC236}">
                <a16:creationId xmlns:a16="http://schemas.microsoft.com/office/drawing/2014/main" xmlns="" id="{F3B77038-7B39-4853-9220-09E92BEB16F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127B11AF-87CE-457B-9D69-58137A50985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215180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83FC20B-A168-4787-91C9-454E6B2BC8C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D2DA7D75-DCEA-4D5F-817A-1F76017002B1}"/>
              </a:ext>
            </a:extLst>
          </p:cNvPr>
          <p:cNvSpPr>
            <a:spLocks noGrp="1"/>
          </p:cNvSpPr>
          <p:nvPr>
            <p:ph type="dt" sz="half" idx="10"/>
          </p:nvPr>
        </p:nvSpPr>
        <p:spPr/>
        <p:txBody>
          <a:bodyPr/>
          <a:lstStyle/>
          <a:p>
            <a:fld id="{289B6366-6E92-4855-9B33-10136FFB9F55}" type="datetimeFigureOut">
              <a:rPr lang="zh-TW" altLang="en-US" smtClean="0"/>
              <a:t>2019/2/26</a:t>
            </a:fld>
            <a:endParaRPr lang="zh-TW" altLang="en-US"/>
          </a:p>
        </p:txBody>
      </p:sp>
      <p:sp>
        <p:nvSpPr>
          <p:cNvPr id="4" name="頁尾版面配置區 3">
            <a:extLst>
              <a:ext uri="{FF2B5EF4-FFF2-40B4-BE49-F238E27FC236}">
                <a16:creationId xmlns:a16="http://schemas.microsoft.com/office/drawing/2014/main" xmlns="" id="{6E420462-1E6B-4811-A101-C24EE185E4F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EF5204FD-F249-467A-809E-2B53F765C671}"/>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17981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00AA5AFE-F983-4BD0-A86F-D18589BB081B}"/>
              </a:ext>
            </a:extLst>
          </p:cNvPr>
          <p:cNvSpPr>
            <a:spLocks noGrp="1"/>
          </p:cNvSpPr>
          <p:nvPr>
            <p:ph type="dt" sz="half" idx="10"/>
          </p:nvPr>
        </p:nvSpPr>
        <p:spPr/>
        <p:txBody>
          <a:bodyPr/>
          <a:lstStyle/>
          <a:p>
            <a:fld id="{289B6366-6E92-4855-9B33-10136FFB9F55}" type="datetimeFigureOut">
              <a:rPr lang="zh-TW" altLang="en-US" smtClean="0"/>
              <a:t>2019/2/26</a:t>
            </a:fld>
            <a:endParaRPr lang="zh-TW" altLang="en-US"/>
          </a:p>
        </p:txBody>
      </p:sp>
      <p:sp>
        <p:nvSpPr>
          <p:cNvPr id="3" name="頁尾版面配置區 2">
            <a:extLst>
              <a:ext uri="{FF2B5EF4-FFF2-40B4-BE49-F238E27FC236}">
                <a16:creationId xmlns:a16="http://schemas.microsoft.com/office/drawing/2014/main" xmlns="" id="{8AE15BC6-0BDC-4D5E-B093-968EA5FDED0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571BFC94-F3F4-4DC3-AAE4-BC932631BD0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72472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A77FD33-544D-451E-8F35-6516C626BEC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3A37D552-228A-402E-AE3D-2AEAE23C9D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25E0435F-1CA3-499B-A972-EE4FA12CA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C189A80C-0898-442B-A9DB-6CE747D9C7F0}"/>
              </a:ext>
            </a:extLst>
          </p:cNvPr>
          <p:cNvSpPr>
            <a:spLocks noGrp="1"/>
          </p:cNvSpPr>
          <p:nvPr>
            <p:ph type="dt" sz="half" idx="10"/>
          </p:nvPr>
        </p:nvSpPr>
        <p:spPr/>
        <p:txBody>
          <a:bodyPr/>
          <a:lstStyle/>
          <a:p>
            <a:fld id="{289B6366-6E92-4855-9B33-10136FFB9F55}" type="datetimeFigureOut">
              <a:rPr lang="zh-TW" altLang="en-US" smtClean="0"/>
              <a:t>2019/2/26</a:t>
            </a:fld>
            <a:endParaRPr lang="zh-TW" altLang="en-US"/>
          </a:p>
        </p:txBody>
      </p:sp>
      <p:sp>
        <p:nvSpPr>
          <p:cNvPr id="6" name="頁尾版面配置區 5">
            <a:extLst>
              <a:ext uri="{FF2B5EF4-FFF2-40B4-BE49-F238E27FC236}">
                <a16:creationId xmlns:a16="http://schemas.microsoft.com/office/drawing/2014/main" xmlns="" id="{DF1EF31A-4A67-484F-8573-1D1F63C18EB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48DADBDA-C04D-4B1F-9E13-784372684EE0}"/>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945764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619C6B2-1FC1-4D82-AE09-83971387173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053A6602-82D6-4233-AD5A-DC4982831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xmlns="" id="{AF7135F2-2932-4070-9CCA-6213EFE68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14D3864F-50D1-4DBD-A5B6-1645AA45EA59}"/>
              </a:ext>
            </a:extLst>
          </p:cNvPr>
          <p:cNvSpPr>
            <a:spLocks noGrp="1"/>
          </p:cNvSpPr>
          <p:nvPr>
            <p:ph type="dt" sz="half" idx="10"/>
          </p:nvPr>
        </p:nvSpPr>
        <p:spPr/>
        <p:txBody>
          <a:bodyPr/>
          <a:lstStyle/>
          <a:p>
            <a:fld id="{289B6366-6E92-4855-9B33-10136FFB9F55}" type="datetimeFigureOut">
              <a:rPr lang="zh-TW" altLang="en-US" smtClean="0"/>
              <a:t>2019/2/26</a:t>
            </a:fld>
            <a:endParaRPr lang="zh-TW" altLang="en-US"/>
          </a:p>
        </p:txBody>
      </p:sp>
      <p:sp>
        <p:nvSpPr>
          <p:cNvPr id="6" name="頁尾版面配置區 5">
            <a:extLst>
              <a:ext uri="{FF2B5EF4-FFF2-40B4-BE49-F238E27FC236}">
                <a16:creationId xmlns:a16="http://schemas.microsoft.com/office/drawing/2014/main" xmlns="" id="{D59F5A93-207A-45A5-9BEC-53C28FF8F1E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54103368-FB4E-41AE-811C-7BC7ADAFC7D3}"/>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552169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29C4861-2A8C-4410-8E4A-4441FC1320E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91ED451D-7435-47B8-AA6C-87B8EEA207EC}"/>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91A2253F-98FC-4AD8-AB1E-608801808E4B}"/>
              </a:ext>
            </a:extLst>
          </p:cNvPr>
          <p:cNvSpPr>
            <a:spLocks noGrp="1"/>
          </p:cNvSpPr>
          <p:nvPr>
            <p:ph type="dt" sz="half" idx="10"/>
          </p:nvPr>
        </p:nvSpPr>
        <p:spPr/>
        <p:txBody>
          <a:bodyPr/>
          <a:lstStyle/>
          <a:p>
            <a:fld id="{289B6366-6E92-4855-9B33-10136FFB9F55}" type="datetimeFigureOut">
              <a:rPr lang="zh-TW" altLang="en-US" smtClean="0"/>
              <a:t>2019/2/26</a:t>
            </a:fld>
            <a:endParaRPr lang="zh-TW" altLang="en-US"/>
          </a:p>
        </p:txBody>
      </p:sp>
      <p:sp>
        <p:nvSpPr>
          <p:cNvPr id="5" name="頁尾版面配置區 4">
            <a:extLst>
              <a:ext uri="{FF2B5EF4-FFF2-40B4-BE49-F238E27FC236}">
                <a16:creationId xmlns:a16="http://schemas.microsoft.com/office/drawing/2014/main" xmlns="" id="{A12D5CBA-DDC5-46C6-9551-77D0E481A0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0021B7B3-C52D-4681-8005-1EC96B7EE50D}"/>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555386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C702BAFC-3D18-4325-B382-BF414846856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2D2FEE02-A709-4FB0-9DDE-940FDB4B61F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01DB4D53-3EC7-453D-BD90-F21F29EA365F}"/>
              </a:ext>
            </a:extLst>
          </p:cNvPr>
          <p:cNvSpPr>
            <a:spLocks noGrp="1"/>
          </p:cNvSpPr>
          <p:nvPr>
            <p:ph type="dt" sz="half" idx="10"/>
          </p:nvPr>
        </p:nvSpPr>
        <p:spPr/>
        <p:txBody>
          <a:bodyPr/>
          <a:lstStyle/>
          <a:p>
            <a:fld id="{289B6366-6E92-4855-9B33-10136FFB9F55}" type="datetimeFigureOut">
              <a:rPr lang="zh-TW" altLang="en-US" smtClean="0"/>
              <a:t>2019/2/26</a:t>
            </a:fld>
            <a:endParaRPr lang="zh-TW" altLang="en-US"/>
          </a:p>
        </p:txBody>
      </p:sp>
      <p:sp>
        <p:nvSpPr>
          <p:cNvPr id="5" name="頁尾版面配置區 4">
            <a:extLst>
              <a:ext uri="{FF2B5EF4-FFF2-40B4-BE49-F238E27FC236}">
                <a16:creationId xmlns:a16="http://schemas.microsoft.com/office/drawing/2014/main" xmlns="" id="{324CA5CE-17CD-419F-8C13-16D273AFBF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C3B6B85C-8189-47A7-8D84-0B8FD90A869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658974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8C2E46CB-D80A-4DE1-9C2C-DBEB59D1D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3A01FB3C-2F61-41E2-A419-5D2378D7B7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AC1DBDDA-1C0E-4B2A-A31E-1956DBF26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B6366-6E92-4855-9B33-10136FFB9F55}" type="datetimeFigureOut">
              <a:rPr lang="zh-TW" altLang="en-US" smtClean="0"/>
              <a:t>2019/2/26</a:t>
            </a:fld>
            <a:endParaRPr lang="zh-TW" altLang="en-US"/>
          </a:p>
        </p:txBody>
      </p:sp>
      <p:sp>
        <p:nvSpPr>
          <p:cNvPr id="5" name="頁尾版面配置區 4">
            <a:extLst>
              <a:ext uri="{FF2B5EF4-FFF2-40B4-BE49-F238E27FC236}">
                <a16:creationId xmlns:a16="http://schemas.microsoft.com/office/drawing/2014/main" xmlns="" id="{5420D0D2-BA69-4AB7-97C4-06213593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534B1C00-4FD7-4FEA-B3B1-0FC2095819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847293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DABD277-3DCF-4084-9E03-BF06B086F7E6}"/>
              </a:ext>
            </a:extLst>
          </p:cNvPr>
          <p:cNvSpPr>
            <a:spLocks noGrp="1"/>
          </p:cNvSpPr>
          <p:nvPr>
            <p:ph type="ctrTitle"/>
          </p:nvPr>
        </p:nvSpPr>
        <p:spPr>
          <a:xfrm>
            <a:off x="1054248" y="500281"/>
            <a:ext cx="10832952" cy="1683521"/>
          </a:xfrm>
        </p:spPr>
        <p:txBody>
          <a:bodyPr>
            <a:normAutofit/>
          </a:bodyPr>
          <a:lstStyle/>
          <a:p>
            <a:r>
              <a:rPr lang="en-US" altLang="zh-TW" sz="4000" b="1" dirty="0">
                <a:latin typeface="Times New Roman" panose="02020603050405020304" pitchFamily="18" charset="0"/>
                <a:cs typeface="Times New Roman" panose="02020603050405020304" pitchFamily="18" charset="0"/>
              </a:rPr>
              <a:t>Variable Selection and Model Prediction Based on Lasso, Adaptive Lasso and Elastic Net</a:t>
            </a:r>
            <a:endParaRPr lang="zh-TW" altLang="en-US" sz="40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xmlns="" id="{2FF96485-B26C-4B59-B13D-880AA0BD68EA}"/>
              </a:ext>
            </a:extLst>
          </p:cNvPr>
          <p:cNvSpPr>
            <a:spLocks noGrp="1"/>
          </p:cNvSpPr>
          <p:nvPr>
            <p:ph type="subTitle" idx="1"/>
          </p:nvPr>
        </p:nvSpPr>
        <p:spPr>
          <a:xfrm>
            <a:off x="1317324" y="2290880"/>
            <a:ext cx="10193358" cy="1590037"/>
          </a:xfrm>
        </p:spPr>
        <p:txBody>
          <a:bodyPr>
            <a:normAutofit/>
          </a:bodyPr>
          <a:lstStyle/>
          <a:p>
            <a:endParaRPr lang="en-US" altLang="zh-TW" dirty="0"/>
          </a:p>
          <a:p>
            <a:r>
              <a:rPr lang="en-US" altLang="zh-TW" sz="2800" dirty="0">
                <a:latin typeface="Times New Roman" panose="02020603050405020304" pitchFamily="18" charset="0"/>
                <a:cs typeface="Times New Roman" panose="02020603050405020304" pitchFamily="18" charset="0"/>
              </a:rPr>
              <a:t>Lei Fan</a:t>
            </a:r>
            <a:r>
              <a:rPr lang="en-US" altLang="zh-TW" sz="2800" dirty="0" smtClean="0">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范</a:t>
            </a:r>
            <a:r>
              <a:rPr lang="zh-TW" altLang="en-US" sz="2800" dirty="0" smtClean="0">
                <a:latin typeface="Times New Roman" panose="02020603050405020304" pitchFamily="18" charset="0"/>
                <a:cs typeface="Times New Roman" panose="02020603050405020304" pitchFamily="18" charset="0"/>
              </a:rPr>
              <a:t>雷</a:t>
            </a:r>
            <a:r>
              <a:rPr lang="en-US" altLang="zh-TW" sz="2800" dirty="0" smtClean="0">
                <a:latin typeface="Times New Roman" panose="02020603050405020304" pitchFamily="18" charset="0"/>
                <a:cs typeface="Times New Roman" panose="02020603050405020304" pitchFamily="18" charset="0"/>
              </a:rPr>
              <a:t>),</a:t>
            </a:r>
            <a:r>
              <a:rPr lang="zh-TW" altLang="en-US" sz="2800" dirty="0" smtClean="0">
                <a:latin typeface="Times New Roman" panose="02020603050405020304" pitchFamily="18" charset="0"/>
                <a:cs typeface="Times New Roman" panose="02020603050405020304" pitchFamily="18" charset="0"/>
              </a:rPr>
              <a:t> </a:t>
            </a:r>
            <a:r>
              <a:rPr lang="it-IT" altLang="zh-TW" sz="2800" dirty="0">
                <a:latin typeface="Times New Roman" panose="02020603050405020304" pitchFamily="18" charset="0"/>
                <a:cs typeface="Times New Roman" panose="02020603050405020304" pitchFamily="18" charset="0"/>
              </a:rPr>
              <a:t>Qun Li</a:t>
            </a:r>
            <a:r>
              <a:rPr lang="en-US" altLang="zh-TW" sz="2800" dirty="0">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李群</a:t>
            </a:r>
            <a:r>
              <a:rPr lang="en-US" altLang="zh-TW" sz="2800" dirty="0">
                <a:latin typeface="Times New Roman" panose="02020603050405020304" pitchFamily="18" charset="0"/>
                <a:cs typeface="Times New Roman" panose="02020603050405020304" pitchFamily="18" charset="0"/>
              </a:rPr>
              <a:t>)</a:t>
            </a:r>
            <a:r>
              <a:rPr lang="it-IT" altLang="zh-TW" sz="2800" dirty="0">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 </a:t>
            </a:r>
            <a:r>
              <a:rPr lang="it-IT" altLang="zh-TW" sz="2800" dirty="0">
                <a:latin typeface="Times New Roman" panose="02020603050405020304" pitchFamily="18" charset="0"/>
                <a:cs typeface="Times New Roman" panose="02020603050405020304" pitchFamily="18" charset="0"/>
              </a:rPr>
              <a:t>Shuai Chen</a:t>
            </a:r>
            <a:r>
              <a:rPr lang="en-US" altLang="zh-TW" sz="2800" dirty="0">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陳帥</a:t>
            </a:r>
            <a:r>
              <a:rPr lang="en-US" altLang="zh-TW" sz="2800" dirty="0">
                <a:latin typeface="Times New Roman" panose="02020603050405020304" pitchFamily="18" charset="0"/>
                <a:cs typeface="Times New Roman" panose="02020603050405020304" pitchFamily="18" charset="0"/>
              </a:rPr>
              <a:t>)</a:t>
            </a:r>
            <a:r>
              <a:rPr lang="it-IT" altLang="zh-TW" sz="2800" dirty="0">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 </a:t>
            </a:r>
            <a:r>
              <a:rPr lang="it-IT" altLang="zh-TW" sz="2800" dirty="0">
                <a:latin typeface="Times New Roman" panose="02020603050405020304" pitchFamily="18" charset="0"/>
                <a:cs typeface="Times New Roman" panose="02020603050405020304" pitchFamily="18" charset="0"/>
              </a:rPr>
              <a:t>Zhouli Zhu</a:t>
            </a:r>
            <a:r>
              <a:rPr lang="en-US" altLang="zh-TW" sz="2800" dirty="0">
                <a:latin typeface="Times New Roman" panose="02020603050405020304" pitchFamily="18" charset="0"/>
                <a:cs typeface="Times New Roman" panose="02020603050405020304" pitchFamily="18" charset="0"/>
              </a:rPr>
              <a:t>(</a:t>
            </a:r>
            <a:r>
              <a:rPr lang="zh-TW" altLang="en-US" sz="2800" dirty="0">
                <a:latin typeface="Times New Roman" panose="02020603050405020304" pitchFamily="18" charset="0"/>
                <a:cs typeface="Times New Roman" panose="02020603050405020304" pitchFamily="18" charset="0"/>
              </a:rPr>
              <a:t>朱周立</a:t>
            </a:r>
            <a:r>
              <a:rPr lang="en-US" altLang="zh-TW" sz="2800" dirty="0">
                <a:latin typeface="Times New Roman" panose="02020603050405020304" pitchFamily="18" charset="0"/>
                <a:cs typeface="Times New Roman" panose="02020603050405020304" pitchFamily="18" charset="0"/>
              </a:rPr>
              <a:t>)</a:t>
            </a:r>
            <a:endParaRPr lang="zh-TW" altLang="en-US"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xmlns="" id="{64AE8193-1DE0-47D4-9DBB-4734B89CA666}"/>
              </a:ext>
            </a:extLst>
          </p:cNvPr>
          <p:cNvSpPr txBox="1">
            <a:spLocks/>
          </p:cNvSpPr>
          <p:nvPr/>
        </p:nvSpPr>
        <p:spPr>
          <a:xfrm>
            <a:off x="1808588" y="3880917"/>
            <a:ext cx="8142235" cy="120745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4th International Conference on Computer Science and Network Technology (ICCSNT),2015, Pages </a:t>
            </a:r>
            <a:r>
              <a:rPr lang="en-US" altLang="zh-TW" dirty="0"/>
              <a:t>579 - 583</a:t>
            </a:r>
            <a:r>
              <a:rPr lang="en-US" altLang="zh-TW" dirty="0">
                <a:latin typeface="Times New Roman" panose="02020603050405020304" pitchFamily="18" charset="0"/>
                <a:cs typeface="Times New Roman" panose="02020603050405020304" pitchFamily="18" charset="0"/>
              </a:rPr>
              <a:t>, Harbin, China</a:t>
            </a:r>
          </a:p>
        </p:txBody>
      </p:sp>
      <p:sp>
        <p:nvSpPr>
          <p:cNvPr id="5" name="副標題 2">
            <a:extLst>
              <a:ext uri="{FF2B5EF4-FFF2-40B4-BE49-F238E27FC236}">
                <a16:creationId xmlns:a16="http://schemas.microsoft.com/office/drawing/2014/main" xmlns="" id="{83311FB5-1C7C-4049-9C63-3A86A28231CF}"/>
              </a:ext>
            </a:extLst>
          </p:cNvPr>
          <p:cNvSpPr txBox="1">
            <a:spLocks/>
          </p:cNvSpPr>
          <p:nvPr/>
        </p:nvSpPr>
        <p:spPr>
          <a:xfrm>
            <a:off x="8616875" y="5526721"/>
            <a:ext cx="2893807"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Jheng</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-Yan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Lyu</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Feb. 26, 2019</a:t>
            </a:r>
          </a:p>
        </p:txBody>
      </p:sp>
    </p:spTree>
    <p:extLst>
      <p:ext uri="{BB962C8B-B14F-4D97-AF65-F5344CB8AC3E}">
        <p14:creationId xmlns:p14="http://schemas.microsoft.com/office/powerpoint/2010/main" val="3014946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775916" y="136524"/>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(1/2)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1775916" y="713148"/>
            <a:ext cx="8155484" cy="5825764"/>
          </a:xfrm>
        </p:spPr>
        <p:txBody>
          <a:bodyPr>
            <a:noAutofit/>
          </a:bodyPr>
          <a:lstStyle/>
          <a:p>
            <a:pPr marL="0" indent="0" algn="just">
              <a:lnSpc>
                <a:spcPct val="150000"/>
              </a:lnSpc>
              <a:buNone/>
            </a:pPr>
            <a:r>
              <a:rPr lang="en-US" altLang="zh-TW" sz="2300" dirty="0">
                <a:latin typeface="Times New Roman" panose="02020603050405020304" pitchFamily="18" charset="0"/>
                <a:cs typeface="Times New Roman" panose="02020603050405020304" pitchFamily="18" charset="0"/>
              </a:rPr>
              <a:t>Statistics and modeling is gaining more and more attention as the time for big data is coming. Variable choosing plays a significant role during modeling. The traditional methods like OLS and ridge regression could not satisfy interpretability and prediction accuracy at the same time. </a:t>
            </a:r>
            <a:r>
              <a:rPr lang="en-US" altLang="zh-TW" sz="2300" dirty="0" err="1">
                <a:latin typeface="Times New Roman" panose="02020603050405020304" pitchFamily="18" charset="0"/>
                <a:cs typeface="Times New Roman" panose="02020603050405020304" pitchFamily="18" charset="0"/>
              </a:rPr>
              <a:t>Tibshirani</a:t>
            </a:r>
            <a:r>
              <a:rPr lang="en-US" altLang="zh-TW" sz="2300" dirty="0">
                <a:latin typeface="Times New Roman" panose="02020603050405020304" pitchFamily="18" charset="0"/>
                <a:cs typeface="Times New Roman" panose="02020603050405020304" pitchFamily="18" charset="0"/>
              </a:rPr>
              <a:t>. R prompted Lasso and the new method could not only solve the above problem but also decrease the complexity of calculation. The paper aims to compare Lasso and adaptive lasso, elastic net. We do experiment on the classical case—diabetes patient data and choose model with AIC, BIC and cross validation to get the advantage and disadvantage of the above methods. </a:t>
            </a:r>
          </a:p>
        </p:txBody>
      </p:sp>
    </p:spTree>
    <p:extLst>
      <p:ext uri="{BB962C8B-B14F-4D97-AF65-F5344CB8AC3E}">
        <p14:creationId xmlns:p14="http://schemas.microsoft.com/office/powerpoint/2010/main" val="15950678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1775916" y="40217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 (2/2)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1775916" y="895713"/>
            <a:ext cx="8489852" cy="5445183"/>
          </a:xfrm>
        </p:spPr>
        <p:txBody>
          <a:bodyPr vert="horz" lIns="91440" tIns="45720" rIns="91440" bIns="45720" rtlCol="0">
            <a:noAutofit/>
          </a:bodyPr>
          <a:lstStyle/>
          <a:p>
            <a:pPr marL="0" indent="0" algn="just">
              <a:lnSpc>
                <a:spcPct val="150000"/>
              </a:lnSpc>
              <a:spcBef>
                <a:spcPts val="0"/>
              </a:spcBef>
              <a:buNone/>
            </a:pPr>
            <a:r>
              <a:rPr lang="en-US" altLang="zh-TW" sz="2300" dirty="0">
                <a:latin typeface="Times New Roman" panose="02020603050405020304" pitchFamily="18" charset="0"/>
                <a:cs typeface="Times New Roman" panose="02020603050405020304" pitchFamily="18" charset="0"/>
              </a:rPr>
              <a:t>According to the result, we draw the conclusion that Lasso performances better in variable selection, however, the predictions are not as accurate as the other two methods. Adaptive Lasso selects less variables and gives a more </a:t>
            </a:r>
            <a:r>
              <a:rPr lang="en-US" altLang="zh-TW" sz="2300" dirty="0" err="1">
                <a:latin typeface="Times New Roman" panose="02020603050405020304" pitchFamily="18" charset="0"/>
                <a:cs typeface="Times New Roman" panose="02020603050405020304" pitchFamily="18" charset="0"/>
              </a:rPr>
              <a:t>accurant</a:t>
            </a:r>
            <a:r>
              <a:rPr lang="en-US" altLang="zh-TW" sz="2300" dirty="0">
                <a:latin typeface="Times New Roman" panose="02020603050405020304" pitchFamily="18" charset="0"/>
                <a:cs typeface="Times New Roman" panose="02020603050405020304" pitchFamily="18" charset="0"/>
              </a:rPr>
              <a:t> prediction value. Elastic net has a most interpretative model.</a:t>
            </a:r>
            <a:endParaRPr lang="en-US" altLang="zh-TW" sz="2300" dirty="0">
              <a:latin typeface="Times New Roman" panose="02020603050405020304" pitchFamily="18" charset="0"/>
            </a:endParaRPr>
          </a:p>
        </p:txBody>
      </p:sp>
    </p:spTree>
    <p:extLst>
      <p:ext uri="{BB962C8B-B14F-4D97-AF65-F5344CB8AC3E}">
        <p14:creationId xmlns:p14="http://schemas.microsoft.com/office/powerpoint/2010/main" val="3204781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Ridge Regression</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4</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265573"/>
            <a:ext cx="10844605" cy="4694163"/>
          </a:xfrm>
        </p:spPr>
        <p:txBody>
          <a:bodyPr>
            <a:normAutofit/>
          </a:bodyPr>
          <a:lstStyle/>
          <a:p>
            <a:r>
              <a:rPr lang="el-GR" altLang="zh-TW" sz="2700" dirty="0" smtClean="0"/>
              <a:t>λ</a:t>
            </a:r>
            <a:r>
              <a:rPr lang="en-US" altLang="zh-TW" sz="2700" baseline="-25000" dirty="0" smtClean="0"/>
              <a:t>1</a:t>
            </a:r>
            <a:r>
              <a:rPr lang="en-US" altLang="zh-TW" sz="2700" dirty="0" smtClean="0"/>
              <a:t> </a:t>
            </a:r>
            <a:r>
              <a:rPr lang="en-US" altLang="zh-TW" sz="2700" dirty="0"/>
              <a:t>= tuning parameter that controls the amount of shrinkage.</a:t>
            </a:r>
          </a:p>
          <a:p>
            <a:r>
              <a:rPr lang="el-GR" altLang="zh-TW" dirty="0"/>
              <a:t>β</a:t>
            </a:r>
            <a:r>
              <a:rPr lang="en-US" altLang="zh-TW" baseline="-25000" dirty="0"/>
              <a:t>j</a:t>
            </a:r>
            <a:r>
              <a:rPr lang="en-US" altLang="zh-TW" sz="2700" dirty="0"/>
              <a:t>= is a nonnegative regularization parameter</a:t>
            </a:r>
          </a:p>
          <a:p>
            <a:r>
              <a:rPr lang="en-US" altLang="zh-TW" sz="2700" dirty="0"/>
              <a:t>Using L2-norm loss function and shrinks regression coefficients equally towards zero.</a:t>
            </a:r>
          </a:p>
          <a:p>
            <a:endParaRPr lang="en-US" altLang="zh-TW" sz="2700" dirty="0"/>
          </a:p>
        </p:txBody>
      </p:sp>
      <p:pic>
        <p:nvPicPr>
          <p:cNvPr id="5" name="圖片 4">
            <a:extLst>
              <a:ext uri="{FF2B5EF4-FFF2-40B4-BE49-F238E27FC236}">
                <a16:creationId xmlns:a16="http://schemas.microsoft.com/office/drawing/2014/main" xmlns="" id="{A9D13732-0EB7-436B-8A42-CD3C739B8F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7873" y="3612654"/>
            <a:ext cx="8402397" cy="1747558"/>
          </a:xfrm>
          <a:prstGeom prst="rect">
            <a:avLst/>
          </a:prstGeom>
        </p:spPr>
      </p:pic>
    </p:spTree>
    <p:extLst>
      <p:ext uri="{BB962C8B-B14F-4D97-AF65-F5344CB8AC3E}">
        <p14:creationId xmlns:p14="http://schemas.microsoft.com/office/powerpoint/2010/main" val="8154466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5</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265573"/>
            <a:ext cx="10844605" cy="4694163"/>
          </a:xfrm>
        </p:spPr>
        <p:txBody>
          <a:bodyPr>
            <a:normAutofit/>
          </a:bodyPr>
          <a:lstStyle/>
          <a:p>
            <a:endParaRPr lang="en-US" altLang="zh-TW" sz="2700" dirty="0"/>
          </a:p>
        </p:txBody>
      </p:sp>
      <p:pic>
        <p:nvPicPr>
          <p:cNvPr id="6" name="圖片 5">
            <a:extLst>
              <a:ext uri="{FF2B5EF4-FFF2-40B4-BE49-F238E27FC236}">
                <a16:creationId xmlns:a16="http://schemas.microsoft.com/office/drawing/2014/main" xmlns="" id="{F67F3506-F96F-47CA-979A-4EE6569333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0902" y="432552"/>
            <a:ext cx="8510195" cy="5648642"/>
          </a:xfrm>
          <a:prstGeom prst="rect">
            <a:avLst/>
          </a:prstGeom>
        </p:spPr>
      </p:pic>
    </p:spTree>
    <p:extLst>
      <p:ext uri="{BB962C8B-B14F-4D97-AF65-F5344CB8AC3E}">
        <p14:creationId xmlns:p14="http://schemas.microsoft.com/office/powerpoint/2010/main" val="40614555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Lasso</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6</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199" y="1825624"/>
            <a:ext cx="11250051" cy="4599824"/>
          </a:xfrm>
        </p:spPr>
        <p:txBody>
          <a:bodyPr>
            <a:normAutofit/>
          </a:bodyPr>
          <a:lstStyle/>
          <a:p>
            <a:endParaRPr lang="en-US" altLang="zh-TW" sz="2700" dirty="0"/>
          </a:p>
        </p:txBody>
      </p:sp>
      <p:pic>
        <p:nvPicPr>
          <p:cNvPr id="12" name="圖片 11">
            <a:extLst>
              <a:ext uri="{FF2B5EF4-FFF2-40B4-BE49-F238E27FC236}">
                <a16:creationId xmlns:a16="http://schemas.microsoft.com/office/drawing/2014/main" xmlns="" id="{DC1AF156-D185-42C3-BD7D-4B11BA62F7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6522" y="3070713"/>
            <a:ext cx="8423829" cy="1726624"/>
          </a:xfrm>
          <a:prstGeom prst="rect">
            <a:avLst/>
          </a:prstGeom>
        </p:spPr>
      </p:pic>
      <p:pic>
        <p:nvPicPr>
          <p:cNvPr id="6" name="圖片 5">
            <a:extLst>
              <a:ext uri="{FF2B5EF4-FFF2-40B4-BE49-F238E27FC236}">
                <a16:creationId xmlns:a16="http://schemas.microsoft.com/office/drawing/2014/main" xmlns="" id="{20B1F2F8-5C38-495B-92BD-59941EB4AF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814057"/>
            <a:ext cx="5992250" cy="4530726"/>
          </a:xfrm>
          <a:prstGeom prst="rect">
            <a:avLst/>
          </a:prstGeom>
        </p:spPr>
      </p:pic>
    </p:spTree>
    <p:extLst>
      <p:ext uri="{BB962C8B-B14F-4D97-AF65-F5344CB8AC3E}">
        <p14:creationId xmlns:p14="http://schemas.microsoft.com/office/powerpoint/2010/main" val="22168304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Adaptive Lasso</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7</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199" y="1376979"/>
            <a:ext cx="11070515" cy="5048469"/>
          </a:xfrm>
        </p:spPr>
        <p:txBody>
          <a:bodyPr>
            <a:normAutofit/>
          </a:bodyPr>
          <a:lstStyle/>
          <a:p>
            <a:r>
              <a:rPr lang="en-US" altLang="zh-TW" sz="2700" dirty="0"/>
              <a:t>Oracle property</a:t>
            </a:r>
          </a:p>
          <a:p>
            <a:pPr marL="914400" lvl="1" indent="-457200">
              <a:buFont typeface="+mj-lt"/>
              <a:buAutoNum type="arabicPeriod"/>
            </a:pPr>
            <a:r>
              <a:rPr lang="en-US" altLang="zh-TW" sz="2300" dirty="0"/>
              <a:t>Consistency in variable selection</a:t>
            </a:r>
          </a:p>
          <a:p>
            <a:pPr marL="914400" lvl="1" indent="-457200">
              <a:buFont typeface="+mj-lt"/>
              <a:buAutoNum type="arabicPeriod"/>
            </a:pPr>
            <a:r>
              <a:rPr lang="en-US" altLang="zh-TW" sz="2300" dirty="0"/>
              <a:t>Asymptotic normality.</a:t>
            </a:r>
          </a:p>
          <a:p>
            <a:pPr marL="457200" lvl="1" indent="0">
              <a:buNone/>
            </a:pPr>
            <a:endParaRPr lang="en-US" altLang="zh-TW" sz="2300" dirty="0"/>
          </a:p>
        </p:txBody>
      </p:sp>
      <p:pic>
        <p:nvPicPr>
          <p:cNvPr id="10" name="圖片 9">
            <a:extLst>
              <a:ext uri="{FF2B5EF4-FFF2-40B4-BE49-F238E27FC236}">
                <a16:creationId xmlns:a16="http://schemas.microsoft.com/office/drawing/2014/main" xmlns="" id="{E63BA12C-EED1-494C-89A4-2F360412C2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92788"/>
            <a:ext cx="7039347" cy="1417760"/>
          </a:xfrm>
          <a:prstGeom prst="rect">
            <a:avLst/>
          </a:prstGeom>
        </p:spPr>
      </p:pic>
      <p:pic>
        <p:nvPicPr>
          <p:cNvPr id="5" name="圖片 4">
            <a:extLst>
              <a:ext uri="{FF2B5EF4-FFF2-40B4-BE49-F238E27FC236}">
                <a16:creationId xmlns:a16="http://schemas.microsoft.com/office/drawing/2014/main" xmlns="" id="{ACF4F59B-8744-451D-9012-7B92746F97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26545" y="1080953"/>
            <a:ext cx="6087942" cy="1610034"/>
          </a:xfrm>
          <a:prstGeom prst="rect">
            <a:avLst/>
          </a:prstGeom>
        </p:spPr>
      </p:pic>
      <p:pic>
        <p:nvPicPr>
          <p:cNvPr id="8" name="圖片 7">
            <a:extLst>
              <a:ext uri="{FF2B5EF4-FFF2-40B4-BE49-F238E27FC236}">
                <a16:creationId xmlns:a16="http://schemas.microsoft.com/office/drawing/2014/main" xmlns="" id="{F5B7E444-509A-4BD6-AC0F-E185C1C6F7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64681" y="2759545"/>
            <a:ext cx="5963980" cy="3665363"/>
          </a:xfrm>
          <a:prstGeom prst="rect">
            <a:avLst/>
          </a:prstGeom>
        </p:spPr>
      </p:pic>
    </p:spTree>
    <p:extLst>
      <p:ext uri="{BB962C8B-B14F-4D97-AF65-F5344CB8AC3E}">
        <p14:creationId xmlns:p14="http://schemas.microsoft.com/office/powerpoint/2010/main" val="179920331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Elastic Net</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8</a:t>
            </a:fld>
            <a:endParaRPr lang="zh-TW" altLang="en-US"/>
          </a:p>
        </p:txBody>
      </p:sp>
      <p:pic>
        <p:nvPicPr>
          <p:cNvPr id="6" name="圖片 5">
            <a:extLst>
              <a:ext uri="{FF2B5EF4-FFF2-40B4-BE49-F238E27FC236}">
                <a16:creationId xmlns:a16="http://schemas.microsoft.com/office/drawing/2014/main" xmlns="" id="{49FA9939-5CBB-4825-9F24-52295274CE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1" y="1524411"/>
            <a:ext cx="6171504" cy="2369857"/>
          </a:xfrm>
          <a:prstGeom prst="rect">
            <a:avLst/>
          </a:prstGeom>
        </p:spPr>
      </p:pic>
      <p:pic>
        <p:nvPicPr>
          <p:cNvPr id="5" name="內容版面配置區 4">
            <a:extLst>
              <a:ext uri="{FF2B5EF4-FFF2-40B4-BE49-F238E27FC236}">
                <a16:creationId xmlns:a16="http://schemas.microsoft.com/office/drawing/2014/main" xmlns="" id="{A8AD4E1F-DE1D-4A40-BBE1-4A50C5910B66}"/>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6096000" y="1524411"/>
            <a:ext cx="5478971" cy="4351338"/>
          </a:xfrm>
        </p:spPr>
      </p:pic>
    </p:spTree>
    <p:extLst>
      <p:ext uri="{BB962C8B-B14F-4D97-AF65-F5344CB8AC3E}">
        <p14:creationId xmlns:p14="http://schemas.microsoft.com/office/powerpoint/2010/main" val="41689090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Mode Selection Criterion</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9</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825625"/>
            <a:ext cx="10515600" cy="4895850"/>
          </a:xfrm>
        </p:spPr>
        <p:txBody>
          <a:bodyPr>
            <a:normAutofit lnSpcReduction="10000"/>
          </a:bodyPr>
          <a:lstStyle/>
          <a:p>
            <a:r>
              <a:rPr lang="en-US" altLang="zh-TW" sz="2700" dirty="0"/>
              <a:t>AIC(Akaike Information Criterion)</a:t>
            </a:r>
          </a:p>
          <a:p>
            <a:pPr lvl="1"/>
            <a:r>
              <a:rPr lang="en-US" altLang="zh-TW" sz="2300" dirty="0"/>
              <a:t>AIC = 2k - 2 ln(L)</a:t>
            </a:r>
          </a:p>
          <a:p>
            <a:pPr lvl="1"/>
            <a:r>
              <a:rPr lang="en-US" altLang="zh-TW" sz="2300" dirty="0"/>
              <a:t>k</a:t>
            </a:r>
            <a:r>
              <a:rPr lang="zh-TW" altLang="en-US" sz="2300" dirty="0"/>
              <a:t>是模型參數個數，</a:t>
            </a:r>
            <a:r>
              <a:rPr lang="en-US" altLang="zh-TW" sz="2300" dirty="0"/>
              <a:t>L</a:t>
            </a:r>
            <a:r>
              <a:rPr lang="zh-TW" altLang="en-US" sz="2300" dirty="0"/>
              <a:t>是似然</a:t>
            </a:r>
            <a:r>
              <a:rPr lang="zh-TW" altLang="en-US" sz="2300" dirty="0" smtClean="0"/>
              <a:t>函數</a:t>
            </a:r>
            <a:r>
              <a:rPr lang="en-US" altLang="zh-TW" sz="2300" dirty="0" smtClean="0"/>
              <a:t>(likelihood </a:t>
            </a:r>
            <a:r>
              <a:rPr lang="en-US" altLang="zh-TW" sz="2300" smtClean="0"/>
              <a:t>fuction)</a:t>
            </a:r>
            <a:r>
              <a:rPr lang="zh-TW" altLang="en-US" sz="2300" dirty="0" smtClean="0"/>
              <a:t>。</a:t>
            </a:r>
            <a:endParaRPr lang="en-US" altLang="zh-TW" sz="2300" dirty="0"/>
          </a:p>
          <a:p>
            <a:pPr lvl="1"/>
            <a:r>
              <a:rPr lang="zh-TW" altLang="en-US" sz="2300" dirty="0"/>
              <a:t>提供權衡估計模型複雜度和擬合數據優良性的標準</a:t>
            </a:r>
            <a:endParaRPr lang="en-US" altLang="zh-TW" sz="2300" dirty="0"/>
          </a:p>
          <a:p>
            <a:pPr lvl="1"/>
            <a:r>
              <a:rPr lang="zh-TW" altLang="en-US" sz="2300" dirty="0"/>
              <a:t>從一組可供選擇的模型中選擇最佳模型時，通常選擇</a:t>
            </a:r>
            <a:r>
              <a:rPr lang="en-US" altLang="zh-TW" sz="2300" dirty="0"/>
              <a:t>AIC</a:t>
            </a:r>
            <a:r>
              <a:rPr lang="zh-TW" altLang="en-US" sz="2300" dirty="0"/>
              <a:t>最小的模型。</a:t>
            </a:r>
            <a:endParaRPr lang="en-US" altLang="zh-TW" sz="2300" dirty="0"/>
          </a:p>
          <a:p>
            <a:r>
              <a:rPr lang="en-US" altLang="zh-TW" sz="2700" dirty="0"/>
              <a:t>BIC(Bayes Information Criterion)</a:t>
            </a:r>
          </a:p>
          <a:p>
            <a:pPr lvl="1"/>
            <a:r>
              <a:rPr lang="en-US" altLang="zh-TW" sz="2300" dirty="0"/>
              <a:t>BIC = 2 ln(k) - 2 ln(L)</a:t>
            </a:r>
          </a:p>
          <a:p>
            <a:pPr lvl="1"/>
            <a:r>
              <a:rPr lang="en-US" altLang="zh-TW" sz="2300" dirty="0"/>
              <a:t>k</a:t>
            </a:r>
            <a:r>
              <a:rPr lang="zh-TW" altLang="en-US" sz="2300" dirty="0"/>
              <a:t>是模型參數個數，</a:t>
            </a:r>
            <a:r>
              <a:rPr lang="en-US" altLang="zh-TW" sz="2300" dirty="0"/>
              <a:t>L</a:t>
            </a:r>
            <a:r>
              <a:rPr lang="zh-TW" altLang="en-US" sz="2300" dirty="0"/>
              <a:t>是似然函數。</a:t>
            </a:r>
            <a:endParaRPr lang="en-US" altLang="zh-TW" sz="2300" dirty="0"/>
          </a:p>
          <a:p>
            <a:pPr lvl="1"/>
            <a:r>
              <a:rPr lang="en-US" altLang="zh-TW" sz="2300" dirty="0"/>
              <a:t>BIC</a:t>
            </a:r>
            <a:r>
              <a:rPr lang="zh-TW" altLang="en-US" sz="2300" dirty="0"/>
              <a:t>與</a:t>
            </a:r>
            <a:r>
              <a:rPr lang="en-US" altLang="zh-TW" sz="2300" dirty="0"/>
              <a:t>AIC</a:t>
            </a:r>
            <a:r>
              <a:rPr lang="zh-TW" altLang="en-US" sz="2300" dirty="0"/>
              <a:t>相似</a:t>
            </a:r>
            <a:endParaRPr lang="en-US" altLang="zh-TW" sz="2300" dirty="0"/>
          </a:p>
          <a:p>
            <a:pPr lvl="1"/>
            <a:r>
              <a:rPr lang="zh-TW" altLang="en-US" sz="2300" dirty="0"/>
              <a:t>訓練模型時，增加參數數量，也就是增加模型複雜度，會增大似然函數，但是也會導致過擬合現象，</a:t>
            </a:r>
            <a:r>
              <a:rPr lang="en-US" altLang="zh-TW" sz="2300" dirty="0"/>
              <a:t>BIC</a:t>
            </a:r>
            <a:r>
              <a:rPr lang="zh-TW" altLang="en-US" sz="2300" dirty="0"/>
              <a:t>的懲罰項比</a:t>
            </a:r>
            <a:r>
              <a:rPr lang="en-US" altLang="zh-TW" sz="2300" dirty="0"/>
              <a:t>AIC</a:t>
            </a:r>
            <a:r>
              <a:rPr lang="zh-TW" altLang="en-US" sz="2300" dirty="0"/>
              <a:t>的大，當樣本數量過多時，可有效防止模型精度過高造成的模型複雜度過高。</a:t>
            </a:r>
            <a:endParaRPr lang="en-US" altLang="zh-TW" sz="2300" dirty="0"/>
          </a:p>
          <a:p>
            <a:r>
              <a:rPr lang="en-US" altLang="zh-TW" sz="2700" dirty="0"/>
              <a:t>Cross Validation</a:t>
            </a:r>
          </a:p>
          <a:p>
            <a:endParaRPr lang="en-US" altLang="zh-TW" sz="2700" dirty="0"/>
          </a:p>
        </p:txBody>
      </p:sp>
    </p:spTree>
    <p:extLst>
      <p:ext uri="{BB962C8B-B14F-4D97-AF65-F5344CB8AC3E}">
        <p14:creationId xmlns:p14="http://schemas.microsoft.com/office/powerpoint/2010/main" val="33674613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Mode Selection Criterion</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10</a:t>
            </a:fld>
            <a:endParaRPr lang="zh-TW" altLang="en-US"/>
          </a:p>
        </p:txBody>
      </p:sp>
      <p:pic>
        <p:nvPicPr>
          <p:cNvPr id="5" name="圖片 4">
            <a:extLst>
              <a:ext uri="{FF2B5EF4-FFF2-40B4-BE49-F238E27FC236}">
                <a16:creationId xmlns:a16="http://schemas.microsoft.com/office/drawing/2014/main" xmlns="" id="{25ABD110-FB4C-4A50-8120-EDF5C6943C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4255" y="1688330"/>
            <a:ext cx="8977745" cy="4937760"/>
          </a:xfrm>
          <a:prstGeom prst="rect">
            <a:avLst/>
          </a:prstGeom>
        </p:spPr>
      </p:pic>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825625"/>
            <a:ext cx="10515600" cy="4895850"/>
          </a:xfrm>
        </p:spPr>
        <p:txBody>
          <a:bodyPr>
            <a:normAutofit/>
          </a:bodyPr>
          <a:lstStyle/>
          <a:p>
            <a:r>
              <a:rPr lang="en-US" altLang="zh-TW" sz="2700" dirty="0"/>
              <a:t>Cross Validation</a:t>
            </a:r>
          </a:p>
          <a:p>
            <a:endParaRPr lang="en-US" altLang="zh-TW" sz="2700" dirty="0"/>
          </a:p>
        </p:txBody>
      </p:sp>
    </p:spTree>
    <p:extLst>
      <p:ext uri="{BB962C8B-B14F-4D97-AF65-F5344CB8AC3E}">
        <p14:creationId xmlns:p14="http://schemas.microsoft.com/office/powerpoint/2010/main" val="19071844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Case Analyze And Results</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11</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825625"/>
            <a:ext cx="10515600" cy="4351338"/>
          </a:xfrm>
        </p:spPr>
        <p:txBody>
          <a:bodyPr>
            <a:normAutofit/>
          </a:bodyPr>
          <a:lstStyle/>
          <a:p>
            <a:endParaRPr lang="en-US" altLang="zh-TW" sz="2700" dirty="0"/>
          </a:p>
        </p:txBody>
      </p:sp>
      <p:pic>
        <p:nvPicPr>
          <p:cNvPr id="6" name="圖片 5">
            <a:extLst>
              <a:ext uri="{FF2B5EF4-FFF2-40B4-BE49-F238E27FC236}">
                <a16:creationId xmlns:a16="http://schemas.microsoft.com/office/drawing/2014/main" xmlns="" id="{573D4010-FBA9-4C2F-A2D7-44E3E50BF1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199" y="1444959"/>
            <a:ext cx="9752215" cy="5060427"/>
          </a:xfrm>
          <a:prstGeom prst="rect">
            <a:avLst/>
          </a:prstGeom>
        </p:spPr>
      </p:pic>
    </p:spTree>
    <p:extLst>
      <p:ext uri="{BB962C8B-B14F-4D97-AF65-F5344CB8AC3E}">
        <p14:creationId xmlns:p14="http://schemas.microsoft.com/office/powerpoint/2010/main" val="39973982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Variable Selection</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12</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825625"/>
            <a:ext cx="10515600" cy="4351338"/>
          </a:xfrm>
        </p:spPr>
        <p:txBody>
          <a:bodyPr>
            <a:normAutofit/>
          </a:bodyPr>
          <a:lstStyle/>
          <a:p>
            <a:endParaRPr lang="en-US" altLang="zh-TW" sz="2700" dirty="0"/>
          </a:p>
        </p:txBody>
      </p:sp>
      <p:pic>
        <p:nvPicPr>
          <p:cNvPr id="6" name="圖片 5">
            <a:extLst>
              <a:ext uri="{FF2B5EF4-FFF2-40B4-BE49-F238E27FC236}">
                <a16:creationId xmlns:a16="http://schemas.microsoft.com/office/drawing/2014/main" xmlns="" id="{1D891540-D8BF-4248-BF20-4B671088AF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3864" y="1137061"/>
            <a:ext cx="8707065" cy="2734057"/>
          </a:xfrm>
          <a:prstGeom prst="rect">
            <a:avLst/>
          </a:prstGeom>
        </p:spPr>
      </p:pic>
      <p:pic>
        <p:nvPicPr>
          <p:cNvPr id="9" name="圖片 8">
            <a:extLst>
              <a:ext uri="{FF2B5EF4-FFF2-40B4-BE49-F238E27FC236}">
                <a16:creationId xmlns:a16="http://schemas.microsoft.com/office/drawing/2014/main" xmlns="" id="{158607F1-3BFA-4748-BD60-DA2AAAF8EB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6510" y="3949124"/>
            <a:ext cx="5944430" cy="2705478"/>
          </a:xfrm>
          <a:prstGeom prst="rect">
            <a:avLst/>
          </a:prstGeom>
        </p:spPr>
      </p:pic>
      <p:pic>
        <p:nvPicPr>
          <p:cNvPr id="12" name="圖片 11">
            <a:extLst>
              <a:ext uri="{FF2B5EF4-FFF2-40B4-BE49-F238E27FC236}">
                <a16:creationId xmlns:a16="http://schemas.microsoft.com/office/drawing/2014/main" xmlns="" id="{0784662B-FEDF-4606-8E7D-88E24B2057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09274" y="3987230"/>
            <a:ext cx="5792008" cy="2667372"/>
          </a:xfrm>
          <a:prstGeom prst="rect">
            <a:avLst/>
          </a:prstGeom>
        </p:spPr>
      </p:pic>
    </p:spTree>
    <p:extLst>
      <p:ext uri="{BB962C8B-B14F-4D97-AF65-F5344CB8AC3E}">
        <p14:creationId xmlns:p14="http://schemas.microsoft.com/office/powerpoint/2010/main" val="678286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Model Prediction</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13</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825625"/>
            <a:ext cx="10515600" cy="4351338"/>
          </a:xfrm>
        </p:spPr>
        <p:txBody>
          <a:bodyPr>
            <a:normAutofit/>
          </a:bodyPr>
          <a:lstStyle/>
          <a:p>
            <a:endParaRPr lang="en-US" altLang="zh-TW" sz="2700" dirty="0"/>
          </a:p>
        </p:txBody>
      </p:sp>
      <p:pic>
        <p:nvPicPr>
          <p:cNvPr id="6" name="圖片 5">
            <a:extLst>
              <a:ext uri="{FF2B5EF4-FFF2-40B4-BE49-F238E27FC236}">
                <a16:creationId xmlns:a16="http://schemas.microsoft.com/office/drawing/2014/main" xmlns="" id="{FE4426B6-AA5E-4F18-AE68-F2585D2F61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6281" y="56679"/>
            <a:ext cx="4496427" cy="6744641"/>
          </a:xfrm>
          <a:prstGeom prst="rect">
            <a:avLst/>
          </a:prstGeom>
        </p:spPr>
      </p:pic>
    </p:spTree>
    <p:extLst>
      <p:ext uri="{BB962C8B-B14F-4D97-AF65-F5344CB8AC3E}">
        <p14:creationId xmlns:p14="http://schemas.microsoft.com/office/powerpoint/2010/main" val="2667739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D72D100-A6AB-4AB0-B7E8-7A62083B6418}"/>
              </a:ext>
            </a:extLst>
          </p:cNvPr>
          <p:cNvSpPr>
            <a:spLocks noGrp="1"/>
          </p:cNvSpPr>
          <p:nvPr>
            <p:ph type="title"/>
          </p:nvPr>
        </p:nvSpPr>
        <p:spPr/>
        <p:txBody>
          <a:bodyPr/>
          <a:lstStyle/>
          <a:p>
            <a:r>
              <a:rPr lang="en-US" altLang="zh-TW" dirty="0"/>
              <a:t>Overfitting</a:t>
            </a:r>
            <a:endParaRPr lang="zh-TW" altLang="en-US" dirty="0"/>
          </a:p>
        </p:txBody>
      </p:sp>
      <p:sp>
        <p:nvSpPr>
          <p:cNvPr id="3" name="內容版面配置區 2">
            <a:extLst>
              <a:ext uri="{FF2B5EF4-FFF2-40B4-BE49-F238E27FC236}">
                <a16:creationId xmlns:a16="http://schemas.microsoft.com/office/drawing/2014/main" xmlns="" id="{9651649B-CA17-4329-8985-42B4C3AE474B}"/>
              </a:ext>
            </a:extLst>
          </p:cNvPr>
          <p:cNvSpPr>
            <a:spLocks noGrp="1"/>
          </p:cNvSpPr>
          <p:nvPr>
            <p:ph idx="1"/>
          </p:nvPr>
        </p:nvSpPr>
        <p:spPr>
          <a:xfrm>
            <a:off x="838199" y="1521209"/>
            <a:ext cx="5776858" cy="4610650"/>
          </a:xfrm>
        </p:spPr>
        <p:txBody>
          <a:bodyPr/>
          <a:lstStyle/>
          <a:p>
            <a:r>
              <a:rPr lang="zh-TW" altLang="en-US" dirty="0"/>
              <a:t>綠線代表過適模型，黑線代表正規化模型。雖然綠線完美的符合訓練資料，但太過依賴，並且與黑線相比，對於新的測試資料上具有更高的錯誤率。</a:t>
            </a:r>
          </a:p>
        </p:txBody>
      </p:sp>
      <p:pic>
        <p:nvPicPr>
          <p:cNvPr id="5" name="圖片 4">
            <a:extLst>
              <a:ext uri="{FF2B5EF4-FFF2-40B4-BE49-F238E27FC236}">
                <a16:creationId xmlns:a16="http://schemas.microsoft.com/office/drawing/2014/main" xmlns="" id="{BF3AC91A-497F-44B9-A3C1-81924DE18C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5057" y="1171688"/>
            <a:ext cx="4960171" cy="4960171"/>
          </a:xfrm>
          <a:prstGeom prst="rect">
            <a:avLst/>
          </a:prstGeom>
        </p:spPr>
      </p:pic>
    </p:spTree>
    <p:extLst>
      <p:ext uri="{BB962C8B-B14F-4D97-AF65-F5344CB8AC3E}">
        <p14:creationId xmlns:p14="http://schemas.microsoft.com/office/powerpoint/2010/main" val="273480752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1318</TotalTime>
  <Words>524</Words>
  <Application>Microsoft Office PowerPoint</Application>
  <PresentationFormat>寬螢幕</PresentationFormat>
  <Paragraphs>63</Paragraphs>
  <Slides>14</Slides>
  <Notes>12</Notes>
  <HiddenSlides>1</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14</vt:i4>
      </vt:variant>
    </vt:vector>
  </HeadingPairs>
  <TitlesOfParts>
    <vt:vector size="21" baseType="lpstr">
      <vt:lpstr>新細明體</vt:lpstr>
      <vt:lpstr>標楷體</vt:lpstr>
      <vt:lpstr>Arial</vt:lpstr>
      <vt:lpstr>Calibri</vt:lpstr>
      <vt:lpstr>Calibri Light</vt:lpstr>
      <vt:lpstr>Times New Roman</vt:lpstr>
      <vt:lpstr>Office 佈景主題</vt:lpstr>
      <vt:lpstr>Variable Selection and Model Prediction Based on Lasso, Adaptive Lasso and Elastic Net</vt:lpstr>
      <vt:lpstr>Abstract (1/2)</vt:lpstr>
      <vt:lpstr>Abstract (2/2)</vt:lpstr>
      <vt:lpstr>Ridge Regression</vt:lpstr>
      <vt:lpstr>PowerPoint 簡報</vt:lpstr>
      <vt:lpstr>Lasso</vt:lpstr>
      <vt:lpstr>Adaptive Lasso</vt:lpstr>
      <vt:lpstr>Elastic Net</vt:lpstr>
      <vt:lpstr>Mode Selection Criterion</vt:lpstr>
      <vt:lpstr>Mode Selection Criterion</vt:lpstr>
      <vt:lpstr>Case Analyze And Results</vt:lpstr>
      <vt:lpstr>Variable Selection</vt:lpstr>
      <vt:lpstr>Model Prediction</vt:lpstr>
      <vt:lpstr>Overfitting</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and Accurate Template Averaging for Time Series Classification</dc:title>
  <dc:creator>lu</dc:creator>
  <cp:lastModifiedBy>pplab-class</cp:lastModifiedBy>
  <cp:revision>544</cp:revision>
  <dcterms:created xsi:type="dcterms:W3CDTF">2018-10-30T09:09:31Z</dcterms:created>
  <dcterms:modified xsi:type="dcterms:W3CDTF">2019-02-26T11:01:51Z</dcterms:modified>
</cp:coreProperties>
</file>