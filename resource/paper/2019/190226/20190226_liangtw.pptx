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8" r:id="rId3"/>
    <p:sldId id="271" r:id="rId4"/>
    <p:sldId id="259" r:id="rId5"/>
    <p:sldId id="260" r:id="rId6"/>
    <p:sldId id="272" r:id="rId7"/>
    <p:sldId id="273" r:id="rId8"/>
    <p:sldId id="274" r:id="rId9"/>
    <p:sldId id="276" r:id="rId10"/>
    <p:sldId id="275" r:id="rId11"/>
    <p:sldId id="277" r:id="rId12"/>
    <p:sldId id="279" r:id="rId13"/>
    <p:sldId id="280" r:id="rId14"/>
    <p:sldId id="281" r:id="rId15"/>
    <p:sldId id="282" r:id="rId16"/>
    <p:sldId id="283" r:id="rId17"/>
    <p:sldId id="285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88876" autoAdjust="0"/>
  </p:normalViewPr>
  <p:slideViewPr>
    <p:cSldViewPr snapToGrid="0">
      <p:cViewPr varScale="1">
        <p:scale>
          <a:sx n="64" d="100"/>
          <a:sy n="64" d="100"/>
        </p:scale>
        <p:origin x="1182" y="4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2019/2/26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2019/2/26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9558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0200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8791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985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885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1477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96508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8522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82885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40673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16919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7764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27543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71287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20566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0291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D7AD2-AD46-4F9C-9DB9-311BC9C511FB}" type="datetime1">
              <a:rPr lang="zh-TW" altLang="en-US" smtClean="0"/>
              <a:t>2019/2/26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8EA7-3B33-4CFB-BDA8-CB4ED22BDFA6}" type="datetime1">
              <a:rPr lang="zh-TW" altLang="en-US" smtClean="0"/>
              <a:t>2019/2/26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9E7C-A5F4-4E44-A0D0-D8D823ED55EC}" type="datetime1">
              <a:rPr lang="zh-TW" altLang="en-US" smtClean="0"/>
              <a:t>2019/2/26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09CB-B913-4CE8-9656-48ED378732FA}" type="datetime1">
              <a:rPr lang="zh-TW" altLang="en-US" smtClean="0"/>
              <a:t>2019/2/26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74B2C-81A9-40B9-8191-4AFF6A362158}" type="datetime1">
              <a:rPr lang="zh-TW" altLang="en-US" smtClean="0"/>
              <a:t>2019/2/26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92B90-13AF-4EA9-8E1C-B6AB9BFE2FEA}" type="datetime1">
              <a:rPr lang="zh-TW" altLang="en-US" smtClean="0"/>
              <a:t>2019/2/26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651D-9550-4C8E-A2AF-E9628836D6AE}" type="datetime1">
              <a:rPr lang="zh-TW" altLang="en-US" smtClean="0"/>
              <a:t>2019/2/26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1AE1-4A31-4B16-8CF5-B0A0C6DC12AA}" type="datetime1">
              <a:rPr lang="zh-TW" altLang="en-US" smtClean="0"/>
              <a:t>2019/2/26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96643-C3C1-4791-B485-3954350756FB}" type="datetime1">
              <a:rPr lang="zh-TW" altLang="en-US" smtClean="0"/>
              <a:t>2019/2/26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2DB6-053F-4534-9F02-C898C0154A73}" type="datetime1">
              <a:rPr lang="zh-TW" altLang="en-US" smtClean="0"/>
              <a:t>2019/2/26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D7D-FFB8-45BA-8DA5-BBC396FFB252}" type="datetime1">
              <a:rPr lang="zh-TW" altLang="en-US" smtClean="0"/>
              <a:t>2019/2/26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CBB84-2B8D-4741-B97A-9F882A8CC49B}" type="datetime1">
              <a:rPr lang="zh-TW" altLang="en-US" smtClean="0"/>
              <a:t>2019/2/26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74529" y="189782"/>
            <a:ext cx="8905101" cy="1160546"/>
          </a:xfrm>
        </p:spPr>
        <p:txBody>
          <a:bodyPr>
            <a:no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Property-Preserved Common Factor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50378" y="1624788"/>
            <a:ext cx="8353402" cy="3573055"/>
          </a:xfrm>
        </p:spPr>
        <p:txBody>
          <a:bodyPr>
            <a:noAutofit/>
          </a:bodyPr>
          <a:lstStyle/>
          <a:p>
            <a:r>
              <a:rPr lang="it-IT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Lorraine A.K Ayad, Giulia Bernardini, Roberto Grossi, </a:t>
            </a:r>
          </a:p>
          <a:p>
            <a:r>
              <a:rPr lang="it-IT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Costas S. Iliopoulos, Nadia Pisanti,</a:t>
            </a:r>
          </a:p>
          <a:p>
            <a:r>
              <a:rPr lang="it-IT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Solon P. Pissis, and Giovanna Rosone</a:t>
            </a:r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zh-TW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zh-TW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fr-FR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Proceedings of International Symposium </a:t>
            </a:r>
          </a:p>
          <a:p>
            <a:r>
              <a:rPr lang="fr-FR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on String Processing and Information Retrieval,</a:t>
            </a:r>
          </a:p>
          <a:p>
            <a:r>
              <a:rPr lang="fr-FR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2018, Lima, Peru. , &lt;hal-01921603&gt;</a:t>
            </a:r>
            <a:endParaRPr lang="fr-FR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Presenter: Ting-Wei Liang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Date: 2019/02/26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175345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230402"/>
            <a:ext cx="7886700" cy="4351338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In this paper we introduce a new family of string processing problems. We are given two or more strings and we are asked to compute a factor common to all strings that preserves a specific property and has maximal length. Here we consider three fundamental string properties: square-free factors, periodic factors, and palindromic factors under three different settings, one per property. In the first setting, we are given a string x and we are asked to construct a data structure over x answering the following type of on-line queries: given string y, find a longest square-free factor common to x and y.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50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175345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(2/2)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230402"/>
            <a:ext cx="7886700" cy="4351338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In the second setting, we are given k strings and an integer 1 &lt; k’ ≤ k and we are asked to find a longest periodic factor common to at least k’ strings. In the third setting, we are given two strings and we are asked to find a longest palindromic factor common to the two strings. We present linear-time solutions for all settings. We anticipate that our paradigm can be extended to other string properties or settings.</a:t>
            </a:r>
          </a:p>
          <a:p>
            <a:pPr algn="just">
              <a:lnSpc>
                <a:spcPct val="120000"/>
              </a:lnSpc>
              <a:buNone/>
            </a:pP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80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Square-Free-Preserved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 string “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uu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 a square. A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square-free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string is a string that does not contain a square factor.</a:t>
            </a: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400" dirty="0">
                <a:cs typeface="Times New Roman" panose="02020603050405020304" pitchFamily="18" charset="0"/>
              </a:rPr>
              <a:t>baba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, is a square string</a:t>
            </a: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400" dirty="0" err="1">
                <a:cs typeface="Times New Roman" panose="02020603050405020304" pitchFamily="18" charset="0"/>
              </a:rPr>
              <a:t>abca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, is a square-free string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9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Periodic-Preserved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8203116" cy="4351338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err="1">
                <a:cs typeface="Times New Roman" panose="02020603050405020304" pitchFamily="18" charset="0"/>
              </a:rPr>
              <a:t>ababbabba</a:t>
            </a:r>
            <a:endParaRPr lang="en-US" altLang="zh-TW" sz="2400" dirty="0"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i="1" dirty="0"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(maximal length periods) of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None/>
            </a:pPr>
            <a:r>
              <a: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[1,4]</a:t>
            </a:r>
            <a:r>
              <a:rPr lang="en-US" altLang="zh-TW" sz="2400" dirty="0">
                <a:cs typeface="Times New Roman" panose="02020603050405020304" pitchFamily="18" charset="0"/>
              </a:rPr>
              <a:t> = </a:t>
            </a:r>
            <a:r>
              <a:rPr lang="en-US" altLang="zh-TW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ab</a:t>
            </a:r>
            <a:r>
              <a:rPr lang="en-US" altLang="zh-TW" sz="2400" dirty="0" err="1">
                <a:cs typeface="Times New Roman" panose="02020603050405020304" pitchFamily="18" charset="0"/>
              </a:rPr>
              <a:t>ab</a:t>
            </a:r>
            <a:endParaRPr lang="en-US" altLang="zh-TW" sz="2400" dirty="0"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[2,9]</a:t>
            </a:r>
            <a:r>
              <a:rPr lang="en-US" altLang="zh-TW" sz="2400" dirty="0">
                <a:cs typeface="Times New Roman" panose="02020603050405020304" pitchFamily="18" charset="0"/>
              </a:rPr>
              <a:t> = </a:t>
            </a:r>
            <a:r>
              <a:rPr lang="en-US" altLang="zh-TW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bab</a:t>
            </a:r>
            <a:r>
              <a:rPr lang="en-US" altLang="zh-TW" sz="2400" dirty="0" err="1">
                <a:cs typeface="Times New Roman" panose="02020603050405020304" pitchFamily="18" charset="0"/>
              </a:rPr>
              <a:t>babba</a:t>
            </a:r>
            <a:endParaRPr lang="en-US" altLang="zh-TW" sz="2400" dirty="0"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[4,5]</a:t>
            </a:r>
            <a:r>
              <a:rPr lang="en-US" altLang="zh-TW" sz="2400" dirty="0">
                <a:cs typeface="Times New Roman" panose="02020603050405020304" pitchFamily="18" charset="0"/>
              </a:rPr>
              <a:t> = </a:t>
            </a:r>
            <a:r>
              <a:rPr lang="en-US" altLang="zh-TW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cs typeface="Times New Roman" panose="02020603050405020304" pitchFamily="18" charset="0"/>
              </a:rPr>
              <a:t>b</a:t>
            </a:r>
          </a:p>
          <a:p>
            <a:pPr>
              <a:buNone/>
            </a:pPr>
            <a:r>
              <a: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[7,8]</a:t>
            </a:r>
            <a:r>
              <a:rPr lang="en-US" altLang="zh-TW" sz="2400" dirty="0">
                <a:cs typeface="Times New Roman" panose="02020603050405020304" pitchFamily="18" charset="0"/>
              </a:rPr>
              <a:t> = </a:t>
            </a:r>
            <a:r>
              <a:rPr lang="en-US" altLang="zh-TW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272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Palindromic-Preserved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8203116" cy="4351338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400" dirty="0" err="1">
                <a:cs typeface="Times New Roman" panose="02020603050405020304" pitchFamily="18" charset="0"/>
              </a:rPr>
              <a:t>ababaa</a:t>
            </a:r>
            <a:endParaRPr lang="en-US" altLang="zh-TW" sz="2400" dirty="0"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i="1" dirty="0"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Palindromic factor of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None/>
            </a:pPr>
            <a:r>
              <a: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[1,3]</a:t>
            </a:r>
            <a:r>
              <a:rPr lang="en-US" altLang="zh-TW" sz="2400" dirty="0">
                <a:cs typeface="Times New Roman" panose="02020603050405020304" pitchFamily="18" charset="0"/>
              </a:rPr>
              <a:t> = aba</a:t>
            </a:r>
          </a:p>
          <a:p>
            <a:pPr>
              <a:buNone/>
            </a:pPr>
            <a:r>
              <a: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[2,4]</a:t>
            </a:r>
            <a:r>
              <a:rPr lang="en-US" altLang="zh-TW" sz="2400" dirty="0">
                <a:cs typeface="Times New Roman" panose="02020603050405020304" pitchFamily="18" charset="0"/>
              </a:rPr>
              <a:t> = </a:t>
            </a:r>
            <a:r>
              <a:rPr lang="en-US" altLang="zh-TW" sz="2400" dirty="0" err="1">
                <a:cs typeface="Times New Roman" panose="02020603050405020304" pitchFamily="18" charset="0"/>
              </a:rPr>
              <a:t>bab</a:t>
            </a:r>
            <a:endParaRPr lang="en-US" altLang="zh-TW" sz="2400" dirty="0"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[1,5]</a:t>
            </a:r>
            <a:r>
              <a:rPr lang="en-US" altLang="zh-TW" sz="2400" dirty="0">
                <a:cs typeface="Times New Roman" panose="02020603050405020304" pitchFamily="18" charset="0"/>
              </a:rPr>
              <a:t> = </a:t>
            </a:r>
            <a:r>
              <a:rPr lang="en-US" altLang="zh-TW" sz="2400" dirty="0" err="1">
                <a:cs typeface="Times New Roman" panose="02020603050405020304" pitchFamily="18" charset="0"/>
              </a:rPr>
              <a:t>ababa</a:t>
            </a:r>
            <a:endParaRPr lang="en-US" altLang="zh-TW" sz="2400" dirty="0"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[3,5]</a:t>
            </a:r>
            <a:r>
              <a:rPr lang="en-US" altLang="zh-TW" sz="2400" dirty="0">
                <a:cs typeface="Times New Roman" panose="02020603050405020304" pitchFamily="18" charset="0"/>
              </a:rPr>
              <a:t> = aba</a:t>
            </a:r>
          </a:p>
          <a:p>
            <a:pPr>
              <a:buNone/>
            </a:pPr>
            <a:r>
              <a:rPr lang="en-US" altLang="zh-TW" sz="2400" dirty="0">
                <a:cs typeface="Times New Roman" panose="02020603050405020304" pitchFamily="18" charset="0"/>
              </a:rPr>
              <a:t>	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[5,6]</a:t>
            </a:r>
            <a:r>
              <a:rPr lang="en-US" altLang="zh-TW" sz="2400" dirty="0">
                <a:cs typeface="Times New Roman" panose="02020603050405020304" pitchFamily="18" charset="0"/>
              </a:rPr>
              <a:t> = aa</a:t>
            </a:r>
          </a:p>
          <a:p>
            <a:pPr>
              <a:buNone/>
            </a:pPr>
            <a:endParaRPr lang="en-US" altLang="zh-TW" sz="2400" dirty="0"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827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Square-Free-Preserved </a:t>
            </a:r>
            <a:b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Stastistics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8203116" cy="4351338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5625"/>
            <a:ext cx="9144000" cy="74632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05241"/>
            <a:ext cx="9144000" cy="263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66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Square-Free-Preserved </a:t>
            </a:r>
            <a:b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Stastistics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8203116" cy="4351338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5625"/>
            <a:ext cx="9144000" cy="74632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05241"/>
            <a:ext cx="9144000" cy="263362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xmlns="" id="{76A0BA3D-ED02-4CF4-B262-3FE883AB6709}"/>
              </a:ext>
            </a:extLst>
          </p:cNvPr>
          <p:cNvSpPr/>
          <p:nvPr/>
        </p:nvSpPr>
        <p:spPr>
          <a:xfrm>
            <a:off x="1451295" y="3330429"/>
            <a:ext cx="2877424" cy="2432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xmlns="" id="{BE9D50C8-64FD-4DB8-A27A-B46F0C264370}"/>
              </a:ext>
            </a:extLst>
          </p:cNvPr>
          <p:cNvSpPr/>
          <p:nvPr/>
        </p:nvSpPr>
        <p:spPr>
          <a:xfrm>
            <a:off x="1451295" y="3587005"/>
            <a:ext cx="260059" cy="24328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6A823DE3-1694-4B0C-9BB0-81DB710258C3}"/>
              </a:ext>
            </a:extLst>
          </p:cNvPr>
          <p:cNvSpPr/>
          <p:nvPr/>
        </p:nvSpPr>
        <p:spPr>
          <a:xfrm>
            <a:off x="2079945" y="3392325"/>
            <a:ext cx="2877424" cy="162199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145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Square-Free-Preserved </a:t>
            </a:r>
            <a:b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Stastistics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8203116" cy="4351338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5625"/>
            <a:ext cx="9144000" cy="74632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05241"/>
            <a:ext cx="9144000" cy="263362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xmlns="" id="{76A0BA3D-ED02-4CF4-B262-3FE883AB6709}"/>
              </a:ext>
            </a:extLst>
          </p:cNvPr>
          <p:cNvSpPr/>
          <p:nvPr/>
        </p:nvSpPr>
        <p:spPr>
          <a:xfrm>
            <a:off x="2080469" y="3330429"/>
            <a:ext cx="3505549" cy="2432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xmlns="" id="{BE9D50C8-64FD-4DB8-A27A-B46F0C264370}"/>
              </a:ext>
            </a:extLst>
          </p:cNvPr>
          <p:cNvSpPr/>
          <p:nvPr/>
        </p:nvSpPr>
        <p:spPr>
          <a:xfrm>
            <a:off x="2088859" y="3587005"/>
            <a:ext cx="260059" cy="24328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84633B25-FDD2-4071-AA80-0676CE7FF389}"/>
              </a:ext>
            </a:extLst>
          </p:cNvPr>
          <p:cNvSpPr/>
          <p:nvPr/>
        </p:nvSpPr>
        <p:spPr>
          <a:xfrm>
            <a:off x="4643438" y="3392325"/>
            <a:ext cx="881062" cy="162199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877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Square-Free-Preserved </a:t>
            </a:r>
            <a:b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Stastistics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8203116" cy="4351338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5625"/>
            <a:ext cx="9144000" cy="74632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05241"/>
            <a:ext cx="9144000" cy="263362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xmlns="" id="{76A0BA3D-ED02-4CF4-B262-3FE883AB6709}"/>
              </a:ext>
            </a:extLst>
          </p:cNvPr>
          <p:cNvSpPr/>
          <p:nvPr/>
        </p:nvSpPr>
        <p:spPr>
          <a:xfrm>
            <a:off x="1451295" y="3330429"/>
            <a:ext cx="922789" cy="2432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xmlns="" id="{BE9D50C8-64FD-4DB8-A27A-B46F0C264370}"/>
              </a:ext>
            </a:extLst>
          </p:cNvPr>
          <p:cNvSpPr/>
          <p:nvPr/>
        </p:nvSpPr>
        <p:spPr>
          <a:xfrm>
            <a:off x="1451295" y="3830286"/>
            <a:ext cx="260059" cy="24328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xmlns="" id="{B5FFF755-1B8D-4F80-AFF9-7AB1C9564607}"/>
              </a:ext>
            </a:extLst>
          </p:cNvPr>
          <p:cNvSpPr/>
          <p:nvPr/>
        </p:nvSpPr>
        <p:spPr>
          <a:xfrm>
            <a:off x="5252910" y="3831684"/>
            <a:ext cx="260059" cy="243281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8C933282-48FD-43AA-89AB-B87F7C374DDD}"/>
              </a:ext>
            </a:extLst>
          </p:cNvPr>
          <p:cNvSpPr/>
          <p:nvPr/>
        </p:nvSpPr>
        <p:spPr>
          <a:xfrm>
            <a:off x="5252910" y="3331827"/>
            <a:ext cx="2129402" cy="24328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7595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Square-Free-Preserved </a:t>
            </a:r>
            <a:b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Stastistics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8203116" cy="4351338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5625"/>
            <a:ext cx="9144000" cy="74632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05241"/>
            <a:ext cx="9144000" cy="263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62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Square-Free-Preserved </a:t>
            </a:r>
            <a:b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Stastistics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8203116" cy="4351338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5625"/>
            <a:ext cx="9144000" cy="74632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05241"/>
            <a:ext cx="9144000" cy="263362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xmlns="" id="{76A0BA3D-ED02-4CF4-B262-3FE883AB6709}"/>
              </a:ext>
            </a:extLst>
          </p:cNvPr>
          <p:cNvSpPr/>
          <p:nvPr/>
        </p:nvSpPr>
        <p:spPr>
          <a:xfrm>
            <a:off x="1451295" y="4622335"/>
            <a:ext cx="2248250" cy="2432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xmlns="" id="{BE9D50C8-64FD-4DB8-A27A-B46F0C264370}"/>
              </a:ext>
            </a:extLst>
          </p:cNvPr>
          <p:cNvSpPr/>
          <p:nvPr/>
        </p:nvSpPr>
        <p:spPr>
          <a:xfrm>
            <a:off x="1342239" y="4823673"/>
            <a:ext cx="469783" cy="31529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xmlns="" id="{087D9D28-18DA-489F-A6F1-79814EF1A69F}"/>
              </a:ext>
            </a:extLst>
          </p:cNvPr>
          <p:cNvSpPr/>
          <p:nvPr/>
        </p:nvSpPr>
        <p:spPr>
          <a:xfrm>
            <a:off x="2718033" y="3088546"/>
            <a:ext cx="260059" cy="24328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DA5F90E0-D70A-4921-B232-621D0F05E3DE}"/>
              </a:ext>
            </a:extLst>
          </p:cNvPr>
          <p:cNvSpPr/>
          <p:nvPr/>
        </p:nvSpPr>
        <p:spPr>
          <a:xfrm>
            <a:off x="2727821" y="3356994"/>
            <a:ext cx="2214694" cy="2432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xmlns="" id="{61DE8B90-8AB3-4C19-9A19-40A8BE0075E7}"/>
              </a:ext>
            </a:extLst>
          </p:cNvPr>
          <p:cNvSpPr/>
          <p:nvPr/>
        </p:nvSpPr>
        <p:spPr>
          <a:xfrm>
            <a:off x="3247940" y="4825071"/>
            <a:ext cx="469783" cy="315299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9B8D078E-12E4-40D7-B72C-54765B2AE041}"/>
              </a:ext>
            </a:extLst>
          </p:cNvPr>
          <p:cNvSpPr/>
          <p:nvPr/>
        </p:nvSpPr>
        <p:spPr>
          <a:xfrm>
            <a:off x="3365385" y="4623733"/>
            <a:ext cx="2792134" cy="24328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1041222F-B33E-4F35-97ED-75108DE8D99B}"/>
              </a:ext>
            </a:extLst>
          </p:cNvPr>
          <p:cNvSpPr/>
          <p:nvPr/>
        </p:nvSpPr>
        <p:spPr>
          <a:xfrm>
            <a:off x="5244520" y="3358849"/>
            <a:ext cx="2827090" cy="24328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xmlns="" id="{BEF9D220-AD14-41E8-9E25-1B7988BCA636}"/>
              </a:ext>
            </a:extLst>
          </p:cNvPr>
          <p:cNvSpPr/>
          <p:nvPr/>
        </p:nvSpPr>
        <p:spPr>
          <a:xfrm>
            <a:off x="5244520" y="3089944"/>
            <a:ext cx="260059" cy="243281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430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Square-Free-Preserved </a:t>
            </a:r>
            <a:b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Stastistics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8203116" cy="4351338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5625"/>
            <a:ext cx="9144000" cy="74632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05241"/>
            <a:ext cx="9144000" cy="263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615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Periodic-Preserved</a:t>
            </a:r>
            <a:b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Factor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8203116" cy="4351338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TW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cs typeface="Times New Roman" panose="02020603050405020304" pitchFamily="18" charset="0"/>
              </a:rPr>
              <a:t>ababbabba</a:t>
            </a:r>
            <a:endParaRPr lang="en-US" altLang="zh-TW" sz="2400" dirty="0"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400" dirty="0" err="1">
                <a:cs typeface="Times New Roman" panose="02020603050405020304" pitchFamily="18" charset="0"/>
              </a:rPr>
              <a:t>ababaab</a:t>
            </a:r>
            <a:endParaRPr lang="en-US" altLang="zh-TW" sz="2400" dirty="0"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babbaa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3,  1 &lt;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k’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  <a:p>
            <a:pPr>
              <a:buNone/>
            </a:pPr>
            <a:endParaRPr lang="en-US" altLang="zh-TW" sz="2400" dirty="0"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LPCF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X,Y,Z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sz="2400" dirty="0" err="1">
                <a:cs typeface="Times New Roman" panose="02020603050405020304" pitchFamily="18" charset="0"/>
              </a:rPr>
              <a:t>abab</a:t>
            </a:r>
            <a:endParaRPr lang="en-US" altLang="zh-TW" sz="2400" i="1" dirty="0"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i="1" dirty="0"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079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Periodic-Preserved</a:t>
            </a:r>
            <a:b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Factor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8203116" cy="4351338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C9F85F68-3168-4E44-A94E-1EAF09EE3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49781"/>
            <a:ext cx="9144000" cy="412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530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Periodic-Preserved</a:t>
            </a:r>
            <a:b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Factor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8203116" cy="4351338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902130F5-6255-4DB5-B92D-823435DB7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73" y="1462845"/>
            <a:ext cx="8951053" cy="539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0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Palindromic-Preserved</a:t>
            </a:r>
            <a:b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Factor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8203116" cy="4351338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TW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cs typeface="Times New Roman" panose="02020603050405020304" pitchFamily="18" charset="0"/>
              </a:rPr>
              <a:t>ababaa</a:t>
            </a:r>
            <a:endParaRPr lang="en-US" altLang="zh-TW" sz="2400" dirty="0"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400" dirty="0" err="1">
                <a:cs typeface="Times New Roman" panose="02020603050405020304" pitchFamily="18" charset="0"/>
              </a:rPr>
              <a:t>bababb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LPALCP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sz="2400" dirty="0">
                <a:cs typeface="Times New Roman" panose="02020603050405020304" pitchFamily="18" charset="0"/>
              </a:rPr>
              <a:t>aba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zh-TW" sz="2400" dirty="0" err="1">
                <a:cs typeface="Times New Roman" panose="02020603050405020304" pitchFamily="18" charset="0"/>
              </a:rPr>
              <a:t>bab</a:t>
            </a:r>
            <a:endParaRPr lang="en-US" altLang="zh-TW" sz="2400" dirty="0"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palindromes	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palindromes</a:t>
            </a:r>
          </a:p>
          <a:p>
            <a:pPr>
              <a:buNone/>
            </a:pPr>
            <a:r>
              <a:rPr lang="en-US" altLang="zh-TW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cs typeface="Times New Roman" panose="02020603050405020304" pitchFamily="18" charset="0"/>
              </a:rPr>
              <a:t>, 				</a:t>
            </a:r>
            <a:r>
              <a:rPr lang="en-US" altLang="zh-TW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cs typeface="Times New Roman" panose="02020603050405020304" pitchFamily="18" charset="0"/>
              </a:rPr>
              <a:t>,</a:t>
            </a:r>
          </a:p>
          <a:p>
            <a:pPr>
              <a:buNone/>
            </a:pPr>
            <a:r>
              <a:rPr lang="en-US" altLang="zh-TW" sz="2400" dirty="0"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ba</a:t>
            </a:r>
            <a:r>
              <a:rPr lang="en-US" altLang="zh-TW" sz="2400" dirty="0">
                <a:cs typeface="Times New Roman" panose="02020603050405020304" pitchFamily="18" charset="0"/>
              </a:rPr>
              <a:t>, 				</a:t>
            </a:r>
            <a:r>
              <a:rPr lang="en-US" altLang="zh-TW" sz="2400" dirty="0" err="1">
                <a:cs typeface="Times New Roman" panose="02020603050405020304" pitchFamily="18" charset="0"/>
              </a:rPr>
              <a:t>b</a:t>
            </a:r>
            <a:r>
              <a:rPr lang="en-US" altLang="zh-TW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ab</a:t>
            </a:r>
            <a:r>
              <a:rPr lang="en-US" altLang="zh-TW" sz="2400" dirty="0">
                <a:cs typeface="Times New Roman" panose="02020603050405020304" pitchFamily="18" charset="0"/>
              </a:rPr>
              <a:t>,</a:t>
            </a:r>
          </a:p>
          <a:p>
            <a:pPr>
              <a:buNone/>
            </a:pPr>
            <a:r>
              <a:rPr lang="en-US" altLang="zh-TW" sz="2400" dirty="0" err="1">
                <a:cs typeface="Times New Roman" panose="02020603050405020304" pitchFamily="18" charset="0"/>
              </a:rPr>
              <a:t>ab</a:t>
            </a:r>
            <a:r>
              <a:rPr lang="en-US" altLang="zh-TW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aba</a:t>
            </a:r>
            <a:r>
              <a:rPr lang="en-US" altLang="zh-TW" sz="2400" dirty="0">
                <a:cs typeface="Times New Roman" panose="02020603050405020304" pitchFamily="18" charset="0"/>
              </a:rPr>
              <a:t>,				</a:t>
            </a:r>
            <a:r>
              <a:rPr lang="en-US" altLang="zh-TW" sz="2400" dirty="0" err="1">
                <a:cs typeface="Times New Roman" panose="02020603050405020304" pitchFamily="18" charset="0"/>
              </a:rPr>
              <a:t>ba</a:t>
            </a:r>
            <a:r>
              <a:rPr lang="en-US" altLang="zh-TW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bab</a:t>
            </a:r>
            <a:r>
              <a:rPr lang="en-US" altLang="zh-TW" sz="2400" dirty="0">
                <a:cs typeface="Times New Roman" panose="02020603050405020304" pitchFamily="18" charset="0"/>
              </a:rPr>
              <a:t>,</a:t>
            </a:r>
          </a:p>
          <a:p>
            <a:pPr>
              <a:buNone/>
            </a:pPr>
            <a:r>
              <a:rPr lang="en-US" altLang="zh-TW" sz="2400" dirty="0"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ba</a:t>
            </a:r>
            <a:r>
              <a:rPr lang="en-US" altLang="zh-TW" sz="2400" dirty="0">
                <a:cs typeface="Times New Roman" panose="02020603050405020304" pitchFamily="18" charset="0"/>
              </a:rPr>
              <a:t>,				</a:t>
            </a:r>
            <a:r>
              <a:rPr lang="en-US" altLang="zh-TW" sz="2400" dirty="0" err="1">
                <a:cs typeface="Times New Roman" panose="02020603050405020304" pitchFamily="18" charset="0"/>
              </a:rPr>
              <a:t>b</a:t>
            </a:r>
            <a:r>
              <a:rPr lang="en-US" altLang="zh-TW" sz="2400" dirty="0" err="1">
                <a:solidFill>
                  <a:srgbClr val="FF0000"/>
                </a:solidFill>
                <a:cs typeface="Times New Roman" panose="02020603050405020304" pitchFamily="18" charset="0"/>
              </a:rPr>
              <a:t>ab</a:t>
            </a:r>
            <a:endParaRPr lang="en-US" altLang="zh-TW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cs typeface="Times New Roman" panose="02020603050405020304" pitchFamily="18" charset="0"/>
              </a:rPr>
              <a:t>,					</a:t>
            </a:r>
            <a:r>
              <a:rPr lang="en-US" altLang="zh-TW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cs typeface="Times New Roman" panose="02020603050405020304" pitchFamily="18" charset="0"/>
              </a:rPr>
              <a:t>,</a:t>
            </a:r>
          </a:p>
          <a:p>
            <a:pPr>
              <a:buNone/>
            </a:pPr>
            <a:r>
              <a:rPr lang="en-US" altLang="zh-TW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					b	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116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37045</TotalTime>
  <Words>248</Words>
  <Application>Microsoft Office PowerPoint</Application>
  <PresentationFormat>如螢幕大小 (4:3)</PresentationFormat>
  <Paragraphs>108</Paragraphs>
  <Slides>17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3" baseType="lpstr">
      <vt:lpstr>新細明體</vt:lpstr>
      <vt:lpstr>Arial</vt:lpstr>
      <vt:lpstr>Calibri</vt:lpstr>
      <vt:lpstr>Calibri Light</vt:lpstr>
      <vt:lpstr>Times New Roman</vt:lpstr>
      <vt:lpstr>Office 佈景主題</vt:lpstr>
      <vt:lpstr>Longest Property-Preserved Common Factor</vt:lpstr>
      <vt:lpstr>Abstract (1/2)</vt:lpstr>
      <vt:lpstr>Abstract (2/2)</vt:lpstr>
      <vt:lpstr>Square-Free-Preserved</vt:lpstr>
      <vt:lpstr>Periodic-Preserved</vt:lpstr>
      <vt:lpstr>Palindromic-Preserved</vt:lpstr>
      <vt:lpstr>Square-Free-Preserved  Matching Stastistics</vt:lpstr>
      <vt:lpstr>Square-Free-Preserved  Matching Stastistics</vt:lpstr>
      <vt:lpstr>Square-Free-Preserved  Matching Stastistics</vt:lpstr>
      <vt:lpstr>Square-Free-Preserved  Matching Stastistics</vt:lpstr>
      <vt:lpstr>Square-Free-Preserved  Matching Stastistics</vt:lpstr>
      <vt:lpstr>Square-Free-Preserved  Matching Stastistics</vt:lpstr>
      <vt:lpstr>Square-Free-Preserved  Matching Stastistics</vt:lpstr>
      <vt:lpstr>Longest Periodic-Preserved Common Factor</vt:lpstr>
      <vt:lpstr>Longest Periodic-Preserved Common Factor</vt:lpstr>
      <vt:lpstr>Longest Periodic-Preserved Common Factor</vt:lpstr>
      <vt:lpstr>Longest Palindromic-Preserved Common Factor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pplab-class</cp:lastModifiedBy>
  <cp:revision>447</cp:revision>
  <dcterms:created xsi:type="dcterms:W3CDTF">2016-04-23T07:31:56Z</dcterms:created>
  <dcterms:modified xsi:type="dcterms:W3CDTF">2019-02-26T12:02:03Z</dcterms:modified>
</cp:coreProperties>
</file>