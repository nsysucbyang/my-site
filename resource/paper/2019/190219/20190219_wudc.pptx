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0867" autoAdjust="0"/>
  </p:normalViewPr>
  <p:slideViewPr>
    <p:cSldViewPr snapToGrid="0">
      <p:cViewPr varScale="1">
        <p:scale>
          <a:sx n="64" d="100"/>
          <a:sy n="64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https://www.google.com/maps/place/%E6%84%9B%E7%88%BE%E8%98%AD%E5%88%A9%E9%BB%98%E9%87%8C%E5%85%8B/@52.6451383,-8.8014936,10.46z/data=!4m5!3m4!1s0x485b5c611f545113:0xa00c7a997317330!8m2!3d52.6638367!4d-8.6267343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7487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in at Least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Length Order-Isomorphic Substrings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597496"/>
            <a:ext cx="9144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Yohei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Ueki,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Diptarama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Masatoshi 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Kurihara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Yoshiaki Matsuoka, Kazuyuki 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Narisawa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Ryo Yoshinaka, Hideo 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Bannai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Ayumi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Shinohara</a:t>
            </a:r>
          </a:p>
          <a:p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F2527E8-BB8F-41FB-8AF1-03DCC96BC069}"/>
              </a:ext>
            </a:extLst>
          </p:cNvPr>
          <p:cNvSpPr txBox="1"/>
          <p:nvPr/>
        </p:nvSpPr>
        <p:spPr>
          <a:xfrm>
            <a:off x="1868046" y="3678585"/>
            <a:ext cx="84559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43rd International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and Practice of Computer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Limerick, Ireland, January 16-20, 2017, pp.363-374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6BC92671-3184-4146-A361-F82079153C2E}"/>
              </a:ext>
            </a:extLst>
          </p:cNvPr>
          <p:cNvSpPr txBox="1"/>
          <p:nvPr/>
        </p:nvSpPr>
        <p:spPr>
          <a:xfrm>
            <a:off x="8004835" y="4925159"/>
            <a:ext cx="3497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Presenter: Du-Cheng Wu</a:t>
            </a:r>
            <a:endParaRPr lang="zh-TW" altLang="en-US" sz="24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2A0654C-2F84-4026-9FCF-04C8DF590D5F}"/>
              </a:ext>
            </a:extLst>
          </p:cNvPr>
          <p:cNvSpPr txBox="1"/>
          <p:nvPr/>
        </p:nvSpPr>
        <p:spPr>
          <a:xfrm>
            <a:off x="8880331" y="5479316"/>
            <a:ext cx="2622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Date: Feb. 19, 2019</a:t>
            </a:r>
            <a:endParaRPr lang="zh-TW" altLang="en-US" sz="24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the longest common subsequence (LCS) problem with the restriction that the common subsequence is required to consist of at least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length substrings. First, we show an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algorithm for the problem which gives a better worst-case running time than existing algorithms, where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lengths of the input strings. Furthermore, we mainly consider the LCS in at least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length order-isomorphic substrings problem. We show that the problem can also be solved in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worst-case time by an easy-to-implement algorithm.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at least k substrings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E39EF1E7-604C-4E09-A7D2-D4B34B063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3782"/>
                <a:ext cx="10515600" cy="508923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ATTCGTATCG</a:t>
                </a:r>
              </a:p>
              <a:p>
                <a:pPr marL="0" indent="0"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ATTGCTATGC</a:t>
                </a:r>
              </a:p>
              <a:p>
                <a:pPr marL="0" indent="0">
                  <a:buNone/>
                </a:pPr>
                <a:endParaRPr lang="en-US" altLang="zh-TW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𝐿𝐶𝑆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ATTA, ATAT, TTTA, TTAT = 4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𝐿𝐶𝑆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2+</m:t>
                        </m:r>
                      </m:sub>
                    </m:sSub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ATTTAT = 6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39EF1E7-604C-4E09-A7D2-D4B34B063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3782"/>
                <a:ext cx="10515600" cy="5089236"/>
              </a:xfrm>
              <a:blipFill rotWithShape="0"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Order-isomorphism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892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(32, 40, 4, 16, 27)</a:t>
            </a:r>
          </a:p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(28, 32, 12, 20, 25)</a:t>
            </a:r>
          </a:p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4    5    1    2    3</a:t>
            </a:r>
          </a:p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≈ Y</a:t>
            </a:r>
          </a:p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277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xmlns="" id="{02CD88E0-92F0-4756-A55F-499E0B4501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𝐿𝐶𝑆</m:t>
                        </m:r>
                      </m:e>
                      <m:sub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2CD88E0-92F0-4756-A55F-499E0B45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  <a:blipFill>
                <a:blip r:embed="rId2"/>
                <a:stretch>
                  <a:fillRect l="-1507" t="-10000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E39EF1E7-604C-4E09-A7D2-D4B34B063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3782"/>
                <a:ext cx="10515600" cy="508923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(</a:t>
                </a:r>
                <a:r>
                  <a:rPr lang="en-US" altLang="zh-TW" sz="320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14, 84, 82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320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31, 74, 68, 87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11, 20, 32)</a:t>
                </a:r>
              </a:p>
              <a:p>
                <a:pPr marL="0" indent="0"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(21, 64, </a:t>
                </a:r>
                <a:r>
                  <a:rPr lang="en-US" altLang="zh-TW" sz="320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2, 83, 73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51, </a:t>
                </a:r>
                <a:r>
                  <a:rPr lang="en-US" altLang="zh-TW" sz="320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5, 29, 7, 71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⟨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,+3</m:t>
                    </m:r>
                    <m:r>
                      <a:rPr lang="en-US" altLang="zh-TW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</m:t>
                    </m:r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⟨3,+3⟩ 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⟨4,+4⟩≈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⟨7,+4⟩</m:t>
                    </m:r>
                  </m:oMath>
                </a14:m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= 7</a:t>
                </a:r>
              </a:p>
              <a:p>
                <a:pPr marL="0" indent="0">
                  <a:buNone/>
                </a:pPr>
                <a:endParaRPr lang="en-US" altLang="zh-TW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9EF1E7-604C-4E09-A7D2-D4B34B063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3782"/>
                <a:ext cx="10515600" cy="5089236"/>
              </a:xfrm>
              <a:blipFill>
                <a:blip r:embed="rId4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05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xmlns="" id="{02CD88E0-92F0-4756-A55F-499E0B4501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𝐿𝐶𝑆</m:t>
                          </m:r>
                        </m:e>
                        <m:sub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2CD88E0-92F0-4756-A55F-499E0B45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xmlns="" id="{84F56726-AF75-421C-80D1-C90D909F8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013" y="1362548"/>
            <a:ext cx="8402886" cy="1335617"/>
          </a:xfr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427688F7-3583-4B6F-BB14-196D7725A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026" y="3129176"/>
            <a:ext cx="8725948" cy="1337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2A8C85EC-CC09-4C0B-BB24-59C1C463C5DC}"/>
                  </a:ext>
                </a:extLst>
              </p:cNvPr>
              <p:cNvSpPr txBox="1"/>
              <p:nvPr/>
            </p:nvSpPr>
            <p:spPr>
              <a:xfrm>
                <a:off x="1733026" y="4792868"/>
                <a:ext cx="872594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altLang="zh-TW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({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−1,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]}∪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])</m:t>
                    </m:r>
                  </m:oMath>
                </a14:m>
                <a:r>
                  <a:rPr lang="zh-TW" alt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C</a:t>
                </a:r>
                <a:r>
                  <a:rPr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]=</a:t>
                </a:r>
                <a:r>
                  <a:rPr lang="en-US" altLang="zh-TW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otherwise</a:t>
                </a:r>
                <a:endParaRPr lang="zh-TW" alt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A8C85EC-CC09-4C0B-BB24-59C1C463C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026" y="4792868"/>
                <a:ext cx="8725948" cy="430887"/>
              </a:xfrm>
              <a:prstGeom prst="rect">
                <a:avLst/>
              </a:prstGeom>
              <a:blipFill>
                <a:blip r:embed="rId5"/>
                <a:stretch>
                  <a:fillRect l="-70" t="-9859" b="-281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87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xmlns="" id="{02CD88E0-92F0-4756-A55F-499E0B4501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𝐿𝐶𝑆</m:t>
                          </m:r>
                        </m:e>
                        <m:sub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2CD88E0-92F0-4756-A55F-499E0B45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327DD40F-A547-495D-B516-5843EE828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627"/>
            <a:ext cx="10515600" cy="48263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abcdef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abcbcdef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A112E281-C0DA-43FF-BFD1-66F0E5B3B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281222"/>
              </p:ext>
            </p:extLst>
          </p:nvPr>
        </p:nvGraphicFramePr>
        <p:xfrm>
          <a:off x="838899" y="3084205"/>
          <a:ext cx="3105371" cy="242961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09908">
                  <a:extLst>
                    <a:ext uri="{9D8B030D-6E8A-4147-A177-3AD203B41FA5}">
                      <a16:colId xmlns:a16="http://schemas.microsoft.com/office/drawing/2014/main" xmlns="" val="4141626449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88991426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638274614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901119998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3414009968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3577431738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3596342600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1204010435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3618556929"/>
                    </a:ext>
                  </a:extLst>
                </a:gridCol>
                <a:gridCol w="310607">
                  <a:extLst>
                    <a:ext uri="{9D8B030D-6E8A-4147-A177-3AD203B41FA5}">
                      <a16:colId xmlns:a16="http://schemas.microsoft.com/office/drawing/2014/main" xmlns="" val="567533452"/>
                    </a:ext>
                  </a:extLst>
                </a:gridCol>
              </a:tblGrid>
              <a:tr h="300405"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1934046298"/>
                  </a:ext>
                </a:extLst>
              </a:tr>
              <a:tr h="3004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3686190567"/>
                  </a:ext>
                </a:extLst>
              </a:tr>
              <a:tr h="3004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1535616041"/>
                  </a:ext>
                </a:extLst>
              </a:tr>
              <a:tr h="3004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2617460189"/>
                  </a:ext>
                </a:extLst>
              </a:tr>
              <a:tr h="3004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9038580"/>
                  </a:ext>
                </a:extLst>
              </a:tr>
              <a:tr h="3004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214109014"/>
                  </a:ext>
                </a:extLst>
              </a:tr>
              <a:tr h="3004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965391813"/>
                  </a:ext>
                </a:extLst>
              </a:tr>
              <a:tr h="3004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01" marR="75101" marT="37551" marB="37551" anchor="ctr"/>
                </a:tc>
                <a:extLst>
                  <a:ext uri="{0D108BD9-81ED-4DB2-BD59-A6C34878D82A}">
                    <a16:rowId xmlns:a16="http://schemas.microsoft.com/office/drawing/2014/main" xmlns="" val="169806542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F8AC008C-DC8E-47FD-A834-ECF5A35B6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692947"/>
              </p:ext>
            </p:extLst>
          </p:nvPr>
        </p:nvGraphicFramePr>
        <p:xfrm>
          <a:off x="4547065" y="3077565"/>
          <a:ext cx="3097870" cy="242980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09787">
                  <a:extLst>
                    <a:ext uri="{9D8B030D-6E8A-4147-A177-3AD203B41FA5}">
                      <a16:colId xmlns:a16="http://schemas.microsoft.com/office/drawing/2014/main" xmlns="" val="2738056703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2421867604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1230089648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99604988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3508442243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3167244298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3685489967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3275018629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4002204924"/>
                    </a:ext>
                  </a:extLst>
                </a:gridCol>
                <a:gridCol w="309787">
                  <a:extLst>
                    <a:ext uri="{9D8B030D-6E8A-4147-A177-3AD203B41FA5}">
                      <a16:colId xmlns:a16="http://schemas.microsoft.com/office/drawing/2014/main" xmlns="" val="616789669"/>
                    </a:ext>
                  </a:extLst>
                </a:gridCol>
              </a:tblGrid>
              <a:tr h="300502"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2316239288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3131200564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264808166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1548734037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2248395206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3736926408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731866711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126" marR="75126" marT="37563" marB="37563" anchor="ctr"/>
                </a:tc>
                <a:extLst>
                  <a:ext uri="{0D108BD9-81ED-4DB2-BD59-A6C34878D82A}">
                    <a16:rowId xmlns:a16="http://schemas.microsoft.com/office/drawing/2014/main" xmlns="" val="44396496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3C12B46E-FD43-4835-BC91-0BDE56C7C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083141"/>
              </p:ext>
            </p:extLst>
          </p:nvPr>
        </p:nvGraphicFramePr>
        <p:xfrm>
          <a:off x="8222690" y="3077565"/>
          <a:ext cx="3131110" cy="243625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13111">
                  <a:extLst>
                    <a:ext uri="{9D8B030D-6E8A-4147-A177-3AD203B41FA5}">
                      <a16:colId xmlns:a16="http://schemas.microsoft.com/office/drawing/2014/main" xmlns="" val="2738056703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2421867604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1230089648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99604988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3508442243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3167244298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3685489967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3275018629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4002204924"/>
                    </a:ext>
                  </a:extLst>
                </a:gridCol>
                <a:gridCol w="313111">
                  <a:extLst>
                    <a:ext uri="{9D8B030D-6E8A-4147-A177-3AD203B41FA5}">
                      <a16:colId xmlns:a16="http://schemas.microsoft.com/office/drawing/2014/main" xmlns="" val="616789669"/>
                    </a:ext>
                  </a:extLst>
                </a:gridCol>
              </a:tblGrid>
              <a:tr h="303726"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2316239288"/>
                  </a:ext>
                </a:extLst>
              </a:tr>
              <a:tr h="3037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3131200564"/>
                  </a:ext>
                </a:extLst>
              </a:tr>
              <a:tr h="3037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264808166"/>
                  </a:ext>
                </a:extLst>
              </a:tr>
              <a:tr h="3037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1548734037"/>
                  </a:ext>
                </a:extLst>
              </a:tr>
              <a:tr h="3037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2248395206"/>
                  </a:ext>
                </a:extLst>
              </a:tr>
              <a:tr h="3037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3736926408"/>
                  </a:ext>
                </a:extLst>
              </a:tr>
              <a:tr h="3037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731866711"/>
                  </a:ext>
                </a:extLst>
              </a:tr>
              <a:tr h="3037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932" marR="75932" marT="37966" marB="37966" anchor="ctr"/>
                </a:tc>
                <a:extLst>
                  <a:ext uri="{0D108BD9-81ED-4DB2-BD59-A6C34878D82A}">
                    <a16:rowId xmlns:a16="http://schemas.microsoft.com/office/drawing/2014/main" xmlns="" val="44396496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AAF9601B-AEC7-4581-9645-BE21F5D794AF}"/>
              </a:ext>
            </a:extLst>
          </p:cNvPr>
          <p:cNvSpPr txBox="1"/>
          <p:nvPr/>
        </p:nvSpPr>
        <p:spPr>
          <a:xfrm>
            <a:off x="1661019" y="5763237"/>
            <a:ext cx="1442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378C1388-2ABA-4093-A77F-4A72166D005E}"/>
              </a:ext>
            </a:extLst>
          </p:cNvPr>
          <p:cNvSpPr txBox="1"/>
          <p:nvPr/>
        </p:nvSpPr>
        <p:spPr>
          <a:xfrm>
            <a:off x="9088073" y="5763237"/>
            <a:ext cx="1442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EB5312CC-18B9-44C0-B489-B04B31BA8EB6}"/>
              </a:ext>
            </a:extLst>
          </p:cNvPr>
          <p:cNvSpPr txBox="1"/>
          <p:nvPr/>
        </p:nvSpPr>
        <p:spPr>
          <a:xfrm>
            <a:off x="5374546" y="5763237"/>
            <a:ext cx="1442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098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xmlns="" id="{02CD88E0-92F0-4756-A55F-499E0B4501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𝐿𝐶𝑆</m:t>
                        </m:r>
                      </m:e>
                      <m:sub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2CD88E0-92F0-4756-A55F-499E0B45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  <a:blipFill>
                <a:blip r:embed="rId2"/>
                <a:stretch>
                  <a:fillRect l="-1507" t="-10000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892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(32, 40, 4, 16, 27, 41)</a:t>
            </a:r>
          </a:p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(28, 32, 12, 20, 25, 26)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E5F6066E-9FC2-4BCF-BAA4-58089D792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530248"/>
              </p:ext>
            </p:extLst>
          </p:nvPr>
        </p:nvGraphicFramePr>
        <p:xfrm>
          <a:off x="1251825" y="3295086"/>
          <a:ext cx="4063997" cy="270933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xmlns="" val="337591433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xmlns="" val="316754436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xmlns="" val="1416987374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xmlns="" val="444863724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xmlns="" val="76927106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xmlns="" val="112109572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xmlns="" val="3038122322"/>
                    </a:ext>
                  </a:extLst>
                </a:gridCol>
              </a:tblGrid>
              <a:tr h="387048"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28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32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26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86746293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32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52124104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40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75480109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82652377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637307496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27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79953309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41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62453342"/>
                  </a:ext>
                </a:extLst>
              </a:tr>
            </a:tbl>
          </a:graphicData>
        </a:graphic>
      </p:graphicFrame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9CCE2E49-1DA3-4573-AABB-559EC1D86543}"/>
              </a:ext>
            </a:extLst>
          </p:cNvPr>
          <p:cNvCxnSpPr>
            <a:cxnSpLocks/>
          </p:cNvCxnSpPr>
          <p:nvPr/>
        </p:nvCxnSpPr>
        <p:spPr>
          <a:xfrm>
            <a:off x="1803633" y="2214694"/>
            <a:ext cx="25838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xmlns="" id="{B7A082B3-B63D-423F-8653-C4625BCD9E5C}"/>
              </a:ext>
            </a:extLst>
          </p:cNvPr>
          <p:cNvCxnSpPr>
            <a:cxnSpLocks/>
          </p:cNvCxnSpPr>
          <p:nvPr/>
        </p:nvCxnSpPr>
        <p:spPr>
          <a:xfrm>
            <a:off x="1803633" y="2786544"/>
            <a:ext cx="278514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6A05837F-06A6-4395-BF9D-7BF114FA7880}"/>
              </a:ext>
            </a:extLst>
          </p:cNvPr>
          <p:cNvCxnSpPr>
            <a:cxnSpLocks/>
          </p:cNvCxnSpPr>
          <p:nvPr/>
        </p:nvCxnSpPr>
        <p:spPr>
          <a:xfrm>
            <a:off x="3020037" y="2299982"/>
            <a:ext cx="2023144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F6EF589C-350F-4B73-B168-FDC73F449E41}"/>
              </a:ext>
            </a:extLst>
          </p:cNvPr>
          <p:cNvCxnSpPr>
            <a:cxnSpLocks/>
          </p:cNvCxnSpPr>
          <p:nvPr/>
        </p:nvCxnSpPr>
        <p:spPr>
          <a:xfrm>
            <a:off x="3020037" y="2846665"/>
            <a:ext cx="213919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25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op-LCE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892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6D1E27F0-F8D3-4796-ACA4-A392C087A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3465"/>
            <a:ext cx="9772890" cy="107584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5E8BE465-5549-4998-9C58-5360E82E3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71" y="3450473"/>
            <a:ext cx="9719348" cy="74821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xmlns="" id="{1DB2E929-A68B-4357-B2C6-443BFEBC2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12535"/>
            <a:ext cx="10106025" cy="76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787886F4-EAB1-4968-9998-B421A4AB9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175" y="2679060"/>
            <a:ext cx="3933825" cy="381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6C2531D4-836C-433F-AC40-BFA020A012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75970"/>
            <a:ext cx="36861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Z-table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892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5E8BE465-5549-4998-9C58-5360E82E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724"/>
            <a:ext cx="9719348" cy="74821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59796FBB-D203-4C5F-AF2C-22AF1FF31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07884"/>
            <a:ext cx="9999677" cy="12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28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op-LCE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892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47EB328F-56D0-467D-8883-C71BDDE5F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34473"/>
            <a:ext cx="5589208" cy="582352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42F873B5-38A6-4092-A18D-4BF3B1985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08" y="2941052"/>
            <a:ext cx="5354938" cy="287899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xmlns="" id="{007E8970-5E6C-457F-83B4-B5864C466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462" y="1986511"/>
            <a:ext cx="5980884" cy="41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72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xmlns="" id="{02CD88E0-92F0-4756-A55F-499E0B4501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𝐿𝐶𝑆</m:t>
                        </m:r>
                      </m:e>
                      <m:sub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2CD88E0-92F0-4756-A55F-499E0B45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69348"/>
              </a:xfrm>
              <a:blipFill>
                <a:blip r:embed="rId2"/>
                <a:stretch>
                  <a:fillRect l="-1507" t="-10000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31C514D8-5839-46E8-8AF6-FE3FC5416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27295"/>
            <a:ext cx="7058025" cy="48577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EA07BA8B-C576-4B7C-A3B9-4B677DE56C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690" y="2813109"/>
            <a:ext cx="5565790" cy="48136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xmlns="" id="{5E7FD124-D204-4720-B01D-C8F438818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25" y="3429000"/>
            <a:ext cx="3263091" cy="293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4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C5178607-8C00-4A3B-9EAA-D298F97F6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02295"/>
            <a:ext cx="7122952" cy="53905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DDDF26DE-D9BF-4665-9BDB-49A0C9099610}"/>
              </a:ext>
            </a:extLst>
          </p:cNvPr>
          <p:cNvSpPr txBox="1"/>
          <p:nvPr/>
        </p:nvSpPr>
        <p:spPr>
          <a:xfrm>
            <a:off x="8157594" y="3044279"/>
            <a:ext cx="31962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O(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BLMNS  O(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kmn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PZS         O(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log(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62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2836</TotalTime>
  <Words>585</Words>
  <Application>Microsoft Office PowerPoint</Application>
  <PresentationFormat>寬螢幕</PresentationFormat>
  <Paragraphs>310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Leelawadee UI Semilight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Longest Common Subsequence in at Least k Length Order-Isomorphic Substrings</vt:lpstr>
      <vt:lpstr>Abstract</vt:lpstr>
      <vt:lpstr>Longest Common Subsequence at least k substrings</vt:lpstr>
      <vt:lpstr>Order-isomorphism</vt:lpstr>
      <vt:lpstr>op-〖LCS〗_(k+)</vt:lpstr>
      <vt:lpstr>〖LCS〗_(k+)</vt:lpstr>
      <vt:lpstr>〖LCS〗_(k+)</vt:lpstr>
      <vt:lpstr>op-〖LCS〗_(k+)</vt:lpstr>
      <vt:lpstr>op-LCE</vt:lpstr>
      <vt:lpstr>Z-table</vt:lpstr>
      <vt:lpstr>op-LCE algorithm</vt:lpstr>
      <vt:lpstr>op-〖LCS〗_(k+) algorithm</vt:lpstr>
      <vt:lpstr>Experimental 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pplab-class</cp:lastModifiedBy>
  <cp:revision>84</cp:revision>
  <dcterms:created xsi:type="dcterms:W3CDTF">2018-09-30T05:00:05Z</dcterms:created>
  <dcterms:modified xsi:type="dcterms:W3CDTF">2019-02-19T11:42:45Z</dcterms:modified>
</cp:coreProperties>
</file>