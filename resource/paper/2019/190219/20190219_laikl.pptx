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2" r:id="rId2"/>
    <p:sldId id="273" r:id="rId3"/>
    <p:sldId id="274" r:id="rId4"/>
    <p:sldId id="275" r:id="rId5"/>
    <p:sldId id="276" r:id="rId6"/>
    <p:sldId id="277" r:id="rId7"/>
    <p:sldId id="278" r:id="rId8"/>
    <p:sldId id="279" r:id="rId9"/>
    <p:sldId id="280" r:id="rId10"/>
    <p:sldId id="282" r:id="rId11"/>
    <p:sldId id="283" r:id="rId12"/>
    <p:sldId id="284" r:id="rId13"/>
    <p:sldId id="285" r:id="rId14"/>
    <p:sldId id="286" r:id="rId15"/>
    <p:sldId id="287"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EC917-2184-4946-BB82-84EF861DCF35}" type="datetimeFigureOut">
              <a:rPr lang="zh-TW" altLang="en-US" smtClean="0"/>
              <a:t>2019/2/18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4844C-1032-416A-8E33-99B56B001B47}" type="slidenum">
              <a:rPr lang="zh-TW" altLang="en-US" smtClean="0"/>
              <a:t>‹#›</a:t>
            </a:fld>
            <a:endParaRPr lang="zh-TW" altLang="en-US"/>
          </a:p>
        </p:txBody>
      </p:sp>
    </p:spTree>
    <p:extLst>
      <p:ext uri="{BB962C8B-B14F-4D97-AF65-F5344CB8AC3E}">
        <p14:creationId xmlns:p14="http://schemas.microsoft.com/office/powerpoint/2010/main" val="1625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6</a:t>
            </a:fld>
            <a:endParaRPr lang="zh-TW" altLang="en-US"/>
          </a:p>
        </p:txBody>
      </p:sp>
    </p:spTree>
    <p:extLst>
      <p:ext uri="{BB962C8B-B14F-4D97-AF65-F5344CB8AC3E}">
        <p14:creationId xmlns:p14="http://schemas.microsoft.com/office/powerpoint/2010/main" val="2950043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7</a:t>
            </a:fld>
            <a:endParaRPr lang="zh-TW" altLang="en-US"/>
          </a:p>
        </p:txBody>
      </p:sp>
    </p:spTree>
    <p:extLst>
      <p:ext uri="{BB962C8B-B14F-4D97-AF65-F5344CB8AC3E}">
        <p14:creationId xmlns:p14="http://schemas.microsoft.com/office/powerpoint/2010/main" val="574845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9</a:t>
            </a:fld>
            <a:endParaRPr lang="zh-TW" altLang="en-US"/>
          </a:p>
        </p:txBody>
      </p:sp>
    </p:spTree>
    <p:extLst>
      <p:ext uri="{BB962C8B-B14F-4D97-AF65-F5344CB8AC3E}">
        <p14:creationId xmlns:p14="http://schemas.microsoft.com/office/powerpoint/2010/main" val="2145961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91E9FB-D310-4BD9-851D-6425E632172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05CC2D6F-06AF-4931-9709-FCA05DC51E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05EB6B2-427A-4CAE-9619-FAB6B597D067}"/>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5" name="頁尾版面配置區 4">
            <a:extLst>
              <a:ext uri="{FF2B5EF4-FFF2-40B4-BE49-F238E27FC236}">
                <a16:creationId xmlns:a16="http://schemas.microsoft.com/office/drawing/2014/main" id="{3769ABC4-7C32-44E3-9772-E2B3357F93E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55D64BD-9081-466C-8D01-FBF7065B7535}"/>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788892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C11C1B-A165-4738-A98E-CDF82413A0C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B1918-D436-4343-9D7A-DF8FD42C6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AC802BB-9E18-4069-B6E3-D70E229B8AC6}"/>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5" name="頁尾版面配置區 4">
            <a:extLst>
              <a:ext uri="{FF2B5EF4-FFF2-40B4-BE49-F238E27FC236}">
                <a16:creationId xmlns:a16="http://schemas.microsoft.com/office/drawing/2014/main" id="{4D17E016-6221-4C76-A778-1966A7E223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C950188-5923-4BE5-BBF8-007D2F5AFF0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3888639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FCEA3C-318E-4A4F-A7B9-E2D385E1145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363CFCA-1D31-4F2D-A2FA-912CBE68D1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73F6391A-F661-4379-94A2-4643E5BF5D69}"/>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5" name="頁尾版面配置區 4">
            <a:extLst>
              <a:ext uri="{FF2B5EF4-FFF2-40B4-BE49-F238E27FC236}">
                <a16:creationId xmlns:a16="http://schemas.microsoft.com/office/drawing/2014/main" id="{695108C4-69A9-44CA-89F5-763AB52A95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53FF97E-7194-4B2D-8634-E29DD61DA603}"/>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930596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52C97B-1F56-4785-8A30-DA86E60AABC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F29B196-61A8-4EA9-B0FF-4353875D02FE}"/>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9105522-46EF-4155-B59E-FF1C09A54256}"/>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82E778C-6D5C-4349-B49E-A36748FD2C5F}"/>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6" name="頁尾版面配置區 5">
            <a:extLst>
              <a:ext uri="{FF2B5EF4-FFF2-40B4-BE49-F238E27FC236}">
                <a16:creationId xmlns:a16="http://schemas.microsoft.com/office/drawing/2014/main" id="{7706EA42-D460-4907-9704-D34B3B57C42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7E264FC-4808-4790-BD8F-8211BE53721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762903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27751A-93CE-4DE8-B797-C436DD9F5C1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8A2ABA1-97A7-4A9B-8822-523C381771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E16E0FC9-B7AA-41A0-B866-A41045B34148}"/>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FC33553-8EC2-4658-A3F0-AC45384FB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503BC847-C398-4803-A4DB-B409F0FA9B54}"/>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8638424-171A-4453-A77D-F5E415EF2FA5}"/>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8" name="頁尾版面配置區 7">
            <a:extLst>
              <a:ext uri="{FF2B5EF4-FFF2-40B4-BE49-F238E27FC236}">
                <a16:creationId xmlns:a16="http://schemas.microsoft.com/office/drawing/2014/main" id="{C80A086D-9FDA-468B-AAB3-0018938B86E6}"/>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DC85732-9691-4144-9A38-E61C8463996B}"/>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68695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441B06-8711-4961-AEB7-AEE157FB58E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2D84982-DA61-40F8-865E-241B2E63E5CB}"/>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4" name="頁尾版面配置區 3">
            <a:extLst>
              <a:ext uri="{FF2B5EF4-FFF2-40B4-BE49-F238E27FC236}">
                <a16:creationId xmlns:a16="http://schemas.microsoft.com/office/drawing/2014/main" id="{688FECA4-B1F2-4027-8D2C-8751FB26680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49751A0D-D313-4013-94A2-D4003C17EC3C}"/>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08323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B4FDBCA-0F26-49FD-AD09-208FE47B41BB}"/>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3" name="頁尾版面配置區 2">
            <a:extLst>
              <a:ext uri="{FF2B5EF4-FFF2-40B4-BE49-F238E27FC236}">
                <a16:creationId xmlns:a16="http://schemas.microsoft.com/office/drawing/2014/main" id="{A1FBB2FB-5464-4A73-AE50-DCF81B3AC41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6065D78-C5F8-47FF-AA94-888FCEFD4175}"/>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89903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5D31BA-37F1-4225-B290-CB3296CD2E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44D63C7-7D4E-47D8-B09A-DDD52D895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A09B261-64A1-45E3-BCCC-4B347BCEF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A21D7D45-2485-430D-85B6-E0EDD74702FF}"/>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6" name="頁尾版面配置區 5">
            <a:extLst>
              <a:ext uri="{FF2B5EF4-FFF2-40B4-BE49-F238E27FC236}">
                <a16:creationId xmlns:a16="http://schemas.microsoft.com/office/drawing/2014/main" id="{F0B9DB85-5A5B-48DF-A996-3201B8D8780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B426B7C-FD89-4D9B-887E-55B2A0158F04}"/>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850541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8B7B3C-2DD9-46E7-A713-12783EFB8ED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29D5A80-7E30-4CE2-9F20-F249813FD6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DD48E2E-ABAE-41A2-9298-3BB31EBF90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4BA1B74B-A084-41FB-850C-9D7955CBFB7B}"/>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6" name="頁尾版面配置區 5">
            <a:extLst>
              <a:ext uri="{FF2B5EF4-FFF2-40B4-BE49-F238E27FC236}">
                <a16:creationId xmlns:a16="http://schemas.microsoft.com/office/drawing/2014/main" id="{EB315B08-E79A-42EE-A2FC-F1C68A51BDD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73802BE-840F-4C01-9050-6E70D196A1E0}"/>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63283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FC5363-AA72-4929-A8D8-981DE83CCA8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60E5AE7-6730-4E4A-A491-978032D4A827}"/>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324A45A-6563-4F21-B472-F95E7E9351DD}"/>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5" name="頁尾版面配置區 4">
            <a:extLst>
              <a:ext uri="{FF2B5EF4-FFF2-40B4-BE49-F238E27FC236}">
                <a16:creationId xmlns:a16="http://schemas.microsoft.com/office/drawing/2014/main" id="{2BEF7F7B-52C7-426B-9978-644A1D1D5C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D5A41F3-8A5F-4AA2-BC76-BA2BC35462E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586339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176A2CC-7A46-4F55-85C4-AA9FCEBA247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43CA45E-F614-4C8C-8C28-E5CB2DA98D41}"/>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2E923DF-42AC-42EC-8C59-8AE2A2D288D2}"/>
              </a:ext>
            </a:extLst>
          </p:cNvPr>
          <p:cNvSpPr>
            <a:spLocks noGrp="1"/>
          </p:cNvSpPr>
          <p:nvPr>
            <p:ph type="dt" sz="half" idx="10"/>
          </p:nvPr>
        </p:nvSpPr>
        <p:spPr/>
        <p:txBody>
          <a:bodyPr/>
          <a:lstStyle/>
          <a:p>
            <a:fld id="{FD4304E5-8391-4D43-B972-962346D4BFC4}" type="datetimeFigureOut">
              <a:rPr lang="zh-TW" altLang="en-US" smtClean="0"/>
              <a:t>2019/2/18</a:t>
            </a:fld>
            <a:endParaRPr lang="zh-TW" altLang="en-US"/>
          </a:p>
        </p:txBody>
      </p:sp>
      <p:sp>
        <p:nvSpPr>
          <p:cNvPr id="5" name="頁尾版面配置區 4">
            <a:extLst>
              <a:ext uri="{FF2B5EF4-FFF2-40B4-BE49-F238E27FC236}">
                <a16:creationId xmlns:a16="http://schemas.microsoft.com/office/drawing/2014/main" id="{05EF9B0E-8C96-4598-AD8E-7166BFAB20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AC7952-2B0D-4AEE-853B-D7C07AA430EC}"/>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824512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CAC3753-89D0-4CF8-9AD2-2EDC075887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D946258-EAA0-48EF-BC94-910187879B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0B7139B-A4A4-4FF6-8485-DAC90BA55F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4304E5-8391-4D43-B972-962346D4BFC4}" type="datetimeFigureOut">
              <a:rPr lang="zh-TW" altLang="en-US" smtClean="0"/>
              <a:t>2019/2/18</a:t>
            </a:fld>
            <a:endParaRPr lang="zh-TW" altLang="en-US"/>
          </a:p>
        </p:txBody>
      </p:sp>
      <p:sp>
        <p:nvSpPr>
          <p:cNvPr id="5" name="頁尾版面配置區 4">
            <a:extLst>
              <a:ext uri="{FF2B5EF4-FFF2-40B4-BE49-F238E27FC236}">
                <a16:creationId xmlns:a16="http://schemas.microsoft.com/office/drawing/2014/main" id="{CCF0E61B-8D31-44C4-971C-1AE9FB565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5CA5F1E-BB32-417E-9E65-5152DAF7A4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670880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80D9A5-7987-4C31-A5AA-53D6FFA13CC9}"/>
              </a:ext>
            </a:extLst>
          </p:cNvPr>
          <p:cNvSpPr>
            <a:spLocks noGrp="1"/>
          </p:cNvSpPr>
          <p:nvPr>
            <p:ph type="ctrTitle"/>
          </p:nvPr>
        </p:nvSpPr>
        <p:spPr>
          <a:xfrm>
            <a:off x="1524000" y="1139472"/>
            <a:ext cx="9144000" cy="1437553"/>
          </a:xfrm>
        </p:spPr>
        <p:txBody>
          <a:bodyPr>
            <a:normAutofit/>
          </a:bodyPr>
          <a:lstStyle/>
          <a:p>
            <a:r>
              <a:rPr lang="en-US" altLang="zh-TW" sz="4800" dirty="0">
                <a:latin typeface="Times New Roman" panose="02020603050405020304" pitchFamily="18" charset="0"/>
                <a:cs typeface="Times New Roman" panose="02020603050405020304" pitchFamily="18" charset="0"/>
              </a:rPr>
              <a:t>Palindromic Decompositions with Gaps and Errors</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1DE7FB8B-5E0F-4EA3-A472-0229D27A7FA6}"/>
              </a:ext>
            </a:extLst>
          </p:cNvPr>
          <p:cNvSpPr>
            <a:spLocks noGrp="1"/>
          </p:cNvSpPr>
          <p:nvPr>
            <p:ph type="subTitle" idx="1"/>
          </p:nvPr>
        </p:nvSpPr>
        <p:spPr>
          <a:xfrm>
            <a:off x="992332" y="3148839"/>
            <a:ext cx="10207336" cy="3266355"/>
          </a:xfrm>
        </p:spPr>
        <p:txBody>
          <a:bodyPr>
            <a:normAutofit lnSpcReduction="10000"/>
          </a:bodyPr>
          <a:lstStyle/>
          <a:p>
            <a:r>
              <a:rPr lang="en-US" altLang="zh-TW" dirty="0">
                <a:latin typeface="Times New Roman" panose="02020603050405020304" pitchFamily="18" charset="0"/>
                <a:cs typeface="Times New Roman" panose="02020603050405020304" pitchFamily="18" charset="0"/>
              </a:rPr>
              <a:t>Michal Adamczyk, Mai </a:t>
            </a:r>
            <a:r>
              <a:rPr lang="en-US" altLang="zh-TW" dirty="0" err="1">
                <a:latin typeface="Times New Roman" panose="02020603050405020304" pitchFamily="18" charset="0"/>
                <a:cs typeface="Times New Roman" panose="02020603050405020304" pitchFamily="18" charset="0"/>
              </a:rPr>
              <a:t>Alzamel</a:t>
            </a:r>
            <a:r>
              <a:rPr lang="en-US" altLang="zh-TW" dirty="0">
                <a:latin typeface="Times New Roman" panose="02020603050405020304" pitchFamily="18" charset="0"/>
                <a:cs typeface="Times New Roman" panose="02020603050405020304" pitchFamily="18" charset="0"/>
              </a:rPr>
              <a:t>, Panagiotis </a:t>
            </a:r>
            <a:r>
              <a:rPr lang="en-US" altLang="zh-TW" dirty="0" err="1">
                <a:latin typeface="Times New Roman" panose="02020603050405020304" pitchFamily="18" charset="0"/>
                <a:cs typeface="Times New Roman" panose="02020603050405020304" pitchFamily="18" charset="0"/>
              </a:rPr>
              <a:t>Charalampopoulos</a:t>
            </a:r>
            <a:r>
              <a:rPr lang="en-US" altLang="zh-TW" dirty="0">
                <a:latin typeface="Times New Roman" panose="02020603050405020304" pitchFamily="18" charset="0"/>
                <a:cs typeface="Times New Roman" panose="02020603050405020304" pitchFamily="18" charset="0"/>
              </a:rPr>
              <a:t>,</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Costas S. Iliopoulos, and Jakub </a:t>
            </a:r>
            <a:r>
              <a:rPr lang="en-US" altLang="zh-TW" dirty="0" err="1">
                <a:latin typeface="Times New Roman" panose="02020603050405020304" pitchFamily="18" charset="0"/>
                <a:cs typeface="Times New Roman" panose="02020603050405020304" pitchFamily="18" charset="0"/>
              </a:rPr>
              <a:t>Radoszewski</a:t>
            </a:r>
            <a:br>
              <a:rPr lang="en-US" altLang="zh-TW" dirty="0">
                <a:latin typeface="Times New Roman" panose="02020603050405020304" pitchFamily="18" charset="0"/>
                <a:cs typeface="Times New Roman" panose="02020603050405020304" pitchFamily="18" charset="0"/>
              </a:rPr>
            </a:b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Proceedings of 12th International Computer Science Symposium in Russia (CSR) Kazan, Russia, June 8-12, 2017  pp 48-61</a:t>
            </a:r>
          </a:p>
          <a:p>
            <a:br>
              <a:rPr lang="fi-FI" altLang="zh-TW" b="1" i="1" dirty="0"/>
            </a:br>
            <a:br>
              <a:rPr lang="fi-FI" altLang="zh-TW" b="1" i="1" dirty="0"/>
            </a:br>
            <a:r>
              <a:rPr lang="en-US" altLang="zh-TW" dirty="0">
                <a:latin typeface="Times New Roman" panose="02020603050405020304" pitchFamily="18" charset="0"/>
                <a:cs typeface="Times New Roman" panose="02020603050405020304" pitchFamily="18" charset="0"/>
              </a:rPr>
              <a:t>Speaker:</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Kuan</a:t>
            </a:r>
            <a:r>
              <a:rPr lang="en-US" altLang="zh-TW" dirty="0">
                <a:latin typeface="Times New Roman" panose="02020603050405020304" pitchFamily="18" charset="0"/>
                <a:cs typeface="Times New Roman" panose="02020603050405020304" pitchFamily="18" charset="0"/>
              </a:rPr>
              <a:t>-Lin Lai</a:t>
            </a:r>
          </a:p>
          <a:p>
            <a:r>
              <a:rPr lang="en-US" altLang="zh-TW" dirty="0">
                <a:latin typeface="Times New Roman" panose="02020603050405020304" pitchFamily="18" charset="0"/>
                <a:cs typeface="Times New Roman" panose="02020603050405020304" pitchFamily="18" charset="0"/>
              </a:rPr>
              <a:t>Date: Feb. 19, 2019</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148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ED643E-E99E-4F12-92FE-709248FF7FF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FB915B7-780A-4747-AA36-2299BB46935A}"/>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Identifying palindromes in sequences has been an interesting line of research in combinatorics on words and also in computational biology, after the discovery of the relation of palindromes in the DNA sequence with the HIV virus. Efficient algorithms for the factorization of sequences into palindromes and maximal palindromes have been devised in recent years. We extend these studies by allowing gaps in decompositions and errors in palindromes, and also imposing a lower bound to the length of acceptable palindromes.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769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A6056C-46BB-41FC-8CE7-C56415C91A1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D7B983-0E0D-4A4E-BF68-41C4D7BC48E1}"/>
              </a:ext>
            </a:extLst>
          </p:cNvPr>
          <p:cNvSpPr>
            <a:spLocks noGrp="1"/>
          </p:cNvSpPr>
          <p:nvPr>
            <p:ph idx="1"/>
          </p:nvPr>
        </p:nvSpPr>
        <p:spPr>
          <a:xfrm>
            <a:off x="838199" y="1825625"/>
            <a:ext cx="10872355" cy="4351338"/>
          </a:xfrm>
        </p:spPr>
        <p:txBody>
          <a:bodyPr/>
          <a:lstStyle/>
          <a:p>
            <a:pPr marL="0" indent="0">
              <a:buNone/>
            </a:pPr>
            <a:r>
              <a:rPr lang="en-US" altLang="zh-TW" dirty="0">
                <a:latin typeface="Times New Roman" panose="02020603050405020304" pitchFamily="18" charset="0"/>
                <a:cs typeface="Times New Roman" panose="02020603050405020304" pitchFamily="18" charset="0"/>
              </a:rPr>
              <a:t>We first present an algorithm for obtaining a palindromic decomposition of a string of length n with the minimal total gap length in time O(n log n · g) and space O(n · g), where g is the number of allowed gaps in the decomposition. We then consider a decomposition of the string in maximal δ-palindromes (i.e. palindromes with δ errors under the edit or Hamming distance) and g allowed gaps. We present an algorithm to obtain such a decomposition with the minimal total gap length in time O(n · (g + δ)) and space O(n · 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4109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84D878-82EB-42F1-BC8D-F6B44B85766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Notation and Terminology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36C3D143-E199-4000-86DD-BFD9A7C848B6}"/>
                  </a:ext>
                </a:extLst>
              </p:cNvPr>
              <p:cNvSpPr>
                <a:spLocks noGrp="1"/>
              </p:cNvSpPr>
              <p:nvPr>
                <p:ph idx="1"/>
              </p:nvPr>
            </p:nvSpPr>
            <p:spPr>
              <a:xfrm>
                <a:off x="838200" y="1825625"/>
                <a:ext cx="10515600" cy="4928466"/>
              </a:xfrm>
            </p:spPr>
            <p:txBody>
              <a:bodyPr>
                <a:normAutofit fontScale="92500" lnSpcReduction="10000"/>
              </a:bodyPr>
              <a:lstStyle/>
              <a:p>
                <a:r>
                  <a:rPr lang="en-US" altLang="zh-TW" dirty="0">
                    <a:latin typeface="Times New Roman" panose="02020603050405020304" pitchFamily="18" charset="0"/>
                    <a:cs typeface="Times New Roman" panose="02020603050405020304" pitchFamily="18" charset="0"/>
                  </a:rPr>
                  <a:t>Σ = {A, C, G, T} and f(A) = T, f(C) = G, f(G) = C, f(T) = A</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x is a </a:t>
                </a:r>
                <a:r>
                  <a:rPr lang="en-US" altLang="zh-TW" dirty="0">
                    <a:solidFill>
                      <a:srgbClr val="FF0000"/>
                    </a:solidFill>
                    <a:latin typeface="Times New Roman" panose="02020603050405020304" pitchFamily="18" charset="0"/>
                    <a:cs typeface="Times New Roman" panose="02020603050405020304" pitchFamily="18" charset="0"/>
                  </a:rPr>
                  <a:t>generalized palindrome </a:t>
                </a:r>
                <a:r>
                  <a:rPr lang="en-US" altLang="zh-TW" dirty="0">
                    <a:latin typeface="Times New Roman" panose="02020603050405020304" pitchFamily="18" charset="0"/>
                    <a:cs typeface="Times New Roman" panose="02020603050405020304" pitchFamily="18" charset="0"/>
                  </a:rPr>
                  <a:t>if x = f(</a:t>
                </a:r>
                <a:r>
                  <a:rPr lang="en-US" altLang="zh-TW" dirty="0" err="1">
                    <a:latin typeface="Times New Roman" panose="02020603050405020304" pitchFamily="18" charset="0"/>
                    <a:cs typeface="Times New Roman" panose="02020603050405020304" pitchFamily="18" charset="0"/>
                  </a:rPr>
                  <a:t>x</a:t>
                </a:r>
                <a:r>
                  <a:rPr lang="en-US" altLang="zh-TW" baseline="30000" dirty="0" err="1">
                    <a:latin typeface="Times New Roman" panose="02020603050405020304" pitchFamily="18" charset="0"/>
                    <a:cs typeface="Times New Roman" panose="02020603050405020304" pitchFamily="18" charset="0"/>
                  </a:rPr>
                  <a:t>R</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   Ex: TAGTCCTGAT is a palindrome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TAGTCGACTA is a generalized palindrome </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S = p</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p</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p</a:t>
                </a:r>
                <a:r>
                  <a:rPr lang="en-US" altLang="zh-TW" baseline="-25000" dirty="0" err="1">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 is a (maximal) palindromic decomposition of S if all the strings p</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are (maximal) palindromes.</a:t>
                </a:r>
              </a:p>
              <a:p>
                <a:pPr>
                  <a:buNone/>
                </a:pPr>
                <a:r>
                  <a:rPr lang="en-US" altLang="zh-TW" dirty="0">
                    <a:latin typeface="Times New Roman" panose="02020603050405020304" pitchFamily="18" charset="0"/>
                    <a:cs typeface="Times New Roman" panose="02020603050405020304" pitchFamily="18" charset="0"/>
                  </a:rPr>
                  <a:t>   Ex: (palindromic decomposition)</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abbaabaabbba</a:t>
                </a:r>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en-US" altLang="zh-TW" i="1">
                        <a:latin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abba</a:t>
                </a:r>
                <a:r>
                  <a:rPr lang="en-US" altLang="zh-TW" dirty="0">
                    <a:latin typeface="Times New Roman" panose="02020603050405020304" pitchFamily="18" charset="0"/>
                    <a:cs typeface="Times New Roman" panose="02020603050405020304" pitchFamily="18" charset="0"/>
                  </a:rPr>
                  <a:t> + aba + </a:t>
                </a:r>
                <a:r>
                  <a:rPr lang="en-US" altLang="zh-TW" dirty="0" err="1">
                    <a:latin typeface="Times New Roman" panose="02020603050405020304" pitchFamily="18" charset="0"/>
                    <a:cs typeface="Times New Roman" panose="02020603050405020304" pitchFamily="18" charset="0"/>
                  </a:rPr>
                  <a:t>abbba</a:t>
                </a:r>
                <a:endParaRPr lang="en-US" altLang="zh-TW" dirty="0">
                  <a:latin typeface="Times New Roman" panose="02020603050405020304" pitchFamily="18" charset="0"/>
                  <a:cs typeface="Times New Roman" panose="02020603050405020304" pitchFamily="18" charset="0"/>
                </a:endParaRPr>
              </a:p>
              <a:p>
                <a:pPr>
                  <a:buNone/>
                </a:pPr>
                <a:r>
                  <a:rPr lang="en-US" altLang="zh-TW" dirty="0">
                    <a:latin typeface="Times New Roman" panose="02020603050405020304" pitchFamily="18" charset="0"/>
                    <a:cs typeface="Times New Roman" panose="02020603050405020304" pitchFamily="18" charset="0"/>
                  </a:rPr>
                  <a:t>	       (maximal palindromic decomposition)</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abbaabaabbba</a:t>
                </a:r>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en-US" altLang="zh-TW" i="1">
                        <a:latin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 + bbaabaabb + b + a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a:t>
                </a:r>
                <a:br>
                  <a:rPr lang="en-US" altLang="zh-TW" dirty="0">
                    <a:latin typeface="Times New Roman" panose="02020603050405020304" pitchFamily="18" charset="0"/>
                    <a:cs typeface="Times New Roman" panose="02020603050405020304" pitchFamily="18" charset="0"/>
                  </a:rPr>
                </a:br>
                <a:endParaRPr lang="en-US"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36C3D143-E199-4000-86DD-BFD9A7C848B6}"/>
                  </a:ext>
                </a:extLst>
              </p:cNvPr>
              <p:cNvSpPr>
                <a:spLocks noGrp="1" noRot="1" noChangeAspect="1" noMove="1" noResize="1" noEditPoints="1" noAdjustHandles="1" noChangeArrowheads="1" noChangeShapeType="1" noTextEdit="1"/>
              </p:cNvSpPr>
              <p:nvPr>
                <p:ph idx="1"/>
              </p:nvPr>
            </p:nvSpPr>
            <p:spPr>
              <a:xfrm>
                <a:off x="838200" y="1825625"/>
                <a:ext cx="10515600" cy="4928466"/>
              </a:xfrm>
              <a:blipFill>
                <a:blip r:embed="rId2"/>
                <a:stretch>
                  <a:fillRect l="-928" t="-27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6063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6E287A-9B67-4A80-8E41-131D80F4748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Computational problems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09DEE66A-5061-48C6-8B07-7F92C1D394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3464" y="1925822"/>
            <a:ext cx="7785072" cy="1953415"/>
          </a:xfrm>
        </p:spPr>
      </p:pic>
      <p:pic>
        <p:nvPicPr>
          <p:cNvPr id="8" name="圖片 7">
            <a:extLst>
              <a:ext uri="{FF2B5EF4-FFF2-40B4-BE49-F238E27FC236}">
                <a16:creationId xmlns:a16="http://schemas.microsoft.com/office/drawing/2014/main" id="{1766CD5F-235E-4BC4-8568-0B78D8E59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3464" y="4114371"/>
            <a:ext cx="7823187" cy="2077290"/>
          </a:xfrm>
          <a:prstGeom prst="rect">
            <a:avLst/>
          </a:prstGeom>
        </p:spPr>
      </p:pic>
      <p:sp>
        <p:nvSpPr>
          <p:cNvPr id="9" name="矩形 8">
            <a:extLst>
              <a:ext uri="{FF2B5EF4-FFF2-40B4-BE49-F238E27FC236}">
                <a16:creationId xmlns:a16="http://schemas.microsoft.com/office/drawing/2014/main" id="{1464F04D-2120-4DE8-9C2E-41FD8CD79240}"/>
              </a:ext>
            </a:extLst>
          </p:cNvPr>
          <p:cNvSpPr/>
          <p:nvPr/>
        </p:nvSpPr>
        <p:spPr>
          <a:xfrm>
            <a:off x="2223655" y="2005445"/>
            <a:ext cx="7689272" cy="179762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72070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Period (</a:t>
                </a:r>
                <a14:m>
                  <m:oMath xmlns:m="http://schemas.openxmlformats.org/officeDocument/2006/math">
                    <m:r>
                      <m:rPr>
                        <m:sty m:val="p"/>
                      </m:rPr>
                      <a:rPr lang="el-GR" altLang="zh-TW" sz="4000" i="1">
                        <a:latin typeface="Cambria Math" panose="02040503050406030204" pitchFamily="18" charset="0"/>
                        <a:ea typeface="Cambria Math" panose="02040503050406030204" pitchFamily="18" charset="0"/>
                        <a:cs typeface="Times New Roman" panose="02020603050405020304" pitchFamily="18" charset="0"/>
                      </a:rPr>
                      <m:t>Δ</m:t>
                    </m:r>
                  </m:oMath>
                </a14:m>
                <a:r>
                  <a:rPr lang="en-US" altLang="zh-TW" sz="4000" dirty="0">
                    <a:latin typeface="Times New Roman" panose="02020603050405020304" pitchFamily="18" charset="0"/>
                    <a:cs typeface="Times New Roman" panose="02020603050405020304" pitchFamily="18" charset="0"/>
                  </a:rPr>
                  <a:t>)</a:t>
                </a:r>
                <a:endParaRPr lang="zh-TW" altLang="en-US" sz="4000" dirty="0">
                  <a:latin typeface="Times New Roman" panose="02020603050405020304" pitchFamily="18" charset="0"/>
                  <a:cs typeface="Times New Roman" panose="02020603050405020304" pitchFamily="18" charset="0"/>
                </a:endParaRPr>
              </a:p>
            </p:txBody>
          </p:sp>
        </mc:Choice>
        <mc:Fallback>
          <p:sp>
            <p:nvSpPr>
              <p:cNvPr id="2" name="標題 1"/>
              <p:cNvSpPr>
                <a:spLocks noGrp="1" noRot="1" noChangeAspect="1" noMove="1" noResize="1" noEditPoints="1" noAdjustHandles="1" noChangeArrowheads="1" noChangeShapeType="1" noTextEdit="1"/>
              </p:cNvSpPr>
              <p:nvPr>
                <p:ph type="title"/>
              </p:nvPr>
            </p:nvSpPr>
            <p:spPr>
              <a:blipFill>
                <a:blip r:embed="rId3"/>
                <a:stretch>
                  <a:fillRect l="-208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310393" y="1825625"/>
                <a:ext cx="11702642" cy="4667250"/>
              </a:xfrm>
            </p:spPr>
            <p:txBody>
              <a:bodyPr>
                <a:noAutofit/>
              </a:bodyPr>
              <a:lstStyle/>
              <a:p>
                <a:pPr>
                  <a:buNone/>
                </a:pPr>
                <a:endParaRPr lang="en-US" altLang="zh-TW" sz="2400" dirty="0">
                  <a:latin typeface="Times New Roman" pitchFamily="18" charset="0"/>
                  <a:ea typeface="+mj-ea"/>
                  <a:cs typeface="Times New Roman" pitchFamily="18" charset="0"/>
                </a:endParaRPr>
              </a:p>
              <a:p>
                <a:pPr>
                  <a:buNone/>
                </a:pPr>
                <a:endParaRPr lang="en-US" altLang="zh-TW" sz="2400" dirty="0">
                  <a:latin typeface="Times New Roman" pitchFamily="18" charset="0"/>
                  <a:ea typeface="+mj-ea"/>
                  <a:cs typeface="Times New Roman" pitchFamily="18" charset="0"/>
                </a:endParaRPr>
              </a:p>
              <a:p>
                <a:pPr>
                  <a:buNone/>
                </a:pPr>
                <a:endParaRPr lang="en-US" altLang="zh-TW" sz="2400" dirty="0">
                  <a:latin typeface="Times New Roman" pitchFamily="18" charset="0"/>
                  <a:ea typeface="+mj-ea"/>
                  <a:cs typeface="Times New Roman" pitchFamily="18" charset="0"/>
                </a:endParaRPr>
              </a:p>
              <a:p>
                <a:pPr>
                  <a:buNone/>
                </a:pPr>
                <a:endParaRPr lang="en-US" altLang="zh-TW" sz="2400" dirty="0">
                  <a:latin typeface="Times New Roman" pitchFamily="18" charset="0"/>
                  <a:ea typeface="+mj-ea"/>
                  <a:cs typeface="Times New Roman" pitchFamily="18" charset="0"/>
                </a:endParaRPr>
              </a:p>
              <a:p>
                <a:pPr>
                  <a:buNone/>
                </a:pPr>
                <a14:m>
                  <m:oMathPara xmlns:m="http://schemas.openxmlformats.org/officeDocument/2006/math">
                    <m:oMathParaPr>
                      <m:jc m:val="centerGroup"/>
                    </m:oMathParaPr>
                    <m:oMath xmlns:m="http://schemas.openxmlformats.org/officeDocument/2006/math">
                      <m:r>
                        <m:rPr>
                          <m:nor/>
                        </m:rPr>
                        <a:rPr lang="en-US" altLang="zh-TW" sz="2400">
                          <a:latin typeface="Times New Roman" panose="02020603050405020304" pitchFamily="18" charset="0"/>
                          <a:cs typeface="Times New Roman" panose="02020603050405020304" pitchFamily="18" charset="0"/>
                        </a:rPr>
                        <m:t>Let</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y</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be</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a</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proper</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suffix</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of</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a</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palindrome</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x</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Then</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x</m:t>
                      </m:r>
                      <m:r>
                        <m:rPr>
                          <m:nor/>
                        </m:rPr>
                        <a:rPr lang="en-US" altLang="zh-TW" sz="2400">
                          <a:latin typeface="Times New Roman" panose="02020603050405020304" pitchFamily="18" charset="0"/>
                          <a:cs typeface="Times New Roman" panose="02020603050405020304" pitchFamily="18" charset="0"/>
                        </a:rPr>
                        <m:t>| − |</m:t>
                      </m:r>
                      <m:r>
                        <m:rPr>
                          <m:nor/>
                        </m:rPr>
                        <a:rPr lang="en-US" altLang="zh-TW" sz="2400">
                          <a:latin typeface="Times New Roman" panose="02020603050405020304" pitchFamily="18" charset="0"/>
                          <a:cs typeface="Times New Roman" panose="02020603050405020304" pitchFamily="18" charset="0"/>
                        </a:rPr>
                        <m:t>y</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is</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a</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period</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of</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x</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iff</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y</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is</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a</m:t>
                      </m:r>
                      <m:r>
                        <m:rPr>
                          <m:nor/>
                        </m:rPr>
                        <a:rPr lang="en-US" altLang="zh-TW" sz="2400" b="0" i="0" smtClean="0">
                          <a:latin typeface="Times New Roman" panose="02020603050405020304" pitchFamily="18" charset="0"/>
                          <a:cs typeface="Times New Roman" panose="02020603050405020304" pitchFamily="18" charset="0"/>
                        </a:rPr>
                        <m:t> </m:t>
                      </m:r>
                      <m:r>
                        <m:rPr>
                          <m:nor/>
                        </m:rPr>
                        <a:rPr lang="en-US" altLang="zh-TW" sz="2400" b="0" i="0" smtClean="0">
                          <a:latin typeface="Times New Roman" panose="02020603050405020304" pitchFamily="18" charset="0"/>
                          <a:cs typeface="Times New Roman" panose="02020603050405020304" pitchFamily="18" charset="0"/>
                        </a:rPr>
                        <m:t>palindrome</m:t>
                      </m:r>
                      <m:r>
                        <m:rPr>
                          <m:nor/>
                        </m:rPr>
                        <a:rPr lang="en-US" altLang="zh-TW" sz="2400" b="0" i="0" smtClean="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x</m:t>
                      </m:r>
                      <m:r>
                        <m:rPr>
                          <m:nor/>
                        </m:rPr>
                        <a:rPr lang="en-US" altLang="zh-TW" sz="2400">
                          <a:latin typeface="Times New Roman" panose="02020603050405020304" pitchFamily="18" charset="0"/>
                          <a:cs typeface="Times New Roman" panose="02020603050405020304" pitchFamily="18" charset="0"/>
                        </a:rPr>
                        <m:t>| − |</m:t>
                      </m:r>
                      <m:r>
                        <m:rPr>
                          <m:nor/>
                        </m:rPr>
                        <a:rPr lang="en-US" altLang="zh-TW" sz="2400">
                          <a:latin typeface="Times New Roman" panose="02020603050405020304" pitchFamily="18" charset="0"/>
                          <a:cs typeface="Times New Roman" panose="02020603050405020304" pitchFamily="18" charset="0"/>
                        </a:rPr>
                        <m:t>y</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is</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the</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smallest</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period</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of</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x</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iff</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y</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is</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the</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longest</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palindromic</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proper</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suffix</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of</m:t>
                      </m:r>
                      <m:r>
                        <m:rPr>
                          <m:nor/>
                        </m:rPr>
                        <a:rPr lang="en-US" altLang="zh-TW" sz="2400">
                          <a:latin typeface="Times New Roman" panose="02020603050405020304" pitchFamily="18" charset="0"/>
                          <a:cs typeface="Times New Roman" panose="02020603050405020304" pitchFamily="18" charset="0"/>
                        </a:rPr>
                        <m:t> </m:t>
                      </m:r>
                      <m:r>
                        <m:rPr>
                          <m:nor/>
                        </m:rPr>
                        <a:rPr lang="en-US" altLang="zh-TW" sz="2400">
                          <a:latin typeface="Times New Roman" panose="02020603050405020304" pitchFamily="18" charset="0"/>
                          <a:cs typeface="Times New Roman" panose="02020603050405020304" pitchFamily="18" charset="0"/>
                        </a:rPr>
                        <m:t>x</m:t>
                      </m:r>
                      <m:r>
                        <m:rPr>
                          <m:nor/>
                        </m:rPr>
                        <a:rPr lang="en-US" altLang="zh-TW" sz="2400">
                          <a:latin typeface="Times New Roman" panose="02020603050405020304" pitchFamily="18" charset="0"/>
                          <a:cs typeface="Times New Roman" panose="02020603050405020304" pitchFamily="18" charset="0"/>
                        </a:rPr>
                        <m:t>.</m:t>
                      </m:r>
                    </m:oMath>
                  </m:oMathPara>
                </a14:m>
                <a:endParaRPr lang="en-US" altLang="zh-TW" sz="2400" dirty="0">
                  <a:latin typeface="Times New Roman" pitchFamily="18" charset="0"/>
                  <a:ea typeface="+mj-ea"/>
                  <a:cs typeface="Times New Roman" pitchFamily="18" charset="0"/>
                </a:endParaRPr>
              </a:p>
              <a:p>
                <a:pPr>
                  <a:buNone/>
                </a:pPr>
                <a:r>
                  <a:rPr lang="en-US" altLang="zh-TW" sz="2400" dirty="0">
                    <a:latin typeface="Times New Roman" pitchFamily="18" charset="0"/>
                    <a:ea typeface="+mj-ea"/>
                    <a:cs typeface="Times New Roman" pitchFamily="18" charset="0"/>
                  </a:rPr>
                  <a:t>    </a:t>
                </a:r>
                <a:br>
                  <a:rPr lang="en-US" altLang="zh-TW" sz="2400" dirty="0">
                    <a:latin typeface="Times New Roman" pitchFamily="18" charset="0"/>
                    <a:ea typeface="+mj-ea"/>
                    <a:cs typeface="Times New Roman" pitchFamily="18" charset="0"/>
                  </a:rPr>
                </a:br>
                <a:r>
                  <a:rPr lang="en-US" altLang="zh-TW" sz="2400" dirty="0">
                    <a:latin typeface="Times New Roman" pitchFamily="18" charset="0"/>
                    <a:ea typeface="+mj-ea"/>
                    <a:cs typeface="Times New Roman" pitchFamily="18" charset="0"/>
                  </a:rPr>
                  <a:t>Ex : S = </a:t>
                </a:r>
                <a:r>
                  <a:rPr lang="en-US" altLang="zh-TW" sz="2400" dirty="0" err="1">
                    <a:solidFill>
                      <a:srgbClr val="FF0000"/>
                    </a:solidFill>
                    <a:latin typeface="Times New Roman" pitchFamily="18" charset="0"/>
                    <a:ea typeface="+mj-ea"/>
                    <a:cs typeface="Times New Roman" pitchFamily="18" charset="0"/>
                  </a:rPr>
                  <a:t>abb</a:t>
                </a:r>
                <a:r>
                  <a:rPr lang="en-US" altLang="zh-TW" sz="2400" dirty="0" err="1">
                    <a:latin typeface="Times New Roman" pitchFamily="18" charset="0"/>
                    <a:ea typeface="+mj-ea"/>
                    <a:cs typeface="Times New Roman" pitchFamily="18" charset="0"/>
                  </a:rPr>
                  <a:t>abbabba</a:t>
                </a:r>
                <a:r>
                  <a:rPr lang="en-US" altLang="zh-TW" sz="2400" dirty="0">
                    <a:latin typeface="Times New Roman" pitchFamily="18" charset="0"/>
                    <a:ea typeface="+mj-ea"/>
                    <a:cs typeface="Times New Roman" pitchFamily="18" charset="0"/>
                  </a:rPr>
                  <a:t> , is a palindrome</a:t>
                </a:r>
              </a:p>
              <a:p>
                <a:pPr>
                  <a:buNone/>
                </a:pPr>
                <a:r>
                  <a:rPr lang="en-US" altLang="zh-TW" sz="2400" dirty="0">
                    <a:latin typeface="Times New Roman" pitchFamily="18" charset="0"/>
                    <a:ea typeface="+mj-ea"/>
                    <a:cs typeface="Times New Roman" pitchFamily="18" charset="0"/>
                  </a:rPr>
                  <a:t>       </a:t>
                </a:r>
                <a:r>
                  <a:rPr lang="en-US" altLang="zh-TW" sz="2400" dirty="0" err="1">
                    <a:latin typeface="Times New Roman" pitchFamily="18" charset="0"/>
                    <a:ea typeface="+mj-ea"/>
                    <a:cs typeface="Times New Roman" pitchFamily="18" charset="0"/>
                  </a:rPr>
                  <a:t>abbabba</a:t>
                </a:r>
                <a:r>
                  <a:rPr lang="en-US" altLang="zh-TW" sz="2400" dirty="0">
                    <a:latin typeface="Times New Roman" pitchFamily="18" charset="0"/>
                    <a:ea typeface="+mj-ea"/>
                    <a:cs typeface="Times New Roman" pitchFamily="18" charset="0"/>
                  </a:rPr>
                  <a:t> is the longest proper palindromic suffix of S.</a:t>
                </a:r>
              </a:p>
              <a:p>
                <a:pPr>
                  <a:buNone/>
                </a:pPr>
                <a:r>
                  <a:rPr lang="en-US" altLang="zh-TW" sz="2400" dirty="0">
                    <a:latin typeface="Times New Roman" pitchFamily="18" charset="0"/>
                    <a:ea typeface="+mj-ea"/>
                    <a:cs typeface="Times New Roman" pitchFamily="18" charset="0"/>
                  </a:rPr>
                  <a:t>       Thus, </a:t>
                </a:r>
                <a:r>
                  <a:rPr lang="en-US" altLang="zh-TW" sz="2400" dirty="0" err="1">
                    <a:solidFill>
                      <a:srgbClr val="FF0000"/>
                    </a:solidFill>
                    <a:latin typeface="Times New Roman" pitchFamily="18" charset="0"/>
                    <a:ea typeface="+mj-ea"/>
                    <a:cs typeface="Times New Roman" pitchFamily="18" charset="0"/>
                  </a:rPr>
                  <a:t>abb</a:t>
                </a:r>
                <a:r>
                  <a:rPr lang="en-US" altLang="zh-TW" sz="2400" dirty="0">
                    <a:latin typeface="Times New Roman" pitchFamily="18" charset="0"/>
                    <a:ea typeface="+mj-ea"/>
                    <a:cs typeface="Times New Roman" pitchFamily="18" charset="0"/>
                  </a:rPr>
                  <a:t> is the smallest period of S.   </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310393" y="1825625"/>
                <a:ext cx="11702642" cy="4667250"/>
              </a:xfrm>
              <a:blipFill>
                <a:blip r:embed="rId4"/>
                <a:stretch>
                  <a:fillRect r="-990"/>
                </a:stretch>
              </a:blipFill>
            </p:spPr>
            <p:txBody>
              <a:bodyPr/>
              <a:lstStyle/>
              <a:p>
                <a:r>
                  <a:rPr lang="zh-TW" altLang="en-US">
                    <a:noFill/>
                  </a:rPr>
                  <a:t> </a:t>
                </a:r>
              </a:p>
            </p:txBody>
          </p:sp>
        </mc:Fallback>
      </mc:AlternateContent>
      <p:pic>
        <p:nvPicPr>
          <p:cNvPr id="5" name="圖片 4"/>
          <p:cNvPicPr>
            <a:picLocks noChangeAspect="1"/>
          </p:cNvPicPr>
          <p:nvPr/>
        </p:nvPicPr>
        <p:blipFill>
          <a:blip r:embed="rId5"/>
          <a:stretch>
            <a:fillRect/>
          </a:stretch>
        </p:blipFill>
        <p:spPr>
          <a:xfrm>
            <a:off x="2412521" y="1285890"/>
            <a:ext cx="7366958" cy="2283661"/>
          </a:xfrm>
          <a:prstGeom prst="rect">
            <a:avLst/>
          </a:prstGeom>
        </p:spPr>
      </p:pic>
    </p:spTree>
    <p:extLst>
      <p:ext uri="{BB962C8B-B14F-4D97-AF65-F5344CB8AC3E}">
        <p14:creationId xmlns:p14="http://schemas.microsoft.com/office/powerpoint/2010/main" val="1764983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Grouping the suffix palindromes by periods</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200" y="1825625"/>
                <a:ext cx="10515600" cy="4667250"/>
              </a:xfrm>
            </p:spPr>
            <p:txBody>
              <a:bodyPr>
                <a:normAutofit/>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pPr marL="0" indent="0">
                  <a:buNone/>
                </a:pP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=(2,</m:t>
                    </m:r>
                    <m:r>
                      <a:rPr lang="en-US" altLang="zh-TW" b="0" i="1" smtClean="0">
                        <a:latin typeface="Cambria Math" panose="02040503050406030204" pitchFamily="18" charset="0"/>
                        <a:ea typeface="Cambria Math" panose="02040503050406030204" pitchFamily="18" charset="0"/>
                      </a:rPr>
                      <m:t>∞,1</m:t>
                    </m:r>
                    <m:r>
                      <a:rPr lang="en-US" altLang="zh-TW" b="0" i="1" smtClean="0">
                        <a:latin typeface="Cambria Math" panose="02040503050406030204" pitchFamily="18" charset="0"/>
                      </a:rPr>
                      <m:t>)</m:t>
                    </m:r>
                  </m:oMath>
                </a14:m>
                <a:endParaRPr lang="en-US" altLang="zh-TW" dirty="0"/>
              </a:p>
              <a:p>
                <a:pPr marL="0" indent="0">
                  <a:buNone/>
                </a:pP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𝑗</m:t>
                        </m:r>
                        <m:r>
                          <a:rPr lang="en-US" altLang="zh-TW" i="1">
                            <a:latin typeface="Cambria Math" panose="02040503050406030204" pitchFamily="18" charset="0"/>
                          </a:rPr>
                          <m:t>−1,4</m:t>
                        </m:r>
                      </m:sub>
                    </m:sSub>
                    <m:r>
                      <a:rPr lang="en-US" altLang="zh-TW" b="0" i="1" smtClean="0">
                        <a:latin typeface="Cambria Math" panose="02040503050406030204" pitchFamily="18" charset="0"/>
                      </a:rPr>
                      <m:t> </m:t>
                    </m:r>
                    <m:r>
                      <a:rPr lang="en-US" altLang="zh-TW" i="1">
                        <a:latin typeface="Cambria Math" panose="02040503050406030204" pitchFamily="18" charset="0"/>
                      </a:rPr>
                      <m:t>=(</m:t>
                    </m:r>
                    <m:r>
                      <a:rPr lang="en-US" altLang="zh-TW" b="0" i="1" smtClean="0">
                        <a:latin typeface="Cambria Math" panose="02040503050406030204" pitchFamily="18" charset="0"/>
                      </a:rPr>
                      <m:t>6,4,3</m:t>
                    </m:r>
                    <m:r>
                      <a:rPr lang="en-US" altLang="zh-TW" i="1">
                        <a:latin typeface="Cambria Math" panose="02040503050406030204" pitchFamily="18" charset="0"/>
                      </a:rPr>
                      <m:t>)</m:t>
                    </m:r>
                  </m:oMath>
                </a14:m>
                <a:endParaRPr lang="en-US" altLang="zh-TW" dirty="0"/>
              </a:p>
              <a:p>
                <a:pPr marL="0" indent="0">
                  <a:buNone/>
                </a:pP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𝑗</m:t>
                        </m:r>
                        <m:r>
                          <a:rPr lang="en-US" altLang="zh-TW" i="1">
                            <a:latin typeface="Cambria Math" panose="02040503050406030204" pitchFamily="18" charset="0"/>
                          </a:rPr>
                          <m:t>−1,1</m:t>
                        </m:r>
                      </m:sub>
                    </m:sSub>
                    <m:r>
                      <a:rPr lang="en-US" altLang="zh-TW" b="0" i="1" smtClean="0">
                        <a:latin typeface="Cambria Math" panose="02040503050406030204" pitchFamily="18" charset="0"/>
                      </a:rPr>
                      <m:t> </m:t>
                    </m:r>
                    <m:r>
                      <a:rPr lang="en-US" altLang="zh-TW" i="1">
                        <a:latin typeface="Cambria Math" panose="02040503050406030204" pitchFamily="18" charset="0"/>
                      </a:rPr>
                      <m:t>=(</m:t>
                    </m:r>
                    <m:r>
                      <a:rPr lang="en-US" altLang="zh-TW" b="0" i="1" smtClean="0">
                        <a:latin typeface="Cambria Math" panose="02040503050406030204" pitchFamily="18" charset="0"/>
                      </a:rPr>
                      <m:t>15,1,2</m:t>
                    </m:r>
                    <m:r>
                      <a:rPr lang="en-US" altLang="zh-TW" i="1">
                        <a:latin typeface="Cambria Math" panose="02040503050406030204" pitchFamily="18" charset="0"/>
                      </a:rPr>
                      <m:t>)</m:t>
                    </m:r>
                  </m:oMath>
                </a14:m>
                <a:endParaRPr lang="en-US" altLang="zh-TW" dirty="0"/>
              </a:p>
              <a:p>
                <a:pPr marL="0" indent="0">
                  <a:buNone/>
                </a:pPr>
                <a:endParaRPr lang="en-US" altLang="zh-TW" dirty="0"/>
              </a:p>
              <a:p>
                <a:pPr marL="0" indent="0">
                  <a:buNone/>
                </a:pP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667250"/>
              </a:xfrm>
              <a:blipFill>
                <a:blip r:embed="rId3"/>
                <a:stretch>
                  <a:fillRect/>
                </a:stretch>
              </a:blipFill>
            </p:spPr>
            <p:txBody>
              <a:bodyPr/>
              <a:lstStyle/>
              <a:p>
                <a:r>
                  <a:rPr lang="zh-TW" altLang="en-US">
                    <a:noFill/>
                  </a:rPr>
                  <a:t> </a:t>
                </a:r>
              </a:p>
            </p:txBody>
          </p:sp>
        </mc:Fallback>
      </mc:AlternateContent>
      <p:pic>
        <p:nvPicPr>
          <p:cNvPr id="9" name="圖片 8"/>
          <p:cNvPicPr>
            <a:picLocks noChangeAspect="1"/>
          </p:cNvPicPr>
          <p:nvPr/>
        </p:nvPicPr>
        <p:blipFill>
          <a:blip r:embed="rId4"/>
          <a:stretch>
            <a:fillRect/>
          </a:stretch>
        </p:blipFill>
        <p:spPr>
          <a:xfrm>
            <a:off x="1843177" y="1383563"/>
            <a:ext cx="8515350" cy="3373788"/>
          </a:xfrm>
          <a:prstGeom prst="rect">
            <a:avLst/>
          </a:prstGeom>
        </p:spPr>
      </p:pic>
    </p:spTree>
    <p:extLst>
      <p:ext uri="{BB962C8B-B14F-4D97-AF65-F5344CB8AC3E}">
        <p14:creationId xmlns:p14="http://schemas.microsoft.com/office/powerpoint/2010/main" val="292395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標題 1">
                <a:extLst>
                  <a:ext uri="{FF2B5EF4-FFF2-40B4-BE49-F238E27FC236}">
                    <a16:creationId xmlns:a16="http://schemas.microsoft.com/office/drawing/2014/main" id="{EB26DAE7-3E57-418B-A9DB-B2F0AF09F48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Update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𝐺</m:t>
                        </m:r>
                      </m:e>
                      <m:sub>
                        <m:r>
                          <a:rPr lang="en-US" altLang="zh-TW" i="1">
                            <a:latin typeface="Cambria Math" panose="02040503050406030204" pitchFamily="18" charset="0"/>
                            <a:cs typeface="Times New Roman" panose="02020603050405020304" pitchFamily="18" charset="0"/>
                          </a:rPr>
                          <m:t>𝑗</m:t>
                        </m:r>
                      </m:sub>
                    </m:sSub>
                  </m:oMath>
                </a14:m>
                <a:endParaRPr lang="zh-TW" altLang="en-US" dirty="0"/>
              </a:p>
            </p:txBody>
          </p:sp>
        </mc:Choice>
        <mc:Fallback>
          <p:sp>
            <p:nvSpPr>
              <p:cNvPr id="2" name="標題 1">
                <a:extLst>
                  <a:ext uri="{FF2B5EF4-FFF2-40B4-BE49-F238E27FC236}">
                    <a16:creationId xmlns:a16="http://schemas.microsoft.com/office/drawing/2014/main" id="{EB26DAE7-3E57-418B-A9DB-B2F0AF09F483}"/>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zh-TW" altLang="en-US">
                    <a:noFill/>
                  </a:rPr>
                  <a:t> </a:t>
                </a:r>
              </a:p>
            </p:txBody>
          </p:sp>
        </mc:Fallback>
      </mc:AlternateContent>
      <p:sp>
        <p:nvSpPr>
          <p:cNvPr id="3" name="內容版面配置區 2">
            <a:extLst>
              <a:ext uri="{FF2B5EF4-FFF2-40B4-BE49-F238E27FC236}">
                <a16:creationId xmlns:a16="http://schemas.microsoft.com/office/drawing/2014/main" id="{C739247D-58B5-4BA3-8EFD-21D3A3125E51}"/>
              </a:ext>
            </a:extLst>
          </p:cNvPr>
          <p:cNvSpPr>
            <a:spLocks noGrp="1"/>
          </p:cNvSpPr>
          <p:nvPr>
            <p:ph idx="1"/>
          </p:nvPr>
        </p:nvSpPr>
        <p:spPr/>
        <p:txBody>
          <a:bodyPr/>
          <a:lstStyle/>
          <a:p>
            <a:endParaRPr lang="zh-TW" altLang="en-US" dirty="0"/>
          </a:p>
        </p:txBody>
      </p:sp>
      <p:pic>
        <p:nvPicPr>
          <p:cNvPr id="4" name="內容版面配置區 4">
            <a:extLst>
              <a:ext uri="{FF2B5EF4-FFF2-40B4-BE49-F238E27FC236}">
                <a16:creationId xmlns:a16="http://schemas.microsoft.com/office/drawing/2014/main" id="{38176C55-5322-48F0-ABC6-0E029B77F4DF}"/>
              </a:ext>
            </a:extLst>
          </p:cNvPr>
          <p:cNvPicPr>
            <a:picLocks noChangeAspect="1"/>
          </p:cNvPicPr>
          <p:nvPr/>
        </p:nvPicPr>
        <p:blipFill>
          <a:blip r:embed="rId3"/>
          <a:stretch>
            <a:fillRect/>
          </a:stretch>
        </p:blipFill>
        <p:spPr>
          <a:xfrm>
            <a:off x="3209120" y="842352"/>
            <a:ext cx="7255531" cy="5858894"/>
          </a:xfrm>
          <a:prstGeom prst="rect">
            <a:avLst/>
          </a:prstGeom>
        </p:spPr>
      </p:pic>
    </p:spTree>
    <p:extLst>
      <p:ext uri="{BB962C8B-B14F-4D97-AF65-F5344CB8AC3E}">
        <p14:creationId xmlns:p14="http://schemas.microsoft.com/office/powerpoint/2010/main" val="1869374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Modify triple depend on m (palindrome’s length)</a:t>
            </a:r>
            <a:endParaRPr lang="zh-TW" altLang="en-US" sz="3600"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200" y="1825625"/>
                <a:ext cx="10515600" cy="4667250"/>
              </a:xfrm>
            </p:spPr>
            <p:txBody>
              <a:bodyPr>
                <a:normAutofit/>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pPr marL="0" indent="0">
                  <a:buNone/>
                </a:pPr>
                <a:r>
                  <a:rPr lang="en-US" altLang="zh-TW" dirty="0"/>
                  <a:t>                           </a:t>
                </a:r>
                <a:r>
                  <a:rPr lang="en-US" altLang="zh-TW" dirty="0">
                    <a:latin typeface="Times New Roman" panose="02020603050405020304" pitchFamily="18" charset="0"/>
                    <a:cs typeface="Times New Roman" panose="02020603050405020304" pitchFamily="18" charset="0"/>
                  </a:rPr>
                  <a:t>If m = 4,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=(2,</m:t>
                    </m:r>
                    <m:r>
                      <a:rPr lang="en-US" altLang="zh-TW" b="0" i="1" smtClean="0">
                        <a:latin typeface="Cambria Math" panose="02040503050406030204" pitchFamily="18" charset="0"/>
                        <a:ea typeface="Cambria Math" panose="02040503050406030204" pitchFamily="18" charset="0"/>
                      </a:rPr>
                      <m:t>∞,1</m:t>
                    </m:r>
                    <m:r>
                      <a:rPr lang="en-US" altLang="zh-TW" b="0" i="1" smtClean="0">
                        <a:latin typeface="Cambria Math" panose="02040503050406030204" pitchFamily="18" charset="0"/>
                      </a:rPr>
                      <m:t>)</m:t>
                    </m:r>
                  </m:oMath>
                </a14:m>
                <a:endParaRPr lang="en-US" altLang="zh-TW" dirty="0"/>
              </a:p>
              <a:p>
                <a:pPr marL="0" indent="0">
                  <a:buNone/>
                </a:pP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𝑗</m:t>
                        </m:r>
                        <m:r>
                          <a:rPr lang="en-US" altLang="zh-TW" i="1">
                            <a:latin typeface="Cambria Math" panose="02040503050406030204" pitchFamily="18" charset="0"/>
                          </a:rPr>
                          <m:t>−1,4</m:t>
                        </m:r>
                      </m:sub>
                    </m:sSub>
                    <m:r>
                      <a:rPr lang="en-US" altLang="zh-TW" b="0" i="1" smtClean="0">
                        <a:latin typeface="Cambria Math" panose="02040503050406030204" pitchFamily="18" charset="0"/>
                      </a:rPr>
                      <m:t> </m:t>
                    </m:r>
                    <m:r>
                      <a:rPr lang="en-US" altLang="zh-TW" i="1">
                        <a:latin typeface="Cambria Math" panose="02040503050406030204" pitchFamily="18" charset="0"/>
                      </a:rPr>
                      <m:t>=(</m:t>
                    </m:r>
                    <m:r>
                      <a:rPr lang="en-US" altLang="zh-TW" b="0" i="1" smtClean="0">
                        <a:latin typeface="Cambria Math" panose="02040503050406030204" pitchFamily="18" charset="0"/>
                      </a:rPr>
                      <m:t>6,4,3</m:t>
                    </m:r>
                    <m:r>
                      <a:rPr lang="en-US" altLang="zh-TW" i="1">
                        <a:latin typeface="Cambria Math" panose="02040503050406030204" pitchFamily="18" charset="0"/>
                      </a:rPr>
                      <m:t>)</m:t>
                    </m:r>
                  </m:oMath>
                </a14:m>
                <a:r>
                  <a:rPr lang="en-US" altLang="zh-TW" dirty="0">
                    <a:cs typeface="Times New Roman" panose="02020603050405020304" pitchFamily="18" charset="0"/>
                  </a:rPr>
                  <a:t>   </a:t>
                </a:r>
                <a14:m>
                  <m:oMath xmlns:m="http://schemas.openxmlformats.org/officeDocument/2006/math">
                    <m:r>
                      <a:rPr lang="en-US" altLang="zh-TW" i="1" smtClean="0">
                        <a:latin typeface="Cambria Math" panose="02040503050406030204" pitchFamily="18" charset="0"/>
                        <a:cs typeface="Times New Roman" panose="02020603050405020304" pitchFamily="18" charset="0"/>
                      </a:rPr>
                      <m:t>⇒</m:t>
                    </m:r>
                  </m:oMath>
                </a14:m>
                <a:r>
                  <a:rPr lang="en-US" altLang="zh-TW" dirty="0"/>
                  <a:t> </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6</m:t>
                    </m:r>
                    <m:r>
                      <a:rPr lang="en-US" altLang="zh-TW" b="0" i="1" smtClean="0">
                        <a:latin typeface="Cambria Math" panose="02040503050406030204" pitchFamily="18" charset="0"/>
                      </a:rPr>
                      <m:t>,</m:t>
                    </m:r>
                    <m:r>
                      <a:rPr lang="en-US" altLang="zh-TW" b="0" i="1" smtClean="0">
                        <a:latin typeface="Cambria Math" panose="02040503050406030204" pitchFamily="18" charset="0"/>
                      </a:rPr>
                      <m:t>4</m:t>
                    </m:r>
                    <m:r>
                      <a:rPr lang="en-US" altLang="zh-TW" b="0" i="1" smtClean="0">
                        <a:latin typeface="Cambria Math" panose="02040503050406030204" pitchFamily="18" charset="0"/>
                        <a:ea typeface="Cambria Math" panose="02040503050406030204" pitchFamily="18" charset="0"/>
                      </a:rPr>
                      <m:t>,1</m:t>
                    </m:r>
                    <m:r>
                      <a:rPr lang="en-US" altLang="zh-TW" b="0" i="1" smtClean="0">
                        <a:latin typeface="Cambria Math" panose="02040503050406030204" pitchFamily="18" charset="0"/>
                      </a:rPr>
                      <m:t>)</m:t>
                    </m:r>
                  </m:oMath>
                </a14:m>
                <a:endParaRPr lang="en-US" altLang="zh-TW" dirty="0"/>
              </a:p>
              <a:p>
                <a:pPr marL="0" indent="0">
                  <a:buNone/>
                </a:pP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𝑗</m:t>
                        </m:r>
                        <m:r>
                          <a:rPr lang="en-US" altLang="zh-TW" i="1">
                            <a:latin typeface="Cambria Math" panose="02040503050406030204" pitchFamily="18" charset="0"/>
                          </a:rPr>
                          <m:t>−1,1</m:t>
                        </m:r>
                      </m:sub>
                    </m:sSub>
                    <m:r>
                      <a:rPr lang="en-US" altLang="zh-TW" b="0" i="1" smtClean="0">
                        <a:latin typeface="Cambria Math" panose="02040503050406030204" pitchFamily="18" charset="0"/>
                      </a:rPr>
                      <m:t> </m:t>
                    </m:r>
                    <m:r>
                      <a:rPr lang="en-US" altLang="zh-TW" i="1">
                        <a:latin typeface="Cambria Math" panose="02040503050406030204" pitchFamily="18" charset="0"/>
                      </a:rPr>
                      <m:t>=(</m:t>
                    </m:r>
                    <m:r>
                      <a:rPr lang="en-US" altLang="zh-TW" b="0" i="1" smtClean="0">
                        <a:latin typeface="Cambria Math" panose="02040503050406030204" pitchFamily="18" charset="0"/>
                      </a:rPr>
                      <m:t>15,1,2</m:t>
                    </m:r>
                    <m:r>
                      <a:rPr lang="en-US" altLang="zh-TW" i="1">
                        <a:latin typeface="Cambria Math" panose="02040503050406030204" pitchFamily="18" charset="0"/>
                      </a:rPr>
                      <m:t>)</m:t>
                    </m:r>
                  </m:oMath>
                </a14:m>
                <a:r>
                  <a:rPr lang="en-US" altLang="zh-TW" dirty="0">
                    <a:cs typeface="Times New Roman" panose="02020603050405020304" pitchFamily="18" charset="0"/>
                  </a:rPr>
                  <a:t> </a:t>
                </a:r>
                <a14:m>
                  <m:oMath xmlns:m="http://schemas.openxmlformats.org/officeDocument/2006/math">
                    <m:r>
                      <a:rPr lang="en-US" altLang="zh-TW" i="1" smtClean="0">
                        <a:latin typeface="Cambria Math" panose="02040503050406030204" pitchFamily="18" charset="0"/>
                        <a:cs typeface="Times New Roman" panose="02020603050405020304" pitchFamily="18" charset="0"/>
                      </a:rPr>
                      <m:t>⇒</m:t>
                    </m:r>
                  </m:oMath>
                </a14:m>
                <a:r>
                  <a:rPr lang="en-US" altLang="zh-TW" dirty="0"/>
                  <a:t> </a:t>
                </a:r>
                <a14:m>
                  <m:oMath xmlns:m="http://schemas.openxmlformats.org/officeDocument/2006/math">
                    <m:r>
                      <a:rPr lang="en-US" altLang="zh-TW" b="0" i="1" smtClean="0">
                        <a:latin typeface="Cambria Math" panose="02040503050406030204" pitchFamily="18" charset="0"/>
                      </a:rPr>
                      <m:t>(15,1</m:t>
                    </m:r>
                    <m: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rPr>
                      <m:t>)</m:t>
                    </m:r>
                  </m:oMath>
                </a14:m>
                <a:endParaRPr lang="en-US" altLang="zh-TW" dirty="0"/>
              </a:p>
              <a:p>
                <a:pPr marL="0" indent="0">
                  <a:buNone/>
                </a:pPr>
                <a:endParaRPr lang="en-US" altLang="zh-TW" dirty="0"/>
              </a:p>
              <a:p>
                <a:pPr marL="0" indent="0">
                  <a:buNone/>
                </a:pP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667250"/>
              </a:xfrm>
              <a:blipFill>
                <a:blip r:embed="rId3"/>
                <a:stretch>
                  <a:fillRect/>
                </a:stretch>
              </a:blipFill>
            </p:spPr>
            <p:txBody>
              <a:bodyPr/>
              <a:lstStyle/>
              <a:p>
                <a:r>
                  <a:rPr lang="zh-TW" altLang="en-US">
                    <a:noFill/>
                  </a:rPr>
                  <a:t> </a:t>
                </a:r>
              </a:p>
            </p:txBody>
          </p:sp>
        </mc:Fallback>
      </mc:AlternateContent>
      <p:pic>
        <p:nvPicPr>
          <p:cNvPr id="9" name="圖片 8"/>
          <p:cNvPicPr>
            <a:picLocks noChangeAspect="1"/>
          </p:cNvPicPr>
          <p:nvPr/>
        </p:nvPicPr>
        <p:blipFill>
          <a:blip r:embed="rId4"/>
          <a:stretch>
            <a:fillRect/>
          </a:stretch>
        </p:blipFill>
        <p:spPr>
          <a:xfrm>
            <a:off x="1838325" y="1375174"/>
            <a:ext cx="8515350" cy="3373788"/>
          </a:xfrm>
          <a:prstGeom prst="rect">
            <a:avLst/>
          </a:prstGeom>
        </p:spPr>
      </p:pic>
      <p:cxnSp>
        <p:nvCxnSpPr>
          <p:cNvPr id="5" name="直線接點 4">
            <a:extLst>
              <a:ext uri="{FF2B5EF4-FFF2-40B4-BE49-F238E27FC236}">
                <a16:creationId xmlns:a16="http://schemas.microsoft.com/office/drawing/2014/main" id="{F2764F7F-AF0F-466C-92F0-695FDCDD1369}"/>
              </a:ext>
            </a:extLst>
          </p:cNvPr>
          <p:cNvCxnSpPr>
            <a:cxnSpLocks/>
          </p:cNvCxnSpPr>
          <p:nvPr/>
        </p:nvCxnSpPr>
        <p:spPr>
          <a:xfrm flipV="1">
            <a:off x="8668624" y="3383272"/>
            <a:ext cx="408264" cy="32788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A3CD68D7-F8F7-4925-8A39-9A156F72390F}"/>
              </a:ext>
            </a:extLst>
          </p:cNvPr>
          <p:cNvCxnSpPr/>
          <p:nvPr/>
        </p:nvCxnSpPr>
        <p:spPr>
          <a:xfrm>
            <a:off x="8623883" y="3383272"/>
            <a:ext cx="453005" cy="38589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EDBC2031-B163-40E8-BBE5-EBF2D617E0DE}"/>
              </a:ext>
            </a:extLst>
          </p:cNvPr>
          <p:cNvCxnSpPr/>
          <p:nvPr/>
        </p:nvCxnSpPr>
        <p:spPr>
          <a:xfrm>
            <a:off x="9121629" y="3427944"/>
            <a:ext cx="453005" cy="38589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6A4B2842-AA13-419B-B0FD-CEA237A15EFB}"/>
              </a:ext>
            </a:extLst>
          </p:cNvPr>
          <p:cNvCxnSpPr>
            <a:cxnSpLocks/>
          </p:cNvCxnSpPr>
          <p:nvPr/>
        </p:nvCxnSpPr>
        <p:spPr>
          <a:xfrm flipV="1">
            <a:off x="9121519" y="3427944"/>
            <a:ext cx="369686" cy="2642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9F1132B6-EFF5-494A-898D-7DA89B35D7FB}"/>
              </a:ext>
            </a:extLst>
          </p:cNvPr>
          <p:cNvCxnSpPr>
            <a:cxnSpLocks/>
          </p:cNvCxnSpPr>
          <p:nvPr/>
        </p:nvCxnSpPr>
        <p:spPr>
          <a:xfrm flipV="1">
            <a:off x="9606378" y="3383272"/>
            <a:ext cx="368592" cy="38589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04BF10DE-0A36-42AD-ABCE-74AFC55F8D3A}"/>
              </a:ext>
            </a:extLst>
          </p:cNvPr>
          <p:cNvCxnSpPr/>
          <p:nvPr/>
        </p:nvCxnSpPr>
        <p:spPr>
          <a:xfrm>
            <a:off x="9521965" y="3417053"/>
            <a:ext cx="453005" cy="38589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矩形: 圓角 14">
            <a:extLst>
              <a:ext uri="{FF2B5EF4-FFF2-40B4-BE49-F238E27FC236}">
                <a16:creationId xmlns:a16="http://schemas.microsoft.com/office/drawing/2014/main" id="{648845E5-8900-4246-866A-0F4D8501E2D9}"/>
              </a:ext>
            </a:extLst>
          </p:cNvPr>
          <p:cNvSpPr/>
          <p:nvPr/>
        </p:nvSpPr>
        <p:spPr>
          <a:xfrm>
            <a:off x="5525549" y="3383272"/>
            <a:ext cx="2080470" cy="35211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68553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91A32F-D0FF-44EB-8EAE-3AE8409AEA6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DP formula</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56D6F8B-EA56-481F-843B-2A22988F80DB}"/>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 = CAAAB, m=3, g = 2 </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 </a:t>
            </a:r>
            <a:endParaRPr lang="zh-TW" altLang="en-US" sz="2400" baseline="-25000" dirty="0">
              <a:latin typeface="Times New Roman" panose="02020603050405020304" pitchFamily="18" charset="0"/>
              <a:cs typeface="Times New Roman" panose="02020603050405020304" pitchFamily="18" charset="0"/>
            </a:endParaRPr>
          </a:p>
          <a:p>
            <a:endParaRPr lang="zh-TW" altLang="en-US" baseline="-250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077B1A96-F1EE-40B8-8A2E-DB83D3C83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9116" y="2485628"/>
            <a:ext cx="4885509" cy="554458"/>
          </a:xfrm>
          <a:prstGeom prst="rect">
            <a:avLst/>
          </a:prstGeom>
        </p:spPr>
      </p:pic>
      <p:pic>
        <p:nvPicPr>
          <p:cNvPr id="5" name="圖片 4">
            <a:extLst>
              <a:ext uri="{FF2B5EF4-FFF2-40B4-BE49-F238E27FC236}">
                <a16:creationId xmlns:a16="http://schemas.microsoft.com/office/drawing/2014/main" id="{C4EFB89C-3764-4402-A518-F02446BDE3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3282" y="1972437"/>
            <a:ext cx="6533606" cy="508671"/>
          </a:xfrm>
          <a:prstGeom prst="rect">
            <a:avLst/>
          </a:prstGeom>
        </p:spPr>
      </p:pic>
      <p:graphicFrame>
        <p:nvGraphicFramePr>
          <p:cNvPr id="6" name="表格 5">
            <a:extLst>
              <a:ext uri="{FF2B5EF4-FFF2-40B4-BE49-F238E27FC236}">
                <a16:creationId xmlns:a16="http://schemas.microsoft.com/office/drawing/2014/main" id="{3A79EA8F-053F-448A-8D7A-1CCC906FA905}"/>
              </a:ext>
            </a:extLst>
          </p:cNvPr>
          <p:cNvGraphicFramePr>
            <a:graphicFrameLocks noGrp="1"/>
          </p:cNvGraphicFramePr>
          <p:nvPr>
            <p:extLst>
              <p:ext uri="{D42A27DB-BD31-4B8C-83A1-F6EECF244321}">
                <p14:modId xmlns:p14="http://schemas.microsoft.com/office/powerpoint/2010/main" val="3876489498"/>
              </p:ext>
            </p:extLst>
          </p:nvPr>
        </p:nvGraphicFramePr>
        <p:xfrm>
          <a:off x="2059995" y="3544665"/>
          <a:ext cx="4235453" cy="2104876"/>
        </p:xfrm>
        <a:graphic>
          <a:graphicData uri="http://schemas.openxmlformats.org/drawingml/2006/table">
            <a:tbl>
              <a:tblPr firstRow="1" bandRow="1">
                <a:tableStyleId>{5C22544A-7EE6-4342-B048-85BDC9FD1C3A}</a:tableStyleId>
              </a:tblPr>
              <a:tblGrid>
                <a:gridCol w="748205">
                  <a:extLst>
                    <a:ext uri="{9D8B030D-6E8A-4147-A177-3AD203B41FA5}">
                      <a16:colId xmlns:a16="http://schemas.microsoft.com/office/drawing/2014/main" val="1245393204"/>
                    </a:ext>
                  </a:extLst>
                </a:gridCol>
                <a:gridCol w="663612">
                  <a:extLst>
                    <a:ext uri="{9D8B030D-6E8A-4147-A177-3AD203B41FA5}">
                      <a16:colId xmlns:a16="http://schemas.microsoft.com/office/drawing/2014/main" val="462383203"/>
                    </a:ext>
                  </a:extLst>
                </a:gridCol>
                <a:gridCol w="705909">
                  <a:extLst>
                    <a:ext uri="{9D8B030D-6E8A-4147-A177-3AD203B41FA5}">
                      <a16:colId xmlns:a16="http://schemas.microsoft.com/office/drawing/2014/main" val="1133571703"/>
                    </a:ext>
                  </a:extLst>
                </a:gridCol>
                <a:gridCol w="705909">
                  <a:extLst>
                    <a:ext uri="{9D8B030D-6E8A-4147-A177-3AD203B41FA5}">
                      <a16:colId xmlns:a16="http://schemas.microsoft.com/office/drawing/2014/main" val="2743337836"/>
                    </a:ext>
                  </a:extLst>
                </a:gridCol>
                <a:gridCol w="705909">
                  <a:extLst>
                    <a:ext uri="{9D8B030D-6E8A-4147-A177-3AD203B41FA5}">
                      <a16:colId xmlns:a16="http://schemas.microsoft.com/office/drawing/2014/main" val="3073793790"/>
                    </a:ext>
                  </a:extLst>
                </a:gridCol>
                <a:gridCol w="705909">
                  <a:extLst>
                    <a:ext uri="{9D8B030D-6E8A-4147-A177-3AD203B41FA5}">
                      <a16:colId xmlns:a16="http://schemas.microsoft.com/office/drawing/2014/main" val="474247063"/>
                    </a:ext>
                  </a:extLst>
                </a:gridCol>
              </a:tblGrid>
              <a:tr h="411919">
                <a:tc>
                  <a:txBody>
                    <a:bodyPr/>
                    <a:lstStyle/>
                    <a:p>
                      <a:r>
                        <a:rPr lang="en-US" altLang="zh-TW" sz="2400" dirty="0">
                          <a:latin typeface="Times New Roman" panose="02020603050405020304" pitchFamily="18" charset="0"/>
                          <a:cs typeface="Times New Roman" panose="02020603050405020304" pitchFamily="18" charset="0"/>
                        </a:rPr>
                        <a:t>MG</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extLst>
                  <a:ext uri="{0D108BD9-81ED-4DB2-BD59-A6C34878D82A}">
                    <a16:rowId xmlns:a16="http://schemas.microsoft.com/office/drawing/2014/main" val="3682349843"/>
                  </a:ext>
                </a:extLst>
              </a:tr>
              <a:tr h="411919">
                <a:tc>
                  <a:txBody>
                    <a:bodyPr/>
                    <a:lstStyle/>
                    <a:p>
                      <a:pPr algn="ctr"/>
                      <a:r>
                        <a:rPr lang="en-US" altLang="zh-TW" dirty="0">
                          <a:latin typeface="Times New Roman" panose="02020603050405020304" pitchFamily="18" charset="0"/>
                          <a:cs typeface="Times New Roman" panose="02020603050405020304" pitchFamily="18" charset="0"/>
                        </a:rPr>
                        <a:t>q \ S</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6702143"/>
                  </a:ext>
                </a:extLst>
              </a:tr>
              <a:tr h="411919">
                <a:tc>
                  <a:txBody>
                    <a:bodyPr/>
                    <a:lstStyle/>
                    <a:p>
                      <a:pPr algn="ctr"/>
                      <a:r>
                        <a:rPr lang="en-US" altLang="zh-TW" dirty="0"/>
                        <a:t>0</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733855308"/>
                  </a:ext>
                </a:extLst>
              </a:tr>
              <a:tr h="411919">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5</a:t>
                      </a:r>
                      <a:endParaRPr lang="zh-TW" altLang="en-US" dirty="0"/>
                    </a:p>
                  </a:txBody>
                  <a:tcPr/>
                </a:tc>
                <a:extLst>
                  <a:ext uri="{0D108BD9-81ED-4DB2-BD59-A6C34878D82A}">
                    <a16:rowId xmlns:a16="http://schemas.microsoft.com/office/drawing/2014/main" val="1591369707"/>
                  </a:ext>
                </a:extLst>
              </a:tr>
              <a:tr h="411919">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extLst>
                  <a:ext uri="{0D108BD9-81ED-4DB2-BD59-A6C34878D82A}">
                    <a16:rowId xmlns:a16="http://schemas.microsoft.com/office/drawing/2014/main" val="1502398762"/>
                  </a:ext>
                </a:extLst>
              </a:tr>
            </a:tbl>
          </a:graphicData>
        </a:graphic>
      </p:graphicFrame>
      <mc:AlternateContent xmlns:mc="http://schemas.openxmlformats.org/markup-compatibility/2006">
        <mc:Choice xmlns:a14="http://schemas.microsoft.com/office/drawing/2010/main" Requires="a14">
          <p:sp>
            <p:nvSpPr>
              <p:cNvPr id="15" name="文字方塊 14">
                <a:extLst>
                  <a:ext uri="{FF2B5EF4-FFF2-40B4-BE49-F238E27FC236}">
                    <a16:creationId xmlns:a16="http://schemas.microsoft.com/office/drawing/2014/main" id="{2A719428-E503-4476-B57F-A2A5F6CC4F45}"/>
                  </a:ext>
                </a:extLst>
              </p:cNvPr>
              <p:cNvSpPr txBox="1"/>
              <p:nvPr/>
            </p:nvSpPr>
            <p:spPr>
              <a:xfrm>
                <a:off x="3526179" y="3092565"/>
                <a:ext cx="2530679" cy="369332"/>
              </a:xfrm>
              <a:prstGeom prst="rect">
                <a:avLst/>
              </a:prstGeom>
              <a:noFill/>
            </p:spPr>
            <p:txBody>
              <a:bodyPr wrap="square" rtlCol="0">
                <a:spAutoFit/>
              </a:bodyPr>
              <a:lstStyle/>
              <a:p>
                <a:r>
                  <a:rPr lang="en-US" altLang="zh-TW" dirty="0"/>
                  <a:t>P</a:t>
                </a:r>
                <a:r>
                  <a:rPr lang="en-US" altLang="zh-TW" baseline="-25000" dirty="0"/>
                  <a:t>3,</a:t>
                </a:r>
                <a14:m>
                  <m:oMath xmlns:m="http://schemas.openxmlformats.org/officeDocument/2006/math">
                    <m:r>
                      <a:rPr lang="en-US" altLang="zh-TW" i="1" baseline="-25000">
                        <a:latin typeface="Cambria Math" panose="02040503050406030204" pitchFamily="18" charset="0"/>
                        <a:ea typeface="Cambria Math" panose="02040503050406030204" pitchFamily="18" charset="0"/>
                      </a:rPr>
                      <m:t>∞</m:t>
                    </m:r>
                  </m:oMath>
                </a14:m>
                <a:r>
                  <a:rPr lang="zh-TW" altLang="en-US" baseline="-25000" dirty="0"/>
                  <a:t>    </a:t>
                </a:r>
                <a:r>
                  <a:rPr lang="zh-TW" altLang="en-US" dirty="0"/>
                  <a:t>          </a:t>
                </a:r>
                <a:r>
                  <a:rPr lang="en-US" altLang="zh-TW" dirty="0"/>
                  <a:t>P</a:t>
                </a:r>
                <a:r>
                  <a:rPr lang="en-US" altLang="zh-TW" baseline="-25000" dirty="0"/>
                  <a:t>3,1</a:t>
                </a:r>
                <a:r>
                  <a:rPr lang="zh-TW" altLang="en-US" dirty="0"/>
                  <a:t> </a:t>
                </a:r>
                <a:endParaRPr lang="zh-TW" altLang="en-US" baseline="-25000" dirty="0"/>
              </a:p>
            </p:txBody>
          </p:sp>
        </mc:Choice>
        <mc:Fallback>
          <p:sp>
            <p:nvSpPr>
              <p:cNvPr id="15" name="文字方塊 14">
                <a:extLst>
                  <a:ext uri="{FF2B5EF4-FFF2-40B4-BE49-F238E27FC236}">
                    <a16:creationId xmlns:a16="http://schemas.microsoft.com/office/drawing/2014/main" id="{2A719428-E503-4476-B57F-A2A5F6CC4F45}"/>
                  </a:ext>
                </a:extLst>
              </p:cNvPr>
              <p:cNvSpPr txBox="1">
                <a:spLocks noRot="1" noChangeAspect="1" noMove="1" noResize="1" noEditPoints="1" noAdjustHandles="1" noChangeArrowheads="1" noChangeShapeType="1" noTextEdit="1"/>
              </p:cNvSpPr>
              <p:nvPr/>
            </p:nvSpPr>
            <p:spPr>
              <a:xfrm>
                <a:off x="3526179" y="3092565"/>
                <a:ext cx="2530679" cy="369332"/>
              </a:xfrm>
              <a:prstGeom prst="rect">
                <a:avLst/>
              </a:prstGeom>
              <a:blipFill>
                <a:blip r:embed="rId4"/>
                <a:stretch>
                  <a:fillRect l="-1923" t="-8197" b="-24590"/>
                </a:stretch>
              </a:blipFill>
            </p:spPr>
            <p:txBody>
              <a:bodyPr/>
              <a:lstStyle/>
              <a:p>
                <a:r>
                  <a:rPr lang="zh-TW" altLang="en-US">
                    <a:noFill/>
                  </a:rPr>
                  <a:t> </a:t>
                </a:r>
              </a:p>
            </p:txBody>
          </p:sp>
        </mc:Fallback>
      </mc:AlternateContent>
      <p:sp>
        <p:nvSpPr>
          <p:cNvPr id="16" name="矩形: 圓角 15">
            <a:extLst>
              <a:ext uri="{FF2B5EF4-FFF2-40B4-BE49-F238E27FC236}">
                <a16:creationId xmlns:a16="http://schemas.microsoft.com/office/drawing/2014/main" id="{F16914C1-DA5D-4C4D-92B0-781F55CBDE05}"/>
              </a:ext>
            </a:extLst>
          </p:cNvPr>
          <p:cNvSpPr/>
          <p:nvPr/>
        </p:nvSpPr>
        <p:spPr>
          <a:xfrm>
            <a:off x="3536484" y="3107741"/>
            <a:ext cx="522914"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圓角 16">
            <a:extLst>
              <a:ext uri="{FF2B5EF4-FFF2-40B4-BE49-F238E27FC236}">
                <a16:creationId xmlns:a16="http://schemas.microsoft.com/office/drawing/2014/main" id="{9F7B3538-1B76-4BC1-8B63-32C32ED1C1C5}"/>
              </a:ext>
            </a:extLst>
          </p:cNvPr>
          <p:cNvSpPr/>
          <p:nvPr/>
        </p:nvSpPr>
        <p:spPr>
          <a:xfrm>
            <a:off x="4307576" y="3107678"/>
            <a:ext cx="1075194"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7" name="圖片 26">
            <a:extLst>
              <a:ext uri="{FF2B5EF4-FFF2-40B4-BE49-F238E27FC236}">
                <a16:creationId xmlns:a16="http://schemas.microsoft.com/office/drawing/2014/main" id="{4E9B27F3-ABB2-4066-AFF9-5116F6CD33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8513" y="4492285"/>
            <a:ext cx="295394" cy="209635"/>
          </a:xfrm>
          <a:prstGeom prst="rect">
            <a:avLst/>
          </a:prstGeom>
        </p:spPr>
      </p:pic>
      <p:pic>
        <p:nvPicPr>
          <p:cNvPr id="28" name="圖片 27">
            <a:extLst>
              <a:ext uri="{FF2B5EF4-FFF2-40B4-BE49-F238E27FC236}">
                <a16:creationId xmlns:a16="http://schemas.microsoft.com/office/drawing/2014/main" id="{94A09007-998F-4C27-A45C-D5A74D6828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8891" y="4492285"/>
            <a:ext cx="295394" cy="209635"/>
          </a:xfrm>
          <a:prstGeom prst="rect">
            <a:avLst/>
          </a:prstGeom>
        </p:spPr>
      </p:pic>
      <p:pic>
        <p:nvPicPr>
          <p:cNvPr id="29" name="圖片 28">
            <a:extLst>
              <a:ext uri="{FF2B5EF4-FFF2-40B4-BE49-F238E27FC236}">
                <a16:creationId xmlns:a16="http://schemas.microsoft.com/office/drawing/2014/main" id="{9F9784AE-FFE3-4C48-B9EA-C4236B1EFA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30635" y="4492284"/>
            <a:ext cx="295394" cy="209635"/>
          </a:xfrm>
          <a:prstGeom prst="rect">
            <a:avLst/>
          </a:prstGeom>
        </p:spPr>
      </p:pic>
      <p:pic>
        <p:nvPicPr>
          <p:cNvPr id="30" name="圖片 29">
            <a:extLst>
              <a:ext uri="{FF2B5EF4-FFF2-40B4-BE49-F238E27FC236}">
                <a16:creationId xmlns:a16="http://schemas.microsoft.com/office/drawing/2014/main" id="{971D50E2-9380-4FB8-B538-7977F02046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5585" y="4489582"/>
            <a:ext cx="295394" cy="209635"/>
          </a:xfrm>
          <a:prstGeom prst="rect">
            <a:avLst/>
          </a:prstGeom>
        </p:spPr>
      </p:pic>
      <p:pic>
        <p:nvPicPr>
          <p:cNvPr id="31" name="圖片 30">
            <a:extLst>
              <a:ext uri="{FF2B5EF4-FFF2-40B4-BE49-F238E27FC236}">
                <a16:creationId xmlns:a16="http://schemas.microsoft.com/office/drawing/2014/main" id="{3BC7369C-BD80-4098-BD40-E8C1A43663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00606" y="4492616"/>
            <a:ext cx="295394" cy="209635"/>
          </a:xfrm>
          <a:prstGeom prst="rect">
            <a:avLst/>
          </a:prstGeom>
        </p:spPr>
      </p:pic>
      <p:graphicFrame>
        <p:nvGraphicFramePr>
          <p:cNvPr id="32" name="表格 31">
            <a:extLst>
              <a:ext uri="{FF2B5EF4-FFF2-40B4-BE49-F238E27FC236}">
                <a16:creationId xmlns:a16="http://schemas.microsoft.com/office/drawing/2014/main" id="{F4A6A8ED-8D0D-4C6E-A2D3-277E9011AE30}"/>
              </a:ext>
            </a:extLst>
          </p:cNvPr>
          <p:cNvGraphicFramePr>
            <a:graphicFrameLocks noGrp="1"/>
          </p:cNvGraphicFramePr>
          <p:nvPr>
            <p:extLst>
              <p:ext uri="{D42A27DB-BD31-4B8C-83A1-F6EECF244321}">
                <p14:modId xmlns:p14="http://schemas.microsoft.com/office/powerpoint/2010/main" val="2333082098"/>
              </p:ext>
            </p:extLst>
          </p:nvPr>
        </p:nvGraphicFramePr>
        <p:xfrm>
          <a:off x="6679468" y="3544665"/>
          <a:ext cx="4088641" cy="2104876"/>
        </p:xfrm>
        <a:graphic>
          <a:graphicData uri="http://schemas.openxmlformats.org/drawingml/2006/table">
            <a:tbl>
              <a:tblPr firstRow="1" bandRow="1">
                <a:tableStyleId>{5C22544A-7EE6-4342-B048-85BDC9FD1C3A}</a:tableStyleId>
              </a:tblPr>
              <a:tblGrid>
                <a:gridCol w="722271">
                  <a:extLst>
                    <a:ext uri="{9D8B030D-6E8A-4147-A177-3AD203B41FA5}">
                      <a16:colId xmlns:a16="http://schemas.microsoft.com/office/drawing/2014/main" val="1245393204"/>
                    </a:ext>
                  </a:extLst>
                </a:gridCol>
                <a:gridCol w="640610">
                  <a:extLst>
                    <a:ext uri="{9D8B030D-6E8A-4147-A177-3AD203B41FA5}">
                      <a16:colId xmlns:a16="http://schemas.microsoft.com/office/drawing/2014/main" val="462383203"/>
                    </a:ext>
                  </a:extLst>
                </a:gridCol>
                <a:gridCol w="681440">
                  <a:extLst>
                    <a:ext uri="{9D8B030D-6E8A-4147-A177-3AD203B41FA5}">
                      <a16:colId xmlns:a16="http://schemas.microsoft.com/office/drawing/2014/main" val="1133571703"/>
                    </a:ext>
                  </a:extLst>
                </a:gridCol>
                <a:gridCol w="681440">
                  <a:extLst>
                    <a:ext uri="{9D8B030D-6E8A-4147-A177-3AD203B41FA5}">
                      <a16:colId xmlns:a16="http://schemas.microsoft.com/office/drawing/2014/main" val="2743337836"/>
                    </a:ext>
                  </a:extLst>
                </a:gridCol>
                <a:gridCol w="681440">
                  <a:extLst>
                    <a:ext uri="{9D8B030D-6E8A-4147-A177-3AD203B41FA5}">
                      <a16:colId xmlns:a16="http://schemas.microsoft.com/office/drawing/2014/main" val="3073793790"/>
                    </a:ext>
                  </a:extLst>
                </a:gridCol>
                <a:gridCol w="681440">
                  <a:extLst>
                    <a:ext uri="{9D8B030D-6E8A-4147-A177-3AD203B41FA5}">
                      <a16:colId xmlns:a16="http://schemas.microsoft.com/office/drawing/2014/main" val="474247063"/>
                    </a:ext>
                  </a:extLst>
                </a:gridCol>
              </a:tblGrid>
              <a:tr h="411919">
                <a:tc>
                  <a:txBody>
                    <a:bodyPr/>
                    <a:lstStyle/>
                    <a:p>
                      <a:pPr algn="ctr"/>
                      <a:r>
                        <a:rPr lang="en-US" altLang="zh-TW" sz="2400" dirty="0">
                          <a:latin typeface="Times New Roman" panose="02020603050405020304" pitchFamily="18" charset="0"/>
                          <a:cs typeface="Times New Roman" panose="02020603050405020304" pitchFamily="18" charset="0"/>
                        </a:rPr>
                        <a:t>MG’</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extLst>
                  <a:ext uri="{0D108BD9-81ED-4DB2-BD59-A6C34878D82A}">
                    <a16:rowId xmlns:a16="http://schemas.microsoft.com/office/drawing/2014/main" val="3682349843"/>
                  </a:ext>
                </a:extLst>
              </a:tr>
              <a:tr h="411919">
                <a:tc>
                  <a:txBody>
                    <a:bodyPr/>
                    <a:lstStyle/>
                    <a:p>
                      <a:pPr algn="ctr"/>
                      <a:r>
                        <a:rPr lang="en-US" altLang="zh-TW" dirty="0">
                          <a:latin typeface="Times New Roman" panose="02020603050405020304" pitchFamily="18" charset="0"/>
                          <a:cs typeface="Times New Roman" panose="02020603050405020304" pitchFamily="18" charset="0"/>
                        </a:rPr>
                        <a:t>q \ S</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6702143"/>
                  </a:ext>
                </a:extLst>
              </a:tr>
              <a:tr h="411919">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extLst>
                  <a:ext uri="{0D108BD9-81ED-4DB2-BD59-A6C34878D82A}">
                    <a16:rowId xmlns:a16="http://schemas.microsoft.com/office/drawing/2014/main" val="3733855308"/>
                  </a:ext>
                </a:extLst>
              </a:tr>
              <a:tr h="411919">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extLst>
                  <a:ext uri="{0D108BD9-81ED-4DB2-BD59-A6C34878D82A}">
                    <a16:rowId xmlns:a16="http://schemas.microsoft.com/office/drawing/2014/main" val="1591369707"/>
                  </a:ext>
                </a:extLst>
              </a:tr>
              <a:tr h="411919">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2</a:t>
                      </a:r>
                      <a:endParaRPr lang="zh-TW" altLang="en-US" dirty="0"/>
                    </a:p>
                  </a:txBody>
                  <a:tcPr/>
                </a:tc>
                <a:extLst>
                  <a:ext uri="{0D108BD9-81ED-4DB2-BD59-A6C34878D82A}">
                    <a16:rowId xmlns:a16="http://schemas.microsoft.com/office/drawing/2014/main" val="1502398762"/>
                  </a:ext>
                </a:extLst>
              </a:tr>
            </a:tbl>
          </a:graphicData>
        </a:graphic>
      </p:graphicFrame>
    </p:spTree>
    <p:extLst>
      <p:ext uri="{BB962C8B-B14F-4D97-AF65-F5344CB8AC3E}">
        <p14:creationId xmlns:p14="http://schemas.microsoft.com/office/powerpoint/2010/main" val="1475271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6E287A-9B67-4A80-8E41-131D80F4748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Computational problems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09DEE66A-5061-48C6-8B07-7F92C1D394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3464" y="1925822"/>
            <a:ext cx="7785072" cy="1953415"/>
          </a:xfrm>
        </p:spPr>
      </p:pic>
      <p:pic>
        <p:nvPicPr>
          <p:cNvPr id="8" name="圖片 7">
            <a:extLst>
              <a:ext uri="{FF2B5EF4-FFF2-40B4-BE49-F238E27FC236}">
                <a16:creationId xmlns:a16="http://schemas.microsoft.com/office/drawing/2014/main" id="{1766CD5F-235E-4BC4-8568-0B78D8E59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3464" y="4114371"/>
            <a:ext cx="7823187" cy="2077290"/>
          </a:xfrm>
          <a:prstGeom prst="rect">
            <a:avLst/>
          </a:prstGeom>
        </p:spPr>
      </p:pic>
      <p:sp>
        <p:nvSpPr>
          <p:cNvPr id="9" name="矩形 8">
            <a:extLst>
              <a:ext uri="{FF2B5EF4-FFF2-40B4-BE49-F238E27FC236}">
                <a16:creationId xmlns:a16="http://schemas.microsoft.com/office/drawing/2014/main" id="{1464F04D-2120-4DE8-9C2E-41FD8CD79240}"/>
              </a:ext>
            </a:extLst>
          </p:cNvPr>
          <p:cNvSpPr/>
          <p:nvPr/>
        </p:nvSpPr>
        <p:spPr>
          <a:xfrm>
            <a:off x="2270421" y="4254202"/>
            <a:ext cx="7689272" cy="179762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71705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7FE7BA-AE0A-432F-BA29-092A999B613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Longest Gapped Palindrome (</a:t>
            </a:r>
            <a:r>
              <a:rPr lang="en-US" altLang="zh-TW" dirty="0" err="1">
                <a:latin typeface="Times New Roman" panose="02020603050405020304" pitchFamily="18" charset="0"/>
                <a:cs typeface="Times New Roman" panose="02020603050405020304" pitchFamily="18" charset="0"/>
              </a:rPr>
              <a:t>LGPal</a:t>
            </a:r>
            <a:r>
              <a:rPr lang="en-US" altLang="zh-TW" dirty="0">
                <a:latin typeface="Times New Roman" panose="02020603050405020304" pitchFamily="18" charset="0"/>
                <a:cs typeface="Times New Roman" panose="02020603050405020304" pitchFamily="18" charset="0"/>
              </a:rPr>
              <a:t>) Queries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29FA87-2F97-47EB-A272-640B011AE5B2}"/>
              </a:ext>
            </a:extLst>
          </p:cNvPr>
          <p:cNvSpPr>
            <a:spLocks noGrp="1"/>
          </p:cNvSpPr>
          <p:nvPr>
            <p:ph idx="1"/>
          </p:nvPr>
        </p:nvSpPr>
        <p:spPr>
          <a:xfrm>
            <a:off x="1358536" y="2181497"/>
            <a:ext cx="9995263" cy="3995466"/>
          </a:xfrm>
        </p:spPr>
        <p:txBody>
          <a:bodyPr/>
          <a:lstStyle/>
          <a:p>
            <a:pPr marL="0" indent="0">
              <a:buNone/>
            </a:pPr>
            <a:r>
              <a:rPr lang="en-US" altLang="zh-TW" dirty="0">
                <a:latin typeface="Times New Roman" panose="02020603050405020304" pitchFamily="18" charset="0"/>
                <a:cs typeface="Times New Roman" panose="02020603050405020304" pitchFamily="18" charset="0"/>
              </a:rPr>
              <a:t>S = GACATTCGAACGT</a:t>
            </a:r>
          </a:p>
          <a:p>
            <a:pPr marL="0" indent="0">
              <a:buNone/>
            </a:pPr>
            <a:r>
              <a:rPr lang="en-US" altLang="zh-TW" dirty="0" err="1">
                <a:latin typeface="Times New Roman" panose="02020603050405020304" pitchFamily="18" charset="0"/>
                <a:cs typeface="Times New Roman" panose="02020603050405020304" pitchFamily="18" charset="0"/>
              </a:rPr>
              <a:t>LGPal</a:t>
            </a:r>
            <a:r>
              <a:rPr lang="en-US" altLang="zh-TW" dirty="0">
                <a:latin typeface="Times New Roman" panose="02020603050405020304" pitchFamily="18" charset="0"/>
                <a:cs typeface="Times New Roman" panose="02020603050405020304" pitchFamily="18" charset="0"/>
              </a:rPr>
              <a:t>(7,8)=3        </a:t>
            </a:r>
            <a:r>
              <a:rPr lang="en-US" altLang="zh-TW" dirty="0" err="1">
                <a:latin typeface="Times New Roman" panose="02020603050405020304" pitchFamily="18" charset="0"/>
                <a:cs typeface="Times New Roman" panose="02020603050405020304" pitchFamily="18" charset="0"/>
              </a:rPr>
              <a:t>LGPal</a:t>
            </a:r>
            <a:r>
              <a:rPr lang="en-US" altLang="zh-TW" dirty="0">
                <a:latin typeface="Times New Roman" panose="02020603050405020304" pitchFamily="18" charset="0"/>
                <a:cs typeface="Times New Roman" panose="02020603050405020304" pitchFamily="18" charset="0"/>
              </a:rPr>
              <a:t>(3,12) = 2 </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08A8B208-F810-4206-AF71-D12080D748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5904" y="3690257"/>
            <a:ext cx="7100191" cy="1443446"/>
          </a:xfrm>
          <a:prstGeom prst="rect">
            <a:avLst/>
          </a:prstGeom>
        </p:spPr>
      </p:pic>
    </p:spTree>
    <p:extLst>
      <p:ext uri="{BB962C8B-B14F-4D97-AF65-F5344CB8AC3E}">
        <p14:creationId xmlns:p14="http://schemas.microsoft.com/office/powerpoint/2010/main" val="2140346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79385F-FF0D-4D32-A414-D9947BFBE38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Computing Maximal Palindromes with Errors</a:t>
            </a:r>
            <a:endParaRPr lang="zh-TW" altLang="en-US" dirty="0"/>
          </a:p>
        </p:txBody>
      </p:sp>
      <p:sp>
        <p:nvSpPr>
          <p:cNvPr id="3" name="內容版面配置區 2">
            <a:extLst>
              <a:ext uri="{FF2B5EF4-FFF2-40B4-BE49-F238E27FC236}">
                <a16:creationId xmlns:a16="http://schemas.microsoft.com/office/drawing/2014/main" id="{0C39CCA6-AA04-4B8B-82C7-D829D71B7C9E}"/>
              </a:ext>
            </a:extLst>
          </p:cNvPr>
          <p:cNvSpPr>
            <a:spLocks noGrp="1"/>
          </p:cNvSpPr>
          <p:nvPr>
            <p:ph idx="1"/>
          </p:nvPr>
        </p:nvSpPr>
        <p:spPr/>
        <p:txBody>
          <a:bodyPr>
            <a:normAutofit/>
          </a:bodyPr>
          <a:lstStyle/>
          <a:p>
            <a:br>
              <a:rPr lang="en-US" altLang="zh-TW" sz="2400" dirty="0">
                <a:latin typeface="Times New Roman" panose="02020603050405020304" pitchFamily="18" charset="0"/>
                <a:cs typeface="Times New Roman" panose="02020603050405020304" pitchFamily="18" charset="0"/>
              </a:rPr>
            </a:br>
            <a:br>
              <a:rPr lang="en-US" altLang="zh-TW" sz="2400" dirty="0">
                <a:latin typeface="Times New Roman" panose="02020603050405020304" pitchFamily="18" charset="0"/>
                <a:cs typeface="Times New Roman" panose="02020603050405020304" pitchFamily="18" charset="0"/>
              </a:rPr>
            </a:br>
            <a:br>
              <a:rPr lang="en-US" altLang="zh-TW" sz="2400" dirty="0">
                <a:latin typeface="Times New Roman" panose="02020603050405020304" pitchFamily="18" charset="0"/>
                <a:cs typeface="Times New Roman" panose="02020603050405020304" pitchFamily="18" charset="0"/>
              </a:rPr>
            </a:br>
            <a:br>
              <a:rPr lang="en-US" altLang="zh-TW" sz="2400" dirty="0">
                <a:latin typeface="Times New Roman" panose="02020603050405020304" pitchFamily="18" charset="0"/>
                <a:cs typeface="Times New Roman" panose="02020603050405020304" pitchFamily="18" charset="0"/>
              </a:rPr>
            </a:br>
            <a:br>
              <a:rPr lang="en-US" altLang="zh-TW" sz="2400" dirty="0">
                <a:latin typeface="Times New Roman" panose="02020603050405020304" pitchFamily="18" charset="0"/>
                <a:cs typeface="Times New Roman" panose="02020603050405020304" pitchFamily="18" charset="0"/>
              </a:rPr>
            </a:br>
            <a:br>
              <a:rPr lang="en-US" altLang="zh-TW" sz="2400" dirty="0">
                <a:latin typeface="Times New Roman" panose="02020603050405020304" pitchFamily="18" charset="0"/>
                <a:cs typeface="Times New Roman" panose="02020603050405020304" pitchFamily="18" charset="0"/>
              </a:rPr>
            </a:br>
            <a:br>
              <a:rPr lang="en-US" altLang="zh-TW" sz="2400" dirty="0">
                <a:latin typeface="Times New Roman" panose="02020603050405020304" pitchFamily="18" charset="0"/>
                <a:cs typeface="Times New Roman" panose="02020603050405020304" pitchFamily="18" charset="0"/>
              </a:rPr>
            </a:br>
            <a:br>
              <a:rPr lang="en-US" altLang="zh-TW" sz="2400" dirty="0">
                <a:latin typeface="Times New Roman" panose="02020603050405020304" pitchFamily="18" charset="0"/>
                <a:cs typeface="Times New Roman" panose="02020603050405020304" pitchFamily="18" charset="0"/>
              </a:rPr>
            </a:br>
            <a:r>
              <a:rPr lang="en-US" altLang="zh-TW" sz="1050" dirty="0">
                <a:latin typeface="Times New Roman" panose="02020603050405020304" pitchFamily="18" charset="0"/>
                <a:cs typeface="Times New Roman" panose="02020603050405020304" pitchFamily="18" charset="0"/>
              </a:rPr>
              <a:t> </a:t>
            </a:r>
            <a:br>
              <a:rPr lang="en-US" altLang="zh-TW" sz="1050" dirty="0">
                <a:latin typeface="Times New Roman" panose="02020603050405020304" pitchFamily="18" charset="0"/>
                <a:cs typeface="Times New Roman" panose="02020603050405020304" pitchFamily="18" charset="0"/>
              </a:rPr>
            </a:br>
            <a:br>
              <a:rPr lang="en-US" altLang="zh-TW" sz="2400" dirty="0">
                <a:latin typeface="Times New Roman" panose="02020603050405020304" pitchFamily="18" charset="0"/>
                <a:cs typeface="Times New Roman" panose="02020603050405020304" pitchFamily="18" charset="0"/>
              </a:rPr>
            </a:br>
            <a:r>
              <a:rPr lang="en-US" altLang="zh-TW" sz="2000" dirty="0">
                <a:latin typeface="Times New Roman" panose="02020603050405020304" pitchFamily="18" charset="0"/>
                <a:cs typeface="Times New Roman" panose="02020603050405020304" pitchFamily="18" charset="0"/>
              </a:rPr>
              <a:t>            deletion</a:t>
            </a:r>
            <a:br>
              <a:rPr lang="en-US" altLang="zh-TW" sz="2000" dirty="0">
                <a:latin typeface="Times New Roman" panose="02020603050405020304" pitchFamily="18" charset="0"/>
                <a:cs typeface="Times New Roman" panose="02020603050405020304" pitchFamily="18" charset="0"/>
              </a:rPr>
            </a:b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deletion</a:t>
            </a:r>
            <a:br>
              <a:rPr lang="en-US" altLang="zh-TW" sz="2000" dirty="0">
                <a:latin typeface="Times New Roman" panose="02020603050405020304" pitchFamily="18" charset="0"/>
                <a:cs typeface="Times New Roman" panose="02020603050405020304" pitchFamily="18" charset="0"/>
              </a:rPr>
            </a:br>
            <a:r>
              <a:rPr lang="en-US" altLang="zh-TW" sz="2000" dirty="0">
                <a:latin typeface="Times New Roman" panose="02020603050405020304" pitchFamily="18" charset="0"/>
                <a:cs typeface="Times New Roman" panose="02020603050405020304" pitchFamily="18" charset="0"/>
              </a:rPr>
              <a:t>      substitution</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993C7B87-E15B-4424-86DD-8D533D40DE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2686" y="1995631"/>
            <a:ext cx="8569219" cy="2566416"/>
          </a:xfrm>
          <a:prstGeom prst="rect">
            <a:avLst/>
          </a:prstGeom>
        </p:spPr>
      </p:pic>
      <p:pic>
        <p:nvPicPr>
          <p:cNvPr id="6" name="圖片 5">
            <a:extLst>
              <a:ext uri="{FF2B5EF4-FFF2-40B4-BE49-F238E27FC236}">
                <a16:creationId xmlns:a16="http://schemas.microsoft.com/office/drawing/2014/main" id="{9611CC2E-BDD7-437B-B318-ABC8AF437C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1307" y="4986566"/>
            <a:ext cx="6431975" cy="933827"/>
          </a:xfrm>
          <a:prstGeom prst="rect">
            <a:avLst/>
          </a:prstGeom>
        </p:spPr>
      </p:pic>
    </p:spTree>
    <p:extLst>
      <p:ext uri="{BB962C8B-B14F-4D97-AF65-F5344CB8AC3E}">
        <p14:creationId xmlns:p14="http://schemas.microsoft.com/office/powerpoint/2010/main" val="4123500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7B17F2-1DAF-43EF-BE86-C7AB53ECB20D}"/>
              </a:ext>
            </a:extLst>
          </p:cNvPr>
          <p:cNvSpPr>
            <a:spLocks noGrp="1"/>
          </p:cNvSpPr>
          <p:nvPr>
            <p:ph type="title"/>
          </p:nvPr>
        </p:nvSpPr>
        <p:spPr>
          <a:xfrm>
            <a:off x="838200" y="365125"/>
            <a:ext cx="11120438" cy="1325563"/>
          </a:xfrm>
        </p:spPr>
        <p:txBody>
          <a:bodyPr>
            <a:normAutofit/>
          </a:bodyPr>
          <a:lstStyle/>
          <a:p>
            <a:r>
              <a:rPr lang="en-US" altLang="zh-TW" sz="3600" dirty="0">
                <a:latin typeface="Times New Roman" panose="02020603050405020304" pitchFamily="18" charset="0"/>
                <a:cs typeface="Times New Roman" panose="02020603050405020304" pitchFamily="18" charset="0"/>
              </a:rPr>
              <a:t>Maximal Palindromic Decomposition with Gaps and Errors</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05CE26A-A6F2-4299-8611-3CAB4FFAEC33}"/>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Ex:  m=5, δ=1, g=2</a:t>
            </a:r>
            <a:endParaRPr lang="zh-TW" altLang="en-US" dirty="0"/>
          </a:p>
        </p:txBody>
      </p:sp>
      <p:pic>
        <p:nvPicPr>
          <p:cNvPr id="5" name="圖片 4">
            <a:extLst>
              <a:ext uri="{FF2B5EF4-FFF2-40B4-BE49-F238E27FC236}">
                <a16:creationId xmlns:a16="http://schemas.microsoft.com/office/drawing/2014/main" id="{DC9A15A6-D5F6-4356-9FAC-575D949640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4655" y="1690688"/>
            <a:ext cx="5364743" cy="943356"/>
          </a:xfrm>
          <a:prstGeom prst="rect">
            <a:avLst/>
          </a:prstGeom>
        </p:spPr>
      </p:pic>
      <p:pic>
        <p:nvPicPr>
          <p:cNvPr id="12" name="圖片 11">
            <a:extLst>
              <a:ext uri="{FF2B5EF4-FFF2-40B4-BE49-F238E27FC236}">
                <a16:creationId xmlns:a16="http://schemas.microsoft.com/office/drawing/2014/main" id="{74CB67E0-376A-488D-9B74-3428741C7D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2404" y="2806385"/>
            <a:ext cx="7100191" cy="1443446"/>
          </a:xfrm>
          <a:prstGeom prst="rect">
            <a:avLst/>
          </a:prstGeom>
        </p:spPr>
      </p:pic>
      <p:graphicFrame>
        <p:nvGraphicFramePr>
          <p:cNvPr id="13" name="表格 12">
            <a:extLst>
              <a:ext uri="{FF2B5EF4-FFF2-40B4-BE49-F238E27FC236}">
                <a16:creationId xmlns:a16="http://schemas.microsoft.com/office/drawing/2014/main" id="{ECA8034E-78D5-4A6C-8A03-C9191722E1DD}"/>
              </a:ext>
            </a:extLst>
          </p:cNvPr>
          <p:cNvGraphicFramePr>
            <a:graphicFrameLocks noGrp="1"/>
          </p:cNvGraphicFramePr>
          <p:nvPr>
            <p:extLst>
              <p:ext uri="{D42A27DB-BD31-4B8C-83A1-F6EECF244321}">
                <p14:modId xmlns:p14="http://schemas.microsoft.com/office/powerpoint/2010/main" val="1085863073"/>
              </p:ext>
            </p:extLst>
          </p:nvPr>
        </p:nvGraphicFramePr>
        <p:xfrm>
          <a:off x="2891921" y="4317299"/>
          <a:ext cx="6664988" cy="1112520"/>
        </p:xfrm>
        <a:graphic>
          <a:graphicData uri="http://schemas.openxmlformats.org/drawingml/2006/table">
            <a:tbl>
              <a:tblPr firstRow="1" bandRow="1">
                <a:tableStyleId>{5C22544A-7EE6-4342-B048-85BDC9FD1C3A}</a:tableStyleId>
              </a:tblPr>
              <a:tblGrid>
                <a:gridCol w="533119">
                  <a:extLst>
                    <a:ext uri="{9D8B030D-6E8A-4147-A177-3AD203B41FA5}">
                      <a16:colId xmlns:a16="http://schemas.microsoft.com/office/drawing/2014/main" val="569653733"/>
                    </a:ext>
                  </a:extLst>
                </a:gridCol>
                <a:gridCol w="519230">
                  <a:extLst>
                    <a:ext uri="{9D8B030D-6E8A-4147-A177-3AD203B41FA5}">
                      <a16:colId xmlns:a16="http://schemas.microsoft.com/office/drawing/2014/main" val="1742352209"/>
                    </a:ext>
                  </a:extLst>
                </a:gridCol>
                <a:gridCol w="519229">
                  <a:extLst>
                    <a:ext uri="{9D8B030D-6E8A-4147-A177-3AD203B41FA5}">
                      <a16:colId xmlns:a16="http://schemas.microsoft.com/office/drawing/2014/main" val="3730496410"/>
                    </a:ext>
                  </a:extLst>
                </a:gridCol>
                <a:gridCol w="488188">
                  <a:extLst>
                    <a:ext uri="{9D8B030D-6E8A-4147-A177-3AD203B41FA5}">
                      <a16:colId xmlns:a16="http://schemas.microsoft.com/office/drawing/2014/main" val="983478903"/>
                    </a:ext>
                  </a:extLst>
                </a:gridCol>
                <a:gridCol w="550269">
                  <a:extLst>
                    <a:ext uri="{9D8B030D-6E8A-4147-A177-3AD203B41FA5}">
                      <a16:colId xmlns:a16="http://schemas.microsoft.com/office/drawing/2014/main" val="1845809368"/>
                    </a:ext>
                  </a:extLst>
                </a:gridCol>
                <a:gridCol w="519230">
                  <a:extLst>
                    <a:ext uri="{9D8B030D-6E8A-4147-A177-3AD203B41FA5}">
                      <a16:colId xmlns:a16="http://schemas.microsoft.com/office/drawing/2014/main" val="1764911980"/>
                    </a:ext>
                  </a:extLst>
                </a:gridCol>
                <a:gridCol w="519230">
                  <a:extLst>
                    <a:ext uri="{9D8B030D-6E8A-4147-A177-3AD203B41FA5}">
                      <a16:colId xmlns:a16="http://schemas.microsoft.com/office/drawing/2014/main" val="1572490579"/>
                    </a:ext>
                  </a:extLst>
                </a:gridCol>
                <a:gridCol w="519230">
                  <a:extLst>
                    <a:ext uri="{9D8B030D-6E8A-4147-A177-3AD203B41FA5}">
                      <a16:colId xmlns:a16="http://schemas.microsoft.com/office/drawing/2014/main" val="2864292292"/>
                    </a:ext>
                  </a:extLst>
                </a:gridCol>
                <a:gridCol w="2497263">
                  <a:extLst>
                    <a:ext uri="{9D8B030D-6E8A-4147-A177-3AD203B41FA5}">
                      <a16:colId xmlns:a16="http://schemas.microsoft.com/office/drawing/2014/main" val="3432609718"/>
                    </a:ext>
                  </a:extLst>
                </a:gridCol>
              </a:tblGrid>
              <a:tr h="370840">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9592774"/>
                  </a:ext>
                </a:extLst>
              </a:tr>
              <a:tr h="370840">
                <a:tc>
                  <a:txBody>
                    <a:bodyPr/>
                    <a:lstStyle/>
                    <a:p>
                      <a:pPr algn="ctr"/>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dirty="0"/>
                        <a: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2413979"/>
                  </a:ext>
                </a:extLst>
              </a:tr>
              <a:tr h="370840">
                <a:tc>
                  <a:txBody>
                    <a:bodyPr/>
                    <a:lstStyle/>
                    <a:p>
                      <a:pPr algn="ctr"/>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dirty="0"/>
                        <a: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2070904"/>
                  </a:ext>
                </a:extLst>
              </a:tr>
            </a:tbl>
          </a:graphicData>
        </a:graphic>
      </p:graphicFrame>
      <p:sp>
        <p:nvSpPr>
          <p:cNvPr id="14" name="箭號: 向下 13">
            <a:extLst>
              <a:ext uri="{FF2B5EF4-FFF2-40B4-BE49-F238E27FC236}">
                <a16:creationId xmlns:a16="http://schemas.microsoft.com/office/drawing/2014/main" id="{62C0C0B1-CC48-4881-ABA4-C13A40E31296}"/>
              </a:ext>
            </a:extLst>
          </p:cNvPr>
          <p:cNvSpPr/>
          <p:nvPr/>
        </p:nvSpPr>
        <p:spPr>
          <a:xfrm>
            <a:off x="4586570" y="3323918"/>
            <a:ext cx="176169" cy="1824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箭號: 向下 14">
            <a:extLst>
              <a:ext uri="{FF2B5EF4-FFF2-40B4-BE49-F238E27FC236}">
                <a16:creationId xmlns:a16="http://schemas.microsoft.com/office/drawing/2014/main" id="{93B30D0A-1293-424B-94D3-5D2D5E28960A}"/>
              </a:ext>
            </a:extLst>
          </p:cNvPr>
          <p:cNvSpPr/>
          <p:nvPr/>
        </p:nvSpPr>
        <p:spPr>
          <a:xfrm>
            <a:off x="5087892" y="3320095"/>
            <a:ext cx="176169" cy="1824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下 15">
            <a:extLst>
              <a:ext uri="{FF2B5EF4-FFF2-40B4-BE49-F238E27FC236}">
                <a16:creationId xmlns:a16="http://schemas.microsoft.com/office/drawing/2014/main" id="{58B2DB8C-0B4A-481E-BE32-EF831A1E87A5}"/>
              </a:ext>
            </a:extLst>
          </p:cNvPr>
          <p:cNvSpPr/>
          <p:nvPr/>
        </p:nvSpPr>
        <p:spPr>
          <a:xfrm>
            <a:off x="6103025" y="3320094"/>
            <a:ext cx="176169" cy="1824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箭號: 向下 16">
            <a:extLst>
              <a:ext uri="{FF2B5EF4-FFF2-40B4-BE49-F238E27FC236}">
                <a16:creationId xmlns:a16="http://schemas.microsoft.com/office/drawing/2014/main" id="{E360F539-74DD-4CC3-9F3C-A9EB93C47017}"/>
              </a:ext>
            </a:extLst>
          </p:cNvPr>
          <p:cNvSpPr/>
          <p:nvPr/>
        </p:nvSpPr>
        <p:spPr>
          <a:xfrm>
            <a:off x="6396861" y="3320094"/>
            <a:ext cx="176169" cy="1824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下 17">
            <a:extLst>
              <a:ext uri="{FF2B5EF4-FFF2-40B4-BE49-F238E27FC236}">
                <a16:creationId xmlns:a16="http://schemas.microsoft.com/office/drawing/2014/main" id="{D986CB4C-7067-48D2-BD1E-930670AE6981}"/>
              </a:ext>
            </a:extLst>
          </p:cNvPr>
          <p:cNvSpPr/>
          <p:nvPr/>
        </p:nvSpPr>
        <p:spPr>
          <a:xfrm>
            <a:off x="6653885" y="3320875"/>
            <a:ext cx="176169" cy="1824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0" name="圖片 19">
            <a:extLst>
              <a:ext uri="{FF2B5EF4-FFF2-40B4-BE49-F238E27FC236}">
                <a16:creationId xmlns:a16="http://schemas.microsoft.com/office/drawing/2014/main" id="{00ECB8CD-B3DF-4C24-B7DF-7628BAB447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3268" y="4405441"/>
            <a:ext cx="295394" cy="209635"/>
          </a:xfrm>
          <a:prstGeom prst="rect">
            <a:avLst/>
          </a:prstGeom>
        </p:spPr>
      </p:pic>
      <p:pic>
        <p:nvPicPr>
          <p:cNvPr id="21" name="圖片 20">
            <a:extLst>
              <a:ext uri="{FF2B5EF4-FFF2-40B4-BE49-F238E27FC236}">
                <a16:creationId xmlns:a16="http://schemas.microsoft.com/office/drawing/2014/main" id="{D56E5163-4E0C-464D-8168-D9569B2713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6349" y="4405441"/>
            <a:ext cx="295394" cy="209635"/>
          </a:xfrm>
          <a:prstGeom prst="rect">
            <a:avLst/>
          </a:prstGeom>
        </p:spPr>
      </p:pic>
      <p:pic>
        <p:nvPicPr>
          <p:cNvPr id="23" name="圖片 22">
            <a:extLst>
              <a:ext uri="{FF2B5EF4-FFF2-40B4-BE49-F238E27FC236}">
                <a16:creationId xmlns:a16="http://schemas.microsoft.com/office/drawing/2014/main" id="{9D87D5AD-BE73-479F-95CB-712051CC2C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4295" y="4405441"/>
            <a:ext cx="295394" cy="209635"/>
          </a:xfrm>
          <a:prstGeom prst="rect">
            <a:avLst/>
          </a:prstGeom>
        </p:spPr>
      </p:pic>
    </p:spTree>
    <p:extLst>
      <p:ext uri="{BB962C8B-B14F-4D97-AF65-F5344CB8AC3E}">
        <p14:creationId xmlns:p14="http://schemas.microsoft.com/office/powerpoint/2010/main" val="3974732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7E0D2B-A170-48FF-A156-EF743FCEC38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Open problem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E052213-A0A4-4EED-9350-6ED19C6FC8AE}"/>
              </a:ext>
            </a:extLst>
          </p:cNvPr>
          <p:cNvSpPr>
            <a:spLocks noGrp="1"/>
          </p:cNvSpPr>
          <p:nvPr>
            <p:ph idx="1"/>
          </p:nvPr>
        </p:nvSpPr>
        <p:spPr/>
        <p:txBody>
          <a:bodyPr/>
          <a:lstStyle/>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Efficiently compute decompositions into palindromes that may contain errors and are not necessarily maximal.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26528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2587</TotalTime>
  <Words>554</Words>
  <Application>Microsoft Office PowerPoint</Application>
  <PresentationFormat>寬螢幕</PresentationFormat>
  <Paragraphs>132</Paragraphs>
  <Slides>15</Slides>
  <Notes>3</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Cambria Math</vt:lpstr>
      <vt:lpstr>Times New Roman</vt:lpstr>
      <vt:lpstr>Office 佈景主題</vt:lpstr>
      <vt:lpstr>Palindromic Decompositions with Gaps and Errors</vt:lpstr>
      <vt:lpstr>Abstract(1/2)</vt:lpstr>
      <vt:lpstr>Abstract(2/2)</vt:lpstr>
      <vt:lpstr>Notation and Terminology</vt:lpstr>
      <vt:lpstr>Computational problems</vt:lpstr>
      <vt:lpstr>Period (Δ)</vt:lpstr>
      <vt:lpstr>Grouping the suffix palindromes by periods</vt:lpstr>
      <vt:lpstr>Update G_j</vt:lpstr>
      <vt:lpstr>Modify triple depend on m (palindrome’s length)</vt:lpstr>
      <vt:lpstr>DP formula</vt:lpstr>
      <vt:lpstr>Computational problems</vt:lpstr>
      <vt:lpstr>Longest Gapped Palindrome (LGPal) Queries</vt:lpstr>
      <vt:lpstr>Computing Maximal Palindromes with Errors</vt:lpstr>
      <vt:lpstr>Maximal Palindromic Decomposition with Gaps and Errors</vt:lpstr>
      <vt:lpstr>Open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冠霖</dc:creator>
  <cp:lastModifiedBy>冠霖</cp:lastModifiedBy>
  <cp:revision>40</cp:revision>
  <dcterms:created xsi:type="dcterms:W3CDTF">2019-02-17T13:02:40Z</dcterms:created>
  <dcterms:modified xsi:type="dcterms:W3CDTF">2019-02-19T10:26:25Z</dcterms:modified>
</cp:coreProperties>
</file>