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32" r:id="rId3"/>
    <p:sldId id="257" r:id="rId4"/>
    <p:sldId id="328" r:id="rId5"/>
    <p:sldId id="330" r:id="rId6"/>
    <p:sldId id="329" r:id="rId7"/>
    <p:sldId id="327" r:id="rId8"/>
    <p:sldId id="331" r:id="rId9"/>
    <p:sldId id="338" r:id="rId10"/>
    <p:sldId id="339" r:id="rId11"/>
    <p:sldId id="340" r:id="rId12"/>
    <p:sldId id="336" r:id="rId13"/>
    <p:sldId id="334" r:id="rId14"/>
    <p:sldId id="335" r:id="rId15"/>
    <p:sldId id="341"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95048" autoAdjust="0"/>
  </p:normalViewPr>
  <p:slideViewPr>
    <p:cSldViewPr snapToGrid="0">
      <p:cViewPr varScale="1">
        <p:scale>
          <a:sx n="60" d="100"/>
          <a:sy n="60" d="100"/>
        </p:scale>
        <p:origin x="7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2019/2/19</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196400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680660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3979152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1951479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3714762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2600951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11</a:t>
            </a:fld>
            <a:endParaRPr lang="zh-TW" altLang="en-US"/>
          </a:p>
        </p:txBody>
      </p:sp>
    </p:spTree>
    <p:extLst>
      <p:ext uri="{BB962C8B-B14F-4D97-AF65-F5344CB8AC3E}">
        <p14:creationId xmlns:p14="http://schemas.microsoft.com/office/powerpoint/2010/main" val="241680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12</a:t>
            </a:fld>
            <a:endParaRPr lang="zh-TW" altLang="en-US"/>
          </a:p>
        </p:txBody>
      </p:sp>
    </p:spTree>
    <p:extLst>
      <p:ext uri="{BB962C8B-B14F-4D97-AF65-F5344CB8AC3E}">
        <p14:creationId xmlns:p14="http://schemas.microsoft.com/office/powerpoint/2010/main" val="124224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三角形</a:t>
                </a:r>
                <a:r>
                  <a:rPr lang="en-US" altLang="zh-TW" dirty="0"/>
                  <a:t>=WINDOW</a:t>
                </a:r>
                <a:r>
                  <a:rPr lang="zh-TW" altLang="en-US" dirty="0"/>
                  <a:t> </a:t>
                </a:r>
                <a:r>
                  <a:rPr lang="en-US" altLang="zh-TW" dirty="0"/>
                  <a:t>SIZE</a:t>
                </a:r>
                <a:r>
                  <a:rPr lang="zh-TW" altLang="en-US" dirty="0"/>
                  <a:t>，</a:t>
                </a:r>
                <a:r>
                  <a:rPr lang="en-US" altLang="zh-TW" dirty="0"/>
                  <a:t>&lt;&gt;</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13</a:t>
            </a:fld>
            <a:endParaRPr lang="zh-TW" altLang="en-US"/>
          </a:p>
        </p:txBody>
      </p:sp>
    </p:spTree>
    <p:extLst>
      <p:ext uri="{BB962C8B-B14F-4D97-AF65-F5344CB8AC3E}">
        <p14:creationId xmlns:p14="http://schemas.microsoft.com/office/powerpoint/2010/main" val="3257874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14</a:t>
            </a:fld>
            <a:endParaRPr lang="zh-TW" altLang="en-US"/>
          </a:p>
        </p:txBody>
      </p:sp>
    </p:spTree>
    <p:extLst>
      <p:ext uri="{BB962C8B-B14F-4D97-AF65-F5344CB8AC3E}">
        <p14:creationId xmlns:p14="http://schemas.microsoft.com/office/powerpoint/2010/main" val="2548003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15</a:t>
            </a:fld>
            <a:endParaRPr lang="zh-TW" altLang="en-US"/>
          </a:p>
        </p:txBody>
      </p:sp>
    </p:spTree>
    <p:extLst>
      <p:ext uri="{BB962C8B-B14F-4D97-AF65-F5344CB8AC3E}">
        <p14:creationId xmlns:p14="http://schemas.microsoft.com/office/powerpoint/2010/main" val="679931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9"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1"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1"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2019/2/19</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93749" y="449565"/>
            <a:ext cx="10604501" cy="2902356"/>
          </a:xfrm>
        </p:spPr>
        <p:txBody>
          <a:bodyPr>
            <a:noAutofit/>
          </a:bodyPr>
          <a:lstStyle/>
          <a:p>
            <a:r>
              <a:rPr lang="en-US" altLang="zh-TW" sz="4800" b="1" dirty="0" err="1" smtClean="0">
                <a:latin typeface="Times New Roman" panose="02020603050405020304" pitchFamily="18" charset="0"/>
                <a:cs typeface="Times New Roman" panose="02020603050405020304" pitchFamily="18" charset="0"/>
              </a:rPr>
              <a:t>CNNpred</a:t>
            </a:r>
            <a:r>
              <a:rPr lang="en-US" altLang="zh-TW" sz="4800" b="1" dirty="0" smtClean="0">
                <a:latin typeface="Times New Roman" panose="02020603050405020304" pitchFamily="18" charset="0"/>
                <a:cs typeface="Times New Roman" panose="02020603050405020304" pitchFamily="18" charset="0"/>
              </a:rPr>
              <a:t> </a:t>
            </a:r>
            <a:r>
              <a:rPr lang="en-US" altLang="zh-TW" sz="4800" b="1" dirty="0">
                <a:latin typeface="Times New Roman" panose="02020603050405020304" pitchFamily="18" charset="0"/>
                <a:cs typeface="Times New Roman" panose="02020603050405020304" pitchFamily="18" charset="0"/>
              </a:rPr>
              <a:t>CNN-based stock market prediction using several data sources</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3" y="3669771"/>
            <a:ext cx="8449735" cy="2719740"/>
          </a:xfrm>
        </p:spPr>
        <p:txBody>
          <a:bodyPr>
            <a:normAutofit/>
          </a:bodyPr>
          <a:lstStyle/>
          <a:p>
            <a:r>
              <a:rPr lang="en-US" altLang="zh-TW" dirty="0">
                <a:latin typeface="Times New Roman" panose="02020603050405020304" pitchFamily="18" charset="0"/>
                <a:cs typeface="Times New Roman" panose="02020603050405020304" pitchFamily="18" charset="0"/>
              </a:rPr>
              <a:t>Ehsan </a:t>
            </a:r>
            <a:r>
              <a:rPr lang="en-US" altLang="zh-TW" dirty="0" err="1">
                <a:latin typeface="Times New Roman" panose="02020603050405020304" pitchFamily="18" charset="0"/>
                <a:cs typeface="Times New Roman" panose="02020603050405020304" pitchFamily="18" charset="0"/>
              </a:rPr>
              <a:t>Hoseinzade</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Saman</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Haratizadeh</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arXiv:1810.08923v1, Oct 21, 2018</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Date:2019/2/19</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A4C340C-D2D5-4C58-9B98-4BE296F62985}"/>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xmlns="" id="{69C14C28-D25F-434D-8529-6FD27FDF79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900" y="-173751"/>
            <a:ext cx="11787975" cy="7031751"/>
          </a:xfrm>
        </p:spPr>
      </p:pic>
    </p:spTree>
    <p:extLst>
      <p:ext uri="{BB962C8B-B14F-4D97-AF65-F5344CB8AC3E}">
        <p14:creationId xmlns:p14="http://schemas.microsoft.com/office/powerpoint/2010/main" val="26617798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1" y="1825626"/>
            <a:ext cx="10515600" cy="4595055"/>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Feature extraction from financial data is one of the most important problems in market prediction domain for which many approaches have been suggested. Among other modern tools, convolutional neural networks (CNN) have recently been applied for automatic feature selection and market prediction. However, in experiments reported so far, less attention has been paid to the correlation among different markets as a possible source of information for extracting features. In this paper, we suggest a CNN-based framework with specially designed CNNs, that can be applied on a collection of data from a variety of sources, including different markets, in order to extract features for predicting the future of those markets.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1" y="1825626"/>
            <a:ext cx="10515600" cy="4595055"/>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The suggested framework has been applied for predicting the next days direction of movement for the indices of S&amp;P 500, NASDAQ, DJI, NYSE, and RUSSELL markets based on various sets of initial features. The evaluations show a significant improvement in predictions performance compared to the state of the art baseline algorithms.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54963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2D-CNNpred</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xmlns="" id="{B6385094-7FC4-4E8B-9897-440C44B74FA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8146" y="1879600"/>
            <a:ext cx="11655707" cy="3911575"/>
          </a:xfrm>
        </p:spPr>
      </p:pic>
    </p:spTree>
    <p:extLst>
      <p:ext uri="{BB962C8B-B14F-4D97-AF65-F5344CB8AC3E}">
        <p14:creationId xmlns:p14="http://schemas.microsoft.com/office/powerpoint/2010/main" val="33586223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Difference of 2D-CNNpred and 3D-CNNpred</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xmlns="" id="{DC1E98CE-8B53-42AC-8990-55D58783845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2666" y="1787478"/>
            <a:ext cx="10346667" cy="4705395"/>
          </a:xfrm>
        </p:spPr>
      </p:pic>
    </p:spTree>
    <p:extLst>
      <p:ext uri="{BB962C8B-B14F-4D97-AF65-F5344CB8AC3E}">
        <p14:creationId xmlns:p14="http://schemas.microsoft.com/office/powerpoint/2010/main" val="3533151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Difference of Filter</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3EB1CFB5-7D61-4E0A-B8AD-6ED7A407EE4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6003" y="1981200"/>
            <a:ext cx="11639994" cy="3869595"/>
          </a:xfrm>
        </p:spPr>
      </p:pic>
    </p:spTree>
    <p:extLst>
      <p:ext uri="{BB962C8B-B14F-4D97-AF65-F5344CB8AC3E}">
        <p14:creationId xmlns:p14="http://schemas.microsoft.com/office/powerpoint/2010/main" val="3597356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3D-Input</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xmlns="" id="{3E01AEB4-0A50-47FA-8423-906C88B09DD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14198" y="2041525"/>
            <a:ext cx="5420803" cy="4351338"/>
          </a:xfrm>
        </p:spPr>
      </p:pic>
    </p:spTree>
    <p:extLst>
      <p:ext uri="{BB962C8B-B14F-4D97-AF65-F5344CB8AC3E}">
        <p14:creationId xmlns:p14="http://schemas.microsoft.com/office/powerpoint/2010/main" val="16955758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Features</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72761383-9E1C-4159-9955-F6D5D0671BC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67507" y="1378084"/>
            <a:ext cx="9656986" cy="5305289"/>
          </a:xfrm>
        </p:spPr>
      </p:pic>
    </p:spTree>
    <p:extLst>
      <p:ext uri="{BB962C8B-B14F-4D97-AF65-F5344CB8AC3E}">
        <p14:creationId xmlns:p14="http://schemas.microsoft.com/office/powerpoint/2010/main" val="30214911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xmlns="" id="{D9EF24A2-57CC-4A4B-951F-4905D2C37A0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85757"/>
            <a:ext cx="10099198" cy="6286485"/>
          </a:xfrm>
        </p:spPr>
      </p:pic>
    </p:spTree>
    <p:extLst>
      <p:ext uri="{BB962C8B-B14F-4D97-AF65-F5344CB8AC3E}">
        <p14:creationId xmlns:p14="http://schemas.microsoft.com/office/powerpoint/2010/main" val="41004137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31205655-96E3-44EF-AD61-6345263B4F1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14036" y="179006"/>
            <a:ext cx="9563928" cy="6499987"/>
          </a:xfrm>
        </p:spPr>
      </p:pic>
    </p:spTree>
    <p:extLst>
      <p:ext uri="{BB962C8B-B14F-4D97-AF65-F5344CB8AC3E}">
        <p14:creationId xmlns:p14="http://schemas.microsoft.com/office/powerpoint/2010/main" val="28766390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Markets</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7">
            <a:extLst>
              <a:ext uri="{FF2B5EF4-FFF2-40B4-BE49-F238E27FC236}">
                <a16:creationId xmlns:a16="http://schemas.microsoft.com/office/drawing/2014/main" xmlns="" id="{9570FBEF-7F42-444A-BEF1-A6535ADFED5E}"/>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Jan 2010 to Nov 2017 (60% training, 20% validation, and 20% testing)</a:t>
            </a:r>
            <a:endParaRPr lang="zh-TW" altLang="en-US"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xmlns="" id="{67C5BD7C-CCAA-43EC-A40E-BB4220D84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00" y="2628494"/>
            <a:ext cx="10896600" cy="2745600"/>
          </a:xfrm>
          <a:prstGeom prst="rect">
            <a:avLst/>
          </a:prstGeom>
        </p:spPr>
      </p:pic>
    </p:spTree>
    <p:extLst>
      <p:ext uri="{BB962C8B-B14F-4D97-AF65-F5344CB8AC3E}">
        <p14:creationId xmlns:p14="http://schemas.microsoft.com/office/powerpoint/2010/main" val="13547230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3D-Convolution</a:t>
            </a:r>
            <a:endParaRPr lang="zh-TW" altLang="en-US" dirty="0">
              <a:latin typeface="Times New Roman" panose="02020603050405020304" pitchFamily="18" charset="0"/>
              <a:cs typeface="Times New Roman" panose="02020603050405020304" pitchFamily="18" charset="0"/>
            </a:endParaRPr>
          </a:p>
        </p:txBody>
      </p:sp>
      <p:pic>
        <p:nvPicPr>
          <p:cNvPr id="8" name="內容版面配置區 7">
            <a:extLst>
              <a:ext uri="{FF2B5EF4-FFF2-40B4-BE49-F238E27FC236}">
                <a16:creationId xmlns:a16="http://schemas.microsoft.com/office/drawing/2014/main" xmlns="" id="{A6EE84D1-336E-4D79-BAC0-4EEA3D47321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92442" y="1624227"/>
            <a:ext cx="9207116" cy="4868646"/>
          </a:xfrm>
        </p:spPr>
      </p:pic>
    </p:spTree>
    <p:extLst>
      <p:ext uri="{BB962C8B-B14F-4D97-AF65-F5344CB8AC3E}">
        <p14:creationId xmlns:p14="http://schemas.microsoft.com/office/powerpoint/2010/main" val="6505596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3D-CNNpred Model</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xmlns="" id="{7CF8A64F-0DD9-4236-B063-0C3A8FB9AF5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1627" y="2032000"/>
            <a:ext cx="11328745" cy="3674820"/>
          </a:xfrm>
        </p:spPr>
      </p:pic>
    </p:spTree>
    <p:extLst>
      <p:ext uri="{BB962C8B-B14F-4D97-AF65-F5344CB8AC3E}">
        <p14:creationId xmlns:p14="http://schemas.microsoft.com/office/powerpoint/2010/main" val="29439820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 Result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zh-TW" altLang="en-US" dirty="0">
              <a:latin typeface="Times New Roman" panose="02020603050405020304" pitchFamily="18" charset="0"/>
              <a:cs typeface="Times New Roman" panose="02020603050405020304" pitchFamily="18" charset="0"/>
            </a:endParaRPr>
          </a:p>
        </p:txBody>
      </p:sp>
      <p:pic>
        <p:nvPicPr>
          <p:cNvPr id="5" name="內容版面配置區 3">
            <a:extLst>
              <a:ext uri="{FF2B5EF4-FFF2-40B4-BE49-F238E27FC236}">
                <a16:creationId xmlns:a16="http://schemas.microsoft.com/office/drawing/2014/main" xmlns="" id="{A28EE672-B33C-48F0-8875-9C3CDEFFB0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9431" y="1480631"/>
            <a:ext cx="7972927" cy="5108555"/>
          </a:xfrm>
          <a:prstGeom prst="rect">
            <a:avLst/>
          </a:prstGeom>
        </p:spPr>
      </p:pic>
    </p:spTree>
    <p:extLst>
      <p:ext uri="{BB962C8B-B14F-4D97-AF65-F5344CB8AC3E}">
        <p14:creationId xmlns:p14="http://schemas.microsoft.com/office/powerpoint/2010/main" val="17584987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19583</TotalTime>
  <Words>261</Words>
  <Application>Microsoft Office PowerPoint</Application>
  <PresentationFormat>寬螢幕</PresentationFormat>
  <Paragraphs>32</Paragraphs>
  <Slides>15</Slides>
  <Notes>12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新細明體</vt:lpstr>
      <vt:lpstr>Arial</vt:lpstr>
      <vt:lpstr>Calibri</vt:lpstr>
      <vt:lpstr>Calibri Light</vt:lpstr>
      <vt:lpstr>Times New Roman</vt:lpstr>
      <vt:lpstr>Office 佈景主題</vt:lpstr>
      <vt:lpstr>CNNpred CNN-based stock market prediction using several data sources</vt:lpstr>
      <vt:lpstr>PowerPoint 簡報</vt:lpstr>
      <vt:lpstr>Abstract(1/2)</vt:lpstr>
      <vt:lpstr>Abstract(2/2)</vt:lpstr>
      <vt:lpstr>2D-CNNpred</vt:lpstr>
      <vt:lpstr>Difference of 2D-CNNpred and 3D-CNNpred</vt:lpstr>
      <vt:lpstr>Difference of Filter</vt:lpstr>
      <vt:lpstr>3D-Input</vt:lpstr>
      <vt:lpstr>Features</vt:lpstr>
      <vt:lpstr>PowerPoint 簡報</vt:lpstr>
      <vt:lpstr>PowerPoint 簡報</vt:lpstr>
      <vt:lpstr>Markets</vt:lpstr>
      <vt:lpstr>3D-Convolution</vt:lpstr>
      <vt:lpstr>3D-CNNpred Model</vt:lpstr>
      <vt:lpstr>Experiment Result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pplab-class</cp:lastModifiedBy>
  <cp:revision>689</cp:revision>
  <dcterms:created xsi:type="dcterms:W3CDTF">2017-09-07T05:36:32Z</dcterms:created>
  <dcterms:modified xsi:type="dcterms:W3CDTF">2019-02-19T11:23:50Z</dcterms:modified>
</cp:coreProperties>
</file>