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99" r:id="rId4"/>
    <p:sldId id="286" r:id="rId5"/>
    <p:sldId id="291" r:id="rId6"/>
    <p:sldId id="292" r:id="rId7"/>
    <p:sldId id="293" r:id="rId8"/>
    <p:sldId id="294" r:id="rId9"/>
    <p:sldId id="296" r:id="rId10"/>
    <p:sldId id="298"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吳篤承" initials="吳篤承" lastIdx="1" clrIdx="0">
    <p:extLst>
      <p:ext uri="{19B8F6BF-5375-455C-9EA6-DF929625EA0E}">
        <p15:presenceInfo xmlns:p15="http://schemas.microsoft.com/office/powerpoint/2012/main" userId="吳篤承"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867" autoAdjust="0"/>
  </p:normalViewPr>
  <p:slideViewPr>
    <p:cSldViewPr snapToGrid="0">
      <p:cViewPr varScale="1">
        <p:scale>
          <a:sx n="104" d="100"/>
          <a:sy n="104" d="100"/>
        </p:scale>
        <p:origin x="81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1-15T17:38:27.731" idx="1">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5392-FD07-4F5A-B34E-BA69B7FEBBF7}" type="datetimeFigureOut">
              <a:rPr lang="zh-TW" altLang="en-US" smtClean="0"/>
              <a:t>2019/1/14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45C38-81A3-45D4-9959-4EF52C41C41F}" type="slidenum">
              <a:rPr lang="zh-TW" altLang="en-US" smtClean="0"/>
              <a:t>‹#›</a:t>
            </a:fld>
            <a:endParaRPr lang="zh-TW" altLang="en-US"/>
          </a:p>
        </p:txBody>
      </p:sp>
    </p:spTree>
    <p:extLst>
      <p:ext uri="{BB962C8B-B14F-4D97-AF65-F5344CB8AC3E}">
        <p14:creationId xmlns:p14="http://schemas.microsoft.com/office/powerpoint/2010/main" val="97042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oo.gl/Fnghq9"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goo.gl/VEDFF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Bern: </a:t>
            </a:r>
            <a:r>
              <a:rPr lang="en-US" altLang="zh-TW" sz="1200" b="0" i="0" u="none" strike="noStrike" kern="1200" dirty="0">
                <a:solidFill>
                  <a:schemeClr val="tx1"/>
                </a:solidFill>
                <a:effectLst/>
                <a:latin typeface="+mn-lt"/>
                <a:ea typeface="+mn-ea"/>
                <a:cs typeface="+mn-cs"/>
                <a:hlinkClick r:id="rId3"/>
              </a:rPr>
              <a:t>https://goo.gl/Fnghq9</a:t>
            </a:r>
            <a:endParaRPr lang="en-US" altLang="zh-TW" sz="1200" b="0" i="0" u="none" strike="noStrike" kern="1200" dirty="0">
              <a:solidFill>
                <a:schemeClr val="tx1"/>
              </a:solidFill>
              <a:effectLst/>
              <a:latin typeface="+mn-lt"/>
              <a:ea typeface="+mn-ea"/>
              <a:cs typeface="+mn-cs"/>
            </a:endParaRPr>
          </a:p>
          <a:p>
            <a:r>
              <a:rPr lang="zh-TW" altLang="en-US" dirty="0"/>
              <a:t>阿姆斯特丹 </a:t>
            </a:r>
            <a:r>
              <a:rPr lang="en-US" altLang="zh-TW" sz="1200" b="0" i="0" u="none" strike="noStrike" kern="1200" dirty="0">
                <a:solidFill>
                  <a:schemeClr val="tx1"/>
                </a:solidFill>
                <a:effectLst/>
                <a:latin typeface="+mn-lt"/>
                <a:ea typeface="+mn-ea"/>
                <a:cs typeface="+mn-cs"/>
                <a:hlinkClick r:id="rId4"/>
              </a:rPr>
              <a:t>https://goo.gl/VEDFFT</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BC481E-5F61-46D0-A7EB-4B78E26B7A6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7ADD499-6C14-47C8-A9DB-F37A274DE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5F44A6D-44A4-4AC5-A338-742D4C0C8050}"/>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5" name="頁尾版面配置區 4">
            <a:extLst>
              <a:ext uri="{FF2B5EF4-FFF2-40B4-BE49-F238E27FC236}">
                <a16:creationId xmlns:a16="http://schemas.microsoft.com/office/drawing/2014/main" id="{2AA9A011-8B20-4955-AB02-9C883200A2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D080B5D-51A0-4CC6-B85E-EECDD9C7E01F}"/>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601324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791F4F-64C2-4448-AEA3-D8BAD00F9AC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9B64CD7-FFD4-4659-9A78-313C8279FA80}"/>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DB714A2-D640-4631-BD91-D40EA7B8E5E1}"/>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5" name="頁尾版面配置區 4">
            <a:extLst>
              <a:ext uri="{FF2B5EF4-FFF2-40B4-BE49-F238E27FC236}">
                <a16:creationId xmlns:a16="http://schemas.microsoft.com/office/drawing/2014/main" id="{E61BB7E8-FCCA-40E1-AF1F-1EC08D9808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F37759F-4DEC-4AF9-AAF6-96479F6F82D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8626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4AF7F4-DE89-4B56-ABEB-65BE6D95F37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0726E6B-7A4E-46A3-888F-3ECB35C601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92DC7246-3967-4A8C-89BD-498BAD9237DB}"/>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5" name="頁尾版面配置區 4">
            <a:extLst>
              <a:ext uri="{FF2B5EF4-FFF2-40B4-BE49-F238E27FC236}">
                <a16:creationId xmlns:a16="http://schemas.microsoft.com/office/drawing/2014/main" id="{D8A016C2-FC45-4CB6-AE5C-B5A2929ECF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643CBF-BA29-45F4-B839-D048AC73EB01}"/>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381054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3084E2-FF74-41D8-B7FC-96287DBEDD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30DA591-3941-4641-B043-A7B6860269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58EE040-2A49-41BF-9734-4F1C3C128D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8EECCAB-4CA7-44B9-B7B8-DC7FF51030C5}"/>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6" name="頁尾版面配置區 5">
            <a:extLst>
              <a:ext uri="{FF2B5EF4-FFF2-40B4-BE49-F238E27FC236}">
                <a16:creationId xmlns:a16="http://schemas.microsoft.com/office/drawing/2014/main" id="{31F1834D-5465-453A-8482-4EA306D63AA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EDEEDDC-2E51-41D6-BBEE-C8A5AEE90B3A}"/>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89062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891CDC-A371-490F-A9D6-C81ACFD420F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A6414E1-9AA2-4412-BC87-8B794947A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AF8352C1-957A-43C9-A792-1F703940CD5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189CE18-112C-4840-B26C-362D7C230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F7815674-7564-427E-B7B9-22E8C7F54041}"/>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891BEAE-F89E-4D1D-88D1-CE02EB287033}"/>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8" name="頁尾版面配置區 7">
            <a:extLst>
              <a:ext uri="{FF2B5EF4-FFF2-40B4-BE49-F238E27FC236}">
                <a16:creationId xmlns:a16="http://schemas.microsoft.com/office/drawing/2014/main" id="{001E6835-0CA2-4E4B-AA2A-F90C8E504D8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F7BAAA1-3B0C-467E-B178-590BB83B663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74528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DDB431-29CB-4FE4-9ADC-233E5E38B21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B26AC26-EB83-4AB6-9E2F-C8457BF27656}"/>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4" name="頁尾版面配置區 3">
            <a:extLst>
              <a:ext uri="{FF2B5EF4-FFF2-40B4-BE49-F238E27FC236}">
                <a16:creationId xmlns:a16="http://schemas.microsoft.com/office/drawing/2014/main" id="{DA0D9A16-24C2-4ED2-BD1F-40A62B4B57A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002A40A-1FF4-4F68-B9F8-CCFE6F0A61DE}"/>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53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C7FE82F-7353-4EB6-B115-3F4F883AB669}"/>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3" name="頁尾版面配置區 2">
            <a:extLst>
              <a:ext uri="{FF2B5EF4-FFF2-40B4-BE49-F238E27FC236}">
                <a16:creationId xmlns:a16="http://schemas.microsoft.com/office/drawing/2014/main" id="{6B99597B-30C7-4D52-AD5F-C858CCF870A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558E562-3645-444D-99EF-C224D8AC792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20250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5C8A51-2D2B-48E7-9226-50EB6A22516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A09DA89-D924-4187-86BB-0DE7413CB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A862BBB-0FF2-4F4D-A76D-1F88CE615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DE41C95-2028-4108-B014-39C5648C739C}"/>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6" name="頁尾版面配置區 5">
            <a:extLst>
              <a:ext uri="{FF2B5EF4-FFF2-40B4-BE49-F238E27FC236}">
                <a16:creationId xmlns:a16="http://schemas.microsoft.com/office/drawing/2014/main" id="{2BD103DD-D7EC-4F8E-92E4-F3DF3C87310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6E5469-9EC0-4784-86DB-CFF18B624D06}"/>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421705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BCCB00-EDDD-4021-BFA8-37AF232E09A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B62902F-3F9A-4799-B356-32DB2D43C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41559B7-9AC4-469F-8F42-A7EAC5608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3C1A871-1FB1-426F-B468-F433644ACEE0}"/>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6" name="頁尾版面配置區 5">
            <a:extLst>
              <a:ext uri="{FF2B5EF4-FFF2-40B4-BE49-F238E27FC236}">
                <a16:creationId xmlns:a16="http://schemas.microsoft.com/office/drawing/2014/main" id="{002851D3-4076-4BC5-9DED-D4BED17FEA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E57C28A-8893-4984-9E48-FEAF55A07CF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44359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29808D-8B18-4D63-9A86-7E543A995F5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C65D312-39D6-45B8-A43D-EE4F531E6F96}"/>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386A780-A433-4084-B504-8CA5C05D15EC}"/>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5" name="頁尾版面配置區 4">
            <a:extLst>
              <a:ext uri="{FF2B5EF4-FFF2-40B4-BE49-F238E27FC236}">
                <a16:creationId xmlns:a16="http://schemas.microsoft.com/office/drawing/2014/main" id="{8C6AE278-5465-4135-8119-D4FFB673E5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2B663D-8C1E-4440-923C-9B28783B6788}"/>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33291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0F0B3FC-BDB6-4C40-9E7A-DD251A121D6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1B69DA4-DCBA-402E-B952-6FEF25C77842}"/>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7B7CDCD-2B53-481E-994C-32B4B7592300}"/>
              </a:ext>
            </a:extLst>
          </p:cNvPr>
          <p:cNvSpPr>
            <a:spLocks noGrp="1"/>
          </p:cNvSpPr>
          <p:nvPr>
            <p:ph type="dt" sz="half" idx="10"/>
          </p:nvPr>
        </p:nvSpPr>
        <p:spPr/>
        <p:txBody>
          <a:bodyPr/>
          <a:lstStyle/>
          <a:p>
            <a:fld id="{41044C1A-2725-48AE-A699-EA8E8FEFF634}" type="datetimeFigureOut">
              <a:rPr lang="zh-TW" altLang="en-US" smtClean="0"/>
              <a:t>2019/1/14</a:t>
            </a:fld>
            <a:endParaRPr lang="zh-TW" altLang="en-US"/>
          </a:p>
        </p:txBody>
      </p:sp>
      <p:sp>
        <p:nvSpPr>
          <p:cNvPr id="5" name="頁尾版面配置區 4">
            <a:extLst>
              <a:ext uri="{FF2B5EF4-FFF2-40B4-BE49-F238E27FC236}">
                <a16:creationId xmlns:a16="http://schemas.microsoft.com/office/drawing/2014/main" id="{5DFB1F8A-6E1A-49FD-88DC-360B7C2663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6025657-A7D6-4D60-8308-3F54ECF10FA3}"/>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07697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F27AA62-E1D3-4683-9BB1-A8FDBF764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E70A9A6-A017-41A2-86FB-D99634A98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DA99EE0-24C1-43B5-8CD7-D94555000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44C1A-2725-48AE-A699-EA8E8FEFF634}" type="datetimeFigureOut">
              <a:rPr lang="zh-TW" altLang="en-US" smtClean="0"/>
              <a:t>2019/1/14</a:t>
            </a:fld>
            <a:endParaRPr lang="zh-TW" altLang="en-US"/>
          </a:p>
        </p:txBody>
      </p:sp>
      <p:sp>
        <p:nvSpPr>
          <p:cNvPr id="5" name="頁尾版面配置區 4">
            <a:extLst>
              <a:ext uri="{FF2B5EF4-FFF2-40B4-BE49-F238E27FC236}">
                <a16:creationId xmlns:a16="http://schemas.microsoft.com/office/drawing/2014/main" id="{6FDC897C-57B6-471F-85EC-BDD367E81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AE00D97-13C0-4E9B-84D0-9482705853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3078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1523999" y="1955167"/>
            <a:ext cx="9144000" cy="649317"/>
          </a:xfrm>
        </p:spPr>
        <p:txBody>
          <a:bodyPr>
            <a:noAutofit/>
          </a:bodyPr>
          <a:lstStyle/>
          <a:p>
            <a:r>
              <a:rPr lang="en-US" altLang="zh-TW" sz="4000" dirty="0">
                <a:latin typeface="Constantia" panose="02030602050306030303" pitchFamily="18" charset="0"/>
                <a:cs typeface="Leelawadee UI Semilight" panose="020B0402040204020203" pitchFamily="34" charset="-34"/>
              </a:rPr>
              <a:t>Food Image Segmentation for Dietary Assessment</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524000" y="3097182"/>
            <a:ext cx="9144000" cy="461665"/>
          </a:xfrm>
        </p:spPr>
        <p:txBody>
          <a:bodyPr>
            <a:normAutofit/>
          </a:bodyPr>
          <a:lstStyle/>
          <a:p>
            <a:r>
              <a:rPr lang="en-US" altLang="zh-TW" dirty="0">
                <a:latin typeface="Constantia" panose="02030602050306030303" pitchFamily="18" charset="0"/>
                <a:cs typeface="Leelawadee UI Semilight" panose="020B0402040204020203" pitchFamily="34" charset="-34"/>
              </a:rPr>
              <a:t>Joachim </a:t>
            </a:r>
            <a:r>
              <a:rPr lang="en-US" altLang="zh-TW" dirty="0" err="1">
                <a:latin typeface="Constantia" panose="02030602050306030303" pitchFamily="18" charset="0"/>
                <a:cs typeface="Leelawadee UI Semilight" panose="020B0402040204020203" pitchFamily="34" charset="-34"/>
              </a:rPr>
              <a:t>Dehais</a:t>
            </a:r>
            <a:r>
              <a:rPr lang="en-US" altLang="zh-TW" dirty="0">
                <a:latin typeface="Constantia" panose="02030602050306030303" pitchFamily="18" charset="0"/>
                <a:cs typeface="Leelawadee UI Semilight" panose="020B0402040204020203" pitchFamily="34" charset="-34"/>
              </a:rPr>
              <a:t>, </a:t>
            </a:r>
            <a:r>
              <a:rPr lang="en-US" altLang="zh-TW" dirty="0" err="1">
                <a:latin typeface="Constantia" panose="02030602050306030303" pitchFamily="18" charset="0"/>
                <a:cs typeface="Leelawadee UI Semilight" panose="020B0402040204020203" pitchFamily="34" charset="-34"/>
              </a:rPr>
              <a:t>Marios</a:t>
            </a:r>
            <a:r>
              <a:rPr lang="en-US" altLang="zh-TW" dirty="0">
                <a:latin typeface="Constantia" panose="02030602050306030303" pitchFamily="18" charset="0"/>
                <a:cs typeface="Leelawadee UI Semilight" panose="020B0402040204020203" pitchFamily="34" charset="-34"/>
              </a:rPr>
              <a:t> </a:t>
            </a:r>
            <a:r>
              <a:rPr lang="en-US" altLang="zh-TW" dirty="0" err="1">
                <a:latin typeface="Constantia" panose="02030602050306030303" pitchFamily="18" charset="0"/>
                <a:cs typeface="Leelawadee UI Semilight" panose="020B0402040204020203" pitchFamily="34" charset="-34"/>
              </a:rPr>
              <a:t>Anthimopoulos</a:t>
            </a:r>
            <a:r>
              <a:rPr lang="en-US" altLang="zh-TW" dirty="0">
                <a:latin typeface="Constantia" panose="02030602050306030303" pitchFamily="18" charset="0"/>
                <a:cs typeface="Leelawadee UI Semilight" panose="020B0402040204020203" pitchFamily="34" charset="-34"/>
              </a:rPr>
              <a:t>, </a:t>
            </a:r>
            <a:r>
              <a:rPr lang="en-US" altLang="zh-TW" dirty="0" err="1">
                <a:latin typeface="Constantia" panose="02030602050306030303" pitchFamily="18" charset="0"/>
                <a:cs typeface="Leelawadee UI Semilight" panose="020B0402040204020203" pitchFamily="34" charset="-34"/>
              </a:rPr>
              <a:t>Stavroula</a:t>
            </a:r>
            <a:r>
              <a:rPr lang="en-US" altLang="zh-TW" dirty="0">
                <a:latin typeface="Constantia" panose="02030602050306030303" pitchFamily="18" charset="0"/>
                <a:cs typeface="Leelawadee UI Semilight" panose="020B0402040204020203" pitchFamily="34" charset="-34"/>
              </a:rPr>
              <a:t> </a:t>
            </a:r>
            <a:r>
              <a:rPr lang="en-US" altLang="zh-TW" dirty="0" err="1">
                <a:latin typeface="Constantia" panose="02030602050306030303" pitchFamily="18" charset="0"/>
                <a:cs typeface="Leelawadee UI Semilight" panose="020B0402040204020203" pitchFamily="34" charset="-34"/>
              </a:rPr>
              <a:t>Mougiakakou</a:t>
            </a:r>
            <a:endParaRPr lang="zh-TW" altLang="en-US" dirty="0">
              <a:latin typeface="Constantia" panose="02030602050306030303" pitchFamily="18" charset="0"/>
              <a:cs typeface="Leelawadee UI Semilight" panose="020B0402040204020203" pitchFamily="34" charset="-34"/>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3048914" y="4083726"/>
            <a:ext cx="6864828" cy="461665"/>
          </a:xfrm>
          <a:prstGeom prst="rect">
            <a:avLst/>
          </a:prstGeom>
          <a:noFill/>
        </p:spPr>
        <p:txBody>
          <a:bodyPr wrap="none" rtlCol="0">
            <a:spAutoFit/>
          </a:bodyPr>
          <a:lstStyle/>
          <a:p>
            <a:r>
              <a:rPr lang="en-US" altLang="zh-TW" sz="2400" dirty="0">
                <a:latin typeface="Constantia" panose="02030602050306030303" pitchFamily="18" charset="0"/>
                <a:cs typeface="Leelawadee UI Semilight" panose="020B0402040204020203" pitchFamily="34" charset="-34"/>
              </a:rPr>
              <a:t>MADiMa’16, Oct 16 2016, Amsterdam, Netherlands</a:t>
            </a:r>
            <a:endParaRPr lang="zh-TW" altLang="en-US" sz="2400" dirty="0">
              <a:latin typeface="Constantia" panose="02030602050306030303" pitchFamily="18" charset="0"/>
              <a:cs typeface="Leelawadee UI Semilight" panose="020B0402040204020203" pitchFamily="34" charset="-34"/>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7868259" y="4944263"/>
            <a:ext cx="3305457" cy="461665"/>
          </a:xfrm>
          <a:prstGeom prst="rect">
            <a:avLst/>
          </a:prstGeom>
          <a:noFill/>
        </p:spPr>
        <p:txBody>
          <a:bodyPr wrap="none" rtlCol="0">
            <a:spAutoFit/>
          </a:bodyPr>
          <a:lstStyle/>
          <a:p>
            <a:r>
              <a:rPr lang="en-US" altLang="zh-TW" sz="2400" dirty="0">
                <a:latin typeface="Constantia" panose="02030602050306030303" pitchFamily="18" charset="0"/>
                <a:cs typeface="Leelawadee UI Semilight" panose="020B0402040204020203" pitchFamily="34" charset="-34"/>
              </a:rPr>
              <a:t>Speaker: Du-Cheng Wu</a:t>
            </a:r>
            <a:endParaRPr lang="zh-TW" altLang="en-US" sz="2400" dirty="0">
              <a:latin typeface="Constantia" panose="02030602050306030303" pitchFamily="18" charset="0"/>
              <a:cs typeface="Leelawadee UI Semilight" panose="020B0402040204020203" pitchFamily="34" charset="-34"/>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8880331" y="5479316"/>
            <a:ext cx="2199833" cy="461665"/>
          </a:xfrm>
          <a:prstGeom prst="rect">
            <a:avLst/>
          </a:prstGeom>
          <a:noFill/>
        </p:spPr>
        <p:txBody>
          <a:bodyPr wrap="none" rtlCol="0">
            <a:spAutoFit/>
          </a:bodyPr>
          <a:lstStyle/>
          <a:p>
            <a:r>
              <a:rPr lang="en-US" altLang="zh-TW" sz="2400" dirty="0">
                <a:latin typeface="Constantia" panose="02030602050306030303" pitchFamily="18" charset="0"/>
                <a:cs typeface="Leelawadee UI Semilight" panose="020B0402040204020203" pitchFamily="34" charset="-34"/>
              </a:rPr>
              <a:t>Date: 2019.01.15</a:t>
            </a:r>
            <a:endParaRPr lang="zh-TW" altLang="en-US" sz="2400" dirty="0">
              <a:latin typeface="Constantia" panose="02030602050306030303" pitchFamily="18" charset="0"/>
              <a:cs typeface="Leelawadee UI Semilight" panose="020B0402040204020203" pitchFamily="34" charset="-34"/>
            </a:endParaRPr>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err="1">
                <a:latin typeface="Constantia" panose="02030602050306030303" pitchFamily="18" charset="0"/>
                <a:cs typeface="Leelawadee UI" panose="020B0502040204020203" pitchFamily="34" charset="-34"/>
              </a:rPr>
              <a:t>Abstruct</a:t>
            </a:r>
            <a:r>
              <a:rPr lang="en-US" altLang="zh-TW" sz="3200" dirty="0">
                <a:latin typeface="Constantia" panose="02030602050306030303" pitchFamily="18" charset="0"/>
                <a:cs typeface="Leelawadee UI" panose="020B0502040204020203" pitchFamily="34" charset="-34"/>
              </a:rPr>
              <a:t>(1/2)</a:t>
            </a:r>
            <a:endParaRPr lang="zh-TW" altLang="en-US" sz="3200" dirty="0">
              <a:latin typeface="Constantia" panose="02030602050306030303" pitchFamily="18" charset="0"/>
              <a:cs typeface="Leelawadee UI" panose="020B0502040204020203" pitchFamily="34" charset="-34"/>
            </a:endParaRPr>
          </a:p>
        </p:txBody>
      </p:sp>
      <p:sp>
        <p:nvSpPr>
          <p:cNvPr id="3" name="內容版面配置區 2">
            <a:extLst>
              <a:ext uri="{FF2B5EF4-FFF2-40B4-BE49-F238E27FC236}">
                <a16:creationId xmlns:a16="http://schemas.microsoft.com/office/drawing/2014/main" id="{E39EF1E7-604C-4E09-A7D2-D4B34B0635E8}"/>
              </a:ext>
            </a:extLst>
          </p:cNvPr>
          <p:cNvSpPr>
            <a:spLocks noGrp="1"/>
          </p:cNvSpPr>
          <p:nvPr>
            <p:ph idx="1"/>
          </p:nvPr>
        </p:nvSpPr>
        <p:spPr>
          <a:xfrm>
            <a:off x="838200" y="1403639"/>
            <a:ext cx="10515600" cy="5089236"/>
          </a:xfrm>
        </p:spPr>
        <p:txBody>
          <a:bodyPr>
            <a:noAutofit/>
          </a:bodyPr>
          <a:lstStyle/>
          <a:p>
            <a:pPr marL="0" indent="0">
              <a:buNone/>
            </a:pPr>
            <a:r>
              <a:rPr lang="en-US" altLang="zh-TW" dirty="0">
                <a:latin typeface="Constantia" panose="02030602050306030303" pitchFamily="18" charset="0"/>
              </a:rPr>
              <a:t>The prevalence of diet-related chronic diseases strongly impacts global health and health services. Currently, it takes training and strong personal involvement to manage or treat these diseases. One way to assist with dietary assessment is through computer vision systems that can recognize foods and their portion sizes from images and output the corresponding nutritional information. When multiple food items may exist, a food segmentation stage should also be applied before recognition. In this study, we propose a method to detect and segment the food of already detected dishes in an image. The method combines region growing/merging techniques with a deep CNN-based food border detection. </a:t>
            </a:r>
            <a:endParaRPr lang="en-US" altLang="zh-TW" dirty="0">
              <a:latin typeface="Constantia" panose="02030602050306030303" pitchFamily="18" charset="0"/>
              <a:cs typeface="Leelawadee UI Semilight" panose="020B0402040204020203" pitchFamily="34" charset="-34"/>
            </a:endParaRPr>
          </a:p>
        </p:txBody>
      </p:sp>
    </p:spTree>
    <p:extLst>
      <p:ext uri="{BB962C8B-B14F-4D97-AF65-F5344CB8AC3E}">
        <p14:creationId xmlns:p14="http://schemas.microsoft.com/office/powerpoint/2010/main" val="1500703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err="1">
                <a:latin typeface="Constantia" panose="02030602050306030303" pitchFamily="18" charset="0"/>
                <a:cs typeface="Leelawadee UI" panose="020B0502040204020203" pitchFamily="34" charset="-34"/>
              </a:rPr>
              <a:t>Abstruct</a:t>
            </a:r>
            <a:r>
              <a:rPr lang="en-US" altLang="zh-TW" sz="3200" dirty="0">
                <a:latin typeface="Constantia" panose="02030602050306030303" pitchFamily="18" charset="0"/>
                <a:cs typeface="Leelawadee UI" panose="020B0502040204020203" pitchFamily="34" charset="-34"/>
              </a:rPr>
              <a:t>(2/2)</a:t>
            </a:r>
            <a:endParaRPr lang="zh-TW" altLang="en-US" sz="3200" dirty="0">
              <a:latin typeface="Constantia" panose="02030602050306030303" pitchFamily="18" charset="0"/>
              <a:cs typeface="Leelawadee UI" panose="020B0502040204020203" pitchFamily="34" charset="-34"/>
            </a:endParaRPr>
          </a:p>
        </p:txBody>
      </p:sp>
      <p:sp>
        <p:nvSpPr>
          <p:cNvPr id="3" name="內容版面配置區 2">
            <a:extLst>
              <a:ext uri="{FF2B5EF4-FFF2-40B4-BE49-F238E27FC236}">
                <a16:creationId xmlns:a16="http://schemas.microsoft.com/office/drawing/2014/main" id="{E39EF1E7-604C-4E09-A7D2-D4B34B0635E8}"/>
              </a:ext>
            </a:extLst>
          </p:cNvPr>
          <p:cNvSpPr>
            <a:spLocks noGrp="1"/>
          </p:cNvSpPr>
          <p:nvPr>
            <p:ph idx="1"/>
          </p:nvPr>
        </p:nvSpPr>
        <p:spPr>
          <a:xfrm>
            <a:off x="838200" y="1403639"/>
            <a:ext cx="10515600" cy="5089236"/>
          </a:xfrm>
        </p:spPr>
        <p:txBody>
          <a:bodyPr>
            <a:noAutofit/>
          </a:bodyPr>
          <a:lstStyle/>
          <a:p>
            <a:pPr marL="0" indent="0">
              <a:buNone/>
            </a:pPr>
            <a:r>
              <a:rPr lang="en-US" altLang="zh-TW" dirty="0">
                <a:latin typeface="Constantia" panose="02030602050306030303" pitchFamily="18" charset="0"/>
              </a:rPr>
              <a:t>A semi-automatic version of the method is also presented that improves the result with minimal user input. The proposed methods are trained and tested on non-overlapping subsets of a food image database including 821 images, taken under challenging conditions and annotated manually. The automatic and semi-automatic dish segmentation methods reached average accuracies of 88% and 92%, respectively, in roughly 0.5 seconds per image.</a:t>
            </a:r>
            <a:endParaRPr lang="en-US" altLang="zh-TW" dirty="0">
              <a:latin typeface="Constantia" panose="02030602050306030303" pitchFamily="18" charset="0"/>
              <a:cs typeface="Leelawadee UI Semilight" panose="020B0402040204020203" pitchFamily="34" charset="-34"/>
            </a:endParaRPr>
          </a:p>
        </p:txBody>
      </p:sp>
    </p:spTree>
    <p:extLst>
      <p:ext uri="{BB962C8B-B14F-4D97-AF65-F5344CB8AC3E}">
        <p14:creationId xmlns:p14="http://schemas.microsoft.com/office/powerpoint/2010/main" val="1710480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Constantia" panose="02030602050306030303" pitchFamily="18" charset="0"/>
                <a:cs typeface="Leelawadee UI Semilight" panose="020B0402040204020203" pitchFamily="34" charset="-34"/>
              </a:rPr>
              <a:t>Border Map Generation</a:t>
            </a:r>
            <a:endParaRPr lang="zh-TW" altLang="en-US" sz="3200" dirty="0">
              <a:latin typeface="Constantia" panose="02030602050306030303" pitchFamily="18" charset="0"/>
              <a:cs typeface="Leelawadee UI" panose="020B0502040204020203" pitchFamily="34" charset="-34"/>
            </a:endParaRPr>
          </a:p>
        </p:txBody>
      </p:sp>
      <p:pic>
        <p:nvPicPr>
          <p:cNvPr id="4" name="圖片 3">
            <a:extLst>
              <a:ext uri="{FF2B5EF4-FFF2-40B4-BE49-F238E27FC236}">
                <a16:creationId xmlns:a16="http://schemas.microsoft.com/office/drawing/2014/main" id="{73E5C6C7-472B-4070-9368-DD458BAA09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0391" y="895927"/>
            <a:ext cx="9631218" cy="3804294"/>
          </a:xfrm>
          <a:prstGeom prst="rect">
            <a:avLst/>
          </a:prstGeom>
        </p:spPr>
      </p:pic>
      <p:sp>
        <p:nvSpPr>
          <p:cNvPr id="6" name="文字方塊 5">
            <a:extLst>
              <a:ext uri="{FF2B5EF4-FFF2-40B4-BE49-F238E27FC236}">
                <a16:creationId xmlns:a16="http://schemas.microsoft.com/office/drawing/2014/main" id="{E8B0C163-2502-4508-81B4-816E18EB7362}"/>
              </a:ext>
            </a:extLst>
          </p:cNvPr>
          <p:cNvSpPr txBox="1"/>
          <p:nvPr/>
        </p:nvSpPr>
        <p:spPr>
          <a:xfrm>
            <a:off x="1514764" y="4930827"/>
            <a:ext cx="8183418" cy="461665"/>
          </a:xfrm>
          <a:prstGeom prst="rect">
            <a:avLst/>
          </a:prstGeom>
          <a:noFill/>
        </p:spPr>
        <p:txBody>
          <a:bodyPr wrap="square" rtlCol="0">
            <a:spAutoFit/>
          </a:bodyPr>
          <a:lstStyle/>
          <a:p>
            <a:r>
              <a:rPr lang="en-US" altLang="zh-TW" sz="2400" dirty="0">
                <a:latin typeface="Constantia" panose="02030602050306030303" pitchFamily="18" charset="0"/>
              </a:rPr>
              <a:t>16 convolutional layers each have 32 kernels of size 3×3.</a:t>
            </a:r>
            <a:endParaRPr lang="zh-TW" altLang="en-US" sz="2400" dirty="0">
              <a:latin typeface="Constantia" panose="02030602050306030303" pitchFamily="18" charset="0"/>
            </a:endParaRPr>
          </a:p>
        </p:txBody>
      </p:sp>
      <p:sp>
        <p:nvSpPr>
          <p:cNvPr id="8" name="文字方塊 7">
            <a:extLst>
              <a:ext uri="{FF2B5EF4-FFF2-40B4-BE49-F238E27FC236}">
                <a16:creationId xmlns:a16="http://schemas.microsoft.com/office/drawing/2014/main" id="{B8882977-93CB-4F14-B06B-32251857654E}"/>
              </a:ext>
            </a:extLst>
          </p:cNvPr>
          <p:cNvSpPr txBox="1"/>
          <p:nvPr/>
        </p:nvSpPr>
        <p:spPr>
          <a:xfrm>
            <a:off x="1514764" y="5500408"/>
            <a:ext cx="9328727" cy="461665"/>
          </a:xfrm>
          <a:prstGeom prst="rect">
            <a:avLst/>
          </a:prstGeom>
          <a:noFill/>
        </p:spPr>
        <p:txBody>
          <a:bodyPr wrap="square" rtlCol="0">
            <a:spAutoFit/>
          </a:bodyPr>
          <a:lstStyle/>
          <a:p>
            <a:r>
              <a:rPr lang="en-US" altLang="zh-TW" sz="2400" dirty="0">
                <a:latin typeface="Constantia" panose="02030602050306030303" pitchFamily="18" charset="0"/>
              </a:rPr>
              <a:t>Summed and passed through layers with 32, 8 and 1 kernels of size 1×1</a:t>
            </a:r>
            <a:endParaRPr lang="zh-TW" altLang="en-US" sz="2400" dirty="0">
              <a:latin typeface="Constantia" panose="02030602050306030303" pitchFamily="18" charset="0"/>
            </a:endParaRPr>
          </a:p>
        </p:txBody>
      </p:sp>
    </p:spTree>
    <p:extLst>
      <p:ext uri="{BB962C8B-B14F-4D97-AF65-F5344CB8AC3E}">
        <p14:creationId xmlns:p14="http://schemas.microsoft.com/office/powerpoint/2010/main" val="4273915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Constantia" panose="02030602050306030303" pitchFamily="18" charset="0"/>
                <a:cs typeface="Leelawadee UI Semilight" panose="020B0402040204020203" pitchFamily="34" charset="-34"/>
              </a:rPr>
              <a:t>Border Map Generation</a:t>
            </a:r>
            <a:endParaRPr lang="zh-TW" altLang="en-US" sz="3200" dirty="0">
              <a:latin typeface="Constantia" panose="02030602050306030303" pitchFamily="18" charset="0"/>
              <a:cs typeface="Leelawadee UI" panose="020B0502040204020203" pitchFamily="34" charset="-34"/>
            </a:endParaRPr>
          </a:p>
        </p:txBody>
      </p:sp>
      <p:pic>
        <p:nvPicPr>
          <p:cNvPr id="5" name="圖片 4">
            <a:extLst>
              <a:ext uri="{FF2B5EF4-FFF2-40B4-BE49-F238E27FC236}">
                <a16:creationId xmlns:a16="http://schemas.microsoft.com/office/drawing/2014/main" id="{A19794FA-BAEB-40EE-8D7F-E87E2FD73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528" y="1356375"/>
            <a:ext cx="6758792" cy="4145249"/>
          </a:xfrm>
          <a:prstGeom prst="rect">
            <a:avLst/>
          </a:prstGeom>
        </p:spPr>
      </p:pic>
      <p:sp>
        <p:nvSpPr>
          <p:cNvPr id="7" name="文字方塊 6">
            <a:extLst>
              <a:ext uri="{FF2B5EF4-FFF2-40B4-BE49-F238E27FC236}">
                <a16:creationId xmlns:a16="http://schemas.microsoft.com/office/drawing/2014/main" id="{B2F1744A-1ECB-4A78-9B79-D3F8C8BCA9F7}"/>
              </a:ext>
            </a:extLst>
          </p:cNvPr>
          <p:cNvSpPr txBox="1"/>
          <p:nvPr/>
        </p:nvSpPr>
        <p:spPr>
          <a:xfrm>
            <a:off x="7375320" y="1720840"/>
            <a:ext cx="4539589" cy="3416320"/>
          </a:xfrm>
          <a:prstGeom prst="rect">
            <a:avLst/>
          </a:prstGeom>
          <a:noFill/>
        </p:spPr>
        <p:txBody>
          <a:bodyPr wrap="square" rtlCol="0">
            <a:spAutoFit/>
          </a:bodyPr>
          <a:lstStyle/>
          <a:p>
            <a:pPr marL="457200" indent="-457200">
              <a:buAutoNum type="arabicPeriod"/>
            </a:pPr>
            <a:r>
              <a:rPr lang="en-US" altLang="zh-TW" sz="2400" dirty="0">
                <a:latin typeface="Constantia" panose="02030602050306030303" pitchFamily="18" charset="0"/>
              </a:rPr>
              <a:t>Border pixels have the value one</a:t>
            </a:r>
          </a:p>
          <a:p>
            <a:pPr marL="457200" indent="-457200">
              <a:buAutoNum type="arabicPeriod"/>
            </a:pPr>
            <a:endParaRPr lang="en-US" altLang="zh-TW" sz="2400" dirty="0">
              <a:latin typeface="Constantia" panose="02030602050306030303" pitchFamily="18" charset="0"/>
            </a:endParaRPr>
          </a:p>
          <a:p>
            <a:pPr marL="457200" indent="-457200">
              <a:buAutoNum type="arabicPeriod"/>
            </a:pPr>
            <a:r>
              <a:rPr lang="en-US" altLang="zh-TW" sz="2400" dirty="0">
                <a:latin typeface="Constantia" panose="02030602050306030303" pitchFamily="18" charset="0"/>
              </a:rPr>
              <a:t>Pixels which are more than 8 pixels away from border are zero</a:t>
            </a:r>
          </a:p>
          <a:p>
            <a:pPr marL="457200" indent="-457200">
              <a:buAutoNum type="arabicPeriod"/>
            </a:pPr>
            <a:endParaRPr lang="en-US" altLang="zh-TW" sz="2400" dirty="0">
              <a:latin typeface="Constantia" panose="02030602050306030303" pitchFamily="18" charset="0"/>
            </a:endParaRPr>
          </a:p>
          <a:p>
            <a:pPr marL="457200" indent="-457200">
              <a:buAutoNum type="arabicPeriod"/>
            </a:pPr>
            <a:r>
              <a:rPr lang="en-US" altLang="zh-TW" sz="2400" dirty="0">
                <a:latin typeface="Constantia" panose="02030602050306030303" pitchFamily="18" charset="0"/>
              </a:rPr>
              <a:t>The rest of the pixels have values between one and zero</a:t>
            </a:r>
            <a:endParaRPr lang="zh-TW" altLang="en-US" sz="2400" dirty="0">
              <a:latin typeface="Constantia" panose="02030602050306030303" pitchFamily="18" charset="0"/>
            </a:endParaRPr>
          </a:p>
        </p:txBody>
      </p:sp>
    </p:spTree>
    <p:extLst>
      <p:ext uri="{BB962C8B-B14F-4D97-AF65-F5344CB8AC3E}">
        <p14:creationId xmlns:p14="http://schemas.microsoft.com/office/powerpoint/2010/main" val="1897027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Constantia" panose="02030602050306030303" pitchFamily="18" charset="0"/>
                <a:cs typeface="Leelawadee UI Semilight" panose="020B0402040204020203" pitchFamily="34" charset="-34"/>
              </a:rPr>
              <a:t>Region Growing/Merging</a:t>
            </a:r>
            <a:endParaRPr lang="zh-TW" altLang="en-US" sz="3200" dirty="0">
              <a:latin typeface="Constantia" panose="02030602050306030303" pitchFamily="18" charset="0"/>
              <a:cs typeface="Leelawadee UI" panose="020B0502040204020203" pitchFamily="34" charset="-34"/>
            </a:endParaRPr>
          </a:p>
        </p:txBody>
      </p:sp>
      <p:pic>
        <p:nvPicPr>
          <p:cNvPr id="4" name="圖片 3">
            <a:extLst>
              <a:ext uri="{FF2B5EF4-FFF2-40B4-BE49-F238E27FC236}">
                <a16:creationId xmlns:a16="http://schemas.microsoft.com/office/drawing/2014/main" id="{C980DB84-354A-44C6-AC93-C31F0D791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746" y="1034473"/>
            <a:ext cx="5991425" cy="3261273"/>
          </a:xfrm>
          <a:prstGeom prst="rect">
            <a:avLst/>
          </a:prstGeom>
        </p:spPr>
      </p:pic>
      <p:pic>
        <p:nvPicPr>
          <p:cNvPr id="8" name="圖片 7">
            <a:extLst>
              <a:ext uri="{FF2B5EF4-FFF2-40B4-BE49-F238E27FC236}">
                <a16:creationId xmlns:a16="http://schemas.microsoft.com/office/drawing/2014/main" id="{8A70778F-F2F8-40F1-8AF6-EE454BD282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746" y="4568219"/>
            <a:ext cx="1351264" cy="396875"/>
          </a:xfrm>
          <a:prstGeom prst="rect">
            <a:avLst/>
          </a:prstGeom>
        </p:spPr>
      </p:pic>
      <p:pic>
        <p:nvPicPr>
          <p:cNvPr id="10" name="圖片 9">
            <a:extLst>
              <a:ext uri="{FF2B5EF4-FFF2-40B4-BE49-F238E27FC236}">
                <a16:creationId xmlns:a16="http://schemas.microsoft.com/office/drawing/2014/main" id="{B0F695A9-9B51-4190-B7D7-B740D4C2F2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9989" y="4522576"/>
            <a:ext cx="5089636" cy="752076"/>
          </a:xfrm>
          <a:prstGeom prst="rect">
            <a:avLst/>
          </a:prstGeom>
        </p:spPr>
      </p:pic>
      <p:pic>
        <p:nvPicPr>
          <p:cNvPr id="12" name="圖片 11">
            <a:extLst>
              <a:ext uri="{FF2B5EF4-FFF2-40B4-BE49-F238E27FC236}">
                <a16:creationId xmlns:a16="http://schemas.microsoft.com/office/drawing/2014/main" id="{6CE25128-CBCB-4ABA-A633-E117CD88CA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1108" y="5501482"/>
            <a:ext cx="5458587" cy="514422"/>
          </a:xfrm>
          <a:prstGeom prst="rect">
            <a:avLst/>
          </a:prstGeom>
        </p:spPr>
      </p:pic>
      <p:sp>
        <p:nvSpPr>
          <p:cNvPr id="13" name="文字方塊 12">
            <a:extLst>
              <a:ext uri="{FF2B5EF4-FFF2-40B4-BE49-F238E27FC236}">
                <a16:creationId xmlns:a16="http://schemas.microsoft.com/office/drawing/2014/main" id="{8471463E-2620-4269-80BF-5C253264EB0C}"/>
              </a:ext>
            </a:extLst>
          </p:cNvPr>
          <p:cNvSpPr txBox="1"/>
          <p:nvPr/>
        </p:nvSpPr>
        <p:spPr>
          <a:xfrm>
            <a:off x="6654134" y="1034473"/>
            <a:ext cx="5089636" cy="4524315"/>
          </a:xfrm>
          <a:prstGeom prst="rect">
            <a:avLst/>
          </a:prstGeom>
          <a:noFill/>
        </p:spPr>
        <p:txBody>
          <a:bodyPr wrap="square" rtlCol="0">
            <a:spAutoFit/>
          </a:bodyPr>
          <a:lstStyle/>
          <a:p>
            <a:pPr marL="457200" indent="-457200">
              <a:buAutoNum type="arabicPeriod"/>
            </a:pPr>
            <a:r>
              <a:rPr lang="en-US" altLang="zh-TW" sz="2400" dirty="0">
                <a:latin typeface="Constantia" panose="02030602050306030303" pitchFamily="18" charset="0"/>
              </a:rPr>
              <a:t>The </a:t>
            </a:r>
            <a:r>
              <a:rPr lang="en-US" altLang="zh-TW" sz="2400" dirty="0" err="1">
                <a:latin typeface="Constantia" panose="02030602050306030303" pitchFamily="18" charset="0"/>
              </a:rPr>
              <a:t>CIELab</a:t>
            </a:r>
            <a:r>
              <a:rPr lang="en-US" altLang="zh-TW" sz="2400" dirty="0">
                <a:latin typeface="Constantia" panose="02030602050306030303" pitchFamily="18" charset="0"/>
              </a:rPr>
              <a:t> based color distance proposed in reference[22]</a:t>
            </a:r>
          </a:p>
          <a:p>
            <a:pPr marL="457200" indent="-457200">
              <a:buAutoNum type="arabicPeriod"/>
            </a:pPr>
            <a:endParaRPr lang="en-US" altLang="zh-TW" sz="2400" dirty="0">
              <a:latin typeface="Constantia" panose="02030602050306030303" pitchFamily="18" charset="0"/>
            </a:endParaRPr>
          </a:p>
          <a:p>
            <a:pPr marL="457200" indent="-457200">
              <a:buAutoNum type="arabicPeriod"/>
            </a:pPr>
            <a:r>
              <a:rPr lang="en-US" altLang="zh-TW" sz="2400" dirty="0">
                <a:latin typeface="Constantia" panose="02030602050306030303" pitchFamily="18" charset="0"/>
              </a:rPr>
              <a:t>The border magnitudes of point to be added and its closest point in the region as defined in the CNN-based map</a:t>
            </a:r>
          </a:p>
          <a:p>
            <a:pPr marL="457200" indent="-457200">
              <a:buAutoNum type="arabicPeriod"/>
            </a:pPr>
            <a:endParaRPr lang="en-US" altLang="zh-TW" sz="2400" dirty="0">
              <a:latin typeface="Constantia" panose="02030602050306030303" pitchFamily="18" charset="0"/>
            </a:endParaRPr>
          </a:p>
          <a:p>
            <a:pPr marL="457200" indent="-457200">
              <a:buAutoNum type="arabicPeriod"/>
            </a:pPr>
            <a:r>
              <a:rPr lang="en-US" altLang="zh-TW" sz="2400" dirty="0">
                <a:latin typeface="Constantia" panose="02030602050306030303" pitchFamily="18" charset="0"/>
              </a:rPr>
              <a:t>Geometric distance from the region’s seed</a:t>
            </a:r>
          </a:p>
          <a:p>
            <a:pPr marL="457200" indent="-457200">
              <a:buAutoNum type="arabicPeriod"/>
            </a:pPr>
            <a:endParaRPr lang="en-US" altLang="zh-TW" sz="2400" dirty="0">
              <a:latin typeface="Constantia" panose="02030602050306030303" pitchFamily="18" charset="0"/>
            </a:endParaRPr>
          </a:p>
          <a:p>
            <a:pPr marL="457200" indent="-457200">
              <a:buAutoNum type="arabicPeriod"/>
            </a:pPr>
            <a:endParaRPr lang="zh-TW" altLang="en-US" sz="2400" dirty="0">
              <a:latin typeface="Constantia" panose="02030602050306030303" pitchFamily="18" charset="0"/>
            </a:endParaRPr>
          </a:p>
        </p:txBody>
      </p:sp>
      <p:pic>
        <p:nvPicPr>
          <p:cNvPr id="15" name="圖片 14">
            <a:extLst>
              <a:ext uri="{FF2B5EF4-FFF2-40B4-BE49-F238E27FC236}">
                <a16:creationId xmlns:a16="http://schemas.microsoft.com/office/drawing/2014/main" id="{43D48E5C-3F51-46E2-AB9D-EC08DA8BD7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50604" y="5273610"/>
            <a:ext cx="1295581" cy="304843"/>
          </a:xfrm>
          <a:prstGeom prst="rect">
            <a:avLst/>
          </a:prstGeom>
        </p:spPr>
      </p:pic>
      <p:sp>
        <p:nvSpPr>
          <p:cNvPr id="17" name="文字方塊 16">
            <a:extLst>
              <a:ext uri="{FF2B5EF4-FFF2-40B4-BE49-F238E27FC236}">
                <a16:creationId xmlns:a16="http://schemas.microsoft.com/office/drawing/2014/main" id="{BC4558BD-110F-4DF5-808F-DE7780C0C5CB}"/>
              </a:ext>
            </a:extLst>
          </p:cNvPr>
          <p:cNvSpPr txBox="1"/>
          <p:nvPr/>
        </p:nvSpPr>
        <p:spPr>
          <a:xfrm>
            <a:off x="7642497" y="5102865"/>
            <a:ext cx="3572458" cy="646331"/>
          </a:xfrm>
          <a:prstGeom prst="rect">
            <a:avLst/>
          </a:prstGeom>
          <a:noFill/>
        </p:spPr>
        <p:txBody>
          <a:bodyPr wrap="square" rtlCol="0">
            <a:spAutoFit/>
          </a:bodyPr>
          <a:lstStyle/>
          <a:p>
            <a:r>
              <a:rPr lang="en-US" altLang="zh-TW" dirty="0">
                <a:latin typeface="Constantia" panose="02030602050306030303" pitchFamily="18" charset="0"/>
              </a:rPr>
              <a:t>Average border magnitude of pixel p and its closest pixel in R</a:t>
            </a:r>
            <a:endParaRPr lang="zh-TW" altLang="en-US" dirty="0">
              <a:latin typeface="Constantia" panose="02030602050306030303" pitchFamily="18" charset="0"/>
            </a:endParaRPr>
          </a:p>
        </p:txBody>
      </p:sp>
      <p:pic>
        <p:nvPicPr>
          <p:cNvPr id="19" name="圖片 18">
            <a:extLst>
              <a:ext uri="{FF2B5EF4-FFF2-40B4-BE49-F238E27FC236}">
                <a16:creationId xmlns:a16="http://schemas.microsoft.com/office/drawing/2014/main" id="{44CE74DD-46AD-4B6F-952B-933D69E410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6314" y="5953492"/>
            <a:ext cx="1324160" cy="323895"/>
          </a:xfrm>
          <a:prstGeom prst="rect">
            <a:avLst/>
          </a:prstGeom>
        </p:spPr>
      </p:pic>
      <p:sp>
        <p:nvSpPr>
          <p:cNvPr id="20" name="文字方塊 19">
            <a:extLst>
              <a:ext uri="{FF2B5EF4-FFF2-40B4-BE49-F238E27FC236}">
                <a16:creationId xmlns:a16="http://schemas.microsoft.com/office/drawing/2014/main" id="{6EA6FD01-0E75-4AAE-8D64-3592AF6FA989}"/>
              </a:ext>
            </a:extLst>
          </p:cNvPr>
          <p:cNvSpPr txBox="1"/>
          <p:nvPr/>
        </p:nvSpPr>
        <p:spPr>
          <a:xfrm>
            <a:off x="7642497" y="5823527"/>
            <a:ext cx="3572458" cy="646331"/>
          </a:xfrm>
          <a:prstGeom prst="rect">
            <a:avLst/>
          </a:prstGeom>
          <a:noFill/>
        </p:spPr>
        <p:txBody>
          <a:bodyPr wrap="square" rtlCol="0">
            <a:spAutoFit/>
          </a:bodyPr>
          <a:lstStyle/>
          <a:p>
            <a:r>
              <a:rPr lang="en-US" altLang="zh-TW" dirty="0">
                <a:latin typeface="Constantia" panose="02030602050306030303" pitchFamily="18" charset="0"/>
              </a:rPr>
              <a:t>The geometric distance between p and seed point of R</a:t>
            </a:r>
            <a:endParaRPr lang="zh-TW" altLang="en-US" dirty="0">
              <a:latin typeface="Constantia" panose="02030602050306030303" pitchFamily="18" charset="0"/>
            </a:endParaRPr>
          </a:p>
        </p:txBody>
      </p:sp>
    </p:spTree>
    <p:extLst>
      <p:ext uri="{BB962C8B-B14F-4D97-AF65-F5344CB8AC3E}">
        <p14:creationId xmlns:p14="http://schemas.microsoft.com/office/powerpoint/2010/main" val="398953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Constantia" panose="02030602050306030303" pitchFamily="18" charset="0"/>
                <a:cs typeface="Leelawadee UI Semilight" panose="020B0402040204020203" pitchFamily="34" charset="-34"/>
              </a:rPr>
              <a:t>Region Growing/Merging</a:t>
            </a:r>
            <a:endParaRPr lang="zh-TW" altLang="en-US" sz="3200" dirty="0">
              <a:latin typeface="Constantia" panose="02030602050306030303" pitchFamily="18" charset="0"/>
              <a:cs typeface="Leelawadee UI" panose="020B0502040204020203" pitchFamily="34" charset="-34"/>
            </a:endParaRPr>
          </a:p>
        </p:txBody>
      </p:sp>
      <p:pic>
        <p:nvPicPr>
          <p:cNvPr id="4" name="圖片 3">
            <a:extLst>
              <a:ext uri="{FF2B5EF4-FFF2-40B4-BE49-F238E27FC236}">
                <a16:creationId xmlns:a16="http://schemas.microsoft.com/office/drawing/2014/main" id="{C980DB84-354A-44C6-AC93-C31F0D791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887" y="1012719"/>
            <a:ext cx="5991425" cy="3261273"/>
          </a:xfrm>
          <a:prstGeom prst="rect">
            <a:avLst/>
          </a:prstGeom>
        </p:spPr>
      </p:pic>
      <p:pic>
        <p:nvPicPr>
          <p:cNvPr id="5" name="圖片 4">
            <a:extLst>
              <a:ext uri="{FF2B5EF4-FFF2-40B4-BE49-F238E27FC236}">
                <a16:creationId xmlns:a16="http://schemas.microsoft.com/office/drawing/2014/main" id="{3C08D09F-CFA0-41AD-8802-88A98351DD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435" y="4552990"/>
            <a:ext cx="5125165" cy="609685"/>
          </a:xfrm>
          <a:prstGeom prst="rect">
            <a:avLst/>
          </a:prstGeom>
        </p:spPr>
      </p:pic>
      <p:pic>
        <p:nvPicPr>
          <p:cNvPr id="7" name="圖片 6">
            <a:extLst>
              <a:ext uri="{FF2B5EF4-FFF2-40B4-BE49-F238E27FC236}">
                <a16:creationId xmlns:a16="http://schemas.microsoft.com/office/drawing/2014/main" id="{E7BEF8A9-4F2C-4D27-AF86-5AAC8C1649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702" y="5269936"/>
            <a:ext cx="5446934" cy="780557"/>
          </a:xfrm>
          <a:prstGeom prst="rect">
            <a:avLst/>
          </a:prstGeom>
        </p:spPr>
      </p:pic>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6BBE6F96-F9DB-47BF-A3B6-01C71F4EC180}"/>
                  </a:ext>
                </a:extLst>
              </p:cNvPr>
              <p:cNvSpPr txBox="1"/>
              <p:nvPr/>
            </p:nvSpPr>
            <p:spPr>
              <a:xfrm>
                <a:off x="8065051" y="4598420"/>
                <a:ext cx="3572458" cy="668645"/>
              </a:xfrm>
              <a:prstGeom prst="rect">
                <a:avLst/>
              </a:prstGeom>
              <a:noFill/>
            </p:spPr>
            <p:txBody>
              <a:bodyPr wrap="square" rtlCol="0">
                <a:spAutoFit/>
              </a:bodyPr>
              <a:lstStyle/>
              <a:p>
                <a:r>
                  <a:rPr lang="en-US" altLang="zh-TW" dirty="0">
                    <a:latin typeface="Constantia" panose="02030602050306030303" pitchFamily="18" charset="0"/>
                  </a:rPr>
                  <a:t>The border magnitude between the regions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oMath>
                </a14:m>
                <a:r>
                  <a:rPr lang="zh-TW" altLang="en-US" dirty="0">
                    <a:latin typeface="Constantia" panose="02030602050306030303" pitchFamily="18" charset="0"/>
                  </a:rPr>
                  <a:t> </a:t>
                </a:r>
                <a:r>
                  <a:rPr lang="en-US" altLang="zh-TW" dirty="0">
                    <a:latin typeface="Constantia" panose="02030602050306030303" pitchFamily="18" charset="0"/>
                  </a:rPr>
                  <a:t>and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𝑗</m:t>
                        </m:r>
                      </m:sub>
                    </m:sSub>
                  </m:oMath>
                </a14:m>
                <a:endParaRPr lang="zh-TW" altLang="en-US" dirty="0">
                  <a:latin typeface="Constantia" panose="02030602050306030303" pitchFamily="18" charset="0"/>
                </a:endParaRPr>
              </a:p>
            </p:txBody>
          </p:sp>
        </mc:Choice>
        <mc:Fallback xmlns="">
          <p:sp>
            <p:nvSpPr>
              <p:cNvPr id="15" name="文字方塊 14">
                <a:extLst>
                  <a:ext uri="{FF2B5EF4-FFF2-40B4-BE49-F238E27FC236}">
                    <a16:creationId xmlns:a16="http://schemas.microsoft.com/office/drawing/2014/main" id="{6BBE6F96-F9DB-47BF-A3B6-01C71F4EC180}"/>
                  </a:ext>
                </a:extLst>
              </p:cNvPr>
              <p:cNvSpPr txBox="1">
                <a:spLocks noRot="1" noChangeAspect="1" noMove="1" noResize="1" noEditPoints="1" noAdjustHandles="1" noChangeArrowheads="1" noChangeShapeType="1" noTextEdit="1"/>
              </p:cNvSpPr>
              <p:nvPr/>
            </p:nvSpPr>
            <p:spPr>
              <a:xfrm>
                <a:off x="8065051" y="4598420"/>
                <a:ext cx="3572458" cy="668645"/>
              </a:xfrm>
              <a:prstGeom prst="rect">
                <a:avLst/>
              </a:prstGeom>
              <a:blipFill>
                <a:blip r:embed="rId5"/>
                <a:stretch>
                  <a:fillRect l="-1365" t="-4545" b="-109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F3D04850-4B06-4F4F-A2D9-431BAA1F2CBC}"/>
                  </a:ext>
                </a:extLst>
              </p:cNvPr>
              <p:cNvSpPr txBox="1"/>
              <p:nvPr/>
            </p:nvSpPr>
            <p:spPr>
              <a:xfrm>
                <a:off x="8065051" y="5416173"/>
                <a:ext cx="3572458" cy="668645"/>
              </a:xfrm>
              <a:prstGeom prst="rect">
                <a:avLst/>
              </a:prstGeom>
              <a:noFill/>
            </p:spPr>
            <p:txBody>
              <a:bodyPr wrap="square" rtlCol="0">
                <a:spAutoFit/>
              </a:bodyPr>
              <a:lstStyle/>
              <a:p>
                <a:r>
                  <a:rPr lang="en-US" altLang="zh-TW" dirty="0">
                    <a:latin typeface="Constantia" panose="02030602050306030303" pitchFamily="18" charset="0"/>
                  </a:rPr>
                  <a:t>The length of the edge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𝑖</m:t>
                        </m:r>
                      </m:sub>
                    </m:sSub>
                  </m:oMath>
                </a14:m>
                <a:r>
                  <a:rPr lang="zh-TW" altLang="en-US" dirty="0">
                    <a:latin typeface="Constantia" panose="02030602050306030303" pitchFamily="18" charset="0"/>
                  </a:rPr>
                  <a:t> </a:t>
                </a:r>
                <a:r>
                  <a:rPr lang="en-US" altLang="zh-TW" dirty="0">
                    <a:latin typeface="Constantia" panose="02030602050306030303" pitchFamily="18" charset="0"/>
                  </a:rPr>
                  <a:t>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𝑗</m:t>
                        </m:r>
                      </m:sub>
                    </m:sSub>
                  </m:oMath>
                </a14:m>
                <a:r>
                  <a:rPr lang="en-US" altLang="zh-TW" dirty="0">
                    <a:latin typeface="Constantia" panose="02030602050306030303" pitchFamily="18" charset="0"/>
                  </a:rPr>
                  <a:t> share </a:t>
                </a:r>
                <a:endParaRPr lang="zh-TW" altLang="en-US" dirty="0">
                  <a:latin typeface="Constantia" panose="02030602050306030303" pitchFamily="18" charset="0"/>
                </a:endParaRPr>
              </a:p>
            </p:txBody>
          </p:sp>
        </mc:Choice>
        <mc:Fallback xmlns="">
          <p:sp>
            <p:nvSpPr>
              <p:cNvPr id="17" name="文字方塊 16">
                <a:extLst>
                  <a:ext uri="{FF2B5EF4-FFF2-40B4-BE49-F238E27FC236}">
                    <a16:creationId xmlns:a16="http://schemas.microsoft.com/office/drawing/2014/main" id="{F3D04850-4B06-4F4F-A2D9-431BAA1F2CBC}"/>
                  </a:ext>
                </a:extLst>
              </p:cNvPr>
              <p:cNvSpPr txBox="1">
                <a:spLocks noRot="1" noChangeAspect="1" noMove="1" noResize="1" noEditPoints="1" noAdjustHandles="1" noChangeArrowheads="1" noChangeShapeType="1" noTextEdit="1"/>
              </p:cNvSpPr>
              <p:nvPr/>
            </p:nvSpPr>
            <p:spPr>
              <a:xfrm>
                <a:off x="8065051" y="5416173"/>
                <a:ext cx="3572458" cy="668645"/>
              </a:xfrm>
              <a:prstGeom prst="rect">
                <a:avLst/>
              </a:prstGeom>
              <a:blipFill>
                <a:blip r:embed="rId6"/>
                <a:stretch>
                  <a:fillRect l="-1365" t="-3636" b="-13636"/>
                </a:stretch>
              </a:blipFill>
            </p:spPr>
            <p:txBody>
              <a:bodyPr/>
              <a:lstStyle/>
              <a:p>
                <a:r>
                  <a:rPr lang="zh-TW" altLang="en-US">
                    <a:noFill/>
                  </a:rPr>
                  <a:t> </a:t>
                </a:r>
              </a:p>
            </p:txBody>
          </p:sp>
        </mc:Fallback>
      </mc:AlternateContent>
      <p:pic>
        <p:nvPicPr>
          <p:cNvPr id="19" name="圖片 18">
            <a:extLst>
              <a:ext uri="{FF2B5EF4-FFF2-40B4-BE49-F238E27FC236}">
                <a16:creationId xmlns:a16="http://schemas.microsoft.com/office/drawing/2014/main" id="{DD88C96F-1E87-4CA4-8F9D-5D0B4F62F2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16473" y="4784740"/>
            <a:ext cx="1343212" cy="333422"/>
          </a:xfrm>
          <a:prstGeom prst="rect">
            <a:avLst/>
          </a:prstGeom>
        </p:spPr>
      </p:pic>
      <p:pic>
        <p:nvPicPr>
          <p:cNvPr id="21" name="圖片 20">
            <a:extLst>
              <a:ext uri="{FF2B5EF4-FFF2-40B4-BE49-F238E27FC236}">
                <a16:creationId xmlns:a16="http://schemas.microsoft.com/office/drawing/2014/main" id="{9877AC40-B24F-4287-A266-D1A26E6138C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6000" y="5502333"/>
            <a:ext cx="1876687" cy="342948"/>
          </a:xfrm>
          <a:prstGeom prst="rect">
            <a:avLst/>
          </a:prstGeom>
        </p:spPr>
      </p:pic>
    </p:spTree>
    <p:extLst>
      <p:ext uri="{BB962C8B-B14F-4D97-AF65-F5344CB8AC3E}">
        <p14:creationId xmlns:p14="http://schemas.microsoft.com/office/powerpoint/2010/main" val="1190391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Constantia" panose="02030602050306030303" pitchFamily="18" charset="0"/>
                <a:cs typeface="Leelawadee UI Semilight" panose="020B0402040204020203" pitchFamily="34" charset="-34"/>
              </a:rPr>
              <a:t>Region Growing/Merging</a:t>
            </a:r>
            <a:endParaRPr lang="zh-TW" altLang="en-US" sz="3200" dirty="0">
              <a:latin typeface="Constantia" panose="02030602050306030303" pitchFamily="18" charset="0"/>
              <a:cs typeface="Leelawadee UI" panose="020B0502040204020203" pitchFamily="34" charset="-34"/>
            </a:endParaRPr>
          </a:p>
        </p:txBody>
      </p:sp>
      <p:pic>
        <p:nvPicPr>
          <p:cNvPr id="6" name="圖片 5">
            <a:extLst>
              <a:ext uri="{FF2B5EF4-FFF2-40B4-BE49-F238E27FC236}">
                <a16:creationId xmlns:a16="http://schemas.microsoft.com/office/drawing/2014/main" id="{61951481-3FFF-47B7-86C8-732FB9CEFA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1406" y="1217836"/>
            <a:ext cx="7709187" cy="4551638"/>
          </a:xfrm>
          <a:prstGeom prst="rect">
            <a:avLst/>
          </a:prstGeom>
        </p:spPr>
      </p:pic>
    </p:spTree>
    <p:extLst>
      <p:ext uri="{BB962C8B-B14F-4D97-AF65-F5344CB8AC3E}">
        <p14:creationId xmlns:p14="http://schemas.microsoft.com/office/powerpoint/2010/main" val="924350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Constantia" panose="02030602050306030303" pitchFamily="18" charset="0"/>
                <a:cs typeface="Leelawadee UI Semilight" panose="020B0402040204020203" pitchFamily="34" charset="-34"/>
              </a:rPr>
              <a:t>Data and Experiment Setup</a:t>
            </a:r>
            <a:endParaRPr lang="zh-TW" altLang="en-US" sz="3200" dirty="0">
              <a:latin typeface="Constantia" panose="02030602050306030303" pitchFamily="18" charset="0"/>
              <a:cs typeface="Leelawadee UI" panose="020B0502040204020203" pitchFamily="34" charset="-34"/>
            </a:endParaRPr>
          </a:p>
        </p:txBody>
      </p:sp>
      <p:sp>
        <p:nvSpPr>
          <p:cNvPr id="3" name="內容版面配置區 2">
            <a:extLst>
              <a:ext uri="{FF2B5EF4-FFF2-40B4-BE49-F238E27FC236}">
                <a16:creationId xmlns:a16="http://schemas.microsoft.com/office/drawing/2014/main" id="{E39EF1E7-604C-4E09-A7D2-D4B34B0635E8}"/>
              </a:ext>
            </a:extLst>
          </p:cNvPr>
          <p:cNvSpPr>
            <a:spLocks noGrp="1"/>
          </p:cNvSpPr>
          <p:nvPr>
            <p:ph idx="1"/>
          </p:nvPr>
        </p:nvSpPr>
        <p:spPr>
          <a:xfrm>
            <a:off x="838199" y="1403639"/>
            <a:ext cx="10827327" cy="5089236"/>
          </a:xfrm>
        </p:spPr>
        <p:txBody>
          <a:bodyPr>
            <a:noAutofit/>
          </a:bodyPr>
          <a:lstStyle/>
          <a:p>
            <a:pPr marL="0" indent="0">
              <a:buNone/>
            </a:pPr>
            <a:r>
              <a:rPr lang="en-US" altLang="zh-TW" dirty="0">
                <a:latin typeface="Constantia" panose="02030602050306030303" pitchFamily="18" charset="0"/>
                <a:cs typeface="Leelawadee UI Semilight" panose="020B0402040204020203" pitchFamily="34" charset="-34"/>
              </a:rPr>
              <a:t>Experiment consists of 821 meal images</a:t>
            </a:r>
          </a:p>
          <a:p>
            <a:pPr marL="0" indent="0">
              <a:buNone/>
            </a:pPr>
            <a:endParaRPr lang="en-US" altLang="zh-TW" dirty="0">
              <a:latin typeface="Constantia" panose="02030602050306030303" pitchFamily="18" charset="0"/>
              <a:cs typeface="Leelawadee UI Semilight" panose="020B0402040204020203" pitchFamily="34" charset="-34"/>
            </a:endParaRPr>
          </a:p>
          <a:p>
            <a:pPr marL="0" indent="0">
              <a:buNone/>
            </a:pPr>
            <a:r>
              <a:rPr lang="en-US" altLang="zh-TW" dirty="0">
                <a:latin typeface="Constantia" panose="02030602050306030303" pitchFamily="18" charset="0"/>
                <a:cs typeface="Leelawadee UI Semilight" panose="020B0402040204020203" pitchFamily="34" charset="-34"/>
              </a:rPr>
              <a:t>70% for training set and 30% for test set</a:t>
            </a:r>
          </a:p>
          <a:p>
            <a:pPr marL="0" indent="0">
              <a:buNone/>
            </a:pPr>
            <a:endParaRPr lang="en-US" altLang="zh-TW" dirty="0">
              <a:latin typeface="Constantia" panose="02030602050306030303" pitchFamily="18" charset="0"/>
              <a:cs typeface="Leelawadee UI Semilight" panose="020B0402040204020203" pitchFamily="34" charset="-34"/>
            </a:endParaRPr>
          </a:p>
          <a:p>
            <a:pPr marL="0" indent="0">
              <a:buNone/>
            </a:pPr>
            <a:r>
              <a:rPr lang="en-US" altLang="zh-TW" dirty="0">
                <a:latin typeface="Constantia" panose="02030602050306030303" pitchFamily="18" charset="0"/>
                <a:cs typeface="Leelawadee UI Semilight" panose="020B0402040204020203" pitchFamily="34" charset="-34"/>
              </a:rPr>
              <a:t>The result evaluates by using region-based metrics</a:t>
            </a:r>
          </a:p>
          <a:p>
            <a:pPr marL="0" indent="0">
              <a:buNone/>
            </a:pPr>
            <a:endParaRPr lang="en-US" altLang="zh-TW" dirty="0">
              <a:latin typeface="Constantia" panose="02030602050306030303" pitchFamily="18" charset="0"/>
              <a:cs typeface="Leelawadee UI Semilight" panose="020B0402040204020203" pitchFamily="34" charset="-34"/>
            </a:endParaRPr>
          </a:p>
          <a:p>
            <a:pPr marL="0" indent="0">
              <a:buNone/>
            </a:pPr>
            <a:r>
              <a:rPr lang="en-US" altLang="zh-TW" dirty="0">
                <a:latin typeface="Constantia" panose="02030602050306030303" pitchFamily="18" charset="0"/>
                <a:cs typeface="Leelawadee UI Semilight" panose="020B0402040204020203" pitchFamily="34" charset="-34"/>
              </a:rPr>
              <a:t>Define two normalized directional indices worst and average segment </a:t>
            </a:r>
          </a:p>
        </p:txBody>
      </p:sp>
      <p:pic>
        <p:nvPicPr>
          <p:cNvPr id="5" name="圖片 4">
            <a:extLst>
              <a:ext uri="{FF2B5EF4-FFF2-40B4-BE49-F238E27FC236}">
                <a16:creationId xmlns:a16="http://schemas.microsoft.com/office/drawing/2014/main" id="{6BDC3018-F0D9-44B0-B1A8-A9B5B06CE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337" y="4933004"/>
            <a:ext cx="3474136" cy="1328962"/>
          </a:xfrm>
          <a:prstGeom prst="rect">
            <a:avLst/>
          </a:prstGeom>
        </p:spPr>
      </p:pic>
      <p:pic>
        <p:nvPicPr>
          <p:cNvPr id="7" name="圖片 6">
            <a:extLst>
              <a:ext uri="{FF2B5EF4-FFF2-40B4-BE49-F238E27FC236}">
                <a16:creationId xmlns:a16="http://schemas.microsoft.com/office/drawing/2014/main" id="{91A91E10-2FA4-424B-A0EE-3ECA18F169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5464" y="3948257"/>
            <a:ext cx="3580610" cy="359150"/>
          </a:xfrm>
          <a:prstGeom prst="rect">
            <a:avLst/>
          </a:prstGeom>
        </p:spPr>
      </p:pic>
      <p:pic>
        <p:nvPicPr>
          <p:cNvPr id="9" name="圖片 8">
            <a:extLst>
              <a:ext uri="{FF2B5EF4-FFF2-40B4-BE49-F238E27FC236}">
                <a16:creationId xmlns:a16="http://schemas.microsoft.com/office/drawing/2014/main" id="{4D390909-9AA5-4683-898F-8C27201121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0468" y="5259300"/>
            <a:ext cx="4315427" cy="676369"/>
          </a:xfrm>
          <a:prstGeom prst="rect">
            <a:avLst/>
          </a:prstGeom>
        </p:spPr>
      </p:pic>
    </p:spTree>
    <p:extLst>
      <p:ext uri="{BB962C8B-B14F-4D97-AF65-F5344CB8AC3E}">
        <p14:creationId xmlns:p14="http://schemas.microsoft.com/office/powerpoint/2010/main" val="3117342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Constantia" panose="02030602050306030303" pitchFamily="18" charset="0"/>
                <a:cs typeface="Leelawadee UI Semilight" panose="020B0402040204020203" pitchFamily="34" charset="-34"/>
              </a:rPr>
              <a:t>Results of Region/Merging </a:t>
            </a:r>
            <a:endParaRPr lang="zh-TW" altLang="en-US" sz="3200" dirty="0">
              <a:latin typeface="Constantia" panose="02030602050306030303" pitchFamily="18" charset="0"/>
              <a:cs typeface="Leelawadee UI" panose="020B0502040204020203" pitchFamily="34" charset="-34"/>
            </a:endParaRPr>
          </a:p>
        </p:txBody>
      </p:sp>
      <p:pic>
        <p:nvPicPr>
          <p:cNvPr id="5" name="圖片 4">
            <a:extLst>
              <a:ext uri="{FF2B5EF4-FFF2-40B4-BE49-F238E27FC236}">
                <a16:creationId xmlns:a16="http://schemas.microsoft.com/office/drawing/2014/main" id="{01564964-36A7-41E6-8975-8DC887DFA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882" y="1034473"/>
            <a:ext cx="5470236" cy="4965291"/>
          </a:xfrm>
          <a:prstGeom prst="rect">
            <a:avLst/>
          </a:prstGeom>
        </p:spPr>
      </p:pic>
    </p:spTree>
    <p:extLst>
      <p:ext uri="{BB962C8B-B14F-4D97-AF65-F5344CB8AC3E}">
        <p14:creationId xmlns:p14="http://schemas.microsoft.com/office/powerpoint/2010/main" val="262945484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4194</TotalTime>
  <Words>434</Words>
  <Application>Microsoft Office PowerPoint</Application>
  <PresentationFormat>寬螢幕</PresentationFormat>
  <Paragraphs>42</Paragraphs>
  <Slides>10</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Arial</vt:lpstr>
      <vt:lpstr>Calibri</vt:lpstr>
      <vt:lpstr>Calibri Light</vt:lpstr>
      <vt:lpstr>Cambria Math</vt:lpstr>
      <vt:lpstr>Constantia</vt:lpstr>
      <vt:lpstr>Office 佈景主題</vt:lpstr>
      <vt:lpstr>Food Image Segmentation for Dietary Assessment</vt:lpstr>
      <vt:lpstr>Abstruct(1/2)</vt:lpstr>
      <vt:lpstr>Abstruct(2/2)</vt:lpstr>
      <vt:lpstr>Border Map Generation</vt:lpstr>
      <vt:lpstr>Border Map Generation</vt:lpstr>
      <vt:lpstr>Region Growing/Merging</vt:lpstr>
      <vt:lpstr>Region Growing/Merging</vt:lpstr>
      <vt:lpstr>Region Growing/Merging</vt:lpstr>
      <vt:lpstr>Data and Experiment Setup</vt:lpstr>
      <vt:lpstr>Results of Region/Merging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model and algorithm for sequence alignment</dc:title>
  <dc:creator>吳篤承</dc:creator>
  <cp:lastModifiedBy>吳篤承</cp:lastModifiedBy>
  <cp:revision>85</cp:revision>
  <dcterms:created xsi:type="dcterms:W3CDTF">2018-09-30T05:00:05Z</dcterms:created>
  <dcterms:modified xsi:type="dcterms:W3CDTF">2019-01-15T10:26:02Z</dcterms:modified>
</cp:coreProperties>
</file>