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77" r:id="rId3"/>
    <p:sldId id="276" r:id="rId4"/>
    <p:sldId id="280" r:id="rId5"/>
    <p:sldId id="281" r:id="rId6"/>
    <p:sldId id="279" r:id="rId7"/>
    <p:sldId id="278" r:id="rId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9933FF"/>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淺色樣式 3 - 輔色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FECB4D8-DB02-4DC6-A0A2-4F2EBAE1DC90}" styleName="中等深淺樣式 1 - 輔色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C4B1156A-380E-4F78-BDF5-A606A8083BF9}" styleName="中等深淺樣式 4 - 輔色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D083AE6-46FA-4A59-8FB0-9F97EB10719F}" styleName="淺色樣式 3 - 輔色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75DCB02-9BB8-47FD-8907-85C794F793BA}" styleName="佈景主題樣式 1 - 輔色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269D01E-BC32-4049-B463-5C60D7B0CCD2}" styleName="佈景主題樣式 2 - 輔色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E171933-4619-4E11-9A3F-F7608DF75F80}" styleName="中等深淺樣式 1 - 輔色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69C7853C-536D-4A76-A0AE-DD22124D55A5}" styleName="佈景主題樣式 1 - 輔色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DA37D80-6434-44D0-A028-1B22A696006F}" styleName="淺色樣式 3 - 輔色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16DA210-FB5B-4158-B5E0-FEB733F419BA}" styleName="淺色樣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淺色樣式 3 - 輔色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69" autoAdjust="0"/>
    <p:restoredTop sz="78307" autoAdjust="0"/>
  </p:normalViewPr>
  <p:slideViewPr>
    <p:cSldViewPr snapToGrid="0">
      <p:cViewPr>
        <p:scale>
          <a:sx n="112" d="100"/>
          <a:sy n="112" d="100"/>
        </p:scale>
        <p:origin x="828" y="17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01CE27-751F-48D9-A3E6-37B85B410D4A}" type="datetimeFigureOut">
              <a:rPr lang="zh-TW" altLang="en-US" smtClean="0"/>
              <a:t>2019/1/12</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22EB79-9C15-4368-B725-BB8D0D1C7B15}" type="slidenum">
              <a:rPr lang="zh-TW" altLang="en-US" smtClean="0"/>
              <a:t>‹#›</a:t>
            </a:fld>
            <a:endParaRPr lang="zh-TW" altLang="en-US"/>
          </a:p>
        </p:txBody>
      </p:sp>
    </p:spTree>
    <p:extLst>
      <p:ext uri="{BB962C8B-B14F-4D97-AF65-F5344CB8AC3E}">
        <p14:creationId xmlns:p14="http://schemas.microsoft.com/office/powerpoint/2010/main" val="3552302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4C22EB79-9C15-4368-B725-BB8D0D1C7B15}" type="slidenum">
              <a:rPr lang="zh-TW" altLang="en-US" smtClean="0"/>
              <a:t>1</a:t>
            </a:fld>
            <a:endParaRPr lang="zh-TW" altLang="en-US"/>
          </a:p>
        </p:txBody>
      </p:sp>
    </p:spTree>
    <p:extLst>
      <p:ext uri="{BB962C8B-B14F-4D97-AF65-F5344CB8AC3E}">
        <p14:creationId xmlns:p14="http://schemas.microsoft.com/office/powerpoint/2010/main" val="14984780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FA826C-B827-48E7-923C-08C27A6D0205}"/>
              </a:ext>
            </a:extLst>
          </p:cNvPr>
          <p:cNvSpPr>
            <a:spLocks noGrp="1"/>
          </p:cNvSpPr>
          <p:nvPr>
            <p:ph type="ctrTitle"/>
          </p:nvPr>
        </p:nvSpPr>
        <p:spPr>
          <a:xfrm>
            <a:off x="1524000" y="1122363"/>
            <a:ext cx="9144000" cy="2387600"/>
          </a:xfrm>
        </p:spPr>
        <p:txBody>
          <a:bodyPr anchor="b"/>
          <a:lstStyle>
            <a:lvl1pPr algn="ctr">
              <a:defRPr sz="6000" b="1"/>
            </a:lvl1pPr>
          </a:lstStyle>
          <a:p>
            <a:r>
              <a:rPr lang="zh-TW" altLang="en-US" dirty="0"/>
              <a:t>按一下以編輯母片標題樣式</a:t>
            </a:r>
          </a:p>
        </p:txBody>
      </p:sp>
      <p:sp>
        <p:nvSpPr>
          <p:cNvPr id="3" name="副標題 2">
            <a:extLst>
              <a:ext uri="{FF2B5EF4-FFF2-40B4-BE49-F238E27FC236}">
                <a16:creationId xmlns:a16="http://schemas.microsoft.com/office/drawing/2014/main" id="{5EF732A0-EAAC-46F4-A2BD-7894166D673F}"/>
              </a:ext>
            </a:extLst>
          </p:cNvPr>
          <p:cNvSpPr>
            <a:spLocks noGrp="1"/>
          </p:cNvSpPr>
          <p:nvPr>
            <p:ph type="subTitle" idx="1"/>
          </p:nvPr>
        </p:nvSpPr>
        <p:spPr>
          <a:xfrm>
            <a:off x="1524000" y="3602038"/>
            <a:ext cx="9144000" cy="1655762"/>
          </a:xfrm>
        </p:spPr>
        <p:txBody>
          <a:bodyPr/>
          <a:lstStyle>
            <a:lvl1pPr marL="0" indent="0" algn="ctr">
              <a:buNone/>
              <a:defRPr sz="2400">
                <a:solidFill>
                  <a:schemeClr val="bg1">
                    <a:lumMod val="6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zh-TW" altLang="en-US" dirty="0"/>
              <a:t>按一下以編輯母片子標題樣式</a:t>
            </a:r>
          </a:p>
        </p:txBody>
      </p:sp>
      <p:sp>
        <p:nvSpPr>
          <p:cNvPr id="4" name="日期版面配置區 3">
            <a:extLst>
              <a:ext uri="{FF2B5EF4-FFF2-40B4-BE49-F238E27FC236}">
                <a16:creationId xmlns:a16="http://schemas.microsoft.com/office/drawing/2014/main" id="{50E00B3F-FCF3-43A8-BA3C-83E3D27FDB5E}"/>
              </a:ext>
            </a:extLst>
          </p:cNvPr>
          <p:cNvSpPr>
            <a:spLocks noGrp="1"/>
          </p:cNvSpPr>
          <p:nvPr>
            <p:ph type="dt" sz="half" idx="10"/>
          </p:nvPr>
        </p:nvSpPr>
        <p:spPr/>
        <p:txBody>
          <a:bodyPr/>
          <a:lstStyle/>
          <a:p>
            <a:fld id="{4B163CDD-1571-4D07-AD50-27DEDA2DAB08}" type="datetime1">
              <a:rPr lang="zh-TW" altLang="en-US" smtClean="0"/>
              <a:t>2019/1/12</a:t>
            </a:fld>
            <a:endParaRPr lang="zh-TW" altLang="en-US"/>
          </a:p>
        </p:txBody>
      </p:sp>
      <p:sp>
        <p:nvSpPr>
          <p:cNvPr id="5" name="頁尾版面配置區 4">
            <a:extLst>
              <a:ext uri="{FF2B5EF4-FFF2-40B4-BE49-F238E27FC236}">
                <a16:creationId xmlns:a16="http://schemas.microsoft.com/office/drawing/2014/main" id="{B7DEB773-BC7F-471F-AAA2-C6E648DF122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B0BCD83-5310-40C3-8583-4562F7663092}"/>
              </a:ext>
            </a:extLst>
          </p:cNvPr>
          <p:cNvSpPr>
            <a:spLocks noGrp="1"/>
          </p:cNvSpPr>
          <p:nvPr>
            <p:ph type="sldNum" sz="quarter" idx="12"/>
          </p:nvPr>
        </p:nvSpPr>
        <p:spPr/>
        <p:txBody>
          <a:bodyPr/>
          <a:lstStyle/>
          <a:p>
            <a:fld id="{8DCCD063-7F18-423D-A692-CC9D343FD360}" type="slidenum">
              <a:rPr lang="zh-TW" altLang="en-US" smtClean="0"/>
              <a:t>‹#›</a:t>
            </a:fld>
            <a:endParaRPr lang="zh-TW" altLang="en-US" dirty="0"/>
          </a:p>
        </p:txBody>
      </p:sp>
    </p:spTree>
    <p:extLst>
      <p:ext uri="{BB962C8B-B14F-4D97-AF65-F5344CB8AC3E}">
        <p14:creationId xmlns:p14="http://schemas.microsoft.com/office/powerpoint/2010/main" val="2545978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8FC2AA-8240-4810-8FED-A3DD62B5345C}"/>
              </a:ext>
            </a:extLst>
          </p:cNvPr>
          <p:cNvSpPr>
            <a:spLocks noGrp="1"/>
          </p:cNvSpPr>
          <p:nvPr>
            <p:ph type="title"/>
          </p:nvPr>
        </p:nvSpPr>
        <p:spPr/>
        <p:txBody>
          <a:bodyPr/>
          <a:lstStyle>
            <a:lvl1pPr>
              <a:defRPr b="1"/>
            </a:lvl1pPr>
          </a:lstStyle>
          <a:p>
            <a:r>
              <a:rPr lang="zh-TW" altLang="en-US" dirty="0"/>
              <a:t>按一下以編輯母片標題樣式</a:t>
            </a:r>
          </a:p>
        </p:txBody>
      </p:sp>
      <p:sp>
        <p:nvSpPr>
          <p:cNvPr id="3" name="內容版面配置區 2">
            <a:extLst>
              <a:ext uri="{FF2B5EF4-FFF2-40B4-BE49-F238E27FC236}">
                <a16:creationId xmlns:a16="http://schemas.microsoft.com/office/drawing/2014/main" id="{654AF7A4-3700-4BCA-8788-5F4FBE9852E0}"/>
              </a:ext>
            </a:extLst>
          </p:cNvPr>
          <p:cNvSpPr>
            <a:spLocks noGrp="1"/>
          </p:cNvSpPr>
          <p:nvPr>
            <p:ph idx="1"/>
          </p:nvPr>
        </p:nvSpPr>
        <p:spPr/>
        <p:txBody>
          <a:body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84D63DA6-083D-4C87-B46F-4639F5BADD1D}"/>
              </a:ext>
            </a:extLst>
          </p:cNvPr>
          <p:cNvSpPr>
            <a:spLocks noGrp="1"/>
          </p:cNvSpPr>
          <p:nvPr>
            <p:ph type="dt" sz="half" idx="10"/>
          </p:nvPr>
        </p:nvSpPr>
        <p:spPr/>
        <p:txBody>
          <a:bodyPr/>
          <a:lstStyle/>
          <a:p>
            <a:fld id="{45E90CF3-7BCB-4E41-A4BC-7F7C7D47433D}" type="datetime1">
              <a:rPr lang="zh-TW" altLang="en-US" smtClean="0"/>
              <a:t>2019/1/12</a:t>
            </a:fld>
            <a:endParaRPr lang="zh-TW" altLang="en-US"/>
          </a:p>
        </p:txBody>
      </p:sp>
      <p:sp>
        <p:nvSpPr>
          <p:cNvPr id="5" name="頁尾版面配置區 4">
            <a:extLst>
              <a:ext uri="{FF2B5EF4-FFF2-40B4-BE49-F238E27FC236}">
                <a16:creationId xmlns:a16="http://schemas.microsoft.com/office/drawing/2014/main" id="{3FA96B28-A6B2-4CCD-A0A0-0FC8A9F244A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52F41030-E2A0-4DD7-A077-C86BB9D1F485}"/>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9295099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59C8D0-3EEB-43FA-AB9E-D0910F9C8F7C}"/>
              </a:ext>
            </a:extLst>
          </p:cNvPr>
          <p:cNvSpPr>
            <a:spLocks noGrp="1"/>
          </p:cNvSpPr>
          <p:nvPr>
            <p:ph type="title"/>
          </p:nvPr>
        </p:nvSpPr>
        <p:spPr>
          <a:xfrm>
            <a:off x="831851" y="1709740"/>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56C8DA04-C654-4A32-81E1-D1990594B0BF}"/>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F67C9000-9E5A-4894-8CE5-D814ED1F8837}"/>
              </a:ext>
            </a:extLst>
          </p:cNvPr>
          <p:cNvSpPr>
            <a:spLocks noGrp="1"/>
          </p:cNvSpPr>
          <p:nvPr>
            <p:ph type="dt" sz="half" idx="10"/>
          </p:nvPr>
        </p:nvSpPr>
        <p:spPr/>
        <p:txBody>
          <a:bodyPr/>
          <a:lstStyle/>
          <a:p>
            <a:fld id="{939863AD-E347-426A-B227-78A9B42781C3}" type="datetime1">
              <a:rPr lang="zh-TW" altLang="en-US" smtClean="0"/>
              <a:t>2019/1/12</a:t>
            </a:fld>
            <a:endParaRPr lang="zh-TW" altLang="en-US"/>
          </a:p>
        </p:txBody>
      </p:sp>
      <p:sp>
        <p:nvSpPr>
          <p:cNvPr id="5" name="頁尾版面配置區 4">
            <a:extLst>
              <a:ext uri="{FF2B5EF4-FFF2-40B4-BE49-F238E27FC236}">
                <a16:creationId xmlns:a16="http://schemas.microsoft.com/office/drawing/2014/main" id="{BB87D9EE-8E3C-41CA-841E-E125FA8770C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B02431B-5153-4936-B0EE-CABE36F7C2C4}"/>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158174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3A66F51-D3F0-406D-AAC3-01300BB0D94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31FBDAEA-0EC9-4BFC-B4DC-9A02E134EEF0}"/>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30943015-4729-44AB-B601-E3BFA2BA7599}"/>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19E55BE4-DE58-4CB4-A138-82C7FA95E005}"/>
              </a:ext>
            </a:extLst>
          </p:cNvPr>
          <p:cNvSpPr>
            <a:spLocks noGrp="1"/>
          </p:cNvSpPr>
          <p:nvPr>
            <p:ph type="dt" sz="half" idx="10"/>
          </p:nvPr>
        </p:nvSpPr>
        <p:spPr/>
        <p:txBody>
          <a:bodyPr/>
          <a:lstStyle/>
          <a:p>
            <a:fld id="{98EE8F46-57F3-4B32-B3C0-034060244659}" type="datetime1">
              <a:rPr lang="zh-TW" altLang="en-US" smtClean="0"/>
              <a:t>2019/1/12</a:t>
            </a:fld>
            <a:endParaRPr lang="zh-TW" altLang="en-US"/>
          </a:p>
        </p:txBody>
      </p:sp>
      <p:sp>
        <p:nvSpPr>
          <p:cNvPr id="6" name="頁尾版面配置區 5">
            <a:extLst>
              <a:ext uri="{FF2B5EF4-FFF2-40B4-BE49-F238E27FC236}">
                <a16:creationId xmlns:a16="http://schemas.microsoft.com/office/drawing/2014/main" id="{2E94F790-01BB-4A74-B31E-9E0181378F8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11A38C2-FB38-4EF1-BEE9-C6127183E77F}"/>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109885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B86871-0575-4B21-9333-0B96E286CBA3}"/>
              </a:ext>
            </a:extLst>
          </p:cNvPr>
          <p:cNvSpPr>
            <a:spLocks noGrp="1"/>
          </p:cNvSpPr>
          <p:nvPr>
            <p:ph type="title"/>
          </p:nvPr>
        </p:nvSpPr>
        <p:spPr>
          <a:xfrm>
            <a:off x="839788" y="365127"/>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5CE8BC1-3B30-4676-AAB2-794442C2DB64}"/>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DED19164-1E96-40EE-9246-AA1E6599974F}"/>
              </a:ext>
            </a:extLst>
          </p:cNvPr>
          <p:cNvSpPr>
            <a:spLocks noGrp="1"/>
          </p:cNvSpPr>
          <p:nvPr>
            <p:ph sz="half" idx="2"/>
          </p:nvPr>
        </p:nvSpPr>
        <p:spPr>
          <a:xfrm>
            <a:off x="839789"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DA06F7C1-0AF6-46DF-8CF5-44E8DBBE2DD5}"/>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9F3B69BF-E2A2-49C3-B1F9-786966B06347}"/>
              </a:ext>
            </a:extLst>
          </p:cNvPr>
          <p:cNvSpPr>
            <a:spLocks noGrp="1"/>
          </p:cNvSpPr>
          <p:nvPr>
            <p:ph sz="quarter" idx="4"/>
          </p:nvPr>
        </p:nvSpPr>
        <p:spPr>
          <a:xfrm>
            <a:off x="6172201"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81164490-F37E-4BF2-B792-E41261B07B22}"/>
              </a:ext>
            </a:extLst>
          </p:cNvPr>
          <p:cNvSpPr>
            <a:spLocks noGrp="1"/>
          </p:cNvSpPr>
          <p:nvPr>
            <p:ph type="dt" sz="half" idx="10"/>
          </p:nvPr>
        </p:nvSpPr>
        <p:spPr/>
        <p:txBody>
          <a:bodyPr/>
          <a:lstStyle/>
          <a:p>
            <a:fld id="{25BE6354-929A-48E4-A569-5065F8787DBB}" type="datetime1">
              <a:rPr lang="zh-TW" altLang="en-US" smtClean="0"/>
              <a:t>2019/1/12</a:t>
            </a:fld>
            <a:endParaRPr lang="zh-TW" altLang="en-US"/>
          </a:p>
        </p:txBody>
      </p:sp>
      <p:sp>
        <p:nvSpPr>
          <p:cNvPr id="8" name="頁尾版面配置區 7">
            <a:extLst>
              <a:ext uri="{FF2B5EF4-FFF2-40B4-BE49-F238E27FC236}">
                <a16:creationId xmlns:a16="http://schemas.microsoft.com/office/drawing/2014/main" id="{2AD5587A-E829-42C8-831F-99414F4962BA}"/>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29B54927-CA1D-4379-9562-EFDFDA5D89FA}"/>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229502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639C19A-DE44-4713-BF93-3D9F1FCBE759}"/>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A067B964-A9EE-448C-A903-DF032F75B54E}"/>
              </a:ext>
            </a:extLst>
          </p:cNvPr>
          <p:cNvSpPr>
            <a:spLocks noGrp="1"/>
          </p:cNvSpPr>
          <p:nvPr>
            <p:ph type="dt" sz="half" idx="10"/>
          </p:nvPr>
        </p:nvSpPr>
        <p:spPr/>
        <p:txBody>
          <a:bodyPr/>
          <a:lstStyle/>
          <a:p>
            <a:fld id="{9347B07A-C303-4A11-829E-75A08D84F791}" type="datetime1">
              <a:rPr lang="zh-TW" altLang="en-US" smtClean="0"/>
              <a:t>2019/1/12</a:t>
            </a:fld>
            <a:endParaRPr lang="zh-TW" altLang="en-US"/>
          </a:p>
        </p:txBody>
      </p:sp>
      <p:sp>
        <p:nvSpPr>
          <p:cNvPr id="4" name="頁尾版面配置區 3">
            <a:extLst>
              <a:ext uri="{FF2B5EF4-FFF2-40B4-BE49-F238E27FC236}">
                <a16:creationId xmlns:a16="http://schemas.microsoft.com/office/drawing/2014/main" id="{89FBDCDA-948D-4D74-A9CB-BF0FDF2891D3}"/>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6BF2C7E3-47A7-4611-B686-B56505F1B32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956072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05DC494-3175-4D2C-8019-6DC804B304DE}"/>
              </a:ext>
            </a:extLst>
          </p:cNvPr>
          <p:cNvSpPr>
            <a:spLocks noGrp="1"/>
          </p:cNvSpPr>
          <p:nvPr>
            <p:ph type="dt" sz="half" idx="10"/>
          </p:nvPr>
        </p:nvSpPr>
        <p:spPr/>
        <p:txBody>
          <a:bodyPr/>
          <a:lstStyle/>
          <a:p>
            <a:fld id="{818C0FAA-EAB9-46FF-9B2E-6C03EFE0E627}" type="datetime1">
              <a:rPr lang="zh-TW" altLang="en-US" smtClean="0"/>
              <a:t>2019/1/12</a:t>
            </a:fld>
            <a:endParaRPr lang="zh-TW" altLang="en-US"/>
          </a:p>
        </p:txBody>
      </p:sp>
      <p:sp>
        <p:nvSpPr>
          <p:cNvPr id="3" name="頁尾版面配置區 2">
            <a:extLst>
              <a:ext uri="{FF2B5EF4-FFF2-40B4-BE49-F238E27FC236}">
                <a16:creationId xmlns:a16="http://schemas.microsoft.com/office/drawing/2014/main" id="{A61414F2-4AAB-4D3D-9B55-6D611E2C51B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D327B6FE-1D54-44CF-9B02-7D4B222A733F}"/>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301405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A1337AC-5890-4658-9633-0789FDA95738}"/>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6E22CC54-BC45-47EE-96B0-B43A1D1BC316}"/>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5C769566-CB0F-43CF-9358-EBC2CC4FB396}"/>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CE19407D-C528-4858-9191-402D0B2E4E7A}"/>
              </a:ext>
            </a:extLst>
          </p:cNvPr>
          <p:cNvSpPr>
            <a:spLocks noGrp="1"/>
          </p:cNvSpPr>
          <p:nvPr>
            <p:ph type="dt" sz="half" idx="10"/>
          </p:nvPr>
        </p:nvSpPr>
        <p:spPr/>
        <p:txBody>
          <a:bodyPr/>
          <a:lstStyle/>
          <a:p>
            <a:fld id="{6F615960-3F62-4BA7-8DEF-58213E9FC750}" type="datetime1">
              <a:rPr lang="zh-TW" altLang="en-US" smtClean="0"/>
              <a:t>2019/1/12</a:t>
            </a:fld>
            <a:endParaRPr lang="zh-TW" altLang="en-US"/>
          </a:p>
        </p:txBody>
      </p:sp>
      <p:sp>
        <p:nvSpPr>
          <p:cNvPr id="6" name="頁尾版面配置區 5">
            <a:extLst>
              <a:ext uri="{FF2B5EF4-FFF2-40B4-BE49-F238E27FC236}">
                <a16:creationId xmlns:a16="http://schemas.microsoft.com/office/drawing/2014/main" id="{876CEE8D-E284-4A31-91E6-DED43608B81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E8B0B4B-C516-4AA2-BB4B-78EB6C78AB1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330831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41F1C9-4A33-41F9-9A6C-C2CA32C4241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DE938834-CF9D-43C8-A12C-17090FA2F8B1}"/>
              </a:ext>
            </a:extLst>
          </p:cNvPr>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zh-TW" altLang="en-US"/>
          </a:p>
        </p:txBody>
      </p:sp>
      <p:sp>
        <p:nvSpPr>
          <p:cNvPr id="4" name="文字版面配置區 3">
            <a:extLst>
              <a:ext uri="{FF2B5EF4-FFF2-40B4-BE49-F238E27FC236}">
                <a16:creationId xmlns:a16="http://schemas.microsoft.com/office/drawing/2014/main" id="{5533F49C-9EA4-4A17-8CB9-8793107C0947}"/>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93917929-FFD5-45C6-AB7C-0A03F71D13FE}"/>
              </a:ext>
            </a:extLst>
          </p:cNvPr>
          <p:cNvSpPr>
            <a:spLocks noGrp="1"/>
          </p:cNvSpPr>
          <p:nvPr>
            <p:ph type="dt" sz="half" idx="10"/>
          </p:nvPr>
        </p:nvSpPr>
        <p:spPr/>
        <p:txBody>
          <a:bodyPr/>
          <a:lstStyle/>
          <a:p>
            <a:fld id="{BA495139-73A5-4D37-9F65-42DD6EFCB362}" type="datetime1">
              <a:rPr lang="zh-TW" altLang="en-US" smtClean="0"/>
              <a:t>2019/1/12</a:t>
            </a:fld>
            <a:endParaRPr lang="zh-TW" altLang="en-US"/>
          </a:p>
        </p:txBody>
      </p:sp>
      <p:sp>
        <p:nvSpPr>
          <p:cNvPr id="6" name="頁尾版面配置區 5">
            <a:extLst>
              <a:ext uri="{FF2B5EF4-FFF2-40B4-BE49-F238E27FC236}">
                <a16:creationId xmlns:a16="http://schemas.microsoft.com/office/drawing/2014/main" id="{7957C9B4-23F7-4ED4-B3ED-8BA7DAFFBCC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C8198A6-61AE-471E-87FA-7AAA5711C591}"/>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080696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0126FA-CD86-4406-B2A6-385B5925E9B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1266ECCF-61AA-4623-A519-B8C19CE7C88A}"/>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EF64FCF-DA26-41B4-8919-89C752F28E4F}"/>
              </a:ext>
            </a:extLst>
          </p:cNvPr>
          <p:cNvSpPr>
            <a:spLocks noGrp="1"/>
          </p:cNvSpPr>
          <p:nvPr>
            <p:ph type="dt" sz="half" idx="10"/>
          </p:nvPr>
        </p:nvSpPr>
        <p:spPr/>
        <p:txBody>
          <a:bodyPr/>
          <a:lstStyle/>
          <a:p>
            <a:fld id="{F65DB9CA-F34A-4005-B66B-4638821FBB36}" type="datetime1">
              <a:rPr lang="zh-TW" altLang="en-US" smtClean="0"/>
              <a:t>2019/1/12</a:t>
            </a:fld>
            <a:endParaRPr lang="zh-TW" altLang="en-US"/>
          </a:p>
        </p:txBody>
      </p:sp>
      <p:sp>
        <p:nvSpPr>
          <p:cNvPr id="5" name="頁尾版面配置區 4">
            <a:extLst>
              <a:ext uri="{FF2B5EF4-FFF2-40B4-BE49-F238E27FC236}">
                <a16:creationId xmlns:a16="http://schemas.microsoft.com/office/drawing/2014/main" id="{0DB90C5E-07BB-4BDE-A6DE-837D4B32EE0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E20F850-672A-48DC-883D-88316666721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867062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8F3BBB3C-AD7C-461A-B4F6-E1D3B7F36C83}"/>
              </a:ext>
            </a:extLst>
          </p:cNvPr>
          <p:cNvSpPr>
            <a:spLocks noGrp="1"/>
          </p:cNvSpPr>
          <p:nvPr>
            <p:ph type="title" orient="vert"/>
          </p:nvPr>
        </p:nvSpPr>
        <p:spPr>
          <a:xfrm>
            <a:off x="8724901"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9B38A6C4-FFF1-480E-A653-69B9EA56ABA4}"/>
              </a:ext>
            </a:extLst>
          </p:cNvPr>
          <p:cNvSpPr>
            <a:spLocks noGrp="1"/>
          </p:cNvSpPr>
          <p:nvPr>
            <p:ph type="body" orient="vert" idx="1"/>
          </p:nvPr>
        </p:nvSpPr>
        <p:spPr>
          <a:xfrm>
            <a:off x="838201"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253E183-339D-4996-9336-DF360AFA83CE}"/>
              </a:ext>
            </a:extLst>
          </p:cNvPr>
          <p:cNvSpPr>
            <a:spLocks noGrp="1"/>
          </p:cNvSpPr>
          <p:nvPr>
            <p:ph type="dt" sz="half" idx="10"/>
          </p:nvPr>
        </p:nvSpPr>
        <p:spPr/>
        <p:txBody>
          <a:bodyPr/>
          <a:lstStyle/>
          <a:p>
            <a:fld id="{9112FA3D-57A8-4A36-8AB7-98D4B7F81A6B}" type="datetime1">
              <a:rPr lang="zh-TW" altLang="en-US" smtClean="0"/>
              <a:t>2019/1/12</a:t>
            </a:fld>
            <a:endParaRPr lang="zh-TW" altLang="en-US"/>
          </a:p>
        </p:txBody>
      </p:sp>
      <p:sp>
        <p:nvSpPr>
          <p:cNvPr id="5" name="頁尾版面配置區 4">
            <a:extLst>
              <a:ext uri="{FF2B5EF4-FFF2-40B4-BE49-F238E27FC236}">
                <a16:creationId xmlns:a16="http://schemas.microsoft.com/office/drawing/2014/main" id="{BF8900FD-C0EE-4957-AD7C-2F848F09144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F7F8627-2565-4288-8ACC-D27B03944509}"/>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619511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7278959-5364-4351-AC95-0854CBC4DE11}"/>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B7FD0B26-27BA-4591-876F-81883746EF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2AEA749-A752-40EF-9A2F-1D5D321BDD00}"/>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ECB9FC-3C71-41FD-914C-6EDD2F45F0F9}" type="datetime1">
              <a:rPr lang="zh-TW" altLang="en-US" smtClean="0"/>
              <a:t>2019/1/12</a:t>
            </a:fld>
            <a:endParaRPr lang="zh-TW" altLang="en-US"/>
          </a:p>
        </p:txBody>
      </p:sp>
      <p:sp>
        <p:nvSpPr>
          <p:cNvPr id="5" name="頁尾版面配置區 4">
            <a:extLst>
              <a:ext uri="{FF2B5EF4-FFF2-40B4-BE49-F238E27FC236}">
                <a16:creationId xmlns:a16="http://schemas.microsoft.com/office/drawing/2014/main" id="{D0EBD8A3-AFAC-4E16-BF90-054E8ED749DC}"/>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9B23ABFF-0703-422A-93E4-68B89B878C29}"/>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CCD063-7F18-423D-A692-CC9D343FD360}" type="slidenum">
              <a:rPr lang="zh-TW" altLang="en-US" smtClean="0"/>
              <a:t>‹#›</a:t>
            </a:fld>
            <a:endParaRPr lang="zh-TW" altLang="en-US" dirty="0"/>
          </a:p>
        </p:txBody>
      </p:sp>
    </p:spTree>
    <p:extLst>
      <p:ext uri="{BB962C8B-B14F-4D97-AF65-F5344CB8AC3E}">
        <p14:creationId xmlns:p14="http://schemas.microsoft.com/office/powerpoint/2010/main" val="12461227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zh.wikipedia.org/wiki/%E8%B4%B5%E9%98%B3%E5%B8%82" TargetMode="Externa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www.google.com/maps/place/%E4%B8%AD%E5%9C%8B%E8%B2%B4%E5%B7%9E%E7%9C%81%E8%B2%B4%E9%99%BD%E5%B8%82/@25.1230788,95.8745089,5.07z/data=!4m5!3m4!1s0x36bf67c355ec1b37:0x173381c0d8316455!8m2!3d26.647661!4d106.630153"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600E22-8B2D-44A2-B529-2D5C521DF6EC}"/>
              </a:ext>
            </a:extLst>
          </p:cNvPr>
          <p:cNvSpPr>
            <a:spLocks noGrp="1"/>
          </p:cNvSpPr>
          <p:nvPr>
            <p:ph type="ctrTitle"/>
          </p:nvPr>
        </p:nvSpPr>
        <p:spPr>
          <a:xfrm>
            <a:off x="640553" y="566680"/>
            <a:ext cx="10910887" cy="1356957"/>
          </a:xfrm>
        </p:spPr>
        <p:txBody>
          <a:bodyPr>
            <a:noAutofit/>
          </a:bodyPr>
          <a:lstStyle/>
          <a:p>
            <a:r>
              <a:rPr lang="en-US" altLang="zh-TW" sz="4000" dirty="0"/>
              <a:t>Improvement of Dynamic Time Warping (DTW) Algorithm</a:t>
            </a:r>
            <a:endParaRPr lang="zh-TW" altLang="en-US" sz="4000" dirty="0">
              <a:latin typeface="Tw Cen MT" panose="020B0602020104020603" pitchFamily="34" charset="0"/>
              <a:cs typeface="Times New Roman" panose="02020603050405020304" pitchFamily="18" charset="0"/>
            </a:endParaRPr>
          </a:p>
        </p:txBody>
      </p:sp>
      <p:sp>
        <p:nvSpPr>
          <p:cNvPr id="3" name="副標題 2">
            <a:extLst>
              <a:ext uri="{FF2B5EF4-FFF2-40B4-BE49-F238E27FC236}">
                <a16:creationId xmlns:a16="http://schemas.microsoft.com/office/drawing/2014/main" id="{E1F7DB53-5192-4070-9ADE-B5C85E35C2CC}"/>
              </a:ext>
            </a:extLst>
          </p:cNvPr>
          <p:cNvSpPr>
            <a:spLocks noGrp="1"/>
          </p:cNvSpPr>
          <p:nvPr>
            <p:ph type="subTitle" idx="1"/>
          </p:nvPr>
        </p:nvSpPr>
        <p:spPr>
          <a:xfrm>
            <a:off x="383332" y="2810596"/>
            <a:ext cx="11425330" cy="489557"/>
          </a:xfrm>
        </p:spPr>
        <p:txBody>
          <a:bodyPr>
            <a:noAutofit/>
          </a:bodyPr>
          <a:lstStyle/>
          <a:p>
            <a:r>
              <a:rPr lang="en-US" altLang="zh-TW" dirty="0"/>
              <a:t> </a:t>
            </a:r>
            <a:r>
              <a:rPr lang="en-US" altLang="zh-TW" dirty="0" err="1"/>
              <a:t>Yuansheng</a:t>
            </a:r>
            <a:r>
              <a:rPr lang="en-US" altLang="zh-TW" dirty="0"/>
              <a:t> Lou, </a:t>
            </a:r>
            <a:r>
              <a:rPr lang="en-US" altLang="zh-TW" dirty="0" err="1"/>
              <a:t>Huanhuan</a:t>
            </a:r>
            <a:r>
              <a:rPr lang="en-US" altLang="zh-TW" dirty="0"/>
              <a:t> </a:t>
            </a:r>
            <a:r>
              <a:rPr lang="en-US" altLang="zh-TW" dirty="0" err="1"/>
              <a:t>Ao</a:t>
            </a:r>
            <a:r>
              <a:rPr lang="en-US" altLang="zh-TW" dirty="0"/>
              <a:t> and </a:t>
            </a:r>
            <a:r>
              <a:rPr lang="en-US" altLang="zh-TW" dirty="0" err="1"/>
              <a:t>Yuchao</a:t>
            </a:r>
            <a:r>
              <a:rPr lang="en-US" altLang="zh-TW" dirty="0"/>
              <a:t> Dong</a:t>
            </a:r>
            <a:br>
              <a:rPr lang="en-US" altLang="zh-TW" dirty="0"/>
            </a:br>
            <a:endParaRPr lang="zh-TW" altLang="en-US" sz="2600" dirty="0"/>
          </a:p>
        </p:txBody>
      </p:sp>
      <p:sp>
        <p:nvSpPr>
          <p:cNvPr id="4" name="投影片編號版面配置區 3">
            <a:extLst>
              <a:ext uri="{FF2B5EF4-FFF2-40B4-BE49-F238E27FC236}">
                <a16:creationId xmlns:a16="http://schemas.microsoft.com/office/drawing/2014/main" id="{F20F7494-AC7E-43FC-B731-082CA109D2FA}"/>
              </a:ext>
            </a:extLst>
          </p:cNvPr>
          <p:cNvSpPr>
            <a:spLocks noGrp="1"/>
          </p:cNvSpPr>
          <p:nvPr>
            <p:ph type="sldNum" sz="quarter" idx="12"/>
          </p:nvPr>
        </p:nvSpPr>
        <p:spPr>
          <a:xfrm>
            <a:off x="8354568" y="6485003"/>
            <a:ext cx="2743200" cy="365125"/>
          </a:xfrm>
        </p:spPr>
        <p:txBody>
          <a:bodyPr/>
          <a:lstStyle/>
          <a:p>
            <a:fld id="{8DCCD063-7F18-423D-A692-CC9D343FD360}" type="slidenum">
              <a:rPr lang="zh-TW" altLang="en-US" smtClean="0"/>
              <a:t>1</a:t>
            </a:fld>
            <a:endParaRPr lang="zh-TW" altLang="en-US" dirty="0"/>
          </a:p>
        </p:txBody>
      </p:sp>
      <p:sp>
        <p:nvSpPr>
          <p:cNvPr id="5" name="副標題 2">
            <a:extLst>
              <a:ext uri="{FF2B5EF4-FFF2-40B4-BE49-F238E27FC236}">
                <a16:creationId xmlns:a16="http://schemas.microsoft.com/office/drawing/2014/main" id="{CC60B4B8-BDE3-427A-B56B-7314F1C4CCA4}"/>
              </a:ext>
            </a:extLst>
          </p:cNvPr>
          <p:cNvSpPr txBox="1">
            <a:spLocks/>
          </p:cNvSpPr>
          <p:nvPr/>
        </p:nvSpPr>
        <p:spPr>
          <a:xfrm>
            <a:off x="526942" y="3584718"/>
            <a:ext cx="11138108" cy="130786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lumMod val="6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sz="2800" b="1" dirty="0">
                <a:solidFill>
                  <a:schemeClr val="tx1"/>
                </a:solidFill>
              </a:rPr>
              <a:t>Proceeding of 14th International Symposium on Distributed Computing and Applications for Business Engineering and Science</a:t>
            </a:r>
          </a:p>
          <a:p>
            <a:r>
              <a:rPr lang="en-US" altLang="zh-TW" sz="2800" b="1" dirty="0">
                <a:solidFill>
                  <a:schemeClr val="tx1"/>
                </a:solidFill>
              </a:rPr>
              <a:t>Guiyang, China, 18-24 Aug. 2015</a:t>
            </a:r>
          </a:p>
        </p:txBody>
      </p:sp>
      <p:sp>
        <p:nvSpPr>
          <p:cNvPr id="6" name="副標題 2">
            <a:extLst>
              <a:ext uri="{FF2B5EF4-FFF2-40B4-BE49-F238E27FC236}">
                <a16:creationId xmlns:a16="http://schemas.microsoft.com/office/drawing/2014/main" id="{F161951C-063C-40D4-A802-0FD8D23F3044}"/>
              </a:ext>
            </a:extLst>
          </p:cNvPr>
          <p:cNvSpPr txBox="1">
            <a:spLocks/>
          </p:cNvSpPr>
          <p:nvPr/>
        </p:nvSpPr>
        <p:spPr>
          <a:xfrm>
            <a:off x="1192823" y="5265553"/>
            <a:ext cx="9806355" cy="90273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lumMod val="6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sz="2800" dirty="0">
                <a:solidFill>
                  <a:schemeClr val="tx1"/>
                </a:solidFill>
              </a:rPr>
              <a:t>Presenter: Shan-Ru Liu</a:t>
            </a:r>
          </a:p>
          <a:p>
            <a:r>
              <a:rPr lang="en-US" altLang="zh-TW" sz="2800" dirty="0">
                <a:solidFill>
                  <a:schemeClr val="tx1"/>
                </a:solidFill>
              </a:rPr>
              <a:t>Date: 2019/01/15</a:t>
            </a:r>
            <a:endParaRPr lang="zh-TW" altLang="en-US" sz="2800" dirty="0">
              <a:solidFill>
                <a:schemeClr val="tx1"/>
              </a:solidFill>
            </a:endParaRPr>
          </a:p>
        </p:txBody>
      </p:sp>
    </p:spTree>
    <p:extLst>
      <p:ext uri="{BB962C8B-B14F-4D97-AF65-F5344CB8AC3E}">
        <p14:creationId xmlns:p14="http://schemas.microsoft.com/office/powerpoint/2010/main" val="1428191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86F08D8-915D-46B6-86BB-86EF13931D94}"/>
              </a:ext>
            </a:extLst>
          </p:cNvPr>
          <p:cNvSpPr>
            <a:spLocks noGrp="1"/>
          </p:cNvSpPr>
          <p:nvPr>
            <p:ph type="title"/>
          </p:nvPr>
        </p:nvSpPr>
        <p:spPr/>
        <p:txBody>
          <a:bodyPr/>
          <a:lstStyle/>
          <a:p>
            <a:r>
              <a:rPr lang="zh-TW" altLang="en-US" dirty="0"/>
              <a:t>貴陽</a:t>
            </a:r>
          </a:p>
        </p:txBody>
      </p:sp>
      <p:pic>
        <p:nvPicPr>
          <p:cNvPr id="5" name="內容版面配置區 4">
            <a:extLst>
              <a:ext uri="{FF2B5EF4-FFF2-40B4-BE49-F238E27FC236}">
                <a16:creationId xmlns:a16="http://schemas.microsoft.com/office/drawing/2014/main" id="{94651E27-C189-4C05-BC22-7C7E1D7E954C}"/>
              </a:ext>
            </a:extLst>
          </p:cNvPr>
          <p:cNvPicPr>
            <a:picLocks noGrp="1" noChangeAspect="1"/>
          </p:cNvPicPr>
          <p:nvPr>
            <p:ph idx="1"/>
          </p:nvPr>
        </p:nvPicPr>
        <p:blipFill>
          <a:blip r:embed="rId2"/>
          <a:stretch>
            <a:fillRect/>
          </a:stretch>
        </p:blipFill>
        <p:spPr>
          <a:xfrm>
            <a:off x="3105751" y="529155"/>
            <a:ext cx="8414303" cy="5799690"/>
          </a:xfrm>
          <a:prstGeom prst="rect">
            <a:avLst/>
          </a:prstGeom>
        </p:spPr>
      </p:pic>
      <p:sp>
        <p:nvSpPr>
          <p:cNvPr id="4" name="投影片編號版面配置區 3">
            <a:extLst>
              <a:ext uri="{FF2B5EF4-FFF2-40B4-BE49-F238E27FC236}">
                <a16:creationId xmlns:a16="http://schemas.microsoft.com/office/drawing/2014/main" id="{DD5448CB-261A-4D2B-8FD5-05DF1518C599}"/>
              </a:ext>
            </a:extLst>
          </p:cNvPr>
          <p:cNvSpPr>
            <a:spLocks noGrp="1"/>
          </p:cNvSpPr>
          <p:nvPr>
            <p:ph type="sldNum" sz="quarter" idx="12"/>
          </p:nvPr>
        </p:nvSpPr>
        <p:spPr/>
        <p:txBody>
          <a:bodyPr/>
          <a:lstStyle/>
          <a:p>
            <a:fld id="{8DCCD063-7F18-423D-A692-CC9D343FD360}" type="slidenum">
              <a:rPr lang="zh-TW" altLang="en-US" smtClean="0"/>
              <a:t>2</a:t>
            </a:fld>
            <a:endParaRPr lang="zh-TW" altLang="en-US"/>
          </a:p>
        </p:txBody>
      </p:sp>
      <p:sp>
        <p:nvSpPr>
          <p:cNvPr id="6" name="橢圓 5">
            <a:extLst>
              <a:ext uri="{FF2B5EF4-FFF2-40B4-BE49-F238E27FC236}">
                <a16:creationId xmlns:a16="http://schemas.microsoft.com/office/drawing/2014/main" id="{23270D43-7FEB-4699-85B3-9BCA9D2C75F5}"/>
              </a:ext>
            </a:extLst>
          </p:cNvPr>
          <p:cNvSpPr/>
          <p:nvPr/>
        </p:nvSpPr>
        <p:spPr>
          <a:xfrm>
            <a:off x="7132336" y="4394154"/>
            <a:ext cx="109183" cy="11373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7" name="橢圓 6">
            <a:hlinkClick r:id="rId3"/>
            <a:extLst>
              <a:ext uri="{FF2B5EF4-FFF2-40B4-BE49-F238E27FC236}">
                <a16:creationId xmlns:a16="http://schemas.microsoft.com/office/drawing/2014/main" id="{32DD972B-8798-4AD0-A551-35B7250411DF}"/>
              </a:ext>
            </a:extLst>
          </p:cNvPr>
          <p:cNvSpPr/>
          <p:nvPr/>
        </p:nvSpPr>
        <p:spPr>
          <a:xfrm>
            <a:off x="383332" y="6242858"/>
            <a:ext cx="389752" cy="38975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橢圓 7">
            <a:hlinkClick r:id="rId4"/>
            <a:extLst>
              <a:ext uri="{FF2B5EF4-FFF2-40B4-BE49-F238E27FC236}">
                <a16:creationId xmlns:a16="http://schemas.microsoft.com/office/drawing/2014/main" id="{DD1A559E-19DD-4447-B1DA-8A40AD32F2FF}"/>
              </a:ext>
            </a:extLst>
          </p:cNvPr>
          <p:cNvSpPr/>
          <p:nvPr/>
        </p:nvSpPr>
        <p:spPr>
          <a:xfrm>
            <a:off x="939338" y="6242858"/>
            <a:ext cx="389752" cy="389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84D164F7-76DC-43C1-8B14-78EC0CD92F57}"/>
              </a:ext>
            </a:extLst>
          </p:cNvPr>
          <p:cNvSpPr/>
          <p:nvPr/>
        </p:nvSpPr>
        <p:spPr>
          <a:xfrm>
            <a:off x="146019" y="1776148"/>
            <a:ext cx="2646878" cy="461665"/>
          </a:xfrm>
          <a:prstGeom prst="rect">
            <a:avLst/>
          </a:prstGeom>
        </p:spPr>
        <p:txBody>
          <a:bodyPr wrap="none">
            <a:spAutoFit/>
          </a:bodyPr>
          <a:lstStyle/>
          <a:p>
            <a:r>
              <a:rPr lang="zh-TW" altLang="en-US" sz="2400" dirty="0">
                <a:solidFill>
                  <a:srgbClr val="222222"/>
                </a:solidFill>
                <a:latin typeface="Arial" panose="020B0604020202020204" pitchFamily="34" charset="0"/>
              </a:rPr>
              <a:t>簡稱</a:t>
            </a:r>
            <a:r>
              <a:rPr lang="zh-TW" altLang="en-US" sz="2400" b="1" dirty="0">
                <a:solidFill>
                  <a:srgbClr val="222222"/>
                </a:solidFill>
                <a:latin typeface="Arial" panose="020B0604020202020204" pitchFamily="34" charset="0"/>
              </a:rPr>
              <a:t>筑</a:t>
            </a:r>
            <a:r>
              <a:rPr lang="zh-TW" altLang="en-US" sz="2400" dirty="0">
                <a:solidFill>
                  <a:srgbClr val="222222"/>
                </a:solidFill>
                <a:latin typeface="Arial" panose="020B0604020202020204" pitchFamily="34" charset="0"/>
              </a:rPr>
              <a:t>，別稱</a:t>
            </a:r>
            <a:r>
              <a:rPr lang="zh-TW" altLang="en-US" sz="2400" b="1" dirty="0">
                <a:solidFill>
                  <a:srgbClr val="222222"/>
                </a:solidFill>
                <a:latin typeface="Arial" panose="020B0604020202020204" pitchFamily="34" charset="0"/>
              </a:rPr>
              <a:t>林城</a:t>
            </a:r>
            <a:endParaRPr lang="zh-TW" altLang="en-US" sz="2400" dirty="0"/>
          </a:p>
        </p:txBody>
      </p:sp>
    </p:spTree>
    <p:extLst>
      <p:ext uri="{BB962C8B-B14F-4D97-AF65-F5344CB8AC3E}">
        <p14:creationId xmlns:p14="http://schemas.microsoft.com/office/powerpoint/2010/main" val="12005630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51E4FEA-D504-4984-8169-77A8B62C8DAA}"/>
              </a:ext>
            </a:extLst>
          </p:cNvPr>
          <p:cNvSpPr>
            <a:spLocks noGrp="1"/>
          </p:cNvSpPr>
          <p:nvPr>
            <p:ph type="title"/>
          </p:nvPr>
        </p:nvSpPr>
        <p:spPr/>
        <p:txBody>
          <a:bodyPr/>
          <a:lstStyle/>
          <a:p>
            <a:r>
              <a:rPr lang="en-US" altLang="zh-TW" dirty="0"/>
              <a:t>Abstract</a:t>
            </a:r>
            <a:endParaRPr lang="zh-TW" altLang="en-US" dirty="0"/>
          </a:p>
        </p:txBody>
      </p:sp>
      <p:sp>
        <p:nvSpPr>
          <p:cNvPr id="3" name="內容版面配置區 2">
            <a:extLst>
              <a:ext uri="{FF2B5EF4-FFF2-40B4-BE49-F238E27FC236}">
                <a16:creationId xmlns:a16="http://schemas.microsoft.com/office/drawing/2014/main" id="{48A7BC5F-5DB6-4B6E-A263-D2C31A7AB884}"/>
              </a:ext>
            </a:extLst>
          </p:cNvPr>
          <p:cNvSpPr>
            <a:spLocks noGrp="1"/>
          </p:cNvSpPr>
          <p:nvPr>
            <p:ph idx="1"/>
          </p:nvPr>
        </p:nvSpPr>
        <p:spPr>
          <a:xfrm>
            <a:off x="838200" y="1568950"/>
            <a:ext cx="10109886" cy="4446839"/>
          </a:xfrm>
        </p:spPr>
        <p:txBody>
          <a:bodyPr>
            <a:noAutofit/>
          </a:bodyPr>
          <a:lstStyle/>
          <a:p>
            <a:pPr marL="0" indent="0" algn="just">
              <a:buNone/>
            </a:pPr>
            <a:r>
              <a:rPr lang="en-US" altLang="zh-TW" dirty="0"/>
              <a:t>Dynamic time warping algorithm is widely used in similar search of time series. However, large scales of route search in existing algorithms resulting in low operational efficiency. In order to improve the efficiency of dynamic time warping algorithm, this paper put forward an improved algorithm, which plans out a three rectangular area in the search area of the existing algorithms, search path won't arrive the points outside the rectangular area, thus further reduced the search range of regular path. To some extent, this algorithm reduces computation of original algorithm, thus improving the operational efficiency. The improvement is more pronounced when two time series are longer.</a:t>
            </a:r>
            <a:endParaRPr lang="zh-TW" altLang="en-US" dirty="0"/>
          </a:p>
        </p:txBody>
      </p:sp>
      <p:sp>
        <p:nvSpPr>
          <p:cNvPr id="4" name="投影片編號版面配置區 3">
            <a:extLst>
              <a:ext uri="{FF2B5EF4-FFF2-40B4-BE49-F238E27FC236}">
                <a16:creationId xmlns:a16="http://schemas.microsoft.com/office/drawing/2014/main" id="{8A8B9C12-508D-4AC0-A402-645B6EC72699}"/>
              </a:ext>
            </a:extLst>
          </p:cNvPr>
          <p:cNvSpPr>
            <a:spLocks noGrp="1"/>
          </p:cNvSpPr>
          <p:nvPr>
            <p:ph type="sldNum" sz="quarter" idx="12"/>
          </p:nvPr>
        </p:nvSpPr>
        <p:spPr/>
        <p:txBody>
          <a:bodyPr/>
          <a:lstStyle/>
          <a:p>
            <a:fld id="{8DCCD063-7F18-423D-A692-CC9D343FD360}" type="slidenum">
              <a:rPr lang="zh-TW" altLang="en-US" smtClean="0"/>
              <a:t>3</a:t>
            </a:fld>
            <a:endParaRPr lang="zh-TW" altLang="en-US"/>
          </a:p>
        </p:txBody>
      </p:sp>
    </p:spTree>
    <p:extLst>
      <p:ext uri="{BB962C8B-B14F-4D97-AF65-F5344CB8AC3E}">
        <p14:creationId xmlns:p14="http://schemas.microsoft.com/office/powerpoint/2010/main" val="1679220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A303E99-A4BA-4224-B681-22F7EF5ED860}"/>
              </a:ext>
            </a:extLst>
          </p:cNvPr>
          <p:cNvSpPr>
            <a:spLocks noGrp="1"/>
          </p:cNvSpPr>
          <p:nvPr>
            <p:ph type="title"/>
          </p:nvPr>
        </p:nvSpPr>
        <p:spPr/>
        <p:txBody>
          <a:bodyPr/>
          <a:lstStyle/>
          <a:p>
            <a:r>
              <a:rPr lang="en-US" altLang="zh-TW" dirty="0"/>
              <a:t>Classic DTW with Constraints</a:t>
            </a:r>
            <a:endParaRPr lang="zh-TW" altLang="en-US" dirty="0"/>
          </a:p>
        </p:txBody>
      </p:sp>
      <p:pic>
        <p:nvPicPr>
          <p:cNvPr id="5" name="內容版面配置區 4">
            <a:extLst>
              <a:ext uri="{FF2B5EF4-FFF2-40B4-BE49-F238E27FC236}">
                <a16:creationId xmlns:a16="http://schemas.microsoft.com/office/drawing/2014/main" id="{3C53A942-CABC-48CF-9ECF-320F00E5A2DE}"/>
              </a:ext>
            </a:extLst>
          </p:cNvPr>
          <p:cNvPicPr>
            <a:picLocks noGrp="1" noChangeAspect="1"/>
          </p:cNvPicPr>
          <p:nvPr>
            <p:ph idx="1"/>
          </p:nvPr>
        </p:nvPicPr>
        <p:blipFill>
          <a:blip r:embed="rId2"/>
          <a:stretch>
            <a:fillRect/>
          </a:stretch>
        </p:blipFill>
        <p:spPr>
          <a:xfrm>
            <a:off x="624556" y="1941426"/>
            <a:ext cx="5135310" cy="4414926"/>
          </a:xfrm>
          <a:prstGeom prst="rect">
            <a:avLst/>
          </a:prstGeom>
        </p:spPr>
      </p:pic>
      <p:sp>
        <p:nvSpPr>
          <p:cNvPr id="4" name="投影片編號版面配置區 3">
            <a:extLst>
              <a:ext uri="{FF2B5EF4-FFF2-40B4-BE49-F238E27FC236}">
                <a16:creationId xmlns:a16="http://schemas.microsoft.com/office/drawing/2014/main" id="{04502531-6777-474A-85EB-8FDD48F8B73B}"/>
              </a:ext>
            </a:extLst>
          </p:cNvPr>
          <p:cNvSpPr>
            <a:spLocks noGrp="1"/>
          </p:cNvSpPr>
          <p:nvPr>
            <p:ph type="sldNum" sz="quarter" idx="12"/>
          </p:nvPr>
        </p:nvSpPr>
        <p:spPr/>
        <p:txBody>
          <a:bodyPr/>
          <a:lstStyle/>
          <a:p>
            <a:fld id="{8DCCD063-7F18-423D-A692-CC9D343FD360}" type="slidenum">
              <a:rPr lang="zh-TW" altLang="en-US" smtClean="0"/>
              <a:t>4</a:t>
            </a:fld>
            <a:endParaRPr lang="zh-TW" altLang="en-US"/>
          </a:p>
        </p:txBody>
      </p:sp>
      <mc:AlternateContent xmlns:mc="http://schemas.openxmlformats.org/markup-compatibility/2006">
        <mc:Choice xmlns:a14="http://schemas.microsoft.com/office/drawing/2010/main" Requires="a14">
          <p:sp>
            <p:nvSpPr>
              <p:cNvPr id="6" name="矩形 5">
                <a:extLst>
                  <a:ext uri="{FF2B5EF4-FFF2-40B4-BE49-F238E27FC236}">
                    <a16:creationId xmlns:a16="http://schemas.microsoft.com/office/drawing/2014/main" id="{56C816D6-BEA5-4E38-8CAA-E42B26803E78}"/>
                  </a:ext>
                </a:extLst>
              </p:cNvPr>
              <p:cNvSpPr/>
              <p:nvPr/>
            </p:nvSpPr>
            <p:spPr>
              <a:xfrm>
                <a:off x="5759866" y="1941426"/>
                <a:ext cx="6096000" cy="4687758"/>
              </a:xfrm>
              <a:prstGeom prst="rect">
                <a:avLst/>
              </a:prstGeom>
            </p:spPr>
            <p:txBody>
              <a:bodyPr>
                <a:spAutoFit/>
              </a:bodyPr>
              <a:lstStyle/>
              <a:p>
                <a:r>
                  <a:rPr lang="en-US" altLang="zh-TW" sz="2400" dirty="0"/>
                  <a:t>y</a:t>
                </a:r>
                <a:r>
                  <a:rPr lang="en-US" altLang="zh-TW" sz="2400" baseline="-25000" dirty="0" err="1"/>
                  <a:t>OA</a:t>
                </a:r>
                <a:r>
                  <a:rPr lang="en-US" altLang="zh-TW" sz="2400" dirty="0"/>
                  <a:t> = 2x, </a:t>
                </a:r>
                <a:r>
                  <a:rPr lang="en-US" altLang="zh-TW" sz="2400" dirty="0" err="1"/>
                  <a:t>y</a:t>
                </a:r>
                <a:r>
                  <a:rPr lang="en-US" altLang="zh-TW" sz="2400" baseline="-25000" dirty="0" err="1"/>
                  <a:t>OC</a:t>
                </a:r>
                <a:r>
                  <a:rPr lang="en-US" altLang="zh-TW" sz="2400" dirty="0"/>
                  <a:t> = 0.5x, </a:t>
                </a:r>
              </a:p>
              <a:p>
                <a:r>
                  <a:rPr lang="en-US" altLang="zh-TW" sz="2400" dirty="0" err="1"/>
                  <a:t>y</a:t>
                </a:r>
                <a:r>
                  <a:rPr lang="en-US" altLang="zh-TW" sz="2400" baseline="-25000" dirty="0" err="1"/>
                  <a:t>AB</a:t>
                </a:r>
                <a:r>
                  <a:rPr lang="en-US" altLang="zh-TW" sz="2400" dirty="0"/>
                  <a:t> = 0.5x+m-0.5n, </a:t>
                </a:r>
                <a:r>
                  <a:rPr lang="en-US" altLang="zh-TW" sz="2400" dirty="0" err="1"/>
                  <a:t>y</a:t>
                </a:r>
                <a:r>
                  <a:rPr lang="en-US" altLang="zh-TW" sz="2400" baseline="-25000" dirty="0" err="1"/>
                  <a:t>CB</a:t>
                </a:r>
                <a:r>
                  <a:rPr lang="en-US" altLang="zh-TW" sz="2400" dirty="0"/>
                  <a:t> = 2x+m-2n</a:t>
                </a:r>
              </a:p>
              <a:p>
                <a:endParaRPr lang="en-US" altLang="zh-TW" sz="2400" dirty="0"/>
              </a:p>
              <a:p>
                <a:pPr/>
                <a:r>
                  <a:rPr lang="en-US" altLang="zh-TW" sz="2400" dirty="0"/>
                  <a:t>O</a:t>
                </a:r>
                <a14:m>
                  <m:oMath xmlns:m="http://schemas.openxmlformats.org/officeDocument/2006/math">
                    <m:r>
                      <a:rPr lang="en-US" altLang="zh-TW" sz="2400">
                        <a:latin typeface="Cambria Math" panose="02040503050406030204" pitchFamily="18" charset="0"/>
                      </a:rPr>
                      <m:t>(</m:t>
                    </m:r>
                    <m:r>
                      <a:rPr lang="en-US" altLang="zh-TW" sz="2400" b="0" i="1" smtClean="0">
                        <a:latin typeface="Cambria Math" panose="02040503050406030204" pitchFamily="18" charset="0"/>
                      </a:rPr>
                      <m:t>0</m:t>
                    </m:r>
                    <m:r>
                      <a:rPr lang="en-US" altLang="zh-TW" sz="2400" i="1">
                        <a:latin typeface="Cambria Math" panose="02040503050406030204" pitchFamily="18" charset="0"/>
                      </a:rPr>
                      <m:t>,</m:t>
                    </m:r>
                    <m:r>
                      <a:rPr lang="en-US" altLang="zh-TW" sz="2400" b="0" i="1" smtClean="0">
                        <a:latin typeface="Cambria Math" panose="02040503050406030204" pitchFamily="18" charset="0"/>
                      </a:rPr>
                      <m:t>0</m:t>
                    </m:r>
                    <m:r>
                      <a:rPr lang="en-US" altLang="zh-TW" sz="2400" i="1">
                        <a:latin typeface="Cambria Math" panose="02040503050406030204" pitchFamily="18" charset="0"/>
                      </a:rPr>
                      <m:t>)</m:t>
                    </m:r>
                  </m:oMath>
                </a14:m>
                <a:r>
                  <a:rPr lang="en-US" altLang="zh-TW" sz="2400" dirty="0"/>
                  <a:t>, A</a:t>
                </a:r>
                <a14:m>
                  <m:oMath xmlns:m="http://schemas.openxmlformats.org/officeDocument/2006/math">
                    <m:r>
                      <a:rPr lang="en-US" altLang="zh-TW" sz="2400" b="0" i="0" smtClean="0">
                        <a:latin typeface="Cambria Math" panose="02040503050406030204" pitchFamily="18" charset="0"/>
                      </a:rPr>
                      <m:t>(</m:t>
                    </m:r>
                    <m:f>
                      <m:fPr>
                        <m:ctrlPr>
                          <a:rPr lang="en-US" altLang="zh-TW" sz="2400" i="1" smtClean="0">
                            <a:latin typeface="Cambria Math" panose="02040503050406030204" pitchFamily="18" charset="0"/>
                          </a:rPr>
                        </m:ctrlPr>
                      </m:fPr>
                      <m:num>
                        <m:r>
                          <a:rPr lang="en-US" altLang="zh-TW" sz="2400" b="0" i="1" smtClean="0">
                            <a:latin typeface="Cambria Math" panose="02040503050406030204" pitchFamily="18" charset="0"/>
                          </a:rPr>
                          <m:t>2</m:t>
                        </m:r>
                        <m:r>
                          <a:rPr lang="en-US" altLang="zh-TW" sz="2400" b="0" i="1" smtClean="0">
                            <a:latin typeface="Cambria Math" panose="02040503050406030204" pitchFamily="18" charset="0"/>
                          </a:rPr>
                          <m:t>𝑚</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𝑛</m:t>
                        </m:r>
                      </m:num>
                      <m:den>
                        <m:r>
                          <a:rPr lang="en-US" altLang="zh-TW" sz="2400" b="0" i="1" smtClean="0">
                            <a:latin typeface="Cambria Math" panose="02040503050406030204" pitchFamily="18" charset="0"/>
                          </a:rPr>
                          <m:t>3</m:t>
                        </m:r>
                      </m:den>
                    </m:f>
                    <m:r>
                      <a:rPr lang="en-US" altLang="zh-TW" sz="2400" b="0" i="1" smtClean="0">
                        <a:latin typeface="Cambria Math" panose="02040503050406030204" pitchFamily="18" charset="0"/>
                      </a:rPr>
                      <m:t>,</m:t>
                    </m:r>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2(2</m:t>
                        </m:r>
                        <m:r>
                          <a:rPr lang="en-US" altLang="zh-TW" sz="2400" b="0" i="1" smtClean="0">
                            <a:latin typeface="Cambria Math" panose="02040503050406030204" pitchFamily="18" charset="0"/>
                          </a:rPr>
                          <m:t>𝑚</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𝑛</m:t>
                        </m:r>
                        <m:r>
                          <a:rPr lang="en-US" altLang="zh-TW" sz="2400" b="0" i="1" smtClean="0">
                            <a:latin typeface="Cambria Math" panose="02040503050406030204" pitchFamily="18" charset="0"/>
                          </a:rPr>
                          <m:t>)</m:t>
                        </m:r>
                      </m:num>
                      <m:den>
                        <m:r>
                          <a:rPr lang="en-US" altLang="zh-TW" sz="2400" b="0" i="1" smtClean="0">
                            <a:latin typeface="Cambria Math" panose="02040503050406030204" pitchFamily="18" charset="0"/>
                          </a:rPr>
                          <m:t>3</m:t>
                        </m:r>
                      </m:den>
                    </m:f>
                    <m:r>
                      <a:rPr lang="en-US" altLang="zh-TW" sz="2400" b="0" i="1" smtClean="0">
                        <a:latin typeface="Cambria Math" panose="02040503050406030204" pitchFamily="18" charset="0"/>
                      </a:rPr>
                      <m:t>)</m:t>
                    </m:r>
                  </m:oMath>
                </a14:m>
                <a:endParaRPr lang="en-US" altLang="zh-TW" sz="2400" dirty="0"/>
              </a:p>
              <a:p>
                <a:pPr/>
                <a:r>
                  <a:rPr lang="en-US" altLang="zh-TW" sz="2400" dirty="0"/>
                  <a:t>B</a:t>
                </a:r>
                <a14:m>
                  <m:oMath xmlns:m="http://schemas.openxmlformats.org/officeDocument/2006/math">
                    <m:r>
                      <a:rPr lang="en-US" altLang="zh-TW" sz="2400">
                        <a:latin typeface="Cambria Math" panose="02040503050406030204" pitchFamily="18" charset="0"/>
                      </a:rPr>
                      <m:t>(</m:t>
                    </m:r>
                    <m:r>
                      <a:rPr lang="en-US" altLang="zh-TW" sz="2400" b="0" i="1" smtClean="0">
                        <a:latin typeface="Cambria Math" panose="02040503050406030204" pitchFamily="18" charset="0"/>
                      </a:rPr>
                      <m:t>𝑛</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𝑚</m:t>
                    </m:r>
                    <m:r>
                      <a:rPr lang="en-US" altLang="zh-TW" sz="2400" i="1">
                        <a:latin typeface="Cambria Math" panose="02040503050406030204" pitchFamily="18" charset="0"/>
                      </a:rPr>
                      <m:t>)</m:t>
                    </m:r>
                  </m:oMath>
                </a14:m>
                <a:r>
                  <a:rPr lang="en-US" altLang="zh-TW" sz="2400" dirty="0"/>
                  <a:t>, C</a:t>
                </a:r>
                <a14:m>
                  <m:oMath xmlns:m="http://schemas.openxmlformats.org/officeDocument/2006/math">
                    <m:r>
                      <a:rPr lang="en-US" altLang="zh-TW" sz="2400">
                        <a:latin typeface="Cambria Math" panose="02040503050406030204" pitchFamily="18" charset="0"/>
                      </a:rPr>
                      <m:t>(</m:t>
                    </m:r>
                    <m:f>
                      <m:fPr>
                        <m:ctrlPr>
                          <a:rPr lang="en-US" altLang="zh-TW" sz="2400" i="1">
                            <a:latin typeface="Cambria Math" panose="02040503050406030204" pitchFamily="18" charset="0"/>
                          </a:rPr>
                        </m:ctrlPr>
                      </m:fPr>
                      <m:num>
                        <m:r>
                          <a:rPr lang="en-US" altLang="zh-TW" sz="2400" b="0" i="1" smtClean="0">
                            <a:latin typeface="Cambria Math" panose="02040503050406030204" pitchFamily="18" charset="0"/>
                          </a:rPr>
                          <m:t>2(</m:t>
                        </m:r>
                        <m:r>
                          <a:rPr lang="en-US" altLang="zh-TW" sz="2400" i="1">
                            <a:latin typeface="Cambria Math" panose="02040503050406030204" pitchFamily="18" charset="0"/>
                          </a:rPr>
                          <m:t>2</m:t>
                        </m:r>
                        <m:r>
                          <a:rPr lang="en-US" altLang="zh-TW" sz="2400" b="0" i="1" smtClean="0">
                            <a:latin typeface="Cambria Math" panose="02040503050406030204" pitchFamily="18" charset="0"/>
                          </a:rPr>
                          <m:t>𝑛</m:t>
                        </m:r>
                        <m:r>
                          <a:rPr lang="en-US" altLang="zh-TW" sz="2400" i="1">
                            <a:latin typeface="Cambria Math" panose="02040503050406030204" pitchFamily="18" charset="0"/>
                          </a:rPr>
                          <m:t>−</m:t>
                        </m:r>
                        <m:r>
                          <a:rPr lang="en-US" altLang="zh-TW" sz="2400" b="0" i="1" smtClean="0">
                            <a:latin typeface="Cambria Math" panose="02040503050406030204" pitchFamily="18" charset="0"/>
                          </a:rPr>
                          <m:t>𝑚</m:t>
                        </m:r>
                        <m:r>
                          <a:rPr lang="en-US" altLang="zh-TW" sz="2400" b="0" i="1" smtClean="0">
                            <a:latin typeface="Cambria Math" panose="02040503050406030204" pitchFamily="18" charset="0"/>
                          </a:rPr>
                          <m:t>)</m:t>
                        </m:r>
                      </m:num>
                      <m:den>
                        <m:r>
                          <a:rPr lang="en-US" altLang="zh-TW" sz="2400" i="1">
                            <a:latin typeface="Cambria Math" panose="02040503050406030204" pitchFamily="18" charset="0"/>
                          </a:rPr>
                          <m:t>3</m:t>
                        </m:r>
                      </m:den>
                    </m:f>
                    <m:r>
                      <a:rPr lang="en-US" altLang="zh-TW" sz="2400" i="1">
                        <a:latin typeface="Cambria Math" panose="02040503050406030204" pitchFamily="18" charset="0"/>
                      </a:rPr>
                      <m:t>,</m:t>
                    </m:r>
                    <m:f>
                      <m:fPr>
                        <m:ctrlPr>
                          <a:rPr lang="en-US" altLang="zh-TW" sz="2400" i="1">
                            <a:latin typeface="Cambria Math" panose="02040503050406030204" pitchFamily="18" charset="0"/>
                          </a:rPr>
                        </m:ctrlPr>
                      </m:fPr>
                      <m:num>
                        <m:r>
                          <a:rPr lang="en-US" altLang="zh-TW" sz="2400" i="1">
                            <a:latin typeface="Cambria Math" panose="02040503050406030204" pitchFamily="18" charset="0"/>
                          </a:rPr>
                          <m:t>2</m:t>
                        </m:r>
                        <m:r>
                          <a:rPr lang="en-US" altLang="zh-TW" sz="2400" b="0" i="1" smtClean="0">
                            <a:latin typeface="Cambria Math" panose="02040503050406030204" pitchFamily="18" charset="0"/>
                          </a:rPr>
                          <m:t>𝑛</m:t>
                        </m:r>
                        <m:r>
                          <a:rPr lang="en-US" altLang="zh-TW" sz="2400" i="1">
                            <a:latin typeface="Cambria Math" panose="02040503050406030204" pitchFamily="18" charset="0"/>
                          </a:rPr>
                          <m:t>−</m:t>
                        </m:r>
                        <m:r>
                          <a:rPr lang="en-US" altLang="zh-TW" sz="2400" b="0" i="1" smtClean="0">
                            <a:latin typeface="Cambria Math" panose="02040503050406030204" pitchFamily="18" charset="0"/>
                          </a:rPr>
                          <m:t>𝑚</m:t>
                        </m:r>
                      </m:num>
                      <m:den>
                        <m:r>
                          <a:rPr lang="en-US" altLang="zh-TW" sz="2400" i="1">
                            <a:latin typeface="Cambria Math" panose="02040503050406030204" pitchFamily="18" charset="0"/>
                          </a:rPr>
                          <m:t>3</m:t>
                        </m:r>
                      </m:den>
                    </m:f>
                    <m:r>
                      <a:rPr lang="en-US" altLang="zh-TW" sz="2400" i="1">
                        <a:latin typeface="Cambria Math" panose="02040503050406030204" pitchFamily="18" charset="0"/>
                      </a:rPr>
                      <m:t>)</m:t>
                    </m:r>
                  </m:oMath>
                </a14:m>
                <a:endParaRPr lang="en-US" altLang="zh-TW" sz="2400" dirty="0"/>
              </a:p>
              <a:p>
                <a:pPr/>
                <a:endParaRPr lang="en-US" altLang="zh-TW" sz="2400" dirty="0"/>
              </a:p>
              <a:p>
                <a:pPr/>
                <a:r>
                  <a:rPr lang="en-US" altLang="zh-TW" sz="2400" dirty="0" err="1"/>
                  <a:t>Xa</a:t>
                </a:r>
                <a:r>
                  <a:rPr lang="en-US" altLang="zh-TW" sz="2400" dirty="0"/>
                  <a:t> </a:t>
                </a:r>
                <a14:m>
                  <m:oMath xmlns:m="http://schemas.openxmlformats.org/officeDocument/2006/math">
                    <m:r>
                      <a:rPr lang="en-US" altLang="zh-TW" sz="2400">
                        <a:latin typeface="Cambria Math" panose="02040503050406030204" pitchFamily="18" charset="0"/>
                      </a:rPr>
                      <m:t>(</m:t>
                    </m:r>
                    <m:f>
                      <m:fPr>
                        <m:ctrlPr>
                          <a:rPr lang="en-US" altLang="zh-TW" sz="2400" i="1">
                            <a:latin typeface="Cambria Math" panose="02040503050406030204" pitchFamily="18" charset="0"/>
                          </a:rPr>
                        </m:ctrlPr>
                      </m:fPr>
                      <m:num>
                        <m:r>
                          <a:rPr lang="en-US" altLang="zh-TW" sz="2400" i="1">
                            <a:latin typeface="Cambria Math" panose="02040503050406030204" pitchFamily="18" charset="0"/>
                          </a:rPr>
                          <m:t>2</m:t>
                        </m:r>
                        <m:r>
                          <a:rPr lang="en-US" altLang="zh-TW" sz="2400" b="0" i="1" smtClean="0">
                            <a:latin typeface="Cambria Math" panose="02040503050406030204" pitchFamily="18" charset="0"/>
                          </a:rPr>
                          <m:t>𝑚</m:t>
                        </m:r>
                        <m:r>
                          <a:rPr lang="en-US" altLang="zh-TW" sz="2400" i="1">
                            <a:latin typeface="Cambria Math" panose="02040503050406030204" pitchFamily="18" charset="0"/>
                          </a:rPr>
                          <m:t>−</m:t>
                        </m:r>
                        <m:r>
                          <a:rPr lang="en-US" altLang="zh-TW" sz="2400" b="0" i="1" smtClean="0">
                            <a:latin typeface="Cambria Math" panose="02040503050406030204" pitchFamily="18" charset="0"/>
                          </a:rPr>
                          <m:t>𝑛</m:t>
                        </m:r>
                      </m:num>
                      <m:den>
                        <m:r>
                          <a:rPr lang="en-US" altLang="zh-TW" sz="2400" i="1">
                            <a:latin typeface="Cambria Math" panose="02040503050406030204" pitchFamily="18" charset="0"/>
                          </a:rPr>
                          <m:t>3</m:t>
                        </m:r>
                      </m:den>
                    </m:f>
                    <m:r>
                      <a:rPr lang="en-US" altLang="zh-TW" sz="2400" b="0" i="1" smtClean="0">
                        <a:latin typeface="Cambria Math" panose="02040503050406030204" pitchFamily="18" charset="0"/>
                      </a:rPr>
                      <m:t>,0</m:t>
                    </m:r>
                    <m:r>
                      <a:rPr lang="en-US" altLang="zh-TW" sz="2400" i="1">
                        <a:latin typeface="Cambria Math" panose="02040503050406030204" pitchFamily="18" charset="0"/>
                      </a:rPr>
                      <m:t>)</m:t>
                    </m:r>
                  </m:oMath>
                </a14:m>
                <a:r>
                  <a:rPr lang="en-US" altLang="zh-TW" sz="2400" dirty="0"/>
                  <a:t>, Xc </a:t>
                </a:r>
                <a14:m>
                  <m:oMath xmlns:m="http://schemas.openxmlformats.org/officeDocument/2006/math">
                    <m:d>
                      <m:dPr>
                        <m:ctrlPr>
                          <a:rPr lang="en-US" altLang="zh-TW" sz="2400">
                            <a:latin typeface="Cambria Math" panose="02040503050406030204" pitchFamily="18" charset="0"/>
                          </a:rPr>
                        </m:ctrlPr>
                      </m:dPr>
                      <m:e>
                        <m:f>
                          <m:fPr>
                            <m:ctrlPr>
                              <a:rPr lang="en-US" altLang="zh-TW" sz="2400" i="1">
                                <a:latin typeface="Cambria Math" panose="02040503050406030204" pitchFamily="18" charset="0"/>
                              </a:rPr>
                            </m:ctrlPr>
                          </m:fPr>
                          <m:num>
                            <m:r>
                              <a:rPr lang="en-US" altLang="zh-TW" sz="2400" b="0" i="1" smtClean="0">
                                <a:latin typeface="Cambria Math" panose="02040503050406030204" pitchFamily="18" charset="0"/>
                              </a:rPr>
                              <m:t>2</m:t>
                            </m:r>
                            <m:d>
                              <m:dPr>
                                <m:ctrlPr>
                                  <a:rPr lang="en-US" altLang="zh-TW" sz="2400" b="0" i="1" smtClean="0">
                                    <a:latin typeface="Cambria Math" panose="02040503050406030204" pitchFamily="18" charset="0"/>
                                  </a:rPr>
                                </m:ctrlPr>
                              </m:dPr>
                              <m:e>
                                <m:r>
                                  <a:rPr lang="en-US" altLang="zh-TW" sz="2400" i="1">
                                    <a:latin typeface="Cambria Math" panose="02040503050406030204" pitchFamily="18" charset="0"/>
                                  </a:rPr>
                                  <m:t>2</m:t>
                                </m:r>
                                <m:r>
                                  <a:rPr lang="en-US" altLang="zh-TW" sz="2400" i="1">
                                    <a:latin typeface="Cambria Math" panose="02040503050406030204" pitchFamily="18" charset="0"/>
                                  </a:rPr>
                                  <m:t>𝑛</m:t>
                                </m:r>
                                <m:r>
                                  <a:rPr lang="en-US" altLang="zh-TW" sz="2400" i="1">
                                    <a:latin typeface="Cambria Math" panose="02040503050406030204" pitchFamily="18" charset="0"/>
                                  </a:rPr>
                                  <m:t>−</m:t>
                                </m:r>
                                <m:r>
                                  <a:rPr lang="en-US" altLang="zh-TW" sz="2400" i="1">
                                    <a:latin typeface="Cambria Math" panose="02040503050406030204" pitchFamily="18" charset="0"/>
                                  </a:rPr>
                                  <m:t>𝑚</m:t>
                                </m:r>
                              </m:e>
                            </m:d>
                          </m:num>
                          <m:den>
                            <m:r>
                              <a:rPr lang="en-US" altLang="zh-TW" sz="2400" i="1">
                                <a:latin typeface="Cambria Math" panose="02040503050406030204" pitchFamily="18" charset="0"/>
                              </a:rPr>
                              <m:t>3</m:t>
                            </m:r>
                          </m:den>
                        </m:f>
                        <m:r>
                          <a:rPr lang="en-US" altLang="zh-TW" sz="2400" b="0" i="1" smtClean="0">
                            <a:latin typeface="Cambria Math" panose="02040503050406030204" pitchFamily="18" charset="0"/>
                          </a:rPr>
                          <m:t>,0</m:t>
                        </m:r>
                      </m:e>
                    </m:d>
                  </m:oMath>
                </a14:m>
                <a:endParaRPr lang="en-US" altLang="zh-TW" sz="2400" dirty="0"/>
              </a:p>
              <a:p>
                <a:pPr/>
                <a:endParaRPr lang="en-US" altLang="zh-TW" sz="2400" dirty="0"/>
              </a:p>
              <a:p>
                <a:pPr/>
                <a:r>
                  <a:rPr lang="en-US" altLang="zh-TW" sz="2400" dirty="0"/>
                  <a:t>2m-n</a:t>
                </a:r>
                <a14:m>
                  <m:oMath xmlns:m="http://schemas.openxmlformats.org/officeDocument/2006/math">
                    <m:r>
                      <a:rPr lang="en-US" altLang="zh-TW" sz="2400" i="1" smtClean="0">
                        <a:latin typeface="Cambria Math" panose="02040503050406030204" pitchFamily="18" charset="0"/>
                        <a:ea typeface="Cambria Math" panose="02040503050406030204" pitchFamily="18" charset="0"/>
                      </a:rPr>
                      <m:t>≥</m:t>
                    </m:r>
                  </m:oMath>
                </a14:m>
                <a:r>
                  <a:rPr lang="en-US" altLang="zh-TW" sz="2400" dirty="0"/>
                  <a:t>3, 2n-m</a:t>
                </a:r>
                <a14:m>
                  <m:oMath xmlns:m="http://schemas.openxmlformats.org/officeDocument/2006/math">
                    <m:r>
                      <a:rPr lang="en-US" altLang="zh-TW" sz="2400" i="1">
                        <a:latin typeface="Cambria Math" panose="02040503050406030204" pitchFamily="18" charset="0"/>
                        <a:ea typeface="Cambria Math" panose="02040503050406030204" pitchFamily="18" charset="0"/>
                      </a:rPr>
                      <m:t>≥</m:t>
                    </m:r>
                  </m:oMath>
                </a14:m>
                <a:r>
                  <a:rPr lang="en-US" altLang="zh-TW" sz="2400" dirty="0"/>
                  <a:t>2</a:t>
                </a:r>
              </a:p>
              <a:p>
                <a:pPr/>
                <a:endParaRPr lang="en-US" altLang="zh-TW" sz="2400" dirty="0"/>
              </a:p>
              <a:p>
                <a:endParaRPr lang="zh-TW" altLang="en-US" sz="2400" dirty="0"/>
              </a:p>
            </p:txBody>
          </p:sp>
        </mc:Choice>
        <mc:Fallback>
          <p:sp>
            <p:nvSpPr>
              <p:cNvPr id="6" name="矩形 5">
                <a:extLst>
                  <a:ext uri="{FF2B5EF4-FFF2-40B4-BE49-F238E27FC236}">
                    <a16:creationId xmlns:a16="http://schemas.microsoft.com/office/drawing/2014/main" id="{56C816D6-BEA5-4E38-8CAA-E42B26803E78}"/>
                  </a:ext>
                </a:extLst>
              </p:cNvPr>
              <p:cNvSpPr>
                <a:spLocks noRot="1" noChangeAspect="1" noMove="1" noResize="1" noEditPoints="1" noAdjustHandles="1" noChangeArrowheads="1" noChangeShapeType="1" noTextEdit="1"/>
              </p:cNvSpPr>
              <p:nvPr/>
            </p:nvSpPr>
            <p:spPr>
              <a:xfrm>
                <a:off x="5759866" y="1941426"/>
                <a:ext cx="6096000" cy="4687758"/>
              </a:xfrm>
              <a:prstGeom prst="rect">
                <a:avLst/>
              </a:prstGeom>
              <a:blipFill>
                <a:blip r:embed="rId3"/>
                <a:stretch>
                  <a:fillRect l="-1600" t="-104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956913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501F6B1-BF48-462B-8F97-F3676AD596AB}"/>
              </a:ext>
            </a:extLst>
          </p:cNvPr>
          <p:cNvSpPr>
            <a:spLocks noGrp="1"/>
          </p:cNvSpPr>
          <p:nvPr>
            <p:ph type="title"/>
          </p:nvPr>
        </p:nvSpPr>
        <p:spPr/>
        <p:txBody>
          <a:bodyPr/>
          <a:lstStyle/>
          <a:p>
            <a:r>
              <a:rPr lang="en-US" altLang="zh-TW" dirty="0"/>
              <a:t>Improvement of DTW</a:t>
            </a:r>
            <a:endParaRPr lang="zh-TW" altLang="en-US" dirty="0"/>
          </a:p>
        </p:txBody>
      </p:sp>
      <p:pic>
        <p:nvPicPr>
          <p:cNvPr id="5" name="內容版面配置區 4">
            <a:extLst>
              <a:ext uri="{FF2B5EF4-FFF2-40B4-BE49-F238E27FC236}">
                <a16:creationId xmlns:a16="http://schemas.microsoft.com/office/drawing/2014/main" id="{499BCC1F-9BE4-47E3-AD46-514E70FCAD58}"/>
              </a:ext>
            </a:extLst>
          </p:cNvPr>
          <p:cNvPicPr>
            <a:picLocks noGrp="1" noChangeAspect="1"/>
          </p:cNvPicPr>
          <p:nvPr>
            <p:ph idx="1"/>
          </p:nvPr>
        </p:nvPicPr>
        <p:blipFill>
          <a:blip r:embed="rId2"/>
          <a:stretch>
            <a:fillRect/>
          </a:stretch>
        </p:blipFill>
        <p:spPr>
          <a:xfrm>
            <a:off x="742058" y="1820202"/>
            <a:ext cx="5154539" cy="4821642"/>
          </a:xfrm>
          <a:prstGeom prst="rect">
            <a:avLst/>
          </a:prstGeom>
        </p:spPr>
      </p:pic>
      <p:sp>
        <p:nvSpPr>
          <p:cNvPr id="4" name="投影片編號版面配置區 3">
            <a:extLst>
              <a:ext uri="{FF2B5EF4-FFF2-40B4-BE49-F238E27FC236}">
                <a16:creationId xmlns:a16="http://schemas.microsoft.com/office/drawing/2014/main" id="{205F30FA-1CFB-4271-A09E-3C3FFBC56C3C}"/>
              </a:ext>
            </a:extLst>
          </p:cNvPr>
          <p:cNvSpPr>
            <a:spLocks noGrp="1"/>
          </p:cNvSpPr>
          <p:nvPr>
            <p:ph type="sldNum" sz="quarter" idx="12"/>
          </p:nvPr>
        </p:nvSpPr>
        <p:spPr/>
        <p:txBody>
          <a:bodyPr/>
          <a:lstStyle/>
          <a:p>
            <a:fld id="{8DCCD063-7F18-423D-A692-CC9D343FD360}" type="slidenum">
              <a:rPr lang="zh-TW" altLang="en-US" smtClean="0"/>
              <a:t>5</a:t>
            </a:fld>
            <a:endParaRPr lang="zh-TW" altLang="en-US"/>
          </a:p>
        </p:txBody>
      </p:sp>
      <mc:AlternateContent xmlns:mc="http://schemas.openxmlformats.org/markup-compatibility/2006">
        <mc:Choice xmlns:a14="http://schemas.microsoft.com/office/drawing/2010/main" Requires="a14">
          <p:sp>
            <p:nvSpPr>
              <p:cNvPr id="6" name="矩形 5">
                <a:extLst>
                  <a:ext uri="{FF2B5EF4-FFF2-40B4-BE49-F238E27FC236}">
                    <a16:creationId xmlns:a16="http://schemas.microsoft.com/office/drawing/2014/main" id="{4AB6A306-445E-4523-9D67-19F19F37F2F7}"/>
                  </a:ext>
                </a:extLst>
              </p:cNvPr>
              <p:cNvSpPr/>
              <p:nvPr/>
            </p:nvSpPr>
            <p:spPr>
              <a:xfrm>
                <a:off x="5739925" y="1820202"/>
                <a:ext cx="6096000" cy="4525919"/>
              </a:xfrm>
              <a:prstGeom prst="rect">
                <a:avLst/>
              </a:prstGeom>
            </p:spPr>
            <p:txBody>
              <a:bodyPr>
                <a:spAutoFit/>
              </a:bodyPr>
              <a:lstStyle/>
              <a:p>
                <a:r>
                  <a:rPr lang="en-US" altLang="zh-TW" sz="2400" dirty="0"/>
                  <a:t>A’</a:t>
                </a:r>
                <a14:m>
                  <m:oMath xmlns:m="http://schemas.openxmlformats.org/officeDocument/2006/math">
                    <m:r>
                      <a:rPr lang="en-US" altLang="zh-TW" sz="2400">
                        <a:latin typeface="Cambria Math" panose="02040503050406030204" pitchFamily="18" charset="0"/>
                      </a:rPr>
                      <m:t>(</m:t>
                    </m:r>
                    <m:d>
                      <m:dPr>
                        <m:begChr m:val="⌈"/>
                        <m:endChr m:val="⌉"/>
                        <m:ctrlPr>
                          <a:rPr lang="en-US" altLang="zh-TW" sz="2400" i="1" smtClean="0">
                            <a:latin typeface="Cambria Math" panose="02040503050406030204" pitchFamily="18" charset="0"/>
                          </a:rPr>
                        </m:ctrlPr>
                      </m:dPr>
                      <m:e>
                        <m:f>
                          <m:fPr>
                            <m:ctrlPr>
                              <a:rPr lang="en-US" altLang="zh-TW" sz="2400" i="1">
                                <a:latin typeface="Cambria Math" panose="02040503050406030204" pitchFamily="18" charset="0"/>
                              </a:rPr>
                            </m:ctrlPr>
                          </m:fPr>
                          <m:num>
                            <m:r>
                              <a:rPr lang="en-US" altLang="zh-TW" sz="2400" i="1">
                                <a:latin typeface="Cambria Math" panose="02040503050406030204" pitchFamily="18" charset="0"/>
                              </a:rPr>
                              <m:t>2</m:t>
                            </m:r>
                            <m:r>
                              <a:rPr lang="en-US" altLang="zh-TW" sz="2400" i="1">
                                <a:latin typeface="Cambria Math" panose="02040503050406030204" pitchFamily="18" charset="0"/>
                              </a:rPr>
                              <m:t>𝑚</m:t>
                            </m:r>
                            <m:r>
                              <a:rPr lang="en-US" altLang="zh-TW" sz="2400" i="1">
                                <a:latin typeface="Cambria Math" panose="02040503050406030204" pitchFamily="18" charset="0"/>
                              </a:rPr>
                              <m:t>−</m:t>
                            </m:r>
                            <m:r>
                              <a:rPr lang="en-US" altLang="zh-TW" sz="2400" i="1">
                                <a:latin typeface="Cambria Math" panose="02040503050406030204" pitchFamily="18" charset="0"/>
                              </a:rPr>
                              <m:t>𝑛</m:t>
                            </m:r>
                          </m:num>
                          <m:den>
                            <m:r>
                              <a:rPr lang="en-US" altLang="zh-TW" sz="2400" i="1">
                                <a:latin typeface="Cambria Math" panose="02040503050406030204" pitchFamily="18" charset="0"/>
                              </a:rPr>
                              <m:t>3</m:t>
                            </m:r>
                          </m:den>
                        </m:f>
                      </m:e>
                    </m:d>
                    <m:r>
                      <a:rPr lang="en-US" altLang="zh-TW" sz="2400" i="1">
                        <a:latin typeface="Cambria Math" panose="02040503050406030204" pitchFamily="18" charset="0"/>
                      </a:rPr>
                      <m:t>,</m:t>
                    </m:r>
                    <m:d>
                      <m:dPr>
                        <m:begChr m:val="⌈"/>
                        <m:endChr m:val="⌉"/>
                        <m:ctrlPr>
                          <a:rPr lang="en-US" altLang="zh-TW" sz="2400" i="1" smtClean="0">
                            <a:latin typeface="Cambria Math" panose="02040503050406030204" pitchFamily="18" charset="0"/>
                          </a:rPr>
                        </m:ctrlPr>
                      </m:dPr>
                      <m:e>
                        <m:f>
                          <m:fPr>
                            <m:ctrlPr>
                              <a:rPr lang="en-US" altLang="zh-TW" sz="2400" i="1">
                                <a:latin typeface="Cambria Math" panose="02040503050406030204" pitchFamily="18" charset="0"/>
                              </a:rPr>
                            </m:ctrlPr>
                          </m:fPr>
                          <m:num>
                            <m:r>
                              <a:rPr lang="en-US" altLang="zh-TW" sz="2400" i="1">
                                <a:latin typeface="Cambria Math" panose="02040503050406030204" pitchFamily="18" charset="0"/>
                              </a:rPr>
                              <m:t>2(2</m:t>
                            </m:r>
                            <m:r>
                              <a:rPr lang="en-US" altLang="zh-TW" sz="2400" i="1">
                                <a:latin typeface="Cambria Math" panose="02040503050406030204" pitchFamily="18" charset="0"/>
                              </a:rPr>
                              <m:t>𝑚</m:t>
                            </m:r>
                            <m:r>
                              <a:rPr lang="en-US" altLang="zh-TW" sz="2400" i="1">
                                <a:latin typeface="Cambria Math" panose="02040503050406030204" pitchFamily="18" charset="0"/>
                              </a:rPr>
                              <m:t>−</m:t>
                            </m:r>
                            <m:r>
                              <a:rPr lang="en-US" altLang="zh-TW" sz="2400" i="1">
                                <a:latin typeface="Cambria Math" panose="02040503050406030204" pitchFamily="18" charset="0"/>
                              </a:rPr>
                              <m:t>𝑛</m:t>
                            </m:r>
                            <m:r>
                              <a:rPr lang="en-US" altLang="zh-TW" sz="2400" i="1">
                                <a:latin typeface="Cambria Math" panose="02040503050406030204" pitchFamily="18" charset="0"/>
                              </a:rPr>
                              <m:t>)</m:t>
                            </m:r>
                          </m:num>
                          <m:den>
                            <m:r>
                              <a:rPr lang="en-US" altLang="zh-TW" sz="2400" i="1">
                                <a:latin typeface="Cambria Math" panose="02040503050406030204" pitchFamily="18" charset="0"/>
                              </a:rPr>
                              <m:t>3</m:t>
                            </m:r>
                          </m:den>
                        </m:f>
                      </m:e>
                    </m:d>
                    <m:r>
                      <a:rPr lang="en-US" altLang="zh-TW" sz="2400" i="1">
                        <a:latin typeface="Cambria Math" panose="02040503050406030204" pitchFamily="18" charset="0"/>
                      </a:rPr>
                      <m:t>)</m:t>
                    </m:r>
                  </m:oMath>
                </a14:m>
                <a:r>
                  <a:rPr lang="en-US" altLang="zh-TW" sz="2400" dirty="0"/>
                  <a:t>, E’</a:t>
                </a:r>
                <a14:m>
                  <m:oMath xmlns:m="http://schemas.openxmlformats.org/officeDocument/2006/math">
                    <m:r>
                      <a:rPr lang="en-US" altLang="zh-TW" sz="2400">
                        <a:latin typeface="Cambria Math" panose="02040503050406030204" pitchFamily="18" charset="0"/>
                      </a:rPr>
                      <m:t>(</m:t>
                    </m:r>
                    <m:d>
                      <m:dPr>
                        <m:begChr m:val="⌈"/>
                        <m:endChr m:val="⌉"/>
                        <m:ctrlPr>
                          <a:rPr lang="en-US" altLang="zh-TW" sz="2400" i="1">
                            <a:latin typeface="Cambria Math" panose="02040503050406030204" pitchFamily="18" charset="0"/>
                          </a:rPr>
                        </m:ctrlPr>
                      </m:dPr>
                      <m:e>
                        <m:f>
                          <m:fPr>
                            <m:ctrlPr>
                              <a:rPr lang="en-US" altLang="zh-TW" sz="2400" i="1">
                                <a:latin typeface="Cambria Math" panose="02040503050406030204" pitchFamily="18" charset="0"/>
                              </a:rPr>
                            </m:ctrlPr>
                          </m:fPr>
                          <m:num>
                            <m:r>
                              <a:rPr lang="en-US" altLang="zh-TW" sz="2400" i="1">
                                <a:latin typeface="Cambria Math" panose="02040503050406030204" pitchFamily="18" charset="0"/>
                              </a:rPr>
                              <m:t>2</m:t>
                            </m:r>
                            <m:r>
                              <a:rPr lang="en-US" altLang="zh-TW" sz="2400" i="1">
                                <a:latin typeface="Cambria Math" panose="02040503050406030204" pitchFamily="18" charset="0"/>
                              </a:rPr>
                              <m:t>𝑚</m:t>
                            </m:r>
                            <m:r>
                              <a:rPr lang="en-US" altLang="zh-TW" sz="2400" i="1">
                                <a:latin typeface="Cambria Math" panose="02040503050406030204" pitchFamily="18" charset="0"/>
                              </a:rPr>
                              <m:t>−</m:t>
                            </m:r>
                            <m:r>
                              <a:rPr lang="en-US" altLang="zh-TW" sz="2400" i="1">
                                <a:latin typeface="Cambria Math" panose="02040503050406030204" pitchFamily="18" charset="0"/>
                              </a:rPr>
                              <m:t>𝑛</m:t>
                            </m:r>
                          </m:num>
                          <m:den>
                            <m:r>
                              <a:rPr lang="en-US" altLang="zh-TW" sz="2400" i="1">
                                <a:latin typeface="Cambria Math" panose="02040503050406030204" pitchFamily="18" charset="0"/>
                              </a:rPr>
                              <m:t>3</m:t>
                            </m:r>
                          </m:den>
                        </m:f>
                      </m:e>
                    </m:d>
                    <m:r>
                      <a:rPr lang="en-US" altLang="zh-TW" sz="2400" i="1">
                        <a:latin typeface="Cambria Math" panose="02040503050406030204" pitchFamily="18" charset="0"/>
                      </a:rPr>
                      <m:t>,</m:t>
                    </m:r>
                    <m:d>
                      <m:dPr>
                        <m:begChr m:val="⌊"/>
                        <m:endChr m:val="⌋"/>
                        <m:ctrlPr>
                          <a:rPr lang="en-US" altLang="zh-TW" sz="2400" i="1" smtClean="0">
                            <a:latin typeface="Cambria Math" panose="02040503050406030204" pitchFamily="18" charset="0"/>
                          </a:rPr>
                        </m:ctrlPr>
                      </m:dPr>
                      <m:e>
                        <m:f>
                          <m:fPr>
                            <m:ctrlPr>
                              <a:rPr lang="en-US" altLang="zh-TW" sz="2400" i="1">
                                <a:latin typeface="Cambria Math" panose="02040503050406030204" pitchFamily="18" charset="0"/>
                              </a:rPr>
                            </m:ctrlPr>
                          </m:fPr>
                          <m:num>
                            <m:r>
                              <a:rPr lang="en-US" altLang="zh-TW" sz="2400" i="1">
                                <a:latin typeface="Cambria Math" panose="02040503050406030204" pitchFamily="18" charset="0"/>
                              </a:rPr>
                              <m:t>(2</m:t>
                            </m:r>
                            <m:r>
                              <a:rPr lang="en-US" altLang="zh-TW" sz="2400" i="1">
                                <a:latin typeface="Cambria Math" panose="02040503050406030204" pitchFamily="18" charset="0"/>
                              </a:rPr>
                              <m:t>𝑚</m:t>
                            </m:r>
                            <m:r>
                              <a:rPr lang="en-US" altLang="zh-TW" sz="2400" i="1">
                                <a:latin typeface="Cambria Math" panose="02040503050406030204" pitchFamily="18" charset="0"/>
                              </a:rPr>
                              <m:t>−</m:t>
                            </m:r>
                            <m:r>
                              <a:rPr lang="en-US" altLang="zh-TW" sz="2400" i="1">
                                <a:latin typeface="Cambria Math" panose="02040503050406030204" pitchFamily="18" charset="0"/>
                              </a:rPr>
                              <m:t>𝑛</m:t>
                            </m:r>
                            <m:r>
                              <a:rPr lang="en-US" altLang="zh-TW" sz="2400" i="1">
                                <a:latin typeface="Cambria Math" panose="02040503050406030204" pitchFamily="18" charset="0"/>
                              </a:rPr>
                              <m:t>)</m:t>
                            </m:r>
                          </m:num>
                          <m:den>
                            <m:r>
                              <a:rPr lang="en-US" altLang="zh-TW" sz="2400" i="1">
                                <a:latin typeface="Cambria Math" panose="02040503050406030204" pitchFamily="18" charset="0"/>
                              </a:rPr>
                              <m:t>6</m:t>
                            </m:r>
                          </m:den>
                        </m:f>
                      </m:e>
                    </m:d>
                    <m:r>
                      <a:rPr lang="en-US" altLang="zh-TW" sz="2400" i="1">
                        <a:latin typeface="Cambria Math" panose="02040503050406030204" pitchFamily="18" charset="0"/>
                      </a:rPr>
                      <m:t>)</m:t>
                    </m:r>
                  </m:oMath>
                </a14:m>
                <a:endParaRPr lang="en-US" altLang="zh-TW" sz="2400" dirty="0"/>
              </a:p>
              <a:p>
                <a:endParaRPr lang="en-US" altLang="zh-TW" sz="2400" dirty="0"/>
              </a:p>
              <a:p>
                <a:r>
                  <a:rPr lang="en-US" altLang="zh-TW" sz="2400" dirty="0"/>
                  <a:t>C’</a:t>
                </a:r>
                <a14:m>
                  <m:oMath xmlns:m="http://schemas.openxmlformats.org/officeDocument/2006/math">
                    <m:d>
                      <m:dPr>
                        <m:ctrlPr>
                          <a:rPr lang="en-US" altLang="zh-TW" sz="2400">
                            <a:latin typeface="Cambria Math" panose="02040503050406030204" pitchFamily="18" charset="0"/>
                          </a:rPr>
                        </m:ctrlPr>
                      </m:dPr>
                      <m:e>
                        <m:d>
                          <m:dPr>
                            <m:begChr m:val="⌈"/>
                            <m:endChr m:val="⌉"/>
                            <m:ctrlPr>
                              <a:rPr lang="en-US" altLang="zh-TW" sz="2400" i="1" smtClean="0">
                                <a:latin typeface="Cambria Math" panose="02040503050406030204" pitchFamily="18" charset="0"/>
                              </a:rPr>
                            </m:ctrlPr>
                          </m:dPr>
                          <m:e>
                            <m:f>
                              <m:fPr>
                                <m:ctrlPr>
                                  <a:rPr lang="en-US" altLang="zh-TW" sz="2400" i="1">
                                    <a:latin typeface="Cambria Math" panose="02040503050406030204" pitchFamily="18" charset="0"/>
                                  </a:rPr>
                                </m:ctrlPr>
                              </m:fPr>
                              <m:num>
                                <m:r>
                                  <a:rPr lang="en-US" altLang="zh-TW" sz="2400" i="1">
                                    <a:latin typeface="Cambria Math" panose="02040503050406030204" pitchFamily="18" charset="0"/>
                                  </a:rPr>
                                  <m:t>2</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2</m:t>
                                    </m:r>
                                    <m:r>
                                      <a:rPr lang="en-US" altLang="zh-TW" sz="2400" i="1">
                                        <a:latin typeface="Cambria Math" panose="02040503050406030204" pitchFamily="18" charset="0"/>
                                      </a:rPr>
                                      <m:t>𝑛</m:t>
                                    </m:r>
                                    <m:r>
                                      <a:rPr lang="en-US" altLang="zh-TW" sz="2400" i="1">
                                        <a:latin typeface="Cambria Math" panose="02040503050406030204" pitchFamily="18" charset="0"/>
                                      </a:rPr>
                                      <m:t>−</m:t>
                                    </m:r>
                                    <m:r>
                                      <a:rPr lang="en-US" altLang="zh-TW" sz="2400" i="1">
                                        <a:latin typeface="Cambria Math" panose="02040503050406030204" pitchFamily="18" charset="0"/>
                                      </a:rPr>
                                      <m:t>𝑚</m:t>
                                    </m:r>
                                  </m:e>
                                </m:d>
                              </m:num>
                              <m:den>
                                <m:r>
                                  <a:rPr lang="en-US" altLang="zh-TW" sz="2400" i="1">
                                    <a:latin typeface="Cambria Math" panose="02040503050406030204" pitchFamily="18" charset="0"/>
                                  </a:rPr>
                                  <m:t>3</m:t>
                                </m:r>
                              </m:den>
                            </m:f>
                          </m:e>
                        </m:d>
                        <m:r>
                          <a:rPr lang="en-US" altLang="zh-TW" sz="2400" i="1">
                            <a:latin typeface="Cambria Math" panose="02040503050406030204" pitchFamily="18" charset="0"/>
                          </a:rPr>
                          <m:t>,</m:t>
                        </m:r>
                        <m:d>
                          <m:dPr>
                            <m:begChr m:val="⌊"/>
                            <m:endChr m:val="⌋"/>
                            <m:ctrlPr>
                              <a:rPr lang="en-US" altLang="zh-TW" sz="2400" i="1" smtClean="0">
                                <a:latin typeface="Cambria Math" panose="02040503050406030204" pitchFamily="18" charset="0"/>
                              </a:rPr>
                            </m:ctrlPr>
                          </m:dPr>
                          <m:e>
                            <m:f>
                              <m:fPr>
                                <m:ctrlPr>
                                  <a:rPr lang="en-US" altLang="zh-TW" sz="2400" i="1">
                                    <a:latin typeface="Cambria Math" panose="02040503050406030204" pitchFamily="18" charset="0"/>
                                  </a:rPr>
                                </m:ctrlPr>
                              </m:fPr>
                              <m:num>
                                <m:r>
                                  <a:rPr lang="en-US" altLang="zh-TW" sz="2400" i="1">
                                    <a:latin typeface="Cambria Math" panose="02040503050406030204" pitchFamily="18" charset="0"/>
                                  </a:rPr>
                                  <m:t>2</m:t>
                                </m:r>
                                <m:r>
                                  <a:rPr lang="en-US" altLang="zh-TW" sz="2400" i="1">
                                    <a:latin typeface="Cambria Math" panose="02040503050406030204" pitchFamily="18" charset="0"/>
                                  </a:rPr>
                                  <m:t>𝑛</m:t>
                                </m:r>
                                <m:r>
                                  <a:rPr lang="en-US" altLang="zh-TW" sz="2400" i="1">
                                    <a:latin typeface="Cambria Math" panose="02040503050406030204" pitchFamily="18" charset="0"/>
                                  </a:rPr>
                                  <m:t>−</m:t>
                                </m:r>
                                <m:r>
                                  <a:rPr lang="en-US" altLang="zh-TW" sz="2400" i="1">
                                    <a:latin typeface="Cambria Math" panose="02040503050406030204" pitchFamily="18" charset="0"/>
                                  </a:rPr>
                                  <m:t>𝑚</m:t>
                                </m:r>
                              </m:num>
                              <m:den>
                                <m:r>
                                  <a:rPr lang="en-US" altLang="zh-TW" sz="2400" i="1">
                                    <a:latin typeface="Cambria Math" panose="02040503050406030204" pitchFamily="18" charset="0"/>
                                  </a:rPr>
                                  <m:t>3</m:t>
                                </m:r>
                              </m:den>
                            </m:f>
                          </m:e>
                        </m:d>
                      </m:e>
                    </m:d>
                  </m:oMath>
                </a14:m>
                <a:r>
                  <a:rPr lang="en-US" altLang="zh-TW" sz="2400" dirty="0"/>
                  <a:t>, D’ </a:t>
                </a:r>
                <a14:m>
                  <m:oMath xmlns:m="http://schemas.openxmlformats.org/officeDocument/2006/math">
                    <m:d>
                      <m:dPr>
                        <m:ctrlPr>
                          <a:rPr lang="en-US" altLang="zh-TW" sz="2400" i="1">
                            <a:latin typeface="Cambria Math" panose="02040503050406030204" pitchFamily="18" charset="0"/>
                          </a:rPr>
                        </m:ctrlPr>
                      </m:dPr>
                      <m:e>
                        <m:d>
                          <m:dPr>
                            <m:begChr m:val="⌈"/>
                            <m:endChr m:val="⌉"/>
                            <m:ctrlPr>
                              <a:rPr lang="en-US" altLang="zh-TW" sz="2400" i="1">
                                <a:latin typeface="Cambria Math" panose="02040503050406030204" pitchFamily="18" charset="0"/>
                              </a:rPr>
                            </m:ctrlPr>
                          </m:dPr>
                          <m:e>
                            <m:f>
                              <m:fPr>
                                <m:ctrlPr>
                                  <a:rPr lang="en-US" altLang="zh-TW" sz="2400" i="1">
                                    <a:latin typeface="Cambria Math" panose="02040503050406030204" pitchFamily="18" charset="0"/>
                                  </a:rPr>
                                </m:ctrlPr>
                              </m:fPr>
                              <m:num>
                                <m:r>
                                  <a:rPr lang="en-US" altLang="zh-TW" sz="2400" i="1">
                                    <a:latin typeface="Cambria Math" panose="02040503050406030204" pitchFamily="18" charset="0"/>
                                  </a:rPr>
                                  <m:t>2</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2</m:t>
                                    </m:r>
                                    <m:r>
                                      <a:rPr lang="en-US" altLang="zh-TW" sz="2400" i="1">
                                        <a:latin typeface="Cambria Math" panose="02040503050406030204" pitchFamily="18" charset="0"/>
                                      </a:rPr>
                                      <m:t>𝑛</m:t>
                                    </m:r>
                                    <m:r>
                                      <a:rPr lang="en-US" altLang="zh-TW" sz="2400" i="1">
                                        <a:latin typeface="Cambria Math" panose="02040503050406030204" pitchFamily="18" charset="0"/>
                                      </a:rPr>
                                      <m:t>−</m:t>
                                    </m:r>
                                    <m:r>
                                      <a:rPr lang="en-US" altLang="zh-TW" sz="2400" i="1">
                                        <a:latin typeface="Cambria Math" panose="02040503050406030204" pitchFamily="18" charset="0"/>
                                      </a:rPr>
                                      <m:t>𝑚</m:t>
                                    </m:r>
                                  </m:e>
                                </m:d>
                              </m:num>
                              <m:den>
                                <m:r>
                                  <a:rPr lang="en-US" altLang="zh-TW" sz="2400" i="1">
                                    <a:latin typeface="Cambria Math" panose="02040503050406030204" pitchFamily="18" charset="0"/>
                                  </a:rPr>
                                  <m:t>3</m:t>
                                </m:r>
                              </m:den>
                            </m:f>
                          </m:e>
                        </m:d>
                        <m:r>
                          <a:rPr lang="en-US" altLang="zh-TW" sz="2400" i="1">
                            <a:latin typeface="Cambria Math" panose="02040503050406030204" pitchFamily="18" charset="0"/>
                          </a:rPr>
                          <m:t>,</m:t>
                        </m:r>
                        <m:d>
                          <m:dPr>
                            <m:begChr m:val="⌊"/>
                            <m:endChr m:val="⌋"/>
                            <m:ctrlPr>
                              <a:rPr lang="en-US" altLang="zh-TW" sz="2400" i="1">
                                <a:latin typeface="Cambria Math" panose="02040503050406030204" pitchFamily="18" charset="0"/>
                              </a:rPr>
                            </m:ctrlPr>
                          </m:dPr>
                          <m:e>
                            <m:f>
                              <m:fPr>
                                <m:ctrlPr>
                                  <a:rPr lang="en-US" altLang="zh-TW" sz="2400" i="1">
                                    <a:latin typeface="Cambria Math" panose="02040503050406030204" pitchFamily="18" charset="0"/>
                                  </a:rPr>
                                </m:ctrlPr>
                              </m:fPr>
                              <m:num>
                                <m:r>
                                  <a:rPr lang="en-US" altLang="zh-TW" sz="2400" b="0" i="1" smtClean="0">
                                    <a:latin typeface="Cambria Math" panose="02040503050406030204" pitchFamily="18" charset="0"/>
                                  </a:rPr>
                                  <m:t>4</m:t>
                                </m:r>
                                <m:r>
                                  <a:rPr lang="en-US" altLang="zh-TW" sz="2400" b="0" i="1" smtClean="0">
                                    <a:latin typeface="Cambria Math" panose="02040503050406030204" pitchFamily="18" charset="0"/>
                                  </a:rPr>
                                  <m:t>𝑚</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𝑛</m:t>
                                </m:r>
                              </m:num>
                              <m:den>
                                <m:r>
                                  <a:rPr lang="en-US" altLang="zh-TW" sz="2400" b="0" i="1" smtClean="0">
                                    <a:latin typeface="Cambria Math" panose="02040503050406030204" pitchFamily="18" charset="0"/>
                                  </a:rPr>
                                  <m:t>6</m:t>
                                </m:r>
                              </m:den>
                            </m:f>
                          </m:e>
                        </m:d>
                      </m:e>
                    </m:d>
                  </m:oMath>
                </a14:m>
                <a:endParaRPr lang="en-US" altLang="zh-TW" sz="2400" dirty="0"/>
              </a:p>
              <a:p>
                <a:endParaRPr lang="en-US" altLang="zh-TW" sz="2400" dirty="0"/>
              </a:p>
              <a:p>
                <a:endParaRPr lang="en-US" altLang="zh-TW" sz="2400" dirty="0"/>
              </a:p>
              <a:p>
                <a:r>
                  <a:rPr lang="en-US" altLang="zh-TW" sz="2400" dirty="0"/>
                  <a:t>y-2x</a:t>
                </a:r>
                <a14:m>
                  <m:oMath xmlns:m="http://schemas.openxmlformats.org/officeDocument/2006/math">
                    <m:r>
                      <a:rPr lang="en-US" altLang="zh-TW" sz="2400" i="1" smtClean="0">
                        <a:latin typeface="Cambria Math" panose="02040503050406030204" pitchFamily="18" charset="0"/>
                        <a:ea typeface="Cambria Math" panose="02040503050406030204" pitchFamily="18" charset="0"/>
                      </a:rPr>
                      <m:t>≤</m:t>
                    </m:r>
                  </m:oMath>
                </a14:m>
                <a:r>
                  <a:rPr lang="en-US" altLang="zh-TW" sz="2400" b="0" dirty="0">
                    <a:ea typeface="Cambria Math" panose="02040503050406030204" pitchFamily="18" charset="0"/>
                  </a:rPr>
                  <a:t>0</a:t>
                </a:r>
              </a:p>
              <a:p>
                <a:r>
                  <a:rPr lang="en-US" altLang="zh-TW" sz="2400" dirty="0"/>
                  <a:t>y-0.5x</a:t>
                </a:r>
                <a14:m>
                  <m:oMath xmlns:m="http://schemas.openxmlformats.org/officeDocument/2006/math">
                    <m:r>
                      <a:rPr lang="en-US" altLang="zh-TW" sz="2400" i="1">
                        <a:latin typeface="Cambria Math" panose="02040503050406030204" pitchFamily="18" charset="0"/>
                        <a:ea typeface="Cambria Math" panose="02040503050406030204" pitchFamily="18" charset="0"/>
                      </a:rPr>
                      <m:t>≥</m:t>
                    </m:r>
                  </m:oMath>
                </a14:m>
                <a:r>
                  <a:rPr lang="en-US" altLang="zh-TW" sz="2400" dirty="0"/>
                  <a:t>0</a:t>
                </a:r>
              </a:p>
              <a:p>
                <a:r>
                  <a:rPr lang="en-US" altLang="zh-TW" sz="2400" dirty="0"/>
                  <a:t>y-0.5x-m+0.5n</a:t>
                </a:r>
                <a14:m>
                  <m:oMath xmlns:m="http://schemas.openxmlformats.org/officeDocument/2006/math">
                    <m:r>
                      <a:rPr lang="en-US" altLang="zh-TW" sz="2400" i="1">
                        <a:latin typeface="Cambria Math" panose="02040503050406030204" pitchFamily="18" charset="0"/>
                        <a:ea typeface="Cambria Math" panose="02040503050406030204" pitchFamily="18" charset="0"/>
                      </a:rPr>
                      <m:t>≤</m:t>
                    </m:r>
                  </m:oMath>
                </a14:m>
                <a:r>
                  <a:rPr lang="en-US" altLang="zh-TW" sz="2400" dirty="0">
                    <a:ea typeface="Cambria Math" panose="02040503050406030204" pitchFamily="18" charset="0"/>
                  </a:rPr>
                  <a:t>0</a:t>
                </a:r>
              </a:p>
              <a:p>
                <a:r>
                  <a:rPr lang="en-US" altLang="zh-TW" sz="2400" dirty="0"/>
                  <a:t>y-2x-m+2n</a:t>
                </a:r>
                <a14:m>
                  <m:oMath xmlns:m="http://schemas.openxmlformats.org/officeDocument/2006/math">
                    <m:r>
                      <a:rPr lang="en-US" altLang="zh-TW" sz="2400" i="1">
                        <a:latin typeface="Cambria Math" panose="02040503050406030204" pitchFamily="18" charset="0"/>
                        <a:ea typeface="Cambria Math" panose="02040503050406030204" pitchFamily="18" charset="0"/>
                      </a:rPr>
                      <m:t>≥</m:t>
                    </m:r>
                  </m:oMath>
                </a14:m>
                <a:r>
                  <a:rPr lang="en-US" altLang="zh-TW" sz="2400" dirty="0"/>
                  <a:t>0</a:t>
                </a:r>
              </a:p>
              <a:p>
                <a:endParaRPr lang="en-US" altLang="zh-TW" sz="2400" dirty="0"/>
              </a:p>
              <a:p>
                <a:endParaRPr lang="en-US" altLang="zh-TW" sz="2400" dirty="0"/>
              </a:p>
            </p:txBody>
          </p:sp>
        </mc:Choice>
        <mc:Fallback>
          <p:sp>
            <p:nvSpPr>
              <p:cNvPr id="6" name="矩形 5">
                <a:extLst>
                  <a:ext uri="{FF2B5EF4-FFF2-40B4-BE49-F238E27FC236}">
                    <a16:creationId xmlns:a16="http://schemas.microsoft.com/office/drawing/2014/main" id="{4AB6A306-445E-4523-9D67-19F19F37F2F7}"/>
                  </a:ext>
                </a:extLst>
              </p:cNvPr>
              <p:cNvSpPr>
                <a:spLocks noRot="1" noChangeAspect="1" noMove="1" noResize="1" noEditPoints="1" noAdjustHandles="1" noChangeArrowheads="1" noChangeShapeType="1" noTextEdit="1"/>
              </p:cNvSpPr>
              <p:nvPr/>
            </p:nvSpPr>
            <p:spPr>
              <a:xfrm>
                <a:off x="5739925" y="1820202"/>
                <a:ext cx="6096000" cy="4525919"/>
              </a:xfrm>
              <a:prstGeom prst="rect">
                <a:avLst/>
              </a:prstGeom>
              <a:blipFill>
                <a:blip r:embed="rId3"/>
                <a:stretch>
                  <a:fillRect l="-160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753411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91AB425-CAA7-453F-84F3-C5143B6206BD}"/>
              </a:ext>
            </a:extLst>
          </p:cNvPr>
          <p:cNvSpPr>
            <a:spLocks noGrp="1"/>
          </p:cNvSpPr>
          <p:nvPr>
            <p:ph type="title"/>
          </p:nvPr>
        </p:nvSpPr>
        <p:spPr/>
        <p:txBody>
          <a:bodyPr/>
          <a:lstStyle/>
          <a:p>
            <a:r>
              <a:rPr lang="en-US" altLang="zh-TW" dirty="0"/>
              <a:t>Algorithm</a:t>
            </a:r>
            <a:endParaRPr lang="zh-TW" altLang="en-US" dirty="0"/>
          </a:p>
        </p:txBody>
      </p:sp>
      <p:pic>
        <p:nvPicPr>
          <p:cNvPr id="5" name="內容版面配置區 4">
            <a:extLst>
              <a:ext uri="{FF2B5EF4-FFF2-40B4-BE49-F238E27FC236}">
                <a16:creationId xmlns:a16="http://schemas.microsoft.com/office/drawing/2014/main" id="{F5468D15-65C7-4E5A-B9C7-2A7389BC40D5}"/>
              </a:ext>
            </a:extLst>
          </p:cNvPr>
          <p:cNvPicPr>
            <a:picLocks noGrp="1" noChangeAspect="1"/>
          </p:cNvPicPr>
          <p:nvPr>
            <p:ph idx="1"/>
          </p:nvPr>
        </p:nvPicPr>
        <p:blipFill>
          <a:blip r:embed="rId2"/>
          <a:stretch>
            <a:fillRect/>
          </a:stretch>
        </p:blipFill>
        <p:spPr>
          <a:xfrm>
            <a:off x="4135407" y="136523"/>
            <a:ext cx="5504248" cy="6505021"/>
          </a:xfrm>
          <a:prstGeom prst="rect">
            <a:avLst/>
          </a:prstGeom>
        </p:spPr>
      </p:pic>
      <p:sp>
        <p:nvSpPr>
          <p:cNvPr id="4" name="投影片編號版面配置區 3">
            <a:extLst>
              <a:ext uri="{FF2B5EF4-FFF2-40B4-BE49-F238E27FC236}">
                <a16:creationId xmlns:a16="http://schemas.microsoft.com/office/drawing/2014/main" id="{211C8580-1519-437A-B1D8-A15FF6B1A60D}"/>
              </a:ext>
            </a:extLst>
          </p:cNvPr>
          <p:cNvSpPr>
            <a:spLocks noGrp="1"/>
          </p:cNvSpPr>
          <p:nvPr>
            <p:ph type="sldNum" sz="quarter" idx="12"/>
          </p:nvPr>
        </p:nvSpPr>
        <p:spPr/>
        <p:txBody>
          <a:bodyPr/>
          <a:lstStyle/>
          <a:p>
            <a:fld id="{8DCCD063-7F18-423D-A692-CC9D343FD360}" type="slidenum">
              <a:rPr lang="zh-TW" altLang="en-US" smtClean="0"/>
              <a:t>6</a:t>
            </a:fld>
            <a:endParaRPr lang="zh-TW" altLang="en-US"/>
          </a:p>
        </p:txBody>
      </p:sp>
    </p:spTree>
    <p:extLst>
      <p:ext uri="{BB962C8B-B14F-4D97-AF65-F5344CB8AC3E}">
        <p14:creationId xmlns:p14="http://schemas.microsoft.com/office/powerpoint/2010/main" val="13604961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6B1645B-DBEB-4A32-BEA4-4940A36949D6}"/>
              </a:ext>
            </a:extLst>
          </p:cNvPr>
          <p:cNvSpPr>
            <a:spLocks noGrp="1"/>
          </p:cNvSpPr>
          <p:nvPr>
            <p:ph type="title"/>
          </p:nvPr>
        </p:nvSpPr>
        <p:spPr/>
        <p:txBody>
          <a:bodyPr/>
          <a:lstStyle/>
          <a:p>
            <a:r>
              <a:rPr lang="en-US" altLang="zh-TW" dirty="0"/>
              <a:t>Result</a:t>
            </a:r>
            <a:endParaRPr lang="zh-TW" altLang="en-US" dirty="0"/>
          </a:p>
        </p:txBody>
      </p:sp>
      <p:pic>
        <p:nvPicPr>
          <p:cNvPr id="5" name="內容版面配置區 4">
            <a:extLst>
              <a:ext uri="{FF2B5EF4-FFF2-40B4-BE49-F238E27FC236}">
                <a16:creationId xmlns:a16="http://schemas.microsoft.com/office/drawing/2014/main" id="{995C6DA1-FD05-4C53-AA20-E8D230BB2B60}"/>
              </a:ext>
            </a:extLst>
          </p:cNvPr>
          <p:cNvPicPr>
            <a:picLocks noGrp="1" noChangeAspect="1"/>
          </p:cNvPicPr>
          <p:nvPr>
            <p:ph idx="1"/>
          </p:nvPr>
        </p:nvPicPr>
        <p:blipFill>
          <a:blip r:embed="rId2"/>
          <a:stretch>
            <a:fillRect/>
          </a:stretch>
        </p:blipFill>
        <p:spPr>
          <a:xfrm>
            <a:off x="838200" y="2619615"/>
            <a:ext cx="10515600" cy="2763358"/>
          </a:xfrm>
          <a:prstGeom prst="rect">
            <a:avLst/>
          </a:prstGeom>
        </p:spPr>
      </p:pic>
      <p:sp>
        <p:nvSpPr>
          <p:cNvPr id="4" name="投影片編號版面配置區 3">
            <a:extLst>
              <a:ext uri="{FF2B5EF4-FFF2-40B4-BE49-F238E27FC236}">
                <a16:creationId xmlns:a16="http://schemas.microsoft.com/office/drawing/2014/main" id="{5E66294B-882C-45AF-873B-D7D051DBD7C0}"/>
              </a:ext>
            </a:extLst>
          </p:cNvPr>
          <p:cNvSpPr>
            <a:spLocks noGrp="1"/>
          </p:cNvSpPr>
          <p:nvPr>
            <p:ph type="sldNum" sz="quarter" idx="12"/>
          </p:nvPr>
        </p:nvSpPr>
        <p:spPr/>
        <p:txBody>
          <a:bodyPr/>
          <a:lstStyle/>
          <a:p>
            <a:fld id="{8DCCD063-7F18-423D-A692-CC9D343FD360}" type="slidenum">
              <a:rPr lang="zh-TW" altLang="en-US" smtClean="0"/>
              <a:t>7</a:t>
            </a:fld>
            <a:endParaRPr lang="zh-TW" altLang="en-US"/>
          </a:p>
        </p:txBody>
      </p:sp>
    </p:spTree>
    <p:extLst>
      <p:ext uri="{BB962C8B-B14F-4D97-AF65-F5344CB8AC3E}">
        <p14:creationId xmlns:p14="http://schemas.microsoft.com/office/powerpoint/2010/main" val="167825022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per">
      <a:majorFont>
        <a:latin typeface="Tw Cen MT"/>
        <a:ea typeface="微軟正黑體"/>
        <a:cs typeface=""/>
      </a:majorFont>
      <a:minorFont>
        <a:latin typeface="Tw Cen MT"/>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22794</TotalTime>
  <Words>281</Words>
  <Application>Microsoft Office PowerPoint</Application>
  <PresentationFormat>寬螢幕</PresentationFormat>
  <Paragraphs>40</Paragraphs>
  <Slides>7</Slides>
  <Notes>1</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7</vt:i4>
      </vt:variant>
    </vt:vector>
  </HeadingPairs>
  <TitlesOfParts>
    <vt:vector size="12" baseType="lpstr">
      <vt:lpstr>Arial</vt:lpstr>
      <vt:lpstr>Calibri</vt:lpstr>
      <vt:lpstr>Cambria Math</vt:lpstr>
      <vt:lpstr>Tw Cen MT</vt:lpstr>
      <vt:lpstr>Office 佈景主題</vt:lpstr>
      <vt:lpstr>Improvement of Dynamic Time Warping (DTW) Algorithm</vt:lpstr>
      <vt:lpstr>貴陽</vt:lpstr>
      <vt:lpstr>Abstract</vt:lpstr>
      <vt:lpstr>Classic DTW with Constraints</vt:lpstr>
      <vt:lpstr>Improvement of DTW</vt:lpstr>
      <vt:lpstr>Algorithm</vt:lpstr>
      <vt:lpstr>Result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 series for blind biosignal classification model</dc:title>
  <dc:creator>喵owo</dc:creator>
  <cp:lastModifiedBy>劉珊如</cp:lastModifiedBy>
  <cp:revision>525</cp:revision>
  <dcterms:created xsi:type="dcterms:W3CDTF">2017-10-09T09:38:00Z</dcterms:created>
  <dcterms:modified xsi:type="dcterms:W3CDTF">2019-01-15T10:28:55Z</dcterms:modified>
</cp:coreProperties>
</file>