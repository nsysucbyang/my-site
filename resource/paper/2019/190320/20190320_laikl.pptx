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72" r:id="rId2"/>
    <p:sldId id="273" r:id="rId3"/>
    <p:sldId id="274" r:id="rId4"/>
    <p:sldId id="290" r:id="rId5"/>
    <p:sldId id="288" r:id="rId6"/>
    <p:sldId id="296" r:id="rId7"/>
    <p:sldId id="297" r:id="rId8"/>
    <p:sldId id="303" r:id="rId9"/>
    <p:sldId id="298" r:id="rId10"/>
    <p:sldId id="291" r:id="rId11"/>
    <p:sldId id="292" r:id="rId12"/>
    <p:sldId id="294" r:id="rId13"/>
    <p:sldId id="299" r:id="rId14"/>
    <p:sldId id="300" r:id="rId15"/>
    <p:sldId id="301" r:id="rId16"/>
    <p:sldId id="302" r:id="rId1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3" d="100"/>
          <a:sy n="103" d="100"/>
        </p:scale>
        <p:origin x="126" y="3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BEC917-2184-4946-BB82-84EF861DCF35}" type="datetimeFigureOut">
              <a:rPr lang="zh-TW" altLang="en-US" smtClean="0"/>
              <a:t>2019/3/19</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D4844C-1032-416A-8E33-99B56B001B47}" type="slidenum">
              <a:rPr lang="zh-TW" altLang="en-US" smtClean="0"/>
              <a:t>‹#›</a:t>
            </a:fld>
            <a:endParaRPr lang="zh-TW" altLang="en-US"/>
          </a:p>
        </p:txBody>
      </p:sp>
    </p:spTree>
    <p:extLst>
      <p:ext uri="{BB962C8B-B14F-4D97-AF65-F5344CB8AC3E}">
        <p14:creationId xmlns:p14="http://schemas.microsoft.com/office/powerpoint/2010/main" val="16257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291E9FB-D310-4BD9-851D-6425E632172C}"/>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05CC2D6F-06AF-4931-9709-FCA05DC51E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605EB6B2-427A-4CAE-9619-FAB6B597D067}"/>
              </a:ext>
            </a:extLst>
          </p:cNvPr>
          <p:cNvSpPr>
            <a:spLocks noGrp="1"/>
          </p:cNvSpPr>
          <p:nvPr>
            <p:ph type="dt" sz="half" idx="10"/>
          </p:nvPr>
        </p:nvSpPr>
        <p:spPr/>
        <p:txBody>
          <a:bodyPr/>
          <a:lstStyle/>
          <a:p>
            <a:fld id="{FD4304E5-8391-4D43-B972-962346D4BFC4}" type="datetimeFigureOut">
              <a:rPr lang="zh-TW" altLang="en-US" smtClean="0"/>
              <a:t>2019/3/19</a:t>
            </a:fld>
            <a:endParaRPr lang="zh-TW" altLang="en-US"/>
          </a:p>
        </p:txBody>
      </p:sp>
      <p:sp>
        <p:nvSpPr>
          <p:cNvPr id="5" name="頁尾版面配置區 4">
            <a:extLst>
              <a:ext uri="{FF2B5EF4-FFF2-40B4-BE49-F238E27FC236}">
                <a16:creationId xmlns:a16="http://schemas.microsoft.com/office/drawing/2014/main" id="{3769ABC4-7C32-44E3-9772-E2B3357F93E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55D64BD-9081-466C-8D01-FBF7065B7535}"/>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2788892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6C11C1B-A165-4738-A98E-CDF82413A0CF}"/>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756B1918-D436-4343-9D7A-DF8FD42C64DF}"/>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AC802BB-9E18-4069-B6E3-D70E229B8AC6}"/>
              </a:ext>
            </a:extLst>
          </p:cNvPr>
          <p:cNvSpPr>
            <a:spLocks noGrp="1"/>
          </p:cNvSpPr>
          <p:nvPr>
            <p:ph type="dt" sz="half" idx="10"/>
          </p:nvPr>
        </p:nvSpPr>
        <p:spPr/>
        <p:txBody>
          <a:bodyPr/>
          <a:lstStyle/>
          <a:p>
            <a:fld id="{FD4304E5-8391-4D43-B972-962346D4BFC4}" type="datetimeFigureOut">
              <a:rPr lang="zh-TW" altLang="en-US" smtClean="0"/>
              <a:t>2019/3/19</a:t>
            </a:fld>
            <a:endParaRPr lang="zh-TW" altLang="en-US"/>
          </a:p>
        </p:txBody>
      </p:sp>
      <p:sp>
        <p:nvSpPr>
          <p:cNvPr id="5" name="頁尾版面配置區 4">
            <a:extLst>
              <a:ext uri="{FF2B5EF4-FFF2-40B4-BE49-F238E27FC236}">
                <a16:creationId xmlns:a16="http://schemas.microsoft.com/office/drawing/2014/main" id="{4D17E016-6221-4C76-A778-1966A7E223A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C950188-5923-4BE5-BBF8-007D2F5AFF02}"/>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38886391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0FCEA3C-318E-4A4F-A7B9-E2D385E1145F}"/>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D363CFCA-1D31-4F2D-A2FA-912CBE68D1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73F6391A-F661-4379-94A2-4643E5BF5D69}"/>
              </a:ext>
            </a:extLst>
          </p:cNvPr>
          <p:cNvSpPr>
            <a:spLocks noGrp="1"/>
          </p:cNvSpPr>
          <p:nvPr>
            <p:ph type="dt" sz="half" idx="10"/>
          </p:nvPr>
        </p:nvSpPr>
        <p:spPr/>
        <p:txBody>
          <a:bodyPr/>
          <a:lstStyle/>
          <a:p>
            <a:fld id="{FD4304E5-8391-4D43-B972-962346D4BFC4}" type="datetimeFigureOut">
              <a:rPr lang="zh-TW" altLang="en-US" smtClean="0"/>
              <a:t>2019/3/19</a:t>
            </a:fld>
            <a:endParaRPr lang="zh-TW" altLang="en-US"/>
          </a:p>
        </p:txBody>
      </p:sp>
      <p:sp>
        <p:nvSpPr>
          <p:cNvPr id="5" name="頁尾版面配置區 4">
            <a:extLst>
              <a:ext uri="{FF2B5EF4-FFF2-40B4-BE49-F238E27FC236}">
                <a16:creationId xmlns:a16="http://schemas.microsoft.com/office/drawing/2014/main" id="{695108C4-69A9-44CA-89F5-763AB52A959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53FF97E-7194-4B2D-8634-E29DD61DA603}"/>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2930596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152C97B-1F56-4785-8A30-DA86E60AABC2}"/>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F29B196-61A8-4EA9-B0FF-4353875D02FE}"/>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29105522-46EF-4155-B59E-FF1C09A54256}"/>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E82E778C-6D5C-4349-B49E-A36748FD2C5F}"/>
              </a:ext>
            </a:extLst>
          </p:cNvPr>
          <p:cNvSpPr>
            <a:spLocks noGrp="1"/>
          </p:cNvSpPr>
          <p:nvPr>
            <p:ph type="dt" sz="half" idx="10"/>
          </p:nvPr>
        </p:nvSpPr>
        <p:spPr/>
        <p:txBody>
          <a:bodyPr/>
          <a:lstStyle/>
          <a:p>
            <a:fld id="{FD4304E5-8391-4D43-B972-962346D4BFC4}" type="datetimeFigureOut">
              <a:rPr lang="zh-TW" altLang="en-US" smtClean="0"/>
              <a:t>2019/3/19</a:t>
            </a:fld>
            <a:endParaRPr lang="zh-TW" altLang="en-US"/>
          </a:p>
        </p:txBody>
      </p:sp>
      <p:sp>
        <p:nvSpPr>
          <p:cNvPr id="6" name="頁尾版面配置區 5">
            <a:extLst>
              <a:ext uri="{FF2B5EF4-FFF2-40B4-BE49-F238E27FC236}">
                <a16:creationId xmlns:a16="http://schemas.microsoft.com/office/drawing/2014/main" id="{7706EA42-D460-4907-9704-D34B3B57C42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7E264FC-4808-4790-BD8F-8211BE537212}"/>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1762903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A27751A-93CE-4DE8-B797-C436DD9F5C1C}"/>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08A2ABA1-97A7-4A9B-8822-523C381771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E16E0FC9-B7AA-41A0-B866-A41045B34148}"/>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0FC33553-8EC2-4658-A3F0-AC45384FB5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503BC847-C398-4803-A4DB-B409F0FA9B54}"/>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18638424-171A-4453-A77D-F5E415EF2FA5}"/>
              </a:ext>
            </a:extLst>
          </p:cNvPr>
          <p:cNvSpPr>
            <a:spLocks noGrp="1"/>
          </p:cNvSpPr>
          <p:nvPr>
            <p:ph type="dt" sz="half" idx="10"/>
          </p:nvPr>
        </p:nvSpPr>
        <p:spPr/>
        <p:txBody>
          <a:bodyPr/>
          <a:lstStyle/>
          <a:p>
            <a:fld id="{FD4304E5-8391-4D43-B972-962346D4BFC4}" type="datetimeFigureOut">
              <a:rPr lang="zh-TW" altLang="en-US" smtClean="0"/>
              <a:t>2019/3/19</a:t>
            </a:fld>
            <a:endParaRPr lang="zh-TW" altLang="en-US"/>
          </a:p>
        </p:txBody>
      </p:sp>
      <p:sp>
        <p:nvSpPr>
          <p:cNvPr id="8" name="頁尾版面配置區 7">
            <a:extLst>
              <a:ext uri="{FF2B5EF4-FFF2-40B4-BE49-F238E27FC236}">
                <a16:creationId xmlns:a16="http://schemas.microsoft.com/office/drawing/2014/main" id="{C80A086D-9FDA-468B-AAB3-0018938B86E6}"/>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6DC85732-9691-4144-9A38-E61C8463996B}"/>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1686958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E441B06-8711-4961-AEB7-AEE157FB58EF}"/>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B2D84982-DA61-40F8-865E-241B2E63E5CB}"/>
              </a:ext>
            </a:extLst>
          </p:cNvPr>
          <p:cNvSpPr>
            <a:spLocks noGrp="1"/>
          </p:cNvSpPr>
          <p:nvPr>
            <p:ph type="dt" sz="half" idx="10"/>
          </p:nvPr>
        </p:nvSpPr>
        <p:spPr/>
        <p:txBody>
          <a:bodyPr/>
          <a:lstStyle/>
          <a:p>
            <a:fld id="{FD4304E5-8391-4D43-B972-962346D4BFC4}" type="datetimeFigureOut">
              <a:rPr lang="zh-TW" altLang="en-US" smtClean="0"/>
              <a:t>2019/3/19</a:t>
            </a:fld>
            <a:endParaRPr lang="zh-TW" altLang="en-US"/>
          </a:p>
        </p:txBody>
      </p:sp>
      <p:sp>
        <p:nvSpPr>
          <p:cNvPr id="4" name="頁尾版面配置區 3">
            <a:extLst>
              <a:ext uri="{FF2B5EF4-FFF2-40B4-BE49-F238E27FC236}">
                <a16:creationId xmlns:a16="http://schemas.microsoft.com/office/drawing/2014/main" id="{688FECA4-B1F2-4027-8D2C-8751FB266806}"/>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49751A0D-D313-4013-94A2-D4003C17EC3C}"/>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1083237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BB4FDBCA-0F26-49FD-AD09-208FE47B41BB}"/>
              </a:ext>
            </a:extLst>
          </p:cNvPr>
          <p:cNvSpPr>
            <a:spLocks noGrp="1"/>
          </p:cNvSpPr>
          <p:nvPr>
            <p:ph type="dt" sz="half" idx="10"/>
          </p:nvPr>
        </p:nvSpPr>
        <p:spPr/>
        <p:txBody>
          <a:bodyPr/>
          <a:lstStyle/>
          <a:p>
            <a:fld id="{FD4304E5-8391-4D43-B972-962346D4BFC4}" type="datetimeFigureOut">
              <a:rPr lang="zh-TW" altLang="en-US" smtClean="0"/>
              <a:t>2019/3/19</a:t>
            </a:fld>
            <a:endParaRPr lang="zh-TW" altLang="en-US"/>
          </a:p>
        </p:txBody>
      </p:sp>
      <p:sp>
        <p:nvSpPr>
          <p:cNvPr id="3" name="頁尾版面配置區 2">
            <a:extLst>
              <a:ext uri="{FF2B5EF4-FFF2-40B4-BE49-F238E27FC236}">
                <a16:creationId xmlns:a16="http://schemas.microsoft.com/office/drawing/2014/main" id="{A1FBB2FB-5464-4A73-AE50-DCF81B3AC412}"/>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56065D78-C5F8-47FF-AA94-888FCEFD4175}"/>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1899036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05D31BA-37F1-4225-B290-CB3296CD2E74}"/>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344D63C7-7D4E-47D8-B09A-DDD52D8956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0A09B261-64A1-45E3-BCCC-4B347BCEF1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A21D7D45-2485-430D-85B6-E0EDD74702FF}"/>
              </a:ext>
            </a:extLst>
          </p:cNvPr>
          <p:cNvSpPr>
            <a:spLocks noGrp="1"/>
          </p:cNvSpPr>
          <p:nvPr>
            <p:ph type="dt" sz="half" idx="10"/>
          </p:nvPr>
        </p:nvSpPr>
        <p:spPr/>
        <p:txBody>
          <a:bodyPr/>
          <a:lstStyle/>
          <a:p>
            <a:fld id="{FD4304E5-8391-4D43-B972-962346D4BFC4}" type="datetimeFigureOut">
              <a:rPr lang="zh-TW" altLang="en-US" smtClean="0"/>
              <a:t>2019/3/19</a:t>
            </a:fld>
            <a:endParaRPr lang="zh-TW" altLang="en-US"/>
          </a:p>
        </p:txBody>
      </p:sp>
      <p:sp>
        <p:nvSpPr>
          <p:cNvPr id="6" name="頁尾版面配置區 5">
            <a:extLst>
              <a:ext uri="{FF2B5EF4-FFF2-40B4-BE49-F238E27FC236}">
                <a16:creationId xmlns:a16="http://schemas.microsoft.com/office/drawing/2014/main" id="{F0B9DB85-5A5B-48DF-A996-3201B8D87805}"/>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B426B7C-FD89-4D9B-887E-55B2A0158F04}"/>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2850541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C8B7B3C-2DD9-46E7-A713-12783EFB8ED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429D5A80-7E30-4CE2-9F20-F249813FD6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3DD48E2E-ABAE-41A2-9298-3BB31EBF90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4BA1B74B-A084-41FB-850C-9D7955CBFB7B}"/>
              </a:ext>
            </a:extLst>
          </p:cNvPr>
          <p:cNvSpPr>
            <a:spLocks noGrp="1"/>
          </p:cNvSpPr>
          <p:nvPr>
            <p:ph type="dt" sz="half" idx="10"/>
          </p:nvPr>
        </p:nvSpPr>
        <p:spPr/>
        <p:txBody>
          <a:bodyPr/>
          <a:lstStyle/>
          <a:p>
            <a:fld id="{FD4304E5-8391-4D43-B972-962346D4BFC4}" type="datetimeFigureOut">
              <a:rPr lang="zh-TW" altLang="en-US" smtClean="0"/>
              <a:t>2019/3/19</a:t>
            </a:fld>
            <a:endParaRPr lang="zh-TW" altLang="en-US"/>
          </a:p>
        </p:txBody>
      </p:sp>
      <p:sp>
        <p:nvSpPr>
          <p:cNvPr id="6" name="頁尾版面配置區 5">
            <a:extLst>
              <a:ext uri="{FF2B5EF4-FFF2-40B4-BE49-F238E27FC236}">
                <a16:creationId xmlns:a16="http://schemas.microsoft.com/office/drawing/2014/main" id="{EB315B08-E79A-42EE-A2FC-F1C68A51BDD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73802BE-840F-4C01-9050-6E70D196A1E0}"/>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26328331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4FC5363-AA72-4929-A8D8-981DE83CCA8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A60E5AE7-6730-4E4A-A491-978032D4A827}"/>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324A45A-6563-4F21-B472-F95E7E9351DD}"/>
              </a:ext>
            </a:extLst>
          </p:cNvPr>
          <p:cNvSpPr>
            <a:spLocks noGrp="1"/>
          </p:cNvSpPr>
          <p:nvPr>
            <p:ph type="dt" sz="half" idx="10"/>
          </p:nvPr>
        </p:nvSpPr>
        <p:spPr/>
        <p:txBody>
          <a:bodyPr/>
          <a:lstStyle/>
          <a:p>
            <a:fld id="{FD4304E5-8391-4D43-B972-962346D4BFC4}" type="datetimeFigureOut">
              <a:rPr lang="zh-TW" altLang="en-US" smtClean="0"/>
              <a:t>2019/3/19</a:t>
            </a:fld>
            <a:endParaRPr lang="zh-TW" altLang="en-US"/>
          </a:p>
        </p:txBody>
      </p:sp>
      <p:sp>
        <p:nvSpPr>
          <p:cNvPr id="5" name="頁尾版面配置區 4">
            <a:extLst>
              <a:ext uri="{FF2B5EF4-FFF2-40B4-BE49-F238E27FC236}">
                <a16:creationId xmlns:a16="http://schemas.microsoft.com/office/drawing/2014/main" id="{2BEF7F7B-52C7-426B-9978-644A1D1D5C4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D5A41F3-8A5F-4AA2-BC76-BA2BC35462E2}"/>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5863396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9176A2CC-7A46-4F55-85C4-AA9FCEBA2478}"/>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843CA45E-F614-4C8C-8C28-E5CB2DA98D41}"/>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2E923DF-42AC-42EC-8C59-8AE2A2D288D2}"/>
              </a:ext>
            </a:extLst>
          </p:cNvPr>
          <p:cNvSpPr>
            <a:spLocks noGrp="1"/>
          </p:cNvSpPr>
          <p:nvPr>
            <p:ph type="dt" sz="half" idx="10"/>
          </p:nvPr>
        </p:nvSpPr>
        <p:spPr/>
        <p:txBody>
          <a:bodyPr/>
          <a:lstStyle/>
          <a:p>
            <a:fld id="{FD4304E5-8391-4D43-B972-962346D4BFC4}" type="datetimeFigureOut">
              <a:rPr lang="zh-TW" altLang="en-US" smtClean="0"/>
              <a:t>2019/3/19</a:t>
            </a:fld>
            <a:endParaRPr lang="zh-TW" altLang="en-US"/>
          </a:p>
        </p:txBody>
      </p:sp>
      <p:sp>
        <p:nvSpPr>
          <p:cNvPr id="5" name="頁尾版面配置區 4">
            <a:extLst>
              <a:ext uri="{FF2B5EF4-FFF2-40B4-BE49-F238E27FC236}">
                <a16:creationId xmlns:a16="http://schemas.microsoft.com/office/drawing/2014/main" id="{05EF9B0E-8C96-4598-AD8E-7166BFAB209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8AC7952-2B0D-4AEE-853B-D7C07AA430EC}"/>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8245121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2CAC3753-89D0-4CF8-9AD2-2EDC075887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0D946258-EAA0-48EF-BC94-910187879B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0B7139B-A4A4-4FF6-8485-DAC90BA55F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4304E5-8391-4D43-B972-962346D4BFC4}" type="datetimeFigureOut">
              <a:rPr lang="zh-TW" altLang="en-US" smtClean="0"/>
              <a:t>2019/3/19</a:t>
            </a:fld>
            <a:endParaRPr lang="zh-TW" altLang="en-US"/>
          </a:p>
        </p:txBody>
      </p:sp>
      <p:sp>
        <p:nvSpPr>
          <p:cNvPr id="5" name="頁尾版面配置區 4">
            <a:extLst>
              <a:ext uri="{FF2B5EF4-FFF2-40B4-BE49-F238E27FC236}">
                <a16:creationId xmlns:a16="http://schemas.microsoft.com/office/drawing/2014/main" id="{CCF0E61B-8D31-44C4-971C-1AE9FB565B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5CA5F1E-BB32-417E-9E65-5152DAF7A4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6708801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380D9A5-7987-4C31-A5AA-53D6FFA13CC9}"/>
              </a:ext>
            </a:extLst>
          </p:cNvPr>
          <p:cNvSpPr>
            <a:spLocks noGrp="1"/>
          </p:cNvSpPr>
          <p:nvPr>
            <p:ph type="ctrTitle"/>
          </p:nvPr>
        </p:nvSpPr>
        <p:spPr>
          <a:xfrm>
            <a:off x="521880" y="1139472"/>
            <a:ext cx="11148240" cy="1437553"/>
          </a:xfrm>
        </p:spPr>
        <p:txBody>
          <a:bodyPr>
            <a:normAutofit fontScale="90000"/>
          </a:bodyPr>
          <a:lstStyle/>
          <a:p>
            <a:r>
              <a:rPr lang="en-US" altLang="zh-TW" sz="4800" dirty="0">
                <a:latin typeface="Times New Roman" panose="02020603050405020304" pitchFamily="18" charset="0"/>
                <a:cs typeface="Times New Roman" panose="02020603050405020304" pitchFamily="18" charset="0"/>
              </a:rPr>
              <a:t>Computing Nonoverlapping Inversion Distance Between Two Strings in Linear Average Time</a:t>
            </a:r>
            <a:endParaRPr lang="zh-TW" altLang="en-US" sz="48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1DE7FB8B-5E0F-4EA3-A472-0229D27A7FA6}"/>
              </a:ext>
            </a:extLst>
          </p:cNvPr>
          <p:cNvSpPr>
            <a:spLocks noGrp="1"/>
          </p:cNvSpPr>
          <p:nvPr>
            <p:ph type="subTitle" idx="1"/>
          </p:nvPr>
        </p:nvSpPr>
        <p:spPr>
          <a:xfrm>
            <a:off x="992332" y="3148839"/>
            <a:ext cx="10207336" cy="3266355"/>
          </a:xfrm>
        </p:spPr>
        <p:txBody>
          <a:bodyPr>
            <a:normAutofit/>
          </a:bodyPr>
          <a:lstStyle/>
          <a:p>
            <a:r>
              <a:rPr lang="de-DE" altLang="zh-TW" dirty="0">
                <a:latin typeface="Times New Roman" panose="02020603050405020304" pitchFamily="18" charset="0"/>
                <a:cs typeface="Times New Roman" panose="02020603050405020304" pitchFamily="18" charset="0"/>
              </a:rPr>
              <a:t>XIAODONG WANG (</a:t>
            </a:r>
            <a:r>
              <a:rPr lang="zh-TW" altLang="en-US" b="1" dirty="0"/>
              <a:t>王晓东</a:t>
            </a:r>
            <a:r>
              <a:rPr lang="de-DE" altLang="zh-TW" dirty="0">
                <a:latin typeface="Times New Roman" panose="02020603050405020304" pitchFamily="18" charset="0"/>
                <a:cs typeface="Times New Roman" panose="02020603050405020304" pitchFamily="18" charset="0"/>
              </a:rPr>
              <a:t>) and LEI WANG</a:t>
            </a:r>
            <a:br>
              <a:rPr lang="en-US" altLang="zh-TW" dirty="0">
                <a:latin typeface="Times New Roman" panose="02020603050405020304" pitchFamily="18" charset="0"/>
                <a:cs typeface="Times New Roman" panose="02020603050405020304" pitchFamily="18" charset="0"/>
              </a:rPr>
            </a:b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Journal of  Computational Biology  Vol. 26,  No. 3, 2019 pp 193-201</a:t>
            </a:r>
          </a:p>
          <a:p>
            <a:br>
              <a:rPr lang="fi-FI" altLang="zh-TW" b="1" i="1" dirty="0"/>
            </a:br>
            <a:br>
              <a:rPr lang="fi-FI" altLang="zh-TW" b="1" i="1" dirty="0"/>
            </a:br>
            <a:r>
              <a:rPr lang="en-US" altLang="zh-TW" dirty="0">
                <a:latin typeface="Times New Roman" panose="02020603050405020304" pitchFamily="18" charset="0"/>
                <a:cs typeface="Times New Roman" panose="02020603050405020304" pitchFamily="18" charset="0"/>
              </a:rPr>
              <a:t>Speaker:</a:t>
            </a:r>
            <a:r>
              <a:rPr lang="zh-TW" altLang="en-US"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Kuan</a:t>
            </a:r>
            <a:r>
              <a:rPr lang="en-US" altLang="zh-TW" dirty="0">
                <a:latin typeface="Times New Roman" panose="02020603050405020304" pitchFamily="18" charset="0"/>
                <a:cs typeface="Times New Roman" panose="02020603050405020304" pitchFamily="18" charset="0"/>
              </a:rPr>
              <a:t>-Lin Lai</a:t>
            </a:r>
          </a:p>
          <a:p>
            <a:r>
              <a:rPr lang="en-US" altLang="zh-TW" dirty="0">
                <a:latin typeface="Times New Roman" panose="02020603050405020304" pitchFamily="18" charset="0"/>
                <a:cs typeface="Times New Roman" panose="02020603050405020304" pitchFamily="18" charset="0"/>
              </a:rPr>
              <a:t>Date: Mar. 20, 2019</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7148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ED643E-E99E-4F12-92FE-709248FF7FFA}"/>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Abstract(1/2)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9FB915B7-780A-4747-AA36-2299BB46935A}"/>
              </a:ext>
            </a:extLst>
          </p:cNvPr>
          <p:cNvSpPr>
            <a:spLocks noGrp="1"/>
          </p:cNvSpPr>
          <p:nvPr>
            <p:ph idx="1"/>
          </p:nvPr>
        </p:nvSpPr>
        <p:spPr>
          <a:xfrm>
            <a:off x="838200" y="1825625"/>
            <a:ext cx="10746996" cy="4351338"/>
          </a:xfrm>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Biological events like inversions are not automatically detected by the usual alignment algorithms. Alignment with inversions does not have a known polynomial time algorithm and </a:t>
            </a:r>
            <a:r>
              <a:rPr lang="en-US" altLang="zh-TW" dirty="0" err="1">
                <a:latin typeface="Times New Roman" panose="02020603050405020304" pitchFamily="18" charset="0"/>
                <a:cs typeface="Times New Roman" panose="02020603050405020304" pitchFamily="18" charset="0"/>
              </a:rPr>
              <a:t>Scho¨niger</a:t>
            </a:r>
            <a:r>
              <a:rPr lang="en-US" altLang="zh-TW" dirty="0">
                <a:latin typeface="Times New Roman" panose="02020603050405020304" pitchFamily="18" charset="0"/>
                <a:cs typeface="Times New Roman" panose="02020603050405020304" pitchFamily="18" charset="0"/>
              </a:rPr>
              <a:t> and Waterman introduced a simplification of the alignment problem with nonoverlapping inversions, where all regions will not be allowed to overlap. They presented an O(n</a:t>
            </a:r>
            <a:r>
              <a:rPr lang="en-US" altLang="zh-TW" baseline="30000" dirty="0">
                <a:latin typeface="Times New Roman" panose="02020603050405020304" pitchFamily="18" charset="0"/>
                <a:cs typeface="Times New Roman" panose="02020603050405020304" pitchFamily="18" charset="0"/>
              </a:rPr>
              <a:t>6</a:t>
            </a:r>
            <a:r>
              <a:rPr lang="en-US" altLang="zh-TW" dirty="0">
                <a:latin typeface="Times New Roman" panose="02020603050405020304" pitchFamily="18" charset="0"/>
                <a:cs typeface="Times New Roman" panose="02020603050405020304" pitchFamily="18" charset="0"/>
              </a:rPr>
              <a:t>) algorithm to compute nonoverlapping inversion distance between two strings of length n. The time and space complexities were improved to O(n</a:t>
            </a:r>
            <a:r>
              <a:rPr lang="en-US" altLang="zh-TW" baseline="30000" dirty="0">
                <a:latin typeface="Times New Roman" panose="02020603050405020304" pitchFamily="18" charset="0"/>
                <a:cs typeface="Times New Roman" panose="02020603050405020304" pitchFamily="18" charset="0"/>
              </a:rPr>
              <a:t>3</a:t>
            </a:r>
            <a:r>
              <a:rPr lang="en-US" altLang="zh-TW" dirty="0">
                <a:latin typeface="Times New Roman" panose="02020603050405020304" pitchFamily="18" charset="0"/>
                <a:cs typeface="Times New Roman" panose="02020603050405020304" pitchFamily="18" charset="0"/>
              </a:rPr>
              <a:t>) and O(n</a:t>
            </a:r>
            <a:r>
              <a:rPr lang="en-US" altLang="zh-TW" baseline="30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 later by Cho, </a:t>
            </a:r>
            <a:r>
              <a:rPr lang="en-US" altLang="zh-TW" dirty="0" err="1">
                <a:latin typeface="Times New Roman" panose="02020603050405020304" pitchFamily="18" charset="0"/>
                <a:cs typeface="Times New Roman" panose="02020603050405020304" pitchFamily="18" charset="0"/>
              </a:rPr>
              <a:t>Vellozo</a:t>
            </a:r>
            <a:r>
              <a:rPr lang="en-US" altLang="zh-TW" dirty="0">
                <a:latin typeface="Times New Roman" panose="02020603050405020304" pitchFamily="18" charset="0"/>
                <a:cs typeface="Times New Roman" panose="02020603050405020304" pitchFamily="18" charset="0"/>
              </a:rPr>
              <a:t>, and Ta.</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8769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A6056C-46BB-41FC-8CE7-C56415C91A11}"/>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Abstract(2/2)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D6D7B983-0E0D-4A4E-BF68-41C4D7BC48E1}"/>
              </a:ext>
            </a:extLst>
          </p:cNvPr>
          <p:cNvSpPr>
            <a:spLocks noGrp="1"/>
          </p:cNvSpPr>
          <p:nvPr>
            <p:ph idx="1"/>
          </p:nvPr>
        </p:nvSpPr>
        <p:spPr>
          <a:xfrm>
            <a:off x="838199" y="1825625"/>
            <a:ext cx="10872355" cy="4351338"/>
          </a:xfrm>
        </p:spPr>
        <p:txBody>
          <a:bodyPr/>
          <a:lstStyle/>
          <a:p>
            <a:pPr marL="0" indent="0">
              <a:buNone/>
            </a:pPr>
            <a:r>
              <a:rPr lang="en-US" altLang="zh-TW" dirty="0">
                <a:latin typeface="Times New Roman" panose="02020603050405020304" pitchFamily="18" charset="0"/>
                <a:cs typeface="Times New Roman" panose="02020603050405020304" pitchFamily="18" charset="0"/>
              </a:rPr>
              <a:t>In this article, a linear space and linear average time algorithm to compute the inversion distance between two strings of the same length is presented. The recursive formula for this purpose is new to the best of our knowledge. The space costs of the algorithms to solve the same problem are quadratic in the literature, and thus our original algorithm is the first linear space and linear average time algorithm to solve the inversion distance problem.</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4109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1899552-D171-41FD-90EB-C05AA95FCFB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Preliminaries</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FACE9963-43F0-4BCA-85E9-167906163823}"/>
                  </a:ext>
                </a:extLst>
              </p:cNvPr>
              <p:cNvSpPr>
                <a:spLocks noGrp="1"/>
              </p:cNvSpPr>
              <p:nvPr>
                <p:ph idx="1"/>
              </p:nvPr>
            </p:nvSpPr>
            <p:spPr/>
            <p:txBody>
              <a:bodyPr/>
              <a:lstStyle/>
              <a:p>
                <a14:m>
                  <m:oMath xmlns:m="http://schemas.openxmlformats.org/officeDocument/2006/math">
                    <m:r>
                      <a:rPr lang="en-US" altLang="zh-TW" b="0" i="1" smtClean="0">
                        <a:latin typeface="Cambria Math" panose="02040503050406030204" pitchFamily="18" charset="0"/>
                      </a:rPr>
                      <m:t>𝑐</m:t>
                    </m:r>
                    <m:r>
                      <a:rPr lang="en-US" altLang="zh-TW" b="0" i="1" smtClean="0">
                        <a:latin typeface="Cambria Math" panose="02040503050406030204" pitchFamily="18" charset="0"/>
                        <a:ea typeface="Cambria Math" panose="02040503050406030204" pitchFamily="18" charset="0"/>
                      </a:rPr>
                      <m:t>∈</m:t>
                    </m:r>
                    <m:r>
                      <a:rPr lang="en-US" altLang="zh-TW" i="1" smtClean="0">
                        <a:latin typeface="Cambria Math" panose="02040503050406030204" pitchFamily="18" charset="0"/>
                      </a:rPr>
                      <m:t>𝛴</m:t>
                    </m:r>
                    <m:r>
                      <m:rPr>
                        <m:nor/>
                      </m:rPr>
                      <a:rPr lang="en-US" altLang="zh-TW" smtClean="0"/>
                      <m:t> </m:t>
                    </m:r>
                    <m:r>
                      <m:rPr>
                        <m:nor/>
                      </m:rPr>
                      <a:rPr lang="en-US" altLang="zh-TW" b="0" i="0" smtClean="0"/>
                      <m:t>,</m:t>
                    </m:r>
                    <m:r>
                      <a:rPr lang="en-US" altLang="zh-TW" b="0" i="1" smtClean="0">
                        <a:latin typeface="Cambria Math" panose="02040503050406030204" pitchFamily="18" charset="0"/>
                      </a:rPr>
                      <m:t>   </m:t>
                    </m:r>
                    <m:r>
                      <a:rPr lang="zh-TW" altLang="en-US" i="1">
                        <a:latin typeface="Cambria Math" panose="02040503050406030204" pitchFamily="18" charset="0"/>
                      </a:rPr>
                      <m:t>𝜃</m:t>
                    </m:r>
                    <m:d>
                      <m:dPr>
                        <m:ctrlPr>
                          <a:rPr lang="en-US" altLang="zh-TW" i="1">
                            <a:latin typeface="Cambria Math" panose="02040503050406030204" pitchFamily="18" charset="0"/>
                          </a:rPr>
                        </m:ctrlPr>
                      </m:dPr>
                      <m:e>
                        <m:r>
                          <a:rPr lang="en-US" altLang="zh-TW" b="0" i="1" smtClean="0">
                            <a:latin typeface="Cambria Math" panose="02040503050406030204" pitchFamily="18" charset="0"/>
                          </a:rPr>
                          <m:t>𝑐</m:t>
                        </m:r>
                      </m:e>
                    </m:d>
                    <m:r>
                      <a:rPr lang="en-US" altLang="zh-TW" b="0" i="1" smtClean="0">
                        <a:latin typeface="Cambria Math" panose="02040503050406030204" pitchFamily="18" charset="0"/>
                      </a:rPr>
                      <m:t> </m:t>
                    </m:r>
                    <m:r>
                      <a:rPr lang="en-US" altLang="zh-TW" b="0" i="1" smtClean="0">
                        <a:latin typeface="Cambria Math" panose="02040503050406030204" pitchFamily="18" charset="0"/>
                      </a:rPr>
                      <m:t>𝑖𝑠</m:t>
                    </m:r>
                    <m:r>
                      <a:rPr lang="en-US" altLang="zh-TW" b="0" i="1" smtClean="0">
                        <a:latin typeface="Cambria Math" panose="02040503050406030204" pitchFamily="18" charset="0"/>
                      </a:rPr>
                      <m:t> </m:t>
                    </m:r>
                    <m:r>
                      <a:rPr lang="en-US" altLang="zh-TW" b="0" i="1" smtClean="0">
                        <a:latin typeface="Cambria Math" panose="02040503050406030204" pitchFamily="18" charset="0"/>
                      </a:rPr>
                      <m:t>𝑑</m:t>
                    </m:r>
                    <m:r>
                      <m:rPr>
                        <m:nor/>
                      </m:rPr>
                      <a:rPr lang="en-US" altLang="zh-TW" b="0" i="0" smtClean="0">
                        <a:latin typeface="Cambria Math" panose="02040503050406030204" pitchFamily="18" charset="0"/>
                      </a:rPr>
                      <m:t>efine</m:t>
                    </m:r>
                    <m:r>
                      <m:rPr>
                        <m:nor/>
                      </m:rPr>
                      <a:rPr lang="en-US" altLang="zh-TW" b="0" i="0" smtClean="0">
                        <a:latin typeface="Cambria Math" panose="02040503050406030204" pitchFamily="18" charset="0"/>
                      </a:rPr>
                      <m:t> </m:t>
                    </m:r>
                    <m:r>
                      <m:rPr>
                        <m:nor/>
                      </m:rPr>
                      <a:rPr lang="en-US" altLang="zh-TW" b="0" i="0" smtClean="0">
                        <a:latin typeface="Cambria Math" panose="02040503050406030204" pitchFamily="18" charset="0"/>
                      </a:rPr>
                      <m:t>as</m:t>
                    </m:r>
                    <m:r>
                      <m:rPr>
                        <m:nor/>
                      </m:rPr>
                      <a:rPr lang="en-US" altLang="zh-TW" b="0" i="0" smtClean="0">
                        <a:latin typeface="Cambria Math" panose="02040503050406030204" pitchFamily="18" charset="0"/>
                      </a:rPr>
                      <m:t> </m:t>
                    </m:r>
                    <m:r>
                      <m:rPr>
                        <m:nor/>
                      </m:rPr>
                      <a:rPr lang="en-US" altLang="zh-TW" b="0" i="0" smtClean="0">
                        <a:latin typeface="Cambria Math" panose="02040503050406030204" pitchFamily="18" charset="0"/>
                      </a:rPr>
                      <m:t>its</m:t>
                    </m:r>
                    <m:r>
                      <m:rPr>
                        <m:nor/>
                      </m:rPr>
                      <a:rPr lang="en-US" altLang="zh-TW" b="0" i="0" smtClean="0">
                        <a:latin typeface="Cambria Math" panose="02040503050406030204" pitchFamily="18" charset="0"/>
                      </a:rPr>
                      <m:t> </m:t>
                    </m:r>
                    <m:r>
                      <m:rPr>
                        <m:nor/>
                      </m:rPr>
                      <a:rPr lang="en-US" altLang="zh-TW" b="0" i="0" smtClean="0">
                        <a:latin typeface="Cambria Math" panose="02040503050406030204" pitchFamily="18" charset="0"/>
                      </a:rPr>
                      <m:t>complementary</m:t>
                    </m:r>
                    <m:r>
                      <m:rPr>
                        <m:nor/>
                      </m:rPr>
                      <a:rPr lang="en-US" altLang="zh-TW" b="0" i="0" smtClean="0">
                        <a:latin typeface="Cambria Math" panose="02040503050406030204" pitchFamily="18" charset="0"/>
                      </a:rPr>
                      <m:t> </m:t>
                    </m:r>
                    <m:r>
                      <m:rPr>
                        <m:nor/>
                      </m:rPr>
                      <a:rPr lang="en-US" altLang="zh-TW" b="0" i="0" smtClean="0">
                        <a:latin typeface="Cambria Math" panose="02040503050406030204" pitchFamily="18" charset="0"/>
                      </a:rPr>
                      <m:t>character</m:t>
                    </m:r>
                    <m:r>
                      <m:rPr>
                        <m:nor/>
                      </m:rPr>
                      <a:rPr lang="en-US" altLang="zh-TW" b="0" i="0" smtClean="0">
                        <a:latin typeface="Cambria Math" panose="02040503050406030204" pitchFamily="18" charset="0"/>
                      </a:rPr>
                      <m:t> </m:t>
                    </m:r>
                    <m:r>
                      <m:rPr>
                        <m:nor/>
                      </m:rPr>
                      <a:rPr lang="en-US" altLang="zh-TW" b="0" i="0" smtClean="0">
                        <a:latin typeface="Cambria Math" panose="02040503050406030204" pitchFamily="18" charset="0"/>
                      </a:rPr>
                      <m:t>in</m:t>
                    </m:r>
                    <m:r>
                      <a:rPr lang="en-US" altLang="zh-TW" b="0" i="1" smtClean="0">
                        <a:latin typeface="Cambria Math" panose="02040503050406030204" pitchFamily="18" charset="0"/>
                      </a:rPr>
                      <m:t> </m:t>
                    </m:r>
                    <m:r>
                      <a:rPr lang="en-US" altLang="zh-TW" i="1">
                        <a:latin typeface="Cambria Math" panose="02040503050406030204" pitchFamily="18" charset="0"/>
                      </a:rPr>
                      <m:t>𝛴</m:t>
                    </m:r>
                  </m:oMath>
                </a14:m>
                <a:br>
                  <a:rPr lang="en-US" altLang="zh-TW" b="0" dirty="0"/>
                </a:br>
                <a:br>
                  <a:rPr lang="en-US" altLang="zh-TW" b="0" dirty="0"/>
                </a:br>
                <a:r>
                  <a:rPr lang="en-US" altLang="zh-TW" b="0" dirty="0">
                    <a:latin typeface="Times New Roman" panose="02020603050405020304" pitchFamily="18" charset="0"/>
                    <a:cs typeface="Times New Roman" panose="02020603050405020304" pitchFamily="18" charset="0"/>
                  </a:rPr>
                  <a:t>The </a:t>
                </a:r>
                <a:r>
                  <a:rPr lang="en-US" altLang="zh-TW" dirty="0">
                    <a:latin typeface="Times New Roman" panose="02020603050405020304" pitchFamily="18" charset="0"/>
                    <a:cs typeface="Times New Roman" panose="02020603050405020304" pitchFamily="18" charset="0"/>
                  </a:rPr>
                  <a:t>inversion operation </a:t>
                </a:r>
                <a14:m>
                  <m:oMath xmlns:m="http://schemas.openxmlformats.org/officeDocument/2006/math">
                    <m:r>
                      <a:rPr lang="zh-TW" altLang="en-US" i="1">
                        <a:latin typeface="Cambria Math" panose="02040503050406030204" pitchFamily="18" charset="0"/>
                      </a:rPr>
                      <m:t>𝜃</m:t>
                    </m:r>
                  </m:oMath>
                </a14:m>
                <a:r>
                  <a:rPr lang="en-US" altLang="zh-TW" dirty="0">
                    <a:latin typeface="Times New Roman" panose="02020603050405020304" pitchFamily="18" charset="0"/>
                    <a:cs typeface="Times New Roman" panose="02020603050405020304" pitchFamily="18" charset="0"/>
                  </a:rPr>
                  <a:t> acting on </a:t>
                </a:r>
                <a:r>
                  <a:rPr lang="en-US" altLang="zh-TW" dirty="0" err="1">
                    <a:latin typeface="Times New Roman" panose="02020603050405020304" pitchFamily="18" charset="0"/>
                    <a:cs typeface="Times New Roman" panose="02020603050405020304" pitchFamily="18" charset="0"/>
                  </a:rPr>
                  <a:t>x</a:t>
                </a:r>
                <a:r>
                  <a:rPr lang="en-US" altLang="zh-TW" baseline="-25000" dirty="0" err="1">
                    <a:latin typeface="Times New Roman" panose="02020603050405020304" pitchFamily="18" charset="0"/>
                    <a:cs typeface="Times New Roman" panose="02020603050405020304" pitchFamily="18" charset="0"/>
                  </a:rPr>
                  <a:t>i‚j</a:t>
                </a:r>
                <a:r>
                  <a:rPr lang="en-US" altLang="zh-TW" baseline="-25000"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is defined as</a:t>
                </a:r>
                <a:r>
                  <a:rPr lang="zh-TW" altLang="en-US" dirty="0">
                    <a:latin typeface="Times New Roman" panose="02020603050405020304" pitchFamily="18" charset="0"/>
                    <a:cs typeface="Times New Roman" panose="02020603050405020304" pitchFamily="18" charset="0"/>
                  </a:rPr>
                  <a:t> </a:t>
                </a:r>
                <a:br>
                  <a:rPr lang="en-US" altLang="zh-TW" dirty="0">
                    <a:latin typeface="Times New Roman" panose="02020603050405020304" pitchFamily="18" charset="0"/>
                    <a:cs typeface="Times New Roman" panose="02020603050405020304" pitchFamily="18" charset="0"/>
                  </a:rPr>
                </a:br>
                <a14:m>
                  <m:oMath xmlns:m="http://schemas.openxmlformats.org/officeDocument/2006/math">
                    <m:r>
                      <a:rPr lang="zh-TW" altLang="en-US" i="1">
                        <a:latin typeface="Cambria Math" panose="02040503050406030204" pitchFamily="18" charset="0"/>
                      </a:rPr>
                      <m:t>𝜃</m:t>
                    </m:r>
                  </m:oMath>
                </a14:m>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x</a:t>
                </a:r>
                <a:r>
                  <a:rPr lang="en-US" altLang="zh-TW" baseline="-25000" dirty="0" err="1">
                    <a:latin typeface="Times New Roman" panose="02020603050405020304" pitchFamily="18" charset="0"/>
                    <a:cs typeface="Times New Roman" panose="02020603050405020304" pitchFamily="18" charset="0"/>
                  </a:rPr>
                  <a:t>i‚j</a:t>
                </a:r>
                <a:r>
                  <a:rPr lang="en-US" altLang="zh-TW" baseline="-25000"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 = </a:t>
                </a:r>
                <a14:m>
                  <m:oMath xmlns:m="http://schemas.openxmlformats.org/officeDocument/2006/math">
                    <m:r>
                      <a:rPr lang="zh-TW" altLang="en-US" i="1">
                        <a:latin typeface="Cambria Math" panose="02040503050406030204" pitchFamily="18" charset="0"/>
                      </a:rPr>
                      <m:t>𝜃</m:t>
                    </m:r>
                  </m:oMath>
                </a14:m>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x</a:t>
                </a:r>
                <a:r>
                  <a:rPr lang="en-US" altLang="zh-TW" baseline="-25000" dirty="0" err="1">
                    <a:latin typeface="Times New Roman" panose="02020603050405020304" pitchFamily="18" charset="0"/>
                    <a:cs typeface="Times New Roman" panose="02020603050405020304" pitchFamily="18" charset="0"/>
                  </a:rPr>
                  <a:t>j</a:t>
                </a:r>
                <a:r>
                  <a:rPr lang="en-US" altLang="zh-TW" baseline="-25000"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14:m>
                  <m:oMath xmlns:m="http://schemas.openxmlformats.org/officeDocument/2006/math">
                    <m:r>
                      <a:rPr lang="zh-TW" altLang="en-US" i="1">
                        <a:latin typeface="Cambria Math" panose="02040503050406030204" pitchFamily="18" charset="0"/>
                      </a:rPr>
                      <m:t>𝜃</m:t>
                    </m:r>
                  </m:oMath>
                </a14:m>
                <a:r>
                  <a:rPr lang="en-US" altLang="zh-TW" dirty="0">
                    <a:latin typeface="Times New Roman" panose="02020603050405020304" pitchFamily="18" charset="0"/>
                    <a:cs typeface="Times New Roman" panose="02020603050405020304" pitchFamily="18" charset="0"/>
                  </a:rPr>
                  <a:t>(x</a:t>
                </a:r>
                <a:r>
                  <a:rPr lang="en-US" altLang="zh-TW" baseline="-25000" dirty="0">
                    <a:latin typeface="Times New Roman" panose="02020603050405020304" pitchFamily="18" charset="0"/>
                    <a:cs typeface="Times New Roman" panose="02020603050405020304" pitchFamily="18" charset="0"/>
                  </a:rPr>
                  <a:t>j-1</a:t>
                </a:r>
                <a:r>
                  <a:rPr lang="en-US" altLang="zh-TW" dirty="0">
                    <a:latin typeface="Times New Roman" panose="02020603050405020304" pitchFamily="18" charset="0"/>
                    <a:cs typeface="Times New Roman" panose="02020603050405020304" pitchFamily="18" charset="0"/>
                  </a:rPr>
                  <a:t>)…</a:t>
                </a:r>
                <a14:m>
                  <m:oMath xmlns:m="http://schemas.openxmlformats.org/officeDocument/2006/math">
                    <m:r>
                      <a:rPr lang="zh-TW" altLang="en-US" i="1">
                        <a:latin typeface="Cambria Math" panose="02040503050406030204" pitchFamily="18" charset="0"/>
                      </a:rPr>
                      <m:t>𝜃</m:t>
                    </m:r>
                  </m:oMath>
                </a14:m>
                <a:r>
                  <a:rPr lang="en-US" altLang="zh-TW" dirty="0">
                    <a:latin typeface="Times New Roman" panose="02020603050405020304" pitchFamily="18" charset="0"/>
                    <a:cs typeface="Times New Roman" panose="02020603050405020304" pitchFamily="18" charset="0"/>
                  </a:rPr>
                  <a:t>(x</a:t>
                </a:r>
                <a:r>
                  <a:rPr lang="en-US" altLang="zh-TW" baseline="-25000" dirty="0">
                    <a:latin typeface="Times New Roman" panose="02020603050405020304" pitchFamily="18" charset="0"/>
                    <a:cs typeface="Times New Roman" panose="02020603050405020304" pitchFamily="18" charset="0"/>
                  </a:rPr>
                  <a:t>i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and  </a:t>
                </a:r>
                <a14:m>
                  <m:oMath xmlns:m="http://schemas.openxmlformats.org/officeDocument/2006/math">
                    <m:r>
                      <a:rPr lang="zh-TW" altLang="en-US" i="1">
                        <a:latin typeface="Cambria Math" panose="02040503050406030204" pitchFamily="18" charset="0"/>
                      </a:rPr>
                      <m:t>𝜃</m:t>
                    </m:r>
                  </m:oMath>
                </a14:m>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x</a:t>
                </a:r>
                <a:r>
                  <a:rPr lang="en-US" altLang="zh-TW" baseline="-25000" dirty="0" err="1">
                    <a:latin typeface="Times New Roman" panose="02020603050405020304" pitchFamily="18" charset="0"/>
                    <a:cs typeface="Times New Roman" panose="02020603050405020304" pitchFamily="18" charset="0"/>
                  </a:rPr>
                  <a:t>i‚j</a:t>
                </a:r>
                <a:r>
                  <a:rPr lang="en-US" altLang="zh-TW" baseline="-25000"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 is also denoted as </a:t>
                </a:r>
                <a14:m>
                  <m:oMath xmlns:m="http://schemas.openxmlformats.org/officeDocument/2006/math">
                    <m:r>
                      <a:rPr lang="zh-TW" altLang="en-US" i="1">
                        <a:latin typeface="Cambria Math" panose="02040503050406030204" pitchFamily="18" charset="0"/>
                      </a:rPr>
                      <m:t>𝜃</m:t>
                    </m:r>
                    <m:r>
                      <m:rPr>
                        <m:sty m:val="p"/>
                      </m:rPr>
                      <a:rPr lang="en-US" altLang="zh-TW" b="0" i="0" baseline="-25000" smtClean="0">
                        <a:latin typeface="Cambria Math" panose="02040503050406030204" pitchFamily="18" charset="0"/>
                      </a:rPr>
                      <m:t>i</m:t>
                    </m:r>
                  </m:oMath>
                </a14:m>
                <a:r>
                  <a:rPr lang="en-US" altLang="zh-TW" baseline="-25000" dirty="0">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(x) </a:t>
                </a:r>
              </a:p>
              <a:p>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   Ex: </a:t>
                </a:r>
                <a14:m>
                  <m:oMath xmlns:m="http://schemas.openxmlformats.org/officeDocument/2006/math">
                    <m:r>
                      <a:rPr lang="en-US" altLang="zh-TW" i="1">
                        <a:latin typeface="Cambria Math" panose="02040503050406030204" pitchFamily="18" charset="0"/>
                      </a:rPr>
                      <m:t> </m:t>
                    </m:r>
                    <m:r>
                      <a:rPr lang="en-US" altLang="zh-TW" i="1">
                        <a:latin typeface="Cambria Math" panose="02040503050406030204" pitchFamily="18" charset="0"/>
                      </a:rPr>
                      <m:t>𝛴</m:t>
                    </m:r>
                    <m:r>
                      <m:rPr>
                        <m:nor/>
                      </m:rPr>
                      <a:rPr lang="en-US" altLang="zh-TW">
                        <a:latin typeface="Cambria Math" panose="02040503050406030204" pitchFamily="18" charset="0"/>
                      </a:rPr>
                      <m:t> </m:t>
                    </m:r>
                    <m:r>
                      <m:rPr>
                        <m:nor/>
                      </m:rPr>
                      <a:rPr lang="en-US" altLang="zh-TW"/>
                      <m:t>= </m:t>
                    </m:r>
                    <m:r>
                      <m:rPr>
                        <m:nor/>
                      </m:rPr>
                      <a:rPr lang="en-US" altLang="zh-TW">
                        <a:latin typeface="Cambria Math" panose="02040503050406030204" pitchFamily="18" charset="0"/>
                      </a:rPr>
                      <m:t>{</m:t>
                    </m:r>
                    <m:r>
                      <m:rPr>
                        <m:nor/>
                      </m:rPr>
                      <a:rPr lang="en-US" altLang="zh-TW">
                        <a:latin typeface="Cambria Math" panose="02040503050406030204" pitchFamily="18" charset="0"/>
                      </a:rPr>
                      <m:t>A</m:t>
                    </m:r>
                    <m:r>
                      <m:rPr>
                        <m:nor/>
                      </m:rPr>
                      <a:rPr lang="en-US" altLang="zh-TW">
                        <a:latin typeface="Cambria Math" panose="02040503050406030204" pitchFamily="18" charset="0"/>
                      </a:rPr>
                      <m:t>,</m:t>
                    </m:r>
                    <m:r>
                      <m:rPr>
                        <m:nor/>
                      </m:rPr>
                      <a:rPr lang="en-US" altLang="zh-TW">
                        <a:latin typeface="Cambria Math" panose="02040503050406030204" pitchFamily="18" charset="0"/>
                      </a:rPr>
                      <m:t>C</m:t>
                    </m:r>
                    <m:r>
                      <m:rPr>
                        <m:nor/>
                      </m:rPr>
                      <a:rPr lang="en-US" altLang="zh-TW">
                        <a:latin typeface="Cambria Math" panose="02040503050406030204" pitchFamily="18" charset="0"/>
                      </a:rPr>
                      <m:t>,</m:t>
                    </m:r>
                    <m:r>
                      <m:rPr>
                        <m:nor/>
                      </m:rPr>
                      <a:rPr lang="en-US" altLang="zh-TW">
                        <a:latin typeface="Cambria Math" panose="02040503050406030204" pitchFamily="18" charset="0"/>
                      </a:rPr>
                      <m:t>G</m:t>
                    </m:r>
                    <m:r>
                      <m:rPr>
                        <m:nor/>
                      </m:rPr>
                      <a:rPr lang="en-US" altLang="zh-TW">
                        <a:latin typeface="Cambria Math" panose="02040503050406030204" pitchFamily="18" charset="0"/>
                      </a:rPr>
                      <m:t>,</m:t>
                    </m:r>
                    <m:r>
                      <m:rPr>
                        <m:nor/>
                      </m:rPr>
                      <a:rPr lang="en-US" altLang="zh-TW">
                        <a:latin typeface="Cambria Math" panose="02040503050406030204" pitchFamily="18" charset="0"/>
                      </a:rPr>
                      <m:t>T</m:t>
                    </m:r>
                    <m:r>
                      <m:rPr>
                        <m:nor/>
                      </m:rPr>
                      <a:rPr lang="en-US" altLang="zh-TW">
                        <a:latin typeface="Cambria Math" panose="02040503050406030204" pitchFamily="18" charset="0"/>
                      </a:rPr>
                      <m:t>}</m:t>
                    </m:r>
                    <m:r>
                      <a:rPr lang="en-US" altLang="zh-TW" i="1">
                        <a:latin typeface="Cambria Math" panose="02040503050406030204" pitchFamily="18" charset="0"/>
                      </a:rPr>
                      <m:t> ,</m:t>
                    </m:r>
                    <m:r>
                      <a:rPr lang="zh-TW" altLang="en-US" i="1">
                        <a:latin typeface="Cambria Math" panose="02040503050406030204" pitchFamily="18" charset="0"/>
                      </a:rPr>
                      <m:t>𝜃</m:t>
                    </m:r>
                    <m:d>
                      <m:dPr>
                        <m:ctrlPr>
                          <a:rPr lang="en-US" altLang="zh-TW" i="1">
                            <a:latin typeface="Cambria Math" panose="02040503050406030204" pitchFamily="18" charset="0"/>
                          </a:rPr>
                        </m:ctrlPr>
                      </m:dPr>
                      <m:e>
                        <m:r>
                          <a:rPr lang="en-US" altLang="zh-TW" i="1">
                            <a:latin typeface="Cambria Math" panose="02040503050406030204" pitchFamily="18" charset="0"/>
                          </a:rPr>
                          <m:t>𝐴</m:t>
                        </m:r>
                      </m:e>
                    </m:d>
                    <m:r>
                      <a:rPr lang="en-US" altLang="zh-TW" i="1">
                        <a:latin typeface="Cambria Math" panose="02040503050406030204" pitchFamily="18" charset="0"/>
                      </a:rPr>
                      <m:t>=</m:t>
                    </m:r>
                    <m:r>
                      <a:rPr lang="en-US" altLang="zh-TW" i="1">
                        <a:latin typeface="Cambria Math" panose="02040503050406030204" pitchFamily="18" charset="0"/>
                      </a:rPr>
                      <m:t>𝑇</m:t>
                    </m:r>
                    <m:r>
                      <a:rPr lang="en-US" altLang="zh-TW" i="1">
                        <a:latin typeface="Cambria Math" panose="02040503050406030204" pitchFamily="18" charset="0"/>
                      </a:rPr>
                      <m:t>,</m:t>
                    </m:r>
                    <m:r>
                      <a:rPr lang="zh-TW" altLang="en-US" i="1">
                        <a:latin typeface="Cambria Math" panose="02040503050406030204" pitchFamily="18" charset="0"/>
                      </a:rPr>
                      <m:t>𝜃</m:t>
                    </m:r>
                    <m:d>
                      <m:dPr>
                        <m:ctrlPr>
                          <a:rPr lang="en-US" altLang="zh-TW" i="1">
                            <a:latin typeface="Cambria Math" panose="02040503050406030204" pitchFamily="18" charset="0"/>
                          </a:rPr>
                        </m:ctrlPr>
                      </m:dPr>
                      <m:e>
                        <m:r>
                          <a:rPr lang="en-US" altLang="zh-TW" i="1">
                            <a:latin typeface="Cambria Math" panose="02040503050406030204" pitchFamily="18" charset="0"/>
                          </a:rPr>
                          <m:t>𝑇</m:t>
                        </m:r>
                      </m:e>
                    </m:d>
                    <m:r>
                      <a:rPr lang="en-US" altLang="zh-TW" i="1">
                        <a:latin typeface="Cambria Math" panose="02040503050406030204" pitchFamily="18" charset="0"/>
                      </a:rPr>
                      <m:t>=</m:t>
                    </m:r>
                    <m:r>
                      <a:rPr lang="en-US" altLang="zh-TW" i="1">
                        <a:latin typeface="Cambria Math" panose="02040503050406030204" pitchFamily="18" charset="0"/>
                      </a:rPr>
                      <m:t>𝐴</m:t>
                    </m:r>
                  </m:oMath>
                </a14:m>
                <a:r>
                  <a:rPr lang="zh-TW" altLang="en-US" dirty="0"/>
                  <a:t> </a:t>
                </a:r>
                <a14:m>
                  <m:oMath xmlns:m="http://schemas.openxmlformats.org/officeDocument/2006/math">
                    <m:r>
                      <a:rPr lang="en-US" altLang="zh-TW" i="1">
                        <a:latin typeface="Cambria Math" panose="02040503050406030204" pitchFamily="18" charset="0"/>
                      </a:rPr>
                      <m:t>,</m:t>
                    </m:r>
                    <m:r>
                      <a:rPr lang="zh-TW" altLang="en-US" i="1">
                        <a:latin typeface="Cambria Math" panose="02040503050406030204" pitchFamily="18" charset="0"/>
                      </a:rPr>
                      <m:t>𝜃</m:t>
                    </m:r>
                    <m:d>
                      <m:dPr>
                        <m:ctrlPr>
                          <a:rPr lang="en-US" altLang="zh-TW" i="1">
                            <a:latin typeface="Cambria Math" panose="02040503050406030204" pitchFamily="18" charset="0"/>
                          </a:rPr>
                        </m:ctrlPr>
                      </m:dPr>
                      <m:e>
                        <m:r>
                          <a:rPr lang="en-US" altLang="zh-TW" i="1">
                            <a:latin typeface="Cambria Math" panose="02040503050406030204" pitchFamily="18" charset="0"/>
                          </a:rPr>
                          <m:t>𝐶</m:t>
                        </m:r>
                      </m:e>
                    </m:d>
                    <m:r>
                      <a:rPr lang="en-US" altLang="zh-TW" i="1">
                        <a:latin typeface="Cambria Math" panose="02040503050406030204" pitchFamily="18" charset="0"/>
                      </a:rPr>
                      <m:t>=</m:t>
                    </m:r>
                    <m:r>
                      <a:rPr lang="en-US" altLang="zh-TW" i="1">
                        <a:latin typeface="Cambria Math" panose="02040503050406030204" pitchFamily="18" charset="0"/>
                      </a:rPr>
                      <m:t>𝐺</m:t>
                    </m:r>
                  </m:oMath>
                </a14:m>
                <a:r>
                  <a:rPr lang="zh-TW" altLang="en-US" dirty="0"/>
                  <a:t> </a:t>
                </a:r>
                <a14:m>
                  <m:oMath xmlns:m="http://schemas.openxmlformats.org/officeDocument/2006/math">
                    <m:r>
                      <a:rPr lang="en-US" altLang="zh-TW" i="1">
                        <a:latin typeface="Cambria Math" panose="02040503050406030204" pitchFamily="18" charset="0"/>
                      </a:rPr>
                      <m:t>,</m:t>
                    </m:r>
                    <m:r>
                      <a:rPr lang="zh-TW" altLang="en-US" i="1">
                        <a:latin typeface="Cambria Math" panose="02040503050406030204" pitchFamily="18" charset="0"/>
                      </a:rPr>
                      <m:t>𝜃</m:t>
                    </m:r>
                    <m:d>
                      <m:dPr>
                        <m:ctrlPr>
                          <a:rPr lang="en-US" altLang="zh-TW" i="1">
                            <a:latin typeface="Cambria Math" panose="02040503050406030204" pitchFamily="18" charset="0"/>
                          </a:rPr>
                        </m:ctrlPr>
                      </m:dPr>
                      <m:e>
                        <m:r>
                          <a:rPr lang="en-US" altLang="zh-TW" i="1">
                            <a:latin typeface="Cambria Math" panose="02040503050406030204" pitchFamily="18" charset="0"/>
                          </a:rPr>
                          <m:t>𝐺</m:t>
                        </m:r>
                      </m:e>
                    </m:d>
                    <m:r>
                      <a:rPr lang="en-US" altLang="zh-TW" i="1">
                        <a:latin typeface="Cambria Math" panose="02040503050406030204" pitchFamily="18" charset="0"/>
                      </a:rPr>
                      <m:t>=</m:t>
                    </m:r>
                    <m:r>
                      <a:rPr lang="en-US" altLang="zh-TW" i="1">
                        <a:latin typeface="Cambria Math" panose="02040503050406030204" pitchFamily="18" charset="0"/>
                      </a:rPr>
                      <m:t>𝐶</m:t>
                    </m:r>
                  </m:oMath>
                </a14:m>
                <a:br>
                  <a:rPr lang="en-US" altLang="zh-TW" dirty="0"/>
                </a:br>
                <a:r>
                  <a:rPr lang="en-US" altLang="zh-TW" sz="1400" dirty="0">
                    <a:latin typeface="Times New Roman" panose="02020603050405020304" pitchFamily="18" charset="0"/>
                    <a:cs typeface="Times New Roman" panose="02020603050405020304" pitchFamily="18" charset="0"/>
                  </a:rPr>
                  <a:t>           </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                x = ATCCG   </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        </a:t>
                </a:r>
                <a14:m>
                  <m:oMath xmlns:m="http://schemas.openxmlformats.org/officeDocument/2006/math">
                    <m:r>
                      <a:rPr lang="zh-TW" altLang="en-US" i="1">
                        <a:latin typeface="Cambria Math" panose="02040503050406030204" pitchFamily="18" charset="0"/>
                      </a:rPr>
                      <m:t>𝜃</m:t>
                    </m:r>
                  </m:oMath>
                </a14:m>
                <a:r>
                  <a:rPr lang="en-US" altLang="zh-TW" baseline="-25000" dirty="0">
                    <a:latin typeface="Times New Roman" panose="02020603050405020304" pitchFamily="18" charset="0"/>
                    <a:cs typeface="Times New Roman" panose="02020603050405020304" pitchFamily="18" charset="0"/>
                  </a:rPr>
                  <a:t>1,5</a:t>
                </a:r>
                <a:r>
                  <a:rPr lang="en-US" altLang="zh-TW" dirty="0">
                    <a:latin typeface="Times New Roman" panose="02020603050405020304" pitchFamily="18" charset="0"/>
                    <a:cs typeface="Times New Roman" panose="02020603050405020304" pitchFamily="18" charset="0"/>
                  </a:rPr>
                  <a:t>(x) = CGGAT</a:t>
                </a:r>
                <a:endParaRPr lang="zh-TW" altLang="en-US"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FACE9963-43F0-4BCA-85E9-167906163823}"/>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028054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A82EF85-EF99-4E76-9C0A-7922BED6AD31}"/>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Preliminaries</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71887926-46F9-4C21-AD9F-7AC39BE8891F}"/>
                  </a:ext>
                </a:extLst>
              </p:cNvPr>
              <p:cNvSpPr>
                <a:spLocks noGrp="1"/>
              </p:cNvSpPr>
              <p:nvPr>
                <p:ph idx="1"/>
              </p:nvPr>
            </p:nvSpPr>
            <p:spPr>
              <a:xfrm>
                <a:off x="939569" y="1825625"/>
                <a:ext cx="10515600" cy="4482896"/>
              </a:xfrm>
            </p:spPr>
            <p:txBody>
              <a:bodyPr/>
              <a:lstStyle/>
              <a:p>
                <a14:m>
                  <m:oMath xmlns:m="http://schemas.openxmlformats.org/officeDocument/2006/math">
                    <m:r>
                      <a:rPr lang="en-US" altLang="zh-TW" sz="2400" i="1" smtClean="0">
                        <a:latin typeface="Cambria Math" panose="02040503050406030204" pitchFamily="18" charset="0"/>
                        <a:cs typeface="Times New Roman" panose="02020603050405020304" pitchFamily="18" charset="0"/>
                      </a:rPr>
                      <m:t>𝑖𝑑</m:t>
                    </m:r>
                    <m:r>
                      <a:rPr lang="en-US" altLang="zh-TW" sz="2400" i="1" smtClean="0">
                        <a:latin typeface="Cambria Math" panose="02040503050406030204" pitchFamily="18" charset="0"/>
                        <a:cs typeface="Times New Roman" panose="02020603050405020304" pitchFamily="18" charset="0"/>
                      </a:rPr>
                      <m:t>(</m:t>
                    </m:r>
                    <m:r>
                      <a:rPr lang="en-US" altLang="zh-TW" sz="2400" i="1" smtClean="0">
                        <a:latin typeface="Cambria Math" panose="02040503050406030204" pitchFamily="18" charset="0"/>
                        <a:cs typeface="Times New Roman" panose="02020603050405020304" pitchFamily="18" charset="0"/>
                      </a:rPr>
                      <m:t>𝑥</m:t>
                    </m:r>
                    <m:r>
                      <a:rPr lang="en-US" altLang="zh-TW" sz="2400" i="1" smtClean="0">
                        <a:latin typeface="Cambria Math" panose="02040503050406030204" pitchFamily="18" charset="0"/>
                        <a:cs typeface="Times New Roman" panose="02020603050405020304" pitchFamily="18" charset="0"/>
                      </a:rPr>
                      <m:t>,</m:t>
                    </m:r>
                    <m:r>
                      <a:rPr lang="en-US" altLang="zh-TW" sz="2400" i="1" smtClean="0">
                        <a:latin typeface="Cambria Math" panose="02040503050406030204" pitchFamily="18" charset="0"/>
                        <a:cs typeface="Times New Roman" panose="02020603050405020304" pitchFamily="18" charset="0"/>
                      </a:rPr>
                      <m:t>𝑦</m:t>
                    </m:r>
                    <m:r>
                      <a:rPr lang="en-US" altLang="zh-TW" sz="2400" i="1" smtClean="0">
                        <a:latin typeface="Cambria Math" panose="02040503050406030204" pitchFamily="18" charset="0"/>
                        <a:cs typeface="Times New Roman" panose="02020603050405020304" pitchFamily="18" charset="0"/>
                      </a:rPr>
                      <m:t>)</m:t>
                    </m:r>
                  </m:oMath>
                </a14:m>
                <a:r>
                  <a:rPr lang="en-US" altLang="zh-TW" sz="2400" dirty="0">
                    <a:latin typeface="Times New Roman" panose="02020603050405020304" pitchFamily="18" charset="0"/>
                    <a:cs typeface="Times New Roman" panose="02020603050405020304" pitchFamily="18" charset="0"/>
                  </a:rPr>
                  <a:t> :</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inversion distance</a:t>
                </a:r>
              </a:p>
              <a:p>
                <a14:m>
                  <m:oMath xmlns:m="http://schemas.openxmlformats.org/officeDocument/2006/math">
                    <m:r>
                      <a:rPr lang="en-US" altLang="zh-TW" sz="2400" i="1">
                        <a:latin typeface="Cambria Math" panose="02040503050406030204" pitchFamily="18" charset="0"/>
                      </a:rPr>
                      <m:t>𝛩</m:t>
                    </m:r>
                  </m:oMath>
                </a14:m>
                <a:r>
                  <a:rPr lang="en-US" altLang="zh-TW" sz="2400" dirty="0">
                    <a:latin typeface="Times New Roman" panose="02020603050405020304" pitchFamily="18" charset="0"/>
                    <a:cs typeface="Times New Roman" panose="02020603050405020304" pitchFamily="18" charset="0"/>
                  </a:rPr>
                  <a:t> :</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feasible inversion operation set</a:t>
                </a:r>
              </a:p>
              <a:p>
                <a14:m>
                  <m:oMath xmlns:m="http://schemas.openxmlformats.org/officeDocument/2006/math">
                    <m:r>
                      <a:rPr lang="en-US" altLang="zh-TW" sz="2400" i="1">
                        <a:latin typeface="Cambria Math" panose="02040503050406030204" pitchFamily="18" charset="0"/>
                        <a:cs typeface="Times New Roman" panose="02020603050405020304" pitchFamily="18" charset="0"/>
                      </a:rPr>
                      <m:t>𝐼𝐷</m:t>
                    </m:r>
                    <m:r>
                      <a:rPr lang="en-US" altLang="zh-TW" sz="2400" i="1">
                        <a:latin typeface="Cambria Math" panose="02040503050406030204" pitchFamily="18" charset="0"/>
                        <a:cs typeface="Times New Roman" panose="02020603050405020304" pitchFamily="18" charset="0"/>
                      </a:rPr>
                      <m:t>(</m:t>
                    </m:r>
                    <m:r>
                      <a:rPr lang="en-US" altLang="zh-TW" sz="2400" i="1">
                        <a:latin typeface="Cambria Math" panose="02040503050406030204" pitchFamily="18" charset="0"/>
                        <a:cs typeface="Times New Roman" panose="02020603050405020304" pitchFamily="18" charset="0"/>
                      </a:rPr>
                      <m:t>𝑥</m:t>
                    </m:r>
                    <m:r>
                      <a:rPr lang="en-US" altLang="zh-TW" sz="2400" i="1">
                        <a:latin typeface="Cambria Math" panose="02040503050406030204" pitchFamily="18" charset="0"/>
                        <a:cs typeface="Times New Roman" panose="02020603050405020304" pitchFamily="18" charset="0"/>
                      </a:rPr>
                      <m:t>,</m:t>
                    </m:r>
                    <m:r>
                      <a:rPr lang="en-US" altLang="zh-TW" sz="2400" i="1">
                        <a:latin typeface="Cambria Math" panose="02040503050406030204" pitchFamily="18" charset="0"/>
                        <a:cs typeface="Times New Roman" panose="02020603050405020304" pitchFamily="18" charset="0"/>
                      </a:rPr>
                      <m:t>𝑦</m:t>
                    </m:r>
                    <m:r>
                      <a:rPr lang="en-US" altLang="zh-TW" sz="2400" i="1">
                        <a:latin typeface="Cambria Math" panose="02040503050406030204" pitchFamily="18" charset="0"/>
                        <a:cs typeface="Times New Roman" panose="02020603050405020304" pitchFamily="18" charset="0"/>
                      </a:rPr>
                      <m:t>)</m:t>
                    </m:r>
                  </m:oMath>
                </a14:m>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optimal inversion operation set if </a:t>
                </a:r>
                <a:r>
                  <a:rPr lang="zh-TW" altLang="en-US" sz="2400" dirty="0">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US" altLang="zh-TW" sz="2400" i="1" smtClean="0">
                            <a:latin typeface="Cambria Math" panose="02040503050406030204" pitchFamily="18" charset="0"/>
                          </a:rPr>
                        </m:ctrlPr>
                      </m:dPr>
                      <m:e>
                        <m:r>
                          <a:rPr lang="en-US" altLang="zh-TW" sz="2400" i="1">
                            <a:latin typeface="Cambria Math" panose="02040503050406030204" pitchFamily="18" charset="0"/>
                          </a:rPr>
                          <m:t>𝛩</m:t>
                        </m:r>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𝑖𝑑</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𝑥</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𝑦</m:t>
                        </m:r>
                      </m:e>
                    </m:d>
                  </m:oMath>
                </a14:m>
                <a:endParaRPr lang="en-US" altLang="zh-TW" sz="2400" dirty="0">
                  <a:latin typeface="Times New Roman" panose="02020603050405020304" pitchFamily="18" charset="0"/>
                  <a:cs typeface="Times New Roman" panose="02020603050405020304" pitchFamily="18" charset="0"/>
                </a:endParaRPr>
              </a:p>
              <a:p>
                <a14:m>
                  <m:oMath xmlns:m="http://schemas.openxmlformats.org/officeDocument/2006/math">
                    <m:r>
                      <a:rPr lang="en-US" altLang="zh-TW" sz="2400" i="1" smtClean="0">
                        <a:latin typeface="Cambria Math" panose="02040503050406030204" pitchFamily="18" charset="0"/>
                      </a:rPr>
                      <m:t>𝜉</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𝑖</m:t>
                        </m:r>
                      </m:e>
                    </m:d>
                    <m:r>
                      <a:rPr lang="en-US" altLang="zh-TW" sz="2400" b="0" i="1" smtClean="0">
                        <a:latin typeface="Cambria Math" panose="02040503050406030204" pitchFamily="18" charset="0"/>
                      </a:rPr>
                      <m:t>=</m:t>
                    </m:r>
                    <m:d>
                      <m:dPr>
                        <m:begChr m:val="{"/>
                        <m:endChr m:val=""/>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𝑗</m:t>
                        </m:r>
                        <m:r>
                          <a:rPr lang="en-US" altLang="zh-TW" sz="2400" b="0" i="1" smtClean="0">
                            <a:latin typeface="Cambria Math" panose="02040503050406030204" pitchFamily="18" charset="0"/>
                          </a:rPr>
                          <m:t> </m:t>
                        </m:r>
                      </m:e>
                    </m:d>
                    <m:r>
                      <a:rPr lang="en-US" altLang="zh-TW" sz="2400" b="0" i="1" smtClean="0">
                        <a:latin typeface="Cambria Math" panose="02040503050406030204" pitchFamily="18" charset="0"/>
                      </a:rPr>
                      <m:t>| 1</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𝑗</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𝑖</m:t>
                    </m:r>
                    <m:r>
                      <a:rPr lang="en-US" altLang="zh-TW" sz="2400" b="0" i="1" smtClean="0">
                        <a:latin typeface="Cambria Math" panose="02040503050406030204" pitchFamily="18" charset="0"/>
                        <a:ea typeface="Cambria Math" panose="02040503050406030204" pitchFamily="18" charset="0"/>
                      </a:rPr>
                      <m:t> , </m:t>
                    </m:r>
                    <m:sSub>
                      <m:sSubPr>
                        <m:ctrlPr>
                          <a:rPr lang="en-US" altLang="zh-TW" sz="2400" i="1" smtClean="0">
                            <a:latin typeface="Cambria Math" panose="02040503050406030204" pitchFamily="18" charset="0"/>
                          </a:rPr>
                        </m:ctrlPr>
                      </m:sSubPr>
                      <m:e>
                        <m:r>
                          <a:rPr lang="zh-TW" altLang="en-US" sz="2400" i="1">
                            <a:latin typeface="Cambria Math" panose="02040503050406030204" pitchFamily="18" charset="0"/>
                          </a:rPr>
                          <m:t>𝜃</m:t>
                        </m:r>
                      </m:e>
                      <m:sub>
                        <m:r>
                          <a:rPr lang="en-US" altLang="zh-TW" sz="2400" b="0" i="1" smtClean="0">
                            <a:latin typeface="Cambria Math" panose="02040503050406030204" pitchFamily="18" charset="0"/>
                          </a:rPr>
                          <m:t>𝑗</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𝑖</m:t>
                        </m:r>
                      </m:sub>
                    </m:sSub>
                    <m:r>
                      <m:rPr>
                        <m:nor/>
                      </m:rPr>
                      <a:rPr lang="en-US" altLang="zh-TW" sz="2400" dirty="0">
                        <a:latin typeface="Times New Roman" panose="02020603050405020304" pitchFamily="18" charset="0"/>
                        <a:cs typeface="Times New Roman" panose="02020603050405020304" pitchFamily="18" charset="0"/>
                      </a:rPr>
                      <m:t>(</m:t>
                    </m:r>
                    <m:r>
                      <m:rPr>
                        <m:nor/>
                      </m:rPr>
                      <a:rPr lang="en-US" altLang="zh-TW" sz="2400" dirty="0">
                        <a:latin typeface="Times New Roman" panose="02020603050405020304" pitchFamily="18" charset="0"/>
                        <a:cs typeface="Times New Roman" panose="02020603050405020304" pitchFamily="18" charset="0"/>
                      </a:rPr>
                      <m:t>x</m:t>
                    </m:r>
                    <m:r>
                      <m:rPr>
                        <m:nor/>
                      </m:rPr>
                      <a:rPr lang="en-US" altLang="zh-TW" sz="2400" dirty="0">
                        <a:latin typeface="Times New Roman" panose="02020603050405020304" pitchFamily="18" charset="0"/>
                        <a:cs typeface="Times New Roman" panose="02020603050405020304" pitchFamily="18" charset="0"/>
                      </a:rPr>
                      <m:t>) = </m:t>
                    </m:r>
                    <m:d>
                      <m:dPr>
                        <m:begChr m:val=""/>
                        <m:endChr m:val="}"/>
                        <m:ctrlPr>
                          <a:rPr lang="en-US" altLang="zh-TW" sz="2400" b="0" i="1" dirty="0" smtClean="0">
                            <a:latin typeface="Cambria Math" panose="02040503050406030204" pitchFamily="18" charset="0"/>
                            <a:cs typeface="Times New Roman" panose="02020603050405020304" pitchFamily="18" charset="0"/>
                          </a:rPr>
                        </m:ctrlPr>
                      </m:dPr>
                      <m:e>
                        <m:sSub>
                          <m:sSubPr>
                            <m:ctrlPr>
                              <a:rPr lang="en-US" altLang="zh-TW" sz="2400" i="1" dirty="0">
                                <a:latin typeface="Cambria Math" panose="02040503050406030204" pitchFamily="18" charset="0"/>
                                <a:cs typeface="Times New Roman" panose="02020603050405020304" pitchFamily="18" charset="0"/>
                              </a:rPr>
                            </m:ctrlPr>
                          </m:sSubPr>
                          <m:e>
                            <m:r>
                              <a:rPr lang="en-US" altLang="zh-TW" sz="2400" i="1" dirty="0">
                                <a:latin typeface="Cambria Math" panose="02040503050406030204" pitchFamily="18" charset="0"/>
                                <a:cs typeface="Times New Roman" panose="02020603050405020304" pitchFamily="18" charset="0"/>
                              </a:rPr>
                              <m:t>𝑦</m:t>
                            </m:r>
                          </m:e>
                          <m:sub>
                            <m:r>
                              <a:rPr lang="en-US" altLang="zh-TW" sz="2400" i="1" dirty="0">
                                <a:latin typeface="Cambria Math" panose="02040503050406030204" pitchFamily="18" charset="0"/>
                                <a:cs typeface="Times New Roman" panose="02020603050405020304" pitchFamily="18" charset="0"/>
                              </a:rPr>
                              <m:t>𝑗</m:t>
                            </m:r>
                            <m:r>
                              <a:rPr lang="en-US" altLang="zh-TW" sz="2400" i="1" dirty="0">
                                <a:latin typeface="Cambria Math" panose="02040503050406030204" pitchFamily="18" charset="0"/>
                                <a:cs typeface="Times New Roman" panose="02020603050405020304" pitchFamily="18" charset="0"/>
                              </a:rPr>
                              <m:t>,</m:t>
                            </m:r>
                            <m:r>
                              <a:rPr lang="en-US" altLang="zh-TW" sz="2400" i="1" dirty="0">
                                <a:latin typeface="Cambria Math" panose="02040503050406030204" pitchFamily="18" charset="0"/>
                                <a:cs typeface="Times New Roman" panose="02020603050405020304" pitchFamily="18" charset="0"/>
                              </a:rPr>
                              <m:t>𝑖</m:t>
                            </m:r>
                          </m:sub>
                        </m:sSub>
                      </m:e>
                    </m:d>
                  </m:oMath>
                </a14:m>
                <a:br>
                  <a:rPr lang="en-US" altLang="zh-TW" dirty="0">
                    <a:latin typeface="Times New Roman" panose="02020603050405020304" pitchFamily="18" charset="0"/>
                    <a:cs typeface="Times New Roman" panose="02020603050405020304" pitchFamily="18" charset="0"/>
                  </a:rPr>
                </a:br>
                <a:endParaRPr lang="en-US" altLang="zh-TW" dirty="0">
                  <a:latin typeface="Times New Roman" panose="02020603050405020304" pitchFamily="18" charset="0"/>
                  <a:cs typeface="Times New Roman" panose="02020603050405020304" pitchFamily="18" charset="0"/>
                </a:endParaRPr>
              </a:p>
              <a:p>
                <a:pPr marL="0" indent="0">
                  <a:buNone/>
                </a:pPr>
                <a:br>
                  <a:rPr lang="en-US" altLang="zh-TW" sz="2400" dirty="0">
                    <a:latin typeface="Times New Roman" panose="02020603050405020304" pitchFamily="18" charset="0"/>
                    <a:cs typeface="Times New Roman" panose="02020603050405020304" pitchFamily="18" charset="0"/>
                  </a:rPr>
                </a:br>
                <a:r>
                  <a:rPr lang="en-US" altLang="zh-TW" sz="2400" dirty="0">
                    <a:latin typeface="Times New Roman" panose="02020603050405020304" pitchFamily="18" charset="0"/>
                    <a:cs typeface="Times New Roman" panose="02020603050405020304" pitchFamily="18" charset="0"/>
                  </a:rPr>
                  <a:t>Ex:   x = T A G </a:t>
                </a:r>
                <a:r>
                  <a:rPr lang="en-US" altLang="zh-TW" sz="2400" dirty="0" err="1">
                    <a:latin typeface="Times New Roman" panose="02020603050405020304" pitchFamily="18" charset="0"/>
                    <a:cs typeface="Times New Roman" panose="02020603050405020304" pitchFamily="18" charset="0"/>
                  </a:rPr>
                  <a:t>G</a:t>
                </a:r>
                <a:r>
                  <a:rPr lang="en-US" altLang="zh-TW" sz="2400" dirty="0">
                    <a:latin typeface="Times New Roman" panose="02020603050405020304" pitchFamily="18" charset="0"/>
                    <a:cs typeface="Times New Roman" panose="02020603050405020304" pitchFamily="18" charset="0"/>
                  </a:rPr>
                  <a:t> A C T C</a:t>
                </a:r>
                <a:br>
                  <a:rPr lang="en-US" altLang="zh-TW" sz="2400" dirty="0">
                    <a:latin typeface="Times New Roman" panose="02020603050405020304" pitchFamily="18" charset="0"/>
                    <a:cs typeface="Times New Roman" panose="02020603050405020304" pitchFamily="18" charset="0"/>
                  </a:rPr>
                </a:br>
                <a:r>
                  <a:rPr lang="en-US" altLang="zh-TW" sz="2400" dirty="0">
                    <a:latin typeface="Times New Roman" panose="02020603050405020304" pitchFamily="18" charset="0"/>
                    <a:cs typeface="Times New Roman" panose="02020603050405020304" pitchFamily="18" charset="0"/>
                  </a:rPr>
                  <a:t>        </a:t>
                </a:r>
                <a:r>
                  <a:rPr lang="en-US" altLang="zh-TW" sz="12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y = T C</a:t>
                </a:r>
                <a:r>
                  <a:rPr lang="en-US" altLang="zh-TW" sz="1100" dirty="0">
                    <a:latin typeface="Times New Roman" panose="02020603050405020304" pitchFamily="18" charset="0"/>
                    <a:cs typeface="Times New Roman" panose="02020603050405020304" pitchFamily="18" charset="0"/>
                  </a:rPr>
                  <a:t> </a:t>
                </a:r>
                <a:r>
                  <a:rPr lang="en-US" altLang="zh-TW" sz="12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T </a:t>
                </a:r>
                <a:r>
                  <a:rPr lang="en-US" altLang="zh-TW" sz="12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G A</a:t>
                </a:r>
                <a:r>
                  <a:rPr lang="en-US" altLang="zh-TW" sz="105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G A G</a:t>
                </a:r>
                <a:endParaRPr lang="zh-TW" altLang="en-US"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71887926-46F9-4C21-AD9F-7AC39BE8891F}"/>
                  </a:ext>
                </a:extLst>
              </p:cNvPr>
              <p:cNvSpPr>
                <a:spLocks noGrp="1" noRot="1" noChangeAspect="1" noMove="1" noResize="1" noEditPoints="1" noAdjustHandles="1" noChangeArrowheads="1" noChangeShapeType="1" noTextEdit="1"/>
              </p:cNvSpPr>
              <p:nvPr>
                <p:ph idx="1"/>
              </p:nvPr>
            </p:nvSpPr>
            <p:spPr>
              <a:xfrm>
                <a:off x="939569" y="1825625"/>
                <a:ext cx="10515600" cy="4482896"/>
              </a:xfrm>
              <a:blipFill>
                <a:blip r:embed="rId2"/>
                <a:stretch>
                  <a:fillRect l="-870" t="-1902"/>
                </a:stretch>
              </a:blipFill>
            </p:spPr>
            <p:txBody>
              <a:bodyPr/>
              <a:lstStyle/>
              <a:p>
                <a:r>
                  <a:rPr lang="zh-TW" altLang="en-US">
                    <a:noFill/>
                  </a:rPr>
                  <a:t> </a:t>
                </a:r>
              </a:p>
            </p:txBody>
          </p:sp>
        </mc:Fallback>
      </mc:AlternateContent>
      <p:sp>
        <p:nvSpPr>
          <p:cNvPr id="5" name="矩形: 圓角 4">
            <a:extLst>
              <a:ext uri="{FF2B5EF4-FFF2-40B4-BE49-F238E27FC236}">
                <a16:creationId xmlns:a16="http://schemas.microsoft.com/office/drawing/2014/main" id="{63A0CEFB-9A09-4E42-BC7A-ABC220E3AE83}"/>
              </a:ext>
            </a:extLst>
          </p:cNvPr>
          <p:cNvSpPr/>
          <p:nvPr/>
        </p:nvSpPr>
        <p:spPr>
          <a:xfrm>
            <a:off x="3481432" y="4349016"/>
            <a:ext cx="855677" cy="805343"/>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圓角 5">
            <a:extLst>
              <a:ext uri="{FF2B5EF4-FFF2-40B4-BE49-F238E27FC236}">
                <a16:creationId xmlns:a16="http://schemas.microsoft.com/office/drawing/2014/main" id="{F8492639-12AA-4A55-A86A-7A8ED3A10335}"/>
              </a:ext>
            </a:extLst>
          </p:cNvPr>
          <p:cNvSpPr/>
          <p:nvPr/>
        </p:nvSpPr>
        <p:spPr>
          <a:xfrm>
            <a:off x="2357306" y="4352535"/>
            <a:ext cx="562063" cy="805343"/>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C5A9BC24-9651-4227-B5DA-C21ABA8130B3}"/>
                  </a:ext>
                </a:extLst>
              </p:cNvPr>
              <p:cNvSpPr txBox="1"/>
              <p:nvPr/>
            </p:nvSpPr>
            <p:spPr>
              <a:xfrm>
                <a:off x="4790115" y="4000197"/>
                <a:ext cx="6866390" cy="2308324"/>
              </a:xfrm>
              <a:prstGeom prst="rect">
                <a:avLst/>
              </a:prstGeom>
              <a:noFill/>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𝜉</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3</m:t>
                          </m:r>
                        </m:e>
                      </m:d>
                      <m:r>
                        <a:rPr lang="en-US" altLang="zh-TW" sz="2400" i="1">
                          <a:latin typeface="Cambria Math" panose="02040503050406030204" pitchFamily="18" charset="0"/>
                        </a:rPr>
                        <m:t>=</m:t>
                      </m:r>
                      <m:d>
                        <m:dPr>
                          <m:begChr m:val="{"/>
                          <m:endChr m:val="}"/>
                          <m:ctrlPr>
                            <a:rPr lang="en-US" altLang="zh-TW" sz="2400" i="1">
                              <a:latin typeface="Cambria Math" panose="02040503050406030204" pitchFamily="18" charset="0"/>
                            </a:rPr>
                          </m:ctrlPr>
                        </m:dPr>
                        <m:e>
                          <m:r>
                            <a:rPr lang="en-US" altLang="zh-TW" sz="2400" i="1">
                              <a:latin typeface="Cambria Math" panose="02040503050406030204" pitchFamily="18" charset="0"/>
                            </a:rPr>
                            <m:t>2</m:t>
                          </m:r>
                        </m:e>
                      </m:d>
                      <m:r>
                        <a:rPr lang="en-US" altLang="zh-TW" sz="2400" i="1">
                          <a:latin typeface="Cambria Math" panose="02040503050406030204" pitchFamily="18" charset="0"/>
                        </a:rPr>
                        <m:t> ,</m:t>
                      </m:r>
                      <m:r>
                        <a:rPr lang="en-US" altLang="zh-TW" sz="2400" i="1">
                          <a:latin typeface="Cambria Math" panose="02040503050406030204" pitchFamily="18" charset="0"/>
                        </a:rPr>
                        <m:t>𝜉</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6</m:t>
                          </m:r>
                        </m:e>
                      </m:d>
                      <m:r>
                        <a:rPr lang="en-US" altLang="zh-TW" sz="2400" i="1">
                          <a:latin typeface="Cambria Math" panose="02040503050406030204" pitchFamily="18" charset="0"/>
                        </a:rPr>
                        <m:t>=</m:t>
                      </m:r>
                      <m:d>
                        <m:dPr>
                          <m:begChr m:val="{"/>
                          <m:endChr m:val="}"/>
                          <m:ctrlPr>
                            <a:rPr lang="en-US" altLang="zh-TW" sz="2400" i="1">
                              <a:latin typeface="Cambria Math" panose="02040503050406030204" pitchFamily="18" charset="0"/>
                            </a:rPr>
                          </m:ctrlPr>
                        </m:dPr>
                        <m:e>
                          <m:r>
                            <a:rPr lang="en-US" altLang="zh-TW" sz="2400" i="1">
                              <a:latin typeface="Cambria Math" panose="02040503050406030204" pitchFamily="18" charset="0"/>
                            </a:rPr>
                            <m:t>6</m:t>
                          </m:r>
                        </m:e>
                      </m:d>
                      <m:r>
                        <a:rPr lang="en-US" altLang="zh-TW" sz="2400" i="1">
                          <a:latin typeface="Cambria Math" panose="02040503050406030204" pitchFamily="18" charset="0"/>
                        </a:rPr>
                        <m:t> ,</m:t>
                      </m:r>
                      <m:r>
                        <a:rPr lang="en-US" altLang="zh-TW" sz="2400" i="1">
                          <a:latin typeface="Cambria Math" panose="02040503050406030204" pitchFamily="18" charset="0"/>
                        </a:rPr>
                        <m:t>𝜉</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7</m:t>
                          </m:r>
                        </m:e>
                      </m:d>
                      <m:r>
                        <a:rPr lang="en-US" altLang="zh-TW" sz="2400" i="1">
                          <a:latin typeface="Cambria Math" panose="02040503050406030204" pitchFamily="18" charset="0"/>
                        </a:rPr>
                        <m:t>=</m:t>
                      </m:r>
                      <m:d>
                        <m:dPr>
                          <m:begChr m:val="{"/>
                          <m:endChr m:val="}"/>
                          <m:ctrlPr>
                            <a:rPr lang="en-US" altLang="zh-TW" sz="2400" i="1">
                              <a:latin typeface="Cambria Math" panose="02040503050406030204" pitchFamily="18" charset="0"/>
                            </a:rPr>
                          </m:ctrlPr>
                        </m:dPr>
                        <m:e>
                          <m:r>
                            <a:rPr lang="en-US" altLang="zh-TW" sz="2400" i="1">
                              <a:latin typeface="Cambria Math" panose="02040503050406030204" pitchFamily="18" charset="0"/>
                            </a:rPr>
                            <m:t>7</m:t>
                          </m:r>
                        </m:e>
                      </m:d>
                      <m:r>
                        <a:rPr lang="en-US" altLang="zh-TW" sz="2400" i="1">
                          <a:latin typeface="Cambria Math" panose="02040503050406030204" pitchFamily="18" charset="0"/>
                        </a:rPr>
                        <m:t> , </m:t>
                      </m:r>
                      <m:r>
                        <a:rPr lang="en-US" altLang="zh-TW" sz="2400" i="1">
                          <a:latin typeface="Cambria Math" panose="02040503050406030204" pitchFamily="18" charset="0"/>
                        </a:rPr>
                        <m:t>𝜉</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8</m:t>
                          </m:r>
                        </m:e>
                      </m:d>
                      <m:r>
                        <a:rPr lang="en-US" altLang="zh-TW" sz="2400" i="1">
                          <a:latin typeface="Cambria Math" panose="02040503050406030204" pitchFamily="18" charset="0"/>
                        </a:rPr>
                        <m:t>=</m:t>
                      </m:r>
                      <m:d>
                        <m:dPr>
                          <m:begChr m:val="{"/>
                          <m:endChr m:val="}"/>
                          <m:ctrlPr>
                            <a:rPr lang="en-US" altLang="zh-TW" sz="2400" i="1">
                              <a:latin typeface="Cambria Math" panose="02040503050406030204" pitchFamily="18" charset="0"/>
                            </a:rPr>
                          </m:ctrlPr>
                        </m:dPr>
                        <m:e>
                          <m:r>
                            <a:rPr lang="en-US" altLang="zh-TW" sz="2400" i="1">
                              <a:latin typeface="Cambria Math" panose="02040503050406030204" pitchFamily="18" charset="0"/>
                            </a:rPr>
                            <m:t>6,8</m:t>
                          </m:r>
                        </m:e>
                      </m:d>
                      <m:r>
                        <a:rPr lang="en-US" altLang="zh-TW" sz="2400" i="1">
                          <a:latin typeface="Cambria Math" panose="02040503050406030204" pitchFamily="18" charset="0"/>
                        </a:rPr>
                        <m:t> </m:t>
                      </m:r>
                    </m:oMath>
                    <m:oMath xmlns:m="http://schemas.openxmlformats.org/officeDocument/2006/math">
                      <m:r>
                        <a:rPr lang="en-US" altLang="zh-TW" sz="2400" i="1">
                          <a:latin typeface="Cambria Math" panose="02040503050406030204" pitchFamily="18" charset="0"/>
                        </a:rPr>
                        <m:t>𝛩</m:t>
                      </m:r>
                      <m:r>
                        <a:rPr lang="en-US" altLang="zh-TW" sz="2400" i="1">
                          <a:latin typeface="Cambria Math" panose="02040503050406030204" pitchFamily="18" charset="0"/>
                        </a:rPr>
                        <m:t> :</m:t>
                      </m:r>
                      <m:d>
                        <m:dPr>
                          <m:begChr m:val="{"/>
                          <m:endChr m:val="}"/>
                          <m:ctrlPr>
                            <a:rPr lang="en-US" altLang="zh-TW" sz="2400" i="1">
                              <a:latin typeface="Cambria Math" panose="02040503050406030204" pitchFamily="18" charset="0"/>
                            </a:rPr>
                          </m:ctrlPr>
                        </m:dPr>
                        <m:e>
                          <m:r>
                            <a:rPr lang="zh-TW" altLang="en-US" sz="2400" i="1">
                              <a:latin typeface="Cambria Math" panose="02040503050406030204" pitchFamily="18" charset="0"/>
                            </a:rPr>
                            <m:t>𝜃</m:t>
                          </m:r>
                          <m:r>
                            <m:rPr>
                              <m:nor/>
                            </m:rPr>
                            <a:rPr lang="en-US" altLang="zh-TW" sz="2400" baseline="-25000" dirty="0">
                              <a:latin typeface="Times New Roman" panose="02020603050405020304" pitchFamily="18" charset="0"/>
                              <a:cs typeface="Times New Roman" panose="02020603050405020304" pitchFamily="18" charset="0"/>
                            </a:rPr>
                            <m:t>2,3</m:t>
                          </m:r>
                          <m:r>
                            <m:rPr>
                              <m:nor/>
                            </m:rPr>
                            <a:rPr lang="en-US" altLang="zh-TW" sz="2400" dirty="0">
                              <a:latin typeface="Times New Roman" panose="02020603050405020304" pitchFamily="18" charset="0"/>
                              <a:cs typeface="Times New Roman" panose="02020603050405020304" pitchFamily="18" charset="0"/>
                            </a:rPr>
                            <m:t>(</m:t>
                          </m:r>
                          <m:r>
                            <m:rPr>
                              <m:nor/>
                            </m:rPr>
                            <a:rPr lang="en-US" altLang="zh-TW" sz="2400" dirty="0">
                              <a:latin typeface="Times New Roman" panose="02020603050405020304" pitchFamily="18" charset="0"/>
                              <a:cs typeface="Times New Roman" panose="02020603050405020304" pitchFamily="18" charset="0"/>
                            </a:rPr>
                            <m:t>x</m:t>
                          </m:r>
                          <m:r>
                            <m:rPr>
                              <m:nor/>
                            </m:rPr>
                            <a:rPr lang="en-US" altLang="zh-TW" sz="2400" dirty="0">
                              <a:latin typeface="Times New Roman" panose="02020603050405020304" pitchFamily="18" charset="0"/>
                              <a:cs typeface="Times New Roman" panose="02020603050405020304" pitchFamily="18" charset="0"/>
                            </a:rPr>
                            <m:t>)</m:t>
                          </m:r>
                          <m:r>
                            <a:rPr lang="en-US" altLang="zh-TW" sz="2400" i="1" dirty="0">
                              <a:latin typeface="Cambria Math" panose="02040503050406030204" pitchFamily="18" charset="0"/>
                              <a:cs typeface="Times New Roman" panose="02020603050405020304" pitchFamily="18" charset="0"/>
                            </a:rPr>
                            <m:t>,</m:t>
                          </m:r>
                          <m:r>
                            <a:rPr lang="zh-TW" altLang="en-US" sz="2400" i="1">
                              <a:latin typeface="Cambria Math" panose="02040503050406030204" pitchFamily="18" charset="0"/>
                            </a:rPr>
                            <m:t>𝜃</m:t>
                          </m:r>
                          <m:r>
                            <m:rPr>
                              <m:nor/>
                            </m:rPr>
                            <a:rPr lang="en-US" altLang="zh-TW" sz="2400" baseline="-25000" dirty="0">
                              <a:latin typeface="Times New Roman" panose="02020603050405020304" pitchFamily="18" charset="0"/>
                              <a:cs typeface="Times New Roman" panose="02020603050405020304" pitchFamily="18" charset="0"/>
                            </a:rPr>
                            <m:t>6,6</m:t>
                          </m:r>
                          <m:r>
                            <m:rPr>
                              <m:nor/>
                            </m:rPr>
                            <a:rPr lang="en-US" altLang="zh-TW" sz="2400" dirty="0">
                              <a:latin typeface="Times New Roman" panose="02020603050405020304" pitchFamily="18" charset="0"/>
                              <a:cs typeface="Times New Roman" panose="02020603050405020304" pitchFamily="18" charset="0"/>
                            </a:rPr>
                            <m:t>(</m:t>
                          </m:r>
                          <m:r>
                            <m:rPr>
                              <m:nor/>
                            </m:rPr>
                            <a:rPr lang="en-US" altLang="zh-TW" sz="2400" dirty="0">
                              <a:latin typeface="Times New Roman" panose="02020603050405020304" pitchFamily="18" charset="0"/>
                              <a:cs typeface="Times New Roman" panose="02020603050405020304" pitchFamily="18" charset="0"/>
                            </a:rPr>
                            <m:t>x</m:t>
                          </m:r>
                          <m:r>
                            <m:rPr>
                              <m:nor/>
                            </m:rPr>
                            <a:rPr lang="en-US" altLang="zh-TW" sz="2400" dirty="0">
                              <a:latin typeface="Times New Roman" panose="02020603050405020304" pitchFamily="18" charset="0"/>
                              <a:cs typeface="Times New Roman" panose="02020603050405020304" pitchFamily="18" charset="0"/>
                            </a:rPr>
                            <m:t>)</m:t>
                          </m:r>
                          <m:r>
                            <a:rPr lang="en-US" altLang="zh-TW" sz="2400" i="1" dirty="0">
                              <a:latin typeface="Cambria Math" panose="02040503050406030204" pitchFamily="18" charset="0"/>
                              <a:cs typeface="Times New Roman" panose="02020603050405020304" pitchFamily="18" charset="0"/>
                            </a:rPr>
                            <m:t>,</m:t>
                          </m:r>
                          <m:r>
                            <a:rPr lang="zh-TW" altLang="en-US" sz="2400" i="1">
                              <a:latin typeface="Cambria Math" panose="02040503050406030204" pitchFamily="18" charset="0"/>
                            </a:rPr>
                            <m:t>𝜃</m:t>
                          </m:r>
                          <m:r>
                            <m:rPr>
                              <m:nor/>
                            </m:rPr>
                            <a:rPr lang="en-US" altLang="zh-TW" sz="2400" baseline="-25000" dirty="0">
                              <a:latin typeface="Times New Roman" panose="02020603050405020304" pitchFamily="18" charset="0"/>
                              <a:cs typeface="Times New Roman" panose="02020603050405020304" pitchFamily="18" charset="0"/>
                            </a:rPr>
                            <m:t>7,7</m:t>
                          </m:r>
                          <m:r>
                            <m:rPr>
                              <m:nor/>
                            </m:rPr>
                            <a:rPr lang="en-US" altLang="zh-TW" sz="2400" dirty="0">
                              <a:latin typeface="Times New Roman" panose="02020603050405020304" pitchFamily="18" charset="0"/>
                              <a:cs typeface="Times New Roman" panose="02020603050405020304" pitchFamily="18" charset="0"/>
                            </a:rPr>
                            <m:t>(</m:t>
                          </m:r>
                          <m:r>
                            <m:rPr>
                              <m:nor/>
                            </m:rPr>
                            <a:rPr lang="en-US" altLang="zh-TW" sz="2400" dirty="0">
                              <a:latin typeface="Times New Roman" panose="02020603050405020304" pitchFamily="18" charset="0"/>
                              <a:cs typeface="Times New Roman" panose="02020603050405020304" pitchFamily="18" charset="0"/>
                            </a:rPr>
                            <m:t>x</m:t>
                          </m:r>
                          <m:r>
                            <m:rPr>
                              <m:nor/>
                            </m:rPr>
                            <a:rPr lang="en-US" altLang="zh-TW" sz="2400" dirty="0">
                              <a:latin typeface="Times New Roman" panose="02020603050405020304" pitchFamily="18" charset="0"/>
                              <a:cs typeface="Times New Roman" panose="02020603050405020304" pitchFamily="18" charset="0"/>
                            </a:rPr>
                            <m:t>)</m:t>
                          </m:r>
                          <m:r>
                            <a:rPr lang="en-US" altLang="zh-TW" sz="2400" i="1" dirty="0">
                              <a:latin typeface="Cambria Math" panose="02040503050406030204" pitchFamily="18" charset="0"/>
                              <a:cs typeface="Times New Roman" panose="02020603050405020304" pitchFamily="18" charset="0"/>
                            </a:rPr>
                            <m:t>,</m:t>
                          </m:r>
                          <m:r>
                            <a:rPr lang="zh-TW" altLang="en-US" sz="2400" i="1">
                              <a:latin typeface="Cambria Math" panose="02040503050406030204" pitchFamily="18" charset="0"/>
                            </a:rPr>
                            <m:t>𝜃</m:t>
                          </m:r>
                          <m:r>
                            <m:rPr>
                              <m:nor/>
                            </m:rPr>
                            <a:rPr lang="en-US" altLang="zh-TW" sz="2400" baseline="-25000" dirty="0">
                              <a:latin typeface="Times New Roman" panose="02020603050405020304" pitchFamily="18" charset="0"/>
                              <a:cs typeface="Times New Roman" panose="02020603050405020304" pitchFamily="18" charset="0"/>
                            </a:rPr>
                            <m:t>8,8</m:t>
                          </m:r>
                          <m:r>
                            <m:rPr>
                              <m:nor/>
                            </m:rPr>
                            <a:rPr lang="en-US" altLang="zh-TW" sz="2400" dirty="0">
                              <a:latin typeface="Times New Roman" panose="02020603050405020304" pitchFamily="18" charset="0"/>
                              <a:cs typeface="Times New Roman" panose="02020603050405020304" pitchFamily="18" charset="0"/>
                            </a:rPr>
                            <m:t>(</m:t>
                          </m:r>
                          <m:r>
                            <m:rPr>
                              <m:nor/>
                            </m:rPr>
                            <a:rPr lang="en-US" altLang="zh-TW" sz="2400" dirty="0">
                              <a:latin typeface="Times New Roman" panose="02020603050405020304" pitchFamily="18" charset="0"/>
                              <a:cs typeface="Times New Roman" panose="02020603050405020304" pitchFamily="18" charset="0"/>
                            </a:rPr>
                            <m:t>x</m:t>
                          </m:r>
                          <m:r>
                            <m:rPr>
                              <m:nor/>
                            </m:rPr>
                            <a:rPr lang="en-US" altLang="zh-TW" sz="2400" dirty="0">
                              <a:latin typeface="Times New Roman" panose="02020603050405020304" pitchFamily="18" charset="0"/>
                              <a:cs typeface="Times New Roman" panose="02020603050405020304" pitchFamily="18" charset="0"/>
                            </a:rPr>
                            <m:t>)</m:t>
                          </m:r>
                        </m:e>
                      </m:d>
                      <m:r>
                        <a:rPr lang="en-US" altLang="zh-TW" sz="2400" i="1">
                          <a:latin typeface="Cambria Math" panose="02040503050406030204" pitchFamily="18" charset="0"/>
                        </a:rPr>
                        <m:t>, </m:t>
                      </m:r>
                      <m:d>
                        <m:dPr>
                          <m:begChr m:val="{"/>
                          <m:endChr m:val="}"/>
                          <m:ctrlPr>
                            <a:rPr lang="en-US" altLang="zh-TW" sz="2400" i="1">
                              <a:latin typeface="Cambria Math" panose="02040503050406030204" pitchFamily="18" charset="0"/>
                            </a:rPr>
                          </m:ctrlPr>
                        </m:dPr>
                        <m:e>
                          <m:r>
                            <a:rPr lang="zh-TW" altLang="en-US" sz="2400" i="1">
                              <a:latin typeface="Cambria Math" panose="02040503050406030204" pitchFamily="18" charset="0"/>
                            </a:rPr>
                            <m:t>𝜃</m:t>
                          </m:r>
                          <m:r>
                            <m:rPr>
                              <m:nor/>
                            </m:rPr>
                            <a:rPr lang="en-US" altLang="zh-TW" sz="2400" baseline="-25000" dirty="0">
                              <a:latin typeface="Times New Roman" panose="02020603050405020304" pitchFamily="18" charset="0"/>
                              <a:cs typeface="Times New Roman" panose="02020603050405020304" pitchFamily="18" charset="0"/>
                            </a:rPr>
                            <m:t>2,2</m:t>
                          </m:r>
                          <m:r>
                            <m:rPr>
                              <m:nor/>
                            </m:rPr>
                            <a:rPr lang="en-US" altLang="zh-TW" sz="2400" dirty="0">
                              <a:latin typeface="Times New Roman" panose="02020603050405020304" pitchFamily="18" charset="0"/>
                              <a:cs typeface="Times New Roman" panose="02020603050405020304" pitchFamily="18" charset="0"/>
                            </a:rPr>
                            <m:t>(</m:t>
                          </m:r>
                          <m:r>
                            <m:rPr>
                              <m:nor/>
                            </m:rPr>
                            <a:rPr lang="en-US" altLang="zh-TW" sz="2400" dirty="0">
                              <a:latin typeface="Times New Roman" panose="02020603050405020304" pitchFamily="18" charset="0"/>
                              <a:cs typeface="Times New Roman" panose="02020603050405020304" pitchFamily="18" charset="0"/>
                            </a:rPr>
                            <m:t>x</m:t>
                          </m:r>
                          <m:r>
                            <m:rPr>
                              <m:nor/>
                            </m:rPr>
                            <a:rPr lang="en-US" altLang="zh-TW" sz="2400" dirty="0">
                              <a:latin typeface="Times New Roman" panose="02020603050405020304" pitchFamily="18" charset="0"/>
                              <a:cs typeface="Times New Roman" panose="02020603050405020304" pitchFamily="18" charset="0"/>
                            </a:rPr>
                            <m:t>)</m:t>
                          </m:r>
                          <m:r>
                            <a:rPr lang="en-US" altLang="zh-TW" sz="2400" i="1" dirty="0">
                              <a:latin typeface="Cambria Math" panose="02040503050406030204" pitchFamily="18" charset="0"/>
                              <a:cs typeface="Times New Roman" panose="02020603050405020304" pitchFamily="18" charset="0"/>
                            </a:rPr>
                            <m:t>,</m:t>
                          </m:r>
                          <m:r>
                            <a:rPr lang="zh-TW" altLang="en-US" sz="2400" i="1">
                              <a:latin typeface="Cambria Math" panose="02040503050406030204" pitchFamily="18" charset="0"/>
                            </a:rPr>
                            <m:t>𝜃</m:t>
                          </m:r>
                          <m:r>
                            <m:rPr>
                              <m:nor/>
                            </m:rPr>
                            <a:rPr lang="en-US" altLang="zh-TW" sz="2400" baseline="-25000" dirty="0">
                              <a:latin typeface="Times New Roman" panose="02020603050405020304" pitchFamily="18" charset="0"/>
                              <a:cs typeface="Times New Roman" panose="02020603050405020304" pitchFamily="18" charset="0"/>
                            </a:rPr>
                            <m:t>6,8</m:t>
                          </m:r>
                          <m:r>
                            <m:rPr>
                              <m:nor/>
                            </m:rPr>
                            <a:rPr lang="en-US" altLang="zh-TW" sz="2400" dirty="0">
                              <a:latin typeface="Times New Roman" panose="02020603050405020304" pitchFamily="18" charset="0"/>
                              <a:cs typeface="Times New Roman" panose="02020603050405020304" pitchFamily="18" charset="0"/>
                            </a:rPr>
                            <m:t>(</m:t>
                          </m:r>
                          <m:r>
                            <m:rPr>
                              <m:nor/>
                            </m:rPr>
                            <a:rPr lang="en-US" altLang="zh-TW" sz="2400" dirty="0">
                              <a:latin typeface="Times New Roman" panose="02020603050405020304" pitchFamily="18" charset="0"/>
                              <a:cs typeface="Times New Roman" panose="02020603050405020304" pitchFamily="18" charset="0"/>
                            </a:rPr>
                            <m:t>x</m:t>
                          </m:r>
                          <m:r>
                            <m:rPr>
                              <m:nor/>
                            </m:rPr>
                            <a:rPr lang="en-US" altLang="zh-TW" sz="2400" dirty="0">
                              <a:latin typeface="Times New Roman" panose="02020603050405020304" pitchFamily="18" charset="0"/>
                              <a:cs typeface="Times New Roman" panose="02020603050405020304" pitchFamily="18" charset="0"/>
                            </a:rPr>
                            <m:t>)</m:t>
                          </m:r>
                        </m:e>
                      </m:d>
                    </m:oMath>
                    <m:oMath xmlns:m="http://schemas.openxmlformats.org/officeDocument/2006/math">
                      <m:r>
                        <a:rPr lang="en-US" altLang="zh-TW" sz="2400" i="1">
                          <a:latin typeface="Cambria Math" panose="02040503050406030204" pitchFamily="18" charset="0"/>
                        </a:rPr>
                        <m:t>𝑖𝑑</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𝑥</m:t>
                          </m:r>
                          <m:r>
                            <a:rPr lang="en-US" altLang="zh-TW" sz="2400" i="1">
                              <a:latin typeface="Cambria Math" panose="02040503050406030204" pitchFamily="18" charset="0"/>
                            </a:rPr>
                            <m:t>,</m:t>
                          </m:r>
                          <m:r>
                            <a:rPr lang="en-US" altLang="zh-TW" sz="2400" i="1">
                              <a:latin typeface="Cambria Math" panose="02040503050406030204" pitchFamily="18" charset="0"/>
                            </a:rPr>
                            <m:t>𝑦</m:t>
                          </m:r>
                        </m:e>
                      </m:d>
                      <m:r>
                        <a:rPr lang="en-US" altLang="zh-TW" sz="2400" i="1">
                          <a:latin typeface="Cambria Math" panose="02040503050406030204" pitchFamily="18" charset="0"/>
                        </a:rPr>
                        <m:t>=2</m:t>
                      </m:r>
                    </m:oMath>
                    <m:oMath xmlns:m="http://schemas.openxmlformats.org/officeDocument/2006/math">
                      <m:r>
                        <a:rPr lang="en-US" altLang="zh-TW" sz="2400" i="1">
                          <a:latin typeface="Cambria Math" panose="02040503050406030204" pitchFamily="18" charset="0"/>
                        </a:rPr>
                        <m:t>𝐼𝐷</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𝑥</m:t>
                          </m:r>
                          <m:r>
                            <a:rPr lang="en-US" altLang="zh-TW" sz="2400" i="1">
                              <a:latin typeface="Cambria Math" panose="02040503050406030204" pitchFamily="18" charset="0"/>
                            </a:rPr>
                            <m:t>,</m:t>
                          </m:r>
                          <m:r>
                            <a:rPr lang="en-US" altLang="zh-TW" sz="2400" i="1">
                              <a:latin typeface="Cambria Math" panose="02040503050406030204" pitchFamily="18" charset="0"/>
                            </a:rPr>
                            <m:t>𝑦</m:t>
                          </m:r>
                        </m:e>
                      </m:d>
                      <m:r>
                        <a:rPr lang="en-US" altLang="zh-TW" sz="2400" i="1">
                          <a:latin typeface="Cambria Math" panose="02040503050406030204" pitchFamily="18" charset="0"/>
                        </a:rPr>
                        <m:t>=</m:t>
                      </m:r>
                      <m:d>
                        <m:dPr>
                          <m:begChr m:val="{"/>
                          <m:endChr m:val="}"/>
                          <m:ctrlPr>
                            <a:rPr lang="en-US" altLang="zh-TW" sz="2400" i="1">
                              <a:latin typeface="Cambria Math" panose="02040503050406030204" pitchFamily="18" charset="0"/>
                            </a:rPr>
                          </m:ctrlPr>
                        </m:dPr>
                        <m:e>
                          <m:r>
                            <a:rPr lang="zh-TW" altLang="en-US" sz="2400" i="1">
                              <a:latin typeface="Cambria Math" panose="02040503050406030204" pitchFamily="18" charset="0"/>
                            </a:rPr>
                            <m:t>𝜃</m:t>
                          </m:r>
                          <m:r>
                            <m:rPr>
                              <m:nor/>
                            </m:rPr>
                            <a:rPr lang="en-US" altLang="zh-TW" sz="2400" baseline="-25000" dirty="0">
                              <a:latin typeface="Times New Roman" panose="02020603050405020304" pitchFamily="18" charset="0"/>
                              <a:cs typeface="Times New Roman" panose="02020603050405020304" pitchFamily="18" charset="0"/>
                            </a:rPr>
                            <m:t>2,2</m:t>
                          </m:r>
                          <m:r>
                            <m:rPr>
                              <m:nor/>
                            </m:rPr>
                            <a:rPr lang="en-US" altLang="zh-TW" sz="2400" dirty="0">
                              <a:latin typeface="Times New Roman" panose="02020603050405020304" pitchFamily="18" charset="0"/>
                              <a:cs typeface="Times New Roman" panose="02020603050405020304" pitchFamily="18" charset="0"/>
                            </a:rPr>
                            <m:t>(</m:t>
                          </m:r>
                          <m:r>
                            <m:rPr>
                              <m:nor/>
                            </m:rPr>
                            <a:rPr lang="en-US" altLang="zh-TW" sz="2400" dirty="0">
                              <a:latin typeface="Times New Roman" panose="02020603050405020304" pitchFamily="18" charset="0"/>
                              <a:cs typeface="Times New Roman" panose="02020603050405020304" pitchFamily="18" charset="0"/>
                            </a:rPr>
                            <m:t>x</m:t>
                          </m:r>
                          <m:r>
                            <m:rPr>
                              <m:nor/>
                            </m:rPr>
                            <a:rPr lang="en-US" altLang="zh-TW" sz="2400" dirty="0">
                              <a:latin typeface="Times New Roman" panose="02020603050405020304" pitchFamily="18" charset="0"/>
                              <a:cs typeface="Times New Roman" panose="02020603050405020304" pitchFamily="18" charset="0"/>
                            </a:rPr>
                            <m:t>)</m:t>
                          </m:r>
                          <m:r>
                            <a:rPr lang="en-US" altLang="zh-TW" sz="2400" i="1" dirty="0">
                              <a:latin typeface="Cambria Math" panose="02040503050406030204" pitchFamily="18" charset="0"/>
                              <a:cs typeface="Times New Roman" panose="02020603050405020304" pitchFamily="18" charset="0"/>
                            </a:rPr>
                            <m:t>,</m:t>
                          </m:r>
                          <m:r>
                            <a:rPr lang="zh-TW" altLang="en-US" sz="2400" i="1">
                              <a:latin typeface="Cambria Math" panose="02040503050406030204" pitchFamily="18" charset="0"/>
                            </a:rPr>
                            <m:t>𝜃</m:t>
                          </m:r>
                          <m:r>
                            <m:rPr>
                              <m:nor/>
                            </m:rPr>
                            <a:rPr lang="en-US" altLang="zh-TW" sz="2400" baseline="-25000" dirty="0">
                              <a:latin typeface="Times New Roman" panose="02020603050405020304" pitchFamily="18" charset="0"/>
                              <a:cs typeface="Times New Roman" panose="02020603050405020304" pitchFamily="18" charset="0"/>
                            </a:rPr>
                            <m:t>6,8</m:t>
                          </m:r>
                          <m:r>
                            <m:rPr>
                              <m:nor/>
                            </m:rPr>
                            <a:rPr lang="en-US" altLang="zh-TW" sz="2400" dirty="0">
                              <a:latin typeface="Times New Roman" panose="02020603050405020304" pitchFamily="18" charset="0"/>
                              <a:cs typeface="Times New Roman" panose="02020603050405020304" pitchFamily="18" charset="0"/>
                            </a:rPr>
                            <m:t>(</m:t>
                          </m:r>
                          <m:r>
                            <m:rPr>
                              <m:nor/>
                            </m:rPr>
                            <a:rPr lang="en-US" altLang="zh-TW" sz="2400" dirty="0">
                              <a:latin typeface="Times New Roman" panose="02020603050405020304" pitchFamily="18" charset="0"/>
                              <a:cs typeface="Times New Roman" panose="02020603050405020304" pitchFamily="18" charset="0"/>
                            </a:rPr>
                            <m:t>x</m:t>
                          </m:r>
                          <m:r>
                            <m:rPr>
                              <m:nor/>
                            </m:rPr>
                            <a:rPr lang="en-US" altLang="zh-TW" sz="2400" dirty="0">
                              <a:latin typeface="Times New Roman" panose="02020603050405020304" pitchFamily="18" charset="0"/>
                              <a:cs typeface="Times New Roman" panose="02020603050405020304" pitchFamily="18" charset="0"/>
                            </a:rPr>
                            <m:t>)</m:t>
                          </m:r>
                        </m:e>
                      </m:d>
                    </m:oMath>
                  </m:oMathPara>
                </a14:m>
                <a:endParaRPr lang="zh-TW" altLang="en-US" sz="2400" dirty="0"/>
              </a:p>
            </p:txBody>
          </p:sp>
        </mc:Choice>
        <mc:Fallback xmlns="">
          <p:sp>
            <p:nvSpPr>
              <p:cNvPr id="7" name="文字方塊 6">
                <a:extLst>
                  <a:ext uri="{FF2B5EF4-FFF2-40B4-BE49-F238E27FC236}">
                    <a16:creationId xmlns:a16="http://schemas.microsoft.com/office/drawing/2014/main" id="{C5A9BC24-9651-4227-B5DA-C21ABA8130B3}"/>
                  </a:ext>
                </a:extLst>
              </p:cNvPr>
              <p:cNvSpPr txBox="1">
                <a:spLocks noRot="1" noChangeAspect="1" noMove="1" noResize="1" noEditPoints="1" noAdjustHandles="1" noChangeArrowheads="1" noChangeShapeType="1" noTextEdit="1"/>
              </p:cNvSpPr>
              <p:nvPr/>
            </p:nvSpPr>
            <p:spPr>
              <a:xfrm>
                <a:off x="4790115" y="4000197"/>
                <a:ext cx="6866390" cy="2308324"/>
              </a:xfrm>
              <a:prstGeom prst="rect">
                <a:avLst/>
              </a:prstGeom>
              <a:blipFill>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280640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arn(inVertical)">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648368-DCC8-46D7-8399-AB3F7F851D06}"/>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Theorem</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8C2FE73B-CC0F-414F-853C-1E73B6529BED}"/>
                  </a:ext>
                </a:extLst>
              </p:cNvPr>
              <p:cNvSpPr>
                <a:spLocks noGrp="1"/>
              </p:cNvSpPr>
              <p:nvPr>
                <p:ph idx="1"/>
              </p:nvPr>
            </p:nvSpPr>
            <p:spPr/>
            <p:txBody>
              <a:bodyPr/>
              <a:lstStyle/>
              <a:p>
                <a:pPr marL="0" indent="0">
                  <a:buNone/>
                </a:pPr>
                <a:r>
                  <a:rPr lang="en-US" altLang="zh-TW" dirty="0">
                    <a:latin typeface="Times New Roman" panose="02020603050405020304" pitchFamily="18" charset="0"/>
                    <a:cs typeface="Times New Roman" panose="02020603050405020304" pitchFamily="18" charset="0"/>
                  </a:rPr>
                  <a:t>Thm 1:  </a:t>
                </a:r>
                <a14:m>
                  <m:oMath xmlns:m="http://schemas.openxmlformats.org/officeDocument/2006/math">
                    <m:r>
                      <a:rPr lang="en-US" altLang="zh-TW" i="1" dirty="0">
                        <a:latin typeface="Cambria Math" panose="02040503050406030204" pitchFamily="18" charset="0"/>
                        <a:cs typeface="Times New Roman" panose="02020603050405020304" pitchFamily="18" charset="0"/>
                      </a:rPr>
                      <m:t>𝐹𝑜𝑟</m:t>
                    </m:r>
                    <m:r>
                      <a:rPr lang="en-US" altLang="zh-TW" i="1" dirty="0">
                        <a:latin typeface="Cambria Math" panose="02040503050406030204" pitchFamily="18" charset="0"/>
                        <a:cs typeface="Times New Roman" panose="02020603050405020304" pitchFamily="18" charset="0"/>
                      </a:rPr>
                      <m:t> </m:t>
                    </m:r>
                    <m:r>
                      <a:rPr lang="en-US" altLang="zh-TW" i="1" dirty="0">
                        <a:latin typeface="Cambria Math" panose="02040503050406030204" pitchFamily="18" charset="0"/>
                        <a:cs typeface="Times New Roman" panose="02020603050405020304" pitchFamily="18" charset="0"/>
                      </a:rPr>
                      <m:t>𝑒𝑎𝑐h</m:t>
                    </m:r>
                    <m:r>
                      <a:rPr lang="en-US" altLang="zh-TW" i="1" dirty="0">
                        <a:latin typeface="Cambria Math" panose="02040503050406030204" pitchFamily="18" charset="0"/>
                        <a:cs typeface="Times New Roman" panose="02020603050405020304" pitchFamily="18" charset="0"/>
                      </a:rPr>
                      <m:t> </m:t>
                    </m:r>
                    <m:r>
                      <a:rPr lang="en-US" altLang="zh-TW" i="1" dirty="0">
                        <a:latin typeface="Cambria Math" panose="02040503050406030204" pitchFamily="18" charset="0"/>
                        <a:cs typeface="Times New Roman" panose="02020603050405020304" pitchFamily="18" charset="0"/>
                      </a:rPr>
                      <m:t>𝑝𝑎𝑖𝑟</m:t>
                    </m:r>
                    <m:r>
                      <a:rPr lang="en-US" altLang="zh-TW" i="1" dirty="0">
                        <a:latin typeface="Cambria Math" panose="02040503050406030204" pitchFamily="18" charset="0"/>
                        <a:cs typeface="Times New Roman" panose="02020603050405020304" pitchFamily="18" charset="0"/>
                      </a:rPr>
                      <m:t> </m:t>
                    </m:r>
                    <m:d>
                      <m:dPr>
                        <m:ctrlPr>
                          <a:rPr lang="en-US" altLang="zh-TW" i="1" dirty="0">
                            <a:latin typeface="Cambria Math" panose="02040503050406030204" pitchFamily="18" charset="0"/>
                            <a:cs typeface="Times New Roman" panose="02020603050405020304" pitchFamily="18" charset="0"/>
                          </a:rPr>
                        </m:ctrlPr>
                      </m:dPr>
                      <m:e>
                        <m:r>
                          <a:rPr lang="en-US" altLang="zh-TW" i="1" dirty="0">
                            <a:latin typeface="Cambria Math" panose="02040503050406030204" pitchFamily="18" charset="0"/>
                            <a:cs typeface="Times New Roman" panose="02020603050405020304" pitchFamily="18" charset="0"/>
                          </a:rPr>
                          <m:t>𝑗</m:t>
                        </m:r>
                        <m:r>
                          <a:rPr lang="en-US" altLang="zh-TW" i="1" dirty="0">
                            <a:latin typeface="Cambria Math" panose="02040503050406030204" pitchFamily="18" charset="0"/>
                            <a:cs typeface="Times New Roman" panose="02020603050405020304" pitchFamily="18" charset="0"/>
                          </a:rPr>
                          <m:t>,</m:t>
                        </m:r>
                        <m:r>
                          <a:rPr lang="en-US" altLang="zh-TW" i="1" dirty="0">
                            <a:latin typeface="Cambria Math" panose="02040503050406030204" pitchFamily="18" charset="0"/>
                            <a:cs typeface="Times New Roman" panose="02020603050405020304" pitchFamily="18" charset="0"/>
                          </a:rPr>
                          <m:t>𝑖</m:t>
                        </m:r>
                      </m:e>
                    </m:d>
                    <m:r>
                      <a:rPr lang="en-US" altLang="zh-TW" i="1" dirty="0">
                        <a:latin typeface="Cambria Math" panose="02040503050406030204" pitchFamily="18" charset="0"/>
                        <a:cs typeface="Times New Roman" panose="02020603050405020304" pitchFamily="18" charset="0"/>
                      </a:rPr>
                      <m:t> , 1</m:t>
                    </m:r>
                    <m:r>
                      <a:rPr lang="en-US" altLang="zh-TW" i="1">
                        <a:latin typeface="Cambria Math" panose="02040503050406030204" pitchFamily="18" charset="0"/>
                        <a:ea typeface="Cambria Math" panose="02040503050406030204" pitchFamily="18" charset="0"/>
                        <a:cs typeface="Times New Roman" panose="02020603050405020304" pitchFamily="18" charset="0"/>
                      </a:rPr>
                      <m:t>≤</m:t>
                    </m:r>
                    <m:r>
                      <a:rPr lang="en-US" altLang="zh-TW" i="1">
                        <a:latin typeface="Cambria Math" panose="02040503050406030204" pitchFamily="18" charset="0"/>
                        <a:ea typeface="Cambria Math" panose="02040503050406030204" pitchFamily="18" charset="0"/>
                        <a:cs typeface="Times New Roman" panose="02020603050405020304" pitchFamily="18" charset="0"/>
                      </a:rPr>
                      <m:t>𝑗</m:t>
                    </m:r>
                    <m:r>
                      <a:rPr lang="en-US" altLang="zh-TW" i="1">
                        <a:latin typeface="Cambria Math" panose="02040503050406030204" pitchFamily="18" charset="0"/>
                        <a:ea typeface="Cambria Math" panose="02040503050406030204" pitchFamily="18" charset="0"/>
                        <a:cs typeface="Times New Roman" panose="02020603050405020304" pitchFamily="18" charset="0"/>
                      </a:rPr>
                      <m:t>≤</m:t>
                    </m:r>
                    <m:r>
                      <a:rPr lang="en-US" altLang="zh-TW" i="1">
                        <a:latin typeface="Cambria Math" panose="02040503050406030204" pitchFamily="18" charset="0"/>
                        <a:ea typeface="Cambria Math" panose="02040503050406030204" pitchFamily="18" charset="0"/>
                        <a:cs typeface="Times New Roman" panose="02020603050405020304" pitchFamily="18" charset="0"/>
                      </a:rPr>
                      <m:t>𝑖</m:t>
                    </m:r>
                    <m:r>
                      <a:rPr lang="en-US" altLang="zh-TW" i="1">
                        <a:latin typeface="Cambria Math" panose="02040503050406030204" pitchFamily="18" charset="0"/>
                        <a:ea typeface="Cambria Math" panose="02040503050406030204" pitchFamily="18" charset="0"/>
                        <a:cs typeface="Times New Roman" panose="02020603050405020304" pitchFamily="18" charset="0"/>
                      </a:rPr>
                      <m:t>≤</m:t>
                    </m:r>
                    <m:r>
                      <a:rPr lang="en-US" altLang="zh-TW" i="1">
                        <a:latin typeface="Cambria Math" panose="02040503050406030204" pitchFamily="18" charset="0"/>
                        <a:ea typeface="Cambria Math" panose="02040503050406030204" pitchFamily="18" charset="0"/>
                        <a:cs typeface="Times New Roman" panose="02020603050405020304" pitchFamily="18" charset="0"/>
                      </a:rPr>
                      <m:t>𝑛</m:t>
                    </m:r>
                    <m:r>
                      <a:rPr lang="en-US" altLang="zh-TW" i="1">
                        <a:latin typeface="Cambria Math" panose="02040503050406030204" pitchFamily="18" charset="0"/>
                        <a:ea typeface="Cambria Math" panose="02040503050406030204" pitchFamily="18" charset="0"/>
                        <a:cs typeface="Times New Roman" panose="02020603050405020304" pitchFamily="18" charset="0"/>
                      </a:rPr>
                      <m:t> , </m:t>
                    </m:r>
                    <m:r>
                      <a:rPr lang="en-US" altLang="zh-TW" i="1">
                        <a:latin typeface="Cambria Math" panose="02040503050406030204" pitchFamily="18" charset="0"/>
                        <a:ea typeface="Cambria Math" panose="02040503050406030204" pitchFamily="18" charset="0"/>
                        <a:cs typeface="Times New Roman" panose="02020603050405020304" pitchFamily="18" charset="0"/>
                      </a:rPr>
                      <m:t>𝑗</m:t>
                    </m:r>
                    <m:r>
                      <a:rPr lang="en-US" altLang="zh-TW" i="1">
                        <a:latin typeface="Cambria Math" panose="02040503050406030204" pitchFamily="18" charset="0"/>
                        <a:ea typeface="Cambria Math" panose="02040503050406030204" pitchFamily="18" charset="0"/>
                        <a:cs typeface="Times New Roman" panose="02020603050405020304" pitchFamily="18" charset="0"/>
                      </a:rPr>
                      <m:t>∈</m:t>
                    </m:r>
                    <m:r>
                      <a:rPr lang="en-US" altLang="zh-TW" i="1">
                        <a:latin typeface="Cambria Math" panose="02040503050406030204" pitchFamily="18" charset="0"/>
                      </a:rPr>
                      <m:t>𝜉</m:t>
                    </m:r>
                    <m:d>
                      <m:dPr>
                        <m:ctrlPr>
                          <a:rPr lang="en-US" altLang="zh-TW" i="1">
                            <a:latin typeface="Cambria Math" panose="02040503050406030204" pitchFamily="18" charset="0"/>
                          </a:rPr>
                        </m:ctrlPr>
                      </m:dPr>
                      <m:e>
                        <m:r>
                          <a:rPr lang="en-US" altLang="zh-TW" i="1">
                            <a:latin typeface="Cambria Math" panose="02040503050406030204" pitchFamily="18" charset="0"/>
                          </a:rPr>
                          <m:t>𝑖</m:t>
                        </m:r>
                      </m:e>
                    </m:d>
                    <m:r>
                      <a:rPr lang="en-US" altLang="zh-TW">
                        <a:latin typeface="Cambria Math" panose="02040503050406030204" pitchFamily="18" charset="0"/>
                      </a:rPr>
                      <m:t> </m:t>
                    </m:r>
                    <m:r>
                      <a:rPr lang="en-US" altLang="zh-TW" i="1" dirty="0">
                        <a:latin typeface="Cambria Math" panose="02040503050406030204" pitchFamily="18" charset="0"/>
                      </a:rPr>
                      <m:t>𝑖𝑓</m:t>
                    </m:r>
                    <m:r>
                      <a:rPr lang="en-US" altLang="zh-TW" i="1" dirty="0">
                        <a:latin typeface="Cambria Math" panose="02040503050406030204" pitchFamily="18" charset="0"/>
                      </a:rPr>
                      <m:t> </m:t>
                    </m:r>
                    <m:r>
                      <a:rPr lang="en-US" altLang="zh-TW" i="1" dirty="0">
                        <a:latin typeface="Cambria Math" panose="02040503050406030204" pitchFamily="18" charset="0"/>
                      </a:rPr>
                      <m:t>𝑎𝑛𝑑</m:t>
                    </m:r>
                    <m:r>
                      <a:rPr lang="en-US" altLang="zh-TW" i="1" dirty="0">
                        <a:latin typeface="Cambria Math" panose="02040503050406030204" pitchFamily="18" charset="0"/>
                      </a:rPr>
                      <m:t> </m:t>
                    </m:r>
                    <m:r>
                      <a:rPr lang="en-US" altLang="zh-TW" i="1" dirty="0">
                        <a:latin typeface="Cambria Math" panose="02040503050406030204" pitchFamily="18" charset="0"/>
                      </a:rPr>
                      <m:t>𝑜𝑛𝑙𝑦</m:t>
                    </m:r>
                    <m:r>
                      <a:rPr lang="en-US" altLang="zh-TW" i="1" dirty="0">
                        <a:latin typeface="Cambria Math" panose="02040503050406030204" pitchFamily="18" charset="0"/>
                      </a:rPr>
                      <m:t> </m:t>
                    </m:r>
                    <m:r>
                      <a:rPr lang="en-US" altLang="zh-TW" i="1" dirty="0">
                        <a:latin typeface="Cambria Math" panose="02040503050406030204" pitchFamily="18" charset="0"/>
                      </a:rPr>
                      <m:t>𝑖𝑓</m:t>
                    </m:r>
                  </m:oMath>
                </a14:m>
                <a:endParaRPr lang="en-US" altLang="zh-TW" dirty="0"/>
              </a:p>
              <a:p>
                <a:pPr lvl="3"/>
                <a14:m>
                  <m:oMath xmlns:m="http://schemas.openxmlformats.org/officeDocument/2006/math">
                    <m:r>
                      <a:rPr lang="zh-TW" altLang="en-US" sz="2800" i="1" dirty="0">
                        <a:latin typeface="Cambria Math" panose="02040503050406030204" pitchFamily="18" charset="0"/>
                      </a:rPr>
                      <m:t>𝜃</m:t>
                    </m:r>
                    <m:d>
                      <m:dPr>
                        <m:ctrlPr>
                          <a:rPr lang="en-US" altLang="zh-TW" sz="2800" i="1" dirty="0">
                            <a:latin typeface="Cambria Math" panose="02040503050406030204" pitchFamily="18" charset="0"/>
                          </a:rPr>
                        </m:ctrlPr>
                      </m:dPr>
                      <m:e>
                        <m:r>
                          <a:rPr lang="en-US" altLang="zh-TW" sz="2800" i="1" dirty="0" err="1">
                            <a:latin typeface="Cambria Math" panose="02040503050406030204" pitchFamily="18" charset="0"/>
                            <a:cs typeface="Times New Roman" panose="02020603050405020304" pitchFamily="18" charset="0"/>
                          </a:rPr>
                          <m:t>𝑥</m:t>
                        </m:r>
                        <m:r>
                          <a:rPr lang="en-US" altLang="zh-TW" sz="2800" i="1" baseline="-25000" dirty="0" err="1">
                            <a:latin typeface="Cambria Math" panose="02040503050406030204" pitchFamily="18" charset="0"/>
                            <a:cs typeface="Times New Roman" panose="02020603050405020304" pitchFamily="18" charset="0"/>
                          </a:rPr>
                          <m:t>𝑗</m:t>
                        </m:r>
                      </m:e>
                    </m:d>
                    <m:r>
                      <a:rPr lang="en-US" altLang="zh-TW" sz="2800" i="1" dirty="0">
                        <a:latin typeface="Cambria Math" panose="02040503050406030204" pitchFamily="18" charset="0"/>
                        <a:cs typeface="Times New Roman" panose="02020603050405020304" pitchFamily="18" charset="0"/>
                      </a:rPr>
                      <m:t>=</m:t>
                    </m:r>
                    <m:sSub>
                      <m:sSubPr>
                        <m:ctrlPr>
                          <a:rPr lang="en-US" altLang="zh-TW" sz="2800" i="1" dirty="0">
                            <a:latin typeface="Cambria Math" panose="02040503050406030204" pitchFamily="18" charset="0"/>
                            <a:cs typeface="Times New Roman" panose="02020603050405020304" pitchFamily="18" charset="0"/>
                          </a:rPr>
                        </m:ctrlPr>
                      </m:sSubPr>
                      <m:e>
                        <m:r>
                          <a:rPr lang="en-US" altLang="zh-TW" sz="2800" i="1" dirty="0">
                            <a:latin typeface="Cambria Math" panose="02040503050406030204" pitchFamily="18" charset="0"/>
                            <a:cs typeface="Times New Roman" panose="02020603050405020304" pitchFamily="18" charset="0"/>
                          </a:rPr>
                          <m:t>𝑦</m:t>
                        </m:r>
                      </m:e>
                      <m:sub>
                        <m:r>
                          <a:rPr lang="en-US" altLang="zh-TW" sz="2800" i="1" dirty="0">
                            <a:latin typeface="Cambria Math" panose="02040503050406030204" pitchFamily="18" charset="0"/>
                            <a:cs typeface="Times New Roman" panose="02020603050405020304" pitchFamily="18" charset="0"/>
                          </a:rPr>
                          <m:t>𝑖</m:t>
                        </m:r>
                      </m:sub>
                    </m:sSub>
                    <m:r>
                      <a:rPr lang="en-US" altLang="zh-TW" sz="2800" i="1" dirty="0">
                        <a:latin typeface="Cambria Math" panose="02040503050406030204" pitchFamily="18" charset="0"/>
                        <a:cs typeface="Times New Roman" panose="02020603050405020304" pitchFamily="18" charset="0"/>
                      </a:rPr>
                      <m:t> </m:t>
                    </m:r>
                    <m:r>
                      <a:rPr lang="en-US" altLang="zh-TW" sz="2800" i="1" dirty="0">
                        <a:latin typeface="Cambria Math" panose="02040503050406030204" pitchFamily="18" charset="0"/>
                        <a:cs typeface="Times New Roman" panose="02020603050405020304" pitchFamily="18" charset="0"/>
                      </a:rPr>
                      <m:t>𝑎𝑛𝑑</m:t>
                    </m:r>
                    <m:r>
                      <a:rPr lang="en-US" altLang="zh-TW" sz="2800" i="1" dirty="0">
                        <a:latin typeface="Cambria Math" panose="02040503050406030204" pitchFamily="18" charset="0"/>
                        <a:cs typeface="Times New Roman" panose="02020603050405020304" pitchFamily="18" charset="0"/>
                      </a:rPr>
                      <m:t> </m:t>
                    </m:r>
                    <m:r>
                      <a:rPr lang="zh-TW" altLang="en-US" sz="2800" i="1" dirty="0">
                        <a:latin typeface="Cambria Math" panose="02040503050406030204" pitchFamily="18" charset="0"/>
                      </a:rPr>
                      <m:t>𝜃</m:t>
                    </m:r>
                    <m:d>
                      <m:dPr>
                        <m:ctrlPr>
                          <a:rPr lang="en-US" altLang="zh-TW" sz="2800" i="1" dirty="0">
                            <a:latin typeface="Cambria Math" panose="02040503050406030204" pitchFamily="18" charset="0"/>
                          </a:rPr>
                        </m:ctrlPr>
                      </m:dPr>
                      <m:e>
                        <m:r>
                          <a:rPr lang="en-US" altLang="zh-TW" sz="2800" i="1" dirty="0" err="1">
                            <a:latin typeface="Cambria Math" panose="02040503050406030204" pitchFamily="18" charset="0"/>
                            <a:cs typeface="Times New Roman" panose="02020603050405020304" pitchFamily="18" charset="0"/>
                          </a:rPr>
                          <m:t>𝑥</m:t>
                        </m:r>
                        <m:r>
                          <a:rPr lang="en-US" altLang="zh-TW" sz="2800" i="1" baseline="-25000" dirty="0">
                            <a:latin typeface="Cambria Math" panose="02040503050406030204" pitchFamily="18" charset="0"/>
                            <a:cs typeface="Times New Roman" panose="02020603050405020304" pitchFamily="18" charset="0"/>
                          </a:rPr>
                          <m:t>𝑖</m:t>
                        </m:r>
                      </m:e>
                    </m:d>
                    <m:r>
                      <a:rPr lang="en-US" altLang="zh-TW" sz="2800" i="1" dirty="0">
                        <a:latin typeface="Cambria Math" panose="02040503050406030204" pitchFamily="18" charset="0"/>
                        <a:cs typeface="Times New Roman" panose="02020603050405020304" pitchFamily="18" charset="0"/>
                      </a:rPr>
                      <m:t>=</m:t>
                    </m:r>
                    <m:r>
                      <a:rPr lang="en-US" altLang="zh-TW" sz="2800" i="1" dirty="0" err="1">
                        <a:latin typeface="Cambria Math" panose="02040503050406030204" pitchFamily="18" charset="0"/>
                        <a:cs typeface="Times New Roman" panose="02020603050405020304" pitchFamily="18" charset="0"/>
                      </a:rPr>
                      <m:t>𝑦</m:t>
                    </m:r>
                    <m:r>
                      <a:rPr lang="en-US" altLang="zh-TW" sz="2800" i="1" baseline="-25000" dirty="0">
                        <a:latin typeface="Cambria Math" panose="02040503050406030204" pitchFamily="18" charset="0"/>
                        <a:cs typeface="Times New Roman" panose="02020603050405020304" pitchFamily="18" charset="0"/>
                      </a:rPr>
                      <m:t>𝑗</m:t>
                    </m:r>
                  </m:oMath>
                </a14:m>
                <a:endParaRPr lang="en-US" altLang="zh-TW" sz="2800" dirty="0"/>
              </a:p>
              <a:p>
                <a:pPr lvl="3"/>
                <a:r>
                  <a:rPr lang="en-US" altLang="zh-TW" sz="2800" dirty="0"/>
                  <a:t> </a:t>
                </a:r>
                <a14:m>
                  <m:oMath xmlns:m="http://schemas.openxmlformats.org/officeDocument/2006/math">
                    <m:r>
                      <a:rPr lang="en-US" altLang="zh-TW" sz="2800" i="1">
                        <a:latin typeface="Cambria Math" panose="02040503050406030204" pitchFamily="18" charset="0"/>
                        <a:ea typeface="Cambria Math" panose="02040503050406030204" pitchFamily="18" charset="0"/>
                        <a:cs typeface="Times New Roman" panose="02020603050405020304" pitchFamily="18" charset="0"/>
                      </a:rPr>
                      <m:t>𝑗</m:t>
                    </m:r>
                    <m:r>
                      <a:rPr lang="en-US" altLang="zh-TW" sz="2800" i="1">
                        <a:latin typeface="Cambria Math" panose="02040503050406030204" pitchFamily="18" charset="0"/>
                        <a:ea typeface="Cambria Math" panose="02040503050406030204" pitchFamily="18" charset="0"/>
                        <a:cs typeface="Times New Roman" panose="02020603050405020304" pitchFamily="18" charset="0"/>
                      </a:rPr>
                      <m:t>+1∈</m:t>
                    </m:r>
                    <m:r>
                      <a:rPr lang="en-US" altLang="zh-TW" sz="2800" i="1">
                        <a:latin typeface="Cambria Math" panose="02040503050406030204" pitchFamily="18" charset="0"/>
                      </a:rPr>
                      <m:t>𝜉</m:t>
                    </m:r>
                    <m:d>
                      <m:dPr>
                        <m:ctrlPr>
                          <a:rPr lang="en-US" altLang="zh-TW" sz="2800" i="1">
                            <a:latin typeface="Cambria Math" panose="02040503050406030204" pitchFamily="18" charset="0"/>
                          </a:rPr>
                        </m:ctrlPr>
                      </m:dPr>
                      <m:e>
                        <m:r>
                          <a:rPr lang="en-US" altLang="zh-TW" sz="2800" i="1">
                            <a:latin typeface="Cambria Math" panose="02040503050406030204" pitchFamily="18" charset="0"/>
                          </a:rPr>
                          <m:t>𝑖</m:t>
                        </m:r>
                        <m:r>
                          <a:rPr lang="en-US" altLang="zh-TW" sz="2800" i="1">
                            <a:latin typeface="Cambria Math" panose="02040503050406030204" pitchFamily="18" charset="0"/>
                          </a:rPr>
                          <m:t>−1</m:t>
                        </m:r>
                      </m:e>
                    </m:d>
                    <m:r>
                      <a:rPr lang="en-US" altLang="zh-TW" sz="2800" i="1">
                        <a:latin typeface="Cambria Math" panose="02040503050406030204" pitchFamily="18" charset="0"/>
                      </a:rPr>
                      <m:t> </m:t>
                    </m:r>
                    <m:r>
                      <a:rPr lang="en-US" altLang="zh-TW" sz="2800" i="1">
                        <a:latin typeface="Cambria Math" panose="02040503050406030204" pitchFamily="18" charset="0"/>
                      </a:rPr>
                      <m:t>𝑖𝑓</m:t>
                    </m:r>
                    <m:r>
                      <a:rPr lang="en-US" altLang="zh-TW" sz="2800" i="1">
                        <a:latin typeface="Cambria Math" panose="02040503050406030204" pitchFamily="18" charset="0"/>
                      </a:rPr>
                      <m:t> </m:t>
                    </m:r>
                    <m:r>
                      <a:rPr lang="en-US" altLang="zh-TW" sz="2800" i="1">
                        <a:latin typeface="Cambria Math" panose="02040503050406030204" pitchFamily="18" charset="0"/>
                      </a:rPr>
                      <m:t>𝑖</m:t>
                    </m:r>
                    <m:r>
                      <a:rPr lang="en-US" altLang="zh-TW" sz="2800" i="1">
                        <a:latin typeface="Cambria Math" panose="02040503050406030204" pitchFamily="18" charset="0"/>
                      </a:rPr>
                      <m:t>−</m:t>
                    </m:r>
                    <m:r>
                      <a:rPr lang="en-US" altLang="zh-TW" sz="2800" i="1">
                        <a:latin typeface="Cambria Math" panose="02040503050406030204" pitchFamily="18" charset="0"/>
                      </a:rPr>
                      <m:t>𝑗</m:t>
                    </m:r>
                    <m:r>
                      <a:rPr lang="zh-TW" altLang="en-US" sz="2800" dirty="0">
                        <a:latin typeface="Cambria Math" panose="02040503050406030204" pitchFamily="18" charset="0"/>
                      </a:rPr>
                      <m:t>≥</m:t>
                    </m:r>
                    <m:r>
                      <a:rPr lang="en-US" altLang="zh-TW" sz="2800" dirty="0">
                        <a:latin typeface="Cambria Math" panose="02040503050406030204" pitchFamily="18" charset="0"/>
                      </a:rPr>
                      <m:t>2</m:t>
                    </m:r>
                  </m:oMath>
                </a14:m>
                <a:endParaRPr lang="en-US" altLang="zh-TW" sz="2800" dirty="0">
                  <a:latin typeface="Times New Roman" panose="02020603050405020304" pitchFamily="18" charset="0"/>
                </a:endParaRPr>
              </a:p>
              <a:p>
                <a:pPr marL="0" indent="0">
                  <a:buNone/>
                </a:pPr>
                <a:endParaRPr lang="en-US" altLang="zh-TW" dirty="0"/>
              </a:p>
              <a:p>
                <a:pPr marL="0" indent="0">
                  <a:buNone/>
                </a:pPr>
                <a:r>
                  <a:rPr lang="en-US" altLang="zh-TW" dirty="0" err="1">
                    <a:latin typeface="Times New Roman" panose="02020603050405020304" pitchFamily="18" charset="0"/>
                    <a:cs typeface="Times New Roman" panose="02020603050405020304" pitchFamily="18" charset="0"/>
                  </a:rPr>
                  <a:t>Thm</a:t>
                </a:r>
                <a:r>
                  <a:rPr lang="en-US" altLang="zh-TW" dirty="0">
                    <a:latin typeface="Times New Roman" panose="02020603050405020304" pitchFamily="18" charset="0"/>
                    <a:cs typeface="Times New Roman" panose="02020603050405020304" pitchFamily="18" charset="0"/>
                  </a:rPr>
                  <a:t> 2:  </a:t>
                </a:r>
                <a14:m>
                  <m:oMath xmlns:m="http://schemas.openxmlformats.org/officeDocument/2006/math">
                    <m:r>
                      <a:rPr lang="en-US" altLang="zh-TW" i="1" dirty="0">
                        <a:latin typeface="Cambria Math" panose="02040503050406030204" pitchFamily="18" charset="0"/>
                        <a:cs typeface="Times New Roman" panose="02020603050405020304" pitchFamily="18" charset="0"/>
                      </a:rPr>
                      <m:t>𝐹𝑜𝑟</m:t>
                    </m:r>
                    <m:r>
                      <a:rPr lang="en-US" altLang="zh-TW" i="1" dirty="0">
                        <a:latin typeface="Cambria Math" panose="02040503050406030204" pitchFamily="18" charset="0"/>
                        <a:cs typeface="Times New Roman" panose="02020603050405020304" pitchFamily="18" charset="0"/>
                      </a:rPr>
                      <m:t> </m:t>
                    </m:r>
                    <m:r>
                      <a:rPr lang="en-US" altLang="zh-TW" i="1" dirty="0">
                        <a:latin typeface="Cambria Math" panose="02040503050406030204" pitchFamily="18" charset="0"/>
                        <a:cs typeface="Times New Roman" panose="02020603050405020304" pitchFamily="18" charset="0"/>
                      </a:rPr>
                      <m:t>𝑒𝑎𝑐h</m:t>
                    </m:r>
                    <m:r>
                      <a:rPr lang="en-US" altLang="zh-TW" i="1" dirty="0">
                        <a:latin typeface="Cambria Math" panose="02040503050406030204" pitchFamily="18" charset="0"/>
                        <a:cs typeface="Times New Roman" panose="02020603050405020304" pitchFamily="18" charset="0"/>
                      </a:rPr>
                      <m:t> 1≤</m:t>
                    </m:r>
                    <m:r>
                      <a:rPr lang="en-US" altLang="zh-TW" i="1">
                        <a:latin typeface="Cambria Math" panose="02040503050406030204" pitchFamily="18" charset="0"/>
                        <a:ea typeface="Cambria Math" panose="02040503050406030204" pitchFamily="18" charset="0"/>
                        <a:cs typeface="Times New Roman" panose="02020603050405020304" pitchFamily="18" charset="0"/>
                      </a:rPr>
                      <m:t>𝑖</m:t>
                    </m:r>
                    <m:r>
                      <a:rPr lang="en-US" altLang="zh-TW" i="1">
                        <a:latin typeface="Cambria Math" panose="02040503050406030204" pitchFamily="18" charset="0"/>
                        <a:ea typeface="Cambria Math" panose="02040503050406030204" pitchFamily="18" charset="0"/>
                        <a:cs typeface="Times New Roman" panose="02020603050405020304" pitchFamily="18" charset="0"/>
                      </a:rPr>
                      <m:t>≤</m:t>
                    </m:r>
                    <m:r>
                      <a:rPr lang="en-US" altLang="zh-TW" i="1">
                        <a:latin typeface="Cambria Math" panose="02040503050406030204" pitchFamily="18" charset="0"/>
                        <a:ea typeface="Cambria Math" panose="02040503050406030204" pitchFamily="18" charset="0"/>
                        <a:cs typeface="Times New Roman" panose="02020603050405020304" pitchFamily="18" charset="0"/>
                      </a:rPr>
                      <m:t>𝑛</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 , </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𝑓</m:t>
                    </m:r>
                    <m:d>
                      <m:d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𝑖</m:t>
                        </m:r>
                      </m:e>
                    </m:d>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altLang="zh-TW" b="0" i="0" smtClean="0">
                        <a:latin typeface="Cambria Math" panose="02040503050406030204" pitchFamily="18" charset="0"/>
                        <a:ea typeface="Cambria Math" panose="02040503050406030204" pitchFamily="18" charset="0"/>
                        <a:cs typeface="Times New Roman" panose="02020603050405020304" pitchFamily="18" charset="0"/>
                      </a:rPr>
                      <m:t>min</m:t>
                    </m:r>
                  </m:oMath>
                </a14:m>
                <a:r>
                  <a:rPr lang="en-US" altLang="zh-TW" dirty="0"/>
                  <a:t>{ </a:t>
                </a:r>
                <a14:m>
                  <m:oMath xmlns:m="http://schemas.openxmlformats.org/officeDocument/2006/math">
                    <m:r>
                      <a:rPr lang="zh-TW" altLang="en-US" i="1" smtClean="0">
                        <a:latin typeface="Cambria Math" panose="02040503050406030204" pitchFamily="18" charset="0"/>
                      </a:rPr>
                      <m:t>𝛼</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𝑖</m:t>
                        </m:r>
                      </m:e>
                    </m:d>
                    <m:r>
                      <a:rPr lang="en-US" altLang="zh-TW" b="0" i="1" smtClean="0">
                        <a:latin typeface="Cambria Math" panose="02040503050406030204" pitchFamily="18" charset="0"/>
                      </a:rPr>
                      <m:t> , </m:t>
                    </m:r>
                    <m:r>
                      <a:rPr lang="zh-TW" altLang="en-US" b="0" i="1" smtClean="0">
                        <a:latin typeface="Cambria Math" panose="02040503050406030204" pitchFamily="18" charset="0"/>
                      </a:rPr>
                      <m:t>𝛽</m:t>
                    </m:r>
                    <m:r>
                      <a:rPr lang="en-US" altLang="zh-TW" b="0" i="1" smtClean="0">
                        <a:latin typeface="Cambria Math" panose="02040503050406030204" pitchFamily="18" charset="0"/>
                      </a:rPr>
                      <m:t>(</m:t>
                    </m:r>
                    <m:r>
                      <a:rPr lang="en-US" altLang="zh-TW" b="0" i="1" smtClean="0">
                        <a:latin typeface="Cambria Math" panose="02040503050406030204" pitchFamily="18" charset="0"/>
                      </a:rPr>
                      <m:t>𝑖</m:t>
                    </m:r>
                    <m:r>
                      <a:rPr lang="en-US" altLang="zh-TW" b="0" i="1" smtClean="0">
                        <a:latin typeface="Cambria Math" panose="02040503050406030204" pitchFamily="18" charset="0"/>
                      </a:rPr>
                      <m:t>)</m:t>
                    </m:r>
                  </m:oMath>
                </a14:m>
                <a:r>
                  <a:rPr lang="en-US" altLang="zh-TW" dirty="0"/>
                  <a:t> }</a:t>
                </a:r>
              </a:p>
              <a:p>
                <a:pPr marL="0" indent="0">
                  <a:buNone/>
                </a:pPr>
                <a:endParaRPr lang="en-US" altLang="zh-TW" dirty="0"/>
              </a:p>
              <a:p>
                <a:endParaRPr lang="zh-TW" altLang="en-US" dirty="0"/>
              </a:p>
            </p:txBody>
          </p:sp>
        </mc:Choice>
        <mc:Fallback>
          <p:sp>
            <p:nvSpPr>
              <p:cNvPr id="3" name="內容版面配置區 2">
                <a:extLst>
                  <a:ext uri="{FF2B5EF4-FFF2-40B4-BE49-F238E27FC236}">
                    <a16:creationId xmlns:a16="http://schemas.microsoft.com/office/drawing/2014/main" id="{8C2FE73B-CC0F-414F-853C-1E73B6529BED}"/>
                  </a:ext>
                </a:extLst>
              </p:cNvPr>
              <p:cNvSpPr>
                <a:spLocks noGrp="1" noRot="1" noChangeAspect="1" noMove="1" noResize="1" noEditPoints="1" noAdjustHandles="1" noChangeArrowheads="1" noChangeShapeType="1" noTextEdit="1"/>
              </p:cNvSpPr>
              <p:nvPr>
                <p:ph idx="1"/>
              </p:nvPr>
            </p:nvSpPr>
            <p:spPr>
              <a:blipFill>
                <a:blip r:embed="rId2"/>
                <a:stretch>
                  <a:fillRect l="-1217" t="-252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0454724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47332F-6D77-4AF0-8563-C7ABBDEAD3B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Theorem 2</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C05E0230-A7B0-40AC-8A64-A4698CC44E0B}"/>
                  </a:ext>
                </a:extLst>
              </p:cNvPr>
              <p:cNvSpPr>
                <a:spLocks noGrp="1"/>
              </p:cNvSpPr>
              <p:nvPr>
                <p:ph idx="1"/>
              </p:nvPr>
            </p:nvSpPr>
            <p:spPr/>
            <p:txBody>
              <a:bodyPr/>
              <a:lstStyle/>
              <a:p>
                <a14:m>
                  <m:oMath xmlns:m="http://schemas.openxmlformats.org/officeDocument/2006/math">
                    <m:r>
                      <a:rPr lang="en-US" altLang="zh-TW" b="0" i="1" smtClean="0">
                        <a:latin typeface="Cambria Math" panose="02040503050406030204" pitchFamily="18" charset="0"/>
                      </a:rPr>
                      <m:t>𝑓</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𝑖</m:t>
                        </m:r>
                      </m:e>
                    </m:d>
                    <m:r>
                      <a:rPr lang="en-US" altLang="zh-TW" b="0" i="1" smtClean="0">
                        <a:latin typeface="Cambria Math" panose="02040503050406030204" pitchFamily="18" charset="0"/>
                      </a:rPr>
                      <m:t>=</m:t>
                    </m:r>
                    <m:r>
                      <a:rPr lang="en-US" altLang="zh-TW" b="0" i="1" smtClean="0">
                        <a:latin typeface="Cambria Math" panose="02040503050406030204" pitchFamily="18" charset="0"/>
                      </a:rPr>
                      <m:t>𝑖𝑑</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1,</m:t>
                            </m:r>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 ,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𝑦</m:t>
                            </m:r>
                          </m:e>
                          <m:sub>
                            <m:r>
                              <a:rPr lang="en-US" altLang="zh-TW" b="0" i="1" smtClean="0">
                                <a:latin typeface="Cambria Math" panose="02040503050406030204" pitchFamily="18" charset="0"/>
                              </a:rPr>
                              <m:t>1,</m:t>
                            </m:r>
                            <m:r>
                              <a:rPr lang="en-US" altLang="zh-TW" b="0" i="1" smtClean="0">
                                <a:latin typeface="Cambria Math" panose="02040503050406030204" pitchFamily="18" charset="0"/>
                              </a:rPr>
                              <m:t>𝑖</m:t>
                            </m:r>
                          </m:sub>
                        </m:sSub>
                      </m:e>
                    </m:d>
                    <m:r>
                      <a:rPr lang="en-US" altLang="zh-TW" b="0" i="1" smtClean="0">
                        <a:latin typeface="Cambria Math" panose="02040503050406030204" pitchFamily="18" charset="0"/>
                      </a:rPr>
                      <m:t>. </m:t>
                    </m:r>
                  </m:oMath>
                </a14:m>
                <a:endParaRPr lang="en-US" altLang="zh-TW" dirty="0"/>
              </a:p>
              <a:p>
                <a:r>
                  <a:rPr lang="en-US" altLang="zh-TW" dirty="0">
                    <a:latin typeface="Times New Roman" panose="02020603050405020304" pitchFamily="18" charset="0"/>
                    <a:cs typeface="Times New Roman" panose="02020603050405020304" pitchFamily="18" charset="0"/>
                  </a:rPr>
                  <a:t>Goal:  </a:t>
                </a:r>
                <a14:m>
                  <m:oMath xmlns:m="http://schemas.openxmlformats.org/officeDocument/2006/math">
                    <m:r>
                      <a:rPr lang="en-US" altLang="zh-TW" i="1">
                        <a:latin typeface="Cambria Math" panose="02040503050406030204" pitchFamily="18" charset="0"/>
                      </a:rPr>
                      <m:t>𝑓</m:t>
                    </m:r>
                    <m:d>
                      <m:dPr>
                        <m:ctrlPr>
                          <a:rPr lang="en-US" altLang="zh-TW" i="1">
                            <a:latin typeface="Cambria Math" panose="02040503050406030204" pitchFamily="18" charset="0"/>
                          </a:rPr>
                        </m:ctrlPr>
                      </m:dPr>
                      <m:e>
                        <m:r>
                          <a:rPr lang="en-US" altLang="zh-TW" b="0" i="1" smtClean="0">
                            <a:latin typeface="Cambria Math" panose="02040503050406030204" pitchFamily="18" charset="0"/>
                          </a:rPr>
                          <m:t>𝑛</m:t>
                        </m:r>
                      </m:e>
                    </m:d>
                    <m:r>
                      <a:rPr lang="en-US" altLang="zh-TW" b="0" i="1" smtClean="0">
                        <a:latin typeface="Cambria Math" panose="02040503050406030204" pitchFamily="18" charset="0"/>
                      </a:rPr>
                      <m:t>=</m:t>
                    </m:r>
                    <m:r>
                      <a:rPr lang="en-US" altLang="zh-TW" b="0" i="1" smtClean="0">
                        <a:latin typeface="Cambria Math" panose="02040503050406030204" pitchFamily="18" charset="0"/>
                      </a:rPr>
                      <m:t>𝑖𝑑</m:t>
                    </m:r>
                    <m:r>
                      <a:rPr lang="en-US" altLang="zh-TW" b="0" i="1" smtClean="0">
                        <a:latin typeface="Cambria Math" panose="02040503050406030204" pitchFamily="18" charset="0"/>
                      </a:rPr>
                      <m:t>(</m:t>
                    </m:r>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a:rPr lang="en-US" altLang="zh-TW" b="0" i="1" smtClean="0">
                        <a:latin typeface="Cambria Math" panose="02040503050406030204" pitchFamily="18" charset="0"/>
                      </a:rPr>
                      <m:t>𝑦</m:t>
                    </m:r>
                    <m:r>
                      <a:rPr lang="en-US" altLang="zh-TW" b="0" i="1" smtClean="0">
                        <a:latin typeface="Cambria Math" panose="02040503050406030204" pitchFamily="18" charset="0"/>
                      </a:rPr>
                      <m:t>)</m:t>
                    </m:r>
                  </m:oMath>
                </a14:m>
                <a:endParaRPr lang="en-US" altLang="zh-TW" dirty="0"/>
              </a:p>
              <a:p>
                <a:endParaRPr lang="en-US" altLang="zh-TW" dirty="0">
                  <a:latin typeface="Times New Roman" panose="02020603050405020304" pitchFamily="18" charset="0"/>
                  <a:cs typeface="Times New Roman" panose="02020603050405020304" pitchFamily="18" charset="0"/>
                </a:endParaRPr>
              </a:p>
              <a:p>
                <a:endParaRPr lang="zh-TW" altLang="en-US"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C05E0230-A7B0-40AC-8A64-A4698CC44E0B}"/>
                  </a:ext>
                </a:extLst>
              </p:cNvPr>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zh-TW" altLang="en-US">
                    <a:noFill/>
                  </a:rPr>
                  <a:t> </a:t>
                </a:r>
              </a:p>
            </p:txBody>
          </p:sp>
        </mc:Fallback>
      </mc:AlternateContent>
      <p:pic>
        <p:nvPicPr>
          <p:cNvPr id="4" name="圖片 3">
            <a:extLst>
              <a:ext uri="{FF2B5EF4-FFF2-40B4-BE49-F238E27FC236}">
                <a16:creationId xmlns:a16="http://schemas.microsoft.com/office/drawing/2014/main" id="{7D7EB494-4537-4383-9CF5-32180B5C7794}"/>
              </a:ext>
            </a:extLst>
          </p:cNvPr>
          <p:cNvPicPr>
            <a:picLocks noChangeAspect="1"/>
          </p:cNvPicPr>
          <p:nvPr/>
        </p:nvPicPr>
        <p:blipFill>
          <a:blip r:embed="rId3"/>
          <a:stretch>
            <a:fillRect/>
          </a:stretch>
        </p:blipFill>
        <p:spPr>
          <a:xfrm>
            <a:off x="3159526" y="3004214"/>
            <a:ext cx="5438775" cy="2895600"/>
          </a:xfrm>
          <a:prstGeom prst="rect">
            <a:avLst/>
          </a:prstGeom>
        </p:spPr>
      </p:pic>
    </p:spTree>
    <p:extLst>
      <p:ext uri="{BB962C8B-B14F-4D97-AF65-F5344CB8AC3E}">
        <p14:creationId xmlns:p14="http://schemas.microsoft.com/office/powerpoint/2010/main" val="107713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648368-DCC8-46D7-8399-AB3F7F851D06}"/>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Theorem</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8C2FE73B-CC0F-414F-853C-1E73B6529BED}"/>
                  </a:ext>
                </a:extLst>
              </p:cNvPr>
              <p:cNvSpPr>
                <a:spLocks noGrp="1"/>
              </p:cNvSpPr>
              <p:nvPr>
                <p:ph idx="1"/>
              </p:nvPr>
            </p:nvSpPr>
            <p:spPr/>
            <p:txBody>
              <a:bodyPr/>
              <a:lstStyle/>
              <a:p>
                <a:pPr marL="0" indent="0">
                  <a:buNone/>
                </a:pPr>
                <a:r>
                  <a:rPr lang="en-US" altLang="zh-TW" dirty="0">
                    <a:latin typeface="Times New Roman" panose="02020603050405020304" pitchFamily="18" charset="0"/>
                    <a:cs typeface="Times New Roman" panose="02020603050405020304" pitchFamily="18" charset="0"/>
                  </a:rPr>
                  <a:t>Thm 1:  </a:t>
                </a:r>
                <a14:m>
                  <m:oMath xmlns:m="http://schemas.openxmlformats.org/officeDocument/2006/math">
                    <m:r>
                      <a:rPr lang="en-US" altLang="zh-TW" i="1" dirty="0">
                        <a:latin typeface="Cambria Math" panose="02040503050406030204" pitchFamily="18" charset="0"/>
                        <a:cs typeface="Times New Roman" panose="02020603050405020304" pitchFamily="18" charset="0"/>
                      </a:rPr>
                      <m:t>𝐹𝑜𝑟</m:t>
                    </m:r>
                    <m:r>
                      <a:rPr lang="en-US" altLang="zh-TW" i="1" dirty="0">
                        <a:latin typeface="Cambria Math" panose="02040503050406030204" pitchFamily="18" charset="0"/>
                        <a:cs typeface="Times New Roman" panose="02020603050405020304" pitchFamily="18" charset="0"/>
                      </a:rPr>
                      <m:t> </m:t>
                    </m:r>
                    <m:r>
                      <a:rPr lang="en-US" altLang="zh-TW" i="1" dirty="0">
                        <a:latin typeface="Cambria Math" panose="02040503050406030204" pitchFamily="18" charset="0"/>
                        <a:cs typeface="Times New Roman" panose="02020603050405020304" pitchFamily="18" charset="0"/>
                      </a:rPr>
                      <m:t>𝑒𝑎𝑐h</m:t>
                    </m:r>
                    <m:r>
                      <a:rPr lang="en-US" altLang="zh-TW" i="1" dirty="0">
                        <a:latin typeface="Cambria Math" panose="02040503050406030204" pitchFamily="18" charset="0"/>
                        <a:cs typeface="Times New Roman" panose="02020603050405020304" pitchFamily="18" charset="0"/>
                      </a:rPr>
                      <m:t> </m:t>
                    </m:r>
                    <m:r>
                      <a:rPr lang="en-US" altLang="zh-TW" i="1" dirty="0">
                        <a:latin typeface="Cambria Math" panose="02040503050406030204" pitchFamily="18" charset="0"/>
                        <a:cs typeface="Times New Roman" panose="02020603050405020304" pitchFamily="18" charset="0"/>
                      </a:rPr>
                      <m:t>𝑝𝑎𝑖𝑟</m:t>
                    </m:r>
                    <m:r>
                      <a:rPr lang="en-US" altLang="zh-TW" i="1" dirty="0">
                        <a:latin typeface="Cambria Math" panose="02040503050406030204" pitchFamily="18" charset="0"/>
                        <a:cs typeface="Times New Roman" panose="02020603050405020304" pitchFamily="18" charset="0"/>
                      </a:rPr>
                      <m:t> </m:t>
                    </m:r>
                    <m:d>
                      <m:dPr>
                        <m:ctrlPr>
                          <a:rPr lang="en-US" altLang="zh-TW" i="1" dirty="0">
                            <a:latin typeface="Cambria Math" panose="02040503050406030204" pitchFamily="18" charset="0"/>
                            <a:cs typeface="Times New Roman" panose="02020603050405020304" pitchFamily="18" charset="0"/>
                          </a:rPr>
                        </m:ctrlPr>
                      </m:dPr>
                      <m:e>
                        <m:r>
                          <a:rPr lang="en-US" altLang="zh-TW" i="1" dirty="0">
                            <a:latin typeface="Cambria Math" panose="02040503050406030204" pitchFamily="18" charset="0"/>
                            <a:cs typeface="Times New Roman" panose="02020603050405020304" pitchFamily="18" charset="0"/>
                          </a:rPr>
                          <m:t>𝑗</m:t>
                        </m:r>
                        <m:r>
                          <a:rPr lang="en-US" altLang="zh-TW" i="1" dirty="0">
                            <a:latin typeface="Cambria Math" panose="02040503050406030204" pitchFamily="18" charset="0"/>
                            <a:cs typeface="Times New Roman" panose="02020603050405020304" pitchFamily="18" charset="0"/>
                          </a:rPr>
                          <m:t>,</m:t>
                        </m:r>
                        <m:r>
                          <a:rPr lang="en-US" altLang="zh-TW" i="1" dirty="0">
                            <a:latin typeface="Cambria Math" panose="02040503050406030204" pitchFamily="18" charset="0"/>
                            <a:cs typeface="Times New Roman" panose="02020603050405020304" pitchFamily="18" charset="0"/>
                          </a:rPr>
                          <m:t>𝑖</m:t>
                        </m:r>
                      </m:e>
                    </m:d>
                    <m:r>
                      <a:rPr lang="en-US" altLang="zh-TW" i="1" dirty="0">
                        <a:latin typeface="Cambria Math" panose="02040503050406030204" pitchFamily="18" charset="0"/>
                        <a:cs typeface="Times New Roman" panose="02020603050405020304" pitchFamily="18" charset="0"/>
                      </a:rPr>
                      <m:t> , 1</m:t>
                    </m:r>
                    <m:r>
                      <a:rPr lang="en-US" altLang="zh-TW" i="1">
                        <a:latin typeface="Cambria Math" panose="02040503050406030204" pitchFamily="18" charset="0"/>
                        <a:ea typeface="Cambria Math" panose="02040503050406030204" pitchFamily="18" charset="0"/>
                        <a:cs typeface="Times New Roman" panose="02020603050405020304" pitchFamily="18" charset="0"/>
                      </a:rPr>
                      <m:t>≤</m:t>
                    </m:r>
                    <m:r>
                      <a:rPr lang="en-US" altLang="zh-TW" i="1">
                        <a:latin typeface="Cambria Math" panose="02040503050406030204" pitchFamily="18" charset="0"/>
                        <a:ea typeface="Cambria Math" panose="02040503050406030204" pitchFamily="18" charset="0"/>
                        <a:cs typeface="Times New Roman" panose="02020603050405020304" pitchFamily="18" charset="0"/>
                      </a:rPr>
                      <m:t>𝑗</m:t>
                    </m:r>
                    <m:r>
                      <a:rPr lang="en-US" altLang="zh-TW" i="1">
                        <a:latin typeface="Cambria Math" panose="02040503050406030204" pitchFamily="18" charset="0"/>
                        <a:ea typeface="Cambria Math" panose="02040503050406030204" pitchFamily="18" charset="0"/>
                        <a:cs typeface="Times New Roman" panose="02020603050405020304" pitchFamily="18" charset="0"/>
                      </a:rPr>
                      <m:t>≤</m:t>
                    </m:r>
                    <m:r>
                      <a:rPr lang="en-US" altLang="zh-TW" i="1">
                        <a:latin typeface="Cambria Math" panose="02040503050406030204" pitchFamily="18" charset="0"/>
                        <a:ea typeface="Cambria Math" panose="02040503050406030204" pitchFamily="18" charset="0"/>
                        <a:cs typeface="Times New Roman" panose="02020603050405020304" pitchFamily="18" charset="0"/>
                      </a:rPr>
                      <m:t>𝑖</m:t>
                    </m:r>
                    <m:r>
                      <a:rPr lang="en-US" altLang="zh-TW" i="1">
                        <a:latin typeface="Cambria Math" panose="02040503050406030204" pitchFamily="18" charset="0"/>
                        <a:ea typeface="Cambria Math" panose="02040503050406030204" pitchFamily="18" charset="0"/>
                        <a:cs typeface="Times New Roman" panose="02020603050405020304" pitchFamily="18" charset="0"/>
                      </a:rPr>
                      <m:t>≤</m:t>
                    </m:r>
                    <m:r>
                      <a:rPr lang="en-US" altLang="zh-TW" i="1">
                        <a:latin typeface="Cambria Math" panose="02040503050406030204" pitchFamily="18" charset="0"/>
                        <a:ea typeface="Cambria Math" panose="02040503050406030204" pitchFamily="18" charset="0"/>
                        <a:cs typeface="Times New Roman" panose="02020603050405020304" pitchFamily="18" charset="0"/>
                      </a:rPr>
                      <m:t>𝑛</m:t>
                    </m:r>
                    <m:r>
                      <a:rPr lang="en-US" altLang="zh-TW" i="1">
                        <a:latin typeface="Cambria Math" panose="02040503050406030204" pitchFamily="18" charset="0"/>
                        <a:ea typeface="Cambria Math" panose="02040503050406030204" pitchFamily="18" charset="0"/>
                        <a:cs typeface="Times New Roman" panose="02020603050405020304" pitchFamily="18" charset="0"/>
                      </a:rPr>
                      <m:t> , </m:t>
                    </m:r>
                    <m:r>
                      <a:rPr lang="en-US" altLang="zh-TW" i="1">
                        <a:latin typeface="Cambria Math" panose="02040503050406030204" pitchFamily="18" charset="0"/>
                        <a:ea typeface="Cambria Math" panose="02040503050406030204" pitchFamily="18" charset="0"/>
                        <a:cs typeface="Times New Roman" panose="02020603050405020304" pitchFamily="18" charset="0"/>
                      </a:rPr>
                      <m:t>𝑗</m:t>
                    </m:r>
                    <m:r>
                      <a:rPr lang="en-US" altLang="zh-TW" i="1">
                        <a:latin typeface="Cambria Math" panose="02040503050406030204" pitchFamily="18" charset="0"/>
                        <a:ea typeface="Cambria Math" panose="02040503050406030204" pitchFamily="18" charset="0"/>
                        <a:cs typeface="Times New Roman" panose="02020603050405020304" pitchFamily="18" charset="0"/>
                      </a:rPr>
                      <m:t>∈</m:t>
                    </m:r>
                    <m:r>
                      <a:rPr lang="en-US" altLang="zh-TW" i="1">
                        <a:latin typeface="Cambria Math" panose="02040503050406030204" pitchFamily="18" charset="0"/>
                      </a:rPr>
                      <m:t>𝜉</m:t>
                    </m:r>
                    <m:d>
                      <m:dPr>
                        <m:ctrlPr>
                          <a:rPr lang="en-US" altLang="zh-TW" i="1">
                            <a:latin typeface="Cambria Math" panose="02040503050406030204" pitchFamily="18" charset="0"/>
                          </a:rPr>
                        </m:ctrlPr>
                      </m:dPr>
                      <m:e>
                        <m:r>
                          <a:rPr lang="en-US" altLang="zh-TW" i="1">
                            <a:latin typeface="Cambria Math" panose="02040503050406030204" pitchFamily="18" charset="0"/>
                          </a:rPr>
                          <m:t>𝑖</m:t>
                        </m:r>
                      </m:e>
                    </m:d>
                    <m:r>
                      <a:rPr lang="en-US" altLang="zh-TW">
                        <a:latin typeface="Cambria Math" panose="02040503050406030204" pitchFamily="18" charset="0"/>
                      </a:rPr>
                      <m:t> </m:t>
                    </m:r>
                    <m:r>
                      <a:rPr lang="en-US" altLang="zh-TW" i="1" dirty="0">
                        <a:latin typeface="Cambria Math" panose="02040503050406030204" pitchFamily="18" charset="0"/>
                      </a:rPr>
                      <m:t>𝑖𝑓</m:t>
                    </m:r>
                    <m:r>
                      <a:rPr lang="en-US" altLang="zh-TW" i="1" dirty="0">
                        <a:latin typeface="Cambria Math" panose="02040503050406030204" pitchFamily="18" charset="0"/>
                      </a:rPr>
                      <m:t> </m:t>
                    </m:r>
                    <m:r>
                      <a:rPr lang="en-US" altLang="zh-TW" i="1" dirty="0">
                        <a:latin typeface="Cambria Math" panose="02040503050406030204" pitchFamily="18" charset="0"/>
                      </a:rPr>
                      <m:t>𝑎𝑛𝑑</m:t>
                    </m:r>
                    <m:r>
                      <a:rPr lang="en-US" altLang="zh-TW" i="1" dirty="0">
                        <a:latin typeface="Cambria Math" panose="02040503050406030204" pitchFamily="18" charset="0"/>
                      </a:rPr>
                      <m:t> </m:t>
                    </m:r>
                    <m:r>
                      <a:rPr lang="en-US" altLang="zh-TW" i="1" dirty="0">
                        <a:latin typeface="Cambria Math" panose="02040503050406030204" pitchFamily="18" charset="0"/>
                      </a:rPr>
                      <m:t>𝑜𝑛𝑙𝑦</m:t>
                    </m:r>
                    <m:r>
                      <a:rPr lang="en-US" altLang="zh-TW" i="1" dirty="0">
                        <a:latin typeface="Cambria Math" panose="02040503050406030204" pitchFamily="18" charset="0"/>
                      </a:rPr>
                      <m:t> </m:t>
                    </m:r>
                    <m:r>
                      <a:rPr lang="en-US" altLang="zh-TW" i="1" dirty="0">
                        <a:latin typeface="Cambria Math" panose="02040503050406030204" pitchFamily="18" charset="0"/>
                      </a:rPr>
                      <m:t>𝑖𝑓</m:t>
                    </m:r>
                  </m:oMath>
                </a14:m>
                <a:endParaRPr lang="en-US" altLang="zh-TW" dirty="0"/>
              </a:p>
              <a:p>
                <a:pPr lvl="3"/>
                <a14:m>
                  <m:oMath xmlns:m="http://schemas.openxmlformats.org/officeDocument/2006/math">
                    <m:r>
                      <a:rPr lang="zh-TW" altLang="en-US" sz="2800" i="1" dirty="0">
                        <a:latin typeface="Cambria Math" panose="02040503050406030204" pitchFamily="18" charset="0"/>
                      </a:rPr>
                      <m:t>𝜃</m:t>
                    </m:r>
                    <m:d>
                      <m:dPr>
                        <m:ctrlPr>
                          <a:rPr lang="en-US" altLang="zh-TW" sz="2800" i="1" dirty="0">
                            <a:latin typeface="Cambria Math" panose="02040503050406030204" pitchFamily="18" charset="0"/>
                          </a:rPr>
                        </m:ctrlPr>
                      </m:dPr>
                      <m:e>
                        <m:r>
                          <a:rPr lang="en-US" altLang="zh-TW" sz="2800" i="1" dirty="0" err="1">
                            <a:latin typeface="Cambria Math" panose="02040503050406030204" pitchFamily="18" charset="0"/>
                            <a:cs typeface="Times New Roman" panose="02020603050405020304" pitchFamily="18" charset="0"/>
                          </a:rPr>
                          <m:t>𝑥</m:t>
                        </m:r>
                        <m:r>
                          <a:rPr lang="en-US" altLang="zh-TW" sz="2800" i="1" baseline="-25000" dirty="0" err="1">
                            <a:latin typeface="Cambria Math" panose="02040503050406030204" pitchFamily="18" charset="0"/>
                            <a:cs typeface="Times New Roman" panose="02020603050405020304" pitchFamily="18" charset="0"/>
                          </a:rPr>
                          <m:t>𝑗</m:t>
                        </m:r>
                      </m:e>
                    </m:d>
                    <m:r>
                      <a:rPr lang="en-US" altLang="zh-TW" sz="2800" i="1" dirty="0">
                        <a:latin typeface="Cambria Math" panose="02040503050406030204" pitchFamily="18" charset="0"/>
                        <a:cs typeface="Times New Roman" panose="02020603050405020304" pitchFamily="18" charset="0"/>
                      </a:rPr>
                      <m:t>=</m:t>
                    </m:r>
                    <m:sSub>
                      <m:sSubPr>
                        <m:ctrlPr>
                          <a:rPr lang="en-US" altLang="zh-TW" sz="2800" i="1" dirty="0">
                            <a:latin typeface="Cambria Math" panose="02040503050406030204" pitchFamily="18" charset="0"/>
                            <a:cs typeface="Times New Roman" panose="02020603050405020304" pitchFamily="18" charset="0"/>
                          </a:rPr>
                        </m:ctrlPr>
                      </m:sSubPr>
                      <m:e>
                        <m:r>
                          <a:rPr lang="en-US" altLang="zh-TW" sz="2800" i="1" dirty="0">
                            <a:latin typeface="Cambria Math" panose="02040503050406030204" pitchFamily="18" charset="0"/>
                            <a:cs typeface="Times New Roman" panose="02020603050405020304" pitchFamily="18" charset="0"/>
                          </a:rPr>
                          <m:t>𝑦</m:t>
                        </m:r>
                      </m:e>
                      <m:sub>
                        <m:r>
                          <a:rPr lang="en-US" altLang="zh-TW" sz="2800" i="1" dirty="0">
                            <a:latin typeface="Cambria Math" panose="02040503050406030204" pitchFamily="18" charset="0"/>
                            <a:cs typeface="Times New Roman" panose="02020603050405020304" pitchFamily="18" charset="0"/>
                          </a:rPr>
                          <m:t>𝑖</m:t>
                        </m:r>
                      </m:sub>
                    </m:sSub>
                    <m:r>
                      <a:rPr lang="en-US" altLang="zh-TW" sz="2800" i="1" dirty="0">
                        <a:latin typeface="Cambria Math" panose="02040503050406030204" pitchFamily="18" charset="0"/>
                        <a:cs typeface="Times New Roman" panose="02020603050405020304" pitchFamily="18" charset="0"/>
                      </a:rPr>
                      <m:t> </m:t>
                    </m:r>
                    <m:r>
                      <a:rPr lang="en-US" altLang="zh-TW" sz="2800" i="1" dirty="0">
                        <a:latin typeface="Cambria Math" panose="02040503050406030204" pitchFamily="18" charset="0"/>
                        <a:cs typeface="Times New Roman" panose="02020603050405020304" pitchFamily="18" charset="0"/>
                      </a:rPr>
                      <m:t>𝑎𝑛𝑑</m:t>
                    </m:r>
                    <m:r>
                      <a:rPr lang="en-US" altLang="zh-TW" sz="2800" i="1" dirty="0">
                        <a:latin typeface="Cambria Math" panose="02040503050406030204" pitchFamily="18" charset="0"/>
                        <a:cs typeface="Times New Roman" panose="02020603050405020304" pitchFamily="18" charset="0"/>
                      </a:rPr>
                      <m:t> </m:t>
                    </m:r>
                    <m:r>
                      <a:rPr lang="zh-TW" altLang="en-US" sz="2800" i="1" dirty="0">
                        <a:latin typeface="Cambria Math" panose="02040503050406030204" pitchFamily="18" charset="0"/>
                      </a:rPr>
                      <m:t>𝜃</m:t>
                    </m:r>
                    <m:d>
                      <m:dPr>
                        <m:ctrlPr>
                          <a:rPr lang="en-US" altLang="zh-TW" sz="2800" i="1" dirty="0">
                            <a:latin typeface="Cambria Math" panose="02040503050406030204" pitchFamily="18" charset="0"/>
                          </a:rPr>
                        </m:ctrlPr>
                      </m:dPr>
                      <m:e>
                        <m:r>
                          <a:rPr lang="en-US" altLang="zh-TW" sz="2800" i="1" dirty="0" err="1">
                            <a:latin typeface="Cambria Math" panose="02040503050406030204" pitchFamily="18" charset="0"/>
                            <a:cs typeface="Times New Roman" panose="02020603050405020304" pitchFamily="18" charset="0"/>
                          </a:rPr>
                          <m:t>𝑥</m:t>
                        </m:r>
                        <m:r>
                          <a:rPr lang="en-US" altLang="zh-TW" sz="2800" i="1" baseline="-25000" dirty="0">
                            <a:latin typeface="Cambria Math" panose="02040503050406030204" pitchFamily="18" charset="0"/>
                            <a:cs typeface="Times New Roman" panose="02020603050405020304" pitchFamily="18" charset="0"/>
                          </a:rPr>
                          <m:t>𝑖</m:t>
                        </m:r>
                      </m:e>
                    </m:d>
                    <m:r>
                      <a:rPr lang="en-US" altLang="zh-TW" sz="2800" i="1" dirty="0">
                        <a:latin typeface="Cambria Math" panose="02040503050406030204" pitchFamily="18" charset="0"/>
                        <a:cs typeface="Times New Roman" panose="02020603050405020304" pitchFamily="18" charset="0"/>
                      </a:rPr>
                      <m:t>=</m:t>
                    </m:r>
                    <m:r>
                      <a:rPr lang="en-US" altLang="zh-TW" sz="2800" i="1" dirty="0" err="1">
                        <a:latin typeface="Cambria Math" panose="02040503050406030204" pitchFamily="18" charset="0"/>
                        <a:cs typeface="Times New Roman" panose="02020603050405020304" pitchFamily="18" charset="0"/>
                      </a:rPr>
                      <m:t>𝑦</m:t>
                    </m:r>
                    <m:r>
                      <a:rPr lang="en-US" altLang="zh-TW" sz="2800" i="1" baseline="-25000" dirty="0">
                        <a:latin typeface="Cambria Math" panose="02040503050406030204" pitchFamily="18" charset="0"/>
                        <a:cs typeface="Times New Roman" panose="02020603050405020304" pitchFamily="18" charset="0"/>
                      </a:rPr>
                      <m:t>𝑗</m:t>
                    </m:r>
                  </m:oMath>
                </a14:m>
                <a:endParaRPr lang="en-US" altLang="zh-TW" sz="2800" dirty="0"/>
              </a:p>
              <a:p>
                <a:pPr lvl="3"/>
                <a:r>
                  <a:rPr lang="en-US" altLang="zh-TW" sz="2800" dirty="0"/>
                  <a:t> </a:t>
                </a:r>
                <a14:m>
                  <m:oMath xmlns:m="http://schemas.openxmlformats.org/officeDocument/2006/math">
                    <m:r>
                      <a:rPr lang="en-US" altLang="zh-TW" sz="2800" i="1">
                        <a:latin typeface="Cambria Math" panose="02040503050406030204" pitchFamily="18" charset="0"/>
                        <a:ea typeface="Cambria Math" panose="02040503050406030204" pitchFamily="18" charset="0"/>
                        <a:cs typeface="Times New Roman" panose="02020603050405020304" pitchFamily="18" charset="0"/>
                      </a:rPr>
                      <m:t>𝑗</m:t>
                    </m:r>
                    <m:r>
                      <a:rPr lang="en-US" altLang="zh-TW" sz="2800" i="1">
                        <a:latin typeface="Cambria Math" panose="02040503050406030204" pitchFamily="18" charset="0"/>
                        <a:ea typeface="Cambria Math" panose="02040503050406030204" pitchFamily="18" charset="0"/>
                        <a:cs typeface="Times New Roman" panose="02020603050405020304" pitchFamily="18" charset="0"/>
                      </a:rPr>
                      <m:t>+1∈</m:t>
                    </m:r>
                    <m:r>
                      <a:rPr lang="en-US" altLang="zh-TW" sz="2800" i="1">
                        <a:latin typeface="Cambria Math" panose="02040503050406030204" pitchFamily="18" charset="0"/>
                      </a:rPr>
                      <m:t>𝜉</m:t>
                    </m:r>
                    <m:d>
                      <m:dPr>
                        <m:ctrlPr>
                          <a:rPr lang="en-US" altLang="zh-TW" sz="2800" i="1">
                            <a:latin typeface="Cambria Math" panose="02040503050406030204" pitchFamily="18" charset="0"/>
                          </a:rPr>
                        </m:ctrlPr>
                      </m:dPr>
                      <m:e>
                        <m:r>
                          <a:rPr lang="en-US" altLang="zh-TW" sz="2800" i="1">
                            <a:latin typeface="Cambria Math" panose="02040503050406030204" pitchFamily="18" charset="0"/>
                          </a:rPr>
                          <m:t>𝑖</m:t>
                        </m:r>
                        <m:r>
                          <a:rPr lang="en-US" altLang="zh-TW" sz="2800" i="1">
                            <a:latin typeface="Cambria Math" panose="02040503050406030204" pitchFamily="18" charset="0"/>
                          </a:rPr>
                          <m:t>−1</m:t>
                        </m:r>
                      </m:e>
                    </m:d>
                    <m:r>
                      <a:rPr lang="en-US" altLang="zh-TW" sz="2800" i="1">
                        <a:latin typeface="Cambria Math" panose="02040503050406030204" pitchFamily="18" charset="0"/>
                      </a:rPr>
                      <m:t> </m:t>
                    </m:r>
                    <m:r>
                      <a:rPr lang="en-US" altLang="zh-TW" sz="2800" i="1">
                        <a:latin typeface="Cambria Math" panose="02040503050406030204" pitchFamily="18" charset="0"/>
                      </a:rPr>
                      <m:t>𝑖𝑓</m:t>
                    </m:r>
                    <m:r>
                      <a:rPr lang="en-US" altLang="zh-TW" sz="2800" i="1">
                        <a:latin typeface="Cambria Math" panose="02040503050406030204" pitchFamily="18" charset="0"/>
                      </a:rPr>
                      <m:t> </m:t>
                    </m:r>
                    <m:r>
                      <a:rPr lang="en-US" altLang="zh-TW" sz="2800" i="1">
                        <a:latin typeface="Cambria Math" panose="02040503050406030204" pitchFamily="18" charset="0"/>
                      </a:rPr>
                      <m:t>𝑖</m:t>
                    </m:r>
                    <m:r>
                      <a:rPr lang="en-US" altLang="zh-TW" sz="2800" i="1">
                        <a:latin typeface="Cambria Math" panose="02040503050406030204" pitchFamily="18" charset="0"/>
                      </a:rPr>
                      <m:t>−</m:t>
                    </m:r>
                    <m:r>
                      <a:rPr lang="en-US" altLang="zh-TW" sz="2800" i="1">
                        <a:latin typeface="Cambria Math" panose="02040503050406030204" pitchFamily="18" charset="0"/>
                      </a:rPr>
                      <m:t>𝑗</m:t>
                    </m:r>
                    <m:r>
                      <a:rPr lang="zh-TW" altLang="en-US" sz="2800" dirty="0">
                        <a:latin typeface="Cambria Math" panose="02040503050406030204" pitchFamily="18" charset="0"/>
                      </a:rPr>
                      <m:t>≥</m:t>
                    </m:r>
                    <m:r>
                      <a:rPr lang="en-US" altLang="zh-TW" sz="2800" dirty="0">
                        <a:latin typeface="Cambria Math" panose="02040503050406030204" pitchFamily="18" charset="0"/>
                      </a:rPr>
                      <m:t>2</m:t>
                    </m:r>
                  </m:oMath>
                </a14:m>
                <a:endParaRPr lang="en-US" altLang="zh-TW" sz="2800" dirty="0">
                  <a:latin typeface="Times New Roman" panose="02020603050405020304" pitchFamily="18" charset="0"/>
                </a:endParaRPr>
              </a:p>
              <a:p>
                <a:pPr marL="0" indent="0">
                  <a:buNone/>
                </a:pPr>
                <a:endParaRPr lang="en-US" altLang="zh-TW" dirty="0"/>
              </a:p>
              <a:p>
                <a:pPr marL="0" indent="0">
                  <a:buNone/>
                </a:pPr>
                <a:r>
                  <a:rPr lang="en-US" altLang="zh-TW" dirty="0" err="1">
                    <a:latin typeface="Times New Roman" panose="02020603050405020304" pitchFamily="18" charset="0"/>
                    <a:cs typeface="Times New Roman" panose="02020603050405020304" pitchFamily="18" charset="0"/>
                  </a:rPr>
                  <a:t>Thm</a:t>
                </a:r>
                <a:r>
                  <a:rPr lang="en-US" altLang="zh-TW" dirty="0">
                    <a:latin typeface="Times New Roman" panose="02020603050405020304" pitchFamily="18" charset="0"/>
                    <a:cs typeface="Times New Roman" panose="02020603050405020304" pitchFamily="18" charset="0"/>
                  </a:rPr>
                  <a:t> 2:  </a:t>
                </a:r>
                <a14:m>
                  <m:oMath xmlns:m="http://schemas.openxmlformats.org/officeDocument/2006/math">
                    <m:r>
                      <a:rPr lang="en-US" altLang="zh-TW" i="1" dirty="0">
                        <a:latin typeface="Cambria Math" panose="02040503050406030204" pitchFamily="18" charset="0"/>
                        <a:cs typeface="Times New Roman" panose="02020603050405020304" pitchFamily="18" charset="0"/>
                      </a:rPr>
                      <m:t>𝐹𝑜𝑟</m:t>
                    </m:r>
                    <m:r>
                      <a:rPr lang="en-US" altLang="zh-TW" i="1" dirty="0">
                        <a:latin typeface="Cambria Math" panose="02040503050406030204" pitchFamily="18" charset="0"/>
                        <a:cs typeface="Times New Roman" panose="02020603050405020304" pitchFamily="18" charset="0"/>
                      </a:rPr>
                      <m:t> </m:t>
                    </m:r>
                    <m:r>
                      <a:rPr lang="en-US" altLang="zh-TW" i="1" dirty="0">
                        <a:latin typeface="Cambria Math" panose="02040503050406030204" pitchFamily="18" charset="0"/>
                        <a:cs typeface="Times New Roman" panose="02020603050405020304" pitchFamily="18" charset="0"/>
                      </a:rPr>
                      <m:t>𝑒𝑎𝑐h</m:t>
                    </m:r>
                    <m:r>
                      <a:rPr lang="en-US" altLang="zh-TW" i="1" dirty="0">
                        <a:latin typeface="Cambria Math" panose="02040503050406030204" pitchFamily="18" charset="0"/>
                        <a:cs typeface="Times New Roman" panose="02020603050405020304" pitchFamily="18" charset="0"/>
                      </a:rPr>
                      <m:t> 1≤</m:t>
                    </m:r>
                    <m:r>
                      <a:rPr lang="en-US" altLang="zh-TW" i="1">
                        <a:latin typeface="Cambria Math" panose="02040503050406030204" pitchFamily="18" charset="0"/>
                        <a:ea typeface="Cambria Math" panose="02040503050406030204" pitchFamily="18" charset="0"/>
                        <a:cs typeface="Times New Roman" panose="02020603050405020304" pitchFamily="18" charset="0"/>
                      </a:rPr>
                      <m:t>𝑖</m:t>
                    </m:r>
                    <m:r>
                      <a:rPr lang="en-US" altLang="zh-TW" i="1">
                        <a:latin typeface="Cambria Math" panose="02040503050406030204" pitchFamily="18" charset="0"/>
                        <a:ea typeface="Cambria Math" panose="02040503050406030204" pitchFamily="18" charset="0"/>
                        <a:cs typeface="Times New Roman" panose="02020603050405020304" pitchFamily="18" charset="0"/>
                      </a:rPr>
                      <m:t>≤</m:t>
                    </m:r>
                    <m:r>
                      <a:rPr lang="en-US" altLang="zh-TW" i="1">
                        <a:latin typeface="Cambria Math" panose="02040503050406030204" pitchFamily="18" charset="0"/>
                        <a:ea typeface="Cambria Math" panose="02040503050406030204" pitchFamily="18" charset="0"/>
                        <a:cs typeface="Times New Roman" panose="02020603050405020304" pitchFamily="18" charset="0"/>
                      </a:rPr>
                      <m:t>𝑛</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 , </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𝑓</m:t>
                    </m:r>
                    <m:d>
                      <m:d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𝑖</m:t>
                        </m:r>
                      </m:e>
                    </m:d>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altLang="zh-TW" b="0" i="0" smtClean="0">
                        <a:latin typeface="Cambria Math" panose="02040503050406030204" pitchFamily="18" charset="0"/>
                        <a:ea typeface="Cambria Math" panose="02040503050406030204" pitchFamily="18" charset="0"/>
                        <a:cs typeface="Times New Roman" panose="02020603050405020304" pitchFamily="18" charset="0"/>
                      </a:rPr>
                      <m:t>min</m:t>
                    </m:r>
                  </m:oMath>
                </a14:m>
                <a:r>
                  <a:rPr lang="en-US" altLang="zh-TW" dirty="0"/>
                  <a:t>{ </a:t>
                </a:r>
                <a14:m>
                  <m:oMath xmlns:m="http://schemas.openxmlformats.org/officeDocument/2006/math">
                    <m:r>
                      <a:rPr lang="zh-TW" altLang="en-US" i="1" smtClean="0">
                        <a:latin typeface="Cambria Math" panose="02040503050406030204" pitchFamily="18" charset="0"/>
                      </a:rPr>
                      <m:t>𝛼</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𝑖</m:t>
                        </m:r>
                      </m:e>
                    </m:d>
                    <m:r>
                      <a:rPr lang="en-US" altLang="zh-TW" b="0" i="1" smtClean="0">
                        <a:latin typeface="Cambria Math" panose="02040503050406030204" pitchFamily="18" charset="0"/>
                      </a:rPr>
                      <m:t> , </m:t>
                    </m:r>
                    <m:r>
                      <a:rPr lang="zh-TW" altLang="en-US" b="0" i="1" smtClean="0">
                        <a:latin typeface="Cambria Math" panose="02040503050406030204" pitchFamily="18" charset="0"/>
                      </a:rPr>
                      <m:t>𝛽</m:t>
                    </m:r>
                    <m:r>
                      <a:rPr lang="en-US" altLang="zh-TW" b="0" i="1" smtClean="0">
                        <a:latin typeface="Cambria Math" panose="02040503050406030204" pitchFamily="18" charset="0"/>
                      </a:rPr>
                      <m:t>(</m:t>
                    </m:r>
                    <m:r>
                      <a:rPr lang="en-US" altLang="zh-TW" b="0" i="1" smtClean="0">
                        <a:latin typeface="Cambria Math" panose="02040503050406030204" pitchFamily="18" charset="0"/>
                      </a:rPr>
                      <m:t>𝑖</m:t>
                    </m:r>
                    <m:r>
                      <a:rPr lang="en-US" altLang="zh-TW" b="0" i="1" smtClean="0">
                        <a:latin typeface="Cambria Math" panose="02040503050406030204" pitchFamily="18" charset="0"/>
                      </a:rPr>
                      <m:t>)</m:t>
                    </m:r>
                  </m:oMath>
                </a14:m>
                <a:r>
                  <a:rPr lang="en-US" altLang="zh-TW" dirty="0"/>
                  <a:t> }</a:t>
                </a:r>
              </a:p>
              <a:p>
                <a:pPr marL="0" indent="0">
                  <a:buNone/>
                </a:pPr>
                <a:endParaRPr lang="en-US" altLang="zh-TW" dirty="0"/>
              </a:p>
              <a:p>
                <a:endParaRPr lang="zh-TW" altLang="en-US" dirty="0"/>
              </a:p>
            </p:txBody>
          </p:sp>
        </mc:Choice>
        <mc:Fallback>
          <p:sp>
            <p:nvSpPr>
              <p:cNvPr id="3" name="內容版面配置區 2">
                <a:extLst>
                  <a:ext uri="{FF2B5EF4-FFF2-40B4-BE49-F238E27FC236}">
                    <a16:creationId xmlns:a16="http://schemas.microsoft.com/office/drawing/2014/main" id="{8C2FE73B-CC0F-414F-853C-1E73B6529BED}"/>
                  </a:ext>
                </a:extLst>
              </p:cNvPr>
              <p:cNvSpPr>
                <a:spLocks noGrp="1" noRot="1" noChangeAspect="1" noMove="1" noResize="1" noEditPoints="1" noAdjustHandles="1" noChangeArrowheads="1" noChangeShapeType="1" noTextEdit="1"/>
              </p:cNvSpPr>
              <p:nvPr>
                <p:ph idx="1"/>
              </p:nvPr>
            </p:nvSpPr>
            <p:spPr>
              <a:blipFill>
                <a:blip r:embed="rId2"/>
                <a:stretch>
                  <a:fillRect l="-1217" t="-252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804860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A3740C8-1CDA-45B3-9B77-ED597C35A1D9}"/>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Algorithm</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E83C6EE3-1038-4AE2-AC26-C40B5C41BBBB}"/>
                  </a:ext>
                </a:extLst>
              </p:cNvPr>
              <p:cNvSpPr>
                <a:spLocks noGrp="1"/>
              </p:cNvSpPr>
              <p:nvPr>
                <p:ph idx="1"/>
              </p:nvPr>
            </p:nvSpPr>
            <p:spPr>
              <a:xfrm>
                <a:off x="1249960" y="1825625"/>
                <a:ext cx="10103840" cy="4351338"/>
              </a:xfrm>
            </p:spPr>
            <p:txBody>
              <a:bodyPr/>
              <a:lstStyle/>
              <a:p>
                <a:r>
                  <a:rPr lang="en-US" altLang="zh-TW" dirty="0">
                    <a:latin typeface="Times New Roman" panose="02020603050405020304" pitchFamily="18" charset="0"/>
                    <a:cs typeface="Times New Roman" panose="02020603050405020304" pitchFamily="18" charset="0"/>
                  </a:rPr>
                  <a:t>Ex:   x = T A G </a:t>
                </a:r>
                <a:r>
                  <a:rPr lang="en-US" altLang="zh-TW" dirty="0" err="1">
                    <a:latin typeface="Times New Roman" panose="02020603050405020304" pitchFamily="18" charset="0"/>
                    <a:cs typeface="Times New Roman" panose="02020603050405020304" pitchFamily="18" charset="0"/>
                  </a:rPr>
                  <a:t>G</a:t>
                </a:r>
                <a:r>
                  <a:rPr lang="en-US" altLang="zh-TW" dirty="0">
                    <a:latin typeface="Times New Roman" panose="02020603050405020304" pitchFamily="18" charset="0"/>
                    <a:cs typeface="Times New Roman" panose="02020603050405020304" pitchFamily="18" charset="0"/>
                  </a:rPr>
                  <a:t> A C T C</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        </a:t>
                </a:r>
                <a:r>
                  <a:rPr lang="en-US" altLang="zh-TW" sz="1400"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y = T C</a:t>
                </a:r>
                <a:r>
                  <a:rPr lang="en-US" altLang="zh-TW" sz="1200" dirty="0">
                    <a:latin typeface="Times New Roman" panose="02020603050405020304" pitchFamily="18" charset="0"/>
                    <a:cs typeface="Times New Roman" panose="02020603050405020304" pitchFamily="18" charset="0"/>
                  </a:rPr>
                  <a:t> </a:t>
                </a:r>
                <a:r>
                  <a:rPr lang="en-US" altLang="zh-TW" sz="1400"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T </a:t>
                </a:r>
                <a:r>
                  <a:rPr lang="en-US" altLang="zh-TW" sz="1400"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G A</a:t>
                </a:r>
                <a:r>
                  <a:rPr lang="en-US" altLang="zh-TW" sz="1100"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G A G</a:t>
                </a:r>
              </a:p>
              <a:p>
                <a:endParaRPr lang="en-US" altLang="zh-TW" sz="1800"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         f = (0, </a:t>
                </a:r>
                <a14:m>
                  <m:oMath xmlns:m="http://schemas.openxmlformats.org/officeDocument/2006/math">
                    <m:r>
                      <a:rPr lang="en-US" altLang="zh-TW" smtClean="0">
                        <a:latin typeface="Cambria Math" panose="02040503050406030204" pitchFamily="18" charset="0"/>
                      </a:rPr>
                      <m:t>∞</m:t>
                    </m:r>
                  </m:oMath>
                </a14:m>
                <a:r>
                  <a:rPr lang="en-US" altLang="zh-TW" dirty="0">
                    <a:latin typeface="Times New Roman" panose="02020603050405020304" pitchFamily="18" charset="0"/>
                    <a:cs typeface="Times New Roman" panose="02020603050405020304" pitchFamily="18" charset="0"/>
                  </a:rPr>
                  <a:t>, 1, 1, 1, 2, 3, 2) </a:t>
                </a:r>
              </a:p>
              <a:p>
                <a:pPr marL="0" indent="0">
                  <a:buNone/>
                </a:pPr>
                <a:r>
                  <a:rPr lang="en-US" altLang="zh-TW" dirty="0">
                    <a:latin typeface="Times New Roman" panose="02020603050405020304" pitchFamily="18" charset="0"/>
                    <a:cs typeface="Times New Roman" panose="02020603050405020304" pitchFamily="18" charset="0"/>
                  </a:rPr>
                  <a:t>         t = (0,  0</a:t>
                </a:r>
                <a:r>
                  <a:rPr lang="en-US" altLang="zh-TW" sz="1600"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 2, 0, 0, 6, 7, 6)</a:t>
                </a:r>
                <a:endParaRPr lang="zh-TW" altLang="en-US" dirty="0"/>
              </a:p>
            </p:txBody>
          </p:sp>
        </mc:Choice>
        <mc:Fallback>
          <p:sp>
            <p:nvSpPr>
              <p:cNvPr id="3" name="內容版面配置區 2">
                <a:extLst>
                  <a:ext uri="{FF2B5EF4-FFF2-40B4-BE49-F238E27FC236}">
                    <a16:creationId xmlns:a16="http://schemas.microsoft.com/office/drawing/2014/main" id="{E83C6EE3-1038-4AE2-AC26-C40B5C41BBBB}"/>
                  </a:ext>
                </a:extLst>
              </p:cNvPr>
              <p:cNvSpPr>
                <a:spLocks noGrp="1" noRot="1" noChangeAspect="1" noMove="1" noResize="1" noEditPoints="1" noAdjustHandles="1" noChangeArrowheads="1" noChangeShapeType="1" noTextEdit="1"/>
              </p:cNvSpPr>
              <p:nvPr>
                <p:ph idx="1"/>
              </p:nvPr>
            </p:nvSpPr>
            <p:spPr>
              <a:xfrm>
                <a:off x="1249960" y="1825625"/>
                <a:ext cx="10103840" cy="4351338"/>
              </a:xfrm>
              <a:blipFill>
                <a:blip r:embed="rId2"/>
                <a:stretch>
                  <a:fillRect l="-1086" t="-2381"/>
                </a:stretch>
              </a:blipFill>
            </p:spPr>
            <p:txBody>
              <a:bodyPr/>
              <a:lstStyle/>
              <a:p>
                <a:r>
                  <a:rPr lang="zh-TW" altLang="en-US">
                    <a:noFill/>
                  </a:rPr>
                  <a:t> </a:t>
                </a:r>
              </a:p>
            </p:txBody>
          </p:sp>
        </mc:Fallback>
      </mc:AlternateContent>
      <p:sp>
        <p:nvSpPr>
          <p:cNvPr id="4" name="文字方塊 3">
            <a:extLst>
              <a:ext uri="{FF2B5EF4-FFF2-40B4-BE49-F238E27FC236}">
                <a16:creationId xmlns:a16="http://schemas.microsoft.com/office/drawing/2014/main" id="{02225344-C22A-4574-97D5-023426FB9828}"/>
              </a:ext>
            </a:extLst>
          </p:cNvPr>
          <p:cNvSpPr txBox="1"/>
          <p:nvPr/>
        </p:nvSpPr>
        <p:spPr>
          <a:xfrm>
            <a:off x="1481359" y="4327073"/>
            <a:ext cx="3211936"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Queue </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    0      0 0</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5" name="表格 4">
            <a:extLst>
              <a:ext uri="{FF2B5EF4-FFF2-40B4-BE49-F238E27FC236}">
                <a16:creationId xmlns:a16="http://schemas.microsoft.com/office/drawing/2014/main" id="{5447D012-6CBA-4263-84DC-EE117A6EBE60}"/>
              </a:ext>
            </a:extLst>
          </p:cNvPr>
          <p:cNvGraphicFramePr>
            <a:graphicFrameLocks noGrp="1"/>
          </p:cNvGraphicFramePr>
          <p:nvPr>
            <p:extLst>
              <p:ext uri="{D42A27DB-BD31-4B8C-83A1-F6EECF244321}">
                <p14:modId xmlns:p14="http://schemas.microsoft.com/office/powerpoint/2010/main" val="3237099372"/>
              </p:ext>
            </p:extLst>
          </p:nvPr>
        </p:nvGraphicFramePr>
        <p:xfrm>
          <a:off x="2733066" y="4327073"/>
          <a:ext cx="6446497" cy="1483360"/>
        </p:xfrm>
        <a:graphic>
          <a:graphicData uri="http://schemas.openxmlformats.org/drawingml/2006/table">
            <a:tbl>
              <a:tblPr firstRow="1" bandRow="1">
                <a:tableStyleId>{5C22544A-7EE6-4342-B048-85BDC9FD1C3A}</a:tableStyleId>
              </a:tblPr>
              <a:tblGrid>
                <a:gridCol w="911317">
                  <a:extLst>
                    <a:ext uri="{9D8B030D-6E8A-4147-A177-3AD203B41FA5}">
                      <a16:colId xmlns:a16="http://schemas.microsoft.com/office/drawing/2014/main" val="3347617057"/>
                    </a:ext>
                  </a:extLst>
                </a:gridCol>
                <a:gridCol w="922530">
                  <a:extLst>
                    <a:ext uri="{9D8B030D-6E8A-4147-A177-3AD203B41FA5}">
                      <a16:colId xmlns:a16="http://schemas.microsoft.com/office/drawing/2014/main" val="1973494612"/>
                    </a:ext>
                  </a:extLst>
                </a:gridCol>
                <a:gridCol w="922530">
                  <a:extLst>
                    <a:ext uri="{9D8B030D-6E8A-4147-A177-3AD203B41FA5}">
                      <a16:colId xmlns:a16="http://schemas.microsoft.com/office/drawing/2014/main" val="4071953137"/>
                    </a:ext>
                  </a:extLst>
                </a:gridCol>
                <a:gridCol w="922530">
                  <a:extLst>
                    <a:ext uri="{9D8B030D-6E8A-4147-A177-3AD203B41FA5}">
                      <a16:colId xmlns:a16="http://schemas.microsoft.com/office/drawing/2014/main" val="3389144940"/>
                    </a:ext>
                  </a:extLst>
                </a:gridCol>
                <a:gridCol w="922530">
                  <a:extLst>
                    <a:ext uri="{9D8B030D-6E8A-4147-A177-3AD203B41FA5}">
                      <a16:colId xmlns:a16="http://schemas.microsoft.com/office/drawing/2014/main" val="1585234730"/>
                    </a:ext>
                  </a:extLst>
                </a:gridCol>
                <a:gridCol w="922530">
                  <a:extLst>
                    <a:ext uri="{9D8B030D-6E8A-4147-A177-3AD203B41FA5}">
                      <a16:colId xmlns:a16="http://schemas.microsoft.com/office/drawing/2014/main" val="3264214055"/>
                    </a:ext>
                  </a:extLst>
                </a:gridCol>
                <a:gridCol w="922530">
                  <a:extLst>
                    <a:ext uri="{9D8B030D-6E8A-4147-A177-3AD203B41FA5}">
                      <a16:colId xmlns:a16="http://schemas.microsoft.com/office/drawing/2014/main" val="3424338757"/>
                    </a:ext>
                  </a:extLst>
                </a:gridCol>
              </a:tblGrid>
              <a:tr h="370840">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8</a:t>
                      </a:r>
                      <a:endParaRPr lang="zh-TW" altLang="en-US" dirty="0"/>
                    </a:p>
                  </a:txBody>
                  <a:tcPr/>
                </a:tc>
                <a:extLst>
                  <a:ext uri="{0D108BD9-81ED-4DB2-BD59-A6C34878D82A}">
                    <a16:rowId xmlns:a16="http://schemas.microsoft.com/office/drawing/2014/main" val="1546078368"/>
                  </a:ext>
                </a:extLst>
              </a:tr>
              <a:tr h="370840">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2</a:t>
                      </a:r>
                      <a:endParaRPr lang="zh-TW" altLang="en-US" dirty="0"/>
                    </a:p>
                  </a:txBody>
                  <a:tcPr/>
                </a:tc>
                <a:tc>
                  <a:txBody>
                    <a:bodyPr/>
                    <a:lstStyle/>
                    <a:p>
                      <a:pPr algn="ct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6</a:t>
                      </a:r>
                      <a:endParaRPr lang="zh-TW" altLang="en-US" dirty="0"/>
                    </a:p>
                  </a:txBody>
                  <a:tcPr/>
                </a:tc>
                <a:extLst>
                  <a:ext uri="{0D108BD9-81ED-4DB2-BD59-A6C34878D82A}">
                    <a16:rowId xmlns:a16="http://schemas.microsoft.com/office/drawing/2014/main" val="3958938706"/>
                  </a:ext>
                </a:extLst>
              </a:tr>
              <a:tr h="370840">
                <a:tc>
                  <a:txBody>
                    <a:bodyPr/>
                    <a:lstStyle/>
                    <a:p>
                      <a:pPr algn="ctr"/>
                      <a:endParaRPr lang="zh-TW" altLang="en-US"/>
                    </a:p>
                  </a:txBody>
                  <a:tcPr/>
                </a:tc>
                <a:tc>
                  <a:txBody>
                    <a:bodyPr/>
                    <a:lstStyle/>
                    <a:p>
                      <a:pPr algn="ctr"/>
                      <a:endParaRPr lang="zh-TW" altLang="en-US"/>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8</a:t>
                      </a:r>
                      <a:endParaRPr lang="zh-TW" altLang="en-US" dirty="0"/>
                    </a:p>
                  </a:txBody>
                  <a:tcPr/>
                </a:tc>
                <a:extLst>
                  <a:ext uri="{0D108BD9-81ED-4DB2-BD59-A6C34878D82A}">
                    <a16:rowId xmlns:a16="http://schemas.microsoft.com/office/drawing/2014/main" val="514469947"/>
                  </a:ext>
                </a:extLst>
              </a:tr>
              <a:tr h="370840">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a:t>0</a:t>
                      </a:r>
                      <a:endParaRPr lang="zh-TW" altLang="en-US" dirty="0"/>
                    </a:p>
                  </a:txBody>
                  <a:tcPr/>
                </a:tc>
                <a:extLst>
                  <a:ext uri="{0D108BD9-81ED-4DB2-BD59-A6C34878D82A}">
                    <a16:rowId xmlns:a16="http://schemas.microsoft.com/office/drawing/2014/main" val="1284706686"/>
                  </a:ext>
                </a:extLst>
              </a:tr>
            </a:tbl>
          </a:graphicData>
        </a:graphic>
      </p:graphicFrame>
    </p:spTree>
    <p:extLst>
      <p:ext uri="{BB962C8B-B14F-4D97-AF65-F5344CB8AC3E}">
        <p14:creationId xmlns:p14="http://schemas.microsoft.com/office/powerpoint/2010/main" val="4246055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C39E04-BA8A-4D4A-A853-A5C59B8C632A}"/>
              </a:ext>
            </a:extLst>
          </p:cNvPr>
          <p:cNvSpPr>
            <a:spLocks noGrp="1"/>
          </p:cNvSpPr>
          <p:nvPr>
            <p:ph type="title"/>
          </p:nvPr>
        </p:nvSpPr>
        <p:spPr/>
        <p:txBody>
          <a:bodyPr/>
          <a:lstStyle/>
          <a:p>
            <a:endParaRPr lang="zh-TW" altLang="en-US" dirty="0"/>
          </a:p>
        </p:txBody>
      </p:sp>
      <p:sp>
        <p:nvSpPr>
          <p:cNvPr id="3" name="內容版面配置區 2">
            <a:extLst>
              <a:ext uri="{FF2B5EF4-FFF2-40B4-BE49-F238E27FC236}">
                <a16:creationId xmlns:a16="http://schemas.microsoft.com/office/drawing/2014/main" id="{EE920AAF-95F5-41A5-8430-70B23B625BFC}"/>
              </a:ext>
            </a:extLst>
          </p:cNvPr>
          <p:cNvSpPr>
            <a:spLocks noGrp="1"/>
          </p:cNvSpPr>
          <p:nvPr>
            <p:ph idx="1"/>
          </p:nvPr>
        </p:nvSpPr>
        <p:spPr/>
        <p:txBody>
          <a:bodyPr/>
          <a:lstStyle/>
          <a:p>
            <a:endParaRPr lang="zh-TW" altLang="en-US" dirty="0"/>
          </a:p>
        </p:txBody>
      </p:sp>
      <p:pic>
        <p:nvPicPr>
          <p:cNvPr id="4" name="圖片 3">
            <a:extLst>
              <a:ext uri="{FF2B5EF4-FFF2-40B4-BE49-F238E27FC236}">
                <a16:creationId xmlns:a16="http://schemas.microsoft.com/office/drawing/2014/main" id="{FC25249C-F738-48F1-9039-299C8FE414A5}"/>
              </a:ext>
            </a:extLst>
          </p:cNvPr>
          <p:cNvPicPr>
            <a:picLocks noChangeAspect="1"/>
          </p:cNvPicPr>
          <p:nvPr/>
        </p:nvPicPr>
        <p:blipFill>
          <a:blip r:embed="rId2"/>
          <a:stretch>
            <a:fillRect/>
          </a:stretch>
        </p:blipFill>
        <p:spPr>
          <a:xfrm>
            <a:off x="697753" y="1825625"/>
            <a:ext cx="5534025" cy="3543300"/>
          </a:xfrm>
          <a:prstGeom prst="rect">
            <a:avLst/>
          </a:prstGeom>
        </p:spPr>
      </p:pic>
      <p:pic>
        <p:nvPicPr>
          <p:cNvPr id="5" name="圖片 4">
            <a:extLst>
              <a:ext uri="{FF2B5EF4-FFF2-40B4-BE49-F238E27FC236}">
                <a16:creationId xmlns:a16="http://schemas.microsoft.com/office/drawing/2014/main" id="{97DB191B-1553-4D83-B181-EDAC9ABF4A85}"/>
              </a:ext>
            </a:extLst>
          </p:cNvPr>
          <p:cNvPicPr>
            <a:picLocks noChangeAspect="1"/>
          </p:cNvPicPr>
          <p:nvPr/>
        </p:nvPicPr>
        <p:blipFill>
          <a:blip r:embed="rId3"/>
          <a:stretch>
            <a:fillRect/>
          </a:stretch>
        </p:blipFill>
        <p:spPr>
          <a:xfrm>
            <a:off x="6640139" y="1290134"/>
            <a:ext cx="4305300" cy="4514850"/>
          </a:xfrm>
          <a:prstGeom prst="rect">
            <a:avLst/>
          </a:prstGeom>
        </p:spPr>
      </p:pic>
    </p:spTree>
    <p:extLst>
      <p:ext uri="{BB962C8B-B14F-4D97-AF65-F5344CB8AC3E}">
        <p14:creationId xmlns:p14="http://schemas.microsoft.com/office/powerpoint/2010/main" val="36036498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C6BA16-420C-468A-8E24-A77D5AE8D81F}"/>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A7353A61-6BC0-429A-A24C-D8C93FBDA34F}"/>
              </a:ext>
            </a:extLst>
          </p:cNvPr>
          <p:cNvSpPr>
            <a:spLocks noGrp="1"/>
          </p:cNvSpPr>
          <p:nvPr>
            <p:ph idx="1"/>
          </p:nvPr>
        </p:nvSpPr>
        <p:spPr/>
        <p:txBody>
          <a:bodyPr/>
          <a:lstStyle/>
          <a:p>
            <a:endParaRPr lang="zh-TW" altLang="en-US"/>
          </a:p>
        </p:txBody>
      </p:sp>
      <p:pic>
        <p:nvPicPr>
          <p:cNvPr id="4" name="圖片 3">
            <a:extLst>
              <a:ext uri="{FF2B5EF4-FFF2-40B4-BE49-F238E27FC236}">
                <a16:creationId xmlns:a16="http://schemas.microsoft.com/office/drawing/2014/main" id="{F59CC72C-6853-4AF6-A1B6-3EE293141D61}"/>
              </a:ext>
            </a:extLst>
          </p:cNvPr>
          <p:cNvPicPr>
            <a:picLocks noChangeAspect="1"/>
          </p:cNvPicPr>
          <p:nvPr/>
        </p:nvPicPr>
        <p:blipFill>
          <a:blip r:embed="rId2"/>
          <a:stretch>
            <a:fillRect/>
          </a:stretch>
        </p:blipFill>
        <p:spPr>
          <a:xfrm>
            <a:off x="508151" y="1825625"/>
            <a:ext cx="4333875" cy="3743325"/>
          </a:xfrm>
          <a:prstGeom prst="rect">
            <a:avLst/>
          </a:prstGeom>
        </p:spPr>
      </p:pic>
      <p:pic>
        <p:nvPicPr>
          <p:cNvPr id="5" name="圖片 4">
            <a:extLst>
              <a:ext uri="{FF2B5EF4-FFF2-40B4-BE49-F238E27FC236}">
                <a16:creationId xmlns:a16="http://schemas.microsoft.com/office/drawing/2014/main" id="{6D7E06DA-7DE4-4FAC-879C-58BDD336E945}"/>
              </a:ext>
            </a:extLst>
          </p:cNvPr>
          <p:cNvPicPr>
            <a:picLocks noChangeAspect="1"/>
          </p:cNvPicPr>
          <p:nvPr/>
        </p:nvPicPr>
        <p:blipFill>
          <a:blip r:embed="rId3"/>
          <a:stretch>
            <a:fillRect/>
          </a:stretch>
        </p:blipFill>
        <p:spPr>
          <a:xfrm>
            <a:off x="5013745" y="1963737"/>
            <a:ext cx="5934075" cy="3467100"/>
          </a:xfrm>
          <a:prstGeom prst="rect">
            <a:avLst/>
          </a:prstGeom>
        </p:spPr>
      </p:pic>
    </p:spTree>
    <p:extLst>
      <p:ext uri="{BB962C8B-B14F-4D97-AF65-F5344CB8AC3E}">
        <p14:creationId xmlns:p14="http://schemas.microsoft.com/office/powerpoint/2010/main" val="2944566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6059678-4ED5-44F9-85A0-20932671A6CB}"/>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Time and Space complexity</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6DF5FC0F-FDE0-4D69-91AE-A025D722E524}"/>
                  </a:ext>
                </a:extLst>
              </p:cNvPr>
              <p:cNvSpPr>
                <a:spLocks noGrp="1"/>
              </p:cNvSpPr>
              <p:nvPr>
                <p:ph idx="1"/>
              </p:nvPr>
            </p:nvSpPr>
            <p:spPr>
              <a:xfrm>
                <a:off x="838200" y="1825625"/>
                <a:ext cx="10515600" cy="4351338"/>
              </a:xfrm>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Space complexity</a:t>
                </a:r>
              </a:p>
              <a:p>
                <a:pPr marL="0" indent="0">
                  <a:buNone/>
                </a:pPr>
                <a:r>
                  <a:rPr lang="en-US" altLang="zh-TW" dirty="0">
                    <a:latin typeface="Times New Roman" panose="02020603050405020304" pitchFamily="18" charset="0"/>
                    <a:cs typeface="Times New Roman" panose="02020603050405020304" pitchFamily="18" charset="0"/>
                  </a:rPr>
                  <a:t>1.  </a:t>
                </a:r>
                <a14:m>
                  <m:oMath xmlns:m="http://schemas.openxmlformats.org/officeDocument/2006/math">
                    <m:r>
                      <a:rPr lang="en-US" altLang="zh-TW" i="1">
                        <a:latin typeface="Cambria Math" panose="02040503050406030204" pitchFamily="18" charset="0"/>
                      </a:rPr>
                      <m:t>𝑓</m:t>
                    </m:r>
                    <m:d>
                      <m:dPr>
                        <m:ctrlPr>
                          <a:rPr lang="en-US" altLang="zh-TW" i="1">
                            <a:latin typeface="Cambria Math" panose="02040503050406030204" pitchFamily="18" charset="0"/>
                          </a:rPr>
                        </m:ctrlPr>
                      </m:dPr>
                      <m:e>
                        <m:r>
                          <a:rPr lang="en-US" altLang="zh-TW" i="1">
                            <a:latin typeface="Cambria Math" panose="02040503050406030204" pitchFamily="18" charset="0"/>
                          </a:rPr>
                          <m:t>𝑖</m:t>
                        </m:r>
                      </m:e>
                    </m:d>
                    <m:r>
                      <a:rPr lang="en-US" altLang="zh-TW" i="1">
                        <a:latin typeface="Cambria Math" panose="02040503050406030204" pitchFamily="18" charset="0"/>
                      </a:rPr>
                      <m:t> :</m:t>
                    </m:r>
                    <m:r>
                      <a:rPr lang="en-US" altLang="zh-TW" i="1">
                        <a:latin typeface="Cambria Math" panose="02040503050406030204" pitchFamily="18" charset="0"/>
                      </a:rPr>
                      <m:t>𝑂</m:t>
                    </m:r>
                    <m:r>
                      <a:rPr lang="en-US" altLang="zh-TW" i="1">
                        <a:latin typeface="Cambria Math" panose="02040503050406030204" pitchFamily="18" charset="0"/>
                      </a:rPr>
                      <m:t>(</m:t>
                    </m:r>
                    <m:r>
                      <a:rPr lang="en-US" altLang="zh-TW" i="1">
                        <a:latin typeface="Cambria Math" panose="02040503050406030204" pitchFamily="18" charset="0"/>
                      </a:rPr>
                      <m:t>𝑛</m:t>
                    </m:r>
                    <m:r>
                      <a:rPr lang="en-US" altLang="zh-TW" i="1">
                        <a:latin typeface="Cambria Math" panose="02040503050406030204" pitchFamily="18" charset="0"/>
                      </a:rPr>
                      <m:t>)</m:t>
                    </m:r>
                  </m:oMath>
                </a14:m>
                <a:endParaRPr lang="en-US" altLang="zh-TW" dirty="0"/>
              </a:p>
              <a:p>
                <a:pPr marL="0" indent="0">
                  <a:buNone/>
                </a:pPr>
                <a:r>
                  <a:rPr lang="en-US" altLang="zh-TW" dirty="0">
                    <a:latin typeface="Times New Roman" panose="02020603050405020304" pitchFamily="18" charset="0"/>
                    <a:cs typeface="Times New Roman" panose="02020603050405020304" pitchFamily="18" charset="0"/>
                  </a:rPr>
                  <a:t>2.  </a:t>
                </a:r>
                <a14:m>
                  <m:oMath xmlns:m="http://schemas.openxmlformats.org/officeDocument/2006/math">
                    <m:r>
                      <a:rPr lang="en-US" altLang="zh-TW" i="1">
                        <a:latin typeface="Cambria Math" panose="02040503050406030204" pitchFamily="18" charset="0"/>
                      </a:rPr>
                      <m:t>𝑡</m:t>
                    </m:r>
                    <m:d>
                      <m:dPr>
                        <m:ctrlPr>
                          <a:rPr lang="en-US" altLang="zh-TW" i="1">
                            <a:latin typeface="Cambria Math" panose="02040503050406030204" pitchFamily="18" charset="0"/>
                          </a:rPr>
                        </m:ctrlPr>
                      </m:dPr>
                      <m:e>
                        <m:r>
                          <a:rPr lang="en-US" altLang="zh-TW" i="1">
                            <a:latin typeface="Cambria Math" panose="02040503050406030204" pitchFamily="18" charset="0"/>
                          </a:rPr>
                          <m:t>𝑖</m:t>
                        </m:r>
                      </m:e>
                    </m:d>
                    <m:r>
                      <a:rPr lang="en-US" altLang="zh-TW" i="1">
                        <a:latin typeface="Cambria Math" panose="02040503050406030204" pitchFamily="18" charset="0"/>
                      </a:rPr>
                      <m:t> :</m:t>
                    </m:r>
                    <m:r>
                      <a:rPr lang="en-US" altLang="zh-TW" i="1">
                        <a:latin typeface="Cambria Math" panose="02040503050406030204" pitchFamily="18" charset="0"/>
                      </a:rPr>
                      <m:t>𝑂</m:t>
                    </m:r>
                    <m:r>
                      <a:rPr lang="en-US" altLang="zh-TW" i="1">
                        <a:latin typeface="Cambria Math" panose="02040503050406030204" pitchFamily="18" charset="0"/>
                      </a:rPr>
                      <m:t>(</m:t>
                    </m:r>
                    <m:r>
                      <a:rPr lang="en-US" altLang="zh-TW" i="1">
                        <a:latin typeface="Cambria Math" panose="02040503050406030204" pitchFamily="18" charset="0"/>
                      </a:rPr>
                      <m:t>𝑛</m:t>
                    </m:r>
                    <m:r>
                      <a:rPr lang="en-US" altLang="zh-TW" i="1">
                        <a:latin typeface="Cambria Math" panose="02040503050406030204" pitchFamily="18" charset="0"/>
                      </a:rPr>
                      <m:t>)</m:t>
                    </m:r>
                  </m:oMath>
                </a14:m>
                <a:r>
                  <a:rPr lang="en-US" altLang="zh-TW" dirty="0">
                    <a:latin typeface="Times New Roman" panose="02020603050405020304" pitchFamily="18" charset="0"/>
                    <a:cs typeface="Times New Roman" panose="02020603050405020304" pitchFamily="18" charset="0"/>
                  </a:rPr>
                  <a:t>                        </a:t>
                </a:r>
              </a:p>
              <a:p>
                <a:pPr marL="0" indent="0">
                  <a:buNone/>
                </a:pPr>
                <a:r>
                  <a:rPr lang="en-US" altLang="zh-TW" dirty="0">
                    <a:latin typeface="Times New Roman" panose="02020603050405020304" pitchFamily="18" charset="0"/>
                    <a:cs typeface="Times New Roman" panose="02020603050405020304" pitchFamily="18" charset="0"/>
                  </a:rPr>
                  <a:t>3.  </a:t>
                </a:r>
                <a14:m>
                  <m:oMath xmlns:m="http://schemas.openxmlformats.org/officeDocument/2006/math">
                    <m:r>
                      <a:rPr lang="en-US" altLang="zh-TW" i="1">
                        <a:latin typeface="Cambria Math" panose="02040503050406030204" pitchFamily="18" charset="0"/>
                      </a:rPr>
                      <m:t>𝜉</m:t>
                    </m:r>
                    <m:d>
                      <m:dPr>
                        <m:ctrlPr>
                          <a:rPr lang="en-US" altLang="zh-TW" i="1">
                            <a:latin typeface="Cambria Math" panose="02040503050406030204" pitchFamily="18" charset="0"/>
                          </a:rPr>
                        </m:ctrlPr>
                      </m:dPr>
                      <m:e>
                        <m:r>
                          <a:rPr lang="en-US" altLang="zh-TW" i="1">
                            <a:latin typeface="Cambria Math" panose="02040503050406030204" pitchFamily="18" charset="0"/>
                          </a:rPr>
                          <m:t>𝑖</m:t>
                        </m:r>
                        <m:r>
                          <a:rPr lang="en-US" altLang="zh-TW" i="1">
                            <a:latin typeface="Cambria Math" panose="02040503050406030204" pitchFamily="18" charset="0"/>
                          </a:rPr>
                          <m:t>−1</m:t>
                        </m:r>
                      </m:e>
                    </m:d>
                    <m:r>
                      <a:rPr lang="en-US" altLang="zh-TW" i="1">
                        <a:latin typeface="Cambria Math" panose="02040503050406030204" pitchFamily="18" charset="0"/>
                      </a:rPr>
                      <m:t> &amp; </m:t>
                    </m:r>
                    <m:r>
                      <a:rPr lang="en-US" altLang="zh-TW" i="1">
                        <a:latin typeface="Cambria Math" panose="02040503050406030204" pitchFamily="18" charset="0"/>
                      </a:rPr>
                      <m:t>𝜉</m:t>
                    </m:r>
                    <m:d>
                      <m:dPr>
                        <m:ctrlPr>
                          <a:rPr lang="en-US" altLang="zh-TW" i="1">
                            <a:latin typeface="Cambria Math" panose="02040503050406030204" pitchFamily="18" charset="0"/>
                          </a:rPr>
                        </m:ctrlPr>
                      </m:dPr>
                      <m:e>
                        <m:r>
                          <a:rPr lang="en-US" altLang="zh-TW" i="1">
                            <a:latin typeface="Cambria Math" panose="02040503050406030204" pitchFamily="18" charset="0"/>
                          </a:rPr>
                          <m:t>𝑖</m:t>
                        </m:r>
                      </m:e>
                    </m:d>
                    <m:r>
                      <a:rPr lang="en-US" altLang="zh-TW" i="1">
                        <a:latin typeface="Cambria Math" panose="02040503050406030204" pitchFamily="18" charset="0"/>
                      </a:rPr>
                      <m:t> :</m:t>
                    </m:r>
                    <m:r>
                      <a:rPr lang="en-US" altLang="zh-TW" i="1">
                        <a:latin typeface="Cambria Math" panose="02040503050406030204" pitchFamily="18" charset="0"/>
                      </a:rPr>
                      <m:t>𝑂</m:t>
                    </m:r>
                    <m:r>
                      <a:rPr lang="en-US" altLang="zh-TW" i="1">
                        <a:latin typeface="Cambria Math" panose="02040503050406030204" pitchFamily="18" charset="0"/>
                      </a:rPr>
                      <m:t>(</m:t>
                    </m:r>
                    <m:r>
                      <a:rPr lang="en-US" altLang="zh-TW" i="1">
                        <a:latin typeface="Cambria Math" panose="02040503050406030204" pitchFamily="18" charset="0"/>
                      </a:rPr>
                      <m:t>𝑛</m:t>
                    </m:r>
                    <m:r>
                      <a:rPr lang="en-US" altLang="zh-TW" i="1">
                        <a:latin typeface="Cambria Math" panose="02040503050406030204" pitchFamily="18" charset="0"/>
                      </a:rPr>
                      <m:t>)</m:t>
                    </m:r>
                  </m:oMath>
                </a14:m>
                <a:r>
                  <a:rPr lang="en-US" altLang="zh-TW" dirty="0"/>
                  <a:t>               </a:t>
                </a:r>
                <a14:m>
                  <m:oMath xmlns:m="http://schemas.openxmlformats.org/officeDocument/2006/math">
                    <m:r>
                      <a:rPr lang="en-US" altLang="zh-TW" i="1" dirty="0" smtClean="0">
                        <a:latin typeface="Cambria Math" panose="02040503050406030204" pitchFamily="18" charset="0"/>
                      </a:rPr>
                      <m:t>⇒</m:t>
                    </m:r>
                    <m:r>
                      <a:rPr lang="en-US" altLang="zh-TW" b="0" i="1" dirty="0" smtClean="0">
                        <a:latin typeface="Cambria Math" panose="02040503050406030204" pitchFamily="18" charset="0"/>
                      </a:rPr>
                      <m:t>𝑆𝑝𝑎𝑐𝑒</m:t>
                    </m:r>
                    <m:r>
                      <a:rPr lang="en-US" altLang="zh-TW" b="0" i="1" dirty="0" smtClean="0">
                        <a:latin typeface="Cambria Math" panose="02040503050406030204" pitchFamily="18" charset="0"/>
                      </a:rPr>
                      <m:t> </m:t>
                    </m:r>
                    <m:r>
                      <a:rPr lang="en-US" altLang="zh-TW" b="0" i="1" dirty="0" smtClean="0">
                        <a:latin typeface="Cambria Math" panose="02040503050406030204" pitchFamily="18" charset="0"/>
                      </a:rPr>
                      <m:t>𝑐𝑜𝑚𝑝𝑙𝑒𝑥𝑖𝑡𝑦</m:t>
                    </m:r>
                    <m:r>
                      <a:rPr lang="en-US" altLang="zh-TW" b="0" i="1" dirty="0" smtClean="0">
                        <a:latin typeface="Cambria Math" panose="02040503050406030204" pitchFamily="18" charset="0"/>
                      </a:rPr>
                      <m:t> :</m:t>
                    </m:r>
                    <m:r>
                      <a:rPr lang="en-US" altLang="zh-TW" b="0" i="1" dirty="0" smtClean="0">
                        <a:latin typeface="Cambria Math" panose="02040503050406030204" pitchFamily="18" charset="0"/>
                      </a:rPr>
                      <m:t>𝑂</m:t>
                    </m:r>
                    <m:r>
                      <a:rPr lang="en-US" altLang="zh-TW" b="0" i="1" dirty="0" smtClean="0">
                        <a:latin typeface="Cambria Math" panose="02040503050406030204" pitchFamily="18" charset="0"/>
                      </a:rPr>
                      <m:t>(</m:t>
                    </m:r>
                    <m:r>
                      <a:rPr lang="en-US" altLang="zh-TW" b="0" i="1" dirty="0" smtClean="0">
                        <a:latin typeface="Cambria Math" panose="02040503050406030204" pitchFamily="18" charset="0"/>
                      </a:rPr>
                      <m:t>𝑛</m:t>
                    </m:r>
                    <m:r>
                      <a:rPr lang="en-US" altLang="zh-TW" b="0" i="1" dirty="0" smtClean="0">
                        <a:latin typeface="Cambria Math" panose="02040503050406030204" pitchFamily="18" charset="0"/>
                      </a:rPr>
                      <m:t>)</m:t>
                    </m:r>
                  </m:oMath>
                </a14:m>
                <a:endParaRPr lang="en-US" altLang="zh-TW" dirty="0"/>
              </a:p>
              <a:p>
                <a:pPr marL="0" indent="0">
                  <a:buNone/>
                </a:pPr>
                <a:endParaRPr lang="en-US" altLang="zh-TW" dirty="0"/>
              </a:p>
              <a:p>
                <a:pPr marL="0" indent="0">
                  <a:buNone/>
                </a:pPr>
                <a:r>
                  <a:rPr lang="en-US" altLang="zh-TW" dirty="0">
                    <a:latin typeface="Times New Roman" panose="02020603050405020304" pitchFamily="18" charset="0"/>
                    <a:cs typeface="Times New Roman" panose="02020603050405020304" pitchFamily="18" charset="0"/>
                  </a:rPr>
                  <a:t>Time complexity</a:t>
                </a:r>
              </a:p>
              <a:p>
                <a:pPr marL="0" indent="0">
                  <a:buNone/>
                </a:pPr>
                <a14:m>
                  <m:oMath xmlns:m="http://schemas.openxmlformats.org/officeDocument/2006/math">
                    <m:d>
                      <m:dPr>
                        <m:begChr m:val="|"/>
                        <m:endChr m:val="|"/>
                        <m:ctrlPr>
                          <a:rPr lang="en-US" altLang="zh-TW" i="1" smtClean="0">
                            <a:latin typeface="Cambria Math" panose="02040503050406030204" pitchFamily="18" charset="0"/>
                          </a:rPr>
                        </m:ctrlPr>
                      </m:dPr>
                      <m:e>
                        <m:r>
                          <a:rPr lang="en-US" altLang="zh-TW" i="1">
                            <a:latin typeface="Cambria Math" panose="02040503050406030204" pitchFamily="18" charset="0"/>
                          </a:rPr>
                          <m:t>𝜉</m:t>
                        </m:r>
                        <m:d>
                          <m:dPr>
                            <m:ctrlPr>
                              <a:rPr lang="en-US" altLang="zh-TW" i="1">
                                <a:latin typeface="Cambria Math" panose="02040503050406030204" pitchFamily="18" charset="0"/>
                              </a:rPr>
                            </m:ctrlPr>
                          </m:dPr>
                          <m:e>
                            <m:r>
                              <a:rPr lang="en-US" altLang="zh-TW" i="1">
                                <a:latin typeface="Cambria Math" panose="02040503050406030204" pitchFamily="18" charset="0"/>
                              </a:rPr>
                              <m:t>𝑖</m:t>
                            </m:r>
                          </m:e>
                        </m:d>
                      </m:e>
                    </m:d>
                    <m:r>
                      <a:rPr lang="en-US" altLang="zh-TW"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oMath>
                </a14:m>
                <a:r>
                  <a:rPr lang="en-US" altLang="zh-TW" dirty="0"/>
                  <a:t> </a:t>
                </a:r>
                <a:r>
                  <a:rPr lang="en-US" altLang="zh-TW" dirty="0">
                    <a:latin typeface="Times New Roman" panose="02020603050405020304" pitchFamily="18" charset="0"/>
                    <a:cs typeface="Times New Roman" panose="02020603050405020304" pitchFamily="18" charset="0"/>
                  </a:rPr>
                  <a:t>and thus </a:t>
                </a:r>
                <a14:m>
                  <m:oMath xmlns:m="http://schemas.openxmlformats.org/officeDocument/2006/math">
                    <m:r>
                      <a:rPr lang="en-US" altLang="zh-TW" i="1" dirty="0" smtClean="0">
                        <a:latin typeface="Cambria Math" panose="02040503050406030204" pitchFamily="18" charset="0"/>
                      </a:rPr>
                      <m:t>𝛽</m:t>
                    </m:r>
                    <m:r>
                      <a:rPr lang="en-US" altLang="zh-TW" b="0" i="1" dirty="0" smtClean="0">
                        <a:latin typeface="Cambria Math" panose="02040503050406030204" pitchFamily="18" charset="0"/>
                      </a:rPr>
                      <m:t>(</m:t>
                    </m:r>
                    <m:r>
                      <a:rPr lang="en-US" altLang="zh-TW" b="0" i="1" dirty="0" smtClean="0">
                        <a:latin typeface="Cambria Math" panose="02040503050406030204" pitchFamily="18" charset="0"/>
                      </a:rPr>
                      <m:t>𝑖</m:t>
                    </m:r>
                    <m:r>
                      <a:rPr lang="en-US" altLang="zh-TW" b="0" i="1" dirty="0" smtClean="0">
                        <a:latin typeface="Cambria Math" panose="02040503050406030204" pitchFamily="18" charset="0"/>
                      </a:rPr>
                      <m:t>)</m:t>
                    </m:r>
                  </m:oMath>
                </a14:m>
                <a:r>
                  <a:rPr lang="en-US" altLang="zh-TW" dirty="0"/>
                  <a:t> </a:t>
                </a:r>
                <a:r>
                  <a:rPr lang="en-US" altLang="zh-TW" dirty="0">
                    <a:latin typeface="Times New Roman" panose="02020603050405020304" pitchFamily="18" charset="0"/>
                    <a:cs typeface="Times New Roman" panose="02020603050405020304" pitchFamily="18" charset="0"/>
                  </a:rPr>
                  <a:t>may cost</a:t>
                </a:r>
                <a14:m>
                  <m:oMath xmlns:m="http://schemas.openxmlformats.org/officeDocument/2006/math">
                    <m:r>
                      <a:rPr lang="en-US" altLang="zh-TW" i="1" dirty="0" smtClean="0">
                        <a:latin typeface="Cambria Math" panose="02040503050406030204" pitchFamily="18" charset="0"/>
                      </a:rPr>
                      <m:t> </m:t>
                    </m:r>
                    <m:r>
                      <a:rPr lang="en-US" altLang="zh-TW" i="1" dirty="0" smtClean="0">
                        <a:latin typeface="Cambria Math" panose="02040503050406030204" pitchFamily="18" charset="0"/>
                      </a:rPr>
                      <m:t>𝑂</m:t>
                    </m:r>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m:t>
                    </m:r>
                  </m:oMath>
                </a14:m>
                <a:r>
                  <a:rPr lang="en-US" altLang="zh-TW" dirty="0">
                    <a:latin typeface="Times New Roman" panose="02020603050405020304" pitchFamily="18" charset="0"/>
                    <a:cs typeface="Times New Roman" panose="02020603050405020304" pitchFamily="18" charset="0"/>
                  </a:rPr>
                  <a:t>time in the worst case</a:t>
                </a:r>
              </a:p>
              <a:p>
                <a:pPr marL="0" indent="0">
                  <a:buNone/>
                </a:pPr>
                <a14:m>
                  <m:oMath xmlns:m="http://schemas.openxmlformats.org/officeDocument/2006/math">
                    <m:r>
                      <a:rPr lang="en-US" altLang="zh-TW" i="1">
                        <a:latin typeface="Cambria Math" panose="02040503050406030204" pitchFamily="18" charset="0"/>
                      </a:rPr>
                      <m:t>⇒</m:t>
                    </m:r>
                  </m:oMath>
                </a14:m>
                <a:r>
                  <a:rPr lang="en-US" altLang="zh-TW" dirty="0">
                    <a:latin typeface="Times New Roman" panose="02020603050405020304" pitchFamily="18" charset="0"/>
                    <a:cs typeface="Times New Roman" panose="02020603050405020304" pitchFamily="18" charset="0"/>
                  </a:rPr>
                  <a:t> Worst case of  </a:t>
                </a:r>
                <a:r>
                  <a:rPr lang="en-US" altLang="zh-TW" b="1" dirty="0">
                    <a:latin typeface="Times New Roman" panose="02020603050405020304" pitchFamily="18" charset="0"/>
                    <a:cs typeface="Times New Roman" panose="02020603050405020304" pitchFamily="18" charset="0"/>
                  </a:rPr>
                  <a:t>Algorithm 1</a:t>
                </a:r>
                <a:r>
                  <a:rPr lang="en-US" altLang="zh-TW" dirty="0">
                    <a:latin typeface="Times New Roman" panose="02020603050405020304" pitchFamily="18" charset="0"/>
                    <a:cs typeface="Times New Roman" panose="02020603050405020304" pitchFamily="18" charset="0"/>
                  </a:rPr>
                  <a:t> is </a:t>
                </a:r>
                <a14:m>
                  <m:oMath xmlns:m="http://schemas.openxmlformats.org/officeDocument/2006/math">
                    <m:r>
                      <a:rPr lang="en-US" altLang="zh-TW" i="1" dirty="0">
                        <a:latin typeface="Cambria Math" panose="02040503050406030204" pitchFamily="18" charset="0"/>
                      </a:rPr>
                      <m:t>𝑂</m:t>
                    </m:r>
                    <m:r>
                      <a:rPr lang="en-US" altLang="zh-TW" i="1" dirty="0">
                        <a:latin typeface="Cambria Math" panose="02040503050406030204" pitchFamily="18" charset="0"/>
                      </a:rPr>
                      <m:t>(</m:t>
                    </m:r>
                    <m:r>
                      <a:rPr lang="en-US" altLang="zh-TW" b="0" i="1" dirty="0" smtClean="0">
                        <a:latin typeface="Cambria Math" panose="02040503050406030204" pitchFamily="18" charset="0"/>
                      </a:rPr>
                      <m:t>𝑛</m:t>
                    </m:r>
                    <m:r>
                      <a:rPr lang="en-US" altLang="zh-TW" b="0" i="1" baseline="30000" dirty="0" smtClean="0">
                        <a:latin typeface="Cambria Math" panose="02040503050406030204" pitchFamily="18" charset="0"/>
                      </a:rPr>
                      <m:t>2</m:t>
                    </m:r>
                    <m:r>
                      <a:rPr lang="en-US" altLang="zh-TW" i="1" dirty="0">
                        <a:latin typeface="Cambria Math" panose="02040503050406030204" pitchFamily="18" charset="0"/>
                      </a:rPr>
                      <m:t>) </m:t>
                    </m:r>
                  </m:oMath>
                </a14:m>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endParaRPr lang="zh-TW" altLang="en-US"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6DF5FC0F-FDE0-4D69-91AE-A025D722E524}"/>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2"/>
                <a:stretch>
                  <a:fillRect l="-1217" t="-238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7302031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D8706F-302D-46A9-B0EA-934582F6EC4B}"/>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Time complexity in the average case </a:t>
            </a:r>
            <a:endParaRPr lang="zh-TW" altLang="en-US" dirty="0"/>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CDA0A890-A020-43D2-B98F-C75950403802}"/>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Time cost to compute </a:t>
                </a:r>
                <a14:m>
                  <m:oMath xmlns:m="http://schemas.openxmlformats.org/officeDocument/2006/math">
                    <m:r>
                      <a:rPr lang="en-US" altLang="zh-TW" i="1" dirty="0">
                        <a:latin typeface="Cambria Math" panose="02040503050406030204" pitchFamily="18" charset="0"/>
                      </a:rPr>
                      <m:t>𝛽</m:t>
                    </m:r>
                    <m:r>
                      <a:rPr lang="en-US" altLang="zh-TW" i="1" dirty="0">
                        <a:latin typeface="Cambria Math" panose="02040503050406030204" pitchFamily="18" charset="0"/>
                      </a:rPr>
                      <m:t>(</m:t>
                    </m:r>
                    <m:r>
                      <a:rPr lang="en-US" altLang="zh-TW" i="1" dirty="0">
                        <a:latin typeface="Cambria Math" panose="02040503050406030204" pitchFamily="18" charset="0"/>
                      </a:rPr>
                      <m:t>𝑖</m:t>
                    </m:r>
                    <m:r>
                      <a:rPr lang="en-US" altLang="zh-TW" i="1" dirty="0">
                        <a:latin typeface="Cambria Math" panose="02040503050406030204" pitchFamily="18" charset="0"/>
                      </a:rPr>
                      <m:t>)</m:t>
                    </m:r>
                  </m:oMath>
                </a14:m>
                <a:r>
                  <a:rPr lang="en-US" altLang="zh-TW" dirty="0"/>
                  <a:t> :</a:t>
                </a:r>
              </a:p>
              <a:p>
                <a:pPr marL="0" indent="0">
                  <a:buNone/>
                </a:pPr>
                <a:endParaRPr lang="en-US" altLang="zh-TW" sz="1400" dirty="0"/>
              </a:p>
              <a:p>
                <a14:m>
                  <m:oMath xmlns:m="http://schemas.openxmlformats.org/officeDocument/2006/math">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cs typeface="Times New Roman" panose="02020603050405020304" pitchFamily="18" charset="0"/>
                      </a:rPr>
                      <m:t>𝑗</m:t>
                    </m:r>
                    <m:r>
                      <a:rPr lang="en-US" altLang="zh-TW" i="1">
                        <a:latin typeface="Cambria Math" panose="02040503050406030204" pitchFamily="18" charset="0"/>
                        <a:ea typeface="Cambria Math" panose="02040503050406030204" pitchFamily="18" charset="0"/>
                        <a:cs typeface="Times New Roman" panose="02020603050405020304" pitchFamily="18" charset="0"/>
                      </a:rPr>
                      <m:t>∈</m:t>
                    </m:r>
                    <m:r>
                      <a:rPr lang="en-US" altLang="zh-TW" i="1">
                        <a:latin typeface="Cambria Math" panose="02040503050406030204" pitchFamily="18" charset="0"/>
                      </a:rPr>
                      <m:t>𝜉</m:t>
                    </m:r>
                    <m:d>
                      <m:dPr>
                        <m:ctrlPr>
                          <a:rPr lang="en-US" altLang="zh-TW" i="1">
                            <a:latin typeface="Cambria Math" panose="02040503050406030204" pitchFamily="18" charset="0"/>
                          </a:rPr>
                        </m:ctrlPr>
                      </m:dPr>
                      <m:e>
                        <m:r>
                          <a:rPr lang="en-US" altLang="zh-TW" i="1">
                            <a:latin typeface="Cambria Math" panose="02040503050406030204" pitchFamily="18" charset="0"/>
                          </a:rPr>
                          <m:t>𝑖</m:t>
                        </m:r>
                      </m:e>
                    </m:d>
                    <m:r>
                      <a:rPr lang="en-US" altLang="zh-TW">
                        <a:latin typeface="Cambria Math" panose="02040503050406030204" pitchFamily="18" charset="0"/>
                      </a:rPr>
                      <m:t> </m:t>
                    </m:r>
                  </m:oMath>
                </a14:m>
                <a:r>
                  <a:rPr lang="en-US" altLang="zh-TW" dirty="0"/>
                  <a:t>, </a:t>
                </a:r>
                <a:r>
                  <a:rPr lang="en-US" altLang="zh-TW" dirty="0">
                    <a:latin typeface="Times New Roman" panose="02020603050405020304" pitchFamily="18" charset="0"/>
                    <a:cs typeface="Times New Roman" panose="02020603050405020304" pitchFamily="18" charset="0"/>
                  </a:rPr>
                  <a:t>it cost </a:t>
                </a:r>
                <a14:m>
                  <m:oMath xmlns:m="http://schemas.openxmlformats.org/officeDocument/2006/math">
                    <m:r>
                      <a:rPr lang="en-US" altLang="zh-TW" i="1">
                        <a:latin typeface="Cambria Math" panose="02040503050406030204" pitchFamily="18" charset="0"/>
                      </a:rPr>
                      <m:t>𝑂</m:t>
                    </m:r>
                    <m:d>
                      <m:dPr>
                        <m:ctrlPr>
                          <a:rPr lang="en-US" altLang="zh-TW" i="1">
                            <a:latin typeface="Cambria Math" panose="02040503050406030204" pitchFamily="18" charset="0"/>
                          </a:rPr>
                        </m:ctrlPr>
                      </m:dPr>
                      <m:e>
                        <m:r>
                          <a:rPr lang="en-US" altLang="zh-TW" b="0" i="1" smtClean="0">
                            <a:latin typeface="Cambria Math" panose="02040503050406030204" pitchFamily="18" charset="0"/>
                          </a:rPr>
                          <m:t>1</m:t>
                        </m:r>
                      </m:e>
                    </m:d>
                  </m:oMath>
                </a14:m>
                <a:r>
                  <a:rPr lang="en-US" altLang="zh-TW" dirty="0"/>
                  <a:t> </a:t>
                </a:r>
                <a:r>
                  <a:rPr lang="en-US" altLang="zh-TW" dirty="0">
                    <a:latin typeface="Times New Roman" panose="02020603050405020304" pitchFamily="18" charset="0"/>
                    <a:cs typeface="Times New Roman" panose="02020603050405020304" pitchFamily="18" charset="0"/>
                  </a:rPr>
                  <a:t>in the computation of </a:t>
                </a:r>
                <a:r>
                  <a:rPr lang="en-US" altLang="zh-TW" dirty="0"/>
                  <a:t> </a:t>
                </a:r>
                <a14:m>
                  <m:oMath xmlns:m="http://schemas.openxmlformats.org/officeDocument/2006/math">
                    <m:r>
                      <a:rPr lang="en-US" altLang="zh-TW" i="1" dirty="0">
                        <a:latin typeface="Cambria Math" panose="02040503050406030204" pitchFamily="18" charset="0"/>
                      </a:rPr>
                      <m:t>𝛽</m:t>
                    </m:r>
                    <m:r>
                      <a:rPr lang="en-US" altLang="zh-TW" i="1" dirty="0">
                        <a:latin typeface="Cambria Math" panose="02040503050406030204" pitchFamily="18" charset="0"/>
                      </a:rPr>
                      <m:t>(</m:t>
                    </m:r>
                    <m:r>
                      <a:rPr lang="en-US" altLang="zh-TW" i="1" dirty="0">
                        <a:latin typeface="Cambria Math" panose="02040503050406030204" pitchFamily="18" charset="0"/>
                      </a:rPr>
                      <m:t>𝑖</m:t>
                    </m:r>
                    <m:r>
                      <a:rPr lang="en-US" altLang="zh-TW" i="1" dirty="0">
                        <a:latin typeface="Cambria Math" panose="02040503050406030204" pitchFamily="18" charset="0"/>
                      </a:rPr>
                      <m:t>)</m:t>
                    </m:r>
                  </m:oMath>
                </a14:m>
                <a:r>
                  <a:rPr lang="en-US" altLang="zh-TW" dirty="0"/>
                  <a:t> </a:t>
                </a:r>
              </a:p>
              <a:p>
                <a:endParaRPr lang="zh-TW" altLang="en-US" dirty="0"/>
              </a:p>
            </p:txBody>
          </p:sp>
        </mc:Choice>
        <mc:Fallback>
          <p:sp>
            <p:nvSpPr>
              <p:cNvPr id="3" name="內容版面配置區 2">
                <a:extLst>
                  <a:ext uri="{FF2B5EF4-FFF2-40B4-BE49-F238E27FC236}">
                    <a16:creationId xmlns:a16="http://schemas.microsoft.com/office/drawing/2014/main" id="{CDA0A890-A020-43D2-B98F-C75950403802}"/>
                  </a:ext>
                </a:extLst>
              </p:cNvPr>
              <p:cNvSpPr>
                <a:spLocks noGrp="1" noRot="1" noChangeAspect="1" noMove="1" noResize="1" noEditPoints="1" noAdjustHandles="1" noChangeArrowheads="1" noChangeShapeType="1" noTextEdit="1"/>
              </p:cNvSpPr>
              <p:nvPr>
                <p:ph idx="1"/>
              </p:nvPr>
            </p:nvSpPr>
            <p:spPr>
              <a:blipFill>
                <a:blip r:embed="rId2"/>
                <a:stretch>
                  <a:fillRect l="-1043" t="-2521"/>
                </a:stretch>
              </a:blipFill>
            </p:spPr>
            <p:txBody>
              <a:bodyPr/>
              <a:lstStyle/>
              <a:p>
                <a:r>
                  <a:rPr lang="zh-TW" altLang="en-US">
                    <a:noFill/>
                  </a:rPr>
                  <a:t> </a:t>
                </a:r>
              </a:p>
            </p:txBody>
          </p:sp>
        </mc:Fallback>
      </mc:AlternateContent>
      <p:pic>
        <p:nvPicPr>
          <p:cNvPr id="5" name="圖片 4">
            <a:extLst>
              <a:ext uri="{FF2B5EF4-FFF2-40B4-BE49-F238E27FC236}">
                <a16:creationId xmlns:a16="http://schemas.microsoft.com/office/drawing/2014/main" id="{2E32321E-8156-4C3C-A780-FB4EBF5F13F1}"/>
              </a:ext>
            </a:extLst>
          </p:cNvPr>
          <p:cNvPicPr>
            <a:picLocks noChangeAspect="1"/>
          </p:cNvPicPr>
          <p:nvPr/>
        </p:nvPicPr>
        <p:blipFill>
          <a:blip r:embed="rId3"/>
          <a:stretch>
            <a:fillRect/>
          </a:stretch>
        </p:blipFill>
        <p:spPr>
          <a:xfrm>
            <a:off x="5358039" y="1596231"/>
            <a:ext cx="2171700" cy="981075"/>
          </a:xfrm>
          <a:prstGeom prst="rect">
            <a:avLst/>
          </a:prstGeom>
        </p:spPr>
      </p:pic>
      <p:pic>
        <p:nvPicPr>
          <p:cNvPr id="6" name="圖片 5">
            <a:extLst>
              <a:ext uri="{FF2B5EF4-FFF2-40B4-BE49-F238E27FC236}">
                <a16:creationId xmlns:a16="http://schemas.microsoft.com/office/drawing/2014/main" id="{A3281802-0F04-4A73-B036-0C0B14422604}"/>
              </a:ext>
            </a:extLst>
          </p:cNvPr>
          <p:cNvPicPr>
            <a:picLocks noChangeAspect="1"/>
          </p:cNvPicPr>
          <p:nvPr/>
        </p:nvPicPr>
        <p:blipFill>
          <a:blip r:embed="rId4"/>
          <a:stretch>
            <a:fillRect/>
          </a:stretch>
        </p:blipFill>
        <p:spPr>
          <a:xfrm>
            <a:off x="1956128" y="3328987"/>
            <a:ext cx="7172325" cy="1095375"/>
          </a:xfrm>
          <a:prstGeom prst="rect">
            <a:avLst/>
          </a:prstGeom>
        </p:spPr>
      </p:pic>
    </p:spTree>
    <p:extLst>
      <p:ext uri="{BB962C8B-B14F-4D97-AF65-F5344CB8AC3E}">
        <p14:creationId xmlns:p14="http://schemas.microsoft.com/office/powerpoint/2010/main" val="338618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F5CD0DB-7E37-4903-B60D-7A38F51C3505}"/>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Time complexity in the average case </a:t>
            </a:r>
            <a:endParaRPr lang="zh-TW" altLang="en-US" dirty="0"/>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041B95FF-B929-4A3C-AA75-07CAEE4777FB}"/>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Let inversion of x be denoted as  </a:t>
                </a:r>
                <a14:m>
                  <m:oMath xmlns:m="http://schemas.openxmlformats.org/officeDocument/2006/math">
                    <m:r>
                      <a:rPr lang="en-US" altLang="zh-TW" i="1">
                        <a:latin typeface="Cambria Math" panose="02040503050406030204" pitchFamily="18" charset="0"/>
                      </a:rPr>
                      <m:t>𝑧</m:t>
                    </m:r>
                    <m:r>
                      <a:rPr lang="en-US" altLang="zh-TW" i="1">
                        <a:latin typeface="Cambria Math" panose="02040503050406030204" pitchFamily="18" charset="0"/>
                      </a:rPr>
                      <m:t>=</m:t>
                    </m:r>
                    <m:r>
                      <a:rPr lang="zh-TW" altLang="en-US" i="1">
                        <a:latin typeface="Cambria Math" panose="02040503050406030204" pitchFamily="18" charset="0"/>
                      </a:rPr>
                      <m:t>𝜃</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𝑛</m:t>
                            </m:r>
                          </m:sub>
                        </m:sSub>
                      </m:e>
                    </m:d>
                    <m:r>
                      <a:rPr lang="zh-TW" altLang="en-US" i="1">
                        <a:latin typeface="Cambria Math" panose="02040503050406030204" pitchFamily="18" charset="0"/>
                      </a:rPr>
                      <m:t>𝜃</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𝑛</m:t>
                            </m:r>
                            <m:r>
                              <a:rPr lang="en-US" altLang="zh-TW" i="1">
                                <a:latin typeface="Cambria Math" panose="02040503050406030204" pitchFamily="18" charset="0"/>
                              </a:rPr>
                              <m:t>−1</m:t>
                            </m:r>
                          </m:sub>
                        </m:sSub>
                      </m:e>
                    </m:d>
                    <m:r>
                      <a:rPr lang="en-US" altLang="zh-TW">
                        <a:latin typeface="Cambria Math" panose="02040503050406030204" pitchFamily="18" charset="0"/>
                      </a:rPr>
                      <m:t>…</m:t>
                    </m:r>
                    <m:r>
                      <a:rPr lang="zh-TW" altLang="en-US" i="1">
                        <a:latin typeface="Cambria Math" panose="02040503050406030204" pitchFamily="18" charset="0"/>
                      </a:rPr>
                      <m:t>𝜃</m:t>
                    </m:r>
                    <m:r>
                      <a:rPr lang="en-US" altLang="zh-TW">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1</m:t>
                        </m:r>
                      </m:sub>
                    </m:sSub>
                    <m:r>
                      <a:rPr lang="en-US" altLang="zh-TW">
                        <a:latin typeface="Cambria Math" panose="02040503050406030204" pitchFamily="18" charset="0"/>
                      </a:rPr>
                      <m:t>)</m:t>
                    </m:r>
                  </m:oMath>
                </a14:m>
                <a:endParaRPr lang="zh-TW" altLang="en-US" dirty="0"/>
              </a:p>
              <a:p>
                <a:r>
                  <a:rPr lang="en-US" altLang="zh-TW" dirty="0">
                    <a:latin typeface="Times New Roman" panose="02020603050405020304" pitchFamily="18" charset="0"/>
                    <a:cs typeface="Times New Roman" panose="02020603050405020304" pitchFamily="18" charset="0"/>
                  </a:rPr>
                  <a:t>For each pair </a:t>
                </a:r>
                <a14:m>
                  <m:oMath xmlns:m="http://schemas.openxmlformats.org/officeDocument/2006/math">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𝑗</m:t>
                    </m:r>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𝑖</m:t>
                    </m:r>
                    <m:r>
                      <a:rPr lang="en-US" altLang="zh-TW" i="1">
                        <a:latin typeface="Cambria Math" panose="02040503050406030204" pitchFamily="18" charset="0"/>
                        <a:cs typeface="Times New Roman" panose="02020603050405020304" pitchFamily="18" charset="0"/>
                      </a:rPr>
                      <m:t>)</m:t>
                    </m:r>
                  </m:oMath>
                </a14:m>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So,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𝑇</m:t>
                    </m:r>
                    <m:r>
                      <a:rPr lang="en-US" altLang="zh-TW" i="1" dirty="0" smtClean="0">
                        <a:latin typeface="Cambria Math" panose="02040503050406030204" pitchFamily="18" charset="0"/>
                        <a:cs typeface="Times New Roman" panose="02020603050405020304" pitchFamily="18" charset="0"/>
                      </a:rPr>
                      <m:t>(</m:t>
                    </m:r>
                    <m:r>
                      <a:rPr lang="en-US" altLang="zh-TW" i="1" dirty="0" smtClean="0">
                        <a:latin typeface="Cambria Math" panose="02040503050406030204" pitchFamily="18" charset="0"/>
                        <a:cs typeface="Times New Roman" panose="02020603050405020304" pitchFamily="18" charset="0"/>
                      </a:rPr>
                      <m:t>𝑛</m:t>
                    </m:r>
                    <m:r>
                      <a:rPr lang="en-US" altLang="zh-TW" i="1" dirty="0" smtClean="0">
                        <a:latin typeface="Cambria Math" panose="02040503050406030204" pitchFamily="18" charset="0"/>
                        <a:cs typeface="Times New Roman" panose="02020603050405020304" pitchFamily="18" charset="0"/>
                      </a:rPr>
                      <m:t>)</m:t>
                    </m:r>
                  </m:oMath>
                </a14:m>
                <a:r>
                  <a:rPr lang="en-US" altLang="zh-TW" dirty="0">
                    <a:latin typeface="Times New Roman" panose="02020603050405020304" pitchFamily="18" charset="0"/>
                    <a:cs typeface="Times New Roman" panose="02020603050405020304" pitchFamily="18" charset="0"/>
                  </a:rPr>
                  <a:t> is bounded above by </a:t>
                </a: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mc:Choice>
        <mc:Fallback>
          <p:sp>
            <p:nvSpPr>
              <p:cNvPr id="3" name="內容版面配置區 2">
                <a:extLst>
                  <a:ext uri="{FF2B5EF4-FFF2-40B4-BE49-F238E27FC236}">
                    <a16:creationId xmlns:a16="http://schemas.microsoft.com/office/drawing/2014/main" id="{041B95FF-B929-4A3C-AA75-07CAEE4777FB}"/>
                  </a:ext>
                </a:extLst>
              </p:cNvPr>
              <p:cNvSpPr>
                <a:spLocks noGrp="1" noRot="1" noChangeAspect="1" noMove="1" noResize="1" noEditPoints="1" noAdjustHandles="1" noChangeArrowheads="1" noChangeShapeType="1" noTextEdit="1"/>
              </p:cNvSpPr>
              <p:nvPr>
                <p:ph idx="1"/>
              </p:nvPr>
            </p:nvSpPr>
            <p:spPr>
              <a:blipFill>
                <a:blip r:embed="rId2"/>
                <a:stretch>
                  <a:fillRect l="-1043" t="-2521"/>
                </a:stretch>
              </a:blipFill>
            </p:spPr>
            <p:txBody>
              <a:bodyPr/>
              <a:lstStyle/>
              <a:p>
                <a:r>
                  <a:rPr lang="zh-TW" altLang="en-US">
                    <a:noFill/>
                  </a:rPr>
                  <a:t> </a:t>
                </a:r>
              </a:p>
            </p:txBody>
          </p:sp>
        </mc:Fallback>
      </mc:AlternateContent>
      <p:pic>
        <p:nvPicPr>
          <p:cNvPr id="4" name="圖片 3">
            <a:extLst>
              <a:ext uri="{FF2B5EF4-FFF2-40B4-BE49-F238E27FC236}">
                <a16:creationId xmlns:a16="http://schemas.microsoft.com/office/drawing/2014/main" id="{BE6FB0FA-2267-4273-AB3B-CCCA573EDD9F}"/>
              </a:ext>
            </a:extLst>
          </p:cNvPr>
          <p:cNvPicPr>
            <a:picLocks noChangeAspect="1"/>
          </p:cNvPicPr>
          <p:nvPr/>
        </p:nvPicPr>
        <p:blipFill>
          <a:blip r:embed="rId3"/>
          <a:stretch>
            <a:fillRect/>
          </a:stretch>
        </p:blipFill>
        <p:spPr>
          <a:xfrm>
            <a:off x="2192398" y="2939955"/>
            <a:ext cx="7581900" cy="504825"/>
          </a:xfrm>
          <a:prstGeom prst="rect">
            <a:avLst/>
          </a:prstGeom>
        </p:spPr>
      </p:pic>
      <p:pic>
        <p:nvPicPr>
          <p:cNvPr id="5" name="圖片 4">
            <a:extLst>
              <a:ext uri="{FF2B5EF4-FFF2-40B4-BE49-F238E27FC236}">
                <a16:creationId xmlns:a16="http://schemas.microsoft.com/office/drawing/2014/main" id="{74559DF6-CC96-4A28-A817-047C3C76768A}"/>
              </a:ext>
            </a:extLst>
          </p:cNvPr>
          <p:cNvPicPr>
            <a:picLocks noChangeAspect="1"/>
          </p:cNvPicPr>
          <p:nvPr/>
        </p:nvPicPr>
        <p:blipFill>
          <a:blip r:embed="rId4"/>
          <a:stretch>
            <a:fillRect/>
          </a:stretch>
        </p:blipFill>
        <p:spPr>
          <a:xfrm>
            <a:off x="5983348" y="3649473"/>
            <a:ext cx="3200400" cy="1085850"/>
          </a:xfrm>
          <a:prstGeom prst="rect">
            <a:avLst/>
          </a:prstGeom>
        </p:spPr>
      </p:pic>
    </p:spTree>
    <p:extLst>
      <p:ext uri="{BB962C8B-B14F-4D97-AF65-F5344CB8AC3E}">
        <p14:creationId xmlns:p14="http://schemas.microsoft.com/office/powerpoint/2010/main" val="19414380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3A3DB3-43B5-4FFE-B994-AC83A275AFA1}"/>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Time complexity in the average case </a:t>
            </a:r>
            <a:endParaRPr lang="zh-TW" altLang="en-US" dirty="0"/>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FA21896F-2E3E-4807-8700-FF2C934B0C14}"/>
                  </a:ext>
                </a:extLst>
              </p:cNvPr>
              <p:cNvSpPr>
                <a:spLocks noGrp="1"/>
              </p:cNvSpPr>
              <p:nvPr>
                <p:ph idx="1"/>
              </p:nvPr>
            </p:nvSpPr>
            <p:spPr>
              <a:xfrm>
                <a:off x="838200" y="1728788"/>
                <a:ext cx="10515600" cy="4448175"/>
              </a:xfrm>
            </p:spPr>
            <p:txBody>
              <a:bodyPr/>
              <a:lstStyle/>
              <a:p>
                <a14:m>
                  <m:oMath xmlns:m="http://schemas.openxmlformats.org/officeDocument/2006/math">
                    <m:r>
                      <a:rPr lang="en-US" altLang="zh-TW" b="0" i="1" smtClean="0">
                        <a:latin typeface="Cambria Math" panose="02040503050406030204" pitchFamily="18" charset="0"/>
                      </a:rPr>
                      <m:t>𝑚</m:t>
                    </m:r>
                    <m:r>
                      <a:rPr lang="en-US" altLang="zh-TW" b="0" i="1" smtClean="0">
                        <a:latin typeface="Cambria Math" panose="02040503050406030204" pitchFamily="18" charset="0"/>
                      </a:rPr>
                      <m:t>=</m:t>
                    </m:r>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𝑗</m:t>
                    </m:r>
                    <m:r>
                      <a:rPr lang="en-US" altLang="zh-TW" b="0" i="1" smtClean="0">
                        <a:latin typeface="Cambria Math" panose="02040503050406030204" pitchFamily="18" charset="0"/>
                      </a:rPr>
                      <m:t>+1,  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𝑠</m:t>
                        </m:r>
                      </m:e>
                      <m:sub>
                        <m:r>
                          <a:rPr lang="en-US" altLang="zh-TW" b="0" i="1" smtClean="0">
                            <a:latin typeface="Cambria Math" panose="02040503050406030204" pitchFamily="18" charset="0"/>
                          </a:rPr>
                          <m:t>𝑡</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𝑔</m:t>
                        </m:r>
                      </m:e>
                      <m:sub>
                        <m:r>
                          <a:rPr lang="en-US" altLang="zh-TW" b="0" i="1" smtClean="0">
                            <a:latin typeface="Cambria Math" panose="02040503050406030204" pitchFamily="18" charset="0"/>
                          </a:rPr>
                          <m:t>𝑦</m:t>
                        </m:r>
                      </m:sub>
                    </m:sSub>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𝑗</m:t>
                        </m:r>
                        <m:r>
                          <a:rPr lang="en-US" altLang="zh-TW" b="0" i="1" smtClean="0">
                            <a:latin typeface="Cambria Math" panose="02040503050406030204" pitchFamily="18" charset="0"/>
                          </a:rPr>
                          <m:t>,</m:t>
                        </m:r>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𝑡</m:t>
                        </m:r>
                      </m:e>
                    </m:d>
                    <m:r>
                      <a:rPr lang="en-US" altLang="zh-TW" b="0" i="1" smtClean="0">
                        <a:latin typeface="Cambria Math" panose="02040503050406030204" pitchFamily="18" charset="0"/>
                      </a:rPr>
                      <m:t>,  </m:t>
                    </m:r>
                    <m:r>
                      <a:rPr lang="en-US" altLang="zh-TW" b="0" i="1" smtClean="0">
                        <a:latin typeface="Cambria Math" panose="02040503050406030204" pitchFamily="18" charset="0"/>
                      </a:rPr>
                      <m:t>𝑘</m:t>
                    </m:r>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m:t>
                            </m:r>
                          </m:num>
                          <m:den>
                            <m:r>
                              <a:rPr lang="zh-TW" altLang="en-US" b="0" i="1" smtClean="0">
                                <a:latin typeface="Cambria Math" panose="02040503050406030204" pitchFamily="18" charset="0"/>
                              </a:rPr>
                              <m:t>𝜎</m:t>
                            </m:r>
                          </m:den>
                        </m:f>
                      </m:e>
                    </m:d>
                    <m:r>
                      <a:rPr lang="en-US" altLang="zh-TW" b="0" i="1" smtClean="0">
                        <a:latin typeface="Cambria Math" panose="02040503050406030204" pitchFamily="18" charset="0"/>
                      </a:rPr>
                      <m:t>, </m:t>
                    </m:r>
                    <m:r>
                      <a:rPr lang="zh-TW" altLang="en-US" b="0" i="1" smtClean="0">
                        <a:latin typeface="Cambria Math" panose="02040503050406030204" pitchFamily="18" charset="0"/>
                      </a:rPr>
                      <m:t>𝜎</m:t>
                    </m:r>
                    <m:r>
                      <a:rPr lang="en-US" altLang="zh-TW" b="0" i="1" smtClean="0">
                        <a:latin typeface="Cambria Math" panose="02040503050406030204" pitchFamily="18" charset="0"/>
                      </a:rPr>
                      <m:t> </m:t>
                    </m:r>
                    <m:r>
                      <a:rPr lang="en-US" altLang="zh-TW" b="0" i="1" smtClean="0">
                        <a:latin typeface="Cambria Math" panose="02040503050406030204" pitchFamily="18" charset="0"/>
                      </a:rPr>
                      <m:t>𝑖𝑠</m:t>
                    </m:r>
                    <m:r>
                      <a:rPr lang="en-US" altLang="zh-TW" b="0" i="1" smtClean="0">
                        <a:latin typeface="Cambria Math" panose="02040503050406030204" pitchFamily="18" charset="0"/>
                      </a:rPr>
                      <m:t> </m:t>
                    </m:r>
                    <m:r>
                      <a:rPr lang="en-US" altLang="zh-TW" b="0" i="1" smtClean="0">
                        <a:latin typeface="Cambria Math" panose="02040503050406030204" pitchFamily="18" charset="0"/>
                      </a:rPr>
                      <m:t>𝑎𝑙𝑝h𝑎𝑏𝑒𝑡</m:t>
                    </m:r>
                    <m:r>
                      <a:rPr lang="en-US" altLang="zh-TW" b="0" i="1" smtClean="0">
                        <a:latin typeface="Cambria Math" panose="02040503050406030204" pitchFamily="18" charset="0"/>
                      </a:rPr>
                      <m:t> </m:t>
                    </m:r>
                    <m:r>
                      <a:rPr lang="en-US" altLang="zh-TW" b="0" i="1" smtClean="0">
                        <a:latin typeface="Cambria Math" panose="02040503050406030204" pitchFamily="18" charset="0"/>
                      </a:rPr>
                      <m:t>𝑠𝑖𝑧𝑒</m:t>
                    </m:r>
                  </m:oMath>
                </a14:m>
                <a:endParaRPr lang="zh-TW" altLang="en-US" dirty="0"/>
              </a:p>
            </p:txBody>
          </p:sp>
        </mc:Choice>
        <mc:Fallback>
          <p:sp>
            <p:nvSpPr>
              <p:cNvPr id="3" name="內容版面配置區 2">
                <a:extLst>
                  <a:ext uri="{FF2B5EF4-FFF2-40B4-BE49-F238E27FC236}">
                    <a16:creationId xmlns:a16="http://schemas.microsoft.com/office/drawing/2014/main" id="{FA21896F-2E3E-4807-8700-FF2C934B0C14}"/>
                  </a:ext>
                </a:extLst>
              </p:cNvPr>
              <p:cNvSpPr>
                <a:spLocks noGrp="1" noRot="1" noChangeAspect="1" noMove="1" noResize="1" noEditPoints="1" noAdjustHandles="1" noChangeArrowheads="1" noChangeShapeType="1" noTextEdit="1"/>
              </p:cNvSpPr>
              <p:nvPr>
                <p:ph idx="1"/>
              </p:nvPr>
            </p:nvSpPr>
            <p:spPr>
              <a:xfrm>
                <a:off x="838200" y="1728788"/>
                <a:ext cx="10515600" cy="4448175"/>
              </a:xfrm>
              <a:blipFill>
                <a:blip r:embed="rId2"/>
                <a:stretch>
                  <a:fillRect/>
                </a:stretch>
              </a:blipFill>
            </p:spPr>
            <p:txBody>
              <a:bodyPr/>
              <a:lstStyle/>
              <a:p>
                <a:r>
                  <a:rPr lang="zh-TW" altLang="en-US">
                    <a:noFill/>
                  </a:rPr>
                  <a:t> </a:t>
                </a:r>
              </a:p>
            </p:txBody>
          </p:sp>
        </mc:Fallback>
      </mc:AlternateContent>
      <p:pic>
        <p:nvPicPr>
          <p:cNvPr id="5" name="圖片 4">
            <a:extLst>
              <a:ext uri="{FF2B5EF4-FFF2-40B4-BE49-F238E27FC236}">
                <a16:creationId xmlns:a16="http://schemas.microsoft.com/office/drawing/2014/main" id="{E4FC81A7-51D4-46C0-8F58-36E711887352}"/>
              </a:ext>
            </a:extLst>
          </p:cNvPr>
          <p:cNvPicPr>
            <a:picLocks noChangeAspect="1"/>
          </p:cNvPicPr>
          <p:nvPr/>
        </p:nvPicPr>
        <p:blipFill>
          <a:blip r:embed="rId3"/>
          <a:stretch>
            <a:fillRect/>
          </a:stretch>
        </p:blipFill>
        <p:spPr>
          <a:xfrm>
            <a:off x="2845280" y="3675005"/>
            <a:ext cx="7534275" cy="1381125"/>
          </a:xfrm>
          <a:prstGeom prst="rect">
            <a:avLst/>
          </a:prstGeom>
        </p:spPr>
      </p:pic>
      <p:pic>
        <p:nvPicPr>
          <p:cNvPr id="6" name="圖片 5">
            <a:extLst>
              <a:ext uri="{FF2B5EF4-FFF2-40B4-BE49-F238E27FC236}">
                <a16:creationId xmlns:a16="http://schemas.microsoft.com/office/drawing/2014/main" id="{B49C4ADD-FF56-48F3-812A-C11215F7E257}"/>
              </a:ext>
            </a:extLst>
          </p:cNvPr>
          <p:cNvPicPr>
            <a:picLocks noChangeAspect="1"/>
          </p:cNvPicPr>
          <p:nvPr/>
        </p:nvPicPr>
        <p:blipFill>
          <a:blip r:embed="rId4"/>
          <a:stretch>
            <a:fillRect/>
          </a:stretch>
        </p:blipFill>
        <p:spPr>
          <a:xfrm>
            <a:off x="2688568" y="5056130"/>
            <a:ext cx="8267700" cy="1447800"/>
          </a:xfrm>
          <a:prstGeom prst="rect">
            <a:avLst/>
          </a:prstGeom>
        </p:spPr>
      </p:pic>
      <p:pic>
        <p:nvPicPr>
          <p:cNvPr id="7" name="圖片 6">
            <a:extLst>
              <a:ext uri="{FF2B5EF4-FFF2-40B4-BE49-F238E27FC236}">
                <a16:creationId xmlns:a16="http://schemas.microsoft.com/office/drawing/2014/main" id="{145D1D95-B3E4-4205-B41B-A519C7F532E8}"/>
              </a:ext>
            </a:extLst>
          </p:cNvPr>
          <p:cNvPicPr>
            <a:picLocks noChangeAspect="1"/>
          </p:cNvPicPr>
          <p:nvPr/>
        </p:nvPicPr>
        <p:blipFill>
          <a:blip r:embed="rId5"/>
          <a:stretch>
            <a:fillRect/>
          </a:stretch>
        </p:blipFill>
        <p:spPr>
          <a:xfrm>
            <a:off x="2845280" y="2494024"/>
            <a:ext cx="7029450" cy="1181100"/>
          </a:xfrm>
          <a:prstGeom prst="rect">
            <a:avLst/>
          </a:prstGeom>
        </p:spPr>
      </p:pic>
    </p:spTree>
    <p:extLst>
      <p:ext uri="{BB962C8B-B14F-4D97-AF65-F5344CB8AC3E}">
        <p14:creationId xmlns:p14="http://schemas.microsoft.com/office/powerpoint/2010/main" val="42758821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3A096F3-0475-4B22-9116-DB8493F66BFC}"/>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Time complexity in the average case </a:t>
            </a:r>
            <a:endParaRPr lang="zh-TW" altLang="en-US" dirty="0"/>
          </a:p>
        </p:txBody>
      </p:sp>
      <p:sp>
        <p:nvSpPr>
          <p:cNvPr id="3" name="內容版面配置區 2">
            <a:extLst>
              <a:ext uri="{FF2B5EF4-FFF2-40B4-BE49-F238E27FC236}">
                <a16:creationId xmlns:a16="http://schemas.microsoft.com/office/drawing/2014/main" id="{D5884E6B-C8C2-49A7-AD47-814C8009D727}"/>
              </a:ext>
            </a:extLst>
          </p:cNvPr>
          <p:cNvSpPr>
            <a:spLocks noGrp="1"/>
          </p:cNvSpPr>
          <p:nvPr>
            <p:ph idx="1"/>
          </p:nvPr>
        </p:nvSpPr>
        <p:spPr/>
        <p:txBody>
          <a:bodyPr/>
          <a:lstStyle/>
          <a:p>
            <a:endParaRPr lang="zh-TW" altLang="en-US"/>
          </a:p>
        </p:txBody>
      </p:sp>
      <p:pic>
        <p:nvPicPr>
          <p:cNvPr id="4" name="圖片 3">
            <a:extLst>
              <a:ext uri="{FF2B5EF4-FFF2-40B4-BE49-F238E27FC236}">
                <a16:creationId xmlns:a16="http://schemas.microsoft.com/office/drawing/2014/main" id="{45BD5965-3BA1-4CD9-938E-71EB1066FD02}"/>
              </a:ext>
            </a:extLst>
          </p:cNvPr>
          <p:cNvPicPr>
            <a:picLocks noChangeAspect="1"/>
          </p:cNvPicPr>
          <p:nvPr/>
        </p:nvPicPr>
        <p:blipFill>
          <a:blip r:embed="rId2"/>
          <a:stretch>
            <a:fillRect/>
          </a:stretch>
        </p:blipFill>
        <p:spPr>
          <a:xfrm>
            <a:off x="3996000" y="1951833"/>
            <a:ext cx="3914775" cy="914400"/>
          </a:xfrm>
          <a:prstGeom prst="rect">
            <a:avLst/>
          </a:prstGeom>
        </p:spPr>
      </p:pic>
      <p:pic>
        <p:nvPicPr>
          <p:cNvPr id="5" name="圖片 4">
            <a:extLst>
              <a:ext uri="{FF2B5EF4-FFF2-40B4-BE49-F238E27FC236}">
                <a16:creationId xmlns:a16="http://schemas.microsoft.com/office/drawing/2014/main" id="{C16535C4-EB4F-4030-AF84-AC393552E5F7}"/>
              </a:ext>
            </a:extLst>
          </p:cNvPr>
          <p:cNvPicPr>
            <a:picLocks noChangeAspect="1"/>
          </p:cNvPicPr>
          <p:nvPr/>
        </p:nvPicPr>
        <p:blipFill>
          <a:blip r:embed="rId3"/>
          <a:stretch>
            <a:fillRect/>
          </a:stretch>
        </p:blipFill>
        <p:spPr>
          <a:xfrm>
            <a:off x="2343150" y="3022602"/>
            <a:ext cx="7505700" cy="1200150"/>
          </a:xfrm>
          <a:prstGeom prst="rect">
            <a:avLst/>
          </a:prstGeom>
        </p:spPr>
      </p:pic>
      <p:pic>
        <p:nvPicPr>
          <p:cNvPr id="6" name="圖片 5">
            <a:extLst>
              <a:ext uri="{FF2B5EF4-FFF2-40B4-BE49-F238E27FC236}">
                <a16:creationId xmlns:a16="http://schemas.microsoft.com/office/drawing/2014/main" id="{92BD2A87-293B-402E-A9D8-22C3FC3A3C88}"/>
              </a:ext>
            </a:extLst>
          </p:cNvPr>
          <p:cNvPicPr>
            <a:picLocks noChangeAspect="1"/>
          </p:cNvPicPr>
          <p:nvPr/>
        </p:nvPicPr>
        <p:blipFill>
          <a:blip r:embed="rId4"/>
          <a:stretch>
            <a:fillRect/>
          </a:stretch>
        </p:blipFill>
        <p:spPr>
          <a:xfrm>
            <a:off x="3996000" y="4467229"/>
            <a:ext cx="4657725" cy="952500"/>
          </a:xfrm>
          <a:prstGeom prst="rect">
            <a:avLst/>
          </a:prstGeom>
        </p:spPr>
      </p:pic>
    </p:spTree>
    <p:extLst>
      <p:ext uri="{BB962C8B-B14F-4D97-AF65-F5344CB8AC3E}">
        <p14:creationId xmlns:p14="http://schemas.microsoft.com/office/powerpoint/2010/main" val="29535133"/>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3672</TotalTime>
  <Words>682</Words>
  <Application>Microsoft Office PowerPoint</Application>
  <PresentationFormat>寬螢幕</PresentationFormat>
  <Paragraphs>80</Paragraphs>
  <Slides>16</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16</vt:i4>
      </vt:variant>
    </vt:vector>
  </HeadingPairs>
  <TitlesOfParts>
    <vt:vector size="22" baseType="lpstr">
      <vt:lpstr>Arial</vt:lpstr>
      <vt:lpstr>Calibri</vt:lpstr>
      <vt:lpstr>Calibri Light</vt:lpstr>
      <vt:lpstr>Cambria Math</vt:lpstr>
      <vt:lpstr>Times New Roman</vt:lpstr>
      <vt:lpstr>Office 佈景主題</vt:lpstr>
      <vt:lpstr>Computing Nonoverlapping Inversion Distance Between Two Strings in Linear Average Time</vt:lpstr>
      <vt:lpstr>Abstract(1/2)</vt:lpstr>
      <vt:lpstr>Abstract(2/2)</vt:lpstr>
      <vt:lpstr>Preliminaries</vt:lpstr>
      <vt:lpstr>Preliminaries</vt:lpstr>
      <vt:lpstr>Theorem</vt:lpstr>
      <vt:lpstr>Theorem 2</vt:lpstr>
      <vt:lpstr>Theorem</vt:lpstr>
      <vt:lpstr>Algorithm</vt:lpstr>
      <vt:lpstr>PowerPoint 簡報</vt:lpstr>
      <vt:lpstr>PowerPoint 簡報</vt:lpstr>
      <vt:lpstr>Time and Space complexity</vt:lpstr>
      <vt:lpstr>Time complexity in the average case </vt:lpstr>
      <vt:lpstr>Time complexity in the average case </vt:lpstr>
      <vt:lpstr>Time complexity in the average case </vt:lpstr>
      <vt:lpstr>Time complexity in the average case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冠霖</dc:creator>
  <cp:lastModifiedBy>pplabeveryone</cp:lastModifiedBy>
  <cp:revision>79</cp:revision>
  <dcterms:created xsi:type="dcterms:W3CDTF">2019-02-17T13:02:40Z</dcterms:created>
  <dcterms:modified xsi:type="dcterms:W3CDTF">2019-03-19T05:56:01Z</dcterms:modified>
</cp:coreProperties>
</file>