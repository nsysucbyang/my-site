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7" r:id="rId3"/>
    <p:sldId id="281" r:id="rId4"/>
    <p:sldId id="289" r:id="rId5"/>
    <p:sldId id="292" r:id="rId6"/>
    <p:sldId id="295" r:id="rId7"/>
    <p:sldId id="296" r:id="rId8"/>
    <p:sldId id="293" r:id="rId9"/>
    <p:sldId id="284" r:id="rId10"/>
    <p:sldId id="290" r:id="rId11"/>
    <p:sldId id="294"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68545" autoAdjust="0"/>
  </p:normalViewPr>
  <p:slideViewPr>
    <p:cSldViewPr snapToGrid="0">
      <p:cViewPr varScale="1">
        <p:scale>
          <a:sx n="47" d="100"/>
          <a:sy n="47" d="100"/>
        </p:scale>
        <p:origin x="1920" y="40"/>
      </p:cViewPr>
      <p:guideLst>
        <p:guide orient="horz" pos="2160"/>
        <p:guide pos="2880"/>
      </p:guideLst>
    </p:cSldViewPr>
  </p:slideViewPr>
  <p:notesTextViewPr>
    <p:cViewPr>
      <p:scale>
        <a:sx n="125" d="100"/>
        <a:sy n="125" d="100"/>
      </p:scale>
      <p:origin x="0" y="-428"/>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2019/3/20</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sz="1200" b="0" i="0" kern="1200" dirty="0" smtClean="0">
                <a:solidFill>
                  <a:schemeClr val="tx1"/>
                </a:solidFill>
                <a:effectLst/>
                <a:latin typeface="+mn-lt"/>
                <a:ea typeface="+mn-ea"/>
                <a:cs typeface="+mn-cs"/>
              </a:rPr>
              <a:t>https://www.google.com/maps/place/%E7%B6%AD%E5%90%89%E5%B0%BC%E4%BA%9E%E5%A4%A7%E5%AD%B8/@36.8267898,-76.6091282,7.58z/data=!4m5!3m4!1s0x0:0x405108c2cc8b5846!8m2!3d38.0335529!4d-78.5079772</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611877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1247473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1" dirty="0" smtClean="0"/>
              <a:t>差異信息矩陣</a:t>
            </a:r>
            <a:r>
              <a:rPr lang="zh-TW" altLang="en-US" dirty="0" smtClean="0"/>
              <a:t>，其中包括差異倍數</a:t>
            </a:r>
            <a:r>
              <a:rPr lang="en-US" altLang="zh-TW" dirty="0" smtClean="0"/>
              <a:t>(log fold change)</a:t>
            </a:r>
            <a:r>
              <a:rPr lang="zh-TW" altLang="en-US" dirty="0" smtClean="0"/>
              <a:t>，差異顯著程度</a:t>
            </a:r>
            <a:r>
              <a:rPr lang="en-US" altLang="zh-TW" dirty="0" smtClean="0"/>
              <a:t>(adjusted p-value)</a:t>
            </a:r>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3125444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fontAlgn="base"/>
            <a:r>
              <a:rPr lang="zh-TW" altLang="en-US" dirty="0" smtClean="0">
                <a:effectLst/>
              </a:rPr>
              <a:t>準確率為 </a:t>
            </a:r>
            <a:r>
              <a:rPr lang="en-US" altLang="zh-TW" dirty="0" smtClean="0">
                <a:effectLst/>
              </a:rPr>
              <a:t>0.91</a:t>
            </a:r>
            <a:r>
              <a:rPr lang="zh-TW" altLang="en-US" dirty="0" smtClean="0">
                <a:effectLst/>
              </a:rPr>
              <a:t>，即 </a:t>
            </a:r>
            <a:r>
              <a:rPr lang="en-US" altLang="zh-TW" dirty="0" smtClean="0">
                <a:effectLst/>
              </a:rPr>
              <a:t>91%</a:t>
            </a:r>
            <a:r>
              <a:rPr lang="zh-TW" altLang="en-US" dirty="0" smtClean="0">
                <a:effectLst/>
              </a:rPr>
              <a:t>（總共 </a:t>
            </a:r>
            <a:r>
              <a:rPr lang="en-US" altLang="zh-TW" dirty="0" smtClean="0">
                <a:effectLst/>
              </a:rPr>
              <a:t>100 </a:t>
            </a:r>
            <a:r>
              <a:rPr lang="zh-TW" altLang="en-US" dirty="0" smtClean="0">
                <a:effectLst/>
              </a:rPr>
              <a:t>個樣本中有 </a:t>
            </a:r>
            <a:r>
              <a:rPr lang="en-US" altLang="zh-TW" dirty="0" smtClean="0">
                <a:effectLst/>
              </a:rPr>
              <a:t>91 </a:t>
            </a:r>
            <a:r>
              <a:rPr lang="zh-TW" altLang="en-US" dirty="0" smtClean="0">
                <a:effectLst/>
              </a:rPr>
              <a:t>個預測正確）。這表示我們的腫瘤分類器在識別惡性腫瘤方面表現得非常出色，對吧？</a:t>
            </a:r>
          </a:p>
          <a:p>
            <a:pPr fontAlgn="base"/>
            <a:r>
              <a:rPr lang="zh-TW" altLang="en-US" dirty="0" smtClean="0">
                <a:effectLst/>
              </a:rPr>
              <a:t>實際上，只要我們仔細分析一下正類別和負類別，就可以更好地了解我們模型的效果。</a:t>
            </a:r>
          </a:p>
          <a:p>
            <a:pPr fontAlgn="base"/>
            <a:r>
              <a:rPr lang="zh-TW" altLang="en-US" dirty="0" smtClean="0">
                <a:effectLst/>
              </a:rPr>
              <a:t>在 </a:t>
            </a:r>
            <a:r>
              <a:rPr lang="en-US" altLang="zh-TW" dirty="0" smtClean="0">
                <a:effectLst/>
              </a:rPr>
              <a:t>100 </a:t>
            </a:r>
            <a:r>
              <a:rPr lang="zh-TW" altLang="en-US" dirty="0" smtClean="0">
                <a:effectLst/>
              </a:rPr>
              <a:t>個腫瘤樣本中，</a:t>
            </a:r>
            <a:r>
              <a:rPr lang="en-US" altLang="zh-TW" dirty="0" smtClean="0">
                <a:effectLst/>
              </a:rPr>
              <a:t>91 </a:t>
            </a:r>
            <a:r>
              <a:rPr lang="zh-TW" altLang="en-US" dirty="0" smtClean="0">
                <a:effectLst/>
              </a:rPr>
              <a:t>個為良性（</a:t>
            </a:r>
            <a:r>
              <a:rPr lang="en-US" altLang="zh-TW" dirty="0" smtClean="0">
                <a:effectLst/>
              </a:rPr>
              <a:t>90 </a:t>
            </a:r>
            <a:r>
              <a:rPr lang="zh-TW" altLang="en-US" dirty="0" smtClean="0">
                <a:effectLst/>
              </a:rPr>
              <a:t>個 </a:t>
            </a:r>
            <a:r>
              <a:rPr lang="en-US" altLang="zh-TW" dirty="0" smtClean="0">
                <a:effectLst/>
              </a:rPr>
              <a:t>TN </a:t>
            </a:r>
            <a:r>
              <a:rPr lang="zh-TW" altLang="en-US" dirty="0" smtClean="0">
                <a:effectLst/>
              </a:rPr>
              <a:t>和 </a:t>
            </a:r>
            <a:r>
              <a:rPr lang="en-US" altLang="zh-TW" dirty="0" smtClean="0">
                <a:effectLst/>
              </a:rPr>
              <a:t>1 </a:t>
            </a:r>
            <a:r>
              <a:rPr lang="zh-TW" altLang="en-US" dirty="0" smtClean="0">
                <a:effectLst/>
              </a:rPr>
              <a:t>個 </a:t>
            </a:r>
            <a:r>
              <a:rPr lang="en-US" altLang="zh-TW" dirty="0" smtClean="0">
                <a:effectLst/>
              </a:rPr>
              <a:t>FP</a:t>
            </a:r>
            <a:r>
              <a:rPr lang="zh-TW" altLang="en-US" dirty="0" smtClean="0">
                <a:effectLst/>
              </a:rPr>
              <a:t>），</a:t>
            </a:r>
            <a:r>
              <a:rPr lang="en-US" altLang="zh-TW" dirty="0" smtClean="0">
                <a:effectLst/>
              </a:rPr>
              <a:t>9 </a:t>
            </a:r>
            <a:r>
              <a:rPr lang="zh-TW" altLang="en-US" dirty="0" smtClean="0">
                <a:effectLst/>
              </a:rPr>
              <a:t>個為惡性（</a:t>
            </a:r>
            <a:r>
              <a:rPr lang="en-US" altLang="zh-TW" dirty="0" smtClean="0">
                <a:effectLst/>
              </a:rPr>
              <a:t>1 </a:t>
            </a:r>
            <a:r>
              <a:rPr lang="zh-TW" altLang="en-US" dirty="0" smtClean="0">
                <a:effectLst/>
              </a:rPr>
              <a:t>個 </a:t>
            </a:r>
            <a:r>
              <a:rPr lang="en-US" altLang="zh-TW" dirty="0" smtClean="0">
                <a:effectLst/>
              </a:rPr>
              <a:t>TP </a:t>
            </a:r>
            <a:r>
              <a:rPr lang="zh-TW" altLang="en-US" dirty="0" smtClean="0">
                <a:effectLst/>
              </a:rPr>
              <a:t>和 </a:t>
            </a:r>
            <a:r>
              <a:rPr lang="en-US" altLang="zh-TW" dirty="0" smtClean="0">
                <a:effectLst/>
              </a:rPr>
              <a:t>8 </a:t>
            </a:r>
            <a:r>
              <a:rPr lang="zh-TW" altLang="en-US" dirty="0" smtClean="0">
                <a:effectLst/>
              </a:rPr>
              <a:t>個 </a:t>
            </a:r>
            <a:r>
              <a:rPr lang="en-US" altLang="zh-TW" dirty="0" smtClean="0">
                <a:effectLst/>
              </a:rPr>
              <a:t>FN</a:t>
            </a:r>
            <a:r>
              <a:rPr lang="zh-TW" altLang="en-US" dirty="0" smtClean="0">
                <a:effectLst/>
              </a:rPr>
              <a:t>）。</a:t>
            </a:r>
          </a:p>
          <a:p>
            <a:pPr fontAlgn="base"/>
            <a:r>
              <a:rPr lang="zh-TW" altLang="en-US" dirty="0" smtClean="0">
                <a:effectLst/>
              </a:rPr>
              <a:t>在 </a:t>
            </a:r>
            <a:r>
              <a:rPr lang="en-US" altLang="zh-TW" dirty="0" smtClean="0">
                <a:effectLst/>
              </a:rPr>
              <a:t>91 </a:t>
            </a:r>
            <a:r>
              <a:rPr lang="zh-TW" altLang="en-US" dirty="0" smtClean="0">
                <a:effectLst/>
              </a:rPr>
              <a:t>個良性腫瘤中，該模型將 </a:t>
            </a:r>
            <a:r>
              <a:rPr lang="en-US" altLang="zh-TW" dirty="0" smtClean="0">
                <a:effectLst/>
              </a:rPr>
              <a:t>90 </a:t>
            </a:r>
            <a:r>
              <a:rPr lang="zh-TW" altLang="en-US" dirty="0" smtClean="0">
                <a:effectLst/>
              </a:rPr>
              <a:t>個正確識別為良性。這很好。不過，在 </a:t>
            </a:r>
            <a:r>
              <a:rPr lang="en-US" altLang="zh-TW" dirty="0" smtClean="0">
                <a:effectLst/>
              </a:rPr>
              <a:t>9 </a:t>
            </a:r>
            <a:r>
              <a:rPr lang="zh-TW" altLang="en-US" dirty="0" smtClean="0">
                <a:effectLst/>
              </a:rPr>
              <a:t>個惡性腫瘤中，該模型僅將 </a:t>
            </a:r>
            <a:r>
              <a:rPr lang="en-US" altLang="zh-TW" dirty="0" smtClean="0">
                <a:effectLst/>
              </a:rPr>
              <a:t>1 </a:t>
            </a:r>
            <a:r>
              <a:rPr lang="zh-TW" altLang="en-US" dirty="0" smtClean="0">
                <a:effectLst/>
              </a:rPr>
              <a:t>個正確識別為惡性。這是多麽可怕的結果！</a:t>
            </a:r>
            <a:r>
              <a:rPr lang="en-US" altLang="zh-TW" dirty="0" smtClean="0">
                <a:effectLst/>
              </a:rPr>
              <a:t>9 </a:t>
            </a:r>
            <a:r>
              <a:rPr lang="zh-TW" altLang="en-US" dirty="0" smtClean="0">
                <a:effectLst/>
              </a:rPr>
              <a:t>個惡性腫瘤中有 </a:t>
            </a:r>
            <a:r>
              <a:rPr lang="en-US" altLang="zh-TW" dirty="0" smtClean="0">
                <a:effectLst/>
              </a:rPr>
              <a:t>8 </a:t>
            </a:r>
            <a:r>
              <a:rPr lang="zh-TW" altLang="en-US" dirty="0" smtClean="0">
                <a:effectLst/>
              </a:rPr>
              <a:t>個未被診斷出來！</a:t>
            </a:r>
          </a:p>
          <a:p>
            <a:pPr fontAlgn="base"/>
            <a:r>
              <a:rPr lang="zh-TW" altLang="en-US" dirty="0" smtClean="0">
                <a:effectLst/>
              </a:rPr>
              <a:t>雖然 </a:t>
            </a:r>
            <a:r>
              <a:rPr lang="en-US" altLang="zh-TW" dirty="0" smtClean="0">
                <a:effectLst/>
              </a:rPr>
              <a:t>91% </a:t>
            </a:r>
            <a:r>
              <a:rPr lang="zh-TW" altLang="en-US" dirty="0" smtClean="0">
                <a:effectLst/>
              </a:rPr>
              <a:t>的準確率可能乍一看還不錯，但如果另一個腫瘤分類器模型總是預測良性，那麽這個模型使用我們的樣本進行預測也會實現相同的準確率（</a:t>
            </a:r>
            <a:r>
              <a:rPr lang="en-US" altLang="zh-TW" dirty="0" smtClean="0">
                <a:effectLst/>
              </a:rPr>
              <a:t>100 </a:t>
            </a:r>
            <a:r>
              <a:rPr lang="zh-TW" altLang="en-US" dirty="0" smtClean="0">
                <a:effectLst/>
              </a:rPr>
              <a:t>個中有 </a:t>
            </a:r>
            <a:r>
              <a:rPr lang="en-US" altLang="zh-TW" dirty="0" smtClean="0">
                <a:effectLst/>
              </a:rPr>
              <a:t>91 </a:t>
            </a:r>
            <a:r>
              <a:rPr lang="zh-TW" altLang="en-US" dirty="0" smtClean="0">
                <a:effectLst/>
              </a:rPr>
              <a:t>個預測正確）。換言之，我們的模型與那些沒有預測能力來區分惡性腫瘤和良性腫瘤的模型差不多。</a:t>
            </a:r>
          </a:p>
          <a:p>
            <a:pPr fontAlgn="base"/>
            <a:r>
              <a:rPr lang="zh-TW" altLang="en-US" dirty="0" smtClean="0">
                <a:effectLst/>
              </a:rPr>
              <a:t>當您使用分類不平衡的數據集（比如正類別標簽和負類別標簽的數量之間存在明顯差異）時，單單準確率一項並不能反映全面情況。</a:t>
            </a:r>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30619815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16400243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6982747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4219759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2019/3/20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2019/3/20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2019/3/20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2019/3/20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2019/3/20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2019/3/20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2019/3/20</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2019/3/20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2019/3/20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2019/3/20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2019/3/20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2019/3/20</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52548" y="1009878"/>
            <a:ext cx="9091452" cy="1605324"/>
          </a:xfrm>
        </p:spPr>
        <p:txBody>
          <a:bodyPr>
            <a:noAutofit/>
          </a:bodyPr>
          <a:lstStyle/>
          <a:p>
            <a:r>
              <a:rPr lang="en-US" altLang="zh-TW" sz="4000" dirty="0">
                <a:latin typeface="Times New Roman" panose="02020603050405020304" pitchFamily="18" charset="0"/>
                <a:cs typeface="Times New Roman" panose="02020603050405020304" pitchFamily="18" charset="0"/>
              </a:rPr>
              <a:t>A </a:t>
            </a:r>
            <a:r>
              <a:rPr lang="en-US" altLang="zh-TW" sz="4000" dirty="0" smtClean="0">
                <a:latin typeface="Times New Roman" panose="02020603050405020304" pitchFamily="18" charset="0"/>
                <a:cs typeface="Times New Roman" panose="02020603050405020304" pitchFamily="18" charset="0"/>
              </a:rPr>
              <a:t>deep learning-based multi-model   </a:t>
            </a:r>
            <a:r>
              <a:rPr lang="en-US" altLang="zh-TW" sz="4000" dirty="0">
                <a:latin typeface="Times New Roman" panose="02020603050405020304" pitchFamily="18" charset="0"/>
                <a:cs typeface="Times New Roman" panose="02020603050405020304" pitchFamily="18" charset="0"/>
              </a:rPr>
              <a:t>ensemble </a:t>
            </a:r>
            <a:r>
              <a:rPr lang="en-US" altLang="zh-TW" sz="4000" dirty="0" smtClean="0">
                <a:latin typeface="Times New Roman" panose="02020603050405020304" pitchFamily="18" charset="0"/>
                <a:cs typeface="Times New Roman" panose="02020603050405020304" pitchFamily="18" charset="0"/>
              </a:rPr>
              <a:t>method for cancer prediction </a:t>
            </a:r>
            <a:endParaRPr lang="zh-TW" altLang="en-US" sz="40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30149" y="2900196"/>
            <a:ext cx="8536249" cy="717223"/>
          </a:xfrm>
        </p:spPr>
        <p:txBody>
          <a:bodyPr>
            <a:noAutofit/>
          </a:bodyPr>
          <a:lstStyle/>
          <a:p>
            <a:r>
              <a:rPr lang="en-US" altLang="zh-TW" sz="2800" dirty="0" err="1">
                <a:latin typeface="Times New Roman" panose="02020603050405020304" pitchFamily="18" charset="0"/>
                <a:cs typeface="Times New Roman" panose="02020603050405020304" pitchFamily="18" charset="0"/>
              </a:rPr>
              <a:t>Yawen</a:t>
            </a:r>
            <a:r>
              <a:rPr lang="en-US" altLang="zh-TW" sz="2800" dirty="0">
                <a:latin typeface="Times New Roman" panose="02020603050405020304" pitchFamily="18" charset="0"/>
                <a:cs typeface="Times New Roman" panose="02020603050405020304" pitchFamily="18" charset="0"/>
              </a:rPr>
              <a:t> </a:t>
            </a:r>
            <a:r>
              <a:rPr lang="en-US" altLang="zh-TW" sz="2800" dirty="0" smtClean="0">
                <a:latin typeface="Times New Roman" panose="02020603050405020304" pitchFamily="18" charset="0"/>
                <a:cs typeface="Times New Roman" panose="02020603050405020304" pitchFamily="18" charset="0"/>
              </a:rPr>
              <a:t>Xiao, </a:t>
            </a:r>
            <a:r>
              <a:rPr lang="en-US" altLang="zh-TW" sz="2800" dirty="0">
                <a:latin typeface="Times New Roman" panose="02020603050405020304" pitchFamily="18" charset="0"/>
                <a:cs typeface="Times New Roman" panose="02020603050405020304" pitchFamily="18" charset="0"/>
              </a:rPr>
              <a:t>Jun </a:t>
            </a:r>
            <a:r>
              <a:rPr lang="en-US" altLang="zh-TW" sz="2800" dirty="0" smtClean="0">
                <a:latin typeface="Times New Roman" panose="02020603050405020304" pitchFamily="18" charset="0"/>
                <a:cs typeface="Times New Roman" panose="02020603050405020304" pitchFamily="18" charset="0"/>
              </a:rPr>
              <a:t>Wu, </a:t>
            </a:r>
            <a:r>
              <a:rPr lang="en-US" altLang="zh-TW" sz="2800" dirty="0" err="1">
                <a:latin typeface="Times New Roman" panose="02020603050405020304" pitchFamily="18" charset="0"/>
                <a:cs typeface="Times New Roman" panose="02020603050405020304" pitchFamily="18" charset="0"/>
              </a:rPr>
              <a:t>Zongli</a:t>
            </a:r>
            <a:r>
              <a:rPr lang="en-US" altLang="zh-TW" sz="2800" dirty="0">
                <a:latin typeface="Times New Roman" panose="02020603050405020304" pitchFamily="18" charset="0"/>
                <a:cs typeface="Times New Roman" panose="02020603050405020304" pitchFamily="18" charset="0"/>
              </a:rPr>
              <a:t> </a:t>
            </a:r>
            <a:r>
              <a:rPr lang="en-US" altLang="zh-TW" sz="2800" dirty="0" smtClean="0">
                <a:latin typeface="Times New Roman" panose="02020603050405020304" pitchFamily="18" charset="0"/>
                <a:cs typeface="Times New Roman" panose="02020603050405020304" pitchFamily="18" charset="0"/>
              </a:rPr>
              <a:t>Lin, and </a:t>
            </a:r>
          </a:p>
          <a:p>
            <a:r>
              <a:rPr lang="en-US" altLang="zh-TW" sz="2800" dirty="0" err="1" smtClean="0">
                <a:latin typeface="Times New Roman" panose="02020603050405020304" pitchFamily="18" charset="0"/>
                <a:cs typeface="Times New Roman" panose="02020603050405020304" pitchFamily="18" charset="0"/>
              </a:rPr>
              <a:t>Xiaodong</a:t>
            </a:r>
            <a:r>
              <a:rPr lang="en-US" altLang="zh-TW" sz="2800" dirty="0" smtClean="0">
                <a:latin typeface="Times New Roman" panose="02020603050405020304" pitchFamily="18" charset="0"/>
                <a:cs typeface="Times New Roman" panose="02020603050405020304" pitchFamily="18" charset="0"/>
              </a:rPr>
              <a:t> Zhao </a:t>
            </a: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264031"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cs typeface="Times New Roman" panose="02020603050405020304" pitchFamily="18" charset="0"/>
              </a:rPr>
              <a:t>Feng-Yang</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Tsai</a:t>
            </a: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1800" dirty="0" err="1" smtClean="0">
                <a:latin typeface="Times New Roman" panose="02020603050405020304" pitchFamily="18" charset="0"/>
                <a:ea typeface="標楷體" panose="03000509000000000000" pitchFamily="65" charset="-120"/>
                <a:cs typeface="Times New Roman" panose="02020603050405020304" pitchFamily="18" charset="0"/>
              </a:rPr>
              <a:t>Date:Mar</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20, 2019.</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485244" y="3992503"/>
            <a:ext cx="8226058" cy="461665"/>
          </a:xfrm>
          <a:prstGeom prst="rect">
            <a:avLst/>
          </a:prstGeom>
        </p:spPr>
        <p:txBody>
          <a:bodyPr wrap="square">
            <a:spAutoFit/>
          </a:bodyPr>
          <a:lstStyle/>
          <a:p>
            <a:r>
              <a:rPr lang="en-US" altLang="zh-TW" sz="2400" dirty="0">
                <a:latin typeface="Times New Roman" panose="02020603050405020304" pitchFamily="18" charset="0"/>
                <a:cs typeface="Times New Roman" panose="02020603050405020304" pitchFamily="18" charset="0"/>
              </a:rPr>
              <a:t>Computer Methods and Programs in Biomedicine 153 (2018) 1–9 </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172833"/>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439984"/>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023351"/>
            <a:ext cx="8745686" cy="5131633"/>
          </a:xfrm>
        </p:spPr>
        <p:txBody>
          <a:bodyPr>
            <a:noAutofit/>
          </a:bodyPr>
          <a:lstStyle/>
          <a:p>
            <a:pPr marL="0" indent="0" algn="just">
              <a:lnSpc>
                <a:spcPts val="3200"/>
              </a:lnSpc>
              <a:buNone/>
            </a:pPr>
            <a:r>
              <a:rPr lang="en-US" altLang="zh-TW" dirty="0">
                <a:latin typeface="Times New Roman" panose="02020603050405020304" pitchFamily="18" charset="0"/>
                <a:cs typeface="Times New Roman" panose="02020603050405020304" pitchFamily="18" charset="0"/>
              </a:rPr>
              <a:t>Cancer is a complex worldwide health problem associated with </a:t>
            </a:r>
            <a:r>
              <a:rPr lang="en-US" altLang="zh-TW" dirty="0" smtClean="0">
                <a:latin typeface="Times New Roman" panose="02020603050405020304" pitchFamily="18" charset="0"/>
                <a:cs typeface="Times New Roman" panose="02020603050405020304" pitchFamily="18" charset="0"/>
              </a:rPr>
              <a:t>high mortality. With </a:t>
            </a:r>
            <a:r>
              <a:rPr lang="en-US" altLang="zh-TW" dirty="0">
                <a:latin typeface="Times New Roman" panose="02020603050405020304" pitchFamily="18" charset="0"/>
                <a:cs typeface="Times New Roman" panose="02020603050405020304" pitchFamily="18" charset="0"/>
              </a:rPr>
              <a:t>the rapid development of the high-throughput sequencing technology and the application of various machine learning methods that have emerged in recent </a:t>
            </a:r>
            <a:r>
              <a:rPr lang="en-US" altLang="zh-TW" dirty="0" smtClean="0">
                <a:latin typeface="Times New Roman" panose="02020603050405020304" pitchFamily="18" charset="0"/>
                <a:cs typeface="Times New Roman" panose="02020603050405020304" pitchFamily="18" charset="0"/>
              </a:rPr>
              <a:t>years, progress </a:t>
            </a:r>
            <a:r>
              <a:rPr lang="en-US" altLang="zh-TW" dirty="0">
                <a:latin typeface="Times New Roman" panose="02020603050405020304" pitchFamily="18" charset="0"/>
                <a:cs typeface="Times New Roman" panose="02020603050405020304" pitchFamily="18" charset="0"/>
              </a:rPr>
              <a:t>in cancer prediction has been increasingly made based on </a:t>
            </a:r>
            <a:r>
              <a:rPr lang="en-US" altLang="zh-TW" dirty="0" smtClean="0">
                <a:latin typeface="Times New Roman" panose="02020603050405020304" pitchFamily="18" charset="0"/>
                <a:cs typeface="Times New Roman" panose="02020603050405020304" pitchFamily="18" charset="0"/>
              </a:rPr>
              <a:t>gene expression, providing </a:t>
            </a:r>
            <a:r>
              <a:rPr lang="en-US" altLang="zh-TW" dirty="0">
                <a:latin typeface="Times New Roman" panose="02020603050405020304" pitchFamily="18" charset="0"/>
                <a:cs typeface="Times New Roman" panose="02020603050405020304" pitchFamily="18" charset="0"/>
              </a:rPr>
              <a:t>insight into effective and accurate treatment decision </a:t>
            </a:r>
            <a:r>
              <a:rPr lang="en-US" altLang="zh-TW" dirty="0" smtClean="0">
                <a:latin typeface="Times New Roman" panose="02020603050405020304" pitchFamily="18" charset="0"/>
                <a:cs typeface="Times New Roman" panose="02020603050405020304" pitchFamily="18" charset="0"/>
              </a:rPr>
              <a:t>making. Thus</a:t>
            </a:r>
            <a:r>
              <a:rPr lang="en-US" altLang="zh-TW" dirty="0">
                <a:latin typeface="Times New Roman" panose="02020603050405020304" pitchFamily="18" charset="0"/>
                <a:cs typeface="Times New Roman" panose="02020603050405020304" pitchFamily="18" charset="0"/>
              </a:rPr>
              <a:t>, developing machine learning methods, which can successfully distinguish cancer patients from healthy persons, is of great current interest. However, among the classiﬁcation methods applied to cancer prediction so far, no one method outperforms all the others</a:t>
            </a:r>
            <a:r>
              <a:rPr lang="en-US" altLang="zh-TW" dirty="0" smtClean="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 In this paper, we demonstrate a new strategy, which </a:t>
            </a:r>
            <a:r>
              <a:rPr lang="en-US" altLang="zh-TW" dirty="0" smtClean="0">
                <a:latin typeface="Times New Roman" panose="02020603050405020304" pitchFamily="18" charset="0"/>
                <a:cs typeface="Times New Roman" panose="02020603050405020304" pitchFamily="18" charset="0"/>
              </a:rPr>
              <a:t>applies</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25359" y="439984"/>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8" y="1023351"/>
            <a:ext cx="9004992" cy="5131633"/>
          </a:xfrm>
        </p:spPr>
        <p:txBody>
          <a:bodyPr>
            <a:noAutofit/>
          </a:bodyPr>
          <a:lstStyle/>
          <a:p>
            <a:pPr marL="0" indent="0" algn="just">
              <a:lnSpc>
                <a:spcPts val="3200"/>
              </a:lnSpc>
              <a:buNone/>
            </a:pPr>
            <a:r>
              <a:rPr lang="en-US" altLang="zh-TW" dirty="0">
                <a:latin typeface="Times New Roman" panose="02020603050405020304" pitchFamily="18" charset="0"/>
                <a:cs typeface="Times New Roman" panose="02020603050405020304" pitchFamily="18" charset="0"/>
              </a:rPr>
              <a:t>deep learning to </a:t>
            </a:r>
            <a:r>
              <a:rPr lang="en-US" altLang="zh-TW" dirty="0" smtClean="0">
                <a:latin typeface="Times New Roman" panose="02020603050405020304" pitchFamily="18" charset="0"/>
                <a:cs typeface="Times New Roman" panose="02020603050405020304" pitchFamily="18" charset="0"/>
              </a:rPr>
              <a:t>an ensemble </a:t>
            </a:r>
            <a:r>
              <a:rPr lang="en-US" altLang="zh-TW" dirty="0">
                <a:latin typeface="Times New Roman" panose="02020603050405020304" pitchFamily="18" charset="0"/>
                <a:cs typeface="Times New Roman" panose="02020603050405020304" pitchFamily="18" charset="0"/>
              </a:rPr>
              <a:t>approach that incorporates multiple different machine learning </a:t>
            </a:r>
            <a:r>
              <a:rPr lang="en-US" altLang="zh-TW" dirty="0" smtClean="0">
                <a:latin typeface="Times New Roman" panose="02020603050405020304" pitchFamily="18" charset="0"/>
                <a:cs typeface="Times New Roman" panose="02020603050405020304" pitchFamily="18" charset="0"/>
              </a:rPr>
              <a:t>models. We </a:t>
            </a:r>
            <a:r>
              <a:rPr lang="en-US" altLang="zh-TW" dirty="0">
                <a:latin typeface="Times New Roman" panose="02020603050405020304" pitchFamily="18" charset="0"/>
                <a:cs typeface="Times New Roman" panose="02020603050405020304" pitchFamily="18" charset="0"/>
              </a:rPr>
              <a:t>supply informative gene data selected by differential gene expression analysis to ﬁve different classiﬁcation </a:t>
            </a:r>
            <a:r>
              <a:rPr lang="en-US" altLang="zh-TW" dirty="0" smtClean="0">
                <a:latin typeface="Times New Roman" panose="02020603050405020304" pitchFamily="18" charset="0"/>
                <a:cs typeface="Times New Roman" panose="02020603050405020304" pitchFamily="18" charset="0"/>
              </a:rPr>
              <a:t>models. Then, a deep </a:t>
            </a:r>
            <a:r>
              <a:rPr lang="en-US" altLang="zh-TW" dirty="0">
                <a:latin typeface="Times New Roman" panose="02020603050405020304" pitchFamily="18" charset="0"/>
                <a:cs typeface="Times New Roman" panose="02020603050405020304" pitchFamily="18" charset="0"/>
              </a:rPr>
              <a:t>learning method is employed to ensemble the outputs of the ﬁve classiﬁers</a:t>
            </a:r>
            <a:r>
              <a:rPr lang="en-US" altLang="zh-TW" dirty="0" smtClean="0">
                <a:latin typeface="Times New Roman" panose="02020603050405020304" pitchFamily="18" charset="0"/>
                <a:cs typeface="Times New Roman" panose="02020603050405020304" pitchFamily="18" charset="0"/>
              </a:rPr>
              <a:t>. By </a:t>
            </a:r>
            <a:r>
              <a:rPr lang="en-US" altLang="zh-TW" dirty="0">
                <a:latin typeface="Times New Roman" panose="02020603050405020304" pitchFamily="18" charset="0"/>
                <a:cs typeface="Times New Roman" panose="02020603050405020304" pitchFamily="18" charset="0"/>
              </a:rPr>
              <a:t>taking full advantage of different classiﬁers, the proposed deep learning-based </a:t>
            </a:r>
            <a:r>
              <a:rPr lang="en-US" altLang="zh-TW" dirty="0" smtClean="0">
                <a:latin typeface="Times New Roman" panose="02020603050405020304" pitchFamily="18" charset="0"/>
                <a:cs typeface="Times New Roman" panose="02020603050405020304" pitchFamily="18" charset="0"/>
              </a:rPr>
              <a:t>multi-model </a:t>
            </a:r>
            <a:r>
              <a:rPr lang="en-US" altLang="zh-TW" dirty="0">
                <a:latin typeface="Times New Roman" panose="02020603050405020304" pitchFamily="18" charset="0"/>
                <a:cs typeface="Times New Roman" panose="02020603050405020304" pitchFamily="18" charset="0"/>
              </a:rPr>
              <a:t>ensemble method is shown to be accurate and effective for cancer prediction.</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93738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023" y="448582"/>
            <a:ext cx="5064207" cy="523220"/>
          </a:xfrm>
          <a:prstGeom prst="rect">
            <a:avLst/>
          </a:prstGeom>
        </p:spPr>
        <p:txBody>
          <a:bodyPr wrap="none">
            <a:spAutoFit/>
          </a:bodyPr>
          <a:lstStyle/>
          <a:p>
            <a:r>
              <a:rPr lang="en-US" altLang="zh-TW" sz="2800" b="1" dirty="0" smtClean="0">
                <a:latin typeface="Times New Roman" panose="02020603050405020304" pitchFamily="18" charset="0"/>
                <a:cs typeface="Times New Roman" panose="02020603050405020304" pitchFamily="18" charset="0"/>
              </a:rPr>
              <a:t>Multi-model </a:t>
            </a:r>
            <a:r>
              <a:rPr lang="en-US" altLang="zh-TW" sz="2800" b="1" dirty="0">
                <a:latin typeface="Times New Roman" panose="02020603050405020304" pitchFamily="18" charset="0"/>
                <a:cs typeface="Times New Roman" panose="02020603050405020304" pitchFamily="18" charset="0"/>
              </a:rPr>
              <a:t>ensemble </a:t>
            </a:r>
            <a:r>
              <a:rPr lang="en-US" altLang="zh-TW" sz="2800" b="1" dirty="0" smtClean="0">
                <a:latin typeface="Times New Roman" panose="02020603050405020304" pitchFamily="18" charset="0"/>
                <a:cs typeface="Times New Roman" panose="02020603050405020304" pitchFamily="18" charset="0"/>
              </a:rPr>
              <a:t>method :</a:t>
            </a:r>
            <a:endParaRPr lang="zh-TW" altLang="en-US" sz="2800"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223143" y="2662553"/>
            <a:ext cx="8920857" cy="1913239"/>
          </a:xfrm>
          <a:prstGeom prst="rect">
            <a:avLst/>
          </a:prstGeom>
        </p:spPr>
      </p:pic>
    </p:spTree>
    <p:extLst>
      <p:ext uri="{BB962C8B-B14F-4D97-AF65-F5344CB8AC3E}">
        <p14:creationId xmlns:p14="http://schemas.microsoft.com/office/powerpoint/2010/main" val="22287634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023" y="448582"/>
            <a:ext cx="2988254" cy="523220"/>
          </a:xfrm>
          <a:prstGeom prst="rect">
            <a:avLst/>
          </a:prstGeom>
        </p:spPr>
        <p:txBody>
          <a:bodyPr wrap="none">
            <a:spAutoFit/>
          </a:bodyPr>
          <a:lstStyle/>
          <a:p>
            <a:r>
              <a:rPr lang="en-US" altLang="zh-TW" sz="2800" b="1" dirty="0">
                <a:latin typeface="Times New Roman" panose="02020603050405020304" pitchFamily="18" charset="0"/>
                <a:cs typeface="Times New Roman" panose="02020603050405020304" pitchFamily="18" charset="0"/>
              </a:rPr>
              <a:t>Feature </a:t>
            </a:r>
            <a:r>
              <a:rPr lang="en-US" altLang="zh-TW" sz="2800" b="1" dirty="0" smtClean="0">
                <a:latin typeface="Times New Roman" panose="02020603050405020304" pitchFamily="18" charset="0"/>
                <a:cs typeface="Times New Roman" panose="02020603050405020304" pitchFamily="18" charset="0"/>
              </a:rPr>
              <a:t>selection :</a:t>
            </a:r>
            <a:endParaRPr lang="zh-TW" altLang="en-US" sz="2800" b="1" dirty="0">
              <a:latin typeface="Times New Roman" panose="02020603050405020304" pitchFamily="18" charset="0"/>
              <a:cs typeface="Times New Roman" panose="02020603050405020304" pitchFamily="18" charset="0"/>
            </a:endParaRPr>
          </a:p>
        </p:txBody>
      </p:sp>
      <p:sp>
        <p:nvSpPr>
          <p:cNvPr id="3" name="矩形 2"/>
          <p:cNvSpPr/>
          <p:nvPr/>
        </p:nvSpPr>
        <p:spPr>
          <a:xfrm>
            <a:off x="1180530" y="1018007"/>
            <a:ext cx="6257500" cy="2246769"/>
          </a:xfrm>
          <a:prstGeom prst="rect">
            <a:avLst/>
          </a:prstGeom>
        </p:spPr>
        <p:txBody>
          <a:bodyPr wrap="square">
            <a:spAutoFit/>
          </a:bodyPr>
          <a:lstStyle/>
          <a:p>
            <a:r>
              <a:rPr lang="en-US" altLang="zh-TW" sz="2800" dirty="0" smtClean="0">
                <a:latin typeface="Times New Roman" panose="02020603050405020304" pitchFamily="18" charset="0"/>
                <a:cs typeface="Times New Roman" panose="02020603050405020304" pitchFamily="18" charset="0"/>
              </a:rPr>
              <a:t>TCGA(The Cancer Genome Atlas</a:t>
            </a:r>
            <a:r>
              <a:rPr lang="zh-TW" altLang="en-US" sz="2400" dirty="0" smtClean="0">
                <a:latin typeface="Times New Roman" panose="02020603050405020304" pitchFamily="18" charset="0"/>
                <a:cs typeface="Times New Roman" panose="02020603050405020304" pitchFamily="18" charset="0"/>
              </a:rPr>
              <a:t>：</a:t>
            </a:r>
            <a:r>
              <a:rPr lang="zh-TW" altLang="en-US" sz="2800" dirty="0">
                <a:latin typeface="標楷體" panose="03000509000000000000" pitchFamily="65" charset="-120"/>
                <a:ea typeface="標楷體" panose="03000509000000000000" pitchFamily="65" charset="-120"/>
              </a:rPr>
              <a:t>人類癌症基因組</a:t>
            </a:r>
            <a:r>
              <a:rPr lang="zh-TW" altLang="en-US" sz="2800" dirty="0" smtClean="0">
                <a:latin typeface="標楷體" panose="03000509000000000000" pitchFamily="65" charset="-120"/>
                <a:ea typeface="標楷體" panose="03000509000000000000" pitchFamily="65" charset="-120"/>
              </a:rPr>
              <a:t>圖譜</a:t>
            </a:r>
            <a:endParaRPr lang="en-US" altLang="zh-TW" sz="2800" dirty="0" smtClean="0">
              <a:latin typeface="標楷體" panose="03000509000000000000" pitchFamily="65" charset="-120"/>
              <a:ea typeface="標楷體" panose="03000509000000000000" pitchFamily="65" charset="-120"/>
            </a:endParaRPr>
          </a:p>
          <a:p>
            <a:r>
              <a:rPr lang="en-US" altLang="zh-TW" sz="2800" dirty="0" smtClean="0">
                <a:latin typeface="Times New Roman" panose="02020603050405020304" pitchFamily="18" charset="0"/>
                <a:ea typeface="標楷體" panose="03000509000000000000" pitchFamily="65" charset="-120"/>
                <a:cs typeface="Times New Roman" panose="02020603050405020304" pitchFamily="18" charset="0"/>
              </a:rPr>
              <a:t>Lung </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Adenocarcinoma (</a:t>
            </a:r>
            <a:r>
              <a:rPr lang="en-US" altLang="zh-TW" sz="2800" dirty="0" smtClean="0">
                <a:latin typeface="Times New Roman" panose="02020603050405020304" pitchFamily="18" charset="0"/>
                <a:ea typeface="標楷體" panose="03000509000000000000" pitchFamily="65" charset="-120"/>
                <a:cs typeface="Times New Roman" panose="02020603050405020304" pitchFamily="18" charset="0"/>
              </a:rPr>
              <a:t>LUAD)</a:t>
            </a:r>
          </a:p>
          <a:p>
            <a:r>
              <a:rPr lang="en-US" altLang="zh-TW" sz="2800" dirty="0" smtClean="0">
                <a:latin typeface="Times New Roman" panose="02020603050405020304" pitchFamily="18" charset="0"/>
                <a:ea typeface="標楷體" panose="03000509000000000000" pitchFamily="65" charset="-120"/>
                <a:cs typeface="Times New Roman" panose="02020603050405020304" pitchFamily="18" charset="0"/>
              </a:rPr>
              <a:t>Stomach </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Adenocarcinoma (STAD</a:t>
            </a:r>
            <a:r>
              <a:rPr lang="en-US" altLang="zh-TW" sz="2800" dirty="0" smtClean="0">
                <a:latin typeface="Times New Roman" panose="02020603050405020304" pitchFamily="18" charset="0"/>
                <a:ea typeface="標楷體" panose="03000509000000000000" pitchFamily="65" charset="-120"/>
                <a:cs typeface="Times New Roman" panose="02020603050405020304" pitchFamily="18" charset="0"/>
              </a:rPr>
              <a:t>) </a:t>
            </a:r>
          </a:p>
          <a:p>
            <a:r>
              <a:rPr lang="en-US" altLang="zh-TW" sz="2800" dirty="0" smtClean="0">
                <a:latin typeface="Times New Roman" panose="02020603050405020304" pitchFamily="18" charset="0"/>
                <a:ea typeface="標楷體" panose="03000509000000000000" pitchFamily="65" charset="-120"/>
                <a:cs typeface="Times New Roman" panose="02020603050405020304" pitchFamily="18" charset="0"/>
              </a:rPr>
              <a:t>Breast </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Invasive Carcinoma (BRCA</a:t>
            </a:r>
            <a:r>
              <a:rPr lang="en-US" altLang="zh-TW" sz="2800" dirty="0" smtClean="0">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sz="2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p:cNvSpPr/>
          <p:nvPr/>
        </p:nvSpPr>
        <p:spPr>
          <a:xfrm>
            <a:off x="1180530" y="3551379"/>
            <a:ext cx="7294730" cy="1384995"/>
          </a:xfrm>
          <a:prstGeom prst="rect">
            <a:avLst/>
          </a:prstGeom>
        </p:spPr>
        <p:txBody>
          <a:bodyPr wrap="square">
            <a:spAutoFit/>
          </a:bodyPr>
          <a:lstStyle/>
          <a:p>
            <a:r>
              <a:rPr lang="zh-TW" altLang="en-US" sz="2800" dirty="0">
                <a:latin typeface="Times New Roman" panose="02020603050405020304" pitchFamily="18" charset="0"/>
                <a:cs typeface="Times New Roman" panose="02020603050405020304" pitchFamily="18" charset="0"/>
              </a:rPr>
              <a:t>In this paper, we employ the DESeq </a:t>
            </a:r>
            <a:r>
              <a:rPr lang="zh-TW" altLang="en-US" sz="2800" dirty="0" smtClean="0">
                <a:latin typeface="Times New Roman" panose="02020603050405020304" pitchFamily="18" charset="0"/>
                <a:cs typeface="Times New Roman" panose="02020603050405020304" pitchFamily="18" charset="0"/>
              </a:rPr>
              <a:t>method </a:t>
            </a:r>
            <a:r>
              <a:rPr lang="zh-TW" altLang="en-US" sz="2800" dirty="0">
                <a:latin typeface="Times New Roman" panose="02020603050405020304" pitchFamily="18" charset="0"/>
                <a:cs typeface="Times New Roman" panose="02020603050405020304" pitchFamily="18" charset="0"/>
              </a:rPr>
              <a:t>to select </a:t>
            </a:r>
            <a:r>
              <a:rPr lang="zh-TW" altLang="en-US" sz="2800" dirty="0" smtClean="0">
                <a:latin typeface="Times New Roman" panose="02020603050405020304" pitchFamily="18" charset="0"/>
                <a:cs typeface="Times New Roman" panose="02020603050405020304" pitchFamily="18" charset="0"/>
              </a:rPr>
              <a:t>informative </a:t>
            </a:r>
            <a:r>
              <a:rPr lang="zh-TW" altLang="en-US" sz="2800" dirty="0">
                <a:latin typeface="Times New Roman" panose="02020603050405020304" pitchFamily="18" charset="0"/>
                <a:cs typeface="Times New Roman" panose="02020603050405020304" pitchFamily="18" charset="0"/>
              </a:rPr>
              <a:t>genes for the downstream classiﬁcation.</a:t>
            </a:r>
          </a:p>
        </p:txBody>
      </p:sp>
      <p:sp>
        <p:nvSpPr>
          <p:cNvPr id="8" name="矩形 7"/>
          <p:cNvSpPr/>
          <p:nvPr/>
        </p:nvSpPr>
        <p:spPr>
          <a:xfrm>
            <a:off x="1205454" y="5388715"/>
            <a:ext cx="1619392" cy="523220"/>
          </a:xfrm>
          <a:prstGeom prst="rect">
            <a:avLst/>
          </a:prstGeom>
        </p:spPr>
        <p:txBody>
          <a:bodyPr wrap="square">
            <a:spAutoFit/>
          </a:bodyPr>
          <a:lstStyle/>
          <a:p>
            <a:r>
              <a:rPr lang="en-US" altLang="zh-TW" sz="2800" dirty="0" smtClean="0">
                <a:latin typeface="Times New Roman" panose="02020603050405020304" pitchFamily="18" charset="0"/>
                <a:cs typeface="Times New Roman" panose="02020603050405020304" pitchFamily="18" charset="0"/>
              </a:rPr>
              <a:t>p=0&lt;0.01</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98087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54622" y="832514"/>
            <a:ext cx="4176935" cy="369332"/>
          </a:xfrm>
          <a:prstGeom prst="rect">
            <a:avLst/>
          </a:prstGeom>
        </p:spPr>
        <p:txBody>
          <a:bodyPr wrap="square">
            <a:spAutoFit/>
          </a:bodyPr>
          <a:lstStyle/>
          <a:p>
            <a:r>
              <a:rPr lang="zh-TW" altLang="en-US" dirty="0">
                <a:latin typeface="medium-content-serif-font"/>
              </a:rPr>
              <a:t>男生身高資料</a:t>
            </a:r>
            <a:r>
              <a:rPr lang="en-US" altLang="zh-TW" dirty="0">
                <a:latin typeface="medium-content-serif-font"/>
              </a:rPr>
              <a:t>{170,175,178,180}</a:t>
            </a:r>
            <a:endParaRPr lang="zh-TW" altLang="en-US" dirty="0"/>
          </a:p>
        </p:txBody>
      </p:sp>
      <p:sp>
        <p:nvSpPr>
          <p:cNvPr id="6" name="矩形 5"/>
          <p:cNvSpPr/>
          <p:nvPr/>
        </p:nvSpPr>
        <p:spPr>
          <a:xfrm>
            <a:off x="954622" y="1153531"/>
            <a:ext cx="3249608" cy="369332"/>
          </a:xfrm>
          <a:prstGeom prst="rect">
            <a:avLst/>
          </a:prstGeom>
        </p:spPr>
        <p:txBody>
          <a:bodyPr wrap="none">
            <a:spAutoFit/>
          </a:bodyPr>
          <a:lstStyle/>
          <a:p>
            <a:r>
              <a:rPr lang="zh-TW" altLang="en-US" dirty="0">
                <a:latin typeface="medium-content-serif-font"/>
              </a:rPr>
              <a:t>女生身高資料</a:t>
            </a:r>
            <a:r>
              <a:rPr lang="en-US" altLang="zh-TW" dirty="0">
                <a:latin typeface="medium-content-serif-font"/>
              </a:rPr>
              <a:t>{160,165,168,150}</a:t>
            </a:r>
            <a:endParaRPr lang="zh-TW" altLang="en-US" dirty="0"/>
          </a:p>
        </p:txBody>
      </p:sp>
      <p:sp>
        <p:nvSpPr>
          <p:cNvPr id="7" name="矩形 6"/>
          <p:cNvSpPr/>
          <p:nvPr/>
        </p:nvSpPr>
        <p:spPr>
          <a:xfrm>
            <a:off x="954622" y="1704676"/>
            <a:ext cx="5459826" cy="646331"/>
          </a:xfrm>
          <a:prstGeom prst="rect">
            <a:avLst/>
          </a:prstGeom>
        </p:spPr>
        <p:txBody>
          <a:bodyPr wrap="square">
            <a:spAutoFit/>
          </a:bodyPr>
          <a:lstStyle/>
          <a:p>
            <a:r>
              <a:rPr lang="zh-TW" altLang="en-US" dirty="0"/>
              <a:t>虛無假設</a:t>
            </a:r>
            <a:r>
              <a:rPr lang="en-US" altLang="zh-TW" dirty="0"/>
              <a:t>(H0): </a:t>
            </a:r>
            <a:r>
              <a:rPr lang="zh-TW" altLang="en-US" dirty="0"/>
              <a:t>平均數</a:t>
            </a:r>
            <a:r>
              <a:rPr lang="en-US" altLang="zh-TW" dirty="0"/>
              <a:t>(</a:t>
            </a:r>
            <a:r>
              <a:rPr lang="zh-TW" altLang="en-US" dirty="0"/>
              <a:t>男生身高</a:t>
            </a:r>
            <a:r>
              <a:rPr lang="en-US" altLang="zh-TW" dirty="0"/>
              <a:t>)= </a:t>
            </a:r>
            <a:r>
              <a:rPr lang="zh-TW" altLang="en-US" dirty="0"/>
              <a:t>平均數</a:t>
            </a:r>
            <a:r>
              <a:rPr lang="en-US" altLang="zh-TW" dirty="0"/>
              <a:t>(</a:t>
            </a:r>
            <a:r>
              <a:rPr lang="zh-TW" altLang="en-US" dirty="0"/>
              <a:t>女生身高</a:t>
            </a:r>
            <a:r>
              <a:rPr lang="en-US" altLang="zh-TW" dirty="0"/>
              <a:t>)</a:t>
            </a:r>
            <a:r>
              <a:rPr lang="zh-TW" altLang="en-US" dirty="0"/>
              <a:t/>
            </a:r>
            <a:br>
              <a:rPr lang="zh-TW" altLang="en-US" dirty="0"/>
            </a:br>
            <a:r>
              <a:rPr lang="zh-TW" altLang="en-US" dirty="0"/>
              <a:t>對立假設</a:t>
            </a:r>
            <a:r>
              <a:rPr lang="en-US" altLang="zh-TW" dirty="0"/>
              <a:t>(H1): </a:t>
            </a:r>
            <a:r>
              <a:rPr lang="zh-TW" altLang="en-US" dirty="0"/>
              <a:t>平均數</a:t>
            </a:r>
            <a:r>
              <a:rPr lang="en-US" altLang="zh-TW" dirty="0"/>
              <a:t>(</a:t>
            </a:r>
            <a:r>
              <a:rPr lang="zh-TW" altLang="en-US" dirty="0"/>
              <a:t>男生身高</a:t>
            </a:r>
            <a:r>
              <a:rPr lang="en-US" altLang="zh-TW" dirty="0"/>
              <a:t>)≠</a:t>
            </a:r>
            <a:r>
              <a:rPr lang="zh-TW" altLang="en-US" dirty="0"/>
              <a:t>平均數</a:t>
            </a:r>
            <a:r>
              <a:rPr lang="en-US" altLang="zh-TW" dirty="0"/>
              <a:t>(</a:t>
            </a:r>
            <a:r>
              <a:rPr lang="zh-TW" altLang="en-US" dirty="0"/>
              <a:t>女生身高</a:t>
            </a:r>
            <a:r>
              <a:rPr lang="en-US" altLang="zh-TW" dirty="0"/>
              <a:t>)</a:t>
            </a:r>
            <a:endParaRPr lang="zh-TW" altLang="en-US" dirty="0"/>
          </a:p>
        </p:txBody>
      </p:sp>
      <p:sp>
        <p:nvSpPr>
          <p:cNvPr id="8" name="矩形 7"/>
          <p:cNvSpPr/>
          <p:nvPr/>
        </p:nvSpPr>
        <p:spPr>
          <a:xfrm>
            <a:off x="954622" y="2761895"/>
            <a:ext cx="4572000" cy="1200329"/>
          </a:xfrm>
          <a:prstGeom prst="rect">
            <a:avLst/>
          </a:prstGeom>
        </p:spPr>
        <p:txBody>
          <a:bodyPr>
            <a:spAutoFit/>
          </a:bodyPr>
          <a:lstStyle/>
          <a:p>
            <a:r>
              <a:rPr lang="zh-TW" altLang="en-US" dirty="0">
                <a:latin typeface="medium-content-serif-font"/>
              </a:rPr>
              <a:t>平均數</a:t>
            </a:r>
            <a:r>
              <a:rPr lang="en-US" altLang="zh-TW" dirty="0">
                <a:latin typeface="medium-content-serif-font"/>
              </a:rPr>
              <a:t>(</a:t>
            </a:r>
            <a:r>
              <a:rPr lang="zh-TW" altLang="en-US" dirty="0">
                <a:latin typeface="medium-content-serif-font"/>
              </a:rPr>
              <a:t>女生身高</a:t>
            </a:r>
            <a:r>
              <a:rPr lang="en-US" altLang="zh-TW" dirty="0">
                <a:latin typeface="medium-content-serif-font"/>
              </a:rPr>
              <a:t>)= 148.2253</a:t>
            </a:r>
            <a:r>
              <a:rPr lang="zh-TW" altLang="en-US" dirty="0"/>
              <a:t/>
            </a:r>
            <a:br>
              <a:rPr lang="zh-TW" altLang="en-US" dirty="0"/>
            </a:br>
            <a:r>
              <a:rPr lang="zh-TW" altLang="en-US" dirty="0">
                <a:latin typeface="medium-content-serif-font"/>
              </a:rPr>
              <a:t>平均數</a:t>
            </a:r>
            <a:r>
              <a:rPr lang="en-US" altLang="zh-TW" dirty="0">
                <a:latin typeface="medium-content-serif-font"/>
              </a:rPr>
              <a:t>(</a:t>
            </a:r>
            <a:r>
              <a:rPr lang="zh-TW" altLang="en-US" dirty="0">
                <a:latin typeface="medium-content-serif-font"/>
              </a:rPr>
              <a:t>男生身高</a:t>
            </a:r>
            <a:r>
              <a:rPr lang="en-US" altLang="zh-TW" dirty="0">
                <a:latin typeface="medium-content-serif-font"/>
              </a:rPr>
              <a:t>)= 179.8867</a:t>
            </a:r>
            <a:r>
              <a:rPr lang="zh-TW" altLang="en-US" dirty="0"/>
              <a:t/>
            </a:r>
            <a:br>
              <a:rPr lang="zh-TW" altLang="en-US" dirty="0"/>
            </a:br>
            <a:r>
              <a:rPr lang="zh-TW" altLang="en-US" dirty="0">
                <a:latin typeface="medium-content-serif-font"/>
              </a:rPr>
              <a:t>標準差</a:t>
            </a:r>
            <a:r>
              <a:rPr lang="en-US" altLang="zh-TW" dirty="0">
                <a:latin typeface="medium-content-serif-font"/>
              </a:rPr>
              <a:t>(</a:t>
            </a:r>
            <a:r>
              <a:rPr lang="zh-TW" altLang="en-US" dirty="0">
                <a:latin typeface="medium-content-serif-font"/>
              </a:rPr>
              <a:t>女生身高</a:t>
            </a:r>
            <a:r>
              <a:rPr lang="en-US" altLang="zh-TW" dirty="0">
                <a:latin typeface="medium-content-serif-font"/>
              </a:rPr>
              <a:t>)= 8.6371</a:t>
            </a:r>
            <a:r>
              <a:rPr lang="zh-TW" altLang="en-US" dirty="0"/>
              <a:t/>
            </a:r>
            <a:br>
              <a:rPr lang="zh-TW" altLang="en-US" dirty="0"/>
            </a:br>
            <a:r>
              <a:rPr lang="zh-TW" altLang="en-US" dirty="0">
                <a:latin typeface="medium-content-serif-font"/>
              </a:rPr>
              <a:t>標準差</a:t>
            </a:r>
            <a:r>
              <a:rPr lang="en-US" altLang="zh-TW" dirty="0">
                <a:latin typeface="medium-content-serif-font"/>
              </a:rPr>
              <a:t>(</a:t>
            </a:r>
            <a:r>
              <a:rPr lang="zh-TW" altLang="en-US" dirty="0">
                <a:latin typeface="medium-content-serif-font"/>
              </a:rPr>
              <a:t>男生身高</a:t>
            </a:r>
            <a:r>
              <a:rPr lang="en-US" altLang="zh-TW" dirty="0">
                <a:latin typeface="medium-content-serif-font"/>
              </a:rPr>
              <a:t>)= 8.5540</a:t>
            </a:r>
            <a:endParaRPr lang="zh-TW" altLang="en-US" dirty="0"/>
          </a:p>
        </p:txBody>
      </p:sp>
      <p:pic>
        <p:nvPicPr>
          <p:cNvPr id="1026" name="Picture 2" descr="https://cdn-images-1.medium.com/max/1200/1*z6qPYYjWSnKgwse3pwPay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4622" y="4271748"/>
            <a:ext cx="5857865" cy="1505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07320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53901" y="422084"/>
            <a:ext cx="4572000" cy="1200329"/>
          </a:xfrm>
          <a:prstGeom prst="rect">
            <a:avLst/>
          </a:prstGeom>
        </p:spPr>
        <p:txBody>
          <a:bodyPr>
            <a:spAutoFit/>
          </a:bodyPr>
          <a:lstStyle/>
          <a:p>
            <a:r>
              <a:rPr lang="zh-TW" altLang="en-US" dirty="0">
                <a:latin typeface="medium-content-serif-font"/>
              </a:rPr>
              <a:t>平均數</a:t>
            </a:r>
            <a:r>
              <a:rPr lang="en-US" altLang="zh-TW" dirty="0">
                <a:latin typeface="medium-content-serif-font"/>
              </a:rPr>
              <a:t>(</a:t>
            </a:r>
            <a:r>
              <a:rPr lang="zh-TW" altLang="en-US" dirty="0">
                <a:latin typeface="medium-content-serif-font"/>
              </a:rPr>
              <a:t>女生身高</a:t>
            </a:r>
            <a:r>
              <a:rPr lang="en-US" altLang="zh-TW" dirty="0">
                <a:latin typeface="medium-content-serif-font"/>
              </a:rPr>
              <a:t>)=169.6028</a:t>
            </a:r>
            <a:r>
              <a:rPr lang="zh-TW" altLang="en-US" dirty="0"/>
              <a:t/>
            </a:r>
            <a:br>
              <a:rPr lang="zh-TW" altLang="en-US" dirty="0"/>
            </a:br>
            <a:r>
              <a:rPr lang="zh-TW" altLang="en-US" dirty="0">
                <a:latin typeface="medium-content-serif-font"/>
              </a:rPr>
              <a:t>平均數</a:t>
            </a:r>
            <a:r>
              <a:rPr lang="en-US" altLang="zh-TW" dirty="0">
                <a:latin typeface="medium-content-serif-font"/>
              </a:rPr>
              <a:t>(</a:t>
            </a:r>
            <a:r>
              <a:rPr lang="zh-TW" altLang="en-US" dirty="0">
                <a:latin typeface="medium-content-serif-font"/>
              </a:rPr>
              <a:t>男生身高</a:t>
            </a:r>
            <a:r>
              <a:rPr lang="en-US" altLang="zh-TW" dirty="0">
                <a:latin typeface="medium-content-serif-font"/>
              </a:rPr>
              <a:t>)=174.1443</a:t>
            </a:r>
            <a:r>
              <a:rPr lang="zh-TW" altLang="en-US" dirty="0"/>
              <a:t/>
            </a:r>
            <a:br>
              <a:rPr lang="zh-TW" altLang="en-US" dirty="0"/>
            </a:br>
            <a:r>
              <a:rPr lang="zh-TW" altLang="en-US" dirty="0">
                <a:latin typeface="medium-content-serif-font"/>
              </a:rPr>
              <a:t>標準差</a:t>
            </a:r>
            <a:r>
              <a:rPr lang="en-US" altLang="zh-TW" dirty="0">
                <a:latin typeface="medium-content-serif-font"/>
              </a:rPr>
              <a:t>(</a:t>
            </a:r>
            <a:r>
              <a:rPr lang="zh-TW" altLang="en-US" dirty="0">
                <a:latin typeface="medium-content-serif-font"/>
              </a:rPr>
              <a:t>女生身高</a:t>
            </a:r>
            <a:r>
              <a:rPr lang="en-US" altLang="zh-TW" dirty="0">
                <a:latin typeface="medium-content-serif-font"/>
              </a:rPr>
              <a:t>)= 32.1374</a:t>
            </a:r>
            <a:r>
              <a:rPr lang="zh-TW" altLang="en-US" dirty="0"/>
              <a:t/>
            </a:r>
            <a:br>
              <a:rPr lang="zh-TW" altLang="en-US" dirty="0"/>
            </a:br>
            <a:r>
              <a:rPr lang="zh-TW" altLang="en-US" dirty="0">
                <a:latin typeface="medium-content-serif-font"/>
              </a:rPr>
              <a:t>標準差</a:t>
            </a:r>
            <a:r>
              <a:rPr lang="en-US" altLang="zh-TW" dirty="0">
                <a:latin typeface="medium-content-serif-font"/>
              </a:rPr>
              <a:t>(</a:t>
            </a:r>
            <a:r>
              <a:rPr lang="zh-TW" altLang="en-US" dirty="0">
                <a:latin typeface="medium-content-serif-font"/>
              </a:rPr>
              <a:t>男生身高</a:t>
            </a:r>
            <a:r>
              <a:rPr lang="en-US" altLang="zh-TW" dirty="0">
                <a:latin typeface="medium-content-serif-font"/>
              </a:rPr>
              <a:t>)= 30.8397</a:t>
            </a:r>
            <a:endParaRPr lang="zh-TW" altLang="en-US" dirty="0"/>
          </a:p>
        </p:txBody>
      </p:sp>
      <p:pic>
        <p:nvPicPr>
          <p:cNvPr id="2050" name="Picture 2" descr="https://cdn-images-1.medium.com/max/1200/1*xlhTRAxAmOqO20gHzqB5j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901" y="2183642"/>
            <a:ext cx="5496636" cy="1412543"/>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1057701" y="4157414"/>
            <a:ext cx="6421272" cy="923330"/>
          </a:xfrm>
          <a:prstGeom prst="rect">
            <a:avLst/>
          </a:prstGeom>
        </p:spPr>
        <p:txBody>
          <a:bodyPr wrap="square">
            <a:spAutoFit/>
          </a:bodyPr>
          <a:lstStyle/>
          <a:p>
            <a:r>
              <a:rPr lang="zh-TW" altLang="en-US" dirty="0">
                <a:latin typeface="medium-content-serif-font"/>
              </a:rPr>
              <a:t>因為</a:t>
            </a:r>
            <a:r>
              <a:rPr lang="en-US" altLang="zh-TW" dirty="0">
                <a:latin typeface="medium-content-serif-font"/>
              </a:rPr>
              <a:t>p=0&lt;0.05</a:t>
            </a:r>
            <a:r>
              <a:rPr lang="zh-TW" altLang="en-US" dirty="0">
                <a:latin typeface="medium-content-serif-font"/>
              </a:rPr>
              <a:t>，我們必須拒絕「虛無假設</a:t>
            </a:r>
            <a:r>
              <a:rPr lang="en-US" altLang="zh-TW" dirty="0">
                <a:latin typeface="medium-content-serif-font"/>
              </a:rPr>
              <a:t>(H0):</a:t>
            </a:r>
            <a:r>
              <a:rPr lang="zh-TW" altLang="en-US" dirty="0">
                <a:latin typeface="medium-content-serif-font"/>
              </a:rPr>
              <a:t>平均數</a:t>
            </a:r>
            <a:r>
              <a:rPr lang="en-US" altLang="zh-TW" dirty="0">
                <a:latin typeface="medium-content-serif-font"/>
              </a:rPr>
              <a:t>(</a:t>
            </a:r>
            <a:r>
              <a:rPr lang="zh-TW" altLang="en-US" dirty="0">
                <a:latin typeface="medium-content-serif-font"/>
              </a:rPr>
              <a:t>男生身高</a:t>
            </a:r>
            <a:r>
              <a:rPr lang="en-US" altLang="zh-TW" dirty="0">
                <a:latin typeface="medium-content-serif-font"/>
              </a:rPr>
              <a:t>)=</a:t>
            </a:r>
            <a:r>
              <a:rPr lang="zh-TW" altLang="en-US" dirty="0">
                <a:latin typeface="medium-content-serif-font"/>
              </a:rPr>
              <a:t>平均數</a:t>
            </a:r>
            <a:r>
              <a:rPr lang="en-US" altLang="zh-TW" dirty="0">
                <a:latin typeface="medium-content-serif-font"/>
              </a:rPr>
              <a:t>(</a:t>
            </a:r>
            <a:r>
              <a:rPr lang="zh-TW" altLang="en-US" dirty="0">
                <a:latin typeface="medium-content-serif-font"/>
              </a:rPr>
              <a:t>女生身高</a:t>
            </a:r>
            <a:r>
              <a:rPr lang="en-US" altLang="zh-TW" dirty="0">
                <a:latin typeface="medium-content-serif-font"/>
              </a:rPr>
              <a:t>)</a:t>
            </a:r>
            <a:r>
              <a:rPr lang="zh-TW" altLang="en-US" dirty="0">
                <a:latin typeface="medium-content-serif-font"/>
              </a:rPr>
              <a:t>」，所以範例</a:t>
            </a:r>
            <a:r>
              <a:rPr lang="en-US" altLang="zh-TW" dirty="0">
                <a:latin typeface="medium-content-serif-font"/>
              </a:rPr>
              <a:t>1</a:t>
            </a:r>
            <a:r>
              <a:rPr lang="zh-TW" altLang="en-US" dirty="0">
                <a:latin typeface="medium-content-serif-font"/>
              </a:rPr>
              <a:t>結論是「男生跟女生身高是有統計上顯著差異的」。</a:t>
            </a:r>
            <a:endParaRPr lang="zh-TW" altLang="en-US" dirty="0"/>
          </a:p>
        </p:txBody>
      </p:sp>
      <p:sp>
        <p:nvSpPr>
          <p:cNvPr id="5" name="矩形 4"/>
          <p:cNvSpPr/>
          <p:nvPr/>
        </p:nvSpPr>
        <p:spPr>
          <a:xfrm>
            <a:off x="1057701" y="5421911"/>
            <a:ext cx="6858000" cy="923330"/>
          </a:xfrm>
          <a:prstGeom prst="rect">
            <a:avLst/>
          </a:prstGeom>
        </p:spPr>
        <p:txBody>
          <a:bodyPr wrap="square">
            <a:spAutoFit/>
          </a:bodyPr>
          <a:lstStyle/>
          <a:p>
            <a:r>
              <a:rPr lang="zh-TW" altLang="en-US" dirty="0">
                <a:latin typeface="medium-content-serif-font"/>
              </a:rPr>
              <a:t>因為</a:t>
            </a:r>
            <a:r>
              <a:rPr lang="en-US" altLang="zh-TW" dirty="0">
                <a:latin typeface="medium-content-serif-font"/>
              </a:rPr>
              <a:t>p=0.3092&gt;0.05</a:t>
            </a:r>
            <a:r>
              <a:rPr lang="zh-TW" altLang="en-US" dirty="0">
                <a:latin typeface="medium-content-serif-font"/>
              </a:rPr>
              <a:t>，我們不能拒絕「虛無假設</a:t>
            </a:r>
            <a:r>
              <a:rPr lang="en-US" altLang="zh-TW" dirty="0">
                <a:latin typeface="medium-content-serif-font"/>
              </a:rPr>
              <a:t>(H0):</a:t>
            </a:r>
            <a:r>
              <a:rPr lang="zh-TW" altLang="en-US" dirty="0">
                <a:latin typeface="medium-content-serif-font"/>
              </a:rPr>
              <a:t>平均數</a:t>
            </a:r>
            <a:r>
              <a:rPr lang="en-US" altLang="zh-TW" dirty="0">
                <a:latin typeface="medium-content-serif-font"/>
              </a:rPr>
              <a:t>(</a:t>
            </a:r>
            <a:r>
              <a:rPr lang="zh-TW" altLang="en-US" dirty="0">
                <a:latin typeface="medium-content-serif-font"/>
              </a:rPr>
              <a:t>男生身高</a:t>
            </a:r>
            <a:r>
              <a:rPr lang="en-US" altLang="zh-TW" dirty="0">
                <a:latin typeface="medium-content-serif-font"/>
              </a:rPr>
              <a:t>)=</a:t>
            </a:r>
            <a:r>
              <a:rPr lang="zh-TW" altLang="en-US" dirty="0">
                <a:latin typeface="medium-content-serif-font"/>
              </a:rPr>
              <a:t>平均數</a:t>
            </a:r>
            <a:r>
              <a:rPr lang="en-US" altLang="zh-TW" dirty="0">
                <a:latin typeface="medium-content-serif-font"/>
              </a:rPr>
              <a:t>(</a:t>
            </a:r>
            <a:r>
              <a:rPr lang="zh-TW" altLang="en-US" dirty="0">
                <a:latin typeface="medium-content-serif-font"/>
              </a:rPr>
              <a:t>女生身高</a:t>
            </a:r>
            <a:r>
              <a:rPr lang="en-US" altLang="zh-TW" dirty="0">
                <a:latin typeface="medium-content-serif-font"/>
              </a:rPr>
              <a:t>)</a:t>
            </a:r>
            <a:r>
              <a:rPr lang="zh-TW" altLang="en-US" dirty="0">
                <a:latin typeface="medium-content-serif-font"/>
              </a:rPr>
              <a:t>」，所以範例</a:t>
            </a:r>
            <a:r>
              <a:rPr lang="en-US" altLang="zh-TW" dirty="0">
                <a:latin typeface="medium-content-serif-font"/>
              </a:rPr>
              <a:t>2</a:t>
            </a:r>
            <a:r>
              <a:rPr lang="zh-TW" altLang="en-US" dirty="0">
                <a:latin typeface="medium-content-serif-font"/>
              </a:rPr>
              <a:t>結論是「男生跟女生身高是有統計上沒有顯著差異的」。</a:t>
            </a:r>
            <a:endParaRPr lang="zh-TW" altLang="en-US" dirty="0"/>
          </a:p>
        </p:txBody>
      </p:sp>
    </p:spTree>
    <p:extLst>
      <p:ext uri="{BB962C8B-B14F-4D97-AF65-F5344CB8AC3E}">
        <p14:creationId xmlns:p14="http://schemas.microsoft.com/office/powerpoint/2010/main" val="786264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023" y="448582"/>
            <a:ext cx="2892074" cy="523220"/>
          </a:xfrm>
          <a:prstGeom prst="rect">
            <a:avLst/>
          </a:prstGeom>
        </p:spPr>
        <p:txBody>
          <a:bodyPr wrap="none">
            <a:spAutoFit/>
          </a:bodyPr>
          <a:lstStyle/>
          <a:p>
            <a:r>
              <a:rPr lang="en-US" altLang="zh-TW" sz="2800" b="1" dirty="0">
                <a:latin typeface="Times New Roman" panose="02020603050405020304" pitchFamily="18" charset="0"/>
                <a:cs typeface="Times New Roman" panose="02020603050405020304" pitchFamily="18" charset="0"/>
              </a:rPr>
              <a:t>Cross </a:t>
            </a:r>
            <a:r>
              <a:rPr lang="en-US" altLang="zh-TW" sz="2800" b="1" dirty="0" smtClean="0">
                <a:latin typeface="Times New Roman" panose="02020603050405020304" pitchFamily="18" charset="0"/>
                <a:cs typeface="Times New Roman" panose="02020603050405020304" pitchFamily="18" charset="0"/>
              </a:rPr>
              <a:t>validation :</a:t>
            </a:r>
            <a:endParaRPr lang="zh-TW" altLang="en-US" sz="2800" b="1"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3"/>
          <a:stretch>
            <a:fillRect/>
          </a:stretch>
        </p:blipFill>
        <p:spPr>
          <a:xfrm>
            <a:off x="755002" y="1302119"/>
            <a:ext cx="8047803" cy="4254082"/>
          </a:xfrm>
          <a:prstGeom prst="rect">
            <a:avLst/>
          </a:prstGeom>
        </p:spPr>
      </p:pic>
    </p:spTree>
    <p:extLst>
      <p:ext uri="{BB962C8B-B14F-4D97-AF65-F5344CB8AC3E}">
        <p14:creationId xmlns:p14="http://schemas.microsoft.com/office/powerpoint/2010/main" val="21895155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023" y="448582"/>
            <a:ext cx="3837910" cy="523220"/>
          </a:xfrm>
          <a:prstGeom prst="rect">
            <a:avLst/>
          </a:prstGeom>
        </p:spPr>
        <p:txBody>
          <a:bodyPr wrap="none">
            <a:spAutoFit/>
          </a:bodyPr>
          <a:lstStyle/>
          <a:p>
            <a:r>
              <a:rPr lang="en-US" altLang="zh-TW" sz="2800" b="1" dirty="0">
                <a:latin typeface="Times New Roman" panose="02020603050405020304" pitchFamily="18" charset="0"/>
                <a:cs typeface="Times New Roman" panose="02020603050405020304" pitchFamily="18" charset="0"/>
              </a:rPr>
              <a:t>Classiﬁcation methods :</a:t>
            </a:r>
            <a:endParaRPr lang="zh-TW" altLang="en-US" sz="2800" b="1" dirty="0">
              <a:latin typeface="Times New Roman" panose="02020603050405020304" pitchFamily="18" charset="0"/>
              <a:cs typeface="Times New Roman" panose="02020603050405020304" pitchFamily="18" charset="0"/>
            </a:endParaRPr>
          </a:p>
        </p:txBody>
      </p:sp>
      <p:sp>
        <p:nvSpPr>
          <p:cNvPr id="5" name="矩形 4"/>
          <p:cNvSpPr/>
          <p:nvPr/>
        </p:nvSpPr>
        <p:spPr>
          <a:xfrm>
            <a:off x="879720" y="1089796"/>
            <a:ext cx="4669473" cy="400110"/>
          </a:xfrm>
          <a:prstGeom prst="rect">
            <a:avLst/>
          </a:prstGeom>
        </p:spPr>
        <p:txBody>
          <a:bodyPr wrap="square">
            <a:spAutoFit/>
          </a:bodyPr>
          <a:lstStyle/>
          <a:p>
            <a:r>
              <a:rPr lang="en-US" altLang="zh-TW" sz="2000" b="1" dirty="0" smtClean="0">
                <a:solidFill>
                  <a:srgbClr val="1A1A1A"/>
                </a:solidFill>
                <a:latin typeface="-apple-system"/>
              </a:rPr>
              <a:t>GBDT:</a:t>
            </a:r>
            <a:r>
              <a:rPr lang="en-US" altLang="zh-TW" sz="2000" b="1" dirty="0">
                <a:solidFill>
                  <a:srgbClr val="3D3D3D"/>
                </a:solidFill>
                <a:latin typeface="-apple-system"/>
              </a:rPr>
              <a:t>GB</a:t>
            </a:r>
            <a:r>
              <a:rPr lang="zh-TW" altLang="en-US" sz="2000" b="1" dirty="0">
                <a:solidFill>
                  <a:srgbClr val="3D3D3D"/>
                </a:solidFill>
                <a:latin typeface="-apple-system"/>
              </a:rPr>
              <a:t>（</a:t>
            </a:r>
            <a:r>
              <a:rPr lang="en-US" altLang="zh-TW" sz="2000" b="1" dirty="0">
                <a:solidFill>
                  <a:srgbClr val="3D3D3D"/>
                </a:solidFill>
                <a:latin typeface="-apple-system"/>
              </a:rPr>
              <a:t>Gradient </a:t>
            </a:r>
            <a:r>
              <a:rPr lang="en-US" altLang="zh-TW" sz="2000" b="1" dirty="0" smtClean="0">
                <a:solidFill>
                  <a:srgbClr val="3D3D3D"/>
                </a:solidFill>
                <a:latin typeface="-apple-system"/>
              </a:rPr>
              <a:t>Boosting</a:t>
            </a:r>
            <a:r>
              <a:rPr lang="zh-TW" altLang="en-US" sz="2000" b="1" dirty="0" smtClean="0">
                <a:solidFill>
                  <a:srgbClr val="3D3D3D"/>
                </a:solidFill>
                <a:latin typeface="-apple-system"/>
              </a:rPr>
              <a:t>）</a:t>
            </a:r>
            <a:endParaRPr lang="zh-TW" altLang="en-US" sz="2000" b="1" dirty="0">
              <a:solidFill>
                <a:srgbClr val="3D3D3D"/>
              </a:solidFill>
              <a:latin typeface="-apple-system"/>
            </a:endParaRPr>
          </a:p>
        </p:txBody>
      </p:sp>
      <p:sp>
        <p:nvSpPr>
          <p:cNvPr id="7" name="矩形 6"/>
          <p:cNvSpPr/>
          <p:nvPr/>
        </p:nvSpPr>
        <p:spPr>
          <a:xfrm>
            <a:off x="842284" y="2054200"/>
            <a:ext cx="164994" cy="309741"/>
          </a:xfrm>
          <a:prstGeom prst="rect">
            <a:avLst/>
          </a:prstGeom>
        </p:spPr>
        <p:txBody>
          <a:bodyPr wrap="square">
            <a:spAutoFit/>
          </a:bodyPr>
          <a:lstStyle/>
          <a:p>
            <a:pPr fontAlgn="base"/>
            <a:endParaRPr lang="zh-TW" altLang="en-US" b="1" i="0" dirty="0">
              <a:solidFill>
                <a:srgbClr val="3D3D3D"/>
              </a:solidFill>
              <a:effectLst/>
              <a:latin typeface="-apple-system"/>
            </a:endParaRPr>
          </a:p>
        </p:txBody>
      </p:sp>
      <p:sp>
        <p:nvSpPr>
          <p:cNvPr id="9" name="橢圓 8"/>
          <p:cNvSpPr/>
          <p:nvPr/>
        </p:nvSpPr>
        <p:spPr>
          <a:xfrm>
            <a:off x="639506" y="1546978"/>
            <a:ext cx="1170200" cy="7897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smtClean="0"/>
              <a:t>26</a:t>
            </a:r>
            <a:endParaRPr lang="zh-TW" altLang="en-US" dirty="0"/>
          </a:p>
        </p:txBody>
      </p:sp>
      <p:sp>
        <p:nvSpPr>
          <p:cNvPr id="10" name="橢圓 9"/>
          <p:cNvSpPr/>
          <p:nvPr/>
        </p:nvSpPr>
        <p:spPr>
          <a:xfrm>
            <a:off x="3224006" y="1543039"/>
            <a:ext cx="1170200" cy="78975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smtClean="0"/>
              <a:t>20</a:t>
            </a:r>
            <a:endParaRPr lang="zh-TW" altLang="en-US" dirty="0"/>
          </a:p>
        </p:txBody>
      </p:sp>
      <p:sp>
        <p:nvSpPr>
          <p:cNvPr id="16" name="向右箭號 15"/>
          <p:cNvSpPr/>
          <p:nvPr/>
        </p:nvSpPr>
        <p:spPr>
          <a:xfrm>
            <a:off x="2168055" y="1839775"/>
            <a:ext cx="682416" cy="33469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17" name="向右箭號 16"/>
          <p:cNvSpPr/>
          <p:nvPr/>
        </p:nvSpPr>
        <p:spPr>
          <a:xfrm rot="2237412">
            <a:off x="1770412" y="2689988"/>
            <a:ext cx="763016" cy="3630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p:cNvSpPr/>
          <p:nvPr/>
        </p:nvSpPr>
        <p:spPr>
          <a:xfrm>
            <a:off x="2608142" y="3684657"/>
            <a:ext cx="164994" cy="309741"/>
          </a:xfrm>
          <a:prstGeom prst="rect">
            <a:avLst/>
          </a:prstGeom>
        </p:spPr>
        <p:txBody>
          <a:bodyPr wrap="square">
            <a:spAutoFit/>
          </a:bodyPr>
          <a:lstStyle/>
          <a:p>
            <a:pPr fontAlgn="base"/>
            <a:endParaRPr lang="zh-TW" altLang="en-US" b="1" i="0" dirty="0">
              <a:solidFill>
                <a:srgbClr val="3D3D3D"/>
              </a:solidFill>
              <a:effectLst/>
              <a:latin typeface="-apple-system"/>
            </a:endParaRPr>
          </a:p>
        </p:txBody>
      </p:sp>
      <p:sp>
        <p:nvSpPr>
          <p:cNvPr id="19" name="橢圓 18"/>
          <p:cNvSpPr/>
          <p:nvPr/>
        </p:nvSpPr>
        <p:spPr>
          <a:xfrm>
            <a:off x="2382258" y="3197331"/>
            <a:ext cx="1170200" cy="7897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smtClean="0"/>
              <a:t>6</a:t>
            </a:r>
            <a:endParaRPr lang="zh-TW" altLang="en-US" dirty="0"/>
          </a:p>
        </p:txBody>
      </p:sp>
      <p:sp>
        <p:nvSpPr>
          <p:cNvPr id="20" name="橢圓 19"/>
          <p:cNvSpPr/>
          <p:nvPr/>
        </p:nvSpPr>
        <p:spPr>
          <a:xfrm>
            <a:off x="5285042" y="3037789"/>
            <a:ext cx="1170200" cy="78975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3</a:t>
            </a:r>
            <a:endParaRPr lang="zh-TW" altLang="en-US" dirty="0"/>
          </a:p>
        </p:txBody>
      </p:sp>
      <p:sp>
        <p:nvSpPr>
          <p:cNvPr id="21" name="向右箭號 20"/>
          <p:cNvSpPr/>
          <p:nvPr/>
        </p:nvSpPr>
        <p:spPr>
          <a:xfrm>
            <a:off x="4292110" y="3402141"/>
            <a:ext cx="682416" cy="33469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22" name="向右箭號 21"/>
          <p:cNvSpPr/>
          <p:nvPr/>
        </p:nvSpPr>
        <p:spPr>
          <a:xfrm rot="2237412">
            <a:off x="3536270" y="4320445"/>
            <a:ext cx="763016" cy="3630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p:cNvSpPr/>
          <p:nvPr/>
        </p:nvSpPr>
        <p:spPr>
          <a:xfrm>
            <a:off x="4581771" y="5137063"/>
            <a:ext cx="164994" cy="309741"/>
          </a:xfrm>
          <a:prstGeom prst="rect">
            <a:avLst/>
          </a:prstGeom>
        </p:spPr>
        <p:txBody>
          <a:bodyPr wrap="square">
            <a:spAutoFit/>
          </a:bodyPr>
          <a:lstStyle/>
          <a:p>
            <a:pPr fontAlgn="base"/>
            <a:endParaRPr lang="zh-TW" altLang="en-US" b="1" i="0" dirty="0">
              <a:solidFill>
                <a:srgbClr val="3D3D3D"/>
              </a:solidFill>
              <a:effectLst/>
              <a:latin typeface="-apple-system"/>
            </a:endParaRPr>
          </a:p>
        </p:txBody>
      </p:sp>
      <p:sp>
        <p:nvSpPr>
          <p:cNvPr id="24" name="橢圓 23"/>
          <p:cNvSpPr/>
          <p:nvPr/>
        </p:nvSpPr>
        <p:spPr>
          <a:xfrm>
            <a:off x="4378993" y="4629841"/>
            <a:ext cx="1170200" cy="7897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t>3</a:t>
            </a:r>
            <a:endParaRPr lang="zh-TW" altLang="en-US" dirty="0"/>
          </a:p>
        </p:txBody>
      </p:sp>
      <p:sp>
        <p:nvSpPr>
          <p:cNvPr id="25" name="橢圓 24"/>
          <p:cNvSpPr/>
          <p:nvPr/>
        </p:nvSpPr>
        <p:spPr>
          <a:xfrm>
            <a:off x="6765591" y="4629841"/>
            <a:ext cx="1170200" cy="78975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2</a:t>
            </a:r>
            <a:endParaRPr lang="zh-TW" altLang="en-US" dirty="0"/>
          </a:p>
        </p:txBody>
      </p:sp>
      <p:sp>
        <p:nvSpPr>
          <p:cNvPr id="26" name="向右箭號 25"/>
          <p:cNvSpPr/>
          <p:nvPr/>
        </p:nvSpPr>
        <p:spPr>
          <a:xfrm>
            <a:off x="7309586" y="6017644"/>
            <a:ext cx="510755" cy="29814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27" name="向右箭號 26"/>
          <p:cNvSpPr/>
          <p:nvPr/>
        </p:nvSpPr>
        <p:spPr>
          <a:xfrm rot="2237412">
            <a:off x="5270037" y="5542275"/>
            <a:ext cx="763016" cy="3630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向右箭號 27"/>
          <p:cNvSpPr/>
          <p:nvPr/>
        </p:nvSpPr>
        <p:spPr>
          <a:xfrm rot="7439383">
            <a:off x="3365471" y="2671788"/>
            <a:ext cx="640773" cy="35645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29" name="向右箭號 28"/>
          <p:cNvSpPr/>
          <p:nvPr/>
        </p:nvSpPr>
        <p:spPr>
          <a:xfrm rot="7439383">
            <a:off x="5360454" y="4166538"/>
            <a:ext cx="640773" cy="35645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31" name="橢圓 30"/>
          <p:cNvSpPr/>
          <p:nvPr/>
        </p:nvSpPr>
        <p:spPr>
          <a:xfrm>
            <a:off x="7935791" y="5771836"/>
            <a:ext cx="1170200" cy="78975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1</a:t>
            </a:r>
            <a:endParaRPr lang="zh-TW" altLang="en-US" dirty="0"/>
          </a:p>
        </p:txBody>
      </p:sp>
      <p:sp>
        <p:nvSpPr>
          <p:cNvPr id="32" name="橢圓 31"/>
          <p:cNvSpPr/>
          <p:nvPr/>
        </p:nvSpPr>
        <p:spPr>
          <a:xfrm>
            <a:off x="6023936" y="5778836"/>
            <a:ext cx="1170200" cy="7897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t>1</a:t>
            </a:r>
            <a:endParaRPr lang="zh-TW" altLang="en-US" dirty="0"/>
          </a:p>
        </p:txBody>
      </p:sp>
      <p:sp>
        <p:nvSpPr>
          <p:cNvPr id="33" name="向右箭號 32"/>
          <p:cNvSpPr/>
          <p:nvPr/>
        </p:nvSpPr>
        <p:spPr>
          <a:xfrm>
            <a:off x="5844572" y="4861793"/>
            <a:ext cx="682416" cy="33469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5414951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023" y="448582"/>
            <a:ext cx="7427033" cy="523220"/>
          </a:xfrm>
          <a:prstGeom prst="rect">
            <a:avLst/>
          </a:prstGeom>
        </p:spPr>
        <p:txBody>
          <a:bodyPr wrap="none">
            <a:spAutoFit/>
          </a:bodyPr>
          <a:lstStyle/>
          <a:p>
            <a:r>
              <a:rPr lang="en-US" altLang="zh-TW" sz="2800" b="1" dirty="0">
                <a:latin typeface="Times New Roman" panose="02020603050405020304" pitchFamily="18" charset="0"/>
                <a:cs typeface="Times New Roman" panose="02020603050405020304" pitchFamily="18" charset="0"/>
              </a:rPr>
              <a:t>Multi-model ensemble based on deep </a:t>
            </a:r>
            <a:r>
              <a:rPr lang="en-US" altLang="zh-TW" sz="2800" b="1" dirty="0" smtClean="0">
                <a:latin typeface="Times New Roman" panose="02020603050405020304" pitchFamily="18" charset="0"/>
                <a:cs typeface="Times New Roman" panose="02020603050405020304" pitchFamily="18" charset="0"/>
              </a:rPr>
              <a:t>learning :</a:t>
            </a:r>
            <a:endParaRPr lang="zh-TW" altLang="en-US" sz="2800" b="1"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3"/>
          <a:stretch>
            <a:fillRect/>
          </a:stretch>
        </p:blipFill>
        <p:spPr>
          <a:xfrm>
            <a:off x="322117" y="1197775"/>
            <a:ext cx="8617165" cy="5024511"/>
          </a:xfrm>
          <a:prstGeom prst="rect">
            <a:avLst/>
          </a:prstGeom>
        </p:spPr>
      </p:pic>
    </p:spTree>
    <p:extLst>
      <p:ext uri="{BB962C8B-B14F-4D97-AF65-F5344CB8AC3E}">
        <p14:creationId xmlns:p14="http://schemas.microsoft.com/office/powerpoint/2010/main" val="23840626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023" y="448582"/>
            <a:ext cx="1372492" cy="523220"/>
          </a:xfrm>
          <a:prstGeom prst="rect">
            <a:avLst/>
          </a:prstGeom>
        </p:spPr>
        <p:txBody>
          <a:bodyPr wrap="none">
            <a:spAutoFit/>
          </a:bodyPr>
          <a:lstStyle/>
          <a:p>
            <a:r>
              <a:rPr lang="en-US" altLang="zh-TW" sz="2800" b="1" dirty="0" smtClean="0">
                <a:latin typeface="Times New Roman" panose="02020603050405020304" pitchFamily="18" charset="0"/>
                <a:cs typeface="Times New Roman" panose="02020603050405020304" pitchFamily="18" charset="0"/>
              </a:rPr>
              <a:t>Result :</a:t>
            </a:r>
            <a:endParaRPr lang="zh-TW" altLang="en-US" sz="2800"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2"/>
          <a:stretch>
            <a:fillRect/>
          </a:stretch>
        </p:blipFill>
        <p:spPr>
          <a:xfrm>
            <a:off x="313898" y="1195743"/>
            <a:ext cx="8625385" cy="3707744"/>
          </a:xfrm>
          <a:prstGeom prst="rect">
            <a:avLst/>
          </a:prstGeom>
        </p:spPr>
      </p:pic>
    </p:spTree>
    <p:extLst>
      <p:ext uri="{BB962C8B-B14F-4D97-AF65-F5344CB8AC3E}">
        <p14:creationId xmlns:p14="http://schemas.microsoft.com/office/powerpoint/2010/main" val="204601341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69066</TotalTime>
  <Words>741</Words>
  <Application>Microsoft Office PowerPoint</Application>
  <PresentationFormat>如螢幕大小 (4:3)</PresentationFormat>
  <Paragraphs>55</Paragraphs>
  <Slides>11</Slides>
  <Notes>9</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11</vt:i4>
      </vt:variant>
    </vt:vector>
  </HeadingPairs>
  <TitlesOfParts>
    <vt:vector size="20" baseType="lpstr">
      <vt:lpstr>-apple-system</vt:lpstr>
      <vt:lpstr>medium-content-serif-font</vt:lpstr>
      <vt:lpstr>新細明體</vt:lpstr>
      <vt:lpstr>標楷體</vt:lpstr>
      <vt:lpstr>Arial</vt:lpstr>
      <vt:lpstr>Calibri</vt:lpstr>
      <vt:lpstr>Calibri Light</vt:lpstr>
      <vt:lpstr>Times New Roman</vt:lpstr>
      <vt:lpstr>Office 佈景主題</vt:lpstr>
      <vt:lpstr>A deep learning-based multi-model   ensemble method for cancer prediction </vt:lpstr>
      <vt:lpstr>Abstract(1/2)</vt:lpstr>
      <vt:lpstr>Abstract(2/2)</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GaryC</dc:creator>
  <cp:lastModifiedBy>豐仰 蔡</cp:lastModifiedBy>
  <cp:revision>466</cp:revision>
  <dcterms:created xsi:type="dcterms:W3CDTF">2017-09-25T08:45:50Z</dcterms:created>
  <dcterms:modified xsi:type="dcterms:W3CDTF">2019-03-20T06:36:52Z</dcterms:modified>
</cp:coreProperties>
</file>