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308" r:id="rId6"/>
    <p:sldId id="309" r:id="rId7"/>
    <p:sldId id="310" r:id="rId8"/>
    <p:sldId id="311" r:id="rId9"/>
    <p:sldId id="314" r:id="rId10"/>
    <p:sldId id="315" r:id="rId11"/>
    <p:sldId id="316" r:id="rId12"/>
    <p:sldId id="317" r:id="rId13"/>
    <p:sldId id="329" r:id="rId14"/>
    <p:sldId id="324" r:id="rId15"/>
    <p:sldId id="331" r:id="rId16"/>
    <p:sldId id="332" r:id="rId17"/>
  </p:sldIdLst>
  <p:sldSz cx="12192000" cy="6858000"/>
  <p:notesSz cx="6858000" cy="9144000"/>
  <p:embeddedFontLst>
    <p:embeddedFont>
      <p:font typeface="SimSun" panose="02010600030101010101" pitchFamily="2" charset="-122"/>
      <p:regular r:id="rId19"/>
    </p:embeddedFont>
    <p:embeddedFont>
      <p:font typeface="Questrial" panose="020B0604020202020204" charset="0"/>
      <p:regular r:id="rId20"/>
    </p:embeddedFont>
    <p:embeddedFont>
      <p:font typeface="Calibri" panose="020F0502020204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38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94" y="60"/>
      </p:cViewPr>
      <p:guideLst>
        <p:guide orient="horz" pos="2160"/>
        <p:guide pos="38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424343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dirty="0"/>
              <a:t>https://www.google.com.tw/maps/place/%E5%8A%A0%E6%8B%BF%E5%A4%A7%E5%AE%89%E5%A4%A7%E7%95%A5%E5%A4%9A%E5%80%AB%E5%A4%9A/@43.6570403,-79.4609327,11z/data=!3m1!4b1!4m5!3m4!1s0x89d4cb90d7c63ba5:0x323555502ab4c477!8m2!3d43.653226!4d-79.3831843?hl=zh-TW</a:t>
            </a:r>
          </a:p>
          <a:p>
            <a:pPr marL="0" lvl="0" indent="0" algn="l" rtl="0">
              <a:spcBef>
                <a:spcPts val="0"/>
              </a:spcBef>
              <a:spcAft>
                <a:spcPts val="0"/>
              </a:spcAft>
              <a:buNone/>
            </a:pPr>
            <a:r>
              <a:rPr dirty="0"/>
              <a:t>https://www.researchgate.net/scientific-contributions/8269618_Mohammad_R_Kolahdouzan</a:t>
            </a:r>
          </a:p>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extLst>
      <p:ext uri="{BB962C8B-B14F-4D97-AF65-F5344CB8AC3E}">
        <p14:creationId xmlns:p14="http://schemas.microsoft.com/office/powerpoint/2010/main" val="3423640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7726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3842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0169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10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9521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64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7645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6504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83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306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121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63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0566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959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344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Questrial" panose="02000000000000000000"/>
              <a:buNone/>
              <a:defRPr sz="6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rgbClr val="A5A5A5"/>
              </a:buClr>
              <a:buSzPts val="2400"/>
              <a:buNone/>
              <a:defRPr sz="2400">
                <a:solidFill>
                  <a:srgbClr val="A5A5A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Questrial" panose="02000000000000000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atin typeface="Calibri" panose="020F0502020204030204" charset="0"/>
                <a:cs typeface="Calibri" panose="020F0502020204030204" charset="0"/>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Questrial" panose="020000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對"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7"/>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panose="020B0604020202020204"/>
              <a:buNone/>
              <a:defRPr sz="32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R="0" lvl="1" algn="l" rtl="0">
              <a:lnSpc>
                <a:spcPct val="90000"/>
              </a:lnSpc>
              <a:spcBef>
                <a:spcPts val="500"/>
              </a:spcBef>
              <a:spcAft>
                <a:spcPts val="0"/>
              </a:spcAft>
              <a:buClr>
                <a:schemeClr val="dk1"/>
              </a:buClr>
              <a:buSzPts val="2800"/>
              <a:buFont typeface="Arial" panose="020B0604020202020204"/>
              <a:buNone/>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Questrial" panose="02000000000000000000"/>
              <a:buNone/>
              <a:defRPr sz="4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a:endParaRPr/>
          </a:p>
        </p:txBody>
      </p:sp>
      <p:sp>
        <p:nvSpPr>
          <p:cNvPr id="12" name="Google Shape;12;p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a:endParaRPr/>
          </a:p>
        </p:txBody>
      </p:sp>
      <p:sp>
        <p:nvSpPr>
          <p:cNvPr id="13" name="Google Shape;13;p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a:endParaRPr/>
          </a:p>
        </p:txBody>
      </p:sp>
      <p:sp>
        <p:nvSpPr>
          <p:cNvPr id="14" name="Google Shape;14;p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L="0" marR="0" lvl="1"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2pPr>
            <a:lvl3pPr marL="0" marR="0" lvl="2"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3pPr>
            <a:lvl4pPr marL="0" marR="0" lvl="3"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4pPr>
            <a:lvl5pPr marL="0" marR="0" lvl="4"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5pPr>
            <a:lvl6pPr marL="0" marR="0" lvl="5"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6pPr>
            <a:lvl7pPr marL="0" marR="0" lvl="6"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7pPr>
            <a:lvl8pPr marL="0" marR="0" lvl="7"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8pPr>
            <a:lvl9pPr marL="0" marR="0" lvl="8"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L="50800" marR="0" lvl="0" indent="0" algn="l" rtl="0">
        <a:lnSpc>
          <a:spcPct val="100000"/>
        </a:lnSpc>
        <a:spcBef>
          <a:spcPts val="0"/>
        </a:spcBef>
        <a:spcAft>
          <a:spcPts val="0"/>
        </a:spcAft>
        <a:buClr>
          <a:srgbClr val="000000"/>
        </a:buClr>
        <a:buFont typeface="Arial" panose="020B0604020202020204"/>
        <a:buNone/>
        <a:defRPr sz="1400" b="0" i="0" u="none" strike="noStrike" cap="none">
          <a:solidFill>
            <a:srgbClr val="000000"/>
          </a:solidFill>
          <a:latin typeface="Symbol" panose="05050102010706020507" charset="0"/>
          <a:ea typeface="Arial" panose="020B0604020202020204"/>
          <a:cs typeface="Symbol" panose="05050102010706020507" charset="0"/>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1415539" y="471285"/>
            <a:ext cx="9359651" cy="1356957"/>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600"/>
              <a:buFont typeface="Questrial" panose="02000000000000000000"/>
              <a:buNone/>
            </a:pPr>
            <a:r>
              <a:rPr lang="en-US" sz="3600">
                <a:latin typeface="Calibri" panose="020F0502020204030204" charset="0"/>
                <a:cs typeface="Calibri" panose="020F0502020204030204" charset="0"/>
              </a:rPr>
              <a:t>Voronoi-Based K Nearest Neighbor Search for Spatial Network  Databases</a:t>
            </a:r>
          </a:p>
        </p:txBody>
      </p:sp>
      <p:sp>
        <p:nvSpPr>
          <p:cNvPr id="90" name="Google Shape;90;p13"/>
          <p:cNvSpPr txBox="1">
            <a:spLocks noGrp="1"/>
          </p:cNvSpPr>
          <p:nvPr>
            <p:ph type="subTitle" idx="1"/>
          </p:nvPr>
        </p:nvSpPr>
        <p:spPr>
          <a:xfrm>
            <a:off x="1145540" y="2339975"/>
            <a:ext cx="9899650" cy="103949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A5A5A5"/>
              </a:buClr>
              <a:buSzPts val="2800"/>
              <a:buNone/>
            </a:pPr>
            <a:r>
              <a:rPr lang="en-US" sz="2800">
                <a:latin typeface="Calibri" panose="020F0502020204030204" charset="0"/>
                <a:cs typeface="Calibri" panose="020F0502020204030204" charset="0"/>
              </a:rPr>
              <a:t>Mohammad Kolahdouzan and Cyrus Shahabi</a:t>
            </a:r>
            <a:r>
              <a:rPr lang="en-US"/>
              <a:t/>
            </a:r>
            <a:br>
              <a:rPr lang="en-US"/>
            </a:br>
            <a:endParaRPr sz="260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1" i="0" u="none" strike="noStrike" cap="none">
                <a:solidFill>
                  <a:schemeClr val="dk1"/>
                </a:solidFill>
                <a:latin typeface="Calibri" panose="020F0502020204030204" charset="0"/>
                <a:ea typeface="Questrial" panose="02000000000000000000"/>
                <a:cs typeface="Calibri" panose="020F0502020204030204" charset="0"/>
                <a:sym typeface="Questrial" panose="02000000000000000000"/>
              </a:rPr>
              <a:t>Proceedings of the 30th VLDB Conference, </a:t>
            </a:r>
          </a:p>
          <a:p>
            <a:pPr marL="0" marR="0" lvl="0" indent="0" algn="ctr" rtl="0">
              <a:lnSpc>
                <a:spcPct val="90000"/>
              </a:lnSpc>
              <a:spcBef>
                <a:spcPts val="0"/>
              </a:spcBef>
              <a:spcAft>
                <a:spcPts val="0"/>
              </a:spcAft>
              <a:buClr>
                <a:schemeClr val="dk1"/>
              </a:buClr>
              <a:buSzPts val="2800"/>
              <a:buFont typeface="Arial" panose="020B0604020202020204"/>
              <a:buNone/>
            </a:pPr>
            <a:r>
              <a:rPr lang="en-US" sz="2800" b="1" i="0" u="none" strike="noStrike" cap="none">
                <a:solidFill>
                  <a:schemeClr val="dk1"/>
                </a:solidFill>
                <a:latin typeface="Calibri" panose="020F0502020204030204" charset="0"/>
                <a:ea typeface="Questrial" panose="02000000000000000000"/>
                <a:cs typeface="Calibri" panose="020F0502020204030204" charset="0"/>
                <a:sym typeface="Questrial" panose="02000000000000000000"/>
              </a:rPr>
              <a:t>Toronto, Canada, 2004</a:t>
            </a: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-Xin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a:t>
            </a:r>
            <a:r>
              <a:rPr lang="en-US" sz="2800" b="0" i="0" u="none" strike="noStrike" cap="none" dirty="0" smtClean="0">
                <a:solidFill>
                  <a:schemeClr val="dk1"/>
                </a:solidFill>
                <a:latin typeface="Calibri" panose="020F0502020204030204" charset="0"/>
                <a:ea typeface="Questrial" panose="02000000000000000000"/>
                <a:cs typeface="Calibri" panose="020F0502020204030204" charset="0"/>
                <a:sym typeface="Questrial" panose="02000000000000000000"/>
              </a:rPr>
              <a:t>2019/03/05</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(1/2)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A frequent type of query in spatial networks (e.g., road networks) is to find  the  K  nearest neighbors (KNN) of a given  query  object. With these networks, the distances between objects depend on their network connectivity and it is computationally  expensive to compute the distances (e.g., shortest paths) between objects. In this paper, we propose a novel approach to efficiently and accurately evaluate KNN queries in spatial network databases using first order Voronoi diagram.</a:t>
            </a:r>
            <a:r>
              <a:rPr lang="en-US">
                <a:sym typeface="+mn-ea"/>
              </a:rPr>
              <a:t>This approach is based on partitioning a large network to small Voronoi regions, and then pre-computing distances both within and across the regions.</a:t>
            </a:r>
            <a:endParaRPr lang="en-US"/>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(2/2)</a:t>
            </a:r>
          </a:p>
        </p:txBody>
      </p:sp>
      <p:sp>
        <p:nvSpPr>
          <p:cNvPr id="106" name="Google Shape;106;p15"/>
          <p:cNvSpPr txBox="1">
            <a:spLocks noGrp="1"/>
          </p:cNvSpPr>
          <p:nvPr>
            <p:ph type="body" idx="1"/>
          </p:nvPr>
        </p:nvSpPr>
        <p:spPr>
          <a:xfrm>
            <a:off x="838200" y="1581650"/>
            <a:ext cx="10011032" cy="44468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 By localizing the pre-computation within the regions, we save on both storage and computation and by performing across-the-network computation for only the border points of the neighboring regions, we avoid global pre-computation be- tween every node-pair. Our empirical experiments with several real-world data sets show that our proposed solution outperforms approaches that are based on on-line distance computation by up to one order of magnitude, and provides a factor of four improvement in the selectivity of the filter step as compared to the index-based approaches.</a:t>
            </a:r>
          </a:p>
        </p:txBody>
      </p:sp>
      <p:sp>
        <p:nvSpPr>
          <p:cNvPr id="107" name="Google Shape;107;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1.INTRODUCTION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
        <p:nvSpPr>
          <p:cNvPr id="115" name="Google Shape;115;p16"/>
          <p:cNvSpPr txBox="1">
            <a:spLocks noGrp="1"/>
          </p:cNvSpPr>
          <p:nvPr>
            <p:ph type="body" idx="1"/>
          </p:nvPr>
        </p:nvSpPr>
        <p:spPr>
          <a:xfrm>
            <a:off x="838200" y="1569720"/>
            <a:ext cx="7526020" cy="493204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sym typeface="+mn-ea"/>
              </a:rPr>
              <a:t>KNN in SDB(spatial databases.)</a:t>
            </a:r>
            <a:r>
              <a:rPr lang="zh-CN" altLang="en-US">
                <a:ea typeface="SimSun" panose="02010600030101010101" pitchFamily="2" charset="-122"/>
                <a:sym typeface="+mn-ea"/>
              </a:rPr>
              <a:t>：</a:t>
            </a:r>
            <a:r>
              <a:rPr lang="en-US"/>
              <a:t>  </a:t>
            </a:r>
          </a:p>
          <a:p>
            <a:pPr marL="228600" lvl="0" indent="-228600" algn="l" rtl="0">
              <a:lnSpc>
                <a:spcPct val="90000"/>
              </a:lnSpc>
              <a:spcBef>
                <a:spcPts val="0"/>
              </a:spcBef>
              <a:spcAft>
                <a:spcPts val="0"/>
              </a:spcAft>
              <a:buClr>
                <a:schemeClr val="dk1"/>
              </a:buClr>
              <a:buSzPts val="2800"/>
              <a:buFont typeface="Noto Sans Symbols"/>
              <a:buChar char="●"/>
            </a:pPr>
            <a:r>
              <a:rPr lang="en-US"/>
              <a:t>Given spatial objects (or points of interest), and a query point, find the K closest objects. </a:t>
            </a:r>
          </a:p>
          <a:p>
            <a:pPr marL="228600" lvl="0" indent="-228600" algn="l" rtl="0">
              <a:lnSpc>
                <a:spcPct val="90000"/>
              </a:lnSpc>
              <a:spcBef>
                <a:spcPts val="0"/>
              </a:spcBef>
              <a:spcAft>
                <a:spcPts val="0"/>
              </a:spcAft>
              <a:buClr>
                <a:schemeClr val="dk1"/>
              </a:buClr>
              <a:buSzPts val="2800"/>
              <a:buFont typeface="Noto Sans Symbols"/>
              <a:buChar char="●"/>
            </a:pPr>
            <a:endParaRPr lang="en-US"/>
          </a:p>
          <a:p>
            <a:pPr marL="228600" lvl="0" indent="-228600" algn="l" rtl="0">
              <a:lnSpc>
                <a:spcPct val="90000"/>
              </a:lnSpc>
              <a:spcBef>
                <a:spcPts val="0"/>
              </a:spcBef>
              <a:spcAft>
                <a:spcPts val="0"/>
              </a:spcAft>
              <a:buClr>
                <a:schemeClr val="dk1"/>
              </a:buClr>
              <a:buSzPts val="2800"/>
              <a:buFont typeface="Noto Sans Symbols"/>
              <a:buChar char="●"/>
            </a:pPr>
            <a:endParaRPr lang="en-US"/>
          </a:p>
          <a:p>
            <a:pPr marL="228600" lvl="0" indent="-228600" algn="l" rtl="0">
              <a:lnSpc>
                <a:spcPct val="90000"/>
              </a:lnSpc>
              <a:spcBef>
                <a:spcPts val="0"/>
              </a:spcBef>
              <a:spcAft>
                <a:spcPts val="0"/>
              </a:spcAft>
              <a:buClr>
                <a:schemeClr val="dk1"/>
              </a:buClr>
              <a:buSzPts val="2800"/>
              <a:buFont typeface="Noto Sans Symbols"/>
              <a:buChar char="●"/>
            </a:pPr>
            <a:endParaRPr lang="en-US"/>
          </a:p>
          <a:p>
            <a:pPr marL="228600" lvl="0" indent="-228600" algn="l" rtl="0">
              <a:lnSpc>
                <a:spcPct val="90000"/>
              </a:lnSpc>
              <a:spcBef>
                <a:spcPts val="0"/>
              </a:spcBef>
              <a:spcAft>
                <a:spcPts val="0"/>
              </a:spcAft>
              <a:buClr>
                <a:schemeClr val="dk1"/>
              </a:buClr>
              <a:buSzPts val="2800"/>
              <a:buFont typeface="Noto Sans Symbols"/>
              <a:buChar char="●"/>
            </a:pPr>
            <a:r>
              <a:rPr lang="en-US">
                <a:sym typeface="+mn-ea"/>
              </a:rPr>
              <a:t>KNN in SNDB(spatial network databases):</a:t>
            </a:r>
            <a:endParaRPr lang="en-US"/>
          </a:p>
          <a:p>
            <a:pPr marL="228600" lvl="0" indent="-228600" algn="l" rtl="0">
              <a:lnSpc>
                <a:spcPct val="90000"/>
              </a:lnSpc>
              <a:spcBef>
                <a:spcPts val="0"/>
              </a:spcBef>
              <a:spcAft>
                <a:spcPts val="0"/>
              </a:spcAft>
              <a:buClr>
                <a:schemeClr val="dk1"/>
              </a:buClr>
              <a:buSzPts val="2800"/>
              <a:buFont typeface="Noto Sans Symbols"/>
              <a:buChar char="●"/>
            </a:pPr>
            <a:r>
              <a:rPr lang="en-US"/>
              <a:t>Depend on the connectivity  of the network  rather than the objects’  locations.</a:t>
            </a:r>
          </a:p>
          <a:p>
            <a:pPr marL="228600" lvl="0" indent="-228600" algn="l" rtl="0">
              <a:lnSpc>
                <a:spcPct val="90000"/>
              </a:lnSpc>
              <a:spcBef>
                <a:spcPts val="0"/>
              </a:spcBef>
              <a:spcAft>
                <a:spcPts val="0"/>
              </a:spcAft>
              <a:buClr>
                <a:schemeClr val="dk1"/>
              </a:buClr>
              <a:buSzPts val="2800"/>
              <a:buFont typeface="Noto Sans Symbols"/>
              <a:buChar char="●"/>
            </a:pPr>
            <a:endParaRPr lang="en-US"/>
          </a:p>
        </p:txBody>
      </p:sp>
      <p:pic>
        <p:nvPicPr>
          <p:cNvPr id="3" name="图片 0"/>
          <p:cNvPicPr>
            <a:picLocks noChangeAspect="1"/>
          </p:cNvPicPr>
          <p:nvPr/>
        </p:nvPicPr>
        <p:blipFill>
          <a:blip r:embed="rId3"/>
          <a:srcRect b="24808"/>
          <a:stretch>
            <a:fillRect/>
          </a:stretch>
        </p:blipFill>
        <p:spPr>
          <a:xfrm>
            <a:off x="8230235" y="1569720"/>
            <a:ext cx="2781300" cy="1618615"/>
          </a:xfrm>
          <a:prstGeom prst="rect">
            <a:avLst/>
          </a:prstGeom>
        </p:spPr>
      </p:pic>
      <p:pic>
        <p:nvPicPr>
          <p:cNvPr id="2" name="图片 1"/>
          <p:cNvPicPr>
            <a:picLocks noChangeAspect="1"/>
          </p:cNvPicPr>
          <p:nvPr/>
        </p:nvPicPr>
        <p:blipFill>
          <a:blip r:embed="rId4"/>
          <a:stretch>
            <a:fillRect/>
          </a:stretch>
        </p:blipFill>
        <p:spPr>
          <a:xfrm>
            <a:off x="8205470" y="3560445"/>
            <a:ext cx="3148330" cy="191071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1.INTRODUCTION</a:t>
            </a:r>
            <a:endParaRPr lang="en-US"/>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122" name="Google Shape;122;p17"/>
          <p:cNvSpPr txBox="1">
            <a:spLocks noGrp="1"/>
          </p:cNvSpPr>
          <p:nvPr>
            <p:ph type="body" idx="1"/>
          </p:nvPr>
        </p:nvSpPr>
        <p:spPr>
          <a:xfrm>
            <a:off x="838200" y="1569720"/>
            <a:ext cx="10023475" cy="44469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400"/>
              <a:t>Voronoi-based Network Nearest Neighbor (VN</a:t>
            </a:r>
            <a:r>
              <a:rPr lang="en-US" sz="2400" baseline="30000"/>
              <a:t>3</a:t>
            </a:r>
            <a:r>
              <a:rPr lang="en-US" sz="2400"/>
              <a:t>):</a:t>
            </a:r>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(1) Partition large network into smaller/more manageable regions;</a:t>
            </a:r>
            <a:endParaRPr lang="en-US"/>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(2) Pre-compute the intra and inter distances for each cell;</a:t>
            </a:r>
            <a:endParaRPr lang="en-US"/>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(3) Find the first NN by contain(q);</a:t>
            </a:r>
            <a:endParaRPr lang="en-US"/>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(4) Find next NNs within the adjacent cells ;</a:t>
            </a:r>
            <a:endParaRPr lang="en-US"/>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(5) Compute the actual network distance.</a:t>
            </a:r>
          </a:p>
          <a:p>
            <a:pPr marL="685800" lvl="1" indent="-228600" algn="l" rtl="0">
              <a:lnSpc>
                <a:spcPct val="90000"/>
              </a:lnSpc>
              <a:spcBef>
                <a:spcPts val="1000"/>
              </a:spcBef>
              <a:spcAft>
                <a:spcPts val="0"/>
              </a:spcAft>
              <a:buClr>
                <a:schemeClr val="dk1"/>
              </a:buClr>
              <a:buSzPts val="2800"/>
              <a:buFont typeface="Noto Sans Symbols"/>
              <a:buChar char="●"/>
            </a:pPr>
            <a:endParaRPr lang="en-US" sz="2000"/>
          </a:p>
          <a:p>
            <a:pPr marL="228600" lvl="0" indent="-228600" algn="l" rtl="0">
              <a:lnSpc>
                <a:spcPct val="90000"/>
              </a:lnSpc>
              <a:spcBef>
                <a:spcPts val="0"/>
              </a:spcBef>
              <a:spcAft>
                <a:spcPts val="0"/>
              </a:spcAft>
              <a:buClr>
                <a:schemeClr val="dk1"/>
              </a:buClr>
              <a:buSzPts val="2800"/>
              <a:buFont typeface="Noto Sans Symbols"/>
              <a:buChar char="●"/>
            </a:pPr>
            <a:r>
              <a:rPr lang="en-US" sz="2400">
                <a:sym typeface="+mn-ea"/>
              </a:rPr>
              <a:t>Compare with INE(Incremental Network Expansion).</a:t>
            </a:r>
            <a:endParaRPr lang="en-US"/>
          </a:p>
          <a:p>
            <a:pPr marL="685800" lvl="1" indent="-228600" algn="l" rtl="0">
              <a:lnSpc>
                <a:spcPct val="90000"/>
              </a:lnSpc>
              <a:spcBef>
                <a:spcPts val="1000"/>
              </a:spcBef>
              <a:spcAft>
                <a:spcPts val="0"/>
              </a:spcAft>
              <a:buClr>
                <a:schemeClr val="dk1"/>
              </a:buClr>
              <a:buSzPts val="2800"/>
              <a:buFont typeface="Noto Sans Symbols"/>
              <a:buChar char="●"/>
            </a:pPr>
            <a:endParaRPr lang="en-US"/>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2.Background: Voronoi Diagram</a:t>
            </a:r>
            <a:endParaRPr lang="en-US"/>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sp>
        <p:nvSpPr>
          <p:cNvPr id="122" name="Google Shape;122;p17"/>
          <p:cNvSpPr txBox="1">
            <a:spLocks noGrp="1"/>
          </p:cNvSpPr>
          <p:nvPr>
            <p:ph type="body" idx="1"/>
          </p:nvPr>
        </p:nvSpPr>
        <p:spPr>
          <a:xfrm>
            <a:off x="838200" y="1569720"/>
            <a:ext cx="10023475" cy="44513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Definition:</a:t>
            </a:r>
          </a:p>
        </p:txBody>
      </p:sp>
      <p:pic>
        <p:nvPicPr>
          <p:cNvPr id="4" name="图片 0"/>
          <p:cNvPicPr>
            <a:picLocks noChangeAspect="1"/>
          </p:cNvPicPr>
          <p:nvPr/>
        </p:nvPicPr>
        <p:blipFill>
          <a:blip r:embed="rId3"/>
          <a:stretch>
            <a:fillRect/>
          </a:stretch>
        </p:blipFill>
        <p:spPr>
          <a:xfrm>
            <a:off x="1205230" y="2136775"/>
            <a:ext cx="4638675" cy="352425"/>
          </a:xfrm>
          <a:prstGeom prst="rect">
            <a:avLst/>
          </a:prstGeom>
        </p:spPr>
      </p:pic>
      <p:pic>
        <p:nvPicPr>
          <p:cNvPr id="2" name="图片 1"/>
          <p:cNvPicPr>
            <a:picLocks noChangeAspect="1"/>
          </p:cNvPicPr>
          <p:nvPr/>
        </p:nvPicPr>
        <p:blipFill>
          <a:blip r:embed="rId4"/>
          <a:stretch>
            <a:fillRect/>
          </a:stretch>
        </p:blipFill>
        <p:spPr>
          <a:xfrm>
            <a:off x="1205230" y="2616835"/>
            <a:ext cx="3076575" cy="476250"/>
          </a:xfrm>
          <a:prstGeom prst="rect">
            <a:avLst/>
          </a:prstGeom>
        </p:spPr>
      </p:pic>
      <p:pic>
        <p:nvPicPr>
          <p:cNvPr id="3" name="图片 2"/>
          <p:cNvPicPr>
            <a:picLocks noChangeAspect="1"/>
          </p:cNvPicPr>
          <p:nvPr/>
        </p:nvPicPr>
        <p:blipFill>
          <a:blip r:embed="rId5"/>
          <a:stretch>
            <a:fillRect/>
          </a:stretch>
        </p:blipFill>
        <p:spPr>
          <a:xfrm>
            <a:off x="3272155" y="3303270"/>
            <a:ext cx="5372100" cy="271462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2.Background: Voronoi Diagram</a:t>
            </a:r>
            <a:endParaRPr lang="en-US"/>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122" name="Google Shape;122;p17"/>
          <p:cNvSpPr txBox="1">
            <a:spLocks noGrp="1"/>
          </p:cNvSpPr>
          <p:nvPr>
            <p:ph type="body" idx="1"/>
          </p:nvPr>
        </p:nvSpPr>
        <p:spPr>
          <a:xfrm>
            <a:off x="838200" y="1569720"/>
            <a:ext cx="10023475" cy="53403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Properties:</a:t>
            </a:r>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pic>
        <p:nvPicPr>
          <p:cNvPr id="3" name="图片 0"/>
          <p:cNvPicPr>
            <a:picLocks noChangeAspect="1"/>
          </p:cNvPicPr>
          <p:nvPr/>
        </p:nvPicPr>
        <p:blipFill>
          <a:blip r:embed="rId3"/>
          <a:stretch>
            <a:fillRect/>
          </a:stretch>
        </p:blipFill>
        <p:spPr>
          <a:xfrm>
            <a:off x="1202055" y="2103755"/>
            <a:ext cx="5143500" cy="3933825"/>
          </a:xfrm>
          <a:prstGeom prst="rect">
            <a:avLst/>
          </a:prstGeom>
        </p:spPr>
      </p:pic>
      <p:pic>
        <p:nvPicPr>
          <p:cNvPr id="2" name="图片 1"/>
          <p:cNvPicPr>
            <a:picLocks noChangeAspect="1"/>
          </p:cNvPicPr>
          <p:nvPr/>
        </p:nvPicPr>
        <p:blipFill>
          <a:blip r:embed="rId4"/>
          <a:stretch>
            <a:fillRect/>
          </a:stretch>
        </p:blipFill>
        <p:spPr>
          <a:xfrm>
            <a:off x="7078980" y="2999105"/>
            <a:ext cx="2609850" cy="214312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sz="4000">
                <a:sym typeface="+mn-ea"/>
              </a:rPr>
              <a:t>2.Background: Voronoi Diagram</a:t>
            </a:r>
            <a:endParaRPr lang="en-US" sz="4000" baseline="30000">
              <a:sym typeface="+mn-ea"/>
            </a:endParaRP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122" name="Google Shape;122;p17"/>
          <p:cNvSpPr txBox="1">
            <a:spLocks noGrp="1"/>
          </p:cNvSpPr>
          <p:nvPr>
            <p:ph type="body" idx="1"/>
          </p:nvPr>
        </p:nvSpPr>
        <p:spPr>
          <a:xfrm>
            <a:off x="838200" y="1569720"/>
            <a:ext cx="10023475" cy="53403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Network Voronoi Diagram:</a:t>
            </a:r>
          </a:p>
          <a:p>
            <a:pPr marL="457200" lvl="1" indent="0" algn="l" rtl="0">
              <a:lnSpc>
                <a:spcPct val="90000"/>
              </a:lnSpc>
              <a:spcBef>
                <a:spcPts val="1000"/>
              </a:spcBef>
              <a:spcAft>
                <a:spcPts val="0"/>
              </a:spcAft>
              <a:buClr>
                <a:schemeClr val="dk1"/>
              </a:buClr>
              <a:buSzPts val="2800"/>
              <a:buFont typeface="Noto Sans Symbols"/>
              <a:buNone/>
            </a:pPr>
            <a:endParaRPr lang="en-US"/>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pic>
        <p:nvPicPr>
          <p:cNvPr id="4" name="图片 0"/>
          <p:cNvPicPr>
            <a:picLocks noChangeAspect="1"/>
          </p:cNvPicPr>
          <p:nvPr/>
        </p:nvPicPr>
        <p:blipFill>
          <a:blip r:embed="rId3"/>
          <a:stretch>
            <a:fillRect/>
          </a:stretch>
        </p:blipFill>
        <p:spPr>
          <a:xfrm>
            <a:off x="6103620" y="2540000"/>
            <a:ext cx="5048250" cy="2895600"/>
          </a:xfrm>
          <a:prstGeom prst="rect">
            <a:avLst/>
          </a:prstGeom>
        </p:spPr>
      </p:pic>
      <p:pic>
        <p:nvPicPr>
          <p:cNvPr id="2" name="图片 1"/>
          <p:cNvPicPr>
            <a:picLocks noChangeAspect="1"/>
          </p:cNvPicPr>
          <p:nvPr/>
        </p:nvPicPr>
        <p:blipFill>
          <a:blip r:embed="rId4"/>
          <a:stretch>
            <a:fillRect/>
          </a:stretch>
        </p:blipFill>
        <p:spPr>
          <a:xfrm>
            <a:off x="648970" y="2540000"/>
            <a:ext cx="4895850" cy="1457325"/>
          </a:xfrm>
          <a:prstGeom prst="rect">
            <a:avLst/>
          </a:prstGeom>
        </p:spPr>
      </p:pic>
      <p:pic>
        <p:nvPicPr>
          <p:cNvPr id="3" name="图片 2"/>
          <p:cNvPicPr>
            <a:picLocks noChangeAspect="1"/>
          </p:cNvPicPr>
          <p:nvPr/>
        </p:nvPicPr>
        <p:blipFill>
          <a:blip r:embed="rId5"/>
          <a:stretch>
            <a:fillRect/>
          </a:stretch>
        </p:blipFill>
        <p:spPr>
          <a:xfrm>
            <a:off x="648970" y="4081780"/>
            <a:ext cx="3629025" cy="93345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13017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sz="4000">
                <a:sym typeface="+mn-ea"/>
              </a:rPr>
              <a:t>3. Voronoi-Based Network Nearest Neighbor: VN</a:t>
            </a:r>
            <a:r>
              <a:rPr lang="en-US" sz="4000" baseline="30000">
                <a:sym typeface="+mn-ea"/>
              </a:rPr>
              <a:t>3</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122" name="Google Shape;122;p17"/>
          <p:cNvSpPr txBox="1">
            <a:spLocks noGrp="1"/>
          </p:cNvSpPr>
          <p:nvPr>
            <p:ph type="body" idx="1"/>
          </p:nvPr>
        </p:nvSpPr>
        <p:spPr>
          <a:xfrm>
            <a:off x="838200" y="1569720"/>
            <a:ext cx="10023475" cy="478726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VN</a:t>
            </a:r>
            <a:r>
              <a:rPr lang="en-US" baseline="30000"/>
              <a:t>3 </a:t>
            </a:r>
            <a:r>
              <a:rPr lang="en-US"/>
              <a:t>:</a:t>
            </a:r>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(1) Find the first NN;</a:t>
            </a:r>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(2) Filter process;</a:t>
            </a:r>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(3) Refinement process;</a:t>
            </a:r>
          </a:p>
          <a:p>
            <a:pPr marL="685800" lvl="1" indent="-228600" algn="l" rtl="0">
              <a:lnSpc>
                <a:spcPct val="90000"/>
              </a:lnSpc>
              <a:spcBef>
                <a:spcPts val="1000"/>
              </a:spcBef>
              <a:spcAft>
                <a:spcPts val="0"/>
              </a:spcAft>
              <a:buClr>
                <a:schemeClr val="dk1"/>
              </a:buClr>
              <a:buSzPts val="2800"/>
              <a:buFont typeface="Noto Sans Symbols"/>
              <a:buChar char="●"/>
            </a:pPr>
            <a:r>
              <a:rPr lang="en-US">
                <a:sym typeface="+mn-ea"/>
              </a:rPr>
              <a:t>(4) Invoked (2)(3) k times.</a:t>
            </a:r>
            <a:endParaRPr lang="en-US" sz="2800">
              <a:sym typeface="+mn-ea"/>
            </a:endParaRPr>
          </a:p>
          <a:p>
            <a:pPr marL="685800" lvl="1" indent="-228600" algn="l" rtl="0">
              <a:lnSpc>
                <a:spcPct val="90000"/>
              </a:lnSpc>
              <a:spcBef>
                <a:spcPts val="1000"/>
              </a:spcBef>
              <a:spcAft>
                <a:spcPts val="0"/>
              </a:spcAft>
              <a:buClr>
                <a:schemeClr val="dk1"/>
              </a:buClr>
              <a:buSzPts val="2800"/>
              <a:buFont typeface="Noto Sans Symbols"/>
              <a:buChar char="●"/>
            </a:pPr>
            <a:endParaRPr lang="en-US" sz="2000"/>
          </a:p>
          <a:p>
            <a:pPr marL="228600" lvl="0" indent="-228600" algn="l" rtl="0">
              <a:lnSpc>
                <a:spcPct val="90000"/>
              </a:lnSpc>
              <a:spcBef>
                <a:spcPts val="0"/>
              </a:spcBef>
              <a:spcAft>
                <a:spcPts val="0"/>
              </a:spcAft>
              <a:buClr>
                <a:schemeClr val="dk1"/>
              </a:buClr>
              <a:buSzPts val="2800"/>
              <a:buFont typeface="Noto Sans Symbols"/>
              <a:buChar char="●"/>
            </a:pPr>
            <a:r>
              <a:rPr lang="en-US" sz="2400"/>
              <a:t>Store components:</a:t>
            </a:r>
            <a:endParaRPr lang="en-US"/>
          </a:p>
          <a:p>
            <a:pPr marL="685800" lvl="1" indent="-228600" algn="l" rtl="0">
              <a:lnSpc>
                <a:spcPct val="90000"/>
              </a:lnSpc>
              <a:spcBef>
                <a:spcPts val="0"/>
              </a:spcBef>
              <a:spcAft>
                <a:spcPts val="0"/>
              </a:spcAft>
              <a:buClr>
                <a:schemeClr val="dk1"/>
              </a:buClr>
              <a:buSzPts val="2800"/>
              <a:buFont typeface="Noto Sans Symbols"/>
              <a:buChar char="●"/>
            </a:pPr>
            <a:r>
              <a:rPr lang="en-US"/>
              <a:t>(</a:t>
            </a:r>
            <a:r>
              <a:rPr lang="en-US" sz="2000"/>
              <a:t>1) Save-1: Pre-calculation of the solution space;</a:t>
            </a:r>
          </a:p>
          <a:p>
            <a:pPr marL="685800" lvl="1" indent="-228600" algn="l" rtl="0">
              <a:lnSpc>
                <a:spcPct val="90000"/>
              </a:lnSpc>
              <a:spcBef>
                <a:spcPts val="0"/>
              </a:spcBef>
              <a:spcAft>
                <a:spcPts val="0"/>
              </a:spcAft>
              <a:buClr>
                <a:schemeClr val="dk1"/>
              </a:buClr>
              <a:buSzPts val="2800"/>
              <a:buFont typeface="Noto Sans Symbols"/>
              <a:buChar char="●"/>
            </a:pPr>
            <a:r>
              <a:rPr lang="en-US" sz="2000"/>
              <a:t>(2) </a:t>
            </a:r>
            <a:r>
              <a:rPr lang="en-US" sz="2000">
                <a:sym typeface="+mn-ea"/>
              </a:rPr>
              <a:t>Save-2: </a:t>
            </a:r>
            <a:r>
              <a:rPr lang="en-US" sz="2000"/>
              <a:t>Utilization of an index structure;</a:t>
            </a:r>
          </a:p>
          <a:p>
            <a:pPr marL="685800" lvl="1" indent="-228600" algn="l" rtl="0">
              <a:lnSpc>
                <a:spcPct val="90000"/>
              </a:lnSpc>
              <a:spcBef>
                <a:spcPts val="0"/>
              </a:spcBef>
              <a:spcAft>
                <a:spcPts val="0"/>
              </a:spcAft>
              <a:buClr>
                <a:schemeClr val="dk1"/>
              </a:buClr>
              <a:buSzPts val="2800"/>
              <a:buFont typeface="Noto Sans Symbols"/>
              <a:buChar char="●"/>
            </a:pPr>
            <a:r>
              <a:rPr lang="en-US" sz="2000"/>
              <a:t>(3) </a:t>
            </a:r>
            <a:r>
              <a:rPr lang="en-US" sz="2000">
                <a:sym typeface="+mn-ea"/>
              </a:rPr>
              <a:t>Save-3: </a:t>
            </a:r>
            <a:r>
              <a:rPr lang="en-US" sz="2000"/>
              <a:t>Pre-computation of the exact distances for small portion of data.</a:t>
            </a:r>
            <a:endParaRPr lang="en-US"/>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3.1 VN</a:t>
            </a:r>
            <a:r>
              <a:rPr lang="en-US" baseline="30000">
                <a:sym typeface="+mn-ea"/>
              </a:rPr>
              <a:t>3</a:t>
            </a:r>
            <a:r>
              <a:rPr lang="en-US">
                <a:sym typeface="+mn-ea"/>
              </a:rPr>
              <a:t>  Filter Step</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122" name="Google Shape;122;p17"/>
          <p:cNvSpPr txBox="1">
            <a:spLocks noGrp="1"/>
          </p:cNvSpPr>
          <p:nvPr>
            <p:ph type="body" idx="1"/>
          </p:nvPr>
        </p:nvSpPr>
        <p:spPr>
          <a:xfrm>
            <a:off x="709295" y="4222750"/>
            <a:ext cx="10152380" cy="179387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000"/>
              <a:t>P1-&gt; C = {P2, P3, P4, P5, P6} -&gt; P3 -&gt; C = {P2, P4, P5, P6, P10, P11, P12}.</a:t>
            </a:r>
          </a:p>
          <a:p>
            <a:pPr marL="228600" lvl="0" indent="-228600" algn="l" rtl="0">
              <a:lnSpc>
                <a:spcPct val="90000"/>
              </a:lnSpc>
              <a:spcBef>
                <a:spcPts val="0"/>
              </a:spcBef>
              <a:spcAft>
                <a:spcPts val="0"/>
              </a:spcAft>
              <a:buClr>
                <a:schemeClr val="dk1"/>
              </a:buClr>
              <a:buSzPts val="2800"/>
              <a:buFont typeface="Noto Sans Symbols"/>
              <a:buChar char="●"/>
            </a:pPr>
            <a:r>
              <a:rPr lang="en-US" sz="2000"/>
              <a:t>Size: O(K).</a:t>
            </a:r>
          </a:p>
          <a:p>
            <a:pPr marL="228600" lvl="0" indent="-228600" algn="l" rtl="0">
              <a:lnSpc>
                <a:spcPct val="90000"/>
              </a:lnSpc>
              <a:spcBef>
                <a:spcPts val="0"/>
              </a:spcBef>
              <a:spcAft>
                <a:spcPts val="0"/>
              </a:spcAft>
              <a:buClr>
                <a:schemeClr val="dk1"/>
              </a:buClr>
              <a:buSzPts val="2800"/>
              <a:buFont typeface="Noto Sans Symbols"/>
              <a:buChar char="●"/>
            </a:pPr>
            <a:r>
              <a:rPr lang="en-US" sz="2000"/>
              <a:t>Disk Block Accesses: O(K + log(n)).</a:t>
            </a:r>
          </a:p>
        </p:txBody>
      </p:sp>
      <p:pic>
        <p:nvPicPr>
          <p:cNvPr id="2" name="图片 1"/>
          <p:cNvPicPr>
            <a:picLocks noChangeAspect="1"/>
          </p:cNvPicPr>
          <p:nvPr/>
        </p:nvPicPr>
        <p:blipFill>
          <a:blip r:embed="rId3"/>
          <a:stretch>
            <a:fillRect/>
          </a:stretch>
        </p:blipFill>
        <p:spPr>
          <a:xfrm>
            <a:off x="562610" y="1691005"/>
            <a:ext cx="5153025" cy="762000"/>
          </a:xfrm>
          <a:prstGeom prst="rect">
            <a:avLst/>
          </a:prstGeom>
        </p:spPr>
      </p:pic>
      <p:pic>
        <p:nvPicPr>
          <p:cNvPr id="3" name="图片 2"/>
          <p:cNvPicPr>
            <a:picLocks noChangeAspect="1"/>
          </p:cNvPicPr>
          <p:nvPr/>
        </p:nvPicPr>
        <p:blipFill>
          <a:blip r:embed="rId4"/>
          <a:stretch>
            <a:fillRect/>
          </a:stretch>
        </p:blipFill>
        <p:spPr>
          <a:xfrm>
            <a:off x="562610" y="2698115"/>
            <a:ext cx="5181600" cy="1266825"/>
          </a:xfrm>
          <a:prstGeom prst="rect">
            <a:avLst/>
          </a:prstGeom>
        </p:spPr>
      </p:pic>
      <p:pic>
        <p:nvPicPr>
          <p:cNvPr id="4" name="图片 3"/>
          <p:cNvPicPr>
            <a:picLocks noChangeAspect="1"/>
          </p:cNvPicPr>
          <p:nvPr/>
        </p:nvPicPr>
        <p:blipFill>
          <a:blip r:embed="rId5"/>
          <a:stretch>
            <a:fillRect/>
          </a:stretch>
        </p:blipFill>
        <p:spPr>
          <a:xfrm>
            <a:off x="5715635" y="4685030"/>
            <a:ext cx="3672840" cy="1671320"/>
          </a:xfrm>
          <a:prstGeom prst="rect">
            <a:avLst/>
          </a:prstGeom>
        </p:spPr>
      </p:pic>
      <p:pic>
        <p:nvPicPr>
          <p:cNvPr id="5" name="图片 4"/>
          <p:cNvPicPr>
            <a:picLocks noChangeAspect="1"/>
          </p:cNvPicPr>
          <p:nvPr/>
        </p:nvPicPr>
        <p:blipFill>
          <a:blip r:embed="rId6"/>
          <a:srcRect l="49823" b="16982"/>
          <a:stretch>
            <a:fillRect/>
          </a:stretch>
        </p:blipFill>
        <p:spPr>
          <a:xfrm>
            <a:off x="6069330" y="1691005"/>
            <a:ext cx="2695575" cy="225361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3.2 VN</a:t>
            </a:r>
            <a:r>
              <a:rPr lang="en-US" baseline="30000">
                <a:sym typeface="+mn-ea"/>
              </a:rPr>
              <a:t>3</a:t>
            </a:r>
            <a:r>
              <a:rPr lang="en-US">
                <a:sym typeface="+mn-ea"/>
              </a:rPr>
              <a:t> Refinement Step</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122" name="Google Shape;122;p17"/>
          <p:cNvSpPr txBox="1">
            <a:spLocks noGrp="1"/>
          </p:cNvSpPr>
          <p:nvPr>
            <p:ph type="body" idx="1"/>
          </p:nvPr>
        </p:nvSpPr>
        <p:spPr>
          <a:xfrm>
            <a:off x="838200" y="1569720"/>
            <a:ext cx="10023475" cy="4446905"/>
          </a:xfrm>
          <a:prstGeom prst="rect">
            <a:avLst/>
          </a:prstGeom>
          <a:noFill/>
          <a:ln>
            <a:noFill/>
          </a:ln>
        </p:spPr>
        <p:txBody>
          <a:bodyPr spcFirstLastPara="1" wrap="square" lIns="91425" tIns="45700" rIns="91425" bIns="45700" anchor="t" anchorCtr="0">
            <a:noAutofit/>
          </a:bodyPr>
          <a:lstStyle/>
          <a:p>
            <a:pPr marL="685800" lvl="1" indent="-228600" algn="l" rtl="0">
              <a:lnSpc>
                <a:spcPct val="90000"/>
              </a:lnSpc>
              <a:spcBef>
                <a:spcPts val="1000"/>
              </a:spcBef>
              <a:spcAft>
                <a:spcPts val="0"/>
              </a:spcAft>
              <a:buClr>
                <a:schemeClr val="dk1"/>
              </a:buClr>
              <a:buSzPts val="2800"/>
              <a:buFont typeface="Noto Sans Symbols"/>
              <a:buChar char="●"/>
            </a:pPr>
            <a:r>
              <a:rPr lang="en-US"/>
              <a:t>P2B: Generator to border;</a:t>
            </a:r>
          </a:p>
          <a:p>
            <a:pPr marL="685800" lvl="1" indent="-228600" algn="l" rtl="0">
              <a:lnSpc>
                <a:spcPct val="90000"/>
              </a:lnSpc>
              <a:spcBef>
                <a:spcPts val="1000"/>
              </a:spcBef>
              <a:spcAft>
                <a:spcPts val="0"/>
              </a:spcAft>
              <a:buClr>
                <a:schemeClr val="dk1"/>
              </a:buClr>
              <a:buSzPts val="2800"/>
              <a:buFont typeface="Noto Sans Symbols"/>
              <a:buChar char="●"/>
            </a:pPr>
            <a:r>
              <a:rPr lang="en-US"/>
              <a:t>Q2B: Query to border; </a:t>
            </a:r>
          </a:p>
          <a:p>
            <a:pPr marL="685800" lvl="1" indent="-228600" algn="l" rtl="0">
              <a:lnSpc>
                <a:spcPct val="90000"/>
              </a:lnSpc>
              <a:spcBef>
                <a:spcPts val="1000"/>
              </a:spcBef>
              <a:spcAft>
                <a:spcPts val="0"/>
              </a:spcAft>
              <a:buClr>
                <a:schemeClr val="dk1"/>
              </a:buClr>
              <a:buSzPts val="2800"/>
              <a:buFont typeface="Noto Sans Symbols"/>
              <a:buChar char="●"/>
            </a:pPr>
            <a:r>
              <a:rPr lang="en-US"/>
              <a:t>B2B: Border to border.</a:t>
            </a:r>
          </a:p>
          <a:p>
            <a:pPr marL="685800" lvl="1" indent="-228600" algn="l" rtl="0">
              <a:lnSpc>
                <a:spcPct val="90000"/>
              </a:lnSpc>
              <a:spcBef>
                <a:spcPts val="1000"/>
              </a:spcBef>
              <a:spcAft>
                <a:spcPts val="0"/>
              </a:spcAft>
              <a:buClr>
                <a:schemeClr val="dk1"/>
              </a:buClr>
              <a:buSzPts val="2800"/>
              <a:buFont typeface="Noto Sans Symbols"/>
              <a:buChar char="●"/>
            </a:pPr>
            <a:r>
              <a:rPr lang="en-US"/>
              <a:t>Save-3.1: P2B.</a:t>
            </a:r>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pic>
        <p:nvPicPr>
          <p:cNvPr id="4" name="图片 0"/>
          <p:cNvPicPr>
            <a:picLocks noChangeAspect="1"/>
          </p:cNvPicPr>
          <p:nvPr/>
        </p:nvPicPr>
        <p:blipFill>
          <a:blip r:embed="rId3"/>
          <a:stretch>
            <a:fillRect/>
          </a:stretch>
        </p:blipFill>
        <p:spPr>
          <a:xfrm>
            <a:off x="6080760" y="4018915"/>
            <a:ext cx="4219575" cy="2143125"/>
          </a:xfrm>
          <a:prstGeom prst="rect">
            <a:avLst/>
          </a:prstGeom>
        </p:spPr>
      </p:pic>
      <p:pic>
        <p:nvPicPr>
          <p:cNvPr id="2" name="图片 1"/>
          <p:cNvPicPr>
            <a:picLocks noChangeAspect="1"/>
          </p:cNvPicPr>
          <p:nvPr/>
        </p:nvPicPr>
        <p:blipFill>
          <a:blip r:embed="rId4"/>
          <a:stretch>
            <a:fillRect/>
          </a:stretch>
        </p:blipFill>
        <p:spPr>
          <a:xfrm>
            <a:off x="6123940" y="1691005"/>
            <a:ext cx="4133850" cy="781050"/>
          </a:xfrm>
          <a:prstGeom prst="rect">
            <a:avLst/>
          </a:prstGeom>
        </p:spPr>
      </p:pic>
      <p:pic>
        <p:nvPicPr>
          <p:cNvPr id="3" name="图片 2"/>
          <p:cNvPicPr>
            <a:picLocks noChangeAspect="1"/>
          </p:cNvPicPr>
          <p:nvPr/>
        </p:nvPicPr>
        <p:blipFill>
          <a:blip r:embed="rId5"/>
          <a:srcRect t="5965"/>
          <a:stretch>
            <a:fillRect/>
          </a:stretch>
        </p:blipFill>
        <p:spPr>
          <a:xfrm>
            <a:off x="6123940" y="3006090"/>
            <a:ext cx="4486275" cy="51054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3.2 VN</a:t>
            </a:r>
            <a:r>
              <a:rPr lang="en-US" baseline="30000">
                <a:sym typeface="+mn-ea"/>
              </a:rPr>
              <a:t>3</a:t>
            </a:r>
            <a:r>
              <a:rPr lang="en-US">
                <a:sym typeface="+mn-ea"/>
              </a:rPr>
              <a:t> Refinement Step</a:t>
            </a:r>
            <a:endParaRPr lang="en-US"/>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122" name="Google Shape;122;p17"/>
          <p:cNvSpPr txBox="1">
            <a:spLocks noGrp="1"/>
          </p:cNvSpPr>
          <p:nvPr>
            <p:ph type="body" idx="1"/>
          </p:nvPr>
        </p:nvSpPr>
        <p:spPr>
          <a:xfrm>
            <a:off x="838200" y="1569720"/>
            <a:ext cx="5334635" cy="129413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400"/>
              <a:t>Border to Border Computations:</a:t>
            </a:r>
          </a:p>
          <a:p>
            <a:pPr marL="685800" lvl="1" indent="-228600" algn="l" rtl="0">
              <a:lnSpc>
                <a:spcPct val="90000"/>
              </a:lnSpc>
              <a:spcBef>
                <a:spcPts val="0"/>
              </a:spcBef>
              <a:spcAft>
                <a:spcPts val="0"/>
              </a:spcAft>
              <a:buClr>
                <a:schemeClr val="dk1"/>
              </a:buClr>
              <a:buSzPts val="2800"/>
              <a:buFont typeface="Noto Sans Symbols"/>
              <a:buChar char="●"/>
            </a:pPr>
            <a:r>
              <a:rPr lang="en-US" sz="2000">
                <a:sym typeface="+mn-ea"/>
              </a:rPr>
              <a:t>Save-3.3;</a:t>
            </a:r>
          </a:p>
          <a:p>
            <a:pPr marL="685800" lvl="1" indent="-228600" algn="l" rtl="0">
              <a:lnSpc>
                <a:spcPct val="90000"/>
              </a:lnSpc>
              <a:spcBef>
                <a:spcPts val="0"/>
              </a:spcBef>
              <a:spcAft>
                <a:spcPts val="0"/>
              </a:spcAft>
              <a:buClr>
                <a:schemeClr val="dk1"/>
              </a:buClr>
              <a:buSzPts val="2800"/>
              <a:buFont typeface="Noto Sans Symbols"/>
              <a:buChar char="●"/>
            </a:pPr>
            <a:r>
              <a:rPr lang="en-US" sz="2000"/>
              <a:t>NVP(P1):  {b1, ..., b8};    </a:t>
            </a:r>
          </a:p>
          <a:p>
            <a:pPr marL="685800" lvl="1" indent="-228600" algn="l" rtl="0">
              <a:lnSpc>
                <a:spcPct val="90000"/>
              </a:lnSpc>
              <a:spcBef>
                <a:spcPts val="0"/>
              </a:spcBef>
              <a:spcAft>
                <a:spcPts val="0"/>
              </a:spcAft>
              <a:buClr>
                <a:schemeClr val="dk1"/>
              </a:buClr>
              <a:buSzPts val="2800"/>
              <a:buFont typeface="Noto Sans Symbols"/>
              <a:buChar char="●"/>
            </a:pPr>
            <a:r>
              <a:rPr lang="en-US" sz="2000"/>
              <a:t>NVP(P3): {b1, b2, b14, ..., b19}.</a:t>
            </a:r>
            <a:endParaRPr lang="en-US"/>
          </a:p>
          <a:p>
            <a:pPr marL="457200" lvl="1" indent="0" algn="l" rtl="0">
              <a:lnSpc>
                <a:spcPct val="90000"/>
              </a:lnSpc>
              <a:spcBef>
                <a:spcPts val="1000"/>
              </a:spcBef>
              <a:spcAft>
                <a:spcPts val="0"/>
              </a:spcAft>
              <a:buClr>
                <a:schemeClr val="dk1"/>
              </a:buClr>
              <a:buSzPts val="2800"/>
              <a:buFont typeface="Noto Sans Symbols"/>
              <a:buNone/>
            </a:pPr>
            <a:endParaRPr lang="en-US"/>
          </a:p>
          <a:p>
            <a:pPr marL="685800" lvl="1" indent="-228600" algn="l" rtl="0">
              <a:lnSpc>
                <a:spcPct val="90000"/>
              </a:lnSpc>
              <a:spcBef>
                <a:spcPts val="1000"/>
              </a:spcBef>
              <a:spcAft>
                <a:spcPts val="0"/>
              </a:spcAft>
              <a:buClr>
                <a:schemeClr val="dk1"/>
              </a:buClr>
              <a:buSzPts val="2800"/>
              <a:buFont typeface="Noto Sans Symbols"/>
              <a:buChar char="●"/>
            </a:pPr>
            <a:endParaRPr lang="en-US"/>
          </a:p>
          <a:p>
            <a:pPr marL="228600" lvl="0" indent="-228600" algn="l" rtl="0">
              <a:lnSpc>
                <a:spcPct val="90000"/>
              </a:lnSpc>
              <a:spcBef>
                <a:spcPts val="1000"/>
              </a:spcBef>
              <a:spcAft>
                <a:spcPts val="0"/>
              </a:spcAft>
              <a:buClr>
                <a:schemeClr val="dk1"/>
              </a:buClr>
              <a:buSzPts val="2800"/>
              <a:buFont typeface="Noto Sans Symbols"/>
              <a:buChar char="●"/>
            </a:pPr>
            <a:endParaRPr lang="en-US"/>
          </a:p>
        </p:txBody>
      </p:sp>
      <p:pic>
        <p:nvPicPr>
          <p:cNvPr id="5" name="图片 0"/>
          <p:cNvPicPr>
            <a:picLocks noChangeAspect="1"/>
          </p:cNvPicPr>
          <p:nvPr/>
        </p:nvPicPr>
        <p:blipFill>
          <a:blip r:embed="rId3"/>
          <a:srcRect b="25274"/>
          <a:stretch>
            <a:fillRect/>
          </a:stretch>
        </p:blipFill>
        <p:spPr>
          <a:xfrm>
            <a:off x="838200" y="3439795"/>
            <a:ext cx="4219575" cy="1601470"/>
          </a:xfrm>
          <a:prstGeom prst="rect">
            <a:avLst/>
          </a:prstGeom>
        </p:spPr>
      </p:pic>
      <p:pic>
        <p:nvPicPr>
          <p:cNvPr id="2" name="图片 1"/>
          <p:cNvPicPr>
            <a:picLocks noChangeAspect="1"/>
          </p:cNvPicPr>
          <p:nvPr/>
        </p:nvPicPr>
        <p:blipFill>
          <a:blip r:embed="rId4"/>
          <a:stretch>
            <a:fillRect/>
          </a:stretch>
        </p:blipFill>
        <p:spPr>
          <a:xfrm>
            <a:off x="6172835" y="1691005"/>
            <a:ext cx="5114925" cy="1295400"/>
          </a:xfrm>
          <a:prstGeom prst="rect">
            <a:avLst/>
          </a:prstGeom>
        </p:spPr>
      </p:pic>
      <p:pic>
        <p:nvPicPr>
          <p:cNvPr id="3" name="图片 2"/>
          <p:cNvPicPr>
            <a:picLocks noChangeAspect="1"/>
          </p:cNvPicPr>
          <p:nvPr/>
        </p:nvPicPr>
        <p:blipFill>
          <a:blip r:embed="rId5"/>
          <a:srcRect b="2099"/>
          <a:stretch>
            <a:fillRect/>
          </a:stretch>
        </p:blipFill>
        <p:spPr>
          <a:xfrm>
            <a:off x="6172835" y="3388360"/>
            <a:ext cx="5086350" cy="1510665"/>
          </a:xfrm>
          <a:prstGeom prst="rect">
            <a:avLst/>
          </a:prstGeom>
        </p:spPr>
      </p:pic>
      <p:pic>
        <p:nvPicPr>
          <p:cNvPr id="4" name="图片 3"/>
          <p:cNvPicPr>
            <a:picLocks noChangeAspect="1"/>
          </p:cNvPicPr>
          <p:nvPr/>
        </p:nvPicPr>
        <p:blipFill>
          <a:blip r:embed="rId6"/>
          <a:srcRect t="14307"/>
          <a:stretch>
            <a:fillRect/>
          </a:stretch>
        </p:blipFill>
        <p:spPr>
          <a:xfrm>
            <a:off x="6168390" y="5226050"/>
            <a:ext cx="5095875" cy="72644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3.2 VN</a:t>
            </a:r>
            <a:r>
              <a:rPr lang="en-US" baseline="30000">
                <a:sym typeface="+mn-ea"/>
              </a:rPr>
              <a:t>3</a:t>
            </a:r>
            <a:r>
              <a:rPr lang="en-US">
                <a:sym typeface="+mn-ea"/>
              </a:rPr>
              <a:t> Refinement Step</a:t>
            </a:r>
            <a:endParaRPr lang="en-US"/>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
        <p:nvSpPr>
          <p:cNvPr id="122" name="Google Shape;122;p17"/>
          <p:cNvSpPr txBox="1">
            <a:spLocks noGrp="1"/>
          </p:cNvSpPr>
          <p:nvPr>
            <p:ph type="body" idx="1"/>
          </p:nvPr>
        </p:nvSpPr>
        <p:spPr>
          <a:xfrm>
            <a:off x="838200" y="1569720"/>
            <a:ext cx="10023475" cy="444690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400" dirty="0"/>
              <a:t>minimum possible network distances, </a:t>
            </a:r>
            <a:r>
              <a:rPr lang="en-US" sz="2400" dirty="0" err="1"/>
              <a:t>d</a:t>
            </a:r>
            <a:r>
              <a:rPr lang="en-US" sz="2400" baseline="-25000" dirty="0" err="1"/>
              <a:t>mpn</a:t>
            </a:r>
            <a:r>
              <a:rPr lang="en-US" sz="2400" dirty="0"/>
              <a:t>:</a:t>
            </a:r>
            <a:endParaRPr lang="en-US" dirty="0"/>
          </a:p>
          <a:p>
            <a:pPr marL="685800" lvl="1" indent="-228600" algn="l" rtl="0">
              <a:lnSpc>
                <a:spcPct val="90000"/>
              </a:lnSpc>
              <a:spcBef>
                <a:spcPts val="0"/>
              </a:spcBef>
              <a:spcAft>
                <a:spcPts val="0"/>
              </a:spcAft>
              <a:buClr>
                <a:schemeClr val="dk1"/>
              </a:buClr>
              <a:buSzPts val="2800"/>
              <a:buFont typeface="Noto Sans Symbols"/>
              <a:buChar char="●"/>
            </a:pPr>
            <a:endParaRPr lang="en-US" dirty="0"/>
          </a:p>
          <a:p>
            <a:pPr marL="228600" lvl="0" indent="-228600" algn="l" rtl="0">
              <a:lnSpc>
                <a:spcPct val="90000"/>
              </a:lnSpc>
              <a:spcBef>
                <a:spcPts val="0"/>
              </a:spcBef>
              <a:spcAft>
                <a:spcPts val="0"/>
              </a:spcAft>
              <a:buClr>
                <a:schemeClr val="dk1"/>
              </a:buClr>
              <a:buSzPts val="2800"/>
              <a:buFont typeface="Noto Sans Symbols"/>
              <a:buChar char="●"/>
            </a:pPr>
            <a:endParaRPr lang="en-US" sz="2800" dirty="0">
              <a:sym typeface="+mn-ea"/>
            </a:endParaRPr>
          </a:p>
          <a:p>
            <a:pPr marL="228600" lvl="0" indent="-228600" algn="l" rtl="0">
              <a:lnSpc>
                <a:spcPct val="90000"/>
              </a:lnSpc>
              <a:spcBef>
                <a:spcPts val="0"/>
              </a:spcBef>
              <a:spcAft>
                <a:spcPts val="0"/>
              </a:spcAft>
              <a:buClr>
                <a:schemeClr val="dk1"/>
              </a:buClr>
              <a:buSzPts val="2800"/>
              <a:buFont typeface="Noto Sans Symbols"/>
              <a:buChar char="●"/>
            </a:pPr>
            <a:endParaRPr lang="en-US" sz="2800" dirty="0">
              <a:sym typeface="+mn-ea"/>
            </a:endParaRPr>
          </a:p>
          <a:p>
            <a:pPr marL="228600" lvl="0" indent="-228600" algn="l" rtl="0">
              <a:lnSpc>
                <a:spcPct val="90000"/>
              </a:lnSpc>
              <a:spcBef>
                <a:spcPts val="0"/>
              </a:spcBef>
              <a:spcAft>
                <a:spcPts val="0"/>
              </a:spcAft>
              <a:buClr>
                <a:schemeClr val="dk1"/>
              </a:buClr>
              <a:buSzPts val="2800"/>
              <a:buFont typeface="Noto Sans Symbols"/>
              <a:buChar char="●"/>
            </a:pPr>
            <a:endParaRPr lang="en-US" sz="2800" dirty="0">
              <a:sym typeface="+mn-ea"/>
            </a:endParaRPr>
          </a:p>
          <a:p>
            <a:pPr marL="228600" lvl="0" indent="-228600" algn="l" rtl="0">
              <a:lnSpc>
                <a:spcPct val="90000"/>
              </a:lnSpc>
              <a:spcBef>
                <a:spcPts val="0"/>
              </a:spcBef>
              <a:spcAft>
                <a:spcPts val="0"/>
              </a:spcAft>
              <a:buClr>
                <a:schemeClr val="dk1"/>
              </a:buClr>
              <a:buSzPts val="2800"/>
              <a:buFont typeface="Noto Sans Symbols"/>
              <a:buChar char="●"/>
            </a:pPr>
            <a:r>
              <a:rPr lang="en-US" sz="2800" dirty="0">
                <a:sym typeface="+mn-ea"/>
              </a:rPr>
              <a:t> </a:t>
            </a:r>
            <a:r>
              <a:rPr lang="en-US" sz="2000" dirty="0" err="1">
                <a:sym typeface="+mn-ea"/>
              </a:rPr>
              <a:t>d</a:t>
            </a:r>
            <a:r>
              <a:rPr lang="en-US" sz="2000" baseline="-25000" dirty="0" err="1">
                <a:sym typeface="+mn-ea"/>
              </a:rPr>
              <a:t>mpn</a:t>
            </a:r>
            <a:r>
              <a:rPr lang="en-US" sz="2000" dirty="0">
                <a:sym typeface="+mn-ea"/>
              </a:rPr>
              <a:t>(q, pi)   ≥  </a:t>
            </a:r>
            <a:r>
              <a:rPr lang="en-US" sz="2000" dirty="0" err="1">
                <a:sym typeface="+mn-ea"/>
              </a:rPr>
              <a:t>dn</a:t>
            </a:r>
            <a:r>
              <a:rPr lang="en-US" sz="2000" dirty="0">
                <a:sym typeface="+mn-ea"/>
              </a:rPr>
              <a:t>(q, pi);</a:t>
            </a:r>
          </a:p>
          <a:p>
            <a:pPr marL="228600" lvl="0" indent="-228600" algn="l" rtl="0">
              <a:lnSpc>
                <a:spcPct val="90000"/>
              </a:lnSpc>
              <a:spcBef>
                <a:spcPts val="0"/>
              </a:spcBef>
              <a:spcAft>
                <a:spcPts val="0"/>
              </a:spcAft>
              <a:buClr>
                <a:schemeClr val="dk1"/>
              </a:buClr>
              <a:buSzPts val="2800"/>
              <a:buFont typeface="Noto Sans Symbols"/>
              <a:buChar char="●"/>
            </a:pPr>
            <a:endParaRPr lang="en-US" sz="2800" dirty="0">
              <a:sym typeface="+mn-ea"/>
            </a:endParaRPr>
          </a:p>
          <a:p>
            <a:pPr marL="228600" lvl="0" indent="-228600" algn="l" rtl="0">
              <a:lnSpc>
                <a:spcPct val="90000"/>
              </a:lnSpc>
              <a:spcBef>
                <a:spcPts val="0"/>
              </a:spcBef>
              <a:spcAft>
                <a:spcPts val="0"/>
              </a:spcAft>
              <a:buClr>
                <a:schemeClr val="dk1"/>
              </a:buClr>
              <a:buSzPts val="2800"/>
              <a:buFont typeface="Noto Sans Symbols"/>
              <a:buChar char="●"/>
            </a:pPr>
            <a:r>
              <a:rPr lang="en-US" sz="2000" dirty="0">
                <a:sym typeface="+mn-ea"/>
              </a:rPr>
              <a:t>Assume that p2 </a:t>
            </a:r>
            <a:r>
              <a:rPr lang="en-US" sz="2000">
                <a:sym typeface="+mn-ea"/>
              </a:rPr>
              <a:t>is  </a:t>
            </a:r>
            <a:r>
              <a:rPr lang="en-US" sz="2000" smtClean="0">
                <a:sym typeface="+mn-ea"/>
              </a:rPr>
              <a:t>2nd </a:t>
            </a:r>
            <a:r>
              <a:rPr lang="en-US" sz="2000" dirty="0">
                <a:sym typeface="+mn-ea"/>
              </a:rPr>
              <a:t>NN, pi ∈(p3, p4, p5, p6, p7, p8, p10);</a:t>
            </a:r>
            <a:endParaRPr lang="en-US" dirty="0"/>
          </a:p>
        </p:txBody>
      </p:sp>
      <p:pic>
        <p:nvPicPr>
          <p:cNvPr id="4" name="图片 0"/>
          <p:cNvPicPr>
            <a:picLocks noChangeAspect="1"/>
          </p:cNvPicPr>
          <p:nvPr/>
        </p:nvPicPr>
        <p:blipFill>
          <a:blip r:embed="rId3"/>
          <a:srcRect t="1111"/>
          <a:stretch>
            <a:fillRect/>
          </a:stretch>
        </p:blipFill>
        <p:spPr>
          <a:xfrm>
            <a:off x="1064260" y="2063115"/>
            <a:ext cx="4232910" cy="1428750"/>
          </a:xfrm>
          <a:prstGeom prst="rect">
            <a:avLst/>
          </a:prstGeom>
        </p:spPr>
      </p:pic>
      <p:pic>
        <p:nvPicPr>
          <p:cNvPr id="2" name="图片 1"/>
          <p:cNvPicPr>
            <a:picLocks noChangeAspect="1"/>
          </p:cNvPicPr>
          <p:nvPr/>
        </p:nvPicPr>
        <p:blipFill>
          <a:blip r:embed="rId4"/>
          <a:srcRect b="25274"/>
          <a:stretch>
            <a:fillRect/>
          </a:stretch>
        </p:blipFill>
        <p:spPr>
          <a:xfrm>
            <a:off x="7546340" y="688340"/>
            <a:ext cx="4219575" cy="1601470"/>
          </a:xfrm>
          <a:prstGeom prst="rect">
            <a:avLst/>
          </a:prstGeom>
        </p:spPr>
      </p:pic>
      <p:pic>
        <p:nvPicPr>
          <p:cNvPr id="3" name="图片 2"/>
          <p:cNvPicPr>
            <a:picLocks noChangeAspect="1"/>
          </p:cNvPicPr>
          <p:nvPr/>
        </p:nvPicPr>
        <p:blipFill>
          <a:blip r:embed="rId5"/>
          <a:srcRect t="3953" b="6899"/>
          <a:stretch>
            <a:fillRect/>
          </a:stretch>
        </p:blipFill>
        <p:spPr>
          <a:xfrm>
            <a:off x="1064260" y="4798060"/>
            <a:ext cx="4800600" cy="73025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3.3 VN</a:t>
            </a:r>
            <a:r>
              <a:rPr lang="en-US" baseline="30000">
                <a:sym typeface="+mn-ea"/>
              </a:rPr>
              <a:t>3</a:t>
            </a:r>
            <a:r>
              <a:rPr lang="en-US">
                <a:sym typeface="+mn-ea"/>
              </a:rPr>
              <a:t> Storage Schema</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pic>
        <p:nvPicPr>
          <p:cNvPr id="2" name="图片 0"/>
          <p:cNvPicPr>
            <a:picLocks noChangeAspect="1"/>
          </p:cNvPicPr>
          <p:nvPr/>
        </p:nvPicPr>
        <p:blipFill>
          <a:blip r:embed="rId3"/>
          <a:stretch>
            <a:fillRect/>
          </a:stretch>
        </p:blipFill>
        <p:spPr>
          <a:xfrm>
            <a:off x="3053080" y="2127250"/>
            <a:ext cx="6085840" cy="3494405"/>
          </a:xfrm>
          <a:prstGeom prst="rect">
            <a:avLst/>
          </a:prstGeom>
        </p:spPr>
      </p:pic>
      <p:pic>
        <p:nvPicPr>
          <p:cNvPr id="3" name="图片 2"/>
          <p:cNvPicPr>
            <a:picLocks noChangeAspect="1"/>
          </p:cNvPicPr>
          <p:nvPr/>
        </p:nvPicPr>
        <p:blipFill>
          <a:blip r:embed="rId4"/>
          <a:srcRect b="25274"/>
          <a:stretch>
            <a:fillRect/>
          </a:stretch>
        </p:blipFill>
        <p:spPr>
          <a:xfrm>
            <a:off x="7240270" y="365125"/>
            <a:ext cx="4219575" cy="160147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4 Performance Evaluation</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pic>
        <p:nvPicPr>
          <p:cNvPr id="3" name="图片 0"/>
          <p:cNvPicPr>
            <a:picLocks noChangeAspect="1"/>
          </p:cNvPicPr>
          <p:nvPr/>
        </p:nvPicPr>
        <p:blipFill>
          <a:blip r:embed="rId3"/>
          <a:stretch>
            <a:fillRect/>
          </a:stretch>
        </p:blipFill>
        <p:spPr>
          <a:xfrm>
            <a:off x="1442085" y="1471930"/>
            <a:ext cx="9308465" cy="2956560"/>
          </a:xfrm>
          <a:prstGeom prst="rect">
            <a:avLst/>
          </a:prstGeom>
        </p:spPr>
      </p:pic>
      <p:pic>
        <p:nvPicPr>
          <p:cNvPr id="2" name="图片 1"/>
          <p:cNvPicPr>
            <a:picLocks noChangeAspect="1"/>
          </p:cNvPicPr>
          <p:nvPr/>
        </p:nvPicPr>
        <p:blipFill>
          <a:blip r:embed="rId4"/>
          <a:stretch>
            <a:fillRect/>
          </a:stretch>
        </p:blipFill>
        <p:spPr>
          <a:xfrm>
            <a:off x="3448685" y="4428490"/>
            <a:ext cx="5295900" cy="20002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130810"/>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sym typeface="+mn-ea"/>
              </a:rPr>
              <a:t>4 Performance Evaluation</a:t>
            </a:r>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pic>
        <p:nvPicPr>
          <p:cNvPr id="2" name="图片 1"/>
          <p:cNvPicPr>
            <a:picLocks noChangeAspect="1"/>
          </p:cNvPicPr>
          <p:nvPr/>
        </p:nvPicPr>
        <p:blipFill>
          <a:blip r:embed="rId3"/>
          <a:stretch>
            <a:fillRect/>
          </a:stretch>
        </p:blipFill>
        <p:spPr>
          <a:xfrm>
            <a:off x="3758565" y="1360170"/>
            <a:ext cx="4674870" cy="5205095"/>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654</Words>
  <Application>Microsoft Office PowerPoint</Application>
  <PresentationFormat>寬螢幕</PresentationFormat>
  <Paragraphs>90</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SimSun</vt:lpstr>
      <vt:lpstr>Questrial</vt:lpstr>
      <vt:lpstr>Calibri</vt:lpstr>
      <vt:lpstr>Symbol</vt:lpstr>
      <vt:lpstr>Noto Sans Symbols</vt:lpstr>
      <vt:lpstr>Office 佈景主題</vt:lpstr>
      <vt:lpstr>Voronoi-Based K Nearest Neighbor Search for Spatial Network  Databases</vt:lpstr>
      <vt:lpstr>Abstract (1/2)</vt:lpstr>
      <vt:lpstr>Abstract (2/2)</vt:lpstr>
      <vt:lpstr>1.INTRODUCTION</vt:lpstr>
      <vt:lpstr>1.INTRODUCTION</vt:lpstr>
      <vt:lpstr>2.Background: Voronoi Diagram</vt:lpstr>
      <vt:lpstr>2.Background: Voronoi Diagram</vt:lpstr>
      <vt:lpstr>2.Background: Voronoi Diagram</vt:lpstr>
      <vt:lpstr>3. Voronoi-Based Network Nearest Neighbor: VN3</vt:lpstr>
      <vt:lpstr>3.1 VN3  Filter Step</vt:lpstr>
      <vt:lpstr>3.2 VN3 Refinement Step</vt:lpstr>
      <vt:lpstr>3.2 VN3 Refinement Step</vt:lpstr>
      <vt:lpstr>3.2 VN3 Refinement Step</vt:lpstr>
      <vt:lpstr>3.3 VN3 Storage Schema</vt:lpstr>
      <vt:lpstr>4 Performance Evaluation</vt:lpstr>
      <vt:lpstr>4 Performance Evaluation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Voronoi-Based K Nearest Neighbor Search for Spatial Network  Databases</dc:title>
  <dc:creator/>
  <cp:lastModifiedBy>pplab-class</cp:lastModifiedBy>
  <cp:revision>79</cp:revision>
  <dcterms:created xsi:type="dcterms:W3CDTF">2018-12-29T09:51:00Z</dcterms:created>
  <dcterms:modified xsi:type="dcterms:W3CDTF">2019-03-05T12:09:07Z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2052-11.1.0.8500</vt:lpwstr>
  </property>
</Properties>
</file>