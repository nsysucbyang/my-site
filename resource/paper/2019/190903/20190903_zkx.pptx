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352" r:id="rId3"/>
    <p:sldId id="258" r:id="rId4"/>
    <p:sldId id="320" r:id="rId5"/>
    <p:sldId id="321" r:id="rId6"/>
    <p:sldId id="353" r:id="rId7"/>
    <p:sldId id="354" r:id="rId8"/>
    <p:sldId id="315" r:id="rId9"/>
    <p:sldId id="355" r:id="rId10"/>
    <p:sldId id="356" r:id="rId11"/>
    <p:sldId id="357" r:id="rId12"/>
    <p:sldId id="324" r:id="rId13"/>
    <p:sldId id="359" r:id="rId14"/>
    <p:sldId id="360" r:id="rId15"/>
    <p:sldId id="361" r:id="rId16"/>
    <p:sldId id="369" r:id="rId17"/>
    <p:sldId id="362" r:id="rId18"/>
    <p:sldId id="36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60"/>
  </p:normalViewPr>
  <p:slideViewPr>
    <p:cSldViewPr snapToGrid="0">
      <p:cViewPr varScale="1">
        <p:scale>
          <a:sx n="63" d="100"/>
          <a:sy n="63" d="100"/>
        </p:scale>
        <p:origin x="10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2019/9/3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wikipedia.org/zh-tw/%E5%B8%83%E6%8B%89%E6%A0%BC"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zh.wikipedia.org/zh-tw/%E5%B8%83%E6%8B%89%E6%A0%BC%E4%B9%8B%E6%98%A5" TargetMode="External"/><Relationship Id="rId4" Type="http://schemas.openxmlformats.org/officeDocument/2006/relationships/hyperlink" Target="https://www.google.com.tw/maps/place/%E6%8D%B7%E5%85%8B%E5%B8%83%E6%8B%89%E6%A0%BC/@50.0598058,14.3255419,11z/data=!3m1!4b1!4m5!3m4!1s0x470b939c0970798b:0x400af0f66164090!8m2!3d50.0755381!4d14.4378005?hl=zh-TW"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https://zh.wikipedia.org/zh-tw/%E5%B8%83%E6%8B%89%E6%A0%BC</a:t>
            </a:r>
            <a:endParaRPr lang="en-US" altLang="zh-CN" dirty="0"/>
          </a:p>
          <a:p>
            <a:pPr marL="0" lvl="0" indent="0" algn="l" rtl="0">
              <a:spcBef>
                <a:spcPts val="0"/>
              </a:spcBef>
              <a:spcAft>
                <a:spcPts val="0"/>
              </a:spcAft>
              <a:buNone/>
            </a:pPr>
            <a:r>
              <a:rPr lang="en-US" altLang="zh-CN" dirty="0">
                <a:hlinkClick r:id="rId4"/>
              </a:rPr>
              <a:t>https://www.google.com.tw/maps/place/%E6%8D%B7%E5%85%8B%E5%B8%83%E6%8B%89%E6%A0%BC/@50.0598058,14.3255419,11z/data=!3m1!4b1!4m5!3m4!1s0x470b939c0970798b:0x400af0f66164090!8m2!3d50.0755381!4d14.4378005?hl=zh-TW</a:t>
            </a:r>
            <a:endParaRPr lang="en-US" altLang="zh-CN" dirty="0"/>
          </a:p>
          <a:p>
            <a:pPr marL="0" lvl="0" indent="0" algn="l" rtl="0">
              <a:spcBef>
                <a:spcPts val="0"/>
              </a:spcBef>
              <a:spcAft>
                <a:spcPts val="0"/>
              </a:spcAft>
              <a:buNone/>
            </a:pPr>
            <a:r>
              <a:rPr lang="en-US" altLang="zh-CN" dirty="0">
                <a:hlinkClick r:id="rId5"/>
              </a:rPr>
              <a:t>https://zh.wikipedia.org/zh-tw/%E5%B8%83%E6%8B%89%E6%A0%BC%E4%B9%8B%E6%98%A5</a:t>
            </a:r>
            <a:endParaRPr lang="en-US" altLang="zh-CN" dirty="0"/>
          </a:p>
          <a:p>
            <a:pPr marL="0" lvl="0" indent="0" algn="l" rtl="0">
              <a:spcBef>
                <a:spcPts val="0"/>
              </a:spcBef>
              <a:spcAft>
                <a:spcPts val="0"/>
              </a:spcAft>
              <a:buNone/>
            </a:pPr>
            <a:r>
              <a:rPr lang="en-US" altLang="zh-CN" dirty="0"/>
              <a:t>https://open.spotify.com/album/4xa5fzCtL1F2XBflafatXp?si=mCdNieahQUibMs3mBxvgoQ</a:t>
            </a:r>
          </a:p>
          <a:p>
            <a:pPr marL="0" lvl="0" indent="0" algn="l" rtl="0">
              <a:spcBef>
                <a:spcPts val="0"/>
              </a:spcBef>
              <a:spcAft>
                <a:spcPts val="0"/>
              </a:spcAft>
              <a:buNone/>
            </a:pP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extLst>
      <p:ext uri="{BB962C8B-B14F-4D97-AF65-F5344CB8AC3E}">
        <p14:creationId xmlns:p14="http://schemas.microsoft.com/office/powerpoint/2010/main" val="178041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6621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4083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4380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796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0839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Benson, G., et al. (2016). "LCSk: a refined similarity measure." </a:t>
            </a:r>
            <a:r>
              <a:rPr lang="en-US" b="0" i="0" u="sng" baseline="0" dirty="0"/>
              <a:t>Theoretical Computer Science</a:t>
            </a:r>
            <a:r>
              <a:rPr lang="en-US" b="0" i="0" u="none" baseline="0" dirty="0"/>
              <a:t> </a:t>
            </a:r>
            <a:r>
              <a:rPr lang="en-US" b="1" i="0" u="none" baseline="0" dirty="0"/>
              <a:t>638</a:t>
            </a:r>
            <a:r>
              <a:rPr lang="en-US" b="0" i="0" u="none" baseline="0" dirty="0"/>
              <a:t>: 11-26.</a:t>
            </a: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4172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8107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7707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nl-NL" b="0" i="0" u="none" baseline="0" dirty="0"/>
              <a:t>Bergroth, L., et al. (2000). </a:t>
            </a:r>
            <a:r>
              <a:rPr lang="en-US" b="0" i="0" u="sng" baseline="0" dirty="0"/>
              <a:t>A survey of longest common subsequence algorithms</a:t>
            </a:r>
            <a:r>
              <a:rPr lang="en-US" b="0" i="0" u="none" baseline="0" dirty="0"/>
              <a:t>. Proceedings Seventh International Symposium on String Processing and Information Retrieval. SPIRE 2000, IEEE.</a:t>
            </a:r>
            <a:endParaRPr lang="en-US" b="0" i="0" u="sng" baseline="0" dirty="0"/>
          </a:p>
          <a:p>
            <a:r>
              <a:rPr lang="en-US" altLang="zh-CN" sz="1200" b="0" i="0" u="none" strike="noStrike" kern="1200" baseline="0" dirty="0">
                <a:solidFill>
                  <a:schemeClr val="tx1"/>
                </a:solidFill>
                <a:latin typeface="+mn-lt"/>
                <a:ea typeface="+mn-ea"/>
                <a:cs typeface="+mn-cs"/>
              </a:rPr>
              <a:t>J. W. Hunt and T. G. Szymanski: A fast algorithm for computing longest common subsequences. Commun. ACM, 20(5) May 1977, pp. 350–353.</a:t>
            </a: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880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nl-NL" b="0" i="0" u="none" baseline="0" dirty="0"/>
              <a:t>Bergroth, L., et al. (2000). </a:t>
            </a:r>
            <a:r>
              <a:rPr lang="en-US" b="0" i="0" u="sng" baseline="0" dirty="0"/>
              <a:t>A survey of longest common subsequence algorithms</a:t>
            </a:r>
            <a:r>
              <a:rPr lang="en-US" b="0" i="0" u="none" baseline="0" dirty="0"/>
              <a:t>. Proceedings Seventh International Symposium on String Processing and Information Retrieval. SPIRE 2000, IEEE.</a:t>
            </a:r>
            <a:endParaRPr lang="en-US" b="0" i="0" u="sng" baseline="0" dirty="0"/>
          </a:p>
          <a:p>
            <a:r>
              <a:rPr lang="en-US" altLang="zh-CN" sz="1200" b="0" i="0" u="none" strike="noStrike" kern="1200" baseline="0" dirty="0">
                <a:solidFill>
                  <a:schemeClr val="tx1"/>
                </a:solidFill>
                <a:latin typeface="+mn-lt"/>
                <a:ea typeface="+mn-ea"/>
                <a:cs typeface="+mn-cs"/>
              </a:rPr>
              <a:t>J. W. Hunt and T. G. Szymanski: A fast algorithm for computing longest common subsequences. Commun. ACM, 20(5) May 1977, pp. 350–353.</a:t>
            </a: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6142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0675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6539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6009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9592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8847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7892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9397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2019/9/3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471398"/>
            <a:ext cx="10477020" cy="1356957"/>
          </a:xfrm>
          <a:prstGeom prst="rect">
            <a:avLst/>
          </a:prstGeom>
          <a:noFill/>
          <a:ln>
            <a:noFill/>
          </a:ln>
        </p:spPr>
        <p:txBody>
          <a:bodyPr spcFirstLastPara="1" wrap="square" lIns="91425" tIns="45700" rIns="91425" bIns="45700" anchor="b" anchorCtr="0">
            <a:noAutofit/>
          </a:bodyPr>
          <a:lstStyle/>
          <a:p>
            <a:pPr lvl="0">
              <a:buSzPts val="3600"/>
            </a:pPr>
            <a:r>
              <a:rPr lang="en-US" sz="3600" dirty="0">
                <a:latin typeface="Calibri" panose="020F0502020204030204" charset="0"/>
                <a:cs typeface="Calibri" panose="020F0502020204030204" charset="0"/>
              </a:rPr>
              <a:t>Fast and Simple Algorithms for Computing both LCSk and LCSk+</a:t>
            </a:r>
          </a:p>
        </p:txBody>
      </p:sp>
      <p:sp>
        <p:nvSpPr>
          <p:cNvPr id="90" name="Google Shape;90;p13"/>
          <p:cNvSpPr txBox="1">
            <a:spLocks noGrp="1"/>
          </p:cNvSpPr>
          <p:nvPr>
            <p:ph type="subTitle" idx="1"/>
          </p:nvPr>
        </p:nvSpPr>
        <p:spPr>
          <a:xfrm>
            <a:off x="1145540" y="2693239"/>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Filip Pavetic, Ivan Katanic, Gustav Matula, Goran Zuzic, and Mile </a:t>
            </a:r>
            <a:r>
              <a:rPr lang="es-ES" altLang="zh-CN" dirty="0" smtClean="0"/>
              <a:t>Sikic</a:t>
            </a:r>
          </a:p>
          <a:p>
            <a:pPr lvl="0">
              <a:spcBef>
                <a:spcPts val="0"/>
              </a:spcBef>
              <a:buSzPts val="2800"/>
            </a:pP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800"/>
            </a:pPr>
            <a:r>
              <a:rPr lang="en-US" sz="2800" dirty="0">
                <a:solidFill>
                  <a:schemeClr val="dk1"/>
                </a:solidFill>
                <a:latin typeface="Calibri" panose="020F0502020204030204" charset="0"/>
                <a:ea typeface="Questrial" panose="02000000000000000000"/>
                <a:cs typeface="Calibri" panose="020F0502020204030204" charset="0"/>
                <a:sym typeface="Questrial" panose="02000000000000000000"/>
              </a:rPr>
              <a:t>Proceedings of the Prague </a:t>
            </a:r>
            <a:r>
              <a:rPr lang="en-US" sz="2800" dirty="0" err="1">
                <a:solidFill>
                  <a:schemeClr val="dk1"/>
                </a:solidFill>
                <a:latin typeface="Calibri" panose="020F0502020204030204" charset="0"/>
                <a:ea typeface="Questrial" panose="02000000000000000000"/>
                <a:cs typeface="Calibri" panose="020F0502020204030204" charset="0"/>
                <a:sym typeface="Questrial" panose="02000000000000000000"/>
              </a:rPr>
              <a:t>Stringology</a:t>
            </a:r>
            <a:r>
              <a:rPr lang="en-US" sz="2800" dirty="0">
                <a:solidFill>
                  <a:schemeClr val="dk1"/>
                </a:solidFill>
                <a:latin typeface="Calibri" panose="020F0502020204030204" charset="0"/>
                <a:ea typeface="Questrial" panose="02000000000000000000"/>
                <a:cs typeface="Calibri" panose="020F0502020204030204" charset="0"/>
                <a:sym typeface="Questrial" panose="02000000000000000000"/>
              </a:rPr>
              <a:t> Conference  50-62</a:t>
            </a:r>
          </a:p>
          <a:p>
            <a:pPr lvl="0" algn="ctr">
              <a:lnSpc>
                <a:spcPct val="90000"/>
              </a:lnSpc>
              <a:buClr>
                <a:schemeClr val="dk1"/>
              </a:buClr>
              <a:buSzPts val="2800"/>
            </a:pPr>
            <a:r>
              <a:rPr lang="en-US" sz="2800" dirty="0">
                <a:solidFill>
                  <a:schemeClr val="dk1"/>
                </a:solidFill>
                <a:latin typeface="Calibri" panose="020F0502020204030204" charset="0"/>
                <a:ea typeface="Questrial" panose="02000000000000000000"/>
                <a:cs typeface="Calibri" panose="020F0502020204030204" charset="0"/>
                <a:sym typeface="Questrial" panose="02000000000000000000"/>
              </a:rPr>
              <a:t>August 27–28, 2018, Czech Technical University,  Prague</a:t>
            </a:r>
            <a:endParaRPr lang="en-US" sz="2800" b="1"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
        <p:nvSpPr>
          <p:cNvPr id="93" name="Google Shape;93;p13"/>
          <p:cNvSpPr txBox="1"/>
          <p:nvPr/>
        </p:nvSpPr>
        <p:spPr>
          <a:xfrm>
            <a:off x="1192187" y="5188046"/>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8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KeXin</a:t>
            </a: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2019/09/03</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Abstract(1/2)</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Longest Common Subsequence (LCS) deals with the problem of measuring similarity of two strings. While this problem has been analyzed for decades, the recent interest stems from a practical observation that considering single characters is often too simplistic. Therefore, recent works introduce the variants of LCS based on shared substrings of length exactly or at least k (LCSk and LCSk+ respectively). The main drawback of the state-of-the-art algorithms for computing LCSk and LCSk+ is that they work well only in a limited setting: they either solve the average case well while being suboptimal in the pathological situations or they achieve a good worst-case performance, but fail to exploit the input data properties to speed up the computation. </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extLst>
      <p:ext uri="{BB962C8B-B14F-4D97-AF65-F5344CB8AC3E}">
        <p14:creationId xmlns:p14="http://schemas.microsoft.com/office/powerpoint/2010/main" val="8317082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Abstract(2/2)</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Furthermore, these algorithms are based on non-trivial data structures which is not ideal from a practitioner’s point of view. We present a single algorithm to compute both LCSk and LCSk+ which outperforms the state-of-the art algorithms in terms of runtime complexity and requires only basic data structures. In addition, we implement an algorithm to reconstruct the solution which offers significant improvement in terms of memory consumption. Our empirical validation shows that we save several orders of magnitude of memory on human genome data. The C++ implementation of our algorithms is made available at: https://github.com/google/fast-simple-lcsk.</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extLst>
      <p:ext uri="{BB962C8B-B14F-4D97-AF65-F5344CB8AC3E}">
        <p14:creationId xmlns:p14="http://schemas.microsoft.com/office/powerpoint/2010/main" val="1371182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Longest Common subsequence(LCS)</a:t>
            </a:r>
            <a:r>
              <a:rPr lang="zh-CN" altLang="en-US" dirty="0"/>
              <a:t>：</a:t>
            </a:r>
            <a:endParaRPr lang="en-US" altLang="zh-CN" dirty="0"/>
          </a:p>
          <a:p>
            <a:pPr>
              <a:spcBef>
                <a:spcPts val="0"/>
              </a:spcBef>
              <a:buSzPts val="2800"/>
            </a:pPr>
            <a:endParaRPr lang="en-US" altLang="zh-TW" dirty="0"/>
          </a:p>
          <a:p>
            <a:pPr algn="ctr">
              <a:spcBef>
                <a:spcPts val="0"/>
              </a:spcBef>
              <a:buSzPts val="2800"/>
            </a:pPr>
            <a:r>
              <a:rPr lang="en-US" altLang="zh-TW" dirty="0"/>
              <a:t>X = “TGCGTGTGT”,</a:t>
            </a:r>
          </a:p>
          <a:p>
            <a:pPr algn="ctr">
              <a:spcBef>
                <a:spcPts val="0"/>
              </a:spcBef>
              <a:buSzPts val="2800"/>
            </a:pPr>
            <a:r>
              <a:rPr lang="en-US" altLang="zh-TW" dirty="0"/>
              <a:t>Y = “GTTGTGCCT”.</a:t>
            </a:r>
          </a:p>
          <a:p>
            <a:pPr>
              <a:spcBef>
                <a:spcPts val="0"/>
              </a:spcBef>
              <a:buSzPts val="2800"/>
            </a:pPr>
            <a:endParaRPr lang="en-US" altLang="zh-TW" dirty="0"/>
          </a:p>
          <a:p>
            <a:pPr>
              <a:spcBef>
                <a:spcPts val="0"/>
              </a:spcBef>
              <a:buSzPts val="2800"/>
            </a:pPr>
            <a:r>
              <a:rPr lang="en-US" altLang="zh-CN" dirty="0"/>
              <a:t>LCS </a:t>
            </a:r>
            <a:r>
              <a:rPr lang="en-US" altLang="zh-TW" dirty="0"/>
              <a:t>of </a:t>
            </a:r>
            <a:r>
              <a:rPr lang="en-US" altLang="zh-CN" dirty="0"/>
              <a:t>X</a:t>
            </a:r>
            <a:r>
              <a:rPr lang="en-US" altLang="zh-TW" dirty="0"/>
              <a:t> and Y:</a:t>
            </a:r>
          </a:p>
          <a:p>
            <a:pPr>
              <a:spcBef>
                <a:spcPts val="0"/>
              </a:spcBef>
              <a:buSzPts val="2800"/>
            </a:pPr>
            <a:endParaRPr lang="en-US" altLang="zh-TW" dirty="0"/>
          </a:p>
          <a:p>
            <a:pPr algn="ctr">
              <a:spcBef>
                <a:spcPts val="0"/>
              </a:spcBef>
              <a:buSzPts val="2800"/>
            </a:pPr>
            <a:r>
              <a:rPr lang="en-US" altLang="zh-TW" dirty="0"/>
              <a:t>LCS = “GTGTGT”.</a:t>
            </a:r>
          </a:p>
          <a:p>
            <a:pPr algn="ctr">
              <a:spcBef>
                <a:spcPts val="0"/>
              </a:spcBef>
              <a:buSzPts val="2800"/>
            </a:pPr>
            <a:r>
              <a:rPr lang="en-US" altLang="zh-CN" dirty="0"/>
              <a:t>|</a:t>
            </a:r>
            <a:r>
              <a:rPr lang="en-US" altLang="zh-TW" dirty="0"/>
              <a:t>LCS</a:t>
            </a:r>
            <a:r>
              <a:rPr lang="en-US" altLang="zh-CN" dirty="0"/>
              <a:t>|</a:t>
            </a:r>
            <a:r>
              <a:rPr lang="en-US" altLang="zh-TW" dirty="0"/>
              <a:t> = 6.</a:t>
            </a:r>
          </a:p>
          <a:p>
            <a:pPr algn="ctr">
              <a:spcBef>
                <a:spcPts val="0"/>
              </a:spcBef>
              <a:buSzPts val="2800"/>
            </a:pPr>
            <a:endParaRPr lang="en-US" altLang="zh-TW" dirty="0"/>
          </a:p>
          <a:p>
            <a:pPr marL="0" indent="0">
              <a:spcBef>
                <a:spcPts val="0"/>
              </a:spcBef>
              <a:buSzPts val="2800"/>
              <a:buNone/>
            </a:pPr>
            <a:endParaRPr lang="zh-TW" altLang="en-US" dirty="0"/>
          </a:p>
        </p:txBody>
      </p:sp>
    </p:spTree>
    <p:extLst>
      <p:ext uri="{BB962C8B-B14F-4D97-AF65-F5344CB8AC3E}">
        <p14:creationId xmlns:p14="http://schemas.microsoft.com/office/powerpoint/2010/main" val="25018313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The LCS in k Length Substrings Problem (LCSk)</a:t>
            </a:r>
            <a:r>
              <a:rPr lang="zh-CN" altLang="en-US" dirty="0"/>
              <a:t>：</a:t>
            </a:r>
            <a:endParaRPr lang="en-US" altLang="zh-CN" dirty="0"/>
          </a:p>
          <a:p>
            <a:pPr>
              <a:spcBef>
                <a:spcPts val="0"/>
              </a:spcBef>
              <a:buSzPts val="2800"/>
            </a:pPr>
            <a:endParaRPr lang="en-US" altLang="zh-TW" dirty="0"/>
          </a:p>
          <a:p>
            <a:pPr algn="ctr">
              <a:spcBef>
                <a:spcPts val="0"/>
              </a:spcBef>
              <a:buSzPts val="2800"/>
            </a:pPr>
            <a:r>
              <a:rPr lang="en-US" altLang="zh-CN" dirty="0"/>
              <a:t>X</a:t>
            </a:r>
            <a:r>
              <a:rPr lang="en-US" altLang="zh-TW" dirty="0"/>
              <a:t> = “TGC</a:t>
            </a:r>
            <a:r>
              <a:rPr lang="en-US" altLang="zh-TW" dirty="0">
                <a:solidFill>
                  <a:srgbClr val="FF0000"/>
                </a:solidFill>
              </a:rPr>
              <a:t>GT</a:t>
            </a:r>
            <a:r>
              <a:rPr lang="en-US" altLang="zh-TW" u="sng" dirty="0"/>
              <a:t>G</a:t>
            </a:r>
            <a:r>
              <a:rPr lang="en-US" altLang="zh-TW" u="sng" dirty="0">
                <a:solidFill>
                  <a:srgbClr val="FF0000"/>
                </a:solidFill>
              </a:rPr>
              <a:t>TG</a:t>
            </a:r>
            <a:r>
              <a:rPr lang="en-US" altLang="zh-TW" dirty="0"/>
              <a:t>T”,</a:t>
            </a:r>
          </a:p>
          <a:p>
            <a:pPr algn="ctr">
              <a:spcBef>
                <a:spcPts val="0"/>
              </a:spcBef>
              <a:buSzPts val="2800"/>
            </a:pPr>
            <a:r>
              <a:rPr lang="en-US" altLang="zh-TW" dirty="0"/>
              <a:t>Y = “</a:t>
            </a:r>
            <a:r>
              <a:rPr lang="en-US" altLang="zh-TW" dirty="0">
                <a:solidFill>
                  <a:srgbClr val="FF0000"/>
                </a:solidFill>
              </a:rPr>
              <a:t>GT</a:t>
            </a:r>
            <a:r>
              <a:rPr lang="en-US" altLang="zh-TW" dirty="0"/>
              <a:t>T</a:t>
            </a:r>
            <a:r>
              <a:rPr lang="en-US" altLang="zh-TW" u="sng" dirty="0"/>
              <a:t>G</a:t>
            </a:r>
            <a:r>
              <a:rPr lang="en-US" altLang="zh-TW" u="sng" dirty="0">
                <a:solidFill>
                  <a:srgbClr val="FF0000"/>
                </a:solidFill>
              </a:rPr>
              <a:t>TG</a:t>
            </a:r>
            <a:r>
              <a:rPr lang="en-US" altLang="zh-TW" dirty="0"/>
              <a:t>CCT”.</a:t>
            </a:r>
          </a:p>
          <a:p>
            <a:pPr>
              <a:spcBef>
                <a:spcPts val="0"/>
              </a:spcBef>
              <a:buSzPts val="2800"/>
            </a:pPr>
            <a:endParaRPr lang="en-US" altLang="zh-TW" dirty="0"/>
          </a:p>
          <a:p>
            <a:pPr>
              <a:spcBef>
                <a:spcPts val="0"/>
              </a:spcBef>
              <a:buSzPts val="2800"/>
            </a:pPr>
            <a:r>
              <a:rPr lang="en-US" altLang="zh-CN" dirty="0"/>
              <a:t>LCSk</a:t>
            </a:r>
            <a:r>
              <a:rPr lang="en-US" altLang="zh-TW" dirty="0"/>
              <a:t> of </a:t>
            </a:r>
            <a:r>
              <a:rPr lang="en-US" altLang="zh-CN" dirty="0"/>
              <a:t>X</a:t>
            </a:r>
            <a:r>
              <a:rPr lang="en-US" altLang="zh-TW" dirty="0"/>
              <a:t> and Y :</a:t>
            </a:r>
          </a:p>
          <a:p>
            <a:pPr>
              <a:spcBef>
                <a:spcPts val="0"/>
              </a:spcBef>
              <a:buSzPts val="2800"/>
            </a:pPr>
            <a:endParaRPr lang="en-US" altLang="zh-TW" dirty="0"/>
          </a:p>
          <a:p>
            <a:pPr algn="ctr">
              <a:spcBef>
                <a:spcPts val="0"/>
              </a:spcBef>
              <a:buSzPts val="2800"/>
            </a:pPr>
            <a:r>
              <a:rPr lang="en-US" altLang="zh-TW" dirty="0"/>
              <a:t>LCS1 = “G T G T G T” = LCS.</a:t>
            </a:r>
          </a:p>
          <a:p>
            <a:pPr algn="ctr">
              <a:spcBef>
                <a:spcPts val="0"/>
              </a:spcBef>
              <a:buSzPts val="2800"/>
            </a:pPr>
            <a:r>
              <a:rPr lang="en-US" altLang="zh-TW" dirty="0"/>
              <a:t>LCS2 = “GT TG”</a:t>
            </a:r>
            <a:r>
              <a:rPr lang="zh-CN" altLang="en-US" dirty="0"/>
              <a:t> </a:t>
            </a:r>
            <a:r>
              <a:rPr lang="en-US" altLang="zh-TW" dirty="0"/>
              <a:t>.</a:t>
            </a:r>
          </a:p>
          <a:p>
            <a:pPr algn="ctr">
              <a:spcBef>
                <a:spcPts val="0"/>
              </a:spcBef>
              <a:buSzPts val="2800"/>
            </a:pPr>
            <a:r>
              <a:rPr lang="en-US" altLang="zh-TW" dirty="0"/>
              <a:t>LCS3 = “GTG”.</a:t>
            </a:r>
          </a:p>
          <a:p>
            <a:pPr algn="ctr">
              <a:spcBef>
                <a:spcPts val="0"/>
              </a:spcBef>
              <a:buSzPts val="2800"/>
            </a:pPr>
            <a:endParaRPr lang="en-US" altLang="zh-TW" dirty="0"/>
          </a:p>
          <a:p>
            <a:pPr marL="0" indent="0">
              <a:spcBef>
                <a:spcPts val="0"/>
              </a:spcBef>
              <a:buSzPts val="2800"/>
              <a:buNone/>
            </a:pPr>
            <a:endParaRPr lang="zh-TW" altLang="en-US" dirty="0"/>
          </a:p>
        </p:txBody>
      </p:sp>
    </p:spTree>
    <p:extLst>
      <p:ext uri="{BB962C8B-B14F-4D97-AF65-F5344CB8AC3E}">
        <p14:creationId xmlns:p14="http://schemas.microsoft.com/office/powerpoint/2010/main" val="32908262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The LCS in at least k Length Substrings Problem (LCSk+)</a:t>
            </a:r>
            <a:r>
              <a:rPr lang="zh-CN" altLang="en-US" dirty="0"/>
              <a:t>：</a:t>
            </a:r>
            <a:endParaRPr lang="en-US" altLang="zh-CN" dirty="0"/>
          </a:p>
          <a:p>
            <a:pPr>
              <a:spcBef>
                <a:spcPts val="0"/>
              </a:spcBef>
              <a:buSzPts val="2800"/>
            </a:pPr>
            <a:endParaRPr lang="en-US" altLang="zh-TW" dirty="0"/>
          </a:p>
          <a:p>
            <a:pPr algn="ctr">
              <a:spcBef>
                <a:spcPts val="0"/>
              </a:spcBef>
              <a:buSzPts val="2800"/>
            </a:pPr>
            <a:r>
              <a:rPr lang="en-US" altLang="zh-CN" dirty="0"/>
              <a:t>X</a:t>
            </a:r>
            <a:r>
              <a:rPr lang="en-US" altLang="zh-TW" dirty="0"/>
              <a:t> = “TGC</a:t>
            </a:r>
            <a:r>
              <a:rPr lang="en-US" altLang="zh-TW" dirty="0">
                <a:solidFill>
                  <a:srgbClr val="FF0000"/>
                </a:solidFill>
              </a:rPr>
              <a:t>GT</a:t>
            </a:r>
            <a:r>
              <a:rPr lang="en-US" altLang="zh-TW" dirty="0">
                <a:solidFill>
                  <a:srgbClr val="FFC000"/>
                </a:solidFill>
              </a:rPr>
              <a:t>GTG</a:t>
            </a:r>
            <a:r>
              <a:rPr lang="en-US" altLang="zh-TW" dirty="0"/>
              <a:t>T”,</a:t>
            </a:r>
          </a:p>
          <a:p>
            <a:pPr algn="ctr">
              <a:spcBef>
                <a:spcPts val="0"/>
              </a:spcBef>
              <a:buSzPts val="2800"/>
            </a:pPr>
            <a:r>
              <a:rPr lang="en-US" altLang="zh-TW" dirty="0"/>
              <a:t>Y = “</a:t>
            </a:r>
            <a:r>
              <a:rPr lang="en-US" altLang="zh-TW" dirty="0">
                <a:solidFill>
                  <a:srgbClr val="FF0000"/>
                </a:solidFill>
              </a:rPr>
              <a:t>GT</a:t>
            </a:r>
            <a:r>
              <a:rPr lang="en-US" altLang="zh-TW" dirty="0"/>
              <a:t>T</a:t>
            </a:r>
            <a:r>
              <a:rPr lang="en-US" altLang="zh-TW" dirty="0">
                <a:solidFill>
                  <a:srgbClr val="FFC000"/>
                </a:solidFill>
              </a:rPr>
              <a:t>GTG</a:t>
            </a:r>
            <a:r>
              <a:rPr lang="en-US" altLang="zh-TW" dirty="0"/>
              <a:t>CCT”.</a:t>
            </a:r>
          </a:p>
          <a:p>
            <a:pPr>
              <a:spcBef>
                <a:spcPts val="0"/>
              </a:spcBef>
              <a:buSzPts val="2800"/>
            </a:pPr>
            <a:endParaRPr lang="en-US" altLang="zh-TW" dirty="0"/>
          </a:p>
          <a:p>
            <a:pPr>
              <a:spcBef>
                <a:spcPts val="0"/>
              </a:spcBef>
              <a:buSzPts val="2800"/>
            </a:pPr>
            <a:r>
              <a:rPr lang="en-US" altLang="zh-CN" dirty="0"/>
              <a:t>LCSk+</a:t>
            </a:r>
            <a:r>
              <a:rPr lang="en-US" altLang="zh-TW" dirty="0"/>
              <a:t> of </a:t>
            </a:r>
            <a:r>
              <a:rPr lang="en-US" altLang="zh-CN" dirty="0"/>
              <a:t>X</a:t>
            </a:r>
            <a:r>
              <a:rPr lang="en-US" altLang="zh-TW" dirty="0"/>
              <a:t> and Y :</a:t>
            </a:r>
          </a:p>
          <a:p>
            <a:pPr>
              <a:spcBef>
                <a:spcPts val="0"/>
              </a:spcBef>
              <a:buSzPts val="2800"/>
            </a:pPr>
            <a:endParaRPr lang="en-US" altLang="zh-TW" dirty="0"/>
          </a:p>
          <a:p>
            <a:pPr algn="ctr">
              <a:spcBef>
                <a:spcPts val="0"/>
              </a:spcBef>
              <a:buSzPts val="2800"/>
            </a:pPr>
            <a:r>
              <a:rPr lang="en-US" altLang="zh-TW" dirty="0"/>
              <a:t>LCS = “GTGTGT”.</a:t>
            </a:r>
          </a:p>
          <a:p>
            <a:pPr algn="ctr">
              <a:spcBef>
                <a:spcPts val="0"/>
              </a:spcBef>
              <a:buSzPts val="2800"/>
            </a:pPr>
            <a:r>
              <a:rPr lang="en-US" altLang="zh-TW" dirty="0"/>
              <a:t>LCS2 = “GT TG”.</a:t>
            </a:r>
          </a:p>
          <a:p>
            <a:pPr algn="ctr">
              <a:spcBef>
                <a:spcPts val="0"/>
              </a:spcBef>
              <a:buSzPts val="2800"/>
            </a:pPr>
            <a:r>
              <a:rPr lang="en-US" altLang="zh-TW" dirty="0"/>
              <a:t>LCS2+ = “GT GTG”</a:t>
            </a:r>
          </a:p>
          <a:p>
            <a:pPr algn="ctr">
              <a:spcBef>
                <a:spcPts val="0"/>
              </a:spcBef>
              <a:buSzPts val="2800"/>
            </a:pPr>
            <a:endParaRPr lang="en-US" altLang="zh-TW" dirty="0"/>
          </a:p>
          <a:p>
            <a:pPr marL="0" indent="0">
              <a:spcBef>
                <a:spcPts val="0"/>
              </a:spcBef>
              <a:buSzPts val="2800"/>
              <a:buNone/>
            </a:pPr>
            <a:endParaRPr lang="zh-TW" altLang="en-US" dirty="0"/>
          </a:p>
        </p:txBody>
      </p:sp>
    </p:spTree>
    <p:extLst>
      <p:ext uri="{BB962C8B-B14F-4D97-AF65-F5344CB8AC3E}">
        <p14:creationId xmlns:p14="http://schemas.microsoft.com/office/powerpoint/2010/main" val="30675512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Benson’s LCSk/k+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26D8DCC5-E038-4F91-A5D2-B0F0270CD1F5}"/>
              </a:ext>
            </a:extLst>
          </p:cNvPr>
          <p:cNvPicPr>
            <a:picLocks noChangeAspect="1"/>
          </p:cNvPicPr>
          <p:nvPr/>
        </p:nvPicPr>
        <p:blipFill>
          <a:blip r:embed="rId3"/>
          <a:stretch>
            <a:fillRect/>
          </a:stretch>
        </p:blipFill>
        <p:spPr>
          <a:xfrm>
            <a:off x="3695828" y="1775256"/>
            <a:ext cx="4295775" cy="857250"/>
          </a:xfrm>
          <a:prstGeom prst="rect">
            <a:avLst/>
          </a:prstGeom>
        </p:spPr>
      </p:pic>
      <p:pic>
        <p:nvPicPr>
          <p:cNvPr id="3" name="图片 2">
            <a:extLst>
              <a:ext uri="{FF2B5EF4-FFF2-40B4-BE49-F238E27FC236}">
                <a16:creationId xmlns:a16="http://schemas.microsoft.com/office/drawing/2014/main" xmlns="" id="{5587C10B-C745-4D7B-B70D-5CD186A17669}"/>
              </a:ext>
            </a:extLst>
          </p:cNvPr>
          <p:cNvPicPr>
            <a:picLocks noChangeAspect="1"/>
          </p:cNvPicPr>
          <p:nvPr/>
        </p:nvPicPr>
        <p:blipFill>
          <a:blip r:embed="rId4"/>
          <a:stretch>
            <a:fillRect/>
          </a:stretch>
        </p:blipFill>
        <p:spPr>
          <a:xfrm>
            <a:off x="3695828" y="3000375"/>
            <a:ext cx="3495675" cy="857250"/>
          </a:xfrm>
          <a:prstGeom prst="rect">
            <a:avLst/>
          </a:prstGeom>
        </p:spPr>
      </p:pic>
      <p:pic>
        <p:nvPicPr>
          <p:cNvPr id="4" name="图片 3">
            <a:extLst>
              <a:ext uri="{FF2B5EF4-FFF2-40B4-BE49-F238E27FC236}">
                <a16:creationId xmlns:a16="http://schemas.microsoft.com/office/drawing/2014/main" xmlns="" id="{90499A0F-F2F5-44DF-A0AB-CD44FF91E2D4}"/>
              </a:ext>
            </a:extLst>
          </p:cNvPr>
          <p:cNvPicPr>
            <a:picLocks noChangeAspect="1"/>
          </p:cNvPicPr>
          <p:nvPr/>
        </p:nvPicPr>
        <p:blipFill>
          <a:blip r:embed="rId5"/>
          <a:stretch>
            <a:fillRect/>
          </a:stretch>
        </p:blipFill>
        <p:spPr>
          <a:xfrm>
            <a:off x="3695828" y="4225494"/>
            <a:ext cx="3857625" cy="1143000"/>
          </a:xfrm>
          <a:prstGeom prst="rect">
            <a:avLst/>
          </a:prstGeom>
        </p:spPr>
      </p:pic>
    </p:spTree>
    <p:extLst>
      <p:ext uri="{BB962C8B-B14F-4D97-AF65-F5344CB8AC3E}">
        <p14:creationId xmlns:p14="http://schemas.microsoft.com/office/powerpoint/2010/main" val="21956234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Benson’s LCSk/k+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xmlns="" id="{7062FFF1-9525-4D5F-8D4E-5E73BCD78B61}"/>
              </a:ext>
            </a:extLst>
          </p:cNvPr>
          <p:cNvPicPr>
            <a:picLocks noChangeAspect="1"/>
          </p:cNvPicPr>
          <p:nvPr/>
        </p:nvPicPr>
        <p:blipFill>
          <a:blip r:embed="rId3"/>
          <a:stretch>
            <a:fillRect/>
          </a:stretch>
        </p:blipFill>
        <p:spPr>
          <a:xfrm>
            <a:off x="1598443" y="1473198"/>
            <a:ext cx="8782050" cy="5019675"/>
          </a:xfrm>
          <a:prstGeom prst="rect">
            <a:avLst/>
          </a:prstGeom>
        </p:spPr>
      </p:pic>
    </p:spTree>
    <p:extLst>
      <p:ext uri="{BB962C8B-B14F-4D97-AF65-F5344CB8AC3E}">
        <p14:creationId xmlns:p14="http://schemas.microsoft.com/office/powerpoint/2010/main" val="416968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Benson’s LCSk/k+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pic>
        <p:nvPicPr>
          <p:cNvPr id="5" name="图片 4">
            <a:extLst>
              <a:ext uri="{FF2B5EF4-FFF2-40B4-BE49-F238E27FC236}">
                <a16:creationId xmlns:a16="http://schemas.microsoft.com/office/drawing/2014/main" xmlns="" id="{57947F66-DE31-4062-943A-AABEC18C3693}"/>
              </a:ext>
            </a:extLst>
          </p:cNvPr>
          <p:cNvPicPr>
            <a:picLocks noChangeAspect="1"/>
          </p:cNvPicPr>
          <p:nvPr/>
        </p:nvPicPr>
        <p:blipFill>
          <a:blip r:embed="rId3"/>
          <a:stretch>
            <a:fillRect/>
          </a:stretch>
        </p:blipFill>
        <p:spPr>
          <a:xfrm>
            <a:off x="1342768" y="2444753"/>
            <a:ext cx="3857625" cy="1143000"/>
          </a:xfrm>
          <a:prstGeom prst="rect">
            <a:avLst/>
          </a:prstGeom>
        </p:spPr>
      </p:pic>
      <p:pic>
        <p:nvPicPr>
          <p:cNvPr id="2" name="图片 1">
            <a:extLst>
              <a:ext uri="{FF2B5EF4-FFF2-40B4-BE49-F238E27FC236}">
                <a16:creationId xmlns:a16="http://schemas.microsoft.com/office/drawing/2014/main" xmlns="" id="{5558AB29-CE9F-465E-BD17-DDE6165CA947}"/>
              </a:ext>
            </a:extLst>
          </p:cNvPr>
          <p:cNvPicPr>
            <a:picLocks noChangeAspect="1"/>
          </p:cNvPicPr>
          <p:nvPr/>
        </p:nvPicPr>
        <p:blipFill>
          <a:blip r:embed="rId4"/>
          <a:stretch>
            <a:fillRect/>
          </a:stretch>
        </p:blipFill>
        <p:spPr>
          <a:xfrm>
            <a:off x="5200393" y="2402584"/>
            <a:ext cx="5867400" cy="1933575"/>
          </a:xfrm>
          <a:prstGeom prst="rect">
            <a:avLst/>
          </a:prstGeom>
        </p:spPr>
      </p:pic>
      <p:sp>
        <p:nvSpPr>
          <p:cNvPr id="8" name="Google Shape;106;p15">
            <a:extLst>
              <a:ext uri="{FF2B5EF4-FFF2-40B4-BE49-F238E27FC236}">
                <a16:creationId xmlns:a16="http://schemas.microsoft.com/office/drawing/2014/main" xmlns="" id="{156BFFFA-93A9-42B6-A528-49C5C28F1BAC}"/>
              </a:ext>
            </a:extLst>
          </p:cNvPr>
          <p:cNvSpPr txBox="1">
            <a:spLocks/>
          </p:cNvSpPr>
          <p:nvPr/>
        </p:nvSpPr>
        <p:spPr>
          <a:xfrm>
            <a:off x="990600" y="1843090"/>
            <a:ext cx="10011032" cy="4446839"/>
          </a:xfrm>
          <a:prstGeom prst="rect">
            <a:avLst/>
          </a:prstGeom>
          <a:noFill/>
          <a:ln>
            <a:noFill/>
          </a:ln>
        </p:spPr>
        <p:txBody>
          <a:bodyPr spcFirstLastPara="1" vert="horz" wrap="square" lIns="91425" tIns="45700" rIns="91425" bIns="45700" numCol="2"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r>
              <a:rPr lang="en-US" altLang="zh-CN" dirty="0"/>
              <a:t>Complexity:</a:t>
            </a:r>
          </a:p>
          <a:p>
            <a:pPr>
              <a:spcBef>
                <a:spcPts val="0"/>
              </a:spcBef>
              <a:buSzPts val="2800"/>
            </a:pPr>
            <a:r>
              <a:rPr lang="en-US" altLang="zh-CN" dirty="0"/>
              <a:t>O(n^2)time and O(kn)space</a:t>
            </a:r>
            <a:r>
              <a:rPr lang="en-US" altLang="zh-TW" dirty="0"/>
              <a:t>.</a:t>
            </a:r>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r>
              <a:rPr lang="en-US" altLang="zh-TW" dirty="0"/>
              <a:t>O(kn^2)time and O(kn)space.</a:t>
            </a:r>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a:spcBef>
                <a:spcPts val="0"/>
              </a:spcBef>
              <a:buSzPts val="2800"/>
            </a:pPr>
            <a:endParaRPr lang="en-US" altLang="zh-TW" dirty="0"/>
          </a:p>
          <a:p>
            <a:pPr marL="0" indent="0">
              <a:spcBef>
                <a:spcPts val="0"/>
              </a:spcBef>
              <a:buSzPts val="2800"/>
              <a:buNone/>
            </a:pPr>
            <a:endParaRPr lang="zh-TW" altLang="en-US" dirty="0"/>
          </a:p>
        </p:txBody>
      </p:sp>
    </p:spTree>
    <p:extLst>
      <p:ext uri="{BB962C8B-B14F-4D97-AF65-F5344CB8AC3E}">
        <p14:creationId xmlns:p14="http://schemas.microsoft.com/office/powerpoint/2010/main" val="3642456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a:t>
            </a:r>
            <a:r>
              <a:rPr lang="en-US" altLang="zh-CN" dirty="0"/>
              <a:t>Processing the Table Row by Row</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Sample:</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marL="0" indent="0">
              <a:spcBef>
                <a:spcPts val="0"/>
              </a:spcBef>
              <a:buSzPts val="2800"/>
              <a:buNone/>
            </a:pPr>
            <a:endParaRPr lang="en-US" altLang="zh-CN" dirty="0"/>
          </a:p>
        </p:txBody>
      </p:sp>
      <p:pic>
        <p:nvPicPr>
          <p:cNvPr id="2" name="图片 1">
            <a:extLst>
              <a:ext uri="{FF2B5EF4-FFF2-40B4-BE49-F238E27FC236}">
                <a16:creationId xmlns:a16="http://schemas.microsoft.com/office/drawing/2014/main" xmlns="" id="{DF0CCF44-4C91-4E67-A7F3-9766DF281D41}"/>
              </a:ext>
            </a:extLst>
          </p:cNvPr>
          <p:cNvPicPr>
            <a:picLocks noChangeAspect="1"/>
          </p:cNvPicPr>
          <p:nvPr/>
        </p:nvPicPr>
        <p:blipFill>
          <a:blip r:embed="rId3"/>
          <a:stretch>
            <a:fillRect/>
          </a:stretch>
        </p:blipFill>
        <p:spPr>
          <a:xfrm>
            <a:off x="1076325" y="2371263"/>
            <a:ext cx="5019675" cy="3695700"/>
          </a:xfrm>
          <a:prstGeom prst="rect">
            <a:avLst/>
          </a:prstGeom>
        </p:spPr>
      </p:pic>
      <p:pic>
        <p:nvPicPr>
          <p:cNvPr id="3" name="图片 2">
            <a:extLst>
              <a:ext uri="{FF2B5EF4-FFF2-40B4-BE49-F238E27FC236}">
                <a16:creationId xmlns:a16="http://schemas.microsoft.com/office/drawing/2014/main" xmlns="" id="{ECB73F17-CC8E-49B5-A219-92101983505B}"/>
              </a:ext>
            </a:extLst>
          </p:cNvPr>
          <p:cNvPicPr>
            <a:picLocks noChangeAspect="1"/>
          </p:cNvPicPr>
          <p:nvPr/>
        </p:nvPicPr>
        <p:blipFill rotWithShape="1">
          <a:blip r:embed="rId4"/>
          <a:srcRect t="32714"/>
          <a:stretch/>
        </p:blipFill>
        <p:spPr>
          <a:xfrm>
            <a:off x="6096000" y="3039862"/>
            <a:ext cx="5981700" cy="2358501"/>
          </a:xfrm>
          <a:prstGeom prst="rect">
            <a:avLst/>
          </a:prstGeom>
        </p:spPr>
      </p:pic>
    </p:spTree>
    <p:extLst>
      <p:ext uri="{BB962C8B-B14F-4D97-AF65-F5344CB8AC3E}">
        <p14:creationId xmlns:p14="http://schemas.microsoft.com/office/powerpoint/2010/main" val="3448390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a:t>
            </a:r>
            <a:r>
              <a:rPr lang="en-US" altLang="zh-CN" dirty="0"/>
              <a:t>Processing the Table Row by Row</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Algorithm:</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lgn="ctr">
              <a:spcBef>
                <a:spcPts val="0"/>
              </a:spcBef>
              <a:buSzPts val="2800"/>
            </a:pPr>
            <a:r>
              <a:rPr lang="en-US" altLang="zh-CN" dirty="0"/>
              <a:t>Time complexity: O(|M|*logn).</a:t>
            </a:r>
          </a:p>
        </p:txBody>
      </p:sp>
      <p:pic>
        <p:nvPicPr>
          <p:cNvPr id="4" name="图片 3">
            <a:extLst>
              <a:ext uri="{FF2B5EF4-FFF2-40B4-BE49-F238E27FC236}">
                <a16:creationId xmlns:a16="http://schemas.microsoft.com/office/drawing/2014/main" xmlns="" id="{2AA214F2-93BB-49A8-BE00-F0335FFC9B02}"/>
              </a:ext>
            </a:extLst>
          </p:cNvPr>
          <p:cNvPicPr>
            <a:picLocks noChangeAspect="1"/>
          </p:cNvPicPr>
          <p:nvPr/>
        </p:nvPicPr>
        <p:blipFill>
          <a:blip r:embed="rId3"/>
          <a:stretch>
            <a:fillRect/>
          </a:stretch>
        </p:blipFill>
        <p:spPr>
          <a:xfrm>
            <a:off x="3815409" y="1690690"/>
            <a:ext cx="4857405" cy="3476620"/>
          </a:xfrm>
          <a:prstGeom prst="rect">
            <a:avLst/>
          </a:prstGeom>
        </p:spPr>
      </p:pic>
    </p:spTree>
    <p:extLst>
      <p:ext uri="{BB962C8B-B14F-4D97-AF65-F5344CB8AC3E}">
        <p14:creationId xmlns:p14="http://schemas.microsoft.com/office/powerpoint/2010/main" val="3695171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LCSk by decoupling start and end points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en-US" altLang="zh-TW" dirty="0"/>
          </a:p>
          <a:p>
            <a:pPr>
              <a:spcBef>
                <a:spcPts val="0"/>
              </a:spcBef>
              <a:buSzPts val="2800"/>
            </a:pPr>
            <a:r>
              <a:rPr lang="en-US" altLang="zh-TW" dirty="0"/>
              <a:t>X = “ATTAT”,</a:t>
            </a:r>
          </a:p>
          <a:p>
            <a:pPr>
              <a:spcBef>
                <a:spcPts val="0"/>
              </a:spcBef>
              <a:buSzPts val="2800"/>
            </a:pPr>
            <a:r>
              <a:rPr lang="en-US" altLang="zh-TW" dirty="0"/>
              <a:t>Y = “CTATAGAGTA”.</a:t>
            </a:r>
          </a:p>
          <a:p>
            <a:pPr>
              <a:spcBef>
                <a:spcPts val="0"/>
              </a:spcBef>
              <a:buSzPts val="2800"/>
            </a:pPr>
            <a:endParaRPr lang="en-US" altLang="zh-TW" dirty="0"/>
          </a:p>
          <a:p>
            <a:pPr>
              <a:spcBef>
                <a:spcPts val="0"/>
              </a:spcBef>
              <a:buSzPts val="2800"/>
            </a:pPr>
            <a:r>
              <a:rPr lang="en-US" altLang="zh-CN" dirty="0"/>
              <a:t>Match Pair</a:t>
            </a:r>
            <a:r>
              <a:rPr lang="en-US" altLang="zh-TW" dirty="0"/>
              <a:t> of X and Y if k=2:</a:t>
            </a:r>
          </a:p>
          <a:p>
            <a:pPr>
              <a:spcBef>
                <a:spcPts val="0"/>
              </a:spcBef>
              <a:buSzPts val="2800"/>
            </a:pPr>
            <a:r>
              <a:rPr lang="en-US" altLang="zh-TW" dirty="0"/>
              <a:t>(3, 2), (4, 3), (1, 3), (3, 4), (3, 9).</a:t>
            </a:r>
          </a:p>
          <a:p>
            <a:pPr algn="ctr">
              <a:spcBef>
                <a:spcPts val="0"/>
              </a:spcBef>
              <a:buSzPts val="2800"/>
            </a:pPr>
            <a:endParaRPr lang="en-US" altLang="zh-TW" dirty="0"/>
          </a:p>
          <a:p>
            <a:pPr>
              <a:spcBef>
                <a:spcPts val="0"/>
              </a:spcBef>
              <a:buSzPts val="2800"/>
            </a:pPr>
            <a:r>
              <a:rPr lang="en-US" altLang="zh-TW" dirty="0"/>
              <a:t>Start points of b(4,3): (4,3).</a:t>
            </a:r>
          </a:p>
          <a:p>
            <a:pPr>
              <a:spcBef>
                <a:spcPts val="0"/>
              </a:spcBef>
              <a:buSzPts val="2800"/>
            </a:pPr>
            <a:r>
              <a:rPr lang="en-US" altLang="zh-TW" dirty="0"/>
              <a:t>End points of b(4,3): (5,4).</a:t>
            </a:r>
          </a:p>
          <a:p>
            <a:pPr>
              <a:spcBef>
                <a:spcPts val="0"/>
              </a:spcBef>
              <a:buSzPts val="2800"/>
            </a:pPr>
            <a:endParaRPr lang="en-US" altLang="zh-TW" dirty="0"/>
          </a:p>
          <a:p>
            <a:pPr>
              <a:spcBef>
                <a:spcPts val="0"/>
              </a:spcBef>
              <a:buSzPts val="2800"/>
            </a:pPr>
            <a:r>
              <a:rPr lang="en-US" altLang="zh-TW" dirty="0"/>
              <a:t>c precedes e.</a:t>
            </a:r>
          </a:p>
          <a:p>
            <a:pPr marL="0" indent="0">
              <a:spcBef>
                <a:spcPts val="0"/>
              </a:spcBef>
              <a:buSzPts val="2800"/>
              <a:buNone/>
            </a:pPr>
            <a:endParaRPr lang="zh-TW" altLang="en-US" dirty="0"/>
          </a:p>
        </p:txBody>
      </p:sp>
      <p:pic>
        <p:nvPicPr>
          <p:cNvPr id="9" name="图片 8">
            <a:extLst>
              <a:ext uri="{FF2B5EF4-FFF2-40B4-BE49-F238E27FC236}">
                <a16:creationId xmlns:a16="http://schemas.microsoft.com/office/drawing/2014/main" xmlns="" id="{91BF06E5-3B2C-42AC-AE1E-95E2C2F5203A}"/>
              </a:ext>
            </a:extLst>
          </p:cNvPr>
          <p:cNvPicPr>
            <a:picLocks noChangeAspect="1"/>
          </p:cNvPicPr>
          <p:nvPr/>
        </p:nvPicPr>
        <p:blipFill rotWithShape="1">
          <a:blip r:embed="rId3"/>
          <a:srcRect l="27427" r="25509" b="39905"/>
          <a:stretch/>
        </p:blipFill>
        <p:spPr>
          <a:xfrm>
            <a:off x="7155402" y="2181143"/>
            <a:ext cx="4065973" cy="2495714"/>
          </a:xfrm>
          <a:prstGeom prst="rect">
            <a:avLst/>
          </a:prstGeom>
        </p:spPr>
      </p:pic>
    </p:spTree>
    <p:extLst>
      <p:ext uri="{BB962C8B-B14F-4D97-AF65-F5344CB8AC3E}">
        <p14:creationId xmlns:p14="http://schemas.microsoft.com/office/powerpoint/2010/main" val="2474575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LCSk by decoupling start and end points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7AAA9D83-D8C1-4E3F-B0DF-6E1558B1C603}"/>
              </a:ext>
            </a:extLst>
          </p:cNvPr>
          <p:cNvPicPr>
            <a:picLocks noChangeAspect="1"/>
          </p:cNvPicPr>
          <p:nvPr/>
        </p:nvPicPr>
        <p:blipFill>
          <a:blip r:embed="rId3"/>
          <a:stretch>
            <a:fillRect/>
          </a:stretch>
        </p:blipFill>
        <p:spPr>
          <a:xfrm>
            <a:off x="1776412" y="2094041"/>
            <a:ext cx="8639175" cy="4152900"/>
          </a:xfrm>
          <a:prstGeom prst="rect">
            <a:avLst/>
          </a:prstGeom>
        </p:spPr>
      </p:pic>
    </p:spTree>
    <p:extLst>
      <p:ext uri="{BB962C8B-B14F-4D97-AF65-F5344CB8AC3E}">
        <p14:creationId xmlns:p14="http://schemas.microsoft.com/office/powerpoint/2010/main" val="2046783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LCSk by decoupling start and end points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90829DBA-192E-4E45-A04F-2159F2B07047}"/>
              </a:ext>
            </a:extLst>
          </p:cNvPr>
          <p:cNvPicPr>
            <a:picLocks noChangeAspect="1"/>
          </p:cNvPicPr>
          <p:nvPr/>
        </p:nvPicPr>
        <p:blipFill>
          <a:blip r:embed="rId3"/>
          <a:stretch>
            <a:fillRect/>
          </a:stretch>
        </p:blipFill>
        <p:spPr>
          <a:xfrm>
            <a:off x="2000250" y="3079752"/>
            <a:ext cx="8191500" cy="3276600"/>
          </a:xfrm>
          <a:prstGeom prst="rect">
            <a:avLst/>
          </a:prstGeom>
        </p:spPr>
      </p:pic>
      <p:pic>
        <p:nvPicPr>
          <p:cNvPr id="3" name="图片 2">
            <a:extLst>
              <a:ext uri="{FF2B5EF4-FFF2-40B4-BE49-F238E27FC236}">
                <a16:creationId xmlns:a16="http://schemas.microsoft.com/office/drawing/2014/main" xmlns="" id="{5E4E9F1F-7A5A-4463-9BFA-B50FCC2485C4}"/>
              </a:ext>
            </a:extLst>
          </p:cNvPr>
          <p:cNvPicPr>
            <a:picLocks noChangeAspect="1"/>
          </p:cNvPicPr>
          <p:nvPr/>
        </p:nvPicPr>
        <p:blipFill>
          <a:blip r:embed="rId4"/>
          <a:stretch>
            <a:fillRect/>
          </a:stretch>
        </p:blipFill>
        <p:spPr>
          <a:xfrm>
            <a:off x="2838450" y="1975646"/>
            <a:ext cx="6515100" cy="819150"/>
          </a:xfrm>
          <a:prstGeom prst="rect">
            <a:avLst/>
          </a:prstGeom>
        </p:spPr>
      </p:pic>
    </p:spTree>
    <p:extLst>
      <p:ext uri="{BB962C8B-B14F-4D97-AF65-F5344CB8AC3E}">
        <p14:creationId xmlns:p14="http://schemas.microsoft.com/office/powerpoint/2010/main" val="3609934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LCSk by decoupling start and end points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Complexity: O(m+n+r+min(rlogl,r+ml)) time, O(l+m+n)space.</a:t>
            </a:r>
          </a:p>
        </p:txBody>
      </p:sp>
      <p:graphicFrame>
        <p:nvGraphicFramePr>
          <p:cNvPr id="2" name="表格 2">
            <a:extLst>
              <a:ext uri="{FF2B5EF4-FFF2-40B4-BE49-F238E27FC236}">
                <a16:creationId xmlns:a16="http://schemas.microsoft.com/office/drawing/2014/main" xmlns="" id="{D68BE773-27BE-48C4-818C-54D83D6946D7}"/>
              </a:ext>
            </a:extLst>
          </p:cNvPr>
          <p:cNvGraphicFramePr>
            <a:graphicFrameLocks noGrp="1"/>
          </p:cNvGraphicFramePr>
          <p:nvPr>
            <p:extLst>
              <p:ext uri="{D42A27DB-BD31-4B8C-83A1-F6EECF244321}">
                <p14:modId xmlns:p14="http://schemas.microsoft.com/office/powerpoint/2010/main" val="400246618"/>
              </p:ext>
            </p:extLst>
          </p:nvPr>
        </p:nvGraphicFramePr>
        <p:xfrm>
          <a:off x="2042958" y="2507828"/>
          <a:ext cx="5957904" cy="2468880"/>
        </p:xfrm>
        <a:graphic>
          <a:graphicData uri="http://schemas.openxmlformats.org/drawingml/2006/table">
            <a:tbl>
              <a:tblPr firstRow="1" bandRow="1">
                <a:tableStyleId>{5C22544A-7EE6-4342-B048-85BDC9FD1C3A}</a:tableStyleId>
              </a:tblPr>
              <a:tblGrid>
                <a:gridCol w="744738">
                  <a:extLst>
                    <a:ext uri="{9D8B030D-6E8A-4147-A177-3AD203B41FA5}">
                      <a16:colId xmlns:a16="http://schemas.microsoft.com/office/drawing/2014/main" xmlns="" val="3159171307"/>
                    </a:ext>
                  </a:extLst>
                </a:gridCol>
                <a:gridCol w="744738">
                  <a:extLst>
                    <a:ext uri="{9D8B030D-6E8A-4147-A177-3AD203B41FA5}">
                      <a16:colId xmlns:a16="http://schemas.microsoft.com/office/drawing/2014/main" xmlns="" val="1311893774"/>
                    </a:ext>
                  </a:extLst>
                </a:gridCol>
                <a:gridCol w="744738">
                  <a:extLst>
                    <a:ext uri="{9D8B030D-6E8A-4147-A177-3AD203B41FA5}">
                      <a16:colId xmlns:a16="http://schemas.microsoft.com/office/drawing/2014/main" xmlns="" val="172344894"/>
                    </a:ext>
                  </a:extLst>
                </a:gridCol>
                <a:gridCol w="744738">
                  <a:extLst>
                    <a:ext uri="{9D8B030D-6E8A-4147-A177-3AD203B41FA5}">
                      <a16:colId xmlns:a16="http://schemas.microsoft.com/office/drawing/2014/main" xmlns="" val="4239653097"/>
                    </a:ext>
                  </a:extLst>
                </a:gridCol>
                <a:gridCol w="744738">
                  <a:extLst>
                    <a:ext uri="{9D8B030D-6E8A-4147-A177-3AD203B41FA5}">
                      <a16:colId xmlns:a16="http://schemas.microsoft.com/office/drawing/2014/main" xmlns="" val="4029378963"/>
                    </a:ext>
                  </a:extLst>
                </a:gridCol>
                <a:gridCol w="744738">
                  <a:extLst>
                    <a:ext uri="{9D8B030D-6E8A-4147-A177-3AD203B41FA5}">
                      <a16:colId xmlns:a16="http://schemas.microsoft.com/office/drawing/2014/main" xmlns="" val="341868234"/>
                    </a:ext>
                  </a:extLst>
                </a:gridCol>
                <a:gridCol w="744738">
                  <a:extLst>
                    <a:ext uri="{9D8B030D-6E8A-4147-A177-3AD203B41FA5}">
                      <a16:colId xmlns:a16="http://schemas.microsoft.com/office/drawing/2014/main" xmlns="" val="2871408270"/>
                    </a:ext>
                  </a:extLst>
                </a:gridCol>
                <a:gridCol w="744738">
                  <a:extLst>
                    <a:ext uri="{9D8B030D-6E8A-4147-A177-3AD203B41FA5}">
                      <a16:colId xmlns:a16="http://schemas.microsoft.com/office/drawing/2014/main" xmlns="" val="1346571697"/>
                    </a:ext>
                  </a:extLst>
                </a:gridCol>
              </a:tblGrid>
              <a:tr h="297707">
                <a:tc>
                  <a:txBody>
                    <a:bodyPr/>
                    <a:lstStyle/>
                    <a:p>
                      <a:endParaRPr lang="zh-CN" altLang="en-US" dirty="0"/>
                    </a:p>
                  </a:txBody>
                  <a:tcPr/>
                </a:tc>
                <a:tc>
                  <a:txBody>
                    <a:bodyPr/>
                    <a:lstStyle/>
                    <a:p>
                      <a:r>
                        <a:rPr lang="en-US" altLang="zh-CN" dirty="0"/>
                        <a:t>C</a:t>
                      </a:r>
                      <a:endParaRPr lang="zh-CN" altLang="en-US" dirty="0"/>
                    </a:p>
                  </a:txBody>
                  <a:tcPr/>
                </a:tc>
                <a:tc>
                  <a:txBody>
                    <a:bodyPr/>
                    <a:lstStyle/>
                    <a:p>
                      <a:r>
                        <a:rPr lang="en-US" altLang="zh-CN" dirty="0"/>
                        <a:t>T</a:t>
                      </a:r>
                      <a:endParaRPr lang="zh-CN" altLang="en-US" dirty="0"/>
                    </a:p>
                  </a:txBody>
                  <a:tcPr/>
                </a:tc>
                <a:tc>
                  <a:txBody>
                    <a:bodyPr/>
                    <a:lstStyle/>
                    <a:p>
                      <a:r>
                        <a:rPr lang="en-US" altLang="zh-CN" dirty="0"/>
                        <a:t>A</a:t>
                      </a:r>
                      <a:endParaRPr lang="zh-CN" altLang="en-US" dirty="0"/>
                    </a:p>
                  </a:txBody>
                  <a:tcPr/>
                </a:tc>
                <a:tc>
                  <a:txBody>
                    <a:bodyPr/>
                    <a:lstStyle/>
                    <a:p>
                      <a:r>
                        <a:rPr lang="en-US" altLang="zh-CN" dirty="0"/>
                        <a:t>T</a:t>
                      </a:r>
                      <a:endParaRPr lang="zh-CN" altLang="en-US" dirty="0"/>
                    </a:p>
                  </a:txBody>
                  <a:tcPr/>
                </a:tc>
                <a:tc>
                  <a:txBody>
                    <a:bodyPr/>
                    <a:lstStyle/>
                    <a:p>
                      <a:r>
                        <a:rPr lang="en-US" altLang="zh-CN" dirty="0"/>
                        <a:t>A</a:t>
                      </a:r>
                      <a:endParaRPr lang="zh-CN" altLang="en-US" dirty="0"/>
                    </a:p>
                  </a:txBody>
                  <a:tcPr/>
                </a:tc>
                <a:tc>
                  <a:txBody>
                    <a:bodyPr/>
                    <a:lstStyle/>
                    <a:p>
                      <a:r>
                        <a:rPr lang="en-US" altLang="zh-CN" dirty="0"/>
                        <a:t>T</a:t>
                      </a:r>
                      <a:endParaRPr lang="zh-CN" altLang="en-US" dirty="0"/>
                    </a:p>
                  </a:txBody>
                  <a:tcPr/>
                </a:tc>
                <a:tc>
                  <a:txBody>
                    <a:bodyPr/>
                    <a:lstStyle/>
                    <a:p>
                      <a:r>
                        <a:rPr lang="en-US" altLang="zh-CN" dirty="0"/>
                        <a:t>A</a:t>
                      </a:r>
                      <a:endParaRPr lang="zh-CN" altLang="en-US" dirty="0"/>
                    </a:p>
                  </a:txBody>
                  <a:tcPr/>
                </a:tc>
                <a:extLst>
                  <a:ext uri="{0D108BD9-81ED-4DB2-BD59-A6C34878D82A}">
                    <a16:rowId xmlns:a16="http://schemas.microsoft.com/office/drawing/2014/main" xmlns="" val="950539719"/>
                  </a:ext>
                </a:extLst>
              </a:tr>
              <a:tr h="297707">
                <a:tc>
                  <a:txBody>
                    <a:bodyPr/>
                    <a:lstStyle/>
                    <a:p>
                      <a:r>
                        <a:rPr lang="en-US" altLang="zh-CN" dirty="0"/>
                        <a:t>A</a:t>
                      </a:r>
                      <a:endParaRPr lang="zh-CN" altLang="en-US" dirty="0"/>
                    </a:p>
                  </a:txBody>
                  <a:tcPr/>
                </a:tc>
                <a:tc>
                  <a:txBody>
                    <a:bodyPr/>
                    <a:lstStyle/>
                    <a:p>
                      <a:endParaRPr lang="zh-CN" altLang="en-US"/>
                    </a:p>
                  </a:txBody>
                  <a:tcPr/>
                </a:tc>
                <a:tc>
                  <a:txBody>
                    <a:bodyPr/>
                    <a:lstStyle/>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c1</a:t>
                      </a:r>
                      <a:r>
                        <a:rPr lang="en-US" altLang="zh-CN" dirty="0">
                          <a:solidFill>
                            <a:srgbClr val="FF0000"/>
                          </a:solidFill>
                        </a:rPr>
                        <a:t>(0)</a:t>
                      </a:r>
                      <a:endParaRPr lang="zh-CN" altLang="en-US" dirty="0">
                        <a:solidFill>
                          <a:srgbClr val="FF0000"/>
                        </a:solidFill>
                      </a:endParaRPr>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xmlns="" val="1240493483"/>
                  </a:ext>
                </a:extLst>
              </a:tr>
              <a:tr h="297707">
                <a:tc>
                  <a:txBody>
                    <a:bodyPr/>
                    <a:lstStyle/>
                    <a:p>
                      <a:r>
                        <a:rPr lang="en-US" altLang="zh-CN" dirty="0"/>
                        <a:t>T</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c2</a:t>
                      </a:r>
                      <a:r>
                        <a:rPr lang="en-US" altLang="zh-CN" dirty="0">
                          <a:solidFill>
                            <a:srgbClr val="FF0000"/>
                          </a:solidFill>
                        </a:rPr>
                        <a:t>(1)</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xmlns="" val="4281076514"/>
                  </a:ext>
                </a:extLst>
              </a:tr>
              <a:tr h="297707">
                <a:tc>
                  <a:txBody>
                    <a:bodyPr/>
                    <a:lstStyle/>
                    <a:p>
                      <a:r>
                        <a:rPr lang="en-US" altLang="zh-CN" dirty="0"/>
                        <a:t>T</a:t>
                      </a:r>
                      <a:endParaRPr lang="zh-CN" altLang="en-US" dirty="0"/>
                    </a:p>
                  </a:txBody>
                  <a:tcPr/>
                </a:tc>
                <a:tc>
                  <a:txBody>
                    <a:bodyPr/>
                    <a:lstStyle/>
                    <a:p>
                      <a:endParaRPr lang="zh-CN" altLang="en-US" dirty="0"/>
                    </a:p>
                  </a:txBody>
                  <a:tcPr/>
                </a:tc>
                <a:tc>
                  <a:txBody>
                    <a:bodyPr/>
                    <a:lstStyle/>
                    <a:p>
                      <a:r>
                        <a:rPr lang="en-US" altLang="zh-CN" dirty="0"/>
                        <a:t>a1</a:t>
                      </a:r>
                      <a:r>
                        <a:rPr lang="en-US" altLang="zh-CN" dirty="0">
                          <a:solidFill>
                            <a:srgbClr val="FF0000"/>
                          </a:solidFill>
                        </a:rPr>
                        <a:t>(0)</a:t>
                      </a:r>
                      <a:endParaRPr lang="zh-CN" altLang="en-US" dirty="0"/>
                    </a:p>
                  </a:txBody>
                  <a:tcPr/>
                </a:tc>
                <a:tc>
                  <a:txBody>
                    <a:bodyPr/>
                    <a:lstStyle/>
                    <a:p>
                      <a:endParaRPr lang="zh-CN" altLang="en-US"/>
                    </a:p>
                  </a:txBody>
                  <a:tcPr/>
                </a:tc>
                <a:tc>
                  <a:txBody>
                    <a:bodyPr/>
                    <a:lstStyle/>
                    <a:p>
                      <a:r>
                        <a:rPr lang="en-US" altLang="zh-CN" dirty="0"/>
                        <a:t>d1</a:t>
                      </a:r>
                      <a:r>
                        <a:rPr lang="en-US" altLang="zh-CN" dirty="0">
                          <a:solidFill>
                            <a:srgbClr val="FF0000"/>
                          </a:solidFill>
                        </a:rPr>
                        <a:t>(0)</a:t>
                      </a:r>
                      <a:endParaRPr lang="zh-CN" altLang="en-US" dirty="0"/>
                    </a:p>
                  </a:txBody>
                  <a:tcPr/>
                </a:tc>
                <a:tc>
                  <a:txBody>
                    <a:bodyPr/>
                    <a:lstStyle/>
                    <a:p>
                      <a:endParaRPr lang="zh-CN" altLang="en-US"/>
                    </a:p>
                  </a:txBody>
                  <a:tcPr/>
                </a:tc>
                <a:tc>
                  <a:txBody>
                    <a:bodyPr/>
                    <a:lstStyle/>
                    <a:p>
                      <a:r>
                        <a:rPr lang="en-US" altLang="zh-CN" dirty="0"/>
                        <a:t>e1</a:t>
                      </a:r>
                      <a:r>
                        <a:rPr lang="en-US" altLang="zh-CN" dirty="0">
                          <a:solidFill>
                            <a:srgbClr val="FF0000"/>
                          </a:solidFill>
                        </a:rPr>
                        <a:t>(1)</a:t>
                      </a:r>
                      <a:endParaRPr lang="zh-CN" altLang="en-US" dirty="0"/>
                    </a:p>
                  </a:txBody>
                  <a:tcPr/>
                </a:tc>
                <a:tc>
                  <a:txBody>
                    <a:bodyPr/>
                    <a:lstStyle/>
                    <a:p>
                      <a:endParaRPr lang="zh-CN" altLang="en-US"/>
                    </a:p>
                  </a:txBody>
                  <a:tcPr/>
                </a:tc>
                <a:extLst>
                  <a:ext uri="{0D108BD9-81ED-4DB2-BD59-A6C34878D82A}">
                    <a16:rowId xmlns:a16="http://schemas.microsoft.com/office/drawing/2014/main" xmlns="" val="24462995"/>
                  </a:ext>
                </a:extLst>
              </a:tr>
              <a:tr h="375752">
                <a:tc>
                  <a:txBody>
                    <a:bodyPr/>
                    <a:lstStyle/>
                    <a:p>
                      <a:r>
                        <a:rPr lang="en-US" altLang="zh-CN" dirty="0"/>
                        <a:t>A</a:t>
                      </a:r>
                      <a:endParaRPr lang="zh-CN" altLang="en-US" dirty="0"/>
                    </a:p>
                  </a:txBody>
                  <a:tcPr/>
                </a:tc>
                <a:tc>
                  <a:txBody>
                    <a:bodyPr/>
                    <a:lstStyle/>
                    <a:p>
                      <a:endParaRPr lang="zh-CN" altLang="en-US"/>
                    </a:p>
                  </a:txBody>
                  <a:tcPr/>
                </a:tc>
                <a:tc>
                  <a:txBody>
                    <a:bodyPr/>
                    <a:lstStyle/>
                    <a:p>
                      <a:endParaRPr lang="zh-CN" altLang="en-US" dirty="0"/>
                    </a:p>
                  </a:txBody>
                  <a:tcPr/>
                </a:tc>
                <a:tc>
                  <a:txBody>
                    <a:bodyPr/>
                    <a:lstStyle/>
                    <a:p>
                      <a:r>
                        <a:rPr lang="en-US" altLang="zh-CN" dirty="0"/>
                        <a:t>a2</a:t>
                      </a:r>
                      <a:r>
                        <a:rPr lang="en-US" altLang="zh-CN" dirty="0">
                          <a:solidFill>
                            <a:srgbClr val="FF0000"/>
                          </a:solidFill>
                        </a:rPr>
                        <a:t>(1)</a:t>
                      </a:r>
                      <a:r>
                        <a:rPr lang="en-US" altLang="zh-CN" dirty="0"/>
                        <a:t>/b1</a:t>
                      </a:r>
                      <a:r>
                        <a:rPr lang="en-US" altLang="zh-CN" dirty="0">
                          <a:solidFill>
                            <a:srgbClr val="FF0000"/>
                          </a:solidFill>
                        </a:rPr>
                        <a:t>(0)</a:t>
                      </a:r>
                      <a:endParaRPr lang="zh-CN" altLang="en-US" dirty="0"/>
                    </a:p>
                  </a:txBody>
                  <a:tcPr/>
                </a:tc>
                <a:tc>
                  <a:txBody>
                    <a:bodyPr/>
                    <a:lstStyle/>
                    <a:p>
                      <a:endParaRPr lang="zh-CN" altLang="en-US"/>
                    </a:p>
                  </a:txBody>
                  <a:tcPr/>
                </a:tc>
                <a:tc>
                  <a:txBody>
                    <a:bodyPr/>
                    <a:lstStyle/>
                    <a:p>
                      <a:r>
                        <a:rPr lang="en-US" altLang="zh-CN" dirty="0"/>
                        <a:t>d2</a:t>
                      </a:r>
                      <a:r>
                        <a:rPr lang="en-US" altLang="zh-CN" dirty="0">
                          <a:solidFill>
                            <a:srgbClr val="FF0000"/>
                          </a:solidFill>
                        </a:rPr>
                        <a:t>(1)</a:t>
                      </a:r>
                      <a:endParaRPr lang="zh-CN" altLang="en-US" dirty="0"/>
                    </a:p>
                  </a:txBody>
                  <a:tcPr/>
                </a:tc>
                <a:tc>
                  <a:txBody>
                    <a:bodyPr/>
                    <a:lstStyle/>
                    <a:p>
                      <a:endParaRPr lang="zh-CN" altLang="en-US" dirty="0"/>
                    </a:p>
                  </a:txBody>
                  <a:tcPr/>
                </a:tc>
                <a:tc>
                  <a:txBody>
                    <a:bodyPr/>
                    <a:lstStyle/>
                    <a:p>
                      <a:r>
                        <a:rPr lang="en-US" altLang="zh-CN" dirty="0"/>
                        <a:t>e2</a:t>
                      </a:r>
                      <a:r>
                        <a:rPr lang="en-US" altLang="zh-CN" dirty="0">
                          <a:solidFill>
                            <a:srgbClr val="FF0000"/>
                          </a:solidFill>
                        </a:rPr>
                        <a:t>(2)</a:t>
                      </a:r>
                      <a:endParaRPr lang="zh-CN" altLang="en-US" dirty="0"/>
                    </a:p>
                  </a:txBody>
                  <a:tcPr/>
                </a:tc>
                <a:extLst>
                  <a:ext uri="{0D108BD9-81ED-4DB2-BD59-A6C34878D82A}">
                    <a16:rowId xmlns:a16="http://schemas.microsoft.com/office/drawing/2014/main" xmlns="" val="1062645638"/>
                  </a:ext>
                </a:extLst>
              </a:tr>
              <a:tr h="297707">
                <a:tc>
                  <a:txBody>
                    <a:bodyPr/>
                    <a:lstStyle/>
                    <a:p>
                      <a:r>
                        <a:rPr lang="en-US" altLang="zh-CN" dirty="0"/>
                        <a:t>T</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r>
                        <a:rPr lang="en-US" altLang="zh-CN" dirty="0"/>
                        <a:t>b2</a:t>
                      </a:r>
                      <a:r>
                        <a:rPr lang="en-US" altLang="zh-CN" dirty="0">
                          <a:solidFill>
                            <a:srgbClr val="FF0000"/>
                          </a:solidFill>
                        </a:rPr>
                        <a:t>(1)</a:t>
                      </a:r>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xmlns="" val="2374093814"/>
                  </a:ext>
                </a:extLst>
              </a:tr>
            </a:tbl>
          </a:graphicData>
        </a:graphic>
      </p:graphicFrame>
      <p:graphicFrame>
        <p:nvGraphicFramePr>
          <p:cNvPr id="4" name="表格 4">
            <a:extLst>
              <a:ext uri="{FF2B5EF4-FFF2-40B4-BE49-F238E27FC236}">
                <a16:creationId xmlns:a16="http://schemas.microsoft.com/office/drawing/2014/main" xmlns="" id="{6372F2C4-60C4-4EE1-9D68-BD8E2EA95578}"/>
              </a:ext>
            </a:extLst>
          </p:cNvPr>
          <p:cNvGraphicFramePr>
            <a:graphicFrameLocks noGrp="1"/>
          </p:cNvGraphicFramePr>
          <p:nvPr>
            <p:extLst>
              <p:ext uri="{D42A27DB-BD31-4B8C-83A1-F6EECF244321}">
                <p14:modId xmlns:p14="http://schemas.microsoft.com/office/powerpoint/2010/main" val="4067837706"/>
              </p:ext>
            </p:extLst>
          </p:nvPr>
        </p:nvGraphicFramePr>
        <p:xfrm>
          <a:off x="8513684" y="2110105"/>
          <a:ext cx="2587832" cy="2866603"/>
        </p:xfrm>
        <a:graphic>
          <a:graphicData uri="http://schemas.openxmlformats.org/drawingml/2006/table">
            <a:tbl>
              <a:tblPr firstRow="1" bandRow="1">
                <a:tableStyleId>{F5AB1C69-6EDB-4FF4-983F-18BD219EF322}</a:tableStyleId>
              </a:tblPr>
              <a:tblGrid>
                <a:gridCol w="646958">
                  <a:extLst>
                    <a:ext uri="{9D8B030D-6E8A-4147-A177-3AD203B41FA5}">
                      <a16:colId xmlns:a16="http://schemas.microsoft.com/office/drawing/2014/main" xmlns="" val="3268789297"/>
                    </a:ext>
                  </a:extLst>
                </a:gridCol>
                <a:gridCol w="646958">
                  <a:extLst>
                    <a:ext uri="{9D8B030D-6E8A-4147-A177-3AD203B41FA5}">
                      <a16:colId xmlns:a16="http://schemas.microsoft.com/office/drawing/2014/main" xmlns="" val="3883088929"/>
                    </a:ext>
                  </a:extLst>
                </a:gridCol>
                <a:gridCol w="646958">
                  <a:extLst>
                    <a:ext uri="{9D8B030D-6E8A-4147-A177-3AD203B41FA5}">
                      <a16:colId xmlns:a16="http://schemas.microsoft.com/office/drawing/2014/main" xmlns="" val="3447033106"/>
                    </a:ext>
                  </a:extLst>
                </a:gridCol>
                <a:gridCol w="646958">
                  <a:extLst>
                    <a:ext uri="{9D8B030D-6E8A-4147-A177-3AD203B41FA5}">
                      <a16:colId xmlns:a16="http://schemas.microsoft.com/office/drawing/2014/main" xmlns="" val="815172478"/>
                    </a:ext>
                  </a:extLst>
                </a:gridCol>
              </a:tblGrid>
              <a:tr h="367425">
                <a:tc>
                  <a:txBody>
                    <a:bodyPr/>
                    <a:lstStyle/>
                    <a:p>
                      <a:r>
                        <a:rPr lang="en-US" altLang="zh-CN" dirty="0"/>
                        <a:t>M\d</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extLst>
                  <a:ext uri="{0D108BD9-81ED-4DB2-BD59-A6C34878D82A}">
                    <a16:rowId xmlns:a16="http://schemas.microsoft.com/office/drawing/2014/main" xmlns="" val="2865880314"/>
                  </a:ext>
                </a:extLst>
              </a:tr>
              <a:tr h="367425">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Inf</a:t>
                      </a:r>
                      <a:endParaRPr lang="zh-CN" altLang="en-US" dirty="0"/>
                    </a:p>
                  </a:txBody>
                  <a:tcPr/>
                </a:tc>
                <a:tc>
                  <a:txBody>
                    <a:bodyPr/>
                    <a:lstStyle/>
                    <a:p>
                      <a:r>
                        <a:rPr lang="en-US" altLang="zh-CN" dirty="0"/>
                        <a:t>Inf</a:t>
                      </a:r>
                      <a:endParaRPr lang="zh-CN" altLang="en-US" dirty="0"/>
                    </a:p>
                  </a:txBody>
                  <a:tcPr/>
                </a:tc>
                <a:extLst>
                  <a:ext uri="{0D108BD9-81ED-4DB2-BD59-A6C34878D82A}">
                    <a16:rowId xmlns:a16="http://schemas.microsoft.com/office/drawing/2014/main" xmlns="" val="3932855262"/>
                  </a:ext>
                </a:extLst>
              </a:tr>
              <a:tr h="367425">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4</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Inf</a:t>
                      </a:r>
                      <a:endParaRPr lang="zh-CN" altLang="en-US" dirty="0"/>
                    </a:p>
                  </a:txBody>
                  <a:tcPr/>
                </a:tc>
                <a:extLst>
                  <a:ext uri="{0D108BD9-81ED-4DB2-BD59-A6C34878D82A}">
                    <a16:rowId xmlns:a16="http://schemas.microsoft.com/office/drawing/2014/main" xmlns="" val="983270998"/>
                  </a:ext>
                </a:extLst>
              </a:tr>
              <a:tr h="367425">
                <a:tc>
                  <a:txBody>
                    <a:bodyPr/>
                    <a:lstStyle/>
                    <a:p>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4</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Inf</a:t>
                      </a:r>
                      <a:endParaRPr lang="zh-CN" altLang="en-US" dirty="0"/>
                    </a:p>
                  </a:txBody>
                  <a:tcPr/>
                </a:tc>
                <a:extLst>
                  <a:ext uri="{0D108BD9-81ED-4DB2-BD59-A6C34878D82A}">
                    <a16:rowId xmlns:a16="http://schemas.microsoft.com/office/drawing/2014/main" xmlns="" val="2090820817"/>
                  </a:ext>
                </a:extLst>
              </a:tr>
              <a:tr h="367425">
                <a:tc>
                  <a:txBody>
                    <a:bodyPr/>
                    <a:lstStyle/>
                    <a:p>
                      <a:r>
                        <a:rPr lang="en-US" altLang="zh-CN" dirty="0"/>
                        <a:t>3</a:t>
                      </a:r>
                      <a:endParaRPr lang="zh-CN" altLang="en-US" dirty="0"/>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7</a:t>
                      </a:r>
                      <a:endParaRPr lang="zh-CN" altLang="en-US" dirty="0"/>
                    </a:p>
                  </a:txBody>
                  <a:tcPr/>
                </a:tc>
                <a:extLst>
                  <a:ext uri="{0D108BD9-81ED-4DB2-BD59-A6C34878D82A}">
                    <a16:rowId xmlns:a16="http://schemas.microsoft.com/office/drawing/2014/main" xmlns="" val="3110756460"/>
                  </a:ext>
                </a:extLst>
              </a:tr>
              <a:tr h="662053">
                <a:tc>
                  <a:txBody>
                    <a:bodyPr/>
                    <a:lstStyle/>
                    <a:p>
                      <a:r>
                        <a:rPr lang="en-US" altLang="zh-CN" dirty="0"/>
                        <a:t>4</a:t>
                      </a:r>
                      <a:endParaRPr lang="zh-CN" altLang="en-US" dirty="0"/>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7</a:t>
                      </a:r>
                      <a:endParaRPr lang="zh-CN" altLang="en-US" dirty="0"/>
                    </a:p>
                  </a:txBody>
                  <a:tcPr/>
                </a:tc>
                <a:extLst>
                  <a:ext uri="{0D108BD9-81ED-4DB2-BD59-A6C34878D82A}">
                    <a16:rowId xmlns:a16="http://schemas.microsoft.com/office/drawing/2014/main" xmlns="" val="2316681315"/>
                  </a:ext>
                </a:extLst>
              </a:tr>
              <a:tr h="367425">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7</a:t>
                      </a:r>
                      <a:endParaRPr lang="zh-CN" altLang="en-US" dirty="0"/>
                    </a:p>
                  </a:txBody>
                  <a:tcPr/>
                </a:tc>
                <a:extLst>
                  <a:ext uri="{0D108BD9-81ED-4DB2-BD59-A6C34878D82A}">
                    <a16:rowId xmlns:a16="http://schemas.microsoft.com/office/drawing/2014/main" xmlns="" val="3345484448"/>
                  </a:ext>
                </a:extLst>
              </a:tr>
            </a:tbl>
          </a:graphicData>
        </a:graphic>
      </p:graphicFrame>
    </p:spTree>
    <p:extLst>
      <p:ext uri="{BB962C8B-B14F-4D97-AF65-F5344CB8AC3E}">
        <p14:creationId xmlns:p14="http://schemas.microsoft.com/office/powerpoint/2010/main" val="2940934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5 Algorithm to compute LCSk+</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en-US" altLang="zh-TW" dirty="0"/>
          </a:p>
          <a:p>
            <a:pPr>
              <a:spcBef>
                <a:spcPts val="0"/>
              </a:spcBef>
              <a:buSzPts val="2800"/>
            </a:pPr>
            <a:r>
              <a:rPr lang="en-US" altLang="zh-TW" dirty="0"/>
              <a:t>X = “ATTAT”,</a:t>
            </a:r>
          </a:p>
          <a:p>
            <a:pPr>
              <a:spcBef>
                <a:spcPts val="0"/>
              </a:spcBef>
              <a:buSzPts val="2800"/>
            </a:pPr>
            <a:r>
              <a:rPr lang="en-US" altLang="zh-TW" dirty="0"/>
              <a:t>Y = “CTATAGAGTA”.</a:t>
            </a:r>
          </a:p>
          <a:p>
            <a:pPr>
              <a:spcBef>
                <a:spcPts val="0"/>
              </a:spcBef>
              <a:buSzPts val="2800"/>
            </a:pPr>
            <a:endParaRPr lang="en-US" altLang="zh-TW" dirty="0"/>
          </a:p>
          <a:p>
            <a:pPr>
              <a:spcBef>
                <a:spcPts val="0"/>
              </a:spcBef>
              <a:buSzPts val="2800"/>
            </a:pPr>
            <a:r>
              <a:rPr lang="en-US" altLang="zh-CN" dirty="0"/>
              <a:t>P continues G if i</a:t>
            </a:r>
            <a:r>
              <a:rPr lang="en-US" altLang="zh-CN" baseline="-25000" dirty="0"/>
              <a:t>P</a:t>
            </a:r>
            <a:r>
              <a:rPr lang="en-US" altLang="zh-CN" dirty="0"/>
              <a:t> = i</a:t>
            </a:r>
            <a:r>
              <a:rPr lang="en-US" altLang="zh-CN" baseline="-25000" dirty="0"/>
              <a:t>G</a:t>
            </a:r>
            <a:r>
              <a:rPr lang="en-US" altLang="zh-CN" dirty="0"/>
              <a:t> + 1 and j</a:t>
            </a:r>
            <a:r>
              <a:rPr lang="en-US" altLang="zh-CN" baseline="-25000" dirty="0"/>
              <a:t>P</a:t>
            </a:r>
            <a:r>
              <a:rPr lang="en-US" altLang="zh-CN" dirty="0"/>
              <a:t> = j</a:t>
            </a:r>
            <a:r>
              <a:rPr lang="en-US" altLang="zh-CN" baseline="-25000" dirty="0"/>
              <a:t>G</a:t>
            </a:r>
            <a:r>
              <a:rPr lang="en-US" altLang="zh-CN" dirty="0"/>
              <a:t> + 1.</a:t>
            </a:r>
          </a:p>
          <a:p>
            <a:pPr>
              <a:spcBef>
                <a:spcPts val="0"/>
              </a:spcBef>
              <a:buSzPts val="2800"/>
            </a:pPr>
            <a:endParaRPr lang="en-US" altLang="zh-TW" dirty="0"/>
          </a:p>
          <a:p>
            <a:pPr>
              <a:spcBef>
                <a:spcPts val="0"/>
              </a:spcBef>
              <a:buSzPts val="2800"/>
            </a:pPr>
            <a:r>
              <a:rPr lang="en-US" altLang="zh-TW" dirty="0"/>
              <a:t>b continues a.</a:t>
            </a:r>
          </a:p>
          <a:p>
            <a:pPr marL="0" indent="0">
              <a:spcBef>
                <a:spcPts val="0"/>
              </a:spcBef>
              <a:buSzPts val="2800"/>
              <a:buNone/>
            </a:pPr>
            <a:endParaRPr lang="zh-TW" altLang="en-US" dirty="0"/>
          </a:p>
        </p:txBody>
      </p:sp>
      <p:pic>
        <p:nvPicPr>
          <p:cNvPr id="9" name="图片 8">
            <a:extLst>
              <a:ext uri="{FF2B5EF4-FFF2-40B4-BE49-F238E27FC236}">
                <a16:creationId xmlns:a16="http://schemas.microsoft.com/office/drawing/2014/main" xmlns="" id="{91BF06E5-3B2C-42AC-AE1E-95E2C2F5203A}"/>
              </a:ext>
            </a:extLst>
          </p:cNvPr>
          <p:cNvPicPr>
            <a:picLocks noChangeAspect="1"/>
          </p:cNvPicPr>
          <p:nvPr/>
        </p:nvPicPr>
        <p:blipFill rotWithShape="1">
          <a:blip r:embed="rId3"/>
          <a:srcRect l="27427" r="25509" b="39905"/>
          <a:stretch/>
        </p:blipFill>
        <p:spPr>
          <a:xfrm>
            <a:off x="7155402" y="2181143"/>
            <a:ext cx="4065973" cy="2495714"/>
          </a:xfrm>
          <a:prstGeom prst="rect">
            <a:avLst/>
          </a:prstGeom>
        </p:spPr>
      </p:pic>
    </p:spTree>
    <p:extLst>
      <p:ext uri="{BB962C8B-B14F-4D97-AF65-F5344CB8AC3E}">
        <p14:creationId xmlns:p14="http://schemas.microsoft.com/office/powerpoint/2010/main" val="292900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5 </a:t>
            </a:r>
            <a:r>
              <a:rPr lang="en-US" altLang="zh-CN" dirty="0"/>
              <a:t>Algorithm to compute LCSk+</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535CF3C2-5B71-4DDA-843A-1AE0486B7AE1}"/>
              </a:ext>
            </a:extLst>
          </p:cNvPr>
          <p:cNvPicPr>
            <a:picLocks noChangeAspect="1"/>
          </p:cNvPicPr>
          <p:nvPr/>
        </p:nvPicPr>
        <p:blipFill>
          <a:blip r:embed="rId3"/>
          <a:stretch>
            <a:fillRect/>
          </a:stretch>
        </p:blipFill>
        <p:spPr>
          <a:xfrm>
            <a:off x="2838450" y="3210177"/>
            <a:ext cx="6019800" cy="1238250"/>
          </a:xfrm>
          <a:prstGeom prst="rect">
            <a:avLst/>
          </a:prstGeom>
        </p:spPr>
      </p:pic>
      <p:pic>
        <p:nvPicPr>
          <p:cNvPr id="6" name="图片 5">
            <a:extLst>
              <a:ext uri="{FF2B5EF4-FFF2-40B4-BE49-F238E27FC236}">
                <a16:creationId xmlns:a16="http://schemas.microsoft.com/office/drawing/2014/main" xmlns="" id="{505AB445-C7F9-42B3-B0C4-F99C88BBD321}"/>
              </a:ext>
            </a:extLst>
          </p:cNvPr>
          <p:cNvPicPr>
            <a:picLocks noChangeAspect="1"/>
          </p:cNvPicPr>
          <p:nvPr/>
        </p:nvPicPr>
        <p:blipFill>
          <a:blip r:embed="rId4"/>
          <a:stretch>
            <a:fillRect/>
          </a:stretch>
        </p:blipFill>
        <p:spPr>
          <a:xfrm>
            <a:off x="2838450" y="2391027"/>
            <a:ext cx="6515100" cy="819150"/>
          </a:xfrm>
          <a:prstGeom prst="rect">
            <a:avLst/>
          </a:prstGeom>
        </p:spPr>
      </p:pic>
      <p:pic>
        <p:nvPicPr>
          <p:cNvPr id="3" name="图片 2">
            <a:extLst>
              <a:ext uri="{FF2B5EF4-FFF2-40B4-BE49-F238E27FC236}">
                <a16:creationId xmlns:a16="http://schemas.microsoft.com/office/drawing/2014/main" xmlns="" id="{F66FC3DC-54EB-4FD3-9261-64F555C76869}"/>
              </a:ext>
            </a:extLst>
          </p:cNvPr>
          <p:cNvPicPr>
            <a:picLocks noChangeAspect="1"/>
          </p:cNvPicPr>
          <p:nvPr/>
        </p:nvPicPr>
        <p:blipFill>
          <a:blip r:embed="rId5"/>
          <a:stretch>
            <a:fillRect/>
          </a:stretch>
        </p:blipFill>
        <p:spPr>
          <a:xfrm>
            <a:off x="3533775" y="4667250"/>
            <a:ext cx="5124450" cy="971550"/>
          </a:xfrm>
          <a:prstGeom prst="rect">
            <a:avLst/>
          </a:prstGeom>
        </p:spPr>
      </p:pic>
    </p:spTree>
    <p:extLst>
      <p:ext uri="{BB962C8B-B14F-4D97-AF65-F5344CB8AC3E}">
        <p14:creationId xmlns:p14="http://schemas.microsoft.com/office/powerpoint/2010/main" val="4179600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5 </a:t>
            </a:r>
            <a:r>
              <a:rPr lang="en-US" altLang="zh-CN" dirty="0"/>
              <a:t>Algorithm to compute LCSk+</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sp>
        <p:nvSpPr>
          <p:cNvPr id="8" name="Google Shape;106;p15">
            <a:extLst>
              <a:ext uri="{FF2B5EF4-FFF2-40B4-BE49-F238E27FC236}">
                <a16:creationId xmlns:a16="http://schemas.microsoft.com/office/drawing/2014/main" xmlns="" id="{2CE11C88-06A2-4D0D-AF55-426E068985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grpSp>
        <p:nvGrpSpPr>
          <p:cNvPr id="6" name="组合 5">
            <a:extLst>
              <a:ext uri="{FF2B5EF4-FFF2-40B4-BE49-F238E27FC236}">
                <a16:creationId xmlns:a16="http://schemas.microsoft.com/office/drawing/2014/main" xmlns="" id="{25BD3C42-FF5D-4493-9C4B-2042FA3A066D}"/>
              </a:ext>
            </a:extLst>
          </p:cNvPr>
          <p:cNvGrpSpPr/>
          <p:nvPr/>
        </p:nvGrpSpPr>
        <p:grpSpPr>
          <a:xfrm>
            <a:off x="1905000" y="1548997"/>
            <a:ext cx="8382000" cy="3895725"/>
            <a:chOff x="1905000" y="1966247"/>
            <a:chExt cx="8382000" cy="3895725"/>
          </a:xfrm>
        </p:grpSpPr>
        <p:pic>
          <p:nvPicPr>
            <p:cNvPr id="2" name="图片 1">
              <a:extLst>
                <a:ext uri="{FF2B5EF4-FFF2-40B4-BE49-F238E27FC236}">
                  <a16:creationId xmlns:a16="http://schemas.microsoft.com/office/drawing/2014/main" xmlns="" id="{9BD8EFE7-4845-462F-B6D9-555EAF834641}"/>
                </a:ext>
              </a:extLst>
            </p:cNvPr>
            <p:cNvPicPr>
              <a:picLocks noChangeAspect="1"/>
            </p:cNvPicPr>
            <p:nvPr/>
          </p:nvPicPr>
          <p:blipFill>
            <a:blip r:embed="rId3"/>
            <a:stretch>
              <a:fillRect/>
            </a:stretch>
          </p:blipFill>
          <p:spPr>
            <a:xfrm>
              <a:off x="1905000" y="1966247"/>
              <a:ext cx="8382000" cy="3895725"/>
            </a:xfrm>
            <a:prstGeom prst="rect">
              <a:avLst/>
            </a:prstGeom>
          </p:spPr>
        </p:pic>
        <p:cxnSp>
          <p:nvCxnSpPr>
            <p:cNvPr id="4" name="直接连接符 3">
              <a:extLst>
                <a:ext uri="{FF2B5EF4-FFF2-40B4-BE49-F238E27FC236}">
                  <a16:creationId xmlns:a16="http://schemas.microsoft.com/office/drawing/2014/main" xmlns="" id="{5877FB1D-6920-41B8-91D3-67557CC973AE}"/>
                </a:ext>
              </a:extLst>
            </p:cNvPr>
            <p:cNvCxnSpPr/>
            <p:nvPr/>
          </p:nvCxnSpPr>
          <p:spPr>
            <a:xfrm>
              <a:off x="4429957" y="4279037"/>
              <a:ext cx="354219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直接连接符 8">
              <a:extLst>
                <a:ext uri="{FF2B5EF4-FFF2-40B4-BE49-F238E27FC236}">
                  <a16:creationId xmlns:a16="http://schemas.microsoft.com/office/drawing/2014/main" xmlns="" id="{7A4B3416-BFFB-4FEF-B76B-B55D2A0ABE3B}"/>
                </a:ext>
              </a:extLst>
            </p:cNvPr>
            <p:cNvCxnSpPr>
              <a:cxnSpLocks/>
            </p:cNvCxnSpPr>
            <p:nvPr/>
          </p:nvCxnSpPr>
          <p:spPr>
            <a:xfrm>
              <a:off x="3266982" y="4751032"/>
              <a:ext cx="1371600" cy="0"/>
            </a:xfrm>
            <a:prstGeom prst="line">
              <a:avLst/>
            </a:prstGeom>
          </p:spPr>
          <p:style>
            <a:lnRef idx="3">
              <a:schemeClr val="accent1"/>
            </a:lnRef>
            <a:fillRef idx="0">
              <a:schemeClr val="accent1"/>
            </a:fillRef>
            <a:effectRef idx="2">
              <a:schemeClr val="accent1"/>
            </a:effectRef>
            <a:fontRef idx="minor">
              <a:schemeClr val="tx1"/>
            </a:fontRef>
          </p:style>
        </p:cxnSp>
      </p:grpSp>
      <p:sp>
        <p:nvSpPr>
          <p:cNvPr id="12" name="Google Shape;106;p15">
            <a:extLst>
              <a:ext uri="{FF2B5EF4-FFF2-40B4-BE49-F238E27FC236}">
                <a16:creationId xmlns:a16="http://schemas.microsoft.com/office/drawing/2014/main" xmlns="" id="{F7BDF02A-93E8-4C71-83BB-8F9DB2A175F6}"/>
              </a:ext>
            </a:extLst>
          </p:cNvPr>
          <p:cNvSpPr txBox="1">
            <a:spLocks/>
          </p:cNvSpPr>
          <p:nvPr/>
        </p:nvSpPr>
        <p:spPr>
          <a:xfrm>
            <a:off x="990600" y="18430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en-US" altLang="zh-CN" dirty="0"/>
          </a:p>
          <a:p>
            <a:pPr marL="0" indent="0">
              <a:spcBef>
                <a:spcPts val="0"/>
              </a:spcBef>
              <a:buSzPts val="2800"/>
              <a:buNone/>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Complexity: O(m+n+r+min(r(logl+k),r+ml)) time, O(l+m+n)space.</a:t>
            </a:r>
          </a:p>
        </p:txBody>
      </p:sp>
    </p:spTree>
    <p:extLst>
      <p:ext uri="{BB962C8B-B14F-4D97-AF65-F5344CB8AC3E}">
        <p14:creationId xmlns:p14="http://schemas.microsoft.com/office/powerpoint/2010/main" val="26905167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5071</TotalTime>
  <Words>872</Words>
  <Application>Microsoft Office PowerPoint</Application>
  <PresentationFormat>寬螢幕</PresentationFormat>
  <Paragraphs>255</Paragraphs>
  <Slides>18</Slides>
  <Notes>18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18</vt:i4>
      </vt:variant>
    </vt:vector>
  </HeadingPairs>
  <TitlesOfParts>
    <vt:vector size="25" baseType="lpstr">
      <vt:lpstr>等线</vt:lpstr>
      <vt:lpstr>微软雅黑</vt:lpstr>
      <vt:lpstr>Questrial</vt:lpstr>
      <vt:lpstr>新細明體</vt:lpstr>
      <vt:lpstr>Arial</vt:lpstr>
      <vt:lpstr>Calibri</vt:lpstr>
      <vt:lpstr>Office 主题</vt:lpstr>
      <vt:lpstr>Fast and Simple Algorithms for Computing both LCSk and LCSk+</vt:lpstr>
      <vt:lpstr>Abstract(1/2)</vt:lpstr>
      <vt:lpstr>Abstract(2/2)</vt:lpstr>
      <vt:lpstr>1 Introduction</vt:lpstr>
      <vt:lpstr>1 Introduction</vt:lpstr>
      <vt:lpstr>1 Introduction</vt:lpstr>
      <vt:lpstr>2 Benson’s LCSk/k+ algorithm</vt:lpstr>
      <vt:lpstr>2 Benson’s LCSk/k+ algorithm</vt:lpstr>
      <vt:lpstr>2 Benson’s LCSk/k+ algorithm</vt:lpstr>
      <vt:lpstr>3 Processing the Table Row by Row</vt:lpstr>
      <vt:lpstr>3 Processing the Table Row by Row</vt:lpstr>
      <vt:lpstr>4 LCSk by decoupling start and end points</vt:lpstr>
      <vt:lpstr>4 LCSk by decoupling start and end points</vt:lpstr>
      <vt:lpstr>4 LCSk by decoupling start and end points</vt:lpstr>
      <vt:lpstr>4 LCSk by decoupling start and end points</vt:lpstr>
      <vt:lpstr>5 Algorithm to compute LCSk+</vt:lpstr>
      <vt:lpstr>5 Algorithm to compute LCSk+</vt:lpstr>
      <vt:lpstr>5 Algorithm to compute LCSk+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pplab-class</cp:lastModifiedBy>
  <cp:revision>412</cp:revision>
  <dcterms:created xsi:type="dcterms:W3CDTF">2019-04-02T05:36:00Z</dcterms:created>
  <dcterms:modified xsi:type="dcterms:W3CDTF">2019-09-03T09:25:31Z</dcterms:modified>
</cp:coreProperties>
</file>