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77" r:id="rId4"/>
    <p:sldId id="278" r:id="rId5"/>
    <p:sldId id="280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9933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34" autoAdjust="0"/>
    <p:restoredTop sz="78307" autoAdjust="0"/>
  </p:normalViewPr>
  <p:slideViewPr>
    <p:cSldViewPr snapToGrid="0">
      <p:cViewPr>
        <p:scale>
          <a:sx n="100" d="100"/>
          <a:sy n="100" d="100"/>
        </p:scale>
        <p:origin x="-294" y="-8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1CE27-751F-48D9-A3E6-37B85B410D4A}" type="datetimeFigureOut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2EB79-9C15-4368-B725-BB8D0D1C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30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478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A826C-B827-48E7-923C-08C27A6D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EF732A0-EAAC-46F4-A2BD-7894166D6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E00B3F-FCF3-43A8-BA3C-83E3D27F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63CDD-1571-4D07-AD50-27DEDA2DAB08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DEB773-BC7F-471F-AAA2-C6E648DF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0BCD83-5310-40C3-8583-4562F766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597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FC2AA-8240-4810-8FED-A3DD62B5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4AF7A4-3700-4BCA-8788-5F4FBE9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D63DA6-083D-4C87-B46F-4639F5BA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0CF3-7BCB-4E41-A4BC-7F7C7D47433D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A96B28-A6B2-4CCD-A0A0-0FC8A9F2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F41030-E2A0-4DD7-A077-C86BB9D1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950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9C8D0-3EEB-43FA-AB9E-D0910F9C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C8DA04-C654-4A32-81E1-D1990594B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7C9000-9E5A-4894-8CE5-D814ED1F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863AD-E347-426A-B227-78A9B42781C3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87D9EE-8E3C-41CA-841E-E125FA8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02431B-5153-4936-B0EE-CABE36F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17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66F51-D3F0-406D-AAC3-01300BB0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BDAEA-0EC9-4BFC-B4DC-9A02E134E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943015-4729-44AB-B601-E3BFA2BA7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E55BE4-DE58-4CB4-A138-82C7FA95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F46-57F3-4B32-B3C0-034060244659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94F790-01BB-4A74-B31E-9E018137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1A38C2-FB38-4EF1-BEE9-C6127183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88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86871-0575-4B21-9333-0B96E286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CE8BC1-3B30-4676-AAB2-794442C2D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D19164-1E96-40EE-9246-AA1E65999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A06F7C1-0AF6-46DF-8CF5-44E8DBBE2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3B69BF-E2A2-49C3-B1F9-786966B06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164490-F37E-4BF2-B792-E41261B0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E6354-929A-48E4-A569-5065F8787DBB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D5587A-E829-42C8-831F-99414F49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9B54927-CA1D-4379-9562-EFDFDA5D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50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9C19A-DE44-4713-BF93-3D9F1FCB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67B964-A9EE-448C-A903-DF032F75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B07A-C303-4A11-829E-75A08D84F791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FBDCDA-948D-4D74-A9CB-BF0FDF28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F2C7E3-47A7-4611-B686-B56505F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07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5DC494-3175-4D2C-8019-6DC804B3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0FAA-EAB9-46FF-9B2E-6C03EFE0E627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61414F2-4AAB-4D3D-9B55-6D611E2C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27B6FE-1D54-44CF-9B02-7D4B222A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40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337AC-5890-4658-9633-0789FDA9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22CC54-BC45-47EE-96B0-B43A1D1B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C769566-CB0F-43CF-9358-EBC2CC4FB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19407D-C528-4858-9191-402D0B2E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5960-3F62-4BA7-8DEF-58213E9FC750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6CEE8D-E284-4A31-91E6-DED43608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8B0B4B-C516-4AA2-BB4B-78EB6C78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083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1F1C9-4A33-41F9-9A6C-C2CA32C4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E938834-CF9D-43C8-A12C-17090FA2F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33F49C-9EA4-4A17-8CB9-8793107C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917929-FFD5-45C6-AB7C-0A03F71D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95139-73A5-4D37-9F65-42DD6EFCB362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57C9B4-23F7-4ED4-B3ED-8BA7DAFF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8198A6-61AE-471E-87FA-7AAA5711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69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0126FA-CD86-4406-B2A6-385B5925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66ECCF-61AA-4623-A519-B8C19CE7C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64FCF-DA26-41B4-8919-89C752F2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B9CA-F34A-4005-B66B-4638821FBB36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B90C5E-07BB-4BDE-A6DE-837D4B32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20F850-672A-48DC-883D-88316666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706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F3BBB3C-AD7C-461A-B4F6-E1D3B7F36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38A6C4-FFF1-480E-A653-69B9EA56A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53E183-339D-4996-9336-DF360AFA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FA3D-57A8-4A36-8AB7-98D4B7F81A6B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8900FD-C0EE-4957-AD7C-2F848F09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7F8627-2565-4288-8ACC-D27B0394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1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278959-5364-4351-AC95-0854CBC4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FD0B26-27BA-4591-876F-81883746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EA749-A752-40EF-9A2F-1D5D321BD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CB9FC-3C71-41FD-914C-6EDD2F45F0F9}" type="datetime1">
              <a:rPr lang="zh-TW" altLang="en-US" smtClean="0"/>
              <a:t>2019/4/23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EBD8A3-AFAC-4E16-BF90-054E8ED74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23ABFF-0703-422A-93E4-68B89B878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612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00E22-8B2D-44A2-B529-2D5C521DF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614" y="588673"/>
            <a:ext cx="8644764" cy="1356957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Fast Exact Dynamic Time Warping on Run-Length Encoded</a:t>
            </a:r>
            <a:r>
              <a:rPr lang="zh-TW" altLang="en-US" sz="4000" dirty="0"/>
              <a:t> </a:t>
            </a:r>
            <a:r>
              <a:rPr lang="en-US" altLang="zh-TW" sz="4000" dirty="0"/>
              <a:t>Time Series</a:t>
            </a:r>
            <a:endParaRPr lang="zh-TW" altLang="en-US" sz="4000" dirty="0">
              <a:latin typeface="Tw Cen MT" panose="020B06020201040206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F7DB53-5192-4070-9ADE-B5C85E35C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332" y="2810596"/>
            <a:ext cx="11425330" cy="489557"/>
          </a:xfrm>
        </p:spPr>
        <p:txBody>
          <a:bodyPr>
            <a:noAutofit/>
          </a:bodyPr>
          <a:lstStyle/>
          <a:p>
            <a:r>
              <a:rPr lang="en-US" altLang="zh-TW" dirty="0"/>
              <a:t> Vincent Froese and </a:t>
            </a:r>
            <a:r>
              <a:rPr lang="en-US" altLang="zh-TW" dirty="0" err="1"/>
              <a:t>Brijnesh</a:t>
            </a:r>
            <a:r>
              <a:rPr lang="en-US" altLang="zh-TW" dirty="0"/>
              <a:t> Jain</a:t>
            </a:r>
            <a:br>
              <a:rPr lang="en-US" altLang="zh-TW" dirty="0"/>
            </a:br>
            <a:endParaRPr lang="zh-TW" altLang="en-US" sz="2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0F7494-AC7E-43FC-B731-082CA109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4568" y="6485003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CC60B4B8-BDE3-427A-B56B-7314F1C4CCA4}"/>
              </a:ext>
            </a:extLst>
          </p:cNvPr>
          <p:cNvSpPr txBox="1">
            <a:spLocks/>
          </p:cNvSpPr>
          <p:nvPr/>
        </p:nvSpPr>
        <p:spPr>
          <a:xfrm>
            <a:off x="526942" y="3584718"/>
            <a:ext cx="11138108" cy="100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chemeClr val="tx1"/>
                </a:solidFill>
              </a:rPr>
              <a:t>arXiv:1903.03003</a:t>
            </a:r>
          </a:p>
          <a:p>
            <a:r>
              <a:rPr lang="en-US" altLang="zh-TW" sz="2800" dirty="0">
                <a:solidFill>
                  <a:schemeClr val="tx1"/>
                </a:solidFill>
              </a:rPr>
              <a:t>March 9, 2019</a:t>
            </a: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F161951C-063C-40D4-A802-0FD8D23F3044}"/>
              </a:ext>
            </a:extLst>
          </p:cNvPr>
          <p:cNvSpPr txBox="1">
            <a:spLocks/>
          </p:cNvSpPr>
          <p:nvPr/>
        </p:nvSpPr>
        <p:spPr>
          <a:xfrm>
            <a:off x="1192823" y="5265553"/>
            <a:ext cx="9806355" cy="902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chemeClr val="tx1"/>
                </a:solidFill>
              </a:rPr>
              <a:t>Presenter: Shan-Ru Liu</a:t>
            </a:r>
          </a:p>
          <a:p>
            <a:r>
              <a:rPr lang="en-US" altLang="zh-TW" sz="2800" dirty="0">
                <a:solidFill>
                  <a:schemeClr val="tx1"/>
                </a:solidFill>
              </a:rPr>
              <a:t>Date: April 23, 2019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19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1E4FEA-D504-4984-8169-77A8B62C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A7BC5F-5DB6-4B6E-A263-D2C31A7A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950"/>
            <a:ext cx="9993284" cy="47874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dirty="0"/>
              <a:t>Dynamic Time Warping (DTW) is a well-known similarity measure for time series. The standard dynamic programming approach to compute the </a:t>
            </a:r>
            <a:r>
              <a:rPr lang="en-US" altLang="zh-TW" dirty="0" err="1"/>
              <a:t>dtw</a:t>
            </a:r>
            <a:r>
              <a:rPr lang="en-US" altLang="zh-TW" dirty="0"/>
              <a:t>-distance of two length-n time series, however, requires O(n</a:t>
            </a:r>
            <a:r>
              <a:rPr lang="en-US" altLang="zh-TW" baseline="30000" dirty="0"/>
              <a:t>2</a:t>
            </a:r>
            <a:r>
              <a:rPr lang="en-US" altLang="zh-TW" dirty="0"/>
              <a:t>) time, which is often too slow in applications. Therefore, many heuristics have been proposed to speed up the </a:t>
            </a:r>
            <a:r>
              <a:rPr lang="en-US" altLang="zh-TW" dirty="0" err="1"/>
              <a:t>dtw</a:t>
            </a:r>
            <a:r>
              <a:rPr lang="en-US" altLang="zh-TW" dirty="0"/>
              <a:t> computation. These are often based on approximating or bounding the true </a:t>
            </a:r>
            <a:r>
              <a:rPr lang="en-US" altLang="zh-TW" dirty="0" err="1"/>
              <a:t>dtw</a:t>
            </a:r>
            <a:r>
              <a:rPr lang="en-US" altLang="zh-TW" dirty="0"/>
              <a:t>-distance or considering special inputs (e.g. binary or piecewise constant time series).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8B9C12-508D-4AC0-A402-645B6EC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22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1E4FEA-D504-4984-8169-77A8B62C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A7BC5F-5DB6-4B6E-A263-D2C31A7A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950"/>
            <a:ext cx="9993284" cy="47874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dirty="0"/>
              <a:t>In this paper, we present a fast and exact algorithm to compute the </a:t>
            </a:r>
            <a:r>
              <a:rPr lang="en-US" altLang="zh-TW" dirty="0" err="1"/>
              <a:t>dtw</a:t>
            </a:r>
            <a:r>
              <a:rPr lang="en-US" altLang="zh-TW" dirty="0"/>
              <a:t>-distance of two run-length encoded time series. This might be used for fast and accurate indexing and classification of time series in combination with preprocessing techniques such as piecewise aggregate approximation (PAA).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8B9C12-508D-4AC0-A402-645B6EC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69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4B22BF-27EC-4C91-B1FA-D814A11A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Run-Length Encode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5E2E7B-B4CC-439D-9E79-0C2FF24D9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Two time series </a:t>
                </a:r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1,1,1,1,0,0,0,2,2,2,2,2,1,1,1,1,1</m:t>
                        </m:r>
                      </m:e>
                    </m:d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0,0,1,1,1,1,2,2,2,2,2,2,2,2,2,2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Two time series with run-length encodings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=(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0,3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2,5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1,5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=(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2,10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5E2E7B-B4CC-439D-9E79-0C2FF24D9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1F288A-2EBE-47B2-9435-7D3E894A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39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45E177-09C3-42D1-8D0D-AE77919E6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a local cost matrix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4F2AAF-F07E-43F7-AB67-2442CE449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018" y="1690690"/>
            <a:ext cx="4749812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8E0B2E-B9DF-4AFD-87C5-E466E803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78AE2D1-A7B8-46AE-8BA0-738FBC293030}"/>
              </a:ext>
            </a:extLst>
          </p:cNvPr>
          <p:cNvSpPr txBox="1"/>
          <p:nvPr/>
        </p:nvSpPr>
        <p:spPr>
          <a:xfrm>
            <a:off x="5844085" y="2474893"/>
            <a:ext cx="59267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Colors indicate the local costs (x</a:t>
            </a:r>
            <a:r>
              <a:rPr lang="en-US" altLang="zh-TW" sz="2800" baseline="-25000" dirty="0"/>
              <a:t>i</a:t>
            </a:r>
            <a:r>
              <a:rPr lang="en-US" altLang="zh-TW" sz="2800" dirty="0"/>
              <a:t>−</a:t>
            </a:r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j</a:t>
            </a:r>
            <a:r>
              <a:rPr lang="en-US" altLang="zh-TW" sz="2800" dirty="0"/>
              <a:t>)</a:t>
            </a:r>
            <a:r>
              <a:rPr lang="en-US" altLang="zh-TW" sz="2800" baseline="30000" dirty="0"/>
              <a:t>2</a:t>
            </a:r>
            <a:r>
              <a:rPr lang="en-US" altLang="zh-TW" sz="2800" dirty="0"/>
              <a:t> </a:t>
            </a:r>
          </a:p>
          <a:p>
            <a:r>
              <a:rPr lang="en-US" altLang="zh-TW" sz="2800" dirty="0"/>
              <a:t>(white = 0, light gray = 1, dark gray = 4)</a:t>
            </a:r>
          </a:p>
        </p:txBody>
      </p:sp>
    </p:spTree>
    <p:extLst>
      <p:ext uri="{BB962C8B-B14F-4D97-AF65-F5344CB8AC3E}">
        <p14:creationId xmlns:p14="http://schemas.microsoft.com/office/powerpoint/2010/main" val="183469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1CA4D-6FCA-4147-B311-9283411D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Filling the first m</a:t>
            </a:r>
            <a:r>
              <a:rPr lang="en-US" altLang="zh-TW" b="0" baseline="-25000" dirty="0"/>
              <a:t>1</a:t>
            </a:r>
            <a:r>
              <a:rPr lang="en-US" altLang="zh-TW" b="0" dirty="0"/>
              <a:t> columns of row r</a:t>
            </a:r>
            <a:r>
              <a:rPr lang="en-US" altLang="zh-TW" b="0" baseline="-25000" dirty="0"/>
              <a:t>1•</a:t>
            </a:r>
            <a:r>
              <a:rPr lang="en-US" altLang="zh-TW" b="0" dirty="0"/>
              <a:t> (1/2)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99CAFF-788F-418C-8E58-3EDE91FC6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09835"/>
            <a:ext cx="4407361" cy="272668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689FCB-77C5-4A15-907C-DAB837AA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1EC86D-E5FD-4BA3-B7FB-944953F7C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28" y="1761147"/>
            <a:ext cx="7955021" cy="102885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A9EFDB6-2465-4CEF-B7AE-012CD52BDF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03" r="8561"/>
          <a:stretch/>
        </p:blipFill>
        <p:spPr>
          <a:xfrm>
            <a:off x="5785174" y="4079513"/>
            <a:ext cx="2351601" cy="134328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D1D1622-0E76-4287-8896-7783A8BDE6D8}"/>
              </a:ext>
            </a:extLst>
          </p:cNvPr>
          <p:cNvSpPr txBox="1"/>
          <p:nvPr/>
        </p:nvSpPr>
        <p:spPr>
          <a:xfrm>
            <a:off x="5544764" y="4122746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baseline="-25000" dirty="0"/>
              <a:t>1•</a:t>
            </a:r>
            <a:endParaRPr lang="zh-TW" altLang="en-US" baseline="-25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E4EAE9-0431-4748-947F-BEE48C1AC0D8}"/>
              </a:ext>
            </a:extLst>
          </p:cNvPr>
          <p:cNvSpPr txBox="1"/>
          <p:nvPr/>
        </p:nvSpPr>
        <p:spPr>
          <a:xfrm>
            <a:off x="7698835" y="364550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r>
              <a:rPr lang="en-US" altLang="zh-TW" baseline="-25000" dirty="0"/>
              <a:t>•1</a:t>
            </a:r>
            <a:endParaRPr lang="zh-TW" altLang="en-US" baseline="-25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C918504-FC22-43BF-A2E0-AC2A00D0106C}"/>
              </a:ext>
            </a:extLst>
          </p:cNvPr>
          <p:cNvSpPr txBox="1"/>
          <p:nvPr/>
        </p:nvSpPr>
        <p:spPr>
          <a:xfrm>
            <a:off x="8316673" y="430741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r>
              <a:rPr lang="en-US" altLang="zh-TW" baseline="-25000" dirty="0"/>
              <a:t>1</a:t>
            </a:r>
            <a:r>
              <a:rPr lang="en-US" altLang="zh-TW" dirty="0"/>
              <a:t> = 2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9817D0-67B4-4BEC-80CB-A5AF4C79EBC9}"/>
              </a:ext>
            </a:extLst>
          </p:cNvPr>
          <p:cNvSpPr txBox="1"/>
          <p:nvPr/>
        </p:nvSpPr>
        <p:spPr>
          <a:xfrm>
            <a:off x="7006276" y="5411563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5D3B810-C711-4F80-8DA8-3068AC66ED30}"/>
              </a:ext>
            </a:extLst>
          </p:cNvPr>
          <p:cNvCxnSpPr/>
          <p:nvPr/>
        </p:nvCxnSpPr>
        <p:spPr>
          <a:xfrm flipV="1">
            <a:off x="7760580" y="4532146"/>
            <a:ext cx="314450" cy="3372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0F718F0-E152-4DE3-BF50-0941D5E379BE}"/>
              </a:ext>
            </a:extLst>
          </p:cNvPr>
          <p:cNvSpPr txBox="1"/>
          <p:nvPr/>
        </p:nvSpPr>
        <p:spPr>
          <a:xfrm>
            <a:off x="9219846" y="3753414"/>
            <a:ext cx="23065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R[1,1]= 1*max(2,1) = 2</a:t>
            </a:r>
          </a:p>
          <a:p>
            <a:r>
              <a:rPr lang="en-US" altLang="zh-TW" dirty="0"/>
              <a:t>R[1,2]= 1*max(2,2) = 2</a:t>
            </a:r>
            <a:endParaRPr lang="zh-TW" altLang="en-US" dirty="0"/>
          </a:p>
          <a:p>
            <a:r>
              <a:rPr lang="en-US" altLang="zh-TW" dirty="0"/>
              <a:t>R[1,3]= 1*max(2,3) = 3</a:t>
            </a:r>
          </a:p>
          <a:p>
            <a:r>
              <a:rPr lang="en-US" altLang="zh-TW" dirty="0"/>
              <a:t>R[1,4]= 1*max(2,4) = 4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0673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1CA4D-6FCA-4147-B311-9283411D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Filling the first m</a:t>
            </a:r>
            <a:r>
              <a:rPr lang="en-US" altLang="zh-TW" b="0" baseline="-25000" dirty="0"/>
              <a:t>1</a:t>
            </a:r>
            <a:r>
              <a:rPr lang="en-US" altLang="zh-TW" b="0" dirty="0"/>
              <a:t> columns of row r</a:t>
            </a:r>
            <a:r>
              <a:rPr lang="en-US" altLang="zh-TW" b="0" baseline="-25000" dirty="0"/>
              <a:t>1•</a:t>
            </a:r>
            <a:r>
              <a:rPr lang="en-US" altLang="zh-TW" b="0" dirty="0"/>
              <a:t> 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689FCB-77C5-4A15-907C-DAB837AA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B3FEF62-921C-44BA-B03B-ACEC7515F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429" y="3181074"/>
            <a:ext cx="4068674" cy="266351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9F348C7-294C-400B-B0DD-7FB5EC27C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369" y="2095876"/>
            <a:ext cx="8879377" cy="88379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E33C892-15D2-41AB-B80A-0B03A0B02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830" y="1574233"/>
            <a:ext cx="5170169" cy="3900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1B831C7-E867-4484-AC65-A693B678E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436" y="3645643"/>
            <a:ext cx="1696354" cy="228442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E3BEB13-A35A-4B30-BDC5-7BD335BEA6D0}"/>
              </a:ext>
            </a:extLst>
          </p:cNvPr>
          <p:cNvSpPr txBox="1"/>
          <p:nvPr/>
        </p:nvSpPr>
        <p:spPr>
          <a:xfrm>
            <a:off x="4728306" y="4916805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baseline="-25000" dirty="0"/>
              <a:t>1•</a:t>
            </a:r>
            <a:endParaRPr lang="zh-TW" altLang="en-US" baseline="-25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3C0250-79E6-4BE8-BB36-6EE12E6960BA}"/>
              </a:ext>
            </a:extLst>
          </p:cNvPr>
          <p:cNvSpPr txBox="1"/>
          <p:nvPr/>
        </p:nvSpPr>
        <p:spPr>
          <a:xfrm>
            <a:off x="4706139" y="3645643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baseline="-25000" dirty="0"/>
              <a:t>2•</a:t>
            </a:r>
            <a:endParaRPr lang="zh-TW" altLang="en-US" baseline="-25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EF1C96-C992-4224-9474-A1486B499FD6}"/>
              </a:ext>
            </a:extLst>
          </p:cNvPr>
          <p:cNvSpPr txBox="1"/>
          <p:nvPr/>
        </p:nvSpPr>
        <p:spPr>
          <a:xfrm>
            <a:off x="6337422" y="32443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r>
              <a:rPr lang="en-US" altLang="zh-TW" baseline="-25000" dirty="0"/>
              <a:t>•1</a:t>
            </a:r>
            <a:endParaRPr lang="zh-TW" altLang="en-US" baseline="-25000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B423B19-90DE-4139-B533-090E697B68B4}"/>
              </a:ext>
            </a:extLst>
          </p:cNvPr>
          <p:cNvCxnSpPr>
            <a:cxnSpLocks/>
          </p:cNvCxnSpPr>
          <p:nvPr/>
        </p:nvCxnSpPr>
        <p:spPr>
          <a:xfrm>
            <a:off x="5428476" y="5454761"/>
            <a:ext cx="1263534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A9C39B3-90A6-424D-B239-6CEA200200DA}"/>
              </a:ext>
            </a:extLst>
          </p:cNvPr>
          <p:cNvCxnSpPr>
            <a:cxnSpLocks/>
          </p:cNvCxnSpPr>
          <p:nvPr/>
        </p:nvCxnSpPr>
        <p:spPr>
          <a:xfrm flipH="1">
            <a:off x="6552140" y="4108857"/>
            <a:ext cx="4252" cy="80794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1C0E753-6DCD-4D07-A347-A6BF45C2A7B0}"/>
              </a:ext>
            </a:extLst>
          </p:cNvPr>
          <p:cNvSpPr txBox="1"/>
          <p:nvPr/>
        </p:nvSpPr>
        <p:spPr>
          <a:xfrm>
            <a:off x="6987149" y="401497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8566FDF-2838-435C-BCCF-C07DCD9D1B04}"/>
              </a:ext>
            </a:extLst>
          </p:cNvPr>
          <p:cNvSpPr txBox="1"/>
          <p:nvPr/>
        </p:nvSpPr>
        <p:spPr>
          <a:xfrm>
            <a:off x="5772177" y="5962043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2D3402F-D226-4A47-9796-16B0A6319B1A}"/>
              </a:ext>
            </a:extLst>
          </p:cNvPr>
          <p:cNvSpPr txBox="1"/>
          <p:nvPr/>
        </p:nvSpPr>
        <p:spPr>
          <a:xfrm>
            <a:off x="8095536" y="3555640"/>
            <a:ext cx="2271776" cy="230832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M= min(4,4+1) = 4</a:t>
            </a:r>
          </a:p>
          <a:p>
            <a:r>
              <a:rPr lang="en-US" altLang="zh-TW" dirty="0">
                <a:latin typeface="Angsana New" panose="02020603050405020304" pitchFamily="18" charset="-34"/>
                <a:cs typeface="Angsana New" panose="02020603050405020304" pitchFamily="18" charset="-34"/>
              </a:rPr>
              <a:t>δ = (1-1)</a:t>
            </a:r>
            <a:r>
              <a:rPr lang="en-US" altLang="zh-TW" baseline="30000" dirty="0"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en-US" altLang="zh-TW" dirty="0">
                <a:latin typeface="Angsana New" panose="02020603050405020304" pitchFamily="18" charset="-34"/>
                <a:cs typeface="Angsana New" panose="02020603050405020304" pitchFamily="18" charset="-34"/>
              </a:rPr>
              <a:t>= 0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R[2,1]= R[1,1]+4*0 = 2</a:t>
            </a:r>
          </a:p>
          <a:p>
            <a:r>
              <a:rPr lang="en-US" altLang="zh-TW" dirty="0"/>
              <a:t>R[2,2]= R[1,1]+4*0 = 2</a:t>
            </a:r>
            <a:endParaRPr lang="zh-TW" altLang="en-US" dirty="0"/>
          </a:p>
          <a:p>
            <a:r>
              <a:rPr lang="en-US" altLang="zh-TW" dirty="0"/>
              <a:t>R[2,3]= R[1,1]+4*0 = 2</a:t>
            </a:r>
          </a:p>
          <a:p>
            <a:r>
              <a:rPr lang="en-US" altLang="zh-TW" dirty="0"/>
              <a:t>R[2,4]= R[1,1]+4*0 = 2</a:t>
            </a:r>
            <a:endParaRPr lang="zh-TW" altLang="en-US" dirty="0"/>
          </a:p>
          <a:p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B059772-B9E5-4FAF-A97E-8D87A3DA1727}"/>
              </a:ext>
            </a:extLst>
          </p:cNvPr>
          <p:cNvCxnSpPr/>
          <p:nvPr/>
        </p:nvCxnSpPr>
        <p:spPr>
          <a:xfrm flipV="1">
            <a:off x="5553075" y="3914775"/>
            <a:ext cx="0" cy="12573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8A7C352A-2AA4-41EB-A599-5C0F9F52913D}"/>
              </a:ext>
            </a:extLst>
          </p:cNvPr>
          <p:cNvCxnSpPr>
            <a:cxnSpLocks/>
          </p:cNvCxnSpPr>
          <p:nvPr/>
        </p:nvCxnSpPr>
        <p:spPr>
          <a:xfrm flipV="1">
            <a:off x="5575242" y="3914775"/>
            <a:ext cx="959550" cy="12573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47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42AAC-E922-4426-86D7-AE173FC9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Filling columns a</a:t>
            </a:r>
            <a:r>
              <a:rPr lang="en-US" altLang="zh-TW" b="0" baseline="-25000" dirty="0"/>
              <a:t>l</a:t>
            </a:r>
            <a:r>
              <a:rPr lang="en-US" altLang="zh-TW" b="0" dirty="0"/>
              <a:t>−1 + 1, . . . , a</a:t>
            </a:r>
            <a:r>
              <a:rPr lang="en-US" altLang="zh-TW" b="0" baseline="-25000" dirty="0"/>
              <a:t>l</a:t>
            </a:r>
            <a:r>
              <a:rPr lang="en-US" altLang="zh-TW" b="0" dirty="0"/>
              <a:t> of row </a:t>
            </a:r>
            <a:r>
              <a:rPr lang="en-US" altLang="zh-TW" b="0" dirty="0" err="1"/>
              <a:t>r</a:t>
            </a:r>
            <a:r>
              <a:rPr lang="en-US" altLang="zh-TW" b="0" baseline="-25000" dirty="0" err="1"/>
              <a:t>i</a:t>
            </a:r>
            <a:r>
              <a:rPr lang="en-US" altLang="zh-TW" b="0" baseline="-25000" dirty="0"/>
              <a:t>•</a:t>
            </a:r>
            <a:r>
              <a:rPr lang="zh-TW" altLang="en-US" b="0" dirty="0"/>
              <a:t> </a:t>
            </a:r>
            <a:r>
              <a:rPr lang="en-US" altLang="zh-TW" b="0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2D01C2-B6FA-4B48-B027-9E316E98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FDBAE61-AE96-4CD0-8BE8-90C5660C4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555" y="4108287"/>
            <a:ext cx="5500445" cy="238458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81A3703-8C56-47D0-9F77-E6E7F134F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100" y="1475080"/>
            <a:ext cx="8063346" cy="239629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50EBF2C-BF6A-4D21-B3CC-65D05100C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185" y="4927021"/>
            <a:ext cx="2276994" cy="837515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7BE65C-25EB-4FF3-B043-06727C538F53}"/>
              </a:ext>
            </a:extLst>
          </p:cNvPr>
          <p:cNvSpPr txBox="1"/>
          <p:nvPr/>
        </p:nvSpPr>
        <p:spPr>
          <a:xfrm>
            <a:off x="6166143" y="4860519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baseline="-25000" dirty="0"/>
              <a:t>1•</a:t>
            </a:r>
            <a:endParaRPr lang="zh-TW" altLang="en-US" baseline="-25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7C41CFB-E948-41C6-BBC2-B6BFDD3DDB5A}"/>
              </a:ext>
            </a:extLst>
          </p:cNvPr>
          <p:cNvSpPr txBox="1"/>
          <p:nvPr/>
        </p:nvSpPr>
        <p:spPr>
          <a:xfrm>
            <a:off x="7584066" y="452443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r>
              <a:rPr lang="en-US" altLang="zh-TW" baseline="-25000" dirty="0"/>
              <a:t>•1</a:t>
            </a:r>
            <a:endParaRPr lang="zh-TW" altLang="en-US" baseline="-25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AF8B509-4167-4617-A55D-9E0EBFD352D3}"/>
              </a:ext>
            </a:extLst>
          </p:cNvPr>
          <p:cNvSpPr txBox="1"/>
          <p:nvPr/>
        </p:nvSpPr>
        <p:spPr>
          <a:xfrm>
            <a:off x="8451360" y="45410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r>
              <a:rPr lang="en-US" altLang="zh-TW" baseline="-25000" dirty="0"/>
              <a:t>•2</a:t>
            </a:r>
            <a:endParaRPr lang="zh-TW" altLang="en-US" baseline="-25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A52C793-8CB7-4D97-A073-DBBD2EF11855}"/>
              </a:ext>
            </a:extLst>
          </p:cNvPr>
          <p:cNvSpPr txBox="1"/>
          <p:nvPr/>
        </p:nvSpPr>
        <p:spPr>
          <a:xfrm>
            <a:off x="8871726" y="501358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r>
              <a:rPr lang="en-US" altLang="zh-TW" baseline="-25000" dirty="0"/>
              <a:t>1</a:t>
            </a:r>
            <a:r>
              <a:rPr lang="en-US" altLang="zh-TW" dirty="0"/>
              <a:t> = 2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963F377-C103-40B4-B75F-D03CA482032E}"/>
              </a:ext>
            </a:extLst>
          </p:cNvPr>
          <p:cNvSpPr txBox="1"/>
          <p:nvPr/>
        </p:nvSpPr>
        <p:spPr>
          <a:xfrm>
            <a:off x="7968444" y="5797787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 = 3</a:t>
            </a:r>
            <a:endParaRPr lang="zh-TW" altLang="en-US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68838CA-4E69-4A2E-BF0F-8548F18ADB90}"/>
              </a:ext>
            </a:extLst>
          </p:cNvPr>
          <p:cNvCxnSpPr>
            <a:cxnSpLocks/>
          </p:cNvCxnSpPr>
          <p:nvPr/>
        </p:nvCxnSpPr>
        <p:spPr>
          <a:xfrm>
            <a:off x="6891251" y="5382921"/>
            <a:ext cx="69281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00FCAB0-100C-4ABF-A061-44A14C8032C8}"/>
              </a:ext>
            </a:extLst>
          </p:cNvPr>
          <p:cNvCxnSpPr>
            <a:cxnSpLocks/>
          </p:cNvCxnSpPr>
          <p:nvPr/>
        </p:nvCxnSpPr>
        <p:spPr>
          <a:xfrm>
            <a:off x="6891250" y="5111372"/>
            <a:ext cx="69281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0E82FC7D-4677-400E-A418-F47455A44683}"/>
              </a:ext>
            </a:extLst>
          </p:cNvPr>
          <p:cNvCxnSpPr>
            <a:cxnSpLocks/>
          </p:cNvCxnSpPr>
          <p:nvPr/>
        </p:nvCxnSpPr>
        <p:spPr>
          <a:xfrm flipV="1">
            <a:off x="8520545" y="5288426"/>
            <a:ext cx="193514" cy="20628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93F8BD2-7A24-4E3C-AA98-42B5E97EAFE2}"/>
              </a:ext>
            </a:extLst>
          </p:cNvPr>
          <p:cNvSpPr txBox="1"/>
          <p:nvPr/>
        </p:nvSpPr>
        <p:spPr>
          <a:xfrm>
            <a:off x="9894450" y="4352688"/>
            <a:ext cx="21665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baseline="-25000" dirty="0"/>
              <a:t>2 </a:t>
            </a:r>
            <a:r>
              <a:rPr lang="en-US" altLang="zh-TW" dirty="0">
                <a:sym typeface="Symbol" panose="05050102010706020507" pitchFamily="18" charset="2"/>
              </a:rPr>
              <a:t> n</a:t>
            </a:r>
            <a:r>
              <a:rPr lang="en-US" altLang="zh-TW" baseline="-25000" dirty="0">
                <a:sym typeface="Symbol" panose="05050102010706020507" pitchFamily="18" charset="2"/>
              </a:rPr>
              <a:t>1</a:t>
            </a:r>
          </a:p>
          <a:p>
            <a:r>
              <a:rPr lang="en-US" altLang="zh-TW" dirty="0">
                <a:latin typeface="Angsana New" panose="02020603050405020304" pitchFamily="18" charset="-34"/>
                <a:cs typeface="Angsana New" panose="02020603050405020304" pitchFamily="18" charset="-34"/>
              </a:rPr>
              <a:t>δ = (1-1)</a:t>
            </a:r>
            <a:r>
              <a:rPr lang="en-US" altLang="zh-TW" baseline="30000" dirty="0"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en-US" altLang="zh-TW" dirty="0">
                <a:latin typeface="Angsana New" panose="02020603050405020304" pitchFamily="18" charset="-34"/>
                <a:cs typeface="Angsana New" panose="02020603050405020304" pitchFamily="18" charset="-34"/>
              </a:rPr>
              <a:t>= 0</a:t>
            </a:r>
            <a:endParaRPr lang="en-US" altLang="zh-TW" baseline="-25000" dirty="0">
              <a:sym typeface="Symbol" panose="05050102010706020507" pitchFamily="18" charset="2"/>
            </a:endParaRPr>
          </a:p>
          <a:p>
            <a:endParaRPr lang="en-US" altLang="zh-TW" dirty="0">
              <a:sym typeface="Symbol" panose="05050102010706020507" pitchFamily="18" charset="2"/>
            </a:endParaRPr>
          </a:p>
          <a:p>
            <a:r>
              <a:rPr lang="en-US" altLang="zh-TW" dirty="0">
                <a:sym typeface="Symbol" panose="05050102010706020507" pitchFamily="18" charset="2"/>
              </a:rPr>
              <a:t>R[1,5]=C[1,1]+1*0=4</a:t>
            </a:r>
          </a:p>
          <a:p>
            <a:r>
              <a:rPr lang="en-US" altLang="zh-TW" dirty="0">
                <a:sym typeface="Symbol" panose="05050102010706020507" pitchFamily="18" charset="2"/>
              </a:rPr>
              <a:t>R[1,6]=C[1,1]+2*0=4</a:t>
            </a:r>
          </a:p>
          <a:p>
            <a:r>
              <a:rPr lang="en-US" altLang="zh-TW" dirty="0">
                <a:sym typeface="Symbol" panose="05050102010706020507" pitchFamily="18" charset="2"/>
              </a:rPr>
              <a:t>R[1,7]=C[1,1]+3*0=4</a:t>
            </a: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BE31E84-B2D2-4FB1-BC0B-2F1BE9478E88}"/>
              </a:ext>
            </a:extLst>
          </p:cNvPr>
          <p:cNvCxnSpPr>
            <a:cxnSpLocks/>
          </p:cNvCxnSpPr>
          <p:nvPr/>
        </p:nvCxnSpPr>
        <p:spPr>
          <a:xfrm flipV="1">
            <a:off x="8039839" y="5112498"/>
            <a:ext cx="31565" cy="3375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670ED39C-0F0B-4C2A-9780-449BCEDF97C8}"/>
              </a:ext>
            </a:extLst>
          </p:cNvPr>
          <p:cNvCxnSpPr>
            <a:cxnSpLocks/>
          </p:cNvCxnSpPr>
          <p:nvPr/>
        </p:nvCxnSpPr>
        <p:spPr>
          <a:xfrm flipV="1">
            <a:off x="8307063" y="5127101"/>
            <a:ext cx="310239" cy="14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3D25ECDA-68D1-4F38-94EF-3385E7E08375}"/>
              </a:ext>
            </a:extLst>
          </p:cNvPr>
          <p:cNvCxnSpPr>
            <a:cxnSpLocks/>
          </p:cNvCxnSpPr>
          <p:nvPr/>
        </p:nvCxnSpPr>
        <p:spPr>
          <a:xfrm flipV="1">
            <a:off x="8071404" y="5117646"/>
            <a:ext cx="291791" cy="332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27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42AAC-E922-4426-86D7-AE173FC9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Filling columns a</a:t>
            </a:r>
            <a:r>
              <a:rPr lang="en-US" altLang="zh-TW" b="0" baseline="-25000" dirty="0"/>
              <a:t>l</a:t>
            </a:r>
            <a:r>
              <a:rPr lang="en-US" altLang="zh-TW" b="0" dirty="0"/>
              <a:t>−1 + 1, . . . , a</a:t>
            </a:r>
            <a:r>
              <a:rPr lang="en-US" altLang="zh-TW" b="0" baseline="-25000" dirty="0"/>
              <a:t>l</a:t>
            </a:r>
            <a:r>
              <a:rPr lang="en-US" altLang="zh-TW" b="0" dirty="0"/>
              <a:t> of row </a:t>
            </a:r>
            <a:r>
              <a:rPr lang="en-US" altLang="zh-TW" b="0" dirty="0" err="1"/>
              <a:t>r</a:t>
            </a:r>
            <a:r>
              <a:rPr lang="en-US" altLang="zh-TW" b="0" baseline="-25000" dirty="0" err="1"/>
              <a:t>i</a:t>
            </a:r>
            <a:r>
              <a:rPr lang="en-US" altLang="zh-TW" b="0" baseline="-25000" dirty="0"/>
              <a:t>•</a:t>
            </a:r>
            <a:r>
              <a:rPr lang="zh-TW" altLang="en-US" b="0" dirty="0"/>
              <a:t> </a:t>
            </a:r>
            <a:r>
              <a:rPr lang="en-US" altLang="zh-TW" b="0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2D01C2-B6FA-4B48-B027-9E316E98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9E2DA55-4150-45B6-A1E9-32262E7A7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5835" y="4254194"/>
            <a:ext cx="5067399" cy="205991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49CC4F8-59ED-4A03-937F-578261553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764" y="1614176"/>
            <a:ext cx="7423408" cy="23941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E1C56BE-B25C-4349-A578-DC8D9DD0C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630" y="4725284"/>
            <a:ext cx="1743075" cy="1466850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1D697DE-5BAD-4865-86D5-336D8D2CC869}"/>
              </a:ext>
            </a:extLst>
          </p:cNvPr>
          <p:cNvCxnSpPr>
            <a:cxnSpLocks/>
          </p:cNvCxnSpPr>
          <p:nvPr/>
        </p:nvCxnSpPr>
        <p:spPr>
          <a:xfrm>
            <a:off x="9603105" y="5121847"/>
            <a:ext cx="0" cy="6589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EB527580-1902-4B9B-817C-740509255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276" y="4725284"/>
            <a:ext cx="220589" cy="141944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6A39B39-E89F-4D59-BAAE-57DD82911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630" y="6287698"/>
            <a:ext cx="1714500" cy="18097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383095A6-7EFD-4764-B11B-59275EF011DA}"/>
              </a:ext>
            </a:extLst>
          </p:cNvPr>
          <p:cNvSpPr txBox="1"/>
          <p:nvPr/>
        </p:nvSpPr>
        <p:spPr>
          <a:xfrm>
            <a:off x="7186661" y="5780842"/>
            <a:ext cx="562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baseline="-25000" dirty="0"/>
              <a:t>1•</a:t>
            </a:r>
            <a:endParaRPr lang="zh-TW" altLang="en-US" baseline="-25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6C86FC8-F11C-491B-99CE-CF45A61F0C2B}"/>
              </a:ext>
            </a:extLst>
          </p:cNvPr>
          <p:cNvSpPr txBox="1"/>
          <p:nvPr/>
        </p:nvSpPr>
        <p:spPr>
          <a:xfrm>
            <a:off x="7181056" y="4588263"/>
            <a:ext cx="562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baseline="-25000" dirty="0"/>
              <a:t>2•</a:t>
            </a:r>
            <a:endParaRPr lang="zh-TW" altLang="en-US" baseline="-25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AC4B850-8BA0-4A55-B959-F1196BE6127A}"/>
              </a:ext>
            </a:extLst>
          </p:cNvPr>
          <p:cNvSpPr txBox="1"/>
          <p:nvPr/>
        </p:nvSpPr>
        <p:spPr>
          <a:xfrm>
            <a:off x="7968914" y="4218931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</a:t>
            </a:r>
            <a:r>
              <a:rPr lang="en-US" altLang="zh-TW" baseline="-25000" dirty="0"/>
              <a:t>•2</a:t>
            </a:r>
            <a:endParaRPr lang="zh-TW" altLang="en-US" baseline="-25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B7D89AC-BB18-4D8A-9D62-0E2DB1509F81}"/>
              </a:ext>
            </a:extLst>
          </p:cNvPr>
          <p:cNvSpPr txBox="1"/>
          <p:nvPr/>
        </p:nvSpPr>
        <p:spPr>
          <a:xfrm>
            <a:off x="9297896" y="4249120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</a:t>
            </a:r>
            <a:r>
              <a:rPr lang="en-US" altLang="zh-TW" baseline="-25000" dirty="0"/>
              <a:t>•3</a:t>
            </a:r>
            <a:endParaRPr lang="zh-TW" altLang="en-US" baseline="-250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EC9A389-726F-4401-980E-30EB94457AA8}"/>
              </a:ext>
            </a:extLst>
          </p:cNvPr>
          <p:cNvSpPr txBox="1"/>
          <p:nvPr/>
        </p:nvSpPr>
        <p:spPr>
          <a:xfrm>
            <a:off x="9815274" y="50892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C98CB10-7F7D-450B-B516-04416AA3E3AE}"/>
              </a:ext>
            </a:extLst>
          </p:cNvPr>
          <p:cNvSpPr txBox="1"/>
          <p:nvPr/>
        </p:nvSpPr>
        <p:spPr>
          <a:xfrm>
            <a:off x="8731073" y="6488668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baseline="-25000" dirty="0"/>
              <a:t>3</a:t>
            </a:r>
            <a:r>
              <a:rPr lang="en-US" altLang="zh-TW" dirty="0"/>
              <a:t> = 5</a:t>
            </a:r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E3D9BBEA-6D4B-4AC9-BA78-A44F65793E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011" y="1311961"/>
            <a:ext cx="49530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69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6CA73-E4CA-4126-BCC2-DA367CED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D624C6-3EF7-40BD-8C77-3DAF9895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Time complexity : O(</a:t>
            </a:r>
            <a:r>
              <a:rPr lang="en-US" altLang="zh-TW" dirty="0" err="1"/>
              <a:t>mn</a:t>
            </a:r>
            <a:r>
              <a:rPr lang="en-US" altLang="zh-TW" dirty="0"/>
              <a:t>) -&gt; O(</a:t>
            </a:r>
            <a:r>
              <a:rPr lang="en-US" altLang="zh-TW" dirty="0" err="1"/>
              <a:t>kn+lm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Space complexity: O(</a:t>
            </a:r>
            <a:r>
              <a:rPr lang="en-US" altLang="zh-TW" dirty="0" err="1"/>
              <a:t>mn</a:t>
            </a:r>
            <a:r>
              <a:rPr lang="en-US" altLang="zh-TW" dirty="0"/>
              <a:t>) -&gt;</a:t>
            </a:r>
            <a:r>
              <a:rPr lang="zh-TW" altLang="en-US" dirty="0"/>
              <a:t> </a:t>
            </a:r>
            <a:r>
              <a:rPr lang="en-US" altLang="zh-TW" dirty="0"/>
              <a:t>O(</a:t>
            </a:r>
            <a:r>
              <a:rPr lang="en-US" altLang="zh-TW" dirty="0" err="1"/>
              <a:t>m+n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6A3B2E-E002-459D-BE59-E51731C9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63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u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28040</TotalTime>
  <Words>549</Words>
  <Application>Microsoft Office PowerPoint</Application>
  <PresentationFormat>寬螢幕</PresentationFormat>
  <Paragraphs>77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Angsana New</vt:lpstr>
      <vt:lpstr>Arial</vt:lpstr>
      <vt:lpstr>Calibri</vt:lpstr>
      <vt:lpstr>Cambria Math</vt:lpstr>
      <vt:lpstr>Tw Cen MT</vt:lpstr>
      <vt:lpstr>Office 佈景主題</vt:lpstr>
      <vt:lpstr>Fast Exact Dynamic Time Warping on Run-Length Encoded Time Series</vt:lpstr>
      <vt:lpstr>Abstract (1/2)</vt:lpstr>
      <vt:lpstr>Abstract (1/2)</vt:lpstr>
      <vt:lpstr>Run-Length Encode</vt:lpstr>
      <vt:lpstr>Example of a local cost matrix</vt:lpstr>
      <vt:lpstr>Filling the first m1 columns of row r1• (1/2)</vt:lpstr>
      <vt:lpstr>Filling the first m1 columns of row r1• (2/2)</vt:lpstr>
      <vt:lpstr>Filling columns al−1 + 1, . . . , al of row ri• (1/2)</vt:lpstr>
      <vt:lpstr>Filling columns al−1 + 1, . . . , al of row ri• (2/2)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 blind biosignal classification model</dc:title>
  <dc:creator>喵owo</dc:creator>
  <cp:lastModifiedBy>M063040030</cp:lastModifiedBy>
  <cp:revision>578</cp:revision>
  <dcterms:created xsi:type="dcterms:W3CDTF">2017-10-09T09:38:00Z</dcterms:created>
  <dcterms:modified xsi:type="dcterms:W3CDTF">2019-04-23T11:26:55Z</dcterms:modified>
</cp:coreProperties>
</file>