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6" r:id="rId2"/>
    <p:sldId id="257" r:id="rId3"/>
    <p:sldId id="258" r:id="rId4"/>
    <p:sldId id="288" r:id="rId5"/>
    <p:sldId id="289" r:id="rId6"/>
    <p:sldId id="292" r:id="rId7"/>
    <p:sldId id="295" r:id="rId8"/>
    <p:sldId id="296" r:id="rId9"/>
    <p:sldId id="293" r:id="rId10"/>
    <p:sldId id="291" r:id="rId11"/>
    <p:sldId id="294" r:id="rId12"/>
    <p:sldId id="277" r:id="rId13"/>
    <p:sldId id="278" r:id="rId14"/>
    <p:sldId id="279" r:id="rId15"/>
    <p:sldId id="280" r:id="rId16"/>
    <p:sldId id="281" r:id="rId17"/>
    <p:sldId id="285"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50" autoAdjust="0"/>
    <p:restoredTop sz="79741" autoAdjust="0"/>
  </p:normalViewPr>
  <p:slideViewPr>
    <p:cSldViewPr snapToGrid="0">
      <p:cViewPr varScale="1">
        <p:scale>
          <a:sx n="69" d="100"/>
          <a:sy n="69" d="100"/>
        </p:scale>
        <p:origin x="1195" y="38"/>
      </p:cViewPr>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投影片編號版面配置區 4">
            <a:extLst>
              <a:ext uri="{FF2B5EF4-FFF2-40B4-BE49-F238E27FC236}">
                <a16:creationId xmlns:a16="http://schemas.microsoft.com/office/drawing/2014/main" id="{8DE3D63E-ED49-4D7E-8867-5402EFEDA3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9E957D7-6998-44F0-8EFD-129034B48C23}" type="slidenum">
              <a:rPr lang="zh-TW" altLang="en-US" smtClean="0"/>
              <a:t>‹#›</a:t>
            </a:fld>
            <a:endParaRPr lang="zh-TW" altLang="en-US"/>
          </a:p>
        </p:txBody>
      </p:sp>
    </p:spTree>
    <p:extLst>
      <p:ext uri="{BB962C8B-B14F-4D97-AF65-F5344CB8AC3E}">
        <p14:creationId xmlns:p14="http://schemas.microsoft.com/office/powerpoint/2010/main" val="1854445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EA978-E737-40E5-8864-39E2E87DFE56}" type="datetimeFigureOut">
              <a:rPr lang="zh-TW" altLang="en-US" smtClean="0"/>
              <a:t>2019/4/23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7F998F-39E5-4E28-B0C3-37396970755F}" type="slidenum">
              <a:rPr lang="zh-TW" altLang="en-US" smtClean="0"/>
              <a:t>‹#›</a:t>
            </a:fld>
            <a:endParaRPr lang="zh-TW" altLang="en-US"/>
          </a:p>
        </p:txBody>
      </p:sp>
    </p:spTree>
    <p:extLst>
      <p:ext uri="{BB962C8B-B14F-4D97-AF65-F5344CB8AC3E}">
        <p14:creationId xmlns:p14="http://schemas.microsoft.com/office/powerpoint/2010/main" val="3501703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TW"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1</a:t>
            </a:fld>
            <a:endParaRPr lang="zh-TW" altLang="en-US"/>
          </a:p>
        </p:txBody>
      </p:sp>
    </p:spTree>
    <p:extLst>
      <p:ext uri="{BB962C8B-B14F-4D97-AF65-F5344CB8AC3E}">
        <p14:creationId xmlns:p14="http://schemas.microsoft.com/office/powerpoint/2010/main" val="1910138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2</a:t>
            </a:fld>
            <a:endParaRPr lang="zh-TW" altLang="en-US"/>
          </a:p>
        </p:txBody>
      </p:sp>
    </p:spTree>
    <p:extLst>
      <p:ext uri="{BB962C8B-B14F-4D97-AF65-F5344CB8AC3E}">
        <p14:creationId xmlns:p14="http://schemas.microsoft.com/office/powerpoint/2010/main" val="2516467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3</a:t>
            </a:fld>
            <a:endParaRPr lang="zh-TW" altLang="en-US"/>
          </a:p>
        </p:txBody>
      </p:sp>
    </p:spTree>
    <p:extLst>
      <p:ext uri="{BB962C8B-B14F-4D97-AF65-F5344CB8AC3E}">
        <p14:creationId xmlns:p14="http://schemas.microsoft.com/office/powerpoint/2010/main" val="3634989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4</a:t>
            </a:fld>
            <a:endParaRPr lang="zh-TW" altLang="en-US"/>
          </a:p>
        </p:txBody>
      </p:sp>
    </p:spTree>
    <p:extLst>
      <p:ext uri="{BB962C8B-B14F-4D97-AF65-F5344CB8AC3E}">
        <p14:creationId xmlns:p14="http://schemas.microsoft.com/office/powerpoint/2010/main" val="1000999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5</a:t>
            </a:fld>
            <a:endParaRPr lang="zh-TW" altLang="en-US"/>
          </a:p>
        </p:txBody>
      </p:sp>
    </p:spTree>
    <p:extLst>
      <p:ext uri="{BB962C8B-B14F-4D97-AF65-F5344CB8AC3E}">
        <p14:creationId xmlns:p14="http://schemas.microsoft.com/office/powerpoint/2010/main" val="3052325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6</a:t>
            </a:fld>
            <a:endParaRPr lang="zh-TW" altLang="en-US"/>
          </a:p>
        </p:txBody>
      </p:sp>
    </p:spTree>
    <p:extLst>
      <p:ext uri="{BB962C8B-B14F-4D97-AF65-F5344CB8AC3E}">
        <p14:creationId xmlns:p14="http://schemas.microsoft.com/office/powerpoint/2010/main" val="1391422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9</a:t>
            </a:fld>
            <a:endParaRPr lang="zh-TW" altLang="en-US"/>
          </a:p>
        </p:txBody>
      </p:sp>
    </p:spTree>
    <p:extLst>
      <p:ext uri="{BB962C8B-B14F-4D97-AF65-F5344CB8AC3E}">
        <p14:creationId xmlns:p14="http://schemas.microsoft.com/office/powerpoint/2010/main" val="1159307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10</a:t>
            </a:fld>
            <a:endParaRPr lang="zh-TW" altLang="en-US"/>
          </a:p>
        </p:txBody>
      </p:sp>
    </p:spTree>
    <p:extLst>
      <p:ext uri="{BB962C8B-B14F-4D97-AF65-F5344CB8AC3E}">
        <p14:creationId xmlns:p14="http://schemas.microsoft.com/office/powerpoint/2010/main" val="18389879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11</a:t>
            </a:fld>
            <a:endParaRPr lang="zh-TW" altLang="en-US"/>
          </a:p>
        </p:txBody>
      </p:sp>
    </p:spTree>
    <p:extLst>
      <p:ext uri="{BB962C8B-B14F-4D97-AF65-F5344CB8AC3E}">
        <p14:creationId xmlns:p14="http://schemas.microsoft.com/office/powerpoint/2010/main" val="972627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A26C46-D0C2-4B38-8A04-667613125F65}"/>
              </a:ext>
            </a:extLst>
          </p:cNvPr>
          <p:cNvSpPr>
            <a:spLocks noGrp="1"/>
          </p:cNvSpPr>
          <p:nvPr>
            <p:ph type="ctrTitle" hasCustomPrompt="1"/>
          </p:nvPr>
        </p:nvSpPr>
        <p:spPr>
          <a:xfrm>
            <a:off x="1524000" y="1122363"/>
            <a:ext cx="9144000" cy="2387600"/>
          </a:xfrm>
        </p:spPr>
        <p:txBody>
          <a:bodyPr anchor="b"/>
          <a:lstStyle>
            <a:lvl1pPr algn="ctr">
              <a:defRPr sz="6000"/>
            </a:lvl1pPr>
          </a:lstStyle>
          <a:p>
            <a:pPr algn="ctr"/>
            <a:r>
              <a:rPr lang="en-US" altLang="zh-TW" sz="6000" dirty="0"/>
              <a:t>Inception-v4,</a:t>
            </a:r>
            <a:r>
              <a:rPr lang="zh-TW" altLang="en-US" sz="6000" dirty="0"/>
              <a:t> </a:t>
            </a:r>
            <a:r>
              <a:rPr lang="en-US" altLang="zh-TW" sz="6000" dirty="0"/>
              <a:t>Inception-</a:t>
            </a:r>
            <a:r>
              <a:rPr lang="en-US" altLang="zh-TW" sz="6000" dirty="0" err="1"/>
              <a:t>ResNet</a:t>
            </a:r>
            <a:r>
              <a:rPr lang="zh-TW" altLang="en-US" sz="6000" dirty="0"/>
              <a:t> </a:t>
            </a:r>
            <a:r>
              <a:rPr lang="en-US" altLang="zh-TW" sz="6000" dirty="0"/>
              <a:t>and the</a:t>
            </a:r>
            <a:r>
              <a:rPr lang="zh-TW" altLang="en-US" sz="6000" dirty="0"/>
              <a:t> </a:t>
            </a:r>
            <a:r>
              <a:rPr lang="en-US" altLang="zh-TW" sz="6000" dirty="0"/>
              <a:t>Impact</a:t>
            </a:r>
            <a:r>
              <a:rPr lang="zh-TW" altLang="en-US" sz="6000" dirty="0"/>
              <a:t> </a:t>
            </a:r>
            <a:r>
              <a:rPr lang="en-US" altLang="zh-TW" sz="6000" dirty="0"/>
              <a:t>of</a:t>
            </a:r>
            <a:r>
              <a:rPr lang="zh-TW" altLang="en-US" sz="6000" dirty="0"/>
              <a:t> </a:t>
            </a:r>
            <a:r>
              <a:rPr lang="en-US" altLang="zh-TW" sz="6000" dirty="0"/>
              <a:t>Residual</a:t>
            </a:r>
            <a:r>
              <a:rPr lang="zh-TW" altLang="en-US" sz="6000" dirty="0"/>
              <a:t> </a:t>
            </a:r>
            <a:r>
              <a:rPr lang="en-US" altLang="zh-TW" sz="6000" dirty="0"/>
              <a:t>Connections on</a:t>
            </a:r>
            <a:r>
              <a:rPr lang="zh-TW" altLang="en-US" sz="6000" dirty="0"/>
              <a:t> </a:t>
            </a:r>
            <a:r>
              <a:rPr lang="en-US" altLang="zh-TW" sz="6000" dirty="0"/>
              <a:t>Learning</a:t>
            </a:r>
          </a:p>
        </p:txBody>
      </p:sp>
      <p:sp>
        <p:nvSpPr>
          <p:cNvPr id="3" name="副標題 2">
            <a:extLst>
              <a:ext uri="{FF2B5EF4-FFF2-40B4-BE49-F238E27FC236}">
                <a16:creationId xmlns:a16="http://schemas.microsoft.com/office/drawing/2014/main" id="{8696A7FC-CF28-4579-BC74-610A32CF58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B2C6E288-DD27-4113-B6F7-DD4F3944F7AD}"/>
              </a:ext>
            </a:extLst>
          </p:cNvPr>
          <p:cNvSpPr>
            <a:spLocks noGrp="1"/>
          </p:cNvSpPr>
          <p:nvPr>
            <p:ph type="dt" sz="half" idx="10"/>
          </p:nvPr>
        </p:nvSpPr>
        <p:spPr/>
        <p:txBody>
          <a:bodyPr/>
          <a:lstStyle/>
          <a:p>
            <a:fld id="{9516F5E9-A161-4F7E-8227-15CB11B54BE5}" type="datetimeFigureOut">
              <a:rPr lang="zh-TW" altLang="en-US" smtClean="0"/>
              <a:t>2019/4/23</a:t>
            </a:fld>
            <a:endParaRPr lang="zh-TW" altLang="en-US"/>
          </a:p>
        </p:txBody>
      </p:sp>
      <p:sp>
        <p:nvSpPr>
          <p:cNvPr id="5" name="頁尾版面配置區 4">
            <a:extLst>
              <a:ext uri="{FF2B5EF4-FFF2-40B4-BE49-F238E27FC236}">
                <a16:creationId xmlns:a16="http://schemas.microsoft.com/office/drawing/2014/main" id="{EFB0A3A0-D31F-474E-9349-609AC727685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23F3CDA-AD1A-40A6-9C8D-642369690FE7}"/>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702767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EBDB89-794A-4CE8-AB36-695FA6BD6D4E}"/>
              </a:ext>
            </a:extLst>
          </p:cNvPr>
          <p:cNvSpPr>
            <a:spLocks noGrp="1"/>
          </p:cNvSpPr>
          <p:nvPr>
            <p:ph type="title" hasCustomPrompt="1"/>
          </p:nvPr>
        </p:nvSpPr>
        <p:spPr/>
        <p:txBody>
          <a:bodyPr/>
          <a:lstStyle>
            <a:lvl1pPr>
              <a:defRPr/>
            </a:lvl1pPr>
          </a:lstStyle>
          <a:p>
            <a:pPr algn="ctr"/>
            <a:r>
              <a:rPr lang="en-US" altLang="zh-TW" sz="4400" dirty="0"/>
              <a:t>Inception-v4,</a:t>
            </a:r>
            <a:r>
              <a:rPr lang="zh-TW" altLang="en-US" sz="4400" dirty="0"/>
              <a:t> </a:t>
            </a:r>
            <a:r>
              <a:rPr lang="en-US" altLang="zh-TW" sz="4400" dirty="0"/>
              <a:t>Inception-</a:t>
            </a:r>
            <a:r>
              <a:rPr lang="en-US" altLang="zh-TW" sz="4400" dirty="0" err="1"/>
              <a:t>ResNet</a:t>
            </a:r>
            <a:r>
              <a:rPr lang="zh-TW" altLang="en-US" sz="4400" dirty="0"/>
              <a:t> </a:t>
            </a:r>
            <a:r>
              <a:rPr lang="en-US" altLang="zh-TW" sz="4400" dirty="0"/>
              <a:t>and the</a:t>
            </a:r>
            <a:r>
              <a:rPr lang="zh-TW" altLang="en-US" sz="4400" dirty="0"/>
              <a:t> </a:t>
            </a:r>
            <a:r>
              <a:rPr lang="en-US" altLang="zh-TW" sz="4400" dirty="0"/>
              <a:t>Impact</a:t>
            </a:r>
            <a:r>
              <a:rPr lang="zh-TW" altLang="en-US" sz="4400" dirty="0"/>
              <a:t> </a:t>
            </a:r>
            <a:r>
              <a:rPr lang="en-US" altLang="zh-TW" sz="4400" dirty="0"/>
              <a:t>of</a:t>
            </a:r>
            <a:r>
              <a:rPr lang="zh-TW" altLang="en-US" sz="4400" dirty="0"/>
              <a:t> </a:t>
            </a:r>
            <a:r>
              <a:rPr lang="en-US" altLang="zh-TW" sz="4400" dirty="0"/>
              <a:t>Residual</a:t>
            </a:r>
            <a:r>
              <a:rPr lang="zh-TW" altLang="en-US" sz="4400" dirty="0"/>
              <a:t> </a:t>
            </a:r>
            <a:r>
              <a:rPr lang="en-US" altLang="zh-TW" sz="4400" dirty="0"/>
              <a:t>Connections on</a:t>
            </a:r>
            <a:r>
              <a:rPr lang="zh-TW" altLang="en-US" sz="4400" dirty="0"/>
              <a:t> </a:t>
            </a:r>
            <a:r>
              <a:rPr lang="en-US" altLang="zh-TW" sz="4400" dirty="0"/>
              <a:t>Learning</a:t>
            </a:r>
          </a:p>
        </p:txBody>
      </p:sp>
      <p:sp>
        <p:nvSpPr>
          <p:cNvPr id="3" name="內容版面配置區 2">
            <a:extLst>
              <a:ext uri="{FF2B5EF4-FFF2-40B4-BE49-F238E27FC236}">
                <a16:creationId xmlns:a16="http://schemas.microsoft.com/office/drawing/2014/main" id="{EB355D9C-ACD8-4D02-92FE-DE58E61C017B}"/>
              </a:ext>
            </a:extLst>
          </p:cNvPr>
          <p:cNvSpPr>
            <a:spLocks noGrp="1"/>
          </p:cNvSpPr>
          <p:nvPr>
            <p:ph idx="1" hasCustomPrompt="1"/>
          </p:nvPr>
        </p:nvSpPr>
        <p:spPr/>
        <p:txBody>
          <a:bodyPr/>
          <a:lstStyle>
            <a:lvl1pPr>
              <a:defRPr/>
            </a:lvl1pPr>
          </a:lstStyle>
          <a:p>
            <a:pPr algn="ctr"/>
            <a:r>
              <a:rPr lang="en-US" altLang="zh-TW" sz="2800" dirty="0"/>
              <a:t>Inception-v4,</a:t>
            </a:r>
            <a:r>
              <a:rPr lang="zh-TW" altLang="en-US" sz="2800" dirty="0"/>
              <a:t> </a:t>
            </a:r>
            <a:r>
              <a:rPr lang="en-US" altLang="zh-TW" sz="2800" dirty="0"/>
              <a:t>Inception-</a:t>
            </a:r>
            <a:r>
              <a:rPr lang="en-US" altLang="zh-TW" sz="2800" dirty="0" err="1"/>
              <a:t>ResNet</a:t>
            </a:r>
            <a:r>
              <a:rPr lang="zh-TW" altLang="en-US" sz="2800" dirty="0"/>
              <a:t> </a:t>
            </a:r>
            <a:r>
              <a:rPr lang="en-US" altLang="zh-TW" sz="2800" dirty="0"/>
              <a:t>and the</a:t>
            </a:r>
            <a:r>
              <a:rPr lang="zh-TW" altLang="en-US" sz="2800" dirty="0"/>
              <a:t> </a:t>
            </a:r>
            <a:r>
              <a:rPr lang="en-US" altLang="zh-TW" sz="2800" dirty="0"/>
              <a:t>Impact</a:t>
            </a:r>
            <a:r>
              <a:rPr lang="zh-TW" altLang="en-US" sz="2800" dirty="0"/>
              <a:t> </a:t>
            </a:r>
            <a:r>
              <a:rPr lang="en-US" altLang="zh-TW" sz="2800" dirty="0"/>
              <a:t>of</a:t>
            </a:r>
            <a:r>
              <a:rPr lang="zh-TW" altLang="en-US" sz="2800" dirty="0"/>
              <a:t> </a:t>
            </a:r>
            <a:r>
              <a:rPr lang="en-US" altLang="zh-TW" sz="2800" dirty="0"/>
              <a:t>Residual</a:t>
            </a:r>
            <a:r>
              <a:rPr lang="zh-TW" altLang="en-US" sz="2800" dirty="0"/>
              <a:t> </a:t>
            </a:r>
            <a:r>
              <a:rPr lang="en-US" altLang="zh-TW" sz="2800" dirty="0"/>
              <a:t>Connections on</a:t>
            </a:r>
            <a:r>
              <a:rPr lang="zh-TW" altLang="en-US" sz="2800" dirty="0"/>
              <a:t> </a:t>
            </a:r>
            <a:r>
              <a:rPr lang="en-US" altLang="zh-TW" sz="2800" dirty="0"/>
              <a:t>Learning</a:t>
            </a:r>
          </a:p>
          <a:p>
            <a:pPr lvl="4"/>
            <a:endParaRPr lang="zh-TW" altLang="en-US" dirty="0"/>
          </a:p>
        </p:txBody>
      </p:sp>
      <p:sp>
        <p:nvSpPr>
          <p:cNvPr id="4" name="日期版面配置區 3">
            <a:extLst>
              <a:ext uri="{FF2B5EF4-FFF2-40B4-BE49-F238E27FC236}">
                <a16:creationId xmlns:a16="http://schemas.microsoft.com/office/drawing/2014/main" id="{E14533FF-8DFC-4215-8621-E079E0E0C6B8}"/>
              </a:ext>
            </a:extLst>
          </p:cNvPr>
          <p:cNvSpPr>
            <a:spLocks noGrp="1"/>
          </p:cNvSpPr>
          <p:nvPr>
            <p:ph type="dt" sz="half" idx="10"/>
          </p:nvPr>
        </p:nvSpPr>
        <p:spPr/>
        <p:txBody>
          <a:bodyPr/>
          <a:lstStyle/>
          <a:p>
            <a:fld id="{9516F5E9-A161-4F7E-8227-15CB11B54BE5}" type="datetimeFigureOut">
              <a:rPr lang="zh-TW" altLang="en-US" smtClean="0"/>
              <a:t>2019/4/23</a:t>
            </a:fld>
            <a:endParaRPr lang="zh-TW" altLang="en-US"/>
          </a:p>
        </p:txBody>
      </p:sp>
      <p:sp>
        <p:nvSpPr>
          <p:cNvPr id="5" name="頁尾版面配置區 4">
            <a:extLst>
              <a:ext uri="{FF2B5EF4-FFF2-40B4-BE49-F238E27FC236}">
                <a16:creationId xmlns:a16="http://schemas.microsoft.com/office/drawing/2014/main" id="{0F5AF5C5-4D3D-4B57-8AD6-10D2C77E8F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9515229-E48F-43C7-83FD-26EC70D3A5CF}"/>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690211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1B7635-2C67-4B5F-B633-DE0A6674A10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74DF3E2-EB35-4698-9CCF-D80288D1DA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534EB538-7C2A-4CAB-82F5-CA3240F4E502}"/>
              </a:ext>
            </a:extLst>
          </p:cNvPr>
          <p:cNvSpPr>
            <a:spLocks noGrp="1"/>
          </p:cNvSpPr>
          <p:nvPr>
            <p:ph type="dt" sz="half" idx="10"/>
          </p:nvPr>
        </p:nvSpPr>
        <p:spPr/>
        <p:txBody>
          <a:bodyPr/>
          <a:lstStyle/>
          <a:p>
            <a:fld id="{9516F5E9-A161-4F7E-8227-15CB11B54BE5}" type="datetimeFigureOut">
              <a:rPr lang="zh-TW" altLang="en-US" smtClean="0"/>
              <a:t>2019/4/23</a:t>
            </a:fld>
            <a:endParaRPr lang="zh-TW" altLang="en-US"/>
          </a:p>
        </p:txBody>
      </p:sp>
      <p:sp>
        <p:nvSpPr>
          <p:cNvPr id="5" name="頁尾版面配置區 4">
            <a:extLst>
              <a:ext uri="{FF2B5EF4-FFF2-40B4-BE49-F238E27FC236}">
                <a16:creationId xmlns:a16="http://schemas.microsoft.com/office/drawing/2014/main" id="{F4C302FB-35CA-41FD-A10F-FC0DD69C39B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7CEC10E-9E91-4967-8F39-826CDE439C3C}"/>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236531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52A850-6DCA-42A6-ACB7-A13657B8AAC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3BAFDB8-FB0E-4F58-958B-1D9824F647E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8EDCE71-D1BF-471D-9DFE-8FCDC7D6720E}"/>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D9EBE791-BD89-45CD-9728-D389BB316219}"/>
              </a:ext>
            </a:extLst>
          </p:cNvPr>
          <p:cNvSpPr>
            <a:spLocks noGrp="1"/>
          </p:cNvSpPr>
          <p:nvPr>
            <p:ph type="dt" sz="half" idx="10"/>
          </p:nvPr>
        </p:nvSpPr>
        <p:spPr/>
        <p:txBody>
          <a:bodyPr/>
          <a:lstStyle/>
          <a:p>
            <a:fld id="{9516F5E9-A161-4F7E-8227-15CB11B54BE5}" type="datetimeFigureOut">
              <a:rPr lang="zh-TW" altLang="en-US" smtClean="0"/>
              <a:t>2019/4/23</a:t>
            </a:fld>
            <a:endParaRPr lang="zh-TW" altLang="en-US"/>
          </a:p>
        </p:txBody>
      </p:sp>
      <p:sp>
        <p:nvSpPr>
          <p:cNvPr id="6" name="頁尾版面配置區 5">
            <a:extLst>
              <a:ext uri="{FF2B5EF4-FFF2-40B4-BE49-F238E27FC236}">
                <a16:creationId xmlns:a16="http://schemas.microsoft.com/office/drawing/2014/main" id="{DF1989AF-5EE3-4C62-AFC1-48071A50416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3AD171-B164-46A3-ACE4-5A4588DE4EBE}"/>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298275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56E3CD-9E81-449C-964D-C3AE690F6C1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33DB46E-F8D2-4AD5-8C6D-174A15CCF6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FC900BFE-FCA7-45BF-A6E3-3849877BAC92}"/>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EFAA5323-9AAC-44CC-9039-6D896FDA9F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DF3E0D19-8D65-429B-867C-99B0C7A2A58D}"/>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E7D6A61-05EC-4F52-B753-19D1ED295D5A}"/>
              </a:ext>
            </a:extLst>
          </p:cNvPr>
          <p:cNvSpPr>
            <a:spLocks noGrp="1"/>
          </p:cNvSpPr>
          <p:nvPr>
            <p:ph type="dt" sz="half" idx="10"/>
          </p:nvPr>
        </p:nvSpPr>
        <p:spPr/>
        <p:txBody>
          <a:bodyPr/>
          <a:lstStyle/>
          <a:p>
            <a:fld id="{9516F5E9-A161-4F7E-8227-15CB11B54BE5}" type="datetimeFigureOut">
              <a:rPr lang="zh-TW" altLang="en-US" smtClean="0"/>
              <a:t>2019/4/23</a:t>
            </a:fld>
            <a:endParaRPr lang="zh-TW" altLang="en-US"/>
          </a:p>
        </p:txBody>
      </p:sp>
      <p:sp>
        <p:nvSpPr>
          <p:cNvPr id="8" name="頁尾版面配置區 7">
            <a:extLst>
              <a:ext uri="{FF2B5EF4-FFF2-40B4-BE49-F238E27FC236}">
                <a16:creationId xmlns:a16="http://schemas.microsoft.com/office/drawing/2014/main" id="{E9F13DBC-FB1E-496C-A620-D2BC47148A7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CFD43FB8-3CB1-40E5-9850-0A010B5BEA38}"/>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1567142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F5786E-467E-4BB0-B2DA-E5FB8EEEA3F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74C4EA2-83A3-43CE-A98A-0CCBACA8F292}"/>
              </a:ext>
            </a:extLst>
          </p:cNvPr>
          <p:cNvSpPr>
            <a:spLocks noGrp="1"/>
          </p:cNvSpPr>
          <p:nvPr>
            <p:ph type="dt" sz="half" idx="10"/>
          </p:nvPr>
        </p:nvSpPr>
        <p:spPr/>
        <p:txBody>
          <a:bodyPr/>
          <a:lstStyle/>
          <a:p>
            <a:fld id="{9516F5E9-A161-4F7E-8227-15CB11B54BE5}" type="datetimeFigureOut">
              <a:rPr lang="zh-TW" altLang="en-US" smtClean="0"/>
              <a:t>2019/4/23</a:t>
            </a:fld>
            <a:endParaRPr lang="zh-TW" altLang="en-US"/>
          </a:p>
        </p:txBody>
      </p:sp>
      <p:sp>
        <p:nvSpPr>
          <p:cNvPr id="4" name="頁尾版面配置區 3">
            <a:extLst>
              <a:ext uri="{FF2B5EF4-FFF2-40B4-BE49-F238E27FC236}">
                <a16:creationId xmlns:a16="http://schemas.microsoft.com/office/drawing/2014/main" id="{F8901214-6687-4452-BC6E-31C56AC8060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8D80292-6BB7-4ADF-9ECD-60E137EBFBAA}"/>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51560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443BF5F-86C6-434F-B7E0-6808B578AF98}"/>
              </a:ext>
            </a:extLst>
          </p:cNvPr>
          <p:cNvSpPr>
            <a:spLocks noGrp="1"/>
          </p:cNvSpPr>
          <p:nvPr>
            <p:ph type="dt" sz="half" idx="10"/>
          </p:nvPr>
        </p:nvSpPr>
        <p:spPr/>
        <p:txBody>
          <a:bodyPr/>
          <a:lstStyle/>
          <a:p>
            <a:fld id="{9516F5E9-A161-4F7E-8227-15CB11B54BE5}" type="datetimeFigureOut">
              <a:rPr lang="zh-TW" altLang="en-US" smtClean="0"/>
              <a:t>2019/4/23</a:t>
            </a:fld>
            <a:endParaRPr lang="zh-TW" altLang="en-US"/>
          </a:p>
        </p:txBody>
      </p:sp>
      <p:sp>
        <p:nvSpPr>
          <p:cNvPr id="3" name="頁尾版面配置區 2">
            <a:extLst>
              <a:ext uri="{FF2B5EF4-FFF2-40B4-BE49-F238E27FC236}">
                <a16:creationId xmlns:a16="http://schemas.microsoft.com/office/drawing/2014/main" id="{B3B3AD15-105B-4FC3-AC21-9641BDAC583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27818F38-1B71-447F-9564-B81F209BA222}"/>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
        <p:nvSpPr>
          <p:cNvPr id="5" name="標題 4">
            <a:extLst>
              <a:ext uri="{FF2B5EF4-FFF2-40B4-BE49-F238E27FC236}">
                <a16:creationId xmlns:a16="http://schemas.microsoft.com/office/drawing/2014/main" id="{BEE2DA72-19CB-4313-BF78-8672CB13F3C8}"/>
              </a:ext>
            </a:extLst>
          </p:cNvPr>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700504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3" name="日期版面配置區 2">
            <a:extLst>
              <a:ext uri="{FF2B5EF4-FFF2-40B4-BE49-F238E27FC236}">
                <a16:creationId xmlns:a16="http://schemas.microsoft.com/office/drawing/2014/main" id="{9047244B-BFDF-4F36-BBD0-22A3D39FD098}"/>
              </a:ext>
            </a:extLst>
          </p:cNvPr>
          <p:cNvSpPr>
            <a:spLocks noGrp="1"/>
          </p:cNvSpPr>
          <p:nvPr>
            <p:ph type="dt" sz="half" idx="10"/>
          </p:nvPr>
        </p:nvSpPr>
        <p:spPr/>
        <p:txBody>
          <a:bodyPr/>
          <a:lstStyle/>
          <a:p>
            <a:fld id="{9516F5E9-A161-4F7E-8227-15CB11B54BE5}" type="datetimeFigureOut">
              <a:rPr lang="zh-TW" altLang="en-US" smtClean="0"/>
              <a:t>2019/4/23</a:t>
            </a:fld>
            <a:endParaRPr lang="zh-TW" altLang="en-US"/>
          </a:p>
        </p:txBody>
      </p:sp>
      <p:sp>
        <p:nvSpPr>
          <p:cNvPr id="4" name="頁尾版面配置區 3">
            <a:extLst>
              <a:ext uri="{FF2B5EF4-FFF2-40B4-BE49-F238E27FC236}">
                <a16:creationId xmlns:a16="http://schemas.microsoft.com/office/drawing/2014/main" id="{6AF92A0C-D083-4C91-9540-F32B21ACE37A}"/>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3783A3B-3529-409C-A336-4F875A77C0B9}"/>
              </a:ext>
            </a:extLst>
          </p:cNvPr>
          <p:cNvSpPr>
            <a:spLocks noGrp="1"/>
          </p:cNvSpPr>
          <p:nvPr>
            <p:ph type="sldNum" sz="quarter" idx="12"/>
          </p:nvPr>
        </p:nvSpPr>
        <p:spPr/>
        <p:txBody>
          <a:bodyPr/>
          <a:lstStyle/>
          <a:p>
            <a:r>
              <a:rPr lang="zh-TW" altLang="en-US"/>
              <a:t>題目</a:t>
            </a:r>
            <a:endParaRPr lang="zh-TW" altLang="en-US" dirty="0"/>
          </a:p>
        </p:txBody>
      </p:sp>
    </p:spTree>
    <p:extLst>
      <p:ext uri="{BB962C8B-B14F-4D97-AF65-F5344CB8AC3E}">
        <p14:creationId xmlns:p14="http://schemas.microsoft.com/office/powerpoint/2010/main" val="3040817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E71BDE-3C86-4D85-A91A-0C327B7E25D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57129F5-F019-4EBB-A25D-BEB2D17ABF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796812B-AE4D-44A9-BF5B-FFE96F39E4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3F166050-82C5-4644-9E42-83C5662F55E5}"/>
              </a:ext>
            </a:extLst>
          </p:cNvPr>
          <p:cNvSpPr>
            <a:spLocks noGrp="1"/>
          </p:cNvSpPr>
          <p:nvPr>
            <p:ph type="dt" sz="half" idx="10"/>
          </p:nvPr>
        </p:nvSpPr>
        <p:spPr/>
        <p:txBody>
          <a:bodyPr/>
          <a:lstStyle/>
          <a:p>
            <a:fld id="{9516F5E9-A161-4F7E-8227-15CB11B54BE5}" type="datetimeFigureOut">
              <a:rPr lang="zh-TW" altLang="en-US" smtClean="0"/>
              <a:t>2019/4/23</a:t>
            </a:fld>
            <a:endParaRPr lang="zh-TW" altLang="en-US"/>
          </a:p>
        </p:txBody>
      </p:sp>
      <p:sp>
        <p:nvSpPr>
          <p:cNvPr id="6" name="頁尾版面配置區 5">
            <a:extLst>
              <a:ext uri="{FF2B5EF4-FFF2-40B4-BE49-F238E27FC236}">
                <a16:creationId xmlns:a16="http://schemas.microsoft.com/office/drawing/2014/main" id="{DBEB40FC-9F77-4C91-B89E-EAC4E95418A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7FB4B68-3BDB-43EA-9E04-D8EAD722DC2B}"/>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4289493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1580DA-6254-468B-9CFE-B25750B25D5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F957F645-620B-4A08-BA0C-2941F4D860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5F39D3C-E300-49A2-976B-E6CD983C7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5388065-1E1B-41E6-9E04-08417E9CA9F7}"/>
              </a:ext>
            </a:extLst>
          </p:cNvPr>
          <p:cNvSpPr>
            <a:spLocks noGrp="1"/>
          </p:cNvSpPr>
          <p:nvPr>
            <p:ph type="dt" sz="half" idx="10"/>
          </p:nvPr>
        </p:nvSpPr>
        <p:spPr/>
        <p:txBody>
          <a:bodyPr/>
          <a:lstStyle/>
          <a:p>
            <a:fld id="{9516F5E9-A161-4F7E-8227-15CB11B54BE5}" type="datetimeFigureOut">
              <a:rPr lang="zh-TW" altLang="en-US" smtClean="0"/>
              <a:t>2019/4/23</a:t>
            </a:fld>
            <a:endParaRPr lang="zh-TW" altLang="en-US"/>
          </a:p>
        </p:txBody>
      </p:sp>
      <p:sp>
        <p:nvSpPr>
          <p:cNvPr id="6" name="頁尾版面配置區 5">
            <a:extLst>
              <a:ext uri="{FF2B5EF4-FFF2-40B4-BE49-F238E27FC236}">
                <a16:creationId xmlns:a16="http://schemas.microsoft.com/office/drawing/2014/main" id="{B2B2ADC8-34C8-40FF-8AE6-3F1CC0C990A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9EA9464-CACA-4A71-86D7-9E2C9D08CA4D}"/>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42686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FF4E2B-6B0C-4896-BC2F-11BE3B9087E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D501112A-1FBE-4682-B37E-A328CB3A77DD}"/>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137BC29-3592-4F0B-A50C-9655C9B6AB90}"/>
              </a:ext>
            </a:extLst>
          </p:cNvPr>
          <p:cNvSpPr>
            <a:spLocks noGrp="1"/>
          </p:cNvSpPr>
          <p:nvPr>
            <p:ph type="dt" sz="half" idx="10"/>
          </p:nvPr>
        </p:nvSpPr>
        <p:spPr/>
        <p:txBody>
          <a:bodyPr/>
          <a:lstStyle/>
          <a:p>
            <a:fld id="{9516F5E9-A161-4F7E-8227-15CB11B54BE5}" type="datetimeFigureOut">
              <a:rPr lang="zh-TW" altLang="en-US" smtClean="0"/>
              <a:t>2019/4/23</a:t>
            </a:fld>
            <a:endParaRPr lang="zh-TW" altLang="en-US"/>
          </a:p>
        </p:txBody>
      </p:sp>
      <p:sp>
        <p:nvSpPr>
          <p:cNvPr id="5" name="頁尾版面配置區 4">
            <a:extLst>
              <a:ext uri="{FF2B5EF4-FFF2-40B4-BE49-F238E27FC236}">
                <a16:creationId xmlns:a16="http://schemas.microsoft.com/office/drawing/2014/main" id="{7B9A55B6-82BB-4FB0-A273-AD7C1DC7843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2C7894-3FCD-414D-9BB4-7847CA2FA1FD}"/>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772502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2E544434-5D2F-4B0D-9ED1-56B4D4FE9BD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DCC4A77-67E4-42D7-930B-28BC9A0B9E4D}"/>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E0AC741-A57F-4A06-BBBA-E770840299E1}"/>
              </a:ext>
            </a:extLst>
          </p:cNvPr>
          <p:cNvSpPr>
            <a:spLocks noGrp="1"/>
          </p:cNvSpPr>
          <p:nvPr>
            <p:ph type="dt" sz="half" idx="10"/>
          </p:nvPr>
        </p:nvSpPr>
        <p:spPr/>
        <p:txBody>
          <a:bodyPr/>
          <a:lstStyle/>
          <a:p>
            <a:fld id="{9516F5E9-A161-4F7E-8227-15CB11B54BE5}" type="datetimeFigureOut">
              <a:rPr lang="zh-TW" altLang="en-US" smtClean="0"/>
              <a:t>2019/4/23</a:t>
            </a:fld>
            <a:endParaRPr lang="zh-TW" altLang="en-US"/>
          </a:p>
        </p:txBody>
      </p:sp>
      <p:sp>
        <p:nvSpPr>
          <p:cNvPr id="5" name="頁尾版面配置區 4">
            <a:extLst>
              <a:ext uri="{FF2B5EF4-FFF2-40B4-BE49-F238E27FC236}">
                <a16:creationId xmlns:a16="http://schemas.microsoft.com/office/drawing/2014/main" id="{CCB7C003-D59F-45CF-A10A-EBBFB156E4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251B9BD-6658-4E84-971B-BFC05738DB56}"/>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16303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D5D394F-0282-4C9F-8398-410567349D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algn="ctr"/>
            <a:r>
              <a:rPr lang="en-US" altLang="zh-TW" sz="4400" dirty="0"/>
              <a:t>Inception-v4,</a:t>
            </a:r>
            <a:r>
              <a:rPr lang="zh-TW" altLang="en-US" sz="4400" dirty="0"/>
              <a:t> </a:t>
            </a:r>
            <a:r>
              <a:rPr lang="en-US" altLang="zh-TW" sz="4400" dirty="0"/>
              <a:t>Inception-</a:t>
            </a:r>
            <a:r>
              <a:rPr lang="en-US" altLang="zh-TW" sz="4400" dirty="0" err="1"/>
              <a:t>ResNet</a:t>
            </a:r>
            <a:r>
              <a:rPr lang="zh-TW" altLang="en-US" sz="4400" dirty="0"/>
              <a:t> </a:t>
            </a:r>
            <a:r>
              <a:rPr lang="en-US" altLang="zh-TW" sz="4400" dirty="0"/>
              <a:t>and the</a:t>
            </a:r>
            <a:r>
              <a:rPr lang="zh-TW" altLang="en-US" sz="4400" dirty="0"/>
              <a:t> </a:t>
            </a:r>
            <a:r>
              <a:rPr lang="en-US" altLang="zh-TW" sz="4400" dirty="0"/>
              <a:t>Impact</a:t>
            </a:r>
            <a:r>
              <a:rPr lang="zh-TW" altLang="en-US" sz="4400" dirty="0"/>
              <a:t> </a:t>
            </a:r>
            <a:r>
              <a:rPr lang="en-US" altLang="zh-TW" sz="4400" dirty="0"/>
              <a:t>of</a:t>
            </a:r>
            <a:r>
              <a:rPr lang="zh-TW" altLang="en-US" sz="4400" dirty="0"/>
              <a:t> </a:t>
            </a:r>
            <a:r>
              <a:rPr lang="en-US" altLang="zh-TW" sz="4400" dirty="0"/>
              <a:t>Residual</a:t>
            </a:r>
            <a:r>
              <a:rPr lang="zh-TW" altLang="en-US" sz="4400" dirty="0"/>
              <a:t> </a:t>
            </a:r>
            <a:r>
              <a:rPr lang="en-US" altLang="zh-TW" sz="4400" dirty="0"/>
              <a:t>Connections on</a:t>
            </a:r>
            <a:r>
              <a:rPr lang="zh-TW" altLang="en-US" sz="4400" dirty="0"/>
              <a:t> </a:t>
            </a:r>
            <a:r>
              <a:rPr lang="en-US" altLang="zh-TW" sz="4400" dirty="0"/>
              <a:t>Learning</a:t>
            </a:r>
          </a:p>
        </p:txBody>
      </p:sp>
      <p:sp>
        <p:nvSpPr>
          <p:cNvPr id="3" name="文字版面配置區 2">
            <a:extLst>
              <a:ext uri="{FF2B5EF4-FFF2-40B4-BE49-F238E27FC236}">
                <a16:creationId xmlns:a16="http://schemas.microsoft.com/office/drawing/2014/main" id="{182102D4-0F3D-47CB-AA62-F36DB98E4B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6871246-AE1D-4613-995F-569583A45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16F5E9-A161-4F7E-8227-15CB11B54BE5}" type="datetimeFigureOut">
              <a:rPr lang="zh-TW" altLang="en-US" smtClean="0"/>
              <a:t>2019/4/23</a:t>
            </a:fld>
            <a:endParaRPr lang="zh-TW" altLang="en-US"/>
          </a:p>
        </p:txBody>
      </p:sp>
      <p:sp>
        <p:nvSpPr>
          <p:cNvPr id="5" name="頁尾版面配置區 4">
            <a:extLst>
              <a:ext uri="{FF2B5EF4-FFF2-40B4-BE49-F238E27FC236}">
                <a16:creationId xmlns:a16="http://schemas.microsoft.com/office/drawing/2014/main" id="{C3A19071-CFE5-4F2F-9F76-8900809E78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4224D7B-415F-4E25-A807-CEE7D9CD27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TW" altLang="en-US" dirty="0"/>
              <a:t>題目</a:t>
            </a:r>
          </a:p>
        </p:txBody>
      </p:sp>
    </p:spTree>
    <p:extLst>
      <p:ext uri="{BB962C8B-B14F-4D97-AF65-F5344CB8AC3E}">
        <p14:creationId xmlns:p14="http://schemas.microsoft.com/office/powerpoint/2010/main" val="3618432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75B0156-9AD4-4A08-8BF7-F7E716BC2005}"/>
              </a:ext>
            </a:extLst>
          </p:cNvPr>
          <p:cNvSpPr/>
          <p:nvPr/>
        </p:nvSpPr>
        <p:spPr>
          <a:xfrm>
            <a:off x="-150185" y="327817"/>
            <a:ext cx="12492369" cy="2677656"/>
          </a:xfrm>
          <a:prstGeom prst="rect">
            <a:avLst/>
          </a:prstGeom>
        </p:spPr>
        <p:txBody>
          <a:bodyPr wrap="square">
            <a:spAutoFit/>
          </a:bodyPr>
          <a:lstStyle/>
          <a:p>
            <a:pPr algn="ctr"/>
            <a:r>
              <a:rPr lang="en-US" altLang="zh-TW" sz="5400" dirty="0"/>
              <a:t>Inception-v4,</a:t>
            </a:r>
            <a:r>
              <a:rPr lang="zh-TW" altLang="en-US" sz="5400" dirty="0"/>
              <a:t> </a:t>
            </a:r>
            <a:r>
              <a:rPr lang="en-US" altLang="zh-TW" sz="5400" dirty="0"/>
              <a:t>Inception-</a:t>
            </a:r>
            <a:r>
              <a:rPr lang="en-US" altLang="zh-TW" sz="5400" dirty="0" err="1"/>
              <a:t>ResNet</a:t>
            </a:r>
            <a:r>
              <a:rPr lang="zh-TW" altLang="en-US" sz="5400" dirty="0"/>
              <a:t> </a:t>
            </a:r>
            <a:r>
              <a:rPr lang="en-US" altLang="zh-TW" sz="5400" dirty="0"/>
              <a:t>and the</a:t>
            </a:r>
            <a:r>
              <a:rPr lang="zh-TW" altLang="en-US" sz="5400" dirty="0"/>
              <a:t> </a:t>
            </a:r>
            <a:r>
              <a:rPr lang="en-US" altLang="zh-TW" sz="5400" dirty="0"/>
              <a:t>Impact</a:t>
            </a:r>
            <a:r>
              <a:rPr lang="zh-TW" altLang="en-US" sz="5400" dirty="0"/>
              <a:t> </a:t>
            </a:r>
            <a:r>
              <a:rPr lang="en-US" altLang="zh-TW" sz="5400" dirty="0"/>
              <a:t>of</a:t>
            </a:r>
            <a:r>
              <a:rPr lang="zh-TW" altLang="en-US" sz="5400" dirty="0"/>
              <a:t> </a:t>
            </a:r>
            <a:r>
              <a:rPr lang="en-US" altLang="zh-TW" sz="5400" dirty="0"/>
              <a:t>Residual</a:t>
            </a:r>
            <a:r>
              <a:rPr lang="zh-TW" altLang="en-US" sz="5400" dirty="0"/>
              <a:t> </a:t>
            </a:r>
            <a:r>
              <a:rPr lang="en-US" altLang="zh-TW" sz="5400" dirty="0"/>
              <a:t>Connections on</a:t>
            </a:r>
            <a:r>
              <a:rPr lang="zh-TW" altLang="en-US" sz="5400" dirty="0"/>
              <a:t> </a:t>
            </a:r>
            <a:r>
              <a:rPr lang="en-US" altLang="zh-TW" sz="5400" dirty="0"/>
              <a:t>Learning</a:t>
            </a:r>
          </a:p>
          <a:p>
            <a:pPr algn="ctr"/>
            <a:r>
              <a:rPr lang="en-US" altLang="zh-TW" sz="6000" dirty="0"/>
              <a:t> </a:t>
            </a:r>
            <a:endParaRPr lang="zh-TW" altLang="en-US" dirty="0"/>
          </a:p>
        </p:txBody>
      </p:sp>
      <p:sp>
        <p:nvSpPr>
          <p:cNvPr id="3" name="矩形 2">
            <a:extLst>
              <a:ext uri="{FF2B5EF4-FFF2-40B4-BE49-F238E27FC236}">
                <a16:creationId xmlns:a16="http://schemas.microsoft.com/office/drawing/2014/main" id="{4F253964-4333-4642-9684-0AEB002C9A3E}"/>
              </a:ext>
            </a:extLst>
          </p:cNvPr>
          <p:cNvSpPr/>
          <p:nvPr/>
        </p:nvSpPr>
        <p:spPr>
          <a:xfrm>
            <a:off x="368562" y="2679016"/>
            <a:ext cx="12343828" cy="584775"/>
          </a:xfrm>
          <a:prstGeom prst="rect">
            <a:avLst/>
          </a:prstGeom>
        </p:spPr>
        <p:txBody>
          <a:bodyPr wrap="square">
            <a:spAutoFit/>
          </a:bodyPr>
          <a:lstStyle/>
          <a:p>
            <a:r>
              <a:rPr lang="en-US" altLang="zh-TW" sz="3200" dirty="0"/>
              <a:t>Christian </a:t>
            </a:r>
            <a:r>
              <a:rPr lang="en-US" altLang="zh-TW" sz="3200" dirty="0" err="1"/>
              <a:t>Szegedy</a:t>
            </a:r>
            <a:r>
              <a:rPr lang="en-US" altLang="zh-TW" sz="3200" dirty="0"/>
              <a:t>, Sergey </a:t>
            </a:r>
            <a:r>
              <a:rPr lang="en-US" altLang="zh-TW" sz="3200" dirty="0" err="1"/>
              <a:t>Ioffe</a:t>
            </a:r>
            <a:r>
              <a:rPr lang="en-US" altLang="zh-TW" sz="3200" dirty="0"/>
              <a:t>, Vincent </a:t>
            </a:r>
            <a:r>
              <a:rPr lang="en-US" altLang="zh-TW" sz="3200" dirty="0" err="1"/>
              <a:t>Vanhoucke</a:t>
            </a:r>
            <a:r>
              <a:rPr lang="en-US" altLang="zh-TW" sz="3200" dirty="0"/>
              <a:t>, Alexander A. Alemi</a:t>
            </a:r>
            <a:endParaRPr lang="zh-TW" altLang="en-US" sz="3200" dirty="0"/>
          </a:p>
        </p:txBody>
      </p:sp>
      <p:sp>
        <p:nvSpPr>
          <p:cNvPr id="4" name="矩形 3">
            <a:extLst>
              <a:ext uri="{FF2B5EF4-FFF2-40B4-BE49-F238E27FC236}">
                <a16:creationId xmlns:a16="http://schemas.microsoft.com/office/drawing/2014/main" id="{86AD574A-1A01-44E2-AA65-BEB4B4206B23}"/>
              </a:ext>
            </a:extLst>
          </p:cNvPr>
          <p:cNvSpPr/>
          <p:nvPr/>
        </p:nvSpPr>
        <p:spPr>
          <a:xfrm>
            <a:off x="706243" y="3592228"/>
            <a:ext cx="11392829" cy="1015663"/>
          </a:xfrm>
          <a:prstGeom prst="rect">
            <a:avLst/>
          </a:prstGeom>
        </p:spPr>
        <p:txBody>
          <a:bodyPr wrap="square">
            <a:spAutoFit/>
          </a:bodyPr>
          <a:lstStyle/>
          <a:p>
            <a:r>
              <a:rPr lang="en-US" altLang="zh-TW" sz="2800" dirty="0"/>
              <a:t>Proceedings of the 31st AAAI </a:t>
            </a:r>
            <a:r>
              <a:rPr lang="en-US" altLang="zh-TW" sz="3200" dirty="0"/>
              <a:t>Conference</a:t>
            </a:r>
            <a:r>
              <a:rPr lang="en-US" altLang="zh-TW" sz="2800" dirty="0"/>
              <a:t> on Artificial Intelligence</a:t>
            </a:r>
          </a:p>
          <a:p>
            <a:r>
              <a:rPr lang="en-US" altLang="zh-TW" sz="2800" dirty="0"/>
              <a:t>February 4–9,2017 at the Hilton San Francisco, San Francisco, California, USA</a:t>
            </a:r>
          </a:p>
        </p:txBody>
      </p:sp>
      <p:sp>
        <p:nvSpPr>
          <p:cNvPr id="5" name="矩形 4">
            <a:extLst>
              <a:ext uri="{FF2B5EF4-FFF2-40B4-BE49-F238E27FC236}">
                <a16:creationId xmlns:a16="http://schemas.microsoft.com/office/drawing/2014/main" id="{E8029974-43D5-45D0-B929-5463BA243FDA}"/>
              </a:ext>
            </a:extLst>
          </p:cNvPr>
          <p:cNvSpPr/>
          <p:nvPr/>
        </p:nvSpPr>
        <p:spPr>
          <a:xfrm>
            <a:off x="8541786" y="5883852"/>
            <a:ext cx="6096000" cy="646331"/>
          </a:xfrm>
          <a:prstGeom prst="rect">
            <a:avLst/>
          </a:prstGeom>
        </p:spPr>
        <p:txBody>
          <a:bodyPr>
            <a:spAutoFit/>
          </a:bodyPr>
          <a:lstStyle/>
          <a:p>
            <a:r>
              <a:rPr lang="en-US" altLang="zh-TW" dirty="0">
                <a:latin typeface="Times New Roman" panose="02020603050405020304" pitchFamily="18" charset="0"/>
                <a:cs typeface="Times New Roman" panose="02020603050405020304" pitchFamily="18" charset="0"/>
              </a:rPr>
              <a:t>Presenter : Chia-Lin, Chen</a:t>
            </a:r>
          </a:p>
          <a:p>
            <a:r>
              <a:rPr lang="en-US" altLang="zh-TW" dirty="0">
                <a:latin typeface="Times New Roman" panose="02020603050405020304" pitchFamily="18" charset="0"/>
                <a:cs typeface="Times New Roman" panose="02020603050405020304" pitchFamily="18" charset="0"/>
              </a:rPr>
              <a:t>April 23, 2019</a:t>
            </a:r>
          </a:p>
        </p:txBody>
      </p:sp>
    </p:spTree>
    <p:extLst>
      <p:ext uri="{BB962C8B-B14F-4D97-AF65-F5344CB8AC3E}">
        <p14:creationId xmlns:p14="http://schemas.microsoft.com/office/powerpoint/2010/main" val="2601768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C741B37-929F-4A16-98E0-CF0057ADE5BD}"/>
              </a:ext>
            </a:extLst>
          </p:cNvPr>
          <p:cNvSpPr/>
          <p:nvPr/>
        </p:nvSpPr>
        <p:spPr>
          <a:xfrm>
            <a:off x="491153" y="482195"/>
            <a:ext cx="11585618" cy="4708981"/>
          </a:xfrm>
          <a:prstGeom prst="rect">
            <a:avLst/>
          </a:prstGeom>
        </p:spPr>
        <p:txBody>
          <a:bodyPr wrap="square">
            <a:spAutoFit/>
          </a:bodyPr>
          <a:lstStyle/>
          <a:p>
            <a:r>
              <a:rPr lang="zh-TW" altLang="en-US" sz="4400" dirty="0"/>
              <a:t>Abstract</a:t>
            </a:r>
            <a:r>
              <a:rPr lang="en-US" altLang="zh-TW" sz="4400" dirty="0"/>
              <a:t>(1/3) </a:t>
            </a:r>
          </a:p>
          <a:p>
            <a:r>
              <a:rPr lang="en-US" altLang="zh-TW" sz="3200" dirty="0"/>
              <a:t>Very deep convolutional networks have been central to the largest advances in image recognition performance in recent years. One example is the Inception architecture that has been shown to achieve very good performance at relatively low computational cost. Recently, the introduction of residual connections in conjunction with a more traditional architecture has yielded state-of-the-art performance in the 2015 ILSVRC challenge; its performance was similar to the latest generation Inception-v3 network. </a:t>
            </a:r>
            <a:endParaRPr lang="zh-TW" altLang="en-US" sz="3200" dirty="0"/>
          </a:p>
        </p:txBody>
      </p:sp>
      <p:sp>
        <p:nvSpPr>
          <p:cNvPr id="3" name="矩形 2">
            <a:extLst>
              <a:ext uri="{FF2B5EF4-FFF2-40B4-BE49-F238E27FC236}">
                <a16:creationId xmlns:a16="http://schemas.microsoft.com/office/drawing/2014/main" id="{742A4D60-9DCC-4859-97B7-7DA53BD90476}"/>
              </a:ext>
            </a:extLst>
          </p:cNvPr>
          <p:cNvSpPr/>
          <p:nvPr/>
        </p:nvSpPr>
        <p:spPr>
          <a:xfrm>
            <a:off x="7820722" y="6052639"/>
            <a:ext cx="4256049" cy="646331"/>
          </a:xfrm>
          <a:prstGeom prst="rect">
            <a:avLst/>
          </a:prstGeom>
          <a:ln>
            <a:solidFill>
              <a:schemeClr val="tx1"/>
            </a:solidFill>
          </a:ln>
        </p:spPr>
        <p:txBody>
          <a:bodyPr wrap="square">
            <a:spAutoFit/>
          </a:bodyPr>
          <a:lstStyle/>
          <a:p>
            <a:r>
              <a:rPr lang="en-US" altLang="zh-TW" dirty="0"/>
              <a:t>Inception-v4, Inception-</a:t>
            </a:r>
            <a:r>
              <a:rPr lang="en-US" altLang="zh-TW" dirty="0" err="1"/>
              <a:t>ResNet</a:t>
            </a:r>
            <a:r>
              <a:rPr lang="en-US" altLang="zh-TW" dirty="0"/>
              <a:t> and the </a:t>
            </a:r>
          </a:p>
          <a:p>
            <a:r>
              <a:rPr lang="en-US" altLang="zh-TW" dirty="0"/>
              <a:t>Impact of Residual Connections on Learning</a:t>
            </a:r>
            <a:endParaRPr lang="en-US" altLang="zh-TW" sz="5400" dirty="0"/>
          </a:p>
        </p:txBody>
      </p:sp>
    </p:spTree>
    <p:extLst>
      <p:ext uri="{BB962C8B-B14F-4D97-AF65-F5344CB8AC3E}">
        <p14:creationId xmlns:p14="http://schemas.microsoft.com/office/powerpoint/2010/main" val="39812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D921DB7-10DD-4E80-A357-35944853BC31}"/>
              </a:ext>
            </a:extLst>
          </p:cNvPr>
          <p:cNvSpPr/>
          <p:nvPr/>
        </p:nvSpPr>
        <p:spPr>
          <a:xfrm>
            <a:off x="410949" y="408462"/>
            <a:ext cx="10349977" cy="5693866"/>
          </a:xfrm>
          <a:prstGeom prst="rect">
            <a:avLst/>
          </a:prstGeom>
        </p:spPr>
        <p:txBody>
          <a:bodyPr wrap="square">
            <a:spAutoFit/>
          </a:bodyPr>
          <a:lstStyle/>
          <a:p>
            <a:r>
              <a:rPr lang="zh-TW" altLang="en-US" sz="4400" dirty="0"/>
              <a:t>Abstract</a:t>
            </a:r>
            <a:r>
              <a:rPr lang="en-US" altLang="zh-TW" sz="4400" dirty="0"/>
              <a:t>(2/3)</a:t>
            </a:r>
          </a:p>
          <a:p>
            <a:r>
              <a:rPr lang="en-US" altLang="zh-TW" sz="3200" dirty="0"/>
              <a:t>This raises the question: Are there any beneﬁts to combining Inception architectures with residual connections? Here we give clear empirical evidence that training with residual connections accelerates the training of Inception networks signiﬁcantly. There is also some evidence of residual Inception networks outperforming similarly expensive Inception networks without residual connections by a thin margin. We also present several new streamlined architectures for both residual and </a:t>
            </a:r>
            <a:r>
              <a:rPr lang="en-US" altLang="zh-TW" sz="3200" dirty="0" err="1"/>
              <a:t>nonresidual</a:t>
            </a:r>
            <a:r>
              <a:rPr lang="en-US" altLang="zh-TW" sz="3200" dirty="0"/>
              <a:t> Inception networks. </a:t>
            </a:r>
            <a:endParaRPr lang="zh-TW" altLang="en-US" sz="3200" dirty="0"/>
          </a:p>
        </p:txBody>
      </p:sp>
      <p:pic>
        <p:nvPicPr>
          <p:cNvPr id="5" name="圖片 4">
            <a:extLst>
              <a:ext uri="{FF2B5EF4-FFF2-40B4-BE49-F238E27FC236}">
                <a16:creationId xmlns:a16="http://schemas.microsoft.com/office/drawing/2014/main" id="{2DB94C7E-3DE1-4AC3-B447-60B68CBE1184}"/>
              </a:ext>
            </a:extLst>
          </p:cNvPr>
          <p:cNvPicPr>
            <a:picLocks noChangeAspect="1"/>
          </p:cNvPicPr>
          <p:nvPr/>
        </p:nvPicPr>
        <p:blipFill>
          <a:blip r:embed="rId3"/>
          <a:stretch>
            <a:fillRect/>
          </a:stretch>
        </p:blipFill>
        <p:spPr>
          <a:xfrm>
            <a:off x="7832982" y="5974641"/>
            <a:ext cx="4359018" cy="774259"/>
          </a:xfrm>
          <a:prstGeom prst="rect">
            <a:avLst/>
          </a:prstGeom>
        </p:spPr>
      </p:pic>
    </p:spTree>
    <p:extLst>
      <p:ext uri="{BB962C8B-B14F-4D97-AF65-F5344CB8AC3E}">
        <p14:creationId xmlns:p14="http://schemas.microsoft.com/office/powerpoint/2010/main" val="3009973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D921DB7-10DD-4E80-A357-35944853BC31}"/>
              </a:ext>
            </a:extLst>
          </p:cNvPr>
          <p:cNvSpPr/>
          <p:nvPr/>
        </p:nvSpPr>
        <p:spPr>
          <a:xfrm>
            <a:off x="489009" y="408462"/>
            <a:ext cx="9792416" cy="4708981"/>
          </a:xfrm>
          <a:prstGeom prst="rect">
            <a:avLst/>
          </a:prstGeom>
        </p:spPr>
        <p:txBody>
          <a:bodyPr wrap="square">
            <a:spAutoFit/>
          </a:bodyPr>
          <a:lstStyle/>
          <a:p>
            <a:r>
              <a:rPr lang="zh-TW" altLang="en-US" sz="4400" dirty="0"/>
              <a:t>Abstract</a:t>
            </a:r>
            <a:r>
              <a:rPr lang="en-US" altLang="zh-TW" sz="4400" dirty="0"/>
              <a:t>(3/3)</a:t>
            </a:r>
          </a:p>
          <a:p>
            <a:r>
              <a:rPr lang="en-US" altLang="zh-TW" sz="3200" dirty="0"/>
              <a:t>These variations improve the single-frame recognition performance on the ILSVRC 2012 classiﬁcation task signiﬁcantly. We further demonstrate how proper activation scaling stabilizes the training of very wide residual Inception networks. With an ensemble of three residual and one Inception-v4 networks, we achieve 3.08% top-5 error on the test set of the Image Net classiﬁcation(CLS)challenge.</a:t>
            </a:r>
            <a:endParaRPr lang="zh-TW" altLang="en-US" sz="3200" dirty="0"/>
          </a:p>
        </p:txBody>
      </p:sp>
      <p:sp>
        <p:nvSpPr>
          <p:cNvPr id="3" name="矩形 2">
            <a:extLst>
              <a:ext uri="{FF2B5EF4-FFF2-40B4-BE49-F238E27FC236}">
                <a16:creationId xmlns:a16="http://schemas.microsoft.com/office/drawing/2014/main" id="{E336F5D0-AE1C-403B-9076-D2B22B939A51}"/>
              </a:ext>
            </a:extLst>
          </p:cNvPr>
          <p:cNvSpPr/>
          <p:nvPr/>
        </p:nvSpPr>
        <p:spPr>
          <a:xfrm>
            <a:off x="7820722" y="6052639"/>
            <a:ext cx="4256049" cy="646331"/>
          </a:xfrm>
          <a:prstGeom prst="rect">
            <a:avLst/>
          </a:prstGeom>
          <a:ln>
            <a:solidFill>
              <a:schemeClr val="tx1"/>
            </a:solidFill>
          </a:ln>
        </p:spPr>
        <p:txBody>
          <a:bodyPr wrap="square">
            <a:spAutoFit/>
          </a:bodyPr>
          <a:lstStyle/>
          <a:p>
            <a:r>
              <a:rPr lang="en-US" altLang="zh-TW" dirty="0"/>
              <a:t>Inception-v4, Inception-</a:t>
            </a:r>
            <a:r>
              <a:rPr lang="en-US" altLang="zh-TW" dirty="0" err="1"/>
              <a:t>ResNet</a:t>
            </a:r>
            <a:r>
              <a:rPr lang="en-US" altLang="zh-TW" dirty="0"/>
              <a:t> and the </a:t>
            </a:r>
          </a:p>
          <a:p>
            <a:r>
              <a:rPr lang="en-US" altLang="zh-TW" dirty="0"/>
              <a:t>Impact of Residual Connections on Learning</a:t>
            </a:r>
            <a:endParaRPr lang="en-US" altLang="zh-TW" sz="5400" dirty="0"/>
          </a:p>
        </p:txBody>
      </p:sp>
    </p:spTree>
    <p:extLst>
      <p:ext uri="{BB962C8B-B14F-4D97-AF65-F5344CB8AC3E}">
        <p14:creationId xmlns:p14="http://schemas.microsoft.com/office/powerpoint/2010/main" val="4244401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EBDF657C-0D8F-4E44-8D13-2943D9AC56D7}"/>
              </a:ext>
            </a:extLst>
          </p:cNvPr>
          <p:cNvSpPr txBox="1"/>
          <p:nvPr/>
        </p:nvSpPr>
        <p:spPr>
          <a:xfrm>
            <a:off x="429619" y="454538"/>
            <a:ext cx="11496417" cy="4524315"/>
          </a:xfrm>
          <a:prstGeom prst="rect">
            <a:avLst/>
          </a:prstGeom>
          <a:noFill/>
        </p:spPr>
        <p:txBody>
          <a:bodyPr wrap="square" rtlCol="0">
            <a:spAutoFit/>
          </a:bodyPr>
          <a:lstStyle/>
          <a:p>
            <a:r>
              <a:rPr lang="en-US" altLang="zh-TW" sz="3600" dirty="0"/>
              <a:t>History(1/1)</a:t>
            </a:r>
          </a:p>
          <a:p>
            <a:endParaRPr lang="en-US" altLang="zh-TW" sz="3600" dirty="0"/>
          </a:p>
          <a:p>
            <a:pPr marL="742950" indent="-742950">
              <a:buAutoNum type="arabicPlain" startAt="2009"/>
            </a:pPr>
            <a:r>
              <a:rPr lang="en-US" altLang="zh-TW" sz="3600" dirty="0"/>
              <a:t>    ImageNet</a:t>
            </a:r>
          </a:p>
          <a:p>
            <a:pPr marL="742950" indent="-742950">
              <a:buAutoNum type="arabicPlain" startAt="2010"/>
            </a:pPr>
            <a:r>
              <a:rPr lang="en-US" altLang="zh-TW" sz="3600" dirty="0"/>
              <a:t>    ILSVRC( champion team’s top5 accuracy: 73% ) </a:t>
            </a:r>
          </a:p>
          <a:p>
            <a:pPr marL="742950" indent="-742950">
              <a:buAutoNum type="arabicPlain" startAt="2012"/>
            </a:pPr>
            <a:r>
              <a:rPr lang="en-US" altLang="zh-TW" sz="3600" dirty="0"/>
              <a:t>    </a:t>
            </a:r>
            <a:r>
              <a:rPr lang="en-US" altLang="zh-TW" sz="3600" dirty="0" err="1"/>
              <a:t>AlexNet</a:t>
            </a:r>
            <a:r>
              <a:rPr lang="en-US" altLang="zh-TW" sz="3600" dirty="0"/>
              <a:t>(champion team’s top5 accuracy came to     </a:t>
            </a:r>
          </a:p>
          <a:p>
            <a:r>
              <a:rPr lang="en-US" altLang="zh-TW" sz="3600" dirty="0"/>
              <a:t>             83%, add </a:t>
            </a:r>
            <a:r>
              <a:rPr lang="en-US" altLang="zh-TW" sz="3600" dirty="0" err="1"/>
              <a:t>ReLU</a:t>
            </a:r>
            <a:r>
              <a:rPr lang="en-US" altLang="zh-TW" sz="3600" dirty="0"/>
              <a:t> function ) </a:t>
            </a:r>
          </a:p>
          <a:p>
            <a:pPr marL="742950" indent="-742950">
              <a:buAutoNum type="arabicPlain" startAt="2014"/>
            </a:pPr>
            <a:r>
              <a:rPr lang="en-US" altLang="zh-TW" sz="3600" dirty="0"/>
              <a:t>    </a:t>
            </a:r>
            <a:r>
              <a:rPr lang="en-US" altLang="zh-TW" sz="3600" dirty="0" err="1"/>
              <a:t>GoogLeNet</a:t>
            </a:r>
            <a:r>
              <a:rPr lang="en-US" altLang="zh-TW" sz="3600" dirty="0"/>
              <a:t>(Inception-v1) won the championship</a:t>
            </a:r>
          </a:p>
          <a:p>
            <a:r>
              <a:rPr lang="en-US" altLang="zh-TW" sz="3600" dirty="0"/>
              <a:t>             </a:t>
            </a:r>
            <a:r>
              <a:rPr lang="en-US" altLang="zh-TW" sz="3600" dirty="0" err="1"/>
              <a:t>VGGNet</a:t>
            </a:r>
            <a:r>
              <a:rPr lang="en-US" altLang="zh-TW" sz="3600" dirty="0"/>
              <a:t> won the second place</a:t>
            </a:r>
          </a:p>
        </p:txBody>
      </p:sp>
      <p:pic>
        <p:nvPicPr>
          <p:cNvPr id="4" name="圖片 3">
            <a:extLst>
              <a:ext uri="{FF2B5EF4-FFF2-40B4-BE49-F238E27FC236}">
                <a16:creationId xmlns:a16="http://schemas.microsoft.com/office/drawing/2014/main" id="{B4BA4379-32B4-43F9-B19A-313A71D9E3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864" y="4993565"/>
            <a:ext cx="9421540" cy="1409897"/>
          </a:xfrm>
          <a:prstGeom prst="rect">
            <a:avLst/>
          </a:prstGeom>
        </p:spPr>
      </p:pic>
      <p:sp>
        <p:nvSpPr>
          <p:cNvPr id="7" name="矩形 6">
            <a:extLst>
              <a:ext uri="{FF2B5EF4-FFF2-40B4-BE49-F238E27FC236}">
                <a16:creationId xmlns:a16="http://schemas.microsoft.com/office/drawing/2014/main" id="{FFE154F4-C7DB-46BD-B1F6-5E8203F4F7F5}"/>
              </a:ext>
            </a:extLst>
          </p:cNvPr>
          <p:cNvSpPr/>
          <p:nvPr/>
        </p:nvSpPr>
        <p:spPr>
          <a:xfrm>
            <a:off x="7820722" y="6052639"/>
            <a:ext cx="4256049" cy="646331"/>
          </a:xfrm>
          <a:prstGeom prst="rect">
            <a:avLst/>
          </a:prstGeom>
          <a:ln>
            <a:solidFill>
              <a:schemeClr val="tx1"/>
            </a:solidFill>
          </a:ln>
        </p:spPr>
        <p:txBody>
          <a:bodyPr wrap="square">
            <a:spAutoFit/>
          </a:bodyPr>
          <a:lstStyle/>
          <a:p>
            <a:r>
              <a:rPr lang="en-US" altLang="zh-TW" dirty="0"/>
              <a:t>Inception-v4, Inception-</a:t>
            </a:r>
            <a:r>
              <a:rPr lang="en-US" altLang="zh-TW" dirty="0" err="1"/>
              <a:t>ResNet</a:t>
            </a:r>
            <a:r>
              <a:rPr lang="en-US" altLang="zh-TW" dirty="0"/>
              <a:t> and the </a:t>
            </a:r>
          </a:p>
          <a:p>
            <a:r>
              <a:rPr lang="en-US" altLang="zh-TW" dirty="0"/>
              <a:t>Impact of Residual Connections on Learning</a:t>
            </a:r>
            <a:endParaRPr lang="en-US" altLang="zh-TW" sz="5400" dirty="0"/>
          </a:p>
        </p:txBody>
      </p:sp>
    </p:spTree>
    <p:extLst>
      <p:ext uri="{BB962C8B-B14F-4D97-AF65-F5344CB8AC3E}">
        <p14:creationId xmlns:p14="http://schemas.microsoft.com/office/powerpoint/2010/main" val="3947326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324829A4-6392-44B6-89C9-F09E5E1D1A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01428"/>
            <a:ext cx="12192000" cy="3855143"/>
          </a:xfrm>
          <a:prstGeom prst="rect">
            <a:avLst/>
          </a:prstGeom>
        </p:spPr>
      </p:pic>
      <p:sp>
        <p:nvSpPr>
          <p:cNvPr id="11" name="矩形 10">
            <a:extLst>
              <a:ext uri="{FF2B5EF4-FFF2-40B4-BE49-F238E27FC236}">
                <a16:creationId xmlns:a16="http://schemas.microsoft.com/office/drawing/2014/main" id="{9D0D4EE5-3E14-40F0-A25B-B1CC93C12025}"/>
              </a:ext>
            </a:extLst>
          </p:cNvPr>
          <p:cNvSpPr/>
          <p:nvPr/>
        </p:nvSpPr>
        <p:spPr>
          <a:xfrm>
            <a:off x="613535" y="496450"/>
            <a:ext cx="3503075" cy="646331"/>
          </a:xfrm>
          <a:prstGeom prst="rect">
            <a:avLst/>
          </a:prstGeom>
        </p:spPr>
        <p:txBody>
          <a:bodyPr wrap="none">
            <a:spAutoFit/>
          </a:bodyPr>
          <a:lstStyle/>
          <a:p>
            <a:pPr lvl="0"/>
            <a:r>
              <a:rPr lang="en-US" altLang="zh-TW" sz="3600" dirty="0">
                <a:solidFill>
                  <a:prstClr val="black"/>
                </a:solidFill>
              </a:rPr>
              <a:t>Architecture(1/3)</a:t>
            </a:r>
          </a:p>
        </p:txBody>
      </p:sp>
      <p:sp>
        <p:nvSpPr>
          <p:cNvPr id="15" name="文字方塊 14">
            <a:extLst>
              <a:ext uri="{FF2B5EF4-FFF2-40B4-BE49-F238E27FC236}">
                <a16:creationId xmlns:a16="http://schemas.microsoft.com/office/drawing/2014/main" id="{EC513DBB-A0EC-4AF5-9B6F-BA360F86171E}"/>
              </a:ext>
            </a:extLst>
          </p:cNvPr>
          <p:cNvSpPr txBox="1"/>
          <p:nvPr/>
        </p:nvSpPr>
        <p:spPr>
          <a:xfrm>
            <a:off x="5597912" y="4728117"/>
            <a:ext cx="2107580" cy="369332"/>
          </a:xfrm>
          <a:prstGeom prst="rect">
            <a:avLst/>
          </a:prstGeom>
          <a:noFill/>
          <a:ln w="38100">
            <a:solidFill>
              <a:srgbClr val="FF0000"/>
            </a:solidFill>
          </a:ln>
        </p:spPr>
        <p:txBody>
          <a:bodyPr wrap="square" rtlCol="0">
            <a:spAutoFit/>
          </a:bodyPr>
          <a:lstStyle/>
          <a:p>
            <a:endParaRPr lang="zh-TW" altLang="en-US" dirty="0"/>
          </a:p>
        </p:txBody>
      </p:sp>
      <p:sp>
        <p:nvSpPr>
          <p:cNvPr id="16" name="矩形 15">
            <a:extLst>
              <a:ext uri="{FF2B5EF4-FFF2-40B4-BE49-F238E27FC236}">
                <a16:creationId xmlns:a16="http://schemas.microsoft.com/office/drawing/2014/main" id="{990E1758-1C4D-4E2B-89EE-0C8C50D7D3AC}"/>
              </a:ext>
            </a:extLst>
          </p:cNvPr>
          <p:cNvSpPr/>
          <p:nvPr/>
        </p:nvSpPr>
        <p:spPr>
          <a:xfrm>
            <a:off x="7820722" y="6052639"/>
            <a:ext cx="4256049" cy="646331"/>
          </a:xfrm>
          <a:prstGeom prst="rect">
            <a:avLst/>
          </a:prstGeom>
          <a:ln>
            <a:solidFill>
              <a:schemeClr val="tx1"/>
            </a:solidFill>
          </a:ln>
        </p:spPr>
        <p:txBody>
          <a:bodyPr wrap="square">
            <a:spAutoFit/>
          </a:bodyPr>
          <a:lstStyle/>
          <a:p>
            <a:r>
              <a:rPr lang="en-US" altLang="zh-TW" dirty="0"/>
              <a:t>Inception-v4, Inception-</a:t>
            </a:r>
            <a:r>
              <a:rPr lang="en-US" altLang="zh-TW" dirty="0" err="1"/>
              <a:t>ResNet</a:t>
            </a:r>
            <a:r>
              <a:rPr lang="en-US" altLang="zh-TW" dirty="0"/>
              <a:t> and the </a:t>
            </a:r>
          </a:p>
          <a:p>
            <a:r>
              <a:rPr lang="en-US" altLang="zh-TW" dirty="0"/>
              <a:t>Impact of Residual Connections on Learning</a:t>
            </a:r>
            <a:endParaRPr lang="en-US" altLang="zh-TW" sz="5400" dirty="0"/>
          </a:p>
        </p:txBody>
      </p:sp>
    </p:spTree>
    <p:extLst>
      <p:ext uri="{BB962C8B-B14F-4D97-AF65-F5344CB8AC3E}">
        <p14:creationId xmlns:p14="http://schemas.microsoft.com/office/powerpoint/2010/main" val="2662845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D1740BA2-26D4-48CA-9C8F-FDD4A9CC4B28}"/>
              </a:ext>
            </a:extLst>
          </p:cNvPr>
          <p:cNvPicPr>
            <a:picLocks noChangeAspect="1"/>
          </p:cNvPicPr>
          <p:nvPr/>
        </p:nvPicPr>
        <p:blipFill rotWithShape="1">
          <a:blip r:embed="rId2">
            <a:extLst>
              <a:ext uri="{28A0092B-C50C-407E-A947-70E740481C1C}">
                <a14:useLocalDpi xmlns:a14="http://schemas.microsoft.com/office/drawing/2010/main" val="0"/>
              </a:ext>
            </a:extLst>
          </a:blip>
          <a:srcRect r="861" b="51603"/>
          <a:stretch/>
        </p:blipFill>
        <p:spPr>
          <a:xfrm>
            <a:off x="91765" y="312235"/>
            <a:ext cx="11920954" cy="3116766"/>
          </a:xfrm>
          <a:prstGeom prst="rect">
            <a:avLst/>
          </a:prstGeom>
        </p:spPr>
      </p:pic>
      <p:sp>
        <p:nvSpPr>
          <p:cNvPr id="8" name="文字方塊 7">
            <a:extLst>
              <a:ext uri="{FF2B5EF4-FFF2-40B4-BE49-F238E27FC236}">
                <a16:creationId xmlns:a16="http://schemas.microsoft.com/office/drawing/2014/main" id="{A753C4F3-C8B2-4582-A0C9-E57194670AEE}"/>
              </a:ext>
            </a:extLst>
          </p:cNvPr>
          <p:cNvSpPr txBox="1"/>
          <p:nvPr/>
        </p:nvSpPr>
        <p:spPr>
          <a:xfrm>
            <a:off x="4741974" y="3066585"/>
            <a:ext cx="2330605" cy="461665"/>
          </a:xfrm>
          <a:prstGeom prst="rect">
            <a:avLst/>
          </a:prstGeom>
          <a:noFill/>
        </p:spPr>
        <p:txBody>
          <a:bodyPr wrap="square" rtlCol="0">
            <a:spAutoFit/>
          </a:bodyPr>
          <a:lstStyle/>
          <a:p>
            <a:r>
              <a:rPr lang="en-US" altLang="zh-TW" sz="2400" dirty="0"/>
              <a:t> </a:t>
            </a:r>
            <a:r>
              <a:rPr lang="en-US" altLang="zh-TW" sz="2400" dirty="0">
                <a:solidFill>
                  <a:srgbClr val="FF0000"/>
                </a:solidFill>
              </a:rPr>
              <a:t>here filter = 2</a:t>
            </a:r>
            <a:endParaRPr lang="zh-TW" altLang="en-US" sz="2400" dirty="0">
              <a:solidFill>
                <a:srgbClr val="FF0000"/>
              </a:solidFill>
            </a:endParaRPr>
          </a:p>
        </p:txBody>
      </p:sp>
      <p:sp>
        <p:nvSpPr>
          <p:cNvPr id="15" name="文字方塊 14">
            <a:extLst>
              <a:ext uri="{FF2B5EF4-FFF2-40B4-BE49-F238E27FC236}">
                <a16:creationId xmlns:a16="http://schemas.microsoft.com/office/drawing/2014/main" id="{78EF40C8-3AFC-4830-89EE-115A729F48F5}"/>
              </a:ext>
            </a:extLst>
          </p:cNvPr>
          <p:cNvSpPr txBox="1"/>
          <p:nvPr/>
        </p:nvSpPr>
        <p:spPr>
          <a:xfrm>
            <a:off x="1594624" y="3829773"/>
            <a:ext cx="1739590" cy="369332"/>
          </a:xfrm>
          <a:prstGeom prst="rect">
            <a:avLst/>
          </a:prstGeom>
          <a:noFill/>
        </p:spPr>
        <p:txBody>
          <a:bodyPr wrap="square" rtlCol="0">
            <a:spAutoFit/>
          </a:bodyPr>
          <a:lstStyle/>
          <a:p>
            <a:r>
              <a:rPr lang="en-US" altLang="zh-TW" dirty="0"/>
              <a:t>6x6 matrix</a:t>
            </a:r>
            <a:endParaRPr lang="zh-TW" altLang="en-US" dirty="0"/>
          </a:p>
        </p:txBody>
      </p:sp>
      <p:sp>
        <p:nvSpPr>
          <p:cNvPr id="16" name="矩形 15">
            <a:extLst>
              <a:ext uri="{FF2B5EF4-FFF2-40B4-BE49-F238E27FC236}">
                <a16:creationId xmlns:a16="http://schemas.microsoft.com/office/drawing/2014/main" id="{0AA5E154-5D48-4EBB-B64C-35CBEA18C95D}"/>
              </a:ext>
            </a:extLst>
          </p:cNvPr>
          <p:cNvSpPr/>
          <p:nvPr/>
        </p:nvSpPr>
        <p:spPr>
          <a:xfrm>
            <a:off x="4941531" y="3829773"/>
            <a:ext cx="1678793" cy="369332"/>
          </a:xfrm>
          <a:prstGeom prst="rect">
            <a:avLst/>
          </a:prstGeom>
        </p:spPr>
        <p:txBody>
          <a:bodyPr wrap="none">
            <a:spAutoFit/>
          </a:bodyPr>
          <a:lstStyle/>
          <a:p>
            <a:r>
              <a:rPr lang="en-US" altLang="zh-TW" dirty="0"/>
              <a:t>1x1 convolution</a:t>
            </a:r>
            <a:endParaRPr lang="zh-TW" altLang="en-US" dirty="0"/>
          </a:p>
        </p:txBody>
      </p:sp>
      <p:sp>
        <p:nvSpPr>
          <p:cNvPr id="17" name="矩形 16">
            <a:extLst>
              <a:ext uri="{FF2B5EF4-FFF2-40B4-BE49-F238E27FC236}">
                <a16:creationId xmlns:a16="http://schemas.microsoft.com/office/drawing/2014/main" id="{DA18497D-E691-4ABE-B4AB-3E6F5454C995}"/>
              </a:ext>
            </a:extLst>
          </p:cNvPr>
          <p:cNvSpPr/>
          <p:nvPr/>
        </p:nvSpPr>
        <p:spPr>
          <a:xfrm>
            <a:off x="8988578" y="3829773"/>
            <a:ext cx="1173206" cy="369332"/>
          </a:xfrm>
          <a:prstGeom prst="rect">
            <a:avLst/>
          </a:prstGeom>
        </p:spPr>
        <p:txBody>
          <a:bodyPr wrap="none">
            <a:spAutoFit/>
          </a:bodyPr>
          <a:lstStyle/>
          <a:p>
            <a:r>
              <a:rPr lang="en-US" altLang="zh-TW" dirty="0"/>
              <a:t>6x6 matrix</a:t>
            </a:r>
            <a:endParaRPr lang="zh-TW" altLang="en-US" dirty="0"/>
          </a:p>
        </p:txBody>
      </p:sp>
      <p:sp>
        <p:nvSpPr>
          <p:cNvPr id="19" name="矩形 18">
            <a:extLst>
              <a:ext uri="{FF2B5EF4-FFF2-40B4-BE49-F238E27FC236}">
                <a16:creationId xmlns:a16="http://schemas.microsoft.com/office/drawing/2014/main" id="{FCD8E713-5F10-4009-A682-57B24F1CB72D}"/>
              </a:ext>
            </a:extLst>
          </p:cNvPr>
          <p:cNvSpPr/>
          <p:nvPr/>
        </p:nvSpPr>
        <p:spPr>
          <a:xfrm>
            <a:off x="7820722" y="6052639"/>
            <a:ext cx="4256049" cy="646331"/>
          </a:xfrm>
          <a:prstGeom prst="rect">
            <a:avLst/>
          </a:prstGeom>
          <a:ln>
            <a:solidFill>
              <a:schemeClr val="tx1"/>
            </a:solidFill>
          </a:ln>
        </p:spPr>
        <p:txBody>
          <a:bodyPr wrap="square">
            <a:spAutoFit/>
          </a:bodyPr>
          <a:lstStyle/>
          <a:p>
            <a:r>
              <a:rPr lang="en-US" altLang="zh-TW" dirty="0"/>
              <a:t>Inception-v4, Inception-</a:t>
            </a:r>
            <a:r>
              <a:rPr lang="en-US" altLang="zh-TW" dirty="0" err="1"/>
              <a:t>ResNet</a:t>
            </a:r>
            <a:r>
              <a:rPr lang="en-US" altLang="zh-TW" dirty="0"/>
              <a:t> and the </a:t>
            </a:r>
          </a:p>
          <a:p>
            <a:r>
              <a:rPr lang="en-US" altLang="zh-TW" dirty="0"/>
              <a:t>Impact of Residual Connections on Learning</a:t>
            </a:r>
            <a:endParaRPr lang="en-US" altLang="zh-TW" sz="5400" dirty="0"/>
          </a:p>
        </p:txBody>
      </p:sp>
    </p:spTree>
    <p:extLst>
      <p:ext uri="{BB962C8B-B14F-4D97-AF65-F5344CB8AC3E}">
        <p14:creationId xmlns:p14="http://schemas.microsoft.com/office/powerpoint/2010/main" val="3039255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9B407C2-FF69-4DC9-AA78-5DF64769C7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747" y="0"/>
            <a:ext cx="7046505" cy="6858000"/>
          </a:xfrm>
          <a:prstGeom prst="rect">
            <a:avLst/>
          </a:prstGeom>
        </p:spPr>
      </p:pic>
      <p:sp>
        <p:nvSpPr>
          <p:cNvPr id="4" name="文字方塊 3">
            <a:extLst>
              <a:ext uri="{FF2B5EF4-FFF2-40B4-BE49-F238E27FC236}">
                <a16:creationId xmlns:a16="http://schemas.microsoft.com/office/drawing/2014/main" id="{95C85464-B2A7-4883-B4FF-013880648F74}"/>
              </a:ext>
            </a:extLst>
          </p:cNvPr>
          <p:cNvSpPr txBox="1"/>
          <p:nvPr/>
        </p:nvSpPr>
        <p:spPr>
          <a:xfrm>
            <a:off x="761998" y="1398807"/>
            <a:ext cx="2758070" cy="369332"/>
          </a:xfrm>
          <a:prstGeom prst="rect">
            <a:avLst/>
          </a:prstGeom>
          <a:noFill/>
        </p:spPr>
        <p:txBody>
          <a:bodyPr wrap="square" rtlCol="0">
            <a:spAutoFit/>
          </a:bodyPr>
          <a:lstStyle/>
          <a:p>
            <a:r>
              <a:rPr lang="en-US" altLang="zh-TW" b="1" dirty="0"/>
              <a:t>height x weight x channels</a:t>
            </a:r>
            <a:endParaRPr lang="zh-TW" altLang="en-US" b="1" dirty="0"/>
          </a:p>
        </p:txBody>
      </p:sp>
      <p:cxnSp>
        <p:nvCxnSpPr>
          <p:cNvPr id="7" name="直線單箭頭接點 6">
            <a:extLst>
              <a:ext uri="{FF2B5EF4-FFF2-40B4-BE49-F238E27FC236}">
                <a16:creationId xmlns:a16="http://schemas.microsoft.com/office/drawing/2014/main" id="{7681BB21-3ADE-4783-897C-78650AC43428}"/>
              </a:ext>
            </a:extLst>
          </p:cNvPr>
          <p:cNvCxnSpPr/>
          <p:nvPr/>
        </p:nvCxnSpPr>
        <p:spPr>
          <a:xfrm flipV="1">
            <a:off x="1271239" y="1226634"/>
            <a:ext cx="1483112" cy="1721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33527139-B947-4C77-A5D9-D2861DEAAD38}"/>
              </a:ext>
            </a:extLst>
          </p:cNvPr>
          <p:cNvCxnSpPr/>
          <p:nvPr/>
        </p:nvCxnSpPr>
        <p:spPr>
          <a:xfrm flipV="1">
            <a:off x="2286000" y="1304693"/>
            <a:ext cx="724829" cy="24532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9F5159E7-3F0F-4199-A0E1-BD0FFA1F3534}"/>
              </a:ext>
            </a:extLst>
          </p:cNvPr>
          <p:cNvCxnSpPr/>
          <p:nvPr/>
        </p:nvCxnSpPr>
        <p:spPr>
          <a:xfrm flipV="1">
            <a:off x="3133493" y="1304693"/>
            <a:ext cx="122663" cy="245327"/>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1545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C879A5F-4E07-4CB0-B50F-51E8598A19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01929"/>
            <a:ext cx="12192000" cy="4854141"/>
          </a:xfrm>
          <a:prstGeom prst="rect">
            <a:avLst/>
          </a:prstGeom>
        </p:spPr>
      </p:pic>
      <p:sp>
        <p:nvSpPr>
          <p:cNvPr id="5" name="矩形 4">
            <a:extLst>
              <a:ext uri="{FF2B5EF4-FFF2-40B4-BE49-F238E27FC236}">
                <a16:creationId xmlns:a16="http://schemas.microsoft.com/office/drawing/2014/main" id="{EFB0B332-8BDC-496E-9004-DEAC609EF750}"/>
              </a:ext>
            </a:extLst>
          </p:cNvPr>
          <p:cNvSpPr/>
          <p:nvPr/>
        </p:nvSpPr>
        <p:spPr>
          <a:xfrm>
            <a:off x="330023" y="228821"/>
            <a:ext cx="3503075" cy="646331"/>
          </a:xfrm>
          <a:prstGeom prst="rect">
            <a:avLst/>
          </a:prstGeom>
        </p:spPr>
        <p:txBody>
          <a:bodyPr wrap="none">
            <a:spAutoFit/>
          </a:bodyPr>
          <a:lstStyle/>
          <a:p>
            <a:pPr lvl="0"/>
            <a:r>
              <a:rPr lang="en-US" altLang="zh-TW" sz="3600" dirty="0">
                <a:solidFill>
                  <a:prstClr val="black"/>
                </a:solidFill>
              </a:rPr>
              <a:t>Architecture(2/3)</a:t>
            </a:r>
          </a:p>
        </p:txBody>
      </p:sp>
      <p:sp>
        <p:nvSpPr>
          <p:cNvPr id="6" name="文字方塊 5">
            <a:extLst>
              <a:ext uri="{FF2B5EF4-FFF2-40B4-BE49-F238E27FC236}">
                <a16:creationId xmlns:a16="http://schemas.microsoft.com/office/drawing/2014/main" id="{212C92D7-8F51-4A77-A5F2-F1E26A5B1850}"/>
              </a:ext>
            </a:extLst>
          </p:cNvPr>
          <p:cNvSpPr txBox="1"/>
          <p:nvPr/>
        </p:nvSpPr>
        <p:spPr>
          <a:xfrm>
            <a:off x="5363737" y="4995746"/>
            <a:ext cx="2943922" cy="369332"/>
          </a:xfrm>
          <a:prstGeom prst="rect">
            <a:avLst/>
          </a:prstGeom>
          <a:noFill/>
          <a:ln w="38100">
            <a:solidFill>
              <a:srgbClr val="FF0000"/>
            </a:solidFill>
          </a:ln>
        </p:spPr>
        <p:txBody>
          <a:bodyPr wrap="square" rtlCol="0">
            <a:spAutoFit/>
          </a:bodyPr>
          <a:lstStyle/>
          <a:p>
            <a:endParaRPr lang="zh-TW" altLang="en-US" dirty="0"/>
          </a:p>
        </p:txBody>
      </p:sp>
      <p:sp>
        <p:nvSpPr>
          <p:cNvPr id="7" name="矩形 6">
            <a:extLst>
              <a:ext uri="{FF2B5EF4-FFF2-40B4-BE49-F238E27FC236}">
                <a16:creationId xmlns:a16="http://schemas.microsoft.com/office/drawing/2014/main" id="{94E1CEE1-DB6A-43FA-B3F6-F73E3A6A24BC}"/>
              </a:ext>
            </a:extLst>
          </p:cNvPr>
          <p:cNvSpPr/>
          <p:nvPr/>
        </p:nvSpPr>
        <p:spPr>
          <a:xfrm>
            <a:off x="7820722" y="6052639"/>
            <a:ext cx="4256049" cy="646331"/>
          </a:xfrm>
          <a:prstGeom prst="rect">
            <a:avLst/>
          </a:prstGeom>
          <a:ln>
            <a:solidFill>
              <a:schemeClr val="tx1"/>
            </a:solidFill>
          </a:ln>
        </p:spPr>
        <p:txBody>
          <a:bodyPr wrap="square">
            <a:spAutoFit/>
          </a:bodyPr>
          <a:lstStyle/>
          <a:p>
            <a:r>
              <a:rPr lang="en-US" altLang="zh-TW" dirty="0"/>
              <a:t>Inception-v4, Inception-</a:t>
            </a:r>
            <a:r>
              <a:rPr lang="en-US" altLang="zh-TW" dirty="0" err="1"/>
              <a:t>ResNet</a:t>
            </a:r>
            <a:r>
              <a:rPr lang="en-US" altLang="zh-TW" dirty="0"/>
              <a:t> and the </a:t>
            </a:r>
          </a:p>
          <a:p>
            <a:r>
              <a:rPr lang="en-US" altLang="zh-TW" dirty="0"/>
              <a:t>Impact of Residual Connections on Learning</a:t>
            </a:r>
            <a:endParaRPr lang="en-US" altLang="zh-TW" sz="5400" dirty="0"/>
          </a:p>
        </p:txBody>
      </p:sp>
    </p:spTree>
    <p:extLst>
      <p:ext uri="{BB962C8B-B14F-4D97-AF65-F5344CB8AC3E}">
        <p14:creationId xmlns:p14="http://schemas.microsoft.com/office/powerpoint/2010/main" val="943186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EBDF657C-0D8F-4E44-8D13-2943D9AC56D7}"/>
              </a:ext>
            </a:extLst>
          </p:cNvPr>
          <p:cNvSpPr txBox="1"/>
          <p:nvPr/>
        </p:nvSpPr>
        <p:spPr>
          <a:xfrm>
            <a:off x="429619" y="454538"/>
            <a:ext cx="11496417" cy="646331"/>
          </a:xfrm>
          <a:prstGeom prst="rect">
            <a:avLst/>
          </a:prstGeom>
          <a:noFill/>
        </p:spPr>
        <p:txBody>
          <a:bodyPr wrap="square" rtlCol="0">
            <a:spAutoFit/>
          </a:bodyPr>
          <a:lstStyle/>
          <a:p>
            <a:r>
              <a:rPr lang="en-US" altLang="zh-TW" sz="3600" dirty="0"/>
              <a:t>Important concept of </a:t>
            </a:r>
            <a:r>
              <a:rPr lang="en-US" altLang="zh-TW" sz="3600" dirty="0" err="1"/>
              <a:t>ResNet:residual</a:t>
            </a:r>
            <a:r>
              <a:rPr lang="en-US" altLang="zh-TW" sz="3600" dirty="0"/>
              <a:t> network</a:t>
            </a:r>
          </a:p>
        </p:txBody>
      </p:sp>
      <p:pic>
        <p:nvPicPr>
          <p:cNvPr id="5" name="圖片 4">
            <a:extLst>
              <a:ext uri="{FF2B5EF4-FFF2-40B4-BE49-F238E27FC236}">
                <a16:creationId xmlns:a16="http://schemas.microsoft.com/office/drawing/2014/main" id="{C607E342-4D03-480B-A1E1-0A05C48389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3863" y="1186966"/>
            <a:ext cx="6239639" cy="3605125"/>
          </a:xfrm>
          <a:prstGeom prst="rect">
            <a:avLst/>
          </a:prstGeom>
        </p:spPr>
      </p:pic>
      <p:pic>
        <p:nvPicPr>
          <p:cNvPr id="7" name="圖片 6">
            <a:extLst>
              <a:ext uri="{FF2B5EF4-FFF2-40B4-BE49-F238E27FC236}">
                <a16:creationId xmlns:a16="http://schemas.microsoft.com/office/drawing/2014/main" id="{37FB069C-66FE-46A5-A15A-C77D56D012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0546" y="5229922"/>
            <a:ext cx="9393003" cy="1003525"/>
          </a:xfrm>
          <a:prstGeom prst="rect">
            <a:avLst/>
          </a:prstGeom>
        </p:spPr>
      </p:pic>
      <p:sp>
        <p:nvSpPr>
          <p:cNvPr id="8" name="矩形 7">
            <a:extLst>
              <a:ext uri="{FF2B5EF4-FFF2-40B4-BE49-F238E27FC236}">
                <a16:creationId xmlns:a16="http://schemas.microsoft.com/office/drawing/2014/main" id="{4739256B-3043-4073-A3A2-439F9E36F13E}"/>
              </a:ext>
            </a:extLst>
          </p:cNvPr>
          <p:cNvSpPr/>
          <p:nvPr/>
        </p:nvSpPr>
        <p:spPr>
          <a:xfrm>
            <a:off x="7935951" y="6245038"/>
            <a:ext cx="4256049" cy="646331"/>
          </a:xfrm>
          <a:prstGeom prst="rect">
            <a:avLst/>
          </a:prstGeom>
          <a:ln>
            <a:solidFill>
              <a:schemeClr val="tx1"/>
            </a:solidFill>
          </a:ln>
        </p:spPr>
        <p:txBody>
          <a:bodyPr wrap="square">
            <a:spAutoFit/>
          </a:bodyPr>
          <a:lstStyle/>
          <a:p>
            <a:r>
              <a:rPr lang="en-US" altLang="zh-TW" dirty="0"/>
              <a:t>Inception-v4, Inception-</a:t>
            </a:r>
            <a:r>
              <a:rPr lang="en-US" altLang="zh-TW" dirty="0" err="1"/>
              <a:t>ResNet</a:t>
            </a:r>
            <a:r>
              <a:rPr lang="en-US" altLang="zh-TW" dirty="0"/>
              <a:t> and the </a:t>
            </a:r>
          </a:p>
          <a:p>
            <a:r>
              <a:rPr lang="en-US" altLang="zh-TW" dirty="0"/>
              <a:t>Impact of Residual Connections on Learning</a:t>
            </a:r>
            <a:endParaRPr lang="en-US" altLang="zh-TW" sz="5400" dirty="0"/>
          </a:p>
        </p:txBody>
      </p:sp>
      <p:sp>
        <p:nvSpPr>
          <p:cNvPr id="9" name="文字方塊 8">
            <a:extLst>
              <a:ext uri="{FF2B5EF4-FFF2-40B4-BE49-F238E27FC236}">
                <a16:creationId xmlns:a16="http://schemas.microsoft.com/office/drawing/2014/main" id="{214BA517-C84C-4F0F-ADEB-105D2035CE47}"/>
              </a:ext>
            </a:extLst>
          </p:cNvPr>
          <p:cNvSpPr txBox="1"/>
          <p:nvPr/>
        </p:nvSpPr>
        <p:spPr>
          <a:xfrm>
            <a:off x="9623502" y="454538"/>
            <a:ext cx="2464419" cy="923330"/>
          </a:xfrm>
          <a:prstGeom prst="rect">
            <a:avLst/>
          </a:prstGeom>
          <a:noFill/>
          <a:ln w="57150">
            <a:solidFill>
              <a:schemeClr val="accent1">
                <a:lumMod val="75000"/>
              </a:schemeClr>
            </a:solidFill>
          </a:ln>
        </p:spPr>
        <p:txBody>
          <a:bodyPr wrap="square" rtlCol="0">
            <a:spAutoFit/>
          </a:bodyPr>
          <a:lstStyle/>
          <a:p>
            <a:r>
              <a:rPr lang="en-US" altLang="zh-TW" dirty="0"/>
              <a:t>2014, VGG:14 layers</a:t>
            </a:r>
          </a:p>
          <a:p>
            <a:endParaRPr lang="en-US" altLang="zh-TW" dirty="0"/>
          </a:p>
          <a:p>
            <a:r>
              <a:rPr lang="en-US" altLang="zh-TW" dirty="0"/>
              <a:t>2015: ResNet:152layers</a:t>
            </a:r>
            <a:endParaRPr lang="zh-TW" altLang="en-US" dirty="0"/>
          </a:p>
        </p:txBody>
      </p:sp>
      <p:sp>
        <p:nvSpPr>
          <p:cNvPr id="12" name="箭號: 向下 11">
            <a:extLst>
              <a:ext uri="{FF2B5EF4-FFF2-40B4-BE49-F238E27FC236}">
                <a16:creationId xmlns:a16="http://schemas.microsoft.com/office/drawing/2014/main" id="{628B18CC-0CE6-48FF-B4F4-8A9533AC6EA9}"/>
              </a:ext>
            </a:extLst>
          </p:cNvPr>
          <p:cNvSpPr/>
          <p:nvPr/>
        </p:nvSpPr>
        <p:spPr>
          <a:xfrm>
            <a:off x="10583549" y="777703"/>
            <a:ext cx="489612" cy="3231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587786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9EB6847-3CD8-40A4-ABE8-B316F07220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04654"/>
            <a:ext cx="12192000" cy="4848692"/>
          </a:xfrm>
          <a:prstGeom prst="rect">
            <a:avLst/>
          </a:prstGeom>
        </p:spPr>
      </p:pic>
      <p:sp>
        <p:nvSpPr>
          <p:cNvPr id="5" name="矩形 4">
            <a:extLst>
              <a:ext uri="{FF2B5EF4-FFF2-40B4-BE49-F238E27FC236}">
                <a16:creationId xmlns:a16="http://schemas.microsoft.com/office/drawing/2014/main" id="{451D855E-1113-4145-B133-60A9D87D98E7}"/>
              </a:ext>
            </a:extLst>
          </p:cNvPr>
          <p:cNvSpPr/>
          <p:nvPr/>
        </p:nvSpPr>
        <p:spPr>
          <a:xfrm>
            <a:off x="363477" y="228821"/>
            <a:ext cx="3503075" cy="646331"/>
          </a:xfrm>
          <a:prstGeom prst="rect">
            <a:avLst/>
          </a:prstGeom>
        </p:spPr>
        <p:txBody>
          <a:bodyPr wrap="none">
            <a:spAutoFit/>
          </a:bodyPr>
          <a:lstStyle/>
          <a:p>
            <a:pPr lvl="0"/>
            <a:r>
              <a:rPr lang="en-US" altLang="zh-TW" sz="3600" dirty="0">
                <a:solidFill>
                  <a:prstClr val="black"/>
                </a:solidFill>
              </a:rPr>
              <a:t>Architecture(3/3)</a:t>
            </a:r>
          </a:p>
        </p:txBody>
      </p:sp>
      <p:sp>
        <p:nvSpPr>
          <p:cNvPr id="6" name="文字方塊 5">
            <a:extLst>
              <a:ext uri="{FF2B5EF4-FFF2-40B4-BE49-F238E27FC236}">
                <a16:creationId xmlns:a16="http://schemas.microsoft.com/office/drawing/2014/main" id="{2D0F521B-8046-4A1A-8645-AA1A713667DD}"/>
              </a:ext>
            </a:extLst>
          </p:cNvPr>
          <p:cNvSpPr txBox="1"/>
          <p:nvPr/>
        </p:nvSpPr>
        <p:spPr>
          <a:xfrm>
            <a:off x="5397191" y="4951141"/>
            <a:ext cx="2932770" cy="369332"/>
          </a:xfrm>
          <a:prstGeom prst="rect">
            <a:avLst/>
          </a:prstGeom>
          <a:noFill/>
          <a:ln w="38100">
            <a:solidFill>
              <a:srgbClr val="FF0000"/>
            </a:solidFill>
          </a:ln>
        </p:spPr>
        <p:txBody>
          <a:bodyPr wrap="square" rtlCol="0">
            <a:spAutoFit/>
          </a:bodyPr>
          <a:lstStyle/>
          <a:p>
            <a:endParaRPr lang="zh-TW" altLang="en-US" dirty="0"/>
          </a:p>
        </p:txBody>
      </p:sp>
      <p:sp>
        <p:nvSpPr>
          <p:cNvPr id="7" name="矩形 6">
            <a:extLst>
              <a:ext uri="{FF2B5EF4-FFF2-40B4-BE49-F238E27FC236}">
                <a16:creationId xmlns:a16="http://schemas.microsoft.com/office/drawing/2014/main" id="{C7F86A39-6B32-4FFE-8416-CC5D3DB463FF}"/>
              </a:ext>
            </a:extLst>
          </p:cNvPr>
          <p:cNvSpPr/>
          <p:nvPr/>
        </p:nvSpPr>
        <p:spPr>
          <a:xfrm>
            <a:off x="7820722" y="6052639"/>
            <a:ext cx="4256049" cy="646331"/>
          </a:xfrm>
          <a:prstGeom prst="rect">
            <a:avLst/>
          </a:prstGeom>
          <a:ln>
            <a:solidFill>
              <a:schemeClr val="tx1"/>
            </a:solidFill>
          </a:ln>
        </p:spPr>
        <p:txBody>
          <a:bodyPr wrap="square">
            <a:spAutoFit/>
          </a:bodyPr>
          <a:lstStyle/>
          <a:p>
            <a:r>
              <a:rPr lang="en-US" altLang="zh-TW" dirty="0"/>
              <a:t>Inception-v4, Inception-</a:t>
            </a:r>
            <a:r>
              <a:rPr lang="en-US" altLang="zh-TW" dirty="0" err="1"/>
              <a:t>ResNet</a:t>
            </a:r>
            <a:r>
              <a:rPr lang="en-US" altLang="zh-TW" dirty="0"/>
              <a:t> and the </a:t>
            </a:r>
          </a:p>
          <a:p>
            <a:r>
              <a:rPr lang="en-US" altLang="zh-TW" dirty="0"/>
              <a:t>Impact of Residual Connections on Learning</a:t>
            </a:r>
            <a:endParaRPr lang="en-US" altLang="zh-TW" sz="5400" dirty="0"/>
          </a:p>
        </p:txBody>
      </p:sp>
    </p:spTree>
    <p:extLst>
      <p:ext uri="{BB962C8B-B14F-4D97-AF65-F5344CB8AC3E}">
        <p14:creationId xmlns:p14="http://schemas.microsoft.com/office/powerpoint/2010/main" val="2768500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(1/5)</a:t>
            </a:r>
            <a:endParaRPr lang="zh-TW" altLang="en-US" sz="3600" dirty="0"/>
          </a:p>
        </p:txBody>
      </p:sp>
      <p:pic>
        <p:nvPicPr>
          <p:cNvPr id="5" name="圖片 4">
            <a:extLst>
              <a:ext uri="{FF2B5EF4-FFF2-40B4-BE49-F238E27FC236}">
                <a16:creationId xmlns:a16="http://schemas.microsoft.com/office/drawing/2014/main" id="{31355CD3-D2C0-40B6-AD89-6B5FBFDE83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6553" y="1030610"/>
            <a:ext cx="7177447" cy="5786167"/>
          </a:xfrm>
          <a:prstGeom prst="rect">
            <a:avLst/>
          </a:prstGeom>
        </p:spPr>
      </p:pic>
    </p:spTree>
    <p:extLst>
      <p:ext uri="{BB962C8B-B14F-4D97-AF65-F5344CB8AC3E}">
        <p14:creationId xmlns:p14="http://schemas.microsoft.com/office/powerpoint/2010/main" val="303391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(2/5)</a:t>
            </a:r>
            <a:endParaRPr lang="zh-TW" altLang="en-US" sz="3600" dirty="0"/>
          </a:p>
        </p:txBody>
      </p:sp>
      <p:pic>
        <p:nvPicPr>
          <p:cNvPr id="5" name="圖片 4">
            <a:extLst>
              <a:ext uri="{FF2B5EF4-FFF2-40B4-BE49-F238E27FC236}">
                <a16:creationId xmlns:a16="http://schemas.microsoft.com/office/drawing/2014/main" id="{ABF62389-7A8C-436E-848D-6040782AE5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4141" y="950422"/>
            <a:ext cx="7976170" cy="5828739"/>
          </a:xfrm>
          <a:prstGeom prst="rect">
            <a:avLst/>
          </a:prstGeom>
        </p:spPr>
      </p:pic>
    </p:spTree>
    <p:extLst>
      <p:ext uri="{BB962C8B-B14F-4D97-AF65-F5344CB8AC3E}">
        <p14:creationId xmlns:p14="http://schemas.microsoft.com/office/powerpoint/2010/main" val="1176341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(3/5)</a:t>
            </a:r>
            <a:endParaRPr lang="zh-TW" altLang="en-US" sz="3600" dirty="0"/>
          </a:p>
        </p:txBody>
      </p:sp>
      <p:pic>
        <p:nvPicPr>
          <p:cNvPr id="5" name="圖片 4">
            <a:extLst>
              <a:ext uri="{FF2B5EF4-FFF2-40B4-BE49-F238E27FC236}">
                <a16:creationId xmlns:a16="http://schemas.microsoft.com/office/drawing/2014/main" id="{5508F961-629D-4741-9084-57D2365331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4727" y="1095829"/>
            <a:ext cx="5890187" cy="5650660"/>
          </a:xfrm>
          <a:prstGeom prst="rect">
            <a:avLst/>
          </a:prstGeom>
        </p:spPr>
      </p:pic>
      <p:sp>
        <p:nvSpPr>
          <p:cNvPr id="7" name="矩形 6">
            <a:extLst>
              <a:ext uri="{FF2B5EF4-FFF2-40B4-BE49-F238E27FC236}">
                <a16:creationId xmlns:a16="http://schemas.microsoft.com/office/drawing/2014/main" id="{6E2FB795-6832-4156-B276-12A219A0274B}"/>
              </a:ext>
            </a:extLst>
          </p:cNvPr>
          <p:cNvSpPr/>
          <p:nvPr/>
        </p:nvSpPr>
        <p:spPr>
          <a:xfrm>
            <a:off x="2899317" y="1884556"/>
            <a:ext cx="5307981" cy="71367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2B2AF4F9-74C9-45F8-A0B4-B801ED8FFF73}"/>
              </a:ext>
            </a:extLst>
          </p:cNvPr>
          <p:cNvSpPr/>
          <p:nvPr/>
        </p:nvSpPr>
        <p:spPr>
          <a:xfrm>
            <a:off x="2750634" y="4835912"/>
            <a:ext cx="5456664" cy="71367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15628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(4/5)</a:t>
            </a:r>
            <a:endParaRPr lang="zh-TW" altLang="en-US" sz="3600" dirty="0"/>
          </a:p>
        </p:txBody>
      </p:sp>
      <p:pic>
        <p:nvPicPr>
          <p:cNvPr id="6" name="圖片 5">
            <a:extLst>
              <a:ext uri="{FF2B5EF4-FFF2-40B4-BE49-F238E27FC236}">
                <a16:creationId xmlns:a16="http://schemas.microsoft.com/office/drawing/2014/main" id="{2C7EC74D-0A0A-4F46-BCE7-124D42141BC1}"/>
              </a:ext>
            </a:extLst>
          </p:cNvPr>
          <p:cNvPicPr>
            <a:picLocks noChangeAspect="1"/>
          </p:cNvPicPr>
          <p:nvPr/>
        </p:nvPicPr>
        <p:blipFill rotWithShape="1">
          <a:blip r:embed="rId2">
            <a:extLst>
              <a:ext uri="{28A0092B-C50C-407E-A947-70E740481C1C}">
                <a14:useLocalDpi xmlns:a14="http://schemas.microsoft.com/office/drawing/2010/main" val="0"/>
              </a:ext>
            </a:extLst>
          </a:blip>
          <a:srcRect b="56589"/>
          <a:stretch/>
        </p:blipFill>
        <p:spPr>
          <a:xfrm>
            <a:off x="228287" y="911658"/>
            <a:ext cx="11201713" cy="5762960"/>
          </a:xfrm>
          <a:prstGeom prst="rect">
            <a:avLst/>
          </a:prstGeom>
        </p:spPr>
      </p:pic>
      <p:sp>
        <p:nvSpPr>
          <p:cNvPr id="7" name="矩形 6">
            <a:extLst>
              <a:ext uri="{FF2B5EF4-FFF2-40B4-BE49-F238E27FC236}">
                <a16:creationId xmlns:a16="http://schemas.microsoft.com/office/drawing/2014/main" id="{019BA018-71C2-4D39-818C-2D527AAB05B2}"/>
              </a:ext>
            </a:extLst>
          </p:cNvPr>
          <p:cNvSpPr/>
          <p:nvPr/>
        </p:nvSpPr>
        <p:spPr>
          <a:xfrm>
            <a:off x="568712" y="1940312"/>
            <a:ext cx="10549053" cy="13776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789993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(5/5)</a:t>
            </a:r>
            <a:endParaRPr lang="zh-TW" altLang="en-US" sz="3600" dirty="0"/>
          </a:p>
        </p:txBody>
      </p:sp>
      <p:pic>
        <p:nvPicPr>
          <p:cNvPr id="6" name="圖片 5">
            <a:extLst>
              <a:ext uri="{FF2B5EF4-FFF2-40B4-BE49-F238E27FC236}">
                <a16:creationId xmlns:a16="http://schemas.microsoft.com/office/drawing/2014/main" id="{0320AE83-432F-44A4-B3FE-632E8D758C39}"/>
              </a:ext>
            </a:extLst>
          </p:cNvPr>
          <p:cNvPicPr>
            <a:picLocks noChangeAspect="1"/>
          </p:cNvPicPr>
          <p:nvPr/>
        </p:nvPicPr>
        <p:blipFill rotWithShape="1">
          <a:blip r:embed="rId2">
            <a:extLst>
              <a:ext uri="{28A0092B-C50C-407E-A947-70E740481C1C}">
                <a14:useLocalDpi xmlns:a14="http://schemas.microsoft.com/office/drawing/2010/main" val="0"/>
              </a:ext>
            </a:extLst>
          </a:blip>
          <a:srcRect t="46089"/>
          <a:stretch/>
        </p:blipFill>
        <p:spPr>
          <a:xfrm>
            <a:off x="252760" y="950422"/>
            <a:ext cx="8946996" cy="5716351"/>
          </a:xfrm>
          <a:prstGeom prst="rect">
            <a:avLst/>
          </a:prstGeom>
        </p:spPr>
      </p:pic>
      <p:sp>
        <p:nvSpPr>
          <p:cNvPr id="7" name="矩形 6">
            <a:extLst>
              <a:ext uri="{FF2B5EF4-FFF2-40B4-BE49-F238E27FC236}">
                <a16:creationId xmlns:a16="http://schemas.microsoft.com/office/drawing/2014/main" id="{D772908E-5772-458F-813C-9FFA413DCD56}"/>
              </a:ext>
            </a:extLst>
          </p:cNvPr>
          <p:cNvSpPr/>
          <p:nvPr/>
        </p:nvSpPr>
        <p:spPr>
          <a:xfrm>
            <a:off x="788019" y="1728438"/>
            <a:ext cx="7999142" cy="71367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97845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76B49376-83BE-4341-9D7B-B9F4A523581A}"/>
              </a:ext>
            </a:extLst>
          </p:cNvPr>
          <p:cNvSpPr txBox="1"/>
          <p:nvPr/>
        </p:nvSpPr>
        <p:spPr>
          <a:xfrm>
            <a:off x="3520967" y="2828835"/>
            <a:ext cx="4359270" cy="1200329"/>
          </a:xfrm>
          <a:prstGeom prst="rect">
            <a:avLst/>
          </a:prstGeom>
          <a:noFill/>
        </p:spPr>
        <p:txBody>
          <a:bodyPr wrap="none" rtlCol="0">
            <a:spAutoFit/>
          </a:bodyPr>
          <a:lstStyle/>
          <a:p>
            <a:r>
              <a:rPr lang="en-US" altLang="zh-TW" sz="7200" dirty="0"/>
              <a:t>Thank you!</a:t>
            </a:r>
            <a:endParaRPr lang="zh-TW" altLang="en-US" sz="7200" dirty="0"/>
          </a:p>
        </p:txBody>
      </p:sp>
    </p:spTree>
    <p:extLst>
      <p:ext uri="{BB962C8B-B14F-4D97-AF65-F5344CB8AC3E}">
        <p14:creationId xmlns:p14="http://schemas.microsoft.com/office/powerpoint/2010/main" val="308882352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4276</TotalTime>
  <Words>498</Words>
  <Application>Microsoft Office PowerPoint</Application>
  <PresentationFormat>寬螢幕</PresentationFormat>
  <Paragraphs>64</Paragraphs>
  <Slides>17</Slides>
  <Notes>9</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17</vt:i4>
      </vt:variant>
    </vt:vector>
  </HeadingPairs>
  <TitlesOfParts>
    <vt:vector size="22" baseType="lpstr">
      <vt:lpstr>Arial</vt:lpstr>
      <vt:lpstr>Calibri</vt:lpstr>
      <vt:lpstr>Calibri Light</vt:lpstr>
      <vt:lpstr>Times New Roman</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佳琳 陳</dc:creator>
  <cp:lastModifiedBy>YanLee</cp:lastModifiedBy>
  <cp:revision>254</cp:revision>
  <dcterms:created xsi:type="dcterms:W3CDTF">2019-02-09T07:24:26Z</dcterms:created>
  <dcterms:modified xsi:type="dcterms:W3CDTF">2019-04-23T09:22:29Z</dcterms:modified>
</cp:coreProperties>
</file>