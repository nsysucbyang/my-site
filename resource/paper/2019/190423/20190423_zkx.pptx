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7" r:id="rId2"/>
    <p:sldId id="258" r:id="rId3"/>
    <p:sldId id="259" r:id="rId4"/>
    <p:sldId id="260" r:id="rId5"/>
    <p:sldId id="330" r:id="rId6"/>
    <p:sldId id="329" r:id="rId7"/>
    <p:sldId id="331" r:id="rId8"/>
    <p:sldId id="317" r:id="rId9"/>
    <p:sldId id="332" r:id="rId10"/>
    <p:sldId id="318" r:id="rId11"/>
    <p:sldId id="309" r:id="rId12"/>
    <p:sldId id="338" r:id="rId13"/>
    <p:sldId id="334" r:id="rId14"/>
    <p:sldId id="339" r:id="rId15"/>
    <p:sldId id="312" r:id="rId16"/>
    <p:sldId id="342" r:id="rId17"/>
    <p:sldId id="346" r:id="rId18"/>
    <p:sldId id="335" r:id="rId19"/>
    <p:sldId id="341" r:id="rId20"/>
    <p:sldId id="340" r:id="rId21"/>
    <p:sldId id="336" r:id="rId22"/>
    <p:sldId id="343" r:id="rId23"/>
    <p:sldId id="337" r:id="rId24"/>
    <p:sldId id="344" r:id="rId25"/>
    <p:sldId id="345" r:id="rId26"/>
    <p:sldId id="347" r:id="rId27"/>
    <p:sldId id="349" r:id="rId28"/>
    <p:sldId id="348" r:id="rId29"/>
    <p:sldId id="352" r:id="rId30"/>
    <p:sldId id="353" r:id="rId31"/>
    <p:sldId id="350" r:id="rId32"/>
    <p:sldId id="354" r:id="rId33"/>
    <p:sldId id="351"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59" d="100"/>
          <a:sy n="59" d="100"/>
        </p:scale>
        <p:origin x="91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E1CC90-5860-4773-94E4-A7C5C8AC2E96}" type="datetimeFigureOut">
              <a:rPr lang="zh-CN" altLang="en-US" smtClean="0"/>
              <a:t>2019/4/23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0889F-DB18-4D0A-BA0B-9C49CA35EF45}" type="slidenum">
              <a:rPr lang="zh-CN" altLang="en-US" smtClean="0"/>
              <a:t>‹#›</a:t>
            </a:fld>
            <a:endParaRPr lang="zh-CN" altLang="en-US"/>
          </a:p>
        </p:txBody>
      </p:sp>
    </p:spTree>
    <p:extLst>
      <p:ext uri="{BB962C8B-B14F-4D97-AF65-F5344CB8AC3E}">
        <p14:creationId xmlns:p14="http://schemas.microsoft.com/office/powerpoint/2010/main" val="3436611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iclr.cc/"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ai.google/research/" TargetMode="External"/><Relationship Id="rId4" Type="http://schemas.openxmlformats.org/officeDocument/2006/relationships/hyperlink" Target="https://zh.wikipedia.org/wiki/%E8%B0%B7%E6%AD%8C%E5%A4%A7%E8%84%91"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hlinkClick r:id="rId3"/>
              </a:rPr>
              <a:t>https://iclr.cc/</a:t>
            </a:r>
            <a:endParaRPr lang="en-US" altLang="zh-CN" dirty="0"/>
          </a:p>
          <a:p>
            <a:pPr marL="0" lvl="0" indent="0" algn="l" rtl="0">
              <a:spcBef>
                <a:spcPts val="0"/>
              </a:spcBef>
              <a:spcAft>
                <a:spcPts val="0"/>
              </a:spcAft>
              <a:buNone/>
            </a:pPr>
            <a:r>
              <a:rPr lang="en-US" altLang="zh-CN" dirty="0">
                <a:hlinkClick r:id="rId4"/>
              </a:rPr>
              <a:t>https://zh.wikipedia.org/wiki/%E8%B0%B7%E6%AD%8C%E5%A4%A7%E8%84%91</a:t>
            </a:r>
            <a:endParaRPr lang="en-US" altLang="zh-CN" dirty="0"/>
          </a:p>
          <a:p>
            <a:pPr marL="0" lvl="0" indent="0" algn="l" rtl="0">
              <a:spcBef>
                <a:spcPts val="0"/>
              </a:spcBef>
              <a:spcAft>
                <a:spcPts val="0"/>
              </a:spcAft>
              <a:buNone/>
            </a:pPr>
            <a:r>
              <a:rPr lang="en-US" altLang="zh-CN" dirty="0">
                <a:hlinkClick r:id="rId5"/>
              </a:rPr>
              <a:t>https://ai.google/research/</a:t>
            </a:r>
            <a:endParaRPr lang="en-US"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extLst>
      <p:ext uri="{BB962C8B-B14F-4D97-AF65-F5344CB8AC3E}">
        <p14:creationId xmlns:p14="http://schemas.microsoft.com/office/powerpoint/2010/main" val="2102457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5277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2885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Rasmussen, C. E. (2003). </a:t>
            </a:r>
            <a:r>
              <a:rPr lang="en-US" b="0" i="0" u="sng" baseline="0" dirty="0"/>
              <a:t>Gaussian processes in machine learning</a:t>
            </a:r>
            <a:r>
              <a:rPr lang="en-US" b="0" i="0" u="none" baseline="0" dirty="0"/>
              <a:t>. Summer School on Machine Learning, Springer.</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5924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7829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102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4269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0621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20503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185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4965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5660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1547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04538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5103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1747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6276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1847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69350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err="1"/>
              <a:t>Keskar</a:t>
            </a:r>
            <a:r>
              <a:rPr lang="en-US" b="0" i="0" u="none" baseline="0" dirty="0"/>
              <a:t>, N. S., et al. (2016). "On large-batch training for deep learning: Generalization gap and sharp minima." </a:t>
            </a:r>
            <a:r>
              <a:rPr lang="en-US" b="0" i="0" u="sng" baseline="0" dirty="0" err="1"/>
              <a:t>arXiv</a:t>
            </a:r>
            <a:r>
              <a:rPr lang="en-US" b="0" i="0" u="sng" baseline="0" dirty="0"/>
              <a:t> preprint arXiv:1609.04836</a:t>
            </a:r>
            <a:r>
              <a:rPr lang="en-US" b="0" i="0" u="none" baseline="0" dirty="0"/>
              <a:t>.</a:t>
            </a:r>
          </a:p>
          <a:p>
            <a:pPr marL="0" lvl="0" indent="0" algn="l" rtl="0">
              <a:spcBef>
                <a:spcPts val="0"/>
              </a:spcBef>
              <a:spcAft>
                <a:spcPts val="0"/>
              </a:spcAft>
              <a:buNone/>
            </a:pPr>
            <a:endParaRPr b="0" i="0" u="sng" baseline="0" dirty="0"/>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31865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22725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43472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85941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97218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54481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11022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11989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02635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22758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89403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97950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48013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358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2019/4/23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2019/4/23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2019/4/23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2019/4/23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2019/4/23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2019/4/23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2019/4/23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tmp"/><Relationship Id="rId4" Type="http://schemas.openxmlformats.org/officeDocument/2006/relationships/image" Target="../media/image2.tmp"/></Relationships>
</file>

<file path=ppt/slides/_rels/slide5.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tmp"/><Relationship Id="rId4" Type="http://schemas.openxmlformats.org/officeDocument/2006/relationships/image" Target="../media/image7.tmp"/></Relationships>
</file>

<file path=ppt/slides/_rels/slide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tmp"/></Relationships>
</file>

<file path=ppt/slides/_rels/slide11.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6.tmp"/><Relationship Id="rId5" Type="http://schemas.openxmlformats.org/officeDocument/2006/relationships/image" Target="../media/image15.tmp"/><Relationship Id="rId4" Type="http://schemas.openxmlformats.org/officeDocument/2006/relationships/image" Target="../media/image14.tmp"/></Relationships>
</file>

<file path=ppt/slides/_rels/slide12.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tmp"/><Relationship Id="rId7" Type="http://schemas.openxmlformats.org/officeDocument/2006/relationships/image" Target="../media/image22.tmp"/><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tmp"/><Relationship Id="rId5" Type="http://schemas.openxmlformats.org/officeDocument/2006/relationships/image" Target="../media/image20.tmp"/><Relationship Id="rId4" Type="http://schemas.openxmlformats.org/officeDocument/2006/relationships/image" Target="../media/image19.tmp"/></Relationships>
</file>

<file path=ppt/slides/_rels/slide14.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tmp"/><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tmp"/><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tmp"/><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6.tmp"/></Relationships>
</file>

<file path=ppt/slides/_rels/slide27.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tmp"/><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1.tmp"/><Relationship Id="rId5" Type="http://schemas.openxmlformats.org/officeDocument/2006/relationships/image" Target="../media/image40.tmp"/><Relationship Id="rId4" Type="http://schemas.openxmlformats.org/officeDocument/2006/relationships/image" Target="../media/image39.tmp"/></Relationships>
</file>

<file path=ppt/slides/_rels/slide29.xml.rels><?xml version="1.0" encoding="UTF-8" standalone="yes"?>
<Relationships xmlns="http://schemas.openxmlformats.org/package/2006/relationships"><Relationship Id="rId3" Type="http://schemas.openxmlformats.org/officeDocument/2006/relationships/image" Target="../media/image42.tmp"/><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3.tmp"/><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4.tmp"/><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5.tmp"/><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6.tmp"/><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856855" y="471398"/>
            <a:ext cx="10477020" cy="1356957"/>
          </a:xfrm>
          <a:prstGeom prst="rect">
            <a:avLst/>
          </a:prstGeom>
          <a:noFill/>
          <a:ln>
            <a:noFill/>
          </a:ln>
        </p:spPr>
        <p:txBody>
          <a:bodyPr spcFirstLastPara="1" wrap="square" lIns="91425" tIns="45700" rIns="91425" bIns="45700" anchor="b" anchorCtr="0">
            <a:noAutofit/>
          </a:bodyPr>
          <a:lstStyle/>
          <a:p>
            <a:pPr lvl="0">
              <a:buSzPts val="3600"/>
            </a:pPr>
            <a:r>
              <a:rPr lang="en-US" sz="3600" dirty="0">
                <a:latin typeface="Calibri" panose="020F0502020204030204" charset="0"/>
                <a:cs typeface="Calibri" panose="020F0502020204030204" charset="0"/>
              </a:rPr>
              <a:t>DEEP NEURAL NETWORKS AS GAUSSIAN PROCESSES</a:t>
            </a:r>
          </a:p>
        </p:txBody>
      </p:sp>
      <p:sp>
        <p:nvSpPr>
          <p:cNvPr id="90" name="Google Shape;90;p13"/>
          <p:cNvSpPr txBox="1">
            <a:spLocks noGrp="1"/>
          </p:cNvSpPr>
          <p:nvPr>
            <p:ph type="subTitle" idx="1"/>
          </p:nvPr>
        </p:nvSpPr>
        <p:spPr>
          <a:xfrm>
            <a:off x="1145540" y="2339975"/>
            <a:ext cx="9899650" cy="1039495"/>
          </a:xfrm>
          <a:prstGeom prst="rect">
            <a:avLst/>
          </a:prstGeom>
          <a:noFill/>
          <a:ln>
            <a:noFill/>
          </a:ln>
        </p:spPr>
        <p:txBody>
          <a:bodyPr spcFirstLastPara="1" wrap="square" lIns="91425" tIns="45700" rIns="91425" bIns="45700" anchor="t" anchorCtr="0">
            <a:noAutofit/>
          </a:bodyPr>
          <a:lstStyle/>
          <a:p>
            <a:pPr lvl="0">
              <a:spcBef>
                <a:spcPts val="0"/>
              </a:spcBef>
              <a:buSzPts val="2800"/>
            </a:pPr>
            <a:r>
              <a:rPr lang="es-ES" altLang="zh-CN" dirty="0"/>
              <a:t>Jaehoon Lee, Yasaman Bahri, Roman Novak , Samuel S. Schoenholz,</a:t>
            </a:r>
          </a:p>
          <a:p>
            <a:pPr lvl="0">
              <a:spcBef>
                <a:spcPts val="0"/>
              </a:spcBef>
              <a:buSzPts val="2800"/>
            </a:pPr>
            <a:r>
              <a:rPr lang="es-ES" altLang="zh-CN" dirty="0"/>
              <a:t>Jeffrey Pennington, Jascha Sohl-Dickstein</a:t>
            </a:r>
            <a:endParaRPr sz="2600" dirty="0"/>
          </a:p>
        </p:txBody>
      </p:sp>
      <p:sp>
        <p:nvSpPr>
          <p:cNvPr id="91" name="Google Shape;91;p13"/>
          <p:cNvSpPr txBox="1">
            <a:spLocks noGrp="1"/>
          </p:cNvSpPr>
          <p:nvPr>
            <p:ph type="sldNum" idx="12"/>
          </p:nvPr>
        </p:nvSpPr>
        <p:spPr>
          <a:xfrm>
            <a:off x="8354568" y="6485003"/>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lang="en-US"/>
          </a:p>
        </p:txBody>
      </p:sp>
      <p:sp>
        <p:nvSpPr>
          <p:cNvPr id="92" name="Google Shape;92;p13"/>
          <p:cNvSpPr txBox="1"/>
          <p:nvPr/>
        </p:nvSpPr>
        <p:spPr>
          <a:xfrm>
            <a:off x="1048428" y="3891090"/>
            <a:ext cx="10095142" cy="902739"/>
          </a:xfrm>
          <a:prstGeom prst="rect">
            <a:avLst/>
          </a:prstGeom>
          <a:noFill/>
          <a:ln>
            <a:noFill/>
          </a:ln>
        </p:spPr>
        <p:txBody>
          <a:bodyPr spcFirstLastPara="1" wrap="square" lIns="91425" tIns="45700" rIns="91425" bIns="45700" anchor="t" anchorCtr="0">
            <a:noAutofit/>
          </a:bodyPr>
          <a:lstStyle/>
          <a:p>
            <a:pPr lvl="0" algn="ctr">
              <a:lnSpc>
                <a:spcPct val="90000"/>
              </a:lnSpc>
              <a:buClr>
                <a:schemeClr val="dk1"/>
              </a:buClr>
              <a:buSzPts val="2800"/>
            </a:pPr>
            <a:r>
              <a:rPr lang="en-US" sz="2800" b="1" dirty="0">
                <a:solidFill>
                  <a:schemeClr val="dk1"/>
                </a:solidFill>
                <a:latin typeface="Calibri" panose="020F0502020204030204" charset="0"/>
                <a:ea typeface="Questrial" panose="02000000000000000000"/>
                <a:cs typeface="Calibri" panose="020F0502020204030204" charset="0"/>
                <a:sym typeface="Questrial" panose="02000000000000000000"/>
              </a:rPr>
              <a:t>Published version in ICLR </a:t>
            </a:r>
            <a:r>
              <a:rPr lang="en-US" sz="2800" b="1" dirty="0" smtClean="0">
                <a:solidFill>
                  <a:schemeClr val="dk1"/>
                </a:solidFill>
                <a:latin typeface="Calibri" panose="020F0502020204030204" charset="0"/>
                <a:ea typeface="Questrial" panose="02000000000000000000"/>
                <a:cs typeface="Calibri" panose="020F0502020204030204" charset="0"/>
                <a:sym typeface="Questrial" panose="02000000000000000000"/>
              </a:rPr>
              <a:t>2018</a:t>
            </a:r>
            <a:r>
              <a:rPr lang="en-US" sz="2800" b="1" dirty="0">
                <a:solidFill>
                  <a:schemeClr val="dk1"/>
                </a:solidFill>
                <a:latin typeface="Calibri" panose="020F0502020204030204" charset="0"/>
                <a:ea typeface="Questrial" panose="02000000000000000000"/>
                <a:cs typeface="Calibri" panose="020F0502020204030204" charset="0"/>
                <a:sym typeface="Questrial" panose="02000000000000000000"/>
              </a:rPr>
              <a:t>. 10, Vancouver CANADA </a:t>
            </a:r>
            <a:r>
              <a:rPr lang="en-US" sz="2800" b="1" dirty="0" smtClean="0">
                <a:solidFill>
                  <a:schemeClr val="dk1"/>
                </a:solidFill>
                <a:latin typeface="Calibri" panose="020F0502020204030204" charset="0"/>
                <a:ea typeface="Questrial" panose="02000000000000000000"/>
                <a:cs typeface="Calibri" panose="020F0502020204030204" charset="0"/>
                <a:sym typeface="Questrial" panose="02000000000000000000"/>
              </a:rPr>
              <a:t>.</a:t>
            </a:r>
          </a:p>
          <a:p>
            <a:pPr lvl="0" algn="ctr">
              <a:lnSpc>
                <a:spcPct val="90000"/>
              </a:lnSpc>
              <a:buClr>
                <a:schemeClr val="dk1"/>
              </a:buClr>
              <a:buSzPts val="2800"/>
            </a:pPr>
            <a:r>
              <a:rPr lang="en-US" altLang="zh-TW" sz="2800"/>
              <a:t>Seventh International Conference on Learning Representations</a:t>
            </a:r>
            <a:r>
              <a:rPr lang="en-US" sz="2800" b="1" smtClean="0">
                <a:solidFill>
                  <a:schemeClr val="dk1"/>
                </a:solidFill>
                <a:latin typeface="Calibri" panose="020F0502020204030204" charset="0"/>
                <a:ea typeface="Questrial" panose="02000000000000000000"/>
                <a:cs typeface="Calibri" panose="020F0502020204030204" charset="0"/>
                <a:sym typeface="Questrial" panose="02000000000000000000"/>
              </a:rPr>
              <a:t> </a:t>
            </a:r>
            <a:endParaRPr lang="en-US" sz="2800"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
        <p:nvSpPr>
          <p:cNvPr id="93" name="Google Shape;93;p13"/>
          <p:cNvSpPr txBox="1"/>
          <p:nvPr/>
        </p:nvSpPr>
        <p:spPr>
          <a:xfrm>
            <a:off x="1192823" y="5265553"/>
            <a:ext cx="9806355" cy="9027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Presenter: </a:t>
            </a:r>
            <a:r>
              <a:rPr lang="en-US" sz="2800" b="0" i="0" u="none" strike="noStrike" cap="none" dirty="0" err="1">
                <a:solidFill>
                  <a:schemeClr val="dk1"/>
                </a:solidFill>
                <a:latin typeface="Calibri" panose="020F0502020204030204" charset="0"/>
                <a:ea typeface="Questrial" panose="02000000000000000000"/>
                <a:cs typeface="Calibri" panose="020F0502020204030204" charset="0"/>
                <a:sym typeface="Questrial" panose="02000000000000000000"/>
              </a:rPr>
              <a:t>Ke</a:t>
            </a: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-Xin Zhu</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a:p>
            <a:pPr marL="0" marR="0" lvl="0" indent="0" algn="ctr" rtl="0">
              <a:lnSpc>
                <a:spcPct val="90000"/>
              </a:lnSpc>
              <a:spcBef>
                <a:spcPts val="100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Date: </a:t>
            </a:r>
            <a:r>
              <a:rPr lang="en-US" sz="2800" b="0" i="0" u="none" strike="noStrike" cap="none" dirty="0" smtClean="0">
                <a:solidFill>
                  <a:schemeClr val="dk1"/>
                </a:solidFill>
                <a:latin typeface="Calibri" panose="020F0502020204030204" charset="0"/>
                <a:ea typeface="Questrial" panose="02000000000000000000"/>
                <a:cs typeface="Calibri" panose="020F0502020204030204" charset="0"/>
                <a:sym typeface="Questrial" panose="02000000000000000000"/>
              </a:rPr>
              <a:t>2019/04/23</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 (1/2)</a:t>
            </a:r>
          </a:p>
        </p:txBody>
      </p:sp>
      <p:sp>
        <p:nvSpPr>
          <p:cNvPr id="99" name="Google Shape;99;p14"/>
          <p:cNvSpPr txBox="1">
            <a:spLocks noGrp="1"/>
          </p:cNvSpPr>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dirty="0"/>
              <a:t>It has long been known that a single-layer fully-connected neural network with an </a:t>
            </a:r>
            <a:r>
              <a:rPr lang="en-US" dirty="0" err="1"/>
              <a:t>i.i.d</a:t>
            </a:r>
            <a:r>
              <a:rPr lang="en-US" dirty="0"/>
              <a:t>. prior over its parameters is equivalent to a Gaussian process (GP), in the limit of infinite network width. This correspondence enables exact Bayesian inference for infinite width neural networks on regression tasks by means of evaluating the corresponding GP. Recently, kernel functions which mimic multi-layer random neural networks have been developed, but only outside of a Bayesian framework. As such, previous work has not identified that these kernels can be used as covariance functions for GPs and allow fully Bayesian prediction with a deep neural network. </a:t>
            </a:r>
          </a:p>
          <a:p>
            <a:pPr marL="0" lvl="0" indent="0">
              <a:spcBef>
                <a:spcPts val="0"/>
              </a:spcBef>
              <a:buSzPts val="2800"/>
              <a:buNone/>
            </a:pPr>
            <a:r>
              <a:rPr lang="en-US" altLang="zh-CN" dirty="0"/>
              <a:t>In this work, we derive the exact equivalence between infinitely wide deep networks and GPs. </a:t>
            </a:r>
            <a:endParaRPr lang="en-US" dirty="0"/>
          </a:p>
        </p:txBody>
      </p:sp>
      <p:sp>
        <p:nvSpPr>
          <p:cNvPr id="100" name="Google Shape;100;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 (2/2)</a:t>
            </a:r>
          </a:p>
        </p:txBody>
      </p:sp>
      <p:sp>
        <p:nvSpPr>
          <p:cNvPr id="106" name="Google Shape;106;p15"/>
          <p:cNvSpPr txBox="1">
            <a:spLocks noGrp="1"/>
          </p:cNvSpPr>
          <p:nvPr>
            <p:ph type="body" idx="1"/>
          </p:nvPr>
        </p:nvSpPr>
        <p:spPr>
          <a:xfrm>
            <a:off x="838200" y="1690690"/>
            <a:ext cx="10011032"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altLang="zh-CN" dirty="0"/>
              <a:t>We further develop a computationally efficient pipeline to compute the covariance function for these GPs. </a:t>
            </a:r>
            <a:r>
              <a:rPr lang="en-US" dirty="0"/>
              <a:t>We then use the resulting GPs to perform Bayesian inference for wide deep neural networks on MNIST and CIFAR-10. We observe that trained neural network accuracy approaches that of the corresponding GP with increasing layer width, and that the GP uncertainty is strongly correlated with trained network prediction error. We further find that test performance increases as finite-width trained networks are made wider and more similar to a GP, and thus that GP predictions typically outperform those of finite-width networks. Finally we connect the performance of these GPs to the recent theory of signal propagation in random neural networks.</a:t>
            </a:r>
          </a:p>
        </p:txBody>
      </p:sp>
      <p:sp>
        <p:nvSpPr>
          <p:cNvPr id="107" name="Google Shape;107;p1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1.1 Gaussian Processes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lang="en-US"/>
          </a:p>
        </p:txBody>
      </p:sp>
      <p:pic>
        <p:nvPicPr>
          <p:cNvPr id="11" name="图片 10">
            <a:extLst>
              <a:ext uri="{FF2B5EF4-FFF2-40B4-BE49-F238E27FC236}">
                <a16:creationId xmlns:a16="http://schemas.microsoft.com/office/drawing/2014/main" xmlns="" id="{79942DBB-7EDF-40E2-8C3E-6B2EFB8395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90690"/>
            <a:ext cx="10078857" cy="495369"/>
          </a:xfrm>
          <a:prstGeom prst="rect">
            <a:avLst/>
          </a:prstGeom>
        </p:spPr>
      </p:pic>
      <p:pic>
        <p:nvPicPr>
          <p:cNvPr id="13" name="图片 12">
            <a:extLst>
              <a:ext uri="{FF2B5EF4-FFF2-40B4-BE49-F238E27FC236}">
                <a16:creationId xmlns:a16="http://schemas.microsoft.com/office/drawing/2014/main" xmlns="" id="{B5928B19-823F-4B7B-89A5-7AF1F62C6A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0751" y="2976499"/>
            <a:ext cx="8726118" cy="905001"/>
          </a:xfrm>
          <a:prstGeom prst="rect">
            <a:avLst/>
          </a:prstGeom>
        </p:spPr>
      </p:pic>
      <p:pic>
        <p:nvPicPr>
          <p:cNvPr id="15" name="图片 14">
            <a:extLst>
              <a:ext uri="{FF2B5EF4-FFF2-40B4-BE49-F238E27FC236}">
                <a16:creationId xmlns:a16="http://schemas.microsoft.com/office/drawing/2014/main" xmlns="" id="{4FBC0734-4F3C-43CB-9F40-422751651F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0751" y="4671940"/>
            <a:ext cx="6239746" cy="5239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1.1 Gaussian Processes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lang="en-US"/>
          </a:p>
        </p:txBody>
      </p:sp>
      <p:pic>
        <p:nvPicPr>
          <p:cNvPr id="3" name="图片 2">
            <a:extLst>
              <a:ext uri="{FF2B5EF4-FFF2-40B4-BE49-F238E27FC236}">
                <a16:creationId xmlns:a16="http://schemas.microsoft.com/office/drawing/2014/main" xmlns="" id="{D7D8ED61-2A7A-47CF-A2CB-F59FCD2B40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5651" y="2552577"/>
            <a:ext cx="9840698" cy="1752845"/>
          </a:xfrm>
          <a:prstGeom prst="rect">
            <a:avLst/>
          </a:prstGeom>
        </p:spPr>
      </p:pic>
    </p:spTree>
    <p:extLst>
      <p:ext uri="{BB962C8B-B14F-4D97-AF65-F5344CB8AC3E}">
        <p14:creationId xmlns:p14="http://schemas.microsoft.com/office/powerpoint/2010/main" val="2366173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1.1 Gaussian Processes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lang="en-US"/>
          </a:p>
        </p:txBody>
      </p:sp>
      <p:pic>
        <p:nvPicPr>
          <p:cNvPr id="3" name="图片 2">
            <a:extLst>
              <a:ext uri="{FF2B5EF4-FFF2-40B4-BE49-F238E27FC236}">
                <a16:creationId xmlns:a16="http://schemas.microsoft.com/office/drawing/2014/main" xmlns="" id="{E11DB671-861E-4442-A227-20A78B02A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3525" y="1551120"/>
            <a:ext cx="8684950" cy="5170357"/>
          </a:xfrm>
          <a:prstGeom prst="rect">
            <a:avLst/>
          </a:prstGeom>
        </p:spPr>
      </p:pic>
    </p:spTree>
    <p:extLst>
      <p:ext uri="{BB962C8B-B14F-4D97-AF65-F5344CB8AC3E}">
        <p14:creationId xmlns:p14="http://schemas.microsoft.com/office/powerpoint/2010/main" val="828764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1.2 Posterior Gaussian Process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lang="en-US"/>
          </a:p>
        </p:txBody>
      </p:sp>
      <p:pic>
        <p:nvPicPr>
          <p:cNvPr id="3" name="图片 2">
            <a:extLst>
              <a:ext uri="{FF2B5EF4-FFF2-40B4-BE49-F238E27FC236}">
                <a16:creationId xmlns:a16="http://schemas.microsoft.com/office/drawing/2014/main" xmlns="" id="{427553EC-DCA5-4F4B-B2B3-C4522BDD04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7541" y="1691005"/>
            <a:ext cx="7268589" cy="1019317"/>
          </a:xfrm>
          <a:prstGeom prst="rect">
            <a:avLst/>
          </a:prstGeom>
        </p:spPr>
      </p:pic>
      <p:pic>
        <p:nvPicPr>
          <p:cNvPr id="5" name="图片 4">
            <a:extLst>
              <a:ext uri="{FF2B5EF4-FFF2-40B4-BE49-F238E27FC236}">
                <a16:creationId xmlns:a16="http://schemas.microsoft.com/office/drawing/2014/main" xmlns="" id="{DAC812D2-8E5F-4E78-8B13-9D415087AC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7541" y="3157499"/>
            <a:ext cx="8621328" cy="543001"/>
          </a:xfrm>
          <a:prstGeom prst="rect">
            <a:avLst/>
          </a:prstGeom>
        </p:spPr>
      </p:pic>
      <p:pic>
        <p:nvPicPr>
          <p:cNvPr id="7" name="图片 6">
            <a:extLst>
              <a:ext uri="{FF2B5EF4-FFF2-40B4-BE49-F238E27FC236}">
                <a16:creationId xmlns:a16="http://schemas.microsoft.com/office/drawing/2014/main" xmlns="" id="{095D8A3C-6986-4CC0-8A22-D7A9022DA4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85620" y="4036202"/>
            <a:ext cx="8745170" cy="1619476"/>
          </a:xfrm>
          <a:prstGeom prst="rect">
            <a:avLst/>
          </a:prstGeom>
        </p:spPr>
      </p:pic>
    </p:spTree>
    <p:extLst>
      <p:ext uri="{BB962C8B-B14F-4D97-AF65-F5344CB8AC3E}">
        <p14:creationId xmlns:p14="http://schemas.microsoft.com/office/powerpoint/2010/main" val="3272900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700404" y="301026"/>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1.2 Posterior Gaussian Process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lang="en-US"/>
          </a:p>
        </p:txBody>
      </p:sp>
      <p:pic>
        <p:nvPicPr>
          <p:cNvPr id="4" name="图片 3">
            <a:extLst>
              <a:ext uri="{FF2B5EF4-FFF2-40B4-BE49-F238E27FC236}">
                <a16:creationId xmlns:a16="http://schemas.microsoft.com/office/drawing/2014/main" xmlns="" id="{C93CA065-5DEE-48AE-8B35-28F1CF30BD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2250" y="1839477"/>
            <a:ext cx="8047499" cy="4304304"/>
          </a:xfrm>
          <a:prstGeom prst="rect">
            <a:avLst/>
          </a:prstGeom>
        </p:spPr>
      </p:pic>
    </p:spTree>
    <p:extLst>
      <p:ext uri="{BB962C8B-B14F-4D97-AF65-F5344CB8AC3E}">
        <p14:creationId xmlns:p14="http://schemas.microsoft.com/office/powerpoint/2010/main" val="1020015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1.3 Training a Gaussian Process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lang="en-US"/>
          </a:p>
        </p:txBody>
      </p:sp>
      <p:pic>
        <p:nvPicPr>
          <p:cNvPr id="3" name="图片 2">
            <a:extLst>
              <a:ext uri="{FF2B5EF4-FFF2-40B4-BE49-F238E27FC236}">
                <a16:creationId xmlns:a16="http://schemas.microsoft.com/office/drawing/2014/main" xmlns="" id="{D1A28CCD-5FAB-4FFF-95CA-5D16FB6A70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4282" y="1439516"/>
            <a:ext cx="8763435" cy="5281961"/>
          </a:xfrm>
          <a:prstGeom prst="rect">
            <a:avLst/>
          </a:prstGeom>
        </p:spPr>
      </p:pic>
    </p:spTree>
    <p:extLst>
      <p:ext uri="{BB962C8B-B14F-4D97-AF65-F5344CB8AC3E}">
        <p14:creationId xmlns:p14="http://schemas.microsoft.com/office/powerpoint/2010/main" val="1343168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2.1 Review Of Gaussian Processes And Single-Layer Neural Networks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lang="en-US"/>
          </a:p>
        </p:txBody>
      </p:sp>
      <p:pic>
        <p:nvPicPr>
          <p:cNvPr id="4" name="图片 3">
            <a:extLst>
              <a:ext uri="{FF2B5EF4-FFF2-40B4-BE49-F238E27FC236}">
                <a16:creationId xmlns:a16="http://schemas.microsoft.com/office/drawing/2014/main" xmlns="" id="{6A10EC2D-E0BC-4495-B762-0DC64161D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5409" y="2355370"/>
            <a:ext cx="8481181" cy="844161"/>
          </a:xfrm>
          <a:prstGeom prst="rect">
            <a:avLst/>
          </a:prstGeom>
        </p:spPr>
      </p:pic>
      <p:pic>
        <p:nvPicPr>
          <p:cNvPr id="7" name="图片 6">
            <a:extLst>
              <a:ext uri="{FF2B5EF4-FFF2-40B4-BE49-F238E27FC236}">
                <a16:creationId xmlns:a16="http://schemas.microsoft.com/office/drawing/2014/main" xmlns="" id="{CB8DB002-6BB2-4927-9391-41A0BC4D15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7856" y="3658470"/>
            <a:ext cx="9179876" cy="559114"/>
          </a:xfrm>
          <a:prstGeom prst="rect">
            <a:avLst/>
          </a:prstGeom>
        </p:spPr>
      </p:pic>
    </p:spTree>
    <p:extLst>
      <p:ext uri="{BB962C8B-B14F-4D97-AF65-F5344CB8AC3E}">
        <p14:creationId xmlns:p14="http://schemas.microsoft.com/office/powerpoint/2010/main" val="3535381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2.2 Gaussian Processes And Deep Neural Networks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lang="en-US"/>
          </a:p>
        </p:txBody>
      </p:sp>
      <p:pic>
        <p:nvPicPr>
          <p:cNvPr id="3" name="图片 2">
            <a:extLst>
              <a:ext uri="{FF2B5EF4-FFF2-40B4-BE49-F238E27FC236}">
                <a16:creationId xmlns:a16="http://schemas.microsoft.com/office/drawing/2014/main" xmlns="" id="{534B2F6A-EEAF-4DC4-B010-81237D7B6B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8126" y="2258260"/>
            <a:ext cx="6795747" cy="742392"/>
          </a:xfrm>
          <a:prstGeom prst="rect">
            <a:avLst/>
          </a:prstGeom>
        </p:spPr>
      </p:pic>
      <p:pic>
        <p:nvPicPr>
          <p:cNvPr id="5" name="图片 4">
            <a:extLst>
              <a:ext uri="{FF2B5EF4-FFF2-40B4-BE49-F238E27FC236}">
                <a16:creationId xmlns:a16="http://schemas.microsoft.com/office/drawing/2014/main" xmlns="" id="{C28DE10D-E752-49F7-B5B3-0F35F8628B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3135" y="3119250"/>
            <a:ext cx="7925729" cy="570828"/>
          </a:xfrm>
          <a:prstGeom prst="rect">
            <a:avLst/>
          </a:prstGeom>
        </p:spPr>
      </p:pic>
      <p:pic>
        <p:nvPicPr>
          <p:cNvPr id="7" name="图片 6">
            <a:extLst>
              <a:ext uri="{FF2B5EF4-FFF2-40B4-BE49-F238E27FC236}">
                <a16:creationId xmlns:a16="http://schemas.microsoft.com/office/drawing/2014/main" xmlns="" id="{B3E8DF63-E70B-4589-88CE-EAB91335A3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30652" y="3820845"/>
            <a:ext cx="7530696" cy="565957"/>
          </a:xfrm>
          <a:prstGeom prst="rect">
            <a:avLst/>
          </a:prstGeom>
        </p:spPr>
      </p:pic>
      <p:pic>
        <p:nvPicPr>
          <p:cNvPr id="9" name="图片 8">
            <a:extLst>
              <a:ext uri="{FF2B5EF4-FFF2-40B4-BE49-F238E27FC236}">
                <a16:creationId xmlns:a16="http://schemas.microsoft.com/office/drawing/2014/main" xmlns="" id="{8FB7C95B-00FF-4D53-9E83-A4359BDB205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91098" y="4517569"/>
            <a:ext cx="7209803" cy="56595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2.2 Gaussian Processes And Deep Neural Networks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lang="en-US"/>
          </a:p>
        </p:txBody>
      </p:sp>
      <p:pic>
        <p:nvPicPr>
          <p:cNvPr id="4" name="图片 3">
            <a:extLst>
              <a:ext uri="{FF2B5EF4-FFF2-40B4-BE49-F238E27FC236}">
                <a16:creationId xmlns:a16="http://schemas.microsoft.com/office/drawing/2014/main" xmlns="" id="{3E90C742-B9B6-48F1-8AC5-617968119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1978" y="1877446"/>
            <a:ext cx="7732454" cy="4292465"/>
          </a:xfrm>
          <a:prstGeom prst="rect">
            <a:avLst/>
          </a:prstGeom>
        </p:spPr>
      </p:pic>
    </p:spTree>
    <p:extLst>
      <p:ext uri="{BB962C8B-B14F-4D97-AF65-F5344CB8AC3E}">
        <p14:creationId xmlns:p14="http://schemas.microsoft.com/office/powerpoint/2010/main" val="1383849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2.3 Bayesian Training Of Neural Networks Using Gaussian Process Priors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lang="en-US"/>
          </a:p>
        </p:txBody>
      </p:sp>
      <p:pic>
        <p:nvPicPr>
          <p:cNvPr id="4" name="图片 3">
            <a:extLst>
              <a:ext uri="{FF2B5EF4-FFF2-40B4-BE49-F238E27FC236}">
                <a16:creationId xmlns:a16="http://schemas.microsoft.com/office/drawing/2014/main" xmlns="" id="{A07BFE38-C981-4FFB-A9E7-D53F1B4D0F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2596" y="2176963"/>
            <a:ext cx="7766807" cy="533016"/>
          </a:xfrm>
          <a:prstGeom prst="rect">
            <a:avLst/>
          </a:prstGeom>
        </p:spPr>
      </p:pic>
      <p:pic>
        <p:nvPicPr>
          <p:cNvPr id="8" name="图片 7">
            <a:extLst>
              <a:ext uri="{FF2B5EF4-FFF2-40B4-BE49-F238E27FC236}">
                <a16:creationId xmlns:a16="http://schemas.microsoft.com/office/drawing/2014/main" xmlns="" id="{429CC4BF-F9E9-4FBA-B638-5241BC19B9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1182" y="2828295"/>
            <a:ext cx="2095792" cy="619211"/>
          </a:xfrm>
          <a:prstGeom prst="rect">
            <a:avLst/>
          </a:prstGeom>
        </p:spPr>
      </p:pic>
      <p:pic>
        <p:nvPicPr>
          <p:cNvPr id="11" name="图片 10">
            <a:extLst>
              <a:ext uri="{FF2B5EF4-FFF2-40B4-BE49-F238E27FC236}">
                <a16:creationId xmlns:a16="http://schemas.microsoft.com/office/drawing/2014/main" xmlns="" id="{E49AD4FE-F4E3-4EFC-8EFE-526A6E98D1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96974" y="2761611"/>
            <a:ext cx="5582429" cy="752580"/>
          </a:xfrm>
          <a:prstGeom prst="rect">
            <a:avLst/>
          </a:prstGeom>
        </p:spPr>
      </p:pic>
      <p:pic>
        <p:nvPicPr>
          <p:cNvPr id="17" name="图片 16">
            <a:extLst>
              <a:ext uri="{FF2B5EF4-FFF2-40B4-BE49-F238E27FC236}">
                <a16:creationId xmlns:a16="http://schemas.microsoft.com/office/drawing/2014/main" xmlns="" id="{5FB596C0-CE55-49F9-A092-05841201C0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05016" y="3565822"/>
            <a:ext cx="6106377" cy="1276528"/>
          </a:xfrm>
          <a:prstGeom prst="rect">
            <a:avLst/>
          </a:prstGeom>
        </p:spPr>
      </p:pic>
      <p:pic>
        <p:nvPicPr>
          <p:cNvPr id="22" name="图片 21">
            <a:extLst>
              <a:ext uri="{FF2B5EF4-FFF2-40B4-BE49-F238E27FC236}">
                <a16:creationId xmlns:a16="http://schemas.microsoft.com/office/drawing/2014/main" xmlns="" id="{426A39A4-B6BC-47A4-A0FA-BB19F0B018B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80915" y="4847191"/>
            <a:ext cx="6030167" cy="1409897"/>
          </a:xfrm>
          <a:prstGeom prst="rect">
            <a:avLst/>
          </a:prstGeom>
        </p:spPr>
      </p:pic>
    </p:spTree>
    <p:extLst>
      <p:ext uri="{BB962C8B-B14F-4D97-AF65-F5344CB8AC3E}">
        <p14:creationId xmlns:p14="http://schemas.microsoft.com/office/powerpoint/2010/main" val="412907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2.3 Bayesian Training Of Neural Networks Using Gaussian Process Priors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lang="en-US"/>
          </a:p>
        </p:txBody>
      </p:sp>
      <p:pic>
        <p:nvPicPr>
          <p:cNvPr id="3" name="图片 2">
            <a:extLst>
              <a:ext uri="{FF2B5EF4-FFF2-40B4-BE49-F238E27FC236}">
                <a16:creationId xmlns:a16="http://schemas.microsoft.com/office/drawing/2014/main" xmlns="" id="{726B8AA9-BC91-43EE-942A-3C50D9BB94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4047" y="1989807"/>
            <a:ext cx="7563906" cy="4067743"/>
          </a:xfrm>
          <a:prstGeom prst="rect">
            <a:avLst/>
          </a:prstGeom>
        </p:spPr>
      </p:pic>
    </p:spTree>
    <p:extLst>
      <p:ext uri="{BB962C8B-B14F-4D97-AF65-F5344CB8AC3E}">
        <p14:creationId xmlns:p14="http://schemas.microsoft.com/office/powerpoint/2010/main" val="2733844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3.</a:t>
            </a:r>
            <a:r>
              <a:rPr lang="zh-CN" altLang="en-US" dirty="0">
                <a:sym typeface="+mn-ea"/>
              </a:rPr>
              <a:t> </a:t>
            </a:r>
            <a:r>
              <a:rPr lang="en-US" dirty="0">
                <a:sym typeface="+mn-ea"/>
              </a:rPr>
              <a:t>Experimental Results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lang="en-US"/>
          </a:p>
        </p:txBody>
      </p:sp>
      <p:pic>
        <p:nvPicPr>
          <p:cNvPr id="3" name="图片 2">
            <a:extLst>
              <a:ext uri="{FF2B5EF4-FFF2-40B4-BE49-F238E27FC236}">
                <a16:creationId xmlns:a16="http://schemas.microsoft.com/office/drawing/2014/main" xmlns="" id="{A7048DE2-9877-4CC5-BE04-D0C44088B8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6252" y="1691005"/>
            <a:ext cx="7563906" cy="4601217"/>
          </a:xfrm>
          <a:prstGeom prst="rect">
            <a:avLst/>
          </a:prstGeom>
        </p:spPr>
      </p:pic>
    </p:spTree>
    <p:extLst>
      <p:ext uri="{BB962C8B-B14F-4D97-AF65-F5344CB8AC3E}">
        <p14:creationId xmlns:p14="http://schemas.microsoft.com/office/powerpoint/2010/main" val="2572314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3.</a:t>
            </a:r>
            <a:r>
              <a:rPr lang="zh-CN" altLang="en-US" dirty="0">
                <a:sym typeface="+mn-ea"/>
              </a:rPr>
              <a:t> </a:t>
            </a:r>
            <a:r>
              <a:rPr lang="en-US" dirty="0">
                <a:sym typeface="+mn-ea"/>
              </a:rPr>
              <a:t>Experimental Results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lang="en-US"/>
          </a:p>
        </p:txBody>
      </p:sp>
      <p:pic>
        <p:nvPicPr>
          <p:cNvPr id="4" name="图片 3">
            <a:extLst>
              <a:ext uri="{FF2B5EF4-FFF2-40B4-BE49-F238E27FC236}">
                <a16:creationId xmlns:a16="http://schemas.microsoft.com/office/drawing/2014/main" xmlns="" id="{DE5D52F0-A160-4A22-9C7D-CA2A0C472A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6226" y="1691005"/>
            <a:ext cx="7763958" cy="4182059"/>
          </a:xfrm>
          <a:prstGeom prst="rect">
            <a:avLst/>
          </a:prstGeom>
        </p:spPr>
      </p:pic>
    </p:spTree>
    <p:extLst>
      <p:ext uri="{BB962C8B-B14F-4D97-AF65-F5344CB8AC3E}">
        <p14:creationId xmlns:p14="http://schemas.microsoft.com/office/powerpoint/2010/main" val="1260398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3.</a:t>
            </a:r>
            <a:r>
              <a:rPr lang="zh-CN" altLang="en-US" dirty="0">
                <a:sym typeface="+mn-ea"/>
              </a:rPr>
              <a:t> </a:t>
            </a:r>
            <a:r>
              <a:rPr lang="en-US" dirty="0">
                <a:sym typeface="+mn-ea"/>
              </a:rPr>
              <a:t>Experimental Results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lang="en-US"/>
          </a:p>
        </p:txBody>
      </p:sp>
      <p:pic>
        <p:nvPicPr>
          <p:cNvPr id="3" name="图片 2">
            <a:extLst>
              <a:ext uri="{FF2B5EF4-FFF2-40B4-BE49-F238E27FC236}">
                <a16:creationId xmlns:a16="http://schemas.microsoft.com/office/drawing/2014/main" xmlns="" id="{C56E91B5-4E30-47FE-91FD-C59ED4AA3A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7042" y="1391884"/>
            <a:ext cx="5297916" cy="5329593"/>
          </a:xfrm>
          <a:prstGeom prst="rect">
            <a:avLst/>
          </a:prstGeom>
        </p:spPr>
      </p:pic>
    </p:spTree>
    <p:extLst>
      <p:ext uri="{BB962C8B-B14F-4D97-AF65-F5344CB8AC3E}">
        <p14:creationId xmlns:p14="http://schemas.microsoft.com/office/powerpoint/2010/main" val="23524770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3.</a:t>
            </a:r>
            <a:r>
              <a:rPr lang="en-US" altLang="zh-CN" dirty="0">
                <a:sym typeface="+mn-ea"/>
              </a:rPr>
              <a:t>1 </a:t>
            </a:r>
            <a:r>
              <a:rPr lang="en-US" dirty="0">
                <a:sym typeface="+mn-ea"/>
              </a:rPr>
              <a:t>Generalization </a:t>
            </a:r>
            <a:r>
              <a:rPr lang="en-US" altLang="zh-CN" dirty="0">
                <a:sym typeface="+mn-ea"/>
              </a:rPr>
              <a:t>gap</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lang="en-US"/>
          </a:p>
        </p:txBody>
      </p:sp>
      <p:pic>
        <p:nvPicPr>
          <p:cNvPr id="4" name="图片 3">
            <a:extLst>
              <a:ext uri="{FF2B5EF4-FFF2-40B4-BE49-F238E27FC236}">
                <a16:creationId xmlns:a16="http://schemas.microsoft.com/office/drawing/2014/main" xmlns="" id="{930C739E-9756-408B-B6EF-3466A27841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7146" y="1691005"/>
            <a:ext cx="8002117" cy="4229690"/>
          </a:xfrm>
          <a:prstGeom prst="rect">
            <a:avLst/>
          </a:prstGeom>
        </p:spPr>
      </p:pic>
    </p:spTree>
    <p:extLst>
      <p:ext uri="{BB962C8B-B14F-4D97-AF65-F5344CB8AC3E}">
        <p14:creationId xmlns:p14="http://schemas.microsoft.com/office/powerpoint/2010/main" val="1372568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3.</a:t>
            </a:r>
            <a:r>
              <a:rPr lang="en-US" altLang="zh-CN" dirty="0">
                <a:sym typeface="+mn-ea"/>
              </a:rPr>
              <a:t>1 </a:t>
            </a:r>
            <a:r>
              <a:rPr lang="en-US" dirty="0">
                <a:sym typeface="+mn-ea"/>
              </a:rPr>
              <a:t>Generalization </a:t>
            </a:r>
            <a:r>
              <a:rPr lang="en-US" altLang="zh-CN" dirty="0">
                <a:sym typeface="+mn-ea"/>
              </a:rPr>
              <a:t>gap</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lang="en-US"/>
          </a:p>
        </p:txBody>
      </p:sp>
      <p:pic>
        <p:nvPicPr>
          <p:cNvPr id="1026" name="Picture 2" descr="è¿éåå¾çæè¿°">
            <a:extLst>
              <a:ext uri="{FF2B5EF4-FFF2-40B4-BE49-F238E27FC236}">
                <a16:creationId xmlns:a16="http://schemas.microsoft.com/office/drawing/2014/main" xmlns="" id="{053AFE83-BE90-4001-A068-3894F13057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757362"/>
            <a:ext cx="7543800" cy="3343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784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3.</a:t>
            </a:r>
            <a:r>
              <a:rPr lang="en-US" altLang="zh-CN" dirty="0">
                <a:sym typeface="+mn-ea"/>
              </a:rPr>
              <a:t>1 </a:t>
            </a:r>
            <a:r>
              <a:rPr lang="en-US" dirty="0">
                <a:sym typeface="+mn-ea"/>
              </a:rPr>
              <a:t>Generalization </a:t>
            </a:r>
            <a:r>
              <a:rPr lang="en-US" altLang="zh-CN" dirty="0">
                <a:sym typeface="+mn-ea"/>
              </a:rPr>
              <a:t>gap</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lang="en-US"/>
          </a:p>
        </p:txBody>
      </p:sp>
      <p:pic>
        <p:nvPicPr>
          <p:cNvPr id="3" name="图片 2">
            <a:extLst>
              <a:ext uri="{FF2B5EF4-FFF2-40B4-BE49-F238E27FC236}">
                <a16:creationId xmlns:a16="http://schemas.microsoft.com/office/drawing/2014/main" xmlns="" id="{34A4F2CB-35AB-4D79-AE16-F68F3C52EB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1015" y="1691005"/>
            <a:ext cx="7554379" cy="3353268"/>
          </a:xfrm>
          <a:prstGeom prst="rect">
            <a:avLst/>
          </a:prstGeom>
        </p:spPr>
      </p:pic>
    </p:spTree>
    <p:extLst>
      <p:ext uri="{BB962C8B-B14F-4D97-AF65-F5344CB8AC3E}">
        <p14:creationId xmlns:p14="http://schemas.microsoft.com/office/powerpoint/2010/main" val="2934424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3.2</a:t>
            </a:r>
            <a:r>
              <a:rPr lang="zh-CN" altLang="en-US" dirty="0">
                <a:sym typeface="+mn-ea"/>
              </a:rPr>
              <a:t> </a:t>
            </a:r>
            <a:r>
              <a:rPr lang="en-US" dirty="0">
                <a:sym typeface="+mn-ea"/>
              </a:rPr>
              <a:t>Pre-MSE vs Real-MSE</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lang="en-US"/>
          </a:p>
        </p:txBody>
      </p:sp>
      <p:pic>
        <p:nvPicPr>
          <p:cNvPr id="4" name="图片 3">
            <a:extLst>
              <a:ext uri="{FF2B5EF4-FFF2-40B4-BE49-F238E27FC236}">
                <a16:creationId xmlns:a16="http://schemas.microsoft.com/office/drawing/2014/main" xmlns="" id="{AF6F8B23-5B29-4D00-BDAC-CD93943A93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0541" y="1807171"/>
            <a:ext cx="7535327" cy="3829584"/>
          </a:xfrm>
          <a:prstGeom prst="rect">
            <a:avLst/>
          </a:prstGeom>
        </p:spPr>
      </p:pic>
    </p:spTree>
    <p:extLst>
      <p:ext uri="{BB962C8B-B14F-4D97-AF65-F5344CB8AC3E}">
        <p14:creationId xmlns:p14="http://schemas.microsoft.com/office/powerpoint/2010/main" val="1924421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3.2</a:t>
            </a:r>
            <a:r>
              <a:rPr lang="zh-CN" altLang="en-US" dirty="0">
                <a:sym typeface="+mn-ea"/>
              </a:rPr>
              <a:t> </a:t>
            </a:r>
            <a:r>
              <a:rPr lang="en-US" dirty="0">
                <a:sym typeface="+mn-ea"/>
              </a:rPr>
              <a:t>Pre-MSE vs Real-MSE</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lang="en-US"/>
          </a:p>
        </p:txBody>
      </p:sp>
      <p:pic>
        <p:nvPicPr>
          <p:cNvPr id="3" name="图片 2">
            <a:extLst>
              <a:ext uri="{FF2B5EF4-FFF2-40B4-BE49-F238E27FC236}">
                <a16:creationId xmlns:a16="http://schemas.microsoft.com/office/drawing/2014/main" xmlns="" id="{9D2114A7-3A31-4531-813B-554DF84163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9284" y="1446807"/>
            <a:ext cx="7573432" cy="5153744"/>
          </a:xfrm>
          <a:prstGeom prst="rect">
            <a:avLst/>
          </a:prstGeom>
        </p:spPr>
      </p:pic>
    </p:spTree>
    <p:extLst>
      <p:ext uri="{BB962C8B-B14F-4D97-AF65-F5344CB8AC3E}">
        <p14:creationId xmlns:p14="http://schemas.microsoft.com/office/powerpoint/2010/main" val="1234426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3.3</a:t>
            </a:r>
            <a:r>
              <a:rPr lang="zh-CN" altLang="en-US" dirty="0">
                <a:sym typeface="+mn-ea"/>
              </a:rPr>
              <a:t> </a:t>
            </a:r>
            <a:r>
              <a:rPr lang="en-US" dirty="0">
                <a:sym typeface="+mn-ea"/>
              </a:rPr>
              <a:t>Best Hyperparameters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lang="en-US"/>
          </a:p>
        </p:txBody>
      </p:sp>
      <p:pic>
        <p:nvPicPr>
          <p:cNvPr id="4" name="图片 3">
            <a:extLst>
              <a:ext uri="{FF2B5EF4-FFF2-40B4-BE49-F238E27FC236}">
                <a16:creationId xmlns:a16="http://schemas.microsoft.com/office/drawing/2014/main" xmlns="" id="{09D3BD8D-0E23-40D5-BEAF-F005F9483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5021" y="2418492"/>
            <a:ext cx="7401958" cy="3210373"/>
          </a:xfrm>
          <a:prstGeom prst="rect">
            <a:avLst/>
          </a:prstGeom>
        </p:spPr>
      </p:pic>
    </p:spTree>
    <p:extLst>
      <p:ext uri="{BB962C8B-B14F-4D97-AF65-F5344CB8AC3E}">
        <p14:creationId xmlns:p14="http://schemas.microsoft.com/office/powerpoint/2010/main" val="3542172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3.3</a:t>
            </a:r>
            <a:r>
              <a:rPr lang="zh-CN" altLang="en-US" dirty="0">
                <a:sym typeface="+mn-ea"/>
              </a:rPr>
              <a:t> </a:t>
            </a:r>
            <a:r>
              <a:rPr lang="en-US" dirty="0">
                <a:sym typeface="+mn-ea"/>
              </a:rPr>
              <a:t>Best Hyperparameters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lang="en-US"/>
          </a:p>
        </p:txBody>
      </p:sp>
      <p:pic>
        <p:nvPicPr>
          <p:cNvPr id="6" name="图片 5">
            <a:extLst>
              <a:ext uri="{FF2B5EF4-FFF2-40B4-BE49-F238E27FC236}">
                <a16:creationId xmlns:a16="http://schemas.microsoft.com/office/drawing/2014/main" xmlns="" id="{6CF1CCC0-D953-4F84-A0F7-77C849B36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241" y="1291576"/>
            <a:ext cx="10253518" cy="5464206"/>
          </a:xfrm>
          <a:prstGeom prst="rect">
            <a:avLst/>
          </a:prstGeom>
        </p:spPr>
      </p:pic>
    </p:spTree>
    <p:extLst>
      <p:ext uri="{BB962C8B-B14F-4D97-AF65-F5344CB8AC3E}">
        <p14:creationId xmlns:p14="http://schemas.microsoft.com/office/powerpoint/2010/main" val="3368415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3.3</a:t>
            </a:r>
            <a:r>
              <a:rPr lang="zh-CN" altLang="en-US" dirty="0">
                <a:sym typeface="+mn-ea"/>
              </a:rPr>
              <a:t> </a:t>
            </a:r>
            <a:r>
              <a:rPr lang="en-US" dirty="0">
                <a:sym typeface="+mn-ea"/>
              </a:rPr>
              <a:t>Best Hyperparameters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lang="en-US"/>
          </a:p>
        </p:txBody>
      </p:sp>
      <p:pic>
        <p:nvPicPr>
          <p:cNvPr id="3" name="图片 2">
            <a:extLst>
              <a:ext uri="{FF2B5EF4-FFF2-40B4-BE49-F238E27FC236}">
                <a16:creationId xmlns:a16="http://schemas.microsoft.com/office/drawing/2014/main" xmlns="" id="{2FE924C8-DB52-4E5A-8B35-0A1EC672FB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6363" y="1508442"/>
            <a:ext cx="6759273" cy="5030472"/>
          </a:xfrm>
          <a:prstGeom prst="rect">
            <a:avLst/>
          </a:prstGeom>
        </p:spPr>
      </p:pic>
    </p:spTree>
    <p:extLst>
      <p:ext uri="{BB962C8B-B14F-4D97-AF65-F5344CB8AC3E}">
        <p14:creationId xmlns:p14="http://schemas.microsoft.com/office/powerpoint/2010/main" val="3333870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4</a:t>
            </a:r>
            <a:r>
              <a:rPr lang="zh-CN" altLang="en-US" dirty="0">
                <a:sym typeface="+mn-ea"/>
              </a:rPr>
              <a:t> </a:t>
            </a:r>
            <a:r>
              <a:rPr lang="en-US" dirty="0">
                <a:sym typeface="+mn-ea"/>
              </a:rPr>
              <a:t>Neural Tangent Kernel</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lang="en-US"/>
          </a:p>
        </p:txBody>
      </p:sp>
      <p:pic>
        <p:nvPicPr>
          <p:cNvPr id="6" name="图片 5">
            <a:extLst>
              <a:ext uri="{FF2B5EF4-FFF2-40B4-BE49-F238E27FC236}">
                <a16:creationId xmlns:a16="http://schemas.microsoft.com/office/drawing/2014/main" xmlns="" id="{B9449C9A-BD5B-41B7-9C1A-679394D8AD52}"/>
              </a:ext>
            </a:extLst>
          </p:cNvPr>
          <p:cNvPicPr>
            <a:picLocks noChangeAspect="1"/>
          </p:cNvPicPr>
          <p:nvPr/>
        </p:nvPicPr>
        <p:blipFill rotWithShape="1">
          <a:blip r:embed="rId3">
            <a:extLst>
              <a:ext uri="{28A0092B-C50C-407E-A947-70E740481C1C}">
                <a14:useLocalDpi xmlns:a14="http://schemas.microsoft.com/office/drawing/2010/main" val="0"/>
              </a:ext>
            </a:extLst>
          </a:blip>
          <a:srcRect t="3277"/>
          <a:stretch/>
        </p:blipFill>
        <p:spPr>
          <a:xfrm>
            <a:off x="1480697" y="2059619"/>
            <a:ext cx="8964276" cy="1676983"/>
          </a:xfrm>
          <a:prstGeom prst="rect">
            <a:avLst/>
          </a:prstGeom>
        </p:spPr>
      </p:pic>
      <p:pic>
        <p:nvPicPr>
          <p:cNvPr id="8" name="图片 7">
            <a:extLst>
              <a:ext uri="{FF2B5EF4-FFF2-40B4-BE49-F238E27FC236}">
                <a16:creationId xmlns:a16="http://schemas.microsoft.com/office/drawing/2014/main" xmlns="" id="{29635D78-856D-45CC-9E9A-ACAB4CE482B0}"/>
              </a:ext>
            </a:extLst>
          </p:cNvPr>
          <p:cNvPicPr>
            <a:picLocks noChangeAspect="1"/>
          </p:cNvPicPr>
          <p:nvPr/>
        </p:nvPicPr>
        <p:blipFill rotWithShape="1">
          <a:blip r:embed="rId4">
            <a:extLst>
              <a:ext uri="{28A0092B-C50C-407E-A947-70E740481C1C}">
                <a14:useLocalDpi xmlns:a14="http://schemas.microsoft.com/office/drawing/2010/main" val="0"/>
              </a:ext>
            </a:extLst>
          </a:blip>
          <a:srcRect t="3842"/>
          <a:stretch/>
        </p:blipFill>
        <p:spPr>
          <a:xfrm>
            <a:off x="1705322" y="3870664"/>
            <a:ext cx="6277851" cy="1355734"/>
          </a:xfrm>
          <a:prstGeom prst="rect">
            <a:avLst/>
          </a:prstGeom>
        </p:spPr>
      </p:pic>
    </p:spTree>
    <p:extLst>
      <p:ext uri="{BB962C8B-B14F-4D97-AF65-F5344CB8AC3E}">
        <p14:creationId xmlns:p14="http://schemas.microsoft.com/office/powerpoint/2010/main" val="2299457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4</a:t>
            </a:r>
            <a:r>
              <a:rPr lang="zh-CN" altLang="en-US" dirty="0">
                <a:sym typeface="+mn-ea"/>
              </a:rPr>
              <a:t> </a:t>
            </a:r>
            <a:r>
              <a:rPr lang="en-US" dirty="0">
                <a:sym typeface="+mn-ea"/>
              </a:rPr>
              <a:t>Neural Tangent Kernel</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lang="en-US"/>
          </a:p>
        </p:txBody>
      </p:sp>
      <p:pic>
        <p:nvPicPr>
          <p:cNvPr id="3" name="图片 2">
            <a:extLst>
              <a:ext uri="{FF2B5EF4-FFF2-40B4-BE49-F238E27FC236}">
                <a16:creationId xmlns:a16="http://schemas.microsoft.com/office/drawing/2014/main" xmlns="" id="{F3F8B429-EC6D-48A8-AFBC-85EFF8CAAB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3467" y="1880254"/>
            <a:ext cx="9088118" cy="4286848"/>
          </a:xfrm>
          <a:prstGeom prst="rect">
            <a:avLst/>
          </a:prstGeom>
        </p:spPr>
      </p:pic>
    </p:spTree>
    <p:extLst>
      <p:ext uri="{BB962C8B-B14F-4D97-AF65-F5344CB8AC3E}">
        <p14:creationId xmlns:p14="http://schemas.microsoft.com/office/powerpoint/2010/main" val="3071440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5</a:t>
            </a:r>
            <a:r>
              <a:rPr lang="zh-CN" altLang="en-US" dirty="0">
                <a:sym typeface="+mn-ea"/>
              </a:rPr>
              <a:t> </a:t>
            </a:r>
            <a:r>
              <a:rPr lang="en-US" dirty="0">
                <a:sym typeface="+mn-ea"/>
              </a:rPr>
              <a:t>Wide Neural Networks Evolve as Linear Models Under Gradient Descent</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lang="en-US"/>
          </a:p>
        </p:txBody>
      </p:sp>
      <p:pic>
        <p:nvPicPr>
          <p:cNvPr id="4" name="图片 3">
            <a:extLst>
              <a:ext uri="{FF2B5EF4-FFF2-40B4-BE49-F238E27FC236}">
                <a16:creationId xmlns:a16="http://schemas.microsoft.com/office/drawing/2014/main" xmlns="" id="{B72B911A-C436-4435-8A70-6B9707E4DA4A}"/>
              </a:ext>
            </a:extLst>
          </p:cNvPr>
          <p:cNvPicPr>
            <a:picLocks noChangeAspect="1"/>
          </p:cNvPicPr>
          <p:nvPr/>
        </p:nvPicPr>
        <p:blipFill rotWithShape="1">
          <a:blip r:embed="rId3">
            <a:extLst>
              <a:ext uri="{28A0092B-C50C-407E-A947-70E740481C1C}">
                <a14:useLocalDpi xmlns:a14="http://schemas.microsoft.com/office/drawing/2010/main" val="0"/>
              </a:ext>
            </a:extLst>
          </a:blip>
          <a:srcRect t="25992"/>
          <a:stretch/>
        </p:blipFill>
        <p:spPr>
          <a:xfrm>
            <a:off x="2960299" y="1998716"/>
            <a:ext cx="4255788" cy="468189"/>
          </a:xfrm>
          <a:prstGeom prst="rect">
            <a:avLst/>
          </a:prstGeom>
        </p:spPr>
      </p:pic>
      <p:pic>
        <p:nvPicPr>
          <p:cNvPr id="6" name="图片 5">
            <a:extLst>
              <a:ext uri="{FF2B5EF4-FFF2-40B4-BE49-F238E27FC236}">
                <a16:creationId xmlns:a16="http://schemas.microsoft.com/office/drawing/2014/main" xmlns="" id="{9CD2488D-8E8D-413F-8095-35EF1C0C06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96098" y="1998716"/>
            <a:ext cx="1533739" cy="314369"/>
          </a:xfrm>
          <a:prstGeom prst="rect">
            <a:avLst/>
          </a:prstGeom>
        </p:spPr>
      </p:pic>
      <p:pic>
        <p:nvPicPr>
          <p:cNvPr id="10" name="图片 9">
            <a:extLst>
              <a:ext uri="{FF2B5EF4-FFF2-40B4-BE49-F238E27FC236}">
                <a16:creationId xmlns:a16="http://schemas.microsoft.com/office/drawing/2014/main" xmlns="" id="{8FD25738-5213-4AD1-9268-90F6D4A2BE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60299" y="2620796"/>
            <a:ext cx="4525006" cy="2172003"/>
          </a:xfrm>
          <a:prstGeom prst="rect">
            <a:avLst/>
          </a:prstGeom>
        </p:spPr>
      </p:pic>
      <p:pic>
        <p:nvPicPr>
          <p:cNvPr id="12" name="图片 11">
            <a:extLst>
              <a:ext uri="{FF2B5EF4-FFF2-40B4-BE49-F238E27FC236}">
                <a16:creationId xmlns:a16="http://schemas.microsoft.com/office/drawing/2014/main" xmlns="" id="{32325AF3-C374-43C8-B6FE-2E0DEA02688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60299" y="5100510"/>
            <a:ext cx="4305901" cy="800212"/>
          </a:xfrm>
          <a:prstGeom prst="rect">
            <a:avLst/>
          </a:prstGeom>
        </p:spPr>
      </p:pic>
    </p:spTree>
    <p:extLst>
      <p:ext uri="{BB962C8B-B14F-4D97-AF65-F5344CB8AC3E}">
        <p14:creationId xmlns:p14="http://schemas.microsoft.com/office/powerpoint/2010/main" val="1948260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5</a:t>
            </a:r>
            <a:r>
              <a:rPr lang="zh-CN" altLang="en-US" dirty="0">
                <a:sym typeface="+mn-ea"/>
              </a:rPr>
              <a:t> </a:t>
            </a:r>
            <a:r>
              <a:rPr lang="en-US" dirty="0">
                <a:sym typeface="+mn-ea"/>
              </a:rPr>
              <a:t>Wide Neural Networks Evolve as Linear Models Under Gradient Descent</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lang="en-US"/>
          </a:p>
        </p:txBody>
      </p:sp>
      <p:pic>
        <p:nvPicPr>
          <p:cNvPr id="3" name="图片 2">
            <a:extLst>
              <a:ext uri="{FF2B5EF4-FFF2-40B4-BE49-F238E27FC236}">
                <a16:creationId xmlns:a16="http://schemas.microsoft.com/office/drawing/2014/main" xmlns="" id="{14BCE01C-40F7-47E2-B3FF-77CB6FD898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7775" y="1691005"/>
            <a:ext cx="4440860" cy="4549787"/>
          </a:xfrm>
          <a:prstGeom prst="rect">
            <a:avLst/>
          </a:prstGeom>
        </p:spPr>
      </p:pic>
    </p:spTree>
    <p:extLst>
      <p:ext uri="{BB962C8B-B14F-4D97-AF65-F5344CB8AC3E}">
        <p14:creationId xmlns:p14="http://schemas.microsoft.com/office/powerpoint/2010/main" val="1675500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5</a:t>
            </a:r>
            <a:r>
              <a:rPr lang="zh-CN" altLang="en-US" dirty="0">
                <a:sym typeface="+mn-ea"/>
              </a:rPr>
              <a:t> </a:t>
            </a:r>
            <a:r>
              <a:rPr lang="en-US" dirty="0">
                <a:sym typeface="+mn-ea"/>
              </a:rPr>
              <a:t>Wide Neural Networks Evolve as Linear Models Under Gradient Descent</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lang="en-US"/>
          </a:p>
        </p:txBody>
      </p:sp>
      <p:pic>
        <p:nvPicPr>
          <p:cNvPr id="3" name="图片 2">
            <a:extLst>
              <a:ext uri="{FF2B5EF4-FFF2-40B4-BE49-F238E27FC236}">
                <a16:creationId xmlns:a16="http://schemas.microsoft.com/office/drawing/2014/main" xmlns="" id="{9BC350B4-9B2A-4706-AE96-555EF8F7DB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9128" y="1691005"/>
            <a:ext cx="5153744" cy="4239217"/>
          </a:xfrm>
          <a:prstGeom prst="rect">
            <a:avLst/>
          </a:prstGeom>
        </p:spPr>
      </p:pic>
    </p:spTree>
    <p:extLst>
      <p:ext uri="{BB962C8B-B14F-4D97-AF65-F5344CB8AC3E}">
        <p14:creationId xmlns:p14="http://schemas.microsoft.com/office/powerpoint/2010/main" val="20179565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5</a:t>
            </a:r>
            <a:r>
              <a:rPr lang="zh-CN" altLang="en-US" dirty="0">
                <a:sym typeface="+mn-ea"/>
              </a:rPr>
              <a:t> </a:t>
            </a:r>
            <a:r>
              <a:rPr lang="en-US" dirty="0">
                <a:sym typeface="+mn-ea"/>
              </a:rPr>
              <a:t>Wide Neural Networks Evolve as Linear Models Under Gradient Descent</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lang="en-US"/>
          </a:p>
        </p:txBody>
      </p:sp>
      <p:pic>
        <p:nvPicPr>
          <p:cNvPr id="4" name="图片 3">
            <a:extLst>
              <a:ext uri="{FF2B5EF4-FFF2-40B4-BE49-F238E27FC236}">
                <a16:creationId xmlns:a16="http://schemas.microsoft.com/office/drawing/2014/main" xmlns="" id="{ED102036-8851-4F8E-8DF8-C31537AC31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3385" y="1691005"/>
            <a:ext cx="5889639" cy="4681984"/>
          </a:xfrm>
          <a:prstGeom prst="rect">
            <a:avLst/>
          </a:prstGeom>
        </p:spPr>
      </p:pic>
    </p:spTree>
    <p:extLst>
      <p:ext uri="{BB962C8B-B14F-4D97-AF65-F5344CB8AC3E}">
        <p14:creationId xmlns:p14="http://schemas.microsoft.com/office/powerpoint/2010/main" val="29005275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5</a:t>
            </a:r>
            <a:r>
              <a:rPr lang="zh-CN" altLang="en-US" dirty="0">
                <a:sym typeface="+mn-ea"/>
              </a:rPr>
              <a:t> </a:t>
            </a:r>
            <a:r>
              <a:rPr lang="en-US" dirty="0">
                <a:sym typeface="+mn-ea"/>
              </a:rPr>
              <a:t>Wide Neural Networks Evolve as Linear Models Under Gradient Descent</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lang="en-US"/>
          </a:p>
        </p:txBody>
      </p:sp>
      <p:pic>
        <p:nvPicPr>
          <p:cNvPr id="3" name="图片 2">
            <a:extLst>
              <a:ext uri="{FF2B5EF4-FFF2-40B4-BE49-F238E27FC236}">
                <a16:creationId xmlns:a16="http://schemas.microsoft.com/office/drawing/2014/main" xmlns="" id="{064EC344-E51C-4332-9114-423185D57B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4365" y="1691005"/>
            <a:ext cx="4307679" cy="4910432"/>
          </a:xfrm>
          <a:prstGeom prst="rect">
            <a:avLst/>
          </a:prstGeom>
        </p:spPr>
      </p:pic>
    </p:spTree>
    <p:extLst>
      <p:ext uri="{BB962C8B-B14F-4D97-AF65-F5344CB8AC3E}">
        <p14:creationId xmlns:p14="http://schemas.microsoft.com/office/powerpoint/2010/main" val="3606156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5</a:t>
            </a:r>
            <a:r>
              <a:rPr lang="zh-CN" altLang="en-US" dirty="0">
                <a:sym typeface="+mn-ea"/>
              </a:rPr>
              <a:t> </a:t>
            </a:r>
            <a:r>
              <a:rPr lang="en-US" dirty="0">
                <a:sym typeface="+mn-ea"/>
              </a:rPr>
              <a:t>Wide Neural Networks Evolve as Linear Models Under Gradient Descent</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lang="en-US"/>
          </a:p>
        </p:txBody>
      </p:sp>
      <p:pic>
        <p:nvPicPr>
          <p:cNvPr id="3" name="图片 2">
            <a:extLst>
              <a:ext uri="{FF2B5EF4-FFF2-40B4-BE49-F238E27FC236}">
                <a16:creationId xmlns:a16="http://schemas.microsoft.com/office/drawing/2014/main" xmlns="" id="{EAFD4A18-04EC-4E19-A818-E6B1985BE3FE}"/>
              </a:ext>
            </a:extLst>
          </p:cNvPr>
          <p:cNvPicPr>
            <a:picLocks noChangeAspect="1"/>
          </p:cNvPicPr>
          <p:nvPr/>
        </p:nvPicPr>
        <p:blipFill rotWithShape="1">
          <a:blip r:embed="rId3">
            <a:extLst>
              <a:ext uri="{28A0092B-C50C-407E-A947-70E740481C1C}">
                <a14:useLocalDpi xmlns:a14="http://schemas.microsoft.com/office/drawing/2010/main" val="0"/>
              </a:ext>
            </a:extLst>
          </a:blip>
          <a:srcRect b="27495"/>
          <a:stretch/>
        </p:blipFill>
        <p:spPr>
          <a:xfrm>
            <a:off x="3089581" y="1691005"/>
            <a:ext cx="6012838" cy="4528288"/>
          </a:xfrm>
          <a:prstGeom prst="rect">
            <a:avLst/>
          </a:prstGeom>
        </p:spPr>
      </p:pic>
    </p:spTree>
    <p:extLst>
      <p:ext uri="{BB962C8B-B14F-4D97-AF65-F5344CB8AC3E}">
        <p14:creationId xmlns:p14="http://schemas.microsoft.com/office/powerpoint/2010/main" val="67313021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1405</TotalTime>
  <Words>582</Words>
  <Application>Microsoft Office PowerPoint</Application>
  <PresentationFormat>寬螢幕</PresentationFormat>
  <Paragraphs>82</Paragraphs>
  <Slides>33</Slides>
  <Notes>33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33</vt:i4>
      </vt:variant>
    </vt:vector>
  </HeadingPairs>
  <TitlesOfParts>
    <vt:vector size="40" baseType="lpstr">
      <vt:lpstr>等线</vt:lpstr>
      <vt:lpstr>微软雅黑</vt:lpstr>
      <vt:lpstr>Questrial</vt:lpstr>
      <vt:lpstr>新細明體</vt:lpstr>
      <vt:lpstr>Arial</vt:lpstr>
      <vt:lpstr>Calibri</vt:lpstr>
      <vt:lpstr>Office 主题</vt:lpstr>
      <vt:lpstr>DEEP NEURAL NETWORKS AS GAUSSIAN PROCESSES</vt:lpstr>
      <vt:lpstr>Abstract (1/2)</vt:lpstr>
      <vt:lpstr>Abstract (2/2)</vt:lpstr>
      <vt:lpstr>1.1 Gaussian Processes</vt:lpstr>
      <vt:lpstr>1.1 Gaussian Processes</vt:lpstr>
      <vt:lpstr>1.1 Gaussian Processes</vt:lpstr>
      <vt:lpstr>1.2 Posterior Gaussian Process</vt:lpstr>
      <vt:lpstr>1.2 Posterior Gaussian Process</vt:lpstr>
      <vt:lpstr>1.3 Training a Gaussian Process</vt:lpstr>
      <vt:lpstr>2.1 Review Of Gaussian Processes And Single-Layer Neural Networks</vt:lpstr>
      <vt:lpstr>2.2 Gaussian Processes And Deep Neural Networks</vt:lpstr>
      <vt:lpstr>2.2 Gaussian Processes And Deep Neural Networks</vt:lpstr>
      <vt:lpstr>2.3 Bayesian Training Of Neural Networks Using Gaussian Process Priors</vt:lpstr>
      <vt:lpstr>2.3 Bayesian Training Of Neural Networks Using Gaussian Process Priors</vt:lpstr>
      <vt:lpstr>3. Experimental Results</vt:lpstr>
      <vt:lpstr>3. Experimental Results</vt:lpstr>
      <vt:lpstr>3. Experimental Results</vt:lpstr>
      <vt:lpstr>3.1 Generalization gap</vt:lpstr>
      <vt:lpstr>3.1 Generalization gap</vt:lpstr>
      <vt:lpstr>3.1 Generalization gap</vt:lpstr>
      <vt:lpstr>3.2 Pre-MSE vs Real-MSE</vt:lpstr>
      <vt:lpstr>3.2 Pre-MSE vs Real-MSE</vt:lpstr>
      <vt:lpstr>3.3 Best Hyperparameters</vt:lpstr>
      <vt:lpstr>3.3 Best Hyperparameters</vt:lpstr>
      <vt:lpstr>3.3 Best Hyperparameters</vt:lpstr>
      <vt:lpstr>4 Neural Tangent Kernel</vt:lpstr>
      <vt:lpstr>4 Neural Tangent Kernel</vt:lpstr>
      <vt:lpstr>5 Wide Neural Networks Evolve as Linear Models Under Gradient Descent</vt:lpstr>
      <vt:lpstr>5 Wide Neural Networks Evolve as Linear Models Under Gradient Descent</vt:lpstr>
      <vt:lpstr>5 Wide Neural Networks Evolve as Linear Models Under Gradient Descent</vt:lpstr>
      <vt:lpstr>5 Wide Neural Networks Evolve as Linear Models Under Gradient Descent</vt:lpstr>
      <vt:lpstr>5 Wide Neural Networks Evolve as Linear Models Under Gradient Descent</vt:lpstr>
      <vt:lpstr>5 Wide Neural Networks Evolve as Linear Models Under Gradient Descent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DEEP  CONVOLUTIONAL  NETWORKS   WITH MANY  CHANNELS  ARE  GAUSSIAN PROCESSES</dc:title>
  <dc:creator>zkx</dc:creator>
  <cp:lastModifiedBy>pplab-class</cp:lastModifiedBy>
  <cp:revision>51</cp:revision>
  <dcterms:created xsi:type="dcterms:W3CDTF">2019-04-02T05:36:00Z</dcterms:created>
  <dcterms:modified xsi:type="dcterms:W3CDTF">2019-04-23T10:35:25Z</dcterms:modified>
</cp:coreProperties>
</file>