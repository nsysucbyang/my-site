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73" r:id="rId3"/>
    <p:sldId id="257" r:id="rId4"/>
    <p:sldId id="283" r:id="rId5"/>
    <p:sldId id="303" r:id="rId6"/>
    <p:sldId id="304" r:id="rId7"/>
    <p:sldId id="305" r:id="rId8"/>
    <p:sldId id="306" r:id="rId9"/>
    <p:sldId id="295" r:id="rId10"/>
    <p:sldId id="296" r:id="rId11"/>
    <p:sldId id="290" r:id="rId12"/>
    <p:sldId id="297" r:id="rId13"/>
    <p:sldId id="301" r:id="rId14"/>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u" initials="l" lastIdx="1" clrIdx="0">
    <p:extLst>
      <p:ext uri="{19B8F6BF-5375-455C-9EA6-DF929625EA0E}">
        <p15:presenceInfo xmlns:p15="http://schemas.microsoft.com/office/powerpoint/2012/main" userId="lu"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15" autoAdjust="0"/>
    <p:restoredTop sz="94660"/>
  </p:normalViewPr>
  <p:slideViewPr>
    <p:cSldViewPr snapToGrid="0">
      <p:cViewPr varScale="1">
        <p:scale>
          <a:sx n="89" d="100"/>
          <a:sy n="89" d="100"/>
        </p:scale>
        <p:origin x="12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6F1585-2514-4ABD-9D02-307B86E5C09C}" type="datetimeFigureOut">
              <a:rPr lang="zh-TW" altLang="en-US" smtClean="0"/>
              <a:t>2019/4/16</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677D1C-3D7C-420B-BCA3-33BEDD3D5A80}" type="slidenum">
              <a:rPr lang="zh-TW" altLang="en-US" smtClean="0"/>
              <a:t>‹#›</a:t>
            </a:fld>
            <a:endParaRPr lang="zh-TW" altLang="en-US"/>
          </a:p>
        </p:txBody>
      </p:sp>
    </p:spTree>
    <p:extLst>
      <p:ext uri="{BB962C8B-B14F-4D97-AF65-F5344CB8AC3E}">
        <p14:creationId xmlns:p14="http://schemas.microsoft.com/office/powerpoint/2010/main" val="28389453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a:t>
            </a:fld>
            <a:endParaRPr lang="zh-TW" altLang="en-US"/>
          </a:p>
        </p:txBody>
      </p:sp>
    </p:spTree>
    <p:extLst>
      <p:ext uri="{BB962C8B-B14F-4D97-AF65-F5344CB8AC3E}">
        <p14:creationId xmlns:p14="http://schemas.microsoft.com/office/powerpoint/2010/main" val="27209215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3</a:t>
            </a:fld>
            <a:endParaRPr lang="zh-TW" altLang="en-US"/>
          </a:p>
        </p:txBody>
      </p:sp>
    </p:spTree>
    <p:extLst>
      <p:ext uri="{BB962C8B-B14F-4D97-AF65-F5344CB8AC3E}">
        <p14:creationId xmlns:p14="http://schemas.microsoft.com/office/powerpoint/2010/main" val="3574880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4</a:t>
            </a:fld>
            <a:endParaRPr lang="zh-TW" altLang="en-US"/>
          </a:p>
        </p:txBody>
      </p:sp>
    </p:spTree>
    <p:extLst>
      <p:ext uri="{BB962C8B-B14F-4D97-AF65-F5344CB8AC3E}">
        <p14:creationId xmlns:p14="http://schemas.microsoft.com/office/powerpoint/2010/main" val="25152831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5</a:t>
            </a:fld>
            <a:endParaRPr lang="zh-TW" altLang="en-US"/>
          </a:p>
        </p:txBody>
      </p:sp>
    </p:spTree>
    <p:extLst>
      <p:ext uri="{BB962C8B-B14F-4D97-AF65-F5344CB8AC3E}">
        <p14:creationId xmlns:p14="http://schemas.microsoft.com/office/powerpoint/2010/main" val="4671249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6</a:t>
            </a:fld>
            <a:endParaRPr lang="zh-TW" altLang="en-US"/>
          </a:p>
        </p:txBody>
      </p:sp>
    </p:spTree>
    <p:extLst>
      <p:ext uri="{BB962C8B-B14F-4D97-AF65-F5344CB8AC3E}">
        <p14:creationId xmlns:p14="http://schemas.microsoft.com/office/powerpoint/2010/main" val="26559865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7</a:t>
            </a:fld>
            <a:endParaRPr lang="zh-TW" altLang="en-US"/>
          </a:p>
        </p:txBody>
      </p:sp>
    </p:spTree>
    <p:extLst>
      <p:ext uri="{BB962C8B-B14F-4D97-AF65-F5344CB8AC3E}">
        <p14:creationId xmlns:p14="http://schemas.microsoft.com/office/powerpoint/2010/main" val="24743090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8</a:t>
            </a:fld>
            <a:endParaRPr lang="zh-TW" altLang="en-US"/>
          </a:p>
        </p:txBody>
      </p:sp>
    </p:spTree>
    <p:extLst>
      <p:ext uri="{BB962C8B-B14F-4D97-AF65-F5344CB8AC3E}">
        <p14:creationId xmlns:p14="http://schemas.microsoft.com/office/powerpoint/2010/main" val="32048048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9</a:t>
            </a:fld>
            <a:endParaRPr lang="zh-TW" altLang="en-US"/>
          </a:p>
        </p:txBody>
      </p:sp>
    </p:spTree>
    <p:extLst>
      <p:ext uri="{BB962C8B-B14F-4D97-AF65-F5344CB8AC3E}">
        <p14:creationId xmlns:p14="http://schemas.microsoft.com/office/powerpoint/2010/main" val="26509816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10</a:t>
            </a:fld>
            <a:endParaRPr lang="zh-TW" altLang="en-US"/>
          </a:p>
        </p:txBody>
      </p:sp>
    </p:spTree>
    <p:extLst>
      <p:ext uri="{BB962C8B-B14F-4D97-AF65-F5344CB8AC3E}">
        <p14:creationId xmlns:p14="http://schemas.microsoft.com/office/powerpoint/2010/main" val="31344221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11</a:t>
            </a:fld>
            <a:endParaRPr lang="zh-TW" altLang="en-US"/>
          </a:p>
        </p:txBody>
      </p:sp>
    </p:spTree>
    <p:extLst>
      <p:ext uri="{BB962C8B-B14F-4D97-AF65-F5344CB8AC3E}">
        <p14:creationId xmlns:p14="http://schemas.microsoft.com/office/powerpoint/2010/main" val="8453290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12</a:t>
            </a:fld>
            <a:endParaRPr lang="zh-TW" altLang="en-US"/>
          </a:p>
        </p:txBody>
      </p:sp>
    </p:spTree>
    <p:extLst>
      <p:ext uri="{BB962C8B-B14F-4D97-AF65-F5344CB8AC3E}">
        <p14:creationId xmlns:p14="http://schemas.microsoft.com/office/powerpoint/2010/main" val="7562560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13</a:t>
            </a:fld>
            <a:endParaRPr lang="zh-TW" altLang="en-US"/>
          </a:p>
        </p:txBody>
      </p:sp>
    </p:spTree>
    <p:extLst>
      <p:ext uri="{BB962C8B-B14F-4D97-AF65-F5344CB8AC3E}">
        <p14:creationId xmlns:p14="http://schemas.microsoft.com/office/powerpoint/2010/main" val="40103935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CFD9DDC-1562-41E3-9F1A-6464E55FA6CC}"/>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78DFE20D-93A5-46C2-A49A-F0C15C370E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2E469C4C-F457-4167-B363-FB6DD59DC296}"/>
              </a:ext>
            </a:extLst>
          </p:cNvPr>
          <p:cNvSpPr>
            <a:spLocks noGrp="1"/>
          </p:cNvSpPr>
          <p:nvPr>
            <p:ph type="dt" sz="half" idx="10"/>
          </p:nvPr>
        </p:nvSpPr>
        <p:spPr/>
        <p:txBody>
          <a:bodyPr/>
          <a:lstStyle/>
          <a:p>
            <a:fld id="{289B6366-6E92-4855-9B33-10136FFB9F55}" type="datetimeFigureOut">
              <a:rPr lang="zh-TW" altLang="en-US" smtClean="0"/>
              <a:t>2019/4/16</a:t>
            </a:fld>
            <a:endParaRPr lang="zh-TW" altLang="en-US"/>
          </a:p>
        </p:txBody>
      </p:sp>
      <p:sp>
        <p:nvSpPr>
          <p:cNvPr id="5" name="頁尾版面配置區 4">
            <a:extLst>
              <a:ext uri="{FF2B5EF4-FFF2-40B4-BE49-F238E27FC236}">
                <a16:creationId xmlns:a16="http://schemas.microsoft.com/office/drawing/2014/main" id="{DFFC6E50-6AB9-4105-98EF-724B3C0041C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0950C054-D98D-4C90-938F-17BEFCE88E95}"/>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3118731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7533DA1-7165-4DF5-971F-78735A9CE427}"/>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A9257B16-48F3-4742-8243-9C7ED79E7ABC}"/>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088E6861-BAD9-4B1E-B7CC-ED4F8B71DB22}"/>
              </a:ext>
            </a:extLst>
          </p:cNvPr>
          <p:cNvSpPr>
            <a:spLocks noGrp="1"/>
          </p:cNvSpPr>
          <p:nvPr>
            <p:ph type="dt" sz="half" idx="10"/>
          </p:nvPr>
        </p:nvSpPr>
        <p:spPr/>
        <p:txBody>
          <a:bodyPr/>
          <a:lstStyle/>
          <a:p>
            <a:fld id="{289B6366-6E92-4855-9B33-10136FFB9F55}" type="datetimeFigureOut">
              <a:rPr lang="zh-TW" altLang="en-US" smtClean="0"/>
              <a:t>2019/4/16</a:t>
            </a:fld>
            <a:endParaRPr lang="zh-TW" altLang="en-US"/>
          </a:p>
        </p:txBody>
      </p:sp>
      <p:sp>
        <p:nvSpPr>
          <p:cNvPr id="5" name="頁尾版面配置區 4">
            <a:extLst>
              <a:ext uri="{FF2B5EF4-FFF2-40B4-BE49-F238E27FC236}">
                <a16:creationId xmlns:a16="http://schemas.microsoft.com/office/drawing/2014/main" id="{F706F4B5-A649-474C-8BFE-57517ED0EAD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28F86C2-A14C-422A-8FC6-1D63EF61726C}"/>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6366149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B4346D0-9FE7-4F7E-985A-585F1F59E5C2}"/>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A6063CD7-FE57-450D-939C-29084736AE3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id="{DBCE3ACB-7971-48F1-9875-489AE8943338}"/>
              </a:ext>
            </a:extLst>
          </p:cNvPr>
          <p:cNvSpPr>
            <a:spLocks noGrp="1"/>
          </p:cNvSpPr>
          <p:nvPr>
            <p:ph type="dt" sz="half" idx="10"/>
          </p:nvPr>
        </p:nvSpPr>
        <p:spPr/>
        <p:txBody>
          <a:bodyPr/>
          <a:lstStyle/>
          <a:p>
            <a:fld id="{289B6366-6E92-4855-9B33-10136FFB9F55}" type="datetimeFigureOut">
              <a:rPr lang="zh-TW" altLang="en-US" smtClean="0"/>
              <a:t>2019/4/16</a:t>
            </a:fld>
            <a:endParaRPr lang="zh-TW" altLang="en-US"/>
          </a:p>
        </p:txBody>
      </p:sp>
      <p:sp>
        <p:nvSpPr>
          <p:cNvPr id="5" name="頁尾版面配置區 4">
            <a:extLst>
              <a:ext uri="{FF2B5EF4-FFF2-40B4-BE49-F238E27FC236}">
                <a16:creationId xmlns:a16="http://schemas.microsoft.com/office/drawing/2014/main" id="{35413690-EB95-4432-8BFC-09F929C3BB3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34FA246-600E-4025-B715-2485B36E1332}"/>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3288196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C1659F-69D8-4B85-B7A6-F42E1F3A37EE}"/>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ABEBF960-4F47-46F0-89DB-C64F0F1E1283}"/>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F16245D3-5283-415A-84E2-E6274B6E00A2}"/>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62DDA930-81B0-4724-B815-F2EBD1DC4556}"/>
              </a:ext>
            </a:extLst>
          </p:cNvPr>
          <p:cNvSpPr>
            <a:spLocks noGrp="1"/>
          </p:cNvSpPr>
          <p:nvPr>
            <p:ph type="dt" sz="half" idx="10"/>
          </p:nvPr>
        </p:nvSpPr>
        <p:spPr/>
        <p:txBody>
          <a:bodyPr/>
          <a:lstStyle/>
          <a:p>
            <a:fld id="{289B6366-6E92-4855-9B33-10136FFB9F55}" type="datetimeFigureOut">
              <a:rPr lang="zh-TW" altLang="en-US" smtClean="0"/>
              <a:t>2019/4/16</a:t>
            </a:fld>
            <a:endParaRPr lang="zh-TW" altLang="en-US"/>
          </a:p>
        </p:txBody>
      </p:sp>
      <p:sp>
        <p:nvSpPr>
          <p:cNvPr id="6" name="頁尾版面配置區 5">
            <a:extLst>
              <a:ext uri="{FF2B5EF4-FFF2-40B4-BE49-F238E27FC236}">
                <a16:creationId xmlns:a16="http://schemas.microsoft.com/office/drawing/2014/main" id="{F39B2AB0-21DB-4DB7-82C3-46F676AEB0E8}"/>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B797DCFC-9953-4E19-A454-CA08295F589E}"/>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2228669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F60DB38-9964-45C8-A1EF-D1F8C2A33AEB}"/>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A59A4D11-828E-4CB5-A6AE-5F8FA90F4A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id="{5DEDA618-7B28-4B92-955D-D9F57DA002F3}"/>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1B7155B0-41F4-4173-8A9E-AC97385B04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id="{AE9D421D-015E-480B-A473-59B674316675}"/>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B161ED9B-DFA5-480A-AD88-6DFF046FCB53}"/>
              </a:ext>
            </a:extLst>
          </p:cNvPr>
          <p:cNvSpPr>
            <a:spLocks noGrp="1"/>
          </p:cNvSpPr>
          <p:nvPr>
            <p:ph type="dt" sz="half" idx="10"/>
          </p:nvPr>
        </p:nvSpPr>
        <p:spPr/>
        <p:txBody>
          <a:bodyPr/>
          <a:lstStyle/>
          <a:p>
            <a:fld id="{289B6366-6E92-4855-9B33-10136FFB9F55}" type="datetimeFigureOut">
              <a:rPr lang="zh-TW" altLang="en-US" smtClean="0"/>
              <a:t>2019/4/16</a:t>
            </a:fld>
            <a:endParaRPr lang="zh-TW" altLang="en-US"/>
          </a:p>
        </p:txBody>
      </p:sp>
      <p:sp>
        <p:nvSpPr>
          <p:cNvPr id="8" name="頁尾版面配置區 7">
            <a:extLst>
              <a:ext uri="{FF2B5EF4-FFF2-40B4-BE49-F238E27FC236}">
                <a16:creationId xmlns:a16="http://schemas.microsoft.com/office/drawing/2014/main" id="{F3B77038-7B39-4853-9220-09E92BEB16F8}"/>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127B11AF-87CE-457B-9D69-58137A50985B}"/>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215180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83FC20B-A168-4787-91C9-454E6B2BC8C5}"/>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D2DA7D75-DCEA-4D5F-817A-1F76017002B1}"/>
              </a:ext>
            </a:extLst>
          </p:cNvPr>
          <p:cNvSpPr>
            <a:spLocks noGrp="1"/>
          </p:cNvSpPr>
          <p:nvPr>
            <p:ph type="dt" sz="half" idx="10"/>
          </p:nvPr>
        </p:nvSpPr>
        <p:spPr/>
        <p:txBody>
          <a:bodyPr/>
          <a:lstStyle/>
          <a:p>
            <a:fld id="{289B6366-6E92-4855-9B33-10136FFB9F55}" type="datetimeFigureOut">
              <a:rPr lang="zh-TW" altLang="en-US" smtClean="0"/>
              <a:t>2019/4/16</a:t>
            </a:fld>
            <a:endParaRPr lang="zh-TW" altLang="en-US"/>
          </a:p>
        </p:txBody>
      </p:sp>
      <p:sp>
        <p:nvSpPr>
          <p:cNvPr id="4" name="頁尾版面配置區 3">
            <a:extLst>
              <a:ext uri="{FF2B5EF4-FFF2-40B4-BE49-F238E27FC236}">
                <a16:creationId xmlns:a16="http://schemas.microsoft.com/office/drawing/2014/main" id="{6E420462-1E6B-4811-A101-C24EE185E4F6}"/>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EF5204FD-F249-467A-809E-2B53F765C671}"/>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3179819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00AA5AFE-F983-4BD0-A86F-D18589BB081B}"/>
              </a:ext>
            </a:extLst>
          </p:cNvPr>
          <p:cNvSpPr>
            <a:spLocks noGrp="1"/>
          </p:cNvSpPr>
          <p:nvPr>
            <p:ph type="dt" sz="half" idx="10"/>
          </p:nvPr>
        </p:nvSpPr>
        <p:spPr/>
        <p:txBody>
          <a:bodyPr/>
          <a:lstStyle/>
          <a:p>
            <a:fld id="{289B6366-6E92-4855-9B33-10136FFB9F55}" type="datetimeFigureOut">
              <a:rPr lang="zh-TW" altLang="en-US" smtClean="0"/>
              <a:t>2019/4/16</a:t>
            </a:fld>
            <a:endParaRPr lang="zh-TW" altLang="en-US"/>
          </a:p>
        </p:txBody>
      </p:sp>
      <p:sp>
        <p:nvSpPr>
          <p:cNvPr id="3" name="頁尾版面配置區 2">
            <a:extLst>
              <a:ext uri="{FF2B5EF4-FFF2-40B4-BE49-F238E27FC236}">
                <a16:creationId xmlns:a16="http://schemas.microsoft.com/office/drawing/2014/main" id="{8AE15BC6-0BDC-4D5E-B093-968EA5FDED06}"/>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571BFC94-F3F4-4DC3-AAE4-BC932631BD05}"/>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7247210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A77FD33-544D-451E-8F35-6516C626BEC6}"/>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3A37D552-228A-402E-AE3D-2AEAE23C9DD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25E0435F-1CA3-499B-A972-EE4FA12CA1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C189A80C-0898-442B-A9DB-6CE747D9C7F0}"/>
              </a:ext>
            </a:extLst>
          </p:cNvPr>
          <p:cNvSpPr>
            <a:spLocks noGrp="1"/>
          </p:cNvSpPr>
          <p:nvPr>
            <p:ph type="dt" sz="half" idx="10"/>
          </p:nvPr>
        </p:nvSpPr>
        <p:spPr/>
        <p:txBody>
          <a:bodyPr/>
          <a:lstStyle/>
          <a:p>
            <a:fld id="{289B6366-6E92-4855-9B33-10136FFB9F55}" type="datetimeFigureOut">
              <a:rPr lang="zh-TW" altLang="en-US" smtClean="0"/>
              <a:t>2019/4/16</a:t>
            </a:fld>
            <a:endParaRPr lang="zh-TW" altLang="en-US"/>
          </a:p>
        </p:txBody>
      </p:sp>
      <p:sp>
        <p:nvSpPr>
          <p:cNvPr id="6" name="頁尾版面配置區 5">
            <a:extLst>
              <a:ext uri="{FF2B5EF4-FFF2-40B4-BE49-F238E27FC236}">
                <a16:creationId xmlns:a16="http://schemas.microsoft.com/office/drawing/2014/main" id="{DF1EF31A-4A67-484F-8573-1D1F63C18EB1}"/>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48DADBDA-C04D-4B1F-9E13-784372684EE0}"/>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9457642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619C6B2-1FC1-4D82-AE09-83971387173B}"/>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053A6602-82D6-4233-AD5A-DC49828316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AF7135F2-2932-4070-9CCA-6213EFE682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14D3864F-50D1-4DBD-A5B6-1645AA45EA59}"/>
              </a:ext>
            </a:extLst>
          </p:cNvPr>
          <p:cNvSpPr>
            <a:spLocks noGrp="1"/>
          </p:cNvSpPr>
          <p:nvPr>
            <p:ph type="dt" sz="half" idx="10"/>
          </p:nvPr>
        </p:nvSpPr>
        <p:spPr/>
        <p:txBody>
          <a:bodyPr/>
          <a:lstStyle/>
          <a:p>
            <a:fld id="{289B6366-6E92-4855-9B33-10136FFB9F55}" type="datetimeFigureOut">
              <a:rPr lang="zh-TW" altLang="en-US" smtClean="0"/>
              <a:t>2019/4/16</a:t>
            </a:fld>
            <a:endParaRPr lang="zh-TW" altLang="en-US"/>
          </a:p>
        </p:txBody>
      </p:sp>
      <p:sp>
        <p:nvSpPr>
          <p:cNvPr id="6" name="頁尾版面配置區 5">
            <a:extLst>
              <a:ext uri="{FF2B5EF4-FFF2-40B4-BE49-F238E27FC236}">
                <a16:creationId xmlns:a16="http://schemas.microsoft.com/office/drawing/2014/main" id="{D59F5A93-207A-45A5-9BEC-53C28FF8F1E0}"/>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4103368-FB4E-41AE-811C-7BC7ADAFC7D3}"/>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25521693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29C4861-2A8C-4410-8E4A-4441FC1320E8}"/>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91ED451D-7435-47B8-AA6C-87B8EEA207EC}"/>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91A2253F-98FC-4AD8-AB1E-608801808E4B}"/>
              </a:ext>
            </a:extLst>
          </p:cNvPr>
          <p:cNvSpPr>
            <a:spLocks noGrp="1"/>
          </p:cNvSpPr>
          <p:nvPr>
            <p:ph type="dt" sz="half" idx="10"/>
          </p:nvPr>
        </p:nvSpPr>
        <p:spPr/>
        <p:txBody>
          <a:bodyPr/>
          <a:lstStyle/>
          <a:p>
            <a:fld id="{289B6366-6E92-4855-9B33-10136FFB9F55}" type="datetimeFigureOut">
              <a:rPr lang="zh-TW" altLang="en-US" smtClean="0"/>
              <a:t>2019/4/16</a:t>
            </a:fld>
            <a:endParaRPr lang="zh-TW" altLang="en-US"/>
          </a:p>
        </p:txBody>
      </p:sp>
      <p:sp>
        <p:nvSpPr>
          <p:cNvPr id="5" name="頁尾版面配置區 4">
            <a:extLst>
              <a:ext uri="{FF2B5EF4-FFF2-40B4-BE49-F238E27FC236}">
                <a16:creationId xmlns:a16="http://schemas.microsoft.com/office/drawing/2014/main" id="{A12D5CBA-DDC5-46C6-9551-77D0E481A03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0021B7B3-C52D-4681-8005-1EC96B7EE50D}"/>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35553865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C702BAFC-3D18-4325-B382-BF414846856F}"/>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2D2FEE02-A709-4FB0-9DDE-940FDB4B61FF}"/>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01DB4D53-3EC7-453D-BD90-F21F29EA365F}"/>
              </a:ext>
            </a:extLst>
          </p:cNvPr>
          <p:cNvSpPr>
            <a:spLocks noGrp="1"/>
          </p:cNvSpPr>
          <p:nvPr>
            <p:ph type="dt" sz="half" idx="10"/>
          </p:nvPr>
        </p:nvSpPr>
        <p:spPr/>
        <p:txBody>
          <a:bodyPr/>
          <a:lstStyle/>
          <a:p>
            <a:fld id="{289B6366-6E92-4855-9B33-10136FFB9F55}" type="datetimeFigureOut">
              <a:rPr lang="zh-TW" altLang="en-US" smtClean="0"/>
              <a:t>2019/4/16</a:t>
            </a:fld>
            <a:endParaRPr lang="zh-TW" altLang="en-US"/>
          </a:p>
        </p:txBody>
      </p:sp>
      <p:sp>
        <p:nvSpPr>
          <p:cNvPr id="5" name="頁尾版面配置區 4">
            <a:extLst>
              <a:ext uri="{FF2B5EF4-FFF2-40B4-BE49-F238E27FC236}">
                <a16:creationId xmlns:a16="http://schemas.microsoft.com/office/drawing/2014/main" id="{324CA5CE-17CD-419F-8C13-16D273AFBF2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3B6B85C-8189-47A7-8D84-0B8FD90A869B}"/>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6589745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8C2E46CB-D80A-4DE1-9C2C-DBEB59D1D1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3A01FB3C-2F61-41E2-A419-5D2378D7B77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AC1DBDDA-1C0E-4B2A-A31E-1956DBF268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9B6366-6E92-4855-9B33-10136FFB9F55}" type="datetimeFigureOut">
              <a:rPr lang="zh-TW" altLang="en-US" smtClean="0"/>
              <a:t>2019/4/16</a:t>
            </a:fld>
            <a:endParaRPr lang="zh-TW" altLang="en-US"/>
          </a:p>
        </p:txBody>
      </p:sp>
      <p:sp>
        <p:nvSpPr>
          <p:cNvPr id="5" name="頁尾版面配置區 4">
            <a:extLst>
              <a:ext uri="{FF2B5EF4-FFF2-40B4-BE49-F238E27FC236}">
                <a16:creationId xmlns:a16="http://schemas.microsoft.com/office/drawing/2014/main" id="{5420D0D2-BA69-4AB7-97C4-062135932B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534B1C00-4FD7-4FEA-B3B1-0FC20958196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8472938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DABD277-3DCF-4084-9E03-BF06B086F7E6}"/>
              </a:ext>
            </a:extLst>
          </p:cNvPr>
          <p:cNvSpPr>
            <a:spLocks noGrp="1"/>
          </p:cNvSpPr>
          <p:nvPr>
            <p:ph type="ctrTitle"/>
          </p:nvPr>
        </p:nvSpPr>
        <p:spPr>
          <a:xfrm>
            <a:off x="1054248" y="500281"/>
            <a:ext cx="10832952" cy="1683521"/>
          </a:xfrm>
        </p:spPr>
        <p:txBody>
          <a:bodyPr>
            <a:normAutofit/>
          </a:bodyPr>
          <a:lstStyle/>
          <a:p>
            <a:r>
              <a:rPr lang="en-US" altLang="zh-TW" sz="4000" b="1" dirty="0">
                <a:latin typeface="Times New Roman" panose="02020603050405020304" pitchFamily="18" charset="0"/>
                <a:cs typeface="Times New Roman" panose="02020603050405020304" pitchFamily="18" charset="0"/>
              </a:rPr>
              <a:t>A Meta Decision Tree Approach for B-cell Epitope Mining</a:t>
            </a:r>
            <a:endParaRPr lang="zh-TW" altLang="en-US" sz="4000" b="1"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2FF96485-B26C-4B59-B13D-880AA0BD68EA}"/>
              </a:ext>
            </a:extLst>
          </p:cNvPr>
          <p:cNvSpPr>
            <a:spLocks noGrp="1"/>
          </p:cNvSpPr>
          <p:nvPr>
            <p:ph type="subTitle" idx="1"/>
          </p:nvPr>
        </p:nvSpPr>
        <p:spPr>
          <a:xfrm>
            <a:off x="1317324" y="2290880"/>
            <a:ext cx="10193358" cy="1590037"/>
          </a:xfrm>
        </p:spPr>
        <p:txBody>
          <a:bodyPr>
            <a:normAutofit/>
          </a:bodyPr>
          <a:lstStyle/>
          <a:p>
            <a:endParaRPr lang="en-US" altLang="zh-TW" dirty="0"/>
          </a:p>
          <a:p>
            <a:r>
              <a:rPr lang="en-US" altLang="zh-TW" sz="2800" dirty="0" err="1">
                <a:latin typeface="Times New Roman" panose="02020603050405020304" pitchFamily="18" charset="0"/>
                <a:cs typeface="Times New Roman" panose="02020603050405020304" pitchFamily="18" charset="0"/>
              </a:rPr>
              <a:t>Yuh-Jyh</a:t>
            </a:r>
            <a:r>
              <a:rPr lang="en-US" altLang="zh-TW" sz="2800" dirty="0">
                <a:latin typeface="Times New Roman" panose="02020603050405020304" pitchFamily="18" charset="0"/>
                <a:cs typeface="Times New Roman" panose="02020603050405020304" pitchFamily="18" charset="0"/>
              </a:rPr>
              <a:t> Hu(</a:t>
            </a:r>
            <a:r>
              <a:rPr lang="zh-TW" altLang="en-US" sz="2800" dirty="0">
                <a:latin typeface="Times New Roman" panose="02020603050405020304" pitchFamily="18" charset="0"/>
                <a:cs typeface="Times New Roman" panose="02020603050405020304" pitchFamily="18" charset="0"/>
              </a:rPr>
              <a:t>胡毓志</a:t>
            </a:r>
            <a:r>
              <a:rPr lang="en-US" altLang="zh-TW" sz="2800" dirty="0">
                <a:latin typeface="Times New Roman" panose="02020603050405020304" pitchFamily="18" charset="0"/>
                <a:cs typeface="Times New Roman" panose="02020603050405020304" pitchFamily="18" charset="0"/>
              </a:rPr>
              <a:t>), Shun-Ning You</a:t>
            </a:r>
            <a:endParaRPr lang="zh-TW" altLang="en-US" sz="2800" dirty="0">
              <a:latin typeface="Times New Roman" panose="02020603050405020304" pitchFamily="18" charset="0"/>
              <a:cs typeface="Times New Roman" panose="02020603050405020304" pitchFamily="18" charset="0"/>
            </a:endParaRPr>
          </a:p>
        </p:txBody>
      </p:sp>
      <p:sp>
        <p:nvSpPr>
          <p:cNvPr id="4" name="副標題 2">
            <a:extLst>
              <a:ext uri="{FF2B5EF4-FFF2-40B4-BE49-F238E27FC236}">
                <a16:creationId xmlns:a16="http://schemas.microsoft.com/office/drawing/2014/main" id="{64AE8193-1DE0-47D4-9DBB-4734B89CA666}"/>
              </a:ext>
            </a:extLst>
          </p:cNvPr>
          <p:cNvSpPr txBox="1">
            <a:spLocks/>
          </p:cNvSpPr>
          <p:nvPr/>
        </p:nvSpPr>
        <p:spPr>
          <a:xfrm>
            <a:off x="1398494" y="3987995"/>
            <a:ext cx="8552329" cy="110037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TW" dirty="0">
                <a:latin typeface="Times New Roman" panose="02020603050405020304" pitchFamily="18" charset="0"/>
                <a:cs typeface="Times New Roman" panose="02020603050405020304" pitchFamily="18" charset="0"/>
              </a:rPr>
              <a:t>IEEE Conference on Computational Intelligence in Bioinformatics and Computational Biology (CIBCB),2016, Pages </a:t>
            </a:r>
            <a:r>
              <a:rPr lang="en-US" altLang="zh-TW" dirty="0"/>
              <a:t>1 - 5</a:t>
            </a:r>
            <a:r>
              <a:rPr lang="en-US" altLang="zh-TW" dirty="0">
                <a:latin typeface="Times New Roman" panose="02020603050405020304" pitchFamily="18" charset="0"/>
                <a:cs typeface="Times New Roman" panose="02020603050405020304" pitchFamily="18" charset="0"/>
              </a:rPr>
              <a:t>, Chiang Mai, Thailand</a:t>
            </a:r>
          </a:p>
        </p:txBody>
      </p:sp>
      <p:sp>
        <p:nvSpPr>
          <p:cNvPr id="5" name="副標題 2">
            <a:extLst>
              <a:ext uri="{FF2B5EF4-FFF2-40B4-BE49-F238E27FC236}">
                <a16:creationId xmlns:a16="http://schemas.microsoft.com/office/drawing/2014/main" id="{83311FB5-1C7C-4049-9C63-3A86A28231CF}"/>
              </a:ext>
            </a:extLst>
          </p:cNvPr>
          <p:cNvSpPr txBox="1">
            <a:spLocks/>
          </p:cNvSpPr>
          <p:nvPr/>
        </p:nvSpPr>
        <p:spPr>
          <a:xfrm>
            <a:off x="8616875" y="5526721"/>
            <a:ext cx="2893807" cy="830998"/>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Speaker: </a:t>
            </a:r>
            <a:r>
              <a:rPr lang="en-US" altLang="zh-TW" sz="2000" dirty="0" err="1">
                <a:latin typeface="Times New Roman" panose="02020603050405020304" pitchFamily="18" charset="0"/>
                <a:ea typeface="標楷體" panose="03000509000000000000" pitchFamily="65" charset="-120"/>
                <a:cs typeface="Times New Roman" panose="02020603050405020304" pitchFamily="18" charset="0"/>
              </a:rPr>
              <a:t>Jheng</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-Yan </a:t>
            </a:r>
            <a:r>
              <a:rPr lang="en-US" altLang="zh-TW" sz="2000" dirty="0" err="1">
                <a:latin typeface="Times New Roman" panose="02020603050405020304" pitchFamily="18" charset="0"/>
                <a:ea typeface="標楷體" panose="03000509000000000000" pitchFamily="65" charset="-120"/>
                <a:cs typeface="Times New Roman" panose="02020603050405020304" pitchFamily="18" charset="0"/>
              </a:rPr>
              <a:t>Lyu</a:t>
            </a:r>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a:p>
            <a:pPr algn="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Date: Apr. 16, 2019</a:t>
            </a:r>
          </a:p>
        </p:txBody>
      </p:sp>
    </p:spTree>
    <p:extLst>
      <p:ext uri="{BB962C8B-B14F-4D97-AF65-F5344CB8AC3E}">
        <p14:creationId xmlns:p14="http://schemas.microsoft.com/office/powerpoint/2010/main" val="3014946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775916" y="136524"/>
            <a:ext cx="7886700" cy="742817"/>
          </a:xfrm>
        </p:spPr>
        <p:txBody>
          <a:bodyPr>
            <a:normAutofit/>
          </a:bodyPr>
          <a:lstStyle/>
          <a:p>
            <a:r>
              <a:rPr lang="en-US" altLang="zh-TW" sz="3600" dirty="0">
                <a:latin typeface="Times New Roman" panose="02020603050405020304" pitchFamily="18" charset="0"/>
                <a:cs typeface="Times New Roman" panose="02020603050405020304" pitchFamily="18" charset="0"/>
              </a:rPr>
              <a:t>Abstract</a:t>
            </a:r>
            <a:r>
              <a:rPr lang="zh-TW" altLang="en-US" sz="3600" dirty="0">
                <a:latin typeface="Times New Roman" panose="02020603050405020304" pitchFamily="18" charset="0"/>
                <a:cs typeface="Times New Roman" panose="02020603050405020304" pitchFamily="18" charset="0"/>
              </a:rPr>
              <a:t> </a:t>
            </a:r>
            <a:r>
              <a:rPr lang="en-US" altLang="zh-TW" sz="3600" dirty="0">
                <a:latin typeface="Times New Roman" panose="02020603050405020304" pitchFamily="18" charset="0"/>
                <a:cs typeface="Times New Roman" panose="02020603050405020304" pitchFamily="18" charset="0"/>
              </a:rPr>
              <a:t>(1/2)</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p:txBody>
          <a:bodyPr/>
          <a:lstStyle/>
          <a:p>
            <a:fld id="{872633CA-77E0-4863-94F8-E28139DFB2B4}" type="slidenum">
              <a:rPr lang="zh-TW" altLang="en-US" smtClean="0"/>
              <a:t>2</a:t>
            </a:fld>
            <a:endParaRPr lang="zh-TW" altLang="en-US"/>
          </a:p>
        </p:txBody>
      </p:sp>
      <p:sp>
        <p:nvSpPr>
          <p:cNvPr id="7" name="內容版面配置區 6">
            <a:extLst>
              <a:ext uri="{FF2B5EF4-FFF2-40B4-BE49-F238E27FC236}">
                <a16:creationId xmlns:a16="http://schemas.microsoft.com/office/drawing/2014/main" id="{878CA31B-C758-4215-B281-353CA02EC37A}"/>
              </a:ext>
            </a:extLst>
          </p:cNvPr>
          <p:cNvSpPr>
            <a:spLocks noGrp="1"/>
          </p:cNvSpPr>
          <p:nvPr>
            <p:ph idx="1"/>
          </p:nvPr>
        </p:nvSpPr>
        <p:spPr>
          <a:xfrm>
            <a:off x="1775916" y="713148"/>
            <a:ext cx="8155484" cy="5825764"/>
          </a:xfrm>
        </p:spPr>
        <p:txBody>
          <a:bodyPr>
            <a:noAutofit/>
          </a:bodyPr>
          <a:lstStyle/>
          <a:p>
            <a:pPr marL="0" indent="0" algn="just">
              <a:lnSpc>
                <a:spcPct val="150000"/>
              </a:lnSpc>
              <a:buNone/>
            </a:pPr>
            <a:r>
              <a:rPr lang="en-US" altLang="zh-TW" sz="2300" dirty="0">
                <a:latin typeface="Times New Roman" panose="02020603050405020304" pitchFamily="18" charset="0"/>
                <a:cs typeface="Times New Roman" panose="02020603050405020304" pitchFamily="18" charset="0"/>
              </a:rPr>
              <a:t>The ability of antibodies to respond to an antigen depends on the antibodies’ specific recognition of epitopes, which are sites of the antigen to which antibodies bind. An increase in the availability of protein sequences and structures has enabled the identification of conformational epitopes, using various computational methods. The meta learner, among various approaches, has proved its feasibility and comparable accuracy in B-cell epitope prediction in previous studies. Nevertheless, its performance highly depends on the classification results of its multiple epitope base predictors within the meta learning architecture. </a:t>
            </a:r>
          </a:p>
        </p:txBody>
      </p:sp>
    </p:spTree>
    <p:extLst>
      <p:ext uri="{BB962C8B-B14F-4D97-AF65-F5344CB8AC3E}">
        <p14:creationId xmlns:p14="http://schemas.microsoft.com/office/powerpoint/2010/main" val="15950678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775916" y="402175"/>
            <a:ext cx="7886700" cy="742817"/>
          </a:xfrm>
        </p:spPr>
        <p:txBody>
          <a:bodyPr>
            <a:normAutofit/>
          </a:bodyPr>
          <a:lstStyle/>
          <a:p>
            <a:r>
              <a:rPr lang="en-US" altLang="zh-TW" sz="3600" dirty="0">
                <a:latin typeface="Times New Roman" panose="02020603050405020304" pitchFamily="18" charset="0"/>
                <a:cs typeface="Times New Roman" panose="02020603050405020304" pitchFamily="18" charset="0"/>
              </a:rPr>
              <a:t>Abstract (2/2)</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p:txBody>
          <a:bodyPr/>
          <a:lstStyle/>
          <a:p>
            <a:fld id="{872633CA-77E0-4863-94F8-E28139DFB2B4}" type="slidenum">
              <a:rPr lang="zh-TW" altLang="en-US" smtClean="0"/>
              <a:t>3</a:t>
            </a:fld>
            <a:endParaRPr lang="zh-TW" altLang="en-US"/>
          </a:p>
        </p:txBody>
      </p:sp>
      <p:sp>
        <p:nvSpPr>
          <p:cNvPr id="7" name="內容版面配置區 6">
            <a:extLst>
              <a:ext uri="{FF2B5EF4-FFF2-40B4-BE49-F238E27FC236}">
                <a16:creationId xmlns:a16="http://schemas.microsoft.com/office/drawing/2014/main" id="{878CA31B-C758-4215-B281-353CA02EC37A}"/>
              </a:ext>
            </a:extLst>
          </p:cNvPr>
          <p:cNvSpPr>
            <a:spLocks noGrp="1"/>
          </p:cNvSpPr>
          <p:nvPr>
            <p:ph idx="1"/>
          </p:nvPr>
        </p:nvSpPr>
        <p:spPr>
          <a:xfrm>
            <a:off x="1775916" y="895713"/>
            <a:ext cx="8489852" cy="5445183"/>
          </a:xfrm>
        </p:spPr>
        <p:txBody>
          <a:bodyPr vert="horz" lIns="91440" tIns="45720" rIns="91440" bIns="45720" rtlCol="0">
            <a:noAutofit/>
          </a:bodyPr>
          <a:lstStyle/>
          <a:p>
            <a:pPr marL="0" indent="0" algn="just">
              <a:lnSpc>
                <a:spcPct val="150000"/>
              </a:lnSpc>
              <a:spcBef>
                <a:spcPts val="0"/>
              </a:spcBef>
              <a:buNone/>
            </a:pPr>
            <a:r>
              <a:rPr lang="en-US" altLang="zh-TW" sz="2300" dirty="0">
                <a:latin typeface="Times New Roman" panose="02020603050405020304" pitchFamily="18" charset="0"/>
                <a:cs typeface="Times New Roman" panose="02020603050405020304" pitchFamily="18" charset="0"/>
              </a:rPr>
              <a:t>We here propose bagging meta decision trees for epitope prediction to avoid the dependence on epitope prediction tools, and introduce 3D sphere-based attributes to improve prediction accuracy. Our experimental results demonstrate the superior performance of the bagging meta decision tree approach in comparison with single epitope predictors.</a:t>
            </a:r>
            <a:endParaRPr lang="en-US" altLang="zh-TW" sz="2300" dirty="0">
              <a:latin typeface="Times New Roman" panose="02020603050405020304" pitchFamily="18" charset="0"/>
            </a:endParaRPr>
          </a:p>
        </p:txBody>
      </p:sp>
    </p:spTree>
    <p:extLst>
      <p:ext uri="{BB962C8B-B14F-4D97-AF65-F5344CB8AC3E}">
        <p14:creationId xmlns:p14="http://schemas.microsoft.com/office/powerpoint/2010/main" val="3204781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838200" y="432552"/>
            <a:ext cx="9188988" cy="833020"/>
          </a:xfrm>
        </p:spPr>
        <p:txBody>
          <a:bodyPr>
            <a:normAutofit/>
          </a:bodyPr>
          <a:lstStyle/>
          <a:p>
            <a:r>
              <a:rPr lang="en-US" altLang="zh-TW" sz="3600" dirty="0">
                <a:latin typeface="Times New Roman" panose="02020603050405020304" pitchFamily="18" charset="0"/>
                <a:cs typeface="Times New Roman" panose="02020603050405020304" pitchFamily="18" charset="0"/>
              </a:rPr>
              <a:t>Meta Decision Tree</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4</a:t>
            </a:fld>
            <a:endParaRPr lang="zh-TW" altLang="en-US"/>
          </a:p>
        </p:txBody>
      </p:sp>
      <p:sp>
        <p:nvSpPr>
          <p:cNvPr id="11" name="內容版面配置區 10">
            <a:extLst>
              <a:ext uri="{FF2B5EF4-FFF2-40B4-BE49-F238E27FC236}">
                <a16:creationId xmlns:a16="http://schemas.microsoft.com/office/drawing/2014/main" id="{C2C833C2-C5C2-4AEB-B3FF-A7027832BC21}"/>
              </a:ext>
            </a:extLst>
          </p:cNvPr>
          <p:cNvSpPr>
            <a:spLocks noGrp="1"/>
          </p:cNvSpPr>
          <p:nvPr>
            <p:ph idx="1"/>
          </p:nvPr>
        </p:nvSpPr>
        <p:spPr>
          <a:xfrm>
            <a:off x="838200" y="1265573"/>
            <a:ext cx="10844605" cy="4694163"/>
          </a:xfrm>
        </p:spPr>
        <p:txBody>
          <a:bodyPr>
            <a:normAutofit/>
          </a:bodyPr>
          <a:lstStyle/>
          <a:p>
            <a:endParaRPr lang="en-US" altLang="zh-TW" sz="2700" dirty="0"/>
          </a:p>
        </p:txBody>
      </p:sp>
      <p:pic>
        <p:nvPicPr>
          <p:cNvPr id="6" name="圖片 5">
            <a:extLst>
              <a:ext uri="{FF2B5EF4-FFF2-40B4-BE49-F238E27FC236}">
                <a16:creationId xmlns:a16="http://schemas.microsoft.com/office/drawing/2014/main" id="{F86DCEEC-706E-4B7F-8547-34523C6BDF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23532" y="2021284"/>
            <a:ext cx="8014390" cy="3354861"/>
          </a:xfrm>
          <a:prstGeom prst="rect">
            <a:avLst/>
          </a:prstGeom>
        </p:spPr>
      </p:pic>
    </p:spTree>
    <p:extLst>
      <p:ext uri="{BB962C8B-B14F-4D97-AF65-F5344CB8AC3E}">
        <p14:creationId xmlns:p14="http://schemas.microsoft.com/office/powerpoint/2010/main" val="8154466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838200" y="432552"/>
            <a:ext cx="9188988" cy="833020"/>
          </a:xfrm>
        </p:spPr>
        <p:txBody>
          <a:bodyPr>
            <a:normAutofit/>
          </a:bodyPr>
          <a:lstStyle/>
          <a:p>
            <a:r>
              <a:rPr lang="en-US" altLang="zh-TW" sz="3600" dirty="0">
                <a:latin typeface="Times New Roman" panose="02020603050405020304" pitchFamily="18" charset="0"/>
                <a:cs typeface="Times New Roman" panose="02020603050405020304" pitchFamily="18" charset="0"/>
              </a:rPr>
              <a:t>Base and Meta Attributes</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5</a:t>
            </a:fld>
            <a:endParaRPr lang="zh-TW" altLang="en-US"/>
          </a:p>
        </p:txBody>
      </p:sp>
      <p:sp>
        <p:nvSpPr>
          <p:cNvPr id="11" name="內容版面配置區 10">
            <a:extLst>
              <a:ext uri="{FF2B5EF4-FFF2-40B4-BE49-F238E27FC236}">
                <a16:creationId xmlns:a16="http://schemas.microsoft.com/office/drawing/2014/main" id="{C2C833C2-C5C2-4AEB-B3FF-A7027832BC21}"/>
              </a:ext>
            </a:extLst>
          </p:cNvPr>
          <p:cNvSpPr>
            <a:spLocks noGrp="1"/>
          </p:cNvSpPr>
          <p:nvPr>
            <p:ph idx="1"/>
          </p:nvPr>
        </p:nvSpPr>
        <p:spPr>
          <a:xfrm>
            <a:off x="838200" y="1265573"/>
            <a:ext cx="10844605" cy="4694163"/>
          </a:xfrm>
        </p:spPr>
        <p:txBody>
          <a:bodyPr>
            <a:normAutofit/>
          </a:bodyPr>
          <a:lstStyle/>
          <a:p>
            <a:r>
              <a:rPr lang="en-US" altLang="zh-TW" sz="2700" dirty="0"/>
              <a:t>surface probability , turns , accessible surface area defined by Lee and Richards , and two types of polarity defined by </a:t>
            </a:r>
            <a:r>
              <a:rPr lang="en-US" altLang="zh-TW" sz="2700" dirty="0" err="1"/>
              <a:t>Ponnuswamy</a:t>
            </a:r>
            <a:r>
              <a:rPr lang="en-US" altLang="zh-TW" sz="2700" dirty="0"/>
              <a:t> et al. and Grantham, respectively.</a:t>
            </a:r>
          </a:p>
        </p:txBody>
      </p:sp>
      <p:pic>
        <p:nvPicPr>
          <p:cNvPr id="10" name="圖片 9">
            <a:extLst>
              <a:ext uri="{FF2B5EF4-FFF2-40B4-BE49-F238E27FC236}">
                <a16:creationId xmlns:a16="http://schemas.microsoft.com/office/drawing/2014/main" id="{3F000E53-DF01-4250-BE23-571D638C48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8048" y="2485095"/>
            <a:ext cx="9349292" cy="3474641"/>
          </a:xfrm>
          <a:prstGeom prst="rect">
            <a:avLst/>
          </a:prstGeom>
        </p:spPr>
      </p:pic>
    </p:spTree>
    <p:extLst>
      <p:ext uri="{BB962C8B-B14F-4D97-AF65-F5344CB8AC3E}">
        <p14:creationId xmlns:p14="http://schemas.microsoft.com/office/powerpoint/2010/main" val="40614555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838200" y="432552"/>
            <a:ext cx="9188988" cy="833020"/>
          </a:xfrm>
        </p:spPr>
        <p:txBody>
          <a:bodyPr>
            <a:normAutofit/>
          </a:bodyPr>
          <a:lstStyle/>
          <a:p>
            <a:r>
              <a:rPr lang="en-US" altLang="zh-TW" sz="3600" dirty="0">
                <a:latin typeface="Times New Roman" panose="02020603050405020304" pitchFamily="18" charset="0"/>
                <a:cs typeface="Times New Roman" panose="02020603050405020304" pitchFamily="18" charset="0"/>
              </a:rPr>
              <a:t>Base and Meta Attributes</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6</a:t>
            </a:fld>
            <a:endParaRPr lang="zh-TW" altLang="en-US"/>
          </a:p>
        </p:txBody>
      </p:sp>
      <p:sp>
        <p:nvSpPr>
          <p:cNvPr id="11" name="內容版面配置區 10">
            <a:extLst>
              <a:ext uri="{FF2B5EF4-FFF2-40B4-BE49-F238E27FC236}">
                <a16:creationId xmlns:a16="http://schemas.microsoft.com/office/drawing/2014/main" id="{C2C833C2-C5C2-4AEB-B3FF-A7027832BC21}"/>
              </a:ext>
            </a:extLst>
          </p:cNvPr>
          <p:cNvSpPr>
            <a:spLocks noGrp="1"/>
          </p:cNvSpPr>
          <p:nvPr>
            <p:ph idx="1"/>
          </p:nvPr>
        </p:nvSpPr>
        <p:spPr>
          <a:xfrm>
            <a:off x="838200" y="1265573"/>
            <a:ext cx="10844605" cy="4694163"/>
          </a:xfrm>
        </p:spPr>
        <p:txBody>
          <a:bodyPr>
            <a:normAutofit/>
          </a:bodyPr>
          <a:lstStyle/>
          <a:p>
            <a:endParaRPr lang="en-US" altLang="zh-TW" sz="2700" dirty="0"/>
          </a:p>
        </p:txBody>
      </p:sp>
      <p:pic>
        <p:nvPicPr>
          <p:cNvPr id="7" name="圖片 6">
            <a:extLst>
              <a:ext uri="{FF2B5EF4-FFF2-40B4-BE49-F238E27FC236}">
                <a16:creationId xmlns:a16="http://schemas.microsoft.com/office/drawing/2014/main" id="{947CBB1E-B013-4A3B-BD44-66F986F093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265572"/>
            <a:ext cx="10102327" cy="4495664"/>
          </a:xfrm>
          <a:prstGeom prst="rect">
            <a:avLst/>
          </a:prstGeom>
        </p:spPr>
      </p:pic>
    </p:spTree>
    <p:extLst>
      <p:ext uri="{BB962C8B-B14F-4D97-AF65-F5344CB8AC3E}">
        <p14:creationId xmlns:p14="http://schemas.microsoft.com/office/powerpoint/2010/main" val="11567082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838200" y="432552"/>
            <a:ext cx="9188988" cy="833020"/>
          </a:xfrm>
        </p:spPr>
        <p:txBody>
          <a:bodyPr>
            <a:normAutofit/>
          </a:bodyPr>
          <a:lstStyle/>
          <a:p>
            <a:r>
              <a:rPr lang="en-US" altLang="zh-TW" sz="3600" dirty="0">
                <a:latin typeface="Times New Roman" panose="02020603050405020304" pitchFamily="18" charset="0"/>
                <a:cs typeface="Times New Roman" panose="02020603050405020304" pitchFamily="18" charset="0"/>
              </a:rPr>
              <a:t>Base and Meta Attributes</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7</a:t>
            </a:fld>
            <a:endParaRPr lang="zh-TW" altLang="en-US"/>
          </a:p>
        </p:txBody>
      </p:sp>
      <p:sp>
        <p:nvSpPr>
          <p:cNvPr id="11" name="內容版面配置區 10">
            <a:extLst>
              <a:ext uri="{FF2B5EF4-FFF2-40B4-BE49-F238E27FC236}">
                <a16:creationId xmlns:a16="http://schemas.microsoft.com/office/drawing/2014/main" id="{C2C833C2-C5C2-4AEB-B3FF-A7027832BC21}"/>
              </a:ext>
            </a:extLst>
          </p:cNvPr>
          <p:cNvSpPr>
            <a:spLocks noGrp="1"/>
          </p:cNvSpPr>
          <p:nvPr>
            <p:ph idx="1"/>
          </p:nvPr>
        </p:nvSpPr>
        <p:spPr>
          <a:xfrm>
            <a:off x="838200" y="1265573"/>
            <a:ext cx="10844605" cy="4694163"/>
          </a:xfrm>
        </p:spPr>
        <p:txBody>
          <a:bodyPr>
            <a:normAutofit/>
          </a:bodyPr>
          <a:lstStyle/>
          <a:p>
            <a:r>
              <a:rPr lang="en-US" altLang="zh-TW" sz="2700" dirty="0"/>
              <a:t>three meta attributes: </a:t>
            </a:r>
            <a:r>
              <a:rPr lang="en-US" altLang="zh-TW" sz="2700" dirty="0" err="1"/>
              <a:t>epi_prob</a:t>
            </a:r>
            <a:r>
              <a:rPr lang="en-US" altLang="zh-TW" sz="2700" dirty="0"/>
              <a:t>(</a:t>
            </a:r>
            <a:r>
              <a:rPr lang="en-US" altLang="zh-TW" sz="2700" dirty="0" err="1"/>
              <a:t>x,B</a:t>
            </a:r>
            <a:r>
              <a:rPr lang="en-US" altLang="zh-TW" sz="2700" dirty="0"/>
              <a:t>), entropy(</a:t>
            </a:r>
            <a:r>
              <a:rPr lang="en-US" altLang="zh-TW" sz="2700" dirty="0" err="1"/>
              <a:t>x,B</a:t>
            </a:r>
            <a:r>
              <a:rPr lang="en-US" altLang="zh-TW" sz="2700" dirty="0"/>
              <a:t>), and </a:t>
            </a:r>
            <a:r>
              <a:rPr lang="en-US" altLang="zh-TW" sz="2700" dirty="0" err="1"/>
              <a:t>vote_epi_prop</a:t>
            </a:r>
            <a:r>
              <a:rPr lang="en-US" altLang="zh-TW" sz="2700" dirty="0"/>
              <a:t>(x)</a:t>
            </a:r>
          </a:p>
          <a:p>
            <a:r>
              <a:rPr lang="en-US" altLang="zh-TW" sz="2700" dirty="0"/>
              <a:t>base classifiers :random forests (RF) , support vector machines (SVM) , C4.5 , k-NN , PART , </a:t>
            </a:r>
            <a:r>
              <a:rPr lang="en-US" altLang="zh-TW" sz="2700" dirty="0" err="1"/>
              <a:t>BayesNet</a:t>
            </a:r>
            <a:r>
              <a:rPr lang="en-US" altLang="zh-TW" sz="2700" dirty="0"/>
              <a:t> , </a:t>
            </a:r>
            <a:r>
              <a:rPr lang="en-US" altLang="zh-TW" sz="2700" dirty="0" err="1"/>
              <a:t>JRip</a:t>
            </a:r>
            <a:r>
              <a:rPr lang="en-US" altLang="zh-TW" sz="2700" dirty="0"/>
              <a:t>  and </a:t>
            </a:r>
            <a:r>
              <a:rPr lang="en-US" altLang="zh-TW" sz="2700" dirty="0" err="1"/>
              <a:t>VotedPerceptron</a:t>
            </a:r>
            <a:r>
              <a:rPr lang="en-US" altLang="zh-TW" sz="2700" dirty="0"/>
              <a:t>.</a:t>
            </a:r>
          </a:p>
        </p:txBody>
      </p:sp>
    </p:spTree>
    <p:extLst>
      <p:ext uri="{BB962C8B-B14F-4D97-AF65-F5344CB8AC3E}">
        <p14:creationId xmlns:p14="http://schemas.microsoft.com/office/powerpoint/2010/main" val="23590061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838200" y="432552"/>
            <a:ext cx="9188988" cy="833020"/>
          </a:xfrm>
        </p:spPr>
        <p:txBody>
          <a:bodyPr>
            <a:normAutofit/>
          </a:bodyPr>
          <a:lstStyle/>
          <a:p>
            <a:r>
              <a:rPr lang="en-US" altLang="zh-TW" sz="3600" dirty="0">
                <a:latin typeface="Times New Roman" panose="02020603050405020304" pitchFamily="18" charset="0"/>
                <a:cs typeface="Times New Roman" panose="02020603050405020304" pitchFamily="18" charset="0"/>
              </a:rPr>
              <a:t>Base and Meta Attributes</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8</a:t>
            </a:fld>
            <a:endParaRPr lang="zh-TW" altLang="en-US"/>
          </a:p>
        </p:txBody>
      </p:sp>
      <p:sp>
        <p:nvSpPr>
          <p:cNvPr id="11" name="內容版面配置區 10">
            <a:extLst>
              <a:ext uri="{FF2B5EF4-FFF2-40B4-BE49-F238E27FC236}">
                <a16:creationId xmlns:a16="http://schemas.microsoft.com/office/drawing/2014/main" id="{C2C833C2-C5C2-4AEB-B3FF-A7027832BC21}"/>
              </a:ext>
            </a:extLst>
          </p:cNvPr>
          <p:cNvSpPr>
            <a:spLocks noGrp="1"/>
          </p:cNvSpPr>
          <p:nvPr>
            <p:ph idx="1"/>
          </p:nvPr>
        </p:nvSpPr>
        <p:spPr>
          <a:xfrm>
            <a:off x="838200" y="1265573"/>
            <a:ext cx="10844605" cy="4694163"/>
          </a:xfrm>
        </p:spPr>
        <p:txBody>
          <a:bodyPr>
            <a:normAutofit/>
          </a:bodyPr>
          <a:lstStyle/>
          <a:p>
            <a:r>
              <a:rPr lang="en-US" altLang="zh-TW" sz="2700" dirty="0"/>
              <a:t>entropy</a:t>
            </a:r>
          </a:p>
        </p:txBody>
      </p:sp>
      <p:pic>
        <p:nvPicPr>
          <p:cNvPr id="6" name="圖片 5">
            <a:extLst>
              <a:ext uri="{FF2B5EF4-FFF2-40B4-BE49-F238E27FC236}">
                <a16:creationId xmlns:a16="http://schemas.microsoft.com/office/drawing/2014/main" id="{8D4929E8-4C93-4408-B17B-29A9997011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02961" y="5458349"/>
            <a:ext cx="3096057" cy="714475"/>
          </a:xfrm>
          <a:prstGeom prst="rect">
            <a:avLst/>
          </a:prstGeom>
        </p:spPr>
      </p:pic>
      <p:pic>
        <p:nvPicPr>
          <p:cNvPr id="8" name="圖片 7">
            <a:extLst>
              <a:ext uri="{FF2B5EF4-FFF2-40B4-BE49-F238E27FC236}">
                <a16:creationId xmlns:a16="http://schemas.microsoft.com/office/drawing/2014/main" id="{0853C6CF-C7C4-4166-802B-E476AF7788C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93032" y="3261007"/>
            <a:ext cx="4723809" cy="2342857"/>
          </a:xfrm>
          <a:prstGeom prst="rect">
            <a:avLst/>
          </a:prstGeom>
        </p:spPr>
      </p:pic>
      <p:pic>
        <p:nvPicPr>
          <p:cNvPr id="13" name="圖片 12">
            <a:extLst>
              <a:ext uri="{FF2B5EF4-FFF2-40B4-BE49-F238E27FC236}">
                <a16:creationId xmlns:a16="http://schemas.microsoft.com/office/drawing/2014/main" id="{A26EA6C0-1BF5-4608-91C4-0BD2D9F4641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535316" y="1365769"/>
            <a:ext cx="3523809" cy="1895238"/>
          </a:xfrm>
          <a:prstGeom prst="rect">
            <a:avLst/>
          </a:prstGeom>
        </p:spPr>
      </p:pic>
    </p:spTree>
    <p:extLst>
      <p:ext uri="{BB962C8B-B14F-4D97-AF65-F5344CB8AC3E}">
        <p14:creationId xmlns:p14="http://schemas.microsoft.com/office/powerpoint/2010/main" val="30489154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838200" y="432552"/>
            <a:ext cx="9188988" cy="833020"/>
          </a:xfrm>
        </p:spPr>
        <p:txBody>
          <a:bodyPr>
            <a:normAutofit/>
          </a:bodyPr>
          <a:lstStyle/>
          <a:p>
            <a:r>
              <a:rPr lang="en-US" altLang="zh-TW" sz="3600" dirty="0">
                <a:latin typeface="Times New Roman" panose="02020603050405020304" pitchFamily="18" charset="0"/>
                <a:cs typeface="Times New Roman" panose="02020603050405020304" pitchFamily="18" charset="0"/>
              </a:rPr>
              <a:t>Construction of Meta Decision Trees</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9</a:t>
            </a:fld>
            <a:endParaRPr lang="zh-TW" altLang="en-US"/>
          </a:p>
        </p:txBody>
      </p:sp>
      <p:sp>
        <p:nvSpPr>
          <p:cNvPr id="11" name="內容版面配置區 10">
            <a:extLst>
              <a:ext uri="{FF2B5EF4-FFF2-40B4-BE49-F238E27FC236}">
                <a16:creationId xmlns:a16="http://schemas.microsoft.com/office/drawing/2014/main" id="{C2C833C2-C5C2-4AEB-B3FF-A7027832BC21}"/>
              </a:ext>
            </a:extLst>
          </p:cNvPr>
          <p:cNvSpPr>
            <a:spLocks noGrp="1"/>
          </p:cNvSpPr>
          <p:nvPr>
            <p:ph idx="1"/>
          </p:nvPr>
        </p:nvSpPr>
        <p:spPr>
          <a:xfrm>
            <a:off x="838199" y="1825624"/>
            <a:ext cx="11250051" cy="4599824"/>
          </a:xfrm>
        </p:spPr>
        <p:txBody>
          <a:bodyPr>
            <a:normAutofit/>
          </a:bodyPr>
          <a:lstStyle/>
          <a:p>
            <a:endParaRPr lang="en-US" altLang="zh-TW" sz="2700" dirty="0"/>
          </a:p>
        </p:txBody>
      </p:sp>
      <p:pic>
        <p:nvPicPr>
          <p:cNvPr id="5" name="圖片 4">
            <a:extLst>
              <a:ext uri="{FF2B5EF4-FFF2-40B4-BE49-F238E27FC236}">
                <a16:creationId xmlns:a16="http://schemas.microsoft.com/office/drawing/2014/main" id="{D4DBD832-904B-437A-A315-7D36E570F8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0774" y="1397035"/>
            <a:ext cx="6515411" cy="833020"/>
          </a:xfrm>
          <a:prstGeom prst="rect">
            <a:avLst/>
          </a:prstGeom>
        </p:spPr>
      </p:pic>
      <p:pic>
        <p:nvPicPr>
          <p:cNvPr id="8" name="圖片 7">
            <a:extLst>
              <a:ext uri="{FF2B5EF4-FFF2-40B4-BE49-F238E27FC236}">
                <a16:creationId xmlns:a16="http://schemas.microsoft.com/office/drawing/2014/main" id="{8DA79393-C237-4481-AE41-D54E58007D3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37864" y="1397035"/>
            <a:ext cx="6150386" cy="5117672"/>
          </a:xfrm>
          <a:prstGeom prst="rect">
            <a:avLst/>
          </a:prstGeom>
        </p:spPr>
      </p:pic>
    </p:spTree>
    <p:extLst>
      <p:ext uri="{BB962C8B-B14F-4D97-AF65-F5344CB8AC3E}">
        <p14:creationId xmlns:p14="http://schemas.microsoft.com/office/powerpoint/2010/main" val="22168304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838200" y="432552"/>
            <a:ext cx="9188988" cy="833020"/>
          </a:xfrm>
        </p:spPr>
        <p:txBody>
          <a:bodyPr>
            <a:normAutofit/>
          </a:bodyPr>
          <a:lstStyle/>
          <a:p>
            <a:r>
              <a:rPr lang="en-US" altLang="zh-TW" sz="3600" dirty="0">
                <a:latin typeface="Times New Roman" panose="02020603050405020304" pitchFamily="18" charset="0"/>
                <a:cs typeface="Times New Roman" panose="02020603050405020304" pitchFamily="18" charset="0"/>
              </a:rPr>
              <a:t>Bagging and Decision Threshold</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10</a:t>
            </a:fld>
            <a:endParaRPr lang="zh-TW" altLang="en-US"/>
          </a:p>
        </p:txBody>
      </p:sp>
      <p:sp>
        <p:nvSpPr>
          <p:cNvPr id="11" name="內容版面配置區 10">
            <a:extLst>
              <a:ext uri="{FF2B5EF4-FFF2-40B4-BE49-F238E27FC236}">
                <a16:creationId xmlns:a16="http://schemas.microsoft.com/office/drawing/2014/main" id="{C2C833C2-C5C2-4AEB-B3FF-A7027832BC21}"/>
              </a:ext>
            </a:extLst>
          </p:cNvPr>
          <p:cNvSpPr>
            <a:spLocks noGrp="1"/>
          </p:cNvSpPr>
          <p:nvPr>
            <p:ph idx="1"/>
          </p:nvPr>
        </p:nvSpPr>
        <p:spPr>
          <a:xfrm>
            <a:off x="838199" y="1376979"/>
            <a:ext cx="11070515" cy="5048469"/>
          </a:xfrm>
        </p:spPr>
        <p:txBody>
          <a:bodyPr>
            <a:normAutofit/>
          </a:bodyPr>
          <a:lstStyle/>
          <a:p>
            <a:pPr marL="457200" lvl="1" indent="0">
              <a:buNone/>
            </a:pPr>
            <a:endParaRPr lang="en-US" altLang="zh-TW" sz="2300" dirty="0"/>
          </a:p>
        </p:txBody>
      </p:sp>
      <p:pic>
        <p:nvPicPr>
          <p:cNvPr id="6" name="圖片 5">
            <a:extLst>
              <a:ext uri="{FF2B5EF4-FFF2-40B4-BE49-F238E27FC236}">
                <a16:creationId xmlns:a16="http://schemas.microsoft.com/office/drawing/2014/main" id="{F9441D80-19F2-44F5-A2F1-02CFED067B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63124" y="2908729"/>
            <a:ext cx="8201841" cy="1211449"/>
          </a:xfrm>
          <a:prstGeom prst="rect">
            <a:avLst/>
          </a:prstGeom>
        </p:spPr>
      </p:pic>
      <p:pic>
        <p:nvPicPr>
          <p:cNvPr id="9" name="圖片 8">
            <a:extLst>
              <a:ext uri="{FF2B5EF4-FFF2-40B4-BE49-F238E27FC236}">
                <a16:creationId xmlns:a16="http://schemas.microsoft.com/office/drawing/2014/main" id="{5F20C4A4-E4B7-41E9-B1E0-1FB39DD133C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0423" y="1601517"/>
            <a:ext cx="8464542" cy="832826"/>
          </a:xfrm>
          <a:prstGeom prst="rect">
            <a:avLst/>
          </a:prstGeom>
        </p:spPr>
      </p:pic>
    </p:spTree>
    <p:extLst>
      <p:ext uri="{BB962C8B-B14F-4D97-AF65-F5344CB8AC3E}">
        <p14:creationId xmlns:p14="http://schemas.microsoft.com/office/powerpoint/2010/main" val="17992033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838200" y="432552"/>
            <a:ext cx="9188988" cy="833020"/>
          </a:xfrm>
        </p:spPr>
        <p:txBody>
          <a:bodyPr>
            <a:normAutofit/>
          </a:bodyPr>
          <a:lstStyle/>
          <a:p>
            <a:r>
              <a:rPr lang="en-US" altLang="zh-TW" sz="3600" dirty="0">
                <a:latin typeface="Times New Roman" panose="02020603050405020304" pitchFamily="18" charset="0"/>
                <a:cs typeface="Times New Roman" panose="02020603050405020304" pitchFamily="18" charset="0"/>
              </a:rPr>
              <a:t>Results</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11</a:t>
            </a:fld>
            <a:endParaRPr lang="zh-TW" altLang="en-US"/>
          </a:p>
        </p:txBody>
      </p:sp>
      <p:sp>
        <p:nvSpPr>
          <p:cNvPr id="7" name="內容版面配置區 6">
            <a:extLst>
              <a:ext uri="{FF2B5EF4-FFF2-40B4-BE49-F238E27FC236}">
                <a16:creationId xmlns:a16="http://schemas.microsoft.com/office/drawing/2014/main" id="{D7ED077B-FE1B-459D-8FBF-4FE90EA8B410}"/>
              </a:ext>
            </a:extLst>
          </p:cNvPr>
          <p:cNvSpPr>
            <a:spLocks noGrp="1"/>
          </p:cNvSpPr>
          <p:nvPr>
            <p:ph idx="1"/>
          </p:nvPr>
        </p:nvSpPr>
        <p:spPr/>
        <p:txBody>
          <a:bodyPr/>
          <a:lstStyle/>
          <a:p>
            <a:pPr marL="0" indent="0">
              <a:buNone/>
            </a:pPr>
            <a:endParaRPr lang="zh-TW" altLang="en-US" dirty="0"/>
          </a:p>
        </p:txBody>
      </p:sp>
      <p:pic>
        <p:nvPicPr>
          <p:cNvPr id="9" name="圖片 8">
            <a:extLst>
              <a:ext uri="{FF2B5EF4-FFF2-40B4-BE49-F238E27FC236}">
                <a16:creationId xmlns:a16="http://schemas.microsoft.com/office/drawing/2014/main" id="{96E10A2A-7BC4-4A70-AB1D-55ED0B86C4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1852" y="1265572"/>
            <a:ext cx="8468099" cy="4595676"/>
          </a:xfrm>
          <a:prstGeom prst="rect">
            <a:avLst/>
          </a:prstGeom>
        </p:spPr>
      </p:pic>
    </p:spTree>
    <p:extLst>
      <p:ext uri="{BB962C8B-B14F-4D97-AF65-F5344CB8AC3E}">
        <p14:creationId xmlns:p14="http://schemas.microsoft.com/office/powerpoint/2010/main" val="41689090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838200" y="432552"/>
            <a:ext cx="9188988" cy="833020"/>
          </a:xfrm>
        </p:spPr>
        <p:txBody>
          <a:bodyPr>
            <a:normAutofit/>
          </a:bodyPr>
          <a:lstStyle/>
          <a:p>
            <a:r>
              <a:rPr lang="en-US" altLang="zh-TW" sz="3600" dirty="0">
                <a:latin typeface="Times New Roman" panose="02020603050405020304" pitchFamily="18" charset="0"/>
                <a:cs typeface="Times New Roman" panose="02020603050405020304" pitchFamily="18" charset="0"/>
              </a:rPr>
              <a:t>Results</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12</a:t>
            </a:fld>
            <a:endParaRPr lang="zh-TW" altLang="en-US"/>
          </a:p>
        </p:txBody>
      </p:sp>
      <p:sp>
        <p:nvSpPr>
          <p:cNvPr id="11" name="內容版面配置區 10">
            <a:extLst>
              <a:ext uri="{FF2B5EF4-FFF2-40B4-BE49-F238E27FC236}">
                <a16:creationId xmlns:a16="http://schemas.microsoft.com/office/drawing/2014/main" id="{C2C833C2-C5C2-4AEB-B3FF-A7027832BC21}"/>
              </a:ext>
            </a:extLst>
          </p:cNvPr>
          <p:cNvSpPr>
            <a:spLocks noGrp="1"/>
          </p:cNvSpPr>
          <p:nvPr>
            <p:ph idx="1"/>
          </p:nvPr>
        </p:nvSpPr>
        <p:spPr>
          <a:xfrm>
            <a:off x="838200" y="1825625"/>
            <a:ext cx="10515600" cy="4895850"/>
          </a:xfrm>
        </p:spPr>
        <p:txBody>
          <a:bodyPr>
            <a:normAutofit/>
          </a:bodyPr>
          <a:lstStyle/>
          <a:p>
            <a:pPr marL="0" indent="0">
              <a:buNone/>
            </a:pPr>
            <a:endParaRPr lang="en-US" altLang="zh-TW" sz="2700" dirty="0"/>
          </a:p>
        </p:txBody>
      </p:sp>
      <p:pic>
        <p:nvPicPr>
          <p:cNvPr id="5" name="圖片 4">
            <a:extLst>
              <a:ext uri="{FF2B5EF4-FFF2-40B4-BE49-F238E27FC236}">
                <a16:creationId xmlns:a16="http://schemas.microsoft.com/office/drawing/2014/main" id="{2162E7B6-69E2-4E7A-B6FF-0D16113AD6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09326" y="1265572"/>
            <a:ext cx="7246735" cy="2081374"/>
          </a:xfrm>
          <a:prstGeom prst="rect">
            <a:avLst/>
          </a:prstGeom>
        </p:spPr>
      </p:pic>
      <p:pic>
        <p:nvPicPr>
          <p:cNvPr id="7" name="圖片 6">
            <a:extLst>
              <a:ext uri="{FF2B5EF4-FFF2-40B4-BE49-F238E27FC236}">
                <a16:creationId xmlns:a16="http://schemas.microsoft.com/office/drawing/2014/main" id="{2C203AEF-DF39-4EBC-9C40-7CC1DDB2F18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09325" y="3009153"/>
            <a:ext cx="7246735" cy="3684990"/>
          </a:xfrm>
          <a:prstGeom prst="rect">
            <a:avLst/>
          </a:prstGeom>
        </p:spPr>
      </p:pic>
    </p:spTree>
    <p:extLst>
      <p:ext uri="{BB962C8B-B14F-4D97-AF65-F5344CB8AC3E}">
        <p14:creationId xmlns:p14="http://schemas.microsoft.com/office/powerpoint/2010/main" val="33674613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838200" y="432552"/>
            <a:ext cx="9188988" cy="833020"/>
          </a:xfrm>
        </p:spPr>
        <p:txBody>
          <a:bodyPr>
            <a:normAutofit/>
          </a:bodyPr>
          <a:lstStyle/>
          <a:p>
            <a:r>
              <a:rPr lang="en-US" altLang="zh-TW" sz="3600" dirty="0">
                <a:latin typeface="Times New Roman" panose="02020603050405020304" pitchFamily="18" charset="0"/>
                <a:cs typeface="Times New Roman" panose="02020603050405020304" pitchFamily="18" charset="0"/>
              </a:rPr>
              <a:t>Results</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13</a:t>
            </a:fld>
            <a:endParaRPr lang="zh-TW" altLang="en-US"/>
          </a:p>
        </p:txBody>
      </p:sp>
      <p:pic>
        <p:nvPicPr>
          <p:cNvPr id="6" name="內容版面配置區 5">
            <a:extLst>
              <a:ext uri="{FF2B5EF4-FFF2-40B4-BE49-F238E27FC236}">
                <a16:creationId xmlns:a16="http://schemas.microsoft.com/office/drawing/2014/main" id="{F161CBA9-0202-41D4-A135-2037FBBE6C3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181470" y="1828800"/>
            <a:ext cx="7720034" cy="3840357"/>
          </a:xfrm>
        </p:spPr>
      </p:pic>
    </p:spTree>
    <p:extLst>
      <p:ext uri="{BB962C8B-B14F-4D97-AF65-F5344CB8AC3E}">
        <p14:creationId xmlns:p14="http://schemas.microsoft.com/office/powerpoint/2010/main" val="1907184462"/>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1498</TotalTime>
  <Words>341</Words>
  <Application>Microsoft Office PowerPoint</Application>
  <PresentationFormat>寬螢幕</PresentationFormat>
  <Paragraphs>48</Paragraphs>
  <Slides>13</Slides>
  <Notes>12</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13</vt:i4>
      </vt:variant>
    </vt:vector>
  </HeadingPairs>
  <TitlesOfParts>
    <vt:vector size="18" baseType="lpstr">
      <vt:lpstr>Arial</vt:lpstr>
      <vt:lpstr>Calibri</vt:lpstr>
      <vt:lpstr>Calibri Light</vt:lpstr>
      <vt:lpstr>Times New Roman</vt:lpstr>
      <vt:lpstr>Office 佈景主題</vt:lpstr>
      <vt:lpstr>A Meta Decision Tree Approach for B-cell Epitope Mining</vt:lpstr>
      <vt:lpstr>Abstract (1/2)</vt:lpstr>
      <vt:lpstr>Abstract (2/2)</vt:lpstr>
      <vt:lpstr>Meta Decision Tree</vt:lpstr>
      <vt:lpstr>Base and Meta Attributes</vt:lpstr>
      <vt:lpstr>Base and Meta Attributes</vt:lpstr>
      <vt:lpstr>Base and Meta Attributes</vt:lpstr>
      <vt:lpstr>Base and Meta Attributes</vt:lpstr>
      <vt:lpstr>Construction of Meta Decision Trees</vt:lpstr>
      <vt:lpstr>Bagging and Decision Threshold</vt:lpstr>
      <vt:lpstr>Results</vt:lpstr>
      <vt:lpstr>Results</vt:lpstr>
      <vt:lpstr>Results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Fast and Accurate Template Averaging for Time Series Classification</dc:title>
  <dc:creator>lu</dc:creator>
  <cp:lastModifiedBy>lu</cp:lastModifiedBy>
  <cp:revision>596</cp:revision>
  <dcterms:created xsi:type="dcterms:W3CDTF">2018-10-30T09:09:31Z</dcterms:created>
  <dcterms:modified xsi:type="dcterms:W3CDTF">2019-04-16T10:23:51Z</dcterms:modified>
</cp:coreProperties>
</file>