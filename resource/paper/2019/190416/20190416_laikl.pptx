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73" r:id="rId3"/>
    <p:sldId id="290" r:id="rId4"/>
    <p:sldId id="304" r:id="rId5"/>
    <p:sldId id="305" r:id="rId6"/>
    <p:sldId id="309" r:id="rId7"/>
    <p:sldId id="306" r:id="rId8"/>
    <p:sldId id="308" r:id="rId9"/>
    <p:sldId id="318" r:id="rId10"/>
    <p:sldId id="310" r:id="rId11"/>
    <p:sldId id="311" r:id="rId12"/>
    <p:sldId id="307" r:id="rId13"/>
    <p:sldId id="312" r:id="rId14"/>
    <p:sldId id="31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2019/4/14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9.png"/><Relationship Id="rId21" Type="http://schemas.openxmlformats.org/officeDocument/2006/relationships/image" Target="../media/image3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5" Type="http://schemas.openxmlformats.org/officeDocument/2006/relationships/image" Target="../media/image41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24" Type="http://schemas.openxmlformats.org/officeDocument/2006/relationships/image" Target="../media/image40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23" Type="http://schemas.openxmlformats.org/officeDocument/2006/relationships/image" Target="../media/image39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Relationship Id="rId22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22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12" Type="http://schemas.openxmlformats.org/officeDocument/2006/relationships/image" Target="../media/image210.png"/><Relationship Id="rId17" Type="http://schemas.openxmlformats.org/officeDocument/2006/relationships/image" Target="../media/image260.png"/><Relationship Id="rId2" Type="http://schemas.openxmlformats.org/officeDocument/2006/relationships/image" Target="../media/image110.png"/><Relationship Id="rId16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00.png"/><Relationship Id="rId5" Type="http://schemas.openxmlformats.org/officeDocument/2006/relationships/image" Target="../media/image140.png"/><Relationship Id="rId15" Type="http://schemas.openxmlformats.org/officeDocument/2006/relationships/image" Target="../media/image240.png"/><Relationship Id="rId10" Type="http://schemas.openxmlformats.org/officeDocument/2006/relationships/image" Target="../media/image190.png"/><Relationship Id="rId4" Type="http://schemas.openxmlformats.org/officeDocument/2006/relationships/image" Target="../media/image130.png"/><Relationship Id="rId9" Type="http://schemas.openxmlformats.org/officeDocument/2006/relationships/image" Target="../media/image180.png"/><Relationship Id="rId14" Type="http://schemas.openxmlformats.org/officeDocument/2006/relationships/image" Target="../media/image2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12" Type="http://schemas.openxmlformats.org/officeDocument/2006/relationships/image" Target="../media/image220.png"/><Relationship Id="rId17" Type="http://schemas.openxmlformats.org/officeDocument/2006/relationships/image" Target="../media/image290.png"/><Relationship Id="rId2" Type="http://schemas.openxmlformats.org/officeDocument/2006/relationships/image" Target="../media/image110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11" Type="http://schemas.openxmlformats.org/officeDocument/2006/relationships/image" Target="../media/image210.png"/><Relationship Id="rId5" Type="http://schemas.openxmlformats.org/officeDocument/2006/relationships/image" Target="../media/image140.png"/><Relationship Id="rId15" Type="http://schemas.openxmlformats.org/officeDocument/2006/relationships/image" Target="../media/image240.png"/><Relationship Id="rId10" Type="http://schemas.openxmlformats.org/officeDocument/2006/relationships/image" Target="../media/image200.png"/><Relationship Id="rId4" Type="http://schemas.openxmlformats.org/officeDocument/2006/relationships/image" Target="../media/image130.png"/><Relationship Id="rId9" Type="http://schemas.openxmlformats.org/officeDocument/2006/relationships/image" Target="../media/image190.png"/><Relationship Id="rId14" Type="http://schemas.openxmlformats.org/officeDocument/2006/relationships/image" Target="../media/image2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880" y="1139472"/>
            <a:ext cx="11148240" cy="1437553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Two-string consensus problem under non-overlapping inversion and transposition distance</a:t>
            </a:r>
            <a:endParaRPr lang="zh-TW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332" y="3148839"/>
            <a:ext cx="10207336" cy="3266355"/>
          </a:xfrm>
        </p:spPr>
        <p:txBody>
          <a:bodyPr>
            <a:norm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Thang Ta, Cheng-Yao Lin, Chin Lung Lu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盧錦隆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130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(2018)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pp. 46-51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Apr. 09,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D643E-E99E-4F12-92FE-709248FF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915B7-780A-4747-AA36-2299BB46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746996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biological sequences that can be represented as strings over a finite alphabet, inversion and transposition are commonly observed mutation operations. The non-overlapping inversion and transposition distance (also simply called mutation distance) between two strings is defined as the minimum number of non-overlapping inversion and transposition operations used to transform one string into the other. Given two strings of the same length n and a constant c ≥ 0, the two-string consensus problem under mutation distance is to determine whether or not there exists a string 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the mutation distance from s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input string does not exceed c. In this study, we present an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and O(n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 algorithm to solve this problem.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9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899552-D171-41FD-90EB-C05AA95F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85" y="365125"/>
            <a:ext cx="11409028" cy="132556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string consensus problem under mutation distance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ACE9963-43F0-4BCA-85E9-167906163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Ex:</a:t>
                </a:r>
                <a:r>
                  <a:rPr lang="en-US" altLang="zh-TW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x = TAGAC     y = TAACG   c=1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TAGAC or TAACG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ACE9963-43F0-4BCA-85E9-167906163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4A6E105E-E804-4F58-B5F2-29BF1E63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289" y="2007443"/>
            <a:ext cx="7333422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5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57068C-7ABF-4844-82F9-46572928B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Mutation 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4852B7-A3CC-46F6-84F0-038014C1A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5" y="1803633"/>
            <a:ext cx="2175587" cy="4432464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TAGAC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inversion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table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tranpostion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table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4AEB55-264A-4F4D-BEFC-8783AC3A0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490" y="1635125"/>
            <a:ext cx="8543925" cy="4857750"/>
          </a:xfrm>
          <a:prstGeom prst="rect">
            <a:avLst/>
          </a:prstGeom>
        </p:spPr>
      </p:pic>
      <p:sp>
        <p:nvSpPr>
          <p:cNvPr id="5" name="箭號: 向右 4">
            <a:extLst>
              <a:ext uri="{FF2B5EF4-FFF2-40B4-BE49-F238E27FC236}">
                <a16:creationId xmlns:a16="http://schemas.microsoft.com/office/drawing/2014/main" id="{94882270-034C-4D9D-A64B-35DF4E088026}"/>
              </a:ext>
            </a:extLst>
          </p:cNvPr>
          <p:cNvSpPr/>
          <p:nvPr/>
        </p:nvSpPr>
        <p:spPr>
          <a:xfrm>
            <a:off x="2407640" y="3129196"/>
            <a:ext cx="318782" cy="20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1402675F-7571-46F0-B0DA-CA4CDC82924E}"/>
              </a:ext>
            </a:extLst>
          </p:cNvPr>
          <p:cNvSpPr/>
          <p:nvPr/>
        </p:nvSpPr>
        <p:spPr>
          <a:xfrm>
            <a:off x="2407640" y="5143952"/>
            <a:ext cx="318782" cy="2012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827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1A4D80-87D0-4230-B4CF-611B40EFE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Matched pair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C9214D-2FAF-460A-89D7-5DE79A8D0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6796" y="1825625"/>
                <a:ext cx="9827004" cy="4351338"/>
              </a:xfrm>
            </p:spPr>
            <p:txBody>
              <a:bodyPr/>
              <a:lstStyle/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                                         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Ex:       x = TAGAC           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　　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y = TAACG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c=1   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TAGAC or TAACG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CC9214D-2FAF-460A-89D7-5DE79A8D0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6796" y="1825625"/>
                <a:ext cx="9827004" cy="4351338"/>
              </a:xfrm>
              <a:blipFill>
                <a:blip r:embed="rId2"/>
                <a:stretch>
                  <a:fillRect l="-11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36665177-F411-4273-B434-ED82F8A34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1825625"/>
            <a:ext cx="754380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3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5433C-A968-44FF-BD4F-29BF0B03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Status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458B472-EB9C-464B-866D-C68D217D5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B431E9-2C08-4D8C-800F-A9F79E7CE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2" y="2400300"/>
            <a:ext cx="5334000" cy="20574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D252574-2B62-49D5-B33E-1CB0D4805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87" y="2400300"/>
            <a:ext cx="49053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8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02E1E-4B24-44B3-AEF9-956099EB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D89983-7586-4F05-A803-553CB625EC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construct a bipartite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</m:oMath>
                </a14:m>
                <a:r>
                  <a:rPr lang="en-US" altLang="zh-TW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b="0" i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create an edge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DD89983-7586-4F05-A803-553CB625EC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B378C0B-B2F7-4C6C-B9A3-3EBADFE05E79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4267582" y="4577814"/>
            <a:ext cx="2424257" cy="14607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40748A1-C600-4E13-AADD-03C1E6D71BB5}"/>
                  </a:ext>
                </a:extLst>
              </p:cNvPr>
              <p:cNvSpPr txBox="1"/>
              <p:nvPr/>
            </p:nvSpPr>
            <p:spPr>
              <a:xfrm>
                <a:off x="1755039" y="4735086"/>
                <a:ext cx="828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40748A1-C600-4E13-AADD-03C1E6D71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039" y="4735086"/>
                <a:ext cx="82806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A9A1A-900F-4A76-B675-ED24711005A8}"/>
                  </a:ext>
                </a:extLst>
              </p:cNvPr>
              <p:cNvSpPr txBox="1"/>
              <p:nvPr/>
            </p:nvSpPr>
            <p:spPr>
              <a:xfrm>
                <a:off x="2909038" y="4106020"/>
                <a:ext cx="578840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A9A1A-900F-4A76-B675-ED2471100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038" y="4106020"/>
                <a:ext cx="578840" cy="4735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7E500C-FC10-4F8B-93AF-13CD85B43293}"/>
                  </a:ext>
                </a:extLst>
              </p:cNvPr>
              <p:cNvSpPr txBox="1"/>
              <p:nvPr/>
            </p:nvSpPr>
            <p:spPr>
              <a:xfrm>
                <a:off x="3983283" y="4106229"/>
                <a:ext cx="578840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7E500C-FC10-4F8B-93AF-13CD85B43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83" y="4106229"/>
                <a:ext cx="578840" cy="4735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62C2709-486E-4900-B1D5-1C66A85FD911}"/>
                  </a:ext>
                </a:extLst>
              </p:cNvPr>
              <p:cNvSpPr txBox="1"/>
              <p:nvPr/>
            </p:nvSpPr>
            <p:spPr>
              <a:xfrm>
                <a:off x="5200997" y="4106020"/>
                <a:ext cx="578840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62C2709-486E-4900-B1D5-1C66A85FD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0997" y="4106020"/>
                <a:ext cx="578840" cy="4735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487B0C2-0143-440C-8AAC-CFB06A5F8A87}"/>
                  </a:ext>
                </a:extLst>
              </p:cNvPr>
              <p:cNvSpPr txBox="1"/>
              <p:nvPr/>
            </p:nvSpPr>
            <p:spPr>
              <a:xfrm>
                <a:off x="6402419" y="4104223"/>
                <a:ext cx="578840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487B0C2-0143-440C-8AAC-CFB06A5F8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419" y="4104223"/>
                <a:ext cx="578840" cy="473591"/>
              </a:xfrm>
              <a:prstGeom prst="rect">
                <a:avLst/>
              </a:prstGeom>
              <a:blipFill>
                <a:blip r:embed="rId7"/>
                <a:stretch>
                  <a:fillRect l="-4211" b="-12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7661555-9645-4CF1-93ED-06A1295A8C44}"/>
                  </a:ext>
                </a:extLst>
              </p:cNvPr>
              <p:cNvSpPr txBox="1"/>
              <p:nvPr/>
            </p:nvSpPr>
            <p:spPr>
              <a:xfrm>
                <a:off x="2947530" y="6037071"/>
                <a:ext cx="578840" cy="51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7661555-9645-4CF1-93ED-06A1295A8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530" y="6037071"/>
                <a:ext cx="578840" cy="5112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02F3A46-C47B-4B0B-9FB5-CDEA9D87AD25}"/>
                  </a:ext>
                </a:extLst>
              </p:cNvPr>
              <p:cNvSpPr txBox="1"/>
              <p:nvPr/>
            </p:nvSpPr>
            <p:spPr>
              <a:xfrm>
                <a:off x="3978162" y="6038572"/>
                <a:ext cx="578840" cy="51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02F3A46-C47B-4B0B-9FB5-CDEA9D87A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162" y="6038572"/>
                <a:ext cx="578840" cy="5112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30D1316-7EF5-4A8A-8F8A-9656C3C2CC3E}"/>
                  </a:ext>
                </a:extLst>
              </p:cNvPr>
              <p:cNvSpPr txBox="1"/>
              <p:nvPr/>
            </p:nvSpPr>
            <p:spPr>
              <a:xfrm>
                <a:off x="5186211" y="6005699"/>
                <a:ext cx="578840" cy="51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30D1316-7EF5-4A8A-8F8A-9656C3C2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211" y="6005699"/>
                <a:ext cx="578840" cy="5112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C30DD1-91EA-423E-8498-57210D1A155A}"/>
                  </a:ext>
                </a:extLst>
              </p:cNvPr>
              <p:cNvSpPr txBox="1"/>
              <p:nvPr/>
            </p:nvSpPr>
            <p:spPr>
              <a:xfrm>
                <a:off x="6394260" y="6037071"/>
                <a:ext cx="578840" cy="511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C30DD1-91EA-423E-8498-57210D1A1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260" y="6037071"/>
                <a:ext cx="578840" cy="511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3E3E6DD0-270B-4CDB-AAD3-E4BD47902E08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3198458" y="4579611"/>
            <a:ext cx="2277173" cy="1426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EA4F90FB-270A-44AE-A67F-CFE62EECA271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236950" y="4579820"/>
            <a:ext cx="1035753" cy="1457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43F0AADC-CA8D-424E-922C-448200099441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3198458" y="4579611"/>
            <a:ext cx="1069124" cy="1458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C42397F-04F2-4444-A6AD-77CDAD3970C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236950" y="4577814"/>
            <a:ext cx="3454889" cy="145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77989E4-EF53-475B-8F7B-A513CED18D90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6683680" y="4577814"/>
            <a:ext cx="8159" cy="1459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CED9542-B250-490C-8A3C-270142668C32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5475631" y="4579611"/>
            <a:ext cx="14786" cy="1426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BF0CD03-8D07-4D90-BCB1-D492D05ED3F7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4267582" y="4579820"/>
            <a:ext cx="5121" cy="1458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4766C833-F956-488C-BBCB-992105FD6C83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198458" y="4579611"/>
            <a:ext cx="38492" cy="1457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25EB9114-2120-4A65-B019-071F08810E08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>
            <a:off x="4272703" y="4579820"/>
            <a:ext cx="1202928" cy="14258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5EB67A4-617C-41B2-B798-1FE06D698421}"/>
              </a:ext>
            </a:extLst>
          </p:cNvPr>
          <p:cNvCxnSpPr>
            <a:cxnSpLocks/>
            <a:stCxn id="10" idx="2"/>
            <a:endCxn id="15" idx="0"/>
          </p:cNvCxnSpPr>
          <p:nvPr/>
        </p:nvCxnSpPr>
        <p:spPr>
          <a:xfrm>
            <a:off x="5490417" y="4579611"/>
            <a:ext cx="1193263" cy="1457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D5C3C51-7C49-421A-A882-A24BECA49608}"/>
              </a:ext>
            </a:extLst>
          </p:cNvPr>
          <p:cNvCxnSpPr>
            <a:cxnSpLocks/>
            <a:stCxn id="15" idx="0"/>
            <a:endCxn id="8" idx="2"/>
          </p:cNvCxnSpPr>
          <p:nvPr/>
        </p:nvCxnSpPr>
        <p:spPr>
          <a:xfrm flipH="1" flipV="1">
            <a:off x="3198458" y="4579611"/>
            <a:ext cx="3485222" cy="1457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8D3406D-4FB4-49EC-8CA6-CA06A7776B18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flipH="1">
            <a:off x="4267582" y="4579611"/>
            <a:ext cx="1222835" cy="1458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3A740C69-1433-4CA2-BCA8-4040ABD7D70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5475631" y="4577814"/>
            <a:ext cx="1216208" cy="14278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5E012D6E-ECC8-4F57-8DAA-36C94A6D8AD7}"/>
              </a:ext>
            </a:extLst>
          </p:cNvPr>
          <p:cNvCxnSpPr>
            <a:cxnSpLocks/>
            <a:stCxn id="15" idx="0"/>
            <a:endCxn id="9" idx="2"/>
          </p:cNvCxnSpPr>
          <p:nvPr/>
        </p:nvCxnSpPr>
        <p:spPr>
          <a:xfrm flipH="1" flipV="1">
            <a:off x="4272703" y="4579820"/>
            <a:ext cx="2410977" cy="1457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5CCDD51D-0082-49A3-AF16-676FB4A31A1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3236950" y="4579611"/>
            <a:ext cx="2253467" cy="1457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75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D1E12-7BE2-43EB-B11E-1C7632447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1380C-0912-447F-BD3B-0CDC50EE74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classified into one of 16 types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II, IH, IT, IQ, HI, HH, HT, HQ</a:t>
                </a:r>
                <a:b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TI, TH, TT, TQ, QI, QH, QT, QQ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</a:t>
                </a:r>
                <a:r>
                  <a:rPr lang="en-US" altLang="zh-TW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by Case !!</a:t>
                </a:r>
                <a:endParaRPr lang="zh-TW" alt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E21380C-0912-447F-BD3B-0CDC50EE74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981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702E1E-4B24-44B3-AEF9-956099EB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D89983-7586-4F05-A803-553CB625E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x=AGC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y=GCT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40748A1-C600-4E13-AADD-03C1E6D71BB5}"/>
                  </a:ext>
                </a:extLst>
              </p:cNvPr>
              <p:cNvSpPr txBox="1"/>
              <p:nvPr/>
            </p:nvSpPr>
            <p:spPr>
              <a:xfrm>
                <a:off x="4698904" y="1104859"/>
                <a:ext cx="828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40748A1-C600-4E13-AADD-03C1E6D71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904" y="1104859"/>
                <a:ext cx="82806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A9A1A-900F-4A76-B675-ED24711005A8}"/>
                  </a:ext>
                </a:extLst>
              </p:cNvPr>
              <p:cNvSpPr txBox="1"/>
              <p:nvPr/>
            </p:nvSpPr>
            <p:spPr>
              <a:xfrm>
                <a:off x="6291960" y="534629"/>
                <a:ext cx="578840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FA9A1A-900F-4A76-B675-ED2471100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60" y="534629"/>
                <a:ext cx="578840" cy="493277"/>
              </a:xfrm>
              <a:prstGeom prst="rect">
                <a:avLst/>
              </a:prstGeom>
              <a:blipFill>
                <a:blip r:embed="rId3"/>
                <a:stretch>
                  <a:fillRect r="-22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7E500C-FC10-4F8B-93AF-13CD85B43293}"/>
                  </a:ext>
                </a:extLst>
              </p:cNvPr>
              <p:cNvSpPr txBox="1"/>
              <p:nvPr/>
            </p:nvSpPr>
            <p:spPr>
              <a:xfrm>
                <a:off x="8473584" y="536158"/>
                <a:ext cx="578840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7E500C-FC10-4F8B-93AF-13CD85B43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584" y="536158"/>
                <a:ext cx="578840" cy="493277"/>
              </a:xfrm>
              <a:prstGeom prst="rect">
                <a:avLst/>
              </a:prstGeom>
              <a:blipFill>
                <a:blip r:embed="rId4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62C2709-486E-4900-B1D5-1C66A85FD911}"/>
                  </a:ext>
                </a:extLst>
              </p:cNvPr>
              <p:cNvSpPr txBox="1"/>
              <p:nvPr/>
            </p:nvSpPr>
            <p:spPr>
              <a:xfrm>
                <a:off x="7347517" y="532240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62C2709-486E-4900-B1D5-1C66A85FD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517" y="532240"/>
                <a:ext cx="688533" cy="493277"/>
              </a:xfrm>
              <a:prstGeom prst="rect">
                <a:avLst/>
              </a:prstGeom>
              <a:blipFill>
                <a:blip r:embed="rId5"/>
                <a:stretch>
                  <a:fillRect r="-53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02F3A46-C47B-4B0B-9FB5-CDEA9D87AD25}"/>
                  </a:ext>
                </a:extLst>
              </p:cNvPr>
              <p:cNvSpPr txBox="1"/>
              <p:nvPr/>
            </p:nvSpPr>
            <p:spPr>
              <a:xfrm>
                <a:off x="8461977" y="1556461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02F3A46-C47B-4B0B-9FB5-CDEA9D87A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1977" y="1556461"/>
                <a:ext cx="578840" cy="530979"/>
              </a:xfrm>
              <a:prstGeom prst="rect">
                <a:avLst/>
              </a:prstGeom>
              <a:blipFill>
                <a:blip r:embed="rId6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30D1316-7EF5-4A8A-8F8A-9656C3C2CC3E}"/>
                  </a:ext>
                </a:extLst>
              </p:cNvPr>
              <p:cNvSpPr txBox="1"/>
              <p:nvPr/>
            </p:nvSpPr>
            <p:spPr>
              <a:xfrm>
                <a:off x="7405209" y="1556461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30D1316-7EF5-4A8A-8F8A-9656C3C2C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209" y="1556461"/>
                <a:ext cx="578840" cy="530979"/>
              </a:xfrm>
              <a:prstGeom prst="rect">
                <a:avLst/>
              </a:prstGeom>
              <a:blipFill>
                <a:blip r:embed="rId7"/>
                <a:stretch>
                  <a:fillRect r="-22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C30DD1-91EA-423E-8498-57210D1A155A}"/>
                  </a:ext>
                </a:extLst>
              </p:cNvPr>
              <p:cNvSpPr txBox="1"/>
              <p:nvPr/>
            </p:nvSpPr>
            <p:spPr>
              <a:xfrm>
                <a:off x="6291960" y="1560135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38C30DD1-91EA-423E-8498-57210D1A1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60" y="1560135"/>
                <a:ext cx="578840" cy="530979"/>
              </a:xfrm>
              <a:prstGeom prst="rect">
                <a:avLst/>
              </a:prstGeom>
              <a:blipFill>
                <a:blip r:embed="rId8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ACED9542-B250-490C-8A3C-270142668C32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7691784" y="1025517"/>
            <a:ext cx="2845" cy="530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BF0CD03-8D07-4D90-BCB1-D492D05ED3F7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7691784" y="1025517"/>
            <a:ext cx="1059613" cy="530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AD5C3C51-7C49-421A-A882-A24BECA49608}"/>
              </a:ext>
            </a:extLst>
          </p:cNvPr>
          <p:cNvCxnSpPr>
            <a:cxnSpLocks/>
            <a:stCxn id="15" idx="0"/>
            <a:endCxn id="8" idx="2"/>
          </p:cNvCxnSpPr>
          <p:nvPr/>
        </p:nvCxnSpPr>
        <p:spPr>
          <a:xfrm flipV="1">
            <a:off x="6581380" y="1027906"/>
            <a:ext cx="0" cy="5322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8D3406D-4FB4-49EC-8CA6-CA06A7776B18}"/>
              </a:ext>
            </a:extLst>
          </p:cNvPr>
          <p:cNvCxnSpPr>
            <a:cxnSpLocks/>
            <a:stCxn id="88" idx="2"/>
            <a:endCxn id="78" idx="0"/>
          </p:cNvCxnSpPr>
          <p:nvPr/>
        </p:nvCxnSpPr>
        <p:spPr>
          <a:xfrm flipH="1">
            <a:off x="9886226" y="1025516"/>
            <a:ext cx="783918" cy="530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79D855C2-12F9-4D03-849B-CB8559470F9D}"/>
              </a:ext>
            </a:extLst>
          </p:cNvPr>
          <p:cNvCxnSpPr>
            <a:cxnSpLocks/>
            <a:stCxn id="89" idx="2"/>
            <a:endCxn id="14" idx="0"/>
          </p:cNvCxnSpPr>
          <p:nvPr/>
        </p:nvCxnSpPr>
        <p:spPr>
          <a:xfrm flipH="1">
            <a:off x="7694629" y="1025516"/>
            <a:ext cx="2003089" cy="5309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592F9C36-2ADA-4E91-98BD-6886F03C6AA2}"/>
                  </a:ext>
                </a:extLst>
              </p:cNvPr>
              <p:cNvSpPr txBox="1"/>
              <p:nvPr/>
            </p:nvSpPr>
            <p:spPr>
              <a:xfrm>
                <a:off x="4695016" y="2834041"/>
                <a:ext cx="828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592F9C36-2ADA-4E91-98BD-6886F03C6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016" y="2834041"/>
                <a:ext cx="82806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808099A-AE58-4903-8E25-786BAEB3B269}"/>
                  </a:ext>
                </a:extLst>
              </p:cNvPr>
              <p:cNvSpPr txBox="1"/>
              <p:nvPr/>
            </p:nvSpPr>
            <p:spPr>
              <a:xfrm>
                <a:off x="4698903" y="4837474"/>
                <a:ext cx="8280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808099A-AE58-4903-8E25-786BAEB3B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903" y="4837474"/>
                <a:ext cx="82806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95FEE2-4943-4389-B4E5-F158A2747216}"/>
                  </a:ext>
                </a:extLst>
              </p:cNvPr>
              <p:cNvSpPr txBox="1"/>
              <p:nvPr/>
            </p:nvSpPr>
            <p:spPr>
              <a:xfrm>
                <a:off x="9596806" y="1556461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B695FEE2-4943-4389-B4E5-F158A274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6806" y="1556461"/>
                <a:ext cx="578840" cy="530979"/>
              </a:xfrm>
              <a:prstGeom prst="rect">
                <a:avLst/>
              </a:prstGeom>
              <a:blipFill>
                <a:blip r:embed="rId11"/>
                <a:stretch>
                  <a:fillRect r="-2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3F2C7331-C787-4C17-A54F-B5F3648D2ACC}"/>
                  </a:ext>
                </a:extLst>
              </p:cNvPr>
              <p:cNvSpPr txBox="1"/>
              <p:nvPr/>
            </p:nvSpPr>
            <p:spPr>
              <a:xfrm>
                <a:off x="10325877" y="532239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8" name="文字方塊 87">
                <a:extLst>
                  <a:ext uri="{FF2B5EF4-FFF2-40B4-BE49-F238E27FC236}">
                    <a16:creationId xmlns:a16="http://schemas.microsoft.com/office/drawing/2014/main" id="{3F2C7331-C787-4C17-A54F-B5F3648D2A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5877" y="532239"/>
                <a:ext cx="688533" cy="493277"/>
              </a:xfrm>
              <a:prstGeom prst="rect">
                <a:avLst/>
              </a:prstGeom>
              <a:blipFill>
                <a:blip r:embed="rId12"/>
                <a:stretch>
                  <a:fillRect r="-44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03F86E4-9622-400B-8514-29A9BA2CC81C}"/>
                  </a:ext>
                </a:extLst>
              </p:cNvPr>
              <p:cNvSpPr txBox="1"/>
              <p:nvPr/>
            </p:nvSpPr>
            <p:spPr>
              <a:xfrm>
                <a:off x="9353451" y="532239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003F86E4-9622-400B-8514-29A9BA2CC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451" y="532239"/>
                <a:ext cx="688533" cy="4932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直線接點 122">
            <a:extLst>
              <a:ext uri="{FF2B5EF4-FFF2-40B4-BE49-F238E27FC236}">
                <a16:creationId xmlns:a16="http://schemas.microsoft.com/office/drawing/2014/main" id="{34967CE8-7D4E-4A75-8E52-4126070D623E}"/>
              </a:ext>
            </a:extLst>
          </p:cNvPr>
          <p:cNvCxnSpPr>
            <a:cxnSpLocks/>
            <a:stCxn id="9" idx="2"/>
            <a:endCxn id="78" idx="0"/>
          </p:cNvCxnSpPr>
          <p:nvPr/>
        </p:nvCxnSpPr>
        <p:spPr>
          <a:xfrm>
            <a:off x="8763004" y="1029435"/>
            <a:ext cx="1123222" cy="5270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5E86B857-0A52-4A64-AB3C-64165BF4DE67}"/>
                  </a:ext>
                </a:extLst>
              </p:cNvPr>
              <p:cNvSpPr txBox="1"/>
              <p:nvPr/>
            </p:nvSpPr>
            <p:spPr>
              <a:xfrm>
                <a:off x="6266072" y="3337570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5E86B857-0A52-4A64-AB3C-64165BF4D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072" y="3337570"/>
                <a:ext cx="578840" cy="530979"/>
              </a:xfrm>
              <a:prstGeom prst="rect">
                <a:avLst/>
              </a:prstGeom>
              <a:blipFill>
                <a:blip r:embed="rId14"/>
                <a:stretch>
                  <a:fillRect r="-6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8594C081-2589-41FD-A0C1-C52C2E9222AA}"/>
                  </a:ext>
                </a:extLst>
              </p:cNvPr>
              <p:cNvSpPr txBox="1"/>
              <p:nvPr/>
            </p:nvSpPr>
            <p:spPr>
              <a:xfrm>
                <a:off x="6266072" y="2311921"/>
                <a:ext cx="578840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8594C081-2589-41FD-A0C1-C52C2E922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072" y="2311921"/>
                <a:ext cx="578840" cy="493277"/>
              </a:xfrm>
              <a:prstGeom prst="rect">
                <a:avLst/>
              </a:prstGeom>
              <a:blipFill>
                <a:blip r:embed="rId15"/>
                <a:stretch>
                  <a:fillRect r="-22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直線接點 168">
            <a:extLst>
              <a:ext uri="{FF2B5EF4-FFF2-40B4-BE49-F238E27FC236}">
                <a16:creationId xmlns:a16="http://schemas.microsoft.com/office/drawing/2014/main" id="{7BE9094E-E905-4C35-B1FF-20B55F0C9D70}"/>
              </a:ext>
            </a:extLst>
          </p:cNvPr>
          <p:cNvCxnSpPr>
            <a:cxnSpLocks/>
            <a:stCxn id="167" idx="0"/>
            <a:endCxn id="168" idx="2"/>
          </p:cNvCxnSpPr>
          <p:nvPr/>
        </p:nvCxnSpPr>
        <p:spPr>
          <a:xfrm flipV="1">
            <a:off x="6555492" y="2805198"/>
            <a:ext cx="0" cy="53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9C5E4386-2607-4576-B058-B32E0BCAD69F}"/>
                  </a:ext>
                </a:extLst>
              </p:cNvPr>
              <p:cNvSpPr txBox="1"/>
              <p:nvPr/>
            </p:nvSpPr>
            <p:spPr>
              <a:xfrm>
                <a:off x="6291960" y="4344197"/>
                <a:ext cx="578840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2" name="文字方塊 171">
                <a:extLst>
                  <a:ext uri="{FF2B5EF4-FFF2-40B4-BE49-F238E27FC236}">
                    <a16:creationId xmlns:a16="http://schemas.microsoft.com/office/drawing/2014/main" id="{9C5E4386-2607-4576-B058-B32E0BCAD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60" y="4344197"/>
                <a:ext cx="578840" cy="493277"/>
              </a:xfrm>
              <a:prstGeom prst="rect">
                <a:avLst/>
              </a:prstGeom>
              <a:blipFill>
                <a:blip r:embed="rId16"/>
                <a:stretch>
                  <a:fillRect r="-22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3E58B75A-D53A-4E6F-8205-1B56F239A82E}"/>
                  </a:ext>
                </a:extLst>
              </p:cNvPr>
              <p:cNvSpPr txBox="1"/>
              <p:nvPr/>
            </p:nvSpPr>
            <p:spPr>
              <a:xfrm>
                <a:off x="6291960" y="5563075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3E58B75A-D53A-4E6F-8205-1B56F239A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60" y="5563075"/>
                <a:ext cx="578840" cy="530979"/>
              </a:xfrm>
              <a:prstGeom prst="rect">
                <a:avLst/>
              </a:prstGeom>
              <a:blipFill>
                <a:blip r:embed="rId17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直線接點 173">
            <a:extLst>
              <a:ext uri="{FF2B5EF4-FFF2-40B4-BE49-F238E27FC236}">
                <a16:creationId xmlns:a16="http://schemas.microsoft.com/office/drawing/2014/main" id="{70561795-C21D-441E-A2BD-FEF2432AF8B1}"/>
              </a:ext>
            </a:extLst>
          </p:cNvPr>
          <p:cNvCxnSpPr>
            <a:cxnSpLocks/>
            <a:stCxn id="173" idx="0"/>
            <a:endCxn id="172" idx="2"/>
          </p:cNvCxnSpPr>
          <p:nvPr/>
        </p:nvCxnSpPr>
        <p:spPr>
          <a:xfrm flipV="1">
            <a:off x="6581380" y="4837474"/>
            <a:ext cx="0" cy="725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7E6A43C9-123A-4FE9-8245-85B43709364F}"/>
                  </a:ext>
                </a:extLst>
              </p:cNvPr>
              <p:cNvSpPr txBox="1"/>
              <p:nvPr/>
            </p:nvSpPr>
            <p:spPr>
              <a:xfrm>
                <a:off x="7407708" y="2311921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7E6A43C9-123A-4FE9-8245-85B437093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708" y="2311921"/>
                <a:ext cx="688533" cy="493277"/>
              </a:xfrm>
              <a:prstGeom prst="rect">
                <a:avLst/>
              </a:prstGeom>
              <a:blipFill>
                <a:blip r:embed="rId18"/>
                <a:stretch>
                  <a:fillRect r="-53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直線接點 178">
            <a:extLst>
              <a:ext uri="{FF2B5EF4-FFF2-40B4-BE49-F238E27FC236}">
                <a16:creationId xmlns:a16="http://schemas.microsoft.com/office/drawing/2014/main" id="{07BFA097-F2A5-4D27-A253-40A2CCD6AE7B}"/>
              </a:ext>
            </a:extLst>
          </p:cNvPr>
          <p:cNvCxnSpPr>
            <a:cxnSpLocks/>
            <a:stCxn id="178" idx="2"/>
            <a:endCxn id="181" idx="0"/>
          </p:cNvCxnSpPr>
          <p:nvPr/>
        </p:nvCxnSpPr>
        <p:spPr>
          <a:xfrm>
            <a:off x="7751975" y="2805198"/>
            <a:ext cx="1090987" cy="580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342B9482-2EE2-4ABE-9BDD-A0506789B4A6}"/>
                  </a:ext>
                </a:extLst>
              </p:cNvPr>
              <p:cNvSpPr txBox="1"/>
              <p:nvPr/>
            </p:nvSpPr>
            <p:spPr>
              <a:xfrm>
                <a:off x="8553542" y="3386104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𝐺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81" name="文字方塊 180">
                <a:extLst>
                  <a:ext uri="{FF2B5EF4-FFF2-40B4-BE49-F238E27FC236}">
                    <a16:creationId xmlns:a16="http://schemas.microsoft.com/office/drawing/2014/main" id="{342B9482-2EE2-4ABE-9BDD-A0506789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542" y="3386104"/>
                <a:ext cx="578840" cy="530979"/>
              </a:xfrm>
              <a:prstGeom prst="rect">
                <a:avLst/>
              </a:prstGeom>
              <a:blipFill>
                <a:blip r:embed="rId19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38824E4C-86E1-403E-A7B5-B087219C5B85}"/>
                  </a:ext>
                </a:extLst>
              </p:cNvPr>
              <p:cNvSpPr txBox="1"/>
              <p:nvPr/>
            </p:nvSpPr>
            <p:spPr>
              <a:xfrm>
                <a:off x="7472228" y="3342192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3" name="文字方塊 182">
                <a:extLst>
                  <a:ext uri="{FF2B5EF4-FFF2-40B4-BE49-F238E27FC236}">
                    <a16:creationId xmlns:a16="http://schemas.microsoft.com/office/drawing/2014/main" id="{38824E4C-86E1-403E-A7B5-B087219C5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228" y="3342192"/>
                <a:ext cx="578840" cy="530979"/>
              </a:xfrm>
              <a:prstGeom prst="rect">
                <a:avLst/>
              </a:prstGeom>
              <a:blipFill>
                <a:blip r:embed="rId20"/>
                <a:stretch>
                  <a:fillRect r="-210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" name="直線接點 183">
            <a:extLst>
              <a:ext uri="{FF2B5EF4-FFF2-40B4-BE49-F238E27FC236}">
                <a16:creationId xmlns:a16="http://schemas.microsoft.com/office/drawing/2014/main" id="{9CA1895E-C63B-40EF-8F53-5EDD3A156F49}"/>
              </a:ext>
            </a:extLst>
          </p:cNvPr>
          <p:cNvCxnSpPr>
            <a:cxnSpLocks/>
            <a:stCxn id="178" idx="2"/>
            <a:endCxn id="183" idx="0"/>
          </p:cNvCxnSpPr>
          <p:nvPr/>
        </p:nvCxnSpPr>
        <p:spPr>
          <a:xfrm>
            <a:off x="7751975" y="2805198"/>
            <a:ext cx="9673" cy="536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文字方塊 187">
                <a:extLst>
                  <a:ext uri="{FF2B5EF4-FFF2-40B4-BE49-F238E27FC236}">
                    <a16:creationId xmlns:a16="http://schemas.microsoft.com/office/drawing/2014/main" id="{AB200F43-5A8D-49CD-9069-DC202077E482}"/>
                  </a:ext>
                </a:extLst>
              </p:cNvPr>
              <p:cNvSpPr txBox="1"/>
              <p:nvPr/>
            </p:nvSpPr>
            <p:spPr>
              <a:xfrm>
                <a:off x="8504635" y="2290281"/>
                <a:ext cx="578840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8" name="文字方塊 187">
                <a:extLst>
                  <a:ext uri="{FF2B5EF4-FFF2-40B4-BE49-F238E27FC236}">
                    <a16:creationId xmlns:a16="http://schemas.microsoft.com/office/drawing/2014/main" id="{AB200F43-5A8D-49CD-9069-DC202077E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4635" y="2290281"/>
                <a:ext cx="578840" cy="493277"/>
              </a:xfrm>
              <a:prstGeom prst="rect">
                <a:avLst/>
              </a:prstGeom>
              <a:blipFill>
                <a:blip r:embed="rId21"/>
                <a:stretch>
                  <a:fillRect r="-73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4DF59535-8E20-4BE8-9D62-73EE85CDDA54}"/>
                  </a:ext>
                </a:extLst>
              </p:cNvPr>
              <p:cNvSpPr txBox="1"/>
              <p:nvPr/>
            </p:nvSpPr>
            <p:spPr>
              <a:xfrm>
                <a:off x="9619856" y="3342192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4DF59535-8E20-4BE8-9D62-73EE85CDD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9856" y="3342192"/>
                <a:ext cx="578840" cy="530979"/>
              </a:xfrm>
              <a:prstGeom prst="rect">
                <a:avLst/>
              </a:prstGeom>
              <a:blipFill>
                <a:blip r:embed="rId22"/>
                <a:stretch>
                  <a:fillRect r="-25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0" name="直線接點 189">
            <a:extLst>
              <a:ext uri="{FF2B5EF4-FFF2-40B4-BE49-F238E27FC236}">
                <a16:creationId xmlns:a16="http://schemas.microsoft.com/office/drawing/2014/main" id="{1837C6FD-BDDB-4055-B40B-A356CCEF11D6}"/>
              </a:ext>
            </a:extLst>
          </p:cNvPr>
          <p:cNvCxnSpPr>
            <a:cxnSpLocks/>
            <a:stCxn id="188" idx="2"/>
            <a:endCxn id="189" idx="0"/>
          </p:cNvCxnSpPr>
          <p:nvPr/>
        </p:nvCxnSpPr>
        <p:spPr>
          <a:xfrm>
            <a:off x="8794055" y="2783558"/>
            <a:ext cx="1115221" cy="55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6E4EBD9-40E5-44D1-981E-30F0E84D894E}"/>
                  </a:ext>
                </a:extLst>
              </p:cNvPr>
              <p:cNvSpPr txBox="1"/>
              <p:nvPr/>
            </p:nvSpPr>
            <p:spPr>
              <a:xfrm>
                <a:off x="9427349" y="2318164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3" name="文字方塊 192">
                <a:extLst>
                  <a:ext uri="{FF2B5EF4-FFF2-40B4-BE49-F238E27FC236}">
                    <a16:creationId xmlns:a16="http://schemas.microsoft.com/office/drawing/2014/main" id="{36E4EBD9-40E5-44D1-981E-30F0E84D8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7349" y="2318164"/>
                <a:ext cx="688533" cy="4932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" name="直線接點 193">
            <a:extLst>
              <a:ext uri="{FF2B5EF4-FFF2-40B4-BE49-F238E27FC236}">
                <a16:creationId xmlns:a16="http://schemas.microsoft.com/office/drawing/2014/main" id="{874F0409-B050-48F2-B539-9524F9687C17}"/>
              </a:ext>
            </a:extLst>
          </p:cNvPr>
          <p:cNvCxnSpPr>
            <a:cxnSpLocks/>
            <a:stCxn id="193" idx="2"/>
            <a:endCxn id="183" idx="0"/>
          </p:cNvCxnSpPr>
          <p:nvPr/>
        </p:nvCxnSpPr>
        <p:spPr>
          <a:xfrm flipH="1">
            <a:off x="7761648" y="2811441"/>
            <a:ext cx="2009968" cy="5307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895A7090-0F49-4E0E-BF6A-AF681C285465}"/>
                  </a:ext>
                </a:extLst>
              </p:cNvPr>
              <p:cNvSpPr txBox="1"/>
              <p:nvPr/>
            </p:nvSpPr>
            <p:spPr>
              <a:xfrm>
                <a:off x="7380152" y="4344196"/>
                <a:ext cx="688533" cy="493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895A7090-0F49-4E0E-BF6A-AF681C285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152" y="4344196"/>
                <a:ext cx="688533" cy="4932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C9A5056B-AB8D-4D46-B393-328B166752B8}"/>
                  </a:ext>
                </a:extLst>
              </p:cNvPr>
              <p:cNvSpPr txBox="1"/>
              <p:nvPr/>
            </p:nvSpPr>
            <p:spPr>
              <a:xfrm>
                <a:off x="7434998" y="5563074"/>
                <a:ext cx="578840" cy="530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  <m:sup/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C9A5056B-AB8D-4D46-B393-328B16675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4998" y="5563074"/>
                <a:ext cx="578840" cy="530979"/>
              </a:xfrm>
              <a:prstGeom prst="rect">
                <a:avLst/>
              </a:prstGeom>
              <a:blipFill>
                <a:blip r:embed="rId25"/>
                <a:stretch>
                  <a:fillRect r="-63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直線接點 198">
            <a:extLst>
              <a:ext uri="{FF2B5EF4-FFF2-40B4-BE49-F238E27FC236}">
                <a16:creationId xmlns:a16="http://schemas.microsoft.com/office/drawing/2014/main" id="{76B2F56F-5DBB-44EA-8C13-71F7D5BC86C1}"/>
              </a:ext>
            </a:extLst>
          </p:cNvPr>
          <p:cNvCxnSpPr>
            <a:cxnSpLocks/>
            <a:stCxn id="197" idx="2"/>
            <a:endCxn id="198" idx="0"/>
          </p:cNvCxnSpPr>
          <p:nvPr/>
        </p:nvCxnSpPr>
        <p:spPr>
          <a:xfrm flipH="1">
            <a:off x="7724418" y="4837473"/>
            <a:ext cx="1" cy="725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矩形: 圓角 203">
            <a:extLst>
              <a:ext uri="{FF2B5EF4-FFF2-40B4-BE49-F238E27FC236}">
                <a16:creationId xmlns:a16="http://schemas.microsoft.com/office/drawing/2014/main" id="{18524C8D-19F9-4F3C-B4CB-249AA5A501DC}"/>
              </a:ext>
            </a:extLst>
          </p:cNvPr>
          <p:cNvSpPr/>
          <p:nvPr/>
        </p:nvSpPr>
        <p:spPr>
          <a:xfrm>
            <a:off x="5771626" y="302004"/>
            <a:ext cx="6073629" cy="187517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5" name="矩形: 圓角 204">
            <a:extLst>
              <a:ext uri="{FF2B5EF4-FFF2-40B4-BE49-F238E27FC236}">
                <a16:creationId xmlns:a16="http://schemas.microsoft.com/office/drawing/2014/main" id="{A7F44935-AB6F-4466-A91D-7C06F53A11C0}"/>
              </a:ext>
            </a:extLst>
          </p:cNvPr>
          <p:cNvSpPr/>
          <p:nvPr/>
        </p:nvSpPr>
        <p:spPr>
          <a:xfrm>
            <a:off x="5771626" y="2296508"/>
            <a:ext cx="6073629" cy="167606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6" name="矩形: 圓角 205">
            <a:extLst>
              <a:ext uri="{FF2B5EF4-FFF2-40B4-BE49-F238E27FC236}">
                <a16:creationId xmlns:a16="http://schemas.microsoft.com/office/drawing/2014/main" id="{E7BA4B35-28FC-4C40-AD63-2EF5EC19629D}"/>
              </a:ext>
            </a:extLst>
          </p:cNvPr>
          <p:cNvSpPr/>
          <p:nvPr/>
        </p:nvSpPr>
        <p:spPr>
          <a:xfrm>
            <a:off x="5771626" y="4260462"/>
            <a:ext cx="6073629" cy="18281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05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FC0CE-B9C3-4D04-88D9-E0B4F206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641C1-2D1C-4881-90A9-96533F9C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   =&gt; II, IQ, QI, QQ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IH   =&gt; IH, IT, QH             (Similar as HI)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 =&gt; QT, IQ, QQ            (Similar as TI)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HH =&gt; HH, HT, TH, TT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  =&gt; HT, TT, HQ           (Similar as HT)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  =&gt; TT, QT, TQ, QQ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10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FC0CE-B9C3-4D04-88D9-E0B4F206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2641C1-2D1C-4881-90A9-96533F9C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   =&gt; II, IH, IQ, QQ                     (Similar as QI)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=&gt; HI, HH, HQ, TI, TH, TQ    (Similar as QH)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TQ  =&gt; TI, TH, TQ, QQ                  (Similar as QT)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QQ  =&gt; II, IH, IQ, HI, HH, HQ, QI, QH, QQ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59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E88787-785C-415E-9128-4BCC1DB85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9EECD1B-4E47-413B-981B-23ABF9BCF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2107095"/>
                <a:ext cx="11208391" cy="4069867"/>
              </a:xfrm>
            </p:spPr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complexity: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𝐻𝐻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𝐻𝑇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𝑇𝐻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𝑇𝑇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𝑇𝐼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𝐼𝑇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𝐼𝐼</m:t>
                            </m:r>
                          </m:e>
                        </m:d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)∗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(1)+(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𝑄𝐼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𝐻𝑄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𝑄𝐻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𝑄𝑄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*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dirty="0"/>
                  <a:t>+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dirty="0"/>
                  <a:t>*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/>
                  <a:t>+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dirty="0"/>
                  <a:t>*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complexity: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9EECD1B-4E47-413B-981B-23ABF9BCF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2107095"/>
                <a:ext cx="11208391" cy="4069867"/>
              </a:xfrm>
              <a:blipFill>
                <a:blip r:embed="rId2"/>
                <a:stretch>
                  <a:fillRect l="-924" t="-26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761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19023-78A3-45AD-A034-5565C0902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822C80-D1B6-45E5-8826-74EBFFED0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94B14-1345-4EC4-85A0-7269F452370C}"/>
              </a:ext>
            </a:extLst>
          </p:cNvPr>
          <p:cNvSpPr/>
          <p:nvPr/>
        </p:nvSpPr>
        <p:spPr>
          <a:xfrm>
            <a:off x="3095224" y="199344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B571AE6-13E6-4AF9-A10E-1A4574984159}"/>
                  </a:ext>
                </a:extLst>
              </p:cNvPr>
              <p:cNvSpPr txBox="1"/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B571AE6-13E6-4AF9-A10E-1A4574984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8C148541-A2E4-41D7-83B9-934B95C1343B}"/>
              </a:ext>
            </a:extLst>
          </p:cNvPr>
          <p:cNvSpPr/>
          <p:nvPr/>
        </p:nvSpPr>
        <p:spPr>
          <a:xfrm>
            <a:off x="3095224" y="413886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1583BD9-DAEC-443E-BD04-529818F5E2A4}"/>
                  </a:ext>
                </a:extLst>
              </p:cNvPr>
              <p:cNvSpPr txBox="1"/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1583BD9-DAEC-443E-BD04-529818F5E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341AE9B-7A7C-476E-A3F1-B8D6404C1D50}"/>
                  </a:ext>
                </a:extLst>
              </p:cNvPr>
              <p:cNvSpPr txBox="1"/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341AE9B-7A7C-476E-A3F1-B8D6404C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blipFill>
                <a:blip r:embed="rId4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F07E72-D7F7-436B-9153-17C7B4E1F7B3}"/>
                  </a:ext>
                </a:extLst>
              </p:cNvPr>
              <p:cNvSpPr txBox="1"/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7CF07E72-D7F7-436B-9153-17C7B4E1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blipFill>
                <a:blip r:embed="rId5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36DB965-15FB-4AFE-A1E7-22C24FAEE92C}"/>
                  </a:ext>
                </a:extLst>
              </p:cNvPr>
              <p:cNvSpPr txBox="1"/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C36DB965-15FB-4AFE-A1E7-22C24FAEE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blipFill>
                <a:blip r:embed="rId6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4211F99-7FCD-4E55-83AF-F7FD9CAE4266}"/>
                  </a:ext>
                </a:extLst>
              </p:cNvPr>
              <p:cNvSpPr txBox="1"/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94211F99-7FCD-4E55-83AF-F7FD9CAE4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blipFill>
                <a:blip r:embed="rId7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10C9094F-F2C2-4B73-AE40-55E30F8ED783}"/>
              </a:ext>
            </a:extLst>
          </p:cNvPr>
          <p:cNvSpPr/>
          <p:nvPr/>
        </p:nvSpPr>
        <p:spPr>
          <a:xfrm>
            <a:off x="4355450" y="1993446"/>
            <a:ext cx="1567012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8DF6DE-20FB-45D2-A157-F549966A4162}"/>
              </a:ext>
            </a:extLst>
          </p:cNvPr>
          <p:cNvSpPr/>
          <p:nvPr/>
        </p:nvSpPr>
        <p:spPr>
          <a:xfrm>
            <a:off x="6663207" y="4138865"/>
            <a:ext cx="2098721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3C224F-5D1D-469D-8224-21C10F3D6CEE}"/>
              </a:ext>
            </a:extLst>
          </p:cNvPr>
          <p:cNvSpPr/>
          <p:nvPr/>
        </p:nvSpPr>
        <p:spPr>
          <a:xfrm>
            <a:off x="5164141" y="4140645"/>
            <a:ext cx="758321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FE580F-B193-4E32-9045-18F17AADA97A}"/>
              </a:ext>
            </a:extLst>
          </p:cNvPr>
          <p:cNvSpPr/>
          <p:nvPr/>
        </p:nvSpPr>
        <p:spPr>
          <a:xfrm>
            <a:off x="4298823" y="4143022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AD1AEDBC-E95C-414E-B39B-6DB708874C76}"/>
              </a:ext>
            </a:extLst>
          </p:cNvPr>
          <p:cNvCxnSpPr/>
          <p:nvPr/>
        </p:nvCxnSpPr>
        <p:spPr>
          <a:xfrm>
            <a:off x="4355450" y="2543680"/>
            <a:ext cx="1567012" cy="15779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A45DB319-C454-405B-8020-76692ED74A2E}"/>
              </a:ext>
            </a:extLst>
          </p:cNvPr>
          <p:cNvCxnSpPr/>
          <p:nvPr/>
        </p:nvCxnSpPr>
        <p:spPr>
          <a:xfrm flipH="1">
            <a:off x="4355450" y="2560117"/>
            <a:ext cx="1567012" cy="15743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966F339-1B4C-47EB-B0E3-8143BD8558A0}"/>
                  </a:ext>
                </a:extLst>
              </p:cNvPr>
              <p:cNvSpPr txBox="1"/>
              <p:nvPr/>
            </p:nvSpPr>
            <p:spPr>
              <a:xfrm>
                <a:off x="3955798" y="4940048"/>
                <a:ext cx="242822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𝐼𝐻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𝐼𝑇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966F339-1B4C-47EB-B0E3-8143BD855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798" y="4940048"/>
                <a:ext cx="2428224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EB2AA0-7C45-4762-9B5B-C53F44244AA2}"/>
                  </a:ext>
                </a:extLst>
              </p:cNvPr>
              <p:cNvSpPr txBox="1"/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15EB2AA0-7C45-4762-9B5B-C53F44244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blipFill>
                <a:blip r:embed="rId9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D37BD51-1F2B-440D-8634-A06EB0A7AF27}"/>
                  </a:ext>
                </a:extLst>
              </p:cNvPr>
              <p:cNvSpPr txBox="1"/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4D37BD51-1F2B-440D-8634-A06EB0A7A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blipFill>
                <a:blip r:embed="rId10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23EB9DE-4749-478B-BC84-15DB05F5A2A6}"/>
                  </a:ext>
                </a:extLst>
              </p:cNvPr>
              <p:cNvSpPr txBox="1"/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23EB9DE-4749-478B-BC84-15DB05F5A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blipFill>
                <a:blip r:embed="rId11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5E37FD4-0ACD-4415-9475-172B9E45C755}"/>
                  </a:ext>
                </a:extLst>
              </p:cNvPr>
              <p:cNvSpPr txBox="1"/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05E37FD4-0ACD-4415-9475-172B9E45C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blipFill>
                <a:blip r:embed="rId12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32BC55A-C7F0-4F6A-9123-0123D090B2FC}"/>
                  </a:ext>
                </a:extLst>
              </p:cNvPr>
              <p:cNvSpPr txBox="1"/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032BC55A-C7F0-4F6A-9123-0123D090B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blipFill>
                <a:blip r:embed="rId13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BB404E8-A24E-4A0C-92EC-75109E10A0B3}"/>
                  </a:ext>
                </a:extLst>
              </p:cNvPr>
              <p:cNvSpPr txBox="1"/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BB404E8-A24E-4A0C-92EC-75109E10A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blipFill>
                <a:blip r:embed="rId14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8E9D993-78BF-4D85-8733-43FF1B7D7B99}"/>
                  </a:ext>
                </a:extLst>
              </p:cNvPr>
              <p:cNvSpPr txBox="1"/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8E9D993-78BF-4D85-8733-43FF1B7D7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blipFill>
                <a:blip r:embed="rId15"/>
                <a:stretch>
                  <a:fillRect l="-28571" r="-28571" b="-23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CF2AB0-6FA4-47D2-94B0-560BFD57A374}"/>
                  </a:ext>
                </a:extLst>
              </p:cNvPr>
              <p:cNvSpPr txBox="1"/>
              <p:nvPr/>
            </p:nvSpPr>
            <p:spPr>
              <a:xfrm>
                <a:off x="8600070" y="3752480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12CF2AB0-6FA4-47D2-94B0-560BFD57A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70" y="3752480"/>
                <a:ext cx="231474" cy="384721"/>
              </a:xfrm>
              <a:prstGeom prst="rect">
                <a:avLst/>
              </a:prstGeom>
              <a:blipFill>
                <a:blip r:embed="rId16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矩形 38">
            <a:extLst>
              <a:ext uri="{FF2B5EF4-FFF2-40B4-BE49-F238E27FC236}">
                <a16:creationId xmlns:a16="http://schemas.microsoft.com/office/drawing/2014/main" id="{ED2DE739-5346-4CF5-8EC2-BCB28029F0C0}"/>
              </a:ext>
            </a:extLst>
          </p:cNvPr>
          <p:cNvSpPr/>
          <p:nvPr/>
        </p:nvSpPr>
        <p:spPr>
          <a:xfrm>
            <a:off x="6603432" y="1994319"/>
            <a:ext cx="2098721" cy="55023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6D27B44-3EA2-407F-A1B7-0E4C1F43A701}"/>
                  </a:ext>
                </a:extLst>
              </p:cNvPr>
              <p:cNvSpPr txBox="1"/>
              <p:nvPr/>
            </p:nvSpPr>
            <p:spPr>
              <a:xfrm>
                <a:off x="6554070" y="4938426"/>
                <a:ext cx="242822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6D27B44-3EA2-407F-A1B7-0E4C1F43A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4938426"/>
                <a:ext cx="2428224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56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175E7-F54C-42EC-AA97-AE958C1E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01D317-FE20-47BD-81C8-1568C0199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F6A91F-1AC8-4991-81B0-9FA01350F279}"/>
              </a:ext>
            </a:extLst>
          </p:cNvPr>
          <p:cNvSpPr/>
          <p:nvPr/>
        </p:nvSpPr>
        <p:spPr>
          <a:xfrm>
            <a:off x="3095224" y="199344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8A4F80-B742-43A4-AC55-9656DA050F33}"/>
                  </a:ext>
                </a:extLst>
              </p:cNvPr>
              <p:cNvSpPr txBox="1"/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08A4F80-B742-43A4-AC55-9656DA050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0" y="1976177"/>
                <a:ext cx="508088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944D2204-DDE9-4D0A-B913-DB5153D80512}"/>
              </a:ext>
            </a:extLst>
          </p:cNvPr>
          <p:cNvSpPr/>
          <p:nvPr/>
        </p:nvSpPr>
        <p:spPr>
          <a:xfrm>
            <a:off x="3095224" y="4138867"/>
            <a:ext cx="6623615" cy="55023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8D3C661-ABE5-4E61-A2EE-3591A28838D9}"/>
                  </a:ext>
                </a:extLst>
              </p:cNvPr>
              <p:cNvSpPr txBox="1"/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8D3C661-ABE5-4E61-A2EE-3591A2883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371" y="4121597"/>
                <a:ext cx="513859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E85C73-76C6-4C2F-A1EA-89B1A210117E}"/>
                  </a:ext>
                </a:extLst>
              </p:cNvPr>
              <p:cNvSpPr txBox="1"/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3E85C73-76C6-4C2F-A1EA-89B1A2101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222" y="1674722"/>
                <a:ext cx="219612" cy="338554"/>
              </a:xfrm>
              <a:prstGeom prst="rect">
                <a:avLst/>
              </a:prstGeom>
              <a:blipFill>
                <a:blip r:embed="rId4"/>
                <a:stretch>
                  <a:fillRect l="-30556" r="-27778"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135E12A-74C4-457F-8868-143B1B5EF91E}"/>
                  </a:ext>
                </a:extLst>
              </p:cNvPr>
              <p:cNvSpPr txBox="1"/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135E12A-74C4-457F-8868-143B1B5EF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520" y="1628556"/>
                <a:ext cx="261931" cy="384721"/>
              </a:xfrm>
              <a:prstGeom prst="rect">
                <a:avLst/>
              </a:prstGeom>
              <a:blipFill>
                <a:blip r:embed="rId5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D2A171-524C-483E-B397-9B387AAD29D5}"/>
                  </a:ext>
                </a:extLst>
              </p:cNvPr>
              <p:cNvSpPr txBox="1"/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2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8D2A171-524C-483E-B397-9B387AAD2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3" y="3804583"/>
                <a:ext cx="219612" cy="338554"/>
              </a:xfrm>
              <a:prstGeom prst="rect">
                <a:avLst/>
              </a:prstGeom>
              <a:blipFill>
                <a:blip r:embed="rId6"/>
                <a:stretch>
                  <a:fillRect l="-30556" r="-27778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156F5E-4806-4371-845C-759FA1C0B4D5}"/>
                  </a:ext>
                </a:extLst>
              </p:cNvPr>
              <p:cNvSpPr txBox="1"/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156F5E-4806-4371-845C-759FA1C0B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908" y="3758417"/>
                <a:ext cx="261931" cy="384721"/>
              </a:xfrm>
              <a:prstGeom prst="rect">
                <a:avLst/>
              </a:prstGeom>
              <a:blipFill>
                <a:blip r:embed="rId7"/>
                <a:stretch>
                  <a:fillRect l="-16279" r="-139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F9A26DCE-603F-4ACF-8B4E-61663857B1AA}"/>
              </a:ext>
            </a:extLst>
          </p:cNvPr>
          <p:cNvSpPr/>
          <p:nvPr/>
        </p:nvSpPr>
        <p:spPr>
          <a:xfrm>
            <a:off x="6549059" y="1997149"/>
            <a:ext cx="1337105" cy="55023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527601-0172-4D5B-A308-9C2FC14C2706}"/>
              </a:ext>
            </a:extLst>
          </p:cNvPr>
          <p:cNvSpPr/>
          <p:nvPr/>
        </p:nvSpPr>
        <p:spPr>
          <a:xfrm>
            <a:off x="7463462" y="4146580"/>
            <a:ext cx="1605037" cy="5466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96576C-F0BE-424F-B4C4-5FB2ACF8E0A3}"/>
              </a:ext>
            </a:extLst>
          </p:cNvPr>
          <p:cNvSpPr/>
          <p:nvPr/>
        </p:nvSpPr>
        <p:spPr>
          <a:xfrm>
            <a:off x="7886164" y="1996190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0F2A76-2668-4130-B6AD-20248F3E56D4}"/>
              </a:ext>
            </a:extLst>
          </p:cNvPr>
          <p:cNvSpPr/>
          <p:nvPr/>
        </p:nvSpPr>
        <p:spPr>
          <a:xfrm>
            <a:off x="6587697" y="4143022"/>
            <a:ext cx="875764" cy="55023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C84A46-2808-4324-B82D-D31F7A079DC0}"/>
                  </a:ext>
                </a:extLst>
              </p:cNvPr>
              <p:cNvSpPr txBox="1"/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9AC84A46-2808-4324-B82D-D31F7A079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604" y="1618782"/>
                <a:ext cx="183320" cy="384721"/>
              </a:xfrm>
              <a:prstGeom prst="rect">
                <a:avLst/>
              </a:prstGeom>
              <a:blipFill>
                <a:blip r:embed="rId8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612AF80-3D31-4AAE-A003-286D4B0B2119}"/>
                  </a:ext>
                </a:extLst>
              </p:cNvPr>
              <p:cNvSpPr txBox="1"/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D612AF80-3D31-4AAE-A003-286D4B0B2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471" y="1624077"/>
                <a:ext cx="193002" cy="384721"/>
              </a:xfrm>
              <a:prstGeom prst="rect">
                <a:avLst/>
              </a:prstGeom>
              <a:blipFill>
                <a:blip r:embed="rId9"/>
                <a:stretch>
                  <a:fillRect l="-58065" r="-54839" b="-3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107E8B8-6606-4AA4-84F0-66101AFB5565}"/>
                  </a:ext>
                </a:extLst>
              </p:cNvPr>
              <p:cNvSpPr txBox="1"/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107E8B8-6606-4AA4-84F0-66101AFB5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878" y="3726382"/>
                <a:ext cx="183320" cy="384721"/>
              </a:xfrm>
              <a:prstGeom prst="rect">
                <a:avLst/>
              </a:prstGeom>
              <a:blipFill>
                <a:blip r:embed="rId10"/>
                <a:stretch>
                  <a:fillRect l="-40000" r="-33333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330D832-3C61-4317-ABE4-FAB110305989}"/>
                  </a:ext>
                </a:extLst>
              </p:cNvPr>
              <p:cNvSpPr txBox="1"/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330D832-3C61-4317-ABE4-FAB110305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745" y="3731677"/>
                <a:ext cx="193002" cy="384721"/>
              </a:xfrm>
              <a:prstGeom prst="rect">
                <a:avLst/>
              </a:prstGeom>
              <a:blipFill>
                <a:blip r:embed="rId11"/>
                <a:stretch>
                  <a:fillRect l="-53125" r="-53125" b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B8E7360-3055-40B6-95A8-95D24795FE20}"/>
                  </a:ext>
                </a:extLst>
              </p:cNvPr>
              <p:cNvSpPr txBox="1"/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B8E7360-3055-40B6-95A8-95D24795F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70" y="1618782"/>
                <a:ext cx="255583" cy="384721"/>
              </a:xfrm>
              <a:prstGeom prst="rect">
                <a:avLst/>
              </a:prstGeom>
              <a:blipFill>
                <a:blip r:embed="rId12"/>
                <a:stretch>
                  <a:fillRect l="-28571" r="-28571" b="-238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A482F34-4F0B-41CB-9F53-B9B55F60D779}"/>
                  </a:ext>
                </a:extLst>
              </p:cNvPr>
              <p:cNvSpPr txBox="1"/>
              <p:nvPr/>
            </p:nvSpPr>
            <p:spPr>
              <a:xfrm>
                <a:off x="7882345" y="1616888"/>
                <a:ext cx="25494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A482F34-4F0B-41CB-9F53-B9B55F60D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345" y="1616888"/>
                <a:ext cx="254942" cy="384721"/>
              </a:xfrm>
              <a:prstGeom prst="rect">
                <a:avLst/>
              </a:prstGeom>
              <a:blipFill>
                <a:blip r:embed="rId13"/>
                <a:stretch>
                  <a:fillRect l="-28571" r="-26190" b="-253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CEADA81-BFC4-472A-BC55-FA785A8E06DA}"/>
                  </a:ext>
                </a:extLst>
              </p:cNvPr>
              <p:cNvSpPr txBox="1"/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6CEADA81-BFC4-472A-BC55-FA785A8E0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16" y="1640252"/>
                <a:ext cx="231474" cy="384721"/>
              </a:xfrm>
              <a:prstGeom prst="rect">
                <a:avLst/>
              </a:prstGeom>
              <a:blipFill>
                <a:blip r:embed="rId14"/>
                <a:stretch>
                  <a:fillRect l="-18421" r="-157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F72144-504B-48F0-941B-05C1EAD56C2A}"/>
                  </a:ext>
                </a:extLst>
              </p:cNvPr>
              <p:cNvSpPr txBox="1"/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4F72144-504B-48F0-941B-05C1EAD56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4200" y="3739248"/>
                <a:ext cx="255583" cy="384721"/>
              </a:xfrm>
              <a:prstGeom prst="rect">
                <a:avLst/>
              </a:prstGeom>
              <a:blipFill>
                <a:blip r:embed="rId15"/>
                <a:stretch>
                  <a:fillRect l="-28571" r="-28571" b="-234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1368091-3C40-420A-8113-E64E3D8DA03D}"/>
                  </a:ext>
                </a:extLst>
              </p:cNvPr>
              <p:cNvSpPr txBox="1"/>
              <p:nvPr/>
            </p:nvSpPr>
            <p:spPr>
              <a:xfrm>
                <a:off x="8600070" y="3752480"/>
                <a:ext cx="790729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5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TW" sz="25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zh-TW" altLang="en-US" sz="25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1368091-3C40-420A-8113-E64E3D8DA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0070" y="3752480"/>
                <a:ext cx="790729" cy="384721"/>
              </a:xfrm>
              <a:prstGeom prst="rect">
                <a:avLst/>
              </a:prstGeom>
              <a:blipFill>
                <a:blip r:embed="rId16"/>
                <a:stretch>
                  <a:fillRect l="-5426" r="-9302" b="-7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DB7A607-98B5-4283-9131-F75C57E055C2}"/>
                  </a:ext>
                </a:extLst>
              </p:cNvPr>
              <p:cNvSpPr txBox="1"/>
              <p:nvPr/>
            </p:nvSpPr>
            <p:spPr>
              <a:xfrm>
                <a:off x="5830972" y="5000067"/>
                <a:ext cx="453386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𝐻𝑇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𝑄𝑇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𝑄𝑄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DB7A607-98B5-4283-9131-F75C57E0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972" y="5000067"/>
                <a:ext cx="4533869" cy="430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94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8402</TotalTime>
  <Words>501</Words>
  <Application>Microsoft Office PowerPoint</Application>
  <PresentationFormat>寬螢幕</PresentationFormat>
  <Paragraphs>120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Two-string consensus problem under non-overlapping inversion and transposition distance</vt:lpstr>
      <vt:lpstr>Abstract</vt:lpstr>
      <vt:lpstr>Two string consensus problem under mutation distance</vt:lpstr>
      <vt:lpstr>Mutation table</vt:lpstr>
      <vt:lpstr>Matched pair</vt:lpstr>
      <vt:lpstr>4 Status</vt:lpstr>
      <vt:lpstr>Algorithm</vt:lpstr>
      <vt:lpstr>Algorithm</vt:lpstr>
      <vt:lpstr>Algorithm</vt:lpstr>
      <vt:lpstr>Algorithm</vt:lpstr>
      <vt:lpstr>Algorithm</vt:lpstr>
      <vt:lpstr>Complexity</vt:lpstr>
      <vt:lpstr>Algorithm</vt:lpstr>
      <vt:lpstr>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pplabeveryone</cp:lastModifiedBy>
  <cp:revision>132</cp:revision>
  <dcterms:created xsi:type="dcterms:W3CDTF">2019-02-17T13:02:40Z</dcterms:created>
  <dcterms:modified xsi:type="dcterms:W3CDTF">2019-04-16T10:20:03Z</dcterms:modified>
</cp:coreProperties>
</file>