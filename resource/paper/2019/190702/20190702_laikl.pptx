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72" r:id="rId2"/>
    <p:sldId id="273" r:id="rId3"/>
    <p:sldId id="319" r:id="rId4"/>
    <p:sldId id="320" r:id="rId5"/>
    <p:sldId id="321" r:id="rId6"/>
    <p:sldId id="324" r:id="rId7"/>
    <p:sldId id="328" r:id="rId8"/>
    <p:sldId id="325" r:id="rId9"/>
    <p:sldId id="326" r:id="rId10"/>
    <p:sldId id="333" r:id="rId11"/>
    <p:sldId id="332" r:id="rId12"/>
    <p:sldId id="331" r:id="rId13"/>
    <p:sldId id="336" r:id="rId14"/>
    <p:sldId id="334" r:id="rId15"/>
    <p:sldId id="337" r:id="rId16"/>
    <p:sldId id="338" r:id="rId17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plabeveryone" initials="p" lastIdx="1" clrIdx="0">
    <p:extLst>
      <p:ext uri="{19B8F6BF-5375-455C-9EA6-DF929625EA0E}">
        <p15:presenceInfo xmlns:p15="http://schemas.microsoft.com/office/powerpoint/2012/main" userId="pplabeveryone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83" d="100"/>
          <a:sy n="83" d="100"/>
        </p:scale>
        <p:origin x="81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BEC917-2184-4946-BB82-84EF861DCF35}" type="datetimeFigureOut">
              <a:rPr lang="zh-TW" altLang="en-US" smtClean="0"/>
              <a:t>2019/7/2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D4844C-1032-416A-8E33-99B56B001B4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2570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維羅納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D4844C-1032-416A-8E33-99B56B001B47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503950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F291E9FB-D310-4BD9-851D-6425E63217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xmlns="" id="{05CC2D6F-06AF-4931-9709-FCA05DC51E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xmlns="" id="{605EB6B2-427A-4CAE-9619-FAB6B597D0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304E5-8391-4D43-B972-962346D4BFC4}" type="datetimeFigureOut">
              <a:rPr lang="zh-TW" altLang="en-US" smtClean="0"/>
              <a:t>2019/7/2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xmlns="" id="{3769ABC4-7C32-44E3-9772-E2B3357F9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xmlns="" id="{255D64BD-9081-466C-8D01-FBF7065B7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2A0DF-A681-43DB-AFF4-A7471DEB21F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888920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F6C11C1B-A165-4738-A98E-CDF82413A0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xmlns="" id="{756B1918-D436-4343-9D7A-DF8FD42C64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xmlns="" id="{FAC802BB-9E18-4069-B6E3-D70E229B8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304E5-8391-4D43-B972-962346D4BFC4}" type="datetimeFigureOut">
              <a:rPr lang="zh-TW" altLang="en-US" smtClean="0"/>
              <a:t>2019/7/2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xmlns="" id="{4D17E016-6221-4C76-A778-1966A7E22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xmlns="" id="{4C950188-5923-4BE5-BBF8-007D2F5AF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2A0DF-A681-43DB-AFF4-A7471DEB21F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886391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60FCEA3C-318E-4A4F-A7B9-E2D385E114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xmlns="" id="{D363CFCA-1D31-4F2D-A2FA-912CBE68D1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xmlns="" id="{73F6391A-F661-4379-94A2-4643E5BF5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304E5-8391-4D43-B972-962346D4BFC4}" type="datetimeFigureOut">
              <a:rPr lang="zh-TW" altLang="en-US" smtClean="0"/>
              <a:t>2019/7/2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xmlns="" id="{695108C4-69A9-44CA-89F5-763AB52A9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xmlns="" id="{A53FF97E-7194-4B2D-8634-E29DD61DA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2A0DF-A681-43DB-AFF4-A7471DEB21F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305966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7152C97B-1F56-4785-8A30-DA86E60AA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xmlns="" id="{5F29B196-61A8-4EA9-B0FF-4353875D02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xmlns="" id="{29105522-46EF-4155-B59E-FF1C09A542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xmlns="" id="{E82E778C-6D5C-4349-B49E-A36748FD2C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304E5-8391-4D43-B972-962346D4BFC4}" type="datetimeFigureOut">
              <a:rPr lang="zh-TW" altLang="en-US" smtClean="0"/>
              <a:t>2019/7/2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xmlns="" id="{7706EA42-D460-4907-9704-D34B3B57C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xmlns="" id="{37E264FC-4808-4790-BD8F-8211BE537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2A0DF-A681-43DB-AFF4-A7471DEB21F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629039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2A27751A-93CE-4DE8-B797-C436DD9F5C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xmlns="" id="{08A2ABA1-97A7-4A9B-8822-523C381771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xmlns="" id="{E16E0FC9-B7AA-41A0-B866-A41045B341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xmlns="" id="{0FC33553-8EC2-4658-A3F0-AC45384FB5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xmlns="" id="{503BC847-C398-4803-A4DB-B409F0FA9B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xmlns="" id="{18638424-171A-4453-A77D-F5E415EF2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304E5-8391-4D43-B972-962346D4BFC4}" type="datetimeFigureOut">
              <a:rPr lang="zh-TW" altLang="en-US" smtClean="0"/>
              <a:t>2019/7/2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xmlns="" id="{C80A086D-9FDA-468B-AAB3-0018938B8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xmlns="" id="{6DC85732-9691-4144-9A38-E61C84639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2A0DF-A681-43DB-AFF4-A7471DEB21F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869589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7E441B06-8711-4961-AEB7-AEE157FB5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xmlns="" id="{B2D84982-DA61-40F8-865E-241B2E63E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304E5-8391-4D43-B972-962346D4BFC4}" type="datetimeFigureOut">
              <a:rPr lang="zh-TW" altLang="en-US" smtClean="0"/>
              <a:t>2019/7/2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xmlns="" id="{688FECA4-B1F2-4027-8D2C-8751FB266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xmlns="" id="{49751A0D-D313-4013-94A2-D4003C17E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2A0DF-A681-43DB-AFF4-A7471DEB21F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832379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xmlns="" id="{BB4FDBCA-0F26-49FD-AD09-208FE47B4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304E5-8391-4D43-B972-962346D4BFC4}" type="datetimeFigureOut">
              <a:rPr lang="zh-TW" altLang="en-US" smtClean="0"/>
              <a:t>2019/7/2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xmlns="" id="{A1FBB2FB-5464-4A73-AE50-DCF81B3AC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xmlns="" id="{56065D78-C5F8-47FF-AA94-888FCEFD4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2A0DF-A681-43DB-AFF4-A7471DEB21F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990361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F05D31BA-37F1-4225-B290-CB3296CD2E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xmlns="" id="{344D63C7-7D4E-47D8-B09A-DDD52D8956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xmlns="" id="{0A09B261-64A1-45E3-BCCC-4B347BCEF1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xmlns="" id="{A21D7D45-2485-430D-85B6-E0EDD7470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304E5-8391-4D43-B972-962346D4BFC4}" type="datetimeFigureOut">
              <a:rPr lang="zh-TW" altLang="en-US" smtClean="0"/>
              <a:t>2019/7/2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xmlns="" id="{F0B9DB85-5A5B-48DF-A996-3201B8D87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xmlns="" id="{BB426B7C-FD89-4D9B-887E-55B2A0158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2A0DF-A681-43DB-AFF4-A7471DEB21F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505415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EC8B7B3C-2DD9-46E7-A713-12783EFB8E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xmlns="" id="{429D5A80-7E30-4CE2-9F20-F249813FD6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xmlns="" id="{3DD48E2E-ABAE-41A2-9298-3BB31EBF90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xmlns="" id="{4BA1B74B-A084-41FB-850C-9D7955CBFB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304E5-8391-4D43-B972-962346D4BFC4}" type="datetimeFigureOut">
              <a:rPr lang="zh-TW" altLang="en-US" smtClean="0"/>
              <a:t>2019/7/2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xmlns="" id="{EB315B08-E79A-42EE-A2FC-F1C68A51BD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xmlns="" id="{973802BE-840F-4C01-9050-6E70D196A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2A0DF-A681-43DB-AFF4-A7471DEB21F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328331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04FC5363-AA72-4929-A8D8-981DE83CCA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xmlns="" id="{A60E5AE7-6730-4E4A-A491-978032D4A8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xmlns="" id="{5324A45A-6563-4F21-B472-F95E7E9351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304E5-8391-4D43-B972-962346D4BFC4}" type="datetimeFigureOut">
              <a:rPr lang="zh-TW" altLang="en-US" smtClean="0"/>
              <a:t>2019/7/2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xmlns="" id="{2BEF7F7B-52C7-426B-9978-644A1D1D5C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xmlns="" id="{2D5A41F3-8A5F-4AA2-BC76-BA2BC3546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2A0DF-A681-43DB-AFF4-A7471DEB21F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863396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xmlns="" id="{9176A2CC-7A46-4F55-85C4-AA9FCEBA24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xmlns="" id="{843CA45E-F614-4C8C-8C28-E5CB2DA98D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xmlns="" id="{C2E923DF-42AC-42EC-8C59-8AE2A2D28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304E5-8391-4D43-B972-962346D4BFC4}" type="datetimeFigureOut">
              <a:rPr lang="zh-TW" altLang="en-US" smtClean="0"/>
              <a:t>2019/7/2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xmlns="" id="{05EF9B0E-8C96-4598-AD8E-7166BFAB2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xmlns="" id="{38AC7952-2B0D-4AEE-853B-D7C07AA43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2A0DF-A681-43DB-AFF4-A7471DEB21F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24512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xmlns="" id="{2CAC3753-89D0-4CF8-9AD2-2EDC075887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xmlns="" id="{0D946258-EAA0-48EF-BC94-910187879B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xmlns="" id="{50B7139B-A4A4-4FF6-8485-DAC90BA55F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4304E5-8391-4D43-B972-962346D4BFC4}" type="datetimeFigureOut">
              <a:rPr lang="zh-TW" altLang="en-US" smtClean="0"/>
              <a:t>2019/7/2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xmlns="" id="{CCF0E61B-8D31-44C4-971C-1AE9FB565B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xmlns="" id="{25CA5F1E-BB32-417E-9E65-5152DAF7A4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72A0DF-A681-43DB-AFF4-A7471DEB21F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708801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8380D9A5-7987-4C31-A5AA-53D6FFA13C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880" y="871024"/>
            <a:ext cx="11148240" cy="1437553"/>
          </a:xfrm>
        </p:spPr>
        <p:txBody>
          <a:bodyPr>
            <a:noAutofit/>
          </a:bodyPr>
          <a:lstStyle/>
          <a:p>
            <a:r>
              <a:rPr lang="en-US" altLang="zh-TW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EERTREE: An Efficient Data Structure for Processing Palindromes in Strings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xmlns="" id="{1DE7FB8B-5E0F-4EA3-A472-0229D27A7F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880" y="2634144"/>
            <a:ext cx="11148240" cy="3781052"/>
          </a:xfrm>
        </p:spPr>
        <p:txBody>
          <a:bodyPr>
            <a:normAutofit lnSpcReduction="10000"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Mikhail 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Rubinchik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Arseny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M. 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Shur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Proceedings of 26</a:t>
            </a:r>
            <a:r>
              <a:rPr lang="en-US" altLang="zh-TW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International Workshop on Combinatorial Algorithms(IWOCA) </a:t>
            </a:r>
            <a:b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Verona, Italy, 5-7 October 2015, 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pp. 321-333</a:t>
            </a:r>
            <a:b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European Journal of Combinatorics Volume 68, February 2018,  pp. 249-265</a:t>
            </a:r>
          </a:p>
          <a:p>
            <a:r>
              <a:rPr lang="fi-FI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fi-FI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i-FI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fi-FI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Speaker: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Kuan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-Lin Lai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Date: July 2, 2019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71485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40ED643E-E99E-4F12-92FE-709248FF7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xmlns="" id="{9FB915B7-780A-4747-AA36-2299BB4693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746996" cy="43513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propose a new linear-size data structure which provides a fast access to all palindromic substrings of a string or a set of strings. This structure inherits some ideas from the construction of both the suffix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trie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suffix tree. Using this structure, we present simple and efficient solutions for a number of problems involving palindromes.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8769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93F58557-1DE0-4358-AB10-88F4BE69E7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 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xmlns="" id="{E9664100-584A-4125-85D4-D2903B8BB9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9477" y="182562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string S =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eertree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palindrome =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e, r, t,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ee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rtr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ertre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eertree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suffix palindrome =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ee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eertree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longest suffix palindrome =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eertree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11141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7737E653-C7AE-4BAA-BBCE-3B34DFAF0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version EERTREE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xmlns="" id="{E4BD01EF-6D50-40E1-B337-CC4A6EF346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5495488" cy="4351338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Edge(    )</a:t>
            </a:r>
          </a:p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Suffix link (    )</a:t>
            </a:r>
          </a:p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 -1: imaginary string</a:t>
            </a:r>
          </a:p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 0 : empty string</a:t>
            </a:r>
          </a:p>
        </p:txBody>
      </p:sp>
      <p:cxnSp>
        <p:nvCxnSpPr>
          <p:cNvPr id="6" name="直線單箭頭接點 5">
            <a:extLst>
              <a:ext uri="{FF2B5EF4-FFF2-40B4-BE49-F238E27FC236}">
                <a16:creationId xmlns:a16="http://schemas.microsoft.com/office/drawing/2014/main" xmlns="" id="{328103EF-BA46-425A-BE36-FCC3C088FFAF}"/>
              </a:ext>
            </a:extLst>
          </p:cNvPr>
          <p:cNvCxnSpPr>
            <a:cxnSpLocks/>
          </p:cNvCxnSpPr>
          <p:nvPr/>
        </p:nvCxnSpPr>
        <p:spPr>
          <a:xfrm>
            <a:off x="2182335" y="2110189"/>
            <a:ext cx="300805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>
            <a:extLst>
              <a:ext uri="{FF2B5EF4-FFF2-40B4-BE49-F238E27FC236}">
                <a16:creationId xmlns:a16="http://schemas.microsoft.com/office/drawing/2014/main" xmlns="" id="{35DA01BC-FC77-4C35-9B28-A3C32B5CB7E9}"/>
              </a:ext>
            </a:extLst>
          </p:cNvPr>
          <p:cNvCxnSpPr>
            <a:cxnSpLocks/>
          </p:cNvCxnSpPr>
          <p:nvPr/>
        </p:nvCxnSpPr>
        <p:spPr>
          <a:xfrm>
            <a:off x="3154260" y="2676088"/>
            <a:ext cx="10905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xmlns="" id="{F804C833-A296-4E71-AF9E-CABB4DAC4921}"/>
              </a:ext>
            </a:extLst>
          </p:cNvPr>
          <p:cNvCxnSpPr>
            <a:cxnSpLocks/>
          </p:cNvCxnSpPr>
          <p:nvPr/>
        </p:nvCxnSpPr>
        <p:spPr>
          <a:xfrm>
            <a:off x="3355596" y="2676088"/>
            <a:ext cx="1524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圖片 9">
            <a:extLst>
              <a:ext uri="{FF2B5EF4-FFF2-40B4-BE49-F238E27FC236}">
                <a16:creationId xmlns:a16="http://schemas.microsoft.com/office/drawing/2014/main" xmlns="" id="{F9CC1A06-4F80-429F-9D5C-D47B0D0B4A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7985" y="781050"/>
            <a:ext cx="3581400" cy="529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40374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4512DA45-8E38-4F8A-938D-B9BD9931A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Properties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xmlns="" id="{4D5008BA-C8E0-41B8-9D72-0C1F522674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xmlns="" id="{46C01ACE-0E73-4344-956C-719D4181ED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588" y="3412983"/>
            <a:ext cx="10888824" cy="895173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xmlns="" id="{10B1A4D1-CFED-4299-A09F-34A959287C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588" y="4792612"/>
            <a:ext cx="9534966" cy="452309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xmlns="" id="{CAF4D4D6-CB38-40F8-925B-4878476188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588" y="1825625"/>
            <a:ext cx="10273004" cy="1110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56080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7F2D4E36-40BE-4782-BD8D-088F5B8863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by quick links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xmlns="" id="{A003E7E8-E62F-4445-BE04-FEF6F77907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0399" y="1899516"/>
            <a:ext cx="3261239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ex:  S =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aabaabaaba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</a:p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b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xmlns="" id="{D4A74DDE-4181-4DD9-94E1-B033F660A544}"/>
              </a:ext>
            </a:extLst>
          </p:cNvPr>
          <p:cNvSpPr/>
          <p:nvPr/>
        </p:nvSpPr>
        <p:spPr>
          <a:xfrm>
            <a:off x="4665554" y="5249765"/>
            <a:ext cx="2333940" cy="65578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abaabaaba</a:t>
            </a:r>
            <a:endParaRPr lang="zh-TW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xmlns="" id="{D82E12F5-A3C1-4EC5-B42B-3172CED7AB35}"/>
              </a:ext>
            </a:extLst>
          </p:cNvPr>
          <p:cNvSpPr/>
          <p:nvPr/>
        </p:nvSpPr>
        <p:spPr>
          <a:xfrm>
            <a:off x="4992019" y="3701939"/>
            <a:ext cx="1681010" cy="65578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baabaab</a:t>
            </a:r>
            <a:endParaRPr lang="zh-TW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xmlns="" id="{DAB6BE44-77C9-45B1-B489-C8423723EB4D}"/>
              </a:ext>
            </a:extLst>
          </p:cNvPr>
          <p:cNvCxnSpPr>
            <a:cxnSpLocks/>
            <a:stCxn id="13" idx="4"/>
            <a:endCxn id="12" idx="0"/>
          </p:cNvCxnSpPr>
          <p:nvPr/>
        </p:nvCxnSpPr>
        <p:spPr>
          <a:xfrm>
            <a:off x="5832524" y="4357721"/>
            <a:ext cx="0" cy="89204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字方塊 15">
            <a:extLst>
              <a:ext uri="{FF2B5EF4-FFF2-40B4-BE49-F238E27FC236}">
                <a16:creationId xmlns:a16="http://schemas.microsoft.com/office/drawing/2014/main" xmlns="" id="{397FCC41-9328-4D75-91F1-2FA385DA22B1}"/>
              </a:ext>
            </a:extLst>
          </p:cNvPr>
          <p:cNvSpPr txBox="1"/>
          <p:nvPr/>
        </p:nvSpPr>
        <p:spPr>
          <a:xfrm>
            <a:off x="5886958" y="4552508"/>
            <a:ext cx="5911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xmlns="" id="{B6B5B7FE-A23C-449D-BE90-8131A0BA41ED}"/>
              </a:ext>
            </a:extLst>
          </p:cNvPr>
          <p:cNvSpPr/>
          <p:nvPr/>
        </p:nvSpPr>
        <p:spPr>
          <a:xfrm>
            <a:off x="6781829" y="3764499"/>
            <a:ext cx="1483885" cy="65578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abaaba</a:t>
            </a:r>
            <a:endParaRPr lang="zh-TW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xmlns="" id="{096214F6-D3CD-4E9A-9B88-7D8F64AB65B2}"/>
              </a:ext>
            </a:extLst>
          </p:cNvPr>
          <p:cNvCxnSpPr>
            <a:cxnSpLocks/>
            <a:stCxn id="12" idx="7"/>
            <a:endCxn id="17" idx="4"/>
          </p:cNvCxnSpPr>
          <p:nvPr/>
        </p:nvCxnSpPr>
        <p:spPr>
          <a:xfrm flipV="1">
            <a:off x="6657696" y="4420281"/>
            <a:ext cx="866076" cy="92552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字方塊 26">
            <a:extLst>
              <a:ext uri="{FF2B5EF4-FFF2-40B4-BE49-F238E27FC236}">
                <a16:creationId xmlns:a16="http://schemas.microsoft.com/office/drawing/2014/main" xmlns="" id="{110D916D-8247-48CE-8AD7-DD96BF861488}"/>
              </a:ext>
            </a:extLst>
          </p:cNvPr>
          <p:cNvSpPr txBox="1"/>
          <p:nvPr/>
        </p:nvSpPr>
        <p:spPr>
          <a:xfrm>
            <a:off x="1330036" y="3613520"/>
            <a:ext cx="16810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</a:t>
            </a:r>
            <a:b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suffix link</a:t>
            </a:r>
            <a:b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quick link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8" name="直線單箭頭接點 27">
            <a:extLst>
              <a:ext uri="{FF2B5EF4-FFF2-40B4-BE49-F238E27FC236}">
                <a16:creationId xmlns:a16="http://schemas.microsoft.com/office/drawing/2014/main" xmlns="" id="{259AC60D-56D6-428B-B012-A1851F7D24D0}"/>
              </a:ext>
            </a:extLst>
          </p:cNvPr>
          <p:cNvCxnSpPr>
            <a:cxnSpLocks/>
          </p:cNvCxnSpPr>
          <p:nvPr/>
        </p:nvCxnSpPr>
        <p:spPr>
          <a:xfrm>
            <a:off x="706001" y="3906982"/>
            <a:ext cx="491836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單箭頭接點 31">
            <a:extLst>
              <a:ext uri="{FF2B5EF4-FFF2-40B4-BE49-F238E27FC236}">
                <a16:creationId xmlns:a16="http://schemas.microsoft.com/office/drawing/2014/main" xmlns="" id="{33AEEDE5-761D-41FB-B594-58CC43DA2E9C}"/>
              </a:ext>
            </a:extLst>
          </p:cNvPr>
          <p:cNvCxnSpPr>
            <a:cxnSpLocks/>
          </p:cNvCxnSpPr>
          <p:nvPr/>
        </p:nvCxnSpPr>
        <p:spPr>
          <a:xfrm>
            <a:off x="705056" y="4241810"/>
            <a:ext cx="492781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單箭頭接點 33">
            <a:extLst>
              <a:ext uri="{FF2B5EF4-FFF2-40B4-BE49-F238E27FC236}">
                <a16:creationId xmlns:a16="http://schemas.microsoft.com/office/drawing/2014/main" xmlns="" id="{3F4D748E-1148-45DE-BD5C-1042C13A2859}"/>
              </a:ext>
            </a:extLst>
          </p:cNvPr>
          <p:cNvCxnSpPr>
            <a:cxnSpLocks/>
          </p:cNvCxnSpPr>
          <p:nvPr/>
        </p:nvCxnSpPr>
        <p:spPr>
          <a:xfrm flipV="1">
            <a:off x="705056" y="4570864"/>
            <a:ext cx="476254" cy="5774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橢圓 34">
            <a:extLst>
              <a:ext uri="{FF2B5EF4-FFF2-40B4-BE49-F238E27FC236}">
                <a16:creationId xmlns:a16="http://schemas.microsoft.com/office/drawing/2014/main" xmlns="" id="{3E712DB3-F5D8-44CA-AA5E-AD3CD6683912}"/>
              </a:ext>
            </a:extLst>
          </p:cNvPr>
          <p:cNvSpPr/>
          <p:nvPr/>
        </p:nvSpPr>
        <p:spPr>
          <a:xfrm>
            <a:off x="8672339" y="3101088"/>
            <a:ext cx="1074297" cy="65578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aba</a:t>
            </a:r>
            <a:endParaRPr lang="zh-TW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0" name="直線單箭頭接點 39">
            <a:extLst>
              <a:ext uri="{FF2B5EF4-FFF2-40B4-BE49-F238E27FC236}">
                <a16:creationId xmlns:a16="http://schemas.microsoft.com/office/drawing/2014/main" xmlns="" id="{5ACD8365-D08F-495C-A037-4579783F05EF}"/>
              </a:ext>
            </a:extLst>
          </p:cNvPr>
          <p:cNvCxnSpPr>
            <a:cxnSpLocks/>
            <a:stCxn id="17" idx="6"/>
            <a:endCxn id="35" idx="3"/>
          </p:cNvCxnSpPr>
          <p:nvPr/>
        </p:nvCxnSpPr>
        <p:spPr>
          <a:xfrm flipV="1">
            <a:off x="8265714" y="3660833"/>
            <a:ext cx="563952" cy="431557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單箭頭接點 42">
            <a:extLst>
              <a:ext uri="{FF2B5EF4-FFF2-40B4-BE49-F238E27FC236}">
                <a16:creationId xmlns:a16="http://schemas.microsoft.com/office/drawing/2014/main" xmlns="" id="{9978A2A1-E517-4EF4-A1CA-64DE6F74A30D}"/>
              </a:ext>
            </a:extLst>
          </p:cNvPr>
          <p:cNvCxnSpPr>
            <a:cxnSpLocks/>
            <a:stCxn id="12" idx="6"/>
            <a:endCxn id="94" idx="4"/>
          </p:cNvCxnSpPr>
          <p:nvPr/>
        </p:nvCxnSpPr>
        <p:spPr>
          <a:xfrm flipV="1">
            <a:off x="6999494" y="3682015"/>
            <a:ext cx="3780717" cy="1895641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單箭頭接點 47">
            <a:extLst>
              <a:ext uri="{FF2B5EF4-FFF2-40B4-BE49-F238E27FC236}">
                <a16:creationId xmlns:a16="http://schemas.microsoft.com/office/drawing/2014/main" xmlns="" id="{77F15242-02A3-4FF8-8A49-021C3EFADE10}"/>
              </a:ext>
            </a:extLst>
          </p:cNvPr>
          <p:cNvCxnSpPr>
            <a:cxnSpLocks/>
            <a:endCxn id="13" idx="0"/>
          </p:cNvCxnSpPr>
          <p:nvPr/>
        </p:nvCxnSpPr>
        <p:spPr>
          <a:xfrm>
            <a:off x="5832524" y="3354559"/>
            <a:ext cx="0" cy="34738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9" name="圖片 5">
            <a:extLst>
              <a:ext uri="{FF2B5EF4-FFF2-40B4-BE49-F238E27FC236}">
                <a16:creationId xmlns:a16="http://schemas.microsoft.com/office/drawing/2014/main" xmlns="" id="{F2B4E366-5F11-4E6A-BEC3-EE72056374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0666" y="2813241"/>
            <a:ext cx="219075" cy="44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0" name="直線單箭頭接點 49">
            <a:extLst>
              <a:ext uri="{FF2B5EF4-FFF2-40B4-BE49-F238E27FC236}">
                <a16:creationId xmlns:a16="http://schemas.microsoft.com/office/drawing/2014/main" xmlns="" id="{C5AC129A-4F60-40FE-8621-D736E871B08C}"/>
              </a:ext>
            </a:extLst>
          </p:cNvPr>
          <p:cNvCxnSpPr>
            <a:cxnSpLocks/>
            <a:stCxn id="13" idx="7"/>
            <a:endCxn id="55" idx="3"/>
          </p:cNvCxnSpPr>
          <p:nvPr/>
        </p:nvCxnSpPr>
        <p:spPr>
          <a:xfrm flipV="1">
            <a:off x="6426851" y="3259753"/>
            <a:ext cx="544697" cy="538223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橢圓 54">
            <a:extLst>
              <a:ext uri="{FF2B5EF4-FFF2-40B4-BE49-F238E27FC236}">
                <a16:creationId xmlns:a16="http://schemas.microsoft.com/office/drawing/2014/main" xmlns="" id="{741D731F-39CA-4CB7-B25A-6693A42AEDCD}"/>
              </a:ext>
            </a:extLst>
          </p:cNvPr>
          <p:cNvSpPr/>
          <p:nvPr/>
        </p:nvSpPr>
        <p:spPr>
          <a:xfrm>
            <a:off x="6768526" y="2700008"/>
            <a:ext cx="1386321" cy="65578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baab</a:t>
            </a:r>
            <a:endParaRPr lang="zh-TW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1" name="直線單箭頭接點 60">
            <a:extLst>
              <a:ext uri="{FF2B5EF4-FFF2-40B4-BE49-F238E27FC236}">
                <a16:creationId xmlns:a16="http://schemas.microsoft.com/office/drawing/2014/main" xmlns="" id="{2E91BF7D-6AC0-4DA8-B98E-8565D0F7411C}"/>
              </a:ext>
            </a:extLst>
          </p:cNvPr>
          <p:cNvCxnSpPr>
            <a:cxnSpLocks/>
            <a:endCxn id="55" idx="0"/>
          </p:cNvCxnSpPr>
          <p:nvPr/>
        </p:nvCxnSpPr>
        <p:spPr>
          <a:xfrm>
            <a:off x="7461687" y="2421494"/>
            <a:ext cx="0" cy="27851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4" name="圖片 5">
            <a:extLst>
              <a:ext uri="{FF2B5EF4-FFF2-40B4-BE49-F238E27FC236}">
                <a16:creationId xmlns:a16="http://schemas.microsoft.com/office/drawing/2014/main" xmlns="" id="{645671AF-D326-42E4-9F24-E567EECB87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1384" y="1899516"/>
            <a:ext cx="219075" cy="44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78" name="直線單箭頭接點 77">
            <a:extLst>
              <a:ext uri="{FF2B5EF4-FFF2-40B4-BE49-F238E27FC236}">
                <a16:creationId xmlns:a16="http://schemas.microsoft.com/office/drawing/2014/main" xmlns="" id="{77466F1C-09EF-4B86-AEE4-5463F61A802F}"/>
              </a:ext>
            </a:extLst>
          </p:cNvPr>
          <p:cNvCxnSpPr>
            <a:cxnSpLocks/>
            <a:stCxn id="55" idx="4"/>
            <a:endCxn id="17" idx="0"/>
          </p:cNvCxnSpPr>
          <p:nvPr/>
        </p:nvCxnSpPr>
        <p:spPr>
          <a:xfrm>
            <a:off x="7461687" y="3355790"/>
            <a:ext cx="62085" cy="40870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文字方塊 81">
            <a:extLst>
              <a:ext uri="{FF2B5EF4-FFF2-40B4-BE49-F238E27FC236}">
                <a16:creationId xmlns:a16="http://schemas.microsoft.com/office/drawing/2014/main" xmlns="" id="{2850065E-4325-48E5-9F3B-C55C32534277}"/>
              </a:ext>
            </a:extLst>
          </p:cNvPr>
          <p:cNvSpPr txBox="1"/>
          <p:nvPr/>
        </p:nvSpPr>
        <p:spPr>
          <a:xfrm>
            <a:off x="7534590" y="3296039"/>
            <a:ext cx="5911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3" name="直線單箭頭接點 82">
            <a:extLst>
              <a:ext uri="{FF2B5EF4-FFF2-40B4-BE49-F238E27FC236}">
                <a16:creationId xmlns:a16="http://schemas.microsoft.com/office/drawing/2014/main" xmlns="" id="{77DC4E66-BFAF-4C40-A60B-F841991B68FB}"/>
              </a:ext>
            </a:extLst>
          </p:cNvPr>
          <p:cNvCxnSpPr>
            <a:cxnSpLocks/>
            <a:endCxn id="35" idx="0"/>
          </p:cNvCxnSpPr>
          <p:nvPr/>
        </p:nvCxnSpPr>
        <p:spPr>
          <a:xfrm>
            <a:off x="9209487" y="2784724"/>
            <a:ext cx="1" cy="31636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4" name="圖片 5">
            <a:extLst>
              <a:ext uri="{FF2B5EF4-FFF2-40B4-BE49-F238E27FC236}">
                <a16:creationId xmlns:a16="http://schemas.microsoft.com/office/drawing/2014/main" xmlns="" id="{988D8F5B-00FC-432D-81C4-D0626734BB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70673" y="2251194"/>
            <a:ext cx="219075" cy="44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91" name="直線單箭頭接點 90">
            <a:extLst>
              <a:ext uri="{FF2B5EF4-FFF2-40B4-BE49-F238E27FC236}">
                <a16:creationId xmlns:a16="http://schemas.microsoft.com/office/drawing/2014/main" xmlns="" id="{04BC9548-5774-46AB-8296-E15BCF6D262C}"/>
              </a:ext>
            </a:extLst>
          </p:cNvPr>
          <p:cNvCxnSpPr>
            <a:cxnSpLocks/>
            <a:stCxn id="35" idx="6"/>
            <a:endCxn id="94" idx="2"/>
          </p:cNvCxnSpPr>
          <p:nvPr/>
        </p:nvCxnSpPr>
        <p:spPr>
          <a:xfrm flipV="1">
            <a:off x="9746636" y="3354124"/>
            <a:ext cx="646465" cy="74855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橢圓 93">
            <a:extLst>
              <a:ext uri="{FF2B5EF4-FFF2-40B4-BE49-F238E27FC236}">
                <a16:creationId xmlns:a16="http://schemas.microsoft.com/office/drawing/2014/main" xmlns="" id="{8CF01080-350C-4C6C-957A-77348B34414B}"/>
              </a:ext>
            </a:extLst>
          </p:cNvPr>
          <p:cNvSpPr/>
          <p:nvPr/>
        </p:nvSpPr>
        <p:spPr>
          <a:xfrm>
            <a:off x="10393101" y="3026233"/>
            <a:ext cx="774220" cy="65578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TW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9" name="直線單箭頭接點 98">
            <a:extLst>
              <a:ext uri="{FF2B5EF4-FFF2-40B4-BE49-F238E27FC236}">
                <a16:creationId xmlns:a16="http://schemas.microsoft.com/office/drawing/2014/main" xmlns="" id="{0368217E-3342-4013-9421-3101DCA63D09}"/>
              </a:ext>
            </a:extLst>
          </p:cNvPr>
          <p:cNvCxnSpPr>
            <a:cxnSpLocks/>
          </p:cNvCxnSpPr>
          <p:nvPr/>
        </p:nvCxnSpPr>
        <p:spPr>
          <a:xfrm>
            <a:off x="10780210" y="2738941"/>
            <a:ext cx="1" cy="31636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0" name="圖片 5">
            <a:extLst>
              <a:ext uri="{FF2B5EF4-FFF2-40B4-BE49-F238E27FC236}">
                <a16:creationId xmlns:a16="http://schemas.microsoft.com/office/drawing/2014/main" xmlns="" id="{7FAE2B7C-EA55-45FB-A76B-9B99A8794E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99949" y="2381557"/>
            <a:ext cx="219075" cy="44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627622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B5526834-9957-48E2-998D-5B53D5755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Properties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xmlns="" id="{44BE2E51-D812-42A6-A05F-968E1401E5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xmlns="" id="{92947443-3E27-4654-B3A5-062A942A38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533" y="1941839"/>
            <a:ext cx="11192934" cy="498807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xmlns="" id="{2113C374-7FBC-42E3-9FA4-AA39B95309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533" y="2802160"/>
            <a:ext cx="11075815" cy="1513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7288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7A0B0F85-AD10-4A30-B22D-A50E1E4CC6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by direct links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xmlns="" id="{DAD17CA3-B070-41C5-9BCB-D072DDFEB3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0694" y="1791254"/>
            <a:ext cx="11134725" cy="1265052"/>
          </a:xfrm>
        </p:spPr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 links: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directLink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[v][c] is the longest suffix-palindrome of v</a:t>
            </a:r>
            <a:b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preceded in v by c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xmlns="" id="{E69BA958-096F-404F-A64B-803AF1A8D547}"/>
              </a:ext>
            </a:extLst>
          </p:cNvPr>
          <p:cNvSpPr/>
          <p:nvPr/>
        </p:nvSpPr>
        <p:spPr>
          <a:xfrm>
            <a:off x="3440762" y="5837093"/>
            <a:ext cx="2333940" cy="65578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abaabaaba</a:t>
            </a:r>
            <a:endParaRPr lang="zh-TW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xmlns="" id="{A7F5B38E-7BD3-4DC9-9A3C-C1077E5D6FC2}"/>
              </a:ext>
            </a:extLst>
          </p:cNvPr>
          <p:cNvSpPr/>
          <p:nvPr/>
        </p:nvSpPr>
        <p:spPr>
          <a:xfrm>
            <a:off x="3767227" y="4289267"/>
            <a:ext cx="1681010" cy="65578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baabaab</a:t>
            </a:r>
            <a:endParaRPr lang="zh-TW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" name="直線單箭頭接點 7">
            <a:extLst>
              <a:ext uri="{FF2B5EF4-FFF2-40B4-BE49-F238E27FC236}">
                <a16:creationId xmlns:a16="http://schemas.microsoft.com/office/drawing/2014/main" xmlns="" id="{1182AF92-5093-4F3E-B7AA-01FB755F1FC7}"/>
              </a:ext>
            </a:extLst>
          </p:cNvPr>
          <p:cNvCxnSpPr>
            <a:cxnSpLocks/>
            <a:stCxn id="7" idx="4"/>
            <a:endCxn id="6" idx="0"/>
          </p:cNvCxnSpPr>
          <p:nvPr/>
        </p:nvCxnSpPr>
        <p:spPr>
          <a:xfrm>
            <a:off x="4607732" y="4945049"/>
            <a:ext cx="0" cy="89204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字方塊 8">
            <a:extLst>
              <a:ext uri="{FF2B5EF4-FFF2-40B4-BE49-F238E27FC236}">
                <a16:creationId xmlns:a16="http://schemas.microsoft.com/office/drawing/2014/main" xmlns="" id="{8504E3CA-6CBC-44C9-9DA8-477CAB6478D5}"/>
              </a:ext>
            </a:extLst>
          </p:cNvPr>
          <p:cNvSpPr txBox="1"/>
          <p:nvPr/>
        </p:nvSpPr>
        <p:spPr>
          <a:xfrm>
            <a:off x="4662166" y="5139836"/>
            <a:ext cx="5911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橢圓 9">
            <a:extLst>
              <a:ext uri="{FF2B5EF4-FFF2-40B4-BE49-F238E27FC236}">
                <a16:creationId xmlns:a16="http://schemas.microsoft.com/office/drawing/2014/main" xmlns="" id="{7AB2FD5A-38E5-4754-AB69-728B45B0FAE3}"/>
              </a:ext>
            </a:extLst>
          </p:cNvPr>
          <p:cNvSpPr/>
          <p:nvPr/>
        </p:nvSpPr>
        <p:spPr>
          <a:xfrm>
            <a:off x="5557037" y="4351827"/>
            <a:ext cx="1483885" cy="65578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abaaba</a:t>
            </a:r>
            <a:endParaRPr lang="zh-TW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xmlns="" id="{FD6D0A48-50EA-4B2D-9794-D75222EDF339}"/>
              </a:ext>
            </a:extLst>
          </p:cNvPr>
          <p:cNvCxnSpPr>
            <a:cxnSpLocks/>
            <a:stCxn id="6" idx="7"/>
            <a:endCxn id="10" idx="4"/>
          </p:cNvCxnSpPr>
          <p:nvPr/>
        </p:nvCxnSpPr>
        <p:spPr>
          <a:xfrm flipV="1">
            <a:off x="5432904" y="5007609"/>
            <a:ext cx="866076" cy="92552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橢圓 11">
            <a:extLst>
              <a:ext uri="{FF2B5EF4-FFF2-40B4-BE49-F238E27FC236}">
                <a16:creationId xmlns:a16="http://schemas.microsoft.com/office/drawing/2014/main" xmlns="" id="{FC55D92B-A736-4304-BA03-BF0824799497}"/>
              </a:ext>
            </a:extLst>
          </p:cNvPr>
          <p:cNvSpPr/>
          <p:nvPr/>
        </p:nvSpPr>
        <p:spPr>
          <a:xfrm>
            <a:off x="7447547" y="3688416"/>
            <a:ext cx="1074297" cy="65578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aba</a:t>
            </a:r>
            <a:endParaRPr lang="zh-TW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xmlns="" id="{DF5E39F5-81B6-47ED-8F5E-489AED8EA01B}"/>
              </a:ext>
            </a:extLst>
          </p:cNvPr>
          <p:cNvCxnSpPr>
            <a:cxnSpLocks/>
            <a:stCxn id="10" idx="7"/>
            <a:endCxn id="12" idx="3"/>
          </p:cNvCxnSpPr>
          <p:nvPr/>
        </p:nvCxnSpPr>
        <p:spPr>
          <a:xfrm flipV="1">
            <a:off x="6823612" y="4248161"/>
            <a:ext cx="781262" cy="199703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xmlns="" id="{4ADA769B-6065-45E6-A265-D0C69ED975F0}"/>
              </a:ext>
            </a:extLst>
          </p:cNvPr>
          <p:cNvCxnSpPr>
            <a:cxnSpLocks/>
            <a:stCxn id="6" idx="6"/>
            <a:endCxn id="27" idx="4"/>
          </p:cNvCxnSpPr>
          <p:nvPr/>
        </p:nvCxnSpPr>
        <p:spPr>
          <a:xfrm flipV="1">
            <a:off x="5774702" y="4269343"/>
            <a:ext cx="3780717" cy="1895641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xmlns="" id="{6954630C-B5D7-4E14-AE61-9F0249B81B44}"/>
              </a:ext>
            </a:extLst>
          </p:cNvPr>
          <p:cNvCxnSpPr>
            <a:cxnSpLocks/>
            <a:endCxn id="7" idx="0"/>
          </p:cNvCxnSpPr>
          <p:nvPr/>
        </p:nvCxnSpPr>
        <p:spPr>
          <a:xfrm>
            <a:off x="4607732" y="3941887"/>
            <a:ext cx="0" cy="34738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圖片 5">
            <a:extLst>
              <a:ext uri="{FF2B5EF4-FFF2-40B4-BE49-F238E27FC236}">
                <a16:creationId xmlns:a16="http://schemas.microsoft.com/office/drawing/2014/main" xmlns="" id="{DDC5403B-D346-4256-974B-2244FF43F0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874" y="3400569"/>
            <a:ext cx="219075" cy="44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xmlns="" id="{451E7EA7-F827-47D6-B17B-49BC970677D7}"/>
              </a:ext>
            </a:extLst>
          </p:cNvPr>
          <p:cNvCxnSpPr>
            <a:cxnSpLocks/>
            <a:stCxn id="7" idx="7"/>
            <a:endCxn id="18" idx="3"/>
          </p:cNvCxnSpPr>
          <p:nvPr/>
        </p:nvCxnSpPr>
        <p:spPr>
          <a:xfrm flipV="1">
            <a:off x="5202059" y="3847081"/>
            <a:ext cx="544697" cy="538223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橢圓 17">
            <a:extLst>
              <a:ext uri="{FF2B5EF4-FFF2-40B4-BE49-F238E27FC236}">
                <a16:creationId xmlns:a16="http://schemas.microsoft.com/office/drawing/2014/main" xmlns="" id="{E06530D9-E3C3-4056-914B-0D609EFEA375}"/>
              </a:ext>
            </a:extLst>
          </p:cNvPr>
          <p:cNvSpPr/>
          <p:nvPr/>
        </p:nvSpPr>
        <p:spPr>
          <a:xfrm>
            <a:off x="5543734" y="3287336"/>
            <a:ext cx="1386321" cy="65578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baab</a:t>
            </a:r>
            <a:endParaRPr lang="zh-TW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9" name="直線單箭頭接點 18">
            <a:extLst>
              <a:ext uri="{FF2B5EF4-FFF2-40B4-BE49-F238E27FC236}">
                <a16:creationId xmlns:a16="http://schemas.microsoft.com/office/drawing/2014/main" xmlns="" id="{22C14E93-50BD-4DA5-8AE5-3ADA45C1C3FC}"/>
              </a:ext>
            </a:extLst>
          </p:cNvPr>
          <p:cNvCxnSpPr>
            <a:cxnSpLocks/>
            <a:endCxn id="18" idx="0"/>
          </p:cNvCxnSpPr>
          <p:nvPr/>
        </p:nvCxnSpPr>
        <p:spPr>
          <a:xfrm>
            <a:off x="6236895" y="3008822"/>
            <a:ext cx="0" cy="27851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圖片 5">
            <a:extLst>
              <a:ext uri="{FF2B5EF4-FFF2-40B4-BE49-F238E27FC236}">
                <a16:creationId xmlns:a16="http://schemas.microsoft.com/office/drawing/2014/main" xmlns="" id="{DD90929D-2FBA-483A-B391-3D9FFA649C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6592" y="2486844"/>
            <a:ext cx="219075" cy="44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1" name="直線單箭頭接點 20">
            <a:extLst>
              <a:ext uri="{FF2B5EF4-FFF2-40B4-BE49-F238E27FC236}">
                <a16:creationId xmlns:a16="http://schemas.microsoft.com/office/drawing/2014/main" xmlns="" id="{FE814453-945E-49CB-8BC6-3C0A6F045DA3}"/>
              </a:ext>
            </a:extLst>
          </p:cNvPr>
          <p:cNvCxnSpPr>
            <a:cxnSpLocks/>
            <a:stCxn id="18" idx="4"/>
            <a:endCxn id="10" idx="0"/>
          </p:cNvCxnSpPr>
          <p:nvPr/>
        </p:nvCxnSpPr>
        <p:spPr>
          <a:xfrm>
            <a:off x="6236895" y="3943118"/>
            <a:ext cx="62085" cy="40870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字方塊 21">
            <a:extLst>
              <a:ext uri="{FF2B5EF4-FFF2-40B4-BE49-F238E27FC236}">
                <a16:creationId xmlns:a16="http://schemas.microsoft.com/office/drawing/2014/main" xmlns="" id="{C4A358C7-07DD-4B42-A51D-CEBC19CB25D1}"/>
              </a:ext>
            </a:extLst>
          </p:cNvPr>
          <p:cNvSpPr txBox="1"/>
          <p:nvPr/>
        </p:nvSpPr>
        <p:spPr>
          <a:xfrm>
            <a:off x="6309798" y="3883367"/>
            <a:ext cx="5911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4" name="直線單箭頭接點 23">
            <a:extLst>
              <a:ext uri="{FF2B5EF4-FFF2-40B4-BE49-F238E27FC236}">
                <a16:creationId xmlns:a16="http://schemas.microsoft.com/office/drawing/2014/main" xmlns="" id="{0A341E16-4A61-4A82-BF15-80A028F732E3}"/>
              </a:ext>
            </a:extLst>
          </p:cNvPr>
          <p:cNvCxnSpPr>
            <a:cxnSpLocks/>
            <a:endCxn id="12" idx="0"/>
          </p:cNvCxnSpPr>
          <p:nvPr/>
        </p:nvCxnSpPr>
        <p:spPr>
          <a:xfrm>
            <a:off x="7984695" y="3372052"/>
            <a:ext cx="1" cy="31636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圖片 5">
            <a:extLst>
              <a:ext uri="{FF2B5EF4-FFF2-40B4-BE49-F238E27FC236}">
                <a16:creationId xmlns:a16="http://schemas.microsoft.com/office/drawing/2014/main" xmlns="" id="{0081D99C-5599-4C24-A61D-B01F7553BE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45881" y="2838522"/>
            <a:ext cx="219075" cy="44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6" name="直線單箭頭接點 25">
            <a:extLst>
              <a:ext uri="{FF2B5EF4-FFF2-40B4-BE49-F238E27FC236}">
                <a16:creationId xmlns:a16="http://schemas.microsoft.com/office/drawing/2014/main" xmlns="" id="{1E7A1910-BE0C-4572-BF9F-D48585CF3695}"/>
              </a:ext>
            </a:extLst>
          </p:cNvPr>
          <p:cNvCxnSpPr>
            <a:cxnSpLocks/>
            <a:stCxn id="12" idx="6"/>
            <a:endCxn id="27" idx="2"/>
          </p:cNvCxnSpPr>
          <p:nvPr/>
        </p:nvCxnSpPr>
        <p:spPr>
          <a:xfrm flipV="1">
            <a:off x="8521844" y="3941452"/>
            <a:ext cx="646465" cy="74855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橢圓 26">
            <a:extLst>
              <a:ext uri="{FF2B5EF4-FFF2-40B4-BE49-F238E27FC236}">
                <a16:creationId xmlns:a16="http://schemas.microsoft.com/office/drawing/2014/main" xmlns="" id="{2F875662-F27F-4933-9846-AD013FD10FBC}"/>
              </a:ext>
            </a:extLst>
          </p:cNvPr>
          <p:cNvSpPr/>
          <p:nvPr/>
        </p:nvSpPr>
        <p:spPr>
          <a:xfrm>
            <a:off x="9168309" y="3613561"/>
            <a:ext cx="774220" cy="65578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TW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8" name="直線單箭頭接點 27">
            <a:extLst>
              <a:ext uri="{FF2B5EF4-FFF2-40B4-BE49-F238E27FC236}">
                <a16:creationId xmlns:a16="http://schemas.microsoft.com/office/drawing/2014/main" xmlns="" id="{809E2F38-E837-4507-A279-70825EE7E125}"/>
              </a:ext>
            </a:extLst>
          </p:cNvPr>
          <p:cNvCxnSpPr>
            <a:cxnSpLocks/>
          </p:cNvCxnSpPr>
          <p:nvPr/>
        </p:nvCxnSpPr>
        <p:spPr>
          <a:xfrm>
            <a:off x="9555418" y="3326269"/>
            <a:ext cx="1" cy="31636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圖片 5">
            <a:extLst>
              <a:ext uri="{FF2B5EF4-FFF2-40B4-BE49-F238E27FC236}">
                <a16:creationId xmlns:a16="http://schemas.microsoft.com/office/drawing/2014/main" xmlns="" id="{C4FE5FD8-71DC-4111-A8F6-ABC759C821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5157" y="2968885"/>
            <a:ext cx="219075" cy="44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" name="文字方塊 29">
            <a:extLst>
              <a:ext uri="{FF2B5EF4-FFF2-40B4-BE49-F238E27FC236}">
                <a16:creationId xmlns:a16="http://schemas.microsoft.com/office/drawing/2014/main" xmlns="" id="{7CEC7D53-795B-41C7-B266-C4AE09788667}"/>
              </a:ext>
            </a:extLst>
          </p:cNvPr>
          <p:cNvSpPr txBox="1"/>
          <p:nvPr/>
        </p:nvSpPr>
        <p:spPr>
          <a:xfrm>
            <a:off x="1330036" y="3613520"/>
            <a:ext cx="16810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</a:t>
            </a:r>
            <a:b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suffix link</a:t>
            </a:r>
            <a:b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 link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1" name="直線單箭頭接點 30">
            <a:extLst>
              <a:ext uri="{FF2B5EF4-FFF2-40B4-BE49-F238E27FC236}">
                <a16:creationId xmlns:a16="http://schemas.microsoft.com/office/drawing/2014/main" xmlns="" id="{361D2399-E525-4315-AD3D-1C225FF19E84}"/>
              </a:ext>
            </a:extLst>
          </p:cNvPr>
          <p:cNvCxnSpPr>
            <a:cxnSpLocks/>
          </p:cNvCxnSpPr>
          <p:nvPr/>
        </p:nvCxnSpPr>
        <p:spPr>
          <a:xfrm>
            <a:off x="706001" y="3906982"/>
            <a:ext cx="476254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單箭頭接點 31">
            <a:extLst>
              <a:ext uri="{FF2B5EF4-FFF2-40B4-BE49-F238E27FC236}">
                <a16:creationId xmlns:a16="http://schemas.microsoft.com/office/drawing/2014/main" xmlns="" id="{6A5F40C5-E889-4E3A-BB07-8025F02B6271}"/>
              </a:ext>
            </a:extLst>
          </p:cNvPr>
          <p:cNvCxnSpPr>
            <a:cxnSpLocks/>
          </p:cNvCxnSpPr>
          <p:nvPr/>
        </p:nvCxnSpPr>
        <p:spPr>
          <a:xfrm flipV="1">
            <a:off x="706001" y="4213684"/>
            <a:ext cx="476254" cy="5774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單箭頭接點 32">
            <a:extLst>
              <a:ext uri="{FF2B5EF4-FFF2-40B4-BE49-F238E27FC236}">
                <a16:creationId xmlns:a16="http://schemas.microsoft.com/office/drawing/2014/main" xmlns="" id="{4B93706A-4DC2-47BA-B852-55C0C6B072D8}"/>
              </a:ext>
            </a:extLst>
          </p:cNvPr>
          <p:cNvCxnSpPr>
            <a:cxnSpLocks/>
          </p:cNvCxnSpPr>
          <p:nvPr/>
        </p:nvCxnSpPr>
        <p:spPr>
          <a:xfrm flipV="1">
            <a:off x="721583" y="4570864"/>
            <a:ext cx="476254" cy="5774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單箭頭接點 33">
            <a:extLst>
              <a:ext uri="{FF2B5EF4-FFF2-40B4-BE49-F238E27FC236}">
                <a16:creationId xmlns:a16="http://schemas.microsoft.com/office/drawing/2014/main" xmlns="" id="{0CD209D4-3279-4827-97E4-46140BA90075}"/>
              </a:ext>
            </a:extLst>
          </p:cNvPr>
          <p:cNvCxnSpPr>
            <a:cxnSpLocks/>
            <a:stCxn id="10" idx="6"/>
            <a:endCxn id="27" idx="3"/>
          </p:cNvCxnSpPr>
          <p:nvPr/>
        </p:nvCxnSpPr>
        <p:spPr>
          <a:xfrm flipV="1">
            <a:off x="7040922" y="4173306"/>
            <a:ext cx="2240769" cy="506412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單箭頭接點 37">
            <a:extLst>
              <a:ext uri="{FF2B5EF4-FFF2-40B4-BE49-F238E27FC236}">
                <a16:creationId xmlns:a16="http://schemas.microsoft.com/office/drawing/2014/main" xmlns="" id="{B5F68B09-6C0E-4202-B39C-C7321E838EAA}"/>
              </a:ext>
            </a:extLst>
          </p:cNvPr>
          <p:cNvCxnSpPr>
            <a:cxnSpLocks/>
            <a:stCxn id="12" idx="5"/>
            <a:endCxn id="27" idx="3"/>
          </p:cNvCxnSpPr>
          <p:nvPr/>
        </p:nvCxnSpPr>
        <p:spPr>
          <a:xfrm flipV="1">
            <a:off x="8364517" y="4173306"/>
            <a:ext cx="917174" cy="74855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21742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F7809A48-B256-4587-A9F1-2A9BD44072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Comparing Different Implementations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xmlns="" id="{2A1FE7F7-6220-42D2-9AB7-57E079C8B3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xmlns="" id="{CED4B9E5-536F-485E-9342-64E154534B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" y="2716027"/>
            <a:ext cx="11353800" cy="2116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07238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7BBCF7F3-7F5E-45E3-B690-D0B3CCA1D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Palindromic length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xmlns="" id="{BC78987A-37BF-4C6F-96FB-B5E7AC54E8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7729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Ex1: S = </a:t>
            </a:r>
            <a:r>
              <a:rPr lang="en-US" altLang="zh-TW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aabaabaaba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TW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ans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2, [a, </a:t>
            </a:r>
            <a:r>
              <a:rPr lang="en-US" altLang="zh-TW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abaabaaba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b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Ex2:</a:t>
            </a:r>
            <a:r>
              <a:rPr lang="zh-TW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= </a:t>
            </a:r>
            <a:r>
              <a:rPr lang="en-US" altLang="zh-TW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aabaabab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TW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ans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2, [</a:t>
            </a:r>
            <a:r>
              <a:rPr lang="en-US" altLang="zh-TW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aabaa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49862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8F21A601-FA09-414D-8C97-BD2E03997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Naive algorithm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xmlns="" id="{B72C433D-03FC-4A99-800C-2FFAA8661D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 = </a:t>
                </a:r>
                <a:r>
                  <a:rPr lang="en-US" altLang="zh-TW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aabaabaaba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/>
                </a:r>
                <a:b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link[S] = S1 = </a:t>
                </a:r>
                <a:r>
                  <a:rPr lang="en-US" altLang="zh-TW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abaabaaba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/>
                </a:r>
                <a:b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link[S1] = S2 = </a:t>
                </a:r>
                <a:r>
                  <a:rPr lang="en-US" altLang="zh-TW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abaaba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/>
                </a:r>
                <a:b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link[S2] = S3 = aba</a:t>
                </a:r>
                <a:b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link[S3] = S4 = a</a:t>
                </a:r>
                <a:b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/>
                </a:r>
                <a:b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/>
                </a:r>
                <a:b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Time complexity: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altLang="zh-TW" i="1" baseline="3000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B72C433D-03FC-4A99-800C-2FFAA8661D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圖片 7">
            <a:extLst>
              <a:ext uri="{FF2B5EF4-FFF2-40B4-BE49-F238E27FC236}">
                <a16:creationId xmlns:a16="http://schemas.microsoft.com/office/drawing/2014/main" xmlns="" id="{47877F15-CFD4-48D7-B170-EFA1A4902D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0083" y="3041228"/>
            <a:ext cx="6063188" cy="1140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27984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8F21A601-FA09-414D-8C97-BD2E03997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Palindromic length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xmlns="" id="{B72C433D-03FC-4A99-800C-2FFAA8661D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xmlns="" id="{B5D8901C-76EC-41D9-9E38-85B24E6ACB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642" y="2406565"/>
            <a:ext cx="3861233" cy="392041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xmlns="" id="{8079E655-001A-4E4A-B9BC-9AE7FCAB2B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1642" y="3022796"/>
            <a:ext cx="1512269" cy="336824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xmlns="" id="{5E8F92A4-91C4-41C1-BFFB-E19B1157691F}"/>
              </a:ext>
            </a:extLst>
          </p:cNvPr>
          <p:cNvSpPr txBox="1"/>
          <p:nvPr/>
        </p:nvSpPr>
        <p:spPr>
          <a:xfrm>
            <a:off x="2597522" y="2933543"/>
            <a:ext cx="9043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longest suffix</a:t>
            </a:r>
            <a:r>
              <a:rPr lang="en-US" altLang="zh-TW" sz="24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palindrome u of v such that diff[u]  ≠ diff[v]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xmlns="" id="{F5DEF0B2-6379-4D08-A030-E0709AA5D321}"/>
              </a:ext>
            </a:extLst>
          </p:cNvPr>
          <p:cNvSpPr txBox="1"/>
          <p:nvPr/>
        </p:nvSpPr>
        <p:spPr>
          <a:xfrm>
            <a:off x="951642" y="4040293"/>
            <a:ext cx="939898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ex: v =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abaabaaba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diff[v] =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len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[v] –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len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[link[v]] = 9 – 6 = 3</a:t>
            </a:r>
            <a:b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seriesLink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[v] = aba</a:t>
            </a:r>
            <a:endParaRPr lang="zh-TW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xmlns="" id="{E6FFC893-572B-40B5-8AE4-4885139501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07035" y="2975861"/>
            <a:ext cx="180975" cy="390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39268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8F21A601-FA09-414D-8C97-BD2E03997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series links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xmlns="" id="{B72C433D-03FC-4A99-800C-2FFAA8661D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=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aabaabaaba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link[S] = S1 =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abaabaaba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serieslink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[S] = S3 = aba</a:t>
            </a:r>
            <a:b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link[S1] = S2 =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abaaba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link[S2] = S3 = aba</a:t>
            </a:r>
            <a:b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link[S3] = S4 = a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xmlns="" id="{B62FCC6F-803E-4A96-BBB0-3FFE1F1D32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995" y="3892550"/>
            <a:ext cx="7829550" cy="2600325"/>
          </a:xfrm>
          <a:prstGeom prst="rect">
            <a:avLst/>
          </a:prstGeom>
        </p:spPr>
      </p:pic>
      <p:sp>
        <p:nvSpPr>
          <p:cNvPr id="4" name="矩形: 圓角 3">
            <a:extLst>
              <a:ext uri="{FF2B5EF4-FFF2-40B4-BE49-F238E27FC236}">
                <a16:creationId xmlns:a16="http://schemas.microsoft.com/office/drawing/2014/main" xmlns="" id="{FDC52E74-606F-4A12-BAC6-769B08E90488}"/>
              </a:ext>
            </a:extLst>
          </p:cNvPr>
          <p:cNvSpPr/>
          <p:nvPr/>
        </p:nvSpPr>
        <p:spPr>
          <a:xfrm>
            <a:off x="657995" y="4026716"/>
            <a:ext cx="7596772" cy="1426128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xmlns="" id="{3EAE8503-C975-4CAF-BBB2-6F9F5928A10A}"/>
              </a:ext>
            </a:extLst>
          </p:cNvPr>
          <p:cNvSpPr/>
          <p:nvPr/>
        </p:nvSpPr>
        <p:spPr>
          <a:xfrm>
            <a:off x="5545123" y="5712902"/>
            <a:ext cx="1845578" cy="362125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xmlns="" id="{68205A84-AEC4-43E5-8E6D-9F54F678AF07}"/>
              </a:ext>
            </a:extLst>
          </p:cNvPr>
          <p:cNvSpPr/>
          <p:nvPr/>
        </p:nvSpPr>
        <p:spPr>
          <a:xfrm>
            <a:off x="3726110" y="5990242"/>
            <a:ext cx="1349229" cy="362125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xmlns="" id="{D8F28AC0-4ADD-4867-A6AB-B196A91CA856}"/>
                  </a:ext>
                </a:extLst>
              </p:cNvPr>
              <p:cNvSpPr txBox="1"/>
              <p:nvPr/>
            </p:nvSpPr>
            <p:spPr>
              <a:xfrm>
                <a:off x="8816290" y="4437560"/>
                <a:ext cx="320459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Time complexity: </a:t>
                </a:r>
                <a14:m>
                  <m:oMath xmlns:m="http://schemas.openxmlformats.org/officeDocument/2006/math">
                    <m:r>
                      <a:rPr lang="en-US" altLang="zh-TW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r>
                      <a:rPr lang="en-US" altLang="zh-TW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TW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altLang="zh-TW" sz="2400" i="1" baseline="300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en-US" altLang="zh-TW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D8F28AC0-4ADD-4867-A6AB-B196A91CA8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290" y="4437560"/>
                <a:ext cx="3204595" cy="461665"/>
              </a:xfrm>
              <a:prstGeom prst="rect">
                <a:avLst/>
              </a:prstGeom>
              <a:blipFill>
                <a:blip r:embed="rId3"/>
                <a:stretch>
                  <a:fillRect l="-2852" t="-11842" r="-760" b="-2763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31588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xmlns="" id="{50586B0F-5AE1-4ABD-822F-5B5C816ADB5E}"/>
              </a:ext>
            </a:extLst>
          </p:cNvPr>
          <p:cNvSpPr/>
          <p:nvPr/>
        </p:nvSpPr>
        <p:spPr>
          <a:xfrm>
            <a:off x="2966785" y="5194070"/>
            <a:ext cx="5340626" cy="70788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TW" altLang="en-US" sz="2000" b="1" dirty="0">
              <a:solidFill>
                <a:schemeClr val="tx1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xmlns="" id="{036A9647-7BAF-4007-9ACD-D06B78B92959}"/>
              </a:ext>
            </a:extLst>
          </p:cNvPr>
          <p:cNvSpPr/>
          <p:nvPr/>
        </p:nvSpPr>
        <p:spPr>
          <a:xfrm>
            <a:off x="6624385" y="5194070"/>
            <a:ext cx="2340284" cy="707888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xmlns="" id="{8F21A601-FA09-414D-8C97-BD2E039979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Constant time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getMin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function</a:t>
            </a:r>
            <a:endParaRPr lang="zh-TW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xmlns="" id="{0276C8EA-45CB-4A47-82A9-D8AE6979D6AC}"/>
              </a:ext>
            </a:extLst>
          </p:cNvPr>
          <p:cNvSpPr/>
          <p:nvPr/>
        </p:nvSpPr>
        <p:spPr>
          <a:xfrm>
            <a:off x="3624043" y="5194071"/>
            <a:ext cx="4311941" cy="707888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xmlns="" id="{3B0BD295-DC7D-4868-ADBD-2DD52C88E429}"/>
              </a:ext>
            </a:extLst>
          </p:cNvPr>
          <p:cNvSpPr txBox="1"/>
          <p:nvPr/>
        </p:nvSpPr>
        <p:spPr>
          <a:xfrm>
            <a:off x="2780935" y="5194072"/>
            <a:ext cx="701862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a  aba </a:t>
            </a:r>
            <a:r>
              <a:rPr lang="en-US" altLang="zh-TW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aba</a:t>
            </a:r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aba</a:t>
            </a:r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aba</a:t>
            </a:r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aba</a:t>
            </a:r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TW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aba</a:t>
            </a:r>
            <a:endParaRPr lang="zh-TW" altLang="en-US" sz="4000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xmlns="" id="{48CD916E-0351-4B5F-819B-FF906E4A5619}"/>
              </a:ext>
            </a:extLst>
          </p:cNvPr>
          <p:cNvSpPr/>
          <p:nvPr/>
        </p:nvSpPr>
        <p:spPr>
          <a:xfrm>
            <a:off x="2966785" y="2367168"/>
            <a:ext cx="3551461" cy="70788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TW" altLang="en-US" sz="2000" b="1" dirty="0">
              <a:solidFill>
                <a:schemeClr val="tx1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xmlns="" id="{903A6FCC-0483-41C3-A3C0-0F139E6541B2}"/>
              </a:ext>
            </a:extLst>
          </p:cNvPr>
          <p:cNvSpPr/>
          <p:nvPr/>
        </p:nvSpPr>
        <p:spPr>
          <a:xfrm>
            <a:off x="5503178" y="2367168"/>
            <a:ext cx="1015068" cy="707888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xmlns="" id="{9F361BFC-0183-4DEC-BE27-7321D2FDA5D9}"/>
              </a:ext>
            </a:extLst>
          </p:cNvPr>
          <p:cNvSpPr/>
          <p:nvPr/>
        </p:nvSpPr>
        <p:spPr>
          <a:xfrm>
            <a:off x="3624043" y="2367169"/>
            <a:ext cx="1879135" cy="707888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xmlns="" id="{70B4CBF9-A3DA-454B-B19F-F4D951F794B5}"/>
              </a:ext>
            </a:extLst>
          </p:cNvPr>
          <p:cNvSpPr txBox="1"/>
          <p:nvPr/>
        </p:nvSpPr>
        <p:spPr>
          <a:xfrm>
            <a:off x="2780935" y="2357003"/>
            <a:ext cx="39987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a  aba </a:t>
            </a:r>
            <a:r>
              <a:rPr lang="en-US" altLang="zh-TW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aba</a:t>
            </a:r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TW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aba</a:t>
            </a:r>
            <a:endParaRPr lang="zh-TW" altLang="en-US" sz="4000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xmlns="" id="{8968C449-714C-4206-9A2A-ED4E3829A3EF}"/>
              </a:ext>
            </a:extLst>
          </p:cNvPr>
          <p:cNvSpPr/>
          <p:nvPr/>
        </p:nvSpPr>
        <p:spPr>
          <a:xfrm>
            <a:off x="2966784" y="3671807"/>
            <a:ext cx="4542654" cy="70788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TW" altLang="en-US" sz="2000" b="1" dirty="0">
              <a:solidFill>
                <a:schemeClr val="tx1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xmlns="" id="{6C05222F-84E6-4CE7-8F49-CFF9EB823CB1}"/>
              </a:ext>
            </a:extLst>
          </p:cNvPr>
          <p:cNvSpPr/>
          <p:nvPr/>
        </p:nvSpPr>
        <p:spPr>
          <a:xfrm>
            <a:off x="6367243" y="3671807"/>
            <a:ext cx="1142195" cy="707888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xmlns="" id="{57944871-90EC-4AAB-8E42-97293BB83354}"/>
              </a:ext>
            </a:extLst>
          </p:cNvPr>
          <p:cNvSpPr/>
          <p:nvPr/>
        </p:nvSpPr>
        <p:spPr>
          <a:xfrm>
            <a:off x="3624042" y="3671808"/>
            <a:ext cx="2743201" cy="707888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xmlns="" id="{8741508B-E759-4C39-B23C-C85461D91226}"/>
              </a:ext>
            </a:extLst>
          </p:cNvPr>
          <p:cNvSpPr txBox="1"/>
          <p:nvPr/>
        </p:nvSpPr>
        <p:spPr>
          <a:xfrm>
            <a:off x="2780935" y="3671809"/>
            <a:ext cx="454265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a  aba </a:t>
            </a:r>
            <a:r>
              <a:rPr lang="en-US" altLang="zh-TW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aba</a:t>
            </a:r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aba</a:t>
            </a:r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TW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aba</a:t>
            </a:r>
            <a:endParaRPr lang="zh-TW" altLang="en-US" sz="4000" dirty="0"/>
          </a:p>
        </p:txBody>
      </p:sp>
      <p:pic>
        <p:nvPicPr>
          <p:cNvPr id="17" name="圖片 5">
            <a:extLst>
              <a:ext uri="{FF2B5EF4-FFF2-40B4-BE49-F238E27FC236}">
                <a16:creationId xmlns:a16="http://schemas.microsoft.com/office/drawing/2014/main" xmlns="" id="{25719725-8E28-467C-ADDA-8F4492E412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8574" y="4522557"/>
            <a:ext cx="219075" cy="44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9" name="直線接點 18">
            <a:extLst>
              <a:ext uri="{FF2B5EF4-FFF2-40B4-BE49-F238E27FC236}">
                <a16:creationId xmlns:a16="http://schemas.microsoft.com/office/drawing/2014/main" xmlns="" id="{D6CB097A-BB9E-4928-9ACA-A5DF861AFD3B}"/>
              </a:ext>
            </a:extLst>
          </p:cNvPr>
          <p:cNvCxnSpPr/>
          <p:nvPr/>
        </p:nvCxnSpPr>
        <p:spPr>
          <a:xfrm>
            <a:off x="3632431" y="2105637"/>
            <a:ext cx="0" cy="1065402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內容版面配置區 2">
            <a:extLst>
              <a:ext uri="{FF2B5EF4-FFF2-40B4-BE49-F238E27FC236}">
                <a16:creationId xmlns:a16="http://schemas.microsoft.com/office/drawing/2014/main" xmlns="" id="{E1C26D9F-E8DF-47D4-8863-03F1797361FE}"/>
              </a:ext>
            </a:extLst>
          </p:cNvPr>
          <p:cNvSpPr txBox="1">
            <a:spLocks/>
          </p:cNvSpPr>
          <p:nvPr/>
        </p:nvSpPr>
        <p:spPr>
          <a:xfrm>
            <a:off x="3440358" y="1671658"/>
            <a:ext cx="367368" cy="4238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1" name="直線接點 20">
            <a:extLst>
              <a:ext uri="{FF2B5EF4-FFF2-40B4-BE49-F238E27FC236}">
                <a16:creationId xmlns:a16="http://schemas.microsoft.com/office/drawing/2014/main" xmlns="" id="{D583B583-C6DF-428F-975C-98E6E4ACB3BB}"/>
              </a:ext>
            </a:extLst>
          </p:cNvPr>
          <p:cNvCxnSpPr/>
          <p:nvPr/>
        </p:nvCxnSpPr>
        <p:spPr>
          <a:xfrm>
            <a:off x="4506053" y="2105637"/>
            <a:ext cx="0" cy="1065402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內容版面配置區 2">
                <a:extLst>
                  <a:ext uri="{FF2B5EF4-FFF2-40B4-BE49-F238E27FC236}">
                    <a16:creationId xmlns:a16="http://schemas.microsoft.com/office/drawing/2014/main" xmlns="" id="{E2266C77-AC92-4446-BAC5-3FEB1625440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194057" y="1664521"/>
                <a:ext cx="1096915" cy="42381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14:m>
                  <m:oMath xmlns:m="http://schemas.openxmlformats.org/officeDocument/2006/math">
                    <m:r>
                      <a:rPr lang="en-US" altLang="zh-TW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lang="zh-TW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2" name="內容版面配置區 2">
                <a:extLst>
                  <a:ext uri="{FF2B5EF4-FFF2-40B4-BE49-F238E27FC236}">
                    <a16:creationId xmlns:a16="http://schemas.microsoft.com/office/drawing/2014/main" id="{E2266C77-AC92-4446-BAC5-3FEB162544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4057" y="1664521"/>
                <a:ext cx="1096915" cy="423812"/>
              </a:xfrm>
              <a:prstGeom prst="rect">
                <a:avLst/>
              </a:prstGeom>
              <a:blipFill>
                <a:blip r:embed="rId3"/>
                <a:stretch>
                  <a:fillRect l="-8333" t="-20000" b="-314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直線接點 22">
            <a:extLst>
              <a:ext uri="{FF2B5EF4-FFF2-40B4-BE49-F238E27FC236}">
                <a16:creationId xmlns:a16="http://schemas.microsoft.com/office/drawing/2014/main" xmlns="" id="{6080CDA9-8A7A-445B-A10D-881DC6776A34}"/>
              </a:ext>
            </a:extLst>
          </p:cNvPr>
          <p:cNvCxnSpPr/>
          <p:nvPr/>
        </p:nvCxnSpPr>
        <p:spPr>
          <a:xfrm>
            <a:off x="5347649" y="3545690"/>
            <a:ext cx="0" cy="1065402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內容版面配置區 2">
                <a:extLst>
                  <a:ext uri="{FF2B5EF4-FFF2-40B4-BE49-F238E27FC236}">
                    <a16:creationId xmlns:a16="http://schemas.microsoft.com/office/drawing/2014/main" xmlns="" id="{B13DD516-4F02-42F3-A03F-21974C524A6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035653" y="3104574"/>
                <a:ext cx="1096915" cy="42381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14:m>
                  <m:oMath xmlns:m="http://schemas.openxmlformats.org/officeDocument/2006/math">
                    <m:r>
                      <a:rPr lang="en-US" altLang="zh-TW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lang="zh-TW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4" name="內容版面配置區 2">
                <a:extLst>
                  <a:ext uri="{FF2B5EF4-FFF2-40B4-BE49-F238E27FC236}">
                    <a16:creationId xmlns:a16="http://schemas.microsoft.com/office/drawing/2014/main" id="{B13DD516-4F02-42F3-A03F-21974C524A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5653" y="3104574"/>
                <a:ext cx="1096915" cy="423812"/>
              </a:xfrm>
              <a:prstGeom prst="rect">
                <a:avLst/>
              </a:prstGeom>
              <a:blipFill>
                <a:blip r:embed="rId4"/>
                <a:stretch>
                  <a:fillRect l="-8333" t="-20000" b="-314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直線接點 26">
            <a:extLst>
              <a:ext uri="{FF2B5EF4-FFF2-40B4-BE49-F238E27FC236}">
                <a16:creationId xmlns:a16="http://schemas.microsoft.com/office/drawing/2014/main" xmlns="" id="{E3DC4D77-BF73-4A65-AEFA-8BF07E5E7A2F}"/>
              </a:ext>
            </a:extLst>
          </p:cNvPr>
          <p:cNvCxnSpPr/>
          <p:nvPr/>
        </p:nvCxnSpPr>
        <p:spPr>
          <a:xfrm>
            <a:off x="7001678" y="4970232"/>
            <a:ext cx="0" cy="1065402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內容版面配置區 2">
                <a:extLst>
                  <a:ext uri="{FF2B5EF4-FFF2-40B4-BE49-F238E27FC236}">
                    <a16:creationId xmlns:a16="http://schemas.microsoft.com/office/drawing/2014/main" xmlns="" id="{FC017C32-785C-4749-A94C-DA066B12E55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689682" y="4529116"/>
                <a:ext cx="1096915" cy="42381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14:m>
                  <m:oMath xmlns:m="http://schemas.openxmlformats.org/officeDocument/2006/math">
                    <m:r>
                      <a:rPr lang="en-US" altLang="zh-TW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lang="zh-TW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8" name="內容版面配置區 2">
                <a:extLst>
                  <a:ext uri="{FF2B5EF4-FFF2-40B4-BE49-F238E27FC236}">
                    <a16:creationId xmlns:a16="http://schemas.microsoft.com/office/drawing/2014/main" id="{FC017C32-785C-4749-A94C-DA066B12E5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9682" y="4529116"/>
                <a:ext cx="1096915" cy="423812"/>
              </a:xfrm>
              <a:prstGeom prst="rect">
                <a:avLst/>
              </a:prstGeom>
              <a:blipFill>
                <a:blip r:embed="rId5"/>
                <a:stretch>
                  <a:fillRect l="-8333" t="-20290" b="-33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內容版面配置區 28">
            <a:extLst>
              <a:ext uri="{FF2B5EF4-FFF2-40B4-BE49-F238E27FC236}">
                <a16:creationId xmlns:a16="http://schemas.microsoft.com/office/drawing/2014/main" xmlns="" id="{27E4A16D-39B5-46B6-A050-0DA0F646EB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8437387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25882AE7-1333-45EE-B255-33666FDFD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Constant time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getMin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function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xmlns="" id="{96E9F1A0-AF86-4E06-807B-03C23BC1F1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xmlns="" id="{4BF4A7CE-EFB5-4A3A-8C6B-6EC17CC95A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0750" y="1825625"/>
            <a:ext cx="7810500" cy="1762125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xmlns="" id="{221FBEC3-E597-489D-A4CA-066EAC5564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275" y="4001294"/>
            <a:ext cx="10077450" cy="704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70951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AC88A9AA-2273-48D5-973D-65E0363492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Joint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eertree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xmlns="" id="{E00C6611-6900-48D8-894D-F6F8C9EDDA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xmlns="" id="{A5DB08B4-FD66-47F6-A3D0-18D36C7FE9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25625"/>
            <a:ext cx="12192000" cy="3953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78244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13271</TotalTime>
  <Words>266</Words>
  <Application>Microsoft Office PowerPoint</Application>
  <PresentationFormat>寬螢幕</PresentationFormat>
  <Paragraphs>65</Paragraphs>
  <Slides>16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16</vt:i4>
      </vt:variant>
    </vt:vector>
  </HeadingPairs>
  <TitlesOfParts>
    <vt:vector size="23" baseType="lpstr">
      <vt:lpstr>新細明體</vt:lpstr>
      <vt:lpstr>Arial</vt:lpstr>
      <vt:lpstr>Calibri</vt:lpstr>
      <vt:lpstr>Calibri Light</vt:lpstr>
      <vt:lpstr>Cambria Math</vt:lpstr>
      <vt:lpstr>Times New Roman</vt:lpstr>
      <vt:lpstr>Office 佈景主題</vt:lpstr>
      <vt:lpstr>EERTREE: An Efficient Data Structure for Processing Palindromes in Strings</vt:lpstr>
      <vt:lpstr>Abstract</vt:lpstr>
      <vt:lpstr>Definition </vt:lpstr>
      <vt:lpstr>Basic version EERTREE</vt:lpstr>
      <vt:lpstr>Properties</vt:lpstr>
      <vt:lpstr>Improve by quick links</vt:lpstr>
      <vt:lpstr>Properties</vt:lpstr>
      <vt:lpstr>Improve by direct links</vt:lpstr>
      <vt:lpstr>Comparing Different Implementations</vt:lpstr>
      <vt:lpstr>Palindromic length</vt:lpstr>
      <vt:lpstr>Naive algorithm</vt:lpstr>
      <vt:lpstr>Palindromic length</vt:lpstr>
      <vt:lpstr>With series links</vt:lpstr>
      <vt:lpstr>Constant time getMin function</vt:lpstr>
      <vt:lpstr>Constant time getMin function</vt:lpstr>
      <vt:lpstr>Joint eertree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冠霖</dc:creator>
  <cp:lastModifiedBy>pplab-class</cp:lastModifiedBy>
  <cp:revision>202</cp:revision>
  <dcterms:created xsi:type="dcterms:W3CDTF">2019-02-17T13:02:40Z</dcterms:created>
  <dcterms:modified xsi:type="dcterms:W3CDTF">2019-07-02T10:19:24Z</dcterms:modified>
</cp:coreProperties>
</file>