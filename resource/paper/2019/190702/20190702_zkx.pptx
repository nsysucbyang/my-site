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7" r:id="rId2"/>
    <p:sldId id="373" r:id="rId3"/>
    <p:sldId id="258" r:id="rId4"/>
    <p:sldId id="374" r:id="rId5"/>
    <p:sldId id="313" r:id="rId6"/>
    <p:sldId id="315" r:id="rId7"/>
    <p:sldId id="316" r:id="rId8"/>
    <p:sldId id="314" r:id="rId9"/>
    <p:sldId id="317" r:id="rId10"/>
    <p:sldId id="321" r:id="rId11"/>
    <p:sldId id="323" r:id="rId12"/>
    <p:sldId id="324" r:id="rId13"/>
    <p:sldId id="325" r:id="rId14"/>
    <p:sldId id="326" r:id="rId15"/>
    <p:sldId id="329" r:id="rId16"/>
    <p:sldId id="328" r:id="rId17"/>
    <p:sldId id="331" r:id="rId18"/>
    <p:sldId id="332" r:id="rId19"/>
    <p:sldId id="334" r:id="rId20"/>
    <p:sldId id="341" r:id="rId21"/>
    <p:sldId id="335" r:id="rId22"/>
    <p:sldId id="342" r:id="rId23"/>
    <p:sldId id="343" r:id="rId24"/>
    <p:sldId id="344" r:id="rId25"/>
    <p:sldId id="345" r:id="rId26"/>
    <p:sldId id="346" r:id="rId27"/>
    <p:sldId id="347" r:id="rId28"/>
    <p:sldId id="375" r:id="rId29"/>
    <p:sldId id="355" r:id="rId30"/>
    <p:sldId id="348" r:id="rId31"/>
    <p:sldId id="351" r:id="rId32"/>
    <p:sldId id="352" r:id="rId33"/>
    <p:sldId id="362" r:id="rId34"/>
    <p:sldId id="357" r:id="rId35"/>
    <p:sldId id="369" r:id="rId36"/>
    <p:sldId id="364" r:id="rId37"/>
    <p:sldId id="358" r:id="rId38"/>
    <p:sldId id="372" r:id="rId39"/>
    <p:sldId id="370" r:id="rId40"/>
    <p:sldId id="371" r:id="rId41"/>
    <p:sldId id="361" r:id="rId4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kxshg@gmail.com" initials="z" lastIdx="1" clrIdx="0">
    <p:extLst>
      <p:ext uri="{19B8F6BF-5375-455C-9EA6-DF929625EA0E}">
        <p15:presenceInfo xmlns:p15="http://schemas.microsoft.com/office/powerpoint/2012/main" userId="9acaf71c7c2fb1e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817" autoAdjust="0"/>
    <p:restoredTop sz="92732" autoAdjust="0"/>
  </p:normalViewPr>
  <p:slideViewPr>
    <p:cSldViewPr snapToGrid="0">
      <p:cViewPr varScale="1">
        <p:scale>
          <a:sx n="106" d="100"/>
          <a:sy n="106" d="100"/>
        </p:scale>
        <p:origin x="22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E1CC90-5860-4773-94E4-A7C5C8AC2E96}" type="datetimeFigureOut">
              <a:rPr lang="zh-CN" altLang="en-US" smtClean="0"/>
              <a:t>2019/7/2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B0889F-DB18-4D0A-BA0B-9C49CA35EF45}" type="slidenum">
              <a:rPr lang="zh-CN" altLang="en-US" smtClean="0"/>
              <a:t>‹#›</a:t>
            </a:fld>
            <a:endParaRPr lang="zh-CN" altLang="en-US"/>
          </a:p>
        </p:txBody>
      </p:sp>
    </p:spTree>
    <p:extLst>
      <p:ext uri="{BB962C8B-B14F-4D97-AF65-F5344CB8AC3E}">
        <p14:creationId xmlns:p14="http://schemas.microsoft.com/office/powerpoint/2010/main" val="3436611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letpub.com.cn/index.php?page=journalapp&amp;view=detail&amp;journalid=3567"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zh.wikipedia.org/zh-tw/%E7%9B%A7%E7%89%B9%E8%8F%B2%C2%B7%E6%BE%A4%E5%BE%B7"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ltLang="zh-CN" dirty="0">
                <a:hlinkClick r:id="rId3"/>
              </a:rPr>
              <a:t>https://www.letpub.com.cn/index.php?page=journalapp&amp;view=detail&amp;journalid=3567</a:t>
            </a:r>
            <a:endParaRPr lang="en-US" altLang="zh-CN" dirty="0"/>
          </a:p>
          <a:p>
            <a:pPr marL="0" lvl="0" indent="0" algn="l" rtl="0">
              <a:spcBef>
                <a:spcPts val="0"/>
              </a:spcBef>
              <a:spcAft>
                <a:spcPts val="0"/>
              </a:spcAft>
              <a:buNone/>
            </a:pPr>
            <a:r>
              <a:rPr lang="en-US" altLang="zh-CN" dirty="0">
                <a:hlinkClick r:id="rId4"/>
              </a:rPr>
              <a:t>https://zh.wikipedia.org/zh-tw/%E7%9B%A7%E7%89%B9%E8%8F%B2%C2%B7%E6%BE%A4%E5%BE%B7</a:t>
            </a:r>
            <a:endParaRPr lang="en-US" dirty="0"/>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14657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1965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1393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15950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9197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95799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5149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34709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62084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6165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63340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93935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77815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42239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10508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55496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9911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65823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36490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932770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71488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05086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00336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06520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44953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714601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77563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536632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80976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7672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59719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31373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08347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3123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0708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45662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000064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26160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20866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2019/7/2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051827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2019/7/2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598653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2019/7/2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12184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2019/7/2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05825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2019/7/2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8117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2019/7/2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4406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2019/7/2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523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2019/7/2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94758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2019/7/2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77805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2019/7/2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188717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2019/7/2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025501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2019/7/2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003094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3"/>
          <p:cNvSpPr txBox="1">
            <a:spLocks noGrp="1"/>
          </p:cNvSpPr>
          <p:nvPr>
            <p:ph type="ctrTitle"/>
          </p:nvPr>
        </p:nvSpPr>
        <p:spPr>
          <a:xfrm>
            <a:off x="856855" y="584439"/>
            <a:ext cx="10477020" cy="1039495"/>
          </a:xfrm>
          <a:prstGeom prst="rect">
            <a:avLst/>
          </a:prstGeom>
          <a:noFill/>
          <a:ln>
            <a:noFill/>
          </a:ln>
        </p:spPr>
        <p:txBody>
          <a:bodyPr spcFirstLastPara="1" wrap="square" lIns="91425" tIns="45700" rIns="91425" bIns="45700" anchor="b" anchorCtr="0">
            <a:noAutofit/>
          </a:bodyPr>
          <a:lstStyle/>
          <a:p>
            <a:pPr lvl="0">
              <a:buSzPts val="3600"/>
            </a:pPr>
            <a:r>
              <a:rPr lang="en-US" sz="3600" dirty="0">
                <a:latin typeface="Calibri" panose="020F0502020204030204" charset="0"/>
                <a:cs typeface="Calibri" panose="020F0502020204030204" charset="0"/>
              </a:rPr>
              <a:t>Is there a need for fuzzy logic?</a:t>
            </a:r>
            <a:br>
              <a:rPr lang="en-US" sz="3600" dirty="0">
                <a:latin typeface="Calibri" panose="020F0502020204030204" charset="0"/>
                <a:cs typeface="Calibri" panose="020F0502020204030204" charset="0"/>
              </a:rPr>
            </a:br>
            <a:r>
              <a:rPr lang="en-US" altLang="zh-CN" sz="2800" dirty="0">
                <a:latin typeface="Bell MT" panose="02020503060305020303" pitchFamily="18" charset="0"/>
                <a:cs typeface="Calibri" panose="020F0502020204030204" charset="0"/>
              </a:rPr>
              <a:t>A</a:t>
            </a:r>
            <a:r>
              <a:rPr lang="en-US" sz="2800" dirty="0">
                <a:latin typeface="Bell MT" panose="02020503060305020303" pitchFamily="18" charset="0"/>
                <a:cs typeface="Calibri" panose="020F0502020204030204" charset="0"/>
              </a:rPr>
              <a:t> nontraditional view of fuzzy logic</a:t>
            </a:r>
            <a:endParaRPr lang="en-US" sz="3600" dirty="0">
              <a:latin typeface="Bell MT" panose="02020503060305020303" pitchFamily="18" charset="0"/>
              <a:cs typeface="Calibri" panose="020F0502020204030204" charset="0"/>
            </a:endParaRPr>
          </a:p>
        </p:txBody>
      </p:sp>
      <p:sp>
        <p:nvSpPr>
          <p:cNvPr id="90" name="Google Shape;90;p13"/>
          <p:cNvSpPr txBox="1">
            <a:spLocks noGrp="1"/>
          </p:cNvSpPr>
          <p:nvPr>
            <p:ph type="subTitle" idx="1"/>
          </p:nvPr>
        </p:nvSpPr>
        <p:spPr>
          <a:xfrm>
            <a:off x="1145540" y="2339975"/>
            <a:ext cx="9899650" cy="1039495"/>
          </a:xfrm>
          <a:prstGeom prst="rect">
            <a:avLst/>
          </a:prstGeom>
          <a:noFill/>
          <a:ln>
            <a:noFill/>
          </a:ln>
        </p:spPr>
        <p:txBody>
          <a:bodyPr spcFirstLastPara="1" wrap="square" lIns="91425" tIns="45700" rIns="91425" bIns="45700" anchor="t" anchorCtr="0">
            <a:noAutofit/>
          </a:bodyPr>
          <a:lstStyle/>
          <a:p>
            <a:pPr lvl="0">
              <a:spcBef>
                <a:spcPts val="0"/>
              </a:spcBef>
              <a:buSzPts val="2800"/>
            </a:pPr>
            <a:r>
              <a:rPr lang="es-ES" altLang="zh-CN" dirty="0"/>
              <a:t>Lotfi A. Zadeh</a:t>
            </a:r>
            <a:endParaRPr sz="2600" dirty="0"/>
          </a:p>
        </p:txBody>
      </p:sp>
      <p:sp>
        <p:nvSpPr>
          <p:cNvPr id="91" name="Google Shape;91;p13"/>
          <p:cNvSpPr txBox="1">
            <a:spLocks noGrp="1"/>
          </p:cNvSpPr>
          <p:nvPr>
            <p:ph type="sldNum" idx="12"/>
          </p:nvPr>
        </p:nvSpPr>
        <p:spPr>
          <a:xfrm>
            <a:off x="8354568" y="6485003"/>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lang="en-US"/>
          </a:p>
        </p:txBody>
      </p:sp>
      <p:sp>
        <p:nvSpPr>
          <p:cNvPr id="93" name="Google Shape;93;p13"/>
          <p:cNvSpPr txBox="1"/>
          <p:nvPr/>
        </p:nvSpPr>
        <p:spPr>
          <a:xfrm>
            <a:off x="7799728" y="5585093"/>
            <a:ext cx="3852879" cy="1090914"/>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800"/>
              <a:buFont typeface="Arial" panose="020B0604020202020204"/>
              <a:buNone/>
            </a:pPr>
            <a:r>
              <a:rPr lang="en-US" sz="24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rPr>
              <a:t>Presenter: </a:t>
            </a:r>
            <a:r>
              <a:rPr lang="en-US" sz="2400" b="0" i="0" u="none" strike="noStrike" cap="none" dirty="0" err="1">
                <a:solidFill>
                  <a:schemeClr val="dk1"/>
                </a:solidFill>
                <a:latin typeface="Calibri" panose="020F0502020204030204" charset="0"/>
                <a:ea typeface="Questrial" panose="02000000000000000000"/>
                <a:cs typeface="Calibri" panose="020F0502020204030204" charset="0"/>
                <a:sym typeface="Questrial" panose="02000000000000000000"/>
              </a:rPr>
              <a:t>KeXin</a:t>
            </a:r>
            <a:r>
              <a:rPr lang="en-US" sz="24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rPr>
              <a:t> Zhu</a:t>
            </a:r>
            <a:endParaRPr sz="24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endParaRPr>
          </a:p>
          <a:p>
            <a:pPr marL="0" marR="0" lvl="0" indent="0" algn="ctr" rtl="0">
              <a:lnSpc>
                <a:spcPct val="90000"/>
              </a:lnSpc>
              <a:spcBef>
                <a:spcPts val="1000"/>
              </a:spcBef>
              <a:spcAft>
                <a:spcPts val="0"/>
              </a:spcAft>
              <a:buClr>
                <a:schemeClr val="dk1"/>
              </a:buClr>
              <a:buSzPts val="2800"/>
              <a:buFont typeface="Arial" panose="020B0604020202020204"/>
              <a:buNone/>
            </a:pPr>
            <a:r>
              <a:rPr lang="en-US" sz="24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rPr>
              <a:t>Date: 2019/07/02</a:t>
            </a:r>
            <a:endParaRPr sz="24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endParaRPr>
          </a:p>
        </p:txBody>
      </p:sp>
      <p:pic>
        <p:nvPicPr>
          <p:cNvPr id="1030" name="Picture 6" descr="âZadehâçå¾çæç´¢ç»æ">
            <a:extLst>
              <a:ext uri="{FF2B5EF4-FFF2-40B4-BE49-F238E27FC236}">
                <a16:creationId xmlns:a16="http://schemas.microsoft.com/office/drawing/2014/main" id="{3437DA03-DAF2-4F56-B0CB-0762CBFB39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5989" y="2965718"/>
            <a:ext cx="1743075" cy="2619375"/>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a:extLst>
              <a:ext uri="{FF2B5EF4-FFF2-40B4-BE49-F238E27FC236}">
                <a16:creationId xmlns:a16="http://schemas.microsoft.com/office/drawing/2014/main" id="{679B5121-2318-42C9-A792-1FBDF058CDF5}"/>
              </a:ext>
            </a:extLst>
          </p:cNvPr>
          <p:cNvSpPr/>
          <p:nvPr/>
        </p:nvSpPr>
        <p:spPr>
          <a:xfrm>
            <a:off x="3771116" y="1895517"/>
            <a:ext cx="4648498" cy="369332"/>
          </a:xfrm>
          <a:prstGeom prst="rect">
            <a:avLst/>
          </a:prstGeom>
        </p:spPr>
        <p:txBody>
          <a:bodyPr wrap="square">
            <a:spAutoFit/>
          </a:bodyPr>
          <a:lstStyle/>
          <a:p>
            <a:r>
              <a:rPr lang="en-US" altLang="zh-CN" u="sng" dirty="0">
                <a:latin typeface="Calibri" panose="020F0502020204030204" charset="0"/>
                <a:cs typeface="Calibri" panose="020F0502020204030204" charset="0"/>
              </a:rPr>
              <a:t>Information sciences</a:t>
            </a:r>
            <a:r>
              <a:rPr lang="en-US" altLang="zh-CN" dirty="0">
                <a:latin typeface="Calibri" panose="020F0502020204030204" charset="0"/>
                <a:cs typeface="Calibri" panose="020F0502020204030204" charset="0"/>
              </a:rPr>
              <a:t> </a:t>
            </a:r>
            <a:r>
              <a:rPr lang="en-US" altLang="zh-CN" b="1" dirty="0">
                <a:latin typeface="Calibri" panose="020F0502020204030204" charset="0"/>
                <a:cs typeface="Calibri" panose="020F0502020204030204" charset="0"/>
              </a:rPr>
              <a:t>178</a:t>
            </a:r>
            <a:r>
              <a:rPr lang="en-US" altLang="zh-CN" dirty="0">
                <a:latin typeface="Calibri" panose="020F0502020204030204" charset="0"/>
                <a:cs typeface="Calibri" panose="020F0502020204030204" charset="0"/>
              </a:rPr>
              <a:t>(13): 2751-2779.2008.</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dirty="0"/>
              <a:t>Abstract (1/3)</a:t>
            </a:r>
          </a:p>
        </p:txBody>
      </p:sp>
      <p:sp>
        <p:nvSpPr>
          <p:cNvPr id="99" name="Google Shape;99;p14"/>
          <p:cNvSpPr txBox="1">
            <a:spLocks noGrp="1"/>
          </p:cNvSpPr>
          <p:nvPr>
            <p:ph type="body" idx="1"/>
          </p:nvPr>
        </p:nvSpPr>
        <p:spPr>
          <a:xfrm>
            <a:off x="838200" y="1568950"/>
            <a:ext cx="10109886" cy="4446839"/>
          </a:xfrm>
          <a:prstGeom prst="rect">
            <a:avLst/>
          </a:prstGeom>
          <a:noFill/>
          <a:ln>
            <a:noFill/>
          </a:ln>
        </p:spPr>
        <p:txBody>
          <a:bodyPr spcFirstLastPara="1" wrap="square" lIns="91425" tIns="45700" rIns="91425" bIns="45700" anchor="t" anchorCtr="0">
            <a:noAutofit/>
          </a:bodyPr>
          <a:lstStyle/>
          <a:p>
            <a:pPr marL="0" lvl="0" indent="0">
              <a:spcBef>
                <a:spcPts val="0"/>
              </a:spcBef>
              <a:buSzPts val="2800"/>
              <a:buNone/>
            </a:pPr>
            <a:r>
              <a:rPr lang="en-US" dirty="0"/>
              <a:t>‘‘Is there a need for fuzzy logic?” is an issue which is associated with a long history of spirited discussions and debate. There are many misconceptions about fuzzy logic. Fuzzy logic is not fuzzy. Basically, fuzzy logic is a precise logic of imprecision and approximate reasoning. More specifically, fuzzy logic may be viewed as an attempt at formalization/mechanization of two remarkable human capabilities. First, the capability to converse, reason and make rational decisions in an environment of imprecision, uncertainty, incompleteness of information, conflicting information, partiality of truth and partiality of possibility – in short, in an environment of imperfect information. </a:t>
            </a:r>
          </a:p>
        </p:txBody>
      </p:sp>
      <p:sp>
        <p:nvSpPr>
          <p:cNvPr id="100" name="Google Shape;100;p14"/>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dirty="0"/>
              <a:t>Abstract (2/3)</a:t>
            </a:r>
          </a:p>
        </p:txBody>
      </p:sp>
      <p:sp>
        <p:nvSpPr>
          <p:cNvPr id="99" name="Google Shape;99;p14"/>
          <p:cNvSpPr txBox="1">
            <a:spLocks noGrp="1"/>
          </p:cNvSpPr>
          <p:nvPr>
            <p:ph type="body" idx="1"/>
          </p:nvPr>
        </p:nvSpPr>
        <p:spPr>
          <a:xfrm>
            <a:off x="838200" y="1568950"/>
            <a:ext cx="10109886" cy="4446839"/>
          </a:xfrm>
          <a:prstGeom prst="rect">
            <a:avLst/>
          </a:prstGeom>
          <a:noFill/>
          <a:ln>
            <a:noFill/>
          </a:ln>
        </p:spPr>
        <p:txBody>
          <a:bodyPr spcFirstLastPara="1" wrap="square" lIns="91425" tIns="45700" rIns="91425" bIns="45700" anchor="t" anchorCtr="0">
            <a:noAutofit/>
          </a:bodyPr>
          <a:lstStyle/>
          <a:p>
            <a:pPr marL="0" lvl="0" indent="0">
              <a:spcBef>
                <a:spcPts val="0"/>
              </a:spcBef>
              <a:buSzPts val="2800"/>
              <a:buNone/>
            </a:pPr>
            <a:r>
              <a:rPr lang="en-US" dirty="0"/>
              <a:t>And second, the capability to perform a wide variety of physical and mental tasks without any measurements and any computations [L.A. Zadeh, From computing with numbers to computing with words – from manipulation of measurements to manipulation of perceptions, IEEE Transactions on Circuits and Systems 45 (1999) 105–119; L.A. Zadeh, A new direction in AI – toward a computational</a:t>
            </a:r>
          </a:p>
          <a:p>
            <a:pPr marL="0" lvl="0" indent="0">
              <a:spcBef>
                <a:spcPts val="0"/>
              </a:spcBef>
              <a:buSzPts val="2800"/>
              <a:buNone/>
            </a:pPr>
            <a:r>
              <a:rPr lang="en-US" dirty="0"/>
              <a:t>theory of perceptions, AI Magazine 22 (1) (2001) 73–84]. In fact, one of the principal contributions of fuzzy logic – a contribution which is widely unrecognized – is its high power of precisiation.</a:t>
            </a:r>
          </a:p>
        </p:txBody>
      </p:sp>
      <p:sp>
        <p:nvSpPr>
          <p:cNvPr id="100" name="Google Shape;100;p14"/>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lang="en-US"/>
          </a:p>
        </p:txBody>
      </p:sp>
    </p:spTree>
    <p:extLst>
      <p:ext uri="{BB962C8B-B14F-4D97-AF65-F5344CB8AC3E}">
        <p14:creationId xmlns:p14="http://schemas.microsoft.com/office/powerpoint/2010/main" val="1268622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dirty="0"/>
              <a:t>Abstract (3/3)</a:t>
            </a:r>
          </a:p>
        </p:txBody>
      </p:sp>
      <p:sp>
        <p:nvSpPr>
          <p:cNvPr id="99" name="Google Shape;99;p14"/>
          <p:cNvSpPr txBox="1">
            <a:spLocks noGrp="1"/>
          </p:cNvSpPr>
          <p:nvPr>
            <p:ph type="body" idx="1"/>
          </p:nvPr>
        </p:nvSpPr>
        <p:spPr>
          <a:xfrm>
            <a:off x="838200" y="1568950"/>
            <a:ext cx="10109886" cy="4446839"/>
          </a:xfrm>
          <a:prstGeom prst="rect">
            <a:avLst/>
          </a:prstGeom>
          <a:noFill/>
          <a:ln>
            <a:noFill/>
          </a:ln>
        </p:spPr>
        <p:txBody>
          <a:bodyPr spcFirstLastPara="1" wrap="square" lIns="91425" tIns="45700" rIns="91425" bIns="45700" anchor="t" anchorCtr="0">
            <a:noAutofit/>
          </a:bodyPr>
          <a:lstStyle/>
          <a:p>
            <a:pPr marL="0" lvl="0" indent="0">
              <a:spcBef>
                <a:spcPts val="0"/>
              </a:spcBef>
              <a:buSzPts val="2800"/>
              <a:buNone/>
            </a:pPr>
            <a:r>
              <a:rPr lang="en-US" dirty="0"/>
              <a:t>Fuzzy logic is much more than a logical system. It has many facets. The principal facets are: logical, fuzzy-set-theoretic, epistemic and relational. Most of the practical applications of fuzzy logic are associated with its relational facet.</a:t>
            </a:r>
          </a:p>
          <a:p>
            <a:pPr marL="0" lvl="0" indent="0">
              <a:spcBef>
                <a:spcPts val="0"/>
              </a:spcBef>
              <a:buSzPts val="2800"/>
              <a:buNone/>
            </a:pPr>
            <a:r>
              <a:rPr lang="en-US" dirty="0"/>
              <a:t>In this paper, fuzzy logic is viewed in a nonstandard perspective. In this perspective, the cornerstones of fuzzy logic and its principal distinguishing features – are: graduation, granulation, precisiation and the concept of a generalized constraint.</a:t>
            </a:r>
          </a:p>
        </p:txBody>
      </p:sp>
      <p:sp>
        <p:nvSpPr>
          <p:cNvPr id="100" name="Google Shape;100;p14"/>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lang="en-US"/>
          </a:p>
        </p:txBody>
      </p:sp>
    </p:spTree>
    <p:extLst>
      <p:ext uri="{BB962C8B-B14F-4D97-AF65-F5344CB8AC3E}">
        <p14:creationId xmlns:p14="http://schemas.microsoft.com/office/powerpoint/2010/main" val="2743611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79774"/>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sz="4000" dirty="0"/>
              <a:t>Introduction - </a:t>
            </a:r>
            <a:r>
              <a:rPr lang="en-US" altLang="zh-CN" sz="2800" dirty="0"/>
              <a:t>Spirited discussion and debate from 1965</a:t>
            </a:r>
            <a:endParaRPr lang="en-US" sz="4000"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lang="en-US" dirty="0"/>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2371445" y="1454803"/>
            <a:ext cx="7706536" cy="923104"/>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ts val="2800"/>
              <a:buNone/>
            </a:pPr>
            <a:r>
              <a:rPr lang="en-US" altLang="zh-CN" sz="1600" dirty="0"/>
              <a:t>“‘‘Fuzzification” is a kind of scientific permissiveness; it tends to result in socially appealing slogans unaccompanied by the discipline of hard scientific work and patient observation.”</a:t>
            </a:r>
          </a:p>
          <a:p>
            <a:pPr marL="0" indent="0">
              <a:spcBef>
                <a:spcPts val="0"/>
              </a:spcBef>
              <a:buSzPts val="2800"/>
              <a:buNone/>
            </a:pPr>
            <a:r>
              <a:rPr lang="en-US" altLang="zh-TW" sz="1400" dirty="0">
                <a:latin typeface="楷体" panose="02010609060101010101" pitchFamily="49" charset="-122"/>
                <a:ea typeface="楷体" panose="02010609060101010101" pitchFamily="49" charset="-122"/>
              </a:rPr>
              <a:t>    </a:t>
            </a:r>
            <a:r>
              <a:rPr lang="zh-CN" altLang="en-US" sz="1400" dirty="0">
                <a:latin typeface="楷体" panose="02010609060101010101" pitchFamily="49" charset="-122"/>
                <a:ea typeface="楷体" panose="02010609060101010101" pitchFamily="49" charset="-122"/>
              </a:rPr>
              <a:t>“</a:t>
            </a:r>
            <a:r>
              <a:rPr lang="zh-TW" altLang="en-US" sz="1400" dirty="0">
                <a:latin typeface="楷体" panose="02010609060101010101" pitchFamily="49" charset="-122"/>
                <a:ea typeface="楷体" panose="02010609060101010101" pitchFamily="49" charset="-122"/>
              </a:rPr>
              <a:t>模糊化</a:t>
            </a:r>
            <a:r>
              <a:rPr lang="zh-CN" altLang="en-US" sz="1400" dirty="0">
                <a:latin typeface="楷体" panose="02010609060101010101" pitchFamily="49" charset="-122"/>
                <a:ea typeface="楷体" panose="02010609060101010101" pitchFamily="49" charset="-122"/>
              </a:rPr>
              <a:t>”</a:t>
            </a:r>
            <a:r>
              <a:rPr lang="zh-TW" altLang="en-US" sz="1400" dirty="0">
                <a:latin typeface="楷体" panose="02010609060101010101" pitchFamily="49" charset="-122"/>
                <a:ea typeface="楷体" panose="02010609060101010101" pitchFamily="49" charset="-122"/>
              </a:rPr>
              <a:t>是一種科學的放縱</a:t>
            </a:r>
            <a:r>
              <a:rPr lang="en-US" altLang="zh-TW" sz="1400" dirty="0">
                <a:latin typeface="楷体" panose="02010609060101010101" pitchFamily="49" charset="-122"/>
                <a:ea typeface="楷体" panose="02010609060101010101" pitchFamily="49" charset="-122"/>
              </a:rPr>
              <a:t>; </a:t>
            </a:r>
            <a:r>
              <a:rPr lang="zh-TW" altLang="en-US" sz="1400" dirty="0">
                <a:latin typeface="楷体" panose="02010609060101010101" pitchFamily="49" charset="-122"/>
                <a:ea typeface="楷体" panose="02010609060101010101" pitchFamily="49" charset="-122"/>
              </a:rPr>
              <a:t>它往往會產生具有社會吸引力的口號，而不會伴隨著艱苦的科學工作和耐心的觀察</a:t>
            </a:r>
            <a:r>
              <a:rPr lang="en-US" altLang="zh-TW" sz="1600" dirty="0"/>
              <a:t>.</a:t>
            </a:r>
            <a:endParaRPr lang="en-US" altLang="zh-CN" sz="1600" dirty="0"/>
          </a:p>
        </p:txBody>
      </p:sp>
      <p:grpSp>
        <p:nvGrpSpPr>
          <p:cNvPr id="3" name="组合 2">
            <a:extLst>
              <a:ext uri="{FF2B5EF4-FFF2-40B4-BE49-F238E27FC236}">
                <a16:creationId xmlns:a16="http://schemas.microsoft.com/office/drawing/2014/main" id="{98716625-D799-47F7-A699-C2AECF89688C}"/>
              </a:ext>
            </a:extLst>
          </p:cNvPr>
          <p:cNvGrpSpPr/>
          <p:nvPr/>
        </p:nvGrpSpPr>
        <p:grpSpPr>
          <a:xfrm>
            <a:off x="838200" y="1286694"/>
            <a:ext cx="2295617" cy="1261197"/>
            <a:chOff x="660646" y="1299447"/>
            <a:chExt cx="3397188" cy="1972912"/>
          </a:xfrm>
        </p:grpSpPr>
        <p:pic>
          <p:nvPicPr>
            <p:cNvPr id="2052" name="Picture 4" descr="âRudolf Kalmanâçå¾çæç´¢ç»æ">
              <a:extLst>
                <a:ext uri="{FF2B5EF4-FFF2-40B4-BE49-F238E27FC236}">
                  <a16:creationId xmlns:a16="http://schemas.microsoft.com/office/drawing/2014/main" id="{D93584C3-417F-4ADB-988C-460689FD0D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668" y="1299447"/>
              <a:ext cx="2126942" cy="1511247"/>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098753D6-0842-4218-B0F5-A19F7D923418}"/>
                </a:ext>
              </a:extLst>
            </p:cNvPr>
            <p:cNvSpPr/>
            <p:nvPr/>
          </p:nvSpPr>
          <p:spPr>
            <a:xfrm>
              <a:off x="660646" y="2810694"/>
              <a:ext cx="3397188" cy="461665"/>
            </a:xfrm>
            <a:prstGeom prst="rect">
              <a:avLst/>
            </a:prstGeom>
          </p:spPr>
          <p:txBody>
            <a:bodyPr wrap="square">
              <a:spAutoFit/>
            </a:bodyPr>
            <a:lstStyle/>
            <a:p>
              <a:pPr>
                <a:buSzPts val="2800"/>
              </a:pPr>
              <a:r>
                <a:rPr lang="en-US" altLang="zh-CN" sz="1200" dirty="0"/>
                <a:t>Kálmán Rudolf Emil.</a:t>
              </a:r>
            </a:p>
            <a:p>
              <a:pPr>
                <a:buSzPts val="2800"/>
              </a:pPr>
              <a:r>
                <a:rPr lang="en-US" altLang="zh-CN" sz="1200" dirty="0"/>
                <a:t>Development of the Kalman filter.</a:t>
              </a:r>
            </a:p>
          </p:txBody>
        </p:sp>
      </p:grpSp>
      <p:grpSp>
        <p:nvGrpSpPr>
          <p:cNvPr id="5" name="组合 4">
            <a:extLst>
              <a:ext uri="{FF2B5EF4-FFF2-40B4-BE49-F238E27FC236}">
                <a16:creationId xmlns:a16="http://schemas.microsoft.com/office/drawing/2014/main" id="{B2D9CF00-739D-4B78-8CB0-AB8D559E4E2E}"/>
              </a:ext>
            </a:extLst>
          </p:cNvPr>
          <p:cNvGrpSpPr/>
          <p:nvPr/>
        </p:nvGrpSpPr>
        <p:grpSpPr>
          <a:xfrm>
            <a:off x="9287400" y="2547891"/>
            <a:ext cx="2104872" cy="1756910"/>
            <a:chOff x="9287400" y="2547891"/>
            <a:chExt cx="2104872" cy="1756910"/>
          </a:xfrm>
        </p:grpSpPr>
        <p:pic>
          <p:nvPicPr>
            <p:cNvPr id="2054" name="Picture 6" descr="âWilliam Kahanâçå¾çæç´¢ç»æ">
              <a:extLst>
                <a:ext uri="{FF2B5EF4-FFF2-40B4-BE49-F238E27FC236}">
                  <a16:creationId xmlns:a16="http://schemas.microsoft.com/office/drawing/2014/main" id="{F1479033-B753-403E-B9CF-B02E93CF4B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11513" y="2547891"/>
              <a:ext cx="741373" cy="1088254"/>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a:extLst>
                <a:ext uri="{FF2B5EF4-FFF2-40B4-BE49-F238E27FC236}">
                  <a16:creationId xmlns:a16="http://schemas.microsoft.com/office/drawing/2014/main" id="{125C71BB-B4ED-40D1-834C-A2019C9B9F96}"/>
                </a:ext>
              </a:extLst>
            </p:cNvPr>
            <p:cNvSpPr/>
            <p:nvPr/>
          </p:nvSpPr>
          <p:spPr>
            <a:xfrm>
              <a:off x="9287400" y="3658470"/>
              <a:ext cx="2104872" cy="646331"/>
            </a:xfrm>
            <a:prstGeom prst="rect">
              <a:avLst/>
            </a:prstGeom>
          </p:spPr>
          <p:txBody>
            <a:bodyPr wrap="none">
              <a:spAutoFit/>
            </a:bodyPr>
            <a:lstStyle/>
            <a:p>
              <a:r>
                <a:rPr lang="en-US" altLang="zh-CN" sz="1200" dirty="0"/>
                <a:t>William Kahan.</a:t>
              </a:r>
            </a:p>
            <a:p>
              <a:r>
                <a:rPr lang="en-US" altLang="zh-CN" sz="1200" dirty="0"/>
                <a:t>Turing Award in 1989.</a:t>
              </a:r>
            </a:p>
            <a:p>
              <a:r>
                <a:rPr lang="en-US" altLang="zh-CN" sz="1200" dirty="0"/>
                <a:t>"The Father of Floating Point" .</a:t>
              </a:r>
              <a:endParaRPr lang="zh-CN" altLang="en-US" sz="1200" dirty="0"/>
            </a:p>
          </p:txBody>
        </p:sp>
      </p:grpSp>
      <p:sp>
        <p:nvSpPr>
          <p:cNvPr id="13" name="Google Shape;106;p15">
            <a:extLst>
              <a:ext uri="{FF2B5EF4-FFF2-40B4-BE49-F238E27FC236}">
                <a16:creationId xmlns:a16="http://schemas.microsoft.com/office/drawing/2014/main" id="{414CEA98-F061-4496-8442-29349E607A6B}"/>
              </a:ext>
            </a:extLst>
          </p:cNvPr>
          <p:cNvSpPr txBox="1">
            <a:spLocks/>
          </p:cNvSpPr>
          <p:nvPr/>
        </p:nvSpPr>
        <p:spPr>
          <a:xfrm>
            <a:off x="2275663" y="2756079"/>
            <a:ext cx="7335850" cy="934365"/>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ts val="2800"/>
              <a:buNone/>
            </a:pPr>
            <a:r>
              <a:rPr lang="en-US" altLang="zh-CN" sz="1600" dirty="0"/>
              <a:t>‘‘Fuzzy theory is wrong, wrong, and pernicious.” ” The danger of fuzzy theory is that it will encourage the sort of imprecise thinking that has brought us so much trouble.”</a:t>
            </a:r>
          </a:p>
          <a:p>
            <a:pPr marL="0" indent="0">
              <a:spcBef>
                <a:spcPts val="0"/>
              </a:spcBef>
              <a:buSzPts val="2800"/>
              <a:buNone/>
            </a:pPr>
            <a:r>
              <a:rPr lang="zh-TW" altLang="en-US" sz="1400" dirty="0">
                <a:latin typeface="楷体" panose="02010609060101010101" pitchFamily="49" charset="-122"/>
                <a:ea typeface="楷体" panose="02010609060101010101" pitchFamily="49" charset="-122"/>
              </a:rPr>
              <a:t>“模糊理論是錯誤的，錯誤的，有害的。“模糊理論的危險在於它會鼓勵那種給我們帶來太多麻煩的不精確的思維。”</a:t>
            </a:r>
            <a:endParaRPr lang="en-US" altLang="zh-CN" sz="1400" dirty="0">
              <a:latin typeface="楷体" panose="02010609060101010101" pitchFamily="49" charset="-122"/>
              <a:ea typeface="楷体" panose="02010609060101010101" pitchFamily="49" charset="-122"/>
            </a:endParaRPr>
          </a:p>
        </p:txBody>
      </p:sp>
      <p:grpSp>
        <p:nvGrpSpPr>
          <p:cNvPr id="10" name="组合 9">
            <a:extLst>
              <a:ext uri="{FF2B5EF4-FFF2-40B4-BE49-F238E27FC236}">
                <a16:creationId xmlns:a16="http://schemas.microsoft.com/office/drawing/2014/main" id="{38388755-B10C-48DE-B347-7ECCEA1AC006}"/>
              </a:ext>
            </a:extLst>
          </p:cNvPr>
          <p:cNvGrpSpPr/>
          <p:nvPr/>
        </p:nvGrpSpPr>
        <p:grpSpPr>
          <a:xfrm>
            <a:off x="838200" y="3864120"/>
            <a:ext cx="8025848" cy="1418539"/>
            <a:chOff x="838200" y="3529313"/>
            <a:chExt cx="8025848" cy="1418539"/>
          </a:xfrm>
        </p:grpSpPr>
        <p:grpSp>
          <p:nvGrpSpPr>
            <p:cNvPr id="9" name="组合 8">
              <a:extLst>
                <a:ext uri="{FF2B5EF4-FFF2-40B4-BE49-F238E27FC236}">
                  <a16:creationId xmlns:a16="http://schemas.microsoft.com/office/drawing/2014/main" id="{72459AD0-0C1C-4E9F-97ED-857666601D0B}"/>
                </a:ext>
              </a:extLst>
            </p:cNvPr>
            <p:cNvGrpSpPr/>
            <p:nvPr/>
          </p:nvGrpSpPr>
          <p:grpSpPr>
            <a:xfrm>
              <a:off x="838200" y="3625114"/>
              <a:ext cx="2752035" cy="1322738"/>
              <a:chOff x="799728" y="3443728"/>
              <a:chExt cx="2752035" cy="1322738"/>
            </a:xfrm>
          </p:grpSpPr>
          <p:pic>
            <p:nvPicPr>
              <p:cNvPr id="2058" name="Picture 10" descr="âDennis Lindleyâçå¾çæç´¢ç»æ">
                <a:extLst>
                  <a:ext uri="{FF2B5EF4-FFF2-40B4-BE49-F238E27FC236}">
                    <a16:creationId xmlns:a16="http://schemas.microsoft.com/office/drawing/2014/main" id="{C3110E10-FE6B-4ED8-8475-B9598CC3E3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3443728"/>
                <a:ext cx="1381125" cy="828675"/>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a:extLst>
                  <a:ext uri="{FF2B5EF4-FFF2-40B4-BE49-F238E27FC236}">
                    <a16:creationId xmlns:a16="http://schemas.microsoft.com/office/drawing/2014/main" id="{3E74C474-4F3C-4A95-9797-3E37581498BF}"/>
                  </a:ext>
                </a:extLst>
              </p:cNvPr>
              <p:cNvSpPr/>
              <p:nvPr/>
            </p:nvSpPr>
            <p:spPr>
              <a:xfrm>
                <a:off x="799728" y="4304801"/>
                <a:ext cx="2752035" cy="461665"/>
              </a:xfrm>
              <a:prstGeom prst="rect">
                <a:avLst/>
              </a:prstGeom>
            </p:spPr>
            <p:txBody>
              <a:bodyPr wrap="none">
                <a:spAutoFit/>
              </a:bodyPr>
              <a:lstStyle/>
              <a:p>
                <a:r>
                  <a:rPr lang="en-US" altLang="zh-CN" sz="1200" dirty="0">
                    <a:solidFill>
                      <a:srgbClr val="000000"/>
                    </a:solidFill>
                    <a:latin typeface="Linux Libertine"/>
                  </a:rPr>
                  <a:t>Dennis Lindley.</a:t>
                </a:r>
              </a:p>
              <a:p>
                <a:r>
                  <a:rPr lang="en-US" altLang="zh-CN" sz="1200" dirty="0">
                    <a:solidFill>
                      <a:srgbClr val="000000"/>
                    </a:solidFill>
                    <a:latin typeface="Linux Libertine"/>
                  </a:rPr>
                  <a:t>Leading advocate of Bayesian statistics.</a:t>
                </a:r>
                <a:endParaRPr lang="en-US" altLang="zh-CN" sz="1200" b="0" i="0" dirty="0">
                  <a:solidFill>
                    <a:srgbClr val="000000"/>
                  </a:solidFill>
                  <a:effectLst/>
                  <a:latin typeface="Linux Libertine"/>
                </a:endParaRPr>
              </a:p>
            </p:txBody>
          </p:sp>
        </p:grpSp>
        <p:sp>
          <p:nvSpPr>
            <p:cNvPr id="18" name="Google Shape;106;p15">
              <a:extLst>
                <a:ext uri="{FF2B5EF4-FFF2-40B4-BE49-F238E27FC236}">
                  <a16:creationId xmlns:a16="http://schemas.microsoft.com/office/drawing/2014/main" id="{AB03C137-BC66-4E10-A49A-9A94DDB33F35}"/>
                </a:ext>
              </a:extLst>
            </p:cNvPr>
            <p:cNvSpPr txBox="1">
              <a:spLocks/>
            </p:cNvSpPr>
            <p:nvPr/>
          </p:nvSpPr>
          <p:spPr>
            <a:xfrm>
              <a:off x="2357823" y="3529313"/>
              <a:ext cx="6506225" cy="1125495"/>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ts val="2800"/>
                <a:buNone/>
              </a:pPr>
              <a:r>
                <a:rPr lang="en-US" altLang="zh-CN" sz="1600" dirty="0"/>
                <a:t>‘‘probability is the only sensible description of uncertainty and is adequate for all problems involving uncertainty . . . anything that can be done with fuzzy logic can better be done with probability.”</a:t>
              </a:r>
            </a:p>
            <a:p>
              <a:pPr marL="0" indent="0">
                <a:spcBef>
                  <a:spcPts val="0"/>
                </a:spcBef>
                <a:buSzPts val="2800"/>
                <a:buNone/>
              </a:pPr>
              <a:r>
                <a:rPr lang="zh-TW" altLang="en-US" sz="1400" dirty="0">
                  <a:latin typeface="楷体" panose="02010609060101010101" pitchFamily="49" charset="-122"/>
                  <a:ea typeface="楷体" panose="02010609060101010101" pitchFamily="49" charset="-122"/>
                </a:rPr>
                <a:t>“概率是對不確定性的唯一合理描述，並且適用於涉及不確定性的所有問題。。。 任何可以用模糊邏輯完成的事情都可以用概率來完成。</a:t>
              </a:r>
              <a:r>
                <a:rPr lang="en-US" altLang="zh-TW" sz="1400" dirty="0">
                  <a:latin typeface="楷体" panose="02010609060101010101" pitchFamily="49" charset="-122"/>
                  <a:ea typeface="楷体" panose="02010609060101010101" pitchFamily="49" charset="-122"/>
                </a:rPr>
                <a:t>”</a:t>
              </a:r>
              <a:endParaRPr lang="en-US" altLang="zh-CN" sz="1400" dirty="0">
                <a:latin typeface="楷体" panose="02010609060101010101" pitchFamily="49" charset="-122"/>
                <a:ea typeface="楷体" panose="02010609060101010101" pitchFamily="49" charset="-122"/>
              </a:endParaRPr>
            </a:p>
          </p:txBody>
        </p:sp>
      </p:grpSp>
      <p:grpSp>
        <p:nvGrpSpPr>
          <p:cNvPr id="12" name="组合 11">
            <a:extLst>
              <a:ext uri="{FF2B5EF4-FFF2-40B4-BE49-F238E27FC236}">
                <a16:creationId xmlns:a16="http://schemas.microsoft.com/office/drawing/2014/main" id="{8FB77B22-C41C-411D-A069-BDF5D58CFD7E}"/>
              </a:ext>
            </a:extLst>
          </p:cNvPr>
          <p:cNvGrpSpPr/>
          <p:nvPr/>
        </p:nvGrpSpPr>
        <p:grpSpPr>
          <a:xfrm>
            <a:off x="9078893" y="4873641"/>
            <a:ext cx="1638590" cy="1728644"/>
            <a:chOff x="9078893" y="4873641"/>
            <a:chExt cx="1638590" cy="1728644"/>
          </a:xfrm>
        </p:grpSpPr>
        <p:pic>
          <p:nvPicPr>
            <p:cNvPr id="2060" name="Picture 12" descr="âSusan Haackâçå¾çæç´¢ç»æ">
              <a:extLst>
                <a:ext uri="{FF2B5EF4-FFF2-40B4-BE49-F238E27FC236}">
                  <a16:creationId xmlns:a16="http://schemas.microsoft.com/office/drawing/2014/main" id="{FEFE6DCC-8304-4A79-8F91-C46FD2FCF25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55288" y="4873641"/>
              <a:ext cx="685800" cy="1009650"/>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a:extLst>
                <a:ext uri="{FF2B5EF4-FFF2-40B4-BE49-F238E27FC236}">
                  <a16:creationId xmlns:a16="http://schemas.microsoft.com/office/drawing/2014/main" id="{B4C3AABA-0179-49D1-BFEC-4EC11D8DEBE0}"/>
                </a:ext>
              </a:extLst>
            </p:cNvPr>
            <p:cNvSpPr/>
            <p:nvPr/>
          </p:nvSpPr>
          <p:spPr>
            <a:xfrm>
              <a:off x="9078893" y="5955954"/>
              <a:ext cx="1638590" cy="646331"/>
            </a:xfrm>
            <a:prstGeom prst="rect">
              <a:avLst/>
            </a:prstGeom>
          </p:spPr>
          <p:txBody>
            <a:bodyPr wrap="none">
              <a:spAutoFit/>
            </a:bodyPr>
            <a:lstStyle/>
            <a:p>
              <a:r>
                <a:rPr lang="en-US" altLang="zh-CN" sz="1200" dirty="0"/>
                <a:t> </a:t>
              </a:r>
              <a:r>
                <a:rPr lang="zh-CN" altLang="en-US" sz="1200" dirty="0"/>
                <a:t>Susan Haack</a:t>
              </a:r>
              <a:r>
                <a:rPr lang="en-US" altLang="zh-CN" sz="1200" dirty="0"/>
                <a:t>.</a:t>
              </a:r>
            </a:p>
            <a:p>
              <a:r>
                <a:rPr lang="en-US" altLang="zh-CN" sz="1200" dirty="0"/>
                <a:t> Cooper Senior Scholar </a:t>
              </a:r>
            </a:p>
            <a:p>
              <a:r>
                <a:rPr lang="en-US" altLang="zh-CN" sz="1200" dirty="0"/>
                <a:t> in Arts and Sciences.</a:t>
              </a:r>
              <a:endParaRPr lang="zh-CN" altLang="en-US" sz="1200" dirty="0"/>
            </a:p>
          </p:txBody>
        </p:sp>
      </p:grpSp>
      <p:sp>
        <p:nvSpPr>
          <p:cNvPr id="24" name="Google Shape;106;p15">
            <a:extLst>
              <a:ext uri="{FF2B5EF4-FFF2-40B4-BE49-F238E27FC236}">
                <a16:creationId xmlns:a16="http://schemas.microsoft.com/office/drawing/2014/main" id="{8F4F6063-0258-4374-A953-C49E5302DA50}"/>
              </a:ext>
            </a:extLst>
          </p:cNvPr>
          <p:cNvSpPr txBox="1">
            <a:spLocks/>
          </p:cNvSpPr>
          <p:nvPr/>
        </p:nvSpPr>
        <p:spPr>
          <a:xfrm>
            <a:off x="1743043" y="5452643"/>
            <a:ext cx="7335850" cy="1009650"/>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ts val="2800"/>
              <a:buNone/>
            </a:pPr>
            <a:r>
              <a:rPr lang="en-US" altLang="zh-CN" sz="1600" dirty="0"/>
              <a:t>《Deviant Logic Fuzzy Logic》:‘‘Since neither of the main arguments that are offered in its favor is acceptable, I conclude that we do not need fuzzy logic.”</a:t>
            </a:r>
          </a:p>
          <a:p>
            <a:pPr marL="0" indent="0">
              <a:spcBef>
                <a:spcPts val="0"/>
              </a:spcBef>
              <a:buSzPts val="2800"/>
              <a:buNone/>
            </a:pPr>
            <a:r>
              <a:rPr lang="en-US" altLang="zh-CN" sz="1400" dirty="0">
                <a:latin typeface="楷体" panose="02010609060101010101" pitchFamily="49" charset="-122"/>
                <a:ea typeface="楷体" panose="02010609060101010101" pitchFamily="49" charset="-122"/>
              </a:rPr>
              <a:t>《</a:t>
            </a:r>
            <a:r>
              <a:rPr lang="zh-TW" altLang="en-US" sz="1400" dirty="0">
                <a:latin typeface="楷体" panose="02010609060101010101" pitchFamily="49" charset="-122"/>
                <a:ea typeface="楷体" panose="02010609060101010101" pitchFamily="49" charset="-122"/>
              </a:rPr>
              <a:t>模糊邏輯</a:t>
            </a:r>
            <a:r>
              <a:rPr lang="zh-CN" altLang="en-US" sz="1400" dirty="0">
                <a:latin typeface="楷体" panose="02010609060101010101" pitchFamily="49" charset="-122"/>
                <a:ea typeface="楷体" panose="02010609060101010101" pitchFamily="49" charset="-122"/>
              </a:rPr>
              <a:t>是離譜</a:t>
            </a:r>
            <a:r>
              <a:rPr lang="zh-TW" altLang="en-US" sz="1400" dirty="0">
                <a:latin typeface="楷体" panose="02010609060101010101" pitchFamily="49" charset="-122"/>
                <a:ea typeface="楷体" panose="02010609060101010101" pitchFamily="49" charset="-122"/>
              </a:rPr>
              <a:t>邏輯</a:t>
            </a:r>
            <a:r>
              <a:rPr lang="en-US" altLang="zh-CN" sz="1400" dirty="0">
                <a:latin typeface="楷体" panose="02010609060101010101" pitchFamily="49" charset="-122"/>
                <a:ea typeface="楷体" panose="02010609060101010101" pitchFamily="49" charset="-122"/>
              </a:rPr>
              <a:t>》</a:t>
            </a:r>
            <a:r>
              <a:rPr lang="zh-TW" altLang="en-US" sz="1400" dirty="0">
                <a:latin typeface="楷体" panose="02010609060101010101" pitchFamily="49" charset="-122"/>
                <a:ea typeface="楷体" panose="02010609060101010101" pitchFamily="49" charset="-122"/>
              </a:rPr>
              <a:t>：</a:t>
            </a:r>
            <a:r>
              <a:rPr lang="zh-CN" altLang="en-US" sz="1400" dirty="0">
                <a:latin typeface="楷体" panose="02010609060101010101" pitchFamily="49" charset="-122"/>
                <a:ea typeface="楷体" panose="02010609060101010101" pitchFamily="49" charset="-122"/>
              </a:rPr>
              <a:t>“</a:t>
            </a:r>
            <a:r>
              <a:rPr lang="zh-TW" altLang="en-US" sz="1400" dirty="0">
                <a:latin typeface="楷体" panose="02010609060101010101" pitchFamily="49" charset="-122"/>
                <a:ea typeface="楷体" panose="02010609060101010101" pitchFamily="49" charset="-122"/>
              </a:rPr>
              <a:t>因為它所</a:t>
            </a:r>
            <a:r>
              <a:rPr lang="zh-CN" altLang="en-US" sz="1400" dirty="0">
                <a:latin typeface="楷体" panose="02010609060101010101" pitchFamily="49" charset="-122"/>
                <a:ea typeface="楷体" panose="02010609060101010101" pitchFamily="49" charset="-122"/>
              </a:rPr>
              <a:t>提供</a:t>
            </a:r>
            <a:r>
              <a:rPr lang="zh-TW" altLang="en-US" sz="1400" dirty="0">
                <a:latin typeface="楷体" panose="02010609060101010101" pitchFamily="49" charset="-122"/>
                <a:ea typeface="楷体" panose="02010609060101010101" pitchFamily="49" charset="-122"/>
              </a:rPr>
              <a:t>的主要論證都不可接受，所以我得出結論，我們不需要模糊邏輯。</a:t>
            </a:r>
            <a:r>
              <a:rPr lang="zh-CN" altLang="en-US" sz="1400" dirty="0">
                <a:latin typeface="楷体" panose="02010609060101010101" pitchFamily="49" charset="-122"/>
                <a:ea typeface="楷体" panose="02010609060101010101" pitchFamily="49" charset="-122"/>
              </a:rPr>
              <a:t>”</a:t>
            </a:r>
            <a:endParaRPr lang="en-US" altLang="zh-CN" sz="14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024993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79774"/>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sz="4000" dirty="0"/>
              <a:t>Introduction - </a:t>
            </a:r>
            <a:r>
              <a:rPr lang="en-US" altLang="zh-CN" sz="2800" dirty="0"/>
              <a:t>Spirited discussion and debate from 1965</a:t>
            </a:r>
            <a:endParaRPr lang="en-US" sz="4000"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lang="en-US" dirty="0"/>
          </a:p>
        </p:txBody>
      </p:sp>
      <p:pic>
        <p:nvPicPr>
          <p:cNvPr id="14" name="图片 13">
            <a:extLst>
              <a:ext uri="{FF2B5EF4-FFF2-40B4-BE49-F238E27FC236}">
                <a16:creationId xmlns:a16="http://schemas.microsoft.com/office/drawing/2014/main" id="{A5EB42F3-83DB-401C-8DE5-06CEFA5D641F}"/>
              </a:ext>
            </a:extLst>
          </p:cNvPr>
          <p:cNvPicPr>
            <a:picLocks noChangeAspect="1"/>
          </p:cNvPicPr>
          <p:nvPr/>
        </p:nvPicPr>
        <p:blipFill>
          <a:blip r:embed="rId3"/>
          <a:stretch>
            <a:fillRect/>
          </a:stretch>
        </p:blipFill>
        <p:spPr>
          <a:xfrm>
            <a:off x="423418" y="1405337"/>
            <a:ext cx="11345163" cy="4793948"/>
          </a:xfrm>
          <a:prstGeom prst="rect">
            <a:avLst/>
          </a:prstGeom>
        </p:spPr>
      </p:pic>
    </p:spTree>
    <p:extLst>
      <p:ext uri="{BB962C8B-B14F-4D97-AF65-F5344CB8AC3E}">
        <p14:creationId xmlns:p14="http://schemas.microsoft.com/office/powerpoint/2010/main" val="2720084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62417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sz="4000" dirty="0"/>
              <a:t>Part 1: What is fuzzy logic – a nontraditional view</a:t>
            </a:r>
            <a:endParaRPr lang="en-US" sz="4000"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lang="en-US" dirty="0"/>
          </a:p>
        </p:txBody>
      </p:sp>
      <p:sp>
        <p:nvSpPr>
          <p:cNvPr id="3" name="矩形 2">
            <a:extLst>
              <a:ext uri="{FF2B5EF4-FFF2-40B4-BE49-F238E27FC236}">
                <a16:creationId xmlns:a16="http://schemas.microsoft.com/office/drawing/2014/main" id="{39437D76-3DF5-44FE-85DD-44F964B800AE}"/>
              </a:ext>
            </a:extLst>
          </p:cNvPr>
          <p:cNvSpPr/>
          <p:nvPr/>
        </p:nvSpPr>
        <p:spPr>
          <a:xfrm>
            <a:off x="2961126" y="3949738"/>
            <a:ext cx="6741269" cy="954107"/>
          </a:xfrm>
          <a:prstGeom prst="rect">
            <a:avLst/>
          </a:prstGeom>
        </p:spPr>
        <p:txBody>
          <a:bodyPr wrap="none">
            <a:spAutoFit/>
          </a:bodyPr>
          <a:lstStyle/>
          <a:p>
            <a:pPr algn="ctr"/>
            <a:r>
              <a:rPr lang="en-US" altLang="zh-CN" sz="2800" dirty="0">
                <a:latin typeface="AdvEPSTIM-I"/>
              </a:rPr>
              <a:t>1.1 Fuzzy logic – principal concepts and ideas</a:t>
            </a:r>
          </a:p>
          <a:p>
            <a:pPr algn="ctr"/>
            <a:r>
              <a:rPr lang="zh-CN" altLang="en-US" sz="2800" dirty="0">
                <a:latin typeface="楷体" panose="02010609060101010101" pitchFamily="49" charset="-122"/>
                <a:ea typeface="楷体" panose="02010609060101010101" pitchFamily="49" charset="-122"/>
              </a:rPr>
              <a:t>什麼是模糊邏輯？</a:t>
            </a:r>
          </a:p>
        </p:txBody>
      </p:sp>
    </p:spTree>
    <p:extLst>
      <p:ext uri="{BB962C8B-B14F-4D97-AF65-F5344CB8AC3E}">
        <p14:creationId xmlns:p14="http://schemas.microsoft.com/office/powerpoint/2010/main" val="2611367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 </a:t>
            </a:r>
            <a:r>
              <a:rPr lang="en-US" altLang="zh-CN" dirty="0"/>
              <a:t>Misconceptions about fuzzy logic</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lang="en-US" dirty="0"/>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sz="4000" dirty="0">
                <a:solidFill>
                  <a:srgbClr val="FF0000"/>
                </a:solidFill>
              </a:rPr>
              <a:t>Fuzzy logic is not fuzzy.</a:t>
            </a:r>
          </a:p>
          <a:p>
            <a:pPr>
              <a:spcBef>
                <a:spcPts val="0"/>
              </a:spcBef>
              <a:buSzPts val="2800"/>
            </a:pPr>
            <a:endParaRPr lang="en-US" altLang="zh-CN" sz="3200" dirty="0"/>
          </a:p>
          <a:p>
            <a:pPr>
              <a:spcBef>
                <a:spcPts val="0"/>
              </a:spcBef>
              <a:buSzPts val="2800"/>
            </a:pPr>
            <a:r>
              <a:rPr lang="en-US" altLang="zh-CN" dirty="0"/>
              <a:t>Fuzzy logic is a </a:t>
            </a:r>
            <a:r>
              <a:rPr lang="en-US" altLang="zh-CN" dirty="0">
                <a:solidFill>
                  <a:srgbClr val="FF0000"/>
                </a:solidFill>
              </a:rPr>
              <a:t>precise logic </a:t>
            </a:r>
            <a:r>
              <a:rPr lang="en-US" altLang="zh-CN" dirty="0"/>
              <a:t>of imprecision and approximate reasoning.</a:t>
            </a:r>
          </a:p>
          <a:p>
            <a:pPr>
              <a:spcBef>
                <a:spcPts val="0"/>
              </a:spcBef>
              <a:buSzPts val="2800"/>
            </a:pPr>
            <a:endParaRPr lang="en-US" altLang="zh-CN" dirty="0"/>
          </a:p>
          <a:p>
            <a:pPr>
              <a:spcBef>
                <a:spcPts val="0"/>
              </a:spcBef>
              <a:buSzPts val="2800"/>
            </a:pPr>
            <a:r>
              <a:rPr lang="en-US" altLang="zh-CN" dirty="0"/>
              <a:t>Fuzzy logic is an attempt at formalization/mechanization of two remarkable human capabilities:</a:t>
            </a:r>
          </a:p>
          <a:p>
            <a:pPr lvl="1">
              <a:spcBef>
                <a:spcPts val="0"/>
              </a:spcBef>
              <a:buSzPts val="2800"/>
            </a:pPr>
            <a:r>
              <a:rPr lang="en-US" altLang="zh-CN" dirty="0"/>
              <a:t>First, the capability to </a:t>
            </a:r>
            <a:r>
              <a:rPr lang="en-US" altLang="zh-CN" dirty="0">
                <a:solidFill>
                  <a:srgbClr val="FF0000"/>
                </a:solidFill>
              </a:rPr>
              <a:t>make decisions </a:t>
            </a:r>
            <a:r>
              <a:rPr lang="en-US" altLang="zh-CN" dirty="0"/>
              <a:t>in an environment of imperfect information. </a:t>
            </a:r>
          </a:p>
          <a:p>
            <a:pPr lvl="1">
              <a:spcBef>
                <a:spcPts val="0"/>
              </a:spcBef>
              <a:buSzPts val="2800"/>
            </a:pPr>
            <a:r>
              <a:rPr lang="en-US" altLang="zh-CN" dirty="0"/>
              <a:t>Second, the capability to perform physical and mental tasks </a:t>
            </a:r>
            <a:r>
              <a:rPr lang="en-US" altLang="zh-CN" dirty="0">
                <a:solidFill>
                  <a:srgbClr val="FF0000"/>
                </a:solidFill>
              </a:rPr>
              <a:t>without any measurements and computations.</a:t>
            </a:r>
            <a:r>
              <a:rPr lang="zh-CN" altLang="en-US" dirty="0"/>
              <a:t>（</a:t>
            </a:r>
            <a:r>
              <a:rPr lang="en-US" altLang="zh-CN" dirty="0"/>
              <a:t>e.g.:  Fuzzy Control</a:t>
            </a:r>
            <a:r>
              <a:rPr lang="zh-CN" altLang="en-US" dirty="0"/>
              <a:t>）</a:t>
            </a:r>
            <a:endParaRPr lang="en-US" altLang="zh-CN" dirty="0"/>
          </a:p>
          <a:p>
            <a:pPr lvl="1">
              <a:spcBef>
                <a:spcPts val="0"/>
              </a:spcBef>
              <a:buSzPts val="2800"/>
            </a:pPr>
            <a:endParaRPr lang="en-US" altLang="zh-CN" dirty="0"/>
          </a:p>
          <a:p>
            <a:pPr>
              <a:spcBef>
                <a:spcPts val="0"/>
              </a:spcBef>
              <a:buSzPts val="2800"/>
            </a:pPr>
            <a:endParaRPr lang="en-US" altLang="zh-CN" dirty="0"/>
          </a:p>
        </p:txBody>
      </p:sp>
    </p:spTree>
    <p:extLst>
      <p:ext uri="{BB962C8B-B14F-4D97-AF65-F5344CB8AC3E}">
        <p14:creationId xmlns:p14="http://schemas.microsoft.com/office/powerpoint/2010/main" val="1414898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a:t>
            </a:r>
            <a:r>
              <a:rPr lang="en-US" altLang="zh-CN" dirty="0"/>
              <a:t> The duality of meaning of fuzzy logic</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lang="en-US"/>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826361" y="1396497"/>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zh-CN" altLang="en-US" sz="2400" dirty="0">
                <a:latin typeface="楷体" panose="02010609060101010101" pitchFamily="49" charset="-122"/>
                <a:ea typeface="楷体" panose="02010609060101010101" pitchFamily="49" charset="-122"/>
              </a:rPr>
              <a:t>模糊邏輯含義的二元性：</a:t>
            </a:r>
            <a:endParaRPr lang="en-US" altLang="zh-CN" sz="2400" dirty="0">
              <a:latin typeface="楷体" panose="02010609060101010101" pitchFamily="49" charset="-122"/>
              <a:ea typeface="楷体" panose="02010609060101010101" pitchFamily="49" charset="-122"/>
            </a:endParaRPr>
          </a:p>
          <a:p>
            <a:pPr>
              <a:spcBef>
                <a:spcPts val="0"/>
              </a:spcBef>
              <a:buSzPts val="2800"/>
            </a:pPr>
            <a:endParaRPr lang="en-US" altLang="zh-CN" sz="2400" dirty="0">
              <a:latin typeface="楷体" panose="02010609060101010101" pitchFamily="49" charset="-122"/>
              <a:ea typeface="楷体" panose="02010609060101010101" pitchFamily="49" charset="-122"/>
            </a:endParaRPr>
          </a:p>
          <a:p>
            <a:pPr>
              <a:spcBef>
                <a:spcPts val="0"/>
              </a:spcBef>
              <a:buSzPts val="2800"/>
            </a:pPr>
            <a:r>
              <a:rPr lang="en-US" altLang="zh-CN" sz="2400" dirty="0"/>
              <a:t>In a narrow sense</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狹義上</a:t>
            </a:r>
            <a:r>
              <a:rPr lang="en-US" altLang="zh-CN" sz="2400" dirty="0">
                <a:latin typeface="楷体" panose="02010609060101010101" pitchFamily="49" charset="-122"/>
                <a:ea typeface="楷体" panose="02010609060101010101" pitchFamily="49" charset="-122"/>
              </a:rPr>
              <a:t>)</a:t>
            </a:r>
            <a:r>
              <a:rPr lang="en-US" altLang="zh-CN" sz="2400" dirty="0"/>
              <a:t>:</a:t>
            </a:r>
          </a:p>
          <a:p>
            <a:pPr>
              <a:spcBef>
                <a:spcPts val="0"/>
              </a:spcBef>
              <a:buSzPts val="2800"/>
            </a:pPr>
            <a:r>
              <a:rPr lang="en-US" altLang="zh-CN" sz="2000" dirty="0"/>
              <a:t>Fuzzy logic is a logical system which is a </a:t>
            </a:r>
            <a:r>
              <a:rPr lang="en-US" altLang="zh-CN" sz="2000" dirty="0">
                <a:solidFill>
                  <a:srgbClr val="FF0000"/>
                </a:solidFill>
              </a:rPr>
              <a:t>generalization of multivalued logic</a:t>
            </a:r>
            <a:r>
              <a:rPr lang="en-US" altLang="zh-CN" sz="2000" dirty="0"/>
              <a:t>.</a:t>
            </a:r>
            <a:endParaRPr lang="en-US" altLang="zh-CN" sz="2400" dirty="0"/>
          </a:p>
          <a:p>
            <a:pPr>
              <a:spcBef>
                <a:spcPts val="0"/>
              </a:spcBef>
              <a:buSzPts val="2800"/>
            </a:pPr>
            <a:endParaRPr lang="en-US" altLang="zh-CN" sz="2400" dirty="0"/>
          </a:p>
          <a:p>
            <a:pPr>
              <a:spcBef>
                <a:spcPts val="0"/>
              </a:spcBef>
              <a:buSzPts val="2800"/>
            </a:pPr>
            <a:r>
              <a:rPr lang="en-US" altLang="zh-CN" sz="2400" dirty="0"/>
              <a:t>In a wide sense</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廣義上</a:t>
            </a:r>
            <a:r>
              <a:rPr lang="en-US" altLang="zh-CN" sz="2400" dirty="0">
                <a:latin typeface="楷体" panose="02010609060101010101" pitchFamily="49" charset="-122"/>
                <a:ea typeface="楷体" panose="02010609060101010101" pitchFamily="49" charset="-122"/>
              </a:rPr>
              <a:t>)</a:t>
            </a:r>
            <a:r>
              <a:rPr lang="en-US" altLang="zh-CN" sz="2400" dirty="0"/>
              <a:t>:</a:t>
            </a:r>
          </a:p>
          <a:p>
            <a:pPr>
              <a:spcBef>
                <a:spcPts val="0"/>
              </a:spcBef>
              <a:buSzPts val="2800"/>
            </a:pPr>
            <a:r>
              <a:rPr lang="en-US" altLang="zh-CN" sz="2000" dirty="0"/>
              <a:t>FL has many facets. The </a:t>
            </a:r>
            <a:r>
              <a:rPr lang="en-US" altLang="zh-CN" sz="2000" dirty="0">
                <a:solidFill>
                  <a:srgbClr val="FF0000"/>
                </a:solidFill>
              </a:rPr>
              <a:t>four principal facets </a:t>
            </a:r>
            <a:r>
              <a:rPr lang="en-US" altLang="zh-CN" sz="2000" dirty="0"/>
              <a:t>are:</a:t>
            </a:r>
          </a:p>
          <a:p>
            <a:pPr marL="0" indent="0">
              <a:spcBef>
                <a:spcPts val="0"/>
              </a:spcBef>
              <a:buSzPts val="2800"/>
              <a:buNone/>
            </a:pPr>
            <a:endParaRPr lang="en-US" altLang="zh-CN" dirty="0"/>
          </a:p>
        </p:txBody>
      </p:sp>
      <p:pic>
        <p:nvPicPr>
          <p:cNvPr id="2" name="图片 1">
            <a:extLst>
              <a:ext uri="{FF2B5EF4-FFF2-40B4-BE49-F238E27FC236}">
                <a16:creationId xmlns:a16="http://schemas.microsoft.com/office/drawing/2014/main" id="{9A1AEB7C-92C0-4A68-9977-D2C71C92F927}"/>
              </a:ext>
            </a:extLst>
          </p:cNvPr>
          <p:cNvPicPr>
            <a:picLocks noChangeAspect="1"/>
          </p:cNvPicPr>
          <p:nvPr/>
        </p:nvPicPr>
        <p:blipFill>
          <a:blip r:embed="rId3"/>
          <a:stretch>
            <a:fillRect/>
          </a:stretch>
        </p:blipFill>
        <p:spPr>
          <a:xfrm>
            <a:off x="2913760" y="3810561"/>
            <a:ext cx="6364479" cy="2545791"/>
          </a:xfrm>
          <a:prstGeom prst="rect">
            <a:avLst/>
          </a:prstGeom>
        </p:spPr>
      </p:pic>
    </p:spTree>
    <p:extLst>
      <p:ext uri="{BB962C8B-B14F-4D97-AF65-F5344CB8AC3E}">
        <p14:creationId xmlns:p14="http://schemas.microsoft.com/office/powerpoint/2010/main" val="2055979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3.</a:t>
            </a:r>
            <a:r>
              <a:rPr lang="en-US" altLang="zh-CN" dirty="0"/>
              <a:t> The principal facets of fuzzy logic</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lang="en-US"/>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812419" y="1703534"/>
            <a:ext cx="7772400" cy="646332"/>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sz="2000" dirty="0"/>
              <a:t>FL1: </a:t>
            </a:r>
            <a:r>
              <a:rPr lang="en-US" altLang="zh-CN" sz="1800" dirty="0"/>
              <a:t>The </a:t>
            </a:r>
            <a:r>
              <a:rPr lang="en-US" altLang="zh-CN" sz="1800" dirty="0">
                <a:solidFill>
                  <a:srgbClr val="FF0000"/>
                </a:solidFill>
              </a:rPr>
              <a:t>logical </a:t>
            </a:r>
            <a:r>
              <a:rPr lang="en-US" altLang="zh-CN" sz="1800" dirty="0"/>
              <a:t>facet(narrow sense), may be viewed as a generalization of multivalued logic. </a:t>
            </a:r>
            <a:endParaRPr lang="en-US" altLang="zh-CN" sz="2000" dirty="0"/>
          </a:p>
        </p:txBody>
      </p:sp>
      <p:pic>
        <p:nvPicPr>
          <p:cNvPr id="4" name="图片 3">
            <a:extLst>
              <a:ext uri="{FF2B5EF4-FFF2-40B4-BE49-F238E27FC236}">
                <a16:creationId xmlns:a16="http://schemas.microsoft.com/office/drawing/2014/main" id="{1C2E1AAD-8BF9-46DE-A3E0-E53270522E4E}"/>
              </a:ext>
            </a:extLst>
          </p:cNvPr>
          <p:cNvPicPr>
            <a:picLocks noChangeAspect="1"/>
          </p:cNvPicPr>
          <p:nvPr/>
        </p:nvPicPr>
        <p:blipFill rotWithShape="1">
          <a:blip r:embed="rId3"/>
          <a:srcRect l="2861" t="4095" r="4181" b="53604"/>
          <a:stretch/>
        </p:blipFill>
        <p:spPr>
          <a:xfrm>
            <a:off x="838200" y="5203512"/>
            <a:ext cx="2723071" cy="769131"/>
          </a:xfrm>
          <a:prstGeom prst="rect">
            <a:avLst/>
          </a:prstGeom>
        </p:spPr>
      </p:pic>
      <p:sp>
        <p:nvSpPr>
          <p:cNvPr id="5" name="矩形 4">
            <a:extLst>
              <a:ext uri="{FF2B5EF4-FFF2-40B4-BE49-F238E27FC236}">
                <a16:creationId xmlns:a16="http://schemas.microsoft.com/office/drawing/2014/main" id="{8D1C4490-86D5-4E5C-8824-6A29BBB7CE78}"/>
              </a:ext>
            </a:extLst>
          </p:cNvPr>
          <p:cNvSpPr/>
          <p:nvPr/>
        </p:nvSpPr>
        <p:spPr>
          <a:xfrm>
            <a:off x="3985807" y="2988949"/>
            <a:ext cx="6096000" cy="615553"/>
          </a:xfrm>
          <a:prstGeom prst="rect">
            <a:avLst/>
          </a:prstGeom>
        </p:spPr>
        <p:txBody>
          <a:bodyPr>
            <a:spAutoFit/>
          </a:bodyPr>
          <a:lstStyle/>
          <a:p>
            <a:pPr marL="285750" indent="-285750">
              <a:spcBef>
                <a:spcPts val="0"/>
              </a:spcBef>
              <a:buSzPts val="2800"/>
              <a:buFont typeface="Arial" panose="020B0604020202020204" pitchFamily="34" charset="0"/>
              <a:buChar char="•"/>
            </a:pPr>
            <a:r>
              <a:rPr lang="en-US" altLang="zh-CN" dirty="0"/>
              <a:t>FLs: </a:t>
            </a:r>
            <a:r>
              <a:rPr lang="en-US" altLang="zh-CN" sz="1600" dirty="0"/>
              <a:t>The </a:t>
            </a:r>
            <a:r>
              <a:rPr lang="en-US" altLang="zh-CN" sz="1600" dirty="0">
                <a:solidFill>
                  <a:srgbClr val="FF0000"/>
                </a:solidFill>
              </a:rPr>
              <a:t>fuzzy-set-theoretic</a:t>
            </a:r>
            <a:r>
              <a:rPr lang="en-US" altLang="zh-CN" sz="1600" dirty="0"/>
              <a:t> facet, focused on classes whose boundaries are unsharp. FLs is central to fuzzy logic.</a:t>
            </a:r>
            <a:endParaRPr lang="en-US" altLang="zh-CN" dirty="0"/>
          </a:p>
        </p:txBody>
      </p:sp>
      <p:sp>
        <p:nvSpPr>
          <p:cNvPr id="6" name="矩形 5">
            <a:extLst>
              <a:ext uri="{FF2B5EF4-FFF2-40B4-BE49-F238E27FC236}">
                <a16:creationId xmlns:a16="http://schemas.microsoft.com/office/drawing/2014/main" id="{DA345238-7AC4-4E99-A845-FB3D5CF9D0C3}"/>
              </a:ext>
            </a:extLst>
          </p:cNvPr>
          <p:cNvSpPr/>
          <p:nvPr/>
        </p:nvSpPr>
        <p:spPr>
          <a:xfrm>
            <a:off x="3985807" y="5326312"/>
            <a:ext cx="6889339" cy="615553"/>
          </a:xfrm>
          <a:prstGeom prst="rect">
            <a:avLst/>
          </a:prstGeom>
        </p:spPr>
        <p:txBody>
          <a:bodyPr wrap="square">
            <a:spAutoFit/>
          </a:bodyPr>
          <a:lstStyle/>
          <a:p>
            <a:pPr marL="285750" indent="-285750">
              <a:spcBef>
                <a:spcPts val="0"/>
              </a:spcBef>
              <a:buSzPts val="2800"/>
              <a:buFont typeface="Arial" panose="020B0604020202020204" pitchFamily="34" charset="0"/>
              <a:buChar char="•"/>
            </a:pPr>
            <a:r>
              <a:rPr lang="en-US" altLang="zh-CN" dirty="0"/>
              <a:t>Fle: </a:t>
            </a:r>
            <a:r>
              <a:rPr lang="en-US" altLang="zh-CN" sz="1600" dirty="0"/>
              <a:t>The </a:t>
            </a:r>
            <a:r>
              <a:rPr lang="en-US" altLang="zh-CN" sz="1600" dirty="0">
                <a:solidFill>
                  <a:srgbClr val="FF0000"/>
                </a:solidFill>
              </a:rPr>
              <a:t>epistemic</a:t>
            </a:r>
            <a:r>
              <a:rPr lang="en-US" altLang="zh-CN" sz="1600" dirty="0"/>
              <a:t> facet, concerned with knowledge representation, semantics of natural languages and information analysis.</a:t>
            </a:r>
            <a:endParaRPr lang="en-US" altLang="zh-CN" dirty="0"/>
          </a:p>
        </p:txBody>
      </p:sp>
      <p:sp>
        <p:nvSpPr>
          <p:cNvPr id="8" name="矩形 7">
            <a:extLst>
              <a:ext uri="{FF2B5EF4-FFF2-40B4-BE49-F238E27FC236}">
                <a16:creationId xmlns:a16="http://schemas.microsoft.com/office/drawing/2014/main" id="{4704865F-598E-4A53-839D-AAEC8EE83C2A}"/>
              </a:ext>
            </a:extLst>
          </p:cNvPr>
          <p:cNvSpPr/>
          <p:nvPr/>
        </p:nvSpPr>
        <p:spPr>
          <a:xfrm>
            <a:off x="812419" y="4243873"/>
            <a:ext cx="6096000" cy="615553"/>
          </a:xfrm>
          <a:prstGeom prst="rect">
            <a:avLst/>
          </a:prstGeom>
        </p:spPr>
        <p:txBody>
          <a:bodyPr>
            <a:spAutoFit/>
          </a:bodyPr>
          <a:lstStyle/>
          <a:p>
            <a:pPr marL="285750" indent="-285750">
              <a:spcBef>
                <a:spcPts val="0"/>
              </a:spcBef>
              <a:buSzPts val="2800"/>
              <a:buFont typeface="Arial" panose="020B0604020202020204" pitchFamily="34" charset="0"/>
              <a:buChar char="•"/>
            </a:pPr>
            <a:r>
              <a:rPr lang="en-US" altLang="zh-CN" dirty="0"/>
              <a:t>FLr: </a:t>
            </a:r>
            <a:r>
              <a:rPr lang="en-US" altLang="zh-CN" sz="1600" dirty="0"/>
              <a:t>The </a:t>
            </a:r>
            <a:r>
              <a:rPr lang="en-US" altLang="zh-CN" sz="1600" dirty="0">
                <a:solidFill>
                  <a:srgbClr val="FF0000"/>
                </a:solidFill>
              </a:rPr>
              <a:t>relational</a:t>
            </a:r>
            <a:r>
              <a:rPr lang="en-US" altLang="zh-CN" sz="1600" dirty="0"/>
              <a:t> facet. The concept of a linguistic variable – and the associated calculi of fuzzy if–then rules.</a:t>
            </a:r>
            <a:endParaRPr lang="en-US" altLang="zh-CN" sz="2000" dirty="0"/>
          </a:p>
        </p:txBody>
      </p:sp>
      <p:pic>
        <p:nvPicPr>
          <p:cNvPr id="2" name="图片 1">
            <a:extLst>
              <a:ext uri="{FF2B5EF4-FFF2-40B4-BE49-F238E27FC236}">
                <a16:creationId xmlns:a16="http://schemas.microsoft.com/office/drawing/2014/main" id="{8B7CD92A-4568-4680-89F6-4651B3E29ACB}"/>
              </a:ext>
            </a:extLst>
          </p:cNvPr>
          <p:cNvPicPr>
            <a:picLocks noChangeAspect="1"/>
          </p:cNvPicPr>
          <p:nvPr/>
        </p:nvPicPr>
        <p:blipFill>
          <a:blip r:embed="rId4"/>
          <a:stretch>
            <a:fillRect/>
          </a:stretch>
        </p:blipFill>
        <p:spPr>
          <a:xfrm>
            <a:off x="1050934" y="2521764"/>
            <a:ext cx="1551918" cy="1549921"/>
          </a:xfrm>
          <a:prstGeom prst="rect">
            <a:avLst/>
          </a:prstGeom>
        </p:spPr>
      </p:pic>
      <p:pic>
        <p:nvPicPr>
          <p:cNvPr id="13" name="Picture 5" descr="1-81">
            <a:extLst>
              <a:ext uri="{FF2B5EF4-FFF2-40B4-BE49-F238E27FC236}">
                <a16:creationId xmlns:a16="http://schemas.microsoft.com/office/drawing/2014/main" id="{61AAFE5D-FC35-460E-8052-327702042854}"/>
              </a:ext>
            </a:extLst>
          </p:cNvPr>
          <p:cNvPicPr>
            <a:picLocks noChangeAspect="1" noChangeArrowheads="1"/>
          </p:cNvPicPr>
          <p:nvPr/>
        </p:nvPicPr>
        <p:blipFill>
          <a:blip r:embed="rId5" cstate="print"/>
          <a:srcRect/>
          <a:stretch>
            <a:fillRect/>
          </a:stretch>
        </p:blipFill>
        <p:spPr bwMode="auto">
          <a:xfrm>
            <a:off x="8186453" y="1389658"/>
            <a:ext cx="3790708" cy="1460344"/>
          </a:xfrm>
          <a:prstGeom prst="rect">
            <a:avLst/>
          </a:prstGeom>
          <a:noFill/>
          <a:ln w="9525">
            <a:noFill/>
            <a:miter lim="800000"/>
            <a:headEnd/>
            <a:tailEnd/>
          </a:ln>
        </p:spPr>
      </p:pic>
      <p:pic>
        <p:nvPicPr>
          <p:cNvPr id="9" name="图片 8">
            <a:extLst>
              <a:ext uri="{FF2B5EF4-FFF2-40B4-BE49-F238E27FC236}">
                <a16:creationId xmlns:a16="http://schemas.microsoft.com/office/drawing/2014/main" id="{B2A752BA-861C-4238-AAEB-CE562658AC91}"/>
              </a:ext>
            </a:extLst>
          </p:cNvPr>
          <p:cNvPicPr>
            <a:picLocks noChangeAspect="1"/>
          </p:cNvPicPr>
          <p:nvPr/>
        </p:nvPicPr>
        <p:blipFill>
          <a:blip r:embed="rId6"/>
          <a:stretch>
            <a:fillRect/>
          </a:stretch>
        </p:blipFill>
        <p:spPr>
          <a:xfrm>
            <a:off x="9281765" y="3724900"/>
            <a:ext cx="2553471" cy="1481013"/>
          </a:xfrm>
          <a:prstGeom prst="rect">
            <a:avLst/>
          </a:prstGeom>
        </p:spPr>
      </p:pic>
    </p:spTree>
    <p:extLst>
      <p:ext uri="{BB962C8B-B14F-4D97-AF65-F5344CB8AC3E}">
        <p14:creationId xmlns:p14="http://schemas.microsoft.com/office/powerpoint/2010/main" val="660706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4. </a:t>
            </a:r>
            <a:r>
              <a:rPr lang="en-US" altLang="zh-CN" dirty="0"/>
              <a:t>Core of FL: </a:t>
            </a:r>
            <a:r>
              <a:rPr lang="en-US" altLang="zh-CN" sz="4000" dirty="0"/>
              <a:t>Graduated granulation</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lang="en-US"/>
          </a:p>
        </p:txBody>
      </p:sp>
      <p:pic>
        <p:nvPicPr>
          <p:cNvPr id="2" name="图片 1">
            <a:extLst>
              <a:ext uri="{FF2B5EF4-FFF2-40B4-BE49-F238E27FC236}">
                <a16:creationId xmlns:a16="http://schemas.microsoft.com/office/drawing/2014/main" id="{F0EED035-0B1F-4232-B7E3-9177D07271B6}"/>
              </a:ext>
            </a:extLst>
          </p:cNvPr>
          <p:cNvPicPr>
            <a:picLocks noChangeAspect="1"/>
          </p:cNvPicPr>
          <p:nvPr/>
        </p:nvPicPr>
        <p:blipFill>
          <a:blip r:embed="rId3"/>
          <a:stretch>
            <a:fillRect/>
          </a:stretch>
        </p:blipFill>
        <p:spPr>
          <a:xfrm>
            <a:off x="2144290" y="3205426"/>
            <a:ext cx="8460795" cy="2981325"/>
          </a:xfrm>
          <a:prstGeom prst="rect">
            <a:avLst/>
          </a:prstGeom>
        </p:spPr>
      </p:pic>
      <p:sp>
        <p:nvSpPr>
          <p:cNvPr id="3" name="矩形 2">
            <a:extLst>
              <a:ext uri="{FF2B5EF4-FFF2-40B4-BE49-F238E27FC236}">
                <a16:creationId xmlns:a16="http://schemas.microsoft.com/office/drawing/2014/main" id="{09B5AC6D-32BA-493A-9B95-EB7EF5F412A4}"/>
              </a:ext>
            </a:extLst>
          </p:cNvPr>
          <p:cNvSpPr/>
          <p:nvPr/>
        </p:nvSpPr>
        <p:spPr>
          <a:xfrm>
            <a:off x="838200" y="1456400"/>
            <a:ext cx="4532010" cy="1446550"/>
          </a:xfrm>
          <a:prstGeom prst="rect">
            <a:avLst/>
          </a:prstGeom>
        </p:spPr>
        <p:txBody>
          <a:bodyPr wrap="none">
            <a:spAutoFit/>
          </a:bodyPr>
          <a:lstStyle/>
          <a:p>
            <a:pPr marL="342900" indent="-342900">
              <a:buFont typeface="Arial" panose="020B0604020202020204" pitchFamily="34" charset="0"/>
              <a:buChar char="•"/>
            </a:pPr>
            <a:r>
              <a:rPr lang="zh-CN" altLang="en-US" sz="2400" dirty="0">
                <a:latin typeface="楷体" panose="02010609060101010101" pitchFamily="49" charset="-122"/>
                <a:ea typeface="楷体" panose="02010609060101010101" pitchFamily="49" charset="-122"/>
              </a:rPr>
              <a:t>模糊邏輯的核心：</a:t>
            </a:r>
            <a:r>
              <a:rPr lang="zh-CN" altLang="en-US" sz="2400" dirty="0">
                <a:solidFill>
                  <a:srgbClr val="FF0000"/>
                </a:solidFill>
                <a:latin typeface="楷体" panose="02010609060101010101" pitchFamily="49" charset="-122"/>
                <a:ea typeface="楷体" panose="02010609060101010101" pitchFamily="49" charset="-122"/>
              </a:rPr>
              <a:t>漸進顆粒化</a:t>
            </a:r>
            <a:endParaRPr lang="en-US" altLang="zh-CN" sz="2400" dirty="0">
              <a:solidFill>
                <a:srgbClr val="FF0000"/>
              </a:solidFill>
              <a:latin typeface="楷体" panose="02010609060101010101" pitchFamily="49" charset="-122"/>
              <a:ea typeface="楷体" panose="02010609060101010101" pitchFamily="49" charset="-122"/>
            </a:endParaRPr>
          </a:p>
          <a:p>
            <a:pPr marL="342900" indent="-342900">
              <a:buFont typeface="Arial" panose="020B0604020202020204" pitchFamily="34" charset="0"/>
              <a:buChar char="•"/>
            </a:pPr>
            <a:endParaRPr lang="en-US" altLang="zh-CN" sz="2400" dirty="0">
              <a:solidFill>
                <a:srgbClr val="FF0000"/>
              </a:solidFill>
              <a:latin typeface="楷体" panose="02010609060101010101" pitchFamily="49" charset="-122"/>
              <a:ea typeface="楷体" panose="02010609060101010101" pitchFamily="49" charset="-122"/>
            </a:endParaRPr>
          </a:p>
          <a:p>
            <a:pPr marL="342900" indent="-342900">
              <a:buFont typeface="Arial" panose="020B0604020202020204" pitchFamily="34" charset="0"/>
              <a:buChar char="•"/>
            </a:pPr>
            <a:r>
              <a:rPr lang="en-US" altLang="zh-CN" sz="2000" dirty="0">
                <a:latin typeface="AdvEPSTIM"/>
              </a:rPr>
              <a:t>E.g.: Linguistic variable</a:t>
            </a:r>
            <a:r>
              <a:rPr lang="zh-CN" altLang="en-US" sz="2000" dirty="0">
                <a:latin typeface="AdvEPSTIM"/>
              </a:rPr>
              <a:t>（</a:t>
            </a:r>
            <a:r>
              <a:rPr lang="zh-CN" altLang="en-US" sz="2000" dirty="0">
                <a:latin typeface="楷体" panose="02010609060101010101" pitchFamily="49" charset="-122"/>
                <a:ea typeface="楷体" panose="02010609060101010101" pitchFamily="49" charset="-122"/>
              </a:rPr>
              <a:t>語義變量</a:t>
            </a:r>
            <a:r>
              <a:rPr lang="zh-CN" altLang="en-US" sz="2000" dirty="0">
                <a:latin typeface="AdvEPSTIM"/>
              </a:rPr>
              <a:t>）</a:t>
            </a:r>
            <a:r>
              <a:rPr lang="en-US" altLang="zh-CN" sz="2000" dirty="0">
                <a:latin typeface="AdvEPSTIM"/>
              </a:rPr>
              <a:t>:</a:t>
            </a:r>
          </a:p>
          <a:p>
            <a:pPr marL="800100" lvl="1" indent="-342900">
              <a:buFont typeface="Arial" panose="020B0604020202020204" pitchFamily="34" charset="0"/>
              <a:buChar char="•"/>
            </a:pPr>
            <a:endParaRPr lang="zh-CN" altLang="en-US" sz="2000" dirty="0"/>
          </a:p>
        </p:txBody>
      </p:sp>
      <p:sp>
        <p:nvSpPr>
          <p:cNvPr id="4" name="矩形 3">
            <a:extLst>
              <a:ext uri="{FF2B5EF4-FFF2-40B4-BE49-F238E27FC236}">
                <a16:creationId xmlns:a16="http://schemas.microsoft.com/office/drawing/2014/main" id="{CE92C456-A3DC-41AB-AC26-AA4C8AB32DA9}"/>
              </a:ext>
            </a:extLst>
          </p:cNvPr>
          <p:cNvSpPr/>
          <p:nvPr/>
        </p:nvSpPr>
        <p:spPr>
          <a:xfrm>
            <a:off x="1929731" y="2778072"/>
            <a:ext cx="9958224" cy="369332"/>
          </a:xfrm>
          <a:prstGeom prst="rect">
            <a:avLst/>
          </a:prstGeom>
        </p:spPr>
        <p:txBody>
          <a:bodyPr wrap="square">
            <a:spAutoFit/>
          </a:bodyPr>
          <a:lstStyle/>
          <a:p>
            <a:r>
              <a:rPr lang="zh-CN" altLang="en-US" dirty="0">
                <a:latin typeface="楷体" panose="02010609060101010101" pitchFamily="49" charset="-122"/>
                <a:ea typeface="楷体" panose="02010609060101010101" pitchFamily="49" charset="-122"/>
              </a:rPr>
              <a:t>連續值</a:t>
            </a:r>
            <a:r>
              <a:rPr lang="en-US" altLang="zh-CN" dirty="0">
                <a:latin typeface="楷体" panose="02010609060101010101" pitchFamily="49" charset="-122"/>
                <a:ea typeface="楷体" panose="02010609060101010101" pitchFamily="49" charset="-122"/>
              </a:rPr>
              <a:t>(</a:t>
            </a:r>
            <a:r>
              <a:rPr lang="en-US" altLang="zh-CN" dirty="0">
                <a:solidFill>
                  <a:srgbClr val="FF0000"/>
                </a:solidFill>
                <a:latin typeface="楷体" panose="02010609060101010101" pitchFamily="49" charset="-122"/>
                <a:ea typeface="楷体" panose="02010609060101010101" pitchFamily="49" charset="-122"/>
              </a:rPr>
              <a:t>age = 30</a:t>
            </a:r>
            <a:r>
              <a:rPr lang="en-US" altLang="zh-CN" dirty="0">
                <a:latin typeface="楷体" panose="02010609060101010101" pitchFamily="49" charset="-122"/>
                <a:ea typeface="楷体" panose="02010609060101010101" pitchFamily="49" charset="-122"/>
              </a:rPr>
              <a:t>) -&gt; </a:t>
            </a:r>
            <a:r>
              <a:rPr lang="zh-CN" altLang="en-US" dirty="0">
                <a:latin typeface="楷体" panose="02010609060101010101" pitchFamily="49" charset="-122"/>
                <a:ea typeface="楷体" panose="02010609060101010101" pitchFamily="49" charset="-122"/>
              </a:rPr>
              <a:t>量化</a:t>
            </a:r>
            <a:r>
              <a:rPr lang="en-US" altLang="zh-CN" dirty="0">
                <a:latin typeface="楷体" panose="02010609060101010101" pitchFamily="49" charset="-122"/>
                <a:ea typeface="楷体" panose="02010609060101010101" pitchFamily="49" charset="-122"/>
              </a:rPr>
              <a:t>(age = </a:t>
            </a:r>
            <a:r>
              <a:rPr lang="en-US" altLang="zh-CN" dirty="0">
                <a:solidFill>
                  <a:srgbClr val="FF0000"/>
                </a:solidFill>
                <a:latin typeface="楷体" panose="02010609060101010101" pitchFamily="49" charset="-122"/>
                <a:ea typeface="楷体" panose="02010609060101010101" pitchFamily="49" charset="-122"/>
              </a:rPr>
              <a:t>young</a:t>
            </a:r>
            <a:r>
              <a:rPr lang="en-US" altLang="zh-CN" dirty="0">
                <a:latin typeface="楷体" panose="02010609060101010101" pitchFamily="49" charset="-122"/>
                <a:ea typeface="楷体" panose="02010609060101010101" pitchFamily="49" charset="-122"/>
              </a:rPr>
              <a:t>) -&gt; </a:t>
            </a:r>
            <a:r>
              <a:rPr lang="zh-CN" altLang="en-US" dirty="0">
                <a:latin typeface="楷体" panose="02010609060101010101" pitchFamily="49" charset="-122"/>
                <a:ea typeface="楷体" panose="02010609060101010101" pitchFamily="49" charset="-122"/>
              </a:rPr>
              <a:t>漸進顆粒化</a:t>
            </a:r>
            <a:r>
              <a:rPr lang="en-US" altLang="zh-CN" dirty="0">
                <a:latin typeface="楷体" panose="02010609060101010101" pitchFamily="49" charset="-122"/>
                <a:ea typeface="楷体" panose="02010609060101010101" pitchFamily="49" charset="-122"/>
              </a:rPr>
              <a:t>(age = </a:t>
            </a:r>
            <a:r>
              <a:rPr lang="en-US" altLang="zh-CN" dirty="0">
                <a:solidFill>
                  <a:srgbClr val="FF0000"/>
                </a:solidFill>
                <a:latin typeface="楷体" panose="02010609060101010101" pitchFamily="49" charset="-122"/>
                <a:ea typeface="楷体" panose="02010609060101010101" pitchFamily="49" charset="-122"/>
              </a:rPr>
              <a:t>0.3/young + 0.3/middle-aged</a:t>
            </a:r>
            <a:r>
              <a:rPr lang="en-US" altLang="zh-CN" dirty="0">
                <a:latin typeface="AdvEPSTIM"/>
              </a:rPr>
              <a:t>)</a:t>
            </a:r>
            <a:endParaRPr lang="zh-CN" altLang="en-US" dirty="0"/>
          </a:p>
        </p:txBody>
      </p:sp>
    </p:spTree>
    <p:extLst>
      <p:ext uri="{BB962C8B-B14F-4D97-AF65-F5344CB8AC3E}">
        <p14:creationId xmlns:p14="http://schemas.microsoft.com/office/powerpoint/2010/main" val="3456376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4. </a:t>
            </a:r>
            <a:r>
              <a:rPr lang="en-US" altLang="zh-CN" dirty="0"/>
              <a:t>Core of FL: </a:t>
            </a:r>
            <a:r>
              <a:rPr lang="en-US" altLang="zh-CN" sz="4000" dirty="0"/>
              <a:t>Graduated granulation</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lang="en-US"/>
          </a:p>
        </p:txBody>
      </p:sp>
      <p:sp>
        <p:nvSpPr>
          <p:cNvPr id="3" name="矩形 2">
            <a:extLst>
              <a:ext uri="{FF2B5EF4-FFF2-40B4-BE49-F238E27FC236}">
                <a16:creationId xmlns:a16="http://schemas.microsoft.com/office/drawing/2014/main" id="{09B5AC6D-32BA-493A-9B95-EB7EF5F412A4}"/>
              </a:ext>
            </a:extLst>
          </p:cNvPr>
          <p:cNvSpPr/>
          <p:nvPr/>
        </p:nvSpPr>
        <p:spPr>
          <a:xfrm>
            <a:off x="838200" y="1845049"/>
            <a:ext cx="4596579" cy="461665"/>
          </a:xfrm>
          <a:prstGeom prst="rect">
            <a:avLst/>
          </a:prstGeom>
        </p:spPr>
        <p:txBody>
          <a:bodyPr wrap="none">
            <a:spAutoFit/>
          </a:bodyPr>
          <a:lstStyle/>
          <a:p>
            <a:pPr marL="342900" indent="-342900">
              <a:buFont typeface="Arial" panose="020B0604020202020204" pitchFamily="34" charset="0"/>
              <a:buChar char="•"/>
            </a:pPr>
            <a:r>
              <a:rPr lang="en-US" altLang="zh-CN" sz="2400" dirty="0">
                <a:latin typeface="AdvEPSTIM"/>
              </a:rPr>
              <a:t>Granular value</a:t>
            </a:r>
            <a:r>
              <a:rPr lang="zh-CN" altLang="en-US" sz="2400" dirty="0">
                <a:latin typeface="AdvEPSTIM"/>
              </a:rPr>
              <a:t>（</a:t>
            </a:r>
            <a:r>
              <a:rPr lang="zh-CN" altLang="en-US" sz="2400" dirty="0">
                <a:latin typeface="楷体" panose="02010609060101010101" pitchFamily="49" charset="-122"/>
                <a:ea typeface="楷体" panose="02010609060101010101" pitchFamily="49" charset="-122"/>
              </a:rPr>
              <a:t>值的顆粒化</a:t>
            </a:r>
            <a:r>
              <a:rPr lang="zh-CN" altLang="en-US" sz="2400" dirty="0">
                <a:latin typeface="AdvEPSTIM"/>
              </a:rPr>
              <a:t>）</a:t>
            </a:r>
            <a:r>
              <a:rPr lang="en-US" altLang="zh-CN" sz="2400" dirty="0">
                <a:latin typeface="AdvEPSTIM"/>
              </a:rPr>
              <a:t>:</a:t>
            </a:r>
            <a:endParaRPr lang="zh-CN" altLang="en-US" sz="2400" dirty="0"/>
          </a:p>
        </p:txBody>
      </p:sp>
      <p:sp>
        <p:nvSpPr>
          <p:cNvPr id="6" name="矩形 5">
            <a:extLst>
              <a:ext uri="{FF2B5EF4-FFF2-40B4-BE49-F238E27FC236}">
                <a16:creationId xmlns:a16="http://schemas.microsoft.com/office/drawing/2014/main" id="{45361950-F24E-47C5-B2B0-07FD8CC3584E}"/>
              </a:ext>
            </a:extLst>
          </p:cNvPr>
          <p:cNvSpPr/>
          <p:nvPr/>
        </p:nvSpPr>
        <p:spPr>
          <a:xfrm>
            <a:off x="3440086" y="2540331"/>
            <a:ext cx="6372297" cy="369332"/>
          </a:xfrm>
          <a:prstGeom prst="rect">
            <a:avLst/>
          </a:prstGeom>
        </p:spPr>
        <p:txBody>
          <a:bodyPr wrap="square">
            <a:spAutoFit/>
          </a:bodyPr>
          <a:lstStyle/>
          <a:p>
            <a:r>
              <a:rPr lang="en-US" altLang="zh-CN" dirty="0">
                <a:latin typeface="楷体" panose="02010609060101010101" pitchFamily="49" charset="-122"/>
                <a:ea typeface="楷体" panose="02010609060101010101" pitchFamily="49" charset="-122"/>
              </a:rPr>
              <a:t>Singular value(</a:t>
            </a:r>
            <a:r>
              <a:rPr lang="zh-CN" altLang="en-US" dirty="0">
                <a:latin typeface="楷体" panose="02010609060101010101" pitchFamily="49" charset="-122"/>
                <a:ea typeface="楷体" panose="02010609060101010101" pitchFamily="49" charset="-122"/>
              </a:rPr>
              <a:t>單點值</a:t>
            </a:r>
            <a:r>
              <a:rPr lang="en-US" altLang="zh-CN" dirty="0">
                <a:latin typeface="楷体" panose="02010609060101010101" pitchFamily="49" charset="-122"/>
                <a:ea typeface="楷体" panose="02010609060101010101" pitchFamily="49" charset="-122"/>
              </a:rPr>
              <a:t>) -&gt; Granular value(</a:t>
            </a:r>
            <a:r>
              <a:rPr lang="zh-CN" altLang="en-US" dirty="0">
                <a:latin typeface="楷体" panose="02010609060101010101" pitchFamily="49" charset="-122"/>
                <a:ea typeface="楷体" panose="02010609060101010101" pitchFamily="49" charset="-122"/>
              </a:rPr>
              <a:t>顆粒值</a:t>
            </a:r>
            <a:r>
              <a:rPr lang="en-US" altLang="zh-CN" dirty="0">
                <a:latin typeface="楷体" panose="02010609060101010101" pitchFamily="49" charset="-122"/>
                <a:ea typeface="楷体" panose="02010609060101010101" pitchFamily="49" charset="-122"/>
              </a:rPr>
              <a:t>)</a:t>
            </a:r>
            <a:endParaRPr lang="zh-CN" altLang="en-US" dirty="0"/>
          </a:p>
        </p:txBody>
      </p:sp>
      <p:grpSp>
        <p:nvGrpSpPr>
          <p:cNvPr id="2" name="组合 1">
            <a:extLst>
              <a:ext uri="{FF2B5EF4-FFF2-40B4-BE49-F238E27FC236}">
                <a16:creationId xmlns:a16="http://schemas.microsoft.com/office/drawing/2014/main" id="{ABFB5276-8680-43F5-B730-AEC3BF1D39CD}"/>
              </a:ext>
            </a:extLst>
          </p:cNvPr>
          <p:cNvGrpSpPr/>
          <p:nvPr/>
        </p:nvGrpSpPr>
        <p:grpSpPr>
          <a:xfrm>
            <a:off x="3600850" y="4494576"/>
            <a:ext cx="5564958" cy="1781735"/>
            <a:chOff x="2788467" y="4345663"/>
            <a:chExt cx="5564958" cy="1781735"/>
          </a:xfrm>
        </p:grpSpPr>
        <p:pic>
          <p:nvPicPr>
            <p:cNvPr id="4" name="图片 3">
              <a:extLst>
                <a:ext uri="{FF2B5EF4-FFF2-40B4-BE49-F238E27FC236}">
                  <a16:creationId xmlns:a16="http://schemas.microsoft.com/office/drawing/2014/main" id="{1EDEA3E3-E206-4D0A-BDF8-BC7FC9956E94}"/>
                </a:ext>
              </a:extLst>
            </p:cNvPr>
            <p:cNvPicPr>
              <a:picLocks noChangeAspect="1"/>
            </p:cNvPicPr>
            <p:nvPr/>
          </p:nvPicPr>
          <p:blipFill rotWithShape="1">
            <a:blip r:embed="rId3"/>
            <a:srcRect t="43143"/>
            <a:stretch/>
          </p:blipFill>
          <p:spPr>
            <a:xfrm>
              <a:off x="3838575" y="4345663"/>
              <a:ext cx="4514850" cy="1781735"/>
            </a:xfrm>
            <a:prstGeom prst="rect">
              <a:avLst/>
            </a:prstGeom>
          </p:spPr>
        </p:pic>
        <p:sp>
          <p:nvSpPr>
            <p:cNvPr id="7" name="矩形 6">
              <a:extLst>
                <a:ext uri="{FF2B5EF4-FFF2-40B4-BE49-F238E27FC236}">
                  <a16:creationId xmlns:a16="http://schemas.microsoft.com/office/drawing/2014/main" id="{27187A59-D28D-4DA6-90BC-59D2F10F90A6}"/>
                </a:ext>
              </a:extLst>
            </p:cNvPr>
            <p:cNvSpPr/>
            <p:nvPr/>
          </p:nvSpPr>
          <p:spPr>
            <a:xfrm>
              <a:off x="2788467" y="4660123"/>
              <a:ext cx="1303238" cy="830997"/>
            </a:xfrm>
            <a:prstGeom prst="rect">
              <a:avLst/>
            </a:prstGeom>
          </p:spPr>
          <p:txBody>
            <a:bodyPr wrap="square">
              <a:spAutoFit/>
            </a:bodyPr>
            <a:lstStyle/>
            <a:p>
              <a:r>
                <a:rPr lang="zh-CN" altLang="en-US" sz="1600" dirty="0">
                  <a:solidFill>
                    <a:srgbClr val="FF0000"/>
                  </a:solidFill>
                  <a:latin typeface="楷体" panose="02010609060101010101" pitchFamily="49" charset="-122"/>
                  <a:ea typeface="楷体" panose="02010609060101010101" pitchFamily="49" charset="-122"/>
                </a:rPr>
                <a:t>失業率</a:t>
              </a:r>
              <a:r>
                <a:rPr lang="en-US" altLang="zh-CN" sz="1600" dirty="0">
                  <a:latin typeface="楷体" panose="02010609060101010101" pitchFamily="49" charset="-122"/>
                  <a:ea typeface="楷体" panose="02010609060101010101" pitchFamily="49" charset="-122"/>
                </a:rPr>
                <a:t>	= </a:t>
              </a:r>
            </a:p>
            <a:p>
              <a:r>
                <a:rPr lang="zh-CN" altLang="en-US" sz="1600" dirty="0">
                  <a:solidFill>
                    <a:srgbClr val="FF0000"/>
                  </a:solidFill>
                  <a:latin typeface="楷体" panose="02010609060101010101" pitchFamily="49" charset="-122"/>
                  <a:ea typeface="楷体" panose="02010609060101010101" pitchFamily="49" charset="-122"/>
                </a:rPr>
                <a:t>溫度</a:t>
              </a:r>
              <a:r>
                <a:rPr lang="en-US" altLang="zh-CN" sz="1600" dirty="0">
                  <a:latin typeface="楷体" panose="02010609060101010101" pitchFamily="49" charset="-122"/>
                  <a:ea typeface="楷体" panose="02010609060101010101" pitchFamily="49" charset="-122"/>
                </a:rPr>
                <a:t>	=</a:t>
              </a:r>
            </a:p>
            <a:p>
              <a:r>
                <a:rPr lang="zh-CN" altLang="en-US" sz="1600" dirty="0">
                  <a:solidFill>
                    <a:srgbClr val="FF0000"/>
                  </a:solidFill>
                  <a:latin typeface="楷体" panose="02010609060101010101" pitchFamily="49" charset="-122"/>
                  <a:ea typeface="楷体" panose="02010609060101010101" pitchFamily="49" charset="-122"/>
                </a:rPr>
                <a:t>血壓</a:t>
              </a:r>
              <a:r>
                <a:rPr lang="en-US" altLang="zh-CN" sz="1600" dirty="0">
                  <a:latin typeface="楷体" panose="02010609060101010101" pitchFamily="49" charset="-122"/>
                  <a:ea typeface="楷体" panose="02010609060101010101" pitchFamily="49" charset="-122"/>
                </a:rPr>
                <a:t>	=</a:t>
              </a:r>
              <a:endParaRPr lang="zh-CN" altLang="en-US" sz="1600" dirty="0"/>
            </a:p>
          </p:txBody>
        </p:sp>
      </p:grpSp>
      <p:pic>
        <p:nvPicPr>
          <p:cNvPr id="8" name="图片 7">
            <a:extLst>
              <a:ext uri="{FF2B5EF4-FFF2-40B4-BE49-F238E27FC236}">
                <a16:creationId xmlns:a16="http://schemas.microsoft.com/office/drawing/2014/main" id="{0667ED9C-96A7-4B5A-A7C1-0E4A4AF7D96C}"/>
              </a:ext>
            </a:extLst>
          </p:cNvPr>
          <p:cNvPicPr>
            <a:picLocks noChangeAspect="1"/>
          </p:cNvPicPr>
          <p:nvPr/>
        </p:nvPicPr>
        <p:blipFill rotWithShape="1">
          <a:blip r:embed="rId3"/>
          <a:srcRect b="53658"/>
          <a:stretch/>
        </p:blipFill>
        <p:spPr>
          <a:xfrm>
            <a:off x="3600850" y="3094388"/>
            <a:ext cx="4514850" cy="1452245"/>
          </a:xfrm>
          <a:prstGeom prst="rect">
            <a:avLst/>
          </a:prstGeom>
        </p:spPr>
      </p:pic>
    </p:spTree>
    <p:extLst>
      <p:ext uri="{BB962C8B-B14F-4D97-AF65-F5344CB8AC3E}">
        <p14:creationId xmlns:p14="http://schemas.microsoft.com/office/powerpoint/2010/main" val="2868216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4. </a:t>
            </a:r>
            <a:r>
              <a:rPr lang="en-US" altLang="zh-CN" dirty="0"/>
              <a:t>Core of FL: </a:t>
            </a:r>
            <a:r>
              <a:rPr lang="en-US" altLang="zh-CN" sz="4000" dirty="0"/>
              <a:t>Graduated granulation</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lang="en-US"/>
          </a:p>
        </p:txBody>
      </p:sp>
      <p:sp>
        <p:nvSpPr>
          <p:cNvPr id="3" name="矩形 2">
            <a:extLst>
              <a:ext uri="{FF2B5EF4-FFF2-40B4-BE49-F238E27FC236}">
                <a16:creationId xmlns:a16="http://schemas.microsoft.com/office/drawing/2014/main" id="{09B5AC6D-32BA-493A-9B95-EB7EF5F412A4}"/>
              </a:ext>
            </a:extLst>
          </p:cNvPr>
          <p:cNvSpPr/>
          <p:nvPr/>
        </p:nvSpPr>
        <p:spPr>
          <a:xfrm>
            <a:off x="838200" y="1751161"/>
            <a:ext cx="5840510" cy="461665"/>
          </a:xfrm>
          <a:prstGeom prst="rect">
            <a:avLst/>
          </a:prstGeom>
        </p:spPr>
        <p:txBody>
          <a:bodyPr wrap="none">
            <a:spAutoFit/>
          </a:bodyPr>
          <a:lstStyle/>
          <a:p>
            <a:pPr marL="342900" indent="-342900">
              <a:buFont typeface="Arial" panose="020B0604020202020204" pitchFamily="34" charset="0"/>
              <a:buChar char="•"/>
            </a:pPr>
            <a:r>
              <a:rPr lang="en-US" altLang="zh-CN" sz="2400" dirty="0">
                <a:latin typeface="AdvEPSTIM"/>
              </a:rPr>
              <a:t>Granulation of a function(</a:t>
            </a:r>
            <a:r>
              <a:rPr lang="zh-CN" altLang="en-US" sz="2400" dirty="0">
                <a:latin typeface="楷体" panose="02010609060101010101" pitchFamily="49" charset="-122"/>
                <a:ea typeface="楷体" panose="02010609060101010101" pitchFamily="49" charset="-122"/>
              </a:rPr>
              <a:t>函數的顆粒化</a:t>
            </a:r>
            <a:r>
              <a:rPr lang="en-US" altLang="zh-CN" sz="2400" dirty="0">
                <a:latin typeface="楷体" panose="02010609060101010101" pitchFamily="49" charset="-122"/>
                <a:ea typeface="楷体" panose="02010609060101010101" pitchFamily="49" charset="-122"/>
              </a:rPr>
              <a:t>)</a:t>
            </a:r>
            <a:r>
              <a:rPr lang="en-US" altLang="zh-CN" sz="2400" dirty="0">
                <a:latin typeface="AdvEPSTIM"/>
              </a:rPr>
              <a:t>:</a:t>
            </a:r>
            <a:endParaRPr lang="zh-CN" altLang="en-US" sz="2400" dirty="0"/>
          </a:p>
        </p:txBody>
      </p:sp>
      <p:grpSp>
        <p:nvGrpSpPr>
          <p:cNvPr id="5" name="组合 4">
            <a:extLst>
              <a:ext uri="{FF2B5EF4-FFF2-40B4-BE49-F238E27FC236}">
                <a16:creationId xmlns:a16="http://schemas.microsoft.com/office/drawing/2014/main" id="{55088328-0C9B-447F-A55C-6E0EB3033D1E}"/>
              </a:ext>
            </a:extLst>
          </p:cNvPr>
          <p:cNvGrpSpPr/>
          <p:nvPr/>
        </p:nvGrpSpPr>
        <p:grpSpPr>
          <a:xfrm>
            <a:off x="971365" y="2382710"/>
            <a:ext cx="10515600" cy="4219575"/>
            <a:chOff x="971365" y="2382710"/>
            <a:chExt cx="10515600" cy="4219575"/>
          </a:xfrm>
        </p:grpSpPr>
        <p:pic>
          <p:nvPicPr>
            <p:cNvPr id="2" name="图片 1">
              <a:extLst>
                <a:ext uri="{FF2B5EF4-FFF2-40B4-BE49-F238E27FC236}">
                  <a16:creationId xmlns:a16="http://schemas.microsoft.com/office/drawing/2014/main" id="{2F34F674-45B2-43F2-9214-096E69029707}"/>
                </a:ext>
              </a:extLst>
            </p:cNvPr>
            <p:cNvPicPr>
              <a:picLocks noChangeAspect="1"/>
            </p:cNvPicPr>
            <p:nvPr/>
          </p:nvPicPr>
          <p:blipFill>
            <a:blip r:embed="rId3"/>
            <a:stretch>
              <a:fillRect/>
            </a:stretch>
          </p:blipFill>
          <p:spPr>
            <a:xfrm>
              <a:off x="971365" y="2382710"/>
              <a:ext cx="10515600" cy="4219575"/>
            </a:xfrm>
            <a:prstGeom prst="rect">
              <a:avLst/>
            </a:prstGeom>
          </p:spPr>
        </p:pic>
        <p:sp>
          <p:nvSpPr>
            <p:cNvPr id="4" name="矩形 3">
              <a:extLst>
                <a:ext uri="{FF2B5EF4-FFF2-40B4-BE49-F238E27FC236}">
                  <a16:creationId xmlns:a16="http://schemas.microsoft.com/office/drawing/2014/main" id="{2EB75DA3-BFE7-4B4F-B68B-1AD908851A63}"/>
                </a:ext>
              </a:extLst>
            </p:cNvPr>
            <p:cNvSpPr/>
            <p:nvPr/>
          </p:nvSpPr>
          <p:spPr>
            <a:xfrm>
              <a:off x="5767057" y="4897925"/>
              <a:ext cx="3232088" cy="1122629"/>
            </a:xfrm>
            <a:prstGeom prst="rect">
              <a:avLst/>
            </a:prstGeom>
            <a:noFill/>
            <a:ln w="762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grpSp>
    </p:spTree>
    <p:extLst>
      <p:ext uri="{BB962C8B-B14F-4D97-AF65-F5344CB8AC3E}">
        <p14:creationId xmlns:p14="http://schemas.microsoft.com/office/powerpoint/2010/main" val="1237419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4. </a:t>
            </a:r>
            <a:r>
              <a:rPr lang="en-US" altLang="zh-CN" dirty="0"/>
              <a:t>Core of FL: </a:t>
            </a:r>
            <a:r>
              <a:rPr lang="en-US" altLang="zh-CN" sz="4000" dirty="0"/>
              <a:t>Graduated granulation</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lang="en-US"/>
          </a:p>
        </p:txBody>
      </p:sp>
      <p:sp>
        <p:nvSpPr>
          <p:cNvPr id="3" name="矩形 2">
            <a:extLst>
              <a:ext uri="{FF2B5EF4-FFF2-40B4-BE49-F238E27FC236}">
                <a16:creationId xmlns:a16="http://schemas.microsoft.com/office/drawing/2014/main" id="{09B5AC6D-32BA-493A-9B95-EB7EF5F412A4}"/>
              </a:ext>
            </a:extLst>
          </p:cNvPr>
          <p:cNvSpPr/>
          <p:nvPr/>
        </p:nvSpPr>
        <p:spPr>
          <a:xfrm>
            <a:off x="838200" y="1845049"/>
            <a:ext cx="8650189" cy="461665"/>
          </a:xfrm>
          <a:prstGeom prst="rect">
            <a:avLst/>
          </a:prstGeom>
        </p:spPr>
        <p:txBody>
          <a:bodyPr wrap="none">
            <a:spAutoFit/>
          </a:bodyPr>
          <a:lstStyle/>
          <a:p>
            <a:pPr marL="342900" indent="-342900">
              <a:buFont typeface="Arial" panose="020B0604020202020204" pitchFamily="34" charset="0"/>
              <a:buChar char="•"/>
            </a:pPr>
            <a:r>
              <a:rPr lang="en-US" altLang="zh-CN" sz="2400" dirty="0">
                <a:latin typeface="AdvEPSTIM"/>
              </a:rPr>
              <a:t>Granulation of a probability distribution</a:t>
            </a:r>
            <a:r>
              <a:rPr lang="zh-CN" altLang="en-US" sz="2400" dirty="0">
                <a:latin typeface="AdvEPSTIM"/>
              </a:rPr>
              <a:t>（</a:t>
            </a:r>
            <a:r>
              <a:rPr lang="zh-CN" altLang="en-US" sz="2400" dirty="0">
                <a:latin typeface="楷体" panose="02010609060101010101" pitchFamily="49" charset="-122"/>
                <a:ea typeface="楷体" panose="02010609060101010101" pitchFamily="49" charset="-122"/>
              </a:rPr>
              <a:t>概率分佈的顆粒化</a:t>
            </a:r>
            <a:r>
              <a:rPr lang="zh-CN" altLang="en-US" sz="2400" dirty="0">
                <a:latin typeface="AdvEPSTIM"/>
              </a:rPr>
              <a:t>）</a:t>
            </a:r>
            <a:r>
              <a:rPr lang="en-US" altLang="zh-CN" sz="2400" dirty="0">
                <a:latin typeface="AdvEPSTIM"/>
              </a:rPr>
              <a:t>:</a:t>
            </a:r>
            <a:endParaRPr lang="zh-CN" altLang="en-US" sz="2400" dirty="0"/>
          </a:p>
        </p:txBody>
      </p:sp>
      <p:pic>
        <p:nvPicPr>
          <p:cNvPr id="2" name="图片 1">
            <a:extLst>
              <a:ext uri="{FF2B5EF4-FFF2-40B4-BE49-F238E27FC236}">
                <a16:creationId xmlns:a16="http://schemas.microsoft.com/office/drawing/2014/main" id="{B7CCBC37-4842-4345-A2B8-50ADFC8D89E1}"/>
              </a:ext>
            </a:extLst>
          </p:cNvPr>
          <p:cNvPicPr>
            <a:picLocks noChangeAspect="1"/>
          </p:cNvPicPr>
          <p:nvPr/>
        </p:nvPicPr>
        <p:blipFill>
          <a:blip r:embed="rId3"/>
          <a:stretch>
            <a:fillRect/>
          </a:stretch>
        </p:blipFill>
        <p:spPr>
          <a:xfrm>
            <a:off x="3328987" y="2306714"/>
            <a:ext cx="5534025" cy="4095750"/>
          </a:xfrm>
          <a:prstGeom prst="rect">
            <a:avLst/>
          </a:prstGeom>
        </p:spPr>
      </p:pic>
    </p:spTree>
    <p:extLst>
      <p:ext uri="{BB962C8B-B14F-4D97-AF65-F5344CB8AC3E}">
        <p14:creationId xmlns:p14="http://schemas.microsoft.com/office/powerpoint/2010/main" val="11706347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62417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sz="4000" dirty="0"/>
              <a:t>Part 1: What is fuzzy logic – a nontraditional view</a:t>
            </a:r>
            <a:endParaRPr lang="en-US" sz="4000"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lang="en-US" dirty="0"/>
          </a:p>
        </p:txBody>
      </p:sp>
      <p:sp>
        <p:nvSpPr>
          <p:cNvPr id="3" name="矩形 2">
            <a:extLst>
              <a:ext uri="{FF2B5EF4-FFF2-40B4-BE49-F238E27FC236}">
                <a16:creationId xmlns:a16="http://schemas.microsoft.com/office/drawing/2014/main" id="{39437D76-3DF5-44FE-85DD-44F964B800AE}"/>
              </a:ext>
            </a:extLst>
          </p:cNvPr>
          <p:cNvSpPr/>
          <p:nvPr/>
        </p:nvSpPr>
        <p:spPr>
          <a:xfrm>
            <a:off x="1859574" y="3949738"/>
            <a:ext cx="8944372" cy="954107"/>
          </a:xfrm>
          <a:prstGeom prst="rect">
            <a:avLst/>
          </a:prstGeom>
        </p:spPr>
        <p:txBody>
          <a:bodyPr wrap="none">
            <a:spAutoFit/>
          </a:bodyPr>
          <a:lstStyle/>
          <a:p>
            <a:pPr algn="ctr"/>
            <a:r>
              <a:rPr lang="en-US" altLang="zh-CN" sz="2800" dirty="0">
                <a:latin typeface="AdvEPSTIM-I"/>
              </a:rPr>
              <a:t>1.2 The concepts of precisiation and cointensive precisiation</a:t>
            </a:r>
          </a:p>
          <a:p>
            <a:pPr algn="ctr"/>
            <a:r>
              <a:rPr lang="zh-CN" altLang="en-US" sz="2800" dirty="0">
                <a:latin typeface="楷体" panose="02010609060101010101" pitchFamily="49" charset="-122"/>
                <a:ea typeface="楷体" panose="02010609060101010101" pitchFamily="49" charset="-122"/>
              </a:rPr>
              <a:t>什麼是強一致性精確化？</a:t>
            </a:r>
          </a:p>
        </p:txBody>
      </p:sp>
    </p:spTree>
    <p:extLst>
      <p:ext uri="{BB962C8B-B14F-4D97-AF65-F5344CB8AC3E}">
        <p14:creationId xmlns:p14="http://schemas.microsoft.com/office/powerpoint/2010/main" val="2509785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 </a:t>
            </a:r>
            <a:r>
              <a:rPr lang="en-US" altLang="zh-CN" dirty="0"/>
              <a:t>The concepts of precisiation</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lang="en-US"/>
          </a:p>
        </p:txBody>
      </p:sp>
      <p:sp>
        <p:nvSpPr>
          <p:cNvPr id="3" name="矩形 2">
            <a:extLst>
              <a:ext uri="{FF2B5EF4-FFF2-40B4-BE49-F238E27FC236}">
                <a16:creationId xmlns:a16="http://schemas.microsoft.com/office/drawing/2014/main" id="{09B5AC6D-32BA-493A-9B95-EB7EF5F412A4}"/>
              </a:ext>
            </a:extLst>
          </p:cNvPr>
          <p:cNvSpPr/>
          <p:nvPr/>
        </p:nvSpPr>
        <p:spPr>
          <a:xfrm>
            <a:off x="894439" y="1542278"/>
            <a:ext cx="5492979" cy="1200329"/>
          </a:xfrm>
          <a:prstGeom prst="rect">
            <a:avLst/>
          </a:prstGeom>
        </p:spPr>
        <p:txBody>
          <a:bodyPr wrap="none">
            <a:spAutoFit/>
          </a:bodyPr>
          <a:lstStyle/>
          <a:p>
            <a:pPr marL="342900" indent="-342900">
              <a:buFont typeface="Arial" panose="020B0604020202020204" pitchFamily="34" charset="0"/>
              <a:buChar char="•"/>
            </a:pPr>
            <a:r>
              <a:rPr lang="en-US" altLang="zh-CN" sz="2400" dirty="0">
                <a:latin typeface="AdvEPSTIM"/>
              </a:rPr>
              <a:t>Mathematical modeling &lt;-&gt; Precisiation</a:t>
            </a:r>
          </a:p>
          <a:p>
            <a:pPr marL="342900" indent="-342900">
              <a:buFont typeface="Arial" panose="020B0604020202020204" pitchFamily="34" charset="0"/>
              <a:buChar char="•"/>
            </a:pPr>
            <a:endParaRPr lang="en-US" altLang="zh-CN" sz="2400" dirty="0">
              <a:latin typeface="AdvEPSTIM"/>
            </a:endParaRPr>
          </a:p>
          <a:p>
            <a:pPr marL="342900" indent="-342900">
              <a:buFont typeface="Arial" panose="020B0604020202020204" pitchFamily="34" charset="0"/>
              <a:buChar char="•"/>
            </a:pPr>
            <a:r>
              <a:rPr lang="en-US" altLang="zh-CN" sz="2400" dirty="0">
                <a:latin typeface="AdvEPSTIM"/>
              </a:rPr>
              <a:t>Basic concepts:</a:t>
            </a:r>
            <a:endParaRPr lang="zh-CN" altLang="en-US" sz="2400" dirty="0"/>
          </a:p>
        </p:txBody>
      </p:sp>
      <p:grpSp>
        <p:nvGrpSpPr>
          <p:cNvPr id="5" name="组合 4">
            <a:extLst>
              <a:ext uri="{FF2B5EF4-FFF2-40B4-BE49-F238E27FC236}">
                <a16:creationId xmlns:a16="http://schemas.microsoft.com/office/drawing/2014/main" id="{99D5B5F9-F71D-4F90-A33B-15B7FCDF8B26}"/>
              </a:ext>
            </a:extLst>
          </p:cNvPr>
          <p:cNvGrpSpPr/>
          <p:nvPr/>
        </p:nvGrpSpPr>
        <p:grpSpPr>
          <a:xfrm>
            <a:off x="2872424" y="2826696"/>
            <a:ext cx="6447152" cy="2284238"/>
            <a:chOff x="2995612" y="2169195"/>
            <a:chExt cx="6200775" cy="2240755"/>
          </a:xfrm>
        </p:grpSpPr>
        <p:grpSp>
          <p:nvGrpSpPr>
            <p:cNvPr id="4" name="组合 3">
              <a:extLst>
                <a:ext uri="{FF2B5EF4-FFF2-40B4-BE49-F238E27FC236}">
                  <a16:creationId xmlns:a16="http://schemas.microsoft.com/office/drawing/2014/main" id="{DD1C49D0-5C76-45FC-B7FE-FCEA284ED24C}"/>
                </a:ext>
              </a:extLst>
            </p:cNvPr>
            <p:cNvGrpSpPr/>
            <p:nvPr/>
          </p:nvGrpSpPr>
          <p:grpSpPr>
            <a:xfrm>
              <a:off x="2995612" y="2169195"/>
              <a:ext cx="6200775" cy="2240755"/>
              <a:chOff x="2995612" y="1933805"/>
              <a:chExt cx="6200775" cy="2240755"/>
            </a:xfrm>
          </p:grpSpPr>
          <p:pic>
            <p:nvPicPr>
              <p:cNvPr id="2" name="图片 1">
                <a:extLst>
                  <a:ext uri="{FF2B5EF4-FFF2-40B4-BE49-F238E27FC236}">
                    <a16:creationId xmlns:a16="http://schemas.microsoft.com/office/drawing/2014/main" id="{2693D024-FBBF-4D2A-8788-12BC57ACE44B}"/>
                  </a:ext>
                </a:extLst>
              </p:cNvPr>
              <p:cNvPicPr>
                <a:picLocks noChangeAspect="1"/>
              </p:cNvPicPr>
              <p:nvPr/>
            </p:nvPicPr>
            <p:blipFill rotWithShape="1">
              <a:blip r:embed="rId3"/>
              <a:srcRect b="48665"/>
              <a:stretch/>
            </p:blipFill>
            <p:spPr>
              <a:xfrm>
                <a:off x="2995612" y="2306714"/>
                <a:ext cx="6200775" cy="1867846"/>
              </a:xfrm>
              <a:prstGeom prst="rect">
                <a:avLst/>
              </a:prstGeom>
            </p:spPr>
          </p:pic>
          <p:sp>
            <p:nvSpPr>
              <p:cNvPr id="6" name="矩形 5">
                <a:extLst>
                  <a:ext uri="{FF2B5EF4-FFF2-40B4-BE49-F238E27FC236}">
                    <a16:creationId xmlns:a16="http://schemas.microsoft.com/office/drawing/2014/main" id="{B613890D-9508-4191-98F7-EB3F3D6CBFB2}"/>
                  </a:ext>
                </a:extLst>
              </p:cNvPr>
              <p:cNvSpPr/>
              <p:nvPr/>
            </p:nvSpPr>
            <p:spPr>
              <a:xfrm>
                <a:off x="3231109" y="1933805"/>
                <a:ext cx="1223412" cy="369332"/>
              </a:xfrm>
              <a:prstGeom prst="rect">
                <a:avLst/>
              </a:prstGeom>
            </p:spPr>
            <p:txBody>
              <a:bodyPr wrap="none">
                <a:spAutoFit/>
              </a:bodyPr>
              <a:lstStyle/>
              <a:p>
                <a:r>
                  <a:rPr lang="zh-CN" altLang="en-US" dirty="0">
                    <a:solidFill>
                      <a:srgbClr val="FF0000"/>
                    </a:solidFill>
                    <a:latin typeface="楷体" panose="02010609060101010101" pitchFamily="49" charset="-122"/>
                    <a:ea typeface="楷体" panose="02010609060101010101" pitchFamily="49" charset="-122"/>
                  </a:rPr>
                  <a:t>精確目標</a:t>
                </a:r>
                <a:r>
                  <a:rPr lang="en-US" altLang="zh-CN" dirty="0">
                    <a:solidFill>
                      <a:srgbClr val="FF0000"/>
                    </a:solidFill>
                    <a:latin typeface="楷体" panose="02010609060101010101" pitchFamily="49" charset="-122"/>
                    <a:ea typeface="楷体" panose="02010609060101010101" pitchFamily="49" charset="-122"/>
                  </a:rPr>
                  <a:t>p</a:t>
                </a:r>
                <a:endParaRPr lang="zh-CN" altLang="en-US" dirty="0">
                  <a:solidFill>
                    <a:srgbClr val="FF0000"/>
                  </a:solidFill>
                  <a:latin typeface="楷体" panose="02010609060101010101" pitchFamily="49" charset="-122"/>
                  <a:ea typeface="楷体" panose="02010609060101010101" pitchFamily="49" charset="-122"/>
                </a:endParaRPr>
              </a:p>
            </p:txBody>
          </p:sp>
          <p:sp>
            <p:nvSpPr>
              <p:cNvPr id="7" name="矩形 6">
                <a:extLst>
                  <a:ext uri="{FF2B5EF4-FFF2-40B4-BE49-F238E27FC236}">
                    <a16:creationId xmlns:a16="http://schemas.microsoft.com/office/drawing/2014/main" id="{4AAD8A6E-382C-4192-BA1B-A94B571E3C80}"/>
                  </a:ext>
                </a:extLst>
              </p:cNvPr>
              <p:cNvSpPr/>
              <p:nvPr/>
            </p:nvSpPr>
            <p:spPr>
              <a:xfrm>
                <a:off x="5499118" y="1933805"/>
                <a:ext cx="877163" cy="369332"/>
              </a:xfrm>
              <a:prstGeom prst="rect">
                <a:avLst/>
              </a:prstGeom>
            </p:spPr>
            <p:txBody>
              <a:bodyPr wrap="none">
                <a:spAutoFit/>
              </a:bodyPr>
              <a:lstStyle/>
              <a:p>
                <a:r>
                  <a:rPr lang="zh-CN" altLang="en-US" dirty="0">
                    <a:solidFill>
                      <a:srgbClr val="FF0000"/>
                    </a:solidFill>
                    <a:latin typeface="楷体" panose="02010609060101010101" pitchFamily="49" charset="-122"/>
                    <a:ea typeface="楷体" panose="02010609060101010101" pitchFamily="49" charset="-122"/>
                  </a:rPr>
                  <a:t>精確化</a:t>
                </a:r>
              </a:p>
            </p:txBody>
          </p:sp>
          <p:sp>
            <p:nvSpPr>
              <p:cNvPr id="8" name="矩形 7">
                <a:extLst>
                  <a:ext uri="{FF2B5EF4-FFF2-40B4-BE49-F238E27FC236}">
                    <a16:creationId xmlns:a16="http://schemas.microsoft.com/office/drawing/2014/main" id="{D12F75D3-A869-40ED-930B-3FDE422217F5}"/>
                  </a:ext>
                </a:extLst>
              </p:cNvPr>
              <p:cNvSpPr/>
              <p:nvPr/>
            </p:nvSpPr>
            <p:spPr>
              <a:xfrm>
                <a:off x="7286606" y="1937382"/>
                <a:ext cx="1569660" cy="369332"/>
              </a:xfrm>
              <a:prstGeom prst="rect">
                <a:avLst/>
              </a:prstGeom>
            </p:spPr>
            <p:txBody>
              <a:bodyPr wrap="none">
                <a:spAutoFit/>
              </a:bodyPr>
              <a:lstStyle/>
              <a:p>
                <a:r>
                  <a:rPr lang="zh-CN" altLang="en-US" dirty="0">
                    <a:solidFill>
                      <a:srgbClr val="FF0000"/>
                    </a:solidFill>
                    <a:latin typeface="楷体" panose="02010609060101010101" pitchFamily="49" charset="-122"/>
                    <a:ea typeface="楷体" panose="02010609060101010101" pitchFamily="49" charset="-122"/>
                  </a:rPr>
                  <a:t>精確化結果</a:t>
                </a:r>
                <a:r>
                  <a:rPr lang="en-US" altLang="zh-CN" dirty="0">
                    <a:solidFill>
                      <a:srgbClr val="FF0000"/>
                    </a:solidFill>
                    <a:latin typeface="楷体" panose="02010609060101010101" pitchFamily="49" charset="-122"/>
                    <a:ea typeface="楷体" panose="02010609060101010101" pitchFamily="49" charset="-122"/>
                  </a:rPr>
                  <a:t>p</a:t>
                </a:r>
                <a:r>
                  <a:rPr lang="zh-CN" altLang="en-US" dirty="0">
                    <a:solidFill>
                      <a:srgbClr val="FF0000"/>
                    </a:solidFill>
                    <a:latin typeface="楷体" panose="02010609060101010101" pitchFamily="49" charset="-122"/>
                    <a:ea typeface="楷体" panose="02010609060101010101" pitchFamily="49" charset="-122"/>
                  </a:rPr>
                  <a:t>*</a:t>
                </a:r>
                <a:endParaRPr lang="en-US" altLang="zh-CN" dirty="0">
                  <a:solidFill>
                    <a:srgbClr val="FF0000"/>
                  </a:solidFill>
                  <a:latin typeface="楷体" panose="02010609060101010101" pitchFamily="49" charset="-122"/>
                  <a:ea typeface="楷体" panose="02010609060101010101" pitchFamily="49" charset="-122"/>
                </a:endParaRPr>
              </a:p>
            </p:txBody>
          </p:sp>
        </p:grpSp>
        <p:sp>
          <p:nvSpPr>
            <p:cNvPr id="10" name="矩形 9">
              <a:extLst>
                <a:ext uri="{FF2B5EF4-FFF2-40B4-BE49-F238E27FC236}">
                  <a16:creationId xmlns:a16="http://schemas.microsoft.com/office/drawing/2014/main" id="{59EA432F-3B7D-404C-93BE-41E259725B09}"/>
                </a:ext>
              </a:extLst>
            </p:cNvPr>
            <p:cNvSpPr/>
            <p:nvPr/>
          </p:nvSpPr>
          <p:spPr>
            <a:xfrm>
              <a:off x="3231109" y="3958760"/>
              <a:ext cx="2737053" cy="332109"/>
            </a:xfrm>
            <a:prstGeom prst="rect">
              <a:avLst/>
            </a:prstGeom>
          </p:spPr>
          <p:txBody>
            <a:bodyPr wrap="square">
              <a:spAutoFit/>
            </a:bodyPr>
            <a:lstStyle/>
            <a:p>
              <a:r>
                <a:rPr lang="zh-CN" altLang="en-US" sz="1600" dirty="0">
                  <a:solidFill>
                    <a:srgbClr val="FF0000"/>
                  </a:solidFill>
                  <a:latin typeface="楷体" panose="02010609060101010101" pitchFamily="49" charset="-122"/>
                  <a:ea typeface="楷体" panose="02010609060101010101" pitchFamily="49" charset="-122"/>
                </a:rPr>
                <a:t>一致性</a:t>
              </a:r>
              <a:r>
                <a:rPr lang="en-US" altLang="zh-CN" sz="1600" dirty="0">
                  <a:solidFill>
                    <a:srgbClr val="FF0000"/>
                  </a:solidFill>
                  <a:latin typeface="楷体" panose="02010609060101010101" pitchFamily="49" charset="-122"/>
                  <a:ea typeface="楷体" panose="02010609060101010101" pitchFamily="49" charset="-122"/>
                </a:rPr>
                <a:t>(close(p, p*))</a:t>
              </a:r>
              <a:endParaRPr lang="zh-CN" altLang="en-US" sz="1600" dirty="0">
                <a:solidFill>
                  <a:srgbClr val="FF0000"/>
                </a:solidFill>
                <a:latin typeface="楷体" panose="02010609060101010101" pitchFamily="49" charset="-122"/>
                <a:ea typeface="楷体" panose="02010609060101010101" pitchFamily="49" charset="-122"/>
              </a:endParaRPr>
            </a:p>
          </p:txBody>
        </p:sp>
      </p:grpSp>
    </p:spTree>
    <p:extLst>
      <p:ext uri="{BB962C8B-B14F-4D97-AF65-F5344CB8AC3E}">
        <p14:creationId xmlns:p14="http://schemas.microsoft.com/office/powerpoint/2010/main" val="35470875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 </a:t>
            </a:r>
            <a:r>
              <a:rPr lang="en-US" altLang="zh-CN" dirty="0"/>
              <a:t>The concepts of precisiation</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lang="en-US"/>
          </a:p>
        </p:txBody>
      </p:sp>
      <p:sp>
        <p:nvSpPr>
          <p:cNvPr id="3" name="矩形 2">
            <a:extLst>
              <a:ext uri="{FF2B5EF4-FFF2-40B4-BE49-F238E27FC236}">
                <a16:creationId xmlns:a16="http://schemas.microsoft.com/office/drawing/2014/main" id="{09B5AC6D-32BA-493A-9B95-EB7EF5F412A4}"/>
              </a:ext>
            </a:extLst>
          </p:cNvPr>
          <p:cNvSpPr/>
          <p:nvPr/>
        </p:nvSpPr>
        <p:spPr>
          <a:xfrm>
            <a:off x="838200" y="1845049"/>
            <a:ext cx="3781292" cy="461665"/>
          </a:xfrm>
          <a:prstGeom prst="rect">
            <a:avLst/>
          </a:prstGeom>
        </p:spPr>
        <p:txBody>
          <a:bodyPr wrap="none">
            <a:spAutoFit/>
          </a:bodyPr>
          <a:lstStyle/>
          <a:p>
            <a:pPr marL="342900" indent="-342900">
              <a:buFont typeface="Arial" panose="020B0604020202020204" pitchFamily="34" charset="0"/>
              <a:buChar char="•"/>
            </a:pPr>
            <a:r>
              <a:rPr lang="en-US" altLang="zh-CN" sz="2400" dirty="0">
                <a:latin typeface="AdvEPSTIM"/>
              </a:rPr>
              <a:t>Modalities of precisiation:</a:t>
            </a:r>
            <a:endParaRPr lang="zh-CN" altLang="en-US" sz="2400" dirty="0"/>
          </a:p>
        </p:txBody>
      </p:sp>
      <p:grpSp>
        <p:nvGrpSpPr>
          <p:cNvPr id="2" name="组合 1">
            <a:extLst>
              <a:ext uri="{FF2B5EF4-FFF2-40B4-BE49-F238E27FC236}">
                <a16:creationId xmlns:a16="http://schemas.microsoft.com/office/drawing/2014/main" id="{C9B60453-034B-4EA9-8A02-3B9DA6DF74A6}"/>
              </a:ext>
            </a:extLst>
          </p:cNvPr>
          <p:cNvGrpSpPr/>
          <p:nvPr/>
        </p:nvGrpSpPr>
        <p:grpSpPr>
          <a:xfrm>
            <a:off x="271462" y="2306714"/>
            <a:ext cx="11477625" cy="3952875"/>
            <a:chOff x="574471" y="2586039"/>
            <a:chExt cx="11477625" cy="3952875"/>
          </a:xfrm>
        </p:grpSpPr>
        <p:pic>
          <p:nvPicPr>
            <p:cNvPr id="4" name="图片 3">
              <a:extLst>
                <a:ext uri="{FF2B5EF4-FFF2-40B4-BE49-F238E27FC236}">
                  <a16:creationId xmlns:a16="http://schemas.microsoft.com/office/drawing/2014/main" id="{B0B1E5C5-5834-4E67-8805-53CCD098CF54}"/>
                </a:ext>
              </a:extLst>
            </p:cNvPr>
            <p:cNvPicPr>
              <a:picLocks noChangeAspect="1"/>
            </p:cNvPicPr>
            <p:nvPr/>
          </p:nvPicPr>
          <p:blipFill>
            <a:blip r:embed="rId3"/>
            <a:stretch>
              <a:fillRect/>
            </a:stretch>
          </p:blipFill>
          <p:spPr>
            <a:xfrm>
              <a:off x="574471" y="2586039"/>
              <a:ext cx="11477625" cy="3952875"/>
            </a:xfrm>
            <a:prstGeom prst="rect">
              <a:avLst/>
            </a:prstGeom>
          </p:spPr>
        </p:pic>
        <p:sp>
          <p:nvSpPr>
            <p:cNvPr id="6" name="矩形 5">
              <a:extLst>
                <a:ext uri="{FF2B5EF4-FFF2-40B4-BE49-F238E27FC236}">
                  <a16:creationId xmlns:a16="http://schemas.microsoft.com/office/drawing/2014/main" id="{4D3FFA78-82CB-40EC-AF4D-2729D962963E}"/>
                </a:ext>
              </a:extLst>
            </p:cNvPr>
            <p:cNvSpPr/>
            <p:nvPr/>
          </p:nvSpPr>
          <p:spPr>
            <a:xfrm>
              <a:off x="2625505" y="4100811"/>
              <a:ext cx="1338828" cy="369332"/>
            </a:xfrm>
            <a:prstGeom prst="rect">
              <a:avLst/>
            </a:prstGeom>
          </p:spPr>
          <p:txBody>
            <a:bodyPr wrap="none">
              <a:spAutoFit/>
            </a:bodyPr>
            <a:lstStyle/>
            <a:p>
              <a:r>
                <a:rPr lang="zh-CN" altLang="en-US" dirty="0">
                  <a:solidFill>
                    <a:srgbClr val="FF0000"/>
                  </a:solidFill>
                  <a:latin typeface="楷体" panose="02010609060101010101" pitchFamily="49" charset="-122"/>
                  <a:ea typeface="楷体" panose="02010609060101010101" pitchFamily="49" charset="-122"/>
                </a:rPr>
                <a:t>值的精確化</a:t>
              </a:r>
            </a:p>
          </p:txBody>
        </p:sp>
        <p:sp>
          <p:nvSpPr>
            <p:cNvPr id="7" name="矩形 6">
              <a:extLst>
                <a:ext uri="{FF2B5EF4-FFF2-40B4-BE49-F238E27FC236}">
                  <a16:creationId xmlns:a16="http://schemas.microsoft.com/office/drawing/2014/main" id="{0E24E018-CB83-4137-BCF1-F0A390336E38}"/>
                </a:ext>
              </a:extLst>
            </p:cNvPr>
            <p:cNvSpPr/>
            <p:nvPr/>
          </p:nvSpPr>
          <p:spPr>
            <a:xfrm>
              <a:off x="7648669" y="4100811"/>
              <a:ext cx="1569660" cy="369332"/>
            </a:xfrm>
            <a:prstGeom prst="rect">
              <a:avLst/>
            </a:prstGeom>
          </p:spPr>
          <p:txBody>
            <a:bodyPr wrap="none">
              <a:spAutoFit/>
            </a:bodyPr>
            <a:lstStyle/>
            <a:p>
              <a:r>
                <a:rPr lang="zh-CN" altLang="en-US" dirty="0">
                  <a:solidFill>
                    <a:srgbClr val="FF0000"/>
                  </a:solidFill>
                  <a:latin typeface="楷体" panose="02010609060101010101" pitchFamily="49" charset="-122"/>
                  <a:ea typeface="楷体" panose="02010609060101010101" pitchFamily="49" charset="-122"/>
                </a:rPr>
                <a:t>含義的精確化</a:t>
              </a:r>
            </a:p>
          </p:txBody>
        </p:sp>
        <p:sp>
          <p:nvSpPr>
            <p:cNvPr id="8" name="矩形 7">
              <a:extLst>
                <a:ext uri="{FF2B5EF4-FFF2-40B4-BE49-F238E27FC236}">
                  <a16:creationId xmlns:a16="http://schemas.microsoft.com/office/drawing/2014/main" id="{1903933B-37DA-4EF4-AD3C-F5542EA361BF}"/>
                </a:ext>
              </a:extLst>
            </p:cNvPr>
            <p:cNvSpPr/>
            <p:nvPr/>
          </p:nvSpPr>
          <p:spPr>
            <a:xfrm>
              <a:off x="2833254" y="5105572"/>
              <a:ext cx="2262158" cy="369332"/>
            </a:xfrm>
            <a:prstGeom prst="rect">
              <a:avLst/>
            </a:prstGeom>
          </p:spPr>
          <p:txBody>
            <a:bodyPr wrap="none">
              <a:spAutoFit/>
            </a:bodyPr>
            <a:lstStyle/>
            <a:p>
              <a:r>
                <a:rPr lang="zh-CN" altLang="en-US" dirty="0">
                  <a:solidFill>
                    <a:srgbClr val="FF0000"/>
                  </a:solidFill>
                  <a:latin typeface="楷体" panose="02010609060101010101" pitchFamily="49" charset="-122"/>
                  <a:ea typeface="楷体" panose="02010609060101010101" pitchFamily="49" charset="-122"/>
                </a:rPr>
                <a:t>面向人的含義精確化</a:t>
              </a:r>
            </a:p>
          </p:txBody>
        </p:sp>
        <p:sp>
          <p:nvSpPr>
            <p:cNvPr id="9" name="矩形 8">
              <a:extLst>
                <a:ext uri="{FF2B5EF4-FFF2-40B4-BE49-F238E27FC236}">
                  <a16:creationId xmlns:a16="http://schemas.microsoft.com/office/drawing/2014/main" id="{68123B20-CF6B-4B22-81C3-034815DCB9A4}"/>
                </a:ext>
              </a:extLst>
            </p:cNvPr>
            <p:cNvSpPr/>
            <p:nvPr/>
          </p:nvSpPr>
          <p:spPr>
            <a:xfrm>
              <a:off x="8526375" y="5105572"/>
              <a:ext cx="2492990" cy="369332"/>
            </a:xfrm>
            <a:prstGeom prst="rect">
              <a:avLst/>
            </a:prstGeom>
          </p:spPr>
          <p:txBody>
            <a:bodyPr wrap="none">
              <a:spAutoFit/>
            </a:bodyPr>
            <a:lstStyle/>
            <a:p>
              <a:r>
                <a:rPr lang="zh-CN" altLang="en-US" dirty="0">
                  <a:solidFill>
                    <a:srgbClr val="FF0000"/>
                  </a:solidFill>
                  <a:latin typeface="楷体" panose="02010609060101010101" pitchFamily="49" charset="-122"/>
                  <a:ea typeface="楷体" panose="02010609060101010101" pitchFamily="49" charset="-122"/>
                </a:rPr>
                <a:t>面向機器的含義精確化</a:t>
              </a:r>
            </a:p>
          </p:txBody>
        </p:sp>
      </p:grpSp>
    </p:spTree>
    <p:extLst>
      <p:ext uri="{BB962C8B-B14F-4D97-AF65-F5344CB8AC3E}">
        <p14:creationId xmlns:p14="http://schemas.microsoft.com/office/powerpoint/2010/main" val="3552948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 </a:t>
            </a:r>
            <a:r>
              <a:rPr lang="en-US" altLang="zh-CN" dirty="0"/>
              <a:t>The concepts of precisiation</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lang="en-US"/>
          </a:p>
        </p:txBody>
      </p:sp>
      <p:sp>
        <p:nvSpPr>
          <p:cNvPr id="3" name="矩形 2">
            <a:extLst>
              <a:ext uri="{FF2B5EF4-FFF2-40B4-BE49-F238E27FC236}">
                <a16:creationId xmlns:a16="http://schemas.microsoft.com/office/drawing/2014/main" id="{09B5AC6D-32BA-493A-9B95-EB7EF5F412A4}"/>
              </a:ext>
            </a:extLst>
          </p:cNvPr>
          <p:cNvSpPr/>
          <p:nvPr/>
        </p:nvSpPr>
        <p:spPr>
          <a:xfrm>
            <a:off x="838200" y="1845049"/>
            <a:ext cx="1669881" cy="1200329"/>
          </a:xfrm>
          <a:prstGeom prst="rect">
            <a:avLst/>
          </a:prstGeom>
        </p:spPr>
        <p:txBody>
          <a:bodyPr wrap="none">
            <a:spAutoFit/>
          </a:bodyPr>
          <a:lstStyle/>
          <a:p>
            <a:pPr marL="342900" indent="-342900">
              <a:buFont typeface="Arial" panose="020B0604020202020204" pitchFamily="34" charset="0"/>
              <a:buChar char="•"/>
            </a:pPr>
            <a:r>
              <a:rPr lang="en-US" altLang="zh-CN" sz="2400" dirty="0">
                <a:latin typeface="AdvEPSTIM"/>
              </a:rPr>
              <a:t>Example:</a:t>
            </a:r>
          </a:p>
          <a:p>
            <a:endParaRPr lang="en-US" altLang="zh-CN" sz="2400" dirty="0">
              <a:latin typeface="楷体" panose="02010609060101010101" pitchFamily="49" charset="-122"/>
              <a:ea typeface="楷体" panose="02010609060101010101" pitchFamily="49" charset="-122"/>
            </a:endParaRPr>
          </a:p>
          <a:p>
            <a:pPr marL="342900" indent="-342900">
              <a:buFont typeface="Arial" panose="020B0604020202020204" pitchFamily="34" charset="0"/>
              <a:buChar char="•"/>
            </a:pPr>
            <a:endParaRPr lang="zh-CN" altLang="en-US" sz="2400" dirty="0"/>
          </a:p>
        </p:txBody>
      </p:sp>
      <p:pic>
        <p:nvPicPr>
          <p:cNvPr id="4" name="图片 3">
            <a:extLst>
              <a:ext uri="{FF2B5EF4-FFF2-40B4-BE49-F238E27FC236}">
                <a16:creationId xmlns:a16="http://schemas.microsoft.com/office/drawing/2014/main" id="{196ACB83-BD7E-4F0A-9BBC-DEE0ADC8B635}"/>
              </a:ext>
            </a:extLst>
          </p:cNvPr>
          <p:cNvPicPr>
            <a:picLocks noChangeAspect="1"/>
          </p:cNvPicPr>
          <p:nvPr/>
        </p:nvPicPr>
        <p:blipFill rotWithShape="1">
          <a:blip r:embed="rId3"/>
          <a:srcRect b="45726"/>
          <a:stretch/>
        </p:blipFill>
        <p:spPr>
          <a:xfrm>
            <a:off x="2508081" y="1707685"/>
            <a:ext cx="6581775" cy="677216"/>
          </a:xfrm>
          <a:prstGeom prst="rect">
            <a:avLst/>
          </a:prstGeom>
        </p:spPr>
      </p:pic>
      <p:sp>
        <p:nvSpPr>
          <p:cNvPr id="5" name="矩形 4">
            <a:extLst>
              <a:ext uri="{FF2B5EF4-FFF2-40B4-BE49-F238E27FC236}">
                <a16:creationId xmlns:a16="http://schemas.microsoft.com/office/drawing/2014/main" id="{63699C57-F8DA-418F-800F-310B8B277504}"/>
              </a:ext>
            </a:extLst>
          </p:cNvPr>
          <p:cNvSpPr/>
          <p:nvPr/>
        </p:nvSpPr>
        <p:spPr>
          <a:xfrm>
            <a:off x="838200" y="2753097"/>
            <a:ext cx="10515600" cy="3662541"/>
          </a:xfrm>
          <a:prstGeom prst="rect">
            <a:avLst/>
          </a:prstGeom>
        </p:spPr>
        <p:txBody>
          <a:bodyPr wrap="square">
            <a:spAutoFit/>
          </a:bodyPr>
          <a:lstStyle/>
          <a:p>
            <a:pPr marL="342900" indent="-342900">
              <a:buFont typeface="Arial" panose="020B0604020202020204" pitchFamily="34" charset="0"/>
              <a:buChar char="•"/>
            </a:pPr>
            <a:r>
              <a:rPr lang="en-US" altLang="zh-CN" sz="2400" dirty="0">
                <a:latin typeface="AdvEPSTIM"/>
              </a:rPr>
              <a:t>‘‘Bear market”</a:t>
            </a:r>
            <a:r>
              <a:rPr lang="zh-CN" altLang="en-US" sz="2400" dirty="0">
                <a:latin typeface="AdvEPSTIM"/>
              </a:rPr>
              <a:t>（</a:t>
            </a:r>
            <a:r>
              <a:rPr lang="zh-CN" altLang="en-US" sz="2400" dirty="0">
                <a:latin typeface="楷体" panose="02010609060101010101" pitchFamily="49" charset="-122"/>
                <a:ea typeface="楷体" panose="02010609060101010101" pitchFamily="49" charset="-122"/>
              </a:rPr>
              <a:t>熊市</a:t>
            </a:r>
            <a:r>
              <a:rPr lang="zh-CN" altLang="en-US" sz="2400" dirty="0">
                <a:latin typeface="AdvEPSTIM"/>
              </a:rPr>
              <a:t>）</a:t>
            </a:r>
            <a:r>
              <a:rPr lang="en-US" altLang="zh-CN" sz="2400" dirty="0">
                <a:latin typeface="AdvEPSTIM"/>
              </a:rPr>
              <a:t>:</a:t>
            </a:r>
          </a:p>
          <a:p>
            <a:pPr marL="342900" indent="-342900">
              <a:buFont typeface="Arial" panose="020B0604020202020204" pitchFamily="34" charset="0"/>
              <a:buChar char="•"/>
            </a:pPr>
            <a:endParaRPr lang="en-US" altLang="zh-CN" sz="2400" dirty="0">
              <a:latin typeface="AdvEPSTIM"/>
            </a:endParaRPr>
          </a:p>
          <a:p>
            <a:pPr marL="800100" lvl="1" indent="-342900">
              <a:buFont typeface="Arial" panose="020B0604020202020204" pitchFamily="34" charset="0"/>
              <a:buChar char="•"/>
            </a:pPr>
            <a:r>
              <a:rPr lang="en-US" altLang="zh-CN" sz="2000" dirty="0" err="1">
                <a:latin typeface="AdvEPSTIM"/>
              </a:rPr>
              <a:t>mh-precisiand</a:t>
            </a:r>
            <a:r>
              <a:rPr lang="en-US" altLang="zh-CN" sz="2000" dirty="0">
                <a:latin typeface="AdvEPSTIM"/>
              </a:rPr>
              <a:t>: Declining stock market with expectation of further decline.</a:t>
            </a:r>
          </a:p>
          <a:p>
            <a:pPr marL="800100" lvl="1" indent="-342900">
              <a:buFont typeface="Arial" panose="020B0604020202020204" pitchFamily="34" charset="0"/>
              <a:buChar char="•"/>
            </a:pPr>
            <a:r>
              <a:rPr lang="en-US" altLang="zh-CN" sz="2000" dirty="0">
                <a:latin typeface="AdvEPSTIM"/>
              </a:rPr>
              <a:t>mm-</a:t>
            </a:r>
            <a:r>
              <a:rPr lang="en-US" altLang="zh-CN" sz="2000" dirty="0" err="1">
                <a:latin typeface="AdvEPSTIM"/>
              </a:rPr>
              <a:t>precisiand</a:t>
            </a:r>
            <a:r>
              <a:rPr lang="en-US" altLang="zh-CN" sz="2000" dirty="0">
                <a:latin typeface="AdvEPSTIM"/>
              </a:rPr>
              <a:t>: 30% decline after 50 days, or a 13% decline after 145 days.</a:t>
            </a:r>
          </a:p>
          <a:p>
            <a:pPr marL="800100" lvl="1" indent="-342900">
              <a:buFont typeface="Arial" panose="020B0604020202020204" pitchFamily="34" charset="0"/>
              <a:buChar char="•"/>
            </a:pPr>
            <a:r>
              <a:rPr lang="en-US" altLang="zh-CN" sz="2000" dirty="0" err="1">
                <a:latin typeface="AdvEPSTIM"/>
              </a:rPr>
              <a:t>mh-precisiand</a:t>
            </a:r>
            <a:r>
              <a:rPr lang="en-US" altLang="zh-CN" sz="2000" dirty="0">
                <a:latin typeface="AdvEPSTIM"/>
              </a:rPr>
              <a:t>:</a:t>
            </a:r>
          </a:p>
          <a:p>
            <a:pPr marL="800100" lvl="1" indent="-342900">
              <a:buFont typeface="Arial" panose="020B0604020202020204" pitchFamily="34" charset="0"/>
              <a:buChar char="•"/>
            </a:pPr>
            <a:endParaRPr lang="en-US" altLang="zh-CN" sz="2000" dirty="0">
              <a:latin typeface="AdvEPSTIM"/>
            </a:endParaRPr>
          </a:p>
          <a:p>
            <a:pPr marL="800100" lvl="1" indent="-342900">
              <a:buFont typeface="Arial" panose="020B0604020202020204" pitchFamily="34" charset="0"/>
              <a:buChar char="•"/>
            </a:pPr>
            <a:endParaRPr lang="en-US" altLang="zh-CN" sz="2000" dirty="0">
              <a:latin typeface="AdvEPSTIM"/>
            </a:endParaRPr>
          </a:p>
          <a:p>
            <a:pPr marL="800100" lvl="1" indent="-342900">
              <a:buFont typeface="Arial" panose="020B0604020202020204" pitchFamily="34" charset="0"/>
              <a:buChar char="•"/>
            </a:pPr>
            <a:endParaRPr lang="en-US" altLang="zh-CN" sz="2000" dirty="0">
              <a:latin typeface="AdvEPSTIM"/>
            </a:endParaRPr>
          </a:p>
          <a:p>
            <a:pPr lvl="1"/>
            <a:endParaRPr lang="en-US" altLang="zh-CN" sz="2000" dirty="0">
              <a:latin typeface="AdvEPSTIM"/>
            </a:endParaRPr>
          </a:p>
          <a:p>
            <a:pPr marL="800100" lvl="1" indent="-342900">
              <a:buFont typeface="Arial" panose="020B0604020202020204" pitchFamily="34" charset="0"/>
              <a:buChar char="•"/>
            </a:pPr>
            <a:endParaRPr lang="en-US" altLang="zh-CN" sz="2000" dirty="0">
              <a:latin typeface="AdvEPSTIM"/>
            </a:endParaRPr>
          </a:p>
          <a:p>
            <a:pPr marL="800100" lvl="1" indent="-342900">
              <a:buFont typeface="Arial" panose="020B0604020202020204" pitchFamily="34" charset="0"/>
              <a:buChar char="•"/>
            </a:pPr>
            <a:endParaRPr lang="zh-CN" altLang="en-US" sz="2400" dirty="0">
              <a:latin typeface="AdvEPSTIM"/>
            </a:endParaRPr>
          </a:p>
        </p:txBody>
      </p:sp>
      <p:pic>
        <p:nvPicPr>
          <p:cNvPr id="2" name="图片 1">
            <a:extLst>
              <a:ext uri="{FF2B5EF4-FFF2-40B4-BE49-F238E27FC236}">
                <a16:creationId xmlns:a16="http://schemas.microsoft.com/office/drawing/2014/main" id="{28D12E48-065F-46F3-ABE4-CDA206940839}"/>
              </a:ext>
            </a:extLst>
          </p:cNvPr>
          <p:cNvPicPr>
            <a:picLocks noChangeAspect="1"/>
          </p:cNvPicPr>
          <p:nvPr/>
        </p:nvPicPr>
        <p:blipFill>
          <a:blip r:embed="rId4"/>
          <a:stretch>
            <a:fillRect/>
          </a:stretch>
        </p:blipFill>
        <p:spPr>
          <a:xfrm>
            <a:off x="1673140" y="4455992"/>
            <a:ext cx="9248775" cy="876300"/>
          </a:xfrm>
          <a:prstGeom prst="rect">
            <a:avLst/>
          </a:prstGeom>
        </p:spPr>
      </p:pic>
      <p:sp>
        <p:nvSpPr>
          <p:cNvPr id="6" name="矩形 5">
            <a:extLst>
              <a:ext uri="{FF2B5EF4-FFF2-40B4-BE49-F238E27FC236}">
                <a16:creationId xmlns:a16="http://schemas.microsoft.com/office/drawing/2014/main" id="{04E0CBE3-3676-4044-8388-3D2B97EADEBD}"/>
              </a:ext>
            </a:extLst>
          </p:cNvPr>
          <p:cNvSpPr/>
          <p:nvPr/>
        </p:nvSpPr>
        <p:spPr>
          <a:xfrm>
            <a:off x="838200" y="5710589"/>
            <a:ext cx="9871294" cy="461665"/>
          </a:xfrm>
          <a:prstGeom prst="rect">
            <a:avLst/>
          </a:prstGeom>
        </p:spPr>
        <p:txBody>
          <a:bodyPr wrap="square">
            <a:spAutoFit/>
          </a:bodyPr>
          <a:lstStyle/>
          <a:p>
            <a:pPr marL="342900" indent="-342900">
              <a:buFont typeface="Arial" panose="020B0604020202020204" pitchFamily="34" charset="0"/>
              <a:buChar char="•"/>
            </a:pPr>
            <a:r>
              <a:rPr lang="zh-CN" altLang="en-US" sz="2400" dirty="0">
                <a:latin typeface="楷体" panose="02010609060101010101" pitchFamily="49" charset="-122"/>
                <a:ea typeface="楷体" panose="02010609060101010101" pitchFamily="49" charset="-122"/>
              </a:rPr>
              <a:t>知識</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薪水</a:t>
            </a:r>
            <a:r>
              <a:rPr lang="zh-CN" altLang="en-US" sz="2400" u="sng" dirty="0">
                <a:latin typeface="楷体" panose="02010609060101010101" pitchFamily="49" charset="-122"/>
                <a:ea typeface="楷体" panose="02010609060101010101" pitchFamily="49" charset="-122"/>
              </a:rPr>
              <a:t> 決定</a:t>
            </a:r>
            <a:r>
              <a:rPr lang="en-US" altLang="zh-CN" sz="2400" u="sng"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消費</a:t>
            </a:r>
            <a:r>
              <a:rPr lang="en-US" altLang="zh-CN" sz="2400" dirty="0">
                <a:latin typeface="楷体" panose="02010609060101010101" pitchFamily="49" charset="-122"/>
                <a:ea typeface="楷体" panose="02010609060101010101" pitchFamily="49" charset="-122"/>
              </a:rPr>
              <a:t> ) </a:t>
            </a:r>
            <a:r>
              <a:rPr lang="zh-CN" altLang="en-US" sz="2400" u="sng" dirty="0">
                <a:solidFill>
                  <a:srgbClr val="FF0000"/>
                </a:solidFill>
                <a:latin typeface="楷体" panose="02010609060101010101" pitchFamily="49" charset="-122"/>
                <a:ea typeface="楷体" panose="02010609060101010101" pitchFamily="49" charset="-122"/>
              </a:rPr>
              <a:t>精確化</a:t>
            </a:r>
            <a:r>
              <a:rPr lang="zh-CN" altLang="en-US" sz="2400" dirty="0">
                <a:latin typeface="楷体" panose="02010609060101010101" pitchFamily="49" charset="-122"/>
                <a:ea typeface="楷体" panose="02010609060101010101" pitchFamily="49" charset="-122"/>
              </a:rPr>
              <a:t> </a:t>
            </a:r>
            <a:r>
              <a:rPr lang="en-US" altLang="zh-CN" sz="2400" dirty="0">
                <a:latin typeface="楷体" panose="02010609060101010101" pitchFamily="49" charset="-122"/>
                <a:ea typeface="楷体" panose="02010609060101010101" pitchFamily="49" charset="-122"/>
              </a:rPr>
              <a:t>Y(</a:t>
            </a:r>
            <a:r>
              <a:rPr lang="zh-CN" altLang="en-US" sz="2400" dirty="0">
                <a:latin typeface="楷体" panose="02010609060101010101" pitchFamily="49" charset="-122"/>
                <a:ea typeface="楷体" panose="02010609060101010101" pitchFamily="49" charset="-122"/>
              </a:rPr>
              <a:t>消費</a:t>
            </a:r>
            <a:r>
              <a:rPr lang="en-US" altLang="zh-CN" sz="2400" dirty="0">
                <a:latin typeface="楷体" panose="02010609060101010101" pitchFamily="49" charset="-122"/>
                <a:ea typeface="楷体" panose="02010609060101010101" pitchFamily="49" charset="-122"/>
              </a:rPr>
              <a:t>) = A*X(</a:t>
            </a:r>
            <a:r>
              <a:rPr lang="zh-CN" altLang="en-US" sz="2400" dirty="0">
                <a:latin typeface="楷体" panose="02010609060101010101" pitchFamily="49" charset="-122"/>
                <a:ea typeface="楷体" panose="02010609060101010101" pitchFamily="49" charset="-122"/>
              </a:rPr>
              <a:t>薪水</a:t>
            </a:r>
            <a:r>
              <a:rPr lang="en-US" altLang="zh-CN" sz="2400" dirty="0">
                <a:latin typeface="楷体" panose="02010609060101010101" pitchFamily="49" charset="-122"/>
                <a:ea typeface="楷体" panose="02010609060101010101" pitchFamily="49" charset="-122"/>
              </a:rPr>
              <a:t>) + B</a:t>
            </a:r>
            <a:endParaRPr lang="zh-CN" altLang="en-US" sz="24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8800919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 </a:t>
            </a:r>
            <a:r>
              <a:rPr lang="en-US" altLang="zh-CN" dirty="0"/>
              <a:t>The concepts of precisiation</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lang="en-US"/>
          </a:p>
        </p:txBody>
      </p:sp>
      <p:sp>
        <p:nvSpPr>
          <p:cNvPr id="3" name="矩形 2">
            <a:extLst>
              <a:ext uri="{FF2B5EF4-FFF2-40B4-BE49-F238E27FC236}">
                <a16:creationId xmlns:a16="http://schemas.microsoft.com/office/drawing/2014/main" id="{09B5AC6D-32BA-493A-9B95-EB7EF5F412A4}"/>
              </a:ext>
            </a:extLst>
          </p:cNvPr>
          <p:cNvSpPr/>
          <p:nvPr/>
        </p:nvSpPr>
        <p:spPr>
          <a:xfrm>
            <a:off x="838200" y="1845049"/>
            <a:ext cx="5989397" cy="1200329"/>
          </a:xfrm>
          <a:prstGeom prst="rect">
            <a:avLst/>
          </a:prstGeom>
        </p:spPr>
        <p:txBody>
          <a:bodyPr wrap="none">
            <a:spAutoFit/>
          </a:bodyPr>
          <a:lstStyle/>
          <a:p>
            <a:pPr marL="342900" indent="-342900">
              <a:buFont typeface="Arial" panose="020B0604020202020204" pitchFamily="34" charset="0"/>
              <a:buChar char="•"/>
            </a:pPr>
            <a:r>
              <a:rPr lang="en-US" altLang="zh-CN" sz="2400" dirty="0">
                <a:latin typeface="AdvEPSTIM"/>
              </a:rPr>
              <a:t>Unbounded number of ways in precisiation:</a:t>
            </a:r>
          </a:p>
          <a:p>
            <a:pPr marL="800100" lvl="1" indent="-342900">
              <a:buFont typeface="Arial" panose="020B0604020202020204" pitchFamily="34" charset="0"/>
              <a:buChar char="•"/>
            </a:pPr>
            <a:endParaRPr lang="en-US" altLang="zh-CN" sz="2400" dirty="0">
              <a:latin typeface="楷体" panose="02010609060101010101" pitchFamily="49" charset="-122"/>
              <a:ea typeface="楷体" panose="02010609060101010101" pitchFamily="49" charset="-122"/>
            </a:endParaRPr>
          </a:p>
          <a:p>
            <a:pPr marL="800100" lvl="1" indent="-342900">
              <a:buFont typeface="Arial" panose="020B0604020202020204" pitchFamily="34" charset="0"/>
              <a:buChar char="•"/>
            </a:pPr>
            <a:r>
              <a:rPr lang="en-US" altLang="zh-CN" sz="2400" dirty="0">
                <a:latin typeface="楷体" panose="02010609060101010101" pitchFamily="49" charset="-122"/>
                <a:ea typeface="楷体" panose="02010609060101010101" pitchFamily="49" charset="-122"/>
              </a:rPr>
              <a:t>Pricisiend: </a:t>
            </a:r>
            <a:r>
              <a:rPr lang="en-US" altLang="zh-CN" sz="2400" dirty="0">
                <a:solidFill>
                  <a:srgbClr val="FF0000"/>
                </a:solidFill>
                <a:latin typeface="楷体" panose="02010609060101010101" pitchFamily="49" charset="-122"/>
                <a:ea typeface="楷体" panose="02010609060101010101" pitchFamily="49" charset="-122"/>
              </a:rPr>
              <a:t>x=a</a:t>
            </a:r>
            <a:endParaRPr lang="zh-CN" altLang="en-US" sz="2400" dirty="0">
              <a:solidFill>
                <a:srgbClr val="FF0000"/>
              </a:solidFill>
              <a:latin typeface="楷体" panose="02010609060101010101" pitchFamily="49" charset="-122"/>
              <a:ea typeface="楷体" panose="02010609060101010101" pitchFamily="49" charset="-122"/>
            </a:endParaRPr>
          </a:p>
        </p:txBody>
      </p:sp>
      <p:pic>
        <p:nvPicPr>
          <p:cNvPr id="2" name="图片 1">
            <a:extLst>
              <a:ext uri="{FF2B5EF4-FFF2-40B4-BE49-F238E27FC236}">
                <a16:creationId xmlns:a16="http://schemas.microsoft.com/office/drawing/2014/main" id="{E653DB30-760D-4588-A4F9-004C5972F3BF}"/>
              </a:ext>
            </a:extLst>
          </p:cNvPr>
          <p:cNvPicPr>
            <a:picLocks noChangeAspect="1"/>
          </p:cNvPicPr>
          <p:nvPr/>
        </p:nvPicPr>
        <p:blipFill>
          <a:blip r:embed="rId3"/>
          <a:stretch>
            <a:fillRect/>
          </a:stretch>
        </p:blipFill>
        <p:spPr>
          <a:xfrm>
            <a:off x="706372" y="3309149"/>
            <a:ext cx="5389628" cy="2592000"/>
          </a:xfrm>
          <a:prstGeom prst="rect">
            <a:avLst/>
          </a:prstGeom>
        </p:spPr>
      </p:pic>
      <p:pic>
        <p:nvPicPr>
          <p:cNvPr id="5" name="图片 4">
            <a:extLst>
              <a:ext uri="{FF2B5EF4-FFF2-40B4-BE49-F238E27FC236}">
                <a16:creationId xmlns:a16="http://schemas.microsoft.com/office/drawing/2014/main" id="{5310E8FD-4CB3-4009-9CD6-75CBDAAF9D81}"/>
              </a:ext>
            </a:extLst>
          </p:cNvPr>
          <p:cNvPicPr>
            <a:picLocks noChangeAspect="1"/>
          </p:cNvPicPr>
          <p:nvPr/>
        </p:nvPicPr>
        <p:blipFill rotWithShape="1">
          <a:blip r:embed="rId4"/>
          <a:srcRect l="6551"/>
          <a:stretch/>
        </p:blipFill>
        <p:spPr>
          <a:xfrm>
            <a:off x="6226414" y="3246726"/>
            <a:ext cx="5127386" cy="2654423"/>
          </a:xfrm>
          <a:prstGeom prst="rect">
            <a:avLst/>
          </a:prstGeom>
        </p:spPr>
      </p:pic>
      <p:sp>
        <p:nvSpPr>
          <p:cNvPr id="8" name="矩形 7">
            <a:extLst>
              <a:ext uri="{FF2B5EF4-FFF2-40B4-BE49-F238E27FC236}">
                <a16:creationId xmlns:a16="http://schemas.microsoft.com/office/drawing/2014/main" id="{60CE29FC-7A9B-4068-8DD0-92045B6EF482}"/>
              </a:ext>
            </a:extLst>
          </p:cNvPr>
          <p:cNvSpPr/>
          <p:nvPr/>
        </p:nvSpPr>
        <p:spPr>
          <a:xfrm>
            <a:off x="4772561" y="3198167"/>
            <a:ext cx="2646878" cy="461665"/>
          </a:xfrm>
          <a:prstGeom prst="rect">
            <a:avLst/>
          </a:prstGeom>
        </p:spPr>
        <p:txBody>
          <a:bodyPr wrap="none">
            <a:spAutoFit/>
          </a:bodyPr>
          <a:lstStyle/>
          <a:p>
            <a:r>
              <a:rPr lang="zh-CN" altLang="en-US" sz="2400" dirty="0">
                <a:solidFill>
                  <a:srgbClr val="FF0000"/>
                </a:solidFill>
                <a:latin typeface="楷体" panose="02010609060101010101" pitchFamily="49" charset="-122"/>
                <a:ea typeface="楷体" panose="02010609060101010101" pitchFamily="49" charset="-122"/>
              </a:rPr>
              <a:t>選擇哪一個方法？</a:t>
            </a:r>
          </a:p>
        </p:txBody>
      </p:sp>
    </p:spTree>
    <p:extLst>
      <p:ext uri="{BB962C8B-B14F-4D97-AF65-F5344CB8AC3E}">
        <p14:creationId xmlns:p14="http://schemas.microsoft.com/office/powerpoint/2010/main" val="32641137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 </a:t>
            </a:r>
            <a:r>
              <a:rPr lang="en-US" altLang="zh-CN" dirty="0"/>
              <a:t>The concepts of cointension</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lang="en-US"/>
          </a:p>
        </p:txBody>
      </p:sp>
      <p:sp>
        <p:nvSpPr>
          <p:cNvPr id="3" name="矩形 2">
            <a:extLst>
              <a:ext uri="{FF2B5EF4-FFF2-40B4-BE49-F238E27FC236}">
                <a16:creationId xmlns:a16="http://schemas.microsoft.com/office/drawing/2014/main" id="{09B5AC6D-32BA-493A-9B95-EB7EF5F412A4}"/>
              </a:ext>
            </a:extLst>
          </p:cNvPr>
          <p:cNvSpPr/>
          <p:nvPr/>
        </p:nvSpPr>
        <p:spPr>
          <a:xfrm>
            <a:off x="670093" y="2147068"/>
            <a:ext cx="10756471" cy="1754326"/>
          </a:xfrm>
          <a:prstGeom prst="rect">
            <a:avLst/>
          </a:prstGeom>
        </p:spPr>
        <p:txBody>
          <a:bodyPr wrap="none">
            <a:spAutoFit/>
          </a:bodyPr>
          <a:lstStyle/>
          <a:p>
            <a:pPr marL="342900" indent="-342900">
              <a:buFont typeface="Arial" panose="020B0604020202020204" pitchFamily="34" charset="0"/>
              <a:buChar char="•"/>
            </a:pPr>
            <a:r>
              <a:rPr lang="en-US" altLang="zh-CN" sz="2400" dirty="0">
                <a:latin typeface="AdvEPSTIM"/>
              </a:rPr>
              <a:t>Two basic metrics associate with p* :</a:t>
            </a:r>
          </a:p>
          <a:p>
            <a:pPr marL="342900" indent="-342900">
              <a:buFont typeface="Arial" panose="020B0604020202020204" pitchFamily="34" charset="0"/>
              <a:buChar char="•"/>
            </a:pPr>
            <a:endParaRPr lang="en-US" altLang="zh-CN" sz="2400" dirty="0">
              <a:latin typeface="AdvEPSTIM"/>
            </a:endParaRPr>
          </a:p>
          <a:p>
            <a:pPr marL="800100" lvl="1" indent="-342900">
              <a:buFont typeface="Arial" panose="020B0604020202020204" pitchFamily="34" charset="0"/>
              <a:buChar char="•"/>
            </a:pPr>
            <a:r>
              <a:rPr lang="en-US" altLang="zh-CN" sz="2000" dirty="0"/>
              <a:t>(a) Cointension(</a:t>
            </a:r>
            <a:r>
              <a:rPr lang="zh-CN" altLang="en-US" sz="2000" dirty="0">
                <a:solidFill>
                  <a:srgbClr val="FF0000"/>
                </a:solidFill>
                <a:latin typeface="楷体" panose="02010609060101010101" pitchFamily="49" charset="-122"/>
                <a:ea typeface="楷体" panose="02010609060101010101" pitchFamily="49" charset="-122"/>
              </a:rPr>
              <a:t>一致性</a:t>
            </a:r>
            <a:r>
              <a:rPr lang="en-US" altLang="zh-CN" sz="2000" dirty="0"/>
              <a:t>) – a qualitative measure of the proximity of the meanings of p and p*;</a:t>
            </a:r>
          </a:p>
          <a:p>
            <a:pPr marL="800100" lvl="1" indent="-342900">
              <a:buFont typeface="Arial" panose="020B0604020202020204" pitchFamily="34" charset="0"/>
              <a:buChar char="•"/>
            </a:pPr>
            <a:r>
              <a:rPr lang="en-US" altLang="zh-CN" sz="2000" dirty="0"/>
              <a:t> </a:t>
            </a:r>
          </a:p>
          <a:p>
            <a:pPr marL="800100" lvl="1" indent="-342900">
              <a:buFont typeface="Arial" panose="020B0604020202020204" pitchFamily="34" charset="0"/>
              <a:buChar char="•"/>
            </a:pPr>
            <a:r>
              <a:rPr lang="en-US" altLang="zh-CN" sz="2000" dirty="0"/>
              <a:t>(b) Computational complexity(</a:t>
            </a:r>
            <a:r>
              <a:rPr lang="zh-CN" altLang="en-US" sz="2000" dirty="0">
                <a:solidFill>
                  <a:srgbClr val="FF0000"/>
                </a:solidFill>
                <a:latin typeface="楷体" panose="02010609060101010101" pitchFamily="49" charset="-122"/>
                <a:ea typeface="楷体" panose="02010609060101010101" pitchFamily="49" charset="-122"/>
              </a:rPr>
              <a:t>計算複雜度</a:t>
            </a:r>
            <a:r>
              <a:rPr lang="en-US" altLang="zh-CN" sz="2000" dirty="0"/>
              <a:t>) of p*.</a:t>
            </a:r>
            <a:endParaRPr lang="zh-CN" altLang="en-US" sz="2000" dirty="0"/>
          </a:p>
        </p:txBody>
      </p:sp>
    </p:spTree>
    <p:extLst>
      <p:ext uri="{BB962C8B-B14F-4D97-AF65-F5344CB8AC3E}">
        <p14:creationId xmlns:p14="http://schemas.microsoft.com/office/powerpoint/2010/main" val="12281431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 </a:t>
            </a:r>
            <a:r>
              <a:rPr lang="en-US" altLang="zh-CN" dirty="0"/>
              <a:t>The concepts of cointension</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lang="en-US"/>
          </a:p>
        </p:txBody>
      </p:sp>
      <p:sp>
        <p:nvSpPr>
          <p:cNvPr id="8" name="矩形 7">
            <a:extLst>
              <a:ext uri="{FF2B5EF4-FFF2-40B4-BE49-F238E27FC236}">
                <a16:creationId xmlns:a16="http://schemas.microsoft.com/office/drawing/2014/main" id="{818856E5-D5DB-49C9-9B9B-A1021D1BC215}"/>
              </a:ext>
            </a:extLst>
          </p:cNvPr>
          <p:cNvSpPr/>
          <p:nvPr/>
        </p:nvSpPr>
        <p:spPr>
          <a:xfrm>
            <a:off x="838200" y="2178330"/>
            <a:ext cx="9918100" cy="1200329"/>
          </a:xfrm>
          <a:prstGeom prst="rect">
            <a:avLst/>
          </a:prstGeom>
        </p:spPr>
        <p:txBody>
          <a:bodyPr wrap="none">
            <a:spAutoFit/>
          </a:bodyPr>
          <a:lstStyle/>
          <a:p>
            <a:pPr marL="342900" indent="-342900">
              <a:buFont typeface="Arial" panose="020B0604020202020204" pitchFamily="34" charset="0"/>
              <a:buChar char="•"/>
            </a:pPr>
            <a:r>
              <a:rPr lang="en-US" altLang="zh-CN" sz="2400" dirty="0">
                <a:latin typeface="AdvEPSTIM"/>
              </a:rPr>
              <a:t>Analogy between mm-precisiation and mathematical modeling:</a:t>
            </a:r>
          </a:p>
          <a:p>
            <a:pPr marL="342900" indent="-342900">
              <a:buFont typeface="Arial" panose="020B0604020202020204" pitchFamily="34" charset="0"/>
              <a:buChar char="•"/>
            </a:pPr>
            <a:endParaRPr lang="en-US" altLang="zh-CN" sz="2400" dirty="0">
              <a:latin typeface="AdvEPSTIM"/>
              <a:ea typeface="楷体" panose="02010609060101010101" pitchFamily="49" charset="-122"/>
            </a:endParaRPr>
          </a:p>
          <a:p>
            <a:pPr marL="1714500" lvl="3" indent="-342900">
              <a:buFont typeface="Arial" panose="020B0604020202020204" pitchFamily="34" charset="0"/>
              <a:buChar char="•"/>
            </a:pPr>
            <a:r>
              <a:rPr lang="zh-CN" altLang="en-US" sz="2400" dirty="0">
                <a:latin typeface="楷体" panose="02010609060101010101" pitchFamily="49" charset="-122"/>
                <a:ea typeface="楷体" panose="02010609060101010101" pitchFamily="49" charset="-122"/>
              </a:rPr>
              <a:t>知識</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薪水</a:t>
            </a:r>
            <a:r>
              <a:rPr lang="zh-CN" altLang="en-US" sz="2400" u="sng" dirty="0">
                <a:latin typeface="楷体" panose="02010609060101010101" pitchFamily="49" charset="-122"/>
                <a:ea typeface="楷体" panose="02010609060101010101" pitchFamily="49" charset="-122"/>
              </a:rPr>
              <a:t> 決定</a:t>
            </a:r>
            <a:r>
              <a:rPr lang="en-US" altLang="zh-CN" sz="2400" u="sng"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消費</a:t>
            </a:r>
            <a:r>
              <a:rPr lang="en-US" altLang="zh-CN" sz="2400" dirty="0">
                <a:latin typeface="楷体" panose="02010609060101010101" pitchFamily="49" charset="-122"/>
                <a:ea typeface="楷体" panose="02010609060101010101" pitchFamily="49" charset="-122"/>
              </a:rPr>
              <a:t> ) </a:t>
            </a:r>
            <a:r>
              <a:rPr lang="zh-CN" altLang="en-US" sz="2400" u="sng" dirty="0">
                <a:solidFill>
                  <a:srgbClr val="FF0000"/>
                </a:solidFill>
                <a:latin typeface="楷体" panose="02010609060101010101" pitchFamily="49" charset="-122"/>
                <a:ea typeface="楷体" panose="02010609060101010101" pitchFamily="49" charset="-122"/>
              </a:rPr>
              <a:t>精確化</a:t>
            </a:r>
            <a:r>
              <a:rPr lang="zh-CN" altLang="en-US" sz="2400" dirty="0">
                <a:latin typeface="楷体" panose="02010609060101010101" pitchFamily="49" charset="-122"/>
                <a:ea typeface="楷体" panose="02010609060101010101" pitchFamily="49" charset="-122"/>
              </a:rPr>
              <a:t> </a:t>
            </a:r>
            <a:r>
              <a:rPr lang="en-US" altLang="zh-CN" sz="2400" dirty="0">
                <a:latin typeface="楷体" panose="02010609060101010101" pitchFamily="49" charset="-122"/>
                <a:ea typeface="楷体" panose="02010609060101010101" pitchFamily="49" charset="-122"/>
              </a:rPr>
              <a:t>Y(</a:t>
            </a:r>
            <a:r>
              <a:rPr lang="zh-CN" altLang="en-US" sz="2400" dirty="0">
                <a:latin typeface="楷体" panose="02010609060101010101" pitchFamily="49" charset="-122"/>
                <a:ea typeface="楷体" panose="02010609060101010101" pitchFamily="49" charset="-122"/>
              </a:rPr>
              <a:t>消費</a:t>
            </a:r>
            <a:r>
              <a:rPr lang="en-US" altLang="zh-CN" sz="2400" dirty="0">
                <a:latin typeface="楷体" panose="02010609060101010101" pitchFamily="49" charset="-122"/>
                <a:ea typeface="楷体" panose="02010609060101010101" pitchFamily="49" charset="-122"/>
              </a:rPr>
              <a:t>) = A*X(</a:t>
            </a:r>
            <a:r>
              <a:rPr lang="zh-CN" altLang="en-US" sz="2400" dirty="0">
                <a:latin typeface="楷体" panose="02010609060101010101" pitchFamily="49" charset="-122"/>
                <a:ea typeface="楷体" panose="02010609060101010101" pitchFamily="49" charset="-122"/>
              </a:rPr>
              <a:t>薪水</a:t>
            </a:r>
            <a:r>
              <a:rPr lang="en-US" altLang="zh-CN" sz="2400" dirty="0">
                <a:latin typeface="楷体" panose="02010609060101010101" pitchFamily="49" charset="-122"/>
                <a:ea typeface="楷体" panose="02010609060101010101" pitchFamily="49" charset="-122"/>
              </a:rPr>
              <a:t>) + B</a:t>
            </a:r>
            <a:endParaRPr lang="zh-CN" altLang="en-US" sz="2400" dirty="0">
              <a:latin typeface="楷体" panose="02010609060101010101" pitchFamily="49" charset="-122"/>
              <a:ea typeface="楷体" panose="02010609060101010101" pitchFamily="49" charset="-122"/>
            </a:endParaRPr>
          </a:p>
        </p:txBody>
      </p:sp>
      <p:graphicFrame>
        <p:nvGraphicFramePr>
          <p:cNvPr id="5" name="表格 4">
            <a:extLst>
              <a:ext uri="{FF2B5EF4-FFF2-40B4-BE49-F238E27FC236}">
                <a16:creationId xmlns:a16="http://schemas.microsoft.com/office/drawing/2014/main" id="{0E3B88C5-EFD1-49A4-8652-E8A465052FEF}"/>
              </a:ext>
            </a:extLst>
          </p:cNvPr>
          <p:cNvGraphicFramePr>
            <a:graphicFrameLocks noGrp="1"/>
          </p:cNvGraphicFramePr>
          <p:nvPr>
            <p:extLst>
              <p:ext uri="{D42A27DB-BD31-4B8C-83A1-F6EECF244321}">
                <p14:modId xmlns:p14="http://schemas.microsoft.com/office/powerpoint/2010/main" val="487903338"/>
              </p:ext>
            </p:extLst>
          </p:nvPr>
        </p:nvGraphicFramePr>
        <p:xfrm>
          <a:off x="2032000" y="3712608"/>
          <a:ext cx="8128000" cy="18542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920829895"/>
                    </a:ext>
                  </a:extLst>
                </a:gridCol>
                <a:gridCol w="4064000">
                  <a:extLst>
                    <a:ext uri="{9D8B030D-6E8A-4147-A177-3AD203B41FA5}">
                      <a16:colId xmlns:a16="http://schemas.microsoft.com/office/drawing/2014/main" val="4104900286"/>
                    </a:ext>
                  </a:extLst>
                </a:gridCol>
              </a:tblGrid>
              <a:tr h="370840">
                <a:tc>
                  <a:txBody>
                    <a:bodyPr/>
                    <a:lstStyle/>
                    <a:p>
                      <a:pPr algn="ctr"/>
                      <a:r>
                        <a:rPr lang="en-US" altLang="zh-CN" sz="1800" b="0" i="0" u="none" strike="noStrike" kern="1200" baseline="0" dirty="0">
                          <a:solidFill>
                            <a:schemeClr val="lt1"/>
                          </a:solidFill>
                          <a:latin typeface="+mn-lt"/>
                          <a:ea typeface="+mn-ea"/>
                          <a:cs typeface="+mn-cs"/>
                        </a:rPr>
                        <a:t>mm-precisiation</a:t>
                      </a:r>
                      <a:endParaRPr lang="zh-CN" altLang="en-US" dirty="0"/>
                    </a:p>
                  </a:txBody>
                  <a:tcPr/>
                </a:tc>
                <a:tc>
                  <a:txBody>
                    <a:bodyPr/>
                    <a:lstStyle/>
                    <a:p>
                      <a:pPr algn="ctr"/>
                      <a:r>
                        <a:rPr lang="en-US" altLang="zh-CN" sz="1800" b="0" i="0" u="none" strike="noStrike" kern="1200" baseline="0" dirty="0">
                          <a:solidFill>
                            <a:schemeClr val="lt1"/>
                          </a:solidFill>
                          <a:latin typeface="+mn-lt"/>
                          <a:ea typeface="+mn-ea"/>
                          <a:cs typeface="+mn-cs"/>
                        </a:rPr>
                        <a:t>mathematical modeling</a:t>
                      </a:r>
                      <a:endParaRPr lang="zh-CN" altLang="en-US" dirty="0"/>
                    </a:p>
                  </a:txBody>
                  <a:tcPr/>
                </a:tc>
                <a:extLst>
                  <a:ext uri="{0D108BD9-81ED-4DB2-BD59-A6C34878D82A}">
                    <a16:rowId xmlns:a16="http://schemas.microsoft.com/office/drawing/2014/main" val="3686223794"/>
                  </a:ext>
                </a:extLst>
              </a:tr>
              <a:tr h="370840">
                <a:tc>
                  <a:txBody>
                    <a:bodyPr/>
                    <a:lstStyle/>
                    <a:p>
                      <a:pPr algn="ctr"/>
                      <a:r>
                        <a:rPr lang="en-US" altLang="zh-CN" sz="1800" b="0" i="0" u="none" strike="noStrike" kern="1200" baseline="0" dirty="0">
                          <a:solidFill>
                            <a:schemeClr val="dk1"/>
                          </a:solidFill>
                          <a:latin typeface="+mn-lt"/>
                          <a:ea typeface="+mn-ea"/>
                          <a:cs typeface="+mn-cs"/>
                        </a:rPr>
                        <a:t>precisiend</a:t>
                      </a:r>
                      <a:endParaRPr lang="zh-CN" altLang="en-US" dirty="0"/>
                    </a:p>
                  </a:txBody>
                  <a:tcPr/>
                </a:tc>
                <a:tc>
                  <a:txBody>
                    <a:bodyPr/>
                    <a:lstStyle/>
                    <a:p>
                      <a:pPr algn="ctr"/>
                      <a:r>
                        <a:rPr lang="en-US" altLang="zh-CN" sz="1800" b="0" i="0" u="none" strike="noStrike" kern="1200" baseline="0" dirty="0">
                          <a:solidFill>
                            <a:schemeClr val="dk1"/>
                          </a:solidFill>
                          <a:latin typeface="+mn-lt"/>
                          <a:ea typeface="+mn-ea"/>
                          <a:cs typeface="+mn-cs"/>
                        </a:rPr>
                        <a:t>the object of modeling (X, Y)</a:t>
                      </a:r>
                      <a:endParaRPr lang="zh-CN" altLang="en-US" dirty="0"/>
                    </a:p>
                  </a:txBody>
                  <a:tcPr/>
                </a:tc>
                <a:extLst>
                  <a:ext uri="{0D108BD9-81ED-4DB2-BD59-A6C34878D82A}">
                    <a16:rowId xmlns:a16="http://schemas.microsoft.com/office/drawing/2014/main" val="3946246304"/>
                  </a:ext>
                </a:extLst>
              </a:tr>
              <a:tr h="370840">
                <a:tc>
                  <a:txBody>
                    <a:bodyPr/>
                    <a:lstStyle/>
                    <a:p>
                      <a:pPr algn="ctr"/>
                      <a:r>
                        <a:rPr lang="en-US" altLang="zh-CN" dirty="0"/>
                        <a:t>precisiand</a:t>
                      </a:r>
                      <a:endParaRPr lang="zh-CN" altLang="en-US" dirty="0"/>
                    </a:p>
                  </a:txBody>
                  <a:tcPr/>
                </a:tc>
                <a:tc>
                  <a:txBody>
                    <a:bodyPr/>
                    <a:lstStyle/>
                    <a:p>
                      <a:pPr algn="ctr"/>
                      <a:r>
                        <a:rPr lang="en-US" altLang="zh-CN" sz="1800" b="0" i="0" u="none" strike="noStrike" kern="1200" baseline="0" dirty="0">
                          <a:solidFill>
                            <a:schemeClr val="dk1"/>
                          </a:solidFill>
                          <a:latin typeface="+mn-lt"/>
                          <a:ea typeface="+mn-ea"/>
                          <a:cs typeface="+mn-cs"/>
                        </a:rPr>
                        <a:t>the model (Y* = f(X))</a:t>
                      </a:r>
                      <a:endParaRPr lang="zh-CN" altLang="en-US" dirty="0"/>
                    </a:p>
                  </a:txBody>
                  <a:tcPr/>
                </a:tc>
                <a:extLst>
                  <a:ext uri="{0D108BD9-81ED-4DB2-BD59-A6C34878D82A}">
                    <a16:rowId xmlns:a16="http://schemas.microsoft.com/office/drawing/2014/main" val="352121512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0" i="0" u="none" strike="noStrike" kern="1200" baseline="0" dirty="0">
                          <a:solidFill>
                            <a:schemeClr val="dk1"/>
                          </a:solidFill>
                          <a:latin typeface="+mn-lt"/>
                          <a:ea typeface="+mn-ea"/>
                          <a:cs typeface="+mn-cs"/>
                        </a:rPr>
                        <a:t>meaning</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0" i="0" u="none" strike="noStrike" kern="1200" baseline="0" dirty="0">
                          <a:solidFill>
                            <a:schemeClr val="dk1"/>
                          </a:solidFill>
                          <a:latin typeface="+mn-lt"/>
                          <a:ea typeface="+mn-ea"/>
                          <a:cs typeface="+mn-cs"/>
                        </a:rPr>
                        <a:t>the input/output relation (X -&gt; Y)</a:t>
                      </a:r>
                      <a:endParaRPr lang="zh-CN" altLang="en-US" dirty="0"/>
                    </a:p>
                  </a:txBody>
                  <a:tcPr/>
                </a:tc>
                <a:extLst>
                  <a:ext uri="{0D108BD9-81ED-4DB2-BD59-A6C34878D82A}">
                    <a16:rowId xmlns:a16="http://schemas.microsoft.com/office/drawing/2014/main" val="2319526291"/>
                  </a:ext>
                </a:extLst>
              </a:tr>
              <a:tr h="370840">
                <a:tc>
                  <a:txBody>
                    <a:bodyPr/>
                    <a:lstStyle/>
                    <a:p>
                      <a:pPr algn="ctr"/>
                      <a:r>
                        <a:rPr lang="en-US" altLang="zh-CN" sz="1800" b="0" i="0" u="none" strike="noStrike" kern="1200" baseline="0" dirty="0">
                          <a:solidFill>
                            <a:schemeClr val="dk1"/>
                          </a:solidFill>
                          <a:latin typeface="+mn-lt"/>
                          <a:ea typeface="+mn-ea"/>
                          <a:cs typeface="+mn-cs"/>
                        </a:rPr>
                        <a:t>cointension</a:t>
                      </a:r>
                      <a:endParaRPr lang="zh-CN" altLang="en-US" dirty="0"/>
                    </a:p>
                  </a:txBody>
                  <a:tcPr/>
                </a:tc>
                <a:tc>
                  <a:txBody>
                    <a:bodyPr/>
                    <a:lstStyle/>
                    <a:p>
                      <a:pPr algn="ctr"/>
                      <a:r>
                        <a:rPr lang="en-US" altLang="zh-CN" sz="1800" b="0" i="0" u="none" strike="noStrike" kern="1200" baseline="0" dirty="0">
                          <a:solidFill>
                            <a:schemeClr val="dk1"/>
                          </a:solidFill>
                          <a:latin typeface="+mn-lt"/>
                          <a:ea typeface="+mn-ea"/>
                          <a:cs typeface="+mn-cs"/>
                        </a:rPr>
                        <a:t>proximity of the relations (Y – Y*)</a:t>
                      </a:r>
                      <a:endParaRPr lang="zh-CN" altLang="en-US" dirty="0"/>
                    </a:p>
                  </a:txBody>
                  <a:tcPr/>
                </a:tc>
                <a:extLst>
                  <a:ext uri="{0D108BD9-81ED-4DB2-BD59-A6C34878D82A}">
                    <a16:rowId xmlns:a16="http://schemas.microsoft.com/office/drawing/2014/main" val="911276648"/>
                  </a:ext>
                </a:extLst>
              </a:tr>
            </a:tbl>
          </a:graphicData>
        </a:graphic>
      </p:graphicFrame>
    </p:spTree>
    <p:extLst>
      <p:ext uri="{BB962C8B-B14F-4D97-AF65-F5344CB8AC3E}">
        <p14:creationId xmlns:p14="http://schemas.microsoft.com/office/powerpoint/2010/main" val="1067691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 </a:t>
            </a:r>
            <a:r>
              <a:rPr lang="en-US" altLang="zh-CN" dirty="0"/>
              <a:t>The concepts of cointension</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lang="en-US"/>
          </a:p>
        </p:txBody>
      </p:sp>
      <p:sp>
        <p:nvSpPr>
          <p:cNvPr id="3" name="矩形 2">
            <a:extLst>
              <a:ext uri="{FF2B5EF4-FFF2-40B4-BE49-F238E27FC236}">
                <a16:creationId xmlns:a16="http://schemas.microsoft.com/office/drawing/2014/main" id="{09B5AC6D-32BA-493A-9B95-EB7EF5F412A4}"/>
              </a:ext>
            </a:extLst>
          </p:cNvPr>
          <p:cNvSpPr/>
          <p:nvPr/>
        </p:nvSpPr>
        <p:spPr>
          <a:xfrm>
            <a:off x="670093" y="2147068"/>
            <a:ext cx="9796680" cy="1138773"/>
          </a:xfrm>
          <a:prstGeom prst="rect">
            <a:avLst/>
          </a:prstGeom>
        </p:spPr>
        <p:txBody>
          <a:bodyPr wrap="square">
            <a:spAutoFit/>
          </a:bodyPr>
          <a:lstStyle/>
          <a:p>
            <a:pPr marL="342900" indent="-342900">
              <a:buFont typeface="Arial" panose="020B0604020202020204" pitchFamily="34" charset="0"/>
              <a:buChar char="•"/>
            </a:pPr>
            <a:r>
              <a:rPr lang="en-US" altLang="zh-CN" sz="2400" dirty="0">
                <a:latin typeface="AdvEPSTIM"/>
              </a:rPr>
              <a:t>Aim of precisiation / modeling:</a:t>
            </a:r>
          </a:p>
          <a:p>
            <a:pPr marL="342900" indent="-342900">
              <a:buFont typeface="Arial" panose="020B0604020202020204" pitchFamily="34" charset="0"/>
              <a:buChar char="•"/>
            </a:pPr>
            <a:endParaRPr lang="en-US" altLang="zh-CN" sz="2400" dirty="0">
              <a:latin typeface="AdvEPSTIM"/>
            </a:endParaRPr>
          </a:p>
          <a:p>
            <a:pPr marL="800100" lvl="1" indent="-342900" algn="ctr">
              <a:buFont typeface="Arial" panose="020B0604020202020204" pitchFamily="34" charset="0"/>
              <a:buChar char="•"/>
            </a:pPr>
            <a:r>
              <a:rPr lang="en-US" altLang="zh-CN" sz="2000" dirty="0"/>
              <a:t>Cointensive mm-precisiation(</a:t>
            </a:r>
            <a:r>
              <a:rPr lang="zh-CN" altLang="en-US" sz="2000" dirty="0">
                <a:solidFill>
                  <a:srgbClr val="FF0000"/>
                </a:solidFill>
                <a:latin typeface="楷体" panose="02010609060101010101" pitchFamily="49" charset="-122"/>
                <a:ea typeface="楷体" panose="02010609060101010101" pitchFamily="49" charset="-122"/>
              </a:rPr>
              <a:t>強一致性精確化</a:t>
            </a:r>
            <a:r>
              <a:rPr lang="en-US" altLang="zh-CN" sz="2000" dirty="0"/>
              <a:t>).</a:t>
            </a:r>
          </a:p>
        </p:txBody>
      </p:sp>
      <p:sp>
        <p:nvSpPr>
          <p:cNvPr id="7" name="矩形 6">
            <a:extLst>
              <a:ext uri="{FF2B5EF4-FFF2-40B4-BE49-F238E27FC236}">
                <a16:creationId xmlns:a16="http://schemas.microsoft.com/office/drawing/2014/main" id="{FA740A59-AA73-4FD2-9A8A-13796C2CAC63}"/>
              </a:ext>
            </a:extLst>
          </p:cNvPr>
          <p:cNvSpPr/>
          <p:nvPr/>
        </p:nvSpPr>
        <p:spPr>
          <a:xfrm>
            <a:off x="670093" y="3790076"/>
            <a:ext cx="9796680" cy="769441"/>
          </a:xfrm>
          <a:prstGeom prst="rect">
            <a:avLst/>
          </a:prstGeom>
        </p:spPr>
        <p:txBody>
          <a:bodyPr wrap="square">
            <a:spAutoFit/>
          </a:bodyPr>
          <a:lstStyle/>
          <a:p>
            <a:pPr marL="342900" indent="-342900">
              <a:buFont typeface="Arial" panose="020B0604020202020204" pitchFamily="34" charset="0"/>
              <a:buChar char="•"/>
            </a:pPr>
            <a:r>
              <a:rPr lang="en-US" altLang="zh-CN" sz="2400" dirty="0">
                <a:latin typeface="AdvEPSTIM"/>
              </a:rPr>
              <a:t>A concept/tool which plays a pivotal role in mm-precisiation:</a:t>
            </a:r>
            <a:endParaRPr lang="en-US" altLang="zh-CN" sz="2800" dirty="0">
              <a:latin typeface="AdvEPSTIM"/>
            </a:endParaRPr>
          </a:p>
          <a:p>
            <a:pPr marL="800100" lvl="1" indent="-342900" algn="ctr">
              <a:buFont typeface="Arial" panose="020B0604020202020204" pitchFamily="34" charset="0"/>
              <a:buChar char="•"/>
            </a:pPr>
            <a:r>
              <a:rPr lang="en-US" altLang="zh-CN" sz="2000" dirty="0"/>
              <a:t>Generalized constraint</a:t>
            </a:r>
            <a:r>
              <a:rPr lang="en-US" altLang="zh-TW" sz="2000" dirty="0"/>
              <a:t>(</a:t>
            </a:r>
            <a:r>
              <a:rPr lang="zh-CN" altLang="en-US" sz="2000" dirty="0">
                <a:solidFill>
                  <a:srgbClr val="FF0000"/>
                </a:solidFill>
                <a:latin typeface="楷体" panose="02010609060101010101" pitchFamily="49" charset="-122"/>
                <a:ea typeface="楷体" panose="02010609060101010101" pitchFamily="49" charset="-122"/>
              </a:rPr>
              <a:t>廣義約束</a:t>
            </a:r>
            <a:r>
              <a:rPr lang="en-US" altLang="zh-TW" sz="2000" dirty="0"/>
              <a:t>).</a:t>
            </a:r>
            <a:endParaRPr lang="zh-CN" altLang="en-US" sz="2800" dirty="0"/>
          </a:p>
        </p:txBody>
      </p:sp>
    </p:spTree>
    <p:extLst>
      <p:ext uri="{BB962C8B-B14F-4D97-AF65-F5344CB8AC3E}">
        <p14:creationId xmlns:p14="http://schemas.microsoft.com/office/powerpoint/2010/main" val="42379970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62417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sz="4000" dirty="0"/>
              <a:t>Part 1: What is fuzzy logic – a nontraditional view</a:t>
            </a:r>
            <a:endParaRPr lang="en-US" sz="4000"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lang="en-US" dirty="0"/>
          </a:p>
        </p:txBody>
      </p:sp>
      <p:sp>
        <p:nvSpPr>
          <p:cNvPr id="3" name="矩形 2">
            <a:extLst>
              <a:ext uri="{FF2B5EF4-FFF2-40B4-BE49-F238E27FC236}">
                <a16:creationId xmlns:a16="http://schemas.microsoft.com/office/drawing/2014/main" id="{39437D76-3DF5-44FE-85DD-44F964B800AE}"/>
              </a:ext>
            </a:extLst>
          </p:cNvPr>
          <p:cNvSpPr/>
          <p:nvPr/>
        </p:nvSpPr>
        <p:spPr>
          <a:xfrm>
            <a:off x="2137615" y="3948913"/>
            <a:ext cx="7916770" cy="1384995"/>
          </a:xfrm>
          <a:prstGeom prst="rect">
            <a:avLst/>
          </a:prstGeom>
        </p:spPr>
        <p:txBody>
          <a:bodyPr wrap="square">
            <a:spAutoFit/>
          </a:bodyPr>
          <a:lstStyle/>
          <a:p>
            <a:pPr algn="ctr"/>
            <a:r>
              <a:rPr lang="en-US" altLang="zh-CN" sz="2800" dirty="0">
                <a:latin typeface="AdvEPSTIM-I"/>
              </a:rPr>
              <a:t>1.3 The concept of a generalized constraint </a:t>
            </a:r>
          </a:p>
          <a:p>
            <a:pPr algn="ctr"/>
            <a:r>
              <a:rPr lang="en-US" altLang="zh-CN" sz="2800" dirty="0">
                <a:latin typeface="AdvEPSTIM-I"/>
              </a:rPr>
              <a:t>	and the fundamental thesis of fuzzy logic</a:t>
            </a:r>
          </a:p>
          <a:p>
            <a:pPr algn="ctr"/>
            <a:r>
              <a:rPr lang="zh-CN" altLang="en-US" sz="2800" dirty="0">
                <a:latin typeface="楷体" panose="02010609060101010101" pitchFamily="49" charset="-122"/>
                <a:ea typeface="楷体" panose="02010609060101010101" pitchFamily="49" charset="-122"/>
              </a:rPr>
              <a:t>廣義約束和模糊邏輯的理論基礎</a:t>
            </a:r>
          </a:p>
        </p:txBody>
      </p:sp>
    </p:spTree>
    <p:extLst>
      <p:ext uri="{BB962C8B-B14F-4D97-AF65-F5344CB8AC3E}">
        <p14:creationId xmlns:p14="http://schemas.microsoft.com/office/powerpoint/2010/main" val="32657578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 </a:t>
            </a:r>
            <a:r>
              <a:rPr lang="en-US" altLang="zh-CN" dirty="0"/>
              <a:t>The concept of a generalized constraint</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lang="en-US" dirty="0"/>
          </a:p>
        </p:txBody>
      </p:sp>
      <p:sp>
        <p:nvSpPr>
          <p:cNvPr id="3" name="矩形 2">
            <a:extLst>
              <a:ext uri="{FF2B5EF4-FFF2-40B4-BE49-F238E27FC236}">
                <a16:creationId xmlns:a16="http://schemas.microsoft.com/office/drawing/2014/main" id="{09B5AC6D-32BA-493A-9B95-EB7EF5F412A4}"/>
              </a:ext>
            </a:extLst>
          </p:cNvPr>
          <p:cNvSpPr/>
          <p:nvPr/>
        </p:nvSpPr>
        <p:spPr>
          <a:xfrm>
            <a:off x="838199" y="1845049"/>
            <a:ext cx="10922251" cy="4278094"/>
          </a:xfrm>
          <a:prstGeom prst="rect">
            <a:avLst/>
          </a:prstGeom>
        </p:spPr>
        <p:txBody>
          <a:bodyPr wrap="square">
            <a:spAutoFit/>
          </a:bodyPr>
          <a:lstStyle/>
          <a:p>
            <a:pPr marL="342900" indent="-342900">
              <a:buFont typeface="Arial" panose="020B0604020202020204" pitchFamily="34" charset="0"/>
              <a:buChar char="•"/>
            </a:pPr>
            <a:r>
              <a:rPr lang="zh-CN" altLang="en-US" sz="2800" dirty="0">
                <a:solidFill>
                  <a:srgbClr val="FF0000"/>
                </a:solidFill>
                <a:latin typeface="楷体" panose="02010609060101010101" pitchFamily="49" charset="-122"/>
                <a:ea typeface="楷体" panose="02010609060101010101" pitchFamily="49" charset="-122"/>
              </a:rPr>
              <a:t>約束是表達信息的主要工具。</a:t>
            </a:r>
            <a:endParaRPr lang="en-US" altLang="zh-CN" sz="2800" dirty="0">
              <a:solidFill>
                <a:srgbClr val="FF0000"/>
              </a:solidFill>
              <a:latin typeface="楷体" panose="02010609060101010101" pitchFamily="49" charset="-122"/>
              <a:ea typeface="楷体" panose="02010609060101010101" pitchFamily="49" charset="-122"/>
            </a:endParaRPr>
          </a:p>
          <a:p>
            <a:pPr marL="800100" lvl="1" indent="-342900">
              <a:buFont typeface="Arial" panose="020B0604020202020204" pitchFamily="34" charset="0"/>
              <a:buChar char="•"/>
            </a:pPr>
            <a:endParaRPr lang="en-US" altLang="zh-CN" sz="2800" dirty="0">
              <a:latin typeface="楷体" panose="02010609060101010101" pitchFamily="49" charset="-122"/>
              <a:ea typeface="楷体" panose="02010609060101010101" pitchFamily="49" charset="-122"/>
            </a:endParaRPr>
          </a:p>
          <a:p>
            <a:pPr marL="800100" lvl="1" indent="-342900">
              <a:buFont typeface="Arial" panose="020B0604020202020204" pitchFamily="34" charset="0"/>
              <a:buChar char="•"/>
            </a:pPr>
            <a:r>
              <a:rPr lang="en-US" altLang="zh-CN" sz="2800" dirty="0">
                <a:latin typeface="楷体" panose="02010609060101010101" pitchFamily="49" charset="-122"/>
                <a:ea typeface="楷体" panose="02010609060101010101" pitchFamily="49" charset="-122"/>
              </a:rPr>
              <a:t>E.g.</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Knapsack Problem</a:t>
            </a:r>
            <a:r>
              <a:rPr lang="zh-CN" altLang="en-US" sz="2800" dirty="0">
                <a:latin typeface="楷体" panose="02010609060101010101" pitchFamily="49" charset="-122"/>
                <a:ea typeface="楷体" panose="02010609060101010101" pitchFamily="49" charset="-122"/>
              </a:rPr>
              <a:t>：</a:t>
            </a:r>
            <a:r>
              <a:rPr lang="en-US" altLang="zh-CN" sz="2000" dirty="0">
                <a:latin typeface="Yu Gothic" panose="020B0400000000000000" pitchFamily="34" charset="-128"/>
                <a:ea typeface="Yu Gothic" panose="020B0400000000000000" pitchFamily="34" charset="-128"/>
              </a:rPr>
              <a:t>max</a:t>
            </a:r>
            <a:r>
              <a:rPr lang="en-US" altLang="zh-CN" sz="2800" dirty="0">
                <a:latin typeface="楷体" panose="02010609060101010101" pitchFamily="49" charset="-122"/>
                <a:ea typeface="楷体" panose="02010609060101010101" pitchFamily="49" charset="-122"/>
              </a:rPr>
              <a:t>     ,   ,  		     ;</a:t>
            </a:r>
          </a:p>
          <a:p>
            <a:pPr marL="800100" lvl="1" indent="-342900">
              <a:buFont typeface="Arial" panose="020B0604020202020204" pitchFamily="34" charset="0"/>
              <a:buChar char="•"/>
            </a:pPr>
            <a:endParaRPr lang="en-US" altLang="zh-CN" sz="2800" dirty="0">
              <a:solidFill>
                <a:srgbClr val="FF0000"/>
              </a:solidFill>
              <a:latin typeface="楷体" panose="02010609060101010101" pitchFamily="49" charset="-122"/>
              <a:ea typeface="楷体" panose="02010609060101010101" pitchFamily="49" charset="-122"/>
            </a:endParaRPr>
          </a:p>
          <a:p>
            <a:pPr marL="800100" lvl="1" indent="-342900">
              <a:buFont typeface="Arial" panose="020B0604020202020204" pitchFamily="34" charset="0"/>
              <a:buChar char="•"/>
            </a:pPr>
            <a:r>
              <a:rPr lang="en-US" altLang="zh-CN" sz="2800" dirty="0">
                <a:latin typeface="楷体" panose="02010609060101010101" pitchFamily="49" charset="-122"/>
                <a:ea typeface="楷体" panose="02010609060101010101" pitchFamily="49" charset="-122"/>
              </a:rPr>
              <a:t>SVM</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2 </a:t>
            </a:r>
          </a:p>
          <a:p>
            <a:pPr marL="800100" lvl="1" indent="-342900">
              <a:buFont typeface="Arial" panose="020B0604020202020204" pitchFamily="34" charset="0"/>
              <a:buChar char="•"/>
            </a:pPr>
            <a:endParaRPr lang="en-US" altLang="zh-CN" sz="2800" dirty="0">
              <a:latin typeface="楷体" panose="02010609060101010101" pitchFamily="49" charset="-122"/>
              <a:ea typeface="楷体" panose="02010609060101010101" pitchFamily="49" charset="-122"/>
            </a:endParaRPr>
          </a:p>
          <a:p>
            <a:pPr marL="800100" lvl="1" indent="-342900">
              <a:buFont typeface="Arial" panose="020B0604020202020204" pitchFamily="34" charset="0"/>
              <a:buChar char="•"/>
            </a:pPr>
            <a:r>
              <a:rPr lang="en-US" altLang="zh-CN" sz="2800" dirty="0">
                <a:latin typeface="楷体" panose="02010609060101010101" pitchFamily="49" charset="-122"/>
                <a:ea typeface="楷体" panose="02010609060101010101" pitchFamily="49" charset="-122"/>
              </a:rPr>
              <a:t>T-test</a:t>
            </a:r>
            <a:r>
              <a:rPr lang="zh-CN" altLang="en-US" sz="2800" dirty="0">
                <a:latin typeface="楷体" panose="02010609060101010101" pitchFamily="49" charset="-122"/>
                <a:ea typeface="楷体" panose="02010609060101010101" pitchFamily="49" charset="-122"/>
              </a:rPr>
              <a:t>：</a:t>
            </a:r>
            <a:r>
              <a:rPr lang="en-US" altLang="zh-CN" i="1" dirty="0"/>
              <a:t>H</a:t>
            </a:r>
            <a:r>
              <a:rPr lang="en-US" altLang="zh-CN" baseline="-25000" dirty="0"/>
              <a:t>0</a:t>
            </a:r>
            <a:r>
              <a:rPr lang="en-US" altLang="zh-CN" dirty="0"/>
              <a:t>: </a:t>
            </a:r>
            <a:r>
              <a:rPr lang="el-GR" altLang="zh-CN" dirty="0"/>
              <a:t>μ = μ</a:t>
            </a:r>
            <a:r>
              <a:rPr lang="el-GR" altLang="zh-CN" baseline="-25000" dirty="0"/>
              <a:t>0</a:t>
            </a:r>
            <a:r>
              <a:rPr lang="el-GR" altLang="zh-CN" dirty="0"/>
              <a:t> </a:t>
            </a:r>
            <a:r>
              <a:rPr lang="en-US" altLang="zh-CN" dirty="0"/>
              <a:t>;</a:t>
            </a:r>
            <a:r>
              <a:rPr lang="en-US" altLang="zh-CN" sz="2000" i="1" dirty="0"/>
              <a:t> </a:t>
            </a:r>
            <a:r>
              <a:rPr lang="en-US" altLang="zh-CN" i="1" dirty="0"/>
              <a:t>H</a:t>
            </a:r>
            <a:r>
              <a:rPr lang="en-US" altLang="zh-CN" sz="2000" baseline="-25000" dirty="0"/>
              <a:t>1</a:t>
            </a:r>
            <a:r>
              <a:rPr lang="en-US" altLang="zh-CN" sz="2000" dirty="0"/>
              <a:t>: </a:t>
            </a:r>
            <a:r>
              <a:rPr lang="el-GR" altLang="zh-CN" sz="2000" dirty="0"/>
              <a:t>μ </a:t>
            </a:r>
            <a:r>
              <a:rPr lang="en-US" altLang="zh-CN" sz="2000" dirty="0"/>
              <a:t> != </a:t>
            </a:r>
            <a:r>
              <a:rPr lang="el-GR" altLang="zh-CN" sz="2000" dirty="0"/>
              <a:t> μ</a:t>
            </a:r>
            <a:r>
              <a:rPr lang="el-GR" altLang="zh-CN" sz="2000" baseline="-25000" dirty="0"/>
              <a:t>0</a:t>
            </a:r>
            <a:r>
              <a:rPr lang="en-US" altLang="zh-CN" sz="2000" baseline="-25000" dirty="0"/>
              <a:t> </a:t>
            </a:r>
            <a:r>
              <a:rPr lang="en-US" altLang="zh-CN" i="1" dirty="0"/>
              <a:t>; t &lt; α = 0.05.</a:t>
            </a:r>
          </a:p>
          <a:p>
            <a:endParaRPr lang="en-US" altLang="zh-CN" sz="2800" dirty="0">
              <a:latin typeface="AdvEPSTIM"/>
            </a:endParaRPr>
          </a:p>
          <a:p>
            <a:pPr lvl="2"/>
            <a:endParaRPr lang="en-US" altLang="zh-CN" sz="2400" dirty="0">
              <a:solidFill>
                <a:srgbClr val="FF0000"/>
              </a:solidFill>
            </a:endParaRPr>
          </a:p>
          <a:p>
            <a:pPr marL="1257300" lvl="2" indent="-342900">
              <a:buFont typeface="Arial" panose="020B0604020202020204" pitchFamily="34" charset="0"/>
              <a:buChar char="•"/>
            </a:pPr>
            <a:endParaRPr lang="zh-CN" altLang="en-US" sz="2400" dirty="0"/>
          </a:p>
        </p:txBody>
      </p:sp>
      <p:pic>
        <p:nvPicPr>
          <p:cNvPr id="6" name="图片 5">
            <a:extLst>
              <a:ext uri="{FF2B5EF4-FFF2-40B4-BE49-F238E27FC236}">
                <a16:creationId xmlns:a16="http://schemas.microsoft.com/office/drawing/2014/main" id="{FC8B512F-4ED8-4CB9-B0A4-A30161EB1BB5}"/>
              </a:ext>
            </a:extLst>
          </p:cNvPr>
          <p:cNvPicPr>
            <a:picLocks noChangeAspect="1"/>
          </p:cNvPicPr>
          <p:nvPr/>
        </p:nvPicPr>
        <p:blipFill>
          <a:blip r:embed="rId3"/>
          <a:stretch>
            <a:fillRect/>
          </a:stretch>
        </p:blipFill>
        <p:spPr>
          <a:xfrm>
            <a:off x="2594099" y="3429000"/>
            <a:ext cx="3705225" cy="752475"/>
          </a:xfrm>
          <a:prstGeom prst="rect">
            <a:avLst/>
          </a:prstGeom>
        </p:spPr>
      </p:pic>
      <p:pic>
        <p:nvPicPr>
          <p:cNvPr id="7" name="图片 6">
            <a:extLst>
              <a:ext uri="{FF2B5EF4-FFF2-40B4-BE49-F238E27FC236}">
                <a16:creationId xmlns:a16="http://schemas.microsoft.com/office/drawing/2014/main" id="{B8A88235-F725-4CB6-84C9-F71EAD1E71C1}"/>
              </a:ext>
            </a:extLst>
          </p:cNvPr>
          <p:cNvPicPr>
            <a:picLocks noChangeAspect="1"/>
          </p:cNvPicPr>
          <p:nvPr/>
        </p:nvPicPr>
        <p:blipFill>
          <a:blip r:embed="rId4"/>
          <a:stretch>
            <a:fillRect/>
          </a:stretch>
        </p:blipFill>
        <p:spPr>
          <a:xfrm>
            <a:off x="6479802" y="2781728"/>
            <a:ext cx="885825" cy="400050"/>
          </a:xfrm>
          <a:prstGeom prst="rect">
            <a:avLst/>
          </a:prstGeom>
        </p:spPr>
      </p:pic>
      <p:pic>
        <p:nvPicPr>
          <p:cNvPr id="9" name="图片 8">
            <a:extLst>
              <a:ext uri="{FF2B5EF4-FFF2-40B4-BE49-F238E27FC236}">
                <a16:creationId xmlns:a16="http://schemas.microsoft.com/office/drawing/2014/main" id="{0249C0AD-277B-4857-A930-5FB50E2FE983}"/>
              </a:ext>
            </a:extLst>
          </p:cNvPr>
          <p:cNvPicPr>
            <a:picLocks noChangeAspect="1"/>
          </p:cNvPicPr>
          <p:nvPr/>
        </p:nvPicPr>
        <p:blipFill>
          <a:blip r:embed="rId5"/>
          <a:stretch>
            <a:fillRect/>
          </a:stretch>
        </p:blipFill>
        <p:spPr>
          <a:xfrm>
            <a:off x="7483322" y="2781728"/>
            <a:ext cx="3429000" cy="552450"/>
          </a:xfrm>
          <a:prstGeom prst="rect">
            <a:avLst/>
          </a:prstGeom>
        </p:spPr>
      </p:pic>
    </p:spTree>
    <p:extLst>
      <p:ext uri="{BB962C8B-B14F-4D97-AF65-F5344CB8AC3E}">
        <p14:creationId xmlns:p14="http://schemas.microsoft.com/office/powerpoint/2010/main" val="6999417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 </a:t>
            </a:r>
            <a:r>
              <a:rPr lang="en-US" altLang="zh-CN" dirty="0"/>
              <a:t>The concept of a generalized constraint</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lang="en-US"/>
          </a:p>
        </p:txBody>
      </p:sp>
      <p:sp>
        <p:nvSpPr>
          <p:cNvPr id="3" name="矩形 2">
            <a:extLst>
              <a:ext uri="{FF2B5EF4-FFF2-40B4-BE49-F238E27FC236}">
                <a16:creationId xmlns:a16="http://schemas.microsoft.com/office/drawing/2014/main" id="{09B5AC6D-32BA-493A-9B95-EB7EF5F412A4}"/>
              </a:ext>
            </a:extLst>
          </p:cNvPr>
          <p:cNvSpPr/>
          <p:nvPr/>
        </p:nvSpPr>
        <p:spPr>
          <a:xfrm>
            <a:off x="838200" y="1581278"/>
            <a:ext cx="10198818" cy="830997"/>
          </a:xfrm>
          <a:prstGeom prst="rect">
            <a:avLst/>
          </a:prstGeom>
        </p:spPr>
        <p:txBody>
          <a:bodyPr wrap="none">
            <a:spAutoFit/>
          </a:bodyPr>
          <a:lstStyle/>
          <a:p>
            <a:pPr marL="342900" indent="-342900">
              <a:buFont typeface="Arial" panose="020B0604020202020204" pitchFamily="34" charset="0"/>
              <a:buChar char="•"/>
            </a:pPr>
            <a:r>
              <a:rPr lang="en-US" altLang="zh-CN" sz="2400" dirty="0">
                <a:latin typeface="AdvEPSTIM"/>
              </a:rPr>
              <a:t>The principal features of the concept of generalized constraint</a:t>
            </a:r>
            <a:r>
              <a:rPr lang="zh-CN" altLang="en-US" sz="2400" dirty="0">
                <a:latin typeface="AdvEPSTIM"/>
              </a:rPr>
              <a:t>（</a:t>
            </a:r>
            <a:r>
              <a:rPr lang="zh-CN" altLang="en-US" sz="2400" dirty="0">
                <a:latin typeface="楷体" panose="02010609060101010101" pitchFamily="49" charset="-122"/>
                <a:ea typeface="楷体" panose="02010609060101010101" pitchFamily="49" charset="-122"/>
              </a:rPr>
              <a:t>廣義約束</a:t>
            </a:r>
            <a:r>
              <a:rPr lang="zh-CN" altLang="en-US" sz="2400" dirty="0">
                <a:latin typeface="AdvEPSTIM"/>
              </a:rPr>
              <a:t>）</a:t>
            </a:r>
            <a:r>
              <a:rPr lang="en-US" altLang="zh-CN" sz="2400" dirty="0">
                <a:latin typeface="AdvEPSTIM"/>
              </a:rPr>
              <a:t>:</a:t>
            </a:r>
          </a:p>
          <a:p>
            <a:pPr marL="800100" lvl="1" indent="-342900">
              <a:buFont typeface="Arial" panose="020B0604020202020204" pitchFamily="34" charset="0"/>
              <a:buChar char="•"/>
            </a:pPr>
            <a:r>
              <a:rPr lang="en-US" altLang="zh-CN" sz="2400" dirty="0">
                <a:latin typeface="楷体" panose="02010609060101010101" pitchFamily="49" charset="-122"/>
                <a:ea typeface="楷体" panose="02010609060101010101" pitchFamily="49" charset="-122"/>
              </a:rPr>
              <a:t>GC(X)</a:t>
            </a:r>
            <a:r>
              <a:rPr lang="en-US" altLang="zh-CN" dirty="0">
                <a:latin typeface="楷体" panose="02010609060101010101" pitchFamily="49" charset="-122"/>
                <a:ea typeface="楷体" panose="02010609060101010101" pitchFamily="49" charset="-122"/>
              </a:rPr>
              <a:t>(</a:t>
            </a:r>
            <a:r>
              <a:rPr lang="zh-CN" altLang="en-US" dirty="0">
                <a:solidFill>
                  <a:srgbClr val="FF0000"/>
                </a:solidFill>
                <a:latin typeface="楷体" panose="02010609060101010101" pitchFamily="49" charset="-122"/>
                <a:ea typeface="楷体" panose="02010609060101010101" pitchFamily="49" charset="-122"/>
              </a:rPr>
              <a:t>廣義約束</a:t>
            </a:r>
            <a:r>
              <a:rPr lang="en-US" altLang="zh-CN" dirty="0">
                <a:latin typeface="楷体" panose="02010609060101010101" pitchFamily="49" charset="-122"/>
                <a:ea typeface="楷体" panose="02010609060101010101" pitchFamily="49" charset="-122"/>
              </a:rPr>
              <a:t>): </a:t>
            </a:r>
            <a:r>
              <a:rPr lang="en-US" altLang="zh-CN" sz="2400" dirty="0">
                <a:latin typeface="楷体" panose="02010609060101010101" pitchFamily="49" charset="-122"/>
                <a:ea typeface="楷体" panose="02010609060101010101" pitchFamily="49" charset="-122"/>
              </a:rPr>
              <a:t>X</a:t>
            </a:r>
            <a:r>
              <a:rPr lang="en-US" altLang="zh-CN" dirty="0">
                <a:latin typeface="楷体" panose="02010609060101010101" pitchFamily="49" charset="-122"/>
                <a:ea typeface="楷体" panose="02010609060101010101" pitchFamily="49" charset="-122"/>
              </a:rPr>
              <a:t>(</a:t>
            </a:r>
            <a:r>
              <a:rPr lang="zh-CN" altLang="en-US" dirty="0">
                <a:solidFill>
                  <a:srgbClr val="FF0000"/>
                </a:solidFill>
                <a:latin typeface="楷体" panose="02010609060101010101" pitchFamily="49" charset="-122"/>
                <a:ea typeface="楷体" panose="02010609060101010101" pitchFamily="49" charset="-122"/>
              </a:rPr>
              <a:t>被約束變量</a:t>
            </a:r>
            <a:r>
              <a:rPr lang="en-US" altLang="zh-CN" dirty="0">
                <a:latin typeface="楷体" panose="02010609060101010101" pitchFamily="49" charset="-122"/>
                <a:ea typeface="楷体" panose="02010609060101010101" pitchFamily="49" charset="-122"/>
              </a:rPr>
              <a:t>) </a:t>
            </a:r>
            <a:r>
              <a:rPr lang="en-US" altLang="zh-CN" sz="2400" dirty="0">
                <a:latin typeface="楷体" panose="02010609060101010101" pitchFamily="49" charset="-122"/>
                <a:ea typeface="楷体" panose="02010609060101010101" pitchFamily="49" charset="-122"/>
              </a:rPr>
              <a:t>is</a:t>
            </a:r>
            <a:r>
              <a:rPr lang="en-US" altLang="zh-CN" dirty="0">
                <a:latin typeface="楷体" panose="02010609060101010101" pitchFamily="49" charset="-122"/>
                <a:ea typeface="楷体" panose="02010609060101010101" pitchFamily="49" charset="-122"/>
              </a:rPr>
              <a:t>(</a:t>
            </a:r>
            <a:r>
              <a:rPr lang="zh-CN" altLang="en-US" dirty="0">
                <a:solidFill>
                  <a:srgbClr val="FF0000"/>
                </a:solidFill>
                <a:latin typeface="楷体" panose="02010609060101010101" pitchFamily="49" charset="-122"/>
                <a:ea typeface="楷体" panose="02010609060101010101" pitchFamily="49" charset="-122"/>
              </a:rPr>
              <a:t>約束形態</a:t>
            </a:r>
            <a:r>
              <a:rPr lang="en-US" altLang="zh-CN" dirty="0">
                <a:latin typeface="楷体" panose="02010609060101010101" pitchFamily="49" charset="-122"/>
                <a:ea typeface="楷体" panose="02010609060101010101" pitchFamily="49" charset="-122"/>
              </a:rPr>
              <a:t>) </a:t>
            </a:r>
            <a:r>
              <a:rPr lang="en-US" altLang="zh-CN" sz="2400" dirty="0">
                <a:latin typeface="楷体" panose="02010609060101010101" pitchFamily="49" charset="-122"/>
                <a:ea typeface="楷体" panose="02010609060101010101" pitchFamily="49" charset="-122"/>
              </a:rPr>
              <a:t>R</a:t>
            </a:r>
            <a:r>
              <a:rPr lang="en-US" altLang="zh-CN" dirty="0">
                <a:latin typeface="楷体" panose="02010609060101010101" pitchFamily="49" charset="-122"/>
                <a:ea typeface="楷体" panose="02010609060101010101" pitchFamily="49" charset="-122"/>
              </a:rPr>
              <a:t>(</a:t>
            </a:r>
            <a:r>
              <a:rPr lang="zh-CN" altLang="en-US" dirty="0">
                <a:solidFill>
                  <a:srgbClr val="FF0000"/>
                </a:solidFill>
                <a:latin typeface="楷体" panose="02010609060101010101" pitchFamily="49" charset="-122"/>
                <a:ea typeface="楷体" panose="02010609060101010101" pitchFamily="49" charset="-122"/>
              </a:rPr>
              <a:t>約束關係</a:t>
            </a:r>
            <a:r>
              <a:rPr lang="en-US" altLang="zh-CN" dirty="0">
                <a:latin typeface="楷体" panose="02010609060101010101" pitchFamily="49" charset="-122"/>
                <a:ea typeface="楷体" panose="02010609060101010101" pitchFamily="49" charset="-122"/>
              </a:rPr>
              <a:t>)</a:t>
            </a:r>
            <a:endParaRPr lang="zh-CN" altLang="en-US" sz="2400" dirty="0">
              <a:latin typeface="楷体" panose="02010609060101010101" pitchFamily="49" charset="-122"/>
              <a:ea typeface="楷体" panose="02010609060101010101" pitchFamily="49" charset="-122"/>
            </a:endParaRPr>
          </a:p>
        </p:txBody>
      </p:sp>
      <p:pic>
        <p:nvPicPr>
          <p:cNvPr id="2" name="图片 1">
            <a:extLst>
              <a:ext uri="{FF2B5EF4-FFF2-40B4-BE49-F238E27FC236}">
                <a16:creationId xmlns:a16="http://schemas.microsoft.com/office/drawing/2014/main" id="{3D3335BB-FE93-443F-A337-A77B826631AF}"/>
              </a:ext>
            </a:extLst>
          </p:cNvPr>
          <p:cNvPicPr>
            <a:picLocks noChangeAspect="1"/>
          </p:cNvPicPr>
          <p:nvPr/>
        </p:nvPicPr>
        <p:blipFill rotWithShape="1">
          <a:blip r:embed="rId3"/>
          <a:srcRect b="29826"/>
          <a:stretch/>
        </p:blipFill>
        <p:spPr>
          <a:xfrm>
            <a:off x="3049710" y="2939048"/>
            <a:ext cx="6092579" cy="2890531"/>
          </a:xfrm>
          <a:prstGeom prst="rect">
            <a:avLst/>
          </a:prstGeom>
        </p:spPr>
      </p:pic>
    </p:spTree>
    <p:extLst>
      <p:ext uri="{BB962C8B-B14F-4D97-AF65-F5344CB8AC3E}">
        <p14:creationId xmlns:p14="http://schemas.microsoft.com/office/powerpoint/2010/main" val="17768574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 </a:t>
            </a:r>
            <a:r>
              <a:rPr lang="en-US" altLang="zh-CN" dirty="0"/>
              <a:t>The concept of a generalized constraint</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lang="en-US"/>
          </a:p>
        </p:txBody>
      </p:sp>
      <p:sp>
        <p:nvSpPr>
          <p:cNvPr id="3" name="矩形 2">
            <a:extLst>
              <a:ext uri="{FF2B5EF4-FFF2-40B4-BE49-F238E27FC236}">
                <a16:creationId xmlns:a16="http://schemas.microsoft.com/office/drawing/2014/main" id="{09B5AC6D-32BA-493A-9B95-EB7EF5F412A4}"/>
              </a:ext>
            </a:extLst>
          </p:cNvPr>
          <p:cNvSpPr/>
          <p:nvPr/>
        </p:nvSpPr>
        <p:spPr>
          <a:xfrm>
            <a:off x="838200" y="1581278"/>
            <a:ext cx="9815004" cy="4282391"/>
          </a:xfrm>
          <a:prstGeom prst="rect">
            <a:avLst/>
          </a:prstGeom>
        </p:spPr>
        <p:txBody>
          <a:bodyPr wrap="square">
            <a:spAutoFit/>
          </a:bodyPr>
          <a:lstStyle/>
          <a:p>
            <a:pPr marL="342900" indent="-342900">
              <a:buFont typeface="Arial" panose="020B0604020202020204" pitchFamily="34" charset="0"/>
              <a:buChar char="•"/>
            </a:pPr>
            <a:r>
              <a:rPr lang="en-US" altLang="zh-CN" sz="2400" dirty="0">
                <a:latin typeface="AdvEPSTIM"/>
              </a:rPr>
              <a:t>Constrained variable</a:t>
            </a:r>
            <a:r>
              <a:rPr lang="en-US" altLang="zh-CN" sz="2400" dirty="0">
                <a:latin typeface="楷体" panose="02010609060101010101" pitchFamily="49" charset="-122"/>
                <a:ea typeface="楷体" panose="02010609060101010101" pitchFamily="49" charset="-122"/>
              </a:rPr>
              <a:t>(</a:t>
            </a:r>
            <a:r>
              <a:rPr lang="zh-CN" altLang="en-US" sz="2400" dirty="0">
                <a:solidFill>
                  <a:srgbClr val="FF0000"/>
                </a:solidFill>
                <a:latin typeface="楷体" panose="02010609060101010101" pitchFamily="49" charset="-122"/>
                <a:ea typeface="楷体" panose="02010609060101010101" pitchFamily="49" charset="-122"/>
              </a:rPr>
              <a:t>被約束變量</a:t>
            </a:r>
            <a:r>
              <a:rPr lang="en-US" altLang="zh-CN" sz="2400" dirty="0">
                <a:latin typeface="楷体" panose="02010609060101010101" pitchFamily="49" charset="-122"/>
                <a:ea typeface="楷体" panose="02010609060101010101" pitchFamily="49" charset="-122"/>
              </a:rPr>
              <a:t>) </a:t>
            </a:r>
            <a:r>
              <a:rPr lang="en-US" altLang="zh-CN" sz="2400" dirty="0">
                <a:latin typeface="AdvEPSTIM"/>
              </a:rPr>
              <a:t>:</a:t>
            </a:r>
          </a:p>
          <a:p>
            <a:pPr marL="800100" lvl="1" indent="-342900">
              <a:lnSpc>
                <a:spcPct val="150000"/>
              </a:lnSpc>
              <a:buFont typeface="Arial" panose="020B0604020202020204" pitchFamily="34" charset="0"/>
              <a:buChar char="•"/>
            </a:pPr>
            <a:r>
              <a:rPr lang="en-US" altLang="zh-CN" sz="2400" dirty="0"/>
              <a:t>(1) X is an n-array variable, X = </a:t>
            </a:r>
            <a:r>
              <a:rPr lang="en-US" altLang="zh-CN" sz="2400" dirty="0">
                <a:solidFill>
                  <a:srgbClr val="FF0000"/>
                </a:solidFill>
              </a:rPr>
              <a:t>(X1 , . . . ,Xn)</a:t>
            </a:r>
            <a:r>
              <a:rPr lang="en-US" altLang="zh-CN" sz="2400" dirty="0"/>
              <a:t>;</a:t>
            </a:r>
          </a:p>
          <a:p>
            <a:pPr marL="800100" lvl="1" indent="-342900">
              <a:lnSpc>
                <a:spcPct val="150000"/>
              </a:lnSpc>
              <a:buFont typeface="Arial" panose="020B0604020202020204" pitchFamily="34" charset="0"/>
              <a:buChar char="•"/>
            </a:pPr>
            <a:r>
              <a:rPr lang="en-US" altLang="zh-CN" sz="2400" dirty="0"/>
              <a:t>(2) X is a proposition, e.g., Leslie is </a:t>
            </a:r>
            <a:r>
              <a:rPr lang="en-US" altLang="zh-CN" sz="2400" dirty="0">
                <a:solidFill>
                  <a:srgbClr val="FF0000"/>
                </a:solidFill>
              </a:rPr>
              <a:t>tall</a:t>
            </a:r>
            <a:r>
              <a:rPr lang="en-US" altLang="zh-CN" sz="2400" dirty="0"/>
              <a:t>;</a:t>
            </a:r>
          </a:p>
          <a:p>
            <a:pPr marL="800100" lvl="1" indent="-342900">
              <a:lnSpc>
                <a:spcPct val="150000"/>
              </a:lnSpc>
              <a:buFont typeface="Arial" panose="020B0604020202020204" pitchFamily="34" charset="0"/>
              <a:buChar char="•"/>
            </a:pPr>
            <a:r>
              <a:rPr lang="en-US" altLang="zh-CN" sz="2400" dirty="0"/>
              <a:t>(3) X is a relation;</a:t>
            </a:r>
          </a:p>
          <a:p>
            <a:pPr marL="800100" lvl="1" indent="-342900">
              <a:lnSpc>
                <a:spcPct val="150000"/>
              </a:lnSpc>
              <a:buFont typeface="Arial" panose="020B0604020202020204" pitchFamily="34" charset="0"/>
              <a:buChar char="•"/>
            </a:pPr>
            <a:r>
              <a:rPr lang="en-US" altLang="zh-CN" sz="2400" dirty="0"/>
              <a:t>(4) X is a function of another variable: X = </a:t>
            </a:r>
            <a:r>
              <a:rPr lang="en-US" altLang="zh-CN" sz="2400" dirty="0">
                <a:solidFill>
                  <a:srgbClr val="FF0000"/>
                </a:solidFill>
              </a:rPr>
              <a:t>f(Y)</a:t>
            </a:r>
            <a:r>
              <a:rPr lang="en-US" altLang="zh-CN" sz="2400" dirty="0"/>
              <a:t>;</a:t>
            </a:r>
          </a:p>
          <a:p>
            <a:pPr marL="800100" lvl="1" indent="-342900">
              <a:lnSpc>
                <a:spcPct val="150000"/>
              </a:lnSpc>
              <a:buFont typeface="Arial" panose="020B0604020202020204" pitchFamily="34" charset="0"/>
              <a:buChar char="•"/>
            </a:pPr>
            <a:r>
              <a:rPr lang="en-US" altLang="zh-CN" sz="2400" dirty="0"/>
              <a:t>(5) X is conditioned on another variable, </a:t>
            </a:r>
            <a:r>
              <a:rPr lang="en-US" altLang="zh-CN" sz="2400" dirty="0">
                <a:solidFill>
                  <a:srgbClr val="FF0000"/>
                </a:solidFill>
              </a:rPr>
              <a:t>X/Y</a:t>
            </a:r>
            <a:r>
              <a:rPr lang="en-US" altLang="zh-CN" sz="2400" dirty="0"/>
              <a:t>;</a:t>
            </a:r>
          </a:p>
          <a:p>
            <a:pPr marL="800100" lvl="1" indent="-342900">
              <a:lnSpc>
                <a:spcPct val="150000"/>
              </a:lnSpc>
              <a:buFont typeface="Arial" panose="020B0604020202020204" pitchFamily="34" charset="0"/>
              <a:buChar char="•"/>
            </a:pPr>
            <a:r>
              <a:rPr lang="en-US" altLang="zh-CN" sz="2400" dirty="0"/>
              <a:t>(6) X is conditioned on another generalized constraint, X isr </a:t>
            </a:r>
            <a:r>
              <a:rPr lang="en-US" altLang="zh-CN" sz="2400" dirty="0">
                <a:solidFill>
                  <a:srgbClr val="FF0000"/>
                </a:solidFill>
              </a:rPr>
              <a:t>if Y iss S</a:t>
            </a:r>
            <a:r>
              <a:rPr lang="en-US" altLang="zh-CN" sz="2400" dirty="0"/>
              <a:t>;</a:t>
            </a:r>
          </a:p>
          <a:p>
            <a:pPr marL="800100" lvl="1" indent="-342900">
              <a:lnSpc>
                <a:spcPct val="150000"/>
              </a:lnSpc>
              <a:buFont typeface="Arial" panose="020B0604020202020204" pitchFamily="34" charset="0"/>
              <a:buChar char="•"/>
            </a:pPr>
            <a:r>
              <a:rPr lang="en-US" altLang="zh-CN" sz="2400" dirty="0"/>
              <a:t>(7) X has a structure, e.g., X = </a:t>
            </a:r>
            <a:r>
              <a:rPr lang="en-US" altLang="zh-CN" sz="2400" dirty="0">
                <a:solidFill>
                  <a:srgbClr val="FF0000"/>
                </a:solidFill>
              </a:rPr>
              <a:t>Location(Residence(Carol));</a:t>
            </a:r>
          </a:p>
        </p:txBody>
      </p:sp>
    </p:spTree>
    <p:extLst>
      <p:ext uri="{BB962C8B-B14F-4D97-AF65-F5344CB8AC3E}">
        <p14:creationId xmlns:p14="http://schemas.microsoft.com/office/powerpoint/2010/main" val="12929922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 </a:t>
            </a:r>
            <a:r>
              <a:rPr lang="en-US" altLang="zh-CN" dirty="0"/>
              <a:t>The concept of a generalized constraint</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lang="en-US"/>
          </a:p>
        </p:txBody>
      </p:sp>
      <p:sp>
        <p:nvSpPr>
          <p:cNvPr id="3" name="矩形 2">
            <a:extLst>
              <a:ext uri="{FF2B5EF4-FFF2-40B4-BE49-F238E27FC236}">
                <a16:creationId xmlns:a16="http://schemas.microsoft.com/office/drawing/2014/main" id="{09B5AC6D-32BA-493A-9B95-EB7EF5F412A4}"/>
              </a:ext>
            </a:extLst>
          </p:cNvPr>
          <p:cNvSpPr/>
          <p:nvPr/>
        </p:nvSpPr>
        <p:spPr>
          <a:xfrm>
            <a:off x="838200" y="1845049"/>
            <a:ext cx="7234160" cy="830997"/>
          </a:xfrm>
          <a:prstGeom prst="rect">
            <a:avLst/>
          </a:prstGeom>
        </p:spPr>
        <p:txBody>
          <a:bodyPr wrap="none">
            <a:spAutoFit/>
          </a:bodyPr>
          <a:lstStyle/>
          <a:p>
            <a:pPr marL="342900" indent="-342900">
              <a:buFont typeface="Arial" panose="020B0604020202020204" pitchFamily="34" charset="0"/>
              <a:buChar char="•"/>
            </a:pPr>
            <a:r>
              <a:rPr lang="en-US" altLang="zh-CN" sz="2400" dirty="0">
                <a:latin typeface="AdvEPSTIM"/>
              </a:rPr>
              <a:t>Modalities of generalized constraints(</a:t>
            </a:r>
            <a:r>
              <a:rPr lang="zh-CN" altLang="en-US" sz="2400" dirty="0">
                <a:solidFill>
                  <a:srgbClr val="FF0000"/>
                </a:solidFill>
                <a:latin typeface="楷体" panose="02010609060101010101" pitchFamily="49" charset="-122"/>
                <a:ea typeface="楷体" panose="02010609060101010101" pitchFamily="49" charset="-122"/>
              </a:rPr>
              <a:t>常見約束形態</a:t>
            </a:r>
            <a:r>
              <a:rPr lang="en-US" altLang="zh-CN" sz="2400" dirty="0">
                <a:latin typeface="AdvEPSTIM"/>
              </a:rPr>
              <a:t>):</a:t>
            </a:r>
          </a:p>
          <a:p>
            <a:pPr marL="800100" lvl="1" indent="-342900">
              <a:buFont typeface="Arial" panose="020B0604020202020204" pitchFamily="34" charset="0"/>
              <a:buChar char="•"/>
            </a:pPr>
            <a:endParaRPr lang="zh-CN" altLang="en-US" sz="2400" dirty="0"/>
          </a:p>
        </p:txBody>
      </p:sp>
      <p:pic>
        <p:nvPicPr>
          <p:cNvPr id="4" name="图片 3">
            <a:extLst>
              <a:ext uri="{FF2B5EF4-FFF2-40B4-BE49-F238E27FC236}">
                <a16:creationId xmlns:a16="http://schemas.microsoft.com/office/drawing/2014/main" id="{DFD5F436-F9BB-44C5-894A-F9BD80031457}"/>
              </a:ext>
            </a:extLst>
          </p:cNvPr>
          <p:cNvPicPr>
            <a:picLocks noChangeAspect="1"/>
          </p:cNvPicPr>
          <p:nvPr/>
        </p:nvPicPr>
        <p:blipFill>
          <a:blip r:embed="rId3"/>
          <a:stretch>
            <a:fillRect/>
          </a:stretch>
        </p:blipFill>
        <p:spPr>
          <a:xfrm>
            <a:off x="1704975" y="2676046"/>
            <a:ext cx="8782050" cy="3295650"/>
          </a:xfrm>
          <a:prstGeom prst="rect">
            <a:avLst/>
          </a:prstGeom>
        </p:spPr>
      </p:pic>
    </p:spTree>
    <p:extLst>
      <p:ext uri="{BB962C8B-B14F-4D97-AF65-F5344CB8AC3E}">
        <p14:creationId xmlns:p14="http://schemas.microsoft.com/office/powerpoint/2010/main" val="41622910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1. The concept of a generalized constraint</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lang="en-US"/>
          </a:p>
        </p:txBody>
      </p:sp>
      <p:sp>
        <p:nvSpPr>
          <p:cNvPr id="3" name="矩形 2">
            <a:extLst>
              <a:ext uri="{FF2B5EF4-FFF2-40B4-BE49-F238E27FC236}">
                <a16:creationId xmlns:a16="http://schemas.microsoft.com/office/drawing/2014/main" id="{09B5AC6D-32BA-493A-9B95-EB7EF5F412A4}"/>
              </a:ext>
            </a:extLst>
          </p:cNvPr>
          <p:cNvSpPr/>
          <p:nvPr/>
        </p:nvSpPr>
        <p:spPr>
          <a:xfrm>
            <a:off x="838200" y="1700194"/>
            <a:ext cx="9486529" cy="1877437"/>
          </a:xfrm>
          <a:prstGeom prst="rect">
            <a:avLst/>
          </a:prstGeom>
        </p:spPr>
        <p:txBody>
          <a:bodyPr wrap="square">
            <a:spAutoFit/>
          </a:bodyPr>
          <a:lstStyle/>
          <a:p>
            <a:pPr marL="342900" indent="-342900">
              <a:buFont typeface="Arial" panose="020B0604020202020204" pitchFamily="34" charset="0"/>
              <a:buChar char="•"/>
            </a:pPr>
            <a:r>
              <a:rPr lang="en-US" altLang="zh-CN" sz="2400" dirty="0">
                <a:latin typeface="AdvEPSTIM"/>
              </a:rPr>
              <a:t>Generalized constraint language (GCL) (</a:t>
            </a:r>
            <a:r>
              <a:rPr lang="zh-CN" altLang="en-US" sz="2400" dirty="0">
                <a:solidFill>
                  <a:srgbClr val="FF0000"/>
                </a:solidFill>
                <a:latin typeface="楷体" panose="02010609060101010101" pitchFamily="49" charset="-122"/>
                <a:ea typeface="楷体" panose="02010609060101010101" pitchFamily="49" charset="-122"/>
              </a:rPr>
              <a:t>廣義約束語言</a:t>
            </a:r>
            <a:r>
              <a:rPr lang="en-US" altLang="zh-CN" sz="2400" dirty="0">
                <a:latin typeface="AdvEPSTIM"/>
              </a:rPr>
              <a:t>): :</a:t>
            </a:r>
          </a:p>
          <a:p>
            <a:pPr marL="800100" lvl="1" indent="-342900">
              <a:buFont typeface="Arial" panose="020B0604020202020204" pitchFamily="34" charset="0"/>
              <a:buChar char="•"/>
            </a:pPr>
            <a:r>
              <a:rPr lang="en-US" altLang="zh-CN" sz="2000" dirty="0"/>
              <a:t>GCL is generated by (combination, projection, qualification, propagation and counterpropagation) of generalized constraints</a:t>
            </a:r>
            <a:r>
              <a:rPr lang="en-US" altLang="zh-CN" sz="2400" dirty="0"/>
              <a:t>.</a:t>
            </a:r>
          </a:p>
          <a:p>
            <a:pPr marL="800100" lvl="1" indent="-342900">
              <a:buFont typeface="Arial" panose="020B0604020202020204" pitchFamily="34" charset="0"/>
              <a:buChar char="•"/>
            </a:pPr>
            <a:endParaRPr lang="en-US" altLang="zh-CN" sz="2400" dirty="0"/>
          </a:p>
          <a:p>
            <a:pPr marL="800100" lvl="1" indent="-342900">
              <a:buFont typeface="Arial" panose="020B0604020202020204" pitchFamily="34" charset="0"/>
              <a:buChar char="•"/>
            </a:pPr>
            <a:r>
              <a:rPr lang="zh-CN" altLang="en-US" sz="2400" dirty="0">
                <a:solidFill>
                  <a:srgbClr val="FF0000"/>
                </a:solidFill>
                <a:latin typeface="楷体" panose="02010609060101010101" pitchFamily="49" charset="-122"/>
                <a:ea typeface="楷体" panose="02010609060101010101" pitchFamily="49" charset="-122"/>
              </a:rPr>
              <a:t>任何知識都可以用</a:t>
            </a:r>
            <a:r>
              <a:rPr lang="en-US" altLang="zh-CN" sz="2400" dirty="0">
                <a:solidFill>
                  <a:srgbClr val="FF0000"/>
                </a:solidFill>
                <a:latin typeface="楷体" panose="02010609060101010101" pitchFamily="49" charset="-122"/>
                <a:ea typeface="楷体" panose="02010609060101010101" pitchFamily="49" charset="-122"/>
              </a:rPr>
              <a:t>GCL</a:t>
            </a:r>
            <a:r>
              <a:rPr lang="zh-CN" altLang="en-US" sz="2400" dirty="0">
                <a:solidFill>
                  <a:srgbClr val="FF0000"/>
                </a:solidFill>
                <a:latin typeface="楷体" panose="02010609060101010101" pitchFamily="49" charset="-122"/>
                <a:ea typeface="楷体" panose="02010609060101010101" pitchFamily="49" charset="-122"/>
              </a:rPr>
              <a:t>來表示</a:t>
            </a:r>
          </a:p>
        </p:txBody>
      </p:sp>
      <p:sp>
        <p:nvSpPr>
          <p:cNvPr id="6" name="矩形 5">
            <a:extLst>
              <a:ext uri="{FF2B5EF4-FFF2-40B4-BE49-F238E27FC236}">
                <a16:creationId xmlns:a16="http://schemas.microsoft.com/office/drawing/2014/main" id="{A675616D-23EF-4FB3-BFC8-7A8A1D9E6022}"/>
              </a:ext>
            </a:extLst>
          </p:cNvPr>
          <p:cNvSpPr/>
          <p:nvPr/>
        </p:nvSpPr>
        <p:spPr>
          <a:xfrm>
            <a:off x="838200" y="4039571"/>
            <a:ext cx="2700739" cy="830997"/>
          </a:xfrm>
          <a:prstGeom prst="rect">
            <a:avLst/>
          </a:prstGeom>
        </p:spPr>
        <p:txBody>
          <a:bodyPr wrap="none">
            <a:spAutoFit/>
          </a:bodyPr>
          <a:lstStyle/>
          <a:p>
            <a:pPr marL="342900" indent="-342900">
              <a:buFont typeface="Arial" panose="020B0604020202020204" pitchFamily="34" charset="0"/>
              <a:buChar char="•"/>
            </a:pPr>
            <a:r>
              <a:rPr lang="en-US" altLang="zh-CN" sz="2400" dirty="0">
                <a:latin typeface="AdvEPSTIM"/>
              </a:rPr>
              <a:t>Simple examples:</a:t>
            </a:r>
          </a:p>
          <a:p>
            <a:pPr lvl="1"/>
            <a:endParaRPr lang="zh-CN" altLang="en-US" sz="2400" dirty="0"/>
          </a:p>
        </p:txBody>
      </p:sp>
      <p:pic>
        <p:nvPicPr>
          <p:cNvPr id="2" name="图片 1">
            <a:extLst>
              <a:ext uri="{FF2B5EF4-FFF2-40B4-BE49-F238E27FC236}">
                <a16:creationId xmlns:a16="http://schemas.microsoft.com/office/drawing/2014/main" id="{1771899F-FD43-4A5A-AD0D-C07EF4C6AAF8}"/>
              </a:ext>
            </a:extLst>
          </p:cNvPr>
          <p:cNvPicPr>
            <a:picLocks noChangeAspect="1"/>
          </p:cNvPicPr>
          <p:nvPr/>
        </p:nvPicPr>
        <p:blipFill>
          <a:blip r:embed="rId3"/>
          <a:stretch>
            <a:fillRect/>
          </a:stretch>
        </p:blipFill>
        <p:spPr>
          <a:xfrm>
            <a:off x="4633912" y="4039571"/>
            <a:ext cx="2924175" cy="1495425"/>
          </a:xfrm>
          <a:prstGeom prst="rect">
            <a:avLst/>
          </a:prstGeom>
        </p:spPr>
      </p:pic>
    </p:spTree>
    <p:extLst>
      <p:ext uri="{BB962C8B-B14F-4D97-AF65-F5344CB8AC3E}">
        <p14:creationId xmlns:p14="http://schemas.microsoft.com/office/powerpoint/2010/main" val="6857195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 </a:t>
            </a:r>
            <a:r>
              <a:rPr lang="en-US" altLang="zh-CN" dirty="0"/>
              <a:t>Example of a generalized constraint</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lang="en-US"/>
          </a:p>
        </p:txBody>
      </p:sp>
      <p:graphicFrame>
        <p:nvGraphicFramePr>
          <p:cNvPr id="2" name="表格 1">
            <a:extLst>
              <a:ext uri="{FF2B5EF4-FFF2-40B4-BE49-F238E27FC236}">
                <a16:creationId xmlns:a16="http://schemas.microsoft.com/office/drawing/2014/main" id="{21D07565-28E9-4A6D-9CEF-283E7AC32DD8}"/>
              </a:ext>
            </a:extLst>
          </p:cNvPr>
          <p:cNvGraphicFramePr>
            <a:graphicFrameLocks noGrp="1"/>
          </p:cNvGraphicFramePr>
          <p:nvPr>
            <p:extLst>
              <p:ext uri="{D42A27DB-BD31-4B8C-83A1-F6EECF244321}">
                <p14:modId xmlns:p14="http://schemas.microsoft.com/office/powerpoint/2010/main" val="2889780420"/>
              </p:ext>
            </p:extLst>
          </p:nvPr>
        </p:nvGraphicFramePr>
        <p:xfrm>
          <a:off x="1482379" y="2295010"/>
          <a:ext cx="9227242" cy="2267980"/>
        </p:xfrm>
        <a:graphic>
          <a:graphicData uri="http://schemas.openxmlformats.org/drawingml/2006/table">
            <a:tbl>
              <a:tblPr firstRow="1" bandRow="1">
                <a:tableStyleId>{5C22544A-7EE6-4342-B048-85BDC9FD1C3A}</a:tableStyleId>
              </a:tblPr>
              <a:tblGrid>
                <a:gridCol w="4613621">
                  <a:extLst>
                    <a:ext uri="{9D8B030D-6E8A-4147-A177-3AD203B41FA5}">
                      <a16:colId xmlns:a16="http://schemas.microsoft.com/office/drawing/2014/main" val="2036142298"/>
                    </a:ext>
                  </a:extLst>
                </a:gridCol>
                <a:gridCol w="4613621">
                  <a:extLst>
                    <a:ext uri="{9D8B030D-6E8A-4147-A177-3AD203B41FA5}">
                      <a16:colId xmlns:a16="http://schemas.microsoft.com/office/drawing/2014/main" val="4047244126"/>
                    </a:ext>
                  </a:extLst>
                </a:gridCol>
              </a:tblGrid>
              <a:tr h="566995">
                <a:tc>
                  <a:txBody>
                    <a:bodyPr/>
                    <a:lstStyle/>
                    <a:p>
                      <a:r>
                        <a:rPr lang="en-US" altLang="zh-CN" sz="2400" dirty="0">
                          <a:latin typeface="AdvEPSTIM"/>
                        </a:rPr>
                        <a:t>Primary constraints (</a:t>
                      </a:r>
                      <a:r>
                        <a:rPr lang="zh-CN" altLang="en-US" sz="2400" dirty="0">
                          <a:solidFill>
                            <a:srgbClr val="FFFF00"/>
                          </a:solidFill>
                          <a:latin typeface="楷体" panose="02010609060101010101" pitchFamily="49" charset="-122"/>
                          <a:ea typeface="楷体" panose="02010609060101010101" pitchFamily="49" charset="-122"/>
                        </a:rPr>
                        <a:t>主要約束</a:t>
                      </a:r>
                      <a:r>
                        <a:rPr lang="en-US" altLang="zh-CN" sz="2400" dirty="0">
                          <a:latin typeface="AdvEPSTIM"/>
                        </a:rPr>
                        <a:t>)</a:t>
                      </a:r>
                      <a:endParaRPr lang="zh-CN" altLang="en-US" sz="2400" dirty="0"/>
                    </a:p>
                  </a:txBody>
                  <a:tcPr/>
                </a:tc>
                <a:tc>
                  <a:txBody>
                    <a:bodyPr/>
                    <a:lstStyle/>
                    <a:p>
                      <a:r>
                        <a:rPr lang="en-US" altLang="zh-CN" sz="2400" dirty="0">
                          <a:latin typeface="AdvEPSTIM"/>
                        </a:rPr>
                        <a:t>Standard constraints (</a:t>
                      </a:r>
                      <a:r>
                        <a:rPr lang="zh-CN" altLang="en-US" sz="2400" dirty="0">
                          <a:solidFill>
                            <a:srgbClr val="FFFF00"/>
                          </a:solidFill>
                          <a:latin typeface="楷体" panose="02010609060101010101" pitchFamily="49" charset="-122"/>
                          <a:ea typeface="楷体" panose="02010609060101010101" pitchFamily="49" charset="-122"/>
                        </a:rPr>
                        <a:t>標準約束</a:t>
                      </a:r>
                      <a:r>
                        <a:rPr lang="en-US" altLang="zh-CN" sz="2400" dirty="0">
                          <a:latin typeface="AdvEPSTIM"/>
                        </a:rPr>
                        <a:t>)</a:t>
                      </a:r>
                      <a:endParaRPr lang="zh-CN" altLang="en-US" sz="2400" dirty="0"/>
                    </a:p>
                  </a:txBody>
                  <a:tcPr/>
                </a:tc>
                <a:extLst>
                  <a:ext uri="{0D108BD9-81ED-4DB2-BD59-A6C34878D82A}">
                    <a16:rowId xmlns:a16="http://schemas.microsoft.com/office/drawing/2014/main" val="329717895"/>
                  </a:ext>
                </a:extLst>
              </a:tr>
              <a:tr h="5669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400" dirty="0"/>
                        <a:t>(a) possibilistic</a:t>
                      </a:r>
                    </a:p>
                  </a:txBody>
                  <a:tcPr/>
                </a:tc>
                <a:tc>
                  <a:txBody>
                    <a:bodyPr/>
                    <a:lstStyle/>
                    <a:p>
                      <a:r>
                        <a:rPr lang="en-US" altLang="zh-CN" sz="2400" dirty="0"/>
                        <a:t>(a) bivalent possibilistic</a:t>
                      </a:r>
                      <a:endParaRPr lang="zh-CN" altLang="en-US" sz="2400" dirty="0"/>
                    </a:p>
                  </a:txBody>
                  <a:tcPr/>
                </a:tc>
                <a:extLst>
                  <a:ext uri="{0D108BD9-81ED-4DB2-BD59-A6C34878D82A}">
                    <a16:rowId xmlns:a16="http://schemas.microsoft.com/office/drawing/2014/main" val="1495735518"/>
                  </a:ext>
                </a:extLst>
              </a:tr>
              <a:tr h="5669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400" dirty="0"/>
                        <a:t>(b) probabilistic</a:t>
                      </a:r>
                    </a:p>
                  </a:txBody>
                  <a:tcPr/>
                </a:tc>
                <a:tc>
                  <a:txBody>
                    <a:bodyPr/>
                    <a:lstStyle/>
                    <a:p>
                      <a:r>
                        <a:rPr lang="en-US" altLang="zh-CN" sz="2400" dirty="0"/>
                        <a:t>(b) probabilistic</a:t>
                      </a:r>
                      <a:endParaRPr lang="zh-CN" altLang="en-US" sz="2400" dirty="0"/>
                    </a:p>
                  </a:txBody>
                  <a:tcPr/>
                </a:tc>
                <a:extLst>
                  <a:ext uri="{0D108BD9-81ED-4DB2-BD59-A6C34878D82A}">
                    <a16:rowId xmlns:a16="http://schemas.microsoft.com/office/drawing/2014/main" val="2871736208"/>
                  </a:ext>
                </a:extLst>
              </a:tr>
              <a:tr h="5669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400" dirty="0"/>
                        <a:t>(c) veristic</a:t>
                      </a:r>
                      <a:endParaRPr lang="zh-CN" altLang="en-US" sz="2400" dirty="0"/>
                    </a:p>
                  </a:txBody>
                  <a:tcPr/>
                </a:tc>
                <a:tc>
                  <a:txBody>
                    <a:bodyPr/>
                    <a:lstStyle/>
                    <a:p>
                      <a:r>
                        <a:rPr lang="en-US" altLang="zh-CN" sz="2400" dirty="0"/>
                        <a:t>(c) bivalent veristic</a:t>
                      </a:r>
                      <a:endParaRPr lang="zh-CN" altLang="en-US" sz="2400" dirty="0"/>
                    </a:p>
                  </a:txBody>
                  <a:tcPr/>
                </a:tc>
                <a:extLst>
                  <a:ext uri="{0D108BD9-81ED-4DB2-BD59-A6C34878D82A}">
                    <a16:rowId xmlns:a16="http://schemas.microsoft.com/office/drawing/2014/main" val="3791029126"/>
                  </a:ext>
                </a:extLst>
              </a:tr>
            </a:tbl>
          </a:graphicData>
        </a:graphic>
      </p:graphicFrame>
    </p:spTree>
    <p:extLst>
      <p:ext uri="{BB962C8B-B14F-4D97-AF65-F5344CB8AC3E}">
        <p14:creationId xmlns:p14="http://schemas.microsoft.com/office/powerpoint/2010/main" val="30280552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 </a:t>
            </a:r>
            <a:r>
              <a:rPr lang="en-US" altLang="zh-CN" dirty="0"/>
              <a:t>Example of a generalized constraint</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lang="en-US"/>
          </a:p>
        </p:txBody>
      </p:sp>
      <p:sp>
        <p:nvSpPr>
          <p:cNvPr id="3" name="矩形 2">
            <a:extLst>
              <a:ext uri="{FF2B5EF4-FFF2-40B4-BE49-F238E27FC236}">
                <a16:creationId xmlns:a16="http://schemas.microsoft.com/office/drawing/2014/main" id="{09B5AC6D-32BA-493A-9B95-EB7EF5F412A4}"/>
              </a:ext>
            </a:extLst>
          </p:cNvPr>
          <p:cNvSpPr/>
          <p:nvPr/>
        </p:nvSpPr>
        <p:spPr>
          <a:xfrm>
            <a:off x="838200" y="1845049"/>
            <a:ext cx="5076261" cy="461665"/>
          </a:xfrm>
          <a:prstGeom prst="rect">
            <a:avLst/>
          </a:prstGeom>
        </p:spPr>
        <p:txBody>
          <a:bodyPr wrap="none">
            <a:spAutoFit/>
          </a:bodyPr>
          <a:lstStyle/>
          <a:p>
            <a:pPr marL="342900" indent="-342900">
              <a:buFont typeface="Arial" panose="020B0604020202020204" pitchFamily="34" charset="0"/>
              <a:buChar char="•"/>
            </a:pPr>
            <a:r>
              <a:rPr lang="en-US" altLang="zh-CN" sz="2400" dirty="0">
                <a:latin typeface="AdvEPSTIM"/>
              </a:rPr>
              <a:t>Possibilistic constraint(</a:t>
            </a:r>
            <a:r>
              <a:rPr lang="zh-CN" altLang="en-US" sz="2400" dirty="0">
                <a:solidFill>
                  <a:srgbClr val="FF0000"/>
                </a:solidFill>
                <a:latin typeface="楷体" panose="02010609060101010101" pitchFamily="49" charset="-122"/>
                <a:ea typeface="楷体" panose="02010609060101010101" pitchFamily="49" charset="-122"/>
              </a:rPr>
              <a:t>可能性約束</a:t>
            </a:r>
            <a:r>
              <a:rPr lang="en-US" altLang="zh-CN" sz="2400" dirty="0">
                <a:latin typeface="AdvEPSTIM"/>
              </a:rPr>
              <a:t>):</a:t>
            </a:r>
            <a:endParaRPr lang="zh-CN" altLang="en-US" sz="2400" dirty="0"/>
          </a:p>
        </p:txBody>
      </p:sp>
      <p:pic>
        <p:nvPicPr>
          <p:cNvPr id="4" name="图片 3">
            <a:extLst>
              <a:ext uri="{FF2B5EF4-FFF2-40B4-BE49-F238E27FC236}">
                <a16:creationId xmlns:a16="http://schemas.microsoft.com/office/drawing/2014/main" id="{EDAE296C-7275-4808-98F9-780205C0C091}"/>
              </a:ext>
            </a:extLst>
          </p:cNvPr>
          <p:cNvPicPr>
            <a:picLocks noChangeAspect="1"/>
          </p:cNvPicPr>
          <p:nvPr/>
        </p:nvPicPr>
        <p:blipFill>
          <a:blip r:embed="rId3"/>
          <a:stretch>
            <a:fillRect/>
          </a:stretch>
        </p:blipFill>
        <p:spPr>
          <a:xfrm>
            <a:off x="862012" y="2570485"/>
            <a:ext cx="10467975" cy="2600325"/>
          </a:xfrm>
          <a:prstGeom prst="rect">
            <a:avLst/>
          </a:prstGeom>
        </p:spPr>
      </p:pic>
    </p:spTree>
    <p:extLst>
      <p:ext uri="{BB962C8B-B14F-4D97-AF65-F5344CB8AC3E}">
        <p14:creationId xmlns:p14="http://schemas.microsoft.com/office/powerpoint/2010/main" val="1236504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 </a:t>
            </a:r>
            <a:r>
              <a:rPr lang="en-US" altLang="zh-CN" dirty="0"/>
              <a:t>Example of a generalized constraint</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lang="en-US"/>
          </a:p>
        </p:txBody>
      </p:sp>
      <p:sp>
        <p:nvSpPr>
          <p:cNvPr id="3" name="矩形 2">
            <a:extLst>
              <a:ext uri="{FF2B5EF4-FFF2-40B4-BE49-F238E27FC236}">
                <a16:creationId xmlns:a16="http://schemas.microsoft.com/office/drawing/2014/main" id="{09B5AC6D-32BA-493A-9B95-EB7EF5F412A4}"/>
              </a:ext>
            </a:extLst>
          </p:cNvPr>
          <p:cNvSpPr/>
          <p:nvPr/>
        </p:nvSpPr>
        <p:spPr>
          <a:xfrm>
            <a:off x="838200" y="1845049"/>
            <a:ext cx="5095113" cy="461665"/>
          </a:xfrm>
          <a:prstGeom prst="rect">
            <a:avLst/>
          </a:prstGeom>
        </p:spPr>
        <p:txBody>
          <a:bodyPr wrap="none">
            <a:spAutoFit/>
          </a:bodyPr>
          <a:lstStyle/>
          <a:p>
            <a:pPr marL="342900" indent="-342900">
              <a:buFont typeface="Arial" panose="020B0604020202020204" pitchFamily="34" charset="0"/>
              <a:buChar char="•"/>
            </a:pPr>
            <a:r>
              <a:rPr lang="en-US" altLang="zh-CN" sz="2400" dirty="0">
                <a:latin typeface="AdvEPSTIM"/>
              </a:rPr>
              <a:t>Probabilistic constraint (</a:t>
            </a:r>
            <a:r>
              <a:rPr lang="zh-CN" altLang="en-US" sz="2400" dirty="0">
                <a:solidFill>
                  <a:srgbClr val="FF0000"/>
                </a:solidFill>
                <a:latin typeface="楷体" panose="02010609060101010101" pitchFamily="49" charset="-122"/>
                <a:ea typeface="楷体" panose="02010609060101010101" pitchFamily="49" charset="-122"/>
              </a:rPr>
              <a:t>概率約束</a:t>
            </a:r>
            <a:r>
              <a:rPr lang="en-US" altLang="zh-CN" sz="2400" dirty="0">
                <a:latin typeface="AdvEPSTIM"/>
              </a:rPr>
              <a:t>): :</a:t>
            </a:r>
            <a:endParaRPr lang="zh-CN" altLang="en-US" sz="2400" dirty="0"/>
          </a:p>
        </p:txBody>
      </p:sp>
      <p:pic>
        <p:nvPicPr>
          <p:cNvPr id="2" name="图片 1">
            <a:extLst>
              <a:ext uri="{FF2B5EF4-FFF2-40B4-BE49-F238E27FC236}">
                <a16:creationId xmlns:a16="http://schemas.microsoft.com/office/drawing/2014/main" id="{57E934C0-F041-46A3-ABE2-CB8D5812CCB7}"/>
              </a:ext>
            </a:extLst>
          </p:cNvPr>
          <p:cNvPicPr>
            <a:picLocks noChangeAspect="1"/>
          </p:cNvPicPr>
          <p:nvPr/>
        </p:nvPicPr>
        <p:blipFill rotWithShape="1">
          <a:blip r:embed="rId3"/>
          <a:srcRect t="17925"/>
          <a:stretch/>
        </p:blipFill>
        <p:spPr>
          <a:xfrm>
            <a:off x="838200" y="2347798"/>
            <a:ext cx="10306050" cy="1712059"/>
          </a:xfrm>
          <a:prstGeom prst="rect">
            <a:avLst/>
          </a:prstGeom>
        </p:spPr>
      </p:pic>
      <p:pic>
        <p:nvPicPr>
          <p:cNvPr id="5" name="图片 4">
            <a:extLst>
              <a:ext uri="{FF2B5EF4-FFF2-40B4-BE49-F238E27FC236}">
                <a16:creationId xmlns:a16="http://schemas.microsoft.com/office/drawing/2014/main" id="{0B3FB113-8797-40F9-9317-8783DF4F7EB8}"/>
              </a:ext>
            </a:extLst>
          </p:cNvPr>
          <p:cNvPicPr>
            <a:picLocks noChangeAspect="1"/>
          </p:cNvPicPr>
          <p:nvPr/>
        </p:nvPicPr>
        <p:blipFill>
          <a:blip r:embed="rId4"/>
          <a:stretch>
            <a:fillRect/>
          </a:stretch>
        </p:blipFill>
        <p:spPr>
          <a:xfrm>
            <a:off x="5522877" y="3429000"/>
            <a:ext cx="4180208" cy="3093786"/>
          </a:xfrm>
          <a:prstGeom prst="rect">
            <a:avLst/>
          </a:prstGeom>
        </p:spPr>
      </p:pic>
    </p:spTree>
    <p:extLst>
      <p:ext uri="{BB962C8B-B14F-4D97-AF65-F5344CB8AC3E}">
        <p14:creationId xmlns:p14="http://schemas.microsoft.com/office/powerpoint/2010/main" val="34533828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 </a:t>
            </a:r>
            <a:r>
              <a:rPr lang="en-US" altLang="zh-CN" dirty="0"/>
              <a:t>Example of a generalized constraint</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lang="en-US"/>
          </a:p>
        </p:txBody>
      </p:sp>
      <p:sp>
        <p:nvSpPr>
          <p:cNvPr id="3" name="矩形 2">
            <a:extLst>
              <a:ext uri="{FF2B5EF4-FFF2-40B4-BE49-F238E27FC236}">
                <a16:creationId xmlns:a16="http://schemas.microsoft.com/office/drawing/2014/main" id="{09B5AC6D-32BA-493A-9B95-EB7EF5F412A4}"/>
              </a:ext>
            </a:extLst>
          </p:cNvPr>
          <p:cNvSpPr/>
          <p:nvPr/>
        </p:nvSpPr>
        <p:spPr>
          <a:xfrm>
            <a:off x="838200" y="1845049"/>
            <a:ext cx="4788170" cy="461665"/>
          </a:xfrm>
          <a:prstGeom prst="rect">
            <a:avLst/>
          </a:prstGeom>
        </p:spPr>
        <p:txBody>
          <a:bodyPr wrap="none">
            <a:spAutoFit/>
          </a:bodyPr>
          <a:lstStyle/>
          <a:p>
            <a:pPr marL="342900" indent="-342900">
              <a:buFont typeface="Arial" panose="020B0604020202020204" pitchFamily="34" charset="0"/>
              <a:buChar char="•"/>
            </a:pPr>
            <a:r>
              <a:rPr lang="en-US" altLang="zh-CN" sz="2400" dirty="0">
                <a:latin typeface="AdvEPSTIM"/>
              </a:rPr>
              <a:t>Veristic constraint (</a:t>
            </a:r>
            <a:r>
              <a:rPr lang="zh-CN" altLang="en-US" sz="2400" dirty="0">
                <a:solidFill>
                  <a:srgbClr val="FF0000"/>
                </a:solidFill>
                <a:latin typeface="楷体" panose="02010609060101010101" pitchFamily="49" charset="-122"/>
                <a:ea typeface="楷体" panose="02010609060101010101" pitchFamily="49" charset="-122"/>
              </a:rPr>
              <a:t>真實度約束</a:t>
            </a:r>
            <a:r>
              <a:rPr lang="en-US" altLang="zh-CN" sz="2400" dirty="0">
                <a:latin typeface="AdvEPSTIM"/>
              </a:rPr>
              <a:t>): :</a:t>
            </a:r>
            <a:endParaRPr lang="zh-CN" altLang="en-US" sz="2400" dirty="0"/>
          </a:p>
        </p:txBody>
      </p:sp>
      <p:pic>
        <p:nvPicPr>
          <p:cNvPr id="2" name="图片 1">
            <a:extLst>
              <a:ext uri="{FF2B5EF4-FFF2-40B4-BE49-F238E27FC236}">
                <a16:creationId xmlns:a16="http://schemas.microsoft.com/office/drawing/2014/main" id="{F34E9BB0-89E2-4F4B-A832-6B1CFA0F6E49}"/>
              </a:ext>
            </a:extLst>
          </p:cNvPr>
          <p:cNvPicPr>
            <a:picLocks noChangeAspect="1"/>
          </p:cNvPicPr>
          <p:nvPr/>
        </p:nvPicPr>
        <p:blipFill>
          <a:blip r:embed="rId3"/>
          <a:stretch>
            <a:fillRect/>
          </a:stretch>
        </p:blipFill>
        <p:spPr>
          <a:xfrm>
            <a:off x="2895600" y="2795587"/>
            <a:ext cx="6400800" cy="1266825"/>
          </a:xfrm>
          <a:prstGeom prst="rect">
            <a:avLst/>
          </a:prstGeom>
        </p:spPr>
      </p:pic>
    </p:spTree>
    <p:extLst>
      <p:ext uri="{BB962C8B-B14F-4D97-AF65-F5344CB8AC3E}">
        <p14:creationId xmlns:p14="http://schemas.microsoft.com/office/powerpoint/2010/main" val="26194191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3. </a:t>
            </a:r>
            <a:r>
              <a:rPr lang="en-US" altLang="zh-CN" dirty="0"/>
              <a:t>Generalized constraint language (GCL)</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lang="en-US"/>
          </a:p>
        </p:txBody>
      </p:sp>
      <p:sp>
        <p:nvSpPr>
          <p:cNvPr id="3" name="矩形 2">
            <a:extLst>
              <a:ext uri="{FF2B5EF4-FFF2-40B4-BE49-F238E27FC236}">
                <a16:creationId xmlns:a16="http://schemas.microsoft.com/office/drawing/2014/main" id="{09B5AC6D-32BA-493A-9B95-EB7EF5F412A4}"/>
              </a:ext>
            </a:extLst>
          </p:cNvPr>
          <p:cNvSpPr/>
          <p:nvPr/>
        </p:nvSpPr>
        <p:spPr>
          <a:xfrm>
            <a:off x="838200" y="1845049"/>
            <a:ext cx="9486529" cy="1569660"/>
          </a:xfrm>
          <a:prstGeom prst="rect">
            <a:avLst/>
          </a:prstGeom>
        </p:spPr>
        <p:txBody>
          <a:bodyPr wrap="square">
            <a:spAutoFit/>
          </a:bodyPr>
          <a:lstStyle/>
          <a:p>
            <a:pPr marL="342900" indent="-342900">
              <a:buFont typeface="Arial" panose="020B0604020202020204" pitchFamily="34" charset="0"/>
              <a:buChar char="•"/>
            </a:pPr>
            <a:r>
              <a:rPr lang="en-US" altLang="zh-CN" sz="2400" dirty="0">
                <a:latin typeface="AdvEPSTIM"/>
              </a:rPr>
              <a:t>Subsets of GCL:</a:t>
            </a:r>
          </a:p>
          <a:p>
            <a:pPr marL="800100" lvl="1" indent="-342900">
              <a:buFont typeface="Arial" panose="020B0604020202020204" pitchFamily="34" charset="0"/>
              <a:buChar char="•"/>
            </a:pPr>
            <a:r>
              <a:rPr lang="en-US" altLang="zh-CN" sz="2400" dirty="0">
                <a:latin typeface="AdvEPSTIM"/>
              </a:rPr>
              <a:t>In relation to GCL, PCL and SCL are subsets of GCL which are generated by primary and standard constraints.</a:t>
            </a:r>
          </a:p>
          <a:p>
            <a:pPr marL="800100" lvl="1" indent="-342900">
              <a:buFont typeface="Arial" panose="020B0604020202020204" pitchFamily="34" charset="0"/>
              <a:buChar char="•"/>
            </a:pPr>
            <a:r>
              <a:rPr lang="en-US" altLang="zh-CN" sz="2400" dirty="0">
                <a:solidFill>
                  <a:srgbClr val="FF0000"/>
                </a:solidFill>
                <a:latin typeface="AdvEPSTIM"/>
              </a:rPr>
              <a:t>SCL &lt; PCL &lt; GCL</a:t>
            </a:r>
            <a:endParaRPr lang="zh-CN" altLang="en-US" sz="2400" dirty="0">
              <a:solidFill>
                <a:srgbClr val="FF0000"/>
              </a:solidFill>
            </a:endParaRPr>
          </a:p>
        </p:txBody>
      </p:sp>
      <p:pic>
        <p:nvPicPr>
          <p:cNvPr id="5" name="图片 4">
            <a:extLst>
              <a:ext uri="{FF2B5EF4-FFF2-40B4-BE49-F238E27FC236}">
                <a16:creationId xmlns:a16="http://schemas.microsoft.com/office/drawing/2014/main" id="{3E2DB08D-605D-4BDB-8A15-308CD509689C}"/>
              </a:ext>
            </a:extLst>
          </p:cNvPr>
          <p:cNvPicPr>
            <a:picLocks noChangeAspect="1"/>
          </p:cNvPicPr>
          <p:nvPr/>
        </p:nvPicPr>
        <p:blipFill>
          <a:blip r:embed="rId3"/>
          <a:stretch>
            <a:fillRect/>
          </a:stretch>
        </p:blipFill>
        <p:spPr>
          <a:xfrm>
            <a:off x="4005262" y="3414709"/>
            <a:ext cx="4181475" cy="3019425"/>
          </a:xfrm>
          <a:prstGeom prst="rect">
            <a:avLst/>
          </a:prstGeom>
        </p:spPr>
      </p:pic>
    </p:spTree>
    <p:extLst>
      <p:ext uri="{BB962C8B-B14F-4D97-AF65-F5344CB8AC3E}">
        <p14:creationId xmlns:p14="http://schemas.microsoft.com/office/powerpoint/2010/main" val="13250632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3. </a:t>
            </a:r>
            <a:r>
              <a:rPr lang="en-US" altLang="zh-CN" dirty="0"/>
              <a:t>Generalized constraint language (GCL)</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lang="en-US" dirty="0"/>
          </a:p>
        </p:txBody>
      </p:sp>
      <p:sp>
        <p:nvSpPr>
          <p:cNvPr id="3" name="矩形 2">
            <a:extLst>
              <a:ext uri="{FF2B5EF4-FFF2-40B4-BE49-F238E27FC236}">
                <a16:creationId xmlns:a16="http://schemas.microsoft.com/office/drawing/2014/main" id="{09B5AC6D-32BA-493A-9B95-EB7EF5F412A4}"/>
              </a:ext>
            </a:extLst>
          </p:cNvPr>
          <p:cNvSpPr/>
          <p:nvPr/>
        </p:nvSpPr>
        <p:spPr>
          <a:xfrm>
            <a:off x="838199" y="1581278"/>
            <a:ext cx="10007851" cy="4062651"/>
          </a:xfrm>
          <a:prstGeom prst="rect">
            <a:avLst/>
          </a:prstGeom>
        </p:spPr>
        <p:txBody>
          <a:bodyPr wrap="square">
            <a:spAutoFit/>
          </a:bodyPr>
          <a:lstStyle/>
          <a:p>
            <a:pPr marL="342900" indent="-342900">
              <a:buFont typeface="Arial" panose="020B0604020202020204" pitchFamily="34" charset="0"/>
              <a:buChar char="•"/>
            </a:pPr>
            <a:r>
              <a:rPr lang="en-US" altLang="zh-CN" sz="2400" dirty="0">
                <a:latin typeface="AdvEPSTIM"/>
              </a:rPr>
              <a:t>Precisiate the concepts of information and meaning:</a:t>
            </a:r>
          </a:p>
          <a:p>
            <a:pPr marL="800100" lvl="1" indent="-342900">
              <a:buFont typeface="Arial" panose="020B0604020202020204" pitchFamily="34" charset="0"/>
              <a:buChar char="•"/>
            </a:pPr>
            <a:r>
              <a:rPr lang="en-US" altLang="zh-CN" dirty="0"/>
              <a:t>information = generalized constraint	(1)</a:t>
            </a:r>
          </a:p>
          <a:p>
            <a:pPr marL="800100" lvl="1" indent="-342900">
              <a:buFont typeface="Arial" panose="020B0604020202020204" pitchFamily="34" charset="0"/>
              <a:buChar char="•"/>
            </a:pPr>
            <a:endParaRPr lang="en-US" altLang="zh-CN" dirty="0"/>
          </a:p>
          <a:p>
            <a:pPr marL="800100" lvl="1" indent="-342900">
              <a:buFont typeface="Arial" panose="020B0604020202020204" pitchFamily="34" charset="0"/>
              <a:buChar char="•"/>
            </a:pPr>
            <a:r>
              <a:rPr lang="en-US" altLang="zh-CN" dirty="0"/>
              <a:t>meaning of p = generalized constraint	(2)</a:t>
            </a:r>
          </a:p>
          <a:p>
            <a:pPr marL="1257300" lvl="2" indent="-342900">
              <a:buFont typeface="Arial" panose="020B0604020202020204" pitchFamily="34" charset="0"/>
              <a:buChar char="•"/>
            </a:pPr>
            <a:endParaRPr lang="en-US" altLang="zh-CN" dirty="0"/>
          </a:p>
          <a:p>
            <a:pPr marL="800100" lvl="1" indent="-342900">
              <a:buFont typeface="Arial" panose="020B0604020202020204" pitchFamily="34" charset="0"/>
              <a:buChar char="•"/>
            </a:pPr>
            <a:r>
              <a:rPr lang="en-US" altLang="zh-CN" dirty="0"/>
              <a:t>mm-precisiand = generalized constraint	(3)</a:t>
            </a:r>
          </a:p>
          <a:p>
            <a:pPr marL="800100" lvl="1" indent="-342900">
              <a:buFont typeface="Arial" panose="020B0604020202020204" pitchFamily="34" charset="0"/>
              <a:buChar char="•"/>
            </a:pPr>
            <a:endParaRPr lang="en-US" altLang="zh-CN" dirty="0"/>
          </a:p>
          <a:p>
            <a:pPr marL="800100" lvl="1" indent="-342900">
              <a:buFont typeface="Arial" panose="020B0604020202020204" pitchFamily="34" charset="0"/>
              <a:buChar char="•"/>
            </a:pPr>
            <a:r>
              <a:rPr lang="en-US" altLang="zh-CN" dirty="0"/>
              <a:t>mm-precisiation = translation into GCL	(4)</a:t>
            </a:r>
          </a:p>
          <a:p>
            <a:pPr marL="800100" lvl="1" indent="-342900">
              <a:buFont typeface="Arial" panose="020B0604020202020204" pitchFamily="34" charset="0"/>
              <a:buChar char="•"/>
            </a:pPr>
            <a:endParaRPr lang="en-US" altLang="zh-CN" dirty="0"/>
          </a:p>
          <a:p>
            <a:pPr marL="800100" lvl="1" indent="-342900">
              <a:buFont typeface="Arial" panose="020B0604020202020204" pitchFamily="34" charset="0"/>
              <a:buChar char="•"/>
            </a:pPr>
            <a:r>
              <a:rPr lang="en-US" altLang="zh-CN" dirty="0"/>
              <a:t>Since SCL is a subset of GCL =&gt;</a:t>
            </a:r>
          </a:p>
          <a:p>
            <a:pPr marL="800100" lvl="1" indent="-342900">
              <a:buFont typeface="Arial" panose="020B0604020202020204" pitchFamily="34" charset="0"/>
              <a:buChar char="•"/>
            </a:pPr>
            <a:r>
              <a:rPr lang="en-US" altLang="zh-CN" dirty="0"/>
              <a:t>The inequality implies that :</a:t>
            </a:r>
          </a:p>
          <a:p>
            <a:pPr marL="1257300" lvl="2" indent="-342900">
              <a:buFont typeface="Arial" panose="020B0604020202020204" pitchFamily="34" charset="0"/>
              <a:buChar char="•"/>
            </a:pPr>
            <a:r>
              <a:rPr lang="en-US" altLang="zh-CN" b="1" dirty="0"/>
              <a:t>Employment of </a:t>
            </a:r>
            <a:r>
              <a:rPr lang="en-US" altLang="zh-CN" b="1" dirty="0">
                <a:solidFill>
                  <a:srgbClr val="FF0000"/>
                </a:solidFill>
              </a:rPr>
              <a:t>fuzzy logic                                                                      </a:t>
            </a:r>
            <a:r>
              <a:rPr lang="en-US" altLang="zh-CN" b="1" dirty="0"/>
              <a:t>would lead to a precisiand whose cointension is significantly </a:t>
            </a:r>
            <a:r>
              <a:rPr lang="en-US" altLang="zh-CN" b="1" dirty="0">
                <a:solidFill>
                  <a:srgbClr val="FF0000"/>
                </a:solidFill>
              </a:rPr>
              <a:t>higher</a:t>
            </a:r>
            <a:r>
              <a:rPr lang="en-US" altLang="zh-CN" b="1" dirty="0"/>
              <a:t> than use of </a:t>
            </a:r>
            <a:r>
              <a:rPr lang="en-US" altLang="zh-CN" b="1" dirty="0">
                <a:solidFill>
                  <a:srgbClr val="FF0000"/>
                </a:solidFill>
              </a:rPr>
              <a:t>bivalent logic</a:t>
            </a:r>
            <a:r>
              <a:rPr lang="en-US" altLang="zh-CN" b="1" dirty="0"/>
              <a:t>.</a:t>
            </a:r>
          </a:p>
          <a:p>
            <a:pPr marL="1257300" lvl="2" indent="-342900">
              <a:buFont typeface="Arial" panose="020B0604020202020204" pitchFamily="34" charset="0"/>
              <a:buChar char="•"/>
            </a:pPr>
            <a:endParaRPr lang="en-US" altLang="zh-CN" dirty="0"/>
          </a:p>
        </p:txBody>
      </p:sp>
      <p:pic>
        <p:nvPicPr>
          <p:cNvPr id="2" name="图片 1">
            <a:extLst>
              <a:ext uri="{FF2B5EF4-FFF2-40B4-BE49-F238E27FC236}">
                <a16:creationId xmlns:a16="http://schemas.microsoft.com/office/drawing/2014/main" id="{330AD7E0-F68A-4487-9790-38A2B4E901BE}"/>
              </a:ext>
            </a:extLst>
          </p:cNvPr>
          <p:cNvPicPr>
            <a:picLocks noChangeAspect="1"/>
          </p:cNvPicPr>
          <p:nvPr/>
        </p:nvPicPr>
        <p:blipFill>
          <a:blip r:embed="rId3"/>
          <a:stretch>
            <a:fillRect/>
          </a:stretch>
        </p:blipFill>
        <p:spPr>
          <a:xfrm>
            <a:off x="4685655" y="4606092"/>
            <a:ext cx="3543300" cy="438150"/>
          </a:xfrm>
          <a:prstGeom prst="rect">
            <a:avLst/>
          </a:prstGeom>
        </p:spPr>
      </p:pic>
      <p:sp>
        <p:nvSpPr>
          <p:cNvPr id="4" name="矩形 3">
            <a:extLst>
              <a:ext uri="{FF2B5EF4-FFF2-40B4-BE49-F238E27FC236}">
                <a16:creationId xmlns:a16="http://schemas.microsoft.com/office/drawing/2014/main" id="{135376C4-50D0-4DF4-860A-B83D2E3B10CA}"/>
              </a:ext>
            </a:extLst>
          </p:cNvPr>
          <p:cNvSpPr/>
          <p:nvPr/>
        </p:nvSpPr>
        <p:spPr>
          <a:xfrm>
            <a:off x="3963044" y="5643929"/>
            <a:ext cx="4265911" cy="523220"/>
          </a:xfrm>
          <a:prstGeom prst="rect">
            <a:avLst/>
          </a:prstGeom>
        </p:spPr>
        <p:txBody>
          <a:bodyPr wrap="none">
            <a:spAutoFit/>
          </a:bodyPr>
          <a:lstStyle/>
          <a:p>
            <a:r>
              <a:rPr lang="en-US" altLang="zh-CN" sz="2800" b="1" dirty="0">
                <a:solidFill>
                  <a:srgbClr val="FF0000"/>
                </a:solidFill>
              </a:rPr>
              <a:t>Fuzzy logic &gt;= bivalent logic</a:t>
            </a:r>
            <a:endParaRPr lang="zh-CN" altLang="en-US" sz="2800" b="1" dirty="0"/>
          </a:p>
        </p:txBody>
      </p:sp>
    </p:spTree>
    <p:extLst>
      <p:ext uri="{BB962C8B-B14F-4D97-AF65-F5344CB8AC3E}">
        <p14:creationId xmlns:p14="http://schemas.microsoft.com/office/powerpoint/2010/main" val="9918476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62417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sz="4000" dirty="0"/>
              <a:t>Part 2: What does fuzzy logic have to offer?</a:t>
            </a:r>
            <a:endParaRPr lang="en-US" sz="4000"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lang="en-US" dirty="0"/>
          </a:p>
        </p:txBody>
      </p:sp>
    </p:spTree>
    <p:extLst>
      <p:ext uri="{BB962C8B-B14F-4D97-AF65-F5344CB8AC3E}">
        <p14:creationId xmlns:p14="http://schemas.microsoft.com/office/powerpoint/2010/main" val="26041177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 </a:t>
            </a:r>
            <a:r>
              <a:rPr lang="en-US" altLang="zh-CN" dirty="0"/>
              <a:t>What does fuzzy logic have to offer?</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36</a:t>
            </a:fld>
            <a:endParaRPr lang="en-US"/>
          </a:p>
        </p:txBody>
      </p:sp>
      <p:sp>
        <p:nvSpPr>
          <p:cNvPr id="3" name="矩形 2">
            <a:extLst>
              <a:ext uri="{FF2B5EF4-FFF2-40B4-BE49-F238E27FC236}">
                <a16:creationId xmlns:a16="http://schemas.microsoft.com/office/drawing/2014/main" id="{09B5AC6D-32BA-493A-9B95-EB7EF5F412A4}"/>
              </a:ext>
            </a:extLst>
          </p:cNvPr>
          <p:cNvSpPr/>
          <p:nvPr/>
        </p:nvSpPr>
        <p:spPr>
          <a:xfrm>
            <a:off x="1109049" y="1581278"/>
            <a:ext cx="9973901" cy="4216539"/>
          </a:xfrm>
          <a:prstGeom prst="rect">
            <a:avLst/>
          </a:prstGeom>
        </p:spPr>
        <p:txBody>
          <a:bodyPr wrap="square">
            <a:spAutoFit/>
          </a:bodyPr>
          <a:lstStyle/>
          <a:p>
            <a:pPr marL="342900" indent="-342900">
              <a:buFont typeface="Arial" panose="020B0604020202020204" pitchFamily="34" charset="0"/>
              <a:buChar char="•"/>
            </a:pPr>
            <a:r>
              <a:rPr lang="en-US" altLang="zh-CN" sz="2400" dirty="0">
                <a:latin typeface="AdvEPSTIM"/>
              </a:rPr>
              <a:t>Contributions of fuzzy logic:</a:t>
            </a:r>
          </a:p>
          <a:p>
            <a:pPr marL="800100" lvl="1" indent="-342900">
              <a:buFont typeface="Arial" panose="020B0604020202020204" pitchFamily="34" charset="0"/>
              <a:buChar char="•"/>
            </a:pPr>
            <a:r>
              <a:rPr lang="en-US" altLang="zh-CN" sz="2400" dirty="0">
                <a:latin typeface="AdvEPSTIM"/>
              </a:rPr>
              <a:t>(1) Linguistic variables and fuzzy if–then rules</a:t>
            </a:r>
            <a:r>
              <a:rPr lang="en-US" altLang="zh-CN" sz="2000" dirty="0">
                <a:latin typeface="AdvEPSTIM"/>
              </a:rPr>
              <a:t>(</a:t>
            </a:r>
            <a:r>
              <a:rPr lang="zh-CN" altLang="en-US" sz="2000" dirty="0">
                <a:latin typeface="楷体" panose="02010609060101010101" pitchFamily="49" charset="-122"/>
                <a:ea typeface="楷体" panose="02010609060101010101" pitchFamily="49" charset="-122"/>
              </a:rPr>
              <a:t>語義變量</a:t>
            </a:r>
            <a:r>
              <a:rPr lang="en-US" altLang="zh-CN" sz="2000" dirty="0">
                <a:latin typeface="AdvEPSTIM"/>
              </a:rPr>
              <a:t>)</a:t>
            </a:r>
            <a:r>
              <a:rPr lang="en-US" altLang="zh-CN" sz="2400" dirty="0">
                <a:latin typeface="AdvEPSTIM"/>
              </a:rPr>
              <a:t>.</a:t>
            </a:r>
          </a:p>
          <a:p>
            <a:pPr marL="800100" lvl="1" indent="-342900">
              <a:buFont typeface="Arial" panose="020B0604020202020204" pitchFamily="34" charset="0"/>
              <a:buChar char="•"/>
            </a:pPr>
            <a:r>
              <a:rPr lang="en-US" altLang="zh-CN" sz="2400" dirty="0"/>
              <a:t>(2) </a:t>
            </a:r>
            <a:r>
              <a:rPr lang="en-US" altLang="zh-CN" sz="2400" dirty="0">
                <a:solidFill>
                  <a:srgbClr val="FF0000"/>
                </a:solidFill>
              </a:rPr>
              <a:t>FL-generalization</a:t>
            </a:r>
            <a:r>
              <a:rPr lang="en-US" altLang="zh-CN" sz="2000" dirty="0">
                <a:solidFill>
                  <a:srgbClr val="FF0000"/>
                </a:solidFill>
                <a:latin typeface="AdvEPSTIM"/>
              </a:rPr>
              <a:t>(</a:t>
            </a:r>
            <a:r>
              <a:rPr lang="en-US" altLang="zh-CN" sz="2000" dirty="0">
                <a:solidFill>
                  <a:srgbClr val="FF0000"/>
                </a:solidFill>
                <a:latin typeface="楷体" panose="02010609060101010101" pitchFamily="49" charset="-122"/>
                <a:ea typeface="楷体" panose="02010609060101010101" pitchFamily="49" charset="-122"/>
              </a:rPr>
              <a:t>FL</a:t>
            </a:r>
            <a:r>
              <a:rPr lang="zh-CN" altLang="en-US" sz="2000" dirty="0">
                <a:solidFill>
                  <a:srgbClr val="FF0000"/>
                </a:solidFill>
                <a:latin typeface="楷体" panose="02010609060101010101" pitchFamily="49" charset="-122"/>
                <a:ea typeface="楷体" panose="02010609060101010101" pitchFamily="49" charset="-122"/>
              </a:rPr>
              <a:t>泛化</a:t>
            </a:r>
            <a:r>
              <a:rPr lang="en-US" altLang="zh-CN" sz="2000" dirty="0">
                <a:solidFill>
                  <a:srgbClr val="FF0000"/>
                </a:solidFill>
                <a:latin typeface="AdvEPSTIM"/>
              </a:rPr>
              <a:t>)</a:t>
            </a:r>
            <a:r>
              <a:rPr lang="en-US" altLang="zh-CN" sz="2000" dirty="0">
                <a:solidFill>
                  <a:srgbClr val="FF0000"/>
                </a:solidFill>
              </a:rPr>
              <a:t>.</a:t>
            </a:r>
            <a:endParaRPr lang="en-US" altLang="zh-CN" sz="2400" dirty="0">
              <a:solidFill>
                <a:srgbClr val="FF0000"/>
              </a:solidFill>
            </a:endParaRPr>
          </a:p>
          <a:p>
            <a:pPr marL="800100" lvl="1" indent="-342900">
              <a:buFont typeface="Arial" panose="020B0604020202020204" pitchFamily="34" charset="0"/>
              <a:buChar char="•"/>
            </a:pPr>
            <a:r>
              <a:rPr lang="en-US" altLang="zh-CN" sz="2400" dirty="0"/>
              <a:t>(3) The concepts of precisiation and cointension</a:t>
            </a:r>
            <a:r>
              <a:rPr lang="en-US" altLang="zh-CN" sz="2000" dirty="0">
                <a:latin typeface="AdvEPSTIM"/>
              </a:rPr>
              <a:t>(</a:t>
            </a:r>
            <a:r>
              <a:rPr lang="zh-CN" altLang="en-US" sz="2000" dirty="0">
                <a:latin typeface="楷体" panose="02010609060101010101" pitchFamily="49" charset="-122"/>
                <a:ea typeface="楷体" panose="02010609060101010101" pitchFamily="49" charset="-122"/>
              </a:rPr>
              <a:t>一致性精確化</a:t>
            </a:r>
            <a:r>
              <a:rPr lang="en-US" altLang="zh-CN" sz="2000" dirty="0">
                <a:latin typeface="AdvEPSTIM"/>
              </a:rPr>
              <a:t>)</a:t>
            </a:r>
            <a:r>
              <a:rPr lang="en-US" altLang="zh-CN" sz="2000" dirty="0"/>
              <a:t>.</a:t>
            </a:r>
            <a:endParaRPr lang="en-US" altLang="zh-CN" sz="2400" dirty="0"/>
          </a:p>
          <a:p>
            <a:pPr marL="800100" lvl="1" indent="-342900">
              <a:buFont typeface="Arial" panose="020B0604020202020204" pitchFamily="34" charset="0"/>
              <a:buChar char="•"/>
            </a:pPr>
            <a:r>
              <a:rPr lang="en-US" altLang="zh-CN" sz="2400" dirty="0"/>
              <a:t>(4)</a:t>
            </a:r>
            <a:r>
              <a:rPr lang="en-US" altLang="zh-CN" sz="2400" dirty="0">
                <a:solidFill>
                  <a:srgbClr val="FF0000"/>
                </a:solidFill>
              </a:rPr>
              <a:t> NL-Computation, computing with words (CW) and precisiated natural language (PNL)</a:t>
            </a:r>
            <a:r>
              <a:rPr lang="en-US" altLang="zh-CN" sz="2400" dirty="0">
                <a:solidFill>
                  <a:srgbClr val="FF0000"/>
                </a:solidFill>
                <a:latin typeface="AdvEPSTIM"/>
              </a:rPr>
              <a:t> </a:t>
            </a:r>
            <a:r>
              <a:rPr lang="en-US" altLang="zh-CN" sz="2000" dirty="0">
                <a:solidFill>
                  <a:srgbClr val="FF0000"/>
                </a:solidFill>
                <a:latin typeface="AdvEPSTIM"/>
              </a:rPr>
              <a:t>(</a:t>
            </a:r>
            <a:r>
              <a:rPr lang="zh-CN" altLang="en-US" sz="2000" dirty="0">
                <a:solidFill>
                  <a:srgbClr val="FF0000"/>
                </a:solidFill>
                <a:latin typeface="楷体" panose="02010609060101010101" pitchFamily="49" charset="-122"/>
                <a:ea typeface="楷体" panose="02010609060101010101" pitchFamily="49" charset="-122"/>
              </a:rPr>
              <a:t>自然語言計算</a:t>
            </a:r>
            <a:r>
              <a:rPr lang="en-US" altLang="zh-CN" sz="2000" dirty="0">
                <a:solidFill>
                  <a:srgbClr val="FF0000"/>
                </a:solidFill>
                <a:latin typeface="AdvEPSTIM"/>
              </a:rPr>
              <a:t>)</a:t>
            </a:r>
            <a:r>
              <a:rPr lang="en-US" altLang="zh-CN" sz="2000" dirty="0">
                <a:solidFill>
                  <a:srgbClr val="FF0000"/>
                </a:solidFill>
              </a:rPr>
              <a:t>.</a:t>
            </a:r>
            <a:endParaRPr lang="en-US" altLang="zh-CN" sz="2400" dirty="0">
              <a:solidFill>
                <a:srgbClr val="FF0000"/>
              </a:solidFill>
            </a:endParaRPr>
          </a:p>
          <a:p>
            <a:pPr marL="800100" lvl="1" indent="-342900">
              <a:buFont typeface="Arial" panose="020B0604020202020204" pitchFamily="34" charset="0"/>
              <a:buChar char="•"/>
            </a:pPr>
            <a:r>
              <a:rPr lang="en-US" altLang="zh-CN" sz="2400" dirty="0"/>
              <a:t>(5) Computational theory of perceptions</a:t>
            </a:r>
            <a:r>
              <a:rPr lang="en-US" altLang="zh-CN" sz="2400" dirty="0">
                <a:latin typeface="AdvEPSTIM"/>
              </a:rPr>
              <a:t> </a:t>
            </a:r>
            <a:r>
              <a:rPr lang="en-US" altLang="zh-CN" sz="2000" dirty="0">
                <a:latin typeface="AdvEPSTIM"/>
              </a:rPr>
              <a:t>(</a:t>
            </a:r>
            <a:r>
              <a:rPr lang="zh-CN" altLang="en-US" sz="2000" dirty="0">
                <a:latin typeface="楷体" panose="02010609060101010101" pitchFamily="49" charset="-122"/>
                <a:ea typeface="楷体" panose="02010609060101010101" pitchFamily="49" charset="-122"/>
              </a:rPr>
              <a:t>感知的計算理論</a:t>
            </a:r>
            <a:r>
              <a:rPr lang="en-US" altLang="zh-CN" sz="2000" dirty="0">
                <a:latin typeface="AdvEPSTIM"/>
              </a:rPr>
              <a:t>)</a:t>
            </a:r>
            <a:r>
              <a:rPr lang="en-US" altLang="zh-CN" sz="2000" dirty="0"/>
              <a:t>..</a:t>
            </a:r>
            <a:endParaRPr lang="en-US" altLang="zh-CN" sz="2400" dirty="0"/>
          </a:p>
          <a:p>
            <a:pPr marL="800100" lvl="1" indent="-342900">
              <a:buFont typeface="Arial" panose="020B0604020202020204" pitchFamily="34" charset="0"/>
              <a:buChar char="•"/>
            </a:pPr>
            <a:r>
              <a:rPr lang="en-US" altLang="zh-CN" sz="2400" dirty="0"/>
              <a:t>(6) Possibility theory</a:t>
            </a:r>
            <a:r>
              <a:rPr lang="en-US" altLang="zh-CN" sz="2400" dirty="0">
                <a:latin typeface="AdvEPSTIM"/>
              </a:rPr>
              <a:t> </a:t>
            </a:r>
            <a:r>
              <a:rPr lang="en-US" altLang="zh-CN" sz="2000" dirty="0">
                <a:latin typeface="AdvEPSTIM"/>
              </a:rPr>
              <a:t>(</a:t>
            </a:r>
            <a:r>
              <a:rPr lang="zh-CN" altLang="en-US" sz="2000" dirty="0">
                <a:latin typeface="楷体" panose="02010609060101010101" pitchFamily="49" charset="-122"/>
                <a:ea typeface="楷体" panose="02010609060101010101" pitchFamily="49" charset="-122"/>
              </a:rPr>
              <a:t>可能性理論</a:t>
            </a:r>
            <a:r>
              <a:rPr lang="en-US" altLang="zh-CN" sz="2000" dirty="0">
                <a:latin typeface="AdvEPSTIM"/>
              </a:rPr>
              <a:t>)</a:t>
            </a:r>
            <a:r>
              <a:rPr lang="en-US" altLang="zh-CN" sz="2000" dirty="0"/>
              <a:t>..</a:t>
            </a:r>
            <a:endParaRPr lang="en-US" altLang="zh-CN" sz="2400" dirty="0"/>
          </a:p>
          <a:p>
            <a:pPr marL="800100" lvl="1" indent="-342900">
              <a:buFont typeface="Arial" panose="020B0604020202020204" pitchFamily="34" charset="0"/>
              <a:buChar char="•"/>
            </a:pPr>
            <a:r>
              <a:rPr lang="en-US" altLang="zh-CN" sz="2400" dirty="0"/>
              <a:t>(7) Computation with imprecise probabilities</a:t>
            </a:r>
            <a:r>
              <a:rPr lang="en-US" altLang="zh-CN" sz="2400" dirty="0">
                <a:latin typeface="AdvEPSTIM"/>
              </a:rPr>
              <a:t> </a:t>
            </a:r>
            <a:r>
              <a:rPr lang="en-US" altLang="zh-CN" sz="2000" dirty="0">
                <a:latin typeface="AdvEPSTIM"/>
              </a:rPr>
              <a:t>(</a:t>
            </a:r>
            <a:r>
              <a:rPr lang="zh-CN" altLang="en-US" sz="2000" dirty="0">
                <a:latin typeface="楷体" panose="02010609060101010101" pitchFamily="49" charset="-122"/>
                <a:ea typeface="楷体" panose="02010609060101010101" pitchFamily="49" charset="-122"/>
              </a:rPr>
              <a:t>不精確概率的計算</a:t>
            </a:r>
            <a:r>
              <a:rPr lang="en-US" altLang="zh-CN" sz="2000" dirty="0">
                <a:latin typeface="AdvEPSTIM"/>
              </a:rPr>
              <a:t>)</a:t>
            </a:r>
            <a:r>
              <a:rPr lang="en-US" altLang="zh-CN" sz="2000" dirty="0"/>
              <a:t>.</a:t>
            </a:r>
            <a:endParaRPr lang="en-US" altLang="zh-CN" sz="2400" dirty="0"/>
          </a:p>
          <a:p>
            <a:pPr marL="800100" lvl="1" indent="-342900">
              <a:buFont typeface="Arial" panose="020B0604020202020204" pitchFamily="34" charset="0"/>
              <a:buChar char="•"/>
            </a:pPr>
            <a:r>
              <a:rPr lang="en-US" altLang="zh-CN" sz="2400" dirty="0"/>
              <a:t>(8) </a:t>
            </a:r>
            <a:r>
              <a:rPr lang="en-US" altLang="zh-CN" sz="2400" dirty="0">
                <a:solidFill>
                  <a:srgbClr val="FF0000"/>
                </a:solidFill>
              </a:rPr>
              <a:t>Fuzzy logic as a modeling language</a:t>
            </a:r>
            <a:r>
              <a:rPr lang="en-US" altLang="zh-CN" sz="2800" dirty="0">
                <a:solidFill>
                  <a:srgbClr val="FF0000"/>
                </a:solidFill>
                <a:latin typeface="AdvEPSTIM"/>
              </a:rPr>
              <a:t> </a:t>
            </a:r>
            <a:r>
              <a:rPr lang="en-US" altLang="zh-CN" sz="2000" dirty="0">
                <a:solidFill>
                  <a:srgbClr val="FF0000"/>
                </a:solidFill>
                <a:latin typeface="AdvEPSTIM"/>
              </a:rPr>
              <a:t>(</a:t>
            </a:r>
            <a:r>
              <a:rPr lang="zh-CN" altLang="en-US" sz="2000" dirty="0">
                <a:solidFill>
                  <a:srgbClr val="FF0000"/>
                </a:solidFill>
                <a:latin typeface="楷体" panose="02010609060101010101" pitchFamily="49" charset="-122"/>
                <a:ea typeface="楷体" panose="02010609060101010101" pitchFamily="49" charset="-122"/>
              </a:rPr>
              <a:t>模糊邏輯建模語言</a:t>
            </a:r>
            <a:r>
              <a:rPr lang="en-US" altLang="zh-CN" sz="2000" dirty="0">
                <a:solidFill>
                  <a:srgbClr val="FF0000"/>
                </a:solidFill>
                <a:latin typeface="AdvEPSTIM"/>
              </a:rPr>
              <a:t>)</a:t>
            </a:r>
            <a:r>
              <a:rPr lang="en-US" altLang="zh-CN" sz="2000" dirty="0">
                <a:solidFill>
                  <a:srgbClr val="FF0000"/>
                </a:solidFill>
              </a:rPr>
              <a:t>.</a:t>
            </a:r>
            <a:endParaRPr lang="en-US" altLang="zh-CN" sz="2400" b="1" dirty="0">
              <a:solidFill>
                <a:srgbClr val="FF0000"/>
              </a:solidFill>
            </a:endParaRPr>
          </a:p>
          <a:p>
            <a:pPr marL="800100" lvl="1" indent="-342900">
              <a:buFont typeface="Arial" panose="020B0604020202020204" pitchFamily="34" charset="0"/>
              <a:buChar char="•"/>
            </a:pPr>
            <a:endParaRPr lang="zh-CN" altLang="en-US" sz="2400" dirty="0">
              <a:solidFill>
                <a:srgbClr val="FF0000"/>
              </a:solidFill>
            </a:endParaRPr>
          </a:p>
        </p:txBody>
      </p:sp>
    </p:spTree>
    <p:extLst>
      <p:ext uri="{BB962C8B-B14F-4D97-AF65-F5344CB8AC3E}">
        <p14:creationId xmlns:p14="http://schemas.microsoft.com/office/powerpoint/2010/main" val="7641794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 </a:t>
            </a:r>
            <a:r>
              <a:rPr lang="en-US" altLang="zh-CN" dirty="0"/>
              <a:t>Fuzzy logic and natural language</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lang="en-US"/>
          </a:p>
        </p:txBody>
      </p:sp>
      <p:sp>
        <p:nvSpPr>
          <p:cNvPr id="3" name="矩形 2">
            <a:extLst>
              <a:ext uri="{FF2B5EF4-FFF2-40B4-BE49-F238E27FC236}">
                <a16:creationId xmlns:a16="http://schemas.microsoft.com/office/drawing/2014/main" id="{09B5AC6D-32BA-493A-9B95-EB7EF5F412A4}"/>
              </a:ext>
            </a:extLst>
          </p:cNvPr>
          <p:cNvSpPr/>
          <p:nvPr/>
        </p:nvSpPr>
        <p:spPr>
          <a:xfrm>
            <a:off x="838200" y="1845049"/>
            <a:ext cx="1669881" cy="461665"/>
          </a:xfrm>
          <a:prstGeom prst="rect">
            <a:avLst/>
          </a:prstGeom>
        </p:spPr>
        <p:txBody>
          <a:bodyPr wrap="none">
            <a:spAutoFit/>
          </a:bodyPr>
          <a:lstStyle/>
          <a:p>
            <a:pPr marL="342900" indent="-342900">
              <a:buFont typeface="Arial" panose="020B0604020202020204" pitchFamily="34" charset="0"/>
              <a:buChar char="•"/>
            </a:pPr>
            <a:r>
              <a:rPr lang="en-US" altLang="zh-CN" sz="2400" dirty="0">
                <a:latin typeface="AdvEPSTIM"/>
              </a:rPr>
              <a:t>Example:</a:t>
            </a:r>
          </a:p>
        </p:txBody>
      </p:sp>
      <p:pic>
        <p:nvPicPr>
          <p:cNvPr id="2" name="图片 1">
            <a:extLst>
              <a:ext uri="{FF2B5EF4-FFF2-40B4-BE49-F238E27FC236}">
                <a16:creationId xmlns:a16="http://schemas.microsoft.com/office/drawing/2014/main" id="{BC2A4FE3-DB9E-4FB6-83A0-834EFA464671}"/>
              </a:ext>
            </a:extLst>
          </p:cNvPr>
          <p:cNvPicPr>
            <a:picLocks noChangeAspect="1"/>
          </p:cNvPicPr>
          <p:nvPr/>
        </p:nvPicPr>
        <p:blipFill>
          <a:blip r:embed="rId3"/>
          <a:stretch>
            <a:fillRect/>
          </a:stretch>
        </p:blipFill>
        <p:spPr>
          <a:xfrm>
            <a:off x="2109787" y="2997265"/>
            <a:ext cx="7972425" cy="1943100"/>
          </a:xfrm>
          <a:prstGeom prst="rect">
            <a:avLst/>
          </a:prstGeom>
        </p:spPr>
      </p:pic>
    </p:spTree>
    <p:extLst>
      <p:ext uri="{BB962C8B-B14F-4D97-AF65-F5344CB8AC3E}">
        <p14:creationId xmlns:p14="http://schemas.microsoft.com/office/powerpoint/2010/main" val="29288942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3. </a:t>
            </a:r>
            <a:r>
              <a:rPr lang="en-US" altLang="zh-CN" dirty="0"/>
              <a:t>Fuzzy logic as a modeling language</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lang="en-US"/>
          </a:p>
        </p:txBody>
      </p:sp>
      <p:sp>
        <p:nvSpPr>
          <p:cNvPr id="3" name="矩形 2">
            <a:extLst>
              <a:ext uri="{FF2B5EF4-FFF2-40B4-BE49-F238E27FC236}">
                <a16:creationId xmlns:a16="http://schemas.microsoft.com/office/drawing/2014/main" id="{09B5AC6D-32BA-493A-9B95-EB7EF5F412A4}"/>
              </a:ext>
            </a:extLst>
          </p:cNvPr>
          <p:cNvSpPr/>
          <p:nvPr/>
        </p:nvSpPr>
        <p:spPr>
          <a:xfrm>
            <a:off x="838200" y="1845049"/>
            <a:ext cx="10822663" cy="830997"/>
          </a:xfrm>
          <a:prstGeom prst="rect">
            <a:avLst/>
          </a:prstGeom>
        </p:spPr>
        <p:txBody>
          <a:bodyPr wrap="square">
            <a:spAutoFit/>
          </a:bodyPr>
          <a:lstStyle/>
          <a:p>
            <a:pPr marL="342900" indent="-342900">
              <a:buFont typeface="Arial" panose="020B0604020202020204" pitchFamily="34" charset="0"/>
              <a:buChar char="•"/>
            </a:pPr>
            <a:r>
              <a:rPr lang="en-US" altLang="zh-CN" sz="2400" dirty="0">
                <a:latin typeface="AdvEPSTIM"/>
              </a:rPr>
              <a:t>Professor Yamakawa’s use of fuzzy logic to stabilize an inverted pendulum(</a:t>
            </a:r>
            <a:r>
              <a:rPr lang="zh-CN" altLang="en-US" sz="2400" dirty="0">
                <a:latin typeface="楷体" panose="02010609060101010101" pitchFamily="49" charset="-122"/>
                <a:ea typeface="楷体" panose="02010609060101010101" pitchFamily="49" charset="-122"/>
              </a:rPr>
              <a:t>穩定倒立擺</a:t>
            </a:r>
            <a:r>
              <a:rPr lang="en-US" altLang="zh-CN" sz="2400" dirty="0">
                <a:latin typeface="AdvEPSTIM"/>
              </a:rPr>
              <a:t>):</a:t>
            </a:r>
          </a:p>
        </p:txBody>
      </p:sp>
      <p:pic>
        <p:nvPicPr>
          <p:cNvPr id="2" name="图片 1">
            <a:extLst>
              <a:ext uri="{FF2B5EF4-FFF2-40B4-BE49-F238E27FC236}">
                <a16:creationId xmlns:a16="http://schemas.microsoft.com/office/drawing/2014/main" id="{90045523-8BD6-4280-9A42-B35BDF106985}"/>
              </a:ext>
            </a:extLst>
          </p:cNvPr>
          <p:cNvPicPr>
            <a:picLocks noChangeAspect="1"/>
          </p:cNvPicPr>
          <p:nvPr/>
        </p:nvPicPr>
        <p:blipFill>
          <a:blip r:embed="rId3"/>
          <a:stretch>
            <a:fillRect/>
          </a:stretch>
        </p:blipFill>
        <p:spPr>
          <a:xfrm>
            <a:off x="5460473" y="2587073"/>
            <a:ext cx="5147581" cy="4015212"/>
          </a:xfrm>
          <a:prstGeom prst="rect">
            <a:avLst/>
          </a:prstGeom>
        </p:spPr>
      </p:pic>
      <p:pic>
        <p:nvPicPr>
          <p:cNvPr id="4" name="图片 3">
            <a:extLst>
              <a:ext uri="{FF2B5EF4-FFF2-40B4-BE49-F238E27FC236}">
                <a16:creationId xmlns:a16="http://schemas.microsoft.com/office/drawing/2014/main" id="{3E8D4D23-9FED-451E-BD06-E99EE17864A0}"/>
              </a:ext>
            </a:extLst>
          </p:cNvPr>
          <p:cNvPicPr>
            <a:picLocks noChangeAspect="1"/>
          </p:cNvPicPr>
          <p:nvPr/>
        </p:nvPicPr>
        <p:blipFill>
          <a:blip r:embed="rId4"/>
          <a:stretch>
            <a:fillRect/>
          </a:stretch>
        </p:blipFill>
        <p:spPr>
          <a:xfrm>
            <a:off x="1288523" y="2923171"/>
            <a:ext cx="4171950" cy="1790700"/>
          </a:xfrm>
          <a:prstGeom prst="rect">
            <a:avLst/>
          </a:prstGeom>
        </p:spPr>
      </p:pic>
    </p:spTree>
    <p:extLst>
      <p:ext uri="{BB962C8B-B14F-4D97-AF65-F5344CB8AC3E}">
        <p14:creationId xmlns:p14="http://schemas.microsoft.com/office/powerpoint/2010/main" val="15290049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4. </a:t>
            </a:r>
            <a:r>
              <a:rPr lang="en-US" altLang="zh-CN" sz="4000" dirty="0"/>
              <a:t>Fuzzy logic as the basis for generalization of scientific theories</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lang="en-US"/>
          </a:p>
        </p:txBody>
      </p:sp>
      <p:sp>
        <p:nvSpPr>
          <p:cNvPr id="3" name="矩形 2">
            <a:extLst>
              <a:ext uri="{FF2B5EF4-FFF2-40B4-BE49-F238E27FC236}">
                <a16:creationId xmlns:a16="http://schemas.microsoft.com/office/drawing/2014/main" id="{09B5AC6D-32BA-493A-9B95-EB7EF5F412A4}"/>
              </a:ext>
            </a:extLst>
          </p:cNvPr>
          <p:cNvSpPr/>
          <p:nvPr/>
        </p:nvSpPr>
        <p:spPr>
          <a:xfrm>
            <a:off x="623180" y="1581278"/>
            <a:ext cx="10945640" cy="2923877"/>
          </a:xfrm>
          <a:prstGeom prst="rect">
            <a:avLst/>
          </a:prstGeom>
        </p:spPr>
        <p:txBody>
          <a:bodyPr wrap="square">
            <a:spAutoFit/>
          </a:bodyPr>
          <a:lstStyle/>
          <a:p>
            <a:pPr marL="342900" indent="-342900">
              <a:buFont typeface="Arial" panose="020B0604020202020204" pitchFamily="34" charset="0"/>
              <a:buChar char="•"/>
            </a:pPr>
            <a:r>
              <a:rPr lang="en-US" altLang="zh-CN" sz="2400" dirty="0">
                <a:latin typeface="AdvEPSTIM"/>
              </a:rPr>
              <a:t>Scientific theories been FL-generalized:</a:t>
            </a:r>
          </a:p>
          <a:p>
            <a:pPr marL="342900" indent="-342900">
              <a:buFont typeface="Arial" panose="020B0604020202020204" pitchFamily="34" charset="0"/>
              <a:buChar char="•"/>
            </a:pPr>
            <a:endParaRPr lang="en-US" altLang="zh-CN" sz="2400" dirty="0">
              <a:latin typeface="AdvEPSTIM"/>
            </a:endParaRPr>
          </a:p>
          <a:p>
            <a:pPr marL="800100" lvl="1" indent="-342900">
              <a:buFont typeface="Arial" panose="020B0604020202020204" pitchFamily="34" charset="0"/>
              <a:buChar char="•"/>
            </a:pPr>
            <a:r>
              <a:rPr lang="en-US" altLang="zh-CN" sz="2400" dirty="0">
                <a:latin typeface="AdvEPSTIM"/>
              </a:rPr>
              <a:t>control -&gt; fuzzy control.</a:t>
            </a:r>
          </a:p>
          <a:p>
            <a:pPr marL="800100" lvl="1" indent="-342900">
              <a:buFont typeface="Arial" panose="020B0604020202020204" pitchFamily="34" charset="0"/>
              <a:buChar char="•"/>
            </a:pPr>
            <a:endParaRPr lang="en-US" altLang="zh-CN" sz="1200" dirty="0">
              <a:latin typeface="AdvEPSTIM"/>
            </a:endParaRPr>
          </a:p>
          <a:p>
            <a:pPr marL="800100" lvl="1" indent="-342900">
              <a:buFont typeface="Arial" panose="020B0604020202020204" pitchFamily="34" charset="0"/>
              <a:buChar char="•"/>
            </a:pPr>
            <a:r>
              <a:rPr lang="en-US" altLang="zh-CN" sz="2400" dirty="0">
                <a:latin typeface="AdvEPSTIM"/>
              </a:rPr>
              <a:t>linear programming -&gt; fuzzy linear programming.</a:t>
            </a:r>
          </a:p>
          <a:p>
            <a:pPr marL="800100" lvl="1" indent="-342900">
              <a:buFont typeface="Arial" panose="020B0604020202020204" pitchFamily="34" charset="0"/>
              <a:buChar char="•"/>
            </a:pPr>
            <a:endParaRPr lang="en-US" altLang="zh-CN" sz="1400" dirty="0">
              <a:latin typeface="AdvEPSTIM"/>
            </a:endParaRPr>
          </a:p>
          <a:p>
            <a:pPr marL="800100" lvl="1" indent="-342900">
              <a:buFont typeface="Arial" panose="020B0604020202020204" pitchFamily="34" charset="0"/>
              <a:buChar char="•"/>
            </a:pPr>
            <a:r>
              <a:rPr lang="en-US" altLang="zh-CN" sz="2400" dirty="0">
                <a:latin typeface="AdvEPSTIM"/>
              </a:rPr>
              <a:t>probability theory -&gt; fuzzy probability theory.</a:t>
            </a:r>
          </a:p>
          <a:p>
            <a:pPr marL="800100" lvl="1" indent="-342900">
              <a:buFont typeface="Arial" panose="020B0604020202020204" pitchFamily="34" charset="0"/>
              <a:buChar char="•"/>
            </a:pPr>
            <a:endParaRPr lang="en-US" altLang="zh-CN" sz="1400" dirty="0">
              <a:latin typeface="AdvEPSTIM"/>
            </a:endParaRPr>
          </a:p>
          <a:p>
            <a:pPr marL="800100" lvl="1" indent="-342900">
              <a:buFont typeface="Arial" panose="020B0604020202020204" pitchFamily="34" charset="0"/>
              <a:buChar char="•"/>
            </a:pPr>
            <a:r>
              <a:rPr lang="en-US" altLang="zh-CN" sz="2400" dirty="0">
                <a:latin typeface="AdvEPSTIM"/>
              </a:rPr>
              <a:t>measure theory -&gt; fuzzy measure theory.</a:t>
            </a:r>
          </a:p>
        </p:txBody>
      </p:sp>
    </p:spTree>
    <p:extLst>
      <p:ext uri="{BB962C8B-B14F-4D97-AF65-F5344CB8AC3E}">
        <p14:creationId xmlns:p14="http://schemas.microsoft.com/office/powerpoint/2010/main" val="2074576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4. </a:t>
            </a:r>
            <a:r>
              <a:rPr lang="en-US" altLang="zh-CN" sz="4000" dirty="0"/>
              <a:t>Fuzzy logic as the basis for generalization of scientific theories</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lang="en-US"/>
          </a:p>
        </p:txBody>
      </p:sp>
      <p:sp>
        <p:nvSpPr>
          <p:cNvPr id="3" name="矩形 2">
            <a:extLst>
              <a:ext uri="{FF2B5EF4-FFF2-40B4-BE49-F238E27FC236}">
                <a16:creationId xmlns:a16="http://schemas.microsoft.com/office/drawing/2014/main" id="{09B5AC6D-32BA-493A-9B95-EB7EF5F412A4}"/>
              </a:ext>
            </a:extLst>
          </p:cNvPr>
          <p:cNvSpPr/>
          <p:nvPr/>
        </p:nvSpPr>
        <p:spPr>
          <a:xfrm>
            <a:off x="786142" y="1552408"/>
            <a:ext cx="10619715" cy="3939540"/>
          </a:xfrm>
          <a:prstGeom prst="rect">
            <a:avLst/>
          </a:prstGeom>
        </p:spPr>
        <p:txBody>
          <a:bodyPr wrap="square">
            <a:spAutoFit/>
          </a:bodyPr>
          <a:lstStyle/>
          <a:p>
            <a:pPr marL="342900" indent="-342900">
              <a:buFont typeface="Arial" panose="020B0604020202020204" pitchFamily="34" charset="0"/>
              <a:buChar char="•"/>
            </a:pPr>
            <a:r>
              <a:rPr lang="en-US" altLang="zh-CN" sz="2400" dirty="0">
                <a:latin typeface="AdvEPSTIM"/>
              </a:rPr>
              <a:t>Scientific theories been FL-generalized:</a:t>
            </a:r>
          </a:p>
          <a:p>
            <a:pPr marL="342900" indent="-342900">
              <a:buFont typeface="Arial" panose="020B0604020202020204" pitchFamily="34" charset="0"/>
              <a:buChar char="•"/>
            </a:pPr>
            <a:endParaRPr lang="en-US" altLang="zh-CN" sz="2400" dirty="0">
              <a:latin typeface="AdvEPSTIM"/>
            </a:endParaRPr>
          </a:p>
          <a:p>
            <a:pPr marL="800100" lvl="1" indent="-342900">
              <a:buFont typeface="Arial" panose="020B0604020202020204" pitchFamily="34" charset="0"/>
              <a:buChar char="•"/>
            </a:pPr>
            <a:r>
              <a:rPr lang="en-US" altLang="zh-CN" sz="2400" dirty="0">
                <a:latin typeface="AdvEPSTIM"/>
              </a:rPr>
              <a:t>topology -&gt; fuzzy topology.</a:t>
            </a:r>
          </a:p>
          <a:p>
            <a:pPr marL="800100" lvl="1" indent="-342900">
              <a:buFont typeface="Arial" panose="020B0604020202020204" pitchFamily="34" charset="0"/>
              <a:buChar char="•"/>
            </a:pPr>
            <a:endParaRPr lang="en-US" altLang="zh-CN" sz="2000" dirty="0">
              <a:latin typeface="AdvEPSTIM"/>
            </a:endParaRPr>
          </a:p>
          <a:p>
            <a:pPr marL="800100" lvl="1" indent="-342900">
              <a:buFont typeface="Arial" panose="020B0604020202020204" pitchFamily="34" charset="0"/>
              <a:buChar char="•"/>
            </a:pPr>
            <a:r>
              <a:rPr lang="en-US" altLang="zh-CN" sz="2400" dirty="0">
                <a:latin typeface="AdvEPSTIM"/>
              </a:rPr>
              <a:t>graph theory -&gt; fuzzy graph theory.</a:t>
            </a:r>
          </a:p>
          <a:p>
            <a:pPr marL="800100" lvl="1" indent="-342900">
              <a:buFont typeface="Arial" panose="020B0604020202020204" pitchFamily="34" charset="0"/>
              <a:buChar char="•"/>
            </a:pPr>
            <a:r>
              <a:rPr lang="en-US" altLang="zh-CN" sz="1200" dirty="0">
                <a:solidFill>
                  <a:prstClr val="black"/>
                </a:solidFill>
                <a:latin typeface="AdvEPSTIM"/>
              </a:rPr>
              <a:t>.</a:t>
            </a:r>
          </a:p>
          <a:p>
            <a:pPr marL="800100" lvl="1" indent="-342900">
              <a:buFont typeface="Arial" panose="020B0604020202020204" pitchFamily="34" charset="0"/>
              <a:buChar char="•"/>
            </a:pPr>
            <a:endParaRPr lang="en-US" altLang="zh-CN" sz="1400" dirty="0">
              <a:solidFill>
                <a:prstClr val="black"/>
              </a:solidFill>
              <a:latin typeface="AdvEPSTIM"/>
            </a:endParaRPr>
          </a:p>
          <a:p>
            <a:pPr marL="800100" lvl="1" indent="-342900">
              <a:buFont typeface="Arial" panose="020B0604020202020204" pitchFamily="34" charset="0"/>
              <a:buChar char="•"/>
            </a:pPr>
            <a:r>
              <a:rPr lang="en-US" altLang="zh-CN" sz="2400" dirty="0">
                <a:latin typeface="AdvEPSTIM"/>
              </a:rPr>
              <a:t>cluster analysis -&gt; fuzzy cluster analysis.</a:t>
            </a:r>
          </a:p>
          <a:p>
            <a:pPr marL="800100" lvl="1" indent="-342900">
              <a:buFont typeface="Arial" panose="020B0604020202020204" pitchFamily="34" charset="0"/>
              <a:buChar char="•"/>
            </a:pPr>
            <a:endParaRPr lang="en-US" altLang="zh-CN" sz="1200" dirty="0">
              <a:solidFill>
                <a:prstClr val="black"/>
              </a:solidFill>
              <a:latin typeface="AdvEPSTIM"/>
            </a:endParaRPr>
          </a:p>
          <a:p>
            <a:pPr marL="800100" lvl="1" indent="-342900">
              <a:buFont typeface="Arial" panose="020B0604020202020204" pitchFamily="34" charset="0"/>
              <a:buChar char="•"/>
            </a:pPr>
            <a:r>
              <a:rPr lang="en-US" altLang="zh-CN" sz="2400" dirty="0">
                <a:latin typeface="AdvEPSTIM"/>
              </a:rPr>
              <a:t>Prolog -&gt; fuzzy Prolog.</a:t>
            </a:r>
          </a:p>
          <a:p>
            <a:pPr marL="800100" lvl="1" indent="-342900">
              <a:buFont typeface="Arial" panose="020B0604020202020204" pitchFamily="34" charset="0"/>
              <a:buChar char="•"/>
            </a:pPr>
            <a:endParaRPr lang="en-US" altLang="zh-CN" sz="2400" dirty="0">
              <a:latin typeface="AdvEPSTIM"/>
            </a:endParaRPr>
          </a:p>
          <a:p>
            <a:pPr marL="800100" lvl="1" indent="-342900">
              <a:buFont typeface="Arial" panose="020B0604020202020204" pitchFamily="34" charset="0"/>
              <a:buChar char="•"/>
            </a:pPr>
            <a:r>
              <a:rPr lang="en-US" altLang="zh-CN" sz="2400" dirty="0">
                <a:latin typeface="AdvEPSTIM"/>
              </a:rPr>
              <a:t>etc.</a:t>
            </a:r>
          </a:p>
        </p:txBody>
      </p:sp>
    </p:spTree>
    <p:extLst>
      <p:ext uri="{BB962C8B-B14F-4D97-AF65-F5344CB8AC3E}">
        <p14:creationId xmlns:p14="http://schemas.microsoft.com/office/powerpoint/2010/main" val="9827900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55715"/>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Conclusion</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lang="en-US"/>
          </a:p>
        </p:txBody>
      </p:sp>
      <p:sp>
        <p:nvSpPr>
          <p:cNvPr id="3" name="矩形 2">
            <a:extLst>
              <a:ext uri="{FF2B5EF4-FFF2-40B4-BE49-F238E27FC236}">
                <a16:creationId xmlns:a16="http://schemas.microsoft.com/office/drawing/2014/main" id="{09B5AC6D-32BA-493A-9B95-EB7EF5F412A4}"/>
              </a:ext>
            </a:extLst>
          </p:cNvPr>
          <p:cNvSpPr/>
          <p:nvPr/>
        </p:nvSpPr>
        <p:spPr>
          <a:xfrm>
            <a:off x="838200" y="1581278"/>
            <a:ext cx="10342830" cy="4462760"/>
          </a:xfrm>
          <a:prstGeom prst="rect">
            <a:avLst/>
          </a:prstGeom>
        </p:spPr>
        <p:txBody>
          <a:bodyPr wrap="square">
            <a:spAutoFit/>
          </a:bodyPr>
          <a:lstStyle/>
          <a:p>
            <a:pPr marL="342900" indent="-342900">
              <a:buFont typeface="Arial" panose="020B0604020202020204" pitchFamily="34" charset="0"/>
              <a:buChar char="•"/>
            </a:pPr>
            <a:r>
              <a:rPr lang="en-US" altLang="zh-CN" sz="2400" dirty="0">
                <a:latin typeface="AdvEPSTIM"/>
              </a:rPr>
              <a:t>Fuzzy logic is not fuzzy: </a:t>
            </a:r>
          </a:p>
          <a:p>
            <a:pPr marL="800100" lvl="1" indent="-342900">
              <a:buFont typeface="Arial" panose="020B0604020202020204" pitchFamily="34" charset="0"/>
              <a:buChar char="•"/>
            </a:pPr>
            <a:r>
              <a:rPr lang="en-US" altLang="zh-CN" sz="2000" dirty="0">
                <a:latin typeface="AdvEPSTIM"/>
              </a:rPr>
              <a:t>Fuzzy logic is a precise logic of imprecision and approximate reasoning.</a:t>
            </a:r>
          </a:p>
          <a:p>
            <a:pPr marL="800100" lvl="1" indent="-342900">
              <a:buFont typeface="Arial" panose="020B0604020202020204" pitchFamily="34" charset="0"/>
              <a:buChar char="•"/>
            </a:pPr>
            <a:r>
              <a:rPr lang="en-US" altLang="zh-CN" sz="2000" dirty="0">
                <a:latin typeface="AdvEPSTIM"/>
              </a:rPr>
              <a:t>Fuzzy logic is needed to deal effectively with fuzzy reality.</a:t>
            </a:r>
          </a:p>
          <a:p>
            <a:pPr marL="800100" lvl="1" indent="-342900">
              <a:buFont typeface="Arial" panose="020B0604020202020204" pitchFamily="34" charset="0"/>
              <a:buChar char="•"/>
            </a:pPr>
            <a:endParaRPr lang="en-US" altLang="zh-CN" sz="2000" dirty="0">
              <a:latin typeface="AdvEPSTIM"/>
            </a:endParaRPr>
          </a:p>
          <a:p>
            <a:pPr marL="342900" indent="-342900">
              <a:buFont typeface="Arial" panose="020B0604020202020204" pitchFamily="34" charset="0"/>
              <a:buChar char="•"/>
            </a:pPr>
            <a:r>
              <a:rPr lang="en-US" altLang="zh-CN" sz="2400" dirty="0">
                <a:latin typeface="AdvEPSTIM"/>
              </a:rPr>
              <a:t>Fuzzy logic has many facets. </a:t>
            </a:r>
          </a:p>
          <a:p>
            <a:pPr marL="800100" lvl="1" indent="-342900">
              <a:buFont typeface="Arial" panose="020B0604020202020204" pitchFamily="34" charset="0"/>
              <a:buChar char="•"/>
            </a:pPr>
            <a:r>
              <a:rPr lang="en-US" altLang="zh-CN" sz="2000" dirty="0">
                <a:latin typeface="AdvEPSTIM"/>
              </a:rPr>
              <a:t>The logical facet and the fuzzy-set-theoretic facet are the basic facets of fuzzy logic. </a:t>
            </a:r>
          </a:p>
          <a:p>
            <a:pPr marL="800100" lvl="1" indent="-342900">
              <a:buFont typeface="Arial" panose="020B0604020202020204" pitchFamily="34" charset="0"/>
              <a:buChar char="•"/>
            </a:pPr>
            <a:r>
              <a:rPr lang="en-US" altLang="zh-CN" sz="2000" dirty="0">
                <a:latin typeface="AdvEPSTIM"/>
              </a:rPr>
              <a:t>Relational facet plays a pivotal role – a facet which is focused on linguistic variables and fuzzy if–then rules.</a:t>
            </a:r>
          </a:p>
          <a:p>
            <a:pPr marL="800100" lvl="1" indent="-342900">
              <a:buFont typeface="Arial" panose="020B0604020202020204" pitchFamily="34" charset="0"/>
              <a:buChar char="•"/>
            </a:pPr>
            <a:endParaRPr lang="en-US" altLang="zh-CN" sz="2000" dirty="0">
              <a:latin typeface="AdvEPSTIM"/>
            </a:endParaRPr>
          </a:p>
          <a:p>
            <a:pPr marL="342900" indent="-342900">
              <a:buFont typeface="Arial" panose="020B0604020202020204" pitchFamily="34" charset="0"/>
              <a:buChar char="•"/>
            </a:pPr>
            <a:r>
              <a:rPr lang="en-US" altLang="zh-CN" sz="2400" dirty="0">
                <a:latin typeface="AdvEPSTIM"/>
              </a:rPr>
              <a:t>In this paper, fuzzy logic is viewed in a nontraditional perspective. </a:t>
            </a:r>
          </a:p>
          <a:p>
            <a:pPr marL="342900" indent="-342900">
              <a:buFont typeface="Arial" panose="020B0604020202020204" pitchFamily="34" charset="0"/>
              <a:buChar char="•"/>
            </a:pPr>
            <a:endParaRPr lang="en-US" altLang="zh-CN" sz="2400" dirty="0">
              <a:latin typeface="AdvEPSTIM"/>
            </a:endParaRPr>
          </a:p>
          <a:p>
            <a:pPr marL="342900" indent="-342900">
              <a:buFont typeface="Arial" panose="020B0604020202020204" pitchFamily="34" charset="0"/>
              <a:buChar char="•"/>
            </a:pPr>
            <a:r>
              <a:rPr lang="en-US" altLang="zh-CN" sz="2400" dirty="0">
                <a:latin typeface="AdvEPSTIM"/>
              </a:rPr>
              <a:t>This status reflects one of the most important contributions of fuzzy logic: High power of precisiation</a:t>
            </a:r>
            <a:endParaRPr lang="zh-CN" altLang="en-US" sz="2400" dirty="0"/>
          </a:p>
        </p:txBody>
      </p:sp>
    </p:spTree>
    <p:extLst>
      <p:ext uri="{BB962C8B-B14F-4D97-AF65-F5344CB8AC3E}">
        <p14:creationId xmlns:p14="http://schemas.microsoft.com/office/powerpoint/2010/main" val="363239202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5901</TotalTime>
  <Words>2438</Words>
  <Application>Microsoft Office PowerPoint</Application>
  <PresentationFormat>宽屏</PresentationFormat>
  <Paragraphs>403</Paragraphs>
  <Slides>41</Slides>
  <Notes>41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41</vt:i4>
      </vt:variant>
    </vt:vector>
  </HeadingPairs>
  <TitlesOfParts>
    <vt:vector size="52" baseType="lpstr">
      <vt:lpstr>AdvEPSTIM</vt:lpstr>
      <vt:lpstr>AdvEPSTIM-I</vt:lpstr>
      <vt:lpstr>Linux Libertine</vt:lpstr>
      <vt:lpstr>Questrial</vt:lpstr>
      <vt:lpstr>Yu Gothic</vt:lpstr>
      <vt:lpstr>等线</vt:lpstr>
      <vt:lpstr>楷体</vt:lpstr>
      <vt:lpstr>Arial</vt:lpstr>
      <vt:lpstr>Bell MT</vt:lpstr>
      <vt:lpstr>Calibri</vt:lpstr>
      <vt:lpstr>Office 主题</vt:lpstr>
      <vt:lpstr>Is there a need for fuzzy logic? A nontraditional view of fuzzy logic</vt:lpstr>
      <vt:lpstr>Abstract (1/3)</vt:lpstr>
      <vt:lpstr>Abstract (2/3)</vt:lpstr>
      <vt:lpstr>Abstract (3/3)</vt:lpstr>
      <vt:lpstr>Introduction - Spirited discussion and debate from 1965</vt:lpstr>
      <vt:lpstr>Introduction - Spirited discussion and debate from 1965</vt:lpstr>
      <vt:lpstr>Part 1: What is fuzzy logic – a nontraditional view</vt:lpstr>
      <vt:lpstr>1. Misconceptions about fuzzy logic</vt:lpstr>
      <vt:lpstr>2. The duality of meaning of fuzzy logic</vt:lpstr>
      <vt:lpstr>3. The principal facets of fuzzy logic</vt:lpstr>
      <vt:lpstr>4. Core of FL: Graduated granulation</vt:lpstr>
      <vt:lpstr>4. Core of FL: Graduated granulation</vt:lpstr>
      <vt:lpstr>4. Core of FL: Graduated granulation</vt:lpstr>
      <vt:lpstr>4. Core of FL: Graduated granulation</vt:lpstr>
      <vt:lpstr>Part 1: What is fuzzy logic – a nontraditional view</vt:lpstr>
      <vt:lpstr>1. The concepts of precisiation</vt:lpstr>
      <vt:lpstr>1. The concepts of precisiation</vt:lpstr>
      <vt:lpstr>1. The concepts of precisiation</vt:lpstr>
      <vt:lpstr>1. The concepts of precisiation</vt:lpstr>
      <vt:lpstr>2. The concepts of cointension</vt:lpstr>
      <vt:lpstr>2. The concepts of cointension</vt:lpstr>
      <vt:lpstr>2. The concepts of cointension</vt:lpstr>
      <vt:lpstr>Part 1: What is fuzzy logic – a nontraditional view</vt:lpstr>
      <vt:lpstr>1. The concept of a generalized constraint</vt:lpstr>
      <vt:lpstr>1. The concept of a generalized constraint</vt:lpstr>
      <vt:lpstr>1. The concept of a generalized constraint</vt:lpstr>
      <vt:lpstr>1. The concept of a generalized constraint</vt:lpstr>
      <vt:lpstr>1. The concept of a generalized constraint</vt:lpstr>
      <vt:lpstr>2. Example of a generalized constraint</vt:lpstr>
      <vt:lpstr>2. Example of a generalized constraint</vt:lpstr>
      <vt:lpstr>2. Example of a generalized constraint</vt:lpstr>
      <vt:lpstr>2. Example of a generalized constraint</vt:lpstr>
      <vt:lpstr>3. Generalized constraint language (GCL)</vt:lpstr>
      <vt:lpstr>3. Generalized constraint language (GCL)</vt:lpstr>
      <vt:lpstr>Part 2: What does fuzzy logic have to offer?</vt:lpstr>
      <vt:lpstr>1. What does fuzzy logic have to offer?</vt:lpstr>
      <vt:lpstr>2. Fuzzy logic and natural language</vt:lpstr>
      <vt:lpstr>3. Fuzzy logic as a modeling language</vt:lpstr>
      <vt:lpstr>4. Fuzzy logic as the basis for generalization of scientific theories</vt:lpstr>
      <vt:lpstr>4. Fuzzy logic as the basis for generalization of scientific theories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BAYESIAN  DEEP  CONVOLUTIONAL  NETWORKS   WITH MANY  CHANNELS  ARE  GAUSSIAN PROCESSES</dc:title>
  <dc:creator>zkx</dc:creator>
  <cp:lastModifiedBy>zkxshg@gmail.com</cp:lastModifiedBy>
  <cp:revision>599</cp:revision>
  <dcterms:created xsi:type="dcterms:W3CDTF">2019-04-02T05:36:00Z</dcterms:created>
  <dcterms:modified xsi:type="dcterms:W3CDTF">2019-07-02T08:41:45Z</dcterms:modified>
</cp:coreProperties>
</file>