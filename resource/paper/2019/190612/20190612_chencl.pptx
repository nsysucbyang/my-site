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56" r:id="rId2"/>
    <p:sldId id="257" r:id="rId3"/>
    <p:sldId id="258" r:id="rId4"/>
    <p:sldId id="286" r:id="rId5"/>
    <p:sldId id="289" r:id="rId6"/>
    <p:sldId id="287" r:id="rId7"/>
    <p:sldId id="288" r:id="rId8"/>
    <p:sldId id="326" r:id="rId9"/>
    <p:sldId id="325" r:id="rId10"/>
    <p:sldId id="308" r:id="rId11"/>
    <p:sldId id="309" r:id="rId12"/>
    <p:sldId id="312" r:id="rId13"/>
    <p:sldId id="313" r:id="rId14"/>
    <p:sldId id="314" r:id="rId15"/>
    <p:sldId id="310" r:id="rId16"/>
    <p:sldId id="319" r:id="rId17"/>
    <p:sldId id="320" r:id="rId18"/>
    <p:sldId id="321" r:id="rId19"/>
    <p:sldId id="322" r:id="rId20"/>
    <p:sldId id="323" r:id="rId21"/>
    <p:sldId id="324" r:id="rId22"/>
    <p:sldId id="327" r:id="rId23"/>
    <p:sldId id="328" r:id="rId24"/>
    <p:sldId id="315" r:id="rId25"/>
    <p:sldId id="316" r:id="rId26"/>
    <p:sldId id="300" r:id="rId27"/>
    <p:sldId id="302" r:id="rId28"/>
    <p:sldId id="301" r:id="rId29"/>
    <p:sldId id="290" r:id="rId30"/>
    <p:sldId id="291" r:id="rId31"/>
    <p:sldId id="293" r:id="rId32"/>
    <p:sldId id="294" r:id="rId33"/>
    <p:sldId id="295" r:id="rId34"/>
    <p:sldId id="306" r:id="rId35"/>
    <p:sldId id="307" r:id="rId36"/>
    <p:sldId id="330" r:id="rId37"/>
    <p:sldId id="329" r:id="rId38"/>
    <p:sldId id="285" r:id="rId3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50" autoAdjust="0"/>
    <p:restoredTop sz="90488" autoAdjust="0"/>
  </p:normalViewPr>
  <p:slideViewPr>
    <p:cSldViewPr snapToGrid="0">
      <p:cViewPr varScale="1">
        <p:scale>
          <a:sx n="54" d="100"/>
          <a:sy n="54" d="100"/>
        </p:scale>
        <p:origin x="677" y="48"/>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8DE3D63E-ED49-4D7E-8867-5402EFEDA3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9E957D7-6998-44F0-8EFD-129034B48C23}" type="slidenum">
              <a:rPr lang="zh-TW" altLang="en-US" smtClean="0"/>
              <a:t>‹#›</a:t>
            </a:fld>
            <a:endParaRPr lang="zh-TW" altLang="en-US"/>
          </a:p>
        </p:txBody>
      </p:sp>
    </p:spTree>
    <p:extLst>
      <p:ext uri="{BB962C8B-B14F-4D97-AF65-F5344CB8AC3E}">
        <p14:creationId xmlns:p14="http://schemas.microsoft.com/office/powerpoint/2010/main" val="185444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EA978-E737-40E5-8864-39E2E87DFE56}" type="datetimeFigureOut">
              <a:rPr lang="zh-TW" altLang="en-US" smtClean="0"/>
              <a:t>2019/6/12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7F998F-39E5-4E28-B0C3-37396970755F}" type="slidenum">
              <a:rPr lang="zh-TW" altLang="en-US" smtClean="0"/>
              <a:t>‹#›</a:t>
            </a:fld>
            <a:endParaRPr lang="zh-TW" altLang="en-US"/>
          </a:p>
        </p:txBody>
      </p:sp>
    </p:spTree>
    <p:extLst>
      <p:ext uri="{BB962C8B-B14F-4D97-AF65-F5344CB8AC3E}">
        <p14:creationId xmlns:p14="http://schemas.microsoft.com/office/powerpoint/2010/main" val="3501703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1</a:t>
            </a:fld>
            <a:endParaRPr lang="zh-TW" altLang="en-US"/>
          </a:p>
        </p:txBody>
      </p:sp>
    </p:spTree>
    <p:extLst>
      <p:ext uri="{BB962C8B-B14F-4D97-AF65-F5344CB8AC3E}">
        <p14:creationId xmlns:p14="http://schemas.microsoft.com/office/powerpoint/2010/main" val="1910138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2</a:t>
            </a:fld>
            <a:endParaRPr lang="zh-TW" altLang="en-US"/>
          </a:p>
        </p:txBody>
      </p:sp>
    </p:spTree>
    <p:extLst>
      <p:ext uri="{BB962C8B-B14F-4D97-AF65-F5344CB8AC3E}">
        <p14:creationId xmlns:p14="http://schemas.microsoft.com/office/powerpoint/2010/main" val="2516467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3</a:t>
            </a:fld>
            <a:endParaRPr lang="zh-TW" altLang="en-US"/>
          </a:p>
        </p:txBody>
      </p:sp>
    </p:spTree>
    <p:extLst>
      <p:ext uri="{BB962C8B-B14F-4D97-AF65-F5344CB8AC3E}">
        <p14:creationId xmlns:p14="http://schemas.microsoft.com/office/powerpoint/2010/main" val="3634989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solidFill>
                  <a:srgbClr val="333333"/>
                </a:solidFill>
                <a:latin typeface="PingFang SC"/>
              </a:rPr>
              <a:t>narrowly speaking Monte Carlo Approach</a:t>
            </a:r>
          </a:p>
          <a:p>
            <a:r>
              <a:rPr lang="zh-TW" altLang="en-US" dirty="0"/>
              <a:t>適合用於兩人對弈遊戲，比如</a:t>
            </a:r>
            <a:r>
              <a:rPr lang="en-US" altLang="zh-TW" dirty="0"/>
              <a:t>tic-tac-toe</a:t>
            </a:r>
            <a:r>
              <a:rPr lang="zh-TW" altLang="en-US" dirty="0"/>
              <a:t>、圍棋</a:t>
            </a:r>
            <a:endParaRPr lang="en-US" altLang="zh-TW" dirty="0"/>
          </a:p>
          <a:p>
            <a:r>
              <a:rPr lang="zh-TW" altLang="en-US" dirty="0"/>
              <a:t>其中採用</a:t>
            </a:r>
            <a:r>
              <a:rPr lang="en-US" altLang="zh-TW" dirty="0"/>
              <a:t>minmax(</a:t>
            </a:r>
            <a:r>
              <a:rPr lang="zh-TW" altLang="en-US" dirty="0"/>
              <a:t>最小化對手最大增益</a:t>
            </a:r>
            <a:r>
              <a:rPr lang="en-US" altLang="zh-TW" dirty="0"/>
              <a:t>)</a:t>
            </a:r>
            <a:r>
              <a:rPr lang="zh-TW" altLang="en-US" dirty="0"/>
              <a:t>。</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7</a:t>
            </a:fld>
            <a:endParaRPr lang="zh-TW" altLang="en-US"/>
          </a:p>
        </p:txBody>
      </p:sp>
    </p:spTree>
    <p:extLst>
      <p:ext uri="{BB962C8B-B14F-4D97-AF65-F5344CB8AC3E}">
        <p14:creationId xmlns:p14="http://schemas.microsoft.com/office/powerpoint/2010/main" val="29338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井字遊戲中旋轉跟反射是等效的，所以可以將原本第一層的九種選擇，簡單化簡、歸類為三種選擇</a:t>
            </a:r>
            <a:r>
              <a:rPr lang="en-US" altLang="zh-TW" dirty="0"/>
              <a:t>:</a:t>
            </a:r>
            <a:r>
              <a:rPr lang="zh-TW" altLang="en-US" dirty="0"/>
              <a:t>中心、周邊、角落。</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同理第二層可化簡如上圖。</a:t>
            </a:r>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26</a:t>
            </a:fld>
            <a:endParaRPr lang="zh-TW" altLang="en-US"/>
          </a:p>
        </p:txBody>
      </p:sp>
    </p:spTree>
    <p:extLst>
      <p:ext uri="{BB962C8B-B14F-4D97-AF65-F5344CB8AC3E}">
        <p14:creationId xmlns:p14="http://schemas.microsoft.com/office/powerpoint/2010/main" val="1737934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27</a:t>
            </a:fld>
            <a:endParaRPr lang="zh-TW" altLang="en-US"/>
          </a:p>
        </p:txBody>
      </p:sp>
    </p:spTree>
    <p:extLst>
      <p:ext uri="{BB962C8B-B14F-4D97-AF65-F5344CB8AC3E}">
        <p14:creationId xmlns:p14="http://schemas.microsoft.com/office/powerpoint/2010/main" val="3883609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A26C46-D0C2-4B38-8A04-667613125F65}"/>
              </a:ext>
            </a:extLst>
          </p:cNvPr>
          <p:cNvSpPr>
            <a:spLocks noGrp="1"/>
          </p:cNvSpPr>
          <p:nvPr>
            <p:ph type="ctrTitle" hasCustomPrompt="1"/>
          </p:nvPr>
        </p:nvSpPr>
        <p:spPr>
          <a:xfrm>
            <a:off x="1524000" y="1122363"/>
            <a:ext cx="9144000" cy="2387600"/>
          </a:xfrm>
        </p:spPr>
        <p:txBody>
          <a:bodyPr anchor="b"/>
          <a:lstStyle>
            <a:lvl1pPr algn="ctr">
              <a:defRPr sz="6000"/>
            </a:lvl1pPr>
          </a:lstStyle>
          <a:p>
            <a:pPr algn="ctr"/>
            <a:r>
              <a:rPr lang="en-US" altLang="zh-TW" sz="6000" dirty="0"/>
              <a:t>Inception-v4,</a:t>
            </a:r>
            <a:r>
              <a:rPr lang="zh-TW" altLang="en-US" sz="6000" dirty="0"/>
              <a:t> </a:t>
            </a:r>
            <a:r>
              <a:rPr lang="en-US" altLang="zh-TW" sz="6000" dirty="0"/>
              <a:t>Inception-</a:t>
            </a:r>
            <a:r>
              <a:rPr lang="en-US" altLang="zh-TW" sz="6000" dirty="0" err="1"/>
              <a:t>ResNet</a:t>
            </a:r>
            <a:r>
              <a:rPr lang="zh-TW" altLang="en-US" sz="6000" dirty="0"/>
              <a:t> </a:t>
            </a:r>
            <a:r>
              <a:rPr lang="en-US" altLang="zh-TW" sz="6000" dirty="0"/>
              <a:t>and the</a:t>
            </a:r>
            <a:r>
              <a:rPr lang="zh-TW" altLang="en-US" sz="6000" dirty="0"/>
              <a:t> </a:t>
            </a:r>
            <a:r>
              <a:rPr lang="en-US" altLang="zh-TW" sz="6000" dirty="0"/>
              <a:t>Impact</a:t>
            </a:r>
            <a:r>
              <a:rPr lang="zh-TW" altLang="en-US" sz="6000" dirty="0"/>
              <a:t> </a:t>
            </a:r>
            <a:r>
              <a:rPr lang="en-US" altLang="zh-TW" sz="6000" dirty="0"/>
              <a:t>of</a:t>
            </a:r>
            <a:r>
              <a:rPr lang="zh-TW" altLang="en-US" sz="6000" dirty="0"/>
              <a:t> </a:t>
            </a:r>
            <a:r>
              <a:rPr lang="en-US" altLang="zh-TW" sz="6000" dirty="0"/>
              <a:t>Residual</a:t>
            </a:r>
            <a:r>
              <a:rPr lang="zh-TW" altLang="en-US" sz="6000" dirty="0"/>
              <a:t> </a:t>
            </a:r>
            <a:r>
              <a:rPr lang="en-US" altLang="zh-TW" sz="6000" dirty="0"/>
              <a:t>Connections on</a:t>
            </a:r>
            <a:r>
              <a:rPr lang="zh-TW" altLang="en-US" sz="6000" dirty="0"/>
              <a:t> </a:t>
            </a:r>
            <a:r>
              <a:rPr lang="en-US" altLang="zh-TW" sz="6000" dirty="0"/>
              <a:t>Learning</a:t>
            </a:r>
          </a:p>
        </p:txBody>
      </p:sp>
      <p:sp>
        <p:nvSpPr>
          <p:cNvPr id="3" name="副標題 2">
            <a:extLst>
              <a:ext uri="{FF2B5EF4-FFF2-40B4-BE49-F238E27FC236}">
                <a16:creationId xmlns:a16="http://schemas.microsoft.com/office/drawing/2014/main" id="{8696A7FC-CF28-4579-BC74-610A32CF58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B2C6E288-DD27-4113-B6F7-DD4F3944F7AD}"/>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5" name="頁尾版面配置區 4">
            <a:extLst>
              <a:ext uri="{FF2B5EF4-FFF2-40B4-BE49-F238E27FC236}">
                <a16:creationId xmlns:a16="http://schemas.microsoft.com/office/drawing/2014/main" id="{EFB0A3A0-D31F-474E-9349-609AC727685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3F3CDA-AD1A-40A6-9C8D-642369690FE7}"/>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702767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EBDB89-794A-4CE8-AB36-695FA6BD6D4E}"/>
              </a:ext>
            </a:extLst>
          </p:cNvPr>
          <p:cNvSpPr>
            <a:spLocks noGrp="1"/>
          </p:cNvSpPr>
          <p:nvPr>
            <p:ph type="title" hasCustomPrompt="1"/>
          </p:nvPr>
        </p:nvSpPr>
        <p:spPr/>
        <p:txBody>
          <a:bodyPr/>
          <a:lstStyle>
            <a:lvl1pPr>
              <a:defRPr/>
            </a:lvl1pPr>
          </a:lstStyle>
          <a:p>
            <a:pPr algn="ctr"/>
            <a:r>
              <a:rPr lang="en-US" altLang="zh-TW" sz="4400" dirty="0"/>
              <a:t>Inception-v4,</a:t>
            </a:r>
            <a:r>
              <a:rPr lang="zh-TW" altLang="en-US" sz="4400" dirty="0"/>
              <a:t> </a:t>
            </a:r>
            <a:r>
              <a:rPr lang="en-US" altLang="zh-TW" sz="4400" dirty="0"/>
              <a:t>Inception-</a:t>
            </a:r>
            <a:r>
              <a:rPr lang="en-US" altLang="zh-TW" sz="4400" dirty="0" err="1"/>
              <a:t>ResNet</a:t>
            </a:r>
            <a:r>
              <a:rPr lang="zh-TW" altLang="en-US" sz="4400" dirty="0"/>
              <a:t> </a:t>
            </a:r>
            <a:r>
              <a:rPr lang="en-US" altLang="zh-TW" sz="4400" dirty="0"/>
              <a:t>and the</a:t>
            </a:r>
            <a:r>
              <a:rPr lang="zh-TW" altLang="en-US" sz="4400" dirty="0"/>
              <a:t> </a:t>
            </a:r>
            <a:r>
              <a:rPr lang="en-US" altLang="zh-TW" sz="4400" dirty="0"/>
              <a:t>Impact</a:t>
            </a:r>
            <a:r>
              <a:rPr lang="zh-TW" altLang="en-US" sz="4400" dirty="0"/>
              <a:t> </a:t>
            </a:r>
            <a:r>
              <a:rPr lang="en-US" altLang="zh-TW" sz="4400" dirty="0"/>
              <a:t>of</a:t>
            </a:r>
            <a:r>
              <a:rPr lang="zh-TW" altLang="en-US" sz="4400" dirty="0"/>
              <a:t> </a:t>
            </a:r>
            <a:r>
              <a:rPr lang="en-US" altLang="zh-TW" sz="4400" dirty="0"/>
              <a:t>Residual</a:t>
            </a:r>
            <a:r>
              <a:rPr lang="zh-TW" altLang="en-US" sz="4400" dirty="0"/>
              <a:t> </a:t>
            </a:r>
            <a:r>
              <a:rPr lang="en-US" altLang="zh-TW" sz="4400" dirty="0"/>
              <a:t>Connections on</a:t>
            </a:r>
            <a:r>
              <a:rPr lang="zh-TW" altLang="en-US" sz="4400" dirty="0"/>
              <a:t> </a:t>
            </a:r>
            <a:r>
              <a:rPr lang="en-US" altLang="zh-TW" sz="4400" dirty="0"/>
              <a:t>Learning</a:t>
            </a:r>
          </a:p>
        </p:txBody>
      </p:sp>
      <p:sp>
        <p:nvSpPr>
          <p:cNvPr id="3" name="內容版面配置區 2">
            <a:extLst>
              <a:ext uri="{FF2B5EF4-FFF2-40B4-BE49-F238E27FC236}">
                <a16:creationId xmlns:a16="http://schemas.microsoft.com/office/drawing/2014/main" id="{EB355D9C-ACD8-4D02-92FE-DE58E61C017B}"/>
              </a:ext>
            </a:extLst>
          </p:cNvPr>
          <p:cNvSpPr>
            <a:spLocks noGrp="1"/>
          </p:cNvSpPr>
          <p:nvPr>
            <p:ph idx="1" hasCustomPrompt="1"/>
          </p:nvPr>
        </p:nvSpPr>
        <p:spPr/>
        <p:txBody>
          <a:bodyPr/>
          <a:lstStyle>
            <a:lvl1pPr>
              <a:defRPr/>
            </a:lvl1pPr>
          </a:lstStyle>
          <a:p>
            <a:pPr algn="ctr"/>
            <a:r>
              <a:rPr lang="en-US" altLang="zh-TW" sz="2800" dirty="0"/>
              <a:t>Inception-v4,</a:t>
            </a:r>
            <a:r>
              <a:rPr lang="zh-TW" altLang="en-US" sz="2800" dirty="0"/>
              <a:t> </a:t>
            </a:r>
            <a:r>
              <a:rPr lang="en-US" altLang="zh-TW" sz="2800" dirty="0"/>
              <a:t>Inception-</a:t>
            </a:r>
            <a:r>
              <a:rPr lang="en-US" altLang="zh-TW" sz="2800" dirty="0" err="1"/>
              <a:t>ResNet</a:t>
            </a:r>
            <a:r>
              <a:rPr lang="zh-TW" altLang="en-US" sz="2800" dirty="0"/>
              <a:t> </a:t>
            </a:r>
            <a:r>
              <a:rPr lang="en-US" altLang="zh-TW" sz="2800" dirty="0"/>
              <a:t>and the</a:t>
            </a:r>
            <a:r>
              <a:rPr lang="zh-TW" altLang="en-US" sz="2800" dirty="0"/>
              <a:t> </a:t>
            </a:r>
            <a:r>
              <a:rPr lang="en-US" altLang="zh-TW" sz="2800" dirty="0"/>
              <a:t>Impact</a:t>
            </a:r>
            <a:r>
              <a:rPr lang="zh-TW" altLang="en-US" sz="2800" dirty="0"/>
              <a:t> </a:t>
            </a:r>
            <a:r>
              <a:rPr lang="en-US" altLang="zh-TW" sz="2800" dirty="0"/>
              <a:t>of</a:t>
            </a:r>
            <a:r>
              <a:rPr lang="zh-TW" altLang="en-US" sz="2800" dirty="0"/>
              <a:t> </a:t>
            </a:r>
            <a:r>
              <a:rPr lang="en-US" altLang="zh-TW" sz="2800" dirty="0"/>
              <a:t>Residual</a:t>
            </a:r>
            <a:r>
              <a:rPr lang="zh-TW" altLang="en-US" sz="2800" dirty="0"/>
              <a:t> </a:t>
            </a:r>
            <a:r>
              <a:rPr lang="en-US" altLang="zh-TW" sz="2800" dirty="0"/>
              <a:t>Connections on</a:t>
            </a:r>
            <a:r>
              <a:rPr lang="zh-TW" altLang="en-US" sz="2800" dirty="0"/>
              <a:t> </a:t>
            </a:r>
            <a:r>
              <a:rPr lang="en-US" altLang="zh-TW" sz="2800" dirty="0"/>
              <a:t>Learning</a:t>
            </a:r>
          </a:p>
          <a:p>
            <a:pPr lvl="4"/>
            <a:endParaRPr lang="zh-TW" altLang="en-US" dirty="0"/>
          </a:p>
        </p:txBody>
      </p:sp>
      <p:sp>
        <p:nvSpPr>
          <p:cNvPr id="4" name="日期版面配置區 3">
            <a:extLst>
              <a:ext uri="{FF2B5EF4-FFF2-40B4-BE49-F238E27FC236}">
                <a16:creationId xmlns:a16="http://schemas.microsoft.com/office/drawing/2014/main" id="{E14533FF-8DFC-4215-8621-E079E0E0C6B8}"/>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5" name="頁尾版面配置區 4">
            <a:extLst>
              <a:ext uri="{FF2B5EF4-FFF2-40B4-BE49-F238E27FC236}">
                <a16:creationId xmlns:a16="http://schemas.microsoft.com/office/drawing/2014/main" id="{0F5AF5C5-4D3D-4B57-8AD6-10D2C77E8F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9515229-E48F-43C7-83FD-26EC70D3A5CF}"/>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690211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1B7635-2C67-4B5F-B633-DE0A6674A10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74DF3E2-EB35-4698-9CCF-D80288D1DA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534EB538-7C2A-4CAB-82F5-CA3240F4E502}"/>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5" name="頁尾版面配置區 4">
            <a:extLst>
              <a:ext uri="{FF2B5EF4-FFF2-40B4-BE49-F238E27FC236}">
                <a16:creationId xmlns:a16="http://schemas.microsoft.com/office/drawing/2014/main" id="{F4C302FB-35CA-41FD-A10F-FC0DD69C39B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7CEC10E-9E91-4967-8F39-826CDE439C3C}"/>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236531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52A850-6DCA-42A6-ACB7-A13657B8AAC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3BAFDB8-FB0E-4F58-958B-1D9824F647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8EDCE71-D1BF-471D-9DFE-8FCDC7D6720E}"/>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9EBE791-BD89-45CD-9728-D389BB316219}"/>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6" name="頁尾版面配置區 5">
            <a:extLst>
              <a:ext uri="{FF2B5EF4-FFF2-40B4-BE49-F238E27FC236}">
                <a16:creationId xmlns:a16="http://schemas.microsoft.com/office/drawing/2014/main" id="{DF1989AF-5EE3-4C62-AFC1-48071A5041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3AD171-B164-46A3-ACE4-5A4588DE4EBE}"/>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298275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6E3CD-9E81-449C-964D-C3AE690F6C1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33DB46E-F8D2-4AD5-8C6D-174A15CCF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FC900BFE-FCA7-45BF-A6E3-3849877BAC92}"/>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EFAA5323-9AAC-44CC-9039-6D896FDA9F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DF3E0D19-8D65-429B-867C-99B0C7A2A58D}"/>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E7D6A61-05EC-4F52-B753-19D1ED295D5A}"/>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8" name="頁尾版面配置區 7">
            <a:extLst>
              <a:ext uri="{FF2B5EF4-FFF2-40B4-BE49-F238E27FC236}">
                <a16:creationId xmlns:a16="http://schemas.microsoft.com/office/drawing/2014/main" id="{E9F13DBC-FB1E-496C-A620-D2BC47148A7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CFD43FB8-3CB1-40E5-9850-0A010B5BEA38}"/>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1567142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F5786E-467E-4BB0-B2DA-E5FB8EEEA3F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74C4EA2-83A3-43CE-A98A-0CCBACA8F292}"/>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4" name="頁尾版面配置區 3">
            <a:extLst>
              <a:ext uri="{FF2B5EF4-FFF2-40B4-BE49-F238E27FC236}">
                <a16:creationId xmlns:a16="http://schemas.microsoft.com/office/drawing/2014/main" id="{F8901214-6687-4452-BC6E-31C56AC8060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8D80292-6BB7-4ADF-9ECD-60E137EBFBAA}"/>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5156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443BF5F-86C6-434F-B7E0-6808B578AF98}"/>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3" name="頁尾版面配置區 2">
            <a:extLst>
              <a:ext uri="{FF2B5EF4-FFF2-40B4-BE49-F238E27FC236}">
                <a16:creationId xmlns:a16="http://schemas.microsoft.com/office/drawing/2014/main" id="{B3B3AD15-105B-4FC3-AC21-9641BDAC583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7818F38-1B71-447F-9564-B81F209BA222}"/>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
        <p:nvSpPr>
          <p:cNvPr id="5" name="標題 4">
            <a:extLst>
              <a:ext uri="{FF2B5EF4-FFF2-40B4-BE49-F238E27FC236}">
                <a16:creationId xmlns:a16="http://schemas.microsoft.com/office/drawing/2014/main" id="{BEE2DA72-19CB-4313-BF78-8672CB13F3C8}"/>
              </a:ext>
            </a:extLst>
          </p:cNvPr>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700504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3" name="日期版面配置區 2">
            <a:extLst>
              <a:ext uri="{FF2B5EF4-FFF2-40B4-BE49-F238E27FC236}">
                <a16:creationId xmlns:a16="http://schemas.microsoft.com/office/drawing/2014/main" id="{9047244B-BFDF-4F36-BBD0-22A3D39FD098}"/>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4" name="頁尾版面配置區 3">
            <a:extLst>
              <a:ext uri="{FF2B5EF4-FFF2-40B4-BE49-F238E27FC236}">
                <a16:creationId xmlns:a16="http://schemas.microsoft.com/office/drawing/2014/main" id="{6AF92A0C-D083-4C91-9540-F32B21ACE37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3783A3B-3529-409C-A336-4F875A77C0B9}"/>
              </a:ext>
            </a:extLst>
          </p:cNvPr>
          <p:cNvSpPr>
            <a:spLocks noGrp="1"/>
          </p:cNvSpPr>
          <p:nvPr>
            <p:ph type="sldNum" sz="quarter" idx="12"/>
          </p:nvPr>
        </p:nvSpPr>
        <p:spPr/>
        <p:txBody>
          <a:bodyPr/>
          <a:lstStyle/>
          <a:p>
            <a:r>
              <a:rPr lang="zh-TW" altLang="en-US"/>
              <a:t>題目</a:t>
            </a:r>
            <a:endParaRPr lang="zh-TW" altLang="en-US" dirty="0"/>
          </a:p>
        </p:txBody>
      </p:sp>
    </p:spTree>
    <p:extLst>
      <p:ext uri="{BB962C8B-B14F-4D97-AF65-F5344CB8AC3E}">
        <p14:creationId xmlns:p14="http://schemas.microsoft.com/office/powerpoint/2010/main" val="3040817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E71BDE-3C86-4D85-A91A-0C327B7E25D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57129F5-F019-4EBB-A25D-BEB2D17ABF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796812B-AE4D-44A9-BF5B-FFE96F39E4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F166050-82C5-4644-9E42-83C5662F55E5}"/>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6" name="頁尾版面配置區 5">
            <a:extLst>
              <a:ext uri="{FF2B5EF4-FFF2-40B4-BE49-F238E27FC236}">
                <a16:creationId xmlns:a16="http://schemas.microsoft.com/office/drawing/2014/main" id="{DBEB40FC-9F77-4C91-B89E-EAC4E95418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7FB4B68-3BDB-43EA-9E04-D8EAD722DC2B}"/>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4289493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1580DA-6254-468B-9CFE-B25750B25D5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957F645-620B-4A08-BA0C-2941F4D860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5F39D3C-E300-49A2-976B-E6CD983C7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5388065-1E1B-41E6-9E04-08417E9CA9F7}"/>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6" name="頁尾版面配置區 5">
            <a:extLst>
              <a:ext uri="{FF2B5EF4-FFF2-40B4-BE49-F238E27FC236}">
                <a16:creationId xmlns:a16="http://schemas.microsoft.com/office/drawing/2014/main" id="{B2B2ADC8-34C8-40FF-8AE6-3F1CC0C990A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9EA9464-CACA-4A71-86D7-9E2C9D08CA4D}"/>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42686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FF4E2B-6B0C-4896-BC2F-11BE3B9087E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D501112A-1FBE-4682-B37E-A328CB3A77DD}"/>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137BC29-3592-4F0B-A50C-9655C9B6AB90}"/>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5" name="頁尾版面配置區 4">
            <a:extLst>
              <a:ext uri="{FF2B5EF4-FFF2-40B4-BE49-F238E27FC236}">
                <a16:creationId xmlns:a16="http://schemas.microsoft.com/office/drawing/2014/main" id="{7B9A55B6-82BB-4FB0-A273-AD7C1DC7843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2C7894-3FCD-414D-9BB4-7847CA2FA1FD}"/>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772502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2E544434-5D2F-4B0D-9ED1-56B4D4FE9BD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DCC4A77-67E4-42D7-930B-28BC9A0B9E4D}"/>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E0AC741-A57F-4A06-BBBA-E770840299E1}"/>
              </a:ext>
            </a:extLst>
          </p:cNvPr>
          <p:cNvSpPr>
            <a:spLocks noGrp="1"/>
          </p:cNvSpPr>
          <p:nvPr>
            <p:ph type="dt" sz="half" idx="10"/>
          </p:nvPr>
        </p:nvSpPr>
        <p:spPr/>
        <p:txBody>
          <a:bodyPr/>
          <a:lstStyle/>
          <a:p>
            <a:fld id="{9516F5E9-A161-4F7E-8227-15CB11B54BE5}" type="datetimeFigureOut">
              <a:rPr lang="zh-TW" altLang="en-US" smtClean="0"/>
              <a:t>2019/6/12</a:t>
            </a:fld>
            <a:endParaRPr lang="zh-TW" altLang="en-US"/>
          </a:p>
        </p:txBody>
      </p:sp>
      <p:sp>
        <p:nvSpPr>
          <p:cNvPr id="5" name="頁尾版面配置區 4">
            <a:extLst>
              <a:ext uri="{FF2B5EF4-FFF2-40B4-BE49-F238E27FC236}">
                <a16:creationId xmlns:a16="http://schemas.microsoft.com/office/drawing/2014/main" id="{CCB7C003-D59F-45CF-A10A-EBBFB156E4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251B9BD-6658-4E84-971B-BFC05738DB56}"/>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16303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D5D394F-0282-4C9F-8398-410567349D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algn="ctr"/>
            <a:r>
              <a:rPr lang="en-US" altLang="zh-TW" sz="4400" dirty="0"/>
              <a:t>Inception-v4,</a:t>
            </a:r>
            <a:r>
              <a:rPr lang="zh-TW" altLang="en-US" sz="4400" dirty="0"/>
              <a:t> </a:t>
            </a:r>
            <a:r>
              <a:rPr lang="en-US" altLang="zh-TW" sz="4400" dirty="0"/>
              <a:t>Inception-</a:t>
            </a:r>
            <a:r>
              <a:rPr lang="en-US" altLang="zh-TW" sz="4400" dirty="0" err="1"/>
              <a:t>ResNet</a:t>
            </a:r>
            <a:r>
              <a:rPr lang="zh-TW" altLang="en-US" sz="4400" dirty="0"/>
              <a:t> </a:t>
            </a:r>
            <a:r>
              <a:rPr lang="en-US" altLang="zh-TW" sz="4400" dirty="0"/>
              <a:t>and the</a:t>
            </a:r>
            <a:r>
              <a:rPr lang="zh-TW" altLang="en-US" sz="4400" dirty="0"/>
              <a:t> </a:t>
            </a:r>
            <a:r>
              <a:rPr lang="en-US" altLang="zh-TW" sz="4400" dirty="0"/>
              <a:t>Impact</a:t>
            </a:r>
            <a:r>
              <a:rPr lang="zh-TW" altLang="en-US" sz="4400" dirty="0"/>
              <a:t> </a:t>
            </a:r>
            <a:r>
              <a:rPr lang="en-US" altLang="zh-TW" sz="4400" dirty="0"/>
              <a:t>of</a:t>
            </a:r>
            <a:r>
              <a:rPr lang="zh-TW" altLang="en-US" sz="4400" dirty="0"/>
              <a:t> </a:t>
            </a:r>
            <a:r>
              <a:rPr lang="en-US" altLang="zh-TW" sz="4400" dirty="0"/>
              <a:t>Residual</a:t>
            </a:r>
            <a:r>
              <a:rPr lang="zh-TW" altLang="en-US" sz="4400" dirty="0"/>
              <a:t> </a:t>
            </a:r>
            <a:r>
              <a:rPr lang="en-US" altLang="zh-TW" sz="4400" dirty="0"/>
              <a:t>Connections on</a:t>
            </a:r>
            <a:r>
              <a:rPr lang="zh-TW" altLang="en-US" sz="4400" dirty="0"/>
              <a:t> </a:t>
            </a:r>
            <a:r>
              <a:rPr lang="en-US" altLang="zh-TW" sz="4400" dirty="0"/>
              <a:t>Learning</a:t>
            </a:r>
          </a:p>
        </p:txBody>
      </p:sp>
      <p:sp>
        <p:nvSpPr>
          <p:cNvPr id="3" name="文字版面配置區 2">
            <a:extLst>
              <a:ext uri="{FF2B5EF4-FFF2-40B4-BE49-F238E27FC236}">
                <a16:creationId xmlns:a16="http://schemas.microsoft.com/office/drawing/2014/main" id="{182102D4-0F3D-47CB-AA62-F36DB98E4B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6871246-AE1D-4613-995F-569583A45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16F5E9-A161-4F7E-8227-15CB11B54BE5}" type="datetimeFigureOut">
              <a:rPr lang="zh-TW" altLang="en-US" smtClean="0"/>
              <a:t>2019/6/12</a:t>
            </a:fld>
            <a:endParaRPr lang="zh-TW" altLang="en-US"/>
          </a:p>
        </p:txBody>
      </p:sp>
      <p:sp>
        <p:nvSpPr>
          <p:cNvPr id="5" name="頁尾版面配置區 4">
            <a:extLst>
              <a:ext uri="{FF2B5EF4-FFF2-40B4-BE49-F238E27FC236}">
                <a16:creationId xmlns:a16="http://schemas.microsoft.com/office/drawing/2014/main" id="{C3A19071-CFE5-4F2F-9F76-8900809E78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4224D7B-415F-4E25-A807-CEE7D9CD27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TW" altLang="en-US" dirty="0"/>
              <a:t>題目</a:t>
            </a:r>
          </a:p>
        </p:txBody>
      </p:sp>
    </p:spTree>
    <p:extLst>
      <p:ext uri="{BB962C8B-B14F-4D97-AF65-F5344CB8AC3E}">
        <p14:creationId xmlns:p14="http://schemas.microsoft.com/office/powerpoint/2010/main" val="3618432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gookulu.com/google-alphago/"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Enrico_Fermi_Nuclear_Generating_Station" TargetMode="External"/><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4000"/>
            <a:lum/>
            <a:extLst>
              <a:ext uri="{837473B0-CC2E-450A-ABE3-18F120FF3D39}">
                <a1611:picAttrSrcUrl xmlns:a1611="http://schemas.microsoft.com/office/drawing/2016/11/main" r:id="rId4"/>
              </a:ext>
            </a:extLst>
          </a:blip>
          <a:srcRect/>
          <a:stretch>
            <a:fillRect t="-9000" b="-9000"/>
          </a:stretch>
        </a:blip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75B0156-9AD4-4A08-8BF7-F7E716BC2005}"/>
              </a:ext>
            </a:extLst>
          </p:cNvPr>
          <p:cNvSpPr/>
          <p:nvPr/>
        </p:nvSpPr>
        <p:spPr>
          <a:xfrm>
            <a:off x="1" y="327817"/>
            <a:ext cx="11582662" cy="1754326"/>
          </a:xfrm>
          <a:prstGeom prst="rect">
            <a:avLst/>
          </a:prstGeom>
        </p:spPr>
        <p:txBody>
          <a:bodyPr wrap="square">
            <a:spAutoFit/>
          </a:bodyPr>
          <a:lstStyle/>
          <a:p>
            <a:pPr algn="ctr"/>
            <a:r>
              <a:rPr lang="en-US" altLang="zh-TW" sz="5400" dirty="0"/>
              <a:t>A Survey of Monte Carlo Tree </a:t>
            </a:r>
          </a:p>
          <a:p>
            <a:pPr algn="ctr"/>
            <a:r>
              <a:rPr lang="en-US" altLang="zh-TW" sz="5400" dirty="0"/>
              <a:t>Search Methods</a:t>
            </a:r>
            <a:endParaRPr lang="zh-TW" altLang="en-US" dirty="0"/>
          </a:p>
        </p:txBody>
      </p:sp>
      <p:sp>
        <p:nvSpPr>
          <p:cNvPr id="3" name="矩形 2">
            <a:extLst>
              <a:ext uri="{FF2B5EF4-FFF2-40B4-BE49-F238E27FC236}">
                <a16:creationId xmlns:a16="http://schemas.microsoft.com/office/drawing/2014/main" id="{4F253964-4333-4642-9684-0AEB002C9A3E}"/>
              </a:ext>
            </a:extLst>
          </p:cNvPr>
          <p:cNvSpPr/>
          <p:nvPr/>
        </p:nvSpPr>
        <p:spPr>
          <a:xfrm>
            <a:off x="304669" y="2644170"/>
            <a:ext cx="11582662" cy="1569660"/>
          </a:xfrm>
          <a:prstGeom prst="rect">
            <a:avLst/>
          </a:prstGeom>
        </p:spPr>
        <p:txBody>
          <a:bodyPr wrap="square">
            <a:spAutoFit/>
          </a:bodyPr>
          <a:lstStyle/>
          <a:p>
            <a:r>
              <a:rPr lang="en-US" altLang="zh-TW" sz="3200" dirty="0"/>
              <a:t>Cameron Browne, Edward Powley, Daniel Whitehouse, Simon Lucas, </a:t>
            </a:r>
          </a:p>
          <a:p>
            <a:r>
              <a:rPr lang="en-US" altLang="zh-TW" sz="3200" dirty="0"/>
              <a:t>Peter Cowling, Philipp </a:t>
            </a:r>
            <a:r>
              <a:rPr lang="en-US" altLang="zh-TW" sz="3200" dirty="0" err="1"/>
              <a:t>Rohlfshagen</a:t>
            </a:r>
            <a:r>
              <a:rPr lang="en-US" altLang="zh-TW" sz="3200" dirty="0"/>
              <a:t>, Stephen </a:t>
            </a:r>
            <a:r>
              <a:rPr lang="en-US" altLang="zh-TW" sz="3200" dirty="0" err="1"/>
              <a:t>Tavener</a:t>
            </a:r>
            <a:r>
              <a:rPr lang="en-US" altLang="zh-TW" sz="3200" dirty="0"/>
              <a:t>, Diego Perez, Spyridon </a:t>
            </a:r>
            <a:r>
              <a:rPr lang="en-US" altLang="zh-TW" sz="3200" dirty="0" err="1"/>
              <a:t>Samothrakis</a:t>
            </a:r>
            <a:r>
              <a:rPr lang="en-US" altLang="zh-TW" sz="3200" dirty="0"/>
              <a:t>, Simon Colton</a:t>
            </a:r>
          </a:p>
        </p:txBody>
      </p:sp>
      <p:sp>
        <p:nvSpPr>
          <p:cNvPr id="4" name="矩形 3">
            <a:extLst>
              <a:ext uri="{FF2B5EF4-FFF2-40B4-BE49-F238E27FC236}">
                <a16:creationId xmlns:a16="http://schemas.microsoft.com/office/drawing/2014/main" id="{86AD574A-1A01-44E2-AA65-BEB4B4206B23}"/>
              </a:ext>
            </a:extLst>
          </p:cNvPr>
          <p:cNvSpPr/>
          <p:nvPr/>
        </p:nvSpPr>
        <p:spPr>
          <a:xfrm>
            <a:off x="706243" y="3592228"/>
            <a:ext cx="11392829" cy="523220"/>
          </a:xfrm>
          <a:prstGeom prst="rect">
            <a:avLst/>
          </a:prstGeom>
        </p:spPr>
        <p:txBody>
          <a:bodyPr wrap="square">
            <a:spAutoFit/>
          </a:bodyPr>
          <a:lstStyle/>
          <a:p>
            <a:endParaRPr lang="en-US" altLang="zh-TW" sz="2800" dirty="0"/>
          </a:p>
        </p:txBody>
      </p:sp>
      <p:sp>
        <p:nvSpPr>
          <p:cNvPr id="5" name="矩形 4">
            <a:extLst>
              <a:ext uri="{FF2B5EF4-FFF2-40B4-BE49-F238E27FC236}">
                <a16:creationId xmlns:a16="http://schemas.microsoft.com/office/drawing/2014/main" id="{E8029974-43D5-45D0-B929-5463BA243FDA}"/>
              </a:ext>
            </a:extLst>
          </p:cNvPr>
          <p:cNvSpPr/>
          <p:nvPr/>
        </p:nvSpPr>
        <p:spPr>
          <a:xfrm>
            <a:off x="9592820" y="6103125"/>
            <a:ext cx="2599180" cy="646331"/>
          </a:xfrm>
          <a:prstGeom prst="rect">
            <a:avLst/>
          </a:prstGeom>
        </p:spPr>
        <p:txBody>
          <a:bodyPr wrap="square">
            <a:spAutoFit/>
          </a:bodyPr>
          <a:lstStyle/>
          <a:p>
            <a:r>
              <a:rPr lang="en-US" altLang="zh-TW" dirty="0">
                <a:latin typeface="Times New Roman" panose="02020603050405020304" pitchFamily="18" charset="0"/>
                <a:cs typeface="Times New Roman" panose="02020603050405020304" pitchFamily="18" charset="0"/>
              </a:rPr>
              <a:t>Presenter : Chia-Lin Chen</a:t>
            </a:r>
          </a:p>
          <a:p>
            <a:r>
              <a:rPr lang="en-US" altLang="zh-TW" dirty="0">
                <a:latin typeface="Times New Roman" panose="02020603050405020304" pitchFamily="18" charset="0"/>
                <a:cs typeface="Times New Roman" panose="02020603050405020304" pitchFamily="18" charset="0"/>
              </a:rPr>
              <a:t>May 27, 2019</a:t>
            </a:r>
          </a:p>
        </p:txBody>
      </p:sp>
      <p:sp>
        <p:nvSpPr>
          <p:cNvPr id="6" name="矩形 5">
            <a:extLst>
              <a:ext uri="{FF2B5EF4-FFF2-40B4-BE49-F238E27FC236}">
                <a16:creationId xmlns:a16="http://schemas.microsoft.com/office/drawing/2014/main" id="{28E37841-1864-432C-AA20-0CE83400C356}"/>
              </a:ext>
            </a:extLst>
          </p:cNvPr>
          <p:cNvSpPr/>
          <p:nvPr/>
        </p:nvSpPr>
        <p:spPr>
          <a:xfrm>
            <a:off x="2617075" y="4505620"/>
            <a:ext cx="7399283" cy="830997"/>
          </a:xfrm>
          <a:prstGeom prst="rect">
            <a:avLst/>
          </a:prstGeom>
        </p:spPr>
        <p:txBody>
          <a:bodyPr wrap="square">
            <a:spAutoFit/>
          </a:bodyPr>
          <a:lstStyle/>
          <a:p>
            <a:r>
              <a:rPr lang="en-US" altLang="zh-TW" sz="2400" dirty="0"/>
              <a:t>IEEE TRANSACTIONS ON COMPUTATIONAL INTELLIGENCE AND AI IN GAMES, VOL. 4, NO. 1, MARCH 2012</a:t>
            </a:r>
            <a:endParaRPr lang="zh-TW" altLang="en-US" sz="2400" dirty="0"/>
          </a:p>
        </p:txBody>
      </p:sp>
    </p:spTree>
    <p:extLst>
      <p:ext uri="{BB962C8B-B14F-4D97-AF65-F5344CB8AC3E}">
        <p14:creationId xmlns:p14="http://schemas.microsoft.com/office/powerpoint/2010/main" val="2601768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C741B37-929F-4A16-98E0-CF0057ADE5BD}"/>
              </a:ext>
            </a:extLst>
          </p:cNvPr>
          <p:cNvSpPr/>
          <p:nvPr/>
        </p:nvSpPr>
        <p:spPr>
          <a:xfrm>
            <a:off x="0" y="382803"/>
            <a:ext cx="12230935" cy="5232202"/>
          </a:xfrm>
          <a:prstGeom prst="rect">
            <a:avLst/>
          </a:prstGeom>
        </p:spPr>
        <p:txBody>
          <a:bodyPr wrap="square">
            <a:spAutoFit/>
          </a:bodyPr>
          <a:lstStyle/>
          <a:p>
            <a:r>
              <a:rPr lang="zh-TW" altLang="en-US" sz="5400" dirty="0"/>
              <a:t>Abstract</a:t>
            </a:r>
            <a:r>
              <a:rPr lang="en-US" altLang="zh-TW" sz="5400" dirty="0"/>
              <a:t>(1/2) </a:t>
            </a:r>
          </a:p>
          <a:p>
            <a:endParaRPr lang="en-US" altLang="zh-TW" sz="3600" dirty="0"/>
          </a:p>
          <a:p>
            <a:r>
              <a:rPr lang="en-US" altLang="zh-TW" sz="4000" dirty="0"/>
              <a:t>Monte Carlo tree search (MCTS) is a recently proposed</a:t>
            </a:r>
          </a:p>
          <a:p>
            <a:r>
              <a:rPr lang="en-US" altLang="zh-TW" sz="4000" dirty="0"/>
              <a:t>search method that combines the precision of tree search with the generality of random sampling. </a:t>
            </a:r>
          </a:p>
          <a:p>
            <a:r>
              <a:rPr lang="en-US" altLang="zh-TW" sz="4000" dirty="0"/>
              <a:t>It has received considerable interest due to its spectacular success in the difficult problem of computer Go, </a:t>
            </a:r>
          </a:p>
          <a:p>
            <a:r>
              <a:rPr lang="en-US" altLang="zh-TW" sz="4000" dirty="0"/>
              <a:t>but has also proved beneficial in a range of other domains. </a:t>
            </a:r>
          </a:p>
        </p:txBody>
      </p:sp>
    </p:spTree>
    <p:extLst>
      <p:ext uri="{BB962C8B-B14F-4D97-AF65-F5344CB8AC3E}">
        <p14:creationId xmlns:p14="http://schemas.microsoft.com/office/powerpoint/2010/main" val="39812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D921DB7-10DD-4E80-A357-35944853BC31}"/>
              </a:ext>
            </a:extLst>
          </p:cNvPr>
          <p:cNvSpPr/>
          <p:nvPr/>
        </p:nvSpPr>
        <p:spPr>
          <a:xfrm>
            <a:off x="251923" y="197346"/>
            <a:ext cx="10349977" cy="6463308"/>
          </a:xfrm>
          <a:prstGeom prst="rect">
            <a:avLst/>
          </a:prstGeom>
        </p:spPr>
        <p:txBody>
          <a:bodyPr wrap="square">
            <a:spAutoFit/>
          </a:bodyPr>
          <a:lstStyle/>
          <a:p>
            <a:r>
              <a:rPr lang="zh-TW" altLang="en-US" sz="5400" dirty="0"/>
              <a:t>Abstract</a:t>
            </a:r>
            <a:r>
              <a:rPr lang="en-US" altLang="zh-TW" sz="5400" dirty="0"/>
              <a:t>(2/2)</a:t>
            </a:r>
          </a:p>
          <a:p>
            <a:r>
              <a:rPr lang="en-US" altLang="zh-TW" sz="3600" dirty="0"/>
              <a:t>This paper is a survey of the literature to date, intended to provide a snapshot of the state of the art after the first five years of</a:t>
            </a:r>
            <a:r>
              <a:rPr lang="zh-TW" altLang="en-US" sz="3600" dirty="0"/>
              <a:t>  </a:t>
            </a:r>
            <a:r>
              <a:rPr lang="en-US" altLang="zh-TW" sz="3600" dirty="0"/>
              <a:t>MCTS research. We outline the core algorithm’s derivation, impart some structure on the many variations and enhancements that have been proposed, and summarize the results from the key game and nongame domains to which MCTS methods have been applied. A number of open research questions indicate that the field is ripe for future work.</a:t>
            </a:r>
          </a:p>
        </p:txBody>
      </p:sp>
    </p:spTree>
    <p:extLst>
      <p:ext uri="{BB962C8B-B14F-4D97-AF65-F5344CB8AC3E}">
        <p14:creationId xmlns:p14="http://schemas.microsoft.com/office/powerpoint/2010/main" val="300997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extLst>
              <a:ext uri="{837473B0-CC2E-450A-ABE3-18F120FF3D39}">
                <a1611:picAttrSrcUrl xmlns:a1611="http://schemas.microsoft.com/office/drawing/2016/11/main" r:id="rId3"/>
              </a:ext>
            </a:extLst>
          </a:blip>
          <a:srcRect/>
          <a:stretch>
            <a:fillRect t="-22000" b="-22000"/>
          </a:stretch>
        </a:blip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7CFC41-0619-4F3F-B16F-ED7BD457A3D0}"/>
              </a:ext>
            </a:extLst>
          </p:cNvPr>
          <p:cNvSpPr>
            <a:spLocks noGrp="1"/>
          </p:cNvSpPr>
          <p:nvPr>
            <p:ph type="title"/>
          </p:nvPr>
        </p:nvSpPr>
        <p:spPr>
          <a:xfrm>
            <a:off x="1285461" y="2560637"/>
            <a:ext cx="10515600" cy="1325563"/>
          </a:xfrm>
        </p:spPr>
        <p:txBody>
          <a:bodyPr>
            <a:normAutofit fontScale="90000"/>
          </a:bodyPr>
          <a:lstStyle/>
          <a:p>
            <a:r>
              <a:rPr lang="en-US" altLang="zh-TW" dirty="0"/>
              <a:t>1940s, the USA want to know how the power of nuclear weapons could be.</a:t>
            </a:r>
            <a:br>
              <a:rPr lang="en-US" altLang="zh-TW" dirty="0"/>
            </a:br>
            <a:endParaRPr lang="zh-TW" altLang="en-US" dirty="0"/>
          </a:p>
        </p:txBody>
      </p:sp>
    </p:spTree>
    <p:extLst>
      <p:ext uri="{BB962C8B-B14F-4D97-AF65-F5344CB8AC3E}">
        <p14:creationId xmlns:p14="http://schemas.microsoft.com/office/powerpoint/2010/main" val="3794836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7421DD5D-6264-41B6-9F77-0A8D240CE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2716" y="2914160"/>
            <a:ext cx="2829320" cy="2724530"/>
          </a:xfrm>
          <a:prstGeom prst="rect">
            <a:avLst/>
          </a:prstGeom>
        </p:spPr>
      </p:pic>
      <p:sp>
        <p:nvSpPr>
          <p:cNvPr id="4" name="文字方塊 3">
            <a:extLst>
              <a:ext uri="{FF2B5EF4-FFF2-40B4-BE49-F238E27FC236}">
                <a16:creationId xmlns:a16="http://schemas.microsoft.com/office/drawing/2014/main" id="{6466E95A-4782-4246-B152-F162347222DD}"/>
              </a:ext>
            </a:extLst>
          </p:cNvPr>
          <p:cNvSpPr txBox="1"/>
          <p:nvPr/>
        </p:nvSpPr>
        <p:spPr>
          <a:xfrm>
            <a:off x="163995" y="447261"/>
            <a:ext cx="11956774" cy="707886"/>
          </a:xfrm>
          <a:prstGeom prst="rect">
            <a:avLst/>
          </a:prstGeom>
          <a:noFill/>
        </p:spPr>
        <p:txBody>
          <a:bodyPr wrap="square" rtlCol="0">
            <a:spAutoFit/>
          </a:bodyPr>
          <a:lstStyle/>
          <a:p>
            <a:r>
              <a:rPr lang="en-US" altLang="zh-TW" sz="4000" dirty="0"/>
              <a:t>The first Monte Carlo application is used in calculating pi.</a:t>
            </a:r>
            <a:endParaRPr lang="zh-TW" altLang="en-US" sz="4000" dirty="0"/>
          </a:p>
        </p:txBody>
      </p:sp>
      <p:pic>
        <p:nvPicPr>
          <p:cNvPr id="6" name="圖片 5">
            <a:extLst>
              <a:ext uri="{FF2B5EF4-FFF2-40B4-BE49-F238E27FC236}">
                <a16:creationId xmlns:a16="http://schemas.microsoft.com/office/drawing/2014/main" id="{8527AA35-461E-4FA5-88BB-18CCA63490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677" y="1786911"/>
            <a:ext cx="5363323" cy="4239217"/>
          </a:xfrm>
          <a:prstGeom prst="rect">
            <a:avLst/>
          </a:prstGeom>
        </p:spPr>
      </p:pic>
      <p:sp>
        <p:nvSpPr>
          <p:cNvPr id="7" name="文字方塊 6">
            <a:extLst>
              <a:ext uri="{FF2B5EF4-FFF2-40B4-BE49-F238E27FC236}">
                <a16:creationId xmlns:a16="http://schemas.microsoft.com/office/drawing/2014/main" id="{E5B65731-BCE1-4A8A-9835-0167216E39D2}"/>
              </a:ext>
            </a:extLst>
          </p:cNvPr>
          <p:cNvSpPr txBox="1"/>
          <p:nvPr/>
        </p:nvSpPr>
        <p:spPr>
          <a:xfrm>
            <a:off x="6739421" y="1912931"/>
            <a:ext cx="3570401" cy="461665"/>
          </a:xfrm>
          <a:prstGeom prst="rect">
            <a:avLst/>
          </a:prstGeom>
          <a:noFill/>
        </p:spPr>
        <p:txBody>
          <a:bodyPr wrap="none" rtlCol="0">
            <a:spAutoFit/>
          </a:bodyPr>
          <a:lstStyle/>
          <a:p>
            <a:r>
              <a:rPr lang="en-US" altLang="zh-TW" sz="2400" dirty="0"/>
              <a:t>white area/gray area = pi/4</a:t>
            </a:r>
          </a:p>
        </p:txBody>
      </p:sp>
    </p:spTree>
    <p:extLst>
      <p:ext uri="{BB962C8B-B14F-4D97-AF65-F5344CB8AC3E}">
        <p14:creationId xmlns:p14="http://schemas.microsoft.com/office/powerpoint/2010/main" val="3287917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02706128-1F7F-4C3D-9F4B-5D8DA752782B}"/>
              </a:ext>
            </a:extLst>
          </p:cNvPr>
          <p:cNvSpPr txBox="1"/>
          <p:nvPr/>
        </p:nvSpPr>
        <p:spPr>
          <a:xfrm>
            <a:off x="163995" y="447261"/>
            <a:ext cx="11956774" cy="707886"/>
          </a:xfrm>
          <a:prstGeom prst="rect">
            <a:avLst/>
          </a:prstGeom>
          <a:noFill/>
        </p:spPr>
        <p:txBody>
          <a:bodyPr wrap="square" rtlCol="0">
            <a:spAutoFit/>
          </a:bodyPr>
          <a:lstStyle/>
          <a:p>
            <a:r>
              <a:rPr lang="en-US" altLang="zh-TW" sz="4000" dirty="0"/>
              <a:t>The first Monte Carlo application is used in calculating Pi.</a:t>
            </a:r>
            <a:endParaRPr lang="zh-TW" altLang="en-US" sz="4000" dirty="0"/>
          </a:p>
        </p:txBody>
      </p:sp>
      <p:pic>
        <p:nvPicPr>
          <p:cNvPr id="3" name="圖片 2">
            <a:extLst>
              <a:ext uri="{FF2B5EF4-FFF2-40B4-BE49-F238E27FC236}">
                <a16:creationId xmlns:a16="http://schemas.microsoft.com/office/drawing/2014/main" id="{9E5901BB-BDAF-4DD1-8904-D3102B34DB58}"/>
              </a:ext>
            </a:extLst>
          </p:cNvPr>
          <p:cNvPicPr>
            <a:picLocks noChangeAspect="1"/>
          </p:cNvPicPr>
          <p:nvPr/>
        </p:nvPicPr>
        <p:blipFill rotWithShape="1">
          <a:blip r:embed="rId2">
            <a:extLst>
              <a:ext uri="{28A0092B-C50C-407E-A947-70E740481C1C}">
                <a14:useLocalDpi xmlns:a14="http://schemas.microsoft.com/office/drawing/2010/main" val="0"/>
              </a:ext>
            </a:extLst>
          </a:blip>
          <a:srcRect l="5072" t="6748" r="7833" b="9023"/>
          <a:stretch/>
        </p:blipFill>
        <p:spPr>
          <a:xfrm>
            <a:off x="59636" y="1948513"/>
            <a:ext cx="6036364" cy="4770339"/>
          </a:xfrm>
          <a:prstGeom prst="rect">
            <a:avLst/>
          </a:prstGeom>
        </p:spPr>
      </p:pic>
      <p:pic>
        <p:nvPicPr>
          <p:cNvPr id="4" name="圖片 3">
            <a:extLst>
              <a:ext uri="{FF2B5EF4-FFF2-40B4-BE49-F238E27FC236}">
                <a16:creationId xmlns:a16="http://schemas.microsoft.com/office/drawing/2014/main" id="{F1D7A989-4FA1-43BE-A754-36DD298A7BAE}"/>
              </a:ext>
            </a:extLst>
          </p:cNvPr>
          <p:cNvPicPr>
            <a:picLocks noChangeAspect="1"/>
          </p:cNvPicPr>
          <p:nvPr/>
        </p:nvPicPr>
        <p:blipFill rotWithShape="1">
          <a:blip r:embed="rId3">
            <a:extLst>
              <a:ext uri="{28A0092B-C50C-407E-A947-70E740481C1C}">
                <a14:useLocalDpi xmlns:a14="http://schemas.microsoft.com/office/drawing/2010/main" val="0"/>
              </a:ext>
            </a:extLst>
          </a:blip>
          <a:srcRect l="5770" t="12845" r="7023" b="7863"/>
          <a:stretch/>
        </p:blipFill>
        <p:spPr>
          <a:xfrm>
            <a:off x="6142382" y="1948512"/>
            <a:ext cx="5801794" cy="4770339"/>
          </a:xfrm>
          <a:prstGeom prst="rect">
            <a:avLst/>
          </a:prstGeom>
        </p:spPr>
      </p:pic>
      <p:sp>
        <p:nvSpPr>
          <p:cNvPr id="5" name="文字方塊 4">
            <a:extLst>
              <a:ext uri="{FF2B5EF4-FFF2-40B4-BE49-F238E27FC236}">
                <a16:creationId xmlns:a16="http://schemas.microsoft.com/office/drawing/2014/main" id="{8CBFBB1F-09EB-4B8E-82F0-8A60460D4661}"/>
              </a:ext>
            </a:extLst>
          </p:cNvPr>
          <p:cNvSpPr txBox="1"/>
          <p:nvPr/>
        </p:nvSpPr>
        <p:spPr>
          <a:xfrm>
            <a:off x="3274941" y="2117035"/>
            <a:ext cx="2922105" cy="369332"/>
          </a:xfrm>
          <a:prstGeom prst="rect">
            <a:avLst/>
          </a:prstGeom>
          <a:noFill/>
        </p:spPr>
        <p:txBody>
          <a:bodyPr wrap="square" rtlCol="0">
            <a:spAutoFit/>
          </a:bodyPr>
          <a:lstStyle/>
          <a:p>
            <a:r>
              <a:rPr lang="en-US" altLang="zh-TW" dirty="0"/>
              <a:t>Random numbers =10000</a:t>
            </a:r>
            <a:endParaRPr lang="zh-TW" altLang="en-US" dirty="0"/>
          </a:p>
        </p:txBody>
      </p:sp>
      <p:sp>
        <p:nvSpPr>
          <p:cNvPr id="7" name="文字方塊 6">
            <a:extLst>
              <a:ext uri="{FF2B5EF4-FFF2-40B4-BE49-F238E27FC236}">
                <a16:creationId xmlns:a16="http://schemas.microsoft.com/office/drawing/2014/main" id="{CE083EE4-6C91-4624-83BD-BFD39763F874}"/>
              </a:ext>
            </a:extLst>
          </p:cNvPr>
          <p:cNvSpPr txBox="1"/>
          <p:nvPr/>
        </p:nvSpPr>
        <p:spPr>
          <a:xfrm>
            <a:off x="9068453" y="2025999"/>
            <a:ext cx="2922105" cy="369332"/>
          </a:xfrm>
          <a:prstGeom prst="rect">
            <a:avLst/>
          </a:prstGeom>
          <a:noFill/>
        </p:spPr>
        <p:txBody>
          <a:bodyPr wrap="square" rtlCol="0">
            <a:spAutoFit/>
          </a:bodyPr>
          <a:lstStyle/>
          <a:p>
            <a:r>
              <a:rPr lang="en-US" altLang="zh-TW" dirty="0"/>
              <a:t>Random numbers =100000</a:t>
            </a:r>
            <a:endParaRPr lang="zh-TW" altLang="en-US" dirty="0"/>
          </a:p>
        </p:txBody>
      </p:sp>
    </p:spTree>
    <p:extLst>
      <p:ext uri="{BB962C8B-B14F-4D97-AF65-F5344CB8AC3E}">
        <p14:creationId xmlns:p14="http://schemas.microsoft.com/office/powerpoint/2010/main" val="4292732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FCAC28A-E8B5-4026-8E84-78C22C7F6235}"/>
              </a:ext>
            </a:extLst>
          </p:cNvPr>
          <p:cNvSpPr/>
          <p:nvPr/>
        </p:nvSpPr>
        <p:spPr>
          <a:xfrm>
            <a:off x="2228215" y="1303199"/>
            <a:ext cx="8329915" cy="3785652"/>
          </a:xfrm>
          <a:prstGeom prst="rect">
            <a:avLst/>
          </a:prstGeom>
        </p:spPr>
        <p:txBody>
          <a:bodyPr wrap="square">
            <a:spAutoFit/>
          </a:bodyPr>
          <a:lstStyle/>
          <a:p>
            <a:pPr algn="ctr"/>
            <a:r>
              <a:rPr lang="en-US" altLang="zh-TW" sz="4800" dirty="0">
                <a:solidFill>
                  <a:srgbClr val="333333"/>
                </a:solidFill>
                <a:latin typeface="PingFang SC"/>
              </a:rPr>
              <a:t>Monte Carlo Approach</a:t>
            </a:r>
          </a:p>
          <a:p>
            <a:pPr algn="ctr"/>
            <a:endParaRPr lang="en-US" altLang="zh-TW" sz="4800" dirty="0">
              <a:solidFill>
                <a:srgbClr val="333333"/>
              </a:solidFill>
              <a:latin typeface="PingFang SC"/>
            </a:endParaRPr>
          </a:p>
          <a:p>
            <a:pPr algn="ctr"/>
            <a:r>
              <a:rPr lang="en-US" altLang="zh-TW" sz="4800" dirty="0">
                <a:solidFill>
                  <a:srgbClr val="333333"/>
                </a:solidFill>
                <a:latin typeface="PingFang SC"/>
              </a:rPr>
              <a:t>and</a:t>
            </a:r>
          </a:p>
          <a:p>
            <a:pPr algn="ctr"/>
            <a:endParaRPr lang="en-US" altLang="zh-TW" sz="4800" dirty="0">
              <a:solidFill>
                <a:srgbClr val="333333"/>
              </a:solidFill>
              <a:latin typeface="PingFang SC"/>
            </a:endParaRPr>
          </a:p>
          <a:p>
            <a:pPr algn="ctr"/>
            <a:r>
              <a:rPr lang="en-US" altLang="zh-TW" sz="4800" dirty="0">
                <a:solidFill>
                  <a:srgbClr val="333333"/>
                </a:solidFill>
                <a:latin typeface="PingFang SC"/>
              </a:rPr>
              <a:t>Monte Carlo Search Tree(MCTS)</a:t>
            </a:r>
            <a:endParaRPr lang="zh-TW" altLang="en-US" sz="4800" dirty="0"/>
          </a:p>
        </p:txBody>
      </p:sp>
    </p:spTree>
    <p:extLst>
      <p:ext uri="{BB962C8B-B14F-4D97-AF65-F5344CB8AC3E}">
        <p14:creationId xmlns:p14="http://schemas.microsoft.com/office/powerpoint/2010/main" val="4009611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445AF3A2-FD7F-4D57-9F62-CDA2B5CF7D0F}"/>
              </a:ext>
            </a:extLst>
          </p:cNvPr>
          <p:cNvSpPr txBox="1"/>
          <p:nvPr/>
        </p:nvSpPr>
        <p:spPr>
          <a:xfrm>
            <a:off x="551565" y="669851"/>
            <a:ext cx="11088869" cy="5139869"/>
          </a:xfrm>
          <a:prstGeom prst="rect">
            <a:avLst/>
          </a:prstGeom>
          <a:noFill/>
        </p:spPr>
        <p:txBody>
          <a:bodyPr wrap="none" rtlCol="0">
            <a:spAutoFit/>
          </a:bodyPr>
          <a:lstStyle/>
          <a:p>
            <a:pPr algn="ctr"/>
            <a:r>
              <a:rPr lang="en-US" altLang="zh-TW" sz="6000" dirty="0"/>
              <a:t>Why use Monte Carlo Search Tree?</a:t>
            </a:r>
          </a:p>
          <a:p>
            <a:pPr algn="ctr"/>
            <a:endParaRPr lang="en-US" altLang="zh-TW" sz="4800" dirty="0"/>
          </a:p>
          <a:p>
            <a:pPr algn="ctr"/>
            <a:endParaRPr lang="en-US" altLang="zh-TW" sz="2000" dirty="0"/>
          </a:p>
          <a:p>
            <a:pPr algn="ctr"/>
            <a:r>
              <a:rPr lang="en-US" altLang="zh-TW" sz="4400" dirty="0"/>
              <a:t>Reinforcement </a:t>
            </a:r>
            <a:r>
              <a:rPr lang="en-US" altLang="zh-TW" sz="4400" dirty="0">
                <a:solidFill>
                  <a:srgbClr val="FF0000"/>
                </a:solidFill>
              </a:rPr>
              <a:t>with</a:t>
            </a:r>
            <a:r>
              <a:rPr lang="en-US" altLang="zh-TW" sz="4400" dirty="0"/>
              <a:t> MCTS </a:t>
            </a:r>
          </a:p>
          <a:p>
            <a:pPr algn="ctr"/>
            <a:endParaRPr lang="en-US" altLang="zh-TW" sz="2800" dirty="0"/>
          </a:p>
          <a:p>
            <a:pPr algn="ctr"/>
            <a:r>
              <a:rPr lang="en-US" altLang="zh-TW" sz="4400" dirty="0"/>
              <a:t>and </a:t>
            </a:r>
          </a:p>
          <a:p>
            <a:pPr algn="ctr"/>
            <a:endParaRPr lang="en-US" altLang="zh-TW" sz="2800" dirty="0"/>
          </a:p>
          <a:p>
            <a:pPr algn="ctr"/>
            <a:r>
              <a:rPr lang="en-US" altLang="zh-TW" sz="4400" dirty="0"/>
              <a:t>Reinforcement </a:t>
            </a:r>
            <a:r>
              <a:rPr lang="en-US" altLang="zh-TW" sz="4400" dirty="0">
                <a:solidFill>
                  <a:srgbClr val="FF0000"/>
                </a:solidFill>
              </a:rPr>
              <a:t>without</a:t>
            </a:r>
            <a:r>
              <a:rPr lang="en-US" altLang="zh-TW" sz="4400" dirty="0"/>
              <a:t> MCTS</a:t>
            </a:r>
            <a:endParaRPr lang="zh-TW" altLang="en-US" sz="4400" dirty="0"/>
          </a:p>
        </p:txBody>
      </p:sp>
    </p:spTree>
    <p:extLst>
      <p:ext uri="{BB962C8B-B14F-4D97-AF65-F5344CB8AC3E}">
        <p14:creationId xmlns:p14="http://schemas.microsoft.com/office/powerpoint/2010/main" val="1366106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39398E54-87E6-4282-BED7-7812FDAA26C5}"/>
              </a:ext>
            </a:extLst>
          </p:cNvPr>
          <p:cNvSpPr txBox="1"/>
          <p:nvPr/>
        </p:nvSpPr>
        <p:spPr>
          <a:xfrm>
            <a:off x="1265273" y="737904"/>
            <a:ext cx="8941981" cy="2492990"/>
          </a:xfrm>
          <a:prstGeom prst="rect">
            <a:avLst/>
          </a:prstGeom>
          <a:noFill/>
        </p:spPr>
        <p:txBody>
          <a:bodyPr wrap="square" rtlCol="0">
            <a:spAutoFit/>
          </a:bodyPr>
          <a:lstStyle/>
          <a:p>
            <a:pPr algn="ctr"/>
            <a:r>
              <a:rPr lang="en-US" altLang="zh-TW" sz="6000" dirty="0"/>
              <a:t>Reinforcement:</a:t>
            </a:r>
          </a:p>
          <a:p>
            <a:pPr algn="ctr"/>
            <a:r>
              <a:rPr lang="en-US" altLang="zh-TW" sz="4800" dirty="0"/>
              <a:t>State</a:t>
            </a:r>
            <a:r>
              <a:rPr lang="zh-TW" altLang="en-US" sz="4800" dirty="0"/>
              <a:t>、</a:t>
            </a:r>
            <a:r>
              <a:rPr lang="en-US" altLang="zh-TW" sz="4800" dirty="0"/>
              <a:t>Action</a:t>
            </a:r>
            <a:r>
              <a:rPr lang="zh-TW" altLang="en-US" sz="4800" dirty="0"/>
              <a:t>、</a:t>
            </a:r>
            <a:r>
              <a:rPr lang="en-US" altLang="zh-TW" sz="4800" dirty="0"/>
              <a:t>Q-value</a:t>
            </a:r>
            <a:r>
              <a:rPr lang="zh-TW" altLang="en-US" sz="4800" dirty="0"/>
              <a:t>、</a:t>
            </a:r>
            <a:r>
              <a:rPr lang="en-US" altLang="zh-TW" sz="4800" dirty="0"/>
              <a:t>Reward</a:t>
            </a:r>
          </a:p>
          <a:p>
            <a:pPr algn="ctr"/>
            <a:endParaRPr lang="zh-TW" altLang="en-US" sz="4800" dirty="0"/>
          </a:p>
        </p:txBody>
      </p:sp>
      <p:sp>
        <p:nvSpPr>
          <p:cNvPr id="3" name="文字方塊 2">
            <a:extLst>
              <a:ext uri="{FF2B5EF4-FFF2-40B4-BE49-F238E27FC236}">
                <a16:creationId xmlns:a16="http://schemas.microsoft.com/office/drawing/2014/main" id="{3247C7E8-D9CF-4752-8FDF-CFD3B6F2780C}"/>
              </a:ext>
            </a:extLst>
          </p:cNvPr>
          <p:cNvSpPr txBox="1"/>
          <p:nvPr/>
        </p:nvSpPr>
        <p:spPr>
          <a:xfrm>
            <a:off x="120677" y="3753294"/>
            <a:ext cx="11382282" cy="1754326"/>
          </a:xfrm>
          <a:prstGeom prst="rect">
            <a:avLst/>
          </a:prstGeom>
          <a:noFill/>
        </p:spPr>
        <p:txBody>
          <a:bodyPr wrap="none" rtlCol="0">
            <a:spAutoFit/>
          </a:bodyPr>
          <a:lstStyle/>
          <a:p>
            <a:pPr algn="ctr"/>
            <a:r>
              <a:rPr lang="en-US" altLang="zh-TW" sz="6000" dirty="0"/>
              <a:t>Monte Carlo Search Tree:</a:t>
            </a:r>
          </a:p>
          <a:p>
            <a:pPr algn="ctr"/>
            <a:r>
              <a:rPr lang="en-US" altLang="zh-TW" sz="4800" dirty="0"/>
              <a:t>Two strategy: tree strategy + rollout strategy </a:t>
            </a:r>
            <a:endParaRPr lang="zh-TW" altLang="en-US" sz="4800" dirty="0"/>
          </a:p>
        </p:txBody>
      </p:sp>
    </p:spTree>
    <p:extLst>
      <p:ext uri="{BB962C8B-B14F-4D97-AF65-F5344CB8AC3E}">
        <p14:creationId xmlns:p14="http://schemas.microsoft.com/office/powerpoint/2010/main" val="1356863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CCEB687A-CF0C-4992-8EDE-F3351FC33232}"/>
              </a:ext>
            </a:extLst>
          </p:cNvPr>
          <p:cNvPicPr>
            <a:picLocks noChangeAspect="1"/>
          </p:cNvPicPr>
          <p:nvPr/>
        </p:nvPicPr>
        <p:blipFill>
          <a:blip r:embed="rId2"/>
          <a:stretch>
            <a:fillRect/>
          </a:stretch>
        </p:blipFill>
        <p:spPr>
          <a:xfrm>
            <a:off x="1466850" y="1581150"/>
            <a:ext cx="9258300" cy="3695700"/>
          </a:xfrm>
          <a:prstGeom prst="rect">
            <a:avLst/>
          </a:prstGeom>
        </p:spPr>
      </p:pic>
      <p:sp>
        <p:nvSpPr>
          <p:cNvPr id="3" name="文字方塊 2">
            <a:extLst>
              <a:ext uri="{FF2B5EF4-FFF2-40B4-BE49-F238E27FC236}">
                <a16:creationId xmlns:a16="http://schemas.microsoft.com/office/drawing/2014/main" id="{8D6E1AC8-2CF2-49ED-995A-64898F4E7446}"/>
              </a:ext>
            </a:extLst>
          </p:cNvPr>
          <p:cNvSpPr txBox="1"/>
          <p:nvPr/>
        </p:nvSpPr>
        <p:spPr>
          <a:xfrm>
            <a:off x="1147873" y="478466"/>
            <a:ext cx="3871124" cy="830997"/>
          </a:xfrm>
          <a:prstGeom prst="rect">
            <a:avLst/>
          </a:prstGeom>
          <a:noFill/>
        </p:spPr>
        <p:txBody>
          <a:bodyPr wrap="none" rtlCol="0">
            <a:spAutoFit/>
          </a:bodyPr>
          <a:lstStyle/>
          <a:p>
            <a:r>
              <a:rPr lang="en-US" altLang="zh-TW" sz="4800" dirty="0"/>
              <a:t>Reinforcement</a:t>
            </a:r>
            <a:endParaRPr lang="zh-TW" altLang="en-US" sz="4800" dirty="0"/>
          </a:p>
        </p:txBody>
      </p:sp>
    </p:spTree>
    <p:extLst>
      <p:ext uri="{BB962C8B-B14F-4D97-AF65-F5344CB8AC3E}">
        <p14:creationId xmlns:p14="http://schemas.microsoft.com/office/powerpoint/2010/main" val="84714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FF768A4-468E-4FAF-9D86-72A79D12939E}"/>
              </a:ext>
            </a:extLst>
          </p:cNvPr>
          <p:cNvPicPr>
            <a:picLocks noChangeAspect="1"/>
          </p:cNvPicPr>
          <p:nvPr/>
        </p:nvPicPr>
        <p:blipFill rotWithShape="1">
          <a:blip r:embed="rId2"/>
          <a:srcRect t="6618" r="27405"/>
          <a:stretch/>
        </p:blipFill>
        <p:spPr>
          <a:xfrm>
            <a:off x="1846299" y="1178810"/>
            <a:ext cx="7627310" cy="5463434"/>
          </a:xfrm>
          <a:prstGeom prst="rect">
            <a:avLst/>
          </a:prstGeom>
        </p:spPr>
      </p:pic>
      <p:sp>
        <p:nvSpPr>
          <p:cNvPr id="3" name="文字方塊 2">
            <a:extLst>
              <a:ext uri="{FF2B5EF4-FFF2-40B4-BE49-F238E27FC236}">
                <a16:creationId xmlns:a16="http://schemas.microsoft.com/office/drawing/2014/main" id="{F38BA508-2B2F-41A1-96A0-603FFA499CF7}"/>
              </a:ext>
            </a:extLst>
          </p:cNvPr>
          <p:cNvSpPr txBox="1"/>
          <p:nvPr/>
        </p:nvSpPr>
        <p:spPr>
          <a:xfrm>
            <a:off x="1201036" y="467833"/>
            <a:ext cx="7666201" cy="830997"/>
          </a:xfrm>
          <a:prstGeom prst="rect">
            <a:avLst/>
          </a:prstGeom>
          <a:noFill/>
        </p:spPr>
        <p:txBody>
          <a:bodyPr wrap="none" rtlCol="0">
            <a:spAutoFit/>
          </a:bodyPr>
          <a:lstStyle/>
          <a:p>
            <a:r>
              <a:rPr lang="en-US" altLang="zh-TW" sz="4800" dirty="0"/>
              <a:t>Reward of reinforcement(1/5)</a:t>
            </a:r>
            <a:endParaRPr lang="zh-TW" altLang="en-US" sz="4800" dirty="0"/>
          </a:p>
        </p:txBody>
      </p:sp>
    </p:spTree>
    <p:extLst>
      <p:ext uri="{BB962C8B-B14F-4D97-AF65-F5344CB8AC3E}">
        <p14:creationId xmlns:p14="http://schemas.microsoft.com/office/powerpoint/2010/main" val="209202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CE9C0F1C-350D-4C31-9AAB-4E73C6E237F4}"/>
              </a:ext>
            </a:extLst>
          </p:cNvPr>
          <p:cNvPicPr>
            <a:picLocks noChangeAspect="1"/>
          </p:cNvPicPr>
          <p:nvPr/>
        </p:nvPicPr>
        <p:blipFill>
          <a:blip r:embed="rId2"/>
          <a:stretch>
            <a:fillRect/>
          </a:stretch>
        </p:blipFill>
        <p:spPr>
          <a:xfrm>
            <a:off x="2115879" y="1427337"/>
            <a:ext cx="7319187" cy="4962830"/>
          </a:xfrm>
          <a:prstGeom prst="rect">
            <a:avLst/>
          </a:prstGeom>
        </p:spPr>
      </p:pic>
      <p:sp>
        <p:nvSpPr>
          <p:cNvPr id="3" name="文字方塊 2">
            <a:extLst>
              <a:ext uri="{FF2B5EF4-FFF2-40B4-BE49-F238E27FC236}">
                <a16:creationId xmlns:a16="http://schemas.microsoft.com/office/drawing/2014/main" id="{AB91A0C9-8017-4A83-A2ED-823F83416BD3}"/>
              </a:ext>
            </a:extLst>
          </p:cNvPr>
          <p:cNvSpPr txBox="1"/>
          <p:nvPr/>
        </p:nvSpPr>
        <p:spPr>
          <a:xfrm>
            <a:off x="1201036" y="467833"/>
            <a:ext cx="7666201" cy="830997"/>
          </a:xfrm>
          <a:prstGeom prst="rect">
            <a:avLst/>
          </a:prstGeom>
          <a:noFill/>
        </p:spPr>
        <p:txBody>
          <a:bodyPr wrap="none" rtlCol="0">
            <a:spAutoFit/>
          </a:bodyPr>
          <a:lstStyle/>
          <a:p>
            <a:r>
              <a:rPr lang="en-US" altLang="zh-TW" sz="4800" dirty="0"/>
              <a:t>Reward of reinforcement(2/5)</a:t>
            </a:r>
            <a:endParaRPr lang="zh-TW" altLang="en-US" sz="4800" dirty="0"/>
          </a:p>
        </p:txBody>
      </p:sp>
    </p:spTree>
    <p:extLst>
      <p:ext uri="{BB962C8B-B14F-4D97-AF65-F5344CB8AC3E}">
        <p14:creationId xmlns:p14="http://schemas.microsoft.com/office/powerpoint/2010/main" val="3045077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DB172BD-CB00-40FE-AAF9-6B3A05EF28A4}"/>
              </a:ext>
            </a:extLst>
          </p:cNvPr>
          <p:cNvPicPr>
            <a:picLocks noChangeAspect="1"/>
          </p:cNvPicPr>
          <p:nvPr/>
        </p:nvPicPr>
        <p:blipFill>
          <a:blip r:embed="rId2"/>
          <a:stretch>
            <a:fillRect/>
          </a:stretch>
        </p:blipFill>
        <p:spPr>
          <a:xfrm>
            <a:off x="2263279" y="1476263"/>
            <a:ext cx="7665441" cy="5169085"/>
          </a:xfrm>
          <a:prstGeom prst="rect">
            <a:avLst/>
          </a:prstGeom>
        </p:spPr>
      </p:pic>
      <p:sp>
        <p:nvSpPr>
          <p:cNvPr id="3" name="文字方塊 2">
            <a:extLst>
              <a:ext uri="{FF2B5EF4-FFF2-40B4-BE49-F238E27FC236}">
                <a16:creationId xmlns:a16="http://schemas.microsoft.com/office/drawing/2014/main" id="{908B6963-39C9-4A40-B9FA-2EF2BD644759}"/>
              </a:ext>
            </a:extLst>
          </p:cNvPr>
          <p:cNvSpPr txBox="1"/>
          <p:nvPr/>
        </p:nvSpPr>
        <p:spPr>
          <a:xfrm>
            <a:off x="1201036" y="467833"/>
            <a:ext cx="7666201" cy="830997"/>
          </a:xfrm>
          <a:prstGeom prst="rect">
            <a:avLst/>
          </a:prstGeom>
          <a:noFill/>
        </p:spPr>
        <p:txBody>
          <a:bodyPr wrap="none" rtlCol="0">
            <a:spAutoFit/>
          </a:bodyPr>
          <a:lstStyle/>
          <a:p>
            <a:r>
              <a:rPr lang="en-US" altLang="zh-TW" sz="4800" dirty="0"/>
              <a:t>Reward of reinforcement(3/5)</a:t>
            </a:r>
            <a:endParaRPr lang="zh-TW" altLang="en-US" sz="4800" dirty="0"/>
          </a:p>
        </p:txBody>
      </p:sp>
    </p:spTree>
    <p:extLst>
      <p:ext uri="{BB962C8B-B14F-4D97-AF65-F5344CB8AC3E}">
        <p14:creationId xmlns:p14="http://schemas.microsoft.com/office/powerpoint/2010/main" val="680565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50186288-A10D-40A3-AE1B-266140CF6ECB}"/>
              </a:ext>
            </a:extLst>
          </p:cNvPr>
          <p:cNvPicPr>
            <a:picLocks noChangeAspect="1"/>
          </p:cNvPicPr>
          <p:nvPr/>
        </p:nvPicPr>
        <p:blipFill>
          <a:blip r:embed="rId2"/>
          <a:stretch>
            <a:fillRect/>
          </a:stretch>
        </p:blipFill>
        <p:spPr>
          <a:xfrm>
            <a:off x="2157372" y="1298830"/>
            <a:ext cx="8205496" cy="5452066"/>
          </a:xfrm>
          <a:prstGeom prst="rect">
            <a:avLst/>
          </a:prstGeom>
        </p:spPr>
      </p:pic>
      <p:sp>
        <p:nvSpPr>
          <p:cNvPr id="3" name="文字方塊 2">
            <a:extLst>
              <a:ext uri="{FF2B5EF4-FFF2-40B4-BE49-F238E27FC236}">
                <a16:creationId xmlns:a16="http://schemas.microsoft.com/office/drawing/2014/main" id="{004E4B59-D055-41A8-9D21-9773CF63044B}"/>
              </a:ext>
            </a:extLst>
          </p:cNvPr>
          <p:cNvSpPr txBox="1"/>
          <p:nvPr/>
        </p:nvSpPr>
        <p:spPr>
          <a:xfrm>
            <a:off x="1201036" y="467833"/>
            <a:ext cx="7666201" cy="830997"/>
          </a:xfrm>
          <a:prstGeom prst="rect">
            <a:avLst/>
          </a:prstGeom>
          <a:noFill/>
        </p:spPr>
        <p:txBody>
          <a:bodyPr wrap="none" rtlCol="0">
            <a:spAutoFit/>
          </a:bodyPr>
          <a:lstStyle/>
          <a:p>
            <a:r>
              <a:rPr lang="en-US" altLang="zh-TW" sz="4800" dirty="0"/>
              <a:t>Reward of reinforcement(4/5)</a:t>
            </a:r>
            <a:endParaRPr lang="zh-TW" altLang="en-US" sz="4800" dirty="0"/>
          </a:p>
        </p:txBody>
      </p:sp>
    </p:spTree>
    <p:extLst>
      <p:ext uri="{BB962C8B-B14F-4D97-AF65-F5344CB8AC3E}">
        <p14:creationId xmlns:p14="http://schemas.microsoft.com/office/powerpoint/2010/main" val="1800407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A4F25213-7FE5-4974-8E9F-8524DF31DBA1}"/>
              </a:ext>
            </a:extLst>
          </p:cNvPr>
          <p:cNvPicPr>
            <a:picLocks noChangeAspect="1"/>
          </p:cNvPicPr>
          <p:nvPr/>
        </p:nvPicPr>
        <p:blipFill rotWithShape="1">
          <a:blip r:embed="rId2"/>
          <a:srcRect t="1177"/>
          <a:stretch/>
        </p:blipFill>
        <p:spPr>
          <a:xfrm>
            <a:off x="339909" y="1541721"/>
            <a:ext cx="11557752" cy="4987222"/>
          </a:xfrm>
          <a:prstGeom prst="rect">
            <a:avLst/>
          </a:prstGeom>
        </p:spPr>
      </p:pic>
      <p:sp>
        <p:nvSpPr>
          <p:cNvPr id="3" name="文字方塊 2">
            <a:extLst>
              <a:ext uri="{FF2B5EF4-FFF2-40B4-BE49-F238E27FC236}">
                <a16:creationId xmlns:a16="http://schemas.microsoft.com/office/drawing/2014/main" id="{5F63B403-601B-412E-ABE7-B09CF7357FA2}"/>
              </a:ext>
            </a:extLst>
          </p:cNvPr>
          <p:cNvSpPr txBox="1"/>
          <p:nvPr/>
        </p:nvSpPr>
        <p:spPr>
          <a:xfrm>
            <a:off x="1201036" y="467833"/>
            <a:ext cx="7666201" cy="830997"/>
          </a:xfrm>
          <a:prstGeom prst="rect">
            <a:avLst/>
          </a:prstGeom>
          <a:noFill/>
        </p:spPr>
        <p:txBody>
          <a:bodyPr wrap="none" rtlCol="0">
            <a:spAutoFit/>
          </a:bodyPr>
          <a:lstStyle/>
          <a:p>
            <a:r>
              <a:rPr lang="en-US" altLang="zh-TW" sz="4800" dirty="0"/>
              <a:t>Reward of reinforcement(5/5)</a:t>
            </a:r>
            <a:endParaRPr lang="zh-TW" altLang="en-US" sz="4800" dirty="0"/>
          </a:p>
        </p:txBody>
      </p:sp>
    </p:spTree>
    <p:extLst>
      <p:ext uri="{BB962C8B-B14F-4D97-AF65-F5344CB8AC3E}">
        <p14:creationId xmlns:p14="http://schemas.microsoft.com/office/powerpoint/2010/main" val="98676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36BD69A1-7BAC-4473-A48E-70EBD3D91FEA}"/>
              </a:ext>
            </a:extLst>
          </p:cNvPr>
          <p:cNvPicPr>
            <a:picLocks noChangeAspect="1"/>
          </p:cNvPicPr>
          <p:nvPr/>
        </p:nvPicPr>
        <p:blipFill>
          <a:blip r:embed="rId2"/>
          <a:stretch>
            <a:fillRect/>
          </a:stretch>
        </p:blipFill>
        <p:spPr>
          <a:xfrm>
            <a:off x="671512" y="823912"/>
            <a:ext cx="10848975" cy="5210175"/>
          </a:xfrm>
          <a:prstGeom prst="rect">
            <a:avLst/>
          </a:prstGeom>
        </p:spPr>
      </p:pic>
    </p:spTree>
    <p:extLst>
      <p:ext uri="{BB962C8B-B14F-4D97-AF65-F5344CB8AC3E}">
        <p14:creationId xmlns:p14="http://schemas.microsoft.com/office/powerpoint/2010/main" val="2592564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514F5074-45C5-42D5-BBD1-E9EC28ADD7C6}"/>
              </a:ext>
            </a:extLst>
          </p:cNvPr>
          <p:cNvPicPr>
            <a:picLocks noChangeAspect="1"/>
          </p:cNvPicPr>
          <p:nvPr/>
        </p:nvPicPr>
        <p:blipFill>
          <a:blip r:embed="rId2"/>
          <a:stretch>
            <a:fillRect/>
          </a:stretch>
        </p:blipFill>
        <p:spPr>
          <a:xfrm>
            <a:off x="709612" y="166687"/>
            <a:ext cx="10772775" cy="6524625"/>
          </a:xfrm>
          <a:prstGeom prst="rect">
            <a:avLst/>
          </a:prstGeom>
        </p:spPr>
      </p:pic>
    </p:spTree>
    <p:extLst>
      <p:ext uri="{BB962C8B-B14F-4D97-AF65-F5344CB8AC3E}">
        <p14:creationId xmlns:p14="http://schemas.microsoft.com/office/powerpoint/2010/main" val="3515756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115C99B8-B456-4342-A0C3-83F4ABBD813C}"/>
              </a:ext>
            </a:extLst>
          </p:cNvPr>
          <p:cNvPicPr>
            <a:picLocks noChangeAspect="1"/>
          </p:cNvPicPr>
          <p:nvPr/>
        </p:nvPicPr>
        <p:blipFill>
          <a:blip r:embed="rId2"/>
          <a:stretch>
            <a:fillRect/>
          </a:stretch>
        </p:blipFill>
        <p:spPr>
          <a:xfrm>
            <a:off x="633412" y="185737"/>
            <a:ext cx="10925175" cy="6486525"/>
          </a:xfrm>
          <a:prstGeom prst="rect">
            <a:avLst/>
          </a:prstGeom>
        </p:spPr>
      </p:pic>
    </p:spTree>
    <p:extLst>
      <p:ext uri="{BB962C8B-B14F-4D97-AF65-F5344CB8AC3E}">
        <p14:creationId xmlns:p14="http://schemas.microsoft.com/office/powerpoint/2010/main" val="3105872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F75A72A5-7FAB-4999-B855-5D4479904154}"/>
              </a:ext>
            </a:extLst>
          </p:cNvPr>
          <p:cNvPicPr>
            <a:picLocks noChangeAspect="1"/>
          </p:cNvPicPr>
          <p:nvPr/>
        </p:nvPicPr>
        <p:blipFill>
          <a:blip r:embed="rId2"/>
          <a:stretch>
            <a:fillRect/>
          </a:stretch>
        </p:blipFill>
        <p:spPr>
          <a:xfrm>
            <a:off x="647700" y="190500"/>
            <a:ext cx="10896600" cy="6477000"/>
          </a:xfrm>
          <a:prstGeom prst="rect">
            <a:avLst/>
          </a:prstGeom>
        </p:spPr>
      </p:pic>
    </p:spTree>
    <p:extLst>
      <p:ext uri="{BB962C8B-B14F-4D97-AF65-F5344CB8AC3E}">
        <p14:creationId xmlns:p14="http://schemas.microsoft.com/office/powerpoint/2010/main" val="1751932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A82E120-2139-4B64-8095-312049E4F2CB}"/>
              </a:ext>
            </a:extLst>
          </p:cNvPr>
          <p:cNvPicPr>
            <a:picLocks noChangeAspect="1"/>
          </p:cNvPicPr>
          <p:nvPr/>
        </p:nvPicPr>
        <p:blipFill>
          <a:blip r:embed="rId2"/>
          <a:stretch>
            <a:fillRect/>
          </a:stretch>
        </p:blipFill>
        <p:spPr>
          <a:xfrm>
            <a:off x="638175" y="228600"/>
            <a:ext cx="10915650" cy="6400800"/>
          </a:xfrm>
          <a:prstGeom prst="rect">
            <a:avLst/>
          </a:prstGeom>
        </p:spPr>
      </p:pic>
    </p:spTree>
    <p:extLst>
      <p:ext uri="{BB962C8B-B14F-4D97-AF65-F5344CB8AC3E}">
        <p14:creationId xmlns:p14="http://schemas.microsoft.com/office/powerpoint/2010/main" val="2837148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2D863BE2-AC22-49A6-9CD8-34C6D4348BD8}"/>
              </a:ext>
            </a:extLst>
          </p:cNvPr>
          <p:cNvPicPr>
            <a:picLocks noChangeAspect="1"/>
          </p:cNvPicPr>
          <p:nvPr/>
        </p:nvPicPr>
        <p:blipFill>
          <a:blip r:embed="rId2"/>
          <a:stretch>
            <a:fillRect/>
          </a:stretch>
        </p:blipFill>
        <p:spPr>
          <a:xfrm>
            <a:off x="685800" y="0"/>
            <a:ext cx="10820400" cy="6858000"/>
          </a:xfrm>
          <a:prstGeom prst="rect">
            <a:avLst/>
          </a:prstGeom>
        </p:spPr>
      </p:pic>
    </p:spTree>
    <p:extLst>
      <p:ext uri="{BB962C8B-B14F-4D97-AF65-F5344CB8AC3E}">
        <p14:creationId xmlns:p14="http://schemas.microsoft.com/office/powerpoint/2010/main" val="3207388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CF84907E-245F-4E4A-A82F-DDFC98F93761}"/>
              </a:ext>
            </a:extLst>
          </p:cNvPr>
          <p:cNvSpPr txBox="1"/>
          <p:nvPr/>
        </p:nvSpPr>
        <p:spPr>
          <a:xfrm>
            <a:off x="3156043" y="1151729"/>
            <a:ext cx="6052491" cy="4278094"/>
          </a:xfrm>
          <a:prstGeom prst="rect">
            <a:avLst/>
          </a:prstGeom>
          <a:noFill/>
        </p:spPr>
        <p:txBody>
          <a:bodyPr wrap="none" rtlCol="0">
            <a:spAutoFit/>
          </a:bodyPr>
          <a:lstStyle/>
          <a:p>
            <a:pPr algn="ctr"/>
            <a:r>
              <a:rPr lang="en-US" altLang="zh-TW" sz="6000" dirty="0"/>
              <a:t>One player game</a:t>
            </a:r>
          </a:p>
          <a:p>
            <a:pPr algn="ctr"/>
            <a:endParaRPr lang="en-US" altLang="zh-TW" sz="4400" dirty="0"/>
          </a:p>
          <a:p>
            <a:pPr algn="ctr"/>
            <a:r>
              <a:rPr lang="en-US" altLang="zh-TW" sz="6000" dirty="0"/>
              <a:t>and</a:t>
            </a:r>
          </a:p>
          <a:p>
            <a:pPr algn="ctr"/>
            <a:endParaRPr lang="en-US" altLang="zh-TW" sz="4000" dirty="0"/>
          </a:p>
          <a:p>
            <a:pPr algn="ctr"/>
            <a:r>
              <a:rPr lang="en-US" altLang="zh-TW" sz="6000" dirty="0"/>
              <a:t>Two players games</a:t>
            </a:r>
            <a:endParaRPr lang="zh-TW" altLang="en-US" sz="6000" dirty="0"/>
          </a:p>
        </p:txBody>
      </p:sp>
      <p:sp>
        <p:nvSpPr>
          <p:cNvPr id="3" name="文字方塊 2">
            <a:extLst>
              <a:ext uri="{FF2B5EF4-FFF2-40B4-BE49-F238E27FC236}">
                <a16:creationId xmlns:a16="http://schemas.microsoft.com/office/drawing/2014/main" id="{C19F3C2D-AA7F-49B0-A3BE-A5E1735C9B23}"/>
              </a:ext>
            </a:extLst>
          </p:cNvPr>
          <p:cNvSpPr txBox="1"/>
          <p:nvPr/>
        </p:nvSpPr>
        <p:spPr>
          <a:xfrm>
            <a:off x="9813851" y="1133877"/>
            <a:ext cx="2098159" cy="400110"/>
          </a:xfrm>
          <a:prstGeom prst="rect">
            <a:avLst/>
          </a:prstGeom>
          <a:noFill/>
          <a:ln w="38100">
            <a:solidFill>
              <a:srgbClr val="C00000"/>
            </a:solidFill>
          </a:ln>
        </p:spPr>
        <p:txBody>
          <a:bodyPr wrap="square" rtlCol="0">
            <a:spAutoFit/>
          </a:bodyPr>
          <a:lstStyle/>
          <a:p>
            <a:r>
              <a:rPr lang="en-US" altLang="zh-TW" sz="2000" dirty="0">
                <a:solidFill>
                  <a:srgbClr val="FF0000"/>
                </a:solidFill>
              </a:rPr>
              <a:t>Maximal Q-value</a:t>
            </a:r>
            <a:endParaRPr lang="zh-TW" altLang="en-US" sz="2000" dirty="0">
              <a:solidFill>
                <a:srgbClr val="FF0000"/>
              </a:solidFill>
            </a:endParaRPr>
          </a:p>
        </p:txBody>
      </p:sp>
      <p:sp>
        <p:nvSpPr>
          <p:cNvPr id="4" name="文字方塊 3">
            <a:extLst>
              <a:ext uri="{FF2B5EF4-FFF2-40B4-BE49-F238E27FC236}">
                <a16:creationId xmlns:a16="http://schemas.microsoft.com/office/drawing/2014/main" id="{AC6B998E-015E-4462-A910-D92DC827952F}"/>
              </a:ext>
            </a:extLst>
          </p:cNvPr>
          <p:cNvSpPr txBox="1"/>
          <p:nvPr/>
        </p:nvSpPr>
        <p:spPr>
          <a:xfrm>
            <a:off x="9916632" y="4115566"/>
            <a:ext cx="2098159" cy="400110"/>
          </a:xfrm>
          <a:prstGeom prst="rect">
            <a:avLst/>
          </a:prstGeom>
          <a:noFill/>
          <a:ln w="38100">
            <a:solidFill>
              <a:srgbClr val="C00000"/>
            </a:solidFill>
          </a:ln>
        </p:spPr>
        <p:txBody>
          <a:bodyPr wrap="square" rtlCol="0">
            <a:spAutoFit/>
          </a:bodyPr>
          <a:lstStyle/>
          <a:p>
            <a:r>
              <a:rPr lang="en-US" altLang="zh-TW" sz="2000" dirty="0">
                <a:solidFill>
                  <a:srgbClr val="FF0000"/>
                </a:solidFill>
              </a:rPr>
              <a:t>Minimax Q-value</a:t>
            </a:r>
            <a:endParaRPr lang="zh-TW" altLang="en-US" sz="2000" dirty="0">
              <a:solidFill>
                <a:srgbClr val="FF0000"/>
              </a:solidFill>
            </a:endParaRPr>
          </a:p>
        </p:txBody>
      </p:sp>
      <p:cxnSp>
        <p:nvCxnSpPr>
          <p:cNvPr id="6" name="直線單箭頭接點 5">
            <a:extLst>
              <a:ext uri="{FF2B5EF4-FFF2-40B4-BE49-F238E27FC236}">
                <a16:creationId xmlns:a16="http://schemas.microsoft.com/office/drawing/2014/main" id="{C6E7D717-E732-42E9-8FC0-48F9C4521562}"/>
              </a:ext>
            </a:extLst>
          </p:cNvPr>
          <p:cNvCxnSpPr>
            <a:cxnSpLocks/>
            <a:stCxn id="3" idx="1"/>
          </p:cNvCxnSpPr>
          <p:nvPr/>
        </p:nvCxnSpPr>
        <p:spPr>
          <a:xfrm flipH="1">
            <a:off x="8888819" y="1333932"/>
            <a:ext cx="925032" cy="33538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6">
            <a:extLst>
              <a:ext uri="{FF2B5EF4-FFF2-40B4-BE49-F238E27FC236}">
                <a16:creationId xmlns:a16="http://schemas.microsoft.com/office/drawing/2014/main" id="{034846B8-C6D9-43F5-813A-2F1088B072CC}"/>
              </a:ext>
            </a:extLst>
          </p:cNvPr>
          <p:cNvCxnSpPr/>
          <p:nvPr/>
        </p:nvCxnSpPr>
        <p:spPr>
          <a:xfrm flipH="1">
            <a:off x="9048677" y="4515676"/>
            <a:ext cx="925032" cy="33538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796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A6ADB58E-4984-4D8C-A56F-F3FEADE96BD8}"/>
              </a:ext>
            </a:extLst>
          </p:cNvPr>
          <p:cNvPicPr>
            <a:picLocks noChangeAspect="1"/>
          </p:cNvPicPr>
          <p:nvPr/>
        </p:nvPicPr>
        <p:blipFill rotWithShape="1">
          <a:blip r:embed="rId2"/>
          <a:srcRect l="1256"/>
          <a:stretch/>
        </p:blipFill>
        <p:spPr>
          <a:xfrm>
            <a:off x="336266" y="1201479"/>
            <a:ext cx="11519468" cy="4455041"/>
          </a:xfrm>
          <a:prstGeom prst="rect">
            <a:avLst/>
          </a:prstGeom>
        </p:spPr>
      </p:pic>
      <p:sp>
        <p:nvSpPr>
          <p:cNvPr id="3" name="文字方塊 2">
            <a:extLst>
              <a:ext uri="{FF2B5EF4-FFF2-40B4-BE49-F238E27FC236}">
                <a16:creationId xmlns:a16="http://schemas.microsoft.com/office/drawing/2014/main" id="{E17B45E4-06BB-45BD-9CA1-3C0545E03531}"/>
              </a:ext>
            </a:extLst>
          </p:cNvPr>
          <p:cNvSpPr txBox="1"/>
          <p:nvPr/>
        </p:nvSpPr>
        <p:spPr>
          <a:xfrm>
            <a:off x="7347497" y="3583938"/>
            <a:ext cx="1275508" cy="400110"/>
          </a:xfrm>
          <a:prstGeom prst="rect">
            <a:avLst/>
          </a:prstGeom>
          <a:noFill/>
          <a:ln w="38100">
            <a:solidFill>
              <a:srgbClr val="C00000"/>
            </a:solidFill>
          </a:ln>
        </p:spPr>
        <p:txBody>
          <a:bodyPr wrap="square" rtlCol="0">
            <a:spAutoFit/>
          </a:bodyPr>
          <a:lstStyle/>
          <a:p>
            <a:r>
              <a:rPr lang="en-US" altLang="zh-TW" sz="2000" dirty="0">
                <a:solidFill>
                  <a:srgbClr val="FF0000"/>
                </a:solidFill>
              </a:rPr>
              <a:t>opponent</a:t>
            </a:r>
            <a:endParaRPr lang="zh-TW" altLang="en-US" sz="2000" dirty="0">
              <a:solidFill>
                <a:srgbClr val="FF0000"/>
              </a:solidFill>
            </a:endParaRPr>
          </a:p>
        </p:txBody>
      </p:sp>
      <p:cxnSp>
        <p:nvCxnSpPr>
          <p:cNvPr id="4" name="直線單箭頭接點 3">
            <a:extLst>
              <a:ext uri="{FF2B5EF4-FFF2-40B4-BE49-F238E27FC236}">
                <a16:creationId xmlns:a16="http://schemas.microsoft.com/office/drawing/2014/main" id="{A490D936-39A1-4862-B8B4-108DE0C5B47A}"/>
              </a:ext>
            </a:extLst>
          </p:cNvPr>
          <p:cNvCxnSpPr/>
          <p:nvPr/>
        </p:nvCxnSpPr>
        <p:spPr>
          <a:xfrm flipH="1">
            <a:off x="6464965" y="3984048"/>
            <a:ext cx="925032" cy="33538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016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881F19D2-A039-411F-A4D9-5FA637E0C734}"/>
              </a:ext>
            </a:extLst>
          </p:cNvPr>
          <p:cNvPicPr>
            <a:picLocks noChangeAspect="1"/>
          </p:cNvPicPr>
          <p:nvPr/>
        </p:nvPicPr>
        <p:blipFill>
          <a:blip r:embed="rId2"/>
          <a:stretch>
            <a:fillRect/>
          </a:stretch>
        </p:blipFill>
        <p:spPr>
          <a:xfrm>
            <a:off x="561975" y="1409700"/>
            <a:ext cx="11068050" cy="4038600"/>
          </a:xfrm>
          <a:prstGeom prst="rect">
            <a:avLst/>
          </a:prstGeom>
        </p:spPr>
      </p:pic>
    </p:spTree>
    <p:extLst>
      <p:ext uri="{BB962C8B-B14F-4D97-AF65-F5344CB8AC3E}">
        <p14:creationId xmlns:p14="http://schemas.microsoft.com/office/powerpoint/2010/main" val="2854962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ABDAC16B-A185-439B-95B4-8E04010ACC58}"/>
              </a:ext>
            </a:extLst>
          </p:cNvPr>
          <p:cNvPicPr>
            <a:picLocks noChangeAspect="1"/>
          </p:cNvPicPr>
          <p:nvPr/>
        </p:nvPicPr>
        <p:blipFill>
          <a:blip r:embed="rId2"/>
          <a:stretch>
            <a:fillRect/>
          </a:stretch>
        </p:blipFill>
        <p:spPr>
          <a:xfrm>
            <a:off x="690562" y="352425"/>
            <a:ext cx="10810875" cy="6153150"/>
          </a:xfrm>
          <a:prstGeom prst="rect">
            <a:avLst/>
          </a:prstGeom>
        </p:spPr>
      </p:pic>
    </p:spTree>
    <p:extLst>
      <p:ext uri="{BB962C8B-B14F-4D97-AF65-F5344CB8AC3E}">
        <p14:creationId xmlns:p14="http://schemas.microsoft.com/office/powerpoint/2010/main" val="3884096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72310A6E-6EB5-4032-9B8E-DBA742518F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530" y="0"/>
            <a:ext cx="10274940" cy="6858000"/>
          </a:xfrm>
          <a:prstGeom prst="rect">
            <a:avLst/>
          </a:prstGeom>
        </p:spPr>
      </p:pic>
      <p:sp>
        <p:nvSpPr>
          <p:cNvPr id="4" name="文字方塊 3">
            <a:extLst>
              <a:ext uri="{FF2B5EF4-FFF2-40B4-BE49-F238E27FC236}">
                <a16:creationId xmlns:a16="http://schemas.microsoft.com/office/drawing/2014/main" id="{47A5F5FD-BE0E-4C13-9F05-D8E4C69299B3}"/>
              </a:ext>
            </a:extLst>
          </p:cNvPr>
          <p:cNvSpPr txBox="1"/>
          <p:nvPr/>
        </p:nvSpPr>
        <p:spPr>
          <a:xfrm>
            <a:off x="1421295" y="417444"/>
            <a:ext cx="2941984" cy="584775"/>
          </a:xfrm>
          <a:prstGeom prst="rect">
            <a:avLst/>
          </a:prstGeom>
          <a:noFill/>
        </p:spPr>
        <p:txBody>
          <a:bodyPr wrap="square" rtlCol="0">
            <a:spAutoFit/>
          </a:bodyPr>
          <a:lstStyle/>
          <a:p>
            <a:r>
              <a:rPr lang="en-US" altLang="zh-TW" sz="3200" dirty="0"/>
              <a:t>Tic-tac toe game</a:t>
            </a:r>
            <a:endParaRPr lang="zh-TW" altLang="en-US" sz="3200" dirty="0"/>
          </a:p>
        </p:txBody>
      </p:sp>
    </p:spTree>
    <p:extLst>
      <p:ext uri="{BB962C8B-B14F-4D97-AF65-F5344CB8AC3E}">
        <p14:creationId xmlns:p14="http://schemas.microsoft.com/office/powerpoint/2010/main" val="4034234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7D085F90-0B38-4078-9B58-DED22273B9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165100"/>
            <a:ext cx="9753600" cy="6527800"/>
          </a:xfrm>
          <a:prstGeom prst="rect">
            <a:avLst/>
          </a:prstGeom>
        </p:spPr>
      </p:pic>
    </p:spTree>
    <p:extLst>
      <p:ext uri="{BB962C8B-B14F-4D97-AF65-F5344CB8AC3E}">
        <p14:creationId xmlns:p14="http://schemas.microsoft.com/office/powerpoint/2010/main" val="144174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20645B0-22F6-409B-8302-C6D955EAF14B}"/>
              </a:ext>
            </a:extLst>
          </p:cNvPr>
          <p:cNvPicPr>
            <a:picLocks noChangeAspect="1"/>
          </p:cNvPicPr>
          <p:nvPr/>
        </p:nvPicPr>
        <p:blipFill rotWithShape="1">
          <a:blip r:embed="rId2">
            <a:extLst>
              <a:ext uri="{28A0092B-C50C-407E-A947-70E740481C1C}">
                <a14:useLocalDpi xmlns:a14="http://schemas.microsoft.com/office/drawing/2010/main" val="0"/>
              </a:ext>
            </a:extLst>
          </a:blip>
          <a:srcRect l="8747" t="-1" r="9313" b="17520"/>
          <a:stretch/>
        </p:blipFill>
        <p:spPr>
          <a:xfrm>
            <a:off x="2368234" y="0"/>
            <a:ext cx="6854425" cy="6858000"/>
          </a:xfrm>
          <a:prstGeom prst="rect">
            <a:avLst/>
          </a:prstGeom>
        </p:spPr>
      </p:pic>
    </p:spTree>
    <p:extLst>
      <p:ext uri="{BB962C8B-B14F-4D97-AF65-F5344CB8AC3E}">
        <p14:creationId xmlns:p14="http://schemas.microsoft.com/office/powerpoint/2010/main" val="574527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E8C86B82-7939-4ECA-9299-25FD3955C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853" y="944217"/>
            <a:ext cx="11812294" cy="5387008"/>
          </a:xfrm>
          <a:prstGeom prst="rect">
            <a:avLst/>
          </a:prstGeom>
        </p:spPr>
      </p:pic>
      <p:sp>
        <p:nvSpPr>
          <p:cNvPr id="4" name="文字方塊 3">
            <a:extLst>
              <a:ext uri="{FF2B5EF4-FFF2-40B4-BE49-F238E27FC236}">
                <a16:creationId xmlns:a16="http://schemas.microsoft.com/office/drawing/2014/main" id="{1A912AAE-E3AE-4A85-B3A2-3945E2C3D520}"/>
              </a:ext>
            </a:extLst>
          </p:cNvPr>
          <p:cNvSpPr txBox="1"/>
          <p:nvPr/>
        </p:nvSpPr>
        <p:spPr>
          <a:xfrm>
            <a:off x="7901609" y="4681331"/>
            <a:ext cx="2554357" cy="369332"/>
          </a:xfrm>
          <a:prstGeom prst="rect">
            <a:avLst/>
          </a:prstGeom>
          <a:noFill/>
        </p:spPr>
        <p:txBody>
          <a:bodyPr wrap="square" rtlCol="0">
            <a:spAutoFit/>
          </a:bodyPr>
          <a:lstStyle/>
          <a:p>
            <a:r>
              <a:rPr lang="en-US" altLang="zh-TW" dirty="0"/>
              <a:t>(Or Called Rollout Policy)</a:t>
            </a:r>
            <a:endParaRPr lang="zh-TW" altLang="en-US" dirty="0"/>
          </a:p>
        </p:txBody>
      </p:sp>
    </p:spTree>
    <p:extLst>
      <p:ext uri="{BB962C8B-B14F-4D97-AF65-F5344CB8AC3E}">
        <p14:creationId xmlns:p14="http://schemas.microsoft.com/office/powerpoint/2010/main" val="21100827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9BE82780-9582-4809-957E-49DB24AA7AD5}"/>
              </a:ext>
            </a:extLst>
          </p:cNvPr>
          <p:cNvSpPr txBox="1"/>
          <p:nvPr/>
        </p:nvSpPr>
        <p:spPr>
          <a:xfrm>
            <a:off x="159027" y="159485"/>
            <a:ext cx="12032973" cy="6709529"/>
          </a:xfrm>
          <a:prstGeom prst="rect">
            <a:avLst/>
          </a:prstGeom>
          <a:noFill/>
        </p:spPr>
        <p:txBody>
          <a:bodyPr wrap="square" rtlCol="0">
            <a:spAutoFit/>
          </a:bodyPr>
          <a:lstStyle/>
          <a:p>
            <a:r>
              <a:rPr lang="en-US" altLang="zh-TW" sz="5800" b="1" dirty="0"/>
              <a:t>Monte Carlo Tree Search(MCTS) steps:</a:t>
            </a:r>
          </a:p>
          <a:p>
            <a:endParaRPr lang="en-US" altLang="zh-TW" sz="3600" dirty="0"/>
          </a:p>
          <a:p>
            <a:r>
              <a:rPr lang="en-US" altLang="zh-TW" sz="4800" b="1" dirty="0"/>
              <a:t>                 1.Selection</a:t>
            </a:r>
            <a:r>
              <a:rPr lang="en-US" altLang="zh-TW" sz="2000" dirty="0"/>
              <a:t>(tree traversal: root(r)-&gt;leaf(l), based on UCB1.)</a:t>
            </a:r>
            <a:endParaRPr lang="en-US" altLang="zh-TW" sz="3600" dirty="0"/>
          </a:p>
          <a:p>
            <a:endParaRPr lang="en-US" altLang="zh-TW" sz="3600" dirty="0"/>
          </a:p>
          <a:p>
            <a:r>
              <a:rPr lang="en-US" altLang="zh-TW" sz="4800" b="1" dirty="0"/>
              <a:t>                 2.Expansion</a:t>
            </a:r>
            <a:r>
              <a:rPr lang="en-US" altLang="zh-TW" sz="2000" dirty="0"/>
              <a:t>(keep doing until one wins)</a:t>
            </a:r>
          </a:p>
          <a:p>
            <a:endParaRPr lang="en-US" altLang="zh-TW" sz="3600" dirty="0"/>
          </a:p>
          <a:p>
            <a:r>
              <a:rPr lang="en-US" altLang="zh-TW" sz="4800" b="1" dirty="0"/>
              <a:t>                 3.Simulation</a:t>
            </a:r>
            <a:r>
              <a:rPr lang="en-US" altLang="zh-TW" sz="2000" dirty="0"/>
              <a:t>(or called Rollout, based on random strategy) </a:t>
            </a:r>
            <a:endParaRPr lang="en-US" altLang="zh-TW" sz="3600" dirty="0"/>
          </a:p>
          <a:p>
            <a:endParaRPr lang="en-US" altLang="zh-TW" sz="3600" dirty="0"/>
          </a:p>
          <a:p>
            <a:r>
              <a:rPr lang="en-US" altLang="zh-TW" sz="4800" b="1" dirty="0"/>
              <a:t>                 4.Backpropagation</a:t>
            </a:r>
            <a:r>
              <a:rPr lang="en-US" altLang="zh-TW" sz="2000" dirty="0"/>
              <a:t>(update from leaf to root)</a:t>
            </a:r>
          </a:p>
          <a:p>
            <a:endParaRPr lang="zh-TW" altLang="en-US" sz="3600" dirty="0"/>
          </a:p>
        </p:txBody>
      </p:sp>
    </p:spTree>
    <p:extLst>
      <p:ext uri="{BB962C8B-B14F-4D97-AF65-F5344CB8AC3E}">
        <p14:creationId xmlns:p14="http://schemas.microsoft.com/office/powerpoint/2010/main" val="18274006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C2014055-4D2D-4CB2-BE63-17513398D4F9}"/>
              </a:ext>
            </a:extLst>
          </p:cNvPr>
          <p:cNvSpPr/>
          <p:nvPr/>
        </p:nvSpPr>
        <p:spPr>
          <a:xfrm>
            <a:off x="849796" y="844826"/>
            <a:ext cx="1321905" cy="4572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Start</a:t>
            </a:r>
            <a:endParaRPr lang="zh-TW" altLang="en-US" sz="2000" dirty="0">
              <a:solidFill>
                <a:schemeClr val="tx1"/>
              </a:solidFill>
            </a:endParaRPr>
          </a:p>
        </p:txBody>
      </p:sp>
      <p:sp>
        <p:nvSpPr>
          <p:cNvPr id="5" name="矩形: 圓角 4">
            <a:extLst>
              <a:ext uri="{FF2B5EF4-FFF2-40B4-BE49-F238E27FC236}">
                <a16:creationId xmlns:a16="http://schemas.microsoft.com/office/drawing/2014/main" id="{2DE504F8-1101-460D-8406-B6B03AB37608}"/>
              </a:ext>
            </a:extLst>
          </p:cNvPr>
          <p:cNvSpPr/>
          <p:nvPr/>
        </p:nvSpPr>
        <p:spPr>
          <a:xfrm>
            <a:off x="699265" y="1629212"/>
            <a:ext cx="1669774" cy="457199"/>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Current State</a:t>
            </a:r>
            <a:endParaRPr lang="zh-TW" altLang="en-US" sz="2000" dirty="0">
              <a:solidFill>
                <a:schemeClr val="tx1"/>
              </a:solidFill>
            </a:endParaRPr>
          </a:p>
        </p:txBody>
      </p:sp>
      <p:sp>
        <p:nvSpPr>
          <p:cNvPr id="7" name="矩形 6">
            <a:extLst>
              <a:ext uri="{FF2B5EF4-FFF2-40B4-BE49-F238E27FC236}">
                <a16:creationId xmlns:a16="http://schemas.microsoft.com/office/drawing/2014/main" id="{EEF854FB-3291-40E8-8DAC-E7D0BD55DB1C}"/>
              </a:ext>
            </a:extLst>
          </p:cNvPr>
          <p:cNvSpPr/>
          <p:nvPr/>
        </p:nvSpPr>
        <p:spPr>
          <a:xfrm rot="18391159">
            <a:off x="964227" y="2628119"/>
            <a:ext cx="1216836" cy="13555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8" name="矩形 7">
            <a:extLst>
              <a:ext uri="{FF2B5EF4-FFF2-40B4-BE49-F238E27FC236}">
                <a16:creationId xmlns:a16="http://schemas.microsoft.com/office/drawing/2014/main" id="{B5A8C9F2-F215-42BA-8B47-077F715D1CA3}"/>
              </a:ext>
            </a:extLst>
          </p:cNvPr>
          <p:cNvSpPr/>
          <p:nvPr/>
        </p:nvSpPr>
        <p:spPr>
          <a:xfrm>
            <a:off x="962756" y="2742113"/>
            <a:ext cx="1251321" cy="1015663"/>
          </a:xfrm>
          <a:prstGeom prst="rect">
            <a:avLst/>
          </a:prstGeom>
        </p:spPr>
        <p:txBody>
          <a:bodyPr wrap="square">
            <a:spAutoFit/>
          </a:bodyPr>
          <a:lstStyle/>
          <a:p>
            <a:pPr algn="ctr"/>
            <a:r>
              <a:rPr lang="en-US" altLang="zh-TW" sz="2000" dirty="0"/>
              <a:t>Is current </a:t>
            </a:r>
          </a:p>
          <a:p>
            <a:pPr algn="ctr"/>
            <a:r>
              <a:rPr lang="en-US" altLang="zh-TW" sz="2000" dirty="0"/>
              <a:t>state a</a:t>
            </a:r>
          </a:p>
          <a:p>
            <a:pPr algn="ctr"/>
            <a:r>
              <a:rPr lang="en-US" altLang="zh-TW" sz="2000" dirty="0"/>
              <a:t>leaf node?  </a:t>
            </a:r>
            <a:endParaRPr lang="zh-TW" altLang="en-US" sz="2000" dirty="0"/>
          </a:p>
        </p:txBody>
      </p:sp>
      <p:sp>
        <p:nvSpPr>
          <p:cNvPr id="11" name="文字方塊 10">
            <a:extLst>
              <a:ext uri="{FF2B5EF4-FFF2-40B4-BE49-F238E27FC236}">
                <a16:creationId xmlns:a16="http://schemas.microsoft.com/office/drawing/2014/main" id="{1EE17FB1-7328-4DD4-8D1F-53A0EB4F6869}"/>
              </a:ext>
            </a:extLst>
          </p:cNvPr>
          <p:cNvSpPr txBox="1"/>
          <p:nvPr/>
        </p:nvSpPr>
        <p:spPr>
          <a:xfrm>
            <a:off x="325105" y="157455"/>
            <a:ext cx="4087869" cy="584775"/>
          </a:xfrm>
          <a:prstGeom prst="rect">
            <a:avLst/>
          </a:prstGeom>
          <a:noFill/>
        </p:spPr>
        <p:txBody>
          <a:bodyPr wrap="square" rtlCol="0">
            <a:spAutoFit/>
          </a:bodyPr>
          <a:lstStyle/>
          <a:p>
            <a:r>
              <a:rPr lang="en-US" altLang="zh-TW" sz="3200" dirty="0"/>
              <a:t>Flow Chart of MCTS:</a:t>
            </a:r>
            <a:endParaRPr lang="zh-TW" altLang="en-US" sz="3200" dirty="0"/>
          </a:p>
        </p:txBody>
      </p:sp>
      <p:sp>
        <p:nvSpPr>
          <p:cNvPr id="12" name="矩形: 圓角 11">
            <a:extLst>
              <a:ext uri="{FF2B5EF4-FFF2-40B4-BE49-F238E27FC236}">
                <a16:creationId xmlns:a16="http://schemas.microsoft.com/office/drawing/2014/main" id="{88C58CD0-A6FA-46B3-8743-095912A91DF7}"/>
              </a:ext>
            </a:extLst>
          </p:cNvPr>
          <p:cNvSpPr/>
          <p:nvPr/>
        </p:nvSpPr>
        <p:spPr>
          <a:xfrm>
            <a:off x="3159318" y="2957556"/>
            <a:ext cx="1933564" cy="58477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Current = max[UCB1(S</a:t>
            </a:r>
            <a:r>
              <a:rPr lang="en-US" altLang="zh-TW" sz="1600" dirty="0">
                <a:solidFill>
                  <a:schemeClr val="tx1"/>
                </a:solidFill>
              </a:rPr>
              <a:t>i</a:t>
            </a:r>
            <a:r>
              <a:rPr lang="en-US" altLang="zh-TW" sz="2000" dirty="0">
                <a:solidFill>
                  <a:schemeClr val="tx1"/>
                </a:solidFill>
              </a:rPr>
              <a:t>)]</a:t>
            </a:r>
            <a:endParaRPr lang="zh-TW" altLang="en-US" sz="2000" dirty="0">
              <a:solidFill>
                <a:schemeClr val="tx1"/>
              </a:solidFill>
            </a:endParaRPr>
          </a:p>
        </p:txBody>
      </p:sp>
      <p:sp>
        <p:nvSpPr>
          <p:cNvPr id="15" name="矩形: 圓角 14">
            <a:extLst>
              <a:ext uri="{FF2B5EF4-FFF2-40B4-BE49-F238E27FC236}">
                <a16:creationId xmlns:a16="http://schemas.microsoft.com/office/drawing/2014/main" id="{788177EE-A3FC-433E-A2C7-6FF98778A34A}"/>
              </a:ext>
            </a:extLst>
          </p:cNvPr>
          <p:cNvSpPr/>
          <p:nvPr/>
        </p:nvSpPr>
        <p:spPr>
          <a:xfrm>
            <a:off x="665880" y="4771589"/>
            <a:ext cx="2045199" cy="457199"/>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Node Expansion</a:t>
            </a:r>
            <a:endParaRPr lang="zh-TW" altLang="en-US" sz="2000" dirty="0">
              <a:solidFill>
                <a:schemeClr val="tx1"/>
              </a:solidFill>
            </a:endParaRPr>
          </a:p>
        </p:txBody>
      </p:sp>
      <p:sp>
        <p:nvSpPr>
          <p:cNvPr id="16" name="矩形: 圓角 15">
            <a:extLst>
              <a:ext uri="{FF2B5EF4-FFF2-40B4-BE49-F238E27FC236}">
                <a16:creationId xmlns:a16="http://schemas.microsoft.com/office/drawing/2014/main" id="{D2D9A5C2-7B23-4FDA-814B-C76C3B70058C}"/>
              </a:ext>
            </a:extLst>
          </p:cNvPr>
          <p:cNvSpPr/>
          <p:nvPr/>
        </p:nvSpPr>
        <p:spPr>
          <a:xfrm>
            <a:off x="809636" y="5802184"/>
            <a:ext cx="1669774" cy="54218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Simulation</a:t>
            </a:r>
          </a:p>
          <a:p>
            <a:pPr algn="ctr"/>
            <a:r>
              <a:rPr lang="en-US" altLang="zh-TW" sz="2000" dirty="0">
                <a:solidFill>
                  <a:schemeClr val="tx1"/>
                </a:solidFill>
              </a:rPr>
              <a:t>(Rollout)</a:t>
            </a:r>
            <a:endParaRPr lang="zh-TW" altLang="en-US" sz="2000" dirty="0">
              <a:solidFill>
                <a:schemeClr val="tx1"/>
              </a:solidFill>
            </a:endParaRPr>
          </a:p>
        </p:txBody>
      </p:sp>
      <p:sp>
        <p:nvSpPr>
          <p:cNvPr id="17" name="矩形: 圓角 16">
            <a:extLst>
              <a:ext uri="{FF2B5EF4-FFF2-40B4-BE49-F238E27FC236}">
                <a16:creationId xmlns:a16="http://schemas.microsoft.com/office/drawing/2014/main" id="{831BA2E3-D3CD-49AD-9330-36FE55062BA4}"/>
              </a:ext>
            </a:extLst>
          </p:cNvPr>
          <p:cNvSpPr/>
          <p:nvPr/>
        </p:nvSpPr>
        <p:spPr>
          <a:xfrm>
            <a:off x="3246998" y="5802184"/>
            <a:ext cx="2040610" cy="54218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Backpropagation</a:t>
            </a:r>
            <a:endParaRPr lang="zh-TW" altLang="en-US" sz="2000" dirty="0">
              <a:solidFill>
                <a:schemeClr val="tx1"/>
              </a:solidFill>
            </a:endParaRPr>
          </a:p>
        </p:txBody>
      </p:sp>
      <p:sp>
        <p:nvSpPr>
          <p:cNvPr id="18" name="箭號: 向下 17">
            <a:extLst>
              <a:ext uri="{FF2B5EF4-FFF2-40B4-BE49-F238E27FC236}">
                <a16:creationId xmlns:a16="http://schemas.microsoft.com/office/drawing/2014/main" id="{DC0187D2-B0E4-4D3F-88ED-73A7B6BEAB52}"/>
              </a:ext>
            </a:extLst>
          </p:cNvPr>
          <p:cNvSpPr/>
          <p:nvPr/>
        </p:nvSpPr>
        <p:spPr>
          <a:xfrm>
            <a:off x="1334106" y="1315625"/>
            <a:ext cx="238539" cy="327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箭號: 向下 18">
            <a:extLst>
              <a:ext uri="{FF2B5EF4-FFF2-40B4-BE49-F238E27FC236}">
                <a16:creationId xmlns:a16="http://schemas.microsoft.com/office/drawing/2014/main" id="{E3E2DEC2-31CF-404B-9AAD-A467F59E98EC}"/>
              </a:ext>
            </a:extLst>
          </p:cNvPr>
          <p:cNvSpPr/>
          <p:nvPr/>
        </p:nvSpPr>
        <p:spPr>
          <a:xfrm>
            <a:off x="1334105" y="2086411"/>
            <a:ext cx="238539" cy="327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箭號: 向右 19">
            <a:extLst>
              <a:ext uri="{FF2B5EF4-FFF2-40B4-BE49-F238E27FC236}">
                <a16:creationId xmlns:a16="http://schemas.microsoft.com/office/drawing/2014/main" id="{C6949AFD-D701-4721-9341-FDC89F7D6C12}"/>
              </a:ext>
            </a:extLst>
          </p:cNvPr>
          <p:cNvSpPr/>
          <p:nvPr/>
        </p:nvSpPr>
        <p:spPr>
          <a:xfrm>
            <a:off x="2479410" y="3126020"/>
            <a:ext cx="679908" cy="3021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箭號: 向下 20">
            <a:extLst>
              <a:ext uri="{FF2B5EF4-FFF2-40B4-BE49-F238E27FC236}">
                <a16:creationId xmlns:a16="http://schemas.microsoft.com/office/drawing/2014/main" id="{AF13D8AB-C0EB-4D95-825E-CDABCE3F358B}"/>
              </a:ext>
            </a:extLst>
          </p:cNvPr>
          <p:cNvSpPr/>
          <p:nvPr/>
        </p:nvSpPr>
        <p:spPr>
          <a:xfrm>
            <a:off x="1534152" y="4198194"/>
            <a:ext cx="314526" cy="6620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箭號: 向下 21">
            <a:extLst>
              <a:ext uri="{FF2B5EF4-FFF2-40B4-BE49-F238E27FC236}">
                <a16:creationId xmlns:a16="http://schemas.microsoft.com/office/drawing/2014/main" id="{CA75C3BB-5541-4F32-B423-A86425EEC498}"/>
              </a:ext>
            </a:extLst>
          </p:cNvPr>
          <p:cNvSpPr/>
          <p:nvPr/>
        </p:nvSpPr>
        <p:spPr>
          <a:xfrm>
            <a:off x="1534152" y="5228788"/>
            <a:ext cx="314526" cy="5421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箭號: 向右 22">
            <a:extLst>
              <a:ext uri="{FF2B5EF4-FFF2-40B4-BE49-F238E27FC236}">
                <a16:creationId xmlns:a16="http://schemas.microsoft.com/office/drawing/2014/main" id="{D7F70941-9ED2-4765-BCCA-381AF55D444B}"/>
              </a:ext>
            </a:extLst>
          </p:cNvPr>
          <p:cNvSpPr/>
          <p:nvPr/>
        </p:nvSpPr>
        <p:spPr>
          <a:xfrm>
            <a:off x="2479410" y="5938793"/>
            <a:ext cx="767588" cy="291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橢圓 39">
            <a:extLst>
              <a:ext uri="{FF2B5EF4-FFF2-40B4-BE49-F238E27FC236}">
                <a16:creationId xmlns:a16="http://schemas.microsoft.com/office/drawing/2014/main" id="{177432F4-95BA-4D42-9AAA-39F0840B9E51}"/>
              </a:ext>
            </a:extLst>
          </p:cNvPr>
          <p:cNvSpPr/>
          <p:nvPr/>
        </p:nvSpPr>
        <p:spPr>
          <a:xfrm>
            <a:off x="8435011" y="655494"/>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a:extLst>
              <a:ext uri="{FF2B5EF4-FFF2-40B4-BE49-F238E27FC236}">
                <a16:creationId xmlns:a16="http://schemas.microsoft.com/office/drawing/2014/main" id="{2429AE91-95D3-44AF-9C60-A8A43E99022E}"/>
              </a:ext>
            </a:extLst>
          </p:cNvPr>
          <p:cNvSpPr/>
          <p:nvPr/>
        </p:nvSpPr>
        <p:spPr>
          <a:xfrm>
            <a:off x="6977273" y="1896760"/>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橢圓 41">
            <a:extLst>
              <a:ext uri="{FF2B5EF4-FFF2-40B4-BE49-F238E27FC236}">
                <a16:creationId xmlns:a16="http://schemas.microsoft.com/office/drawing/2014/main" id="{9621C3E4-0BAA-43A5-9709-20819C2AF7D8}"/>
              </a:ext>
            </a:extLst>
          </p:cNvPr>
          <p:cNvSpPr/>
          <p:nvPr/>
        </p:nvSpPr>
        <p:spPr>
          <a:xfrm>
            <a:off x="8435011" y="1896759"/>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橢圓 42">
            <a:extLst>
              <a:ext uri="{FF2B5EF4-FFF2-40B4-BE49-F238E27FC236}">
                <a16:creationId xmlns:a16="http://schemas.microsoft.com/office/drawing/2014/main" id="{AAC47288-7F68-405A-A24E-5A84421FED2F}"/>
              </a:ext>
            </a:extLst>
          </p:cNvPr>
          <p:cNvSpPr/>
          <p:nvPr/>
        </p:nvSpPr>
        <p:spPr>
          <a:xfrm>
            <a:off x="9892749" y="1885206"/>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文字方塊 43">
            <a:extLst>
              <a:ext uri="{FF2B5EF4-FFF2-40B4-BE49-F238E27FC236}">
                <a16:creationId xmlns:a16="http://schemas.microsoft.com/office/drawing/2014/main" id="{11D6809C-75C9-4555-9CA9-C4FBA28A8AE2}"/>
              </a:ext>
            </a:extLst>
          </p:cNvPr>
          <p:cNvSpPr txBox="1"/>
          <p:nvPr/>
        </p:nvSpPr>
        <p:spPr>
          <a:xfrm>
            <a:off x="8431700" y="740646"/>
            <a:ext cx="1139688" cy="369332"/>
          </a:xfrm>
          <a:prstGeom prst="rect">
            <a:avLst/>
          </a:prstGeom>
          <a:noFill/>
        </p:spPr>
        <p:txBody>
          <a:bodyPr wrap="square" rtlCol="0">
            <a:spAutoFit/>
          </a:bodyPr>
          <a:lstStyle/>
          <a:p>
            <a:r>
              <a:rPr lang="en-US" altLang="zh-TW" dirty="0"/>
              <a:t>state(S</a:t>
            </a:r>
            <a:r>
              <a:rPr lang="en-US" altLang="zh-TW" sz="1400" dirty="0"/>
              <a:t>0</a:t>
            </a:r>
            <a:r>
              <a:rPr lang="en-US" altLang="zh-TW" dirty="0"/>
              <a:t>)</a:t>
            </a:r>
            <a:endParaRPr lang="zh-TW" altLang="en-US" dirty="0"/>
          </a:p>
        </p:txBody>
      </p:sp>
      <p:sp>
        <p:nvSpPr>
          <p:cNvPr id="45" name="文字方塊 44">
            <a:extLst>
              <a:ext uri="{FF2B5EF4-FFF2-40B4-BE49-F238E27FC236}">
                <a16:creationId xmlns:a16="http://schemas.microsoft.com/office/drawing/2014/main" id="{91B727B1-29D7-4403-AC3A-C46DA5664302}"/>
              </a:ext>
            </a:extLst>
          </p:cNvPr>
          <p:cNvSpPr txBox="1"/>
          <p:nvPr/>
        </p:nvSpPr>
        <p:spPr>
          <a:xfrm>
            <a:off x="6977273" y="1978835"/>
            <a:ext cx="1139688" cy="369332"/>
          </a:xfrm>
          <a:prstGeom prst="rect">
            <a:avLst/>
          </a:prstGeom>
          <a:noFill/>
        </p:spPr>
        <p:txBody>
          <a:bodyPr wrap="square" rtlCol="0">
            <a:spAutoFit/>
          </a:bodyPr>
          <a:lstStyle/>
          <a:p>
            <a:r>
              <a:rPr lang="en-US" altLang="zh-TW" dirty="0"/>
              <a:t>state(S</a:t>
            </a:r>
            <a:r>
              <a:rPr lang="en-US" altLang="zh-TW" sz="1400" dirty="0"/>
              <a:t>1</a:t>
            </a:r>
            <a:r>
              <a:rPr lang="en-US" altLang="zh-TW" dirty="0"/>
              <a:t>)</a:t>
            </a:r>
            <a:endParaRPr lang="zh-TW" altLang="en-US" dirty="0"/>
          </a:p>
        </p:txBody>
      </p:sp>
      <p:sp>
        <p:nvSpPr>
          <p:cNvPr id="46" name="文字方塊 45">
            <a:extLst>
              <a:ext uri="{FF2B5EF4-FFF2-40B4-BE49-F238E27FC236}">
                <a16:creationId xmlns:a16="http://schemas.microsoft.com/office/drawing/2014/main" id="{731330EE-3B3C-4A38-9CFA-8CC76EDEDEA4}"/>
              </a:ext>
            </a:extLst>
          </p:cNvPr>
          <p:cNvSpPr txBox="1"/>
          <p:nvPr/>
        </p:nvSpPr>
        <p:spPr>
          <a:xfrm>
            <a:off x="8435011" y="1968896"/>
            <a:ext cx="1139688" cy="369332"/>
          </a:xfrm>
          <a:prstGeom prst="rect">
            <a:avLst/>
          </a:prstGeom>
          <a:noFill/>
        </p:spPr>
        <p:txBody>
          <a:bodyPr wrap="square" rtlCol="0">
            <a:spAutoFit/>
          </a:bodyPr>
          <a:lstStyle/>
          <a:p>
            <a:r>
              <a:rPr lang="en-US" altLang="zh-TW" dirty="0"/>
              <a:t>state(S</a:t>
            </a:r>
            <a:r>
              <a:rPr lang="en-US" altLang="zh-TW" sz="1400" dirty="0"/>
              <a:t>2</a:t>
            </a:r>
            <a:r>
              <a:rPr lang="en-US" altLang="zh-TW" dirty="0"/>
              <a:t>)</a:t>
            </a:r>
            <a:endParaRPr lang="zh-TW" altLang="en-US" dirty="0"/>
          </a:p>
        </p:txBody>
      </p:sp>
      <p:sp>
        <p:nvSpPr>
          <p:cNvPr id="47" name="文字方塊 46">
            <a:extLst>
              <a:ext uri="{FF2B5EF4-FFF2-40B4-BE49-F238E27FC236}">
                <a16:creationId xmlns:a16="http://schemas.microsoft.com/office/drawing/2014/main" id="{04B9BC6E-35B1-45D2-A315-661EF1886847}"/>
              </a:ext>
            </a:extLst>
          </p:cNvPr>
          <p:cNvSpPr txBox="1"/>
          <p:nvPr/>
        </p:nvSpPr>
        <p:spPr>
          <a:xfrm>
            <a:off x="9843051" y="1958957"/>
            <a:ext cx="1139688" cy="369332"/>
          </a:xfrm>
          <a:prstGeom prst="rect">
            <a:avLst/>
          </a:prstGeom>
          <a:noFill/>
        </p:spPr>
        <p:txBody>
          <a:bodyPr wrap="square" rtlCol="0">
            <a:spAutoFit/>
          </a:bodyPr>
          <a:lstStyle/>
          <a:p>
            <a:r>
              <a:rPr lang="en-US" altLang="zh-TW" dirty="0"/>
              <a:t>state(S</a:t>
            </a:r>
            <a:r>
              <a:rPr lang="en-US" altLang="zh-TW" sz="1400" dirty="0"/>
              <a:t>3</a:t>
            </a:r>
            <a:r>
              <a:rPr lang="en-US" altLang="zh-TW" dirty="0"/>
              <a:t>)</a:t>
            </a:r>
            <a:endParaRPr lang="zh-TW" altLang="en-US" dirty="0"/>
          </a:p>
        </p:txBody>
      </p:sp>
      <p:cxnSp>
        <p:nvCxnSpPr>
          <p:cNvPr id="51" name="直線單箭頭接點 50">
            <a:extLst>
              <a:ext uri="{FF2B5EF4-FFF2-40B4-BE49-F238E27FC236}">
                <a16:creationId xmlns:a16="http://schemas.microsoft.com/office/drawing/2014/main" id="{4A5D197E-BD6E-43E7-B1BB-D6E94B50DB46}"/>
              </a:ext>
            </a:extLst>
          </p:cNvPr>
          <p:cNvCxnSpPr>
            <a:stCxn id="44" idx="1"/>
            <a:endCxn id="41" idx="0"/>
          </p:cNvCxnSpPr>
          <p:nvPr/>
        </p:nvCxnSpPr>
        <p:spPr>
          <a:xfrm flipH="1">
            <a:off x="7414595" y="925312"/>
            <a:ext cx="1017105" cy="971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52">
            <a:extLst>
              <a:ext uri="{FF2B5EF4-FFF2-40B4-BE49-F238E27FC236}">
                <a16:creationId xmlns:a16="http://schemas.microsoft.com/office/drawing/2014/main" id="{0DD45D33-0DD4-4829-9C1D-035B0C0EA1D7}"/>
              </a:ext>
            </a:extLst>
          </p:cNvPr>
          <p:cNvCxnSpPr>
            <a:stCxn id="40" idx="4"/>
            <a:endCxn id="42" idx="0"/>
          </p:cNvCxnSpPr>
          <p:nvPr/>
        </p:nvCxnSpPr>
        <p:spPr>
          <a:xfrm>
            <a:off x="8872333" y="1212085"/>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8A602053-8638-4659-B549-2B602F7AEE79}"/>
              </a:ext>
            </a:extLst>
          </p:cNvPr>
          <p:cNvCxnSpPr/>
          <p:nvPr/>
        </p:nvCxnSpPr>
        <p:spPr>
          <a:xfrm>
            <a:off x="9309654" y="933789"/>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橢圓 60">
            <a:extLst>
              <a:ext uri="{FF2B5EF4-FFF2-40B4-BE49-F238E27FC236}">
                <a16:creationId xmlns:a16="http://schemas.microsoft.com/office/drawing/2014/main" id="{3162884D-384D-4469-8F2B-CBFC82F63EB6}"/>
              </a:ext>
            </a:extLst>
          </p:cNvPr>
          <p:cNvSpPr/>
          <p:nvPr/>
        </p:nvSpPr>
        <p:spPr>
          <a:xfrm>
            <a:off x="5787069" y="3385043"/>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橢圓 61">
            <a:extLst>
              <a:ext uri="{FF2B5EF4-FFF2-40B4-BE49-F238E27FC236}">
                <a16:creationId xmlns:a16="http://schemas.microsoft.com/office/drawing/2014/main" id="{F9E75AA4-221C-4D49-ABF5-30E299716603}"/>
              </a:ext>
            </a:extLst>
          </p:cNvPr>
          <p:cNvSpPr/>
          <p:nvPr/>
        </p:nvSpPr>
        <p:spPr>
          <a:xfrm>
            <a:off x="7020353" y="3163386"/>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橢圓 62">
            <a:extLst>
              <a:ext uri="{FF2B5EF4-FFF2-40B4-BE49-F238E27FC236}">
                <a16:creationId xmlns:a16="http://schemas.microsoft.com/office/drawing/2014/main" id="{38CD6A42-DC96-48E2-9506-76F2DBFCDE73}"/>
              </a:ext>
            </a:extLst>
          </p:cNvPr>
          <p:cNvSpPr/>
          <p:nvPr/>
        </p:nvSpPr>
        <p:spPr>
          <a:xfrm>
            <a:off x="8186537" y="3305894"/>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5" name="直線單箭頭接點 64">
            <a:extLst>
              <a:ext uri="{FF2B5EF4-FFF2-40B4-BE49-F238E27FC236}">
                <a16:creationId xmlns:a16="http://schemas.microsoft.com/office/drawing/2014/main" id="{EB03E4D7-1575-44B9-A8C8-859F1E30B3B2}"/>
              </a:ext>
            </a:extLst>
          </p:cNvPr>
          <p:cNvCxnSpPr>
            <a:cxnSpLocks/>
          </p:cNvCxnSpPr>
          <p:nvPr/>
        </p:nvCxnSpPr>
        <p:spPr>
          <a:xfrm flipH="1">
            <a:off x="6167234" y="2413595"/>
            <a:ext cx="1017105" cy="971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線單箭頭接點 65">
            <a:extLst>
              <a:ext uri="{FF2B5EF4-FFF2-40B4-BE49-F238E27FC236}">
                <a16:creationId xmlns:a16="http://schemas.microsoft.com/office/drawing/2014/main" id="{5BB66701-CD2F-49A7-BD3A-537F9A8731B2}"/>
              </a:ext>
            </a:extLst>
          </p:cNvPr>
          <p:cNvCxnSpPr/>
          <p:nvPr/>
        </p:nvCxnSpPr>
        <p:spPr>
          <a:xfrm>
            <a:off x="7706148" y="2393558"/>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70231501-D3D5-48E5-9241-73B6FC3AA39D}"/>
              </a:ext>
            </a:extLst>
          </p:cNvPr>
          <p:cNvCxnSpPr/>
          <p:nvPr/>
        </p:nvCxnSpPr>
        <p:spPr>
          <a:xfrm>
            <a:off x="7414594" y="2453350"/>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文字方塊 68">
            <a:extLst>
              <a:ext uri="{FF2B5EF4-FFF2-40B4-BE49-F238E27FC236}">
                <a16:creationId xmlns:a16="http://schemas.microsoft.com/office/drawing/2014/main" id="{9113F129-9CEC-4545-B4B1-8874400BBFA1}"/>
              </a:ext>
            </a:extLst>
          </p:cNvPr>
          <p:cNvSpPr txBox="1"/>
          <p:nvPr/>
        </p:nvSpPr>
        <p:spPr>
          <a:xfrm>
            <a:off x="5772790" y="3484595"/>
            <a:ext cx="1139688" cy="369332"/>
          </a:xfrm>
          <a:prstGeom prst="rect">
            <a:avLst/>
          </a:prstGeom>
          <a:noFill/>
        </p:spPr>
        <p:txBody>
          <a:bodyPr wrap="square" rtlCol="0">
            <a:spAutoFit/>
          </a:bodyPr>
          <a:lstStyle/>
          <a:p>
            <a:r>
              <a:rPr lang="en-US" altLang="zh-TW" dirty="0"/>
              <a:t>state(S</a:t>
            </a:r>
            <a:r>
              <a:rPr lang="en-US" altLang="zh-TW" sz="1400" dirty="0"/>
              <a:t>4</a:t>
            </a:r>
            <a:r>
              <a:rPr lang="en-US" altLang="zh-TW" dirty="0"/>
              <a:t>)</a:t>
            </a:r>
            <a:endParaRPr lang="zh-TW" altLang="en-US" dirty="0"/>
          </a:p>
        </p:txBody>
      </p:sp>
      <p:sp>
        <p:nvSpPr>
          <p:cNvPr id="70" name="文字方塊 69">
            <a:extLst>
              <a:ext uri="{FF2B5EF4-FFF2-40B4-BE49-F238E27FC236}">
                <a16:creationId xmlns:a16="http://schemas.microsoft.com/office/drawing/2014/main" id="{D2996D46-62A0-44BE-9685-98A538249BC6}"/>
              </a:ext>
            </a:extLst>
          </p:cNvPr>
          <p:cNvSpPr txBox="1"/>
          <p:nvPr/>
        </p:nvSpPr>
        <p:spPr>
          <a:xfrm>
            <a:off x="7026976" y="3200378"/>
            <a:ext cx="1139688" cy="369332"/>
          </a:xfrm>
          <a:prstGeom prst="rect">
            <a:avLst/>
          </a:prstGeom>
          <a:noFill/>
        </p:spPr>
        <p:txBody>
          <a:bodyPr wrap="square" rtlCol="0">
            <a:spAutoFit/>
          </a:bodyPr>
          <a:lstStyle/>
          <a:p>
            <a:r>
              <a:rPr lang="en-US" altLang="zh-TW" dirty="0"/>
              <a:t>state(S</a:t>
            </a:r>
            <a:r>
              <a:rPr lang="en-US" altLang="zh-TW" sz="1400" dirty="0"/>
              <a:t>5</a:t>
            </a:r>
            <a:r>
              <a:rPr lang="en-US" altLang="zh-TW" dirty="0"/>
              <a:t>)</a:t>
            </a:r>
            <a:endParaRPr lang="zh-TW" altLang="en-US" dirty="0"/>
          </a:p>
        </p:txBody>
      </p:sp>
      <p:sp>
        <p:nvSpPr>
          <p:cNvPr id="71" name="文字方塊 70">
            <a:extLst>
              <a:ext uri="{FF2B5EF4-FFF2-40B4-BE49-F238E27FC236}">
                <a16:creationId xmlns:a16="http://schemas.microsoft.com/office/drawing/2014/main" id="{BA183FF6-A288-4309-AC84-4DAD172727D6}"/>
              </a:ext>
            </a:extLst>
          </p:cNvPr>
          <p:cNvSpPr txBox="1"/>
          <p:nvPr/>
        </p:nvSpPr>
        <p:spPr>
          <a:xfrm>
            <a:off x="8121946" y="3385044"/>
            <a:ext cx="1139688" cy="369332"/>
          </a:xfrm>
          <a:prstGeom prst="rect">
            <a:avLst/>
          </a:prstGeom>
          <a:noFill/>
        </p:spPr>
        <p:txBody>
          <a:bodyPr wrap="square" rtlCol="0">
            <a:spAutoFit/>
          </a:bodyPr>
          <a:lstStyle/>
          <a:p>
            <a:r>
              <a:rPr lang="en-US" altLang="zh-TW" dirty="0"/>
              <a:t>state(S</a:t>
            </a:r>
            <a:r>
              <a:rPr lang="en-US" altLang="zh-TW" sz="1400" dirty="0"/>
              <a:t>6</a:t>
            </a:r>
            <a:r>
              <a:rPr lang="en-US" altLang="zh-TW" dirty="0"/>
              <a:t>)</a:t>
            </a:r>
            <a:endParaRPr lang="zh-TW" altLang="en-US" dirty="0"/>
          </a:p>
        </p:txBody>
      </p:sp>
      <p:cxnSp>
        <p:nvCxnSpPr>
          <p:cNvPr id="72" name="直線接點 71">
            <a:extLst>
              <a:ext uri="{FF2B5EF4-FFF2-40B4-BE49-F238E27FC236}">
                <a16:creationId xmlns:a16="http://schemas.microsoft.com/office/drawing/2014/main" id="{962D3438-4A3C-43E6-8B09-02853A9AE803}"/>
              </a:ext>
            </a:extLst>
          </p:cNvPr>
          <p:cNvCxnSpPr/>
          <p:nvPr/>
        </p:nvCxnSpPr>
        <p:spPr>
          <a:xfrm>
            <a:off x="576344" y="1755952"/>
            <a:ext cx="99433" cy="11927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3E6DB7F2-2857-448F-8FCE-2D892560613D}"/>
              </a:ext>
            </a:extLst>
          </p:cNvPr>
          <p:cNvCxnSpPr/>
          <p:nvPr/>
        </p:nvCxnSpPr>
        <p:spPr>
          <a:xfrm flipH="1">
            <a:off x="609729" y="1875222"/>
            <a:ext cx="66048" cy="258417"/>
          </a:xfrm>
          <a:prstGeom prst="line">
            <a:avLst/>
          </a:prstGeom>
        </p:spPr>
        <p:style>
          <a:lnRef idx="1">
            <a:schemeClr val="accent1"/>
          </a:lnRef>
          <a:fillRef idx="0">
            <a:schemeClr val="accent1"/>
          </a:fillRef>
          <a:effectRef idx="0">
            <a:schemeClr val="accent1"/>
          </a:effectRef>
          <a:fontRef idx="minor">
            <a:schemeClr val="tx1"/>
          </a:fontRef>
        </p:style>
      </p:cxnSp>
      <p:sp>
        <p:nvSpPr>
          <p:cNvPr id="76" name="手繪多邊形: 圖案 75">
            <a:extLst>
              <a:ext uri="{FF2B5EF4-FFF2-40B4-BE49-F238E27FC236}">
                <a16:creationId xmlns:a16="http://schemas.microsoft.com/office/drawing/2014/main" id="{3BA2E2DA-A683-4E89-ACFB-531C8BFB6FCF}"/>
              </a:ext>
            </a:extLst>
          </p:cNvPr>
          <p:cNvSpPr/>
          <p:nvPr/>
        </p:nvSpPr>
        <p:spPr>
          <a:xfrm>
            <a:off x="357112" y="1957802"/>
            <a:ext cx="3290549" cy="4810746"/>
          </a:xfrm>
          <a:custGeom>
            <a:avLst/>
            <a:gdLst>
              <a:gd name="connsiteX0" fmla="*/ 3290549 w 3290549"/>
              <a:gd name="connsiteY0" fmla="*/ 4423120 h 4810746"/>
              <a:gd name="connsiteX1" fmla="*/ 3201097 w 3290549"/>
              <a:gd name="connsiteY1" fmla="*/ 4522511 h 4810746"/>
              <a:gd name="connsiteX2" fmla="*/ 3151401 w 3290549"/>
              <a:gd name="connsiteY2" fmla="*/ 4532450 h 4810746"/>
              <a:gd name="connsiteX3" fmla="*/ 3012253 w 3290549"/>
              <a:gd name="connsiteY3" fmla="*/ 4602024 h 4810746"/>
              <a:gd name="connsiteX4" fmla="*/ 2972497 w 3290549"/>
              <a:gd name="connsiteY4" fmla="*/ 4621902 h 4810746"/>
              <a:gd name="connsiteX5" fmla="*/ 2902923 w 3290549"/>
              <a:gd name="connsiteY5" fmla="*/ 4641781 h 4810746"/>
              <a:gd name="connsiteX6" fmla="*/ 2803531 w 3290549"/>
              <a:gd name="connsiteY6" fmla="*/ 4681537 h 4810746"/>
              <a:gd name="connsiteX7" fmla="*/ 2724018 w 3290549"/>
              <a:gd name="connsiteY7" fmla="*/ 4701415 h 4810746"/>
              <a:gd name="connsiteX8" fmla="*/ 2574931 w 3290549"/>
              <a:gd name="connsiteY8" fmla="*/ 4741172 h 4810746"/>
              <a:gd name="connsiteX9" fmla="*/ 2465601 w 3290549"/>
              <a:gd name="connsiteY9" fmla="*/ 4770989 h 4810746"/>
              <a:gd name="connsiteX10" fmla="*/ 2266818 w 3290549"/>
              <a:gd name="connsiteY10" fmla="*/ 4790868 h 4810746"/>
              <a:gd name="connsiteX11" fmla="*/ 2177366 w 3290549"/>
              <a:gd name="connsiteY11" fmla="*/ 4800807 h 4810746"/>
              <a:gd name="connsiteX12" fmla="*/ 1938827 w 3290549"/>
              <a:gd name="connsiteY12" fmla="*/ 4810746 h 4810746"/>
              <a:gd name="connsiteX13" fmla="*/ 1372297 w 3290549"/>
              <a:gd name="connsiteY13" fmla="*/ 4790868 h 4810746"/>
              <a:gd name="connsiteX14" fmla="*/ 1233149 w 3290549"/>
              <a:gd name="connsiteY14" fmla="*/ 4770989 h 4810746"/>
              <a:gd name="connsiteX15" fmla="*/ 974731 w 3290549"/>
              <a:gd name="connsiteY15" fmla="*/ 4751111 h 4810746"/>
              <a:gd name="connsiteX16" fmla="*/ 915097 w 3290549"/>
              <a:gd name="connsiteY16" fmla="*/ 4731233 h 4810746"/>
              <a:gd name="connsiteX17" fmla="*/ 875340 w 3290549"/>
              <a:gd name="connsiteY17" fmla="*/ 4721294 h 4810746"/>
              <a:gd name="connsiteX18" fmla="*/ 815705 w 3290549"/>
              <a:gd name="connsiteY18" fmla="*/ 4701415 h 4810746"/>
              <a:gd name="connsiteX19" fmla="*/ 785888 w 3290549"/>
              <a:gd name="connsiteY19" fmla="*/ 4691476 h 4810746"/>
              <a:gd name="connsiteX20" fmla="*/ 686497 w 3290549"/>
              <a:gd name="connsiteY20" fmla="*/ 4651720 h 4810746"/>
              <a:gd name="connsiteX21" fmla="*/ 597045 w 3290549"/>
              <a:gd name="connsiteY21" fmla="*/ 4631841 h 4810746"/>
              <a:gd name="connsiteX22" fmla="*/ 537410 w 3290549"/>
              <a:gd name="connsiteY22" fmla="*/ 4611963 h 4810746"/>
              <a:gd name="connsiteX23" fmla="*/ 497653 w 3290549"/>
              <a:gd name="connsiteY23" fmla="*/ 4592085 h 4810746"/>
              <a:gd name="connsiteX24" fmla="*/ 467836 w 3290549"/>
              <a:gd name="connsiteY24" fmla="*/ 4582146 h 4810746"/>
              <a:gd name="connsiteX25" fmla="*/ 378384 w 3290549"/>
              <a:gd name="connsiteY25" fmla="*/ 4532450 h 4810746"/>
              <a:gd name="connsiteX26" fmla="*/ 328688 w 3290549"/>
              <a:gd name="connsiteY26" fmla="*/ 4502633 h 4810746"/>
              <a:gd name="connsiteX27" fmla="*/ 298871 w 3290549"/>
              <a:gd name="connsiteY27" fmla="*/ 4472815 h 4810746"/>
              <a:gd name="connsiteX28" fmla="*/ 288931 w 3290549"/>
              <a:gd name="connsiteY28" fmla="*/ 4442998 h 4810746"/>
              <a:gd name="connsiteX29" fmla="*/ 239236 w 3290549"/>
              <a:gd name="connsiteY29" fmla="*/ 4403241 h 4810746"/>
              <a:gd name="connsiteX30" fmla="*/ 199479 w 3290549"/>
              <a:gd name="connsiteY30" fmla="*/ 4343607 h 4810746"/>
              <a:gd name="connsiteX31" fmla="*/ 189540 w 3290549"/>
              <a:gd name="connsiteY31" fmla="*/ 4303850 h 4810746"/>
              <a:gd name="connsiteX32" fmla="*/ 169662 w 3290549"/>
              <a:gd name="connsiteY32" fmla="*/ 4274033 h 4810746"/>
              <a:gd name="connsiteX33" fmla="*/ 119966 w 3290549"/>
              <a:gd name="connsiteY33" fmla="*/ 4204459 h 4810746"/>
              <a:gd name="connsiteX34" fmla="*/ 90149 w 3290549"/>
              <a:gd name="connsiteY34" fmla="*/ 4105068 h 4810746"/>
              <a:gd name="connsiteX35" fmla="*/ 80210 w 3290549"/>
              <a:gd name="connsiteY35" fmla="*/ 4075250 h 4810746"/>
              <a:gd name="connsiteX36" fmla="*/ 70271 w 3290549"/>
              <a:gd name="connsiteY36" fmla="*/ 4045433 h 4810746"/>
              <a:gd name="connsiteX37" fmla="*/ 60331 w 3290549"/>
              <a:gd name="connsiteY37" fmla="*/ 4005676 h 4810746"/>
              <a:gd name="connsiteX38" fmla="*/ 20575 w 3290549"/>
              <a:gd name="connsiteY38" fmla="*/ 3965920 h 4810746"/>
              <a:gd name="connsiteX39" fmla="*/ 697 w 3290549"/>
              <a:gd name="connsiteY39" fmla="*/ 3727381 h 4810746"/>
              <a:gd name="connsiteX40" fmla="*/ 20575 w 3290549"/>
              <a:gd name="connsiteY40" fmla="*/ 3140972 h 4810746"/>
              <a:gd name="connsiteX41" fmla="*/ 30514 w 3290549"/>
              <a:gd name="connsiteY41" fmla="*/ 2723528 h 4810746"/>
              <a:gd name="connsiteX42" fmla="*/ 50392 w 3290549"/>
              <a:gd name="connsiteY42" fmla="*/ 2415415 h 4810746"/>
              <a:gd name="connsiteX43" fmla="*/ 70271 w 3290549"/>
              <a:gd name="connsiteY43" fmla="*/ 2176876 h 4810746"/>
              <a:gd name="connsiteX44" fmla="*/ 80210 w 3290549"/>
              <a:gd name="connsiteY44" fmla="*/ 795337 h 4810746"/>
              <a:gd name="connsiteX45" fmla="*/ 100088 w 3290549"/>
              <a:gd name="connsiteY45" fmla="*/ 427589 h 4810746"/>
              <a:gd name="connsiteX46" fmla="*/ 110027 w 3290549"/>
              <a:gd name="connsiteY46" fmla="*/ 298381 h 4810746"/>
              <a:gd name="connsiteX47" fmla="*/ 119966 w 3290549"/>
              <a:gd name="connsiteY47" fmla="*/ 268563 h 4810746"/>
              <a:gd name="connsiteX48" fmla="*/ 129905 w 3290549"/>
              <a:gd name="connsiteY48" fmla="*/ 218868 h 4810746"/>
              <a:gd name="connsiteX49" fmla="*/ 149784 w 3290549"/>
              <a:gd name="connsiteY49" fmla="*/ 159233 h 4810746"/>
              <a:gd name="connsiteX50" fmla="*/ 179601 w 3290549"/>
              <a:gd name="connsiteY50" fmla="*/ 89659 h 4810746"/>
              <a:gd name="connsiteX51" fmla="*/ 199479 w 3290549"/>
              <a:gd name="connsiteY51" fmla="*/ 59841 h 4810746"/>
              <a:gd name="connsiteX52" fmla="*/ 209418 w 3290549"/>
              <a:gd name="connsiteY52" fmla="*/ 30024 h 4810746"/>
              <a:gd name="connsiteX53" fmla="*/ 239236 w 3290549"/>
              <a:gd name="connsiteY53" fmla="*/ 20085 h 4810746"/>
              <a:gd name="connsiteX54" fmla="*/ 288931 w 3290549"/>
              <a:gd name="connsiteY54" fmla="*/ 207 h 481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290549" h="4810746">
                <a:moveTo>
                  <a:pt x="3290549" y="4423120"/>
                </a:moveTo>
                <a:cubicBezTo>
                  <a:pt x="3284134" y="4430818"/>
                  <a:pt x="3219113" y="4512502"/>
                  <a:pt x="3201097" y="4522511"/>
                </a:cubicBezTo>
                <a:cubicBezTo>
                  <a:pt x="3186329" y="4530715"/>
                  <a:pt x="3167966" y="4529137"/>
                  <a:pt x="3151401" y="4532450"/>
                </a:cubicBezTo>
                <a:cubicBezTo>
                  <a:pt x="3040297" y="4599113"/>
                  <a:pt x="3089493" y="4582715"/>
                  <a:pt x="3012253" y="4602024"/>
                </a:cubicBezTo>
                <a:cubicBezTo>
                  <a:pt x="2999001" y="4608650"/>
                  <a:pt x="2986370" y="4616700"/>
                  <a:pt x="2972497" y="4621902"/>
                </a:cubicBezTo>
                <a:cubicBezTo>
                  <a:pt x="2905224" y="4647129"/>
                  <a:pt x="2959007" y="4617744"/>
                  <a:pt x="2902923" y="4641781"/>
                </a:cubicBezTo>
                <a:cubicBezTo>
                  <a:pt x="2845348" y="4666456"/>
                  <a:pt x="2875916" y="4663441"/>
                  <a:pt x="2803531" y="4681537"/>
                </a:cubicBezTo>
                <a:cubicBezTo>
                  <a:pt x="2777027" y="4688163"/>
                  <a:pt x="2749936" y="4692775"/>
                  <a:pt x="2724018" y="4701415"/>
                </a:cubicBezTo>
                <a:cubicBezTo>
                  <a:pt x="2585157" y="4747704"/>
                  <a:pt x="2758090" y="4692330"/>
                  <a:pt x="2574931" y="4741172"/>
                </a:cubicBezTo>
                <a:cubicBezTo>
                  <a:pt x="2477867" y="4767055"/>
                  <a:pt x="2553099" y="4756406"/>
                  <a:pt x="2465601" y="4770989"/>
                </a:cubicBezTo>
                <a:cubicBezTo>
                  <a:pt x="2373299" y="4786372"/>
                  <a:pt x="2382443" y="4780356"/>
                  <a:pt x="2266818" y="4790868"/>
                </a:cubicBezTo>
                <a:cubicBezTo>
                  <a:pt x="2236940" y="4793584"/>
                  <a:pt x="2207312" y="4798992"/>
                  <a:pt x="2177366" y="4800807"/>
                </a:cubicBezTo>
                <a:cubicBezTo>
                  <a:pt x="2097930" y="4805621"/>
                  <a:pt x="2018340" y="4807433"/>
                  <a:pt x="1938827" y="4810746"/>
                </a:cubicBezTo>
                <a:cubicBezTo>
                  <a:pt x="1865231" y="4808859"/>
                  <a:pt x="1507550" y="4803548"/>
                  <a:pt x="1372297" y="4790868"/>
                </a:cubicBezTo>
                <a:cubicBezTo>
                  <a:pt x="1325648" y="4786495"/>
                  <a:pt x="1279841" y="4774880"/>
                  <a:pt x="1233149" y="4770989"/>
                </a:cubicBezTo>
                <a:cubicBezTo>
                  <a:pt x="1067539" y="4757188"/>
                  <a:pt x="1153672" y="4763892"/>
                  <a:pt x="974731" y="4751111"/>
                </a:cubicBezTo>
                <a:cubicBezTo>
                  <a:pt x="954853" y="4744485"/>
                  <a:pt x="935425" y="4736315"/>
                  <a:pt x="915097" y="4731233"/>
                </a:cubicBezTo>
                <a:cubicBezTo>
                  <a:pt x="901845" y="4727920"/>
                  <a:pt x="888424" y="4725219"/>
                  <a:pt x="875340" y="4721294"/>
                </a:cubicBezTo>
                <a:cubicBezTo>
                  <a:pt x="855270" y="4715273"/>
                  <a:pt x="835583" y="4708041"/>
                  <a:pt x="815705" y="4701415"/>
                </a:cubicBezTo>
                <a:cubicBezTo>
                  <a:pt x="805766" y="4698102"/>
                  <a:pt x="795259" y="4696161"/>
                  <a:pt x="785888" y="4691476"/>
                </a:cubicBezTo>
                <a:cubicBezTo>
                  <a:pt x="750550" y="4673808"/>
                  <a:pt x="727434" y="4659907"/>
                  <a:pt x="686497" y="4651720"/>
                </a:cubicBezTo>
                <a:cubicBezTo>
                  <a:pt x="658107" y="4646042"/>
                  <a:pt x="625131" y="4640267"/>
                  <a:pt x="597045" y="4631841"/>
                </a:cubicBezTo>
                <a:cubicBezTo>
                  <a:pt x="576975" y="4625820"/>
                  <a:pt x="556152" y="4621334"/>
                  <a:pt x="537410" y="4611963"/>
                </a:cubicBezTo>
                <a:cubicBezTo>
                  <a:pt x="524158" y="4605337"/>
                  <a:pt x="511272" y="4597921"/>
                  <a:pt x="497653" y="4592085"/>
                </a:cubicBezTo>
                <a:cubicBezTo>
                  <a:pt x="488023" y="4587958"/>
                  <a:pt x="476994" y="4587234"/>
                  <a:pt x="467836" y="4582146"/>
                </a:cubicBezTo>
                <a:cubicBezTo>
                  <a:pt x="365308" y="4525186"/>
                  <a:pt x="445852" y="4554939"/>
                  <a:pt x="378384" y="4532450"/>
                </a:cubicBezTo>
                <a:cubicBezTo>
                  <a:pt x="316467" y="4470536"/>
                  <a:pt x="406112" y="4554250"/>
                  <a:pt x="328688" y="4502633"/>
                </a:cubicBezTo>
                <a:cubicBezTo>
                  <a:pt x="316993" y="4494836"/>
                  <a:pt x="308810" y="4482754"/>
                  <a:pt x="298871" y="4472815"/>
                </a:cubicBezTo>
                <a:cubicBezTo>
                  <a:pt x="295558" y="4462876"/>
                  <a:pt x="295476" y="4451179"/>
                  <a:pt x="288931" y="4442998"/>
                </a:cubicBezTo>
                <a:cubicBezTo>
                  <a:pt x="235767" y="4376545"/>
                  <a:pt x="279759" y="4464027"/>
                  <a:pt x="239236" y="4403241"/>
                </a:cubicBezTo>
                <a:cubicBezTo>
                  <a:pt x="191103" y="4331041"/>
                  <a:pt x="245055" y="4389180"/>
                  <a:pt x="199479" y="4343607"/>
                </a:cubicBezTo>
                <a:cubicBezTo>
                  <a:pt x="196166" y="4330355"/>
                  <a:pt x="194921" y="4316406"/>
                  <a:pt x="189540" y="4303850"/>
                </a:cubicBezTo>
                <a:cubicBezTo>
                  <a:pt x="184835" y="4292871"/>
                  <a:pt x="176605" y="4283753"/>
                  <a:pt x="169662" y="4274033"/>
                </a:cubicBezTo>
                <a:cubicBezTo>
                  <a:pt x="108003" y="4187709"/>
                  <a:pt x="166827" y="4274747"/>
                  <a:pt x="119966" y="4204459"/>
                </a:cubicBezTo>
                <a:cubicBezTo>
                  <a:pt x="104945" y="4144372"/>
                  <a:pt x="114348" y="4177664"/>
                  <a:pt x="90149" y="4105068"/>
                </a:cubicBezTo>
                <a:lnTo>
                  <a:pt x="80210" y="4075250"/>
                </a:lnTo>
                <a:cubicBezTo>
                  <a:pt x="76897" y="4065311"/>
                  <a:pt x="72812" y="4055597"/>
                  <a:pt x="70271" y="4045433"/>
                </a:cubicBezTo>
                <a:cubicBezTo>
                  <a:pt x="66958" y="4032181"/>
                  <a:pt x="67571" y="4017260"/>
                  <a:pt x="60331" y="4005676"/>
                </a:cubicBezTo>
                <a:cubicBezTo>
                  <a:pt x="50398" y="3989784"/>
                  <a:pt x="33827" y="3979172"/>
                  <a:pt x="20575" y="3965920"/>
                </a:cubicBezTo>
                <a:cubicBezTo>
                  <a:pt x="4548" y="3869756"/>
                  <a:pt x="697" y="3860064"/>
                  <a:pt x="697" y="3727381"/>
                </a:cubicBezTo>
                <a:cubicBezTo>
                  <a:pt x="697" y="3295280"/>
                  <a:pt x="-5752" y="3377921"/>
                  <a:pt x="20575" y="3140972"/>
                </a:cubicBezTo>
                <a:cubicBezTo>
                  <a:pt x="23888" y="3001824"/>
                  <a:pt x="25877" y="2862638"/>
                  <a:pt x="30514" y="2723528"/>
                </a:cubicBezTo>
                <a:cubicBezTo>
                  <a:pt x="37089" y="2526266"/>
                  <a:pt x="40038" y="2586259"/>
                  <a:pt x="50392" y="2415415"/>
                </a:cubicBezTo>
                <a:cubicBezTo>
                  <a:pt x="63987" y="2191095"/>
                  <a:pt x="43627" y="2283444"/>
                  <a:pt x="70271" y="2176876"/>
                </a:cubicBezTo>
                <a:cubicBezTo>
                  <a:pt x="73584" y="1716363"/>
                  <a:pt x="74855" y="1255831"/>
                  <a:pt x="80210" y="795337"/>
                </a:cubicBezTo>
                <a:cubicBezTo>
                  <a:pt x="83871" y="480458"/>
                  <a:pt x="64457" y="570118"/>
                  <a:pt x="100088" y="427589"/>
                </a:cubicBezTo>
                <a:cubicBezTo>
                  <a:pt x="103401" y="384520"/>
                  <a:pt x="104669" y="341244"/>
                  <a:pt x="110027" y="298381"/>
                </a:cubicBezTo>
                <a:cubicBezTo>
                  <a:pt x="111326" y="287985"/>
                  <a:pt x="117425" y="278727"/>
                  <a:pt x="119966" y="268563"/>
                </a:cubicBezTo>
                <a:cubicBezTo>
                  <a:pt x="124063" y="252174"/>
                  <a:pt x="125460" y="235166"/>
                  <a:pt x="129905" y="218868"/>
                </a:cubicBezTo>
                <a:cubicBezTo>
                  <a:pt x="135418" y="198653"/>
                  <a:pt x="143158" y="179111"/>
                  <a:pt x="149784" y="159233"/>
                </a:cubicBezTo>
                <a:cubicBezTo>
                  <a:pt x="160936" y="125777"/>
                  <a:pt x="159948" y="124053"/>
                  <a:pt x="179601" y="89659"/>
                </a:cubicBezTo>
                <a:cubicBezTo>
                  <a:pt x="185528" y="79287"/>
                  <a:pt x="194137" y="70525"/>
                  <a:pt x="199479" y="59841"/>
                </a:cubicBezTo>
                <a:cubicBezTo>
                  <a:pt x="204164" y="50470"/>
                  <a:pt x="202010" y="37432"/>
                  <a:pt x="209418" y="30024"/>
                </a:cubicBezTo>
                <a:cubicBezTo>
                  <a:pt x="216826" y="22616"/>
                  <a:pt x="229297" y="23398"/>
                  <a:pt x="239236" y="20085"/>
                </a:cubicBezTo>
                <a:cubicBezTo>
                  <a:pt x="274566" y="-3468"/>
                  <a:pt x="257108" y="207"/>
                  <a:pt x="288931" y="20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7" name="圖片 76">
            <a:extLst>
              <a:ext uri="{FF2B5EF4-FFF2-40B4-BE49-F238E27FC236}">
                <a16:creationId xmlns:a16="http://schemas.microsoft.com/office/drawing/2014/main" id="{63CEA086-0906-407C-8331-046267FE3586}"/>
              </a:ext>
            </a:extLst>
          </p:cNvPr>
          <p:cNvPicPr>
            <a:picLocks noChangeAspect="1"/>
          </p:cNvPicPr>
          <p:nvPr/>
        </p:nvPicPr>
        <p:blipFill rotWithShape="1">
          <a:blip r:embed="rId2"/>
          <a:srcRect l="1256"/>
          <a:stretch/>
        </p:blipFill>
        <p:spPr>
          <a:xfrm>
            <a:off x="6461449" y="4333530"/>
            <a:ext cx="5199461" cy="2010840"/>
          </a:xfrm>
          <a:prstGeom prst="rect">
            <a:avLst/>
          </a:prstGeom>
        </p:spPr>
      </p:pic>
    </p:spTree>
    <p:extLst>
      <p:ext uri="{BB962C8B-B14F-4D97-AF65-F5344CB8AC3E}">
        <p14:creationId xmlns:p14="http://schemas.microsoft.com/office/powerpoint/2010/main" val="3387820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000"/>
                                        <p:tgtEl>
                                          <p:spTgt spid="77"/>
                                        </p:tgtEl>
                                      </p:cBhvr>
                                    </p:animEffect>
                                    <p:anim calcmode="lin" valueType="num">
                                      <p:cBhvr>
                                        <p:cTn id="8" dur="1000" fill="hold"/>
                                        <p:tgtEl>
                                          <p:spTgt spid="77"/>
                                        </p:tgtEl>
                                        <p:attrNameLst>
                                          <p:attrName>ppt_x</p:attrName>
                                        </p:attrNameLst>
                                      </p:cBhvr>
                                      <p:tavLst>
                                        <p:tav tm="0">
                                          <p:val>
                                            <p:strVal val="#ppt_x"/>
                                          </p:val>
                                        </p:tav>
                                        <p:tav tm="100000">
                                          <p:val>
                                            <p:strVal val="#ppt_x"/>
                                          </p:val>
                                        </p:tav>
                                      </p:tavLst>
                                    </p:anim>
                                    <p:anim calcmode="lin" valueType="num">
                                      <p:cBhvr>
                                        <p:cTn id="9"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F6C5A170-52F9-46E0-9162-EAD3F06DE5A9}"/>
              </a:ext>
            </a:extLst>
          </p:cNvPr>
          <p:cNvSpPr txBox="1"/>
          <p:nvPr/>
        </p:nvSpPr>
        <p:spPr>
          <a:xfrm>
            <a:off x="325105" y="157455"/>
            <a:ext cx="4087869" cy="584775"/>
          </a:xfrm>
          <a:prstGeom prst="rect">
            <a:avLst/>
          </a:prstGeom>
          <a:noFill/>
        </p:spPr>
        <p:txBody>
          <a:bodyPr wrap="square" rtlCol="0">
            <a:spAutoFit/>
          </a:bodyPr>
          <a:lstStyle/>
          <a:p>
            <a:r>
              <a:rPr lang="en-US" altLang="zh-TW" sz="3200" dirty="0"/>
              <a:t>Step1. Selection</a:t>
            </a:r>
            <a:endParaRPr lang="zh-TW" altLang="en-US" sz="3200" dirty="0"/>
          </a:p>
        </p:txBody>
      </p:sp>
      <p:sp>
        <p:nvSpPr>
          <p:cNvPr id="4" name="橢圓 3">
            <a:extLst>
              <a:ext uri="{FF2B5EF4-FFF2-40B4-BE49-F238E27FC236}">
                <a16:creationId xmlns:a16="http://schemas.microsoft.com/office/drawing/2014/main" id="{03B0660E-4575-4C83-A512-DF66A33EB775}"/>
              </a:ext>
            </a:extLst>
          </p:cNvPr>
          <p:cNvSpPr/>
          <p:nvPr/>
        </p:nvSpPr>
        <p:spPr>
          <a:xfrm>
            <a:off x="849796" y="844826"/>
            <a:ext cx="1321905" cy="4572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Start</a:t>
            </a:r>
            <a:endParaRPr lang="zh-TW" altLang="en-US" sz="2000" dirty="0">
              <a:solidFill>
                <a:schemeClr val="tx1"/>
              </a:solidFill>
            </a:endParaRPr>
          </a:p>
        </p:txBody>
      </p:sp>
      <p:sp>
        <p:nvSpPr>
          <p:cNvPr id="5" name="矩形: 圓角 4">
            <a:extLst>
              <a:ext uri="{FF2B5EF4-FFF2-40B4-BE49-F238E27FC236}">
                <a16:creationId xmlns:a16="http://schemas.microsoft.com/office/drawing/2014/main" id="{B5D1BC06-01B5-4B01-8E7F-5E44F65B57A4}"/>
              </a:ext>
            </a:extLst>
          </p:cNvPr>
          <p:cNvSpPr/>
          <p:nvPr/>
        </p:nvSpPr>
        <p:spPr>
          <a:xfrm>
            <a:off x="699265" y="1629212"/>
            <a:ext cx="1669774" cy="457199"/>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Current State</a:t>
            </a:r>
            <a:endParaRPr lang="zh-TW" altLang="en-US" sz="2000" dirty="0">
              <a:solidFill>
                <a:schemeClr val="tx1"/>
              </a:solidFill>
            </a:endParaRPr>
          </a:p>
        </p:txBody>
      </p:sp>
      <p:sp>
        <p:nvSpPr>
          <p:cNvPr id="6" name="矩形 5">
            <a:extLst>
              <a:ext uri="{FF2B5EF4-FFF2-40B4-BE49-F238E27FC236}">
                <a16:creationId xmlns:a16="http://schemas.microsoft.com/office/drawing/2014/main" id="{EA72994E-DE35-42BC-8F99-B4E551A5C14F}"/>
              </a:ext>
            </a:extLst>
          </p:cNvPr>
          <p:cNvSpPr/>
          <p:nvPr/>
        </p:nvSpPr>
        <p:spPr>
          <a:xfrm rot="18391159">
            <a:off x="964227" y="2628119"/>
            <a:ext cx="1216836" cy="135555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7" name="矩形 6">
            <a:extLst>
              <a:ext uri="{FF2B5EF4-FFF2-40B4-BE49-F238E27FC236}">
                <a16:creationId xmlns:a16="http://schemas.microsoft.com/office/drawing/2014/main" id="{52D55F95-C982-4A3C-AEB7-644A27D1268F}"/>
              </a:ext>
            </a:extLst>
          </p:cNvPr>
          <p:cNvSpPr/>
          <p:nvPr/>
        </p:nvSpPr>
        <p:spPr>
          <a:xfrm>
            <a:off x="962756" y="2742113"/>
            <a:ext cx="1251321" cy="1015663"/>
          </a:xfrm>
          <a:prstGeom prst="rect">
            <a:avLst/>
          </a:prstGeom>
        </p:spPr>
        <p:txBody>
          <a:bodyPr wrap="square">
            <a:spAutoFit/>
          </a:bodyPr>
          <a:lstStyle/>
          <a:p>
            <a:pPr algn="ctr"/>
            <a:r>
              <a:rPr lang="en-US" altLang="zh-TW" sz="2000" dirty="0"/>
              <a:t>Is current </a:t>
            </a:r>
          </a:p>
          <a:p>
            <a:pPr algn="ctr"/>
            <a:r>
              <a:rPr lang="en-US" altLang="zh-TW" sz="2000" dirty="0"/>
              <a:t>state a</a:t>
            </a:r>
          </a:p>
          <a:p>
            <a:pPr algn="ctr"/>
            <a:r>
              <a:rPr lang="en-US" altLang="zh-TW" sz="2000" dirty="0"/>
              <a:t>leaf node?  </a:t>
            </a:r>
            <a:endParaRPr lang="zh-TW" altLang="en-US" sz="2000" dirty="0"/>
          </a:p>
        </p:txBody>
      </p:sp>
      <p:sp>
        <p:nvSpPr>
          <p:cNvPr id="8" name="矩形: 圓角 7">
            <a:extLst>
              <a:ext uri="{FF2B5EF4-FFF2-40B4-BE49-F238E27FC236}">
                <a16:creationId xmlns:a16="http://schemas.microsoft.com/office/drawing/2014/main" id="{87061FCB-D8F6-41F2-803E-BF7E40EE89C0}"/>
              </a:ext>
            </a:extLst>
          </p:cNvPr>
          <p:cNvSpPr/>
          <p:nvPr/>
        </p:nvSpPr>
        <p:spPr>
          <a:xfrm>
            <a:off x="3159318" y="2957556"/>
            <a:ext cx="1933564" cy="584775"/>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Current = max[UCB1(S</a:t>
            </a:r>
            <a:r>
              <a:rPr lang="en-US" altLang="zh-TW" sz="1600" dirty="0">
                <a:solidFill>
                  <a:schemeClr val="tx1"/>
                </a:solidFill>
              </a:rPr>
              <a:t>i</a:t>
            </a:r>
            <a:r>
              <a:rPr lang="en-US" altLang="zh-TW" sz="2000" dirty="0">
                <a:solidFill>
                  <a:schemeClr val="tx1"/>
                </a:solidFill>
              </a:rPr>
              <a:t>)]</a:t>
            </a:r>
            <a:endParaRPr lang="zh-TW" altLang="en-US" sz="2000" dirty="0">
              <a:solidFill>
                <a:schemeClr val="tx1"/>
              </a:solidFill>
            </a:endParaRPr>
          </a:p>
        </p:txBody>
      </p:sp>
      <p:sp>
        <p:nvSpPr>
          <p:cNvPr id="9" name="矩形: 圓角 8">
            <a:extLst>
              <a:ext uri="{FF2B5EF4-FFF2-40B4-BE49-F238E27FC236}">
                <a16:creationId xmlns:a16="http://schemas.microsoft.com/office/drawing/2014/main" id="{93E7F3BF-7177-4031-B948-2FE7F69AEF05}"/>
              </a:ext>
            </a:extLst>
          </p:cNvPr>
          <p:cNvSpPr/>
          <p:nvPr/>
        </p:nvSpPr>
        <p:spPr>
          <a:xfrm>
            <a:off x="665880" y="4771589"/>
            <a:ext cx="2045199" cy="457199"/>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Node Expansion</a:t>
            </a:r>
            <a:endParaRPr lang="zh-TW" altLang="en-US" sz="2000" dirty="0">
              <a:solidFill>
                <a:schemeClr val="tx1"/>
              </a:solidFill>
            </a:endParaRPr>
          </a:p>
        </p:txBody>
      </p:sp>
      <p:sp>
        <p:nvSpPr>
          <p:cNvPr id="10" name="矩形: 圓角 9">
            <a:extLst>
              <a:ext uri="{FF2B5EF4-FFF2-40B4-BE49-F238E27FC236}">
                <a16:creationId xmlns:a16="http://schemas.microsoft.com/office/drawing/2014/main" id="{112AE73D-9209-465D-AAD7-A4D00B3C3873}"/>
              </a:ext>
            </a:extLst>
          </p:cNvPr>
          <p:cNvSpPr/>
          <p:nvPr/>
        </p:nvSpPr>
        <p:spPr>
          <a:xfrm>
            <a:off x="809636" y="5802184"/>
            <a:ext cx="1669774" cy="54218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Simulation</a:t>
            </a:r>
          </a:p>
          <a:p>
            <a:pPr algn="ctr"/>
            <a:r>
              <a:rPr lang="en-US" altLang="zh-TW" sz="2000" dirty="0">
                <a:solidFill>
                  <a:schemeClr val="tx1"/>
                </a:solidFill>
              </a:rPr>
              <a:t>(Rollout)</a:t>
            </a:r>
            <a:endParaRPr lang="zh-TW" altLang="en-US" sz="2000" dirty="0">
              <a:solidFill>
                <a:schemeClr val="tx1"/>
              </a:solidFill>
            </a:endParaRPr>
          </a:p>
        </p:txBody>
      </p:sp>
      <p:sp>
        <p:nvSpPr>
          <p:cNvPr id="11" name="矩形: 圓角 10">
            <a:extLst>
              <a:ext uri="{FF2B5EF4-FFF2-40B4-BE49-F238E27FC236}">
                <a16:creationId xmlns:a16="http://schemas.microsoft.com/office/drawing/2014/main" id="{FC4F37B0-28FC-49C4-883C-FCC2ED40F3AC}"/>
              </a:ext>
            </a:extLst>
          </p:cNvPr>
          <p:cNvSpPr/>
          <p:nvPr/>
        </p:nvSpPr>
        <p:spPr>
          <a:xfrm>
            <a:off x="3246998" y="5802184"/>
            <a:ext cx="2040610" cy="54218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Backpropagation</a:t>
            </a:r>
            <a:endParaRPr lang="zh-TW" altLang="en-US" sz="2000" dirty="0">
              <a:solidFill>
                <a:schemeClr val="tx1"/>
              </a:solidFill>
            </a:endParaRPr>
          </a:p>
        </p:txBody>
      </p:sp>
      <p:sp>
        <p:nvSpPr>
          <p:cNvPr id="12" name="箭號: 向下 11">
            <a:extLst>
              <a:ext uri="{FF2B5EF4-FFF2-40B4-BE49-F238E27FC236}">
                <a16:creationId xmlns:a16="http://schemas.microsoft.com/office/drawing/2014/main" id="{C8858C34-9E7A-4F8C-A2F7-08C6D4C548EC}"/>
              </a:ext>
            </a:extLst>
          </p:cNvPr>
          <p:cNvSpPr/>
          <p:nvPr/>
        </p:nvSpPr>
        <p:spPr>
          <a:xfrm>
            <a:off x="1334106" y="1315625"/>
            <a:ext cx="238539" cy="32718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箭號: 向下 12">
            <a:extLst>
              <a:ext uri="{FF2B5EF4-FFF2-40B4-BE49-F238E27FC236}">
                <a16:creationId xmlns:a16="http://schemas.microsoft.com/office/drawing/2014/main" id="{143D2375-9963-4933-ACDD-BC7738AA178D}"/>
              </a:ext>
            </a:extLst>
          </p:cNvPr>
          <p:cNvSpPr/>
          <p:nvPr/>
        </p:nvSpPr>
        <p:spPr>
          <a:xfrm>
            <a:off x="1334105" y="2086411"/>
            <a:ext cx="238539" cy="32718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箭號: 向下 13">
            <a:extLst>
              <a:ext uri="{FF2B5EF4-FFF2-40B4-BE49-F238E27FC236}">
                <a16:creationId xmlns:a16="http://schemas.microsoft.com/office/drawing/2014/main" id="{B0991007-23DC-4447-B5C8-1F645725EE55}"/>
              </a:ext>
            </a:extLst>
          </p:cNvPr>
          <p:cNvSpPr/>
          <p:nvPr/>
        </p:nvSpPr>
        <p:spPr>
          <a:xfrm>
            <a:off x="1534152" y="4198194"/>
            <a:ext cx="314526" cy="6620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箭號: 向下 14">
            <a:extLst>
              <a:ext uri="{FF2B5EF4-FFF2-40B4-BE49-F238E27FC236}">
                <a16:creationId xmlns:a16="http://schemas.microsoft.com/office/drawing/2014/main" id="{9CF31622-7A95-444C-9189-1098E2DC1991}"/>
              </a:ext>
            </a:extLst>
          </p:cNvPr>
          <p:cNvSpPr/>
          <p:nvPr/>
        </p:nvSpPr>
        <p:spPr>
          <a:xfrm>
            <a:off x="1534152" y="5228788"/>
            <a:ext cx="314526" cy="5421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箭號: 向右 15">
            <a:extLst>
              <a:ext uri="{FF2B5EF4-FFF2-40B4-BE49-F238E27FC236}">
                <a16:creationId xmlns:a16="http://schemas.microsoft.com/office/drawing/2014/main" id="{65E3C35E-BAFA-49E5-A2E5-DCAAF6F26BA7}"/>
              </a:ext>
            </a:extLst>
          </p:cNvPr>
          <p:cNvSpPr/>
          <p:nvPr/>
        </p:nvSpPr>
        <p:spPr>
          <a:xfrm>
            <a:off x="2479410" y="5938793"/>
            <a:ext cx="767588" cy="291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箭號: 向右 17">
            <a:extLst>
              <a:ext uri="{FF2B5EF4-FFF2-40B4-BE49-F238E27FC236}">
                <a16:creationId xmlns:a16="http://schemas.microsoft.com/office/drawing/2014/main" id="{AC38B7EA-6052-42AA-B45B-2C3030F43AF1}"/>
              </a:ext>
            </a:extLst>
          </p:cNvPr>
          <p:cNvSpPr/>
          <p:nvPr/>
        </p:nvSpPr>
        <p:spPr>
          <a:xfrm>
            <a:off x="2479410" y="3126020"/>
            <a:ext cx="679908" cy="302174"/>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橢圓 77">
            <a:extLst>
              <a:ext uri="{FF2B5EF4-FFF2-40B4-BE49-F238E27FC236}">
                <a16:creationId xmlns:a16="http://schemas.microsoft.com/office/drawing/2014/main" id="{3AB53DF6-4BFA-4FD8-868D-7C7AD52085E3}"/>
              </a:ext>
            </a:extLst>
          </p:cNvPr>
          <p:cNvSpPr/>
          <p:nvPr/>
        </p:nvSpPr>
        <p:spPr>
          <a:xfrm>
            <a:off x="8435011" y="655494"/>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橢圓 78">
            <a:extLst>
              <a:ext uri="{FF2B5EF4-FFF2-40B4-BE49-F238E27FC236}">
                <a16:creationId xmlns:a16="http://schemas.microsoft.com/office/drawing/2014/main" id="{9906ADA4-A823-4250-A63B-023A0C525F4B}"/>
              </a:ext>
            </a:extLst>
          </p:cNvPr>
          <p:cNvSpPr/>
          <p:nvPr/>
        </p:nvSpPr>
        <p:spPr>
          <a:xfrm>
            <a:off x="6977273" y="1896760"/>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橢圓 79">
            <a:extLst>
              <a:ext uri="{FF2B5EF4-FFF2-40B4-BE49-F238E27FC236}">
                <a16:creationId xmlns:a16="http://schemas.microsoft.com/office/drawing/2014/main" id="{FCA08DF3-7B44-489F-B431-A934EDF74D65}"/>
              </a:ext>
            </a:extLst>
          </p:cNvPr>
          <p:cNvSpPr/>
          <p:nvPr/>
        </p:nvSpPr>
        <p:spPr>
          <a:xfrm>
            <a:off x="8435011" y="1896759"/>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D78412E0-BF73-4D07-805C-F2A42160DD99}"/>
              </a:ext>
            </a:extLst>
          </p:cNvPr>
          <p:cNvSpPr/>
          <p:nvPr/>
        </p:nvSpPr>
        <p:spPr>
          <a:xfrm>
            <a:off x="9892749" y="1885206"/>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文字方塊 81">
            <a:extLst>
              <a:ext uri="{FF2B5EF4-FFF2-40B4-BE49-F238E27FC236}">
                <a16:creationId xmlns:a16="http://schemas.microsoft.com/office/drawing/2014/main" id="{6BDED808-873A-46E8-845F-784BB3D9565C}"/>
              </a:ext>
            </a:extLst>
          </p:cNvPr>
          <p:cNvSpPr txBox="1"/>
          <p:nvPr/>
        </p:nvSpPr>
        <p:spPr>
          <a:xfrm>
            <a:off x="8431700" y="740646"/>
            <a:ext cx="1139688" cy="369332"/>
          </a:xfrm>
          <a:prstGeom prst="rect">
            <a:avLst/>
          </a:prstGeom>
          <a:noFill/>
        </p:spPr>
        <p:txBody>
          <a:bodyPr wrap="square" rtlCol="0">
            <a:spAutoFit/>
          </a:bodyPr>
          <a:lstStyle/>
          <a:p>
            <a:r>
              <a:rPr lang="en-US" altLang="zh-TW" dirty="0"/>
              <a:t>state(S</a:t>
            </a:r>
            <a:r>
              <a:rPr lang="en-US" altLang="zh-TW" sz="1400" dirty="0"/>
              <a:t>0</a:t>
            </a:r>
            <a:r>
              <a:rPr lang="en-US" altLang="zh-TW" dirty="0"/>
              <a:t>)</a:t>
            </a:r>
            <a:endParaRPr lang="zh-TW" altLang="en-US" dirty="0"/>
          </a:p>
        </p:txBody>
      </p:sp>
      <p:sp>
        <p:nvSpPr>
          <p:cNvPr id="83" name="文字方塊 82">
            <a:extLst>
              <a:ext uri="{FF2B5EF4-FFF2-40B4-BE49-F238E27FC236}">
                <a16:creationId xmlns:a16="http://schemas.microsoft.com/office/drawing/2014/main" id="{6C47E261-053A-47C4-A08E-91E559253AE2}"/>
              </a:ext>
            </a:extLst>
          </p:cNvPr>
          <p:cNvSpPr txBox="1"/>
          <p:nvPr/>
        </p:nvSpPr>
        <p:spPr>
          <a:xfrm>
            <a:off x="6977273" y="1978835"/>
            <a:ext cx="1139688" cy="369332"/>
          </a:xfrm>
          <a:prstGeom prst="rect">
            <a:avLst/>
          </a:prstGeom>
          <a:noFill/>
        </p:spPr>
        <p:txBody>
          <a:bodyPr wrap="square" rtlCol="0">
            <a:spAutoFit/>
          </a:bodyPr>
          <a:lstStyle/>
          <a:p>
            <a:r>
              <a:rPr lang="en-US" altLang="zh-TW" dirty="0"/>
              <a:t>state(S</a:t>
            </a:r>
            <a:r>
              <a:rPr lang="en-US" altLang="zh-TW" sz="1400" dirty="0"/>
              <a:t>1</a:t>
            </a:r>
            <a:r>
              <a:rPr lang="en-US" altLang="zh-TW" dirty="0"/>
              <a:t>)</a:t>
            </a:r>
            <a:endParaRPr lang="zh-TW" altLang="en-US" dirty="0"/>
          </a:p>
        </p:txBody>
      </p:sp>
      <p:sp>
        <p:nvSpPr>
          <p:cNvPr id="84" name="文字方塊 83">
            <a:extLst>
              <a:ext uri="{FF2B5EF4-FFF2-40B4-BE49-F238E27FC236}">
                <a16:creationId xmlns:a16="http://schemas.microsoft.com/office/drawing/2014/main" id="{DB2847C1-1B11-41FC-81B8-2B011AB9B4EA}"/>
              </a:ext>
            </a:extLst>
          </p:cNvPr>
          <p:cNvSpPr txBox="1"/>
          <p:nvPr/>
        </p:nvSpPr>
        <p:spPr>
          <a:xfrm>
            <a:off x="8435011" y="1968896"/>
            <a:ext cx="1139688" cy="369332"/>
          </a:xfrm>
          <a:prstGeom prst="rect">
            <a:avLst/>
          </a:prstGeom>
          <a:noFill/>
        </p:spPr>
        <p:txBody>
          <a:bodyPr wrap="square" rtlCol="0">
            <a:spAutoFit/>
          </a:bodyPr>
          <a:lstStyle/>
          <a:p>
            <a:r>
              <a:rPr lang="en-US" altLang="zh-TW" dirty="0"/>
              <a:t>state(S</a:t>
            </a:r>
            <a:r>
              <a:rPr lang="en-US" altLang="zh-TW" sz="1400" dirty="0"/>
              <a:t>2</a:t>
            </a:r>
            <a:r>
              <a:rPr lang="en-US" altLang="zh-TW" dirty="0"/>
              <a:t>)</a:t>
            </a:r>
            <a:endParaRPr lang="zh-TW" altLang="en-US" dirty="0"/>
          </a:p>
        </p:txBody>
      </p:sp>
      <p:sp>
        <p:nvSpPr>
          <p:cNvPr id="85" name="文字方塊 84">
            <a:extLst>
              <a:ext uri="{FF2B5EF4-FFF2-40B4-BE49-F238E27FC236}">
                <a16:creationId xmlns:a16="http://schemas.microsoft.com/office/drawing/2014/main" id="{332416A6-9B08-4839-AF00-E3C874BD5A03}"/>
              </a:ext>
            </a:extLst>
          </p:cNvPr>
          <p:cNvSpPr txBox="1"/>
          <p:nvPr/>
        </p:nvSpPr>
        <p:spPr>
          <a:xfrm>
            <a:off x="9843051" y="1958957"/>
            <a:ext cx="1139688" cy="369332"/>
          </a:xfrm>
          <a:prstGeom prst="rect">
            <a:avLst/>
          </a:prstGeom>
          <a:noFill/>
        </p:spPr>
        <p:txBody>
          <a:bodyPr wrap="square" rtlCol="0">
            <a:spAutoFit/>
          </a:bodyPr>
          <a:lstStyle/>
          <a:p>
            <a:r>
              <a:rPr lang="en-US" altLang="zh-TW" dirty="0"/>
              <a:t>state(S</a:t>
            </a:r>
            <a:r>
              <a:rPr lang="en-US" altLang="zh-TW" sz="1400" dirty="0"/>
              <a:t>3</a:t>
            </a:r>
            <a:r>
              <a:rPr lang="en-US" altLang="zh-TW" dirty="0"/>
              <a:t>)</a:t>
            </a:r>
            <a:endParaRPr lang="zh-TW" altLang="en-US" dirty="0"/>
          </a:p>
        </p:txBody>
      </p:sp>
      <p:cxnSp>
        <p:nvCxnSpPr>
          <p:cNvPr id="86" name="直線單箭頭接點 85">
            <a:extLst>
              <a:ext uri="{FF2B5EF4-FFF2-40B4-BE49-F238E27FC236}">
                <a16:creationId xmlns:a16="http://schemas.microsoft.com/office/drawing/2014/main" id="{49120735-C87D-4073-9D43-3E53926ED9B5}"/>
              </a:ext>
            </a:extLst>
          </p:cNvPr>
          <p:cNvCxnSpPr>
            <a:stCxn id="82" idx="1"/>
            <a:endCxn id="79" idx="0"/>
          </p:cNvCxnSpPr>
          <p:nvPr/>
        </p:nvCxnSpPr>
        <p:spPr>
          <a:xfrm flipH="1">
            <a:off x="7414595" y="925312"/>
            <a:ext cx="1017105" cy="9714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EF6368D2-7528-4A34-B3D7-E5D45DD4AFA2}"/>
              </a:ext>
            </a:extLst>
          </p:cNvPr>
          <p:cNvCxnSpPr>
            <a:stCxn id="78" idx="4"/>
            <a:endCxn id="80" idx="0"/>
          </p:cNvCxnSpPr>
          <p:nvPr/>
        </p:nvCxnSpPr>
        <p:spPr>
          <a:xfrm>
            <a:off x="8872333" y="1212085"/>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E1FDF6A6-4362-457E-A9B0-B0063D396B54}"/>
              </a:ext>
            </a:extLst>
          </p:cNvPr>
          <p:cNvCxnSpPr/>
          <p:nvPr/>
        </p:nvCxnSpPr>
        <p:spPr>
          <a:xfrm>
            <a:off x="9309654" y="933789"/>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橢圓 88">
            <a:extLst>
              <a:ext uri="{FF2B5EF4-FFF2-40B4-BE49-F238E27FC236}">
                <a16:creationId xmlns:a16="http://schemas.microsoft.com/office/drawing/2014/main" id="{25D0C4F7-8B63-4E8F-BE92-F52EE7DAAF98}"/>
              </a:ext>
            </a:extLst>
          </p:cNvPr>
          <p:cNvSpPr/>
          <p:nvPr/>
        </p:nvSpPr>
        <p:spPr>
          <a:xfrm>
            <a:off x="5787069" y="3385043"/>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橢圓 89">
            <a:extLst>
              <a:ext uri="{FF2B5EF4-FFF2-40B4-BE49-F238E27FC236}">
                <a16:creationId xmlns:a16="http://schemas.microsoft.com/office/drawing/2014/main" id="{000C8EF1-8FB9-44A5-9BF5-B48FFA24994E}"/>
              </a:ext>
            </a:extLst>
          </p:cNvPr>
          <p:cNvSpPr/>
          <p:nvPr/>
        </p:nvSpPr>
        <p:spPr>
          <a:xfrm>
            <a:off x="7020353" y="3163386"/>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橢圓 90">
            <a:extLst>
              <a:ext uri="{FF2B5EF4-FFF2-40B4-BE49-F238E27FC236}">
                <a16:creationId xmlns:a16="http://schemas.microsoft.com/office/drawing/2014/main" id="{3D2A39E3-21D6-4D2A-B94F-D7D3F925A5D7}"/>
              </a:ext>
            </a:extLst>
          </p:cNvPr>
          <p:cNvSpPr/>
          <p:nvPr/>
        </p:nvSpPr>
        <p:spPr>
          <a:xfrm>
            <a:off x="8186537" y="3305894"/>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2" name="直線單箭頭接點 91">
            <a:extLst>
              <a:ext uri="{FF2B5EF4-FFF2-40B4-BE49-F238E27FC236}">
                <a16:creationId xmlns:a16="http://schemas.microsoft.com/office/drawing/2014/main" id="{4551FAA6-7DAF-4949-9281-511DD52D3C5C}"/>
              </a:ext>
            </a:extLst>
          </p:cNvPr>
          <p:cNvCxnSpPr>
            <a:cxnSpLocks/>
          </p:cNvCxnSpPr>
          <p:nvPr/>
        </p:nvCxnSpPr>
        <p:spPr>
          <a:xfrm flipH="1">
            <a:off x="6167234" y="2413595"/>
            <a:ext cx="1017105" cy="9714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a:extLst>
              <a:ext uri="{FF2B5EF4-FFF2-40B4-BE49-F238E27FC236}">
                <a16:creationId xmlns:a16="http://schemas.microsoft.com/office/drawing/2014/main" id="{D5CB710E-783A-4EA0-BC8A-E9424C41EE2D}"/>
              </a:ext>
            </a:extLst>
          </p:cNvPr>
          <p:cNvCxnSpPr/>
          <p:nvPr/>
        </p:nvCxnSpPr>
        <p:spPr>
          <a:xfrm>
            <a:off x="7706148" y="2393558"/>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a:extLst>
              <a:ext uri="{FF2B5EF4-FFF2-40B4-BE49-F238E27FC236}">
                <a16:creationId xmlns:a16="http://schemas.microsoft.com/office/drawing/2014/main" id="{AA6CCC05-B8A6-4748-8C57-490381E6F9DF}"/>
              </a:ext>
            </a:extLst>
          </p:cNvPr>
          <p:cNvCxnSpPr/>
          <p:nvPr/>
        </p:nvCxnSpPr>
        <p:spPr>
          <a:xfrm>
            <a:off x="7414594" y="2453350"/>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文字方塊 94">
            <a:extLst>
              <a:ext uri="{FF2B5EF4-FFF2-40B4-BE49-F238E27FC236}">
                <a16:creationId xmlns:a16="http://schemas.microsoft.com/office/drawing/2014/main" id="{0873BC4D-9584-44E9-BFEB-556048801329}"/>
              </a:ext>
            </a:extLst>
          </p:cNvPr>
          <p:cNvSpPr txBox="1"/>
          <p:nvPr/>
        </p:nvSpPr>
        <p:spPr>
          <a:xfrm>
            <a:off x="5772790" y="3484595"/>
            <a:ext cx="1139688" cy="369332"/>
          </a:xfrm>
          <a:prstGeom prst="rect">
            <a:avLst/>
          </a:prstGeom>
          <a:noFill/>
        </p:spPr>
        <p:txBody>
          <a:bodyPr wrap="square" rtlCol="0">
            <a:spAutoFit/>
          </a:bodyPr>
          <a:lstStyle/>
          <a:p>
            <a:r>
              <a:rPr lang="en-US" altLang="zh-TW" dirty="0"/>
              <a:t>state(S</a:t>
            </a:r>
            <a:r>
              <a:rPr lang="en-US" altLang="zh-TW" sz="1400" dirty="0"/>
              <a:t>4</a:t>
            </a:r>
            <a:r>
              <a:rPr lang="en-US" altLang="zh-TW" dirty="0"/>
              <a:t>)</a:t>
            </a:r>
            <a:endParaRPr lang="zh-TW" altLang="en-US" dirty="0"/>
          </a:p>
        </p:txBody>
      </p:sp>
      <p:sp>
        <p:nvSpPr>
          <p:cNvPr id="96" name="文字方塊 95">
            <a:extLst>
              <a:ext uri="{FF2B5EF4-FFF2-40B4-BE49-F238E27FC236}">
                <a16:creationId xmlns:a16="http://schemas.microsoft.com/office/drawing/2014/main" id="{F8B181EA-2A11-4251-BD0A-E7CAAE7157D7}"/>
              </a:ext>
            </a:extLst>
          </p:cNvPr>
          <p:cNvSpPr txBox="1"/>
          <p:nvPr/>
        </p:nvSpPr>
        <p:spPr>
          <a:xfrm>
            <a:off x="7026976" y="3200378"/>
            <a:ext cx="1139688" cy="369332"/>
          </a:xfrm>
          <a:prstGeom prst="rect">
            <a:avLst/>
          </a:prstGeom>
          <a:noFill/>
        </p:spPr>
        <p:txBody>
          <a:bodyPr wrap="square" rtlCol="0">
            <a:spAutoFit/>
          </a:bodyPr>
          <a:lstStyle/>
          <a:p>
            <a:r>
              <a:rPr lang="en-US" altLang="zh-TW" dirty="0"/>
              <a:t>state(S</a:t>
            </a:r>
            <a:r>
              <a:rPr lang="en-US" altLang="zh-TW" sz="1400" dirty="0"/>
              <a:t>5</a:t>
            </a:r>
            <a:r>
              <a:rPr lang="en-US" altLang="zh-TW" dirty="0"/>
              <a:t>)</a:t>
            </a:r>
            <a:endParaRPr lang="zh-TW" altLang="en-US" dirty="0"/>
          </a:p>
        </p:txBody>
      </p:sp>
      <p:sp>
        <p:nvSpPr>
          <p:cNvPr id="97" name="文字方塊 96">
            <a:extLst>
              <a:ext uri="{FF2B5EF4-FFF2-40B4-BE49-F238E27FC236}">
                <a16:creationId xmlns:a16="http://schemas.microsoft.com/office/drawing/2014/main" id="{75D629E3-DE03-4D7E-BA39-774BD3F51EE8}"/>
              </a:ext>
            </a:extLst>
          </p:cNvPr>
          <p:cNvSpPr txBox="1"/>
          <p:nvPr/>
        </p:nvSpPr>
        <p:spPr>
          <a:xfrm>
            <a:off x="8121946" y="3385044"/>
            <a:ext cx="1139688" cy="369332"/>
          </a:xfrm>
          <a:prstGeom prst="rect">
            <a:avLst/>
          </a:prstGeom>
          <a:noFill/>
        </p:spPr>
        <p:txBody>
          <a:bodyPr wrap="square" rtlCol="0">
            <a:spAutoFit/>
          </a:bodyPr>
          <a:lstStyle/>
          <a:p>
            <a:r>
              <a:rPr lang="en-US" altLang="zh-TW" dirty="0"/>
              <a:t>state(S</a:t>
            </a:r>
            <a:r>
              <a:rPr lang="en-US" altLang="zh-TW" sz="1400" dirty="0"/>
              <a:t>6</a:t>
            </a:r>
            <a:r>
              <a:rPr lang="en-US" altLang="zh-TW" dirty="0"/>
              <a:t>)</a:t>
            </a:r>
            <a:endParaRPr lang="zh-TW" altLang="en-US" dirty="0"/>
          </a:p>
        </p:txBody>
      </p:sp>
      <p:pic>
        <p:nvPicPr>
          <p:cNvPr id="98" name="圖片 97">
            <a:extLst>
              <a:ext uri="{FF2B5EF4-FFF2-40B4-BE49-F238E27FC236}">
                <a16:creationId xmlns:a16="http://schemas.microsoft.com/office/drawing/2014/main" id="{3108D869-5FEF-4798-BB69-31ACC43F1530}"/>
              </a:ext>
            </a:extLst>
          </p:cNvPr>
          <p:cNvPicPr>
            <a:picLocks noChangeAspect="1"/>
          </p:cNvPicPr>
          <p:nvPr/>
        </p:nvPicPr>
        <p:blipFill>
          <a:blip r:embed="rId2"/>
          <a:stretch>
            <a:fillRect/>
          </a:stretch>
        </p:blipFill>
        <p:spPr>
          <a:xfrm>
            <a:off x="8186537" y="4519773"/>
            <a:ext cx="2847975" cy="857250"/>
          </a:xfrm>
          <a:prstGeom prst="rect">
            <a:avLst/>
          </a:prstGeom>
        </p:spPr>
      </p:pic>
      <p:pic>
        <p:nvPicPr>
          <p:cNvPr id="21" name="圖片 20">
            <a:extLst>
              <a:ext uri="{FF2B5EF4-FFF2-40B4-BE49-F238E27FC236}">
                <a16:creationId xmlns:a16="http://schemas.microsoft.com/office/drawing/2014/main" id="{CDE0DFCA-BC67-4605-9C7F-F0E7F320F39F}"/>
              </a:ext>
            </a:extLst>
          </p:cNvPr>
          <p:cNvPicPr>
            <a:picLocks noChangeAspect="1"/>
          </p:cNvPicPr>
          <p:nvPr/>
        </p:nvPicPr>
        <p:blipFill>
          <a:blip r:embed="rId3"/>
          <a:stretch>
            <a:fillRect/>
          </a:stretch>
        </p:blipFill>
        <p:spPr>
          <a:xfrm>
            <a:off x="6145927" y="4356491"/>
            <a:ext cx="2040610" cy="1148788"/>
          </a:xfrm>
          <a:prstGeom prst="rect">
            <a:avLst/>
          </a:prstGeom>
        </p:spPr>
      </p:pic>
    </p:spTree>
    <p:extLst>
      <p:ext uri="{BB962C8B-B14F-4D97-AF65-F5344CB8AC3E}">
        <p14:creationId xmlns:p14="http://schemas.microsoft.com/office/powerpoint/2010/main" val="3113462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3090FCD6-EB45-4321-9028-080DB142C330}"/>
              </a:ext>
            </a:extLst>
          </p:cNvPr>
          <p:cNvSpPr txBox="1"/>
          <p:nvPr/>
        </p:nvSpPr>
        <p:spPr>
          <a:xfrm>
            <a:off x="325105" y="157455"/>
            <a:ext cx="4087869" cy="584775"/>
          </a:xfrm>
          <a:prstGeom prst="rect">
            <a:avLst/>
          </a:prstGeom>
          <a:noFill/>
        </p:spPr>
        <p:txBody>
          <a:bodyPr wrap="square" rtlCol="0">
            <a:spAutoFit/>
          </a:bodyPr>
          <a:lstStyle/>
          <a:p>
            <a:r>
              <a:rPr lang="en-US" altLang="zh-TW" sz="3200" dirty="0"/>
              <a:t>Step2. Expansion</a:t>
            </a:r>
            <a:endParaRPr lang="zh-TW" altLang="en-US" sz="3200" dirty="0"/>
          </a:p>
        </p:txBody>
      </p:sp>
      <p:sp>
        <p:nvSpPr>
          <p:cNvPr id="3" name="橢圓 2">
            <a:extLst>
              <a:ext uri="{FF2B5EF4-FFF2-40B4-BE49-F238E27FC236}">
                <a16:creationId xmlns:a16="http://schemas.microsoft.com/office/drawing/2014/main" id="{CD53B109-5024-4169-82EB-C4692C188FA2}"/>
              </a:ext>
            </a:extLst>
          </p:cNvPr>
          <p:cNvSpPr/>
          <p:nvPr/>
        </p:nvSpPr>
        <p:spPr>
          <a:xfrm>
            <a:off x="849796" y="844826"/>
            <a:ext cx="1321905" cy="4572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Start</a:t>
            </a:r>
            <a:endParaRPr lang="zh-TW" altLang="en-US" sz="2000" dirty="0">
              <a:solidFill>
                <a:schemeClr val="tx1"/>
              </a:solidFill>
            </a:endParaRPr>
          </a:p>
        </p:txBody>
      </p:sp>
      <p:sp>
        <p:nvSpPr>
          <p:cNvPr id="4" name="矩形: 圓角 3">
            <a:extLst>
              <a:ext uri="{FF2B5EF4-FFF2-40B4-BE49-F238E27FC236}">
                <a16:creationId xmlns:a16="http://schemas.microsoft.com/office/drawing/2014/main" id="{84F7FBB1-A240-4511-82B2-2A0AE26378A6}"/>
              </a:ext>
            </a:extLst>
          </p:cNvPr>
          <p:cNvSpPr/>
          <p:nvPr/>
        </p:nvSpPr>
        <p:spPr>
          <a:xfrm>
            <a:off x="699265" y="1629212"/>
            <a:ext cx="1669774" cy="457199"/>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Current State</a:t>
            </a:r>
            <a:endParaRPr lang="zh-TW" altLang="en-US" sz="2000" dirty="0">
              <a:solidFill>
                <a:schemeClr val="tx1"/>
              </a:solidFill>
            </a:endParaRPr>
          </a:p>
        </p:txBody>
      </p:sp>
      <p:sp>
        <p:nvSpPr>
          <p:cNvPr id="5" name="矩形 4">
            <a:extLst>
              <a:ext uri="{FF2B5EF4-FFF2-40B4-BE49-F238E27FC236}">
                <a16:creationId xmlns:a16="http://schemas.microsoft.com/office/drawing/2014/main" id="{B9D2A231-5BFE-4B69-AC3B-C83D2AF6B718}"/>
              </a:ext>
            </a:extLst>
          </p:cNvPr>
          <p:cNvSpPr/>
          <p:nvPr/>
        </p:nvSpPr>
        <p:spPr>
          <a:xfrm rot="18391159">
            <a:off x="964227" y="2628119"/>
            <a:ext cx="1216836" cy="13555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6" name="矩形 5">
            <a:extLst>
              <a:ext uri="{FF2B5EF4-FFF2-40B4-BE49-F238E27FC236}">
                <a16:creationId xmlns:a16="http://schemas.microsoft.com/office/drawing/2014/main" id="{380F0FC5-72C6-4B6B-B3F9-7FD700E94057}"/>
              </a:ext>
            </a:extLst>
          </p:cNvPr>
          <p:cNvSpPr/>
          <p:nvPr/>
        </p:nvSpPr>
        <p:spPr>
          <a:xfrm>
            <a:off x="962756" y="2742113"/>
            <a:ext cx="1251321" cy="1015663"/>
          </a:xfrm>
          <a:prstGeom prst="rect">
            <a:avLst/>
          </a:prstGeom>
        </p:spPr>
        <p:txBody>
          <a:bodyPr wrap="square">
            <a:spAutoFit/>
          </a:bodyPr>
          <a:lstStyle/>
          <a:p>
            <a:pPr algn="ctr"/>
            <a:r>
              <a:rPr lang="en-US" altLang="zh-TW" sz="2000" dirty="0"/>
              <a:t>Is current </a:t>
            </a:r>
          </a:p>
          <a:p>
            <a:pPr algn="ctr"/>
            <a:r>
              <a:rPr lang="en-US" altLang="zh-TW" sz="2000" dirty="0"/>
              <a:t>state a</a:t>
            </a:r>
          </a:p>
          <a:p>
            <a:pPr algn="ctr"/>
            <a:r>
              <a:rPr lang="en-US" altLang="zh-TW" sz="2000" dirty="0"/>
              <a:t>leaf node?  </a:t>
            </a:r>
            <a:endParaRPr lang="zh-TW" altLang="en-US" sz="2000" dirty="0"/>
          </a:p>
        </p:txBody>
      </p:sp>
      <p:sp>
        <p:nvSpPr>
          <p:cNvPr id="7" name="矩形: 圓角 6">
            <a:extLst>
              <a:ext uri="{FF2B5EF4-FFF2-40B4-BE49-F238E27FC236}">
                <a16:creationId xmlns:a16="http://schemas.microsoft.com/office/drawing/2014/main" id="{1B82FC91-E589-44EB-AD6F-C3F1462A0796}"/>
              </a:ext>
            </a:extLst>
          </p:cNvPr>
          <p:cNvSpPr/>
          <p:nvPr/>
        </p:nvSpPr>
        <p:spPr>
          <a:xfrm>
            <a:off x="3159318" y="2957556"/>
            <a:ext cx="1933564" cy="58477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Current = max[UCB1(S</a:t>
            </a:r>
            <a:r>
              <a:rPr lang="en-US" altLang="zh-TW" sz="1600" dirty="0">
                <a:solidFill>
                  <a:schemeClr val="tx1"/>
                </a:solidFill>
              </a:rPr>
              <a:t>i</a:t>
            </a:r>
            <a:r>
              <a:rPr lang="en-US" altLang="zh-TW" sz="2000" dirty="0">
                <a:solidFill>
                  <a:schemeClr val="tx1"/>
                </a:solidFill>
              </a:rPr>
              <a:t>)]</a:t>
            </a:r>
            <a:endParaRPr lang="zh-TW" altLang="en-US" sz="2000" dirty="0">
              <a:solidFill>
                <a:schemeClr val="tx1"/>
              </a:solidFill>
            </a:endParaRPr>
          </a:p>
        </p:txBody>
      </p:sp>
      <p:sp>
        <p:nvSpPr>
          <p:cNvPr id="8" name="矩形: 圓角 7">
            <a:extLst>
              <a:ext uri="{FF2B5EF4-FFF2-40B4-BE49-F238E27FC236}">
                <a16:creationId xmlns:a16="http://schemas.microsoft.com/office/drawing/2014/main" id="{C968EA05-05FF-4B50-B7E6-273EA5AE7FE6}"/>
              </a:ext>
            </a:extLst>
          </p:cNvPr>
          <p:cNvSpPr/>
          <p:nvPr/>
        </p:nvSpPr>
        <p:spPr>
          <a:xfrm>
            <a:off x="665880" y="4771589"/>
            <a:ext cx="2045199" cy="457199"/>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Node Expansion</a:t>
            </a:r>
            <a:endParaRPr lang="zh-TW" altLang="en-US" sz="2000" dirty="0">
              <a:solidFill>
                <a:schemeClr val="tx1"/>
              </a:solidFill>
            </a:endParaRPr>
          </a:p>
        </p:txBody>
      </p:sp>
      <p:sp>
        <p:nvSpPr>
          <p:cNvPr id="9" name="矩形: 圓角 8">
            <a:extLst>
              <a:ext uri="{FF2B5EF4-FFF2-40B4-BE49-F238E27FC236}">
                <a16:creationId xmlns:a16="http://schemas.microsoft.com/office/drawing/2014/main" id="{8477E46A-B54D-426E-BBD0-0515EAF089E0}"/>
              </a:ext>
            </a:extLst>
          </p:cNvPr>
          <p:cNvSpPr/>
          <p:nvPr/>
        </p:nvSpPr>
        <p:spPr>
          <a:xfrm>
            <a:off x="809636" y="5802184"/>
            <a:ext cx="1669774" cy="54218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Simulation</a:t>
            </a:r>
          </a:p>
          <a:p>
            <a:pPr algn="ctr"/>
            <a:r>
              <a:rPr lang="en-US" altLang="zh-TW" sz="2000" dirty="0">
                <a:solidFill>
                  <a:schemeClr val="tx1"/>
                </a:solidFill>
              </a:rPr>
              <a:t>(Rollout)</a:t>
            </a:r>
            <a:endParaRPr lang="zh-TW" altLang="en-US" sz="2000" dirty="0">
              <a:solidFill>
                <a:schemeClr val="tx1"/>
              </a:solidFill>
            </a:endParaRPr>
          </a:p>
        </p:txBody>
      </p:sp>
      <p:sp>
        <p:nvSpPr>
          <p:cNvPr id="10" name="矩形: 圓角 9">
            <a:extLst>
              <a:ext uri="{FF2B5EF4-FFF2-40B4-BE49-F238E27FC236}">
                <a16:creationId xmlns:a16="http://schemas.microsoft.com/office/drawing/2014/main" id="{75C62DF5-4963-45F3-BCFD-6B0ECC8C98B1}"/>
              </a:ext>
            </a:extLst>
          </p:cNvPr>
          <p:cNvSpPr/>
          <p:nvPr/>
        </p:nvSpPr>
        <p:spPr>
          <a:xfrm>
            <a:off x="3246998" y="5802184"/>
            <a:ext cx="2040610" cy="54218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Backpropagation</a:t>
            </a:r>
            <a:endParaRPr lang="zh-TW" altLang="en-US" sz="2000" dirty="0">
              <a:solidFill>
                <a:schemeClr val="tx1"/>
              </a:solidFill>
            </a:endParaRPr>
          </a:p>
        </p:txBody>
      </p:sp>
      <p:sp>
        <p:nvSpPr>
          <p:cNvPr id="11" name="箭號: 向下 10">
            <a:extLst>
              <a:ext uri="{FF2B5EF4-FFF2-40B4-BE49-F238E27FC236}">
                <a16:creationId xmlns:a16="http://schemas.microsoft.com/office/drawing/2014/main" id="{3FF1C6DF-E072-403A-AB32-92593C0C94A8}"/>
              </a:ext>
            </a:extLst>
          </p:cNvPr>
          <p:cNvSpPr/>
          <p:nvPr/>
        </p:nvSpPr>
        <p:spPr>
          <a:xfrm>
            <a:off x="1334106" y="1315625"/>
            <a:ext cx="238539" cy="327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箭號: 向下 11">
            <a:extLst>
              <a:ext uri="{FF2B5EF4-FFF2-40B4-BE49-F238E27FC236}">
                <a16:creationId xmlns:a16="http://schemas.microsoft.com/office/drawing/2014/main" id="{06C35869-F0A5-4036-AE82-C09C8360EC79}"/>
              </a:ext>
            </a:extLst>
          </p:cNvPr>
          <p:cNvSpPr/>
          <p:nvPr/>
        </p:nvSpPr>
        <p:spPr>
          <a:xfrm>
            <a:off x="1334105" y="2086411"/>
            <a:ext cx="238539" cy="327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箭號: 向下 12">
            <a:extLst>
              <a:ext uri="{FF2B5EF4-FFF2-40B4-BE49-F238E27FC236}">
                <a16:creationId xmlns:a16="http://schemas.microsoft.com/office/drawing/2014/main" id="{16C9C8DD-7064-42AB-858B-62FFCD0B0DA2}"/>
              </a:ext>
            </a:extLst>
          </p:cNvPr>
          <p:cNvSpPr/>
          <p:nvPr/>
        </p:nvSpPr>
        <p:spPr>
          <a:xfrm>
            <a:off x="1534152" y="4198194"/>
            <a:ext cx="314526" cy="662041"/>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箭號: 向下 13">
            <a:extLst>
              <a:ext uri="{FF2B5EF4-FFF2-40B4-BE49-F238E27FC236}">
                <a16:creationId xmlns:a16="http://schemas.microsoft.com/office/drawing/2014/main" id="{1CC39262-BFF7-451B-B160-D169EA02CC74}"/>
              </a:ext>
            </a:extLst>
          </p:cNvPr>
          <p:cNvSpPr/>
          <p:nvPr/>
        </p:nvSpPr>
        <p:spPr>
          <a:xfrm>
            <a:off x="1534152" y="5228788"/>
            <a:ext cx="314526" cy="5421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箭號: 向右 14">
            <a:extLst>
              <a:ext uri="{FF2B5EF4-FFF2-40B4-BE49-F238E27FC236}">
                <a16:creationId xmlns:a16="http://schemas.microsoft.com/office/drawing/2014/main" id="{15180C11-8963-4F29-8256-01CD84E3423E}"/>
              </a:ext>
            </a:extLst>
          </p:cNvPr>
          <p:cNvSpPr/>
          <p:nvPr/>
        </p:nvSpPr>
        <p:spPr>
          <a:xfrm>
            <a:off x="2479410" y="5938793"/>
            <a:ext cx="767588" cy="291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箭號: 向右 15">
            <a:extLst>
              <a:ext uri="{FF2B5EF4-FFF2-40B4-BE49-F238E27FC236}">
                <a16:creationId xmlns:a16="http://schemas.microsoft.com/office/drawing/2014/main" id="{8D92EDE8-3533-4ECB-9AAC-1BC0E8A83DE7}"/>
              </a:ext>
            </a:extLst>
          </p:cNvPr>
          <p:cNvSpPr/>
          <p:nvPr/>
        </p:nvSpPr>
        <p:spPr>
          <a:xfrm>
            <a:off x="2479410" y="3126020"/>
            <a:ext cx="679908" cy="3021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a:extLst>
              <a:ext uri="{FF2B5EF4-FFF2-40B4-BE49-F238E27FC236}">
                <a16:creationId xmlns:a16="http://schemas.microsoft.com/office/drawing/2014/main" id="{1AD4EEB5-B3D0-42A5-83C6-27200A30A349}"/>
              </a:ext>
            </a:extLst>
          </p:cNvPr>
          <p:cNvSpPr txBox="1"/>
          <p:nvPr/>
        </p:nvSpPr>
        <p:spPr>
          <a:xfrm>
            <a:off x="4039006" y="4196906"/>
            <a:ext cx="1890083" cy="369332"/>
          </a:xfrm>
          <a:prstGeom prst="rect">
            <a:avLst/>
          </a:prstGeom>
          <a:noFill/>
        </p:spPr>
        <p:txBody>
          <a:bodyPr wrap="square" rtlCol="0">
            <a:spAutoFit/>
          </a:bodyPr>
          <a:lstStyle/>
          <a:p>
            <a:r>
              <a:rPr lang="en-US" altLang="zh-TW" dirty="0"/>
              <a:t>Node Expansion</a:t>
            </a:r>
            <a:endParaRPr lang="zh-TW" altLang="en-US" dirty="0"/>
          </a:p>
        </p:txBody>
      </p:sp>
      <p:sp>
        <p:nvSpPr>
          <p:cNvPr id="78" name="橢圓 77">
            <a:extLst>
              <a:ext uri="{FF2B5EF4-FFF2-40B4-BE49-F238E27FC236}">
                <a16:creationId xmlns:a16="http://schemas.microsoft.com/office/drawing/2014/main" id="{C290B475-E3AA-4F98-B574-C94E568510A1}"/>
              </a:ext>
            </a:extLst>
          </p:cNvPr>
          <p:cNvSpPr/>
          <p:nvPr/>
        </p:nvSpPr>
        <p:spPr>
          <a:xfrm>
            <a:off x="8435011" y="655494"/>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橢圓 78">
            <a:extLst>
              <a:ext uri="{FF2B5EF4-FFF2-40B4-BE49-F238E27FC236}">
                <a16:creationId xmlns:a16="http://schemas.microsoft.com/office/drawing/2014/main" id="{10A73732-75CE-4034-8202-8EC2CE29B680}"/>
              </a:ext>
            </a:extLst>
          </p:cNvPr>
          <p:cNvSpPr/>
          <p:nvPr/>
        </p:nvSpPr>
        <p:spPr>
          <a:xfrm>
            <a:off x="6977273" y="1896760"/>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橢圓 79">
            <a:extLst>
              <a:ext uri="{FF2B5EF4-FFF2-40B4-BE49-F238E27FC236}">
                <a16:creationId xmlns:a16="http://schemas.microsoft.com/office/drawing/2014/main" id="{45762D45-2D95-473F-B543-22981E112750}"/>
              </a:ext>
            </a:extLst>
          </p:cNvPr>
          <p:cNvSpPr/>
          <p:nvPr/>
        </p:nvSpPr>
        <p:spPr>
          <a:xfrm>
            <a:off x="8435011" y="1896759"/>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51E9A4AC-5ADD-44DE-9301-EA26EF1285BB}"/>
              </a:ext>
            </a:extLst>
          </p:cNvPr>
          <p:cNvSpPr/>
          <p:nvPr/>
        </p:nvSpPr>
        <p:spPr>
          <a:xfrm>
            <a:off x="9892749" y="1885206"/>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文字方塊 81">
            <a:extLst>
              <a:ext uri="{FF2B5EF4-FFF2-40B4-BE49-F238E27FC236}">
                <a16:creationId xmlns:a16="http://schemas.microsoft.com/office/drawing/2014/main" id="{F7A13CD1-82A1-4265-8020-9561843D1BF1}"/>
              </a:ext>
            </a:extLst>
          </p:cNvPr>
          <p:cNvSpPr txBox="1"/>
          <p:nvPr/>
        </p:nvSpPr>
        <p:spPr>
          <a:xfrm>
            <a:off x="8431700" y="740646"/>
            <a:ext cx="1139688" cy="369332"/>
          </a:xfrm>
          <a:prstGeom prst="rect">
            <a:avLst/>
          </a:prstGeom>
          <a:noFill/>
        </p:spPr>
        <p:txBody>
          <a:bodyPr wrap="square" rtlCol="0">
            <a:spAutoFit/>
          </a:bodyPr>
          <a:lstStyle/>
          <a:p>
            <a:r>
              <a:rPr lang="en-US" altLang="zh-TW" dirty="0"/>
              <a:t>state(S</a:t>
            </a:r>
            <a:r>
              <a:rPr lang="en-US" altLang="zh-TW" sz="1400" dirty="0"/>
              <a:t>0</a:t>
            </a:r>
            <a:r>
              <a:rPr lang="en-US" altLang="zh-TW" dirty="0"/>
              <a:t>)</a:t>
            </a:r>
            <a:endParaRPr lang="zh-TW" altLang="en-US" dirty="0"/>
          </a:p>
        </p:txBody>
      </p:sp>
      <p:sp>
        <p:nvSpPr>
          <p:cNvPr id="83" name="文字方塊 82">
            <a:extLst>
              <a:ext uri="{FF2B5EF4-FFF2-40B4-BE49-F238E27FC236}">
                <a16:creationId xmlns:a16="http://schemas.microsoft.com/office/drawing/2014/main" id="{1211F2FA-B5A4-4A58-B3C5-C92DD12ED34B}"/>
              </a:ext>
            </a:extLst>
          </p:cNvPr>
          <p:cNvSpPr txBox="1"/>
          <p:nvPr/>
        </p:nvSpPr>
        <p:spPr>
          <a:xfrm>
            <a:off x="6977273" y="1978835"/>
            <a:ext cx="1139688" cy="369332"/>
          </a:xfrm>
          <a:prstGeom prst="rect">
            <a:avLst/>
          </a:prstGeom>
          <a:noFill/>
        </p:spPr>
        <p:txBody>
          <a:bodyPr wrap="square" rtlCol="0">
            <a:spAutoFit/>
          </a:bodyPr>
          <a:lstStyle/>
          <a:p>
            <a:r>
              <a:rPr lang="en-US" altLang="zh-TW" dirty="0"/>
              <a:t>state(S</a:t>
            </a:r>
            <a:r>
              <a:rPr lang="en-US" altLang="zh-TW" sz="1400" dirty="0"/>
              <a:t>1</a:t>
            </a:r>
            <a:r>
              <a:rPr lang="en-US" altLang="zh-TW" dirty="0"/>
              <a:t>)</a:t>
            </a:r>
            <a:endParaRPr lang="zh-TW" altLang="en-US" dirty="0"/>
          </a:p>
        </p:txBody>
      </p:sp>
      <p:sp>
        <p:nvSpPr>
          <p:cNvPr id="84" name="文字方塊 83">
            <a:extLst>
              <a:ext uri="{FF2B5EF4-FFF2-40B4-BE49-F238E27FC236}">
                <a16:creationId xmlns:a16="http://schemas.microsoft.com/office/drawing/2014/main" id="{00FECB34-7C5B-4473-858D-47FEE013EFD8}"/>
              </a:ext>
            </a:extLst>
          </p:cNvPr>
          <p:cNvSpPr txBox="1"/>
          <p:nvPr/>
        </p:nvSpPr>
        <p:spPr>
          <a:xfrm>
            <a:off x="8435011" y="1968896"/>
            <a:ext cx="1139688" cy="369332"/>
          </a:xfrm>
          <a:prstGeom prst="rect">
            <a:avLst/>
          </a:prstGeom>
          <a:noFill/>
        </p:spPr>
        <p:txBody>
          <a:bodyPr wrap="square" rtlCol="0">
            <a:spAutoFit/>
          </a:bodyPr>
          <a:lstStyle/>
          <a:p>
            <a:r>
              <a:rPr lang="en-US" altLang="zh-TW" dirty="0"/>
              <a:t>state(S</a:t>
            </a:r>
            <a:r>
              <a:rPr lang="en-US" altLang="zh-TW" sz="1400" dirty="0"/>
              <a:t>2</a:t>
            </a:r>
            <a:r>
              <a:rPr lang="en-US" altLang="zh-TW" dirty="0"/>
              <a:t>)</a:t>
            </a:r>
            <a:endParaRPr lang="zh-TW" altLang="en-US" dirty="0"/>
          </a:p>
        </p:txBody>
      </p:sp>
      <p:sp>
        <p:nvSpPr>
          <p:cNvPr id="85" name="文字方塊 84">
            <a:extLst>
              <a:ext uri="{FF2B5EF4-FFF2-40B4-BE49-F238E27FC236}">
                <a16:creationId xmlns:a16="http://schemas.microsoft.com/office/drawing/2014/main" id="{44C8F2F0-7BF7-4A84-9E59-68C23E0DF774}"/>
              </a:ext>
            </a:extLst>
          </p:cNvPr>
          <p:cNvSpPr txBox="1"/>
          <p:nvPr/>
        </p:nvSpPr>
        <p:spPr>
          <a:xfrm>
            <a:off x="9843051" y="1958957"/>
            <a:ext cx="1139688" cy="369332"/>
          </a:xfrm>
          <a:prstGeom prst="rect">
            <a:avLst/>
          </a:prstGeom>
          <a:noFill/>
        </p:spPr>
        <p:txBody>
          <a:bodyPr wrap="square" rtlCol="0">
            <a:spAutoFit/>
          </a:bodyPr>
          <a:lstStyle/>
          <a:p>
            <a:r>
              <a:rPr lang="en-US" altLang="zh-TW" dirty="0"/>
              <a:t>state(S</a:t>
            </a:r>
            <a:r>
              <a:rPr lang="en-US" altLang="zh-TW" sz="1400" dirty="0"/>
              <a:t>3</a:t>
            </a:r>
            <a:r>
              <a:rPr lang="en-US" altLang="zh-TW" dirty="0"/>
              <a:t>)</a:t>
            </a:r>
            <a:endParaRPr lang="zh-TW" altLang="en-US" dirty="0"/>
          </a:p>
        </p:txBody>
      </p:sp>
      <p:cxnSp>
        <p:nvCxnSpPr>
          <p:cNvPr id="86" name="直線單箭頭接點 85">
            <a:extLst>
              <a:ext uri="{FF2B5EF4-FFF2-40B4-BE49-F238E27FC236}">
                <a16:creationId xmlns:a16="http://schemas.microsoft.com/office/drawing/2014/main" id="{19204B8E-FCE0-4D09-99C6-734AB1305BB8}"/>
              </a:ext>
            </a:extLst>
          </p:cNvPr>
          <p:cNvCxnSpPr>
            <a:stCxn id="82" idx="1"/>
            <a:endCxn id="79" idx="0"/>
          </p:cNvCxnSpPr>
          <p:nvPr/>
        </p:nvCxnSpPr>
        <p:spPr>
          <a:xfrm flipH="1">
            <a:off x="7414595" y="925312"/>
            <a:ext cx="1017105" cy="9714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3FDEC477-B16B-42F9-B28F-E4679F0B22DE}"/>
              </a:ext>
            </a:extLst>
          </p:cNvPr>
          <p:cNvCxnSpPr>
            <a:stCxn id="78" idx="4"/>
            <a:endCxn id="80" idx="0"/>
          </p:cNvCxnSpPr>
          <p:nvPr/>
        </p:nvCxnSpPr>
        <p:spPr>
          <a:xfrm>
            <a:off x="8872333" y="1212085"/>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3A55F97F-7F84-4FDE-B920-6F83B4E7EE34}"/>
              </a:ext>
            </a:extLst>
          </p:cNvPr>
          <p:cNvCxnSpPr/>
          <p:nvPr/>
        </p:nvCxnSpPr>
        <p:spPr>
          <a:xfrm>
            <a:off x="9309654" y="933789"/>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橢圓 88">
            <a:extLst>
              <a:ext uri="{FF2B5EF4-FFF2-40B4-BE49-F238E27FC236}">
                <a16:creationId xmlns:a16="http://schemas.microsoft.com/office/drawing/2014/main" id="{3499CBA4-5F92-4E91-9F4C-A7687DDC87C6}"/>
              </a:ext>
            </a:extLst>
          </p:cNvPr>
          <p:cNvSpPr/>
          <p:nvPr/>
        </p:nvSpPr>
        <p:spPr>
          <a:xfrm>
            <a:off x="5787069" y="3385043"/>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橢圓 89">
            <a:extLst>
              <a:ext uri="{FF2B5EF4-FFF2-40B4-BE49-F238E27FC236}">
                <a16:creationId xmlns:a16="http://schemas.microsoft.com/office/drawing/2014/main" id="{159639DC-6EBF-4314-8068-AF911CAA41D3}"/>
              </a:ext>
            </a:extLst>
          </p:cNvPr>
          <p:cNvSpPr/>
          <p:nvPr/>
        </p:nvSpPr>
        <p:spPr>
          <a:xfrm>
            <a:off x="7020353" y="3163386"/>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橢圓 90">
            <a:extLst>
              <a:ext uri="{FF2B5EF4-FFF2-40B4-BE49-F238E27FC236}">
                <a16:creationId xmlns:a16="http://schemas.microsoft.com/office/drawing/2014/main" id="{4D07D058-FE34-463F-A7D2-71E4126F109B}"/>
              </a:ext>
            </a:extLst>
          </p:cNvPr>
          <p:cNvSpPr/>
          <p:nvPr/>
        </p:nvSpPr>
        <p:spPr>
          <a:xfrm>
            <a:off x="8186537" y="3305894"/>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2" name="直線單箭頭接點 91">
            <a:extLst>
              <a:ext uri="{FF2B5EF4-FFF2-40B4-BE49-F238E27FC236}">
                <a16:creationId xmlns:a16="http://schemas.microsoft.com/office/drawing/2014/main" id="{A2C843B9-9268-4237-9609-49C7D3B2F2FD}"/>
              </a:ext>
            </a:extLst>
          </p:cNvPr>
          <p:cNvCxnSpPr>
            <a:cxnSpLocks/>
          </p:cNvCxnSpPr>
          <p:nvPr/>
        </p:nvCxnSpPr>
        <p:spPr>
          <a:xfrm flipH="1">
            <a:off x="6167234" y="2413595"/>
            <a:ext cx="1017105" cy="9714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a:extLst>
              <a:ext uri="{FF2B5EF4-FFF2-40B4-BE49-F238E27FC236}">
                <a16:creationId xmlns:a16="http://schemas.microsoft.com/office/drawing/2014/main" id="{2765E9E2-952C-4FBE-A8F1-44AE7569C42F}"/>
              </a:ext>
            </a:extLst>
          </p:cNvPr>
          <p:cNvCxnSpPr/>
          <p:nvPr/>
        </p:nvCxnSpPr>
        <p:spPr>
          <a:xfrm>
            <a:off x="7706148" y="2393558"/>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a:extLst>
              <a:ext uri="{FF2B5EF4-FFF2-40B4-BE49-F238E27FC236}">
                <a16:creationId xmlns:a16="http://schemas.microsoft.com/office/drawing/2014/main" id="{B3912F1A-FB13-4F9C-98ED-6448CDDDD498}"/>
              </a:ext>
            </a:extLst>
          </p:cNvPr>
          <p:cNvCxnSpPr/>
          <p:nvPr/>
        </p:nvCxnSpPr>
        <p:spPr>
          <a:xfrm>
            <a:off x="7414594" y="2453350"/>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文字方塊 94">
            <a:extLst>
              <a:ext uri="{FF2B5EF4-FFF2-40B4-BE49-F238E27FC236}">
                <a16:creationId xmlns:a16="http://schemas.microsoft.com/office/drawing/2014/main" id="{CD8EAA60-2C94-4C75-98C2-E390F5C1BE2D}"/>
              </a:ext>
            </a:extLst>
          </p:cNvPr>
          <p:cNvSpPr txBox="1"/>
          <p:nvPr/>
        </p:nvSpPr>
        <p:spPr>
          <a:xfrm>
            <a:off x="5772790" y="3484595"/>
            <a:ext cx="1139688" cy="369332"/>
          </a:xfrm>
          <a:prstGeom prst="rect">
            <a:avLst/>
          </a:prstGeom>
          <a:noFill/>
        </p:spPr>
        <p:txBody>
          <a:bodyPr wrap="square" rtlCol="0">
            <a:spAutoFit/>
          </a:bodyPr>
          <a:lstStyle/>
          <a:p>
            <a:r>
              <a:rPr lang="en-US" altLang="zh-TW" dirty="0"/>
              <a:t>state(S</a:t>
            </a:r>
            <a:r>
              <a:rPr lang="en-US" altLang="zh-TW" sz="1400" dirty="0"/>
              <a:t>4</a:t>
            </a:r>
            <a:r>
              <a:rPr lang="en-US" altLang="zh-TW" dirty="0"/>
              <a:t>)</a:t>
            </a:r>
            <a:endParaRPr lang="zh-TW" altLang="en-US" dirty="0"/>
          </a:p>
        </p:txBody>
      </p:sp>
      <p:sp>
        <p:nvSpPr>
          <p:cNvPr id="96" name="文字方塊 95">
            <a:extLst>
              <a:ext uri="{FF2B5EF4-FFF2-40B4-BE49-F238E27FC236}">
                <a16:creationId xmlns:a16="http://schemas.microsoft.com/office/drawing/2014/main" id="{65E0CA05-EE13-43B7-B2C7-763791443A66}"/>
              </a:ext>
            </a:extLst>
          </p:cNvPr>
          <p:cNvSpPr txBox="1"/>
          <p:nvPr/>
        </p:nvSpPr>
        <p:spPr>
          <a:xfrm>
            <a:off x="7026976" y="3200378"/>
            <a:ext cx="1139688" cy="369332"/>
          </a:xfrm>
          <a:prstGeom prst="rect">
            <a:avLst/>
          </a:prstGeom>
          <a:noFill/>
        </p:spPr>
        <p:txBody>
          <a:bodyPr wrap="square" rtlCol="0">
            <a:spAutoFit/>
          </a:bodyPr>
          <a:lstStyle/>
          <a:p>
            <a:r>
              <a:rPr lang="en-US" altLang="zh-TW" dirty="0"/>
              <a:t>state(S</a:t>
            </a:r>
            <a:r>
              <a:rPr lang="en-US" altLang="zh-TW" sz="1400" dirty="0"/>
              <a:t>5</a:t>
            </a:r>
            <a:r>
              <a:rPr lang="en-US" altLang="zh-TW" dirty="0"/>
              <a:t>)</a:t>
            </a:r>
            <a:endParaRPr lang="zh-TW" altLang="en-US" dirty="0"/>
          </a:p>
        </p:txBody>
      </p:sp>
      <p:sp>
        <p:nvSpPr>
          <p:cNvPr id="97" name="文字方塊 96">
            <a:extLst>
              <a:ext uri="{FF2B5EF4-FFF2-40B4-BE49-F238E27FC236}">
                <a16:creationId xmlns:a16="http://schemas.microsoft.com/office/drawing/2014/main" id="{5583BB0A-F4F2-40A8-B537-9F3E112F40FE}"/>
              </a:ext>
            </a:extLst>
          </p:cNvPr>
          <p:cNvSpPr txBox="1"/>
          <p:nvPr/>
        </p:nvSpPr>
        <p:spPr>
          <a:xfrm>
            <a:off x="8121946" y="3385044"/>
            <a:ext cx="1139688" cy="369332"/>
          </a:xfrm>
          <a:prstGeom prst="rect">
            <a:avLst/>
          </a:prstGeom>
          <a:noFill/>
        </p:spPr>
        <p:txBody>
          <a:bodyPr wrap="square" rtlCol="0">
            <a:spAutoFit/>
          </a:bodyPr>
          <a:lstStyle/>
          <a:p>
            <a:r>
              <a:rPr lang="en-US" altLang="zh-TW" dirty="0"/>
              <a:t>state(S</a:t>
            </a:r>
            <a:r>
              <a:rPr lang="en-US" altLang="zh-TW" sz="1400" dirty="0"/>
              <a:t>6</a:t>
            </a:r>
            <a:r>
              <a:rPr lang="en-US" altLang="zh-TW" dirty="0"/>
              <a:t>)</a:t>
            </a:r>
            <a:endParaRPr lang="zh-TW" altLang="en-US" dirty="0"/>
          </a:p>
        </p:txBody>
      </p:sp>
      <p:cxnSp>
        <p:nvCxnSpPr>
          <p:cNvPr id="102" name="直線單箭頭接點 101">
            <a:extLst>
              <a:ext uri="{FF2B5EF4-FFF2-40B4-BE49-F238E27FC236}">
                <a16:creationId xmlns:a16="http://schemas.microsoft.com/office/drawing/2014/main" id="{FDB4DAA3-B430-489B-B109-1B17F58FEF59}"/>
              </a:ext>
            </a:extLst>
          </p:cNvPr>
          <p:cNvCxnSpPr>
            <a:cxnSpLocks/>
          </p:cNvCxnSpPr>
          <p:nvPr/>
        </p:nvCxnSpPr>
        <p:spPr>
          <a:xfrm flipH="1">
            <a:off x="5156337" y="3888787"/>
            <a:ext cx="1017105" cy="971448"/>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03" name="橢圓 102">
            <a:extLst>
              <a:ext uri="{FF2B5EF4-FFF2-40B4-BE49-F238E27FC236}">
                <a16:creationId xmlns:a16="http://schemas.microsoft.com/office/drawing/2014/main" id="{05CEEC8B-DD2D-4C5B-858B-366BA01D0CD1}"/>
              </a:ext>
            </a:extLst>
          </p:cNvPr>
          <p:cNvSpPr/>
          <p:nvPr/>
        </p:nvSpPr>
        <p:spPr>
          <a:xfrm>
            <a:off x="4719015" y="4860235"/>
            <a:ext cx="874643" cy="556591"/>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 name="文字方塊 103">
            <a:extLst>
              <a:ext uri="{FF2B5EF4-FFF2-40B4-BE49-F238E27FC236}">
                <a16:creationId xmlns:a16="http://schemas.microsoft.com/office/drawing/2014/main" id="{9E596FBA-50C0-4F45-9A78-D253A9870ED5}"/>
              </a:ext>
            </a:extLst>
          </p:cNvPr>
          <p:cNvSpPr txBox="1"/>
          <p:nvPr/>
        </p:nvSpPr>
        <p:spPr>
          <a:xfrm>
            <a:off x="4701980" y="4943583"/>
            <a:ext cx="1139688" cy="369332"/>
          </a:xfrm>
          <a:prstGeom prst="rect">
            <a:avLst/>
          </a:prstGeom>
          <a:noFill/>
        </p:spPr>
        <p:txBody>
          <a:bodyPr wrap="square" rtlCol="0">
            <a:spAutoFit/>
          </a:bodyPr>
          <a:lstStyle/>
          <a:p>
            <a:r>
              <a:rPr lang="en-US" altLang="zh-TW" dirty="0"/>
              <a:t>state(S</a:t>
            </a:r>
            <a:r>
              <a:rPr lang="en-US" altLang="zh-TW" sz="1400" dirty="0"/>
              <a:t>7</a:t>
            </a:r>
            <a:r>
              <a:rPr lang="en-US" altLang="zh-TW" dirty="0"/>
              <a:t>)</a:t>
            </a:r>
            <a:endParaRPr lang="zh-TW" altLang="en-US" dirty="0"/>
          </a:p>
        </p:txBody>
      </p:sp>
    </p:spTree>
    <p:extLst>
      <p:ext uri="{BB962C8B-B14F-4D97-AF65-F5344CB8AC3E}">
        <p14:creationId xmlns:p14="http://schemas.microsoft.com/office/powerpoint/2010/main" val="4151626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3090FCD6-EB45-4321-9028-080DB142C330}"/>
              </a:ext>
            </a:extLst>
          </p:cNvPr>
          <p:cNvSpPr txBox="1"/>
          <p:nvPr/>
        </p:nvSpPr>
        <p:spPr>
          <a:xfrm>
            <a:off x="325105" y="157455"/>
            <a:ext cx="4087869" cy="584775"/>
          </a:xfrm>
          <a:prstGeom prst="rect">
            <a:avLst/>
          </a:prstGeom>
          <a:noFill/>
        </p:spPr>
        <p:txBody>
          <a:bodyPr wrap="square" rtlCol="0">
            <a:spAutoFit/>
          </a:bodyPr>
          <a:lstStyle/>
          <a:p>
            <a:r>
              <a:rPr lang="en-US" altLang="zh-TW" sz="3200" dirty="0"/>
              <a:t>Step3. Simulation</a:t>
            </a:r>
            <a:endParaRPr lang="zh-TW" altLang="en-US" sz="3200" dirty="0"/>
          </a:p>
        </p:txBody>
      </p:sp>
      <p:sp>
        <p:nvSpPr>
          <p:cNvPr id="3" name="橢圓 2">
            <a:extLst>
              <a:ext uri="{FF2B5EF4-FFF2-40B4-BE49-F238E27FC236}">
                <a16:creationId xmlns:a16="http://schemas.microsoft.com/office/drawing/2014/main" id="{CD53B109-5024-4169-82EB-C4692C188FA2}"/>
              </a:ext>
            </a:extLst>
          </p:cNvPr>
          <p:cNvSpPr/>
          <p:nvPr/>
        </p:nvSpPr>
        <p:spPr>
          <a:xfrm>
            <a:off x="849796" y="844826"/>
            <a:ext cx="1321905" cy="4572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Start</a:t>
            </a:r>
            <a:endParaRPr lang="zh-TW" altLang="en-US" sz="2000" dirty="0">
              <a:solidFill>
                <a:schemeClr val="tx1"/>
              </a:solidFill>
            </a:endParaRPr>
          </a:p>
        </p:txBody>
      </p:sp>
      <p:sp>
        <p:nvSpPr>
          <p:cNvPr id="4" name="矩形: 圓角 3">
            <a:extLst>
              <a:ext uri="{FF2B5EF4-FFF2-40B4-BE49-F238E27FC236}">
                <a16:creationId xmlns:a16="http://schemas.microsoft.com/office/drawing/2014/main" id="{84F7FBB1-A240-4511-82B2-2A0AE26378A6}"/>
              </a:ext>
            </a:extLst>
          </p:cNvPr>
          <p:cNvSpPr/>
          <p:nvPr/>
        </p:nvSpPr>
        <p:spPr>
          <a:xfrm>
            <a:off x="699265" y="1629212"/>
            <a:ext cx="1669774" cy="457199"/>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Current State</a:t>
            </a:r>
            <a:endParaRPr lang="zh-TW" altLang="en-US" sz="2000" dirty="0">
              <a:solidFill>
                <a:schemeClr val="tx1"/>
              </a:solidFill>
            </a:endParaRPr>
          </a:p>
        </p:txBody>
      </p:sp>
      <p:sp>
        <p:nvSpPr>
          <p:cNvPr id="5" name="矩形 4">
            <a:extLst>
              <a:ext uri="{FF2B5EF4-FFF2-40B4-BE49-F238E27FC236}">
                <a16:creationId xmlns:a16="http://schemas.microsoft.com/office/drawing/2014/main" id="{B9D2A231-5BFE-4B69-AC3B-C83D2AF6B718}"/>
              </a:ext>
            </a:extLst>
          </p:cNvPr>
          <p:cNvSpPr/>
          <p:nvPr/>
        </p:nvSpPr>
        <p:spPr>
          <a:xfrm rot="18391159">
            <a:off x="964227" y="2628119"/>
            <a:ext cx="1216836" cy="13555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6" name="矩形 5">
            <a:extLst>
              <a:ext uri="{FF2B5EF4-FFF2-40B4-BE49-F238E27FC236}">
                <a16:creationId xmlns:a16="http://schemas.microsoft.com/office/drawing/2014/main" id="{380F0FC5-72C6-4B6B-B3F9-7FD700E94057}"/>
              </a:ext>
            </a:extLst>
          </p:cNvPr>
          <p:cNvSpPr/>
          <p:nvPr/>
        </p:nvSpPr>
        <p:spPr>
          <a:xfrm>
            <a:off x="962756" y="2742113"/>
            <a:ext cx="1251321" cy="1015663"/>
          </a:xfrm>
          <a:prstGeom prst="rect">
            <a:avLst/>
          </a:prstGeom>
        </p:spPr>
        <p:txBody>
          <a:bodyPr wrap="square">
            <a:spAutoFit/>
          </a:bodyPr>
          <a:lstStyle/>
          <a:p>
            <a:pPr algn="ctr"/>
            <a:r>
              <a:rPr lang="en-US" altLang="zh-TW" sz="2000" dirty="0"/>
              <a:t>Is current </a:t>
            </a:r>
          </a:p>
          <a:p>
            <a:pPr algn="ctr"/>
            <a:r>
              <a:rPr lang="en-US" altLang="zh-TW" sz="2000" dirty="0"/>
              <a:t>state a</a:t>
            </a:r>
          </a:p>
          <a:p>
            <a:pPr algn="ctr"/>
            <a:r>
              <a:rPr lang="en-US" altLang="zh-TW" sz="2000" dirty="0"/>
              <a:t>leaf node?  </a:t>
            </a:r>
            <a:endParaRPr lang="zh-TW" altLang="en-US" sz="2000" dirty="0"/>
          </a:p>
        </p:txBody>
      </p:sp>
      <p:sp>
        <p:nvSpPr>
          <p:cNvPr id="7" name="矩形: 圓角 6">
            <a:extLst>
              <a:ext uri="{FF2B5EF4-FFF2-40B4-BE49-F238E27FC236}">
                <a16:creationId xmlns:a16="http://schemas.microsoft.com/office/drawing/2014/main" id="{1B82FC91-E589-44EB-AD6F-C3F1462A0796}"/>
              </a:ext>
            </a:extLst>
          </p:cNvPr>
          <p:cNvSpPr/>
          <p:nvPr/>
        </p:nvSpPr>
        <p:spPr>
          <a:xfrm>
            <a:off x="3159318" y="2957556"/>
            <a:ext cx="1933564" cy="58477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Current = max[UCB1(S</a:t>
            </a:r>
            <a:r>
              <a:rPr lang="en-US" altLang="zh-TW" sz="1600" dirty="0">
                <a:solidFill>
                  <a:schemeClr val="tx1"/>
                </a:solidFill>
              </a:rPr>
              <a:t>i</a:t>
            </a:r>
            <a:r>
              <a:rPr lang="en-US" altLang="zh-TW" sz="2000" dirty="0">
                <a:solidFill>
                  <a:schemeClr val="tx1"/>
                </a:solidFill>
              </a:rPr>
              <a:t>)]</a:t>
            </a:r>
            <a:endParaRPr lang="zh-TW" altLang="en-US" sz="2000" dirty="0">
              <a:solidFill>
                <a:schemeClr val="tx1"/>
              </a:solidFill>
            </a:endParaRPr>
          </a:p>
        </p:txBody>
      </p:sp>
      <p:sp>
        <p:nvSpPr>
          <p:cNvPr id="8" name="矩形: 圓角 7">
            <a:extLst>
              <a:ext uri="{FF2B5EF4-FFF2-40B4-BE49-F238E27FC236}">
                <a16:creationId xmlns:a16="http://schemas.microsoft.com/office/drawing/2014/main" id="{C968EA05-05FF-4B50-B7E6-273EA5AE7FE6}"/>
              </a:ext>
            </a:extLst>
          </p:cNvPr>
          <p:cNvSpPr/>
          <p:nvPr/>
        </p:nvSpPr>
        <p:spPr>
          <a:xfrm>
            <a:off x="665880" y="4771589"/>
            <a:ext cx="2045199" cy="45719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Node Expansion</a:t>
            </a:r>
            <a:endParaRPr lang="zh-TW" altLang="en-US" sz="2000" dirty="0">
              <a:solidFill>
                <a:schemeClr val="tx1"/>
              </a:solidFill>
            </a:endParaRPr>
          </a:p>
        </p:txBody>
      </p:sp>
      <p:sp>
        <p:nvSpPr>
          <p:cNvPr id="9" name="矩形: 圓角 8">
            <a:extLst>
              <a:ext uri="{FF2B5EF4-FFF2-40B4-BE49-F238E27FC236}">
                <a16:creationId xmlns:a16="http://schemas.microsoft.com/office/drawing/2014/main" id="{8477E46A-B54D-426E-BBD0-0515EAF089E0}"/>
              </a:ext>
            </a:extLst>
          </p:cNvPr>
          <p:cNvSpPr/>
          <p:nvPr/>
        </p:nvSpPr>
        <p:spPr>
          <a:xfrm>
            <a:off x="809636" y="5802184"/>
            <a:ext cx="1669774" cy="542186"/>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Simulation</a:t>
            </a:r>
          </a:p>
          <a:p>
            <a:pPr algn="ctr"/>
            <a:r>
              <a:rPr lang="en-US" altLang="zh-TW" sz="2000" dirty="0">
                <a:solidFill>
                  <a:schemeClr val="tx1"/>
                </a:solidFill>
              </a:rPr>
              <a:t>(Rollout)</a:t>
            </a:r>
            <a:endParaRPr lang="zh-TW" altLang="en-US" sz="2000" dirty="0">
              <a:solidFill>
                <a:schemeClr val="tx1"/>
              </a:solidFill>
            </a:endParaRPr>
          </a:p>
        </p:txBody>
      </p:sp>
      <p:sp>
        <p:nvSpPr>
          <p:cNvPr id="10" name="矩形: 圓角 9">
            <a:extLst>
              <a:ext uri="{FF2B5EF4-FFF2-40B4-BE49-F238E27FC236}">
                <a16:creationId xmlns:a16="http://schemas.microsoft.com/office/drawing/2014/main" id="{75C62DF5-4963-45F3-BCFD-6B0ECC8C98B1}"/>
              </a:ext>
            </a:extLst>
          </p:cNvPr>
          <p:cNvSpPr/>
          <p:nvPr/>
        </p:nvSpPr>
        <p:spPr>
          <a:xfrm>
            <a:off x="3246998" y="5802184"/>
            <a:ext cx="2040610" cy="54218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Backpropagation</a:t>
            </a:r>
            <a:endParaRPr lang="zh-TW" altLang="en-US" sz="2000" dirty="0">
              <a:solidFill>
                <a:schemeClr val="tx1"/>
              </a:solidFill>
            </a:endParaRPr>
          </a:p>
        </p:txBody>
      </p:sp>
      <p:sp>
        <p:nvSpPr>
          <p:cNvPr id="11" name="箭號: 向下 10">
            <a:extLst>
              <a:ext uri="{FF2B5EF4-FFF2-40B4-BE49-F238E27FC236}">
                <a16:creationId xmlns:a16="http://schemas.microsoft.com/office/drawing/2014/main" id="{3FF1C6DF-E072-403A-AB32-92593C0C94A8}"/>
              </a:ext>
            </a:extLst>
          </p:cNvPr>
          <p:cNvSpPr/>
          <p:nvPr/>
        </p:nvSpPr>
        <p:spPr>
          <a:xfrm>
            <a:off x="1334106" y="1315625"/>
            <a:ext cx="238539" cy="327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箭號: 向下 11">
            <a:extLst>
              <a:ext uri="{FF2B5EF4-FFF2-40B4-BE49-F238E27FC236}">
                <a16:creationId xmlns:a16="http://schemas.microsoft.com/office/drawing/2014/main" id="{06C35869-F0A5-4036-AE82-C09C8360EC79}"/>
              </a:ext>
            </a:extLst>
          </p:cNvPr>
          <p:cNvSpPr/>
          <p:nvPr/>
        </p:nvSpPr>
        <p:spPr>
          <a:xfrm>
            <a:off x="1334105" y="2086411"/>
            <a:ext cx="238539" cy="327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箭號: 向下 13">
            <a:extLst>
              <a:ext uri="{FF2B5EF4-FFF2-40B4-BE49-F238E27FC236}">
                <a16:creationId xmlns:a16="http://schemas.microsoft.com/office/drawing/2014/main" id="{1CC39262-BFF7-451B-B160-D169EA02CC74}"/>
              </a:ext>
            </a:extLst>
          </p:cNvPr>
          <p:cNvSpPr/>
          <p:nvPr/>
        </p:nvSpPr>
        <p:spPr>
          <a:xfrm>
            <a:off x="1534152" y="5228788"/>
            <a:ext cx="314526" cy="54218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箭號: 向右 14">
            <a:extLst>
              <a:ext uri="{FF2B5EF4-FFF2-40B4-BE49-F238E27FC236}">
                <a16:creationId xmlns:a16="http://schemas.microsoft.com/office/drawing/2014/main" id="{15180C11-8963-4F29-8256-01CD84E3423E}"/>
              </a:ext>
            </a:extLst>
          </p:cNvPr>
          <p:cNvSpPr/>
          <p:nvPr/>
        </p:nvSpPr>
        <p:spPr>
          <a:xfrm>
            <a:off x="2479410" y="5938793"/>
            <a:ext cx="767588" cy="291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箭號: 向右 15">
            <a:extLst>
              <a:ext uri="{FF2B5EF4-FFF2-40B4-BE49-F238E27FC236}">
                <a16:creationId xmlns:a16="http://schemas.microsoft.com/office/drawing/2014/main" id="{8D92EDE8-3533-4ECB-9AAC-1BC0E8A83DE7}"/>
              </a:ext>
            </a:extLst>
          </p:cNvPr>
          <p:cNvSpPr/>
          <p:nvPr/>
        </p:nvSpPr>
        <p:spPr>
          <a:xfrm>
            <a:off x="2479410" y="3126020"/>
            <a:ext cx="679908" cy="3021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橢圓 77">
            <a:extLst>
              <a:ext uri="{FF2B5EF4-FFF2-40B4-BE49-F238E27FC236}">
                <a16:creationId xmlns:a16="http://schemas.microsoft.com/office/drawing/2014/main" id="{C290B475-E3AA-4F98-B574-C94E568510A1}"/>
              </a:ext>
            </a:extLst>
          </p:cNvPr>
          <p:cNvSpPr/>
          <p:nvPr/>
        </p:nvSpPr>
        <p:spPr>
          <a:xfrm>
            <a:off x="8435011" y="655494"/>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橢圓 78">
            <a:extLst>
              <a:ext uri="{FF2B5EF4-FFF2-40B4-BE49-F238E27FC236}">
                <a16:creationId xmlns:a16="http://schemas.microsoft.com/office/drawing/2014/main" id="{10A73732-75CE-4034-8202-8EC2CE29B680}"/>
              </a:ext>
            </a:extLst>
          </p:cNvPr>
          <p:cNvSpPr/>
          <p:nvPr/>
        </p:nvSpPr>
        <p:spPr>
          <a:xfrm>
            <a:off x="6977273" y="1896760"/>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橢圓 79">
            <a:extLst>
              <a:ext uri="{FF2B5EF4-FFF2-40B4-BE49-F238E27FC236}">
                <a16:creationId xmlns:a16="http://schemas.microsoft.com/office/drawing/2014/main" id="{45762D45-2D95-473F-B543-22981E112750}"/>
              </a:ext>
            </a:extLst>
          </p:cNvPr>
          <p:cNvSpPr/>
          <p:nvPr/>
        </p:nvSpPr>
        <p:spPr>
          <a:xfrm>
            <a:off x="8435011" y="1896759"/>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橢圓 80">
            <a:extLst>
              <a:ext uri="{FF2B5EF4-FFF2-40B4-BE49-F238E27FC236}">
                <a16:creationId xmlns:a16="http://schemas.microsoft.com/office/drawing/2014/main" id="{51E9A4AC-5ADD-44DE-9301-EA26EF1285BB}"/>
              </a:ext>
            </a:extLst>
          </p:cNvPr>
          <p:cNvSpPr/>
          <p:nvPr/>
        </p:nvSpPr>
        <p:spPr>
          <a:xfrm>
            <a:off x="9892749" y="1885206"/>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文字方塊 81">
            <a:extLst>
              <a:ext uri="{FF2B5EF4-FFF2-40B4-BE49-F238E27FC236}">
                <a16:creationId xmlns:a16="http://schemas.microsoft.com/office/drawing/2014/main" id="{F7A13CD1-82A1-4265-8020-9561843D1BF1}"/>
              </a:ext>
            </a:extLst>
          </p:cNvPr>
          <p:cNvSpPr txBox="1"/>
          <p:nvPr/>
        </p:nvSpPr>
        <p:spPr>
          <a:xfrm>
            <a:off x="8431700" y="740646"/>
            <a:ext cx="1139688" cy="369332"/>
          </a:xfrm>
          <a:prstGeom prst="rect">
            <a:avLst/>
          </a:prstGeom>
          <a:noFill/>
        </p:spPr>
        <p:txBody>
          <a:bodyPr wrap="square" rtlCol="0">
            <a:spAutoFit/>
          </a:bodyPr>
          <a:lstStyle/>
          <a:p>
            <a:r>
              <a:rPr lang="en-US" altLang="zh-TW" dirty="0"/>
              <a:t>state(S</a:t>
            </a:r>
            <a:r>
              <a:rPr lang="en-US" altLang="zh-TW" sz="1400" dirty="0"/>
              <a:t>0</a:t>
            </a:r>
            <a:r>
              <a:rPr lang="en-US" altLang="zh-TW" dirty="0"/>
              <a:t>)</a:t>
            </a:r>
            <a:endParaRPr lang="zh-TW" altLang="en-US" dirty="0"/>
          </a:p>
        </p:txBody>
      </p:sp>
      <p:sp>
        <p:nvSpPr>
          <p:cNvPr id="83" name="文字方塊 82">
            <a:extLst>
              <a:ext uri="{FF2B5EF4-FFF2-40B4-BE49-F238E27FC236}">
                <a16:creationId xmlns:a16="http://schemas.microsoft.com/office/drawing/2014/main" id="{1211F2FA-B5A4-4A58-B3C5-C92DD12ED34B}"/>
              </a:ext>
            </a:extLst>
          </p:cNvPr>
          <p:cNvSpPr txBox="1"/>
          <p:nvPr/>
        </p:nvSpPr>
        <p:spPr>
          <a:xfrm>
            <a:off x="6977273" y="1978835"/>
            <a:ext cx="1139688" cy="369332"/>
          </a:xfrm>
          <a:prstGeom prst="rect">
            <a:avLst/>
          </a:prstGeom>
          <a:noFill/>
        </p:spPr>
        <p:txBody>
          <a:bodyPr wrap="square" rtlCol="0">
            <a:spAutoFit/>
          </a:bodyPr>
          <a:lstStyle/>
          <a:p>
            <a:r>
              <a:rPr lang="en-US" altLang="zh-TW" dirty="0"/>
              <a:t>state(S</a:t>
            </a:r>
            <a:r>
              <a:rPr lang="en-US" altLang="zh-TW" sz="1400" dirty="0"/>
              <a:t>1</a:t>
            </a:r>
            <a:r>
              <a:rPr lang="en-US" altLang="zh-TW" dirty="0"/>
              <a:t>)</a:t>
            </a:r>
            <a:endParaRPr lang="zh-TW" altLang="en-US" dirty="0"/>
          </a:p>
        </p:txBody>
      </p:sp>
      <p:sp>
        <p:nvSpPr>
          <p:cNvPr id="84" name="文字方塊 83">
            <a:extLst>
              <a:ext uri="{FF2B5EF4-FFF2-40B4-BE49-F238E27FC236}">
                <a16:creationId xmlns:a16="http://schemas.microsoft.com/office/drawing/2014/main" id="{00FECB34-7C5B-4473-858D-47FEE013EFD8}"/>
              </a:ext>
            </a:extLst>
          </p:cNvPr>
          <p:cNvSpPr txBox="1"/>
          <p:nvPr/>
        </p:nvSpPr>
        <p:spPr>
          <a:xfrm>
            <a:off x="8435011" y="1968896"/>
            <a:ext cx="1139688" cy="369332"/>
          </a:xfrm>
          <a:prstGeom prst="rect">
            <a:avLst/>
          </a:prstGeom>
          <a:noFill/>
        </p:spPr>
        <p:txBody>
          <a:bodyPr wrap="square" rtlCol="0">
            <a:spAutoFit/>
          </a:bodyPr>
          <a:lstStyle/>
          <a:p>
            <a:r>
              <a:rPr lang="en-US" altLang="zh-TW" dirty="0"/>
              <a:t>state(S</a:t>
            </a:r>
            <a:r>
              <a:rPr lang="en-US" altLang="zh-TW" sz="1400" dirty="0"/>
              <a:t>2</a:t>
            </a:r>
            <a:r>
              <a:rPr lang="en-US" altLang="zh-TW" dirty="0"/>
              <a:t>)</a:t>
            </a:r>
            <a:endParaRPr lang="zh-TW" altLang="en-US" dirty="0"/>
          </a:p>
        </p:txBody>
      </p:sp>
      <p:sp>
        <p:nvSpPr>
          <p:cNvPr id="85" name="文字方塊 84">
            <a:extLst>
              <a:ext uri="{FF2B5EF4-FFF2-40B4-BE49-F238E27FC236}">
                <a16:creationId xmlns:a16="http://schemas.microsoft.com/office/drawing/2014/main" id="{44C8F2F0-7BF7-4A84-9E59-68C23E0DF774}"/>
              </a:ext>
            </a:extLst>
          </p:cNvPr>
          <p:cNvSpPr txBox="1"/>
          <p:nvPr/>
        </p:nvSpPr>
        <p:spPr>
          <a:xfrm>
            <a:off x="9843051" y="1958957"/>
            <a:ext cx="1139688" cy="369332"/>
          </a:xfrm>
          <a:prstGeom prst="rect">
            <a:avLst/>
          </a:prstGeom>
          <a:noFill/>
        </p:spPr>
        <p:txBody>
          <a:bodyPr wrap="square" rtlCol="0">
            <a:spAutoFit/>
          </a:bodyPr>
          <a:lstStyle/>
          <a:p>
            <a:r>
              <a:rPr lang="en-US" altLang="zh-TW" dirty="0"/>
              <a:t>state(S</a:t>
            </a:r>
            <a:r>
              <a:rPr lang="en-US" altLang="zh-TW" sz="1400" dirty="0"/>
              <a:t>3</a:t>
            </a:r>
            <a:r>
              <a:rPr lang="en-US" altLang="zh-TW" dirty="0"/>
              <a:t>)</a:t>
            </a:r>
            <a:endParaRPr lang="zh-TW" altLang="en-US" dirty="0"/>
          </a:p>
        </p:txBody>
      </p:sp>
      <p:cxnSp>
        <p:nvCxnSpPr>
          <p:cNvPr id="86" name="直線單箭頭接點 85">
            <a:extLst>
              <a:ext uri="{FF2B5EF4-FFF2-40B4-BE49-F238E27FC236}">
                <a16:creationId xmlns:a16="http://schemas.microsoft.com/office/drawing/2014/main" id="{19204B8E-FCE0-4D09-99C6-734AB1305BB8}"/>
              </a:ext>
            </a:extLst>
          </p:cNvPr>
          <p:cNvCxnSpPr>
            <a:stCxn id="82" idx="1"/>
            <a:endCxn id="79" idx="0"/>
          </p:cNvCxnSpPr>
          <p:nvPr/>
        </p:nvCxnSpPr>
        <p:spPr>
          <a:xfrm flipH="1">
            <a:off x="7414595" y="925312"/>
            <a:ext cx="1017105" cy="9714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a16="http://schemas.microsoft.com/office/drawing/2014/main" id="{3FDEC477-B16B-42F9-B28F-E4679F0B22DE}"/>
              </a:ext>
            </a:extLst>
          </p:cNvPr>
          <p:cNvCxnSpPr>
            <a:stCxn id="78" idx="4"/>
            <a:endCxn id="80" idx="0"/>
          </p:cNvCxnSpPr>
          <p:nvPr/>
        </p:nvCxnSpPr>
        <p:spPr>
          <a:xfrm>
            <a:off x="8872333" y="1212085"/>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a16="http://schemas.microsoft.com/office/drawing/2014/main" id="{3A55F97F-7F84-4FDE-B920-6F83B4E7EE34}"/>
              </a:ext>
            </a:extLst>
          </p:cNvPr>
          <p:cNvCxnSpPr/>
          <p:nvPr/>
        </p:nvCxnSpPr>
        <p:spPr>
          <a:xfrm>
            <a:off x="9309654" y="933789"/>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9" name="橢圓 88">
            <a:extLst>
              <a:ext uri="{FF2B5EF4-FFF2-40B4-BE49-F238E27FC236}">
                <a16:creationId xmlns:a16="http://schemas.microsoft.com/office/drawing/2014/main" id="{3499CBA4-5F92-4E91-9F4C-A7687DDC87C6}"/>
              </a:ext>
            </a:extLst>
          </p:cNvPr>
          <p:cNvSpPr/>
          <p:nvPr/>
        </p:nvSpPr>
        <p:spPr>
          <a:xfrm>
            <a:off x="5787069" y="3385043"/>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橢圓 89">
            <a:extLst>
              <a:ext uri="{FF2B5EF4-FFF2-40B4-BE49-F238E27FC236}">
                <a16:creationId xmlns:a16="http://schemas.microsoft.com/office/drawing/2014/main" id="{159639DC-6EBF-4314-8068-AF911CAA41D3}"/>
              </a:ext>
            </a:extLst>
          </p:cNvPr>
          <p:cNvSpPr/>
          <p:nvPr/>
        </p:nvSpPr>
        <p:spPr>
          <a:xfrm>
            <a:off x="7020353" y="3163386"/>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橢圓 90">
            <a:extLst>
              <a:ext uri="{FF2B5EF4-FFF2-40B4-BE49-F238E27FC236}">
                <a16:creationId xmlns:a16="http://schemas.microsoft.com/office/drawing/2014/main" id="{4D07D058-FE34-463F-A7D2-71E4126F109B}"/>
              </a:ext>
            </a:extLst>
          </p:cNvPr>
          <p:cNvSpPr/>
          <p:nvPr/>
        </p:nvSpPr>
        <p:spPr>
          <a:xfrm>
            <a:off x="8186537" y="3305894"/>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2" name="直線單箭頭接點 91">
            <a:extLst>
              <a:ext uri="{FF2B5EF4-FFF2-40B4-BE49-F238E27FC236}">
                <a16:creationId xmlns:a16="http://schemas.microsoft.com/office/drawing/2014/main" id="{A2C843B9-9268-4237-9609-49C7D3B2F2FD}"/>
              </a:ext>
            </a:extLst>
          </p:cNvPr>
          <p:cNvCxnSpPr>
            <a:cxnSpLocks/>
          </p:cNvCxnSpPr>
          <p:nvPr/>
        </p:nvCxnSpPr>
        <p:spPr>
          <a:xfrm flipH="1">
            <a:off x="6167234" y="2413595"/>
            <a:ext cx="1017105" cy="9714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92">
            <a:extLst>
              <a:ext uri="{FF2B5EF4-FFF2-40B4-BE49-F238E27FC236}">
                <a16:creationId xmlns:a16="http://schemas.microsoft.com/office/drawing/2014/main" id="{2765E9E2-952C-4FBE-A8F1-44AE7569C42F}"/>
              </a:ext>
            </a:extLst>
          </p:cNvPr>
          <p:cNvCxnSpPr/>
          <p:nvPr/>
        </p:nvCxnSpPr>
        <p:spPr>
          <a:xfrm>
            <a:off x="7706148" y="2393558"/>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93">
            <a:extLst>
              <a:ext uri="{FF2B5EF4-FFF2-40B4-BE49-F238E27FC236}">
                <a16:creationId xmlns:a16="http://schemas.microsoft.com/office/drawing/2014/main" id="{B3912F1A-FB13-4F9C-98ED-6448CDDDD498}"/>
              </a:ext>
            </a:extLst>
          </p:cNvPr>
          <p:cNvCxnSpPr/>
          <p:nvPr/>
        </p:nvCxnSpPr>
        <p:spPr>
          <a:xfrm>
            <a:off x="7414594" y="2453350"/>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5" name="文字方塊 94">
            <a:extLst>
              <a:ext uri="{FF2B5EF4-FFF2-40B4-BE49-F238E27FC236}">
                <a16:creationId xmlns:a16="http://schemas.microsoft.com/office/drawing/2014/main" id="{CD8EAA60-2C94-4C75-98C2-E390F5C1BE2D}"/>
              </a:ext>
            </a:extLst>
          </p:cNvPr>
          <p:cNvSpPr txBox="1"/>
          <p:nvPr/>
        </p:nvSpPr>
        <p:spPr>
          <a:xfrm>
            <a:off x="5772790" y="3484595"/>
            <a:ext cx="1139688" cy="369332"/>
          </a:xfrm>
          <a:prstGeom prst="rect">
            <a:avLst/>
          </a:prstGeom>
          <a:noFill/>
        </p:spPr>
        <p:txBody>
          <a:bodyPr wrap="square" rtlCol="0">
            <a:spAutoFit/>
          </a:bodyPr>
          <a:lstStyle/>
          <a:p>
            <a:r>
              <a:rPr lang="en-US" altLang="zh-TW" dirty="0"/>
              <a:t>state(S</a:t>
            </a:r>
            <a:r>
              <a:rPr lang="en-US" altLang="zh-TW" sz="1400" dirty="0"/>
              <a:t>4</a:t>
            </a:r>
            <a:r>
              <a:rPr lang="en-US" altLang="zh-TW" dirty="0"/>
              <a:t>)</a:t>
            </a:r>
            <a:endParaRPr lang="zh-TW" altLang="en-US" dirty="0"/>
          </a:p>
        </p:txBody>
      </p:sp>
      <p:sp>
        <p:nvSpPr>
          <p:cNvPr id="96" name="文字方塊 95">
            <a:extLst>
              <a:ext uri="{FF2B5EF4-FFF2-40B4-BE49-F238E27FC236}">
                <a16:creationId xmlns:a16="http://schemas.microsoft.com/office/drawing/2014/main" id="{65E0CA05-EE13-43B7-B2C7-763791443A66}"/>
              </a:ext>
            </a:extLst>
          </p:cNvPr>
          <p:cNvSpPr txBox="1"/>
          <p:nvPr/>
        </p:nvSpPr>
        <p:spPr>
          <a:xfrm>
            <a:off x="7026976" y="3200378"/>
            <a:ext cx="1139688" cy="369332"/>
          </a:xfrm>
          <a:prstGeom prst="rect">
            <a:avLst/>
          </a:prstGeom>
          <a:noFill/>
        </p:spPr>
        <p:txBody>
          <a:bodyPr wrap="square" rtlCol="0">
            <a:spAutoFit/>
          </a:bodyPr>
          <a:lstStyle/>
          <a:p>
            <a:r>
              <a:rPr lang="en-US" altLang="zh-TW" dirty="0"/>
              <a:t>state(S</a:t>
            </a:r>
            <a:r>
              <a:rPr lang="en-US" altLang="zh-TW" sz="1400" dirty="0"/>
              <a:t>5</a:t>
            </a:r>
            <a:r>
              <a:rPr lang="en-US" altLang="zh-TW" dirty="0"/>
              <a:t>)</a:t>
            </a:r>
            <a:endParaRPr lang="zh-TW" altLang="en-US" dirty="0"/>
          </a:p>
        </p:txBody>
      </p:sp>
      <p:sp>
        <p:nvSpPr>
          <p:cNvPr id="97" name="文字方塊 96">
            <a:extLst>
              <a:ext uri="{FF2B5EF4-FFF2-40B4-BE49-F238E27FC236}">
                <a16:creationId xmlns:a16="http://schemas.microsoft.com/office/drawing/2014/main" id="{5583BB0A-F4F2-40A8-B537-9F3E112F40FE}"/>
              </a:ext>
            </a:extLst>
          </p:cNvPr>
          <p:cNvSpPr txBox="1"/>
          <p:nvPr/>
        </p:nvSpPr>
        <p:spPr>
          <a:xfrm>
            <a:off x="8121946" y="3385044"/>
            <a:ext cx="1139688" cy="369332"/>
          </a:xfrm>
          <a:prstGeom prst="rect">
            <a:avLst/>
          </a:prstGeom>
          <a:noFill/>
        </p:spPr>
        <p:txBody>
          <a:bodyPr wrap="square" rtlCol="0">
            <a:spAutoFit/>
          </a:bodyPr>
          <a:lstStyle/>
          <a:p>
            <a:r>
              <a:rPr lang="en-US" altLang="zh-TW" dirty="0"/>
              <a:t>state(S</a:t>
            </a:r>
            <a:r>
              <a:rPr lang="en-US" altLang="zh-TW" sz="1400" dirty="0"/>
              <a:t>6</a:t>
            </a:r>
            <a:r>
              <a:rPr lang="en-US" altLang="zh-TW" dirty="0"/>
              <a:t>)</a:t>
            </a:r>
            <a:endParaRPr lang="zh-TW" altLang="en-US" dirty="0"/>
          </a:p>
        </p:txBody>
      </p:sp>
      <p:cxnSp>
        <p:nvCxnSpPr>
          <p:cNvPr id="102" name="直線單箭頭接點 101">
            <a:extLst>
              <a:ext uri="{FF2B5EF4-FFF2-40B4-BE49-F238E27FC236}">
                <a16:creationId xmlns:a16="http://schemas.microsoft.com/office/drawing/2014/main" id="{FDB4DAA3-B430-489B-B109-1B17F58FEF59}"/>
              </a:ext>
            </a:extLst>
          </p:cNvPr>
          <p:cNvCxnSpPr>
            <a:cxnSpLocks/>
          </p:cNvCxnSpPr>
          <p:nvPr/>
        </p:nvCxnSpPr>
        <p:spPr>
          <a:xfrm flipH="1">
            <a:off x="5156337" y="3888787"/>
            <a:ext cx="1017105" cy="9714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3" name="橢圓 102">
            <a:extLst>
              <a:ext uri="{FF2B5EF4-FFF2-40B4-BE49-F238E27FC236}">
                <a16:creationId xmlns:a16="http://schemas.microsoft.com/office/drawing/2014/main" id="{05CEEC8B-DD2D-4C5B-858B-366BA01D0CD1}"/>
              </a:ext>
            </a:extLst>
          </p:cNvPr>
          <p:cNvSpPr/>
          <p:nvPr/>
        </p:nvSpPr>
        <p:spPr>
          <a:xfrm>
            <a:off x="4719015" y="4860235"/>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 name="文字方塊 103">
            <a:extLst>
              <a:ext uri="{FF2B5EF4-FFF2-40B4-BE49-F238E27FC236}">
                <a16:creationId xmlns:a16="http://schemas.microsoft.com/office/drawing/2014/main" id="{9E596FBA-50C0-4F45-9A78-D253A9870ED5}"/>
              </a:ext>
            </a:extLst>
          </p:cNvPr>
          <p:cNvSpPr txBox="1"/>
          <p:nvPr/>
        </p:nvSpPr>
        <p:spPr>
          <a:xfrm>
            <a:off x="4701980" y="4943583"/>
            <a:ext cx="1139688" cy="369332"/>
          </a:xfrm>
          <a:prstGeom prst="rect">
            <a:avLst/>
          </a:prstGeom>
          <a:noFill/>
        </p:spPr>
        <p:txBody>
          <a:bodyPr wrap="square" rtlCol="0">
            <a:spAutoFit/>
          </a:bodyPr>
          <a:lstStyle/>
          <a:p>
            <a:r>
              <a:rPr lang="en-US" altLang="zh-TW" dirty="0"/>
              <a:t>state(S</a:t>
            </a:r>
            <a:r>
              <a:rPr lang="en-US" altLang="zh-TW" sz="1400" dirty="0"/>
              <a:t>7</a:t>
            </a:r>
            <a:r>
              <a:rPr lang="en-US" altLang="zh-TW" dirty="0"/>
              <a:t>)</a:t>
            </a:r>
            <a:endParaRPr lang="zh-TW" altLang="en-US" dirty="0"/>
          </a:p>
        </p:txBody>
      </p:sp>
      <p:sp>
        <p:nvSpPr>
          <p:cNvPr id="41" name="箭號: 向下 40">
            <a:extLst>
              <a:ext uri="{FF2B5EF4-FFF2-40B4-BE49-F238E27FC236}">
                <a16:creationId xmlns:a16="http://schemas.microsoft.com/office/drawing/2014/main" id="{5C3A6591-C22E-4194-B183-787DB5C02E5D}"/>
              </a:ext>
            </a:extLst>
          </p:cNvPr>
          <p:cNvSpPr/>
          <p:nvPr/>
        </p:nvSpPr>
        <p:spPr>
          <a:xfrm>
            <a:off x="1534152" y="4198194"/>
            <a:ext cx="314526" cy="6620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77D4C639-4B71-43AA-85B4-88B62521C928}"/>
              </a:ext>
            </a:extLst>
          </p:cNvPr>
          <p:cNvSpPr txBox="1"/>
          <p:nvPr/>
        </p:nvSpPr>
        <p:spPr>
          <a:xfrm>
            <a:off x="6361043" y="4942900"/>
            <a:ext cx="3210345" cy="646331"/>
          </a:xfrm>
          <a:prstGeom prst="rect">
            <a:avLst/>
          </a:prstGeom>
          <a:noFill/>
        </p:spPr>
        <p:txBody>
          <a:bodyPr wrap="square" rtlCol="0">
            <a:spAutoFit/>
          </a:bodyPr>
          <a:lstStyle/>
          <a:p>
            <a:r>
              <a:rPr lang="en-US" altLang="zh-TW" dirty="0"/>
              <a:t>Rollout: use random strategy</a:t>
            </a:r>
          </a:p>
          <a:p>
            <a:r>
              <a:rPr lang="en-US" altLang="zh-TW" dirty="0"/>
              <a:t>Q(</a:t>
            </a:r>
            <a:r>
              <a:rPr lang="en-US" altLang="zh-TW" dirty="0" err="1"/>
              <a:t>a,s</a:t>
            </a:r>
            <a:r>
              <a:rPr lang="en-US" altLang="zh-TW" dirty="0"/>
              <a:t>) = </a:t>
            </a:r>
            <a:endParaRPr lang="zh-TW" altLang="en-US" dirty="0"/>
          </a:p>
        </p:txBody>
      </p:sp>
    </p:spTree>
    <p:extLst>
      <p:ext uri="{BB962C8B-B14F-4D97-AF65-F5344CB8AC3E}">
        <p14:creationId xmlns:p14="http://schemas.microsoft.com/office/powerpoint/2010/main" val="2989922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橢圓 3">
            <a:extLst>
              <a:ext uri="{FF2B5EF4-FFF2-40B4-BE49-F238E27FC236}">
                <a16:creationId xmlns:a16="http://schemas.microsoft.com/office/drawing/2014/main" id="{C2014055-4D2D-4CB2-BE63-17513398D4F9}"/>
              </a:ext>
            </a:extLst>
          </p:cNvPr>
          <p:cNvSpPr/>
          <p:nvPr/>
        </p:nvSpPr>
        <p:spPr>
          <a:xfrm>
            <a:off x="849796" y="844826"/>
            <a:ext cx="1321905" cy="4572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Start</a:t>
            </a:r>
            <a:endParaRPr lang="zh-TW" altLang="en-US" sz="2000" dirty="0">
              <a:solidFill>
                <a:schemeClr val="tx1"/>
              </a:solidFill>
            </a:endParaRPr>
          </a:p>
        </p:txBody>
      </p:sp>
      <p:sp>
        <p:nvSpPr>
          <p:cNvPr id="5" name="矩形: 圓角 4">
            <a:extLst>
              <a:ext uri="{FF2B5EF4-FFF2-40B4-BE49-F238E27FC236}">
                <a16:creationId xmlns:a16="http://schemas.microsoft.com/office/drawing/2014/main" id="{2DE504F8-1101-460D-8406-B6B03AB37608}"/>
              </a:ext>
            </a:extLst>
          </p:cNvPr>
          <p:cNvSpPr/>
          <p:nvPr/>
        </p:nvSpPr>
        <p:spPr>
          <a:xfrm>
            <a:off x="699265" y="1629212"/>
            <a:ext cx="1669774" cy="457199"/>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Current State</a:t>
            </a:r>
            <a:endParaRPr lang="zh-TW" altLang="en-US" sz="2000" dirty="0">
              <a:solidFill>
                <a:schemeClr val="tx1"/>
              </a:solidFill>
            </a:endParaRPr>
          </a:p>
        </p:txBody>
      </p:sp>
      <p:sp>
        <p:nvSpPr>
          <p:cNvPr id="7" name="矩形 6">
            <a:extLst>
              <a:ext uri="{FF2B5EF4-FFF2-40B4-BE49-F238E27FC236}">
                <a16:creationId xmlns:a16="http://schemas.microsoft.com/office/drawing/2014/main" id="{EEF854FB-3291-40E8-8DAC-E7D0BD55DB1C}"/>
              </a:ext>
            </a:extLst>
          </p:cNvPr>
          <p:cNvSpPr/>
          <p:nvPr/>
        </p:nvSpPr>
        <p:spPr>
          <a:xfrm rot="18391159">
            <a:off x="964227" y="2628119"/>
            <a:ext cx="1216836" cy="13555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8" name="矩形 7">
            <a:extLst>
              <a:ext uri="{FF2B5EF4-FFF2-40B4-BE49-F238E27FC236}">
                <a16:creationId xmlns:a16="http://schemas.microsoft.com/office/drawing/2014/main" id="{B5A8C9F2-F215-42BA-8B47-077F715D1CA3}"/>
              </a:ext>
            </a:extLst>
          </p:cNvPr>
          <p:cNvSpPr/>
          <p:nvPr/>
        </p:nvSpPr>
        <p:spPr>
          <a:xfrm>
            <a:off x="962756" y="2742113"/>
            <a:ext cx="1251321" cy="1015663"/>
          </a:xfrm>
          <a:prstGeom prst="rect">
            <a:avLst/>
          </a:prstGeom>
        </p:spPr>
        <p:txBody>
          <a:bodyPr wrap="square">
            <a:spAutoFit/>
          </a:bodyPr>
          <a:lstStyle/>
          <a:p>
            <a:pPr algn="ctr"/>
            <a:r>
              <a:rPr lang="en-US" altLang="zh-TW" sz="2000" dirty="0"/>
              <a:t>Is current </a:t>
            </a:r>
          </a:p>
          <a:p>
            <a:pPr algn="ctr"/>
            <a:r>
              <a:rPr lang="en-US" altLang="zh-TW" sz="2000" dirty="0"/>
              <a:t>state a</a:t>
            </a:r>
          </a:p>
          <a:p>
            <a:pPr algn="ctr"/>
            <a:r>
              <a:rPr lang="en-US" altLang="zh-TW" sz="2000" dirty="0"/>
              <a:t>leaf node?  </a:t>
            </a:r>
            <a:endParaRPr lang="zh-TW" altLang="en-US" sz="2000" dirty="0"/>
          </a:p>
        </p:txBody>
      </p:sp>
      <p:sp>
        <p:nvSpPr>
          <p:cNvPr id="11" name="文字方塊 10">
            <a:extLst>
              <a:ext uri="{FF2B5EF4-FFF2-40B4-BE49-F238E27FC236}">
                <a16:creationId xmlns:a16="http://schemas.microsoft.com/office/drawing/2014/main" id="{1EE17FB1-7328-4DD4-8D1F-53A0EB4F6869}"/>
              </a:ext>
            </a:extLst>
          </p:cNvPr>
          <p:cNvSpPr txBox="1"/>
          <p:nvPr/>
        </p:nvSpPr>
        <p:spPr>
          <a:xfrm>
            <a:off x="325105" y="157455"/>
            <a:ext cx="4087869" cy="584775"/>
          </a:xfrm>
          <a:prstGeom prst="rect">
            <a:avLst/>
          </a:prstGeom>
          <a:noFill/>
        </p:spPr>
        <p:txBody>
          <a:bodyPr wrap="square" rtlCol="0">
            <a:spAutoFit/>
          </a:bodyPr>
          <a:lstStyle/>
          <a:p>
            <a:r>
              <a:rPr lang="en-US" altLang="zh-TW" sz="3200" dirty="0"/>
              <a:t>Step4:Backpropagation</a:t>
            </a:r>
            <a:endParaRPr lang="zh-TW" altLang="en-US" sz="3200" dirty="0"/>
          </a:p>
        </p:txBody>
      </p:sp>
      <p:sp>
        <p:nvSpPr>
          <p:cNvPr id="12" name="矩形: 圓角 11">
            <a:extLst>
              <a:ext uri="{FF2B5EF4-FFF2-40B4-BE49-F238E27FC236}">
                <a16:creationId xmlns:a16="http://schemas.microsoft.com/office/drawing/2014/main" id="{88C58CD0-A6FA-46B3-8743-095912A91DF7}"/>
              </a:ext>
            </a:extLst>
          </p:cNvPr>
          <p:cNvSpPr/>
          <p:nvPr/>
        </p:nvSpPr>
        <p:spPr>
          <a:xfrm>
            <a:off x="3159318" y="2957556"/>
            <a:ext cx="1933564" cy="58477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Current = max[UCB1(S</a:t>
            </a:r>
            <a:r>
              <a:rPr lang="en-US" altLang="zh-TW" sz="1600" dirty="0">
                <a:solidFill>
                  <a:schemeClr val="tx1"/>
                </a:solidFill>
              </a:rPr>
              <a:t>i</a:t>
            </a:r>
            <a:r>
              <a:rPr lang="en-US" altLang="zh-TW" sz="2000" dirty="0">
                <a:solidFill>
                  <a:schemeClr val="tx1"/>
                </a:solidFill>
              </a:rPr>
              <a:t>)]</a:t>
            </a:r>
            <a:endParaRPr lang="zh-TW" altLang="en-US" sz="2000" dirty="0">
              <a:solidFill>
                <a:schemeClr val="tx1"/>
              </a:solidFill>
            </a:endParaRPr>
          </a:p>
        </p:txBody>
      </p:sp>
      <p:sp>
        <p:nvSpPr>
          <p:cNvPr id="15" name="矩形: 圓角 14">
            <a:extLst>
              <a:ext uri="{FF2B5EF4-FFF2-40B4-BE49-F238E27FC236}">
                <a16:creationId xmlns:a16="http://schemas.microsoft.com/office/drawing/2014/main" id="{788177EE-A3FC-433E-A2C7-6FF98778A34A}"/>
              </a:ext>
            </a:extLst>
          </p:cNvPr>
          <p:cNvSpPr/>
          <p:nvPr/>
        </p:nvSpPr>
        <p:spPr>
          <a:xfrm>
            <a:off x="665880" y="4771589"/>
            <a:ext cx="2045199" cy="457199"/>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Node Expansion</a:t>
            </a:r>
            <a:endParaRPr lang="zh-TW" altLang="en-US" sz="2000" dirty="0">
              <a:solidFill>
                <a:schemeClr val="tx1"/>
              </a:solidFill>
            </a:endParaRPr>
          </a:p>
        </p:txBody>
      </p:sp>
      <p:sp>
        <p:nvSpPr>
          <p:cNvPr id="16" name="矩形: 圓角 15">
            <a:extLst>
              <a:ext uri="{FF2B5EF4-FFF2-40B4-BE49-F238E27FC236}">
                <a16:creationId xmlns:a16="http://schemas.microsoft.com/office/drawing/2014/main" id="{D2D9A5C2-7B23-4FDA-814B-C76C3B70058C}"/>
              </a:ext>
            </a:extLst>
          </p:cNvPr>
          <p:cNvSpPr/>
          <p:nvPr/>
        </p:nvSpPr>
        <p:spPr>
          <a:xfrm>
            <a:off x="809636" y="5802184"/>
            <a:ext cx="1669774" cy="54218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Simulation</a:t>
            </a:r>
          </a:p>
          <a:p>
            <a:pPr algn="ctr"/>
            <a:r>
              <a:rPr lang="en-US" altLang="zh-TW" sz="2000" dirty="0">
                <a:solidFill>
                  <a:schemeClr val="tx1"/>
                </a:solidFill>
              </a:rPr>
              <a:t>(Rollout)</a:t>
            </a:r>
            <a:endParaRPr lang="zh-TW" altLang="en-US" sz="2000" dirty="0">
              <a:solidFill>
                <a:schemeClr val="tx1"/>
              </a:solidFill>
            </a:endParaRPr>
          </a:p>
        </p:txBody>
      </p:sp>
      <p:sp>
        <p:nvSpPr>
          <p:cNvPr id="17" name="矩形: 圓角 16">
            <a:extLst>
              <a:ext uri="{FF2B5EF4-FFF2-40B4-BE49-F238E27FC236}">
                <a16:creationId xmlns:a16="http://schemas.microsoft.com/office/drawing/2014/main" id="{831BA2E3-D3CD-49AD-9330-36FE55062BA4}"/>
              </a:ext>
            </a:extLst>
          </p:cNvPr>
          <p:cNvSpPr/>
          <p:nvPr/>
        </p:nvSpPr>
        <p:spPr>
          <a:xfrm>
            <a:off x="3246998" y="5802184"/>
            <a:ext cx="2040610" cy="542186"/>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Backpropagation</a:t>
            </a:r>
            <a:endParaRPr lang="zh-TW" altLang="en-US" sz="2000" dirty="0">
              <a:solidFill>
                <a:schemeClr val="tx1"/>
              </a:solidFill>
            </a:endParaRPr>
          </a:p>
        </p:txBody>
      </p:sp>
      <p:sp>
        <p:nvSpPr>
          <p:cNvPr id="18" name="箭號: 向下 17">
            <a:extLst>
              <a:ext uri="{FF2B5EF4-FFF2-40B4-BE49-F238E27FC236}">
                <a16:creationId xmlns:a16="http://schemas.microsoft.com/office/drawing/2014/main" id="{DC0187D2-B0E4-4D3F-88ED-73A7B6BEAB52}"/>
              </a:ext>
            </a:extLst>
          </p:cNvPr>
          <p:cNvSpPr/>
          <p:nvPr/>
        </p:nvSpPr>
        <p:spPr>
          <a:xfrm>
            <a:off x="1334106" y="1315625"/>
            <a:ext cx="238539" cy="327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箭號: 向下 18">
            <a:extLst>
              <a:ext uri="{FF2B5EF4-FFF2-40B4-BE49-F238E27FC236}">
                <a16:creationId xmlns:a16="http://schemas.microsoft.com/office/drawing/2014/main" id="{E3E2DEC2-31CF-404B-9AAD-A467F59E98EC}"/>
              </a:ext>
            </a:extLst>
          </p:cNvPr>
          <p:cNvSpPr/>
          <p:nvPr/>
        </p:nvSpPr>
        <p:spPr>
          <a:xfrm>
            <a:off x="1334105" y="2086411"/>
            <a:ext cx="238539" cy="32718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箭號: 向右 19">
            <a:extLst>
              <a:ext uri="{FF2B5EF4-FFF2-40B4-BE49-F238E27FC236}">
                <a16:creationId xmlns:a16="http://schemas.microsoft.com/office/drawing/2014/main" id="{C6949AFD-D701-4721-9341-FDC89F7D6C12}"/>
              </a:ext>
            </a:extLst>
          </p:cNvPr>
          <p:cNvSpPr/>
          <p:nvPr/>
        </p:nvSpPr>
        <p:spPr>
          <a:xfrm>
            <a:off x="2479410" y="3126020"/>
            <a:ext cx="679908" cy="3021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箭號: 向下 20">
            <a:extLst>
              <a:ext uri="{FF2B5EF4-FFF2-40B4-BE49-F238E27FC236}">
                <a16:creationId xmlns:a16="http://schemas.microsoft.com/office/drawing/2014/main" id="{AF13D8AB-C0EB-4D95-825E-CDABCE3F358B}"/>
              </a:ext>
            </a:extLst>
          </p:cNvPr>
          <p:cNvSpPr/>
          <p:nvPr/>
        </p:nvSpPr>
        <p:spPr>
          <a:xfrm>
            <a:off x="1534152" y="4198194"/>
            <a:ext cx="314526" cy="6620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箭號: 向下 21">
            <a:extLst>
              <a:ext uri="{FF2B5EF4-FFF2-40B4-BE49-F238E27FC236}">
                <a16:creationId xmlns:a16="http://schemas.microsoft.com/office/drawing/2014/main" id="{CA75C3BB-5541-4F32-B423-A86425EEC498}"/>
              </a:ext>
            </a:extLst>
          </p:cNvPr>
          <p:cNvSpPr/>
          <p:nvPr/>
        </p:nvSpPr>
        <p:spPr>
          <a:xfrm>
            <a:off x="1534152" y="5228788"/>
            <a:ext cx="314526" cy="5421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箭號: 向右 22">
            <a:extLst>
              <a:ext uri="{FF2B5EF4-FFF2-40B4-BE49-F238E27FC236}">
                <a16:creationId xmlns:a16="http://schemas.microsoft.com/office/drawing/2014/main" id="{D7F70941-9ED2-4765-BCCA-381AF55D444B}"/>
              </a:ext>
            </a:extLst>
          </p:cNvPr>
          <p:cNvSpPr/>
          <p:nvPr/>
        </p:nvSpPr>
        <p:spPr>
          <a:xfrm>
            <a:off x="2479410" y="5938793"/>
            <a:ext cx="767588" cy="2914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6" name="直線接點 35">
            <a:extLst>
              <a:ext uri="{FF2B5EF4-FFF2-40B4-BE49-F238E27FC236}">
                <a16:creationId xmlns:a16="http://schemas.microsoft.com/office/drawing/2014/main" id="{A7DE785B-375F-44AF-BCB4-157F4B8B29C0}"/>
              </a:ext>
            </a:extLst>
          </p:cNvPr>
          <p:cNvCxnSpPr>
            <a:cxnSpLocks/>
          </p:cNvCxnSpPr>
          <p:nvPr/>
        </p:nvCxnSpPr>
        <p:spPr>
          <a:xfrm>
            <a:off x="596521" y="1858410"/>
            <a:ext cx="99433" cy="11927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0" name="橢圓 39">
            <a:extLst>
              <a:ext uri="{FF2B5EF4-FFF2-40B4-BE49-F238E27FC236}">
                <a16:creationId xmlns:a16="http://schemas.microsoft.com/office/drawing/2014/main" id="{177432F4-95BA-4D42-9AAA-39F0840B9E51}"/>
              </a:ext>
            </a:extLst>
          </p:cNvPr>
          <p:cNvSpPr/>
          <p:nvPr/>
        </p:nvSpPr>
        <p:spPr>
          <a:xfrm>
            <a:off x="8435011" y="655494"/>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橢圓 40">
            <a:extLst>
              <a:ext uri="{FF2B5EF4-FFF2-40B4-BE49-F238E27FC236}">
                <a16:creationId xmlns:a16="http://schemas.microsoft.com/office/drawing/2014/main" id="{2429AE91-95D3-44AF-9C60-A8A43E99022E}"/>
              </a:ext>
            </a:extLst>
          </p:cNvPr>
          <p:cNvSpPr/>
          <p:nvPr/>
        </p:nvSpPr>
        <p:spPr>
          <a:xfrm>
            <a:off x="6977273" y="1896760"/>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橢圓 41">
            <a:extLst>
              <a:ext uri="{FF2B5EF4-FFF2-40B4-BE49-F238E27FC236}">
                <a16:creationId xmlns:a16="http://schemas.microsoft.com/office/drawing/2014/main" id="{9621C3E4-0BAA-43A5-9709-20819C2AF7D8}"/>
              </a:ext>
            </a:extLst>
          </p:cNvPr>
          <p:cNvSpPr/>
          <p:nvPr/>
        </p:nvSpPr>
        <p:spPr>
          <a:xfrm>
            <a:off x="8435011" y="1896759"/>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橢圓 42">
            <a:extLst>
              <a:ext uri="{FF2B5EF4-FFF2-40B4-BE49-F238E27FC236}">
                <a16:creationId xmlns:a16="http://schemas.microsoft.com/office/drawing/2014/main" id="{AAC47288-7F68-405A-A24E-5A84421FED2F}"/>
              </a:ext>
            </a:extLst>
          </p:cNvPr>
          <p:cNvSpPr/>
          <p:nvPr/>
        </p:nvSpPr>
        <p:spPr>
          <a:xfrm>
            <a:off x="9892749" y="1885206"/>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文字方塊 43">
            <a:extLst>
              <a:ext uri="{FF2B5EF4-FFF2-40B4-BE49-F238E27FC236}">
                <a16:creationId xmlns:a16="http://schemas.microsoft.com/office/drawing/2014/main" id="{11D6809C-75C9-4555-9CA9-C4FBA28A8AE2}"/>
              </a:ext>
            </a:extLst>
          </p:cNvPr>
          <p:cNvSpPr txBox="1"/>
          <p:nvPr/>
        </p:nvSpPr>
        <p:spPr>
          <a:xfrm>
            <a:off x="8431700" y="740646"/>
            <a:ext cx="1139688" cy="369332"/>
          </a:xfrm>
          <a:prstGeom prst="rect">
            <a:avLst/>
          </a:prstGeom>
          <a:noFill/>
        </p:spPr>
        <p:txBody>
          <a:bodyPr wrap="square" rtlCol="0">
            <a:spAutoFit/>
          </a:bodyPr>
          <a:lstStyle/>
          <a:p>
            <a:r>
              <a:rPr lang="en-US" altLang="zh-TW" dirty="0"/>
              <a:t>state(S</a:t>
            </a:r>
            <a:r>
              <a:rPr lang="en-US" altLang="zh-TW" sz="1400" dirty="0"/>
              <a:t>0</a:t>
            </a:r>
            <a:r>
              <a:rPr lang="en-US" altLang="zh-TW" dirty="0"/>
              <a:t>)</a:t>
            </a:r>
            <a:endParaRPr lang="zh-TW" altLang="en-US" dirty="0"/>
          </a:p>
        </p:txBody>
      </p:sp>
      <p:sp>
        <p:nvSpPr>
          <p:cNvPr id="45" name="文字方塊 44">
            <a:extLst>
              <a:ext uri="{FF2B5EF4-FFF2-40B4-BE49-F238E27FC236}">
                <a16:creationId xmlns:a16="http://schemas.microsoft.com/office/drawing/2014/main" id="{91B727B1-29D7-4403-AC3A-C46DA5664302}"/>
              </a:ext>
            </a:extLst>
          </p:cNvPr>
          <p:cNvSpPr txBox="1"/>
          <p:nvPr/>
        </p:nvSpPr>
        <p:spPr>
          <a:xfrm>
            <a:off x="6977273" y="1978835"/>
            <a:ext cx="1139688" cy="369332"/>
          </a:xfrm>
          <a:prstGeom prst="rect">
            <a:avLst/>
          </a:prstGeom>
          <a:noFill/>
        </p:spPr>
        <p:txBody>
          <a:bodyPr wrap="square" rtlCol="0">
            <a:spAutoFit/>
          </a:bodyPr>
          <a:lstStyle/>
          <a:p>
            <a:r>
              <a:rPr lang="en-US" altLang="zh-TW" dirty="0"/>
              <a:t>state(S</a:t>
            </a:r>
            <a:r>
              <a:rPr lang="en-US" altLang="zh-TW" sz="1400" dirty="0"/>
              <a:t>1</a:t>
            </a:r>
            <a:r>
              <a:rPr lang="en-US" altLang="zh-TW" dirty="0"/>
              <a:t>)</a:t>
            </a:r>
            <a:endParaRPr lang="zh-TW" altLang="en-US" dirty="0"/>
          </a:p>
        </p:txBody>
      </p:sp>
      <p:sp>
        <p:nvSpPr>
          <p:cNvPr id="46" name="文字方塊 45">
            <a:extLst>
              <a:ext uri="{FF2B5EF4-FFF2-40B4-BE49-F238E27FC236}">
                <a16:creationId xmlns:a16="http://schemas.microsoft.com/office/drawing/2014/main" id="{731330EE-3B3C-4A38-9CFA-8CC76EDEDEA4}"/>
              </a:ext>
            </a:extLst>
          </p:cNvPr>
          <p:cNvSpPr txBox="1"/>
          <p:nvPr/>
        </p:nvSpPr>
        <p:spPr>
          <a:xfrm>
            <a:off x="8435011" y="1968896"/>
            <a:ext cx="1139688" cy="369332"/>
          </a:xfrm>
          <a:prstGeom prst="rect">
            <a:avLst/>
          </a:prstGeom>
          <a:noFill/>
        </p:spPr>
        <p:txBody>
          <a:bodyPr wrap="square" rtlCol="0">
            <a:spAutoFit/>
          </a:bodyPr>
          <a:lstStyle/>
          <a:p>
            <a:r>
              <a:rPr lang="en-US" altLang="zh-TW" dirty="0"/>
              <a:t>state(S</a:t>
            </a:r>
            <a:r>
              <a:rPr lang="en-US" altLang="zh-TW" sz="1400" dirty="0"/>
              <a:t>2</a:t>
            </a:r>
            <a:r>
              <a:rPr lang="en-US" altLang="zh-TW" dirty="0"/>
              <a:t>)</a:t>
            </a:r>
            <a:endParaRPr lang="zh-TW" altLang="en-US" dirty="0"/>
          </a:p>
        </p:txBody>
      </p:sp>
      <p:sp>
        <p:nvSpPr>
          <p:cNvPr id="47" name="文字方塊 46">
            <a:extLst>
              <a:ext uri="{FF2B5EF4-FFF2-40B4-BE49-F238E27FC236}">
                <a16:creationId xmlns:a16="http://schemas.microsoft.com/office/drawing/2014/main" id="{04B9BC6E-35B1-45D2-A315-661EF1886847}"/>
              </a:ext>
            </a:extLst>
          </p:cNvPr>
          <p:cNvSpPr txBox="1"/>
          <p:nvPr/>
        </p:nvSpPr>
        <p:spPr>
          <a:xfrm>
            <a:off x="9843051" y="1958957"/>
            <a:ext cx="1139688" cy="369332"/>
          </a:xfrm>
          <a:prstGeom prst="rect">
            <a:avLst/>
          </a:prstGeom>
          <a:noFill/>
        </p:spPr>
        <p:txBody>
          <a:bodyPr wrap="square" rtlCol="0">
            <a:spAutoFit/>
          </a:bodyPr>
          <a:lstStyle/>
          <a:p>
            <a:r>
              <a:rPr lang="en-US" altLang="zh-TW" dirty="0"/>
              <a:t>state(S</a:t>
            </a:r>
            <a:r>
              <a:rPr lang="en-US" altLang="zh-TW" sz="1400" dirty="0"/>
              <a:t>3</a:t>
            </a:r>
            <a:r>
              <a:rPr lang="en-US" altLang="zh-TW" dirty="0"/>
              <a:t>)</a:t>
            </a:r>
            <a:endParaRPr lang="zh-TW" altLang="en-US" dirty="0"/>
          </a:p>
        </p:txBody>
      </p:sp>
      <p:cxnSp>
        <p:nvCxnSpPr>
          <p:cNvPr id="53" name="直線單箭頭接點 52">
            <a:extLst>
              <a:ext uri="{FF2B5EF4-FFF2-40B4-BE49-F238E27FC236}">
                <a16:creationId xmlns:a16="http://schemas.microsoft.com/office/drawing/2014/main" id="{0DD45D33-0DD4-4829-9C1D-035B0C0EA1D7}"/>
              </a:ext>
            </a:extLst>
          </p:cNvPr>
          <p:cNvCxnSpPr>
            <a:stCxn id="40" idx="4"/>
            <a:endCxn id="42" idx="0"/>
          </p:cNvCxnSpPr>
          <p:nvPr/>
        </p:nvCxnSpPr>
        <p:spPr>
          <a:xfrm>
            <a:off x="8872333" y="1212085"/>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8A602053-8638-4659-B549-2B602F7AEE79}"/>
              </a:ext>
            </a:extLst>
          </p:cNvPr>
          <p:cNvCxnSpPr/>
          <p:nvPr/>
        </p:nvCxnSpPr>
        <p:spPr>
          <a:xfrm>
            <a:off x="9309654" y="933789"/>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橢圓 60">
            <a:extLst>
              <a:ext uri="{FF2B5EF4-FFF2-40B4-BE49-F238E27FC236}">
                <a16:creationId xmlns:a16="http://schemas.microsoft.com/office/drawing/2014/main" id="{3162884D-384D-4469-8F2B-CBFC82F63EB6}"/>
              </a:ext>
            </a:extLst>
          </p:cNvPr>
          <p:cNvSpPr/>
          <p:nvPr/>
        </p:nvSpPr>
        <p:spPr>
          <a:xfrm>
            <a:off x="5787069" y="3385043"/>
            <a:ext cx="874643" cy="55659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橢圓 61">
            <a:extLst>
              <a:ext uri="{FF2B5EF4-FFF2-40B4-BE49-F238E27FC236}">
                <a16:creationId xmlns:a16="http://schemas.microsoft.com/office/drawing/2014/main" id="{F9E75AA4-221C-4D49-ABF5-30E299716603}"/>
              </a:ext>
            </a:extLst>
          </p:cNvPr>
          <p:cNvSpPr/>
          <p:nvPr/>
        </p:nvSpPr>
        <p:spPr>
          <a:xfrm>
            <a:off x="7020353" y="3163386"/>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橢圓 62">
            <a:extLst>
              <a:ext uri="{FF2B5EF4-FFF2-40B4-BE49-F238E27FC236}">
                <a16:creationId xmlns:a16="http://schemas.microsoft.com/office/drawing/2014/main" id="{38CD6A42-DC96-48E2-9506-76F2DBFCDE73}"/>
              </a:ext>
            </a:extLst>
          </p:cNvPr>
          <p:cNvSpPr/>
          <p:nvPr/>
        </p:nvSpPr>
        <p:spPr>
          <a:xfrm>
            <a:off x="8186537" y="3305894"/>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6" name="直線單箭頭接點 65">
            <a:extLst>
              <a:ext uri="{FF2B5EF4-FFF2-40B4-BE49-F238E27FC236}">
                <a16:creationId xmlns:a16="http://schemas.microsoft.com/office/drawing/2014/main" id="{5BB66701-CD2F-49A7-BD3A-537F9A8731B2}"/>
              </a:ext>
            </a:extLst>
          </p:cNvPr>
          <p:cNvCxnSpPr/>
          <p:nvPr/>
        </p:nvCxnSpPr>
        <p:spPr>
          <a:xfrm>
            <a:off x="7706148" y="2393558"/>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70231501-D3D5-48E5-9241-73B6FC3AA39D}"/>
              </a:ext>
            </a:extLst>
          </p:cNvPr>
          <p:cNvCxnSpPr/>
          <p:nvPr/>
        </p:nvCxnSpPr>
        <p:spPr>
          <a:xfrm>
            <a:off x="7414594" y="2453350"/>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文字方塊 68">
            <a:extLst>
              <a:ext uri="{FF2B5EF4-FFF2-40B4-BE49-F238E27FC236}">
                <a16:creationId xmlns:a16="http://schemas.microsoft.com/office/drawing/2014/main" id="{9113F129-9CEC-4545-B4B1-8874400BBFA1}"/>
              </a:ext>
            </a:extLst>
          </p:cNvPr>
          <p:cNvSpPr txBox="1"/>
          <p:nvPr/>
        </p:nvSpPr>
        <p:spPr>
          <a:xfrm>
            <a:off x="5772790" y="3484595"/>
            <a:ext cx="1139688" cy="369332"/>
          </a:xfrm>
          <a:prstGeom prst="rect">
            <a:avLst/>
          </a:prstGeom>
          <a:noFill/>
        </p:spPr>
        <p:txBody>
          <a:bodyPr wrap="square" rtlCol="0">
            <a:spAutoFit/>
          </a:bodyPr>
          <a:lstStyle/>
          <a:p>
            <a:r>
              <a:rPr lang="en-US" altLang="zh-TW" dirty="0"/>
              <a:t>state(S</a:t>
            </a:r>
            <a:r>
              <a:rPr lang="en-US" altLang="zh-TW" sz="1400" dirty="0"/>
              <a:t>4</a:t>
            </a:r>
            <a:r>
              <a:rPr lang="en-US" altLang="zh-TW" dirty="0"/>
              <a:t>)</a:t>
            </a:r>
            <a:endParaRPr lang="zh-TW" altLang="en-US" dirty="0"/>
          </a:p>
        </p:txBody>
      </p:sp>
      <p:sp>
        <p:nvSpPr>
          <p:cNvPr id="70" name="文字方塊 69">
            <a:extLst>
              <a:ext uri="{FF2B5EF4-FFF2-40B4-BE49-F238E27FC236}">
                <a16:creationId xmlns:a16="http://schemas.microsoft.com/office/drawing/2014/main" id="{D2996D46-62A0-44BE-9685-98A538249BC6}"/>
              </a:ext>
            </a:extLst>
          </p:cNvPr>
          <p:cNvSpPr txBox="1"/>
          <p:nvPr/>
        </p:nvSpPr>
        <p:spPr>
          <a:xfrm>
            <a:off x="7026976" y="3200378"/>
            <a:ext cx="1139688" cy="369332"/>
          </a:xfrm>
          <a:prstGeom prst="rect">
            <a:avLst/>
          </a:prstGeom>
          <a:noFill/>
        </p:spPr>
        <p:txBody>
          <a:bodyPr wrap="square" rtlCol="0">
            <a:spAutoFit/>
          </a:bodyPr>
          <a:lstStyle/>
          <a:p>
            <a:r>
              <a:rPr lang="en-US" altLang="zh-TW" dirty="0"/>
              <a:t>state(S</a:t>
            </a:r>
            <a:r>
              <a:rPr lang="en-US" altLang="zh-TW" sz="1400" dirty="0"/>
              <a:t>5</a:t>
            </a:r>
            <a:r>
              <a:rPr lang="en-US" altLang="zh-TW" dirty="0"/>
              <a:t>)</a:t>
            </a:r>
            <a:endParaRPr lang="zh-TW" altLang="en-US" dirty="0"/>
          </a:p>
        </p:txBody>
      </p:sp>
      <p:sp>
        <p:nvSpPr>
          <p:cNvPr id="71" name="文字方塊 70">
            <a:extLst>
              <a:ext uri="{FF2B5EF4-FFF2-40B4-BE49-F238E27FC236}">
                <a16:creationId xmlns:a16="http://schemas.microsoft.com/office/drawing/2014/main" id="{BA183FF6-A288-4309-AC84-4DAD172727D6}"/>
              </a:ext>
            </a:extLst>
          </p:cNvPr>
          <p:cNvSpPr txBox="1"/>
          <p:nvPr/>
        </p:nvSpPr>
        <p:spPr>
          <a:xfrm>
            <a:off x="8121946" y="3385044"/>
            <a:ext cx="1139688" cy="369332"/>
          </a:xfrm>
          <a:prstGeom prst="rect">
            <a:avLst/>
          </a:prstGeom>
          <a:noFill/>
        </p:spPr>
        <p:txBody>
          <a:bodyPr wrap="square" rtlCol="0">
            <a:spAutoFit/>
          </a:bodyPr>
          <a:lstStyle/>
          <a:p>
            <a:r>
              <a:rPr lang="en-US" altLang="zh-TW" dirty="0"/>
              <a:t>state(S</a:t>
            </a:r>
            <a:r>
              <a:rPr lang="en-US" altLang="zh-TW" sz="1400" dirty="0"/>
              <a:t>6</a:t>
            </a:r>
            <a:r>
              <a:rPr lang="en-US" altLang="zh-TW" dirty="0"/>
              <a:t>)</a:t>
            </a:r>
            <a:endParaRPr lang="zh-TW" altLang="en-US" dirty="0"/>
          </a:p>
        </p:txBody>
      </p:sp>
      <p:sp>
        <p:nvSpPr>
          <p:cNvPr id="48" name="手繪多邊形: 圖案 47">
            <a:extLst>
              <a:ext uri="{FF2B5EF4-FFF2-40B4-BE49-F238E27FC236}">
                <a16:creationId xmlns:a16="http://schemas.microsoft.com/office/drawing/2014/main" id="{9D62522C-1AD5-40E6-BBEB-B54DFD0B0DB2}"/>
              </a:ext>
            </a:extLst>
          </p:cNvPr>
          <p:cNvSpPr/>
          <p:nvPr/>
        </p:nvSpPr>
        <p:spPr>
          <a:xfrm>
            <a:off x="357112" y="1957802"/>
            <a:ext cx="3290549" cy="4810746"/>
          </a:xfrm>
          <a:custGeom>
            <a:avLst/>
            <a:gdLst>
              <a:gd name="connsiteX0" fmla="*/ 3290549 w 3290549"/>
              <a:gd name="connsiteY0" fmla="*/ 4423120 h 4810746"/>
              <a:gd name="connsiteX1" fmla="*/ 3201097 w 3290549"/>
              <a:gd name="connsiteY1" fmla="*/ 4522511 h 4810746"/>
              <a:gd name="connsiteX2" fmla="*/ 3151401 w 3290549"/>
              <a:gd name="connsiteY2" fmla="*/ 4532450 h 4810746"/>
              <a:gd name="connsiteX3" fmla="*/ 3012253 w 3290549"/>
              <a:gd name="connsiteY3" fmla="*/ 4602024 h 4810746"/>
              <a:gd name="connsiteX4" fmla="*/ 2972497 w 3290549"/>
              <a:gd name="connsiteY4" fmla="*/ 4621902 h 4810746"/>
              <a:gd name="connsiteX5" fmla="*/ 2902923 w 3290549"/>
              <a:gd name="connsiteY5" fmla="*/ 4641781 h 4810746"/>
              <a:gd name="connsiteX6" fmla="*/ 2803531 w 3290549"/>
              <a:gd name="connsiteY6" fmla="*/ 4681537 h 4810746"/>
              <a:gd name="connsiteX7" fmla="*/ 2724018 w 3290549"/>
              <a:gd name="connsiteY7" fmla="*/ 4701415 h 4810746"/>
              <a:gd name="connsiteX8" fmla="*/ 2574931 w 3290549"/>
              <a:gd name="connsiteY8" fmla="*/ 4741172 h 4810746"/>
              <a:gd name="connsiteX9" fmla="*/ 2465601 w 3290549"/>
              <a:gd name="connsiteY9" fmla="*/ 4770989 h 4810746"/>
              <a:gd name="connsiteX10" fmla="*/ 2266818 w 3290549"/>
              <a:gd name="connsiteY10" fmla="*/ 4790868 h 4810746"/>
              <a:gd name="connsiteX11" fmla="*/ 2177366 w 3290549"/>
              <a:gd name="connsiteY11" fmla="*/ 4800807 h 4810746"/>
              <a:gd name="connsiteX12" fmla="*/ 1938827 w 3290549"/>
              <a:gd name="connsiteY12" fmla="*/ 4810746 h 4810746"/>
              <a:gd name="connsiteX13" fmla="*/ 1372297 w 3290549"/>
              <a:gd name="connsiteY13" fmla="*/ 4790868 h 4810746"/>
              <a:gd name="connsiteX14" fmla="*/ 1233149 w 3290549"/>
              <a:gd name="connsiteY14" fmla="*/ 4770989 h 4810746"/>
              <a:gd name="connsiteX15" fmla="*/ 974731 w 3290549"/>
              <a:gd name="connsiteY15" fmla="*/ 4751111 h 4810746"/>
              <a:gd name="connsiteX16" fmla="*/ 915097 w 3290549"/>
              <a:gd name="connsiteY16" fmla="*/ 4731233 h 4810746"/>
              <a:gd name="connsiteX17" fmla="*/ 875340 w 3290549"/>
              <a:gd name="connsiteY17" fmla="*/ 4721294 h 4810746"/>
              <a:gd name="connsiteX18" fmla="*/ 815705 w 3290549"/>
              <a:gd name="connsiteY18" fmla="*/ 4701415 h 4810746"/>
              <a:gd name="connsiteX19" fmla="*/ 785888 w 3290549"/>
              <a:gd name="connsiteY19" fmla="*/ 4691476 h 4810746"/>
              <a:gd name="connsiteX20" fmla="*/ 686497 w 3290549"/>
              <a:gd name="connsiteY20" fmla="*/ 4651720 h 4810746"/>
              <a:gd name="connsiteX21" fmla="*/ 597045 w 3290549"/>
              <a:gd name="connsiteY21" fmla="*/ 4631841 h 4810746"/>
              <a:gd name="connsiteX22" fmla="*/ 537410 w 3290549"/>
              <a:gd name="connsiteY22" fmla="*/ 4611963 h 4810746"/>
              <a:gd name="connsiteX23" fmla="*/ 497653 w 3290549"/>
              <a:gd name="connsiteY23" fmla="*/ 4592085 h 4810746"/>
              <a:gd name="connsiteX24" fmla="*/ 467836 w 3290549"/>
              <a:gd name="connsiteY24" fmla="*/ 4582146 h 4810746"/>
              <a:gd name="connsiteX25" fmla="*/ 378384 w 3290549"/>
              <a:gd name="connsiteY25" fmla="*/ 4532450 h 4810746"/>
              <a:gd name="connsiteX26" fmla="*/ 328688 w 3290549"/>
              <a:gd name="connsiteY26" fmla="*/ 4502633 h 4810746"/>
              <a:gd name="connsiteX27" fmla="*/ 298871 w 3290549"/>
              <a:gd name="connsiteY27" fmla="*/ 4472815 h 4810746"/>
              <a:gd name="connsiteX28" fmla="*/ 288931 w 3290549"/>
              <a:gd name="connsiteY28" fmla="*/ 4442998 h 4810746"/>
              <a:gd name="connsiteX29" fmla="*/ 239236 w 3290549"/>
              <a:gd name="connsiteY29" fmla="*/ 4403241 h 4810746"/>
              <a:gd name="connsiteX30" fmla="*/ 199479 w 3290549"/>
              <a:gd name="connsiteY30" fmla="*/ 4343607 h 4810746"/>
              <a:gd name="connsiteX31" fmla="*/ 189540 w 3290549"/>
              <a:gd name="connsiteY31" fmla="*/ 4303850 h 4810746"/>
              <a:gd name="connsiteX32" fmla="*/ 169662 w 3290549"/>
              <a:gd name="connsiteY32" fmla="*/ 4274033 h 4810746"/>
              <a:gd name="connsiteX33" fmla="*/ 119966 w 3290549"/>
              <a:gd name="connsiteY33" fmla="*/ 4204459 h 4810746"/>
              <a:gd name="connsiteX34" fmla="*/ 90149 w 3290549"/>
              <a:gd name="connsiteY34" fmla="*/ 4105068 h 4810746"/>
              <a:gd name="connsiteX35" fmla="*/ 80210 w 3290549"/>
              <a:gd name="connsiteY35" fmla="*/ 4075250 h 4810746"/>
              <a:gd name="connsiteX36" fmla="*/ 70271 w 3290549"/>
              <a:gd name="connsiteY36" fmla="*/ 4045433 h 4810746"/>
              <a:gd name="connsiteX37" fmla="*/ 60331 w 3290549"/>
              <a:gd name="connsiteY37" fmla="*/ 4005676 h 4810746"/>
              <a:gd name="connsiteX38" fmla="*/ 20575 w 3290549"/>
              <a:gd name="connsiteY38" fmla="*/ 3965920 h 4810746"/>
              <a:gd name="connsiteX39" fmla="*/ 697 w 3290549"/>
              <a:gd name="connsiteY39" fmla="*/ 3727381 h 4810746"/>
              <a:gd name="connsiteX40" fmla="*/ 20575 w 3290549"/>
              <a:gd name="connsiteY40" fmla="*/ 3140972 h 4810746"/>
              <a:gd name="connsiteX41" fmla="*/ 30514 w 3290549"/>
              <a:gd name="connsiteY41" fmla="*/ 2723528 h 4810746"/>
              <a:gd name="connsiteX42" fmla="*/ 50392 w 3290549"/>
              <a:gd name="connsiteY42" fmla="*/ 2415415 h 4810746"/>
              <a:gd name="connsiteX43" fmla="*/ 70271 w 3290549"/>
              <a:gd name="connsiteY43" fmla="*/ 2176876 h 4810746"/>
              <a:gd name="connsiteX44" fmla="*/ 80210 w 3290549"/>
              <a:gd name="connsiteY44" fmla="*/ 795337 h 4810746"/>
              <a:gd name="connsiteX45" fmla="*/ 100088 w 3290549"/>
              <a:gd name="connsiteY45" fmla="*/ 427589 h 4810746"/>
              <a:gd name="connsiteX46" fmla="*/ 110027 w 3290549"/>
              <a:gd name="connsiteY46" fmla="*/ 298381 h 4810746"/>
              <a:gd name="connsiteX47" fmla="*/ 119966 w 3290549"/>
              <a:gd name="connsiteY47" fmla="*/ 268563 h 4810746"/>
              <a:gd name="connsiteX48" fmla="*/ 129905 w 3290549"/>
              <a:gd name="connsiteY48" fmla="*/ 218868 h 4810746"/>
              <a:gd name="connsiteX49" fmla="*/ 149784 w 3290549"/>
              <a:gd name="connsiteY49" fmla="*/ 159233 h 4810746"/>
              <a:gd name="connsiteX50" fmla="*/ 179601 w 3290549"/>
              <a:gd name="connsiteY50" fmla="*/ 89659 h 4810746"/>
              <a:gd name="connsiteX51" fmla="*/ 199479 w 3290549"/>
              <a:gd name="connsiteY51" fmla="*/ 59841 h 4810746"/>
              <a:gd name="connsiteX52" fmla="*/ 209418 w 3290549"/>
              <a:gd name="connsiteY52" fmla="*/ 30024 h 4810746"/>
              <a:gd name="connsiteX53" fmla="*/ 239236 w 3290549"/>
              <a:gd name="connsiteY53" fmla="*/ 20085 h 4810746"/>
              <a:gd name="connsiteX54" fmla="*/ 288931 w 3290549"/>
              <a:gd name="connsiteY54" fmla="*/ 207 h 481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290549" h="4810746">
                <a:moveTo>
                  <a:pt x="3290549" y="4423120"/>
                </a:moveTo>
                <a:cubicBezTo>
                  <a:pt x="3284134" y="4430818"/>
                  <a:pt x="3219113" y="4512502"/>
                  <a:pt x="3201097" y="4522511"/>
                </a:cubicBezTo>
                <a:cubicBezTo>
                  <a:pt x="3186329" y="4530715"/>
                  <a:pt x="3167966" y="4529137"/>
                  <a:pt x="3151401" y="4532450"/>
                </a:cubicBezTo>
                <a:cubicBezTo>
                  <a:pt x="3040297" y="4599113"/>
                  <a:pt x="3089493" y="4582715"/>
                  <a:pt x="3012253" y="4602024"/>
                </a:cubicBezTo>
                <a:cubicBezTo>
                  <a:pt x="2999001" y="4608650"/>
                  <a:pt x="2986370" y="4616700"/>
                  <a:pt x="2972497" y="4621902"/>
                </a:cubicBezTo>
                <a:cubicBezTo>
                  <a:pt x="2905224" y="4647129"/>
                  <a:pt x="2959007" y="4617744"/>
                  <a:pt x="2902923" y="4641781"/>
                </a:cubicBezTo>
                <a:cubicBezTo>
                  <a:pt x="2845348" y="4666456"/>
                  <a:pt x="2875916" y="4663441"/>
                  <a:pt x="2803531" y="4681537"/>
                </a:cubicBezTo>
                <a:cubicBezTo>
                  <a:pt x="2777027" y="4688163"/>
                  <a:pt x="2749936" y="4692775"/>
                  <a:pt x="2724018" y="4701415"/>
                </a:cubicBezTo>
                <a:cubicBezTo>
                  <a:pt x="2585157" y="4747704"/>
                  <a:pt x="2758090" y="4692330"/>
                  <a:pt x="2574931" y="4741172"/>
                </a:cubicBezTo>
                <a:cubicBezTo>
                  <a:pt x="2477867" y="4767055"/>
                  <a:pt x="2553099" y="4756406"/>
                  <a:pt x="2465601" y="4770989"/>
                </a:cubicBezTo>
                <a:cubicBezTo>
                  <a:pt x="2373299" y="4786372"/>
                  <a:pt x="2382443" y="4780356"/>
                  <a:pt x="2266818" y="4790868"/>
                </a:cubicBezTo>
                <a:cubicBezTo>
                  <a:pt x="2236940" y="4793584"/>
                  <a:pt x="2207312" y="4798992"/>
                  <a:pt x="2177366" y="4800807"/>
                </a:cubicBezTo>
                <a:cubicBezTo>
                  <a:pt x="2097930" y="4805621"/>
                  <a:pt x="2018340" y="4807433"/>
                  <a:pt x="1938827" y="4810746"/>
                </a:cubicBezTo>
                <a:cubicBezTo>
                  <a:pt x="1865231" y="4808859"/>
                  <a:pt x="1507550" y="4803548"/>
                  <a:pt x="1372297" y="4790868"/>
                </a:cubicBezTo>
                <a:cubicBezTo>
                  <a:pt x="1325648" y="4786495"/>
                  <a:pt x="1279841" y="4774880"/>
                  <a:pt x="1233149" y="4770989"/>
                </a:cubicBezTo>
                <a:cubicBezTo>
                  <a:pt x="1067539" y="4757188"/>
                  <a:pt x="1153672" y="4763892"/>
                  <a:pt x="974731" y="4751111"/>
                </a:cubicBezTo>
                <a:cubicBezTo>
                  <a:pt x="954853" y="4744485"/>
                  <a:pt x="935425" y="4736315"/>
                  <a:pt x="915097" y="4731233"/>
                </a:cubicBezTo>
                <a:cubicBezTo>
                  <a:pt x="901845" y="4727920"/>
                  <a:pt x="888424" y="4725219"/>
                  <a:pt x="875340" y="4721294"/>
                </a:cubicBezTo>
                <a:cubicBezTo>
                  <a:pt x="855270" y="4715273"/>
                  <a:pt x="835583" y="4708041"/>
                  <a:pt x="815705" y="4701415"/>
                </a:cubicBezTo>
                <a:cubicBezTo>
                  <a:pt x="805766" y="4698102"/>
                  <a:pt x="795259" y="4696161"/>
                  <a:pt x="785888" y="4691476"/>
                </a:cubicBezTo>
                <a:cubicBezTo>
                  <a:pt x="750550" y="4673808"/>
                  <a:pt x="727434" y="4659907"/>
                  <a:pt x="686497" y="4651720"/>
                </a:cubicBezTo>
                <a:cubicBezTo>
                  <a:pt x="658107" y="4646042"/>
                  <a:pt x="625131" y="4640267"/>
                  <a:pt x="597045" y="4631841"/>
                </a:cubicBezTo>
                <a:cubicBezTo>
                  <a:pt x="576975" y="4625820"/>
                  <a:pt x="556152" y="4621334"/>
                  <a:pt x="537410" y="4611963"/>
                </a:cubicBezTo>
                <a:cubicBezTo>
                  <a:pt x="524158" y="4605337"/>
                  <a:pt x="511272" y="4597921"/>
                  <a:pt x="497653" y="4592085"/>
                </a:cubicBezTo>
                <a:cubicBezTo>
                  <a:pt x="488023" y="4587958"/>
                  <a:pt x="476994" y="4587234"/>
                  <a:pt x="467836" y="4582146"/>
                </a:cubicBezTo>
                <a:cubicBezTo>
                  <a:pt x="365308" y="4525186"/>
                  <a:pt x="445852" y="4554939"/>
                  <a:pt x="378384" y="4532450"/>
                </a:cubicBezTo>
                <a:cubicBezTo>
                  <a:pt x="316467" y="4470536"/>
                  <a:pt x="406112" y="4554250"/>
                  <a:pt x="328688" y="4502633"/>
                </a:cubicBezTo>
                <a:cubicBezTo>
                  <a:pt x="316993" y="4494836"/>
                  <a:pt x="308810" y="4482754"/>
                  <a:pt x="298871" y="4472815"/>
                </a:cubicBezTo>
                <a:cubicBezTo>
                  <a:pt x="295558" y="4462876"/>
                  <a:pt x="295476" y="4451179"/>
                  <a:pt x="288931" y="4442998"/>
                </a:cubicBezTo>
                <a:cubicBezTo>
                  <a:pt x="235767" y="4376545"/>
                  <a:pt x="279759" y="4464027"/>
                  <a:pt x="239236" y="4403241"/>
                </a:cubicBezTo>
                <a:cubicBezTo>
                  <a:pt x="191103" y="4331041"/>
                  <a:pt x="245055" y="4389180"/>
                  <a:pt x="199479" y="4343607"/>
                </a:cubicBezTo>
                <a:cubicBezTo>
                  <a:pt x="196166" y="4330355"/>
                  <a:pt x="194921" y="4316406"/>
                  <a:pt x="189540" y="4303850"/>
                </a:cubicBezTo>
                <a:cubicBezTo>
                  <a:pt x="184835" y="4292871"/>
                  <a:pt x="176605" y="4283753"/>
                  <a:pt x="169662" y="4274033"/>
                </a:cubicBezTo>
                <a:cubicBezTo>
                  <a:pt x="108003" y="4187709"/>
                  <a:pt x="166827" y="4274747"/>
                  <a:pt x="119966" y="4204459"/>
                </a:cubicBezTo>
                <a:cubicBezTo>
                  <a:pt x="104945" y="4144372"/>
                  <a:pt x="114348" y="4177664"/>
                  <a:pt x="90149" y="4105068"/>
                </a:cubicBezTo>
                <a:lnTo>
                  <a:pt x="80210" y="4075250"/>
                </a:lnTo>
                <a:cubicBezTo>
                  <a:pt x="76897" y="4065311"/>
                  <a:pt x="72812" y="4055597"/>
                  <a:pt x="70271" y="4045433"/>
                </a:cubicBezTo>
                <a:cubicBezTo>
                  <a:pt x="66958" y="4032181"/>
                  <a:pt x="67571" y="4017260"/>
                  <a:pt x="60331" y="4005676"/>
                </a:cubicBezTo>
                <a:cubicBezTo>
                  <a:pt x="50398" y="3989784"/>
                  <a:pt x="33827" y="3979172"/>
                  <a:pt x="20575" y="3965920"/>
                </a:cubicBezTo>
                <a:cubicBezTo>
                  <a:pt x="4548" y="3869756"/>
                  <a:pt x="697" y="3860064"/>
                  <a:pt x="697" y="3727381"/>
                </a:cubicBezTo>
                <a:cubicBezTo>
                  <a:pt x="697" y="3295280"/>
                  <a:pt x="-5752" y="3377921"/>
                  <a:pt x="20575" y="3140972"/>
                </a:cubicBezTo>
                <a:cubicBezTo>
                  <a:pt x="23888" y="3001824"/>
                  <a:pt x="25877" y="2862638"/>
                  <a:pt x="30514" y="2723528"/>
                </a:cubicBezTo>
                <a:cubicBezTo>
                  <a:pt x="37089" y="2526266"/>
                  <a:pt x="40038" y="2586259"/>
                  <a:pt x="50392" y="2415415"/>
                </a:cubicBezTo>
                <a:cubicBezTo>
                  <a:pt x="63987" y="2191095"/>
                  <a:pt x="43627" y="2283444"/>
                  <a:pt x="70271" y="2176876"/>
                </a:cubicBezTo>
                <a:cubicBezTo>
                  <a:pt x="73584" y="1716363"/>
                  <a:pt x="74855" y="1255831"/>
                  <a:pt x="80210" y="795337"/>
                </a:cubicBezTo>
                <a:cubicBezTo>
                  <a:pt x="83871" y="480458"/>
                  <a:pt x="64457" y="570118"/>
                  <a:pt x="100088" y="427589"/>
                </a:cubicBezTo>
                <a:cubicBezTo>
                  <a:pt x="103401" y="384520"/>
                  <a:pt x="104669" y="341244"/>
                  <a:pt x="110027" y="298381"/>
                </a:cubicBezTo>
                <a:cubicBezTo>
                  <a:pt x="111326" y="287985"/>
                  <a:pt x="117425" y="278727"/>
                  <a:pt x="119966" y="268563"/>
                </a:cubicBezTo>
                <a:cubicBezTo>
                  <a:pt x="124063" y="252174"/>
                  <a:pt x="125460" y="235166"/>
                  <a:pt x="129905" y="218868"/>
                </a:cubicBezTo>
                <a:cubicBezTo>
                  <a:pt x="135418" y="198653"/>
                  <a:pt x="143158" y="179111"/>
                  <a:pt x="149784" y="159233"/>
                </a:cubicBezTo>
                <a:cubicBezTo>
                  <a:pt x="160936" y="125777"/>
                  <a:pt x="159948" y="124053"/>
                  <a:pt x="179601" y="89659"/>
                </a:cubicBezTo>
                <a:cubicBezTo>
                  <a:pt x="185528" y="79287"/>
                  <a:pt x="194137" y="70525"/>
                  <a:pt x="199479" y="59841"/>
                </a:cubicBezTo>
                <a:cubicBezTo>
                  <a:pt x="204164" y="50470"/>
                  <a:pt x="202010" y="37432"/>
                  <a:pt x="209418" y="30024"/>
                </a:cubicBezTo>
                <a:cubicBezTo>
                  <a:pt x="216826" y="22616"/>
                  <a:pt x="229297" y="23398"/>
                  <a:pt x="239236" y="20085"/>
                </a:cubicBezTo>
                <a:cubicBezTo>
                  <a:pt x="274566" y="-3468"/>
                  <a:pt x="257108" y="207"/>
                  <a:pt x="288931" y="207"/>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9" name="直線接點 48">
            <a:extLst>
              <a:ext uri="{FF2B5EF4-FFF2-40B4-BE49-F238E27FC236}">
                <a16:creationId xmlns:a16="http://schemas.microsoft.com/office/drawing/2014/main" id="{BC0B2976-6134-4192-95D8-BA7CFE51E20C}"/>
              </a:ext>
            </a:extLst>
          </p:cNvPr>
          <p:cNvCxnSpPr>
            <a:cxnSpLocks/>
          </p:cNvCxnSpPr>
          <p:nvPr/>
        </p:nvCxnSpPr>
        <p:spPr>
          <a:xfrm flipH="1">
            <a:off x="631562" y="1945238"/>
            <a:ext cx="66048" cy="25841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線單箭頭接點 5">
            <a:extLst>
              <a:ext uri="{FF2B5EF4-FFF2-40B4-BE49-F238E27FC236}">
                <a16:creationId xmlns:a16="http://schemas.microsoft.com/office/drawing/2014/main" id="{A66ACEA8-3779-4B60-A0DB-3331F0567B51}"/>
              </a:ext>
            </a:extLst>
          </p:cNvPr>
          <p:cNvCxnSpPr/>
          <p:nvPr/>
        </p:nvCxnSpPr>
        <p:spPr>
          <a:xfrm flipV="1">
            <a:off x="6202017" y="2328289"/>
            <a:ext cx="818336" cy="9776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0CEEFE5A-5A6B-4D03-BB0E-10BF5A63CAA6}"/>
              </a:ext>
            </a:extLst>
          </p:cNvPr>
          <p:cNvCxnSpPr>
            <a:stCxn id="41" idx="0"/>
            <a:endCxn id="44" idx="1"/>
          </p:cNvCxnSpPr>
          <p:nvPr/>
        </p:nvCxnSpPr>
        <p:spPr>
          <a:xfrm flipV="1">
            <a:off x="7414595" y="925312"/>
            <a:ext cx="1017105" cy="9714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7022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橢圓 1">
            <a:extLst>
              <a:ext uri="{FF2B5EF4-FFF2-40B4-BE49-F238E27FC236}">
                <a16:creationId xmlns:a16="http://schemas.microsoft.com/office/drawing/2014/main" id="{90714015-D7A2-41B8-997F-312A5DD7FA37}"/>
              </a:ext>
            </a:extLst>
          </p:cNvPr>
          <p:cNvSpPr/>
          <p:nvPr/>
        </p:nvSpPr>
        <p:spPr>
          <a:xfrm>
            <a:off x="8996986" y="997938"/>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橢圓 2">
            <a:extLst>
              <a:ext uri="{FF2B5EF4-FFF2-40B4-BE49-F238E27FC236}">
                <a16:creationId xmlns:a16="http://schemas.microsoft.com/office/drawing/2014/main" id="{303C2612-42BE-44DB-AF93-B904913F0134}"/>
              </a:ext>
            </a:extLst>
          </p:cNvPr>
          <p:cNvSpPr/>
          <p:nvPr/>
        </p:nvSpPr>
        <p:spPr>
          <a:xfrm>
            <a:off x="7539248" y="2239204"/>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橢圓 3">
            <a:extLst>
              <a:ext uri="{FF2B5EF4-FFF2-40B4-BE49-F238E27FC236}">
                <a16:creationId xmlns:a16="http://schemas.microsoft.com/office/drawing/2014/main" id="{8FD9483E-BEC2-49DF-AD89-BCAB275CAB89}"/>
              </a:ext>
            </a:extLst>
          </p:cNvPr>
          <p:cNvSpPr/>
          <p:nvPr/>
        </p:nvSpPr>
        <p:spPr>
          <a:xfrm>
            <a:off x="8996986" y="2239203"/>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橢圓 4">
            <a:extLst>
              <a:ext uri="{FF2B5EF4-FFF2-40B4-BE49-F238E27FC236}">
                <a16:creationId xmlns:a16="http://schemas.microsoft.com/office/drawing/2014/main" id="{E37CAE20-F8D4-46CF-896C-FFD44592984B}"/>
              </a:ext>
            </a:extLst>
          </p:cNvPr>
          <p:cNvSpPr/>
          <p:nvPr/>
        </p:nvSpPr>
        <p:spPr>
          <a:xfrm>
            <a:off x="10454724" y="2227650"/>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a:extLst>
              <a:ext uri="{FF2B5EF4-FFF2-40B4-BE49-F238E27FC236}">
                <a16:creationId xmlns:a16="http://schemas.microsoft.com/office/drawing/2014/main" id="{540B8996-C76F-4D25-B70E-69A3219634EF}"/>
              </a:ext>
            </a:extLst>
          </p:cNvPr>
          <p:cNvSpPr txBox="1"/>
          <p:nvPr/>
        </p:nvSpPr>
        <p:spPr>
          <a:xfrm>
            <a:off x="8993675" y="1083090"/>
            <a:ext cx="1139688" cy="369332"/>
          </a:xfrm>
          <a:prstGeom prst="rect">
            <a:avLst/>
          </a:prstGeom>
          <a:noFill/>
        </p:spPr>
        <p:txBody>
          <a:bodyPr wrap="square" rtlCol="0">
            <a:spAutoFit/>
          </a:bodyPr>
          <a:lstStyle/>
          <a:p>
            <a:r>
              <a:rPr lang="en-US" altLang="zh-TW" dirty="0"/>
              <a:t>0/3</a:t>
            </a:r>
            <a:endParaRPr lang="zh-TW" altLang="en-US" dirty="0"/>
          </a:p>
        </p:txBody>
      </p:sp>
      <p:sp>
        <p:nvSpPr>
          <p:cNvPr id="7" name="文字方塊 6">
            <a:extLst>
              <a:ext uri="{FF2B5EF4-FFF2-40B4-BE49-F238E27FC236}">
                <a16:creationId xmlns:a16="http://schemas.microsoft.com/office/drawing/2014/main" id="{C5C508C5-C83A-4B13-92B4-FD6D169F1A55}"/>
              </a:ext>
            </a:extLst>
          </p:cNvPr>
          <p:cNvSpPr txBox="1"/>
          <p:nvPr/>
        </p:nvSpPr>
        <p:spPr>
          <a:xfrm>
            <a:off x="7539248" y="2321279"/>
            <a:ext cx="1139688" cy="369332"/>
          </a:xfrm>
          <a:prstGeom prst="rect">
            <a:avLst/>
          </a:prstGeom>
          <a:noFill/>
        </p:spPr>
        <p:txBody>
          <a:bodyPr wrap="square" rtlCol="0">
            <a:spAutoFit/>
          </a:bodyPr>
          <a:lstStyle/>
          <a:p>
            <a:r>
              <a:rPr lang="en-US" altLang="zh-TW" dirty="0"/>
              <a:t>0/2</a:t>
            </a:r>
            <a:endParaRPr lang="zh-TW" altLang="en-US" dirty="0"/>
          </a:p>
        </p:txBody>
      </p:sp>
      <p:sp>
        <p:nvSpPr>
          <p:cNvPr id="8" name="文字方塊 7">
            <a:extLst>
              <a:ext uri="{FF2B5EF4-FFF2-40B4-BE49-F238E27FC236}">
                <a16:creationId xmlns:a16="http://schemas.microsoft.com/office/drawing/2014/main" id="{80C16EBD-F766-4E4C-92CE-D88699FB4371}"/>
              </a:ext>
            </a:extLst>
          </p:cNvPr>
          <p:cNvSpPr txBox="1"/>
          <p:nvPr/>
        </p:nvSpPr>
        <p:spPr>
          <a:xfrm>
            <a:off x="8996986" y="2311340"/>
            <a:ext cx="1139688" cy="369332"/>
          </a:xfrm>
          <a:prstGeom prst="rect">
            <a:avLst/>
          </a:prstGeom>
          <a:noFill/>
        </p:spPr>
        <p:txBody>
          <a:bodyPr wrap="square" rtlCol="0">
            <a:spAutoFit/>
          </a:bodyPr>
          <a:lstStyle/>
          <a:p>
            <a:r>
              <a:rPr lang="en-US" altLang="zh-TW" dirty="0"/>
              <a:t>0/5</a:t>
            </a:r>
            <a:endParaRPr lang="zh-TW" altLang="en-US" dirty="0"/>
          </a:p>
        </p:txBody>
      </p:sp>
      <p:cxnSp>
        <p:nvCxnSpPr>
          <p:cNvPr id="9" name="直線單箭頭接點 8">
            <a:extLst>
              <a:ext uri="{FF2B5EF4-FFF2-40B4-BE49-F238E27FC236}">
                <a16:creationId xmlns:a16="http://schemas.microsoft.com/office/drawing/2014/main" id="{C2BB69FD-4F8A-4CC3-98CC-0F48456D2585}"/>
              </a:ext>
            </a:extLst>
          </p:cNvPr>
          <p:cNvCxnSpPr>
            <a:cxnSpLocks/>
            <a:stCxn id="6" idx="1"/>
            <a:endCxn id="3" idx="0"/>
          </p:cNvCxnSpPr>
          <p:nvPr/>
        </p:nvCxnSpPr>
        <p:spPr>
          <a:xfrm flipH="1">
            <a:off x="7976570" y="1267756"/>
            <a:ext cx="1017105" cy="971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C734866C-CD22-4C6C-85D8-1A25B15A2C0C}"/>
              </a:ext>
            </a:extLst>
          </p:cNvPr>
          <p:cNvCxnSpPr>
            <a:cxnSpLocks/>
            <a:stCxn id="2" idx="4"/>
            <a:endCxn id="4" idx="0"/>
          </p:cNvCxnSpPr>
          <p:nvPr/>
        </p:nvCxnSpPr>
        <p:spPr>
          <a:xfrm>
            <a:off x="9434308" y="1554529"/>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796F129D-5CFB-4CD3-82F0-796DA5C09B5B}"/>
              </a:ext>
            </a:extLst>
          </p:cNvPr>
          <p:cNvCxnSpPr>
            <a:cxnSpLocks/>
          </p:cNvCxnSpPr>
          <p:nvPr/>
        </p:nvCxnSpPr>
        <p:spPr>
          <a:xfrm>
            <a:off x="9871629" y="1276233"/>
            <a:ext cx="917711" cy="951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橢圓 11">
            <a:extLst>
              <a:ext uri="{FF2B5EF4-FFF2-40B4-BE49-F238E27FC236}">
                <a16:creationId xmlns:a16="http://schemas.microsoft.com/office/drawing/2014/main" id="{597FD050-7656-48B4-8736-4637BCC826C0}"/>
              </a:ext>
            </a:extLst>
          </p:cNvPr>
          <p:cNvSpPr/>
          <p:nvPr/>
        </p:nvSpPr>
        <p:spPr>
          <a:xfrm>
            <a:off x="6349044" y="3727487"/>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2">
            <a:extLst>
              <a:ext uri="{FF2B5EF4-FFF2-40B4-BE49-F238E27FC236}">
                <a16:creationId xmlns:a16="http://schemas.microsoft.com/office/drawing/2014/main" id="{9B1F82E3-E960-47A6-86E7-37A6F8E894A4}"/>
              </a:ext>
            </a:extLst>
          </p:cNvPr>
          <p:cNvSpPr/>
          <p:nvPr/>
        </p:nvSpPr>
        <p:spPr>
          <a:xfrm>
            <a:off x="7582328" y="3505830"/>
            <a:ext cx="874643" cy="55659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 name="直線單箭頭接點 14">
            <a:extLst>
              <a:ext uri="{FF2B5EF4-FFF2-40B4-BE49-F238E27FC236}">
                <a16:creationId xmlns:a16="http://schemas.microsoft.com/office/drawing/2014/main" id="{01A7BB60-7085-40B6-B801-287778272DF5}"/>
              </a:ext>
            </a:extLst>
          </p:cNvPr>
          <p:cNvCxnSpPr>
            <a:cxnSpLocks/>
          </p:cNvCxnSpPr>
          <p:nvPr/>
        </p:nvCxnSpPr>
        <p:spPr>
          <a:xfrm flipH="1">
            <a:off x="6729209" y="2756039"/>
            <a:ext cx="1017105" cy="971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6">
            <a:extLst>
              <a:ext uri="{FF2B5EF4-FFF2-40B4-BE49-F238E27FC236}">
                <a16:creationId xmlns:a16="http://schemas.microsoft.com/office/drawing/2014/main" id="{3A02E382-4A90-4858-9292-97DADB373DF5}"/>
              </a:ext>
            </a:extLst>
          </p:cNvPr>
          <p:cNvCxnSpPr>
            <a:cxnSpLocks/>
          </p:cNvCxnSpPr>
          <p:nvPr/>
        </p:nvCxnSpPr>
        <p:spPr>
          <a:xfrm>
            <a:off x="7976569" y="2795794"/>
            <a:ext cx="0" cy="684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B4F3A449-B60F-436E-A195-CEDE48CE3DDA}"/>
              </a:ext>
            </a:extLst>
          </p:cNvPr>
          <p:cNvSpPr txBox="1"/>
          <p:nvPr/>
        </p:nvSpPr>
        <p:spPr>
          <a:xfrm>
            <a:off x="6334765" y="3827039"/>
            <a:ext cx="1139688" cy="369332"/>
          </a:xfrm>
          <a:prstGeom prst="rect">
            <a:avLst/>
          </a:prstGeom>
          <a:noFill/>
        </p:spPr>
        <p:txBody>
          <a:bodyPr wrap="square" rtlCol="0">
            <a:spAutoFit/>
          </a:bodyPr>
          <a:lstStyle/>
          <a:p>
            <a:r>
              <a:rPr lang="en-US" altLang="zh-TW" dirty="0"/>
              <a:t>state(S</a:t>
            </a:r>
            <a:r>
              <a:rPr lang="en-US" altLang="zh-TW" sz="1400" dirty="0"/>
              <a:t>4</a:t>
            </a:r>
            <a:r>
              <a:rPr lang="en-US" altLang="zh-TW" dirty="0"/>
              <a:t>)</a:t>
            </a:r>
            <a:endParaRPr lang="zh-TW" altLang="en-US" dirty="0"/>
          </a:p>
        </p:txBody>
      </p:sp>
      <p:sp>
        <p:nvSpPr>
          <p:cNvPr id="19" name="文字方塊 18">
            <a:extLst>
              <a:ext uri="{FF2B5EF4-FFF2-40B4-BE49-F238E27FC236}">
                <a16:creationId xmlns:a16="http://schemas.microsoft.com/office/drawing/2014/main" id="{1D580F76-C646-4979-80B2-BA9595230302}"/>
              </a:ext>
            </a:extLst>
          </p:cNvPr>
          <p:cNvSpPr txBox="1"/>
          <p:nvPr/>
        </p:nvSpPr>
        <p:spPr>
          <a:xfrm>
            <a:off x="7588951" y="3542822"/>
            <a:ext cx="1139688" cy="369332"/>
          </a:xfrm>
          <a:prstGeom prst="rect">
            <a:avLst/>
          </a:prstGeom>
          <a:noFill/>
        </p:spPr>
        <p:txBody>
          <a:bodyPr wrap="square" rtlCol="0">
            <a:spAutoFit/>
          </a:bodyPr>
          <a:lstStyle/>
          <a:p>
            <a:r>
              <a:rPr lang="en-US" altLang="zh-TW" dirty="0"/>
              <a:t>state(S</a:t>
            </a:r>
            <a:r>
              <a:rPr lang="en-US" altLang="zh-TW" sz="1400" dirty="0"/>
              <a:t>5</a:t>
            </a:r>
            <a:r>
              <a:rPr lang="en-US" altLang="zh-TW" dirty="0"/>
              <a:t>)</a:t>
            </a:r>
            <a:endParaRPr lang="zh-TW" altLang="en-US" dirty="0"/>
          </a:p>
        </p:txBody>
      </p:sp>
      <p:pic>
        <p:nvPicPr>
          <p:cNvPr id="21" name="圖片 20">
            <a:extLst>
              <a:ext uri="{FF2B5EF4-FFF2-40B4-BE49-F238E27FC236}">
                <a16:creationId xmlns:a16="http://schemas.microsoft.com/office/drawing/2014/main" id="{42798EBF-DE47-4840-A6DF-8D253152C0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725" y="646940"/>
            <a:ext cx="5521389" cy="3685247"/>
          </a:xfrm>
          <a:prstGeom prst="rect">
            <a:avLst/>
          </a:prstGeom>
        </p:spPr>
      </p:pic>
      <p:sp>
        <p:nvSpPr>
          <p:cNvPr id="28" name="文字方塊 27">
            <a:extLst>
              <a:ext uri="{FF2B5EF4-FFF2-40B4-BE49-F238E27FC236}">
                <a16:creationId xmlns:a16="http://schemas.microsoft.com/office/drawing/2014/main" id="{233B75C7-A07D-4575-A06C-DD70C2A74EE3}"/>
              </a:ext>
            </a:extLst>
          </p:cNvPr>
          <p:cNvSpPr txBox="1"/>
          <p:nvPr/>
        </p:nvSpPr>
        <p:spPr>
          <a:xfrm>
            <a:off x="10620377" y="2239203"/>
            <a:ext cx="748331" cy="369332"/>
          </a:xfrm>
          <a:prstGeom prst="rect">
            <a:avLst/>
          </a:prstGeom>
          <a:noFill/>
        </p:spPr>
        <p:txBody>
          <a:bodyPr wrap="square" rtlCol="0">
            <a:spAutoFit/>
          </a:bodyPr>
          <a:lstStyle/>
          <a:p>
            <a:r>
              <a:rPr lang="en-US" altLang="zh-TW" dirty="0"/>
              <a:t>0/5</a:t>
            </a:r>
            <a:endParaRPr lang="zh-TW" altLang="en-US" dirty="0"/>
          </a:p>
        </p:txBody>
      </p:sp>
      <p:pic>
        <p:nvPicPr>
          <p:cNvPr id="29" name="圖片 28">
            <a:extLst>
              <a:ext uri="{FF2B5EF4-FFF2-40B4-BE49-F238E27FC236}">
                <a16:creationId xmlns:a16="http://schemas.microsoft.com/office/drawing/2014/main" id="{43EF5EE3-9DD8-43CA-BF26-1E68CE39C5AD}"/>
              </a:ext>
            </a:extLst>
          </p:cNvPr>
          <p:cNvPicPr>
            <a:picLocks noChangeAspect="1"/>
          </p:cNvPicPr>
          <p:nvPr/>
        </p:nvPicPr>
        <p:blipFill>
          <a:blip r:embed="rId3"/>
          <a:stretch>
            <a:fillRect/>
          </a:stretch>
        </p:blipFill>
        <p:spPr>
          <a:xfrm>
            <a:off x="5884304" y="4772456"/>
            <a:ext cx="2040610" cy="1148788"/>
          </a:xfrm>
          <a:prstGeom prst="rect">
            <a:avLst/>
          </a:prstGeom>
        </p:spPr>
      </p:pic>
      <p:pic>
        <p:nvPicPr>
          <p:cNvPr id="30" name="圖片 29">
            <a:extLst>
              <a:ext uri="{FF2B5EF4-FFF2-40B4-BE49-F238E27FC236}">
                <a16:creationId xmlns:a16="http://schemas.microsoft.com/office/drawing/2014/main" id="{DEB2B060-F6EA-44DF-BC70-515861B0A0F2}"/>
              </a:ext>
            </a:extLst>
          </p:cNvPr>
          <p:cNvPicPr>
            <a:picLocks noChangeAspect="1"/>
          </p:cNvPicPr>
          <p:nvPr/>
        </p:nvPicPr>
        <p:blipFill>
          <a:blip r:embed="rId4"/>
          <a:stretch>
            <a:fillRect/>
          </a:stretch>
        </p:blipFill>
        <p:spPr>
          <a:xfrm>
            <a:off x="8481392" y="4824490"/>
            <a:ext cx="2847975" cy="857250"/>
          </a:xfrm>
          <a:prstGeom prst="rect">
            <a:avLst/>
          </a:prstGeom>
        </p:spPr>
      </p:pic>
      <p:sp>
        <p:nvSpPr>
          <p:cNvPr id="25" name="文字方塊 24">
            <a:extLst>
              <a:ext uri="{FF2B5EF4-FFF2-40B4-BE49-F238E27FC236}">
                <a16:creationId xmlns:a16="http://schemas.microsoft.com/office/drawing/2014/main" id="{9C02E6AA-DBCB-4320-8BCC-82950C5C83EC}"/>
              </a:ext>
            </a:extLst>
          </p:cNvPr>
          <p:cNvSpPr txBox="1"/>
          <p:nvPr/>
        </p:nvSpPr>
        <p:spPr>
          <a:xfrm>
            <a:off x="4256031" y="4483355"/>
            <a:ext cx="1890083" cy="369332"/>
          </a:xfrm>
          <a:prstGeom prst="rect">
            <a:avLst/>
          </a:prstGeom>
          <a:noFill/>
        </p:spPr>
        <p:txBody>
          <a:bodyPr wrap="square" rtlCol="0">
            <a:spAutoFit/>
          </a:bodyPr>
          <a:lstStyle/>
          <a:p>
            <a:r>
              <a:rPr lang="en-US" altLang="zh-TW" dirty="0"/>
              <a:t>Node Expansion</a:t>
            </a:r>
            <a:endParaRPr lang="zh-TW" altLang="en-US" dirty="0"/>
          </a:p>
        </p:txBody>
      </p:sp>
      <p:cxnSp>
        <p:nvCxnSpPr>
          <p:cNvPr id="26" name="直線單箭頭接點 25">
            <a:extLst>
              <a:ext uri="{FF2B5EF4-FFF2-40B4-BE49-F238E27FC236}">
                <a16:creationId xmlns:a16="http://schemas.microsoft.com/office/drawing/2014/main" id="{75156003-1207-48CD-9AFD-B9B4E37338E3}"/>
              </a:ext>
            </a:extLst>
          </p:cNvPr>
          <p:cNvCxnSpPr>
            <a:cxnSpLocks/>
          </p:cNvCxnSpPr>
          <p:nvPr/>
        </p:nvCxnSpPr>
        <p:spPr>
          <a:xfrm flipH="1">
            <a:off x="5373362" y="4175236"/>
            <a:ext cx="1017105" cy="971448"/>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7" name="橢圓 26">
            <a:extLst>
              <a:ext uri="{FF2B5EF4-FFF2-40B4-BE49-F238E27FC236}">
                <a16:creationId xmlns:a16="http://schemas.microsoft.com/office/drawing/2014/main" id="{5C986468-67BC-4904-B5E1-F154102BC2D0}"/>
              </a:ext>
            </a:extLst>
          </p:cNvPr>
          <p:cNvSpPr/>
          <p:nvPr/>
        </p:nvSpPr>
        <p:spPr>
          <a:xfrm>
            <a:off x="4936040" y="5146684"/>
            <a:ext cx="874643" cy="556591"/>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30">
            <a:extLst>
              <a:ext uri="{FF2B5EF4-FFF2-40B4-BE49-F238E27FC236}">
                <a16:creationId xmlns:a16="http://schemas.microsoft.com/office/drawing/2014/main" id="{F1DDBD8C-A8D9-4337-A2E0-62A17C9228D2}"/>
              </a:ext>
            </a:extLst>
          </p:cNvPr>
          <p:cNvSpPr txBox="1"/>
          <p:nvPr/>
        </p:nvSpPr>
        <p:spPr>
          <a:xfrm>
            <a:off x="4919005" y="5230032"/>
            <a:ext cx="1139688" cy="369332"/>
          </a:xfrm>
          <a:prstGeom prst="rect">
            <a:avLst/>
          </a:prstGeom>
          <a:noFill/>
        </p:spPr>
        <p:txBody>
          <a:bodyPr wrap="square" rtlCol="0">
            <a:spAutoFit/>
          </a:bodyPr>
          <a:lstStyle/>
          <a:p>
            <a:r>
              <a:rPr lang="en-US" altLang="zh-TW" dirty="0"/>
              <a:t>state(S</a:t>
            </a:r>
            <a:r>
              <a:rPr lang="en-US" altLang="zh-TW" sz="1400" dirty="0"/>
              <a:t>7</a:t>
            </a:r>
            <a:r>
              <a:rPr lang="en-US" altLang="zh-TW" dirty="0"/>
              <a:t>)</a:t>
            </a:r>
            <a:endParaRPr lang="zh-TW" altLang="en-US" dirty="0"/>
          </a:p>
        </p:txBody>
      </p:sp>
    </p:spTree>
    <p:extLst>
      <p:ext uri="{BB962C8B-B14F-4D97-AF65-F5344CB8AC3E}">
        <p14:creationId xmlns:p14="http://schemas.microsoft.com/office/powerpoint/2010/main" val="910062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EDED1E3B-7EE1-4E72-9417-988F6116AEE9}"/>
              </a:ext>
            </a:extLst>
          </p:cNvPr>
          <p:cNvPicPr>
            <a:picLocks noChangeAspect="1"/>
          </p:cNvPicPr>
          <p:nvPr/>
        </p:nvPicPr>
        <p:blipFill rotWithShape="1">
          <a:blip r:embed="rId2"/>
          <a:srcRect l="548" t="2112" r="763"/>
          <a:stretch/>
        </p:blipFill>
        <p:spPr>
          <a:xfrm>
            <a:off x="0" y="1379991"/>
            <a:ext cx="12192000" cy="4034971"/>
          </a:xfrm>
          <a:prstGeom prst="rect">
            <a:avLst/>
          </a:prstGeom>
        </p:spPr>
      </p:pic>
    </p:spTree>
    <p:extLst>
      <p:ext uri="{BB962C8B-B14F-4D97-AF65-F5344CB8AC3E}">
        <p14:creationId xmlns:p14="http://schemas.microsoft.com/office/powerpoint/2010/main" val="29412208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76B49376-83BE-4341-9D7B-B9F4A523581A}"/>
              </a:ext>
            </a:extLst>
          </p:cNvPr>
          <p:cNvSpPr txBox="1"/>
          <p:nvPr/>
        </p:nvSpPr>
        <p:spPr>
          <a:xfrm>
            <a:off x="3520967" y="2828835"/>
            <a:ext cx="4359270" cy="1200329"/>
          </a:xfrm>
          <a:prstGeom prst="rect">
            <a:avLst/>
          </a:prstGeom>
          <a:noFill/>
        </p:spPr>
        <p:txBody>
          <a:bodyPr wrap="none" rtlCol="0">
            <a:spAutoFit/>
          </a:bodyPr>
          <a:lstStyle/>
          <a:p>
            <a:r>
              <a:rPr lang="en-US" altLang="zh-TW" sz="7200" dirty="0"/>
              <a:t>Thank you!</a:t>
            </a:r>
            <a:endParaRPr lang="zh-TW" altLang="en-US" sz="7200" dirty="0"/>
          </a:p>
        </p:txBody>
      </p:sp>
    </p:spTree>
    <p:extLst>
      <p:ext uri="{BB962C8B-B14F-4D97-AF65-F5344CB8AC3E}">
        <p14:creationId xmlns:p14="http://schemas.microsoft.com/office/powerpoint/2010/main" val="308882352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5929</TotalTime>
  <Words>843</Words>
  <Application>Microsoft Office PowerPoint</Application>
  <PresentationFormat>寬螢幕</PresentationFormat>
  <Paragraphs>178</Paragraphs>
  <Slides>38</Slides>
  <Notes>6</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38</vt:i4>
      </vt:variant>
    </vt:vector>
  </HeadingPairs>
  <TitlesOfParts>
    <vt:vector size="44" baseType="lpstr">
      <vt:lpstr>PingFang SC</vt:lpstr>
      <vt:lpstr>Arial</vt:lpstr>
      <vt:lpstr>Calibri</vt:lpstr>
      <vt:lpstr>Calibri Light</vt:lpstr>
      <vt:lpstr>Times New Roman</vt:lpstr>
      <vt:lpstr>Office 佈景主題</vt:lpstr>
      <vt:lpstr>PowerPoint 簡報</vt:lpstr>
      <vt:lpstr>PowerPoint 簡報</vt:lpstr>
      <vt:lpstr>PowerPoint 簡報</vt:lpstr>
      <vt:lpstr>1940s, the USA want to know how the power of nuclear weapons could be. </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佳琳 陳</dc:creator>
  <cp:lastModifiedBy>佳琳 陳</cp:lastModifiedBy>
  <cp:revision>361</cp:revision>
  <dcterms:created xsi:type="dcterms:W3CDTF">2019-02-09T07:24:26Z</dcterms:created>
  <dcterms:modified xsi:type="dcterms:W3CDTF">2019-06-12T08:28:26Z</dcterms:modified>
</cp:coreProperties>
</file>