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73" r:id="rId3"/>
    <p:sldId id="257" r:id="rId4"/>
    <p:sldId id="283" r:id="rId5"/>
    <p:sldId id="320" r:id="rId6"/>
    <p:sldId id="317" r:id="rId7"/>
    <p:sldId id="312" r:id="rId8"/>
    <p:sldId id="325" r:id="rId9"/>
    <p:sldId id="326" r:id="rId10"/>
    <p:sldId id="327" r:id="rId11"/>
    <p:sldId id="321" r:id="rId12"/>
    <p:sldId id="322" r:id="rId13"/>
    <p:sldId id="323" r:id="rId14"/>
    <p:sldId id="319" r:id="rId15"/>
    <p:sldId id="318" r:id="rId16"/>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2"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60"/>
  </p:normalViewPr>
  <p:slideViewPr>
    <p:cSldViewPr snapToGrid="0">
      <p:cViewPr varScale="1">
        <p:scale>
          <a:sx n="63" d="100"/>
          <a:sy n="63" d="100"/>
        </p:scale>
        <p:origin x="84"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2019/8/27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22391102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6726070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39554104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1650919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xmlns=""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xmlns="" id="{2E469C4C-F457-4167-B363-FB6DD59DC296}"/>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5" name="頁尾版面配置區 4">
            <a:extLst>
              <a:ext uri="{FF2B5EF4-FFF2-40B4-BE49-F238E27FC236}">
                <a16:creationId xmlns:a16="http://schemas.microsoft.com/office/drawing/2014/main" xmlns=""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88E6861-BAD9-4B1E-B7CC-ED4F8B71DB22}"/>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5" name="頁尾版面配置區 4">
            <a:extLst>
              <a:ext uri="{FF2B5EF4-FFF2-40B4-BE49-F238E27FC236}">
                <a16:creationId xmlns:a16="http://schemas.microsoft.com/office/drawing/2014/main" xmlns=""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xmlns="" id="{DBCE3ACB-7971-48F1-9875-489AE8943338}"/>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5" name="頁尾版面配置區 4">
            <a:extLst>
              <a:ext uri="{FF2B5EF4-FFF2-40B4-BE49-F238E27FC236}">
                <a16:creationId xmlns:a16="http://schemas.microsoft.com/office/drawing/2014/main" xmlns=""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xmlns=""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xmlns=""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xmlns="" id="{62DDA930-81B0-4724-B815-F2EBD1DC4556}"/>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6" name="頁尾版面配置區 5">
            <a:extLst>
              <a:ext uri="{FF2B5EF4-FFF2-40B4-BE49-F238E27FC236}">
                <a16:creationId xmlns:a16="http://schemas.microsoft.com/office/drawing/2014/main" xmlns=""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xmlns=""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xmlns=""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xmlns=""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xmlns="" id="{B161ED9B-DFA5-480A-AD88-6DFF046FCB53}"/>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8" name="頁尾版面配置區 7">
            <a:extLst>
              <a:ext uri="{FF2B5EF4-FFF2-40B4-BE49-F238E27FC236}">
                <a16:creationId xmlns:a16="http://schemas.microsoft.com/office/drawing/2014/main" xmlns=""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xmlns=""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xmlns="" id="{D2DA7D75-DCEA-4D5F-817A-1F76017002B1}"/>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4" name="頁尾版面配置區 3">
            <a:extLst>
              <a:ext uri="{FF2B5EF4-FFF2-40B4-BE49-F238E27FC236}">
                <a16:creationId xmlns:a16="http://schemas.microsoft.com/office/drawing/2014/main" xmlns=""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xmlns=""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xmlns="" id="{00AA5AFE-F983-4BD0-A86F-D18589BB081B}"/>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3" name="頁尾版面配置區 2">
            <a:extLst>
              <a:ext uri="{FF2B5EF4-FFF2-40B4-BE49-F238E27FC236}">
                <a16:creationId xmlns:a16="http://schemas.microsoft.com/office/drawing/2014/main" xmlns=""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xmlns=""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xmlns=""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xmlns=""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C189A80C-0898-442B-A9DB-6CE747D9C7F0}"/>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6" name="頁尾版面配置區 5">
            <a:extLst>
              <a:ext uri="{FF2B5EF4-FFF2-40B4-BE49-F238E27FC236}">
                <a16:creationId xmlns:a16="http://schemas.microsoft.com/office/drawing/2014/main" xmlns=""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xmlns=""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xmlns=""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xmlns="" id="{14D3864F-50D1-4DBD-A5B6-1645AA45EA59}"/>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6" name="頁尾版面配置區 5">
            <a:extLst>
              <a:ext uri="{FF2B5EF4-FFF2-40B4-BE49-F238E27FC236}">
                <a16:creationId xmlns:a16="http://schemas.microsoft.com/office/drawing/2014/main" xmlns=""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xmlns=""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91A2253F-98FC-4AD8-AB1E-608801808E4B}"/>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5" name="頁尾版面配置區 4">
            <a:extLst>
              <a:ext uri="{FF2B5EF4-FFF2-40B4-BE49-F238E27FC236}">
                <a16:creationId xmlns:a16="http://schemas.microsoft.com/office/drawing/2014/main" xmlns=""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xmlns=""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xmlns=""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01DB4D53-3EC7-453D-BD90-F21F29EA365F}"/>
              </a:ext>
            </a:extLst>
          </p:cNvPr>
          <p:cNvSpPr>
            <a:spLocks noGrp="1"/>
          </p:cNvSpPr>
          <p:nvPr>
            <p:ph type="dt" sz="half" idx="10"/>
          </p:nvPr>
        </p:nvSpPr>
        <p:spPr/>
        <p:txBody>
          <a:bodyPr/>
          <a:lstStyle/>
          <a:p>
            <a:fld id="{289B6366-6E92-4855-9B33-10136FFB9F55}" type="datetimeFigureOut">
              <a:rPr lang="zh-TW" altLang="en-US" smtClean="0"/>
              <a:t>2019/8/27</a:t>
            </a:fld>
            <a:endParaRPr lang="zh-TW" altLang="en-US"/>
          </a:p>
        </p:txBody>
      </p:sp>
      <p:sp>
        <p:nvSpPr>
          <p:cNvPr id="5" name="頁尾版面配置區 4">
            <a:extLst>
              <a:ext uri="{FF2B5EF4-FFF2-40B4-BE49-F238E27FC236}">
                <a16:creationId xmlns:a16="http://schemas.microsoft.com/office/drawing/2014/main" xmlns=""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xmlns=""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xmlns=""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xmlns=""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xmlns=""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2019/8/27</a:t>
            </a:fld>
            <a:endParaRPr lang="zh-TW" altLang="en-US"/>
          </a:p>
        </p:txBody>
      </p:sp>
      <p:sp>
        <p:nvSpPr>
          <p:cNvPr id="5" name="頁尾版面配置區 4">
            <a:extLst>
              <a:ext uri="{FF2B5EF4-FFF2-40B4-BE49-F238E27FC236}">
                <a16:creationId xmlns:a16="http://schemas.microsoft.com/office/drawing/2014/main" xmlns=""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xmlns=""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DDABD277-3DCF-4084-9E03-BF06B086F7E6}"/>
              </a:ext>
            </a:extLst>
          </p:cNvPr>
          <p:cNvSpPr>
            <a:spLocks noGrp="1"/>
          </p:cNvSpPr>
          <p:nvPr>
            <p:ph type="ctrTitle"/>
          </p:nvPr>
        </p:nvSpPr>
        <p:spPr>
          <a:xfrm>
            <a:off x="193638" y="500281"/>
            <a:ext cx="11693562" cy="1909432"/>
          </a:xfrm>
        </p:spPr>
        <p:txBody>
          <a:bodyPr>
            <a:normAutofit/>
          </a:bodyPr>
          <a:lstStyle/>
          <a:p>
            <a:r>
              <a:rPr lang="en-US" altLang="zh-TW" sz="4000" b="1" dirty="0">
                <a:latin typeface="Times New Roman" panose="02020603050405020304" pitchFamily="18" charset="0"/>
                <a:cs typeface="Times New Roman" panose="02020603050405020304" pitchFamily="18" charset="0"/>
              </a:rPr>
              <a:t>A non-negative matrix factorization based method for predicting disease-associated miRNAs in miRNA-disease bilayer network</a:t>
            </a:r>
            <a:endParaRPr lang="zh-TW" altLang="en-US" sz="40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xmlns="" id="{2FF96485-B26C-4B59-B13D-880AA0BD68EA}"/>
              </a:ext>
            </a:extLst>
          </p:cNvPr>
          <p:cNvSpPr>
            <a:spLocks noGrp="1"/>
          </p:cNvSpPr>
          <p:nvPr>
            <p:ph type="subTitle" idx="1"/>
          </p:nvPr>
        </p:nvSpPr>
        <p:spPr>
          <a:xfrm>
            <a:off x="1317324" y="2290880"/>
            <a:ext cx="10193358" cy="1590037"/>
          </a:xfrm>
        </p:spPr>
        <p:txBody>
          <a:bodyPr>
            <a:normAutofit/>
          </a:bodyPr>
          <a:lstStyle/>
          <a:p>
            <a:endParaRPr lang="en-US" altLang="zh-TW" dirty="0"/>
          </a:p>
          <a:p>
            <a:r>
              <a:rPr lang="en-US" altLang="zh-TW" sz="2800" dirty="0" err="1"/>
              <a:t>Yingli</a:t>
            </a:r>
            <a:r>
              <a:rPr lang="en-US" altLang="zh-TW" sz="2800" dirty="0"/>
              <a:t> Zhong, Ping Xuan, Xiao Wang, </a:t>
            </a:r>
            <a:r>
              <a:rPr lang="en-US" altLang="zh-TW" sz="2800" dirty="0" err="1"/>
              <a:t>Tiangang</a:t>
            </a:r>
            <a:r>
              <a:rPr lang="en-US" altLang="zh-TW" sz="2800" dirty="0"/>
              <a:t> Zhang, Jianzhong Li, Yong Liu, </a:t>
            </a:r>
            <a:r>
              <a:rPr lang="en-US" altLang="zh-TW" sz="2800" dirty="0" err="1"/>
              <a:t>Weixiong</a:t>
            </a:r>
            <a:r>
              <a:rPr lang="en-US" altLang="zh-TW" sz="2800" dirty="0"/>
              <a:t> Zhang</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xmlns="" id="{64AE8193-1DE0-47D4-9DBB-4734B89CA666}"/>
              </a:ext>
            </a:extLst>
          </p:cNvPr>
          <p:cNvSpPr txBox="1">
            <a:spLocks/>
          </p:cNvSpPr>
          <p:nvPr/>
        </p:nvSpPr>
        <p:spPr>
          <a:xfrm>
            <a:off x="1398494" y="3987995"/>
            <a:ext cx="8552329" cy="110037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smtClean="0">
                <a:latin typeface="Times New Roman" panose="02020603050405020304" pitchFamily="18" charset="0"/>
                <a:cs typeface="Times New Roman" panose="02020603050405020304" pitchFamily="18" charset="0"/>
              </a:rPr>
              <a:t>Bioinformatics</a:t>
            </a:r>
            <a:r>
              <a:rPr lang="en-US" altLang="zh-TW" dirty="0">
                <a:latin typeface="Times New Roman" panose="02020603050405020304" pitchFamily="18" charset="0"/>
                <a:cs typeface="Times New Roman" panose="02020603050405020304" pitchFamily="18" charset="0"/>
              </a:rPr>
              <a:t>, Volume 34,</a:t>
            </a:r>
            <a:r>
              <a:rPr lang="en-US" altLang="zh-TW" dirty="0"/>
              <a:t> Pages 267–277</a:t>
            </a:r>
            <a:r>
              <a:rPr lang="en-US" altLang="zh-TW" dirty="0">
                <a:latin typeface="Times New Roman" panose="02020603050405020304" pitchFamily="18" charset="0"/>
                <a:cs typeface="Times New Roman" panose="02020603050405020304" pitchFamily="18" charset="0"/>
              </a:rPr>
              <a:t>, 2017</a:t>
            </a:r>
          </a:p>
        </p:txBody>
      </p:sp>
      <p:sp>
        <p:nvSpPr>
          <p:cNvPr id="5" name="副標題 2">
            <a:extLst>
              <a:ext uri="{FF2B5EF4-FFF2-40B4-BE49-F238E27FC236}">
                <a16:creationId xmlns:a16="http://schemas.microsoft.com/office/drawing/2014/main" xmlns=""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Aug. 27, 2019</a:t>
            </a:r>
          </a:p>
        </p:txBody>
      </p:sp>
    </p:spTree>
    <p:extLst>
      <p:ext uri="{BB962C8B-B14F-4D97-AF65-F5344CB8AC3E}">
        <p14:creationId xmlns:p14="http://schemas.microsoft.com/office/powerpoint/2010/main" val="3014946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580913" y="125768"/>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580913" y="613185"/>
            <a:ext cx="10875981" cy="6108289"/>
          </a:xfrm>
        </p:spPr>
        <p:txBody>
          <a:bodyPr>
            <a:noAutofit/>
          </a:bodyPr>
          <a:lstStyle/>
          <a:p>
            <a:pPr marL="0" indent="0" algn="just">
              <a:lnSpc>
                <a:spcPct val="150000"/>
              </a:lnSpc>
              <a:buNone/>
            </a:pPr>
            <a:r>
              <a:rPr lang="en-US" altLang="zh-TW" sz="2200" spc="-150" dirty="0">
                <a:cs typeface="Times New Roman" panose="02020603050405020304" pitchFamily="18" charset="0"/>
              </a:rPr>
              <a:t>Motivation: Identification of disease-associated miRNAs (disease miRNAs) is critical for understanding disease etiology and pathogenesis. Since miRNAs exert their functions by regulating the expression of their target mRNAs, several methods based on the target genes were proposed to predict disease miRNA candidates. They achieved only limited success as they all suffered from the high false-positive rate of target prediction results. Alternatively, other prediction methods were based on the observation that miRNAs with similar functions tend to be associated with similar diseases and vice versa. The methods exploited the information about miRNAs and diseases, including the functional similarities between miRNAs, the similarities between diseases, and the associations between miRNAs and diseases. However, how to integrate the multiple kinds of information completely and consider the biological characteristic of disease miRNAs is a challenging problem. Results: We constructed a bilayer network to represent the complex relationships among miRNAs, among diseases and between miRNAs and diseases. We proposed a non-negative matrix factorization based method to rank, so as to predict, the disease miRNA candidates. </a:t>
            </a:r>
          </a:p>
        </p:txBody>
      </p:sp>
    </p:spTree>
    <p:extLst>
      <p:ext uri="{BB962C8B-B14F-4D97-AF65-F5344CB8AC3E}">
        <p14:creationId xmlns:p14="http://schemas.microsoft.com/office/powerpoint/2010/main" val="15950678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xmlns=""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200" spc="-150" dirty="0">
                <a:cs typeface="Times New Roman" panose="02020603050405020304" pitchFamily="18" charset="0"/>
              </a:rPr>
              <a:t>The method integrated the miRNA functional similarity, the disease similarity and the miRNA-disease associations seamlessly, which exploited the complex relationships within the bilayer network and the consensus relationship between multiple kinds of information. Considering the correlation between the candidates related to various diseases, it predicted their respective candidates for all the diseases simultaneously. In addition, the sparseness characteristic of disease miRNAs was introduced to generate more reliable prediction model that excludes those noisy candidates. The results on 15 common diseases showed a superior performance of the new method for not only well-characterized diseases but also new ones. A detailed case study on breast neoplasms, colorectal neoplasms, lung neoplasms and 32 other diseases demonstrated the ability of the method for discovering potential disease miRNAs.</a:t>
            </a:r>
            <a:endParaRPr lang="en-US" altLang="zh-TW" sz="2200" spc="-15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47819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10844604" cy="729274"/>
          </a:xfrm>
        </p:spPr>
        <p:txBody>
          <a:bodyPr>
            <a:normAutofit/>
          </a:bodyPr>
          <a:lstStyle/>
          <a:p>
            <a:r>
              <a:rPr lang="en-US" altLang="zh-TW" sz="3600" dirty="0">
                <a:latin typeface="Times New Roman" panose="02020603050405020304" pitchFamily="18" charset="0"/>
                <a:cs typeface="Times New Roman" panose="02020603050405020304" pitchFamily="18" charset="0"/>
              </a:rPr>
              <a:t>Disease similarity measurement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7" name="內容版面配置區 16">
            <a:extLst>
              <a:ext uri="{FF2B5EF4-FFF2-40B4-BE49-F238E27FC236}">
                <a16:creationId xmlns:a16="http://schemas.microsoft.com/office/drawing/2014/main" xmlns="" id="{B3B369A4-994D-4FC9-B14F-FC14ACB6A342}"/>
              </a:ext>
            </a:extLst>
          </p:cNvPr>
          <p:cNvSpPr>
            <a:spLocks noGrp="1"/>
          </p:cNvSpPr>
          <p:nvPr>
            <p:ph idx="1"/>
          </p:nvPr>
        </p:nvSpPr>
        <p:spPr>
          <a:xfrm>
            <a:off x="838200" y="1161826"/>
            <a:ext cx="10633038" cy="4929076"/>
          </a:xfrm>
        </p:spPr>
        <p:txBody>
          <a:bodyPr/>
          <a:lstStyle/>
          <a:p>
            <a:endParaRPr lang="zh-TW" altLang="en-US" dirty="0"/>
          </a:p>
        </p:txBody>
      </p:sp>
      <p:pic>
        <p:nvPicPr>
          <p:cNvPr id="5" name="圖片 4">
            <a:extLst>
              <a:ext uri="{FF2B5EF4-FFF2-40B4-BE49-F238E27FC236}">
                <a16:creationId xmlns:a16="http://schemas.microsoft.com/office/drawing/2014/main" xmlns="" id="{4D9190C9-28EB-4261-A9A7-95D37CC6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802" y="1193926"/>
            <a:ext cx="6842509" cy="1081145"/>
          </a:xfrm>
          <a:prstGeom prst="rect">
            <a:avLst/>
          </a:prstGeom>
        </p:spPr>
      </p:pic>
      <p:pic>
        <p:nvPicPr>
          <p:cNvPr id="8" name="圖片 7" descr="一張含有 物件, 手錶 的圖片&#10;&#10;自動產生的描述">
            <a:extLst>
              <a:ext uri="{FF2B5EF4-FFF2-40B4-BE49-F238E27FC236}">
                <a16:creationId xmlns:a16="http://schemas.microsoft.com/office/drawing/2014/main" xmlns="" id="{ABB82C29-83FA-40B0-BED6-9C4C98084F6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15802" y="2609366"/>
            <a:ext cx="3583548" cy="1005587"/>
          </a:xfrm>
          <a:prstGeom prst="rect">
            <a:avLst/>
          </a:prstGeom>
        </p:spPr>
      </p:pic>
      <p:pic>
        <p:nvPicPr>
          <p:cNvPr id="19" name="圖片 18" descr="一張含有 物件 的圖片&#10;&#10;自動產生的描述">
            <a:extLst>
              <a:ext uri="{FF2B5EF4-FFF2-40B4-BE49-F238E27FC236}">
                <a16:creationId xmlns:a16="http://schemas.microsoft.com/office/drawing/2014/main" xmlns="" id="{1E020F7D-C022-44F0-A128-D545E54F6DC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802" y="3957399"/>
            <a:ext cx="5800382" cy="1251062"/>
          </a:xfrm>
          <a:prstGeom prst="rect">
            <a:avLst/>
          </a:prstGeom>
        </p:spPr>
      </p:pic>
      <p:pic>
        <p:nvPicPr>
          <p:cNvPr id="20" name="內容版面配置區 14" descr="一張含有 物件, 手錶 的圖片&#10;&#10;自動產生的描述">
            <a:extLst>
              <a:ext uri="{FF2B5EF4-FFF2-40B4-BE49-F238E27FC236}">
                <a16:creationId xmlns:a16="http://schemas.microsoft.com/office/drawing/2014/main" xmlns="" id="{D7017DF6-CE4C-40AC-B289-53069FF58AD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21120" y="5435613"/>
            <a:ext cx="5919699" cy="788013"/>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FDF843F6-EE57-48F9-BFE5-DDD702F8E53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Disease similarity measurement</a:t>
            </a:r>
            <a:endParaRPr lang="zh-TW" altLang="en-US" dirty="0"/>
          </a:p>
        </p:txBody>
      </p:sp>
      <p:sp>
        <p:nvSpPr>
          <p:cNvPr id="9" name="內容版面配置區 8">
            <a:extLst>
              <a:ext uri="{FF2B5EF4-FFF2-40B4-BE49-F238E27FC236}">
                <a16:creationId xmlns:a16="http://schemas.microsoft.com/office/drawing/2014/main" xmlns="" id="{3036FC36-076A-4378-BF87-F8B3D7BF7873}"/>
              </a:ext>
            </a:extLst>
          </p:cNvPr>
          <p:cNvSpPr>
            <a:spLocks noGrp="1"/>
          </p:cNvSpPr>
          <p:nvPr>
            <p:ph idx="1"/>
          </p:nvPr>
        </p:nvSpPr>
        <p:spPr/>
        <p:txBody>
          <a:bodyPr/>
          <a:lstStyle/>
          <a:p>
            <a:r>
              <a:rPr lang="en-US" altLang="zh-TW" dirty="0"/>
              <a:t>The DV value of ‘breast neoplasms’ is 1.0 (breast neoplasms) + 0.5 (breast diseases) + 0.5 (neoplasms by site) + 0.5 × 0.5 (neoplasms) + 0.5 × 0.5 (skin diseases) + 0.5 × 0.5 × 0.5 (skin and connective tissue diseases) = 2.6250</a:t>
            </a:r>
            <a:endParaRPr lang="zh-TW" altLang="en-US" dirty="0"/>
          </a:p>
        </p:txBody>
      </p:sp>
      <p:pic>
        <p:nvPicPr>
          <p:cNvPr id="10" name="內容版面配置區 6" descr="一張含有 螢幕擷取畫面 的圖片&#10;&#10;自動產生的描述">
            <a:extLst>
              <a:ext uri="{FF2B5EF4-FFF2-40B4-BE49-F238E27FC236}">
                <a16:creationId xmlns:a16="http://schemas.microsoft.com/office/drawing/2014/main" xmlns="" id="{214B983B-BD24-424C-B4E8-62E99B2745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7020" y="3193473"/>
            <a:ext cx="5982535" cy="3467584"/>
          </a:xfrm>
          <a:prstGeom prst="rect">
            <a:avLst/>
          </a:prstGeom>
        </p:spPr>
      </p:pic>
    </p:spTree>
    <p:extLst>
      <p:ext uri="{BB962C8B-B14F-4D97-AF65-F5344CB8AC3E}">
        <p14:creationId xmlns:p14="http://schemas.microsoft.com/office/powerpoint/2010/main" val="20482042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234245"/>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MiRNA similarity measurement</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9" name="內容版面配置區 8">
            <a:extLst>
              <a:ext uri="{FF2B5EF4-FFF2-40B4-BE49-F238E27FC236}">
                <a16:creationId xmlns:a16="http://schemas.microsoft.com/office/drawing/2014/main" xmlns="" id="{905D25AF-56D7-4410-9414-52BE4D8E951B}"/>
              </a:ext>
            </a:extLst>
          </p:cNvPr>
          <p:cNvSpPr>
            <a:spLocks noGrp="1"/>
          </p:cNvSpPr>
          <p:nvPr>
            <p:ph idx="1"/>
          </p:nvPr>
        </p:nvSpPr>
        <p:spPr>
          <a:xfrm>
            <a:off x="838199" y="1536138"/>
            <a:ext cx="10661725" cy="4735570"/>
          </a:xfrm>
        </p:spPr>
        <p:txBody>
          <a:bodyPr/>
          <a:lstStyle/>
          <a:p>
            <a:r>
              <a:rPr lang="en-US" altLang="zh-TW" dirty="0"/>
              <a:t>MiRNA ma is associated with diseases d1, d2, d3, d4 and d8</a:t>
            </a:r>
          </a:p>
          <a:p>
            <a:r>
              <a:rPr lang="en-US" altLang="zh-TW" dirty="0"/>
              <a:t>MiRNA mb is associated with d1, d2, d5 and d8.</a:t>
            </a:r>
          </a:p>
          <a:p>
            <a:r>
              <a:rPr lang="en-US" altLang="zh-TW" dirty="0" err="1"/>
              <a:t>DTa</a:t>
            </a:r>
            <a:r>
              <a:rPr lang="en-US" altLang="zh-TW" dirty="0"/>
              <a:t>={d1,d2,d3,d4,d8} </a:t>
            </a:r>
          </a:p>
          <a:p>
            <a:r>
              <a:rPr lang="en-US" altLang="zh-TW" dirty="0" err="1"/>
              <a:t>DTb</a:t>
            </a:r>
            <a:r>
              <a:rPr lang="en-US" altLang="zh-TW" dirty="0"/>
              <a:t>={d1,d2,d5,d8}</a:t>
            </a:r>
            <a:endParaRPr lang="zh-TW" altLang="en-US" dirty="0"/>
          </a:p>
        </p:txBody>
      </p:sp>
      <p:pic>
        <p:nvPicPr>
          <p:cNvPr id="16" name="圖片 15" descr="一張含有 個人, 物件 的圖片&#10;&#10;自動產生的描述">
            <a:extLst>
              <a:ext uri="{FF2B5EF4-FFF2-40B4-BE49-F238E27FC236}">
                <a16:creationId xmlns:a16="http://schemas.microsoft.com/office/drawing/2014/main" xmlns="" id="{CABA7C41-05AE-44B1-A2A2-B165F7D150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75740" y="3649451"/>
            <a:ext cx="5513908" cy="1020367"/>
          </a:xfrm>
          <a:prstGeom prst="rect">
            <a:avLst/>
          </a:prstGeom>
        </p:spPr>
      </p:pic>
      <p:pic>
        <p:nvPicPr>
          <p:cNvPr id="18" name="圖片 17" descr="一張含有 物件 的圖片&#10;&#10;自動產生的描述">
            <a:extLst>
              <a:ext uri="{FF2B5EF4-FFF2-40B4-BE49-F238E27FC236}">
                <a16:creationId xmlns:a16="http://schemas.microsoft.com/office/drawing/2014/main" xmlns="" id="{45B63D4A-9B81-41E6-8EA9-66D69D5EC2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2327" y="4754460"/>
            <a:ext cx="7810126" cy="1134804"/>
          </a:xfrm>
          <a:prstGeom prst="rect">
            <a:avLst/>
          </a:prstGeom>
        </p:spPr>
      </p:pic>
    </p:spTree>
    <p:extLst>
      <p:ext uri="{BB962C8B-B14F-4D97-AF65-F5344CB8AC3E}">
        <p14:creationId xmlns:p14="http://schemas.microsoft.com/office/powerpoint/2010/main" val="954643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Construction of miRNA-disease bilayer network</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Construction of </a:t>
            </a:r>
            <a:r>
              <a:rPr lang="en-US" altLang="zh-TW" sz="2300" dirty="0" err="1"/>
              <a:t>MiRNet</a:t>
            </a:r>
            <a:r>
              <a:rPr lang="en-US" altLang="zh-TW" sz="2300" dirty="0"/>
              <a:t>.</a:t>
            </a:r>
          </a:p>
        </p:txBody>
      </p:sp>
      <p:pic>
        <p:nvPicPr>
          <p:cNvPr id="5" name="圖片 4">
            <a:extLst>
              <a:ext uri="{FF2B5EF4-FFF2-40B4-BE49-F238E27FC236}">
                <a16:creationId xmlns:a16="http://schemas.microsoft.com/office/drawing/2014/main" xmlns="" id="{C466771A-89F7-4442-B3C1-096CD29BE9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93521" y="1943596"/>
            <a:ext cx="5733649" cy="1391254"/>
          </a:xfrm>
          <a:prstGeom prst="rect">
            <a:avLst/>
          </a:prstGeom>
        </p:spPr>
      </p:pic>
      <p:pic>
        <p:nvPicPr>
          <p:cNvPr id="12" name="圖片 11" descr="一張含有 地圖, 文字 的圖片&#10;&#10;自動產生的描述">
            <a:extLst>
              <a:ext uri="{FF2B5EF4-FFF2-40B4-BE49-F238E27FC236}">
                <a16:creationId xmlns:a16="http://schemas.microsoft.com/office/drawing/2014/main" xmlns="" id="{544F270B-F10F-49A2-A36B-01E01DB2EAB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15515" y="4012873"/>
            <a:ext cx="8573696" cy="2343477"/>
          </a:xfrm>
          <a:prstGeom prst="rect">
            <a:avLst/>
          </a:prstGeom>
        </p:spPr>
      </p:pic>
    </p:spTree>
    <p:extLst>
      <p:ext uri="{BB962C8B-B14F-4D97-AF65-F5344CB8AC3E}">
        <p14:creationId xmlns:p14="http://schemas.microsoft.com/office/powerpoint/2010/main" val="42214974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Construction of miRNA-disease bilayer network</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Construction of </a:t>
            </a:r>
            <a:r>
              <a:rPr lang="en-US" altLang="zh-TW" sz="2300" dirty="0" err="1"/>
              <a:t>DisNet</a:t>
            </a:r>
            <a:r>
              <a:rPr lang="en-US" altLang="zh-TW" sz="2300" dirty="0"/>
              <a:t>.</a:t>
            </a:r>
          </a:p>
        </p:txBody>
      </p:sp>
      <p:pic>
        <p:nvPicPr>
          <p:cNvPr id="6" name="圖片 5">
            <a:extLst>
              <a:ext uri="{FF2B5EF4-FFF2-40B4-BE49-F238E27FC236}">
                <a16:creationId xmlns:a16="http://schemas.microsoft.com/office/drawing/2014/main" xmlns="" id="{4E519C38-D4A5-4582-88E3-8916CC0DD5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9054" y="1813887"/>
            <a:ext cx="6103266" cy="1615113"/>
          </a:xfrm>
          <a:prstGeom prst="rect">
            <a:avLst/>
          </a:prstGeom>
        </p:spPr>
      </p:pic>
      <p:pic>
        <p:nvPicPr>
          <p:cNvPr id="8" name="圖片 7" descr="一張含有 地圖, 文字 的圖片&#10;&#10;自動產生的描述">
            <a:extLst>
              <a:ext uri="{FF2B5EF4-FFF2-40B4-BE49-F238E27FC236}">
                <a16:creationId xmlns:a16="http://schemas.microsoft.com/office/drawing/2014/main" xmlns="" id="{61594F04-76EC-42FF-B135-133EA0E2A1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9054" y="3963425"/>
            <a:ext cx="8050400" cy="1933452"/>
          </a:xfrm>
          <a:prstGeom prst="rect">
            <a:avLst/>
          </a:prstGeom>
        </p:spPr>
      </p:pic>
    </p:spTree>
    <p:extLst>
      <p:ext uri="{BB962C8B-B14F-4D97-AF65-F5344CB8AC3E}">
        <p14:creationId xmlns:p14="http://schemas.microsoft.com/office/powerpoint/2010/main" val="2509651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Construction of miRNA-disease bilayer network</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Edges between </a:t>
            </a:r>
            <a:r>
              <a:rPr lang="en-US" altLang="zh-TW" sz="2300" dirty="0" err="1"/>
              <a:t>MiRNet</a:t>
            </a:r>
            <a:r>
              <a:rPr lang="en-US" altLang="zh-TW" sz="2300" dirty="0"/>
              <a:t> and </a:t>
            </a:r>
            <a:r>
              <a:rPr lang="en-US" altLang="zh-TW" sz="2300" dirty="0" err="1"/>
              <a:t>DisNet</a:t>
            </a:r>
            <a:r>
              <a:rPr lang="en-US" altLang="zh-TW" sz="2300" dirty="0"/>
              <a:t>.</a:t>
            </a:r>
          </a:p>
        </p:txBody>
      </p:sp>
      <p:pic>
        <p:nvPicPr>
          <p:cNvPr id="6" name="圖片 5">
            <a:extLst>
              <a:ext uri="{FF2B5EF4-FFF2-40B4-BE49-F238E27FC236}">
                <a16:creationId xmlns:a16="http://schemas.microsoft.com/office/drawing/2014/main" xmlns="" id="{E9C44122-6018-4E04-96D3-7BDC1C39D3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2160" y="1969361"/>
            <a:ext cx="5627887" cy="4412775"/>
          </a:xfrm>
          <a:prstGeom prst="rect">
            <a:avLst/>
          </a:prstGeom>
        </p:spPr>
      </p:pic>
    </p:spTree>
    <p:extLst>
      <p:ext uri="{BB962C8B-B14F-4D97-AF65-F5344CB8AC3E}">
        <p14:creationId xmlns:p14="http://schemas.microsoft.com/office/powerpoint/2010/main" val="4264257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94B01AB9-0651-4F6D-A93A-D571F0BAE9A7}"/>
              </a:ext>
            </a:extLst>
          </p:cNvPr>
          <p:cNvSpPr>
            <a:spLocks noGrp="1"/>
          </p:cNvSpPr>
          <p:nvPr>
            <p:ph type="title"/>
          </p:nvPr>
        </p:nvSpPr>
        <p:spPr>
          <a:xfrm>
            <a:off x="838200" y="432552"/>
            <a:ext cx="9188988" cy="833020"/>
          </a:xfrm>
        </p:spPr>
        <p:txBody>
          <a:bodyPr>
            <a:normAutofit/>
          </a:bodyPr>
          <a:lstStyle/>
          <a:p>
            <a:r>
              <a:rPr lang="en-US" altLang="zh-TW" sz="3600" dirty="0">
                <a:latin typeface="Times New Roman" panose="02020603050405020304" pitchFamily="18" charset="0"/>
                <a:cs typeface="Times New Roman" panose="02020603050405020304" pitchFamily="18" charset="0"/>
              </a:rPr>
              <a:t>Construction of miRNA-disease bilayer network</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xmlns=""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10</a:t>
            </a:fld>
            <a:endParaRPr lang="zh-TW" altLang="en-US"/>
          </a:p>
        </p:txBody>
      </p:sp>
      <p:sp>
        <p:nvSpPr>
          <p:cNvPr id="11" name="內容版面配置區 10">
            <a:extLst>
              <a:ext uri="{FF2B5EF4-FFF2-40B4-BE49-F238E27FC236}">
                <a16:creationId xmlns:a16="http://schemas.microsoft.com/office/drawing/2014/main" xmlns="" id="{C2C833C2-C5C2-4AEB-B3FF-A7027832BC21}"/>
              </a:ext>
            </a:extLst>
          </p:cNvPr>
          <p:cNvSpPr>
            <a:spLocks noGrp="1"/>
          </p:cNvSpPr>
          <p:nvPr>
            <p:ph idx="1"/>
          </p:nvPr>
        </p:nvSpPr>
        <p:spPr>
          <a:xfrm>
            <a:off x="838200" y="1265573"/>
            <a:ext cx="10844605" cy="4694163"/>
          </a:xfrm>
        </p:spPr>
        <p:txBody>
          <a:bodyPr>
            <a:normAutofit/>
          </a:bodyPr>
          <a:lstStyle/>
          <a:p>
            <a:r>
              <a:rPr lang="en-US" altLang="zh-TW" sz="2300" dirty="0"/>
              <a:t>miRNA-disease bilayer network</a:t>
            </a:r>
          </a:p>
        </p:txBody>
      </p:sp>
      <p:pic>
        <p:nvPicPr>
          <p:cNvPr id="6" name="圖片 5" descr="一張含有 文字, 地圖 的圖片&#10;&#10;自動產生的描述">
            <a:extLst>
              <a:ext uri="{FF2B5EF4-FFF2-40B4-BE49-F238E27FC236}">
                <a16:creationId xmlns:a16="http://schemas.microsoft.com/office/drawing/2014/main" xmlns="" id="{B4F61D37-137A-4651-898A-1392C06B24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66" y="1797274"/>
            <a:ext cx="5521217" cy="4213561"/>
          </a:xfrm>
          <a:prstGeom prst="rect">
            <a:avLst/>
          </a:prstGeom>
        </p:spPr>
      </p:pic>
      <p:pic>
        <p:nvPicPr>
          <p:cNvPr id="8" name="圖片 7" descr="一張含有 物件 的圖片&#10;&#10;自動產生的描述">
            <a:extLst>
              <a:ext uri="{FF2B5EF4-FFF2-40B4-BE49-F238E27FC236}">
                <a16:creationId xmlns:a16="http://schemas.microsoft.com/office/drawing/2014/main" xmlns="" id="{D99D8B0E-9D99-401F-BA4E-EAD0CEF0267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80430" y="2638315"/>
            <a:ext cx="2571608" cy="1557981"/>
          </a:xfrm>
          <a:prstGeom prst="rect">
            <a:avLst/>
          </a:prstGeom>
        </p:spPr>
      </p:pic>
    </p:spTree>
    <p:extLst>
      <p:ext uri="{BB962C8B-B14F-4D97-AF65-F5344CB8AC3E}">
        <p14:creationId xmlns:p14="http://schemas.microsoft.com/office/powerpoint/2010/main" val="23018666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內容版面配置區 18">
            <a:extLst>
              <a:ext uri="{FF2B5EF4-FFF2-40B4-BE49-F238E27FC236}">
                <a16:creationId xmlns:a16="http://schemas.microsoft.com/office/drawing/2014/main" xmlns="" id="{12A3C541-AB68-419A-A5F1-683503905A3B}"/>
              </a:ext>
            </a:extLst>
          </p:cNvPr>
          <p:cNvSpPr>
            <a:spLocks noGrp="1"/>
          </p:cNvSpPr>
          <p:nvPr>
            <p:ph idx="1"/>
          </p:nvPr>
        </p:nvSpPr>
        <p:spPr/>
        <p:txBody>
          <a:bodyPr/>
          <a:lstStyle/>
          <a:p>
            <a:r>
              <a:rPr lang="en-US" altLang="zh-TW" dirty="0"/>
              <a:t>||⋅||F is the </a:t>
            </a:r>
            <a:r>
              <a:rPr lang="en-US" altLang="zh-TW" dirty="0" err="1"/>
              <a:t>Frobenius</a:t>
            </a:r>
            <a:r>
              <a:rPr lang="en-US" altLang="zh-TW" dirty="0"/>
              <a:t> norm of a matrix and ⊙ is the Hadamard product.</a:t>
            </a:r>
            <a:endParaRPr lang="zh-TW" altLang="en-US" dirty="0"/>
          </a:p>
        </p:txBody>
      </p:sp>
      <p:sp>
        <p:nvSpPr>
          <p:cNvPr id="2" name="標題 1">
            <a:extLst>
              <a:ext uri="{FF2B5EF4-FFF2-40B4-BE49-F238E27FC236}">
                <a16:creationId xmlns:a16="http://schemas.microsoft.com/office/drawing/2014/main" xmlns="" id="{86626AB3-5B1A-48D5-A891-15D246AA2DF6}"/>
              </a:ext>
            </a:extLst>
          </p:cNvPr>
          <p:cNvSpPr>
            <a:spLocks noGrp="1"/>
          </p:cNvSpPr>
          <p:nvPr>
            <p:ph type="title"/>
          </p:nvPr>
        </p:nvSpPr>
        <p:spPr>
          <a:xfrm>
            <a:off x="838200" y="365125"/>
            <a:ext cx="10515600" cy="1325563"/>
          </a:xfrm>
        </p:spPr>
        <p:txBody>
          <a:bodyPr>
            <a:normAutofit/>
          </a:bodyPr>
          <a:lstStyle/>
          <a:p>
            <a:r>
              <a:rPr lang="en-US" altLang="zh-TW" sz="4000" dirty="0"/>
              <a:t>Modelling the edges between </a:t>
            </a:r>
            <a:r>
              <a:rPr lang="en-US" altLang="zh-TW" sz="4000" dirty="0" err="1"/>
              <a:t>MiRNet</a:t>
            </a:r>
            <a:r>
              <a:rPr lang="en-US" altLang="zh-TW" sz="4000" dirty="0"/>
              <a:t> and </a:t>
            </a:r>
            <a:r>
              <a:rPr lang="en-US" altLang="zh-TW" sz="4000" dirty="0" err="1"/>
              <a:t>DisNet</a:t>
            </a:r>
            <a:endParaRPr lang="zh-TW" altLang="en-US" sz="4000" dirty="0"/>
          </a:p>
        </p:txBody>
      </p:sp>
      <p:pic>
        <p:nvPicPr>
          <p:cNvPr id="7" name="圖片 6" descr="一張含有 物件, 手錶 的圖片&#10;&#10;自動產生的描述">
            <a:extLst>
              <a:ext uri="{FF2B5EF4-FFF2-40B4-BE49-F238E27FC236}">
                <a16:creationId xmlns:a16="http://schemas.microsoft.com/office/drawing/2014/main" xmlns="" id="{5721FAFB-F32E-43BC-892B-A43ACA9FB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9861" y="2782414"/>
            <a:ext cx="5632201" cy="1173374"/>
          </a:xfrm>
          <a:prstGeom prst="rect">
            <a:avLst/>
          </a:prstGeom>
        </p:spPr>
      </p:pic>
      <p:pic>
        <p:nvPicPr>
          <p:cNvPr id="11" name="圖片 10" descr="一張含有 物件, 手錶 的圖片&#10;&#10;自動產生的描述">
            <a:extLst>
              <a:ext uri="{FF2B5EF4-FFF2-40B4-BE49-F238E27FC236}">
                <a16:creationId xmlns:a16="http://schemas.microsoft.com/office/drawing/2014/main" xmlns="" id="{75C7CF51-AA00-469D-AF58-9F83B93316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72176" y="5333809"/>
            <a:ext cx="3924892" cy="1295407"/>
          </a:xfrm>
          <a:prstGeom prst="rect">
            <a:avLst/>
          </a:prstGeom>
        </p:spPr>
      </p:pic>
      <p:pic>
        <p:nvPicPr>
          <p:cNvPr id="15" name="圖片 14" descr="一張含有 物件, 手錶 的圖片&#10;&#10;自動產生的描述">
            <a:extLst>
              <a:ext uri="{FF2B5EF4-FFF2-40B4-BE49-F238E27FC236}">
                <a16:creationId xmlns:a16="http://schemas.microsoft.com/office/drawing/2014/main" xmlns="" id="{0EE690DD-32DE-4339-92D7-43436DBDB45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2177" y="3934487"/>
            <a:ext cx="3774284" cy="1264385"/>
          </a:xfrm>
          <a:prstGeom prst="rect">
            <a:avLst/>
          </a:prstGeom>
        </p:spPr>
      </p:pic>
    </p:spTree>
    <p:extLst>
      <p:ext uri="{BB962C8B-B14F-4D97-AF65-F5344CB8AC3E}">
        <p14:creationId xmlns:p14="http://schemas.microsoft.com/office/powerpoint/2010/main" val="2773278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E3B90AF0-1688-45B1-BD9D-973B35C51206}"/>
              </a:ext>
            </a:extLst>
          </p:cNvPr>
          <p:cNvSpPr>
            <a:spLocks noGrp="1"/>
          </p:cNvSpPr>
          <p:nvPr>
            <p:ph type="title"/>
          </p:nvPr>
        </p:nvSpPr>
        <p:spPr/>
        <p:txBody>
          <a:bodyPr/>
          <a:lstStyle/>
          <a:p>
            <a:r>
              <a:rPr lang="en-US" altLang="zh-TW" dirty="0"/>
              <a:t>Non-negative matrix factorization</a:t>
            </a:r>
            <a:endParaRPr lang="zh-TW" altLang="en-US" dirty="0"/>
          </a:p>
        </p:txBody>
      </p:sp>
      <p:sp>
        <p:nvSpPr>
          <p:cNvPr id="3" name="內容版面配置區 2">
            <a:extLst>
              <a:ext uri="{FF2B5EF4-FFF2-40B4-BE49-F238E27FC236}">
                <a16:creationId xmlns:a16="http://schemas.microsoft.com/office/drawing/2014/main" xmlns="" id="{422D174F-797D-445F-B530-626919BF12EE}"/>
              </a:ext>
            </a:extLst>
          </p:cNvPr>
          <p:cNvSpPr>
            <a:spLocks noGrp="1"/>
          </p:cNvSpPr>
          <p:nvPr>
            <p:ph idx="1"/>
          </p:nvPr>
        </p:nvSpPr>
        <p:spPr/>
        <p:txBody>
          <a:bodyPr/>
          <a:lstStyle/>
          <a:p>
            <a:endParaRPr lang="zh-TW" altLang="en-US" dirty="0"/>
          </a:p>
        </p:txBody>
      </p:sp>
      <p:pic>
        <p:nvPicPr>
          <p:cNvPr id="4" name="內容版面配置區 4" descr="一張含有 物件 的圖片&#10;&#10;自動產生的描述">
            <a:extLst>
              <a:ext uri="{FF2B5EF4-FFF2-40B4-BE49-F238E27FC236}">
                <a16:creationId xmlns:a16="http://schemas.microsoft.com/office/drawing/2014/main" xmlns="" id="{9716BDE8-09B1-4533-A4D1-25697DEB5F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93625" y="4064960"/>
            <a:ext cx="5578871" cy="1249434"/>
          </a:xfrm>
          <a:prstGeom prst="rect">
            <a:avLst/>
          </a:prstGeom>
        </p:spPr>
      </p:pic>
      <p:pic>
        <p:nvPicPr>
          <p:cNvPr id="5" name="圖片 4" descr="一張含有 物件 的圖片&#10;&#10;自動產生的描述">
            <a:extLst>
              <a:ext uri="{FF2B5EF4-FFF2-40B4-BE49-F238E27FC236}">
                <a16:creationId xmlns:a16="http://schemas.microsoft.com/office/drawing/2014/main" xmlns="" id="{837DCFEF-9702-45B6-8B52-8604D94878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93625" y="2287019"/>
            <a:ext cx="5651510" cy="1220378"/>
          </a:xfrm>
          <a:prstGeom prst="rect">
            <a:avLst/>
          </a:prstGeom>
        </p:spPr>
      </p:pic>
      <p:pic>
        <p:nvPicPr>
          <p:cNvPr id="6" name="圖片 5">
            <a:extLst>
              <a:ext uri="{FF2B5EF4-FFF2-40B4-BE49-F238E27FC236}">
                <a16:creationId xmlns:a16="http://schemas.microsoft.com/office/drawing/2014/main" xmlns="" id="{317DF678-4065-4730-AFB2-51A5C0EDF2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9849" y="3925164"/>
            <a:ext cx="5273776" cy="1946793"/>
          </a:xfrm>
          <a:prstGeom prst="rect">
            <a:avLst/>
          </a:prstGeom>
        </p:spPr>
      </p:pic>
      <p:pic>
        <p:nvPicPr>
          <p:cNvPr id="7" name="圖片 6">
            <a:extLst>
              <a:ext uri="{FF2B5EF4-FFF2-40B4-BE49-F238E27FC236}">
                <a16:creationId xmlns:a16="http://schemas.microsoft.com/office/drawing/2014/main" xmlns="" id="{961B94FF-96A8-4A65-A8B7-443857F1DA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68885" y="1891201"/>
            <a:ext cx="5244719" cy="2033963"/>
          </a:xfrm>
          <a:prstGeom prst="rect">
            <a:avLst/>
          </a:prstGeom>
        </p:spPr>
      </p:pic>
    </p:spTree>
    <p:extLst>
      <p:ext uri="{BB962C8B-B14F-4D97-AF65-F5344CB8AC3E}">
        <p14:creationId xmlns:p14="http://schemas.microsoft.com/office/powerpoint/2010/main" val="18105418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C6A30A33-89D5-43F9-B65C-467F46175F0D}"/>
              </a:ext>
            </a:extLst>
          </p:cNvPr>
          <p:cNvSpPr>
            <a:spLocks noGrp="1"/>
          </p:cNvSpPr>
          <p:nvPr>
            <p:ph type="title"/>
          </p:nvPr>
        </p:nvSpPr>
        <p:spPr/>
        <p:txBody>
          <a:bodyPr>
            <a:normAutofit/>
          </a:bodyPr>
          <a:lstStyle/>
          <a:p>
            <a:r>
              <a:rPr lang="en-US" altLang="zh-TW" sz="4000" dirty="0"/>
              <a:t>Algorithm for predicting the miRNA candidates associated with diseases</a:t>
            </a:r>
            <a:endParaRPr lang="zh-TW" altLang="en-US" sz="4000" dirty="0"/>
          </a:p>
        </p:txBody>
      </p:sp>
      <p:pic>
        <p:nvPicPr>
          <p:cNvPr id="5" name="內容版面配置區 4" descr="一張含有 文字 的圖片&#10;&#10;自動產生的描述">
            <a:extLst>
              <a:ext uri="{FF2B5EF4-FFF2-40B4-BE49-F238E27FC236}">
                <a16:creationId xmlns:a16="http://schemas.microsoft.com/office/drawing/2014/main" xmlns="" id="{64EAB790-C55A-4208-91AD-AC3081C84EC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75011" y="1864969"/>
            <a:ext cx="6884895" cy="4837656"/>
          </a:xfrm>
        </p:spPr>
      </p:pic>
    </p:spTree>
    <p:extLst>
      <p:ext uri="{BB962C8B-B14F-4D97-AF65-F5344CB8AC3E}">
        <p14:creationId xmlns:p14="http://schemas.microsoft.com/office/powerpoint/2010/main" val="3697455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24E785A-5355-4B30-8CE3-D326A77A0C3C}"/>
              </a:ext>
            </a:extLst>
          </p:cNvPr>
          <p:cNvSpPr>
            <a:spLocks noGrp="1"/>
          </p:cNvSpPr>
          <p:nvPr>
            <p:ph type="title"/>
          </p:nvPr>
        </p:nvSpPr>
        <p:spPr>
          <a:xfrm>
            <a:off x="398033" y="311973"/>
            <a:ext cx="10955767" cy="935914"/>
          </a:xfrm>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sp>
        <p:nvSpPr>
          <p:cNvPr id="3" name="內容版面配置區 2">
            <a:extLst>
              <a:ext uri="{FF2B5EF4-FFF2-40B4-BE49-F238E27FC236}">
                <a16:creationId xmlns:a16="http://schemas.microsoft.com/office/drawing/2014/main" xmlns="" id="{E7C39DC8-3FB2-4BA0-B83B-9C16E2364094}"/>
              </a:ext>
            </a:extLst>
          </p:cNvPr>
          <p:cNvSpPr>
            <a:spLocks noGrp="1"/>
          </p:cNvSpPr>
          <p:nvPr>
            <p:ph idx="1"/>
          </p:nvPr>
        </p:nvSpPr>
        <p:spPr>
          <a:xfrm>
            <a:off x="398033" y="1247887"/>
            <a:ext cx="10515600" cy="4351338"/>
          </a:xfrm>
        </p:spPr>
        <p:txBody>
          <a:bodyPr/>
          <a:lstStyle/>
          <a:p>
            <a:r>
              <a:rPr lang="en-US" altLang="zh-TW" dirty="0"/>
              <a:t>The area under the ROC curve (AUC) is used to measure the global performance of a prediction method.</a:t>
            </a:r>
            <a:endParaRPr lang="zh-TW" altLang="en-US" dirty="0"/>
          </a:p>
        </p:txBody>
      </p:sp>
      <p:pic>
        <p:nvPicPr>
          <p:cNvPr id="9" name="圖片 8" descr="一張含有 螢幕擷取畫面 的圖片&#10;&#10;自動產生的描述">
            <a:extLst>
              <a:ext uri="{FF2B5EF4-FFF2-40B4-BE49-F238E27FC236}">
                <a16:creationId xmlns:a16="http://schemas.microsoft.com/office/drawing/2014/main" xmlns="" id="{27719DD8-CE4E-4B14-89CA-F2E238F573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6648" y="2183801"/>
            <a:ext cx="10411027" cy="3998803"/>
          </a:xfrm>
          <a:prstGeom prst="rect">
            <a:avLst/>
          </a:prstGeom>
        </p:spPr>
      </p:pic>
    </p:spTree>
    <p:extLst>
      <p:ext uri="{BB962C8B-B14F-4D97-AF65-F5344CB8AC3E}">
        <p14:creationId xmlns:p14="http://schemas.microsoft.com/office/powerpoint/2010/main" val="24151573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xmlns="" id="{224E785A-5355-4B30-8CE3-D326A77A0C3C}"/>
              </a:ext>
            </a:extLst>
          </p:cNvPr>
          <p:cNvSpPr>
            <a:spLocks noGrp="1"/>
          </p:cNvSpPr>
          <p:nvPr>
            <p:ph type="title"/>
          </p:nvPr>
        </p:nvSpPr>
        <p:spPr>
          <a:xfrm>
            <a:off x="398033" y="311973"/>
            <a:ext cx="10955767" cy="935914"/>
          </a:xfrm>
        </p:spPr>
        <p:txBody>
          <a:bodyPr/>
          <a:lstStyle/>
          <a:p>
            <a:r>
              <a:rPr lang="en-US" altLang="zh-TW" dirty="0">
                <a:latin typeface="Times New Roman" panose="02020603050405020304" pitchFamily="18" charset="0"/>
                <a:cs typeface="Times New Roman" panose="02020603050405020304" pitchFamily="18" charset="0"/>
              </a:rPr>
              <a:t>Results</a:t>
            </a:r>
            <a:endParaRPr lang="zh-TW" altLang="en-US" dirty="0"/>
          </a:p>
        </p:txBody>
      </p:sp>
      <p:pic>
        <p:nvPicPr>
          <p:cNvPr id="5" name="內容版面配置區 4" descr="一張含有 螢幕擷取畫面 的圖片&#10;&#10;自動產生的描述">
            <a:extLst>
              <a:ext uri="{FF2B5EF4-FFF2-40B4-BE49-F238E27FC236}">
                <a16:creationId xmlns:a16="http://schemas.microsoft.com/office/drawing/2014/main" xmlns="" id="{A1E6E085-A062-4FC5-A150-299CC6D7CC4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8033" y="1425404"/>
            <a:ext cx="4962384" cy="3985692"/>
          </a:xfrm>
        </p:spPr>
      </p:pic>
      <p:pic>
        <p:nvPicPr>
          <p:cNvPr id="8" name="圖片 7" descr="一張含有 書寫用具, 信箋 的圖片&#10;&#10;自動產生的描述">
            <a:extLst>
              <a:ext uri="{FF2B5EF4-FFF2-40B4-BE49-F238E27FC236}">
                <a16:creationId xmlns:a16="http://schemas.microsoft.com/office/drawing/2014/main" xmlns="" id="{EDD46718-068B-4C2C-A5FF-AE54B30242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75916" y="1917865"/>
            <a:ext cx="5601185" cy="3356176"/>
          </a:xfrm>
          <a:prstGeom prst="rect">
            <a:avLst/>
          </a:prstGeom>
        </p:spPr>
      </p:pic>
      <p:sp>
        <p:nvSpPr>
          <p:cNvPr id="10" name="矩形 9">
            <a:extLst>
              <a:ext uri="{FF2B5EF4-FFF2-40B4-BE49-F238E27FC236}">
                <a16:creationId xmlns:a16="http://schemas.microsoft.com/office/drawing/2014/main" xmlns="" id="{6A8BC004-C717-46FF-BB7B-44F2626698D6}"/>
              </a:ext>
            </a:extLst>
          </p:cNvPr>
          <p:cNvSpPr/>
          <p:nvPr/>
        </p:nvSpPr>
        <p:spPr>
          <a:xfrm>
            <a:off x="5712311" y="5411096"/>
            <a:ext cx="6357769" cy="646331"/>
          </a:xfrm>
          <a:prstGeom prst="rect">
            <a:avLst/>
          </a:prstGeom>
        </p:spPr>
        <p:txBody>
          <a:bodyPr wrap="square">
            <a:spAutoFit/>
          </a:bodyPr>
          <a:lstStyle/>
          <a:p>
            <a:r>
              <a:rPr lang="en-US" altLang="zh-TW" dirty="0"/>
              <a:t>The average accuracies across all the tested diseases at different top k</a:t>
            </a:r>
            <a:endParaRPr lang="zh-TW" altLang="en-US" dirty="0"/>
          </a:p>
        </p:txBody>
      </p:sp>
      <p:sp>
        <p:nvSpPr>
          <p:cNvPr id="11" name="矩形 10">
            <a:extLst>
              <a:ext uri="{FF2B5EF4-FFF2-40B4-BE49-F238E27FC236}">
                <a16:creationId xmlns:a16="http://schemas.microsoft.com/office/drawing/2014/main" xmlns="" id="{01AC04B3-CD1F-4F31-AA24-F18CC9647C31}"/>
              </a:ext>
            </a:extLst>
          </p:cNvPr>
          <p:cNvSpPr/>
          <p:nvPr/>
        </p:nvSpPr>
        <p:spPr>
          <a:xfrm>
            <a:off x="227704" y="5548152"/>
            <a:ext cx="5132713" cy="923330"/>
          </a:xfrm>
          <a:prstGeom prst="rect">
            <a:avLst/>
          </a:prstGeom>
        </p:spPr>
        <p:txBody>
          <a:bodyPr wrap="square">
            <a:spAutoFit/>
          </a:bodyPr>
          <a:lstStyle/>
          <a:p>
            <a:r>
              <a:rPr lang="en-US" altLang="zh-TW" dirty="0"/>
              <a:t>Prediction results of </a:t>
            </a:r>
            <a:r>
              <a:rPr lang="en-US" altLang="zh-TW" dirty="0" err="1"/>
              <a:t>DMPred</a:t>
            </a:r>
            <a:r>
              <a:rPr lang="en-US" altLang="zh-TW" dirty="0"/>
              <a:t> and the other methods for the diseases whose respective associations were removed</a:t>
            </a:r>
            <a:endParaRPr lang="zh-TW" altLang="en-US" dirty="0"/>
          </a:p>
        </p:txBody>
      </p:sp>
    </p:spTree>
    <p:extLst>
      <p:ext uri="{BB962C8B-B14F-4D97-AF65-F5344CB8AC3E}">
        <p14:creationId xmlns:p14="http://schemas.microsoft.com/office/powerpoint/2010/main" val="364374298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7020</TotalTime>
  <Words>630</Words>
  <Application>Microsoft Office PowerPoint</Application>
  <PresentationFormat>寬螢幕</PresentationFormat>
  <Paragraphs>51</Paragraphs>
  <Slides>15</Slides>
  <Notes>8</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15</vt:i4>
      </vt:variant>
    </vt:vector>
  </HeadingPairs>
  <TitlesOfParts>
    <vt:vector size="22" baseType="lpstr">
      <vt:lpstr>新細明體</vt:lpstr>
      <vt:lpstr>標楷體</vt:lpstr>
      <vt:lpstr>Arial</vt:lpstr>
      <vt:lpstr>Calibri</vt:lpstr>
      <vt:lpstr>Calibri Light</vt:lpstr>
      <vt:lpstr>Times New Roman</vt:lpstr>
      <vt:lpstr>Office 佈景主題</vt:lpstr>
      <vt:lpstr>A non-negative matrix factorization based method for predicting disease-associated miRNAs in miRNA-disease bilayer network</vt:lpstr>
      <vt:lpstr>Abstract (1/2)</vt:lpstr>
      <vt:lpstr>Abstract (2/2)</vt:lpstr>
      <vt:lpstr>Disease similarity measurement</vt:lpstr>
      <vt:lpstr>Disease similarity measurement</vt:lpstr>
      <vt:lpstr>MiRNA similarity measurement</vt:lpstr>
      <vt:lpstr>Construction of miRNA-disease bilayer network</vt:lpstr>
      <vt:lpstr>Construction of miRNA-disease bilayer network</vt:lpstr>
      <vt:lpstr>Construction of miRNA-disease bilayer network</vt:lpstr>
      <vt:lpstr>Construction of miRNA-disease bilayer network</vt:lpstr>
      <vt:lpstr>Modelling the edges between MiRNet and DisNet</vt:lpstr>
      <vt:lpstr>Non-negative matrix factorization</vt:lpstr>
      <vt:lpstr>Algorithm for predicting the miRNA candidates associated with diseases</vt:lpstr>
      <vt:lpstr>Results</vt:lpstr>
      <vt:lpstr>Results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pplab-class</cp:lastModifiedBy>
  <cp:revision>1214</cp:revision>
  <dcterms:created xsi:type="dcterms:W3CDTF">2018-10-30T09:09:31Z</dcterms:created>
  <dcterms:modified xsi:type="dcterms:W3CDTF">2019-08-27T12:06:24Z</dcterms:modified>
</cp:coreProperties>
</file>