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8" r:id="rId3"/>
    <p:sldId id="259" r:id="rId4"/>
    <p:sldId id="294" r:id="rId5"/>
    <p:sldId id="260" r:id="rId6"/>
    <p:sldId id="278" r:id="rId7"/>
    <p:sldId id="281" r:id="rId8"/>
    <p:sldId id="279" r:id="rId9"/>
    <p:sldId id="280" r:id="rId10"/>
    <p:sldId id="282" r:id="rId11"/>
    <p:sldId id="283" r:id="rId12"/>
    <p:sldId id="284" r:id="rId13"/>
    <p:sldId id="286" r:id="rId14"/>
    <p:sldId id="287" r:id="rId15"/>
    <p:sldId id="289" r:id="rId16"/>
    <p:sldId id="290" r:id="rId17"/>
    <p:sldId id="291" r:id="rId18"/>
    <p:sldId id="292" r:id="rId19"/>
    <p:sldId id="276" r:id="rId2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2019/12/24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全</a:t>
            </a:r>
            <a:r>
              <a:rPr lang="en-US" altLang="zh-TW" dirty="0" smtClean="0"/>
              <a:t>0 </a:t>
            </a:r>
            <a:r>
              <a:rPr lang="zh-TW" altLang="en-US" dirty="0" smtClean="0"/>
              <a:t>和全</a:t>
            </a:r>
            <a:r>
              <a:rPr lang="en-US" altLang="zh-TW" dirty="0" smtClean="0"/>
              <a:t>1</a:t>
            </a:r>
            <a:r>
              <a:rPr lang="zh-TW" altLang="en-US" dirty="0" smtClean="0"/>
              <a:t>就會停止了， 否則會一職</a:t>
            </a:r>
            <a:r>
              <a:rPr lang="en-US" altLang="zh-TW" baseline="0" dirty="0" smtClean="0"/>
              <a:t> recursive</a:t>
            </a:r>
            <a:r>
              <a:rPr lang="zh-TW" altLang="en-US" baseline="0" dirty="0" smtClean="0"/>
              <a:t>到 全部都只有</a:t>
            </a:r>
            <a:r>
              <a:rPr lang="en-US" altLang="zh-TW" baseline="0" dirty="0" smtClean="0"/>
              <a:t>1</a:t>
            </a:r>
            <a:r>
              <a:rPr lang="zh-TW" altLang="en-US" baseline="0" dirty="0" smtClean="0"/>
              <a:t>或</a:t>
            </a:r>
            <a:r>
              <a:rPr lang="en-US" altLang="zh-TW" baseline="0" dirty="0" smtClean="0"/>
              <a:t>0</a:t>
            </a:r>
            <a:endParaRPr lang="zh-TW" altLang="en-US" dirty="0"/>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10</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15</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2019/12/24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2019/12/24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8094122" cy="649317"/>
          </a:xfrm>
        </p:spPr>
        <p:txBody>
          <a:bodyPr>
            <a:noAutofit/>
          </a:bodyPr>
          <a:lstStyle/>
          <a:p>
            <a:r>
              <a:rPr lang="en-US" altLang="zh-TW" sz="3600" dirty="0" smtClean="0">
                <a:latin typeface="Times New Roman" pitchFamily="18" charset="0"/>
                <a:cs typeface="Times New Roman" pitchFamily="18" charset="0"/>
              </a:rPr>
              <a:t>A Lossless Image Compression Technique Using Generic Peano Pattern Mask Tree</a:t>
            </a:r>
            <a:endParaRPr lang="en-US" altLang="zh-TW" sz="3600" dirty="0">
              <a:latin typeface="Times New Roman" pitchFamily="18" charset="0"/>
              <a:cs typeface="Times New Roman" pitchFamily="18" charset="0"/>
            </a:endParaRP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smtClean="0">
                <a:solidFill>
                  <a:schemeClr val="tx1"/>
                </a:solidFill>
                <a:latin typeface="Times New Roman" pitchFamily="18" charset="0"/>
                <a:cs typeface="Times New Roman" pitchFamily="18" charset="0"/>
              </a:rPr>
              <a:t>Mohammad </a:t>
            </a:r>
            <a:r>
              <a:rPr lang="en-US" altLang="zh-TW" sz="2000" dirty="0" err="1" smtClean="0">
                <a:solidFill>
                  <a:schemeClr val="tx1"/>
                </a:solidFill>
                <a:latin typeface="Times New Roman" pitchFamily="18" charset="0"/>
                <a:cs typeface="Times New Roman" pitchFamily="18" charset="0"/>
              </a:rPr>
              <a:t>Kabir</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Hossain</a:t>
            </a:r>
            <a:r>
              <a:rPr lang="en-US" altLang="zh-TW" sz="2000" dirty="0" smtClean="0">
                <a:solidFill>
                  <a:schemeClr val="tx1"/>
                </a:solidFill>
                <a:latin typeface="Times New Roman" pitchFamily="18" charset="0"/>
                <a:cs typeface="Times New Roman" pitchFamily="18" charset="0"/>
              </a:rPr>
              <a:t>, Shams </a:t>
            </a:r>
            <a:r>
              <a:rPr lang="en-US" altLang="zh-TW" sz="2000" dirty="0" err="1" smtClean="0">
                <a:solidFill>
                  <a:schemeClr val="tx1"/>
                </a:solidFill>
                <a:latin typeface="Times New Roman" pitchFamily="18" charset="0"/>
                <a:cs typeface="Times New Roman" pitchFamily="18" charset="0"/>
              </a:rPr>
              <a:t>MImam</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Khondker</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Shajadul</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Hasan</a:t>
            </a:r>
            <a:r>
              <a:rPr lang="en-US" altLang="zh-TW" sz="2000" dirty="0" smtClean="0">
                <a:solidFill>
                  <a:schemeClr val="tx1"/>
                </a:solidFill>
                <a:latin typeface="Times New Roman" pitchFamily="18" charset="0"/>
                <a:cs typeface="Times New Roman" pitchFamily="18" charset="0"/>
              </a:rPr>
              <a:t> , William </a:t>
            </a:r>
            <a:r>
              <a:rPr lang="en-US" altLang="zh-TW" sz="2000" dirty="0" err="1" smtClean="0">
                <a:solidFill>
                  <a:schemeClr val="tx1"/>
                </a:solidFill>
                <a:latin typeface="Times New Roman" pitchFamily="18" charset="0"/>
                <a:cs typeface="Times New Roman" pitchFamily="18" charset="0"/>
              </a:rPr>
              <a:t>Perrizo</a:t>
            </a:r>
            <a:endParaRPr lang="en-US" altLang="zh-TW" sz="2000" dirty="0">
              <a:solidFill>
                <a:schemeClr val="tx1"/>
              </a:solidFill>
              <a:latin typeface="Times New Roman" pitchFamily="18" charset="0"/>
              <a:cs typeface="Times New Roman" pitchFamily="18" charset="0"/>
            </a:endParaRPr>
          </a:p>
          <a:p>
            <a:pPr fontAlgn="ctr"/>
            <a:endParaRPr lang="en-US" altLang="zh-TW" dirty="0">
              <a:solidFill>
                <a:schemeClr val="tx1"/>
              </a:solidFill>
              <a:latin typeface="Times New Roman" pitchFamily="18" charset="0"/>
              <a:cs typeface="Times New Roman" pitchFamily="18" charset="0"/>
            </a:endParaRPr>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536897" y="3873343"/>
            <a:ext cx="7644592" cy="1538883"/>
          </a:xfrm>
          <a:prstGeom prst="rect">
            <a:avLst/>
          </a:prstGeom>
          <a:noFill/>
        </p:spPr>
        <p:txBody>
          <a:bodyPr wrap="none" rtlCol="0">
            <a:spAutoFit/>
          </a:bodyPr>
          <a:lstStyle/>
          <a:p>
            <a:pPr algn="ctr"/>
            <a:r>
              <a:rPr lang="en-US" altLang="zh-TW" sz="2400" dirty="0" smtClean="0">
                <a:latin typeface="Times New Roman" pitchFamily="18" charset="0"/>
                <a:cs typeface="Times New Roman" pitchFamily="18" charset="0"/>
              </a:rPr>
              <a:t>Proceedings of 11th International Conference on Computer </a:t>
            </a:r>
          </a:p>
          <a:p>
            <a:pPr algn="ctr"/>
            <a:r>
              <a:rPr lang="en-US" altLang="zh-TW" sz="2400" dirty="0" smtClean="0">
                <a:latin typeface="Times New Roman" pitchFamily="18" charset="0"/>
                <a:cs typeface="Times New Roman" pitchFamily="18" charset="0"/>
              </a:rPr>
              <a:t>and Information Technology (ICCIT 2008)</a:t>
            </a:r>
            <a:endParaRPr lang="en-US" sz="2400" dirty="0" smtClean="0">
              <a:latin typeface="Times New Roman" pitchFamily="18" charset="0"/>
              <a:cs typeface="Times New Roman" pitchFamily="18" charset="0"/>
            </a:endParaRPr>
          </a:p>
          <a:p>
            <a:pPr algn="ctr"/>
            <a:r>
              <a:rPr lang="en-US" altLang="zh-TW" sz="2400" dirty="0" smtClean="0">
                <a:latin typeface="Times New Roman" pitchFamily="18" charset="0"/>
                <a:cs typeface="Times New Roman" pitchFamily="18" charset="0"/>
              </a:rPr>
              <a:t>Bangladesh, Khulna, 25-27 December, 2008</a:t>
            </a:r>
            <a:endParaRPr lang="en-US" sz="2400" dirty="0" smtClean="0">
              <a:latin typeface="Times New Roman" pitchFamily="18" charset="0"/>
              <a:cs typeface="Times New Roman" pitchFamily="18" charset="0"/>
            </a:endParaRPr>
          </a:p>
          <a:p>
            <a:pPr algn="ctr"/>
            <a:endParaRPr lang="en-US" altLang="zh-TW" sz="2200" dirty="0">
              <a:latin typeface="Times New Roman" pitchFamily="18" charset="0"/>
              <a:cs typeface="Times New Roman" pitchFamily="18" charset="0"/>
            </a:endParaRP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653290"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Dec. 24, </a:t>
            </a:r>
            <a:r>
              <a:rPr lang="en-US" altLang="zh-TW" dirty="0"/>
              <a:t>2019</a:t>
            </a:r>
            <a:endParaRPr lang="zh-TW" altLang="en-US" dirty="0"/>
          </a:p>
        </p:txBody>
      </p:sp>
    </p:spTree>
    <p:extLst>
      <p:ext uri="{BB962C8B-B14F-4D97-AF65-F5344CB8AC3E}">
        <p14:creationId xmlns=""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07504" y="1124744"/>
            <a:ext cx="9036496" cy="5347657"/>
          </a:xfrm>
        </p:spPr>
        <p:txBody>
          <a:bodyPr>
            <a:noAutofit/>
          </a:bodyPr>
          <a:lstStyle/>
          <a:p>
            <a:pPr>
              <a:buNone/>
            </a:pPr>
            <a:r>
              <a:rPr lang="en-US" altLang="zh-TW" sz="2800" dirty="0" smtClean="0">
                <a:latin typeface="Times New Roman" pitchFamily="18" charset="0"/>
                <a:cs typeface="Times New Roman" pitchFamily="18" charset="0"/>
              </a:rPr>
              <a:t>	Digital Image processing has become ubiquitous in our daily life and the demands to produce and process images are ever increasing. Large amounts of space are required to store these images. Image compression techniques are in high demand as they allow reduction in this storage space. The basis for image compression, as is for most other compression techniques, is to remove redundant and unimportant data. Lossless image compression techniques retain the original information in compact form and do not introduce any errors when decompressed.</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774493"/>
            <a:ext cx="9004993" cy="5246795"/>
          </a:xfrm>
        </p:spPr>
        <p:txBody>
          <a:bodyPr>
            <a:noAutofit/>
          </a:bodyPr>
          <a:lstStyle/>
          <a:p>
            <a:pPr>
              <a:buNone/>
            </a:pPr>
            <a:endParaRPr lang="en-US" altLang="zh-TW" sz="2800" dirty="0" smtClean="0">
              <a:latin typeface="Times New Roman" pitchFamily="18" charset="0"/>
              <a:cs typeface="Times New Roman" pitchFamily="18" charset="0"/>
            </a:endParaRPr>
          </a:p>
          <a:p>
            <a:pPr>
              <a:buNone/>
            </a:pPr>
            <a:r>
              <a:rPr lang="en-US" altLang="zh-TW" sz="2800" dirty="0" smtClean="0">
                <a:latin typeface="Times New Roman" pitchFamily="18" charset="0"/>
                <a:cs typeface="Times New Roman" pitchFamily="18" charset="0"/>
              </a:rPr>
              <a:t>	In this paper, we discuss such a lossless technique using a data structure that we name "Generic Peano Pattern Mask Tree". It is an improvement over a previously discussed Lossless Image compression technique - "</a:t>
            </a:r>
            <a:r>
              <a:rPr lang="en-US" altLang="zh-TW" sz="2800" dirty="0" err="1" smtClean="0">
                <a:latin typeface="Times New Roman" pitchFamily="18" charset="0"/>
                <a:cs typeface="Times New Roman" pitchFamily="18" charset="0"/>
              </a:rPr>
              <a:t>Peano</a:t>
            </a:r>
            <a:r>
              <a:rPr lang="en-US" altLang="zh-TW" sz="2800" dirty="0" smtClean="0">
                <a:latin typeface="Times New Roman" pitchFamily="18" charset="0"/>
                <a:cs typeface="Times New Roman" pitchFamily="18" charset="0"/>
              </a:rPr>
              <a:t> Pattern Mask Tree". Both these structures are based on the data structure - </a:t>
            </a:r>
            <a:r>
              <a:rPr lang="en-US" altLang="zh-TW" sz="2800" dirty="0" err="1" smtClean="0">
                <a:latin typeface="Times New Roman" pitchFamily="18" charset="0"/>
                <a:cs typeface="Times New Roman" pitchFamily="18" charset="0"/>
              </a:rPr>
              <a:t>Peano</a:t>
            </a:r>
            <a:r>
              <a:rPr lang="en-US" altLang="zh-TW" sz="2800" dirty="0" smtClean="0">
                <a:latin typeface="Times New Roman" pitchFamily="18" charset="0"/>
                <a:cs typeface="Times New Roman" pitchFamily="18" charset="0"/>
              </a:rPr>
              <a:t> Mask Tree.</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pPr marL="971550" lvl="1" indent="-514350">
              <a:buNone/>
            </a:pPr>
            <a:r>
              <a:rPr lang="en-US" altLang="zh-TW" dirty="0" smtClean="0">
                <a:latin typeface="Times New Roman" pitchFamily="18" charset="0"/>
                <a:cs typeface="Times New Roman" pitchFamily="18" charset="0"/>
              </a:rPr>
              <a:t>1. </a:t>
            </a:r>
            <a:r>
              <a:rPr lang="en-US" altLang="zh-TW" dirty="0" err="1" smtClean="0">
                <a:latin typeface="Times New Roman" pitchFamily="18" charset="0"/>
                <a:cs typeface="Times New Roman" pitchFamily="18" charset="0"/>
              </a:rPr>
              <a:t>Peano</a:t>
            </a:r>
            <a:r>
              <a:rPr lang="en-US" altLang="zh-TW" dirty="0" smtClean="0">
                <a:latin typeface="Times New Roman" pitchFamily="18" charset="0"/>
                <a:cs typeface="Times New Roman" pitchFamily="18" charset="0"/>
              </a:rPr>
              <a:t> Count Tree (P-tree)</a:t>
            </a:r>
          </a:p>
          <a:p>
            <a:pPr marL="971550" lvl="1" indent="-514350">
              <a:buAutoNum type="arabicPeriod"/>
            </a:pPr>
            <a:endParaRPr lang="en-US" altLang="zh-TW" dirty="0" smtClean="0">
              <a:latin typeface="Times New Roman" pitchFamily="18" charset="0"/>
              <a:cs typeface="Times New Roman" pitchFamily="18" charset="0"/>
            </a:endParaRPr>
          </a:p>
          <a:p>
            <a:pPr lvl="1">
              <a:buNone/>
            </a:pPr>
            <a:r>
              <a:rPr lang="en-US" altLang="zh-TW" dirty="0" smtClean="0">
                <a:latin typeface="Times New Roman" pitchFamily="18" charset="0"/>
                <a:cs typeface="Times New Roman" pitchFamily="18" charset="0"/>
              </a:rPr>
              <a:t>2. </a:t>
            </a:r>
            <a:r>
              <a:rPr lang="en-US" altLang="zh-TW" dirty="0" err="1" smtClean="0">
                <a:latin typeface="Times New Roman" pitchFamily="18" charset="0"/>
                <a:cs typeface="Times New Roman" pitchFamily="18" charset="0"/>
              </a:rPr>
              <a:t>Peano</a:t>
            </a:r>
            <a:r>
              <a:rPr lang="en-US" altLang="zh-TW" dirty="0" smtClean="0">
                <a:latin typeface="Times New Roman" pitchFamily="18" charset="0"/>
                <a:cs typeface="Times New Roman" pitchFamily="18" charset="0"/>
              </a:rPr>
              <a:t> Mask Tree (PM-tree)</a:t>
            </a:r>
          </a:p>
          <a:p>
            <a:pPr lvl="1">
              <a:buNone/>
            </a:pPr>
            <a:endParaRPr lang="en-US" altLang="zh-TW" dirty="0" smtClean="0">
              <a:latin typeface="Times New Roman" pitchFamily="18" charset="0"/>
              <a:cs typeface="Times New Roman" pitchFamily="18" charset="0"/>
            </a:endParaRPr>
          </a:p>
          <a:p>
            <a:pPr lvl="1">
              <a:buNone/>
            </a:pPr>
            <a:r>
              <a:rPr lang="en-US" altLang="zh-TW" dirty="0" smtClean="0">
                <a:latin typeface="Times New Roman" pitchFamily="18" charset="0"/>
                <a:cs typeface="Times New Roman" pitchFamily="18" charset="0"/>
              </a:rPr>
              <a:t>3. </a:t>
            </a:r>
            <a:r>
              <a:rPr lang="en-US" altLang="zh-TW" dirty="0" err="1" smtClean="0">
                <a:latin typeface="Times New Roman" pitchFamily="18" charset="0"/>
                <a:cs typeface="Times New Roman" pitchFamily="18" charset="0"/>
              </a:rPr>
              <a:t>Peano</a:t>
            </a:r>
            <a:r>
              <a:rPr lang="en-US" altLang="zh-TW" dirty="0" smtClean="0">
                <a:latin typeface="Times New Roman" pitchFamily="18" charset="0"/>
                <a:cs typeface="Times New Roman" pitchFamily="18" charset="0"/>
              </a:rPr>
              <a:t> Pattern Mask Tree (PPM-tree)</a:t>
            </a:r>
          </a:p>
          <a:p>
            <a:pPr lvl="1">
              <a:buNone/>
            </a:pPr>
            <a:endParaRPr lang="en-US" altLang="zh-TW" dirty="0" smtClean="0">
              <a:latin typeface="Times New Roman" pitchFamily="18" charset="0"/>
              <a:cs typeface="Times New Roman" pitchFamily="18" charset="0"/>
            </a:endParaRPr>
          </a:p>
          <a:p>
            <a:pPr lvl="1">
              <a:buNone/>
            </a:pPr>
            <a:r>
              <a:rPr lang="en-US" altLang="zh-TW" dirty="0" smtClean="0">
                <a:latin typeface="Times New Roman" pitchFamily="18" charset="0"/>
                <a:cs typeface="Times New Roman" pitchFamily="18" charset="0"/>
              </a:rPr>
              <a:t>4. Generic </a:t>
            </a:r>
            <a:r>
              <a:rPr lang="en-US" altLang="zh-TW" dirty="0" err="1" smtClean="0">
                <a:latin typeface="Times New Roman" pitchFamily="18" charset="0"/>
                <a:cs typeface="Times New Roman" pitchFamily="18" charset="0"/>
              </a:rPr>
              <a:t>Peano</a:t>
            </a:r>
            <a:r>
              <a:rPr lang="en-US" altLang="zh-TW" dirty="0" smtClean="0">
                <a:latin typeface="Times New Roman" pitchFamily="18" charset="0"/>
                <a:cs typeface="Times New Roman" pitchFamily="18" charset="0"/>
              </a:rPr>
              <a:t> Pattern Mask Tree (GPPM-tree)</a:t>
            </a:r>
            <a:endParaRPr lang="en-US" altLang="zh-TW" dirty="0" smtClean="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Peano Count Tree(P-tree): </a:t>
            </a:r>
          </a:p>
          <a:p>
            <a:pPr>
              <a:buNone/>
            </a:pPr>
            <a:endParaRPr lang="en-US" altLang="zh-TW" dirty="0">
              <a:latin typeface="Times New Roman" pitchFamily="18" charset="0"/>
              <a:cs typeface="Times New Roman" pitchFamily="18" charset="0"/>
            </a:endParaRPr>
          </a:p>
          <a:p>
            <a:pPr>
              <a:buNone/>
            </a:pPr>
            <a:r>
              <a:rPr lang="en-US" altLang="zh-TW" dirty="0" smtClean="0">
                <a:latin typeface="Times New Roman" pitchFamily="18" charset="0"/>
                <a:cs typeface="Times New Roman" pitchFamily="18" charset="0"/>
              </a:rPr>
              <a:t>Peano Count Tree (P-tree) is a lossless, </a:t>
            </a:r>
            <a:r>
              <a:rPr lang="en-US" altLang="zh-TW" dirty="0" err="1" smtClean="0">
                <a:latin typeface="Times New Roman" pitchFamily="18" charset="0"/>
                <a:cs typeface="Times New Roman" pitchFamily="18" charset="0"/>
              </a:rPr>
              <a:t>compressed,and</a:t>
            </a:r>
            <a:r>
              <a:rPr lang="en-US" altLang="zh-TW" dirty="0" smtClean="0">
                <a:latin typeface="Times New Roman" pitchFamily="18" charset="0"/>
                <a:cs typeface="Times New Roman" pitchFamily="18" charset="0"/>
              </a:rPr>
              <a:t> data-mining ready data structure.</a:t>
            </a:r>
          </a:p>
          <a:p>
            <a:pPr lvl="1">
              <a:buNone/>
            </a:pPr>
            <a:endParaRPr lang="en-US" altLang="zh-TW" dirty="0" smtClean="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lnSpcReduction="10000"/>
          </a:bodyPr>
          <a:lstStyle/>
          <a:p>
            <a:r>
              <a:rPr lang="en-US" altLang="zh-TW" dirty="0" smtClean="0">
                <a:latin typeface="Times New Roman" pitchFamily="18" charset="0"/>
                <a:cs typeface="Times New Roman" pitchFamily="18" charset="0"/>
              </a:rPr>
              <a:t>Peano Count Tree(P-tree): </a:t>
            </a:r>
          </a:p>
          <a:p>
            <a:pPr algn="dist">
              <a:buNone/>
            </a:pPr>
            <a:r>
              <a:rPr lang="en-US" altLang="zh-TW" dirty="0" smtClean="0">
                <a:latin typeface="Times New Roman" pitchFamily="18" charset="0"/>
                <a:cs typeface="Times New Roman" pitchFamily="18" charset="0"/>
              </a:rPr>
              <a:t>	11001011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01001001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lnSpcReduction="10000"/>
          </a:bodyPr>
          <a:lstStyle/>
          <a:p>
            <a:r>
              <a:rPr lang="en-US" altLang="zh-TW" dirty="0" smtClean="0">
                <a:latin typeface="Times New Roman" pitchFamily="18" charset="0"/>
                <a:cs typeface="Times New Roman" pitchFamily="18" charset="0"/>
              </a:rPr>
              <a:t>Peano Count Tree(P-tree): </a:t>
            </a:r>
          </a:p>
          <a:p>
            <a:pPr algn="dist">
              <a:buNone/>
            </a:pPr>
            <a:r>
              <a:rPr lang="en-US" altLang="zh-TW" dirty="0" smtClean="0">
                <a:latin typeface="Times New Roman" pitchFamily="18" charset="0"/>
                <a:cs typeface="Times New Roman" pitchFamily="18" charset="0"/>
              </a:rPr>
              <a:t>	11001011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01001001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11110110</a:t>
            </a:r>
          </a:p>
        </p:txBody>
      </p:sp>
      <p:cxnSp>
        <p:nvCxnSpPr>
          <p:cNvPr id="6" name="直線接點 5"/>
          <p:cNvCxnSpPr/>
          <p:nvPr/>
        </p:nvCxnSpPr>
        <p:spPr>
          <a:xfrm>
            <a:off x="4716016" y="2060848"/>
            <a:ext cx="0" cy="4104456"/>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457200" y="3933056"/>
            <a:ext cx="82296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lnSpcReduction="10000"/>
          </a:bodyPr>
          <a:lstStyle/>
          <a:p>
            <a:r>
              <a:rPr lang="en-US" altLang="zh-TW" dirty="0" smtClean="0">
                <a:latin typeface="Times New Roman" pitchFamily="18" charset="0"/>
                <a:cs typeface="Times New Roman" pitchFamily="18" charset="0"/>
              </a:rPr>
              <a:t>Peano Count Tree(P-tree): </a:t>
            </a:r>
          </a:p>
          <a:p>
            <a:pPr algn="dist">
              <a:buNone/>
            </a:pPr>
            <a:r>
              <a:rPr lang="en-US" altLang="zh-TW" dirty="0" smtClean="0">
                <a:latin typeface="Times New Roman" pitchFamily="18" charset="0"/>
                <a:cs typeface="Times New Roman" pitchFamily="18" charset="0"/>
              </a:rPr>
              <a:t>	11001011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01001001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11110110</a:t>
            </a:r>
          </a:p>
        </p:txBody>
      </p:sp>
      <p:cxnSp>
        <p:nvCxnSpPr>
          <p:cNvPr id="6" name="直線接點 5"/>
          <p:cNvCxnSpPr/>
          <p:nvPr/>
        </p:nvCxnSpPr>
        <p:spPr>
          <a:xfrm>
            <a:off x="4716016" y="2060848"/>
            <a:ext cx="0" cy="4104456"/>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457200" y="3933056"/>
            <a:ext cx="82296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V="1">
            <a:off x="2627784" y="2060848"/>
            <a:ext cx="0" cy="18002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H="1">
            <a:off x="611560" y="3068960"/>
            <a:ext cx="3816424"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lnSpcReduction="10000"/>
          </a:bodyPr>
          <a:lstStyle/>
          <a:p>
            <a:r>
              <a:rPr lang="en-US" altLang="zh-TW" dirty="0" smtClean="0">
                <a:latin typeface="Times New Roman" pitchFamily="18" charset="0"/>
                <a:cs typeface="Times New Roman" pitchFamily="18" charset="0"/>
              </a:rPr>
              <a:t>Peano Count Tree(P-tree): </a:t>
            </a:r>
          </a:p>
          <a:p>
            <a:pPr algn="dist">
              <a:buNone/>
            </a:pPr>
            <a:r>
              <a:rPr lang="en-US" altLang="zh-TW" dirty="0" smtClean="0">
                <a:latin typeface="Times New Roman" pitchFamily="18" charset="0"/>
                <a:cs typeface="Times New Roman" pitchFamily="18" charset="0"/>
              </a:rPr>
              <a:t>	11001011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01001001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01111010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11110111</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11111110</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11110110</a:t>
            </a:r>
          </a:p>
        </p:txBody>
      </p:sp>
      <p:cxnSp>
        <p:nvCxnSpPr>
          <p:cNvPr id="6" name="直線接點 5"/>
          <p:cNvCxnSpPr/>
          <p:nvPr/>
        </p:nvCxnSpPr>
        <p:spPr>
          <a:xfrm>
            <a:off x="4716016" y="2060848"/>
            <a:ext cx="0" cy="4104456"/>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457200" y="3933056"/>
            <a:ext cx="82296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V="1">
            <a:off x="2627784" y="2060848"/>
            <a:ext cx="0" cy="18002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H="1">
            <a:off x="611560" y="3068960"/>
            <a:ext cx="3816424"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1187624" y="2348880"/>
            <a:ext cx="6480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H="1">
            <a:off x="1187624" y="2348880"/>
            <a:ext cx="648072"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1187624" y="2852936"/>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Peano Count Tree(P-tree): </a:t>
            </a:r>
          </a:p>
          <a:p>
            <a:pPr lvl="1">
              <a:buNone/>
            </a:pPr>
            <a:endParaRPr lang="en-US" altLang="zh-TW" dirty="0" smtClean="0">
              <a:latin typeface="Times New Roman" pitchFamily="18" charset="0"/>
              <a:cs typeface="Times New Roman" pitchFamily="18" charset="0"/>
            </a:endParaRPr>
          </a:p>
        </p:txBody>
      </p:sp>
      <p:pic>
        <p:nvPicPr>
          <p:cNvPr id="4" name="圖片 3" descr="1224-1.PNG"/>
          <p:cNvPicPr>
            <a:picLocks noChangeAspect="1"/>
          </p:cNvPicPr>
          <p:nvPr/>
        </p:nvPicPr>
        <p:blipFill>
          <a:blip r:embed="rId3" cstate="print"/>
          <a:stretch>
            <a:fillRect/>
          </a:stretch>
        </p:blipFill>
        <p:spPr>
          <a:xfrm>
            <a:off x="36512" y="2420888"/>
            <a:ext cx="9144000" cy="29993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Peano Mask Tree(PM-tree): </a:t>
            </a:r>
          </a:p>
          <a:p>
            <a:pPr lvl="1">
              <a:buNone/>
            </a:pPr>
            <a:r>
              <a:rPr lang="en-US" altLang="zh-TW" dirty="0" smtClean="0">
                <a:latin typeface="Times New Roman" pitchFamily="18" charset="0"/>
                <a:cs typeface="Times New Roman" pitchFamily="18" charset="0"/>
              </a:rPr>
              <a:t>It use three value logic to represent pure-1,pure-0 and mix</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Peano Mask Tree(PM-tree): </a:t>
            </a:r>
          </a:p>
          <a:p>
            <a:pPr lvl="1">
              <a:buNone/>
            </a:pPr>
            <a:endParaRPr lang="en-US" altLang="zh-TW" dirty="0" smtClean="0">
              <a:latin typeface="Times New Roman" pitchFamily="18" charset="0"/>
              <a:cs typeface="Times New Roman" pitchFamily="18" charset="0"/>
            </a:endParaRPr>
          </a:p>
        </p:txBody>
      </p:sp>
      <p:pic>
        <p:nvPicPr>
          <p:cNvPr id="5" name="圖片 4" descr="1224-2.PNG"/>
          <p:cNvPicPr>
            <a:picLocks noChangeAspect="1"/>
          </p:cNvPicPr>
          <p:nvPr/>
        </p:nvPicPr>
        <p:blipFill>
          <a:blip r:embed="rId2" cstate="print"/>
          <a:stretch>
            <a:fillRect/>
          </a:stretch>
        </p:blipFill>
        <p:spPr>
          <a:xfrm>
            <a:off x="0" y="2564904"/>
            <a:ext cx="9144000" cy="282504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Peano Pattern Mask Tree(PPM-tree): </a:t>
            </a:r>
          </a:p>
          <a:p>
            <a:pPr lvl="1">
              <a:buNone/>
            </a:pPr>
            <a:endParaRPr lang="en-US" altLang="zh-TW" dirty="0" smtClean="0">
              <a:latin typeface="Times New Roman" pitchFamily="18" charset="0"/>
              <a:cs typeface="Times New Roman" pitchFamily="18" charset="0"/>
            </a:endParaRPr>
          </a:p>
        </p:txBody>
      </p:sp>
      <p:pic>
        <p:nvPicPr>
          <p:cNvPr id="6" name="圖片 5" descr="1224-3.PNG"/>
          <p:cNvPicPr>
            <a:picLocks noChangeAspect="1"/>
          </p:cNvPicPr>
          <p:nvPr/>
        </p:nvPicPr>
        <p:blipFill>
          <a:blip r:embed="rId2" cstate="print"/>
          <a:stretch>
            <a:fillRect/>
          </a:stretch>
        </p:blipFill>
        <p:spPr>
          <a:xfrm>
            <a:off x="0" y="2400923"/>
            <a:ext cx="9144000" cy="3188317"/>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Disadvantage of PPM-Tree:</a:t>
            </a:r>
          </a:p>
          <a:p>
            <a:pPr marL="514350" indent="-514350">
              <a:buFont typeface="+mj-lt"/>
              <a:buAutoNum type="arabicPeriod"/>
            </a:pPr>
            <a:r>
              <a:rPr lang="en-US" altLang="zh-TW" dirty="0" smtClean="0">
                <a:latin typeface="Times New Roman" pitchFamily="18" charset="0"/>
                <a:cs typeface="Times New Roman" pitchFamily="18" charset="0"/>
              </a:rPr>
              <a:t>Pure-0 and pure-1 are rare.</a:t>
            </a:r>
          </a:p>
          <a:p>
            <a:pPr marL="514350" indent="-514350">
              <a:buFont typeface="+mj-lt"/>
              <a:buAutoNum type="arabicPeriod"/>
            </a:pPr>
            <a:r>
              <a:rPr lang="en-US" altLang="zh-TW" dirty="0" smtClean="0">
                <a:latin typeface="Times New Roman" pitchFamily="18" charset="0"/>
                <a:cs typeface="Times New Roman" pitchFamily="18" charset="0"/>
              </a:rPr>
              <a:t>Image share the same bit values with a low probability</a:t>
            </a:r>
          </a:p>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Generic Peano Pattern Mask Tree(GPPM-tree): </a:t>
            </a:r>
          </a:p>
          <a:p>
            <a:pPr lvl="1">
              <a:buNone/>
            </a:pPr>
            <a:endParaRPr lang="en-US" altLang="zh-TW" dirty="0" smtClean="0">
              <a:latin typeface="Times New Roman" pitchFamily="18" charset="0"/>
              <a:cs typeface="Times New Roman" pitchFamily="18" charset="0"/>
            </a:endParaRPr>
          </a:p>
        </p:txBody>
      </p:sp>
      <p:pic>
        <p:nvPicPr>
          <p:cNvPr id="5" name="圖片 4" descr="1224-5.PNG"/>
          <p:cNvPicPr>
            <a:picLocks noChangeAspect="1"/>
          </p:cNvPicPr>
          <p:nvPr/>
        </p:nvPicPr>
        <p:blipFill>
          <a:blip r:embed="rId3" cstate="print"/>
          <a:stretch>
            <a:fillRect/>
          </a:stretch>
        </p:blipFill>
        <p:spPr>
          <a:xfrm>
            <a:off x="-26417" y="2708920"/>
            <a:ext cx="3734321" cy="1829055"/>
          </a:xfrm>
          <a:prstGeom prst="rect">
            <a:avLst/>
          </a:prstGeom>
        </p:spPr>
      </p:pic>
      <p:pic>
        <p:nvPicPr>
          <p:cNvPr id="7" name="圖片 6" descr="1224-6.PNG"/>
          <p:cNvPicPr>
            <a:picLocks noChangeAspect="1"/>
          </p:cNvPicPr>
          <p:nvPr/>
        </p:nvPicPr>
        <p:blipFill>
          <a:blip r:embed="rId4" cstate="print"/>
          <a:stretch>
            <a:fillRect/>
          </a:stretch>
        </p:blipFill>
        <p:spPr>
          <a:xfrm>
            <a:off x="3563888" y="2708920"/>
            <a:ext cx="5591956" cy="3191321"/>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Structure of GPPM-tree</a:t>
            </a:r>
            <a:endParaRPr lang="zh-TW" altLang="en-US" dirty="0">
              <a:latin typeface="Times New Roman" pitchFamily="18" charset="0"/>
              <a:cs typeface="Times New Roman" pitchFamily="18" charset="0"/>
            </a:endParaRPr>
          </a:p>
        </p:txBody>
      </p:sp>
      <p:pic>
        <p:nvPicPr>
          <p:cNvPr id="6" name="內容版面配置區 5" descr="1224-8.PNG"/>
          <p:cNvPicPr>
            <a:picLocks noGrp="1" noChangeAspect="1"/>
          </p:cNvPicPr>
          <p:nvPr>
            <p:ph idx="1"/>
          </p:nvPr>
        </p:nvPicPr>
        <p:blipFill>
          <a:blip r:embed="rId2" cstate="print"/>
          <a:stretch>
            <a:fillRect/>
          </a:stretch>
        </p:blipFill>
        <p:spPr>
          <a:xfrm>
            <a:off x="827584" y="2060848"/>
            <a:ext cx="7092667" cy="3528392"/>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Compare of Compression</a:t>
            </a:r>
            <a:endParaRPr lang="zh-TW" altLang="en-US" dirty="0">
              <a:latin typeface="Times New Roman" pitchFamily="18" charset="0"/>
              <a:cs typeface="Times New Roman" pitchFamily="18" charset="0"/>
            </a:endParaRPr>
          </a:p>
        </p:txBody>
      </p:sp>
      <p:pic>
        <p:nvPicPr>
          <p:cNvPr id="5" name="內容版面配置區 4" descr="1224-9.PNG"/>
          <p:cNvPicPr>
            <a:picLocks noGrp="1" noChangeAspect="1"/>
          </p:cNvPicPr>
          <p:nvPr>
            <p:ph idx="1"/>
          </p:nvPr>
        </p:nvPicPr>
        <p:blipFill>
          <a:blip r:embed="rId2" cstate="print"/>
          <a:stretch>
            <a:fillRect/>
          </a:stretch>
        </p:blipFill>
        <p:spPr>
          <a:xfrm>
            <a:off x="467544" y="1772816"/>
            <a:ext cx="8397931" cy="3456384"/>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Structure of use in 24-BMP image</a:t>
            </a:r>
            <a:endParaRPr lang="zh-TW" altLang="en-US" dirty="0"/>
          </a:p>
        </p:txBody>
      </p:sp>
      <p:pic>
        <p:nvPicPr>
          <p:cNvPr id="4" name="內容版面配置區 3" descr="1224-7.PNG"/>
          <p:cNvPicPr>
            <a:picLocks noGrp="1" noChangeAspect="1"/>
          </p:cNvPicPr>
          <p:nvPr>
            <p:ph idx="1"/>
          </p:nvPr>
        </p:nvPicPr>
        <p:blipFill>
          <a:blip r:embed="rId2" cstate="print"/>
          <a:stretch>
            <a:fillRect/>
          </a:stretch>
        </p:blipFill>
        <p:spPr>
          <a:xfrm>
            <a:off x="1115616" y="1412776"/>
            <a:ext cx="7056784" cy="5149545"/>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t>Experiments</a:t>
            </a:r>
            <a:endParaRPr lang="zh-TW" altLang="en-US" dirty="0"/>
          </a:p>
        </p:txBody>
      </p:sp>
      <p:pic>
        <p:nvPicPr>
          <p:cNvPr id="6" name="內容版面配置區 5" descr="1224-10.PNG"/>
          <p:cNvPicPr>
            <a:picLocks noGrp="1" noChangeAspect="1"/>
          </p:cNvPicPr>
          <p:nvPr>
            <p:ph idx="1"/>
          </p:nvPr>
        </p:nvPicPr>
        <p:blipFill>
          <a:blip r:embed="rId2" cstate="print"/>
          <a:stretch>
            <a:fillRect/>
          </a:stretch>
        </p:blipFill>
        <p:spPr>
          <a:xfrm>
            <a:off x="1043608" y="1406889"/>
            <a:ext cx="7200800" cy="4902431"/>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TotalTime>
  <Words>237</Words>
  <Application>Microsoft Office PowerPoint</Application>
  <PresentationFormat>如螢幕大小 (4:3)</PresentationFormat>
  <Paragraphs>61</Paragraphs>
  <Slides>19</Slides>
  <Notes>5</Notes>
  <HiddenSlides>0</HiddenSlides>
  <MMClips>0</MMClips>
  <ScaleCrop>false</ScaleCrop>
  <HeadingPairs>
    <vt:vector size="4" baseType="variant">
      <vt:variant>
        <vt:lpstr>佈景主題</vt:lpstr>
      </vt:variant>
      <vt:variant>
        <vt:i4>1</vt:i4>
      </vt:variant>
      <vt:variant>
        <vt:lpstr>投影片標題</vt:lpstr>
      </vt:variant>
      <vt:variant>
        <vt:i4>19</vt:i4>
      </vt:variant>
    </vt:vector>
  </HeadingPairs>
  <TitlesOfParts>
    <vt:vector size="20" baseType="lpstr">
      <vt:lpstr>Office 佈景主題</vt:lpstr>
      <vt:lpstr>A Lossless Image Compression Technique Using Generic Peano Pattern Mask Tree</vt:lpstr>
      <vt:lpstr>Abstract(1/2)</vt:lpstr>
      <vt:lpstr>Abstract(2/2)</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Structure of GPPM-tree</vt:lpstr>
      <vt:lpstr>Compare of Compression</vt:lpstr>
      <vt:lpstr>Structure of use in 24-BMP image</vt:lpstr>
      <vt:lpstr>Experiments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58</cp:revision>
  <dcterms:created xsi:type="dcterms:W3CDTF">2019-09-15T07:43:36Z</dcterms:created>
  <dcterms:modified xsi:type="dcterms:W3CDTF">2019-12-24T08:59:29Z</dcterms:modified>
</cp:coreProperties>
</file>