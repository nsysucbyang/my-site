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7" r:id="rId2"/>
    <p:sldId id="409" r:id="rId3"/>
    <p:sldId id="352" r:id="rId4"/>
    <p:sldId id="411" r:id="rId5"/>
    <p:sldId id="410" r:id="rId6"/>
    <p:sldId id="320" r:id="rId7"/>
    <p:sldId id="413" r:id="rId8"/>
    <p:sldId id="321" r:id="rId9"/>
    <p:sldId id="433" r:id="rId10"/>
    <p:sldId id="420" r:id="rId11"/>
    <p:sldId id="417" r:id="rId12"/>
    <p:sldId id="418" r:id="rId13"/>
    <p:sldId id="412" r:id="rId14"/>
    <p:sldId id="419" r:id="rId15"/>
    <p:sldId id="421" r:id="rId16"/>
    <p:sldId id="422" r:id="rId17"/>
    <p:sldId id="423" r:id="rId18"/>
    <p:sldId id="424" r:id="rId19"/>
    <p:sldId id="425" r:id="rId20"/>
    <p:sldId id="426" r:id="rId21"/>
    <p:sldId id="427" r:id="rId22"/>
    <p:sldId id="428" r:id="rId23"/>
    <p:sldId id="414" r:id="rId24"/>
    <p:sldId id="429" r:id="rId25"/>
    <p:sldId id="430" r:id="rId26"/>
    <p:sldId id="431" r:id="rId27"/>
    <p:sldId id="432"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37" autoAdjust="0"/>
    <p:restoredTop sz="91090" autoAdjust="0"/>
  </p:normalViewPr>
  <p:slideViewPr>
    <p:cSldViewPr snapToGrid="0">
      <p:cViewPr varScale="1">
        <p:scale>
          <a:sx n="66" d="100"/>
          <a:sy n="66" d="100"/>
        </p:scale>
        <p:origin x="66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E1CC90-5860-4773-94E4-A7C5C8AC2E96}" type="datetimeFigureOut">
              <a:rPr lang="zh-CN" altLang="en-US" smtClean="0"/>
              <a:t>2019/12/24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B0889F-DB18-4D0A-BA0B-9C49CA35EF45}" type="slidenum">
              <a:rPr lang="zh-CN" altLang="en-US" smtClean="0"/>
              <a:t>‹#›</a:t>
            </a:fld>
            <a:endParaRPr lang="zh-CN" altLang="en-US"/>
          </a:p>
        </p:txBody>
      </p:sp>
    </p:spTree>
    <p:extLst>
      <p:ext uri="{BB962C8B-B14F-4D97-AF65-F5344CB8AC3E}">
        <p14:creationId xmlns:p14="http://schemas.microsoft.com/office/powerpoint/2010/main" val="3436611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University_of_Camag%C3%BCey"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www.google.com.tw/maps/place/%E5%8F%A4%E5%B7%B4%E5%8D%A1%E9%A6%AC%E5%9C%AD/@21.3863648,-77.9323774,13z/data=!3m1!4b1!4m5!3m4!1s0x8ed3806e370b5943:0x397a32d27d15f527!8m2!3d21.3926035!4d-77.9053182?hl=zh-TW" TargetMode="External"/><Relationship Id="rId4" Type="http://schemas.openxmlformats.org/officeDocument/2006/relationships/hyperlink" Target="https://en.wikipedia.org/wiki/Camag%C3%BCey"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zh.wikipedia.org/wiki/%E5%9C%A8%E7%BA%BF%E8%AF%84%E6%B5%8B%E7%B3%BB%E7%BB%9F#cite_note-6"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leetcode.com/problemset/all/"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rdocumentation.org/packages/recommenderlab/versions/0.2-5"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cran.r-project.org/package=recommenderlab/vignettes/recommenderlab.pdf"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cran.r-project.org/package=recommenderlab"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kaggle.com/ashishvaya/recommendation-engine"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ltLang="zh-CN" sz="1200" b="0" i="0" kern="1200" dirty="0">
                <a:solidFill>
                  <a:schemeClr val="tx1"/>
                </a:solidFill>
                <a:effectLst/>
                <a:latin typeface="+mn-lt"/>
                <a:ea typeface="+mn-ea"/>
                <a:cs typeface="+mn-cs"/>
              </a:rPr>
              <a:t>University of Camagüey</a:t>
            </a:r>
            <a:r>
              <a:rPr lang="zh-CN" altLang="en-US" sz="1200" dirty="0"/>
              <a:t>：</a:t>
            </a:r>
            <a:endParaRPr lang="en-US" altLang="zh-CN" sz="1200" dirty="0"/>
          </a:p>
          <a:p>
            <a:pPr marL="0" lvl="0" indent="0" algn="l" rtl="0">
              <a:spcBef>
                <a:spcPts val="0"/>
              </a:spcBef>
              <a:spcAft>
                <a:spcPts val="0"/>
              </a:spcAft>
              <a:buNone/>
            </a:pPr>
            <a:r>
              <a:rPr lang="en-US" altLang="zh-CN" dirty="0">
                <a:hlinkClick r:id="rId3"/>
              </a:rPr>
              <a:t>https://en.wikipedia.org/wiki/University_of_Camag%C3%Bcey</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Camagüey: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hlinkClick r:id="rId4"/>
              </a:rPr>
              <a:t>https://en.wikipedia.org/wiki/Camag%C3%Bcey</a:t>
            </a:r>
            <a:endParaRPr lang="en-US" altLang="zh-CN" dirty="0"/>
          </a:p>
          <a:p>
            <a:pPr marL="0" lvl="0" indent="0" algn="l" rtl="0">
              <a:spcBef>
                <a:spcPts val="0"/>
              </a:spcBef>
              <a:spcAft>
                <a:spcPts val="0"/>
              </a:spcAft>
              <a:buNone/>
            </a:pPr>
            <a:r>
              <a:rPr lang="en-US" altLang="zh-CN" dirty="0"/>
              <a:t>Location</a:t>
            </a:r>
            <a:r>
              <a:rPr lang="zh-CN" altLang="en-US" dirty="0"/>
              <a:t>：</a:t>
            </a:r>
            <a:endParaRPr lang="en-US" altLang="zh-CN" dirty="0"/>
          </a:p>
          <a:p>
            <a:pPr marL="0" lvl="0" indent="0" algn="l" rtl="0">
              <a:spcBef>
                <a:spcPts val="0"/>
              </a:spcBef>
              <a:spcAft>
                <a:spcPts val="0"/>
              </a:spcAft>
              <a:buNone/>
            </a:pPr>
            <a:r>
              <a:rPr lang="en-US" altLang="zh-CN" dirty="0">
                <a:hlinkClick r:id="rId5"/>
              </a:rPr>
              <a:t>https://www.google.com.tw/maps/place/%E5%8F%A4%E5%B7%B4%E5%8D%A1%E9%A6%AC%E5%9C%AD/@21.3863648,-77.9323774,13z/data=!3m1!4b1!4m5!3m4!1s0x8ed3806e370b5943:0x397a32d27d15f527!8m2!3d21.3926035!4d-77.9053182?hl=zh-TW</a:t>
            </a:r>
            <a:endParaRPr lang="en-US" altLang="zh-CN"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1618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6621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r>
              <a:rPr lang="en-US" altLang="zh-CN" dirty="0">
                <a:hlinkClick r:id="rId3"/>
              </a:rPr>
              <a:t>https://zh.wikipedia.org/wiki/%E5%9C%A8%E7%BA%BF%E8%AF%84%E6%B5%8B%E7%B3%BB%E7%BB%9F#cite_note-6</a:t>
            </a:r>
            <a:endParaRPr lang="en-US" b="0" i="0" u="none" baseline="0" dirty="0"/>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8074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8840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zh-CN" dirty="0" err="1"/>
              <a:t>Skiena</a:t>
            </a:r>
            <a:r>
              <a:rPr lang="en-US" altLang="zh-CN" dirty="0"/>
              <a:t>, S., &amp; Revilla, M. (2003). Programming challenges. Springer-Verlag.</a:t>
            </a:r>
            <a:endParaRPr lang="en-US" b="0" i="0" u="none" baseline="0" dirty="0"/>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4380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altLang="zh-CN" sz="1200" kern="1200" dirty="0" err="1">
                <a:solidFill>
                  <a:schemeClr val="tx1"/>
                </a:solidFill>
                <a:latin typeface="+mn-lt"/>
                <a:ea typeface="+mn-ea"/>
                <a:cs typeface="+mn-cs"/>
              </a:rPr>
              <a:t>Mendonça</a:t>
            </a:r>
            <a:r>
              <a:rPr lang="en-US" altLang="zh-CN" sz="1200" kern="1200" dirty="0">
                <a:solidFill>
                  <a:schemeClr val="tx1"/>
                </a:solidFill>
                <a:latin typeface="+mn-lt"/>
                <a:ea typeface="+mn-ea"/>
                <a:cs typeface="+mn-cs"/>
              </a:rPr>
              <a:t>, A., et al. (2009). </a:t>
            </a:r>
            <a:r>
              <a:rPr lang="en-US" altLang="zh-CN" sz="1200" u="sng" kern="1200" dirty="0">
                <a:solidFill>
                  <a:schemeClr val="tx1"/>
                </a:solidFill>
                <a:latin typeface="+mn-lt"/>
                <a:ea typeface="+mn-ea"/>
                <a:cs typeface="+mn-cs"/>
              </a:rPr>
              <a:t>Difficulties in solving ill-defined problems: A case study with introductory computer programming students. 2009 39th IEEE Frontiers in Education Conference, IEEE.</a:t>
            </a:r>
          </a:p>
          <a:p>
            <a:r>
              <a:rPr lang="zh-CN" altLang="en-US" sz="1200" kern="1200" dirty="0">
                <a:solidFill>
                  <a:schemeClr val="tx1"/>
                </a:solidFill>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8094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baseline="0" dirty="0"/>
              <a:t>Francisco, R. E. and A. P. Ambrosio (2015). Mining an Online Judge System to Support Introductory Computer Programming Teaching. EDM (Workshops).</a:t>
            </a:r>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47961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49535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hlinkClick r:id="rId3"/>
              </a:rPr>
              <a:t>https://leetcode.com/problemset/all/</a:t>
            </a: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4309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hlinkClick r:id="rId3"/>
              </a:rPr>
              <a:t>https://www.rdocumentation.org/packages/recommenderlab/versions/0.2-5</a:t>
            </a: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27587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altLang="zh-CN" sz="1200" b="0" i="0" kern="1200" dirty="0">
                <a:solidFill>
                  <a:schemeClr val="tx1"/>
                </a:solidFill>
                <a:effectLst/>
                <a:latin typeface="+mn-lt"/>
                <a:ea typeface="+mn-ea"/>
                <a:cs typeface="+mn-cs"/>
              </a:rPr>
              <a:t>Michael </a:t>
            </a:r>
            <a:r>
              <a:rPr lang="en-US" altLang="zh-CN" sz="1200" b="0" i="0" kern="1200" dirty="0" err="1">
                <a:solidFill>
                  <a:schemeClr val="tx1"/>
                </a:solidFill>
                <a:effectLst/>
                <a:latin typeface="+mn-lt"/>
                <a:ea typeface="+mn-ea"/>
                <a:cs typeface="+mn-cs"/>
              </a:rPr>
              <a:t>Hahsler</a:t>
            </a:r>
            <a:r>
              <a:rPr lang="en-US" altLang="zh-CN" sz="1200" b="0" i="0" kern="1200" dirty="0">
                <a:solidFill>
                  <a:schemeClr val="tx1"/>
                </a:solidFill>
                <a:effectLst/>
                <a:latin typeface="+mn-lt"/>
                <a:ea typeface="+mn-ea"/>
                <a:cs typeface="+mn-cs"/>
              </a:rPr>
              <a:t> (2016). </a:t>
            </a:r>
            <a:r>
              <a:rPr lang="en-US" altLang="zh-CN" sz="1200" b="0" i="0" u="none" strike="noStrike" kern="1200" dirty="0" err="1">
                <a:solidFill>
                  <a:schemeClr val="tx1"/>
                </a:solidFill>
                <a:effectLst/>
                <a:latin typeface="+mn-lt"/>
                <a:ea typeface="+mn-ea"/>
                <a:cs typeface="+mn-cs"/>
                <a:hlinkClick r:id="rId3"/>
              </a:rPr>
              <a:t>recommenderlab</a:t>
            </a:r>
            <a:r>
              <a:rPr lang="en-US" altLang="zh-CN" sz="1200" b="0" i="0" u="none" strike="noStrike" kern="1200" dirty="0">
                <a:solidFill>
                  <a:schemeClr val="tx1"/>
                </a:solidFill>
                <a:effectLst/>
                <a:latin typeface="+mn-lt"/>
                <a:ea typeface="+mn-ea"/>
                <a:cs typeface="+mn-cs"/>
                <a:hlinkClick r:id="rId3"/>
              </a:rPr>
              <a:t>: A Framework for Developing and Testing Recommendation Algorithms</a:t>
            </a:r>
            <a:r>
              <a:rPr lang="en-US" altLang="zh-CN" sz="1200" b="0" i="0" kern="1200" dirty="0">
                <a:solidFill>
                  <a:schemeClr val="tx1"/>
                </a:solidFill>
                <a:effectLst/>
                <a:latin typeface="+mn-lt"/>
                <a:ea typeface="+mn-ea"/>
                <a:cs typeface="+mn-cs"/>
              </a:rPr>
              <a:t>, R package. </a:t>
            </a:r>
            <a:r>
              <a:rPr lang="en-US" altLang="zh-CN" sz="1200" b="0" i="0" u="none" strike="noStrike" kern="1200" dirty="0">
                <a:solidFill>
                  <a:schemeClr val="tx1"/>
                </a:solidFill>
                <a:effectLst/>
                <a:latin typeface="+mn-lt"/>
                <a:ea typeface="+mn-ea"/>
                <a:cs typeface="+mn-cs"/>
                <a:hlinkClick r:id="rId4"/>
              </a:rPr>
              <a:t>https://CRAN.R-project.org/package=recommenderlab</a:t>
            </a:r>
            <a:endParaRPr lang="fr-FR" altLang="zh-CN" sz="1200" u="sng"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1247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zh-CN" sz="1200" kern="1200" dirty="0">
                <a:solidFill>
                  <a:schemeClr val="tx1"/>
                </a:solidFill>
                <a:latin typeface="+mn-lt"/>
                <a:ea typeface="+mn-ea"/>
                <a:cs typeface="+mn-cs"/>
              </a:rPr>
              <a:t>Koren, Y., et al. (2009). "Matrix factorization techniques for recommender systems." </a:t>
            </a:r>
            <a:r>
              <a:rPr lang="fr-FR" altLang="zh-CN" sz="1200" u="sng" kern="1200" dirty="0">
                <a:solidFill>
                  <a:schemeClr val="tx1"/>
                </a:solidFill>
                <a:latin typeface="+mn-lt"/>
                <a:ea typeface="+mn-ea"/>
                <a:cs typeface="+mn-cs"/>
              </a:rPr>
              <a:t>Computer(8): 30-37.</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93612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54808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13297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96796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07573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37984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17349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98444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altLang="zh-CN" sz="1200" kern="1200" dirty="0" err="1">
                <a:solidFill>
                  <a:schemeClr val="tx1"/>
                </a:solidFill>
                <a:latin typeface="+mn-lt"/>
                <a:ea typeface="+mn-ea"/>
                <a:cs typeface="+mn-cs"/>
              </a:rPr>
              <a:t>Yera</a:t>
            </a:r>
            <a:r>
              <a:rPr lang="en-US" altLang="zh-CN" sz="1200" kern="1200" dirty="0">
                <a:solidFill>
                  <a:schemeClr val="tx1"/>
                </a:solidFill>
                <a:latin typeface="+mn-lt"/>
                <a:ea typeface="+mn-ea"/>
                <a:cs typeface="+mn-cs"/>
              </a:rPr>
              <a:t> Toledo, R., et al. (2018). </a:t>
            </a:r>
            <a:r>
              <a:rPr lang="en-US" altLang="zh-CN" sz="1200" u="sng" kern="1200" dirty="0">
                <a:solidFill>
                  <a:schemeClr val="tx1"/>
                </a:solidFill>
                <a:latin typeface="+mn-lt"/>
                <a:ea typeface="+mn-ea"/>
                <a:cs typeface="+mn-cs"/>
              </a:rPr>
              <a:t>A recommender system for programming online judges using fuzzy information modeling. Informatics, Multidisciplinary Digital Publishing Institute.</a:t>
            </a:r>
          </a:p>
          <a:p>
            <a:r>
              <a:rPr lang="zh-CN" altLang="en-US" sz="1200" kern="1200" dirty="0">
                <a:solidFill>
                  <a:schemeClr val="tx1"/>
                </a:solidFill>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44494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hlinkClick r:id="rId3"/>
              </a:rPr>
              <a:t>https://www.kaggle.com/ashishvaya/recommendation-engine</a:t>
            </a: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806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58129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10828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42738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00728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6345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2019/12/24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2019/12/24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2019/12/24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2019/12/24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2019/12/24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2019/12/24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2019/12/24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2019/12/24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2019/12/24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2019/12/24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2019/12/24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2019/12/24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codeforces.com/" TargetMode="External"/><Relationship Id="rId3" Type="http://schemas.openxmlformats.org/officeDocument/2006/relationships/hyperlink" Target="https://uhunt.onlinejudge.org/" TargetMode="External"/><Relationship Id="rId7" Type="http://schemas.openxmlformats.org/officeDocument/2006/relationships/hyperlink" Target="http://acm.timus.ru/"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www.spoj.com/" TargetMode="External"/><Relationship Id="rId5" Type="http://schemas.openxmlformats.org/officeDocument/2006/relationships/hyperlink" Target="http://coj.uci.cu/" TargetMode="External"/><Relationship Id="rId4" Type="http://schemas.openxmlformats.org/officeDocument/2006/relationships/hyperlink" Target="http://poj.org/"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6.wmf"/><Relationship Id="rId4" Type="http://schemas.openxmlformats.org/officeDocument/2006/relationships/image" Target="../media/image25.wmf"/></Relationships>
</file>

<file path=ppt/slides/_rels/slide2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a:spLocks noGrp="1"/>
          </p:cNvSpPr>
          <p:nvPr>
            <p:ph type="ctrTitle"/>
          </p:nvPr>
        </p:nvSpPr>
        <p:spPr>
          <a:xfrm>
            <a:off x="856855" y="471398"/>
            <a:ext cx="10477020" cy="1356957"/>
          </a:xfrm>
          <a:prstGeom prst="rect">
            <a:avLst/>
          </a:prstGeom>
          <a:noFill/>
          <a:ln>
            <a:noFill/>
          </a:ln>
        </p:spPr>
        <p:txBody>
          <a:bodyPr spcFirstLastPara="1" wrap="square" lIns="91425" tIns="45700" rIns="91425" bIns="45700" anchor="b" anchorCtr="0">
            <a:noAutofit/>
          </a:bodyPr>
          <a:lstStyle/>
          <a:p>
            <a:pPr lvl="0">
              <a:buSzPts val="3600"/>
            </a:pPr>
            <a:r>
              <a:rPr lang="en-US" sz="3200" dirty="0">
                <a:latin typeface="Calibri" panose="020F0502020204030204" charset="0"/>
                <a:cs typeface="Calibri" panose="020F0502020204030204" charset="0"/>
              </a:rPr>
              <a:t>A recommendation approach for programming online</a:t>
            </a:r>
            <a:br>
              <a:rPr lang="en-US" sz="3200" dirty="0">
                <a:latin typeface="Calibri" panose="020F0502020204030204" charset="0"/>
                <a:cs typeface="Calibri" panose="020F0502020204030204" charset="0"/>
              </a:rPr>
            </a:br>
            <a:r>
              <a:rPr lang="en-US" sz="3200" dirty="0">
                <a:latin typeface="Calibri" panose="020F0502020204030204" charset="0"/>
                <a:cs typeface="Calibri" panose="020F0502020204030204" charset="0"/>
              </a:rPr>
              <a:t>judges supported by data preprocessing techniques</a:t>
            </a:r>
          </a:p>
        </p:txBody>
      </p:sp>
      <p:sp>
        <p:nvSpPr>
          <p:cNvPr id="90" name="Google Shape;90;p13"/>
          <p:cNvSpPr txBox="1">
            <a:spLocks noGrp="1"/>
          </p:cNvSpPr>
          <p:nvPr>
            <p:ph type="subTitle" idx="1"/>
          </p:nvPr>
        </p:nvSpPr>
        <p:spPr>
          <a:xfrm>
            <a:off x="1145540" y="2693239"/>
            <a:ext cx="9899650" cy="1039495"/>
          </a:xfrm>
          <a:prstGeom prst="rect">
            <a:avLst/>
          </a:prstGeom>
          <a:noFill/>
          <a:ln>
            <a:noFill/>
          </a:ln>
        </p:spPr>
        <p:txBody>
          <a:bodyPr spcFirstLastPara="1" wrap="square" lIns="91425" tIns="45700" rIns="91425" bIns="45700" anchor="t" anchorCtr="0">
            <a:noAutofit/>
          </a:bodyPr>
          <a:lstStyle/>
          <a:p>
            <a:pPr lvl="0">
              <a:spcBef>
                <a:spcPts val="0"/>
              </a:spcBef>
              <a:buSzPts val="2800"/>
            </a:pPr>
            <a:r>
              <a:rPr lang="es-ES" altLang="zh-CN" dirty="0"/>
              <a:t>Raciel Yera</a:t>
            </a:r>
            <a:r>
              <a:rPr lang="en-US" altLang="zh-CN" dirty="0"/>
              <a:t>,</a:t>
            </a:r>
            <a:r>
              <a:rPr lang="zh-CN" altLang="en-US" dirty="0"/>
              <a:t> </a:t>
            </a:r>
            <a:r>
              <a:rPr lang="es-ES" altLang="zh-CN" dirty="0"/>
              <a:t>Luis Martínez</a:t>
            </a:r>
            <a:endParaRPr sz="2600" dirty="0"/>
          </a:p>
        </p:txBody>
      </p:sp>
      <p:sp>
        <p:nvSpPr>
          <p:cNvPr id="91" name="Google Shape;91;p13"/>
          <p:cNvSpPr txBox="1">
            <a:spLocks noGrp="1"/>
          </p:cNvSpPr>
          <p:nvPr>
            <p:ph type="sldNum" idx="12"/>
          </p:nvPr>
        </p:nvSpPr>
        <p:spPr>
          <a:xfrm>
            <a:off x="8354568" y="6485003"/>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lang="en-US"/>
          </a:p>
        </p:txBody>
      </p:sp>
      <p:sp>
        <p:nvSpPr>
          <p:cNvPr id="92" name="Google Shape;92;p13"/>
          <p:cNvSpPr txBox="1"/>
          <p:nvPr/>
        </p:nvSpPr>
        <p:spPr>
          <a:xfrm>
            <a:off x="1048428" y="3891090"/>
            <a:ext cx="10095142" cy="902739"/>
          </a:xfrm>
          <a:prstGeom prst="rect">
            <a:avLst/>
          </a:prstGeom>
          <a:noFill/>
          <a:ln>
            <a:noFill/>
          </a:ln>
        </p:spPr>
        <p:txBody>
          <a:bodyPr spcFirstLastPara="1" wrap="square" lIns="91425" tIns="45700" rIns="91425" bIns="45700" anchor="t" anchorCtr="0">
            <a:noAutofit/>
          </a:bodyPr>
          <a:lstStyle/>
          <a:p>
            <a:pPr lvl="0" algn="ctr">
              <a:lnSpc>
                <a:spcPct val="90000"/>
              </a:lnSpc>
              <a:buClr>
                <a:schemeClr val="dk1"/>
              </a:buClr>
              <a:buSzPts val="2800"/>
            </a:pPr>
            <a:r>
              <a:rPr lang="en-US" altLang="zh-CN" sz="2800" dirty="0">
                <a:solidFill>
                  <a:schemeClr val="dk1"/>
                </a:solidFill>
                <a:latin typeface="Calibri" panose="020F0502020204030204" charset="0"/>
                <a:ea typeface="Questrial" panose="02000000000000000000"/>
                <a:cs typeface="Calibri" panose="020F0502020204030204" charset="0"/>
                <a:sym typeface="Questrial" panose="02000000000000000000"/>
              </a:rPr>
              <a:t>Applied Intelligence 47(2): 277-290,</a:t>
            </a:r>
            <a:r>
              <a:rPr lang="zh-CN" altLang="en-US" sz="2800" dirty="0">
                <a:solidFill>
                  <a:schemeClr val="dk1"/>
                </a:solidFill>
                <a:latin typeface="Calibri" panose="020F0502020204030204" charset="0"/>
                <a:ea typeface="Questrial" panose="02000000000000000000"/>
                <a:cs typeface="Calibri" panose="020F0502020204030204" charset="0"/>
                <a:sym typeface="Questrial" panose="02000000000000000000"/>
              </a:rPr>
              <a:t> </a:t>
            </a:r>
            <a:r>
              <a:rPr lang="en-US" altLang="zh-CN" sz="2800" dirty="0">
                <a:solidFill>
                  <a:schemeClr val="dk1"/>
                </a:solidFill>
                <a:latin typeface="Calibri" panose="020F0502020204030204" charset="0"/>
                <a:ea typeface="Questrial" panose="02000000000000000000"/>
                <a:cs typeface="Calibri" panose="020F0502020204030204" charset="0"/>
                <a:sym typeface="Questrial" panose="02000000000000000000"/>
              </a:rPr>
              <a:t>2017.</a:t>
            </a:r>
          </a:p>
          <a:p>
            <a:pPr lvl="0" algn="ctr">
              <a:lnSpc>
                <a:spcPct val="90000"/>
              </a:lnSpc>
              <a:buClr>
                <a:schemeClr val="dk1"/>
              </a:buClr>
              <a:buSzPts val="2800"/>
            </a:pPr>
            <a:r>
              <a:rPr lang="en-US" altLang="zh-CN" sz="2800" dirty="0">
                <a:solidFill>
                  <a:schemeClr val="dk1"/>
                </a:solidFill>
                <a:latin typeface="Calibri" panose="020F0502020204030204" charset="0"/>
                <a:ea typeface="Questrial" panose="02000000000000000000"/>
                <a:cs typeface="Calibri" panose="020F0502020204030204" charset="0"/>
                <a:sym typeface="Questrial" panose="02000000000000000000"/>
              </a:rPr>
              <a:t>	</a:t>
            </a:r>
          </a:p>
          <a:p>
            <a:pPr lvl="0" algn="ctr">
              <a:lnSpc>
                <a:spcPct val="90000"/>
              </a:lnSpc>
              <a:buClr>
                <a:schemeClr val="dk1"/>
              </a:buClr>
              <a:buSzPts val="2800"/>
            </a:pPr>
            <a:r>
              <a:rPr lang="en-US" sz="2800"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	</a:t>
            </a:r>
          </a:p>
          <a:p>
            <a:pPr lvl="0" algn="ctr">
              <a:lnSpc>
                <a:spcPct val="90000"/>
              </a:lnSpc>
              <a:buClr>
                <a:schemeClr val="dk1"/>
              </a:buClr>
              <a:buSzPts val="2800"/>
            </a:pPr>
            <a:endParaRPr lang="en-US" sz="2800" u="sng"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p:txBody>
      </p:sp>
      <p:sp>
        <p:nvSpPr>
          <p:cNvPr id="93" name="Google Shape;93;p13"/>
          <p:cNvSpPr txBox="1"/>
          <p:nvPr/>
        </p:nvSpPr>
        <p:spPr>
          <a:xfrm>
            <a:off x="1192187" y="5188046"/>
            <a:ext cx="9806355" cy="902739"/>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Arial" panose="020B0604020202020204"/>
              <a:buNone/>
            </a:pP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Presenter: KeXin Zhu</a:t>
            </a:r>
            <a:endParaRPr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a:p>
            <a:pPr marL="0" marR="0" lvl="0" indent="0" algn="ctr" rtl="0">
              <a:lnSpc>
                <a:spcPct val="90000"/>
              </a:lnSpc>
              <a:spcBef>
                <a:spcPts val="1000"/>
              </a:spcBef>
              <a:spcAft>
                <a:spcPts val="0"/>
              </a:spcAft>
              <a:buClr>
                <a:schemeClr val="dk1"/>
              </a:buClr>
              <a:buSzPts val="2800"/>
              <a:buFont typeface="Arial" panose="020B0604020202020204"/>
              <a:buNone/>
            </a:pP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Date: 2019/12/22</a:t>
            </a:r>
            <a:endParaRPr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dirty="0"/>
              <a:t>Abstract</a:t>
            </a:r>
          </a:p>
        </p:txBody>
      </p:sp>
      <p:sp>
        <p:nvSpPr>
          <p:cNvPr id="99" name="Google Shape;99;p14"/>
          <p:cNvSpPr txBox="1">
            <a:spLocks noGrp="1"/>
          </p:cNvSpPr>
          <p:nvPr>
            <p:ph type="body" idx="1"/>
          </p:nvPr>
        </p:nvSpPr>
        <p:spPr>
          <a:xfrm>
            <a:off x="838200" y="1568950"/>
            <a:ext cx="10109886" cy="4446839"/>
          </a:xfrm>
          <a:prstGeom prst="rect">
            <a:avLst/>
          </a:prstGeom>
          <a:noFill/>
          <a:ln>
            <a:noFill/>
          </a:ln>
        </p:spPr>
        <p:txBody>
          <a:bodyPr spcFirstLastPara="1" wrap="square" lIns="91425" tIns="45700" rIns="91425" bIns="45700" anchor="t" anchorCtr="0">
            <a:noAutofit/>
          </a:bodyPr>
          <a:lstStyle/>
          <a:p>
            <a:pPr marL="0" lvl="0" indent="0">
              <a:spcBef>
                <a:spcPts val="0"/>
              </a:spcBef>
              <a:buSzPts val="2800"/>
              <a:buNone/>
            </a:pPr>
            <a:r>
              <a:rPr lang="en-US" altLang="zh-CN" dirty="0"/>
              <a:t>The use of programming online judges (POJ) to support students acquiring programming skills is common nowadays because this type of software contains a large collection of programming exercises to be solved by students. A POJ not only provides exercises but also automates the code compilation and its evaluation process. A common problem that students face when using POJ is information overload, as choosing the right problem to solve can be quite frustrating due to the large number of problems offered. The integration of current POJs into e-learning systems such as Intelligent Tutoring Systems (ITSs) is hard because of the lack of necessary information in ITSs. </a:t>
            </a:r>
            <a:endParaRPr lang="en-US" dirty="0"/>
          </a:p>
        </p:txBody>
      </p:sp>
      <p:sp>
        <p:nvSpPr>
          <p:cNvPr id="100" name="Google Shape;100;p1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lang="en-US" dirty="0"/>
          </a:p>
        </p:txBody>
      </p:sp>
    </p:spTree>
    <p:extLst>
      <p:ext uri="{BB962C8B-B14F-4D97-AF65-F5344CB8AC3E}">
        <p14:creationId xmlns:p14="http://schemas.microsoft.com/office/powerpoint/2010/main" val="2256018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dirty="0"/>
              <a:t>Abstract</a:t>
            </a:r>
          </a:p>
        </p:txBody>
      </p:sp>
      <p:sp>
        <p:nvSpPr>
          <p:cNvPr id="99" name="Google Shape;99;p14"/>
          <p:cNvSpPr txBox="1">
            <a:spLocks noGrp="1"/>
          </p:cNvSpPr>
          <p:nvPr>
            <p:ph type="body" idx="1"/>
          </p:nvPr>
        </p:nvSpPr>
        <p:spPr>
          <a:xfrm>
            <a:off x="838200" y="1568950"/>
            <a:ext cx="10109886" cy="4446839"/>
          </a:xfrm>
          <a:prstGeom prst="rect">
            <a:avLst/>
          </a:prstGeom>
          <a:noFill/>
          <a:ln>
            <a:noFill/>
          </a:ln>
        </p:spPr>
        <p:txBody>
          <a:bodyPr spcFirstLastPara="1" wrap="square" lIns="91425" tIns="45700" rIns="91425" bIns="45700" anchor="t" anchorCtr="0">
            <a:noAutofit/>
          </a:bodyPr>
          <a:lstStyle/>
          <a:p>
            <a:pPr marL="0" lvl="0" indent="0">
              <a:spcBef>
                <a:spcPts val="0"/>
              </a:spcBef>
              <a:buSzPts val="2800"/>
              <a:buNone/>
            </a:pPr>
            <a:r>
              <a:rPr lang="en-US" altLang="zh-CN" dirty="0"/>
              <a:t>Hence, the aim of this paper is to support students with the information overload problem by using a collaborative filtering recommendation approach that filters out programming problems suitable for students’ programming skills. It uses an enriched user-problem matrix that implies a better student role representation, facilitating the computation of closer neighborhoods and hence a more accurate recommendation. Additionally a novel data preprocessing step that manages anomalous users’ behaviors that could affect the recommendation generation is also integrated in the recommendation process. A case study is carried out on a POJ real dataset showing that the proposal outperforms other previous approaches.</a:t>
            </a:r>
            <a:endParaRPr lang="en-US" dirty="0"/>
          </a:p>
        </p:txBody>
      </p:sp>
      <p:sp>
        <p:nvSpPr>
          <p:cNvPr id="100" name="Google Shape;100;p1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lang="en-US" dirty="0"/>
          </a:p>
        </p:txBody>
      </p:sp>
    </p:spTree>
    <p:extLst>
      <p:ext uri="{BB962C8B-B14F-4D97-AF65-F5344CB8AC3E}">
        <p14:creationId xmlns:p14="http://schemas.microsoft.com/office/powerpoint/2010/main" val="831708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136523"/>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Introduction to POJ</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lang="en-US" dirty="0"/>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234028"/>
            <a:ext cx="10011032" cy="5350383"/>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sz="2400" dirty="0"/>
              <a:t>1. University of Valladolid Online Judge(UVA) ( 1700+ problems ):</a:t>
            </a:r>
          </a:p>
          <a:p>
            <a:pPr lvl="1">
              <a:spcBef>
                <a:spcPts val="0"/>
              </a:spcBef>
              <a:buSzPts val="2800"/>
            </a:pPr>
            <a:r>
              <a:rPr lang="en-US" altLang="zh-CN" sz="2000" dirty="0">
                <a:hlinkClick r:id="rId3"/>
              </a:rPr>
              <a:t>https://uhunt.onlinejudge.org/</a:t>
            </a:r>
            <a:endParaRPr lang="en-US" altLang="zh-CN" sz="2000" dirty="0"/>
          </a:p>
          <a:p>
            <a:pPr lvl="1">
              <a:spcBef>
                <a:spcPts val="0"/>
              </a:spcBef>
              <a:buSzPts val="2800"/>
            </a:pPr>
            <a:endParaRPr lang="en-US" altLang="zh-CN" sz="2400" dirty="0"/>
          </a:p>
          <a:p>
            <a:pPr>
              <a:spcBef>
                <a:spcPts val="0"/>
              </a:spcBef>
              <a:buSzPts val="2800"/>
            </a:pPr>
            <a:r>
              <a:rPr lang="en-US" altLang="zh-CN" sz="2400" dirty="0"/>
              <a:t>2. Peking University Online Judge ( 3000+ problems ):</a:t>
            </a:r>
          </a:p>
          <a:p>
            <a:pPr lvl="1">
              <a:spcBef>
                <a:spcPts val="0"/>
              </a:spcBef>
              <a:buSzPts val="2800"/>
            </a:pPr>
            <a:r>
              <a:rPr lang="en-US" altLang="zh-CN" sz="2000" dirty="0">
                <a:hlinkClick r:id="rId4"/>
              </a:rPr>
              <a:t>http://poj.org/</a:t>
            </a:r>
            <a:endParaRPr lang="en-US" altLang="zh-CN" sz="2000" dirty="0"/>
          </a:p>
          <a:p>
            <a:pPr lvl="1">
              <a:spcBef>
                <a:spcPts val="0"/>
              </a:spcBef>
              <a:buSzPts val="2800"/>
            </a:pPr>
            <a:endParaRPr lang="en-US" altLang="zh-CN" sz="2400" dirty="0"/>
          </a:p>
          <a:p>
            <a:pPr>
              <a:spcBef>
                <a:spcPts val="0"/>
              </a:spcBef>
              <a:buSzPts val="2800"/>
            </a:pPr>
            <a:r>
              <a:rPr lang="en-US" altLang="zh-CN" sz="2400" dirty="0"/>
              <a:t>3. Caribbean Online Judge( 3400+ problems ):</a:t>
            </a:r>
          </a:p>
          <a:p>
            <a:pPr lvl="1">
              <a:spcBef>
                <a:spcPts val="0"/>
              </a:spcBef>
              <a:buSzPts val="2800"/>
            </a:pPr>
            <a:r>
              <a:rPr lang="en-US" altLang="zh-CN" sz="2000" dirty="0">
                <a:hlinkClick r:id="rId5"/>
              </a:rPr>
              <a:t>http://coj.uci.cu/</a:t>
            </a:r>
            <a:endParaRPr lang="en-US" altLang="zh-CN" sz="2000" dirty="0"/>
          </a:p>
          <a:p>
            <a:pPr lvl="1">
              <a:spcBef>
                <a:spcPts val="0"/>
              </a:spcBef>
              <a:buSzPts val="2800"/>
            </a:pPr>
            <a:endParaRPr lang="en-US" altLang="zh-CN" sz="2400" dirty="0"/>
          </a:p>
          <a:p>
            <a:pPr>
              <a:spcBef>
                <a:spcPts val="0"/>
              </a:spcBef>
              <a:buSzPts val="2800"/>
            </a:pPr>
            <a:r>
              <a:rPr lang="en-US" altLang="zh-CN" sz="2400" dirty="0"/>
              <a:t>4. SPOJ Online Judge( 6800+ problems ):</a:t>
            </a:r>
          </a:p>
          <a:p>
            <a:pPr lvl="1">
              <a:spcBef>
                <a:spcPts val="0"/>
              </a:spcBef>
              <a:buSzPts val="2800"/>
            </a:pPr>
            <a:r>
              <a:rPr lang="en-US" altLang="zh-CN" sz="2000" dirty="0">
                <a:hlinkClick r:id="rId6"/>
              </a:rPr>
              <a:t>http://www.spoj.com/</a:t>
            </a:r>
            <a:endParaRPr lang="en-US" altLang="zh-CN" sz="2000" dirty="0"/>
          </a:p>
          <a:p>
            <a:pPr lvl="1">
              <a:spcBef>
                <a:spcPts val="0"/>
              </a:spcBef>
              <a:buSzPts val="2800"/>
            </a:pPr>
            <a:endParaRPr lang="en-US" altLang="zh-CN" sz="2400" dirty="0"/>
          </a:p>
          <a:p>
            <a:pPr>
              <a:spcBef>
                <a:spcPts val="0"/>
              </a:spcBef>
              <a:buSzPts val="2800"/>
            </a:pPr>
            <a:r>
              <a:rPr lang="en-US" altLang="zh-CN" sz="2400" dirty="0"/>
              <a:t>5. Timus Online Judge( 1100+ problems ):</a:t>
            </a:r>
          </a:p>
          <a:p>
            <a:pPr lvl="1">
              <a:spcBef>
                <a:spcPts val="0"/>
              </a:spcBef>
              <a:buSzPts val="2800"/>
            </a:pPr>
            <a:r>
              <a:rPr lang="en-US" altLang="zh-CN" sz="2000" dirty="0">
                <a:hlinkClick r:id="rId7"/>
              </a:rPr>
              <a:t>http://acm.timus.ru/</a:t>
            </a:r>
            <a:endParaRPr lang="en-US" altLang="zh-CN" sz="2000" dirty="0"/>
          </a:p>
          <a:p>
            <a:pPr lvl="1">
              <a:spcBef>
                <a:spcPts val="0"/>
              </a:spcBef>
              <a:buSzPts val="2800"/>
            </a:pPr>
            <a:endParaRPr lang="en-US" altLang="zh-CN" sz="2400" dirty="0"/>
          </a:p>
          <a:p>
            <a:pPr>
              <a:spcBef>
                <a:spcPts val="0"/>
              </a:spcBef>
              <a:buSzPts val="2800"/>
            </a:pPr>
            <a:r>
              <a:rPr lang="en-US" altLang="zh-CN" sz="2400" dirty="0"/>
              <a:t>6. Code Forces( 5600+ problems ):</a:t>
            </a:r>
          </a:p>
          <a:p>
            <a:pPr lvl="1">
              <a:spcBef>
                <a:spcPts val="0"/>
              </a:spcBef>
              <a:buSzPts val="2800"/>
            </a:pPr>
            <a:r>
              <a:rPr lang="en-US" altLang="zh-CN" sz="2000" dirty="0">
                <a:hlinkClick r:id="rId8"/>
              </a:rPr>
              <a:t>https://codeforces.com/</a:t>
            </a:r>
            <a:endParaRPr lang="en-US" altLang="zh-TW" dirty="0"/>
          </a:p>
        </p:txBody>
      </p:sp>
    </p:spTree>
    <p:extLst>
      <p:ext uri="{BB962C8B-B14F-4D97-AF65-F5344CB8AC3E}">
        <p14:creationId xmlns:p14="http://schemas.microsoft.com/office/powerpoint/2010/main" val="135141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136523"/>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Introduction to POJ</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lang="en-US" dirty="0"/>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214978"/>
            <a:ext cx="10011032" cy="5350383"/>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sz="2400" dirty="0"/>
              <a:t>Typical interaction sequence on POJ:</a:t>
            </a:r>
          </a:p>
          <a:p>
            <a:pPr>
              <a:spcBef>
                <a:spcPts val="0"/>
              </a:spcBef>
              <a:buSzPts val="2800"/>
            </a:pPr>
            <a:endParaRPr lang="en-US" altLang="zh-CN" sz="2400" dirty="0"/>
          </a:p>
          <a:p>
            <a:pPr>
              <a:spcBef>
                <a:spcPts val="0"/>
              </a:spcBef>
              <a:buSzPts val="2800"/>
            </a:pPr>
            <a:r>
              <a:rPr lang="en-US" altLang="zh-CN" sz="2400" dirty="0"/>
              <a:t>(1) Select a problem.</a:t>
            </a:r>
          </a:p>
          <a:p>
            <a:pPr>
              <a:spcBef>
                <a:spcPts val="0"/>
              </a:spcBef>
              <a:buSzPts val="2800"/>
            </a:pPr>
            <a:endParaRPr lang="en-US" altLang="zh-CN" sz="2400" dirty="0"/>
          </a:p>
          <a:p>
            <a:pPr>
              <a:spcBef>
                <a:spcPts val="0"/>
              </a:spcBef>
              <a:buSzPts val="2800"/>
            </a:pPr>
            <a:r>
              <a:rPr lang="en-US" altLang="zh-CN" sz="2400" dirty="0"/>
              <a:t>(2) Write code. </a:t>
            </a:r>
          </a:p>
          <a:p>
            <a:pPr>
              <a:spcBef>
                <a:spcPts val="0"/>
              </a:spcBef>
              <a:buSzPts val="2800"/>
            </a:pPr>
            <a:endParaRPr lang="en-US" altLang="zh-CN" sz="2400" dirty="0"/>
          </a:p>
          <a:p>
            <a:pPr>
              <a:spcBef>
                <a:spcPts val="0"/>
              </a:spcBef>
              <a:buSzPts val="2800"/>
            </a:pPr>
            <a:r>
              <a:rPr lang="en-US" altLang="zh-CN" sz="2400" dirty="0"/>
              <a:t>(3) Upload source code . </a:t>
            </a:r>
          </a:p>
          <a:p>
            <a:pPr>
              <a:spcBef>
                <a:spcPts val="0"/>
              </a:spcBef>
              <a:buSzPts val="2800"/>
            </a:pPr>
            <a:endParaRPr lang="en-US" altLang="zh-CN" sz="2400" dirty="0"/>
          </a:p>
          <a:p>
            <a:pPr>
              <a:spcBef>
                <a:spcPts val="0"/>
              </a:spcBef>
              <a:buSzPts val="2800"/>
            </a:pPr>
            <a:r>
              <a:rPr lang="en-US" altLang="zh-CN" sz="2400" dirty="0"/>
              <a:t>(4) Judge the solution is correct or not.</a:t>
            </a:r>
          </a:p>
          <a:p>
            <a:pPr>
              <a:spcBef>
                <a:spcPts val="0"/>
              </a:spcBef>
              <a:buSzPts val="2800"/>
            </a:pPr>
            <a:endParaRPr lang="en-US" altLang="zh-CN" sz="2400" dirty="0"/>
          </a:p>
          <a:p>
            <a:pPr lvl="1">
              <a:spcBef>
                <a:spcPts val="0"/>
              </a:spcBef>
              <a:buSzPts val="2800"/>
            </a:pPr>
            <a:r>
              <a:rPr lang="en-US" altLang="zh-CN" sz="2000" dirty="0"/>
              <a:t>If not, classifies the failure mainly in Wrong Answer, Time limited exceeded or Runtime Error. </a:t>
            </a:r>
          </a:p>
        </p:txBody>
      </p:sp>
    </p:spTree>
    <p:extLst>
      <p:ext uri="{BB962C8B-B14F-4D97-AF65-F5344CB8AC3E}">
        <p14:creationId xmlns:p14="http://schemas.microsoft.com/office/powerpoint/2010/main" val="2921965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136523"/>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Introduction to POJ</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lang="en-US" dirty="0"/>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234028"/>
            <a:ext cx="10011032" cy="5350383"/>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sz="2400" dirty="0"/>
              <a:t>The most important categories of failure:</a:t>
            </a:r>
          </a:p>
          <a:p>
            <a:pPr>
              <a:spcBef>
                <a:spcPts val="0"/>
              </a:spcBef>
              <a:buSzPts val="2800"/>
            </a:pPr>
            <a:endParaRPr lang="en-US" altLang="zh-CN" sz="2400" dirty="0"/>
          </a:p>
          <a:p>
            <a:pPr>
              <a:spcBef>
                <a:spcPts val="0"/>
              </a:spcBef>
              <a:buSzPts val="2800"/>
            </a:pPr>
            <a:r>
              <a:rPr lang="en-US" altLang="zh-CN" sz="2400" dirty="0"/>
              <a:t>Wrong Answer.</a:t>
            </a:r>
          </a:p>
          <a:p>
            <a:pPr lvl="1">
              <a:spcBef>
                <a:spcPts val="0"/>
              </a:spcBef>
              <a:buSzPts val="2800"/>
            </a:pPr>
            <a:r>
              <a:rPr lang="en-US" altLang="zh-CN" sz="2000" dirty="0"/>
              <a:t>Incorrect answer to secret test case. </a:t>
            </a:r>
          </a:p>
          <a:p>
            <a:pPr>
              <a:spcBef>
                <a:spcPts val="0"/>
              </a:spcBef>
              <a:buSzPts val="2800"/>
            </a:pPr>
            <a:endParaRPr lang="en-US" altLang="zh-CN" sz="2400" dirty="0"/>
          </a:p>
          <a:p>
            <a:pPr>
              <a:spcBef>
                <a:spcPts val="0"/>
              </a:spcBef>
              <a:buSzPts val="2800"/>
            </a:pPr>
            <a:r>
              <a:rPr lang="en-US" altLang="zh-CN" sz="2400" dirty="0"/>
              <a:t>Compile Error. </a:t>
            </a:r>
          </a:p>
          <a:p>
            <a:pPr lvl="1">
              <a:spcBef>
                <a:spcPts val="0"/>
              </a:spcBef>
              <a:buSzPts val="2800"/>
            </a:pPr>
            <a:r>
              <a:rPr lang="en-US" altLang="zh-CN" sz="2000" dirty="0"/>
              <a:t>Can’t compile the code submitted. </a:t>
            </a:r>
          </a:p>
          <a:p>
            <a:pPr>
              <a:spcBef>
                <a:spcPts val="0"/>
              </a:spcBef>
              <a:buSzPts val="2800"/>
            </a:pPr>
            <a:endParaRPr lang="en-US" altLang="zh-CN" sz="2400" dirty="0"/>
          </a:p>
          <a:p>
            <a:pPr>
              <a:spcBef>
                <a:spcPts val="0"/>
              </a:spcBef>
              <a:buSzPts val="2800"/>
            </a:pPr>
            <a:r>
              <a:rPr lang="en-US" altLang="zh-CN" sz="2400" dirty="0"/>
              <a:t>Runtime Error.</a:t>
            </a:r>
          </a:p>
          <a:p>
            <a:pPr lvl="1">
              <a:spcBef>
                <a:spcPts val="0"/>
              </a:spcBef>
              <a:buSzPts val="2800"/>
            </a:pPr>
            <a:r>
              <a:rPr lang="en-US" altLang="zh-CN" sz="2000" dirty="0"/>
              <a:t>The program fails during.  </a:t>
            </a:r>
          </a:p>
          <a:p>
            <a:pPr>
              <a:spcBef>
                <a:spcPts val="0"/>
              </a:spcBef>
              <a:buSzPts val="2800"/>
            </a:pPr>
            <a:endParaRPr lang="en-US" altLang="zh-CN" sz="2400" dirty="0"/>
          </a:p>
          <a:p>
            <a:pPr>
              <a:spcBef>
                <a:spcPts val="0"/>
              </a:spcBef>
              <a:buSzPts val="2800"/>
            </a:pPr>
            <a:r>
              <a:rPr lang="en-US" altLang="zh-CN" sz="2400" dirty="0"/>
              <a:t>Presentation Error.</a:t>
            </a:r>
          </a:p>
          <a:p>
            <a:pPr lvl="1">
              <a:spcBef>
                <a:spcPts val="0"/>
              </a:spcBef>
              <a:buSzPts val="2800"/>
            </a:pPr>
            <a:r>
              <a:rPr lang="en-US" altLang="zh-CN" sz="2000" dirty="0"/>
              <a:t>Outputs are correct, but not in the specified format. </a:t>
            </a:r>
          </a:p>
          <a:p>
            <a:pPr>
              <a:spcBef>
                <a:spcPts val="0"/>
              </a:spcBef>
              <a:buSzPts val="2800"/>
            </a:pPr>
            <a:endParaRPr lang="en-US" altLang="zh-CN" sz="2400" dirty="0"/>
          </a:p>
          <a:p>
            <a:pPr>
              <a:spcBef>
                <a:spcPts val="0"/>
              </a:spcBef>
              <a:buSzPts val="2800"/>
            </a:pPr>
            <a:r>
              <a:rPr lang="en-US" altLang="zh-CN" sz="2400" dirty="0"/>
              <a:t>Time Limit Exceeded.</a:t>
            </a:r>
          </a:p>
          <a:p>
            <a:pPr lvl="1">
              <a:spcBef>
                <a:spcPts val="0"/>
              </a:spcBef>
              <a:buSzPts val="2800"/>
            </a:pPr>
            <a:r>
              <a:rPr lang="en-US" altLang="zh-CN" sz="2000" dirty="0"/>
              <a:t> More than established time to process all the inputs.</a:t>
            </a:r>
          </a:p>
        </p:txBody>
      </p:sp>
      <p:pic>
        <p:nvPicPr>
          <p:cNvPr id="1026" name="Picture 2">
            <a:extLst>
              <a:ext uri="{FF2B5EF4-FFF2-40B4-BE49-F238E27FC236}">
                <a16:creationId xmlns:a16="http://schemas.microsoft.com/office/drawing/2014/main" id="{241299A6-66E0-4803-BA26-8277365381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3350" y="1466311"/>
            <a:ext cx="3600450" cy="4752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1831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1 Introduction to POJ</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6448425"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Ill-Defined Problems</a:t>
            </a:r>
            <a:r>
              <a:rPr lang="zh-CN" altLang="en-US" dirty="0"/>
              <a:t>：</a:t>
            </a:r>
            <a:endParaRPr lang="en-US" altLang="zh-CN" dirty="0"/>
          </a:p>
          <a:p>
            <a:pPr>
              <a:spcBef>
                <a:spcPts val="0"/>
              </a:spcBef>
              <a:buSzPts val="2800"/>
            </a:pPr>
            <a:endParaRPr lang="en-US" altLang="zh-CN" dirty="0"/>
          </a:p>
          <a:p>
            <a:pPr>
              <a:spcBef>
                <a:spcPts val="0"/>
              </a:spcBef>
              <a:buSzPts val="2800"/>
            </a:pPr>
            <a:r>
              <a:rPr lang="en-US" altLang="zh-TW" dirty="0"/>
              <a:t>We call as an ill-defined problem the one whose description is not complete and may contain ambiguities, contradictions, lack of information or even present irrelevant one.</a:t>
            </a:r>
          </a:p>
          <a:p>
            <a:pPr marL="0" indent="0">
              <a:spcBef>
                <a:spcPts val="0"/>
              </a:spcBef>
              <a:buSzPts val="2800"/>
              <a:buNone/>
            </a:pPr>
            <a:endParaRPr lang="zh-TW" altLang="en-US" dirty="0"/>
          </a:p>
        </p:txBody>
      </p:sp>
      <p:pic>
        <p:nvPicPr>
          <p:cNvPr id="3" name="图片 2">
            <a:extLst>
              <a:ext uri="{FF2B5EF4-FFF2-40B4-BE49-F238E27FC236}">
                <a16:creationId xmlns:a16="http://schemas.microsoft.com/office/drawing/2014/main" id="{369EF102-7CA3-47B0-9CD0-CE50271FE348}"/>
              </a:ext>
            </a:extLst>
          </p:cNvPr>
          <p:cNvPicPr>
            <a:picLocks noChangeAspect="1"/>
          </p:cNvPicPr>
          <p:nvPr/>
        </p:nvPicPr>
        <p:blipFill>
          <a:blip r:embed="rId3"/>
          <a:stretch>
            <a:fillRect/>
          </a:stretch>
        </p:blipFill>
        <p:spPr>
          <a:xfrm>
            <a:off x="7610474" y="1690690"/>
            <a:ext cx="4123559" cy="4076700"/>
          </a:xfrm>
          <a:prstGeom prst="rect">
            <a:avLst/>
          </a:prstGeom>
        </p:spPr>
      </p:pic>
    </p:spTree>
    <p:extLst>
      <p:ext uri="{BB962C8B-B14F-4D97-AF65-F5344CB8AC3E}">
        <p14:creationId xmlns:p14="http://schemas.microsoft.com/office/powerpoint/2010/main" val="4112314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1 Introduction to POJ</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493843"/>
            <a:ext cx="10011032" cy="5030787"/>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Problem Difficulty Mechanism</a:t>
            </a:r>
            <a:r>
              <a:rPr lang="zh-CN" altLang="en-US" dirty="0"/>
              <a:t>：</a:t>
            </a:r>
            <a:endParaRPr lang="en-US" altLang="zh-CN" dirty="0"/>
          </a:p>
          <a:p>
            <a:pPr>
              <a:spcBef>
                <a:spcPts val="0"/>
              </a:spcBef>
              <a:buSzPts val="2800"/>
            </a:pPr>
            <a:endParaRPr lang="en-US" altLang="zh-CN" dirty="0"/>
          </a:p>
          <a:p>
            <a:pPr lvl="1">
              <a:spcBef>
                <a:spcPts val="0"/>
              </a:spcBef>
              <a:buSzPts val="2800"/>
            </a:pPr>
            <a:r>
              <a:rPr lang="en-US" altLang="zh-CN" sz="2000" dirty="0"/>
              <a:t>Lines of code;</a:t>
            </a:r>
          </a:p>
          <a:p>
            <a:pPr lvl="1">
              <a:spcBef>
                <a:spcPts val="0"/>
              </a:spcBef>
              <a:buSzPts val="2800"/>
            </a:pPr>
            <a:endParaRPr lang="en-US" altLang="zh-CN" sz="2000" dirty="0"/>
          </a:p>
          <a:p>
            <a:pPr lvl="1">
              <a:spcBef>
                <a:spcPts val="0"/>
              </a:spcBef>
              <a:buSzPts val="2800"/>
            </a:pPr>
            <a:r>
              <a:rPr lang="en-US" altLang="zh-CN" sz="2000" dirty="0"/>
              <a:t>Repetition structures used in the solution;</a:t>
            </a:r>
          </a:p>
          <a:p>
            <a:pPr lvl="1">
              <a:spcBef>
                <a:spcPts val="0"/>
              </a:spcBef>
              <a:buSzPts val="2800"/>
            </a:pPr>
            <a:endParaRPr lang="en-US" altLang="zh-CN" sz="2000" dirty="0"/>
          </a:p>
          <a:p>
            <a:pPr lvl="1">
              <a:spcBef>
                <a:spcPts val="0"/>
              </a:spcBef>
              <a:buSzPts val="2800"/>
            </a:pPr>
            <a:r>
              <a:rPr lang="en-US" altLang="zh-CN" sz="2000" dirty="0"/>
              <a:t>Selection structures;</a:t>
            </a:r>
          </a:p>
          <a:p>
            <a:pPr lvl="1">
              <a:spcBef>
                <a:spcPts val="0"/>
              </a:spcBef>
              <a:buSzPts val="2800"/>
            </a:pPr>
            <a:endParaRPr lang="en-US" altLang="zh-CN" sz="2000" dirty="0"/>
          </a:p>
          <a:p>
            <a:pPr lvl="1">
              <a:spcBef>
                <a:spcPts val="0"/>
              </a:spcBef>
              <a:buSzPts val="2800"/>
            </a:pPr>
            <a:r>
              <a:rPr lang="en-US" altLang="zh-CN" sz="2000" dirty="0"/>
              <a:t>Edges in a graph that represents the algorithm;</a:t>
            </a:r>
          </a:p>
          <a:p>
            <a:pPr lvl="1">
              <a:spcBef>
                <a:spcPts val="0"/>
              </a:spcBef>
              <a:buSzPts val="2800"/>
            </a:pPr>
            <a:endParaRPr lang="en-US" altLang="zh-CN" sz="2000" dirty="0"/>
          </a:p>
          <a:p>
            <a:pPr lvl="1">
              <a:spcBef>
                <a:spcPts val="0"/>
              </a:spcBef>
              <a:buSzPts val="2800"/>
            </a:pPr>
            <a:r>
              <a:rPr lang="en-US" altLang="zh-CN" sz="2000" dirty="0"/>
              <a:t>Edges in a graph that represent repetition structures in the algorithm;</a:t>
            </a:r>
          </a:p>
          <a:p>
            <a:pPr lvl="1">
              <a:spcBef>
                <a:spcPts val="0"/>
              </a:spcBef>
              <a:buSzPts val="2800"/>
            </a:pPr>
            <a:endParaRPr lang="en-US" altLang="zh-CN" sz="2000" dirty="0"/>
          </a:p>
          <a:p>
            <a:pPr lvl="1">
              <a:spcBef>
                <a:spcPts val="0"/>
              </a:spcBef>
              <a:buSzPts val="2800"/>
            </a:pPr>
            <a:r>
              <a:rPr lang="en-US" altLang="zh-CN" sz="2000" dirty="0"/>
              <a:t>Height of a tree, with each sub-block of internally nested code representing a node;</a:t>
            </a:r>
          </a:p>
          <a:p>
            <a:pPr lvl="1">
              <a:spcBef>
                <a:spcPts val="0"/>
              </a:spcBef>
              <a:buSzPts val="2800"/>
            </a:pPr>
            <a:endParaRPr lang="en-US" altLang="zh-CN" sz="2000" dirty="0"/>
          </a:p>
          <a:p>
            <a:pPr lvl="1">
              <a:spcBef>
                <a:spcPts val="0"/>
              </a:spcBef>
              <a:buSzPts val="2800"/>
            </a:pPr>
            <a:r>
              <a:rPr lang="en-US" altLang="zh-CN" sz="2000" dirty="0"/>
              <a:t>Number of topics involved in the problem.</a:t>
            </a:r>
          </a:p>
          <a:p>
            <a:pPr>
              <a:spcBef>
                <a:spcPts val="0"/>
              </a:spcBef>
              <a:buSzPts val="2800"/>
            </a:pPr>
            <a:endParaRPr lang="en-US" altLang="zh-TW" dirty="0"/>
          </a:p>
          <a:p>
            <a:pPr marL="0" indent="0">
              <a:spcBef>
                <a:spcPts val="0"/>
              </a:spcBef>
              <a:buSzPts val="2800"/>
              <a:buNone/>
            </a:pPr>
            <a:endParaRPr lang="zh-TW" altLang="en-US" dirty="0"/>
          </a:p>
        </p:txBody>
      </p:sp>
    </p:spTree>
    <p:extLst>
      <p:ext uri="{BB962C8B-B14F-4D97-AF65-F5344CB8AC3E}">
        <p14:creationId xmlns:p14="http://schemas.microsoft.com/office/powerpoint/2010/main" val="3290826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1 Introduction to POJ</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749576"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Information overload</a:t>
            </a:r>
            <a:r>
              <a:rPr lang="zh-CN" altLang="en-US" dirty="0"/>
              <a:t>：</a:t>
            </a:r>
            <a:endParaRPr lang="en-US" altLang="zh-CN" dirty="0"/>
          </a:p>
          <a:p>
            <a:pPr>
              <a:spcBef>
                <a:spcPts val="0"/>
              </a:spcBef>
              <a:buSzPts val="2800"/>
            </a:pPr>
            <a:r>
              <a:rPr lang="en-US" altLang="zh-CN" sz="2000" dirty="0"/>
              <a:t>Caribbean Online Judge( 3400+ problems ):</a:t>
            </a:r>
            <a:r>
              <a:rPr lang="en-US" altLang="zh-CN" sz="2400" dirty="0"/>
              <a:t>	</a:t>
            </a:r>
            <a:r>
              <a:rPr lang="en-US" altLang="zh-CN" sz="2000" dirty="0"/>
              <a:t>SPOJ Online Judge( 6800+ problems ):</a:t>
            </a:r>
          </a:p>
          <a:p>
            <a:pPr marL="0" indent="0">
              <a:spcBef>
                <a:spcPts val="0"/>
              </a:spcBef>
              <a:buSzPts val="2800"/>
              <a:buNone/>
            </a:pPr>
            <a:endParaRPr lang="en-US" altLang="zh-CN" sz="2000" dirty="0"/>
          </a:p>
          <a:p>
            <a:pPr>
              <a:spcBef>
                <a:spcPts val="0"/>
              </a:spcBef>
              <a:buSzPts val="2800"/>
            </a:pPr>
            <a:endParaRPr lang="en-US" altLang="zh-TW" dirty="0"/>
          </a:p>
          <a:p>
            <a:pPr marL="0" indent="0">
              <a:spcBef>
                <a:spcPts val="0"/>
              </a:spcBef>
              <a:buSzPts val="2800"/>
              <a:buNone/>
            </a:pPr>
            <a:endParaRPr lang="zh-TW" altLang="en-US" dirty="0"/>
          </a:p>
        </p:txBody>
      </p:sp>
      <p:pic>
        <p:nvPicPr>
          <p:cNvPr id="2" name="图片 1">
            <a:extLst>
              <a:ext uri="{FF2B5EF4-FFF2-40B4-BE49-F238E27FC236}">
                <a16:creationId xmlns:a16="http://schemas.microsoft.com/office/drawing/2014/main" id="{FF19D95C-F7F7-49AE-8EA8-4FA8EF8EB6DB}"/>
              </a:ext>
            </a:extLst>
          </p:cNvPr>
          <p:cNvPicPr>
            <a:picLocks noChangeAspect="1"/>
          </p:cNvPicPr>
          <p:nvPr/>
        </p:nvPicPr>
        <p:blipFill>
          <a:blip r:embed="rId3"/>
          <a:stretch>
            <a:fillRect/>
          </a:stretch>
        </p:blipFill>
        <p:spPr>
          <a:xfrm>
            <a:off x="966210" y="2824162"/>
            <a:ext cx="4265841" cy="3714752"/>
          </a:xfrm>
          <a:prstGeom prst="rect">
            <a:avLst/>
          </a:prstGeom>
        </p:spPr>
      </p:pic>
      <p:pic>
        <p:nvPicPr>
          <p:cNvPr id="6" name="图片 5">
            <a:extLst>
              <a:ext uri="{FF2B5EF4-FFF2-40B4-BE49-F238E27FC236}">
                <a16:creationId xmlns:a16="http://schemas.microsoft.com/office/drawing/2014/main" id="{DD0E1638-E030-4D64-9C62-5A0D714EAEC1}"/>
              </a:ext>
            </a:extLst>
          </p:cNvPr>
          <p:cNvPicPr/>
          <p:nvPr/>
        </p:nvPicPr>
        <p:blipFill>
          <a:blip r:embed="rId4"/>
          <a:srcRect l="3613" t="10849" b="6360"/>
          <a:stretch>
            <a:fillRect/>
          </a:stretch>
        </p:blipFill>
        <p:spPr>
          <a:xfrm>
            <a:off x="5755092" y="2634572"/>
            <a:ext cx="4885200" cy="3904342"/>
          </a:xfrm>
          <a:prstGeom prst="rect">
            <a:avLst/>
          </a:prstGeom>
          <a:noFill/>
          <a:ln>
            <a:noFill/>
          </a:ln>
        </p:spPr>
      </p:pic>
    </p:spTree>
    <p:extLst>
      <p:ext uri="{BB962C8B-B14F-4D97-AF65-F5344CB8AC3E}">
        <p14:creationId xmlns:p14="http://schemas.microsoft.com/office/powerpoint/2010/main" val="4219335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57689"/>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2 Recommender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200150"/>
            <a:ext cx="10011032" cy="493737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Recommender Systems on LeetCode</a:t>
            </a:r>
            <a:r>
              <a:rPr lang="zh-CN" altLang="en-US" dirty="0"/>
              <a:t>：</a:t>
            </a:r>
            <a:endParaRPr lang="en-US" altLang="zh-CN" dirty="0"/>
          </a:p>
          <a:p>
            <a:pPr>
              <a:spcBef>
                <a:spcPts val="0"/>
              </a:spcBef>
              <a:buSzPts val="2800"/>
            </a:pPr>
            <a:endParaRPr lang="en-US" altLang="zh-TW" dirty="0"/>
          </a:p>
          <a:p>
            <a:pPr marL="0" indent="0">
              <a:spcBef>
                <a:spcPts val="0"/>
              </a:spcBef>
              <a:buSzPts val="2800"/>
              <a:buNone/>
            </a:pPr>
            <a:endParaRPr lang="zh-TW" altLang="en-US" dirty="0"/>
          </a:p>
        </p:txBody>
      </p:sp>
      <p:pic>
        <p:nvPicPr>
          <p:cNvPr id="3" name="图片 2">
            <a:extLst>
              <a:ext uri="{FF2B5EF4-FFF2-40B4-BE49-F238E27FC236}">
                <a16:creationId xmlns:a16="http://schemas.microsoft.com/office/drawing/2014/main" id="{77E69898-7AD6-400E-92E0-3DACEFC87E30}"/>
              </a:ext>
            </a:extLst>
          </p:cNvPr>
          <p:cNvPicPr>
            <a:picLocks noChangeAspect="1"/>
          </p:cNvPicPr>
          <p:nvPr/>
        </p:nvPicPr>
        <p:blipFill>
          <a:blip r:embed="rId3"/>
          <a:stretch>
            <a:fillRect/>
          </a:stretch>
        </p:blipFill>
        <p:spPr>
          <a:xfrm>
            <a:off x="7772593" y="523782"/>
            <a:ext cx="2228850" cy="6197695"/>
          </a:xfrm>
          <a:prstGeom prst="rect">
            <a:avLst/>
          </a:prstGeom>
        </p:spPr>
      </p:pic>
      <p:pic>
        <p:nvPicPr>
          <p:cNvPr id="5" name="图片 4">
            <a:extLst>
              <a:ext uri="{FF2B5EF4-FFF2-40B4-BE49-F238E27FC236}">
                <a16:creationId xmlns:a16="http://schemas.microsoft.com/office/drawing/2014/main" id="{16A53C58-54ED-4F91-ABBC-B1A098C9E226}"/>
              </a:ext>
            </a:extLst>
          </p:cNvPr>
          <p:cNvPicPr>
            <a:picLocks noChangeAspect="1"/>
          </p:cNvPicPr>
          <p:nvPr/>
        </p:nvPicPr>
        <p:blipFill>
          <a:blip r:embed="rId4"/>
          <a:stretch>
            <a:fillRect/>
          </a:stretch>
        </p:blipFill>
        <p:spPr>
          <a:xfrm>
            <a:off x="952629" y="4396236"/>
            <a:ext cx="5610096" cy="2052317"/>
          </a:xfrm>
          <a:prstGeom prst="rect">
            <a:avLst/>
          </a:prstGeom>
        </p:spPr>
      </p:pic>
      <p:pic>
        <p:nvPicPr>
          <p:cNvPr id="4" name="图片 3">
            <a:extLst>
              <a:ext uri="{FF2B5EF4-FFF2-40B4-BE49-F238E27FC236}">
                <a16:creationId xmlns:a16="http://schemas.microsoft.com/office/drawing/2014/main" id="{A38689C1-B2B1-44D7-9F80-270724442D0B}"/>
              </a:ext>
            </a:extLst>
          </p:cNvPr>
          <p:cNvPicPr>
            <a:picLocks noChangeAspect="1"/>
          </p:cNvPicPr>
          <p:nvPr/>
        </p:nvPicPr>
        <p:blipFill>
          <a:blip r:embed="rId5"/>
          <a:stretch>
            <a:fillRect/>
          </a:stretch>
        </p:blipFill>
        <p:spPr>
          <a:xfrm>
            <a:off x="952629" y="1719711"/>
            <a:ext cx="5467350" cy="2676525"/>
          </a:xfrm>
          <a:prstGeom prst="rect">
            <a:avLst/>
          </a:prstGeom>
        </p:spPr>
      </p:pic>
    </p:spTree>
    <p:extLst>
      <p:ext uri="{BB962C8B-B14F-4D97-AF65-F5344CB8AC3E}">
        <p14:creationId xmlns:p14="http://schemas.microsoft.com/office/powerpoint/2010/main" val="2325921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141288"/>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2 Recommender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235942"/>
            <a:ext cx="10011032" cy="5030787"/>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The main classification of recommenders</a:t>
            </a:r>
            <a:r>
              <a:rPr lang="zh-CN" altLang="en-US" dirty="0"/>
              <a:t>：</a:t>
            </a:r>
            <a:endParaRPr lang="en-US" altLang="zh-CN" dirty="0"/>
          </a:p>
          <a:p>
            <a:pPr>
              <a:spcBef>
                <a:spcPts val="0"/>
              </a:spcBef>
              <a:buSzPts val="2800"/>
            </a:pPr>
            <a:endParaRPr lang="en-US" altLang="zh-CN" dirty="0"/>
          </a:p>
          <a:p>
            <a:pPr>
              <a:spcBef>
                <a:spcPts val="0"/>
              </a:spcBef>
              <a:buSzPts val="2800"/>
            </a:pPr>
            <a:r>
              <a:rPr lang="en-US" altLang="zh-CN" dirty="0"/>
              <a:t>1.Content-based: </a:t>
            </a:r>
            <a:r>
              <a:rPr lang="en-US" altLang="zh-CN" sz="2400" dirty="0"/>
              <a:t>Features of the user preferences.</a:t>
            </a:r>
            <a:endParaRPr lang="en-US" altLang="zh-CN" dirty="0"/>
          </a:p>
          <a:p>
            <a:pPr>
              <a:spcBef>
                <a:spcPts val="0"/>
              </a:spcBef>
              <a:buSzPts val="2800"/>
            </a:pPr>
            <a:endParaRPr lang="en-US" altLang="zh-CN" dirty="0"/>
          </a:p>
          <a:p>
            <a:pPr>
              <a:spcBef>
                <a:spcPts val="0"/>
              </a:spcBef>
              <a:buSzPts val="2800"/>
            </a:pPr>
            <a:r>
              <a:rPr lang="en-US" altLang="zh-CN" dirty="0"/>
              <a:t>2.Collaborative filtering:</a:t>
            </a:r>
          </a:p>
          <a:p>
            <a:pPr lvl="1">
              <a:spcBef>
                <a:spcPts val="0"/>
              </a:spcBef>
              <a:buSzPts val="2800"/>
            </a:pPr>
            <a:r>
              <a:rPr lang="en-US" altLang="zh-CN" dirty="0"/>
              <a:t>2.1 Neighborhood:</a:t>
            </a:r>
          </a:p>
          <a:p>
            <a:pPr lvl="2">
              <a:spcBef>
                <a:spcPts val="0"/>
              </a:spcBef>
              <a:buSzPts val="2800"/>
            </a:pPr>
            <a:r>
              <a:rPr lang="en-US" altLang="zh-CN" dirty="0"/>
              <a:t>2.1.1 Item-based. </a:t>
            </a:r>
          </a:p>
          <a:p>
            <a:pPr lvl="2">
              <a:spcBef>
                <a:spcPts val="0"/>
              </a:spcBef>
              <a:buSzPts val="2800"/>
            </a:pPr>
            <a:r>
              <a:rPr lang="en-US" altLang="zh-CN" dirty="0"/>
              <a:t>2.1.2 User-based. </a:t>
            </a:r>
          </a:p>
          <a:p>
            <a:pPr lvl="1">
              <a:spcBef>
                <a:spcPts val="0"/>
              </a:spcBef>
              <a:buSzPts val="2800"/>
            </a:pPr>
            <a:r>
              <a:rPr lang="en-US" altLang="zh-CN" dirty="0"/>
              <a:t>2.2 Latent Factor: </a:t>
            </a:r>
          </a:p>
          <a:p>
            <a:pPr lvl="2">
              <a:spcBef>
                <a:spcPts val="0"/>
              </a:spcBef>
              <a:buSzPts val="2800"/>
            </a:pPr>
            <a:r>
              <a:rPr lang="en-US" altLang="zh-CN" dirty="0"/>
              <a:t>2.2.1 SVD</a:t>
            </a:r>
          </a:p>
          <a:p>
            <a:pPr lvl="2">
              <a:spcBef>
                <a:spcPts val="0"/>
              </a:spcBef>
              <a:buSzPts val="2800"/>
            </a:pPr>
            <a:r>
              <a:rPr lang="en-US" altLang="zh-CN" dirty="0"/>
              <a:t>2.2.2 ALS</a:t>
            </a:r>
          </a:p>
          <a:p>
            <a:pPr lvl="1">
              <a:spcBef>
                <a:spcPts val="0"/>
              </a:spcBef>
              <a:buSzPts val="2800"/>
            </a:pPr>
            <a:endParaRPr lang="en-US" altLang="zh-CN" dirty="0"/>
          </a:p>
          <a:p>
            <a:pPr>
              <a:spcBef>
                <a:spcPts val="0"/>
              </a:spcBef>
              <a:buSzPts val="2800"/>
            </a:pPr>
            <a:r>
              <a:rPr lang="en-US" altLang="zh-CN" dirty="0"/>
              <a:t>3. Popular-based</a:t>
            </a:r>
          </a:p>
          <a:p>
            <a:pPr>
              <a:spcBef>
                <a:spcPts val="0"/>
              </a:spcBef>
              <a:buSzPts val="2800"/>
            </a:pPr>
            <a:endParaRPr lang="en-US" altLang="zh-CN" dirty="0"/>
          </a:p>
          <a:p>
            <a:pPr>
              <a:spcBef>
                <a:spcPts val="0"/>
              </a:spcBef>
              <a:buSzPts val="2800"/>
            </a:pPr>
            <a:r>
              <a:rPr lang="en-US" altLang="zh-CN" dirty="0"/>
              <a:t>4.Hybrids</a:t>
            </a:r>
            <a:endParaRPr lang="en-US" altLang="zh-TW" dirty="0"/>
          </a:p>
          <a:p>
            <a:pPr marL="0" indent="0">
              <a:spcBef>
                <a:spcPts val="0"/>
              </a:spcBef>
              <a:buSzPts val="2800"/>
              <a:buNone/>
            </a:pPr>
            <a:endParaRPr lang="zh-TW" altLang="en-US" dirty="0"/>
          </a:p>
        </p:txBody>
      </p:sp>
    </p:spTree>
    <p:extLst>
      <p:ext uri="{BB962C8B-B14F-4D97-AF65-F5344CB8AC3E}">
        <p14:creationId xmlns:p14="http://schemas.microsoft.com/office/powerpoint/2010/main" val="268777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2 Recommender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Collaborative filtering </a:t>
            </a:r>
            <a:r>
              <a:rPr lang="zh-CN" altLang="en-US" dirty="0"/>
              <a:t>：</a:t>
            </a:r>
            <a:endParaRPr lang="en-US" altLang="zh-CN" dirty="0"/>
          </a:p>
          <a:p>
            <a:pPr>
              <a:spcBef>
                <a:spcPts val="0"/>
              </a:spcBef>
              <a:buSzPts val="2800"/>
            </a:pPr>
            <a:endParaRPr lang="en-US" altLang="zh-TW" dirty="0"/>
          </a:p>
          <a:p>
            <a:pPr marL="0" indent="0">
              <a:spcBef>
                <a:spcPts val="0"/>
              </a:spcBef>
              <a:buSzPts val="2800"/>
              <a:buNone/>
            </a:pPr>
            <a:endParaRPr lang="zh-TW" altLang="en-US" dirty="0"/>
          </a:p>
        </p:txBody>
      </p:sp>
      <p:pic>
        <p:nvPicPr>
          <p:cNvPr id="3" name="图片 2">
            <a:extLst>
              <a:ext uri="{FF2B5EF4-FFF2-40B4-BE49-F238E27FC236}">
                <a16:creationId xmlns:a16="http://schemas.microsoft.com/office/drawing/2014/main" id="{863E570C-1EED-4676-B7D4-C2593C13A027}"/>
              </a:ext>
            </a:extLst>
          </p:cNvPr>
          <p:cNvPicPr>
            <a:picLocks noChangeAspect="1"/>
          </p:cNvPicPr>
          <p:nvPr/>
        </p:nvPicPr>
        <p:blipFill>
          <a:blip r:embed="rId3"/>
          <a:stretch>
            <a:fillRect/>
          </a:stretch>
        </p:blipFill>
        <p:spPr>
          <a:xfrm>
            <a:off x="561435" y="2638425"/>
            <a:ext cx="6565229" cy="3054353"/>
          </a:xfrm>
          <a:prstGeom prst="rect">
            <a:avLst/>
          </a:prstGeom>
        </p:spPr>
      </p:pic>
      <p:pic>
        <p:nvPicPr>
          <p:cNvPr id="4" name="图片 3">
            <a:extLst>
              <a:ext uri="{FF2B5EF4-FFF2-40B4-BE49-F238E27FC236}">
                <a16:creationId xmlns:a16="http://schemas.microsoft.com/office/drawing/2014/main" id="{F2EFB617-7035-49E2-9C6A-F18E622B4F9B}"/>
              </a:ext>
            </a:extLst>
          </p:cNvPr>
          <p:cNvPicPr>
            <a:picLocks noChangeAspect="1"/>
          </p:cNvPicPr>
          <p:nvPr/>
        </p:nvPicPr>
        <p:blipFill>
          <a:blip r:embed="rId4"/>
          <a:stretch>
            <a:fillRect/>
          </a:stretch>
        </p:blipFill>
        <p:spPr>
          <a:xfrm>
            <a:off x="7482144" y="2466974"/>
            <a:ext cx="3871656" cy="2992289"/>
          </a:xfrm>
          <a:prstGeom prst="rect">
            <a:avLst/>
          </a:prstGeom>
        </p:spPr>
      </p:pic>
    </p:spTree>
    <p:extLst>
      <p:ext uri="{BB962C8B-B14F-4D97-AF65-F5344CB8AC3E}">
        <p14:creationId xmlns:p14="http://schemas.microsoft.com/office/powerpoint/2010/main" val="2318528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2 Recommender Systems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Latent Factor </a:t>
            </a:r>
            <a:r>
              <a:rPr lang="zh-CN" altLang="en-US" dirty="0"/>
              <a:t>：</a:t>
            </a:r>
            <a:endParaRPr lang="en-US" altLang="zh-CN" dirty="0"/>
          </a:p>
          <a:p>
            <a:pPr>
              <a:spcBef>
                <a:spcPts val="0"/>
              </a:spcBef>
              <a:buSzPts val="2800"/>
            </a:pPr>
            <a:endParaRPr lang="en-US" altLang="zh-TW" dirty="0"/>
          </a:p>
          <a:p>
            <a:pPr marL="0" indent="0">
              <a:spcBef>
                <a:spcPts val="0"/>
              </a:spcBef>
              <a:buSzPts val="2800"/>
              <a:buNone/>
            </a:pPr>
            <a:endParaRPr lang="zh-TW" altLang="en-US" dirty="0"/>
          </a:p>
        </p:txBody>
      </p:sp>
      <p:pic>
        <p:nvPicPr>
          <p:cNvPr id="5" name="图片 4">
            <a:extLst>
              <a:ext uri="{FF2B5EF4-FFF2-40B4-BE49-F238E27FC236}">
                <a16:creationId xmlns:a16="http://schemas.microsoft.com/office/drawing/2014/main" id="{5F65150E-941F-4807-B457-29D0A939B53A}"/>
              </a:ext>
            </a:extLst>
          </p:cNvPr>
          <p:cNvPicPr>
            <a:picLocks noChangeAspect="1"/>
          </p:cNvPicPr>
          <p:nvPr/>
        </p:nvPicPr>
        <p:blipFill>
          <a:blip r:embed="rId3"/>
          <a:stretch>
            <a:fillRect/>
          </a:stretch>
        </p:blipFill>
        <p:spPr>
          <a:xfrm>
            <a:off x="1015305" y="2381250"/>
            <a:ext cx="4379586" cy="3975102"/>
          </a:xfrm>
          <a:prstGeom prst="rect">
            <a:avLst/>
          </a:prstGeom>
        </p:spPr>
      </p:pic>
      <p:pic>
        <p:nvPicPr>
          <p:cNvPr id="2" name="图片 1">
            <a:extLst>
              <a:ext uri="{FF2B5EF4-FFF2-40B4-BE49-F238E27FC236}">
                <a16:creationId xmlns:a16="http://schemas.microsoft.com/office/drawing/2014/main" id="{956B620F-9A7F-4D0F-9EAD-A11FC665BF1B}"/>
              </a:ext>
            </a:extLst>
          </p:cNvPr>
          <p:cNvPicPr>
            <a:picLocks noChangeAspect="1"/>
          </p:cNvPicPr>
          <p:nvPr/>
        </p:nvPicPr>
        <p:blipFill>
          <a:blip r:embed="rId4"/>
          <a:stretch>
            <a:fillRect/>
          </a:stretch>
        </p:blipFill>
        <p:spPr>
          <a:xfrm>
            <a:off x="5938709" y="2381250"/>
            <a:ext cx="5415091" cy="3996024"/>
          </a:xfrm>
          <a:prstGeom prst="rect">
            <a:avLst/>
          </a:prstGeom>
        </p:spPr>
      </p:pic>
    </p:spTree>
    <p:extLst>
      <p:ext uri="{BB962C8B-B14F-4D97-AF65-F5344CB8AC3E}">
        <p14:creationId xmlns:p14="http://schemas.microsoft.com/office/powerpoint/2010/main" val="3240681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Recommender Systems for POJ </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General overview of the approach</a:t>
            </a:r>
            <a:r>
              <a:rPr lang="zh-CN" altLang="en-US" dirty="0"/>
              <a:t>：</a:t>
            </a:r>
            <a:endParaRPr lang="en-US" altLang="zh-CN" dirty="0"/>
          </a:p>
          <a:p>
            <a:pPr>
              <a:spcBef>
                <a:spcPts val="0"/>
              </a:spcBef>
              <a:buSzPts val="2800"/>
            </a:pPr>
            <a:endParaRPr lang="en-US" altLang="zh-TW" dirty="0"/>
          </a:p>
          <a:p>
            <a:pPr marL="0" indent="0">
              <a:spcBef>
                <a:spcPts val="0"/>
              </a:spcBef>
              <a:buSzPts val="2800"/>
              <a:buNone/>
            </a:pPr>
            <a:endParaRPr lang="zh-TW" altLang="en-US" dirty="0"/>
          </a:p>
        </p:txBody>
      </p:sp>
      <p:pic>
        <p:nvPicPr>
          <p:cNvPr id="3" name="图片 2">
            <a:extLst>
              <a:ext uri="{FF2B5EF4-FFF2-40B4-BE49-F238E27FC236}">
                <a16:creationId xmlns:a16="http://schemas.microsoft.com/office/drawing/2014/main" id="{38889C9D-5031-4032-A1F1-285119B09DBB}"/>
              </a:ext>
            </a:extLst>
          </p:cNvPr>
          <p:cNvPicPr>
            <a:picLocks noChangeAspect="1"/>
          </p:cNvPicPr>
          <p:nvPr/>
        </p:nvPicPr>
        <p:blipFill>
          <a:blip r:embed="rId3"/>
          <a:stretch>
            <a:fillRect/>
          </a:stretch>
        </p:blipFill>
        <p:spPr>
          <a:xfrm>
            <a:off x="1401544" y="2195179"/>
            <a:ext cx="9388911" cy="3437859"/>
          </a:xfrm>
          <a:prstGeom prst="rect">
            <a:avLst/>
          </a:prstGeom>
        </p:spPr>
      </p:pic>
    </p:spTree>
    <p:extLst>
      <p:ext uri="{BB962C8B-B14F-4D97-AF65-F5344CB8AC3E}">
        <p14:creationId xmlns:p14="http://schemas.microsoft.com/office/powerpoint/2010/main" val="3229855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Recommender Systems for POJ </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 Users vs problems matrix</a:t>
            </a:r>
            <a:r>
              <a:rPr lang="zh-CN" altLang="en-US" dirty="0"/>
              <a:t>：</a:t>
            </a:r>
            <a:endParaRPr lang="en-US" altLang="zh-CN" dirty="0"/>
          </a:p>
          <a:p>
            <a:pPr>
              <a:spcBef>
                <a:spcPts val="0"/>
              </a:spcBef>
              <a:buSzPts val="2800"/>
            </a:pPr>
            <a:endParaRPr lang="en-US" altLang="zh-TW" dirty="0"/>
          </a:p>
          <a:p>
            <a:pPr marL="0" indent="0">
              <a:spcBef>
                <a:spcPts val="0"/>
              </a:spcBef>
              <a:buSzPts val="2800"/>
              <a:buNone/>
            </a:pPr>
            <a:endParaRPr lang="zh-TW" altLang="en-US" dirty="0"/>
          </a:p>
        </p:txBody>
      </p:sp>
      <p:pic>
        <p:nvPicPr>
          <p:cNvPr id="2" name="图片 1">
            <a:extLst>
              <a:ext uri="{FF2B5EF4-FFF2-40B4-BE49-F238E27FC236}">
                <a16:creationId xmlns:a16="http://schemas.microsoft.com/office/drawing/2014/main" id="{41A0D9B0-AE55-4AF5-8217-D190C730D54B}"/>
              </a:ext>
            </a:extLst>
          </p:cNvPr>
          <p:cNvPicPr>
            <a:picLocks noChangeAspect="1"/>
          </p:cNvPicPr>
          <p:nvPr/>
        </p:nvPicPr>
        <p:blipFill>
          <a:blip r:embed="rId3"/>
          <a:stretch>
            <a:fillRect/>
          </a:stretch>
        </p:blipFill>
        <p:spPr>
          <a:xfrm>
            <a:off x="2171700" y="2880647"/>
            <a:ext cx="7848600" cy="2066925"/>
          </a:xfrm>
          <a:prstGeom prst="rect">
            <a:avLst/>
          </a:prstGeom>
        </p:spPr>
      </p:pic>
    </p:spTree>
    <p:extLst>
      <p:ext uri="{BB962C8B-B14F-4D97-AF65-F5344CB8AC3E}">
        <p14:creationId xmlns:p14="http://schemas.microsoft.com/office/powerpoint/2010/main" val="2396312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Recommender Systems for POJ </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user-problem interaction extended matrix M∗</a:t>
            </a:r>
            <a:r>
              <a:rPr lang="zh-CN" altLang="en-US" dirty="0"/>
              <a:t>：</a:t>
            </a:r>
            <a:endParaRPr lang="en-US" altLang="zh-CN" dirty="0"/>
          </a:p>
          <a:p>
            <a:pPr>
              <a:spcBef>
                <a:spcPts val="0"/>
              </a:spcBef>
              <a:buSzPts val="2800"/>
            </a:pPr>
            <a:endParaRPr lang="en-US" altLang="zh-TW" dirty="0"/>
          </a:p>
          <a:p>
            <a:pPr marL="0" indent="0">
              <a:spcBef>
                <a:spcPts val="0"/>
              </a:spcBef>
              <a:buSzPts val="2800"/>
              <a:buNone/>
            </a:pPr>
            <a:endParaRPr lang="zh-TW" altLang="en-US" dirty="0"/>
          </a:p>
        </p:txBody>
      </p:sp>
      <p:pic>
        <p:nvPicPr>
          <p:cNvPr id="2" name="图片 1">
            <a:extLst>
              <a:ext uri="{FF2B5EF4-FFF2-40B4-BE49-F238E27FC236}">
                <a16:creationId xmlns:a16="http://schemas.microsoft.com/office/drawing/2014/main" id="{4C369C35-BF98-4B39-B02D-A47FADA64699}"/>
              </a:ext>
            </a:extLst>
          </p:cNvPr>
          <p:cNvPicPr>
            <a:picLocks noChangeAspect="1"/>
          </p:cNvPicPr>
          <p:nvPr/>
        </p:nvPicPr>
        <p:blipFill>
          <a:blip r:embed="rId3"/>
          <a:stretch>
            <a:fillRect/>
          </a:stretch>
        </p:blipFill>
        <p:spPr>
          <a:xfrm>
            <a:off x="2305050" y="2334582"/>
            <a:ext cx="7581900" cy="3802947"/>
          </a:xfrm>
          <a:prstGeom prst="rect">
            <a:avLst/>
          </a:prstGeom>
        </p:spPr>
      </p:pic>
    </p:spTree>
    <p:extLst>
      <p:ext uri="{BB962C8B-B14F-4D97-AF65-F5344CB8AC3E}">
        <p14:creationId xmlns:p14="http://schemas.microsoft.com/office/powerpoint/2010/main" val="1018255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Recommender Systems for POJ </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1"/>
            <a:ext cx="10011032" cy="538160"/>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Preprocessing natural noise</a:t>
            </a:r>
            <a:r>
              <a:rPr lang="zh-CN" altLang="en-US" dirty="0"/>
              <a:t>：</a:t>
            </a:r>
            <a:endParaRPr lang="en-US" altLang="zh-CN" dirty="0"/>
          </a:p>
          <a:p>
            <a:pPr>
              <a:spcBef>
                <a:spcPts val="0"/>
              </a:spcBef>
              <a:buSzPts val="2800"/>
            </a:pPr>
            <a:endParaRPr lang="en-US" altLang="zh-CN" dirty="0"/>
          </a:p>
          <a:p>
            <a:pPr marL="0" indent="0">
              <a:spcBef>
                <a:spcPts val="0"/>
              </a:spcBef>
              <a:buSzPts val="2800"/>
              <a:buNone/>
            </a:pPr>
            <a:endParaRPr lang="zh-TW" altLang="en-US" dirty="0"/>
          </a:p>
        </p:txBody>
      </p:sp>
      <p:sp>
        <p:nvSpPr>
          <p:cNvPr id="3" name="矩形 2">
            <a:extLst>
              <a:ext uri="{FF2B5EF4-FFF2-40B4-BE49-F238E27FC236}">
                <a16:creationId xmlns:a16="http://schemas.microsoft.com/office/drawing/2014/main" id="{5790AEDC-1F5C-4B7B-833B-6B92A2A2708D}"/>
              </a:ext>
            </a:extLst>
          </p:cNvPr>
          <p:cNvSpPr/>
          <p:nvPr/>
        </p:nvSpPr>
        <p:spPr>
          <a:xfrm>
            <a:off x="1162050" y="2546193"/>
            <a:ext cx="4933950" cy="2308324"/>
          </a:xfrm>
          <a:prstGeom prst="rect">
            <a:avLst/>
          </a:prstGeom>
        </p:spPr>
        <p:txBody>
          <a:bodyPr wrap="square">
            <a:spAutoFit/>
          </a:bodyPr>
          <a:lstStyle/>
          <a:p>
            <a:pPr>
              <a:spcBef>
                <a:spcPts val="0"/>
              </a:spcBef>
              <a:buSzPts val="2800"/>
            </a:pPr>
            <a:r>
              <a:rPr lang="en-US" altLang="zh-CN" dirty="0"/>
              <a:t>Users’ tendencies: </a:t>
            </a:r>
          </a:p>
          <a:p>
            <a:pPr lvl="1">
              <a:spcBef>
                <a:spcPts val="0"/>
              </a:spcBef>
              <a:buSzPts val="2800"/>
            </a:pPr>
            <a:r>
              <a:rPr lang="en-US" altLang="zh-CN" dirty="0"/>
              <a:t>1. Precise user: Solve most of the problems quickly. </a:t>
            </a:r>
          </a:p>
          <a:p>
            <a:pPr lvl="1">
              <a:spcBef>
                <a:spcPts val="0"/>
              </a:spcBef>
              <a:buSzPts val="2800"/>
            </a:pPr>
            <a:r>
              <a:rPr lang="en-US" altLang="zh-CN" dirty="0"/>
              <a:t>2. Imprecise user: Have many failed solution attempts.</a:t>
            </a:r>
          </a:p>
          <a:p>
            <a:pPr lvl="1">
              <a:spcBef>
                <a:spcPts val="0"/>
              </a:spcBef>
              <a:buSzPts val="2800"/>
            </a:pPr>
            <a:r>
              <a:rPr lang="en-US" altLang="zh-CN" dirty="0"/>
              <a:t>3. Variable user: Varies between the two categories.</a:t>
            </a:r>
          </a:p>
          <a:p>
            <a:pPr>
              <a:spcBef>
                <a:spcPts val="0"/>
              </a:spcBef>
              <a:buSzPts val="2800"/>
            </a:pPr>
            <a:endParaRPr lang="en-US" altLang="zh-TW" dirty="0"/>
          </a:p>
        </p:txBody>
      </p:sp>
      <p:sp>
        <p:nvSpPr>
          <p:cNvPr id="4" name="矩形 3">
            <a:extLst>
              <a:ext uri="{FF2B5EF4-FFF2-40B4-BE49-F238E27FC236}">
                <a16:creationId xmlns:a16="http://schemas.microsoft.com/office/drawing/2014/main" id="{DD6BA9E0-81A7-44CF-8549-A38731B599BD}"/>
              </a:ext>
            </a:extLst>
          </p:cNvPr>
          <p:cNvSpPr/>
          <p:nvPr/>
        </p:nvSpPr>
        <p:spPr>
          <a:xfrm>
            <a:off x="6400798" y="2551837"/>
            <a:ext cx="4933950" cy="2031325"/>
          </a:xfrm>
          <a:prstGeom prst="rect">
            <a:avLst/>
          </a:prstGeom>
        </p:spPr>
        <p:txBody>
          <a:bodyPr wrap="square">
            <a:spAutoFit/>
          </a:bodyPr>
          <a:lstStyle/>
          <a:p>
            <a:r>
              <a:rPr lang="en-US" altLang="zh-CN" dirty="0"/>
              <a:t>Problems’ tendencies: </a:t>
            </a:r>
          </a:p>
          <a:p>
            <a:r>
              <a:rPr lang="en-US" altLang="zh-CN" dirty="0"/>
              <a:t>	1. Easy problem: users need only a few 	failed solution attempts. </a:t>
            </a:r>
          </a:p>
          <a:p>
            <a:r>
              <a:rPr lang="en-US" altLang="zh-CN" dirty="0"/>
              <a:t>	2. Difficult problem: users need several 	previous failed solution attempts.</a:t>
            </a:r>
          </a:p>
          <a:p>
            <a:r>
              <a:rPr lang="en-US" altLang="zh-CN" dirty="0"/>
              <a:t>	3. Variable problem: varies between the 	two categories.</a:t>
            </a:r>
            <a:endParaRPr lang="zh-CN" altLang="en-US" dirty="0"/>
          </a:p>
        </p:txBody>
      </p:sp>
      <p:pic>
        <p:nvPicPr>
          <p:cNvPr id="5" name="图片 4">
            <a:extLst>
              <a:ext uri="{FF2B5EF4-FFF2-40B4-BE49-F238E27FC236}">
                <a16:creationId xmlns:a16="http://schemas.microsoft.com/office/drawing/2014/main" id="{D88986EF-A41C-493E-899D-5F926192FB51}"/>
              </a:ext>
            </a:extLst>
          </p:cNvPr>
          <p:cNvPicPr>
            <a:picLocks noChangeAspect="1"/>
          </p:cNvPicPr>
          <p:nvPr/>
        </p:nvPicPr>
        <p:blipFill>
          <a:blip r:embed="rId3"/>
          <a:stretch>
            <a:fillRect/>
          </a:stretch>
        </p:blipFill>
        <p:spPr>
          <a:xfrm>
            <a:off x="2857628" y="4588695"/>
            <a:ext cx="5972175" cy="1857375"/>
          </a:xfrm>
          <a:prstGeom prst="rect">
            <a:avLst/>
          </a:prstGeom>
        </p:spPr>
      </p:pic>
    </p:spTree>
    <p:extLst>
      <p:ext uri="{BB962C8B-B14F-4D97-AF65-F5344CB8AC3E}">
        <p14:creationId xmlns:p14="http://schemas.microsoft.com/office/powerpoint/2010/main" val="3460672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Recommender Systems for POJ </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Experimental study</a:t>
            </a:r>
            <a:r>
              <a:rPr lang="zh-CN" altLang="en-US" dirty="0"/>
              <a:t>：</a:t>
            </a:r>
            <a:endParaRPr lang="en-US" altLang="zh-CN" dirty="0"/>
          </a:p>
          <a:p>
            <a:pPr>
              <a:spcBef>
                <a:spcPts val="0"/>
              </a:spcBef>
              <a:buSzPts val="2800"/>
            </a:pPr>
            <a:endParaRPr lang="en-US" altLang="zh-TW" dirty="0"/>
          </a:p>
          <a:p>
            <a:pPr marL="0" indent="0">
              <a:spcBef>
                <a:spcPts val="0"/>
              </a:spcBef>
              <a:buSzPts val="2800"/>
              <a:buNone/>
            </a:pPr>
            <a:endParaRPr lang="zh-TW" altLang="en-US" dirty="0"/>
          </a:p>
        </p:txBody>
      </p:sp>
      <p:pic>
        <p:nvPicPr>
          <p:cNvPr id="2" name="图片 1">
            <a:extLst>
              <a:ext uri="{FF2B5EF4-FFF2-40B4-BE49-F238E27FC236}">
                <a16:creationId xmlns:a16="http://schemas.microsoft.com/office/drawing/2014/main" id="{FF19D95C-F7F7-49AE-8EA8-4FA8EF8EB6DB}"/>
              </a:ext>
            </a:extLst>
          </p:cNvPr>
          <p:cNvPicPr>
            <a:picLocks noChangeAspect="1"/>
          </p:cNvPicPr>
          <p:nvPr/>
        </p:nvPicPr>
        <p:blipFill>
          <a:blip r:embed="rId3"/>
          <a:stretch>
            <a:fillRect/>
          </a:stretch>
        </p:blipFill>
        <p:spPr>
          <a:xfrm>
            <a:off x="4514850" y="1827556"/>
            <a:ext cx="5200650" cy="4528796"/>
          </a:xfrm>
          <a:prstGeom prst="rect">
            <a:avLst/>
          </a:prstGeom>
        </p:spPr>
      </p:pic>
    </p:spTree>
    <p:extLst>
      <p:ext uri="{BB962C8B-B14F-4D97-AF65-F5344CB8AC3E}">
        <p14:creationId xmlns:p14="http://schemas.microsoft.com/office/powerpoint/2010/main" val="3054963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Recommender Systems for POJ </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Experimental study </a:t>
            </a:r>
            <a:r>
              <a:rPr lang="zh-CN" altLang="en-US" dirty="0"/>
              <a:t>：</a:t>
            </a:r>
            <a:endParaRPr lang="en-US" altLang="zh-CN" dirty="0"/>
          </a:p>
          <a:p>
            <a:pPr>
              <a:spcBef>
                <a:spcPts val="0"/>
              </a:spcBef>
              <a:buSzPts val="2800"/>
            </a:pPr>
            <a:endParaRPr lang="en-US" altLang="zh-TW" dirty="0"/>
          </a:p>
          <a:p>
            <a:pPr marL="0" indent="0">
              <a:spcBef>
                <a:spcPts val="0"/>
              </a:spcBef>
              <a:buSzPts val="2800"/>
              <a:buNone/>
            </a:pPr>
            <a:endParaRPr lang="zh-TW" altLang="en-US" dirty="0"/>
          </a:p>
        </p:txBody>
      </p:sp>
      <p:pic>
        <p:nvPicPr>
          <p:cNvPr id="2" name="图片 1">
            <a:extLst>
              <a:ext uri="{FF2B5EF4-FFF2-40B4-BE49-F238E27FC236}">
                <a16:creationId xmlns:a16="http://schemas.microsoft.com/office/drawing/2014/main" id="{02AF5A71-CC6E-4AD2-B374-2970E7DA19C9}"/>
              </a:ext>
            </a:extLst>
          </p:cNvPr>
          <p:cNvPicPr>
            <a:picLocks noChangeAspect="1"/>
          </p:cNvPicPr>
          <p:nvPr/>
        </p:nvPicPr>
        <p:blipFill>
          <a:blip r:embed="rId3"/>
          <a:stretch>
            <a:fillRect/>
          </a:stretch>
        </p:blipFill>
        <p:spPr>
          <a:xfrm>
            <a:off x="2047875" y="2099597"/>
            <a:ext cx="8096250" cy="3629025"/>
          </a:xfrm>
          <a:prstGeom prst="rect">
            <a:avLst/>
          </a:prstGeom>
        </p:spPr>
      </p:pic>
    </p:spTree>
    <p:extLst>
      <p:ext uri="{BB962C8B-B14F-4D97-AF65-F5344CB8AC3E}">
        <p14:creationId xmlns:p14="http://schemas.microsoft.com/office/powerpoint/2010/main" val="1625978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Recommender Systems for POJ </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Experimental study </a:t>
            </a:r>
            <a:r>
              <a:rPr lang="zh-CN" altLang="en-US" dirty="0"/>
              <a:t>：</a:t>
            </a:r>
            <a:endParaRPr lang="en-US" altLang="zh-CN" dirty="0"/>
          </a:p>
          <a:p>
            <a:pPr>
              <a:spcBef>
                <a:spcPts val="0"/>
              </a:spcBef>
              <a:buSzPts val="2800"/>
            </a:pPr>
            <a:endParaRPr lang="en-US" altLang="zh-TW" dirty="0"/>
          </a:p>
          <a:p>
            <a:pPr marL="0" indent="0">
              <a:spcBef>
                <a:spcPts val="0"/>
              </a:spcBef>
              <a:buSzPts val="2800"/>
              <a:buNone/>
            </a:pPr>
            <a:endParaRPr lang="zh-TW" altLang="en-US" dirty="0"/>
          </a:p>
        </p:txBody>
      </p:sp>
      <p:pic>
        <p:nvPicPr>
          <p:cNvPr id="2" name="图片 1">
            <a:extLst>
              <a:ext uri="{FF2B5EF4-FFF2-40B4-BE49-F238E27FC236}">
                <a16:creationId xmlns:a16="http://schemas.microsoft.com/office/drawing/2014/main" id="{418916A5-C826-49E1-9C18-77E6334B3552}"/>
              </a:ext>
            </a:extLst>
          </p:cNvPr>
          <p:cNvPicPr>
            <a:picLocks noChangeAspect="1"/>
          </p:cNvPicPr>
          <p:nvPr/>
        </p:nvPicPr>
        <p:blipFill>
          <a:blip r:embed="rId3"/>
          <a:stretch>
            <a:fillRect/>
          </a:stretch>
        </p:blipFill>
        <p:spPr>
          <a:xfrm>
            <a:off x="2062162" y="2433637"/>
            <a:ext cx="8067675" cy="1666875"/>
          </a:xfrm>
          <a:prstGeom prst="rect">
            <a:avLst/>
          </a:prstGeom>
        </p:spPr>
      </p:pic>
      <p:pic>
        <p:nvPicPr>
          <p:cNvPr id="3" name="图片 2">
            <a:extLst>
              <a:ext uri="{FF2B5EF4-FFF2-40B4-BE49-F238E27FC236}">
                <a16:creationId xmlns:a16="http://schemas.microsoft.com/office/drawing/2014/main" id="{57FE00C4-5352-4EEB-ADF7-01DCEDF3C600}"/>
              </a:ext>
            </a:extLst>
          </p:cNvPr>
          <p:cNvPicPr>
            <a:picLocks noChangeAspect="1"/>
          </p:cNvPicPr>
          <p:nvPr/>
        </p:nvPicPr>
        <p:blipFill>
          <a:blip r:embed="rId4"/>
          <a:stretch>
            <a:fillRect/>
          </a:stretch>
        </p:blipFill>
        <p:spPr>
          <a:xfrm>
            <a:off x="2138361" y="4385595"/>
            <a:ext cx="8039100" cy="1466850"/>
          </a:xfrm>
          <a:prstGeom prst="rect">
            <a:avLst/>
          </a:prstGeom>
        </p:spPr>
      </p:pic>
    </p:spTree>
    <p:extLst>
      <p:ext uri="{BB962C8B-B14F-4D97-AF65-F5344CB8AC3E}">
        <p14:creationId xmlns:p14="http://schemas.microsoft.com/office/powerpoint/2010/main" val="25829232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3 Recommender Systems for POJ </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Experimental study </a:t>
            </a:r>
            <a:r>
              <a:rPr lang="zh-CN" altLang="en-US" dirty="0"/>
              <a:t>：</a:t>
            </a:r>
            <a:endParaRPr lang="en-US" altLang="zh-CN" dirty="0"/>
          </a:p>
          <a:p>
            <a:pPr>
              <a:spcBef>
                <a:spcPts val="0"/>
              </a:spcBef>
              <a:buSzPts val="2800"/>
            </a:pPr>
            <a:endParaRPr lang="en-US" altLang="zh-TW" dirty="0"/>
          </a:p>
          <a:p>
            <a:pPr marL="0" indent="0">
              <a:spcBef>
                <a:spcPts val="0"/>
              </a:spcBef>
              <a:buSzPts val="2800"/>
              <a:buNone/>
            </a:pPr>
            <a:endParaRPr lang="zh-TW" altLang="en-US" dirty="0"/>
          </a:p>
        </p:txBody>
      </p:sp>
      <p:pic>
        <p:nvPicPr>
          <p:cNvPr id="3" name="图片 2">
            <a:extLst>
              <a:ext uri="{FF2B5EF4-FFF2-40B4-BE49-F238E27FC236}">
                <a16:creationId xmlns:a16="http://schemas.microsoft.com/office/drawing/2014/main" id="{B107FC84-15BA-4D9D-9484-8B652E4D9DF3}"/>
              </a:ext>
            </a:extLst>
          </p:cNvPr>
          <p:cNvPicPr>
            <a:picLocks noChangeAspect="1"/>
          </p:cNvPicPr>
          <p:nvPr/>
        </p:nvPicPr>
        <p:blipFill>
          <a:blip r:embed="rId3"/>
          <a:stretch>
            <a:fillRect/>
          </a:stretch>
        </p:blipFill>
        <p:spPr>
          <a:xfrm>
            <a:off x="4300666" y="2252664"/>
            <a:ext cx="4533900" cy="2105025"/>
          </a:xfrm>
          <a:prstGeom prst="rect">
            <a:avLst/>
          </a:prstGeom>
        </p:spPr>
      </p:pic>
      <p:pic>
        <p:nvPicPr>
          <p:cNvPr id="4" name="图片 3">
            <a:extLst>
              <a:ext uri="{FF2B5EF4-FFF2-40B4-BE49-F238E27FC236}">
                <a16:creationId xmlns:a16="http://schemas.microsoft.com/office/drawing/2014/main" id="{70ECD214-AE6B-40F3-9121-F9A8080C1A69}"/>
              </a:ext>
            </a:extLst>
          </p:cNvPr>
          <p:cNvPicPr>
            <a:picLocks noChangeAspect="1"/>
          </p:cNvPicPr>
          <p:nvPr/>
        </p:nvPicPr>
        <p:blipFill>
          <a:blip r:embed="rId4"/>
          <a:stretch>
            <a:fillRect/>
          </a:stretch>
        </p:blipFill>
        <p:spPr>
          <a:xfrm>
            <a:off x="3491041" y="4357689"/>
            <a:ext cx="6153150" cy="2181225"/>
          </a:xfrm>
          <a:prstGeom prst="rect">
            <a:avLst/>
          </a:prstGeom>
        </p:spPr>
      </p:pic>
    </p:spTree>
    <p:extLst>
      <p:ext uri="{BB962C8B-B14F-4D97-AF65-F5344CB8AC3E}">
        <p14:creationId xmlns:p14="http://schemas.microsoft.com/office/powerpoint/2010/main" val="1230821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4 Experimental study </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Data Transform</a:t>
            </a:r>
            <a:r>
              <a:rPr lang="zh-CN" altLang="en-US" dirty="0"/>
              <a:t>：</a:t>
            </a:r>
            <a:endParaRPr lang="en-US" altLang="zh-CN" dirty="0"/>
          </a:p>
          <a:p>
            <a:pPr>
              <a:spcBef>
                <a:spcPts val="0"/>
              </a:spcBef>
              <a:buSzPts val="2800"/>
            </a:pPr>
            <a:endParaRPr lang="en-US" altLang="zh-TW" dirty="0"/>
          </a:p>
          <a:p>
            <a:pPr marL="0" indent="0">
              <a:spcBef>
                <a:spcPts val="0"/>
              </a:spcBef>
              <a:buSzPts val="2800"/>
              <a:buNone/>
            </a:pPr>
            <a:endParaRPr lang="zh-TW" altLang="en-US" dirty="0"/>
          </a:p>
        </p:txBody>
      </p:sp>
      <p:pic>
        <p:nvPicPr>
          <p:cNvPr id="2" name="图片 1">
            <a:extLst>
              <a:ext uri="{FF2B5EF4-FFF2-40B4-BE49-F238E27FC236}">
                <a16:creationId xmlns:a16="http://schemas.microsoft.com/office/drawing/2014/main" id="{618287A4-943D-487C-841C-FB5236E2CC0B}"/>
              </a:ext>
            </a:extLst>
          </p:cNvPr>
          <p:cNvPicPr>
            <a:picLocks noChangeAspect="1"/>
          </p:cNvPicPr>
          <p:nvPr/>
        </p:nvPicPr>
        <p:blipFill rotWithShape="1">
          <a:blip r:embed="rId3"/>
          <a:srcRect b="42759"/>
          <a:stretch/>
        </p:blipFill>
        <p:spPr>
          <a:xfrm>
            <a:off x="1100553" y="2398841"/>
            <a:ext cx="2678467" cy="3036888"/>
          </a:xfrm>
          <a:prstGeom prst="rect">
            <a:avLst/>
          </a:prstGeom>
        </p:spPr>
      </p:pic>
      <p:pic>
        <p:nvPicPr>
          <p:cNvPr id="3" name="图片 2">
            <a:extLst>
              <a:ext uri="{FF2B5EF4-FFF2-40B4-BE49-F238E27FC236}">
                <a16:creationId xmlns:a16="http://schemas.microsoft.com/office/drawing/2014/main" id="{76F4C9C2-917B-40A2-AF19-4F7843DE54D4}"/>
              </a:ext>
            </a:extLst>
          </p:cNvPr>
          <p:cNvPicPr>
            <a:picLocks noChangeAspect="1"/>
          </p:cNvPicPr>
          <p:nvPr/>
        </p:nvPicPr>
        <p:blipFill>
          <a:blip r:embed="rId4"/>
          <a:stretch>
            <a:fillRect/>
          </a:stretch>
        </p:blipFill>
        <p:spPr>
          <a:xfrm>
            <a:off x="1100553" y="5734050"/>
            <a:ext cx="1476375" cy="266700"/>
          </a:xfrm>
          <a:prstGeom prst="rect">
            <a:avLst/>
          </a:prstGeom>
        </p:spPr>
      </p:pic>
      <p:pic>
        <p:nvPicPr>
          <p:cNvPr id="4" name="图片 3">
            <a:extLst>
              <a:ext uri="{FF2B5EF4-FFF2-40B4-BE49-F238E27FC236}">
                <a16:creationId xmlns:a16="http://schemas.microsoft.com/office/drawing/2014/main" id="{A09FF440-E313-4923-9816-2EFA5FF82C7A}"/>
              </a:ext>
            </a:extLst>
          </p:cNvPr>
          <p:cNvPicPr>
            <a:picLocks noChangeAspect="1"/>
          </p:cNvPicPr>
          <p:nvPr/>
        </p:nvPicPr>
        <p:blipFill>
          <a:blip r:embed="rId5"/>
          <a:stretch>
            <a:fillRect/>
          </a:stretch>
        </p:blipFill>
        <p:spPr>
          <a:xfrm>
            <a:off x="4281506" y="2556816"/>
            <a:ext cx="7510443" cy="2933410"/>
          </a:xfrm>
          <a:prstGeom prst="rect">
            <a:avLst/>
          </a:prstGeom>
        </p:spPr>
      </p:pic>
    </p:spTree>
    <p:extLst>
      <p:ext uri="{BB962C8B-B14F-4D97-AF65-F5344CB8AC3E}">
        <p14:creationId xmlns:p14="http://schemas.microsoft.com/office/powerpoint/2010/main" val="3525793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4 Experimental study </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histogram</a:t>
            </a:r>
            <a:r>
              <a:rPr lang="zh-CN" altLang="en-US" dirty="0"/>
              <a:t>：</a:t>
            </a:r>
            <a:endParaRPr lang="en-US" altLang="zh-CN" dirty="0"/>
          </a:p>
          <a:p>
            <a:pPr>
              <a:spcBef>
                <a:spcPts val="0"/>
              </a:spcBef>
              <a:buSzPts val="2800"/>
            </a:pPr>
            <a:endParaRPr lang="en-US" altLang="zh-TW" dirty="0"/>
          </a:p>
          <a:p>
            <a:pPr marL="0" indent="0">
              <a:spcBef>
                <a:spcPts val="0"/>
              </a:spcBef>
              <a:buSzPts val="2800"/>
              <a:buNone/>
            </a:pPr>
            <a:endParaRPr lang="zh-TW" altLang="en-US" dirty="0"/>
          </a:p>
        </p:txBody>
      </p:sp>
      <p:pic>
        <p:nvPicPr>
          <p:cNvPr id="5" name="图片 4">
            <a:extLst>
              <a:ext uri="{FF2B5EF4-FFF2-40B4-BE49-F238E27FC236}">
                <a16:creationId xmlns:a16="http://schemas.microsoft.com/office/drawing/2014/main" id="{6E3FB9F7-77CF-40D7-9F66-6D371B014CA9}"/>
              </a:ext>
            </a:extLst>
          </p:cNvPr>
          <p:cNvPicPr/>
          <p:nvPr/>
        </p:nvPicPr>
        <p:blipFill>
          <a:blip r:embed="rId3"/>
          <a:srcRect l="3613" t="10849" b="6360"/>
          <a:stretch>
            <a:fillRect/>
          </a:stretch>
        </p:blipFill>
        <p:spPr>
          <a:xfrm>
            <a:off x="2845752" y="1916174"/>
            <a:ext cx="6500495" cy="4576699"/>
          </a:xfrm>
          <a:prstGeom prst="rect">
            <a:avLst/>
          </a:prstGeom>
          <a:noFill/>
          <a:ln>
            <a:noFill/>
          </a:ln>
        </p:spPr>
      </p:pic>
    </p:spTree>
    <p:extLst>
      <p:ext uri="{BB962C8B-B14F-4D97-AF65-F5344CB8AC3E}">
        <p14:creationId xmlns:p14="http://schemas.microsoft.com/office/powerpoint/2010/main" val="1771599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4 Experimental study </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UBCF</a:t>
            </a:r>
            <a:r>
              <a:rPr lang="zh-CN" altLang="en-US" dirty="0"/>
              <a:t>：</a:t>
            </a:r>
            <a:endParaRPr lang="en-US" altLang="zh-CN" dirty="0"/>
          </a:p>
          <a:p>
            <a:pPr>
              <a:spcBef>
                <a:spcPts val="0"/>
              </a:spcBef>
              <a:buSzPts val="2800"/>
            </a:pPr>
            <a:endParaRPr lang="en-US" altLang="zh-TW" dirty="0"/>
          </a:p>
          <a:p>
            <a:pPr marL="0" indent="0">
              <a:spcBef>
                <a:spcPts val="0"/>
              </a:spcBef>
              <a:buSzPts val="2800"/>
              <a:buNone/>
            </a:pPr>
            <a:endParaRPr lang="zh-TW" altLang="en-US" dirty="0"/>
          </a:p>
        </p:txBody>
      </p:sp>
      <p:pic>
        <p:nvPicPr>
          <p:cNvPr id="5" name="图片 4">
            <a:extLst>
              <a:ext uri="{FF2B5EF4-FFF2-40B4-BE49-F238E27FC236}">
                <a16:creationId xmlns:a16="http://schemas.microsoft.com/office/drawing/2014/main" id="{E608EA0E-C2FF-450F-949B-D2A96014F3CB}"/>
              </a:ext>
            </a:extLst>
          </p:cNvPr>
          <p:cNvPicPr/>
          <p:nvPr/>
        </p:nvPicPr>
        <p:blipFill>
          <a:blip r:embed="rId3"/>
          <a:stretch>
            <a:fillRect/>
          </a:stretch>
        </p:blipFill>
        <p:spPr>
          <a:xfrm>
            <a:off x="2825727" y="1690690"/>
            <a:ext cx="6480000" cy="1800000"/>
          </a:xfrm>
          <a:prstGeom prst="rect">
            <a:avLst/>
          </a:prstGeom>
          <a:noFill/>
          <a:ln>
            <a:noFill/>
          </a:ln>
        </p:spPr>
      </p:pic>
      <p:pic>
        <p:nvPicPr>
          <p:cNvPr id="8" name="图片 7">
            <a:extLst>
              <a:ext uri="{FF2B5EF4-FFF2-40B4-BE49-F238E27FC236}">
                <a16:creationId xmlns:a16="http://schemas.microsoft.com/office/drawing/2014/main" id="{653FF78C-ACE5-49D4-B7F5-229BE0E6EA43}"/>
              </a:ext>
            </a:extLst>
          </p:cNvPr>
          <p:cNvPicPr/>
          <p:nvPr/>
        </p:nvPicPr>
        <p:blipFill>
          <a:blip r:embed="rId4"/>
          <a:stretch>
            <a:fillRect/>
          </a:stretch>
        </p:blipFill>
        <p:spPr>
          <a:xfrm>
            <a:off x="2856000" y="3350663"/>
            <a:ext cx="6480000" cy="1800000"/>
          </a:xfrm>
          <a:prstGeom prst="rect">
            <a:avLst/>
          </a:prstGeom>
          <a:noFill/>
          <a:ln>
            <a:noFill/>
          </a:ln>
        </p:spPr>
      </p:pic>
      <p:pic>
        <p:nvPicPr>
          <p:cNvPr id="9" name="图片 8">
            <a:extLst>
              <a:ext uri="{FF2B5EF4-FFF2-40B4-BE49-F238E27FC236}">
                <a16:creationId xmlns:a16="http://schemas.microsoft.com/office/drawing/2014/main" id="{7F8C9692-5D7F-4D47-9BD5-7828FBC15F16}"/>
              </a:ext>
            </a:extLst>
          </p:cNvPr>
          <p:cNvPicPr/>
          <p:nvPr/>
        </p:nvPicPr>
        <p:blipFill>
          <a:blip r:embed="rId5"/>
          <a:stretch>
            <a:fillRect/>
          </a:stretch>
        </p:blipFill>
        <p:spPr>
          <a:xfrm>
            <a:off x="2856000" y="5058000"/>
            <a:ext cx="6480000" cy="1800000"/>
          </a:xfrm>
          <a:prstGeom prst="rect">
            <a:avLst/>
          </a:prstGeom>
          <a:noFill/>
          <a:ln>
            <a:noFill/>
          </a:ln>
        </p:spPr>
      </p:pic>
    </p:spTree>
    <p:extLst>
      <p:ext uri="{BB962C8B-B14F-4D97-AF65-F5344CB8AC3E}">
        <p14:creationId xmlns:p14="http://schemas.microsoft.com/office/powerpoint/2010/main" val="3418782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4 Experimental study </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Compare</a:t>
            </a:r>
            <a:r>
              <a:rPr lang="zh-CN" altLang="en-US" dirty="0"/>
              <a:t>：</a:t>
            </a:r>
            <a:endParaRPr lang="en-US" altLang="zh-CN" dirty="0"/>
          </a:p>
          <a:p>
            <a:pPr>
              <a:spcBef>
                <a:spcPts val="0"/>
              </a:spcBef>
              <a:buSzPts val="2800"/>
            </a:pPr>
            <a:endParaRPr lang="en-US" altLang="zh-TW" dirty="0"/>
          </a:p>
          <a:p>
            <a:pPr marL="0" indent="0">
              <a:spcBef>
                <a:spcPts val="0"/>
              </a:spcBef>
              <a:buSzPts val="2800"/>
              <a:buNone/>
            </a:pPr>
            <a:endParaRPr lang="zh-TW" altLang="en-US" dirty="0"/>
          </a:p>
        </p:txBody>
      </p:sp>
      <p:pic>
        <p:nvPicPr>
          <p:cNvPr id="3" name="图片 2">
            <a:extLst>
              <a:ext uri="{FF2B5EF4-FFF2-40B4-BE49-F238E27FC236}">
                <a16:creationId xmlns:a16="http://schemas.microsoft.com/office/drawing/2014/main" id="{A9B067B5-11F2-431D-ACD5-5EE6884311AE}"/>
              </a:ext>
            </a:extLst>
          </p:cNvPr>
          <p:cNvPicPr>
            <a:picLocks noChangeAspect="1"/>
          </p:cNvPicPr>
          <p:nvPr/>
        </p:nvPicPr>
        <p:blipFill>
          <a:blip r:embed="rId3"/>
          <a:stretch>
            <a:fillRect/>
          </a:stretch>
        </p:blipFill>
        <p:spPr>
          <a:xfrm>
            <a:off x="775586" y="2463126"/>
            <a:ext cx="10640828" cy="2522543"/>
          </a:xfrm>
          <a:prstGeom prst="rect">
            <a:avLst/>
          </a:prstGeom>
        </p:spPr>
      </p:pic>
    </p:spTree>
    <p:extLst>
      <p:ext uri="{BB962C8B-B14F-4D97-AF65-F5344CB8AC3E}">
        <p14:creationId xmlns:p14="http://schemas.microsoft.com/office/powerpoint/2010/main" val="3034146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4 Experimental study </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RMSE</a:t>
            </a:r>
            <a:r>
              <a:rPr lang="zh-CN" altLang="en-US" dirty="0"/>
              <a:t>：</a:t>
            </a:r>
            <a:endParaRPr lang="en-US" altLang="zh-CN" dirty="0"/>
          </a:p>
          <a:p>
            <a:pPr>
              <a:spcBef>
                <a:spcPts val="0"/>
              </a:spcBef>
              <a:buSzPts val="2800"/>
            </a:pPr>
            <a:endParaRPr lang="en-US" altLang="zh-TW" dirty="0"/>
          </a:p>
          <a:p>
            <a:pPr marL="0" indent="0">
              <a:spcBef>
                <a:spcPts val="0"/>
              </a:spcBef>
              <a:buSzPts val="2800"/>
              <a:buNone/>
            </a:pPr>
            <a:endParaRPr lang="zh-TW" altLang="en-US" dirty="0"/>
          </a:p>
        </p:txBody>
      </p:sp>
      <p:pic>
        <p:nvPicPr>
          <p:cNvPr id="6" name="图片 5">
            <a:extLst>
              <a:ext uri="{FF2B5EF4-FFF2-40B4-BE49-F238E27FC236}">
                <a16:creationId xmlns:a16="http://schemas.microsoft.com/office/drawing/2014/main" id="{1DD6554E-C34E-4169-9A7A-BEECE3E37886}"/>
              </a:ext>
            </a:extLst>
          </p:cNvPr>
          <p:cNvPicPr/>
          <p:nvPr/>
        </p:nvPicPr>
        <p:blipFill>
          <a:blip r:embed="rId3"/>
          <a:srcRect l="2505" r="9032" b="3377"/>
          <a:stretch>
            <a:fillRect/>
          </a:stretch>
        </p:blipFill>
        <p:spPr>
          <a:xfrm>
            <a:off x="3381829" y="1589405"/>
            <a:ext cx="7039428" cy="5132072"/>
          </a:xfrm>
          <a:prstGeom prst="rect">
            <a:avLst/>
          </a:prstGeom>
          <a:noFill/>
          <a:ln>
            <a:noFill/>
          </a:ln>
        </p:spPr>
      </p:pic>
    </p:spTree>
    <p:extLst>
      <p:ext uri="{BB962C8B-B14F-4D97-AF65-F5344CB8AC3E}">
        <p14:creationId xmlns:p14="http://schemas.microsoft.com/office/powerpoint/2010/main" val="17010115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altLang="zh-CN" dirty="0"/>
              <a:t>4 Experimental study </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lang="en-US"/>
          </a:p>
        </p:txBody>
      </p:sp>
      <p:sp>
        <p:nvSpPr>
          <p:cNvPr id="7" name="Google Shape;106;p15">
            <a:extLst>
              <a:ext uri="{FF2B5EF4-FFF2-40B4-BE49-F238E27FC236}">
                <a16:creationId xmlns:a16="http://schemas.microsoft.com/office/drawing/2014/main"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RMSE(</a:t>
            </a:r>
            <a:r>
              <a:rPr lang="zh-CN" altLang="zh-CN" dirty="0"/>
              <a:t>红色</a:t>
            </a:r>
            <a:r>
              <a:rPr lang="en-US" altLang="zh-CN" dirty="0"/>
              <a:t>)/MSE(</a:t>
            </a:r>
            <a:r>
              <a:rPr lang="zh-CN" altLang="zh-CN" dirty="0"/>
              <a:t>蓝色</a:t>
            </a:r>
            <a:r>
              <a:rPr lang="en-US" altLang="zh-CN" dirty="0"/>
              <a:t>)/MAE(</a:t>
            </a:r>
            <a:r>
              <a:rPr lang="zh-CN" altLang="zh-CN" dirty="0"/>
              <a:t>绿色</a:t>
            </a:r>
            <a:r>
              <a:rPr lang="en-US" altLang="zh-CN" dirty="0"/>
              <a:t>)</a:t>
            </a:r>
            <a:r>
              <a:rPr lang="zh-CN" altLang="en-US" dirty="0"/>
              <a:t>：</a:t>
            </a:r>
            <a:endParaRPr lang="en-US" altLang="zh-CN" dirty="0"/>
          </a:p>
          <a:p>
            <a:pPr>
              <a:spcBef>
                <a:spcPts val="0"/>
              </a:spcBef>
              <a:buSzPts val="2800"/>
            </a:pPr>
            <a:endParaRPr lang="en-US" altLang="zh-TW" dirty="0"/>
          </a:p>
          <a:p>
            <a:pPr marL="0" indent="0">
              <a:spcBef>
                <a:spcPts val="0"/>
              </a:spcBef>
              <a:buSzPts val="2800"/>
              <a:buNone/>
            </a:pPr>
            <a:endParaRPr lang="zh-TW" altLang="en-US" dirty="0"/>
          </a:p>
        </p:txBody>
      </p:sp>
      <p:pic>
        <p:nvPicPr>
          <p:cNvPr id="6" name="图片 5">
            <a:extLst>
              <a:ext uri="{FF2B5EF4-FFF2-40B4-BE49-F238E27FC236}">
                <a16:creationId xmlns:a16="http://schemas.microsoft.com/office/drawing/2014/main" id="{915EAE5C-F496-46E7-B5FC-ED546EFDC284}"/>
              </a:ext>
            </a:extLst>
          </p:cNvPr>
          <p:cNvPicPr/>
          <p:nvPr/>
        </p:nvPicPr>
        <p:blipFill>
          <a:blip r:embed="rId3"/>
          <a:srcRect l="2637" r="9164" b="3191"/>
          <a:stretch>
            <a:fillRect/>
          </a:stretch>
        </p:blipFill>
        <p:spPr>
          <a:xfrm>
            <a:off x="3340002" y="2296882"/>
            <a:ext cx="5007428" cy="4195991"/>
          </a:xfrm>
          <a:prstGeom prst="rect">
            <a:avLst/>
          </a:prstGeom>
          <a:noFill/>
          <a:ln>
            <a:noFill/>
          </a:ln>
        </p:spPr>
      </p:pic>
    </p:spTree>
    <p:extLst>
      <p:ext uri="{BB962C8B-B14F-4D97-AF65-F5344CB8AC3E}">
        <p14:creationId xmlns:p14="http://schemas.microsoft.com/office/powerpoint/2010/main" val="307162931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7550</TotalTime>
  <Words>1267</Words>
  <Application>Microsoft Office PowerPoint</Application>
  <PresentationFormat>宽屏</PresentationFormat>
  <Paragraphs>190</Paragraphs>
  <Slides>27</Slides>
  <Notes>27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27</vt:i4>
      </vt:variant>
    </vt:vector>
  </HeadingPairs>
  <TitlesOfParts>
    <vt:vector size="32" baseType="lpstr">
      <vt:lpstr>Questrial</vt:lpstr>
      <vt:lpstr>等线</vt:lpstr>
      <vt:lpstr>Arial</vt:lpstr>
      <vt:lpstr>Calibri</vt:lpstr>
      <vt:lpstr>Office 主题</vt:lpstr>
      <vt:lpstr>A recommendation approach for programming online judges supported by data preprocessing techniques</vt:lpstr>
      <vt:lpstr>Abstract</vt:lpstr>
      <vt:lpstr>Abstract</vt:lpstr>
      <vt:lpstr>1 Introduction to POJ</vt:lpstr>
      <vt:lpstr>1 Introduction to POJ</vt:lpstr>
      <vt:lpstr>1 Introduction to POJ</vt:lpstr>
      <vt:lpstr>1 Introduction to POJ</vt:lpstr>
      <vt:lpstr>1 Introduction to POJ</vt:lpstr>
      <vt:lpstr>1 Introduction to POJ</vt:lpstr>
      <vt:lpstr>2 Recommender Systems</vt:lpstr>
      <vt:lpstr>2 Recommender Systems</vt:lpstr>
      <vt:lpstr>2 Recommender Systems</vt:lpstr>
      <vt:lpstr>2 Recommender Systems</vt:lpstr>
      <vt:lpstr>3 Recommender Systems for POJ </vt:lpstr>
      <vt:lpstr>3 Recommender Systems for POJ </vt:lpstr>
      <vt:lpstr>3 Recommender Systems for POJ </vt:lpstr>
      <vt:lpstr>3 Recommender Systems for POJ </vt:lpstr>
      <vt:lpstr>3 Recommender Systems for POJ </vt:lpstr>
      <vt:lpstr>3 Recommender Systems for POJ </vt:lpstr>
      <vt:lpstr>3 Recommender Systems for POJ </vt:lpstr>
      <vt:lpstr>3 Recommender Systems for POJ </vt:lpstr>
      <vt:lpstr>4 Experimental study </vt:lpstr>
      <vt:lpstr>4 Experimental study </vt:lpstr>
      <vt:lpstr>4 Experimental study </vt:lpstr>
      <vt:lpstr>4 Experimental study </vt:lpstr>
      <vt:lpstr>4 Experimental study </vt:lpstr>
      <vt:lpstr>4 Experimental study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DEEP  CONVOLUTIONAL  NETWORKS   WITH MANY  CHANNELS  ARE  GAUSSIAN PROCESSES</dc:title>
  <dc:creator>zkx</dc:creator>
  <cp:lastModifiedBy>zkxshg@gmail.com</cp:lastModifiedBy>
  <cp:revision>646</cp:revision>
  <dcterms:created xsi:type="dcterms:W3CDTF">2019-04-02T05:36:00Z</dcterms:created>
  <dcterms:modified xsi:type="dcterms:W3CDTF">2019-12-23T18:55:52Z</dcterms:modified>
</cp:coreProperties>
</file>