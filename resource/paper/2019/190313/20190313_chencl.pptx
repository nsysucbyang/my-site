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72" r:id="rId5"/>
    <p:sldId id="262" r:id="rId6"/>
    <p:sldId id="278" r:id="rId7"/>
    <p:sldId id="265" r:id="rId8"/>
    <p:sldId id="269" r:id="rId9"/>
    <p:sldId id="277" r:id="rId10"/>
    <p:sldId id="259" r:id="rId11"/>
    <p:sldId id="266" r:id="rId12"/>
    <p:sldId id="27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0" autoAdjust="0"/>
    <p:restoredTop sz="89517" autoAdjust="0"/>
  </p:normalViewPr>
  <p:slideViewPr>
    <p:cSldViewPr snapToGrid="0">
      <p:cViewPr varScale="1">
        <p:scale>
          <a:sx n="57" d="100"/>
          <a:sy n="57" d="100"/>
        </p:scale>
        <p:origin x="10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EA978-E737-40E5-8864-39E2E87DFE56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F998F-39E5-4E28-B0C3-3739697075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70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Qulin Tan, </a:t>
            </a:r>
            <a:r>
              <a:rPr lang="en-US" altLang="zh-TW" dirty="0" err="1"/>
              <a:t>Qingchao</a:t>
            </a:r>
            <a:r>
              <a:rPr lang="en-US" altLang="zh-TW" dirty="0"/>
              <a:t> Wei, </a:t>
            </a:r>
            <a:r>
              <a:rPr lang="en-US" altLang="zh-TW" dirty="0" err="1"/>
              <a:t>Jiping</a:t>
            </a:r>
            <a:r>
              <a:rPr lang="en-US" altLang="zh-TW" dirty="0"/>
              <a:t> Hu</a:t>
            </a:r>
            <a:r>
              <a:rPr lang="zh-TW" altLang="en-US" dirty="0"/>
              <a:t> 北京交通大學 土木工程系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David </a:t>
            </a:r>
            <a:r>
              <a:rPr lang="en-US" altLang="zh-TW" dirty="0" err="1"/>
              <a:t>Aldred</a:t>
            </a:r>
            <a:r>
              <a:rPr lang="en-US" altLang="zh-TW" dirty="0"/>
              <a:t> </a:t>
            </a:r>
            <a:r>
              <a:rPr lang="zh-TW" altLang="en-US" dirty="0"/>
              <a:t>加拿大 西安大略大學 地理系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第七次國際</a:t>
            </a:r>
            <a:r>
              <a:rPr lang="en-US" altLang="zh-TW" dirty="0"/>
              <a:t>Fuzzy</a:t>
            </a:r>
            <a:r>
              <a:rPr lang="zh-TW" altLang="en-US" dirty="0"/>
              <a:t>會議在中國山東省煙台市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138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1.What is  </a:t>
            </a:r>
            <a:r>
              <a:rPr lang="en-US" altLang="zh-TW" sz="1200" dirty="0" err="1">
                <a:solidFill>
                  <a:srgbClr val="FF0000"/>
                </a:solidFill>
              </a:rPr>
              <a:t>Orthoimagery</a:t>
            </a:r>
            <a:r>
              <a:rPr lang="en-US" altLang="zh-TW" sz="1200" dirty="0"/>
              <a:t>?</a:t>
            </a:r>
          </a:p>
          <a:p>
            <a:r>
              <a:rPr lang="en-US" altLang="zh-TW" sz="1200" dirty="0" err="1">
                <a:solidFill>
                  <a:srgbClr val="FF0000"/>
                </a:solidFill>
              </a:rPr>
              <a:t>Ortho</a:t>
            </a:r>
            <a:r>
              <a:rPr lang="en-US" altLang="zh-TW" sz="1200" dirty="0" err="1"/>
              <a:t>rectified+</a:t>
            </a:r>
            <a:r>
              <a:rPr lang="en-US" altLang="zh-TW" sz="1200" dirty="0" err="1">
                <a:solidFill>
                  <a:srgbClr val="FF0000"/>
                </a:solidFill>
              </a:rPr>
              <a:t>Imagery</a:t>
            </a:r>
            <a:endParaRPr lang="en-US" altLang="zh-TW" sz="1200" dirty="0">
              <a:solidFill>
                <a:srgbClr val="FF0000"/>
              </a:solidFill>
            </a:endParaRPr>
          </a:p>
          <a:p>
            <a:r>
              <a:rPr lang="en-US" altLang="zh-TW" sz="1200" dirty="0">
                <a:solidFill>
                  <a:srgbClr val="FF0000"/>
                </a:solidFill>
              </a:rPr>
              <a:t>2.</a:t>
            </a:r>
            <a:r>
              <a:rPr lang="zh-TW" altLang="en-US" sz="1200" dirty="0">
                <a:solidFill>
                  <a:srgbClr val="FF0000"/>
                </a:solidFill>
              </a:rPr>
              <a:t>常見詞</a:t>
            </a:r>
            <a:r>
              <a:rPr lang="en-US" altLang="zh-TW" sz="1200" dirty="0">
                <a:solidFill>
                  <a:srgbClr val="FF0000"/>
                </a:solidFill>
              </a:rPr>
              <a:t>:airborne digital camera(</a:t>
            </a:r>
            <a:r>
              <a:rPr lang="zh-TW" altLang="en-US" sz="1200" dirty="0">
                <a:solidFill>
                  <a:srgbClr val="FF0000"/>
                </a:solidFill>
              </a:rPr>
              <a:t>一種適合高空遙測的專業相機</a:t>
            </a:r>
            <a:r>
              <a:rPr lang="en-US" altLang="zh-TW" sz="1200" dirty="0">
                <a:solidFill>
                  <a:srgbClr val="FF0000"/>
                </a:solidFill>
              </a:rPr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467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989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122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19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A26C46-D0C2-4B38-8A04-667613125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8696A7FC-CF28-4579-BC74-610A32CF5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B2C6E288-DD27-4113-B6F7-DD4F3944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FB0A3A0-D31F-474E-9349-609AC727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23F3CDA-AD1A-40A6-9C8D-64236969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767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9EBDB89-794A-4CE8-AB36-695FA6BD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B355D9C-ACD8-4D02-92FE-DE58E61C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E14533FF-8DFC-4215-8621-E079E0E0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0F5AF5C5-4D3D-4B57-8AD6-10D2C77E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9515229-E48F-43C7-83FD-26EC70D3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21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B1B7635-2C67-4B5F-B633-DE0A6674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D74DF3E2-EB35-4698-9CCF-D80288D1D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534EB538-7C2A-4CAB-82F5-CA3240F4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F4C302FB-35CA-41FD-A10F-FC0DD69C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C7CEC10E-9E91-4967-8F39-826CDE43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53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752A850-6DCA-42A6-ACB7-A13657B8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3BAFDB8-FB0E-4F58-958B-1D9824F64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18EDCE71-D1BF-471D-9DFE-8FCDC7D67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D9EBE791-BD89-45CD-9728-D389BB31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DF1989AF-5EE3-4C62-AFC1-48071A50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023AD171-B164-46A3-ACE4-5A4588DE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82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156E3CD-9E81-449C-964D-C3AE690F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033DB46E-F8D2-4AD5-8C6D-174A15CCF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FC900BFE-FCA7-45BF-A6E3-3849877BA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EFAA5323-9AAC-44CC-9039-6D896FDA9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DF3E0D19-8D65-429B-867C-99B0C7A2A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3E7D6A61-05EC-4F52-B753-19D1ED29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E9F13DBC-FB1E-496C-A620-D2BC4714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CFD43FB8-3CB1-40E5-9850-0A010B5B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14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F5786E-467E-4BB0-B2DA-E5FB8EEE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574C4EA2-83A3-43CE-A98A-0CCBACA8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F8901214-6687-4452-BC6E-31C56AC8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E8D80292-6BB7-4ADF-9ECD-60E137EB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7443BF5F-86C6-434F-B7E0-6808B578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B3B3AD15-105B-4FC3-AC21-9641BDAC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27818F38-1B71-447F-9564-B81F209B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50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9E71BDE-3C86-4D85-A91A-0C327B7E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57129F5-F019-4EBB-A25D-BEB2D17A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E796812B-AE4D-44A9-BF5B-FFE96F39E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F166050-82C5-4644-9E42-83C5662F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DBEB40FC-9F77-4C91-B89E-EAC4E954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7FB4B68-3BDB-43EA-9E04-D8EAD722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49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1580DA-6254-468B-9CFE-B25750B2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F957F645-620B-4A08-BA0C-2941F4D86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45F39D3C-E300-49A2-976B-E6CD983C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25388065-1E1B-41E6-9E04-08417E9C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B2B2ADC8-34C8-40FF-8AE6-3F1CC0C9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B9EA9464-CACA-4A71-86D7-9E2C9D08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86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FFF4E2B-6B0C-4896-BC2F-11BE3B90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D501112A-1FBE-4682-B37E-A328CB3A7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137BC29-3592-4F0B-A50C-9655C9B6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7B9A55B6-82BB-4FB0-A273-AD7C1DC7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932C7894-3FCD-414D-9BB4-7847CA2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0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2E544434-5D2F-4B0D-9ED1-56B4D4FE9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CDCC4A77-67E4-42D7-930B-28BC9A0B9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1E0AC741-A57F-4A06-BBBA-E7708402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B7C003-D59F-45CF-A10A-EBBFB156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251B9BD-6658-4E84-971B-BFC05738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0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CD5D394F-0282-4C9F-8398-41056734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182102D4-0F3D-47CB-AA62-F36DB98E4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66871246-AE1D-4613-995F-569583A45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6F5E9-A161-4F7E-8227-15CB11B54BE5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3A19071-CFE5-4F2F-9F76-8900809E7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74224D7B-415F-4E25-A807-CEE7D9CD2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43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075B0156-9AD4-4A08-8BF7-F7E716BC2005}"/>
              </a:ext>
            </a:extLst>
          </p:cNvPr>
          <p:cNvSpPr/>
          <p:nvPr/>
        </p:nvSpPr>
        <p:spPr>
          <a:xfrm>
            <a:off x="509953" y="468142"/>
            <a:ext cx="11315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6000" dirty="0"/>
              <a:t>Road Vehicle Detection Using Fuzzy Logic Rule-based Method </a:t>
            </a:r>
          </a:p>
          <a:p>
            <a:pPr algn="ctr"/>
            <a:r>
              <a:rPr lang="en-US" altLang="zh-TW" sz="6000" dirty="0"/>
              <a:t> 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4F253964-4333-4642-9684-0AEB002C9A3E}"/>
              </a:ext>
            </a:extLst>
          </p:cNvPr>
          <p:cNvSpPr/>
          <p:nvPr/>
        </p:nvSpPr>
        <p:spPr>
          <a:xfrm>
            <a:off x="2983979" y="3367017"/>
            <a:ext cx="6702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Qulin Tan, </a:t>
            </a:r>
            <a:r>
              <a:rPr lang="en-US" altLang="zh-TW" sz="2400" dirty="0" err="1"/>
              <a:t>Qingchao</a:t>
            </a:r>
            <a:r>
              <a:rPr lang="en-US" altLang="zh-TW" sz="2400" dirty="0"/>
              <a:t> Wei, </a:t>
            </a:r>
            <a:r>
              <a:rPr lang="en-US" altLang="zh-TW" sz="2400" dirty="0" err="1"/>
              <a:t>Jiping</a:t>
            </a:r>
            <a:r>
              <a:rPr lang="en-US" altLang="zh-TW" sz="2400" dirty="0"/>
              <a:t> Hu, David </a:t>
            </a:r>
            <a:r>
              <a:rPr lang="en-US" altLang="zh-TW" sz="2400" dirty="0" err="1"/>
              <a:t>Aldred</a:t>
            </a:r>
            <a:r>
              <a:rPr lang="en-US" altLang="zh-TW" sz="2400" dirty="0"/>
              <a:t>  </a:t>
            </a:r>
            <a:endParaRPr lang="zh-TW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6AD574A-1A01-44E2-AA65-BEB4B4206B23}"/>
              </a:ext>
            </a:extLst>
          </p:cNvPr>
          <p:cNvSpPr/>
          <p:nvPr/>
        </p:nvSpPr>
        <p:spPr>
          <a:xfrm>
            <a:off x="1375396" y="3865235"/>
            <a:ext cx="99193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Seventh International Conference on Fuzzy Systems and Knowledge </a:t>
            </a:r>
            <a:r>
              <a:rPr lang="en-US" altLang="zh-TW" sz="2400" dirty="0" smtClean="0"/>
              <a:t>Discovery,</a:t>
            </a:r>
          </a:p>
          <a:p>
            <a:pPr algn="ctr"/>
            <a:r>
              <a:rPr lang="en-US" altLang="zh-TW" sz="2400" dirty="0"/>
              <a:t>Yantai, Shandong, China. </a:t>
            </a:r>
            <a:endParaRPr lang="en-US" altLang="zh-TW" sz="2400" dirty="0"/>
          </a:p>
          <a:p>
            <a:pPr algn="ctr"/>
            <a:r>
              <a:rPr lang="de-DE" altLang="zh-TW" sz="2400" dirty="0" smtClean="0">
                <a:solidFill>
                  <a:prstClr val="black"/>
                </a:solidFill>
              </a:rPr>
              <a:t>Aug. </a:t>
            </a:r>
            <a:r>
              <a:rPr lang="de-DE" altLang="zh-TW" sz="2400" dirty="0">
                <a:solidFill>
                  <a:prstClr val="black"/>
                </a:solidFill>
              </a:rPr>
              <a:t>10, 2010 </a:t>
            </a:r>
            <a:r>
              <a:rPr lang="de-DE" altLang="zh-TW" sz="2400" dirty="0" smtClean="0">
                <a:solidFill>
                  <a:prstClr val="black"/>
                </a:solidFill>
              </a:rPr>
              <a:t>– Aug. </a:t>
            </a:r>
            <a:r>
              <a:rPr lang="de-DE" altLang="zh-TW" sz="2400" dirty="0">
                <a:solidFill>
                  <a:prstClr val="black"/>
                </a:solidFill>
              </a:rPr>
              <a:t>12, </a:t>
            </a:r>
            <a:r>
              <a:rPr lang="de-DE" altLang="zh-TW" sz="2400" dirty="0" smtClean="0">
                <a:solidFill>
                  <a:prstClr val="black"/>
                </a:solidFill>
              </a:rPr>
              <a:t>2010</a:t>
            </a:r>
            <a:endParaRPr lang="zh-TW" altLang="en-US" sz="3200" dirty="0">
              <a:solidFill>
                <a:prstClr val="black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E8029974-43D5-45D0-B929-5463BA243FDA}"/>
              </a:ext>
            </a:extLst>
          </p:cNvPr>
          <p:cNvSpPr/>
          <p:nvPr/>
        </p:nvSpPr>
        <p:spPr>
          <a:xfrm>
            <a:off x="8541786" y="58838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Chia-Lin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March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13, 2019</a:t>
            </a:r>
          </a:p>
        </p:txBody>
      </p:sp>
    </p:spTree>
    <p:extLst>
      <p:ext uri="{BB962C8B-B14F-4D97-AF65-F5344CB8AC3E}">
        <p14:creationId xmlns:p14="http://schemas.microsoft.com/office/powerpoint/2010/main" val="260176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5C741B37-929F-4A16-98E0-CF0057ADE5BD}"/>
              </a:ext>
            </a:extLst>
          </p:cNvPr>
          <p:cNvSpPr/>
          <p:nvPr/>
        </p:nvSpPr>
        <p:spPr>
          <a:xfrm>
            <a:off x="981807" y="694069"/>
            <a:ext cx="829407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Abstract</a:t>
            </a:r>
            <a:r>
              <a:rPr lang="en-US" altLang="zh-TW" sz="3600" dirty="0"/>
              <a:t>(1/2)</a:t>
            </a:r>
            <a:endParaRPr lang="zh-TW" altLang="en-US" sz="3600" dirty="0"/>
          </a:p>
          <a:p>
            <a:r>
              <a:rPr lang="en-US" altLang="zh-TW" sz="2400" dirty="0"/>
              <a:t>Road vehicle detection using very high-resolution remote sensing images has a unique advantage of covering a large area at the same time over all ground-based detectors. But the detection of small vehicle-object in remote sensing imagery is still a challenging task. A scheme was proposed to detect road vehicle objects from airborne color digital </a:t>
            </a:r>
            <a:r>
              <a:rPr lang="en-US" altLang="zh-TW" sz="2400" dirty="0" err="1"/>
              <a:t>orthoimagery</a:t>
            </a:r>
            <a:r>
              <a:rPr lang="en-US" altLang="zh-TW" sz="2400" dirty="0"/>
              <a:t> based on fuzzy logic rule base.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12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8D921DB7-10DD-4E80-A357-35944853BC31}"/>
              </a:ext>
            </a:extLst>
          </p:cNvPr>
          <p:cNvSpPr/>
          <p:nvPr/>
        </p:nvSpPr>
        <p:spPr>
          <a:xfrm>
            <a:off x="823545" y="720696"/>
            <a:ext cx="831166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Abstract</a:t>
            </a:r>
            <a:r>
              <a:rPr lang="en-US" altLang="zh-TW" sz="3600" dirty="0"/>
              <a:t>(2/2)</a:t>
            </a:r>
          </a:p>
          <a:p>
            <a:r>
              <a:rPr lang="en-US" altLang="zh-TW" sz="2400" dirty="0"/>
              <a:t>Firstly, a vector-generated road mask was used to constrain detection of vehicles to road region. Secondly, image segmentation algorithm was performed to form image objects in the preprocessing </a:t>
            </a:r>
            <a:r>
              <a:rPr lang="en-US" altLang="zh-TW" sz="2400" dirty="0" err="1"/>
              <a:t>orthoimagery</a:t>
            </a:r>
            <a:r>
              <a:rPr lang="en-US" altLang="zh-TW" sz="2400" dirty="0"/>
              <a:t>. Finally, based on a set of fuzzy logic rules defined by membership functions, vehicle objects were detected and separated from other objects. A representative set of road segment images was selected from available images to test the proposed scheme. Experimental results indicate that the detection rates of all test road-segments are high with very few false alarms.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0997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xmlns="" id="{E00EAEFF-EF22-4074-9AC4-CB63B815BF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" t="2030" b="56089"/>
          <a:stretch/>
        </p:blipFill>
        <p:spPr>
          <a:xfrm>
            <a:off x="768220" y="1724773"/>
            <a:ext cx="10655559" cy="327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C1D97AEE-D34C-45B6-A87D-ED887EE06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046" y="113837"/>
            <a:ext cx="9373908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0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xmlns="" id="{0FF72097-E3CD-4739-AE1E-808D699D1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812"/>
            <a:ext cx="7053943" cy="498937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3269BB6F-25ED-4CD0-A572-A2413F4DB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490" y="643812"/>
            <a:ext cx="5073275" cy="41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5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87E87EF2-C823-4CF5-8C9B-835770F2B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862" y="523469"/>
            <a:ext cx="8964276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7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19B0F6FF-CECA-43F6-AD0D-66B60B415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579" y="0"/>
            <a:ext cx="6570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0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7722A823-0B5C-4205-8E70-61CCEAFA45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"/>
          <a:stretch/>
        </p:blipFill>
        <p:spPr>
          <a:xfrm>
            <a:off x="2892489" y="342918"/>
            <a:ext cx="5561045" cy="36975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463E2B37-F98E-4989-9794-69C805B89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629" y="4224624"/>
            <a:ext cx="5884764" cy="131857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48F0CD0B-7222-4B0D-AD20-1881D935AA3C}"/>
              </a:ext>
            </a:extLst>
          </p:cNvPr>
          <p:cNvSpPr txBox="1"/>
          <p:nvPr/>
        </p:nvSpPr>
        <p:spPr>
          <a:xfrm>
            <a:off x="139959" y="342919"/>
            <a:ext cx="3293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S-Shaped function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4835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809FA5FB-7A0C-4A03-89A1-96CD46A55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573" y="318653"/>
            <a:ext cx="8630854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9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21EBD87C-3F45-4667-BF22-4E1A5150D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429" y="0"/>
            <a:ext cx="8545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3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xmlns="" id="{9FD157FE-C185-4DEC-A941-719449D11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31633" cy="480977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0E8240D8-3EA5-453F-AE19-D466C07DE6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" t="2030" b="56089"/>
          <a:stretch/>
        </p:blipFill>
        <p:spPr>
          <a:xfrm>
            <a:off x="3385508" y="3828561"/>
            <a:ext cx="8806492" cy="270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8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3671</TotalTime>
  <Words>260</Words>
  <Application>Microsoft Office PowerPoint</Application>
  <PresentationFormat>寬螢幕</PresentationFormat>
  <Paragraphs>26</Paragraphs>
  <Slides>12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佳琳 陳</dc:creator>
  <cp:lastModifiedBy>pplab-class</cp:lastModifiedBy>
  <cp:revision>73</cp:revision>
  <dcterms:created xsi:type="dcterms:W3CDTF">2019-02-09T07:24:26Z</dcterms:created>
  <dcterms:modified xsi:type="dcterms:W3CDTF">2019-03-13T08:56:55Z</dcterms:modified>
</cp:coreProperties>
</file>