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73" r:id="rId3"/>
    <p:sldId id="313" r:id="rId4"/>
    <p:sldId id="314" r:id="rId5"/>
    <p:sldId id="317" r:id="rId6"/>
    <p:sldId id="316" r:id="rId7"/>
    <p:sldId id="320" r:id="rId8"/>
    <p:sldId id="315" r:id="rId9"/>
    <p:sldId id="318" r:id="rId10"/>
    <p:sldId id="319" r:id="rId11"/>
    <p:sldId id="321" r:id="rId12"/>
    <p:sldId id="322" r:id="rId13"/>
    <p:sldId id="323" r:id="rId14"/>
    <p:sldId id="32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5FBEBF5-6C27-43DA-9D2C-B1537964028B}">
          <p14:sldIdLst>
            <p14:sldId id="256"/>
            <p14:sldId id="273"/>
          </p14:sldIdLst>
        </p14:section>
        <p14:section name="Definition" id="{6C1D86F6-7C31-4808-829F-2ED22781BCA5}">
          <p14:sldIdLst>
            <p14:sldId id="313"/>
            <p14:sldId id="314"/>
            <p14:sldId id="317"/>
            <p14:sldId id="316"/>
            <p14:sldId id="320"/>
            <p14:sldId id="315"/>
          </p14:sldIdLst>
        </p14:section>
        <p14:section name="algo" id="{CE3E3BA9-B503-4752-8E77-F23F4FFA69A9}">
          <p14:sldIdLst>
            <p14:sldId id="318"/>
            <p14:sldId id="319"/>
            <p14:sldId id="321"/>
            <p14:sldId id="322"/>
            <p14:sldId id="323"/>
            <p14:sldId id="324"/>
          </p14:sldIdLst>
        </p14:section>
        <p14:section name="test" id="{5A0672B8-76E0-491A-93E0-1923641389C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0F0"/>
    <a:srgbClr val="DFBDE9"/>
    <a:srgbClr val="DEEBF7"/>
    <a:srgbClr val="4472C4"/>
    <a:srgbClr val="855151"/>
    <a:srgbClr val="FF33CC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8" autoAdjust="0"/>
    <p:restoredTop sz="85059" autoAdjust="0"/>
  </p:normalViewPr>
  <p:slideViewPr>
    <p:cSldViewPr snapToGrid="0">
      <p:cViewPr varScale="1">
        <p:scale>
          <a:sx n="56" d="100"/>
          <a:sy n="56" d="100"/>
        </p:scale>
        <p:origin x="16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921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552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8433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5419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91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maximal</a:t>
            </a:r>
            <a:r>
              <a:rPr lang="zh-TW" altLang="en-US" dirty="0"/>
              <a:t> 必為 </a:t>
            </a:r>
            <a:r>
              <a:rPr lang="en-US" altLang="zh-TW" dirty="0"/>
              <a:t>internal</a:t>
            </a:r>
            <a:r>
              <a:rPr lang="zh-TW" altLang="en-US" dirty="0"/>
              <a:t>，因為有至少</a:t>
            </a:r>
            <a:r>
              <a:rPr lang="en-US" altLang="zh-TW" dirty="0"/>
              <a:t>2</a:t>
            </a:r>
            <a:r>
              <a:rPr lang="zh-TW" altLang="en-US" dirty="0"/>
              <a:t>個子葉才算</a:t>
            </a:r>
            <a:r>
              <a:rPr lang="en-US" altLang="zh-TW" dirty="0"/>
              <a:t>repeat</a:t>
            </a:r>
            <a:br>
              <a:rPr lang="en-US" altLang="zh-TW" dirty="0"/>
            </a:br>
            <a:r>
              <a:rPr lang="en-US" altLang="zh-TW" sz="1200" dirty="0">
                <a:latin typeface="Times New Roman" panose="02020603050405020304" pitchFamily="18" charset="0"/>
              </a:rPr>
              <a:t>Supermaximal</a:t>
            </a:r>
            <a:r>
              <a:rPr lang="zh-TW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</a:rPr>
              <a:t>repeat</a:t>
            </a:r>
            <a:r>
              <a:rPr lang="zh-TW" altLang="en-US" sz="1200" dirty="0">
                <a:latin typeface="Times New Roman" panose="02020603050405020304" pitchFamily="18" charset="0"/>
              </a:rPr>
              <a:t> </a:t>
            </a:r>
            <a:r>
              <a:rPr lang="zh-TW" altLang="en-US" dirty="0"/>
              <a:t>孩子須為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101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875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994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97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37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085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514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439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5B31-2511-4B59-85CD-FE81550B112F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BFE1-3FF9-4076-BFE3-436A899C6CFC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3635F-B179-4E14-9FEF-30274F37C964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D61C-B526-46B0-B991-3372D0F0EC91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A488-6A5E-462F-A078-C1B45B9FC688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F501-4962-473D-B6D8-A7428BF1B6D4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89F-7B98-4BDD-B73A-1D10077A1F27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9844-160F-4E54-862A-C6CCEBCF4E40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7C98F-9D28-4915-ABD0-95B43831494A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FE765-5314-4951-98B4-C5C6DE7CD530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0DED-4DF0-4E86-AB35-9CE8B4D53C52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8280-42F1-400D-A234-BF7D1153CCE2}" type="datetime1">
              <a:rPr lang="zh-TW" altLang="en-US" smtClean="0"/>
              <a:t>2019/3/13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709192"/>
            <a:ext cx="9144000" cy="1639565"/>
          </a:xfrm>
        </p:spPr>
        <p:txBody>
          <a:bodyPr>
            <a:noAutofit/>
          </a:bodyPr>
          <a:lstStyle/>
          <a:p>
            <a:b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time algorithm for the longest common repeat problem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702" y="2963563"/>
            <a:ext cx="8674592" cy="5714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2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Inbok</a:t>
            </a:r>
            <a:r>
              <a:rPr lang="en-US" altLang="zh-TW" sz="2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Lee, Costas S. Iliopoulos, </a:t>
            </a:r>
            <a:r>
              <a:rPr lang="en-US" altLang="zh-TW" sz="26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Kunsoo</a:t>
            </a:r>
            <a:r>
              <a:rPr lang="en-US" altLang="zh-TW" sz="2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Park</a:t>
            </a:r>
            <a:endParaRPr lang="zh-TW" altLang="en-US" sz="2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529017" y="5070818"/>
            <a:ext cx="2715491" cy="83099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Guan-</a:t>
            </a: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Zhi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March, 13, 2019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EB69C1-BEBB-4D8A-BCF3-51571A635FE9}"/>
              </a:ext>
            </a:extLst>
          </p:cNvPr>
          <p:cNvSpPr/>
          <p:nvPr/>
        </p:nvSpPr>
        <p:spPr>
          <a:xfrm flipH="1">
            <a:off x="636996" y="3912006"/>
            <a:ext cx="78700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Journal of Discrete Algorithms 5 (2007) 243–249</a:t>
            </a: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32" y="305355"/>
            <a:ext cx="7886700" cy="74281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242670-B200-4340-9830-52717E35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2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231" y="1150706"/>
                <a:ext cx="8237271" cy="4203614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set of strings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longest common repeat problem is to find the longest common substring that appears at least twice in each string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also consider reversed and reverse-complemented repeats as well as normal repeats. We present a linear time algorithm for the longest common repeat problem.</a:t>
                </a:r>
              </a:p>
            </p:txBody>
          </p:sp>
        </mc:Choice>
        <mc:Fallback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878CA31B-C758-4215-B281-353CA02EC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231" y="1150706"/>
                <a:ext cx="8237271" cy="4203614"/>
              </a:xfrm>
              <a:blipFill>
                <a:blip r:embed="rId3"/>
                <a:stretch>
                  <a:fillRect l="-1554" r="-14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06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/>
              <p:nvPr/>
            </p:nvSpPr>
            <p:spPr>
              <a:xfrm>
                <a:off x="737079" y="1171375"/>
                <a:ext cx="3558961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en-US" altLang="zh-TW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TW" sz="28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ACCTGC</a:t>
                </a:r>
                <a:endParaRPr lang="zh-TW" altLang="en-US" sz="2800" spc="3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51FFCC-757A-4E43-BADE-BFDEC40CF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1375"/>
                <a:ext cx="3558961" cy="954107"/>
              </a:xfrm>
              <a:prstGeom prst="rect">
                <a:avLst/>
              </a:prstGeom>
              <a:blipFill>
                <a:blip r:embed="rId3"/>
                <a:stretch>
                  <a:fillRect b="-17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-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892720-79D1-485F-AA3D-F94E3D4AB42D}"/>
                  </a:ext>
                </a:extLst>
              </p:cNvPr>
              <p:cNvSpPr/>
              <p:nvPr/>
            </p:nvSpPr>
            <p:spPr>
              <a:xfrm>
                <a:off x="737079" y="4474770"/>
                <a:ext cx="2477730" cy="524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𝑅𝐶</m:t>
                        </m:r>
                      </m:sup>
                    </m:sSup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GCAGGT</a:t>
                </a:r>
                <a:endParaRPr lang="zh-TW" altLang="en-US" sz="2800" spc="3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892720-79D1-485F-AA3D-F94E3D4AB4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4474770"/>
                <a:ext cx="2477730" cy="524631"/>
              </a:xfrm>
              <a:prstGeom prst="rect">
                <a:avLst/>
              </a:prstGeom>
              <a:blipFill>
                <a:blip r:embed="rId4"/>
                <a:stretch>
                  <a:fillRect t="-10465" r="-3941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8D63E76-6613-4E45-840C-5326DD09BC25}"/>
                  </a:ext>
                </a:extLst>
              </p:cNvPr>
              <p:cNvSpPr/>
              <p:nvPr/>
            </p:nvSpPr>
            <p:spPr>
              <a:xfrm>
                <a:off x="737079" y="3013935"/>
                <a:ext cx="24718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CGTCCA</a:t>
                </a:r>
                <a:endParaRPr lang="zh-TW" altLang="en-US" sz="2800" spc="3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8D63E76-6613-4E45-840C-5326DD09B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3013935"/>
                <a:ext cx="2471841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2E94F1C5-9C86-4F65-BCDB-A678A171E785}"/>
              </a:ext>
            </a:extLst>
          </p:cNvPr>
          <p:cNvSpPr/>
          <p:nvPr/>
        </p:nvSpPr>
        <p:spPr>
          <a:xfrm>
            <a:off x="737079" y="2549323"/>
            <a:ext cx="2149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</a:rPr>
              <a:t>Reverse string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09D8FA-316B-4113-83D3-504B22306ABE}"/>
              </a:ext>
            </a:extLst>
          </p:cNvPr>
          <p:cNvSpPr/>
          <p:nvPr/>
        </p:nvSpPr>
        <p:spPr>
          <a:xfrm>
            <a:off x="737079" y="4013105"/>
            <a:ext cx="40895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</a:rPr>
              <a:t>Reverse-complemented string</a:t>
            </a:r>
          </a:p>
        </p:txBody>
      </p:sp>
    </p:spTree>
    <p:extLst>
      <p:ext uri="{BB962C8B-B14F-4D97-AF65-F5344CB8AC3E}">
        <p14:creationId xmlns:p14="http://schemas.microsoft.com/office/powerpoint/2010/main" val="403102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– Repeat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8D63E76-6613-4E45-840C-5326DD09BC25}"/>
                  </a:ext>
                </a:extLst>
              </p:cNvPr>
              <p:cNvSpPr/>
              <p:nvPr/>
            </p:nvSpPr>
            <p:spPr>
              <a:xfrm>
                <a:off x="1099736" y="1631927"/>
                <a:ext cx="3268698" cy="969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8D63E76-6613-4E45-840C-5326DD09B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36" y="1631927"/>
                <a:ext cx="3268698" cy="969496"/>
              </a:xfrm>
              <a:prstGeom prst="rect">
                <a:avLst/>
              </a:prstGeom>
              <a:blipFill>
                <a:blip r:embed="rId3"/>
                <a:stretch>
                  <a:fillRect l="-559" t="-4403" b="-13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2E94F1C5-9C86-4F65-BCDB-A678A171E785}"/>
              </a:ext>
            </a:extLst>
          </p:cNvPr>
          <p:cNvSpPr/>
          <p:nvPr/>
        </p:nvSpPr>
        <p:spPr>
          <a:xfrm>
            <a:off x="737079" y="1170262"/>
            <a:ext cx="21010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</a:rPr>
              <a:t>Normal</a:t>
            </a:r>
            <a:r>
              <a:rPr lang="zh-TW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latin typeface="Times New Roman" panose="02020603050405020304" pitchFamily="18" charset="0"/>
              </a:rPr>
              <a:t>repeat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09D8FA-316B-4113-83D3-504B22306ABE}"/>
              </a:ext>
            </a:extLst>
          </p:cNvPr>
          <p:cNvSpPr/>
          <p:nvPr/>
        </p:nvSpPr>
        <p:spPr>
          <a:xfrm>
            <a:off x="658421" y="2753009"/>
            <a:ext cx="2306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</a:rPr>
              <a:t>Reversed repeat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1FE1C87-D42A-470E-89D3-BFB42F47AF51}"/>
                  </a:ext>
                </a:extLst>
              </p:cNvPr>
              <p:cNvSpPr/>
              <p:nvPr/>
            </p:nvSpPr>
            <p:spPr>
              <a:xfrm>
                <a:off x="1099481" y="3214674"/>
                <a:ext cx="3868465" cy="9680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altLang="zh-TW" sz="240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CTA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ATCC,</a:t>
                </a:r>
                <a:r>
                  <a:rPr lang="en-US" altLang="zh-TW" sz="2400" spc="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pc="3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spc="30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sz="2400" b="0" i="1" spc="300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CCTA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1FE1C87-D42A-470E-89D3-BFB42F47A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81" y="3214674"/>
                <a:ext cx="3868465" cy="968022"/>
              </a:xfrm>
              <a:prstGeom prst="rect">
                <a:avLst/>
              </a:prstGeom>
              <a:blipFill>
                <a:blip r:embed="rId4"/>
                <a:stretch>
                  <a:fillRect l="-472" t="-4403" b="-14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E6B8F3B5-B967-4755-98F6-033B41C12DAA}"/>
              </a:ext>
            </a:extLst>
          </p:cNvPr>
          <p:cNvSpPr/>
          <p:nvPr/>
        </p:nvSpPr>
        <p:spPr>
          <a:xfrm>
            <a:off x="658421" y="4379748"/>
            <a:ext cx="41513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</a:rPr>
              <a:t>Reverse-complemented repeat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1E7453-631E-4468-B45E-03E90A28E574}"/>
                  </a:ext>
                </a:extLst>
              </p:cNvPr>
              <p:cNvSpPr/>
              <p:nvPr/>
            </p:nvSpPr>
            <p:spPr>
              <a:xfrm>
                <a:off x="1099481" y="4841413"/>
                <a:ext cx="3743972" cy="9692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GG</a:t>
                </a:r>
                <a:r>
                  <a:rPr lang="en-US" altLang="zh-TW" sz="240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ATCC,</a:t>
                </a:r>
                <a:r>
                  <a:rPr lang="en-US" altLang="zh-TW" sz="2400" spc="3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pc="3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spc="30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sz="2400" i="1" spc="300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TW" sz="2400" b="0" i="1" spc="3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GGAT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1E7453-631E-4468-B45E-03E90A28E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81" y="4841413"/>
                <a:ext cx="3743972" cy="969240"/>
              </a:xfrm>
              <a:prstGeom prst="rect">
                <a:avLst/>
              </a:prstGeom>
              <a:blipFill>
                <a:blip r:embed="rId5"/>
                <a:stretch>
                  <a:fillRect l="-488" t="-4403" b="-14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72FFB94-8DE7-4E58-8576-164F099852A8}"/>
                  </a:ext>
                </a:extLst>
              </p:cNvPr>
              <p:cNvSpPr/>
              <p:nvPr/>
            </p:nvSpPr>
            <p:spPr>
              <a:xfrm>
                <a:off x="5347272" y="1631927"/>
                <a:ext cx="2696992" cy="969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0" u="sng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ATCA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TCAGC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ATCA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72FFB94-8DE7-4E58-8576-164F09985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72" y="1631927"/>
                <a:ext cx="2696992" cy="969496"/>
              </a:xfrm>
              <a:prstGeom prst="rect">
                <a:avLst/>
              </a:prstGeom>
              <a:blipFill>
                <a:blip r:embed="rId6"/>
                <a:stretch>
                  <a:fillRect l="-677" t="-4403" r="-677" b="-13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943C3C9-F372-40D7-976A-571E5A42DB22}"/>
              </a:ext>
            </a:extLst>
          </p:cNvPr>
          <p:cNvCxnSpPr>
            <a:cxnSpLocks/>
          </p:cNvCxnSpPr>
          <p:nvPr/>
        </p:nvCxnSpPr>
        <p:spPr>
          <a:xfrm>
            <a:off x="6497278" y="2089918"/>
            <a:ext cx="9162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0C99894E-BE7C-4BAC-9C8C-7E9517ED50BD}"/>
              </a:ext>
            </a:extLst>
          </p:cNvPr>
          <p:cNvSpPr/>
          <p:nvPr/>
        </p:nvSpPr>
        <p:spPr>
          <a:xfrm>
            <a:off x="5347272" y="1262595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(overlap)</a:t>
            </a:r>
            <a:endParaRPr lang="zh-TW" alt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2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– Suffix Tree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94F1C5-9C86-4F65-BCDB-A678A171E785}"/>
                  </a:ext>
                </a:extLst>
              </p:cNvPr>
              <p:cNvSpPr/>
              <p:nvPr/>
            </p:nvSpPr>
            <p:spPr>
              <a:xfrm>
                <a:off x="741594" y="1170262"/>
                <a:ext cx="5179303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b="1" dirty="0">
                    <a:latin typeface="Times New Roman" panose="02020603050405020304" pitchFamily="18" charset="0"/>
                  </a:rPr>
                  <a:t>Generalized suffix tree</a:t>
                </a:r>
                <a:r>
                  <a:rPr lang="zh-TW" altLang="en-US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sz="2400" b="1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</a:rPr>
                      <m:t>𝑮𝑺𝑻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storing all the suffixes of a set of strings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94F1C5-9C86-4F65-BCDB-A678A171E7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94" y="1170262"/>
                <a:ext cx="5179303" cy="830997"/>
              </a:xfrm>
              <a:prstGeom prst="rect">
                <a:avLst/>
              </a:prstGeom>
              <a:blipFill>
                <a:blip r:embed="rId3"/>
                <a:stretch>
                  <a:fillRect l="-1885" t="-5882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5658CF80-F9C4-4F96-AB1A-0DE25ADF6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46" y="3381048"/>
            <a:ext cx="6905625" cy="252412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E2EC1E-D96C-461A-BE72-222A1C5EDA74}"/>
                  </a:ext>
                </a:extLst>
              </p:cNvPr>
              <p:cNvSpPr/>
              <p:nvPr/>
            </p:nvSpPr>
            <p:spPr>
              <a:xfrm>
                <a:off x="1119187" y="2409213"/>
                <a:ext cx="1732975" cy="4616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AACTG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E2EC1E-D96C-461A-BE72-222A1C5ED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87" y="2409213"/>
                <a:ext cx="1732975" cy="461665"/>
              </a:xfrm>
              <a:prstGeom prst="rect">
                <a:avLst/>
              </a:prstGeom>
              <a:blipFill>
                <a:blip r:embed="rId5"/>
                <a:stretch>
                  <a:fillRect l="-699" t="-7692" r="-4196" b="-282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A6E9A76-174B-4552-8CA4-66EDB48FD72B}"/>
                  </a:ext>
                </a:extLst>
              </p:cNvPr>
              <p:cNvSpPr/>
              <p:nvPr/>
            </p:nvSpPr>
            <p:spPr>
              <a:xfrm>
                <a:off x="3248072" y="2409213"/>
                <a:ext cx="2185727" cy="4616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ACTGCTG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A6E9A76-174B-4552-8CA4-66EDB48FD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072" y="2409213"/>
                <a:ext cx="2185727" cy="461665"/>
              </a:xfrm>
              <a:prstGeom prst="rect">
                <a:avLst/>
              </a:prstGeom>
              <a:blipFill>
                <a:blip r:embed="rId6"/>
                <a:stretch>
                  <a:fillRect l="-556" t="-7692" r="-3056" b="-282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9270EA9F-4AB6-48EF-8443-A514198BC260}"/>
              </a:ext>
            </a:extLst>
          </p:cNvPr>
          <p:cNvSpPr/>
          <p:nvPr/>
        </p:nvSpPr>
        <p:spPr>
          <a:xfrm>
            <a:off x="2564102" y="3018153"/>
            <a:ext cx="576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62656B-B862-4B40-98FA-56FA8718C283}"/>
              </a:ext>
            </a:extLst>
          </p:cNvPr>
          <p:cNvSpPr/>
          <p:nvPr/>
        </p:nvSpPr>
        <p:spPr>
          <a:xfrm>
            <a:off x="6714574" y="3244334"/>
            <a:ext cx="1428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38F643-7620-47FB-A5D4-E8B2270BFFD7}"/>
              </a:ext>
            </a:extLst>
          </p:cNvPr>
          <p:cNvSpPr/>
          <p:nvPr/>
        </p:nvSpPr>
        <p:spPr>
          <a:xfrm>
            <a:off x="1972374" y="5825675"/>
            <a:ext cx="1037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0404B91-4EAC-4E05-9C76-10601DE6DDA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140222" y="3202819"/>
            <a:ext cx="812346" cy="2676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4102E90-1151-4C3D-9470-47885FBCBE08}"/>
              </a:ext>
            </a:extLst>
          </p:cNvPr>
          <p:cNvCxnSpPr>
            <a:cxnSpLocks/>
          </p:cNvCxnSpPr>
          <p:nvPr/>
        </p:nvCxnSpPr>
        <p:spPr>
          <a:xfrm flipH="1">
            <a:off x="6823587" y="3613666"/>
            <a:ext cx="605445" cy="4511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21CA6AE-96F5-4923-BAB9-03397EC0C0C3}"/>
              </a:ext>
            </a:extLst>
          </p:cNvPr>
          <p:cNvCxnSpPr>
            <a:cxnSpLocks/>
          </p:cNvCxnSpPr>
          <p:nvPr/>
        </p:nvCxnSpPr>
        <p:spPr>
          <a:xfrm flipH="1" flipV="1">
            <a:off x="1985674" y="5549801"/>
            <a:ext cx="426400" cy="2758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13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– Repeat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94F1C5-9C86-4F65-BCDB-A678A171E785}"/>
              </a:ext>
            </a:extLst>
          </p:cNvPr>
          <p:cNvSpPr/>
          <p:nvPr/>
        </p:nvSpPr>
        <p:spPr>
          <a:xfrm>
            <a:off x="737079" y="1168484"/>
            <a:ext cx="480131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Maximal</a:t>
            </a:r>
            <a:r>
              <a:rPr lang="zh-TW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repeat</a:t>
            </a:r>
            <a:r>
              <a:rPr lang="en-US" altLang="zh-TW" sz="2400" b="1" dirty="0">
                <a:latin typeface="Times New Roman" panose="02020603050405020304" pitchFamily="18" charset="0"/>
              </a:rPr>
              <a:t>: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extended to the left or right</a:t>
            </a:r>
            <a:endParaRPr lang="en-US" altLang="zh-TW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B3CDD-E93A-49F7-A8E6-ACA2BE174CE2}"/>
              </a:ext>
            </a:extLst>
          </p:cNvPr>
          <p:cNvSpPr/>
          <p:nvPr/>
        </p:nvSpPr>
        <p:spPr>
          <a:xfrm>
            <a:off x="737079" y="2385462"/>
            <a:ext cx="71941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Supermaximal</a:t>
            </a:r>
            <a:r>
              <a:rPr lang="zh-TW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repeat</a:t>
            </a:r>
            <a:r>
              <a:rPr lang="en-US" altLang="zh-TW" sz="2400" b="1" dirty="0">
                <a:latin typeface="Times New Roman" panose="02020603050405020304" pitchFamily="18" charset="0"/>
              </a:rPr>
              <a:t>: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occurs as a substring of any other maximal repeat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82B196D-C2EC-4BA5-A780-699F69172B9F}"/>
                  </a:ext>
                </a:extLst>
              </p:cNvPr>
              <p:cNvSpPr/>
              <p:nvPr/>
            </p:nvSpPr>
            <p:spPr>
              <a:xfrm>
                <a:off x="930535" y="3648812"/>
                <a:ext cx="334649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spc="300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400" i="1" spc="3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sz="2400" i="1" spc="3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CAACG</a:t>
                </a:r>
                <a:r>
                  <a:rPr lang="en-US" altLang="zh-TW" sz="2400" i="0" u="sng" spc="3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AA</a:t>
                </a:r>
                <a:r>
                  <a:rPr lang="en-US" altLang="zh-TW" sz="2400" i="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altLang="zh-TW" sz="2400" i="0" u="sng" spc="300" dirty="0">
                    <a:solidFill>
                      <a:srgbClr val="7030A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GAAG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82B196D-C2EC-4BA5-A780-699F69172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35" y="3648812"/>
                <a:ext cx="3346497" cy="461665"/>
              </a:xfrm>
              <a:prstGeom prst="rect">
                <a:avLst/>
              </a:prstGeom>
              <a:blipFill>
                <a:blip r:embed="rId3"/>
                <a:stretch>
                  <a:fillRect l="-546" t="-9333" r="-729" b="-3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45B7992A-B769-48BC-AF39-B6339DBB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909242"/>
            <a:ext cx="6096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2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</a:rPr>
              <a:t>Supermaximal</a:t>
            </a:r>
            <a:r>
              <a:rPr lang="zh-TW" altLang="en-US" sz="3600" dirty="0">
                <a:latin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</a:rPr>
              <a:t>repeat in ST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939B24-21AA-4DB4-808D-ED7B04981147}"/>
              </a:ext>
            </a:extLst>
          </p:cNvPr>
          <p:cNvSpPr/>
          <p:nvPr/>
        </p:nvSpPr>
        <p:spPr>
          <a:xfrm>
            <a:off x="737079" y="1172561"/>
            <a:ext cx="81256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node v whose children are all leaves and each leaf has a </a:t>
            </a:r>
            <a:r>
              <a:rPr lang="en-US" altLang="zh-TW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left character.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F9D2C04-5F85-4A62-A47B-FB8D4128530F}"/>
              </a:ext>
            </a:extLst>
          </p:cNvPr>
          <p:cNvGrpSpPr/>
          <p:nvPr/>
        </p:nvGrpSpPr>
        <p:grpSpPr>
          <a:xfrm>
            <a:off x="1449970" y="2020888"/>
            <a:ext cx="6457950" cy="4033883"/>
            <a:chOff x="1343025" y="1597682"/>
            <a:chExt cx="6457950" cy="403388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162042D-ECF3-4E59-BC4C-FBDEEDA2CA66}"/>
                </a:ext>
              </a:extLst>
            </p:cNvPr>
            <p:cNvGrpSpPr/>
            <p:nvPr/>
          </p:nvGrpSpPr>
          <p:grpSpPr>
            <a:xfrm>
              <a:off x="1343025" y="2177974"/>
              <a:ext cx="6457950" cy="3453591"/>
              <a:chOff x="1343025" y="1712290"/>
              <a:chExt cx="6457950" cy="3453591"/>
            </a:xfrm>
          </p:grpSpPr>
          <p:pic>
            <p:nvPicPr>
              <p:cNvPr id="2" name="圖片 1">
                <a:extLst>
                  <a:ext uri="{FF2B5EF4-FFF2-40B4-BE49-F238E27FC236}">
                    <a16:creationId xmlns:a16="http://schemas.microsoft.com/office/drawing/2014/main" id="{396918D2-E273-42F6-B3AD-4D1BAD4FD0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3025" y="1712290"/>
                <a:ext cx="6457950" cy="3400425"/>
              </a:xfrm>
              <a:prstGeom prst="rect">
                <a:avLst/>
              </a:prstGeom>
            </p:spPr>
          </p:pic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DB1ECE4-C0DA-461C-9C98-2E3FC40424C0}"/>
                  </a:ext>
                </a:extLst>
              </p:cNvPr>
              <p:cNvSpPr/>
              <p:nvPr/>
            </p:nvSpPr>
            <p:spPr>
              <a:xfrm>
                <a:off x="5307138" y="4796549"/>
                <a:ext cx="12875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left char</a:t>
                </a:r>
                <a:endParaRPr lang="zh-TW" alt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B89E5D8-D0F1-4A7F-BC1A-4BD54BA855A9}"/>
                    </a:ext>
                  </a:extLst>
                </p:cNvPr>
                <p:cNvSpPr/>
                <p:nvPr/>
              </p:nvSpPr>
              <p:spPr>
                <a:xfrm>
                  <a:off x="4394189" y="1597682"/>
                  <a:ext cx="3306645" cy="46166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TW" sz="2400" i="1" spc="300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2400" i="1" spc="300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TW" altLang="en-US" sz="2400" i="1" spc="30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TW" sz="2400" i="0" spc="3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CAACGAAGGAAG</a:t>
                  </a: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B89E5D8-D0F1-4A7F-BC1A-4BD54BA855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189" y="1597682"/>
                  <a:ext cx="330664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83" t="-7792" r="-1835" b="-2987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0298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repeat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94F1C5-9C86-4F65-BCDB-A678A171E785}"/>
                  </a:ext>
                </a:extLst>
              </p:cNvPr>
              <p:cNvSpPr/>
              <p:nvPr/>
            </p:nvSpPr>
            <p:spPr>
              <a:xfrm>
                <a:off x="737079" y="1172560"/>
                <a:ext cx="812564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set of strings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the longest repeat which are common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strings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94F1C5-9C86-4F65-BCDB-A678A171E7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2560"/>
                <a:ext cx="8125646" cy="830997"/>
              </a:xfrm>
              <a:prstGeom prst="rect">
                <a:avLst/>
              </a:prstGeom>
              <a:blipFill>
                <a:blip r:embed="rId3"/>
                <a:stretch>
                  <a:fillRect l="-1200" t="-5839" r="-975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9B16A74-35AD-4153-9569-AA29901F655B}"/>
                  </a:ext>
                </a:extLst>
              </p:cNvPr>
              <p:cNvSpPr/>
              <p:nvPr/>
            </p:nvSpPr>
            <p:spPr>
              <a:xfrm>
                <a:off x="1050160" y="2595405"/>
                <a:ext cx="425315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TW" sz="280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sz="28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CAACGAAGAAGCCA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9B16A74-35AD-4153-9569-AA29901F65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160" y="2595405"/>
                <a:ext cx="4253152" cy="523220"/>
              </a:xfrm>
              <a:prstGeom prst="rect">
                <a:avLst/>
              </a:prstGeom>
              <a:blipFill>
                <a:blip r:embed="rId4"/>
                <a:stretch>
                  <a:fillRect t="-16279" r="-1719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323404-76A0-43B9-B3D0-02662DEB892E}"/>
                  </a:ext>
                </a:extLst>
              </p:cNvPr>
              <p:cNvSpPr/>
              <p:nvPr/>
            </p:nvSpPr>
            <p:spPr>
              <a:xfrm>
                <a:off x="1050160" y="3559903"/>
                <a:ext cx="42614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TW" sz="280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sz="28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GAAGCTGAAGTTAT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323404-76A0-43B9-B3D0-02662DEB8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160" y="3559903"/>
                <a:ext cx="4261423" cy="523220"/>
              </a:xfrm>
              <a:prstGeom prst="rect">
                <a:avLst/>
              </a:prstGeom>
              <a:blipFill>
                <a:blip r:embed="rId5"/>
                <a:stretch>
                  <a:fillRect t="-16279" r="-1860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AE33886-E25A-4ED3-B708-408FE108959C}"/>
                  </a:ext>
                </a:extLst>
              </p:cNvPr>
              <p:cNvSpPr/>
              <p:nvPr/>
            </p:nvSpPr>
            <p:spPr>
              <a:xfrm>
                <a:off x="1050160" y="4524401"/>
                <a:ext cx="42614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TW" sz="280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sz="28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GGAAGCTTCGAAGT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AE33886-E25A-4ED3-B708-408FE1089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160" y="4524401"/>
                <a:ext cx="4261423" cy="523220"/>
              </a:xfrm>
              <a:prstGeom prst="rect">
                <a:avLst/>
              </a:prstGeom>
              <a:blipFill>
                <a:blip r:embed="rId6"/>
                <a:stretch>
                  <a:fillRect t="-15116" r="-1860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CA76E11-7CE8-4762-BFE8-0A7B5766A1A4}"/>
              </a:ext>
            </a:extLst>
          </p:cNvPr>
          <p:cNvCxnSpPr>
            <a:cxnSpLocks/>
          </p:cNvCxnSpPr>
          <p:nvPr/>
        </p:nvCxnSpPr>
        <p:spPr>
          <a:xfrm flipV="1">
            <a:off x="2666882" y="3072163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6ED47DF-FF14-43D9-8EDF-14565C61F0A3}"/>
              </a:ext>
            </a:extLst>
          </p:cNvPr>
          <p:cNvCxnSpPr>
            <a:cxnSpLocks/>
          </p:cNvCxnSpPr>
          <p:nvPr/>
        </p:nvCxnSpPr>
        <p:spPr>
          <a:xfrm flipV="1">
            <a:off x="3419943" y="3166106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0CCD71D-6E16-4C3B-838F-FDF1E7697A1E}"/>
              </a:ext>
            </a:extLst>
          </p:cNvPr>
          <p:cNvCxnSpPr>
            <a:cxnSpLocks/>
          </p:cNvCxnSpPr>
          <p:nvPr/>
        </p:nvCxnSpPr>
        <p:spPr>
          <a:xfrm flipV="1">
            <a:off x="3201569" y="4053626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0432B56-A686-453D-B758-D098D906A775}"/>
              </a:ext>
            </a:extLst>
          </p:cNvPr>
          <p:cNvCxnSpPr>
            <a:cxnSpLocks/>
          </p:cNvCxnSpPr>
          <p:nvPr/>
        </p:nvCxnSpPr>
        <p:spPr>
          <a:xfrm flipV="1">
            <a:off x="1685998" y="4053626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41ACAFD-3CDD-486C-AD3F-56601F1190F7}"/>
              </a:ext>
            </a:extLst>
          </p:cNvPr>
          <p:cNvCxnSpPr>
            <a:cxnSpLocks/>
          </p:cNvCxnSpPr>
          <p:nvPr/>
        </p:nvCxnSpPr>
        <p:spPr>
          <a:xfrm flipV="1">
            <a:off x="1936878" y="4998460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0E22189-515A-4367-BFCB-17F29413AD45}"/>
              </a:ext>
            </a:extLst>
          </p:cNvPr>
          <p:cNvCxnSpPr>
            <a:cxnSpLocks/>
          </p:cNvCxnSpPr>
          <p:nvPr/>
        </p:nvCxnSpPr>
        <p:spPr>
          <a:xfrm flipV="1">
            <a:off x="3934965" y="4998459"/>
            <a:ext cx="931724" cy="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9279E5D-126B-4AE7-ACFC-A9B25AEEC5A1}"/>
                  </a:ext>
                </a:extLst>
              </p:cNvPr>
              <p:cNvSpPr/>
              <p:nvPr/>
            </p:nvSpPr>
            <p:spPr>
              <a:xfrm>
                <a:off x="7299056" y="710895"/>
                <a:ext cx="156366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𝐿𝐶𝑅</m:t>
                      </m:r>
                    </m:oMath>
                  </m:oMathPara>
                </a14:m>
                <a:endParaRPr lang="en-US" altLang="zh-TW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9279E5D-126B-4AE7-ACFC-A9B25AEEC5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056" y="710895"/>
                <a:ext cx="156366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34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1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2BE38BE-357F-4BE1-B110-6228E2B91978}"/>
                  </a:ext>
                </a:extLst>
              </p:cNvPr>
              <p:cNvSpPr/>
              <p:nvPr/>
            </p:nvSpPr>
            <p:spPr>
              <a:xfrm>
                <a:off x="881373" y="3275470"/>
                <a:ext cx="408186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 % </m:t>
                      </m:r>
                      <m:sSubSup>
                        <m:sSubSup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# </m:t>
                      </m:r>
                      <m:sSubSup>
                        <m:sSubSup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sup>
                      </m:sSubSup>
                    </m:oMath>
                  </m:oMathPara>
                </a14:m>
                <a:endParaRPr lang="en-US" altLang="zh-TW" sz="2400" i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2BE38BE-357F-4BE1-B110-6228E2B91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73" y="3275470"/>
                <a:ext cx="4081864" cy="481863"/>
              </a:xfrm>
              <a:prstGeom prst="rect">
                <a:avLst/>
              </a:prstGeom>
              <a:blipFill>
                <a:blip r:embed="rId3"/>
                <a:stretch>
                  <a:fillRect l="-448" b="-3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/>
              <p:nvPr/>
            </p:nvSpPr>
            <p:spPr>
              <a:xfrm>
                <a:off x="737079" y="1178513"/>
                <a:ext cx="736789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include 3 types of repeats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8513"/>
                <a:ext cx="7367891" cy="461665"/>
              </a:xfrm>
              <a:prstGeom prst="rect">
                <a:avLst/>
              </a:prstGeom>
              <a:blipFill>
                <a:blip r:embed="rId4"/>
                <a:stretch>
                  <a:fillRect l="-132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/>
              <p:nvPr/>
            </p:nvSpPr>
            <p:spPr>
              <a:xfrm>
                <a:off x="881373" y="2323201"/>
                <a:ext cx="16651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𝑙𝑙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𝑖𝑛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𝑜𝑛𝑒</m:t>
                      </m:r>
                      <m:r>
                        <a:rPr lang="en-US" altLang="zh-TW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en-US" altLang="zh-TW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73" y="2323201"/>
                <a:ext cx="166518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61C32FD4-8F3E-49BA-A803-0DBE29EB5D77}"/>
              </a:ext>
            </a:extLst>
          </p:cNvPr>
          <p:cNvSpPr/>
          <p:nvPr/>
        </p:nvSpPr>
        <p:spPr>
          <a:xfrm>
            <a:off x="737079" y="1600331"/>
            <a:ext cx="5032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(normal, reversed, and reverse-complemented) 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94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2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/>
              <p:nvPr/>
            </p:nvSpPr>
            <p:spPr>
              <a:xfrm>
                <a:off x="737079" y="1176458"/>
                <a:ext cx="7367891" cy="473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𝑺𝑻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4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1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𝐆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𝑺𝑻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sSubSup>
                      <m:sSubSupPr>
                        <m:ctrlP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altLang="zh-TW" sz="2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6458"/>
                <a:ext cx="7367891" cy="473591"/>
              </a:xfrm>
              <a:prstGeom prst="rect">
                <a:avLst/>
              </a:prstGeom>
              <a:blipFill>
                <a:blip r:embed="rId3"/>
                <a:stretch>
                  <a:fillRect l="-1323" t="-10256" b="-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0156FA00-9EF8-485E-AC56-F99DFD3688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67"/>
          <a:stretch/>
        </p:blipFill>
        <p:spPr>
          <a:xfrm>
            <a:off x="1649592" y="3221216"/>
            <a:ext cx="5844816" cy="2381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04F32-E3BF-488B-9054-8EA1F7EF5049}"/>
                  </a:ext>
                </a:extLst>
              </p:cNvPr>
              <p:cNvSpPr/>
              <p:nvPr/>
            </p:nvSpPr>
            <p:spPr>
              <a:xfrm>
                <a:off x="737079" y="1650049"/>
                <a:ext cx="835111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</m:t>
                    </m:r>
                    <m:d>
                      <m:dPr>
                        <m:ctrlPr>
                          <a:rPr lang="en-US" altLang="zh-TW" sz="2000" b="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000" b="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000" b="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the lowest common ancestor (LCA) of two leaves at each internal node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04F32-E3BF-488B-9054-8EA1F7EF50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650049"/>
                <a:ext cx="8351117" cy="707886"/>
              </a:xfrm>
              <a:prstGeom prst="rect">
                <a:avLst/>
              </a:prstGeom>
              <a:blipFill>
                <a:blip r:embed="rId5"/>
                <a:stretch>
                  <a:fillRect l="-803" t="-5172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970D52E2-F11E-46D4-9E55-5AD3C78042B7}"/>
              </a:ext>
            </a:extLst>
          </p:cNvPr>
          <p:cNvSpPr/>
          <p:nvPr/>
        </p:nvSpPr>
        <p:spPr>
          <a:xfrm>
            <a:off x="7129778" y="3728235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0" i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(3,1)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570D7EA-54AA-4E34-9469-33D95615C34B}"/>
                  </a:ext>
                </a:extLst>
              </p:cNvPr>
              <p:cNvSpPr/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TW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570D7EA-54AA-4E34-9469-33D95615C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  <a:blipFill>
                <a:blip r:embed="rId6"/>
                <a:stretch>
                  <a:fillRect t="-6329" r="-5319" b="-27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0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3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/>
              <p:nvPr/>
            </p:nvSpPr>
            <p:spPr>
              <a:xfrm>
                <a:off x="737079" y="1176458"/>
                <a:ext cx="736789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supermaximal repeats from 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𝑺𝑻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4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6458"/>
                <a:ext cx="7367891" cy="461665"/>
              </a:xfrm>
              <a:prstGeom prst="rect">
                <a:avLst/>
              </a:prstGeom>
              <a:blipFill>
                <a:blip r:embed="rId3"/>
                <a:stretch>
                  <a:fillRect l="-132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/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TW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  <a:blipFill>
                <a:blip r:embed="rId4"/>
                <a:stretch>
                  <a:fillRect t="-6329" r="-5319" b="-27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04F32-E3BF-488B-9054-8EA1F7EF5049}"/>
                  </a:ext>
                </a:extLst>
              </p:cNvPr>
              <p:cNvSpPr/>
              <p:nvPr/>
            </p:nvSpPr>
            <p:spPr>
              <a:xfrm>
                <a:off x="737079" y="1638123"/>
                <a:ext cx="815447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information of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altLang="zh-TW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</m:t>
                    </m:r>
                    <m:r>
                      <a:rPr lang="en-US" altLang="zh-TW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000" b="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point out supermaximal repeats </a:t>
                </a:r>
                <a14:m>
                  <m:oMath xmlns:m="http://schemas.openxmlformats.org/officeDocument/2006/math">
                    <m:r>
                      <a:rPr lang="en-US" altLang="zh-TW" sz="20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3204F32-E3BF-488B-9054-8EA1F7EF50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638123"/>
                <a:ext cx="8154472" cy="400110"/>
              </a:xfrm>
              <a:prstGeom prst="rect">
                <a:avLst/>
              </a:prstGeom>
              <a:blipFill>
                <a:blip r:embed="rId5"/>
                <a:stretch>
                  <a:fillRect l="-822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9792B2F-FE17-42E2-8C0E-80529DE01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87" y="2795127"/>
            <a:ext cx="71342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71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4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/>
              <p:nvPr/>
            </p:nvSpPr>
            <p:spPr>
              <a:xfrm>
                <a:off x="737079" y="1178102"/>
                <a:ext cx="772246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modified 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𝑮𝑺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400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altLang="zh-TW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all the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supermaximal repeats</a:t>
                </a:r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8102"/>
                <a:ext cx="7722467" cy="461665"/>
              </a:xfrm>
              <a:prstGeom prst="rect">
                <a:avLst/>
              </a:prstGeom>
              <a:blipFill>
                <a:blip r:embed="rId3"/>
                <a:stretch>
                  <a:fillRect l="-12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/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TW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  <a:blipFill>
                <a:blip r:embed="rId4"/>
                <a:stretch>
                  <a:fillRect t="-6329" r="-5319" b="-27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7F6BF463-1A09-4CDE-B661-E44DDF55B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67" y="2405802"/>
            <a:ext cx="7522065" cy="282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1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5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/>
              <p:nvPr/>
            </p:nvSpPr>
            <p:spPr>
              <a:xfrm>
                <a:off x="737079" y="1174222"/>
                <a:ext cx="736789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sz="2400" b="1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</m:d>
                    <m:r>
                      <a:rPr lang="en-US" altLang="zh-TW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𝑳𝑪𝑹</m:t>
                    </m:r>
                  </m:oMath>
                </a14:m>
                <a:r>
                  <a:rPr lang="en-US" altLang="zh-TW" sz="2400" b="1" i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modified  </a:t>
                </a:r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5BF8999-16EB-453B-A3F6-C6FCA86DF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4222"/>
                <a:ext cx="7367891" cy="461665"/>
              </a:xfrm>
              <a:prstGeom prst="rect">
                <a:avLst/>
              </a:prstGeom>
              <a:blipFill>
                <a:blip r:embed="rId3"/>
                <a:stretch>
                  <a:fillRect l="-132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/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TW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  <a:blipFill>
                <a:blip r:embed="rId4"/>
                <a:stretch>
                  <a:fillRect t="-6329" r="-5319" b="-27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A3E7AEAE-1309-4F04-94EC-7D2A4D258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719" y="1509838"/>
            <a:ext cx="6500275" cy="33089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B21DE1-A184-4A6D-8C97-E6C093810454}"/>
                  </a:ext>
                </a:extLst>
              </p:cNvPr>
              <p:cNvSpPr/>
              <p:nvPr/>
            </p:nvSpPr>
            <p:spPr>
              <a:xfrm>
                <a:off x="842043" y="4733591"/>
                <a:ext cx="24084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GGTC,CTC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B21DE1-A184-4A6D-8C97-E6C093810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43" y="4733591"/>
                <a:ext cx="2408416" cy="461665"/>
              </a:xfrm>
              <a:prstGeom prst="rect">
                <a:avLst/>
              </a:prstGeom>
              <a:blipFill>
                <a:blip r:embed="rId6"/>
                <a:stretch>
                  <a:fillRect l="-506" t="-9333" r="-3291" b="-3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C5D1FFF-D957-423D-8B5D-267EE28131CD}"/>
                  </a:ext>
                </a:extLst>
              </p:cNvPr>
              <p:cNvSpPr/>
              <p:nvPr/>
            </p:nvSpPr>
            <p:spPr>
              <a:xfrm>
                <a:off x="842043" y="5195256"/>
                <a:ext cx="21857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CTC,TCA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C5D1FFF-D957-423D-8B5D-267EE2813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43" y="5195256"/>
                <a:ext cx="2185727" cy="461665"/>
              </a:xfrm>
              <a:prstGeom prst="rect">
                <a:avLst/>
              </a:prstGeom>
              <a:blipFill>
                <a:blip r:embed="rId7"/>
                <a:stretch>
                  <a:fillRect l="-557" t="-9211" r="-3343" b="-30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05B0201-B658-4508-9FB9-76DD6839545A}"/>
                  </a:ext>
                </a:extLst>
              </p:cNvPr>
              <p:cNvSpPr/>
              <p:nvPr/>
            </p:nvSpPr>
            <p:spPr>
              <a:xfrm>
                <a:off x="842043" y="5656921"/>
                <a:ext cx="2262671" cy="4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400" spc="3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TCG,ATC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05B0201-B658-4508-9FB9-76DD68395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43" y="5656921"/>
                <a:ext cx="2262671" cy="473591"/>
              </a:xfrm>
              <a:prstGeom prst="rect">
                <a:avLst/>
              </a:prstGeom>
              <a:blipFill>
                <a:blip r:embed="rId8"/>
                <a:stretch>
                  <a:fillRect l="-539" t="-8974" b="-2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82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482047-C5BA-4C14-A83E-65B7E095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A9990B6E-C32F-4A96-940B-453E868CF6E8}"/>
              </a:ext>
            </a:extLst>
          </p:cNvPr>
          <p:cNvSpPr txBox="1">
            <a:spLocks/>
          </p:cNvSpPr>
          <p:nvPr/>
        </p:nvSpPr>
        <p:spPr>
          <a:xfrm>
            <a:off x="402232" y="305355"/>
            <a:ext cx="7886700" cy="74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 5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/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TW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8B1FF46-0B05-4D77-85EF-AC4A4262E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56" y="0"/>
                <a:ext cx="1718644" cy="481863"/>
              </a:xfrm>
              <a:prstGeom prst="rect">
                <a:avLst/>
              </a:prstGeom>
              <a:blipFill>
                <a:blip r:embed="rId4"/>
                <a:stretch>
                  <a:fillRect t="-6329" r="-5319" b="-27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A3E7AEAE-1309-4F04-94EC-7D2A4D258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719" y="1509838"/>
            <a:ext cx="6500275" cy="33089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B21DE1-A184-4A6D-8C97-E6C093810454}"/>
                  </a:ext>
                </a:extLst>
              </p:cNvPr>
              <p:cNvSpPr/>
              <p:nvPr/>
            </p:nvSpPr>
            <p:spPr>
              <a:xfrm>
                <a:off x="402232" y="4964423"/>
                <a:ext cx="218365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)=(2,3)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B21DE1-A184-4A6D-8C97-E6C093810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4964423"/>
                <a:ext cx="2183652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3915A1-3272-46F1-A6C1-846C8483DCB9}"/>
                  </a:ext>
                </a:extLst>
              </p:cNvPr>
              <p:cNvSpPr/>
              <p:nvPr/>
            </p:nvSpPr>
            <p:spPr>
              <a:xfrm>
                <a:off x="2785040" y="4964423"/>
                <a:ext cx="47459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spc="300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TW" sz="2400" dirty="0"/>
                      <m:t>,</m:t>
                    </m:r>
                    <m:r>
                      <m:rPr>
                        <m:nor/>
                      </m:rPr>
                      <a:rPr lang="zh-TW" altLang="en-US" sz="2400" dirty="0"/>
                      <m:t> </m:t>
                    </m:r>
                    <m:r>
                      <m:rPr>
                        <m:nor/>
                      </m:rPr>
                      <a:rPr lang="en-US" altLang="zh-TW" sz="2400" dirty="0"/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b="0" i="0" spc="30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G</m:t>
                    </m:r>
                  </m:oMath>
                </a14:m>
                <a:r>
                  <a:rPr lang="en-US" altLang="zh-TW" sz="2400" dirty="0"/>
                  <a:t>,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b="0" i="0" spc="30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CTC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23915A1-3272-46F1-A6C1-846C8483D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040" y="4964423"/>
                <a:ext cx="4745915" cy="461665"/>
              </a:xfrm>
              <a:prstGeom prst="rect">
                <a:avLst/>
              </a:prstGeom>
              <a:blipFill>
                <a:blip r:embed="rId7"/>
                <a:stretch>
                  <a:fillRect l="-386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2ADFD3A6-27E8-4A94-919B-CAEBDCC69F57}"/>
              </a:ext>
            </a:extLst>
          </p:cNvPr>
          <p:cNvSpPr/>
          <p:nvPr/>
        </p:nvSpPr>
        <p:spPr>
          <a:xfrm>
            <a:off x="5693252" y="4964423"/>
            <a:ext cx="1837703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92BE8E2-D511-4075-B07D-5EBB1970B3B0}"/>
                  </a:ext>
                </a:extLst>
              </p:cNvPr>
              <p:cNvSpPr/>
              <p:nvPr/>
            </p:nvSpPr>
            <p:spPr>
              <a:xfrm>
                <a:off x="2785040" y="5599872"/>
                <a:ext cx="31350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pc="3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TC</m:t>
                      </m:r>
                      <m:r>
                        <m:rPr>
                          <m:nor/>
                        </m:rPr>
                        <a:rPr lang="en-US" altLang="zh-TW" sz="2400" dirty="0"/>
                        <m:t>,</m:t>
                      </m:r>
                      <m:r>
                        <m:rPr>
                          <m:nor/>
                        </m:rPr>
                        <a:rPr lang="zh-TW" altLang="en-US" sz="2400" dirty="0"/>
                        <m:t> </m:t>
                      </m:r>
                      <m:r>
                        <m:rPr>
                          <m:nor/>
                        </m:rPr>
                        <a:rPr lang="en-US" altLang="zh-TW" sz="2400" dirty="0"/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0" i="0" spc="3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m:t>C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92BE8E2-D511-4075-B07D-5EBB1970B3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040" y="5599872"/>
                <a:ext cx="3135024" cy="461665"/>
              </a:xfrm>
              <a:prstGeom prst="rect">
                <a:avLst/>
              </a:prstGeom>
              <a:blipFill>
                <a:blip r:embed="rId8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1D8182B-D3AB-4E51-B64D-5803CF7F56E6}"/>
                  </a:ext>
                </a:extLst>
              </p:cNvPr>
              <p:cNvSpPr/>
              <p:nvPr/>
            </p:nvSpPr>
            <p:spPr>
              <a:xfrm>
                <a:off x="402232" y="5599872"/>
                <a:ext cx="218365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)=(3,3)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1D8182B-D3AB-4E51-B64D-5803CF7F5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2" y="5599872"/>
                <a:ext cx="2183652" cy="461665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40F8BBFB-2FF7-4315-B7C2-615DE004E743}"/>
              </a:ext>
            </a:extLst>
          </p:cNvPr>
          <p:cNvSpPr/>
          <p:nvPr/>
        </p:nvSpPr>
        <p:spPr>
          <a:xfrm>
            <a:off x="2880852" y="5580208"/>
            <a:ext cx="1471700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F74880B-98C7-4FD9-B2DB-69B7AACAD8B9}"/>
                  </a:ext>
                </a:extLst>
              </p:cNvPr>
              <p:cNvSpPr/>
              <p:nvPr/>
            </p:nvSpPr>
            <p:spPr>
              <a:xfrm>
                <a:off x="737079" y="1174222"/>
                <a:ext cx="736789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:r>
                  <a:rPr lang="en-US" altLang="zh-TW" sz="2400" b="1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</m:d>
                    <m:r>
                      <a:rPr lang="en-US" altLang="zh-TW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𝑳𝑪𝑹</m:t>
                    </m:r>
                  </m:oMath>
                </a14:m>
                <a:r>
                  <a:rPr lang="en-US" altLang="zh-TW" sz="2400" b="1" i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i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modified  </a:t>
                </a:r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F74880B-98C7-4FD9-B2DB-69B7AACAD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9" y="1174222"/>
                <a:ext cx="7367891" cy="461665"/>
              </a:xfrm>
              <a:prstGeom prst="rect">
                <a:avLst/>
              </a:prstGeom>
              <a:blipFill>
                <a:blip r:embed="rId10"/>
                <a:stretch>
                  <a:fillRect l="-132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636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65730</TotalTime>
  <Words>547</Words>
  <Application>Microsoft Office PowerPoint</Application>
  <PresentationFormat>如螢幕大小 (4:3)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Times New Roman</vt:lpstr>
      <vt:lpstr>Office 佈景主題</vt:lpstr>
      <vt:lpstr> Linear time algorithm for the longest common repeat problem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822</cp:revision>
  <dcterms:created xsi:type="dcterms:W3CDTF">2017-09-25T08:45:50Z</dcterms:created>
  <dcterms:modified xsi:type="dcterms:W3CDTF">2019-03-13T06:56:03Z</dcterms:modified>
</cp:coreProperties>
</file>