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9" r:id="rId4"/>
    <p:sldId id="258" r:id="rId5"/>
    <p:sldId id="260" r:id="rId6"/>
    <p:sldId id="261" r:id="rId7"/>
    <p:sldId id="262" r:id="rId8"/>
    <p:sldId id="263" r:id="rId9"/>
    <p:sldId id="264" r:id="rId10"/>
    <p:sldId id="265" r:id="rId11"/>
    <p:sldId id="267" r:id="rId12"/>
    <p:sldId id="268" r:id="rId13"/>
    <p:sldId id="269" r:id="rId14"/>
    <p:sldId id="270"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0" autoAdjust="0"/>
    <p:restoredTop sz="90867" autoAdjust="0"/>
  </p:normalViewPr>
  <p:slideViewPr>
    <p:cSldViewPr snapToGrid="0">
      <p:cViewPr varScale="1">
        <p:scale>
          <a:sx n="64" d="100"/>
          <a:sy n="64" d="100"/>
        </p:scale>
        <p:origin x="57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B85392-FD07-4F5A-B34E-BA69B7FEBBF7}" type="datetimeFigureOut">
              <a:rPr lang="zh-TW" altLang="en-US" smtClean="0"/>
              <a:t>2019/3/13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45C38-81A3-45D4-9959-4EF52C41C41F}" type="slidenum">
              <a:rPr lang="zh-TW" altLang="en-US" smtClean="0"/>
              <a:t>‹#›</a:t>
            </a:fld>
            <a:endParaRPr lang="zh-TW" altLang="en-US"/>
          </a:p>
        </p:txBody>
      </p:sp>
    </p:spTree>
    <p:extLst>
      <p:ext uri="{BB962C8B-B14F-4D97-AF65-F5344CB8AC3E}">
        <p14:creationId xmlns:p14="http://schemas.microsoft.com/office/powerpoint/2010/main" val="970424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https://www.google.com/maps/place/%E6%84%9B%E7%88%BE%E8%98%AD%E5%88%A9%E9%BB%98%E9%87%8C%E5%85%8B/@52.6451383,-8.8014936,10.46z/data=!4m5!3m4!1s0x485b5c611f545113:0xa00c7a997317330!8m2!3d52.6638367!4d-8.6267343</a:t>
            </a:r>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9BC481E-5F61-46D0-A7EB-4B78E26B7A6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17ADD499-6C14-47C8-A9DB-F37A274DE0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95F44A6D-44A4-4AC5-A338-742D4C0C8050}"/>
              </a:ext>
            </a:extLst>
          </p:cNvPr>
          <p:cNvSpPr>
            <a:spLocks noGrp="1"/>
          </p:cNvSpPr>
          <p:nvPr>
            <p:ph type="dt" sz="half" idx="10"/>
          </p:nvPr>
        </p:nvSpPr>
        <p:spPr/>
        <p:txBody>
          <a:bodyPr/>
          <a:lstStyle/>
          <a:p>
            <a:fld id="{41044C1A-2725-48AE-A699-EA8E8FEFF634}" type="datetimeFigureOut">
              <a:rPr lang="zh-TW" altLang="en-US" smtClean="0"/>
              <a:t>2019/3/13</a:t>
            </a:fld>
            <a:endParaRPr lang="zh-TW" altLang="en-US"/>
          </a:p>
        </p:txBody>
      </p:sp>
      <p:sp>
        <p:nvSpPr>
          <p:cNvPr id="5" name="頁尾版面配置區 4">
            <a:extLst>
              <a:ext uri="{FF2B5EF4-FFF2-40B4-BE49-F238E27FC236}">
                <a16:creationId xmlns:a16="http://schemas.microsoft.com/office/drawing/2014/main" xmlns="" id="{2AA9A011-8B20-4955-AB02-9C883200A2A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1D080B5D-51A0-4CC6-B85E-EECDD9C7E01F}"/>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601324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E791F4F-64C2-4448-AEA3-D8BAD00F9AC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F9B64CD7-FFD4-4659-9A78-313C8279FA80}"/>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DDB714A2-D640-4631-BD91-D40EA7B8E5E1}"/>
              </a:ext>
            </a:extLst>
          </p:cNvPr>
          <p:cNvSpPr>
            <a:spLocks noGrp="1"/>
          </p:cNvSpPr>
          <p:nvPr>
            <p:ph type="dt" sz="half" idx="10"/>
          </p:nvPr>
        </p:nvSpPr>
        <p:spPr/>
        <p:txBody>
          <a:bodyPr/>
          <a:lstStyle/>
          <a:p>
            <a:fld id="{41044C1A-2725-48AE-A699-EA8E8FEFF634}" type="datetimeFigureOut">
              <a:rPr lang="zh-TW" altLang="en-US" smtClean="0"/>
              <a:t>2019/3/13</a:t>
            </a:fld>
            <a:endParaRPr lang="zh-TW" altLang="en-US"/>
          </a:p>
        </p:txBody>
      </p:sp>
      <p:sp>
        <p:nvSpPr>
          <p:cNvPr id="5" name="頁尾版面配置區 4">
            <a:extLst>
              <a:ext uri="{FF2B5EF4-FFF2-40B4-BE49-F238E27FC236}">
                <a16:creationId xmlns:a16="http://schemas.microsoft.com/office/drawing/2014/main" xmlns="" id="{E61BB7E8-FCCA-40E1-AF1F-1EC08D98084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3F37759F-4DEC-4AF9-AAF6-96479F6F82D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86266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44AF7F4-DE89-4B56-ABEB-65BE6D95F37B}"/>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C0726E6B-7A4E-46A3-888F-3ECB35C601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92DC7246-3967-4A8C-89BD-498BAD9237DB}"/>
              </a:ext>
            </a:extLst>
          </p:cNvPr>
          <p:cNvSpPr>
            <a:spLocks noGrp="1"/>
          </p:cNvSpPr>
          <p:nvPr>
            <p:ph type="dt" sz="half" idx="10"/>
          </p:nvPr>
        </p:nvSpPr>
        <p:spPr/>
        <p:txBody>
          <a:bodyPr/>
          <a:lstStyle/>
          <a:p>
            <a:fld id="{41044C1A-2725-48AE-A699-EA8E8FEFF634}" type="datetimeFigureOut">
              <a:rPr lang="zh-TW" altLang="en-US" smtClean="0"/>
              <a:t>2019/3/13</a:t>
            </a:fld>
            <a:endParaRPr lang="zh-TW" altLang="en-US"/>
          </a:p>
        </p:txBody>
      </p:sp>
      <p:sp>
        <p:nvSpPr>
          <p:cNvPr id="5" name="頁尾版面配置區 4">
            <a:extLst>
              <a:ext uri="{FF2B5EF4-FFF2-40B4-BE49-F238E27FC236}">
                <a16:creationId xmlns:a16="http://schemas.microsoft.com/office/drawing/2014/main" xmlns="" id="{D8A016C2-FC45-4CB6-AE5C-B5A2929ECFB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0643CBF-BA29-45F4-B839-D048AC73EB01}"/>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3810549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03084E2-FF74-41D8-B7FC-96287DBEDD0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830DA591-3941-4641-B043-A7B6860269E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D58EE040-2A49-41BF-9734-4F1C3C128D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78EECCAB-4CA7-44B9-B7B8-DC7FF51030C5}"/>
              </a:ext>
            </a:extLst>
          </p:cNvPr>
          <p:cNvSpPr>
            <a:spLocks noGrp="1"/>
          </p:cNvSpPr>
          <p:nvPr>
            <p:ph type="dt" sz="half" idx="10"/>
          </p:nvPr>
        </p:nvSpPr>
        <p:spPr/>
        <p:txBody>
          <a:bodyPr/>
          <a:lstStyle/>
          <a:p>
            <a:fld id="{41044C1A-2725-48AE-A699-EA8E8FEFF634}" type="datetimeFigureOut">
              <a:rPr lang="zh-TW" altLang="en-US" smtClean="0"/>
              <a:t>2019/3/13</a:t>
            </a:fld>
            <a:endParaRPr lang="zh-TW" altLang="en-US"/>
          </a:p>
        </p:txBody>
      </p:sp>
      <p:sp>
        <p:nvSpPr>
          <p:cNvPr id="6" name="頁尾版面配置區 5">
            <a:extLst>
              <a:ext uri="{FF2B5EF4-FFF2-40B4-BE49-F238E27FC236}">
                <a16:creationId xmlns:a16="http://schemas.microsoft.com/office/drawing/2014/main" xmlns="" id="{31F1834D-5465-453A-8482-4EA306D63AA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EEDEEDDC-2E51-41D6-BBEE-C8A5AEE90B3A}"/>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89062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0891CDC-A371-490F-A9D6-C81ACFD420F9}"/>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A6414E1-9AA2-4412-BC87-8B794947A8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AF8352C1-957A-43C9-A792-1F703940CD51}"/>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3189CE18-112C-4840-B26C-362D7C230E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F7815674-7564-427E-B7B9-22E8C7F54041}"/>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2891BEAE-F89E-4D1D-88D1-CE02EB287033}"/>
              </a:ext>
            </a:extLst>
          </p:cNvPr>
          <p:cNvSpPr>
            <a:spLocks noGrp="1"/>
          </p:cNvSpPr>
          <p:nvPr>
            <p:ph type="dt" sz="half" idx="10"/>
          </p:nvPr>
        </p:nvSpPr>
        <p:spPr/>
        <p:txBody>
          <a:bodyPr/>
          <a:lstStyle/>
          <a:p>
            <a:fld id="{41044C1A-2725-48AE-A699-EA8E8FEFF634}" type="datetimeFigureOut">
              <a:rPr lang="zh-TW" altLang="en-US" smtClean="0"/>
              <a:t>2019/3/13</a:t>
            </a:fld>
            <a:endParaRPr lang="zh-TW" altLang="en-US"/>
          </a:p>
        </p:txBody>
      </p:sp>
      <p:sp>
        <p:nvSpPr>
          <p:cNvPr id="8" name="頁尾版面配置區 7">
            <a:extLst>
              <a:ext uri="{FF2B5EF4-FFF2-40B4-BE49-F238E27FC236}">
                <a16:creationId xmlns:a16="http://schemas.microsoft.com/office/drawing/2014/main" xmlns="" id="{001E6835-0CA2-4E4B-AA2A-F90C8E504D80}"/>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AF7BAAA1-3B0C-467E-B178-590BB83B663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74528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9DDB431-29CB-4FE4-9ADC-233E5E38B21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AB26AC26-EB83-4AB6-9E2F-C8457BF27656}"/>
              </a:ext>
            </a:extLst>
          </p:cNvPr>
          <p:cNvSpPr>
            <a:spLocks noGrp="1"/>
          </p:cNvSpPr>
          <p:nvPr>
            <p:ph type="dt" sz="half" idx="10"/>
          </p:nvPr>
        </p:nvSpPr>
        <p:spPr/>
        <p:txBody>
          <a:bodyPr/>
          <a:lstStyle/>
          <a:p>
            <a:fld id="{41044C1A-2725-48AE-A699-EA8E8FEFF634}" type="datetimeFigureOut">
              <a:rPr lang="zh-TW" altLang="en-US" smtClean="0"/>
              <a:t>2019/3/13</a:t>
            </a:fld>
            <a:endParaRPr lang="zh-TW" altLang="en-US"/>
          </a:p>
        </p:txBody>
      </p:sp>
      <p:sp>
        <p:nvSpPr>
          <p:cNvPr id="4" name="頁尾版面配置區 3">
            <a:extLst>
              <a:ext uri="{FF2B5EF4-FFF2-40B4-BE49-F238E27FC236}">
                <a16:creationId xmlns:a16="http://schemas.microsoft.com/office/drawing/2014/main" xmlns="" id="{DA0D9A16-24C2-4ED2-BD1F-40A62B4B57A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8002A40A-1FF4-4F68-B9F8-CCFE6F0A61DE}"/>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53102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EC7FE82F-7353-4EB6-B115-3F4F883AB669}"/>
              </a:ext>
            </a:extLst>
          </p:cNvPr>
          <p:cNvSpPr>
            <a:spLocks noGrp="1"/>
          </p:cNvSpPr>
          <p:nvPr>
            <p:ph type="dt" sz="half" idx="10"/>
          </p:nvPr>
        </p:nvSpPr>
        <p:spPr/>
        <p:txBody>
          <a:bodyPr/>
          <a:lstStyle/>
          <a:p>
            <a:fld id="{41044C1A-2725-48AE-A699-EA8E8FEFF634}" type="datetimeFigureOut">
              <a:rPr lang="zh-TW" altLang="en-US" smtClean="0"/>
              <a:t>2019/3/13</a:t>
            </a:fld>
            <a:endParaRPr lang="zh-TW" altLang="en-US"/>
          </a:p>
        </p:txBody>
      </p:sp>
      <p:sp>
        <p:nvSpPr>
          <p:cNvPr id="3" name="頁尾版面配置區 2">
            <a:extLst>
              <a:ext uri="{FF2B5EF4-FFF2-40B4-BE49-F238E27FC236}">
                <a16:creationId xmlns:a16="http://schemas.microsoft.com/office/drawing/2014/main" xmlns="" id="{6B99597B-30C7-4D52-AD5F-C858CCF870A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C558E562-3645-444D-99EF-C224D8AC792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202500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B5C8A51-2D2B-48E7-9226-50EB6A22516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1A09DA89-D924-4187-86BB-0DE7413CB9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9A862BBB-0FF2-4F4D-A76D-1F88CE615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3DE41C95-2028-4108-B014-39C5648C739C}"/>
              </a:ext>
            </a:extLst>
          </p:cNvPr>
          <p:cNvSpPr>
            <a:spLocks noGrp="1"/>
          </p:cNvSpPr>
          <p:nvPr>
            <p:ph type="dt" sz="half" idx="10"/>
          </p:nvPr>
        </p:nvSpPr>
        <p:spPr/>
        <p:txBody>
          <a:bodyPr/>
          <a:lstStyle/>
          <a:p>
            <a:fld id="{41044C1A-2725-48AE-A699-EA8E8FEFF634}" type="datetimeFigureOut">
              <a:rPr lang="zh-TW" altLang="en-US" smtClean="0"/>
              <a:t>2019/3/13</a:t>
            </a:fld>
            <a:endParaRPr lang="zh-TW" altLang="en-US"/>
          </a:p>
        </p:txBody>
      </p:sp>
      <p:sp>
        <p:nvSpPr>
          <p:cNvPr id="6" name="頁尾版面配置區 5">
            <a:extLst>
              <a:ext uri="{FF2B5EF4-FFF2-40B4-BE49-F238E27FC236}">
                <a16:creationId xmlns:a16="http://schemas.microsoft.com/office/drawing/2014/main" xmlns="" id="{2BD103DD-D7EC-4F8E-92E4-F3DF3C87310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A26E5469-9EC0-4784-86DB-CFF18B624D06}"/>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4217051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0BCCB00-EDDD-4021-BFA8-37AF232E09A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0B62902F-3F9A-4799-B356-32DB2D43C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341559B7-9AC4-469F-8F42-A7EAC5608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73C1A871-1FB1-426F-B468-F433644ACEE0}"/>
              </a:ext>
            </a:extLst>
          </p:cNvPr>
          <p:cNvSpPr>
            <a:spLocks noGrp="1"/>
          </p:cNvSpPr>
          <p:nvPr>
            <p:ph type="dt" sz="half" idx="10"/>
          </p:nvPr>
        </p:nvSpPr>
        <p:spPr/>
        <p:txBody>
          <a:bodyPr/>
          <a:lstStyle/>
          <a:p>
            <a:fld id="{41044C1A-2725-48AE-A699-EA8E8FEFF634}" type="datetimeFigureOut">
              <a:rPr lang="zh-TW" altLang="en-US" smtClean="0"/>
              <a:t>2019/3/13</a:t>
            </a:fld>
            <a:endParaRPr lang="zh-TW" altLang="en-US"/>
          </a:p>
        </p:txBody>
      </p:sp>
      <p:sp>
        <p:nvSpPr>
          <p:cNvPr id="6" name="頁尾版面配置區 5">
            <a:extLst>
              <a:ext uri="{FF2B5EF4-FFF2-40B4-BE49-F238E27FC236}">
                <a16:creationId xmlns:a16="http://schemas.microsoft.com/office/drawing/2014/main" xmlns="" id="{002851D3-4076-4BC5-9DED-D4BED17FEA8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4E57C28A-8893-4984-9E48-FEAF55A07CF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44359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329808D-8B18-4D63-9A86-7E543A995F5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1C65D312-39D6-45B8-A43D-EE4F531E6F96}"/>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D386A780-A433-4084-B504-8CA5C05D15EC}"/>
              </a:ext>
            </a:extLst>
          </p:cNvPr>
          <p:cNvSpPr>
            <a:spLocks noGrp="1"/>
          </p:cNvSpPr>
          <p:nvPr>
            <p:ph type="dt" sz="half" idx="10"/>
          </p:nvPr>
        </p:nvSpPr>
        <p:spPr/>
        <p:txBody>
          <a:bodyPr/>
          <a:lstStyle/>
          <a:p>
            <a:fld id="{41044C1A-2725-48AE-A699-EA8E8FEFF634}" type="datetimeFigureOut">
              <a:rPr lang="zh-TW" altLang="en-US" smtClean="0"/>
              <a:t>2019/3/13</a:t>
            </a:fld>
            <a:endParaRPr lang="zh-TW" altLang="en-US"/>
          </a:p>
        </p:txBody>
      </p:sp>
      <p:sp>
        <p:nvSpPr>
          <p:cNvPr id="5" name="頁尾版面配置區 4">
            <a:extLst>
              <a:ext uri="{FF2B5EF4-FFF2-40B4-BE49-F238E27FC236}">
                <a16:creationId xmlns:a16="http://schemas.microsoft.com/office/drawing/2014/main" xmlns="" id="{8C6AE278-5465-4135-8119-D4FFB673E5C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BC2B663D-8C1E-4440-923C-9B28783B6788}"/>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332910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B0F0B3FC-BDB6-4C40-9E7A-DD251A121D6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31B69DA4-DCBA-402E-B952-6FEF25C77842}"/>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97B7CDCD-2B53-481E-994C-32B4B7592300}"/>
              </a:ext>
            </a:extLst>
          </p:cNvPr>
          <p:cNvSpPr>
            <a:spLocks noGrp="1"/>
          </p:cNvSpPr>
          <p:nvPr>
            <p:ph type="dt" sz="half" idx="10"/>
          </p:nvPr>
        </p:nvSpPr>
        <p:spPr/>
        <p:txBody>
          <a:bodyPr/>
          <a:lstStyle/>
          <a:p>
            <a:fld id="{41044C1A-2725-48AE-A699-EA8E8FEFF634}" type="datetimeFigureOut">
              <a:rPr lang="zh-TW" altLang="en-US" smtClean="0"/>
              <a:t>2019/3/13</a:t>
            </a:fld>
            <a:endParaRPr lang="zh-TW" altLang="en-US"/>
          </a:p>
        </p:txBody>
      </p:sp>
      <p:sp>
        <p:nvSpPr>
          <p:cNvPr id="5" name="頁尾版面配置區 4">
            <a:extLst>
              <a:ext uri="{FF2B5EF4-FFF2-40B4-BE49-F238E27FC236}">
                <a16:creationId xmlns:a16="http://schemas.microsoft.com/office/drawing/2014/main" xmlns="" id="{5DFB1F8A-6E1A-49FD-88DC-360B7C26637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46025657-A7D6-4D60-8308-3F54ECF10FA3}"/>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076976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AF27AA62-E1D3-4683-9BB1-A8FDBF7648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8E70A9A6-A017-41A2-86FB-D99634A98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ADA99EE0-24C1-43B5-8CD7-D94555000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044C1A-2725-48AE-A699-EA8E8FEFF634}" type="datetimeFigureOut">
              <a:rPr lang="zh-TW" altLang="en-US" smtClean="0"/>
              <a:t>2019/3/13</a:t>
            </a:fld>
            <a:endParaRPr lang="zh-TW" altLang="en-US"/>
          </a:p>
        </p:txBody>
      </p:sp>
      <p:sp>
        <p:nvSpPr>
          <p:cNvPr id="5" name="頁尾版面配置區 4">
            <a:extLst>
              <a:ext uri="{FF2B5EF4-FFF2-40B4-BE49-F238E27FC236}">
                <a16:creationId xmlns:a16="http://schemas.microsoft.com/office/drawing/2014/main" xmlns="" id="{6FDC897C-57B6-471F-85EC-BDD367E81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4AE00D97-13C0-4E9B-84D0-9482705853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30786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image" Target="../media/image16.pn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11.xml.rels><?xml version="1.0" encoding="UTF-8" standalone="yes"?>
<Relationships xmlns="http://schemas.openxmlformats.org/package/2006/relationships"><Relationship Id="rId3" Type="http://schemas.openxmlformats.org/officeDocument/2006/relationships/image" Target="../media/image21.JPG"/><Relationship Id="rId7" Type="http://schemas.openxmlformats.org/officeDocument/2006/relationships/image" Target="../media/image25.JPG"/><Relationship Id="rId2" Type="http://schemas.openxmlformats.org/officeDocument/2006/relationships/image" Target="../media/image20.JPG"/><Relationship Id="rId1" Type="http://schemas.openxmlformats.org/officeDocument/2006/relationships/slideLayout" Target="../slideLayouts/slideLayout2.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s>
</file>

<file path=ppt/slides/_rels/slide12.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13.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2.xml"/><Relationship Id="rId6" Type="http://schemas.openxmlformats.org/officeDocument/2006/relationships/image" Target="../media/image34.JPG"/><Relationship Id="rId5" Type="http://schemas.openxmlformats.org/officeDocument/2006/relationships/image" Target="../media/image33.JPG"/><Relationship Id="rId4" Type="http://schemas.openxmlformats.org/officeDocument/2006/relationships/image" Target="../media/image3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0B6A882-00D3-47EF-9E00-5F5448FB3E79}"/>
              </a:ext>
            </a:extLst>
          </p:cNvPr>
          <p:cNvSpPr>
            <a:spLocks noGrp="1"/>
          </p:cNvSpPr>
          <p:nvPr>
            <p:ph type="ctrTitle"/>
          </p:nvPr>
        </p:nvSpPr>
        <p:spPr>
          <a:xfrm>
            <a:off x="1524000" y="1557487"/>
            <a:ext cx="9144000" cy="649317"/>
          </a:xfrm>
        </p:spPr>
        <p:txBody>
          <a:bodyPr>
            <a:noAutofit/>
          </a:bodyPr>
          <a:lstStyle/>
          <a:p>
            <a:r>
              <a:rPr lang="en-US" altLang="zh-TW" sz="3200" dirty="0">
                <a:latin typeface="Times New Roman" panose="02020603050405020304" pitchFamily="18" charset="0"/>
                <a:cs typeface="Times New Roman" panose="02020603050405020304" pitchFamily="18" charset="0"/>
              </a:rPr>
              <a:t>Polynomial-time approximation algorithms for weighted LCS problem</a:t>
            </a:r>
          </a:p>
        </p:txBody>
      </p:sp>
      <p:sp>
        <p:nvSpPr>
          <p:cNvPr id="3" name="副標題 2">
            <a:extLst>
              <a:ext uri="{FF2B5EF4-FFF2-40B4-BE49-F238E27FC236}">
                <a16:creationId xmlns:a16="http://schemas.microsoft.com/office/drawing/2014/main" xmlns="" id="{7DA53B5D-3737-4D8B-A009-A9D02CAEE169}"/>
              </a:ext>
            </a:extLst>
          </p:cNvPr>
          <p:cNvSpPr>
            <a:spLocks noGrp="1"/>
          </p:cNvSpPr>
          <p:nvPr>
            <p:ph type="subTitle" idx="1"/>
          </p:nvPr>
        </p:nvSpPr>
        <p:spPr>
          <a:xfrm>
            <a:off x="1523999" y="2597496"/>
            <a:ext cx="9144000" cy="425017"/>
          </a:xfrm>
        </p:spPr>
        <p:txBody>
          <a:bodyPr>
            <a:noAutofit/>
          </a:bodyPr>
          <a:lstStyle/>
          <a:p>
            <a:r>
              <a:rPr lang="en-US" altLang="zh-TW" sz="2200" dirty="0">
                <a:latin typeface="Times New Roman" panose="02020603050405020304" pitchFamily="18" charset="0"/>
                <a:cs typeface="Times New Roman" panose="02020603050405020304" pitchFamily="18" charset="0"/>
              </a:rPr>
              <a:t>M. </a:t>
            </a:r>
            <a:r>
              <a:rPr lang="en-US" altLang="zh-TW" sz="2200" dirty="0" err="1">
                <a:latin typeface="Times New Roman" panose="02020603050405020304" pitchFamily="18" charset="0"/>
                <a:cs typeface="Times New Roman" panose="02020603050405020304" pitchFamily="18" charset="0"/>
              </a:rPr>
              <a:t>Cygan</a:t>
            </a:r>
            <a:r>
              <a:rPr lang="en-US" altLang="zh-TW" sz="2200" dirty="0">
                <a:latin typeface="Times New Roman" panose="02020603050405020304" pitchFamily="18" charset="0"/>
                <a:cs typeface="Times New Roman" panose="02020603050405020304" pitchFamily="18" charset="0"/>
              </a:rPr>
              <a:t>, M. Kubica, J. </a:t>
            </a:r>
            <a:r>
              <a:rPr lang="en-US" altLang="zh-TW" sz="2200" dirty="0" err="1">
                <a:latin typeface="Times New Roman" panose="02020603050405020304" pitchFamily="18" charset="0"/>
                <a:cs typeface="Times New Roman" panose="02020603050405020304" pitchFamily="18" charset="0"/>
              </a:rPr>
              <a:t>Radoszewski</a:t>
            </a:r>
            <a:r>
              <a:rPr lang="en-US" altLang="zh-TW" sz="2200" dirty="0">
                <a:latin typeface="Times New Roman" panose="02020603050405020304" pitchFamily="18" charset="0"/>
                <a:cs typeface="Times New Roman" panose="02020603050405020304" pitchFamily="18" charset="0"/>
              </a:rPr>
              <a:t>, W. </a:t>
            </a:r>
            <a:r>
              <a:rPr lang="en-US" altLang="zh-TW" sz="2200" dirty="0" err="1">
                <a:latin typeface="Times New Roman" panose="02020603050405020304" pitchFamily="18" charset="0"/>
                <a:cs typeface="Times New Roman" panose="02020603050405020304" pitchFamily="18" charset="0"/>
              </a:rPr>
              <a:t>Rytter</a:t>
            </a:r>
            <a:r>
              <a:rPr lang="en-US" altLang="zh-TW" sz="2200" dirty="0">
                <a:latin typeface="Times New Roman" panose="02020603050405020304" pitchFamily="18" charset="0"/>
                <a:cs typeface="Times New Roman" panose="02020603050405020304" pitchFamily="18" charset="0"/>
              </a:rPr>
              <a:t>, T. </a:t>
            </a:r>
            <a:r>
              <a:rPr lang="en-US" altLang="zh-TW" sz="2200" dirty="0" err="1">
                <a:latin typeface="Times New Roman" panose="02020603050405020304" pitchFamily="18" charset="0"/>
                <a:cs typeface="Times New Roman" panose="02020603050405020304" pitchFamily="18" charset="0"/>
              </a:rPr>
              <a:t>Waleń</a:t>
            </a:r>
            <a:endParaRPr lang="zh-TW" altLang="en-US" sz="22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xmlns="" id="{8F2527E8-BB8F-41FB-8AF1-03DCC96BC069}"/>
              </a:ext>
            </a:extLst>
          </p:cNvPr>
          <p:cNvSpPr txBox="1"/>
          <p:nvPr/>
        </p:nvSpPr>
        <p:spPr>
          <a:xfrm>
            <a:off x="4285217" y="3601720"/>
            <a:ext cx="3621569" cy="707886"/>
          </a:xfrm>
          <a:prstGeom prst="rect">
            <a:avLst/>
          </a:prstGeom>
          <a:noFill/>
        </p:spPr>
        <p:txBody>
          <a:bodyPr wrap="none" rtlCol="0">
            <a:spAutoFit/>
          </a:bodyPr>
          <a:lstStyle/>
          <a:p>
            <a:pPr algn="ctr"/>
            <a:r>
              <a:rPr lang="en-US" altLang="zh-TW" sz="2000" dirty="0">
                <a:latin typeface="Times New Roman" panose="02020603050405020304" pitchFamily="18" charset="0"/>
                <a:cs typeface="Times New Roman" panose="02020603050405020304" pitchFamily="18" charset="0"/>
              </a:rPr>
              <a:t>Discrete Applied Mathematics, </a:t>
            </a:r>
          </a:p>
          <a:p>
            <a:pPr algn="ctr"/>
            <a:r>
              <a:rPr lang="en-US" altLang="zh-TW" sz="2000" dirty="0">
                <a:latin typeface="Times New Roman" panose="02020603050405020304" pitchFamily="18" charset="0"/>
                <a:cs typeface="Times New Roman" panose="02020603050405020304" pitchFamily="18" charset="0"/>
              </a:rPr>
              <a:t>Volume, May. 11, 2016, pp.38-48</a:t>
            </a:r>
          </a:p>
        </p:txBody>
      </p:sp>
      <p:sp>
        <p:nvSpPr>
          <p:cNvPr id="9" name="文字方塊 8">
            <a:extLst>
              <a:ext uri="{FF2B5EF4-FFF2-40B4-BE49-F238E27FC236}">
                <a16:creationId xmlns:a16="http://schemas.microsoft.com/office/drawing/2014/main" xmlns="" id="{6BC92671-3184-4146-A361-F82079153C2E}"/>
              </a:ext>
            </a:extLst>
          </p:cNvPr>
          <p:cNvSpPr txBox="1"/>
          <p:nvPr/>
        </p:nvSpPr>
        <p:spPr>
          <a:xfrm>
            <a:off x="8116045" y="5019194"/>
            <a:ext cx="327660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Du-Cheng Wu</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xmlns="" id="{52A0654C-2F84-4026-9FCF-04C8DF590D5F}"/>
              </a:ext>
            </a:extLst>
          </p:cNvPr>
          <p:cNvSpPr txBox="1"/>
          <p:nvPr/>
        </p:nvSpPr>
        <p:spPr>
          <a:xfrm>
            <a:off x="8754490" y="5480859"/>
            <a:ext cx="2638158"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Date: Mar. 13, 2019</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70499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Abstract(1/2)</a:t>
            </a:r>
            <a:endParaRPr lang="zh-TW" altLang="en-US" sz="32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E39EF1E7-604C-4E09-A7D2-D4B34B0635E8}"/>
              </a:ext>
            </a:extLst>
          </p:cNvPr>
          <p:cNvSpPr>
            <a:spLocks noGrp="1"/>
          </p:cNvSpPr>
          <p:nvPr>
            <p:ph idx="1"/>
          </p:nvPr>
        </p:nvSpPr>
        <p:spPr>
          <a:xfrm>
            <a:off x="838200" y="1163782"/>
            <a:ext cx="10515600" cy="5060849"/>
          </a:xfrm>
        </p:spPr>
        <p:txBody>
          <a:bodyPr>
            <a:noAutofit/>
          </a:bodyPr>
          <a:lstStyle/>
          <a:p>
            <a:pPr marL="0" indent="0" algn="just">
              <a:buNone/>
            </a:pPr>
            <a:r>
              <a:rPr lang="en-US" altLang="zh-TW" dirty="0">
                <a:latin typeface="Times New Roman" panose="02020603050405020304" pitchFamily="18" charset="0"/>
                <a:cs typeface="Times New Roman" panose="02020603050405020304" pitchFamily="18" charset="0"/>
              </a:rPr>
              <a:t>We consider a variant of the well-known Longest Common Subsequence (LCS) problem for weighted sequences. A weighted sequence determines the probability for each symbol to occur at a given position of the sequence (such sequences are also called Position Weighted Matrices, PWM). Two possible such versions of the problem were proposed by (Amir et al., 2009 and 2010), they are called LCWS and LCWS2 (Longest Common Weighted Subsequence 1 and 2). We solve an open problem, stated in the paper by Amir et al., of the tractability of a log-probability version of LCWS2 problem for bounded alphabets, showing that it is NP-hard already for an alphabet of size 2. </a:t>
            </a:r>
          </a:p>
        </p:txBody>
      </p:sp>
    </p:spTree>
    <p:extLst>
      <p:ext uri="{BB962C8B-B14F-4D97-AF65-F5344CB8AC3E}">
        <p14:creationId xmlns:p14="http://schemas.microsoft.com/office/powerpoint/2010/main" val="15007030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Abstract(2/2)</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xmlns="" id="{E39EF1E7-604C-4E09-A7D2-D4B34B0635E8}"/>
                  </a:ext>
                </a:extLst>
              </p:cNvPr>
              <p:cNvSpPr>
                <a:spLocks noGrp="1"/>
              </p:cNvSpPr>
              <p:nvPr>
                <p:ph idx="1"/>
              </p:nvPr>
            </p:nvSpPr>
            <p:spPr>
              <a:xfrm>
                <a:off x="838200" y="1163782"/>
                <a:ext cx="10515600" cy="5060849"/>
              </a:xfrm>
            </p:spPr>
            <p:txBody>
              <a:bodyPr>
                <a:noAutofit/>
              </a:bodyPr>
              <a:lstStyle/>
              <a:p>
                <a:pPr marL="0" indent="0" algn="just">
                  <a:buNone/>
                </a:pPr>
                <a:r>
                  <a:rPr lang="en-US" altLang="zh-TW" dirty="0">
                    <a:latin typeface="Times New Roman" panose="02020603050405020304" pitchFamily="18" charset="0"/>
                    <a:cs typeface="Times New Roman" panose="02020603050405020304" pitchFamily="18" charset="0"/>
                  </a:rPr>
                  <a:t>We also improve the (1/|Σ|)-approximation algorithm given by Amir et al. (where Σ is the alphabet): we show a polynomial-time approximation scheme (PTAS) for the LCWS2 problem using O(</a:t>
                </a:r>
                <a14:m>
                  <m:oMath xmlns:m="http://schemas.openxmlformats.org/officeDocument/2006/math">
                    <m:sSup>
                      <m:sSupPr>
                        <m:ctrlPr>
                          <a:rPr lang="en-US" altLang="zh-TW" i="1" dirty="0" smtClean="0">
                            <a:latin typeface="Cambria Math" panose="02040503050406030204" pitchFamily="18" charset="0"/>
                            <a:cs typeface="Times New Roman" panose="02020603050405020304" pitchFamily="18" charset="0"/>
                          </a:rPr>
                        </m:ctrlPr>
                      </m:sSupPr>
                      <m:e>
                        <m:r>
                          <a:rPr lang="en-US" altLang="zh-TW" b="0" i="1" dirty="0" smtClean="0">
                            <a:latin typeface="Cambria Math" panose="02040503050406030204" pitchFamily="18" charset="0"/>
                            <a:cs typeface="Times New Roman" panose="02020603050405020304" pitchFamily="18" charset="0"/>
                          </a:rPr>
                          <m:t>𝑛</m:t>
                        </m:r>
                      </m:e>
                      <m:sup>
                        <m:r>
                          <a:rPr lang="en-US" altLang="zh-TW" b="0" i="1" dirty="0" smtClean="0">
                            <a:latin typeface="Cambria Math" panose="02040503050406030204" pitchFamily="18" charset="0"/>
                            <a:cs typeface="Times New Roman" panose="02020603050405020304" pitchFamily="18" charset="0"/>
                          </a:rPr>
                          <m:t>5</m:t>
                        </m:r>
                      </m:sup>
                    </m:sSup>
                  </m:oMath>
                </a14:m>
                <a:r>
                  <a:rPr lang="en-US" altLang="zh-TW" dirty="0">
                    <a:latin typeface="Times New Roman" panose="02020603050405020304" pitchFamily="18" charset="0"/>
                    <a:cs typeface="Times New Roman" panose="02020603050405020304" pitchFamily="18" charset="0"/>
                  </a:rPr>
                  <a:t>) space. We also give a simpler (1/2)-approximation algorithm for the same problem using only O(</a:t>
                </a:r>
                <a14:m>
                  <m:oMath xmlns:m="http://schemas.openxmlformats.org/officeDocument/2006/math">
                    <m:sSup>
                      <m:sSupPr>
                        <m:ctrlPr>
                          <a:rPr lang="en-US" altLang="zh-TW"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𝑛</m:t>
                        </m:r>
                      </m:e>
                      <m:sup>
                        <m:r>
                          <a:rPr lang="en-US" altLang="zh-TW" b="0" i="1" smtClean="0">
                            <a:latin typeface="Cambria Math" panose="02040503050406030204" pitchFamily="18" charset="0"/>
                            <a:cs typeface="Times New Roman" panose="02020603050405020304" pitchFamily="18" charset="0"/>
                          </a:rPr>
                          <m:t>2</m:t>
                        </m:r>
                      </m:sup>
                    </m:sSup>
                  </m:oMath>
                </a14:m>
                <a:r>
                  <a:rPr lang="en-US" altLang="zh-TW" dirty="0">
                    <a:latin typeface="Times New Roman" panose="02020603050405020304" pitchFamily="18" charset="0"/>
                    <a:cs typeface="Times New Roman" panose="02020603050405020304" pitchFamily="18" charset="0"/>
                  </a:rPr>
                  <a:t>) space.</a:t>
                </a:r>
              </a:p>
            </p:txBody>
          </p:sp>
        </mc:Choice>
        <mc:Fallback xmlns="">
          <p:sp>
            <p:nvSpPr>
              <p:cNvPr id="3" name="內容版面配置區 2">
                <a:extLst>
                  <a:ext uri="{FF2B5EF4-FFF2-40B4-BE49-F238E27FC236}">
                    <a16:creationId xmlns:a16="http://schemas.microsoft.com/office/drawing/2014/main" id="{E39EF1E7-604C-4E09-A7D2-D4B34B0635E8}"/>
                  </a:ext>
                </a:extLst>
              </p:cNvPr>
              <p:cNvSpPr>
                <a:spLocks noGrp="1" noRot="1" noChangeAspect="1" noMove="1" noResize="1" noEditPoints="1" noAdjustHandles="1" noChangeArrowheads="1" noChangeShapeType="1" noTextEdit="1"/>
              </p:cNvSpPr>
              <p:nvPr>
                <p:ph idx="1"/>
              </p:nvPr>
            </p:nvSpPr>
            <p:spPr>
              <a:xfrm>
                <a:off x="838200" y="1163782"/>
                <a:ext cx="10515600" cy="5060849"/>
              </a:xfrm>
              <a:blipFill>
                <a:blip r:embed="rId2"/>
                <a:stretch>
                  <a:fillRect l="-1217" t="-2169" r="-115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619726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Weighted Sequence</a:t>
            </a:r>
            <a:endParaRPr lang="zh-TW" altLang="en-US" sz="3200"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xmlns="" id="{18AA338B-E74D-4814-8683-2D86AD2136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04802" y="1111333"/>
            <a:ext cx="7336250" cy="2023365"/>
          </a:xfrm>
        </p:spPr>
      </p:pic>
      <p:pic>
        <p:nvPicPr>
          <p:cNvPr id="7" name="圖片 6">
            <a:extLst>
              <a:ext uri="{FF2B5EF4-FFF2-40B4-BE49-F238E27FC236}">
                <a16:creationId xmlns:a16="http://schemas.microsoft.com/office/drawing/2014/main" xmlns="" id="{7356CD23-8522-4D3A-A16F-581F9A1495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732" y="3237839"/>
            <a:ext cx="4418531" cy="471310"/>
          </a:xfrm>
          <a:prstGeom prst="rect">
            <a:avLst/>
          </a:prstGeom>
        </p:spPr>
      </p:pic>
      <p:pic>
        <p:nvPicPr>
          <p:cNvPr id="9" name="圖片 8">
            <a:extLst>
              <a:ext uri="{FF2B5EF4-FFF2-40B4-BE49-F238E27FC236}">
                <a16:creationId xmlns:a16="http://schemas.microsoft.com/office/drawing/2014/main" xmlns="" id="{DD4DF3CB-AEBB-4F4C-8242-DDC91CB85E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4918" y="3836649"/>
            <a:ext cx="2867295" cy="947561"/>
          </a:xfrm>
          <a:prstGeom prst="rect">
            <a:avLst/>
          </a:prstGeom>
        </p:spPr>
      </p:pic>
      <p:pic>
        <p:nvPicPr>
          <p:cNvPr id="11" name="圖片 10">
            <a:extLst>
              <a:ext uri="{FF2B5EF4-FFF2-40B4-BE49-F238E27FC236}">
                <a16:creationId xmlns:a16="http://schemas.microsoft.com/office/drawing/2014/main" xmlns="" id="{CE3301F9-B177-474B-B477-9CE912DE20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90348" y="4020375"/>
            <a:ext cx="6829829" cy="669348"/>
          </a:xfrm>
          <a:prstGeom prst="rect">
            <a:avLst/>
          </a:prstGeom>
        </p:spPr>
      </p:pic>
      <p:pic>
        <p:nvPicPr>
          <p:cNvPr id="13" name="圖片 12">
            <a:extLst>
              <a:ext uri="{FF2B5EF4-FFF2-40B4-BE49-F238E27FC236}">
                <a16:creationId xmlns:a16="http://schemas.microsoft.com/office/drawing/2014/main" xmlns="" id="{D2501FC6-FDB6-4BBA-9A8B-A538A71A5E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04802" y="5029822"/>
            <a:ext cx="7320104" cy="669348"/>
          </a:xfrm>
          <a:prstGeom prst="rect">
            <a:avLst/>
          </a:prstGeom>
        </p:spPr>
      </p:pic>
    </p:spTree>
    <p:extLst>
      <p:ext uri="{BB962C8B-B14F-4D97-AF65-F5344CB8AC3E}">
        <p14:creationId xmlns:p14="http://schemas.microsoft.com/office/powerpoint/2010/main" val="2193041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l-GR" altLang="zh-TW" sz="3200" dirty="0">
                <a:latin typeface="Times New Roman" panose="02020603050405020304" pitchFamily="18" charset="0"/>
                <a:cs typeface="Times New Roman" panose="02020603050405020304" pitchFamily="18" charset="0"/>
              </a:rPr>
              <a:t>α</a:t>
            </a:r>
            <a:r>
              <a:rPr lang="en-US" altLang="zh-TW" sz="3200" dirty="0">
                <a:latin typeface="Times New Roman" panose="02020603050405020304" pitchFamily="18" charset="0"/>
                <a:cs typeface="Times New Roman" panose="02020603050405020304" pitchFamily="18" charset="0"/>
              </a:rPr>
              <a:t>-LCWS Problem</a:t>
            </a:r>
            <a:endParaRPr lang="zh-TW" altLang="en-US" sz="3200" dirty="0">
              <a:latin typeface="Times New Roman" panose="02020603050405020304" pitchFamily="18" charset="0"/>
              <a:cs typeface="Times New Roman" panose="02020603050405020304" pitchFamily="18" charset="0"/>
            </a:endParaRPr>
          </a:p>
        </p:txBody>
      </p:sp>
      <p:pic>
        <p:nvPicPr>
          <p:cNvPr id="4" name="內容版面配置區 3">
            <a:extLst>
              <a:ext uri="{FF2B5EF4-FFF2-40B4-BE49-F238E27FC236}">
                <a16:creationId xmlns:a16="http://schemas.microsoft.com/office/drawing/2014/main" xmlns="" id="{A69828E4-934A-4247-BADE-A52250F9E6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0493" y="2027245"/>
            <a:ext cx="9471009" cy="1536723"/>
          </a:xfrm>
        </p:spPr>
      </p:pic>
      <p:pic>
        <p:nvPicPr>
          <p:cNvPr id="6" name="圖片 5">
            <a:extLst>
              <a:ext uri="{FF2B5EF4-FFF2-40B4-BE49-F238E27FC236}">
                <a16:creationId xmlns:a16="http://schemas.microsoft.com/office/drawing/2014/main" xmlns="" id="{84DD7CCF-496F-478B-B784-A4AA6C0B07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4612" y="4018577"/>
            <a:ext cx="7685567" cy="1325907"/>
          </a:xfrm>
          <a:prstGeom prst="rect">
            <a:avLst/>
          </a:prstGeom>
        </p:spPr>
      </p:pic>
      <p:pic>
        <p:nvPicPr>
          <p:cNvPr id="9" name="圖片 8">
            <a:extLst>
              <a:ext uri="{FF2B5EF4-FFF2-40B4-BE49-F238E27FC236}">
                <a16:creationId xmlns:a16="http://schemas.microsoft.com/office/drawing/2014/main" xmlns="" id="{70EAF342-EDAA-4E0F-9C0A-8ADE43BF1D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0495" y="1513516"/>
            <a:ext cx="8785726" cy="305795"/>
          </a:xfrm>
          <a:prstGeom prst="rect">
            <a:avLst/>
          </a:prstGeom>
        </p:spPr>
      </p:pic>
    </p:spTree>
    <p:extLst>
      <p:ext uri="{BB962C8B-B14F-4D97-AF65-F5344CB8AC3E}">
        <p14:creationId xmlns:p14="http://schemas.microsoft.com/office/powerpoint/2010/main" val="20977671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cs typeface="Times New Roman" panose="02020603050405020304" pitchFamily="18" charset="0"/>
                  </a:rPr>
                  <a:t>(</a:t>
                </a:r>
                <a14:m>
                  <m:oMath xmlns:m="http://schemas.openxmlformats.org/officeDocument/2006/math">
                    <m:sSub>
                      <m:sSubPr>
                        <m:ctrlPr>
                          <a:rPr lang="el-GR" altLang="zh-TW" sz="3200" i="1" smtClean="0">
                            <a:latin typeface="Cambria Math" panose="02040503050406030204" pitchFamily="18" charset="0"/>
                            <a:cs typeface="Times New Roman" panose="02020603050405020304" pitchFamily="18" charset="0"/>
                          </a:rPr>
                        </m:ctrlPr>
                      </m:sSubPr>
                      <m:e>
                        <m:r>
                          <m:rPr>
                            <m:sty m:val="p"/>
                          </m:rPr>
                          <a:rPr lang="el-GR" altLang="zh-TW" sz="3200" i="1" smtClean="0">
                            <a:latin typeface="Cambria Math" panose="02040503050406030204" pitchFamily="18" charset="0"/>
                            <a:cs typeface="Times New Roman" panose="02020603050405020304" pitchFamily="18" charset="0"/>
                          </a:rPr>
                          <m:t>α</m:t>
                        </m:r>
                      </m:e>
                      <m:sub>
                        <m:r>
                          <a:rPr lang="en-US" altLang="zh-TW" sz="3200" i="1">
                            <a:latin typeface="Cambria Math" panose="02040503050406030204" pitchFamily="18" charset="0"/>
                            <a:cs typeface="Times New Roman" panose="02020603050405020304" pitchFamily="18" charset="0"/>
                          </a:rPr>
                          <m:t>1</m:t>
                        </m:r>
                      </m:sub>
                    </m:sSub>
                    <m:r>
                      <a:rPr lang="en-US" altLang="zh-TW" sz="3200" b="0" i="1" smtClean="0">
                        <a:latin typeface="Cambria Math" panose="02040503050406030204" pitchFamily="18" charset="0"/>
                        <a:cs typeface="Times New Roman" panose="02020603050405020304" pitchFamily="18" charset="0"/>
                      </a:rPr>
                      <m:t>,</m:t>
                    </m:r>
                    <m:sSub>
                      <m:sSubPr>
                        <m:ctrlPr>
                          <a:rPr lang="en-US" altLang="zh-TW" sz="3200" b="0" i="1" smtClean="0">
                            <a:latin typeface="Cambria Math" panose="02040503050406030204" pitchFamily="18" charset="0"/>
                            <a:cs typeface="Times New Roman" panose="02020603050405020304" pitchFamily="18" charset="0"/>
                          </a:rPr>
                        </m:ctrlPr>
                      </m:sSubPr>
                      <m:e>
                        <m:r>
                          <m:rPr>
                            <m:sty m:val="p"/>
                          </m:rPr>
                          <a:rPr lang="el-GR" altLang="zh-TW" sz="3200" b="0" i="1" smtClean="0">
                            <a:latin typeface="Cambria Math" panose="02040503050406030204" pitchFamily="18" charset="0"/>
                            <a:cs typeface="Times New Roman" panose="02020603050405020304" pitchFamily="18" charset="0"/>
                          </a:rPr>
                          <m:t>α</m:t>
                        </m:r>
                      </m:e>
                      <m:sub>
                        <m:r>
                          <a:rPr lang="en-US" altLang="zh-TW" sz="3200" b="0" i="1" smtClean="0">
                            <a:latin typeface="Cambria Math" panose="02040503050406030204" pitchFamily="18" charset="0"/>
                            <a:cs typeface="Times New Roman" panose="02020603050405020304" pitchFamily="18" charset="0"/>
                          </a:rPr>
                          <m:t>2</m:t>
                        </m:r>
                      </m:sub>
                    </m:sSub>
                  </m:oMath>
                </a14:m>
                <a:r>
                  <a:rPr lang="en-US" altLang="zh-TW" sz="3200" dirty="0">
                    <a:latin typeface="Times New Roman" panose="02020603050405020304" pitchFamily="18" charset="0"/>
                    <a:cs typeface="Times New Roman" panose="02020603050405020304" pitchFamily="18" charset="0"/>
                  </a:rPr>
                  <a:t>)-LCWS2 Problem</a:t>
                </a:r>
                <a:endParaRPr lang="zh-TW" altLang="en-US" sz="3200" dirty="0">
                  <a:latin typeface="Times New Roman" panose="02020603050405020304" pitchFamily="18" charset="0"/>
                  <a:cs typeface="Times New Roman" panose="02020603050405020304" pitchFamily="18" charset="0"/>
                </a:endParaRPr>
              </a:p>
            </p:txBody>
          </p:sp>
        </mc:Choice>
        <mc:Fallback xmlns="">
          <p:sp>
            <p:nvSpPr>
              <p:cNvPr id="2" name="標題 1">
                <a:extLst>
                  <a:ext uri="{FF2B5EF4-FFF2-40B4-BE49-F238E27FC236}">
                    <a16:creationId xmlns:a16="http://schemas.microsoft.com/office/drawing/2014/main" id="{02CD88E0-92F0-4756-A55F-499E0B4501EB}"/>
                  </a:ext>
                </a:extLst>
              </p:cNvPr>
              <p:cNvSpPr>
                <a:spLocks noGrp="1" noRot="1" noChangeAspect="1" noMove="1" noResize="1" noEditPoints="1" noAdjustHandles="1" noChangeArrowheads="1" noChangeShapeType="1" noTextEdit="1"/>
              </p:cNvSpPr>
              <p:nvPr>
                <p:ph type="title"/>
              </p:nvPr>
            </p:nvSpPr>
            <p:spPr>
              <a:xfrm>
                <a:off x="838200" y="365125"/>
                <a:ext cx="10515600" cy="669348"/>
              </a:xfrm>
              <a:blipFill>
                <a:blip r:embed="rId2"/>
                <a:stretch>
                  <a:fillRect l="-1507" t="-10909" b="-20000"/>
                </a:stretch>
              </a:blipFill>
            </p:spPr>
            <p:txBody>
              <a:bodyPr/>
              <a:lstStyle/>
              <a:p>
                <a:r>
                  <a:rPr lang="zh-TW" altLang="en-US">
                    <a:noFill/>
                  </a:rPr>
                  <a:t> </a:t>
                </a:r>
              </a:p>
            </p:txBody>
          </p:sp>
        </mc:Fallback>
      </mc:AlternateContent>
      <p:pic>
        <p:nvPicPr>
          <p:cNvPr id="11" name="內容版面配置區 10">
            <a:extLst>
              <a:ext uri="{FF2B5EF4-FFF2-40B4-BE49-F238E27FC236}">
                <a16:creationId xmlns:a16="http://schemas.microsoft.com/office/drawing/2014/main" xmlns="" id="{CAC0CCED-FFAD-4B24-8C93-B5D6A986E9E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42722" y="2467188"/>
            <a:ext cx="9306556" cy="1499330"/>
          </a:xfrm>
        </p:spPr>
      </p:pic>
      <p:pic>
        <p:nvPicPr>
          <p:cNvPr id="13" name="圖片 12">
            <a:extLst>
              <a:ext uri="{FF2B5EF4-FFF2-40B4-BE49-F238E27FC236}">
                <a16:creationId xmlns:a16="http://schemas.microsoft.com/office/drawing/2014/main" xmlns="" id="{6AD15EBA-AE29-4EBD-A4F3-FA7E1AFD0C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2722" y="1633440"/>
            <a:ext cx="7308491" cy="415430"/>
          </a:xfrm>
          <a:prstGeom prst="rect">
            <a:avLst/>
          </a:prstGeom>
        </p:spPr>
      </p:pic>
      <p:pic>
        <p:nvPicPr>
          <p:cNvPr id="15" name="圖片 14">
            <a:extLst>
              <a:ext uri="{FF2B5EF4-FFF2-40B4-BE49-F238E27FC236}">
                <a16:creationId xmlns:a16="http://schemas.microsoft.com/office/drawing/2014/main" xmlns="" id="{3F7595D3-8081-4287-80CC-128684A8BE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77050" y="4555481"/>
            <a:ext cx="9037900" cy="943276"/>
          </a:xfrm>
          <a:prstGeom prst="rect">
            <a:avLst/>
          </a:prstGeom>
        </p:spPr>
      </p:pic>
    </p:spTree>
    <p:extLst>
      <p:ext uri="{BB962C8B-B14F-4D97-AF65-F5344CB8AC3E}">
        <p14:creationId xmlns:p14="http://schemas.microsoft.com/office/powerpoint/2010/main" val="31093953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α-LCWS2 Problem</a:t>
            </a:r>
            <a:endParaRPr lang="zh-TW" altLang="en-US" sz="3200"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xmlns="" id="{16D66C7E-9FB5-4FCA-B21A-A74F886747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7387" y="1434680"/>
            <a:ext cx="8277225" cy="1333500"/>
          </a:xfrm>
        </p:spPr>
      </p:pic>
      <p:pic>
        <p:nvPicPr>
          <p:cNvPr id="8" name="圖片 7">
            <a:extLst>
              <a:ext uri="{FF2B5EF4-FFF2-40B4-BE49-F238E27FC236}">
                <a16:creationId xmlns:a16="http://schemas.microsoft.com/office/drawing/2014/main" xmlns="" id="{E07BB61C-93DE-4F22-88D5-D55A8B318D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7387" y="3494159"/>
            <a:ext cx="9015413" cy="2256203"/>
          </a:xfrm>
          <a:prstGeom prst="rect">
            <a:avLst/>
          </a:prstGeom>
        </p:spPr>
      </p:pic>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xmlns="" id="{D96F1055-D95E-4E92-9148-BF4878F3F693}"/>
                  </a:ext>
                </a:extLst>
              </p:cNvPr>
              <p:cNvSpPr txBox="1"/>
              <p:nvPr/>
            </p:nvSpPr>
            <p:spPr>
              <a:xfrm>
                <a:off x="1957387" y="966575"/>
                <a:ext cx="6348413" cy="430887"/>
              </a:xfrm>
              <a:prstGeom prst="rect">
                <a:avLst/>
              </a:prstGeom>
              <a:noFill/>
            </p:spPr>
            <p:txBody>
              <a:bodyPr wrap="square" rtlCol="0">
                <a:spAutoFit/>
              </a:bodyPr>
              <a:lstStyle/>
              <a:p>
                <a:r>
                  <a:rPr lang="en-US" altLang="zh-TW" sz="2200" dirty="0">
                    <a:cs typeface="Times New Roman" panose="02020603050405020304" pitchFamily="18" charset="0"/>
                  </a:rPr>
                  <a:t>(</a:t>
                </a:r>
                <a14:m>
                  <m:oMath xmlns:m="http://schemas.openxmlformats.org/officeDocument/2006/math">
                    <m:sSub>
                      <m:sSubPr>
                        <m:ctrlPr>
                          <a:rPr lang="el-GR" altLang="zh-TW" sz="2200" i="1">
                            <a:latin typeface="Cambria Math" panose="02040503050406030204" pitchFamily="18" charset="0"/>
                            <a:cs typeface="Times New Roman" panose="02020603050405020304" pitchFamily="18" charset="0"/>
                          </a:rPr>
                        </m:ctrlPr>
                      </m:sSubPr>
                      <m:e>
                        <m:r>
                          <m:rPr>
                            <m:sty m:val="p"/>
                          </m:rPr>
                          <a:rPr lang="el-GR" altLang="zh-TW" sz="2200" i="1">
                            <a:latin typeface="Cambria Math" panose="02040503050406030204" pitchFamily="18" charset="0"/>
                            <a:cs typeface="Times New Roman" panose="02020603050405020304" pitchFamily="18" charset="0"/>
                          </a:rPr>
                          <m:t>α</m:t>
                        </m:r>
                      </m:e>
                      <m:sub>
                        <m:r>
                          <a:rPr lang="en-US" altLang="zh-TW" sz="2200" i="1">
                            <a:latin typeface="Cambria Math" panose="02040503050406030204" pitchFamily="18" charset="0"/>
                            <a:cs typeface="Times New Roman" panose="02020603050405020304" pitchFamily="18" charset="0"/>
                          </a:rPr>
                          <m:t>1</m:t>
                        </m:r>
                      </m:sub>
                    </m:sSub>
                    <m:r>
                      <a:rPr lang="en-US" altLang="zh-TW" sz="2200" i="1">
                        <a:latin typeface="Cambria Math" panose="02040503050406030204" pitchFamily="18" charset="0"/>
                        <a:cs typeface="Times New Roman" panose="02020603050405020304" pitchFamily="18" charset="0"/>
                      </a:rPr>
                      <m:t>,</m:t>
                    </m:r>
                    <m:sSub>
                      <m:sSubPr>
                        <m:ctrlPr>
                          <a:rPr lang="en-US" altLang="zh-TW" sz="2200" i="1">
                            <a:latin typeface="Cambria Math" panose="02040503050406030204" pitchFamily="18" charset="0"/>
                            <a:cs typeface="Times New Roman" panose="02020603050405020304" pitchFamily="18" charset="0"/>
                          </a:rPr>
                        </m:ctrlPr>
                      </m:sSubPr>
                      <m:e>
                        <m:r>
                          <m:rPr>
                            <m:sty m:val="p"/>
                          </m:rPr>
                          <a:rPr lang="el-GR" altLang="zh-TW" sz="2200" i="1">
                            <a:latin typeface="Cambria Math" panose="02040503050406030204" pitchFamily="18" charset="0"/>
                            <a:cs typeface="Times New Roman" panose="02020603050405020304" pitchFamily="18" charset="0"/>
                          </a:rPr>
                          <m:t>α</m:t>
                        </m:r>
                      </m:e>
                      <m:sub>
                        <m:r>
                          <a:rPr lang="en-US" altLang="zh-TW" sz="2200" i="1">
                            <a:latin typeface="Cambria Math" panose="02040503050406030204" pitchFamily="18" charset="0"/>
                            <a:cs typeface="Times New Roman" panose="02020603050405020304" pitchFamily="18" charset="0"/>
                          </a:rPr>
                          <m:t>2</m:t>
                        </m:r>
                      </m:sub>
                    </m:sSub>
                  </m:oMath>
                </a14:m>
                <a:r>
                  <a:rPr lang="en-US" altLang="zh-TW" sz="2200" dirty="0">
                    <a:latin typeface="Times New Roman" panose="02020603050405020304" pitchFamily="18" charset="0"/>
                    <a:cs typeface="Times New Roman" panose="02020603050405020304" pitchFamily="18" charset="0"/>
                  </a:rPr>
                  <a:t>)-LCWS2 Problem</a:t>
                </a:r>
                <a14:m>
                  <m:oMath xmlns:m="http://schemas.openxmlformats.org/officeDocument/2006/math">
                    <m:r>
                      <a:rPr lang="en-US" altLang="zh-TW" sz="2200" b="0" i="0" smtClean="0">
                        <a:latin typeface="Cambria Math" panose="02040503050406030204" pitchFamily="18" charset="0"/>
                        <a:cs typeface="Times New Roman" panose="02020603050405020304" pitchFamily="18" charset="0"/>
                      </a:rPr>
                      <m:t> </m:t>
                    </m:r>
                    <m:sSub>
                      <m:sSubPr>
                        <m:ctrlPr>
                          <a:rPr lang="en-US" altLang="zh-TW" sz="2200" i="1" smtClean="0">
                            <a:latin typeface="Cambria Math" panose="02040503050406030204" pitchFamily="18" charset="0"/>
                            <a:cs typeface="Times New Roman" panose="02020603050405020304" pitchFamily="18" charset="0"/>
                          </a:rPr>
                        </m:ctrlPr>
                      </m:sSubPr>
                      <m:e>
                        <m:r>
                          <m:rPr>
                            <m:sty m:val="p"/>
                          </m:rPr>
                          <a:rPr lang="el-GR" altLang="zh-TW" sz="2200" i="1" smtClean="0">
                            <a:latin typeface="Cambria Math" panose="02040503050406030204" pitchFamily="18" charset="0"/>
                            <a:cs typeface="Times New Roman" panose="02020603050405020304" pitchFamily="18" charset="0"/>
                          </a:rPr>
                          <m:t>α</m:t>
                        </m:r>
                      </m:e>
                      <m:sub>
                        <m:r>
                          <a:rPr lang="en-US" altLang="zh-TW" sz="2200" b="0" i="1" smtClean="0">
                            <a:latin typeface="Cambria Math" panose="02040503050406030204" pitchFamily="18" charset="0"/>
                            <a:cs typeface="Times New Roman" panose="02020603050405020304" pitchFamily="18" charset="0"/>
                          </a:rPr>
                          <m:t>1</m:t>
                        </m:r>
                      </m:sub>
                    </m:sSub>
                  </m:oMath>
                </a14:m>
                <a:r>
                  <a:rPr lang="en-US" altLang="zh-TW" sz="2200" dirty="0">
                    <a:latin typeface="Times New Roman" panose="02020603050405020304" pitchFamily="18" charset="0"/>
                    <a:cs typeface="Times New Roman" panose="02020603050405020304" pitchFamily="18" charset="0"/>
                  </a:rPr>
                  <a:t>=0.6 and </a:t>
                </a:r>
                <a14:m>
                  <m:oMath xmlns:m="http://schemas.openxmlformats.org/officeDocument/2006/math">
                    <m:sSub>
                      <m:sSubPr>
                        <m:ctrlPr>
                          <a:rPr lang="en-US" altLang="zh-TW" sz="2200" i="1">
                            <a:latin typeface="Cambria Math" panose="02040503050406030204" pitchFamily="18" charset="0"/>
                            <a:cs typeface="Times New Roman" panose="02020603050405020304" pitchFamily="18" charset="0"/>
                          </a:rPr>
                        </m:ctrlPr>
                      </m:sSubPr>
                      <m:e>
                        <m:r>
                          <m:rPr>
                            <m:sty m:val="p"/>
                          </m:rPr>
                          <a:rPr lang="el-GR" altLang="zh-TW" sz="2200" i="1">
                            <a:latin typeface="Cambria Math" panose="02040503050406030204" pitchFamily="18" charset="0"/>
                            <a:cs typeface="Times New Roman" panose="02020603050405020304" pitchFamily="18" charset="0"/>
                          </a:rPr>
                          <m:t>α</m:t>
                        </m:r>
                      </m:e>
                      <m:sub>
                        <m:r>
                          <a:rPr lang="en-US" altLang="zh-TW" sz="2200" b="0" i="1" smtClean="0">
                            <a:latin typeface="Cambria Math" panose="02040503050406030204" pitchFamily="18" charset="0"/>
                            <a:cs typeface="Times New Roman" panose="02020603050405020304" pitchFamily="18" charset="0"/>
                          </a:rPr>
                          <m:t>2</m:t>
                        </m:r>
                      </m:sub>
                    </m:sSub>
                  </m:oMath>
                </a14:m>
                <a:r>
                  <a:rPr lang="en-US" altLang="zh-TW" sz="2200" dirty="0">
                    <a:latin typeface="Times New Roman" panose="02020603050405020304" pitchFamily="18" charset="0"/>
                    <a:cs typeface="Times New Roman" panose="02020603050405020304" pitchFamily="18" charset="0"/>
                  </a:rPr>
                  <a:t>=0.7 </a:t>
                </a:r>
                <a:endParaRPr lang="zh-TW" altLang="en-US" sz="2200" dirty="0">
                  <a:latin typeface="Times New Roman" panose="02020603050405020304" pitchFamily="18" charset="0"/>
                  <a:cs typeface="Times New Roman" panose="02020603050405020304" pitchFamily="18" charset="0"/>
                </a:endParaRPr>
              </a:p>
            </p:txBody>
          </p:sp>
        </mc:Choice>
        <mc:Fallback xmlns="">
          <p:sp>
            <p:nvSpPr>
              <p:cNvPr id="9" name="文字方塊 8">
                <a:extLst>
                  <a:ext uri="{FF2B5EF4-FFF2-40B4-BE49-F238E27FC236}">
                    <a16:creationId xmlns:a16="http://schemas.microsoft.com/office/drawing/2014/main" id="{D96F1055-D95E-4E92-9148-BF4878F3F693}"/>
                  </a:ext>
                </a:extLst>
              </p:cNvPr>
              <p:cNvSpPr txBox="1">
                <a:spLocks noRot="1" noChangeAspect="1" noMove="1" noResize="1" noEditPoints="1" noAdjustHandles="1" noChangeArrowheads="1" noChangeShapeType="1" noTextEdit="1"/>
              </p:cNvSpPr>
              <p:nvPr/>
            </p:nvSpPr>
            <p:spPr>
              <a:xfrm>
                <a:off x="1957387" y="966575"/>
                <a:ext cx="6348413" cy="430887"/>
              </a:xfrm>
              <a:prstGeom prst="rect">
                <a:avLst/>
              </a:prstGeom>
              <a:blipFill>
                <a:blip r:embed="rId4"/>
                <a:stretch>
                  <a:fillRect l="-1248" t="-11429" b="-2857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xmlns="" id="{179A6934-9577-4DA5-BF04-AB16201BB5AA}"/>
                  </a:ext>
                </a:extLst>
              </p:cNvPr>
              <p:cNvSpPr txBox="1"/>
              <p:nvPr/>
            </p:nvSpPr>
            <p:spPr>
              <a:xfrm>
                <a:off x="280828" y="2601852"/>
                <a:ext cx="1881889" cy="430887"/>
              </a:xfrm>
              <a:prstGeom prst="rect">
                <a:avLst/>
              </a:prstGeom>
              <a:noFill/>
            </p:spPr>
            <p:txBody>
              <a:bodyPr wrap="square" rtlCol="0">
                <a:spAutoFit/>
              </a:bodyPr>
              <a:lstStyle/>
              <a:p>
                <a:r>
                  <a:rPr lang="en-US" altLang="zh-TW" sz="2200" dirty="0">
                    <a:latin typeface="Times New Roman" panose="02020603050405020304" pitchFamily="18" charset="0"/>
                    <a:cs typeface="Times New Roman" panose="02020603050405020304" pitchFamily="18" charset="0"/>
                  </a:rPr>
                  <a:t>If </a:t>
                </a:r>
                <a14:m>
                  <m:oMath xmlns:m="http://schemas.openxmlformats.org/officeDocument/2006/math">
                    <m:sSub>
                      <m:sSubPr>
                        <m:ctrlPr>
                          <a:rPr lang="en-US" altLang="zh-TW" sz="2200" i="1">
                            <a:latin typeface="Cambria Math" panose="02040503050406030204" pitchFamily="18" charset="0"/>
                            <a:cs typeface="Times New Roman" panose="02020603050405020304" pitchFamily="18" charset="0"/>
                          </a:rPr>
                        </m:ctrlPr>
                      </m:sSubPr>
                      <m:e>
                        <m:r>
                          <m:rPr>
                            <m:sty m:val="p"/>
                          </m:rPr>
                          <a:rPr lang="el-GR" altLang="zh-TW" sz="2200" i="1">
                            <a:latin typeface="Cambria Math" panose="02040503050406030204" pitchFamily="18" charset="0"/>
                            <a:cs typeface="Times New Roman" panose="02020603050405020304" pitchFamily="18" charset="0"/>
                          </a:rPr>
                          <m:t>α</m:t>
                        </m:r>
                      </m:e>
                      <m:sub>
                        <m:r>
                          <a:rPr lang="en-US" altLang="zh-TW" sz="2200" i="1">
                            <a:latin typeface="Cambria Math" panose="02040503050406030204" pitchFamily="18" charset="0"/>
                            <a:cs typeface="Times New Roman" panose="02020603050405020304" pitchFamily="18" charset="0"/>
                          </a:rPr>
                          <m:t>1</m:t>
                        </m:r>
                      </m:sub>
                    </m:sSub>
                  </m:oMath>
                </a14:m>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&lt; </a:t>
                </a:r>
                <a14:m>
                  <m:oMath xmlns:m="http://schemas.openxmlformats.org/officeDocument/2006/math">
                    <m:sSub>
                      <m:sSubPr>
                        <m:ctrlPr>
                          <a:rPr lang="en-US" altLang="zh-TW" sz="2200" i="1">
                            <a:latin typeface="Cambria Math" panose="02040503050406030204" pitchFamily="18" charset="0"/>
                            <a:cs typeface="Times New Roman" panose="02020603050405020304" pitchFamily="18" charset="0"/>
                          </a:rPr>
                        </m:ctrlPr>
                      </m:sSubPr>
                      <m:e>
                        <m:r>
                          <m:rPr>
                            <m:sty m:val="p"/>
                          </m:rPr>
                          <a:rPr lang="el-GR" altLang="zh-TW" sz="2200" i="1">
                            <a:latin typeface="Cambria Math" panose="02040503050406030204" pitchFamily="18" charset="0"/>
                            <a:cs typeface="Times New Roman" panose="02020603050405020304" pitchFamily="18" charset="0"/>
                          </a:rPr>
                          <m:t>α</m:t>
                        </m:r>
                      </m:e>
                      <m:sub>
                        <m:r>
                          <a:rPr lang="en-US" altLang="zh-TW" sz="2200" b="0" i="1" smtClean="0">
                            <a:latin typeface="Cambria Math" panose="02040503050406030204" pitchFamily="18" charset="0"/>
                            <a:cs typeface="Times New Roman" panose="02020603050405020304" pitchFamily="18" charset="0"/>
                          </a:rPr>
                          <m:t>2</m:t>
                        </m:r>
                      </m:sub>
                    </m:sSub>
                  </m:oMath>
                </a14:m>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&lt;1</a:t>
                </a:r>
                <a:endParaRPr lang="zh-TW" altLang="en-US" sz="2200" dirty="0">
                  <a:latin typeface="Times New Roman" panose="02020603050405020304" pitchFamily="18" charset="0"/>
                  <a:cs typeface="Times New Roman" panose="02020603050405020304" pitchFamily="18" charset="0"/>
                </a:endParaRPr>
              </a:p>
            </p:txBody>
          </p:sp>
        </mc:Choice>
        <mc:Fallback xmlns="">
          <p:sp>
            <p:nvSpPr>
              <p:cNvPr id="10" name="文字方塊 9">
                <a:extLst>
                  <a:ext uri="{FF2B5EF4-FFF2-40B4-BE49-F238E27FC236}">
                    <a16:creationId xmlns:a16="http://schemas.microsoft.com/office/drawing/2014/main" id="{179A6934-9577-4DA5-BF04-AB16201BB5AA}"/>
                  </a:ext>
                </a:extLst>
              </p:cNvPr>
              <p:cNvSpPr txBox="1">
                <a:spLocks noRot="1" noChangeAspect="1" noMove="1" noResize="1" noEditPoints="1" noAdjustHandles="1" noChangeArrowheads="1" noChangeShapeType="1" noTextEdit="1"/>
              </p:cNvSpPr>
              <p:nvPr/>
            </p:nvSpPr>
            <p:spPr>
              <a:xfrm>
                <a:off x="280828" y="2601852"/>
                <a:ext cx="1881889" cy="430887"/>
              </a:xfrm>
              <a:prstGeom prst="rect">
                <a:avLst/>
              </a:prstGeom>
              <a:blipFill>
                <a:blip r:embed="rId5"/>
                <a:stretch>
                  <a:fillRect l="-4207" t="-10000" b="-28571"/>
                </a:stretch>
              </a:blipFill>
            </p:spPr>
            <p:txBody>
              <a:bodyPr/>
              <a:lstStyle/>
              <a:p>
                <a:r>
                  <a:rPr lang="zh-TW" altLang="en-US">
                    <a:noFill/>
                  </a:rPr>
                  <a:t> </a:t>
                </a:r>
              </a:p>
            </p:txBody>
          </p:sp>
        </mc:Fallback>
      </mc:AlternateContent>
      <p:cxnSp>
        <p:nvCxnSpPr>
          <p:cNvPr id="14" name="直線單箭頭接點 13">
            <a:extLst>
              <a:ext uri="{FF2B5EF4-FFF2-40B4-BE49-F238E27FC236}">
                <a16:creationId xmlns:a16="http://schemas.microsoft.com/office/drawing/2014/main" xmlns="" id="{6CC995A7-4C1A-4A0B-8C5D-CC71A154FA39}"/>
              </a:ext>
            </a:extLst>
          </p:cNvPr>
          <p:cNvCxnSpPr>
            <a:cxnSpLocks/>
          </p:cNvCxnSpPr>
          <p:nvPr/>
        </p:nvCxnSpPr>
        <p:spPr>
          <a:xfrm flipH="1">
            <a:off x="6095998" y="2870272"/>
            <a:ext cx="1" cy="52179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xmlns="" id="{3D84B9BE-54D8-4C7A-977A-FD7214535747}"/>
                  </a:ext>
                </a:extLst>
              </p:cNvPr>
              <p:cNvSpPr txBox="1"/>
              <p:nvPr/>
            </p:nvSpPr>
            <p:spPr>
              <a:xfrm>
                <a:off x="383067" y="3167148"/>
                <a:ext cx="1881885" cy="401072"/>
              </a:xfrm>
              <a:prstGeom prst="rect">
                <a:avLst/>
              </a:prstGeom>
              <a:noFill/>
            </p:spPr>
            <p:txBody>
              <a:bodyPr wrap="square" lIns="0" tIns="0" rIns="0" bIns="0" rtlCol="0">
                <a:spAutoFit/>
              </a:bodyPr>
              <a:lstStyle/>
              <a:p>
                <a:r>
                  <a:rPr lang="el-GR" altLang="zh-TW" sz="2400" dirty="0"/>
                  <a:t>γ</a:t>
                </a:r>
                <a:r>
                  <a:rPr lang="en-US" altLang="zh-TW" sz="2400" dirty="0"/>
                  <a:t> = </a:t>
                </a:r>
                <a14:m>
                  <m:oMath xmlns:m="http://schemas.openxmlformats.org/officeDocument/2006/math">
                    <m:func>
                      <m:funcPr>
                        <m:ctrlPr>
                          <a:rPr lang="en-US" altLang="zh-TW" sz="2400" i="1" smtClean="0">
                            <a:latin typeface="Cambria Math" panose="02040503050406030204" pitchFamily="18" charset="0"/>
                          </a:rPr>
                        </m:ctrlPr>
                      </m:funcPr>
                      <m:fName>
                        <m:sSub>
                          <m:sSubPr>
                            <m:ctrlPr>
                              <a:rPr lang="en-US" altLang="zh-TW" sz="2400" i="1" smtClean="0">
                                <a:latin typeface="Cambria Math" panose="02040503050406030204" pitchFamily="18" charset="0"/>
                              </a:rPr>
                            </m:ctrlPr>
                          </m:sSubPr>
                          <m:e>
                            <m:r>
                              <m:rPr>
                                <m:sty m:val="p"/>
                              </m:rPr>
                              <a:rPr lang="en-US" altLang="zh-TW" sz="2400" i="0" smtClean="0">
                                <a:latin typeface="Cambria Math" panose="02040503050406030204" pitchFamily="18" charset="0"/>
                              </a:rPr>
                              <m:t>log</m:t>
                            </m:r>
                          </m:e>
                          <m:sub>
                            <m:sSub>
                              <m:sSubPr>
                                <m:ctrlPr>
                                  <a:rPr lang="en-US" altLang="zh-TW" sz="2400" i="1">
                                    <a:latin typeface="Cambria Math" panose="02040503050406030204" pitchFamily="18" charset="0"/>
                                    <a:cs typeface="Times New Roman" panose="02020603050405020304" pitchFamily="18" charset="0"/>
                                  </a:rPr>
                                </m:ctrlPr>
                              </m:sSubPr>
                              <m:e>
                                <m:r>
                                  <m:rPr>
                                    <m:sty m:val="p"/>
                                  </m:rPr>
                                  <a:rPr lang="el-GR" altLang="zh-TW" sz="2400" i="1">
                                    <a:latin typeface="Cambria Math" panose="02040503050406030204" pitchFamily="18" charset="0"/>
                                    <a:cs typeface="Times New Roman" panose="02020603050405020304" pitchFamily="18" charset="0"/>
                                  </a:rPr>
                                  <m:t>α</m:t>
                                </m:r>
                              </m:e>
                              <m:sub>
                                <m:r>
                                  <a:rPr lang="en-US" altLang="zh-TW" sz="2400" b="0" i="1" smtClean="0">
                                    <a:latin typeface="Cambria Math" panose="02040503050406030204" pitchFamily="18" charset="0"/>
                                    <a:cs typeface="Times New Roman" panose="02020603050405020304" pitchFamily="18" charset="0"/>
                                  </a:rPr>
                                  <m:t>2</m:t>
                                </m:r>
                              </m:sub>
                            </m:sSub>
                          </m:sub>
                        </m:sSub>
                      </m:fName>
                      <m:e>
                        <m:sSub>
                          <m:sSubPr>
                            <m:ctrlPr>
                              <a:rPr lang="en-US" altLang="zh-TW" sz="2400" i="1">
                                <a:latin typeface="Cambria Math" panose="02040503050406030204" pitchFamily="18" charset="0"/>
                                <a:cs typeface="Times New Roman" panose="02020603050405020304" pitchFamily="18" charset="0"/>
                              </a:rPr>
                            </m:ctrlPr>
                          </m:sSubPr>
                          <m:e>
                            <m:r>
                              <m:rPr>
                                <m:sty m:val="p"/>
                              </m:rPr>
                              <a:rPr lang="el-GR" altLang="zh-TW" sz="2400" i="1">
                                <a:latin typeface="Cambria Math" panose="02040503050406030204" pitchFamily="18" charset="0"/>
                                <a:cs typeface="Times New Roman" panose="02020603050405020304" pitchFamily="18" charset="0"/>
                              </a:rPr>
                              <m:t>α</m:t>
                            </m:r>
                          </m:e>
                          <m:sub>
                            <m:r>
                              <a:rPr lang="en-US" altLang="zh-TW" sz="2400" i="1">
                                <a:latin typeface="Cambria Math" panose="02040503050406030204" pitchFamily="18" charset="0"/>
                                <a:cs typeface="Times New Roman" panose="02020603050405020304" pitchFamily="18" charset="0"/>
                              </a:rPr>
                              <m:t>1</m:t>
                            </m:r>
                          </m:sub>
                        </m:sSub>
                      </m:e>
                    </m:func>
                  </m:oMath>
                </a14:m>
                <a:endParaRPr lang="zh-TW" altLang="en-US" sz="2400" dirty="0"/>
              </a:p>
            </p:txBody>
          </p:sp>
        </mc:Choice>
        <mc:Fallback xmlns="">
          <p:sp>
            <p:nvSpPr>
              <p:cNvPr id="16" name="文字方塊 15">
                <a:extLst>
                  <a:ext uri="{FF2B5EF4-FFF2-40B4-BE49-F238E27FC236}">
                    <a16:creationId xmlns:a16="http://schemas.microsoft.com/office/drawing/2014/main" id="{3D84B9BE-54D8-4C7A-977A-FD7214535747}"/>
                  </a:ext>
                </a:extLst>
              </p:cNvPr>
              <p:cNvSpPr txBox="1">
                <a:spLocks noRot="1" noChangeAspect="1" noMove="1" noResize="1" noEditPoints="1" noAdjustHandles="1" noChangeArrowheads="1" noChangeShapeType="1" noTextEdit="1"/>
              </p:cNvSpPr>
              <p:nvPr/>
            </p:nvSpPr>
            <p:spPr>
              <a:xfrm>
                <a:off x="383067" y="3167148"/>
                <a:ext cx="1881885" cy="401072"/>
              </a:xfrm>
              <a:prstGeom prst="rect">
                <a:avLst/>
              </a:prstGeom>
              <a:blipFill>
                <a:blip r:embed="rId6"/>
                <a:stretch>
                  <a:fillRect l="-10032" t="-23077" b="-4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xmlns="" id="{BA7BE249-95B6-43E4-89CF-062B007A005C}"/>
                  </a:ext>
                </a:extLst>
              </p:cNvPr>
              <p:cNvSpPr txBox="1"/>
              <p:nvPr/>
            </p:nvSpPr>
            <p:spPr>
              <a:xfrm>
                <a:off x="383067" y="3658648"/>
                <a:ext cx="2051211" cy="369332"/>
              </a:xfrm>
              <a:prstGeom prst="rect">
                <a:avLst/>
              </a:prstGeom>
              <a:noFill/>
            </p:spPr>
            <p:txBody>
              <a:bodyPr wrap="square" lIns="0" tIns="0" rIns="0" bIns="0" rtlCol="0">
                <a:spAutoFit/>
              </a:bodyPr>
              <a:lstStyle/>
              <a:p>
                <a14:m>
                  <m:oMath xmlns:m="http://schemas.openxmlformats.org/officeDocument/2006/math">
                    <m:sSup>
                      <m:sSupPr>
                        <m:ctrlPr>
                          <a:rPr lang="en-US" altLang="zh-TW" sz="2400" i="1" smtClean="0">
                            <a:latin typeface="Cambria Math" panose="02040503050406030204" pitchFamily="18" charset="0"/>
                          </a:rPr>
                        </m:ctrlPr>
                      </m:sSupPr>
                      <m:e>
                        <m:sSub>
                          <m:sSubPr>
                            <m:ctrlPr>
                              <a:rPr lang="en-US" altLang="zh-TW" sz="2400" i="1">
                                <a:latin typeface="Cambria Math" panose="02040503050406030204" pitchFamily="18" charset="0"/>
                                <a:cs typeface="Times New Roman" panose="02020603050405020304" pitchFamily="18" charset="0"/>
                              </a:rPr>
                            </m:ctrlPr>
                          </m:sSubPr>
                          <m:e>
                            <m:r>
                              <m:rPr>
                                <m:sty m:val="p"/>
                              </m:rPr>
                              <a:rPr lang="el-GR" altLang="zh-TW" sz="2400" i="1">
                                <a:latin typeface="Cambria Math" panose="02040503050406030204" pitchFamily="18" charset="0"/>
                                <a:cs typeface="Times New Roman" panose="02020603050405020304" pitchFamily="18" charset="0"/>
                              </a:rPr>
                              <m:t>α</m:t>
                            </m:r>
                          </m:e>
                          <m:sub>
                            <m:r>
                              <a:rPr lang="en-US" altLang="zh-TW" sz="2400" i="1">
                                <a:latin typeface="Cambria Math" panose="02040503050406030204" pitchFamily="18" charset="0"/>
                                <a:cs typeface="Times New Roman" panose="02020603050405020304" pitchFamily="18" charset="0"/>
                              </a:rPr>
                              <m:t>2</m:t>
                            </m:r>
                          </m:sub>
                        </m:sSub>
                      </m:e>
                      <m:sup>
                        <m:r>
                          <m:rPr>
                            <m:sty m:val="p"/>
                          </m:rPr>
                          <a:rPr lang="el-GR" altLang="zh-TW" sz="2400" i="1" smtClean="0">
                            <a:latin typeface="Cambria Math" panose="02040503050406030204" pitchFamily="18" charset="0"/>
                          </a:rPr>
                          <m:t>γ</m:t>
                        </m:r>
                      </m:sup>
                    </m:sSup>
                  </m:oMath>
                </a14:m>
                <a:r>
                  <a:rPr lang="en-US" altLang="zh-TW" sz="2400" dirty="0"/>
                  <a:t> = </a:t>
                </a:r>
                <a14:m>
                  <m:oMath xmlns:m="http://schemas.openxmlformats.org/officeDocument/2006/math">
                    <m:sSub>
                      <m:sSubPr>
                        <m:ctrlPr>
                          <a:rPr lang="en-US" altLang="zh-TW" sz="2400" i="1">
                            <a:latin typeface="Cambria Math" panose="02040503050406030204" pitchFamily="18" charset="0"/>
                            <a:cs typeface="Times New Roman" panose="02020603050405020304" pitchFamily="18" charset="0"/>
                          </a:rPr>
                        </m:ctrlPr>
                      </m:sSubPr>
                      <m:e>
                        <m:r>
                          <m:rPr>
                            <m:sty m:val="p"/>
                          </m:rPr>
                          <a:rPr lang="el-GR" altLang="zh-TW" sz="2400" i="1">
                            <a:latin typeface="Cambria Math" panose="02040503050406030204" pitchFamily="18" charset="0"/>
                            <a:cs typeface="Times New Roman" panose="02020603050405020304" pitchFamily="18" charset="0"/>
                          </a:rPr>
                          <m:t>α</m:t>
                        </m:r>
                      </m:e>
                      <m:sub>
                        <m:r>
                          <a:rPr lang="en-US" altLang="zh-TW" sz="2400" i="1">
                            <a:latin typeface="Cambria Math" panose="02040503050406030204" pitchFamily="18" charset="0"/>
                            <a:cs typeface="Times New Roman" panose="02020603050405020304" pitchFamily="18" charset="0"/>
                          </a:rPr>
                          <m:t>1</m:t>
                        </m:r>
                      </m:sub>
                    </m:sSub>
                  </m:oMath>
                </a14:m>
                <a:endParaRPr lang="zh-TW" altLang="en-US" sz="2400" dirty="0"/>
              </a:p>
            </p:txBody>
          </p:sp>
        </mc:Choice>
        <mc:Fallback xmlns="">
          <p:sp>
            <p:nvSpPr>
              <p:cNvPr id="18" name="文字方塊 17">
                <a:extLst>
                  <a:ext uri="{FF2B5EF4-FFF2-40B4-BE49-F238E27FC236}">
                    <a16:creationId xmlns:a16="http://schemas.microsoft.com/office/drawing/2014/main" id="{BA7BE249-95B6-43E4-89CF-062B007A005C}"/>
                  </a:ext>
                </a:extLst>
              </p:cNvPr>
              <p:cNvSpPr txBox="1">
                <a:spLocks noRot="1" noChangeAspect="1" noMove="1" noResize="1" noEditPoints="1" noAdjustHandles="1" noChangeArrowheads="1" noChangeShapeType="1" noTextEdit="1"/>
              </p:cNvSpPr>
              <p:nvPr/>
            </p:nvSpPr>
            <p:spPr>
              <a:xfrm>
                <a:off x="383067" y="3658648"/>
                <a:ext cx="2051211" cy="369332"/>
              </a:xfrm>
              <a:prstGeom prst="rect">
                <a:avLst/>
              </a:prstGeom>
              <a:blipFill>
                <a:blip r:embed="rId7"/>
                <a:stretch>
                  <a:fillRect l="-3869" t="-24590" b="-4918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851847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α-LCWS2 Problem</a:t>
            </a:r>
            <a:endParaRPr lang="zh-TW" altLang="en-US" sz="3200"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xmlns="" id="{E07BB61C-93DE-4F22-88D5-D55A8B318D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151" y="1240759"/>
            <a:ext cx="9839698" cy="2462489"/>
          </a:xfrm>
          <a:prstGeom prst="rect">
            <a:avLst/>
          </a:prstGeom>
        </p:spPr>
      </p:pic>
      <p:pic>
        <p:nvPicPr>
          <p:cNvPr id="7" name="圖片 6">
            <a:extLst>
              <a:ext uri="{FF2B5EF4-FFF2-40B4-BE49-F238E27FC236}">
                <a16:creationId xmlns:a16="http://schemas.microsoft.com/office/drawing/2014/main" xmlns="" id="{8CA3656F-4E63-409A-9C27-7B5438BAD9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1153" y="3909534"/>
            <a:ext cx="5409694" cy="1597800"/>
          </a:xfrm>
          <a:prstGeom prst="rect">
            <a:avLst/>
          </a:prstGeom>
        </p:spPr>
      </p:pic>
    </p:spTree>
    <p:extLst>
      <p:ext uri="{BB962C8B-B14F-4D97-AF65-F5344CB8AC3E}">
        <p14:creationId xmlns:p14="http://schemas.microsoft.com/office/powerpoint/2010/main" val="32826764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NP-hard Problem</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DAE32DFE-CE9B-41E7-91C8-9140B1966048}"/>
                  </a:ext>
                </a:extLst>
              </p:cNvPr>
              <p:cNvSpPr txBox="1"/>
              <p:nvPr/>
            </p:nvSpPr>
            <p:spPr>
              <a:xfrm>
                <a:off x="1456038" y="1607283"/>
                <a:ext cx="9279924" cy="3643433"/>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(a)  </a:t>
                </a:r>
                <a:r>
                  <a:rPr lang="en-US" altLang="zh-TW" sz="2800" i="1" dirty="0">
                    <a:latin typeface="Times New Roman" panose="02020603050405020304" pitchFamily="18" charset="0"/>
                    <a:cs typeface="Times New Roman" panose="02020603050405020304" pitchFamily="18" charset="0"/>
                  </a:rPr>
                  <a:t>The</a:t>
                </a:r>
                <a:r>
                  <a:rPr lang="en-US" altLang="zh-TW" sz="2800" dirty="0">
                    <a:latin typeface="Times New Roman" panose="02020603050405020304" pitchFamily="18" charset="0"/>
                    <a:cs typeface="Times New Roman" panose="02020603050405020304" pitchFamily="18" charset="0"/>
                  </a:rPr>
                  <a:t>α</a:t>
                </a:r>
                <a:r>
                  <a:rPr lang="en-US" altLang="zh-TW" sz="2800" i="1" dirty="0">
                    <a:latin typeface="Times New Roman" panose="02020603050405020304" pitchFamily="18" charset="0"/>
                    <a:cs typeface="Times New Roman" panose="02020603050405020304" pitchFamily="18" charset="0"/>
                  </a:rPr>
                  <a:t>-LCWS problem can be solved in </a:t>
                </a:r>
                <a:r>
                  <a:rPr lang="en-US" altLang="zh-TW" sz="2800" dirty="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altLang="zh-TW" sz="2800" i="1" dirty="0" smtClean="0">
                            <a:latin typeface="Cambria Math" panose="02040503050406030204" pitchFamily="18" charset="0"/>
                            <a:cs typeface="Times New Roman" panose="02020603050405020304" pitchFamily="18" charset="0"/>
                          </a:rPr>
                        </m:ctrlPr>
                      </m:sSupPr>
                      <m:e>
                        <m:r>
                          <a:rPr lang="en-US" altLang="zh-TW" sz="2800" b="0" i="1" dirty="0" smtClean="0">
                            <a:latin typeface="Cambria Math" panose="02040503050406030204" pitchFamily="18" charset="0"/>
                            <a:cs typeface="Times New Roman" panose="02020603050405020304" pitchFamily="18" charset="0"/>
                          </a:rPr>
                          <m:t>𝑛</m:t>
                        </m:r>
                      </m:e>
                      <m:sup>
                        <m:r>
                          <a:rPr lang="en-US" altLang="zh-TW" sz="2800" b="0" i="1" dirty="0" smtClean="0">
                            <a:latin typeface="Cambria Math" panose="02040503050406030204" pitchFamily="18" charset="0"/>
                            <a:cs typeface="Times New Roman" panose="02020603050405020304" pitchFamily="18" charset="0"/>
                          </a:rPr>
                          <m:t>3</m:t>
                        </m:r>
                      </m:sup>
                    </m:sSup>
                  </m:oMath>
                </a14:m>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time and </a:t>
                </a:r>
                <a:r>
                  <a:rPr lang="en-US" altLang="zh-TW" sz="2800" dirty="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altLang="zh-TW" sz="2800" i="1" smtClean="0">
                            <a:latin typeface="Cambria Math" panose="02040503050406030204" pitchFamily="18" charset="0"/>
                            <a:cs typeface="Times New Roman" panose="02020603050405020304" pitchFamily="18" charset="0"/>
                          </a:rPr>
                        </m:ctrlPr>
                      </m:sSupPr>
                      <m:e>
                        <m:r>
                          <a:rPr lang="en-US" altLang="zh-TW" sz="2800" b="0" i="1" smtClean="0">
                            <a:latin typeface="Cambria Math" panose="02040503050406030204" pitchFamily="18" charset="0"/>
                            <a:cs typeface="Times New Roman" panose="02020603050405020304" pitchFamily="18" charset="0"/>
                          </a:rPr>
                          <m:t>𝑛</m:t>
                        </m:r>
                      </m:e>
                      <m:sup>
                        <m:r>
                          <a:rPr lang="en-US" altLang="zh-TW" sz="2800" b="0" i="1" smtClean="0">
                            <a:latin typeface="Cambria Math" panose="02040503050406030204" pitchFamily="18" charset="0"/>
                            <a:cs typeface="Times New Roman" panose="02020603050405020304" pitchFamily="18" charset="0"/>
                          </a:rPr>
                          <m:t>2</m:t>
                        </m:r>
                      </m:sup>
                    </m:sSup>
                  </m:oMath>
                </a14:m>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space. If we are only interested in the length of the solution, the problem can be solved in </a:t>
                </a:r>
                <a:r>
                  <a:rPr lang="en-US" altLang="zh-TW" sz="2800" dirty="0">
                    <a:latin typeface="Times New Roman" panose="02020603050405020304" pitchFamily="18" charset="0"/>
                    <a:cs typeface="Times New Roman" panose="02020603050405020304" pitchFamily="18" charset="0"/>
                  </a:rPr>
                  <a:t>O(L</a:t>
                </a:r>
                <a14:m>
                  <m:oMath xmlns:m="http://schemas.openxmlformats.org/officeDocument/2006/math">
                    <m:sSup>
                      <m:sSupPr>
                        <m:ctrlPr>
                          <a:rPr lang="en-US" altLang="zh-TW" sz="2800" i="1" smtClean="0">
                            <a:latin typeface="Cambria Math" panose="02040503050406030204" pitchFamily="18" charset="0"/>
                            <a:cs typeface="Times New Roman" panose="02020603050405020304" pitchFamily="18" charset="0"/>
                          </a:rPr>
                        </m:ctrlPr>
                      </m:sSupPr>
                      <m:e>
                        <m:r>
                          <a:rPr lang="en-US" altLang="zh-TW" sz="2800" b="0" i="1" smtClean="0">
                            <a:latin typeface="Cambria Math" panose="02040503050406030204" pitchFamily="18" charset="0"/>
                            <a:cs typeface="Times New Roman" panose="02020603050405020304" pitchFamily="18" charset="0"/>
                          </a:rPr>
                          <m:t>𝑛</m:t>
                        </m:r>
                      </m:e>
                      <m:sup>
                        <m:r>
                          <a:rPr lang="en-US" altLang="zh-TW" sz="2800" b="0" i="1" smtClean="0">
                            <a:latin typeface="Cambria Math" panose="02040503050406030204" pitchFamily="18" charset="0"/>
                            <a:cs typeface="Times New Roman" panose="02020603050405020304" pitchFamily="18" charset="0"/>
                          </a:rPr>
                          <m:t>2</m:t>
                        </m:r>
                      </m:sup>
                    </m:sSup>
                  </m:oMath>
                </a14:m>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time, </a:t>
                </a:r>
                <a:r>
                  <a:rPr lang="en-US" altLang="zh-TW" sz="2800" i="1" dirty="0" err="1">
                    <a:latin typeface="Times New Roman" panose="02020603050405020304" pitchFamily="18" charset="0"/>
                    <a:cs typeface="Times New Roman" panose="02020603050405020304" pitchFamily="18" charset="0"/>
                  </a:rPr>
                  <a:t>where</a:t>
                </a:r>
                <a:r>
                  <a:rPr lang="en-US" altLang="zh-TW" sz="2800" dirty="0" err="1">
                    <a:latin typeface="Times New Roman" panose="02020603050405020304" pitchFamily="18" charset="0"/>
                    <a:cs typeface="Times New Roman" panose="02020603050405020304" pitchFamily="18" charset="0"/>
                  </a:rPr>
                  <a:t>L</a:t>
                </a:r>
                <a:r>
                  <a:rPr lang="en-US" altLang="zh-TW" sz="2800" i="1" dirty="0" err="1">
                    <a:latin typeface="Times New Roman" panose="02020603050405020304" pitchFamily="18" charset="0"/>
                    <a:cs typeface="Times New Roman" panose="02020603050405020304" pitchFamily="18" charset="0"/>
                  </a:rPr>
                  <a:t>is</a:t>
                </a:r>
                <a:r>
                  <a:rPr lang="en-US" altLang="zh-TW" sz="2800" i="1" dirty="0">
                    <a:latin typeface="Times New Roman" panose="02020603050405020304" pitchFamily="18" charset="0"/>
                    <a:cs typeface="Times New Roman" panose="02020603050405020304" pitchFamily="18" charset="0"/>
                  </a:rPr>
                  <a:t> the length of the solution.</a:t>
                </a:r>
                <a:endParaRPr lang="en-US" altLang="zh-TW" sz="2800" dirty="0">
                  <a:latin typeface="Times New Roman" panose="02020603050405020304" pitchFamily="18" charset="0"/>
                  <a:cs typeface="Times New Roman" panose="02020603050405020304" pitchFamily="18" charset="0"/>
                </a:endParaRPr>
              </a:p>
              <a:p>
                <a:r>
                  <a:rPr lang="en-US" altLang="zh-TW" sz="2800" dirty="0">
                    <a:latin typeface="Times New Roman" panose="02020603050405020304" pitchFamily="18" charset="0"/>
                    <a:cs typeface="Times New Roman" panose="02020603050405020304" pitchFamily="18" charset="0"/>
                  </a:rPr>
                  <a:t>(b)  </a:t>
                </a:r>
                <a:r>
                  <a:rPr lang="en-US" altLang="zh-TW" sz="2800" i="1" dirty="0">
                    <a:latin typeface="Times New Roman" panose="02020603050405020304" pitchFamily="18" charset="0"/>
                    <a:cs typeface="Times New Roman" panose="02020603050405020304" pitchFamily="18" charset="0"/>
                  </a:rPr>
                  <a:t>The log-probability version of the (</a:t>
                </a:r>
                <a14:m>
                  <m:oMath xmlns:m="http://schemas.openxmlformats.org/officeDocument/2006/math">
                    <m:sSub>
                      <m:sSubPr>
                        <m:ctrlPr>
                          <a:rPr lang="en-US" altLang="zh-TW" sz="2800" i="1" dirty="0" smtClean="0">
                            <a:latin typeface="Cambria Math" panose="02040503050406030204" pitchFamily="18" charset="0"/>
                            <a:cs typeface="Times New Roman" panose="02020603050405020304" pitchFamily="18" charset="0"/>
                          </a:rPr>
                        </m:ctrlPr>
                      </m:sSubPr>
                      <m:e>
                        <m:r>
                          <m:rPr>
                            <m:sty m:val="p"/>
                          </m:rPr>
                          <a:rPr lang="el-GR" altLang="zh-TW" sz="2800" i="1" dirty="0" smtClean="0">
                            <a:latin typeface="Cambria Math" panose="02040503050406030204" pitchFamily="18" charset="0"/>
                            <a:cs typeface="Times New Roman" panose="02020603050405020304" pitchFamily="18" charset="0"/>
                          </a:rPr>
                          <m:t>α</m:t>
                        </m:r>
                      </m:e>
                      <m:sub>
                        <m:r>
                          <a:rPr lang="en-US" altLang="zh-TW" sz="2800" b="0" i="1" dirty="0" smtClean="0">
                            <a:latin typeface="Cambria Math" panose="02040503050406030204" pitchFamily="18" charset="0"/>
                            <a:cs typeface="Times New Roman" panose="02020603050405020304" pitchFamily="18" charset="0"/>
                          </a:rPr>
                          <m:t>1</m:t>
                        </m:r>
                      </m:sub>
                    </m:sSub>
                    <m:r>
                      <a:rPr lang="en-US" altLang="zh-TW" sz="2800" b="0" i="1" dirty="0" smtClean="0">
                        <a:latin typeface="Cambria Math" panose="02040503050406030204" pitchFamily="18" charset="0"/>
                        <a:cs typeface="Times New Roman" panose="02020603050405020304" pitchFamily="18" charset="0"/>
                      </a:rPr>
                      <m:t>,</m:t>
                    </m:r>
                    <m:sSub>
                      <m:sSubPr>
                        <m:ctrlPr>
                          <a:rPr lang="en-US" altLang="zh-TW" sz="2800" i="1" dirty="0">
                            <a:latin typeface="Cambria Math" panose="02040503050406030204" pitchFamily="18" charset="0"/>
                            <a:cs typeface="Times New Roman" panose="02020603050405020304" pitchFamily="18" charset="0"/>
                          </a:rPr>
                        </m:ctrlPr>
                      </m:sSubPr>
                      <m:e>
                        <m:r>
                          <m:rPr>
                            <m:sty m:val="p"/>
                          </m:rPr>
                          <a:rPr lang="el-GR" altLang="zh-TW" sz="2800" i="1" dirty="0">
                            <a:latin typeface="Cambria Math" panose="02040503050406030204" pitchFamily="18" charset="0"/>
                            <a:cs typeface="Times New Roman" panose="02020603050405020304" pitchFamily="18" charset="0"/>
                          </a:rPr>
                          <m:t>α</m:t>
                        </m:r>
                      </m:e>
                      <m:sub>
                        <m:r>
                          <a:rPr lang="en-US" altLang="zh-TW" sz="2800" b="0" i="1" dirty="0" smtClean="0">
                            <a:latin typeface="Cambria Math" panose="02040503050406030204" pitchFamily="18" charset="0"/>
                            <a:cs typeface="Times New Roman" panose="02020603050405020304" pitchFamily="18" charset="0"/>
                          </a:rPr>
                          <m:t>2</m:t>
                        </m:r>
                      </m:sub>
                    </m:sSub>
                  </m:oMath>
                </a14:m>
                <a:r>
                  <a:rPr lang="en-US" altLang="zh-TW" sz="2800" i="1" dirty="0">
                    <a:latin typeface="Times New Roman" panose="02020603050405020304" pitchFamily="18" charset="0"/>
                    <a:cs typeface="Times New Roman" panose="02020603050405020304" pitchFamily="18" charset="0"/>
                  </a:rPr>
                  <a:t>)-LCWS2 problem is NP-hard over unbounded alphabets and admits a</a:t>
                </a:r>
                <a:r>
                  <a:rPr lang="en-US" altLang="zh-TW" sz="2800" dirty="0">
                    <a:latin typeface="Times New Roman" panose="02020603050405020304" pitchFamily="18" charset="0"/>
                    <a:cs typeface="Times New Roman" panose="02020603050405020304" pitchFamily="18" charset="0"/>
                  </a:rPr>
                  <a:t>(1/|Σ|)</a:t>
                </a:r>
                <a:r>
                  <a:rPr lang="en-US" altLang="zh-TW" sz="2800" i="1" dirty="0">
                    <a:latin typeface="Times New Roman" panose="02020603050405020304" pitchFamily="18" charset="0"/>
                    <a:cs typeface="Times New Roman" panose="02020603050405020304" pitchFamily="18" charset="0"/>
                  </a:rPr>
                  <a:t>-approximation algorithm (thus the problem itself admits the same approximation algorithm).</a:t>
                </a:r>
                <a:endParaRPr lang="en-US" altLang="zh-TW" sz="2800" dirty="0">
                  <a:latin typeface="Times New Roman" panose="02020603050405020304" pitchFamily="18" charset="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DAE32DFE-CE9B-41E7-91C8-9140B1966048}"/>
                  </a:ext>
                </a:extLst>
              </p:cNvPr>
              <p:cNvSpPr txBox="1">
                <a:spLocks noRot="1" noChangeAspect="1" noMove="1" noResize="1" noEditPoints="1" noAdjustHandles="1" noChangeArrowheads="1" noChangeShapeType="1" noTextEdit="1"/>
              </p:cNvSpPr>
              <p:nvPr/>
            </p:nvSpPr>
            <p:spPr>
              <a:xfrm>
                <a:off x="1456038" y="1607283"/>
                <a:ext cx="9279924" cy="3643433"/>
              </a:xfrm>
              <a:prstGeom prst="rect">
                <a:avLst/>
              </a:prstGeom>
              <a:blipFill>
                <a:blip r:embed="rId2"/>
                <a:stretch>
                  <a:fillRect l="-1380" t="-1843" r="-1643" b="-100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112942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(1/2)-approximation algorithm for LCWS2</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文字方塊 3">
                <a:extLst>
                  <a:ext uri="{FF2B5EF4-FFF2-40B4-BE49-F238E27FC236}">
                    <a16:creationId xmlns:a16="http://schemas.microsoft.com/office/drawing/2014/main" xmlns="" id="{1EE53FA0-7A04-4CC4-8137-0FECC53831C3}"/>
                  </a:ext>
                </a:extLst>
              </p:cNvPr>
              <p:cNvSpPr txBox="1"/>
              <p:nvPr/>
            </p:nvSpPr>
            <p:spPr>
              <a:xfrm>
                <a:off x="1013253" y="1034473"/>
                <a:ext cx="9947190" cy="5988434"/>
              </a:xfrm>
              <a:prstGeom prst="rect">
                <a:avLst/>
              </a:prstGeom>
              <a:noFill/>
            </p:spPr>
            <p:txBody>
              <a:bodyPr wrap="square" rtlCol="0">
                <a:spAutoFit/>
              </a:bodyPr>
              <a:lstStyle/>
              <a:p>
                <a:r>
                  <a:rPr lang="en-US" altLang="zh-TW" sz="2400" dirty="0" smtClean="0">
                    <a:latin typeface="Times New Roman" panose="02020603050405020304" pitchFamily="18" charset="0"/>
                    <a:cs typeface="Times New Roman" panose="02020603050405020304" pitchFamily="18" charset="0"/>
                  </a:rPr>
                  <a:t>Let OPT(X, Y, </a:t>
                </a:r>
                <a:r>
                  <a:rPr lang="el-GR" altLang="zh-TW" sz="2400" dirty="0">
                    <a:latin typeface="Times New Roman" panose="02020603050405020304" pitchFamily="18" charset="0"/>
                    <a:cs typeface="Times New Roman" panose="02020603050405020304" pitchFamily="18" charset="0"/>
                  </a:rPr>
                  <a:t>α</a:t>
                </a:r>
                <a:r>
                  <a:rPr lang="en-US" altLang="zh-TW" sz="2400" dirty="0">
                    <a:latin typeface="Times New Roman" panose="02020603050405020304" pitchFamily="18" charset="0"/>
                    <a:cs typeface="Times New Roman" panose="02020603050405020304" pitchFamily="18" charset="0"/>
                  </a:rPr>
                  <a:t>) be the length of the solution to the α-LCWS2 problem for X and Y = L</a:t>
                </a:r>
              </a:p>
              <a:p>
                <a:r>
                  <a:rPr lang="en-US" altLang="zh-TW" sz="2400" dirty="0">
                    <a:latin typeface="Times New Roman" panose="02020603050405020304" pitchFamily="18" charset="0"/>
                    <a:cs typeface="Times New Roman" panose="02020603050405020304" pitchFamily="18" charset="0"/>
                  </a:rPr>
                  <a:t>Let OPT(X, Y, </a:t>
                </a:r>
                <a:r>
                  <a:rPr lang="el-GR" altLang="zh-TW" sz="2400" dirty="0">
                    <a:latin typeface="Times New Roman" panose="02020603050405020304" pitchFamily="18" charset="0"/>
                    <a:cs typeface="Times New Roman" panose="02020603050405020304" pitchFamily="18" charset="0"/>
                  </a:rPr>
                  <a:t>α</a:t>
                </a:r>
                <a:r>
                  <a:rPr lang="en-US" altLang="zh-TW" sz="2400" dirty="0">
                    <a:latin typeface="Times New Roman" panose="02020603050405020304" pitchFamily="18" charset="0"/>
                    <a:cs typeface="Times New Roman" panose="02020603050405020304" pitchFamily="18" charset="0"/>
                  </a:rPr>
                  <a:t>) be the length of the solution to the </a:t>
                </a:r>
                <a14:m>
                  <m:oMath xmlns:m="http://schemas.openxmlformats.org/officeDocument/2006/math">
                    <m:sSup>
                      <m:sSupPr>
                        <m:ctrlPr>
                          <a:rPr lang="en-US" altLang="zh-TW" sz="2400" i="1" smtClean="0">
                            <a:latin typeface="Cambria Math" panose="02040503050406030204" pitchFamily="18" charset="0"/>
                          </a:rPr>
                        </m:ctrlPr>
                      </m:sSupPr>
                      <m:e>
                        <m:r>
                          <m:rPr>
                            <m:sty m:val="p"/>
                          </m:rPr>
                          <a:rPr lang="el-GR" altLang="zh-TW" sz="2400" i="1" smtClean="0">
                            <a:latin typeface="Cambria Math" panose="02040503050406030204" pitchFamily="18" charset="0"/>
                          </a:rPr>
                          <m:t>α</m:t>
                        </m:r>
                      </m:e>
                      <m:sup>
                        <m:r>
                          <a:rPr lang="en-US" altLang="zh-TW" sz="2400" b="0" i="1" smtClean="0">
                            <a:latin typeface="Cambria Math" panose="02040503050406030204" pitchFamily="18" charset="0"/>
                          </a:rPr>
                          <m:t>2</m:t>
                        </m:r>
                      </m:sup>
                    </m:sSup>
                  </m:oMath>
                </a14:m>
                <a:r>
                  <a:rPr lang="en-US" altLang="zh-TW" sz="2400" dirty="0">
                    <a:latin typeface="Times New Roman" panose="02020603050405020304" pitchFamily="18" charset="0"/>
                    <a:cs typeface="Times New Roman" panose="02020603050405020304" pitchFamily="18" charset="0"/>
                  </a:rPr>
                  <a:t>-LCWS problem for X and Y = d</a:t>
                </a:r>
                <a:endParaRPr lang="zh-TW" altLang="en-US" sz="2400"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
                    </m:oMathParaPr>
                    <m:oMath xmlns:m="http://schemas.openxmlformats.org/officeDocument/2006/math">
                      <m:d>
                        <m:dPr>
                          <m:begChr m:val="⌊"/>
                          <m:endChr m:val="⌋"/>
                          <m:ctrlPr>
                            <a:rPr lang="zh-TW" altLang="en-US" sz="2200" i="1" smtClean="0">
                              <a:latin typeface="Cambria Math" panose="02040503050406030204" pitchFamily="18" charset="0"/>
                            </a:rPr>
                          </m:ctrlPr>
                        </m:dPr>
                        <m:e>
                          <m:f>
                            <m:fPr>
                              <m:ctrlPr>
                                <a:rPr lang="en-US" altLang="zh-TW" sz="2200" i="1" smtClean="0">
                                  <a:latin typeface="Cambria Math" panose="02040503050406030204" pitchFamily="18" charset="0"/>
                                </a:rPr>
                              </m:ctrlPr>
                            </m:fPr>
                            <m:num>
                              <m:r>
                                <a:rPr lang="en-US" altLang="zh-TW" sz="2200" b="0" i="1" smtClean="0">
                                  <a:latin typeface="Cambria Math" panose="02040503050406030204" pitchFamily="18" charset="0"/>
                                </a:rPr>
                                <m:t>𝑑</m:t>
                              </m:r>
                            </m:num>
                            <m:den>
                              <m:r>
                                <a:rPr lang="en-US" altLang="zh-TW" sz="2200" b="0" i="1" smtClean="0">
                                  <a:latin typeface="Cambria Math" panose="02040503050406030204" pitchFamily="18" charset="0"/>
                                </a:rPr>
                                <m:t>2</m:t>
                              </m:r>
                            </m:den>
                          </m:f>
                        </m:e>
                      </m:d>
                      <m:r>
                        <a:rPr lang="en-US" altLang="zh-TW" sz="2200" b="0" i="1" smtClean="0">
                          <a:latin typeface="Cambria Math" panose="02040503050406030204" pitchFamily="18" charset="0"/>
                        </a:rPr>
                        <m:t>&lt;</m:t>
                      </m:r>
                      <m:r>
                        <a:rPr lang="en-US" altLang="zh-TW" sz="2200" b="0" i="1" smtClean="0">
                          <a:latin typeface="Cambria Math" panose="02040503050406030204" pitchFamily="18" charset="0"/>
                        </a:rPr>
                        <m:t>𝐿</m:t>
                      </m:r>
                      <m:r>
                        <a:rPr lang="en-US" altLang="zh-TW" sz="2200" b="0" i="1" smtClean="0">
                          <a:latin typeface="Cambria Math" panose="02040503050406030204" pitchFamily="18" charset="0"/>
                        </a:rPr>
                        <m:t>&lt;</m:t>
                      </m:r>
                      <m:r>
                        <a:rPr lang="en-US" altLang="zh-TW" sz="2200" b="0" i="1" smtClean="0">
                          <a:latin typeface="Cambria Math" panose="02040503050406030204" pitchFamily="18" charset="0"/>
                        </a:rPr>
                        <m:t>𝑑</m:t>
                      </m:r>
                    </m:oMath>
                  </m:oMathPara>
                </a14:m>
                <a:endParaRPr lang="en-US" altLang="zh-TW" sz="22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Let g = </a:t>
                </a:r>
                <a14:m>
                  <m:oMath xmlns:m="http://schemas.openxmlformats.org/officeDocument/2006/math">
                    <m:d>
                      <m:dPr>
                        <m:begChr m:val="⌊"/>
                        <m:endChr m:val="⌋"/>
                        <m:ctrlPr>
                          <a:rPr lang="zh-TW" altLang="en-US" sz="2400" i="1">
                            <a:latin typeface="Cambria Math" panose="02040503050406030204" pitchFamily="18" charset="0"/>
                          </a:rPr>
                        </m:ctrlPr>
                      </m:dPr>
                      <m:e>
                        <m:f>
                          <m:fPr>
                            <m:ctrlPr>
                              <a:rPr lang="en-US" altLang="zh-TW" sz="2400" i="1">
                                <a:latin typeface="Cambria Math" panose="02040503050406030204" pitchFamily="18" charset="0"/>
                              </a:rPr>
                            </m:ctrlPr>
                          </m:fPr>
                          <m:num>
                            <m:r>
                              <a:rPr lang="en-US" altLang="zh-TW" sz="2400" i="1">
                                <a:latin typeface="Cambria Math" panose="02040503050406030204" pitchFamily="18" charset="0"/>
                              </a:rPr>
                              <m:t>𝑑</m:t>
                            </m:r>
                          </m:num>
                          <m:den>
                            <m:r>
                              <a:rPr lang="en-US" altLang="zh-TW" sz="2400" i="1">
                                <a:latin typeface="Cambria Math" panose="02040503050406030204" pitchFamily="18" charset="0"/>
                              </a:rPr>
                              <m:t>2</m:t>
                            </m:r>
                          </m:den>
                        </m:f>
                      </m:e>
                    </m:d>
                  </m:oMath>
                </a14:m>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Note that at most one of numbers A, B, C, D can be less than α</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p>
              <a:p>
                <a:r>
                  <a:rPr lang="en-US" altLang="zh-TW" sz="2400" dirty="0">
                    <a:latin typeface="Times New Roman" panose="02020603050405020304" pitchFamily="18" charset="0"/>
                    <a:cs typeface="Times New Roman" panose="02020603050405020304" pitchFamily="18" charset="0"/>
                  </a:rPr>
                  <a:t>At least one of the sequence </a:t>
                </a:r>
                <a14:m>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1</m:t>
                        </m:r>
                      </m:sub>
                    </m:sSub>
                  </m:oMath>
                </a14:m>
                <a:r>
                  <a:rPr lang="en-US" altLang="zh-TW" sz="2400" dirty="0">
                    <a:latin typeface="Times New Roman" panose="02020603050405020304" pitchFamily="18" charset="0"/>
                    <a:cs typeface="Times New Roman" panose="02020603050405020304" pitchFamily="18" charset="0"/>
                  </a:rPr>
                  <a:t> . . .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𝑠</m:t>
                        </m:r>
                      </m:e>
                      <m:sub>
                        <m:r>
                          <a:rPr lang="en-US" altLang="zh-TW" sz="2400" b="0" i="1" smtClean="0">
                            <a:latin typeface="Cambria Math" panose="02040503050406030204" pitchFamily="18" charset="0"/>
                          </a:rPr>
                          <m:t>𝑔</m:t>
                        </m:r>
                      </m:sub>
                    </m:sSub>
                  </m:oMath>
                </a14:m>
                <a:r>
                  <a:rPr lang="en-US" altLang="zh-TW" sz="2400" dirty="0">
                    <a:latin typeface="Times New Roman" panose="02020603050405020304" pitchFamily="18" charset="0"/>
                    <a:cs typeface="Times New Roman" panose="02020603050405020304" pitchFamily="18" charset="0"/>
                  </a:rPr>
                  <a:t> or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𝑠</m:t>
                        </m:r>
                      </m:e>
                      <m:sub>
                        <m:r>
                          <a:rPr lang="en-US" altLang="zh-TW" sz="2400" b="0" i="1" smtClean="0">
                            <a:latin typeface="Cambria Math" panose="02040503050406030204" pitchFamily="18" charset="0"/>
                          </a:rPr>
                          <m:t>𝑔</m:t>
                        </m:r>
                        <m:r>
                          <a:rPr lang="en-US" altLang="zh-TW" sz="2400" b="0" i="1" smtClean="0">
                            <a:latin typeface="Cambria Math" panose="02040503050406030204" pitchFamily="18" charset="0"/>
                          </a:rPr>
                          <m:t>+1</m:t>
                        </m:r>
                      </m:sub>
                    </m:sSub>
                  </m:oMath>
                </a14:m>
                <a:r>
                  <a:rPr lang="en-US" altLang="zh-TW" sz="2400" dirty="0">
                    <a:latin typeface="Times New Roman" panose="02020603050405020304" pitchFamily="18" charset="0"/>
                    <a:cs typeface="Times New Roman" panose="02020603050405020304" pitchFamily="18" charset="0"/>
                  </a:rPr>
                  <a:t> . . .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𝑠</m:t>
                        </m:r>
                      </m:e>
                      <m:sub>
                        <m:r>
                          <a:rPr lang="en-US" altLang="zh-TW" sz="2400" b="0" i="1" smtClean="0">
                            <a:latin typeface="Cambria Math" panose="02040503050406030204" pitchFamily="18" charset="0"/>
                          </a:rPr>
                          <m:t>𝑑</m:t>
                        </m:r>
                      </m:sub>
                    </m:sSub>
                  </m:oMath>
                </a14:m>
                <a:r>
                  <a:rPr lang="en-US" altLang="zh-TW" sz="2400" dirty="0">
                    <a:latin typeface="Times New Roman" panose="02020603050405020304" pitchFamily="18" charset="0"/>
                    <a:cs typeface="Times New Roman" panose="02020603050405020304" pitchFamily="18" charset="0"/>
                  </a:rPr>
                  <a:t> is the solution to the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α-LCWS2 Problem</a:t>
                </a:r>
              </a:p>
              <a:p>
                <a:endParaRPr lang="zh-TW" altLang="en-US" sz="2400" dirty="0"/>
              </a:p>
            </p:txBody>
          </p:sp>
        </mc:Choice>
        <mc:Fallback>
          <p:sp>
            <p:nvSpPr>
              <p:cNvPr id="4" name="文字方塊 3">
                <a:extLst>
                  <a:ext uri="{FF2B5EF4-FFF2-40B4-BE49-F238E27FC236}">
                    <a16:creationId xmlns:a16="http://schemas.microsoft.com/office/drawing/2014/main" xmlns:a14="http://schemas.microsoft.com/office/drawing/2010/main" xmlns="" id="{1EE53FA0-7A04-4CC4-8137-0FECC53831C3}"/>
                  </a:ext>
                </a:extLst>
              </p:cNvPr>
              <p:cNvSpPr txBox="1">
                <a:spLocks noRot="1" noChangeAspect="1" noMove="1" noResize="1" noEditPoints="1" noAdjustHandles="1" noChangeArrowheads="1" noChangeShapeType="1" noTextEdit="1"/>
              </p:cNvSpPr>
              <p:nvPr/>
            </p:nvSpPr>
            <p:spPr>
              <a:xfrm>
                <a:off x="1013253" y="1034473"/>
                <a:ext cx="9947190" cy="5988434"/>
              </a:xfrm>
              <a:prstGeom prst="rect">
                <a:avLst/>
              </a:prstGeom>
              <a:blipFill rotWithShape="0">
                <a:blip r:embed="rId2"/>
                <a:stretch>
                  <a:fillRect l="-919" t="-815"/>
                </a:stretch>
              </a:blipFill>
            </p:spPr>
            <p:txBody>
              <a:bodyPr/>
              <a:lstStyle/>
              <a:p>
                <a:r>
                  <a:rPr lang="zh-TW" altLang="en-US">
                    <a:noFill/>
                  </a:rPr>
                  <a:t> </a:t>
                </a:r>
              </a:p>
            </p:txBody>
          </p:sp>
        </mc:Fallback>
      </mc:AlternateContent>
      <p:pic>
        <p:nvPicPr>
          <p:cNvPr id="7" name="圖片 6">
            <a:extLst>
              <a:ext uri="{FF2B5EF4-FFF2-40B4-BE49-F238E27FC236}">
                <a16:creationId xmlns:a16="http://schemas.microsoft.com/office/drawing/2014/main" xmlns="" id="{1BE82CCA-A45F-4FD5-8276-E9B3113851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253" y="2597559"/>
            <a:ext cx="10114592" cy="669348"/>
          </a:xfrm>
          <a:prstGeom prst="rect">
            <a:avLst/>
          </a:prstGeom>
        </p:spPr>
      </p:pic>
      <p:pic>
        <p:nvPicPr>
          <p:cNvPr id="10" name="圖片 9">
            <a:extLst>
              <a:ext uri="{FF2B5EF4-FFF2-40B4-BE49-F238E27FC236}">
                <a16:creationId xmlns:a16="http://schemas.microsoft.com/office/drawing/2014/main" xmlns="" id="{F04A0965-7574-4FE8-8F15-9568A27F17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37653" y="4458518"/>
            <a:ext cx="7581900" cy="742950"/>
          </a:xfrm>
          <a:prstGeom prst="rect">
            <a:avLst/>
          </a:prstGeom>
        </p:spPr>
      </p:pic>
    </p:spTree>
    <p:extLst>
      <p:ext uri="{BB962C8B-B14F-4D97-AF65-F5344CB8AC3E}">
        <p14:creationId xmlns:p14="http://schemas.microsoft.com/office/powerpoint/2010/main" val="17713021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Polynomial-time approximating scheme for LCWS2</a:t>
            </a:r>
            <a:endParaRPr lang="zh-TW" altLang="en-US" sz="32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xmlns="" id="{5F57E51D-A1D0-4813-9B5A-ED7631CBCD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450" y="1469154"/>
            <a:ext cx="11087100" cy="669348"/>
          </a:xfrm>
          <a:prstGeom prst="rect">
            <a:avLst/>
          </a:prstGeom>
        </p:spPr>
      </p:pic>
      <p:pic>
        <p:nvPicPr>
          <p:cNvPr id="9" name="圖片 8">
            <a:extLst>
              <a:ext uri="{FF2B5EF4-FFF2-40B4-BE49-F238E27FC236}">
                <a16:creationId xmlns:a16="http://schemas.microsoft.com/office/drawing/2014/main" xmlns="" id="{7780EAEE-D175-405E-B0FD-648B2591D7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450" y="2638750"/>
            <a:ext cx="11020425" cy="1938338"/>
          </a:xfrm>
          <a:prstGeom prst="rect">
            <a:avLst/>
          </a:prstGeom>
        </p:spPr>
      </p:pic>
      <p:pic>
        <p:nvPicPr>
          <p:cNvPr id="5" name="圖片 4">
            <a:extLst>
              <a:ext uri="{FF2B5EF4-FFF2-40B4-BE49-F238E27FC236}">
                <a16:creationId xmlns:a16="http://schemas.microsoft.com/office/drawing/2014/main" xmlns="" id="{75403722-2C8E-4D4E-A665-F17814F3EC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4814474"/>
            <a:ext cx="6019800" cy="1057275"/>
          </a:xfrm>
          <a:prstGeom prst="rect">
            <a:avLst/>
          </a:prstGeom>
        </p:spPr>
      </p:pic>
      <p:pic>
        <p:nvPicPr>
          <p:cNvPr id="8" name="圖片 7">
            <a:extLst>
              <a:ext uri="{FF2B5EF4-FFF2-40B4-BE49-F238E27FC236}">
                <a16:creationId xmlns:a16="http://schemas.microsoft.com/office/drawing/2014/main" xmlns="" id="{4457C0E2-3019-4DC5-8BA4-AE72A42B5D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 y="6021387"/>
            <a:ext cx="8210550" cy="314325"/>
          </a:xfrm>
          <a:prstGeom prst="rect">
            <a:avLst/>
          </a:prstGeom>
        </p:spPr>
      </p:pic>
      <p:pic>
        <p:nvPicPr>
          <p:cNvPr id="11" name="圖片 10">
            <a:extLst>
              <a:ext uri="{FF2B5EF4-FFF2-40B4-BE49-F238E27FC236}">
                <a16:creationId xmlns:a16="http://schemas.microsoft.com/office/drawing/2014/main" xmlns="" id="{95890B2D-F3BC-4013-9D50-97FECCE2DC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450" y="1034473"/>
            <a:ext cx="9361724" cy="328307"/>
          </a:xfrm>
          <a:prstGeom prst="rect">
            <a:avLst/>
          </a:prstGeom>
        </p:spPr>
      </p:pic>
      <p:pic>
        <p:nvPicPr>
          <p:cNvPr id="13" name="圖片 12">
            <a:extLst>
              <a:ext uri="{FF2B5EF4-FFF2-40B4-BE49-F238E27FC236}">
                <a16:creationId xmlns:a16="http://schemas.microsoft.com/office/drawing/2014/main" xmlns="" id="{ED085100-D635-4C48-AD54-46BA2025E40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450" y="2244876"/>
            <a:ext cx="5334000" cy="344966"/>
          </a:xfrm>
          <a:prstGeom prst="rect">
            <a:avLst/>
          </a:prstGeom>
        </p:spPr>
      </p:pic>
    </p:spTree>
    <p:extLst>
      <p:ext uri="{BB962C8B-B14F-4D97-AF65-F5344CB8AC3E}">
        <p14:creationId xmlns:p14="http://schemas.microsoft.com/office/powerpoint/2010/main" val="34275799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Polynomial-time approximating scheme for LCWS2</a:t>
            </a:r>
            <a:endParaRPr lang="zh-TW" altLang="en-US" sz="32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xmlns="" id="{1791568B-704C-45E6-A7FA-8B59C5556A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737" y="1131887"/>
            <a:ext cx="11058525" cy="2486025"/>
          </a:xfrm>
          <a:prstGeom prst="rect">
            <a:avLst/>
          </a:prstGeom>
        </p:spPr>
      </p:pic>
      <p:pic>
        <p:nvPicPr>
          <p:cNvPr id="10" name="圖片 9">
            <a:extLst>
              <a:ext uri="{FF2B5EF4-FFF2-40B4-BE49-F238E27FC236}">
                <a16:creationId xmlns:a16="http://schemas.microsoft.com/office/drawing/2014/main" xmlns="" id="{1F4EF1DE-0B62-4318-B546-1B5048BBBA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3701038"/>
            <a:ext cx="10591800" cy="1104900"/>
          </a:xfrm>
          <a:prstGeom prst="rect">
            <a:avLst/>
          </a:prstGeom>
        </p:spPr>
      </p:pic>
      <p:pic>
        <p:nvPicPr>
          <p:cNvPr id="14" name="圖片 13">
            <a:extLst>
              <a:ext uri="{FF2B5EF4-FFF2-40B4-BE49-F238E27FC236}">
                <a16:creationId xmlns:a16="http://schemas.microsoft.com/office/drawing/2014/main" xmlns="" id="{AFE799EE-690A-4730-9E05-1D1C72C9D0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0249" y="4889064"/>
            <a:ext cx="8191500" cy="1257300"/>
          </a:xfrm>
          <a:prstGeom prst="rect">
            <a:avLst/>
          </a:prstGeom>
        </p:spPr>
      </p:pic>
    </p:spTree>
    <p:extLst>
      <p:ext uri="{BB962C8B-B14F-4D97-AF65-F5344CB8AC3E}">
        <p14:creationId xmlns:p14="http://schemas.microsoft.com/office/powerpoint/2010/main" val="18859807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Polynomial-time approximating scheme for LCWS2</a:t>
            </a:r>
            <a:endParaRPr lang="zh-TW" altLang="en-US" sz="32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xmlns="" id="{1791568B-704C-45E6-A7FA-8B59C5556A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737" y="1131887"/>
            <a:ext cx="11058525" cy="2486025"/>
          </a:xfrm>
          <a:prstGeom prst="rect">
            <a:avLst/>
          </a:prstGeom>
        </p:spPr>
      </p:pic>
      <p:pic>
        <p:nvPicPr>
          <p:cNvPr id="4" name="圖片 3">
            <a:extLst>
              <a:ext uri="{FF2B5EF4-FFF2-40B4-BE49-F238E27FC236}">
                <a16:creationId xmlns:a16="http://schemas.microsoft.com/office/drawing/2014/main" xmlns="" id="{64D5A1B4-85F4-4DF5-B182-AE365E1EDA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799" y="3617912"/>
            <a:ext cx="10058400" cy="2295525"/>
          </a:xfrm>
          <a:prstGeom prst="rect">
            <a:avLst/>
          </a:prstGeom>
        </p:spPr>
      </p:pic>
    </p:spTree>
    <p:extLst>
      <p:ext uri="{BB962C8B-B14F-4D97-AF65-F5344CB8AC3E}">
        <p14:creationId xmlns:p14="http://schemas.microsoft.com/office/powerpoint/2010/main" val="719497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Polynomial-time approximating scheme for LCWS2</a:t>
            </a:r>
            <a:endParaRPr lang="zh-TW" altLang="en-US" sz="32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xmlns="" id="{3E589994-121F-4BBA-A986-E10C2F7E6F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87" y="1486188"/>
            <a:ext cx="11039475" cy="669348"/>
          </a:xfrm>
          <a:prstGeom prst="rect">
            <a:avLst/>
          </a:prstGeom>
        </p:spPr>
      </p:pic>
      <p:pic>
        <p:nvPicPr>
          <p:cNvPr id="10" name="圖片 9">
            <a:extLst>
              <a:ext uri="{FF2B5EF4-FFF2-40B4-BE49-F238E27FC236}">
                <a16:creationId xmlns:a16="http://schemas.microsoft.com/office/drawing/2014/main" xmlns="" id="{7F05581A-B9C7-4082-B5F5-DF352C57A6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837" y="3017615"/>
            <a:ext cx="11058525" cy="581025"/>
          </a:xfrm>
          <a:prstGeom prst="rect">
            <a:avLst/>
          </a:prstGeom>
        </p:spPr>
      </p:pic>
      <p:pic>
        <p:nvPicPr>
          <p:cNvPr id="14" name="圖片 13">
            <a:extLst>
              <a:ext uri="{FF2B5EF4-FFF2-40B4-BE49-F238E27FC236}">
                <a16:creationId xmlns:a16="http://schemas.microsoft.com/office/drawing/2014/main" xmlns="" id="{253104CB-A8D8-4E38-9915-C98B6D750F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675" y="3861367"/>
            <a:ext cx="10382250" cy="295275"/>
          </a:xfrm>
          <a:prstGeom prst="rect">
            <a:avLst/>
          </a:prstGeom>
        </p:spPr>
      </p:pic>
      <p:pic>
        <p:nvPicPr>
          <p:cNvPr id="16" name="圖片 15">
            <a:extLst>
              <a:ext uri="{FF2B5EF4-FFF2-40B4-BE49-F238E27FC236}">
                <a16:creationId xmlns:a16="http://schemas.microsoft.com/office/drawing/2014/main" xmlns="" id="{64C5637A-12A7-431B-BD2B-BD9B7A5991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8675" y="2459613"/>
            <a:ext cx="10401300" cy="295275"/>
          </a:xfrm>
          <a:prstGeom prst="rect">
            <a:avLst/>
          </a:prstGeom>
        </p:spPr>
      </p:pic>
      <p:pic>
        <p:nvPicPr>
          <p:cNvPr id="18" name="圖片 17">
            <a:extLst>
              <a:ext uri="{FF2B5EF4-FFF2-40B4-BE49-F238E27FC236}">
                <a16:creationId xmlns:a16="http://schemas.microsoft.com/office/drawing/2014/main" xmlns="" id="{FA35D2CB-EB4B-4E88-8B84-95228B947CD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0062" y="4460719"/>
            <a:ext cx="11039475" cy="504825"/>
          </a:xfrm>
          <a:prstGeom prst="rect">
            <a:avLst/>
          </a:prstGeom>
        </p:spPr>
      </p:pic>
    </p:spTree>
    <p:extLst>
      <p:ext uri="{BB962C8B-B14F-4D97-AF65-F5344CB8AC3E}">
        <p14:creationId xmlns:p14="http://schemas.microsoft.com/office/powerpoint/2010/main" val="5707363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3043</TotalTime>
  <Words>215</Words>
  <Application>Microsoft Office PowerPoint</Application>
  <PresentationFormat>寬螢幕</PresentationFormat>
  <Paragraphs>40</Paragraphs>
  <Slides>14</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14</vt:i4>
      </vt:variant>
    </vt:vector>
  </HeadingPairs>
  <TitlesOfParts>
    <vt:vector size="21" baseType="lpstr">
      <vt:lpstr>新細明體</vt:lpstr>
      <vt:lpstr>Arial</vt:lpstr>
      <vt:lpstr>Calibri</vt:lpstr>
      <vt:lpstr>Calibri Light</vt:lpstr>
      <vt:lpstr>Cambria Math</vt:lpstr>
      <vt:lpstr>Times New Roman</vt:lpstr>
      <vt:lpstr>Office 佈景主題</vt:lpstr>
      <vt:lpstr>Polynomial-time approximation algorithms for weighted LCS problem</vt:lpstr>
      <vt:lpstr>Abstract(1/2)</vt:lpstr>
      <vt:lpstr>Abstract(2/2)</vt:lpstr>
      <vt:lpstr>Weighted Sequence</vt:lpstr>
      <vt:lpstr>α-LCWS Problem</vt:lpstr>
      <vt:lpstr>(α_1,α_2)-LCWS2 Problem</vt:lpstr>
      <vt:lpstr>α-LCWS2 Problem</vt:lpstr>
      <vt:lpstr>α-LCWS2 Problem</vt:lpstr>
      <vt:lpstr>NP-hard Problem</vt:lpstr>
      <vt:lpstr>(1/2)-approximation algorithm for LCWS2</vt:lpstr>
      <vt:lpstr>Polynomial-time approximating scheme for LCWS2</vt:lpstr>
      <vt:lpstr>Polynomial-time approximating scheme for LCWS2</vt:lpstr>
      <vt:lpstr>Polynomial-time approximating scheme for LCWS2</vt:lpstr>
      <vt:lpstr>Polynomial-time approximating scheme for LCWS2</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model and algorithm for sequence alignment</dc:title>
  <dc:creator>吳篤承</dc:creator>
  <cp:lastModifiedBy>pplab-class</cp:lastModifiedBy>
  <cp:revision>114</cp:revision>
  <dcterms:created xsi:type="dcterms:W3CDTF">2018-09-30T05:00:05Z</dcterms:created>
  <dcterms:modified xsi:type="dcterms:W3CDTF">2019-03-13T08:13:54Z</dcterms:modified>
</cp:coreProperties>
</file>