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311" r:id="rId3"/>
    <p:sldId id="312" r:id="rId4"/>
    <p:sldId id="306" r:id="rId5"/>
    <p:sldId id="317" r:id="rId6"/>
    <p:sldId id="319" r:id="rId7"/>
    <p:sldId id="313" r:id="rId8"/>
    <p:sldId id="314" r:id="rId9"/>
    <p:sldId id="315" r:id="rId10"/>
    <p:sldId id="316" r:id="rId11"/>
    <p:sldId id="31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豐仰 蔡" initials="豐仰" lastIdx="1" clrIdx="0">
    <p:extLst>
      <p:ext uri="{19B8F6BF-5375-455C-9EA6-DF929625EA0E}">
        <p15:presenceInfo xmlns:p15="http://schemas.microsoft.com/office/powerpoint/2012/main" userId="8fbda77307fba9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3971" autoAdjust="0"/>
  </p:normalViewPr>
  <p:slideViewPr>
    <p:cSldViewPr snapToGrid="0">
      <p:cViewPr varScale="1">
        <p:scale>
          <a:sx n="64" d="100"/>
          <a:sy n="64" d="100"/>
        </p:scale>
        <p:origin x="136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215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878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0931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5034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8795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EFCFE-425C-4696-9D05-22E06C3112FC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150" y="1538969"/>
            <a:ext cx="8348184" cy="877881"/>
          </a:xfrm>
        </p:spPr>
        <p:txBody>
          <a:bodyPr>
            <a:no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FAST: A Novel Protein Structure Alignment Algorithm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149" y="2900196"/>
            <a:ext cx="8536249" cy="717223"/>
          </a:xfrm>
        </p:spPr>
        <p:txBody>
          <a:bodyPr>
            <a:noAutofit/>
          </a:bodyPr>
          <a:lstStyle/>
          <a:p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Jianhua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Zhu, and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Zhiping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Weng</a:t>
            </a:r>
            <a:endParaRPr lang="en-US" altLang="zh-TW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4761182" y="5443584"/>
            <a:ext cx="3264031" cy="8564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US" altLang="zh-TW" sz="1800" dirty="0"/>
              <a:t> </a:t>
            </a:r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Feng-Yang</a:t>
            </a:r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Tsai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r"/>
            <a:r>
              <a:rPr lang="en-US" altLang="zh-TW" sz="18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Date:June</a:t>
            </a:r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26, 2019.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2797" y="3922940"/>
            <a:ext cx="76228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PROTEINS: Structure, Function, and Bioinformatics 58:618–627 (2005)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7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9"/>
    </mc:Choice>
    <mc:Fallback xmlns="">
      <p:transition spd="slow" advTm="2519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439984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6" y="1175751"/>
            <a:ext cx="9004993" cy="5131633"/>
          </a:xfrm>
        </p:spPr>
        <p:txBody>
          <a:bodyPr>
            <a:noAutofit/>
          </a:bodyPr>
          <a:lstStyle/>
          <a:p>
            <a:pPr marL="0" indent="0">
              <a:lnSpc>
                <a:spcPts val="32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present a novel algorithm named FAST for aligning protein three-dimensional structures. FAST uses a directionality-based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scoring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 to compare the intra-molecular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residue–residue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in two structures. It employs an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elimination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heuristic to promote sparseness in the residue-pair graph and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detection of the global optimum. In order to test the overall accuracy of FAST, we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sensitivity and speciﬁcity with the SCOP classiﬁcation (version 1.61) as the gold standard. FAST achieved higher sensitivities than several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DaliLite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CE, and K2) at all speciﬁcity levels. </a:t>
            </a:r>
            <a:endParaRPr lang="fr-FR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483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59" y="439984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359" y="1195630"/>
            <a:ext cx="8626301" cy="5131633"/>
          </a:xfrm>
        </p:spPr>
        <p:txBody>
          <a:bodyPr>
            <a:noAutofit/>
          </a:bodyPr>
          <a:lstStyle/>
          <a:p>
            <a:pPr marL="0" indent="0">
              <a:lnSpc>
                <a:spcPts val="32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also tested FAST against 1033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curated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HOMSTRAD database. The overall agreement was 96%. Close inspection of examples from broad structural classes indicated the high quality of FAST alignments.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Moreover, FAST is an order of magnitude faster than other algorithms that 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attempt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establish residue–residue correspondence.</a:t>
            </a:r>
            <a:endParaRPr lang="fr-FR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385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59" y="159967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METHODS :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28051" y="1507060"/>
            <a:ext cx="8417167" cy="5115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compare the local geometric properties of the two proteins and select a small subset of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pairs as the vertex set to construct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G(V,E)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assign edges by comparing intra-molecular relationships, using a directionality-based scoring scheme that promotes sparseness of the graph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iteratively prune the graph to eliminate “bad vertices,” which are residue pairs that are unlikely to constitute the global optimal alignment, offering the correct alignment a better chance to survive. With the substantially simplified product graph, an initial alignment is easily detected using dynamic programming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finetune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alignment by finding additional equivalent pairs and eliminating bad pairs.</a:t>
            </a:r>
          </a:p>
        </p:txBody>
      </p:sp>
      <p:sp>
        <p:nvSpPr>
          <p:cNvPr id="4" name="矩形 3"/>
          <p:cNvSpPr/>
          <p:nvPr/>
        </p:nvSpPr>
        <p:spPr>
          <a:xfrm>
            <a:off x="528051" y="906675"/>
            <a:ext cx="4260012" cy="4370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09600" indent="-609600">
              <a:lnSpc>
                <a:spcPct val="80000"/>
              </a:lnSpc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comprises four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steps 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81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60350"/>
            <a:ext cx="5935662" cy="602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8206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025" y="701030"/>
            <a:ext cx="5954774" cy="575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667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6278"/>
            <a:ext cx="7886700" cy="1325563"/>
          </a:xfrm>
        </p:spPr>
        <p:txBody>
          <a:bodyPr/>
          <a:lstStyle/>
          <a:p>
            <a:pPr algn="l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Local Geometric Comparison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5516563"/>
            <a:ext cx="8229600" cy="111283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Lij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denotes the similarity between a segment centered around residue 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protein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 segment centered around residue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protein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491" y="2657403"/>
            <a:ext cx="5136140" cy="272237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8" y="1078980"/>
            <a:ext cx="7674547" cy="505721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2489" y="1601473"/>
            <a:ext cx="2976405" cy="50625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217" y="2142585"/>
            <a:ext cx="6029261" cy="44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465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50838" y="0"/>
            <a:ext cx="7886700" cy="1325563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Scoring Scheme for Edge Computation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178720"/>
            <a:ext cx="8229600" cy="1284287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edge in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G(V,E)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two vertices (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(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m,n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assigned the following weight</a:t>
            </a:r>
          </a:p>
          <a:p>
            <a:endParaRPr lang="en-US" altLang="zh-TW" dirty="0"/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37" y="5380384"/>
            <a:ext cx="1174065" cy="334754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343" y="5360505"/>
            <a:ext cx="6741195" cy="374511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701" y="5803383"/>
            <a:ext cx="1133024" cy="296249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6382" y="5706633"/>
            <a:ext cx="299922" cy="392999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6304" y="5787305"/>
            <a:ext cx="4707125" cy="328404"/>
          </a:xfrm>
          <a:prstGeom prst="rect">
            <a:avLst/>
          </a:prstGeom>
        </p:spPr>
      </p:pic>
      <p:pic>
        <p:nvPicPr>
          <p:cNvPr id="21" name="圖片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4079" y="5688374"/>
            <a:ext cx="136985" cy="98931"/>
          </a:xfrm>
          <a:prstGeom prst="rect">
            <a:avLst/>
          </a:prstGeom>
        </p:spPr>
      </p:pic>
      <p:pic>
        <p:nvPicPr>
          <p:cNvPr id="22" name="圖片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258222"/>
            <a:ext cx="4939213" cy="2864190"/>
          </a:xfrm>
          <a:prstGeom prst="rect">
            <a:avLst/>
          </a:prstGeom>
        </p:spPr>
      </p:pic>
      <p:pic>
        <p:nvPicPr>
          <p:cNvPr id="23" name="圖片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5651" y="2272528"/>
            <a:ext cx="4378349" cy="253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43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05764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Further Pruning and Initial Alignment</a:t>
            </a:r>
            <a:b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Alignment Refinement</a:t>
            </a:r>
            <a:b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78559"/>
            <a:ext cx="8229600" cy="4276725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would expect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high if 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contained in the optimal alignment</a:t>
            </a:r>
          </a:p>
          <a:p>
            <a:pPr>
              <a:lnSpc>
                <a:spcPct val="8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empirical rules are used to define bad pairs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(a) A vertex receiving a low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is eliminated.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(b) If the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of a vertex is due to scattered contributors that do not form stretches, the vertex is eliminated.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If the two residues of a vertex are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isolated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measure the extent to which the graph is close to a clique, we define the 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degree of unanimity of G(V,E)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number of edges with positive weights divided by the total number of possible edges. </a:t>
            </a:r>
          </a:p>
          <a:p>
            <a:pPr>
              <a:lnSpc>
                <a:spcPct val="8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expect the degree of unanimity to increase as we iteratively eliminate more bad vertices.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26" y="967446"/>
            <a:ext cx="3160275" cy="81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006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691" y="1506212"/>
            <a:ext cx="5573022" cy="4939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689181" y="411682"/>
            <a:ext cx="58782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(PDB code 1BHG, A chain, residues 226-328)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13225" y="848824"/>
            <a:ext cx="58092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(PDB code 1CS6, A chain, residues 209–299)</a:t>
            </a:r>
          </a:p>
        </p:txBody>
      </p:sp>
    </p:spTree>
    <p:extLst>
      <p:ext uri="{BB962C8B-B14F-4D97-AF65-F5344CB8AC3E}">
        <p14:creationId xmlns:p14="http://schemas.microsoft.com/office/powerpoint/2010/main" val="3836691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049487" y="-1184195"/>
            <a:ext cx="2903939" cy="8609232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59" y="439984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030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81160</TotalTime>
  <Words>555</Words>
  <Application>Microsoft Office PowerPoint</Application>
  <PresentationFormat>如螢幕大小 (4:3)</PresentationFormat>
  <Paragraphs>38</Paragraphs>
  <Slides>11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新細明體</vt:lpstr>
      <vt:lpstr>標楷體</vt:lpstr>
      <vt:lpstr>Arial</vt:lpstr>
      <vt:lpstr>Calibri</vt:lpstr>
      <vt:lpstr>Calibri Light</vt:lpstr>
      <vt:lpstr>Tahoma</vt:lpstr>
      <vt:lpstr>Times New Roman</vt:lpstr>
      <vt:lpstr>Office 佈景主題</vt:lpstr>
      <vt:lpstr>FAST: A Novel Protein Structure Alignment Algorithm</vt:lpstr>
      <vt:lpstr>Abstract(1/2)</vt:lpstr>
      <vt:lpstr>Abstract(2/2)</vt:lpstr>
      <vt:lpstr>METHODS :</vt:lpstr>
      <vt:lpstr>PowerPoint 簡報</vt:lpstr>
      <vt:lpstr>PowerPoint 簡報</vt:lpstr>
      <vt:lpstr>Step 1: Local Geometric Comparison</vt:lpstr>
      <vt:lpstr>Step 2: Scoring Scheme for Edge Computation</vt:lpstr>
      <vt:lpstr>Step 3: Further Pruning and Initial Alignment Step 4: Alignment Refinement </vt:lpstr>
      <vt:lpstr>PowerPoint 簡報</vt:lpstr>
      <vt:lpstr>Results: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/>
  <cp:lastModifiedBy>蔡豐仰</cp:lastModifiedBy>
  <cp:revision>677</cp:revision>
  <dcterms:created xsi:type="dcterms:W3CDTF">2017-09-25T08:45:50Z</dcterms:created>
  <dcterms:modified xsi:type="dcterms:W3CDTF">2019-06-26T06:53:23Z</dcterms:modified>
</cp:coreProperties>
</file>