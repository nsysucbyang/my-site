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5" r:id="rId2"/>
    <p:sldId id="322" r:id="rId3"/>
    <p:sldId id="325" r:id="rId4"/>
    <p:sldId id="326" r:id="rId5"/>
    <p:sldId id="327" r:id="rId6"/>
    <p:sldId id="329" r:id="rId7"/>
    <p:sldId id="333" r:id="rId8"/>
    <p:sldId id="330" r:id="rId9"/>
    <p:sldId id="334" r:id="rId10"/>
    <p:sldId id="337" r:id="rId11"/>
    <p:sldId id="338" r:id="rId12"/>
    <p:sldId id="339" r:id="rId13"/>
    <p:sldId id="340" r:id="rId14"/>
    <p:sldId id="342" r:id="rId15"/>
    <p:sldId id="341" r:id="rId16"/>
    <p:sldId id="343" r:id="rId17"/>
    <p:sldId id="344" r:id="rId18"/>
    <p:sldId id="346" r:id="rId19"/>
    <p:sldId id="324" r:id="rId20"/>
    <p:sldId id="345" r:id="rId21"/>
    <p:sldId id="348" r:id="rId22"/>
    <p:sldId id="347" r:id="rId23"/>
    <p:sldId id="321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1740" autoAdjust="0"/>
  </p:normalViewPr>
  <p:slideViewPr>
    <p:cSldViewPr>
      <p:cViewPr varScale="1">
        <p:scale>
          <a:sx n="83" d="100"/>
          <a:sy n="83" d="100"/>
        </p:scale>
        <p:origin x="195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DE2EE-1BAA-4351-B125-34E9F9F75556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45B4DA-D3AD-4183-8000-47877BB382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659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論文中寫到其他兩人當時工作於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University of California,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San Diego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校區。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而</a:t>
            </a:r>
            <a:r>
              <a:rPr lang="en-US" altLang="zh-TW" dirty="0"/>
              <a:t>Geoffrey Hinton</a:t>
            </a:r>
            <a:r>
              <a:rPr lang="zh-TW" altLang="en-US" dirty="0"/>
              <a:t>此時在美國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Carnegie-Mellon University(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賓州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任教，尚未至多倫多大學任教。</a:t>
            </a:r>
            <a:endParaRPr lang="en-US" altLang="zh-TW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45B4DA-D3AD-4183-8000-47877BB382A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054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077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86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47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2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75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554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88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480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286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4148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514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2E363-0F2D-487A-A071-E2D60B6CBD6D}" type="datetimeFigureOut">
              <a:rPr lang="zh-TW" altLang="en-US" smtClean="0"/>
              <a:t>2019/6/26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7B17A-699C-4125-A5AD-2CB22A65A13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568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5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1A5FC4C-15D3-44B9-AFC7-17377E223E70}"/>
              </a:ext>
            </a:extLst>
          </p:cNvPr>
          <p:cNvSpPr/>
          <p:nvPr/>
        </p:nvSpPr>
        <p:spPr>
          <a:xfrm>
            <a:off x="84935" y="692696"/>
            <a:ext cx="89741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5400" dirty="0"/>
              <a:t>Learning representations by back-propagating errors</a:t>
            </a:r>
            <a:endParaRPr lang="zh-TW" altLang="en-US" sz="5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232D36-4022-4F80-9EBF-9D79538C2107}"/>
              </a:ext>
            </a:extLst>
          </p:cNvPr>
          <p:cNvSpPr/>
          <p:nvPr/>
        </p:nvSpPr>
        <p:spPr>
          <a:xfrm>
            <a:off x="-515849" y="3296695"/>
            <a:ext cx="101756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David E. </a:t>
            </a:r>
            <a:r>
              <a:rPr lang="en-US" altLang="zh-TW" sz="2800" b="1" dirty="0" err="1"/>
              <a:t>Rumelhart</a:t>
            </a:r>
            <a:r>
              <a:rPr lang="en-US" altLang="zh-TW" sz="2800" b="1" dirty="0"/>
              <a:t>, </a:t>
            </a:r>
            <a:r>
              <a:rPr lang="en-US" altLang="zh-TW" sz="3200" b="1" dirty="0"/>
              <a:t>Geoffrey</a:t>
            </a:r>
            <a:r>
              <a:rPr lang="en-US" altLang="zh-TW" sz="2800" b="1" dirty="0"/>
              <a:t> E. Hinton,</a:t>
            </a:r>
            <a:r>
              <a:rPr lang="en-US" altLang="zh-TW" sz="2800" dirty="0"/>
              <a:t> </a:t>
            </a:r>
            <a:r>
              <a:rPr lang="en-US" altLang="zh-TW" sz="2800" b="1" dirty="0"/>
              <a:t>Ronald J. Williams</a:t>
            </a:r>
            <a:endParaRPr lang="en-US" altLang="zh-TW" sz="4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F23D5C-146B-47F5-B381-C99CFE8E0CD2}"/>
              </a:ext>
            </a:extLst>
          </p:cNvPr>
          <p:cNvSpPr/>
          <p:nvPr/>
        </p:nvSpPr>
        <p:spPr>
          <a:xfrm>
            <a:off x="5364087" y="6021288"/>
            <a:ext cx="37740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Chia-Lin Chen</a:t>
            </a:r>
          </a:p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26, 2019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3D4FEB-BCC0-4B30-98EF-813D6A69AC2C}"/>
              </a:ext>
            </a:extLst>
          </p:cNvPr>
          <p:cNvSpPr/>
          <p:nvPr/>
        </p:nvSpPr>
        <p:spPr>
          <a:xfrm>
            <a:off x="1187624" y="4407977"/>
            <a:ext cx="67481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i="1" dirty="0">
                <a:solidFill>
                  <a:srgbClr val="222222"/>
                </a:solidFill>
              </a:rPr>
              <a:t>Nature</a:t>
            </a:r>
            <a:r>
              <a:rPr lang="zh-TW" altLang="en-US" sz="2800" i="1" dirty="0">
                <a:solidFill>
                  <a:srgbClr val="222222"/>
                </a:solidFill>
              </a:rPr>
              <a:t> </a:t>
            </a:r>
            <a:r>
              <a:rPr lang="en-US" altLang="zh-TW" sz="3600" dirty="0">
                <a:solidFill>
                  <a:srgbClr val="222222"/>
                </a:solidFill>
              </a:rPr>
              <a:t>volume</a:t>
            </a:r>
            <a:r>
              <a:rPr lang="en-US" altLang="zh-TW" sz="2800" dirty="0">
                <a:solidFill>
                  <a:srgbClr val="222222"/>
                </a:solidFill>
              </a:rPr>
              <a:t> 323, pages533–536 (1986) 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9664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185C522-A37F-4689-A6A8-7488DEC5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16" y="892994"/>
            <a:ext cx="7676467" cy="563235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E59EDEFC-22E0-4595-9AAA-633BB4F97C1D}"/>
              </a:ext>
            </a:extLst>
          </p:cNvPr>
          <p:cNvSpPr txBox="1"/>
          <p:nvPr/>
        </p:nvSpPr>
        <p:spPr>
          <a:xfrm>
            <a:off x="741786" y="548680"/>
            <a:ext cx="7644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A CNN(Convolutional Neural Network) Architecture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098237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A43DB723-5923-451F-B5D0-BDBFF7797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754584"/>
            <a:ext cx="7344816" cy="580405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5AD992DB-8C5A-4177-8939-29AEB14486CC}"/>
              </a:ext>
            </a:extLst>
          </p:cNvPr>
          <p:cNvSpPr txBox="1"/>
          <p:nvPr/>
        </p:nvSpPr>
        <p:spPr>
          <a:xfrm>
            <a:off x="479505" y="264329"/>
            <a:ext cx="7728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Example(Full-connected CNN): in </a:t>
            </a:r>
            <a:r>
              <a:rPr lang="en-US" altLang="zh-TW" sz="2800" dirty="0" err="1"/>
              <a:t>Keras</a:t>
            </a:r>
            <a:r>
              <a:rPr lang="en-US" altLang="zh-TW" sz="2800" dirty="0"/>
              <a:t> use</a:t>
            </a:r>
            <a:r>
              <a:rPr lang="zh-TW" altLang="en-US" sz="2800" dirty="0"/>
              <a:t> </a:t>
            </a:r>
            <a:r>
              <a:rPr lang="en-US" altLang="zh-TW" sz="2800" dirty="0"/>
              <a:t>“Dense”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2173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1E01A47-E2A7-4077-B134-5A3E9943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506707"/>
            <a:ext cx="5976664" cy="476666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CF8A24D-26B8-4CB5-B9F6-10930A97CE26}"/>
              </a:ext>
            </a:extLst>
          </p:cNvPr>
          <p:cNvSpPr/>
          <p:nvPr/>
        </p:nvSpPr>
        <p:spPr>
          <a:xfrm>
            <a:off x="533398" y="5805264"/>
            <a:ext cx="2375971" cy="36933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Verdana" panose="020B0604030504040204" pitchFamily="34" charset="0"/>
              </a:rPr>
              <a:t>o1=0.01,o2=0.99;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563D75-319A-432F-B2C6-3D27FF1C3E83}"/>
              </a:ext>
            </a:extLst>
          </p:cNvPr>
          <p:cNvSpPr/>
          <p:nvPr/>
        </p:nvSpPr>
        <p:spPr>
          <a:xfrm>
            <a:off x="563422" y="5273372"/>
            <a:ext cx="2372765" cy="36933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Verdana" panose="020B0604030504040204" pitchFamily="34" charset="0"/>
              </a:rPr>
              <a:t>i1=0.05</a:t>
            </a:r>
            <a:r>
              <a:rPr lang="zh-TW" altLang="en-US" dirty="0">
                <a:solidFill>
                  <a:srgbClr val="000000"/>
                </a:solidFill>
                <a:latin typeface="Verdana" panose="020B0604030504040204" pitchFamily="34" charset="0"/>
              </a:rPr>
              <a:t>，</a:t>
            </a:r>
            <a:r>
              <a:rPr lang="en-US" altLang="zh-TW" dirty="0">
                <a:solidFill>
                  <a:srgbClr val="000000"/>
                </a:solidFill>
                <a:latin typeface="Verdana" panose="020B0604030504040204" pitchFamily="34" charset="0"/>
              </a:rPr>
              <a:t>i2=0.10;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74E7BD-2681-4B29-9DCC-FB5CC04B8913}"/>
              </a:ext>
            </a:extLst>
          </p:cNvPr>
          <p:cNvSpPr/>
          <p:nvPr/>
        </p:nvSpPr>
        <p:spPr>
          <a:xfrm>
            <a:off x="3396002" y="5253017"/>
            <a:ext cx="5184576" cy="36933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Verdana" panose="020B0604030504040204" pitchFamily="34" charset="0"/>
              </a:rPr>
              <a:t>w1=0.15,w2=0.20,w3=0.25,w4=0.30;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E2C3C0-8040-429D-9DA7-A38D5073C3B5}"/>
              </a:ext>
            </a:extLst>
          </p:cNvPr>
          <p:cNvSpPr/>
          <p:nvPr/>
        </p:nvSpPr>
        <p:spPr>
          <a:xfrm>
            <a:off x="3375964" y="5793154"/>
            <a:ext cx="5184576" cy="369332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Verdana" panose="020B0604030504040204" pitchFamily="34" charset="0"/>
              </a:rPr>
              <a:t>w5=0.40,w6=0.45,w7=0.50,w8=0.55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E6A3B06-CF13-4274-B1C6-0C90664355A7}"/>
              </a:ext>
            </a:extLst>
          </p:cNvPr>
          <p:cNvSpPr txBox="1"/>
          <p:nvPr/>
        </p:nvSpPr>
        <p:spPr>
          <a:xfrm>
            <a:off x="479505" y="264329"/>
            <a:ext cx="14157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Example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9693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E48B7B36-814E-4E40-B529-D797A98EB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89" y="441408"/>
            <a:ext cx="6192688" cy="493895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534A6AE-E9E6-416C-B6E4-769DA613E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00" y="5445224"/>
            <a:ext cx="4048125" cy="86677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D316C3C-7BA1-44AE-9215-C6F0C0838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334" y="5308286"/>
            <a:ext cx="3886200" cy="514350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96530A-5B46-4337-9F61-1F622EC4853A}"/>
              </a:ext>
            </a:extLst>
          </p:cNvPr>
          <p:cNvCxnSpPr/>
          <p:nvPr/>
        </p:nvCxnSpPr>
        <p:spPr>
          <a:xfrm>
            <a:off x="1004873" y="1062414"/>
            <a:ext cx="148287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EB9FD77-DEFE-45AF-8B45-9C71A3E549F5}"/>
              </a:ext>
            </a:extLst>
          </p:cNvPr>
          <p:cNvCxnSpPr>
            <a:cxnSpLocks/>
          </p:cNvCxnSpPr>
          <p:nvPr/>
        </p:nvCxnSpPr>
        <p:spPr>
          <a:xfrm>
            <a:off x="968869" y="1062414"/>
            <a:ext cx="1554886" cy="184878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B26C264-B5C6-4A1F-9BE0-7BE8144D58A2}"/>
              </a:ext>
            </a:extLst>
          </p:cNvPr>
          <p:cNvCxnSpPr>
            <a:cxnSpLocks/>
          </p:cNvCxnSpPr>
          <p:nvPr/>
        </p:nvCxnSpPr>
        <p:spPr>
          <a:xfrm flipV="1">
            <a:off x="892878" y="1072966"/>
            <a:ext cx="1518882" cy="370421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BCBEA71-0702-47BD-B9DA-F6BAF6F0CA71}"/>
              </a:ext>
            </a:extLst>
          </p:cNvPr>
          <p:cNvCxnSpPr>
            <a:cxnSpLocks/>
          </p:cNvCxnSpPr>
          <p:nvPr/>
        </p:nvCxnSpPr>
        <p:spPr>
          <a:xfrm>
            <a:off x="971600" y="5822636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29557A1-3860-4A47-BAA3-9F451B2C6B96}"/>
              </a:ext>
            </a:extLst>
          </p:cNvPr>
          <p:cNvCxnSpPr>
            <a:cxnSpLocks/>
          </p:cNvCxnSpPr>
          <p:nvPr/>
        </p:nvCxnSpPr>
        <p:spPr>
          <a:xfrm>
            <a:off x="1691680" y="5814557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6983684-3789-4035-9D93-F113676F3E81}"/>
              </a:ext>
            </a:extLst>
          </p:cNvPr>
          <p:cNvCxnSpPr>
            <a:cxnSpLocks/>
          </p:cNvCxnSpPr>
          <p:nvPr/>
        </p:nvCxnSpPr>
        <p:spPr>
          <a:xfrm>
            <a:off x="2411760" y="5824889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2945B09-A01C-4968-8C25-E2484505F346}"/>
              </a:ext>
            </a:extLst>
          </p:cNvPr>
          <p:cNvCxnSpPr>
            <a:cxnSpLocks/>
          </p:cNvCxnSpPr>
          <p:nvPr/>
        </p:nvCxnSpPr>
        <p:spPr>
          <a:xfrm>
            <a:off x="971600" y="6265614"/>
            <a:ext cx="86409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8CAD6B46-0EDB-440B-B2CE-381414643732}"/>
              </a:ext>
            </a:extLst>
          </p:cNvPr>
          <p:cNvCxnSpPr>
            <a:cxnSpLocks/>
          </p:cNvCxnSpPr>
          <p:nvPr/>
        </p:nvCxnSpPr>
        <p:spPr>
          <a:xfrm>
            <a:off x="2061080" y="6266615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076CDA1-6802-4E68-BBAD-53F954F84C1E}"/>
              </a:ext>
            </a:extLst>
          </p:cNvPr>
          <p:cNvCxnSpPr>
            <a:cxnSpLocks/>
          </p:cNvCxnSpPr>
          <p:nvPr/>
        </p:nvCxnSpPr>
        <p:spPr>
          <a:xfrm>
            <a:off x="2955177" y="6268101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3935866E-1B36-4833-A1D2-DC2B44CD6B9D}"/>
              </a:ext>
            </a:extLst>
          </p:cNvPr>
          <p:cNvCxnSpPr/>
          <p:nvPr/>
        </p:nvCxnSpPr>
        <p:spPr>
          <a:xfrm flipH="1">
            <a:off x="5856422" y="4799317"/>
            <a:ext cx="504056" cy="50627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BAB082D-C559-43D9-9BEB-A32214227A08}"/>
              </a:ext>
            </a:extLst>
          </p:cNvPr>
          <p:cNvSpPr txBox="1"/>
          <p:nvPr/>
        </p:nvSpPr>
        <p:spPr>
          <a:xfrm>
            <a:off x="5711302" y="3807094"/>
            <a:ext cx="3384375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在這篇論文用</a:t>
            </a:r>
            <a:r>
              <a:rPr lang="en-US" altLang="zh-TW" dirty="0"/>
              <a:t>sigmoid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也可改用</a:t>
            </a:r>
            <a:r>
              <a:rPr lang="en-US" altLang="zh-TW" dirty="0" err="1"/>
              <a:t>relu</a:t>
            </a:r>
            <a:r>
              <a:rPr lang="zh-TW" altLang="en-US" dirty="0"/>
              <a:t>、</a:t>
            </a:r>
            <a:r>
              <a:rPr lang="en-US" altLang="zh-TW" dirty="0"/>
              <a:t>tanh</a:t>
            </a:r>
            <a:r>
              <a:rPr lang="zh-TW" altLang="en-US" dirty="0"/>
              <a:t>等</a:t>
            </a:r>
            <a:r>
              <a:rPr lang="en-US" altLang="zh-TW" dirty="0"/>
              <a:t>activation function)</a:t>
            </a:r>
            <a:r>
              <a:rPr lang="zh-TW" altLang="en-US" dirty="0"/>
              <a:t>，</a:t>
            </a:r>
            <a:r>
              <a:rPr lang="en-US" altLang="zh-TW" dirty="0" err="1"/>
              <a:t>keras</a:t>
            </a:r>
            <a:r>
              <a:rPr lang="zh-TW" altLang="en-US" dirty="0"/>
              <a:t>預設是採</a:t>
            </a:r>
            <a:r>
              <a:rPr lang="en-US" altLang="zh-TW" dirty="0" err="1"/>
              <a:t>relu</a:t>
            </a:r>
            <a:r>
              <a:rPr lang="zh-TW" altLang="en-US" dirty="0"/>
              <a:t>。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079D7B1-25ED-476C-A535-6DBB698B63EC}"/>
              </a:ext>
            </a:extLst>
          </p:cNvPr>
          <p:cNvSpPr txBox="1"/>
          <p:nvPr/>
        </p:nvSpPr>
        <p:spPr>
          <a:xfrm flipH="1">
            <a:off x="5292080" y="5316364"/>
            <a:ext cx="864096" cy="498192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zh-TW" altLang="en-US"/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B60F5514-37D7-4D70-B0E8-3C617821A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5115" y="5952360"/>
            <a:ext cx="1990725" cy="257175"/>
          </a:xfrm>
          <a:prstGeom prst="rect">
            <a:avLst/>
          </a:prstGeom>
        </p:spPr>
      </p:pic>
      <p:sp>
        <p:nvSpPr>
          <p:cNvPr id="34" name="文字方塊 33">
            <a:extLst>
              <a:ext uri="{FF2B5EF4-FFF2-40B4-BE49-F238E27FC236}">
                <a16:creationId xmlns:a16="http://schemas.microsoft.com/office/drawing/2014/main" id="{AFACC38B-229E-41FB-A0F2-16B1A5FAA454}"/>
              </a:ext>
            </a:extLst>
          </p:cNvPr>
          <p:cNvSpPr txBox="1"/>
          <p:nvPr/>
        </p:nvSpPr>
        <p:spPr>
          <a:xfrm>
            <a:off x="4535601" y="589628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同理，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Forward Propagation(1/2)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597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0205CD4-6F8E-49C6-ADE5-4C5CF27D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82" y="5535399"/>
            <a:ext cx="5789787" cy="80898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48B7B36-814E-4E40-B529-D797A98E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4" y="422145"/>
            <a:ext cx="6192688" cy="4938954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1996530A-5B46-4337-9F61-1F622EC4853A}"/>
              </a:ext>
            </a:extLst>
          </p:cNvPr>
          <p:cNvCxnSpPr/>
          <p:nvPr/>
        </p:nvCxnSpPr>
        <p:spPr>
          <a:xfrm>
            <a:off x="3143048" y="1052736"/>
            <a:ext cx="148287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6EB9FD77-DEFE-45AF-8B45-9C71A3E549F5}"/>
              </a:ext>
            </a:extLst>
          </p:cNvPr>
          <p:cNvCxnSpPr>
            <a:cxnSpLocks/>
          </p:cNvCxnSpPr>
          <p:nvPr/>
        </p:nvCxnSpPr>
        <p:spPr>
          <a:xfrm>
            <a:off x="3143048" y="1090247"/>
            <a:ext cx="1554886" cy="184878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B26C264-B5C6-4A1F-9BE0-7BE8144D58A2}"/>
              </a:ext>
            </a:extLst>
          </p:cNvPr>
          <p:cNvCxnSpPr>
            <a:cxnSpLocks/>
          </p:cNvCxnSpPr>
          <p:nvPr/>
        </p:nvCxnSpPr>
        <p:spPr>
          <a:xfrm flipV="1">
            <a:off x="3070558" y="1099272"/>
            <a:ext cx="1598190" cy="370421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BBCBEA71-0702-47BD-B9DA-F6BAF6F0CA71}"/>
              </a:ext>
            </a:extLst>
          </p:cNvPr>
          <p:cNvCxnSpPr>
            <a:cxnSpLocks/>
          </p:cNvCxnSpPr>
          <p:nvPr/>
        </p:nvCxnSpPr>
        <p:spPr>
          <a:xfrm>
            <a:off x="877654" y="5805264"/>
            <a:ext cx="81402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29557A1-3860-4A47-BAA3-9F451B2C6B96}"/>
              </a:ext>
            </a:extLst>
          </p:cNvPr>
          <p:cNvCxnSpPr>
            <a:cxnSpLocks/>
          </p:cNvCxnSpPr>
          <p:nvPr/>
        </p:nvCxnSpPr>
        <p:spPr>
          <a:xfrm>
            <a:off x="2517714" y="6233272"/>
            <a:ext cx="1353401" cy="404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6983684-3789-4035-9D93-F113676F3E81}"/>
              </a:ext>
            </a:extLst>
          </p:cNvPr>
          <p:cNvCxnSpPr>
            <a:cxnSpLocks/>
          </p:cNvCxnSpPr>
          <p:nvPr/>
        </p:nvCxnSpPr>
        <p:spPr>
          <a:xfrm>
            <a:off x="4077040" y="6233272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2945B09-A01C-4968-8C25-E2484505F346}"/>
              </a:ext>
            </a:extLst>
          </p:cNvPr>
          <p:cNvCxnSpPr>
            <a:cxnSpLocks/>
          </p:cNvCxnSpPr>
          <p:nvPr/>
        </p:nvCxnSpPr>
        <p:spPr>
          <a:xfrm>
            <a:off x="877654" y="6237312"/>
            <a:ext cx="131808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8CAD6B46-0EDB-440B-B2CE-381414643732}"/>
              </a:ext>
            </a:extLst>
          </p:cNvPr>
          <p:cNvCxnSpPr>
            <a:cxnSpLocks/>
          </p:cNvCxnSpPr>
          <p:nvPr/>
        </p:nvCxnSpPr>
        <p:spPr>
          <a:xfrm>
            <a:off x="1907704" y="5797185"/>
            <a:ext cx="79208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4076CDA1-6802-4E68-BBAD-53F954F84C1E}"/>
              </a:ext>
            </a:extLst>
          </p:cNvPr>
          <p:cNvCxnSpPr>
            <a:cxnSpLocks/>
          </p:cNvCxnSpPr>
          <p:nvPr/>
        </p:nvCxnSpPr>
        <p:spPr>
          <a:xfrm>
            <a:off x="2857966" y="5797185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3935866E-1B36-4833-A1D2-DC2B44CD6B9D}"/>
              </a:ext>
            </a:extLst>
          </p:cNvPr>
          <p:cNvCxnSpPr/>
          <p:nvPr/>
        </p:nvCxnSpPr>
        <p:spPr>
          <a:xfrm flipH="1">
            <a:off x="5892941" y="4617350"/>
            <a:ext cx="504056" cy="506270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BAB082D-C559-43D9-9BEB-A32214227A08}"/>
              </a:ext>
            </a:extLst>
          </p:cNvPr>
          <p:cNvSpPr txBox="1"/>
          <p:nvPr/>
        </p:nvSpPr>
        <p:spPr>
          <a:xfrm>
            <a:off x="5712921" y="3662974"/>
            <a:ext cx="3384375" cy="9233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在這篇論文用</a:t>
            </a:r>
            <a:r>
              <a:rPr lang="en-US" altLang="zh-TW" dirty="0"/>
              <a:t>sigmoid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也可改用</a:t>
            </a:r>
            <a:r>
              <a:rPr lang="en-US" altLang="zh-TW" dirty="0" err="1"/>
              <a:t>relu</a:t>
            </a:r>
            <a:r>
              <a:rPr lang="zh-TW" altLang="en-US" dirty="0"/>
              <a:t>、</a:t>
            </a:r>
            <a:r>
              <a:rPr lang="en-US" altLang="zh-TW" dirty="0"/>
              <a:t>tanh</a:t>
            </a:r>
            <a:r>
              <a:rPr lang="zh-TW" altLang="en-US" dirty="0"/>
              <a:t>等</a:t>
            </a:r>
            <a:r>
              <a:rPr lang="en-US" altLang="zh-TW" dirty="0"/>
              <a:t>activation function)</a:t>
            </a:r>
            <a:r>
              <a:rPr lang="zh-TW" altLang="en-US" dirty="0"/>
              <a:t>，</a:t>
            </a:r>
            <a:r>
              <a:rPr lang="en-US" altLang="zh-TW" dirty="0" err="1"/>
              <a:t>keras</a:t>
            </a:r>
            <a:r>
              <a:rPr lang="zh-TW" altLang="en-US" dirty="0"/>
              <a:t>預設是採</a:t>
            </a:r>
            <a:r>
              <a:rPr lang="en-US" altLang="zh-TW" dirty="0" err="1"/>
              <a:t>relu</a:t>
            </a:r>
            <a:r>
              <a:rPr lang="zh-TW" altLang="en-US" dirty="0"/>
              <a:t>。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3D4630F-55BD-48D5-943F-D8B3323C5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377" y="5191610"/>
            <a:ext cx="4652919" cy="485522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4079D7B1-25ED-476C-A535-6DBB698B63EC}"/>
              </a:ext>
            </a:extLst>
          </p:cNvPr>
          <p:cNvSpPr txBox="1"/>
          <p:nvPr/>
        </p:nvSpPr>
        <p:spPr>
          <a:xfrm flipH="1">
            <a:off x="5280873" y="5191610"/>
            <a:ext cx="864096" cy="498192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0719159-36B0-4C23-9680-330BEFB78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5212" y="6233272"/>
            <a:ext cx="2105025" cy="381000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AB1D2B7C-75E7-43E0-902E-A7AC08BE915F}"/>
              </a:ext>
            </a:extLst>
          </p:cNvPr>
          <p:cNvSpPr txBox="1"/>
          <p:nvPr/>
        </p:nvSpPr>
        <p:spPr>
          <a:xfrm>
            <a:off x="4478668" y="623327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同理，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83FBEC4-3411-4B77-94BB-83DD0FC2868B}"/>
              </a:ext>
            </a:extLst>
          </p:cNvPr>
          <p:cNvSpPr/>
          <p:nvPr/>
        </p:nvSpPr>
        <p:spPr>
          <a:xfrm>
            <a:off x="284884" y="175473"/>
            <a:ext cx="2813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Forward Propagation(2/2)</a:t>
            </a:r>
            <a:endParaRPr lang="zh-TW" altLang="en-US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944581E-D4D1-4E31-8CC9-3EC804549E58}"/>
              </a:ext>
            </a:extLst>
          </p:cNvPr>
          <p:cNvSpPr/>
          <p:nvPr/>
        </p:nvSpPr>
        <p:spPr>
          <a:xfrm>
            <a:off x="5275212" y="1340768"/>
            <a:ext cx="520923" cy="43204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B77D1751-8913-4C35-873C-C3003FD874D7}"/>
              </a:ext>
            </a:extLst>
          </p:cNvPr>
          <p:cNvSpPr/>
          <p:nvPr/>
        </p:nvSpPr>
        <p:spPr>
          <a:xfrm>
            <a:off x="5254207" y="3195026"/>
            <a:ext cx="520923" cy="43204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07558977-1936-415E-AFDF-F7D352FB962A}"/>
              </a:ext>
            </a:extLst>
          </p:cNvPr>
          <p:cNvSpPr/>
          <p:nvPr/>
        </p:nvSpPr>
        <p:spPr>
          <a:xfrm>
            <a:off x="7884368" y="5145075"/>
            <a:ext cx="1212928" cy="43204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382CEA77-0067-458F-8190-A91F63471037}"/>
              </a:ext>
            </a:extLst>
          </p:cNvPr>
          <p:cNvSpPr/>
          <p:nvPr/>
        </p:nvSpPr>
        <p:spPr>
          <a:xfrm>
            <a:off x="6053566" y="6133342"/>
            <a:ext cx="1307377" cy="43204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81481060-722F-4086-B843-D35D9FABE5E0}"/>
              </a:ext>
            </a:extLst>
          </p:cNvPr>
          <p:cNvCxnSpPr>
            <a:cxnSpLocks/>
          </p:cNvCxnSpPr>
          <p:nvPr/>
        </p:nvCxnSpPr>
        <p:spPr>
          <a:xfrm flipH="1" flipV="1">
            <a:off x="5821515" y="1602773"/>
            <a:ext cx="1270765" cy="68077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14CC7346-CD67-49C8-A1CB-0E8EB717A631}"/>
              </a:ext>
            </a:extLst>
          </p:cNvPr>
          <p:cNvCxnSpPr>
            <a:cxnSpLocks/>
          </p:cNvCxnSpPr>
          <p:nvPr/>
        </p:nvCxnSpPr>
        <p:spPr>
          <a:xfrm flipH="1">
            <a:off x="5814139" y="2302152"/>
            <a:ext cx="1278141" cy="104478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02432340-A515-4CB7-B715-9DACF70A9F38}"/>
              </a:ext>
            </a:extLst>
          </p:cNvPr>
          <p:cNvCxnSpPr>
            <a:cxnSpLocks/>
          </p:cNvCxnSpPr>
          <p:nvPr/>
        </p:nvCxnSpPr>
        <p:spPr>
          <a:xfrm flipH="1">
            <a:off x="6647884" y="2319452"/>
            <a:ext cx="428004" cy="381389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8181DD46-81BA-486C-9354-036EB182A4A5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7092280" y="2283552"/>
            <a:ext cx="1398552" cy="286152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8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0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CDA292C-96E1-4114-A141-65EFCD000EDB}"/>
              </a:ext>
            </a:extLst>
          </p:cNvPr>
          <p:cNvSpPr txBox="1"/>
          <p:nvPr/>
        </p:nvSpPr>
        <p:spPr>
          <a:xfrm>
            <a:off x="971600" y="1412776"/>
            <a:ext cx="62646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/>
              <a:t>步驟</a:t>
            </a:r>
            <a:r>
              <a:rPr lang="en-US" altLang="zh-TW" sz="2800" dirty="0"/>
              <a:t>:</a:t>
            </a:r>
          </a:p>
          <a:p>
            <a:endParaRPr lang="en-US" altLang="zh-TW" sz="2800" dirty="0"/>
          </a:p>
          <a:p>
            <a:r>
              <a:rPr lang="en-US" altLang="zh-TW" sz="2800" dirty="0"/>
              <a:t>1.</a:t>
            </a:r>
            <a:r>
              <a:rPr lang="zh-TW" altLang="en-US" sz="2800" dirty="0"/>
              <a:t>計算總誤差</a:t>
            </a:r>
            <a:endParaRPr lang="en-US" altLang="zh-TW" sz="2800" dirty="0"/>
          </a:p>
          <a:p>
            <a:r>
              <a:rPr lang="en-US" altLang="zh-TW" sz="2800" dirty="0"/>
              <a:t>2.Hidden layer</a:t>
            </a:r>
            <a:r>
              <a:rPr lang="zh-TW" altLang="en-US" sz="2800" dirty="0"/>
              <a:t>到</a:t>
            </a:r>
            <a:r>
              <a:rPr lang="en-US" altLang="zh-TW" sz="2800" dirty="0"/>
              <a:t>output layer</a:t>
            </a:r>
            <a:r>
              <a:rPr lang="zh-TW" altLang="en-US" sz="2800" dirty="0"/>
              <a:t>權重的更新</a:t>
            </a:r>
            <a:endParaRPr lang="en-US" altLang="zh-TW" sz="2800" dirty="0"/>
          </a:p>
          <a:p>
            <a:r>
              <a:rPr lang="en-US" altLang="zh-TW" sz="2800" dirty="0"/>
              <a:t>3.Hidden layer</a:t>
            </a:r>
            <a:r>
              <a:rPr lang="zh-TW" altLang="en-US" sz="2800" dirty="0"/>
              <a:t>到</a:t>
            </a:r>
            <a:r>
              <a:rPr lang="en-US" altLang="zh-TW" sz="2800" dirty="0"/>
              <a:t>hidden layer</a:t>
            </a:r>
            <a:r>
              <a:rPr lang="zh-TW" altLang="en-US" sz="2800" dirty="0"/>
              <a:t>權重的更新</a:t>
            </a:r>
            <a:endParaRPr lang="en-US" altLang="zh-TW" sz="2800" dirty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9378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D9D3F7E-9D38-43C8-AFFC-275A1423A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58" y="1569157"/>
            <a:ext cx="3476625" cy="56197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3470EBD-7C73-41CA-8EDF-9FDF3D280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43" y="2211952"/>
            <a:ext cx="6972300" cy="5905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7EC3E20-031F-4B31-A5CC-8C7495BD7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43" y="2710451"/>
            <a:ext cx="1876425" cy="4476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BCBABE0-681E-45CF-B544-EE2B5FA8F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658" y="3319766"/>
            <a:ext cx="6219825" cy="381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1513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計算總誤差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5812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8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2.Hidden layer</a:t>
            </a:r>
            <a:r>
              <a:rPr lang="zh-TW" altLang="en-US" dirty="0"/>
              <a:t>到</a:t>
            </a:r>
            <a:r>
              <a:rPr lang="en-US" altLang="zh-TW" dirty="0"/>
              <a:t>output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D26970-9CE8-4C38-B10A-6EEC8523C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844824"/>
            <a:ext cx="4295775" cy="79057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B724F4C-6E12-4DBD-94CB-D477AA0B9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492896"/>
            <a:ext cx="6467475" cy="306705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E0E6BB4-976D-45CC-9D86-22D186F34936}"/>
              </a:ext>
            </a:extLst>
          </p:cNvPr>
          <p:cNvSpPr txBox="1"/>
          <p:nvPr/>
        </p:nvSpPr>
        <p:spPr>
          <a:xfrm>
            <a:off x="1231498" y="618413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分別計算</a:t>
            </a:r>
            <a:r>
              <a:rPr lang="en-US" altLang="zh-TW" dirty="0"/>
              <a:t>: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6E17E40-BA4A-49D2-AE30-47BD1C692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9987" y="6133725"/>
            <a:ext cx="609600" cy="4953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AC976C1-2095-475E-97A0-B207BB576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260" y="6029591"/>
            <a:ext cx="676275" cy="5238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8E21947-0D2B-4D6C-A72C-AEBB38A40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6330" y="6031362"/>
            <a:ext cx="647700" cy="523875"/>
          </a:xfrm>
          <a:prstGeom prst="rect">
            <a:avLst/>
          </a:prstGeom>
        </p:spPr>
      </p:pic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DAD9D5C-B153-4A10-BE21-682962E760B3}"/>
              </a:ext>
            </a:extLst>
          </p:cNvPr>
          <p:cNvCxnSpPr>
            <a:cxnSpLocks/>
          </p:cNvCxnSpPr>
          <p:nvPr/>
        </p:nvCxnSpPr>
        <p:spPr>
          <a:xfrm>
            <a:off x="2676170" y="6553466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A7EA1AC-39CB-429C-A5CD-7806A3FA63F1}"/>
              </a:ext>
            </a:extLst>
          </p:cNvPr>
          <p:cNvCxnSpPr>
            <a:cxnSpLocks/>
          </p:cNvCxnSpPr>
          <p:nvPr/>
        </p:nvCxnSpPr>
        <p:spPr>
          <a:xfrm>
            <a:off x="3396250" y="6545387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2C7FF50-7A9A-46F9-9834-2A7CA17A9E30}"/>
              </a:ext>
            </a:extLst>
          </p:cNvPr>
          <p:cNvCxnSpPr>
            <a:cxnSpLocks/>
          </p:cNvCxnSpPr>
          <p:nvPr/>
        </p:nvCxnSpPr>
        <p:spPr>
          <a:xfrm>
            <a:off x="4116330" y="6555719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CBFECB5-E690-4E12-935A-5D0516CF0C72}"/>
              </a:ext>
            </a:extLst>
          </p:cNvPr>
          <p:cNvCxnSpPr>
            <a:cxnSpLocks/>
          </p:cNvCxnSpPr>
          <p:nvPr/>
        </p:nvCxnSpPr>
        <p:spPr>
          <a:xfrm>
            <a:off x="2588423" y="2490643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40FAA23-122D-4AE3-B471-1C2D8F44BA6C}"/>
              </a:ext>
            </a:extLst>
          </p:cNvPr>
          <p:cNvCxnSpPr>
            <a:cxnSpLocks/>
          </p:cNvCxnSpPr>
          <p:nvPr/>
        </p:nvCxnSpPr>
        <p:spPr>
          <a:xfrm flipV="1">
            <a:off x="3563888" y="2482564"/>
            <a:ext cx="743616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1270CED7-C7BF-40F6-847D-A35F6AC2AF2D}"/>
              </a:ext>
            </a:extLst>
          </p:cNvPr>
          <p:cNvCxnSpPr>
            <a:cxnSpLocks/>
          </p:cNvCxnSpPr>
          <p:nvPr/>
        </p:nvCxnSpPr>
        <p:spPr>
          <a:xfrm>
            <a:off x="4659747" y="2482564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42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8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2.Hidden layer</a:t>
            </a:r>
            <a:r>
              <a:rPr lang="zh-TW" altLang="en-US" dirty="0"/>
              <a:t>到</a:t>
            </a:r>
            <a:r>
              <a:rPr lang="en-US" altLang="zh-TW" dirty="0"/>
              <a:t>output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CB811E-4AF2-4BD4-B848-CF6A289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467475" cy="3067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1838F4-2BB9-4596-83C5-A2BEA069BD85}"/>
              </a:ext>
            </a:extLst>
          </p:cNvPr>
          <p:cNvSpPr/>
          <p:nvPr/>
        </p:nvSpPr>
        <p:spPr>
          <a:xfrm>
            <a:off x="971600" y="488608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計算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97CD9F4-1E07-4D6B-8C59-3D35F4F61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931" y="4760118"/>
            <a:ext cx="609600" cy="495300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BBB8B547-56DD-42B6-A08E-CB7EF1E87E2D}"/>
              </a:ext>
            </a:extLst>
          </p:cNvPr>
          <p:cNvCxnSpPr>
            <a:cxnSpLocks/>
          </p:cNvCxnSpPr>
          <p:nvPr/>
        </p:nvCxnSpPr>
        <p:spPr>
          <a:xfrm>
            <a:off x="1684114" y="5179859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>
            <a:extLst>
              <a:ext uri="{FF2B5EF4-FFF2-40B4-BE49-F238E27FC236}">
                <a16:creationId xmlns:a16="http://schemas.microsoft.com/office/drawing/2014/main" id="{9D36FD99-E1C2-4AB8-8356-C042088CF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68" y="5006904"/>
            <a:ext cx="59531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596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8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2.Hidden layer</a:t>
            </a:r>
            <a:r>
              <a:rPr lang="zh-TW" altLang="en-US" dirty="0"/>
              <a:t>到</a:t>
            </a:r>
            <a:r>
              <a:rPr lang="en-US" altLang="zh-TW" dirty="0"/>
              <a:t>output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CB811E-4AF2-4BD4-B848-CF6A289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467475" cy="3067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1838F4-2BB9-4596-83C5-A2BEA069BD85}"/>
              </a:ext>
            </a:extLst>
          </p:cNvPr>
          <p:cNvSpPr/>
          <p:nvPr/>
        </p:nvSpPr>
        <p:spPr>
          <a:xfrm>
            <a:off x="971600" y="488608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計算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56E1DE3-F570-4DE0-991D-B943CC431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931" y="4695850"/>
            <a:ext cx="676275" cy="523875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6612A82-3B95-4899-A6FA-E1D54CA70397}"/>
              </a:ext>
            </a:extLst>
          </p:cNvPr>
          <p:cNvCxnSpPr>
            <a:cxnSpLocks/>
          </p:cNvCxnSpPr>
          <p:nvPr/>
        </p:nvCxnSpPr>
        <p:spPr>
          <a:xfrm>
            <a:off x="1653921" y="5211646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>
            <a:extLst>
              <a:ext uri="{FF2B5EF4-FFF2-40B4-BE49-F238E27FC236}">
                <a16:creationId xmlns:a16="http://schemas.microsoft.com/office/drawing/2014/main" id="{B9D5631E-7B30-4286-BB37-ED7D45478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4968581"/>
            <a:ext cx="6000750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60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8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2.Hidden layer</a:t>
            </a:r>
            <a:r>
              <a:rPr lang="zh-TW" altLang="en-US" dirty="0"/>
              <a:t>到</a:t>
            </a:r>
            <a:r>
              <a:rPr lang="en-US" altLang="zh-TW" dirty="0"/>
              <a:t>output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CB811E-4AF2-4BD4-B848-CF6A289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467475" cy="3067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1838F4-2BB9-4596-83C5-A2BEA069BD85}"/>
              </a:ext>
            </a:extLst>
          </p:cNvPr>
          <p:cNvSpPr/>
          <p:nvPr/>
        </p:nvSpPr>
        <p:spPr>
          <a:xfrm>
            <a:off x="971600" y="4886086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計算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C41EDDB-69E4-4008-BCE8-4783F12FF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931" y="4688005"/>
            <a:ext cx="647700" cy="523875"/>
          </a:xfrm>
          <a:prstGeom prst="rect">
            <a:avLst/>
          </a:prstGeom>
        </p:spPr>
      </p:pic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1A2AAB7-6507-4DCD-B471-2042C0250217}"/>
              </a:ext>
            </a:extLst>
          </p:cNvPr>
          <p:cNvCxnSpPr>
            <a:cxnSpLocks/>
          </p:cNvCxnSpPr>
          <p:nvPr/>
        </p:nvCxnSpPr>
        <p:spPr>
          <a:xfrm>
            <a:off x="1617931" y="5212362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>
            <a:extLst>
              <a:ext uri="{FF2B5EF4-FFF2-40B4-BE49-F238E27FC236}">
                <a16:creationId xmlns:a16="http://schemas.microsoft.com/office/drawing/2014/main" id="{5E720C0F-22AD-4753-AC35-C3E34046C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4949942"/>
            <a:ext cx="518160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8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8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2.Hidden layer</a:t>
            </a:r>
            <a:r>
              <a:rPr lang="zh-TW" altLang="en-US" dirty="0"/>
              <a:t>到</a:t>
            </a:r>
            <a:r>
              <a:rPr lang="en-US" altLang="zh-TW" dirty="0"/>
              <a:t>output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CB811E-4AF2-4BD4-B848-CF6A289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467475" cy="3067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1838F4-2BB9-4596-83C5-A2BEA069BD85}"/>
              </a:ext>
            </a:extLst>
          </p:cNvPr>
          <p:cNvSpPr/>
          <p:nvPr/>
        </p:nvSpPr>
        <p:spPr>
          <a:xfrm>
            <a:off x="971600" y="488608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三者相乘，得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3620945-24C2-4CE8-8D28-516F765D9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88" y="5229200"/>
            <a:ext cx="55721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951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817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2.Hidden layer</a:t>
            </a:r>
            <a:r>
              <a:rPr lang="zh-TW" altLang="en-US" dirty="0"/>
              <a:t>到</a:t>
            </a:r>
            <a:r>
              <a:rPr lang="en-US" altLang="zh-TW" dirty="0"/>
              <a:t>output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ECB811E-4AF2-4BD4-B848-CF6A289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628800"/>
            <a:ext cx="6467475" cy="30670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21838F4-2BB9-4596-83C5-A2BEA069BD85}"/>
              </a:ext>
            </a:extLst>
          </p:cNvPr>
          <p:cNvSpPr/>
          <p:nvPr/>
        </p:nvSpPr>
        <p:spPr>
          <a:xfrm>
            <a:off x="971600" y="4886086"/>
            <a:ext cx="39453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最後，我們更新</a:t>
            </a:r>
            <a:r>
              <a:rPr lang="en-US" altLang="zh-TW" dirty="0"/>
              <a:t>W5</a:t>
            </a:r>
            <a:r>
              <a:rPr lang="zh-TW" altLang="en-US" dirty="0"/>
              <a:t>的值，以</a:t>
            </a:r>
            <a:r>
              <a:rPr lang="en-US" altLang="zh-TW" dirty="0"/>
              <a:t>W5+</a:t>
            </a:r>
            <a:r>
              <a:rPr lang="zh-TW" altLang="en-US" dirty="0"/>
              <a:t>表示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D54020-F1D1-4D53-89E2-841B6B1A3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5289465"/>
            <a:ext cx="6619875" cy="44767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34F3E20-41F4-496C-89FB-D76A3E5E776D}"/>
              </a:ext>
            </a:extLst>
          </p:cNvPr>
          <p:cNvSpPr/>
          <p:nvPr/>
        </p:nvSpPr>
        <p:spPr>
          <a:xfrm>
            <a:off x="969504" y="5783556"/>
            <a:ext cx="4310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其中，學習速率可自行設定</a:t>
            </a:r>
            <a:r>
              <a:rPr lang="en-US" altLang="zh-TW" dirty="0"/>
              <a:t>(</a:t>
            </a:r>
            <a:r>
              <a:rPr lang="zh-TW" altLang="en-US" dirty="0"/>
              <a:t>此設為</a:t>
            </a:r>
            <a:r>
              <a:rPr lang="en-US" altLang="zh-TW" dirty="0"/>
              <a:t>0.5)</a:t>
            </a:r>
            <a:r>
              <a:rPr lang="zh-TW" altLang="en-US" dirty="0"/>
              <a:t>，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52F9683-081E-4991-BB10-5A0A6621E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634" y="5205231"/>
            <a:ext cx="1505972" cy="127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6C38D30-7C7C-488D-BD9A-920C432C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72691"/>
            <a:ext cx="5638800" cy="4667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96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3.Hidden layer</a:t>
            </a:r>
            <a:r>
              <a:rPr lang="zh-TW" altLang="en-US" dirty="0"/>
              <a:t>到</a:t>
            </a:r>
            <a:r>
              <a:rPr lang="en-US" altLang="zh-TW" dirty="0"/>
              <a:t>hidden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E0E6BB4-976D-45CC-9D86-22D186F34936}"/>
              </a:ext>
            </a:extLst>
          </p:cNvPr>
          <p:cNvSpPr txBox="1"/>
          <p:nvPr/>
        </p:nvSpPr>
        <p:spPr>
          <a:xfrm>
            <a:off x="1231498" y="618413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分別計算</a:t>
            </a:r>
            <a:r>
              <a:rPr lang="en-US" altLang="zh-TW" dirty="0"/>
              <a:t>:</a:t>
            </a:r>
            <a:endParaRPr lang="zh-TW" alt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DAD9D5C-B153-4A10-BE21-682962E760B3}"/>
              </a:ext>
            </a:extLst>
          </p:cNvPr>
          <p:cNvCxnSpPr>
            <a:cxnSpLocks/>
          </p:cNvCxnSpPr>
          <p:nvPr/>
        </p:nvCxnSpPr>
        <p:spPr>
          <a:xfrm>
            <a:off x="2676170" y="6553466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A7EA1AC-39CB-429C-A5CD-7806A3FA63F1}"/>
              </a:ext>
            </a:extLst>
          </p:cNvPr>
          <p:cNvCxnSpPr>
            <a:cxnSpLocks/>
          </p:cNvCxnSpPr>
          <p:nvPr/>
        </p:nvCxnSpPr>
        <p:spPr>
          <a:xfrm>
            <a:off x="3396250" y="6545387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2C7FF50-7A9A-46F9-9834-2A7CA17A9E30}"/>
              </a:ext>
            </a:extLst>
          </p:cNvPr>
          <p:cNvCxnSpPr>
            <a:cxnSpLocks/>
          </p:cNvCxnSpPr>
          <p:nvPr/>
        </p:nvCxnSpPr>
        <p:spPr>
          <a:xfrm>
            <a:off x="4116330" y="6555719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CBFECB5-E690-4E12-935A-5D0516CF0C72}"/>
              </a:ext>
            </a:extLst>
          </p:cNvPr>
          <p:cNvCxnSpPr>
            <a:cxnSpLocks/>
          </p:cNvCxnSpPr>
          <p:nvPr/>
        </p:nvCxnSpPr>
        <p:spPr>
          <a:xfrm>
            <a:off x="3059832" y="1844824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40FAA23-122D-4AE3-B471-1C2D8F44BA6C}"/>
              </a:ext>
            </a:extLst>
          </p:cNvPr>
          <p:cNvCxnSpPr>
            <a:cxnSpLocks/>
          </p:cNvCxnSpPr>
          <p:nvPr/>
        </p:nvCxnSpPr>
        <p:spPr>
          <a:xfrm>
            <a:off x="3827713" y="1879872"/>
            <a:ext cx="560325" cy="519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1270CED7-C7BF-40F6-847D-A35F6AC2AF2D}"/>
              </a:ext>
            </a:extLst>
          </p:cNvPr>
          <p:cNvCxnSpPr>
            <a:cxnSpLocks/>
          </p:cNvCxnSpPr>
          <p:nvPr/>
        </p:nvCxnSpPr>
        <p:spPr>
          <a:xfrm>
            <a:off x="4592666" y="1879872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868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5EA0133-0CBB-461E-8379-4187525EF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36" b="-7057"/>
          <a:stretch/>
        </p:blipFill>
        <p:spPr>
          <a:xfrm>
            <a:off x="6847122" y="1586639"/>
            <a:ext cx="640457" cy="54044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56C38D30-7C7C-488D-BD9A-920C432C26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574"/>
          <a:stretch/>
        </p:blipFill>
        <p:spPr>
          <a:xfrm>
            <a:off x="436684" y="1327271"/>
            <a:ext cx="4999411" cy="3162498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96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3.Hidden layer</a:t>
            </a:r>
            <a:r>
              <a:rPr lang="zh-TW" altLang="en-US" dirty="0"/>
              <a:t>到</a:t>
            </a:r>
            <a:r>
              <a:rPr lang="en-US" altLang="zh-TW" dirty="0"/>
              <a:t>hidden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E0E6BB4-976D-45CC-9D86-22D186F34936}"/>
              </a:ext>
            </a:extLst>
          </p:cNvPr>
          <p:cNvSpPr txBox="1"/>
          <p:nvPr/>
        </p:nvSpPr>
        <p:spPr>
          <a:xfrm>
            <a:off x="6156176" y="1672196"/>
            <a:ext cx="892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計算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8DAD9D5C-B153-4A10-BE21-682962E760B3}"/>
              </a:ext>
            </a:extLst>
          </p:cNvPr>
          <p:cNvCxnSpPr>
            <a:cxnSpLocks/>
          </p:cNvCxnSpPr>
          <p:nvPr/>
        </p:nvCxnSpPr>
        <p:spPr>
          <a:xfrm>
            <a:off x="6847069" y="2145278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99593A17-F174-4CF9-A056-C911511FD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700" y="2294576"/>
            <a:ext cx="2019300" cy="4667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2A4E6DD-6704-482C-A32E-C1648EBC0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4745197"/>
            <a:ext cx="3114675" cy="6858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70702AA-B14E-40E5-98E2-8445308850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713" y="5818756"/>
            <a:ext cx="2124075" cy="4857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DC57E5A-AD22-4269-9B6F-E3AB39C04A5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-7136" r="67423" b="-23493"/>
          <a:stretch/>
        </p:blipFill>
        <p:spPr>
          <a:xfrm>
            <a:off x="5639680" y="5271361"/>
            <a:ext cx="2156607" cy="592296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210DBE9F-84E5-468A-AC63-74BEAB80FAB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3066" t="-3887" b="-4427"/>
          <a:stretch/>
        </p:blipFill>
        <p:spPr>
          <a:xfrm>
            <a:off x="5769988" y="6103633"/>
            <a:ext cx="1003231" cy="485774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25BBBC5-D46E-4DF7-ABE8-511E6D4A95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6687" y="5814281"/>
            <a:ext cx="2981325" cy="40957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E0898CA9-36F2-4530-BB9E-BAD0866F155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2759" r="24987" b="-10786"/>
          <a:stretch/>
        </p:blipFill>
        <p:spPr>
          <a:xfrm>
            <a:off x="6142301" y="3897338"/>
            <a:ext cx="2414777" cy="369332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DACFE444-A372-4C3E-98CD-D2046DB8454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5659" t="13790" b="-1"/>
          <a:stretch/>
        </p:blipFill>
        <p:spPr>
          <a:xfrm>
            <a:off x="6156176" y="4300514"/>
            <a:ext cx="1391080" cy="287404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0D9A9634-09DC-4EDB-825A-253D932BA2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6176" y="3398984"/>
            <a:ext cx="1885950" cy="428625"/>
          </a:xfrm>
          <a:prstGeom prst="rect">
            <a:avLst/>
          </a:prstGeom>
        </p:spPr>
      </p:pic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FA06136-0816-491C-9936-A22B9D2DA807}"/>
              </a:ext>
            </a:extLst>
          </p:cNvPr>
          <p:cNvCxnSpPr>
            <a:cxnSpLocks/>
          </p:cNvCxnSpPr>
          <p:nvPr/>
        </p:nvCxnSpPr>
        <p:spPr>
          <a:xfrm>
            <a:off x="6935816" y="2753222"/>
            <a:ext cx="582778" cy="8079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A212E8C0-8908-45D1-90C3-53D067621108}"/>
              </a:ext>
            </a:extLst>
          </p:cNvPr>
          <p:cNvCxnSpPr>
            <a:cxnSpLocks/>
          </p:cNvCxnSpPr>
          <p:nvPr/>
        </p:nvCxnSpPr>
        <p:spPr>
          <a:xfrm>
            <a:off x="7612235" y="2753222"/>
            <a:ext cx="543417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7C233E36-5570-46FC-A605-CF4D32AA4E83}"/>
              </a:ext>
            </a:extLst>
          </p:cNvPr>
          <p:cNvCxnSpPr>
            <a:cxnSpLocks/>
          </p:cNvCxnSpPr>
          <p:nvPr/>
        </p:nvCxnSpPr>
        <p:spPr>
          <a:xfrm>
            <a:off x="6156176" y="2733318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0770D25D-870F-4A60-BCF0-484BC477ACB8}"/>
              </a:ext>
            </a:extLst>
          </p:cNvPr>
          <p:cNvCxnSpPr>
            <a:cxnSpLocks/>
          </p:cNvCxnSpPr>
          <p:nvPr/>
        </p:nvCxnSpPr>
        <p:spPr>
          <a:xfrm>
            <a:off x="6156176" y="3748170"/>
            <a:ext cx="446115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4A81DBB2-A844-4648-BEFE-9875D06A3A4F}"/>
              </a:ext>
            </a:extLst>
          </p:cNvPr>
          <p:cNvCxnSpPr>
            <a:cxnSpLocks/>
          </p:cNvCxnSpPr>
          <p:nvPr/>
        </p:nvCxnSpPr>
        <p:spPr>
          <a:xfrm>
            <a:off x="496480" y="5586925"/>
            <a:ext cx="543417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6A2659FB-EDD1-4F3F-96F3-B5DAC739CF93}"/>
              </a:ext>
            </a:extLst>
          </p:cNvPr>
          <p:cNvCxnSpPr>
            <a:cxnSpLocks/>
          </p:cNvCxnSpPr>
          <p:nvPr/>
        </p:nvCxnSpPr>
        <p:spPr>
          <a:xfrm>
            <a:off x="496479" y="5058920"/>
            <a:ext cx="543417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2C5C41F0-7A35-4687-8A5E-ABC408BEE229}"/>
              </a:ext>
            </a:extLst>
          </p:cNvPr>
          <p:cNvSpPr txBox="1"/>
          <p:nvPr/>
        </p:nvSpPr>
        <p:spPr>
          <a:xfrm>
            <a:off x="507977" y="586365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同理，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E1AD8E1F-C280-4C22-8CD7-1CD8CD9BCB5A}"/>
              </a:ext>
            </a:extLst>
          </p:cNvPr>
          <p:cNvSpPr txBox="1"/>
          <p:nvPr/>
        </p:nvSpPr>
        <p:spPr>
          <a:xfrm>
            <a:off x="4864375" y="53581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最後，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F5DEC3D-BFC9-4DA9-B1A2-6F9D438C80C5}"/>
              </a:ext>
            </a:extLst>
          </p:cNvPr>
          <p:cNvSpPr txBox="1"/>
          <p:nvPr/>
        </p:nvSpPr>
        <p:spPr>
          <a:xfrm>
            <a:off x="5508104" y="5764614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C032E782-9850-4F18-8456-BBD31E58F9C1}"/>
              </a:ext>
            </a:extLst>
          </p:cNvPr>
          <p:cNvSpPr txBox="1"/>
          <p:nvPr/>
        </p:nvSpPr>
        <p:spPr>
          <a:xfrm>
            <a:off x="5495960" y="613394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</a:t>
            </a:r>
            <a:endParaRPr lang="zh-TW" altLang="en-US" dirty="0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AA0C7A74-FD7E-4AA4-8EFB-633B5060FEF0}"/>
              </a:ext>
            </a:extLst>
          </p:cNvPr>
          <p:cNvCxnSpPr>
            <a:cxnSpLocks/>
          </p:cNvCxnSpPr>
          <p:nvPr/>
        </p:nvCxnSpPr>
        <p:spPr>
          <a:xfrm>
            <a:off x="6553207" y="5765381"/>
            <a:ext cx="582778" cy="8079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5B57C7C3-7F43-4DA4-AF38-E73079D3EF1C}"/>
              </a:ext>
            </a:extLst>
          </p:cNvPr>
          <p:cNvCxnSpPr>
            <a:cxnSpLocks/>
          </p:cNvCxnSpPr>
          <p:nvPr/>
        </p:nvCxnSpPr>
        <p:spPr>
          <a:xfrm>
            <a:off x="7229626" y="5765381"/>
            <a:ext cx="543417" cy="0"/>
          </a:xfrm>
          <a:prstGeom prst="line">
            <a:avLst/>
          </a:prstGeom>
          <a:ln w="762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1EE0446-DAAF-4F0A-881B-6C004D9D5BB9}"/>
              </a:ext>
            </a:extLst>
          </p:cNvPr>
          <p:cNvCxnSpPr>
            <a:cxnSpLocks/>
          </p:cNvCxnSpPr>
          <p:nvPr/>
        </p:nvCxnSpPr>
        <p:spPr>
          <a:xfrm>
            <a:off x="5773567" y="5745477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3676A5A8-1C78-4903-8563-594C53ADF613}"/>
              </a:ext>
            </a:extLst>
          </p:cNvPr>
          <p:cNvSpPr/>
          <p:nvPr/>
        </p:nvSpPr>
        <p:spPr>
          <a:xfrm>
            <a:off x="5741539" y="1552795"/>
            <a:ext cx="2815539" cy="151193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DAB7DCF-FE9F-4D29-B47F-BAAA3B03202D}"/>
              </a:ext>
            </a:extLst>
          </p:cNvPr>
          <p:cNvSpPr/>
          <p:nvPr/>
        </p:nvSpPr>
        <p:spPr>
          <a:xfrm>
            <a:off x="4950100" y="5005350"/>
            <a:ext cx="3689179" cy="171661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DF71530-3242-4206-974B-9498D0423B7F}"/>
              </a:ext>
            </a:extLst>
          </p:cNvPr>
          <p:cNvSpPr/>
          <p:nvPr/>
        </p:nvSpPr>
        <p:spPr>
          <a:xfrm>
            <a:off x="5792782" y="3262232"/>
            <a:ext cx="2815539" cy="15119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210A6-7B2D-4ECC-AAA2-538AC20FD10F}"/>
              </a:ext>
            </a:extLst>
          </p:cNvPr>
          <p:cNvSpPr/>
          <p:nvPr/>
        </p:nvSpPr>
        <p:spPr>
          <a:xfrm>
            <a:off x="388819" y="4670179"/>
            <a:ext cx="3805083" cy="163435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FFA0E80E-24C2-4FBB-B891-71C3E05B6A93}"/>
              </a:ext>
            </a:extLst>
          </p:cNvPr>
          <p:cNvCxnSpPr>
            <a:cxnSpLocks/>
          </p:cNvCxnSpPr>
          <p:nvPr/>
        </p:nvCxnSpPr>
        <p:spPr>
          <a:xfrm>
            <a:off x="2225072" y="1899449"/>
            <a:ext cx="1050784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D26F58CC-59C5-4ED4-A7A7-DF45D29A5216}"/>
              </a:ext>
            </a:extLst>
          </p:cNvPr>
          <p:cNvCxnSpPr>
            <a:cxnSpLocks/>
          </p:cNvCxnSpPr>
          <p:nvPr/>
        </p:nvCxnSpPr>
        <p:spPr>
          <a:xfrm flipV="1">
            <a:off x="2277428" y="1974468"/>
            <a:ext cx="898758" cy="1025834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DF16D1AF-E98F-4AAF-BFF6-3B9BFC875085}"/>
              </a:ext>
            </a:extLst>
          </p:cNvPr>
          <p:cNvCxnSpPr>
            <a:cxnSpLocks/>
          </p:cNvCxnSpPr>
          <p:nvPr/>
        </p:nvCxnSpPr>
        <p:spPr>
          <a:xfrm flipV="1">
            <a:off x="2260436" y="1905345"/>
            <a:ext cx="1008112" cy="234984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55E316AE-8AA8-4FF6-8FE4-4B3E989DD739}"/>
              </a:ext>
            </a:extLst>
          </p:cNvPr>
          <p:cNvCxnSpPr>
            <a:cxnSpLocks/>
          </p:cNvCxnSpPr>
          <p:nvPr/>
        </p:nvCxnSpPr>
        <p:spPr>
          <a:xfrm>
            <a:off x="1187624" y="5056214"/>
            <a:ext cx="197516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C96F27B1-9036-4A1B-B513-A21A36BFF767}"/>
              </a:ext>
            </a:extLst>
          </p:cNvPr>
          <p:cNvCxnSpPr>
            <a:cxnSpLocks/>
          </p:cNvCxnSpPr>
          <p:nvPr/>
        </p:nvCxnSpPr>
        <p:spPr>
          <a:xfrm>
            <a:off x="2212234" y="5009666"/>
            <a:ext cx="197516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接點 70">
            <a:extLst>
              <a:ext uri="{FF2B5EF4-FFF2-40B4-BE49-F238E27FC236}">
                <a16:creationId xmlns:a16="http://schemas.microsoft.com/office/drawing/2014/main" id="{2AA128C3-5F4E-4C4F-854A-59C956E64C8A}"/>
              </a:ext>
            </a:extLst>
          </p:cNvPr>
          <p:cNvCxnSpPr>
            <a:cxnSpLocks/>
          </p:cNvCxnSpPr>
          <p:nvPr/>
        </p:nvCxnSpPr>
        <p:spPr>
          <a:xfrm>
            <a:off x="3176186" y="5041075"/>
            <a:ext cx="197516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8C256CAF-DF12-45B8-BB18-70DDC7FC2768}"/>
              </a:ext>
            </a:extLst>
          </p:cNvPr>
          <p:cNvSpPr txBox="1"/>
          <p:nvPr/>
        </p:nvSpPr>
        <p:spPr>
          <a:xfrm>
            <a:off x="5629455" y="1029575"/>
            <a:ext cx="400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0.</a:t>
            </a:r>
            <a:endParaRPr lang="zh-TW" altLang="en-US" sz="2800" dirty="0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5A387EE-C769-41D4-9436-548CC0B527E6}"/>
              </a:ext>
            </a:extLst>
          </p:cNvPr>
          <p:cNvSpPr txBox="1"/>
          <p:nvPr/>
        </p:nvSpPr>
        <p:spPr>
          <a:xfrm>
            <a:off x="5317373" y="3090076"/>
            <a:ext cx="400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1.</a:t>
            </a:r>
            <a:endParaRPr lang="zh-TW" altLang="en-US" sz="2800" dirty="0"/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E5BD25A-2030-4D22-BD76-742930D8D370}"/>
              </a:ext>
            </a:extLst>
          </p:cNvPr>
          <p:cNvSpPr txBox="1"/>
          <p:nvPr/>
        </p:nvSpPr>
        <p:spPr>
          <a:xfrm>
            <a:off x="32132" y="4326308"/>
            <a:ext cx="400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2.</a:t>
            </a:r>
            <a:endParaRPr lang="zh-TW" altLang="en-US" sz="2800" dirty="0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E99C58EF-0850-458D-81A1-6592AC96DCAC}"/>
              </a:ext>
            </a:extLst>
          </p:cNvPr>
          <p:cNvSpPr txBox="1"/>
          <p:nvPr/>
        </p:nvSpPr>
        <p:spPr>
          <a:xfrm>
            <a:off x="4535038" y="4808180"/>
            <a:ext cx="400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3.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8054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6C38D30-7C7C-488D-BD9A-920C432C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7315"/>
            <a:ext cx="5638800" cy="4667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96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3.Hidden layer</a:t>
            </a:r>
            <a:r>
              <a:rPr lang="zh-TW" altLang="en-US" dirty="0"/>
              <a:t>到</a:t>
            </a:r>
            <a:r>
              <a:rPr lang="en-US" altLang="zh-TW" dirty="0"/>
              <a:t>hidden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E0E6BB4-976D-45CC-9D86-22D186F34936}"/>
              </a:ext>
            </a:extLst>
          </p:cNvPr>
          <p:cNvSpPr txBox="1"/>
          <p:nvPr/>
        </p:nvSpPr>
        <p:spPr>
          <a:xfrm>
            <a:off x="5940152" y="94841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計算</a:t>
            </a:r>
            <a:r>
              <a:rPr lang="en-US" altLang="zh-TW" dirty="0"/>
              <a:t>: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A7EA1AC-39CB-429C-A5CD-7806A3FA63F1}"/>
              </a:ext>
            </a:extLst>
          </p:cNvPr>
          <p:cNvCxnSpPr>
            <a:cxnSpLocks/>
          </p:cNvCxnSpPr>
          <p:nvPr/>
        </p:nvCxnSpPr>
        <p:spPr>
          <a:xfrm>
            <a:off x="6655618" y="1309667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CBFECB5-E690-4E12-935A-5D0516CF0C72}"/>
              </a:ext>
            </a:extLst>
          </p:cNvPr>
          <p:cNvCxnSpPr>
            <a:cxnSpLocks/>
          </p:cNvCxnSpPr>
          <p:nvPr/>
        </p:nvCxnSpPr>
        <p:spPr>
          <a:xfrm>
            <a:off x="2221633" y="1844824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40FAA23-122D-4AE3-B471-1C2D8F44BA6C}"/>
              </a:ext>
            </a:extLst>
          </p:cNvPr>
          <p:cNvCxnSpPr>
            <a:cxnSpLocks/>
          </p:cNvCxnSpPr>
          <p:nvPr/>
        </p:nvCxnSpPr>
        <p:spPr>
          <a:xfrm>
            <a:off x="2989514" y="1879872"/>
            <a:ext cx="560325" cy="519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1270CED7-C7BF-40F6-847D-A35F6AC2AF2D}"/>
              </a:ext>
            </a:extLst>
          </p:cNvPr>
          <p:cNvCxnSpPr>
            <a:cxnSpLocks/>
          </p:cNvCxnSpPr>
          <p:nvPr/>
        </p:nvCxnSpPr>
        <p:spPr>
          <a:xfrm>
            <a:off x="3754467" y="1879872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>
            <a:extLst>
              <a:ext uri="{FF2B5EF4-FFF2-40B4-BE49-F238E27FC236}">
                <a16:creationId xmlns:a16="http://schemas.microsoft.com/office/drawing/2014/main" id="{6022AABA-2EBC-4C51-990D-B8A58217E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890" y="1810661"/>
            <a:ext cx="2495550" cy="9906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2E385BF-D368-4DD1-BBDB-1C68EE940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6890" y="2900830"/>
            <a:ext cx="3009900" cy="5810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BF6297B-CBB3-4F20-BA96-0062CB125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315" y="3429000"/>
            <a:ext cx="1533525" cy="42862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E9F2AAD-3042-429F-8156-D2EC370AF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618" y="786957"/>
            <a:ext cx="666750" cy="485775"/>
          </a:xfrm>
          <a:prstGeom prst="rect">
            <a:avLst/>
          </a:prstGeom>
        </p:spPr>
      </p:pic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CB5163C-3989-46F6-89C7-FD30A19CB8CB}"/>
              </a:ext>
            </a:extLst>
          </p:cNvPr>
          <p:cNvCxnSpPr>
            <a:cxnSpLocks/>
          </p:cNvCxnSpPr>
          <p:nvPr/>
        </p:nvCxnSpPr>
        <p:spPr>
          <a:xfrm>
            <a:off x="6093313" y="2842966"/>
            <a:ext cx="582778" cy="807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47A5F32-CD7A-4F4F-8A82-8616D758AB71}"/>
              </a:ext>
            </a:extLst>
          </p:cNvPr>
          <p:cNvCxnSpPr/>
          <p:nvPr/>
        </p:nvCxnSpPr>
        <p:spPr>
          <a:xfrm flipH="1">
            <a:off x="7569724" y="1205434"/>
            <a:ext cx="792088" cy="670964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24976AA-14E8-44B7-8B5C-C3C97BC01032}"/>
              </a:ext>
            </a:extLst>
          </p:cNvPr>
          <p:cNvSpPr txBox="1"/>
          <p:nvPr/>
        </p:nvSpPr>
        <p:spPr>
          <a:xfrm>
            <a:off x="7740352" y="564319"/>
            <a:ext cx="1372766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dirty="0"/>
              <a:t>此論文採</a:t>
            </a:r>
            <a:r>
              <a:rPr lang="en-US" altLang="zh-TW" dirty="0"/>
              <a:t>sigmoid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BE5A0F2-5FAD-43FC-A2BF-01E3D4CA112F}"/>
              </a:ext>
            </a:extLst>
          </p:cNvPr>
          <p:cNvSpPr txBox="1"/>
          <p:nvPr/>
        </p:nvSpPr>
        <p:spPr>
          <a:xfrm>
            <a:off x="6052048" y="1800902"/>
            <a:ext cx="1937318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56E117E6-7E0F-4E49-BEF2-C1802D0AED38}"/>
              </a:ext>
            </a:extLst>
          </p:cNvPr>
          <p:cNvSpPr txBox="1"/>
          <p:nvPr/>
        </p:nvSpPr>
        <p:spPr>
          <a:xfrm>
            <a:off x="6088514" y="2404568"/>
            <a:ext cx="2467707" cy="545578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476B5D21-E40D-4D2C-AACE-BED89AB8B2D6}"/>
              </a:ext>
            </a:extLst>
          </p:cNvPr>
          <p:cNvCxnSpPr>
            <a:cxnSpLocks/>
          </p:cNvCxnSpPr>
          <p:nvPr/>
        </p:nvCxnSpPr>
        <p:spPr>
          <a:xfrm flipH="1">
            <a:off x="8101486" y="1975967"/>
            <a:ext cx="454735" cy="446009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3E974D1-4EB9-4597-9B71-823B11E44744}"/>
              </a:ext>
            </a:extLst>
          </p:cNvPr>
          <p:cNvSpPr txBox="1"/>
          <p:nvPr/>
        </p:nvSpPr>
        <p:spPr>
          <a:xfrm>
            <a:off x="8387022" y="1639251"/>
            <a:ext cx="726096" cy="369332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zh-TW" altLang="en-US"/>
              <a:t>微分</a:t>
            </a:r>
          </a:p>
        </p:txBody>
      </p:sp>
    </p:spTree>
    <p:extLst>
      <p:ext uri="{BB962C8B-B14F-4D97-AF65-F5344CB8AC3E}">
        <p14:creationId xmlns:p14="http://schemas.microsoft.com/office/powerpoint/2010/main" val="208824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6C38D30-7C7C-488D-BD9A-920C432C2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7315"/>
            <a:ext cx="5638800" cy="466725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FD168688-BBBE-4C04-9FED-51A7B5F81FD9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982A01-2980-4EF3-9304-273C926A689D}"/>
              </a:ext>
            </a:extLst>
          </p:cNvPr>
          <p:cNvSpPr/>
          <p:nvPr/>
        </p:nvSpPr>
        <p:spPr>
          <a:xfrm>
            <a:off x="768189" y="948414"/>
            <a:ext cx="4096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3.Hidden layer</a:t>
            </a:r>
            <a:r>
              <a:rPr lang="zh-TW" altLang="en-US" dirty="0"/>
              <a:t>到</a:t>
            </a:r>
            <a:r>
              <a:rPr lang="en-US" altLang="zh-TW" dirty="0"/>
              <a:t>hidden layer</a:t>
            </a:r>
            <a:r>
              <a:rPr lang="zh-TW" altLang="en-US" dirty="0"/>
              <a:t>權重的更新</a:t>
            </a:r>
            <a:endParaRPr lang="en-US" altLang="zh-TW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E0E6BB4-976D-45CC-9D86-22D186F34936}"/>
              </a:ext>
            </a:extLst>
          </p:cNvPr>
          <p:cNvSpPr txBox="1"/>
          <p:nvPr/>
        </p:nvSpPr>
        <p:spPr>
          <a:xfrm>
            <a:off x="5940152" y="948414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計算</a:t>
            </a:r>
            <a:r>
              <a:rPr lang="en-US" altLang="zh-TW" dirty="0"/>
              <a:t>:</a:t>
            </a:r>
            <a:endParaRPr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CBFECB5-E690-4E12-935A-5D0516CF0C72}"/>
              </a:ext>
            </a:extLst>
          </p:cNvPr>
          <p:cNvCxnSpPr>
            <a:cxnSpLocks/>
          </p:cNvCxnSpPr>
          <p:nvPr/>
        </p:nvCxnSpPr>
        <p:spPr>
          <a:xfrm>
            <a:off x="2221633" y="1844824"/>
            <a:ext cx="54341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F40FAA23-122D-4AE3-B471-1C2D8F44BA6C}"/>
              </a:ext>
            </a:extLst>
          </p:cNvPr>
          <p:cNvCxnSpPr>
            <a:cxnSpLocks/>
          </p:cNvCxnSpPr>
          <p:nvPr/>
        </p:nvCxnSpPr>
        <p:spPr>
          <a:xfrm>
            <a:off x="2989514" y="1879872"/>
            <a:ext cx="560325" cy="5196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1270CED7-C7BF-40F6-847D-A35F6AC2AF2D}"/>
              </a:ext>
            </a:extLst>
          </p:cNvPr>
          <p:cNvCxnSpPr>
            <a:cxnSpLocks/>
          </p:cNvCxnSpPr>
          <p:nvPr/>
        </p:nvCxnSpPr>
        <p:spPr>
          <a:xfrm>
            <a:off x="3707904" y="1844824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4ABD437-0D6F-45AC-8934-063AD44BB772}"/>
              </a:ext>
            </a:extLst>
          </p:cNvPr>
          <p:cNvCxnSpPr>
            <a:cxnSpLocks/>
          </p:cNvCxnSpPr>
          <p:nvPr/>
        </p:nvCxnSpPr>
        <p:spPr>
          <a:xfrm>
            <a:off x="6654419" y="1233741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028840EC-9BC5-40F5-B170-E43117A09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419" y="778095"/>
            <a:ext cx="552450" cy="42862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BAB4108-C8D4-4033-ACB6-02EA62E268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2276872"/>
            <a:ext cx="2943225" cy="952500"/>
          </a:xfrm>
          <a:prstGeom prst="rect">
            <a:avLst/>
          </a:prstGeom>
        </p:spPr>
      </p:pic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F6B2FD5-06E2-46AF-9A6C-22E814F3D0A5}"/>
              </a:ext>
            </a:extLst>
          </p:cNvPr>
          <p:cNvCxnSpPr>
            <a:cxnSpLocks/>
          </p:cNvCxnSpPr>
          <p:nvPr/>
        </p:nvCxnSpPr>
        <p:spPr>
          <a:xfrm>
            <a:off x="5940152" y="2636912"/>
            <a:ext cx="543417" cy="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E9695538-8DBE-4BEA-B52C-B87BFD9910B3}"/>
              </a:ext>
            </a:extLst>
          </p:cNvPr>
          <p:cNvCxnSpPr>
            <a:cxnSpLocks/>
          </p:cNvCxnSpPr>
          <p:nvPr/>
        </p:nvCxnSpPr>
        <p:spPr>
          <a:xfrm>
            <a:off x="1115616" y="3146329"/>
            <a:ext cx="1050784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6CC9AC89-1378-431F-9BE9-6907BA29F2C0}"/>
              </a:ext>
            </a:extLst>
          </p:cNvPr>
          <p:cNvCxnSpPr>
            <a:cxnSpLocks/>
          </p:cNvCxnSpPr>
          <p:nvPr/>
        </p:nvCxnSpPr>
        <p:spPr>
          <a:xfrm flipV="1">
            <a:off x="1134139" y="3163712"/>
            <a:ext cx="1087494" cy="1237894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2428323A-C0C2-4A86-92E3-13C120E36F44}"/>
              </a:ext>
            </a:extLst>
          </p:cNvPr>
          <p:cNvCxnSpPr>
            <a:cxnSpLocks/>
          </p:cNvCxnSpPr>
          <p:nvPr/>
        </p:nvCxnSpPr>
        <p:spPr>
          <a:xfrm flipV="1">
            <a:off x="1158288" y="3163712"/>
            <a:ext cx="1008112" cy="234984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6E31D51C-E90B-46FB-AE8E-58F2A74D530F}"/>
              </a:ext>
            </a:extLst>
          </p:cNvPr>
          <p:cNvCxnSpPr>
            <a:cxnSpLocks/>
          </p:cNvCxnSpPr>
          <p:nvPr/>
        </p:nvCxnSpPr>
        <p:spPr>
          <a:xfrm>
            <a:off x="6697299" y="2652051"/>
            <a:ext cx="197516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EB886242-47A8-440B-9819-A8E89E2274E5}"/>
              </a:ext>
            </a:extLst>
          </p:cNvPr>
          <p:cNvCxnSpPr>
            <a:cxnSpLocks/>
          </p:cNvCxnSpPr>
          <p:nvPr/>
        </p:nvCxnSpPr>
        <p:spPr>
          <a:xfrm>
            <a:off x="7452320" y="2640814"/>
            <a:ext cx="197516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254B9CCB-97B8-4E27-BF13-29B63003B7BF}"/>
              </a:ext>
            </a:extLst>
          </p:cNvPr>
          <p:cNvCxnSpPr>
            <a:cxnSpLocks/>
          </p:cNvCxnSpPr>
          <p:nvPr/>
        </p:nvCxnSpPr>
        <p:spPr>
          <a:xfrm>
            <a:off x="8244408" y="2643040"/>
            <a:ext cx="197516" cy="0"/>
          </a:xfrm>
          <a:prstGeom prst="line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EB03AF3-5592-49F8-811F-20A00661ECA5}"/>
              </a:ext>
            </a:extLst>
          </p:cNvPr>
          <p:cNvSpPr txBox="1"/>
          <p:nvPr/>
        </p:nvSpPr>
        <p:spPr>
          <a:xfrm>
            <a:off x="5879152" y="407647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最後三者相加，得</a:t>
            </a:r>
            <a:endParaRPr lang="en-US" altLang="zh-TW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4B7C366-92DA-4AF3-8122-2BC5B7363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152" y="4450666"/>
            <a:ext cx="3124200" cy="6096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CD12ABF-D22B-4487-B9A9-1D39B52E69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7249" y="5060266"/>
            <a:ext cx="2411453" cy="312596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11EFEED-286F-4B50-805A-4D411D1233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326" y="5358103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528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988A2D-F021-4522-B278-7F4C08D5C356}"/>
              </a:ext>
            </a:extLst>
          </p:cNvPr>
          <p:cNvSpPr/>
          <p:nvPr/>
        </p:nvSpPr>
        <p:spPr>
          <a:xfrm>
            <a:off x="284884" y="175473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545454"/>
                </a:solidFill>
                <a:latin typeface="arial" panose="020B0604020202020204" pitchFamily="34" charset="0"/>
              </a:rPr>
              <a:t>Back Propagation(1/3)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A403B0F-56E7-4F8E-8C2F-4FB192BEAC88}"/>
              </a:ext>
            </a:extLst>
          </p:cNvPr>
          <p:cNvSpPr txBox="1"/>
          <p:nvPr/>
        </p:nvSpPr>
        <p:spPr>
          <a:xfrm>
            <a:off x="1465646" y="4415625"/>
            <a:ext cx="348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最後，更新</a:t>
            </a:r>
            <a:r>
              <a:rPr lang="en-US" altLang="zh-TW" dirty="0"/>
              <a:t>w1</a:t>
            </a:r>
            <a:r>
              <a:rPr lang="zh-TW" altLang="en-US" dirty="0"/>
              <a:t>的值，用</a:t>
            </a:r>
            <a:r>
              <a:rPr lang="en-US" altLang="zh-TW" dirty="0"/>
              <a:t>w1+</a:t>
            </a:r>
            <a:r>
              <a:rPr lang="zh-TW" altLang="en-US" dirty="0"/>
              <a:t>表示</a:t>
            </a:r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0FFF7DF-B678-4B79-8FC5-64CAF9EF7514}"/>
              </a:ext>
            </a:extLst>
          </p:cNvPr>
          <p:cNvSpPr txBox="1"/>
          <p:nvPr/>
        </p:nvSpPr>
        <p:spPr>
          <a:xfrm>
            <a:off x="6125864" y="4391672"/>
            <a:ext cx="2743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同理，更新</a:t>
            </a:r>
            <a:r>
              <a:rPr lang="en-US" altLang="zh-TW" dirty="0"/>
              <a:t>w2+  w3+  w4+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C039471-AC5C-463C-8506-15FAFDF2C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646" y="5157192"/>
            <a:ext cx="4229237" cy="69494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8DEC768-C15F-4EB5-96D7-4C992A30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5013176"/>
            <a:ext cx="172402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1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3BD1912-D35C-4757-926E-A8C71057199B}"/>
              </a:ext>
            </a:extLst>
          </p:cNvPr>
          <p:cNvSpPr txBox="1"/>
          <p:nvPr/>
        </p:nvSpPr>
        <p:spPr>
          <a:xfrm>
            <a:off x="569141" y="947629"/>
            <a:ext cx="800571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/>
              <a:t>再利用剛計算出的新權重值</a:t>
            </a:r>
            <a:r>
              <a:rPr lang="en-US" altLang="zh-TW" sz="2800" dirty="0"/>
              <a:t>w1+ w2+ … w8+</a:t>
            </a:r>
          </a:p>
          <a:p>
            <a:r>
              <a:rPr lang="zh-TW" altLang="en-US" sz="2800" dirty="0"/>
              <a:t>去重新計算最終</a:t>
            </a:r>
            <a:r>
              <a:rPr lang="en-US" altLang="zh-TW" sz="2800" dirty="0"/>
              <a:t>output</a:t>
            </a:r>
            <a:r>
              <a:rPr lang="zh-TW" altLang="en-US" sz="2800" dirty="0"/>
              <a:t>，是謂一</a:t>
            </a:r>
            <a:r>
              <a:rPr lang="en-US" altLang="zh-TW" sz="2800" dirty="0"/>
              <a:t>epoch</a:t>
            </a:r>
            <a:r>
              <a:rPr lang="zh-TW" altLang="en-US" sz="2800" dirty="0"/>
              <a:t>。</a:t>
            </a:r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以此例，若執行</a:t>
            </a:r>
            <a:r>
              <a:rPr lang="en-US" altLang="zh-TW" sz="2800" dirty="0"/>
              <a:t>1epoch</a:t>
            </a:r>
            <a:r>
              <a:rPr lang="zh-TW" altLang="en-US" sz="2800" dirty="0"/>
              <a:t>，</a:t>
            </a:r>
            <a:endParaRPr lang="en-US" altLang="zh-TW" sz="2800" dirty="0"/>
          </a:p>
          <a:p>
            <a:r>
              <a:rPr lang="zh-TW" altLang="en-US" sz="2800" dirty="0"/>
              <a:t>總誤差</a:t>
            </a:r>
            <a:r>
              <a:rPr lang="pt-BR" altLang="zh-TW" sz="2800" dirty="0"/>
              <a:t>E(total)</a:t>
            </a:r>
            <a:r>
              <a:rPr lang="zh-TW" altLang="pt-BR" sz="2800" dirty="0"/>
              <a:t>由</a:t>
            </a:r>
            <a:r>
              <a:rPr lang="pt-BR" altLang="zh-TW" sz="2800" dirty="0"/>
              <a:t>0.298371109</a:t>
            </a:r>
            <a:r>
              <a:rPr lang="zh-TW" altLang="pt-BR" sz="2800" dirty="0"/>
              <a:t>下降至</a:t>
            </a:r>
            <a:r>
              <a:rPr lang="pt-BR" altLang="zh-TW" sz="2800" dirty="0"/>
              <a:t>0.291027924</a:t>
            </a:r>
            <a:r>
              <a:rPr lang="zh-TW" altLang="pt-BR" sz="2800" dirty="0"/>
              <a:t>。</a:t>
            </a:r>
            <a:endParaRPr lang="en-US" altLang="zh-TW" sz="2800" dirty="0"/>
          </a:p>
          <a:p>
            <a:endParaRPr lang="en-US" altLang="zh-TW" sz="2800" dirty="0"/>
          </a:p>
          <a:p>
            <a:endParaRPr lang="en-US" altLang="zh-TW" sz="2800" dirty="0"/>
          </a:p>
          <a:p>
            <a:r>
              <a:rPr lang="zh-TW" altLang="en-US" sz="2800" dirty="0"/>
              <a:t>若執行</a:t>
            </a:r>
            <a:r>
              <a:rPr lang="en-US" altLang="zh-TW" sz="2800" dirty="0"/>
              <a:t>10000epochs</a:t>
            </a:r>
            <a:r>
              <a:rPr lang="zh-TW" altLang="en-US" sz="2800" dirty="0"/>
              <a:t>，則總誤差降至</a:t>
            </a:r>
            <a:r>
              <a:rPr lang="en-US" altLang="zh-TW" sz="2800" dirty="0"/>
              <a:t>0.000035085</a:t>
            </a:r>
            <a:r>
              <a:rPr lang="zh-TW" altLang="en-US" sz="2800" dirty="0"/>
              <a:t>，</a:t>
            </a:r>
            <a:endParaRPr lang="en-US" altLang="zh-TW" sz="2800" dirty="0"/>
          </a:p>
          <a:p>
            <a:r>
              <a:rPr lang="zh-TW" altLang="en-US" sz="2800" dirty="0"/>
              <a:t>且輸出為</a:t>
            </a:r>
            <a:r>
              <a:rPr lang="en-US" altLang="zh-TW" sz="2800" dirty="0"/>
              <a:t>[0.015912196,0.984065734]</a:t>
            </a:r>
            <a:r>
              <a:rPr lang="zh-TW" altLang="en-US" sz="2800" dirty="0"/>
              <a:t>，</a:t>
            </a:r>
            <a:endParaRPr lang="en-US" altLang="zh-TW" sz="2800" dirty="0"/>
          </a:p>
          <a:p>
            <a:r>
              <a:rPr lang="zh-TW" altLang="en-US" sz="2800" dirty="0"/>
              <a:t>非常接近我們希望的</a:t>
            </a:r>
            <a:r>
              <a:rPr lang="en-US" altLang="zh-TW" sz="2800" dirty="0"/>
              <a:t>[0.01,0.99]</a:t>
            </a:r>
            <a:r>
              <a:rPr lang="zh-TW" altLang="en-US" sz="2800" dirty="0"/>
              <a:t>。</a:t>
            </a:r>
            <a:endParaRPr lang="en-US" altLang="zh-TW" sz="28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75E42B-515B-4F67-8634-975FEE72DB28}"/>
              </a:ext>
            </a:extLst>
          </p:cNvPr>
          <p:cNvSpPr txBox="1"/>
          <p:nvPr/>
        </p:nvSpPr>
        <p:spPr>
          <a:xfrm>
            <a:off x="3347864" y="116632"/>
            <a:ext cx="1727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Result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34277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7BFBD09-0041-4BB7-A891-562AEA5217F0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29" t="12401" r="21530" b="34961"/>
          <a:stretch/>
        </p:blipFill>
        <p:spPr>
          <a:xfrm>
            <a:off x="4608512" y="1268760"/>
            <a:ext cx="4211960" cy="432048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297C5B89-C480-42D4-B587-60BF6B938F21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49" t="18318" r="29231" b="30503"/>
          <a:stretch/>
        </p:blipFill>
        <p:spPr>
          <a:xfrm>
            <a:off x="107504" y="1300791"/>
            <a:ext cx="4392488" cy="43204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EB50105-A13F-4F20-995B-3F0F50287751}"/>
              </a:ext>
            </a:extLst>
          </p:cNvPr>
          <p:cNvSpPr txBox="1"/>
          <p:nvPr/>
        </p:nvSpPr>
        <p:spPr>
          <a:xfrm>
            <a:off x="3347864" y="116632"/>
            <a:ext cx="1727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Result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488330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B17EFEE-A8F8-41AC-8A0B-C73B83A890DA}"/>
              </a:ext>
            </a:extLst>
          </p:cNvPr>
          <p:cNvSpPr txBox="1"/>
          <p:nvPr/>
        </p:nvSpPr>
        <p:spPr>
          <a:xfrm>
            <a:off x="2843808" y="355303"/>
            <a:ext cx="2917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800" dirty="0"/>
              <a:t>Conclusion</a:t>
            </a:r>
            <a:endParaRPr lang="zh-TW" altLang="en-US" sz="4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B989FB-BB82-4AC8-BAEC-6063BA3EA6D0}"/>
              </a:ext>
            </a:extLst>
          </p:cNvPr>
          <p:cNvSpPr/>
          <p:nvPr/>
        </p:nvSpPr>
        <p:spPr>
          <a:xfrm>
            <a:off x="899592" y="1700808"/>
            <a:ext cx="76328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dirty="0"/>
              <a:t>由此也證明，</a:t>
            </a:r>
            <a:endParaRPr lang="en-US" altLang="zh-TW" sz="3200" dirty="0"/>
          </a:p>
          <a:p>
            <a:r>
              <a:rPr lang="zh-TW" altLang="en-US" sz="3200" dirty="0"/>
              <a:t>無論權重值</a:t>
            </a:r>
            <a:r>
              <a:rPr lang="en-US" altLang="zh-TW" sz="3200" dirty="0"/>
              <a:t>w1 w2 …</a:t>
            </a:r>
            <a:r>
              <a:rPr lang="zh-TW" altLang="en-US" sz="3200" dirty="0"/>
              <a:t>或者各層的</a:t>
            </a:r>
            <a:r>
              <a:rPr lang="en-US" altLang="zh-TW" sz="3200" dirty="0"/>
              <a:t>bias</a:t>
            </a:r>
            <a:r>
              <a:rPr lang="zh-TW" altLang="en-US" sz="3200" dirty="0"/>
              <a:t>值一開始設定多少</a:t>
            </a:r>
            <a:r>
              <a:rPr lang="en-US" altLang="zh-TW" sz="3200" dirty="0"/>
              <a:t>(</a:t>
            </a:r>
            <a:r>
              <a:rPr lang="zh-TW" altLang="en-US" sz="3200" dirty="0"/>
              <a:t>用</a:t>
            </a:r>
            <a:r>
              <a:rPr lang="en-US" altLang="zh-TW" sz="3200" dirty="0"/>
              <a:t>random</a:t>
            </a:r>
            <a:r>
              <a:rPr lang="zh-TW" altLang="en-US" sz="3200" dirty="0"/>
              <a:t>也可</a:t>
            </a:r>
            <a:r>
              <a:rPr lang="en-US" altLang="zh-TW" sz="3200" dirty="0"/>
              <a:t>)</a:t>
            </a:r>
            <a:r>
              <a:rPr lang="zh-TW" altLang="en-US" sz="3200" dirty="0"/>
              <a:t>，</a:t>
            </a:r>
            <a:endParaRPr lang="en-US" altLang="zh-TW" sz="3200" dirty="0"/>
          </a:p>
          <a:p>
            <a:r>
              <a:rPr lang="zh-TW" altLang="en-US" sz="3200" dirty="0"/>
              <a:t>只要用上</a:t>
            </a:r>
            <a:r>
              <a:rPr lang="en-US" altLang="zh-TW" sz="3200" dirty="0"/>
              <a:t>back propagation</a:t>
            </a:r>
            <a:r>
              <a:rPr lang="zh-TW" altLang="en-US" sz="3200" dirty="0"/>
              <a:t>演算法，</a:t>
            </a:r>
            <a:endParaRPr lang="en-US" altLang="zh-TW" sz="3200" dirty="0"/>
          </a:p>
          <a:p>
            <a:r>
              <a:rPr lang="zh-TW" altLang="en-US" sz="3200" dirty="0"/>
              <a:t>在執行的次數</a:t>
            </a:r>
            <a:r>
              <a:rPr lang="en-US" altLang="zh-TW" sz="3200" dirty="0"/>
              <a:t>(epoch</a:t>
            </a:r>
            <a:r>
              <a:rPr lang="zh-TW" altLang="en-US" sz="3200" dirty="0"/>
              <a:t>數</a:t>
            </a:r>
            <a:r>
              <a:rPr lang="en-US" altLang="zh-TW" sz="3200" dirty="0"/>
              <a:t>)</a:t>
            </a:r>
            <a:r>
              <a:rPr lang="zh-TW" altLang="en-US" sz="3200" dirty="0"/>
              <a:t>夠大時，</a:t>
            </a:r>
            <a:r>
              <a:rPr lang="en-US" altLang="zh-TW" sz="3200" dirty="0"/>
              <a:t> </a:t>
            </a:r>
          </a:p>
          <a:p>
            <a:r>
              <a:rPr lang="en-US" altLang="zh-TW" sz="3200" dirty="0"/>
              <a:t>w1 w2</a:t>
            </a:r>
            <a:r>
              <a:rPr lang="zh-TW" altLang="en-US" sz="3200" dirty="0"/>
              <a:t>等權重值建立的模型都能很準確</a:t>
            </a:r>
            <a:r>
              <a:rPr lang="en-US" altLang="zh-TW" sz="3200" dirty="0"/>
              <a:t> </a:t>
            </a:r>
            <a:r>
              <a:rPr lang="zh-TW" altLang="en-US" sz="3200" dirty="0"/>
              <a:t>。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2709540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F7CA560-8D97-46F6-A9C7-F7A52E05846C}"/>
              </a:ext>
            </a:extLst>
          </p:cNvPr>
          <p:cNvSpPr txBox="1"/>
          <p:nvPr/>
        </p:nvSpPr>
        <p:spPr>
          <a:xfrm>
            <a:off x="2627784" y="2828835"/>
            <a:ext cx="43331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/>
              <a:t>Thank You!</a:t>
            </a:r>
            <a:endParaRPr lang="zh-TW" altLang="en-US" sz="7200" dirty="0"/>
          </a:p>
        </p:txBody>
      </p:sp>
    </p:spTree>
    <p:extLst>
      <p:ext uri="{BB962C8B-B14F-4D97-AF65-F5344CB8AC3E}">
        <p14:creationId xmlns:p14="http://schemas.microsoft.com/office/powerpoint/2010/main" val="45789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617</Words>
  <Application>Microsoft Office PowerPoint</Application>
  <PresentationFormat>如螢幕大小 (4:3)</PresentationFormat>
  <Paragraphs>96</Paragraphs>
  <Slides>23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Arial</vt:lpstr>
      <vt:lpstr>Arial</vt:lpstr>
      <vt:lpstr>Calibri</vt:lpstr>
      <vt:lpstr>Times New Roman</vt:lpstr>
      <vt:lpstr>Verdana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Fuzzy Control Sytems : Past, Present and Future</dc:title>
  <dc:creator>中文</dc:creator>
  <cp:lastModifiedBy>YanLee</cp:lastModifiedBy>
  <cp:revision>195</cp:revision>
  <dcterms:created xsi:type="dcterms:W3CDTF">2019-05-14T11:49:57Z</dcterms:created>
  <dcterms:modified xsi:type="dcterms:W3CDTF">2019-06-26T08:27:12Z</dcterms:modified>
</cp:coreProperties>
</file>