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3" r:id="rId3"/>
    <p:sldId id="257" r:id="rId4"/>
    <p:sldId id="283" r:id="rId5"/>
    <p:sldId id="312" r:id="rId6"/>
    <p:sldId id="313" r:id="rId7"/>
    <p:sldId id="314" r:id="rId8"/>
    <p:sldId id="315" r:id="rId9"/>
    <p:sldId id="303" r:id="rId10"/>
    <p:sldId id="316" r:id="rId11"/>
    <p:sldId id="308" r:id="rId12"/>
    <p:sldId id="309"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88" d="100"/>
          <a:sy n="88" d="100"/>
        </p:scale>
        <p:origin x="55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2019/6/18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4000792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315618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727150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130034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467124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1398750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2E469C4C-F457-4167-B363-FB6DD59DC296}"/>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xmlns=""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88E6861-BAD9-4B1E-B7CC-ED4F8B71DB22}"/>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xmlns=""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DBCE3ACB-7971-48F1-9875-489AE8943338}"/>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xmlns=""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62DDA930-81B0-4724-B815-F2EBD1DC4556}"/>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6" name="頁尾版面配置區 5">
            <a:extLst>
              <a:ext uri="{FF2B5EF4-FFF2-40B4-BE49-F238E27FC236}">
                <a16:creationId xmlns:a16="http://schemas.microsoft.com/office/drawing/2014/main" xmlns=""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B161ED9B-DFA5-480A-AD88-6DFF046FCB53}"/>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8" name="頁尾版面配置區 7">
            <a:extLst>
              <a:ext uri="{FF2B5EF4-FFF2-40B4-BE49-F238E27FC236}">
                <a16:creationId xmlns:a16="http://schemas.microsoft.com/office/drawing/2014/main" xmlns=""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D2DA7D75-DCEA-4D5F-817A-1F76017002B1}"/>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4" name="頁尾版面配置區 3">
            <a:extLst>
              <a:ext uri="{FF2B5EF4-FFF2-40B4-BE49-F238E27FC236}">
                <a16:creationId xmlns:a16="http://schemas.microsoft.com/office/drawing/2014/main" xmlns=""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AA5AFE-F983-4BD0-A86F-D18589BB081B}"/>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3" name="頁尾版面配置區 2">
            <a:extLst>
              <a:ext uri="{FF2B5EF4-FFF2-40B4-BE49-F238E27FC236}">
                <a16:creationId xmlns:a16="http://schemas.microsoft.com/office/drawing/2014/main" xmlns=""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189A80C-0898-442B-A9DB-6CE747D9C7F0}"/>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6" name="頁尾版面配置區 5">
            <a:extLst>
              <a:ext uri="{FF2B5EF4-FFF2-40B4-BE49-F238E27FC236}">
                <a16:creationId xmlns:a16="http://schemas.microsoft.com/office/drawing/2014/main" xmlns=""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14D3864F-50D1-4DBD-A5B6-1645AA45EA59}"/>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6" name="頁尾版面配置區 5">
            <a:extLst>
              <a:ext uri="{FF2B5EF4-FFF2-40B4-BE49-F238E27FC236}">
                <a16:creationId xmlns:a16="http://schemas.microsoft.com/office/drawing/2014/main" xmlns=""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1A2253F-98FC-4AD8-AB1E-608801808E4B}"/>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xmlns=""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1DB4D53-3EC7-453D-BD90-F21F29EA365F}"/>
              </a:ext>
            </a:extLst>
          </p:cNvPr>
          <p:cNvSpPr>
            <a:spLocks noGrp="1"/>
          </p:cNvSpPr>
          <p:nvPr>
            <p:ph type="dt" sz="half" idx="10"/>
          </p:nvPr>
        </p:nvSpPr>
        <p:spPr/>
        <p:txBody>
          <a:bodyPr/>
          <a:lstStyle/>
          <a:p>
            <a:fld id="{289B6366-6E92-4855-9B33-10136FFB9F55}"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xmlns=""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xmlns=""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DABD277-3DCF-4084-9E03-BF06B086F7E6}"/>
              </a:ext>
            </a:extLst>
          </p:cNvPr>
          <p:cNvSpPr>
            <a:spLocks noGrp="1"/>
          </p:cNvSpPr>
          <p:nvPr>
            <p:ph type="ctrTitle"/>
          </p:nvPr>
        </p:nvSpPr>
        <p:spPr>
          <a:xfrm>
            <a:off x="1054248" y="500281"/>
            <a:ext cx="10832952" cy="1683521"/>
          </a:xfrm>
        </p:spPr>
        <p:txBody>
          <a:bodyPr>
            <a:normAutofit/>
          </a:bodyPr>
          <a:lstStyle/>
          <a:p>
            <a:r>
              <a:rPr lang="en-US" altLang="zh-TW" sz="4000" b="1" dirty="0">
                <a:latin typeface="Times New Roman" panose="02020603050405020304" pitchFamily="18" charset="0"/>
                <a:cs typeface="Times New Roman" panose="02020603050405020304" pitchFamily="18" charset="0"/>
              </a:rPr>
              <a:t>Analysis of distance-based protein structure prediction by deep learning in CASP13</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err="1">
                <a:latin typeface="Times New Roman" panose="02020603050405020304" pitchFamily="18" charset="0"/>
                <a:cs typeface="Times New Roman" panose="02020603050405020304" pitchFamily="18" charset="0"/>
              </a:rPr>
              <a:t>Jinbo</a:t>
            </a:r>
            <a:r>
              <a:rPr lang="en-US" altLang="zh-TW" sz="2800" dirty="0">
                <a:latin typeface="Times New Roman" panose="02020603050405020304" pitchFamily="18" charset="0"/>
                <a:cs typeface="Times New Roman" panose="02020603050405020304" pitchFamily="18" charset="0"/>
              </a:rPr>
              <a:t> Xu, Sheng Wang</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xmlns="" id="{64AE8193-1DE0-47D4-9DBB-4734B89CA666}"/>
              </a:ext>
            </a:extLst>
          </p:cNvPr>
          <p:cNvSpPr txBox="1">
            <a:spLocks/>
          </p:cNvSpPr>
          <p:nvPr/>
        </p:nvSpPr>
        <p:spPr>
          <a:xfrm>
            <a:off x="1398494" y="3987994"/>
            <a:ext cx="9432792" cy="118271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smtClean="0">
                <a:latin typeface="Times New Roman" panose="02020603050405020304" pitchFamily="18" charset="0"/>
                <a:cs typeface="Times New Roman" panose="02020603050405020304" pitchFamily="18" charset="0"/>
              </a:rPr>
              <a:t>bioRxiv.org ,</a:t>
            </a:r>
            <a:r>
              <a:rPr lang="zh-TW" altLang="en-US" dirty="0"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2019</a:t>
            </a:r>
          </a:p>
        </p:txBody>
      </p:sp>
      <p:sp>
        <p:nvSpPr>
          <p:cNvPr id="5" name="副標題 2">
            <a:extLst>
              <a:ext uri="{FF2B5EF4-FFF2-40B4-BE49-F238E27FC236}">
                <a16:creationId xmlns:a16="http://schemas.microsoft.com/office/drawing/2014/main" xmlns=""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Jun. </a:t>
            </a:r>
            <a:r>
              <a:rPr lang="en-US" altLang="zh-TW" sz="2000">
                <a:latin typeface="Times New Roman" panose="02020603050405020304" pitchFamily="18" charset="0"/>
                <a:ea typeface="標楷體" panose="03000509000000000000" pitchFamily="65" charset="-120"/>
                <a:cs typeface="Times New Roman" panose="02020603050405020304" pitchFamily="18" charset="0"/>
              </a:rPr>
              <a:t>18,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2019</a:t>
            </a:r>
          </a:p>
        </p:txBody>
      </p:sp>
    </p:spTree>
    <p:extLst>
      <p:ext uri="{BB962C8B-B14F-4D97-AF65-F5344CB8AC3E}">
        <p14:creationId xmlns:p14="http://schemas.microsoft.com/office/powerpoint/2010/main" val="3014946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0"/>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516118"/>
            <a:ext cx="8155484" cy="5825764"/>
          </a:xfrm>
        </p:spPr>
        <p:txBody>
          <a:bodyPr>
            <a:noAutofit/>
          </a:bodyPr>
          <a:lstStyle/>
          <a:p>
            <a:pPr marL="0" indent="0" algn="just">
              <a:lnSpc>
                <a:spcPct val="150000"/>
              </a:lnSpc>
              <a:buNone/>
            </a:pPr>
            <a:r>
              <a:rPr lang="en-US" altLang="zh-TW" sz="2300" dirty="0">
                <a:latin typeface="Times New Roman" panose="02020603050405020304" pitchFamily="18" charset="0"/>
                <a:cs typeface="Times New Roman" panose="02020603050405020304" pitchFamily="18" charset="0"/>
              </a:rPr>
              <a:t>This paper reports the CASP13 results of distance-based contact prediction, threading and folding methods implemented in three </a:t>
            </a:r>
            <a:r>
              <a:rPr lang="en-US" altLang="zh-TW" sz="2300" dirty="0" err="1">
                <a:latin typeface="Times New Roman" panose="02020603050405020304" pitchFamily="18" charset="0"/>
                <a:cs typeface="Times New Roman" panose="02020603050405020304" pitchFamily="18" charset="0"/>
              </a:rPr>
              <a:t>RaptorX</a:t>
            </a:r>
            <a:r>
              <a:rPr lang="en-US" altLang="zh-TW" sz="2300" dirty="0">
                <a:latin typeface="Times New Roman" panose="02020603050405020304" pitchFamily="18" charset="0"/>
                <a:cs typeface="Times New Roman" panose="02020603050405020304" pitchFamily="18" charset="0"/>
              </a:rPr>
              <a:t> servers, which are built upon the powerful deep convolutional residual neural network (</a:t>
            </a:r>
            <a:r>
              <a:rPr lang="en-US" altLang="zh-TW" sz="2300" dirty="0" err="1">
                <a:latin typeface="Times New Roman" panose="02020603050405020304" pitchFamily="18" charset="0"/>
                <a:cs typeface="Times New Roman" panose="02020603050405020304" pitchFamily="18" charset="0"/>
              </a:rPr>
              <a:t>ResNet</a:t>
            </a:r>
            <a:r>
              <a:rPr lang="en-US" altLang="zh-TW" sz="2300" dirty="0">
                <a:latin typeface="Times New Roman" panose="02020603050405020304" pitchFamily="18" charset="0"/>
                <a:cs typeface="Times New Roman" panose="02020603050405020304" pitchFamily="18" charset="0"/>
              </a:rPr>
              <a:t>) method initiated by us for contact prediction in CASP12. On the 32 CASP13 FM (free-modeling) targets with a median MSA (multiple sequence alignment) depth of 36, </a:t>
            </a:r>
            <a:r>
              <a:rPr lang="en-US" altLang="zh-TW" sz="2300" dirty="0" err="1">
                <a:latin typeface="Times New Roman" panose="02020603050405020304" pitchFamily="18" charset="0"/>
                <a:cs typeface="Times New Roman" panose="02020603050405020304" pitchFamily="18" charset="0"/>
              </a:rPr>
              <a:t>RaptorX</a:t>
            </a:r>
            <a:r>
              <a:rPr lang="en-US" altLang="zh-TW" sz="2300" dirty="0">
                <a:latin typeface="Times New Roman" panose="02020603050405020304" pitchFamily="18" charset="0"/>
                <a:cs typeface="Times New Roman" panose="02020603050405020304" pitchFamily="18" charset="0"/>
              </a:rPr>
              <a:t> yielded the best contact prediction among 46 groups and almost the best 3D structure modeling among all server groups without time-consuming conformation sampling. In particular, </a:t>
            </a:r>
            <a:r>
              <a:rPr lang="en-US" altLang="zh-TW" sz="2300" dirty="0" err="1">
                <a:latin typeface="Times New Roman" panose="02020603050405020304" pitchFamily="18" charset="0"/>
                <a:cs typeface="Times New Roman" panose="02020603050405020304" pitchFamily="18" charset="0"/>
              </a:rPr>
              <a:t>RaptorX</a:t>
            </a:r>
            <a:r>
              <a:rPr lang="en-US" altLang="zh-TW" sz="2300" dirty="0">
                <a:latin typeface="Times New Roman" panose="02020603050405020304" pitchFamily="18" charset="0"/>
                <a:cs typeface="Times New Roman" panose="02020603050405020304" pitchFamily="18" charset="0"/>
              </a:rPr>
              <a:t> achieved top L/5, L/2 and L long-range contact precision of 70%, 58% and 45%, respectively, and predicted correct folds (</a:t>
            </a:r>
            <a:r>
              <a:rPr lang="en-US" altLang="zh-TW" sz="2300" dirty="0" err="1">
                <a:latin typeface="Times New Roman" panose="02020603050405020304" pitchFamily="18" charset="0"/>
                <a:cs typeface="Times New Roman" panose="02020603050405020304" pitchFamily="18" charset="0"/>
              </a:rPr>
              <a:t>TMscore</a:t>
            </a:r>
            <a:r>
              <a:rPr lang="en-US" altLang="zh-TW" sz="2300" dirty="0">
                <a:latin typeface="Times New Roman" panose="02020603050405020304" pitchFamily="18" charset="0"/>
                <a:cs typeface="Times New Roman" panose="02020603050405020304" pitchFamily="18" charset="0"/>
              </a:rPr>
              <a:t>&gt;0.5) for 18 of 32 targets. </a:t>
            </a:r>
          </a:p>
        </p:txBody>
      </p:sp>
    </p:spTree>
    <p:extLst>
      <p:ext uri="{BB962C8B-B14F-4D97-AF65-F5344CB8AC3E}">
        <p14:creationId xmlns:p14="http://schemas.microsoft.com/office/powerpoint/2010/main" val="15950678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300" dirty="0">
                <a:latin typeface="Times New Roman" panose="02020603050405020304" pitchFamily="18" charset="0"/>
                <a:cs typeface="Times New Roman" panose="02020603050405020304" pitchFamily="18" charset="0"/>
              </a:rPr>
              <a:t>Although on average underperforming </a:t>
            </a:r>
            <a:r>
              <a:rPr lang="en-US" altLang="zh-TW" sz="2300" dirty="0" err="1">
                <a:latin typeface="Times New Roman" panose="02020603050405020304" pitchFamily="18" charset="0"/>
                <a:cs typeface="Times New Roman" panose="02020603050405020304" pitchFamily="18" charset="0"/>
              </a:rPr>
              <a:t>AlphaFold</a:t>
            </a:r>
            <a:r>
              <a:rPr lang="en-US" altLang="zh-TW" sz="2300" dirty="0">
                <a:latin typeface="Times New Roman" panose="02020603050405020304" pitchFamily="18" charset="0"/>
                <a:cs typeface="Times New Roman" panose="02020603050405020304" pitchFamily="18" charset="0"/>
              </a:rPr>
              <a:t> in 3D modeling, </a:t>
            </a:r>
            <a:r>
              <a:rPr lang="en-US" altLang="zh-TW" sz="2300" dirty="0" err="1">
                <a:latin typeface="Times New Roman" panose="02020603050405020304" pitchFamily="18" charset="0"/>
                <a:cs typeface="Times New Roman" panose="02020603050405020304" pitchFamily="18" charset="0"/>
              </a:rPr>
              <a:t>RaptorX</a:t>
            </a:r>
            <a:r>
              <a:rPr lang="en-US" altLang="zh-TW" sz="2300" dirty="0">
                <a:latin typeface="Times New Roman" panose="02020603050405020304" pitchFamily="18" charset="0"/>
                <a:cs typeface="Times New Roman" panose="02020603050405020304" pitchFamily="18" charset="0"/>
              </a:rPr>
              <a:t> predicted correct folds for all FM targets with &gt;300 residues (T0950-D1, T0969-D1 and T1000-D2) and generated the best 3D models for T0950-D1 and T0969-D1 among all groups. This CASP13 test confirms our previous findings: (1) predicted distance is more useful than contacts for both template-based and free modeling; and (2) structure modeling may be improved by integrating alignment and co-evolutionary information via deep learning. This paper will discuss progress we have made since CASP12, the strength and weakness of our methods, and why deep learning performed much better in CASP13.</a:t>
            </a:r>
            <a:endParaRPr lang="en-US" altLang="zh-TW" sz="2300" dirty="0">
              <a:latin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10844604" cy="729274"/>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Deep dilated </a:t>
            </a:r>
            <a:r>
              <a:rPr lang="en-US" altLang="zh-TW" sz="3600" dirty="0" err="1">
                <a:latin typeface="Times New Roman" panose="02020603050405020304" pitchFamily="18" charset="0"/>
                <a:cs typeface="Times New Roman" panose="02020603050405020304" pitchFamily="18" charset="0"/>
              </a:rPr>
              <a:t>ResNet</a:t>
            </a:r>
            <a:r>
              <a:rPr lang="en-US" altLang="zh-TW" sz="3600" dirty="0">
                <a:latin typeface="Times New Roman" panose="02020603050405020304" pitchFamily="18" charset="0"/>
                <a:cs typeface="Times New Roman" panose="02020603050405020304" pitchFamily="18" charset="0"/>
              </a:rPr>
              <a:t> for protein distance and contact prediction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endParaRPr lang="en-US" altLang="zh-TW" sz="2300" dirty="0"/>
          </a:p>
        </p:txBody>
      </p:sp>
      <p:pic>
        <p:nvPicPr>
          <p:cNvPr id="1026" name="Picture 2" descr="https://www.biorxiv.org/content/biorxiv/early/2019/05/02/624460/F1.large.jpg?width=800&amp;height=600&amp;carousel=1">
            <a:extLst>
              <a:ext uri="{FF2B5EF4-FFF2-40B4-BE49-F238E27FC236}">
                <a16:creationId xmlns:a16="http://schemas.microsoft.com/office/drawing/2014/main" xmlns="" id="{E815662A-0022-4BC0-AB29-B0EAFC8697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6018" y="1448206"/>
            <a:ext cx="8216348" cy="4615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4466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preview">
            <a:extLst>
              <a:ext uri="{FF2B5EF4-FFF2-40B4-BE49-F238E27FC236}">
                <a16:creationId xmlns:a16="http://schemas.microsoft.com/office/drawing/2014/main" xmlns="" id="{23994E82-A7EF-4945-8575-6E4AA56190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594" y="898264"/>
            <a:ext cx="8658340" cy="5653335"/>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Residual block</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endParaRPr lang="en-US" altLang="zh-TW" sz="2300" dirty="0"/>
          </a:p>
        </p:txBody>
      </p:sp>
    </p:spTree>
    <p:extLst>
      <p:ext uri="{BB962C8B-B14F-4D97-AF65-F5344CB8AC3E}">
        <p14:creationId xmlns:p14="http://schemas.microsoft.com/office/powerpoint/2010/main" val="42214974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10844604" cy="729274"/>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Deep dilated </a:t>
            </a:r>
            <a:r>
              <a:rPr lang="en-US" altLang="zh-TW" sz="3600" dirty="0" err="1">
                <a:latin typeface="Times New Roman" panose="02020603050405020304" pitchFamily="18" charset="0"/>
                <a:cs typeface="Times New Roman" panose="02020603050405020304" pitchFamily="18" charset="0"/>
              </a:rPr>
              <a:t>ResNet</a:t>
            </a:r>
            <a:r>
              <a:rPr lang="en-US" altLang="zh-TW" sz="3600" dirty="0">
                <a:latin typeface="Times New Roman" panose="02020603050405020304" pitchFamily="18" charset="0"/>
                <a:cs typeface="Times New Roman" panose="02020603050405020304" pitchFamily="18" charset="0"/>
              </a:rPr>
              <a:t> for protein distance and contact prediction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lnSpcReduction="10000"/>
          </a:bodyPr>
          <a:lstStyle/>
          <a:p>
            <a:r>
              <a:rPr lang="en-US" altLang="zh-TW" sz="2700" dirty="0"/>
              <a:t>Discretize inter-atom distance into 25 bins: &lt;4.5Å, 4.5-5Å, 5-5.5Å, …, 15-15.5Å, 15.5-16Å, and &gt;16Å and treat each bin as a label for classification.</a:t>
            </a:r>
          </a:p>
          <a:p>
            <a:endParaRPr lang="en-US" altLang="zh-TW" sz="2700" dirty="0"/>
          </a:p>
          <a:p>
            <a:r>
              <a:rPr lang="en-US" altLang="zh-TW" sz="2700" dirty="0"/>
              <a:t>Contact prediction is fulfilled by summing up the probability of all the Cβ-Cβ distance bins falling into interval [0, 8Å].</a:t>
            </a:r>
          </a:p>
          <a:p>
            <a:pPr lvl="1"/>
            <a:r>
              <a:rPr lang="pt-BR" altLang="zh-TW" sz="2300" dirty="0"/>
              <a:t>Cα-Cα, Cα-Cg, Cg-Cg, and N-O.</a:t>
            </a:r>
          </a:p>
          <a:p>
            <a:r>
              <a:rPr lang="en-US" altLang="zh-TW" sz="2700" dirty="0"/>
              <a:t>Angles </a:t>
            </a:r>
            <a:r>
              <a:rPr lang="en-US" altLang="zh-TW" sz="2700" dirty="0">
                <a:latin typeface="Arial" panose="020B0604020202020204" pitchFamily="34" charset="0"/>
                <a:ea typeface="+mj-ea"/>
                <a:cs typeface="Arial" panose="020B0604020202020204" pitchFamily="34" charset="0"/>
              </a:rPr>
              <a:t>ϕ</a:t>
            </a:r>
            <a:r>
              <a:rPr lang="en-US" altLang="zh-TW" sz="2700" dirty="0"/>
              <a:t> and ψ from position specific scoring matrix (PSSM) generated by </a:t>
            </a:r>
            <a:r>
              <a:rPr lang="en-US" altLang="zh-TW" sz="2700" dirty="0" err="1"/>
              <a:t>HHblits</a:t>
            </a:r>
            <a:r>
              <a:rPr lang="en-US" altLang="zh-TW" sz="2700" dirty="0"/>
              <a:t>.</a:t>
            </a:r>
          </a:p>
          <a:p>
            <a:endParaRPr lang="en-US" altLang="zh-TW" sz="2700" dirty="0"/>
          </a:p>
          <a:p>
            <a:endParaRPr lang="en-US" altLang="zh-TW" sz="2700" dirty="0"/>
          </a:p>
          <a:p>
            <a:r>
              <a:rPr lang="en-US" altLang="zh-TW" sz="2700" dirty="0"/>
              <a:t>σ1, σ2 are the variance and ρ is the correlation.</a:t>
            </a:r>
          </a:p>
        </p:txBody>
      </p:sp>
      <p:pic>
        <p:nvPicPr>
          <p:cNvPr id="9218" name="Picture 2" descr="Embedded Image">
            <a:extLst>
              <a:ext uri="{FF2B5EF4-FFF2-40B4-BE49-F238E27FC236}">
                <a16:creationId xmlns:a16="http://schemas.microsoft.com/office/drawing/2014/main" xmlns="" id="{084B044D-DE11-4C89-A96A-114A800011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885" y="4535285"/>
            <a:ext cx="10125075" cy="62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2511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10844604" cy="729274"/>
          </a:xfrm>
        </p:spPr>
        <p:txBody>
          <a:bodyPr>
            <a:normAutofit/>
          </a:bodyPr>
          <a:lstStyle/>
          <a:p>
            <a:r>
              <a:rPr lang="en-US" altLang="zh-TW" sz="3600" dirty="0">
                <a:latin typeface="Times New Roman" panose="02020603050405020304" pitchFamily="18" charset="0"/>
                <a:cs typeface="Times New Roman" panose="02020603050405020304" pitchFamily="18" charset="0"/>
              </a:rPr>
              <a:t>Multiple sequence alignment (MSA) and input features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r>
              <a:rPr lang="en-US" altLang="zh-TW" dirty="0"/>
              <a:t>Generated four different MSAs by running </a:t>
            </a:r>
          </a:p>
          <a:p>
            <a:pPr lvl="1"/>
            <a:r>
              <a:rPr lang="en-US" altLang="zh-TW" dirty="0" err="1"/>
              <a:t>HHblits</a:t>
            </a:r>
            <a:r>
              <a:rPr lang="en-US" altLang="zh-TW" dirty="0"/>
              <a:t> with 3 iterations and E-value set to 0.001 and 1</a:t>
            </a:r>
          </a:p>
          <a:p>
            <a:pPr lvl="1"/>
            <a:r>
              <a:rPr lang="en-US" altLang="zh-TW" dirty="0" err="1"/>
              <a:t>Jackhmmer</a:t>
            </a:r>
            <a:r>
              <a:rPr lang="en-US" altLang="zh-TW" dirty="0"/>
              <a:t> with E-value set to 0.001 and 0.00001</a:t>
            </a:r>
          </a:p>
          <a:p>
            <a:r>
              <a:rPr lang="en-US" altLang="zh-TW" dirty="0"/>
              <a:t>Each MSA, we derive protein sequential and pairwise features.</a:t>
            </a:r>
          </a:p>
          <a:p>
            <a:r>
              <a:rPr lang="en-US" altLang="zh-TW" dirty="0"/>
              <a:t>Sequential features include </a:t>
            </a:r>
            <a:r>
              <a:rPr lang="en-US" altLang="zh-TW" b="1" dirty="0"/>
              <a:t>sequence profile, secondary structure and solvent accessibility</a:t>
            </a:r>
            <a:r>
              <a:rPr lang="en-US" altLang="zh-TW" dirty="0"/>
              <a:t> predicted by </a:t>
            </a:r>
            <a:r>
              <a:rPr lang="en-US" altLang="zh-TW" dirty="0" err="1"/>
              <a:t>RaptorX</a:t>
            </a:r>
            <a:r>
              <a:rPr lang="en-US" altLang="zh-TW" dirty="0"/>
              <a:t>-Property.</a:t>
            </a:r>
          </a:p>
          <a:p>
            <a:r>
              <a:rPr lang="en-US" altLang="zh-TW" dirty="0"/>
              <a:t>Pairwise features include </a:t>
            </a:r>
            <a:r>
              <a:rPr lang="en-US" altLang="zh-TW" b="1" dirty="0"/>
              <a:t>standard and APC-corrected mutual information, pairwise contact potential and direct co-evolution strength </a:t>
            </a:r>
            <a:r>
              <a:rPr lang="en-US" altLang="zh-TW" dirty="0"/>
              <a:t>calculated by </a:t>
            </a:r>
            <a:r>
              <a:rPr lang="en-US" altLang="zh-TW" dirty="0" err="1"/>
              <a:t>CCMpred</a:t>
            </a:r>
            <a:r>
              <a:rPr lang="en-US" altLang="zh-TW" dirty="0"/>
              <a:t>.</a:t>
            </a:r>
          </a:p>
        </p:txBody>
      </p:sp>
    </p:spTree>
    <p:extLst>
      <p:ext uri="{BB962C8B-B14F-4D97-AF65-F5344CB8AC3E}">
        <p14:creationId xmlns:p14="http://schemas.microsoft.com/office/powerpoint/2010/main" val="19634235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10844604" cy="729274"/>
          </a:xfrm>
        </p:spPr>
        <p:txBody>
          <a:bodyPr>
            <a:normAutofit/>
          </a:bodyPr>
          <a:lstStyle/>
          <a:p>
            <a:r>
              <a:rPr lang="en-US" altLang="zh-TW" sz="3600" dirty="0" err="1">
                <a:latin typeface="Times New Roman" panose="02020603050405020304" pitchFamily="18" charset="0"/>
                <a:cs typeface="Times New Roman" panose="02020603050405020304" pitchFamily="18" charset="0"/>
              </a:rPr>
              <a:t>RaptorX</a:t>
            </a:r>
            <a:r>
              <a:rPr lang="en-US" altLang="zh-TW" sz="3600" dirty="0">
                <a:latin typeface="Times New Roman" panose="02020603050405020304" pitchFamily="18" charset="0"/>
                <a:cs typeface="Times New Roman" panose="02020603050405020304" pitchFamily="18" charset="0"/>
              </a:rPr>
              <a:t>-Contact</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r>
              <a:rPr lang="en-US" altLang="zh-TW" dirty="0"/>
              <a:t>Predicted distance distribution, secondary structure and backbone torsion angles into CNS restraints and builds 3D models by running CNS</a:t>
            </a:r>
          </a:p>
          <a:p>
            <a:pPr lvl="1"/>
            <a:r>
              <a:rPr lang="en-US" altLang="zh-TW" dirty="0"/>
              <a:t>CNS is a software program for experimental protein structure determination.</a:t>
            </a:r>
          </a:p>
          <a:p>
            <a:r>
              <a:rPr lang="en-US" altLang="zh-TW" dirty="0"/>
              <a:t>Pick 7L pairs with the highest predicted likelihood (probability) having distance &lt;15Å.</a:t>
            </a:r>
          </a:p>
          <a:p>
            <a:r>
              <a:rPr lang="en-US" altLang="zh-TW" dirty="0"/>
              <a:t>Run CNS to generate 200 possible 3D models and choose 5 with the least violation of distance restraints as the final models.</a:t>
            </a:r>
          </a:p>
        </p:txBody>
      </p:sp>
    </p:spTree>
    <p:extLst>
      <p:ext uri="{BB962C8B-B14F-4D97-AF65-F5344CB8AC3E}">
        <p14:creationId xmlns:p14="http://schemas.microsoft.com/office/powerpoint/2010/main" val="13757437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10425056" cy="69749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graphicFrame>
        <p:nvGraphicFramePr>
          <p:cNvPr id="3" name="內容版面配置區 2">
            <a:extLst>
              <a:ext uri="{FF2B5EF4-FFF2-40B4-BE49-F238E27FC236}">
                <a16:creationId xmlns:a16="http://schemas.microsoft.com/office/drawing/2014/main" xmlns="" id="{7E9AAB15-F07D-4B3C-8094-D9F7483AF051}"/>
              </a:ext>
            </a:extLst>
          </p:cNvPr>
          <p:cNvGraphicFramePr>
            <a:graphicFrameLocks noGrp="1"/>
          </p:cNvGraphicFramePr>
          <p:nvPr>
            <p:ph idx="1"/>
            <p:extLst>
              <p:ext uri="{D42A27DB-BD31-4B8C-83A1-F6EECF244321}">
                <p14:modId xmlns:p14="http://schemas.microsoft.com/office/powerpoint/2010/main" val="1245584339"/>
              </p:ext>
            </p:extLst>
          </p:nvPr>
        </p:nvGraphicFramePr>
        <p:xfrm>
          <a:off x="775894" y="1250984"/>
          <a:ext cx="10640211" cy="5273040"/>
        </p:xfrm>
        <a:graphic>
          <a:graphicData uri="http://schemas.openxmlformats.org/drawingml/2006/table">
            <a:tbl>
              <a:tblPr firstRow="1" bandRow="1">
                <a:tableStyleId>{5940675A-B579-460E-94D1-54222C63F5DA}</a:tableStyleId>
              </a:tblPr>
              <a:tblGrid>
                <a:gridCol w="1416334">
                  <a:extLst>
                    <a:ext uri="{9D8B030D-6E8A-4147-A177-3AD203B41FA5}">
                      <a16:colId xmlns:a16="http://schemas.microsoft.com/office/drawing/2014/main" xmlns="" val="2946620759"/>
                    </a:ext>
                  </a:extLst>
                </a:gridCol>
                <a:gridCol w="1501872">
                  <a:extLst>
                    <a:ext uri="{9D8B030D-6E8A-4147-A177-3AD203B41FA5}">
                      <a16:colId xmlns:a16="http://schemas.microsoft.com/office/drawing/2014/main" xmlns="" val="4179372591"/>
                    </a:ext>
                  </a:extLst>
                </a:gridCol>
                <a:gridCol w="1663945">
                  <a:extLst>
                    <a:ext uri="{9D8B030D-6E8A-4147-A177-3AD203B41FA5}">
                      <a16:colId xmlns:a16="http://schemas.microsoft.com/office/drawing/2014/main" xmlns="" val="1101973556"/>
                    </a:ext>
                  </a:extLst>
                </a:gridCol>
                <a:gridCol w="1497970">
                  <a:extLst>
                    <a:ext uri="{9D8B030D-6E8A-4147-A177-3AD203B41FA5}">
                      <a16:colId xmlns:a16="http://schemas.microsoft.com/office/drawing/2014/main" xmlns="" val="2745106842"/>
                    </a:ext>
                  </a:extLst>
                </a:gridCol>
                <a:gridCol w="1520030">
                  <a:extLst>
                    <a:ext uri="{9D8B030D-6E8A-4147-A177-3AD203B41FA5}">
                      <a16:colId xmlns:a16="http://schemas.microsoft.com/office/drawing/2014/main" xmlns="" val="3087600568"/>
                    </a:ext>
                  </a:extLst>
                </a:gridCol>
                <a:gridCol w="1520030">
                  <a:extLst>
                    <a:ext uri="{9D8B030D-6E8A-4147-A177-3AD203B41FA5}">
                      <a16:colId xmlns:a16="http://schemas.microsoft.com/office/drawing/2014/main" xmlns="" val="2764070923"/>
                    </a:ext>
                  </a:extLst>
                </a:gridCol>
                <a:gridCol w="1520030">
                  <a:extLst>
                    <a:ext uri="{9D8B030D-6E8A-4147-A177-3AD203B41FA5}">
                      <a16:colId xmlns:a16="http://schemas.microsoft.com/office/drawing/2014/main" xmlns="" val="3112195867"/>
                    </a:ext>
                  </a:extLst>
                </a:gridCol>
              </a:tblGrid>
              <a:tr h="574322">
                <a:tc>
                  <a:txBody>
                    <a:bodyPr/>
                    <a:lstStyle/>
                    <a:p>
                      <a:pPr algn="ctr"/>
                      <a:endParaRPr lang="zh-TW" altLang="en-US" sz="3200" dirty="0"/>
                    </a:p>
                  </a:txBody>
                  <a:tcPr/>
                </a:tc>
                <a:tc gridSpan="3">
                  <a:txBody>
                    <a:bodyPr/>
                    <a:lstStyle/>
                    <a:p>
                      <a:pPr algn="ctr"/>
                      <a:r>
                        <a:rPr lang="en-US" altLang="zh-TW" sz="2800" dirty="0"/>
                        <a:t>long-range contact precision(%)</a:t>
                      </a:r>
                      <a:endParaRPr lang="zh-TW" altLang="en-US" sz="2800" dirty="0"/>
                    </a:p>
                  </a:txBody>
                  <a:tcPr/>
                </a:tc>
                <a:tc hMerge="1">
                  <a:txBody>
                    <a:bodyPr/>
                    <a:lstStyle/>
                    <a:p>
                      <a:pPr algn="ctr"/>
                      <a:endParaRPr lang="zh-TW" altLang="en-US" sz="3200" dirty="0"/>
                    </a:p>
                  </a:txBody>
                  <a:tcPr/>
                </a:tc>
                <a:tc hMerge="1">
                  <a:txBody>
                    <a:bodyPr/>
                    <a:lstStyle/>
                    <a:p>
                      <a:pPr algn="ctr"/>
                      <a:endParaRPr lang="zh-TW" altLang="en-US" sz="3200" dirty="0"/>
                    </a:p>
                  </a:txBody>
                  <a:tcPr/>
                </a:tc>
                <a:tc gridSpan="3">
                  <a:txBody>
                    <a:bodyPr/>
                    <a:lstStyle/>
                    <a:p>
                      <a:pPr algn="ctr"/>
                      <a:r>
                        <a:rPr lang="en-US" altLang="zh-TW" sz="3200" dirty="0"/>
                        <a:t>F1-values</a:t>
                      </a:r>
                      <a:endParaRPr lang="zh-TW" altLang="en-US" sz="3200" dirty="0"/>
                    </a:p>
                  </a:txBody>
                  <a:tcPr/>
                </a:tc>
                <a:tc hMerge="1">
                  <a:txBody>
                    <a:bodyPr/>
                    <a:lstStyle/>
                    <a:p>
                      <a:pPr algn="ctr"/>
                      <a:endParaRPr lang="zh-TW" altLang="en-US" sz="3200" dirty="0"/>
                    </a:p>
                  </a:txBody>
                  <a:tcPr/>
                </a:tc>
                <a:tc hMerge="1">
                  <a:txBody>
                    <a:bodyPr/>
                    <a:lstStyle/>
                    <a:p>
                      <a:pPr algn="ctr"/>
                      <a:endParaRPr lang="zh-TW" altLang="en-US" sz="3200" dirty="0"/>
                    </a:p>
                  </a:txBody>
                  <a:tcPr/>
                </a:tc>
                <a:extLst>
                  <a:ext uri="{0D108BD9-81ED-4DB2-BD59-A6C34878D82A}">
                    <a16:rowId xmlns:a16="http://schemas.microsoft.com/office/drawing/2014/main" xmlns="" val="2578108087"/>
                  </a:ext>
                </a:extLst>
              </a:tr>
              <a:tr h="511530">
                <a:tc>
                  <a:txBody>
                    <a:bodyPr/>
                    <a:lstStyle/>
                    <a:p>
                      <a:pPr algn="ctr"/>
                      <a:endParaRPr lang="zh-TW" altLang="en-US" sz="2400" dirty="0"/>
                    </a:p>
                  </a:txBody>
                  <a:tcPr/>
                </a:tc>
                <a:tc>
                  <a:txBody>
                    <a:bodyPr/>
                    <a:lstStyle/>
                    <a:p>
                      <a:pPr algn="ctr"/>
                      <a:r>
                        <a:rPr lang="en-US" altLang="zh-TW" sz="3200" dirty="0"/>
                        <a:t>L/5</a:t>
                      </a:r>
                      <a:endParaRPr lang="zh-TW" altLang="en-US" sz="3200" dirty="0"/>
                    </a:p>
                  </a:txBody>
                  <a:tcPr/>
                </a:tc>
                <a:tc>
                  <a:txBody>
                    <a:bodyPr/>
                    <a:lstStyle/>
                    <a:p>
                      <a:pPr algn="ctr"/>
                      <a:r>
                        <a:rPr lang="en-US" altLang="zh-TW" sz="3200" dirty="0"/>
                        <a:t>L/2</a:t>
                      </a:r>
                      <a:endParaRPr lang="zh-TW" altLang="en-US" sz="3200" dirty="0"/>
                    </a:p>
                  </a:txBody>
                  <a:tcPr/>
                </a:tc>
                <a:tc>
                  <a:txBody>
                    <a:bodyPr/>
                    <a:lstStyle/>
                    <a:p>
                      <a:pPr algn="ctr"/>
                      <a:r>
                        <a:rPr lang="en-US" altLang="zh-TW" sz="3200" dirty="0"/>
                        <a:t>L</a:t>
                      </a:r>
                      <a:endParaRPr lang="zh-TW" altLang="en-US" sz="3200" dirty="0"/>
                    </a:p>
                  </a:txBody>
                  <a:tcPr/>
                </a:tc>
                <a:tc>
                  <a:txBody>
                    <a:bodyPr/>
                    <a:lstStyle/>
                    <a:p>
                      <a:pPr algn="ctr"/>
                      <a:r>
                        <a:rPr lang="en-US" altLang="zh-TW" sz="3200" dirty="0"/>
                        <a:t>L/5</a:t>
                      </a:r>
                      <a:endParaRPr lang="zh-TW" altLang="en-US" sz="3200" dirty="0"/>
                    </a:p>
                  </a:txBody>
                  <a:tcPr/>
                </a:tc>
                <a:tc>
                  <a:txBody>
                    <a:bodyPr/>
                    <a:lstStyle/>
                    <a:p>
                      <a:pPr algn="ctr"/>
                      <a:r>
                        <a:rPr lang="en-US" altLang="zh-TW" sz="3200" dirty="0"/>
                        <a:t>L/2</a:t>
                      </a:r>
                      <a:endParaRPr lang="zh-TW" altLang="en-US" sz="3200" dirty="0"/>
                    </a:p>
                  </a:txBody>
                  <a:tcPr/>
                </a:tc>
                <a:tc>
                  <a:txBody>
                    <a:bodyPr/>
                    <a:lstStyle/>
                    <a:p>
                      <a:pPr algn="ctr"/>
                      <a:r>
                        <a:rPr lang="en-US" altLang="zh-TW" sz="3200" dirty="0"/>
                        <a:t>L</a:t>
                      </a:r>
                      <a:endParaRPr lang="zh-TW" altLang="en-US" sz="3200" dirty="0"/>
                    </a:p>
                  </a:txBody>
                  <a:tcPr/>
                </a:tc>
                <a:extLst>
                  <a:ext uri="{0D108BD9-81ED-4DB2-BD59-A6C34878D82A}">
                    <a16:rowId xmlns:a16="http://schemas.microsoft.com/office/drawing/2014/main" xmlns="" val="2292615149"/>
                  </a:ext>
                </a:extLst>
              </a:tr>
              <a:tr h="3197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dirty="0" err="1"/>
                        <a:t>RaptorX</a:t>
                      </a:r>
                      <a:r>
                        <a:rPr lang="en-US" altLang="zh-TW" sz="2400" dirty="0"/>
                        <a:t>-Contact</a:t>
                      </a:r>
                      <a:endParaRPr lang="zh-TW" altLang="en-US" sz="2400" dirty="0"/>
                    </a:p>
                  </a:txBody>
                  <a:tcPr/>
                </a:tc>
                <a:tc>
                  <a:txBody>
                    <a:bodyPr/>
                    <a:lstStyle/>
                    <a:p>
                      <a:pPr algn="ctr"/>
                      <a:r>
                        <a:rPr lang="en-US" altLang="zh-TW" sz="3200" dirty="0"/>
                        <a:t>70.054</a:t>
                      </a:r>
                      <a:endParaRPr lang="zh-TW" altLang="en-US" sz="3200" dirty="0"/>
                    </a:p>
                  </a:txBody>
                  <a:tcPr/>
                </a:tc>
                <a:tc>
                  <a:txBody>
                    <a:bodyPr/>
                    <a:lstStyle/>
                    <a:p>
                      <a:pPr algn="ctr"/>
                      <a:r>
                        <a:rPr lang="en-US" altLang="zh-TW" sz="3200" dirty="0"/>
                        <a:t>57.787</a:t>
                      </a:r>
                      <a:endParaRPr lang="zh-TW" altLang="en-US" sz="3200" dirty="0"/>
                    </a:p>
                  </a:txBody>
                  <a:tcPr/>
                </a:tc>
                <a:tc>
                  <a:txBody>
                    <a:bodyPr/>
                    <a:lstStyle/>
                    <a:p>
                      <a:pPr algn="ctr"/>
                      <a:r>
                        <a:rPr lang="en-US" altLang="zh-TW" sz="3200" dirty="0"/>
                        <a:t>44.731</a:t>
                      </a:r>
                      <a:endParaRPr lang="zh-TW" altLang="en-US" sz="3200" dirty="0"/>
                    </a:p>
                  </a:txBody>
                  <a:tcPr/>
                </a:tc>
                <a:tc>
                  <a:txBody>
                    <a:bodyPr/>
                    <a:lstStyle/>
                    <a:p>
                      <a:pPr algn="ctr"/>
                      <a:r>
                        <a:rPr lang="en-US" altLang="zh-TW" sz="3200" dirty="0"/>
                        <a:t>0.233</a:t>
                      </a:r>
                      <a:endParaRPr lang="zh-TW" altLang="en-US" sz="3200" dirty="0"/>
                    </a:p>
                  </a:txBody>
                  <a:tcPr/>
                </a:tc>
                <a:tc>
                  <a:txBody>
                    <a:bodyPr/>
                    <a:lstStyle/>
                    <a:p>
                      <a:pPr algn="ctr"/>
                      <a:r>
                        <a:rPr lang="en-US" altLang="zh-TW" sz="3200" dirty="0"/>
                        <a:t>0.362</a:t>
                      </a:r>
                      <a:endParaRPr lang="zh-TW" altLang="en-US" sz="3200" dirty="0"/>
                    </a:p>
                  </a:txBody>
                  <a:tcPr/>
                </a:tc>
                <a:tc>
                  <a:txBody>
                    <a:bodyPr/>
                    <a:lstStyle/>
                    <a:p>
                      <a:pPr algn="ctr"/>
                      <a:r>
                        <a:rPr lang="en-US" altLang="zh-TW" sz="3200" dirty="0"/>
                        <a:t>0.411</a:t>
                      </a:r>
                      <a:endParaRPr lang="zh-TW" altLang="en-US" sz="3200" dirty="0"/>
                    </a:p>
                  </a:txBody>
                  <a:tcPr/>
                </a:tc>
                <a:extLst>
                  <a:ext uri="{0D108BD9-81ED-4DB2-BD59-A6C34878D82A}">
                    <a16:rowId xmlns:a16="http://schemas.microsoft.com/office/drawing/2014/main" xmlns="" val="939724251"/>
                  </a:ext>
                </a:extLst>
              </a:tr>
              <a:tr h="511530">
                <a:tc>
                  <a:txBody>
                    <a:bodyPr/>
                    <a:lstStyle/>
                    <a:p>
                      <a:pPr algn="ctr"/>
                      <a:r>
                        <a:rPr lang="en-US" altLang="zh-TW" sz="2400" dirty="0"/>
                        <a:t>Other group1</a:t>
                      </a:r>
                      <a:endParaRPr lang="zh-TW" altLang="en-US" sz="2400" dirty="0"/>
                    </a:p>
                  </a:txBody>
                  <a:tcPr/>
                </a:tc>
                <a:tc>
                  <a:txBody>
                    <a:bodyPr/>
                    <a:lstStyle/>
                    <a:p>
                      <a:pPr algn="ctr"/>
                      <a:r>
                        <a:rPr lang="en-US" altLang="zh-TW" sz="3200" dirty="0"/>
                        <a:t>65.678</a:t>
                      </a:r>
                      <a:endParaRPr lang="zh-TW" altLang="en-US" sz="3200" dirty="0"/>
                    </a:p>
                  </a:txBody>
                  <a:tcPr/>
                </a:tc>
                <a:tc>
                  <a:txBody>
                    <a:bodyPr/>
                    <a:lstStyle/>
                    <a:p>
                      <a:pPr algn="ctr"/>
                      <a:endParaRPr lang="zh-TW" altLang="en-US" sz="3200" dirty="0"/>
                    </a:p>
                  </a:txBody>
                  <a:tcPr/>
                </a:tc>
                <a:tc>
                  <a:txBody>
                    <a:bodyPr/>
                    <a:lstStyle/>
                    <a:p>
                      <a:pPr algn="ctr"/>
                      <a:endParaRPr lang="zh-TW" altLang="en-US" sz="3200" dirty="0"/>
                    </a:p>
                  </a:txBody>
                  <a:tcPr/>
                </a:tc>
                <a:tc>
                  <a:txBody>
                    <a:bodyPr/>
                    <a:lstStyle/>
                    <a:p>
                      <a:pPr algn="ctr"/>
                      <a:r>
                        <a:rPr lang="en-US" altLang="zh-TW" sz="3200" dirty="0"/>
                        <a:t>0.213</a:t>
                      </a:r>
                      <a:endParaRPr lang="zh-TW" altLang="en-US" sz="3200" dirty="0"/>
                    </a:p>
                  </a:txBody>
                  <a:tcPr/>
                </a:tc>
                <a:tc>
                  <a:txBody>
                    <a:bodyPr/>
                    <a:lstStyle/>
                    <a:p>
                      <a:pPr algn="ctr"/>
                      <a:endParaRPr lang="zh-TW" altLang="en-US" sz="3200" dirty="0"/>
                    </a:p>
                  </a:txBody>
                  <a:tcPr/>
                </a:tc>
                <a:tc>
                  <a:txBody>
                    <a:bodyPr/>
                    <a:lstStyle/>
                    <a:p>
                      <a:pPr algn="ctr"/>
                      <a:endParaRPr lang="zh-TW" altLang="en-US" sz="3200" dirty="0"/>
                    </a:p>
                  </a:txBody>
                  <a:tcPr/>
                </a:tc>
                <a:extLst>
                  <a:ext uri="{0D108BD9-81ED-4DB2-BD59-A6C34878D82A}">
                    <a16:rowId xmlns:a16="http://schemas.microsoft.com/office/drawing/2014/main" xmlns="" val="1281994476"/>
                  </a:ext>
                </a:extLst>
              </a:tr>
              <a:tr h="5115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Other group2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sz="3200" dirty="0"/>
                        <a:t>64.031</a:t>
                      </a:r>
                      <a:endParaRPr lang="zh-TW" altLang="en-US" sz="3200" dirty="0"/>
                    </a:p>
                  </a:txBody>
                  <a:tcPr/>
                </a:tc>
                <a:tc>
                  <a:txBody>
                    <a:bodyPr/>
                    <a:lstStyle/>
                    <a:p>
                      <a:pPr algn="ctr"/>
                      <a:endParaRPr lang="zh-TW" altLang="en-US" sz="3200" dirty="0"/>
                    </a:p>
                  </a:txBody>
                  <a:tcPr/>
                </a:tc>
                <a:tc>
                  <a:txBody>
                    <a:bodyPr/>
                    <a:lstStyle/>
                    <a:p>
                      <a:pPr algn="ctr"/>
                      <a:endParaRPr lang="zh-TW" altLang="en-US" sz="3200" dirty="0"/>
                    </a:p>
                  </a:txBody>
                  <a:tcPr/>
                </a:tc>
                <a:tc>
                  <a:txBody>
                    <a:bodyPr/>
                    <a:lstStyle/>
                    <a:p>
                      <a:pPr algn="ctr"/>
                      <a:r>
                        <a:rPr lang="en-US" altLang="zh-TW" sz="3200" dirty="0"/>
                        <a:t>0.208</a:t>
                      </a:r>
                      <a:endParaRPr lang="zh-TW" altLang="en-US" sz="3200" dirty="0"/>
                    </a:p>
                  </a:txBody>
                  <a:tcPr/>
                </a:tc>
                <a:tc>
                  <a:txBody>
                    <a:bodyPr/>
                    <a:lstStyle/>
                    <a:p>
                      <a:pPr algn="ctr"/>
                      <a:endParaRPr lang="zh-TW" altLang="en-US" sz="3200" dirty="0"/>
                    </a:p>
                  </a:txBody>
                  <a:tcPr/>
                </a:tc>
                <a:tc>
                  <a:txBody>
                    <a:bodyPr/>
                    <a:lstStyle/>
                    <a:p>
                      <a:pPr algn="ctr"/>
                      <a:endParaRPr lang="zh-TW" altLang="en-US" sz="3200" dirty="0"/>
                    </a:p>
                  </a:txBody>
                  <a:tcPr/>
                </a:tc>
                <a:extLst>
                  <a:ext uri="{0D108BD9-81ED-4DB2-BD59-A6C34878D82A}">
                    <a16:rowId xmlns:a16="http://schemas.microsoft.com/office/drawing/2014/main" xmlns="" val="2816026607"/>
                  </a:ext>
                </a:extLst>
              </a:tr>
              <a:tr h="5115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Other group3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sz="3200" dirty="0"/>
                        <a:t>60.798</a:t>
                      </a:r>
                      <a:endParaRPr lang="zh-TW" altLang="en-US" sz="3200" dirty="0"/>
                    </a:p>
                  </a:txBody>
                  <a:tcPr/>
                </a:tc>
                <a:tc>
                  <a:txBody>
                    <a:bodyPr/>
                    <a:lstStyle/>
                    <a:p>
                      <a:pPr algn="ctr"/>
                      <a:endParaRPr lang="zh-TW" altLang="en-US" sz="3200" dirty="0"/>
                    </a:p>
                  </a:txBody>
                  <a:tcPr/>
                </a:tc>
                <a:tc>
                  <a:txBody>
                    <a:bodyPr/>
                    <a:lstStyle/>
                    <a:p>
                      <a:pPr algn="ctr"/>
                      <a:endParaRPr lang="zh-TW" altLang="en-US" sz="3200" dirty="0"/>
                    </a:p>
                  </a:txBody>
                  <a:tcPr/>
                </a:tc>
                <a:tc>
                  <a:txBody>
                    <a:bodyPr/>
                    <a:lstStyle/>
                    <a:p>
                      <a:pPr algn="ctr"/>
                      <a:r>
                        <a:rPr lang="en-US" altLang="zh-TW" sz="3200" dirty="0"/>
                        <a:t>0.192</a:t>
                      </a:r>
                      <a:endParaRPr lang="zh-TW" altLang="en-US" sz="3200" dirty="0"/>
                    </a:p>
                  </a:txBody>
                  <a:tcPr/>
                </a:tc>
                <a:tc>
                  <a:txBody>
                    <a:bodyPr/>
                    <a:lstStyle/>
                    <a:p>
                      <a:pPr algn="ctr"/>
                      <a:endParaRPr lang="zh-TW" altLang="en-US" sz="3200" dirty="0"/>
                    </a:p>
                  </a:txBody>
                  <a:tcPr/>
                </a:tc>
                <a:tc>
                  <a:txBody>
                    <a:bodyPr/>
                    <a:lstStyle/>
                    <a:p>
                      <a:pPr algn="ctr"/>
                      <a:endParaRPr lang="zh-TW" altLang="en-US" sz="3200" dirty="0"/>
                    </a:p>
                  </a:txBody>
                  <a:tcPr/>
                </a:tc>
                <a:extLst>
                  <a:ext uri="{0D108BD9-81ED-4DB2-BD59-A6C34878D82A}">
                    <a16:rowId xmlns:a16="http://schemas.microsoft.com/office/drawing/2014/main" xmlns="" val="1826341158"/>
                  </a:ext>
                </a:extLst>
              </a:tr>
              <a:tr h="5115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Other group4</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sz="3200" dirty="0"/>
                        <a:t>60.595</a:t>
                      </a:r>
                      <a:endParaRPr lang="zh-TW" altLang="en-US" sz="3200" dirty="0"/>
                    </a:p>
                  </a:txBody>
                  <a:tcPr/>
                </a:tc>
                <a:tc>
                  <a:txBody>
                    <a:bodyPr/>
                    <a:lstStyle/>
                    <a:p>
                      <a:pPr algn="ctr"/>
                      <a:endParaRPr lang="zh-TW" altLang="en-US" sz="3200" dirty="0"/>
                    </a:p>
                  </a:txBody>
                  <a:tcPr/>
                </a:tc>
                <a:tc>
                  <a:txBody>
                    <a:bodyPr/>
                    <a:lstStyle/>
                    <a:p>
                      <a:pPr algn="ctr"/>
                      <a:endParaRPr lang="zh-TW" altLang="en-US" sz="3200" dirty="0"/>
                    </a:p>
                  </a:txBody>
                  <a:tcPr/>
                </a:tc>
                <a:tc>
                  <a:txBody>
                    <a:bodyPr/>
                    <a:lstStyle/>
                    <a:p>
                      <a:pPr algn="ctr"/>
                      <a:r>
                        <a:rPr lang="en-US" altLang="zh-TW" sz="3200" dirty="0"/>
                        <a:t>0.191</a:t>
                      </a:r>
                      <a:endParaRPr lang="zh-TW" altLang="en-US" sz="3200" dirty="0"/>
                    </a:p>
                  </a:txBody>
                  <a:tcPr/>
                </a:tc>
                <a:tc>
                  <a:txBody>
                    <a:bodyPr/>
                    <a:lstStyle/>
                    <a:p>
                      <a:pPr algn="ctr"/>
                      <a:endParaRPr lang="zh-TW" altLang="en-US" sz="3200" dirty="0"/>
                    </a:p>
                  </a:txBody>
                  <a:tcPr/>
                </a:tc>
                <a:tc>
                  <a:txBody>
                    <a:bodyPr/>
                    <a:lstStyle/>
                    <a:p>
                      <a:pPr algn="ctr"/>
                      <a:endParaRPr lang="zh-TW" altLang="en-US" sz="3200" dirty="0"/>
                    </a:p>
                  </a:txBody>
                  <a:tcPr/>
                </a:tc>
                <a:extLst>
                  <a:ext uri="{0D108BD9-81ED-4DB2-BD59-A6C34878D82A}">
                    <a16:rowId xmlns:a16="http://schemas.microsoft.com/office/drawing/2014/main" xmlns="" val="2643754177"/>
                  </a:ext>
                </a:extLst>
              </a:tr>
            </a:tbl>
          </a:graphicData>
        </a:graphic>
      </p:graphicFrame>
      <p:cxnSp>
        <p:nvCxnSpPr>
          <p:cNvPr id="10" name="直線接點 9">
            <a:extLst>
              <a:ext uri="{FF2B5EF4-FFF2-40B4-BE49-F238E27FC236}">
                <a16:creationId xmlns:a16="http://schemas.microsoft.com/office/drawing/2014/main" xmlns="" id="{DDE4919A-BE5D-4AF1-91BC-1D6E73DF6059}"/>
              </a:ext>
            </a:extLst>
          </p:cNvPr>
          <p:cNvCxnSpPr>
            <a:cxnSpLocks/>
          </p:cNvCxnSpPr>
          <p:nvPr/>
        </p:nvCxnSpPr>
        <p:spPr>
          <a:xfrm>
            <a:off x="3689873" y="3238052"/>
            <a:ext cx="1688949" cy="796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xmlns="" id="{2DBC3B58-E909-4675-83DC-5DB8275CC5C7}"/>
              </a:ext>
            </a:extLst>
          </p:cNvPr>
          <p:cNvCxnSpPr>
            <a:cxnSpLocks/>
          </p:cNvCxnSpPr>
          <p:nvPr/>
        </p:nvCxnSpPr>
        <p:spPr>
          <a:xfrm>
            <a:off x="5378822" y="3238052"/>
            <a:ext cx="1434354" cy="796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xmlns="" id="{58CD7445-EDA8-4CD8-9B30-631951AC76C7}"/>
              </a:ext>
            </a:extLst>
          </p:cNvPr>
          <p:cNvCxnSpPr>
            <a:cxnSpLocks/>
          </p:cNvCxnSpPr>
          <p:nvPr/>
        </p:nvCxnSpPr>
        <p:spPr>
          <a:xfrm>
            <a:off x="5353720" y="4056484"/>
            <a:ext cx="1459456" cy="8245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xmlns="" id="{92CFF28F-6A83-47E6-9B87-1F1B81A3E695}"/>
              </a:ext>
            </a:extLst>
          </p:cNvPr>
          <p:cNvCxnSpPr>
            <a:cxnSpLocks/>
          </p:cNvCxnSpPr>
          <p:nvPr/>
        </p:nvCxnSpPr>
        <p:spPr>
          <a:xfrm>
            <a:off x="3689873" y="4056484"/>
            <a:ext cx="1688949" cy="8245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xmlns="" id="{CC7898F9-D345-41F1-9F7B-4D004DE4238C}"/>
              </a:ext>
            </a:extLst>
          </p:cNvPr>
          <p:cNvCxnSpPr>
            <a:cxnSpLocks/>
          </p:cNvCxnSpPr>
          <p:nvPr/>
        </p:nvCxnSpPr>
        <p:spPr>
          <a:xfrm>
            <a:off x="3675528" y="4875973"/>
            <a:ext cx="1678192" cy="8234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xmlns="" id="{78F2A1A3-83DC-403D-9FF3-3261F70CE35D}"/>
              </a:ext>
            </a:extLst>
          </p:cNvPr>
          <p:cNvCxnSpPr>
            <a:cxnSpLocks/>
          </p:cNvCxnSpPr>
          <p:nvPr/>
        </p:nvCxnSpPr>
        <p:spPr>
          <a:xfrm>
            <a:off x="3675528" y="5722893"/>
            <a:ext cx="1688949" cy="8245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xmlns="" id="{6C808128-D342-4373-A405-6FC4CB8DCCC9}"/>
              </a:ext>
            </a:extLst>
          </p:cNvPr>
          <p:cNvCxnSpPr>
            <a:cxnSpLocks/>
          </p:cNvCxnSpPr>
          <p:nvPr/>
        </p:nvCxnSpPr>
        <p:spPr>
          <a:xfrm>
            <a:off x="5353720" y="4903404"/>
            <a:ext cx="1459456" cy="8245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xmlns="" id="{EF998D2E-5D4B-4AB9-B1F7-0E19703978B6}"/>
              </a:ext>
            </a:extLst>
          </p:cNvPr>
          <p:cNvCxnSpPr>
            <a:cxnSpLocks/>
          </p:cNvCxnSpPr>
          <p:nvPr/>
        </p:nvCxnSpPr>
        <p:spPr>
          <a:xfrm>
            <a:off x="5353720" y="5714358"/>
            <a:ext cx="1459456" cy="8245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xmlns="" id="{5DFD1D8C-F89A-4657-AB0D-BAB41D81FD72}"/>
              </a:ext>
            </a:extLst>
          </p:cNvPr>
          <p:cNvCxnSpPr>
            <a:cxnSpLocks/>
          </p:cNvCxnSpPr>
          <p:nvPr/>
        </p:nvCxnSpPr>
        <p:spPr>
          <a:xfrm>
            <a:off x="8384912" y="3253147"/>
            <a:ext cx="1490608" cy="8033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xmlns="" id="{B4A796B8-A898-4A3B-AC64-9C7C23DBB81F}"/>
              </a:ext>
            </a:extLst>
          </p:cNvPr>
          <p:cNvCxnSpPr>
            <a:cxnSpLocks/>
          </p:cNvCxnSpPr>
          <p:nvPr/>
        </p:nvCxnSpPr>
        <p:spPr>
          <a:xfrm>
            <a:off x="8369336" y="5707962"/>
            <a:ext cx="1490608" cy="8033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接點 40">
            <a:extLst>
              <a:ext uri="{FF2B5EF4-FFF2-40B4-BE49-F238E27FC236}">
                <a16:creationId xmlns:a16="http://schemas.microsoft.com/office/drawing/2014/main" xmlns="" id="{C1611082-5BC8-4BE0-81C2-B2401A30BD87}"/>
              </a:ext>
            </a:extLst>
          </p:cNvPr>
          <p:cNvCxnSpPr>
            <a:cxnSpLocks/>
          </p:cNvCxnSpPr>
          <p:nvPr/>
        </p:nvCxnSpPr>
        <p:spPr>
          <a:xfrm>
            <a:off x="8369336" y="4078885"/>
            <a:ext cx="1490608" cy="8033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xmlns="" id="{8476A3CA-7873-4A7A-BC92-CA5E93D88044}"/>
              </a:ext>
            </a:extLst>
          </p:cNvPr>
          <p:cNvCxnSpPr>
            <a:cxnSpLocks/>
          </p:cNvCxnSpPr>
          <p:nvPr/>
        </p:nvCxnSpPr>
        <p:spPr>
          <a:xfrm>
            <a:off x="8369336" y="4903404"/>
            <a:ext cx="1490608" cy="8033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xmlns="" id="{D9331124-806A-4E37-AF9A-BE77B0030484}"/>
              </a:ext>
            </a:extLst>
          </p:cNvPr>
          <p:cNvCxnSpPr>
            <a:cxnSpLocks/>
          </p:cNvCxnSpPr>
          <p:nvPr/>
        </p:nvCxnSpPr>
        <p:spPr>
          <a:xfrm>
            <a:off x="9875520" y="3238052"/>
            <a:ext cx="1490608" cy="8033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xmlns="" id="{A36BD16E-3C33-4663-9DBE-1BC280D59E91}"/>
              </a:ext>
            </a:extLst>
          </p:cNvPr>
          <p:cNvCxnSpPr>
            <a:cxnSpLocks/>
          </p:cNvCxnSpPr>
          <p:nvPr/>
        </p:nvCxnSpPr>
        <p:spPr>
          <a:xfrm>
            <a:off x="9925496" y="5720687"/>
            <a:ext cx="1490608" cy="8033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xmlns="" id="{3922AF59-3962-4A21-8A78-54CE53EF6186}"/>
              </a:ext>
            </a:extLst>
          </p:cNvPr>
          <p:cNvCxnSpPr>
            <a:cxnSpLocks/>
          </p:cNvCxnSpPr>
          <p:nvPr/>
        </p:nvCxnSpPr>
        <p:spPr>
          <a:xfrm>
            <a:off x="9875520" y="4072636"/>
            <a:ext cx="1490608" cy="8033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xmlns="" id="{F936F18A-B949-47CE-874A-CF284D9A0D50}"/>
              </a:ext>
            </a:extLst>
          </p:cNvPr>
          <p:cNvCxnSpPr>
            <a:cxnSpLocks/>
          </p:cNvCxnSpPr>
          <p:nvPr/>
        </p:nvCxnSpPr>
        <p:spPr>
          <a:xfrm>
            <a:off x="9925496" y="4902462"/>
            <a:ext cx="1490608" cy="8033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14555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endParaRPr lang="en-US" altLang="zh-TW" sz="2700" dirty="0"/>
          </a:p>
        </p:txBody>
      </p:sp>
      <p:pic>
        <p:nvPicPr>
          <p:cNvPr id="6" name="Picture 2" descr="https://www.biorxiv.org/content/biorxiv/early/2019/05/02/624460/F3.large.jpg?width=800&amp;height=600&amp;carousel=1">
            <a:extLst>
              <a:ext uri="{FF2B5EF4-FFF2-40B4-BE49-F238E27FC236}">
                <a16:creationId xmlns:a16="http://schemas.microsoft.com/office/drawing/2014/main" xmlns="" id="{D7496CDC-DD30-44D8-BF29-1A4737B636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523" y="1189038"/>
            <a:ext cx="8720639" cy="565493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www.biorxiv.org/content/biorxiv/early/2019/05/02/624460/F3.large.jpg?width=800&amp;height=600&amp;carousel=1">
            <a:extLst>
              <a:ext uri="{FF2B5EF4-FFF2-40B4-BE49-F238E27FC236}">
                <a16:creationId xmlns:a16="http://schemas.microsoft.com/office/drawing/2014/main" xmlns="" id="{95105D69-C400-40BD-9E91-0B98802D7E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8370" y="985874"/>
            <a:ext cx="8720639" cy="5654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01130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24E785A-5355-4B30-8CE3-D326A77A0C3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Results</a:t>
            </a:r>
            <a:endParaRPr lang="zh-TW" altLang="en-US" dirty="0"/>
          </a:p>
        </p:txBody>
      </p:sp>
      <p:sp>
        <p:nvSpPr>
          <p:cNvPr id="3" name="內容版面配置區 2">
            <a:extLst>
              <a:ext uri="{FF2B5EF4-FFF2-40B4-BE49-F238E27FC236}">
                <a16:creationId xmlns:a16="http://schemas.microsoft.com/office/drawing/2014/main" xmlns="" id="{E7C39DC8-3FB2-4BA0-B83B-9C16E2364094}"/>
              </a:ext>
            </a:extLst>
          </p:cNvPr>
          <p:cNvSpPr>
            <a:spLocks noGrp="1"/>
          </p:cNvSpPr>
          <p:nvPr>
            <p:ph idx="1"/>
          </p:nvPr>
        </p:nvSpPr>
        <p:spPr/>
        <p:txBody>
          <a:bodyPr/>
          <a:lstStyle/>
          <a:p>
            <a:endParaRPr lang="zh-TW" altLang="en-US" dirty="0"/>
          </a:p>
        </p:txBody>
      </p:sp>
      <p:pic>
        <p:nvPicPr>
          <p:cNvPr id="7170" name="Picture 2" descr="Table 1.">
            <a:extLst>
              <a:ext uri="{FF2B5EF4-FFF2-40B4-BE49-F238E27FC236}">
                <a16:creationId xmlns:a16="http://schemas.microsoft.com/office/drawing/2014/main" xmlns="" id="{A66836DF-6CAA-4C94-8699-E6231D4261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690688"/>
            <a:ext cx="4871727" cy="4351338"/>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Table 2.">
            <a:extLst>
              <a:ext uri="{FF2B5EF4-FFF2-40B4-BE49-F238E27FC236}">
                <a16:creationId xmlns:a16="http://schemas.microsoft.com/office/drawing/2014/main" xmlns="" id="{31619FC3-6493-4E02-8667-4DE526F778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424" y="2658656"/>
            <a:ext cx="6203576" cy="1655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8217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24E785A-5355-4B30-8CE3-D326A77A0C3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Results</a:t>
            </a:r>
            <a:endParaRPr lang="zh-TW" altLang="en-US" dirty="0"/>
          </a:p>
        </p:txBody>
      </p:sp>
      <p:sp>
        <p:nvSpPr>
          <p:cNvPr id="3" name="內容版面配置區 2">
            <a:extLst>
              <a:ext uri="{FF2B5EF4-FFF2-40B4-BE49-F238E27FC236}">
                <a16:creationId xmlns:a16="http://schemas.microsoft.com/office/drawing/2014/main" xmlns="" id="{E7C39DC8-3FB2-4BA0-B83B-9C16E2364094}"/>
              </a:ext>
            </a:extLst>
          </p:cNvPr>
          <p:cNvSpPr>
            <a:spLocks noGrp="1"/>
          </p:cNvSpPr>
          <p:nvPr>
            <p:ph idx="1"/>
          </p:nvPr>
        </p:nvSpPr>
        <p:spPr/>
        <p:txBody>
          <a:bodyPr/>
          <a:lstStyle/>
          <a:p>
            <a:endParaRPr lang="zh-TW" altLang="en-US" dirty="0"/>
          </a:p>
        </p:txBody>
      </p:sp>
      <p:pic>
        <p:nvPicPr>
          <p:cNvPr id="6146" name="Picture 2" descr="https://www.biorxiv.org/content/biorxiv/early/2019/05/02/624460/F4.large.jpg?width=800&amp;height=600&amp;carousel=1">
            <a:extLst>
              <a:ext uri="{FF2B5EF4-FFF2-40B4-BE49-F238E27FC236}">
                <a16:creationId xmlns:a16="http://schemas.microsoft.com/office/drawing/2014/main" xmlns="" id="{DB6DB5CB-0FF7-4064-9119-A48BA409DB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7323" y="1359971"/>
            <a:ext cx="7247741" cy="5282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115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3300</TotalTime>
  <Words>601</Words>
  <Application>Microsoft Office PowerPoint</Application>
  <PresentationFormat>寬螢幕</PresentationFormat>
  <Paragraphs>82</Paragraphs>
  <Slides>12</Slides>
  <Notes>9</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12</vt:i4>
      </vt:variant>
    </vt:vector>
  </HeadingPairs>
  <TitlesOfParts>
    <vt:vector size="19" baseType="lpstr">
      <vt:lpstr>新細明體</vt:lpstr>
      <vt:lpstr>標楷體</vt:lpstr>
      <vt:lpstr>Arial</vt:lpstr>
      <vt:lpstr>Calibri</vt:lpstr>
      <vt:lpstr>Calibri Light</vt:lpstr>
      <vt:lpstr>Times New Roman</vt:lpstr>
      <vt:lpstr>Office 佈景主題</vt:lpstr>
      <vt:lpstr>Analysis of distance-based protein structure prediction by deep learning in CASP13</vt:lpstr>
      <vt:lpstr>Abstract (1/2)</vt:lpstr>
      <vt:lpstr>Abstract (2/2)</vt:lpstr>
      <vt:lpstr>Deep dilated ResNet for protein distance and contact prediction</vt:lpstr>
      <vt:lpstr>Residual block</vt:lpstr>
      <vt:lpstr>Deep dilated ResNet for protein distance and contact prediction</vt:lpstr>
      <vt:lpstr>Multiple sequence alignment (MSA) and input features</vt:lpstr>
      <vt:lpstr>RaptorX-Contact</vt:lpstr>
      <vt:lpstr>Results</vt:lpstr>
      <vt:lpstr>Results</vt:lpstr>
      <vt:lpstr>Results</vt:lpstr>
      <vt:lpstr>Results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pplab-class</cp:lastModifiedBy>
  <cp:revision>862</cp:revision>
  <dcterms:created xsi:type="dcterms:W3CDTF">2018-10-30T09:09:31Z</dcterms:created>
  <dcterms:modified xsi:type="dcterms:W3CDTF">2019-06-18T11:13:03Z</dcterms:modified>
</cp:coreProperties>
</file>