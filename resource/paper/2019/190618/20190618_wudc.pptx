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72" r:id="rId4"/>
    <p:sldId id="258" r:id="rId5"/>
    <p:sldId id="273" r:id="rId6"/>
    <p:sldId id="274" r:id="rId7"/>
    <p:sldId id="275" r:id="rId8"/>
    <p:sldId id="277" r:id="rId9"/>
    <p:sldId id="276" r:id="rId10"/>
    <p:sldId id="278" r:id="rId11"/>
    <p:sldId id="279" r:id="rId12"/>
    <p:sldId id="280" r:id="rId13"/>
    <p:sldId id="281" r:id="rId14"/>
    <p:sldId id="282" r:id="rId15"/>
    <p:sldId id="283"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吳篤承" initials="吳篤承" lastIdx="1" clrIdx="0">
    <p:extLst>
      <p:ext uri="{19B8F6BF-5375-455C-9EA6-DF929625EA0E}">
        <p15:presenceInfo xmlns:p15="http://schemas.microsoft.com/office/powerpoint/2012/main" userId="吳篤承"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0" autoAdjust="0"/>
    <p:restoredTop sz="90867" autoAdjust="0"/>
  </p:normalViewPr>
  <p:slideViewPr>
    <p:cSldViewPr snapToGrid="0">
      <p:cViewPr varScale="1">
        <p:scale>
          <a:sx n="48" d="100"/>
          <a:sy n="48" d="100"/>
        </p:scale>
        <p:origin x="42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85392-FD07-4F5A-B34E-BA69B7FEBBF7}" type="datetimeFigureOut">
              <a:rPr lang="zh-TW" altLang="en-US" smtClean="0"/>
              <a:t>2019/6/18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45C38-81A3-45D4-9959-4EF52C41C41F}" type="slidenum">
              <a:rPr lang="zh-TW" altLang="en-US" smtClean="0"/>
              <a:t>‹#›</a:t>
            </a:fld>
            <a:endParaRPr lang="zh-TW" altLang="en-US"/>
          </a:p>
        </p:txBody>
      </p:sp>
    </p:spTree>
    <p:extLst>
      <p:ext uri="{BB962C8B-B14F-4D97-AF65-F5344CB8AC3E}">
        <p14:creationId xmlns:p14="http://schemas.microsoft.com/office/powerpoint/2010/main" val="97042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BC481E-5F61-46D0-A7EB-4B78E26B7A6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7ADD499-6C14-47C8-A9DB-F37A274DE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5F44A6D-44A4-4AC5-A338-742D4C0C8050}"/>
              </a:ext>
            </a:extLst>
          </p:cNvPr>
          <p:cNvSpPr>
            <a:spLocks noGrp="1"/>
          </p:cNvSpPr>
          <p:nvPr>
            <p:ph type="dt" sz="half" idx="10"/>
          </p:nvPr>
        </p:nvSpPr>
        <p:spPr/>
        <p:txBody>
          <a:bodyPr/>
          <a:lstStyle/>
          <a:p>
            <a:fld id="{41044C1A-2725-48AE-A699-EA8E8FEFF634}"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id="{2AA9A011-8B20-4955-AB02-9C883200A2A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D080B5D-51A0-4CC6-B85E-EECDD9C7E01F}"/>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601324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791F4F-64C2-4448-AEA3-D8BAD00F9AC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9B64CD7-FFD4-4659-9A78-313C8279FA80}"/>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DB714A2-D640-4631-BD91-D40EA7B8E5E1}"/>
              </a:ext>
            </a:extLst>
          </p:cNvPr>
          <p:cNvSpPr>
            <a:spLocks noGrp="1"/>
          </p:cNvSpPr>
          <p:nvPr>
            <p:ph type="dt" sz="half" idx="10"/>
          </p:nvPr>
        </p:nvSpPr>
        <p:spPr/>
        <p:txBody>
          <a:bodyPr/>
          <a:lstStyle/>
          <a:p>
            <a:fld id="{41044C1A-2725-48AE-A699-EA8E8FEFF634}"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id="{E61BB7E8-FCCA-40E1-AF1F-1EC08D98084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F37759F-4DEC-4AF9-AAF6-96479F6F82D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86266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4AF7F4-DE89-4B56-ABEB-65BE6D95F37B}"/>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0726E6B-7A4E-46A3-888F-3ECB35C601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92DC7246-3967-4A8C-89BD-498BAD9237DB}"/>
              </a:ext>
            </a:extLst>
          </p:cNvPr>
          <p:cNvSpPr>
            <a:spLocks noGrp="1"/>
          </p:cNvSpPr>
          <p:nvPr>
            <p:ph type="dt" sz="half" idx="10"/>
          </p:nvPr>
        </p:nvSpPr>
        <p:spPr/>
        <p:txBody>
          <a:bodyPr/>
          <a:lstStyle/>
          <a:p>
            <a:fld id="{41044C1A-2725-48AE-A699-EA8E8FEFF634}"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id="{D8A016C2-FC45-4CB6-AE5C-B5A2929ECF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643CBF-BA29-45F4-B839-D048AC73EB01}"/>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381054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3084E2-FF74-41D8-B7FC-96287DBEDD0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30DA591-3941-4641-B043-A7B6860269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D58EE040-2A49-41BF-9734-4F1C3C128D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8EECCAB-4CA7-44B9-B7B8-DC7FF51030C5}"/>
              </a:ext>
            </a:extLst>
          </p:cNvPr>
          <p:cNvSpPr>
            <a:spLocks noGrp="1"/>
          </p:cNvSpPr>
          <p:nvPr>
            <p:ph type="dt" sz="half" idx="10"/>
          </p:nvPr>
        </p:nvSpPr>
        <p:spPr/>
        <p:txBody>
          <a:bodyPr/>
          <a:lstStyle/>
          <a:p>
            <a:fld id="{41044C1A-2725-48AE-A699-EA8E8FEFF634}" type="datetimeFigureOut">
              <a:rPr lang="zh-TW" altLang="en-US" smtClean="0"/>
              <a:t>2019/6/18</a:t>
            </a:fld>
            <a:endParaRPr lang="zh-TW" altLang="en-US"/>
          </a:p>
        </p:txBody>
      </p:sp>
      <p:sp>
        <p:nvSpPr>
          <p:cNvPr id="6" name="頁尾版面配置區 5">
            <a:extLst>
              <a:ext uri="{FF2B5EF4-FFF2-40B4-BE49-F238E27FC236}">
                <a16:creationId xmlns:a16="http://schemas.microsoft.com/office/drawing/2014/main" id="{31F1834D-5465-453A-8482-4EA306D63AA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EDEEDDC-2E51-41D6-BBEE-C8A5AEE90B3A}"/>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89062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891CDC-A371-490F-A9D6-C81ACFD420F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A6414E1-9AA2-4412-BC87-8B794947A8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AF8352C1-957A-43C9-A792-1F703940CD51}"/>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189CE18-112C-4840-B26C-362D7C230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F7815674-7564-427E-B7B9-22E8C7F54041}"/>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891BEAE-F89E-4D1D-88D1-CE02EB287033}"/>
              </a:ext>
            </a:extLst>
          </p:cNvPr>
          <p:cNvSpPr>
            <a:spLocks noGrp="1"/>
          </p:cNvSpPr>
          <p:nvPr>
            <p:ph type="dt" sz="half" idx="10"/>
          </p:nvPr>
        </p:nvSpPr>
        <p:spPr/>
        <p:txBody>
          <a:bodyPr/>
          <a:lstStyle/>
          <a:p>
            <a:fld id="{41044C1A-2725-48AE-A699-EA8E8FEFF634}" type="datetimeFigureOut">
              <a:rPr lang="zh-TW" altLang="en-US" smtClean="0"/>
              <a:t>2019/6/18</a:t>
            </a:fld>
            <a:endParaRPr lang="zh-TW" altLang="en-US"/>
          </a:p>
        </p:txBody>
      </p:sp>
      <p:sp>
        <p:nvSpPr>
          <p:cNvPr id="8" name="頁尾版面配置區 7">
            <a:extLst>
              <a:ext uri="{FF2B5EF4-FFF2-40B4-BE49-F238E27FC236}">
                <a16:creationId xmlns:a16="http://schemas.microsoft.com/office/drawing/2014/main" id="{001E6835-0CA2-4E4B-AA2A-F90C8E504D8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F7BAAA1-3B0C-467E-B178-590BB83B663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74528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DDB431-29CB-4FE4-9ADC-233E5E38B21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B26AC26-EB83-4AB6-9E2F-C8457BF27656}"/>
              </a:ext>
            </a:extLst>
          </p:cNvPr>
          <p:cNvSpPr>
            <a:spLocks noGrp="1"/>
          </p:cNvSpPr>
          <p:nvPr>
            <p:ph type="dt" sz="half" idx="10"/>
          </p:nvPr>
        </p:nvSpPr>
        <p:spPr/>
        <p:txBody>
          <a:bodyPr/>
          <a:lstStyle/>
          <a:p>
            <a:fld id="{41044C1A-2725-48AE-A699-EA8E8FEFF634}" type="datetimeFigureOut">
              <a:rPr lang="zh-TW" altLang="en-US" smtClean="0"/>
              <a:t>2019/6/18</a:t>
            </a:fld>
            <a:endParaRPr lang="zh-TW" altLang="en-US"/>
          </a:p>
        </p:txBody>
      </p:sp>
      <p:sp>
        <p:nvSpPr>
          <p:cNvPr id="4" name="頁尾版面配置區 3">
            <a:extLst>
              <a:ext uri="{FF2B5EF4-FFF2-40B4-BE49-F238E27FC236}">
                <a16:creationId xmlns:a16="http://schemas.microsoft.com/office/drawing/2014/main" id="{DA0D9A16-24C2-4ED2-BD1F-40A62B4B57A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002A40A-1FF4-4F68-B9F8-CCFE6F0A61DE}"/>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5310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C7FE82F-7353-4EB6-B115-3F4F883AB669}"/>
              </a:ext>
            </a:extLst>
          </p:cNvPr>
          <p:cNvSpPr>
            <a:spLocks noGrp="1"/>
          </p:cNvSpPr>
          <p:nvPr>
            <p:ph type="dt" sz="half" idx="10"/>
          </p:nvPr>
        </p:nvSpPr>
        <p:spPr/>
        <p:txBody>
          <a:bodyPr/>
          <a:lstStyle/>
          <a:p>
            <a:fld id="{41044C1A-2725-48AE-A699-EA8E8FEFF634}" type="datetimeFigureOut">
              <a:rPr lang="zh-TW" altLang="en-US" smtClean="0"/>
              <a:t>2019/6/18</a:t>
            </a:fld>
            <a:endParaRPr lang="zh-TW" altLang="en-US"/>
          </a:p>
        </p:txBody>
      </p:sp>
      <p:sp>
        <p:nvSpPr>
          <p:cNvPr id="3" name="頁尾版面配置區 2">
            <a:extLst>
              <a:ext uri="{FF2B5EF4-FFF2-40B4-BE49-F238E27FC236}">
                <a16:creationId xmlns:a16="http://schemas.microsoft.com/office/drawing/2014/main" id="{6B99597B-30C7-4D52-AD5F-C858CCF870A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558E562-3645-444D-99EF-C224D8AC792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202500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5C8A51-2D2B-48E7-9226-50EB6A22516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A09DA89-D924-4187-86BB-0DE7413CB9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A862BBB-0FF2-4F4D-A76D-1F88CE615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3DE41C95-2028-4108-B014-39C5648C739C}"/>
              </a:ext>
            </a:extLst>
          </p:cNvPr>
          <p:cNvSpPr>
            <a:spLocks noGrp="1"/>
          </p:cNvSpPr>
          <p:nvPr>
            <p:ph type="dt" sz="half" idx="10"/>
          </p:nvPr>
        </p:nvSpPr>
        <p:spPr/>
        <p:txBody>
          <a:bodyPr/>
          <a:lstStyle/>
          <a:p>
            <a:fld id="{41044C1A-2725-48AE-A699-EA8E8FEFF634}" type="datetimeFigureOut">
              <a:rPr lang="zh-TW" altLang="en-US" smtClean="0"/>
              <a:t>2019/6/18</a:t>
            </a:fld>
            <a:endParaRPr lang="zh-TW" altLang="en-US"/>
          </a:p>
        </p:txBody>
      </p:sp>
      <p:sp>
        <p:nvSpPr>
          <p:cNvPr id="6" name="頁尾版面配置區 5">
            <a:extLst>
              <a:ext uri="{FF2B5EF4-FFF2-40B4-BE49-F238E27FC236}">
                <a16:creationId xmlns:a16="http://schemas.microsoft.com/office/drawing/2014/main" id="{2BD103DD-D7EC-4F8E-92E4-F3DF3C87310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26E5469-9EC0-4784-86DB-CFF18B624D06}"/>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4217051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BCCB00-EDDD-4021-BFA8-37AF232E09A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B62902F-3F9A-4799-B356-32DB2D43C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41559B7-9AC4-469F-8F42-A7EAC5608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73C1A871-1FB1-426F-B468-F433644ACEE0}"/>
              </a:ext>
            </a:extLst>
          </p:cNvPr>
          <p:cNvSpPr>
            <a:spLocks noGrp="1"/>
          </p:cNvSpPr>
          <p:nvPr>
            <p:ph type="dt" sz="half" idx="10"/>
          </p:nvPr>
        </p:nvSpPr>
        <p:spPr/>
        <p:txBody>
          <a:bodyPr/>
          <a:lstStyle/>
          <a:p>
            <a:fld id="{41044C1A-2725-48AE-A699-EA8E8FEFF634}" type="datetimeFigureOut">
              <a:rPr lang="zh-TW" altLang="en-US" smtClean="0"/>
              <a:t>2019/6/18</a:t>
            </a:fld>
            <a:endParaRPr lang="zh-TW" altLang="en-US"/>
          </a:p>
        </p:txBody>
      </p:sp>
      <p:sp>
        <p:nvSpPr>
          <p:cNvPr id="6" name="頁尾版面配置區 5">
            <a:extLst>
              <a:ext uri="{FF2B5EF4-FFF2-40B4-BE49-F238E27FC236}">
                <a16:creationId xmlns:a16="http://schemas.microsoft.com/office/drawing/2014/main" id="{002851D3-4076-4BC5-9DED-D4BED17FEA8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E57C28A-8893-4984-9E48-FEAF55A07CF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44359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29808D-8B18-4D63-9A86-7E543A995F5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C65D312-39D6-45B8-A43D-EE4F531E6F96}"/>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386A780-A433-4084-B504-8CA5C05D15EC}"/>
              </a:ext>
            </a:extLst>
          </p:cNvPr>
          <p:cNvSpPr>
            <a:spLocks noGrp="1"/>
          </p:cNvSpPr>
          <p:nvPr>
            <p:ph type="dt" sz="half" idx="10"/>
          </p:nvPr>
        </p:nvSpPr>
        <p:spPr/>
        <p:txBody>
          <a:bodyPr/>
          <a:lstStyle/>
          <a:p>
            <a:fld id="{41044C1A-2725-48AE-A699-EA8E8FEFF634}"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id="{8C6AE278-5465-4135-8119-D4FFB673E5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2B663D-8C1E-4440-923C-9B28783B6788}"/>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332910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0F0B3FC-BDB6-4C40-9E7A-DD251A121D6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1B69DA4-DCBA-402E-B952-6FEF25C77842}"/>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7B7CDCD-2B53-481E-994C-32B4B7592300}"/>
              </a:ext>
            </a:extLst>
          </p:cNvPr>
          <p:cNvSpPr>
            <a:spLocks noGrp="1"/>
          </p:cNvSpPr>
          <p:nvPr>
            <p:ph type="dt" sz="half" idx="10"/>
          </p:nvPr>
        </p:nvSpPr>
        <p:spPr/>
        <p:txBody>
          <a:bodyPr/>
          <a:lstStyle/>
          <a:p>
            <a:fld id="{41044C1A-2725-48AE-A699-EA8E8FEFF634}"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id="{5DFB1F8A-6E1A-49FD-88DC-360B7C26637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6025657-A7D6-4D60-8308-3F54ECF10FA3}"/>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076976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AF27AA62-E1D3-4683-9BB1-A8FDBF764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E70A9A6-A017-41A2-86FB-D99634A98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DA99EE0-24C1-43B5-8CD7-D94555000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044C1A-2725-48AE-A699-EA8E8FEFF634}" type="datetimeFigureOut">
              <a:rPr lang="zh-TW" altLang="en-US" smtClean="0"/>
              <a:t>2019/6/18</a:t>
            </a:fld>
            <a:endParaRPr lang="zh-TW" altLang="en-US"/>
          </a:p>
        </p:txBody>
      </p:sp>
      <p:sp>
        <p:nvSpPr>
          <p:cNvPr id="5" name="頁尾版面配置區 4">
            <a:extLst>
              <a:ext uri="{FF2B5EF4-FFF2-40B4-BE49-F238E27FC236}">
                <a16:creationId xmlns:a16="http://schemas.microsoft.com/office/drawing/2014/main" id="{6FDC897C-57B6-471F-85EC-BDD367E81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AE00D97-13C0-4E9B-84D0-9482705853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30786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1524000" y="1715998"/>
            <a:ext cx="9144000" cy="649317"/>
          </a:xfrm>
        </p:spPr>
        <p:txBody>
          <a:bodyPr>
            <a:noAutofit/>
          </a:bodyPr>
          <a:lstStyle/>
          <a:p>
            <a:r>
              <a:rPr lang="en-US" altLang="zh-TW" sz="3200" dirty="0">
                <a:latin typeface="Times New Roman" panose="02020603050405020304" pitchFamily="18" charset="0"/>
                <a:cs typeface="Times New Roman" panose="02020603050405020304" pitchFamily="18" charset="0"/>
              </a:rPr>
              <a:t>Detecting Road Intersections from GPS Traces Using Longest Common Subsequence Algorithm</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523999" y="3003983"/>
            <a:ext cx="9144000" cy="425017"/>
          </a:xfrm>
        </p:spPr>
        <p:txBody>
          <a:bodyPr>
            <a:noAutofit/>
          </a:bodyPr>
          <a:lstStyle/>
          <a:p>
            <a:pPr lvl="1"/>
            <a:r>
              <a:rPr lang="en-US" altLang="zh-TW" dirty="0" err="1">
                <a:latin typeface="Times New Roman" panose="02020603050405020304" pitchFamily="18" charset="0"/>
                <a:cs typeface="Times New Roman" panose="02020603050405020304" pitchFamily="18" charset="0"/>
              </a:rPr>
              <a:t>Xingzhe</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Xie</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Wenzhi</a:t>
            </a:r>
            <a:r>
              <a:rPr lang="en-US" altLang="zh-TW" dirty="0">
                <a:latin typeface="Times New Roman" panose="02020603050405020304" pitchFamily="18" charset="0"/>
                <a:cs typeface="Times New Roman" panose="02020603050405020304" pitchFamily="18" charset="0"/>
              </a:rPr>
              <a:t> Liao, Hamid </a:t>
            </a:r>
            <a:r>
              <a:rPr lang="en-US" altLang="zh-TW" dirty="0" err="1">
                <a:latin typeface="Times New Roman" panose="02020603050405020304" pitchFamily="18" charset="0"/>
                <a:cs typeface="Times New Roman" panose="02020603050405020304" pitchFamily="18" charset="0"/>
              </a:rPr>
              <a:t>Aghajan</a:t>
            </a:r>
            <a:r>
              <a:rPr lang="en-US" altLang="zh-TW" dirty="0">
                <a:latin typeface="Times New Roman" panose="02020603050405020304" pitchFamily="18" charset="0"/>
                <a:cs typeface="Times New Roman" panose="02020603050405020304" pitchFamily="18" charset="0"/>
              </a:rPr>
              <a:t>, Peter </a:t>
            </a:r>
            <a:r>
              <a:rPr lang="en-US" altLang="zh-TW" dirty="0" err="1">
                <a:latin typeface="Times New Roman" panose="02020603050405020304" pitchFamily="18" charset="0"/>
                <a:cs typeface="Times New Roman" panose="02020603050405020304" pitchFamily="18" charset="0"/>
              </a:rPr>
              <a:t>Veelaert</a:t>
            </a:r>
            <a:r>
              <a:rPr lang="en-US" altLang="zh-TW" dirty="0">
                <a:latin typeface="Times New Roman" panose="02020603050405020304" pitchFamily="18" charset="0"/>
                <a:cs typeface="Times New Roman" panose="02020603050405020304" pitchFamily="18" charset="0"/>
              </a:rPr>
              <a:t> and Wilfried Philips</a:t>
            </a:r>
            <a:endParaRPr lang="zh-TW" altLang="en-US"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1313151" y="3873343"/>
            <a:ext cx="9565697" cy="430887"/>
          </a:xfrm>
          <a:prstGeom prst="rect">
            <a:avLst/>
          </a:prstGeom>
          <a:noFill/>
        </p:spPr>
        <p:txBody>
          <a:bodyPr wrap="none" rtlCol="0">
            <a:spAutoFit/>
          </a:bodyPr>
          <a:lstStyle/>
          <a:p>
            <a:pPr algn="ctr"/>
            <a:r>
              <a:rPr lang="en-US" altLang="zh-TW" sz="2200" dirty="0">
                <a:latin typeface="Times New Roman" panose="02020603050405020304" pitchFamily="18" charset="0"/>
                <a:cs typeface="Times New Roman" panose="02020603050405020304" pitchFamily="18" charset="0"/>
              </a:rPr>
              <a:t>ISPRS International Journal of Geo-Information, Volume 6, Issue 1 (January 2017)</a:t>
            </a:r>
          </a:p>
        </p:txBody>
      </p:sp>
      <p:sp>
        <p:nvSpPr>
          <p:cNvPr id="9" name="文字方塊 8">
            <a:extLst>
              <a:ext uri="{FF2B5EF4-FFF2-40B4-BE49-F238E27FC236}">
                <a16:creationId xmlns:a16="http://schemas.microsoft.com/office/drawing/2014/main" id="{6BC92671-3184-4146-A361-F82079153C2E}"/>
              </a:ext>
            </a:extLst>
          </p:cNvPr>
          <p:cNvSpPr txBox="1"/>
          <p:nvPr/>
        </p:nvSpPr>
        <p:spPr>
          <a:xfrm>
            <a:off x="7999794" y="5019194"/>
            <a:ext cx="327660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Du-Cheng Wu</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8690433" y="5480859"/>
            <a:ext cx="258596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Date: Jun. 18, 2019</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Abstract(1/2)</a:t>
            </a:r>
            <a:endParaRPr lang="zh-TW" altLang="en-US" sz="32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39EF1E7-604C-4E09-A7D2-D4B34B0635E8}"/>
              </a:ext>
            </a:extLst>
          </p:cNvPr>
          <p:cNvSpPr>
            <a:spLocks noGrp="1"/>
          </p:cNvSpPr>
          <p:nvPr>
            <p:ph idx="1"/>
          </p:nvPr>
        </p:nvSpPr>
        <p:spPr>
          <a:xfrm>
            <a:off x="838200" y="1163782"/>
            <a:ext cx="10515600" cy="5060849"/>
          </a:xfrm>
        </p:spPr>
        <p:txBody>
          <a:bodyPr>
            <a:noAutofit/>
          </a:bodyPr>
          <a:lstStyle/>
          <a:p>
            <a:pPr marL="0" indent="0" algn="just">
              <a:buNone/>
            </a:pPr>
            <a:r>
              <a:rPr lang="en-US" altLang="zh-TW" dirty="0">
                <a:latin typeface="Times New Roman" panose="02020603050405020304" pitchFamily="18" charset="0"/>
                <a:cs typeface="Times New Roman" panose="02020603050405020304" pitchFamily="18" charset="0"/>
              </a:rPr>
              <a:t>Intersections are important components of road networks, which are critical to both route planning and path optimization. Most existing methods define the intersections as locations where the road users change their moving directions and identify the intersections from GPS traces through analyzing the road users’ turning behaviors. However, these methods suffer from finding an appropriate threshold for the moving direction change, leading to true intersections being undetected or spurious intersections being falsely detected. In this paper, the intersections are defined as locations that connect three or more road segments in different directions. We propose to detect the intersections under this definition by finding the common sub-tracks of the GPS traces. </a:t>
            </a:r>
          </a:p>
        </p:txBody>
      </p:sp>
    </p:spTree>
    <p:extLst>
      <p:ext uri="{BB962C8B-B14F-4D97-AF65-F5344CB8AC3E}">
        <p14:creationId xmlns:p14="http://schemas.microsoft.com/office/powerpoint/2010/main" val="1500703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Abstract(2/2)</a:t>
            </a:r>
            <a:endParaRPr lang="zh-TW" altLang="en-US" sz="32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39EF1E7-604C-4E09-A7D2-D4B34B0635E8}"/>
              </a:ext>
            </a:extLst>
          </p:cNvPr>
          <p:cNvSpPr>
            <a:spLocks noGrp="1"/>
          </p:cNvSpPr>
          <p:nvPr>
            <p:ph idx="1"/>
          </p:nvPr>
        </p:nvSpPr>
        <p:spPr>
          <a:xfrm>
            <a:off x="838200" y="1163782"/>
            <a:ext cx="10515600" cy="5060849"/>
          </a:xfrm>
        </p:spPr>
        <p:txBody>
          <a:bodyPr>
            <a:noAutofit/>
          </a:bodyPr>
          <a:lstStyle/>
          <a:p>
            <a:pPr marL="0" indent="0" algn="just">
              <a:buNone/>
            </a:pPr>
            <a:r>
              <a:rPr lang="en-US" altLang="zh-TW" dirty="0">
                <a:latin typeface="Times New Roman" panose="02020603050405020304" pitchFamily="18" charset="0"/>
                <a:cs typeface="Times New Roman" panose="02020603050405020304" pitchFamily="18" charset="0"/>
              </a:rPr>
              <a:t>We first detect the Longest Common Subsequences (LCS) between each pair of GPS traces using the dynamic programming approach. Second, we partition the longest nonconsecutive subsequences into consecutive sub-tracks. The starting and ending points of the common sub-tracks are collected as connecting points. At last, intersections are detected from the connecting points through Kernel Density Estimation (KDE). Experimental results show that our proposed method outperforms the turning point-based methods in terms of the F-score.</a:t>
            </a:r>
          </a:p>
        </p:txBody>
      </p:sp>
    </p:spTree>
    <p:extLst>
      <p:ext uri="{BB962C8B-B14F-4D97-AF65-F5344CB8AC3E}">
        <p14:creationId xmlns:p14="http://schemas.microsoft.com/office/powerpoint/2010/main" val="69270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Longest Common Subsequence</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id="{652F1AAC-13A7-4F2E-8939-B8B124487E32}"/>
              </a:ext>
            </a:extLst>
          </p:cNvPr>
          <p:cNvSpPr>
            <a:spLocks noGrp="1"/>
          </p:cNvSpPr>
          <p:nvPr>
            <p:ph idx="1"/>
          </p:nvPr>
        </p:nvSpPr>
        <p:spPr>
          <a:xfrm>
            <a:off x="838200" y="1132513"/>
            <a:ext cx="10515600" cy="5044449"/>
          </a:xfrm>
        </p:spPr>
        <p:txBody>
          <a:bodyPr>
            <a:normAutofit/>
          </a:bodyPr>
          <a:lstStyle/>
          <a:p>
            <a:pPr marL="0" indent="0">
              <a:buNone/>
            </a:pPr>
            <a:endParaRPr lang="en-US" altLang="zh-TW" dirty="0"/>
          </a:p>
          <a:p>
            <a:pPr marL="0" indent="0">
              <a:buNone/>
            </a:pPr>
            <a:endParaRPr lang="en-US" altLang="zh-TW"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03206467-63F9-48E6-BEFC-15DDF4C59F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7098" y="915967"/>
            <a:ext cx="5257800" cy="4253125"/>
          </a:xfrm>
          <a:prstGeom prst="rect">
            <a:avLst/>
          </a:prstGeom>
        </p:spPr>
      </p:pic>
      <p:pic>
        <p:nvPicPr>
          <p:cNvPr id="6" name="圖片 5">
            <a:extLst>
              <a:ext uri="{FF2B5EF4-FFF2-40B4-BE49-F238E27FC236}">
                <a16:creationId xmlns:a16="http://schemas.microsoft.com/office/drawing/2014/main" id="{7C864C9B-4439-4426-8DDA-ABFFA9660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361" y="5169092"/>
            <a:ext cx="9439275" cy="1504950"/>
          </a:xfrm>
          <a:prstGeom prst="rect">
            <a:avLst/>
          </a:prstGeom>
        </p:spPr>
      </p:pic>
    </p:spTree>
    <p:extLst>
      <p:ext uri="{BB962C8B-B14F-4D97-AF65-F5344CB8AC3E}">
        <p14:creationId xmlns:p14="http://schemas.microsoft.com/office/powerpoint/2010/main" val="2193041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Longest Common Subsequence</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id="{652F1AAC-13A7-4F2E-8939-B8B124487E32}"/>
              </a:ext>
            </a:extLst>
          </p:cNvPr>
          <p:cNvSpPr>
            <a:spLocks noGrp="1"/>
          </p:cNvSpPr>
          <p:nvPr>
            <p:ph idx="1"/>
          </p:nvPr>
        </p:nvSpPr>
        <p:spPr>
          <a:xfrm>
            <a:off x="838200" y="1132513"/>
            <a:ext cx="10515600" cy="5044449"/>
          </a:xfrm>
        </p:spPr>
        <p:txBody>
          <a:bodyPr>
            <a:normAutofit/>
          </a:bodyPr>
          <a:lstStyle/>
          <a:p>
            <a:pPr marL="0" indent="0">
              <a:buNone/>
            </a:pPr>
            <a:endParaRPr lang="en-US" altLang="zh-TW" dirty="0"/>
          </a:p>
          <a:p>
            <a:pPr marL="0" indent="0">
              <a:buNone/>
            </a:pPr>
            <a:endParaRPr lang="en-US" altLang="zh-TW"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9A92D83E-C3E6-4F64-A67D-E2511549F9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6775" y="1203404"/>
            <a:ext cx="7947025" cy="5289471"/>
          </a:xfrm>
          <a:prstGeom prst="rect">
            <a:avLst/>
          </a:prstGeom>
        </p:spPr>
      </p:pic>
      <p:pic>
        <p:nvPicPr>
          <p:cNvPr id="8" name="圖片 7">
            <a:extLst>
              <a:ext uri="{FF2B5EF4-FFF2-40B4-BE49-F238E27FC236}">
                <a16:creationId xmlns:a16="http://schemas.microsoft.com/office/drawing/2014/main" id="{7F85544B-A07F-43BB-9A98-4482CA2651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562100"/>
            <a:ext cx="6715128" cy="1143000"/>
          </a:xfrm>
          <a:prstGeom prst="rect">
            <a:avLst/>
          </a:prstGeom>
        </p:spPr>
      </p:pic>
    </p:spTree>
    <p:extLst>
      <p:ext uri="{BB962C8B-B14F-4D97-AF65-F5344CB8AC3E}">
        <p14:creationId xmlns:p14="http://schemas.microsoft.com/office/powerpoint/2010/main" val="3956747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Connecting Point Collection</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id="{652F1AAC-13A7-4F2E-8939-B8B124487E32}"/>
              </a:ext>
            </a:extLst>
          </p:cNvPr>
          <p:cNvSpPr>
            <a:spLocks noGrp="1"/>
          </p:cNvSpPr>
          <p:nvPr>
            <p:ph idx="1"/>
          </p:nvPr>
        </p:nvSpPr>
        <p:spPr>
          <a:xfrm>
            <a:off x="838200" y="1132513"/>
            <a:ext cx="10515600" cy="5044449"/>
          </a:xfrm>
        </p:spPr>
        <p:txBody>
          <a:bodyPr>
            <a:normAutofit/>
          </a:bodyPr>
          <a:lstStyle/>
          <a:p>
            <a:pPr marL="0" indent="0">
              <a:buNone/>
            </a:pPr>
            <a:endParaRPr lang="en-US" altLang="zh-TW" dirty="0"/>
          </a:p>
          <a:p>
            <a:pPr marL="0" indent="0">
              <a:buNone/>
            </a:pPr>
            <a:endParaRPr lang="en-US" altLang="zh-TW"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37B843B7-16D9-485B-B687-9FA7EF79E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7093" y="1619825"/>
            <a:ext cx="6168442" cy="4105662"/>
          </a:xfrm>
          <a:prstGeom prst="rect">
            <a:avLst/>
          </a:prstGeom>
        </p:spPr>
      </p:pic>
      <p:pic>
        <p:nvPicPr>
          <p:cNvPr id="6" name="圖片 5">
            <a:extLst>
              <a:ext uri="{FF2B5EF4-FFF2-40B4-BE49-F238E27FC236}">
                <a16:creationId xmlns:a16="http://schemas.microsoft.com/office/drawing/2014/main" id="{682FCA0A-F97E-4099-A88D-E7CDD2F2AE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4275" y="2435537"/>
            <a:ext cx="3819525" cy="2438400"/>
          </a:xfrm>
          <a:prstGeom prst="rect">
            <a:avLst/>
          </a:prstGeom>
        </p:spPr>
      </p:pic>
    </p:spTree>
    <p:extLst>
      <p:ext uri="{BB962C8B-B14F-4D97-AF65-F5344CB8AC3E}">
        <p14:creationId xmlns:p14="http://schemas.microsoft.com/office/powerpoint/2010/main" val="286242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Intersection Extraction from Connecting Points</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id="{652F1AAC-13A7-4F2E-8939-B8B124487E32}"/>
              </a:ext>
            </a:extLst>
          </p:cNvPr>
          <p:cNvSpPr>
            <a:spLocks noGrp="1"/>
          </p:cNvSpPr>
          <p:nvPr>
            <p:ph idx="1"/>
          </p:nvPr>
        </p:nvSpPr>
        <p:spPr>
          <a:xfrm>
            <a:off x="838200" y="1132513"/>
            <a:ext cx="10515600" cy="5044449"/>
          </a:xfrm>
        </p:spPr>
        <p:txBody>
          <a:bodyPr>
            <a:normAutofit/>
          </a:bodyPr>
          <a:lstStyle/>
          <a:p>
            <a:pPr marL="0" indent="0">
              <a:buNone/>
            </a:pPr>
            <a:endParaRPr lang="en-US" altLang="zh-TW" dirty="0"/>
          </a:p>
          <a:p>
            <a:pPr marL="0" indent="0">
              <a:buNone/>
            </a:pPr>
            <a:endParaRPr lang="en-US" altLang="zh-TW"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EBBEE5B0-AD6F-4EF4-85DF-5227A55227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9048" y="1059047"/>
            <a:ext cx="6873904" cy="5191379"/>
          </a:xfrm>
          <a:prstGeom prst="rect">
            <a:avLst/>
          </a:prstGeom>
        </p:spPr>
      </p:pic>
    </p:spTree>
    <p:extLst>
      <p:ext uri="{BB962C8B-B14F-4D97-AF65-F5344CB8AC3E}">
        <p14:creationId xmlns:p14="http://schemas.microsoft.com/office/powerpoint/2010/main" val="1323914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Intersection Extraction from Connecting Points</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內容版面配置區 11">
                <a:extLst>
                  <a:ext uri="{FF2B5EF4-FFF2-40B4-BE49-F238E27FC236}">
                    <a16:creationId xmlns:a16="http://schemas.microsoft.com/office/drawing/2014/main" id="{652F1AAC-13A7-4F2E-8939-B8B124487E32}"/>
                  </a:ext>
                </a:extLst>
              </p:cNvPr>
              <p:cNvSpPr>
                <a:spLocks noGrp="1"/>
              </p:cNvSpPr>
              <p:nvPr>
                <p:ph idx="1"/>
              </p:nvPr>
            </p:nvSpPr>
            <p:spPr>
              <a:xfrm>
                <a:off x="838200" y="1132513"/>
                <a:ext cx="10515600" cy="5044449"/>
              </a:xfrm>
            </p:spPr>
            <p:txBody>
              <a:bodyPr>
                <a:normAutofit/>
              </a:bodyPr>
              <a:lstStyle/>
              <a:p>
                <a:pPr marL="0" indent="0">
                  <a:buNone/>
                </a:pPr>
                <a:endParaRPr lang="en-US" altLang="zh-TW" dirty="0"/>
              </a:p>
              <a:p>
                <a:pPr marL="0" indent="0">
                  <a:buNone/>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Intersection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candidate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q</a:t>
                </a:r>
              </a:p>
              <a:p>
                <a:r>
                  <a:rPr lang="en-US" altLang="zh-TW" dirty="0">
                    <a:latin typeface="Times New Roman" panose="02020603050405020304" pitchFamily="18" charset="0"/>
                    <a:cs typeface="Times New Roman" panose="02020603050405020304" pitchFamily="18" charset="0"/>
                  </a:rPr>
                  <a:t>M connecting points</a:t>
                </a:r>
              </a:p>
              <a:p>
                <a:r>
                  <a:rPr lang="en-US" altLang="zh-TW" dirty="0">
                    <a:latin typeface="Times New Roman" panose="02020603050405020304" pitchFamily="18" charset="0"/>
                    <a:cs typeface="Times New Roman" panose="02020603050405020304" pitchFamily="18" charset="0"/>
                  </a:rPr>
                  <a:t>N trace</a:t>
                </a:r>
              </a:p>
              <a:p>
                <a:r>
                  <a:rPr lang="en-US" altLang="zh-TW" dirty="0">
                    <a:latin typeface="Times New Roman" panose="02020603050405020304" pitchFamily="18" charset="0"/>
                    <a:cs typeface="Times New Roman" panose="02020603050405020304" pitchFamily="18" charset="0"/>
                  </a:rPr>
                  <a:t>If any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𝑝</m:t>
                        </m:r>
                      </m:e>
                      <m:sub>
                        <m:r>
                          <a:rPr lang="en-US" altLang="zh-TW" b="0" i="1" smtClean="0">
                            <a:latin typeface="Cambria Math" panose="02040503050406030204" pitchFamily="18" charset="0"/>
                            <a:cs typeface="Times New Roman" panose="02020603050405020304" pitchFamily="18" charset="0"/>
                          </a:rPr>
                          <m:t>𝑛</m:t>
                        </m:r>
                      </m:sub>
                    </m:sSub>
                  </m:oMath>
                </a14:m>
                <a:r>
                  <a:rPr lang="en-US" altLang="zh-TW" dirty="0">
                    <a:latin typeface="Times New Roman" panose="02020603050405020304" pitchFamily="18" charset="0"/>
                    <a:cs typeface="Times New Roman" panose="02020603050405020304" pitchFamily="18" charset="0"/>
                  </a:rPr>
                  <a:t> = M remove </a:t>
                </a:r>
              </a:p>
              <a:p>
                <a:pPr marL="0" indent="0">
                  <a:buNone/>
                </a:pPr>
                <a:r>
                  <a:rPr lang="en-US" altLang="zh-TW" dirty="0">
                    <a:latin typeface="Times New Roman" panose="02020603050405020304" pitchFamily="18" charset="0"/>
                    <a:cs typeface="Times New Roman" panose="02020603050405020304" pitchFamily="18" charset="0"/>
                  </a:rPr>
                  <a:t>   this intersection point</a:t>
                </a:r>
              </a:p>
            </p:txBody>
          </p:sp>
        </mc:Choice>
        <mc:Fallback xmlns="">
          <p:sp>
            <p:nvSpPr>
              <p:cNvPr id="12" name="內容版面配置區 11">
                <a:extLst>
                  <a:ext uri="{FF2B5EF4-FFF2-40B4-BE49-F238E27FC236}">
                    <a16:creationId xmlns:a16="http://schemas.microsoft.com/office/drawing/2014/main" id="{652F1AAC-13A7-4F2E-8939-B8B124487E32}"/>
                  </a:ext>
                </a:extLst>
              </p:cNvPr>
              <p:cNvSpPr>
                <a:spLocks noGrp="1" noRot="1" noChangeAspect="1" noMove="1" noResize="1" noEditPoints="1" noAdjustHandles="1" noChangeArrowheads="1" noChangeShapeType="1" noTextEdit="1"/>
              </p:cNvSpPr>
              <p:nvPr>
                <p:ph idx="1"/>
              </p:nvPr>
            </p:nvSpPr>
            <p:spPr>
              <a:xfrm>
                <a:off x="838200" y="1132513"/>
                <a:ext cx="10515600" cy="5044449"/>
              </a:xfrm>
              <a:blipFill>
                <a:blip r:embed="rId2"/>
                <a:stretch>
                  <a:fillRect l="-1043"/>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EBBEE5B0-AD6F-4EF4-85DF-5227A55227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9183" y="985583"/>
            <a:ext cx="6873904" cy="5191379"/>
          </a:xfrm>
          <a:prstGeom prst="rect">
            <a:avLst/>
          </a:prstGeom>
        </p:spPr>
      </p:pic>
    </p:spTree>
    <p:extLst>
      <p:ext uri="{BB962C8B-B14F-4D97-AF65-F5344CB8AC3E}">
        <p14:creationId xmlns:p14="http://schemas.microsoft.com/office/powerpoint/2010/main" val="3561874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Accuracy Measure</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內容版面配置區 11">
                <a:extLst>
                  <a:ext uri="{FF2B5EF4-FFF2-40B4-BE49-F238E27FC236}">
                    <a16:creationId xmlns:a16="http://schemas.microsoft.com/office/drawing/2014/main" id="{652F1AAC-13A7-4F2E-8939-B8B124487E32}"/>
                  </a:ext>
                </a:extLst>
              </p:cNvPr>
              <p:cNvSpPr>
                <a:spLocks noGrp="1"/>
              </p:cNvSpPr>
              <p:nvPr>
                <p:ph idx="1"/>
              </p:nvPr>
            </p:nvSpPr>
            <p:spPr>
              <a:xfrm>
                <a:off x="838200" y="1132513"/>
                <a:ext cx="10515600" cy="5044449"/>
              </a:xfrm>
            </p:spPr>
            <p:txBody>
              <a:bodyPr>
                <a:normAutofit/>
              </a:bodyPr>
              <a:lstStyle/>
              <a:p>
                <a:pPr marL="0" indent="0">
                  <a:buNone/>
                </a:pPr>
                <a:endParaRPr lang="en-US" altLang="zh-TW" dirty="0"/>
              </a:p>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𝐼</m:t>
                        </m:r>
                      </m:e>
                      <m:sub>
                        <m:r>
                          <a:rPr lang="en-US" altLang="zh-TW" b="0" i="1" smtClean="0">
                            <a:latin typeface="Cambria Math" panose="02040503050406030204" pitchFamily="18" charset="0"/>
                            <a:cs typeface="Times New Roman" panose="02020603050405020304" pitchFamily="18" charset="0"/>
                          </a:rPr>
                          <m:t>𝑐</m:t>
                        </m:r>
                      </m:sub>
                    </m:sSub>
                    <m:r>
                      <a:rPr lang="en-US" altLang="zh-TW" b="0" i="0" smtClean="0">
                        <a:latin typeface="Cambria Math" panose="02040503050406030204" pitchFamily="18" charset="0"/>
                        <a:cs typeface="Times New Roman" panose="02020603050405020304" pitchFamily="18" charset="0"/>
                      </a:rPr>
                      <m:t>  </m:t>
                    </m:r>
                  </m:oMath>
                </a14:m>
                <a:r>
                  <a:rPr lang="en-US" altLang="zh-TW" dirty="0">
                    <a:latin typeface="Times New Roman" panose="02020603050405020304" pitchFamily="18" charset="0"/>
                    <a:cs typeface="Times New Roman" panose="02020603050405020304" pitchFamily="18" charset="0"/>
                  </a:rPr>
                  <a:t>= matched intersections</a:t>
                </a:r>
              </a:p>
              <a:p>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𝐼</m:t>
                        </m:r>
                      </m:e>
                      <m:sub>
                        <m:r>
                          <a:rPr lang="en-US" altLang="zh-TW" b="0" i="1" smtClean="0">
                            <a:latin typeface="Cambria Math" panose="02040503050406030204" pitchFamily="18" charset="0"/>
                            <a:cs typeface="Times New Roman" panose="02020603050405020304" pitchFamily="18" charset="0"/>
                          </a:rPr>
                          <m:t>𝑚</m:t>
                        </m:r>
                      </m:sub>
                    </m:sSub>
                    <m:r>
                      <a:rPr lang="en-US" altLang="zh-TW" b="0" i="0" smtClean="0">
                        <a:latin typeface="Cambria Math" panose="02040503050406030204" pitchFamily="18" charset="0"/>
                        <a:cs typeface="Times New Roman" panose="02020603050405020304" pitchFamily="18" charset="0"/>
                      </a:rPr>
                      <m:t> </m:t>
                    </m:r>
                  </m:oMath>
                </a14:m>
                <a:r>
                  <a:rPr lang="en-US" altLang="zh-TW" dirty="0">
                    <a:latin typeface="Times New Roman" panose="02020603050405020304" pitchFamily="18" charset="0"/>
                    <a:cs typeface="Times New Roman" panose="02020603050405020304" pitchFamily="18" charset="0"/>
                  </a:rPr>
                  <a:t>= missing intersections</a:t>
                </a:r>
              </a:p>
              <a:p>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𝐼</m:t>
                        </m:r>
                      </m:e>
                      <m:sub>
                        <m:r>
                          <a:rPr lang="en-US" altLang="zh-TW" b="0" i="1" smtClean="0">
                            <a:latin typeface="Cambria Math" panose="02040503050406030204" pitchFamily="18" charset="0"/>
                            <a:cs typeface="Times New Roman" panose="02020603050405020304" pitchFamily="18" charset="0"/>
                          </a:rPr>
                          <m:t>𝑠</m:t>
                        </m:r>
                      </m:sub>
                    </m:sSub>
                  </m:oMath>
                </a14:m>
                <a:r>
                  <a:rPr lang="en-US" altLang="zh-TW" dirty="0">
                    <a:latin typeface="Times New Roman" panose="02020603050405020304" pitchFamily="18" charset="0"/>
                    <a:cs typeface="Times New Roman" panose="02020603050405020304" pitchFamily="18" charset="0"/>
                  </a:rPr>
                  <a:t>  = spurious intersections</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recall =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𝐼</m:t>
                        </m:r>
                      </m:e>
                      <m:sub>
                        <m:r>
                          <a:rPr lang="en-US" altLang="zh-TW" b="0" i="1" smtClean="0">
                            <a:latin typeface="Cambria Math" panose="02040503050406030204" pitchFamily="18" charset="0"/>
                            <a:cs typeface="Times New Roman" panose="02020603050405020304" pitchFamily="18" charset="0"/>
                          </a:rPr>
                          <m:t>𝑐</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𝐼</m:t>
                        </m:r>
                      </m:e>
                      <m:sub>
                        <m:r>
                          <a:rPr lang="en-US" altLang="zh-TW" b="0" i="1" smtClean="0">
                            <a:latin typeface="Cambria Math" panose="02040503050406030204" pitchFamily="18" charset="0"/>
                            <a:cs typeface="Times New Roman" panose="02020603050405020304" pitchFamily="18" charset="0"/>
                          </a:rPr>
                          <m:t>𝑚</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𝐼</m:t>
                        </m:r>
                      </m:e>
                      <m:sub>
                        <m:r>
                          <a:rPr lang="en-US" altLang="zh-TW" b="0" i="1" smtClean="0">
                            <a:latin typeface="Cambria Math" panose="02040503050406030204" pitchFamily="18" charset="0"/>
                            <a:cs typeface="Times New Roman" panose="02020603050405020304" pitchFamily="18" charset="0"/>
                          </a:rPr>
                          <m:t>𝑐</m:t>
                        </m:r>
                      </m:sub>
                    </m:sSub>
                    <m:r>
                      <a:rPr lang="en-US" altLang="zh-TW" b="0" i="1" smtClean="0">
                        <a:latin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precision =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𝐼</m:t>
                        </m:r>
                      </m:e>
                      <m:sub>
                        <m:r>
                          <a:rPr lang="en-US" altLang="zh-TW" i="1">
                            <a:latin typeface="Cambria Math" panose="02040503050406030204" pitchFamily="18" charset="0"/>
                            <a:cs typeface="Times New Roman" panose="02020603050405020304" pitchFamily="18" charset="0"/>
                          </a:rPr>
                          <m:t>𝑐</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𝐼</m:t>
                        </m:r>
                      </m:e>
                      <m:sub>
                        <m:r>
                          <a:rPr lang="en-US" altLang="zh-TW" b="0" i="1" smtClean="0">
                            <a:latin typeface="Cambria Math" panose="02040503050406030204" pitchFamily="18" charset="0"/>
                            <a:cs typeface="Times New Roman" panose="02020603050405020304" pitchFamily="18" charset="0"/>
                          </a:rPr>
                          <m:t>𝑠</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𝐼</m:t>
                        </m:r>
                      </m:e>
                      <m:sub>
                        <m:r>
                          <a:rPr lang="en-US" altLang="zh-TW" i="1">
                            <a:latin typeface="Cambria Math" panose="02040503050406030204" pitchFamily="18" charset="0"/>
                            <a:cs typeface="Times New Roman" panose="02020603050405020304" pitchFamily="18" charset="0"/>
                          </a:rPr>
                          <m:t>𝑐</m:t>
                        </m:r>
                      </m:sub>
                    </m:sSub>
                    <m:r>
                      <a:rPr lang="en-US" altLang="zh-TW" i="1">
                        <a:latin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F-score = </a:t>
                </a:r>
                <a14:m>
                  <m:oMath xmlns:m="http://schemas.openxmlformats.org/officeDocument/2006/math">
                    <m:f>
                      <m:fPr>
                        <m:ctrlPr>
                          <a:rPr lang="en-US" altLang="zh-TW" i="1" smtClean="0">
                            <a:latin typeface="Cambria Math" panose="02040503050406030204" pitchFamily="18" charset="0"/>
                            <a:cs typeface="Times New Roman" panose="02020603050405020304" pitchFamily="18" charset="0"/>
                          </a:rPr>
                        </m:ctrlPr>
                      </m:fPr>
                      <m:num>
                        <m:r>
                          <a:rPr lang="en-US" altLang="zh-TW" b="0" i="0" smtClean="0">
                            <a:latin typeface="Cambria Math" panose="02040503050406030204" pitchFamily="18" charset="0"/>
                            <a:cs typeface="Times New Roman" panose="02020603050405020304" pitchFamily="18" charset="0"/>
                          </a:rPr>
                          <m:t>2</m:t>
                        </m:r>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recall</m:t>
                        </m:r>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precision</m:t>
                        </m:r>
                      </m:num>
                      <m:den>
                        <m:r>
                          <m:rPr>
                            <m:sty m:val="p"/>
                          </m:rPr>
                          <a:rPr lang="en-US" altLang="zh-TW" b="0" i="0" smtClean="0">
                            <a:latin typeface="Cambria Math" panose="02040503050406030204" pitchFamily="18" charset="0"/>
                            <a:cs typeface="Times New Roman" panose="02020603050405020304" pitchFamily="18" charset="0"/>
                          </a:rPr>
                          <m:t>recall</m:t>
                        </m:r>
                        <m:r>
                          <a:rPr lang="en-US" altLang="zh-TW" b="0" i="0" smtClean="0">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precision</m:t>
                        </m:r>
                      </m:den>
                    </m:f>
                  </m:oMath>
                </a14:m>
                <a:endParaRPr lang="en-US" altLang="zh-TW" dirty="0">
                  <a:latin typeface="Times New Roman" panose="02020603050405020304" pitchFamily="18" charset="0"/>
                  <a:cs typeface="Times New Roman" panose="02020603050405020304" pitchFamily="18" charset="0"/>
                </a:endParaRPr>
              </a:p>
            </p:txBody>
          </p:sp>
        </mc:Choice>
        <mc:Fallback xmlns="">
          <p:sp>
            <p:nvSpPr>
              <p:cNvPr id="12" name="內容版面配置區 11">
                <a:extLst>
                  <a:ext uri="{FF2B5EF4-FFF2-40B4-BE49-F238E27FC236}">
                    <a16:creationId xmlns:a16="http://schemas.microsoft.com/office/drawing/2014/main" id="{652F1AAC-13A7-4F2E-8939-B8B124487E32}"/>
                  </a:ext>
                </a:extLst>
              </p:cNvPr>
              <p:cNvSpPr>
                <a:spLocks noGrp="1" noRot="1" noChangeAspect="1" noMove="1" noResize="1" noEditPoints="1" noAdjustHandles="1" noChangeArrowheads="1" noChangeShapeType="1" noTextEdit="1"/>
              </p:cNvSpPr>
              <p:nvPr>
                <p:ph idx="1"/>
              </p:nvPr>
            </p:nvSpPr>
            <p:spPr>
              <a:xfrm>
                <a:off x="838200" y="1132513"/>
                <a:ext cx="10515600" cy="5044449"/>
              </a:xfrm>
              <a:blipFill>
                <a:blip r:embed="rId2"/>
                <a:stretch>
                  <a:fillRect l="-104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61923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Experimental Results</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內容版面配置區 11">
                <a:extLst>
                  <a:ext uri="{FF2B5EF4-FFF2-40B4-BE49-F238E27FC236}">
                    <a16:creationId xmlns:a16="http://schemas.microsoft.com/office/drawing/2014/main" id="{652F1AAC-13A7-4F2E-8939-B8B124487E32}"/>
                  </a:ext>
                </a:extLst>
              </p:cNvPr>
              <p:cNvSpPr>
                <a:spLocks noGrp="1"/>
              </p:cNvSpPr>
              <p:nvPr>
                <p:ph idx="1"/>
              </p:nvPr>
            </p:nvSpPr>
            <p:spPr>
              <a:xfrm>
                <a:off x="8400875" y="1132513"/>
                <a:ext cx="2952924" cy="5044449"/>
              </a:xfrm>
            </p:spPr>
            <p:txBody>
              <a:bodyPr>
                <a:normAutofit/>
              </a:bodyPr>
              <a:lstStyle/>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889 GPS traces and covers an area of 7</a:t>
                </a:r>
                <a14:m>
                  <m:oMath xmlns:m="http://schemas.openxmlformats.org/officeDocument/2006/math">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TW" dirty="0">
                    <a:latin typeface="Times New Roman" panose="02020603050405020304" pitchFamily="18" charset="0"/>
                    <a:cs typeface="Times New Roman" panose="02020603050405020304" pitchFamily="18" charset="0"/>
                  </a:rPr>
                  <a:t>4.5 </a:t>
                </a:r>
                <a14:m>
                  <m:oMath xmlns:m="http://schemas.openxmlformats.org/officeDocument/2006/math">
                    <m:sSup>
                      <m:sSupPr>
                        <m:ctrlPr>
                          <a:rPr lang="en-US" altLang="zh-TW" i="1" dirty="0" smtClean="0">
                            <a:latin typeface="Cambria Math" panose="02040503050406030204" pitchFamily="18" charset="0"/>
                            <a:cs typeface="Times New Roman" panose="02020603050405020304" pitchFamily="18" charset="0"/>
                          </a:rPr>
                        </m:ctrlPr>
                      </m:sSupPr>
                      <m:e>
                        <m:r>
                          <m:rPr>
                            <m:sty m:val="p"/>
                          </m:rPr>
                          <a:rPr lang="en-US" altLang="zh-TW" b="0" i="0" dirty="0" smtClean="0">
                            <a:latin typeface="Cambria Math" panose="02040503050406030204" pitchFamily="18" charset="0"/>
                            <a:cs typeface="Times New Roman" panose="02020603050405020304" pitchFamily="18" charset="0"/>
                          </a:rPr>
                          <m:t>km</m:t>
                        </m:r>
                      </m:e>
                      <m:sup>
                        <m:r>
                          <a:rPr lang="en-US" altLang="zh-TW" b="0" i="0" dirty="0" smtClean="0">
                            <a:latin typeface="Cambria Math" panose="02040503050406030204" pitchFamily="18" charset="0"/>
                            <a:cs typeface="Times New Roman" panose="02020603050405020304" pitchFamily="18" charset="0"/>
                          </a:rPr>
                          <m:t>2</m:t>
                        </m:r>
                      </m:sup>
                    </m:sSup>
                  </m:oMath>
                </a14:m>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33 ground-truth intersections</a:t>
                </a:r>
              </a:p>
            </p:txBody>
          </p:sp>
        </mc:Choice>
        <mc:Fallback xmlns="">
          <p:sp>
            <p:nvSpPr>
              <p:cNvPr id="12" name="內容版面配置區 11">
                <a:extLst>
                  <a:ext uri="{FF2B5EF4-FFF2-40B4-BE49-F238E27FC236}">
                    <a16:creationId xmlns:a16="http://schemas.microsoft.com/office/drawing/2014/main" id="{652F1AAC-13A7-4F2E-8939-B8B124487E32}"/>
                  </a:ext>
                </a:extLst>
              </p:cNvPr>
              <p:cNvSpPr>
                <a:spLocks noGrp="1" noRot="1" noChangeAspect="1" noMove="1" noResize="1" noEditPoints="1" noAdjustHandles="1" noChangeArrowheads="1" noChangeShapeType="1" noTextEdit="1"/>
              </p:cNvSpPr>
              <p:nvPr>
                <p:ph idx="1"/>
              </p:nvPr>
            </p:nvSpPr>
            <p:spPr>
              <a:xfrm>
                <a:off x="8400875" y="1132513"/>
                <a:ext cx="2952924" cy="5044449"/>
              </a:xfrm>
              <a:blipFill>
                <a:blip r:embed="rId2"/>
                <a:stretch>
                  <a:fillRect l="-4132" r="-2686"/>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id="{088EF799-7236-49AF-9868-421561494F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025" y="1034473"/>
            <a:ext cx="7943850" cy="5010150"/>
          </a:xfrm>
          <a:prstGeom prst="rect">
            <a:avLst/>
          </a:prstGeom>
        </p:spPr>
      </p:pic>
    </p:spTree>
    <p:extLst>
      <p:ext uri="{BB962C8B-B14F-4D97-AF65-F5344CB8AC3E}">
        <p14:creationId xmlns:p14="http://schemas.microsoft.com/office/powerpoint/2010/main" val="850891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Experimental Results</a:t>
            </a:r>
            <a:endParaRPr lang="zh-TW" altLang="en-US" sz="32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8DAF6B96-E2E2-44D7-A89F-2B5ED70CE8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5585" y="1034473"/>
            <a:ext cx="8160829" cy="5244849"/>
          </a:xfrm>
          <a:prstGeom prst="rect">
            <a:avLst/>
          </a:prstGeom>
        </p:spPr>
      </p:pic>
    </p:spTree>
    <p:extLst>
      <p:ext uri="{BB962C8B-B14F-4D97-AF65-F5344CB8AC3E}">
        <p14:creationId xmlns:p14="http://schemas.microsoft.com/office/powerpoint/2010/main" val="2389002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Experimental Results</a:t>
            </a:r>
            <a:endParaRPr lang="zh-TW" altLang="en-US" sz="32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758F9AA9-26B4-46CA-AF02-697FD7D727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034473"/>
            <a:ext cx="8122003" cy="5190158"/>
          </a:xfrm>
          <a:prstGeom prst="rect">
            <a:avLst/>
          </a:prstGeom>
        </p:spPr>
      </p:pic>
      <p:sp>
        <p:nvSpPr>
          <p:cNvPr id="6" name="內容版面配置區 11">
            <a:extLst>
              <a:ext uri="{FF2B5EF4-FFF2-40B4-BE49-F238E27FC236}">
                <a16:creationId xmlns:a16="http://schemas.microsoft.com/office/drawing/2014/main" id="{5DA98721-9C14-4B41-9536-A91D4E9D1D49}"/>
              </a:ext>
            </a:extLst>
          </p:cNvPr>
          <p:cNvSpPr>
            <a:spLocks noGrp="1"/>
          </p:cNvSpPr>
          <p:nvPr>
            <p:ph idx="1"/>
          </p:nvPr>
        </p:nvSpPr>
        <p:spPr>
          <a:xfrm>
            <a:off x="8979716" y="1149290"/>
            <a:ext cx="2952924" cy="5044449"/>
          </a:xfrm>
        </p:spPr>
        <p:txBody>
          <a:bodyPr>
            <a:normAutofit/>
          </a:bodyPr>
          <a:lstStyle/>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41</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intersection candidates</a:t>
            </a:r>
          </a:p>
        </p:txBody>
      </p:sp>
    </p:spTree>
    <p:extLst>
      <p:ext uri="{BB962C8B-B14F-4D97-AF65-F5344CB8AC3E}">
        <p14:creationId xmlns:p14="http://schemas.microsoft.com/office/powerpoint/2010/main" val="3135335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Experimental Results</a:t>
            </a:r>
            <a:endParaRPr lang="zh-TW" altLang="en-US" sz="32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31A51693-21B2-41B3-86CF-D1016F3454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85" y="1034473"/>
            <a:ext cx="8292612" cy="5324519"/>
          </a:xfrm>
          <a:prstGeom prst="rect">
            <a:avLst/>
          </a:prstGeom>
        </p:spPr>
      </p:pic>
      <p:sp>
        <p:nvSpPr>
          <p:cNvPr id="6" name="內容版面配置區 11">
            <a:extLst>
              <a:ext uri="{FF2B5EF4-FFF2-40B4-BE49-F238E27FC236}">
                <a16:creationId xmlns:a16="http://schemas.microsoft.com/office/drawing/2014/main" id="{9A7EE218-6AE0-4D01-9B2B-932B187ED3E3}"/>
              </a:ext>
            </a:extLst>
          </p:cNvPr>
          <p:cNvSpPr>
            <a:spLocks noGrp="1"/>
          </p:cNvSpPr>
          <p:nvPr>
            <p:ph idx="1"/>
          </p:nvPr>
        </p:nvSpPr>
        <p:spPr>
          <a:xfrm>
            <a:off x="8858775" y="1149290"/>
            <a:ext cx="3187816" cy="5044449"/>
          </a:xfrm>
        </p:spPr>
        <p:txBody>
          <a:bodyPr>
            <a:normAutofit/>
          </a:bodyPr>
          <a:lstStyle/>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Remove 13 candidates, 28 intersections are kept, 27 true intersections and 6 missing intersections</a:t>
            </a:r>
          </a:p>
        </p:txBody>
      </p:sp>
    </p:spTree>
    <p:extLst>
      <p:ext uri="{BB962C8B-B14F-4D97-AF65-F5344CB8AC3E}">
        <p14:creationId xmlns:p14="http://schemas.microsoft.com/office/powerpoint/2010/main" val="2314948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Experimental Results</a:t>
            </a:r>
            <a:endParaRPr lang="zh-TW" altLang="en-US" sz="3200" dirty="0">
              <a:latin typeface="Times New Roman" panose="02020603050405020304" pitchFamily="18" charset="0"/>
              <a:cs typeface="Times New Roman" panose="02020603050405020304" pitchFamily="18" charset="0"/>
            </a:endParaRPr>
          </a:p>
        </p:txBody>
      </p:sp>
      <p:sp>
        <p:nvSpPr>
          <p:cNvPr id="6" name="內容版面配置區 11">
            <a:extLst>
              <a:ext uri="{FF2B5EF4-FFF2-40B4-BE49-F238E27FC236}">
                <a16:creationId xmlns:a16="http://schemas.microsoft.com/office/drawing/2014/main" id="{9A7EE218-6AE0-4D01-9B2B-932B187ED3E3}"/>
              </a:ext>
            </a:extLst>
          </p:cNvPr>
          <p:cNvSpPr>
            <a:spLocks noGrp="1"/>
          </p:cNvSpPr>
          <p:nvPr>
            <p:ph idx="1"/>
          </p:nvPr>
        </p:nvSpPr>
        <p:spPr>
          <a:xfrm>
            <a:off x="8858775" y="1149290"/>
            <a:ext cx="3187816" cy="5044449"/>
          </a:xfrm>
        </p:spPr>
        <p:txBody>
          <a:bodyPr>
            <a:normAutofit/>
          </a:bodyPr>
          <a:lstStyle/>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36 intersections are identified, 29 true intersections and 5 missing intersections</a:t>
            </a:r>
          </a:p>
        </p:txBody>
      </p:sp>
      <p:pic>
        <p:nvPicPr>
          <p:cNvPr id="5" name="圖片 4">
            <a:extLst>
              <a:ext uri="{FF2B5EF4-FFF2-40B4-BE49-F238E27FC236}">
                <a16:creationId xmlns:a16="http://schemas.microsoft.com/office/drawing/2014/main" id="{0EE766DC-E8DE-48CE-B8A0-819B821756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293" y="1149290"/>
            <a:ext cx="8174549" cy="5159266"/>
          </a:xfrm>
          <a:prstGeom prst="rect">
            <a:avLst/>
          </a:prstGeom>
        </p:spPr>
      </p:pic>
    </p:spTree>
    <p:extLst>
      <p:ext uri="{BB962C8B-B14F-4D97-AF65-F5344CB8AC3E}">
        <p14:creationId xmlns:p14="http://schemas.microsoft.com/office/powerpoint/2010/main" val="3353966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Experimental Results</a:t>
            </a:r>
            <a:endParaRPr lang="zh-TW" altLang="en-US" sz="32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E0C65778-404A-42D3-8532-B37349FDF7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6558" y="1157970"/>
            <a:ext cx="9598884" cy="4542059"/>
          </a:xfrm>
          <a:prstGeom prst="rect">
            <a:avLst/>
          </a:prstGeom>
        </p:spPr>
      </p:pic>
    </p:spTree>
    <p:extLst>
      <p:ext uri="{BB962C8B-B14F-4D97-AF65-F5344CB8AC3E}">
        <p14:creationId xmlns:p14="http://schemas.microsoft.com/office/powerpoint/2010/main" val="94970975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3506</TotalTime>
  <Words>390</Words>
  <Application>Microsoft Office PowerPoint</Application>
  <PresentationFormat>寬螢幕</PresentationFormat>
  <Paragraphs>56</Paragraphs>
  <Slides>15</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Arial</vt:lpstr>
      <vt:lpstr>Calibri</vt:lpstr>
      <vt:lpstr>Calibri Light</vt:lpstr>
      <vt:lpstr>Cambria Math</vt:lpstr>
      <vt:lpstr>Times New Roman</vt:lpstr>
      <vt:lpstr>Office 佈景主題</vt:lpstr>
      <vt:lpstr>Detecting Road Intersections from GPS Traces Using Longest Common Subsequence Algorithm</vt:lpstr>
      <vt:lpstr>Abstract(1/2)</vt:lpstr>
      <vt:lpstr>Abstract(2/2)</vt:lpstr>
      <vt:lpstr>Longest Common Subsequence</vt:lpstr>
      <vt:lpstr>Longest Common Subsequence</vt:lpstr>
      <vt:lpstr>Connecting Point Collection</vt:lpstr>
      <vt:lpstr>Intersection Extraction from Connecting Points</vt:lpstr>
      <vt:lpstr>Intersection Extraction from Connecting Points</vt:lpstr>
      <vt:lpstr>Accuracy Measure</vt:lpstr>
      <vt:lpstr>Experimental Results</vt:lpstr>
      <vt:lpstr>Experimental Results</vt:lpstr>
      <vt:lpstr>Experimental Results</vt:lpstr>
      <vt:lpstr>Experimental Results</vt:lpstr>
      <vt:lpstr>Experimental Results</vt:lpstr>
      <vt:lpstr>Experimental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model and algorithm for sequence alignment</dc:title>
  <dc:creator>吳篤承</dc:creator>
  <cp:lastModifiedBy>tu cheng</cp:lastModifiedBy>
  <cp:revision>185</cp:revision>
  <dcterms:created xsi:type="dcterms:W3CDTF">2018-09-30T05:00:05Z</dcterms:created>
  <dcterms:modified xsi:type="dcterms:W3CDTF">2019-06-18T10:08:05Z</dcterms:modified>
</cp:coreProperties>
</file>