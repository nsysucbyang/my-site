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5" r:id="rId4"/>
    <p:sldId id="258" r:id="rId5"/>
    <p:sldId id="266" r:id="rId6"/>
    <p:sldId id="267" r:id="rId7"/>
    <p:sldId id="268" r:id="rId8"/>
    <p:sldId id="269" r:id="rId9"/>
    <p:sldId id="270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2" r:id="rId18"/>
    <p:sldId id="283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篤承" initials="吳篤承" lastIdx="1" clrIdx="0">
    <p:extLst>
      <p:ext uri="{19B8F6BF-5375-455C-9EA6-DF929625EA0E}">
        <p15:presenceInfo xmlns:p15="http://schemas.microsoft.com/office/powerpoint/2012/main" userId="吳篤承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0" autoAdjust="0"/>
    <p:restoredTop sz="90867" autoAdjust="0"/>
  </p:normalViewPr>
  <p:slideViewPr>
    <p:cSldViewPr snapToGrid="0">
      <p:cViewPr varScale="1">
        <p:scale>
          <a:sx n="88" d="100"/>
          <a:sy n="88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5392-FD07-4F5A-B34E-BA69B7FEBBF7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5C38-81A3-45D4-9959-4EF52C41C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42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BC481E-5F61-46D0-A7EB-4B78E26B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17ADD499-6C14-47C8-A9DB-F37A274DE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5F44A6D-44A4-4AC5-A338-742D4C0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2AA9A011-8B20-4955-AB02-9C883200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1D080B5D-51A0-4CC6-B85E-EECDD9C7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2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E791F4F-64C2-4448-AEA3-D8BAD00F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9B64CD7-FFD4-4659-9A78-313C8279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DB714A2-D640-4631-BD91-D40EA7B8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E61BB7E8-FCCA-40E1-AF1F-1EC08D9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F37759F-4DEC-4AF9-AAF6-96479F6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2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44AF7F4-DE89-4B56-ABEB-65BE6D95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C0726E6B-7A4E-46A3-888F-3ECB35C6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2DC7246-3967-4A8C-89BD-498BAD92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D8A016C2-FC45-4CB6-AE5C-B5A2929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00643CBF-BA29-45F4-B839-D048AC73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54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03084E2-FF74-41D8-B7FC-96287DBE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830DA591-3941-4641-B043-A7B68602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D58EE040-2A49-41BF-9734-4F1C3C12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8EECCAB-4CA7-44B9-B7B8-DC7FF510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31F1834D-5465-453A-8482-4EA306D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EEDEEDDC-2E51-41D6-BBEE-C8A5AEE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0891CDC-A371-490F-A9D6-C81ACFD4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AA6414E1-9AA2-4412-BC87-8B794947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AF8352C1-957A-43C9-A792-1F703940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3189CE18-112C-4840-B26C-362D7C23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F7815674-7564-427E-B7B9-22E8C7F54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2891BEAE-F89E-4D1D-88D1-CE02EB2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001E6835-0CA2-4E4B-AA2A-F90C8E50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AF7BAAA1-3B0C-467E-B178-590BB83B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28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DDB431-29CB-4FE4-9ADC-233E5E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AB26AC26-EB83-4AB6-9E2F-C8457BF2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DA0D9A16-24C2-4ED2-BD1F-40A62B4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8002A40A-1FF4-4F68-B9F8-CCFE6F0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EC7FE82F-7353-4EB6-B115-3F4F883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6B99597B-30C7-4D52-AD5F-C858CCF8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C558E562-3645-444D-99EF-C224D8AC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B5C8A51-2D2B-48E7-9226-50EB6A22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1A09DA89-D924-4187-86BB-0DE7413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9A862BBB-0FF2-4F4D-A76D-1F88CE61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3DE41C95-2028-4108-B014-39C5648C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2BD103DD-D7EC-4F8E-92E4-F3DF3C8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A26E5469-9EC0-4784-86DB-CFF18B62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0BCCB00-EDDD-4021-BFA8-37AF232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0B62902F-3F9A-4799-B356-32DB2D43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341559B7-9AC4-469F-8F42-A7EAC560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3C1A871-1FB1-426F-B468-F433644A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002851D3-4076-4BC5-9DED-D4BED17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4E57C28A-8893-4984-9E48-FEAF55A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3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329808D-8B18-4D63-9A86-7E543A9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1C65D312-39D6-45B8-A43D-EE4F531E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386A780-A433-4084-B504-8CA5C05D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8C6AE278-5465-4135-8119-D4FFB67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BC2B663D-8C1E-4440-923C-9B28783B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B0F0B3FC-BDB6-4C40-9E7A-DD251A12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31B69DA4-DCBA-402E-B952-6FEF25C7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7B7CDCD-2B53-481E-994C-32B4B759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5DFB1F8A-6E1A-49FD-88DC-360B7C26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6025657-A7D6-4D60-8308-3F54ECF1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7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AF27AA62-E1D3-4683-9BB1-A8FDBF76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8E70A9A6-A017-41A2-86FB-D99634A9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ADA99EE0-24C1-43B5-8CD7-D94555000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44C1A-2725-48AE-A699-EA8E8FEFF634}" type="datetimeFigureOut">
              <a:rPr lang="zh-TW" altLang="en-US" smtClean="0"/>
              <a:t>2019/9/18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6FDC897C-57B6-471F-85EC-BDD367E81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AE00D97-13C0-4E9B-84D0-94827058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901" y="1871671"/>
            <a:ext cx="10520193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Subsequences and Minimal Common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Supersequences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2984657"/>
            <a:ext cx="9144000" cy="425017"/>
          </a:xfrm>
        </p:spPr>
        <p:txBody>
          <a:bodyPr>
            <a:noAutofit/>
          </a:bodyPr>
          <a:lstStyle/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Campbell B.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Frase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Robert W. Irving</a:t>
            </a:r>
            <a:endParaRPr lang="pl-PL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8F2527E8-BB8F-41FB-8AF1-03DCC96BC069}"/>
              </a:ext>
            </a:extLst>
          </p:cNvPr>
          <p:cNvSpPr txBox="1"/>
          <p:nvPr/>
        </p:nvSpPr>
        <p:spPr>
          <a:xfrm>
            <a:off x="1192925" y="3873343"/>
            <a:ext cx="98061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and Computation. Volume 124, Issue 2, February 1996, Pages 145-153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6BC92671-3184-4146-A361-F82079153C2E}"/>
              </a:ext>
            </a:extLst>
          </p:cNvPr>
          <p:cNvSpPr txBox="1"/>
          <p:nvPr/>
        </p:nvSpPr>
        <p:spPr>
          <a:xfrm>
            <a:off x="8270574" y="5019194"/>
            <a:ext cx="3276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Du-Cheng Wu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52A0654C-2F84-4026-9FCF-04C8DF590D5F}"/>
              </a:ext>
            </a:extLst>
          </p:cNvPr>
          <p:cNvSpPr txBox="1"/>
          <p:nvPr/>
        </p:nvSpPr>
        <p:spPr>
          <a:xfrm>
            <a:off x="8842590" y="5480859"/>
            <a:ext cx="2704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Sept. 18, 2019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608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problems of finding a longest common subsequence and a shortest common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set of strings are well known. 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be solved in polynomial time for two strings (in fact the problems are dual in this case), or for any fixed number of strings, by dynamic programming. 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both problems are NP-hard in general for an arbitrary number k of strings. Here we study the related problems of finding a shortest maximal common subsequence and a longest minimal common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describe dynamic programming algorithms for the case of two strings (for which case the problems are no longer dual), which can be extended to any fixed number of strings. </a:t>
            </a:r>
          </a:p>
        </p:txBody>
      </p:sp>
    </p:spTree>
    <p:extLst>
      <p:ext uri="{BB962C8B-B14F-4D97-AF65-F5344CB8AC3E}">
        <p14:creationId xmlns:p14="http://schemas.microsoft.com/office/powerpoint/2010/main" val="150070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608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show that both problems are NP-hard in general for k strings, although the latter problem, unlike shortest common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solvable in polynomial time for strings of length 2. </a:t>
            </a:r>
          </a:p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we prove a strong negative approximability result for the shortest maximal common subsequence problem.</a:t>
            </a:r>
          </a:p>
        </p:txBody>
      </p:sp>
    </p:spTree>
    <p:extLst>
      <p:ext uri="{BB962C8B-B14F-4D97-AF65-F5344CB8AC3E}">
        <p14:creationId xmlns:p14="http://schemas.microsoft.com/office/powerpoint/2010/main" val="1590694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 fontScale="90000"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Subsequence(LCS) and Shortest Common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acdf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SCS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041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 fontScale="90000"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Maximal Common Subsequence(SMCS) and Longest Minimal Common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ecdf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cdef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 = </a:t>
            </a:r>
            <a:r>
              <a:rPr lang="en-US" altLang="zh-TW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aef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common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cdef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aecdf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aaecdefaa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aacdecdfaa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352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 fontScale="90000"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Maximal Common Subsequence(SMCS) and Longest Minimal Common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altLang="zh-TW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 = aa, </a:t>
            </a:r>
            <a:r>
              <a:rPr lang="en-US" altLang="zh-TW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acdf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aef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common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acdefaaecdf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</a:t>
            </a:r>
            <a:r>
              <a:rPr lang="en-US" altLang="zh-TW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aacdecdfaa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357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 fontScale="90000"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Maximal Common Subsequence(SMCS) and Longest Minimal Common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 = aa,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aef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common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acdefaaecdf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aaecdefaa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160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 fontScale="90000"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Maximal Common Subsequence(SMCS) and Longest Minimal Common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aaecdf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acdefaa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common subsequence = aa,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aef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common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acdefaaecdf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aaecdefaa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aacdecdfaa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smcs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aa</a:t>
            </a: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lmcs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acdefaaecdf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4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Maximal Common Subsequence(SMCS)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2770BA2B-D688-42F9-8AC2-430FF99B1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933" y="3546567"/>
            <a:ext cx="5859011" cy="328550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CD3BBB40-8668-4C5A-ABA1-5618A3FD2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933" y="1992377"/>
            <a:ext cx="6921050" cy="138865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xmlns="" id="{A83B40F2-000C-410F-A1EB-4694C40A7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933" y="1211327"/>
            <a:ext cx="599122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1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Maximal Common Subsequence(SMCS)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xmlns="" id="{07B4EB92-62AD-4EC5-87FA-B9A26C7EF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118162"/>
              </p:ext>
            </p:extLst>
          </p:nvPr>
        </p:nvGraphicFramePr>
        <p:xfrm>
          <a:off x="838200" y="1043915"/>
          <a:ext cx="10800000" cy="468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xmlns="" val="1213890586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2490705408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132061368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430384757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994962264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3723668199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201798055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171812793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3619556894"/>
                    </a:ext>
                  </a:extLst>
                </a:gridCol>
              </a:tblGrid>
              <a:tr h="58500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j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62573088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630029562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511452267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92773971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0924755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32616272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112303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26210425"/>
                  </a:ext>
                </a:extLst>
              </a:tr>
            </a:tbl>
          </a:graphicData>
        </a:graphic>
      </p:graphicFrame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xmlns="" id="{7040E94C-4470-4D02-B1D4-871AF46B9895}"/>
              </a:ext>
            </a:extLst>
          </p:cNvPr>
          <p:cNvCxnSpPr/>
          <p:nvPr/>
        </p:nvCxnSpPr>
        <p:spPr>
          <a:xfrm>
            <a:off x="2986480" y="2055303"/>
            <a:ext cx="461395" cy="3523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958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Maximal Common Subsequence(SMCS)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xmlns="" id="{07B4EB92-62AD-4EC5-87FA-B9A26C7EF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836161"/>
              </p:ext>
            </p:extLst>
          </p:nvPr>
        </p:nvGraphicFramePr>
        <p:xfrm>
          <a:off x="838200" y="1043915"/>
          <a:ext cx="10800000" cy="468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xmlns="" val="1213890586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2490705408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132061368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430384757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994962264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3723668199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201798055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171812793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3619556894"/>
                    </a:ext>
                  </a:extLst>
                </a:gridCol>
              </a:tblGrid>
              <a:tr h="58500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j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62573088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630029562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511452267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92773971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0924755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32616272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112303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26210425"/>
                  </a:ext>
                </a:extLst>
              </a:tr>
            </a:tbl>
          </a:graphicData>
        </a:graphic>
      </p:graphicFrame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xmlns="" id="{BD2EFA36-C12C-42F2-8EE8-356243326F4D}"/>
              </a:ext>
            </a:extLst>
          </p:cNvPr>
          <p:cNvCxnSpPr/>
          <p:nvPr/>
        </p:nvCxnSpPr>
        <p:spPr>
          <a:xfrm>
            <a:off x="9043332" y="2650921"/>
            <a:ext cx="461395" cy="3523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xmlns="" id="{AC4BC232-6627-4CF5-BACB-1FE721FF7FE2}"/>
              </a:ext>
            </a:extLst>
          </p:cNvPr>
          <p:cNvCxnSpPr/>
          <p:nvPr/>
        </p:nvCxnSpPr>
        <p:spPr>
          <a:xfrm>
            <a:off x="10198566" y="2650921"/>
            <a:ext cx="461395" cy="3523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574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Maximal Common Subsequence(SMCS)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xmlns="" id="{07B4EB92-62AD-4EC5-87FA-B9A26C7EF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69501"/>
              </p:ext>
            </p:extLst>
          </p:nvPr>
        </p:nvGraphicFramePr>
        <p:xfrm>
          <a:off x="838200" y="1043915"/>
          <a:ext cx="10800000" cy="4735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xmlns="" val="1213890586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2490705408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132061368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430384757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994962264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3723668199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201798055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171812793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3619556894"/>
                    </a:ext>
                  </a:extLst>
                </a:gridCol>
              </a:tblGrid>
              <a:tr h="58500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j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62573088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630029562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511452267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92773971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0924755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32616272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112303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26210425"/>
                  </a:ext>
                </a:extLst>
              </a:tr>
            </a:tbl>
          </a:graphicData>
        </a:graphic>
      </p:graphicFrame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xmlns="" id="{0B04DAAC-C0E9-4D89-B045-980EC70BD94F}"/>
              </a:ext>
            </a:extLst>
          </p:cNvPr>
          <p:cNvCxnSpPr/>
          <p:nvPr/>
        </p:nvCxnSpPr>
        <p:spPr>
          <a:xfrm>
            <a:off x="6593747" y="3235286"/>
            <a:ext cx="461395" cy="3523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xmlns="" id="{A9E38758-6C30-4E84-890B-927F9157928F}"/>
              </a:ext>
            </a:extLst>
          </p:cNvPr>
          <p:cNvCxnSpPr>
            <a:cxnSpLocks/>
          </p:cNvCxnSpPr>
          <p:nvPr/>
        </p:nvCxnSpPr>
        <p:spPr>
          <a:xfrm>
            <a:off x="9815119" y="3235286"/>
            <a:ext cx="0" cy="2545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66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Maximal Common Subsequence(SMCS)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xmlns="" id="{07B4EB92-62AD-4EC5-87FA-B9A26C7EF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577093"/>
              </p:ext>
            </p:extLst>
          </p:nvPr>
        </p:nvGraphicFramePr>
        <p:xfrm>
          <a:off x="838200" y="1043915"/>
          <a:ext cx="10800000" cy="5064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xmlns="" val="1213890586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2490705408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132061368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430384757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994962264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3723668199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201798055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171812793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3619556894"/>
                    </a:ext>
                  </a:extLst>
                </a:gridCol>
              </a:tblGrid>
              <a:tr h="58500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j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62573088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630029562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511452267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92773971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0924755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32616272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112303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26210425"/>
                  </a:ext>
                </a:extLst>
              </a:tr>
            </a:tbl>
          </a:graphicData>
        </a:graphic>
      </p:graphicFrame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xmlns="" id="{E98A42A5-C578-4AAE-B028-2CF12D52E09F}"/>
              </a:ext>
            </a:extLst>
          </p:cNvPr>
          <p:cNvCxnSpPr>
            <a:cxnSpLocks/>
          </p:cNvCxnSpPr>
          <p:nvPr/>
        </p:nvCxnSpPr>
        <p:spPr>
          <a:xfrm>
            <a:off x="4211273" y="3839294"/>
            <a:ext cx="536896" cy="4307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862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Maximal Common Subsequence(SMCS)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xmlns="" id="{07B4EB92-62AD-4EC5-87FA-B9A26C7EF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785382"/>
              </p:ext>
            </p:extLst>
          </p:nvPr>
        </p:nvGraphicFramePr>
        <p:xfrm>
          <a:off x="838200" y="1043915"/>
          <a:ext cx="10800000" cy="5393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xmlns="" val="1213890586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2490705408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132061368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430384757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994962264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3723668199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201798055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171812793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3619556894"/>
                    </a:ext>
                  </a:extLst>
                </a:gridCol>
              </a:tblGrid>
              <a:tr h="58500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j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62573088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630029562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511452267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92773971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0924755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32616272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(3,(5,3))</a:t>
                      </a:r>
                      <a:endParaRPr lang="zh-TW" alt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(3,(5,3))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(3,(5,3))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(3,(5,3))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(3,(5,3))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112303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strike="sngStrike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26210425"/>
                  </a:ext>
                </a:extLst>
              </a:tr>
            </a:tbl>
          </a:graphicData>
        </a:graphic>
      </p:graphicFrame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xmlns="" id="{F5210391-B6CA-407E-ACD1-94AB035331D1}"/>
              </a:ext>
            </a:extLst>
          </p:cNvPr>
          <p:cNvCxnSpPr>
            <a:cxnSpLocks/>
          </p:cNvCxnSpPr>
          <p:nvPr/>
        </p:nvCxnSpPr>
        <p:spPr>
          <a:xfrm>
            <a:off x="5335399" y="4694971"/>
            <a:ext cx="595617" cy="4642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23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Maximal Common Subsequence(SMCS)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xmlns="" id="{07B4EB92-62AD-4EC5-87FA-B9A26C7EF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561110"/>
              </p:ext>
            </p:extLst>
          </p:nvPr>
        </p:nvGraphicFramePr>
        <p:xfrm>
          <a:off x="838200" y="1043915"/>
          <a:ext cx="10800000" cy="5448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xmlns="" val="1213890586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2490705408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132061368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430384757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994962264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3723668199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201798055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171812793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xmlns="" val="3619556894"/>
                    </a:ext>
                  </a:extLst>
                </a:gridCol>
              </a:tblGrid>
              <a:tr h="58500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j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62573088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630029562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511452267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92773971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30924755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326162720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(3,(5,3))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(3,(5,3))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(3,(5,3))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(3,(5,3))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(3,(5,3))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907112303"/>
                  </a:ext>
                </a:extLst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(0,(0,0))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(1,(1,1))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(2,(4,2))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(3,(5,3))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(2,(3,4))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(3,(5,3))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strike="noStrike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(3,(6,5))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strike="sngStrike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(4,(6,5))</a:t>
                      </a:r>
                      <a:endParaRPr lang="zh-TW" altLang="en-US" sz="1800" strike="sngStrike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(3,(6,5))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(2,(2,6))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(3,(6,5))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26210425"/>
                  </a:ext>
                </a:extLst>
              </a:tr>
            </a:tbl>
          </a:graphicData>
        </a:graphic>
      </p:graphicFrame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xmlns="" id="{50E21D93-107B-405A-A21B-7F89E1AD865F}"/>
              </a:ext>
            </a:extLst>
          </p:cNvPr>
          <p:cNvCxnSpPr/>
          <p:nvPr/>
        </p:nvCxnSpPr>
        <p:spPr>
          <a:xfrm>
            <a:off x="7768205" y="5637916"/>
            <a:ext cx="461395" cy="3523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536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SMCS time complexity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O(m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 time in worst case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O(m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all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complexity: O(m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468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Minimal Common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(LMCS)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E5A6E012-2FF6-4655-937E-5A9660952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933" y="1228982"/>
            <a:ext cx="5934075" cy="7143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CBABCD94-4523-4DAD-ABF1-CA8B14F20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933" y="2009010"/>
            <a:ext cx="7276753" cy="136807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xmlns="" id="{FBEB973D-46A4-4B22-BDFF-F3CD3617BB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932" y="3480914"/>
            <a:ext cx="6879331" cy="312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49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LMCS time complexity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time in worst case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all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complexity: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355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4049</TotalTime>
  <Words>1899</Words>
  <Application>Microsoft Office PowerPoint</Application>
  <PresentationFormat>寬螢幕</PresentationFormat>
  <Paragraphs>428</Paragraphs>
  <Slides>18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4" baseType="lpstr">
      <vt:lpstr>新細明體</vt:lpstr>
      <vt:lpstr>Arial</vt:lpstr>
      <vt:lpstr>Calibri</vt:lpstr>
      <vt:lpstr>Calibri Light</vt:lpstr>
      <vt:lpstr>Times New Roman</vt:lpstr>
      <vt:lpstr>Office 佈景主題</vt:lpstr>
      <vt:lpstr>Maximal Common Subsequences and Minimal Common Supersequences</vt:lpstr>
      <vt:lpstr>Abstract(1/2)</vt:lpstr>
      <vt:lpstr>Abstract(2/2)</vt:lpstr>
      <vt:lpstr>Longest Common Subsequence(LCS) and Shortest Common Supersequence(SCS)</vt:lpstr>
      <vt:lpstr>Shortest Maximal Common Subsequence(SMCS) and Longest Minimal Common Supersequence(LMCS)</vt:lpstr>
      <vt:lpstr>Shortest Maximal Common Subsequence(SMCS) and Longest Minimal Common Supersequence(LMCS)</vt:lpstr>
      <vt:lpstr>Shortest Maximal Common Subsequence(SMCS) and Longest Minimal Common Supersequence(LMCS)</vt:lpstr>
      <vt:lpstr>Shortest Maximal Common Subsequence(SMCS) and Longest Minimal Common Supersequence(LMCS)</vt:lpstr>
      <vt:lpstr>Shortest Maximal Common Subsequence(SMCS)</vt:lpstr>
      <vt:lpstr>Shortest Maximal Common Subsequence(SMCS)</vt:lpstr>
      <vt:lpstr>Shortest Maximal Common Subsequence(SMCS)</vt:lpstr>
      <vt:lpstr>Shortest Maximal Common Subsequence(SMCS)</vt:lpstr>
      <vt:lpstr>Shortest Maximal Common Subsequence(SMCS)</vt:lpstr>
      <vt:lpstr>Shortest Maximal Common Subsequence(SMCS)</vt:lpstr>
      <vt:lpstr>Shortest Maximal Common Subsequence(SMCS)</vt:lpstr>
      <vt:lpstr>SMCS time complexity</vt:lpstr>
      <vt:lpstr>Longest Minimal Common Supersequence(LMCS)</vt:lpstr>
      <vt:lpstr>LMCS time complexity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and algorithm for sequence alignment</dc:title>
  <dc:creator>吳篤承</dc:creator>
  <cp:lastModifiedBy>pplab-class</cp:lastModifiedBy>
  <cp:revision>288</cp:revision>
  <dcterms:created xsi:type="dcterms:W3CDTF">2018-09-30T05:00:05Z</dcterms:created>
  <dcterms:modified xsi:type="dcterms:W3CDTF">2019-09-18T10:32:53Z</dcterms:modified>
</cp:coreProperties>
</file>