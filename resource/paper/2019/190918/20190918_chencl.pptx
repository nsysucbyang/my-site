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5" r:id="rId2"/>
    <p:sldId id="349" r:id="rId3"/>
    <p:sldId id="356" r:id="rId4"/>
    <p:sldId id="355" r:id="rId5"/>
    <p:sldId id="350" r:id="rId6"/>
    <p:sldId id="351" r:id="rId7"/>
    <p:sldId id="352" r:id="rId8"/>
    <p:sldId id="360" r:id="rId9"/>
    <p:sldId id="357" r:id="rId10"/>
    <p:sldId id="358" r:id="rId11"/>
    <p:sldId id="359" r:id="rId12"/>
    <p:sldId id="353" r:id="rId13"/>
    <p:sldId id="361" r:id="rId14"/>
    <p:sldId id="362" r:id="rId15"/>
    <p:sldId id="363" r:id="rId16"/>
    <p:sldId id="364" r:id="rId17"/>
    <p:sldId id="366" r:id="rId18"/>
    <p:sldId id="367" r:id="rId19"/>
    <p:sldId id="369" r:id="rId20"/>
    <p:sldId id="370" r:id="rId21"/>
    <p:sldId id="348" r:id="rId22"/>
    <p:sldId id="321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99" autoAdjust="0"/>
    <p:restoredTop sz="79579" autoAdjust="0"/>
  </p:normalViewPr>
  <p:slideViewPr>
    <p:cSldViewPr>
      <p:cViewPr varScale="1">
        <p:scale>
          <a:sx n="58" d="100"/>
          <a:sy n="58" d="100"/>
        </p:scale>
        <p:origin x="1524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DE2EE-1BAA-4351-B125-34E9F9F75556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5B4DA-D3AD-4183-8000-47877BB382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65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uide2research.com/journals/machine-learning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此篇被引用了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20895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截至今天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John Ross Quinlan(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不確定是否澳洲人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先後提出了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ID3, C4.5, C5.0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三種決策樹演算法，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還有另一種常用的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tree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演算法，叫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CART(Classification And Regression Tree)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，被引用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42052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截至今天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endParaRPr lang="en-US" altLang="zh-TW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它的作者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Leo </a:t>
            </a:r>
            <a:r>
              <a:rPr lang="en-US" altLang="zh-TW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Breiman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不確定是否美國人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也是提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forest(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被引用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48853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的作者。</a:t>
            </a:r>
            <a:endParaRPr lang="en-US" altLang="zh-TW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Learning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期刊是月刊、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Springer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出版、在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Guide2Search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網站期刊排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Top600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的第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298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名。</a:t>
            </a:r>
            <a:endParaRPr lang="en-US" altLang="zh-TW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期刊前五名都來自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的有關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Survey/Evolution/Tutorial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等，</a:t>
            </a:r>
            <a:r>
              <a:rPr lang="en-US" altLang="zh-TW" dirty="0">
                <a:hlinkClick r:id="rId3"/>
              </a:rPr>
              <a:t>http://www.guide2research.com/journals/machine-learning</a:t>
            </a:r>
            <a:r>
              <a:rPr lang="zh-TW" altLang="en-US" dirty="0"/>
              <a:t>。</a:t>
            </a:r>
            <a:endParaRPr lang="en-US" altLang="zh-TW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B4DA-D3AD-4183-8000-47877BB382A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4054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wiki</a:t>
            </a:r>
            <a:r>
              <a:rPr lang="zh-TW" altLang="en-US" dirty="0"/>
              <a:t>有紀錄</a:t>
            </a:r>
            <a:r>
              <a:rPr lang="en-US" altLang="zh-TW" dirty="0"/>
              <a:t>ID3</a:t>
            </a:r>
            <a:r>
              <a:rPr lang="zh-TW" altLang="en-US" dirty="0"/>
              <a:t>演算法決策樹做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mRNA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序列內的特定核苷酸對是否對應於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mRNA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剪接位點，已經證明該樹具有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％的正確預測率。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B4DA-D3AD-4183-8000-47877BB382A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174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CLS(</a:t>
            </a:r>
            <a:r>
              <a:rPr lang="zh-TW" altLang="en-US" dirty="0"/>
              <a:t>沒寫全稱</a:t>
            </a:r>
            <a:r>
              <a:rPr lang="en-US" altLang="zh-TW" dirty="0"/>
              <a:t>):</a:t>
            </a:r>
            <a:r>
              <a:rPr lang="zh-TW" altLang="en-US" dirty="0"/>
              <a:t> 目標將分類的</a:t>
            </a:r>
            <a:r>
              <a:rPr lang="en-US" altLang="zh-TW" dirty="0"/>
              <a:t>cost</a:t>
            </a:r>
            <a:r>
              <a:rPr lang="zh-TW" altLang="en-US" dirty="0"/>
              <a:t>最小化</a:t>
            </a:r>
            <a:r>
              <a:rPr lang="en-US" altLang="zh-TW" dirty="0"/>
              <a:t>=&gt;</a:t>
            </a:r>
            <a:r>
              <a:rPr lang="zh-TW" altLang="en-US" dirty="0"/>
              <a:t>缺點</a:t>
            </a:r>
            <a:r>
              <a:rPr lang="en-US" altLang="zh-TW" dirty="0"/>
              <a:t>:</a:t>
            </a:r>
            <a:r>
              <a:rPr lang="zh-TW" altLang="en-US" dirty="0"/>
              <a:t>需大量計算時間。</a:t>
            </a:r>
            <a:endParaRPr lang="en-US" altLang="zh-TW" dirty="0"/>
          </a:p>
          <a:p>
            <a:r>
              <a:rPr lang="en-US" altLang="zh-TW" dirty="0"/>
              <a:t>ID3</a:t>
            </a:r>
            <a:r>
              <a:rPr lang="zh-TW" altLang="en-US" dirty="0"/>
              <a:t>將</a:t>
            </a:r>
            <a:r>
              <a:rPr lang="en-US" altLang="zh-TW" dirty="0"/>
              <a:t>CLS</a:t>
            </a:r>
            <a:r>
              <a:rPr lang="zh-TW" altLang="en-US" dirty="0"/>
              <a:t>作改良，到現在到處被人提及也被</a:t>
            </a:r>
            <a:r>
              <a:rPr lang="en-US" altLang="zh-TW" dirty="0" err="1"/>
              <a:t>skleran</a:t>
            </a:r>
            <a:r>
              <a:rPr lang="zh-TW" altLang="en-US" dirty="0"/>
              <a:t>官方提到。</a:t>
            </a:r>
            <a:endParaRPr lang="en-US" altLang="zh-TW" dirty="0"/>
          </a:p>
          <a:p>
            <a:r>
              <a:rPr lang="en-US" altLang="zh-TW" dirty="0"/>
              <a:t>ACLS</a:t>
            </a:r>
            <a:r>
              <a:rPr lang="zh-TW" altLang="en-US" dirty="0"/>
              <a:t>則是不限制輸入得是數字，比如可以是圖片，因此可拿來做圖片辨識。</a:t>
            </a:r>
            <a:r>
              <a:rPr lang="en-US" altLang="zh-TW" dirty="0"/>
              <a:t>(1983</a:t>
            </a:r>
            <a:r>
              <a:rPr lang="zh-TW" altLang="en-US" dirty="0"/>
              <a:t>年的人發表，當時人們做圖片辨識用此技術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ASSISTANT</a:t>
            </a:r>
            <a:r>
              <a:rPr lang="zh-TW" altLang="en-US" dirty="0"/>
              <a:t>是</a:t>
            </a:r>
            <a:r>
              <a:rPr lang="en-US" altLang="zh-TW" dirty="0"/>
              <a:t>ID3</a:t>
            </a:r>
            <a:r>
              <a:rPr lang="zh-TW" altLang="en-US" dirty="0"/>
              <a:t>的子孫，但不同的是</a:t>
            </a:r>
            <a:r>
              <a:rPr lang="en-US" altLang="zh-TW" dirty="0"/>
              <a:t>ASSISTANT</a:t>
            </a:r>
            <a:r>
              <a:rPr lang="zh-TW" altLang="en-US" dirty="0"/>
              <a:t>針對連續數值</a:t>
            </a:r>
            <a:r>
              <a:rPr lang="en-US" altLang="zh-TW" dirty="0"/>
              <a:t>(ID3</a:t>
            </a:r>
            <a:r>
              <a:rPr lang="zh-TW" altLang="en-US" dirty="0"/>
              <a:t>則是基於離散數值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且</a:t>
            </a:r>
            <a:r>
              <a:rPr lang="en-US" altLang="zh-TW" dirty="0"/>
              <a:t>ASSISTANT</a:t>
            </a:r>
            <a:r>
              <a:rPr lang="zh-TW" altLang="en-US" dirty="0"/>
              <a:t>會建立等級制度，使得最後分類有時會分類過細；常用於藥學。</a:t>
            </a:r>
            <a:endParaRPr lang="en-US" altLang="zh-TW" dirty="0"/>
          </a:p>
          <a:p>
            <a:r>
              <a:rPr lang="zh-TW" altLang="en-US" dirty="0"/>
              <a:t>最後三種樹則是有</a:t>
            </a:r>
            <a:r>
              <a:rPr lang="en-US" altLang="zh-TW" dirty="0"/>
              <a:t>ACLS</a:t>
            </a:r>
            <a:r>
              <a:rPr lang="zh-TW" altLang="en-US" dirty="0"/>
              <a:t>的子孫，有很多</a:t>
            </a:r>
            <a:r>
              <a:rPr lang="en-US" altLang="zh-TW" dirty="0"/>
              <a:t>user-friendly</a:t>
            </a:r>
            <a:r>
              <a:rPr lang="zh-TW" altLang="en-US" dirty="0"/>
              <a:t>的應用，比如</a:t>
            </a:r>
            <a:r>
              <a:rPr lang="en-US" altLang="zh-TW" dirty="0"/>
              <a:t>:</a:t>
            </a:r>
            <a:r>
              <a:rPr lang="zh-TW" altLang="en-US" dirty="0"/>
              <a:t>為一間西屋公司預測哪裡可能盛產石油，幫西屋公司大賺一筆。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B4DA-D3AD-4183-8000-47877BB382A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4490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判斷是否該出門</a:t>
            </a:r>
            <a:r>
              <a:rPr lang="en-US" altLang="zh-TW" dirty="0"/>
              <a:t>(P:</a:t>
            </a:r>
            <a:r>
              <a:rPr lang="zh-TW" altLang="en-US" dirty="0"/>
              <a:t>是，</a:t>
            </a:r>
            <a:r>
              <a:rPr lang="en-US" altLang="zh-TW" dirty="0"/>
              <a:t>N:</a:t>
            </a:r>
            <a:r>
              <a:rPr lang="zh-TW" altLang="en-US" dirty="0"/>
              <a:t>否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B4DA-D3AD-4183-8000-47877BB382A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114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zh-TW" altLang="en-US" dirty="0"/>
              <a:t>指其中一種</a:t>
            </a:r>
            <a:r>
              <a:rPr lang="en-US" altLang="zh-TW" dirty="0"/>
              <a:t>attribute</a:t>
            </a:r>
            <a:r>
              <a:rPr lang="zh-TW" altLang="en-US" dirty="0"/>
              <a:t>可得</a:t>
            </a:r>
            <a:r>
              <a:rPr lang="en-US" altLang="zh-TW" dirty="0"/>
              <a:t>class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B4DA-D3AD-4183-8000-47877BB382A8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3291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目前</a:t>
            </a:r>
            <a:r>
              <a:rPr lang="en-US" altLang="zh-TW" dirty="0"/>
              <a:t>Python</a:t>
            </a:r>
            <a:r>
              <a:rPr lang="zh-TW" altLang="en-US" dirty="0"/>
              <a:t>的</a:t>
            </a:r>
            <a:r>
              <a:rPr lang="en-US" altLang="zh-TW" dirty="0" err="1"/>
              <a:t>sklearn</a:t>
            </a:r>
            <a:r>
              <a:rPr lang="zh-TW" altLang="en-US" dirty="0"/>
              <a:t>的決策樹採的是</a:t>
            </a:r>
            <a:r>
              <a:rPr lang="en-US" altLang="zh-TW" dirty="0"/>
              <a:t>CART</a:t>
            </a:r>
            <a:r>
              <a:rPr lang="zh-TW" altLang="en-US" dirty="0"/>
              <a:t>演算法。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tree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有被討論什麼時候適合用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classify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決策樹，什麼時候用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決策樹。</a:t>
            </a:r>
            <a:endParaRPr lang="en-US" altLang="zh-TW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若資料用於分類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如分是晴天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雨天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陰天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=&gt;classify</a:t>
            </a:r>
          </a:p>
          <a:p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若資料用於預測實際數值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明天的溫度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=&gt;regression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B4DA-D3AD-4183-8000-47877BB382A8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396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22F7-9093-463E-A323-0320B1218D07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07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8032F-9548-488E-84B9-01BD272248A4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686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3F38-DA44-45A3-9F88-A4C7A8D0B938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47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8FCA-6475-47F2-AE56-5EAEFE9CEA89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92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E7F72-1AC0-4004-B3CF-DC0F9EC3F929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9755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EC81-F444-4AD5-890F-F82EFBEAFD2B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5545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42EBB-6B06-4526-8723-FE84E3F6E81C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88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07DFD-E934-40B2-9D6F-10F2E3E05E9B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480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F272A-59A0-48AE-B820-354E6BEE8DF9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286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4400-AE07-4D84-BA62-1873D5E03D02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14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8F78-15A9-4681-8EF5-2D70FD72BB3E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0514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C81D9-27B1-4FE6-9665-58647586A48F}" type="datetime1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56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A5FC4C-15D3-44B9-AFC7-17377E223E70}"/>
              </a:ext>
            </a:extLst>
          </p:cNvPr>
          <p:cNvSpPr/>
          <p:nvPr/>
        </p:nvSpPr>
        <p:spPr>
          <a:xfrm>
            <a:off x="153284" y="1568066"/>
            <a:ext cx="89741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6000" dirty="0"/>
              <a:t>Induction of Decision Trees</a:t>
            </a:r>
            <a:endParaRPr lang="zh-TW" altLang="en-US" sz="6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232D36-4022-4F80-9EBF-9D79538C2107}"/>
              </a:ext>
            </a:extLst>
          </p:cNvPr>
          <p:cNvSpPr/>
          <p:nvPr/>
        </p:nvSpPr>
        <p:spPr>
          <a:xfrm>
            <a:off x="-252537" y="3719323"/>
            <a:ext cx="1017569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4400" dirty="0"/>
              <a:t>John Ross Quinlan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F23D5C-146B-47F5-B381-C99CFE8E0CD2}"/>
              </a:ext>
            </a:extLst>
          </p:cNvPr>
          <p:cNvSpPr/>
          <p:nvPr/>
        </p:nvSpPr>
        <p:spPr>
          <a:xfrm>
            <a:off x="5364087" y="6021288"/>
            <a:ext cx="37740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Chia-Lin Chen</a:t>
            </a:r>
          </a:p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Sep. 18, 2019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3D4FEB-BCC0-4B30-98EF-813D6A69AC2C}"/>
              </a:ext>
            </a:extLst>
          </p:cNvPr>
          <p:cNvSpPr/>
          <p:nvPr/>
        </p:nvSpPr>
        <p:spPr>
          <a:xfrm>
            <a:off x="2253515" y="4594339"/>
            <a:ext cx="5163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>
                <a:solidFill>
                  <a:srgbClr val="222222"/>
                </a:solidFill>
              </a:rPr>
              <a:t>Machine Learning 1: 81-106, 1986</a:t>
            </a:r>
            <a:endParaRPr lang="zh-TW" altLang="en-US" sz="280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6D3CA2C-6F5D-4A1F-80E5-B1F82A1D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64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9310D9-5D8C-4369-A817-36CB3F1D2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Table of Contents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7C3C29-EB0D-499F-A3A9-544DB57C4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</a:p>
          <a:p>
            <a:r>
              <a:rPr lang="en-US" altLang="zh-TW" dirty="0"/>
              <a:t>The TDIDT family of learning systems</a:t>
            </a:r>
          </a:p>
          <a:p>
            <a:r>
              <a:rPr lang="en-US" altLang="zh-TW" dirty="0"/>
              <a:t>The Induction task</a:t>
            </a:r>
          </a:p>
          <a:p>
            <a:r>
              <a:rPr lang="en-US" altLang="zh-TW" dirty="0"/>
              <a:t>ID3</a:t>
            </a:r>
          </a:p>
          <a:p>
            <a:r>
              <a:rPr lang="en-US" altLang="zh-TW" dirty="0"/>
              <a:t>Noise</a:t>
            </a:r>
          </a:p>
          <a:p>
            <a:r>
              <a:rPr lang="en-US" altLang="zh-TW" dirty="0"/>
              <a:t>Experiment</a:t>
            </a:r>
          </a:p>
          <a:p>
            <a:r>
              <a:rPr lang="en-US" altLang="zh-TW" dirty="0"/>
              <a:t>Additional Decision Tree Algorithms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255DCB-0CC4-4904-AD74-200B4D59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444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47FFCA-C58B-4444-A17C-FE23A0B4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E4CF2F-537B-4CCF-A1B5-799EBB3C8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56792"/>
            <a:ext cx="8686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600" dirty="0"/>
              <a:t>The technology for building knowledge-based systems by inductive inference from examples has</a:t>
            </a:r>
            <a:r>
              <a:rPr lang="zh-TW" altLang="en-US" sz="3600" dirty="0"/>
              <a:t> </a:t>
            </a:r>
            <a:r>
              <a:rPr lang="en-US" altLang="zh-TW" sz="3600" dirty="0"/>
              <a:t>been demonstrated successfully in several practical</a:t>
            </a:r>
            <a:r>
              <a:rPr lang="zh-TW" altLang="en-US" sz="3600" dirty="0"/>
              <a:t> </a:t>
            </a:r>
            <a:r>
              <a:rPr lang="en-US" altLang="zh-TW" sz="3600" dirty="0"/>
              <a:t>applications. This paper summarizes an approach to</a:t>
            </a:r>
            <a:r>
              <a:rPr lang="zh-TW" altLang="en-US" sz="3600" dirty="0"/>
              <a:t> </a:t>
            </a:r>
            <a:r>
              <a:rPr lang="en-US" altLang="zh-TW" sz="3600" dirty="0"/>
              <a:t>synthesizing decision trees that has been used in a variety of systems, and it describes one such system,ID3, in detail. 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A4C3ED-081E-4FE2-9118-EF7F4DD8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35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47FFCA-C58B-4444-A17C-FE23A0B4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E4CF2F-537B-4CCF-A1B5-799EBB3C8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600" dirty="0"/>
              <a:t>Results from recent studies show ways in which the methodology can be modified to deal</a:t>
            </a:r>
            <a:r>
              <a:rPr lang="zh-TW" altLang="en-US" sz="3600" dirty="0"/>
              <a:t> </a:t>
            </a:r>
            <a:r>
              <a:rPr lang="en-US" altLang="zh-TW" sz="3600" dirty="0"/>
              <a:t>with information that is noisy and/or incomplete. A reported shortcoming of the basic algorithm is</a:t>
            </a:r>
            <a:r>
              <a:rPr lang="zh-TW" altLang="en-US" sz="3600" dirty="0"/>
              <a:t> </a:t>
            </a:r>
            <a:r>
              <a:rPr lang="en-US" altLang="zh-TW" sz="3600" dirty="0"/>
              <a:t>discussed and two means of overcoming it are compared. The paper concludes with illustrations of current</a:t>
            </a:r>
            <a:r>
              <a:rPr lang="zh-TW" altLang="en-US" sz="3600" dirty="0"/>
              <a:t> </a:t>
            </a:r>
            <a:r>
              <a:rPr lang="en-US" altLang="zh-TW" sz="3600" dirty="0"/>
              <a:t>research directions.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F2A17B-D2A9-44C8-9CE3-B4B3194A5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253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D5D260-C197-4C32-8E50-DD4EA8B07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0648"/>
            <a:ext cx="8686800" cy="1143000"/>
          </a:xfrm>
        </p:spPr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/>
              <a:t>The TDIDT family of learning systems(1/2)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3289D9-FCFD-4B9A-9312-8F288B084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en-US" altLang="zh-TW" b="1" dirty="0"/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T</a:t>
            </a:r>
            <a:r>
              <a:rPr lang="en-US" altLang="zh-TW" dirty="0"/>
              <a:t>op-</a:t>
            </a:r>
            <a:r>
              <a:rPr lang="en-US" altLang="zh-TW" b="1" dirty="0">
                <a:solidFill>
                  <a:srgbClr val="FF0000"/>
                </a:solidFill>
              </a:rPr>
              <a:t>D</a:t>
            </a:r>
            <a:r>
              <a:rPr lang="en-US" altLang="zh-TW" dirty="0"/>
              <a:t>own </a:t>
            </a:r>
            <a:r>
              <a:rPr lang="en-US" altLang="zh-TW" b="1" dirty="0">
                <a:solidFill>
                  <a:srgbClr val="FF0000"/>
                </a:solidFill>
              </a:rPr>
              <a:t>I</a:t>
            </a:r>
            <a:r>
              <a:rPr lang="en-US" altLang="zh-TW" dirty="0"/>
              <a:t>nduction of </a:t>
            </a:r>
            <a:r>
              <a:rPr lang="en-US" altLang="zh-TW" b="1" dirty="0">
                <a:solidFill>
                  <a:srgbClr val="FF0000"/>
                </a:solidFill>
              </a:rPr>
              <a:t>D</a:t>
            </a:r>
            <a:r>
              <a:rPr lang="en-US" altLang="zh-TW" dirty="0"/>
              <a:t>ecision </a:t>
            </a:r>
            <a:r>
              <a:rPr lang="en-US" altLang="zh-TW" b="1" dirty="0">
                <a:solidFill>
                  <a:srgbClr val="FF0000"/>
                </a:solidFill>
              </a:rPr>
              <a:t>T</a:t>
            </a:r>
            <a:r>
              <a:rPr lang="en-US" altLang="zh-TW" dirty="0"/>
              <a:t>rees(TDIDT)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E81C16-4B9F-42E5-B24B-0643189E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07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06314A95-B332-4482-A4ED-F4A87483A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75656" y="1161289"/>
            <a:ext cx="5904656" cy="5680901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ED475FFE-DA89-437B-A61F-AD22B015F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0648"/>
            <a:ext cx="8686800" cy="1143000"/>
          </a:xfrm>
        </p:spPr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/>
              <a:t>The TDIDT family of learning systems(2/2)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304CD7F-E95F-4B27-864F-C58A31FC74A2}"/>
              </a:ext>
            </a:extLst>
          </p:cNvPr>
          <p:cNvSpPr/>
          <p:nvPr/>
        </p:nvSpPr>
        <p:spPr>
          <a:xfrm>
            <a:off x="5400058" y="3609735"/>
            <a:ext cx="1980254" cy="5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8C00886-FD6D-4193-9F53-4E17004B1CE7}"/>
              </a:ext>
            </a:extLst>
          </p:cNvPr>
          <p:cNvSpPr/>
          <p:nvPr/>
        </p:nvSpPr>
        <p:spPr>
          <a:xfrm>
            <a:off x="3959932" y="1403648"/>
            <a:ext cx="1224136" cy="5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A64B25B-9624-4BB8-BC83-ADE7AAA2E85D}"/>
              </a:ext>
            </a:extLst>
          </p:cNvPr>
          <p:cNvSpPr/>
          <p:nvPr/>
        </p:nvSpPr>
        <p:spPr>
          <a:xfrm>
            <a:off x="3959932" y="2047697"/>
            <a:ext cx="1224136" cy="513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E2CDD00-9A7C-4ECA-B486-0999A5B5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4BA41C8B-67B3-42CD-9934-F204A267BEFA}"/>
              </a:ext>
            </a:extLst>
          </p:cNvPr>
          <p:cNvSpPr/>
          <p:nvPr/>
        </p:nvSpPr>
        <p:spPr>
          <a:xfrm>
            <a:off x="2377446" y="3325254"/>
            <a:ext cx="1453210" cy="3247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775799-D081-4AE9-8F99-BE91B2785263}"/>
              </a:ext>
            </a:extLst>
          </p:cNvPr>
          <p:cNvSpPr/>
          <p:nvPr/>
        </p:nvSpPr>
        <p:spPr>
          <a:xfrm>
            <a:off x="6960327" y="3224391"/>
            <a:ext cx="21336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Continuous number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Medical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388DEA-33FF-4912-8708-05CB3E5D10D9}"/>
              </a:ext>
            </a:extLst>
          </p:cNvPr>
          <p:cNvSpPr/>
          <p:nvPr/>
        </p:nvSpPr>
        <p:spPr>
          <a:xfrm>
            <a:off x="274699" y="2868054"/>
            <a:ext cx="21336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Image </a:t>
            </a:r>
            <a:r>
              <a:rPr lang="en-US" altLang="zh-TW" dirty="0" err="1">
                <a:solidFill>
                  <a:schemeClr val="tx1"/>
                </a:solidFill>
              </a:rPr>
              <a:t>regonize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382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11B9B1-71A4-4A24-B356-C103A522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/>
              <a:t>The Induction task(1/5)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327213-495D-4755-B045-124954EDE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435280" cy="5661248"/>
          </a:xfrm>
        </p:spPr>
        <p:txBody>
          <a:bodyPr/>
          <a:lstStyle/>
          <a:p>
            <a:endParaRPr lang="en-US" altLang="zh-TW" sz="1600" b="1" dirty="0"/>
          </a:p>
          <a:p>
            <a:r>
              <a:rPr lang="en-US" altLang="zh-TW" b="1" dirty="0"/>
              <a:t>Universe of inputs(attributes) must be discrete.</a:t>
            </a:r>
          </a:p>
          <a:p>
            <a:pPr marL="0" indent="0">
              <a:buNone/>
            </a:pPr>
            <a:endParaRPr lang="en-US" altLang="zh-TW" sz="800" dirty="0"/>
          </a:p>
          <a:p>
            <a:pPr marL="0" indent="0">
              <a:buNone/>
            </a:pPr>
            <a:r>
              <a:rPr lang="en-US" altLang="zh-TW" b="1" i="1" dirty="0">
                <a:solidFill>
                  <a:schemeClr val="accent6">
                    <a:lumMod val="75000"/>
                  </a:schemeClr>
                </a:solidFill>
              </a:rPr>
              <a:t>Attributes</a:t>
            </a:r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</a:rPr>
              <a:t> example(</a:t>
            </a:r>
            <a:r>
              <a:rPr lang="en-US" altLang="zh-TW" b="1" i="1" dirty="0">
                <a:solidFill>
                  <a:schemeClr val="accent6">
                    <a:lumMod val="75000"/>
                  </a:schemeClr>
                </a:solidFill>
              </a:rPr>
              <a:t>Classification</a:t>
            </a:r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</a:rPr>
              <a:t> is P/N):</a:t>
            </a:r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</a:rPr>
              <a:t>Then, weather of a Saturday morning will be: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F2E1606-1A58-4072-A421-6FEA6EE5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AE0ABA7-44F9-4BBA-A5CB-C413977C5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852936"/>
            <a:ext cx="5334000" cy="1524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BA66C1D-A537-4F04-B6DB-CC7CA6C0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825" y="5270863"/>
            <a:ext cx="2162175" cy="13716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E420A2C-0E7F-4DD8-B0A1-AE8C7CCDB16C}"/>
              </a:ext>
            </a:extLst>
          </p:cNvPr>
          <p:cNvSpPr txBox="1"/>
          <p:nvPr/>
        </p:nvSpPr>
        <p:spPr>
          <a:xfrm>
            <a:off x="6288223" y="5525961"/>
            <a:ext cx="11044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>
                <a:solidFill>
                  <a:srgbClr val="FF0000"/>
                </a:solidFill>
              </a:rPr>
              <a:t>P/N</a:t>
            </a:r>
            <a:endParaRPr lang="zh-TW" altLang="en-US" sz="4800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5A837A-F278-45B7-87BF-9BA9DE4D30A5}"/>
              </a:ext>
            </a:extLst>
          </p:cNvPr>
          <p:cNvSpPr txBox="1"/>
          <p:nvPr/>
        </p:nvSpPr>
        <p:spPr>
          <a:xfrm>
            <a:off x="306091" y="6273131"/>
            <a:ext cx="1971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We call it an object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EFF82F2-5248-48C0-A13F-596C6C9667C9}"/>
              </a:ext>
            </a:extLst>
          </p:cNvPr>
          <p:cNvCxnSpPr/>
          <p:nvPr/>
        </p:nvCxnSpPr>
        <p:spPr>
          <a:xfrm flipV="1">
            <a:off x="1763688" y="5849512"/>
            <a:ext cx="513648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76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11B9B1-71A4-4A24-B356-C103A522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/>
              <a:t>The Induction task(2/5)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327213-495D-4755-B045-124954EDE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435280" cy="5661248"/>
          </a:xfrm>
        </p:spPr>
        <p:txBody>
          <a:bodyPr/>
          <a:lstStyle/>
          <a:p>
            <a:endParaRPr lang="en-US" altLang="zh-TW" sz="1600" b="1" dirty="0"/>
          </a:p>
          <a:p>
            <a:endParaRPr lang="en-US" altLang="zh-TW" sz="28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zh-TW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zh-TW" sz="3600" b="1" dirty="0">
                <a:solidFill>
                  <a:schemeClr val="accent6">
                    <a:lumMod val="75000"/>
                  </a:schemeClr>
                </a:solidFill>
              </a:rPr>
              <a:t>Attributes should be sufficient to </a:t>
            </a:r>
          </a:p>
          <a:p>
            <a:pPr marL="0" indent="0">
              <a:buNone/>
            </a:pPr>
            <a:r>
              <a:rPr lang="en-US" altLang="zh-TW" sz="3600" b="1" dirty="0">
                <a:solidFill>
                  <a:schemeClr val="accent6">
                    <a:lumMod val="75000"/>
                  </a:schemeClr>
                </a:solidFill>
              </a:rPr>
              <a:t>   the decision trees.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F2E1606-1A58-4072-A421-6FEA6EE5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596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11B9B1-71A4-4A24-B356-C103A522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/>
              <a:t>The Induction task(3/5)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327213-495D-4755-B045-124954EDE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435280" cy="5661248"/>
          </a:xfrm>
        </p:spPr>
        <p:txBody>
          <a:bodyPr/>
          <a:lstStyle/>
          <a:p>
            <a:endParaRPr lang="en-US" altLang="zh-TW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F2E1606-1A58-4072-A421-6FEA6EE5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611C53C-05AF-4D06-98F1-2679F6C14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0456"/>
            <a:ext cx="9144000" cy="583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59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11B9B1-71A4-4A24-B356-C103A522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/>
              <a:t>The Induction task(4/5)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F2E1606-1A58-4072-A421-6FEA6EE5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8D51BB7-D575-4F7D-A33A-F9728E11E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7829"/>
            <a:ext cx="7427168" cy="543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73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11B9B1-71A4-4A24-B356-C103A522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en-US" altLang="zh-TW" dirty="0"/>
              <a:t>The Induction task(5/5)</a:t>
            </a:r>
            <a:br>
              <a:rPr lang="en-US" altLang="zh-TW" dirty="0"/>
            </a:b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34166973-6490-4BCA-8DAB-2C13F2C5D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72093"/>
            <a:ext cx="8435975" cy="511078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F2E1606-1A58-4072-A421-6FEA6EE5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108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5ADDB-FFCD-41D8-8658-0DB8DB2B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ID3(1/7)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4F0435-DB70-4801-B2CC-A55EDA3BF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simple way to choose the subset of the above induction tasks is choosing randomly.</a:t>
            </a:r>
          </a:p>
          <a:p>
            <a:endParaRPr lang="en-US" altLang="zh-TW" dirty="0"/>
          </a:p>
          <a:p>
            <a:r>
              <a:rPr lang="en-US" altLang="zh-TW" dirty="0"/>
              <a:t>Choosing randomly will stop while it is a “</a:t>
            </a:r>
            <a:r>
              <a:rPr lang="en-US" altLang="zh-TW" b="1" dirty="0"/>
              <a:t>correct”</a:t>
            </a:r>
            <a:r>
              <a:rPr lang="en-US" altLang="zh-TW" dirty="0"/>
              <a:t> decision tree.</a:t>
            </a:r>
          </a:p>
          <a:p>
            <a:endParaRPr lang="en-US" altLang="zh-TW" dirty="0"/>
          </a:p>
          <a:p>
            <a:r>
              <a:rPr lang="en-US" altLang="zh-TW" dirty="0"/>
              <a:t>It tasks only a few iterations for training set is above 30,000 objects and up to 50 attributes.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2507DE-59D1-461A-AE11-10A45FB6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193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5ADDB-FFCD-41D8-8658-0DB8DB2B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ID3(2/7)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4F0435-DB70-4801-B2CC-A55EDA3BF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</a:rPr>
              <a:t>ID3 is based on two assumptions: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</a:rPr>
              <a:t>p in class P, n in class N; </a:t>
            </a:r>
          </a:p>
          <a:p>
            <a:pPr marL="0" indent="0">
              <a:buNone/>
            </a:pPr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</a:rPr>
              <a:t>	probability: p/(</a:t>
            </a:r>
            <a:r>
              <a:rPr lang="en-US" altLang="zh-TW" b="1" dirty="0" err="1">
                <a:solidFill>
                  <a:schemeClr val="accent3">
                    <a:lumMod val="50000"/>
                  </a:schemeClr>
                </a:solidFill>
              </a:rPr>
              <a:t>p+n</a:t>
            </a:r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</a:rPr>
              <a:t>), n/(</a:t>
            </a:r>
            <a:r>
              <a:rPr lang="en-US" altLang="zh-TW" b="1" dirty="0" err="1">
                <a:solidFill>
                  <a:schemeClr val="accent3">
                    <a:lumMod val="50000"/>
                  </a:schemeClr>
                </a:solidFill>
              </a:rPr>
              <a:t>p+n</a:t>
            </a:r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</a:rPr>
              <a:t>).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altLang="zh-TW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</a:rPr>
              <a:t>Information I(</a:t>
            </a:r>
            <a:r>
              <a:rPr lang="en-US" altLang="zh-TW" b="1" dirty="0" err="1">
                <a:solidFill>
                  <a:schemeClr val="accent3">
                    <a:lumMod val="50000"/>
                  </a:schemeClr>
                </a:solidFill>
              </a:rPr>
              <a:t>p,n</a:t>
            </a:r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</a:rPr>
              <a:t>):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2507DE-59D1-461A-AE11-10A45FB6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33A23A9-7945-402D-8834-CB87C7920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4875018"/>
            <a:ext cx="7200800" cy="807362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AB677E32-C3E2-44E3-8365-C9A0009A2F56}"/>
              </a:ext>
            </a:extLst>
          </p:cNvPr>
          <p:cNvCxnSpPr/>
          <p:nvPr/>
        </p:nvCxnSpPr>
        <p:spPr>
          <a:xfrm>
            <a:off x="3707904" y="5661248"/>
            <a:ext cx="12961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6D3BAC3-52E1-40A1-9170-4E37FFFDB0DC}"/>
              </a:ext>
            </a:extLst>
          </p:cNvPr>
          <p:cNvCxnSpPr/>
          <p:nvPr/>
        </p:nvCxnSpPr>
        <p:spPr>
          <a:xfrm>
            <a:off x="6553200" y="5682380"/>
            <a:ext cx="12961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174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5ADDB-FFCD-41D8-8658-0DB8DB2B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ID3(3/7)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D9692C1-88B8-48DA-9F36-09691817C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9632" y="1417638"/>
            <a:ext cx="6251347" cy="162207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2507DE-59D1-461A-AE11-10A45FB6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14</a:t>
            </a:fld>
            <a:endParaRPr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AB677E32-C3E2-44E3-8365-C9A0009A2F56}"/>
              </a:ext>
            </a:extLst>
          </p:cNvPr>
          <p:cNvCxnSpPr/>
          <p:nvPr/>
        </p:nvCxnSpPr>
        <p:spPr>
          <a:xfrm>
            <a:off x="4020420" y="5377992"/>
            <a:ext cx="12961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6D3BAC3-52E1-40A1-9170-4E37FFFDB0DC}"/>
              </a:ext>
            </a:extLst>
          </p:cNvPr>
          <p:cNvCxnSpPr/>
          <p:nvPr/>
        </p:nvCxnSpPr>
        <p:spPr>
          <a:xfrm>
            <a:off x="6355262" y="5377992"/>
            <a:ext cx="12961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731A2FE9-88CF-4651-AA64-486E9461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362" y="4268557"/>
            <a:ext cx="6423044" cy="110943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0B94468-6376-423A-BDDC-F8822592DE16}"/>
              </a:ext>
            </a:extLst>
          </p:cNvPr>
          <p:cNvSpPr txBox="1"/>
          <p:nvPr/>
        </p:nvSpPr>
        <p:spPr>
          <a:xfrm>
            <a:off x="457200" y="2670377"/>
            <a:ext cx="2349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(Expected Information)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5F6CE7F-1A04-4084-87AC-810C8F79D83D}"/>
              </a:ext>
            </a:extLst>
          </p:cNvPr>
          <p:cNvSpPr txBox="1"/>
          <p:nvPr/>
        </p:nvSpPr>
        <p:spPr>
          <a:xfrm>
            <a:off x="661004" y="5095407"/>
            <a:ext cx="1880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(Information gain)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86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F438E13-E350-4DF8-B09B-0371D8F6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BBAE02C-2656-4B99-92A0-C90670B0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/>
              <a:t>ID3(4/7)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E5966A8-40F8-41F0-B2E3-925A38B5C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0456"/>
            <a:ext cx="9144000" cy="583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407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F438E13-E350-4DF8-B09B-0371D8F6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4799" y="4648690"/>
            <a:ext cx="2133600" cy="365125"/>
          </a:xfrm>
        </p:spPr>
        <p:txBody>
          <a:bodyPr/>
          <a:lstStyle/>
          <a:p>
            <a:fld id="{A3A7B17A-699C-4125-A5AD-2CB22A65A136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33BE512-71EC-4EF1-965B-3CB2ADC2F4E1}"/>
              </a:ext>
            </a:extLst>
          </p:cNvPr>
          <p:cNvSpPr txBox="1"/>
          <p:nvPr/>
        </p:nvSpPr>
        <p:spPr>
          <a:xfrm>
            <a:off x="290578" y="1354579"/>
            <a:ext cx="3469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Attribute Outlook (sunny)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32F0C11-87D2-4585-AC79-926397521CAA}"/>
              </a:ext>
            </a:extLst>
          </p:cNvPr>
          <p:cNvSpPr txBox="1"/>
          <p:nvPr/>
        </p:nvSpPr>
        <p:spPr>
          <a:xfrm>
            <a:off x="253625" y="3777405"/>
            <a:ext cx="3783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Attribute Outlook (overcast)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91B553-C1D6-4C6E-AC26-DDF29EF38539}"/>
              </a:ext>
            </a:extLst>
          </p:cNvPr>
          <p:cNvSpPr txBox="1"/>
          <p:nvPr/>
        </p:nvSpPr>
        <p:spPr>
          <a:xfrm>
            <a:off x="351788" y="2498494"/>
            <a:ext cx="3205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Attribute Outlook (rain)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196B0FF-2B08-4A11-B9F3-92FE14EDB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61" y="1753548"/>
            <a:ext cx="8229600" cy="88768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E10F78B-7728-4B8C-8CFE-20381E7E9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61" y="3102036"/>
            <a:ext cx="8229599" cy="78970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CA744E3-8DC2-48CC-B860-3FABFA890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57" y="4415252"/>
            <a:ext cx="7985766" cy="49799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C33C683F-712E-4BE2-92B3-8C7FBE2C199D}"/>
              </a:ext>
            </a:extLst>
          </p:cNvPr>
          <p:cNvSpPr txBox="1"/>
          <p:nvPr/>
        </p:nvSpPr>
        <p:spPr>
          <a:xfrm>
            <a:off x="253625" y="1484784"/>
            <a:ext cx="8499514" cy="3529031"/>
          </a:xfrm>
          <a:prstGeom prst="rect">
            <a:avLst/>
          </a:prstGeom>
          <a:noFill/>
          <a:ln w="762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5725706C-91B5-4E01-A4A9-321FAB129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578" y="125852"/>
            <a:ext cx="8363272" cy="1166895"/>
          </a:xfrm>
          <a:prstGeom prst="rect">
            <a:avLst/>
          </a:prstGeom>
          <a:ln w="76200">
            <a:solidFill>
              <a:srgbClr val="FFC000"/>
            </a:solidFill>
          </a:ln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E66FD557-9AAA-4750-949C-46C339F0E0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" y="5232474"/>
            <a:ext cx="8429289" cy="1212676"/>
          </a:xfrm>
          <a:prstGeom prst="rect">
            <a:avLst/>
          </a:prstGeom>
          <a:ln w="76200"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69903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F438E13-E350-4DF8-B09B-0371D8F6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BBAE02C-2656-4B99-92A0-C90670B0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/>
              <a:t>ID3(6/7)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E481B17-0976-4133-9783-18ED1E803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2" y="2605050"/>
            <a:ext cx="8971235" cy="63978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0926521-0FD5-43AF-BDAF-124AD9D0B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526601"/>
            <a:ext cx="6048672" cy="167762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6B7711B-92AD-4E85-9A3E-9C465760FB32}"/>
              </a:ext>
            </a:extLst>
          </p:cNvPr>
          <p:cNvSpPr txBox="1"/>
          <p:nvPr/>
        </p:nvSpPr>
        <p:spPr>
          <a:xfrm>
            <a:off x="7236296" y="2605050"/>
            <a:ext cx="1080120" cy="53591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F8FB0E9-96E9-426B-A6ED-D469232FFF3A}"/>
              </a:ext>
            </a:extLst>
          </p:cNvPr>
          <p:cNvSpPr txBox="1"/>
          <p:nvPr/>
        </p:nvSpPr>
        <p:spPr>
          <a:xfrm>
            <a:off x="4716016" y="4097452"/>
            <a:ext cx="1080120" cy="53591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19F043A-DCC6-4326-A85B-AB4FBD2C3B7E}"/>
              </a:ext>
            </a:extLst>
          </p:cNvPr>
          <p:cNvSpPr txBox="1"/>
          <p:nvPr/>
        </p:nvSpPr>
        <p:spPr>
          <a:xfrm>
            <a:off x="4716016" y="4685771"/>
            <a:ext cx="1080120" cy="53591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88B9054-9E34-4CE2-836B-60A6D8DD5DC5}"/>
              </a:ext>
            </a:extLst>
          </p:cNvPr>
          <p:cNvSpPr txBox="1"/>
          <p:nvPr/>
        </p:nvSpPr>
        <p:spPr>
          <a:xfrm>
            <a:off x="0" y="5836982"/>
            <a:ext cx="9145016" cy="830997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Choose higher ones, and check if it is a “correct” decision tree. </a:t>
            </a:r>
          </a:p>
          <a:p>
            <a:r>
              <a:rPr lang="en-US" altLang="zh-TW" sz="2400" dirty="0"/>
              <a:t>If it is, then stop. Otherwise, continue.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19793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F438E13-E350-4DF8-B09B-0371D8F6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BBAE02C-2656-4B99-92A0-C90670B0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/>
              <a:t>ID3(7/7)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6CDDE8-6527-4B8E-AE8F-723AF18F6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35887"/>
            <a:ext cx="7272808" cy="531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63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7E5974-4A70-43C7-A5C3-E4944CE0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Noise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4AFFB25-BAD1-4453-8C60-2272DF64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518D981-C32F-48B6-9FF0-C9D3185CA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490518"/>
            <a:ext cx="7200800" cy="807362"/>
          </a:xfrm>
          <a:prstGeom prst="rect">
            <a:avLst/>
          </a:prstGeom>
        </p:spPr>
      </p:pic>
      <p:pic>
        <p:nvPicPr>
          <p:cNvPr id="5" name="內容版面配置區 5">
            <a:extLst>
              <a:ext uri="{FF2B5EF4-FFF2-40B4-BE49-F238E27FC236}">
                <a16:creationId xmlns:a16="http://schemas.microsoft.com/office/drawing/2014/main" id="{6E20A2E1-DE19-40A7-8B76-B71317746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274582"/>
            <a:ext cx="5237407" cy="135897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902CF69-17B4-4502-9882-EEAEC4209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18" y="5458093"/>
            <a:ext cx="5620695" cy="970847"/>
          </a:xfrm>
          <a:prstGeom prst="rect">
            <a:avLst/>
          </a:prstGeom>
        </p:spPr>
      </p:pic>
      <p:sp>
        <p:nvSpPr>
          <p:cNvPr id="9" name="箭號: 向右 8">
            <a:extLst>
              <a:ext uri="{FF2B5EF4-FFF2-40B4-BE49-F238E27FC236}">
                <a16:creationId xmlns:a16="http://schemas.microsoft.com/office/drawing/2014/main" id="{CABCF951-4118-4087-85DE-B6355896FC58}"/>
              </a:ext>
            </a:extLst>
          </p:cNvPr>
          <p:cNvSpPr/>
          <p:nvPr/>
        </p:nvSpPr>
        <p:spPr>
          <a:xfrm rot="19072511">
            <a:off x="398958" y="4888792"/>
            <a:ext cx="648072" cy="5040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66C1050A-26D7-464C-AEEF-19E36DE8634E}"/>
              </a:ext>
            </a:extLst>
          </p:cNvPr>
          <p:cNvSpPr/>
          <p:nvPr/>
        </p:nvSpPr>
        <p:spPr>
          <a:xfrm rot="19072511">
            <a:off x="398958" y="5823486"/>
            <a:ext cx="648072" cy="5040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EBA246F-92B7-4DF0-A46D-D458D5F1D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8552" y="1404847"/>
            <a:ext cx="5065314" cy="1383696"/>
          </a:xfrm>
          <a:prstGeom prst="rect">
            <a:avLst/>
          </a:prstGeom>
          <a:solidFill>
            <a:srgbClr val="FFC000"/>
          </a:solidFill>
          <a:ln w="57150">
            <a:solidFill>
              <a:srgbClr val="FFC000"/>
            </a:solidFill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B0C0063-CA9D-497B-BD1F-646080B9697B}"/>
              </a:ext>
            </a:extLst>
          </p:cNvPr>
          <p:cNvSpPr txBox="1"/>
          <p:nvPr/>
        </p:nvSpPr>
        <p:spPr>
          <a:xfrm>
            <a:off x="1012618" y="3478248"/>
            <a:ext cx="7231790" cy="28150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0894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252A3B-3C9B-42F2-931F-5DDEB2AC5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BC80199-F9AE-4C2B-B072-D78E6C8D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6AA589-3B47-407C-8819-8F762F36276A}"/>
              </a:ext>
            </a:extLst>
          </p:cNvPr>
          <p:cNvSpPr txBox="1"/>
          <p:nvPr/>
        </p:nvSpPr>
        <p:spPr>
          <a:xfrm>
            <a:off x="426368" y="1417638"/>
            <a:ext cx="82912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200" dirty="0"/>
              <a:t>Chess: </a:t>
            </a:r>
          </a:p>
          <a:p>
            <a:r>
              <a:rPr lang="en-US" altLang="zh-TW" sz="3200" dirty="0"/>
              <a:t>715 object (</a:t>
            </a:r>
            <a:r>
              <a:rPr lang="en-US" altLang="zh-TW" sz="3200" dirty="0" err="1"/>
              <a:t>train:test</a:t>
            </a:r>
            <a:r>
              <a:rPr lang="en-US" altLang="zh-TW" sz="3200" dirty="0"/>
              <a:t>=2:8), 49 binary-valued attributes</a:t>
            </a:r>
            <a:r>
              <a:rPr lang="en-US" altLang="zh-TW" sz="3200" dirty="0">
                <a:sym typeface="Wingdings" panose="05000000000000000000" pitchFamily="2" charset="2"/>
              </a:rPr>
              <a:t>precision94%</a:t>
            </a:r>
            <a:endParaRPr lang="en-US" altLang="zh-TW" sz="3200" dirty="0"/>
          </a:p>
          <a:p>
            <a:r>
              <a:rPr lang="en-US" altLang="zh-TW" sz="3200" dirty="0"/>
              <a:t>551 object (</a:t>
            </a:r>
            <a:r>
              <a:rPr lang="en-US" altLang="zh-TW" sz="3200" dirty="0" err="1"/>
              <a:t>train:test</a:t>
            </a:r>
            <a:r>
              <a:rPr lang="en-US" altLang="zh-TW" sz="3200" dirty="0"/>
              <a:t>=2:8), 49 binary-valued attributes</a:t>
            </a:r>
            <a:r>
              <a:rPr lang="en-US" altLang="zh-TW" sz="3200" dirty="0">
                <a:sym typeface="Wingdings" panose="05000000000000000000" pitchFamily="2" charset="2"/>
              </a:rPr>
              <a:t>precision98%</a:t>
            </a:r>
            <a:endParaRPr lang="en-US" altLang="zh-TW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200" dirty="0"/>
              <a:t>Wiki</a:t>
            </a:r>
            <a:r>
              <a:rPr lang="zh-TW" altLang="en-US" sz="3200" dirty="0"/>
              <a:t>有紀錄</a:t>
            </a:r>
            <a:r>
              <a:rPr lang="en-US" altLang="zh-TW" sz="3200" dirty="0"/>
              <a:t>ID3</a:t>
            </a:r>
            <a:r>
              <a:rPr lang="zh-TW" altLang="en-US" sz="3200" dirty="0"/>
              <a:t>演算法決策樹做</a:t>
            </a:r>
            <a:r>
              <a:rPr lang="en-US" altLang="zh-TW" sz="3200" dirty="0"/>
              <a:t>mRNA</a:t>
            </a:r>
            <a:r>
              <a:rPr lang="zh-TW" altLang="en-US" sz="3200" dirty="0"/>
              <a:t>序列內的特定核苷酸對是否對應於</a:t>
            </a:r>
            <a:r>
              <a:rPr lang="en-US" altLang="zh-TW" sz="3200" dirty="0"/>
              <a:t>mRNA</a:t>
            </a:r>
            <a:r>
              <a:rPr lang="zh-TW" altLang="en-US" sz="3200" dirty="0"/>
              <a:t>剪接位點，已經證明該樹具有</a:t>
            </a:r>
            <a:r>
              <a:rPr lang="en-US" altLang="zh-TW" sz="3200" dirty="0"/>
              <a:t>95</a:t>
            </a:r>
            <a:r>
              <a:rPr lang="zh-TW" altLang="en-US" sz="3200" dirty="0"/>
              <a:t>％的正確預測率。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23854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A2535C-0233-491B-8961-DDA8745D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Additional Decision Tree Algorithms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694554-E12F-497A-AF5F-F77E9AE4A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John Ross Quinlan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TW" dirty="0"/>
              <a:t>ID3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TW" dirty="0"/>
              <a:t>C4.5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TW" dirty="0"/>
              <a:t>C5.0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Leo </a:t>
            </a:r>
            <a:r>
              <a:rPr lang="en-US" altLang="zh-TW" dirty="0" err="1"/>
              <a:t>Breiman</a:t>
            </a:r>
            <a:endParaRPr lang="en-US" altLang="zh-TW" dirty="0"/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TW" dirty="0"/>
              <a:t>CART(</a:t>
            </a:r>
            <a:r>
              <a:rPr lang="en-US" altLang="zh-TW" b="1" dirty="0">
                <a:solidFill>
                  <a:srgbClr val="FF0000"/>
                </a:solidFill>
              </a:rPr>
              <a:t>C</a:t>
            </a:r>
            <a:r>
              <a:rPr lang="en-US" altLang="zh-TW" dirty="0"/>
              <a:t>lassification </a:t>
            </a:r>
            <a:r>
              <a:rPr lang="en-US" altLang="zh-TW" b="1" dirty="0">
                <a:solidFill>
                  <a:srgbClr val="FF0000"/>
                </a:solidFill>
              </a:rPr>
              <a:t>A</a:t>
            </a:r>
            <a:r>
              <a:rPr lang="en-US" altLang="zh-TW" dirty="0"/>
              <a:t>nd </a:t>
            </a:r>
            <a:r>
              <a:rPr lang="en-US" altLang="zh-TW" b="1" dirty="0">
                <a:solidFill>
                  <a:srgbClr val="FF0000"/>
                </a:solidFill>
              </a:rPr>
              <a:t>R</a:t>
            </a:r>
            <a:r>
              <a:rPr lang="en-US" altLang="zh-TW" dirty="0"/>
              <a:t>egression </a:t>
            </a:r>
            <a:r>
              <a:rPr lang="en-US" altLang="zh-TW" b="1" dirty="0">
                <a:solidFill>
                  <a:srgbClr val="FF0000"/>
                </a:solidFill>
              </a:rPr>
              <a:t>T</a:t>
            </a:r>
            <a:r>
              <a:rPr lang="en-US" altLang="zh-TW" dirty="0"/>
              <a:t>ree)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A4288B-1D16-43B5-941F-782C8744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414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F7CA560-8D97-46F6-A9C7-F7A52E05846C}"/>
              </a:ext>
            </a:extLst>
          </p:cNvPr>
          <p:cNvSpPr txBox="1"/>
          <p:nvPr/>
        </p:nvSpPr>
        <p:spPr>
          <a:xfrm>
            <a:off x="2627784" y="2828835"/>
            <a:ext cx="43331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/>
              <a:t>Thank You!</a:t>
            </a:r>
            <a:endParaRPr lang="zh-TW" altLang="en-US" sz="7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9B194-E601-4399-A0AF-D621F813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789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872</Words>
  <Application>Microsoft Office PowerPoint</Application>
  <PresentationFormat>如螢幕大小 (4:3)</PresentationFormat>
  <Paragraphs>134</Paragraphs>
  <Slides>22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佈景主題</vt:lpstr>
      <vt:lpstr>PowerPoint 簡報</vt:lpstr>
      <vt:lpstr>Table of Contents</vt:lpstr>
      <vt:lpstr>Abstract(1/2)</vt:lpstr>
      <vt:lpstr>Abstract(2/2)</vt:lpstr>
      <vt:lpstr> The TDIDT family of learning systems(1/2) </vt:lpstr>
      <vt:lpstr> The TDIDT family of learning systems(2/2) </vt:lpstr>
      <vt:lpstr> The Induction task(1/5) </vt:lpstr>
      <vt:lpstr> The Induction task(2/5) </vt:lpstr>
      <vt:lpstr> The Induction task(3/5) </vt:lpstr>
      <vt:lpstr> The Induction task(4/5) </vt:lpstr>
      <vt:lpstr> The Induction task(5/5) </vt:lpstr>
      <vt:lpstr>ID3(1/7)</vt:lpstr>
      <vt:lpstr>ID3(2/7)</vt:lpstr>
      <vt:lpstr>ID3(3/7)</vt:lpstr>
      <vt:lpstr>ID3(4/7)</vt:lpstr>
      <vt:lpstr>PowerPoint 簡報</vt:lpstr>
      <vt:lpstr>ID3(6/7)</vt:lpstr>
      <vt:lpstr>ID3(7/7)</vt:lpstr>
      <vt:lpstr>Noise</vt:lpstr>
      <vt:lpstr>Experiment</vt:lpstr>
      <vt:lpstr>Additional Decision Tree Algorithms</vt:lpstr>
      <vt:lpstr>PowerPoint 簡報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Control Sytems : Past, Present and Future</dc:title>
  <dc:creator>中文</dc:creator>
  <cp:lastModifiedBy>M073040105</cp:lastModifiedBy>
  <cp:revision>278</cp:revision>
  <dcterms:created xsi:type="dcterms:W3CDTF">2019-05-14T11:49:57Z</dcterms:created>
  <dcterms:modified xsi:type="dcterms:W3CDTF">2019-09-18T10:57:30Z</dcterms:modified>
</cp:coreProperties>
</file>