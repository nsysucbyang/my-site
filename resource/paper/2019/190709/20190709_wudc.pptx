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4" r:id="rId9"/>
    <p:sldId id="267" r:id="rId10"/>
    <p:sldId id="279" r:id="rId11"/>
    <p:sldId id="262" r:id="rId12"/>
    <p:sldId id="268" r:id="rId13"/>
    <p:sldId id="280" r:id="rId14"/>
    <p:sldId id="26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88" d="100"/>
          <a:sy n="88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5998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Bit-Parallel Algorithms for the Merged Longest Common Subsequence Problem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003983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Sebastian Deorowicz and 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gnieszka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Danek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2719915" y="3873343"/>
            <a:ext cx="6752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Foundations of Computer Science</a:t>
            </a:r>
          </a:p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24, No. 8 (2013) 1281–1298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116045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9029501" y="5480859"/>
            <a:ext cx="2363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Jul. 9, 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often a necessity to compare some sequences to find out how similar they are. There are many similarity measures that can be used, e.g., longest common subsequence, edit distance, sequence alignment. Recently a merged longest common subsequence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 was formulated with applications in bioinformatics. We propose the bit-parallel algorithms for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and evaluate them in practice showing that they are usually tens times faster than the already published methods.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ABA, A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</a:t>
            </a:r>
          </a:p>
          <a:p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LCS(T,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B)) = LCS(ABA,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AA or BA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LCS(T,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B)) = LCS(ABA,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AA or BA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LCS(T,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B)) = LCS(ABA,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DDA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ABA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LCS(T, E(A,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(T,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|LCS(T, E(A, B))| = 3</a:t>
            </a: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|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lang="en-US" altLang="zh-TW" dirty="0"/>
              <a:t>|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altLang="zh-TW" dirty="0"/>
              <a:t>|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908D9815-DF21-4C99-85F3-B7052C6E5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8733"/>
            <a:ext cx="7620000" cy="24003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BAA5032F-5740-40FE-A948-CAA8CD0B1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51" y="3981407"/>
            <a:ext cx="96774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7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Bit-parallel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908D9815-DF21-4C99-85F3-B7052C6E5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1" y="2280755"/>
            <a:ext cx="4371363" cy="22964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24213BD2-36C3-408A-8E04-020679239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563" y="1357944"/>
            <a:ext cx="6144237" cy="3838575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xmlns="" id="{8270D40D-F35A-4F90-B825-ED27038264B8}"/>
              </a:ext>
            </a:extLst>
          </p:cNvPr>
          <p:cNvSpPr/>
          <p:nvPr/>
        </p:nvSpPr>
        <p:spPr>
          <a:xfrm>
            <a:off x="4592971" y="3277232"/>
            <a:ext cx="553674" cy="377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29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M(3, 3) = {1, 2, 3}, M(2, 3) = {1, 3}, M(3, 2) = {1, 2, 3}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34D50B58-4CDA-4086-A48F-CCD32F12A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60" y="1326247"/>
            <a:ext cx="9791700" cy="5143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18543A5F-529D-4958-BAC1-DA7E83531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10" y="1938637"/>
            <a:ext cx="9677400" cy="277177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D83F5A9A-55E7-4FBE-A288-DBD02F874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010" y="5250765"/>
            <a:ext cx="54102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6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M′(j, k) and M′′(j,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M′( j, k)</a:t>
            </a:r>
          </a:p>
          <a:p>
            <a:pPr marL="0" indent="0">
              <a:buNone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M′( j, k) if and  only if L′(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k) - L′(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j, k) = 1 for 1 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 r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M′′( j, k)</a:t>
            </a:r>
          </a:p>
          <a:p>
            <a:pPr marL="0" indent="0">
              <a:buNone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M′′( j, k)if and  only if L′′(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k) - L′′(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j, k) = 1 for 1 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 r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3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M′(j-1, k) and M′′(j, k-1)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57BB0E31-D9AC-49CD-8252-9721C567A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036" y="5001824"/>
            <a:ext cx="6869928" cy="103722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BE3A76DC-16D4-47F5-9B73-1A1C5D7A3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53" y="1034473"/>
            <a:ext cx="5610399" cy="25751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B13C06DE-208E-4940-B915-9F0437F50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52" y="3928188"/>
            <a:ext cx="5410200" cy="561975"/>
          </a:xfrm>
          <a:prstGeom prst="rect">
            <a:avLst/>
          </a:prstGeom>
        </p:spPr>
      </p:pic>
      <p:sp>
        <p:nvSpPr>
          <p:cNvPr id="9" name="十字形 8">
            <a:extLst>
              <a:ext uri="{FF2B5EF4-FFF2-40B4-BE49-F238E27FC236}">
                <a16:creationId xmlns:a16="http://schemas.microsoft.com/office/drawing/2014/main" xmlns="" id="{CE4DB2F3-B6CA-46BF-8E39-7D0D08A21211}"/>
              </a:ext>
            </a:extLst>
          </p:cNvPr>
          <p:cNvSpPr/>
          <p:nvPr/>
        </p:nvSpPr>
        <p:spPr>
          <a:xfrm>
            <a:off x="5620624" y="3654737"/>
            <a:ext cx="377504" cy="377504"/>
          </a:xfrm>
          <a:prstGeom prst="plus">
            <a:avLst>
              <a:gd name="adj" fmla="val 405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等於 9">
            <a:extLst>
              <a:ext uri="{FF2B5EF4-FFF2-40B4-BE49-F238E27FC236}">
                <a16:creationId xmlns:a16="http://schemas.microsoft.com/office/drawing/2014/main" xmlns="" id="{36CBFAA6-5D7B-4C6A-9AE2-18A7DE93C9E6}"/>
              </a:ext>
            </a:extLst>
          </p:cNvPr>
          <p:cNvSpPr/>
          <p:nvPr/>
        </p:nvSpPr>
        <p:spPr>
          <a:xfrm rot="5400000">
            <a:off x="5588061" y="4620766"/>
            <a:ext cx="461394" cy="396268"/>
          </a:xfrm>
          <a:prstGeom prst="mathEqual">
            <a:avLst>
              <a:gd name="adj1" fmla="val 15052"/>
              <a:gd name="adj2" fmla="val 159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1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M(3, 3) = {1, 2, 3}              M(2, 3) = {1, 3}              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W(3, 3) =                             W(2, 3)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7B994456-1819-48F8-89C7-56E1557F5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285548"/>
              </p:ext>
            </p:extLst>
          </p:nvPr>
        </p:nvGraphicFramePr>
        <p:xfrm>
          <a:off x="2692866" y="2280017"/>
          <a:ext cx="1761688" cy="2296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775">
                  <a:extLst>
                    <a:ext uri="{9D8B030D-6E8A-4147-A177-3AD203B41FA5}">
                      <a16:colId xmlns:a16="http://schemas.microsoft.com/office/drawing/2014/main" xmlns="" val="2994468849"/>
                    </a:ext>
                  </a:extLst>
                </a:gridCol>
                <a:gridCol w="879913">
                  <a:extLst>
                    <a:ext uri="{9D8B030D-6E8A-4147-A177-3AD203B41FA5}">
                      <a16:colId xmlns:a16="http://schemas.microsoft.com/office/drawing/2014/main" xmlns="" val="326152063"/>
                    </a:ext>
                  </a:extLst>
                </a:gridCol>
              </a:tblGrid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3814258828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810232656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1624897125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1805855850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221123470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F2AB3EF1-363F-462D-87F1-D63460941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570978"/>
              </p:ext>
            </p:extLst>
          </p:nvPr>
        </p:nvGraphicFramePr>
        <p:xfrm>
          <a:off x="6586756" y="2280017"/>
          <a:ext cx="1761688" cy="2296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775">
                  <a:extLst>
                    <a:ext uri="{9D8B030D-6E8A-4147-A177-3AD203B41FA5}">
                      <a16:colId xmlns:a16="http://schemas.microsoft.com/office/drawing/2014/main" xmlns="" val="2994468849"/>
                    </a:ext>
                  </a:extLst>
                </a:gridCol>
                <a:gridCol w="879913">
                  <a:extLst>
                    <a:ext uri="{9D8B030D-6E8A-4147-A177-3AD203B41FA5}">
                      <a16:colId xmlns:a16="http://schemas.microsoft.com/office/drawing/2014/main" xmlns="" val="326152063"/>
                    </a:ext>
                  </a:extLst>
                </a:gridCol>
              </a:tblGrid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3814258828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810232656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1624897125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1805855850"/>
                  </a:ext>
                </a:extLst>
              </a:tr>
              <a:tr h="379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585" marR="93585" marT="46793" marB="46793"/>
                </a:tc>
                <a:extLst>
                  <a:ext uri="{0D108BD9-81ED-4DB2-BD59-A6C34878D82A}">
                    <a16:rowId xmlns:a16="http://schemas.microsoft.com/office/drawing/2014/main" xmlns="" val="221123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78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xmlns="" id="{80C76B5D-814B-45F9-B419-7F17C6A29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14" y="1034473"/>
            <a:ext cx="6883771" cy="5703773"/>
          </a:xfrm>
        </p:spPr>
      </p:pic>
      <p:sp>
        <p:nvSpPr>
          <p:cNvPr id="3" name="框架 2">
            <a:extLst>
              <a:ext uri="{FF2B5EF4-FFF2-40B4-BE49-F238E27FC236}">
                <a16:creationId xmlns:a16="http://schemas.microsoft.com/office/drawing/2014/main" xmlns="" id="{7798B9B8-027E-4874-B404-D8B28BEE57F8}"/>
              </a:ext>
            </a:extLst>
          </p:cNvPr>
          <p:cNvSpPr/>
          <p:nvPr/>
        </p:nvSpPr>
        <p:spPr>
          <a:xfrm>
            <a:off x="2701255" y="3632433"/>
            <a:ext cx="6727971" cy="788565"/>
          </a:xfrm>
          <a:prstGeom prst="frame">
            <a:avLst>
              <a:gd name="adj1" fmla="val 292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65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M′(j-1, k) and M′′(j, k-1)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T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M(2,1) = {2}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M′(2, 1) = M(2, 1) = {2}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M′(2, 1) = (2, 3)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M′(2, 1) = (1, 2, 3)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15957093-49DF-4C63-9A2D-901D9F0EC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20" y="1132513"/>
            <a:ext cx="9927759" cy="1952486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56EF333-80C0-41F6-9E49-A769CC05B2B0}"/>
              </a:ext>
            </a:extLst>
          </p:cNvPr>
          <p:cNvCxnSpPr>
            <a:cxnSpLocks/>
          </p:cNvCxnSpPr>
          <p:nvPr/>
        </p:nvCxnSpPr>
        <p:spPr>
          <a:xfrm>
            <a:off x="5670958" y="5192786"/>
            <a:ext cx="243281" cy="461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44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W′(j, k)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W′′(j,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M(2, 1) = {2}, W(2, 1) =                       , Y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1010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W′(2, 1) = W(2, 1) &amp; Y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W′(2, 1) = (W(2, 1) + W′(2, 1)) | (W(2, 1) - W′(2, 1))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0101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5E7E58C-B144-4F60-A9AF-1953B1CFA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9350"/>
            <a:ext cx="9840985" cy="978145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4AF2408-59E3-4E65-B3CA-4E3DC755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82628"/>
              </p:ext>
            </p:extLst>
          </p:nvPr>
        </p:nvGraphicFramePr>
        <p:xfrm>
          <a:off x="5080932" y="2881272"/>
          <a:ext cx="1772872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218">
                  <a:extLst>
                    <a:ext uri="{9D8B030D-6E8A-4147-A177-3AD203B41FA5}">
                      <a16:colId xmlns:a16="http://schemas.microsoft.com/office/drawing/2014/main" xmlns="" val="912157970"/>
                    </a:ext>
                  </a:extLst>
                </a:gridCol>
                <a:gridCol w="443218">
                  <a:extLst>
                    <a:ext uri="{9D8B030D-6E8A-4147-A177-3AD203B41FA5}">
                      <a16:colId xmlns:a16="http://schemas.microsoft.com/office/drawing/2014/main" xmlns="" val="1326486347"/>
                    </a:ext>
                  </a:extLst>
                </a:gridCol>
                <a:gridCol w="443218">
                  <a:extLst>
                    <a:ext uri="{9D8B030D-6E8A-4147-A177-3AD203B41FA5}">
                      <a16:colId xmlns:a16="http://schemas.microsoft.com/office/drawing/2014/main" xmlns="" val="3174323382"/>
                    </a:ext>
                  </a:extLst>
                </a:gridCol>
                <a:gridCol w="443218">
                  <a:extLst>
                    <a:ext uri="{9D8B030D-6E8A-4147-A177-3AD203B41FA5}">
                      <a16:colId xmlns:a16="http://schemas.microsoft.com/office/drawing/2014/main" xmlns="" val="3017674232"/>
                    </a:ext>
                  </a:extLst>
                </a:gridCol>
              </a:tblGrid>
              <a:tr h="32105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91164393"/>
                  </a:ext>
                </a:extLst>
              </a:tr>
              <a:tr h="32105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58983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3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xmlns="" id="{80C76B5D-814B-45F9-B419-7F17C6A29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14" y="1034473"/>
            <a:ext cx="6883771" cy="5703773"/>
          </a:xfrm>
        </p:spPr>
      </p:pic>
      <p:sp>
        <p:nvSpPr>
          <p:cNvPr id="3" name="框架 2">
            <a:extLst>
              <a:ext uri="{FF2B5EF4-FFF2-40B4-BE49-F238E27FC236}">
                <a16:creationId xmlns:a16="http://schemas.microsoft.com/office/drawing/2014/main" xmlns="" id="{7798B9B8-027E-4874-B404-D8B28BEE57F8}"/>
              </a:ext>
            </a:extLst>
          </p:cNvPr>
          <p:cNvSpPr/>
          <p:nvPr/>
        </p:nvSpPr>
        <p:spPr>
          <a:xfrm>
            <a:off x="2654114" y="4353886"/>
            <a:ext cx="6727971" cy="1216404"/>
          </a:xfrm>
          <a:prstGeom prst="frame">
            <a:avLst>
              <a:gd name="adj1" fmla="val 292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55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M(3, 3)      M′(2, 3) = {1, 3}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M′′(3, 2) = {1, 2, 3}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M(3, 3) = {1, 2, 3}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3BC4FFEE-4D7E-440F-9DF4-DE2F478F1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02" y="1227240"/>
            <a:ext cx="9234796" cy="2027688"/>
          </a:xfrm>
          <a:prstGeom prst="rect">
            <a:avLst/>
          </a:prstGeom>
        </p:spPr>
      </p:pic>
      <p:sp>
        <p:nvSpPr>
          <p:cNvPr id="14" name="圓形: 空心 13">
            <a:extLst>
              <a:ext uri="{FF2B5EF4-FFF2-40B4-BE49-F238E27FC236}">
                <a16:creationId xmlns:a16="http://schemas.microsoft.com/office/drawing/2014/main" xmlns="" id="{62ED5A79-16D3-45C4-9C0D-F5077276EBDF}"/>
              </a:ext>
            </a:extLst>
          </p:cNvPr>
          <p:cNvSpPr/>
          <p:nvPr/>
        </p:nvSpPr>
        <p:spPr>
          <a:xfrm>
            <a:off x="4714613" y="3699545"/>
            <a:ext cx="310393" cy="1090569"/>
          </a:xfrm>
          <a:prstGeom prst="donut">
            <a:avLst>
              <a:gd name="adj" fmla="val 41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圓形: 空心 14">
            <a:extLst>
              <a:ext uri="{FF2B5EF4-FFF2-40B4-BE49-F238E27FC236}">
                <a16:creationId xmlns:a16="http://schemas.microsoft.com/office/drawing/2014/main" xmlns="" id="{7C01F402-455F-47B7-8B08-6F128B6D17DE}"/>
              </a:ext>
            </a:extLst>
          </p:cNvPr>
          <p:cNvSpPr/>
          <p:nvPr/>
        </p:nvSpPr>
        <p:spPr>
          <a:xfrm>
            <a:off x="5051572" y="3699545"/>
            <a:ext cx="310393" cy="1090569"/>
          </a:xfrm>
          <a:prstGeom prst="donut">
            <a:avLst>
              <a:gd name="adj" fmla="val 41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xmlns="" id="{B97FA371-0320-48D6-B613-B7128F27479A}"/>
              </a:ext>
            </a:extLst>
          </p:cNvPr>
          <p:cNvSpPr/>
          <p:nvPr/>
        </p:nvSpPr>
        <p:spPr>
          <a:xfrm>
            <a:off x="4869809" y="4890782"/>
            <a:ext cx="62918" cy="343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xmlns="" id="{80B30D28-592C-481E-B093-354B61817C70}"/>
              </a:ext>
            </a:extLst>
          </p:cNvPr>
          <p:cNvSpPr/>
          <p:nvPr/>
        </p:nvSpPr>
        <p:spPr>
          <a:xfrm>
            <a:off x="5176009" y="4871207"/>
            <a:ext cx="62918" cy="343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73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W(j, k)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2095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M(8, 8)   M′(7, 8) = {1, 3, 4, 5, 6}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M′′(8, 7) = {1, 2, 3, 5, 8}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M(8, 8) = {1, 2, 3, 5, 6}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 (7, 8) = {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M′′(8, 7) = {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8}                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 (7, 8) = {4, 6}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M′′(8, 7) = {2, 8}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xmlns="" id="{9A735040-8ACD-4AA1-86C3-C6BDE8ECA58F}"/>
              </a:ext>
            </a:extLst>
          </p:cNvPr>
          <p:cNvSpPr/>
          <p:nvPr/>
        </p:nvSpPr>
        <p:spPr>
          <a:xfrm>
            <a:off x="4874004" y="4060272"/>
            <a:ext cx="1132513" cy="2265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xmlns="" id="{5309503E-FED4-41B9-9816-5723A59E3361}"/>
                  </a:ext>
                </a:extLst>
              </p:cNvPr>
              <p:cNvSpPr txBox="1"/>
              <p:nvPr/>
            </p:nvSpPr>
            <p:spPr>
              <a:xfrm>
                <a:off x="6266576" y="3911913"/>
                <a:ext cx="29109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M(8, 8)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309503E-FED4-41B9-9816-5723A59E3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576" y="3911913"/>
                <a:ext cx="2910980" cy="523220"/>
              </a:xfrm>
              <a:prstGeom prst="rect">
                <a:avLst/>
              </a:prstGeom>
              <a:blipFill>
                <a:blip r:embed="rId2"/>
                <a:stretch>
                  <a:fillRect l="-4393" t="-12791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號: 向右 7">
            <a:extLst>
              <a:ext uri="{FF2B5EF4-FFF2-40B4-BE49-F238E27FC236}">
                <a16:creationId xmlns:a16="http://schemas.microsoft.com/office/drawing/2014/main" xmlns="" id="{08AB0E08-1A76-48DC-93C4-F2145D04D0DC}"/>
              </a:ext>
            </a:extLst>
          </p:cNvPr>
          <p:cNvSpPr/>
          <p:nvPr/>
        </p:nvSpPr>
        <p:spPr>
          <a:xfrm>
            <a:off x="3561127" y="5612236"/>
            <a:ext cx="1132513" cy="2265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32180D7B-3C3F-44F3-84EE-50B7ED7F755D}"/>
              </a:ext>
            </a:extLst>
          </p:cNvPr>
          <p:cNvCxnSpPr/>
          <p:nvPr/>
        </p:nvCxnSpPr>
        <p:spPr>
          <a:xfrm>
            <a:off x="2718033" y="5209563"/>
            <a:ext cx="192947" cy="4026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xmlns="" id="{E6085078-A9E6-4143-95B9-373B9491464E}"/>
              </a:ext>
            </a:extLst>
          </p:cNvPr>
          <p:cNvCxnSpPr/>
          <p:nvPr/>
        </p:nvCxnSpPr>
        <p:spPr>
          <a:xfrm>
            <a:off x="3083653" y="5784210"/>
            <a:ext cx="192947" cy="4026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5C433179-D2A8-4D7A-B8B8-AED5260CAF90}"/>
                  </a:ext>
                </a:extLst>
              </p:cNvPr>
              <p:cNvSpPr txBox="1"/>
              <p:nvPr/>
            </p:nvSpPr>
            <p:spPr>
              <a:xfrm>
                <a:off x="4874004" y="5410899"/>
                <a:ext cx="32884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</a:t>
                </a:r>
                <a:r>
                  <a:rPr lang="en-US" altLang="zh-TW" sz="28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3, 5, </a:t>
                </a:r>
                <a:r>
                  <a:rPr lang="en-US" altLang="zh-TW" sz="28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M(8, 8)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C433179-D2A8-4D7A-B8B8-AED5260C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04" y="5410899"/>
                <a:ext cx="3288484" cy="523220"/>
              </a:xfrm>
              <a:prstGeom prst="rect">
                <a:avLst/>
              </a:prstGeom>
              <a:blipFill>
                <a:blip r:embed="rId3"/>
                <a:stretch>
                  <a:fillRect l="-3896" t="-12941" r="-2968" b="-3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19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W(j, k) in a 32-bit computer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0950" y="1132513"/>
            <a:ext cx="756285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 (7, 8) = {4, 6}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M′′(8, 7) = {2, 8}</a:t>
            </a:r>
          </a:p>
          <a:p>
            <a:pPr marL="0" indent="0">
              <a:buNone/>
            </a:pPr>
            <a:endParaRPr lang="en-US" altLang="zh-TW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</a:t>
            </a:r>
          </a:p>
          <a:p>
            <a:pPr marL="0" indent="0">
              <a:buNone/>
            </a:pP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x ^ (x &lt;&lt; 1) = 111111100</a:t>
            </a:r>
          </a:p>
          <a:p>
            <a:pPr marL="0" indent="0">
              <a:buNone/>
            </a:pP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s-E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s-E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(y </a:t>
            </a: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2) = 000001100</a:t>
            </a:r>
          </a:p>
          <a:p>
            <a:pPr marL="0" indent="0">
              <a:buNone/>
            </a:pP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s-E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s-E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(y </a:t>
            </a: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4) = 011001100</a:t>
            </a:r>
          </a:p>
          <a:p>
            <a:pPr marL="0" indent="0">
              <a:buNone/>
            </a:pPr>
            <a:endParaRPr lang="es-E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&amp; x =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6C28BB54-60CB-4579-9C37-370BE9DC0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32513"/>
            <a:ext cx="2952750" cy="272415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C0ABFF5F-EC9C-4DB4-BD54-4E45F92C7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02256"/>
              </p:ext>
            </p:extLst>
          </p:nvPr>
        </p:nvGraphicFramePr>
        <p:xfrm>
          <a:off x="4427883" y="2238073"/>
          <a:ext cx="5811444" cy="679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716">
                  <a:extLst>
                    <a:ext uri="{9D8B030D-6E8A-4147-A177-3AD203B41FA5}">
                      <a16:colId xmlns:a16="http://schemas.microsoft.com/office/drawing/2014/main" xmlns="" val="1064926168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4028725262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3650304677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3763290495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3864770598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2217515282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2740069860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3687020544"/>
                    </a:ext>
                  </a:extLst>
                </a:gridCol>
                <a:gridCol w="645716">
                  <a:extLst>
                    <a:ext uri="{9D8B030D-6E8A-4147-A177-3AD203B41FA5}">
                      <a16:colId xmlns:a16="http://schemas.microsoft.com/office/drawing/2014/main" xmlns="" val="438748612"/>
                    </a:ext>
                  </a:extLst>
                </a:gridCol>
              </a:tblGrid>
              <a:tr h="2651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extLst>
                  <a:ext uri="{0D108BD9-81ED-4DB2-BD59-A6C34878D82A}">
                    <a16:rowId xmlns:a16="http://schemas.microsoft.com/office/drawing/2014/main" xmlns="" val="2897827817"/>
                  </a:ext>
                </a:extLst>
              </a:tr>
              <a:tr h="1915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65379" marR="65379" marT="32689" marB="32689"/>
                </a:tc>
                <a:extLst>
                  <a:ext uri="{0D108BD9-81ED-4DB2-BD59-A6C34878D82A}">
                    <a16:rowId xmlns:a16="http://schemas.microsoft.com/office/drawing/2014/main" xmlns="" val="1331542775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59C11889-8638-4A16-963A-A58C8573F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404" y="4823410"/>
            <a:ext cx="5846571" cy="8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5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5560"/>
            <a:ext cx="10515600" cy="61573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M′(7, 8) = {1, 3, 4, 5, 6},  W′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M′′(8, 7) = {1, 2, 3, 5, 8},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W′′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M(8, 8) = {1, 2, 3, 5, 6},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= 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′′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11101010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 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^W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′′ 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10101010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(2, 4, 6, 8)</a:t>
            </a: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W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10101010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V^(V&lt;&lt;1)=11111110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V^(V&lt;&lt;2)=00000110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V^(V&lt;&lt;4)=01100110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W(8, 8) = ~(W &amp; V) &amp; U = 1100100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88B11689-7A7B-4CDC-8E3A-069670613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36272"/>
              </p:ext>
            </p:extLst>
          </p:nvPr>
        </p:nvGraphicFramePr>
        <p:xfrm>
          <a:off x="5429542" y="467996"/>
          <a:ext cx="4872141" cy="1495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349">
                  <a:extLst>
                    <a:ext uri="{9D8B030D-6E8A-4147-A177-3AD203B41FA5}">
                      <a16:colId xmlns:a16="http://schemas.microsoft.com/office/drawing/2014/main" xmlns="" val="647149994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443763833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559838318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566744378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1175903724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108632574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752034540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4146671220"/>
                    </a:ext>
                  </a:extLst>
                </a:gridCol>
                <a:gridCol w="541349">
                  <a:extLst>
                    <a:ext uri="{9D8B030D-6E8A-4147-A177-3AD203B41FA5}">
                      <a16:colId xmlns:a16="http://schemas.microsoft.com/office/drawing/2014/main" xmlns="" val="2027759958"/>
                    </a:ext>
                  </a:extLst>
                </a:gridCol>
              </a:tblGrid>
              <a:tr h="373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90718045"/>
                  </a:ext>
                </a:extLst>
              </a:tr>
              <a:tr h="373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771615"/>
                  </a:ext>
                </a:extLst>
              </a:tr>
              <a:tr h="373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76454561"/>
                  </a:ext>
                </a:extLst>
              </a:tr>
              <a:tr h="373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5132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8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xmlns="" id="{80C76B5D-814B-45F9-B419-7F17C6A29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30" y="119754"/>
            <a:ext cx="5331807" cy="6618492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38FD71D8-2988-4761-B28E-2CE3A3131544}"/>
              </a:ext>
            </a:extLst>
          </p:cNvPr>
          <p:cNvSpPr txBox="1"/>
          <p:nvPr/>
        </p:nvSpPr>
        <p:spPr>
          <a:xfrm>
            <a:off x="8581937" y="4369217"/>
            <a:ext cx="29445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⌈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w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⌉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itchFamily="18" charset="0"/>
              </a:rPr>
              <a:t>mn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itchFamily="18" charset="0"/>
              </a:rPr>
              <a:t>w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 w </a:t>
            </a:r>
            <a:r>
              <a:rPr lang="en-US" altLang="zh-TW" sz="2400" dirty="0">
                <a:latin typeface="Times New Roman" panose="02020603050405020304" pitchFamily="18" charset="0"/>
                <a:cs typeface="Times New Roman" pitchFamily="18" charset="0"/>
              </a:rPr>
              <a:t>: word size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837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F00013BE-7EDC-4F98-9B83-F324A3CB0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49" y="942193"/>
            <a:ext cx="8381301" cy="5727223"/>
          </a:xfrm>
        </p:spPr>
      </p:pic>
    </p:spTree>
    <p:extLst>
      <p:ext uri="{BB962C8B-B14F-4D97-AF65-F5344CB8AC3E}">
        <p14:creationId xmlns:p14="http://schemas.microsoft.com/office/powerpoint/2010/main" val="33682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C61C0E3C-36D6-4D98-99F6-CDB6F537F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34473"/>
            <a:ext cx="6837727" cy="5458827"/>
          </a:xfrm>
        </p:spPr>
      </p:pic>
    </p:spTree>
    <p:extLst>
      <p:ext uri="{BB962C8B-B14F-4D97-AF65-F5344CB8AC3E}">
        <p14:creationId xmlns:p14="http://schemas.microsoft.com/office/powerpoint/2010/main" val="356167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9B817237-52FD-4E6B-84AD-593770613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43" y="1034473"/>
            <a:ext cx="6653913" cy="2634079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291B0E51-8115-4166-8A6F-E00A54AF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49" y="3601149"/>
            <a:ext cx="79629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xmlns="" id="{F86BA0DF-4407-4467-A4F0-4ECE9FF54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740" y="1034473"/>
            <a:ext cx="7282520" cy="5338787"/>
          </a:xfrm>
        </p:spPr>
      </p:pic>
    </p:spTree>
    <p:extLst>
      <p:ext uri="{BB962C8B-B14F-4D97-AF65-F5344CB8AC3E}">
        <p14:creationId xmlns:p14="http://schemas.microsoft.com/office/powerpoint/2010/main" val="93664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0B7F85B5-18D4-4663-99B2-022FCB345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632" y="1034473"/>
            <a:ext cx="7588735" cy="5388090"/>
          </a:xfrm>
        </p:spPr>
      </p:pic>
    </p:spTree>
    <p:extLst>
      <p:ext uri="{BB962C8B-B14F-4D97-AF65-F5344CB8AC3E}">
        <p14:creationId xmlns:p14="http://schemas.microsoft.com/office/powerpoint/2010/main" val="26944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FAADEFED-C64E-4803-B4D5-414B3450F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41" y="946753"/>
            <a:ext cx="7638317" cy="5546122"/>
          </a:xfrm>
        </p:spPr>
      </p:pic>
    </p:spTree>
    <p:extLst>
      <p:ext uri="{BB962C8B-B14F-4D97-AF65-F5344CB8AC3E}">
        <p14:creationId xmlns:p14="http://schemas.microsoft.com/office/powerpoint/2010/main" val="175831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3736</TotalTime>
  <Words>1153</Words>
  <Application>Microsoft Office PowerPoint</Application>
  <PresentationFormat>寬螢幕</PresentationFormat>
  <Paragraphs>229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Bit-Parallel Algorithms for the Merged Longest Common Subsequence Problem</vt:lpstr>
      <vt:lpstr>Abstract</vt:lpstr>
      <vt:lpstr>MergedLCS</vt:lpstr>
      <vt:lpstr>MergedLCS</vt:lpstr>
      <vt:lpstr>Bit-parallel Algorithm</vt:lpstr>
      <vt:lpstr>M(j, k)</vt:lpstr>
      <vt:lpstr>M′(j, k) and M′′(j, k)</vt:lpstr>
      <vt:lpstr>M′(j-1, k) and M′′(j, k-1)</vt:lpstr>
      <vt:lpstr>W(j, k)</vt:lpstr>
      <vt:lpstr>Algorithm</vt:lpstr>
      <vt:lpstr>M′(j-1, k) and M′′(j, k-1)</vt:lpstr>
      <vt:lpstr>W′(j, k) and W′′(j, k)</vt:lpstr>
      <vt:lpstr>Algorithm</vt:lpstr>
      <vt:lpstr>M(j, k)</vt:lpstr>
      <vt:lpstr>W(j, k)</vt:lpstr>
      <vt:lpstr>W(j, k) in a 32-bit computer</vt:lpstr>
      <vt:lpstr>PowerPoint 簡報</vt:lpstr>
      <vt:lpstr>Algorithm</vt:lpstr>
      <vt:lpstr>Algorithm</vt:lpstr>
      <vt:lpstr>Algorithm</vt:lpstr>
      <vt:lpstr>Experimental Result</vt:lpstr>
      <vt:lpstr>Experimental Result</vt:lpstr>
      <vt:lpstr>Experimental Result</vt:lpstr>
      <vt:lpstr>Experimental Result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225</cp:revision>
  <dcterms:created xsi:type="dcterms:W3CDTF">2018-09-30T05:00:05Z</dcterms:created>
  <dcterms:modified xsi:type="dcterms:W3CDTF">2019-07-09T12:33:20Z</dcterms:modified>
</cp:coreProperties>
</file>