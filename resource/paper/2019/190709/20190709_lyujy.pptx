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73" r:id="rId3"/>
    <p:sldId id="257" r:id="rId4"/>
    <p:sldId id="283" r:id="rId5"/>
    <p:sldId id="312" r:id="rId6"/>
    <p:sldId id="317" r:id="rId7"/>
    <p:sldId id="313" r:id="rId8"/>
    <p:sldId id="320" r:id="rId9"/>
    <p:sldId id="316" r:id="rId10"/>
    <p:sldId id="318" r:id="rId11"/>
    <p:sldId id="319" r:id="rId12"/>
    <p:sldId id="309"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1"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89" d="100"/>
          <a:sy n="89" d="100"/>
        </p:scale>
        <p:origin x="1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2019/7/9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4000792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2239110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2315618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3636614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1398750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E469C4C-F457-4167-B363-FB6DD59DC296}"/>
              </a:ext>
            </a:extLst>
          </p:cNvPr>
          <p:cNvSpPr>
            <a:spLocks noGrp="1"/>
          </p:cNvSpPr>
          <p:nvPr>
            <p:ph type="dt" sz="half" idx="10"/>
          </p:nvPr>
        </p:nvSpPr>
        <p:spPr/>
        <p:txBody>
          <a:bodyPr/>
          <a:lstStyle/>
          <a:p>
            <a:fld id="{289B6366-6E92-4855-9B33-10136FFB9F55}" type="datetimeFigureOut">
              <a:rPr lang="zh-TW" altLang="en-US" smtClean="0"/>
              <a:t>2019/7/9</a:t>
            </a:fld>
            <a:endParaRPr lang="zh-TW" altLang="en-US"/>
          </a:p>
        </p:txBody>
      </p:sp>
      <p:sp>
        <p:nvSpPr>
          <p:cNvPr id="5" name="頁尾版面配置區 4">
            <a:extLst>
              <a:ext uri="{FF2B5EF4-FFF2-40B4-BE49-F238E27FC236}">
                <a16:creationId xmlns:a16="http://schemas.microsoft.com/office/drawing/2014/main"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88E6861-BAD9-4B1E-B7CC-ED4F8B71DB22}"/>
              </a:ext>
            </a:extLst>
          </p:cNvPr>
          <p:cNvSpPr>
            <a:spLocks noGrp="1"/>
          </p:cNvSpPr>
          <p:nvPr>
            <p:ph type="dt" sz="half" idx="10"/>
          </p:nvPr>
        </p:nvSpPr>
        <p:spPr/>
        <p:txBody>
          <a:bodyPr/>
          <a:lstStyle/>
          <a:p>
            <a:fld id="{289B6366-6E92-4855-9B33-10136FFB9F55}" type="datetimeFigureOut">
              <a:rPr lang="zh-TW" altLang="en-US" smtClean="0"/>
              <a:t>2019/7/9</a:t>
            </a:fld>
            <a:endParaRPr lang="zh-TW" altLang="en-US"/>
          </a:p>
        </p:txBody>
      </p:sp>
      <p:sp>
        <p:nvSpPr>
          <p:cNvPr id="5" name="頁尾版面配置區 4">
            <a:extLst>
              <a:ext uri="{FF2B5EF4-FFF2-40B4-BE49-F238E27FC236}">
                <a16:creationId xmlns:a16="http://schemas.microsoft.com/office/drawing/2014/main"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DBCE3ACB-7971-48F1-9875-489AE8943338}"/>
              </a:ext>
            </a:extLst>
          </p:cNvPr>
          <p:cNvSpPr>
            <a:spLocks noGrp="1"/>
          </p:cNvSpPr>
          <p:nvPr>
            <p:ph type="dt" sz="half" idx="10"/>
          </p:nvPr>
        </p:nvSpPr>
        <p:spPr/>
        <p:txBody>
          <a:bodyPr/>
          <a:lstStyle/>
          <a:p>
            <a:fld id="{289B6366-6E92-4855-9B33-10136FFB9F55}" type="datetimeFigureOut">
              <a:rPr lang="zh-TW" altLang="en-US" smtClean="0"/>
              <a:t>2019/7/9</a:t>
            </a:fld>
            <a:endParaRPr lang="zh-TW" altLang="en-US"/>
          </a:p>
        </p:txBody>
      </p:sp>
      <p:sp>
        <p:nvSpPr>
          <p:cNvPr id="5" name="頁尾版面配置區 4">
            <a:extLst>
              <a:ext uri="{FF2B5EF4-FFF2-40B4-BE49-F238E27FC236}">
                <a16:creationId xmlns:a16="http://schemas.microsoft.com/office/drawing/2014/main"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2DDA930-81B0-4724-B815-F2EBD1DC4556}"/>
              </a:ext>
            </a:extLst>
          </p:cNvPr>
          <p:cNvSpPr>
            <a:spLocks noGrp="1"/>
          </p:cNvSpPr>
          <p:nvPr>
            <p:ph type="dt" sz="half" idx="10"/>
          </p:nvPr>
        </p:nvSpPr>
        <p:spPr/>
        <p:txBody>
          <a:bodyPr/>
          <a:lstStyle/>
          <a:p>
            <a:fld id="{289B6366-6E92-4855-9B33-10136FFB9F55}" type="datetimeFigureOut">
              <a:rPr lang="zh-TW" altLang="en-US" smtClean="0"/>
              <a:t>2019/7/9</a:t>
            </a:fld>
            <a:endParaRPr lang="zh-TW" altLang="en-US"/>
          </a:p>
        </p:txBody>
      </p:sp>
      <p:sp>
        <p:nvSpPr>
          <p:cNvPr id="6" name="頁尾版面配置區 5">
            <a:extLst>
              <a:ext uri="{FF2B5EF4-FFF2-40B4-BE49-F238E27FC236}">
                <a16:creationId xmlns:a16="http://schemas.microsoft.com/office/drawing/2014/main"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161ED9B-DFA5-480A-AD88-6DFF046FCB53}"/>
              </a:ext>
            </a:extLst>
          </p:cNvPr>
          <p:cNvSpPr>
            <a:spLocks noGrp="1"/>
          </p:cNvSpPr>
          <p:nvPr>
            <p:ph type="dt" sz="half" idx="10"/>
          </p:nvPr>
        </p:nvSpPr>
        <p:spPr/>
        <p:txBody>
          <a:bodyPr/>
          <a:lstStyle/>
          <a:p>
            <a:fld id="{289B6366-6E92-4855-9B33-10136FFB9F55}" type="datetimeFigureOut">
              <a:rPr lang="zh-TW" altLang="en-US" smtClean="0"/>
              <a:t>2019/7/9</a:t>
            </a:fld>
            <a:endParaRPr lang="zh-TW" altLang="en-US"/>
          </a:p>
        </p:txBody>
      </p:sp>
      <p:sp>
        <p:nvSpPr>
          <p:cNvPr id="8" name="頁尾版面配置區 7">
            <a:extLst>
              <a:ext uri="{FF2B5EF4-FFF2-40B4-BE49-F238E27FC236}">
                <a16:creationId xmlns:a16="http://schemas.microsoft.com/office/drawing/2014/main"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2DA7D75-DCEA-4D5F-817A-1F76017002B1}"/>
              </a:ext>
            </a:extLst>
          </p:cNvPr>
          <p:cNvSpPr>
            <a:spLocks noGrp="1"/>
          </p:cNvSpPr>
          <p:nvPr>
            <p:ph type="dt" sz="half" idx="10"/>
          </p:nvPr>
        </p:nvSpPr>
        <p:spPr/>
        <p:txBody>
          <a:bodyPr/>
          <a:lstStyle/>
          <a:p>
            <a:fld id="{289B6366-6E92-4855-9B33-10136FFB9F55}" type="datetimeFigureOut">
              <a:rPr lang="zh-TW" altLang="en-US" smtClean="0"/>
              <a:t>2019/7/9</a:t>
            </a:fld>
            <a:endParaRPr lang="zh-TW" altLang="en-US"/>
          </a:p>
        </p:txBody>
      </p:sp>
      <p:sp>
        <p:nvSpPr>
          <p:cNvPr id="4" name="頁尾版面配置區 3">
            <a:extLst>
              <a:ext uri="{FF2B5EF4-FFF2-40B4-BE49-F238E27FC236}">
                <a16:creationId xmlns:a16="http://schemas.microsoft.com/office/drawing/2014/main"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AA5AFE-F983-4BD0-A86F-D18589BB081B}"/>
              </a:ext>
            </a:extLst>
          </p:cNvPr>
          <p:cNvSpPr>
            <a:spLocks noGrp="1"/>
          </p:cNvSpPr>
          <p:nvPr>
            <p:ph type="dt" sz="half" idx="10"/>
          </p:nvPr>
        </p:nvSpPr>
        <p:spPr/>
        <p:txBody>
          <a:bodyPr/>
          <a:lstStyle/>
          <a:p>
            <a:fld id="{289B6366-6E92-4855-9B33-10136FFB9F55}" type="datetimeFigureOut">
              <a:rPr lang="zh-TW" altLang="en-US" smtClean="0"/>
              <a:t>2019/7/9</a:t>
            </a:fld>
            <a:endParaRPr lang="zh-TW" altLang="en-US"/>
          </a:p>
        </p:txBody>
      </p:sp>
      <p:sp>
        <p:nvSpPr>
          <p:cNvPr id="3" name="頁尾版面配置區 2">
            <a:extLst>
              <a:ext uri="{FF2B5EF4-FFF2-40B4-BE49-F238E27FC236}">
                <a16:creationId xmlns:a16="http://schemas.microsoft.com/office/drawing/2014/main"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189A80C-0898-442B-A9DB-6CE747D9C7F0}"/>
              </a:ext>
            </a:extLst>
          </p:cNvPr>
          <p:cNvSpPr>
            <a:spLocks noGrp="1"/>
          </p:cNvSpPr>
          <p:nvPr>
            <p:ph type="dt" sz="half" idx="10"/>
          </p:nvPr>
        </p:nvSpPr>
        <p:spPr/>
        <p:txBody>
          <a:bodyPr/>
          <a:lstStyle/>
          <a:p>
            <a:fld id="{289B6366-6E92-4855-9B33-10136FFB9F55}" type="datetimeFigureOut">
              <a:rPr lang="zh-TW" altLang="en-US" smtClean="0"/>
              <a:t>2019/7/9</a:t>
            </a:fld>
            <a:endParaRPr lang="zh-TW" altLang="en-US"/>
          </a:p>
        </p:txBody>
      </p:sp>
      <p:sp>
        <p:nvSpPr>
          <p:cNvPr id="6" name="頁尾版面配置區 5">
            <a:extLst>
              <a:ext uri="{FF2B5EF4-FFF2-40B4-BE49-F238E27FC236}">
                <a16:creationId xmlns:a16="http://schemas.microsoft.com/office/drawing/2014/main"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14D3864F-50D1-4DBD-A5B6-1645AA45EA59}"/>
              </a:ext>
            </a:extLst>
          </p:cNvPr>
          <p:cNvSpPr>
            <a:spLocks noGrp="1"/>
          </p:cNvSpPr>
          <p:nvPr>
            <p:ph type="dt" sz="half" idx="10"/>
          </p:nvPr>
        </p:nvSpPr>
        <p:spPr/>
        <p:txBody>
          <a:bodyPr/>
          <a:lstStyle/>
          <a:p>
            <a:fld id="{289B6366-6E92-4855-9B33-10136FFB9F55}" type="datetimeFigureOut">
              <a:rPr lang="zh-TW" altLang="en-US" smtClean="0"/>
              <a:t>2019/7/9</a:t>
            </a:fld>
            <a:endParaRPr lang="zh-TW" altLang="en-US"/>
          </a:p>
        </p:txBody>
      </p:sp>
      <p:sp>
        <p:nvSpPr>
          <p:cNvPr id="6" name="頁尾版面配置區 5">
            <a:extLst>
              <a:ext uri="{FF2B5EF4-FFF2-40B4-BE49-F238E27FC236}">
                <a16:creationId xmlns:a16="http://schemas.microsoft.com/office/drawing/2014/main"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A2253F-98FC-4AD8-AB1E-608801808E4B}"/>
              </a:ext>
            </a:extLst>
          </p:cNvPr>
          <p:cNvSpPr>
            <a:spLocks noGrp="1"/>
          </p:cNvSpPr>
          <p:nvPr>
            <p:ph type="dt" sz="half" idx="10"/>
          </p:nvPr>
        </p:nvSpPr>
        <p:spPr/>
        <p:txBody>
          <a:bodyPr/>
          <a:lstStyle/>
          <a:p>
            <a:fld id="{289B6366-6E92-4855-9B33-10136FFB9F55}" type="datetimeFigureOut">
              <a:rPr lang="zh-TW" altLang="en-US" smtClean="0"/>
              <a:t>2019/7/9</a:t>
            </a:fld>
            <a:endParaRPr lang="zh-TW" altLang="en-US"/>
          </a:p>
        </p:txBody>
      </p:sp>
      <p:sp>
        <p:nvSpPr>
          <p:cNvPr id="5" name="頁尾版面配置區 4">
            <a:extLst>
              <a:ext uri="{FF2B5EF4-FFF2-40B4-BE49-F238E27FC236}">
                <a16:creationId xmlns:a16="http://schemas.microsoft.com/office/drawing/2014/main"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1DB4D53-3EC7-453D-BD90-F21F29EA365F}"/>
              </a:ext>
            </a:extLst>
          </p:cNvPr>
          <p:cNvSpPr>
            <a:spLocks noGrp="1"/>
          </p:cNvSpPr>
          <p:nvPr>
            <p:ph type="dt" sz="half" idx="10"/>
          </p:nvPr>
        </p:nvSpPr>
        <p:spPr/>
        <p:txBody>
          <a:bodyPr/>
          <a:lstStyle/>
          <a:p>
            <a:fld id="{289B6366-6E92-4855-9B33-10136FFB9F55}" type="datetimeFigureOut">
              <a:rPr lang="zh-TW" altLang="en-US" smtClean="0"/>
              <a:t>2019/7/9</a:t>
            </a:fld>
            <a:endParaRPr lang="zh-TW" altLang="en-US"/>
          </a:p>
        </p:txBody>
      </p:sp>
      <p:sp>
        <p:nvSpPr>
          <p:cNvPr id="5" name="頁尾版面配置區 4">
            <a:extLst>
              <a:ext uri="{FF2B5EF4-FFF2-40B4-BE49-F238E27FC236}">
                <a16:creationId xmlns:a16="http://schemas.microsoft.com/office/drawing/2014/main"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2019/7/9</a:t>
            </a:fld>
            <a:endParaRPr lang="zh-TW" altLang="en-US"/>
          </a:p>
        </p:txBody>
      </p:sp>
      <p:sp>
        <p:nvSpPr>
          <p:cNvPr id="5" name="頁尾版面配置區 4">
            <a:extLst>
              <a:ext uri="{FF2B5EF4-FFF2-40B4-BE49-F238E27FC236}">
                <a16:creationId xmlns:a16="http://schemas.microsoft.com/office/drawing/2014/main"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ABD277-3DCF-4084-9E03-BF06B086F7E6}"/>
              </a:ext>
            </a:extLst>
          </p:cNvPr>
          <p:cNvSpPr>
            <a:spLocks noGrp="1"/>
          </p:cNvSpPr>
          <p:nvPr>
            <p:ph type="ctrTitle"/>
          </p:nvPr>
        </p:nvSpPr>
        <p:spPr>
          <a:xfrm>
            <a:off x="1054248" y="500281"/>
            <a:ext cx="10832952" cy="1683521"/>
          </a:xfrm>
        </p:spPr>
        <p:txBody>
          <a:bodyPr>
            <a:normAutofit fontScale="90000"/>
          </a:bodyPr>
          <a:lstStyle/>
          <a:p>
            <a:r>
              <a:rPr lang="en-US" altLang="zh-TW" sz="4000" b="1" dirty="0">
                <a:latin typeface="Times New Roman" panose="02020603050405020304" pitchFamily="18" charset="0"/>
                <a:cs typeface="Times New Roman" panose="02020603050405020304" pitchFamily="18" charset="0"/>
              </a:rPr>
              <a:t>A Systematic Prediction of Drug-Target Interactions Using Molecular Fingerprints and Protein Sequences</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FF96485-B26C-4B59-B13D-880AA0BD68EA}"/>
              </a:ext>
            </a:extLst>
          </p:cNvPr>
          <p:cNvSpPr>
            <a:spLocks noGrp="1"/>
          </p:cNvSpPr>
          <p:nvPr>
            <p:ph type="subTitle" idx="1"/>
          </p:nvPr>
        </p:nvSpPr>
        <p:spPr>
          <a:xfrm>
            <a:off x="1317324" y="2290880"/>
            <a:ext cx="10193358" cy="1590037"/>
          </a:xfrm>
        </p:spPr>
        <p:txBody>
          <a:bodyPr>
            <a:normAutofit/>
          </a:bodyPr>
          <a:lstStyle/>
          <a:p>
            <a:endParaRPr lang="en-US" altLang="zh-TW" dirty="0"/>
          </a:p>
          <a:p>
            <a:r>
              <a:rPr lang="en-US" altLang="zh-TW" sz="2800" dirty="0">
                <a:latin typeface="Times New Roman" panose="02020603050405020304" pitchFamily="18" charset="0"/>
                <a:cs typeface="Times New Roman" panose="02020603050405020304" pitchFamily="18" charset="0"/>
              </a:rPr>
              <a:t>Huang Yu-an(</a:t>
            </a:r>
            <a:r>
              <a:rPr lang="zh-TW" altLang="en-US" sz="2800" dirty="0">
                <a:latin typeface="Times New Roman" panose="02020603050405020304" pitchFamily="18" charset="0"/>
                <a:cs typeface="Times New Roman" panose="02020603050405020304" pitchFamily="18" charset="0"/>
              </a:rPr>
              <a:t>黃昱安</a:t>
            </a:r>
            <a:r>
              <a:rPr lang="en-US" altLang="zh-TW" sz="2800" dirty="0">
                <a:latin typeface="Times New Roman" panose="02020603050405020304" pitchFamily="18" charset="0"/>
                <a:cs typeface="Times New Roman" panose="02020603050405020304" pitchFamily="18" charset="0"/>
              </a:rPr>
              <a:t>), You Zhu-</a:t>
            </a:r>
            <a:r>
              <a:rPr lang="en-US" altLang="zh-TW" sz="2800" dirty="0" err="1">
                <a:latin typeface="Times New Roman" panose="02020603050405020304" pitchFamily="18" charset="0"/>
                <a:cs typeface="Times New Roman" panose="02020603050405020304" pitchFamily="18" charset="0"/>
              </a:rPr>
              <a:t>hong</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尤著宏</a:t>
            </a:r>
            <a:r>
              <a:rPr lang="en-US" altLang="zh-TW" sz="2800" dirty="0">
                <a:latin typeface="Times New Roman" panose="02020603050405020304" pitchFamily="18" charset="0"/>
                <a:cs typeface="Times New Roman" panose="02020603050405020304" pitchFamily="18" charset="0"/>
              </a:rPr>
              <a:t>), Chen Xing(</a:t>
            </a:r>
            <a:r>
              <a:rPr lang="zh-TW" altLang="en-US" sz="2800" dirty="0">
                <a:latin typeface="Times New Roman" panose="02020603050405020304" pitchFamily="18" charset="0"/>
                <a:cs typeface="Times New Roman" panose="02020603050405020304" pitchFamily="18" charset="0"/>
              </a:rPr>
              <a:t>陳星</a:t>
            </a:r>
            <a:r>
              <a:rPr lang="en-US" altLang="zh-TW" sz="2800" dirty="0">
                <a:latin typeface="Times New Roman" panose="02020603050405020304" pitchFamily="18" charset="0"/>
                <a:cs typeface="Times New Roman" panose="02020603050405020304" pitchFamily="18" charset="0"/>
              </a:rPr>
              <a:t>)</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64AE8193-1DE0-47D4-9DBB-4734B89CA666}"/>
              </a:ext>
            </a:extLst>
          </p:cNvPr>
          <p:cNvSpPr txBox="1">
            <a:spLocks/>
          </p:cNvSpPr>
          <p:nvPr/>
        </p:nvSpPr>
        <p:spPr>
          <a:xfrm>
            <a:off x="1398494" y="3987995"/>
            <a:ext cx="8552329" cy="110037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Current Protein and Peptide Science, Volume 19, Number 5, 2018, pp. 468-478</a:t>
            </a:r>
          </a:p>
        </p:txBody>
      </p:sp>
      <p:sp>
        <p:nvSpPr>
          <p:cNvPr id="5" name="副標題 2">
            <a:extLst>
              <a:ext uri="{FF2B5EF4-FFF2-40B4-BE49-F238E27FC236}">
                <a16:creationId xmlns:a16="http://schemas.microsoft.com/office/drawing/2014/main"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July 09, 2019</a:t>
            </a:r>
          </a:p>
        </p:txBody>
      </p:sp>
    </p:spTree>
    <p:extLst>
      <p:ext uri="{BB962C8B-B14F-4D97-AF65-F5344CB8AC3E}">
        <p14:creationId xmlns:p14="http://schemas.microsoft.com/office/powerpoint/2010/main" val="301494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80913" y="125768"/>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580913" y="613185"/>
            <a:ext cx="10875981" cy="6108289"/>
          </a:xfrm>
        </p:spPr>
        <p:txBody>
          <a:bodyPr>
            <a:noAutofit/>
          </a:bodyPr>
          <a:lstStyle/>
          <a:p>
            <a:pPr marL="0" indent="0" algn="just">
              <a:lnSpc>
                <a:spcPct val="150000"/>
              </a:lnSpc>
              <a:buNone/>
            </a:pPr>
            <a:r>
              <a:rPr lang="en-US" altLang="zh-TW" sz="2200" spc="-150" dirty="0">
                <a:cs typeface="Times New Roman" panose="02020603050405020304" pitchFamily="18" charset="0"/>
              </a:rPr>
              <a:t>Background: Drug-Target Interactions (DTI) play a crucial role in discovering new drug candidates and finding new proteins to target for drug development. Although the number of detected DTI obtained by high-throughput techniques has been increasing, the number of known DTI is still limited. On the other hand, the experimental methods for detecting the interactions among drugs and proteins are costly and inefficient.</a:t>
            </a:r>
          </a:p>
          <a:p>
            <a:pPr marL="0" indent="0" algn="just">
              <a:lnSpc>
                <a:spcPct val="150000"/>
              </a:lnSpc>
              <a:buNone/>
            </a:pPr>
            <a:r>
              <a:rPr lang="en-US" altLang="zh-TW" sz="2200" spc="-150" dirty="0">
                <a:cs typeface="Times New Roman" panose="02020603050405020304" pitchFamily="18" charset="0"/>
              </a:rPr>
              <a:t>Objective: Therefore, computational approaches for predicting DTI are drawing increasing attention in recent years. In this paper, we report a novel computational model for predicting the DTI using extremely randomized trees model and protein amino acids information. </a:t>
            </a:r>
          </a:p>
          <a:p>
            <a:pPr marL="0" indent="0" algn="just">
              <a:lnSpc>
                <a:spcPct val="150000"/>
              </a:lnSpc>
              <a:buNone/>
            </a:pPr>
            <a:r>
              <a:rPr lang="en-US" altLang="zh-TW" sz="2200" spc="-150" dirty="0">
                <a:latin typeface="Times New Roman" panose="02020603050405020304" pitchFamily="18" charset="0"/>
                <a:cs typeface="Times New Roman" panose="02020603050405020304" pitchFamily="18" charset="0"/>
              </a:rPr>
              <a:t>Method: More specifically, the protein sequence is represented as a Pseudo Substitution Matrix Representation (Pseudo-SMR) descriptor in which the influence of biological evolutionary information is retained. For the representation of drug molecules, a novel fingerprint feature vector is utilized to describe its substructure information. </a:t>
            </a:r>
            <a:endParaRPr lang="en-US" altLang="zh-TW" sz="2200" spc="-150" dirty="0">
              <a:cs typeface="Times New Roman" panose="02020603050405020304" pitchFamily="18" charset="0"/>
            </a:endParaRPr>
          </a:p>
        </p:txBody>
      </p:sp>
    </p:spTree>
    <p:extLst>
      <p:ext uri="{BB962C8B-B14F-4D97-AF65-F5344CB8AC3E}">
        <p14:creationId xmlns:p14="http://schemas.microsoft.com/office/powerpoint/2010/main" val="1595067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7271" y="14569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517271" y="888513"/>
            <a:ext cx="11455990" cy="5652136"/>
          </a:xfrm>
        </p:spPr>
        <p:txBody>
          <a:bodyPr vert="horz" lIns="91440" tIns="45720" rIns="91440" bIns="45720" rtlCol="0">
            <a:noAutofit/>
          </a:bodyPr>
          <a:lstStyle/>
          <a:p>
            <a:pPr marL="0" indent="0" algn="just">
              <a:lnSpc>
                <a:spcPct val="150000"/>
              </a:lnSpc>
              <a:buNone/>
            </a:pPr>
            <a:r>
              <a:rPr lang="en-US" altLang="zh-TW" sz="2200" spc="-150" dirty="0">
                <a:latin typeface="Times New Roman" panose="02020603050405020304" pitchFamily="18" charset="0"/>
                <a:cs typeface="Times New Roman" panose="02020603050405020304" pitchFamily="18" charset="0"/>
              </a:rPr>
              <a:t>Then the DTI pair is characterized by concatenating the two vector spaces of protein sequence and drug substructure. Finally, the proposed method is explored for predicting the DTI on four benchmark datasets: Enzyme, Ion Channel, GPCRs and Nuclear Receptor. </a:t>
            </a:r>
          </a:p>
          <a:p>
            <a:pPr marL="0" indent="0" algn="just">
              <a:lnSpc>
                <a:spcPct val="150000"/>
              </a:lnSpc>
              <a:buNone/>
            </a:pPr>
            <a:r>
              <a:rPr lang="en-US" altLang="zh-TW" sz="2200" spc="-150" dirty="0">
                <a:latin typeface="Times New Roman" panose="02020603050405020304" pitchFamily="18" charset="0"/>
                <a:cs typeface="Times New Roman" panose="02020603050405020304" pitchFamily="18" charset="0"/>
              </a:rPr>
              <a:t>Results: The experimental results demonstrate that this method achieves promising prediction accuracies of 89.85%, 87.87%, 82.99% and 81.67%, respectively. For further evaluation, we compared the performance of Extremely Randomized Trees model with that of the state-of-the-art Support Vector Machine classifier. And we also compared the proposed model with existing computational models, and confirmed 15 potential drug-target interactions by looking for existing databases. </a:t>
            </a:r>
          </a:p>
          <a:p>
            <a:pPr marL="0" indent="0" algn="just">
              <a:lnSpc>
                <a:spcPct val="150000"/>
              </a:lnSpc>
              <a:buNone/>
            </a:pPr>
            <a:r>
              <a:rPr lang="en-US" altLang="zh-TW" sz="2200" spc="-150" dirty="0">
                <a:latin typeface="Times New Roman" panose="02020603050405020304" pitchFamily="18" charset="0"/>
                <a:cs typeface="Times New Roman" panose="02020603050405020304" pitchFamily="18" charset="0"/>
              </a:rPr>
              <a:t>Conclusion: The experiment results show that the proposed method is feasible and promising for predicting drug-target interactions for new drug candidate screening based on sizeable features.</a:t>
            </a:r>
          </a:p>
        </p:txBody>
      </p:sp>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600" dirty="0">
                <a:latin typeface="Times New Roman" panose="02020603050405020304" pitchFamily="18" charset="0"/>
                <a:cs typeface="Times New Roman" panose="02020603050405020304" pitchFamily="18" charset="0"/>
              </a:rPr>
              <a:t>Drug Molecules Representation </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r>
              <a:rPr lang="en-US" altLang="zh-TW" sz="2400" dirty="0"/>
              <a:t>Use a variety of molecular substructure fingerprints to represent drug compounds.</a:t>
            </a:r>
          </a:p>
          <a:p>
            <a:endParaRPr lang="en-US" altLang="zh-TW" sz="2400" dirty="0"/>
          </a:p>
        </p:txBody>
      </p:sp>
      <p:pic>
        <p:nvPicPr>
          <p:cNvPr id="5" name="圖片 4" descr="一張含有 文字 的圖片&#10;&#10;自動產生的描述">
            <a:extLst>
              <a:ext uri="{FF2B5EF4-FFF2-40B4-BE49-F238E27FC236}">
                <a16:creationId xmlns:a16="http://schemas.microsoft.com/office/drawing/2014/main" id="{FE88A3A0-83CF-469D-83DF-C0F2B212AD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2782" y="1969376"/>
            <a:ext cx="9926435" cy="3762900"/>
          </a:xfrm>
          <a:prstGeom prst="rect">
            <a:avLst/>
          </a:prstGeom>
        </p:spPr>
      </p:pic>
    </p:spTree>
    <p:extLst>
      <p:ext uri="{BB962C8B-B14F-4D97-AF65-F5344CB8AC3E}">
        <p14:creationId xmlns:p14="http://schemas.microsoft.com/office/powerpoint/2010/main" val="81544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Target Protein Representation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r>
              <a:rPr lang="en-US" altLang="zh-TW" sz="2300" dirty="0"/>
              <a:t>Substitution Matrix Representation (SMR) is used for the representation of protein feature.</a:t>
            </a:r>
          </a:p>
          <a:p>
            <a:r>
              <a:rPr lang="en-US" altLang="zh-TW" sz="2300" dirty="0"/>
              <a:t>Use the BLOSUM62 matrix</a:t>
            </a:r>
          </a:p>
        </p:txBody>
      </p:sp>
      <p:pic>
        <p:nvPicPr>
          <p:cNvPr id="5" name="圖片 4" descr="一張含有 牆, 天空, 室內 的圖片&#10;&#10;自動產生的描述">
            <a:extLst>
              <a:ext uri="{FF2B5EF4-FFF2-40B4-BE49-F238E27FC236}">
                <a16:creationId xmlns:a16="http://schemas.microsoft.com/office/drawing/2014/main" id="{7C5FECE4-E8DC-48D5-94A7-069A378910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2977" y="2289617"/>
            <a:ext cx="5419828" cy="2578951"/>
          </a:xfrm>
          <a:prstGeom prst="rect">
            <a:avLst/>
          </a:prstGeom>
        </p:spPr>
      </p:pic>
      <p:pic>
        <p:nvPicPr>
          <p:cNvPr id="8" name="圖片 7">
            <a:extLst>
              <a:ext uri="{FF2B5EF4-FFF2-40B4-BE49-F238E27FC236}">
                <a16:creationId xmlns:a16="http://schemas.microsoft.com/office/drawing/2014/main" id="{D6B95259-D843-4E5B-9B5C-33A02F79B8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4851" y="2549139"/>
            <a:ext cx="7260429" cy="4240814"/>
          </a:xfrm>
          <a:prstGeom prst="rect">
            <a:avLst/>
          </a:prstGeom>
        </p:spPr>
      </p:pic>
    </p:spTree>
    <p:extLst>
      <p:ext uri="{BB962C8B-B14F-4D97-AF65-F5344CB8AC3E}">
        <p14:creationId xmlns:p14="http://schemas.microsoft.com/office/powerpoint/2010/main" val="4221497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Target Protein Representation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6</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r>
              <a:rPr lang="en-US" altLang="zh-TW" sz="2300" dirty="0"/>
              <a:t>Pseudo-SRM descriptor is obtained from a SMR matrix </a:t>
            </a:r>
          </a:p>
          <a:p>
            <a:r>
              <a:rPr lang="en-US" altLang="zh-TW" sz="2300" dirty="0"/>
              <a:t>lg represents the distance between one residue and its neighbors</a:t>
            </a:r>
          </a:p>
        </p:txBody>
      </p:sp>
      <p:pic>
        <p:nvPicPr>
          <p:cNvPr id="6" name="圖片 5" descr="一張含有 文字 的圖片&#10;&#10;自動產生的描述">
            <a:extLst>
              <a:ext uri="{FF2B5EF4-FFF2-40B4-BE49-F238E27FC236}">
                <a16:creationId xmlns:a16="http://schemas.microsoft.com/office/drawing/2014/main" id="{EEA8882A-21DD-4CF5-AA4A-883A3426E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1068" y="2312777"/>
            <a:ext cx="7236866" cy="4105429"/>
          </a:xfrm>
          <a:prstGeom prst="rect">
            <a:avLst/>
          </a:prstGeom>
        </p:spPr>
      </p:pic>
    </p:spTree>
    <p:extLst>
      <p:ext uri="{BB962C8B-B14F-4D97-AF65-F5344CB8AC3E}">
        <p14:creationId xmlns:p14="http://schemas.microsoft.com/office/powerpoint/2010/main" val="954643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600" dirty="0">
                <a:latin typeface="Times New Roman" panose="02020603050405020304" pitchFamily="18" charset="0"/>
                <a:cs typeface="Times New Roman" panose="02020603050405020304" pitchFamily="18" charset="0"/>
              </a:rPr>
              <a:t>Extremely Randomized Trees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7</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r>
              <a:rPr lang="en-US" altLang="zh-TW" sz="2700" dirty="0"/>
              <a:t>Like Random Forest</a:t>
            </a:r>
          </a:p>
          <a:p>
            <a:r>
              <a:rPr lang="en-US" altLang="zh-TW" sz="2700" dirty="0"/>
              <a:t>Difference:</a:t>
            </a:r>
          </a:p>
          <a:p>
            <a:pPr lvl="1"/>
            <a:r>
              <a:rPr lang="en-US" altLang="zh-TW" sz="1900" dirty="0"/>
              <a:t>Training data is not randomly selected</a:t>
            </a:r>
          </a:p>
          <a:p>
            <a:pPr lvl="1"/>
            <a:r>
              <a:rPr lang="en-US" altLang="zh-TW" sz="1900" dirty="0"/>
              <a:t>Split</a:t>
            </a:r>
            <a:r>
              <a:rPr lang="zh-TW" altLang="en-US" sz="1900" dirty="0"/>
              <a:t>方式不同</a:t>
            </a:r>
            <a:endParaRPr lang="en-US" altLang="zh-TW" sz="1900" dirty="0"/>
          </a:p>
          <a:p>
            <a:pPr marL="0" indent="0">
              <a:buNone/>
            </a:pPr>
            <a:endParaRPr lang="en-US" altLang="zh-TW" sz="2300" dirty="0"/>
          </a:p>
        </p:txBody>
      </p:sp>
      <p:pic>
        <p:nvPicPr>
          <p:cNvPr id="9" name="圖片 8" descr="一張含有 文字, 地圖 的圖片&#10;&#10;自動產生的描述">
            <a:extLst>
              <a:ext uri="{FF2B5EF4-FFF2-40B4-BE49-F238E27FC236}">
                <a16:creationId xmlns:a16="http://schemas.microsoft.com/office/drawing/2014/main" id="{C43BC802-3AE3-4F84-A39B-D1A977A4C3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5314" y="1223722"/>
            <a:ext cx="6843504" cy="5132628"/>
          </a:xfrm>
          <a:prstGeom prst="rect">
            <a:avLst/>
          </a:prstGeom>
        </p:spPr>
      </p:pic>
    </p:spTree>
    <p:extLst>
      <p:ext uri="{BB962C8B-B14F-4D97-AF65-F5344CB8AC3E}">
        <p14:creationId xmlns:p14="http://schemas.microsoft.com/office/powerpoint/2010/main" val="2417251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600" dirty="0">
                <a:latin typeface="Times New Roman" panose="02020603050405020304" pitchFamily="18" charset="0"/>
                <a:cs typeface="Times New Roman" panose="02020603050405020304" pitchFamily="18" charset="0"/>
              </a:rPr>
              <a:t>Extremely Randomized Trees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8</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0" y="1258645"/>
            <a:ext cx="6529891" cy="5097705"/>
          </a:xfrm>
        </p:spPr>
        <p:txBody>
          <a:bodyPr>
            <a:normAutofit/>
          </a:bodyPr>
          <a:lstStyle/>
          <a:p>
            <a:pPr algn="just"/>
            <a:r>
              <a:rPr lang="en-US" altLang="zh-TW" sz="2700" dirty="0"/>
              <a:t>given a training set T with m-dimensional attributes A={a1,a2,…,am}, K attributes, {a1,…, </a:t>
            </a:r>
            <a:r>
              <a:rPr lang="en-US" altLang="zh-TW" sz="2700" dirty="0" err="1"/>
              <a:t>ak</a:t>
            </a:r>
            <a:r>
              <a:rPr lang="en-US" altLang="zh-TW" sz="2700" dirty="0"/>
              <a:t>} would be randomly selected without replacement.</a:t>
            </a:r>
          </a:p>
          <a:p>
            <a:pPr algn="just"/>
            <a:r>
              <a:rPr lang="en-US" altLang="zh-TW" sz="2300" dirty="0"/>
              <a:t>All split would be evaluated by a scoring formula</a:t>
            </a:r>
          </a:p>
        </p:txBody>
      </p:sp>
      <p:pic>
        <p:nvPicPr>
          <p:cNvPr id="5" name="圖片 4">
            <a:extLst>
              <a:ext uri="{FF2B5EF4-FFF2-40B4-BE49-F238E27FC236}">
                <a16:creationId xmlns:a16="http://schemas.microsoft.com/office/drawing/2014/main" id="{76181F08-0F81-4DC3-9624-3F64602989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6382" y="1258645"/>
            <a:ext cx="5305618" cy="4549153"/>
          </a:xfrm>
          <a:prstGeom prst="rect">
            <a:avLst/>
          </a:prstGeom>
        </p:spPr>
      </p:pic>
      <p:pic>
        <p:nvPicPr>
          <p:cNvPr id="7" name="圖片 6">
            <a:extLst>
              <a:ext uri="{FF2B5EF4-FFF2-40B4-BE49-F238E27FC236}">
                <a16:creationId xmlns:a16="http://schemas.microsoft.com/office/drawing/2014/main" id="{727FBC39-CD60-4155-A9F2-D4386025C8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181" y="4713340"/>
            <a:ext cx="5024251" cy="642637"/>
          </a:xfrm>
          <a:prstGeom prst="rect">
            <a:avLst/>
          </a:prstGeom>
        </p:spPr>
      </p:pic>
    </p:spTree>
    <p:extLst>
      <p:ext uri="{BB962C8B-B14F-4D97-AF65-F5344CB8AC3E}">
        <p14:creationId xmlns:p14="http://schemas.microsoft.com/office/powerpoint/2010/main" val="3616223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9</a:t>
            </a:fld>
            <a:endParaRPr lang="zh-TW" altLang="en-US"/>
          </a:p>
        </p:txBody>
      </p:sp>
      <p:sp>
        <p:nvSpPr>
          <p:cNvPr id="11" name="內容版面配置區 10">
            <a:extLst>
              <a:ext uri="{FF2B5EF4-FFF2-40B4-BE49-F238E27FC236}">
                <a16:creationId xmlns:a16="http://schemas.microsoft.com/office/drawing/2014/main" id="{C2C833C2-C5C2-4AEB-B3FF-A7027832BC21}"/>
              </a:ext>
            </a:extLst>
          </p:cNvPr>
          <p:cNvSpPr>
            <a:spLocks noGrp="1"/>
          </p:cNvSpPr>
          <p:nvPr>
            <p:ph idx="1"/>
          </p:nvPr>
        </p:nvSpPr>
        <p:spPr>
          <a:xfrm>
            <a:off x="838200" y="1265573"/>
            <a:ext cx="10844605" cy="4694163"/>
          </a:xfrm>
        </p:spPr>
        <p:txBody>
          <a:bodyPr>
            <a:normAutofit/>
          </a:bodyPr>
          <a:lstStyle/>
          <a:p>
            <a:r>
              <a:rPr lang="en-US" altLang="zh-TW" sz="2700" dirty="0"/>
              <a:t>Evaluation Criteria</a:t>
            </a:r>
          </a:p>
        </p:txBody>
      </p:sp>
      <p:pic>
        <p:nvPicPr>
          <p:cNvPr id="5" name="圖片 4">
            <a:extLst>
              <a:ext uri="{FF2B5EF4-FFF2-40B4-BE49-F238E27FC236}">
                <a16:creationId xmlns:a16="http://schemas.microsoft.com/office/drawing/2014/main" id="{19C32215-E528-486E-BE47-00CCF211E7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4006" y="1785764"/>
            <a:ext cx="6772992" cy="4570586"/>
          </a:xfrm>
          <a:prstGeom prst="rect">
            <a:avLst/>
          </a:prstGeom>
        </p:spPr>
      </p:pic>
    </p:spTree>
    <p:extLst>
      <p:ext uri="{BB962C8B-B14F-4D97-AF65-F5344CB8AC3E}">
        <p14:creationId xmlns:p14="http://schemas.microsoft.com/office/powerpoint/2010/main" val="1430113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4E785A-5355-4B30-8CE3-D326A77A0C3C}"/>
              </a:ext>
            </a:extLst>
          </p:cNvPr>
          <p:cNvSpPr>
            <a:spLocks noGrp="1"/>
          </p:cNvSpPr>
          <p:nvPr>
            <p:ph type="title"/>
          </p:nvPr>
        </p:nvSpPr>
        <p:spPr>
          <a:xfrm>
            <a:off x="398033" y="311973"/>
            <a:ext cx="10955767" cy="935914"/>
          </a:xfrm>
        </p:spPr>
        <p:txBody>
          <a:bodyPr/>
          <a:lstStyle/>
          <a:p>
            <a:r>
              <a:rPr lang="en-US" altLang="zh-TW" dirty="0">
                <a:latin typeface="Times New Roman" panose="02020603050405020304" pitchFamily="18" charset="0"/>
                <a:cs typeface="Times New Roman" panose="02020603050405020304" pitchFamily="18" charset="0"/>
              </a:rPr>
              <a:t>Results</a:t>
            </a:r>
            <a:endParaRPr lang="zh-TW" altLang="en-US" dirty="0"/>
          </a:p>
        </p:txBody>
      </p:sp>
      <p:sp>
        <p:nvSpPr>
          <p:cNvPr id="3" name="內容版面配置區 2">
            <a:extLst>
              <a:ext uri="{FF2B5EF4-FFF2-40B4-BE49-F238E27FC236}">
                <a16:creationId xmlns:a16="http://schemas.microsoft.com/office/drawing/2014/main" id="{E7C39DC8-3FB2-4BA0-B83B-9C16E2364094}"/>
              </a:ext>
            </a:extLst>
          </p:cNvPr>
          <p:cNvSpPr>
            <a:spLocks noGrp="1"/>
          </p:cNvSpPr>
          <p:nvPr>
            <p:ph idx="1"/>
          </p:nvPr>
        </p:nvSpPr>
        <p:spPr>
          <a:xfrm>
            <a:off x="398033" y="1247887"/>
            <a:ext cx="10515600" cy="4351338"/>
          </a:xfrm>
        </p:spPr>
        <p:txBody>
          <a:bodyPr/>
          <a:lstStyle/>
          <a:p>
            <a:r>
              <a:rPr lang="en-US" altLang="zh-TW" dirty="0"/>
              <a:t>Assessment of Prediction Ability</a:t>
            </a:r>
            <a:endParaRPr lang="zh-TW" altLang="en-US" dirty="0"/>
          </a:p>
        </p:txBody>
      </p:sp>
      <p:pic>
        <p:nvPicPr>
          <p:cNvPr id="5" name="圖片 4" descr="一張含有 監視器, 螢幕擷取畫面, 牆 的圖片&#10;&#10;自動產生的描述">
            <a:extLst>
              <a:ext uri="{FF2B5EF4-FFF2-40B4-BE49-F238E27FC236}">
                <a16:creationId xmlns:a16="http://schemas.microsoft.com/office/drawing/2014/main" id="{D7795C5A-4F46-4CE5-8E2E-6F6F4DF459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910" y="1676984"/>
            <a:ext cx="8415228" cy="2593802"/>
          </a:xfrm>
          <a:prstGeom prst="rect">
            <a:avLst/>
          </a:prstGeom>
        </p:spPr>
      </p:pic>
      <p:pic>
        <p:nvPicPr>
          <p:cNvPr id="7" name="圖片 6" descr="一張含有 監視器, 牆, 螢幕擷取畫面 的圖片&#10;&#10;自動產生的描述">
            <a:extLst>
              <a:ext uri="{FF2B5EF4-FFF2-40B4-BE49-F238E27FC236}">
                <a16:creationId xmlns:a16="http://schemas.microsoft.com/office/drawing/2014/main" id="{2C2DFBA4-92AF-48E8-8012-1DBCC43D3B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910" y="4283975"/>
            <a:ext cx="8416962" cy="2574025"/>
          </a:xfrm>
          <a:prstGeom prst="rect">
            <a:avLst/>
          </a:prstGeom>
        </p:spPr>
      </p:pic>
    </p:spTree>
    <p:extLst>
      <p:ext uri="{BB962C8B-B14F-4D97-AF65-F5344CB8AC3E}">
        <p14:creationId xmlns:p14="http://schemas.microsoft.com/office/powerpoint/2010/main" val="3643742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4E785A-5355-4B30-8CE3-D326A77A0C3C}"/>
              </a:ext>
            </a:extLst>
          </p:cNvPr>
          <p:cNvSpPr>
            <a:spLocks noGrp="1"/>
          </p:cNvSpPr>
          <p:nvPr>
            <p:ph type="title"/>
          </p:nvPr>
        </p:nvSpPr>
        <p:spPr>
          <a:xfrm>
            <a:off x="398033" y="311973"/>
            <a:ext cx="10955767" cy="935914"/>
          </a:xfrm>
        </p:spPr>
        <p:txBody>
          <a:bodyPr/>
          <a:lstStyle/>
          <a:p>
            <a:r>
              <a:rPr lang="en-US" altLang="zh-TW" dirty="0">
                <a:latin typeface="Times New Roman" panose="02020603050405020304" pitchFamily="18" charset="0"/>
                <a:cs typeface="Times New Roman" panose="02020603050405020304" pitchFamily="18" charset="0"/>
              </a:rPr>
              <a:t>Results</a:t>
            </a:r>
            <a:endParaRPr lang="zh-TW" altLang="en-US" dirty="0"/>
          </a:p>
        </p:txBody>
      </p:sp>
      <p:sp>
        <p:nvSpPr>
          <p:cNvPr id="3" name="內容版面配置區 2">
            <a:extLst>
              <a:ext uri="{FF2B5EF4-FFF2-40B4-BE49-F238E27FC236}">
                <a16:creationId xmlns:a16="http://schemas.microsoft.com/office/drawing/2014/main" id="{E7C39DC8-3FB2-4BA0-B83B-9C16E2364094}"/>
              </a:ext>
            </a:extLst>
          </p:cNvPr>
          <p:cNvSpPr>
            <a:spLocks noGrp="1"/>
          </p:cNvSpPr>
          <p:nvPr>
            <p:ph idx="1"/>
          </p:nvPr>
        </p:nvSpPr>
        <p:spPr>
          <a:xfrm>
            <a:off x="398033" y="1247887"/>
            <a:ext cx="10515600" cy="4351338"/>
          </a:xfrm>
        </p:spPr>
        <p:txBody>
          <a:bodyPr/>
          <a:lstStyle/>
          <a:p>
            <a:r>
              <a:rPr lang="en-US" altLang="zh-TW" dirty="0"/>
              <a:t>Assessment of Prediction Ability</a:t>
            </a:r>
            <a:endParaRPr lang="zh-TW" altLang="en-US" dirty="0"/>
          </a:p>
        </p:txBody>
      </p:sp>
      <p:pic>
        <p:nvPicPr>
          <p:cNvPr id="6" name="圖片 5" descr="一張含有 監視器, 螢幕擷取畫面, 時鐘, 牆 的圖片&#10;&#10;自動產生的描述">
            <a:extLst>
              <a:ext uri="{FF2B5EF4-FFF2-40B4-BE49-F238E27FC236}">
                <a16:creationId xmlns:a16="http://schemas.microsoft.com/office/drawing/2014/main" id="{A8C07C70-9FCE-4A85-BFF3-735D3D50A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592" y="1651531"/>
            <a:ext cx="8464217" cy="2581635"/>
          </a:xfrm>
          <a:prstGeom prst="rect">
            <a:avLst/>
          </a:prstGeom>
        </p:spPr>
      </p:pic>
      <p:pic>
        <p:nvPicPr>
          <p:cNvPr id="8" name="圖片 7" descr="一張含有 螢幕擷取畫面, 監視器, 室內, 牆 的圖片&#10;&#10;自動產生的描述">
            <a:extLst>
              <a:ext uri="{FF2B5EF4-FFF2-40B4-BE49-F238E27FC236}">
                <a16:creationId xmlns:a16="http://schemas.microsoft.com/office/drawing/2014/main" id="{82DA4789-2187-45B4-A6F6-4F99186935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591" y="4276365"/>
            <a:ext cx="8464217" cy="2664114"/>
          </a:xfrm>
          <a:prstGeom prst="rect">
            <a:avLst/>
          </a:prstGeom>
        </p:spPr>
      </p:pic>
    </p:spTree>
    <p:extLst>
      <p:ext uri="{BB962C8B-B14F-4D97-AF65-F5344CB8AC3E}">
        <p14:creationId xmlns:p14="http://schemas.microsoft.com/office/powerpoint/2010/main" val="2415157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4E785A-5355-4B30-8CE3-D326A77A0C3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Results</a:t>
            </a:r>
            <a:endParaRPr lang="zh-TW" altLang="en-US" dirty="0"/>
          </a:p>
        </p:txBody>
      </p:sp>
      <p:pic>
        <p:nvPicPr>
          <p:cNvPr id="5" name="內容版面配置區 4" descr="一張含有 螢幕擷取畫面 的圖片&#10;&#10;自動產生的描述">
            <a:extLst>
              <a:ext uri="{FF2B5EF4-FFF2-40B4-BE49-F238E27FC236}">
                <a16:creationId xmlns:a16="http://schemas.microsoft.com/office/drawing/2014/main" id="{917D5CD8-5DFB-4E46-8C76-172B2D4E982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9337" y="2033194"/>
            <a:ext cx="10265266" cy="3743662"/>
          </a:xfrm>
        </p:spPr>
      </p:pic>
    </p:spTree>
    <p:extLst>
      <p:ext uri="{BB962C8B-B14F-4D97-AF65-F5344CB8AC3E}">
        <p14:creationId xmlns:p14="http://schemas.microsoft.com/office/powerpoint/2010/main" val="27791154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3524</TotalTime>
  <Words>521</Words>
  <Application>Microsoft Office PowerPoint</Application>
  <PresentationFormat>寬螢幕</PresentationFormat>
  <Paragraphs>53</Paragraphs>
  <Slides>12</Slides>
  <Notes>8</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12</vt:i4>
      </vt:variant>
    </vt:vector>
  </HeadingPairs>
  <TitlesOfParts>
    <vt:vector size="17" baseType="lpstr">
      <vt:lpstr>Arial</vt:lpstr>
      <vt:lpstr>Calibri</vt:lpstr>
      <vt:lpstr>Calibri Light</vt:lpstr>
      <vt:lpstr>Times New Roman</vt:lpstr>
      <vt:lpstr>Office 佈景主題</vt:lpstr>
      <vt:lpstr>A Systematic Prediction of Drug-Target Interactions Using Molecular Fingerprints and Protein Sequences</vt:lpstr>
      <vt:lpstr>Abstract (1/2)</vt:lpstr>
      <vt:lpstr>Abstract (2/2)</vt:lpstr>
      <vt:lpstr>Drug Molecules Representation </vt:lpstr>
      <vt:lpstr>Target Protein Representation</vt:lpstr>
      <vt:lpstr>Target Protein Representation</vt:lpstr>
      <vt:lpstr>Extremely Randomized Trees</vt:lpstr>
      <vt:lpstr>Extremely Randomized Trees</vt:lpstr>
      <vt:lpstr>Results</vt:lpstr>
      <vt:lpstr>Results</vt:lpstr>
      <vt:lpstr>Results</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lu</cp:lastModifiedBy>
  <cp:revision>998</cp:revision>
  <dcterms:created xsi:type="dcterms:W3CDTF">2018-10-30T09:09:31Z</dcterms:created>
  <dcterms:modified xsi:type="dcterms:W3CDTF">2019-07-09T10:24:17Z</dcterms:modified>
</cp:coreProperties>
</file>