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52" r:id="rId3"/>
    <p:sldId id="258" r:id="rId4"/>
    <p:sldId id="320" r:id="rId5"/>
    <p:sldId id="321" r:id="rId6"/>
    <p:sldId id="370" r:id="rId7"/>
    <p:sldId id="380" r:id="rId8"/>
    <p:sldId id="353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81" r:id="rId18"/>
    <p:sldId id="388" r:id="rId19"/>
    <p:sldId id="382" r:id="rId20"/>
    <p:sldId id="389" r:id="rId21"/>
    <p:sldId id="390" r:id="rId22"/>
    <p:sldId id="391" r:id="rId23"/>
    <p:sldId id="39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1CC90-5860-4773-94E4-A7C5C8AC2E96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889F-DB18-4D0A-BA0B-9C49CA35E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61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se.nsysu.edu.tw/files/11-1091-15069.php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.wikipedia.org/zh-tw/%E7%BD%97%E6%A0%BC%E6%96%AF%E5%A4%A7%E5%AD%A6" TargetMode="External"/><Relationship Id="rId5" Type="http://schemas.openxmlformats.org/officeDocument/2006/relationships/hyperlink" Target="https://zh.wikipedia.org/zh-tw/%E8%B4%9D%E5%B0%94%E5%AE%9E%E9%AA%8C%E5%AE%A4" TargetMode="External"/><Relationship Id="rId4" Type="http://schemas.openxmlformats.org/officeDocument/2006/relationships/hyperlink" Target="https://zh.wikipedia.org/wiki/%E8%BF%88%E9%98%BF%E5%AF%86%E6%B5%B7%E6%BB%A9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notepad.yehyeh.net/Content/Algorithm/Sort/Radix/Radix.php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paces.isu.edu.tw/upload/18833/3/web/sorting.htm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FOCS: </a:t>
            </a:r>
            <a:r>
              <a:rPr lang="en-US" altLang="zh-CN" dirty="0">
                <a:hlinkClick r:id="rId3"/>
              </a:rPr>
              <a:t>http://cse.nsysu.edu.tw/files/11-1091-15069.php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Location</a:t>
            </a:r>
            <a:r>
              <a:rPr lang="zh-CN" altLang="en-US" dirty="0"/>
              <a:t>：</a:t>
            </a:r>
            <a:r>
              <a:rPr lang="en-US" altLang="zh-CN" dirty="0">
                <a:hlinkClick r:id="rId4"/>
              </a:rPr>
              <a:t>https://zh.wikipedia.org/wiki/%E8%BF%88%E9%98%BF%E5%AF%86%E6%B5%B7%E6%BB%A9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Bell Labs</a:t>
            </a:r>
            <a:r>
              <a:rPr lang="zh-CN" altLang="en-US" sz="1200" dirty="0"/>
              <a:t>：</a:t>
            </a:r>
            <a:r>
              <a:rPr lang="en-US" altLang="zh-CN" dirty="0">
                <a:hlinkClick r:id="rId5"/>
              </a:rPr>
              <a:t>https://zh.wikipedia.org/zh-tw/%E8%B4%9D%E5%B0%94%E5%AE%9E%E9%AA%8C%E5%AE%A4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Rutgers University </a:t>
            </a:r>
            <a:r>
              <a:rPr lang="zh-CN" altLang="en-US" sz="1200" dirty="0"/>
              <a:t>：</a:t>
            </a:r>
            <a:r>
              <a:rPr lang="en-US" altLang="zh-CN" dirty="0">
                <a:hlinkClick r:id="rId6"/>
              </a:rPr>
              <a:t>https://zh.wikipedia.org/zh-tw/%E7%BD%97%E6%A0%BC%E6%96%AF%E5%A4%A7%E5%AD%A6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62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083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438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baseline="0" dirty="0"/>
              <a:t>	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Ahrabian, H. and Abbas Nowzari-Dalini. “Parallel Generation of tary Trees.” (2005).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796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  <a:r>
              <a:rPr lang="en-US" altLang="zh-CN" b="0" i="0" u="none" baseline="0" dirty="0"/>
              <a:t>Weiner, P. (1973). </a:t>
            </a:r>
            <a:r>
              <a:rPr lang="en-US" altLang="zh-CN" b="0" i="0" u="sng" baseline="0" dirty="0"/>
              <a:t>Linear pattern matching algorithms</a:t>
            </a:r>
            <a:r>
              <a:rPr lang="en-US" altLang="zh-CN" b="0" i="0" u="none" baseline="0" dirty="0"/>
              <a:t>. 14th Annual Symposium on Switching and Automata Theory (swat 1973), IEEE.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715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  <a:r>
              <a:rPr lang="en-US" altLang="zh-CN" b="0" i="0" u="none" baseline="0" dirty="0"/>
              <a:t>Weiner, P. (1973). </a:t>
            </a:r>
            <a:r>
              <a:rPr lang="en-US" altLang="zh-CN" b="0" i="0" u="sng" baseline="0" dirty="0"/>
              <a:t>Linear pattern matching algorithms</a:t>
            </a:r>
            <a:r>
              <a:rPr lang="en-US" altLang="zh-CN" b="0" i="0" u="none" baseline="0" dirty="0"/>
              <a:t>. 14th Annual Symposium on Switching and Automata Theory (swat 1973), IEEE.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241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  <a:r>
              <a:rPr lang="en-US" altLang="zh-CN" b="0" i="0" u="none" baseline="0" dirty="0"/>
              <a:t>Weiner, P. (1973). </a:t>
            </a:r>
            <a:r>
              <a:rPr lang="en-US" altLang="zh-CN" b="0" i="0" u="sng" baseline="0" dirty="0"/>
              <a:t>Linear pattern matching algorithms</a:t>
            </a:r>
            <a:r>
              <a:rPr lang="en-US" altLang="zh-CN" b="0" i="0" u="none" baseline="0" dirty="0"/>
              <a:t>. 14th Annual Symposium on Switching and Automata Theory (swat 1973), IEEE.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0839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  <a:r>
              <a:rPr lang="en-US" altLang="zh-CN" b="0" i="0" u="none" baseline="0" dirty="0"/>
              <a:t>Weiner, P. (1973). </a:t>
            </a:r>
            <a:r>
              <a:rPr lang="en-US" altLang="zh-CN" b="0" i="0" u="sng" baseline="0" dirty="0"/>
              <a:t>Linear pattern matching algorithms</a:t>
            </a:r>
            <a:r>
              <a:rPr lang="en-US" altLang="zh-CN" b="0" i="0" u="none" baseline="0" dirty="0"/>
              <a:t>. 14th Annual Symposium on Switching and Automata Theory (swat 1973), IEEE.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779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  <a:r>
              <a:rPr lang="en-US" altLang="zh-CN" b="0" i="0" u="none" baseline="0" dirty="0"/>
              <a:t>Weiner, P. (1973). </a:t>
            </a:r>
            <a:r>
              <a:rPr lang="en-US" altLang="zh-CN" b="0" i="0" u="sng" baseline="0" dirty="0"/>
              <a:t>Linear pattern matching algorithms</a:t>
            </a:r>
            <a:r>
              <a:rPr lang="en-US" altLang="zh-CN" b="0" i="0" u="none" baseline="0" dirty="0"/>
              <a:t>. 14th Annual Symposium on Switching and Automata Theory (swat 1973), IEEE.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7719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McCreight, E. M. (1976). "A space-economical suffix tree construction algorithm." </a:t>
            </a:r>
            <a:r>
              <a:rPr lang="en-US" b="0" i="0" u="sng" baseline="0" dirty="0"/>
              <a:t>Journal of the ACM (JACM)</a:t>
            </a:r>
            <a:r>
              <a:rPr lang="en-US" b="0" i="0" u="none" baseline="0" dirty="0"/>
              <a:t> </a:t>
            </a:r>
            <a:r>
              <a:rPr lang="en-US" b="1" i="0" u="none" baseline="0" dirty="0"/>
              <a:t>23</a:t>
            </a:r>
            <a:r>
              <a:rPr lang="en-US" b="0" i="0" u="none" baseline="0" dirty="0"/>
              <a:t>(2): 262-272.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7873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McCreight, E. M. (1976). "A space-economical suffix tree construction algorithm." </a:t>
            </a:r>
            <a:r>
              <a:rPr lang="en-US" b="0" i="0" u="sng" baseline="0" dirty="0"/>
              <a:t>Journal of the ACM (JACM)</a:t>
            </a:r>
            <a:r>
              <a:rPr lang="en-US" b="0" i="0" u="none" baseline="0" dirty="0"/>
              <a:t> </a:t>
            </a:r>
            <a:r>
              <a:rPr lang="en-US" b="1" i="0" u="none" baseline="0" dirty="0"/>
              <a:t>23</a:t>
            </a:r>
            <a:r>
              <a:rPr lang="en-US" b="0" i="0" u="none" baseline="0" dirty="0"/>
              <a:t>(2): 262-272.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401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McCreight, E. M. (1976). "A space-economical suffix tree construction algorithm." </a:t>
            </a:r>
            <a:r>
              <a:rPr lang="en-US" b="0" i="0" u="sng" baseline="0" dirty="0"/>
              <a:t>Journal of the ACM (JACM)</a:t>
            </a:r>
            <a:r>
              <a:rPr lang="en-US" b="0" i="0" u="none" baseline="0" dirty="0"/>
              <a:t> </a:t>
            </a:r>
            <a:r>
              <a:rPr lang="en-US" b="1" i="0" u="none" baseline="0" dirty="0"/>
              <a:t>23</a:t>
            </a:r>
            <a:r>
              <a:rPr lang="en-US" b="0" i="0" u="none" baseline="0" dirty="0"/>
              <a:t>(2): 262-272.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8476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McCreight, E. M. (1976). "A space-economical suffix tree construction algorithm." </a:t>
            </a:r>
            <a:r>
              <a:rPr lang="en-US" b="0" i="0" u="sng" baseline="0" dirty="0"/>
              <a:t>Journal of the ACM (JACM)</a:t>
            </a:r>
            <a:r>
              <a:rPr lang="en-US" b="0" i="0" u="none" baseline="0" dirty="0"/>
              <a:t> </a:t>
            </a:r>
            <a:r>
              <a:rPr lang="en-US" b="1" i="0" u="none" baseline="0" dirty="0"/>
              <a:t>23</a:t>
            </a:r>
            <a:r>
              <a:rPr lang="en-US" b="0" i="0" u="none" baseline="0" dirty="0"/>
              <a:t>(2): 262-272.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094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McCreight, E. M. (1976). "A space-economical suffix tree construction algorithm." </a:t>
            </a:r>
            <a:r>
              <a:rPr lang="en-US" b="0" i="0" u="sng" baseline="0" dirty="0"/>
              <a:t>Journal of the ACM (JACM)</a:t>
            </a:r>
            <a:r>
              <a:rPr lang="en-US" b="0" i="0" u="none" baseline="0" dirty="0"/>
              <a:t> </a:t>
            </a:r>
            <a:r>
              <a:rPr lang="en-US" b="1" i="0" u="none" baseline="0" dirty="0"/>
              <a:t>23</a:t>
            </a:r>
            <a:r>
              <a:rPr lang="en-US" b="0" i="0" u="none" baseline="0" dirty="0"/>
              <a:t>(2): 262-272.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613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6493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9325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329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http://notepad.yehyeh.net/Content/Algorithm/Sort/Radix/Radix.php</a:t>
            </a: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9228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http://spaces.isu.edu.tw/upload/18833/3/web/sorting.htm</a:t>
            </a: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23424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8975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8348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2988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2019/9/25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856855" y="471398"/>
            <a:ext cx="10477020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3600"/>
            </a:pPr>
            <a:r>
              <a:rPr lang="en-US" sz="3600" dirty="0">
                <a:latin typeface="Calibri" panose="020F0502020204030204" charset="0"/>
                <a:cs typeface="Calibri" panose="020F0502020204030204" charset="0"/>
              </a:rPr>
              <a:t>Optimal Suffix Tree Construction with Large Alphabets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145540" y="2693239"/>
            <a:ext cx="9899650" cy="10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SzPts val="2800"/>
            </a:pPr>
            <a:r>
              <a:rPr lang="es-ES" altLang="zh-CN" dirty="0"/>
              <a:t>Martin Farach</a:t>
            </a:r>
          </a:p>
          <a:p>
            <a:pPr lvl="0">
              <a:spcBef>
                <a:spcPts val="0"/>
              </a:spcBef>
              <a:buSzPts val="2800"/>
            </a:pPr>
            <a:r>
              <a:rPr lang="en-US" sz="2600" dirty="0"/>
              <a:t>Rutgers University and Bell Labs</a:t>
            </a:r>
            <a:endParaRPr sz="2600"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354568" y="6485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1048428" y="3891090"/>
            <a:ext cx="10095142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Proceedings 38th Annual Symposium on Foundations of Computer Science, </a:t>
            </a:r>
            <a:r>
              <a:rPr lang="en-US" altLang="zh-CN" sz="2800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1997, </a:t>
            </a:r>
            <a:r>
              <a:rPr lang="en-US" sz="2800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IEEE</a:t>
            </a:r>
            <a:r>
              <a:rPr lang="en-US" sz="2800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. Miami Beach, FL, USA.</a:t>
            </a:r>
            <a:endParaRPr lang="en-US" sz="2800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	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endParaRPr lang="en-US" sz="2800" u="sng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92187" y="5188046"/>
            <a:ext cx="9806355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Presenter: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KeXin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 Zhu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Date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: 2019/09/25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Abstract(1/2)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1568950"/>
            <a:ext cx="10109886" cy="444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The suffix tree of a string is the fundamental data structure of combinatorial pattern matching. Weiner [Wei73], who introduced the data structure, gave an O(n)-time algorithm for building the suffix tree of an n-character string drawn from a constant size alphabet. In this comparison model, there is a trivial </a:t>
            </a:r>
            <a:r>
              <a:rPr lang="el-GR" altLang="zh-CN" dirty="0"/>
              <a:t>Ω</a:t>
            </a:r>
            <a:r>
              <a:rPr lang="en-US" dirty="0"/>
              <a:t>(nlogn)-time lower bound based on sorting, and Weiner's algorithm matches this bound trivially. For integer alphabets, a substantial gap remains between the known upper and lower bounds, and closing this gap is the main open question in the construction of su</a:t>
            </a:r>
            <a:r>
              <a:rPr lang="en-US" altLang="zh-CN" dirty="0"/>
              <a:t>ffix</a:t>
            </a:r>
            <a:r>
              <a:rPr lang="en-US" dirty="0"/>
              <a:t> trees. 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0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Abstract(2/2)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1568950"/>
            <a:ext cx="10109886" cy="444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altLang="zh-CN" dirty="0"/>
              <a:t>There is no super-linear lower bound, and the fastest known algorithm was the O(nlogn) time comparison based algorithm. We settle this open problem by closing the gap: we build suffix trees in linear time for integer alphabet.</a:t>
            </a:r>
            <a:endParaRPr lang="en-US"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8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/>
              <a:t>1 </a:t>
            </a:r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Key of LCSk computation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Q</a:t>
            </a:r>
            <a:r>
              <a:rPr lang="en-US" altLang="zh-TW" dirty="0"/>
              <a:t>uick test of </a:t>
            </a:r>
            <a:r>
              <a:rPr lang="nn-NO" altLang="zh-CN" i="1" dirty="0"/>
              <a:t>A</a:t>
            </a:r>
            <a:r>
              <a:rPr lang="nn-NO" altLang="zh-CN" i="1" baseline="-25000" dirty="0"/>
              <a:t>i</a:t>
            </a:r>
            <a:r>
              <a:rPr lang="nn-NO" altLang="zh-CN" baseline="-25000" dirty="0"/>
              <a:t>−</a:t>
            </a:r>
            <a:r>
              <a:rPr lang="nn-NO" altLang="zh-CN" i="1" baseline="-25000" dirty="0"/>
              <a:t>k</a:t>
            </a:r>
            <a:r>
              <a:rPr lang="nn-NO" altLang="zh-CN" baseline="-25000" dirty="0"/>
              <a:t>+1...</a:t>
            </a:r>
            <a:r>
              <a:rPr lang="nn-NO" altLang="zh-CN" i="1" baseline="-25000" dirty="0"/>
              <a:t>i </a:t>
            </a:r>
            <a:r>
              <a:rPr lang="nn-NO" altLang="zh-CN" dirty="0"/>
              <a:t>= </a:t>
            </a:r>
            <a:r>
              <a:rPr lang="nn-NO" altLang="zh-CN" i="1" dirty="0"/>
              <a:t>B</a:t>
            </a:r>
            <a:r>
              <a:rPr lang="nn-NO" altLang="zh-CN" baseline="-25000" dirty="0"/>
              <a:t>j−k+1...j</a:t>
            </a:r>
            <a:endParaRPr lang="nn-NO" altLang="zh-CN" i="1" dirty="0"/>
          </a:p>
          <a:p>
            <a:pPr algn="ctr">
              <a:spcBef>
                <a:spcPts val="0"/>
              </a:spcBef>
              <a:buSzPts val="2800"/>
            </a:pPr>
            <a:endParaRPr lang="en-US" altLang="zh-TW" i="1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Solution</a:t>
            </a:r>
            <a:r>
              <a:rPr lang="en-US" altLang="zh-TW" dirty="0"/>
              <a:t>:</a:t>
            </a:r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r>
              <a:rPr lang="en-US" altLang="zh-TW" dirty="0"/>
              <a:t>Longest common extension (LCE) by suffix array/tree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183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1 Introduction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T-ary tree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95FD1DC-5757-4981-8405-60CE672C46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62"/>
          <a:stretch/>
        </p:blipFill>
        <p:spPr>
          <a:xfrm>
            <a:off x="3919666" y="1764388"/>
            <a:ext cx="3848100" cy="340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2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1 Introduction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Bi-tree 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CE2154-C66A-4955-8448-CF9F6F30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940" y="1690690"/>
            <a:ext cx="4490119" cy="484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0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1 Introduction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Compact tries 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E08AA7-8F9A-4AEC-846C-62CC9E34CD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37"/>
          <a:stretch/>
        </p:blipFill>
        <p:spPr>
          <a:xfrm>
            <a:off x="1360421" y="2295525"/>
            <a:ext cx="9471158" cy="384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4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2 Wei73’s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Prefix-tree of S = 011010</a:t>
            </a:r>
            <a:r>
              <a:rPr lang="zh-CN" altLang="en-US" dirty="0"/>
              <a:t>￥</a:t>
            </a:r>
            <a:r>
              <a:rPr lang="en-US" altLang="zh-CN" dirty="0"/>
              <a:t> 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2B8B81-28EF-4629-980A-BAA19575A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673" y="2219300"/>
            <a:ext cx="7454653" cy="427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5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2286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2 Wei73’s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554168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Different construction cases 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A8C747-F919-4326-AEFD-45EC4D875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230" y="1226703"/>
            <a:ext cx="5798740" cy="54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2 Wei73’s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Direct construction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Time complexity:</a:t>
            </a:r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O(mlogm) at best.</a:t>
            </a:r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B5BD2C-217C-4E55-AAF9-414C03A735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74"/>
          <a:stretch/>
        </p:blipFill>
        <p:spPr>
          <a:xfrm>
            <a:off x="4564700" y="1372973"/>
            <a:ext cx="5773336" cy="534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0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McC76’s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Suffix tree of S = </a:t>
            </a:r>
            <a:r>
              <a:rPr lang="en-US" altLang="zh-CN" b="1" dirty="0"/>
              <a:t>ababc</a:t>
            </a:r>
            <a:r>
              <a:rPr lang="zh-CN" altLang="en-US" dirty="0"/>
              <a:t>￥</a:t>
            </a:r>
            <a:r>
              <a:rPr lang="en-US" altLang="zh-CN" dirty="0"/>
              <a:t> 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C559DA-9A30-4B37-BDBC-C3512813D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661" y="2261738"/>
            <a:ext cx="4948109" cy="40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4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1463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McC76’s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742950" y="120558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Suffix tree construction steps of S = </a:t>
            </a:r>
            <a:r>
              <a:rPr lang="en-US" altLang="zh-CN" b="1" dirty="0"/>
              <a:t>ababc</a:t>
            </a:r>
            <a:r>
              <a:rPr lang="zh-CN" altLang="en-US" dirty="0"/>
              <a:t>￥：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For constant alphabet:</a:t>
            </a:r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O(m).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For general alphabet:</a:t>
            </a:r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O(mlogm).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1768855-6BA8-4907-A2D9-734BAA1F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1" y="1722633"/>
            <a:ext cx="5992329" cy="490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94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1463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McC76’s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471867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The actual internal form of the tree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1B3B203-3C17-42F3-AB5C-112267F4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886" y="2303558"/>
            <a:ext cx="7679659" cy="405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37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McC76’s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Adding suffix links by dashed lines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22AE99-9D5C-4F95-BF10-DAE82A565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888" y="2287341"/>
            <a:ext cx="7896224" cy="443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8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McC76’s prefix tree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Construction of S = </a:t>
            </a:r>
            <a:r>
              <a:rPr lang="en-US" altLang="zh-CN" b="1" dirty="0"/>
              <a:t>b</a:t>
            </a:r>
            <a:r>
              <a:rPr lang="en-US" altLang="zh-CN" b="1" baseline="30000" dirty="0"/>
              <a:t>5</a:t>
            </a:r>
            <a:r>
              <a:rPr lang="en-US" altLang="zh-CN" b="1" dirty="0"/>
              <a:t>abab</a:t>
            </a:r>
            <a:r>
              <a:rPr lang="en-US" altLang="zh-CN" b="1" baseline="30000" dirty="0"/>
              <a:t>3</a:t>
            </a:r>
            <a:r>
              <a:rPr lang="en-US" altLang="zh-CN" b="1" dirty="0"/>
              <a:t>a</a:t>
            </a:r>
            <a:r>
              <a:rPr lang="en-US" altLang="zh-CN" b="1" baseline="30000" dirty="0"/>
              <a:t>2</a:t>
            </a:r>
            <a:r>
              <a:rPr lang="en-US" altLang="zh-CN" b="1" dirty="0"/>
              <a:t>b</a:t>
            </a:r>
            <a:r>
              <a:rPr lang="en-US" altLang="zh-CN" b="1" baseline="30000" dirty="0"/>
              <a:t>5</a:t>
            </a:r>
            <a:r>
              <a:rPr lang="en-US" altLang="zh-CN" b="1" dirty="0"/>
              <a:t>c</a:t>
            </a:r>
            <a:r>
              <a:rPr lang="zh-CN" altLang="en-US" dirty="0"/>
              <a:t>￥</a:t>
            </a:r>
            <a:r>
              <a:rPr lang="en-US" altLang="zh-CN" dirty="0"/>
              <a:t> in step 14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marL="457200" lvl="1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5430929-EA92-4988-AF54-EF02AD6AA4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03" t="1630" r="2606"/>
          <a:stretch/>
        </p:blipFill>
        <p:spPr>
          <a:xfrm>
            <a:off x="3305175" y="2269569"/>
            <a:ext cx="5581650" cy="445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2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Construction steps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(1) Building the odd</a:t>
            </a:r>
            <a:r>
              <a:rPr lang="zh-CN" altLang="en-US" dirty="0"/>
              <a:t> </a:t>
            </a:r>
            <a:r>
              <a:rPr lang="en-US" altLang="zh-CN" dirty="0"/>
              <a:t>tree T</a:t>
            </a:r>
            <a:r>
              <a:rPr lang="en-US" altLang="zh-CN" baseline="-25000" dirty="0"/>
              <a:t>o</a:t>
            </a:r>
            <a:r>
              <a:rPr lang="en-US" altLang="zh-CN" dirty="0"/>
              <a:t>;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(2) Building the even tree T</a:t>
            </a:r>
            <a:r>
              <a:rPr lang="en-US" altLang="zh-CN" baseline="-25000" dirty="0"/>
              <a:t>e</a:t>
            </a:r>
            <a:r>
              <a:rPr lang="en-US" altLang="zh-CN" dirty="0"/>
              <a:t>;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(3) Merging the trees T</a:t>
            </a:r>
            <a:r>
              <a:rPr lang="en-US" altLang="zh-CN" baseline="-25000" dirty="0"/>
              <a:t>o  </a:t>
            </a:r>
            <a:r>
              <a:rPr lang="en-US" altLang="zh-CN" dirty="0"/>
              <a:t>and  T</a:t>
            </a:r>
            <a:r>
              <a:rPr lang="en-US" altLang="zh-CN" baseline="-25000" dirty="0"/>
              <a:t>e</a:t>
            </a:r>
            <a:r>
              <a:rPr lang="en-US" altLang="zh-CN" dirty="0"/>
              <a:t>.</a:t>
            </a:r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2616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1746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199" y="149994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Suffix tree of string S = 121112212221</a:t>
            </a:r>
            <a:r>
              <a:rPr lang="zh-CN" altLang="en-US" dirty="0"/>
              <a:t>￥：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BA49C0-0C6D-40DD-A761-86CFB4A8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85" y="1936430"/>
            <a:ext cx="8224029" cy="478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84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4.1 Building the odd tree</a:t>
            </a:r>
            <a:r>
              <a:rPr lang="zh-CN" altLang="en-US" dirty="0"/>
              <a:t>：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B7499C-9BB3-407F-B1DD-5C88C75F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298" y="1829537"/>
            <a:ext cx="4610102" cy="46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4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4.2 Building the even tree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Radix sort: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34FB61-A5A9-4130-88B7-38515D05F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1280321"/>
            <a:ext cx="6086474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4A5E181-3331-45CB-8887-39FF73B9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4203702"/>
            <a:ext cx="60864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836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4.2 Building the even tree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Stable sort: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S</a:t>
            </a:r>
            <a:r>
              <a:rPr lang="en-US" altLang="zh-TW" dirty="0"/>
              <a:t>table sorting:</a:t>
            </a:r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Before:</a:t>
            </a:r>
            <a:r>
              <a:rPr lang="zh-TW" altLang="en-US" dirty="0"/>
              <a:t> </a:t>
            </a:r>
            <a:r>
              <a:rPr lang="en-US" altLang="zh-TW" dirty="0"/>
              <a:t>3,5,19,1,3*,10</a:t>
            </a:r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After</a:t>
            </a:r>
            <a:r>
              <a:rPr lang="en-US" altLang="zh-TW" dirty="0"/>
              <a:t>: 1,3,3*,5,10,19</a:t>
            </a:r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r>
              <a:rPr lang="en-US" altLang="zh-TW" dirty="0"/>
              <a:t>Unstable sorting:</a:t>
            </a:r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Before:</a:t>
            </a:r>
            <a:r>
              <a:rPr lang="zh-CN" altLang="en-US" dirty="0"/>
              <a:t> </a:t>
            </a:r>
            <a:r>
              <a:rPr lang="en-US" altLang="zh-TW" dirty="0"/>
              <a:t>3,5,19,1,3*,10</a:t>
            </a:r>
          </a:p>
          <a:p>
            <a:pPr algn="ctr">
              <a:spcBef>
                <a:spcPts val="0"/>
              </a:spcBef>
              <a:buSzPts val="2800"/>
            </a:pPr>
            <a:r>
              <a:rPr lang="en-US" altLang="zh-CN" dirty="0"/>
              <a:t>After: </a:t>
            </a:r>
            <a:r>
              <a:rPr lang="en-US" altLang="zh-TW" dirty="0"/>
              <a:t>1,3*,3,5,10,19</a:t>
            </a:r>
          </a:p>
          <a:p>
            <a:pPr algn="ctr">
              <a:spcBef>
                <a:spcPts val="0"/>
              </a:spcBef>
              <a:buSzPts val="2800"/>
            </a:pPr>
            <a:endParaRPr lang="en-US" altLang="zh-TW" sz="2000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4692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4.2 Building the even tree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Steps: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sz="2400" dirty="0"/>
              <a:t>(1) Order of the T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: [3,1,5,7,11,9,13].</a:t>
            </a:r>
          </a:p>
          <a:p>
            <a:r>
              <a:rPr lang="en-US" altLang="zh-CN" sz="2400" dirty="0"/>
              <a:t>(2) Pair &lt;S[2i], T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[2i+1]&gt; : [&lt;2,3&gt;, &lt;1,5&gt;, &lt;2,7&gt;, &lt;2,11&gt;, &lt;1,9&gt;, &lt;1,13&gt;].</a:t>
            </a:r>
          </a:p>
          <a:p>
            <a:r>
              <a:rPr lang="en-US" altLang="zh-CN" sz="2400" dirty="0"/>
              <a:t>(3) Stable radix sort:</a:t>
            </a:r>
            <a:r>
              <a:rPr lang="nn-NO" altLang="zh-CN" sz="2400" b="1" dirty="0"/>
              <a:t> </a:t>
            </a:r>
            <a:r>
              <a:rPr lang="nn-NO" altLang="zh-CN" sz="2400" dirty="0"/>
              <a:t>[</a:t>
            </a:r>
            <a:r>
              <a:rPr lang="en-US" altLang="zh-CN" sz="2400" dirty="0"/>
              <a:t>&lt;</a:t>
            </a:r>
            <a:r>
              <a:rPr lang="nn-NO" altLang="zh-CN" sz="2400" dirty="0"/>
              <a:t>I,5</a:t>
            </a:r>
            <a:r>
              <a:rPr lang="en-US" altLang="zh-CN" sz="2400" dirty="0"/>
              <a:t>&gt;</a:t>
            </a:r>
            <a:r>
              <a:rPr lang="nn-NO" altLang="zh-CN" sz="2400" dirty="0"/>
              <a:t>, </a:t>
            </a:r>
            <a:r>
              <a:rPr lang="en-US" altLang="zh-CN" sz="2400" dirty="0"/>
              <a:t>&lt;</a:t>
            </a:r>
            <a:r>
              <a:rPr lang="nn-NO" altLang="zh-CN" sz="2400" dirty="0"/>
              <a:t>1,9</a:t>
            </a:r>
            <a:r>
              <a:rPr lang="en-US" altLang="zh-CN" sz="2400" dirty="0"/>
              <a:t>&gt;</a:t>
            </a:r>
            <a:r>
              <a:rPr lang="nn-NO" altLang="zh-CN" sz="2400" dirty="0"/>
              <a:t>, </a:t>
            </a:r>
            <a:r>
              <a:rPr lang="en-US" altLang="zh-CN" sz="2400" dirty="0"/>
              <a:t>&lt;</a:t>
            </a:r>
            <a:r>
              <a:rPr lang="nn-NO" altLang="zh-CN" sz="2400" dirty="0"/>
              <a:t>1,13</a:t>
            </a:r>
            <a:r>
              <a:rPr lang="en-US" altLang="zh-CN" sz="2400" dirty="0"/>
              <a:t>&gt;</a:t>
            </a:r>
            <a:r>
              <a:rPr lang="nn-NO" altLang="zh-CN" sz="2400" dirty="0"/>
              <a:t>, </a:t>
            </a:r>
            <a:r>
              <a:rPr lang="en-US" altLang="zh-CN" sz="2400" dirty="0"/>
              <a:t>&lt;</a:t>
            </a:r>
            <a:r>
              <a:rPr lang="nn-NO" altLang="zh-CN" sz="2400" dirty="0"/>
              <a:t>2,3</a:t>
            </a:r>
            <a:r>
              <a:rPr lang="en-US" altLang="zh-CN" sz="2400" dirty="0"/>
              <a:t>&gt;</a:t>
            </a:r>
            <a:r>
              <a:rPr lang="nn-NO" altLang="zh-CN" sz="2400" dirty="0"/>
              <a:t>, </a:t>
            </a:r>
            <a:r>
              <a:rPr lang="en-US" altLang="zh-CN" sz="2400" dirty="0"/>
              <a:t>&lt;</a:t>
            </a:r>
            <a:r>
              <a:rPr lang="nn-NO" altLang="zh-CN" sz="2400" dirty="0"/>
              <a:t>2,7</a:t>
            </a:r>
            <a:r>
              <a:rPr lang="en-US" altLang="zh-CN" sz="2400" dirty="0"/>
              <a:t>&gt;</a:t>
            </a:r>
            <a:r>
              <a:rPr lang="nn-NO" altLang="zh-CN" sz="2400" dirty="0"/>
              <a:t>, </a:t>
            </a:r>
            <a:r>
              <a:rPr lang="en-US" altLang="zh-CN" sz="2400" dirty="0"/>
              <a:t>&lt;</a:t>
            </a:r>
            <a:r>
              <a:rPr lang="nn-NO" altLang="zh-CN" sz="2400" dirty="0"/>
              <a:t>2,11</a:t>
            </a:r>
            <a:r>
              <a:rPr lang="en-US" altLang="zh-CN" sz="2400" dirty="0"/>
              <a:t>&gt;]</a:t>
            </a:r>
            <a:r>
              <a:rPr lang="nn-NO" altLang="zh-CN" sz="2400" dirty="0"/>
              <a:t>.</a:t>
            </a:r>
          </a:p>
          <a:p>
            <a:r>
              <a:rPr lang="nn-NO" altLang="zh-CN" sz="2400" dirty="0"/>
              <a:t>(4) Subtracting even order from second index: [4,8,12,2,6,10].</a:t>
            </a:r>
          </a:p>
          <a:p>
            <a:r>
              <a:rPr lang="nn-NO" altLang="zh-CN" sz="2400" dirty="0"/>
              <a:t>(5)</a:t>
            </a:r>
            <a:r>
              <a:rPr lang="pl-PL" altLang="zh-CN" i="1" dirty="0"/>
              <a:t> </a:t>
            </a:r>
            <a:r>
              <a:rPr lang="en-US" altLang="zh-CN" i="1" dirty="0"/>
              <a:t>Calculating </a:t>
            </a:r>
            <a:r>
              <a:rPr lang="pl-PL" altLang="zh-CN" sz="2400" dirty="0"/>
              <a:t>Icp(l</a:t>
            </a:r>
            <a:r>
              <a:rPr lang="en-US" altLang="zh-CN" sz="2400" baseline="-25000" dirty="0"/>
              <a:t>2</a:t>
            </a:r>
            <a:r>
              <a:rPr lang="pl-PL" altLang="zh-CN" sz="2400" baseline="-25000" dirty="0"/>
              <a:t>i</a:t>
            </a:r>
            <a:r>
              <a:rPr lang="pl-PL" altLang="zh-CN" sz="2400" dirty="0"/>
              <a:t>, I</a:t>
            </a:r>
            <a:r>
              <a:rPr lang="en-US" altLang="zh-CN" sz="2400" baseline="-25000" dirty="0"/>
              <a:t>2</a:t>
            </a:r>
            <a:r>
              <a:rPr lang="pl-PL" altLang="zh-CN" sz="2400" baseline="-25000" dirty="0"/>
              <a:t>j</a:t>
            </a:r>
            <a:r>
              <a:rPr lang="pl-PL" altLang="zh-CN" sz="2400" dirty="0"/>
              <a:t>)</a:t>
            </a:r>
            <a:r>
              <a:rPr lang="en-US" altLang="zh-CN" sz="2400" dirty="0"/>
              <a:t>:</a:t>
            </a:r>
          </a:p>
          <a:p>
            <a:pPr>
              <a:spcBef>
                <a:spcPts val="0"/>
              </a:spcBef>
              <a:buSzPts val="2800"/>
            </a:pPr>
            <a:endParaRPr lang="en-US" altLang="zh-TW" sz="2400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943032-9A8B-4D9D-B3BE-A2BF8671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2" y="4776787"/>
            <a:ext cx="4413224" cy="5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25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4.2 Building the even tree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8B082B-5C6B-45CD-9AE8-75B9AF1DC4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22" b="2271"/>
          <a:stretch/>
        </p:blipFill>
        <p:spPr>
          <a:xfrm>
            <a:off x="6096000" y="2151191"/>
            <a:ext cx="4305300" cy="4095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34F2AE-56CB-4029-9779-0E7CADA54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48" y="3140079"/>
            <a:ext cx="3179558" cy="32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81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2B4AEF8-0978-426E-97A5-B551E00D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099" y="2162110"/>
            <a:ext cx="7248653" cy="4330763"/>
          </a:xfrm>
          <a:prstGeom prst="rect">
            <a:avLst/>
          </a:prstGeom>
        </p:spPr>
      </p:pic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199" y="365127"/>
            <a:ext cx="106203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sz="4000" dirty="0"/>
              <a:t>4 Suffix tree construction with integer alphabet</a:t>
            </a:r>
            <a:endParaRPr lang="en-US" sz="4000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4.3 Merging the trees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Coupled DFS: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For general alphabet:</a:t>
            </a:r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</a:t>
            </a:r>
            <a:r>
              <a:rPr lang="en-US" altLang="zh-CN"/>
              <a:t>(m).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606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5319</TotalTime>
  <Words>850</Words>
  <Application>Microsoft Office PowerPoint</Application>
  <PresentationFormat>寬螢幕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等线</vt:lpstr>
      <vt:lpstr>Questrial</vt:lpstr>
      <vt:lpstr>Arial</vt:lpstr>
      <vt:lpstr>Calibri</vt:lpstr>
      <vt:lpstr>Office 主题</vt:lpstr>
      <vt:lpstr>Optimal Suffix Tree Construction with Large Alphabets</vt:lpstr>
      <vt:lpstr>Abstract(1/2)</vt:lpstr>
      <vt:lpstr>Abstract(2/2)</vt:lpstr>
      <vt:lpstr>1 Introduction</vt:lpstr>
      <vt:lpstr>1 Introduction</vt:lpstr>
      <vt:lpstr>1 Introduction</vt:lpstr>
      <vt:lpstr>1 Introduction</vt:lpstr>
      <vt:lpstr>2 Wei73’s prefix tree</vt:lpstr>
      <vt:lpstr>2 Wei73’s prefix tree</vt:lpstr>
      <vt:lpstr>2 Wei73’s prefix tree</vt:lpstr>
      <vt:lpstr>3 McC76’s prefix tree</vt:lpstr>
      <vt:lpstr>3 McC76’s prefix tree</vt:lpstr>
      <vt:lpstr>3 McC76’s prefix tree</vt:lpstr>
      <vt:lpstr>3 McC76’s prefix tree</vt:lpstr>
      <vt:lpstr>3 McC76’s prefix tree</vt:lpstr>
      <vt:lpstr>4 Suffix tree construction with integer alphabet</vt:lpstr>
      <vt:lpstr>4 Suffix tree construction with integer alphabet</vt:lpstr>
      <vt:lpstr>4 Suffix tree construction with integer alphabet</vt:lpstr>
      <vt:lpstr>4 Suffix tree construction with integer alphabet</vt:lpstr>
      <vt:lpstr>4 Suffix tree construction with integer alphabet</vt:lpstr>
      <vt:lpstr>4 Suffix tree construction with integer alphabet</vt:lpstr>
      <vt:lpstr>4 Suffix tree construction with integer alphabet</vt:lpstr>
      <vt:lpstr>4 Suffix tree construction with integer alphabet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 DEEP  CONVOLUTIONAL  NETWORKS   WITH MANY  CHANNELS  ARE  GAUSSIAN PROCESSES</dc:title>
  <dc:creator>zkx</dc:creator>
  <cp:lastModifiedBy>pplab</cp:lastModifiedBy>
  <cp:revision>493</cp:revision>
  <dcterms:created xsi:type="dcterms:W3CDTF">2019-04-02T05:36:00Z</dcterms:created>
  <dcterms:modified xsi:type="dcterms:W3CDTF">2019-09-25T11:47:38Z</dcterms:modified>
</cp:coreProperties>
</file>