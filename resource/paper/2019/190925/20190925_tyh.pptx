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258" r:id="rId3"/>
    <p:sldId id="259" r:id="rId4"/>
    <p:sldId id="260" r:id="rId5"/>
    <p:sldId id="262" r:id="rId6"/>
    <p:sldId id="263" r:id="rId7"/>
    <p:sldId id="264" r:id="rId8"/>
    <p:sldId id="267" r:id="rId9"/>
    <p:sldId id="266" r:id="rId10"/>
    <p:sldId id="268" r:id="rId11"/>
    <p:sldId id="270" r:id="rId12"/>
    <p:sldId id="271" r:id="rId13"/>
    <p:sldId id="272" r:id="rId14"/>
    <p:sldId id="273" r:id="rId15"/>
    <p:sldId id="274" r:id="rId16"/>
    <p:sldId id="275" r:id="rId17"/>
    <p:sldId id="276" r:id="rId18"/>
    <p:sldId id="277" r:id="rId1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EC598C-8F50-4D8A-A257-9F9A3D6EE20F}" type="datetimeFigureOut">
              <a:rPr lang="zh-TW" altLang="en-US" smtClean="0"/>
              <a:pPr/>
              <a:t>2019/9/25</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A18BCC-D1EA-4D8A-929C-D092EA2B4393}"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1</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3</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2019/9/25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2019/9/25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2019/9/25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2019/9/25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25BD1462-57C0-4459-9390-560953396E85}" type="datetimeFigureOut">
              <a:rPr lang="zh-TW" altLang="en-US" smtClean="0"/>
              <a:pPr/>
              <a:t>2019/9/25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5BD1462-57C0-4459-9390-560953396E85}" type="datetimeFigureOut">
              <a:rPr lang="zh-TW" altLang="en-US" smtClean="0"/>
              <a:pPr/>
              <a:t>2019/9/25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5BD1462-57C0-4459-9390-560953396E85}" type="datetimeFigureOut">
              <a:rPr lang="zh-TW" altLang="en-US" smtClean="0"/>
              <a:pPr/>
              <a:t>2019/9/25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2019/9/25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2019/9/25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2019/9/25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2019/9/25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BD1462-57C0-4459-9390-560953396E85}" type="datetimeFigureOut">
              <a:rPr lang="zh-TW" altLang="en-US" smtClean="0"/>
              <a:pPr/>
              <a:t>2019/9/25</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9265B-D561-4CD1-972E-9E84754BEC82}"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2.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w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oleObject" Target="../embeddings/oleObject8.bin"/><Relationship Id="rId3" Type="http://schemas.openxmlformats.org/officeDocument/2006/relationships/oleObject" Target="../embeddings/oleObject3.bin"/><Relationship Id="rId7" Type="http://schemas.openxmlformats.org/officeDocument/2006/relationships/oleObject" Target="../embeddings/oleObject5.bin"/><Relationship Id="rId12" Type="http://schemas.openxmlformats.org/officeDocument/2006/relationships/image" Target="../media/image8.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5.wmf"/><Relationship Id="rId11" Type="http://schemas.openxmlformats.org/officeDocument/2006/relationships/oleObject" Target="../embeddings/oleObject7.bin"/><Relationship Id="rId5" Type="http://schemas.openxmlformats.org/officeDocument/2006/relationships/oleObject" Target="../embeddings/oleObject4.bin"/><Relationship Id="rId10" Type="http://schemas.openxmlformats.org/officeDocument/2006/relationships/image" Target="../media/image7.wmf"/><Relationship Id="rId4" Type="http://schemas.openxmlformats.org/officeDocument/2006/relationships/image" Target="../media/image4.wmf"/><Relationship Id="rId9" Type="http://schemas.openxmlformats.org/officeDocument/2006/relationships/oleObject" Target="../embeddings/oleObject6.bin"/><Relationship Id="rId14" Type="http://schemas.openxmlformats.org/officeDocument/2006/relationships/image" Target="../media/image9.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0.wmf"/><Relationship Id="rId4" Type="http://schemas.openxmlformats.org/officeDocument/2006/relationships/oleObject" Target="../embeddings/oleObject9.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13.png"/><Relationship Id="rId4" Type="http://schemas.openxmlformats.org/officeDocument/2006/relationships/image" Target="../media/image12.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5.png"/><Relationship Id="rId4" Type="http://schemas.openxmlformats.org/officeDocument/2006/relationships/image" Target="../media/image14.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7.png"/><Relationship Id="rId4" Type="http://schemas.openxmlformats.org/officeDocument/2006/relationships/image" Target="../media/image16.wmf"/></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zh.wikipedia.org/zh-tw/%E5%B7%B4%E6%96%AF%E5%85%8B%E7%B6%AD%E7%88%BE%E7%9A%84%E7%8D%B5%E7%8A%AC"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B6A882-00D3-47EF-9E00-5F5448FB3E79}"/>
              </a:ext>
            </a:extLst>
          </p:cNvPr>
          <p:cNvSpPr>
            <a:spLocks noGrp="1"/>
          </p:cNvSpPr>
          <p:nvPr>
            <p:ph type="ctrTitle"/>
          </p:nvPr>
        </p:nvSpPr>
        <p:spPr>
          <a:xfrm>
            <a:off x="654342" y="1715999"/>
            <a:ext cx="7890145" cy="649317"/>
          </a:xfrm>
        </p:spPr>
        <p:txBody>
          <a:bodyPr>
            <a:noAutofit/>
          </a:bodyPr>
          <a:lstStyle/>
          <a:p>
            <a:r>
              <a:rPr lang="en-US" altLang="zh-TW" sz="3200" dirty="0">
                <a:latin typeface="Times New Roman" pitchFamily="18" charset="0"/>
                <a:cs typeface="Times New Roman" pitchFamily="18" charset="0"/>
              </a:rPr>
              <a:t>Indexed Dynamic Programming to Boost Edit Distance and LCSS Computation</a:t>
            </a:r>
          </a:p>
        </p:txBody>
      </p:sp>
      <p:sp>
        <p:nvSpPr>
          <p:cNvPr id="3" name="副標題 2">
            <a:extLst>
              <a:ext uri="{FF2B5EF4-FFF2-40B4-BE49-F238E27FC236}">
                <a16:creationId xmlns:a16="http://schemas.microsoft.com/office/drawing/2014/main" id="{7DA53B5D-3737-4D8B-A009-A9D02CAEE169}"/>
              </a:ext>
            </a:extLst>
          </p:cNvPr>
          <p:cNvSpPr>
            <a:spLocks noGrp="1"/>
          </p:cNvSpPr>
          <p:nvPr>
            <p:ph type="subTitle" idx="1"/>
          </p:nvPr>
        </p:nvSpPr>
        <p:spPr>
          <a:xfrm>
            <a:off x="1142999" y="3003984"/>
            <a:ext cx="6858000" cy="425017"/>
          </a:xfrm>
        </p:spPr>
        <p:txBody>
          <a:bodyPr>
            <a:noAutofit/>
          </a:bodyPr>
          <a:lstStyle/>
          <a:p>
            <a:pPr fontAlgn="ctr"/>
            <a:r>
              <a:rPr lang="en-US" altLang="zh-TW" sz="2000" dirty="0" err="1">
                <a:solidFill>
                  <a:schemeClr val="tx1"/>
                </a:solidFill>
                <a:latin typeface="Times New Roman" pitchFamily="18" charset="0"/>
                <a:cs typeface="Times New Roman" pitchFamily="18" charset="0"/>
              </a:rPr>
              <a:t>Jérémy</a:t>
            </a:r>
            <a:r>
              <a:rPr lang="en-US" altLang="zh-TW" sz="2000" dirty="0">
                <a:solidFill>
                  <a:schemeClr val="tx1"/>
                </a:solidFill>
                <a:latin typeface="Times New Roman" pitchFamily="18" charset="0"/>
                <a:cs typeface="Times New Roman" pitchFamily="18" charset="0"/>
              </a:rPr>
              <a:t> </a:t>
            </a:r>
            <a:r>
              <a:rPr lang="en-US" altLang="zh-TW" sz="2000" dirty="0" err="1">
                <a:solidFill>
                  <a:schemeClr val="tx1"/>
                </a:solidFill>
                <a:latin typeface="Times New Roman" pitchFamily="18" charset="0"/>
                <a:cs typeface="Times New Roman" pitchFamily="18" charset="0"/>
              </a:rPr>
              <a:t>Barbay</a:t>
            </a:r>
            <a:r>
              <a:rPr lang="en-US" altLang="zh-TW" sz="2000" dirty="0">
                <a:solidFill>
                  <a:schemeClr val="tx1"/>
                </a:solidFill>
                <a:latin typeface="Times New Roman" pitchFamily="18" charset="0"/>
                <a:cs typeface="Times New Roman" pitchFamily="18" charset="0"/>
              </a:rPr>
              <a:t>, Andrés Olivares</a:t>
            </a:r>
          </a:p>
          <a:p>
            <a:pPr fontAlgn="ctr"/>
            <a:endParaRPr lang="en-US" altLang="zh-TW" dirty="0"/>
          </a:p>
        </p:txBody>
      </p:sp>
      <p:sp>
        <p:nvSpPr>
          <p:cNvPr id="8" name="文字方塊 7">
            <a:extLst>
              <a:ext uri="{FF2B5EF4-FFF2-40B4-BE49-F238E27FC236}">
                <a16:creationId xmlns:a16="http://schemas.microsoft.com/office/drawing/2014/main" id="{8F2527E8-BB8F-41FB-8AF1-03DCC96BC069}"/>
              </a:ext>
            </a:extLst>
          </p:cNvPr>
          <p:cNvSpPr txBox="1"/>
          <p:nvPr/>
        </p:nvSpPr>
        <p:spPr>
          <a:xfrm>
            <a:off x="1145012" y="3873343"/>
            <a:ext cx="6428363" cy="1538883"/>
          </a:xfrm>
          <a:prstGeom prst="rect">
            <a:avLst/>
          </a:prstGeom>
          <a:noFill/>
        </p:spPr>
        <p:txBody>
          <a:bodyPr wrap="none" rtlCol="0">
            <a:spAutoFit/>
          </a:bodyPr>
          <a:lstStyle/>
          <a:p>
            <a:pPr algn="ctr"/>
            <a:r>
              <a:rPr lang="en-US" altLang="zh-TW" sz="2400" dirty="0">
                <a:latin typeface="Times New Roman" panose="02020603050405020304" pitchFamily="18" charset="0"/>
                <a:cs typeface="Times New Roman" panose="02020603050405020304" pitchFamily="18" charset="0"/>
              </a:rPr>
              <a:t>Proceedings of </a:t>
            </a:r>
            <a:r>
              <a:rPr lang="en-US" sz="2400" dirty="0">
                <a:latin typeface="Times New Roman" panose="02020603050405020304" pitchFamily="18" charset="0"/>
                <a:cs typeface="Times New Roman" panose="02020603050405020304" pitchFamily="18" charset="0"/>
              </a:rPr>
              <a:t>International Symposium on String</a:t>
            </a:r>
          </a:p>
          <a:p>
            <a:pPr algn="ctr"/>
            <a:r>
              <a:rPr lang="en-US" sz="2400" dirty="0">
                <a:latin typeface="Times New Roman" panose="02020603050405020304" pitchFamily="18" charset="0"/>
                <a:cs typeface="Times New Roman" panose="02020603050405020304" pitchFamily="18" charset="0"/>
              </a:rPr>
              <a:t> Processing and Information Retrieval</a:t>
            </a:r>
          </a:p>
          <a:p>
            <a:pPr algn="ctr"/>
            <a:r>
              <a:rPr lang="en-US" sz="2400" dirty="0">
                <a:latin typeface="Times New Roman" panose="02020603050405020304" pitchFamily="18" charset="0"/>
                <a:cs typeface="Times New Roman" panose="02020603050405020304" pitchFamily="18" charset="0"/>
              </a:rPr>
              <a:t>Lima, Peru, 9-11 October</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2018</a:t>
            </a:r>
            <a:r>
              <a:rPr lang="en-US" sz="2400" dirty="0">
                <a:latin typeface="Times New Roman" panose="02020603050405020304" pitchFamily="18" charset="0"/>
                <a:cs typeface="Times New Roman" panose="02020603050405020304" pitchFamily="18" charset="0"/>
              </a:rPr>
              <a:t>, pp. 61-73</a:t>
            </a:r>
          </a:p>
          <a:p>
            <a:pPr algn="ctr"/>
            <a:endParaRPr lang="en-US" altLang="zh-TW" sz="2200" dirty="0">
              <a:latin typeface="+mj-lt"/>
              <a:cs typeface="Times New Roman" pitchFamily="18" charset="0"/>
            </a:endParaRPr>
          </a:p>
        </p:txBody>
      </p:sp>
      <p:sp>
        <p:nvSpPr>
          <p:cNvPr id="9" name="文字方塊 8">
            <a:extLst>
              <a:ext uri="{FF2B5EF4-FFF2-40B4-BE49-F238E27FC236}">
                <a16:creationId xmlns:a16="http://schemas.microsoft.com/office/drawing/2014/main" id="{6BC92671-3184-4146-A361-F82079153C2E}"/>
              </a:ext>
            </a:extLst>
          </p:cNvPr>
          <p:cNvSpPr txBox="1"/>
          <p:nvPr/>
        </p:nvSpPr>
        <p:spPr>
          <a:xfrm>
            <a:off x="5580112" y="5357171"/>
            <a:ext cx="3375796"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Yuan-Hsiu Tsai</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52A0654C-2F84-4026-9FCF-04C8DF590D5F}"/>
              </a:ext>
            </a:extLst>
          </p:cNvPr>
          <p:cNvSpPr txBox="1"/>
          <p:nvPr/>
        </p:nvSpPr>
        <p:spPr>
          <a:xfrm>
            <a:off x="5652120" y="5824855"/>
            <a:ext cx="2704587" cy="461665"/>
          </a:xfrm>
          <a:prstGeom prst="rect">
            <a:avLst/>
          </a:prstGeom>
          <a:noFill/>
        </p:spPr>
        <p:txBody>
          <a:bodyPr wrap="none" rtlCol="0">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t>Date: Sept. 25, 2019</a:t>
            </a:r>
            <a:endParaRPr lang="zh-TW" altLang="en-US" dirty="0"/>
          </a:p>
        </p:txBody>
      </p:sp>
    </p:spTree>
    <p:extLst>
      <p:ext uri="{BB962C8B-B14F-4D97-AF65-F5344CB8AC3E}">
        <p14:creationId xmlns:p14="http://schemas.microsoft.com/office/powerpoint/2010/main" val="3557049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17647"/>
            <a:ext cx="9004993" cy="5347657"/>
          </a:xfrm>
        </p:spPr>
        <p:txBody>
          <a:bodyPr>
            <a:noAutofit/>
          </a:bodyPr>
          <a:lstStyle/>
          <a:p>
            <a:pPr marL="0" indent="0">
              <a:lnSpc>
                <a:spcPts val="3200"/>
              </a:lnSpc>
              <a:buNone/>
            </a:pPr>
            <a:r>
              <a:rPr lang="en-US" altLang="zh-TW" sz="2800" dirty="0">
                <a:latin typeface="Times New Roman" pitchFamily="18" charset="0"/>
                <a:cs typeface="Times New Roman" pitchFamily="18" charset="0"/>
              </a:rPr>
              <a:t>There are efficient dynamic programming solutions to the computation of the Edit Distance from                to                , for many natural subsets of edit operations, typically in time within </a:t>
            </a:r>
            <a:r>
              <a:rPr lang="en-US" altLang="zh-TW" sz="2800" i="1" dirty="0">
                <a:latin typeface="Times New Roman" pitchFamily="18" charset="0"/>
                <a:cs typeface="Times New Roman" pitchFamily="18" charset="0"/>
              </a:rPr>
              <a:t>O</a:t>
            </a:r>
            <a:r>
              <a:rPr lang="en-US" altLang="zh-TW" sz="2800" dirty="0">
                <a:latin typeface="Times New Roman" pitchFamily="18" charset="0"/>
                <a:cs typeface="Times New Roman" pitchFamily="18" charset="0"/>
              </a:rPr>
              <a:t>(</a:t>
            </a:r>
            <a:r>
              <a:rPr lang="en-US" altLang="zh-TW" sz="2800" i="1" dirty="0">
                <a:latin typeface="Times New Roman" pitchFamily="18" charset="0"/>
                <a:cs typeface="Times New Roman" pitchFamily="18" charset="0"/>
              </a:rPr>
              <a:t>nm</a:t>
            </a:r>
            <a:r>
              <a:rPr lang="en-US" altLang="zh-TW" sz="2800" dirty="0">
                <a:latin typeface="Times New Roman" pitchFamily="18" charset="0"/>
                <a:cs typeface="Times New Roman" pitchFamily="18" charset="0"/>
              </a:rPr>
              <a:t>) in the worst-case over strings of respective lengths </a:t>
            </a:r>
            <a:r>
              <a:rPr lang="en-US" altLang="zh-TW" sz="2800" i="1" dirty="0">
                <a:latin typeface="Times New Roman" pitchFamily="18" charset="0"/>
                <a:cs typeface="Times New Roman" pitchFamily="18" charset="0"/>
              </a:rPr>
              <a:t>n</a:t>
            </a:r>
            <a:r>
              <a:rPr lang="en-US" altLang="zh-TW" sz="2800" dirty="0">
                <a:latin typeface="Times New Roman" pitchFamily="18" charset="0"/>
                <a:cs typeface="Times New Roman" pitchFamily="18" charset="0"/>
              </a:rPr>
              <a:t> and </a:t>
            </a:r>
            <a:r>
              <a:rPr lang="en-US" altLang="zh-TW" sz="2800" i="1" dirty="0">
                <a:latin typeface="Times New Roman" pitchFamily="18" charset="0"/>
                <a:cs typeface="Times New Roman" pitchFamily="18" charset="0"/>
              </a:rPr>
              <a:t>m</a:t>
            </a:r>
            <a:r>
              <a:rPr lang="en-US" altLang="zh-TW" sz="2800" dirty="0">
                <a:latin typeface="Times New Roman" pitchFamily="18" charset="0"/>
                <a:cs typeface="Times New Roman" pitchFamily="18" charset="0"/>
              </a:rPr>
              <a:t> (which is likely to be optimal), and in time within O(</a:t>
            </a:r>
            <a:r>
              <a:rPr lang="en-US" altLang="zh-TW" sz="2800" dirty="0" err="1">
                <a:latin typeface="Times New Roman" pitchFamily="18" charset="0"/>
                <a:cs typeface="Times New Roman" pitchFamily="18" charset="0"/>
              </a:rPr>
              <a:t>n+m</a:t>
            </a:r>
            <a:r>
              <a:rPr lang="en-US" altLang="zh-TW" sz="2800" dirty="0">
                <a:latin typeface="Times New Roman" pitchFamily="18" charset="0"/>
                <a:cs typeface="Times New Roman" pitchFamily="18" charset="0"/>
              </a:rPr>
              <a:t>)O(</a:t>
            </a:r>
            <a:r>
              <a:rPr lang="en-US" altLang="zh-TW" sz="2800" dirty="0" err="1">
                <a:latin typeface="Times New Roman" pitchFamily="18" charset="0"/>
                <a:cs typeface="Times New Roman" pitchFamily="18" charset="0"/>
              </a:rPr>
              <a:t>n+m</a:t>
            </a:r>
            <a:r>
              <a:rPr lang="en-US" altLang="zh-TW" sz="2800" dirty="0">
                <a:latin typeface="Times New Roman" pitchFamily="18" charset="0"/>
                <a:cs typeface="Times New Roman" pitchFamily="18" charset="0"/>
              </a:rPr>
              <a:t>) in some special cases (e.g., disjoint alphabets). We describe how indexing the strings (in linear time), and using such an index to refine the recurrence formulas underlying the dynamic programs, yield faster algorithms in a variety of models, on a continuum of classes of instances of intermediate difficulty between the worst and the best case, thus refining the analysis beyond the worst case analysis. </a:t>
            </a:r>
            <a:endParaRPr lang="fr-FR" altLang="zh-TW" sz="2800" dirty="0">
              <a:latin typeface="Times New Roman" pitchFamily="18" charset="0"/>
              <a:cs typeface="Times New Roman" pitchFamily="18" charset="0"/>
            </a:endParaRPr>
          </a:p>
        </p:txBody>
      </p:sp>
      <p:graphicFrame>
        <p:nvGraphicFramePr>
          <p:cNvPr id="5" name="物件 4"/>
          <p:cNvGraphicFramePr>
            <a:graphicFrameLocks noChangeAspect="1"/>
          </p:cNvGraphicFramePr>
          <p:nvPr/>
        </p:nvGraphicFramePr>
        <p:xfrm>
          <a:off x="5704489" y="1209862"/>
          <a:ext cx="1387791" cy="576064"/>
        </p:xfrm>
        <a:graphic>
          <a:graphicData uri="http://schemas.openxmlformats.org/presentationml/2006/ole">
            <mc:AlternateContent xmlns:mc="http://schemas.openxmlformats.org/markup-compatibility/2006">
              <mc:Choice xmlns:v="urn:schemas-microsoft-com:vml" Requires="v">
                <p:oleObj spid="_x0000_s1031" name="Equation" r:id="rId4" imgW="672840" imgH="279360" progId="Equation.DSMT4">
                  <p:embed/>
                </p:oleObj>
              </mc:Choice>
              <mc:Fallback>
                <p:oleObj name="Equation" r:id="rId4" imgW="672840" imgH="279360" progId="Equation.DSMT4">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04489" y="1209862"/>
                        <a:ext cx="1387791" cy="5760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物件 5"/>
          <p:cNvGraphicFramePr>
            <a:graphicFrameLocks noChangeAspect="1"/>
          </p:cNvGraphicFramePr>
          <p:nvPr/>
        </p:nvGraphicFramePr>
        <p:xfrm>
          <a:off x="7500958" y="1209862"/>
          <a:ext cx="1413975" cy="576064"/>
        </p:xfrm>
        <a:graphic>
          <a:graphicData uri="http://schemas.openxmlformats.org/presentationml/2006/ole">
            <mc:AlternateContent xmlns:mc="http://schemas.openxmlformats.org/markup-compatibility/2006">
              <mc:Choice xmlns:v="urn:schemas-microsoft-com:vml" Requires="v">
                <p:oleObj spid="_x0000_s1032" name="Equation" r:id="rId6" imgW="685800" imgH="279360" progId="Equation.DSMT4">
                  <p:embed/>
                </p:oleObj>
              </mc:Choice>
              <mc:Fallback>
                <p:oleObj name="Equation" r:id="rId6" imgW="685800" imgH="279360" progId="Equation.DSMT4">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00958" y="1209862"/>
                        <a:ext cx="1413975" cy="5760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94483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774493"/>
            <a:ext cx="9004993" cy="5246795"/>
          </a:xfrm>
        </p:spPr>
        <p:txBody>
          <a:bodyPr>
            <a:noAutofit/>
          </a:bodyPr>
          <a:lstStyle/>
          <a:p>
            <a:pPr marL="0" indent="0">
              <a:lnSpc>
                <a:spcPts val="3200"/>
              </a:lnSpc>
              <a:buNone/>
            </a:pPr>
            <a:r>
              <a:rPr lang="en-US" altLang="zh-TW" sz="2800" dirty="0">
                <a:latin typeface="Times New Roman" pitchFamily="18" charset="0"/>
                <a:cs typeface="Times New Roman" pitchFamily="18" charset="0"/>
              </a:rPr>
              <a:t>As a side result, we describe similar properties for the computation of the Longest Common Sub Sequence LCSS(S,T)LCSS(S,T) between </a:t>
            </a:r>
            <a:r>
              <a:rPr lang="en-US" altLang="zh-TW" sz="2800" i="1" dirty="0">
                <a:latin typeface="Times New Roman" pitchFamily="18" charset="0"/>
                <a:cs typeface="Times New Roman" pitchFamily="18" charset="0"/>
              </a:rPr>
              <a:t>S</a:t>
            </a:r>
            <a:r>
              <a:rPr lang="en-US" altLang="zh-TW" sz="2800" dirty="0">
                <a:latin typeface="Times New Roman" pitchFamily="18" charset="0"/>
                <a:cs typeface="Times New Roman" pitchFamily="18" charset="0"/>
              </a:rPr>
              <a:t> and </a:t>
            </a:r>
            <a:r>
              <a:rPr lang="en-US" altLang="zh-TW" sz="2800" i="1" dirty="0">
                <a:latin typeface="Times New Roman" pitchFamily="18" charset="0"/>
                <a:cs typeface="Times New Roman" pitchFamily="18" charset="0"/>
              </a:rPr>
              <a:t>T</a:t>
            </a:r>
            <a:r>
              <a:rPr lang="en-US" altLang="zh-TW" sz="2800" dirty="0">
                <a:latin typeface="Times New Roman" pitchFamily="18" charset="0"/>
                <a:cs typeface="Times New Roman" pitchFamily="18" charset="0"/>
              </a:rPr>
              <a:t>, since it is a particular case of Edit Distance, and we discuss the application of similar algorithmic and analysis techniques for other dynamic programming solutions. More formally, we propose a parameterized analysis of the computational complexity of the Edit Distance for various sets of operators and of the Longest Common Sub Sequence in function of the area of the dynamic program matrix relevant to the computation.. </a:t>
            </a:r>
            <a:endParaRPr lang="fr-FR" altLang="zh-TW" sz="2800" dirty="0">
              <a:latin typeface="Times New Roman" pitchFamily="18" charset="0"/>
              <a:cs typeface="Times New Roman" pitchFamily="18" charset="0"/>
            </a:endParaRPr>
          </a:p>
        </p:txBody>
      </p:sp>
    </p:spTree>
    <p:extLst>
      <p:ext uri="{BB962C8B-B14F-4D97-AF65-F5344CB8AC3E}">
        <p14:creationId xmlns:p14="http://schemas.microsoft.com/office/powerpoint/2010/main" val="3994483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a:latin typeface="Times New Roman" pitchFamily="18" charset="0"/>
                <a:cs typeface="Times New Roman" pitchFamily="18" charset="0"/>
              </a:rPr>
              <a:t>Edit Distance  : </a:t>
            </a:r>
          </a:p>
          <a:p>
            <a:pPr lvl="1">
              <a:buNone/>
            </a:pPr>
            <a:r>
              <a:rPr lang="en-US" altLang="zh-TW" dirty="0">
                <a:latin typeface="Times New Roman" pitchFamily="18" charset="0"/>
                <a:cs typeface="Times New Roman" pitchFamily="18" charset="0"/>
              </a:rPr>
              <a:t>Edit Distance is the minimum number of such operations required to transform the string S into the string T.</a:t>
            </a:r>
          </a:p>
          <a:p>
            <a:pPr lvl="1">
              <a:buNone/>
            </a:pPr>
            <a:endParaRPr lang="en-US" altLang="zh-TW" dirty="0">
              <a:latin typeface="Times New Roman" pitchFamily="18" charset="0"/>
              <a:cs typeface="Times New Roman" pitchFamily="18" charset="0"/>
            </a:endParaRPr>
          </a:p>
          <a:p>
            <a:pPr lvl="1">
              <a:buNone/>
            </a:pPr>
            <a:r>
              <a:rPr lang="zh-TW" altLang="en-US" dirty="0">
                <a:latin typeface="標楷體" pitchFamily="65" charset="-120"/>
                <a:ea typeface="標楷體" pitchFamily="65" charset="-120"/>
                <a:cs typeface="Times New Roman" pitchFamily="18" charset="0"/>
              </a:rPr>
              <a:t>即 將可執行的指令以最少的次數，將字串</a:t>
            </a:r>
            <a:r>
              <a:rPr lang="en-US" altLang="zh-TW" dirty="0">
                <a:latin typeface="標楷體" pitchFamily="65" charset="-120"/>
                <a:ea typeface="標楷體" pitchFamily="65" charset="-120"/>
                <a:cs typeface="Times New Roman" pitchFamily="18" charset="0"/>
              </a:rPr>
              <a:t>S</a:t>
            </a:r>
            <a:r>
              <a:rPr lang="zh-TW" altLang="en-US" dirty="0">
                <a:latin typeface="標楷體" pitchFamily="65" charset="-120"/>
                <a:ea typeface="標楷體" pitchFamily="65" charset="-120"/>
                <a:cs typeface="Times New Roman" pitchFamily="18" charset="0"/>
              </a:rPr>
              <a:t> 轉換成 字串</a:t>
            </a:r>
            <a:r>
              <a:rPr lang="en-US" altLang="zh-TW" dirty="0">
                <a:latin typeface="標楷體" pitchFamily="65" charset="-120"/>
                <a:ea typeface="標楷體" pitchFamily="65" charset="-120"/>
                <a:cs typeface="Times New Roman" pitchFamily="18" charset="0"/>
              </a:rPr>
              <a:t>T</a:t>
            </a:r>
          </a:p>
          <a:p>
            <a:endParaRPr lang="zh-TW" altLang="en-US"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600200"/>
            <a:ext cx="8229600" cy="4757758"/>
          </a:xfrm>
        </p:spPr>
        <p:txBody>
          <a:bodyPr/>
          <a:lstStyle/>
          <a:p>
            <a:pPr marL="342900" lvl="1" indent="-342900">
              <a:buFont typeface="Arial" pitchFamily="34" charset="0"/>
              <a:buChar char="•"/>
            </a:pPr>
            <a:r>
              <a:rPr lang="en-US" altLang="zh-TW" dirty="0">
                <a:latin typeface="Times New Roman" pitchFamily="18" charset="0"/>
                <a:ea typeface="標楷體" pitchFamily="65" charset="-120"/>
                <a:cs typeface="Times New Roman" pitchFamily="18" charset="0"/>
              </a:rPr>
              <a:t>Traditional Edit Distance</a:t>
            </a:r>
          </a:p>
          <a:p>
            <a:pPr marL="342900" lvl="1" indent="-342900">
              <a:buNone/>
            </a:pPr>
            <a:r>
              <a:rPr lang="en-US" altLang="zh-TW" dirty="0">
                <a:latin typeface="Times New Roman" pitchFamily="18" charset="0"/>
                <a:ea typeface="標楷體" pitchFamily="65" charset="-120"/>
                <a:cs typeface="Times New Roman" pitchFamily="18" charset="0"/>
              </a:rPr>
              <a:t>	 &lt;INSERT DELETE Edit Distance &gt;  :</a:t>
            </a:r>
          </a:p>
          <a:p>
            <a:pPr marL="342900" lvl="1" indent="-342900">
              <a:buNone/>
            </a:pPr>
            <a:r>
              <a:rPr lang="en-US" altLang="zh-TW" dirty="0">
                <a:latin typeface="Times New Roman" pitchFamily="18" charset="0"/>
                <a:ea typeface="標楷體" pitchFamily="65" charset="-120"/>
                <a:cs typeface="Times New Roman" pitchFamily="18" charset="0"/>
              </a:rPr>
              <a:t>	S = </a:t>
            </a:r>
            <a:r>
              <a:rPr lang="en-US" altLang="zh-TW" dirty="0" err="1">
                <a:latin typeface="Times New Roman" pitchFamily="18" charset="0"/>
                <a:ea typeface="標楷體" pitchFamily="65" charset="-120"/>
                <a:cs typeface="Times New Roman" pitchFamily="18" charset="0"/>
              </a:rPr>
              <a:t>aattcc</a:t>
            </a:r>
            <a:endParaRPr lang="en-US" altLang="zh-TW" dirty="0">
              <a:latin typeface="Times New Roman" pitchFamily="18" charset="0"/>
              <a:ea typeface="標楷體" pitchFamily="65" charset="-120"/>
              <a:cs typeface="Times New Roman" pitchFamily="18" charset="0"/>
            </a:endParaRPr>
          </a:p>
          <a:p>
            <a:pPr marL="342900" lvl="1" indent="-342900">
              <a:buNone/>
            </a:pPr>
            <a:r>
              <a:rPr lang="en-US" altLang="zh-TW" dirty="0">
                <a:latin typeface="Times New Roman" pitchFamily="18" charset="0"/>
                <a:ea typeface="標楷體" pitchFamily="65" charset="-120"/>
                <a:cs typeface="Times New Roman" pitchFamily="18" charset="0"/>
              </a:rPr>
              <a:t>	T = </a:t>
            </a:r>
            <a:r>
              <a:rPr lang="en-US" altLang="zh-TW" dirty="0" err="1">
                <a:latin typeface="Times New Roman" pitchFamily="18" charset="0"/>
                <a:ea typeface="標楷體" pitchFamily="65" charset="-120"/>
                <a:cs typeface="Times New Roman" pitchFamily="18" charset="0"/>
              </a:rPr>
              <a:t>attagg</a:t>
            </a:r>
            <a:endParaRPr lang="en-US" altLang="zh-TW" dirty="0">
              <a:latin typeface="Times New Roman" pitchFamily="18" charset="0"/>
              <a:ea typeface="標楷體" pitchFamily="65" charset="-120"/>
              <a:cs typeface="Times New Roman" pitchFamily="18" charset="0"/>
            </a:endParaRPr>
          </a:p>
          <a:p>
            <a:pPr marL="342900" lvl="1" indent="-342900">
              <a:buNone/>
            </a:pPr>
            <a:r>
              <a:rPr lang="en-US" altLang="zh-TW" dirty="0">
                <a:latin typeface="Times New Roman" pitchFamily="18" charset="0"/>
                <a:ea typeface="標楷體" pitchFamily="65" charset="-120"/>
                <a:cs typeface="Times New Roman" pitchFamily="18" charset="0"/>
              </a:rPr>
              <a:t>	LCS= </a:t>
            </a:r>
            <a:r>
              <a:rPr lang="en-US" altLang="zh-TW" dirty="0" err="1">
                <a:latin typeface="Times New Roman" pitchFamily="18" charset="0"/>
                <a:ea typeface="標楷體" pitchFamily="65" charset="-120"/>
                <a:cs typeface="Times New Roman" pitchFamily="18" charset="0"/>
              </a:rPr>
              <a:t>att</a:t>
            </a:r>
            <a:endParaRPr lang="en-US" altLang="zh-TW" dirty="0">
              <a:latin typeface="Times New Roman" pitchFamily="18" charset="0"/>
              <a:ea typeface="標楷體" pitchFamily="65" charset="-120"/>
              <a:cs typeface="Times New Roman" pitchFamily="18" charset="0"/>
            </a:endParaRPr>
          </a:p>
          <a:p>
            <a:pPr marL="342900" lvl="1" indent="-342900">
              <a:buNone/>
            </a:pPr>
            <a:r>
              <a:rPr lang="en-US" altLang="zh-TW" dirty="0">
                <a:latin typeface="Times New Roman" pitchFamily="18" charset="0"/>
                <a:ea typeface="標楷體" pitchFamily="65" charset="-120"/>
                <a:cs typeface="Times New Roman" pitchFamily="18" charset="0"/>
              </a:rPr>
              <a:t>	</a:t>
            </a:r>
            <a:r>
              <a:rPr lang="zh-TW" altLang="en-US" dirty="0">
                <a:latin typeface="Times New Roman" pitchFamily="18" charset="0"/>
                <a:ea typeface="標楷體" pitchFamily="65" charset="-120"/>
                <a:cs typeface="Times New Roman" pitchFamily="18" charset="0"/>
              </a:rPr>
              <a:t>對齊後： </a:t>
            </a:r>
            <a:r>
              <a:rPr lang="en-US" altLang="zh-TW" dirty="0">
                <a:latin typeface="Times New Roman" pitchFamily="18" charset="0"/>
                <a:ea typeface="標楷體" pitchFamily="65" charset="-120"/>
                <a:cs typeface="Times New Roman" pitchFamily="18" charset="0"/>
              </a:rPr>
              <a:t>S=a </a:t>
            </a:r>
            <a:r>
              <a:rPr lang="en-US" altLang="zh-TW" dirty="0" err="1">
                <a:solidFill>
                  <a:srgbClr val="FF0000"/>
                </a:solidFill>
                <a:latin typeface="Times New Roman" pitchFamily="18" charset="0"/>
                <a:ea typeface="標楷體" pitchFamily="65" charset="-120"/>
                <a:cs typeface="Times New Roman" pitchFamily="18" charset="0"/>
              </a:rPr>
              <a:t>a</a:t>
            </a:r>
            <a:r>
              <a:rPr lang="en-US" altLang="zh-TW" dirty="0">
                <a:latin typeface="Times New Roman" pitchFamily="18" charset="0"/>
                <a:ea typeface="標楷體" pitchFamily="65" charset="-120"/>
                <a:cs typeface="Times New Roman" pitchFamily="18" charset="0"/>
              </a:rPr>
              <a:t> t </a:t>
            </a:r>
            <a:r>
              <a:rPr lang="en-US" altLang="zh-TW" dirty="0" err="1">
                <a:latin typeface="Times New Roman" pitchFamily="18" charset="0"/>
                <a:ea typeface="標楷體" pitchFamily="65" charset="-120"/>
                <a:cs typeface="Times New Roman" pitchFamily="18" charset="0"/>
              </a:rPr>
              <a:t>t</a:t>
            </a:r>
            <a:r>
              <a:rPr lang="en-US" altLang="zh-TW" dirty="0">
                <a:latin typeface="Times New Roman" pitchFamily="18" charset="0"/>
                <a:ea typeface="標楷體" pitchFamily="65" charset="-120"/>
                <a:cs typeface="Times New Roman" pitchFamily="18" charset="0"/>
              </a:rPr>
              <a:t> </a:t>
            </a:r>
            <a:r>
              <a:rPr lang="en-US" altLang="zh-TW" dirty="0">
                <a:solidFill>
                  <a:srgbClr val="FF0000"/>
                </a:solidFill>
                <a:latin typeface="Times New Roman" pitchFamily="18" charset="0"/>
                <a:ea typeface="標楷體" pitchFamily="65" charset="-120"/>
                <a:cs typeface="Times New Roman" pitchFamily="18" charset="0"/>
              </a:rPr>
              <a:t>c</a:t>
            </a:r>
            <a:r>
              <a:rPr lang="en-US" altLang="zh-TW" dirty="0">
                <a:latin typeface="Times New Roman" pitchFamily="18" charset="0"/>
                <a:ea typeface="標楷體" pitchFamily="65" charset="-120"/>
                <a:cs typeface="Times New Roman" pitchFamily="18" charset="0"/>
              </a:rPr>
              <a:t> </a:t>
            </a:r>
            <a:r>
              <a:rPr lang="en-US" altLang="zh-TW" dirty="0" err="1">
                <a:solidFill>
                  <a:srgbClr val="FF0000"/>
                </a:solidFill>
                <a:latin typeface="Times New Roman" pitchFamily="18" charset="0"/>
                <a:ea typeface="標楷體" pitchFamily="65" charset="-120"/>
                <a:cs typeface="Times New Roman" pitchFamily="18" charset="0"/>
              </a:rPr>
              <a:t>c</a:t>
            </a:r>
            <a:r>
              <a:rPr lang="en-US" altLang="zh-TW" dirty="0">
                <a:latin typeface="Times New Roman" pitchFamily="18" charset="0"/>
                <a:ea typeface="標楷體" pitchFamily="65" charset="-120"/>
                <a:cs typeface="Times New Roman" pitchFamily="18" charset="0"/>
              </a:rPr>
              <a:t> _</a:t>
            </a:r>
            <a:r>
              <a:rPr lang="zh-TW" altLang="en-US" dirty="0">
                <a:latin typeface="Times New Roman" pitchFamily="18" charset="0"/>
                <a:ea typeface="標楷體" pitchFamily="65" charset="-120"/>
                <a:cs typeface="Times New Roman" pitchFamily="18" charset="0"/>
              </a:rPr>
              <a:t> </a:t>
            </a:r>
            <a:r>
              <a:rPr lang="en-US" altLang="zh-TW" dirty="0">
                <a:latin typeface="Times New Roman" pitchFamily="18" charset="0"/>
                <a:ea typeface="標楷體" pitchFamily="65" charset="-120"/>
                <a:cs typeface="Times New Roman" pitchFamily="18" charset="0"/>
              </a:rPr>
              <a:t> _</a:t>
            </a:r>
          </a:p>
          <a:p>
            <a:pPr marL="342900" lvl="1" indent="-342900">
              <a:buNone/>
            </a:pPr>
            <a:r>
              <a:rPr lang="en-US" altLang="zh-TW" dirty="0">
                <a:latin typeface="Times New Roman" pitchFamily="18" charset="0"/>
                <a:ea typeface="標楷體" pitchFamily="65" charset="-120"/>
                <a:cs typeface="Times New Roman" pitchFamily="18" charset="0"/>
              </a:rPr>
              <a:t>			T=a _ t </a:t>
            </a:r>
            <a:r>
              <a:rPr lang="en-US" altLang="zh-TW" dirty="0" err="1">
                <a:latin typeface="Times New Roman" pitchFamily="18" charset="0"/>
                <a:ea typeface="標楷體" pitchFamily="65" charset="-120"/>
                <a:cs typeface="Times New Roman" pitchFamily="18" charset="0"/>
              </a:rPr>
              <a:t>t</a:t>
            </a:r>
            <a:r>
              <a:rPr lang="en-US" altLang="zh-TW" dirty="0">
                <a:latin typeface="Times New Roman" pitchFamily="18" charset="0"/>
                <a:ea typeface="標楷體" pitchFamily="65" charset="-120"/>
                <a:cs typeface="Times New Roman" pitchFamily="18" charset="0"/>
              </a:rPr>
              <a:t> _ _ </a:t>
            </a:r>
            <a:r>
              <a:rPr lang="en-US" altLang="zh-TW" dirty="0">
                <a:solidFill>
                  <a:srgbClr val="0070C0"/>
                </a:solidFill>
                <a:latin typeface="Times New Roman" pitchFamily="18" charset="0"/>
                <a:ea typeface="標楷體" pitchFamily="65" charset="-120"/>
                <a:cs typeface="Times New Roman" pitchFamily="18" charset="0"/>
              </a:rPr>
              <a:t>g</a:t>
            </a:r>
            <a:r>
              <a:rPr lang="en-US" altLang="zh-TW" dirty="0">
                <a:latin typeface="Times New Roman" pitchFamily="18" charset="0"/>
                <a:ea typeface="標楷體" pitchFamily="65" charset="-120"/>
                <a:cs typeface="Times New Roman" pitchFamily="18" charset="0"/>
              </a:rPr>
              <a:t> </a:t>
            </a:r>
            <a:r>
              <a:rPr lang="zh-TW" altLang="en-US" dirty="0">
                <a:latin typeface="Times New Roman" pitchFamily="18" charset="0"/>
                <a:ea typeface="標楷體" pitchFamily="65" charset="-120"/>
                <a:cs typeface="Times New Roman" pitchFamily="18" charset="0"/>
              </a:rPr>
              <a:t> </a:t>
            </a:r>
            <a:r>
              <a:rPr lang="en-US" altLang="zh-TW" dirty="0">
                <a:solidFill>
                  <a:srgbClr val="0070C0"/>
                </a:solidFill>
                <a:latin typeface="Times New Roman" pitchFamily="18" charset="0"/>
                <a:ea typeface="標楷體" pitchFamily="65" charset="-120"/>
                <a:cs typeface="Times New Roman" pitchFamily="18" charset="0"/>
              </a:rPr>
              <a:t>g</a:t>
            </a:r>
          </a:p>
          <a:p>
            <a:pPr>
              <a:buNone/>
            </a:pPr>
            <a:r>
              <a:rPr lang="en-US" altLang="zh-TW" dirty="0">
                <a:latin typeface="Times New Roman" pitchFamily="18" charset="0"/>
                <a:ea typeface="標楷體" pitchFamily="65" charset="-120"/>
                <a:cs typeface="Times New Roman" pitchFamily="18" charset="0"/>
              </a:rPr>
              <a:t>	=&gt;Edit Distance d= 5</a:t>
            </a:r>
            <a:endParaRPr lang="zh-TW" altLang="en-US" dirty="0">
              <a:latin typeface="Times New Roman" pitchFamily="18" charset="0"/>
              <a:ea typeface="標楷體" pitchFamily="65" charset="-12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600200"/>
            <a:ext cx="8229600" cy="4757758"/>
          </a:xfrm>
        </p:spPr>
        <p:txBody>
          <a:bodyPr/>
          <a:lstStyle/>
          <a:p>
            <a:pPr marL="342900" lvl="1" indent="-342900">
              <a:buFont typeface="Arial" pitchFamily="34" charset="0"/>
              <a:buChar char="•"/>
            </a:pPr>
            <a:r>
              <a:rPr lang="en-US" altLang="zh-TW" dirty="0">
                <a:latin typeface="Times New Roman" pitchFamily="18" charset="0"/>
                <a:ea typeface="標楷體" pitchFamily="65" charset="-120"/>
                <a:cs typeface="Times New Roman" pitchFamily="18" charset="0"/>
              </a:rPr>
              <a:t>Standard Edit Distance</a:t>
            </a:r>
          </a:p>
          <a:p>
            <a:pPr marL="342900" lvl="1" indent="-342900">
              <a:buNone/>
            </a:pPr>
            <a:r>
              <a:rPr lang="en-US" altLang="zh-TW" dirty="0">
                <a:latin typeface="Times New Roman" pitchFamily="18" charset="0"/>
                <a:ea typeface="標楷體" pitchFamily="65" charset="-120"/>
                <a:cs typeface="Times New Roman" pitchFamily="18" charset="0"/>
              </a:rPr>
              <a:t>&lt;INSERT DELETE REPLACEMENT Edit Distance &gt; </a:t>
            </a:r>
          </a:p>
          <a:p>
            <a:pPr marL="342900" lvl="1" indent="-342900">
              <a:buNone/>
            </a:pPr>
            <a:r>
              <a:rPr lang="en-US" altLang="zh-TW" dirty="0">
                <a:latin typeface="Times New Roman" pitchFamily="18" charset="0"/>
                <a:ea typeface="標楷體" pitchFamily="65" charset="-120"/>
                <a:cs typeface="Times New Roman" pitchFamily="18" charset="0"/>
              </a:rPr>
              <a:t>	S = </a:t>
            </a:r>
            <a:r>
              <a:rPr lang="en-US" altLang="zh-TW" dirty="0" err="1">
                <a:latin typeface="Times New Roman" pitchFamily="18" charset="0"/>
                <a:ea typeface="標楷體" pitchFamily="65" charset="-120"/>
                <a:cs typeface="Times New Roman" pitchFamily="18" charset="0"/>
              </a:rPr>
              <a:t>aattcc</a:t>
            </a:r>
            <a:endParaRPr lang="en-US" altLang="zh-TW" dirty="0">
              <a:latin typeface="Times New Roman" pitchFamily="18" charset="0"/>
              <a:ea typeface="標楷體" pitchFamily="65" charset="-120"/>
              <a:cs typeface="Times New Roman" pitchFamily="18" charset="0"/>
            </a:endParaRPr>
          </a:p>
          <a:p>
            <a:pPr marL="342900" lvl="1" indent="-342900">
              <a:buNone/>
            </a:pPr>
            <a:r>
              <a:rPr lang="en-US" altLang="zh-TW" dirty="0">
                <a:latin typeface="Times New Roman" pitchFamily="18" charset="0"/>
                <a:ea typeface="標楷體" pitchFamily="65" charset="-120"/>
                <a:cs typeface="Times New Roman" pitchFamily="18" charset="0"/>
              </a:rPr>
              <a:t>	T = </a:t>
            </a:r>
            <a:r>
              <a:rPr lang="en-US" altLang="zh-TW" dirty="0" err="1">
                <a:latin typeface="Times New Roman" pitchFamily="18" charset="0"/>
                <a:ea typeface="標楷體" pitchFamily="65" charset="-120"/>
                <a:cs typeface="Times New Roman" pitchFamily="18" charset="0"/>
              </a:rPr>
              <a:t>attaggk</a:t>
            </a:r>
            <a:endParaRPr lang="en-US" altLang="zh-TW" dirty="0">
              <a:latin typeface="Times New Roman" pitchFamily="18" charset="0"/>
              <a:ea typeface="標楷體" pitchFamily="65" charset="-120"/>
              <a:cs typeface="Times New Roman" pitchFamily="18" charset="0"/>
            </a:endParaRPr>
          </a:p>
          <a:p>
            <a:pPr marL="342900" lvl="1" indent="-342900">
              <a:buNone/>
            </a:pPr>
            <a:r>
              <a:rPr lang="en-US" altLang="zh-TW" dirty="0">
                <a:latin typeface="Times New Roman" pitchFamily="18" charset="0"/>
                <a:ea typeface="標楷體" pitchFamily="65" charset="-120"/>
                <a:cs typeface="Times New Roman" pitchFamily="18" charset="0"/>
              </a:rPr>
              <a:t>	LCS= </a:t>
            </a:r>
            <a:r>
              <a:rPr lang="en-US" altLang="zh-TW" dirty="0" err="1">
                <a:latin typeface="Times New Roman" pitchFamily="18" charset="0"/>
                <a:ea typeface="標楷體" pitchFamily="65" charset="-120"/>
                <a:cs typeface="Times New Roman" pitchFamily="18" charset="0"/>
              </a:rPr>
              <a:t>att</a:t>
            </a:r>
            <a:endParaRPr lang="en-US" altLang="zh-TW" dirty="0">
              <a:latin typeface="Times New Roman" pitchFamily="18" charset="0"/>
              <a:ea typeface="標楷體" pitchFamily="65" charset="-120"/>
              <a:cs typeface="Times New Roman" pitchFamily="18" charset="0"/>
            </a:endParaRPr>
          </a:p>
          <a:p>
            <a:pPr marL="342900" lvl="1" indent="-342900">
              <a:buNone/>
            </a:pPr>
            <a:r>
              <a:rPr lang="en-US" altLang="zh-TW" dirty="0">
                <a:latin typeface="Times New Roman" pitchFamily="18" charset="0"/>
                <a:ea typeface="標楷體" pitchFamily="65" charset="-120"/>
                <a:cs typeface="Times New Roman" pitchFamily="18" charset="0"/>
              </a:rPr>
              <a:t>	</a:t>
            </a:r>
            <a:r>
              <a:rPr lang="zh-TW" altLang="en-US" dirty="0">
                <a:latin typeface="Times New Roman" pitchFamily="18" charset="0"/>
                <a:ea typeface="標楷體" pitchFamily="65" charset="-120"/>
                <a:cs typeface="Times New Roman" pitchFamily="18" charset="0"/>
              </a:rPr>
              <a:t>對齊後： </a:t>
            </a:r>
            <a:r>
              <a:rPr lang="en-US" altLang="zh-TW" dirty="0">
                <a:latin typeface="Times New Roman" pitchFamily="18" charset="0"/>
                <a:ea typeface="標楷體" pitchFamily="65" charset="-120"/>
                <a:cs typeface="Times New Roman" pitchFamily="18" charset="0"/>
              </a:rPr>
              <a:t>S=a </a:t>
            </a:r>
            <a:r>
              <a:rPr lang="en-US" altLang="zh-TW" dirty="0" err="1">
                <a:solidFill>
                  <a:srgbClr val="FF0000"/>
                </a:solidFill>
                <a:latin typeface="Times New Roman" pitchFamily="18" charset="0"/>
                <a:ea typeface="標楷體" pitchFamily="65" charset="-120"/>
                <a:cs typeface="Times New Roman" pitchFamily="18" charset="0"/>
              </a:rPr>
              <a:t>a</a:t>
            </a:r>
            <a:r>
              <a:rPr lang="en-US" altLang="zh-TW" dirty="0">
                <a:latin typeface="Times New Roman" pitchFamily="18" charset="0"/>
                <a:ea typeface="標楷體" pitchFamily="65" charset="-120"/>
                <a:cs typeface="Times New Roman" pitchFamily="18" charset="0"/>
              </a:rPr>
              <a:t> t </a:t>
            </a:r>
            <a:r>
              <a:rPr lang="en-US" altLang="zh-TW" dirty="0" err="1">
                <a:latin typeface="Times New Roman" pitchFamily="18" charset="0"/>
                <a:ea typeface="標楷體" pitchFamily="65" charset="-120"/>
                <a:cs typeface="Times New Roman" pitchFamily="18" charset="0"/>
              </a:rPr>
              <a:t>t</a:t>
            </a:r>
            <a:r>
              <a:rPr lang="en-US" altLang="zh-TW" dirty="0">
                <a:latin typeface="Times New Roman" pitchFamily="18" charset="0"/>
                <a:ea typeface="標楷體" pitchFamily="65" charset="-120"/>
                <a:cs typeface="Times New Roman" pitchFamily="18" charset="0"/>
              </a:rPr>
              <a:t> </a:t>
            </a:r>
            <a:r>
              <a:rPr lang="en-US" altLang="zh-TW" dirty="0">
                <a:solidFill>
                  <a:srgbClr val="0070C0"/>
                </a:solidFill>
                <a:latin typeface="Times New Roman" pitchFamily="18" charset="0"/>
                <a:ea typeface="標楷體" pitchFamily="65" charset="-120"/>
                <a:cs typeface="Times New Roman" pitchFamily="18" charset="0"/>
              </a:rPr>
              <a:t>c</a:t>
            </a:r>
            <a:r>
              <a:rPr lang="en-US" altLang="zh-TW" dirty="0">
                <a:latin typeface="Times New Roman" pitchFamily="18" charset="0"/>
                <a:ea typeface="標楷體" pitchFamily="65" charset="-120"/>
                <a:cs typeface="Times New Roman" pitchFamily="18" charset="0"/>
              </a:rPr>
              <a:t> </a:t>
            </a:r>
            <a:r>
              <a:rPr lang="en-US" altLang="zh-TW" dirty="0" err="1">
                <a:solidFill>
                  <a:srgbClr val="0070C0"/>
                </a:solidFill>
                <a:latin typeface="Times New Roman" pitchFamily="18" charset="0"/>
                <a:ea typeface="標楷體" pitchFamily="65" charset="-120"/>
                <a:cs typeface="Times New Roman" pitchFamily="18" charset="0"/>
              </a:rPr>
              <a:t>c</a:t>
            </a:r>
            <a:r>
              <a:rPr lang="en-US" altLang="zh-TW" dirty="0">
                <a:solidFill>
                  <a:srgbClr val="FF0000"/>
                </a:solidFill>
                <a:latin typeface="Times New Roman" pitchFamily="18" charset="0"/>
                <a:ea typeface="標楷體" pitchFamily="65" charset="-120"/>
                <a:cs typeface="Times New Roman" pitchFamily="18" charset="0"/>
              </a:rPr>
              <a:t>  </a:t>
            </a:r>
            <a:r>
              <a:rPr lang="en-US" altLang="zh-TW" dirty="0">
                <a:latin typeface="Times New Roman" pitchFamily="18" charset="0"/>
                <a:ea typeface="標楷體" pitchFamily="65" charset="-120"/>
                <a:cs typeface="Times New Roman" pitchFamily="18" charset="0"/>
              </a:rPr>
              <a:t>_</a:t>
            </a:r>
            <a:endParaRPr lang="en-US" altLang="zh-TW" dirty="0">
              <a:solidFill>
                <a:srgbClr val="00B050"/>
              </a:solidFill>
              <a:latin typeface="Times New Roman" pitchFamily="18" charset="0"/>
              <a:ea typeface="標楷體" pitchFamily="65" charset="-120"/>
              <a:cs typeface="Times New Roman" pitchFamily="18" charset="0"/>
            </a:endParaRPr>
          </a:p>
          <a:p>
            <a:pPr marL="342900" lvl="1" indent="-342900">
              <a:buNone/>
            </a:pPr>
            <a:r>
              <a:rPr lang="en-US" altLang="zh-TW" dirty="0">
                <a:latin typeface="Times New Roman" pitchFamily="18" charset="0"/>
                <a:ea typeface="標楷體" pitchFamily="65" charset="-120"/>
                <a:cs typeface="Times New Roman" pitchFamily="18" charset="0"/>
              </a:rPr>
              <a:t>			T=a _ t </a:t>
            </a:r>
            <a:r>
              <a:rPr lang="en-US" altLang="zh-TW" dirty="0" err="1">
                <a:latin typeface="Times New Roman" pitchFamily="18" charset="0"/>
                <a:ea typeface="標楷體" pitchFamily="65" charset="-120"/>
                <a:cs typeface="Times New Roman" pitchFamily="18" charset="0"/>
              </a:rPr>
              <a:t>t</a:t>
            </a:r>
            <a:r>
              <a:rPr lang="en-US" altLang="zh-TW" dirty="0">
                <a:latin typeface="Times New Roman" pitchFamily="18" charset="0"/>
                <a:ea typeface="標楷體" pitchFamily="65" charset="-120"/>
                <a:cs typeface="Times New Roman" pitchFamily="18" charset="0"/>
              </a:rPr>
              <a:t> </a:t>
            </a:r>
            <a:r>
              <a:rPr lang="en-US" altLang="zh-TW" dirty="0">
                <a:solidFill>
                  <a:srgbClr val="0070C0"/>
                </a:solidFill>
                <a:latin typeface="Times New Roman" pitchFamily="18" charset="0"/>
                <a:ea typeface="標楷體" pitchFamily="65" charset="-120"/>
                <a:cs typeface="Times New Roman" pitchFamily="18" charset="0"/>
              </a:rPr>
              <a:t>g</a:t>
            </a:r>
            <a:r>
              <a:rPr lang="zh-TW" altLang="en-US" dirty="0">
                <a:latin typeface="Times New Roman" pitchFamily="18" charset="0"/>
                <a:ea typeface="標楷體" pitchFamily="65" charset="-120"/>
                <a:cs typeface="Times New Roman" pitchFamily="18" charset="0"/>
              </a:rPr>
              <a:t> </a:t>
            </a:r>
            <a:r>
              <a:rPr lang="en-US" altLang="zh-TW" dirty="0">
                <a:solidFill>
                  <a:srgbClr val="0070C0"/>
                </a:solidFill>
                <a:latin typeface="Times New Roman" pitchFamily="18" charset="0"/>
                <a:ea typeface="標楷體" pitchFamily="65" charset="-120"/>
                <a:cs typeface="Times New Roman" pitchFamily="18" charset="0"/>
              </a:rPr>
              <a:t>g </a:t>
            </a:r>
            <a:r>
              <a:rPr lang="en-US" altLang="zh-TW" dirty="0">
                <a:solidFill>
                  <a:srgbClr val="00B050"/>
                </a:solidFill>
                <a:latin typeface="Times New Roman" pitchFamily="18" charset="0"/>
                <a:ea typeface="標楷體" pitchFamily="65" charset="-120"/>
                <a:cs typeface="Times New Roman" pitchFamily="18" charset="0"/>
              </a:rPr>
              <a:t>k</a:t>
            </a:r>
            <a:endParaRPr lang="en-US" altLang="zh-TW" dirty="0">
              <a:latin typeface="Times New Roman" pitchFamily="18" charset="0"/>
              <a:ea typeface="標楷體" pitchFamily="65" charset="-120"/>
              <a:cs typeface="Times New Roman" pitchFamily="18" charset="0"/>
            </a:endParaRPr>
          </a:p>
          <a:p>
            <a:pPr>
              <a:buNone/>
            </a:pPr>
            <a:r>
              <a:rPr lang="en-US" altLang="zh-TW" dirty="0">
                <a:latin typeface="Times New Roman" pitchFamily="18" charset="0"/>
                <a:ea typeface="標楷體" pitchFamily="65" charset="-120"/>
                <a:cs typeface="Times New Roman" pitchFamily="18" charset="0"/>
              </a:rPr>
              <a:t>	=&gt;Edit Distance d= 4</a:t>
            </a:r>
            <a:endParaRPr lang="zh-TW" altLang="en-US" dirty="0">
              <a:latin typeface="Times New Roman" pitchFamily="18" charset="0"/>
              <a:ea typeface="標楷體" pitchFamily="65" charset="-12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357174"/>
            <a:ext cx="8229600" cy="1143000"/>
          </a:xfrm>
        </p:spPr>
        <p:txBody>
          <a:bodyPr>
            <a:normAutofit fontScale="90000"/>
          </a:bodyPr>
          <a:lstStyle/>
          <a:p>
            <a:r>
              <a:rPr lang="en-US" altLang="zh-TW" dirty="0"/>
              <a:t>Summary of result for various combinations of operators from the basic set {</a:t>
            </a:r>
            <a:r>
              <a:rPr lang="en-US" altLang="zh-TW" dirty="0" err="1"/>
              <a:t>Insert,Delete,Replace,Swap</a:t>
            </a:r>
            <a:r>
              <a:rPr lang="en-US" altLang="zh-TW" dirty="0"/>
              <a:t>} </a:t>
            </a:r>
            <a:endParaRPr lang="zh-TW" altLang="en-US" dirty="0"/>
          </a:p>
        </p:txBody>
      </p:sp>
      <p:pic>
        <p:nvPicPr>
          <p:cNvPr id="4" name="內容版面配置區 3" descr="Edit_distance_1.png"/>
          <p:cNvPicPr>
            <a:picLocks noGrp="1" noChangeAspect="1"/>
          </p:cNvPicPr>
          <p:nvPr>
            <p:ph idx="1"/>
          </p:nvPr>
        </p:nvPicPr>
        <p:blipFill>
          <a:blip r:embed="rId2"/>
          <a:stretch>
            <a:fillRect/>
          </a:stretch>
        </p:blipFill>
        <p:spPr>
          <a:xfrm>
            <a:off x="-285784" y="1928802"/>
            <a:ext cx="10056144" cy="4326368"/>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214282" y="1571612"/>
            <a:ext cx="8472518" cy="4757758"/>
          </a:xfrm>
        </p:spPr>
        <p:txBody>
          <a:bodyPr>
            <a:normAutofit/>
          </a:bodyPr>
          <a:lstStyle/>
          <a:p>
            <a:pPr marL="342900" lvl="1" indent="-342900">
              <a:buFont typeface="Arial" pitchFamily="34" charset="0"/>
              <a:buChar char="•"/>
            </a:pPr>
            <a:r>
              <a:rPr lang="en-US" sz="2600" dirty="0">
                <a:latin typeface="Times New Roman" pitchFamily="18" charset="0"/>
                <a:cs typeface="Times New Roman" pitchFamily="18" charset="0"/>
              </a:rPr>
              <a:t>Parikh Vector</a:t>
            </a:r>
            <a:br>
              <a:rPr lang="en-US" sz="2600" dirty="0">
                <a:latin typeface="Times New Roman" pitchFamily="18" charset="0"/>
                <a:cs typeface="Times New Roman" pitchFamily="18" charset="0"/>
              </a:rPr>
            </a:br>
            <a:r>
              <a:rPr lang="en-US" sz="2600" dirty="0">
                <a:latin typeface="Times New Roman" pitchFamily="18" charset="0"/>
                <a:cs typeface="Times New Roman" pitchFamily="18" charset="0"/>
              </a:rPr>
              <a:t>Given positive integers σ and n, a string S ∈             , and the integers               such that         denotes the number of occurrences of the letter                  in the string S, the Parikh vector of S is defined as p(S)=(             ).</a:t>
            </a:r>
          </a:p>
          <a:p>
            <a:pPr marL="342900" lvl="1" indent="-342900">
              <a:buNone/>
            </a:pPr>
            <a:endParaRPr lang="en-US" altLang="zh-TW" dirty="0">
              <a:latin typeface="Times New Roman" pitchFamily="18" charset="0"/>
              <a:ea typeface="標楷體" pitchFamily="65" charset="-120"/>
              <a:cs typeface="Times New Roman" pitchFamily="18" charset="0"/>
            </a:endParaRPr>
          </a:p>
          <a:p>
            <a:pPr marL="342900" lvl="1" indent="-342900">
              <a:buFont typeface="Arial" pitchFamily="34" charset="0"/>
              <a:buChar char="•"/>
            </a:pPr>
            <a:r>
              <a:rPr lang="en-US" altLang="zh-TW" dirty="0">
                <a:latin typeface="Times New Roman" pitchFamily="18" charset="0"/>
                <a:ea typeface="標楷體" pitchFamily="65" charset="-120"/>
                <a:cs typeface="Times New Roman" pitchFamily="18" charset="0"/>
              </a:rPr>
              <a:t>Example</a:t>
            </a:r>
            <a:br>
              <a:rPr lang="en-US" altLang="zh-TW" dirty="0">
                <a:latin typeface="Times New Roman" pitchFamily="18" charset="0"/>
                <a:ea typeface="標楷體" pitchFamily="65" charset="-120"/>
                <a:cs typeface="Times New Roman" pitchFamily="18" charset="0"/>
              </a:rPr>
            </a:br>
            <a:r>
              <a:rPr lang="en-US" altLang="zh-TW" dirty="0">
                <a:latin typeface="Times New Roman" pitchFamily="18" charset="0"/>
                <a:ea typeface="標楷體" pitchFamily="65" charset="-120"/>
                <a:cs typeface="Times New Roman" pitchFamily="18" charset="0"/>
              </a:rPr>
              <a:t>	S = </a:t>
            </a:r>
            <a:r>
              <a:rPr lang="en-US" altLang="zh-TW" dirty="0" err="1">
                <a:latin typeface="Times New Roman" pitchFamily="18" charset="0"/>
                <a:ea typeface="標楷體" pitchFamily="65" charset="-120"/>
                <a:cs typeface="Times New Roman" pitchFamily="18" charset="0"/>
              </a:rPr>
              <a:t>abbbcc</a:t>
            </a:r>
            <a:r>
              <a:rPr lang="en-US" altLang="zh-TW" dirty="0">
                <a:latin typeface="Times New Roman" pitchFamily="18" charset="0"/>
                <a:ea typeface="標楷體" pitchFamily="65" charset="-120"/>
                <a:cs typeface="Times New Roman" pitchFamily="18" charset="0"/>
              </a:rPr>
              <a:t> 	[1..</a:t>
            </a:r>
            <a:r>
              <a:rPr lang="el-GR" altLang="zh-TW" dirty="0">
                <a:latin typeface="Times New Roman" pitchFamily="18" charset="0"/>
                <a:ea typeface="標楷體" pitchFamily="65" charset="-120"/>
                <a:cs typeface="Times New Roman" pitchFamily="18" charset="0"/>
              </a:rPr>
              <a:t> σ</a:t>
            </a:r>
            <a:r>
              <a:rPr lang="en-US" altLang="zh-TW" dirty="0">
                <a:latin typeface="Times New Roman" pitchFamily="18" charset="0"/>
                <a:ea typeface="標楷體" pitchFamily="65" charset="-120"/>
                <a:cs typeface="Times New Roman" pitchFamily="18" charset="0"/>
              </a:rPr>
              <a:t>]=[</a:t>
            </a:r>
            <a:r>
              <a:rPr lang="en-US" altLang="zh-TW" dirty="0" err="1">
                <a:latin typeface="Times New Roman" pitchFamily="18" charset="0"/>
                <a:ea typeface="標楷體" pitchFamily="65" charset="-120"/>
                <a:cs typeface="Times New Roman" pitchFamily="18" charset="0"/>
              </a:rPr>
              <a:t>a,b,c</a:t>
            </a:r>
            <a:r>
              <a:rPr lang="en-US" altLang="zh-TW" dirty="0">
                <a:latin typeface="Times New Roman" pitchFamily="18" charset="0"/>
                <a:ea typeface="標楷體" pitchFamily="65" charset="-120"/>
                <a:cs typeface="Times New Roman" pitchFamily="18" charset="0"/>
              </a:rPr>
              <a:t>]</a:t>
            </a:r>
          </a:p>
          <a:p>
            <a:pPr marL="342900" lvl="1" indent="-342900">
              <a:buNone/>
            </a:pPr>
            <a:r>
              <a:rPr lang="en-US" altLang="zh-TW" dirty="0">
                <a:latin typeface="Times New Roman" pitchFamily="18" charset="0"/>
                <a:ea typeface="標楷體" pitchFamily="65" charset="-120"/>
                <a:cs typeface="Times New Roman" pitchFamily="18" charset="0"/>
              </a:rPr>
              <a:t>		</a:t>
            </a:r>
            <a:r>
              <a:rPr lang="en-US" altLang="zh-TW" dirty="0">
                <a:latin typeface="Times New Roman" pitchFamily="18" charset="0"/>
                <a:ea typeface="標楷體" pitchFamily="65" charset="-120"/>
                <a:cs typeface="Times New Roman" pitchFamily="18" charset="0"/>
                <a:sym typeface="Wingdings" pitchFamily="2" charset="2"/>
              </a:rPr>
              <a:t>p</a:t>
            </a:r>
            <a:r>
              <a:rPr lang="en-US" altLang="zh-TW" dirty="0">
                <a:latin typeface="Times New Roman" pitchFamily="18" charset="0"/>
                <a:ea typeface="標楷體" pitchFamily="65" charset="-120"/>
                <a:cs typeface="Times New Roman" pitchFamily="18" charset="0"/>
              </a:rPr>
              <a:t>(S)=( 1,3,2)</a:t>
            </a:r>
          </a:p>
        </p:txBody>
      </p:sp>
      <p:graphicFrame>
        <p:nvGraphicFramePr>
          <p:cNvPr id="5" name="物件 4"/>
          <p:cNvGraphicFramePr>
            <a:graphicFrameLocks noChangeAspect="1"/>
          </p:cNvGraphicFramePr>
          <p:nvPr/>
        </p:nvGraphicFramePr>
        <p:xfrm>
          <a:off x="6553200" y="2862263"/>
          <a:ext cx="101600" cy="215900"/>
        </p:xfrm>
        <a:graphic>
          <a:graphicData uri="http://schemas.openxmlformats.org/presentationml/2006/ole">
            <mc:AlternateContent xmlns:mc="http://schemas.openxmlformats.org/markup-compatibility/2006">
              <mc:Choice xmlns:v="urn:schemas-microsoft-com:vml" Requires="v">
                <p:oleObj spid="_x0000_s17424" name="Equation" r:id="rId3" imgW="101520" imgH="215640" progId="Equation.DSMT4">
                  <p:embed/>
                </p:oleObj>
              </mc:Choice>
              <mc:Fallback>
                <p:oleObj name="Equation" r:id="rId3" imgW="101520" imgH="21564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200" y="2862263"/>
                        <a:ext cx="1016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物件 5"/>
          <p:cNvGraphicFramePr>
            <a:graphicFrameLocks noChangeAspect="1"/>
          </p:cNvGraphicFramePr>
          <p:nvPr/>
        </p:nvGraphicFramePr>
        <p:xfrm>
          <a:off x="6572264" y="1857364"/>
          <a:ext cx="910173" cy="571504"/>
        </p:xfrm>
        <a:graphic>
          <a:graphicData uri="http://schemas.openxmlformats.org/presentationml/2006/ole">
            <mc:AlternateContent xmlns:mc="http://schemas.openxmlformats.org/markup-compatibility/2006">
              <mc:Choice xmlns:v="urn:schemas-microsoft-com:vml" Requires="v">
                <p:oleObj spid="_x0000_s17425" name="Equation" r:id="rId5" imgW="545760" imgH="342720" progId="Equation.DSMT4">
                  <p:embed/>
                </p:oleObj>
              </mc:Choice>
              <mc:Fallback>
                <p:oleObj name="Equation" r:id="rId5" imgW="545760" imgH="342720" progId="Equation.DSMT4">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72264" y="1857364"/>
                        <a:ext cx="910173" cy="5715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物件 6"/>
          <p:cNvGraphicFramePr>
            <a:graphicFrameLocks noChangeAspect="1"/>
          </p:cNvGraphicFramePr>
          <p:nvPr/>
        </p:nvGraphicFramePr>
        <p:xfrm>
          <a:off x="2333613" y="2460620"/>
          <a:ext cx="952503" cy="396876"/>
        </p:xfrm>
        <a:graphic>
          <a:graphicData uri="http://schemas.openxmlformats.org/presentationml/2006/ole">
            <mc:AlternateContent xmlns:mc="http://schemas.openxmlformats.org/markup-compatibility/2006">
              <mc:Choice xmlns:v="urn:schemas-microsoft-com:vml" Requires="v">
                <p:oleObj spid="_x0000_s17426" name="Equation" r:id="rId7" imgW="609480" imgH="253800" progId="Equation.DSMT4">
                  <p:embed/>
                </p:oleObj>
              </mc:Choice>
              <mc:Fallback>
                <p:oleObj name="Equation" r:id="rId7" imgW="609480" imgH="25380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33613" y="2460620"/>
                        <a:ext cx="952503" cy="3968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物件 7"/>
          <p:cNvGraphicFramePr>
            <a:graphicFrameLocks noChangeAspect="1"/>
          </p:cNvGraphicFramePr>
          <p:nvPr/>
        </p:nvGraphicFramePr>
        <p:xfrm>
          <a:off x="4786314" y="2411008"/>
          <a:ext cx="357190" cy="446488"/>
        </p:xfrm>
        <a:graphic>
          <a:graphicData uri="http://schemas.openxmlformats.org/presentationml/2006/ole">
            <mc:AlternateContent xmlns:mc="http://schemas.openxmlformats.org/markup-compatibility/2006">
              <mc:Choice xmlns:v="urn:schemas-microsoft-com:vml" Requires="v">
                <p:oleObj spid="_x0000_s17427" name="Equation" r:id="rId9" imgW="203040" imgH="253800" progId="Equation.DSMT4">
                  <p:embed/>
                </p:oleObj>
              </mc:Choice>
              <mc:Fallback>
                <p:oleObj name="Equation" r:id="rId9" imgW="203040" imgH="253800" progId="Equation.DSMT4">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86314" y="2411008"/>
                        <a:ext cx="357190" cy="446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416" name="Object 8"/>
          <p:cNvGraphicFramePr>
            <a:graphicFrameLocks noChangeAspect="1"/>
          </p:cNvGraphicFramePr>
          <p:nvPr/>
        </p:nvGraphicFramePr>
        <p:xfrm>
          <a:off x="5786446" y="3175001"/>
          <a:ext cx="952500" cy="396875"/>
        </p:xfrm>
        <a:graphic>
          <a:graphicData uri="http://schemas.openxmlformats.org/presentationml/2006/ole">
            <mc:AlternateContent xmlns:mc="http://schemas.openxmlformats.org/markup-compatibility/2006">
              <mc:Choice xmlns:v="urn:schemas-microsoft-com:vml" Requires="v">
                <p:oleObj spid="_x0000_s17428" name="Equation" r:id="rId11" imgW="609480" imgH="253800" progId="Equation.DSMT4">
                  <p:embed/>
                </p:oleObj>
              </mc:Choice>
              <mc:Fallback>
                <p:oleObj name="Equation" r:id="rId11" imgW="609480" imgH="253800" progId="Equation.DSMT4">
                  <p:embed/>
                  <p:pic>
                    <p:nvPicPr>
                      <p:cNvPr id="0" name="Picture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86446" y="3175001"/>
                        <a:ext cx="952500" cy="396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物件 11"/>
          <p:cNvGraphicFramePr>
            <a:graphicFrameLocks noChangeAspect="1"/>
          </p:cNvGraphicFramePr>
          <p:nvPr/>
        </p:nvGraphicFramePr>
        <p:xfrm>
          <a:off x="4015536" y="2857496"/>
          <a:ext cx="1127968" cy="357190"/>
        </p:xfrm>
        <a:graphic>
          <a:graphicData uri="http://schemas.openxmlformats.org/presentationml/2006/ole">
            <mc:AlternateContent xmlns:mc="http://schemas.openxmlformats.org/markup-compatibility/2006">
              <mc:Choice xmlns:v="urn:schemas-microsoft-com:vml" Requires="v">
                <p:oleObj spid="_x0000_s17429" name="Equation" r:id="rId13" imgW="761760" imgH="241200" progId="Equation.DSMT4">
                  <p:embed/>
                </p:oleObj>
              </mc:Choice>
              <mc:Fallback>
                <p:oleObj name="Equation" r:id="rId13" imgW="761760" imgH="241200" progId="Equation.DSMT4">
                  <p:embed/>
                  <p:pic>
                    <p:nvPicPr>
                      <p:cNvPr id="0" name="Picture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15536" y="2857496"/>
                        <a:ext cx="1127968" cy="357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600200"/>
            <a:ext cx="8229600" cy="4757758"/>
          </a:xfrm>
        </p:spPr>
        <p:txBody>
          <a:bodyPr>
            <a:normAutofit/>
          </a:bodyPr>
          <a:lstStyle/>
          <a:p>
            <a:pPr marL="342900" lvl="1" indent="-342900">
              <a:buFont typeface="Arial" pitchFamily="34" charset="0"/>
              <a:buChar char="•"/>
            </a:pPr>
            <a:r>
              <a:rPr lang="en-US" altLang="zh-TW" dirty="0">
                <a:latin typeface="Times New Roman" pitchFamily="18" charset="0"/>
                <a:ea typeface="標楷體" pitchFamily="65" charset="-120"/>
                <a:cs typeface="Times New Roman" pitchFamily="18" charset="0"/>
              </a:rPr>
              <a:t>New operators</a:t>
            </a:r>
            <a:r>
              <a:rPr lang="zh-TW" altLang="en-US" dirty="0">
                <a:latin typeface="Times New Roman" pitchFamily="18" charset="0"/>
                <a:ea typeface="標楷體" pitchFamily="65" charset="-120"/>
                <a:cs typeface="Times New Roman" pitchFamily="18" charset="0"/>
              </a:rPr>
              <a:t>：</a:t>
            </a:r>
            <a:r>
              <a:rPr lang="en-US" altLang="zh-TW" dirty="0">
                <a:latin typeface="Times New Roman" pitchFamily="18" charset="0"/>
                <a:ea typeface="標楷體" pitchFamily="65" charset="-120"/>
                <a:cs typeface="Times New Roman" pitchFamily="18" charset="0"/>
              </a:rPr>
              <a:t>{Rank , Selection}</a:t>
            </a:r>
          </a:p>
          <a:p>
            <a:pPr marL="342900" lvl="1" indent="-342900">
              <a:buFont typeface="Arial" pitchFamily="34" charset="0"/>
              <a:buChar char="•"/>
            </a:pPr>
            <a:endParaRPr lang="en-US" altLang="zh-TW" dirty="0">
              <a:latin typeface="Times New Roman" pitchFamily="18" charset="0"/>
              <a:ea typeface="標楷體" pitchFamily="65" charset="-120"/>
              <a:cs typeface="Times New Roman" pitchFamily="18" charset="0"/>
            </a:endParaRPr>
          </a:p>
          <a:p>
            <a:pPr marL="342900" lvl="1" indent="-342900">
              <a:buNone/>
            </a:pPr>
            <a:r>
              <a:rPr lang="en-US" altLang="zh-TW" dirty="0">
                <a:latin typeface="Times New Roman" pitchFamily="18" charset="0"/>
                <a:ea typeface="標楷體" pitchFamily="65" charset="-120"/>
                <a:cs typeface="Times New Roman" pitchFamily="18" charset="0"/>
              </a:rPr>
              <a:t>Suppose X[1..i] is a string</a:t>
            </a:r>
          </a:p>
          <a:p>
            <a:pPr marL="342900" lvl="1" indent="-342900">
              <a:buFont typeface="Arial" pitchFamily="34" charset="0"/>
              <a:buChar char="•"/>
            </a:pPr>
            <a:r>
              <a:rPr lang="en-US" altLang="zh-TW" dirty="0">
                <a:latin typeface="Times New Roman" pitchFamily="18" charset="0"/>
                <a:ea typeface="標楷體" pitchFamily="65" charset="-120"/>
                <a:cs typeface="Times New Roman" pitchFamily="18" charset="0"/>
              </a:rPr>
              <a:t>rank (X , </a:t>
            </a:r>
            <a:r>
              <a:rPr lang="en-US" altLang="zh-TW" dirty="0" err="1">
                <a:latin typeface="Times New Roman" pitchFamily="18" charset="0"/>
                <a:ea typeface="標楷體" pitchFamily="65" charset="-120"/>
                <a:cs typeface="Times New Roman" pitchFamily="18" charset="0"/>
              </a:rPr>
              <a:t>i</a:t>
            </a:r>
            <a:r>
              <a:rPr lang="en-US" altLang="zh-TW" dirty="0">
                <a:latin typeface="Times New Roman" pitchFamily="18" charset="0"/>
                <a:ea typeface="標楷體" pitchFamily="65" charset="-120"/>
                <a:cs typeface="Times New Roman" pitchFamily="18" charset="0"/>
              </a:rPr>
              <a:t> , </a:t>
            </a:r>
            <a:r>
              <a:rPr lang="el-GR" altLang="zh-TW" dirty="0">
                <a:latin typeface="Times New Roman" pitchFamily="18" charset="0"/>
                <a:ea typeface="標楷體" pitchFamily="65" charset="-120"/>
                <a:cs typeface="Times New Roman" pitchFamily="18" charset="0"/>
              </a:rPr>
              <a:t>α</a:t>
            </a:r>
            <a:r>
              <a:rPr lang="en-US" altLang="zh-TW" dirty="0">
                <a:latin typeface="Times New Roman" pitchFamily="18" charset="0"/>
                <a:ea typeface="標楷體" pitchFamily="65" charset="-120"/>
                <a:cs typeface="Times New Roman" pitchFamily="18" charset="0"/>
              </a:rPr>
              <a:t>)</a:t>
            </a:r>
            <a:r>
              <a:rPr lang="zh-TW" altLang="en-US" dirty="0">
                <a:latin typeface="Times New Roman" pitchFamily="18" charset="0"/>
                <a:ea typeface="標楷體" pitchFamily="65" charset="-120"/>
                <a:cs typeface="Times New Roman" pitchFamily="18" charset="0"/>
              </a:rPr>
              <a:t>：</a:t>
            </a:r>
            <a:r>
              <a:rPr lang="en-US" dirty="0">
                <a:latin typeface="Times New Roman" pitchFamily="18" charset="0"/>
                <a:cs typeface="Times New Roman" pitchFamily="18" charset="0"/>
              </a:rPr>
              <a:t> the number of occurrences of the symbol  </a:t>
            </a:r>
            <a:r>
              <a:rPr lang="el-GR" altLang="zh-TW" dirty="0">
                <a:latin typeface="Times New Roman" pitchFamily="18" charset="0"/>
                <a:ea typeface="標楷體" pitchFamily="65" charset="-120"/>
                <a:cs typeface="Times New Roman" pitchFamily="18" charset="0"/>
              </a:rPr>
              <a:t>α</a:t>
            </a:r>
            <a:r>
              <a:rPr lang="en-US" altLang="zh-TW" dirty="0">
                <a:latin typeface="Times New Roman" pitchFamily="18" charset="0"/>
                <a:ea typeface="標楷體" pitchFamily="65" charset="-120"/>
                <a:cs typeface="Times New Roman" pitchFamily="18" charset="0"/>
              </a:rPr>
              <a:t> </a:t>
            </a:r>
            <a:r>
              <a:rPr lang="en-US" dirty="0">
                <a:latin typeface="Times New Roman" pitchFamily="18" charset="0"/>
                <a:cs typeface="Times New Roman" pitchFamily="18" charset="0"/>
              </a:rPr>
              <a:t> in the substring X[1..i]</a:t>
            </a:r>
          </a:p>
          <a:p>
            <a:pPr marL="342900" lvl="1" indent="-342900">
              <a:buFont typeface="Arial" pitchFamily="34" charset="0"/>
              <a:buChar char="•"/>
            </a:pPr>
            <a:endParaRPr lang="en-US" altLang="zh-TW" dirty="0">
              <a:latin typeface="Times New Roman" pitchFamily="18" charset="0"/>
              <a:ea typeface="標楷體" pitchFamily="65" charset="-120"/>
              <a:cs typeface="Times New Roman" pitchFamily="18" charset="0"/>
            </a:endParaRPr>
          </a:p>
          <a:p>
            <a:pPr marL="342900" lvl="1" indent="-342900">
              <a:buFont typeface="Arial" pitchFamily="34" charset="0"/>
              <a:buChar char="•"/>
            </a:pPr>
            <a:r>
              <a:rPr lang="en-US" altLang="zh-TW" dirty="0">
                <a:latin typeface="Times New Roman" pitchFamily="18" charset="0"/>
                <a:ea typeface="標楷體" pitchFamily="65" charset="-120"/>
                <a:cs typeface="Times New Roman" pitchFamily="18" charset="0"/>
              </a:rPr>
              <a:t>select(X , k , </a:t>
            </a:r>
            <a:r>
              <a:rPr lang="el-GR" altLang="zh-TW" dirty="0">
                <a:latin typeface="Times New Roman" pitchFamily="18" charset="0"/>
                <a:ea typeface="標楷體" pitchFamily="65" charset="-120"/>
                <a:cs typeface="Times New Roman" pitchFamily="18" charset="0"/>
              </a:rPr>
              <a:t>α</a:t>
            </a:r>
            <a:r>
              <a:rPr lang="en-US" altLang="zh-TW" dirty="0">
                <a:latin typeface="Times New Roman" pitchFamily="18" charset="0"/>
                <a:ea typeface="標楷體" pitchFamily="65" charset="-120"/>
                <a:cs typeface="Times New Roman" pitchFamily="18" charset="0"/>
              </a:rPr>
              <a:t>)</a:t>
            </a:r>
            <a:r>
              <a:rPr lang="zh-TW" altLang="en-US" dirty="0">
                <a:latin typeface="Times New Roman" pitchFamily="18" charset="0"/>
                <a:ea typeface="標楷體" pitchFamily="65" charset="-120"/>
                <a:cs typeface="Times New Roman" pitchFamily="18" charset="0"/>
              </a:rPr>
              <a:t>：</a:t>
            </a:r>
            <a:r>
              <a:rPr lang="en-US" dirty="0">
                <a:latin typeface="Times New Roman" pitchFamily="18" charset="0"/>
                <a:cs typeface="Times New Roman" pitchFamily="18" charset="0"/>
              </a:rPr>
              <a:t>the value j ∈ [1..|X|] such that the </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k-</a:t>
            </a:r>
            <a:r>
              <a:rPr lang="en-US" dirty="0" err="1">
                <a:latin typeface="Times New Roman" pitchFamily="18" charset="0"/>
                <a:cs typeface="Times New Roman" pitchFamily="18" charset="0"/>
              </a:rPr>
              <a:t>th</a:t>
            </a:r>
            <a:r>
              <a:rPr lang="en-US" dirty="0">
                <a:latin typeface="Times New Roman" pitchFamily="18" charset="0"/>
                <a:cs typeface="Times New Roman" pitchFamily="18" charset="0"/>
              </a:rPr>
              <a:t> occurrence of α in X is precisely at position j, if j exists. If j does not exist, then select(X, k, α) is null.</a:t>
            </a:r>
            <a:endParaRPr lang="en-US" altLang="zh-TW" dirty="0">
              <a:latin typeface="Times New Roman" pitchFamily="18" charset="0"/>
              <a:ea typeface="標楷體" pitchFamily="65" charset="-12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t>Algorithm- Classical</a:t>
            </a:r>
            <a:endParaRPr lang="zh-TW" altLang="en-US" dirty="0"/>
          </a:p>
        </p:txBody>
      </p:sp>
      <p:pic>
        <p:nvPicPr>
          <p:cNvPr id="5" name="內容版面配置區 4" descr="Edit_distance_3.png"/>
          <p:cNvPicPr>
            <a:picLocks noGrp="1" noChangeAspect="1"/>
          </p:cNvPicPr>
          <p:nvPr>
            <p:ph idx="1"/>
          </p:nvPr>
        </p:nvPicPr>
        <p:blipFill>
          <a:blip r:embed="rId3"/>
          <a:stretch>
            <a:fillRect/>
          </a:stretch>
        </p:blipFill>
        <p:spPr>
          <a:xfrm>
            <a:off x="0" y="1928802"/>
            <a:ext cx="9392800" cy="1857388"/>
          </a:xfrm>
        </p:spPr>
      </p:pic>
      <p:graphicFrame>
        <p:nvGraphicFramePr>
          <p:cNvPr id="7" name="物件 6"/>
          <p:cNvGraphicFramePr>
            <a:graphicFrameLocks noChangeAspect="1"/>
          </p:cNvGraphicFramePr>
          <p:nvPr/>
        </p:nvGraphicFramePr>
        <p:xfrm>
          <a:off x="285720" y="3805399"/>
          <a:ext cx="7000923" cy="909485"/>
        </p:xfrm>
        <a:graphic>
          <a:graphicData uri="http://schemas.openxmlformats.org/presentationml/2006/ole">
            <mc:AlternateContent xmlns:mc="http://schemas.openxmlformats.org/markup-compatibility/2006">
              <mc:Choice xmlns:v="urn:schemas-microsoft-com:vml" Requires="v">
                <p:oleObj spid="_x0000_s25605" name="Equation" r:id="rId4" imgW="4203360" imgH="545760" progId="Equation.DSMT4">
                  <p:embed/>
                </p:oleObj>
              </mc:Choice>
              <mc:Fallback>
                <p:oleObj name="Equation" r:id="rId4" imgW="4203360" imgH="545760" progId="Equation.DSMT4">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720" y="3805399"/>
                        <a:ext cx="7000923" cy="9094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t>Algorithm-</a:t>
            </a:r>
            <a:r>
              <a:rPr lang="en-US" dirty="0"/>
              <a:t>Adaptive</a:t>
            </a:r>
            <a:endParaRPr lang="zh-TW" altLang="en-US" dirty="0"/>
          </a:p>
        </p:txBody>
      </p:sp>
      <p:graphicFrame>
        <p:nvGraphicFramePr>
          <p:cNvPr id="7" name="物件 6"/>
          <p:cNvGraphicFramePr>
            <a:graphicFrameLocks noChangeAspect="1"/>
          </p:cNvGraphicFramePr>
          <p:nvPr/>
        </p:nvGraphicFramePr>
        <p:xfrm>
          <a:off x="361950" y="4368800"/>
          <a:ext cx="8377238" cy="2346325"/>
        </p:xfrm>
        <a:graphic>
          <a:graphicData uri="http://schemas.openxmlformats.org/presentationml/2006/ole">
            <mc:AlternateContent xmlns:mc="http://schemas.openxmlformats.org/markup-compatibility/2006">
              <mc:Choice xmlns:v="urn:schemas-microsoft-com:vml" Requires="v">
                <p:oleObj spid="_x0000_s26628" name="Equation" r:id="rId3" imgW="5029200" imgH="1409400" progId="Equation.DSMT4">
                  <p:embed/>
                </p:oleObj>
              </mc:Choice>
              <mc:Fallback>
                <p:oleObj name="Equation" r:id="rId3" imgW="5029200" imgH="140940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1950" y="4368800"/>
                        <a:ext cx="8377238" cy="2346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內容版面配置區 7" descr="Edit_distance_4.png"/>
          <p:cNvPicPr>
            <a:picLocks noGrp="1" noChangeAspect="1"/>
          </p:cNvPicPr>
          <p:nvPr>
            <p:ph idx="1"/>
          </p:nvPr>
        </p:nvPicPr>
        <p:blipFill>
          <a:blip r:embed="rId5"/>
          <a:stretch>
            <a:fillRect/>
          </a:stretch>
        </p:blipFill>
        <p:spPr>
          <a:xfrm>
            <a:off x="-1" y="1214422"/>
            <a:ext cx="9065305" cy="3214710"/>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71414"/>
            <a:ext cx="8229600" cy="1143000"/>
          </a:xfrm>
        </p:spPr>
        <p:txBody>
          <a:bodyPr>
            <a:normAutofit/>
          </a:bodyPr>
          <a:lstStyle/>
          <a:p>
            <a:pPr algn="l"/>
            <a:r>
              <a:rPr lang="en-US" altLang="zh-TW" dirty="0">
                <a:latin typeface="Times New Roman" pitchFamily="18" charset="0"/>
                <a:cs typeface="Times New Roman" pitchFamily="18" charset="0"/>
              </a:rPr>
              <a:t>Algorithm-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Levenshtein</a:t>
            </a:r>
            <a:r>
              <a:rPr lang="en-US" dirty="0">
                <a:latin typeface="Times New Roman" pitchFamily="18" charset="0"/>
                <a:cs typeface="Times New Roman" pitchFamily="18" charset="0"/>
              </a:rPr>
              <a:t> Distance</a:t>
            </a:r>
            <a:br>
              <a:rPr lang="en-US" dirty="0">
                <a:latin typeface="Times New Roman" pitchFamily="18" charset="0"/>
                <a:cs typeface="Times New Roman" pitchFamily="18" charset="0"/>
              </a:rPr>
            </a:br>
            <a:r>
              <a:rPr lang="en-US" sz="2000" dirty="0">
                <a:latin typeface="Times New Roman" pitchFamily="18" charset="0"/>
                <a:cs typeface="Times New Roman" pitchFamily="18" charset="0"/>
              </a:rPr>
              <a:t>		   	&lt;Delete Insert Replacement Edit Distance&gt;</a:t>
            </a:r>
            <a:endParaRPr lang="zh-TW" altLang="en-US" sz="2000" dirty="0">
              <a:latin typeface="Times New Roman" pitchFamily="18" charset="0"/>
              <a:cs typeface="Times New Roman" pitchFamily="18" charset="0"/>
            </a:endParaRPr>
          </a:p>
        </p:txBody>
      </p:sp>
      <p:graphicFrame>
        <p:nvGraphicFramePr>
          <p:cNvPr id="7" name="物件 6"/>
          <p:cNvGraphicFramePr>
            <a:graphicFrameLocks noChangeAspect="1"/>
          </p:cNvGraphicFramePr>
          <p:nvPr/>
        </p:nvGraphicFramePr>
        <p:xfrm>
          <a:off x="325438" y="4910138"/>
          <a:ext cx="7304087" cy="1947862"/>
        </p:xfrm>
        <a:graphic>
          <a:graphicData uri="http://schemas.openxmlformats.org/presentationml/2006/ole">
            <mc:AlternateContent xmlns:mc="http://schemas.openxmlformats.org/markup-compatibility/2006">
              <mc:Choice xmlns:v="urn:schemas-microsoft-com:vml" Requires="v">
                <p:oleObj spid="_x0000_s27652" name="Equation" r:id="rId3" imgW="5283000" imgH="1409400" progId="Equation.DSMT4">
                  <p:embed/>
                </p:oleObj>
              </mc:Choice>
              <mc:Fallback>
                <p:oleObj name="Equation" r:id="rId3" imgW="5283000" imgH="140940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5438" y="4910138"/>
                        <a:ext cx="7304087" cy="1947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內容版面配置區 5" descr="Edit_distance_5.png"/>
          <p:cNvPicPr>
            <a:picLocks noGrp="1" noChangeAspect="1"/>
          </p:cNvPicPr>
          <p:nvPr>
            <p:ph idx="1"/>
          </p:nvPr>
        </p:nvPicPr>
        <p:blipFill>
          <a:blip r:embed="rId5"/>
          <a:stretch>
            <a:fillRect/>
          </a:stretch>
        </p:blipFill>
        <p:spPr>
          <a:xfrm>
            <a:off x="214282" y="1142984"/>
            <a:ext cx="8229600" cy="3771538"/>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85736"/>
            <a:ext cx="8229600" cy="1143000"/>
          </a:xfrm>
        </p:spPr>
        <p:txBody>
          <a:bodyPr>
            <a:normAutofit/>
          </a:bodyPr>
          <a:lstStyle/>
          <a:p>
            <a:pPr algn="l"/>
            <a:r>
              <a:rPr lang="en-US" altLang="zh-TW" sz="3300" dirty="0">
                <a:latin typeface="Times New Roman" pitchFamily="18" charset="0"/>
                <a:cs typeface="Times New Roman" pitchFamily="18" charset="0"/>
              </a:rPr>
              <a:t>Algorithm-</a:t>
            </a:r>
            <a:r>
              <a:rPr lang="en-US" sz="3300" dirty="0">
                <a:latin typeface="Times New Roman" pitchFamily="18" charset="0"/>
                <a:cs typeface="Times New Roman" pitchFamily="18" charset="0"/>
              </a:rPr>
              <a:t> Delete Replacement Edit </a:t>
            </a:r>
            <a:r>
              <a:rPr lang="en-US" sz="3300" dirty="0" err="1">
                <a:latin typeface="Times New Roman" pitchFamily="18" charset="0"/>
                <a:cs typeface="Times New Roman" pitchFamily="18" charset="0"/>
              </a:rPr>
              <a:t>Disatance</a:t>
            </a:r>
            <a:br>
              <a:rPr lang="en-US" dirty="0">
                <a:latin typeface="Times New Roman" pitchFamily="18" charset="0"/>
                <a:cs typeface="Times New Roman" pitchFamily="18" charset="0"/>
              </a:rPr>
            </a:br>
            <a:r>
              <a:rPr lang="en-US" sz="2000" dirty="0">
                <a:latin typeface="Times New Roman" pitchFamily="18" charset="0"/>
                <a:cs typeface="Times New Roman" pitchFamily="18" charset="0"/>
              </a:rPr>
              <a:t>		   	</a:t>
            </a:r>
            <a:endParaRPr lang="zh-TW" altLang="en-US" sz="2000" dirty="0">
              <a:latin typeface="Times New Roman" pitchFamily="18" charset="0"/>
              <a:cs typeface="Times New Roman" pitchFamily="18" charset="0"/>
            </a:endParaRPr>
          </a:p>
        </p:txBody>
      </p:sp>
      <p:graphicFrame>
        <p:nvGraphicFramePr>
          <p:cNvPr id="7" name="物件 6"/>
          <p:cNvGraphicFramePr>
            <a:graphicFrameLocks noChangeAspect="1"/>
          </p:cNvGraphicFramePr>
          <p:nvPr/>
        </p:nvGraphicFramePr>
        <p:xfrm>
          <a:off x="606425" y="4143375"/>
          <a:ext cx="7716838" cy="2162175"/>
        </p:xfrm>
        <a:graphic>
          <a:graphicData uri="http://schemas.openxmlformats.org/presentationml/2006/ole">
            <mc:AlternateContent xmlns:mc="http://schemas.openxmlformats.org/markup-compatibility/2006">
              <mc:Choice xmlns:v="urn:schemas-microsoft-com:vml" Requires="v">
                <p:oleObj spid="_x0000_s28676" name="Equation" r:id="rId3" imgW="5029200" imgH="1409400" progId="Equation.DSMT4">
                  <p:embed/>
                </p:oleObj>
              </mc:Choice>
              <mc:Fallback>
                <p:oleObj name="Equation" r:id="rId3" imgW="5029200" imgH="140940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6425" y="4143375"/>
                        <a:ext cx="7716838" cy="2162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內容版面配置區 7" descr="Edit_distance_6.png"/>
          <p:cNvPicPr>
            <a:picLocks noGrp="1" noChangeAspect="1"/>
          </p:cNvPicPr>
          <p:nvPr>
            <p:ph idx="1"/>
          </p:nvPr>
        </p:nvPicPr>
        <p:blipFill>
          <a:blip r:embed="rId5"/>
          <a:stretch>
            <a:fillRect/>
          </a:stretch>
        </p:blipFill>
        <p:spPr>
          <a:xfrm>
            <a:off x="285720" y="1357298"/>
            <a:ext cx="8229600" cy="2430503"/>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631828"/>
            <a:ext cx="8229600" cy="1868478"/>
          </a:xfrm>
        </p:spPr>
        <p:txBody>
          <a:bodyPr>
            <a:normAutofit fontScale="90000"/>
          </a:bodyPr>
          <a:lstStyle/>
          <a:p>
            <a:pPr algn="l"/>
            <a:r>
              <a:rPr lang="en-US" dirty="0">
                <a:latin typeface="Times New Roman" pitchFamily="18" charset="0"/>
                <a:cs typeface="Times New Roman" pitchFamily="18" charset="0"/>
              </a:rPr>
              <a:t>Delete Insert Edit Distance </a:t>
            </a:r>
            <a:br>
              <a:rPr lang="en-US" dirty="0">
                <a:latin typeface="Times New Roman" pitchFamily="18" charset="0"/>
                <a:cs typeface="Times New Roman" pitchFamily="18" charset="0"/>
              </a:rPr>
            </a:br>
            <a:r>
              <a:rPr lang="en-US" dirty="0" err="1">
                <a:latin typeface="Times New Roman" pitchFamily="18" charset="0"/>
                <a:cs typeface="Times New Roman" pitchFamily="18" charset="0"/>
              </a:rPr>
              <a:t>Levenshtein</a:t>
            </a:r>
            <a:r>
              <a:rPr lang="en-US" dirty="0">
                <a:latin typeface="Times New Roman" pitchFamily="18" charset="0"/>
                <a:cs typeface="Times New Roman" pitchFamily="18" charset="0"/>
              </a:rPr>
              <a:t> Edit Distance </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Delete Replace Edit Distance</a:t>
            </a:r>
            <a:endParaRPr lang="zh-TW" altLang="en-US" dirty="0">
              <a:latin typeface="Times New Roman" pitchFamily="18" charset="0"/>
              <a:cs typeface="Times New Roman" pitchFamily="18" charset="0"/>
            </a:endParaRPr>
          </a:p>
        </p:txBody>
      </p:sp>
      <p:pic>
        <p:nvPicPr>
          <p:cNvPr id="4" name="內容版面配置區 3" descr="Edit_distance_7.png"/>
          <p:cNvPicPr>
            <a:picLocks noGrp="1" noChangeAspect="1"/>
          </p:cNvPicPr>
          <p:nvPr>
            <p:ph idx="1"/>
          </p:nvPr>
        </p:nvPicPr>
        <p:blipFill>
          <a:blip r:embed="rId2"/>
          <a:stretch>
            <a:fillRect/>
          </a:stretch>
        </p:blipFill>
        <p:spPr>
          <a:xfrm>
            <a:off x="65880" y="3071810"/>
            <a:ext cx="9078120" cy="2000264"/>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t>Experiments</a:t>
            </a:r>
            <a:endParaRPr lang="zh-TW" altLang="en-US" dirty="0"/>
          </a:p>
        </p:txBody>
      </p:sp>
      <p:sp>
        <p:nvSpPr>
          <p:cNvPr id="3" name="內容版面配置區 2"/>
          <p:cNvSpPr>
            <a:spLocks noGrp="1"/>
          </p:cNvSpPr>
          <p:nvPr>
            <p:ph idx="1"/>
          </p:nvPr>
        </p:nvSpPr>
        <p:spPr/>
        <p:txBody>
          <a:bodyPr/>
          <a:lstStyle/>
          <a:p>
            <a:r>
              <a:rPr lang="en-US" dirty="0"/>
              <a:t>Hamlet </a:t>
            </a:r>
            <a:r>
              <a:rPr lang="en-US" sz="1800" dirty="0"/>
              <a:t>&lt;</a:t>
            </a:r>
            <a:r>
              <a:rPr lang="zh-TW" altLang="en-US" sz="1800" dirty="0"/>
              <a:t>哈姆雷特</a:t>
            </a:r>
            <a:r>
              <a:rPr lang="en-US" altLang="zh-TW" sz="1800" dirty="0"/>
              <a:t>&gt;</a:t>
            </a:r>
          </a:p>
          <a:p>
            <a:r>
              <a:rPr lang="en-US" dirty="0"/>
              <a:t>The hound of the Baskervilles </a:t>
            </a:r>
            <a:r>
              <a:rPr lang="en-US" altLang="zh-TW" sz="1800" dirty="0"/>
              <a:t>&lt; </a:t>
            </a:r>
            <a:r>
              <a:rPr lang="zh-TW" altLang="en-US" sz="1800" dirty="0"/>
              <a:t>巴斯克維爾的獵犬 </a:t>
            </a:r>
            <a:r>
              <a:rPr lang="en-US" altLang="zh-TW" sz="1800" dirty="0"/>
              <a:t>&gt;</a:t>
            </a:r>
          </a:p>
          <a:p>
            <a:r>
              <a:rPr lang="en-US" dirty="0"/>
              <a:t>The war of the worlds  </a:t>
            </a:r>
            <a:r>
              <a:rPr lang="en-US" sz="1800" dirty="0"/>
              <a:t>&lt;</a:t>
            </a:r>
            <a:r>
              <a:rPr lang="zh-TW" altLang="en-US" sz="1800" dirty="0"/>
              <a:t>星際戰爭</a:t>
            </a:r>
            <a:r>
              <a:rPr lang="en-US" altLang="zh-TW" sz="1800" dirty="0"/>
              <a:t>(</a:t>
            </a:r>
            <a:r>
              <a:rPr lang="zh-TW" altLang="en-US" sz="1800" dirty="0"/>
              <a:t>世界大戰</a:t>
            </a:r>
            <a:r>
              <a:rPr lang="en-US" altLang="zh-TW" sz="1800" dirty="0"/>
              <a:t>)&gt; </a:t>
            </a:r>
            <a:endParaRPr lang="zh-TW" altLang="en-US" sz="1800" dirty="0">
              <a:hlinkClick r:id="rId2"/>
            </a:endParaRPr>
          </a:p>
          <a:p>
            <a:r>
              <a:rPr lang="en-US" dirty="0"/>
              <a:t>Romeo </a:t>
            </a:r>
            <a:r>
              <a:rPr lang="en-US" altLang="zh-TW" dirty="0"/>
              <a:t>&amp;</a:t>
            </a:r>
            <a:r>
              <a:rPr lang="en-US" dirty="0"/>
              <a:t> Juliet </a:t>
            </a:r>
            <a:r>
              <a:rPr lang="zh-TW" altLang="en-US" dirty="0"/>
              <a:t> </a:t>
            </a:r>
            <a:r>
              <a:rPr lang="en-US" altLang="zh-TW" sz="1800" dirty="0"/>
              <a:t>&lt;</a:t>
            </a:r>
            <a:r>
              <a:rPr lang="zh-TW" altLang="en-US" sz="1800" dirty="0"/>
              <a:t>羅密歐與茱麗葉</a:t>
            </a:r>
            <a:r>
              <a:rPr lang="en-US" altLang="zh-TW" sz="1800" dirty="0"/>
              <a:t>&gt;</a:t>
            </a:r>
            <a:br>
              <a:rPr lang="en-US" altLang="zh-TW" dirty="0"/>
            </a:br>
            <a:endParaRPr lang="en-US" altLang="zh-TW" dirty="0"/>
          </a:p>
          <a:p>
            <a:endParaRPr lang="en-US" altLang="zh-TW" dirty="0"/>
          </a:p>
          <a:p>
            <a:endParaRPr lang="en-US" altLang="zh-TW" dirty="0"/>
          </a:p>
          <a:p>
            <a:endParaRPr lang="en-US" altLang="zh-TW"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t>Experiments</a:t>
            </a:r>
            <a:endParaRPr lang="zh-TW" altLang="en-US" dirty="0"/>
          </a:p>
        </p:txBody>
      </p:sp>
      <p:pic>
        <p:nvPicPr>
          <p:cNvPr id="4" name="內容版面配置區 3" descr="Edit_distance_8.png"/>
          <p:cNvPicPr>
            <a:picLocks noGrp="1" noChangeAspect="1"/>
          </p:cNvPicPr>
          <p:nvPr>
            <p:ph idx="1"/>
          </p:nvPr>
        </p:nvPicPr>
        <p:blipFill>
          <a:blip r:embed="rId2"/>
          <a:stretch>
            <a:fillRect/>
          </a:stretch>
        </p:blipFill>
        <p:spPr>
          <a:xfrm>
            <a:off x="504257" y="1691178"/>
            <a:ext cx="8135486" cy="4344007"/>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t>Experiments</a:t>
            </a:r>
            <a:endParaRPr lang="zh-TW" altLang="en-US" dirty="0"/>
          </a:p>
        </p:txBody>
      </p:sp>
      <p:pic>
        <p:nvPicPr>
          <p:cNvPr id="4" name="內容版面配置區 3" descr="Edit_distance_9.png"/>
          <p:cNvPicPr>
            <a:picLocks noGrp="1" noChangeAspect="1"/>
          </p:cNvPicPr>
          <p:nvPr>
            <p:ph idx="1"/>
          </p:nvPr>
        </p:nvPicPr>
        <p:blipFill>
          <a:blip r:embed="rId2"/>
          <a:stretch>
            <a:fillRect/>
          </a:stretch>
        </p:blipFill>
        <p:spPr>
          <a:xfrm>
            <a:off x="718599" y="1734046"/>
            <a:ext cx="7706801" cy="4258270"/>
          </a:xfr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t>Experiments</a:t>
            </a:r>
            <a:endParaRPr lang="zh-TW" altLang="en-US" dirty="0"/>
          </a:p>
        </p:txBody>
      </p:sp>
      <p:pic>
        <p:nvPicPr>
          <p:cNvPr id="4" name="內容版面配置區 3" descr="Edit_distance_10.png"/>
          <p:cNvPicPr>
            <a:picLocks noGrp="1" noChangeAspect="1"/>
          </p:cNvPicPr>
          <p:nvPr>
            <p:ph idx="1"/>
          </p:nvPr>
        </p:nvPicPr>
        <p:blipFill>
          <a:blip r:embed="rId2"/>
          <a:stretch>
            <a:fillRect/>
          </a:stretch>
        </p:blipFill>
        <p:spPr>
          <a:xfrm>
            <a:off x="766231" y="1710231"/>
            <a:ext cx="7611538" cy="4305901"/>
          </a:xfrm>
        </p:spPr>
      </p:pic>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431</TotalTime>
  <Words>290</Words>
  <Application>Microsoft Office PowerPoint</Application>
  <PresentationFormat>如螢幕大小 (4:3)</PresentationFormat>
  <Paragraphs>64</Paragraphs>
  <Slides>18</Slides>
  <Notes>3</Notes>
  <HiddenSlides>0</HiddenSlides>
  <MMClips>0</MMClips>
  <ScaleCrop>false</ScaleCrop>
  <HeadingPairs>
    <vt:vector size="8" baseType="variant">
      <vt:variant>
        <vt:lpstr>使用字型</vt:lpstr>
      </vt:variant>
      <vt:variant>
        <vt:i4>4</vt:i4>
      </vt:variant>
      <vt:variant>
        <vt:lpstr>佈景主題</vt:lpstr>
      </vt:variant>
      <vt:variant>
        <vt:i4>1</vt:i4>
      </vt:variant>
      <vt:variant>
        <vt:lpstr>內嵌 OLE 伺服程式</vt:lpstr>
      </vt:variant>
      <vt:variant>
        <vt:i4>1</vt:i4>
      </vt:variant>
      <vt:variant>
        <vt:lpstr>投影片標題</vt:lpstr>
      </vt:variant>
      <vt:variant>
        <vt:i4>18</vt:i4>
      </vt:variant>
    </vt:vector>
  </HeadingPairs>
  <TitlesOfParts>
    <vt:vector size="24" baseType="lpstr">
      <vt:lpstr>標楷體</vt:lpstr>
      <vt:lpstr>Arial</vt:lpstr>
      <vt:lpstr>Calibri</vt:lpstr>
      <vt:lpstr>Times New Roman</vt:lpstr>
      <vt:lpstr>Office 佈景主題</vt:lpstr>
      <vt:lpstr>Equation</vt:lpstr>
      <vt:lpstr>Indexed Dynamic Programming to Boost Edit Distance and LCSS Computation</vt:lpstr>
      <vt:lpstr>Abstract(1/2)</vt:lpstr>
      <vt:lpstr>Abstract(2/2)</vt:lpstr>
      <vt:lpstr>Introduction</vt:lpstr>
      <vt:lpstr>Introduction</vt:lpstr>
      <vt:lpstr>Introduction</vt:lpstr>
      <vt:lpstr>Summary of result for various combinations of operators from the basic set {Insert,Delete,Replace,Swap} </vt:lpstr>
      <vt:lpstr>Introduction</vt:lpstr>
      <vt:lpstr>Introduction</vt:lpstr>
      <vt:lpstr>Algorithm- Classical</vt:lpstr>
      <vt:lpstr>Algorithm-Adaptive</vt:lpstr>
      <vt:lpstr>Algorithm- Levenshtein Distance       &lt;Delete Insert Replacement Edit Distance&gt;</vt:lpstr>
      <vt:lpstr>Algorithm- Delete Replacement Edit Disatance       </vt:lpstr>
      <vt:lpstr>Delete Insert Edit Distance  Levenshtein Edit Distance  Delete Replace Edit Distance</vt:lpstr>
      <vt:lpstr>Experiments</vt:lpstr>
      <vt:lpstr>Experiments</vt:lpstr>
      <vt:lpstr>Experiments</vt:lpstr>
      <vt:lpstr>Experiments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Indexed Dynamic Programming to Boost Edit Distance and LCSS Computation</dc:title>
  <dc:creator>阿修</dc:creator>
  <cp:lastModifiedBy>pplab</cp:lastModifiedBy>
  <cp:revision>47</cp:revision>
  <dcterms:created xsi:type="dcterms:W3CDTF">2019-09-15T07:43:36Z</dcterms:created>
  <dcterms:modified xsi:type="dcterms:W3CDTF">2019-09-25T13:29:01Z</dcterms:modified>
</cp:coreProperties>
</file>