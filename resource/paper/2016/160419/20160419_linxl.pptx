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6"/>
  </p:notesMasterIdLst>
  <p:sldIdLst>
    <p:sldId id="257" r:id="rId2"/>
    <p:sldId id="296" r:id="rId3"/>
    <p:sldId id="336" r:id="rId4"/>
    <p:sldId id="337" r:id="rId5"/>
    <p:sldId id="338" r:id="rId6"/>
    <p:sldId id="339" r:id="rId7"/>
    <p:sldId id="340" r:id="rId8"/>
    <p:sldId id="343" r:id="rId9"/>
    <p:sldId id="344" r:id="rId10"/>
    <p:sldId id="341" r:id="rId11"/>
    <p:sldId id="346" r:id="rId12"/>
    <p:sldId id="342" r:id="rId13"/>
    <p:sldId id="335" r:id="rId14"/>
    <p:sldId id="345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2893" autoAdjust="0"/>
  </p:normalViewPr>
  <p:slideViewPr>
    <p:cSldViewPr>
      <p:cViewPr varScale="1">
        <p:scale>
          <a:sx n="48" d="100"/>
          <a:sy n="48" d="100"/>
        </p:scale>
        <p:origin x="60" y="55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06E1A-967B-4702-9100-CA60161C68AD}" type="datetimeFigureOut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5817E-37FB-43A5-9E94-CE25939AB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4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聖地牙哥加利福尼亞大學，是美國一所著名公立學府，為美國全國性第一級 的大學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5000" dirty="0" err="1" smtClean="0"/>
              <a:t>i,e</a:t>
            </a:r>
            <a:r>
              <a:rPr lang="en-US" altLang="zh-TW" sz="5000" dirty="0" smtClean="0"/>
              <a:t> –in other words</a:t>
            </a:r>
            <a:endParaRPr lang="zh-TW" altLang="en-US" sz="50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765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0EBB-2157-4ECF-9E55-0F204FEB3AF6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6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409F-200A-4567-8A6A-69B81E278CF2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BD9F-4146-4CF0-B43F-B959091F727C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5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3FD-4E5B-4337-A169-11EE3DAF81C2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BD923-9E03-430A-83D9-031A06F4BCDC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5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FF37-7EE5-4C84-A7E5-89F2F466D2B7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42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73FA-8B46-4221-822F-7DC220028125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5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1403C-021C-43BA-9A0E-0C636802EB5A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1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A09D-0B44-4B22-9B8F-C6BCEE4FEBC7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03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A9EF-1DEA-4A2D-B95C-02BFB910A63D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1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87B4E-0407-4317-B90C-F9589BC85B00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6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Sequence Comparison with Mixed Convex </a:t>
            </a:r>
            <a:r>
              <a:rPr lang="en-US" altLang="zh-TW" dirty="0" smtClean="0"/>
              <a:t>and Concave </a:t>
            </a:r>
            <a:r>
              <a:rPr lang="en-US" altLang="zh-TW" dirty="0"/>
              <a:t>Costs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429000"/>
            <a:ext cx="8424936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/>
              <a:t>David </a:t>
            </a:r>
            <a:r>
              <a:rPr lang="en-US" altLang="zh-TW" sz="2800" dirty="0" err="1" smtClean="0"/>
              <a:t>Eppstein</a:t>
            </a:r>
            <a:endParaRPr lang="zh-TW" altLang="en-US" sz="25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JOURNAL OF </a:t>
            </a:r>
            <a:r>
              <a:rPr lang="en-US" altLang="zh-TW" sz="2000" dirty="0" smtClean="0"/>
              <a:t>ALGORITHMS, Vol 11, pp.85-101 </a:t>
            </a:r>
            <a:r>
              <a:rPr lang="en-US" altLang="zh-TW" sz="2000" dirty="0"/>
              <a:t>(1990)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000" dirty="0"/>
              <a:t>	</a:t>
            </a:r>
            <a:r>
              <a:rPr lang="en-US" altLang="zh-TW" sz="3000" dirty="0" smtClean="0"/>
              <a:t>Recently </a:t>
            </a:r>
            <a:r>
              <a:rPr lang="en-US" altLang="zh-TW" sz="3000" dirty="0"/>
              <a:t>a number of algorithms have been developed for solving the </a:t>
            </a:r>
            <a:r>
              <a:rPr lang="en-US" altLang="zh-TW" sz="3000" dirty="0" smtClean="0"/>
              <a:t>minimum weight edit </a:t>
            </a:r>
            <a:r>
              <a:rPr lang="en-US" altLang="zh-TW" sz="3000" dirty="0"/>
              <a:t>sequence problem with non-linear costs for multiple insertions </a:t>
            </a:r>
            <a:r>
              <a:rPr lang="en-US" altLang="zh-TW" sz="3000" dirty="0" smtClean="0"/>
              <a:t>and deletions.</a:t>
            </a:r>
          </a:p>
          <a:p>
            <a:pPr marL="0" indent="0">
              <a:buNone/>
            </a:pPr>
            <a:r>
              <a:rPr lang="en-US" altLang="zh-TW" sz="3000" dirty="0" smtClean="0"/>
              <a:t>	We </a:t>
            </a:r>
            <a:r>
              <a:rPr lang="en-US" altLang="zh-TW" sz="3000" dirty="0"/>
              <a:t>extend these algorithms to cost functions that are neither convex </a:t>
            </a:r>
            <a:r>
              <a:rPr lang="en-US" altLang="zh-TW" sz="3000" dirty="0" smtClean="0"/>
              <a:t>nor concave</a:t>
            </a:r>
            <a:r>
              <a:rPr lang="en-US" altLang="zh-TW" sz="3000" dirty="0"/>
              <a:t>, but a mixture of both. We also apply this technique to related </a:t>
            </a:r>
            <a:r>
              <a:rPr lang="en-US" altLang="zh-TW" sz="3000" dirty="0" smtClean="0"/>
              <a:t>dynamic programming </a:t>
            </a:r>
            <a:r>
              <a:rPr lang="en-US" altLang="zh-TW" sz="3000" dirty="0"/>
              <a:t>algorithms.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6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M</a:t>
            </a:r>
            <a:r>
              <a:rPr lang="en-US" altLang="zh-TW" sz="3200" dirty="0" smtClean="0"/>
              <a:t>inimum weight </a:t>
            </a:r>
            <a:r>
              <a:rPr lang="en-US" altLang="zh-TW" sz="3200" dirty="0"/>
              <a:t>edit sequence problem </a:t>
            </a:r>
            <a:r>
              <a:rPr lang="en-US" altLang="zh-TW" sz="3200" dirty="0" smtClean="0"/>
              <a:t>for </a:t>
            </a:r>
            <a:r>
              <a:rPr lang="en-US" altLang="zh-TW" sz="3200" dirty="0"/>
              <a:t>multiple insertions and deletions</a:t>
            </a:r>
            <a:endParaRPr lang="zh-TW" altLang="en-US" sz="3200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279277"/>
              </p:ext>
            </p:extLst>
          </p:nvPr>
        </p:nvGraphicFramePr>
        <p:xfrm>
          <a:off x="971600" y="3645024"/>
          <a:ext cx="5616625" cy="171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325"/>
                <a:gridCol w="1123325"/>
                <a:gridCol w="1123325"/>
                <a:gridCol w="1123325"/>
                <a:gridCol w="1123325"/>
              </a:tblGrid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i,j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C[i-2,j]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C[i-1, j-1]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C[i-1,j]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 j-3]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 j-2]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 j-1]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 j]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1" y="1424421"/>
            <a:ext cx="8977089" cy="2176264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6552219" y="4526307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+ w(i-1,i) 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563326" y="408431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+ w(i-2,i)</a:t>
            </a:r>
            <a:endParaRPr lang="zh-TW" altLang="en-US" dirty="0"/>
          </a:p>
        </p:txBody>
      </p:sp>
      <p:sp>
        <p:nvSpPr>
          <p:cNvPr id="15" name="左大括弧 14"/>
          <p:cNvSpPr/>
          <p:nvPr/>
        </p:nvSpPr>
        <p:spPr>
          <a:xfrm rot="10800000">
            <a:off x="7634453" y="4243218"/>
            <a:ext cx="321923" cy="5661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7812360" y="4341316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G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j]</a:t>
            </a:r>
          </a:p>
          <a:p>
            <a:pPr algn="ctr"/>
            <a:r>
              <a:rPr lang="en-US" altLang="zh-TW" dirty="0" smtClean="0"/>
              <a:t>(deletion)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219997" y="5231120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+</a:t>
            </a:r>
          </a:p>
          <a:p>
            <a:r>
              <a:rPr lang="en-US" altLang="zh-TW" dirty="0" smtClean="0"/>
              <a:t> w(j-2,j) 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373139" y="5231121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+</a:t>
            </a:r>
          </a:p>
          <a:p>
            <a:r>
              <a:rPr lang="en-US" altLang="zh-TW" dirty="0" smtClean="0"/>
              <a:t> w(j-1,j)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209508" y="6211669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F[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j]</a:t>
            </a:r>
          </a:p>
          <a:p>
            <a:pPr algn="ctr"/>
            <a:r>
              <a:rPr lang="en-US" altLang="zh-TW" dirty="0" smtClean="0"/>
              <a:t>(insertion)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123728" y="5229200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+</a:t>
            </a:r>
          </a:p>
          <a:p>
            <a:r>
              <a:rPr lang="en-US" altLang="zh-TW" dirty="0" smtClean="0"/>
              <a:t> w(j-3,j) </a:t>
            </a:r>
            <a:endParaRPr lang="zh-TW" altLang="en-US" dirty="0"/>
          </a:p>
        </p:txBody>
      </p:sp>
      <p:sp>
        <p:nvSpPr>
          <p:cNvPr id="21" name="左大括弧 20"/>
          <p:cNvSpPr/>
          <p:nvPr/>
        </p:nvSpPr>
        <p:spPr>
          <a:xfrm rot="16200000">
            <a:off x="3593767" y="4872565"/>
            <a:ext cx="407317" cy="24132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4668784" y="6154579"/>
            <a:ext cx="479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obvious dynamic program to solve this recurrence takes </a:t>
            </a:r>
            <a:r>
              <a:rPr lang="en-US" altLang="zh-TW" dirty="0" smtClean="0">
                <a:solidFill>
                  <a:srgbClr val="FF0000"/>
                </a:solidFill>
              </a:rPr>
              <a:t>time O(</a:t>
            </a:r>
            <a:r>
              <a:rPr lang="en-US" altLang="zh-TW" dirty="0" err="1" smtClean="0">
                <a:solidFill>
                  <a:srgbClr val="FF0000"/>
                </a:solidFill>
              </a:rPr>
              <a:t>mn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. max(m, n)). 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68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Cost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46848" cy="4525963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500" dirty="0" smtClean="0"/>
                  <a:t>w(</a:t>
                </a:r>
                <a:r>
                  <a:rPr lang="en-US" altLang="zh-TW" sz="2500" dirty="0" err="1" smtClean="0"/>
                  <a:t>i</a:t>
                </a:r>
                <a:r>
                  <a:rPr lang="en-US" altLang="zh-TW" sz="2500" dirty="0" smtClean="0"/>
                  <a:t>, j) can be seen as a function g(j-</a:t>
                </a:r>
                <a:r>
                  <a:rPr lang="en-US" altLang="zh-TW" sz="2500" dirty="0" err="1" smtClean="0"/>
                  <a:t>i</a:t>
                </a:r>
                <a:r>
                  <a:rPr lang="en-US" altLang="zh-TW" sz="2500" dirty="0" smtClean="0"/>
                  <a:t>) because of j &gt;</a:t>
                </a:r>
                <a:r>
                  <a:rPr lang="en-US" altLang="zh-TW" sz="2500" dirty="0" err="1" smtClean="0"/>
                  <a:t>i</a:t>
                </a:r>
                <a:r>
                  <a:rPr lang="en-US" altLang="zh-TW" sz="2500" dirty="0" smtClean="0"/>
                  <a:t>.</a:t>
                </a:r>
              </a:p>
              <a:p>
                <a:r>
                  <a:rPr lang="en-US" altLang="zh-TW" sz="2500" dirty="0" smtClean="0"/>
                  <a:t>In this paper, g(j-</a:t>
                </a:r>
                <a:r>
                  <a:rPr lang="en-US" altLang="zh-TW" sz="2500" dirty="0" err="1" smtClean="0"/>
                  <a:t>i</a:t>
                </a:r>
                <a:r>
                  <a:rPr lang="en-US" altLang="zh-TW" sz="2500" dirty="0" smtClean="0"/>
                  <a:t>) is assumed to be piecewise concave and convex, with s alternations.</a:t>
                </a:r>
              </a:p>
              <a:p>
                <a:endParaRPr lang="en-US" altLang="zh-TW" sz="2500" dirty="0" smtClean="0"/>
              </a:p>
              <a:p>
                <a:r>
                  <a:rPr lang="en-US" altLang="zh-TW" sz="2500" dirty="0" smtClean="0"/>
                  <a:t>For example, we can find indices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500" dirty="0" smtClean="0"/>
                  <a:t>such that g is </a:t>
                </a:r>
                <a:r>
                  <a:rPr lang="en-US" altLang="zh-TW" sz="2500" dirty="0" smtClean="0">
                    <a:solidFill>
                      <a:srgbClr val="FF0000"/>
                    </a:solidFill>
                  </a:rPr>
                  <a:t>concave</a:t>
                </a:r>
                <a:r>
                  <a:rPr lang="en-US" altLang="zh-TW" sz="2500" dirty="0" smtClean="0"/>
                  <a:t> in the range of </a:t>
                </a:r>
                <a14:m>
                  <m:oMath xmlns:m="http://schemas.openxmlformats.org/officeDocument/2006/math">
                    <m:r>
                      <a:rPr lang="en-US" altLang="zh-TW" sz="25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[1,</m:t>
                    </m:r>
                    <m:sSub>
                      <m:sSubPr>
                        <m:ctrlP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5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500" dirty="0" smtClean="0"/>
                  <a:t>, </a:t>
                </a:r>
                <a:r>
                  <a:rPr lang="en-US" altLang="zh-TW" sz="2500" dirty="0" smtClean="0">
                    <a:solidFill>
                      <a:srgbClr val="FF0000"/>
                    </a:solidFill>
                  </a:rPr>
                  <a:t>convex</a:t>
                </a:r>
                <a:r>
                  <a:rPr lang="en-US" altLang="zh-TW" sz="2500" dirty="0" smtClean="0"/>
                  <a:t> in the range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2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500" dirty="0" smtClean="0"/>
                  <a:t>and so on.</a:t>
                </a:r>
              </a:p>
              <a:p>
                <a:pPr marL="0" indent="0">
                  <a:buNone/>
                </a:pPr>
                <a:endParaRPr lang="en-US" altLang="zh-TW" sz="2500" dirty="0" smtClean="0"/>
              </a:p>
              <a:p>
                <a:endParaRPr lang="zh-TW" altLang="en-US" sz="2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46848" cy="4525963"/>
              </a:xfrm>
              <a:blipFill rotWithShape="0">
                <a:blip r:embed="rId2"/>
                <a:stretch>
                  <a:fillRect l="-1877" t="-1213" r="-536" b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348213" y="147635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g(x)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8831154" y="51382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16" name="左大括弧 15"/>
          <p:cNvSpPr/>
          <p:nvPr/>
        </p:nvSpPr>
        <p:spPr>
          <a:xfrm rot="16200000">
            <a:off x="6642455" y="5174870"/>
            <a:ext cx="311299" cy="44433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左大括弧 16"/>
          <p:cNvSpPr/>
          <p:nvPr/>
        </p:nvSpPr>
        <p:spPr>
          <a:xfrm rot="16200000">
            <a:off x="7078023" y="5192105"/>
            <a:ext cx="325016" cy="42358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891" y="1904407"/>
            <a:ext cx="2607109" cy="3336984"/>
          </a:xfrm>
          <a:prstGeom prst="rect">
            <a:avLst/>
          </a:prstGeom>
        </p:spPr>
      </p:pic>
      <p:cxnSp>
        <p:nvCxnSpPr>
          <p:cNvPr id="31" name="直線接點 30"/>
          <p:cNvCxnSpPr/>
          <p:nvPr/>
        </p:nvCxnSpPr>
        <p:spPr>
          <a:xfrm flipH="1">
            <a:off x="7020272" y="1904407"/>
            <a:ext cx="4301" cy="349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371898" y="5507940"/>
                <a:ext cx="8196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[1,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898" y="5507940"/>
                <a:ext cx="81964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222" b="-1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6917601" y="5507611"/>
                <a:ext cx="67873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601" y="5507611"/>
                <a:ext cx="67873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604" r="-31532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66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Reducing DP formula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t="32553"/>
          <a:stretch/>
        </p:blipFill>
        <p:spPr>
          <a:xfrm>
            <a:off x="166911" y="1435568"/>
            <a:ext cx="8977089" cy="146782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51520" y="5046607"/>
            <a:ext cx="79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Example:</a:t>
            </a:r>
          </a:p>
          <a:p>
            <a:r>
              <a:rPr lang="en-US" altLang="zh-TW" dirty="0" smtClean="0"/>
              <a:t>For row r of  recurrence (3),  D[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= C[r,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and E[j] = F[r, j].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179512" y="3347700"/>
            <a:ext cx="897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Each row of F in (3) and Each column of (4) can be solved as a separate case of the recurrence: 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483" y="3960682"/>
            <a:ext cx="6875317" cy="84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9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2"/>
          <a:srcRect t="32553" b="32098"/>
          <a:stretch/>
        </p:blipFill>
        <p:spPr>
          <a:xfrm>
            <a:off x="-23096" y="1153830"/>
            <a:ext cx="8977089" cy="76929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Reducing DP formula</a:t>
            </a:r>
            <a:endParaRPr lang="zh-TW" altLang="en-US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772816"/>
            <a:ext cx="6154384" cy="634369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07751"/>
              </p:ext>
            </p:extLst>
          </p:nvPr>
        </p:nvGraphicFramePr>
        <p:xfrm>
          <a:off x="107504" y="3789040"/>
          <a:ext cx="409211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22"/>
                <a:gridCol w="818422"/>
                <a:gridCol w="818422"/>
                <a:gridCol w="818422"/>
                <a:gridCol w="81842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T[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zh-TW" b="1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j]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w(1,2)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w(1,3)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w(1,4)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w(2,3)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w(2,4)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D[3]+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w(3,4)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80635" y="2276872"/>
            <a:ext cx="4337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Example:</a:t>
            </a:r>
          </a:p>
          <a:p>
            <a:r>
              <a:rPr lang="en-US" altLang="zh-TW" dirty="0" smtClean="0"/>
              <a:t>For row </a:t>
            </a:r>
            <a:r>
              <a:rPr lang="en-US" altLang="zh-TW" dirty="0" smtClean="0">
                <a:solidFill>
                  <a:srgbClr val="FF0000"/>
                </a:solidFill>
              </a:rPr>
              <a:t>r=3</a:t>
            </a:r>
            <a:r>
              <a:rPr lang="en-US" altLang="zh-TW" dirty="0" smtClean="0"/>
              <a:t> of  recurrence (3),  </a:t>
            </a:r>
          </a:p>
          <a:p>
            <a:r>
              <a:rPr lang="en-US" altLang="zh-TW" dirty="0" smtClean="0"/>
              <a:t>D[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= C[r,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and E[j] = F[r, j].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T[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] is the matrix used to calculated E[j].</a:t>
            </a:r>
          </a:p>
          <a:p>
            <a:endParaRPr lang="en-US" altLang="zh-TW" dirty="0" smtClean="0"/>
          </a:p>
        </p:txBody>
      </p:sp>
      <p:graphicFrame>
        <p:nvGraphicFramePr>
          <p:cNvPr id="14" name="內容版面配置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486605"/>
              </p:ext>
            </p:extLst>
          </p:nvPr>
        </p:nvGraphicFramePr>
        <p:xfrm>
          <a:off x="4499992" y="2204864"/>
          <a:ext cx="4398815" cy="171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763"/>
                <a:gridCol w="879763"/>
                <a:gridCol w="879763"/>
                <a:gridCol w="879763"/>
                <a:gridCol w="879763"/>
              </a:tblGrid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i,j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 1]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 2]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 3]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C[3,4]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pSp>
        <p:nvGrpSpPr>
          <p:cNvPr id="28" name="群組 27"/>
          <p:cNvGrpSpPr/>
          <p:nvPr/>
        </p:nvGrpSpPr>
        <p:grpSpPr>
          <a:xfrm>
            <a:off x="5336964" y="3789040"/>
            <a:ext cx="2642594" cy="646331"/>
            <a:chOff x="5336964" y="3789040"/>
            <a:chExt cx="2642594" cy="646331"/>
          </a:xfrm>
        </p:grpSpPr>
        <p:sp>
          <p:nvSpPr>
            <p:cNvPr id="15" name="文字方塊 14"/>
            <p:cNvSpPr txBox="1"/>
            <p:nvPr/>
          </p:nvSpPr>
          <p:spPr>
            <a:xfrm>
              <a:off x="6208088" y="3789040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+</a:t>
              </a:r>
            </a:p>
            <a:p>
              <a:r>
                <a:rPr lang="en-US" altLang="zh-TW" dirty="0" smtClean="0"/>
                <a:t> w(2,4) </a:t>
              </a:r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128043" y="3789040"/>
              <a:ext cx="8515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+</a:t>
              </a:r>
            </a:p>
            <a:p>
              <a:r>
                <a:rPr lang="en-US" altLang="zh-TW" dirty="0" smtClean="0"/>
                <a:t> w(3,4)</a:t>
              </a:r>
              <a:endParaRPr lang="zh-TW" altLang="en-US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5336964" y="3789040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+</a:t>
              </a:r>
            </a:p>
            <a:p>
              <a:r>
                <a:rPr lang="en-US" altLang="zh-TW" dirty="0" smtClean="0"/>
                <a:t> w(1,4) </a:t>
              </a:r>
              <a:endParaRPr lang="zh-TW" altLang="en-US" dirty="0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251520" y="6165304"/>
            <a:ext cx="375840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E[3] </a:t>
            </a:r>
            <a:r>
              <a:rPr lang="en-US" altLang="zh-TW" dirty="0">
                <a:solidFill>
                  <a:srgbClr val="FF0000"/>
                </a:solidFill>
              </a:rPr>
              <a:t>is the column minimum of </a:t>
            </a:r>
            <a:r>
              <a:rPr lang="en-US" altLang="zh-TW" dirty="0" smtClean="0">
                <a:solidFill>
                  <a:srgbClr val="FF0000"/>
                </a:solidFill>
              </a:rPr>
              <a:t>T[i,3]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E[4] is the column minimum of T[i,4]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24" name="內容版面配置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516535"/>
              </p:ext>
            </p:extLst>
          </p:nvPr>
        </p:nvGraphicFramePr>
        <p:xfrm>
          <a:off x="4476023" y="4553814"/>
          <a:ext cx="4398815" cy="171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763"/>
                <a:gridCol w="879763"/>
                <a:gridCol w="879763"/>
                <a:gridCol w="879763"/>
                <a:gridCol w="879763"/>
              </a:tblGrid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i,j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 1]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 2]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C[3, 3]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9" name="群組 28"/>
          <p:cNvGrpSpPr/>
          <p:nvPr/>
        </p:nvGrpSpPr>
        <p:grpSpPr>
          <a:xfrm>
            <a:off x="5336964" y="6165304"/>
            <a:ext cx="1780347" cy="646331"/>
            <a:chOff x="5498485" y="6095037"/>
            <a:chExt cx="1780347" cy="646331"/>
          </a:xfrm>
        </p:grpSpPr>
        <p:sp>
          <p:nvSpPr>
            <p:cNvPr id="25" name="文字方塊 24"/>
            <p:cNvSpPr txBox="1"/>
            <p:nvPr/>
          </p:nvSpPr>
          <p:spPr>
            <a:xfrm>
              <a:off x="6369609" y="6095037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+</a:t>
              </a:r>
            </a:p>
            <a:p>
              <a:r>
                <a:rPr lang="en-US" altLang="zh-TW" dirty="0" smtClean="0"/>
                <a:t> w(2,3) </a:t>
              </a:r>
              <a:endParaRPr lang="zh-TW" altLang="en-US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498485" y="6095037"/>
              <a:ext cx="9092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+</a:t>
              </a:r>
            </a:p>
            <a:p>
              <a:r>
                <a:rPr lang="en-US" altLang="zh-TW" dirty="0" smtClean="0"/>
                <a:t> w(1,3) 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346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Concave case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10" y="3120977"/>
            <a:ext cx="7160038" cy="569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67544" y="3677228"/>
                <a:ext cx="26613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Arial" panose="020B0604020202020204" pitchFamily="34" charset="0"/>
                  </a:rPr>
                  <a:t>whenever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dirty="0" smtClean="0">
                    <a:latin typeface="Arial" panose="020B0604020202020204" pitchFamily="34" charset="0"/>
                  </a:rPr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677228"/>
                <a:ext cx="2661370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064" t="-8197" r="-114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2442"/>
            <a:ext cx="6096000" cy="712347"/>
          </a:xfrm>
          <a:prstGeom prst="rect">
            <a:avLst/>
          </a:prstGeom>
        </p:spPr>
      </p:pic>
      <p:sp>
        <p:nvSpPr>
          <p:cNvPr id="10" name="向右箭號 9"/>
          <p:cNvSpPr/>
          <p:nvPr/>
        </p:nvSpPr>
        <p:spPr>
          <a:xfrm rot="5400000">
            <a:off x="2557258" y="1702734"/>
            <a:ext cx="450678" cy="4230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45411"/>
              </p:ext>
            </p:extLst>
          </p:nvPr>
        </p:nvGraphicFramePr>
        <p:xfrm>
          <a:off x="407667" y="4538469"/>
          <a:ext cx="409211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22"/>
                <a:gridCol w="818422"/>
                <a:gridCol w="818422"/>
                <a:gridCol w="818422"/>
                <a:gridCol w="81842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T[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zh-TW" b="1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j]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g(2)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g(3)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g(2)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D[3]+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251520" y="3945830"/>
            <a:ext cx="4337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Example:</a:t>
            </a:r>
          </a:p>
          <a:p>
            <a:r>
              <a:rPr lang="en-US" altLang="zh-TW" dirty="0" smtClean="0"/>
              <a:t>For row </a:t>
            </a:r>
            <a:r>
              <a:rPr lang="en-US" altLang="zh-TW" dirty="0" smtClean="0">
                <a:solidFill>
                  <a:srgbClr val="FF0000"/>
                </a:solidFill>
              </a:rPr>
              <a:t>r=3</a:t>
            </a:r>
            <a:r>
              <a:rPr lang="en-US" altLang="zh-TW" dirty="0" smtClean="0"/>
              <a:t> of  recurrence (3),  </a:t>
            </a:r>
          </a:p>
          <a:p>
            <a:endParaRPr lang="en-US" altLang="zh-TW" dirty="0" smtClean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22" y="1179140"/>
            <a:ext cx="6154384" cy="63436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26143" y="2538988"/>
            <a:ext cx="7400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" panose="020B0604020202020204" pitchFamily="34" charset="0"/>
              </a:rPr>
              <a:t>In 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</a:rPr>
              <a:t>the concave </a:t>
            </a:r>
            <a:r>
              <a:rPr lang="en-US" altLang="zh-TW" dirty="0">
                <a:solidFill>
                  <a:srgbClr val="FF0000"/>
                </a:solidFill>
                <a:latin typeface="Arial" panose="020B0604020202020204" pitchFamily="34" charset="0"/>
              </a:rPr>
              <a:t>case, the gap length cost function w satisfies the 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</a:rPr>
              <a:t>quadrangle inequality,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向右箭號 13"/>
          <p:cNvSpPr/>
          <p:nvPr/>
        </p:nvSpPr>
        <p:spPr>
          <a:xfrm>
            <a:off x="4588600" y="5445224"/>
            <a:ext cx="487456" cy="2387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10483"/>
              </p:ext>
            </p:extLst>
          </p:nvPr>
        </p:nvGraphicFramePr>
        <p:xfrm>
          <a:off x="5580112" y="4505424"/>
          <a:ext cx="2592288" cy="230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</a:tblGrid>
              <a:tr h="242774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j’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</a:tr>
              <a:tr h="971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D[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] 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w(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, j)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D[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] 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w(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i,j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’) </a:t>
                      </a:r>
                      <a:endParaRPr lang="zh-TW" altLang="en-US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</a:tr>
              <a:tr h="971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i’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D[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’] 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w(I’, j) </a:t>
                      </a:r>
                      <a:endParaRPr lang="zh-TW" altLang="en-US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D[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’] 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w(</a:t>
                      </a:r>
                      <a:r>
                        <a:rPr lang="en-US" altLang="zh-TW" b="1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’ ,j’) 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3157271" y="3145562"/>
            <a:ext cx="2436141" cy="56941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454440" y="3156055"/>
            <a:ext cx="2436141" cy="569411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90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otally </a:t>
            </a:r>
            <a:r>
              <a:rPr lang="en-US" altLang="zh-TW" dirty="0"/>
              <a:t>monotone matrix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038672"/>
              </p:ext>
            </p:extLst>
          </p:nvPr>
        </p:nvGraphicFramePr>
        <p:xfrm>
          <a:off x="4860032" y="1404776"/>
          <a:ext cx="409211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22"/>
                <a:gridCol w="818422"/>
                <a:gridCol w="818422"/>
                <a:gridCol w="818422"/>
                <a:gridCol w="81842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T[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zh-TW" b="1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j]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g(2)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g(3)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g(2)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D[3]+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7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258816" cy="45259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dirty="0" smtClean="0"/>
                  <a:t>(</a:t>
                </a:r>
                <a:r>
                  <a:rPr lang="en-US" altLang="zh-TW" i="1" dirty="0"/>
                  <a:t>j</a:t>
                </a:r>
                <a:r>
                  <a:rPr lang="en-US" altLang="zh-TW" i="1" dirty="0" smtClean="0"/>
                  <a:t>) </a:t>
                </a:r>
                <a:r>
                  <a:rPr lang="en-US" altLang="zh-TW" dirty="0"/>
                  <a:t>be the smallest </a:t>
                </a:r>
                <a:r>
                  <a:rPr lang="en-US" altLang="zh-TW" dirty="0" smtClean="0"/>
                  <a:t>row </a:t>
                </a:r>
                <a:r>
                  <a:rPr lang="en-US" altLang="zh-TW" dirty="0"/>
                  <a:t>index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such that </a:t>
                </a:r>
                <a:r>
                  <a:rPr lang="en-US" altLang="zh-TW" i="1" dirty="0" smtClean="0"/>
                  <a:t>A[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dirty="0"/>
                  <a:t>, </a:t>
                </a:r>
                <a:r>
                  <a:rPr lang="en-US" altLang="zh-TW" i="1" dirty="0" smtClean="0"/>
                  <a:t>j] </a:t>
                </a:r>
                <a:r>
                  <a:rPr lang="en-US" altLang="zh-TW" dirty="0"/>
                  <a:t>equals </a:t>
                </a:r>
                <a:r>
                  <a:rPr lang="en-US" altLang="zh-TW" dirty="0" smtClean="0"/>
                  <a:t>the minimum </a:t>
                </a:r>
                <a:r>
                  <a:rPr lang="en-US" altLang="zh-TW" dirty="0"/>
                  <a:t>value in </a:t>
                </a:r>
                <a:r>
                  <a:rPr lang="en-US" altLang="zh-TW" dirty="0" smtClean="0"/>
                  <a:t>j-</a:t>
                </a:r>
                <a:r>
                  <a:rPr lang="en-US" altLang="zh-TW" dirty="0" err="1" smtClean="0"/>
                  <a:t>th</a:t>
                </a:r>
                <a:r>
                  <a:rPr lang="en-US" altLang="zh-TW" dirty="0" smtClean="0"/>
                  <a:t> column of A. </a:t>
                </a:r>
              </a:p>
              <a:p>
                <a:r>
                  <a:rPr lang="en-US" altLang="zh-TW" dirty="0" smtClean="0"/>
                  <a:t>The </a:t>
                </a:r>
                <a:r>
                  <a:rPr lang="en-US" altLang="zh-TW" dirty="0"/>
                  <a:t>matrix A is said to be </a:t>
                </a:r>
                <a:r>
                  <a:rPr lang="en-US" altLang="zh-TW" i="1" dirty="0"/>
                  <a:t>monotone </a:t>
                </a:r>
                <a:r>
                  <a:rPr lang="en-US" altLang="zh-TW" dirty="0" smtClean="0"/>
                  <a:t>if for,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dirty="0"/>
                  <a:t>we always have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i="1" dirty="0"/>
                  <a:t>. </a:t>
                </a:r>
                <a:endParaRPr lang="en-US" altLang="zh-TW" i="1" dirty="0" smtClean="0"/>
              </a:p>
              <a:p>
                <a:r>
                  <a:rPr lang="en-US" altLang="zh-TW" i="1" dirty="0" smtClean="0"/>
                  <a:t>A </a:t>
                </a:r>
                <a:r>
                  <a:rPr lang="en-US" altLang="zh-TW" dirty="0"/>
                  <a:t>is </a:t>
                </a:r>
                <a:r>
                  <a:rPr lang="en-US" altLang="zh-TW" i="1" dirty="0"/>
                  <a:t>totally monotone </a:t>
                </a:r>
                <a:r>
                  <a:rPr lang="en-US" altLang="zh-TW" dirty="0"/>
                  <a:t>if every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dirty="0" smtClean="0"/>
                  <a:t> submatrix </a:t>
                </a:r>
                <a:r>
                  <a:rPr lang="en-US" altLang="zh-TW" dirty="0"/>
                  <a:t>of A </a:t>
                </a:r>
                <a:r>
                  <a:rPr lang="en-US" altLang="zh-TW" dirty="0" smtClean="0"/>
                  <a:t>is monotone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內容版面配置區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258816" cy="4525963"/>
              </a:xfrm>
              <a:blipFill rotWithShape="0">
                <a:blip r:embed="rId2"/>
                <a:stretch>
                  <a:fillRect l="-2432" t="-2156" r="-40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7532568"/>
                  </p:ext>
                </p:extLst>
              </p:nvPr>
            </p:nvGraphicFramePr>
            <p:xfrm>
              <a:off x="5364088" y="4131310"/>
              <a:ext cx="290398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3997"/>
                    <a:gridCol w="483997"/>
                    <a:gridCol w="483997"/>
                    <a:gridCol w="483997"/>
                    <a:gridCol w="483997"/>
                    <a:gridCol w="48399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..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21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36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10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39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39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7532568"/>
                  </p:ext>
                </p:extLst>
              </p:nvPr>
            </p:nvGraphicFramePr>
            <p:xfrm>
              <a:off x="5364088" y="4131310"/>
              <a:ext cx="290398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3997"/>
                    <a:gridCol w="483997"/>
                    <a:gridCol w="483997"/>
                    <a:gridCol w="483997"/>
                    <a:gridCol w="483997"/>
                    <a:gridCol w="48399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…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..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250" t="-208197" r="-5000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21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36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250" t="-408197" r="-5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10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39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ysClr val="windowText" lastClr="000000"/>
                              </a:solidFill>
                            </a:rPr>
                            <a:t>39</a:t>
                          </a:r>
                          <a:endParaRPr lang="zh-TW" altLang="en-US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273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SMAWK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SMAWK </a:t>
            </a:r>
            <a:r>
              <a:rPr lang="en-US" altLang="zh-TW" dirty="0" smtClean="0"/>
              <a:t>algorithm is used to find all row(column)  maximum(minimum)</a:t>
            </a:r>
            <a:r>
              <a:rPr lang="en-US" altLang="zh-TW" dirty="0"/>
              <a:t> </a:t>
            </a:r>
            <a:r>
              <a:rPr lang="en-US" altLang="zh-TW" dirty="0" smtClean="0"/>
              <a:t>in a totally </a:t>
            </a:r>
            <a:r>
              <a:rPr lang="en-US" altLang="zh-TW" dirty="0"/>
              <a:t>monotone </a:t>
            </a:r>
            <a:r>
              <a:rPr lang="en-US" altLang="zh-TW" dirty="0" smtClean="0"/>
              <a:t>matrix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pPr marL="0" indent="0" fontAlgn="base">
              <a:buNone/>
            </a:pPr>
            <a:r>
              <a:rPr lang="en-US" altLang="zh-TW" sz="2200" dirty="0" err="1" smtClean="0"/>
              <a:t>Alok</a:t>
            </a:r>
            <a:r>
              <a:rPr lang="en-US" altLang="zh-TW" sz="2200" dirty="0"/>
              <a:t> </a:t>
            </a:r>
            <a:r>
              <a:rPr lang="en-US" altLang="zh-TW" sz="2200" dirty="0" smtClean="0"/>
              <a:t>Aggarwal,</a:t>
            </a:r>
            <a:r>
              <a:rPr lang="en-US" altLang="zh-TW" sz="2200" dirty="0"/>
              <a:t> </a:t>
            </a:r>
            <a:r>
              <a:rPr lang="en-US" altLang="zh-TW" sz="2400" dirty="0"/>
              <a:t>et al</a:t>
            </a:r>
            <a:r>
              <a:rPr lang="en-US" altLang="zh-TW" sz="2400" dirty="0" smtClean="0"/>
              <a:t>.</a:t>
            </a:r>
            <a:r>
              <a:rPr lang="en-US" altLang="zh-TW" sz="2200" dirty="0" smtClean="0"/>
              <a:t> Geometric </a:t>
            </a:r>
            <a:r>
              <a:rPr lang="en-US" altLang="zh-TW" sz="2200" dirty="0"/>
              <a:t>applications of a matrix-searching </a:t>
            </a:r>
            <a:r>
              <a:rPr lang="en-US" altLang="zh-TW" sz="2200" dirty="0" smtClean="0"/>
              <a:t>algorithm, </a:t>
            </a:r>
            <a:r>
              <a:rPr lang="en-US" altLang="zh-TW" sz="2200" dirty="0" err="1" smtClean="0"/>
              <a:t>Algorithmica</a:t>
            </a:r>
            <a:r>
              <a:rPr lang="en-US" altLang="zh-TW" sz="2200" dirty="0"/>
              <a:t>, Volume 2, Issue 1, pp 195-208(1987)</a:t>
            </a:r>
          </a:p>
          <a:p>
            <a:pPr fontAlgn="base"/>
            <a:endParaRPr lang="en-US" altLang="zh-TW" dirty="0"/>
          </a:p>
          <a:p>
            <a:r>
              <a:rPr lang="en-US" altLang="zh-TW" dirty="0" smtClean="0"/>
              <a:t>Time complexity: O(n).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6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For concave case: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Using modification version of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Wilber’s algorithm </a:t>
                </a:r>
                <a:r>
                  <a:rPr lang="en-US" altLang="zh-TW" dirty="0" smtClean="0"/>
                  <a:t>runs in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O(n)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time</a:t>
                </a:r>
                <a:r>
                  <a:rPr lang="en-US" altLang="zh-TW" dirty="0" smtClean="0"/>
                  <a:t> to calculate all E[j] in a row or a column.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r>
                  <a:rPr lang="en-US" altLang="zh-TW" dirty="0" smtClean="0"/>
                  <a:t>For convex </a:t>
                </a:r>
                <a:r>
                  <a:rPr lang="en-US" altLang="zh-TW" dirty="0"/>
                  <a:t>case: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Using 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Klawe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and 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Kleitman’s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algorithm </a:t>
                </a:r>
                <a:r>
                  <a:rPr lang="en-US" altLang="zh-TW" dirty="0"/>
                  <a:t>runs in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O(n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(n)) time</a:t>
                </a:r>
                <a:r>
                  <a:rPr lang="en-US" altLang="zh-TW" dirty="0" smtClean="0"/>
                  <a:t>, where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/>
                  <a:t>(n</a:t>
                </a:r>
                <a:r>
                  <a:rPr lang="en-US" altLang="zh-TW" dirty="0" smtClean="0"/>
                  <a:t>) is the inverse Ackermann function </a:t>
                </a:r>
                <a:r>
                  <a:rPr lang="en-US" altLang="zh-TW" dirty="0"/>
                  <a:t>to calculate all E[j] in a row or a column.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4525963"/>
              </a:xfrm>
              <a:blipFill rotWithShape="0">
                <a:blip r:embed="rId2"/>
                <a:stretch>
                  <a:fillRect l="-1704" t="-3774" r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45764" y="3031490"/>
            <a:ext cx="907300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00" dirty="0" smtClean="0">
                <a:latin typeface="Arial" panose="020B0604020202020204" pitchFamily="34" charset="0"/>
              </a:rPr>
              <a:t> </a:t>
            </a:r>
            <a:r>
              <a:rPr lang="en-US" altLang="zh-TW" sz="1500" dirty="0" smtClean="0"/>
              <a:t>WILBER</a:t>
            </a:r>
            <a:r>
              <a:rPr lang="en-US" altLang="zh-TW" sz="1500" dirty="0"/>
              <a:t>, The concave least weight subsequence problem revisited, J. Algorithms 9, </a:t>
            </a:r>
            <a:r>
              <a:rPr lang="en-US" altLang="zh-TW" sz="1500" dirty="0" smtClean="0"/>
              <a:t>No.3, pp.418-425(1988).</a:t>
            </a:r>
            <a:endParaRPr lang="zh-TW" altLang="en-US" sz="1500" dirty="0"/>
          </a:p>
        </p:txBody>
      </p:sp>
      <p:sp>
        <p:nvSpPr>
          <p:cNvPr id="8" name="矩形 7"/>
          <p:cNvSpPr/>
          <p:nvPr/>
        </p:nvSpPr>
        <p:spPr>
          <a:xfrm>
            <a:off x="457200" y="5119280"/>
            <a:ext cx="91450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00" dirty="0"/>
              <a:t>M. M. KLAWE AND D. KLEITMAN, An almost linear algorithm for generalized matrix searching, SIAM J. Discrete Math., 3(1), </a:t>
            </a:r>
            <a:r>
              <a:rPr lang="en-US" altLang="zh-TW" sz="1500" dirty="0" smtClean="0"/>
              <a:t>pp.81–97(1987)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08721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Wilber’s algorithm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76" y="1744374"/>
            <a:ext cx="8704544" cy="477009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5218"/>
              </p:ext>
            </p:extLst>
          </p:nvPr>
        </p:nvGraphicFramePr>
        <p:xfrm>
          <a:off x="107504" y="3769824"/>
          <a:ext cx="388843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"/>
                <a:gridCol w="777686"/>
                <a:gridCol w="777686"/>
                <a:gridCol w="777686"/>
                <a:gridCol w="7776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T[</a:t>
                      </a:r>
                      <a:r>
                        <a:rPr lang="en-US" altLang="zh-TW" b="1" dirty="0" err="1" smtClean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zh-TW" b="1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j]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g(2)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D[1]+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g(3)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D[2]+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g(2)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D[3]+</a:t>
                      </a:r>
                    </a:p>
                    <a:p>
                      <a:pPr algn="ctr"/>
                      <a:r>
                        <a:rPr lang="en-US" altLang="zh-TW" b="1" dirty="0" smtClean="0">
                          <a:solidFill>
                            <a:sysClr val="windowText" lastClr="000000"/>
                          </a:solidFill>
                        </a:rPr>
                        <a:t>g(1)</a:t>
                      </a:r>
                      <a:endParaRPr lang="zh-TW" altLang="en-US" b="1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6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95488"/>
            <a:ext cx="7784597" cy="18871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2" y="3305783"/>
            <a:ext cx="5351952" cy="55165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0042" y="1716236"/>
            <a:ext cx="5040560" cy="13664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30042" y="3226678"/>
            <a:ext cx="5351952" cy="634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右箭號 9"/>
          <p:cNvSpPr/>
          <p:nvPr/>
        </p:nvSpPr>
        <p:spPr>
          <a:xfrm rot="5400000">
            <a:off x="4144690" y="2989242"/>
            <a:ext cx="576064" cy="3099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98459" y="4003513"/>
                <a:ext cx="9045542" cy="2066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Assume m=n, and the cost function is piecewise concave and convex, with s alternations .</a:t>
                </a:r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The recurrence (5) can be solve 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TW" alt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TW" dirty="0" smtClean="0"/>
                  <a:t>, where 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w</a:t>
                </a:r>
                <a:r>
                  <a:rPr lang="en-US" altLang="zh-TW" baseline="-25000" dirty="0" err="1" smtClean="0">
                    <a:solidFill>
                      <a:srgbClr val="FF0000"/>
                    </a:solidFill>
                  </a:rPr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is the width </a:t>
                </a:r>
              </a:p>
              <a:p>
                <a:r>
                  <a:rPr lang="en-US" altLang="zh-TW" dirty="0" smtClean="0"/>
                  <a:t>of c</a:t>
                </a:r>
                <a:r>
                  <a:rPr lang="en-US" altLang="zh-TW" baseline="-25000" dirty="0" smtClean="0"/>
                  <a:t>i </a:t>
                </a:r>
                <a:r>
                  <a:rPr lang="en-US" altLang="zh-TW" dirty="0" smtClean="0"/>
                  <a:t>– c</a:t>
                </a:r>
                <a:r>
                  <a:rPr lang="en-US" altLang="zh-TW" baseline="-25000" dirty="0" smtClean="0"/>
                  <a:t>i-</a:t>
                </a:r>
                <a:r>
                  <a:rPr lang="en-US" altLang="zh-TW" baseline="-25000" dirty="0"/>
                  <a:t>1</a:t>
                </a:r>
                <a:r>
                  <a:rPr lang="en-US" altLang="zh-TW" dirty="0" smtClean="0"/>
                  <a:t> which means there is a concave or convex between g(c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) and g(c</a:t>
                </a:r>
                <a:r>
                  <a:rPr lang="en-US" altLang="zh-TW" baseline="-25000" dirty="0" smtClean="0"/>
                  <a:t>i-1</a:t>
                </a:r>
                <a:r>
                  <a:rPr lang="en-US" altLang="zh-TW" dirty="0" smtClean="0"/>
                  <a:t>) and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 smtClean="0"/>
                  <a:t> is the inverse Ackermann function. 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Therefore they solve the modified edit distance problem in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TW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time</a:t>
                </a:r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9" y="4003513"/>
                <a:ext cx="9045542" cy="2066976"/>
              </a:xfrm>
              <a:prstGeom prst="rect">
                <a:avLst/>
              </a:prstGeom>
              <a:blipFill rotWithShape="0">
                <a:blip r:embed="rId4"/>
                <a:stretch>
                  <a:fillRect l="-539" t="-1770" b="-38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87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TW" dirty="0" smtClean="0"/>
          </a:p>
          <a:p>
            <a:pPr marL="0" indent="0" algn="ctr">
              <a:buNone/>
            </a:pPr>
            <a:endParaRPr lang="en-US" altLang="zh-TW" dirty="0"/>
          </a:p>
          <a:p>
            <a:pPr marL="0" indent="0" algn="ctr">
              <a:buNone/>
            </a:pPr>
            <a:r>
              <a:rPr lang="en-US" altLang="zh-TW" sz="5000" dirty="0" smtClean="0"/>
              <a:t>Thanks for listening.</a:t>
            </a:r>
            <a:endParaRPr lang="zh-TW" altLang="en-US" sz="5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27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Example of </a:t>
            </a:r>
            <a:r>
              <a:rPr lang="en-US" altLang="zh-TW" dirty="0"/>
              <a:t>SMAWK </a:t>
            </a:r>
            <a:r>
              <a:rPr lang="en-US" altLang="zh-TW" dirty="0" smtClean="0"/>
              <a:t>Algorithm</a:t>
            </a:r>
            <a:br>
              <a:rPr lang="en-US" altLang="zh-TW" dirty="0" smtClean="0"/>
            </a:br>
            <a:r>
              <a:rPr lang="en-US" altLang="zh-TW" dirty="0" smtClean="0"/>
              <a:t>(find all rows minimum)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Monotonicity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2016/4/19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13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7160038" cy="569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8580499"/>
                  </p:ext>
                </p:extLst>
              </p:nvPr>
            </p:nvGraphicFramePr>
            <p:xfrm>
              <a:off x="709187" y="4282646"/>
              <a:ext cx="2304255" cy="21626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8085"/>
                    <a:gridCol w="768085"/>
                    <a:gridCol w="768085"/>
                  </a:tblGrid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M[</a:t>
                          </a:r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][j]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1800" b="0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j</m:t>
                                </m:r>
                              </m:oMath>
                            </m:oMathPara>
                          </a14:m>
                          <a:endParaRPr lang="zh-TW" altLang="en-US" sz="1800" b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j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D 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8580499"/>
                  </p:ext>
                </p:extLst>
              </p:nvPr>
            </p:nvGraphicFramePr>
            <p:xfrm>
              <a:off x="709187" y="4282646"/>
              <a:ext cx="2304255" cy="21626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8085"/>
                    <a:gridCol w="768085"/>
                    <a:gridCol w="768085"/>
                  </a:tblGrid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M[</a:t>
                          </a:r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][j]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3"/>
                          <a:stretch>
                            <a:fillRect l="-100000" t="-1429" r="-100787" b="-4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3"/>
                          <a:stretch>
                            <a:fillRect l="-201587" t="-1429" r="-1587" b="-418571"/>
                          </a:stretch>
                        </a:blipFill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3"/>
                          <a:stretch>
                            <a:fillRect l="-794" t="-200000" r="-202381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3"/>
                          <a:stretch>
                            <a:fillRect l="-794" t="-300000" r="-202381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3"/>
                          <a:stretch>
                            <a:fillRect l="-794" t="-363636" r="-202381" b="-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D 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44323" y="2646302"/>
                <a:ext cx="511256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23" y="2646302"/>
                <a:ext cx="5112568" cy="4770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51520" y="3021329"/>
                <a:ext cx="337368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Case 1. C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zh-TW" dirty="0"/>
                  <a:t>D</a:t>
                </a:r>
                <a:r>
                  <a:rPr lang="en-US" altLang="zh-TW" dirty="0" smtClean="0"/>
                  <a:t> isn’t minimum in row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TW" dirty="0" smtClean="0"/>
                  <a:t>All M[r][j’] isn’t the minimum</a:t>
                </a:r>
              </a:p>
              <a:p>
                <a:r>
                  <a:rPr lang="en-US" altLang="zh-TW" dirty="0" smtClean="0"/>
                  <a:t> in row r,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  <a:p>
                <a:pPr marL="342900" indent="-342900">
                  <a:buAutoNum type="arabicPeriod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021329"/>
                <a:ext cx="3373680" cy="1477328"/>
              </a:xfrm>
              <a:prstGeom prst="rect">
                <a:avLst/>
              </a:prstGeom>
              <a:blipFill rotWithShape="0">
                <a:blip r:embed="rId5"/>
                <a:stretch>
                  <a:fillRect l="-1444" t="-2479" r="-7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875978" y="3021329"/>
                <a:ext cx="335444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Case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zh-TW" dirty="0" smtClean="0"/>
                  <a:t>A isn’t minimum in row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TW" dirty="0" smtClean="0"/>
                  <a:t>All M[r][j] isn’t the minimum </a:t>
                </a:r>
              </a:p>
              <a:p>
                <a:r>
                  <a:rPr lang="en-US" altLang="zh-TW" dirty="0" smtClean="0"/>
                  <a:t>in row r,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  <a:p>
                <a:pPr marL="342900" indent="-342900">
                  <a:buAutoNum type="arabicPeriod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78" y="3021329"/>
                <a:ext cx="3354444" cy="1477328"/>
              </a:xfrm>
              <a:prstGeom prst="rect">
                <a:avLst/>
              </a:prstGeom>
              <a:blipFill rotWithShape="0">
                <a:blip r:embed="rId6"/>
                <a:stretch>
                  <a:fillRect l="-1636" t="-2479" r="-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3173250"/>
                  </p:ext>
                </p:extLst>
              </p:nvPr>
            </p:nvGraphicFramePr>
            <p:xfrm>
              <a:off x="5334692" y="4313341"/>
              <a:ext cx="2304255" cy="22546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8085"/>
                    <a:gridCol w="768085"/>
                    <a:gridCol w="768085"/>
                  </a:tblGrid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M[</a:t>
                          </a:r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][j]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j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j’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D 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3173250"/>
                  </p:ext>
                </p:extLst>
              </p:nvPr>
            </p:nvGraphicFramePr>
            <p:xfrm>
              <a:off x="5334692" y="4313341"/>
              <a:ext cx="2304255" cy="22546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8085"/>
                    <a:gridCol w="768085"/>
                    <a:gridCol w="768085"/>
                  </a:tblGrid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M[</a:t>
                          </a:r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][j]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j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j’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23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zh-TW" altLang="en-US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err="1" smtClean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’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D 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7"/>
                          <a:stretch>
                            <a:fillRect l="-794" t="-283117" r="-202381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  <a:tr h="4693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227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5783</TotalTime>
  <Words>937</Words>
  <Application>Microsoft Office PowerPoint</Application>
  <PresentationFormat>如螢幕大小 (4:3)</PresentationFormat>
  <Paragraphs>296</Paragraphs>
  <Slides>14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 Sequence Comparison with Mixed Convex and Concave Costs</vt:lpstr>
      <vt:lpstr>Abstract</vt:lpstr>
      <vt:lpstr>Minimum weight edit sequence problem for multiple insertions and deletions</vt:lpstr>
      <vt:lpstr>Cost function</vt:lpstr>
      <vt:lpstr>Reducing DP formula</vt:lpstr>
      <vt:lpstr>Reducing DP formula</vt:lpstr>
      <vt:lpstr>Concave case</vt:lpstr>
      <vt:lpstr>Totally monotone matrix</vt:lpstr>
      <vt:lpstr>SMAWK Algorithm</vt:lpstr>
      <vt:lpstr>Algorithm</vt:lpstr>
      <vt:lpstr>Wilber’s algorithm</vt:lpstr>
      <vt:lpstr>Time complexity</vt:lpstr>
      <vt:lpstr>PowerPoint 簡報</vt:lpstr>
      <vt:lpstr>Example of SMAWK Algorithm (find all rows minimum)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Two Versions of LCS Problem for Indeterminate Strings</dc:title>
  <dc:creator>Leo</dc:creator>
  <cp:lastModifiedBy>linxl</cp:lastModifiedBy>
  <cp:revision>208</cp:revision>
  <dcterms:created xsi:type="dcterms:W3CDTF">2015-08-08T16:18:04Z</dcterms:created>
  <dcterms:modified xsi:type="dcterms:W3CDTF">2016-04-19T10:06:37Z</dcterms:modified>
</cp:coreProperties>
</file>