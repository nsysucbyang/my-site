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54" r:id="rId5"/>
    <p:sldId id="356" r:id="rId6"/>
    <p:sldId id="357" r:id="rId7"/>
    <p:sldId id="371" r:id="rId8"/>
    <p:sldId id="370" r:id="rId9"/>
    <p:sldId id="359" r:id="rId10"/>
    <p:sldId id="358" r:id="rId11"/>
    <p:sldId id="360" r:id="rId12"/>
    <p:sldId id="361" r:id="rId13"/>
    <p:sldId id="362" r:id="rId14"/>
    <p:sldId id="363" r:id="rId15"/>
    <p:sldId id="364" r:id="rId16"/>
    <p:sldId id="365" r:id="rId17"/>
    <p:sldId id="366" r:id="rId18"/>
    <p:sldId id="367" r:id="rId19"/>
    <p:sldId id="368" r:id="rId20"/>
    <p:sldId id="369" r:id="rId21"/>
    <p:sldId id="373" r:id="rId22"/>
    <p:sldId id="372" r:id="rId2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99CC"/>
    <a:srgbClr val="C5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40" autoAdjust="0"/>
    <p:restoredTop sz="94660"/>
  </p:normalViewPr>
  <p:slideViewPr>
    <p:cSldViewPr snapToGrid="0">
      <p:cViewPr varScale="1">
        <p:scale>
          <a:sx n="103" d="100"/>
          <a:sy n="103" d="100"/>
        </p:scale>
        <p:origin x="120"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7.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___8.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___9.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___10.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___11.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工作表1!$B$1</c:f>
              <c:strCache>
                <c:ptCount val="1"/>
                <c:pt idx="0">
                  <c:v>數列 1</c:v>
                </c:pt>
              </c:strCache>
            </c:strRef>
          </c:tx>
          <c:spPr>
            <a:ln w="28575" cap="rnd">
              <a:solidFill>
                <a:schemeClr val="accent1"/>
              </a:solidFill>
              <a:round/>
            </a:ln>
            <a:effectLst/>
          </c:spPr>
          <c:marker>
            <c:symbol val="none"/>
          </c:marker>
          <c:cat>
            <c:numRef>
              <c:f>工作表1!$A$2:$A$7</c:f>
              <c:numCache>
                <c:formatCode>General</c:formatCode>
                <c:ptCount val="6"/>
              </c:numCache>
            </c:numRef>
          </c:cat>
          <c:val>
            <c:numRef>
              <c:f>工作表1!$B$2:$B$7</c:f>
              <c:numCache>
                <c:formatCode>General</c:formatCode>
                <c:ptCount val="6"/>
                <c:pt idx="0">
                  <c:v>0</c:v>
                </c:pt>
                <c:pt idx="1">
                  <c:v>10</c:v>
                </c:pt>
                <c:pt idx="2">
                  <c:v>17</c:v>
                </c:pt>
                <c:pt idx="3">
                  <c:v>22</c:v>
                </c:pt>
                <c:pt idx="4">
                  <c:v>25</c:v>
                </c:pt>
                <c:pt idx="5">
                  <c:v>25</c:v>
                </c:pt>
              </c:numCache>
            </c:numRef>
          </c:val>
          <c:smooth val="0"/>
        </c:ser>
        <c:ser>
          <c:idx val="1"/>
          <c:order val="1"/>
          <c:tx>
            <c:strRef>
              <c:f>工作表1!$C$1</c:f>
              <c:strCache>
                <c:ptCount val="1"/>
                <c:pt idx="0">
                  <c:v>數列 2</c:v>
                </c:pt>
              </c:strCache>
            </c:strRef>
          </c:tx>
          <c:spPr>
            <a:ln w="28575" cap="rnd">
              <a:solidFill>
                <a:schemeClr val="accent2"/>
              </a:solidFill>
              <a:round/>
            </a:ln>
            <a:effectLst/>
          </c:spPr>
          <c:marker>
            <c:symbol val="none"/>
          </c:marker>
          <c:cat>
            <c:numRef>
              <c:f>工作表1!$A$2:$A$7</c:f>
              <c:numCache>
                <c:formatCode>General</c:formatCode>
                <c:ptCount val="6"/>
              </c:numCache>
            </c:numRef>
          </c:cat>
          <c:val>
            <c:numRef>
              <c:f>工作表1!$C$2:$C$7</c:f>
              <c:numCache>
                <c:formatCode>General</c:formatCode>
                <c:ptCount val="6"/>
                <c:pt idx="0">
                  <c:v>0</c:v>
                </c:pt>
                <c:pt idx="1">
                  <c:v>5</c:v>
                </c:pt>
                <c:pt idx="2">
                  <c:v>10</c:v>
                </c:pt>
                <c:pt idx="3">
                  <c:v>15</c:v>
                </c:pt>
                <c:pt idx="4">
                  <c:v>20</c:v>
                </c:pt>
                <c:pt idx="5">
                  <c:v>25</c:v>
                </c:pt>
              </c:numCache>
            </c:numRef>
          </c:val>
          <c:smooth val="0"/>
        </c:ser>
        <c:ser>
          <c:idx val="2"/>
          <c:order val="2"/>
          <c:tx>
            <c:strRef>
              <c:f>工作表1!$D$1</c:f>
              <c:strCache>
                <c:ptCount val="1"/>
                <c:pt idx="0">
                  <c:v>數列 3</c:v>
                </c:pt>
              </c:strCache>
            </c:strRef>
          </c:tx>
          <c:spPr>
            <a:ln w="28575" cap="rnd">
              <a:solidFill>
                <a:schemeClr val="accent6"/>
              </a:solidFill>
              <a:round/>
            </a:ln>
            <a:effectLst/>
          </c:spPr>
          <c:marker>
            <c:symbol val="none"/>
          </c:marker>
          <c:cat>
            <c:numRef>
              <c:f>工作表1!$A$2:$A$7</c:f>
              <c:numCache>
                <c:formatCode>General</c:formatCode>
                <c:ptCount val="6"/>
              </c:numCache>
            </c:numRef>
          </c:cat>
          <c:val>
            <c:numRef>
              <c:f>工作表1!$D$2:$D$7</c:f>
              <c:numCache>
                <c:formatCode>General</c:formatCode>
                <c:ptCount val="6"/>
                <c:pt idx="0">
                  <c:v>0</c:v>
                </c:pt>
                <c:pt idx="1">
                  <c:v>15</c:v>
                </c:pt>
                <c:pt idx="2">
                  <c:v>20</c:v>
                </c:pt>
                <c:pt idx="3">
                  <c:v>20</c:v>
                </c:pt>
                <c:pt idx="4">
                  <c:v>15</c:v>
                </c:pt>
                <c:pt idx="5">
                  <c:v>0</c:v>
                </c:pt>
              </c:numCache>
            </c:numRef>
          </c:val>
          <c:smooth val="0"/>
        </c:ser>
        <c:ser>
          <c:idx val="3"/>
          <c:order val="3"/>
          <c:tx>
            <c:strRef>
              <c:f>工作表1!$E$1</c:f>
              <c:strCache>
                <c:ptCount val="1"/>
                <c:pt idx="0">
                  <c:v>數列 4</c:v>
                </c:pt>
              </c:strCache>
            </c:strRef>
          </c:tx>
          <c:spPr>
            <a:ln w="28575" cap="rnd">
              <a:solidFill>
                <a:srgbClr val="7030A0"/>
              </a:solidFill>
              <a:round/>
            </a:ln>
            <a:effectLst/>
          </c:spPr>
          <c:marker>
            <c:symbol val="none"/>
          </c:marker>
          <c:cat>
            <c:numRef>
              <c:f>工作表1!$A$2:$A$7</c:f>
              <c:numCache>
                <c:formatCode>General</c:formatCode>
                <c:ptCount val="6"/>
              </c:numCache>
            </c:numRef>
          </c:cat>
          <c:val>
            <c:numRef>
              <c:f>工作表1!$E$2:$E$7</c:f>
              <c:numCache>
                <c:formatCode>General</c:formatCode>
                <c:ptCount val="6"/>
                <c:pt idx="0">
                  <c:v>0</c:v>
                </c:pt>
                <c:pt idx="1">
                  <c:v>17</c:v>
                </c:pt>
                <c:pt idx="2">
                  <c:v>20</c:v>
                </c:pt>
                <c:pt idx="3">
                  <c:v>28</c:v>
                </c:pt>
                <c:pt idx="4">
                  <c:v>20</c:v>
                </c:pt>
                <c:pt idx="5">
                  <c:v>5</c:v>
                </c:pt>
              </c:numCache>
            </c:numRef>
          </c:val>
          <c:smooth val="0"/>
        </c:ser>
        <c:dLbls>
          <c:showLegendKey val="0"/>
          <c:showVal val="0"/>
          <c:showCatName val="0"/>
          <c:showSerName val="0"/>
          <c:showPercent val="0"/>
          <c:showBubbleSize val="0"/>
        </c:dLbls>
        <c:smooth val="0"/>
        <c:axId val="594637088"/>
        <c:axId val="593711504"/>
      </c:lineChart>
      <c:catAx>
        <c:axId val="594637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593711504"/>
        <c:crosses val="autoZero"/>
        <c:auto val="1"/>
        <c:lblAlgn val="ctr"/>
        <c:lblOffset val="100"/>
        <c:noMultiLvlLbl val="0"/>
      </c:catAx>
      <c:valAx>
        <c:axId val="593711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59463708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zh-TW"/>
          </a:p>
        </c:txPr>
      </c:dTable>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dLbls>
          <c:dLblPos val="t"/>
          <c:showLegendKey val="0"/>
          <c:showVal val="1"/>
          <c:showCatName val="0"/>
          <c:showSerName val="0"/>
          <c:showPercent val="0"/>
          <c:showBubbleSize val="0"/>
        </c:dLbls>
        <c:smooth val="0"/>
        <c:axId val="667067328"/>
        <c:axId val="667067888"/>
      </c:lineChart>
      <c:catAx>
        <c:axId val="66706732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067888"/>
        <c:crosses val="autoZero"/>
        <c:auto val="1"/>
        <c:lblAlgn val="ctr"/>
        <c:lblOffset val="100"/>
        <c:noMultiLvlLbl val="0"/>
      </c:catAx>
      <c:valAx>
        <c:axId val="66706788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0673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ser>
          <c:idx val="1"/>
          <c:order val="1"/>
          <c:tx>
            <c:strRef>
              <c:f>工作表1!$C$1</c:f>
              <c:strCache>
                <c:ptCount val="1"/>
                <c:pt idx="0">
                  <c:v>1</c:v>
                </c:pt>
              </c:strCache>
            </c:strRef>
          </c:tx>
          <c:spPr>
            <a:ln w="28575" cap="rnd">
              <a:solidFill>
                <a:schemeClr val="accent2"/>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工作表1!$C$2:$C$6</c:f>
              <c:numCache>
                <c:formatCode>General</c:formatCode>
                <c:ptCount val="5"/>
                <c:pt idx="1">
                  <c:v>15</c:v>
                </c:pt>
                <c:pt idx="2">
                  <c:v>19</c:v>
                </c:pt>
                <c:pt idx="3">
                  <c:v>21</c:v>
                </c:pt>
                <c:pt idx="4">
                  <c:v>22</c:v>
                </c:pt>
              </c:numCache>
            </c:numRef>
          </c:val>
          <c:smooth val="0"/>
        </c:ser>
        <c:dLbls>
          <c:dLblPos val="l"/>
          <c:showLegendKey val="0"/>
          <c:showVal val="1"/>
          <c:showCatName val="0"/>
          <c:showSerName val="0"/>
          <c:showPercent val="0"/>
          <c:showBubbleSize val="0"/>
        </c:dLbls>
        <c:smooth val="0"/>
        <c:axId val="667070688"/>
        <c:axId val="667071248"/>
      </c:lineChart>
      <c:catAx>
        <c:axId val="66707068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071248"/>
        <c:crosses val="autoZero"/>
        <c:auto val="1"/>
        <c:lblAlgn val="ctr"/>
        <c:lblOffset val="100"/>
        <c:noMultiLvlLbl val="0"/>
      </c:catAx>
      <c:valAx>
        <c:axId val="66707124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0706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ser>
          <c:idx val="1"/>
          <c:order val="1"/>
          <c:tx>
            <c:strRef>
              <c:f>工作表1!$C$1</c:f>
              <c:strCache>
                <c:ptCount val="1"/>
                <c:pt idx="0">
                  <c:v>1</c:v>
                </c:pt>
              </c:strCache>
            </c:strRef>
          </c:tx>
          <c:spPr>
            <a:ln w="28575" cap="rnd">
              <a:solidFill>
                <a:schemeClr val="accent2"/>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工作表1!$C$2:$C$6</c:f>
              <c:numCache>
                <c:formatCode>General</c:formatCode>
                <c:ptCount val="5"/>
                <c:pt idx="1">
                  <c:v>15</c:v>
                </c:pt>
                <c:pt idx="2">
                  <c:v>19</c:v>
                </c:pt>
                <c:pt idx="3">
                  <c:v>21</c:v>
                </c:pt>
                <c:pt idx="4">
                  <c:v>22</c:v>
                </c:pt>
              </c:numCache>
            </c:numRef>
          </c:val>
          <c:smooth val="0"/>
        </c:ser>
        <c:ser>
          <c:idx val="2"/>
          <c:order val="2"/>
          <c:tx>
            <c:strRef>
              <c:f>工作表1!$D$1</c:f>
              <c:strCache>
                <c:ptCount val="1"/>
                <c:pt idx="0">
                  <c:v>2</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工作表1!$D$2:$D$6</c:f>
              <c:numCache>
                <c:formatCode>General</c:formatCode>
                <c:ptCount val="5"/>
                <c:pt idx="2">
                  <c:v>10</c:v>
                </c:pt>
                <c:pt idx="3">
                  <c:v>14</c:v>
                </c:pt>
                <c:pt idx="4">
                  <c:v>16</c:v>
                </c:pt>
              </c:numCache>
            </c:numRef>
          </c:val>
          <c:smooth val="0"/>
        </c:ser>
        <c:dLbls>
          <c:dLblPos val="l"/>
          <c:showLegendKey val="0"/>
          <c:showVal val="1"/>
          <c:showCatName val="0"/>
          <c:showSerName val="0"/>
          <c:showPercent val="0"/>
          <c:showBubbleSize val="0"/>
        </c:dLbls>
        <c:smooth val="0"/>
        <c:axId val="667074608"/>
        <c:axId val="667075168"/>
      </c:lineChart>
      <c:catAx>
        <c:axId val="667074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075168"/>
        <c:crosses val="autoZero"/>
        <c:auto val="1"/>
        <c:lblAlgn val="ctr"/>
        <c:lblOffset val="100"/>
        <c:noMultiLvlLbl val="0"/>
      </c:catAx>
      <c:valAx>
        <c:axId val="66707516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0746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ser>
          <c:idx val="1"/>
          <c:order val="1"/>
          <c:tx>
            <c:strRef>
              <c:f>工作表1!$C$1</c:f>
              <c:strCache>
                <c:ptCount val="1"/>
                <c:pt idx="0">
                  <c:v>1</c:v>
                </c:pt>
              </c:strCache>
            </c:strRef>
          </c:tx>
          <c:spPr>
            <a:ln w="28575" cap="rnd">
              <a:solidFill>
                <a:schemeClr val="accent2"/>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工作表1!$C$2:$C$6</c:f>
              <c:numCache>
                <c:formatCode>General</c:formatCode>
                <c:ptCount val="5"/>
                <c:pt idx="1">
                  <c:v>15</c:v>
                </c:pt>
                <c:pt idx="2">
                  <c:v>19</c:v>
                </c:pt>
                <c:pt idx="3">
                  <c:v>21</c:v>
                </c:pt>
                <c:pt idx="4">
                  <c:v>22</c:v>
                </c:pt>
              </c:numCache>
            </c:numRef>
          </c:val>
          <c:smooth val="0"/>
        </c:ser>
        <c:ser>
          <c:idx val="2"/>
          <c:order val="2"/>
          <c:tx>
            <c:strRef>
              <c:f>工作表1!$D$1</c:f>
              <c:strCache>
                <c:ptCount val="1"/>
                <c:pt idx="0">
                  <c:v>2</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工作表1!$D$2:$D$6</c:f>
              <c:numCache>
                <c:formatCode>General</c:formatCode>
                <c:ptCount val="5"/>
                <c:pt idx="2">
                  <c:v>10</c:v>
                </c:pt>
                <c:pt idx="3">
                  <c:v>14</c:v>
                </c:pt>
                <c:pt idx="4">
                  <c:v>16</c:v>
                </c:pt>
              </c:numCache>
            </c:numRef>
          </c:val>
          <c:smooth val="0"/>
        </c:ser>
        <c:ser>
          <c:idx val="3"/>
          <c:order val="3"/>
          <c:tx>
            <c:strRef>
              <c:f>工作表1!$E$1</c:f>
              <c:strCache>
                <c:ptCount val="1"/>
                <c:pt idx="0">
                  <c:v>3</c:v>
                </c:pt>
              </c:strCache>
            </c:strRef>
          </c:tx>
          <c:spPr>
            <a:ln w="28575" cap="rnd">
              <a:solidFill>
                <a:schemeClr val="accent4"/>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工作表1!$E$2:$E$6</c:f>
              <c:numCache>
                <c:formatCode>General</c:formatCode>
                <c:ptCount val="5"/>
                <c:pt idx="3">
                  <c:v>14</c:v>
                </c:pt>
                <c:pt idx="4">
                  <c:v>18</c:v>
                </c:pt>
              </c:numCache>
            </c:numRef>
          </c:val>
          <c:smooth val="0"/>
        </c:ser>
        <c:dLbls>
          <c:dLblPos val="l"/>
          <c:showLegendKey val="0"/>
          <c:showVal val="1"/>
          <c:showCatName val="0"/>
          <c:showSerName val="0"/>
          <c:showPercent val="0"/>
          <c:showBubbleSize val="0"/>
        </c:dLbls>
        <c:smooth val="0"/>
        <c:axId val="667079088"/>
        <c:axId val="667079648"/>
      </c:lineChart>
      <c:catAx>
        <c:axId val="66707908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079648"/>
        <c:crosses val="autoZero"/>
        <c:auto val="1"/>
        <c:lblAlgn val="ctr"/>
        <c:lblOffset val="100"/>
        <c:noMultiLvlLbl val="0"/>
      </c:catAx>
      <c:valAx>
        <c:axId val="66707964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0790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ser>
          <c:idx val="1"/>
          <c:order val="1"/>
          <c:tx>
            <c:strRef>
              <c:f>工作表1!$C$1</c:f>
              <c:strCache>
                <c:ptCount val="1"/>
                <c:pt idx="0">
                  <c:v>1</c:v>
                </c:pt>
              </c:strCache>
            </c:strRef>
          </c:tx>
          <c:spPr>
            <a:ln w="28575" cap="rnd">
              <a:solidFill>
                <a:schemeClr val="accent2"/>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工作表1!$C$2:$C$6</c:f>
              <c:numCache>
                <c:formatCode>General</c:formatCode>
                <c:ptCount val="5"/>
                <c:pt idx="1">
                  <c:v>15</c:v>
                </c:pt>
                <c:pt idx="2">
                  <c:v>19</c:v>
                </c:pt>
                <c:pt idx="3">
                  <c:v>21</c:v>
                </c:pt>
                <c:pt idx="4">
                  <c:v>22</c:v>
                </c:pt>
              </c:numCache>
            </c:numRef>
          </c:val>
          <c:smooth val="0"/>
        </c:ser>
        <c:ser>
          <c:idx val="2"/>
          <c:order val="2"/>
          <c:tx>
            <c:strRef>
              <c:f>工作表1!$D$1</c:f>
              <c:strCache>
                <c:ptCount val="1"/>
                <c:pt idx="0">
                  <c:v>2</c:v>
                </c:pt>
              </c:strCache>
            </c:strRef>
          </c:tx>
          <c:spPr>
            <a:ln w="28575" cap="rnd">
              <a:solidFill>
                <a:schemeClr val="accent3"/>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工作表1!$D$2:$D$6</c:f>
              <c:numCache>
                <c:formatCode>General</c:formatCode>
                <c:ptCount val="5"/>
                <c:pt idx="2">
                  <c:v>10</c:v>
                </c:pt>
                <c:pt idx="3">
                  <c:v>14</c:v>
                </c:pt>
                <c:pt idx="4">
                  <c:v>16</c:v>
                </c:pt>
              </c:numCache>
            </c:numRef>
          </c:val>
          <c:smooth val="0"/>
        </c:ser>
        <c:ser>
          <c:idx val="3"/>
          <c:order val="3"/>
          <c:tx>
            <c:strRef>
              <c:f>工作表1!$E$1</c:f>
              <c:strCache>
                <c:ptCount val="1"/>
                <c:pt idx="0">
                  <c:v>3</c:v>
                </c:pt>
              </c:strCache>
            </c:strRef>
          </c:tx>
          <c:spPr>
            <a:ln w="28575" cap="rnd">
              <a:solidFill>
                <a:schemeClr val="accent4"/>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工作表1!$E$2:$E$6</c:f>
              <c:numCache>
                <c:formatCode>General</c:formatCode>
                <c:ptCount val="5"/>
                <c:pt idx="3">
                  <c:v>14</c:v>
                </c:pt>
                <c:pt idx="4">
                  <c:v>18</c:v>
                </c:pt>
              </c:numCache>
            </c:numRef>
          </c:val>
          <c:smooth val="0"/>
        </c:ser>
        <c:ser>
          <c:idx val="4"/>
          <c:order val="4"/>
          <c:tx>
            <c:strRef>
              <c:f>工作表1!$F$1</c:f>
              <c:strCache>
                <c:ptCount val="1"/>
                <c:pt idx="0">
                  <c:v>4</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工作表1!$F$2:$F$6</c:f>
              <c:numCache>
                <c:formatCode>General</c:formatCode>
                <c:ptCount val="5"/>
                <c:pt idx="4">
                  <c:v>16</c:v>
                </c:pt>
              </c:numCache>
            </c:numRef>
          </c:val>
          <c:smooth val="0"/>
        </c:ser>
        <c:dLbls>
          <c:dLblPos val="l"/>
          <c:showLegendKey val="0"/>
          <c:showVal val="1"/>
          <c:showCatName val="0"/>
          <c:showSerName val="0"/>
          <c:showPercent val="0"/>
          <c:showBubbleSize val="0"/>
        </c:dLbls>
        <c:smooth val="0"/>
        <c:axId val="667965120"/>
        <c:axId val="667965680"/>
      </c:lineChart>
      <c:catAx>
        <c:axId val="667965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965680"/>
        <c:crosses val="autoZero"/>
        <c:auto val="1"/>
        <c:lblAlgn val="ctr"/>
        <c:lblOffset val="100"/>
        <c:noMultiLvlLbl val="0"/>
      </c:catAx>
      <c:valAx>
        <c:axId val="667965680"/>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9651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dLbls>
          <c:dLblPos val="t"/>
          <c:showLegendKey val="0"/>
          <c:showVal val="1"/>
          <c:showCatName val="0"/>
          <c:showSerName val="0"/>
          <c:showPercent val="0"/>
          <c:showBubbleSize val="0"/>
        </c:dLbls>
        <c:smooth val="0"/>
        <c:axId val="667967920"/>
        <c:axId val="667968480"/>
      </c:lineChart>
      <c:catAx>
        <c:axId val="667967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968480"/>
        <c:crosses val="autoZero"/>
        <c:auto val="1"/>
        <c:lblAlgn val="ctr"/>
        <c:lblOffset val="100"/>
        <c:noMultiLvlLbl val="0"/>
      </c:catAx>
      <c:valAx>
        <c:axId val="667968480"/>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967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ser>
          <c:idx val="1"/>
          <c:order val="1"/>
          <c:tx>
            <c:strRef>
              <c:f>工作表1!$C$1</c:f>
              <c:strCache>
                <c:ptCount val="1"/>
                <c:pt idx="0">
                  <c:v>1</c:v>
                </c:pt>
              </c:strCache>
            </c:strRef>
          </c:tx>
          <c:spPr>
            <a:ln w="28575" cap="rnd">
              <a:solidFill>
                <a:schemeClr val="accent2"/>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工作表1!$C$2:$C$6</c:f>
              <c:numCache>
                <c:formatCode>General</c:formatCode>
                <c:ptCount val="5"/>
                <c:pt idx="1">
                  <c:v>15</c:v>
                </c:pt>
                <c:pt idx="2">
                  <c:v>19</c:v>
                </c:pt>
                <c:pt idx="3">
                  <c:v>21</c:v>
                </c:pt>
                <c:pt idx="4">
                  <c:v>22</c:v>
                </c:pt>
              </c:numCache>
            </c:numRef>
          </c:val>
          <c:smooth val="0"/>
        </c:ser>
        <c:dLbls>
          <c:dLblPos val="l"/>
          <c:showLegendKey val="0"/>
          <c:showVal val="1"/>
          <c:showCatName val="0"/>
          <c:showSerName val="0"/>
          <c:showPercent val="0"/>
          <c:showBubbleSize val="0"/>
        </c:dLbls>
        <c:smooth val="0"/>
        <c:axId val="667971280"/>
        <c:axId val="667971840"/>
      </c:lineChart>
      <c:catAx>
        <c:axId val="66797128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971840"/>
        <c:crosses val="autoZero"/>
        <c:auto val="1"/>
        <c:lblAlgn val="ctr"/>
        <c:lblOffset val="100"/>
        <c:noMultiLvlLbl val="0"/>
      </c:catAx>
      <c:valAx>
        <c:axId val="667971840"/>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9712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ser>
          <c:idx val="1"/>
          <c:order val="1"/>
          <c:tx>
            <c:strRef>
              <c:f>工作表1!$C$1</c:f>
              <c:strCache>
                <c:ptCount val="1"/>
                <c:pt idx="0">
                  <c:v>1</c:v>
                </c:pt>
              </c:strCache>
            </c:strRef>
          </c:tx>
          <c:spPr>
            <a:ln w="28575" cap="rnd">
              <a:solidFill>
                <a:schemeClr val="accent2"/>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工作表1!$C$2:$C$6</c:f>
              <c:numCache>
                <c:formatCode>General</c:formatCode>
                <c:ptCount val="5"/>
                <c:pt idx="1">
                  <c:v>15</c:v>
                </c:pt>
                <c:pt idx="2">
                  <c:v>19</c:v>
                </c:pt>
                <c:pt idx="3">
                  <c:v>21</c:v>
                </c:pt>
                <c:pt idx="4">
                  <c:v>22</c:v>
                </c:pt>
              </c:numCache>
            </c:numRef>
          </c:val>
          <c:smooth val="0"/>
        </c:ser>
        <c:ser>
          <c:idx val="2"/>
          <c:order val="2"/>
          <c:tx>
            <c:strRef>
              <c:f>工作表1!$D$1</c:f>
              <c:strCache>
                <c:ptCount val="1"/>
                <c:pt idx="0">
                  <c:v>2</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工作表1!$D$2:$D$6</c:f>
              <c:numCache>
                <c:formatCode>General</c:formatCode>
                <c:ptCount val="5"/>
                <c:pt idx="2">
                  <c:v>10</c:v>
                </c:pt>
                <c:pt idx="3">
                  <c:v>14</c:v>
                </c:pt>
                <c:pt idx="4">
                  <c:v>16</c:v>
                </c:pt>
              </c:numCache>
            </c:numRef>
          </c:val>
          <c:smooth val="0"/>
        </c:ser>
        <c:dLbls>
          <c:dLblPos val="l"/>
          <c:showLegendKey val="0"/>
          <c:showVal val="1"/>
          <c:showCatName val="0"/>
          <c:showSerName val="0"/>
          <c:showPercent val="0"/>
          <c:showBubbleSize val="0"/>
        </c:dLbls>
        <c:smooth val="0"/>
        <c:axId val="667674224"/>
        <c:axId val="667674784"/>
      </c:lineChart>
      <c:catAx>
        <c:axId val="6676742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674784"/>
        <c:crosses val="autoZero"/>
        <c:auto val="1"/>
        <c:lblAlgn val="ctr"/>
        <c:lblOffset val="100"/>
        <c:noMultiLvlLbl val="0"/>
      </c:catAx>
      <c:valAx>
        <c:axId val="66767478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6742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ser>
          <c:idx val="1"/>
          <c:order val="1"/>
          <c:tx>
            <c:strRef>
              <c:f>工作表1!$C$1</c:f>
              <c:strCache>
                <c:ptCount val="1"/>
                <c:pt idx="0">
                  <c:v>1</c:v>
                </c:pt>
              </c:strCache>
            </c:strRef>
          </c:tx>
          <c:spPr>
            <a:ln w="28575" cap="rnd">
              <a:solidFill>
                <a:schemeClr val="accent2"/>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工作表1!$C$2:$C$6</c:f>
              <c:numCache>
                <c:formatCode>General</c:formatCode>
                <c:ptCount val="5"/>
                <c:pt idx="1">
                  <c:v>15</c:v>
                </c:pt>
                <c:pt idx="2">
                  <c:v>19</c:v>
                </c:pt>
                <c:pt idx="3">
                  <c:v>21</c:v>
                </c:pt>
                <c:pt idx="4">
                  <c:v>22</c:v>
                </c:pt>
              </c:numCache>
            </c:numRef>
          </c:val>
          <c:smooth val="0"/>
        </c:ser>
        <c:ser>
          <c:idx val="2"/>
          <c:order val="2"/>
          <c:tx>
            <c:strRef>
              <c:f>工作表1!$D$1</c:f>
              <c:strCache>
                <c:ptCount val="1"/>
                <c:pt idx="0">
                  <c:v>2</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工作表1!$D$2:$D$6</c:f>
              <c:numCache>
                <c:formatCode>General</c:formatCode>
                <c:ptCount val="5"/>
                <c:pt idx="2">
                  <c:v>10</c:v>
                </c:pt>
                <c:pt idx="3">
                  <c:v>14</c:v>
                </c:pt>
                <c:pt idx="4">
                  <c:v>16</c:v>
                </c:pt>
              </c:numCache>
            </c:numRef>
          </c:val>
          <c:smooth val="0"/>
        </c:ser>
        <c:ser>
          <c:idx val="3"/>
          <c:order val="3"/>
          <c:tx>
            <c:strRef>
              <c:f>工作表1!$E$1</c:f>
              <c:strCache>
                <c:ptCount val="1"/>
                <c:pt idx="0">
                  <c:v>3</c:v>
                </c:pt>
              </c:strCache>
            </c:strRef>
          </c:tx>
          <c:spPr>
            <a:ln w="28575" cap="rnd">
              <a:solidFill>
                <a:schemeClr val="accent4"/>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工作表1!$E$2:$E$6</c:f>
              <c:numCache>
                <c:formatCode>General</c:formatCode>
                <c:ptCount val="5"/>
                <c:pt idx="3">
                  <c:v>14</c:v>
                </c:pt>
                <c:pt idx="4">
                  <c:v>18</c:v>
                </c:pt>
              </c:numCache>
            </c:numRef>
          </c:val>
          <c:smooth val="0"/>
        </c:ser>
        <c:dLbls>
          <c:dLblPos val="l"/>
          <c:showLegendKey val="0"/>
          <c:showVal val="1"/>
          <c:showCatName val="0"/>
          <c:showSerName val="0"/>
          <c:showPercent val="0"/>
          <c:showBubbleSize val="0"/>
        </c:dLbls>
        <c:smooth val="0"/>
        <c:axId val="667678704"/>
        <c:axId val="667679264"/>
      </c:lineChart>
      <c:catAx>
        <c:axId val="66767870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679264"/>
        <c:crosses val="autoZero"/>
        <c:auto val="1"/>
        <c:lblAlgn val="ctr"/>
        <c:lblOffset val="100"/>
        <c:noMultiLvlLbl val="0"/>
      </c:catAx>
      <c:valAx>
        <c:axId val="66767926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676787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861384514435673E-2"/>
          <c:y val="2.2828248031496062E-2"/>
          <c:w val="0.9151386154855643"/>
          <c:h val="0.92116263412408106"/>
        </c:manualLayout>
      </c:layout>
      <c:lineChart>
        <c:grouping val="standard"/>
        <c:varyColors val="0"/>
        <c:ser>
          <c:idx val="0"/>
          <c:order val="0"/>
          <c:tx>
            <c:strRef>
              <c:f>工作表1!$B$1</c:f>
              <c:strCache>
                <c:ptCount val="1"/>
                <c:pt idx="0">
                  <c:v>0</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工作表1!$B$2:$B$6</c:f>
              <c:numCache>
                <c:formatCode>General</c:formatCode>
                <c:ptCount val="5"/>
                <c:pt idx="0">
                  <c:v>10</c:v>
                </c:pt>
                <c:pt idx="1">
                  <c:v>14</c:v>
                </c:pt>
                <c:pt idx="2">
                  <c:v>16</c:v>
                </c:pt>
                <c:pt idx="3">
                  <c:v>17</c:v>
                </c:pt>
                <c:pt idx="4">
                  <c:v>15</c:v>
                </c:pt>
              </c:numCache>
            </c:numRef>
          </c:val>
          <c:smooth val="0"/>
        </c:ser>
        <c:ser>
          <c:idx val="1"/>
          <c:order val="1"/>
          <c:tx>
            <c:strRef>
              <c:f>工作表1!$C$1</c:f>
              <c:strCache>
                <c:ptCount val="1"/>
                <c:pt idx="0">
                  <c:v>1</c:v>
                </c:pt>
              </c:strCache>
            </c:strRef>
          </c:tx>
          <c:spPr>
            <a:ln w="28575" cap="rnd">
              <a:solidFill>
                <a:schemeClr val="accent2"/>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工作表1!$C$2:$C$6</c:f>
              <c:numCache>
                <c:formatCode>General</c:formatCode>
                <c:ptCount val="5"/>
                <c:pt idx="1">
                  <c:v>15</c:v>
                </c:pt>
                <c:pt idx="2">
                  <c:v>19</c:v>
                </c:pt>
                <c:pt idx="3">
                  <c:v>21</c:v>
                </c:pt>
                <c:pt idx="4">
                  <c:v>22</c:v>
                </c:pt>
              </c:numCache>
            </c:numRef>
          </c:val>
          <c:smooth val="0"/>
        </c:ser>
        <c:ser>
          <c:idx val="2"/>
          <c:order val="2"/>
          <c:tx>
            <c:strRef>
              <c:f>工作表1!$D$1</c:f>
              <c:strCache>
                <c:ptCount val="1"/>
                <c:pt idx="0">
                  <c:v>2</c:v>
                </c:pt>
              </c:strCache>
            </c:strRef>
          </c:tx>
          <c:spPr>
            <a:ln w="28575" cap="rnd">
              <a:solidFill>
                <a:schemeClr val="accent3"/>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工作表1!$D$2:$D$6</c:f>
              <c:numCache>
                <c:formatCode>General</c:formatCode>
                <c:ptCount val="5"/>
                <c:pt idx="2">
                  <c:v>10</c:v>
                </c:pt>
                <c:pt idx="3">
                  <c:v>14</c:v>
                </c:pt>
                <c:pt idx="4">
                  <c:v>16</c:v>
                </c:pt>
              </c:numCache>
            </c:numRef>
          </c:val>
          <c:smooth val="0"/>
        </c:ser>
        <c:ser>
          <c:idx val="3"/>
          <c:order val="3"/>
          <c:tx>
            <c:strRef>
              <c:f>工作表1!$E$1</c:f>
              <c:strCache>
                <c:ptCount val="1"/>
                <c:pt idx="0">
                  <c:v>3</c:v>
                </c:pt>
              </c:strCache>
            </c:strRef>
          </c:tx>
          <c:spPr>
            <a:ln w="28575" cap="rnd">
              <a:solidFill>
                <a:schemeClr val="accent4"/>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工作表1!$E$2:$E$6</c:f>
              <c:numCache>
                <c:formatCode>General</c:formatCode>
                <c:ptCount val="5"/>
                <c:pt idx="3">
                  <c:v>14</c:v>
                </c:pt>
                <c:pt idx="4">
                  <c:v>18</c:v>
                </c:pt>
              </c:numCache>
            </c:numRef>
          </c:val>
          <c:smooth val="0"/>
        </c:ser>
        <c:ser>
          <c:idx val="4"/>
          <c:order val="4"/>
          <c:tx>
            <c:strRef>
              <c:f>工作表1!$F$1</c:f>
              <c:strCache>
                <c:ptCount val="1"/>
                <c:pt idx="0">
                  <c:v>4</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l"/>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工作表1!$A$2:$A$6</c:f>
              <c:numCache>
                <c:formatCode>General</c:formatCode>
                <c:ptCount val="5"/>
              </c:numCache>
            </c:numRef>
          </c:cat>
          <c:val>
            <c:numRef>
              <c:f>工作表1!$F$2:$F$6</c:f>
              <c:numCache>
                <c:formatCode>General</c:formatCode>
                <c:ptCount val="5"/>
                <c:pt idx="4">
                  <c:v>16</c:v>
                </c:pt>
              </c:numCache>
            </c:numRef>
          </c:val>
          <c:smooth val="0"/>
        </c:ser>
        <c:dLbls>
          <c:dLblPos val="l"/>
          <c:showLegendKey val="0"/>
          <c:showVal val="1"/>
          <c:showCatName val="0"/>
          <c:showSerName val="0"/>
          <c:showPercent val="0"/>
          <c:showBubbleSize val="0"/>
        </c:dLbls>
        <c:smooth val="0"/>
        <c:axId val="592874368"/>
        <c:axId val="592874928"/>
      </c:lineChart>
      <c:catAx>
        <c:axId val="59287436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592874928"/>
        <c:crosses val="autoZero"/>
        <c:auto val="1"/>
        <c:lblAlgn val="ctr"/>
        <c:lblOffset val="100"/>
        <c:noMultiLvlLbl val="0"/>
      </c:catAx>
      <c:valAx>
        <c:axId val="59287492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5928743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7867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615088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319045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39354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371187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060125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01649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819419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2618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4123520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0009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465F44-F807-4518-89E2-C811281CE334}" type="datetimeFigureOut">
              <a:rPr lang="zh-TW" altLang="en-US" smtClean="0"/>
              <a:t>2016/4/19</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8030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598488" y="1286632"/>
            <a:ext cx="7772400"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sz="3200" b="1" dirty="0" smtClean="0">
                <a:latin typeface="Times New Roman" panose="02020603050405020304" pitchFamily="18" charset="0"/>
                <a:cs typeface="Times New Roman" panose="02020603050405020304" pitchFamily="18" charset="0"/>
              </a:rPr>
              <a:t>Sequence Comparison with Concave Weighting Functions</a:t>
            </a:r>
            <a:endParaRPr lang="zh-TW" altLang="en-US" sz="3200" dirty="0">
              <a:latin typeface="Times New Roman" panose="02020603050405020304" pitchFamily="18" charset="0"/>
              <a:ea typeface="Arial Unicode MS" pitchFamily="34" charset="-120"/>
              <a:cs typeface="Times New Roman" panose="02020603050405020304" pitchFamily="18" charset="0"/>
            </a:endParaRPr>
          </a:p>
        </p:txBody>
      </p:sp>
      <p:sp>
        <p:nvSpPr>
          <p:cNvPr id="5" name="副標題 2"/>
          <p:cNvSpPr txBox="1">
            <a:spLocks/>
          </p:cNvSpPr>
          <p:nvPr/>
        </p:nvSpPr>
        <p:spPr>
          <a:xfrm>
            <a:off x="1406525" y="3019431"/>
            <a:ext cx="6400800" cy="479425"/>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2000" dirty="0" smtClean="0"/>
              <a:t>Webb Miller and Eugene W. Myers</a:t>
            </a:r>
            <a:endParaRPr lang="en-US" altLang="zh-TW" sz="2000" dirty="0"/>
          </a:p>
        </p:txBody>
      </p:sp>
      <p:graphicFrame>
        <p:nvGraphicFramePr>
          <p:cNvPr id="6" name="表格 5"/>
          <p:cNvGraphicFramePr>
            <a:graphicFrameLocks noGrp="1"/>
          </p:cNvGraphicFramePr>
          <p:nvPr>
            <p:extLst>
              <p:ext uri="{D42A27DB-BD31-4B8C-83A1-F6EECF244321}">
                <p14:modId xmlns:p14="http://schemas.microsoft.com/office/powerpoint/2010/main" val="4075841751"/>
              </p:ext>
            </p:extLst>
          </p:nvPr>
        </p:nvGraphicFramePr>
        <p:xfrm>
          <a:off x="2698748" y="3848099"/>
          <a:ext cx="3816351" cy="1500105"/>
        </p:xfrm>
        <a:graphic>
          <a:graphicData uri="http://schemas.openxmlformats.org/drawingml/2006/table">
            <a:tbl>
              <a:tblPr/>
              <a:tblGrid>
                <a:gridCol w="3816351"/>
              </a:tblGrid>
              <a:tr h="846860">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en-US" altLang="zh-TW" sz="1800" baseline="0" dirty="0" smtClean="0">
                          <a:solidFill>
                            <a:schemeClr val="tx1"/>
                          </a:solidFill>
                          <a:latin typeface="+mn-lt"/>
                        </a:rPr>
                        <a:t>Bulletin of Mathematical Biology</a:t>
                      </a:r>
                    </a:p>
                    <a:p>
                      <a:pPr marL="0" marR="0" indent="0" algn="ctr" defTabSz="914400" rtl="0" eaLnBrk="1" fontAlgn="base" latinLnBrk="0" hangingPunct="1">
                        <a:lnSpc>
                          <a:spcPct val="100000"/>
                        </a:lnSpc>
                        <a:spcBef>
                          <a:spcPts val="0"/>
                        </a:spcBef>
                        <a:spcAft>
                          <a:spcPts val="0"/>
                        </a:spcAft>
                        <a:buClrTx/>
                        <a:buSzTx/>
                        <a:buFontTx/>
                        <a:buNone/>
                        <a:tabLst/>
                        <a:defRPr/>
                      </a:pPr>
                      <a:r>
                        <a:rPr lang="en-US" altLang="zh-TW" sz="1800" baseline="0" dirty="0" smtClean="0">
                          <a:solidFill>
                            <a:schemeClr val="tx1"/>
                          </a:solidFill>
                          <a:latin typeface="+mn-lt"/>
                        </a:rPr>
                        <a:t>Vol. 50, No. 2, pp. 97-120, 1988.</a:t>
                      </a:r>
                    </a:p>
                    <a:p>
                      <a:pPr marL="0" marR="0" indent="0" algn="ctr" defTabSz="914400" rtl="0" eaLnBrk="1" fontAlgn="base" latinLnBrk="0" hangingPunct="1">
                        <a:lnSpc>
                          <a:spcPct val="100000"/>
                        </a:lnSpc>
                        <a:spcBef>
                          <a:spcPts val="0"/>
                        </a:spcBef>
                        <a:spcAft>
                          <a:spcPts val="0"/>
                        </a:spcAft>
                        <a:buClrTx/>
                        <a:buSzTx/>
                        <a:buFontTx/>
                        <a:buNone/>
                        <a:tabLst/>
                        <a:defRPr/>
                      </a:pPr>
                      <a:endParaRPr lang="en-US" altLang="zh-TW" sz="1800" baseline="0" dirty="0" smtClean="0">
                        <a:solidFill>
                          <a:schemeClr val="tx1"/>
                        </a:solidFill>
                        <a:latin typeface="+mn-lt"/>
                      </a:endParaRPr>
                    </a:p>
                  </a:txBody>
                  <a:tcPr marL="95251" marR="9525" marT="9523" marB="9523">
                    <a:lnL>
                      <a:noFill/>
                    </a:lnL>
                    <a:lnR>
                      <a:noFill/>
                    </a:lnR>
                    <a:lnT>
                      <a:noFill/>
                    </a:lnT>
                    <a:lnB>
                      <a:noFill/>
                    </a:lnB>
                    <a:solidFill>
                      <a:srgbClr val="FFFFFF"/>
                    </a:solidFill>
                  </a:tcPr>
                </a:tc>
              </a:tr>
              <a:tr h="653245">
                <a:tc>
                  <a:txBody>
                    <a:bodyPr/>
                    <a:lstStyle/>
                    <a:p>
                      <a:pPr algn="ctr"/>
                      <a:endParaRPr lang="zh-TW" altLang="en-US" sz="1600" kern="1200" dirty="0">
                        <a:solidFill>
                          <a:schemeClr val="tx1"/>
                        </a:solidFill>
                        <a:effectLst/>
                        <a:latin typeface="Verdana" panose="020B0604030504040204" pitchFamily="34" charset="0"/>
                        <a:ea typeface="+mn-ea"/>
                        <a:cs typeface="+mn-cs"/>
                      </a:endParaRPr>
                    </a:p>
                  </a:txBody>
                  <a:tcPr marL="95251"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2982910" y="5253638"/>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eaLnBrk="1" hangingPunct="1">
              <a:spcBef>
                <a:spcPct val="0"/>
              </a:spcBef>
              <a:buFontTx/>
              <a:buNone/>
            </a:pPr>
            <a:r>
              <a:rPr lang="en-US" altLang="zh-TW" sz="1800" dirty="0"/>
              <a:t>Presenter:  </a:t>
            </a:r>
            <a:r>
              <a:rPr lang="en-US" altLang="zh-TW" sz="1800" dirty="0" smtClean="0"/>
              <a:t>Bi-</a:t>
            </a:r>
            <a:r>
              <a:rPr lang="en-US" altLang="zh-TW" sz="1800" dirty="0" err="1" smtClean="0"/>
              <a:t>Shiang</a:t>
            </a:r>
            <a:r>
              <a:rPr lang="en-US" altLang="zh-TW" sz="1800" dirty="0" smtClean="0"/>
              <a:t> Lin</a:t>
            </a:r>
            <a:endParaRPr lang="en-US" altLang="zh-TW" sz="1800" dirty="0"/>
          </a:p>
          <a:p>
            <a:pPr algn="ctr" eaLnBrk="1" hangingPunct="1">
              <a:spcBef>
                <a:spcPct val="0"/>
              </a:spcBef>
              <a:buFontTx/>
              <a:buNone/>
            </a:pPr>
            <a:r>
              <a:rPr lang="en-US" altLang="zh-TW" sz="1800" dirty="0"/>
              <a:t>Date:</a:t>
            </a:r>
            <a:fld id="{F3590F60-3E7B-48AD-979A-345F224951B5}" type="datetime1">
              <a:rPr lang="zh-TW" altLang="en-US" sz="1800"/>
              <a:pPr algn="ctr" eaLnBrk="1" hangingPunct="1">
                <a:spcBef>
                  <a:spcPct val="0"/>
                </a:spcBef>
                <a:buFontTx/>
                <a:buNone/>
              </a:pPr>
              <a:t>2016/4/19</a:t>
            </a:fld>
            <a:endParaRPr lang="zh-TW" altLang="en-US" sz="1800" dirty="0"/>
          </a:p>
        </p:txBody>
      </p:sp>
    </p:spTree>
    <p:extLst>
      <p:ext uri="{BB962C8B-B14F-4D97-AF65-F5344CB8AC3E}">
        <p14:creationId xmlns:p14="http://schemas.microsoft.com/office/powerpoint/2010/main" val="1494669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Abstract(1/3)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p:txBody>
          <a:bodyPr>
            <a:noAutofit/>
          </a:bodyPr>
          <a:lstStyle/>
          <a:p>
            <a:pPr marL="0" indent="0" algn="just">
              <a:lnSpc>
                <a:spcPct val="150000"/>
              </a:lnSpc>
              <a:buNone/>
            </a:pPr>
            <a:r>
              <a:rPr lang="en-US" altLang="zh-TW" dirty="0" smtClean="0">
                <a:latin typeface="Times New Roman" panose="02020603050405020304" pitchFamily="18" charset="0"/>
                <a:cs typeface="Times New Roman" panose="02020603050405020304" pitchFamily="18" charset="0"/>
              </a:rPr>
              <a:t>We consider efficient methods for computing a difference metric between two sequences of symbols, where the cost of an operation to insert or delete a block of symbols is a concave function of the block’s length. Alternatively, sequences can be optimally aligned when gap penalties are a concave function of the gap length.</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5597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Abstract(2/3)</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Autofit/>
              </a:bodyPr>
              <a:lstStyle/>
              <a:p>
                <a:pPr marL="0" indent="0" algn="just">
                  <a:lnSpc>
                    <a:spcPct val="150000"/>
                  </a:lnSpc>
                  <a:buNone/>
                </a:pPr>
                <a:r>
                  <a:rPr lang="en-US" altLang="zh-TW" dirty="0" smtClean="0">
                    <a:latin typeface="Times New Roman" panose="02020603050405020304" pitchFamily="18" charset="0"/>
                    <a:cs typeface="Times New Roman" panose="02020603050405020304" pitchFamily="18" charset="0"/>
                  </a:rPr>
                  <a:t>Two algorithms based on the ‘candidate list paradigm’ first used by Waterman (1984) are presented. The first computes significantly more parsimonious candidate lists than Waterman’s method. The second method refines the first to the point of guaranteeing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r>
                      <a:rPr lang="en-US" altLang="zh-TW" i="1" dirty="0" smtClean="0">
                        <a:latin typeface="Cambria Math" panose="02040503050406030204" pitchFamily="18" charset="0"/>
                        <a:cs typeface="Times New Roman" panose="02020603050405020304" pitchFamily="18" charset="0"/>
                      </a:rPr>
                      <m:t>(</m:t>
                    </m:r>
                    <m:sSup>
                      <m:sSupPr>
                        <m:ctrlPr>
                          <a:rPr lang="en-US" altLang="zh-TW" i="1" dirty="0" smtClean="0">
                            <a:latin typeface="Cambria Math" panose="02040503050406030204" pitchFamily="18" charset="0"/>
                            <a:cs typeface="Times New Roman" panose="02020603050405020304" pitchFamily="18" charset="0"/>
                          </a:rPr>
                        </m:ctrlPr>
                      </m:sSupPr>
                      <m:e>
                        <m:r>
                          <a:rPr lang="en-US" altLang="zh-TW" b="0" i="1" dirty="0" smtClean="0">
                            <a:latin typeface="Cambria Math" panose="02040503050406030204" pitchFamily="18" charset="0"/>
                            <a:cs typeface="Times New Roman" panose="02020603050405020304" pitchFamily="18" charset="0"/>
                          </a:rPr>
                          <m:t>𝑁</m:t>
                        </m:r>
                      </m:e>
                      <m:sup>
                        <m:r>
                          <a:rPr lang="en-US" altLang="zh-TW" b="0" i="1" dirty="0" smtClean="0">
                            <a:latin typeface="Cambria Math" panose="02040503050406030204" pitchFamily="18" charset="0"/>
                            <a:cs typeface="Times New Roman" panose="02020603050405020304" pitchFamily="18" charset="0"/>
                          </a:rPr>
                          <m:t>2</m:t>
                        </m:r>
                      </m:sup>
                    </m:sSup>
                    <m:r>
                      <a:rPr lang="en-US" altLang="zh-TW" b="0" i="1" dirty="0" smtClean="0">
                        <a:latin typeface="Cambria Math" panose="02040503050406030204" pitchFamily="18" charset="0"/>
                        <a:cs typeface="Times New Roman" panose="02020603050405020304" pitchFamily="18" charset="0"/>
                      </a:rPr>
                      <m:t>𝑙𝑔</m:t>
                    </m:r>
                    <m:r>
                      <a:rPr lang="en-US" altLang="zh-TW" i="1" dirty="0" smtClean="0">
                        <a:latin typeface="Cambria Math" panose="02040503050406030204" pitchFamily="18" charset="0"/>
                        <a:cs typeface="Times New Roman" panose="02020603050405020304" pitchFamily="18" charset="0"/>
                      </a:rPr>
                      <m:t>𝑁</m:t>
                    </m:r>
                    <m:r>
                      <a:rPr lang="en-US" altLang="zh-TW" i="1" dirty="0" smtClean="0">
                        <a:latin typeface="Cambria Math" panose="02040503050406030204" pitchFamily="18" charset="0"/>
                        <a:cs typeface="Times New Roman" panose="02020603050405020304" pitchFamily="18" charset="0"/>
                      </a:rPr>
                      <m:t>)</m:t>
                    </m:r>
                  </m:oMath>
                </a14:m>
                <a:r>
                  <a:rPr lang="en-US" altLang="zh-TW" dirty="0" smtClean="0">
                    <a:latin typeface="Times New Roman" panose="02020603050405020304" pitchFamily="18" charset="0"/>
                    <a:cs typeface="Times New Roman" panose="02020603050405020304" pitchFamily="18" charset="0"/>
                  </a:rPr>
                  <a:t> worst-case time complexity, and under certain conditions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𝑂</m:t>
                    </m:r>
                    <m:r>
                      <a:rPr lang="en-US" altLang="zh-TW" i="1" dirty="0">
                        <a:latin typeface="Cambria Math" panose="02040503050406030204" pitchFamily="18" charset="0"/>
                        <a:cs typeface="Times New Roman" panose="02020603050405020304" pitchFamily="18" charset="0"/>
                      </a:rPr>
                      <m:t>(</m:t>
                    </m:r>
                    <m:sSup>
                      <m:sSupPr>
                        <m:ctrlPr>
                          <a:rPr lang="en-US" altLang="zh-TW" i="1" dirty="0">
                            <a:latin typeface="Cambria Math" panose="02040503050406030204" pitchFamily="18" charset="0"/>
                            <a:cs typeface="Times New Roman" panose="02020603050405020304" pitchFamily="18" charset="0"/>
                          </a:rPr>
                        </m:ctrlPr>
                      </m:sSupPr>
                      <m:e>
                        <m:r>
                          <a:rPr lang="en-US" altLang="zh-TW" i="1" dirty="0">
                            <a:latin typeface="Cambria Math" panose="02040503050406030204" pitchFamily="18" charset="0"/>
                            <a:cs typeface="Times New Roman" panose="02020603050405020304" pitchFamily="18" charset="0"/>
                          </a:rPr>
                          <m:t>𝑁</m:t>
                        </m:r>
                      </m:e>
                      <m:sup>
                        <m:r>
                          <a:rPr lang="en-US" altLang="zh-TW" i="1" dirty="0">
                            <a:latin typeface="Cambria Math" panose="02040503050406030204" pitchFamily="18" charset="0"/>
                            <a:cs typeface="Times New Roman" panose="02020603050405020304" pitchFamily="18" charset="0"/>
                          </a:rPr>
                          <m:t>2</m:t>
                        </m:r>
                      </m:sup>
                    </m:sSup>
                  </m:oMath>
                </a14:m>
                <a:r>
                  <a:rPr lang="en-US" altLang="zh-TW" dirty="0" smtClean="0">
                    <a:latin typeface="Times New Roman" panose="02020603050405020304" pitchFamily="18" charset="0"/>
                    <a:cs typeface="Times New Roman" panose="02020603050405020304" pitchFamily="18" charset="0"/>
                  </a:rPr>
                  <a:t>).</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r="-2859" b="-728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28117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Abstract(3/3)</a:t>
            </a:r>
            <a:endParaRPr lang="zh-TW" altLang="en-US" dirty="0"/>
          </a:p>
        </p:txBody>
      </p:sp>
      <mc:AlternateContent xmlns:mc="http://schemas.openxmlformats.org/markup-compatibility/2006" xmlns:a14="http://schemas.microsoft.com/office/drawing/2010/main">
        <mc:Choice Requires="a14">
          <p:sp>
            <p:nvSpPr>
              <p:cNvPr id="4" name="內容版面配置區 2"/>
              <p:cNvSpPr>
                <a:spLocks noGrp="1"/>
              </p:cNvSpPr>
              <p:nvPr>
                <p:ph idx="1"/>
              </p:nvPr>
            </p:nvSpPr>
            <p:spPr>
              <a:xfrm>
                <a:off x="628650" y="1825625"/>
                <a:ext cx="7886700" cy="4351338"/>
              </a:xfrm>
            </p:spPr>
            <p:txBody>
              <a:bodyPr>
                <a:noAutofit/>
              </a:bodyPr>
              <a:lstStyle/>
              <a:p>
                <a:pPr marL="0" indent="0" algn="just">
                  <a:lnSpc>
                    <a:spcPct val="150000"/>
                  </a:lnSpc>
                  <a:buNone/>
                </a:pPr>
                <a:r>
                  <a:rPr lang="en-US" altLang="zh-TW" dirty="0">
                    <a:latin typeface="Times New Roman" panose="02020603050405020304" pitchFamily="18" charset="0"/>
                    <a:cs typeface="Times New Roman" panose="02020603050405020304" pitchFamily="18" charset="0"/>
                  </a:rPr>
                  <a:t>Experimental data show how various properties of the comparison problem affect the methods’ relative performance. A number of extensions are discussed, among them a technique for constructing optimal alignments in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𝑁</m:t>
                    </m:r>
                    <m:r>
                      <a:rPr lang="en-US" altLang="zh-TW" i="1" dirty="0" smtClean="0">
                        <a:latin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 space in expectation. This variation gives a practical method for comparing long amino sequences on a small computer</a:t>
                </a:r>
                <a:r>
                  <a:rPr lang="en-US" altLang="zh-TW" dirty="0" smtClean="0">
                    <a:latin typeface="Times New Roman" panose="02020603050405020304" pitchFamily="18" charset="0"/>
                    <a:cs typeface="Times New Roman" panose="02020603050405020304" pitchFamily="18" charset="0"/>
                  </a:rPr>
                  <a:t>.</a:t>
                </a:r>
              </a:p>
            </p:txBody>
          </p:sp>
        </mc:Choice>
        <mc:Fallback xmlns="">
          <p:sp>
            <p:nvSpPr>
              <p:cNvPr id="4" name="內容版面配置區 2"/>
              <p:cNvSpPr>
                <a:spLocks noGrp="1" noRot="1" noChangeAspect="1" noMove="1" noResize="1" noEditPoints="1" noAdjustHandles="1" noChangeArrowheads="1" noChangeShapeType="1" noTextEdit="1"/>
              </p:cNvSpPr>
              <p:nvPr>
                <p:ph idx="1"/>
              </p:nvPr>
            </p:nvSpPr>
            <p:spPr>
              <a:xfrm>
                <a:off x="628650" y="1825625"/>
                <a:ext cx="7886700" cy="4351338"/>
              </a:xfrm>
              <a:blipFill rotWithShape="0">
                <a:blip r:embed="rId2"/>
                <a:stretch>
                  <a:fillRect l="-1546" r="-1623" b="-728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995567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Concave function</a:t>
            </a:r>
            <a:endParaRPr lang="zh-TW" altLang="en-US" dirty="0"/>
          </a:p>
        </p:txBody>
      </p:sp>
      <p:graphicFrame>
        <p:nvGraphicFramePr>
          <p:cNvPr id="46" name="內容版面配置區 45"/>
          <p:cNvGraphicFramePr>
            <a:graphicFrameLocks noGrp="1"/>
          </p:cNvGraphicFramePr>
          <p:nvPr>
            <p:ph idx="1"/>
            <p:extLst>
              <p:ext uri="{D42A27DB-BD31-4B8C-83A1-F6EECF244321}">
                <p14:modId xmlns:p14="http://schemas.microsoft.com/office/powerpoint/2010/main" val="962745673"/>
              </p:ext>
            </p:extLst>
          </p:nvPr>
        </p:nvGraphicFramePr>
        <p:xfrm>
          <a:off x="628650" y="1825625"/>
          <a:ext cx="78867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7" name="乘號 46"/>
          <p:cNvSpPr/>
          <p:nvPr/>
        </p:nvSpPr>
        <p:spPr>
          <a:xfrm>
            <a:off x="557784" y="5815583"/>
            <a:ext cx="308610" cy="361379"/>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563745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Sequence comparison</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798218997"/>
              </p:ext>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15</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17</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18</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20</a:t>
                      </a:r>
                      <a:endParaRPr lang="zh-TW" altLang="en-US"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16</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20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22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20</a:t>
                      </a:r>
                      <a:endParaRPr lang="zh-TW" altLang="en-US" dirty="0">
                        <a:latin typeface="Times New Roman" panose="02020603050405020304" pitchFamily="18" charset="0"/>
                        <a:cs typeface="Times New Roman" panose="02020603050405020304" pitchFamily="18" charset="0"/>
                      </a:endParaRPr>
                    </a:p>
                  </a:txBody>
                  <a:tcPr anchor="ctr">
                    <a:solidFill>
                      <a:srgbClr val="FFFF00"/>
                    </a:solidFill>
                  </a:tcPr>
                </a:tc>
              </a:tr>
            </a:tbl>
          </a:graphicData>
        </a:graphic>
      </p:graphicFrame>
      <p:sp>
        <p:nvSpPr>
          <p:cNvPr id="5" name="文字方塊 4"/>
          <p:cNvSpPr txBox="1"/>
          <p:nvPr/>
        </p:nvSpPr>
        <p:spPr>
          <a:xfrm>
            <a:off x="1524000" y="4599432"/>
            <a:ext cx="5813964" cy="1384995"/>
          </a:xfrm>
          <a:prstGeom prst="rect">
            <a:avLst/>
          </a:prstGeom>
          <a:noFill/>
        </p:spPr>
        <p:txBody>
          <a:bodyPr wrap="none" rtlCol="0">
            <a:spAutoFit/>
          </a:bodyPr>
          <a:lstStyle/>
          <a:p>
            <a:r>
              <a:rPr lang="en-US" altLang="zh-TW" sz="2800" dirty="0" smtClean="0">
                <a:latin typeface="Times New Roman" panose="02020603050405020304" pitchFamily="18" charset="0"/>
                <a:cs typeface="Times New Roman" panose="02020603050405020304" pitchFamily="18" charset="0"/>
              </a:rPr>
              <a:t>String : a=“TACC” and b=“ATTTC”</a:t>
            </a:r>
          </a:p>
          <a:p>
            <a:r>
              <a:rPr lang="en-US" altLang="zh-TW" sz="2800" dirty="0" smtClean="0">
                <a:latin typeface="Times New Roman" panose="02020603050405020304" pitchFamily="18" charset="0"/>
                <a:cs typeface="Times New Roman" panose="02020603050405020304" pitchFamily="18" charset="0"/>
              </a:rPr>
              <a:t>Substitution Cost : 10</a:t>
            </a:r>
          </a:p>
          <a:p>
            <a:r>
              <a:rPr lang="en-US" altLang="zh-TW" sz="2800" dirty="0" smtClean="0">
                <a:latin typeface="Times New Roman" panose="02020603050405020304" pitchFamily="18" charset="0"/>
                <a:cs typeface="Times New Roman" panose="02020603050405020304" pitchFamily="18" charset="0"/>
              </a:rPr>
              <a:t>Concave Weighting Cost : 5 9 11 12 10</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64427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WSB 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r>
                  <a:rPr lang="en-US" altLang="zh-TW" dirty="0" smtClean="0">
                    <a:latin typeface="Times New Roman" panose="02020603050405020304" pitchFamily="18" charset="0"/>
                    <a:cs typeface="Times New Roman" panose="02020603050405020304" pitchFamily="18" charset="0"/>
                  </a:rPr>
                  <a:t>Time complexity :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𝑀</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𝑁</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𝑀𝑁</m:t>
                    </m:r>
                    <m:r>
                      <a:rPr lang="en-US" altLang="zh-TW" i="1" dirty="0" smtClean="0">
                        <a:latin typeface="Cambria Math" panose="02040503050406030204" pitchFamily="18" charset="0"/>
                        <a:cs typeface="Times New Roman" panose="02020603050405020304" pitchFamily="18" charset="0"/>
                      </a:rPr>
                      <m:t>)</m:t>
                    </m:r>
                  </m:oMath>
                </a14:m>
                <a:endParaRPr lang="en-US" altLang="zh-TW"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smtClean="0">
                  <a:latin typeface="Times New Roman" panose="02020603050405020304" pitchFamily="18" charset="0"/>
                  <a:cs typeface="Times New Roman" panose="02020603050405020304" pitchFamily="18" charset="0"/>
                </a:endParaRPr>
              </a:p>
              <a:p>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solidFill>
                      <a:srgbClr val="FF0000"/>
                    </a:solidFill>
                    <a:latin typeface="Times New Roman" panose="02020603050405020304" pitchFamily="18" charset="0"/>
                    <a:cs typeface="Times New Roman" panose="02020603050405020304" pitchFamily="18" charset="0"/>
                  </a:rPr>
                  <a:t>14</a:t>
                </a:r>
                <a:r>
                  <a:rPr lang="en-US" altLang="zh-TW" dirty="0" smtClean="0">
                    <a:latin typeface="Times New Roman" panose="02020603050405020304" pitchFamily="18" charset="0"/>
                    <a:cs typeface="Times New Roman" panose="02020603050405020304" pitchFamily="18" charset="0"/>
                  </a:rPr>
                  <a:t> = min ( </a:t>
                </a:r>
                <a:r>
                  <a:rPr lang="en-US" altLang="zh-TW" dirty="0" smtClean="0">
                    <a:solidFill>
                      <a:schemeClr val="accent6"/>
                    </a:solidFill>
                    <a:latin typeface="Times New Roman" panose="02020603050405020304" pitchFamily="18" charset="0"/>
                    <a:cs typeface="Times New Roman" panose="02020603050405020304" pitchFamily="18" charset="0"/>
                  </a:rPr>
                  <a:t>10</a:t>
                </a:r>
                <a:r>
                  <a:rPr lang="en-US" altLang="zh-TW" dirty="0" smtClean="0">
                    <a:latin typeface="Times New Roman" panose="02020603050405020304" pitchFamily="18" charset="0"/>
                    <a:cs typeface="Times New Roman" panose="02020603050405020304" pitchFamily="18" charset="0"/>
                  </a:rPr>
                  <a:t>+5, </a:t>
                </a:r>
                <a:r>
                  <a:rPr lang="en-US" altLang="zh-TW" dirty="0" smtClean="0">
                    <a:solidFill>
                      <a:schemeClr val="accent6"/>
                    </a:solidFill>
                    <a:latin typeface="Times New Roman" panose="02020603050405020304" pitchFamily="18" charset="0"/>
                    <a:cs typeface="Times New Roman" panose="02020603050405020304" pitchFamily="18" charset="0"/>
                  </a:rPr>
                  <a:t>5</a:t>
                </a:r>
                <a:r>
                  <a:rPr lang="en-US" altLang="zh-TW" dirty="0" smtClean="0">
                    <a:latin typeface="Times New Roman" panose="02020603050405020304" pitchFamily="18" charset="0"/>
                    <a:cs typeface="Times New Roman" panose="02020603050405020304" pitchFamily="18" charset="0"/>
                  </a:rPr>
                  <a:t>+9, </a:t>
                </a:r>
                <a:r>
                  <a:rPr lang="en-US" altLang="zh-TW" dirty="0" smtClean="0">
                    <a:solidFill>
                      <a:schemeClr val="accent6"/>
                    </a:solidFill>
                    <a:latin typeface="Times New Roman" panose="02020603050405020304" pitchFamily="18" charset="0"/>
                    <a:cs typeface="Times New Roman" panose="02020603050405020304" pitchFamily="18" charset="0"/>
                  </a:rPr>
                  <a:t>9</a:t>
                </a:r>
                <a:r>
                  <a:rPr lang="en-US" altLang="zh-TW" dirty="0" smtClean="0">
                    <a:latin typeface="Times New Roman" panose="02020603050405020304" pitchFamily="18" charset="0"/>
                    <a:cs typeface="Times New Roman" panose="02020603050405020304" pitchFamily="18" charset="0"/>
                  </a:rPr>
                  <a:t>+11, </a:t>
                </a:r>
                <a:r>
                  <a:rPr lang="en-US" altLang="zh-TW" dirty="0" smtClean="0">
                    <a:solidFill>
                      <a:srgbClr val="7030A0"/>
                    </a:solidFill>
                    <a:latin typeface="Times New Roman" panose="02020603050405020304" pitchFamily="18" charset="0"/>
                    <a:cs typeface="Times New Roman" panose="02020603050405020304" pitchFamily="18" charset="0"/>
                  </a:rPr>
                  <a:t>5</a:t>
                </a:r>
                <a:r>
                  <a:rPr lang="en-US" altLang="zh-TW" dirty="0" smtClean="0">
                    <a:latin typeface="Times New Roman" panose="02020603050405020304" pitchFamily="18" charset="0"/>
                    <a:cs typeface="Times New Roman" panose="02020603050405020304" pitchFamily="18" charset="0"/>
                  </a:rPr>
                  <a:t>+10, </a:t>
                </a:r>
                <a:r>
                  <a:rPr lang="en-US" altLang="zh-TW" dirty="0" smtClean="0">
                    <a:solidFill>
                      <a:srgbClr val="00B0F0"/>
                    </a:solidFill>
                    <a:latin typeface="Times New Roman" panose="02020603050405020304" pitchFamily="18" charset="0"/>
                    <a:cs typeface="Times New Roman" panose="02020603050405020304" pitchFamily="18" charset="0"/>
                  </a:rPr>
                  <a:t>9</a:t>
                </a:r>
                <a:r>
                  <a:rPr lang="en-US" altLang="zh-TW" dirty="0" smtClean="0">
                    <a:latin typeface="Times New Roman" panose="02020603050405020304" pitchFamily="18" charset="0"/>
                    <a:cs typeface="Times New Roman" panose="02020603050405020304" pitchFamily="18" charset="0"/>
                  </a:rPr>
                  <a:t>+5, </a:t>
                </a:r>
                <a:r>
                  <a:rPr lang="en-US" altLang="zh-TW" dirty="0" smtClean="0">
                    <a:solidFill>
                      <a:srgbClr val="00B0F0"/>
                    </a:solidFill>
                    <a:latin typeface="Times New Roman" panose="02020603050405020304" pitchFamily="18" charset="0"/>
                    <a:cs typeface="Times New Roman" panose="02020603050405020304" pitchFamily="18" charset="0"/>
                  </a:rPr>
                  <a:t>11</a:t>
                </a:r>
                <a:r>
                  <a:rPr lang="en-US" altLang="zh-TW" dirty="0" smtClean="0">
                    <a:latin typeface="Times New Roman" panose="02020603050405020304" pitchFamily="18" charset="0"/>
                    <a:cs typeface="Times New Roman" panose="02020603050405020304" pitchFamily="18" charset="0"/>
                  </a:rPr>
                  <a:t>+9 )</a:t>
                </a:r>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381"/>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3957542072"/>
              </p:ext>
            </p:extLst>
          </p:nvPr>
        </p:nvGraphicFramePr>
        <p:xfrm>
          <a:off x="1524000" y="2661073"/>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00B0F0"/>
                          </a:solidFill>
                          <a:latin typeface="Times New Roman" panose="02020603050405020304" pitchFamily="18" charset="0"/>
                          <a:cs typeface="Times New Roman" panose="02020603050405020304" pitchFamily="18" charset="0"/>
                        </a:rPr>
                        <a:t>11</a:t>
                      </a:r>
                      <a:endParaRPr lang="zh-TW" altLang="en-US" dirty="0">
                        <a:solidFill>
                          <a:srgbClr val="00B0F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7030A0"/>
                          </a:solidFill>
                          <a:latin typeface="Times New Roman" panose="02020603050405020304" pitchFamily="18" charset="0"/>
                          <a:cs typeface="Times New Roman" panose="02020603050405020304" pitchFamily="18" charset="0"/>
                        </a:rPr>
                        <a:t>5</a:t>
                      </a:r>
                      <a:endParaRPr lang="zh-TW" altLang="en-US" dirty="0">
                        <a:solidFill>
                          <a:srgbClr val="7030A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00B0F0"/>
                          </a:solidFill>
                          <a:latin typeface="Times New Roman" panose="02020603050405020304" pitchFamily="18" charset="0"/>
                          <a:cs typeface="Times New Roman" panose="02020603050405020304" pitchFamily="18" charset="0"/>
                        </a:rPr>
                        <a:t>9</a:t>
                      </a:r>
                      <a:endParaRPr lang="zh-TW" altLang="en-US" dirty="0">
                        <a:solidFill>
                          <a:srgbClr val="00B0F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solidFill>
                            <a:schemeClr val="accent6"/>
                          </a:solidFill>
                          <a:latin typeface="Times New Roman" panose="02020603050405020304" pitchFamily="18" charset="0"/>
                          <a:cs typeface="Times New Roman" panose="02020603050405020304" pitchFamily="18" charset="0"/>
                        </a:rPr>
                        <a:t>9</a:t>
                      </a:r>
                      <a:endParaRPr lang="zh-TW" altLang="en-US" dirty="0">
                        <a:solidFill>
                          <a:schemeClr val="accent6"/>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accent6"/>
                          </a:solidFill>
                          <a:latin typeface="Times New Roman" panose="02020603050405020304" pitchFamily="18" charset="0"/>
                          <a:cs typeface="Times New Roman" panose="02020603050405020304" pitchFamily="18" charset="0"/>
                        </a:rPr>
                        <a:t>5</a:t>
                      </a:r>
                      <a:endParaRPr lang="zh-TW" altLang="en-US" dirty="0">
                        <a:solidFill>
                          <a:schemeClr val="accent6"/>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accent6"/>
                          </a:solidFill>
                          <a:latin typeface="Times New Roman" panose="02020603050405020304" pitchFamily="18" charset="0"/>
                          <a:cs typeface="Times New Roman" panose="02020603050405020304" pitchFamily="18" charset="0"/>
                        </a:rPr>
                        <a:t>10</a:t>
                      </a:r>
                      <a:endParaRPr lang="zh-TW" altLang="en-US" dirty="0">
                        <a:solidFill>
                          <a:schemeClr val="accent6"/>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14</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endParaRPr lang="zh-TW" altLang="en-US"/>
                    </a:p>
                  </a:txBody>
                  <a:tcPr anchor="ctr">
                    <a:solidFill>
                      <a:schemeClr val="bg1"/>
                    </a:solidFill>
                  </a:tcPr>
                </a:tc>
                <a:tc>
                  <a:txBody>
                    <a:bodyPr/>
                    <a:lstStyle/>
                    <a:p>
                      <a:endParaRPr lang="zh-TW" altLang="en-US" dirty="0"/>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endParaRPr lang="zh-TW" altLang="en-US" dirty="0"/>
                    </a:p>
                  </a:txBody>
                  <a:tcPr anchor="ctr">
                    <a:solidFill>
                      <a:schemeClr val="bg1"/>
                    </a:solidFill>
                  </a:tcPr>
                </a:tc>
                <a:tc>
                  <a:txBody>
                    <a:bodyPr/>
                    <a:lstStyle/>
                    <a:p>
                      <a:endParaRPr lang="zh-TW" altLang="en-US"/>
                    </a:p>
                  </a:txBody>
                  <a:tcPr anchor="ctr">
                    <a:solidFill>
                      <a:schemeClr val="bg1"/>
                    </a:solidFill>
                  </a:tcPr>
                </a:tc>
                <a:tc>
                  <a:txBody>
                    <a:bodyPr/>
                    <a:lstStyle/>
                    <a:p>
                      <a:endParaRPr lang="zh-TW" altLang="en-US"/>
                    </a:p>
                  </a:txBody>
                  <a:tcPr anchor="ctr">
                    <a:solidFill>
                      <a:schemeClr val="bg1"/>
                    </a:solidFill>
                  </a:tcPr>
                </a:tc>
                <a:tc>
                  <a:txBody>
                    <a:bodyPr/>
                    <a:lstStyle/>
                    <a:p>
                      <a:endParaRPr lang="zh-TW" altLang="en-US"/>
                    </a:p>
                  </a:txBody>
                  <a:tcPr anchor="ctr">
                    <a:solidFill>
                      <a:schemeClr val="bg1"/>
                    </a:solidFill>
                  </a:tcPr>
                </a:tc>
                <a:tc>
                  <a:txBody>
                    <a:bodyPr/>
                    <a:lstStyle/>
                    <a:p>
                      <a:endParaRPr lang="zh-TW" altLang="en-US"/>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endParaRPr lang="zh-TW" altLang="en-US"/>
                    </a:p>
                  </a:txBody>
                  <a:tcPr anchor="ctr">
                    <a:solidFill>
                      <a:schemeClr val="bg1"/>
                    </a:solidFill>
                  </a:tcPr>
                </a:tc>
                <a:tc>
                  <a:txBody>
                    <a:bodyPr/>
                    <a:lstStyle/>
                    <a:p>
                      <a:endParaRPr lang="zh-TW" altLang="en-US"/>
                    </a:p>
                  </a:txBody>
                  <a:tcPr anchor="ctr">
                    <a:solidFill>
                      <a:schemeClr val="bg1"/>
                    </a:solidFill>
                  </a:tcPr>
                </a:tc>
                <a:tc>
                  <a:txBody>
                    <a:bodyPr/>
                    <a:lstStyle/>
                    <a:p>
                      <a:endParaRPr lang="zh-TW" altLang="en-US"/>
                    </a:p>
                  </a:txBody>
                  <a:tcPr anchor="ctr">
                    <a:solidFill>
                      <a:schemeClr val="bg1"/>
                    </a:solidFill>
                  </a:tcPr>
                </a:tc>
                <a:tc>
                  <a:txBody>
                    <a:bodyPr/>
                    <a:lstStyle/>
                    <a:p>
                      <a:endParaRPr lang="zh-TW" altLang="en-US"/>
                    </a:p>
                  </a:txBody>
                  <a:tcPr anchor="ctr">
                    <a:solidFill>
                      <a:schemeClr val="bg1"/>
                    </a:solidFill>
                  </a:tcPr>
                </a:tc>
                <a:tc>
                  <a:txBody>
                    <a:bodyPr/>
                    <a:lstStyle/>
                    <a:p>
                      <a:endParaRPr lang="zh-TW" altLang="en-US" dirty="0"/>
                    </a:p>
                  </a:txBody>
                  <a:tcPr anchor="ctr">
                    <a:solidFill>
                      <a:schemeClr val="bg1"/>
                    </a:solidFill>
                  </a:tcPr>
                </a:tc>
              </a:tr>
            </a:tbl>
          </a:graphicData>
        </a:graphic>
      </p:graphicFrame>
    </p:spTree>
    <p:extLst>
      <p:ext uri="{BB962C8B-B14F-4D97-AF65-F5344CB8AC3E}">
        <p14:creationId xmlns:p14="http://schemas.microsoft.com/office/powerpoint/2010/main" val="4287423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Candidate list</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stretch>
            <a:fillRect/>
          </a:stretch>
        </p:blipFill>
        <p:spPr>
          <a:xfrm>
            <a:off x="628650" y="2500799"/>
            <a:ext cx="3841833" cy="2929617"/>
          </a:xfrm>
          <a:prstGeom prst="rect">
            <a:avLst/>
          </a:prstGeom>
        </p:spPr>
      </p:pic>
      <p:pic>
        <p:nvPicPr>
          <p:cNvPr id="6" name="圖片 5"/>
          <p:cNvPicPr>
            <a:picLocks noChangeAspect="1"/>
          </p:cNvPicPr>
          <p:nvPr/>
        </p:nvPicPr>
        <p:blipFill>
          <a:blip r:embed="rId3"/>
          <a:stretch>
            <a:fillRect/>
          </a:stretch>
        </p:blipFill>
        <p:spPr>
          <a:xfrm>
            <a:off x="4687087" y="2500798"/>
            <a:ext cx="4176995" cy="2929618"/>
          </a:xfrm>
          <a:prstGeom prst="rect">
            <a:avLst/>
          </a:prstGeom>
        </p:spPr>
      </p:pic>
    </p:spTree>
    <p:extLst>
      <p:ext uri="{BB962C8B-B14F-4D97-AF65-F5344CB8AC3E}">
        <p14:creationId xmlns:p14="http://schemas.microsoft.com/office/powerpoint/2010/main" val="9984723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Candidate list ( for method 1 )</a:t>
            </a:r>
            <a:endParaRPr lang="zh-TW" altLang="en-US" dirty="0">
              <a:latin typeface="Times New Roman" panose="02020603050405020304" pitchFamily="18" charset="0"/>
              <a:cs typeface="Times New Roman" panose="02020603050405020304" pitchFamily="18" charset="0"/>
            </a:endParaRPr>
          </a:p>
        </p:txBody>
      </p:sp>
      <p:pic>
        <p:nvPicPr>
          <p:cNvPr id="3" name="內容版面配置區 2"/>
          <p:cNvPicPr>
            <a:picLocks noGrp="1" noChangeAspect="1"/>
          </p:cNvPicPr>
          <p:nvPr>
            <p:ph idx="1"/>
          </p:nvPr>
        </p:nvPicPr>
        <p:blipFill>
          <a:blip r:embed="rId2"/>
          <a:stretch>
            <a:fillRect/>
          </a:stretch>
        </p:blipFill>
        <p:spPr>
          <a:xfrm>
            <a:off x="1166163" y="1825625"/>
            <a:ext cx="6811673" cy="4351338"/>
          </a:xfrm>
          <a:prstGeom prst="rect">
            <a:avLst/>
          </a:prstGeom>
        </p:spPr>
      </p:pic>
    </p:spTree>
    <p:extLst>
      <p:ext uri="{BB962C8B-B14F-4D97-AF65-F5344CB8AC3E}">
        <p14:creationId xmlns:p14="http://schemas.microsoft.com/office/powerpoint/2010/main" val="2135586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Method 1(1/5)</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4250518971"/>
              </p:ext>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smtClean="0">
                          <a:solidFill>
                            <a:srgbClr val="FF0000"/>
                          </a:solidFill>
                          <a:latin typeface="Times New Roman" panose="02020603050405020304" pitchFamily="18" charset="0"/>
                          <a:cs typeface="Times New Roman" panose="02020603050405020304" pitchFamily="18" charset="0"/>
                        </a:rPr>
                        <a:t>10</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ext uri="{D42A27DB-BD31-4B8C-83A1-F6EECF244321}">
                <p14:modId xmlns:p14="http://schemas.microsoft.com/office/powerpoint/2010/main" val="3421116979"/>
              </p:ext>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164764785"/>
              </p:ext>
            </p:extLst>
          </p:nvPr>
        </p:nvGraphicFramePr>
        <p:xfrm>
          <a:off x="1523999"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r>
                        <a:rPr lang="zh-TW" altLang="en-US" dirty="0" smtClean="0"/>
                        <a:t>藍</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nchor="ctr"/>
                </a:tc>
              </a:tr>
              <a:tr h="476509">
                <a:tc>
                  <a:txBody>
                    <a:bodyPr/>
                    <a:lstStyle/>
                    <a:p>
                      <a:pPr algn="ctr"/>
                      <a:endParaRPr lang="zh-TW" altLang="en-US"/>
                    </a:p>
                  </a:txBody>
                  <a:tcPr anchor="ctr"/>
                </a:tc>
              </a:tr>
              <a:tr h="476509">
                <a:tc>
                  <a:txBody>
                    <a:bodyPr/>
                    <a:lstStyle/>
                    <a:p>
                      <a:pPr algn="ctr"/>
                      <a:endParaRPr lang="zh-TW" altLang="en-US" dirty="0"/>
                    </a:p>
                  </a:txBody>
                  <a:tcPr anchor="ct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820510261"/>
              </p:ext>
            </p:extLst>
          </p:nvPr>
        </p:nvGraphicFramePr>
        <p:xfrm>
          <a:off x="628650"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nchor="ctr"/>
                </a:tc>
              </a:tr>
              <a:tr h="476509">
                <a:tc>
                  <a:txBody>
                    <a:bodyPr/>
                    <a:lstStyle/>
                    <a:p>
                      <a:pPr algn="ctr"/>
                      <a:endParaRPr lang="zh-TW" altLang="en-US"/>
                    </a:p>
                  </a:txBody>
                  <a:tcPr anchor="ctr"/>
                </a:tc>
              </a:tr>
              <a:tr h="476509">
                <a:tc>
                  <a:txBody>
                    <a:bodyPr/>
                    <a:lstStyle/>
                    <a:p>
                      <a:pPr algn="ctr"/>
                      <a:endParaRPr lang="zh-TW" altLang="en-US" dirty="0"/>
                    </a:p>
                  </a:txBody>
                  <a:tcPr anchor="ctr"/>
                </a:tc>
              </a:tr>
            </a:tbl>
          </a:graphicData>
        </a:graphic>
      </p:graphicFrame>
      <p:sp>
        <p:nvSpPr>
          <p:cNvPr id="3" name="向右箭號 2"/>
          <p:cNvSpPr/>
          <p:nvPr/>
        </p:nvSpPr>
        <p:spPr>
          <a:xfrm>
            <a:off x="1250302" y="5225143"/>
            <a:ext cx="195943" cy="41987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13900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Method </a:t>
            </a:r>
            <a:r>
              <a:rPr lang="en-US" altLang="zh-TW" dirty="0" smtClean="0">
                <a:latin typeface="Times New Roman" panose="02020603050405020304" pitchFamily="18" charset="0"/>
                <a:cs typeface="Times New Roman" panose="02020603050405020304" pitchFamily="18" charset="0"/>
              </a:rPr>
              <a:t>1(2/5</a:t>
            </a:r>
            <a:r>
              <a:rPr lang="en-US" altLang="zh-TW" dirty="0">
                <a:latin typeface="Times New Roman" panose="02020603050405020304" pitchFamily="18" charset="0"/>
                <a:cs typeface="Times New Roman" panose="02020603050405020304" pitchFamily="18" charset="0"/>
              </a:rPr>
              <a:t>)</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1250073229"/>
              </p:ext>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5</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ext uri="{D42A27DB-BD31-4B8C-83A1-F6EECF244321}">
                <p14:modId xmlns:p14="http://schemas.microsoft.com/office/powerpoint/2010/main" val="1296089766"/>
              </p:ext>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198740234"/>
              </p:ext>
            </p:extLst>
          </p:nvPr>
        </p:nvGraphicFramePr>
        <p:xfrm>
          <a:off x="1523999"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r>
                        <a:rPr lang="zh-TW" altLang="en-US" dirty="0" smtClean="0"/>
                        <a:t>藍</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nchor="ctr"/>
                </a:tc>
              </a:tr>
              <a:tr h="476509">
                <a:tc>
                  <a:txBody>
                    <a:bodyPr/>
                    <a:lstStyle/>
                    <a:p>
                      <a:pPr algn="ctr"/>
                      <a:endParaRPr lang="zh-TW" altLang="en-US"/>
                    </a:p>
                  </a:txBody>
                  <a:tcPr anchor="ctr"/>
                </a:tc>
              </a:tr>
              <a:tr h="476509">
                <a:tc>
                  <a:txBody>
                    <a:bodyPr/>
                    <a:lstStyle/>
                    <a:p>
                      <a:pPr algn="ctr"/>
                      <a:endParaRPr lang="zh-TW" altLang="en-US" dirty="0"/>
                    </a:p>
                  </a:txBody>
                  <a:tcPr anchor="ct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328691419"/>
              </p:ext>
            </p:extLst>
          </p:nvPr>
        </p:nvGraphicFramePr>
        <p:xfrm>
          <a:off x="628650"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r>
                        <a:rPr lang="zh-TW" altLang="en-US" dirty="0" smtClean="0"/>
                        <a:t>橘</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藍</a:t>
                      </a:r>
                    </a:p>
                  </a:txBody>
                  <a:tcPr anchor="ctr"/>
                </a:tc>
              </a:tr>
              <a:tr h="476509">
                <a:tc>
                  <a:txBody>
                    <a:bodyPr/>
                    <a:lstStyle/>
                    <a:p>
                      <a:pPr algn="ctr"/>
                      <a:endParaRPr lang="zh-TW" altLang="en-US"/>
                    </a:p>
                  </a:txBody>
                  <a:tcPr anchor="ctr"/>
                </a:tc>
              </a:tr>
              <a:tr h="476509">
                <a:tc>
                  <a:txBody>
                    <a:bodyPr/>
                    <a:lstStyle/>
                    <a:p>
                      <a:pPr algn="ctr"/>
                      <a:endParaRPr lang="zh-TW" altLang="en-US" dirty="0"/>
                    </a:p>
                  </a:txBody>
                  <a:tcPr anchor="ctr"/>
                </a:tc>
              </a:tr>
            </a:tbl>
          </a:graphicData>
        </a:graphic>
      </p:graphicFrame>
      <p:sp>
        <p:nvSpPr>
          <p:cNvPr id="8" name="向右箭號 7"/>
          <p:cNvSpPr/>
          <p:nvPr/>
        </p:nvSpPr>
        <p:spPr>
          <a:xfrm>
            <a:off x="1250302" y="5225143"/>
            <a:ext cx="195943" cy="41987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566460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Method </a:t>
            </a:r>
            <a:r>
              <a:rPr lang="en-US" altLang="zh-TW" dirty="0" smtClean="0">
                <a:latin typeface="Times New Roman" panose="02020603050405020304" pitchFamily="18" charset="0"/>
                <a:cs typeface="Times New Roman" panose="02020603050405020304" pitchFamily="18" charset="0"/>
              </a:rPr>
              <a:t>1(3/5</a:t>
            </a:r>
            <a:r>
              <a:rPr lang="en-US" altLang="zh-TW" dirty="0">
                <a:latin typeface="Times New Roman" panose="02020603050405020304" pitchFamily="18" charset="0"/>
                <a:cs typeface="Times New Roman" panose="02020603050405020304" pitchFamily="18" charset="0"/>
              </a:rPr>
              <a:t>)</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3854028771"/>
              </p:ext>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5</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9</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ext uri="{D42A27DB-BD31-4B8C-83A1-F6EECF244321}">
                <p14:modId xmlns:p14="http://schemas.microsoft.com/office/powerpoint/2010/main" val="1815160301"/>
              </p:ext>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149183937"/>
              </p:ext>
            </p:extLst>
          </p:nvPr>
        </p:nvGraphicFramePr>
        <p:xfrm>
          <a:off x="1523999"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r>
                        <a:rPr lang="zh-TW" altLang="en-US" dirty="0" smtClean="0"/>
                        <a:t>灰</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藍</a:t>
                      </a:r>
                    </a:p>
                  </a:txBody>
                  <a:tcPr anchor="ctr"/>
                </a:tc>
              </a:tr>
              <a:tr h="476509">
                <a:tc>
                  <a:txBody>
                    <a:bodyPr/>
                    <a:lstStyle/>
                    <a:p>
                      <a:pPr algn="ctr"/>
                      <a:endParaRPr lang="zh-TW" altLang="en-US"/>
                    </a:p>
                  </a:txBody>
                  <a:tcPr anchor="ctr"/>
                </a:tc>
              </a:tr>
              <a:tr h="476509">
                <a:tc>
                  <a:txBody>
                    <a:bodyPr/>
                    <a:lstStyle/>
                    <a:p>
                      <a:pPr algn="ctr"/>
                      <a:endParaRPr lang="zh-TW" altLang="en-US" dirty="0"/>
                    </a:p>
                  </a:txBody>
                  <a:tcPr anchor="ct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309823650"/>
              </p:ext>
            </p:extLst>
          </p:nvPr>
        </p:nvGraphicFramePr>
        <p:xfrm>
          <a:off x="628650"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r>
                        <a:rPr lang="zh-TW" altLang="en-US" dirty="0" smtClean="0"/>
                        <a:t>灰</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藍</a:t>
                      </a:r>
                    </a:p>
                  </a:txBody>
                  <a:tcPr anchor="ctr"/>
                </a:tc>
              </a:tr>
              <a:tr h="476509">
                <a:tc>
                  <a:txBody>
                    <a:bodyPr/>
                    <a:lstStyle/>
                    <a:p>
                      <a:pPr algn="ctr"/>
                      <a:endParaRPr lang="zh-TW" altLang="en-US"/>
                    </a:p>
                  </a:txBody>
                  <a:tcPr anchor="ctr"/>
                </a:tc>
              </a:tr>
              <a:tr h="476509">
                <a:tc>
                  <a:txBody>
                    <a:bodyPr/>
                    <a:lstStyle/>
                    <a:p>
                      <a:pPr algn="ctr"/>
                      <a:endParaRPr lang="zh-TW" altLang="en-US" dirty="0"/>
                    </a:p>
                  </a:txBody>
                  <a:tcPr anchor="ctr"/>
                </a:tc>
              </a:tr>
            </a:tbl>
          </a:graphicData>
        </a:graphic>
      </p:graphicFrame>
      <p:sp>
        <p:nvSpPr>
          <p:cNvPr id="7" name="向右箭號 6"/>
          <p:cNvSpPr/>
          <p:nvPr/>
        </p:nvSpPr>
        <p:spPr>
          <a:xfrm>
            <a:off x="1250302" y="5225143"/>
            <a:ext cx="195943" cy="41987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54839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Method </a:t>
            </a:r>
            <a:r>
              <a:rPr lang="en-US" altLang="zh-TW" dirty="0" smtClean="0">
                <a:latin typeface="Times New Roman" panose="02020603050405020304" pitchFamily="18" charset="0"/>
                <a:cs typeface="Times New Roman" panose="02020603050405020304" pitchFamily="18" charset="0"/>
              </a:rPr>
              <a:t>1(4/5</a:t>
            </a:r>
            <a:r>
              <a:rPr lang="en-US" altLang="zh-TW" dirty="0">
                <a:latin typeface="Times New Roman" panose="02020603050405020304" pitchFamily="18" charset="0"/>
                <a:cs typeface="Times New Roman" panose="02020603050405020304" pitchFamily="18" charset="0"/>
              </a:rPr>
              <a:t>)</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3587440989"/>
              </p:ext>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5</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11</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ext uri="{D42A27DB-BD31-4B8C-83A1-F6EECF244321}">
                <p14:modId xmlns:p14="http://schemas.microsoft.com/office/powerpoint/2010/main" val="1595353921"/>
              </p:ext>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251377932"/>
              </p:ext>
            </p:extLst>
          </p:nvPr>
        </p:nvGraphicFramePr>
        <p:xfrm>
          <a:off x="1523999"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r>
                        <a:rPr lang="zh-TW" altLang="en-US" dirty="0" smtClean="0"/>
                        <a:t>灰</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藍</a:t>
                      </a:r>
                    </a:p>
                  </a:txBody>
                  <a:tcPr anchor="ctr"/>
                </a:tc>
              </a:tr>
              <a:tr h="476509">
                <a:tc>
                  <a:txBody>
                    <a:bodyPr/>
                    <a:lstStyle/>
                    <a:p>
                      <a:pPr algn="ctr"/>
                      <a:endParaRPr lang="zh-TW" altLang="en-US"/>
                    </a:p>
                  </a:txBody>
                  <a:tcPr anchor="ctr"/>
                </a:tc>
              </a:tr>
              <a:tr h="476509">
                <a:tc>
                  <a:txBody>
                    <a:bodyPr/>
                    <a:lstStyle/>
                    <a:p>
                      <a:pPr algn="ctr"/>
                      <a:endParaRPr lang="zh-TW" altLang="en-US" dirty="0"/>
                    </a:p>
                  </a:txBody>
                  <a:tcPr anchor="ct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333894061"/>
              </p:ext>
            </p:extLst>
          </p:nvPr>
        </p:nvGraphicFramePr>
        <p:xfrm>
          <a:off x="628650"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r>
                        <a:rPr lang="zh-TW" altLang="en-US" dirty="0" smtClean="0"/>
                        <a:t>黃</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灰</a:t>
                      </a:r>
                    </a:p>
                  </a:txBody>
                  <a:tcPr anchor="ctr"/>
                </a:tc>
              </a:tr>
              <a:tr h="476509">
                <a:tc>
                  <a:txBody>
                    <a:bodyPr/>
                    <a:lstStyle/>
                    <a:p>
                      <a:pPr algn="ctr"/>
                      <a:r>
                        <a:rPr lang="zh-TW" altLang="en-US" dirty="0" smtClean="0"/>
                        <a:t>藍</a:t>
                      </a:r>
                      <a:endParaRPr lang="zh-TW" altLang="en-US" dirty="0"/>
                    </a:p>
                  </a:txBody>
                  <a:tcPr anchor="ctr"/>
                </a:tc>
              </a:tr>
              <a:tr h="476509">
                <a:tc>
                  <a:txBody>
                    <a:bodyPr/>
                    <a:lstStyle/>
                    <a:p>
                      <a:pPr algn="ctr"/>
                      <a:endParaRPr lang="zh-TW" altLang="en-US" dirty="0"/>
                    </a:p>
                  </a:txBody>
                  <a:tcPr anchor="ctr"/>
                </a:tc>
              </a:tr>
            </a:tbl>
          </a:graphicData>
        </a:graphic>
      </p:graphicFrame>
      <p:sp>
        <p:nvSpPr>
          <p:cNvPr id="7" name="向右箭號 6"/>
          <p:cNvSpPr/>
          <p:nvPr/>
        </p:nvSpPr>
        <p:spPr>
          <a:xfrm>
            <a:off x="1250302" y="5225143"/>
            <a:ext cx="195943" cy="41987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236972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Method </a:t>
            </a:r>
            <a:r>
              <a:rPr lang="en-US" altLang="zh-TW" dirty="0" smtClean="0">
                <a:latin typeface="Times New Roman" panose="02020603050405020304" pitchFamily="18" charset="0"/>
                <a:cs typeface="Times New Roman" panose="02020603050405020304" pitchFamily="18" charset="0"/>
              </a:rPr>
              <a:t>1(5/5</a:t>
            </a:r>
            <a:r>
              <a:rPr lang="en-US" altLang="zh-TW" dirty="0">
                <a:latin typeface="Times New Roman" panose="02020603050405020304" pitchFamily="18" charset="0"/>
                <a:cs typeface="Times New Roman" panose="02020603050405020304" pitchFamily="18" charset="0"/>
              </a:rPr>
              <a:t>)</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3853529609"/>
              </p:ext>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5</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11</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15</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ext uri="{D42A27DB-BD31-4B8C-83A1-F6EECF244321}">
                <p14:modId xmlns:p14="http://schemas.microsoft.com/office/powerpoint/2010/main" val="2365401599"/>
              </p:ext>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mc:Choice xmlns:a14="http://schemas.microsoft.com/office/drawing/2010/main" Requires="a14">
          <p:sp>
            <p:nvSpPr>
              <p:cNvPr id="3" name="文字方塊 2"/>
              <p:cNvSpPr txBox="1"/>
              <p:nvPr/>
            </p:nvSpPr>
            <p:spPr>
              <a:xfrm>
                <a:off x="6073271" y="5449853"/>
                <a:ext cx="2442079" cy="1200329"/>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Time complexity :</a:t>
                </a:r>
              </a:p>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𝑂</m:t>
                      </m:r>
                      <m:r>
                        <a:rPr lang="en-US" altLang="zh-TW" sz="2400" b="0" i="1" smtClean="0">
                          <a:latin typeface="Cambria Math" panose="02040503050406030204" pitchFamily="18" charset="0"/>
                        </a:rPr>
                        <m:t>(</m:t>
                      </m:r>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𝑇</m:t>
                          </m:r>
                        </m:e>
                      </m:acc>
                      <m:r>
                        <a:rPr lang="en-US" altLang="zh-TW" sz="2400" b="0" i="1" smtClean="0">
                          <a:latin typeface="Cambria Math" panose="02040503050406030204" pitchFamily="18" charset="0"/>
                        </a:rPr>
                        <m:t>𝑀𝑁</m:t>
                      </m:r>
                      <m:r>
                        <a:rPr lang="en-US" altLang="zh-TW" sz="2400" b="0" i="1" smtClean="0">
                          <a:latin typeface="Cambria Math" panose="02040503050406030204" pitchFamily="18" charset="0"/>
                        </a:rPr>
                        <m:t>)</m:t>
                      </m:r>
                    </m:oMath>
                  </m:oMathPara>
                </a14:m>
                <a:endParaRPr lang="en-US" altLang="zh-TW" sz="2400" dirty="0" smtClean="0">
                  <a:latin typeface="Times New Roman" panose="02020603050405020304" pitchFamily="18" charset="0"/>
                  <a:cs typeface="Times New Roman" panose="02020603050405020304" pitchFamily="18" charset="0"/>
                </a:endParaRPr>
              </a:p>
              <a:p>
                <a:pPr/>
                <a:endParaRPr lang="zh-TW" altLang="en-US" sz="2400" dirty="0">
                  <a:latin typeface="Times New Roman" panose="02020603050405020304" pitchFamily="18" charset="0"/>
                  <a:cs typeface="Times New Roman" panose="02020603050405020304" pitchFamily="18" charset="0"/>
                </a:endParaRPr>
              </a:p>
            </p:txBody>
          </p:sp>
        </mc:Choice>
        <mc:Fallback>
          <p:sp>
            <p:nvSpPr>
              <p:cNvPr id="3" name="文字方塊 2"/>
              <p:cNvSpPr txBox="1">
                <a:spLocks noRot="1" noChangeAspect="1" noMove="1" noResize="1" noEditPoints="1" noAdjustHandles="1" noChangeArrowheads="1" noChangeShapeType="1" noTextEdit="1"/>
              </p:cNvSpPr>
              <p:nvPr/>
            </p:nvSpPr>
            <p:spPr>
              <a:xfrm>
                <a:off x="6073271" y="5449853"/>
                <a:ext cx="2442079" cy="1200329"/>
              </a:xfrm>
              <a:prstGeom prst="rect">
                <a:avLst/>
              </a:prstGeom>
              <a:blipFill rotWithShape="0">
                <a:blip r:embed="rId3"/>
                <a:stretch>
                  <a:fillRect l="-3741" t="-4061" r="-2993"/>
                </a:stretch>
              </a:blipFill>
            </p:spPr>
            <p:txBody>
              <a:bodyPr/>
              <a:lstStyle/>
              <a:p>
                <a:r>
                  <a:rPr lang="zh-TW" altLang="en-US">
                    <a:noFill/>
                  </a:rPr>
                  <a:t> </a:t>
                </a:r>
              </a:p>
            </p:txBody>
          </p:sp>
        </mc:Fallback>
      </mc:AlternateContent>
      <p:graphicFrame>
        <p:nvGraphicFramePr>
          <p:cNvPr id="6" name="表格 5"/>
          <p:cNvGraphicFramePr>
            <a:graphicFrameLocks noGrp="1"/>
          </p:cNvGraphicFramePr>
          <p:nvPr>
            <p:extLst>
              <p:ext uri="{D42A27DB-BD31-4B8C-83A1-F6EECF244321}">
                <p14:modId xmlns:p14="http://schemas.microsoft.com/office/powerpoint/2010/main" val="2930165164"/>
              </p:ext>
            </p:extLst>
          </p:nvPr>
        </p:nvGraphicFramePr>
        <p:xfrm>
          <a:off x="1523999"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藍</a:t>
                      </a:r>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nchor="ctr"/>
                </a:tc>
              </a:tr>
              <a:tr h="476509">
                <a:tc>
                  <a:txBody>
                    <a:bodyPr/>
                    <a:lstStyle/>
                    <a:p>
                      <a:pPr algn="ctr"/>
                      <a:endParaRPr lang="zh-TW" altLang="en-US"/>
                    </a:p>
                  </a:txBody>
                  <a:tcPr anchor="ctr"/>
                </a:tc>
              </a:tr>
              <a:tr h="476509">
                <a:tc>
                  <a:txBody>
                    <a:bodyPr/>
                    <a:lstStyle/>
                    <a:p>
                      <a:pPr algn="ctr"/>
                      <a:endParaRPr lang="zh-TW" altLang="en-US" dirty="0"/>
                    </a:p>
                  </a:txBody>
                  <a:tcPr anchor="ct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243630177"/>
              </p:ext>
            </p:extLst>
          </p:nvPr>
        </p:nvGraphicFramePr>
        <p:xfrm>
          <a:off x="628650" y="4466534"/>
          <a:ext cx="552450" cy="1906036"/>
        </p:xfrm>
        <a:graphic>
          <a:graphicData uri="http://schemas.openxmlformats.org/drawingml/2006/table">
            <a:tbl>
              <a:tblPr firstRow="1" bandRow="1">
                <a:tableStyleId>{5940675A-B579-460E-94D1-54222C63F5DA}</a:tableStyleId>
              </a:tblPr>
              <a:tblGrid>
                <a:gridCol w="552450"/>
              </a:tblGrid>
              <a:tr h="476509">
                <a:tc>
                  <a:txBody>
                    <a:bodyPr/>
                    <a:lstStyle/>
                    <a:p>
                      <a:pPr algn="ctr"/>
                      <a:r>
                        <a:rPr lang="en-US" altLang="zh-TW" dirty="0" smtClean="0"/>
                        <a:t>??</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灰</a:t>
                      </a:r>
                    </a:p>
                  </a:txBody>
                  <a:tcPr anchor="ctr"/>
                </a:tc>
              </a:tr>
              <a:tr h="476509">
                <a:tc>
                  <a:txBody>
                    <a:bodyPr/>
                    <a:lstStyle/>
                    <a:p>
                      <a:pPr algn="ctr"/>
                      <a:r>
                        <a:rPr lang="zh-TW" altLang="en-US" dirty="0" smtClean="0"/>
                        <a:t>藍</a:t>
                      </a:r>
                      <a:endParaRPr lang="zh-TW" altLang="en-US" dirty="0"/>
                    </a:p>
                  </a:txBody>
                  <a:tcPr anchor="ctr"/>
                </a:tc>
              </a:tr>
              <a:tr h="476509">
                <a:tc>
                  <a:txBody>
                    <a:bodyPr/>
                    <a:lstStyle/>
                    <a:p>
                      <a:pPr algn="ctr"/>
                      <a:endParaRPr lang="zh-TW" altLang="en-US" dirty="0"/>
                    </a:p>
                  </a:txBody>
                  <a:tcPr anchor="ctr"/>
                </a:tc>
              </a:tr>
            </a:tbl>
          </a:graphicData>
        </a:graphic>
      </p:graphicFrame>
      <p:sp>
        <p:nvSpPr>
          <p:cNvPr id="8" name="向右箭號 7"/>
          <p:cNvSpPr/>
          <p:nvPr/>
        </p:nvSpPr>
        <p:spPr>
          <a:xfrm>
            <a:off x="1250302" y="5225143"/>
            <a:ext cx="195943" cy="41987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965368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Candidate list ( for method 2 )</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stretch>
            <a:fillRect/>
          </a:stretch>
        </p:blipFill>
        <p:spPr>
          <a:xfrm>
            <a:off x="1112156" y="1825625"/>
            <a:ext cx="6919688" cy="4351338"/>
          </a:xfrm>
          <a:prstGeom prst="rect">
            <a:avLst/>
          </a:prstGeom>
        </p:spPr>
      </p:pic>
    </p:spTree>
    <p:extLst>
      <p:ext uri="{BB962C8B-B14F-4D97-AF65-F5344CB8AC3E}">
        <p14:creationId xmlns:p14="http://schemas.microsoft.com/office/powerpoint/2010/main" val="39736802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Method 2(1/5)</a:t>
            </a:r>
            <a:endParaRPr lang="zh-TW" altLang="en-US" dirty="0"/>
          </a:p>
        </p:txBody>
      </p:sp>
      <p:graphicFrame>
        <p:nvGraphicFramePr>
          <p:cNvPr id="4" name="表格 3"/>
          <p:cNvGraphicFramePr>
            <a:graphicFrameLocks noGrp="1"/>
          </p:cNvGraphicFramePr>
          <p:nvPr>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smtClean="0">
                          <a:solidFill>
                            <a:srgbClr val="FF0000"/>
                          </a:solidFill>
                          <a:latin typeface="Times New Roman" panose="02020603050405020304" pitchFamily="18" charset="0"/>
                          <a:cs typeface="Times New Roman" panose="02020603050405020304" pitchFamily="18" charset="0"/>
                        </a:rPr>
                        <a:t>10</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875198475"/>
              </p:ext>
            </p:extLst>
          </p:nvPr>
        </p:nvGraphicFramePr>
        <p:xfrm>
          <a:off x="1523999" y="4466534"/>
          <a:ext cx="1104900" cy="1906036"/>
        </p:xfrm>
        <a:graphic>
          <a:graphicData uri="http://schemas.openxmlformats.org/drawingml/2006/table">
            <a:tbl>
              <a:tblPr firstRow="1" bandRow="1">
                <a:tableStyleId>{5940675A-B579-460E-94D1-54222C63F5DA}</a:tableStyleId>
              </a:tblPr>
              <a:tblGrid>
                <a:gridCol w="552450"/>
                <a:gridCol w="552450"/>
              </a:tblGrid>
              <a:tr h="476509">
                <a:tc>
                  <a:txBody>
                    <a:bodyPr/>
                    <a:lstStyle/>
                    <a:p>
                      <a:pPr algn="ctr"/>
                      <a:r>
                        <a:rPr lang="zh-TW" altLang="en-US" dirty="0" smtClean="0"/>
                        <a:t>藍</a:t>
                      </a:r>
                      <a:endParaRPr lang="zh-TW" altLang="en-US" dirty="0"/>
                    </a:p>
                  </a:txBody>
                  <a:tcPr anchor="ctr"/>
                </a:tc>
                <a:tc>
                  <a:txBody>
                    <a:bodyPr/>
                    <a:lstStyle/>
                    <a:p>
                      <a:pPr algn="ctr"/>
                      <a:r>
                        <a:rPr lang="en-US" altLang="zh-TW" dirty="0" smtClean="0"/>
                        <a:t>5</a:t>
                      </a:r>
                      <a:endParaRPr lang="zh-TW" altLang="en-US" dirty="0"/>
                    </a:p>
                  </a:txBody>
                  <a:tcPr anchor="ctr"/>
                </a:tc>
              </a:tr>
              <a:tr h="476509">
                <a:tc>
                  <a:txBody>
                    <a:bodyPr/>
                    <a:lstStyle/>
                    <a:p>
                      <a:pPr algn="ctr"/>
                      <a:endParaRPr lang="zh-TW" altLang="en-US" dirty="0"/>
                    </a:p>
                  </a:txBody>
                  <a:tcPr anchor="ctr"/>
                </a:tc>
                <a:tc>
                  <a:txBody>
                    <a:bodyPr/>
                    <a:lstStyle/>
                    <a:p>
                      <a:pPr algn="ctr"/>
                      <a:endParaRPr lang="zh-TW" altLang="en-US" dirty="0"/>
                    </a:p>
                  </a:txBody>
                  <a:tcPr anchor="ctr"/>
                </a:tc>
              </a:tr>
              <a:tr h="476509">
                <a:tc>
                  <a:txBody>
                    <a:bodyPr/>
                    <a:lstStyle/>
                    <a:p>
                      <a:pPr algn="ctr"/>
                      <a:endParaRPr lang="zh-TW" altLang="en-US"/>
                    </a:p>
                  </a:txBody>
                  <a:tcPr anchor="ctr"/>
                </a:tc>
                <a:tc>
                  <a:txBody>
                    <a:bodyPr/>
                    <a:lstStyle/>
                    <a:p>
                      <a:pPr algn="ctr"/>
                      <a:endParaRPr lang="zh-TW" altLang="en-US"/>
                    </a:p>
                  </a:txBody>
                  <a:tcPr anchor="ctr"/>
                </a:tc>
              </a:tr>
              <a:tr h="476509">
                <a:tc>
                  <a:txBody>
                    <a:bodyPr/>
                    <a:lstStyle/>
                    <a:p>
                      <a:pPr algn="ctr"/>
                      <a:endParaRPr lang="zh-TW" altLang="en-US"/>
                    </a:p>
                  </a:txBody>
                  <a:tcPr anchor="ctr"/>
                </a:tc>
                <a:tc>
                  <a:txBody>
                    <a:bodyPr/>
                    <a:lstStyle/>
                    <a:p>
                      <a:pPr algn="ctr"/>
                      <a:endParaRPr lang="zh-TW" altLang="en-US" dirty="0"/>
                    </a:p>
                  </a:txBody>
                  <a:tcPr anchor="ctr"/>
                </a:tc>
              </a:tr>
            </a:tbl>
          </a:graphicData>
        </a:graphic>
      </p:graphicFrame>
    </p:spTree>
    <p:extLst>
      <p:ext uri="{BB962C8B-B14F-4D97-AF65-F5344CB8AC3E}">
        <p14:creationId xmlns:p14="http://schemas.microsoft.com/office/powerpoint/2010/main" val="7344469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Method 2</a:t>
            </a:r>
            <a:r>
              <a:rPr lang="en-US" altLang="zh-TW" dirty="0" smtClean="0">
                <a:latin typeface="Times New Roman" panose="02020603050405020304" pitchFamily="18" charset="0"/>
                <a:cs typeface="Times New Roman" panose="02020603050405020304" pitchFamily="18" charset="0"/>
              </a:rPr>
              <a:t>(2/5</a:t>
            </a:r>
            <a:r>
              <a:rPr lang="en-US" altLang="zh-TW" dirty="0">
                <a:latin typeface="Times New Roman" panose="02020603050405020304" pitchFamily="18" charset="0"/>
                <a:cs typeface="Times New Roman" panose="02020603050405020304" pitchFamily="18" charset="0"/>
              </a:rPr>
              <a:t>)</a:t>
            </a:r>
            <a:endParaRPr lang="zh-TW" altLang="en-US" dirty="0"/>
          </a:p>
        </p:txBody>
      </p:sp>
      <p:graphicFrame>
        <p:nvGraphicFramePr>
          <p:cNvPr id="4" name="表格 3"/>
          <p:cNvGraphicFramePr>
            <a:graphicFrameLocks noGrp="1"/>
          </p:cNvGraphicFramePr>
          <p:nvPr>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5</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357669760"/>
              </p:ext>
            </p:extLst>
          </p:nvPr>
        </p:nvGraphicFramePr>
        <p:xfrm>
          <a:off x="1523999" y="4466534"/>
          <a:ext cx="1104900" cy="1906036"/>
        </p:xfrm>
        <a:graphic>
          <a:graphicData uri="http://schemas.openxmlformats.org/drawingml/2006/table">
            <a:tbl>
              <a:tblPr firstRow="1" bandRow="1">
                <a:tableStyleId>{5940675A-B579-460E-94D1-54222C63F5DA}</a:tableStyleId>
              </a:tblPr>
              <a:tblGrid>
                <a:gridCol w="552450"/>
                <a:gridCol w="552450"/>
              </a:tblGrid>
              <a:tr h="476509">
                <a:tc>
                  <a:txBody>
                    <a:bodyPr/>
                    <a:lstStyle/>
                    <a:p>
                      <a:pPr algn="ctr"/>
                      <a:r>
                        <a:rPr lang="zh-TW" altLang="en-US" dirty="0" smtClean="0"/>
                        <a:t>藍</a:t>
                      </a:r>
                      <a:endParaRPr lang="zh-TW" altLang="en-US" dirty="0"/>
                    </a:p>
                  </a:txBody>
                  <a:tcPr anchor="ctr"/>
                </a:tc>
                <a:tc>
                  <a:txBody>
                    <a:bodyPr/>
                    <a:lstStyle/>
                    <a:p>
                      <a:pPr algn="ctr"/>
                      <a:r>
                        <a:rPr lang="en-US" altLang="zh-TW" dirty="0" smtClean="0"/>
                        <a:t>5</a:t>
                      </a:r>
                      <a:endParaRPr lang="zh-TW" altLang="en-US" dirty="0"/>
                    </a:p>
                  </a:txBody>
                  <a:tcPr anchor="ctr"/>
                </a:tc>
              </a:tr>
              <a:tr h="476509">
                <a:tc>
                  <a:txBody>
                    <a:bodyPr/>
                    <a:lstStyle/>
                    <a:p>
                      <a:pPr algn="ctr"/>
                      <a:endParaRPr lang="zh-TW" altLang="en-US" dirty="0"/>
                    </a:p>
                  </a:txBody>
                  <a:tcPr anchor="ctr"/>
                </a:tc>
                <a:tc>
                  <a:txBody>
                    <a:bodyPr/>
                    <a:lstStyle/>
                    <a:p>
                      <a:pPr algn="ctr"/>
                      <a:endParaRPr lang="zh-TW" altLang="en-US" dirty="0"/>
                    </a:p>
                  </a:txBody>
                  <a:tcPr anchor="ctr"/>
                </a:tc>
              </a:tr>
              <a:tr h="476509">
                <a:tc>
                  <a:txBody>
                    <a:bodyPr/>
                    <a:lstStyle/>
                    <a:p>
                      <a:pPr algn="ctr"/>
                      <a:endParaRPr lang="zh-TW" altLang="en-US"/>
                    </a:p>
                  </a:txBody>
                  <a:tcPr anchor="ctr"/>
                </a:tc>
                <a:tc>
                  <a:txBody>
                    <a:bodyPr/>
                    <a:lstStyle/>
                    <a:p>
                      <a:pPr algn="ctr"/>
                      <a:endParaRPr lang="zh-TW" altLang="en-US"/>
                    </a:p>
                  </a:txBody>
                  <a:tcPr anchor="ctr"/>
                </a:tc>
              </a:tr>
              <a:tr h="476509">
                <a:tc>
                  <a:txBody>
                    <a:bodyPr/>
                    <a:lstStyle/>
                    <a:p>
                      <a:pPr algn="ctr"/>
                      <a:endParaRPr lang="zh-TW" altLang="en-US"/>
                    </a:p>
                  </a:txBody>
                  <a:tcPr anchor="ctr"/>
                </a:tc>
                <a:tc>
                  <a:txBody>
                    <a:bodyPr/>
                    <a:lstStyle/>
                    <a:p>
                      <a:pPr algn="ctr"/>
                      <a:endParaRPr lang="zh-TW" altLang="en-US" dirty="0"/>
                    </a:p>
                  </a:txBody>
                  <a:tcPr anchor="ctr"/>
                </a:tc>
              </a:tr>
            </a:tbl>
          </a:graphicData>
        </a:graphic>
      </p:graphicFrame>
    </p:spTree>
    <p:extLst>
      <p:ext uri="{BB962C8B-B14F-4D97-AF65-F5344CB8AC3E}">
        <p14:creationId xmlns:p14="http://schemas.microsoft.com/office/powerpoint/2010/main" val="9603127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Method 2</a:t>
            </a:r>
            <a:r>
              <a:rPr lang="en-US" altLang="zh-TW" dirty="0" smtClean="0">
                <a:latin typeface="Times New Roman" panose="02020603050405020304" pitchFamily="18" charset="0"/>
                <a:cs typeface="Times New Roman" panose="02020603050405020304" pitchFamily="18" charset="0"/>
              </a:rPr>
              <a:t>(3/5</a:t>
            </a:r>
            <a:r>
              <a:rPr lang="en-US" altLang="zh-TW" dirty="0">
                <a:latin typeface="Times New Roman" panose="02020603050405020304" pitchFamily="18" charset="0"/>
                <a:cs typeface="Times New Roman" panose="02020603050405020304" pitchFamily="18" charset="0"/>
              </a:rPr>
              <a:t>)</a:t>
            </a:r>
            <a:endParaRPr lang="zh-TW" altLang="en-US" dirty="0"/>
          </a:p>
        </p:txBody>
      </p:sp>
      <p:graphicFrame>
        <p:nvGraphicFramePr>
          <p:cNvPr id="4" name="表格 3"/>
          <p:cNvGraphicFramePr>
            <a:graphicFrameLocks noGrp="1"/>
          </p:cNvGraphicFramePr>
          <p:nvPr>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5</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9</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841009982"/>
              </p:ext>
            </p:extLst>
          </p:nvPr>
        </p:nvGraphicFramePr>
        <p:xfrm>
          <a:off x="1523999" y="4466534"/>
          <a:ext cx="1104900" cy="1906036"/>
        </p:xfrm>
        <a:graphic>
          <a:graphicData uri="http://schemas.openxmlformats.org/drawingml/2006/table">
            <a:tbl>
              <a:tblPr firstRow="1" bandRow="1">
                <a:tableStyleId>{5940675A-B579-460E-94D1-54222C63F5DA}</a:tableStyleId>
              </a:tblPr>
              <a:tblGrid>
                <a:gridCol w="552450"/>
                <a:gridCol w="552450"/>
              </a:tblGrid>
              <a:tr h="476509">
                <a:tc>
                  <a:txBody>
                    <a:bodyPr/>
                    <a:lstStyle/>
                    <a:p>
                      <a:pPr algn="ctr"/>
                      <a:r>
                        <a:rPr lang="zh-TW" altLang="en-US" dirty="0" smtClean="0"/>
                        <a:t>灰</a:t>
                      </a:r>
                      <a:endParaRPr lang="zh-TW" altLang="en-US" dirty="0"/>
                    </a:p>
                  </a:txBody>
                  <a:tcPr anchor="ctr"/>
                </a:tc>
                <a:tc>
                  <a:txBody>
                    <a:bodyPr/>
                    <a:lstStyle/>
                    <a:p>
                      <a:pPr algn="ctr"/>
                      <a:r>
                        <a:rPr lang="en-US" altLang="zh-TW" dirty="0" smtClean="0"/>
                        <a:t>4</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藍</a:t>
                      </a:r>
                    </a:p>
                  </a:txBody>
                  <a:tcPr anchor="ctr"/>
                </a:tc>
                <a:tc>
                  <a:txBody>
                    <a:bodyPr/>
                    <a:lstStyle/>
                    <a:p>
                      <a:pPr algn="ctr"/>
                      <a:r>
                        <a:rPr lang="en-US" altLang="zh-TW" dirty="0" smtClean="0"/>
                        <a:t>5</a:t>
                      </a:r>
                      <a:endParaRPr lang="zh-TW" altLang="en-US" dirty="0"/>
                    </a:p>
                  </a:txBody>
                  <a:tcPr anchor="ctr"/>
                </a:tc>
              </a:tr>
              <a:tr h="476509">
                <a:tc>
                  <a:txBody>
                    <a:bodyPr/>
                    <a:lstStyle/>
                    <a:p>
                      <a:pPr algn="ctr"/>
                      <a:endParaRPr lang="zh-TW" altLang="en-US"/>
                    </a:p>
                  </a:txBody>
                  <a:tcPr anchor="ctr"/>
                </a:tc>
                <a:tc>
                  <a:txBody>
                    <a:bodyPr/>
                    <a:lstStyle/>
                    <a:p>
                      <a:pPr algn="ctr"/>
                      <a:endParaRPr lang="zh-TW" altLang="en-US"/>
                    </a:p>
                  </a:txBody>
                  <a:tcPr anchor="ctr"/>
                </a:tc>
              </a:tr>
              <a:tr h="476509">
                <a:tc>
                  <a:txBody>
                    <a:bodyPr/>
                    <a:lstStyle/>
                    <a:p>
                      <a:pPr algn="ctr"/>
                      <a:endParaRPr lang="zh-TW" altLang="en-US" dirty="0"/>
                    </a:p>
                  </a:txBody>
                  <a:tcPr anchor="ctr"/>
                </a:tc>
                <a:tc>
                  <a:txBody>
                    <a:bodyPr/>
                    <a:lstStyle/>
                    <a:p>
                      <a:pPr algn="ctr"/>
                      <a:endParaRPr lang="zh-TW" altLang="en-US" dirty="0"/>
                    </a:p>
                  </a:txBody>
                  <a:tcPr anchor="ctr"/>
                </a:tc>
              </a:tr>
            </a:tbl>
          </a:graphicData>
        </a:graphic>
      </p:graphicFrame>
    </p:spTree>
    <p:extLst>
      <p:ext uri="{BB962C8B-B14F-4D97-AF65-F5344CB8AC3E}">
        <p14:creationId xmlns:p14="http://schemas.microsoft.com/office/powerpoint/2010/main" val="41681928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Method 2</a:t>
            </a:r>
            <a:r>
              <a:rPr lang="en-US" altLang="zh-TW" dirty="0" smtClean="0">
                <a:latin typeface="Times New Roman" panose="02020603050405020304" pitchFamily="18" charset="0"/>
                <a:cs typeface="Times New Roman" panose="02020603050405020304" pitchFamily="18" charset="0"/>
              </a:rPr>
              <a:t>(4/5</a:t>
            </a:r>
            <a:r>
              <a:rPr lang="en-US" altLang="zh-TW" dirty="0">
                <a:latin typeface="Times New Roman" panose="02020603050405020304" pitchFamily="18" charset="0"/>
                <a:cs typeface="Times New Roman" panose="02020603050405020304" pitchFamily="18" charset="0"/>
              </a:rPr>
              <a:t>)</a:t>
            </a:r>
            <a:endParaRPr lang="zh-TW" altLang="en-US" dirty="0"/>
          </a:p>
        </p:txBody>
      </p:sp>
      <p:graphicFrame>
        <p:nvGraphicFramePr>
          <p:cNvPr id="4" name="表格 3"/>
          <p:cNvGraphicFramePr>
            <a:graphicFrameLocks noGrp="1"/>
          </p:cNvGraphicFramePr>
          <p:nvPr>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5</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11</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ext uri="{D42A27DB-BD31-4B8C-83A1-F6EECF244321}">
                <p14:modId xmlns:p14="http://schemas.microsoft.com/office/powerpoint/2010/main" val="4035850724"/>
              </p:ext>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162336568"/>
              </p:ext>
            </p:extLst>
          </p:nvPr>
        </p:nvGraphicFramePr>
        <p:xfrm>
          <a:off x="1523999" y="4466534"/>
          <a:ext cx="1104900" cy="1906036"/>
        </p:xfrm>
        <a:graphic>
          <a:graphicData uri="http://schemas.openxmlformats.org/drawingml/2006/table">
            <a:tbl>
              <a:tblPr firstRow="1" bandRow="1">
                <a:tableStyleId>{5940675A-B579-460E-94D1-54222C63F5DA}</a:tableStyleId>
              </a:tblPr>
              <a:tblGrid>
                <a:gridCol w="552450"/>
                <a:gridCol w="552450"/>
              </a:tblGrid>
              <a:tr h="476509">
                <a:tc>
                  <a:txBody>
                    <a:bodyPr/>
                    <a:lstStyle/>
                    <a:p>
                      <a:pPr algn="ctr"/>
                      <a:r>
                        <a:rPr lang="zh-TW" altLang="en-US" dirty="0" smtClean="0"/>
                        <a:t>灰</a:t>
                      </a:r>
                      <a:endParaRPr lang="zh-TW" altLang="en-US" dirty="0"/>
                    </a:p>
                  </a:txBody>
                  <a:tcPr anchor="ctr"/>
                </a:tc>
                <a:tc>
                  <a:txBody>
                    <a:bodyPr/>
                    <a:lstStyle/>
                    <a:p>
                      <a:pPr algn="ctr"/>
                      <a:r>
                        <a:rPr lang="en-US" altLang="zh-TW" dirty="0" smtClean="0"/>
                        <a:t>4</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dirty="0" smtClean="0"/>
                        <a:t>藍</a:t>
                      </a:r>
                    </a:p>
                  </a:txBody>
                  <a:tcPr anchor="ctr"/>
                </a:tc>
                <a:tc>
                  <a:txBody>
                    <a:bodyPr/>
                    <a:lstStyle/>
                    <a:p>
                      <a:pPr algn="ctr"/>
                      <a:r>
                        <a:rPr lang="en-US" altLang="zh-TW" dirty="0" smtClean="0"/>
                        <a:t>5</a:t>
                      </a:r>
                      <a:endParaRPr lang="zh-TW" altLang="en-US" dirty="0"/>
                    </a:p>
                  </a:txBody>
                  <a:tcPr anchor="ctr"/>
                </a:tc>
              </a:tr>
              <a:tr h="476509">
                <a:tc>
                  <a:txBody>
                    <a:bodyPr/>
                    <a:lstStyle/>
                    <a:p>
                      <a:pPr algn="ctr"/>
                      <a:endParaRPr lang="zh-TW" altLang="en-US"/>
                    </a:p>
                  </a:txBody>
                  <a:tcPr anchor="ctr"/>
                </a:tc>
                <a:tc>
                  <a:txBody>
                    <a:bodyPr/>
                    <a:lstStyle/>
                    <a:p>
                      <a:pPr algn="ctr"/>
                      <a:endParaRPr lang="zh-TW" altLang="en-US"/>
                    </a:p>
                  </a:txBody>
                  <a:tcPr anchor="ctr"/>
                </a:tc>
              </a:tr>
              <a:tr h="476509">
                <a:tc>
                  <a:txBody>
                    <a:bodyPr/>
                    <a:lstStyle/>
                    <a:p>
                      <a:pPr algn="ctr"/>
                      <a:endParaRPr lang="zh-TW" altLang="en-US" dirty="0"/>
                    </a:p>
                  </a:txBody>
                  <a:tcPr anchor="ctr"/>
                </a:tc>
                <a:tc>
                  <a:txBody>
                    <a:bodyPr/>
                    <a:lstStyle/>
                    <a:p>
                      <a:pPr algn="ctr"/>
                      <a:endParaRPr lang="zh-TW" altLang="en-US" dirty="0"/>
                    </a:p>
                  </a:txBody>
                  <a:tcPr anchor="ctr"/>
                </a:tc>
              </a:tr>
            </a:tbl>
          </a:graphicData>
        </a:graphic>
      </p:graphicFrame>
    </p:spTree>
    <p:extLst>
      <p:ext uri="{BB962C8B-B14F-4D97-AF65-F5344CB8AC3E}">
        <p14:creationId xmlns:p14="http://schemas.microsoft.com/office/powerpoint/2010/main" val="3579351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Method 2</a:t>
            </a:r>
            <a:r>
              <a:rPr lang="en-US" altLang="zh-TW" dirty="0" smtClean="0">
                <a:latin typeface="Times New Roman" panose="02020603050405020304" pitchFamily="18" charset="0"/>
                <a:cs typeface="Times New Roman" panose="02020603050405020304" pitchFamily="18" charset="0"/>
              </a:rPr>
              <a:t>(5/5</a:t>
            </a:r>
            <a:r>
              <a:rPr lang="en-US" altLang="zh-TW" dirty="0">
                <a:latin typeface="Times New Roman" panose="02020603050405020304" pitchFamily="18" charset="0"/>
                <a:cs typeface="Times New Roman" panose="02020603050405020304" pitchFamily="18" charset="0"/>
              </a:rPr>
              <a:t>)</a:t>
            </a:r>
            <a:endParaRPr lang="zh-TW" altLang="en-US" dirty="0"/>
          </a:p>
        </p:txBody>
      </p:sp>
      <p:graphicFrame>
        <p:nvGraphicFramePr>
          <p:cNvPr id="4" name="表格 3"/>
          <p:cNvGraphicFramePr>
            <a:graphicFrameLocks noGrp="1"/>
          </p:cNvGraphicFramePr>
          <p:nvPr>
            <p:extLst/>
          </p:nvPr>
        </p:nvGraphicFramePr>
        <p:xfrm>
          <a:off x="1524000" y="1690689"/>
          <a:ext cx="6095999" cy="22250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5</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11</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smtClean="0">
                          <a:solidFill>
                            <a:srgbClr val="FF0000"/>
                          </a:solidFill>
                          <a:latin typeface="Times New Roman" panose="02020603050405020304" pitchFamily="18" charset="0"/>
                          <a:cs typeface="Times New Roman" panose="02020603050405020304" pitchFamily="18" charset="0"/>
                        </a:rPr>
                        <a:t>15</a:t>
                      </a:r>
                      <a:endParaRPr lang="zh-TW" altLang="en-US" dirty="0">
                        <a:solidFill>
                          <a:srgbClr val="FF0000"/>
                        </a:solidFill>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r h="370840">
                <a:tc>
                  <a:txBody>
                    <a:bodyPr/>
                    <a:lstStyle/>
                    <a:p>
                      <a:pPr algn="ctr"/>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smtClean="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r>
            </a:tbl>
          </a:graphicData>
        </a:graphic>
      </p:graphicFrame>
      <p:graphicFrame>
        <p:nvGraphicFramePr>
          <p:cNvPr id="13" name="圖表 12"/>
          <p:cNvGraphicFramePr/>
          <p:nvPr>
            <p:extLst>
              <p:ext uri="{D42A27DB-BD31-4B8C-83A1-F6EECF244321}">
                <p14:modId xmlns:p14="http://schemas.microsoft.com/office/powerpoint/2010/main" val="3178824579"/>
              </p:ext>
            </p:extLst>
          </p:nvPr>
        </p:nvGraphicFramePr>
        <p:xfrm>
          <a:off x="2628899" y="4188923"/>
          <a:ext cx="4991099" cy="2461259"/>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mc:Choice xmlns:a14="http://schemas.microsoft.com/office/drawing/2010/main" Requires="a14">
          <p:sp>
            <p:nvSpPr>
              <p:cNvPr id="3" name="文字方塊 2"/>
              <p:cNvSpPr txBox="1"/>
              <p:nvPr/>
            </p:nvSpPr>
            <p:spPr>
              <a:xfrm>
                <a:off x="6073271" y="5787574"/>
                <a:ext cx="2442079" cy="862608"/>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Time complexity:</a:t>
                </a:r>
                <a:endParaRPr lang="en-US" altLang="zh-TW" sz="2400" i="1" dirty="0">
                  <a:latin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𝑂</m:t>
                      </m:r>
                      <m:r>
                        <a:rPr lang="en-US" altLang="zh-TW" sz="2400" b="0" i="1" smtClean="0">
                          <a:latin typeface="Cambria Math" panose="02040503050406030204" pitchFamily="18" charset="0"/>
                          <a:cs typeface="Times New Roman" panose="02020603050405020304" pitchFamily="18" charset="0"/>
                        </a:rPr>
                        <m:t>(</m:t>
                      </m:r>
                      <m:sSup>
                        <m:sSupPr>
                          <m:ctrlPr>
                            <a:rPr lang="en-US" altLang="zh-TW" sz="2400" b="0" i="1" smtClean="0">
                              <a:latin typeface="Cambria Math" panose="02040503050406030204" pitchFamily="18" charset="0"/>
                              <a:cs typeface="Times New Roman" panose="02020603050405020304" pitchFamily="18" charset="0"/>
                            </a:rPr>
                          </m:ctrlPr>
                        </m:sSupPr>
                        <m:e>
                          <m:r>
                            <a:rPr lang="en-US" altLang="zh-TW" sz="2400" b="0" i="1" smtClean="0">
                              <a:latin typeface="Cambria Math" panose="02040503050406030204" pitchFamily="18" charset="0"/>
                              <a:cs typeface="Times New Roman" panose="02020603050405020304" pitchFamily="18" charset="0"/>
                            </a:rPr>
                            <m:t>𝑁</m:t>
                          </m:r>
                        </m:e>
                        <m:sup>
                          <m:r>
                            <a:rPr lang="en-US" altLang="zh-TW" sz="2400" b="0" i="1" smtClean="0">
                              <a:latin typeface="Cambria Math" panose="02040503050406030204" pitchFamily="18" charset="0"/>
                              <a:cs typeface="Times New Roman" panose="02020603050405020304" pitchFamily="18" charset="0"/>
                            </a:rPr>
                            <m:t>2</m:t>
                          </m:r>
                        </m:sup>
                      </m:sSup>
                      <m:func>
                        <m:funcPr>
                          <m:ctrlPr>
                            <a:rPr lang="en-US" altLang="zh-TW" sz="2400" b="0" i="1" smtClean="0">
                              <a:latin typeface="Cambria Math" panose="02040503050406030204" pitchFamily="18" charset="0"/>
                              <a:cs typeface="Times New Roman" panose="02020603050405020304" pitchFamily="18" charset="0"/>
                            </a:rPr>
                          </m:ctrlPr>
                        </m:funcPr>
                        <m:fName>
                          <m:r>
                            <m:rPr>
                              <m:sty m:val="p"/>
                            </m:rPr>
                            <a:rPr lang="en-US" altLang="zh-TW" sz="2400" b="0" i="0" smtClean="0">
                              <a:latin typeface="Cambria Math" panose="02040503050406030204" pitchFamily="18" charset="0"/>
                              <a:cs typeface="Times New Roman" panose="02020603050405020304" pitchFamily="18" charset="0"/>
                            </a:rPr>
                            <m:t>log</m:t>
                          </m:r>
                        </m:fName>
                        <m:e>
                          <m:r>
                            <a:rPr lang="en-US" altLang="zh-TW" sz="2400" b="0" i="1" smtClean="0">
                              <a:latin typeface="Cambria Math" panose="02040503050406030204" pitchFamily="18" charset="0"/>
                              <a:cs typeface="Times New Roman" panose="02020603050405020304" pitchFamily="18" charset="0"/>
                            </a:rPr>
                            <m:t>𝑁</m:t>
                          </m:r>
                          <m:r>
                            <a:rPr lang="en-US" altLang="zh-TW" sz="2400" b="0" i="1" smtClean="0">
                              <a:latin typeface="Cambria Math" panose="02040503050406030204" pitchFamily="18" charset="0"/>
                              <a:cs typeface="Times New Roman" panose="02020603050405020304" pitchFamily="18" charset="0"/>
                            </a:rPr>
                            <m:t>)</m:t>
                          </m:r>
                        </m:e>
                      </m:func>
                    </m:oMath>
                  </m:oMathPara>
                </a14:m>
                <a:endParaRPr lang="en-US" altLang="zh-TW" sz="2400" dirty="0" smtClean="0">
                  <a:latin typeface="Times New Roman" panose="02020603050405020304" pitchFamily="18" charset="0"/>
                  <a:cs typeface="Times New Roman" panose="02020603050405020304" pitchFamily="18" charset="0"/>
                </a:endParaRPr>
              </a:p>
            </p:txBody>
          </p:sp>
        </mc:Choice>
        <mc:Fallback>
          <p:sp>
            <p:nvSpPr>
              <p:cNvPr id="3" name="文字方塊 2"/>
              <p:cNvSpPr txBox="1">
                <a:spLocks noRot="1" noChangeAspect="1" noMove="1" noResize="1" noEditPoints="1" noAdjustHandles="1" noChangeArrowheads="1" noChangeShapeType="1" noTextEdit="1"/>
              </p:cNvSpPr>
              <p:nvPr/>
            </p:nvSpPr>
            <p:spPr>
              <a:xfrm>
                <a:off x="6073271" y="5787574"/>
                <a:ext cx="2442079" cy="862608"/>
              </a:xfrm>
              <a:prstGeom prst="rect">
                <a:avLst/>
              </a:prstGeom>
              <a:blipFill rotWithShape="0">
                <a:blip r:embed="rId3"/>
                <a:stretch>
                  <a:fillRect l="-3741" t="-5634" b="-5634"/>
                </a:stretch>
              </a:blipFill>
            </p:spPr>
            <p:txBody>
              <a:bodyPr/>
              <a:lstStyle/>
              <a:p>
                <a:r>
                  <a:rPr lang="zh-TW" altLang="en-US">
                    <a:noFill/>
                  </a:rPr>
                  <a:t> </a:t>
                </a:r>
              </a:p>
            </p:txBody>
          </p:sp>
        </mc:Fallback>
      </mc:AlternateContent>
      <p:graphicFrame>
        <p:nvGraphicFramePr>
          <p:cNvPr id="7" name="表格 6"/>
          <p:cNvGraphicFramePr>
            <a:graphicFrameLocks noGrp="1"/>
          </p:cNvGraphicFramePr>
          <p:nvPr>
            <p:extLst>
              <p:ext uri="{D42A27DB-BD31-4B8C-83A1-F6EECF244321}">
                <p14:modId xmlns:p14="http://schemas.microsoft.com/office/powerpoint/2010/main" val="1430690737"/>
              </p:ext>
            </p:extLst>
          </p:nvPr>
        </p:nvGraphicFramePr>
        <p:xfrm>
          <a:off x="1523999" y="4466534"/>
          <a:ext cx="1104900" cy="1906036"/>
        </p:xfrm>
        <a:graphic>
          <a:graphicData uri="http://schemas.openxmlformats.org/drawingml/2006/table">
            <a:tbl>
              <a:tblPr firstRow="1" bandRow="1">
                <a:tableStyleId>{5940675A-B579-460E-94D1-54222C63F5DA}</a:tableStyleId>
              </a:tblPr>
              <a:tblGrid>
                <a:gridCol w="552450"/>
                <a:gridCol w="552450"/>
              </a:tblGrid>
              <a:tr h="476509">
                <a:tc>
                  <a:txBody>
                    <a:bodyPr/>
                    <a:lstStyle/>
                    <a:p>
                      <a:pPr algn="ctr"/>
                      <a:r>
                        <a:rPr lang="zh-TW" altLang="en-US" dirty="0" smtClean="0"/>
                        <a:t>藍</a:t>
                      </a:r>
                      <a:endParaRPr lang="zh-TW" altLang="en-US" dirty="0"/>
                    </a:p>
                  </a:txBody>
                  <a:tcPr anchor="ctr"/>
                </a:tc>
                <a:tc>
                  <a:txBody>
                    <a:bodyPr/>
                    <a:lstStyle/>
                    <a:p>
                      <a:pPr algn="ctr"/>
                      <a:r>
                        <a:rPr lang="en-US" altLang="zh-TW" dirty="0" smtClean="0"/>
                        <a:t>5</a:t>
                      </a:r>
                      <a:endParaRPr lang="zh-TW" altLang="en-US" dirty="0"/>
                    </a:p>
                  </a:txBody>
                  <a:tcPr anchor="ctr"/>
                </a:tc>
              </a:tr>
              <a:tr h="4765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nchor="ctr"/>
                </a:tc>
                <a:tc>
                  <a:txBody>
                    <a:bodyPr/>
                    <a:lstStyle/>
                    <a:p>
                      <a:pPr algn="ctr"/>
                      <a:endParaRPr lang="zh-TW" altLang="en-US" dirty="0"/>
                    </a:p>
                  </a:txBody>
                  <a:tcPr anchor="ctr"/>
                </a:tc>
              </a:tr>
              <a:tr h="476509">
                <a:tc>
                  <a:txBody>
                    <a:bodyPr/>
                    <a:lstStyle/>
                    <a:p>
                      <a:pPr algn="ctr"/>
                      <a:endParaRPr lang="zh-TW" altLang="en-US"/>
                    </a:p>
                  </a:txBody>
                  <a:tcPr anchor="ctr"/>
                </a:tc>
                <a:tc>
                  <a:txBody>
                    <a:bodyPr/>
                    <a:lstStyle/>
                    <a:p>
                      <a:pPr algn="ctr"/>
                      <a:endParaRPr lang="zh-TW" altLang="en-US"/>
                    </a:p>
                  </a:txBody>
                  <a:tcPr anchor="ctr"/>
                </a:tc>
              </a:tr>
              <a:tr h="476509">
                <a:tc>
                  <a:txBody>
                    <a:bodyPr/>
                    <a:lstStyle/>
                    <a:p>
                      <a:pPr algn="ctr"/>
                      <a:endParaRPr lang="zh-TW" altLang="en-US" dirty="0"/>
                    </a:p>
                  </a:txBody>
                  <a:tcPr anchor="ctr"/>
                </a:tc>
                <a:tc>
                  <a:txBody>
                    <a:bodyPr/>
                    <a:lstStyle/>
                    <a:p>
                      <a:pPr algn="ctr"/>
                      <a:endParaRPr lang="zh-TW" altLang="en-US" dirty="0"/>
                    </a:p>
                  </a:txBody>
                  <a:tcPr anchor="ctr"/>
                </a:tc>
              </a:tr>
            </a:tbl>
          </a:graphicData>
        </a:graphic>
      </p:graphicFrame>
    </p:spTree>
    <p:extLst>
      <p:ext uri="{BB962C8B-B14F-4D97-AF65-F5344CB8AC3E}">
        <p14:creationId xmlns:p14="http://schemas.microsoft.com/office/powerpoint/2010/main" val="28211791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analysis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stretch>
            <a:fillRect/>
          </a:stretch>
        </p:blipFill>
        <p:spPr>
          <a:xfrm>
            <a:off x="1560209" y="1825625"/>
            <a:ext cx="6023582" cy="4351338"/>
          </a:xfrm>
          <a:prstGeom prst="rect">
            <a:avLst/>
          </a:prstGeom>
        </p:spPr>
      </p:pic>
    </p:spTree>
    <p:extLst>
      <p:ext uri="{BB962C8B-B14F-4D97-AF65-F5344CB8AC3E}">
        <p14:creationId xmlns:p14="http://schemas.microsoft.com/office/powerpoint/2010/main" val="22078511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a:t>
            </a:r>
            <a:r>
              <a:rPr lang="en-US" altLang="zh-TW" dirty="0" smtClean="0">
                <a:latin typeface="Times New Roman" panose="02020603050405020304" pitchFamily="18" charset="0"/>
                <a:cs typeface="Times New Roman" panose="02020603050405020304" pitchFamily="18" charset="0"/>
              </a:rPr>
              <a:t>complexity</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analysis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r>
                  <a:rPr lang="en-US" altLang="zh-TW" dirty="0" smtClean="0">
                    <a:latin typeface="Times New Roman" panose="02020603050405020304" pitchFamily="18" charset="0"/>
                    <a:cs typeface="Times New Roman" panose="02020603050405020304" pitchFamily="18" charset="0"/>
                  </a:rPr>
                  <a:t>WSB :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𝑀𝑁</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𝑀</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𝑁</m:t>
                    </m:r>
                    <m:r>
                      <a:rPr lang="en-US" altLang="zh-TW" i="1" dirty="0" smtClean="0">
                        <a:latin typeface="Cambria Math" panose="02040503050406030204" pitchFamily="18" charset="0"/>
                        <a:cs typeface="Times New Roman" panose="02020603050405020304" pitchFamily="18" charset="0"/>
                      </a:rPr>
                      <m:t>))</m:t>
                    </m:r>
                  </m:oMath>
                </a14:m>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M1 :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d>
                      <m:dPr>
                        <m:ctrlPr>
                          <a:rPr lang="en-US" altLang="zh-TW" i="1" dirty="0" smtClean="0">
                            <a:latin typeface="Cambria Math" panose="02040503050406030204" pitchFamily="18" charset="0"/>
                            <a:cs typeface="Times New Roman" panose="02020603050405020304" pitchFamily="18" charset="0"/>
                          </a:rPr>
                        </m:ctrlPr>
                      </m:dPr>
                      <m:e>
                        <m:r>
                          <a:rPr lang="en-US" altLang="zh-TW" i="1" dirty="0" smtClean="0">
                            <a:latin typeface="Cambria Math" panose="02040503050406030204" pitchFamily="18" charset="0"/>
                            <a:cs typeface="Times New Roman" panose="02020603050405020304" pitchFamily="18" charset="0"/>
                          </a:rPr>
                          <m:t>𝑀𝑁</m:t>
                        </m:r>
                        <m:sSup>
                          <m:sSupPr>
                            <m:ctrlPr>
                              <a:rPr lang="en-US" altLang="zh-TW" i="1" dirty="0" smtClean="0">
                                <a:latin typeface="Cambria Math" panose="02040503050406030204" pitchFamily="18" charset="0"/>
                                <a:cs typeface="Times New Roman" panose="02020603050405020304" pitchFamily="18" charset="0"/>
                              </a:rPr>
                            </m:ctrlPr>
                          </m:sSupPr>
                          <m:e>
                            <m:acc>
                              <m:accPr>
                                <m:chr m:val="̅"/>
                                <m:ctrlPr>
                                  <a:rPr lang="en-US" altLang="zh-TW" i="1" dirty="0" smtClean="0">
                                    <a:latin typeface="Cambria Math" panose="02040503050406030204" pitchFamily="18" charset="0"/>
                                    <a:cs typeface="Times New Roman" panose="02020603050405020304" pitchFamily="18" charset="0"/>
                                  </a:rPr>
                                </m:ctrlPr>
                              </m:accPr>
                              <m:e>
                                <m:r>
                                  <a:rPr lang="en-US" altLang="zh-TW" b="0" i="1" dirty="0" smtClean="0">
                                    <a:latin typeface="Cambria Math" panose="02040503050406030204" pitchFamily="18" charset="0"/>
                                    <a:cs typeface="Times New Roman" panose="02020603050405020304" pitchFamily="18" charset="0"/>
                                  </a:rPr>
                                  <m:t>𝑇</m:t>
                                </m:r>
                              </m:e>
                            </m:acc>
                          </m:e>
                          <m:sup>
                            <m:r>
                              <a:rPr lang="en-US" altLang="zh-TW" b="0" i="1" dirty="0" smtClean="0">
                                <a:latin typeface="Cambria Math" panose="02040503050406030204" pitchFamily="18" charset="0"/>
                                <a:cs typeface="Times New Roman" panose="02020603050405020304" pitchFamily="18" charset="0"/>
                              </a:rPr>
                              <m:t>1</m:t>
                            </m:r>
                          </m:sup>
                        </m:sSup>
                      </m:e>
                    </m:d>
                  </m:oMath>
                </a14:m>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M2</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d>
                      <m:dPr>
                        <m:ctrlPr>
                          <a:rPr lang="en-US" altLang="zh-TW" i="1" dirty="0" smtClean="0">
                            <a:latin typeface="Cambria Math" panose="02040503050406030204" pitchFamily="18" charset="0"/>
                            <a:cs typeface="Times New Roman" panose="02020603050405020304" pitchFamily="18" charset="0"/>
                          </a:rPr>
                        </m:ctrlPr>
                      </m:dPr>
                      <m:e>
                        <m:d>
                          <m:dPr>
                            <m:ctrlPr>
                              <a:rPr lang="en-US" altLang="zh-TW" i="1" dirty="0" smtClean="0">
                                <a:latin typeface="Cambria Math" panose="02040503050406030204" pitchFamily="18" charset="0"/>
                                <a:cs typeface="Times New Roman" panose="02020603050405020304" pitchFamily="18" charset="0"/>
                              </a:rPr>
                            </m:ctrlPr>
                          </m:dPr>
                          <m:e>
                            <m:r>
                              <a:rPr lang="en-US" altLang="zh-TW" i="1" dirty="0" smtClean="0">
                                <a:latin typeface="Cambria Math" panose="02040503050406030204" pitchFamily="18" charset="0"/>
                                <a:cs typeface="Times New Roman" panose="02020603050405020304" pitchFamily="18" charset="0"/>
                              </a:rPr>
                              <m:t>1+</m:t>
                            </m:r>
                            <m:acc>
                              <m:accPr>
                                <m:chr m:val="̅"/>
                                <m:ctrlPr>
                                  <a:rPr lang="en-US" altLang="zh-TW" i="1" dirty="0" smtClean="0">
                                    <a:latin typeface="Cambria Math" panose="02040503050406030204" pitchFamily="18" charset="0"/>
                                    <a:cs typeface="Times New Roman" panose="02020603050405020304" pitchFamily="18" charset="0"/>
                                  </a:rPr>
                                </m:ctrlPr>
                              </m:accPr>
                              <m:e>
                                <m:r>
                                  <a:rPr lang="en-US" altLang="zh-TW" b="0" i="1" dirty="0" smtClean="0">
                                    <a:latin typeface="Cambria Math" panose="02040503050406030204" pitchFamily="18" charset="0"/>
                                    <a:cs typeface="Times New Roman" panose="02020603050405020304" pitchFamily="18" charset="0"/>
                                  </a:rPr>
                                  <m:t>𝑋</m:t>
                                </m:r>
                              </m:e>
                            </m:acc>
                            <m:func>
                              <m:funcPr>
                                <m:ctrlPr>
                                  <a:rPr lang="en-US" altLang="zh-TW" i="1" dirty="0" smtClean="0">
                                    <a:latin typeface="Cambria Math" panose="02040503050406030204" pitchFamily="18" charset="0"/>
                                    <a:cs typeface="Times New Roman" panose="02020603050405020304" pitchFamily="18" charset="0"/>
                                  </a:rPr>
                                </m:ctrlPr>
                              </m:funcPr>
                              <m:fName>
                                <m:r>
                                  <m:rPr>
                                    <m:sty m:val="p"/>
                                  </m:rPr>
                                  <a:rPr lang="en-US" altLang="zh-TW" i="0" dirty="0" smtClean="0">
                                    <a:latin typeface="Cambria Math" panose="02040503050406030204" pitchFamily="18" charset="0"/>
                                    <a:cs typeface="Times New Roman" panose="02020603050405020304" pitchFamily="18" charset="0"/>
                                  </a:rPr>
                                  <m:t>log</m:t>
                                </m:r>
                              </m:fName>
                              <m:e>
                                <m:d>
                                  <m:dPr>
                                    <m:ctrlPr>
                                      <a:rPr lang="en-US" altLang="zh-TW" b="0" i="1" dirty="0" smtClean="0">
                                        <a:latin typeface="Cambria Math" panose="02040503050406030204" pitchFamily="18" charset="0"/>
                                        <a:cs typeface="Times New Roman" panose="02020603050405020304" pitchFamily="18" charset="0"/>
                                      </a:rPr>
                                    </m:ctrlPr>
                                  </m:dPr>
                                  <m:e>
                                    <m:r>
                                      <a:rPr lang="en-US" altLang="zh-TW" b="0" i="1" dirty="0" smtClean="0">
                                        <a:latin typeface="Cambria Math" panose="02040503050406030204" pitchFamily="18" charset="0"/>
                                        <a:cs typeface="Times New Roman" panose="02020603050405020304" pitchFamily="18" charset="0"/>
                                      </a:rPr>
                                      <m:t>𝑀</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𝑁</m:t>
                                    </m:r>
                                  </m:e>
                                </m:d>
                              </m:e>
                            </m:func>
                          </m:e>
                        </m:d>
                        <m:r>
                          <a:rPr lang="en-US" altLang="zh-TW" i="1" dirty="0" smtClean="0">
                            <a:latin typeface="Cambria Math" panose="02040503050406030204" pitchFamily="18" charset="0"/>
                            <a:cs typeface="Times New Roman" panose="02020603050405020304" pitchFamily="18" charset="0"/>
                          </a:rPr>
                          <m:t>𝑀𝑁</m:t>
                        </m:r>
                      </m:e>
                    </m:d>
                  </m:oMath>
                </a14:m>
                <a:endParaRPr lang="en-US" altLang="zh-TW" dirty="0" smtClean="0">
                  <a:latin typeface="Times New Roman" panose="02020603050405020304" pitchFamily="18" charset="0"/>
                  <a:cs typeface="Times New Roman" panose="02020603050405020304" pitchFamily="18" charset="0"/>
                </a:endParaRPr>
              </a:p>
              <a:p>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𝐺𝑜𝑡𝑜h</m:t>
                    </m:r>
                  </m:oMath>
                </a14:m>
                <a:r>
                  <a:rPr lang="en-US" altLang="zh-TW" dirty="0" smtClean="0">
                    <a:latin typeface="Times New Roman" panose="02020603050405020304" pitchFamily="18" charset="0"/>
                    <a:cs typeface="Times New Roman" panose="02020603050405020304" pitchFamily="18" charset="0"/>
                  </a:rPr>
                  <a:t>(affine gap) :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𝑀𝑁</m:t>
                    </m:r>
                    <m:r>
                      <a:rPr lang="en-US" altLang="zh-TW" i="1" dirty="0" smtClean="0">
                        <a:latin typeface="Cambria Math" panose="02040503050406030204" pitchFamily="18" charset="0"/>
                        <a:cs typeface="Times New Roman" panose="02020603050405020304" pitchFamily="18" charset="0"/>
                      </a:rPr>
                      <m:t>)</m:t>
                    </m:r>
                  </m:oMath>
                </a14:m>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p>
                      <m:sSupPr>
                        <m:ctrlPr>
                          <a:rPr lang="en-US" altLang="zh-TW" sz="2000" i="1" dirty="0">
                            <a:latin typeface="Cambria Math" panose="02040503050406030204" pitchFamily="18" charset="0"/>
                            <a:cs typeface="Times New Roman" panose="02020603050405020304" pitchFamily="18" charset="0"/>
                          </a:rPr>
                        </m:ctrlPr>
                      </m:sSupPr>
                      <m:e>
                        <m:acc>
                          <m:accPr>
                            <m:chr m:val="̅"/>
                            <m:ctrlPr>
                              <a:rPr lang="en-US" altLang="zh-TW" sz="2000" i="1" dirty="0">
                                <a:latin typeface="Cambria Math" panose="02040503050406030204" pitchFamily="18" charset="0"/>
                                <a:cs typeface="Times New Roman" panose="02020603050405020304" pitchFamily="18" charset="0"/>
                              </a:rPr>
                            </m:ctrlPr>
                          </m:accPr>
                          <m:e>
                            <m:r>
                              <a:rPr lang="en-US" altLang="zh-TW" sz="2000" i="1" dirty="0">
                                <a:latin typeface="Cambria Math" panose="02040503050406030204" pitchFamily="18" charset="0"/>
                                <a:cs typeface="Times New Roman" panose="02020603050405020304" pitchFamily="18" charset="0"/>
                              </a:rPr>
                              <m:t>𝑇</m:t>
                            </m:r>
                          </m:e>
                        </m:acc>
                      </m:e>
                      <m:sup>
                        <m:r>
                          <a:rPr lang="en-US" altLang="zh-TW" sz="2000" i="1" dirty="0">
                            <a:latin typeface="Cambria Math" panose="02040503050406030204" pitchFamily="18" charset="0"/>
                            <a:cs typeface="Times New Roman" panose="02020603050405020304" pitchFamily="18" charset="0"/>
                          </a:rPr>
                          <m:t>1</m:t>
                        </m:r>
                      </m:sup>
                    </m:sSup>
                  </m:oMath>
                </a14:m>
                <a:r>
                  <a:rPr lang="en-US" altLang="zh-TW"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average </a:t>
                </a:r>
                <a:r>
                  <a:rPr lang="en-US" altLang="zh-TW" sz="2000" dirty="0">
                    <a:latin typeface="Times New Roman" panose="02020603050405020304" pitchFamily="18" charset="0"/>
                    <a:cs typeface="Times New Roman" panose="02020603050405020304" pitchFamily="18" charset="0"/>
                  </a:rPr>
                  <a:t>size of candidate</a:t>
                </a:r>
              </a:p>
              <a:p>
                <a:pPr marL="0" indent="0">
                  <a:buNone/>
                </a:pPr>
                <a14:m>
                  <m:oMath xmlns:m="http://schemas.openxmlformats.org/officeDocument/2006/math">
                    <m:acc>
                      <m:accPr>
                        <m:chr m:val="̅"/>
                        <m:ctrlPr>
                          <a:rPr lang="en-US" altLang="zh-TW" sz="2000" i="1" dirty="0">
                            <a:latin typeface="Cambria Math" panose="02040503050406030204" pitchFamily="18" charset="0"/>
                            <a:cs typeface="Times New Roman" panose="02020603050405020304" pitchFamily="18" charset="0"/>
                          </a:rPr>
                        </m:ctrlPr>
                      </m:accPr>
                      <m:e>
                        <m:r>
                          <a:rPr lang="en-US" altLang="zh-TW" sz="2000" i="1" dirty="0">
                            <a:latin typeface="Cambria Math" panose="02040503050406030204" pitchFamily="18" charset="0"/>
                            <a:cs typeface="Times New Roman" panose="02020603050405020304" pitchFamily="18" charset="0"/>
                          </a:rPr>
                          <m:t>𝑋</m:t>
                        </m:r>
                      </m:e>
                    </m:acc>
                  </m:oMath>
                </a14:m>
                <a:r>
                  <a:rPr lang="en-US" altLang="zh-TW" sz="2000" dirty="0">
                    <a:latin typeface="Times New Roman" panose="02020603050405020304" pitchFamily="18" charset="0"/>
                    <a:cs typeface="Times New Roman" panose="02020603050405020304" pitchFamily="18" charset="0"/>
                  </a:rPr>
                  <a:t> = </a:t>
                </a:r>
                <a:r>
                  <a:rPr lang="zh-TW" altLang="en-US" sz="2000" dirty="0">
                    <a:latin typeface="Times New Roman" panose="02020603050405020304" pitchFamily="18" charset="0"/>
                    <a:cs typeface="Times New Roman" panose="02020603050405020304" pitchFamily="18" charset="0"/>
                  </a:rPr>
                  <a:t>交差更新</a:t>
                </a:r>
                <a:r>
                  <a:rPr lang="zh-TW" altLang="en-US" sz="2000" dirty="0" smtClean="0">
                    <a:latin typeface="Times New Roman" panose="02020603050405020304" pitchFamily="18" charset="0"/>
                    <a:cs typeface="Times New Roman" panose="02020603050405020304" pitchFamily="18" charset="0"/>
                  </a:rPr>
                  <a:t>頻率</a:t>
                </a:r>
                <a:endParaRPr lang="en-US" altLang="zh-TW" sz="2000"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391"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011568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4729</TotalTime>
  <Words>655</Words>
  <Application>Microsoft Office PowerPoint</Application>
  <PresentationFormat>如螢幕大小 (4:3)</PresentationFormat>
  <Paragraphs>369</Paragraphs>
  <Slides>22</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22</vt:i4>
      </vt:variant>
    </vt:vector>
  </HeadingPairs>
  <TitlesOfParts>
    <vt:vector size="32" baseType="lpstr">
      <vt:lpstr>Arial Unicode MS</vt:lpstr>
      <vt:lpstr>KaiTi</vt:lpstr>
      <vt:lpstr>新細明體</vt:lpstr>
      <vt:lpstr>Arial</vt:lpstr>
      <vt:lpstr>Calibri</vt:lpstr>
      <vt:lpstr>Calibri Light</vt:lpstr>
      <vt:lpstr>Cambria Math</vt:lpstr>
      <vt:lpstr>Times New Roman</vt:lpstr>
      <vt:lpstr>Verdana</vt:lpstr>
      <vt:lpstr>Office 佈景主題</vt:lpstr>
      <vt:lpstr>PowerPoint 簡報</vt:lpstr>
      <vt:lpstr>Abstract(1/3)</vt:lpstr>
      <vt:lpstr>Abstract(2/3)</vt:lpstr>
      <vt:lpstr>Abstract(3/3)</vt:lpstr>
      <vt:lpstr>Concave function</vt:lpstr>
      <vt:lpstr>Sequence comparison</vt:lpstr>
      <vt:lpstr>WSB Algorithm</vt:lpstr>
      <vt:lpstr>Candidate list</vt:lpstr>
      <vt:lpstr>Candidate list ( for method 1 )</vt:lpstr>
      <vt:lpstr>Method 1(1/5)</vt:lpstr>
      <vt:lpstr>Method 1(2/5)</vt:lpstr>
      <vt:lpstr>Method 1(3/5)</vt:lpstr>
      <vt:lpstr>Method 1(4/5)</vt:lpstr>
      <vt:lpstr>Method 1(5/5)</vt:lpstr>
      <vt:lpstr>Candidate list ( for method 2 )</vt:lpstr>
      <vt:lpstr>Method 2(1/5)</vt:lpstr>
      <vt:lpstr>Method 2(2/5)</vt:lpstr>
      <vt:lpstr>Method 2(3/5)</vt:lpstr>
      <vt:lpstr>Method 2(4/5)</vt:lpstr>
      <vt:lpstr>Method 2(5/5)</vt:lpstr>
      <vt:lpstr>analysis</vt:lpstr>
      <vt:lpstr>Time complexity analysis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Bebe</dc:creator>
  <cp:lastModifiedBy>Bebe</cp:lastModifiedBy>
  <cp:revision>332</cp:revision>
  <dcterms:created xsi:type="dcterms:W3CDTF">2015-06-30T03:57:49Z</dcterms:created>
  <dcterms:modified xsi:type="dcterms:W3CDTF">2016-04-19T10:06:42Z</dcterms:modified>
</cp:coreProperties>
</file>