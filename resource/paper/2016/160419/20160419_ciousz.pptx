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65" d="100"/>
          <a:sy n="65" d="100"/>
        </p:scale>
        <p:origin x="5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B9EAA8CE-EF08-4E68-9D98-F22D2F2CFE66}" type="datetimeFigureOut">
              <a:rPr lang="zh-TW" altLang="en-US" smtClean="0"/>
              <a:t>2016/4/19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4871F69-3808-4233-A090-641573E92219}" type="slidenum">
              <a:rPr lang="zh-TW" altLang="en-US" smtClean="0"/>
              <a:t>‹#›</a:t>
            </a:fld>
            <a:endParaRPr lang="zh-TW" altLang="en-US"/>
          </a:p>
        </p:txBody>
      </p:sp>
    </p:spTree>
    <p:extLst>
      <p:ext uri="{BB962C8B-B14F-4D97-AF65-F5344CB8AC3E}">
        <p14:creationId xmlns:p14="http://schemas.microsoft.com/office/powerpoint/2010/main" val="3821363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B9EAA8CE-EF08-4E68-9D98-F22D2F2CFE66}" type="datetimeFigureOut">
              <a:rPr lang="zh-TW" altLang="en-US" smtClean="0"/>
              <a:t>2016/4/19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4871F69-3808-4233-A090-641573E92219}" type="slidenum">
              <a:rPr lang="zh-TW" altLang="en-US" smtClean="0"/>
              <a:t>‹#›</a:t>
            </a:fld>
            <a:endParaRPr lang="zh-TW" altLang="en-US"/>
          </a:p>
        </p:txBody>
      </p:sp>
    </p:spTree>
    <p:extLst>
      <p:ext uri="{BB962C8B-B14F-4D97-AF65-F5344CB8AC3E}">
        <p14:creationId xmlns:p14="http://schemas.microsoft.com/office/powerpoint/2010/main" val="26381380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按一下以編輯母片文字樣式</a:t>
            </a:r>
          </a:p>
        </p:txBody>
      </p:sp>
      <p:sp>
        <p:nvSpPr>
          <p:cNvPr id="4" name="Date Placeholder 3"/>
          <p:cNvSpPr>
            <a:spLocks noGrp="1"/>
          </p:cNvSpPr>
          <p:nvPr>
            <p:ph type="dt" sz="half" idx="10"/>
          </p:nvPr>
        </p:nvSpPr>
        <p:spPr/>
        <p:txBody>
          <a:bodyPr/>
          <a:lstStyle/>
          <a:p>
            <a:fld id="{B9EAA8CE-EF08-4E68-9D98-F22D2F2CFE66}" type="datetimeFigureOut">
              <a:rPr lang="zh-TW" altLang="en-US" smtClean="0"/>
              <a:t>2016/4/19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4871F69-3808-4233-A090-641573E92219}" type="slidenum">
              <a:rPr lang="zh-TW" altLang="en-US" smtClean="0"/>
              <a:t>‹#›</a:t>
            </a:fld>
            <a:endParaRPr lang="zh-TW" altLang="en-US"/>
          </a:p>
        </p:txBody>
      </p:sp>
    </p:spTree>
    <p:extLst>
      <p:ext uri="{BB962C8B-B14F-4D97-AF65-F5344CB8AC3E}">
        <p14:creationId xmlns:p14="http://schemas.microsoft.com/office/powerpoint/2010/main" val="24947135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B9EAA8CE-EF08-4E68-9D98-F22D2F2CFE66}" type="datetimeFigureOut">
              <a:rPr lang="zh-TW" altLang="en-US" smtClean="0"/>
              <a:t>2016/4/19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4871F69-3808-4233-A090-641573E92219}" type="slidenum">
              <a:rPr lang="zh-TW" altLang="en-US" smtClean="0"/>
              <a:t>‹#›</a:t>
            </a:fld>
            <a:endParaRPr lang="zh-TW" altLang="en-US"/>
          </a:p>
        </p:txBody>
      </p:sp>
    </p:spTree>
    <p:extLst>
      <p:ext uri="{BB962C8B-B14F-4D97-AF65-F5344CB8AC3E}">
        <p14:creationId xmlns:p14="http://schemas.microsoft.com/office/powerpoint/2010/main" val="3501623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B9EAA8CE-EF08-4E68-9D98-F22D2F2CFE66}" type="datetimeFigureOut">
              <a:rPr lang="zh-TW" altLang="en-US" smtClean="0"/>
              <a:t>2016/4/19</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34871F69-3808-4233-A090-641573E92219}" type="slidenum">
              <a:rPr lang="zh-TW" altLang="en-US" smtClean="0"/>
              <a:t>‹#›</a:t>
            </a:fld>
            <a:endParaRPr lang="zh-TW" altLang="en-US"/>
          </a:p>
        </p:txBody>
      </p:sp>
    </p:spTree>
    <p:extLst>
      <p:ext uri="{BB962C8B-B14F-4D97-AF65-F5344CB8AC3E}">
        <p14:creationId xmlns:p14="http://schemas.microsoft.com/office/powerpoint/2010/main" val="1333266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B9EAA8CE-EF08-4E68-9D98-F22D2F2CFE66}" type="datetimeFigureOut">
              <a:rPr lang="zh-TW" altLang="en-US" smtClean="0"/>
              <a:t>2016/4/19</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34871F69-3808-4233-A090-641573E92219}" type="slidenum">
              <a:rPr lang="zh-TW" altLang="en-US" smtClean="0"/>
              <a:t>‹#›</a:t>
            </a:fld>
            <a:endParaRPr lang="zh-TW" altLang="en-US"/>
          </a:p>
        </p:txBody>
      </p:sp>
    </p:spTree>
    <p:extLst>
      <p:ext uri="{BB962C8B-B14F-4D97-AF65-F5344CB8AC3E}">
        <p14:creationId xmlns:p14="http://schemas.microsoft.com/office/powerpoint/2010/main" val="35528096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9EAA8CE-EF08-4E68-9D98-F22D2F2CFE66}" type="datetimeFigureOut">
              <a:rPr lang="zh-TW" altLang="en-US" smtClean="0"/>
              <a:t>2016/4/19</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34871F69-3808-4233-A090-641573E92219}" type="slidenum">
              <a:rPr lang="zh-TW" altLang="en-US" smtClean="0"/>
              <a:t>‹#›</a:t>
            </a:fld>
            <a:endParaRPr lang="zh-TW" altLang="en-US"/>
          </a:p>
        </p:txBody>
      </p:sp>
    </p:spTree>
    <p:extLst>
      <p:ext uri="{BB962C8B-B14F-4D97-AF65-F5344CB8AC3E}">
        <p14:creationId xmlns:p14="http://schemas.microsoft.com/office/powerpoint/2010/main" val="1632577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B9EAA8CE-EF08-4E68-9D98-F22D2F2CFE66}" type="datetimeFigureOut">
              <a:rPr lang="zh-TW" altLang="en-US" smtClean="0"/>
              <a:t>2016/4/19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4871F69-3808-4233-A090-641573E92219}" type="slidenum">
              <a:rPr lang="zh-TW" altLang="en-US" smtClean="0"/>
              <a:t>‹#›</a:t>
            </a:fld>
            <a:endParaRPr lang="zh-TW" altLang="en-US"/>
          </a:p>
        </p:txBody>
      </p:sp>
    </p:spTree>
    <p:extLst>
      <p:ext uri="{BB962C8B-B14F-4D97-AF65-F5344CB8AC3E}">
        <p14:creationId xmlns:p14="http://schemas.microsoft.com/office/powerpoint/2010/main" val="3244058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按一下以編輯母片文字樣式</a:t>
            </a:r>
          </a:p>
        </p:txBody>
      </p:sp>
      <p:sp>
        <p:nvSpPr>
          <p:cNvPr id="5" name="Date Placeholder 4"/>
          <p:cNvSpPr>
            <a:spLocks noGrp="1"/>
          </p:cNvSpPr>
          <p:nvPr>
            <p:ph type="dt" sz="half" idx="10"/>
          </p:nvPr>
        </p:nvSpPr>
        <p:spPr/>
        <p:txBody>
          <a:bodyPr/>
          <a:lstStyle/>
          <a:p>
            <a:fld id="{B9EAA8CE-EF08-4E68-9D98-F22D2F2CFE66}" type="datetimeFigureOut">
              <a:rPr lang="zh-TW" altLang="en-US" smtClean="0"/>
              <a:t>2016/4/19</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4871F69-3808-4233-A090-641573E92219}" type="slidenum">
              <a:rPr lang="zh-TW" altLang="en-US" smtClean="0"/>
              <a:t>‹#›</a:t>
            </a:fld>
            <a:endParaRPr lang="zh-TW" altLang="en-US"/>
          </a:p>
        </p:txBody>
      </p:sp>
    </p:spTree>
    <p:extLst>
      <p:ext uri="{BB962C8B-B14F-4D97-AF65-F5344CB8AC3E}">
        <p14:creationId xmlns:p14="http://schemas.microsoft.com/office/powerpoint/2010/main" val="2427816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B9EAA8CE-EF08-4E68-9D98-F22D2F2CFE66}" type="datetimeFigureOut">
              <a:rPr lang="zh-TW" altLang="en-US" smtClean="0"/>
              <a:t>2016/4/19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4871F69-3808-4233-A090-641573E92219}" type="slidenum">
              <a:rPr lang="zh-TW" altLang="en-US" smtClean="0"/>
              <a:t>‹#›</a:t>
            </a:fld>
            <a:endParaRPr lang="zh-TW" altLang="en-US"/>
          </a:p>
        </p:txBody>
      </p:sp>
    </p:spTree>
    <p:extLst>
      <p:ext uri="{BB962C8B-B14F-4D97-AF65-F5344CB8AC3E}">
        <p14:creationId xmlns:p14="http://schemas.microsoft.com/office/powerpoint/2010/main" val="26208181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B9EAA8CE-EF08-4E68-9D98-F22D2F2CFE66}" type="datetimeFigureOut">
              <a:rPr lang="zh-TW" altLang="en-US" smtClean="0"/>
              <a:t>2016/4/19</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4871F69-3808-4233-A090-641573E92219}" type="slidenum">
              <a:rPr lang="zh-TW" altLang="en-US" smtClean="0"/>
              <a:t>‹#›</a:t>
            </a:fld>
            <a:endParaRPr lang="zh-TW" altLang="en-US"/>
          </a:p>
        </p:txBody>
      </p:sp>
    </p:spTree>
    <p:extLst>
      <p:ext uri="{BB962C8B-B14F-4D97-AF65-F5344CB8AC3E}">
        <p14:creationId xmlns:p14="http://schemas.microsoft.com/office/powerpoint/2010/main" val="1473398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9EAA8CE-EF08-4E68-9D98-F22D2F2CFE66}" type="datetimeFigureOut">
              <a:rPr lang="zh-TW" altLang="en-US" smtClean="0"/>
              <a:t>2016/4/19</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871F69-3808-4233-A090-641573E92219}" type="slidenum">
              <a:rPr lang="zh-TW" altLang="en-US" smtClean="0"/>
              <a:t>‹#›</a:t>
            </a:fld>
            <a:endParaRPr lang="zh-TW" altLang="en-US"/>
          </a:p>
        </p:txBody>
      </p:sp>
    </p:spTree>
    <p:extLst>
      <p:ext uri="{BB962C8B-B14F-4D97-AF65-F5344CB8AC3E}">
        <p14:creationId xmlns:p14="http://schemas.microsoft.com/office/powerpoint/2010/main" val="155229792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96214" y="1155325"/>
            <a:ext cx="7951573" cy="1790700"/>
          </a:xfrm>
        </p:spPr>
        <p:txBody>
          <a:bodyPr anchor="ctr">
            <a:normAutofit/>
          </a:bodyPr>
          <a:lstStyle/>
          <a:p>
            <a:r>
              <a:rPr lang="en-US" altLang="zh-TW" sz="3600" dirty="0"/>
              <a:t>Efficient Sequence Alignment Algorithms</a:t>
            </a:r>
            <a:endParaRPr lang="zh-TW" altLang="en-US" sz="3600" dirty="0"/>
          </a:p>
        </p:txBody>
      </p:sp>
      <p:sp>
        <p:nvSpPr>
          <p:cNvPr id="3" name="副標題 2"/>
          <p:cNvSpPr>
            <a:spLocks noGrp="1"/>
          </p:cNvSpPr>
          <p:nvPr>
            <p:ph type="subTitle" idx="1"/>
          </p:nvPr>
        </p:nvSpPr>
        <p:spPr>
          <a:xfrm>
            <a:off x="1142999" y="3016116"/>
            <a:ext cx="6858000" cy="1869436"/>
          </a:xfrm>
        </p:spPr>
        <p:txBody>
          <a:bodyPr>
            <a:normAutofit fontScale="92500"/>
          </a:bodyPr>
          <a:lstStyle/>
          <a:p>
            <a:r>
              <a:rPr lang="en-US" altLang="zh-TW" sz="2100" dirty="0"/>
              <a:t>Michael S. </a:t>
            </a:r>
            <a:r>
              <a:rPr lang="en-US" altLang="zh-TW" sz="2100" dirty="0" smtClean="0"/>
              <a:t>Waterman</a:t>
            </a:r>
          </a:p>
          <a:p>
            <a:endParaRPr lang="en-US" altLang="zh-TW" dirty="0" smtClean="0"/>
          </a:p>
          <a:p>
            <a:endParaRPr lang="en-US" altLang="zh-TW" dirty="0"/>
          </a:p>
          <a:p>
            <a:r>
              <a:rPr lang="en-US" altLang="zh-TW" dirty="0" smtClean="0"/>
              <a:t>Journal of Theoretical Biology, Vol.108, pp.333-337, 1984</a:t>
            </a:r>
            <a:endParaRPr lang="zh-TW" altLang="en-US" dirty="0"/>
          </a:p>
        </p:txBody>
      </p:sp>
      <p:sp>
        <p:nvSpPr>
          <p:cNvPr id="4" name="文字方塊 3"/>
          <p:cNvSpPr txBox="1"/>
          <p:nvPr/>
        </p:nvSpPr>
        <p:spPr>
          <a:xfrm>
            <a:off x="3502355" y="5260934"/>
            <a:ext cx="2188228" cy="507831"/>
          </a:xfrm>
          <a:prstGeom prst="rect">
            <a:avLst/>
          </a:prstGeom>
          <a:noFill/>
        </p:spPr>
        <p:txBody>
          <a:bodyPr wrap="none" rtlCol="0">
            <a:spAutoFit/>
          </a:bodyPr>
          <a:lstStyle/>
          <a:p>
            <a:r>
              <a:rPr lang="en-US" altLang="zh-TW" sz="1350" dirty="0"/>
              <a:t>Presenter: </a:t>
            </a:r>
            <a:r>
              <a:rPr lang="en-US" altLang="zh-TW" sz="1350" dirty="0" err="1"/>
              <a:t>Shiou-Zong</a:t>
            </a:r>
            <a:r>
              <a:rPr lang="en-US" altLang="zh-TW" sz="1350" dirty="0"/>
              <a:t> </a:t>
            </a:r>
            <a:r>
              <a:rPr lang="en-US" altLang="zh-TW" sz="1350" dirty="0" err="1"/>
              <a:t>Chiou</a:t>
            </a:r>
            <a:endParaRPr lang="en-US" altLang="zh-TW" sz="1350" dirty="0"/>
          </a:p>
          <a:p>
            <a:r>
              <a:rPr lang="en-US" altLang="zh-TW" sz="1350" dirty="0"/>
              <a:t>Date:2016/04/19</a:t>
            </a:r>
            <a:endParaRPr lang="zh-TW" altLang="en-US" sz="1350" dirty="0"/>
          </a:p>
        </p:txBody>
      </p:sp>
    </p:spTree>
    <p:extLst>
      <p:ext uri="{BB962C8B-B14F-4D97-AF65-F5344CB8AC3E}">
        <p14:creationId xmlns:p14="http://schemas.microsoft.com/office/powerpoint/2010/main" val="91514461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Abstract</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2226469"/>
                <a:ext cx="7886700" cy="3263504"/>
              </a:xfrm>
            </p:spPr>
            <p:txBody>
              <a:bodyPr>
                <a:normAutofit fontScale="85000" lnSpcReduction="20000"/>
              </a:bodyPr>
              <a:lstStyle/>
              <a:p>
                <a:pPr marL="0" indent="0">
                  <a:buNone/>
                </a:pPr>
                <a:r>
                  <a:rPr lang="en-US" altLang="zh-TW" dirty="0" smtClean="0"/>
                  <a:t>Sequence alignments are becoming more important with the increase of nucleic acid data. Fitch and Smith have recently given an example where multiple insertion/deletions (rather than a series of adjacent single insertion / deletions</a:t>
                </a:r>
                <a:r>
                  <a:rPr lang="en-US" altLang="zh-TW" dirty="0"/>
                  <a:t>) are necessary to achieve the correct alignment. Multiple insertion/deletions are known to increase computation time from O(</a:t>
                </a:r>
                <a14:m>
                  <m:oMath xmlns:m="http://schemas.openxmlformats.org/officeDocument/2006/math">
                    <m:sSup>
                      <m:sSupPr>
                        <m:ctrlPr>
                          <a:rPr lang="en-US" altLang="zh-TW" i="1" dirty="0" smtClean="0">
                            <a:latin typeface="Cambria Math" panose="02040503050406030204" pitchFamily="18" charset="0"/>
                          </a:rPr>
                        </m:ctrlPr>
                      </m:sSupPr>
                      <m:e>
                        <m:r>
                          <a:rPr lang="en-US" altLang="zh-TW" b="0" i="1" dirty="0" smtClean="0">
                            <a:latin typeface="Cambria Math" panose="02040503050406030204" pitchFamily="18" charset="0"/>
                          </a:rPr>
                          <m:t>𝑛</m:t>
                        </m:r>
                      </m:e>
                      <m:sup>
                        <m:r>
                          <a:rPr lang="en-US" altLang="zh-TW" b="0" i="1" dirty="0" smtClean="0">
                            <a:latin typeface="Cambria Math" panose="02040503050406030204" pitchFamily="18" charset="0"/>
                          </a:rPr>
                          <m:t>2</m:t>
                        </m:r>
                      </m:sup>
                    </m:sSup>
                  </m:oMath>
                </a14:m>
                <a:r>
                  <a:rPr lang="en-US" altLang="zh-TW" dirty="0" smtClean="0"/>
                  <a:t>) </a:t>
                </a:r>
                <a:r>
                  <a:rPr lang="en-US" altLang="zh-TW" dirty="0"/>
                  <a:t>to O(</a:t>
                </a:r>
                <a14:m>
                  <m:oMath xmlns:m="http://schemas.openxmlformats.org/officeDocument/2006/math">
                    <m:sSup>
                      <m:sSupPr>
                        <m:ctrlPr>
                          <a:rPr lang="en-US" altLang="zh-TW" i="1" dirty="0" smtClean="0">
                            <a:latin typeface="Cambria Math" panose="02040503050406030204" pitchFamily="18" charset="0"/>
                          </a:rPr>
                        </m:ctrlPr>
                      </m:sSupPr>
                      <m:e>
                        <m:r>
                          <a:rPr lang="en-US" altLang="zh-TW" b="0" i="1" dirty="0" smtClean="0">
                            <a:latin typeface="Cambria Math" panose="02040503050406030204" pitchFamily="18" charset="0"/>
                          </a:rPr>
                          <m:t>𝑛</m:t>
                        </m:r>
                      </m:e>
                      <m:sup>
                        <m:r>
                          <a:rPr lang="en-US" altLang="zh-TW" b="0" i="1" dirty="0" smtClean="0">
                            <a:latin typeface="Cambria Math" panose="02040503050406030204" pitchFamily="18" charset="0"/>
                          </a:rPr>
                          <m:t>3</m:t>
                        </m:r>
                      </m:sup>
                    </m:sSup>
                  </m:oMath>
                </a14:m>
                <a:r>
                  <a:rPr lang="en-US" altLang="zh-TW" dirty="0"/>
                  <a:t>) although </a:t>
                </a:r>
                <a:r>
                  <a:rPr lang="en-US" altLang="zh-TW" dirty="0" err="1"/>
                  <a:t>Gotoh</a:t>
                </a:r>
                <a:r>
                  <a:rPr lang="en-US" altLang="zh-TW" dirty="0"/>
                  <a:t> has presented an O(</a:t>
                </a:r>
                <a14:m>
                  <m:oMath xmlns:m="http://schemas.openxmlformats.org/officeDocument/2006/math">
                    <m:sSup>
                      <m:sSupPr>
                        <m:ctrlPr>
                          <a:rPr lang="en-US" altLang="zh-TW" i="1" dirty="0" smtClean="0">
                            <a:latin typeface="Cambria Math" panose="02040503050406030204" pitchFamily="18" charset="0"/>
                          </a:rPr>
                        </m:ctrlPr>
                      </m:sSupPr>
                      <m:e>
                        <m:r>
                          <a:rPr lang="en-US" altLang="zh-TW" b="0" i="1" dirty="0" smtClean="0">
                            <a:latin typeface="Cambria Math" panose="02040503050406030204" pitchFamily="18" charset="0"/>
                          </a:rPr>
                          <m:t>𝑛</m:t>
                        </m:r>
                      </m:e>
                      <m:sup>
                        <m:r>
                          <a:rPr lang="en-US" altLang="zh-TW" b="0" i="1" dirty="0" smtClean="0">
                            <a:latin typeface="Cambria Math" panose="02040503050406030204" pitchFamily="18" charset="0"/>
                          </a:rPr>
                          <m:t>2</m:t>
                        </m:r>
                      </m:sup>
                    </m:sSup>
                  </m:oMath>
                </a14:m>
                <a:r>
                  <a:rPr lang="en-US" altLang="zh-TW" dirty="0"/>
                  <a:t>) algorithm in the case the multiple insertion/deletion weighting function is linear. It is argued in this paper that it could be desirable to use concave weighting functions. For that case, an algorithm is derived that is conjectured to be O(</a:t>
                </a:r>
                <a14:m>
                  <m:oMath xmlns:m="http://schemas.openxmlformats.org/officeDocument/2006/math">
                    <m:r>
                      <a:rPr lang="en-US" altLang="zh-TW" i="1" dirty="0" smtClean="0">
                        <a:latin typeface="Cambria Math" panose="02040503050406030204" pitchFamily="18" charset="0"/>
                      </a:rPr>
                      <m:t>𝑣</m:t>
                    </m:r>
                  </m:oMath>
                </a14:m>
                <a:r>
                  <a:rPr lang="en-US" altLang="zh-TW" dirty="0"/>
                  <a:t>).</a:t>
                </a:r>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2226469"/>
                <a:ext cx="7886700" cy="3263504"/>
              </a:xfrm>
              <a:blipFill rotWithShape="0">
                <a:blip r:embed="rId2"/>
                <a:stretch>
                  <a:fillRect l="-1159" t="-4291" b="-1679"/>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31971824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Insertion/Deletions</a:t>
            </a:r>
            <a:endParaRPr lang="zh-TW" altLang="en-US" b="1"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nchor="t">
                <a:normAutofit/>
              </a:bodyPr>
              <a:lstStyle/>
              <a:p>
                <a:pPr marL="0" indent="0">
                  <a:buNone/>
                </a:pPr>
                <a14:m>
                  <m:oMathPara xmlns:m="http://schemas.openxmlformats.org/officeDocument/2006/math">
                    <m:oMathParaPr>
                      <m:jc m:val="centerGroup"/>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func>
                        <m:funcPr>
                          <m:ctrlPr>
                            <a:rPr lang="en-US" altLang="zh-TW" i="1" smtClean="0">
                              <a:latin typeface="Cambria Math" panose="02040503050406030204" pitchFamily="18" charset="0"/>
                            </a:rPr>
                          </m:ctrlPr>
                        </m:funcPr>
                        <m:fName>
                          <m:r>
                            <a:rPr lang="en-US" altLang="zh-TW" b="0" i="1" smtClean="0">
                              <a:latin typeface="Cambria Math" panose="02040503050406030204" pitchFamily="18" charset="0"/>
                            </a:rPr>
                            <m:t>𝑚𝑖𝑛</m:t>
                          </m:r>
                        </m:fName>
                        <m:e>
                          <m:d>
                            <m:dPr>
                              <m:begChr m:val="{"/>
                              <m:endChr m:val="}"/>
                              <m:ctrlPr>
                                <a:rPr lang="en-US" altLang="zh-TW" i="1" smtClean="0">
                                  <a:latin typeface="Cambria Math" panose="02040503050406030204" pitchFamily="18" charset="0"/>
                                </a:rPr>
                              </m:ctrlPr>
                            </m:dPr>
                            <m:e>
                              <m:m>
                                <m:mPr>
                                  <m:mcs>
                                    <m:mc>
                                      <m:mcPr>
                                        <m:count m:val="1"/>
                                        <m:mcJc m:val="center"/>
                                      </m:mcPr>
                                    </m:mc>
                                  </m:mcs>
                                  <m:ctrlPr>
                                    <a:rPr lang="en-US" altLang="zh-TW" i="1" smtClean="0">
                                      <a:latin typeface="Cambria Math" panose="02040503050406030204" pitchFamily="18" charset="0"/>
                                    </a:rPr>
                                  </m:ctrlPr>
                                </m:mPr>
                                <m:m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−1,</m:t>
                                        </m:r>
                                        <m:r>
                                          <a:rPr lang="en-US" altLang="zh-TW" b="0" i="1" smtClean="0">
                                            <a:latin typeface="Cambria Math" panose="02040503050406030204" pitchFamily="18" charset="0"/>
                                          </a:rPr>
                                          <m:t>𝑗</m:t>
                                        </m:r>
                                        <m:r>
                                          <a:rPr lang="en-US" altLang="zh-TW" b="0" i="1" smtClean="0">
                                            <a:latin typeface="Cambria Math" panose="02040503050406030204" pitchFamily="18" charset="0"/>
                                          </a:rPr>
                                          <m:t>−1</m:t>
                                        </m:r>
                                      </m:sub>
                                    </m:sSub>
                                    <m:r>
                                      <m:rPr>
                                        <m:brk m:alnAt="7"/>
                                      </m:rPr>
                                      <a:rPr lang="en-US" altLang="zh-TW" b="0" i="1" smtClean="0">
                                        <a:latin typeface="Cambria Math" panose="02040503050406030204" pitchFamily="18" charset="0"/>
                                      </a:rPr>
                                      <m:t>+</m:t>
                                    </m:r>
                                    <m:r>
                                      <a:rPr lang="en-US" altLang="zh-TW" b="0" i="1" smtClean="0">
                                        <a:latin typeface="Cambria Math" panose="02040503050406030204" pitchFamily="18" charset="0"/>
                                      </a:rPr>
                                      <m:t>𝑑</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𝑎</m:t>
                                        </m:r>
                                      </m:e>
                                      <m:sub>
                                        <m:r>
                                          <a:rPr lang="en-US" altLang="zh-TW" b="0" i="1" smtClean="0">
                                            <a:latin typeface="Cambria Math" panose="02040503050406030204" pitchFamily="18" charset="0"/>
                                          </a:rPr>
                                          <m:t>𝑖</m:t>
                                        </m:r>
                                      </m:sub>
                                    </m:sSub>
                                    <m:r>
                                      <m:rPr>
                                        <m:brk m:alnAt="7"/>
                                      </m:rP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𝑏</m:t>
                                        </m:r>
                                      </m:e>
                                      <m:sub>
                                        <m:r>
                                          <a:rPr lang="en-US" altLang="zh-TW" b="0" i="1" smtClean="0">
                                            <a:latin typeface="Cambria Math" panose="02040503050406030204" pitchFamily="18" charset="0"/>
                                          </a:rPr>
                                          <m:t>𝑗</m:t>
                                        </m:r>
                                      </m:sub>
                                    </m:sSub>
                                    <m:r>
                                      <m:rPr>
                                        <m:brk m:alnAt="7"/>
                                      </m:rPr>
                                      <a:rPr lang="en-US" altLang="zh-TW" b="0" i="1" smtClean="0">
                                        <a:latin typeface="Cambria Math" panose="02040503050406030204" pitchFamily="18" charset="0"/>
                                      </a:rPr>
                                      <m:t>)</m:t>
                                    </m:r>
                                  </m:e>
                                </m:mr>
                                <m:mr>
                                  <m:e>
                                    <m:func>
                                      <m:funcPr>
                                        <m:ctrlPr>
                                          <a:rPr lang="en-US" altLang="zh-TW" i="1" smtClean="0">
                                            <a:latin typeface="Cambria Math" panose="02040503050406030204" pitchFamily="18" charset="0"/>
                                          </a:rPr>
                                        </m:ctrlPr>
                                      </m:funcPr>
                                      <m:fName>
                                        <m:r>
                                          <a:rPr lang="en-US" altLang="zh-TW" b="0" i="1" smtClean="0">
                                            <a:latin typeface="Cambria Math" panose="02040503050406030204" pitchFamily="18" charset="0"/>
                                          </a:rPr>
                                          <m:t>𝑚𝑖𝑛</m:t>
                                        </m:r>
                                      </m:fName>
                                      <m:e>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r>
                                              <a:rPr lang="en-US" altLang="zh-TW" b="0" i="1" smtClean="0">
                                                <a:latin typeface="Cambria Math" panose="02040503050406030204" pitchFamily="18" charset="0"/>
                                              </a:rPr>
                                              <m:t>−</m:t>
                                            </m:r>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𝑤</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𝑘</m:t>
                                            </m:r>
                                          </m:e>
                                        </m:d>
                                        <m:r>
                                          <a:rPr lang="en-US" altLang="zh-TW" b="0" i="1" smtClean="0">
                                            <a:latin typeface="Cambria Math" panose="02040503050406030204" pitchFamily="18" charset="0"/>
                                          </a:rPr>
                                          <m:t>:1</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𝑗</m:t>
                                        </m:r>
                                        <m:r>
                                          <a:rPr lang="en-US" altLang="zh-TW" b="0" i="1" smtClean="0">
                                            <a:latin typeface="Cambria Math" panose="02040503050406030204" pitchFamily="18" charset="0"/>
                                          </a:rPr>
                                          <m:t>}</m:t>
                                        </m:r>
                                      </m:e>
                                    </m:func>
                                  </m:e>
                                </m:mr>
                                <m:mr>
                                  <m:e>
                                    <m:func>
                                      <m:funcPr>
                                        <m:ctrlPr>
                                          <a:rPr lang="en-US" altLang="zh-TW" i="1" smtClean="0">
                                            <a:latin typeface="Cambria Math" panose="02040503050406030204" pitchFamily="18" charset="0"/>
                                          </a:rPr>
                                        </m:ctrlPr>
                                      </m:funcPr>
                                      <m:fName>
                                        <m:r>
                                          <a:rPr lang="en-US" altLang="zh-TW" b="0" i="1" smtClean="0">
                                            <a:latin typeface="Cambria Math" panose="02040503050406030204" pitchFamily="18" charset="0"/>
                                          </a:rPr>
                                          <m:t>𝑚𝑖𝑛</m:t>
                                        </m:r>
                                      </m:fName>
                                      <m:e>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𝑙</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𝑤</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𝑙</m:t>
                                            </m:r>
                                          </m:e>
                                        </m:d>
                                        <m:r>
                                          <a:rPr lang="en-US" altLang="zh-TW" b="0" i="1" smtClean="0">
                                            <a:latin typeface="Cambria Math" panose="02040503050406030204" pitchFamily="18" charset="0"/>
                                          </a:rPr>
                                          <m:t>:1</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𝑙</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rPr>
                                          <m:t>}</m:t>
                                        </m:r>
                                      </m:e>
                                    </m:func>
                                  </m:e>
                                </m:mr>
                              </m:m>
                            </m:e>
                          </m:d>
                        </m:e>
                      </m:func>
                      <m:m>
                        <m:mPr>
                          <m:mcs>
                            <m:mc>
                              <m:mcPr>
                                <m:count m:val="1"/>
                                <m:mcJc m:val="center"/>
                              </m:mcPr>
                            </m:mc>
                          </m:mcs>
                          <m:ctrlPr>
                            <a:rPr lang="en-US" altLang="zh-TW" i="1" smtClean="0">
                              <a:latin typeface="Cambria Math" panose="02040503050406030204" pitchFamily="18" charset="0"/>
                            </a:rPr>
                          </m:ctrlPr>
                        </m:mPr>
                        <m:mr>
                          <m:e/>
                        </m:mr>
                        <m:mr>
                          <m:e>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sub>
                            </m:sSub>
                          </m:e>
                        </m:mr>
                        <m:mr>
                          <m:e>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m:t>
                                </m:r>
                                <m:r>
                                  <a:rPr lang="en-US" altLang="zh-TW" b="0" i="1" smtClean="0">
                                    <a:latin typeface="Cambria Math" panose="02040503050406030204" pitchFamily="18" charset="0"/>
                                  </a:rPr>
                                  <m:t>𝐹</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sub>
                            </m:sSub>
                          </m:e>
                        </m:mr>
                      </m:m>
                    </m:oMath>
                  </m:oMathPara>
                </a14:m>
                <a:endParaRPr lang="en-US" altLang="zh-TW" dirty="0" smtClean="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t="-140"/>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2394272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Concave Insertion/Deletions</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lstStyle/>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𝑓</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𝑥</m:t>
                          </m:r>
                          <m:r>
                            <a:rPr lang="en-US" altLang="zh-TW" b="0" i="1" smtClean="0">
                              <a:latin typeface="Cambria Math" panose="02040503050406030204" pitchFamily="18" charset="0"/>
                            </a:rPr>
                            <m:t>+</m:t>
                          </m:r>
                          <m:r>
                            <a:rPr lang="en-US" altLang="zh-TW" b="0" i="1" smtClean="0">
                              <a:latin typeface="Cambria Math" panose="02040503050406030204" pitchFamily="18" charset="0"/>
                            </a:rPr>
                            <m:t>𝑦</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𝑓</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𝑥</m:t>
                          </m:r>
                        </m:e>
                      </m:d>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𝑓</m:t>
                      </m:r>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𝑦</m:t>
                          </m:r>
                        </m:e>
                      </m:d>
                    </m:oMath>
                  </m:oMathPara>
                </a14:m>
                <a:endParaRPr lang="en-US" altLang="zh-TW" b="0" dirty="0" smtClean="0">
                  <a:ea typeface="Cambria Math" panose="02040503050406030204" pitchFamily="18" charset="0"/>
                </a:endParaRPr>
              </a:p>
              <a:p>
                <a:pPr marL="0" indent="0">
                  <a:buNone/>
                </a:pPr>
                <a:endParaRPr lang="en-US" altLang="zh-TW" i="1" dirty="0" smtClean="0">
                  <a:latin typeface="Cambria Math" panose="02040503050406030204" pitchFamily="18" charset="0"/>
                </a:endParaRPr>
              </a:p>
              <a:p>
                <a:pPr marL="0" indent="0">
                  <a:buNone/>
                </a:pPr>
                <a:endParaRPr lang="en-US" altLang="zh-TW" i="1" dirty="0">
                  <a:latin typeface="Cambria Math" panose="02040503050406030204" pitchFamily="18" charset="0"/>
                </a:endParaRPr>
              </a:p>
              <a:p>
                <a:pPr marL="0" indent="0">
                  <a:buNone/>
                </a:pPr>
                <a:endParaRPr lang="en-US" altLang="zh-TW" i="1" dirty="0" smtClean="0">
                  <a:latin typeface="Cambria Math" panose="02040503050406030204" pitchFamily="18" charset="0"/>
                </a:endParaRPr>
              </a:p>
              <a:p>
                <a:pPr marL="0" indent="0">
                  <a:buNone/>
                </a:pPr>
                <a:endParaRPr lang="en-US" altLang="zh-TW" i="1" dirty="0">
                  <a:latin typeface="Cambria Math" panose="02040503050406030204" pitchFamily="18" charset="0"/>
                </a:endParaRPr>
              </a:p>
              <a:p>
                <a:pPr marL="0" indent="0">
                  <a:buNone/>
                </a:pPr>
                <a:endParaRPr lang="en-US" altLang="zh-TW" i="1" dirty="0" smtClean="0">
                  <a:latin typeface="Cambria Math" panose="02040503050406030204" pitchFamily="18" charset="0"/>
                </a:endParaRPr>
              </a:p>
              <a:p>
                <a:pPr marL="0" indent="0">
                  <a:buNone/>
                </a:pPr>
                <a:endParaRPr lang="en-US" altLang="zh-TW" dirty="0" smtClean="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0">
                <a:blip r:embed="rId2"/>
                <a:stretch>
                  <a:fillRect l="-927"/>
                </a:stretch>
              </a:blipFill>
            </p:spPr>
            <p:txBody>
              <a:bodyPr/>
              <a:lstStyle/>
              <a:p>
                <a:r>
                  <a:rPr lang="zh-TW" altLang="en-US">
                    <a:noFill/>
                  </a:rPr>
                  <a:t> </a:t>
                </a:r>
              </a:p>
            </p:txBody>
          </p:sp>
        </mc:Fallback>
      </mc:AlternateContent>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825" y="2409544"/>
            <a:ext cx="4067175" cy="2809875"/>
          </a:xfrm>
          <a:prstGeom prst="rect">
            <a:avLst/>
          </a:prstGeom>
        </p:spPr>
      </p:pic>
      <p:pic>
        <p:nvPicPr>
          <p:cNvPr id="6" name="圖片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2000" y="2666363"/>
            <a:ext cx="4525006" cy="2553056"/>
          </a:xfrm>
          <a:prstGeom prst="rect">
            <a:avLst/>
          </a:prstGeom>
        </p:spPr>
      </p:pic>
    </p:spTree>
    <p:extLst>
      <p:ext uri="{BB962C8B-B14F-4D97-AF65-F5344CB8AC3E}">
        <p14:creationId xmlns:p14="http://schemas.microsoft.com/office/powerpoint/2010/main" val="40357511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Concave Insertion/Deletions</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a:xfrm>
                <a:off x="628650" y="1690689"/>
                <a:ext cx="7886700" cy="5167311"/>
              </a:xfrm>
            </p:spPr>
            <p:txBody>
              <a:bodyPr>
                <a:normAutofit/>
              </a:bodyPr>
              <a:lstStyle/>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𝑆</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𝑖</m:t>
                          </m:r>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𝑙</m:t>
                          </m:r>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𝑙</m:t>
                              </m:r>
                              <m:r>
                                <a:rPr lang="en-US" altLang="zh-TW" b="0" i="1" smtClean="0">
                                  <a:latin typeface="Cambria Math" panose="02040503050406030204" pitchFamily="18" charset="0"/>
                                </a:rPr>
                                <m:t>+1</m:t>
                              </m:r>
                            </m:sub>
                          </m:sSub>
                          <m:r>
                            <a:rPr lang="en-US" altLang="zh-TW" b="0" i="1" smtClean="0">
                              <a:latin typeface="Cambria Math" panose="02040503050406030204" pitchFamily="18" charset="0"/>
                            </a:rPr>
                            <m:t>=</m:t>
                          </m:r>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𝑙</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𝑤</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m:t>
                              </m:r>
                            </m:e>
                          </m:d>
                        </m:e>
                      </m:d>
                    </m:oMath>
                  </m:oMathPara>
                </a14:m>
                <a:endParaRPr lang="en-US" altLang="zh-TW" b="0" i="1" dirty="0" smtClean="0">
                  <a:latin typeface="Cambria Math" panose="02040503050406030204" pitchFamily="18" charset="0"/>
                </a:endParaRPr>
              </a:p>
              <a:p>
                <a:pPr marL="0" indent="0">
                  <a:buNone/>
                </a:pPr>
                <a:endParaRPr lang="en-US" altLang="zh-TW" b="0" i="1" dirty="0" smtClean="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𝑤</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𝑘</m:t>
                          </m:r>
                        </m:e>
                      </m:d>
                      <m:r>
                        <a:rPr lang="en-US" altLang="zh-TW" b="0" i="1" smtClean="0">
                          <a:latin typeface="Cambria Math" panose="02040503050406030204" pitchFamily="18" charset="0"/>
                        </a:rPr>
                        <m:t>=1+</m:t>
                      </m:r>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log</m:t>
                          </m:r>
                        </m:fName>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𝑘</m:t>
                              </m:r>
                            </m:e>
                          </m:d>
                        </m:e>
                      </m:func>
                    </m:oMath>
                  </m:oMathPara>
                </a14:m>
                <a:endParaRPr lang="en-US" altLang="zh-TW" b="0" dirty="0" smtClean="0"/>
              </a:p>
              <a:p>
                <a:pPr marL="0" indent="0">
                  <a:buNone/>
                </a:pPr>
                <a:endParaRPr lang="en-US" altLang="zh-TW" dirty="0" smtClean="0"/>
              </a:p>
              <a:p>
                <a:pPr marL="0" indent="0">
                  <a:buNone/>
                </a:pPr>
                <a:endParaRPr lang="en-US" altLang="zh-TW" dirty="0"/>
              </a:p>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+1+</m:t>
                      </m:r>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log</m:t>
                          </m:r>
                        </m:fName>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5</m:t>
                              </m:r>
                            </m:e>
                          </m:d>
                        </m:e>
                      </m:func>
                    </m:oMath>
                  </m:oMathPara>
                </a14:m>
                <a:endParaRPr lang="en-US" altLang="zh-TW" b="0" dirty="0" smtClean="0"/>
              </a:p>
              <a:p>
                <a:pPr marL="0" indent="0">
                  <a:buNone/>
                </a:pPr>
                <a14:m>
                  <m:oMathPara xmlns:m="http://schemas.openxmlformats.org/officeDocument/2006/math">
                    <m:oMathParaPr>
                      <m:jc m:val="left"/>
                    </m:oMathParaPr>
                    <m:oMath xmlns:m="http://schemas.openxmlformats.org/officeDocument/2006/math">
                      <m:r>
                        <a:rPr lang="en-US" altLang="zh-TW" b="0" i="1" smtClean="0">
                          <a:latin typeface="Cambria Math" panose="02040503050406030204" pitchFamily="18" charset="0"/>
                        </a:rPr>
                        <m:t>𝑥</m:t>
                      </m:r>
                      <m:r>
                        <a:rPr lang="en-US" altLang="zh-TW" b="0" i="1" smtClean="0">
                          <a:latin typeface="Cambria Math" panose="02040503050406030204" pitchFamily="18" charset="0"/>
                        </a:rPr>
                        <m:t>+1+</m:t>
                      </m:r>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log</m:t>
                          </m:r>
                        </m:fName>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1</m:t>
                              </m:r>
                            </m:e>
                          </m:d>
                        </m:e>
                      </m:func>
                      <m:r>
                        <a:rPr lang="en-US" altLang="zh-TW" b="0" i="1" smtClean="0">
                          <a:latin typeface="Cambria Math" panose="02040503050406030204" pitchFamily="18" charset="0"/>
                        </a:rPr>
                        <m:t>+1+</m:t>
                      </m:r>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log</m:t>
                          </m:r>
                        </m:fName>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4</m:t>
                              </m:r>
                            </m:e>
                          </m:d>
                        </m:e>
                      </m:func>
                    </m:oMath>
                  </m:oMathPara>
                </a14:m>
                <a:endParaRPr lang="en-US" altLang="zh-TW" b="0" dirty="0" smtClean="0"/>
              </a:p>
              <a:p>
                <a:pPr marL="0" indent="0">
                  <a:buNone/>
                </a:pPr>
                <a14:m>
                  <m:oMathPara xmlns:m="http://schemas.openxmlformats.org/officeDocument/2006/math">
                    <m:oMathParaPr>
                      <m:jc m:val="left"/>
                    </m:oMathParaPr>
                    <m:oMath xmlns:m="http://schemas.openxmlformats.org/officeDocument/2006/math">
                      <m:func>
                        <m:funcPr>
                          <m:ctrlPr>
                            <a:rPr lang="en-US" altLang="zh-TW" b="0" i="1" smtClean="0">
                              <a:latin typeface="Cambria Math" panose="02040503050406030204" pitchFamily="18" charset="0"/>
                            </a:rPr>
                          </m:ctrlPr>
                        </m:funcPr>
                        <m:fName>
                          <m:r>
                            <m:rPr>
                              <m:sty m:val="p"/>
                            </m:rPr>
                            <a:rPr lang="en-US" altLang="zh-TW" b="0" i="0" smtClean="0">
                              <a:latin typeface="Cambria Math" panose="02040503050406030204" pitchFamily="18" charset="0"/>
                            </a:rPr>
                            <m:t>log</m:t>
                          </m:r>
                        </m:fName>
                        <m:e>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5</m:t>
                              </m:r>
                            </m:e>
                          </m:d>
                        </m:e>
                      </m:func>
                      <m:r>
                        <a:rPr lang="en-US" altLang="zh-TW" b="0" i="1" smtClean="0">
                          <a:latin typeface="Cambria Math" panose="02040503050406030204" pitchFamily="18" charset="0"/>
                          <a:ea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log</m:t>
                          </m:r>
                        </m:fName>
                        <m:e>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1</m:t>
                              </m:r>
                            </m:e>
                          </m:d>
                        </m:e>
                      </m:func>
                      <m:r>
                        <a:rPr lang="en-US" altLang="zh-TW" b="0" i="1" smtClean="0">
                          <a:latin typeface="Cambria Math" panose="02040503050406030204" pitchFamily="18" charset="0"/>
                          <a:ea typeface="Cambria Math" panose="02040503050406030204" pitchFamily="18" charset="0"/>
                        </a:rPr>
                        <m:t>+</m:t>
                      </m:r>
                      <m:func>
                        <m:funcPr>
                          <m:ctrlPr>
                            <a:rPr lang="en-US" altLang="zh-TW" b="0" i="1" smtClean="0">
                              <a:latin typeface="Cambria Math" panose="02040503050406030204" pitchFamily="18" charset="0"/>
                              <a:ea typeface="Cambria Math" panose="02040503050406030204" pitchFamily="18" charset="0"/>
                            </a:rPr>
                          </m:ctrlPr>
                        </m:funcPr>
                        <m:fName>
                          <m:r>
                            <m:rPr>
                              <m:sty m:val="p"/>
                            </m:rPr>
                            <a:rPr lang="en-US" altLang="zh-TW" b="0" i="0" smtClean="0">
                              <a:latin typeface="Cambria Math" panose="02040503050406030204" pitchFamily="18" charset="0"/>
                              <a:ea typeface="Cambria Math" panose="02040503050406030204" pitchFamily="18" charset="0"/>
                            </a:rPr>
                            <m:t>log</m:t>
                          </m:r>
                        </m:fName>
                        <m:e>
                          <m:d>
                            <m:dPr>
                              <m:ctrlPr>
                                <a:rPr lang="en-US" altLang="zh-TW" b="0" i="1" smtClean="0">
                                  <a:latin typeface="Cambria Math" panose="02040503050406030204" pitchFamily="18" charset="0"/>
                                  <a:ea typeface="Cambria Math" panose="02040503050406030204" pitchFamily="18" charset="0"/>
                                </a:rPr>
                              </m:ctrlPr>
                            </m:dPr>
                            <m:e>
                              <m:r>
                                <a:rPr lang="en-US" altLang="zh-TW" b="0" i="1" smtClean="0">
                                  <a:latin typeface="Cambria Math" panose="02040503050406030204" pitchFamily="18" charset="0"/>
                                  <a:ea typeface="Cambria Math" panose="02040503050406030204" pitchFamily="18" charset="0"/>
                                </a:rPr>
                                <m:t>4</m:t>
                              </m:r>
                            </m:e>
                          </m:d>
                        </m:e>
                      </m:func>
                      <m:r>
                        <a:rPr lang="en-US" altLang="zh-TW" b="0" i="1" smtClean="0">
                          <a:latin typeface="Cambria Math" panose="02040503050406030204" pitchFamily="18" charset="0"/>
                          <a:ea typeface="Cambria Math" panose="02040503050406030204" pitchFamily="18" charset="0"/>
                        </a:rPr>
                        <m:t>+1</m:t>
                      </m:r>
                    </m:oMath>
                  </m:oMathPara>
                </a14:m>
                <a:endParaRPr lang="en-US" altLang="zh-TW" dirty="0" smtClean="0"/>
              </a:p>
              <a:p>
                <a:pPr marL="0" indent="0">
                  <a:buNone/>
                </a:pPr>
                <a:endParaRPr lang="en-US" altLang="zh-TW" dirty="0"/>
              </a:p>
              <a:p>
                <a:pPr marL="0" indent="0">
                  <a:buNone/>
                </a:pPr>
                <a14:m>
                  <m:oMathPara xmlns:m="http://schemas.openxmlformats.org/officeDocument/2006/math">
                    <m:oMathParaPr>
                      <m:jc m:val="left"/>
                    </m:oMathParaPr>
                    <m:oMath xmlns:m="http://schemas.openxmlformats.org/officeDocument/2006/math">
                      <m:sSub>
                        <m:sSubPr>
                          <m:ctrlPr>
                            <a:rPr lang="en-US" altLang="zh-TW" i="1" smtClean="0">
                              <a:latin typeface="Cambria Math" panose="02040503050406030204" pitchFamily="18" charset="0"/>
                            </a:rPr>
                          </m:ctrlPr>
                        </m:sSubPr>
                        <m:e>
                          <m:r>
                            <a:rPr lang="en-US" altLang="zh-TW" b="0" i="1" smtClean="0">
                              <a:latin typeface="Cambria Math" panose="02040503050406030204" pitchFamily="18" charset="0"/>
                            </a:rPr>
                            <m:t>𝐸</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𝑗</m:t>
                          </m:r>
                        </m:sub>
                      </m:sSub>
                      <m:r>
                        <a:rPr lang="en-US" altLang="zh-TW" b="0" i="1" smtClean="0">
                          <a:latin typeface="Cambria Math" panose="02040503050406030204" pitchFamily="18" charset="0"/>
                        </a:rPr>
                        <m:t>=</m:t>
                      </m:r>
                      <m:r>
                        <m:rPr>
                          <m:sty m:val="p"/>
                        </m:rPr>
                        <a:rPr lang="en-US" altLang="zh-TW" b="0" i="0" smtClean="0">
                          <a:latin typeface="Cambria Math" panose="02040503050406030204" pitchFamily="18" charset="0"/>
                        </a:rPr>
                        <m:t>min</m:t>
                      </m:r>
                      <m:r>
                        <a:rPr lang="en-US" altLang="zh-TW" b="0" i="1" smtClean="0">
                          <a:latin typeface="Cambria Math" panose="02040503050406030204" pitchFamily="18" charset="0"/>
                        </a:rPr>
                        <m:t>⁡{</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rPr>
                            <m:t>𝐷</m:t>
                          </m:r>
                        </m:e>
                        <m:sub>
                          <m:r>
                            <a:rPr lang="en-US" altLang="zh-TW" b="0" i="1" smtClean="0">
                              <a:latin typeface="Cambria Math" panose="02040503050406030204" pitchFamily="18" charset="0"/>
                            </a:rPr>
                            <m:t>𝑖</m:t>
                          </m:r>
                          <m:r>
                            <a:rPr lang="en-US" altLang="zh-TW" b="0" i="1" smtClean="0">
                              <a:latin typeface="Cambria Math" panose="02040503050406030204" pitchFamily="18" charset="0"/>
                            </a:rPr>
                            <m:t>,</m:t>
                          </m:r>
                          <m:r>
                            <a:rPr lang="en-US" altLang="zh-TW" b="0" i="1" smtClean="0">
                              <a:latin typeface="Cambria Math" panose="02040503050406030204" pitchFamily="18" charset="0"/>
                            </a:rPr>
                            <m:t>𝑘</m:t>
                          </m:r>
                        </m:sub>
                      </m:sSub>
                      <m:r>
                        <a:rPr lang="en-US" altLang="zh-TW" b="0" i="1" smtClean="0">
                          <a:latin typeface="Cambria Math" panose="02040503050406030204" pitchFamily="18" charset="0"/>
                        </a:rPr>
                        <m:t>+</m:t>
                      </m:r>
                      <m:r>
                        <a:rPr lang="en-US" altLang="zh-TW" b="0" i="1" smtClean="0">
                          <a:latin typeface="Cambria Math" panose="02040503050406030204" pitchFamily="18" charset="0"/>
                        </a:rPr>
                        <m:t>𝑤</m:t>
                      </m:r>
                      <m:d>
                        <m:dPr>
                          <m:ctrlPr>
                            <a:rPr lang="en-US" altLang="zh-TW" b="0" i="1" smtClean="0">
                              <a:latin typeface="Cambria Math" panose="02040503050406030204" pitchFamily="18" charset="0"/>
                            </a:rPr>
                          </m:ctrlPr>
                        </m:dPr>
                        <m:e>
                          <m:r>
                            <a:rPr lang="en-US" altLang="zh-TW" b="0" i="1" smtClean="0">
                              <a:latin typeface="Cambria Math" panose="02040503050406030204" pitchFamily="18" charset="0"/>
                            </a:rPr>
                            <m:t>𝑗</m:t>
                          </m:r>
                          <m:r>
                            <a:rPr lang="en-US" altLang="zh-TW" b="0" i="1" smtClean="0">
                              <a:latin typeface="Cambria Math" panose="02040503050406030204" pitchFamily="18" charset="0"/>
                            </a:rPr>
                            <m:t>−</m:t>
                          </m:r>
                          <m:r>
                            <a:rPr lang="en-US" altLang="zh-TW" b="0" i="1" smtClean="0">
                              <a:latin typeface="Cambria Math" panose="02040503050406030204" pitchFamily="18" charset="0"/>
                            </a:rPr>
                            <m:t>𝑘</m:t>
                          </m:r>
                        </m:e>
                      </m:d>
                      <m:r>
                        <a:rPr lang="en-US" altLang="zh-TW" b="0" i="1" smtClean="0">
                          <a:latin typeface="Cambria Math" panose="02040503050406030204" pitchFamily="18" charset="0"/>
                        </a:rPr>
                        <m:t>:</m:t>
                      </m:r>
                      <m:r>
                        <a:rPr lang="en-US" altLang="zh-TW" b="0" i="1" smtClean="0">
                          <a:latin typeface="Cambria Math" panose="02040503050406030204" pitchFamily="18" charset="0"/>
                        </a:rPr>
                        <m:t>𝑘</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𝑆</m:t>
                      </m:r>
                      <m:r>
                        <a:rPr lang="en-US" altLang="zh-TW" b="0" i="1" smtClean="0">
                          <a:latin typeface="Cambria Math" panose="02040503050406030204" pitchFamily="18" charset="0"/>
                          <a:ea typeface="Cambria Math" panose="02040503050406030204" pitchFamily="18" charset="0"/>
                        </a:rPr>
                        <m:t>(</m:t>
                      </m:r>
                      <m:r>
                        <a:rPr lang="en-US" altLang="zh-TW" b="0" i="1" smtClean="0">
                          <a:latin typeface="Cambria Math" panose="02040503050406030204" pitchFamily="18" charset="0"/>
                          <a:ea typeface="Cambria Math" panose="02040503050406030204" pitchFamily="18" charset="0"/>
                        </a:rPr>
                        <m:t>𝑖</m:t>
                      </m:r>
                      <m:r>
                        <a:rPr lang="en-US" altLang="zh-TW" b="0" i="1" smtClean="0">
                          <a:latin typeface="Cambria Math" panose="02040503050406030204" pitchFamily="18" charset="0"/>
                          <a:ea typeface="Cambria Math" panose="02040503050406030204" pitchFamily="18" charset="0"/>
                        </a:rPr>
                        <m:t>)}</m:t>
                      </m:r>
                    </m:oMath>
                  </m:oMathPara>
                </a14:m>
                <a:endParaRPr lang="en-US" altLang="zh-TW" dirty="0" smtClean="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xfrm>
                <a:off x="628650" y="1690689"/>
                <a:ext cx="7886700" cy="5167311"/>
              </a:xfrm>
              <a:blipFill rotWithShape="0">
                <a:blip r:embed="rId2"/>
                <a:stretch>
                  <a:fillRect l="-927"/>
                </a:stretch>
              </a:blipFill>
            </p:spPr>
            <p:txBody>
              <a:bodyPr/>
              <a:lstStyle/>
              <a:p>
                <a:r>
                  <a:rPr lang="zh-TW" altLang="en-US">
                    <a:noFill/>
                  </a:rPr>
                  <a:t> </a:t>
                </a:r>
              </a:p>
            </p:txBody>
          </p:sp>
        </mc:Fallback>
      </mc:AlternateContent>
      <p:graphicFrame>
        <p:nvGraphicFramePr>
          <p:cNvPr id="4" name="表格 3"/>
          <p:cNvGraphicFramePr>
            <a:graphicFrameLocks noGrp="1"/>
          </p:cNvGraphicFramePr>
          <p:nvPr>
            <p:extLst>
              <p:ext uri="{D42A27DB-BD31-4B8C-83A1-F6EECF244321}">
                <p14:modId xmlns:p14="http://schemas.microsoft.com/office/powerpoint/2010/main" val="2742569642"/>
              </p:ext>
            </p:extLst>
          </p:nvPr>
        </p:nvGraphicFramePr>
        <p:xfrm>
          <a:off x="628650" y="3416645"/>
          <a:ext cx="4427445" cy="434340"/>
        </p:xfrm>
        <a:graphic>
          <a:graphicData uri="http://schemas.openxmlformats.org/drawingml/2006/table">
            <a:tbl>
              <a:tblPr>
                <a:tableStyleId>{2D5ABB26-0587-4C30-8999-92F81FD0307C}</a:tableStyleId>
              </a:tblPr>
              <a:tblGrid>
                <a:gridCol w="1475815"/>
                <a:gridCol w="1475815"/>
                <a:gridCol w="1475815"/>
              </a:tblGrid>
              <a:tr h="388620">
                <a:tc>
                  <a:txBody>
                    <a:bodyPr/>
                    <a:lstStyle/>
                    <a:p>
                      <a:pPr algn="ctr"/>
                      <a:r>
                        <a:rPr lang="en-US" altLang="zh-TW" sz="2400" dirty="0" smtClean="0"/>
                        <a:t>x</a:t>
                      </a:r>
                      <a:endParaRPr lang="zh-TW" altLang="en-US" sz="2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2400" dirty="0" smtClean="0"/>
                        <a:t>x+1+log(1)</a:t>
                      </a:r>
                      <a:endParaRPr lang="zh-TW" altLang="en-US" sz="2400" dirty="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sz="2400" dirty="0" smtClean="0"/>
                        <a:t>x+1+log(2)</a:t>
                      </a:r>
                      <a:endParaRPr lang="zh-TW" altLang="en-US" sz="2400" dirty="0" smtClean="0"/>
                    </a:p>
                  </a:txBody>
                  <a:tcPr marL="68580" marR="68580" marT="34290" marB="3429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220028901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Concave Insertion/Deletions</a:t>
            </a:r>
            <a:endParaRPr lang="zh-TW" altLang="en-US" dirty="0"/>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3892754481"/>
              </p:ext>
            </p:extLst>
          </p:nvPr>
        </p:nvGraphicFramePr>
        <p:xfrm>
          <a:off x="628650" y="2626594"/>
          <a:ext cx="6480000" cy="2057400"/>
        </p:xfrm>
        <a:graphic>
          <a:graphicData uri="http://schemas.openxmlformats.org/drawingml/2006/table">
            <a:tbl>
              <a:tblPr lastRow="1" bandRow="1">
                <a:tableStyleId>{2D5ABB26-0587-4C30-8999-92F81FD0307C}</a:tableStyleId>
              </a:tblPr>
              <a:tblGrid>
                <a:gridCol w="720000"/>
                <a:gridCol w="720000"/>
                <a:gridCol w="720000"/>
                <a:gridCol w="720000"/>
                <a:gridCol w="720000"/>
                <a:gridCol w="720000"/>
                <a:gridCol w="720000"/>
                <a:gridCol w="720000"/>
                <a:gridCol w="720000"/>
              </a:tblGrid>
              <a:tr h="274320">
                <a:tc>
                  <a:txBody>
                    <a:bodyPr/>
                    <a:lstStyle/>
                    <a:p>
                      <a:pPr algn="ct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a</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b</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c</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c</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a</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b</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a</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0</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1.3</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1.48</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1.6</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1.7</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1.78</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1.85</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TW" sz="1800" dirty="0" smtClean="0"/>
                        <a:t>a</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0</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1.3</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1.48</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1.6</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1.7</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1.78</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TW" sz="1800" dirty="0" smtClean="0"/>
                        <a:t>b</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1.3</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0</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1.3</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1.48</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1.6</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1.7</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TW" sz="1800" dirty="0" smtClean="0"/>
                        <a:t>a</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1.48</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1.3</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altLang="zh-TW" sz="1800" dirty="0" smtClean="0"/>
                        <a:t>2</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2.3</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TW" sz="1800" dirty="0" smtClean="0"/>
                        <a:t>1.3</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B050"/>
                    </a:solidFill>
                  </a:tcPr>
                </a:tc>
                <a:tc>
                  <a:txBody>
                    <a:bodyPr/>
                    <a:lstStyle/>
                    <a:p>
                      <a:pPr algn="ctr"/>
                      <a:r>
                        <a:rPr lang="en-US" altLang="zh-TW" sz="1800" dirty="0" smtClean="0"/>
                        <a:t>2.3</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endParaRPr lang="zh-TW" altLang="en-US" sz="18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274320">
                <a:tc>
                  <a:txBody>
                    <a:bodyPr/>
                    <a:lstStyle/>
                    <a:p>
                      <a:pPr algn="ctr"/>
                      <a:r>
                        <a:rPr lang="en-US" altLang="zh-TW" sz="1800" dirty="0" smtClean="0"/>
                        <a:t>a</a:t>
                      </a: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8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8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80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zh-TW" altLang="en-US" sz="1800" dirty="0"/>
                    </a:p>
                  </a:txBody>
                  <a:tcPr marL="68580" marR="68580" marT="34290" marB="3429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mc:AlternateContent xmlns:mc="http://schemas.openxmlformats.org/markup-compatibility/2006" xmlns:a14="http://schemas.microsoft.com/office/drawing/2010/main">
        <mc:Choice Requires="a14">
          <p:sp>
            <p:nvSpPr>
              <p:cNvPr id="6" name="內容版面配置區 2"/>
              <p:cNvSpPr txBox="1">
                <a:spLocks/>
              </p:cNvSpPr>
              <p:nvPr/>
            </p:nvSpPr>
            <p:spPr>
              <a:xfrm>
                <a:off x="628650" y="1690689"/>
                <a:ext cx="7886700" cy="3263504"/>
              </a:xfrm>
              <a:prstGeom prst="rect">
                <a:avLst/>
              </a:prstGeom>
            </p:spPr>
            <p:txBody>
              <a:bodyPr vert="horz" lIns="68580" tIns="34290" rIns="68580" bIns="3429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14:m>
                  <m:oMathPara xmlns:m="http://schemas.openxmlformats.org/officeDocument/2006/math">
                    <m:oMathParaPr>
                      <m:jc m:val="left"/>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𝑖</m:t>
                          </m:r>
                          <m:r>
                            <a:rPr lang="en-US" altLang="zh-TW" i="1">
                              <a:latin typeface="Cambria Math" panose="02040503050406030204" pitchFamily="18" charset="0"/>
                            </a:rPr>
                            <m:t>,</m:t>
                          </m:r>
                          <m:r>
                            <a:rPr lang="en-US" altLang="zh-TW" i="1">
                              <a:latin typeface="Cambria Math" panose="02040503050406030204" pitchFamily="18" charset="0"/>
                            </a:rPr>
                            <m:t>𝑗</m:t>
                          </m:r>
                          <m:r>
                            <a:rPr lang="en-US" altLang="zh-TW" i="1">
                              <a:latin typeface="Cambria Math" panose="02040503050406030204" pitchFamily="18" charset="0"/>
                            </a:rPr>
                            <m:t>−1</m:t>
                          </m:r>
                        </m:sub>
                      </m:sSub>
                      <m:r>
                        <a:rPr lang="en-US" altLang="zh-TW" i="1">
                          <a:latin typeface="Cambria Math" panose="02040503050406030204" pitchFamily="18" charset="0"/>
                        </a:rPr>
                        <m:t>+</m:t>
                      </m:r>
                      <m:r>
                        <a:rPr lang="en-US" altLang="zh-TW" i="1">
                          <a:latin typeface="Cambria Math" panose="02040503050406030204" pitchFamily="18" charset="0"/>
                        </a:rPr>
                        <m:t>𝑤</m:t>
                      </m:r>
                      <m:d>
                        <m:dPr>
                          <m:ctrlPr>
                            <a:rPr lang="en-US" altLang="zh-TW" i="1">
                              <a:latin typeface="Cambria Math" panose="02040503050406030204" pitchFamily="18" charset="0"/>
                            </a:rPr>
                          </m:ctrlPr>
                        </m:dPr>
                        <m:e>
                          <m:r>
                            <a:rPr lang="en-US" altLang="zh-TW" i="1">
                              <a:latin typeface="Cambria Math" panose="02040503050406030204" pitchFamily="18" charset="0"/>
                            </a:rPr>
                            <m:t>1</m:t>
                          </m:r>
                        </m:e>
                      </m:d>
                      <m:r>
                        <a:rPr lang="en-US" altLang="zh-TW" i="1">
                          <a:latin typeface="Cambria Math" panose="02040503050406030204" pitchFamily="18" charset="0"/>
                          <a:ea typeface="Cambria Math" panose="02040503050406030204" pitchFamily="18" charset="0"/>
                        </a:rPr>
                        <m:t>&lt;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𝐷</m:t>
                          </m:r>
                        </m:e>
                        <m:sub>
                          <m:r>
                            <a:rPr lang="en-US" altLang="zh-TW" i="1">
                              <a:latin typeface="Cambria Math" panose="02040503050406030204" pitchFamily="18" charset="0"/>
                              <a:ea typeface="Cambria Math" panose="02040503050406030204" pitchFamily="18" charset="0"/>
                            </a:rPr>
                            <m:t>𝑖</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𝑘</m:t>
                          </m:r>
                        </m:sub>
                      </m:sSub>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𝑤</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𝑘</m:t>
                      </m:r>
                      <m:r>
                        <a:rPr lang="en-US" altLang="zh-TW" i="1">
                          <a:latin typeface="Cambria Math" panose="02040503050406030204" pitchFamily="18" charset="0"/>
                          <a:ea typeface="Cambria Math" panose="02040503050406030204" pitchFamily="18" charset="0"/>
                        </a:rPr>
                        <m:t>)</m:t>
                      </m:r>
                    </m:oMath>
                  </m:oMathPara>
                </a14:m>
                <a:endParaRPr lang="en-US" altLang="zh-TW" dirty="0"/>
              </a:p>
              <a:p>
                <a:pPr marL="0" indent="0">
                  <a:buNone/>
                </a:pPr>
                <a:endParaRPr lang="en-US" altLang="zh-TW" dirty="0"/>
              </a:p>
              <a:p>
                <a:pPr marL="0" indent="0">
                  <a:buNone/>
                </a:pPr>
                <a:endParaRPr lang="en-US" altLang="zh-TW" dirty="0"/>
              </a:p>
              <a:p>
                <a:pPr marL="0" indent="0">
                  <a:buNone/>
                </a:pPr>
                <a:endParaRPr lang="en-US" altLang="zh-TW" dirty="0"/>
              </a:p>
              <a:p>
                <a:pPr marL="0" indent="0">
                  <a:buNone/>
                </a:pPr>
                <a:endParaRPr lang="en-US" altLang="zh-TW" b="1" dirty="0"/>
              </a:p>
              <a:p>
                <a:pPr marL="0" indent="0">
                  <a:buNone/>
                </a:pPr>
                <a:endParaRPr lang="en-US" altLang="zh-TW" dirty="0"/>
              </a:p>
              <a:p>
                <a:pPr marL="0" indent="0">
                  <a:buNone/>
                </a:pPr>
                <a:endParaRPr lang="en-US" altLang="zh-TW"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US" altLang="zh-TW" i="1">
                              <a:latin typeface="Cambria Math" panose="02040503050406030204" pitchFamily="18" charset="0"/>
                            </a:rPr>
                          </m:ctrlPr>
                        </m:sSubPr>
                        <m:e>
                          <m:r>
                            <a:rPr lang="en-US" altLang="zh-TW" i="1">
                              <a:latin typeface="Cambria Math" panose="02040503050406030204" pitchFamily="18" charset="0"/>
                            </a:rPr>
                            <m:t>𝐷</m:t>
                          </m:r>
                        </m:e>
                        <m:sub>
                          <m:r>
                            <a:rPr lang="en-US" altLang="zh-TW" i="1">
                              <a:latin typeface="Cambria Math" panose="02040503050406030204" pitchFamily="18" charset="0"/>
                            </a:rPr>
                            <m:t>𝑖</m:t>
                          </m:r>
                          <m:r>
                            <a:rPr lang="en-US" altLang="zh-TW" i="1">
                              <a:latin typeface="Cambria Math" panose="02040503050406030204" pitchFamily="18" charset="0"/>
                            </a:rPr>
                            <m:t>,</m:t>
                          </m:r>
                          <m:r>
                            <a:rPr lang="en-US" altLang="zh-TW" i="1">
                              <a:latin typeface="Cambria Math" panose="02040503050406030204" pitchFamily="18" charset="0"/>
                            </a:rPr>
                            <m:t>𝑗</m:t>
                          </m:r>
                          <m:r>
                            <a:rPr lang="en-US" altLang="zh-TW" i="1">
                              <a:latin typeface="Cambria Math" panose="02040503050406030204" pitchFamily="18" charset="0"/>
                            </a:rPr>
                            <m:t>−1</m:t>
                          </m:r>
                        </m:sub>
                      </m:sSub>
                      <m:r>
                        <a:rPr lang="en-US" altLang="zh-TW" i="1">
                          <a:latin typeface="Cambria Math" panose="02040503050406030204" pitchFamily="18" charset="0"/>
                        </a:rPr>
                        <m:t>+</m:t>
                      </m:r>
                      <m:r>
                        <a:rPr lang="en-US" altLang="zh-TW" i="1">
                          <a:latin typeface="Cambria Math" panose="02040503050406030204" pitchFamily="18" charset="0"/>
                        </a:rPr>
                        <m:t>𝑤</m:t>
                      </m:r>
                      <m:d>
                        <m:dPr>
                          <m:ctrlPr>
                            <a:rPr lang="en-US" altLang="zh-TW" i="1">
                              <a:latin typeface="Cambria Math" panose="02040503050406030204" pitchFamily="18" charset="0"/>
                            </a:rPr>
                          </m:ctrlPr>
                        </m:dPr>
                        <m:e>
                          <m:r>
                            <a:rPr lang="en-US" altLang="zh-TW" i="1">
                              <a:latin typeface="Cambria Math" panose="02040503050406030204" pitchFamily="18" charset="0"/>
                            </a:rPr>
                            <m:t>1+</m:t>
                          </m:r>
                          <m:r>
                            <a:rPr lang="en-US" altLang="zh-TW" i="1">
                              <a:latin typeface="Cambria Math" panose="02040503050406030204" pitchFamily="18" charset="0"/>
                            </a:rPr>
                            <m:t>h</m:t>
                          </m:r>
                        </m:e>
                      </m:d>
                      <m:r>
                        <a:rPr lang="en-US" altLang="zh-TW" i="1">
                          <a:latin typeface="Cambria Math" panose="02040503050406030204" pitchFamily="18" charset="0"/>
                        </a:rPr>
                        <m:t>=</m:t>
                      </m:r>
                      <m:sSub>
                        <m:sSubPr>
                          <m:ctrlPr>
                            <a:rPr lang="en-US" altLang="zh-TW" i="1">
                              <a:latin typeface="Cambria Math" panose="02040503050406030204" pitchFamily="18" charset="0"/>
                              <a:ea typeface="Cambria Math" panose="02040503050406030204" pitchFamily="18" charset="0"/>
                            </a:rPr>
                          </m:ctrlPr>
                        </m:sSubPr>
                        <m:e>
                          <m:r>
                            <a:rPr lang="en-US" altLang="zh-TW" i="1">
                              <a:latin typeface="Cambria Math" panose="02040503050406030204" pitchFamily="18" charset="0"/>
                              <a:ea typeface="Cambria Math" panose="02040503050406030204" pitchFamily="18" charset="0"/>
                            </a:rPr>
                            <m:t>𝐷</m:t>
                          </m:r>
                        </m:e>
                        <m:sub>
                          <m:r>
                            <a:rPr lang="en-US" altLang="zh-TW" i="1">
                              <a:latin typeface="Cambria Math" panose="02040503050406030204" pitchFamily="18" charset="0"/>
                              <a:ea typeface="Cambria Math" panose="02040503050406030204" pitchFamily="18" charset="0"/>
                            </a:rPr>
                            <m:t>𝑖</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𝑘</m:t>
                          </m:r>
                        </m:sub>
                      </m:sSub>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𝑤</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𝑗</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𝑘</m:t>
                      </m:r>
                      <m:r>
                        <a:rPr lang="en-US" altLang="zh-TW" i="1">
                          <a:latin typeface="Cambria Math" panose="02040503050406030204" pitchFamily="18" charset="0"/>
                          <a:ea typeface="Cambria Math" panose="02040503050406030204" pitchFamily="18" charset="0"/>
                        </a:rPr>
                        <m:t>+</m:t>
                      </m:r>
                      <m:r>
                        <a:rPr lang="en-US" altLang="zh-TW" i="1">
                          <a:latin typeface="Cambria Math" panose="02040503050406030204" pitchFamily="18" charset="0"/>
                          <a:ea typeface="Cambria Math" panose="02040503050406030204" pitchFamily="18" charset="0"/>
                        </a:rPr>
                        <m:t>h</m:t>
                      </m:r>
                      <m:r>
                        <a:rPr lang="en-US" altLang="zh-TW" i="1">
                          <a:latin typeface="Cambria Math" panose="02040503050406030204" pitchFamily="18" charset="0"/>
                          <a:ea typeface="Cambria Math" panose="02040503050406030204" pitchFamily="18" charset="0"/>
                        </a:rPr>
                        <m:t>)</m:t>
                      </m:r>
                    </m:oMath>
                  </m:oMathPara>
                </a14:m>
                <a:endParaRPr lang="en-US" altLang="zh-TW" dirty="0"/>
              </a:p>
              <a:p>
                <a:pPr marL="0" indent="0">
                  <a:buNone/>
                </a:pPr>
                <a:endParaRPr lang="en-US" altLang="zh-TW" dirty="0"/>
              </a:p>
            </p:txBody>
          </p:sp>
        </mc:Choice>
        <mc:Fallback xmlns="">
          <p:sp>
            <p:nvSpPr>
              <p:cNvPr id="6" name="內容版面配置區 2"/>
              <p:cNvSpPr txBox="1">
                <a:spLocks noRot="1" noChangeAspect="1" noMove="1" noResize="1" noEditPoints="1" noAdjustHandles="1" noChangeArrowheads="1" noChangeShapeType="1" noTextEdit="1"/>
              </p:cNvSpPr>
              <p:nvPr/>
            </p:nvSpPr>
            <p:spPr>
              <a:xfrm>
                <a:off x="628650" y="1690689"/>
                <a:ext cx="7886700" cy="3263504"/>
              </a:xfrm>
              <a:prstGeom prst="rect">
                <a:avLst/>
              </a:prstGeom>
              <a:blipFill rotWithShape="0">
                <a:blip r:embed="rId2"/>
                <a:stretch>
                  <a:fillRect l="-696" b="-24440"/>
                </a:stretch>
              </a:blipFill>
            </p:spPr>
            <p:txBody>
              <a:bodyPr/>
              <a:lstStyle/>
              <a:p>
                <a:r>
                  <a:rPr lang="zh-TW" altLang="en-US">
                    <a:noFill/>
                  </a:rPr>
                  <a:t> </a:t>
                </a:r>
              </a:p>
            </p:txBody>
          </p:sp>
        </mc:Fallback>
      </mc:AlternateContent>
      <mc:AlternateContent xmlns:mc="http://schemas.openxmlformats.org/markup-compatibility/2006" xmlns:a14="http://schemas.microsoft.com/office/drawing/2010/main">
        <mc:Choice Requires="a14">
          <p:sp>
            <p:nvSpPr>
              <p:cNvPr id="3" name="文字方塊 2"/>
              <p:cNvSpPr txBox="1"/>
              <p:nvPr/>
            </p:nvSpPr>
            <p:spPr>
              <a:xfrm>
                <a:off x="629730" y="6025753"/>
                <a:ext cx="7885620" cy="714876"/>
              </a:xfrm>
              <a:prstGeom prst="rect">
                <a:avLst/>
              </a:prstGeom>
              <a:noFill/>
            </p:spPr>
            <p:txBody>
              <a:bodyPr wrap="none" rtlCol="0">
                <a:spAutoFit/>
              </a:bodyPr>
              <a:lstStyle/>
              <a:p>
                <a:r>
                  <a:rPr lang="en-US" altLang="zh-TW" sz="2000" dirty="0"/>
                  <a:t>While we cannot establish the computational complexity of this last result</a:t>
                </a:r>
              </a:p>
              <a:p>
                <a:r>
                  <a:rPr lang="en-US" altLang="zh-TW" sz="2000" dirty="0" smtClean="0"/>
                  <a:t>on first principles, the practical implication is an </a:t>
                </a:r>
                <a:r>
                  <a:rPr lang="en-US" altLang="zh-TW" sz="2000" b="1" i="1" dirty="0" smtClean="0"/>
                  <a:t>O(</a:t>
                </a:r>
                <a14:m>
                  <m:oMath xmlns:m="http://schemas.openxmlformats.org/officeDocument/2006/math">
                    <m:sSup>
                      <m:sSupPr>
                        <m:ctrlPr>
                          <a:rPr lang="en-US" altLang="zh-TW" sz="2000" b="1" i="1" dirty="0">
                            <a:latin typeface="Cambria Math" panose="02040503050406030204" pitchFamily="18" charset="0"/>
                          </a:rPr>
                        </m:ctrlPr>
                      </m:sSupPr>
                      <m:e>
                        <m:r>
                          <a:rPr lang="en-US" altLang="zh-TW" sz="2000" b="1" i="1" dirty="0">
                            <a:latin typeface="Cambria Math" panose="02040503050406030204" pitchFamily="18" charset="0"/>
                          </a:rPr>
                          <m:t>𝒏</m:t>
                        </m:r>
                      </m:e>
                      <m:sup>
                        <m:r>
                          <a:rPr lang="en-US" altLang="zh-TW" sz="2000" b="1" i="1" dirty="0">
                            <a:latin typeface="Cambria Math" panose="02040503050406030204" pitchFamily="18" charset="0"/>
                          </a:rPr>
                          <m:t>𝟐</m:t>
                        </m:r>
                      </m:sup>
                    </m:sSup>
                  </m:oMath>
                </a14:m>
                <a:r>
                  <a:rPr lang="en-US" altLang="zh-TW" sz="2000" b="1" i="1" dirty="0" smtClean="0"/>
                  <a:t>) </a:t>
                </a:r>
                <a:r>
                  <a:rPr lang="en-US" altLang="zh-TW" sz="2000" dirty="0" smtClean="0"/>
                  <a:t>algorithm.</a:t>
                </a:r>
                <a:endParaRPr lang="zh-TW" altLang="en-US" sz="2000" dirty="0"/>
              </a:p>
            </p:txBody>
          </p:sp>
        </mc:Choice>
        <mc:Fallback xmlns="">
          <p:sp>
            <p:nvSpPr>
              <p:cNvPr id="3" name="文字方塊 2"/>
              <p:cNvSpPr txBox="1">
                <a:spLocks noRot="1" noChangeAspect="1" noMove="1" noResize="1" noEditPoints="1" noAdjustHandles="1" noChangeArrowheads="1" noChangeShapeType="1" noTextEdit="1"/>
              </p:cNvSpPr>
              <p:nvPr/>
            </p:nvSpPr>
            <p:spPr>
              <a:xfrm>
                <a:off x="629730" y="6025753"/>
                <a:ext cx="7885620" cy="714876"/>
              </a:xfrm>
              <a:prstGeom prst="rect">
                <a:avLst/>
              </a:prstGeom>
              <a:blipFill rotWithShape="0">
                <a:blip r:embed="rId3"/>
                <a:stretch>
                  <a:fillRect l="-773" t="-4237" b="-1440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28779804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280</TotalTime>
  <Words>162</Words>
  <Application>Microsoft Office PowerPoint</Application>
  <PresentationFormat>如螢幕大小 (4:3)</PresentationFormat>
  <Paragraphs>84</Paragraphs>
  <Slides>6</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6</vt:i4>
      </vt:variant>
    </vt:vector>
  </HeadingPairs>
  <TitlesOfParts>
    <vt:vector size="12" baseType="lpstr">
      <vt:lpstr>新細明體</vt:lpstr>
      <vt:lpstr>Arial</vt:lpstr>
      <vt:lpstr>Calibri</vt:lpstr>
      <vt:lpstr>Calibri Light</vt:lpstr>
      <vt:lpstr>Cambria Math</vt:lpstr>
      <vt:lpstr>Office 佈景主題</vt:lpstr>
      <vt:lpstr>Efficient Sequence Alignment Algorithms</vt:lpstr>
      <vt:lpstr>Abstract</vt:lpstr>
      <vt:lpstr>Insertion/Deletions</vt:lpstr>
      <vt:lpstr>Concave Insertion/Deletions</vt:lpstr>
      <vt:lpstr>Concave Insertion/Deletions</vt:lpstr>
      <vt:lpstr>Concave Insertion/Deletions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Sequence Alignment Algorithms</dc:title>
  <dc:creator>sizuka</dc:creator>
  <cp:lastModifiedBy>pplab-class</cp:lastModifiedBy>
  <cp:revision>20</cp:revision>
  <dcterms:created xsi:type="dcterms:W3CDTF">2016-04-17T13:26:02Z</dcterms:created>
  <dcterms:modified xsi:type="dcterms:W3CDTF">2016-04-19T11:30:24Z</dcterms:modified>
</cp:coreProperties>
</file>