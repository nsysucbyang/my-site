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4" r:id="rId5"/>
    <p:sldId id="265" r:id="rId6"/>
    <p:sldId id="262" r:id="rId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3" d="100"/>
          <a:sy n="103" d="100"/>
        </p:scale>
        <p:origin x="23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E647E849-A6E3-4997-ACC1-22F3BB492578}" type="datetimeFigureOut">
              <a:rPr lang="zh-TW" altLang="en-US" smtClean="0"/>
              <a:t>2016/4/19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1F13E5F-D7DA-4F3E-9AD0-348A1096F1D4}" type="slidenum">
              <a:rPr lang="zh-TW" altLang="en-US" smtClean="0"/>
              <a:t>‹#›</a:t>
            </a:fld>
            <a:endParaRPr lang="zh-TW" altLang="en-US"/>
          </a:p>
        </p:txBody>
      </p:sp>
    </p:spTree>
    <p:extLst>
      <p:ext uri="{BB962C8B-B14F-4D97-AF65-F5344CB8AC3E}">
        <p14:creationId xmlns:p14="http://schemas.microsoft.com/office/powerpoint/2010/main" val="1720230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647E849-A6E3-4997-ACC1-22F3BB492578}" type="datetimeFigureOut">
              <a:rPr lang="zh-TW" altLang="en-US" smtClean="0"/>
              <a:t>2016/4/19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1F13E5F-D7DA-4F3E-9AD0-348A1096F1D4}" type="slidenum">
              <a:rPr lang="zh-TW" altLang="en-US" smtClean="0"/>
              <a:t>‹#›</a:t>
            </a:fld>
            <a:endParaRPr lang="zh-TW" altLang="en-US"/>
          </a:p>
        </p:txBody>
      </p:sp>
    </p:spTree>
    <p:extLst>
      <p:ext uri="{BB962C8B-B14F-4D97-AF65-F5344CB8AC3E}">
        <p14:creationId xmlns:p14="http://schemas.microsoft.com/office/powerpoint/2010/main" val="1451932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E647E849-A6E3-4997-ACC1-22F3BB492578}" type="datetimeFigureOut">
              <a:rPr lang="zh-TW" altLang="en-US" smtClean="0"/>
              <a:t>2016/4/19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1F13E5F-D7DA-4F3E-9AD0-348A1096F1D4}" type="slidenum">
              <a:rPr lang="zh-TW" altLang="en-US" smtClean="0"/>
              <a:t>‹#›</a:t>
            </a:fld>
            <a:endParaRPr lang="zh-TW" altLang="en-US"/>
          </a:p>
        </p:txBody>
      </p:sp>
    </p:spTree>
    <p:extLst>
      <p:ext uri="{BB962C8B-B14F-4D97-AF65-F5344CB8AC3E}">
        <p14:creationId xmlns:p14="http://schemas.microsoft.com/office/powerpoint/2010/main" val="907651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E647E849-A6E3-4997-ACC1-22F3BB492578}" type="datetimeFigureOut">
              <a:rPr lang="zh-TW" altLang="en-US" smtClean="0"/>
              <a:t>2016/4/19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1F13E5F-D7DA-4F3E-9AD0-348A1096F1D4}" type="slidenum">
              <a:rPr lang="zh-TW" altLang="en-US" smtClean="0"/>
              <a:t>‹#›</a:t>
            </a:fld>
            <a:endParaRPr lang="zh-TW" altLang="en-US"/>
          </a:p>
        </p:txBody>
      </p:sp>
    </p:spTree>
    <p:extLst>
      <p:ext uri="{BB962C8B-B14F-4D97-AF65-F5344CB8AC3E}">
        <p14:creationId xmlns:p14="http://schemas.microsoft.com/office/powerpoint/2010/main" val="2030674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E647E849-A6E3-4997-ACC1-22F3BB492578}" type="datetimeFigureOut">
              <a:rPr lang="zh-TW" altLang="en-US" smtClean="0"/>
              <a:t>2016/4/19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B1F13E5F-D7DA-4F3E-9AD0-348A1096F1D4}" type="slidenum">
              <a:rPr lang="zh-TW" altLang="en-US" smtClean="0"/>
              <a:t>‹#›</a:t>
            </a:fld>
            <a:endParaRPr lang="zh-TW" altLang="en-US"/>
          </a:p>
        </p:txBody>
      </p:sp>
    </p:spTree>
    <p:extLst>
      <p:ext uri="{BB962C8B-B14F-4D97-AF65-F5344CB8AC3E}">
        <p14:creationId xmlns:p14="http://schemas.microsoft.com/office/powerpoint/2010/main" val="2569399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E647E849-A6E3-4997-ACC1-22F3BB492578}" type="datetimeFigureOut">
              <a:rPr lang="zh-TW" altLang="en-US" smtClean="0"/>
              <a:t>2016/4/19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B1F13E5F-D7DA-4F3E-9AD0-348A1096F1D4}" type="slidenum">
              <a:rPr lang="zh-TW" altLang="en-US" smtClean="0"/>
              <a:t>‹#›</a:t>
            </a:fld>
            <a:endParaRPr lang="zh-TW" altLang="en-US"/>
          </a:p>
        </p:txBody>
      </p:sp>
    </p:spTree>
    <p:extLst>
      <p:ext uri="{BB962C8B-B14F-4D97-AF65-F5344CB8AC3E}">
        <p14:creationId xmlns:p14="http://schemas.microsoft.com/office/powerpoint/2010/main" val="3288315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E647E849-A6E3-4997-ACC1-22F3BB492578}" type="datetimeFigureOut">
              <a:rPr lang="zh-TW" altLang="en-US" smtClean="0"/>
              <a:t>2016/4/19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B1F13E5F-D7DA-4F3E-9AD0-348A1096F1D4}" type="slidenum">
              <a:rPr lang="zh-TW" altLang="en-US" smtClean="0"/>
              <a:t>‹#›</a:t>
            </a:fld>
            <a:endParaRPr lang="zh-TW" altLang="en-US"/>
          </a:p>
        </p:txBody>
      </p:sp>
    </p:spTree>
    <p:extLst>
      <p:ext uri="{BB962C8B-B14F-4D97-AF65-F5344CB8AC3E}">
        <p14:creationId xmlns:p14="http://schemas.microsoft.com/office/powerpoint/2010/main" val="701395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E647E849-A6E3-4997-ACC1-22F3BB492578}" type="datetimeFigureOut">
              <a:rPr lang="zh-TW" altLang="en-US" smtClean="0"/>
              <a:t>2016/4/19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1F13E5F-D7DA-4F3E-9AD0-348A1096F1D4}" type="slidenum">
              <a:rPr lang="zh-TW" altLang="en-US" smtClean="0"/>
              <a:t>‹#›</a:t>
            </a:fld>
            <a:endParaRPr lang="zh-TW" altLang="en-US"/>
          </a:p>
        </p:txBody>
      </p:sp>
    </p:spTree>
    <p:extLst>
      <p:ext uri="{BB962C8B-B14F-4D97-AF65-F5344CB8AC3E}">
        <p14:creationId xmlns:p14="http://schemas.microsoft.com/office/powerpoint/2010/main" val="2714510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E647E849-A6E3-4997-ACC1-22F3BB492578}" type="datetimeFigureOut">
              <a:rPr lang="zh-TW" altLang="en-US" smtClean="0"/>
              <a:t>2016/4/19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1F13E5F-D7DA-4F3E-9AD0-348A1096F1D4}" type="slidenum">
              <a:rPr lang="zh-TW" altLang="en-US" smtClean="0"/>
              <a:t>‹#›</a:t>
            </a:fld>
            <a:endParaRPr lang="zh-TW" altLang="en-US"/>
          </a:p>
        </p:txBody>
      </p:sp>
    </p:spTree>
    <p:extLst>
      <p:ext uri="{BB962C8B-B14F-4D97-AF65-F5344CB8AC3E}">
        <p14:creationId xmlns:p14="http://schemas.microsoft.com/office/powerpoint/2010/main" val="3009484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647E849-A6E3-4997-ACC1-22F3BB492578}" type="datetimeFigureOut">
              <a:rPr lang="zh-TW" altLang="en-US" smtClean="0"/>
              <a:t>2016/4/19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1F13E5F-D7DA-4F3E-9AD0-348A1096F1D4}" type="slidenum">
              <a:rPr lang="zh-TW" altLang="en-US" smtClean="0"/>
              <a:t>‹#›</a:t>
            </a:fld>
            <a:endParaRPr lang="zh-TW" altLang="en-US"/>
          </a:p>
        </p:txBody>
      </p:sp>
    </p:spTree>
    <p:extLst>
      <p:ext uri="{BB962C8B-B14F-4D97-AF65-F5344CB8AC3E}">
        <p14:creationId xmlns:p14="http://schemas.microsoft.com/office/powerpoint/2010/main" val="1515438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647E849-A6E3-4997-ACC1-22F3BB492578}" type="datetimeFigureOut">
              <a:rPr lang="zh-TW" altLang="en-US" smtClean="0"/>
              <a:t>2016/4/19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1F13E5F-D7DA-4F3E-9AD0-348A1096F1D4}" type="slidenum">
              <a:rPr lang="zh-TW" altLang="en-US" smtClean="0"/>
              <a:t>‹#›</a:t>
            </a:fld>
            <a:endParaRPr lang="zh-TW" altLang="en-US"/>
          </a:p>
        </p:txBody>
      </p:sp>
    </p:spTree>
    <p:extLst>
      <p:ext uri="{BB962C8B-B14F-4D97-AF65-F5344CB8AC3E}">
        <p14:creationId xmlns:p14="http://schemas.microsoft.com/office/powerpoint/2010/main" val="667697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47E849-A6E3-4997-ACC1-22F3BB492578}" type="datetimeFigureOut">
              <a:rPr lang="zh-TW" altLang="en-US" smtClean="0"/>
              <a:t>2016/4/19</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F13E5F-D7DA-4F3E-9AD0-348A1096F1D4}" type="slidenum">
              <a:rPr lang="zh-TW" altLang="en-US" smtClean="0"/>
              <a:t>‹#›</a:t>
            </a:fld>
            <a:endParaRPr lang="zh-TW" altLang="en-US"/>
          </a:p>
        </p:txBody>
      </p:sp>
    </p:spTree>
    <p:extLst>
      <p:ext uri="{BB962C8B-B14F-4D97-AF65-F5344CB8AC3E}">
        <p14:creationId xmlns:p14="http://schemas.microsoft.com/office/powerpoint/2010/main" val="23978380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764704"/>
            <a:ext cx="7772400" cy="1470025"/>
          </a:xfrm>
        </p:spPr>
        <p:txBody>
          <a:bodyPr>
            <a:noAutofit/>
          </a:bodyPr>
          <a:lstStyle/>
          <a:p>
            <a:r>
              <a:rPr lang="en-US" altLang="zh-TW" sz="3600" dirty="0">
                <a:latin typeface="Times New Roman" panose="02020603050405020304" pitchFamily="18" charset="0"/>
                <a:cs typeface="Times New Roman" panose="02020603050405020304" pitchFamily="18" charset="0"/>
              </a:rPr>
              <a:t>Identification of Common Molecular Subsequences</a:t>
            </a:r>
            <a:endParaRPr lang="zh-TW" altLang="en-US" sz="36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07504" y="3077075"/>
            <a:ext cx="7992888" cy="1752600"/>
          </a:xfrm>
        </p:spPr>
        <p:txBody>
          <a:bodyPr>
            <a:normAutofit fontScale="92500" lnSpcReduction="10000"/>
          </a:bodyPr>
          <a:lstStyle/>
          <a:p>
            <a:pPr fontAlgn="base"/>
            <a:r>
              <a:rPr lang="en-US" altLang="zh-TW" sz="2000" dirty="0">
                <a:solidFill>
                  <a:schemeClr val="tx1"/>
                </a:solidFill>
                <a:latin typeface="Times New Roman" panose="02020603050405020304" pitchFamily="18" charset="0"/>
                <a:cs typeface="Times New Roman" panose="02020603050405020304" pitchFamily="18" charset="0"/>
              </a:rPr>
              <a:t>T.F. Smith</a:t>
            </a:r>
          </a:p>
          <a:p>
            <a:pPr fontAlgn="base"/>
            <a:r>
              <a:rPr lang="en-US" altLang="zh-TW" sz="2000" dirty="0">
                <a:solidFill>
                  <a:schemeClr val="tx1"/>
                </a:solidFill>
                <a:latin typeface="Times New Roman" panose="02020603050405020304" pitchFamily="18" charset="0"/>
                <a:cs typeface="Times New Roman" panose="02020603050405020304" pitchFamily="18" charset="0"/>
              </a:rPr>
              <a:t>	Northern Michigan University U.S.A.</a:t>
            </a:r>
          </a:p>
          <a:p>
            <a:pPr fontAlgn="base"/>
            <a:r>
              <a:rPr lang="en-US" altLang="zh-TW" sz="2000" dirty="0">
                <a:solidFill>
                  <a:schemeClr val="tx1"/>
                </a:solidFill>
                <a:latin typeface="Times New Roman" panose="02020603050405020304" pitchFamily="18" charset="0"/>
                <a:cs typeface="Times New Roman" panose="02020603050405020304" pitchFamily="18" charset="0"/>
              </a:rPr>
              <a:t>M.S. Waterman</a:t>
            </a:r>
          </a:p>
          <a:p>
            <a:pPr fontAlgn="base"/>
            <a:r>
              <a:rPr lang="en-US" altLang="zh-TW" sz="2000" dirty="0">
                <a:solidFill>
                  <a:schemeClr val="tx1"/>
                </a:solidFill>
                <a:latin typeface="Times New Roman" panose="02020603050405020304" pitchFamily="18" charset="0"/>
                <a:cs typeface="Times New Roman" panose="02020603050405020304" pitchFamily="18" charset="0"/>
              </a:rPr>
              <a:t>	Los Alamos Scientific </a:t>
            </a:r>
            <a:r>
              <a:rPr lang="en-US" altLang="zh-TW" sz="2000" dirty="0" smtClean="0">
                <a:solidFill>
                  <a:schemeClr val="tx1"/>
                </a:solidFill>
                <a:latin typeface="Times New Roman" panose="02020603050405020304" pitchFamily="18" charset="0"/>
                <a:cs typeface="Times New Roman" panose="02020603050405020304" pitchFamily="18" charset="0"/>
              </a:rPr>
              <a:t>Laboratory</a:t>
            </a:r>
          </a:p>
          <a:p>
            <a:pPr fontAlgn="base"/>
            <a:r>
              <a:rPr lang="en-US" altLang="zh-TW" sz="1800" i="1" dirty="0">
                <a:solidFill>
                  <a:schemeClr val="tx1"/>
                </a:solidFill>
                <a:latin typeface="Times New Roman" panose="02020603050405020304" pitchFamily="18" charset="0"/>
                <a:cs typeface="Times New Roman" panose="02020603050405020304" pitchFamily="18" charset="0"/>
              </a:rPr>
              <a:t>J. Mol. </a:t>
            </a:r>
            <a:r>
              <a:rPr lang="en-US" altLang="zh-TW" sz="1800" i="1" dirty="0" err="1" smtClean="0">
                <a:solidFill>
                  <a:schemeClr val="tx1"/>
                </a:solidFill>
                <a:latin typeface="Times New Roman" panose="02020603050405020304" pitchFamily="18" charset="0"/>
                <a:cs typeface="Times New Roman" panose="02020603050405020304" pitchFamily="18" charset="0"/>
              </a:rPr>
              <a:t>Biol</a:t>
            </a:r>
            <a:r>
              <a:rPr lang="en-US" altLang="zh-TW" sz="2000" dirty="0" smtClean="0">
                <a:solidFill>
                  <a:schemeClr val="tx1"/>
                </a:solidFill>
                <a:latin typeface="Times New Roman" panose="02020603050405020304" pitchFamily="18" charset="0"/>
                <a:cs typeface="Times New Roman" panose="02020603050405020304" pitchFamily="18" charset="0"/>
              </a:rPr>
              <a:t>, </a:t>
            </a:r>
            <a:r>
              <a:rPr lang="en-US" altLang="zh-TW" sz="2000" dirty="0" smtClean="0">
                <a:solidFill>
                  <a:schemeClr val="tx1"/>
                </a:solidFill>
                <a:latin typeface="Times New Roman" panose="02020603050405020304" pitchFamily="18" charset="0"/>
                <a:ea typeface="微軟正黑體" pitchFamily="34" charset="-120"/>
                <a:cs typeface="Times New Roman" panose="02020603050405020304" pitchFamily="18" charset="0"/>
              </a:rPr>
              <a:t>Vol</a:t>
            </a:r>
            <a:r>
              <a:rPr lang="en-US" altLang="zh-TW" sz="2000" dirty="0">
                <a:solidFill>
                  <a:schemeClr val="tx1"/>
                </a:solidFill>
                <a:latin typeface="Times New Roman" panose="02020603050405020304" pitchFamily="18" charset="0"/>
                <a:ea typeface="微軟正黑體" pitchFamily="34" charset="-120"/>
                <a:cs typeface="Times New Roman" panose="02020603050405020304" pitchFamily="18" charset="0"/>
              </a:rPr>
              <a:t>.</a:t>
            </a:r>
            <a:r>
              <a:rPr lang="zh-TW" altLang="en-US" sz="2000" dirty="0">
                <a:solidFill>
                  <a:schemeClr val="tx1"/>
                </a:solidFill>
                <a:latin typeface="Times New Roman" panose="02020603050405020304" pitchFamily="18" charset="0"/>
                <a:ea typeface="微軟正黑體" pitchFamily="34" charset="-120"/>
                <a:cs typeface="Times New Roman" panose="02020603050405020304" pitchFamily="18" charset="0"/>
              </a:rPr>
              <a:t> </a:t>
            </a:r>
            <a:r>
              <a:rPr lang="en-US" altLang="zh-TW" sz="2000" dirty="0">
                <a:solidFill>
                  <a:schemeClr val="tx1"/>
                </a:solidFill>
                <a:latin typeface="Times New Roman" panose="02020603050405020304" pitchFamily="18" charset="0"/>
                <a:cs typeface="Times New Roman" panose="02020603050405020304" pitchFamily="18" charset="0"/>
              </a:rPr>
              <a:t>147</a:t>
            </a:r>
            <a:r>
              <a:rPr lang="zh-TW" altLang="en-US" sz="2000" dirty="0">
                <a:solidFill>
                  <a:schemeClr val="tx1"/>
                </a:solidFill>
                <a:latin typeface="Times New Roman" panose="02020603050405020304" pitchFamily="18" charset="0"/>
                <a:ea typeface="微軟正黑體" pitchFamily="34" charset="-120"/>
                <a:cs typeface="Times New Roman" panose="02020603050405020304" pitchFamily="18" charset="0"/>
              </a:rPr>
              <a:t> </a:t>
            </a:r>
            <a:r>
              <a:rPr lang="en-US" altLang="zh-TW" sz="2000" dirty="0">
                <a:solidFill>
                  <a:schemeClr val="tx1"/>
                </a:solidFill>
                <a:latin typeface="Times New Roman" panose="02020603050405020304" pitchFamily="18" charset="0"/>
                <a:ea typeface="微軟正黑體" pitchFamily="34" charset="-120"/>
                <a:cs typeface="Times New Roman" panose="02020603050405020304" pitchFamily="18" charset="0"/>
              </a:rPr>
              <a:t>pp.</a:t>
            </a:r>
            <a:r>
              <a:rPr lang="zh-TW" altLang="en-US" sz="2000" dirty="0">
                <a:solidFill>
                  <a:schemeClr val="tx1"/>
                </a:solidFill>
                <a:latin typeface="Times New Roman" panose="02020603050405020304" pitchFamily="18" charset="0"/>
                <a:cs typeface="Times New Roman" panose="02020603050405020304" pitchFamily="18" charset="0"/>
              </a:rPr>
              <a:t> </a:t>
            </a:r>
            <a:r>
              <a:rPr lang="en-US" altLang="zh-TW" sz="2000" dirty="0">
                <a:solidFill>
                  <a:schemeClr val="tx1"/>
                </a:solidFill>
                <a:latin typeface="Times New Roman" panose="02020603050405020304" pitchFamily="18" charset="0"/>
                <a:cs typeface="Times New Roman" panose="02020603050405020304" pitchFamily="18" charset="0"/>
              </a:rPr>
              <a:t>195</a:t>
            </a:r>
            <a:r>
              <a:rPr lang="en-US" altLang="zh-TW" sz="2000" dirty="0">
                <a:solidFill>
                  <a:schemeClr val="tx1"/>
                </a:solidFill>
                <a:latin typeface="Times New Roman" panose="02020603050405020304" pitchFamily="18" charset="0"/>
                <a:ea typeface="微軟正黑體" pitchFamily="34" charset="-120"/>
                <a:cs typeface="Times New Roman" panose="02020603050405020304" pitchFamily="18" charset="0"/>
              </a:rPr>
              <a:t>-197</a:t>
            </a:r>
            <a:r>
              <a:rPr lang="zh-TW" altLang="en-US" sz="2000" dirty="0">
                <a:solidFill>
                  <a:schemeClr val="tx1"/>
                </a:solidFill>
                <a:latin typeface="Times New Roman" panose="02020603050405020304" pitchFamily="18" charset="0"/>
                <a:ea typeface="微軟正黑體" pitchFamily="34" charset="-120"/>
                <a:cs typeface="Times New Roman" panose="02020603050405020304" pitchFamily="18" charset="0"/>
              </a:rPr>
              <a:t> </a:t>
            </a:r>
            <a:r>
              <a:rPr lang="en-US" altLang="zh-TW" sz="2000" dirty="0">
                <a:solidFill>
                  <a:schemeClr val="tx1"/>
                </a:solidFill>
                <a:latin typeface="Times New Roman" panose="02020603050405020304" pitchFamily="18" charset="0"/>
                <a:ea typeface="微軟正黑體" pitchFamily="34" charset="-120"/>
                <a:cs typeface="Times New Roman" panose="02020603050405020304" pitchFamily="18" charset="0"/>
              </a:rPr>
              <a:t>(</a:t>
            </a:r>
            <a:r>
              <a:rPr lang="en-US" altLang="zh-TW" sz="2000" dirty="0">
                <a:solidFill>
                  <a:schemeClr val="tx1"/>
                </a:solidFill>
                <a:latin typeface="Times New Roman" panose="02020603050405020304" pitchFamily="18" charset="0"/>
                <a:cs typeface="Times New Roman" panose="02020603050405020304" pitchFamily="18" charset="0"/>
              </a:rPr>
              <a:t>1981</a:t>
            </a:r>
            <a:r>
              <a:rPr lang="en-US" altLang="zh-TW" sz="2000" dirty="0">
                <a:solidFill>
                  <a:schemeClr val="tx1"/>
                </a:solidFill>
                <a:latin typeface="Times New Roman" panose="02020603050405020304" pitchFamily="18" charset="0"/>
                <a:ea typeface="微軟正黑體" pitchFamily="34" charset="-120"/>
                <a:cs typeface="Times New Roman" panose="02020603050405020304" pitchFamily="18" charset="0"/>
              </a:rPr>
              <a:t>) </a:t>
            </a:r>
            <a:endParaRPr lang="zh-TW" altLang="en-US" sz="2000" dirty="0">
              <a:solidFill>
                <a:schemeClr val="tx1"/>
              </a:solidFill>
              <a:latin typeface="Times New Roman" panose="02020603050405020304" pitchFamily="18" charset="0"/>
              <a:cs typeface="Times New Roman" panose="02020603050405020304" pitchFamily="18" charset="0"/>
            </a:endParaRPr>
          </a:p>
        </p:txBody>
      </p:sp>
      <p:sp>
        <p:nvSpPr>
          <p:cNvPr id="4" name="矩形 3"/>
          <p:cNvSpPr/>
          <p:nvPr/>
        </p:nvSpPr>
        <p:spPr>
          <a:xfrm>
            <a:off x="2915816" y="5157192"/>
            <a:ext cx="2987824" cy="646331"/>
          </a:xfrm>
          <a:prstGeom prst="rect">
            <a:avLst/>
          </a:prstGeom>
        </p:spPr>
        <p:txBody>
          <a:bodyPr wrap="square">
            <a:spAutoFit/>
          </a:bodyPr>
          <a:lstStyle/>
          <a:p>
            <a:r>
              <a:rPr lang="en-US" altLang="zh-TW" dirty="0" smtClean="0">
                <a:latin typeface="Times New Roman" panose="02020603050405020304" pitchFamily="18" charset="0"/>
                <a:cs typeface="Times New Roman" panose="02020603050405020304" pitchFamily="18" charset="0"/>
              </a:rPr>
              <a:t>Presenter</a:t>
            </a:r>
            <a:r>
              <a:rPr lang="zh-TW" altLang="en-US" dirty="0" smtClean="0">
                <a:latin typeface="Times New Roman" panose="02020603050405020304" pitchFamily="18" charset="0"/>
                <a:cs typeface="Times New Roman" panose="02020603050405020304" pitchFamily="18" charset="0"/>
              </a:rPr>
              <a:t>：</a:t>
            </a:r>
            <a:r>
              <a:rPr lang="en-US" altLang="zh-TW" dirty="0" smtClean="0">
                <a:latin typeface="Times New Roman" panose="02020603050405020304" pitchFamily="18" charset="0"/>
                <a:cs typeface="Times New Roman" panose="02020603050405020304" pitchFamily="18" charset="0"/>
              </a:rPr>
              <a:t>Siang-</a:t>
            </a:r>
            <a:r>
              <a:rPr lang="en-US" altLang="zh-TW" dirty="0" err="1" smtClean="0">
                <a:latin typeface="Times New Roman" panose="02020603050405020304" pitchFamily="18" charset="0"/>
                <a:cs typeface="Times New Roman" panose="02020603050405020304" pitchFamily="18" charset="0"/>
              </a:rPr>
              <a:t>Huai</a:t>
            </a:r>
            <a:r>
              <a:rPr lang="en-US" altLang="zh-TW" dirty="0" smtClean="0">
                <a:latin typeface="Times New Roman" panose="02020603050405020304" pitchFamily="18" charset="0"/>
                <a:cs typeface="Times New Roman" panose="02020603050405020304" pitchFamily="18" charset="0"/>
              </a:rPr>
              <a:t> Hung</a:t>
            </a:r>
          </a:p>
          <a:p>
            <a:r>
              <a:rPr lang="en-US" altLang="zh-TW" dirty="0" smtClean="0">
                <a:latin typeface="Times New Roman" panose="02020603050405020304" pitchFamily="18" charset="0"/>
                <a:cs typeface="Times New Roman" panose="02020603050405020304" pitchFamily="18" charset="0"/>
              </a:rPr>
              <a:t>Date</a:t>
            </a:r>
            <a:r>
              <a:rPr lang="zh-TW" altLang="en-US" dirty="0" smtClean="0">
                <a:latin typeface="Times New Roman" panose="02020603050405020304" pitchFamily="18" charset="0"/>
                <a:cs typeface="Times New Roman" panose="02020603050405020304" pitchFamily="18" charset="0"/>
              </a:rPr>
              <a:t>：</a:t>
            </a:r>
            <a:r>
              <a:rPr lang="en-US" altLang="zh-TW" dirty="0" smtClean="0">
                <a:latin typeface="Times New Roman" panose="02020603050405020304" pitchFamily="18" charset="0"/>
                <a:cs typeface="Times New Roman" panose="02020603050405020304" pitchFamily="18" charset="0"/>
              </a:rPr>
              <a:t>2016/04/19</a:t>
            </a: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36403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457200" y="1196752"/>
            <a:ext cx="8229600" cy="4929411"/>
          </a:xfrm>
        </p:spPr>
        <p:txBody>
          <a:bodyPr>
            <a:noAutofit/>
          </a:bodyPr>
          <a:lstStyle/>
          <a:p>
            <a:pPr marL="0" indent="0">
              <a:buNone/>
            </a:pPr>
            <a:r>
              <a:rPr lang="en-US" altLang="zh-TW" sz="2800" dirty="0">
                <a:latin typeface="Times New Roman" panose="02020603050405020304" pitchFamily="18" charset="0"/>
                <a:cs typeface="Times New Roman" panose="02020603050405020304" pitchFamily="18" charset="0"/>
              </a:rPr>
              <a:t>The identification of maximally homologous subsequences among sets of long sequences is an important problem in molecular sequence analysis. The problem is straightforward only if one restricts consideration to contiguous subsequences (segments) containing no internal deletions or insertions. The more general problem has its solution in an extension of sequence metrics developed to measure the minimum number of “events” required to convert one sequence into another.</a:t>
            </a:r>
          </a:p>
          <a:p>
            <a:pPr marL="0" indent="0">
              <a:buNone/>
            </a:pPr>
            <a:endParaRPr lang="zh-TW" alt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14638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457200" y="1196752"/>
            <a:ext cx="8229600" cy="4929411"/>
          </a:xfrm>
        </p:spPr>
        <p:txBody>
          <a:bodyPr>
            <a:noAutofit/>
          </a:bodyPr>
          <a:lstStyle/>
          <a:p>
            <a:pPr marL="0" indent="0">
              <a:buNone/>
            </a:pPr>
            <a:r>
              <a:rPr lang="en-US" altLang="zh-TW" sz="2800" dirty="0">
                <a:latin typeface="Times New Roman" panose="02020603050405020304" pitchFamily="18" charset="0"/>
                <a:cs typeface="Times New Roman" panose="02020603050405020304" pitchFamily="18" charset="0"/>
              </a:rPr>
              <a:t>In this letter we extend the above ideas to find a pair of segments, one from each of two long sequences, such that there is no other pair of segments with greater similarity (homology). The similarity measure used here allows for arbitrary length deletions and insertions.</a:t>
            </a:r>
          </a:p>
        </p:txBody>
      </p:sp>
    </p:spTree>
    <p:extLst>
      <p:ext uri="{BB962C8B-B14F-4D97-AF65-F5344CB8AC3E}">
        <p14:creationId xmlns:p14="http://schemas.microsoft.com/office/powerpoint/2010/main" val="13209712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Algorithm</a:t>
            </a:r>
            <a:endParaRPr lang="zh-TW" altLang="en-US" dirty="0">
              <a:latin typeface="Times New Roman" panose="02020603050405020304" pitchFamily="18" charset="0"/>
              <a:cs typeface="Times New Roman" panose="02020603050405020304" pitchFamily="18" charset="0"/>
            </a:endParaRPr>
          </a:p>
        </p:txBody>
      </p:sp>
      <p:pic>
        <p:nvPicPr>
          <p:cNvPr id="4" name="內容版面配置區 3"/>
          <p:cNvPicPr>
            <a:picLocks noGrp="1" noChangeAspect="1"/>
          </p:cNvPicPr>
          <p:nvPr>
            <p:ph idx="1"/>
          </p:nvPr>
        </p:nvPicPr>
        <p:blipFill>
          <a:blip r:embed="rId2"/>
          <a:stretch>
            <a:fillRect/>
          </a:stretch>
        </p:blipFill>
        <p:spPr>
          <a:xfrm>
            <a:off x="440139" y="1417638"/>
            <a:ext cx="8229600" cy="402154"/>
          </a:xfrm>
          <a:prstGeom prst="rect">
            <a:avLst/>
          </a:prstGeom>
        </p:spPr>
      </p:pic>
      <p:pic>
        <p:nvPicPr>
          <p:cNvPr id="5" name="圖片 4"/>
          <p:cNvPicPr>
            <a:picLocks noChangeAspect="1"/>
          </p:cNvPicPr>
          <p:nvPr/>
        </p:nvPicPr>
        <p:blipFill>
          <a:blip r:embed="rId3"/>
          <a:stretch>
            <a:fillRect/>
          </a:stretch>
        </p:blipFill>
        <p:spPr>
          <a:xfrm>
            <a:off x="420688" y="1916832"/>
            <a:ext cx="2741539" cy="374964"/>
          </a:xfrm>
          <a:prstGeom prst="rect">
            <a:avLst/>
          </a:prstGeom>
        </p:spPr>
      </p:pic>
      <p:sp>
        <p:nvSpPr>
          <p:cNvPr id="6" name="文字方塊 6"/>
          <p:cNvSpPr txBox="1"/>
          <p:nvPr/>
        </p:nvSpPr>
        <p:spPr>
          <a:xfrm>
            <a:off x="440139" y="2388836"/>
            <a:ext cx="2553648" cy="1200329"/>
          </a:xfrm>
          <a:prstGeom prst="rect">
            <a:avLst/>
          </a:prstGeom>
          <a:noFill/>
        </p:spPr>
        <p:txBody>
          <a:bodyPr wrap="non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TW" sz="2400" dirty="0" smtClean="0"/>
              <a:t>       1, match</a:t>
            </a:r>
          </a:p>
          <a:p>
            <a:r>
              <a:rPr lang="en-US" altLang="zh-TW" sz="2400" dirty="0" smtClean="0"/>
              <a:t>s={</a:t>
            </a:r>
          </a:p>
          <a:p>
            <a:r>
              <a:rPr lang="en-US" altLang="zh-TW" sz="2400" dirty="0"/>
              <a:t>       </a:t>
            </a:r>
            <a:r>
              <a:rPr lang="en-US" altLang="zh-TW" sz="2400" dirty="0" smtClean="0"/>
              <a:t>-1/3, mismatch</a:t>
            </a:r>
            <a:endParaRPr lang="en-US" altLang="zh-TW" sz="2400" dirty="0"/>
          </a:p>
        </p:txBody>
      </p:sp>
      <p:pic>
        <p:nvPicPr>
          <p:cNvPr id="7" name="圖片 6"/>
          <p:cNvPicPr>
            <a:picLocks noChangeAspect="1"/>
          </p:cNvPicPr>
          <p:nvPr/>
        </p:nvPicPr>
        <p:blipFill>
          <a:blip r:embed="rId4"/>
          <a:stretch>
            <a:fillRect/>
          </a:stretch>
        </p:blipFill>
        <p:spPr>
          <a:xfrm>
            <a:off x="394362" y="3686205"/>
            <a:ext cx="1869381" cy="314475"/>
          </a:xfrm>
          <a:prstGeom prst="rect">
            <a:avLst/>
          </a:prstGeom>
        </p:spPr>
      </p:pic>
      <p:pic>
        <p:nvPicPr>
          <p:cNvPr id="8" name="table"/>
          <p:cNvPicPr>
            <a:picLocks noChangeAspect="1"/>
          </p:cNvPicPr>
          <p:nvPr/>
        </p:nvPicPr>
        <p:blipFill>
          <a:blip r:embed="rId5"/>
          <a:stretch>
            <a:fillRect/>
          </a:stretch>
        </p:blipFill>
        <p:spPr>
          <a:xfrm>
            <a:off x="2984968" y="2780928"/>
            <a:ext cx="6120903" cy="2736304"/>
          </a:xfrm>
          <a:prstGeom prst="rect">
            <a:avLst/>
          </a:prstGeom>
        </p:spPr>
      </p:pic>
    </p:spTree>
    <p:extLst>
      <p:ext uri="{BB962C8B-B14F-4D97-AF65-F5344CB8AC3E}">
        <p14:creationId xmlns:p14="http://schemas.microsoft.com/office/powerpoint/2010/main" val="23255994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Example</a:t>
            </a:r>
            <a:endParaRPr lang="zh-TW" altLang="en-US" dirty="0">
              <a:latin typeface="Times New Roman" panose="02020603050405020304" pitchFamily="18" charset="0"/>
              <a:cs typeface="Times New Roman" panose="02020603050405020304" pitchFamily="18" charset="0"/>
            </a:endParaRPr>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737" y="1700808"/>
            <a:ext cx="9120263" cy="4199171"/>
          </a:xfrm>
        </p:spPr>
      </p:pic>
      <p:sp>
        <p:nvSpPr>
          <p:cNvPr id="5" name="矩形 4"/>
          <p:cNvSpPr/>
          <p:nvPr/>
        </p:nvSpPr>
        <p:spPr>
          <a:xfrm>
            <a:off x="251520" y="6004543"/>
            <a:ext cx="2339752" cy="830997"/>
          </a:xfrm>
          <a:prstGeom prst="rect">
            <a:avLst/>
          </a:prstGeom>
        </p:spPr>
        <p:txBody>
          <a:bodyPr wrap="squar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TW" sz="2400" dirty="0" smtClean="0">
                <a:latin typeface="+mj-lt"/>
              </a:rPr>
              <a:t>GCCAUUG</a:t>
            </a:r>
            <a:endParaRPr lang="en-US" altLang="zh-TW" sz="2400" dirty="0">
              <a:latin typeface="+mj-lt"/>
            </a:endParaRPr>
          </a:p>
          <a:p>
            <a:r>
              <a:rPr lang="en-US" altLang="zh-TW" sz="2400" dirty="0" smtClean="0">
                <a:latin typeface="+mj-lt"/>
              </a:rPr>
              <a:t>GCC--UCG</a:t>
            </a:r>
            <a:endParaRPr lang="zh-TW" altLang="en-US" sz="2400" dirty="0">
              <a:latin typeface="+mj-lt"/>
            </a:endParaRPr>
          </a:p>
        </p:txBody>
      </p:sp>
      <p:sp>
        <p:nvSpPr>
          <p:cNvPr id="6" name="矩形 5"/>
          <p:cNvSpPr/>
          <p:nvPr/>
        </p:nvSpPr>
        <p:spPr>
          <a:xfrm>
            <a:off x="5652120" y="4653136"/>
            <a:ext cx="288032"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p:nvSpPr>
        <p:spPr>
          <a:xfrm>
            <a:off x="5004048" y="4437112"/>
            <a:ext cx="360040"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4439852" y="4149080"/>
            <a:ext cx="288032"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3851920" y="3933056"/>
            <a:ext cx="288032"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3851920" y="3672421"/>
            <a:ext cx="288032"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p:cNvSpPr/>
          <p:nvPr/>
        </p:nvSpPr>
        <p:spPr>
          <a:xfrm>
            <a:off x="3203848" y="3429000"/>
            <a:ext cx="360040"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p:nvSpPr>
        <p:spPr>
          <a:xfrm>
            <a:off x="2591272" y="3140968"/>
            <a:ext cx="396552"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8795469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195736" y="2852936"/>
            <a:ext cx="4752528" cy="864096"/>
          </a:xfrm>
        </p:spPr>
        <p:txBody>
          <a:bodyPr>
            <a:normAutofit/>
          </a:bodyPr>
          <a:lstStyle/>
          <a:p>
            <a:pPr marL="0" indent="0" algn="ctr">
              <a:buNone/>
            </a:pPr>
            <a:r>
              <a:rPr lang="en-US" altLang="zh-TW" sz="4000" dirty="0" smtClean="0">
                <a:latin typeface="Times New Roman" panose="02020603050405020304" pitchFamily="18" charset="0"/>
                <a:cs typeface="Times New Roman" panose="02020603050405020304" pitchFamily="18" charset="0"/>
              </a:rPr>
              <a:t>Thanks for listening</a:t>
            </a:r>
            <a:endParaRPr lang="zh-TW" alt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517520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1173</TotalTime>
  <Words>161</Words>
  <Application>Microsoft Office PowerPoint</Application>
  <PresentationFormat>如螢幕大小 (4:3)</PresentationFormat>
  <Paragraphs>20</Paragraphs>
  <Slides>6</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6</vt:i4>
      </vt:variant>
    </vt:vector>
  </HeadingPairs>
  <TitlesOfParts>
    <vt:vector size="12" baseType="lpstr">
      <vt:lpstr>微軟正黑體</vt:lpstr>
      <vt:lpstr>新細明體</vt:lpstr>
      <vt:lpstr>Arial</vt:lpstr>
      <vt:lpstr>Calibri</vt:lpstr>
      <vt:lpstr>Times New Roman</vt:lpstr>
      <vt:lpstr>Office 佈景主題</vt:lpstr>
      <vt:lpstr>Identification of Common Molecular Subsequences</vt:lpstr>
      <vt:lpstr>Abstract</vt:lpstr>
      <vt:lpstr>Abstract</vt:lpstr>
      <vt:lpstr>Algorithm</vt:lpstr>
      <vt:lpstr>Example</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Longest Common Subsequence Algorithm Suitable for Similar Text Strings</dc:title>
  <dc:creator>yotsuki</dc:creator>
  <cp:lastModifiedBy>jhan</cp:lastModifiedBy>
  <cp:revision>73</cp:revision>
  <dcterms:created xsi:type="dcterms:W3CDTF">2014-03-03T17:19:54Z</dcterms:created>
  <dcterms:modified xsi:type="dcterms:W3CDTF">2016-04-19T13:35:08Z</dcterms:modified>
</cp:coreProperties>
</file>