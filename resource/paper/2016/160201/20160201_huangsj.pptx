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0" r:id="rId4"/>
    <p:sldId id="332" r:id="rId5"/>
    <p:sldId id="333" r:id="rId6"/>
    <p:sldId id="334" r:id="rId7"/>
    <p:sldId id="335" r:id="rId8"/>
    <p:sldId id="336" r:id="rId9"/>
    <p:sldId id="337" r:id="rId10"/>
    <p:sldId id="338" r:id="rId11"/>
    <p:sldId id="339" r:id="rId12"/>
    <p:sldId id="340" r:id="rId13"/>
    <p:sldId id="341" r:id="rId14"/>
    <p:sldId id="342" r:id="rId15"/>
    <p:sldId id="343" r:id="rId16"/>
    <p:sldId id="344" r:id="rId17"/>
    <p:sldId id="346" r:id="rId18"/>
    <p:sldId id="345" r:id="rId19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8EC20E35-A176-4012-BC5E-935CFFF8708E}" styleName="中等深淺樣式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73A0DAA-6AF3-43AB-8588-CEC1D06C72B9}" styleName="中等深淺樣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淺色樣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003" autoAdjust="0"/>
    <p:restoredTop sz="94660"/>
  </p:normalViewPr>
  <p:slideViewPr>
    <p:cSldViewPr snapToGrid="0">
      <p:cViewPr varScale="1">
        <p:scale>
          <a:sx n="65" d="100"/>
          <a:sy n="65" d="100"/>
        </p:scale>
        <p:origin x="356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65F44-F807-4518-89E2-C811281CE334}" type="datetimeFigureOut">
              <a:rPr lang="zh-TW" altLang="en-US" smtClean="0"/>
              <a:t>2016/2/1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9359-40AB-419B-8FBB-45C7471E1ED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786763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65F44-F807-4518-89E2-C811281CE334}" type="datetimeFigureOut">
              <a:rPr lang="zh-TW" altLang="en-US" smtClean="0"/>
              <a:t>2016/2/1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9359-40AB-419B-8FBB-45C7471E1ED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150883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65F44-F807-4518-89E2-C811281CE334}" type="datetimeFigureOut">
              <a:rPr lang="zh-TW" altLang="en-US" smtClean="0"/>
              <a:t>2016/2/1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9359-40AB-419B-8FBB-45C7471E1ED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190451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65F44-F807-4518-89E2-C811281CE334}" type="datetimeFigureOut">
              <a:rPr lang="zh-TW" altLang="en-US" smtClean="0"/>
              <a:t>2016/2/1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9359-40AB-419B-8FBB-45C7471E1ED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393548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65F44-F807-4518-89E2-C811281CE334}" type="datetimeFigureOut">
              <a:rPr lang="zh-TW" altLang="en-US" smtClean="0"/>
              <a:t>2016/2/1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9359-40AB-419B-8FBB-45C7471E1ED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711873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65F44-F807-4518-89E2-C811281CE334}" type="datetimeFigureOut">
              <a:rPr lang="zh-TW" altLang="en-US" smtClean="0"/>
              <a:t>2016/2/1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9359-40AB-419B-8FBB-45C7471E1ED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601250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65F44-F807-4518-89E2-C811281CE334}" type="datetimeFigureOut">
              <a:rPr lang="zh-TW" altLang="en-US" smtClean="0"/>
              <a:t>2016/2/1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9359-40AB-419B-8FBB-45C7471E1ED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164980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65F44-F807-4518-89E2-C811281CE334}" type="datetimeFigureOut">
              <a:rPr lang="zh-TW" altLang="en-US" smtClean="0"/>
              <a:t>2016/2/1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9359-40AB-419B-8FBB-45C7471E1ED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194190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 smtClean="0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65F44-F807-4518-89E2-C811281CE334}" type="datetimeFigureOut">
              <a:rPr lang="zh-TW" altLang="en-US" smtClean="0"/>
              <a:t>2016/2/1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9359-40AB-419B-8FBB-45C7471E1ED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61802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65F44-F807-4518-89E2-C811281CE334}" type="datetimeFigureOut">
              <a:rPr lang="zh-TW" altLang="en-US" smtClean="0"/>
              <a:t>2016/2/1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9359-40AB-419B-8FBB-45C7471E1ED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235203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65F44-F807-4518-89E2-C811281CE334}" type="datetimeFigureOut">
              <a:rPr lang="zh-TW" altLang="en-US" smtClean="0"/>
              <a:t>2016/2/1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9359-40AB-419B-8FBB-45C7471E1ED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000966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465F44-F807-4518-89E2-C811281CE334}" type="datetimeFigureOut">
              <a:rPr lang="zh-TW" altLang="en-US" smtClean="0"/>
              <a:t>2016/2/1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029359-40AB-419B-8FBB-45C7471E1ED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80300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/>
          <p:cNvSpPr txBox="1">
            <a:spLocks/>
          </p:cNvSpPr>
          <p:nvPr/>
        </p:nvSpPr>
        <p:spPr>
          <a:xfrm>
            <a:off x="720721" y="740911"/>
            <a:ext cx="7772400" cy="1470025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zh-TW" sz="3600" dirty="0" smtClean="0">
                <a:latin typeface="Times New Roman" panose="02020603050405020304" pitchFamily="18" charset="0"/>
                <a:ea typeface="Arial Unicode MS" pitchFamily="34" charset="-120"/>
                <a:cs typeface="Times New Roman" panose="02020603050405020304" pitchFamily="18" charset="0"/>
              </a:rPr>
              <a:t>An </a:t>
            </a:r>
            <a:r>
              <a:rPr lang="en-US" altLang="zh-TW" sz="3600" dirty="0" smtClean="0">
                <a:latin typeface="Times New Roman" panose="02020603050405020304" pitchFamily="18" charset="0"/>
                <a:ea typeface="Arial Unicode MS" pitchFamily="34" charset="-120"/>
                <a:cs typeface="Times New Roman" panose="02020603050405020304" pitchFamily="18" charset="0"/>
              </a:rPr>
              <a:t>O(n log n</a:t>
            </a:r>
            <a:r>
              <a:rPr lang="en-US" altLang="zh-TW" sz="3600" dirty="0" smtClean="0">
                <a:latin typeface="Times New Roman" panose="02020603050405020304" pitchFamily="18" charset="0"/>
                <a:ea typeface="Arial Unicode MS" pitchFamily="34" charset="-120"/>
                <a:cs typeface="Times New Roman" panose="02020603050405020304" pitchFamily="18" charset="0"/>
              </a:rPr>
              <a:t>) Algorithm for Finding All Repetitions in a </a:t>
            </a:r>
            <a:r>
              <a:rPr lang="en-US" altLang="zh-TW" sz="3600" dirty="0" smtClean="0">
                <a:latin typeface="Times New Roman" panose="02020603050405020304" pitchFamily="18" charset="0"/>
                <a:ea typeface="Arial Unicode MS" pitchFamily="34" charset="-120"/>
                <a:cs typeface="Times New Roman" panose="02020603050405020304" pitchFamily="18" charset="0"/>
              </a:rPr>
              <a:t>String</a:t>
            </a:r>
            <a:endParaRPr lang="zh-TW" altLang="en-US" sz="3600" dirty="0">
              <a:latin typeface="Times New Roman" panose="02020603050405020304" pitchFamily="18" charset="0"/>
              <a:ea typeface="Arial Unicode MS" pitchFamily="34" charset="-120"/>
              <a:cs typeface="Times New Roman" panose="02020603050405020304" pitchFamily="18" charset="0"/>
            </a:endParaRPr>
          </a:p>
        </p:txBody>
      </p:sp>
      <p:sp>
        <p:nvSpPr>
          <p:cNvPr id="5" name="副標題 2"/>
          <p:cNvSpPr txBox="1">
            <a:spLocks/>
          </p:cNvSpPr>
          <p:nvPr/>
        </p:nvSpPr>
        <p:spPr>
          <a:xfrm>
            <a:off x="1223958" y="2640845"/>
            <a:ext cx="6765925" cy="143954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2000" dirty="0">
                <a:solidFill>
                  <a:schemeClr val="tx1"/>
                </a:solidFill>
              </a:rPr>
              <a:t>MICHAEL G. MAIN</a:t>
            </a:r>
          </a:p>
          <a:p>
            <a:r>
              <a:rPr lang="en-US" altLang="zh-TW" sz="1300" dirty="0">
                <a:solidFill>
                  <a:schemeClr val="tx1"/>
                </a:solidFill>
              </a:rPr>
              <a:t>Department of Computer Science, University of Colorado, Boulder, Colorado </a:t>
            </a:r>
            <a:r>
              <a:rPr lang="en-US" altLang="zh-TW" sz="1300" dirty="0" smtClean="0">
                <a:solidFill>
                  <a:schemeClr val="tx1"/>
                </a:solidFill>
              </a:rPr>
              <a:t>80309</a:t>
            </a:r>
          </a:p>
          <a:p>
            <a:r>
              <a:rPr lang="en-US" altLang="zh-TW" sz="2000" dirty="0">
                <a:solidFill>
                  <a:schemeClr val="tx1"/>
                </a:solidFill>
              </a:rPr>
              <a:t>RICHARD J. LORRNTZ</a:t>
            </a:r>
          </a:p>
          <a:p>
            <a:r>
              <a:rPr lang="en-US" altLang="zh-TW" sz="1300" dirty="0">
                <a:solidFill>
                  <a:schemeClr val="tx1"/>
                </a:solidFill>
              </a:rPr>
              <a:t>Computer Science Group, Harvey </a:t>
            </a:r>
            <a:r>
              <a:rPr lang="en-US" altLang="zh-TW" sz="1300" dirty="0" err="1">
                <a:solidFill>
                  <a:schemeClr val="tx1"/>
                </a:solidFill>
              </a:rPr>
              <a:t>Mudd</a:t>
            </a:r>
            <a:r>
              <a:rPr lang="en-US" altLang="zh-TW" sz="1300" dirty="0">
                <a:solidFill>
                  <a:schemeClr val="tx1"/>
                </a:solidFill>
              </a:rPr>
              <a:t> College, Claremont, California 91711</a:t>
            </a: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4826863"/>
              </p:ext>
            </p:extLst>
          </p:nvPr>
        </p:nvGraphicFramePr>
        <p:xfrm>
          <a:off x="2101846" y="4162196"/>
          <a:ext cx="5010150" cy="1282034"/>
        </p:xfrm>
        <a:graphic>
          <a:graphicData uri="http://schemas.openxmlformats.org/drawingml/2006/table">
            <a:tbl>
              <a:tblPr/>
              <a:tblGrid>
                <a:gridCol w="5010150"/>
              </a:tblGrid>
              <a:tr h="45454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none" dirty="0" smtClean="0"/>
                        <a:t>Journal of Algorithms 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u="none" dirty="0" smtClean="0"/>
                        <a:t>Volume 5, Issue 3, </a:t>
                      </a:r>
                      <a:r>
                        <a:rPr lang="en-US" altLang="zh-TW" sz="2000" u="none" dirty="0" smtClean="0"/>
                        <a:t>pp. 422-432,</a:t>
                      </a:r>
                    </a:p>
                    <a:p>
                      <a:pPr algn="ctr"/>
                      <a:r>
                        <a:rPr lang="en-US" altLang="zh-TW" sz="2000" u="none" dirty="0" smtClean="0"/>
                        <a:t>September 1984</a:t>
                      </a:r>
                      <a:endParaRPr lang="en-US" altLang="zh-TW" sz="2000" u="none" dirty="0"/>
                    </a:p>
                  </a:txBody>
                  <a:tcPr marL="95251" marR="9525" marT="9523" marB="952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79112">
                <a:tc>
                  <a:txBody>
                    <a:bodyPr/>
                    <a:lstStyle/>
                    <a:p>
                      <a:pPr algn="ctr"/>
                      <a:endParaRPr lang="zh-TW" altLang="en-US" sz="1600" kern="1200" dirty="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+mn-ea"/>
                        <a:cs typeface="+mn-cs"/>
                      </a:endParaRPr>
                    </a:p>
                  </a:txBody>
                  <a:tcPr marL="95251" marR="9525" marT="9523" marB="952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079" name="文字方塊 6"/>
          <p:cNvSpPr txBox="1">
            <a:spLocks noChangeArrowheads="1"/>
          </p:cNvSpPr>
          <p:nvPr/>
        </p:nvSpPr>
        <p:spPr bwMode="auto">
          <a:xfrm>
            <a:off x="3097210" y="5394079"/>
            <a:ext cx="3248025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1800" dirty="0"/>
              <a:t>Presenter:  </a:t>
            </a:r>
            <a:r>
              <a:rPr lang="en-US" altLang="zh-TW" sz="1800" dirty="0" smtClean="0"/>
              <a:t>Shih-</a:t>
            </a:r>
            <a:r>
              <a:rPr lang="en-US" altLang="zh-TW" sz="1800" dirty="0" err="1" smtClean="0"/>
              <a:t>jhan</a:t>
            </a:r>
            <a:r>
              <a:rPr lang="en-US" altLang="zh-TW" sz="1800" dirty="0" smtClean="0"/>
              <a:t> Huang</a:t>
            </a:r>
            <a:endParaRPr lang="en-US" altLang="zh-TW" sz="1800" dirty="0"/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1800" dirty="0"/>
              <a:t>Date:</a:t>
            </a:r>
            <a:fld id="{F3590F60-3E7B-48AD-979A-345F224951B5}" type="datetime1">
              <a:rPr lang="zh-TW" altLang="en-US" sz="1800"/>
              <a:pPr algn="ctr" eaLnBrk="1" hangingPunct="1">
                <a:spcBef>
                  <a:spcPct val="0"/>
                </a:spcBef>
                <a:buFontTx/>
                <a:buNone/>
              </a:pPr>
              <a:t>2016/2/1</a:t>
            </a:fld>
            <a:endParaRPr lang="zh-TW" altLang="en-US" sz="1800" dirty="0"/>
          </a:p>
        </p:txBody>
      </p:sp>
    </p:spTree>
    <p:extLst>
      <p:ext uri="{BB962C8B-B14F-4D97-AF65-F5344CB8AC3E}">
        <p14:creationId xmlns:p14="http://schemas.microsoft.com/office/powerpoint/2010/main" val="14946692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28625" y="31751"/>
            <a:ext cx="7886700" cy="1325563"/>
          </a:xfrm>
        </p:spPr>
        <p:txBody>
          <a:bodyPr/>
          <a:lstStyle/>
          <a:p>
            <a:r>
              <a:rPr lang="en-US" altLang="zh-TW" dirty="0" smtClean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Abstract</a:t>
            </a:r>
            <a:endParaRPr lang="zh-TW" altLang="en-US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33375" y="1357314"/>
            <a:ext cx="8077200" cy="5291136"/>
          </a:xfrm>
        </p:spPr>
        <p:txBody>
          <a:bodyPr>
            <a:noAutofit/>
          </a:bodyPr>
          <a:lstStyle/>
          <a:p>
            <a:pPr marL="0" indent="0" algn="just">
              <a:lnSpc>
                <a:spcPct val="110000"/>
              </a:lnSpc>
              <a:buNone/>
            </a:pPr>
            <a:r>
              <a:rPr lang="zh-TW" altLang="en-US" sz="2500" dirty="0" smtClean="0"/>
              <a:t>　</a:t>
            </a:r>
            <a:r>
              <a:rPr lang="en-US" altLang="zh-TW" sz="2500" dirty="0" smtClean="0"/>
              <a:t>Any </a:t>
            </a:r>
            <a:r>
              <a:rPr lang="en-US" altLang="zh-TW" sz="2500" dirty="0"/>
              <a:t>nonempty string of the form </a:t>
            </a:r>
            <a:r>
              <a:rPr lang="en-US" altLang="zh-TW" sz="2500" i="1" dirty="0"/>
              <a:t>xx</a:t>
            </a:r>
            <a:r>
              <a:rPr lang="en-US" altLang="zh-TW" sz="2500" dirty="0"/>
              <a:t> is called a </a:t>
            </a:r>
            <a:r>
              <a:rPr lang="en-US" altLang="zh-TW" sz="2500" i="1" dirty="0"/>
              <a:t>repetition</a:t>
            </a:r>
            <a:r>
              <a:rPr lang="en-US" altLang="zh-TW" sz="2500" dirty="0"/>
              <a:t>. </a:t>
            </a:r>
            <a:r>
              <a:rPr lang="en-US" altLang="zh-TW" sz="2500" dirty="0" smtClean="0"/>
              <a:t>An </a:t>
            </a:r>
            <a:r>
              <a:rPr lang="en-US" altLang="zh-TW" sz="2500" i="1" dirty="0" smtClean="0"/>
              <a:t>O</a:t>
            </a:r>
            <a:r>
              <a:rPr lang="en-US" altLang="zh-TW" sz="2500" dirty="0" smtClean="0"/>
              <a:t>(</a:t>
            </a:r>
            <a:r>
              <a:rPr lang="en-US" altLang="zh-TW" sz="2500" i="1" dirty="0" err="1" smtClean="0"/>
              <a:t>n</a:t>
            </a:r>
            <a:r>
              <a:rPr lang="en-US" altLang="zh-TW" sz="2500" dirty="0" err="1" smtClean="0"/>
              <a:t>log</a:t>
            </a:r>
            <a:r>
              <a:rPr lang="en-US" altLang="zh-TW" sz="2500" i="1" dirty="0" err="1" smtClean="0"/>
              <a:t>n</a:t>
            </a:r>
            <a:r>
              <a:rPr lang="en-US" altLang="zh-TW" sz="2500" dirty="0"/>
              <a:t>) algorithm is presented to find all repetitions in a string of </a:t>
            </a:r>
            <a:r>
              <a:rPr lang="en-US" altLang="zh-TW" sz="2500" dirty="0" smtClean="0"/>
              <a:t>length </a:t>
            </a:r>
            <a:r>
              <a:rPr lang="en-US" altLang="zh-TW" sz="2500" i="1" dirty="0" smtClean="0"/>
              <a:t>n</a:t>
            </a:r>
            <a:r>
              <a:rPr lang="en-US" altLang="zh-TW" sz="2500" dirty="0" smtClean="0"/>
              <a:t>. The </a:t>
            </a:r>
            <a:r>
              <a:rPr lang="en-US" altLang="zh-TW" sz="2500" dirty="0"/>
              <a:t>algorithm is based on a linear algorithm to find all the new repetitions formed when two strings are </a:t>
            </a:r>
            <a:r>
              <a:rPr lang="en-US" altLang="zh-TW" sz="2500" dirty="0" smtClean="0"/>
              <a:t>concatenated. This </a:t>
            </a:r>
            <a:r>
              <a:rPr lang="en-US" altLang="zh-TW" sz="2500" dirty="0"/>
              <a:t>linear algorithm is possible because new repetitions of equal length must occur in blocks with consecutive starting </a:t>
            </a:r>
            <a:r>
              <a:rPr lang="en-US" altLang="zh-TW" sz="2500" dirty="0" smtClean="0"/>
              <a:t>positions. The </a:t>
            </a:r>
            <a:r>
              <a:rPr lang="en-US" altLang="zh-TW" sz="2500" dirty="0"/>
              <a:t>linear algorithm uses a variation of the Knuth-Morris-Pratt algorithm to find all partial occurrences of a pattern within a text string. It is also shown that no algorithm based on comparisons of symbols can improve </a:t>
            </a:r>
            <a:r>
              <a:rPr lang="en-US" altLang="zh-TW" sz="2500" i="1" dirty="0" smtClean="0"/>
              <a:t>O</a:t>
            </a:r>
            <a:r>
              <a:rPr lang="en-US" altLang="zh-TW" sz="2500" dirty="0" smtClean="0"/>
              <a:t>(</a:t>
            </a:r>
            <a:r>
              <a:rPr lang="en-US" altLang="zh-TW" sz="2500" i="1" dirty="0" err="1" smtClean="0"/>
              <a:t>n</a:t>
            </a:r>
            <a:r>
              <a:rPr lang="en-US" altLang="zh-TW" sz="2500" dirty="0" err="1" smtClean="0"/>
              <a:t>log</a:t>
            </a:r>
            <a:r>
              <a:rPr lang="en-US" altLang="zh-TW" sz="2500" i="1" dirty="0" err="1" smtClean="0"/>
              <a:t>n</a:t>
            </a:r>
            <a:r>
              <a:rPr lang="en-US" altLang="zh-TW" sz="2500" dirty="0" smtClean="0"/>
              <a:t>). Finally</a:t>
            </a:r>
            <a:r>
              <a:rPr lang="en-US" altLang="zh-TW" sz="2500" dirty="0"/>
              <a:t>, some open problems and applications are suggested.</a:t>
            </a:r>
            <a:endParaRPr lang="en-US" altLang="zh-TW" sz="25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75597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28650" y="1825625"/>
            <a:ext cx="8020050" cy="4351338"/>
          </a:xfrm>
        </p:spPr>
        <p:txBody>
          <a:bodyPr>
            <a:normAutofit/>
          </a:bodyPr>
          <a:lstStyle/>
          <a:p>
            <a:r>
              <a:rPr lang="en-US" altLang="zh-TW" dirty="0"/>
              <a:t>A repetition is an immediately repeated nonempty string, e.g., aa, </a:t>
            </a:r>
            <a:r>
              <a:rPr lang="en-US" altLang="zh-TW" dirty="0" err="1" smtClean="0"/>
              <a:t>abab,wallawalla</a:t>
            </a:r>
            <a:r>
              <a:rPr lang="en-US" altLang="zh-TW" dirty="0" smtClean="0"/>
              <a:t>.</a:t>
            </a:r>
            <a:endParaRPr lang="en-US" altLang="zh-TW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/>
              <a:t>Any string which contains a repetition as </a:t>
            </a:r>
            <a:r>
              <a:rPr lang="en-US" altLang="zh-TW" dirty="0" smtClean="0"/>
              <a:t>a substring </a:t>
            </a:r>
            <a:r>
              <a:rPr lang="en-US" altLang="zh-TW" dirty="0"/>
              <a:t>is </a:t>
            </a:r>
            <a:r>
              <a:rPr lang="en-US" altLang="zh-TW" dirty="0" smtClean="0"/>
              <a:t>called repetition-containing.</a:t>
            </a:r>
            <a:endParaRPr lang="en-US" altLang="zh-TW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/>
              <a:t>A string which is not repetition-containing </a:t>
            </a:r>
            <a:r>
              <a:rPr lang="en-US" altLang="zh-TW" dirty="0" smtClean="0"/>
              <a:t>is repetition-free.</a:t>
            </a:r>
          </a:p>
          <a:p>
            <a:r>
              <a:rPr lang="en-US" altLang="zh-TW" dirty="0" smtClean="0"/>
              <a:t>This paper is to find </a:t>
            </a:r>
            <a:r>
              <a:rPr lang="en-US" altLang="zh-TW" dirty="0"/>
              <a:t>the longest repetition in a string, or just to determine when </a:t>
            </a:r>
            <a:r>
              <a:rPr lang="en-US" altLang="zh-TW" dirty="0" smtClean="0"/>
              <a:t>a string </a:t>
            </a:r>
            <a:r>
              <a:rPr lang="en-US" altLang="zh-TW" dirty="0"/>
              <a:t>is repetition-free</a:t>
            </a:r>
            <a:r>
              <a:rPr lang="en-US" altLang="zh-TW" dirty="0" smtClean="0"/>
              <a:t>.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22338937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66746" y="469901"/>
            <a:ext cx="8105775" cy="1325563"/>
          </a:xfrm>
        </p:spPr>
        <p:txBody>
          <a:bodyPr/>
          <a:lstStyle/>
          <a:p>
            <a:r>
              <a:rPr lang="en-US" altLang="zh-TW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Finding all partial matches of a pattern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28647" y="1968500"/>
            <a:ext cx="8181975" cy="4351338"/>
          </a:xfrm>
        </p:spPr>
        <p:txBody>
          <a:bodyPr>
            <a:normAutofit/>
          </a:bodyPr>
          <a:lstStyle/>
          <a:p>
            <a:r>
              <a:rPr lang="en-US" altLang="zh-TW" dirty="0"/>
              <a:t>Let pattern and text be strings of length m and n, respectively. </a:t>
            </a:r>
            <a:endParaRPr lang="en-US" altLang="zh-TW" dirty="0" smtClean="0"/>
          </a:p>
          <a:p>
            <a:r>
              <a:rPr lang="en-US" altLang="zh-TW" dirty="0" smtClean="0"/>
              <a:t>This section </a:t>
            </a:r>
            <a:r>
              <a:rPr lang="en-US" altLang="zh-TW" dirty="0"/>
              <a:t>shows how to find all partial matches of text with the beginning </a:t>
            </a:r>
            <a:r>
              <a:rPr lang="en-US" altLang="zh-TW" dirty="0" smtClean="0"/>
              <a:t>of </a:t>
            </a:r>
            <a:r>
              <a:rPr lang="en-US" altLang="zh-TW" dirty="0"/>
              <a:t>pattern in O(n) time. </a:t>
            </a:r>
            <a:endParaRPr lang="en-US" altLang="zh-TW" dirty="0" smtClean="0"/>
          </a:p>
          <a:p>
            <a:r>
              <a:rPr lang="en-US" altLang="zh-TW" dirty="0" smtClean="0"/>
              <a:t>The </a:t>
            </a:r>
            <a:r>
              <a:rPr lang="en-US" altLang="zh-TW" dirty="0"/>
              <a:t>algorithm is a variation of </a:t>
            </a:r>
            <a:r>
              <a:rPr lang="en-US" altLang="zh-TW" dirty="0" smtClean="0"/>
              <a:t>the Knuth-Morris-Pratt </a:t>
            </a:r>
            <a:r>
              <a:rPr lang="en-US" altLang="zh-TW" dirty="0"/>
              <a:t>pattern matching </a:t>
            </a:r>
            <a:r>
              <a:rPr lang="en-US" altLang="zh-TW" dirty="0" smtClean="0"/>
              <a:t>algorithm.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6101250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90498" y="2057403"/>
            <a:ext cx="8658227" cy="2555875"/>
          </a:xfrm>
        </p:spPr>
        <p:txBody>
          <a:bodyPr>
            <a:normAutofit fontScale="85000" lnSpcReduction="10000"/>
          </a:bodyPr>
          <a:lstStyle/>
          <a:p>
            <a:pPr algn="just"/>
            <a:r>
              <a:rPr lang="en-US" altLang="zh-TW" dirty="0" err="1" smtClean="0"/>
              <a:t>lppattern</a:t>
            </a:r>
            <a:r>
              <a:rPr lang="en-US" altLang="zh-TW" dirty="0" smtClean="0"/>
              <a:t>:</a:t>
            </a:r>
          </a:p>
          <a:p>
            <a:pPr marL="0" indent="0" algn="just">
              <a:buNone/>
            </a:pPr>
            <a:r>
              <a:rPr lang="zh-TW" altLang="en-US" dirty="0"/>
              <a:t>　</a:t>
            </a:r>
            <a:r>
              <a:rPr lang="en-US" altLang="zh-TW" dirty="0" err="1" smtClean="0"/>
              <a:t>Ippatern</a:t>
            </a:r>
            <a:r>
              <a:rPr lang="en-US" altLang="zh-TW" dirty="0" smtClean="0"/>
              <a:t>[</a:t>
            </a:r>
            <a:r>
              <a:rPr lang="en-US" altLang="zh-TW" dirty="0" err="1" smtClean="0"/>
              <a:t>i</a:t>
            </a:r>
            <a:r>
              <a:rPr lang="en-US" altLang="zh-TW" dirty="0"/>
              <a:t>] is the length of the </a:t>
            </a:r>
            <a:r>
              <a:rPr lang="en-US" altLang="zh-TW" dirty="0" smtClean="0"/>
              <a:t>longest substring </a:t>
            </a:r>
            <a:r>
              <a:rPr lang="en-US" altLang="zh-TW" dirty="0"/>
              <a:t>of pattern </a:t>
            </a:r>
            <a:r>
              <a:rPr lang="en-US" altLang="zh-TW" dirty="0" smtClean="0"/>
              <a:t>which begins </a:t>
            </a:r>
            <a:r>
              <a:rPr lang="en-US" altLang="zh-TW" dirty="0"/>
              <a:t>at position </a:t>
            </a:r>
            <a:r>
              <a:rPr lang="en-US" altLang="zh-TW" dirty="0" err="1"/>
              <a:t>i</a:t>
            </a:r>
            <a:r>
              <a:rPr lang="en-US" altLang="zh-TW" dirty="0"/>
              <a:t> and is a prefix of pattern </a:t>
            </a:r>
            <a:r>
              <a:rPr lang="en-US" altLang="zh-TW" dirty="0">
                <a:solidFill>
                  <a:srgbClr val="0070C0"/>
                </a:solidFill>
              </a:rPr>
              <a:t>(1 &lt; </a:t>
            </a:r>
            <a:r>
              <a:rPr lang="en-US" altLang="zh-TW" dirty="0" err="1">
                <a:solidFill>
                  <a:srgbClr val="0070C0"/>
                </a:solidFill>
              </a:rPr>
              <a:t>i</a:t>
            </a:r>
            <a:r>
              <a:rPr lang="en-US" altLang="zh-TW" dirty="0">
                <a:solidFill>
                  <a:srgbClr val="0070C0"/>
                </a:solidFill>
              </a:rPr>
              <a:t> </a:t>
            </a:r>
            <a:r>
              <a:rPr lang="en-US" altLang="zh-TW" dirty="0" smtClean="0">
                <a:solidFill>
                  <a:srgbClr val="0070C0"/>
                </a:solidFill>
              </a:rPr>
              <a:t>≤ </a:t>
            </a:r>
            <a:r>
              <a:rPr lang="en-US" altLang="zh-TW" dirty="0">
                <a:solidFill>
                  <a:srgbClr val="0070C0"/>
                </a:solidFill>
              </a:rPr>
              <a:t>m</a:t>
            </a:r>
            <a:r>
              <a:rPr lang="en-US" altLang="zh-TW" dirty="0" smtClean="0">
                <a:solidFill>
                  <a:srgbClr val="0070C0"/>
                </a:solidFill>
              </a:rPr>
              <a:t>)</a:t>
            </a:r>
            <a:r>
              <a:rPr lang="en-US" altLang="zh-TW" dirty="0" smtClean="0"/>
              <a:t>.      </a:t>
            </a:r>
            <a:r>
              <a:rPr lang="en-US" altLang="zh-TW" dirty="0" smtClean="0">
                <a:solidFill>
                  <a:schemeClr val="bg1">
                    <a:lumMod val="65000"/>
                  </a:schemeClr>
                </a:solidFill>
              </a:rPr>
              <a:t>O(m)</a:t>
            </a:r>
            <a:endParaRPr lang="en-US" altLang="zh-TW" dirty="0">
              <a:solidFill>
                <a:schemeClr val="bg1">
                  <a:lumMod val="65000"/>
                </a:schemeClr>
              </a:solidFill>
            </a:endParaRPr>
          </a:p>
          <a:p>
            <a:r>
              <a:rPr lang="en-US" altLang="zh-TW" dirty="0" err="1"/>
              <a:t>lptext</a:t>
            </a:r>
            <a:r>
              <a:rPr lang="en-US" altLang="zh-TW" dirty="0"/>
              <a:t>: </a:t>
            </a:r>
            <a:endParaRPr lang="en-US" altLang="zh-TW" dirty="0" smtClean="0"/>
          </a:p>
          <a:p>
            <a:pPr marL="0" indent="0">
              <a:buNone/>
            </a:pPr>
            <a:r>
              <a:rPr lang="zh-TW" altLang="en-US" dirty="0"/>
              <a:t>　</a:t>
            </a:r>
            <a:r>
              <a:rPr lang="en-US" altLang="zh-TW" dirty="0" err="1" smtClean="0"/>
              <a:t>lptext</a:t>
            </a:r>
            <a:r>
              <a:rPr lang="en-US" altLang="zh-TW" dirty="0" smtClean="0"/>
              <a:t>[</a:t>
            </a:r>
            <a:r>
              <a:rPr lang="en-US" altLang="zh-TW" dirty="0" err="1" smtClean="0"/>
              <a:t>i</a:t>
            </a:r>
            <a:r>
              <a:rPr lang="en-US" altLang="zh-TW" dirty="0"/>
              <a:t>] is the length of the longest substring of text </a:t>
            </a:r>
            <a:r>
              <a:rPr lang="en-US" altLang="zh-TW" dirty="0" smtClean="0"/>
              <a:t>which begins </a:t>
            </a:r>
            <a:r>
              <a:rPr lang="en-US" altLang="zh-TW" dirty="0"/>
              <a:t>at position </a:t>
            </a:r>
            <a:r>
              <a:rPr lang="en-US" altLang="zh-TW" dirty="0" err="1"/>
              <a:t>i</a:t>
            </a:r>
            <a:r>
              <a:rPr lang="en-US" altLang="zh-TW" dirty="0"/>
              <a:t> and is a prefix of pattern </a:t>
            </a:r>
            <a:r>
              <a:rPr lang="en-US" altLang="zh-TW" dirty="0">
                <a:solidFill>
                  <a:srgbClr val="0070C0"/>
                </a:solidFill>
              </a:rPr>
              <a:t>(1 ≤</a:t>
            </a:r>
            <a:r>
              <a:rPr lang="en-US" altLang="zh-TW" dirty="0" smtClean="0">
                <a:solidFill>
                  <a:srgbClr val="0070C0"/>
                </a:solidFill>
              </a:rPr>
              <a:t> </a:t>
            </a:r>
            <a:r>
              <a:rPr lang="en-US" altLang="zh-TW" dirty="0" err="1">
                <a:solidFill>
                  <a:srgbClr val="0070C0"/>
                </a:solidFill>
              </a:rPr>
              <a:t>i</a:t>
            </a:r>
            <a:r>
              <a:rPr lang="en-US" altLang="zh-TW" dirty="0">
                <a:solidFill>
                  <a:srgbClr val="0070C0"/>
                </a:solidFill>
              </a:rPr>
              <a:t> ≤</a:t>
            </a:r>
            <a:r>
              <a:rPr lang="en-US" altLang="zh-TW" dirty="0" smtClean="0">
                <a:solidFill>
                  <a:srgbClr val="0070C0"/>
                </a:solidFill>
              </a:rPr>
              <a:t> </a:t>
            </a:r>
            <a:r>
              <a:rPr lang="en-US" altLang="zh-TW" dirty="0">
                <a:solidFill>
                  <a:srgbClr val="0070C0"/>
                </a:solidFill>
              </a:rPr>
              <a:t>n</a:t>
            </a:r>
            <a:r>
              <a:rPr lang="en-US" altLang="zh-TW" dirty="0" smtClean="0">
                <a:solidFill>
                  <a:srgbClr val="0070C0"/>
                </a:solidFill>
              </a:rPr>
              <a:t>)</a:t>
            </a:r>
            <a:r>
              <a:rPr lang="en-US" altLang="zh-TW" dirty="0" smtClean="0"/>
              <a:t>.          </a:t>
            </a:r>
            <a:r>
              <a:rPr lang="en-US" altLang="zh-TW" dirty="0" smtClean="0">
                <a:solidFill>
                  <a:schemeClr val="bg1">
                    <a:lumMod val="65000"/>
                  </a:schemeClr>
                </a:solidFill>
              </a:rPr>
              <a:t>O(n)</a:t>
            </a:r>
            <a:endParaRPr lang="en-US" altLang="zh-TW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5" name="標題 1"/>
          <p:cNvSpPr>
            <a:spLocks noGrp="1"/>
          </p:cNvSpPr>
          <p:nvPr>
            <p:ph type="title"/>
          </p:nvPr>
        </p:nvSpPr>
        <p:spPr>
          <a:xfrm>
            <a:off x="423861" y="517526"/>
            <a:ext cx="8105775" cy="1325563"/>
          </a:xfrm>
        </p:spPr>
        <p:txBody>
          <a:bodyPr/>
          <a:lstStyle/>
          <a:p>
            <a:r>
              <a:rPr lang="en-US" altLang="zh-TW" sz="4000" dirty="0" smtClean="0"/>
              <a:t>Compute </a:t>
            </a:r>
            <a:r>
              <a:rPr lang="en-US" altLang="zh-TW" sz="4000" dirty="0"/>
              <a:t>the following arrays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文字方塊 5"/>
          <p:cNvSpPr txBox="1"/>
          <p:nvPr/>
        </p:nvSpPr>
        <p:spPr>
          <a:xfrm>
            <a:off x="504825" y="5295900"/>
            <a:ext cx="77438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( </a:t>
            </a:r>
            <a:r>
              <a:rPr lang="zh-TW" altLang="en-US" dirty="0" smtClean="0"/>
              <a:t>註：</a:t>
            </a:r>
            <a:r>
              <a:rPr lang="en-US" altLang="zh-TW" dirty="0" smtClean="0"/>
              <a:t>The </a:t>
            </a:r>
            <a:r>
              <a:rPr lang="en-US" altLang="zh-TW" dirty="0"/>
              <a:t>variation of the KMP algorithm which we use to calculate </a:t>
            </a:r>
            <a:r>
              <a:rPr lang="en-US" altLang="zh-TW" dirty="0" err="1" smtClean="0"/>
              <a:t>lppattern</a:t>
            </a:r>
            <a:r>
              <a:rPr lang="en-US" altLang="zh-TW" dirty="0" smtClean="0"/>
              <a:t> </a:t>
            </a:r>
            <a:r>
              <a:rPr lang="en-US" altLang="zh-TW" dirty="0"/>
              <a:t>was suggested by </a:t>
            </a:r>
            <a:r>
              <a:rPr lang="en-US" altLang="zh-TW" dirty="0" smtClean="0"/>
              <a:t>a referee. </a:t>
            </a:r>
            <a:r>
              <a:rPr lang="en-US" altLang="zh-TW" b="1" dirty="0" smtClean="0"/>
              <a:t>Simplify </a:t>
            </a:r>
            <a:r>
              <a:rPr lang="en-US" altLang="zh-TW" b="1" dirty="0"/>
              <a:t>the presentation of </a:t>
            </a:r>
            <a:r>
              <a:rPr lang="en-US" altLang="zh-TW" b="1" dirty="0" smtClean="0"/>
              <a:t>algorithm 3. </a:t>
            </a:r>
            <a:r>
              <a:rPr lang="en-US" altLang="zh-TW" dirty="0" smtClean="0"/>
              <a:t>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7294943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900" y="0"/>
            <a:ext cx="6200775" cy="3495986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683" y="3495986"/>
            <a:ext cx="5301208" cy="3312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31508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681" y="0"/>
            <a:ext cx="6303093" cy="4458438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251" y="4423381"/>
            <a:ext cx="4772881" cy="2434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95974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Example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1441450"/>
          </a:xfrm>
        </p:spPr>
        <p:txBody>
          <a:bodyPr/>
          <a:lstStyle/>
          <a:p>
            <a:r>
              <a:rPr lang="en-US" altLang="zh-TW" dirty="0" smtClean="0"/>
              <a:t>Give two string following :</a:t>
            </a:r>
            <a:br>
              <a:rPr lang="en-US" altLang="zh-TW" dirty="0" smtClean="0"/>
            </a:br>
            <a:r>
              <a:rPr lang="zh-TW" altLang="en-US" dirty="0" smtClean="0"/>
              <a:t>　</a:t>
            </a:r>
            <a:r>
              <a:rPr lang="en-US" altLang="zh-TW" dirty="0" smtClean="0"/>
              <a:t>Text : ACBACAACA</a:t>
            </a:r>
          </a:p>
          <a:p>
            <a:pPr marL="0" indent="0">
              <a:buNone/>
            </a:pPr>
            <a:r>
              <a:rPr lang="zh-TW" altLang="en-US" dirty="0" smtClean="0"/>
              <a:t>　   </a:t>
            </a:r>
            <a:r>
              <a:rPr lang="en-US" altLang="zh-TW" dirty="0" smtClean="0"/>
              <a:t>Pattern : ACAACAB</a:t>
            </a:r>
            <a:endParaRPr lang="zh-TW" altLang="en-US" dirty="0"/>
          </a:p>
        </p:txBody>
      </p:sp>
      <p:sp>
        <p:nvSpPr>
          <p:cNvPr id="4" name="文字方塊 3"/>
          <p:cNvSpPr txBox="1"/>
          <p:nvPr/>
        </p:nvSpPr>
        <p:spPr>
          <a:xfrm>
            <a:off x="828675" y="3390900"/>
            <a:ext cx="5410200" cy="1092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300" dirty="0" smtClean="0"/>
              <a:t>Compute </a:t>
            </a:r>
            <a:r>
              <a:rPr lang="en-US" altLang="zh-TW" sz="2300" dirty="0" err="1" smtClean="0"/>
              <a:t>lppattern</a:t>
            </a:r>
            <a:r>
              <a:rPr lang="en-US" altLang="zh-TW" sz="2300" dirty="0" smtClean="0"/>
              <a:t>[</a:t>
            </a:r>
            <a:r>
              <a:rPr lang="en-US" altLang="zh-TW" sz="2300" dirty="0" err="1" smtClean="0"/>
              <a:t>i</a:t>
            </a:r>
            <a:r>
              <a:rPr lang="en-US" altLang="zh-TW" sz="2300" dirty="0" smtClean="0"/>
              <a:t>] : </a:t>
            </a:r>
            <a:r>
              <a:rPr lang="en-US" altLang="zh-TW" sz="1600" dirty="0" smtClean="0">
                <a:solidFill>
                  <a:srgbClr val="0070C0"/>
                </a:solidFill>
              </a:rPr>
              <a:t>(</a:t>
            </a:r>
            <a:r>
              <a:rPr lang="en-US" altLang="zh-TW" sz="1600" dirty="0">
                <a:solidFill>
                  <a:srgbClr val="0070C0"/>
                </a:solidFill>
              </a:rPr>
              <a:t>1 &lt; </a:t>
            </a:r>
            <a:r>
              <a:rPr lang="en-US" altLang="zh-TW" sz="1600" dirty="0" err="1">
                <a:solidFill>
                  <a:srgbClr val="0070C0"/>
                </a:solidFill>
              </a:rPr>
              <a:t>i</a:t>
            </a:r>
            <a:r>
              <a:rPr lang="en-US" altLang="zh-TW" sz="1600" dirty="0">
                <a:solidFill>
                  <a:srgbClr val="0070C0"/>
                </a:solidFill>
              </a:rPr>
              <a:t> ≤ m)</a:t>
            </a:r>
            <a:endParaRPr lang="en-US" altLang="zh-TW" sz="1600" dirty="0" smtClean="0"/>
          </a:p>
          <a:p>
            <a:r>
              <a:rPr lang="en-US" altLang="zh-TW" sz="2300" dirty="0" smtClean="0"/>
              <a:t>A</a:t>
            </a:r>
            <a:r>
              <a:rPr lang="en-US" altLang="zh-TW" sz="2300" dirty="0" smtClean="0">
                <a:solidFill>
                  <a:srgbClr val="FF0000"/>
                </a:solidFill>
              </a:rPr>
              <a:t>C</a:t>
            </a:r>
            <a:r>
              <a:rPr lang="en-US" altLang="zh-TW" sz="2300" dirty="0" smtClean="0"/>
              <a:t>AACAB</a:t>
            </a:r>
          </a:p>
          <a:p>
            <a:r>
              <a:rPr lang="en-US" altLang="zh-TW" dirty="0" err="1" smtClean="0"/>
              <a:t>lppattern</a:t>
            </a:r>
            <a:r>
              <a:rPr lang="en-US" altLang="zh-TW" dirty="0" smtClean="0"/>
              <a:t>[2] = 0</a:t>
            </a:r>
            <a:endParaRPr lang="zh-TW" altLang="en-US" dirty="0"/>
          </a:p>
        </p:txBody>
      </p:sp>
      <p:sp>
        <p:nvSpPr>
          <p:cNvPr id="5" name="文字方塊 4"/>
          <p:cNvSpPr txBox="1"/>
          <p:nvPr/>
        </p:nvSpPr>
        <p:spPr>
          <a:xfrm>
            <a:off x="828675" y="4468118"/>
            <a:ext cx="5410200" cy="7232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300" dirty="0" smtClean="0"/>
              <a:t>AC</a:t>
            </a:r>
            <a:r>
              <a:rPr lang="en-US" altLang="zh-TW" sz="2300" u="sng" dirty="0" smtClean="0">
                <a:solidFill>
                  <a:srgbClr val="FF0000"/>
                </a:solidFill>
              </a:rPr>
              <a:t>A</a:t>
            </a:r>
            <a:r>
              <a:rPr lang="en-US" altLang="zh-TW" sz="2300" dirty="0" smtClean="0"/>
              <a:t>ACAB</a:t>
            </a:r>
          </a:p>
          <a:p>
            <a:r>
              <a:rPr lang="en-US" altLang="zh-TW" dirty="0" err="1" smtClean="0"/>
              <a:t>lppattern</a:t>
            </a:r>
            <a:r>
              <a:rPr lang="en-US" altLang="zh-TW" dirty="0" smtClean="0"/>
              <a:t>[3] = 1</a:t>
            </a:r>
            <a:endParaRPr lang="zh-TW" altLang="en-US" dirty="0"/>
          </a:p>
        </p:txBody>
      </p:sp>
      <p:sp>
        <p:nvSpPr>
          <p:cNvPr id="6" name="文字方塊 5"/>
          <p:cNvSpPr txBox="1"/>
          <p:nvPr/>
        </p:nvSpPr>
        <p:spPr>
          <a:xfrm>
            <a:off x="828675" y="5163711"/>
            <a:ext cx="5410200" cy="7232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300" dirty="0" smtClean="0"/>
              <a:t>ACA</a:t>
            </a:r>
            <a:r>
              <a:rPr lang="en-US" altLang="zh-TW" sz="2300" u="sng" dirty="0">
                <a:solidFill>
                  <a:srgbClr val="FF0000"/>
                </a:solidFill>
              </a:rPr>
              <a:t>A</a:t>
            </a:r>
            <a:r>
              <a:rPr lang="en-US" altLang="zh-TW" sz="2300" u="sng" dirty="0" smtClean="0"/>
              <a:t>CA</a:t>
            </a:r>
            <a:r>
              <a:rPr lang="en-US" altLang="zh-TW" sz="2300" dirty="0" smtClean="0"/>
              <a:t>B</a:t>
            </a:r>
          </a:p>
          <a:p>
            <a:r>
              <a:rPr lang="en-US" altLang="zh-TW" dirty="0" err="1" smtClean="0"/>
              <a:t>lppattern</a:t>
            </a:r>
            <a:r>
              <a:rPr lang="en-US" altLang="zh-TW" dirty="0" smtClean="0"/>
              <a:t>[4] = 3</a:t>
            </a:r>
            <a:endParaRPr lang="zh-TW" altLang="en-US" dirty="0"/>
          </a:p>
        </p:txBody>
      </p:sp>
      <p:sp>
        <p:nvSpPr>
          <p:cNvPr id="7" name="文字方塊 6"/>
          <p:cNvSpPr txBox="1"/>
          <p:nvPr/>
        </p:nvSpPr>
        <p:spPr>
          <a:xfrm>
            <a:off x="828675" y="5886986"/>
            <a:ext cx="5410200" cy="7232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300" dirty="0" smtClean="0"/>
              <a:t>ACA</a:t>
            </a:r>
            <a:r>
              <a:rPr lang="en-US" altLang="zh-TW" sz="2300" dirty="0"/>
              <a:t>A</a:t>
            </a:r>
            <a:r>
              <a:rPr lang="en-US" altLang="zh-TW" sz="2300" dirty="0" smtClean="0">
                <a:solidFill>
                  <a:srgbClr val="FF0000"/>
                </a:solidFill>
              </a:rPr>
              <a:t>C</a:t>
            </a:r>
            <a:r>
              <a:rPr lang="en-US" altLang="zh-TW" sz="2300" dirty="0" smtClean="0"/>
              <a:t>AB</a:t>
            </a:r>
          </a:p>
          <a:p>
            <a:r>
              <a:rPr lang="en-US" altLang="zh-TW" dirty="0" err="1" smtClean="0"/>
              <a:t>lppattern</a:t>
            </a:r>
            <a:r>
              <a:rPr lang="en-US" altLang="zh-TW" dirty="0" smtClean="0"/>
              <a:t>[5] = 0</a:t>
            </a:r>
            <a:endParaRPr lang="zh-TW" altLang="en-US" dirty="0"/>
          </a:p>
        </p:txBody>
      </p:sp>
      <p:sp>
        <p:nvSpPr>
          <p:cNvPr id="8" name="文字方塊 7"/>
          <p:cNvSpPr txBox="1"/>
          <p:nvPr/>
        </p:nvSpPr>
        <p:spPr>
          <a:xfrm>
            <a:off x="4019550" y="3744843"/>
            <a:ext cx="2800350" cy="7232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300" dirty="0" smtClean="0"/>
              <a:t>ACA</a:t>
            </a:r>
            <a:r>
              <a:rPr lang="en-US" altLang="zh-TW" sz="2300" dirty="0"/>
              <a:t>A</a:t>
            </a:r>
            <a:r>
              <a:rPr lang="en-US" altLang="zh-TW" sz="2300" dirty="0" smtClean="0"/>
              <a:t>C</a:t>
            </a:r>
            <a:r>
              <a:rPr lang="en-US" altLang="zh-TW" sz="2300" u="sng" dirty="0" smtClean="0">
                <a:solidFill>
                  <a:srgbClr val="FF0000"/>
                </a:solidFill>
              </a:rPr>
              <a:t>A</a:t>
            </a:r>
            <a:r>
              <a:rPr lang="en-US" altLang="zh-TW" sz="2300" dirty="0" smtClean="0"/>
              <a:t>B</a:t>
            </a:r>
          </a:p>
          <a:p>
            <a:r>
              <a:rPr lang="en-US" altLang="zh-TW" dirty="0" err="1" smtClean="0"/>
              <a:t>lppattern</a:t>
            </a:r>
            <a:r>
              <a:rPr lang="en-US" altLang="zh-TW" dirty="0" smtClean="0"/>
              <a:t>[5] = 1</a:t>
            </a:r>
            <a:endParaRPr lang="zh-TW" altLang="en-US" dirty="0"/>
          </a:p>
        </p:txBody>
      </p:sp>
      <p:sp>
        <p:nvSpPr>
          <p:cNvPr id="9" name="文字方塊 8"/>
          <p:cNvSpPr txBox="1"/>
          <p:nvPr/>
        </p:nvSpPr>
        <p:spPr>
          <a:xfrm>
            <a:off x="4019550" y="4468118"/>
            <a:ext cx="2790825" cy="7232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300" dirty="0" smtClean="0"/>
              <a:t>ACA</a:t>
            </a:r>
            <a:r>
              <a:rPr lang="en-US" altLang="zh-TW" sz="2300" dirty="0"/>
              <a:t>A</a:t>
            </a:r>
            <a:r>
              <a:rPr lang="en-US" altLang="zh-TW" sz="2300" dirty="0" smtClean="0"/>
              <a:t>CA</a:t>
            </a:r>
            <a:r>
              <a:rPr lang="en-US" altLang="zh-TW" sz="2300" dirty="0" smtClean="0">
                <a:solidFill>
                  <a:srgbClr val="FF0000"/>
                </a:solidFill>
              </a:rPr>
              <a:t>B</a:t>
            </a:r>
          </a:p>
          <a:p>
            <a:r>
              <a:rPr lang="en-US" altLang="zh-TW" dirty="0" err="1" smtClean="0"/>
              <a:t>lppattern</a:t>
            </a:r>
            <a:r>
              <a:rPr lang="en-US" altLang="zh-TW" dirty="0" smtClean="0"/>
              <a:t>[6] = 0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634942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8650" y="218301"/>
            <a:ext cx="7886700" cy="1325563"/>
          </a:xfrm>
        </p:spPr>
        <p:txBody>
          <a:bodyPr/>
          <a:lstStyle/>
          <a:p>
            <a:r>
              <a:rPr lang="en-US" altLang="zh-TW" dirty="0" smtClean="0"/>
              <a:t>Example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28650" y="1410545"/>
            <a:ext cx="7886700" cy="1441450"/>
          </a:xfrm>
        </p:spPr>
        <p:txBody>
          <a:bodyPr/>
          <a:lstStyle/>
          <a:p>
            <a:r>
              <a:rPr lang="en-US" altLang="zh-TW" dirty="0" smtClean="0"/>
              <a:t>Give two string following :</a:t>
            </a:r>
            <a:br>
              <a:rPr lang="en-US" altLang="zh-TW" dirty="0" smtClean="0"/>
            </a:br>
            <a:r>
              <a:rPr lang="zh-TW" altLang="en-US" dirty="0" smtClean="0"/>
              <a:t>　</a:t>
            </a:r>
            <a:r>
              <a:rPr lang="en-US" altLang="zh-TW" dirty="0" smtClean="0"/>
              <a:t>Text : ACBACAACA</a:t>
            </a:r>
          </a:p>
          <a:p>
            <a:pPr marL="0" indent="0">
              <a:buNone/>
            </a:pPr>
            <a:r>
              <a:rPr lang="zh-TW" altLang="en-US" dirty="0" smtClean="0"/>
              <a:t>　   </a:t>
            </a:r>
            <a:r>
              <a:rPr lang="en-US" altLang="zh-TW" dirty="0" smtClean="0"/>
              <a:t>Pattern : ACAACAB</a:t>
            </a:r>
            <a:endParaRPr lang="zh-TW" altLang="en-US" dirty="0"/>
          </a:p>
        </p:txBody>
      </p:sp>
      <p:sp>
        <p:nvSpPr>
          <p:cNvPr id="4" name="文字方塊 3"/>
          <p:cNvSpPr txBox="1"/>
          <p:nvPr/>
        </p:nvSpPr>
        <p:spPr>
          <a:xfrm>
            <a:off x="828675" y="2822125"/>
            <a:ext cx="5410200" cy="1092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300" dirty="0" smtClean="0"/>
              <a:t>Compute </a:t>
            </a:r>
            <a:r>
              <a:rPr lang="en-US" altLang="zh-TW" sz="2300" dirty="0" err="1" smtClean="0"/>
              <a:t>lptext</a:t>
            </a:r>
            <a:r>
              <a:rPr lang="en-US" altLang="zh-TW" sz="2300" dirty="0" smtClean="0"/>
              <a:t>[</a:t>
            </a:r>
            <a:r>
              <a:rPr lang="en-US" altLang="zh-TW" sz="2300" dirty="0" err="1" smtClean="0"/>
              <a:t>i</a:t>
            </a:r>
            <a:r>
              <a:rPr lang="en-US" altLang="zh-TW" sz="2300" dirty="0" smtClean="0"/>
              <a:t>] : </a:t>
            </a:r>
            <a:r>
              <a:rPr lang="en-US" altLang="zh-TW" sz="1600" dirty="0" smtClean="0">
                <a:solidFill>
                  <a:srgbClr val="0070C0"/>
                </a:solidFill>
              </a:rPr>
              <a:t>(</a:t>
            </a:r>
            <a:r>
              <a:rPr lang="en-US" altLang="zh-TW" sz="1600" dirty="0">
                <a:solidFill>
                  <a:srgbClr val="0070C0"/>
                </a:solidFill>
              </a:rPr>
              <a:t>1 ≤</a:t>
            </a:r>
            <a:r>
              <a:rPr lang="en-US" altLang="zh-TW" sz="1600" dirty="0" smtClean="0">
                <a:solidFill>
                  <a:srgbClr val="0070C0"/>
                </a:solidFill>
              </a:rPr>
              <a:t> </a:t>
            </a:r>
            <a:r>
              <a:rPr lang="en-US" altLang="zh-TW" sz="1600" dirty="0" err="1">
                <a:solidFill>
                  <a:srgbClr val="0070C0"/>
                </a:solidFill>
              </a:rPr>
              <a:t>i</a:t>
            </a:r>
            <a:r>
              <a:rPr lang="en-US" altLang="zh-TW" sz="1600" dirty="0">
                <a:solidFill>
                  <a:srgbClr val="0070C0"/>
                </a:solidFill>
              </a:rPr>
              <a:t> ≤ </a:t>
            </a:r>
            <a:r>
              <a:rPr lang="en-US" altLang="zh-TW" sz="1600" dirty="0" smtClean="0">
                <a:solidFill>
                  <a:srgbClr val="0070C0"/>
                </a:solidFill>
              </a:rPr>
              <a:t>n)</a:t>
            </a:r>
            <a:endParaRPr lang="en-US" altLang="zh-TW" sz="1600" dirty="0" smtClean="0"/>
          </a:p>
          <a:p>
            <a:r>
              <a:rPr lang="en-US" altLang="zh-TW" sz="2300" u="sng" dirty="0" smtClean="0">
                <a:solidFill>
                  <a:srgbClr val="FF0000"/>
                </a:solidFill>
              </a:rPr>
              <a:t>A</a:t>
            </a:r>
            <a:r>
              <a:rPr lang="en-US" altLang="zh-TW" sz="2300" u="sng" dirty="0" smtClean="0"/>
              <a:t>C</a:t>
            </a:r>
            <a:r>
              <a:rPr lang="en-US" altLang="zh-TW" sz="2300" dirty="0" smtClean="0"/>
              <a:t>BACAACA</a:t>
            </a:r>
          </a:p>
          <a:p>
            <a:r>
              <a:rPr lang="en-US" altLang="zh-TW" dirty="0" err="1" smtClean="0"/>
              <a:t>lptext</a:t>
            </a:r>
            <a:r>
              <a:rPr lang="en-US" altLang="zh-TW" dirty="0" smtClean="0"/>
              <a:t>[1] = 2</a:t>
            </a:r>
            <a:endParaRPr lang="zh-TW" altLang="en-US" dirty="0"/>
          </a:p>
        </p:txBody>
      </p:sp>
      <p:sp>
        <p:nvSpPr>
          <p:cNvPr id="5" name="文字方塊 4"/>
          <p:cNvSpPr txBox="1"/>
          <p:nvPr/>
        </p:nvSpPr>
        <p:spPr>
          <a:xfrm>
            <a:off x="838200" y="3948455"/>
            <a:ext cx="5410200" cy="7232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300" dirty="0" smtClean="0"/>
              <a:t>A</a:t>
            </a:r>
            <a:r>
              <a:rPr lang="en-US" altLang="zh-TW" sz="2300" dirty="0" smtClean="0">
                <a:solidFill>
                  <a:srgbClr val="FF0000"/>
                </a:solidFill>
              </a:rPr>
              <a:t>C</a:t>
            </a:r>
            <a:r>
              <a:rPr lang="en-US" altLang="zh-TW" sz="2300" dirty="0" smtClean="0"/>
              <a:t>BACAACA</a:t>
            </a:r>
          </a:p>
          <a:p>
            <a:r>
              <a:rPr lang="en-US" altLang="zh-TW" dirty="0" err="1" smtClean="0"/>
              <a:t>lptext</a:t>
            </a:r>
            <a:r>
              <a:rPr lang="en-US" altLang="zh-TW" dirty="0" smtClean="0"/>
              <a:t>[2] </a:t>
            </a:r>
            <a:r>
              <a:rPr lang="en-US" altLang="zh-TW" dirty="0"/>
              <a:t>= </a:t>
            </a:r>
            <a:r>
              <a:rPr lang="en-US" altLang="zh-TW" dirty="0" smtClean="0"/>
              <a:t>0</a:t>
            </a:r>
            <a:endParaRPr lang="zh-TW" altLang="en-US" dirty="0"/>
          </a:p>
        </p:txBody>
      </p:sp>
      <p:sp>
        <p:nvSpPr>
          <p:cNvPr id="6" name="文字方塊 5"/>
          <p:cNvSpPr txBox="1"/>
          <p:nvPr/>
        </p:nvSpPr>
        <p:spPr>
          <a:xfrm>
            <a:off x="810394" y="4705453"/>
            <a:ext cx="5410200" cy="7232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300" dirty="0" smtClean="0"/>
              <a:t>AC</a:t>
            </a:r>
            <a:r>
              <a:rPr lang="en-US" altLang="zh-TW" sz="2300" dirty="0" smtClean="0">
                <a:solidFill>
                  <a:srgbClr val="FF0000"/>
                </a:solidFill>
              </a:rPr>
              <a:t>B</a:t>
            </a:r>
            <a:r>
              <a:rPr lang="en-US" altLang="zh-TW" sz="2300" dirty="0" smtClean="0"/>
              <a:t>ACAACA</a:t>
            </a:r>
          </a:p>
          <a:p>
            <a:r>
              <a:rPr lang="en-US" altLang="zh-TW" dirty="0" err="1" smtClean="0"/>
              <a:t>lptext</a:t>
            </a:r>
            <a:r>
              <a:rPr lang="en-US" altLang="zh-TW" dirty="0" smtClean="0"/>
              <a:t>[3] </a:t>
            </a:r>
            <a:r>
              <a:rPr lang="en-US" altLang="zh-TW" dirty="0"/>
              <a:t>= </a:t>
            </a:r>
            <a:r>
              <a:rPr lang="en-US" altLang="zh-TW" dirty="0" smtClean="0"/>
              <a:t>0</a:t>
            </a:r>
            <a:endParaRPr lang="zh-TW" altLang="en-US" dirty="0"/>
          </a:p>
        </p:txBody>
      </p:sp>
      <p:sp>
        <p:nvSpPr>
          <p:cNvPr id="7" name="文字方塊 6"/>
          <p:cNvSpPr txBox="1"/>
          <p:nvPr/>
        </p:nvSpPr>
        <p:spPr>
          <a:xfrm>
            <a:off x="810394" y="5462451"/>
            <a:ext cx="5410200" cy="7232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300" dirty="0" smtClean="0"/>
              <a:t>ACB</a:t>
            </a:r>
            <a:r>
              <a:rPr lang="en-US" altLang="zh-TW" sz="2300" u="sng" dirty="0" smtClean="0">
                <a:solidFill>
                  <a:srgbClr val="FF0000"/>
                </a:solidFill>
              </a:rPr>
              <a:t>A</a:t>
            </a:r>
            <a:r>
              <a:rPr lang="en-US" altLang="zh-TW" sz="2300" u="sng" dirty="0" smtClean="0"/>
              <a:t>CAACA</a:t>
            </a:r>
            <a:endParaRPr lang="en-US" altLang="zh-TW" sz="2300" dirty="0" smtClean="0"/>
          </a:p>
          <a:p>
            <a:r>
              <a:rPr lang="en-US" altLang="zh-TW" dirty="0" err="1" smtClean="0"/>
              <a:t>lptext</a:t>
            </a:r>
            <a:r>
              <a:rPr lang="en-US" altLang="zh-TW" dirty="0" smtClean="0"/>
              <a:t>[4] </a:t>
            </a:r>
            <a:r>
              <a:rPr lang="en-US" altLang="zh-TW" dirty="0"/>
              <a:t>= </a:t>
            </a:r>
            <a:r>
              <a:rPr lang="en-US" altLang="zh-TW" dirty="0" smtClean="0"/>
              <a:t>6</a:t>
            </a:r>
            <a:endParaRPr lang="zh-TW" altLang="en-US" dirty="0"/>
          </a:p>
        </p:txBody>
      </p:sp>
      <p:sp>
        <p:nvSpPr>
          <p:cNvPr id="8" name="文字方塊 7"/>
          <p:cNvSpPr txBox="1"/>
          <p:nvPr/>
        </p:nvSpPr>
        <p:spPr>
          <a:xfrm>
            <a:off x="4019550" y="3172676"/>
            <a:ext cx="2800350" cy="7232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300" dirty="0" smtClean="0"/>
              <a:t>ACBA</a:t>
            </a:r>
            <a:r>
              <a:rPr lang="en-US" altLang="zh-TW" sz="2300" dirty="0" smtClean="0">
                <a:solidFill>
                  <a:srgbClr val="FF0000"/>
                </a:solidFill>
              </a:rPr>
              <a:t>C</a:t>
            </a:r>
            <a:r>
              <a:rPr lang="en-US" altLang="zh-TW" sz="2300" dirty="0" smtClean="0"/>
              <a:t>AACA</a:t>
            </a:r>
          </a:p>
          <a:p>
            <a:r>
              <a:rPr lang="en-US" altLang="zh-TW" dirty="0" err="1" smtClean="0"/>
              <a:t>lptext</a:t>
            </a:r>
            <a:r>
              <a:rPr lang="en-US" altLang="zh-TW" dirty="0" smtClean="0"/>
              <a:t>[5] </a:t>
            </a:r>
            <a:r>
              <a:rPr lang="en-US" altLang="zh-TW" dirty="0"/>
              <a:t>= </a:t>
            </a:r>
            <a:r>
              <a:rPr lang="en-US" altLang="zh-TW" dirty="0" smtClean="0"/>
              <a:t>0</a:t>
            </a:r>
            <a:endParaRPr lang="zh-TW" altLang="en-US" dirty="0"/>
          </a:p>
        </p:txBody>
      </p:sp>
      <p:sp>
        <p:nvSpPr>
          <p:cNvPr id="9" name="文字方塊 8"/>
          <p:cNvSpPr txBox="1"/>
          <p:nvPr/>
        </p:nvSpPr>
        <p:spPr>
          <a:xfrm>
            <a:off x="4019549" y="3924747"/>
            <a:ext cx="2790825" cy="7232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300" dirty="0" smtClean="0"/>
              <a:t>ACBAC</a:t>
            </a:r>
            <a:r>
              <a:rPr lang="en-US" altLang="zh-TW" sz="2300" u="sng" dirty="0" smtClean="0">
                <a:solidFill>
                  <a:srgbClr val="FF0000"/>
                </a:solidFill>
              </a:rPr>
              <a:t>A</a:t>
            </a:r>
            <a:r>
              <a:rPr lang="en-US" altLang="zh-TW" sz="2300" dirty="0" smtClean="0"/>
              <a:t>ACA</a:t>
            </a:r>
            <a:endParaRPr lang="en-US" altLang="zh-TW" sz="2300" dirty="0" smtClean="0">
              <a:solidFill>
                <a:srgbClr val="FF0000"/>
              </a:solidFill>
            </a:endParaRPr>
          </a:p>
          <a:p>
            <a:r>
              <a:rPr lang="en-US" altLang="zh-TW" dirty="0" err="1" smtClean="0"/>
              <a:t>lptext</a:t>
            </a:r>
            <a:r>
              <a:rPr lang="en-US" altLang="zh-TW" dirty="0" smtClean="0"/>
              <a:t>[6] </a:t>
            </a:r>
            <a:r>
              <a:rPr lang="en-US" altLang="zh-TW" dirty="0"/>
              <a:t>= </a:t>
            </a:r>
            <a:r>
              <a:rPr lang="en-US" altLang="zh-TW" dirty="0" smtClean="0"/>
              <a:t>1</a:t>
            </a:r>
            <a:endParaRPr lang="zh-TW" altLang="en-US" dirty="0"/>
          </a:p>
        </p:txBody>
      </p:sp>
      <p:sp>
        <p:nvSpPr>
          <p:cNvPr id="10" name="文字方塊 9"/>
          <p:cNvSpPr txBox="1"/>
          <p:nvPr/>
        </p:nvSpPr>
        <p:spPr>
          <a:xfrm>
            <a:off x="4019549" y="4724971"/>
            <a:ext cx="2790825" cy="7232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300" dirty="0" smtClean="0"/>
              <a:t>ACBACA</a:t>
            </a:r>
            <a:r>
              <a:rPr lang="en-US" altLang="zh-TW" sz="2300" u="sng" dirty="0" smtClean="0">
                <a:solidFill>
                  <a:srgbClr val="FF0000"/>
                </a:solidFill>
              </a:rPr>
              <a:t>A</a:t>
            </a:r>
            <a:r>
              <a:rPr lang="en-US" altLang="zh-TW" sz="2300" u="sng" dirty="0" smtClean="0"/>
              <a:t>CA</a:t>
            </a:r>
            <a:endParaRPr lang="en-US" altLang="zh-TW" sz="2300" u="sng" dirty="0" smtClean="0">
              <a:solidFill>
                <a:srgbClr val="FF0000"/>
              </a:solidFill>
            </a:endParaRPr>
          </a:p>
          <a:p>
            <a:r>
              <a:rPr lang="en-US" altLang="zh-TW" dirty="0" err="1" smtClean="0"/>
              <a:t>lptext</a:t>
            </a:r>
            <a:r>
              <a:rPr lang="en-US" altLang="zh-TW" dirty="0" smtClean="0"/>
              <a:t>[7] </a:t>
            </a:r>
            <a:r>
              <a:rPr lang="en-US" altLang="zh-TW" dirty="0"/>
              <a:t>= </a:t>
            </a:r>
            <a:r>
              <a:rPr lang="en-US" altLang="zh-TW" dirty="0" smtClean="0"/>
              <a:t>3</a:t>
            </a:r>
            <a:endParaRPr lang="zh-TW" altLang="en-US" dirty="0"/>
          </a:p>
        </p:txBody>
      </p:sp>
      <p:sp>
        <p:nvSpPr>
          <p:cNvPr id="12" name="文字方塊 11"/>
          <p:cNvSpPr txBox="1"/>
          <p:nvPr/>
        </p:nvSpPr>
        <p:spPr>
          <a:xfrm>
            <a:off x="4019548" y="5476656"/>
            <a:ext cx="2790825" cy="7232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300" dirty="0" smtClean="0"/>
              <a:t>ACBACAA</a:t>
            </a:r>
            <a:r>
              <a:rPr lang="en-US" altLang="zh-TW" sz="2300" dirty="0" smtClean="0">
                <a:solidFill>
                  <a:srgbClr val="FF0000"/>
                </a:solidFill>
              </a:rPr>
              <a:t>C</a:t>
            </a:r>
            <a:r>
              <a:rPr lang="en-US" altLang="zh-TW" sz="2300" dirty="0" smtClean="0"/>
              <a:t>A</a:t>
            </a:r>
            <a:endParaRPr lang="en-US" altLang="zh-TW" sz="2300" dirty="0" smtClean="0">
              <a:solidFill>
                <a:srgbClr val="FF0000"/>
              </a:solidFill>
            </a:endParaRPr>
          </a:p>
          <a:p>
            <a:r>
              <a:rPr lang="en-US" altLang="zh-TW" dirty="0" err="1" smtClean="0"/>
              <a:t>lptext</a:t>
            </a:r>
            <a:r>
              <a:rPr lang="en-US" altLang="zh-TW" dirty="0" smtClean="0"/>
              <a:t>[8] </a:t>
            </a:r>
            <a:r>
              <a:rPr lang="en-US" altLang="zh-TW" dirty="0"/>
              <a:t>= </a:t>
            </a:r>
            <a:r>
              <a:rPr lang="en-US" altLang="zh-TW" dirty="0" smtClean="0"/>
              <a:t>0</a:t>
            </a:r>
            <a:endParaRPr lang="zh-TW" altLang="en-US" dirty="0"/>
          </a:p>
        </p:txBody>
      </p:sp>
      <p:sp>
        <p:nvSpPr>
          <p:cNvPr id="13" name="文字方塊 12"/>
          <p:cNvSpPr txBox="1"/>
          <p:nvPr/>
        </p:nvSpPr>
        <p:spPr>
          <a:xfrm>
            <a:off x="6612194" y="3201623"/>
            <a:ext cx="2171700" cy="7232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300" dirty="0" smtClean="0"/>
              <a:t>ACBACAAC</a:t>
            </a:r>
            <a:r>
              <a:rPr lang="en-US" altLang="zh-TW" sz="2300" u="sng" dirty="0" smtClean="0">
                <a:solidFill>
                  <a:srgbClr val="FF0000"/>
                </a:solidFill>
              </a:rPr>
              <a:t>A</a:t>
            </a:r>
          </a:p>
          <a:p>
            <a:r>
              <a:rPr lang="en-US" altLang="zh-TW" dirty="0" err="1" smtClean="0"/>
              <a:t>lptext</a:t>
            </a:r>
            <a:r>
              <a:rPr lang="en-US" altLang="zh-TW" dirty="0" smtClean="0"/>
              <a:t>[9] </a:t>
            </a:r>
            <a:r>
              <a:rPr lang="en-US" altLang="zh-TW" dirty="0"/>
              <a:t>= 1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7626601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/>
      <p:bldP spid="10" grpId="0"/>
      <p:bldP spid="12" grpId="0"/>
      <p:bldP spid="1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66746" y="469901"/>
            <a:ext cx="8105775" cy="1325563"/>
          </a:xfrm>
        </p:spPr>
        <p:txBody>
          <a:bodyPr/>
          <a:lstStyle/>
          <a:p>
            <a:r>
              <a:rPr lang="en-US" altLang="zh-TW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Detecting formation of repetition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23846" y="1795464"/>
            <a:ext cx="8648703" cy="4872036"/>
          </a:xfrm>
        </p:spPr>
        <p:txBody>
          <a:bodyPr>
            <a:normAutofit lnSpcReduction="10000"/>
          </a:bodyPr>
          <a:lstStyle/>
          <a:p>
            <a:r>
              <a:rPr lang="en-US" altLang="zh-TW" dirty="0"/>
              <a:t>u and </a:t>
            </a:r>
            <a:r>
              <a:rPr lang="en-US" altLang="zh-TW" dirty="0" smtClean="0"/>
              <a:t>v </a:t>
            </a:r>
            <a:r>
              <a:rPr lang="en-US" altLang="zh-TW" dirty="0"/>
              <a:t>are any strings</a:t>
            </a:r>
            <a:r>
              <a:rPr lang="en-US" altLang="zh-TW" dirty="0" smtClean="0"/>
              <a:t>.</a:t>
            </a:r>
          </a:p>
          <a:p>
            <a:r>
              <a:rPr lang="en-US" altLang="zh-TW" dirty="0"/>
              <a:t>G</a:t>
            </a:r>
            <a:r>
              <a:rPr lang="en-US" altLang="zh-TW" dirty="0" smtClean="0"/>
              <a:t>ive </a:t>
            </a:r>
            <a:r>
              <a:rPr lang="en-US" altLang="zh-TW" dirty="0"/>
              <a:t>an </a:t>
            </a:r>
            <a:r>
              <a:rPr lang="en-US" altLang="zh-TW" dirty="0" smtClean="0"/>
              <a:t>O(|</a:t>
            </a:r>
            <a:r>
              <a:rPr lang="en-US" altLang="zh-TW" dirty="0" err="1" smtClean="0"/>
              <a:t>uv</a:t>
            </a:r>
            <a:r>
              <a:rPr lang="en-US" altLang="zh-TW" dirty="0" smtClean="0"/>
              <a:t>|) </a:t>
            </a:r>
            <a:r>
              <a:rPr lang="en-US" altLang="zh-TW" dirty="0"/>
              <a:t>algorithm </a:t>
            </a:r>
            <a:r>
              <a:rPr lang="en-US" altLang="zh-TW" dirty="0" smtClean="0"/>
              <a:t>to find </a:t>
            </a:r>
            <a:r>
              <a:rPr lang="en-US" altLang="zh-TW" dirty="0"/>
              <a:t>all the </a:t>
            </a:r>
            <a:r>
              <a:rPr lang="en-US" altLang="zh-TW" dirty="0" smtClean="0"/>
              <a:t>new repetitions </a:t>
            </a:r>
            <a:r>
              <a:rPr lang="en-US" altLang="zh-TW" dirty="0"/>
              <a:t>that are formed when u is concatenated to </a:t>
            </a:r>
            <a:r>
              <a:rPr lang="en-US" altLang="zh-TW" dirty="0" smtClean="0"/>
              <a:t>v.</a:t>
            </a:r>
          </a:p>
          <a:p>
            <a:r>
              <a:rPr lang="en-US" altLang="zh-TW" dirty="0" smtClean="0"/>
              <a:t>The </a:t>
            </a:r>
            <a:r>
              <a:rPr lang="en-US" altLang="zh-TW" dirty="0"/>
              <a:t>new repetitions in </a:t>
            </a:r>
            <a:r>
              <a:rPr lang="en-US" altLang="zh-TW" dirty="0" err="1" smtClean="0"/>
              <a:t>uv</a:t>
            </a:r>
            <a:r>
              <a:rPr lang="en-US" altLang="zh-TW" dirty="0" smtClean="0"/>
              <a:t> </a:t>
            </a:r>
            <a:r>
              <a:rPr lang="en-US" altLang="zh-TW" dirty="0"/>
              <a:t>are classified into two groups, according </a:t>
            </a:r>
            <a:r>
              <a:rPr lang="en-US" altLang="zh-TW" dirty="0" smtClean="0"/>
              <a:t>to where </a:t>
            </a:r>
            <a:r>
              <a:rPr lang="en-US" altLang="zh-TW" dirty="0"/>
              <a:t>their centers </a:t>
            </a:r>
            <a:r>
              <a:rPr lang="en-US" altLang="zh-TW" dirty="0" smtClean="0"/>
              <a:t>lie</a:t>
            </a:r>
            <a:r>
              <a:rPr lang="en-US" altLang="zh-TW" dirty="0"/>
              <a:t>. </a:t>
            </a:r>
            <a:endParaRPr lang="en-US" altLang="zh-TW" dirty="0" smtClean="0"/>
          </a:p>
          <a:p>
            <a:pPr marL="0" indent="0">
              <a:buNone/>
            </a:pPr>
            <a:r>
              <a:rPr lang="zh-TW" altLang="en-US" dirty="0"/>
              <a:t>　</a:t>
            </a:r>
            <a:r>
              <a:rPr lang="en-US" altLang="zh-TW" dirty="0" smtClean="0"/>
              <a:t>A </a:t>
            </a:r>
            <a:r>
              <a:rPr lang="en-US" altLang="zh-TW" dirty="0"/>
              <a:t>right repetition has its center at or to the right </a:t>
            </a:r>
            <a:r>
              <a:rPr lang="en-US" altLang="zh-TW" dirty="0" smtClean="0"/>
              <a:t>of the </a:t>
            </a:r>
            <a:r>
              <a:rPr lang="en-US" altLang="zh-TW" dirty="0"/>
              <a:t>boundary between u and </a:t>
            </a:r>
            <a:r>
              <a:rPr lang="en-US" altLang="zh-TW" dirty="0" smtClean="0"/>
              <a:t>v. </a:t>
            </a:r>
          </a:p>
          <a:p>
            <a:pPr marL="0" indent="0">
              <a:buNone/>
            </a:pPr>
            <a:r>
              <a:rPr lang="zh-TW" altLang="en-US" dirty="0" smtClean="0"/>
              <a:t>　</a:t>
            </a:r>
            <a:r>
              <a:rPr lang="en-US" altLang="zh-TW" dirty="0" smtClean="0"/>
              <a:t>A </a:t>
            </a:r>
            <a:r>
              <a:rPr lang="en-US" altLang="zh-TW" dirty="0"/>
              <a:t>left repetition has its center at or to </a:t>
            </a:r>
            <a:r>
              <a:rPr lang="en-US" altLang="zh-TW" dirty="0" smtClean="0"/>
              <a:t>the left </a:t>
            </a:r>
            <a:r>
              <a:rPr lang="en-US" altLang="zh-TW" dirty="0"/>
              <a:t>of this boundary</a:t>
            </a:r>
            <a:r>
              <a:rPr lang="en-US" altLang="zh-TW" dirty="0" smtClean="0"/>
              <a:t>.</a:t>
            </a:r>
            <a:endParaRPr lang="en-US" altLang="zh-TW" dirty="0"/>
          </a:p>
          <a:p>
            <a:r>
              <a:rPr lang="en-US" altLang="zh-TW" dirty="0" smtClean="0"/>
              <a:t>To find all new repetitions in </a:t>
            </a:r>
            <a:r>
              <a:rPr lang="en-US" altLang="zh-TW" dirty="0" err="1" smtClean="0"/>
              <a:t>uv</a:t>
            </a:r>
            <a:r>
              <a:rPr lang="en-US" altLang="zh-TW" dirty="0" smtClean="0"/>
              <a:t>, we need only find all new right repetitions and all new left repetitions.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6459415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33374" y="1692274"/>
            <a:ext cx="8543925" cy="2813051"/>
          </a:xfrm>
        </p:spPr>
        <p:txBody>
          <a:bodyPr/>
          <a:lstStyle/>
          <a:p>
            <a:r>
              <a:rPr lang="en-US" altLang="zh-TW" dirty="0"/>
              <a:t>The procedure </a:t>
            </a:r>
            <a:r>
              <a:rPr lang="en-US" altLang="zh-TW" dirty="0" err="1"/>
              <a:t>newright</a:t>
            </a:r>
            <a:r>
              <a:rPr lang="en-US" altLang="zh-TW" dirty="0"/>
              <a:t>(u, </a:t>
            </a:r>
            <a:r>
              <a:rPr lang="en-US" altLang="zh-TW" dirty="0" smtClean="0"/>
              <a:t>v) </a:t>
            </a:r>
            <a:r>
              <a:rPr lang="en-US" altLang="zh-TW" dirty="0"/>
              <a:t>makes use of </a:t>
            </a:r>
            <a:r>
              <a:rPr lang="en-US" altLang="zh-TW" dirty="0" smtClean="0"/>
              <a:t>the following </a:t>
            </a:r>
            <a:r>
              <a:rPr lang="en-US" altLang="zh-TW" dirty="0"/>
              <a:t>information</a:t>
            </a:r>
            <a:r>
              <a:rPr lang="en-US" altLang="zh-TW" dirty="0" smtClean="0"/>
              <a:t>:</a:t>
            </a:r>
          </a:p>
          <a:p>
            <a:pPr marL="0" indent="0">
              <a:buNone/>
            </a:pPr>
            <a:r>
              <a:rPr lang="zh-TW" altLang="en-US" dirty="0" smtClean="0"/>
              <a:t>　</a:t>
            </a:r>
            <a:r>
              <a:rPr lang="en-US" altLang="zh-TW" dirty="0"/>
              <a:t>l</a:t>
            </a:r>
            <a:r>
              <a:rPr lang="en-US" altLang="zh-TW" dirty="0" smtClean="0"/>
              <a:t>s[</a:t>
            </a:r>
            <a:r>
              <a:rPr lang="en-US" altLang="zh-TW" dirty="0" err="1" smtClean="0"/>
              <a:t>i</a:t>
            </a:r>
            <a:r>
              <a:rPr lang="en-US" altLang="zh-TW" dirty="0"/>
              <a:t>] (</a:t>
            </a:r>
            <a:r>
              <a:rPr lang="en-US" altLang="zh-TW" dirty="0" smtClean="0"/>
              <a:t>1≤ </a:t>
            </a:r>
            <a:r>
              <a:rPr lang="en-US" altLang="zh-TW" dirty="0" err="1" smtClean="0"/>
              <a:t>i</a:t>
            </a:r>
            <a:r>
              <a:rPr lang="en-US" altLang="zh-TW" dirty="0" smtClean="0"/>
              <a:t> ≤|v|) </a:t>
            </a:r>
            <a:r>
              <a:rPr lang="en-US" altLang="zh-TW" dirty="0"/>
              <a:t>is the length of the longest suffix of u which occurs in </a:t>
            </a:r>
            <a:r>
              <a:rPr lang="en-US" altLang="zh-TW" dirty="0" err="1"/>
              <a:t>v</a:t>
            </a:r>
            <a:r>
              <a:rPr lang="en-US" altLang="zh-TW" dirty="0" err="1" smtClean="0"/>
              <a:t>,ending</a:t>
            </a:r>
            <a:r>
              <a:rPr lang="en-US" altLang="zh-TW" dirty="0" smtClean="0"/>
              <a:t> </a:t>
            </a:r>
            <a:r>
              <a:rPr lang="en-US" altLang="zh-TW" dirty="0"/>
              <a:t>at position </a:t>
            </a:r>
            <a:r>
              <a:rPr lang="en-US" altLang="zh-TW" dirty="0" err="1" smtClean="0"/>
              <a:t>i</a:t>
            </a:r>
            <a:r>
              <a:rPr lang="en-US" altLang="zh-TW" dirty="0" smtClean="0"/>
              <a:t>.</a:t>
            </a:r>
          </a:p>
          <a:p>
            <a:pPr marL="0" indent="0">
              <a:buNone/>
            </a:pPr>
            <a:r>
              <a:rPr lang="zh-TW" altLang="en-US" dirty="0" smtClean="0"/>
              <a:t>　</a:t>
            </a:r>
            <a:r>
              <a:rPr lang="en-US" altLang="zh-TW" dirty="0" err="1" smtClean="0"/>
              <a:t>lp</a:t>
            </a:r>
            <a:r>
              <a:rPr lang="en-US" altLang="zh-TW" dirty="0" smtClean="0"/>
              <a:t>[</a:t>
            </a:r>
            <a:r>
              <a:rPr lang="en-US" altLang="zh-TW" dirty="0" err="1" smtClean="0"/>
              <a:t>i</a:t>
            </a:r>
            <a:r>
              <a:rPr lang="en-US" altLang="zh-TW" dirty="0"/>
              <a:t>] (</a:t>
            </a:r>
            <a:r>
              <a:rPr lang="en-US" altLang="zh-TW" dirty="0" smtClean="0"/>
              <a:t>2≤ I ≤|v|+1) </a:t>
            </a:r>
            <a:r>
              <a:rPr lang="en-US" altLang="zh-TW" dirty="0"/>
              <a:t>is the length of the longest prefix of </a:t>
            </a:r>
            <a:r>
              <a:rPr lang="en-US" altLang="zh-TW" dirty="0" smtClean="0"/>
              <a:t>v </a:t>
            </a:r>
            <a:r>
              <a:rPr lang="en-US" altLang="zh-TW" dirty="0"/>
              <a:t>which </a:t>
            </a:r>
            <a:r>
              <a:rPr lang="en-US" altLang="zh-TW" dirty="0" smtClean="0"/>
              <a:t>occurs in </a:t>
            </a:r>
            <a:r>
              <a:rPr lang="en-US" altLang="zh-TW" dirty="0"/>
              <a:t>v</a:t>
            </a:r>
            <a:r>
              <a:rPr lang="en-US" altLang="zh-TW" dirty="0" smtClean="0"/>
              <a:t>, </a:t>
            </a:r>
            <a:r>
              <a:rPr lang="en-US" altLang="zh-TW" dirty="0"/>
              <a:t>beginning at position </a:t>
            </a:r>
            <a:r>
              <a:rPr lang="en-US" altLang="zh-TW" dirty="0" err="1"/>
              <a:t>i</a:t>
            </a:r>
            <a:r>
              <a:rPr lang="en-US" altLang="zh-TW" dirty="0"/>
              <a:t> </a:t>
            </a:r>
            <a:r>
              <a:rPr lang="en-US" altLang="zh-TW" dirty="0" smtClean="0"/>
              <a:t>(</a:t>
            </a:r>
            <a:r>
              <a:rPr lang="en-US" altLang="zh-TW" dirty="0" err="1" smtClean="0"/>
              <a:t>lp</a:t>
            </a:r>
            <a:r>
              <a:rPr lang="en-US" altLang="zh-TW" dirty="0" smtClean="0"/>
              <a:t>[|v|+1] ≡  </a:t>
            </a:r>
            <a:r>
              <a:rPr lang="en-US" altLang="zh-TW" dirty="0"/>
              <a:t>0).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9009256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76224" y="282573"/>
            <a:ext cx="8543925" cy="6375401"/>
          </a:xfrm>
        </p:spPr>
        <p:txBody>
          <a:bodyPr>
            <a:normAutofit fontScale="85000" lnSpcReduction="10000"/>
          </a:bodyPr>
          <a:lstStyle/>
          <a:p>
            <a:r>
              <a:rPr lang="en-US" altLang="zh-TW" sz="3500" dirty="0" smtClean="0"/>
              <a:t>Repetition Lemma :</a:t>
            </a:r>
          </a:p>
          <a:p>
            <a:pPr marL="0" indent="0">
              <a:buNone/>
            </a:pPr>
            <a:r>
              <a:rPr lang="zh-TW" altLang="en-US" sz="3500" dirty="0" smtClean="0"/>
              <a:t>　</a:t>
            </a:r>
            <a:r>
              <a:rPr lang="en-US" altLang="zh-TW" sz="3500" dirty="0" smtClean="0"/>
              <a:t>Let </a:t>
            </a:r>
            <a:r>
              <a:rPr lang="en-US" altLang="zh-TW" sz="3500" dirty="0"/>
              <a:t>n and </a:t>
            </a:r>
            <a:r>
              <a:rPr lang="en-US" altLang="zh-TW" sz="3500" dirty="0" err="1"/>
              <a:t>i</a:t>
            </a:r>
            <a:r>
              <a:rPr lang="en-US" altLang="zh-TW" sz="3500" dirty="0"/>
              <a:t> be integers with </a:t>
            </a:r>
            <a:r>
              <a:rPr lang="en-US" altLang="zh-TW" sz="3500" dirty="0" smtClean="0"/>
              <a:t>1≤ n ≤|v| and n≤ </a:t>
            </a:r>
            <a:r>
              <a:rPr lang="en-US" altLang="zh-TW" sz="3500" dirty="0" err="1" smtClean="0"/>
              <a:t>i</a:t>
            </a:r>
            <a:r>
              <a:rPr lang="en-US" altLang="zh-TW" sz="3500" dirty="0" smtClean="0"/>
              <a:t> &lt;2n</a:t>
            </a:r>
            <a:r>
              <a:rPr lang="en-US" altLang="zh-TW" sz="3500" dirty="0"/>
              <a:t>. There is a repetition of length 2n in </a:t>
            </a:r>
            <a:r>
              <a:rPr lang="en-US" altLang="zh-TW" sz="3500" dirty="0" err="1" smtClean="0"/>
              <a:t>uv</a:t>
            </a:r>
            <a:r>
              <a:rPr lang="en-US" altLang="zh-TW" sz="3500" dirty="0" smtClean="0"/>
              <a:t> </a:t>
            </a:r>
            <a:r>
              <a:rPr lang="en-US" altLang="zh-TW" sz="3500" dirty="0"/>
              <a:t>ending at position </a:t>
            </a:r>
            <a:r>
              <a:rPr lang="en-US" altLang="zh-TW" sz="3500" dirty="0" err="1"/>
              <a:t>i</a:t>
            </a:r>
            <a:r>
              <a:rPr lang="en-US" altLang="zh-TW" sz="3500" dirty="0"/>
              <a:t> of </a:t>
            </a:r>
            <a:r>
              <a:rPr lang="en-US" altLang="zh-TW" sz="3500" dirty="0" smtClean="0"/>
              <a:t>v </a:t>
            </a:r>
            <a:r>
              <a:rPr lang="en-US" altLang="zh-TW" sz="3500" dirty="0" err="1" smtClean="0"/>
              <a:t>iff</a:t>
            </a:r>
            <a:r>
              <a:rPr lang="en-US" altLang="zh-TW" sz="3500" dirty="0" smtClean="0"/>
              <a:t> </a:t>
            </a:r>
            <a:r>
              <a:rPr lang="pt-BR" altLang="zh-TW" sz="3500" dirty="0" smtClean="0"/>
              <a:t>2n-ls[n</a:t>
            </a:r>
            <a:r>
              <a:rPr lang="pt-BR" altLang="zh-TW" sz="3500" dirty="0"/>
              <a:t>] </a:t>
            </a:r>
            <a:r>
              <a:rPr lang="en-US" altLang="zh-TW" sz="3500" dirty="0"/>
              <a:t>≤</a:t>
            </a:r>
            <a:r>
              <a:rPr lang="pt-BR" altLang="zh-TW" sz="3500" dirty="0" smtClean="0"/>
              <a:t> </a:t>
            </a:r>
            <a:r>
              <a:rPr lang="pt-BR" altLang="zh-TW" sz="3500" dirty="0"/>
              <a:t>i </a:t>
            </a:r>
            <a:r>
              <a:rPr lang="en-US" altLang="zh-TW" sz="3500" dirty="0"/>
              <a:t>≤</a:t>
            </a:r>
            <a:r>
              <a:rPr lang="pt-BR" altLang="zh-TW" sz="3500" dirty="0" smtClean="0"/>
              <a:t> </a:t>
            </a:r>
            <a:r>
              <a:rPr lang="pt-BR" altLang="zh-TW" sz="3500" dirty="0"/>
              <a:t>n + </a:t>
            </a:r>
            <a:r>
              <a:rPr lang="pt-BR" altLang="zh-TW" sz="3500" dirty="0" smtClean="0"/>
              <a:t>lp[n+1].</a:t>
            </a:r>
          </a:p>
          <a:p>
            <a:pPr marL="0" indent="0">
              <a:buNone/>
            </a:pPr>
            <a:endParaRPr lang="pt-BR" altLang="zh-TW" dirty="0"/>
          </a:p>
          <a:p>
            <a:r>
              <a:rPr lang="en-US" altLang="zh-TW" dirty="0"/>
              <a:t>Proof: Let n and </a:t>
            </a:r>
            <a:r>
              <a:rPr lang="en-US" altLang="zh-TW" dirty="0" err="1"/>
              <a:t>i</a:t>
            </a:r>
            <a:r>
              <a:rPr lang="en-US" altLang="zh-TW" dirty="0"/>
              <a:t> be integers in the given ranges. A repetition of </a:t>
            </a:r>
            <a:r>
              <a:rPr lang="en-US" altLang="zh-TW" dirty="0" smtClean="0"/>
              <a:t>length 2n </a:t>
            </a:r>
            <a:r>
              <a:rPr lang="en-US" altLang="zh-TW" dirty="0"/>
              <a:t>in </a:t>
            </a:r>
            <a:r>
              <a:rPr lang="en-US" altLang="zh-TW" dirty="0" err="1" smtClean="0"/>
              <a:t>uv</a:t>
            </a:r>
            <a:r>
              <a:rPr lang="en-US" altLang="zh-TW" dirty="0" smtClean="0"/>
              <a:t>, </a:t>
            </a:r>
            <a:r>
              <a:rPr lang="en-US" altLang="zh-TW" dirty="0"/>
              <a:t>that ends at v</a:t>
            </a:r>
            <a:r>
              <a:rPr lang="en-US" altLang="zh-TW" baseline="-25000" dirty="0" smtClean="0"/>
              <a:t>i</a:t>
            </a:r>
            <a:r>
              <a:rPr lang="en-US" altLang="zh-TW" dirty="0"/>
              <a:t>, must begin at </a:t>
            </a:r>
            <a:r>
              <a:rPr lang="en-US" altLang="zh-TW" dirty="0" err="1" smtClean="0"/>
              <a:t>u</a:t>
            </a:r>
            <a:r>
              <a:rPr lang="en-US" altLang="zh-TW" baseline="-25000" dirty="0" err="1" smtClean="0"/>
              <a:t>|u</a:t>
            </a:r>
            <a:r>
              <a:rPr lang="en-US" altLang="zh-TW" baseline="-25000" dirty="0" smtClean="0"/>
              <a:t>|-2n+i+1</a:t>
            </a:r>
            <a:r>
              <a:rPr lang="en-US" altLang="zh-TW" dirty="0" smtClean="0"/>
              <a:t>. </a:t>
            </a:r>
            <a:endParaRPr lang="en-US" altLang="zh-TW" dirty="0" smtClean="0"/>
          </a:p>
          <a:p>
            <a:pPr marL="0" indent="0">
              <a:buNone/>
            </a:pPr>
            <a:r>
              <a:rPr lang="en-US" altLang="zh-TW" dirty="0" smtClean="0"/>
              <a:t>The </a:t>
            </a:r>
            <a:r>
              <a:rPr lang="en-US" altLang="zh-TW" dirty="0"/>
              <a:t>beginning of </a:t>
            </a:r>
            <a:r>
              <a:rPr lang="en-US" altLang="zh-TW" dirty="0" smtClean="0"/>
              <a:t>its second </a:t>
            </a:r>
            <a:r>
              <a:rPr lang="en-US" altLang="zh-TW" dirty="0"/>
              <a:t>half must be at </a:t>
            </a:r>
            <a:r>
              <a:rPr lang="en-US" altLang="zh-TW" dirty="0" smtClean="0"/>
              <a:t>v</a:t>
            </a:r>
            <a:r>
              <a:rPr lang="en-US" altLang="zh-TW" baseline="-25000" dirty="0" smtClean="0"/>
              <a:t>i-n+1</a:t>
            </a:r>
            <a:r>
              <a:rPr lang="en-US" altLang="zh-TW" dirty="0" smtClean="0"/>
              <a:t>. </a:t>
            </a:r>
            <a:r>
              <a:rPr lang="en-US" altLang="zh-TW" dirty="0"/>
              <a:t>Thus, a necessary and sufficient </a:t>
            </a:r>
            <a:r>
              <a:rPr lang="en-US" altLang="zh-TW" dirty="0" smtClean="0"/>
              <a:t>condition for </a:t>
            </a:r>
            <a:r>
              <a:rPr lang="en-US" altLang="zh-TW" dirty="0"/>
              <a:t>such a repetition to occur is that the substring </a:t>
            </a:r>
            <a:r>
              <a:rPr lang="en-US" altLang="zh-TW" dirty="0" err="1"/>
              <a:t>u</a:t>
            </a:r>
            <a:r>
              <a:rPr lang="en-US" altLang="zh-TW" baseline="-25000" dirty="0" err="1"/>
              <a:t>|u</a:t>
            </a:r>
            <a:r>
              <a:rPr lang="en-US" altLang="zh-TW" baseline="-25000" dirty="0"/>
              <a:t>|-</a:t>
            </a:r>
            <a:r>
              <a:rPr lang="en-US" altLang="zh-TW" baseline="-25000" dirty="0" smtClean="0"/>
              <a:t>2n+i+1</a:t>
            </a:r>
            <a:r>
              <a:rPr lang="pt-BR" altLang="zh-TW" dirty="0"/>
              <a:t> . . .</a:t>
            </a:r>
            <a:r>
              <a:rPr lang="en-US" altLang="zh-TW" dirty="0" smtClean="0"/>
              <a:t> u</a:t>
            </a:r>
            <a:r>
              <a:rPr lang="en-US" altLang="zh-TW" baseline="-25000" dirty="0" smtClean="0"/>
              <a:t>|u|</a:t>
            </a:r>
            <a:r>
              <a:rPr lang="en-US" altLang="zh-TW" dirty="0" smtClean="0"/>
              <a:t>v</a:t>
            </a:r>
            <a:r>
              <a:rPr lang="en-US" altLang="zh-TW" baseline="-25000" dirty="0" smtClean="0"/>
              <a:t>1</a:t>
            </a:r>
            <a:r>
              <a:rPr lang="zh-TW" altLang="en-US" baseline="-25000" dirty="0" smtClean="0"/>
              <a:t> </a:t>
            </a:r>
            <a:r>
              <a:rPr lang="pt-BR" altLang="zh-TW" dirty="0"/>
              <a:t>. . .</a:t>
            </a:r>
            <a:r>
              <a:rPr lang="en-US" altLang="zh-TW" dirty="0" smtClean="0"/>
              <a:t> v</a:t>
            </a:r>
            <a:r>
              <a:rPr lang="en-US" altLang="zh-TW" baseline="-25000" dirty="0" smtClean="0"/>
              <a:t>i-n</a:t>
            </a:r>
            <a:r>
              <a:rPr lang="en-US" altLang="zh-TW" dirty="0"/>
              <a:t> </a:t>
            </a:r>
            <a:r>
              <a:rPr lang="pt-BR" altLang="zh-TW" dirty="0" smtClean="0"/>
              <a:t>matches </a:t>
            </a:r>
            <a:r>
              <a:rPr lang="en-US" altLang="zh-TW" dirty="0" smtClean="0"/>
              <a:t>v</a:t>
            </a:r>
            <a:r>
              <a:rPr lang="en-US" altLang="zh-TW" baseline="-25000" dirty="0" smtClean="0"/>
              <a:t>i-n+1</a:t>
            </a:r>
            <a:r>
              <a:rPr lang="pt-BR" altLang="zh-TW" dirty="0" smtClean="0"/>
              <a:t> </a:t>
            </a:r>
            <a:r>
              <a:rPr lang="pt-BR" altLang="zh-TW" dirty="0"/>
              <a:t>. . . </a:t>
            </a:r>
            <a:r>
              <a:rPr lang="en-US" altLang="zh-TW" dirty="0"/>
              <a:t>v</a:t>
            </a:r>
            <a:r>
              <a:rPr lang="en-US" altLang="zh-TW" baseline="-25000" dirty="0"/>
              <a:t>i</a:t>
            </a:r>
            <a:r>
              <a:rPr lang="pt-BR" altLang="zh-TW" dirty="0" smtClean="0"/>
              <a:t>. </a:t>
            </a:r>
            <a:r>
              <a:rPr lang="pt-BR" altLang="zh-TW" dirty="0"/>
              <a:t>Equivalently:</a:t>
            </a:r>
          </a:p>
          <a:p>
            <a:pPr marL="0" indent="0">
              <a:buNone/>
            </a:pPr>
            <a:r>
              <a:rPr lang="pt-BR" altLang="zh-TW" dirty="0" smtClean="0"/>
              <a:t>(1) </a:t>
            </a:r>
            <a:r>
              <a:rPr lang="en-US" altLang="zh-TW" dirty="0" err="1"/>
              <a:t>u</a:t>
            </a:r>
            <a:r>
              <a:rPr lang="en-US" altLang="zh-TW" baseline="-25000" dirty="0" err="1"/>
              <a:t>|u</a:t>
            </a:r>
            <a:r>
              <a:rPr lang="en-US" altLang="zh-TW" baseline="-25000" dirty="0" smtClean="0"/>
              <a:t>|</a:t>
            </a:r>
            <a:r>
              <a:rPr lang="en-US" altLang="zh-TW" baseline="-25000" dirty="0"/>
              <a:t>-</a:t>
            </a:r>
            <a:r>
              <a:rPr lang="en-US" altLang="zh-TW" baseline="-25000" dirty="0" smtClean="0"/>
              <a:t>2n+i+1 </a:t>
            </a:r>
            <a:r>
              <a:rPr lang="pt-BR" altLang="zh-TW" dirty="0"/>
              <a:t>. . . </a:t>
            </a:r>
            <a:r>
              <a:rPr lang="en-US" altLang="zh-TW" dirty="0" err="1"/>
              <a:t>u</a:t>
            </a:r>
            <a:r>
              <a:rPr lang="en-US" altLang="zh-TW" baseline="-25000" dirty="0" err="1"/>
              <a:t>|u</a:t>
            </a:r>
            <a:r>
              <a:rPr lang="en-US" altLang="zh-TW" baseline="-25000" dirty="0" smtClean="0"/>
              <a:t>|</a:t>
            </a:r>
            <a:r>
              <a:rPr lang="pt-BR" altLang="zh-TW" dirty="0" smtClean="0"/>
              <a:t> </a:t>
            </a:r>
            <a:r>
              <a:rPr lang="pt-BR" altLang="zh-TW" dirty="0"/>
              <a:t>= </a:t>
            </a:r>
            <a:r>
              <a:rPr lang="en-US" altLang="zh-TW" dirty="0"/>
              <a:t>v</a:t>
            </a:r>
            <a:r>
              <a:rPr lang="en-US" altLang="zh-TW" baseline="-25000" dirty="0"/>
              <a:t>i-n+1</a:t>
            </a:r>
            <a:r>
              <a:rPr lang="pt-BR" altLang="zh-TW" dirty="0"/>
              <a:t> . . . </a:t>
            </a:r>
            <a:r>
              <a:rPr lang="en-US" altLang="zh-TW" dirty="0" err="1"/>
              <a:t>v</a:t>
            </a:r>
            <a:r>
              <a:rPr lang="en-US" altLang="zh-TW" baseline="-25000" dirty="0" err="1" smtClean="0"/>
              <a:t>n</a:t>
            </a:r>
            <a:r>
              <a:rPr lang="en-US" altLang="zh-TW" dirty="0" smtClean="0"/>
              <a:t> , and</a:t>
            </a:r>
            <a:endParaRPr lang="pt-BR" altLang="zh-TW" dirty="0" smtClean="0"/>
          </a:p>
          <a:p>
            <a:pPr marL="0" indent="0">
              <a:buNone/>
            </a:pPr>
            <a:r>
              <a:rPr lang="en-US" altLang="zh-TW" dirty="0" smtClean="0"/>
              <a:t>(2) v</a:t>
            </a:r>
            <a:r>
              <a:rPr lang="en-US" altLang="zh-TW" baseline="-25000" dirty="0" smtClean="0"/>
              <a:t>1</a:t>
            </a:r>
            <a:r>
              <a:rPr lang="pt-BR" altLang="zh-TW" dirty="0"/>
              <a:t> . . . </a:t>
            </a:r>
            <a:r>
              <a:rPr lang="en-US" altLang="zh-TW" dirty="0" smtClean="0"/>
              <a:t>v</a:t>
            </a:r>
            <a:r>
              <a:rPr lang="en-US" altLang="zh-TW" baseline="-25000" dirty="0" smtClean="0"/>
              <a:t>i-n</a:t>
            </a:r>
            <a:r>
              <a:rPr lang="en-US" altLang="zh-TW" dirty="0" smtClean="0"/>
              <a:t> </a:t>
            </a:r>
            <a:r>
              <a:rPr lang="pt-BR" altLang="zh-TW" dirty="0" smtClean="0"/>
              <a:t>= </a:t>
            </a:r>
            <a:r>
              <a:rPr lang="en-US" altLang="zh-TW" dirty="0" smtClean="0"/>
              <a:t>v</a:t>
            </a:r>
            <a:r>
              <a:rPr lang="en-US" altLang="zh-TW" baseline="-25000" dirty="0" smtClean="0"/>
              <a:t>n+1 </a:t>
            </a:r>
            <a:r>
              <a:rPr lang="pt-BR" altLang="zh-TW" dirty="0"/>
              <a:t>. . .</a:t>
            </a:r>
            <a:r>
              <a:rPr lang="en-US" altLang="zh-TW" baseline="-25000" dirty="0" smtClean="0"/>
              <a:t> </a:t>
            </a:r>
            <a:r>
              <a:rPr lang="en-US" altLang="zh-TW" dirty="0" smtClean="0"/>
              <a:t>v</a:t>
            </a:r>
            <a:r>
              <a:rPr lang="en-US" altLang="zh-TW" baseline="-25000" dirty="0"/>
              <a:t>i</a:t>
            </a:r>
            <a:r>
              <a:rPr lang="en-US" altLang="zh-TW" baseline="-25000" dirty="0" smtClean="0"/>
              <a:t> </a:t>
            </a:r>
            <a:r>
              <a:rPr lang="en-US" altLang="zh-TW" dirty="0" smtClean="0"/>
              <a:t>(This second condition is vacuous if </a:t>
            </a:r>
            <a:r>
              <a:rPr lang="en-US" altLang="zh-TW" dirty="0" err="1" smtClean="0"/>
              <a:t>i</a:t>
            </a:r>
            <a:r>
              <a:rPr lang="en-US" altLang="zh-TW" dirty="0" smtClean="0"/>
              <a:t> </a:t>
            </a:r>
            <a:r>
              <a:rPr lang="en-US" altLang="zh-TW" dirty="0"/>
              <a:t>= n.)</a:t>
            </a:r>
          </a:p>
          <a:p>
            <a:pPr marL="0" indent="0">
              <a:buNone/>
            </a:pPr>
            <a:r>
              <a:rPr lang="zh-TW" altLang="en-US" dirty="0" smtClean="0"/>
              <a:t>　</a:t>
            </a:r>
            <a:r>
              <a:rPr lang="en-US" altLang="zh-TW" dirty="0" smtClean="0"/>
              <a:t>The </a:t>
            </a:r>
            <a:r>
              <a:rPr lang="en-US" altLang="zh-TW" dirty="0"/>
              <a:t>first condition is exactly the statement that the string v</a:t>
            </a:r>
            <a:r>
              <a:rPr lang="en-US" altLang="zh-TW" baseline="-25000" dirty="0"/>
              <a:t>i-n+1</a:t>
            </a:r>
            <a:r>
              <a:rPr lang="pt-BR" altLang="zh-TW" dirty="0"/>
              <a:t> . . . </a:t>
            </a:r>
            <a:r>
              <a:rPr lang="en-US" altLang="zh-TW" dirty="0" err="1" smtClean="0"/>
              <a:t>v</a:t>
            </a:r>
            <a:r>
              <a:rPr lang="en-US" altLang="zh-TW" baseline="-25000" dirty="0" err="1" smtClean="0"/>
              <a:t>n</a:t>
            </a:r>
            <a:r>
              <a:rPr lang="en-US" altLang="zh-TW" dirty="0" smtClean="0"/>
              <a:t> of length </a:t>
            </a:r>
            <a:r>
              <a:rPr lang="en-US" altLang="zh-TW" dirty="0"/>
              <a:t>2n - </a:t>
            </a:r>
            <a:r>
              <a:rPr lang="en-US" altLang="zh-TW" dirty="0" err="1"/>
              <a:t>i</a:t>
            </a:r>
            <a:r>
              <a:rPr lang="en-US" altLang="zh-TW" dirty="0"/>
              <a:t> is a suffix of </a:t>
            </a:r>
            <a:r>
              <a:rPr lang="en-US" altLang="zh-TW" dirty="0" smtClean="0"/>
              <a:t>u, </a:t>
            </a:r>
            <a:r>
              <a:rPr lang="en-US" altLang="zh-TW" dirty="0"/>
              <a:t>which is true </a:t>
            </a:r>
            <a:r>
              <a:rPr lang="en-US" altLang="zh-TW" dirty="0" err="1"/>
              <a:t>iff</a:t>
            </a:r>
            <a:r>
              <a:rPr lang="en-US" altLang="zh-TW" dirty="0"/>
              <a:t> ls[n] </a:t>
            </a:r>
            <a:r>
              <a:rPr lang="en-US" altLang="zh-TW" dirty="0" smtClean="0"/>
              <a:t>≥ </a:t>
            </a:r>
            <a:r>
              <a:rPr lang="en-US" altLang="zh-TW" dirty="0"/>
              <a:t>2n - </a:t>
            </a:r>
            <a:r>
              <a:rPr lang="en-US" altLang="zh-TW" dirty="0" err="1"/>
              <a:t>i</a:t>
            </a:r>
            <a:r>
              <a:rPr lang="en-US" altLang="zh-TW" dirty="0"/>
              <a:t>. </a:t>
            </a:r>
            <a:endParaRPr lang="en-US" altLang="zh-TW" dirty="0" smtClean="0"/>
          </a:p>
          <a:p>
            <a:pPr marL="0" indent="0">
              <a:buNone/>
            </a:pPr>
            <a:r>
              <a:rPr lang="zh-TW" altLang="en-US" dirty="0" smtClean="0"/>
              <a:t>　</a:t>
            </a:r>
            <a:r>
              <a:rPr lang="en-US" altLang="zh-TW" dirty="0" smtClean="0"/>
              <a:t>This </a:t>
            </a:r>
            <a:r>
              <a:rPr lang="en-US" altLang="zh-TW" dirty="0"/>
              <a:t>may </a:t>
            </a:r>
            <a:r>
              <a:rPr lang="en-US" altLang="zh-TW" dirty="0" smtClean="0"/>
              <a:t>be rewritten </a:t>
            </a:r>
            <a:r>
              <a:rPr lang="en-US" altLang="zh-TW" dirty="0"/>
              <a:t>as 2n - ls[n] </a:t>
            </a:r>
            <a:r>
              <a:rPr lang="en-US" altLang="zh-TW" dirty="0" smtClean="0"/>
              <a:t>≤ </a:t>
            </a:r>
            <a:r>
              <a:rPr lang="en-US" altLang="zh-TW" dirty="0" err="1" smtClean="0"/>
              <a:t>i</a:t>
            </a:r>
            <a:r>
              <a:rPr lang="en-US" altLang="zh-TW" dirty="0"/>
              <a:t>. Similarly, the second condition reduces </a:t>
            </a:r>
            <a:r>
              <a:rPr lang="en-US" altLang="zh-TW" dirty="0" smtClean="0"/>
              <a:t>to </a:t>
            </a:r>
            <a:r>
              <a:rPr lang="pt-BR" altLang="zh-TW" dirty="0" smtClean="0"/>
              <a:t>i </a:t>
            </a:r>
            <a:r>
              <a:rPr lang="en-US" altLang="zh-TW" dirty="0"/>
              <a:t>≤</a:t>
            </a:r>
            <a:r>
              <a:rPr lang="pt-BR" altLang="zh-TW" dirty="0" smtClean="0"/>
              <a:t> n+lp[n+1].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5955760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050" y="634512"/>
            <a:ext cx="7673339" cy="2819400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325" y="3453912"/>
            <a:ext cx="7458075" cy="2165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25808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Finding all repetitions in a string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28650" y="1825625"/>
            <a:ext cx="8039100" cy="4351338"/>
          </a:xfrm>
        </p:spPr>
        <p:txBody>
          <a:bodyPr>
            <a:normAutofit fontScale="92500" lnSpcReduction="10000"/>
          </a:bodyPr>
          <a:lstStyle/>
          <a:p>
            <a:r>
              <a:rPr lang="en-US" altLang="zh-TW" dirty="0"/>
              <a:t>This section describes an algorithm to find all repetitions in a string </a:t>
            </a:r>
            <a:r>
              <a:rPr lang="en-US" altLang="zh-TW" dirty="0" smtClean="0"/>
              <a:t>of length </a:t>
            </a:r>
            <a:r>
              <a:rPr lang="en-US" altLang="zh-TW" dirty="0"/>
              <a:t>n, in time </a:t>
            </a:r>
            <a:r>
              <a:rPr lang="en-US" altLang="zh-TW" dirty="0" smtClean="0"/>
              <a:t>O(</a:t>
            </a:r>
            <a:r>
              <a:rPr lang="en-US" altLang="zh-TW" dirty="0" err="1" smtClean="0"/>
              <a:t>nlogn</a:t>
            </a:r>
            <a:r>
              <a:rPr lang="en-US" altLang="zh-TW" dirty="0"/>
              <a:t>). It uses the procedure new of the last section.</a:t>
            </a:r>
          </a:p>
          <a:p>
            <a:r>
              <a:rPr lang="en-US" altLang="zh-TW" dirty="0"/>
              <a:t>Let w be the string of length n. The repetitions in w are of these </a:t>
            </a:r>
            <a:r>
              <a:rPr lang="en-US" altLang="zh-TW" dirty="0" smtClean="0"/>
              <a:t>three sorts</a:t>
            </a:r>
            <a:r>
              <a:rPr lang="en-US" altLang="zh-TW" dirty="0"/>
              <a:t>:</a:t>
            </a:r>
          </a:p>
          <a:p>
            <a:pPr marL="0" indent="0">
              <a:buNone/>
            </a:pPr>
            <a:r>
              <a:rPr lang="en-US" altLang="zh-TW" dirty="0"/>
              <a:t>(1) The repetitions which end at or before the </a:t>
            </a:r>
            <a:r>
              <a:rPr lang="en-US" altLang="zh-TW" dirty="0" smtClean="0"/>
              <a:t>┌n/2┐th </a:t>
            </a:r>
            <a:r>
              <a:rPr lang="en-US" altLang="zh-TW" dirty="0"/>
              <a:t>position of w.</a:t>
            </a:r>
          </a:p>
          <a:p>
            <a:pPr marL="0" indent="0">
              <a:buNone/>
            </a:pPr>
            <a:r>
              <a:rPr lang="en-US" altLang="zh-TW" dirty="0"/>
              <a:t>(2) The repetitions which start after the ┌ </a:t>
            </a:r>
            <a:r>
              <a:rPr lang="en-US" altLang="zh-TW" dirty="0" smtClean="0"/>
              <a:t>n/2</a:t>
            </a:r>
            <a:r>
              <a:rPr lang="en-US" altLang="zh-TW" dirty="0"/>
              <a:t> </a:t>
            </a:r>
            <a:r>
              <a:rPr lang="en-US" altLang="zh-TW" dirty="0" smtClean="0"/>
              <a:t>┐</a:t>
            </a:r>
            <a:r>
              <a:rPr lang="en-US" altLang="zh-TW" dirty="0" err="1" smtClean="0"/>
              <a:t>th</a:t>
            </a:r>
            <a:r>
              <a:rPr lang="en-US" altLang="zh-TW" dirty="0" smtClean="0"/>
              <a:t> </a:t>
            </a:r>
            <a:r>
              <a:rPr lang="en-US" altLang="zh-TW" dirty="0"/>
              <a:t>position of w.</a:t>
            </a:r>
          </a:p>
          <a:p>
            <a:pPr marL="0" indent="0">
              <a:buNone/>
            </a:pPr>
            <a:r>
              <a:rPr lang="en-US" altLang="zh-TW" dirty="0"/>
              <a:t>(3) The repetitions which start at or before the ┌ </a:t>
            </a:r>
            <a:r>
              <a:rPr lang="en-US" altLang="zh-TW" dirty="0" smtClean="0"/>
              <a:t>n/2 ┐</a:t>
            </a:r>
            <a:r>
              <a:rPr lang="en-US" altLang="zh-TW" dirty="0" err="1" smtClean="0"/>
              <a:t>th</a:t>
            </a:r>
            <a:r>
              <a:rPr lang="en-US" altLang="zh-TW" dirty="0" smtClean="0"/>
              <a:t> </a:t>
            </a:r>
            <a:r>
              <a:rPr lang="en-US" altLang="zh-TW" dirty="0"/>
              <a:t>position of </a:t>
            </a:r>
            <a:r>
              <a:rPr lang="en-US" altLang="zh-TW" dirty="0" smtClean="0"/>
              <a:t>w, and </a:t>
            </a:r>
            <a:r>
              <a:rPr lang="en-US" altLang="zh-TW" dirty="0"/>
              <a:t>end after it.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8375457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TW" altLang="en-US" dirty="0" smtClean="0"/>
              <a:t>　</a:t>
            </a:r>
            <a:r>
              <a:rPr lang="en-US" altLang="zh-TW" dirty="0" smtClean="0"/>
              <a:t>In </a:t>
            </a:r>
            <a:r>
              <a:rPr lang="en-US" altLang="zh-TW" dirty="0"/>
              <a:t>Algorithm 4, the procedure </a:t>
            </a:r>
            <a:r>
              <a:rPr lang="en-US" altLang="zh-TW" dirty="0" err="1"/>
              <a:t>findreps</a:t>
            </a:r>
            <a:r>
              <a:rPr lang="en-US" altLang="zh-TW" dirty="0"/>
              <a:t>( w) finds repetitions of the </a:t>
            </a:r>
            <a:r>
              <a:rPr lang="en-US" altLang="zh-TW" dirty="0" smtClean="0"/>
              <a:t>third kind </a:t>
            </a:r>
            <a:r>
              <a:rPr lang="en-US" altLang="zh-TW" dirty="0"/>
              <a:t>with a call to </a:t>
            </a:r>
            <a:r>
              <a:rPr lang="en-US" altLang="zh-TW" dirty="0" smtClean="0"/>
              <a:t>new(w</a:t>
            </a:r>
            <a:r>
              <a:rPr lang="en-US" altLang="zh-TW" baseline="-25000" dirty="0" smtClean="0"/>
              <a:t>1</a:t>
            </a:r>
            <a:r>
              <a:rPr lang="pt-BR" altLang="zh-TW" dirty="0"/>
              <a:t> . . . </a:t>
            </a:r>
            <a:r>
              <a:rPr lang="en-US" altLang="zh-TW" dirty="0" err="1" smtClean="0"/>
              <a:t>w┌</a:t>
            </a:r>
            <a:r>
              <a:rPr lang="en-US" altLang="zh-TW" baseline="-25000" dirty="0" err="1" smtClean="0"/>
              <a:t>n</a:t>
            </a:r>
            <a:r>
              <a:rPr lang="en-US" altLang="zh-TW" baseline="-25000" dirty="0" smtClean="0"/>
              <a:t>/2</a:t>
            </a:r>
            <a:r>
              <a:rPr lang="en-US" altLang="zh-TW" dirty="0" smtClean="0"/>
              <a:t>┐,</a:t>
            </a:r>
            <a:r>
              <a:rPr lang="en-US" altLang="zh-TW" dirty="0"/>
              <a:t> </a:t>
            </a:r>
            <a:r>
              <a:rPr lang="en-US" altLang="zh-TW" dirty="0" err="1"/>
              <a:t>w┌</a:t>
            </a:r>
            <a:r>
              <a:rPr lang="en-US" altLang="zh-TW" baseline="-25000" dirty="0" err="1"/>
              <a:t>n</a:t>
            </a:r>
            <a:r>
              <a:rPr lang="en-US" altLang="zh-TW" baseline="-25000" dirty="0"/>
              <a:t>/2</a:t>
            </a:r>
            <a:r>
              <a:rPr lang="en-US" altLang="zh-TW" dirty="0" smtClean="0"/>
              <a:t>┐</a:t>
            </a:r>
            <a:r>
              <a:rPr lang="en-US" altLang="zh-TW" baseline="-25000" dirty="0" smtClean="0"/>
              <a:t>+1</a:t>
            </a:r>
            <a:r>
              <a:rPr lang="en-US" altLang="zh-TW" dirty="0" smtClean="0"/>
              <a:t>. </a:t>
            </a:r>
            <a:r>
              <a:rPr lang="en-US" altLang="zh-TW" dirty="0"/>
              <a:t>. . </a:t>
            </a:r>
            <a:r>
              <a:rPr lang="en-US" altLang="zh-TW" dirty="0" err="1" smtClean="0"/>
              <a:t>w</a:t>
            </a:r>
            <a:r>
              <a:rPr lang="en-US" altLang="zh-TW" baseline="-25000" dirty="0" err="1" smtClean="0"/>
              <a:t>n</a:t>
            </a:r>
            <a:r>
              <a:rPr lang="en-US" altLang="zh-TW" dirty="0" smtClean="0"/>
              <a:t>). </a:t>
            </a:r>
            <a:r>
              <a:rPr lang="en-US" altLang="zh-TW" dirty="0"/>
              <a:t>(Recall </a:t>
            </a:r>
            <a:r>
              <a:rPr lang="en-US" altLang="zh-TW" dirty="0" smtClean="0"/>
              <a:t>that new(</a:t>
            </a:r>
            <a:r>
              <a:rPr lang="en-US" altLang="zh-TW" dirty="0" err="1" smtClean="0"/>
              <a:t>u,v</a:t>
            </a:r>
            <a:r>
              <a:rPr lang="en-US" altLang="zh-TW" dirty="0" smtClean="0"/>
              <a:t>) </a:t>
            </a:r>
            <a:r>
              <a:rPr lang="en-US" altLang="zh-TW" dirty="0"/>
              <a:t>finds all repetitions which span </a:t>
            </a:r>
            <a:r>
              <a:rPr lang="en-US" altLang="zh-TW" dirty="0" smtClean="0"/>
              <a:t>the </a:t>
            </a:r>
            <a:r>
              <a:rPr lang="en-US" altLang="zh-TW" dirty="0"/>
              <a:t>border between u and </a:t>
            </a:r>
            <a:r>
              <a:rPr lang="en-US" altLang="zh-TW" dirty="0" smtClean="0"/>
              <a:t>v.)</a:t>
            </a:r>
            <a:endParaRPr lang="en-US" altLang="zh-TW" dirty="0"/>
          </a:p>
          <a:p>
            <a:pPr marL="0" indent="0">
              <a:buNone/>
            </a:pPr>
            <a:r>
              <a:rPr lang="zh-TW" altLang="en-US" dirty="0" smtClean="0"/>
              <a:t>　</a:t>
            </a:r>
            <a:r>
              <a:rPr lang="en-US" altLang="zh-TW" dirty="0" smtClean="0"/>
              <a:t>Repetitions </a:t>
            </a:r>
            <a:r>
              <a:rPr lang="en-US" altLang="zh-TW" dirty="0"/>
              <a:t>of the first two sorts are found with recursive calls </a:t>
            </a:r>
            <a:r>
              <a:rPr lang="en-US" altLang="zh-TW" dirty="0" err="1" smtClean="0"/>
              <a:t>findreps</a:t>
            </a:r>
            <a:r>
              <a:rPr lang="en-US" altLang="zh-TW" dirty="0" smtClean="0"/>
              <a:t>(w</a:t>
            </a:r>
            <a:r>
              <a:rPr lang="en-US" altLang="zh-TW" baseline="-25000" dirty="0" smtClean="0"/>
              <a:t>1</a:t>
            </a:r>
            <a:r>
              <a:rPr lang="pt-BR" altLang="zh-TW" dirty="0" smtClean="0"/>
              <a:t> </a:t>
            </a:r>
            <a:r>
              <a:rPr lang="pt-BR" altLang="zh-TW" dirty="0"/>
              <a:t>. . . </a:t>
            </a:r>
            <a:r>
              <a:rPr lang="en-US" altLang="zh-TW" dirty="0" err="1"/>
              <a:t>w┌</a:t>
            </a:r>
            <a:r>
              <a:rPr lang="en-US" altLang="zh-TW" baseline="-25000" dirty="0" err="1"/>
              <a:t>n</a:t>
            </a:r>
            <a:r>
              <a:rPr lang="en-US" altLang="zh-TW" baseline="-25000" dirty="0"/>
              <a:t>/2</a:t>
            </a:r>
            <a:r>
              <a:rPr lang="en-US" altLang="zh-TW" dirty="0" smtClean="0"/>
              <a:t>┐)</a:t>
            </a:r>
            <a:r>
              <a:rPr lang="da-DK" altLang="zh-TW" dirty="0" smtClean="0"/>
              <a:t>,and findreps(</a:t>
            </a:r>
            <a:r>
              <a:rPr lang="en-US" altLang="zh-TW" dirty="0" err="1"/>
              <a:t>w┌</a:t>
            </a:r>
            <a:r>
              <a:rPr lang="en-US" altLang="zh-TW" baseline="-25000" dirty="0" err="1"/>
              <a:t>n</a:t>
            </a:r>
            <a:r>
              <a:rPr lang="en-US" altLang="zh-TW" baseline="-25000" dirty="0"/>
              <a:t>/2</a:t>
            </a:r>
            <a:r>
              <a:rPr lang="en-US" altLang="zh-TW" dirty="0"/>
              <a:t>┐</a:t>
            </a:r>
            <a:r>
              <a:rPr lang="en-US" altLang="zh-TW" baseline="-25000" dirty="0"/>
              <a:t>+1</a:t>
            </a:r>
            <a:r>
              <a:rPr lang="en-US" altLang="zh-TW" dirty="0"/>
              <a:t>. . . </a:t>
            </a:r>
            <a:r>
              <a:rPr lang="en-US" altLang="zh-TW" dirty="0" err="1"/>
              <a:t>w</a:t>
            </a:r>
            <a:r>
              <a:rPr lang="en-US" altLang="zh-TW" baseline="-25000" dirty="0" err="1"/>
              <a:t>n</a:t>
            </a:r>
            <a:r>
              <a:rPr lang="da-DK" altLang="zh-TW" dirty="0" smtClean="0"/>
              <a:t>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3667119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225" y="909407"/>
            <a:ext cx="6200775" cy="2262533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225" y="3104997"/>
            <a:ext cx="6278229" cy="1531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49017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19075" y="1597025"/>
            <a:ext cx="8582026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dirty="0"/>
              <a:t>Let T(n) be the time </a:t>
            </a:r>
            <a:r>
              <a:rPr lang="en-US" altLang="zh-TW" dirty="0" err="1"/>
              <a:t>findreps</a:t>
            </a:r>
            <a:r>
              <a:rPr lang="en-US" altLang="zh-TW" dirty="0"/>
              <a:t> takes on an input of length n. The </a:t>
            </a:r>
            <a:r>
              <a:rPr lang="en-US" altLang="zh-TW" dirty="0" smtClean="0"/>
              <a:t>function T(n</a:t>
            </a:r>
            <a:r>
              <a:rPr lang="en-US" altLang="zh-TW" dirty="0"/>
              <a:t>) gives rise to </a:t>
            </a:r>
            <a:r>
              <a:rPr lang="en-US" altLang="zh-TW" dirty="0" smtClean="0"/>
              <a:t>the recurrence</a:t>
            </a:r>
            <a:r>
              <a:rPr lang="en-US" altLang="zh-TW" dirty="0"/>
              <a:t>:</a:t>
            </a:r>
          </a:p>
          <a:p>
            <a:r>
              <a:rPr lang="en-US" altLang="zh-TW" dirty="0"/>
              <a:t>T(1) = d</a:t>
            </a:r>
          </a:p>
          <a:p>
            <a:r>
              <a:rPr lang="en-US" altLang="zh-TW" dirty="0"/>
              <a:t>T(n) = </a:t>
            </a:r>
            <a:r>
              <a:rPr lang="en-US" altLang="zh-TW" dirty="0" err="1"/>
              <a:t>cn</a:t>
            </a:r>
            <a:r>
              <a:rPr lang="en-US" altLang="zh-TW" dirty="0"/>
              <a:t> + 2T</a:t>
            </a:r>
            <a:r>
              <a:rPr lang="en-US" altLang="zh-TW"/>
              <a:t>( </a:t>
            </a:r>
            <a:r>
              <a:rPr lang="en-US" altLang="zh-TW" smtClean="0"/>
              <a:t>n/2)</a:t>
            </a:r>
            <a:endParaRPr lang="en-US" altLang="zh-TW" dirty="0" smtClean="0"/>
          </a:p>
          <a:p>
            <a:pPr marL="0" indent="0">
              <a:buNone/>
            </a:pPr>
            <a:r>
              <a:rPr lang="zh-TW" altLang="en-US" dirty="0" smtClean="0"/>
              <a:t>　</a:t>
            </a:r>
            <a:r>
              <a:rPr lang="en-US" altLang="zh-TW" dirty="0" smtClean="0"/>
              <a:t>for </a:t>
            </a:r>
            <a:r>
              <a:rPr lang="en-US" altLang="zh-TW" dirty="0"/>
              <a:t>some constants c and d. The </a:t>
            </a:r>
            <a:r>
              <a:rPr lang="en-US" altLang="zh-TW" dirty="0" err="1"/>
              <a:t>cn</a:t>
            </a:r>
            <a:r>
              <a:rPr lang="en-US" altLang="zh-TW" dirty="0"/>
              <a:t> comes from the call to new, which </a:t>
            </a:r>
            <a:r>
              <a:rPr lang="en-US" altLang="zh-TW" dirty="0" smtClean="0"/>
              <a:t>takes linear </a:t>
            </a:r>
            <a:r>
              <a:rPr lang="en-US" altLang="zh-TW" dirty="0"/>
              <a:t>time. </a:t>
            </a:r>
            <a:endParaRPr lang="en-US" altLang="zh-TW" dirty="0" smtClean="0"/>
          </a:p>
          <a:p>
            <a:pPr marL="0" indent="0">
              <a:buNone/>
            </a:pPr>
            <a:r>
              <a:rPr lang="zh-TW" altLang="en-US" dirty="0" smtClean="0"/>
              <a:t>　</a:t>
            </a:r>
            <a:r>
              <a:rPr lang="en-US" altLang="zh-TW" dirty="0" smtClean="0"/>
              <a:t>The 2T(n/2</a:t>
            </a:r>
            <a:r>
              <a:rPr lang="en-US" altLang="zh-TW" dirty="0"/>
              <a:t>) arises from the two recursive calls to </a:t>
            </a:r>
            <a:r>
              <a:rPr lang="en-US" altLang="zh-TW" dirty="0" err="1"/>
              <a:t>findreps</a:t>
            </a:r>
            <a:r>
              <a:rPr lang="en-US" altLang="zh-TW" dirty="0"/>
              <a:t>. </a:t>
            </a:r>
            <a:r>
              <a:rPr lang="en-US" altLang="zh-TW" dirty="0" smtClean="0"/>
              <a:t>The solution </a:t>
            </a:r>
            <a:r>
              <a:rPr lang="en-US" altLang="zh-TW" dirty="0"/>
              <a:t>to </a:t>
            </a:r>
            <a:r>
              <a:rPr lang="en-US" altLang="zh-TW" dirty="0" smtClean="0"/>
              <a:t>this recurrence </a:t>
            </a:r>
            <a:r>
              <a:rPr lang="en-US" altLang="zh-TW" dirty="0"/>
              <a:t>is </a:t>
            </a:r>
            <a:r>
              <a:rPr lang="en-US" altLang="zh-TW" dirty="0" smtClean="0"/>
              <a:t>O(</a:t>
            </a:r>
            <a:r>
              <a:rPr lang="en-US" altLang="zh-TW" dirty="0" err="1" smtClean="0"/>
              <a:t>nlogn</a:t>
            </a:r>
            <a:r>
              <a:rPr lang="en-US" altLang="zh-TW" dirty="0" smtClean="0"/>
              <a:t>).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6697978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Conclusion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33349" y="1797050"/>
            <a:ext cx="8639175" cy="4351338"/>
          </a:xfrm>
        </p:spPr>
        <p:txBody>
          <a:bodyPr/>
          <a:lstStyle/>
          <a:p>
            <a:pPr marL="0" indent="0">
              <a:buNone/>
            </a:pPr>
            <a:r>
              <a:rPr lang="zh-TW" altLang="en-US" dirty="0" smtClean="0"/>
              <a:t>　</a:t>
            </a:r>
            <a:r>
              <a:rPr lang="en-US" altLang="zh-TW" dirty="0" smtClean="0"/>
              <a:t>Given </a:t>
            </a:r>
            <a:r>
              <a:rPr lang="en-US" altLang="zh-TW" dirty="0"/>
              <a:t>a string w, of length n, the algorithm of the previous section </a:t>
            </a:r>
            <a:r>
              <a:rPr lang="en-US" altLang="zh-TW" dirty="0" smtClean="0"/>
              <a:t>finds all </a:t>
            </a:r>
            <a:r>
              <a:rPr lang="en-US" altLang="zh-TW" dirty="0"/>
              <a:t>repetitions in w in time </a:t>
            </a:r>
            <a:r>
              <a:rPr lang="en-US" altLang="zh-TW" dirty="0" smtClean="0"/>
              <a:t>O(n </a:t>
            </a:r>
            <a:r>
              <a:rPr lang="en-US" altLang="zh-TW" dirty="0" err="1" smtClean="0"/>
              <a:t>logn</a:t>
            </a:r>
            <a:r>
              <a:rPr lang="en-US" altLang="zh-TW" dirty="0"/>
              <a:t>). If we know nothing about the size </a:t>
            </a:r>
            <a:r>
              <a:rPr lang="en-US" altLang="zh-TW" dirty="0" smtClean="0"/>
              <a:t>of the </a:t>
            </a:r>
            <a:r>
              <a:rPr lang="en-US" altLang="zh-TW" dirty="0"/>
              <a:t>alphabet, then this is optimal for algorithms based on comparisons </a:t>
            </a:r>
            <a:r>
              <a:rPr lang="en-US" altLang="zh-TW" dirty="0" smtClean="0"/>
              <a:t>of symbols</a:t>
            </a:r>
            <a:r>
              <a:rPr lang="en-US" altLang="zh-TW" dirty="0"/>
              <a:t>. </a:t>
            </a:r>
            <a:endParaRPr lang="en-US" altLang="zh-TW" dirty="0" smtClean="0"/>
          </a:p>
          <a:p>
            <a:pPr marL="0" indent="0">
              <a:buNone/>
            </a:pPr>
            <a:r>
              <a:rPr lang="zh-TW" altLang="en-US" dirty="0" smtClean="0"/>
              <a:t>　</a:t>
            </a:r>
            <a:r>
              <a:rPr lang="en-US" altLang="zh-TW" dirty="0" smtClean="0"/>
              <a:t>In </a:t>
            </a:r>
            <a:r>
              <a:rPr lang="en-US" altLang="zh-TW" dirty="0"/>
              <a:t>fact, it is optimal for any algorithm which determines if w </a:t>
            </a:r>
            <a:r>
              <a:rPr lang="en-US" altLang="zh-TW" dirty="0" smtClean="0"/>
              <a:t>is repetition-free</a:t>
            </a:r>
            <a:r>
              <a:rPr lang="en-US" altLang="zh-TW" dirty="0"/>
              <a:t>.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6292980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2481</TotalTime>
  <Words>548</Words>
  <Application>Microsoft Office PowerPoint</Application>
  <PresentationFormat>如螢幕大小 (4:3)</PresentationFormat>
  <Paragraphs>100</Paragraphs>
  <Slides>18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8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18</vt:i4>
      </vt:variant>
    </vt:vector>
  </HeadingPairs>
  <TitlesOfParts>
    <vt:vector size="27" baseType="lpstr">
      <vt:lpstr>Arial Unicode MS</vt:lpstr>
      <vt:lpstr>KaiTi</vt:lpstr>
      <vt:lpstr>新細明體</vt:lpstr>
      <vt:lpstr>Arial</vt:lpstr>
      <vt:lpstr>Calibri</vt:lpstr>
      <vt:lpstr>Calibri Light</vt:lpstr>
      <vt:lpstr>Times New Roman</vt:lpstr>
      <vt:lpstr>Verdana</vt:lpstr>
      <vt:lpstr>Office 佈景主題</vt:lpstr>
      <vt:lpstr>PowerPoint 簡報</vt:lpstr>
      <vt:lpstr>Abstract</vt:lpstr>
      <vt:lpstr>Introduction</vt:lpstr>
      <vt:lpstr>Finding all partial matches of a pattern</vt:lpstr>
      <vt:lpstr>Compute the following arrays</vt:lpstr>
      <vt:lpstr>PowerPoint 簡報</vt:lpstr>
      <vt:lpstr>PowerPoint 簡報</vt:lpstr>
      <vt:lpstr>Example</vt:lpstr>
      <vt:lpstr>Example</vt:lpstr>
      <vt:lpstr>Detecting formation of repetition</vt:lpstr>
      <vt:lpstr>PowerPoint 簡報</vt:lpstr>
      <vt:lpstr>PowerPoint 簡報</vt:lpstr>
      <vt:lpstr>PowerPoint 簡報</vt:lpstr>
      <vt:lpstr>Finding all repetitions in a string</vt:lpstr>
      <vt:lpstr>PowerPoint 簡報</vt:lpstr>
      <vt:lpstr>PowerPoint 簡報</vt:lpstr>
      <vt:lpstr>PowerPoint 簡報</vt:lpstr>
      <vt:lpstr>Conclusion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Bebe</dc:creator>
  <cp:lastModifiedBy>pplab-class</cp:lastModifiedBy>
  <cp:revision>194</cp:revision>
  <dcterms:created xsi:type="dcterms:W3CDTF">2015-06-30T03:57:49Z</dcterms:created>
  <dcterms:modified xsi:type="dcterms:W3CDTF">2016-02-01T08:47:22Z</dcterms:modified>
</cp:coreProperties>
</file>