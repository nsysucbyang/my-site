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7" r:id="rId2"/>
    <p:sldId id="258" r:id="rId3"/>
    <p:sldId id="259" r:id="rId4"/>
    <p:sldId id="296" r:id="rId5"/>
    <p:sldId id="298" r:id="rId6"/>
    <p:sldId id="299" r:id="rId7"/>
    <p:sldId id="297" r:id="rId8"/>
    <p:sldId id="300" r:id="rId9"/>
    <p:sldId id="301" r:id="rId10"/>
    <p:sldId id="302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</p:sldIdLst>
  <p:sldSz cx="9144000" cy="6858000" type="screen4x3"/>
  <p:notesSz cx="6816725" cy="99441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9D0"/>
    <a:srgbClr val="FFCC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4338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4338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E2734-7699-4EF9-884B-AAC21663F783}" type="datetimeFigureOut">
              <a:rPr lang="zh-TW" altLang="en-US" smtClean="0"/>
              <a:t>2016/2/1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1243013"/>
            <a:ext cx="447357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1038" y="4786313"/>
            <a:ext cx="5454650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54338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60800" y="9445625"/>
            <a:ext cx="2954338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A0B9A-4F24-4307-B491-1A350913E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771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0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003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6276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8698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5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684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7223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259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5757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4508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680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5404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2645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578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78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71443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67962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>
                <a:solidFill>
                  <a:prstClr val="black"/>
                </a:solidFill>
              </a:rPr>
              <a:pPr/>
              <a:t>21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033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279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919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59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70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76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524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358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69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604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059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4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2016/2/1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33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797453" y="5489155"/>
            <a:ext cx="650818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prstClr val="black"/>
                </a:solidFill>
              </a:rPr>
              <a:t>Presenter: Tzu-Chiang Hsu </a:t>
            </a:r>
            <a:r>
              <a:rPr lang="zh-TW" altLang="en-US" sz="3200" dirty="0">
                <a:solidFill>
                  <a:prstClr val="black"/>
                </a:solidFill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(</a:t>
            </a:r>
            <a:r>
              <a:rPr lang="zh-TW" altLang="en-US" sz="4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徐子強</a:t>
            </a:r>
            <a:r>
              <a:rPr lang="en-US" altLang="zh-TW" sz="3200" dirty="0">
                <a:solidFill>
                  <a:prstClr val="black"/>
                </a:solidFill>
              </a:rPr>
              <a:t>)</a:t>
            </a:r>
          </a:p>
          <a:p>
            <a:r>
              <a:rPr lang="en-US" altLang="zh-TW" sz="2500" dirty="0" smtClean="0">
                <a:solidFill>
                  <a:prstClr val="black"/>
                </a:solidFill>
              </a:rPr>
              <a:t>2016/02/01</a:t>
            </a:r>
            <a:endParaRPr lang="zh-TW" altLang="en-US" sz="2500" dirty="0">
              <a:solidFill>
                <a:prstClr val="black"/>
              </a:solidFill>
            </a:endParaRPr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85800" y="271245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+mn-lt"/>
              </a:rPr>
              <a:t>Fast and Practical Algorithms for Computing All the Runs in a String</a:t>
            </a:r>
            <a:endParaRPr lang="zh-TW" altLang="en-US" sz="4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9" name="副標題 2"/>
          <p:cNvSpPr txBox="1">
            <a:spLocks/>
          </p:cNvSpPr>
          <p:nvPr/>
        </p:nvSpPr>
        <p:spPr>
          <a:xfrm>
            <a:off x="0" y="251106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endParaRPr lang="pt-BR" altLang="zh-TW" sz="2000" dirty="0" smtClean="0">
              <a:solidFill>
                <a:prstClr val="black"/>
              </a:solidFill>
            </a:endParaRPr>
          </a:p>
          <a:p>
            <a:pPr fontAlgn="base"/>
            <a:r>
              <a:rPr lang="it-IT" altLang="zh-TW" sz="3000" dirty="0">
                <a:solidFill>
                  <a:prstClr val="black"/>
                </a:solidFill>
              </a:rPr>
              <a:t>Gang Chen, Simon J. Puglisi, W. F. </a:t>
            </a:r>
            <a:r>
              <a:rPr lang="it-IT" altLang="zh-TW" sz="3000" dirty="0" smtClean="0">
                <a:solidFill>
                  <a:prstClr val="black"/>
                </a:solidFill>
              </a:rPr>
              <a:t>Smyth</a:t>
            </a:r>
          </a:p>
          <a:p>
            <a:pPr fontAlgn="base"/>
            <a:endParaRPr lang="en-US" altLang="zh-TW" sz="700" dirty="0" smtClean="0">
              <a:solidFill>
                <a:prstClr val="black"/>
              </a:solidFill>
            </a:endParaRPr>
          </a:p>
          <a:p>
            <a:r>
              <a:rPr lang="en-US" altLang="zh-TW" dirty="0" smtClean="0"/>
              <a:t>Proceedings of the 18th Annual Symposium on </a:t>
            </a:r>
          </a:p>
          <a:p>
            <a:r>
              <a:rPr lang="en-US" altLang="zh-TW" b="1" dirty="0" smtClean="0">
                <a:solidFill>
                  <a:prstClr val="black"/>
                </a:solidFill>
                <a:latin typeface="Calibri Light" panose="020F0302020204030204"/>
              </a:rPr>
              <a:t>Combinatorial </a:t>
            </a:r>
            <a:r>
              <a:rPr lang="en-US" altLang="zh-TW" b="1" dirty="0">
                <a:solidFill>
                  <a:prstClr val="black"/>
                </a:solidFill>
                <a:latin typeface="Calibri Light" panose="020F0302020204030204"/>
              </a:rPr>
              <a:t>Pattern </a:t>
            </a:r>
            <a:r>
              <a:rPr lang="en-US" altLang="zh-TW" b="1" dirty="0" smtClean="0">
                <a:solidFill>
                  <a:prstClr val="black"/>
                </a:solidFill>
                <a:latin typeface="Calibri Light" panose="020F0302020204030204"/>
              </a:rPr>
              <a:t>Matching</a:t>
            </a:r>
            <a:endParaRPr lang="en-US" altLang="zh-TW" b="1" dirty="0">
              <a:solidFill>
                <a:prstClr val="black"/>
              </a:solidFill>
              <a:latin typeface="Calibri Light" panose="020F0302020204030204"/>
            </a:endParaRPr>
          </a:p>
          <a:p>
            <a:r>
              <a:rPr lang="en-US" altLang="zh-TW" dirty="0" smtClean="0"/>
              <a:t>(CPM 2007), London</a:t>
            </a:r>
            <a:r>
              <a:rPr lang="en-US" altLang="zh-TW" dirty="0"/>
              <a:t>, Canada, pp. </a:t>
            </a:r>
            <a:r>
              <a:rPr lang="en-US" altLang="zh-TW" smtClean="0"/>
              <a:t>307-315,</a:t>
            </a:r>
            <a:endParaRPr lang="en-US" altLang="zh-TW" dirty="0"/>
          </a:p>
          <a:p>
            <a:r>
              <a:rPr lang="en-US" altLang="zh-TW" dirty="0" smtClean="0"/>
              <a:t>July </a:t>
            </a:r>
            <a:r>
              <a:rPr lang="en-US" altLang="zh-TW" dirty="0"/>
              <a:t>9-11, </a:t>
            </a:r>
            <a:r>
              <a:rPr lang="en-US" altLang="zh-TW" dirty="0" smtClean="0"/>
              <a:t>2007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4061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(1/3)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repetition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string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substring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w=</a:t>
            </a:r>
            <a:r>
              <a:rPr lang="en-US" altLang="zh-TW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3200" b="1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maximum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 ≥ 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not itself a repetition in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substring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w=</a:t>
            </a:r>
            <a:r>
              <a:rPr lang="en-US" altLang="zh-TW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3200" b="1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32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“maximal periodicity”, where </a:t>
            </a:r>
            <a:r>
              <a:rPr lang="en-US" altLang="zh-TW" sz="3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3200" b="1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repetition and </a:t>
            </a:r>
            <a:r>
              <a:rPr lang="en-US" altLang="zh-TW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3200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maximum-length possibly empty proper prefix of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run may encode as many as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|u|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repetitions. The maximum number of repetitions in any string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[1..n] is well known to be Θ(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nlogn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89670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(2/3)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2000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Kolpakov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Kucherov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that the maximum number of runs in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O(n); they also described a Θ(n)-time algorithm, based on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Farach’s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Θ(n)-time suffix tree construction algorithm (STCA), Θ(n)-time Lempel-Ziv factorization, and Main’s Θ(n)-time leftmost runs algorithm, to compute all the runs in </a:t>
            </a:r>
            <a:r>
              <a:rPr lang="en-US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0514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</a:t>
            </a:r>
            <a:r>
              <a:rPr lang="en-US" altLang="zh-TW" dirty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3</a:t>
            </a:r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/3)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Recently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Abouelhoda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proposed a Θ(n)-time Lempel-Ziv factorization algorithm based on an “enhanced” suffix array — a suffix array together with other supporting data structures. In this paper we introduce a collection of fast space-efficient algorithms for computing all the runs in a string that appear in many circumstances to be superior to those previously proposed.</a:t>
            </a:r>
          </a:p>
        </p:txBody>
      </p:sp>
    </p:spTree>
    <p:extLst>
      <p:ext uri="{BB962C8B-B14F-4D97-AF65-F5344CB8AC3E}">
        <p14:creationId xmlns:p14="http://schemas.microsoft.com/office/powerpoint/2010/main" val="310071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79969" y="1586892"/>
            <a:ext cx="15023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LZ77</a:t>
            </a:r>
            <a:endParaRPr lang="zh-TW" alt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05259"/>
              </p:ext>
            </p:extLst>
          </p:nvPr>
        </p:nvGraphicFramePr>
        <p:xfrm>
          <a:off x="2704338" y="2666873"/>
          <a:ext cx="4245528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</a:tblGrid>
              <a:tr h="370501"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1479969" y="4189329"/>
            <a:ext cx="15023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4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LZ78</a:t>
            </a:r>
            <a:endParaRPr lang="zh-TW" altLang="en-US" sz="4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537215"/>
              </p:ext>
            </p:extLst>
          </p:nvPr>
        </p:nvGraphicFramePr>
        <p:xfrm>
          <a:off x="2704338" y="5269611"/>
          <a:ext cx="4245528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</a:tblGrid>
              <a:tr h="370501"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4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4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51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214039"/>
              </p:ext>
            </p:extLst>
          </p:nvPr>
        </p:nvGraphicFramePr>
        <p:xfrm>
          <a:off x="109719" y="2207278"/>
          <a:ext cx="8894880" cy="36163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212652"/>
                <a:gridCol w="212652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  <a:gridCol w="352899"/>
              </a:tblGrid>
              <a:tr h="513749">
                <a:tc gridSpan="12"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search buffer</a:t>
                      </a:r>
                      <a:endParaRPr lang="zh-TW" altLang="en-US" sz="28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14"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look-ahead</a:t>
                      </a:r>
                      <a:r>
                        <a:rPr lang="en-US" altLang="zh-TW" sz="2400" baseline="0" dirty="0" smtClean="0"/>
                        <a:t> buffer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594">
                <a:tc>
                  <a:txBody>
                    <a:bodyPr/>
                    <a:lstStyle/>
                    <a:p>
                      <a:r>
                        <a:rPr lang="en-US" altLang="zh-TW" sz="1300" dirty="0" smtClean="0"/>
                        <a:t>12</a:t>
                      </a:r>
                      <a:endParaRPr lang="zh-TW" altLang="en-US" sz="13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300" dirty="0" smtClean="0"/>
                        <a:t>11</a:t>
                      </a:r>
                      <a:endParaRPr lang="zh-TW" altLang="en-US" sz="13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300" dirty="0" smtClean="0"/>
                        <a:t>10</a:t>
                      </a:r>
                      <a:endParaRPr lang="zh-TW" altLang="en-US" sz="13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9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8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7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6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2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3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4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5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6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7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8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9</a:t>
                      </a:r>
                      <a:endParaRPr lang="zh-TW" alt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2592"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b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b</a:t>
                      </a:r>
                      <a:endParaRPr lang="zh-TW" alt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...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594"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9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9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b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TW" sz="1900" dirty="0" smtClean="0"/>
                        <a:t>( 0, 0, a )</a:t>
                      </a:r>
                      <a:endParaRPr lang="zh-TW" alt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594"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b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b</a:t>
                      </a:r>
                      <a:endParaRPr lang="zh-TW" altLang="en-US" sz="19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TW" sz="1900" dirty="0" smtClean="0"/>
                        <a:t>( 1,</a:t>
                      </a:r>
                      <a:r>
                        <a:rPr lang="en-US" altLang="zh-TW" sz="1900" baseline="0" dirty="0" smtClean="0"/>
                        <a:t> 1, c )</a:t>
                      </a:r>
                      <a:endParaRPr lang="zh-TW" alt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594"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b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b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TW" sz="1900" dirty="0" smtClean="0"/>
                        <a:t>( 3, 4, b )</a:t>
                      </a:r>
                      <a:endParaRPr lang="zh-TW" alt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594"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b</a:t>
                      </a:r>
                      <a:endParaRPr lang="zh-TW" altLang="en-US" sz="19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b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TW" sz="1900" dirty="0" smtClean="0"/>
                        <a:t>( 3, 3, a )</a:t>
                      </a:r>
                      <a:endParaRPr lang="zh-TW" alt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594"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b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b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a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c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900" dirty="0" smtClean="0"/>
                        <a:t>$</a:t>
                      </a:r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9D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9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TW" sz="1900" dirty="0" smtClean="0"/>
                        <a:t>(12,</a:t>
                      </a:r>
                      <a:r>
                        <a:rPr lang="en-US" altLang="zh-TW" sz="1900" baseline="0" dirty="0" smtClean="0"/>
                        <a:t> </a:t>
                      </a:r>
                      <a:r>
                        <a:rPr lang="en-US" altLang="zh-TW" sz="1900" baseline="0" dirty="0" smtClean="0"/>
                        <a:t>3, </a:t>
                      </a:r>
                      <a:r>
                        <a:rPr lang="en-US" altLang="zh-TW" sz="1900" baseline="0" dirty="0" smtClean="0"/>
                        <a:t>$ )</a:t>
                      </a:r>
                      <a:endParaRPr lang="zh-TW" altLang="en-US" sz="1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35110" y="914616"/>
            <a:ext cx="17107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LZ77</a:t>
            </a:r>
            <a:endParaRPr lang="zh-TW" alt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5110" y="545284"/>
            <a:ext cx="448020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dirty="0">
                <a:ln w="0"/>
                <a:solidFill>
                  <a:schemeClr val="bg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https://en.wikipedia.org/wiki/LZ77_and_LZ78</a:t>
            </a:r>
            <a:endParaRPr lang="zh-TW" altLang="en-US" b="0" cap="none" spc="0" dirty="0">
              <a:ln w="0"/>
              <a:solidFill>
                <a:schemeClr val="bg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00774" y="1376281"/>
            <a:ext cx="46086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( offset, match length, next symbol )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108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428214"/>
              </p:ext>
            </p:extLst>
          </p:nvPr>
        </p:nvGraphicFramePr>
        <p:xfrm>
          <a:off x="4111753" y="2521712"/>
          <a:ext cx="4245528" cy="2223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</a:tblGrid>
              <a:tr h="37050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50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7050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50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50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50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508707"/>
              </p:ext>
            </p:extLst>
          </p:nvPr>
        </p:nvGraphicFramePr>
        <p:xfrm>
          <a:off x="1609344" y="2519680"/>
          <a:ext cx="2502408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2408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position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length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suffix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longest common prefix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750559" y="4036832"/>
            <a:ext cx="56457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onsolas" panose="020B0609020204030204" pitchFamily="49" charset="0"/>
              </a:rPr>
              <a:t>in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9456" y="3278257"/>
            <a:ext cx="88678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Consolas" panose="020B0609020204030204" pitchFamily="49" charset="0"/>
              </a:rPr>
              <a:t>out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99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97673" y="1924919"/>
            <a:ext cx="2797561" cy="427809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US" altLang="zh-TW" sz="3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abaababa</a:t>
            </a:r>
            <a:endParaRPr lang="en-US" altLang="zh-TW" sz="3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  </a:t>
            </a:r>
            <a:r>
              <a:rPr lang="en-US" altLang="zh-TW" sz="3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baababa</a:t>
            </a:r>
            <a:endParaRPr lang="en-US" altLang="zh-TW" sz="3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3   </a:t>
            </a:r>
            <a:r>
              <a:rPr lang="en-US" altLang="zh-TW" sz="3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aababa</a:t>
            </a:r>
            <a:endParaRPr lang="en-US" altLang="zh-TW" sz="3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4    </a:t>
            </a:r>
            <a:r>
              <a:rPr lang="en-US" altLang="zh-TW" sz="3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ababa</a:t>
            </a:r>
            <a:endParaRPr lang="en-US" altLang="zh-TW" sz="3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5     baba</a:t>
            </a:r>
          </a:p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6      aba</a:t>
            </a:r>
          </a:p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7       </a:t>
            </a:r>
            <a:r>
              <a:rPr lang="en-US" altLang="zh-TW" sz="3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ba</a:t>
            </a:r>
            <a:endParaRPr lang="en-US" altLang="zh-TW" sz="3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8        a</a:t>
            </a:r>
          </a:p>
        </p:txBody>
      </p:sp>
      <p:sp>
        <p:nvSpPr>
          <p:cNvPr id="3" name="矩形 2"/>
          <p:cNvSpPr/>
          <p:nvPr/>
        </p:nvSpPr>
        <p:spPr>
          <a:xfrm>
            <a:off x="5094056" y="1929598"/>
            <a:ext cx="3320140" cy="427809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8 a        </a:t>
            </a:r>
            <a:r>
              <a:rPr lang="en-US" altLang="zh-TW" sz="340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ourier New" panose="02070309020205020404" pitchFamily="49" charset="0"/>
              </a:rPr>
              <a:t>1</a:t>
            </a:r>
          </a:p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3 </a:t>
            </a:r>
            <a:r>
              <a:rPr lang="en-US" altLang="zh-TW" sz="3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aababa</a:t>
            </a:r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zh-TW" sz="340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ourier New" panose="02070309020205020404" pitchFamily="49" charset="0"/>
              </a:rPr>
              <a:t>2</a:t>
            </a:r>
            <a:endParaRPr lang="en-US" altLang="zh-TW" sz="340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Courier New" panose="02070309020205020404" pitchFamily="49" charset="0"/>
            </a:endParaRPr>
          </a:p>
          <a:p>
            <a:r>
              <a:rPr lang="en-US" altLang="zh-TW" sz="3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6 </a:t>
            </a:r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aba      </a:t>
            </a:r>
            <a:r>
              <a:rPr lang="en-US" altLang="zh-TW" sz="340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ourier New" panose="02070309020205020404" pitchFamily="49" charset="0"/>
              </a:rPr>
              <a:t>3</a:t>
            </a:r>
            <a:endParaRPr lang="en-US" altLang="zh-TW" sz="340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Courier New" panose="02070309020205020404" pitchFamily="49" charset="0"/>
            </a:endParaRPr>
          </a:p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1 </a:t>
            </a:r>
            <a:r>
              <a:rPr lang="en-US" altLang="zh-TW" sz="3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abaababa</a:t>
            </a:r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TW" sz="340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ourier New" panose="02070309020205020404" pitchFamily="49" charset="0"/>
              </a:rPr>
              <a:t>4</a:t>
            </a:r>
          </a:p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4 </a:t>
            </a:r>
            <a:r>
              <a:rPr lang="en-US" altLang="zh-TW" sz="3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ababa</a:t>
            </a:r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TW" sz="3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ourier New" panose="02070309020205020404" pitchFamily="49" charset="0"/>
              </a:rPr>
              <a:t>5</a:t>
            </a:r>
          </a:p>
          <a:p>
            <a:r>
              <a:rPr lang="en-US" altLang="zh-TW" sz="3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7 </a:t>
            </a:r>
            <a:r>
              <a:rPr lang="en-US" altLang="zh-TW" sz="3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ba</a:t>
            </a:r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altLang="zh-TW" sz="3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ourier New" panose="02070309020205020404" pitchFamily="49" charset="0"/>
              </a:rPr>
              <a:t>6</a:t>
            </a:r>
          </a:p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2 </a:t>
            </a:r>
            <a:r>
              <a:rPr lang="en-US" altLang="zh-TW" sz="3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baababa</a:t>
            </a:r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TW" sz="3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ourier New" panose="02070309020205020404" pitchFamily="49" charset="0"/>
              </a:rPr>
              <a:t>7</a:t>
            </a:r>
          </a:p>
          <a:p>
            <a:r>
              <a:rPr lang="en-US" altLang="zh-TW" sz="3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5 baba     </a:t>
            </a:r>
            <a:r>
              <a:rPr lang="en-US" altLang="zh-TW" sz="3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ourier New" panose="02070309020205020404" pitchFamily="49" charset="0"/>
              </a:rPr>
              <a:t>8</a:t>
            </a:r>
          </a:p>
        </p:txBody>
      </p:sp>
      <p:cxnSp>
        <p:nvCxnSpPr>
          <p:cNvPr id="8" name="直線單箭頭接點 7"/>
          <p:cNvCxnSpPr/>
          <p:nvPr/>
        </p:nvCxnSpPr>
        <p:spPr>
          <a:xfrm flipV="1">
            <a:off x="3815169" y="4013781"/>
            <a:ext cx="758952" cy="12947"/>
          </a:xfrm>
          <a:prstGeom prst="straightConnector1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766740" y="882503"/>
            <a:ext cx="32864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suffix array</a:t>
            </a:r>
            <a:endParaRPr lang="zh-TW" altLang="en-US" sz="54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656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/>
          <p:cNvGrpSpPr/>
          <p:nvPr/>
        </p:nvGrpSpPr>
        <p:grpSpPr>
          <a:xfrm>
            <a:off x="2552025" y="1947886"/>
            <a:ext cx="4365298" cy="4278094"/>
            <a:chOff x="2277705" y="1765006"/>
            <a:chExt cx="4365298" cy="4278094"/>
          </a:xfrm>
        </p:grpSpPr>
        <p:grpSp>
          <p:nvGrpSpPr>
            <p:cNvPr id="15" name="群組 14"/>
            <p:cNvGrpSpPr/>
            <p:nvPr/>
          </p:nvGrpSpPr>
          <p:grpSpPr>
            <a:xfrm>
              <a:off x="2790481" y="1929383"/>
              <a:ext cx="903695" cy="3968499"/>
              <a:chOff x="2104681" y="1892807"/>
              <a:chExt cx="903695" cy="3968499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2450592" y="2862072"/>
                <a:ext cx="557784" cy="1454769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2104681" y="4462059"/>
                <a:ext cx="647663" cy="139924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2104681" y="1892807"/>
                <a:ext cx="409919" cy="242403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" name="矩形 1"/>
            <p:cNvSpPr/>
            <p:nvPr/>
          </p:nvSpPr>
          <p:spPr>
            <a:xfrm>
              <a:off x="2277705" y="1765006"/>
              <a:ext cx="4365298" cy="427809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r>
                <a:rPr lang="en-US" altLang="zh-TW" sz="34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8 a         0  </a:t>
              </a:r>
              <a:r>
                <a:rPr lang="en-US" altLang="zh-TW" sz="3400" dirty="0" smtClean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cs typeface="Courier New" panose="02070309020205020404" pitchFamily="49" charset="0"/>
                </a:rPr>
                <a:t>1</a:t>
              </a:r>
            </a:p>
            <a:p>
              <a:r>
                <a:rPr lang="en-US" altLang="zh-TW" sz="34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3 </a:t>
              </a:r>
              <a:r>
                <a:rPr lang="en-US" altLang="zh-TW" sz="3400" dirty="0" err="1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aababa</a:t>
              </a:r>
              <a:r>
                <a:rPr lang="en-US" altLang="zh-TW" sz="34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    1  </a:t>
              </a:r>
              <a:r>
                <a:rPr lang="en-US" altLang="zh-TW" sz="340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cs typeface="Courier New" panose="02070309020205020404" pitchFamily="49" charset="0"/>
                </a:rPr>
                <a:t>2</a:t>
              </a:r>
            </a:p>
            <a:p>
              <a:r>
                <a:rPr lang="en-US" altLang="zh-TW" sz="34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6 aba       1  </a:t>
              </a:r>
              <a:r>
                <a:rPr lang="en-US" altLang="zh-TW" sz="340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cs typeface="Courier New" panose="02070309020205020404" pitchFamily="49" charset="0"/>
                </a:rPr>
                <a:t>3</a:t>
              </a:r>
            </a:p>
            <a:p>
              <a:r>
                <a:rPr lang="en-US" altLang="zh-TW" sz="34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1 </a:t>
              </a:r>
              <a:r>
                <a:rPr lang="en-US" altLang="zh-TW" sz="3400" dirty="0" err="1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abaababa</a:t>
              </a:r>
              <a:r>
                <a:rPr lang="en-US" altLang="zh-TW" sz="34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  3  </a:t>
              </a:r>
              <a:r>
                <a:rPr lang="en-US" altLang="zh-TW" sz="340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cs typeface="Courier New" panose="02070309020205020404" pitchFamily="49" charset="0"/>
                </a:rPr>
                <a:t>4</a:t>
              </a:r>
            </a:p>
            <a:p>
              <a:r>
                <a:rPr lang="en-US" altLang="zh-TW" sz="34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4 </a:t>
              </a:r>
              <a:r>
                <a:rPr lang="en-US" altLang="zh-TW" sz="3400" dirty="0" err="1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ababa</a:t>
              </a:r>
              <a:r>
                <a:rPr lang="en-US" altLang="zh-TW" sz="34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     3  </a:t>
              </a:r>
              <a:r>
                <a:rPr lang="en-US" altLang="zh-TW" sz="340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cs typeface="Courier New" panose="02070309020205020404" pitchFamily="49" charset="0"/>
                </a:rPr>
                <a:t>5</a:t>
              </a:r>
            </a:p>
            <a:p>
              <a:r>
                <a:rPr lang="en-US" altLang="zh-TW" sz="34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7 </a:t>
              </a:r>
              <a:r>
                <a:rPr lang="en-US" altLang="zh-TW" sz="3400" dirty="0" err="1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ba</a:t>
              </a:r>
              <a:r>
                <a:rPr lang="en-US" altLang="zh-TW" sz="34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        0  </a:t>
              </a:r>
              <a:r>
                <a:rPr lang="en-US" altLang="zh-TW" sz="340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cs typeface="Courier New" panose="02070309020205020404" pitchFamily="49" charset="0"/>
                </a:rPr>
                <a:t>6</a:t>
              </a:r>
            </a:p>
            <a:p>
              <a:r>
                <a:rPr lang="en-US" altLang="zh-TW" sz="34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2 </a:t>
              </a:r>
              <a:r>
                <a:rPr lang="en-US" altLang="zh-TW" sz="3400" dirty="0" err="1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baababa</a:t>
              </a:r>
              <a:r>
                <a:rPr lang="en-US" altLang="zh-TW" sz="34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   2  </a:t>
              </a:r>
              <a:r>
                <a:rPr lang="en-US" altLang="zh-TW" sz="340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cs typeface="Courier New" panose="02070309020205020404" pitchFamily="49" charset="0"/>
                </a:rPr>
                <a:t>7</a:t>
              </a:r>
            </a:p>
            <a:p>
              <a:r>
                <a:rPr lang="en-US" altLang="zh-TW" sz="3400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5 baba      2  </a:t>
              </a:r>
              <a:r>
                <a:rPr lang="en-US" altLang="zh-TW" sz="3400" dirty="0">
                  <a:ln w="0"/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cs typeface="Courier New" panose="02070309020205020404" pitchFamily="49" charset="0"/>
                </a:rPr>
                <a:t>8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2104681" y="776001"/>
            <a:ext cx="557473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longest common prefix </a:t>
            </a:r>
            <a:endParaRPr lang="zh-TW" altLang="en-US" sz="44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3565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53658"/>
              </p:ext>
            </p:extLst>
          </p:nvPr>
        </p:nvGraphicFramePr>
        <p:xfrm>
          <a:off x="1170430" y="1929386"/>
          <a:ext cx="6577592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</a:tblGrid>
              <a:tr h="410159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2329" y="1283055"/>
            <a:ext cx="221169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suffix array</a:t>
            </a:r>
            <a:endParaRPr lang="zh-TW" altLang="en-US" sz="36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59360" y="566467"/>
            <a:ext cx="44351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longest common prefix</a:t>
            </a:r>
            <a:endParaRPr lang="zh-TW" altLang="en-US" sz="3600" b="0" cap="none" spc="0" dirty="0">
              <a:ln w="0"/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1" name="直線單箭頭接點 10"/>
          <p:cNvCxnSpPr>
            <a:stCxn id="12" idx="1"/>
          </p:cNvCxnSpPr>
          <p:nvPr/>
        </p:nvCxnSpPr>
        <p:spPr>
          <a:xfrm flipH="1">
            <a:off x="7906253" y="2636520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254328" y="2405687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4" name="直線單箭頭接點 13"/>
          <p:cNvCxnSpPr>
            <a:stCxn id="15" idx="1"/>
          </p:cNvCxnSpPr>
          <p:nvPr/>
        </p:nvCxnSpPr>
        <p:spPr>
          <a:xfrm flipH="1">
            <a:off x="7906253" y="3098184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254328" y="2867351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6" name="直線單箭頭接點 15"/>
          <p:cNvCxnSpPr>
            <a:stCxn id="17" idx="1"/>
          </p:cNvCxnSpPr>
          <p:nvPr/>
        </p:nvCxnSpPr>
        <p:spPr>
          <a:xfrm flipH="1">
            <a:off x="7906253" y="3574487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254328" y="334365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8159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149978"/>
              </p:ext>
            </p:extLst>
          </p:nvPr>
        </p:nvGraphicFramePr>
        <p:xfrm>
          <a:off x="1170430" y="1929386"/>
          <a:ext cx="6577592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</a:tblGrid>
              <a:tr h="410159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2329" y="1283055"/>
            <a:ext cx="221169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suffix array</a:t>
            </a:r>
            <a:endParaRPr lang="zh-TW" altLang="en-US" sz="36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59360" y="566467"/>
            <a:ext cx="44351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longest common prefix</a:t>
            </a:r>
            <a:endParaRPr lang="zh-TW" altLang="en-US" sz="3600" b="0" cap="none" spc="0" dirty="0">
              <a:ln w="0"/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1" name="直線單箭頭接點 10"/>
          <p:cNvCxnSpPr>
            <a:stCxn id="12" idx="1"/>
          </p:cNvCxnSpPr>
          <p:nvPr/>
        </p:nvCxnSpPr>
        <p:spPr>
          <a:xfrm flipH="1">
            <a:off x="7906253" y="3998976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254328" y="3768143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4" name="直線單箭頭接點 13"/>
          <p:cNvCxnSpPr>
            <a:stCxn id="15" idx="1"/>
          </p:cNvCxnSpPr>
          <p:nvPr/>
        </p:nvCxnSpPr>
        <p:spPr>
          <a:xfrm flipH="1">
            <a:off x="7906253" y="4460640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254328" y="4229807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6" name="直線單箭頭接點 15"/>
          <p:cNvCxnSpPr>
            <a:stCxn id="17" idx="1"/>
          </p:cNvCxnSpPr>
          <p:nvPr/>
        </p:nvCxnSpPr>
        <p:spPr>
          <a:xfrm flipH="1">
            <a:off x="7906253" y="4936943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254328" y="470611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50980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473650"/>
              </p:ext>
            </p:extLst>
          </p:nvPr>
        </p:nvGraphicFramePr>
        <p:xfrm>
          <a:off x="1170430" y="1929386"/>
          <a:ext cx="6577592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</a:tblGrid>
              <a:tr h="410159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2329" y="1283055"/>
            <a:ext cx="221169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suffix array</a:t>
            </a:r>
            <a:endParaRPr lang="zh-TW" altLang="en-US" sz="36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59360" y="566467"/>
            <a:ext cx="44351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longest common prefix</a:t>
            </a:r>
            <a:endParaRPr lang="zh-TW" altLang="en-US" sz="3600" b="0" cap="none" spc="0" dirty="0">
              <a:ln w="0"/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1" name="直線單箭頭接點 10"/>
          <p:cNvCxnSpPr>
            <a:stCxn id="12" idx="1"/>
          </p:cNvCxnSpPr>
          <p:nvPr/>
        </p:nvCxnSpPr>
        <p:spPr>
          <a:xfrm flipH="1">
            <a:off x="7906253" y="3998976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254328" y="3768143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4" name="直線單箭頭接點 13"/>
          <p:cNvCxnSpPr>
            <a:stCxn id="15" idx="1"/>
          </p:cNvCxnSpPr>
          <p:nvPr/>
        </p:nvCxnSpPr>
        <p:spPr>
          <a:xfrm flipH="1">
            <a:off x="7906253" y="4460640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254328" y="4229807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6" name="直線單箭頭接點 15"/>
          <p:cNvCxnSpPr>
            <a:stCxn id="17" idx="1"/>
          </p:cNvCxnSpPr>
          <p:nvPr/>
        </p:nvCxnSpPr>
        <p:spPr>
          <a:xfrm flipH="1">
            <a:off x="7906253" y="4936943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254328" y="470611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6" name="圓形箭號 5"/>
          <p:cNvSpPr/>
          <p:nvPr/>
        </p:nvSpPr>
        <p:spPr>
          <a:xfrm rot="21340562" flipH="1">
            <a:off x="3174724" y="1130263"/>
            <a:ext cx="1646899" cy="1645238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51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圓形箭號 12"/>
          <p:cNvSpPr/>
          <p:nvPr/>
        </p:nvSpPr>
        <p:spPr>
          <a:xfrm flipH="1" flipV="1">
            <a:off x="3020328" y="734564"/>
            <a:ext cx="3023855" cy="3197355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67698"/>
              </p:ext>
            </p:extLst>
          </p:nvPr>
        </p:nvGraphicFramePr>
        <p:xfrm>
          <a:off x="1170430" y="1929386"/>
          <a:ext cx="6577592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</a:tblGrid>
              <a:tr h="410159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2329" y="1283055"/>
            <a:ext cx="221169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suffix array</a:t>
            </a:r>
            <a:endParaRPr lang="zh-TW" altLang="en-US" sz="36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59360" y="566467"/>
            <a:ext cx="44351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longest common prefix</a:t>
            </a:r>
            <a:endParaRPr lang="zh-TW" altLang="en-US" sz="3600" b="0" cap="none" spc="0" dirty="0">
              <a:ln w="0"/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1" name="直線單箭頭接點 10"/>
          <p:cNvCxnSpPr>
            <a:stCxn id="12" idx="1"/>
          </p:cNvCxnSpPr>
          <p:nvPr/>
        </p:nvCxnSpPr>
        <p:spPr>
          <a:xfrm flipH="1">
            <a:off x="7906253" y="3998976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254328" y="3768143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4" name="直線單箭頭接點 13"/>
          <p:cNvCxnSpPr>
            <a:stCxn id="15" idx="1"/>
          </p:cNvCxnSpPr>
          <p:nvPr/>
        </p:nvCxnSpPr>
        <p:spPr>
          <a:xfrm flipH="1">
            <a:off x="7906253" y="4460640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254328" y="4229807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6" name="直線單箭頭接點 15"/>
          <p:cNvCxnSpPr>
            <a:stCxn id="17" idx="1"/>
          </p:cNvCxnSpPr>
          <p:nvPr/>
        </p:nvCxnSpPr>
        <p:spPr>
          <a:xfrm flipH="1">
            <a:off x="7906253" y="4936943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254328" y="470611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8" name="圓形箭號 17"/>
          <p:cNvSpPr/>
          <p:nvPr/>
        </p:nvSpPr>
        <p:spPr>
          <a:xfrm rot="21340562" flipH="1">
            <a:off x="3174724" y="1130263"/>
            <a:ext cx="1646899" cy="1645238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38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圓形箭號 18"/>
          <p:cNvSpPr/>
          <p:nvPr/>
        </p:nvSpPr>
        <p:spPr>
          <a:xfrm flipH="1" flipV="1">
            <a:off x="3020328" y="734564"/>
            <a:ext cx="3023855" cy="3197355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177570"/>
              </p:ext>
            </p:extLst>
          </p:nvPr>
        </p:nvGraphicFramePr>
        <p:xfrm>
          <a:off x="1170430" y="1929386"/>
          <a:ext cx="6577592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</a:tblGrid>
              <a:tr h="410159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2329" y="1283055"/>
            <a:ext cx="221169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suffix array</a:t>
            </a:r>
            <a:endParaRPr lang="zh-TW" altLang="en-US" sz="36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59360" y="566467"/>
            <a:ext cx="44351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longest common prefix</a:t>
            </a:r>
            <a:endParaRPr lang="zh-TW" altLang="en-US" sz="3600" b="0" cap="none" spc="0" dirty="0">
              <a:ln w="0"/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1" name="直線單箭頭接點 10"/>
          <p:cNvCxnSpPr>
            <a:stCxn id="12" idx="1"/>
          </p:cNvCxnSpPr>
          <p:nvPr/>
        </p:nvCxnSpPr>
        <p:spPr>
          <a:xfrm flipH="1">
            <a:off x="7906253" y="3529992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254328" y="329915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4" name="直線單箭頭接點 13"/>
          <p:cNvCxnSpPr>
            <a:stCxn id="15" idx="1"/>
          </p:cNvCxnSpPr>
          <p:nvPr/>
        </p:nvCxnSpPr>
        <p:spPr>
          <a:xfrm flipH="1">
            <a:off x="7906253" y="4460640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254328" y="4229807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6" name="直線單箭頭接點 15"/>
          <p:cNvCxnSpPr>
            <a:stCxn id="17" idx="1"/>
          </p:cNvCxnSpPr>
          <p:nvPr/>
        </p:nvCxnSpPr>
        <p:spPr>
          <a:xfrm flipH="1">
            <a:off x="7906253" y="4936943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254328" y="470611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8" name="圓形箭號 17"/>
          <p:cNvSpPr/>
          <p:nvPr/>
        </p:nvSpPr>
        <p:spPr>
          <a:xfrm rot="21340562" flipH="1">
            <a:off x="3174724" y="1130263"/>
            <a:ext cx="1646899" cy="1645238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869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圓形箭號 18"/>
          <p:cNvSpPr/>
          <p:nvPr/>
        </p:nvSpPr>
        <p:spPr>
          <a:xfrm flipH="1" flipV="1">
            <a:off x="3020328" y="734564"/>
            <a:ext cx="3023855" cy="3197355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813818"/>
              </p:ext>
            </p:extLst>
          </p:nvPr>
        </p:nvGraphicFramePr>
        <p:xfrm>
          <a:off x="1170430" y="1929386"/>
          <a:ext cx="6577592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</a:tblGrid>
              <a:tr h="410159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strike="sngStrike" dirty="0" smtClean="0"/>
                        <a:t>6</a:t>
                      </a:r>
                      <a:endParaRPr lang="zh-TW" altLang="en-US" sz="2400" strike="sngStrike" dirty="0"/>
                    </a:p>
                  </a:txBody>
                  <a:tcPr anchor="ctr">
                    <a:lnR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2329" y="1283055"/>
            <a:ext cx="221169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suffix array</a:t>
            </a:r>
            <a:endParaRPr lang="zh-TW" altLang="en-US" sz="36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59360" y="566467"/>
            <a:ext cx="44351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longest common prefix</a:t>
            </a:r>
            <a:endParaRPr lang="zh-TW" altLang="en-US" sz="3600" b="0" cap="none" spc="0" dirty="0">
              <a:ln w="0"/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1" name="直線單箭頭接點 10"/>
          <p:cNvCxnSpPr>
            <a:stCxn id="12" idx="1"/>
          </p:cNvCxnSpPr>
          <p:nvPr/>
        </p:nvCxnSpPr>
        <p:spPr>
          <a:xfrm flipH="1">
            <a:off x="7906253" y="3529992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254328" y="329915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4" name="直線單箭頭接點 13"/>
          <p:cNvCxnSpPr>
            <a:stCxn id="15" idx="1"/>
          </p:cNvCxnSpPr>
          <p:nvPr/>
        </p:nvCxnSpPr>
        <p:spPr>
          <a:xfrm flipH="1">
            <a:off x="7906253" y="4460640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254328" y="4229807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6" name="直線單箭頭接點 15"/>
          <p:cNvCxnSpPr>
            <a:stCxn id="17" idx="1"/>
          </p:cNvCxnSpPr>
          <p:nvPr/>
        </p:nvCxnSpPr>
        <p:spPr>
          <a:xfrm flipH="1">
            <a:off x="7906253" y="4936943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254328" y="470611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8" name="圓形箭號 17"/>
          <p:cNvSpPr/>
          <p:nvPr/>
        </p:nvSpPr>
        <p:spPr>
          <a:xfrm rot="21340562" flipH="1">
            <a:off x="3174724" y="1130263"/>
            <a:ext cx="1646899" cy="1645238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019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圓形箭號 18"/>
          <p:cNvSpPr/>
          <p:nvPr/>
        </p:nvSpPr>
        <p:spPr>
          <a:xfrm flipH="1" flipV="1">
            <a:off x="3020328" y="734564"/>
            <a:ext cx="3023855" cy="3197355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337321"/>
              </p:ext>
            </p:extLst>
          </p:nvPr>
        </p:nvGraphicFramePr>
        <p:xfrm>
          <a:off x="1170430" y="1929386"/>
          <a:ext cx="6577592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</a:tblGrid>
              <a:tr h="410159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strike="sngStrike" dirty="0" smtClean="0"/>
                        <a:t>6</a:t>
                      </a:r>
                      <a:endParaRPr lang="zh-TW" altLang="en-US" sz="2400" strike="sngStrike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2329" y="1283055"/>
            <a:ext cx="221169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suffix array</a:t>
            </a:r>
            <a:endParaRPr lang="zh-TW" altLang="en-US" sz="36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59360" y="566467"/>
            <a:ext cx="44351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longest common prefix</a:t>
            </a:r>
            <a:endParaRPr lang="zh-TW" altLang="en-US" sz="3600" b="0" cap="none" spc="0" dirty="0">
              <a:ln w="0"/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1" name="直線單箭頭接點 10"/>
          <p:cNvCxnSpPr>
            <a:stCxn id="12" idx="1"/>
          </p:cNvCxnSpPr>
          <p:nvPr/>
        </p:nvCxnSpPr>
        <p:spPr>
          <a:xfrm flipH="1">
            <a:off x="7906253" y="3074871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254328" y="2844038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4" name="直線單箭頭接點 13"/>
          <p:cNvCxnSpPr>
            <a:stCxn id="15" idx="1"/>
          </p:cNvCxnSpPr>
          <p:nvPr/>
        </p:nvCxnSpPr>
        <p:spPr>
          <a:xfrm flipH="1">
            <a:off x="7906253" y="3544242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254328" y="331340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6" name="直線單箭頭接點 15"/>
          <p:cNvCxnSpPr>
            <a:stCxn id="17" idx="1"/>
          </p:cNvCxnSpPr>
          <p:nvPr/>
        </p:nvCxnSpPr>
        <p:spPr>
          <a:xfrm flipH="1">
            <a:off x="7906253" y="4936943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254328" y="470611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8" name="圓形箭號 17"/>
          <p:cNvSpPr/>
          <p:nvPr/>
        </p:nvSpPr>
        <p:spPr>
          <a:xfrm rot="21340562" flipH="1">
            <a:off x="3174724" y="1130263"/>
            <a:ext cx="1646899" cy="1645238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圓形箭號 20"/>
          <p:cNvSpPr/>
          <p:nvPr/>
        </p:nvSpPr>
        <p:spPr>
          <a:xfrm rot="21331094" flipH="1" flipV="1">
            <a:off x="3238377" y="1770025"/>
            <a:ext cx="1200156" cy="1122620"/>
          </a:xfrm>
          <a:prstGeom prst="circular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480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圓形箭號 18"/>
          <p:cNvSpPr/>
          <p:nvPr/>
        </p:nvSpPr>
        <p:spPr>
          <a:xfrm flipH="1" flipV="1">
            <a:off x="3020328" y="734564"/>
            <a:ext cx="3023855" cy="3197355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408051"/>
              </p:ext>
            </p:extLst>
          </p:nvPr>
        </p:nvGraphicFramePr>
        <p:xfrm>
          <a:off x="1170430" y="1929386"/>
          <a:ext cx="6577592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</a:tblGrid>
              <a:tr h="410159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T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strike="sngStrike" dirty="0" smtClean="0"/>
                        <a:t>6</a:t>
                      </a:r>
                      <a:endParaRPr lang="zh-TW" altLang="en-US" sz="2400" strike="sngStrike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2329" y="1283055"/>
            <a:ext cx="221169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suffix array</a:t>
            </a:r>
            <a:endParaRPr lang="zh-TW" altLang="en-US" sz="36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59360" y="566467"/>
            <a:ext cx="44351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longest common prefix</a:t>
            </a:r>
            <a:endParaRPr lang="zh-TW" altLang="en-US" sz="3600" b="0" cap="none" spc="0" dirty="0">
              <a:ln w="0"/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1" name="直線單箭頭接點 10"/>
          <p:cNvCxnSpPr>
            <a:stCxn id="12" idx="1"/>
          </p:cNvCxnSpPr>
          <p:nvPr/>
        </p:nvCxnSpPr>
        <p:spPr>
          <a:xfrm flipH="1">
            <a:off x="7911709" y="2604413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8259784" y="237358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4" name="直線單箭頭接點 13"/>
          <p:cNvCxnSpPr>
            <a:stCxn id="15" idx="1"/>
          </p:cNvCxnSpPr>
          <p:nvPr/>
        </p:nvCxnSpPr>
        <p:spPr>
          <a:xfrm flipH="1">
            <a:off x="7906251" y="3083663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254326" y="285283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16" name="直線單箭頭接點 15"/>
          <p:cNvCxnSpPr>
            <a:stCxn id="17" idx="1"/>
          </p:cNvCxnSpPr>
          <p:nvPr/>
        </p:nvCxnSpPr>
        <p:spPr>
          <a:xfrm flipH="1">
            <a:off x="7906253" y="4936943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254328" y="470611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8" name="圓形箭號 17"/>
          <p:cNvSpPr/>
          <p:nvPr/>
        </p:nvSpPr>
        <p:spPr>
          <a:xfrm rot="21340562" flipH="1">
            <a:off x="3174724" y="1130263"/>
            <a:ext cx="1646899" cy="1645238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0" name="圓形箭號 19"/>
          <p:cNvSpPr/>
          <p:nvPr/>
        </p:nvSpPr>
        <p:spPr>
          <a:xfrm rot="21331094" flipH="1" flipV="1">
            <a:off x="3238377" y="1770025"/>
            <a:ext cx="1200156" cy="1122620"/>
          </a:xfrm>
          <a:prstGeom prst="circular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17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805164"/>
              </p:ext>
            </p:extLst>
          </p:nvPr>
        </p:nvGraphicFramePr>
        <p:xfrm>
          <a:off x="1170430" y="1929386"/>
          <a:ext cx="6577592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</a:tblGrid>
              <a:tr h="410159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T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strike="sngStrike" dirty="0" smtClean="0"/>
                        <a:t>6</a:t>
                      </a:r>
                      <a:endParaRPr lang="zh-TW" altLang="en-US" sz="2400" strike="sngStrike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2329" y="1283055"/>
            <a:ext cx="221169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suffix array</a:t>
            </a:r>
            <a:endParaRPr lang="zh-TW" altLang="en-US" sz="36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59360" y="566467"/>
            <a:ext cx="44351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longest common prefix</a:t>
            </a:r>
            <a:endParaRPr lang="zh-TW" altLang="en-US" sz="3600" b="0" cap="none" spc="0" dirty="0">
              <a:ln w="0"/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21" name="直線單箭頭接點 20"/>
          <p:cNvCxnSpPr>
            <a:stCxn id="22" idx="1"/>
          </p:cNvCxnSpPr>
          <p:nvPr/>
        </p:nvCxnSpPr>
        <p:spPr>
          <a:xfrm flipH="1">
            <a:off x="7906253" y="4922520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8254328" y="4691687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23" name="直線單箭頭接點 22"/>
          <p:cNvCxnSpPr>
            <a:stCxn id="24" idx="1"/>
          </p:cNvCxnSpPr>
          <p:nvPr/>
        </p:nvCxnSpPr>
        <p:spPr>
          <a:xfrm flipH="1">
            <a:off x="7906253" y="5384184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254328" y="5153351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25" name="直線單箭頭接點 24"/>
          <p:cNvCxnSpPr>
            <a:stCxn id="26" idx="1"/>
          </p:cNvCxnSpPr>
          <p:nvPr/>
        </p:nvCxnSpPr>
        <p:spPr>
          <a:xfrm flipH="1">
            <a:off x="7906253" y="5860487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8254328" y="562965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02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607571"/>
              </p:ext>
            </p:extLst>
          </p:nvPr>
        </p:nvGraphicFramePr>
        <p:xfrm>
          <a:off x="1170430" y="1929386"/>
          <a:ext cx="6577592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</a:tblGrid>
              <a:tr h="410159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T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strike="sngStrike" dirty="0" smtClean="0"/>
                        <a:t>6</a:t>
                      </a:r>
                      <a:endParaRPr lang="zh-TW" altLang="en-US" sz="2400" strike="sngStrike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2329" y="1283055"/>
            <a:ext cx="221169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suffix array</a:t>
            </a:r>
            <a:endParaRPr lang="zh-TW" altLang="en-US" sz="36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59360" y="566467"/>
            <a:ext cx="44351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longest common prefix</a:t>
            </a:r>
            <a:endParaRPr lang="zh-TW" altLang="en-US" sz="3600" b="0" cap="none" spc="0" dirty="0">
              <a:ln w="0"/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21" name="直線單箭頭接點 20"/>
          <p:cNvCxnSpPr>
            <a:stCxn id="22" idx="1"/>
          </p:cNvCxnSpPr>
          <p:nvPr/>
        </p:nvCxnSpPr>
        <p:spPr>
          <a:xfrm flipH="1">
            <a:off x="7906253" y="5398008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8254328" y="5167175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23" name="直線單箭頭接點 22"/>
          <p:cNvCxnSpPr>
            <a:stCxn id="24" idx="1"/>
          </p:cNvCxnSpPr>
          <p:nvPr/>
        </p:nvCxnSpPr>
        <p:spPr>
          <a:xfrm flipH="1">
            <a:off x="7906253" y="5859672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254328" y="562883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25" name="直線單箭頭接點 24"/>
          <p:cNvCxnSpPr>
            <a:stCxn id="26" idx="1"/>
          </p:cNvCxnSpPr>
          <p:nvPr/>
        </p:nvCxnSpPr>
        <p:spPr>
          <a:xfrm flipH="1">
            <a:off x="7906253" y="6335975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8254328" y="6105142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1" name="圓形箭號 10"/>
          <p:cNvSpPr/>
          <p:nvPr/>
        </p:nvSpPr>
        <p:spPr>
          <a:xfrm rot="21340562" flipH="1">
            <a:off x="3635189" y="1130264"/>
            <a:ext cx="1646899" cy="1645238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72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圓形箭號 11"/>
          <p:cNvSpPr/>
          <p:nvPr/>
        </p:nvSpPr>
        <p:spPr>
          <a:xfrm flipH="1" flipV="1">
            <a:off x="3438143" y="626094"/>
            <a:ext cx="3025037" cy="3580146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011270"/>
              </p:ext>
            </p:extLst>
          </p:nvPr>
        </p:nvGraphicFramePr>
        <p:xfrm>
          <a:off x="1170430" y="1929386"/>
          <a:ext cx="6577592" cy="457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  <a:gridCol w="469828"/>
              </a:tblGrid>
              <a:tr h="410159"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T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strike="sngStrike" dirty="0" smtClean="0"/>
                        <a:t>6</a:t>
                      </a:r>
                      <a:endParaRPr lang="zh-TW" altLang="en-US" sz="2400" strike="sngStrike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strike="sngStrike" dirty="0" smtClean="0"/>
                        <a:t>7</a:t>
                      </a:r>
                      <a:endParaRPr lang="zh-TW" altLang="en-US" sz="2400" strike="sngStrike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8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b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a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0159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400" dirty="0" smtClean="0"/>
                        <a:t>-1</a:t>
                      </a:r>
                      <a:endParaRPr lang="zh-TW" altLang="en-US" sz="2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02329" y="1283055"/>
            <a:ext cx="221169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suffix array</a:t>
            </a:r>
            <a:endParaRPr lang="zh-TW" altLang="en-US" sz="3600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59360" y="566467"/>
            <a:ext cx="44351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longest common prefix</a:t>
            </a:r>
            <a:endParaRPr lang="zh-TW" altLang="en-US" sz="3600" b="0" cap="none" spc="0" dirty="0">
              <a:ln w="0"/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21" name="直線單箭頭接點 20"/>
          <p:cNvCxnSpPr>
            <a:stCxn id="22" idx="1"/>
          </p:cNvCxnSpPr>
          <p:nvPr/>
        </p:nvCxnSpPr>
        <p:spPr>
          <a:xfrm flipH="1">
            <a:off x="7906253" y="4922520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8254328" y="4691687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23" name="直線單箭頭接點 22"/>
          <p:cNvCxnSpPr>
            <a:stCxn id="24" idx="1"/>
          </p:cNvCxnSpPr>
          <p:nvPr/>
        </p:nvCxnSpPr>
        <p:spPr>
          <a:xfrm flipH="1">
            <a:off x="7906253" y="5384184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254328" y="5153351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cxnSp>
        <p:nvCxnSpPr>
          <p:cNvPr id="25" name="直線單箭頭接點 24"/>
          <p:cNvCxnSpPr>
            <a:stCxn id="26" idx="1"/>
          </p:cNvCxnSpPr>
          <p:nvPr/>
        </p:nvCxnSpPr>
        <p:spPr>
          <a:xfrm flipH="1">
            <a:off x="7906253" y="6335975"/>
            <a:ext cx="348075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8254328" y="6105142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endParaRPr lang="zh-TW" altLang="en-US" sz="2400" b="0" cap="none" spc="0" dirty="0">
              <a:ln w="0"/>
              <a:solidFill>
                <a:schemeClr val="accent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1" name="圓形箭號 10"/>
          <p:cNvSpPr/>
          <p:nvPr/>
        </p:nvSpPr>
        <p:spPr>
          <a:xfrm rot="21340562" flipH="1">
            <a:off x="3635189" y="1130264"/>
            <a:ext cx="1646899" cy="1645238"/>
          </a:xfrm>
          <a:prstGeom prst="circular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03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756464"/>
              </p:ext>
            </p:extLst>
          </p:nvPr>
        </p:nvGraphicFramePr>
        <p:xfrm>
          <a:off x="4111753" y="2521712"/>
          <a:ext cx="4245528" cy="2223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</a:tblGrid>
              <a:tr h="37050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50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7050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50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50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</a:tr>
              <a:tr h="37050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09344" y="2519680"/>
          <a:ext cx="2502408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2408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position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length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suffix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longest common prefix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750559" y="4036832"/>
            <a:ext cx="56457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cs typeface="Consolas" panose="020B0609020204030204" pitchFamily="49" charset="0"/>
              </a:rPr>
              <a:t>in</a:t>
            </a:r>
            <a:endParaRPr lang="zh-TW" altLang="en-US" sz="40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+mj-lt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9456" y="3278257"/>
            <a:ext cx="88678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cs typeface="Consolas" panose="020B0609020204030204" pitchFamily="49" charset="0"/>
              </a:rPr>
              <a:t>out</a:t>
            </a:r>
            <a:endParaRPr lang="zh-TW" altLang="en-US" sz="400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+mj-lt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79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804</TotalTime>
  <Words>1475</Words>
  <Application>Microsoft Office PowerPoint</Application>
  <PresentationFormat>如螢幕大小 (4:3)</PresentationFormat>
  <Paragraphs>1127</Paragraphs>
  <Slides>21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2" baseType="lpstr">
      <vt:lpstr>微軟正黑體</vt:lpstr>
      <vt:lpstr>新細明體</vt:lpstr>
      <vt:lpstr>Arial</vt:lpstr>
      <vt:lpstr>Calibri</vt:lpstr>
      <vt:lpstr>Calibri Light</vt:lpstr>
      <vt:lpstr>Consolas</vt:lpstr>
      <vt:lpstr>Courier New</vt:lpstr>
      <vt:lpstr>Ebrima</vt:lpstr>
      <vt:lpstr>Georgia</vt:lpstr>
      <vt:lpstr>Times New Roman</vt:lpstr>
      <vt:lpstr>1_Office 佈景主題</vt:lpstr>
      <vt:lpstr>Fast and Practical Algorithms for Computing All the Runs in a String</vt:lpstr>
      <vt:lpstr>Abstract (1/3)</vt:lpstr>
      <vt:lpstr>Abstract (2/3)</vt:lpstr>
      <vt:lpstr>Abstract (3/3)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M033040055</dc:creator>
  <cp:lastModifiedBy>pplab-class</cp:lastModifiedBy>
  <cp:revision>357</cp:revision>
  <cp:lastPrinted>2015-10-07T10:30:40Z</cp:lastPrinted>
  <dcterms:created xsi:type="dcterms:W3CDTF">2015-09-15T02:34:25Z</dcterms:created>
  <dcterms:modified xsi:type="dcterms:W3CDTF">2016-02-01T09:29:15Z</dcterms:modified>
</cp:coreProperties>
</file>