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8" r:id="rId9"/>
    <p:sldId id="271" r:id="rId10"/>
    <p:sldId id="264" r:id="rId11"/>
    <p:sldId id="265" r:id="rId12"/>
    <p:sldId id="269" r:id="rId13"/>
    <p:sldId id="270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000" autoAdjust="0"/>
  </p:normalViewPr>
  <p:slideViewPr>
    <p:cSldViewPr>
      <p:cViewPr varScale="1">
        <p:scale>
          <a:sx n="86" d="100"/>
          <a:sy n="86" d="100"/>
        </p:scale>
        <p:origin x="15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AF035-4B71-4F3E-B5F6-53EF9A387F41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8975E-2CC2-47B2-9E8E-87AF8F8701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38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</a:t>
            </a:r>
            <a:r>
              <a:rPr lang="en-US" altLang="zh-TW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Transactions on Pattern Analysis and Machine Intelligence(TPAMI)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published monthly. Its editorial board strives to present most important research results in areas within TPAMI's scope.</a:t>
            </a:r>
            <a:endParaRPr lang="zh-TW" altLang="en-US" b="0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8975E-2CC2-47B2-9E8E-87AF8F8701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839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On</a:t>
            </a:r>
            <a:r>
              <a:rPr lang="en-US" altLang="zh-TW" baseline="0" dirty="0" smtClean="0"/>
              <a:t> the other hand, the fully-connected layers need to </a:t>
            </a:r>
            <a:r>
              <a:rPr lang="en-US" altLang="zh-TW" baseline="0" dirty="0" smtClean="0"/>
              <a:t>have </a:t>
            </a:r>
            <a:r>
              <a:rPr lang="en-US" altLang="zh-TW" baseline="0" dirty="0" smtClean="0"/>
              <a:t>fixed-size/length input by their definition</a:t>
            </a:r>
            <a:r>
              <a:rPr lang="en-US" altLang="zh-TW" baseline="0" dirty="0" smtClean="0"/>
              <a:t>.</a:t>
            </a:r>
          </a:p>
          <a:p>
            <a:endParaRPr lang="en-US" altLang="zh-TW" baseline="0" dirty="0" smtClean="0"/>
          </a:p>
          <a:p>
            <a:r>
              <a:rPr lang="en-US" altLang="zh-TW" dirty="0" smtClean="0"/>
              <a:t>Cropping:</a:t>
            </a:r>
          </a:p>
          <a:p>
            <a:r>
              <a:rPr lang="en-US" altLang="zh-TW" dirty="0" smtClean="0"/>
              <a:t>May</a:t>
            </a:r>
            <a:r>
              <a:rPr lang="en-US" altLang="zh-TW" baseline="0" dirty="0" smtClean="0"/>
              <a:t> not contain the entire object.</a:t>
            </a:r>
          </a:p>
          <a:p>
            <a:r>
              <a:rPr lang="en-US" altLang="zh-TW" baseline="0" dirty="0" smtClean="0"/>
              <a:t>Warping:</a:t>
            </a:r>
          </a:p>
          <a:p>
            <a:r>
              <a:rPr lang="en-US" altLang="zh-TW" dirty="0" smtClean="0"/>
              <a:t>Result</a:t>
            </a:r>
            <a:r>
              <a:rPr lang="en-US" altLang="zh-TW" baseline="0" dirty="0" smtClean="0"/>
              <a:t> in unwanted geometric distortion.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8975E-2CC2-47B2-9E8E-87AF8F8701C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527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#55</a:t>
            </a:r>
            <a:r>
              <a:rPr lang="en-US" altLang="zh-TW" baseline="0" dirty="0" smtClean="0"/>
              <a:t> is most activated by a circle shape</a:t>
            </a:r>
          </a:p>
          <a:p>
            <a:r>
              <a:rPr lang="en-US" altLang="zh-TW" baseline="0" dirty="0" smtClean="0"/>
              <a:t>#175 is most activated by a </a:t>
            </a:r>
            <a:r>
              <a:rPr lang="zh-TW" altLang="en-US" baseline="0" dirty="0" smtClean="0"/>
              <a:t>┐</a:t>
            </a:r>
            <a:r>
              <a:rPr lang="en-US" altLang="zh-TW" baseline="0" dirty="0" smtClean="0"/>
              <a:t>-shape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8975E-2CC2-47B2-9E8E-87AF8F8701C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7713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SPP</a:t>
            </a:r>
            <a:r>
              <a:rPr lang="en-US" altLang="zh-TW" baseline="0" dirty="0" smtClean="0"/>
              <a:t> improves </a:t>
            </a:r>
            <a:r>
              <a:rPr lang="en-US" altLang="zh-TW" baseline="0" dirty="0" err="1" smtClean="0"/>
              <a:t>BoW</a:t>
            </a:r>
            <a:r>
              <a:rPr lang="en-US" altLang="zh-TW" baseline="0" dirty="0" smtClean="0"/>
              <a:t> in that it can maintain spatial information by pooling in local spatial bins.</a:t>
            </a:r>
          </a:p>
          <a:p>
            <a:endParaRPr lang="en-US" altLang="zh-TW" baseline="0" dirty="0" smtClean="0"/>
          </a:p>
          <a:p>
            <a:r>
              <a:rPr lang="en-US" altLang="zh-TW" baseline="0" dirty="0" smtClean="0"/>
              <a:t>Global pooling:</a:t>
            </a:r>
          </a:p>
          <a:p>
            <a:r>
              <a:rPr lang="en-US" altLang="zh-TW" dirty="0" smtClean="0"/>
              <a:t>	single</a:t>
            </a:r>
            <a:r>
              <a:rPr lang="en-US" altLang="zh-TW" baseline="0" dirty="0" smtClean="0"/>
              <a:t> bin that covers the entire image. </a:t>
            </a:r>
          </a:p>
          <a:p>
            <a:r>
              <a:rPr lang="en-US" altLang="zh-TW" baseline="0" dirty="0" smtClean="0"/>
              <a:t>	It is used to reduce the model size and also reduce overfitting.</a:t>
            </a:r>
          </a:p>
          <a:p>
            <a:r>
              <a:rPr lang="en-US" altLang="zh-TW" baseline="0" dirty="0" smtClean="0"/>
              <a:t>	It corresponds to the traditional </a:t>
            </a:r>
            <a:r>
              <a:rPr lang="en-US" altLang="zh-TW" baseline="0" dirty="0" err="1" smtClean="0"/>
              <a:t>BoW</a:t>
            </a:r>
            <a:r>
              <a:rPr lang="en-US" altLang="zh-TW" baseline="0" dirty="0" smtClean="0"/>
              <a:t> method.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8975E-2CC2-47B2-9E8E-87AF8F8701C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240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R-CNN</a:t>
            </a:r>
            <a:r>
              <a:rPr lang="en-US" altLang="zh-TW" baseline="0" dirty="0" smtClean="0"/>
              <a:t> is time-consuming, because it repeatedly applies the deep convolutional networks to the raw pixels of thousands of warped regions per image.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8975E-2CC2-47B2-9E8E-87AF8F8701C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862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34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76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1374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48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81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41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21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08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71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698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9F992-01EC-4C52-B90A-9399A5604AAE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88EDC-5433-474E-9F72-FC5D57A13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92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590823"/>
            <a:ext cx="9144000" cy="1470025"/>
          </a:xfrm>
        </p:spPr>
        <p:txBody>
          <a:bodyPr>
            <a:noAutofit/>
          </a:bodyPr>
          <a:lstStyle/>
          <a:p>
            <a:r>
              <a:rPr lang="en-US" altLang="zh-TW" sz="3600" dirty="0" smtClean="0"/>
              <a:t>Spatial Pyramid Pooling in Deep Convolutional Networks for Visual Recognition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468488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err="1" smtClean="0"/>
              <a:t>Kaiming</a:t>
            </a:r>
            <a:r>
              <a:rPr lang="en-US" altLang="zh-TW" dirty="0" smtClean="0"/>
              <a:t> He, </a:t>
            </a:r>
            <a:r>
              <a:rPr lang="en-US" altLang="zh-TW" dirty="0" err="1" smtClean="0"/>
              <a:t>Xiangyu</a:t>
            </a:r>
            <a:r>
              <a:rPr lang="en-US" altLang="zh-TW" dirty="0" smtClean="0"/>
              <a:t> Zhang, </a:t>
            </a:r>
            <a:r>
              <a:rPr lang="en-US" altLang="zh-TW" dirty="0" err="1" smtClean="0"/>
              <a:t>Shaoqing</a:t>
            </a:r>
            <a:r>
              <a:rPr lang="en-US" altLang="zh-TW" dirty="0" smtClean="0"/>
              <a:t> Ren, and Jian Sun, IEEE Transactions on Pattern Analysis and Machine Intelligence (volume: 37), 2015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848222" y="4941168"/>
            <a:ext cx="34681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Presenter: Wei-</a:t>
            </a:r>
            <a:r>
              <a:rPr lang="en-US" altLang="zh-TW" sz="2800" dirty="0" err="1" smtClean="0"/>
              <a:t>Hao</a:t>
            </a:r>
            <a:r>
              <a:rPr lang="en-US" altLang="zh-TW" sz="2800" dirty="0" smtClean="0"/>
              <a:t> Fu</a:t>
            </a:r>
          </a:p>
          <a:p>
            <a:r>
              <a:rPr lang="en-US" altLang="zh-TW" sz="2800" dirty="0" smtClean="0"/>
              <a:t>Date: 2016/06/14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9896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/>
              <a:t>	</a:t>
            </a:r>
            <a:r>
              <a:rPr lang="en-US" altLang="zh-TW" sz="2400" dirty="0" smtClean="0"/>
              <a:t>Existing </a:t>
            </a:r>
            <a:r>
              <a:rPr lang="en-US" altLang="zh-TW" sz="2400" dirty="0"/>
              <a:t>deep convolutional neural networks (CNNs) require a fixed-size (e.g., </a:t>
            </a:r>
            <a:r>
              <a:rPr lang="en-US" altLang="zh-TW" sz="2400" dirty="0" smtClean="0"/>
              <a:t>224*224</a:t>
            </a:r>
            <a:r>
              <a:rPr lang="en-US" altLang="zh-TW" sz="2400" dirty="0"/>
              <a:t>) input image. This </a:t>
            </a:r>
            <a:r>
              <a:rPr lang="en-US" altLang="zh-TW" sz="2400" dirty="0" smtClean="0"/>
              <a:t>requirement is </a:t>
            </a:r>
            <a:r>
              <a:rPr lang="en-US" altLang="zh-TW" sz="2400" dirty="0"/>
              <a:t>“artificial” and may reduce the recognition accuracy for the images or sub-images of an arbitrary size/scale. In </a:t>
            </a:r>
            <a:r>
              <a:rPr lang="en-US" altLang="zh-TW" sz="2400" dirty="0" smtClean="0"/>
              <a:t>this work</a:t>
            </a:r>
            <a:r>
              <a:rPr lang="en-US" altLang="zh-TW" sz="2400" dirty="0"/>
              <a:t>, we equip the networks with another pooling strategy, “spatial pyramid pooling”, to eliminate the above requirement. </a:t>
            </a:r>
            <a:r>
              <a:rPr lang="en-US" altLang="zh-TW" sz="2400" dirty="0" smtClean="0"/>
              <a:t>The new </a:t>
            </a:r>
            <a:r>
              <a:rPr lang="en-US" altLang="zh-TW" sz="2400" dirty="0"/>
              <a:t>network structure, called SPP-net, can generate a fixed-length representation regardless of image size/scale. </a:t>
            </a:r>
            <a:r>
              <a:rPr lang="en-US" altLang="zh-TW" sz="2400" dirty="0" smtClean="0"/>
              <a:t>Pyramid pooling </a:t>
            </a:r>
            <a:r>
              <a:rPr lang="en-US" altLang="zh-TW" sz="2400" dirty="0"/>
              <a:t>is also robust to object deformations. With these advantages, SPP-net should in general improve all CNN-based </a:t>
            </a:r>
            <a:r>
              <a:rPr lang="en-US" altLang="zh-TW" sz="2400" dirty="0" smtClean="0"/>
              <a:t>image classification </a:t>
            </a:r>
            <a:r>
              <a:rPr lang="en-US" altLang="zh-TW" sz="2400" dirty="0"/>
              <a:t>methods.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7158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 smtClean="0"/>
              <a:t>	On </a:t>
            </a:r>
            <a:r>
              <a:rPr lang="en-US" altLang="zh-TW" sz="2400" dirty="0"/>
              <a:t>the ImageNet 2012 dataset, we demonstrate that SPP-net boosts the accuracy of a variety of CNN architectures despite their different designs. On the Pascal VOC 2007 and Caltech101 datasets, SPP-net achieves </a:t>
            </a:r>
            <a:r>
              <a:rPr lang="en-US" altLang="zh-TW" sz="2400" dirty="0" smtClean="0"/>
              <a:t>state-of-the-art </a:t>
            </a:r>
            <a:r>
              <a:rPr lang="en-US" altLang="zh-TW" sz="2400" dirty="0"/>
              <a:t>classification results using a single full-image representation and no fine-tuning. The power of SPP-net is also significant in object detection. Using SPP-net, we compute the feature maps from the entire image only once, and then pool features in arbitrary regions (sub-images) to generate fixed-length representations for training the detectors.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6721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/>
              <a:t>	This </a:t>
            </a:r>
            <a:r>
              <a:rPr lang="en-US" altLang="zh-TW" sz="2400" dirty="0"/>
              <a:t>method avoids repeatedly computing the convolutional features. In processing test images, our method is 24-102 faster than the R-CNN method, while achieving better or comparable accuracy on Pascal VOC 2007. In ImageNet Large Scale Visual Recognition Challenge (ILSVRC) 2014, our methods rank #2 in object detection and #3 in image classification among all 38 teams. This manuscript also introduces the improvement made for this competition.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4603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Motivation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prevalent CNNs require a fixed input image size(e.g., 224*224), and this requirement may reduce the recognition accuracy.</a:t>
            </a:r>
          </a:p>
          <a:p>
            <a:endParaRPr lang="en-US" altLang="zh-TW" dirty="0"/>
          </a:p>
          <a:p>
            <a:r>
              <a:rPr lang="en-US" altLang="zh-TW" dirty="0" smtClean="0"/>
              <a:t>In fact, convolutional layers don’t require a fixed image size.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2195736" y="1566664"/>
            <a:ext cx="4968552" cy="5077966"/>
            <a:chOff x="2195736" y="1566664"/>
            <a:chExt cx="4968552" cy="5077966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0813" y="1566664"/>
              <a:ext cx="4943475" cy="243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736" y="4149080"/>
              <a:ext cx="4953000" cy="2495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2857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Feature Map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84" y="1828601"/>
            <a:ext cx="8926662" cy="419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010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SPP-net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35913"/>
            <a:ext cx="8784976" cy="5133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11560" y="1225235"/>
                <a:ext cx="4161909" cy="193104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Feature map size=13*13</a:t>
                </a:r>
              </a:p>
              <a:p>
                <a:r>
                  <a:rPr lang="en-US" altLang="zh-TW" sz="2400" dirty="0" smtClean="0"/>
                  <a:t>Pyramid level of 3*3 bins</a:t>
                </a:r>
              </a:p>
              <a:p>
                <a:pPr marL="0" lvl="2"/>
                <a:r>
                  <a:rPr lang="en-US" altLang="zh-TW" sz="2400" dirty="0" smtClean="0"/>
                  <a:t>Pooling window size</a:t>
                </a:r>
                <a:r>
                  <a:rPr lang="en-US" altLang="zh-TW" sz="24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/>
                              </a:rPr>
                              <m:t>13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TW" sz="2400" i="1">
                        <a:latin typeface="Cambria Math"/>
                      </a:rPr>
                      <m:t>=5</m:t>
                    </m:r>
                  </m:oMath>
                </a14:m>
                <a:endParaRPr lang="en-US" altLang="zh-TW" sz="2400" dirty="0" smtClean="0"/>
              </a:p>
              <a:p>
                <a:pPr marL="0" lvl="2"/>
                <a:r>
                  <a:rPr lang="en-US" altLang="zh-TW" sz="2400" dirty="0" smtClean="0"/>
                  <a:t>Pooling window stride</a:t>
                </a:r>
                <a:r>
                  <a:rPr lang="en-US" altLang="zh-TW" sz="24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/>
                              </a:rPr>
                              <m:t>13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TW" sz="2400" i="1">
                        <a:latin typeface="Cambria Math"/>
                      </a:rPr>
                      <m:t>=4</m:t>
                    </m:r>
                  </m:oMath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225235"/>
                <a:ext cx="4161909" cy="1931041"/>
              </a:xfrm>
              <a:prstGeom prst="rect">
                <a:avLst/>
              </a:prstGeom>
              <a:blipFill rotWithShape="1">
                <a:blip r:embed="rId4"/>
                <a:stretch>
                  <a:fillRect l="-2044" t="-2194" b="-15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9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SPP-net V.S R-CNN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R-CNN is an object detection method that means Region proposal with CNN</a:t>
            </a:r>
          </a:p>
        </p:txBody>
      </p:sp>
      <p:pic>
        <p:nvPicPr>
          <p:cNvPr id="2050" name="Picture 2" descr="http://host.robots.ox.ac.uk:8080/pascal/VOC/voc2007/segexamples/images/00066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1407">
            <a:off x="800434" y="4398441"/>
            <a:ext cx="3155205" cy="2366404"/>
          </a:xfrm>
          <a:prstGeom prst="rect">
            <a:avLst/>
          </a:prstGeom>
          <a:noFill/>
          <a:scene3d>
            <a:camera prst="isometricOffAxis2Top">
              <a:rot lat="18046417" lon="3290822" rev="18365255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://host.robots.ox.ac.uk:8080/pascal/VOC/voc2007/segexamples/images/00066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1407">
            <a:off x="5177112" y="4443065"/>
            <a:ext cx="3155205" cy="2366404"/>
          </a:xfrm>
          <a:prstGeom prst="rect">
            <a:avLst/>
          </a:prstGeom>
          <a:noFill/>
          <a:scene3d>
            <a:camera prst="isometricOffAxis2Top">
              <a:rot lat="18046417" lon="3290822" rev="18365255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立方體 14"/>
          <p:cNvSpPr/>
          <p:nvPr/>
        </p:nvSpPr>
        <p:spPr>
          <a:xfrm>
            <a:off x="1403648" y="3915816"/>
            <a:ext cx="576064" cy="166582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立方體 17"/>
          <p:cNvSpPr/>
          <p:nvPr/>
        </p:nvSpPr>
        <p:spPr>
          <a:xfrm>
            <a:off x="2132112" y="3915815"/>
            <a:ext cx="576064" cy="166582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立方體 18"/>
          <p:cNvSpPr/>
          <p:nvPr/>
        </p:nvSpPr>
        <p:spPr>
          <a:xfrm>
            <a:off x="1724893" y="4322526"/>
            <a:ext cx="576064" cy="166582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立方體 19"/>
          <p:cNvSpPr/>
          <p:nvPr/>
        </p:nvSpPr>
        <p:spPr>
          <a:xfrm>
            <a:off x="2420144" y="4322525"/>
            <a:ext cx="576064" cy="166582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立方體 20"/>
          <p:cNvSpPr/>
          <p:nvPr/>
        </p:nvSpPr>
        <p:spPr>
          <a:xfrm>
            <a:off x="5436095" y="3947656"/>
            <a:ext cx="2736305" cy="184482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上箭號 16"/>
          <p:cNvSpPr/>
          <p:nvPr/>
        </p:nvSpPr>
        <p:spPr>
          <a:xfrm>
            <a:off x="1547664" y="3549301"/>
            <a:ext cx="288032" cy="45943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向上箭號 22"/>
          <p:cNvSpPr/>
          <p:nvPr/>
        </p:nvSpPr>
        <p:spPr>
          <a:xfrm>
            <a:off x="2273038" y="3549300"/>
            <a:ext cx="288032" cy="45943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向上箭號 23"/>
          <p:cNvSpPr/>
          <p:nvPr/>
        </p:nvSpPr>
        <p:spPr>
          <a:xfrm>
            <a:off x="1868909" y="3933056"/>
            <a:ext cx="288032" cy="45943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向上箭號 24"/>
          <p:cNvSpPr/>
          <p:nvPr/>
        </p:nvSpPr>
        <p:spPr>
          <a:xfrm>
            <a:off x="2564160" y="3933056"/>
            <a:ext cx="288032" cy="45943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1259068" y="3159060"/>
            <a:ext cx="86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</a:t>
            </a:r>
            <a:endParaRPr lang="zh-TW" altLang="en-US" dirty="0"/>
          </a:p>
        </p:txBody>
      </p:sp>
      <p:sp>
        <p:nvSpPr>
          <p:cNvPr id="27" name="向上箭號 26"/>
          <p:cNvSpPr/>
          <p:nvPr/>
        </p:nvSpPr>
        <p:spPr>
          <a:xfrm>
            <a:off x="6660231" y="3679559"/>
            <a:ext cx="288032" cy="45943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平行四邊形 25"/>
          <p:cNvSpPr/>
          <p:nvPr/>
        </p:nvSpPr>
        <p:spPr>
          <a:xfrm>
            <a:off x="5436095" y="3207722"/>
            <a:ext cx="2736305" cy="444831"/>
          </a:xfrm>
          <a:prstGeom prst="parallelogram">
            <a:avLst>
              <a:gd name="adj" fmla="val 101753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1439691" y="6108667"/>
            <a:ext cx="114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R-CNN</a:t>
            </a:r>
            <a:endParaRPr lang="zh-TW" altLang="en-US" sz="28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5868144" y="6108667"/>
            <a:ext cx="13176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SPP-net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6394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Classification </a:t>
            </a:r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ImageNet 2012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04864"/>
            <a:ext cx="8738154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608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Classification </a:t>
            </a:r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ImageNet 2012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54" y="2243696"/>
            <a:ext cx="8562975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262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Classification 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ILSVRC 2014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36945"/>
            <a:ext cx="7243420" cy="425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545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Detection 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Pascal VOC 2007</a:t>
            </a:r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942" y="2223095"/>
            <a:ext cx="702945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133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Detection 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ILSVRC 2014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90" y="2204864"/>
            <a:ext cx="708660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968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3122</TotalTime>
  <Words>270</Words>
  <Application>Microsoft Office PowerPoint</Application>
  <PresentationFormat>如螢幕大小 (4:3)</PresentationFormat>
  <Paragraphs>56</Paragraphs>
  <Slides>13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新細明體</vt:lpstr>
      <vt:lpstr>Arial</vt:lpstr>
      <vt:lpstr>Calibri</vt:lpstr>
      <vt:lpstr>Cambria Math</vt:lpstr>
      <vt:lpstr>Office 佈景主題</vt:lpstr>
      <vt:lpstr>Spatial Pyramid Pooling in Deep Convolutional Networks for Visual Recognition</vt:lpstr>
      <vt:lpstr>Abstract(1/3)</vt:lpstr>
      <vt:lpstr>Abstract(2/3)</vt:lpstr>
      <vt:lpstr>Abstract(3/3)</vt:lpstr>
      <vt:lpstr>Motivation</vt:lpstr>
      <vt:lpstr>Feature Map</vt:lpstr>
      <vt:lpstr>SPP-net</vt:lpstr>
      <vt:lpstr>SPP-net V.S R-CNN</vt:lpstr>
      <vt:lpstr>Classification Result</vt:lpstr>
      <vt:lpstr>Classification Result</vt:lpstr>
      <vt:lpstr>Classification Result</vt:lpstr>
      <vt:lpstr>Detection Result</vt:lpstr>
      <vt:lpstr>Detection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Weakly Supervised Deep Detection Networks</dc:title>
  <dc:creator>ASUS</dc:creator>
  <cp:lastModifiedBy>whfu</cp:lastModifiedBy>
  <cp:revision>60</cp:revision>
  <dcterms:created xsi:type="dcterms:W3CDTF">2016-05-21T09:56:33Z</dcterms:created>
  <dcterms:modified xsi:type="dcterms:W3CDTF">2016-06-21T08:06:49Z</dcterms:modified>
</cp:coreProperties>
</file>