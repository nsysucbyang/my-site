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6" r:id="rId12"/>
    <p:sldId id="270" r:id="rId13"/>
    <p:sldId id="271" r:id="rId14"/>
    <p:sldId id="272" r:id="rId15"/>
    <p:sldId id="267" r:id="rId16"/>
    <p:sldId id="269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9634A-B032-4AA0-841A-F9ECFDF0CF1C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F5A6F-F11C-43C1-8CA8-895E710866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9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rPr kern="0">
                <a:solidFill>
                  <a:srgbClr val="000000"/>
                </a:solidFill>
              </a:rPr>
              <a:pPr algn="r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400">
              <a:solidFill>
                <a:srgbClr val="000000"/>
              </a:solidFill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259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19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07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767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84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46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41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694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42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84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97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11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B4AD6-B74A-4158-B075-ECF903320920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9C6B8-C1F0-4893-979E-55A250C5B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65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2046380" y="3504674"/>
            <a:ext cx="8229630" cy="1109919"/>
          </a:xfrm>
        </p:spPr>
        <p:txBody>
          <a:bodyPr>
            <a:spAutoFit/>
          </a:bodyPr>
          <a:lstStyle/>
          <a:p>
            <a:pPr lvl="0"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Expert Systems with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Applications, </a:t>
            </a:r>
            <a:r>
              <a:rPr lang="en-US" altLang="zh-TW" sz="2449" b="1" dirty="0" smtClean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Vol.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38 2758–2765</a:t>
            </a:r>
            <a:r>
              <a:rPr lang="en-US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/>
            </a:r>
            <a:br>
              <a:rPr lang="en-US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</a:b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Wen Zhang , Taketoshi Yoshida , </a:t>
            </a:r>
            <a:r>
              <a:rPr lang="en-US" altLang="zh-TW" sz="2449" b="1" dirty="0" err="1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Xijin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 Tang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(2011) 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/>
            </a:r>
            <a:b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endParaRPr lang="en-US" sz="2449" b="1" dirty="0">
              <a:solidFill>
                <a:srgbClr val="898989"/>
              </a:solidFill>
              <a:latin typeface="Liberation Sans Narrow" pitchFamily="34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395416" y="849121"/>
            <a:ext cx="11582399" cy="1897136"/>
          </a:xfrm>
        </p:spPr>
        <p:txBody>
          <a:bodyPr anchorCtr="1">
            <a:normAutofit/>
          </a:bodyPr>
          <a:lstStyle/>
          <a:p>
            <a:pPr marL="0" lvl="0" indent="0" algn="ctr">
              <a:buNone/>
            </a:pPr>
            <a:r>
              <a:rPr lang="en-US" altLang="zh-TW" sz="4800" dirty="0"/>
              <a:t>A comparative study of TFIDF, LSI and multi-words for text classification</a:t>
            </a:r>
            <a:endParaRPr lang="en-US" sz="4800" b="1" dirty="0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2162522" y="4515041"/>
            <a:ext cx="8229630" cy="1897136"/>
          </a:xfrm>
        </p:spPr>
        <p:txBody>
          <a:bodyPr>
            <a:normAutofit lnSpcReduction="10000"/>
          </a:bodyPr>
          <a:lstStyle/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Jyun-Hao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Lai</a:t>
            </a: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2016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 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06 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 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21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8613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60" y="68562"/>
            <a:ext cx="10515600" cy="1325563"/>
          </a:xfrm>
        </p:spPr>
        <p:txBody>
          <a:bodyPr/>
          <a:lstStyle/>
          <a:p>
            <a:r>
              <a:rPr lang="en-US" altLang="zh-TW" b="1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228166"/>
            <a:ext cx="10971688" cy="5535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900" dirty="0"/>
              <a:t>One of the main themes in text mining is text representation, which is fundamental and indispensable </a:t>
            </a:r>
            <a:r>
              <a:rPr lang="en-US" altLang="zh-TW" sz="2900" dirty="0" smtClean="0"/>
              <a:t>for text-based </a:t>
            </a:r>
            <a:r>
              <a:rPr lang="en-US" altLang="zh-TW" sz="2900" dirty="0" err="1"/>
              <a:t>intellegent</a:t>
            </a:r>
            <a:r>
              <a:rPr lang="en-US" altLang="zh-TW" sz="2900" dirty="0"/>
              <a:t> information processing. Generally, text representation </a:t>
            </a:r>
            <a:r>
              <a:rPr lang="en-US" altLang="zh-TW" sz="2900" dirty="0" err="1"/>
              <a:t>inludes</a:t>
            </a:r>
            <a:r>
              <a:rPr lang="en-US" altLang="zh-TW" sz="2900" dirty="0"/>
              <a:t> two tasks: </a:t>
            </a:r>
            <a:r>
              <a:rPr lang="en-US" altLang="zh-TW" sz="2900" dirty="0" smtClean="0"/>
              <a:t>indexing and </a:t>
            </a:r>
            <a:r>
              <a:rPr lang="en-US" altLang="zh-TW" sz="2900" dirty="0"/>
              <a:t>weighting. This paper has comparatively studied TFIDF, LSI and multi-word </a:t>
            </a:r>
            <a:r>
              <a:rPr lang="en-US" altLang="zh-TW" sz="2900" dirty="0" smtClean="0"/>
              <a:t>for text representation. We </a:t>
            </a:r>
            <a:r>
              <a:rPr lang="en-US" altLang="zh-TW" sz="2900" dirty="0"/>
              <a:t>used a Chinese and an English document collection to respectively evaluate the three methods </a:t>
            </a:r>
            <a:r>
              <a:rPr lang="en-US" altLang="zh-TW" sz="2900" dirty="0" smtClean="0"/>
              <a:t>in information </a:t>
            </a:r>
            <a:r>
              <a:rPr lang="en-US" altLang="zh-TW" sz="2900" dirty="0" err="1"/>
              <a:t>retreival</a:t>
            </a:r>
            <a:r>
              <a:rPr lang="en-US" altLang="zh-TW" sz="2900" dirty="0"/>
              <a:t> and text categorization. Experimental results have demonstrated that in text </a:t>
            </a:r>
            <a:r>
              <a:rPr lang="en-US" altLang="zh-TW" sz="2900" dirty="0" smtClean="0"/>
              <a:t>categorization, LSI </a:t>
            </a:r>
            <a:r>
              <a:rPr lang="en-US" altLang="zh-TW" sz="2900" dirty="0"/>
              <a:t>has better performance than other methods in both document collections. Also, LSI </a:t>
            </a:r>
            <a:r>
              <a:rPr lang="en-US" altLang="zh-TW" sz="2900" dirty="0" smtClean="0"/>
              <a:t>has produced </a:t>
            </a:r>
            <a:r>
              <a:rPr lang="en-US" altLang="zh-TW" sz="2900" dirty="0"/>
              <a:t>the </a:t>
            </a:r>
            <a:r>
              <a:rPr lang="en-US" altLang="zh-TW" sz="2900" dirty="0" smtClean="0"/>
              <a:t>best performance </a:t>
            </a:r>
            <a:r>
              <a:rPr lang="en-US" altLang="zh-TW" sz="2900" dirty="0"/>
              <a:t>in retrieving English documents. This outcome has shown that LSI </a:t>
            </a:r>
            <a:r>
              <a:rPr lang="en-US" altLang="zh-TW" sz="2900" dirty="0" smtClean="0"/>
              <a:t>has both </a:t>
            </a:r>
            <a:r>
              <a:rPr lang="en-US" altLang="zh-TW" sz="2900" dirty="0"/>
              <a:t>favorable semantic and statistical quality and is different with the claim that LSI can not </a:t>
            </a:r>
            <a:r>
              <a:rPr lang="en-US" altLang="zh-TW" sz="2900" dirty="0" smtClean="0"/>
              <a:t>produce discriminative </a:t>
            </a:r>
            <a:r>
              <a:rPr lang="en-US" altLang="zh-TW" sz="2900" dirty="0"/>
              <a:t>power for indexing.</a:t>
            </a:r>
            <a:endParaRPr lang="zh-TW" altLang="en-US" sz="29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96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TF*IDF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TF</a:t>
            </a:r>
            <a:r>
              <a:rPr lang="zh-TW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：單詞出現在類別中的頻率值。</a:t>
            </a:r>
            <a:endParaRPr lang="en-US" altLang="zh-TW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IDF</a:t>
            </a:r>
            <a:r>
              <a:rPr lang="zh-TW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：單詞出現的類別數。</a:t>
            </a:r>
          </a:p>
          <a:p>
            <a:pPr marL="285750" indent="-285750"/>
            <a:r>
              <a:rPr lang="zh-TW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若關鍵字出現在文件中的頻率越高則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TF</a:t>
            </a:r>
            <a:r>
              <a:rPr lang="zh-TW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值越高，但是必須考量到此關鍵字對該文件的影響力。</a:t>
            </a:r>
            <a:endParaRPr lang="en-US" altLang="zh-TW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/>
            <a:endParaRPr lang="en-US" altLang="zh-TW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/>
            <a:r>
              <a:rPr lang="zh-TW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因此必須透過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IDF</a:t>
            </a:r>
            <a:r>
              <a:rPr lang="zh-TW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值加以衡量，若關鍵字出現在越少量的文件中，則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IDF</a:t>
            </a:r>
            <a:r>
              <a:rPr lang="zh-TW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值越高，代表此關鍵字對該文件具有影響力，反之，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IDF</a:t>
            </a:r>
            <a:r>
              <a:rPr lang="zh-TW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值越低，代表此關鍵字對於該文件不具影響力。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873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atent </a:t>
            </a:r>
            <a:r>
              <a:rPr lang="en-US" altLang="zh-TW" dirty="0"/>
              <a:t>s</a:t>
            </a:r>
            <a:r>
              <a:rPr lang="en-US" altLang="zh-TW" dirty="0" smtClean="0"/>
              <a:t>emantic indexing, LSI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LSI </a:t>
            </a:r>
            <a:r>
              <a:rPr lang="zh-TW" altLang="en-US" dirty="0"/>
              <a:t>以字詞</a:t>
            </a:r>
            <a:r>
              <a:rPr lang="en-US" altLang="zh-TW" dirty="0"/>
              <a:t>—</a:t>
            </a:r>
            <a:r>
              <a:rPr lang="zh-TW" altLang="en-US" dirty="0"/>
              <a:t>文件矩陣 </a:t>
            </a:r>
            <a:r>
              <a:rPr lang="en-US" altLang="zh-TW" dirty="0"/>
              <a:t>(term-document matrix) </a:t>
            </a:r>
            <a:r>
              <a:rPr lang="zh-TW" altLang="en-US" dirty="0"/>
              <a:t>表示字詞與文件之間的關聯，習慣以列 </a:t>
            </a:r>
            <a:r>
              <a:rPr lang="en-US" altLang="zh-TW" dirty="0"/>
              <a:t>(row) </a:t>
            </a:r>
            <a:r>
              <a:rPr lang="zh-TW" altLang="en-US" dirty="0"/>
              <a:t>代表字詞 </a:t>
            </a:r>
            <a:r>
              <a:rPr lang="en-US" altLang="zh-TW" dirty="0"/>
              <a:t>(term)</a:t>
            </a:r>
            <a:r>
              <a:rPr lang="zh-TW" altLang="en-US" dirty="0"/>
              <a:t>，以行 </a:t>
            </a:r>
            <a:r>
              <a:rPr lang="en-US" altLang="zh-TW" dirty="0"/>
              <a:t>(column) </a:t>
            </a:r>
            <a:r>
              <a:rPr lang="zh-TW" altLang="en-US" dirty="0"/>
              <a:t>代表文件 </a:t>
            </a:r>
            <a:r>
              <a:rPr lang="en-US" altLang="zh-TW" dirty="0"/>
              <a:t>(document)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092214"/>
              </p:ext>
            </p:extLst>
          </p:nvPr>
        </p:nvGraphicFramePr>
        <p:xfrm>
          <a:off x="6499720" y="3481706"/>
          <a:ext cx="485408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3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294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1.0986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tea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0.2916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you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0.2916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8063345" y="6176963"/>
            <a:ext cx="2305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Log Entropy Weighting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9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7605" y="290533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Dot Product of Terms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6293" y="2462898"/>
            <a:ext cx="3712657" cy="460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500" dirty="0" err="1"/>
              <a:t>t</a:t>
            </a:r>
            <a:r>
              <a:rPr lang="en-US" altLang="zh-TW" sz="2500" baseline="-25000" dirty="0" err="1" smtClean="0"/>
              <a:t>i</a:t>
            </a:r>
            <a:r>
              <a:rPr lang="en-US" altLang="zh-TW" sz="2500" dirty="0" smtClean="0"/>
              <a:t> = (x</a:t>
            </a:r>
            <a:r>
              <a:rPr lang="en-US" altLang="zh-TW" sz="2500" baseline="-25000" dirty="0" smtClean="0"/>
              <a:t>i,1</a:t>
            </a:r>
            <a:r>
              <a:rPr lang="zh-TW" altLang="en-US" sz="2500" dirty="0" smtClean="0"/>
              <a:t>，</a:t>
            </a:r>
            <a:r>
              <a:rPr lang="en-US" altLang="zh-TW" sz="2500" dirty="0" smtClean="0"/>
              <a:t> x</a:t>
            </a:r>
            <a:r>
              <a:rPr lang="en-US" altLang="zh-TW" sz="2500" baseline="-25000" dirty="0" smtClean="0"/>
              <a:t>i,2</a:t>
            </a:r>
            <a:r>
              <a:rPr lang="zh-TW" altLang="en-US" sz="2500" dirty="0" smtClean="0"/>
              <a:t>，</a:t>
            </a:r>
            <a:r>
              <a:rPr lang="en-US" altLang="zh-TW" sz="2500" dirty="0" smtClean="0"/>
              <a:t>...</a:t>
            </a:r>
            <a:r>
              <a:rPr lang="zh-TW" altLang="en-US" sz="2500" dirty="0" smtClean="0"/>
              <a:t> ，</a:t>
            </a:r>
            <a:r>
              <a:rPr lang="en-US" altLang="zh-TW" sz="2500" dirty="0" smtClean="0"/>
              <a:t> </a:t>
            </a:r>
            <a:r>
              <a:rPr lang="en-US" altLang="zh-TW" sz="2500" dirty="0" err="1" smtClean="0"/>
              <a:t>x</a:t>
            </a:r>
            <a:r>
              <a:rPr lang="en-US" altLang="zh-TW" sz="2500" baseline="-25000" dirty="0" err="1" smtClean="0"/>
              <a:t>i,m</a:t>
            </a:r>
            <a:r>
              <a:rPr lang="en-US" altLang="zh-TW" sz="2500" dirty="0" smtClean="0"/>
              <a:t>)</a:t>
            </a:r>
            <a:endParaRPr lang="zh-TW" altLang="en-US" sz="25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6293" y="4415097"/>
            <a:ext cx="362471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err="1" smtClean="0"/>
              <a:t>t</a:t>
            </a:r>
            <a:r>
              <a:rPr lang="en-US" altLang="zh-TW" sz="2500" baseline="-25000" dirty="0" err="1" smtClean="0"/>
              <a:t>p</a:t>
            </a:r>
            <a:r>
              <a:rPr lang="en-US" altLang="zh-TW" sz="2500" dirty="0" smtClean="0"/>
              <a:t> = (x</a:t>
            </a:r>
            <a:r>
              <a:rPr lang="en-US" altLang="zh-TW" sz="2500" baseline="-25000" dirty="0" smtClean="0"/>
              <a:t>p,1</a:t>
            </a:r>
            <a:r>
              <a:rPr lang="zh-TW" altLang="en-US" sz="2500" dirty="0" smtClean="0"/>
              <a:t>，</a:t>
            </a:r>
            <a:r>
              <a:rPr lang="en-US" altLang="zh-TW" sz="2500" dirty="0" smtClean="0"/>
              <a:t> x</a:t>
            </a:r>
            <a:r>
              <a:rPr lang="en-US" altLang="zh-TW" sz="2500" baseline="-25000" dirty="0" smtClean="0"/>
              <a:t>p,2</a:t>
            </a:r>
            <a:r>
              <a:rPr lang="zh-TW" altLang="en-US" sz="2500" dirty="0" smtClean="0"/>
              <a:t>，</a:t>
            </a:r>
            <a:r>
              <a:rPr lang="en-US" altLang="zh-TW" sz="2500" dirty="0" smtClean="0"/>
              <a:t>...</a:t>
            </a:r>
            <a:r>
              <a:rPr lang="zh-TW" altLang="en-US" sz="2500" dirty="0" smtClean="0"/>
              <a:t> ，</a:t>
            </a:r>
            <a:r>
              <a:rPr lang="en-US" altLang="zh-TW" sz="2500" dirty="0" smtClean="0"/>
              <a:t> </a:t>
            </a:r>
            <a:r>
              <a:rPr lang="en-US" altLang="zh-TW" sz="2500" dirty="0" err="1" smtClean="0"/>
              <a:t>x</a:t>
            </a:r>
            <a:r>
              <a:rPr lang="en-US" altLang="zh-TW" sz="2500" baseline="-25000" dirty="0" err="1" smtClean="0"/>
              <a:t>p,m</a:t>
            </a:r>
            <a:r>
              <a:rPr lang="en-US" altLang="zh-TW" sz="2500" dirty="0" smtClean="0"/>
              <a:t>)</a:t>
            </a:r>
            <a:endParaRPr lang="zh-TW" altLang="en-US" sz="25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87605" y="5883838"/>
            <a:ext cx="2884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Dot Product</a:t>
            </a:r>
            <a:r>
              <a:rPr lang="zh-TW" altLang="en-US" sz="28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t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t</a:t>
            </a:r>
            <a:r>
              <a:rPr lang="en-US" altLang="zh-TW" sz="2800" baseline="-25000" dirty="0" err="1" smtClean="0"/>
              <a:t>p</a:t>
            </a:r>
            <a:endParaRPr lang="zh-TW" altLang="en-US" sz="28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046940"/>
              </p:ext>
            </p:extLst>
          </p:nvPr>
        </p:nvGraphicFramePr>
        <p:xfrm>
          <a:off x="7025639" y="2646983"/>
          <a:ext cx="485408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3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294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1.0986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tea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0.2916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you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0.2916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397809" y="2369920"/>
            <a:ext cx="2984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97809" y="4330459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513931" y="1947446"/>
                <a:ext cx="1362523" cy="1509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ti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,1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,2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m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931" y="1947446"/>
                <a:ext cx="1362523" cy="1509644"/>
              </a:xfrm>
              <a:prstGeom prst="rect">
                <a:avLst/>
              </a:prstGeom>
              <a:blipFill>
                <a:blip r:embed="rId2"/>
                <a:stretch>
                  <a:fillRect l="-6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513931" y="3927143"/>
                <a:ext cx="2511708" cy="14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t</a:t>
                </a:r>
                <a:r>
                  <a:rPr lang="en-US" altLang="zh-TW" sz="2400" baseline="-25000" dirty="0" err="1" smtClean="0"/>
                  <a:t>p</a:t>
                </a:r>
                <a:r>
                  <a:rPr lang="en-US" altLang="zh-TW" sz="2400" dirty="0" smtClean="0"/>
                  <a:t>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,1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,2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m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931" y="3927143"/>
                <a:ext cx="2511708" cy="1452962"/>
              </a:xfrm>
              <a:prstGeom prst="rect">
                <a:avLst/>
              </a:prstGeom>
              <a:blipFill>
                <a:blip r:embed="rId3"/>
                <a:stretch>
                  <a:fillRect l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/>
          <p:cNvSpPr txBox="1"/>
          <p:nvPr/>
        </p:nvSpPr>
        <p:spPr>
          <a:xfrm>
            <a:off x="2537558" y="5883838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12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Dot Product of Terms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XX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dirty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baseline="-25000" dirty="0" smtClean="0"/>
                                <m:t>,1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dirty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baseline="-25000" dirty="0" smtClean="0"/>
                                <m:t>,</m:t>
                              </m:r>
                              <m:r>
                                <a:rPr lang="en-US" altLang="zh-TW" b="0" i="1" baseline="-25000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dirty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zh-TW" baseline="-25000" dirty="0" smtClean="0"/>
                                <m:t>,1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dirty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zh-TW" baseline="-25000" dirty="0" smtClean="0"/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m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dirty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baseline="-25000" dirty="0" smtClean="0"/>
                                <m:t>,1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dirty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zh-TW" baseline="-25000" dirty="0" smtClean="0"/>
                                <m:t>,1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dirty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baseline="-25000" dirty="0" smtClean="0"/>
                                <m:t>,</m:t>
                              </m:r>
                              <m:r>
                                <a:rPr lang="en-US" altLang="zh-TW" b="0" i="1" baseline="-25000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dirty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zh-TW" baseline="-25000" dirty="0" smtClean="0"/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baseline="-25000" dirty="0" smtClean="0"/>
                                <m:t>m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  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 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 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b="0" i="1" baseline="-250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b="0" i="1" baseline="-250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b="0" i="1" baseline="-250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b="0" i="1" baseline="-250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1359243" y="193782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964724" y="362977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964724" y="454420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546388" y="363994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546388" y="453693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776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59836"/>
              </p:ext>
            </p:extLst>
          </p:nvPr>
        </p:nvGraphicFramePr>
        <p:xfrm>
          <a:off x="4140558" y="487375"/>
          <a:ext cx="485408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3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294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1.0986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tea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0.2916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you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0.2916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805298" y="1599278"/>
            <a:ext cx="103105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500" dirty="0" smtClean="0"/>
              <a:t>X = </a:t>
            </a:r>
            <a:endParaRPr lang="zh-TW" altLang="en-US" sz="4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158314" y="3424537"/>
                <a:ext cx="8818568" cy="2675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000" dirty="0" smtClean="0"/>
                  <a:t>XX =</a:t>
                </a:r>
                <a:r>
                  <a:rPr lang="zh-TW" altLang="en-US" sz="3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3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3000" dirty="0" smtClean="0"/>
                  <a:t> 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314" y="3424537"/>
                <a:ext cx="8818568" cy="2675604"/>
              </a:xfrm>
              <a:prstGeom prst="rect">
                <a:avLst/>
              </a:prstGeom>
              <a:blipFill rotWithShape="0">
                <a:blip r:embed="rId2"/>
                <a:stretch>
                  <a:fillRect l="-15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2508422" y="429796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130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472514" y="1825625"/>
                <a:ext cx="10515600" cy="19926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3500" dirty="0" smtClean="0"/>
                  <a:t>X </a:t>
                </a:r>
                <a:r>
                  <a:rPr lang="en-US" altLang="zh-TW" sz="3500" dirty="0" err="1" smtClean="0"/>
                  <a:t>X</a:t>
                </a:r>
                <a:r>
                  <a:rPr lang="en-US" altLang="zh-TW" sz="3500" dirty="0" smtClean="0"/>
                  <a:t> = UDU = [u</a:t>
                </a:r>
                <a:r>
                  <a:rPr lang="en-US" altLang="zh-TW" sz="3500" baseline="-25000" dirty="0" smtClean="0"/>
                  <a:t>1</a:t>
                </a:r>
                <a:r>
                  <a:rPr lang="zh-TW" altLang="en-US" sz="3500" dirty="0" smtClean="0"/>
                  <a:t>，</a:t>
                </a:r>
                <a:r>
                  <a:rPr lang="en-US" altLang="zh-TW" sz="3500" dirty="0" smtClean="0"/>
                  <a:t> u</a:t>
                </a:r>
                <a:r>
                  <a:rPr lang="en-US" altLang="zh-TW" sz="3500" baseline="-25000" dirty="0" smtClean="0"/>
                  <a:t>2</a:t>
                </a:r>
                <a:r>
                  <a:rPr lang="zh-TW" altLang="en-US" sz="3500" dirty="0" smtClean="0"/>
                  <a:t> ，</a:t>
                </a:r>
                <a:r>
                  <a:rPr lang="en-US" altLang="zh-TW" sz="3500" dirty="0" smtClean="0"/>
                  <a:t>…</a:t>
                </a:r>
                <a:r>
                  <a:rPr lang="zh-TW" altLang="en-US" sz="3500" dirty="0" smtClean="0"/>
                  <a:t> ，</a:t>
                </a:r>
                <a:r>
                  <a:rPr lang="en-US" altLang="zh-TW" sz="3500" dirty="0" smtClean="0"/>
                  <a:t> u</a:t>
                </a:r>
                <a:r>
                  <a:rPr lang="en-US" altLang="zh-TW" sz="3500" baseline="-25000" dirty="0" smtClean="0"/>
                  <a:t>n</a:t>
                </a:r>
                <a:r>
                  <a:rPr lang="en-US" altLang="zh-TW" sz="3500" dirty="0" smtClean="0"/>
                  <a:t>]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3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35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zh-TW" altLang="en-US" sz="350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TW" sz="3500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altLang="zh-TW" sz="350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>
                                <m:rPr>
                                  <m:brk m:alnAt="7"/>
                                </m:rPr>
                                <a:rPr lang="zh-TW" altLang="en-US" sz="350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TW" sz="3500" b="0" i="1" baseline="-250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3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35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3500" dirty="0" smtClean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3500" baseline="-25000" dirty="0" smtClean="0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3500" dirty="0" smtClean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3500" baseline="-25000" dirty="0" smtClean="0"/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35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3500" dirty="0" smtClean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3500" baseline="-25000" dirty="0" smtClean="0"/>
                                <m:t>n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72514" y="1825625"/>
                <a:ext cx="10515600" cy="1992613"/>
              </a:xfrm>
              <a:blipFill rotWithShape="0">
                <a:blip r:embed="rId2"/>
                <a:stretch>
                  <a:fillRect l="-1739" t="-21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10151760" y="2109088"/>
            <a:ext cx="3401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T</a:t>
            </a:r>
            <a:endParaRPr lang="zh-TW" altLang="en-US" sz="25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3241590" y="2153822"/>
            <a:ext cx="3401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T</a:t>
            </a:r>
            <a:endParaRPr lang="zh-TW" altLang="en-US" sz="25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0151760" y="1587098"/>
            <a:ext cx="3401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T</a:t>
            </a:r>
            <a:endParaRPr lang="zh-TW" altLang="en-US" sz="25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016894" y="2157568"/>
            <a:ext cx="3401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T</a:t>
            </a:r>
            <a:endParaRPr lang="zh-TW" altLang="en-US" sz="25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151760" y="3164820"/>
            <a:ext cx="3401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T</a:t>
            </a:r>
            <a:endParaRPr lang="zh-TW" altLang="en-US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710076" y="4512438"/>
                <a:ext cx="8204887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500" dirty="0" smtClean="0"/>
                  <a:t> =</a:t>
                </a:r>
                <a14:m>
                  <m:oMath xmlns:m="http://schemas.openxmlformats.org/officeDocument/2006/math">
                    <m:r>
                      <a:rPr lang="en-US" altLang="zh-TW" sz="3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brk m:alnAt="7"/>
                      </m:rPr>
                      <a:rPr lang="zh-TW" altLang="en-US" sz="3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3500" b="0" i="1" baseline="-250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3500" dirty="0" smtClean="0"/>
                  <a:t> u</a:t>
                </a:r>
                <a:r>
                  <a:rPr lang="en-US" altLang="zh-TW" sz="3500" baseline="-25000" dirty="0" smtClean="0"/>
                  <a:t>1</a:t>
                </a:r>
                <a:r>
                  <a:rPr lang="en-US" altLang="zh-TW" sz="3500" dirty="0" smtClean="0"/>
                  <a:t> </a:t>
                </a:r>
                <a:r>
                  <a:rPr lang="en-US" altLang="zh-TW" sz="3500" dirty="0" err="1" smtClean="0"/>
                  <a:t>u</a:t>
                </a:r>
                <a:r>
                  <a:rPr lang="en-US" altLang="zh-TW" sz="3500" baseline="-25000" dirty="0" err="1" smtClean="0"/>
                  <a:t>1</a:t>
                </a:r>
                <a:r>
                  <a:rPr lang="en-US" altLang="zh-TW" sz="3500" baseline="-25000" dirty="0" smtClean="0"/>
                  <a:t> </a:t>
                </a:r>
                <a:r>
                  <a:rPr lang="en-US" altLang="zh-TW" sz="3500" dirty="0" smtClean="0"/>
                  <a:t> +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TW" altLang="en-US" sz="3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3500" b="0" i="1" baseline="-25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3500" dirty="0" smtClean="0"/>
                  <a:t> u</a:t>
                </a:r>
                <a:r>
                  <a:rPr lang="en-US" altLang="zh-TW" sz="3500" baseline="-25000" dirty="0"/>
                  <a:t>2</a:t>
                </a:r>
                <a:r>
                  <a:rPr lang="en-US" altLang="zh-TW" sz="3500" dirty="0" smtClean="0"/>
                  <a:t> </a:t>
                </a:r>
                <a:r>
                  <a:rPr lang="en-US" altLang="zh-TW" sz="3500" dirty="0" err="1" smtClean="0"/>
                  <a:t>u</a:t>
                </a:r>
                <a:r>
                  <a:rPr lang="en-US" altLang="zh-TW" sz="3500" baseline="-25000" dirty="0" err="1"/>
                  <a:t>2</a:t>
                </a:r>
                <a:r>
                  <a:rPr lang="en-US" altLang="zh-TW" sz="3500" baseline="-25000" dirty="0" smtClean="0"/>
                  <a:t> </a:t>
                </a:r>
                <a:r>
                  <a:rPr lang="en-US" altLang="zh-TW" sz="3500" dirty="0" smtClean="0"/>
                  <a:t>+…+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TW" altLang="en-US" sz="3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3500" b="0" i="1" baseline="-2500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3500" dirty="0" smtClean="0"/>
                  <a:t> u</a:t>
                </a:r>
                <a:r>
                  <a:rPr lang="en-US" altLang="zh-TW" sz="3500" baseline="-25000" dirty="0"/>
                  <a:t>n</a:t>
                </a:r>
                <a:r>
                  <a:rPr lang="en-US" altLang="zh-TW" sz="3500" dirty="0" smtClean="0"/>
                  <a:t> </a:t>
                </a:r>
                <a:r>
                  <a:rPr lang="en-US" altLang="zh-TW" sz="3500" dirty="0" err="1" smtClean="0"/>
                  <a:t>u</a:t>
                </a:r>
                <a:r>
                  <a:rPr lang="en-US" altLang="zh-TW" sz="3500" baseline="-25000" dirty="0" err="1"/>
                  <a:t>n</a:t>
                </a:r>
                <a:r>
                  <a:rPr lang="en-US" altLang="zh-TW" sz="3500" baseline="-25000" dirty="0" smtClean="0"/>
                  <a:t> </a:t>
                </a:r>
                <a:endParaRPr lang="zh-TW" altLang="en-US" sz="3500" dirty="0"/>
              </a:p>
              <a:p>
                <a:endParaRPr lang="zh-TW" altLang="en-US" sz="3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076" y="4512438"/>
                <a:ext cx="8204887" cy="1169551"/>
              </a:xfrm>
              <a:prstGeom prst="rect">
                <a:avLst/>
              </a:prstGeom>
              <a:blipFill rotWithShape="0">
                <a:blip r:embed="rId3"/>
                <a:stretch>
                  <a:fillRect l="-1040" t="-78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4356440" y="4414324"/>
            <a:ext cx="3401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T</a:t>
            </a:r>
            <a:endParaRPr lang="zh-TW" altLang="en-US" sz="25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226944" y="4414324"/>
            <a:ext cx="3401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T</a:t>
            </a:r>
            <a:endParaRPr lang="zh-TW" altLang="en-US" sz="25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487033" y="4414324"/>
            <a:ext cx="3401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 smtClean="0"/>
              <a:t>T</a:t>
            </a:r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40305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27724" y="350750"/>
                <a:ext cx="11837773" cy="160985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TW" sz="1500" dirty="0" smtClean="0"/>
                  <a:t>X </a:t>
                </a:r>
                <a:r>
                  <a:rPr lang="en-US" altLang="zh-TW" sz="1500" dirty="0" err="1" smtClean="0"/>
                  <a:t>X</a:t>
                </a:r>
                <a:r>
                  <a:rPr lang="en-US" altLang="zh-TW" sz="1500" dirty="0" smtClean="0"/>
                  <a:t> = UDU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15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0.916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189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−0.355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394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−0.241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887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58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−0.673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58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−0.673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707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15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15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.399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639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095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1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15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0.916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394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−0.058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.000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189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−0.241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673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.000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−0.355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0.887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.000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000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0.707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b="0" i="1" smtClean="0">
                                  <a:latin typeface="Cambria Math" panose="02040503050406030204" pitchFamily="18" charset="0"/>
                                </a:rPr>
                                <m:t>.000</m:t>
                              </m:r>
                            </m:e>
                            <m:e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724" y="350750"/>
                <a:ext cx="11837773" cy="1609855"/>
              </a:xfrm>
              <a:blipFill>
                <a:blip r:embed="rId2"/>
                <a:stretch>
                  <a:fillRect l="-154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776453" y="1989348"/>
                <a:ext cx="10540313" cy="1168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altLang="zh-TW" sz="2200" dirty="0" smtClean="0"/>
                  <a:t> 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1.399</m:t>
                    </m:r>
                  </m:oMath>
                </a14:m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22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altLang="zh-TW" sz="2200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+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0.639</m:t>
                    </m:r>
                  </m:oMath>
                </a14:m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22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altLang="zh-TW" sz="2200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+ 0.095u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+ 0u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 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 </a:t>
                </a:r>
                <a:r>
                  <a:rPr lang="zh-TW" alt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+ 0u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+ 0u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u</a:t>
                </a:r>
                <a:r>
                  <a:rPr lang="en-US" altLang="zh-TW" sz="2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en-US" altLang="zh-TW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zh-TW" alt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endParaRPr lang="zh-TW" alt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zh-TW" altLang="en-US" sz="22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53" y="1989348"/>
                <a:ext cx="10540313" cy="1168525"/>
              </a:xfrm>
              <a:prstGeom prst="rect">
                <a:avLst/>
              </a:prstGeom>
              <a:blipFill rotWithShape="0">
                <a:blip r:embed="rId3"/>
                <a:stretch>
                  <a:fillRect l="-174" t="-67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2311256" y="1890598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/>
              <p:cNvSpPr txBox="1">
                <a:spLocks/>
              </p:cNvSpPr>
              <p:nvPr/>
            </p:nvSpPr>
            <p:spPr>
              <a:xfrm>
                <a:off x="828472" y="2929595"/>
                <a:ext cx="11837773" cy="16098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TW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.915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.189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.394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−0.241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58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−0.673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58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−0.673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.399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.639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.915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.394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0.058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0.000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0.189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−0.241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.673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0.000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72" y="2929595"/>
                <a:ext cx="11837773" cy="1609855"/>
              </a:xfrm>
              <a:prstGeom prst="rect">
                <a:avLst/>
              </a:prstGeom>
              <a:blipFill rotWithShape="0">
                <a:blip r:embed="rId4"/>
                <a:stretch>
                  <a:fillRect t="-3409" b="-1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3959215" y="1890598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516138" y="1897378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561049" y="1902026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663876" y="1897378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721020" y="1897378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38657" y="686602"/>
            <a:ext cx="260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54452" y="686601"/>
            <a:ext cx="260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內容版面配置區 2"/>
              <p:cNvSpPr txBox="1">
                <a:spLocks/>
              </p:cNvSpPr>
              <p:nvPr/>
            </p:nvSpPr>
            <p:spPr>
              <a:xfrm>
                <a:off x="776453" y="4912702"/>
                <a:ext cx="11837773" cy="16098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TW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.915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.189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.394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−0.241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58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−0.673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58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−0.673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.183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799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.183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0.799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.915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.394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0.058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0.000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0.189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−0.241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.673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0.000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1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53" y="4912702"/>
                <a:ext cx="11837773" cy="1609855"/>
              </a:xfrm>
              <a:prstGeom prst="rect">
                <a:avLst/>
              </a:prstGeom>
              <a:blipFill rotWithShape="0">
                <a:blip r:embed="rId5"/>
                <a:stretch>
                  <a:fillRect l="-515" t="-3030" b="-1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8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39656" y="161209"/>
                <a:ext cx="10515600" cy="131901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200" dirty="0" smtClean="0"/>
                  <a:t>X </a:t>
                </a:r>
                <a:r>
                  <a:rPr lang="en-US" altLang="zh-TW" sz="2200" dirty="0" err="1"/>
                  <a:t>X</a:t>
                </a:r>
                <a:r>
                  <a:rPr lang="en-US" altLang="zh-TW" sz="2200" dirty="0"/>
                  <a:t> = UDU = [u</a:t>
                </a:r>
                <a:r>
                  <a:rPr lang="en-US" altLang="zh-TW" sz="2200" baseline="-25000" dirty="0"/>
                  <a:t>1</a:t>
                </a:r>
                <a:r>
                  <a:rPr lang="zh-TW" altLang="en-US" sz="2200" dirty="0"/>
                  <a:t>，</a:t>
                </a:r>
                <a:r>
                  <a:rPr lang="en-US" altLang="zh-TW" sz="2200" dirty="0"/>
                  <a:t> u</a:t>
                </a:r>
                <a:r>
                  <a:rPr lang="en-US" altLang="zh-TW" sz="2200" baseline="-25000" dirty="0"/>
                  <a:t>2</a:t>
                </a:r>
                <a:r>
                  <a:rPr lang="zh-TW" altLang="en-US" sz="2200" dirty="0"/>
                  <a:t> ，</a:t>
                </a:r>
                <a:r>
                  <a:rPr lang="en-US" altLang="zh-TW" sz="2200" dirty="0"/>
                  <a:t>…</a:t>
                </a:r>
                <a:r>
                  <a:rPr lang="zh-TW" altLang="en-US" sz="2200" dirty="0"/>
                  <a:t> ，</a:t>
                </a:r>
                <a:r>
                  <a:rPr lang="en-US" altLang="zh-TW" sz="2200" dirty="0"/>
                  <a:t> u</a:t>
                </a:r>
                <a:r>
                  <a:rPr lang="en-US" altLang="zh-TW" sz="2200" baseline="-25000" dirty="0"/>
                  <a:t>n</a:t>
                </a:r>
                <a:r>
                  <a:rPr lang="en-US" altLang="zh-TW" sz="2200" dirty="0"/>
                  <a:t>]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zh-TW" altLang="en-US" sz="220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TW" sz="2200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altLang="zh-TW" sz="220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>
                                <m:rPr>
                                  <m:brk m:alnAt="7"/>
                                </m:rPr>
                                <a:rPr lang="zh-TW" altLang="en-US" sz="220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200" b="0" i="0" baseline="-2500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aseline="-25000" dirty="0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aseline="-25000" dirty="0"/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20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aseline="-25000" dirty="0"/>
                                <m:t>n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39656" y="161209"/>
                <a:ext cx="10515600" cy="1319015"/>
              </a:xfrm>
              <a:blipFill rotWithShape="0">
                <a:blip r:embed="rId2"/>
                <a:stretch>
                  <a:fillRect l="-754" t="-9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014168" y="1632152"/>
                <a:ext cx="8204887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/>
                  <a:t> =</a:t>
                </a:r>
                <a14:m>
                  <m:oMath xmlns:m="http://schemas.openxmlformats.org/officeDocument/2006/math"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brk m:alnAt="7"/>
                      </m:rPr>
                      <a:rPr lang="zh-TW" altLang="en-US" sz="2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500" b="0" i="1" baseline="-250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500" dirty="0" smtClean="0"/>
                  <a:t> u</a:t>
                </a:r>
                <a:r>
                  <a:rPr lang="en-US" altLang="zh-TW" sz="2500" baseline="-25000" dirty="0" smtClean="0"/>
                  <a:t>1</a:t>
                </a:r>
                <a:r>
                  <a:rPr lang="en-US" altLang="zh-TW" sz="2500" dirty="0" smtClean="0"/>
                  <a:t> </a:t>
                </a:r>
                <a:r>
                  <a:rPr lang="en-US" altLang="zh-TW" sz="2500" dirty="0" err="1" smtClean="0"/>
                  <a:t>u</a:t>
                </a:r>
                <a:r>
                  <a:rPr lang="en-US" altLang="zh-TW" sz="2500" baseline="-25000" dirty="0" err="1" smtClean="0"/>
                  <a:t>1</a:t>
                </a:r>
                <a:r>
                  <a:rPr lang="en-US" altLang="zh-TW" sz="2500" baseline="-25000" dirty="0" smtClean="0"/>
                  <a:t> </a:t>
                </a:r>
                <a:r>
                  <a:rPr lang="en-US" altLang="zh-TW" sz="2500" dirty="0" smtClean="0"/>
                  <a:t> +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TW" altLang="en-US" sz="2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500" b="0" i="1" baseline="-25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500" dirty="0" smtClean="0"/>
                  <a:t> u</a:t>
                </a:r>
                <a:r>
                  <a:rPr lang="en-US" altLang="zh-TW" sz="2500" baseline="-25000" dirty="0"/>
                  <a:t>2</a:t>
                </a:r>
                <a:r>
                  <a:rPr lang="en-US" altLang="zh-TW" sz="2500" dirty="0" smtClean="0"/>
                  <a:t> </a:t>
                </a:r>
                <a:r>
                  <a:rPr lang="en-US" altLang="zh-TW" sz="2500" dirty="0" err="1" smtClean="0"/>
                  <a:t>u</a:t>
                </a:r>
                <a:r>
                  <a:rPr lang="en-US" altLang="zh-TW" sz="2500" baseline="-25000" dirty="0" err="1"/>
                  <a:t>2</a:t>
                </a:r>
                <a:r>
                  <a:rPr lang="en-US" altLang="zh-TW" sz="2500" baseline="-25000" dirty="0" smtClean="0"/>
                  <a:t> </a:t>
                </a:r>
                <a:r>
                  <a:rPr lang="en-US" altLang="zh-TW" sz="2500" dirty="0" smtClean="0"/>
                  <a:t>+…+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TW" altLang="en-US" sz="2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500" b="0" i="1" baseline="-2500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500" dirty="0" smtClean="0"/>
                  <a:t> u</a:t>
                </a:r>
                <a:r>
                  <a:rPr lang="en-US" altLang="zh-TW" sz="2500" baseline="-25000" dirty="0"/>
                  <a:t>n</a:t>
                </a:r>
                <a:r>
                  <a:rPr lang="en-US" altLang="zh-TW" sz="2500" dirty="0" smtClean="0"/>
                  <a:t> </a:t>
                </a:r>
                <a:r>
                  <a:rPr lang="en-US" altLang="zh-TW" sz="2500" dirty="0" err="1" smtClean="0"/>
                  <a:t>u</a:t>
                </a:r>
                <a:r>
                  <a:rPr lang="en-US" altLang="zh-TW" sz="2500" baseline="-25000" dirty="0" err="1"/>
                  <a:t>n</a:t>
                </a:r>
                <a:r>
                  <a:rPr lang="en-US" altLang="zh-TW" sz="2500" baseline="-25000" dirty="0" smtClean="0"/>
                  <a:t> </a:t>
                </a:r>
                <a:endParaRPr lang="zh-TW" altLang="en-US" sz="2500" dirty="0"/>
              </a:p>
              <a:p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168" y="1632152"/>
                <a:ext cx="8204887" cy="861774"/>
              </a:xfrm>
              <a:prstGeom prst="rect">
                <a:avLst/>
              </a:prstGeom>
              <a:blipFill rotWithShape="0">
                <a:blip r:embed="rId3"/>
                <a:stretch>
                  <a:fillRect l="-297" t="-56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/>
          <p:cNvSpPr txBox="1"/>
          <p:nvPr/>
        </p:nvSpPr>
        <p:spPr>
          <a:xfrm>
            <a:off x="2864930" y="430914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973825" y="0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82214" y="331180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973825" y="984169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188536" y="1632151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512144" y="1606649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141778" y="1597781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3014168" y="2486569"/>
                <a:ext cx="8204887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brk m:alnAt="7"/>
                      </m:rPr>
                      <a:rPr lang="zh-TW" altLang="en-US" sz="2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500" b="0" i="1" baseline="-250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500" dirty="0" smtClean="0"/>
                  <a:t> u</a:t>
                </a:r>
                <a:r>
                  <a:rPr lang="en-US" altLang="zh-TW" sz="2500" baseline="-25000" dirty="0" smtClean="0"/>
                  <a:t>1</a:t>
                </a:r>
                <a:r>
                  <a:rPr lang="en-US" altLang="zh-TW" sz="2500" dirty="0" smtClean="0"/>
                  <a:t> </a:t>
                </a:r>
                <a:r>
                  <a:rPr lang="en-US" altLang="zh-TW" sz="2500" dirty="0" err="1" smtClean="0"/>
                  <a:t>u</a:t>
                </a:r>
                <a:r>
                  <a:rPr lang="en-US" altLang="zh-TW" sz="2500" baseline="-25000" dirty="0" err="1" smtClean="0"/>
                  <a:t>1</a:t>
                </a:r>
                <a:r>
                  <a:rPr lang="en-US" altLang="zh-TW" sz="2500" baseline="-25000" dirty="0" smtClean="0"/>
                  <a:t> </a:t>
                </a:r>
                <a:r>
                  <a:rPr lang="en-US" altLang="zh-TW" sz="2500" dirty="0" smtClean="0"/>
                  <a:t> +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TW" altLang="en-US" sz="2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500" b="0" i="1" baseline="-25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500" dirty="0" smtClean="0"/>
                  <a:t> u</a:t>
                </a:r>
                <a:r>
                  <a:rPr lang="en-US" altLang="zh-TW" sz="2500" baseline="-25000" dirty="0"/>
                  <a:t>2</a:t>
                </a:r>
                <a:r>
                  <a:rPr lang="en-US" altLang="zh-TW" sz="2500" dirty="0" smtClean="0"/>
                  <a:t> </a:t>
                </a:r>
                <a:r>
                  <a:rPr lang="en-US" altLang="zh-TW" sz="2500" dirty="0" err="1" smtClean="0"/>
                  <a:t>u</a:t>
                </a:r>
                <a:r>
                  <a:rPr lang="en-US" altLang="zh-TW" sz="2500" baseline="-25000" dirty="0" err="1"/>
                  <a:t>2</a:t>
                </a:r>
                <a:r>
                  <a:rPr lang="en-US" altLang="zh-TW" sz="2500" baseline="-25000" dirty="0" smtClean="0"/>
                  <a:t> </a:t>
                </a:r>
                <a:r>
                  <a:rPr lang="en-US" altLang="zh-TW" sz="2500" dirty="0" smtClean="0"/>
                  <a:t>+…+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TW" altLang="en-US" sz="25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500" b="0" i="1" baseline="-2500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500" dirty="0" smtClean="0"/>
                  <a:t> </a:t>
                </a:r>
                <a:r>
                  <a:rPr lang="en-US" altLang="zh-TW" sz="2500" dirty="0" err="1" smtClean="0"/>
                  <a:t>u</a:t>
                </a:r>
                <a:r>
                  <a:rPr lang="en-US" altLang="zh-TW" sz="2500" baseline="-25000" dirty="0" err="1" smtClean="0"/>
                  <a:t>k</a:t>
                </a:r>
                <a:r>
                  <a:rPr lang="en-US" altLang="zh-TW" sz="2500" dirty="0" smtClean="0"/>
                  <a:t> </a:t>
                </a:r>
                <a:r>
                  <a:rPr lang="en-US" altLang="zh-TW" sz="2500" dirty="0" err="1" smtClean="0"/>
                  <a:t>u</a:t>
                </a:r>
                <a:r>
                  <a:rPr lang="en-US" altLang="zh-TW" sz="2500" baseline="-25000" dirty="0" err="1"/>
                  <a:t>k</a:t>
                </a:r>
                <a:r>
                  <a:rPr lang="en-US" altLang="zh-TW" sz="2500" baseline="-25000" dirty="0" smtClean="0"/>
                  <a:t> </a:t>
                </a:r>
                <a:endParaRPr lang="zh-TW" altLang="en-US" sz="2500" dirty="0"/>
              </a:p>
              <a:p>
                <a:endParaRPr lang="zh-TW" altLang="en-US" sz="25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168" y="2486569"/>
                <a:ext cx="8204887" cy="861774"/>
              </a:xfrm>
              <a:prstGeom prst="rect">
                <a:avLst/>
              </a:prstGeom>
              <a:blipFill rotWithShape="0">
                <a:blip r:embed="rId4"/>
                <a:stretch>
                  <a:fillRect t="-56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內容版面配置區 2"/>
              <p:cNvSpPr txBox="1">
                <a:spLocks/>
              </p:cNvSpPr>
              <p:nvPr/>
            </p:nvSpPr>
            <p:spPr>
              <a:xfrm>
                <a:off x="3163410" y="3134774"/>
                <a:ext cx="10515600" cy="11939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TW" sz="2000" dirty="0" smtClean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aseline="-25000" dirty="0"/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aseline="-25000" dirty="0"/>
                                <m:t>2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k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zh-TW" altLang="en-US" sz="220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TW" sz="2200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altLang="zh-TW" sz="220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>
                                <m:rPr>
                                  <m:brk m:alnAt="7"/>
                                </m:rPr>
                                <a:rPr lang="zh-TW" altLang="en-US" sz="220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200" b="0" i="0" baseline="-2500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aseline="-25000" dirty="0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aseline="-25000" dirty="0"/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20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="0" i="0" baseline="-25000" dirty="0" smtClean="0"/>
                                <m:t>k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22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10" y="3134774"/>
                <a:ext cx="10515600" cy="1193945"/>
              </a:xfrm>
              <a:prstGeom prst="rect">
                <a:avLst/>
              </a:prstGeom>
              <a:blipFill rotWithShape="0">
                <a:blip r:embed="rId5"/>
                <a:stretch>
                  <a:fillRect l="-638" t="-91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內容版面配置區 2"/>
              <p:cNvSpPr txBox="1">
                <a:spLocks/>
              </p:cNvSpPr>
              <p:nvPr/>
            </p:nvSpPr>
            <p:spPr>
              <a:xfrm>
                <a:off x="3163410" y="4495189"/>
                <a:ext cx="10515600" cy="11939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TW" sz="2000" dirty="0" smtClean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aseline="-25000" dirty="0"/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aseline="-25000" dirty="0"/>
                                <m:t>2</m:t>
                              </m:r>
                            </m:e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4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aseline="-25000" dirty="0"/>
                                <m:t>k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TW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brk m:alnAt="7"/>
                                    </m:rPr>
                                    <a:rPr lang="zh-TW" altLang="en-US" sz="220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TW" sz="2200" baseline="-25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rad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altLang="zh-TW" sz="220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TW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brk m:alnAt="7"/>
                                    </m:rPr>
                                    <a:rPr lang="zh-TW" altLang="en-US" sz="220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200" baseline="-250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brk m:alnAt="7"/>
                                    </m:rPr>
                                    <a:rPr lang="zh-TW" altLang="en-US" sz="220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TW" sz="2200" baseline="-25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rad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altLang="zh-TW" sz="220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brk m:alnAt="7"/>
                                    </m:rPr>
                                    <a:rPr lang="zh-TW" altLang="en-US" sz="220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200" baseline="-250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aseline="-25000" dirty="0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aseline="-25000" dirty="0"/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20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sz="2200" dirty="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200" b="0" i="0" baseline="-25000" dirty="0" smtClean="0"/>
                                <m:t>k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23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10" y="4495189"/>
                <a:ext cx="10515600" cy="1193945"/>
              </a:xfrm>
              <a:prstGeom prst="rect">
                <a:avLst/>
              </a:prstGeom>
              <a:blipFill rotWithShape="0">
                <a:blip r:embed="rId6"/>
                <a:stretch>
                  <a:fillRect l="-638" t="-91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/>
          <p:cNvSpPr txBox="1"/>
          <p:nvPr/>
        </p:nvSpPr>
        <p:spPr>
          <a:xfrm>
            <a:off x="6992538" y="2892803"/>
            <a:ext cx="2891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983164" y="3220855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992538" y="3789065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9250350" y="4247525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9250350" y="4584389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250350" y="5150241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3163410" y="6115574"/>
                <a:ext cx="3697294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zh-TW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̂"/>
                        <m:ctrlPr>
                          <a:rPr lang="el-GR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</m:acc>
                    <m:acc>
                      <m:accPr>
                        <m:chr m:val="̂"/>
                        <m:ctrl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</m:acc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10" y="6115574"/>
                <a:ext cx="3697294" cy="376770"/>
              </a:xfrm>
              <a:prstGeom prst="rect">
                <a:avLst/>
              </a:prstGeom>
              <a:blipFill rotWithShape="0">
                <a:blip r:embed="rId7"/>
                <a:stretch>
                  <a:fillRect l="-1485" t="-4839" r="-6271" b="-25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/>
          <p:cNvSpPr txBox="1"/>
          <p:nvPr/>
        </p:nvSpPr>
        <p:spPr>
          <a:xfrm>
            <a:off x="4020340" y="6073575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2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296378" y="6073574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2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969883" y="6023241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2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6384022" y="2961313"/>
                <a:ext cx="264496" cy="310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22" y="2961313"/>
                <a:ext cx="264496" cy="310150"/>
              </a:xfrm>
              <a:prstGeom prst="rect">
                <a:avLst/>
              </a:prstGeom>
              <a:blipFill rotWithShape="0">
                <a:blip r:embed="rId8"/>
                <a:stretch>
                  <a:fillRect t="-17647" r="-47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/>
          <p:cNvSpPr txBox="1"/>
          <p:nvPr/>
        </p:nvSpPr>
        <p:spPr>
          <a:xfrm>
            <a:off x="6648518" y="6023240"/>
            <a:ext cx="212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2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337776" y="2436387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661384" y="2436387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273671" y="2430353"/>
            <a:ext cx="2984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TW" altLang="en-US" sz="15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46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153857"/>
              </p:ext>
            </p:extLst>
          </p:nvPr>
        </p:nvGraphicFramePr>
        <p:xfrm>
          <a:off x="3567050" y="612964"/>
          <a:ext cx="485408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3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294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1.0986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tea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0.4055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0.2916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you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0.2916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99656"/>
              </p:ext>
            </p:extLst>
          </p:nvPr>
        </p:nvGraphicFramePr>
        <p:xfrm>
          <a:off x="3567050" y="3796888"/>
          <a:ext cx="364056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3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3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294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1.0824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0.1510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tea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0.4661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-0.1926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0.0686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-0.5377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you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0.0686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-0.5377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0.0000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29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0.0000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647568" y="1662291"/>
                <a:ext cx="8119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568" y="1662291"/>
                <a:ext cx="811954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458016" y="5077048"/>
                <a:ext cx="1783373" cy="471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016" y="5077048"/>
                <a:ext cx="1783373" cy="471539"/>
              </a:xfrm>
              <a:prstGeom prst="rect">
                <a:avLst/>
              </a:prstGeom>
              <a:blipFill rotWithShape="0">
                <a:blip r:embed="rId3"/>
                <a:stretch>
                  <a:fillRect l="-683" t="-5195"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63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Multi-word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98613"/>
            <a:ext cx="10515600" cy="183197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zh-TW" altLang="en-US" sz="2400" dirty="0"/>
              <a:t>想要探討兩個字之間</a:t>
            </a:r>
            <a:r>
              <a:rPr lang="en-US" altLang="zh-TW" sz="2400" dirty="0"/>
              <a:t>, </a:t>
            </a:r>
            <a:r>
              <a:rPr lang="zh-TW" altLang="en-US" sz="2400" dirty="0"/>
              <a:t>是否存在某種關係</a:t>
            </a:r>
            <a:r>
              <a:rPr lang="en-US" altLang="zh-TW" sz="2400" dirty="0"/>
              <a:t>, </a:t>
            </a:r>
            <a:r>
              <a:rPr lang="zh-TW" altLang="en-US" sz="2400" dirty="0"/>
              <a:t>例如某些字比較容易一起出現</a:t>
            </a:r>
            <a:r>
              <a:rPr lang="en-US" altLang="zh-TW" sz="2400" dirty="0"/>
              <a:t>, </a:t>
            </a:r>
            <a:r>
              <a:rPr lang="zh-TW" altLang="en-US" sz="2400" dirty="0"/>
              <a:t>這些字一起出現時</a:t>
            </a:r>
            <a:r>
              <a:rPr lang="en-US" altLang="zh-TW" sz="2400" dirty="0"/>
              <a:t>, </a:t>
            </a:r>
            <a:r>
              <a:rPr lang="zh-TW" altLang="en-US" sz="2400" dirty="0"/>
              <a:t>可能帶有某種訊息</a:t>
            </a:r>
          </a:p>
          <a:p>
            <a:pPr marL="0" indent="0" fontAlgn="base">
              <a:buNone/>
            </a:pPr>
            <a:r>
              <a:rPr lang="zh-TW" altLang="en-US" sz="2400" dirty="0"/>
              <a:t>例如</a:t>
            </a:r>
            <a:r>
              <a:rPr lang="en-US" altLang="zh-TW" sz="2400" dirty="0"/>
              <a:t>, </a:t>
            </a:r>
            <a:r>
              <a:rPr lang="zh-TW" altLang="en-US" sz="2400" dirty="0"/>
              <a:t>在新聞報導中</a:t>
            </a:r>
            <a:r>
              <a:rPr lang="en-US" altLang="zh-TW" sz="2400" dirty="0"/>
              <a:t>, </a:t>
            </a:r>
            <a:r>
              <a:rPr lang="zh-TW" altLang="en-US" sz="2400" dirty="0"/>
              <a:t>有 </a:t>
            </a:r>
            <a:r>
              <a:rPr lang="en-US" altLang="zh-TW" sz="2400" i="1" dirty="0"/>
              <a:t>New</a:t>
            </a:r>
            <a:r>
              <a:rPr lang="zh-TW" altLang="en-US" sz="2400" dirty="0"/>
              <a:t> </a:t>
            </a:r>
            <a:r>
              <a:rPr lang="en-US" altLang="zh-TW" sz="2400" dirty="0"/>
              <a:t>, </a:t>
            </a:r>
            <a:r>
              <a:rPr lang="en-US" altLang="zh-TW" sz="2400" i="1" dirty="0"/>
              <a:t>York</a:t>
            </a:r>
            <a:r>
              <a:rPr lang="zh-TW" altLang="en-US" sz="2400" dirty="0"/>
              <a:t> </a:t>
            </a:r>
            <a:r>
              <a:rPr lang="en-US" altLang="zh-TW" sz="2400" dirty="0"/>
              <a:t>, </a:t>
            </a:r>
            <a:r>
              <a:rPr lang="zh-TW" altLang="en-US" sz="2400" dirty="0"/>
              <a:t>這兩個字一起出現</a:t>
            </a:r>
            <a:r>
              <a:rPr lang="en-US" altLang="zh-TW" sz="2400" dirty="0"/>
              <a:t>, </a:t>
            </a:r>
            <a:r>
              <a:rPr lang="zh-TW" altLang="en-US" sz="2400" dirty="0"/>
              <a:t>可以代表一個地名 </a:t>
            </a:r>
            <a:r>
              <a:rPr lang="en-US" altLang="zh-TW" sz="2400" i="1" dirty="0"/>
              <a:t>New York</a:t>
            </a:r>
            <a:r>
              <a:rPr lang="zh-TW" altLang="en-US" sz="2400" dirty="0"/>
              <a:t> </a:t>
            </a:r>
            <a:r>
              <a:rPr lang="en-US" altLang="zh-TW" sz="2400" dirty="0"/>
              <a:t>, </a:t>
            </a:r>
            <a:r>
              <a:rPr lang="zh-TW" altLang="en-US" sz="2400" dirty="0"/>
              <a:t>所以當出現了 </a:t>
            </a:r>
            <a:r>
              <a:rPr lang="en-US" altLang="zh-TW" sz="2400" i="1" dirty="0"/>
              <a:t>New</a:t>
            </a:r>
            <a:r>
              <a:rPr lang="zh-TW" altLang="en-US" sz="2400" dirty="0"/>
              <a:t> 這個字</a:t>
            </a:r>
            <a:r>
              <a:rPr lang="en-US" altLang="zh-TW" sz="2400" dirty="0"/>
              <a:t>, </a:t>
            </a:r>
            <a:r>
              <a:rPr lang="zh-TW" altLang="en-US" sz="2400" dirty="0"/>
              <a:t>則有可能出現 </a:t>
            </a:r>
            <a:r>
              <a:rPr lang="en-US" altLang="zh-TW" sz="2400" i="1" dirty="0"/>
              <a:t>York</a:t>
            </a:r>
            <a:endParaRPr lang="zh-TW" altLang="en-US" sz="2400" dirty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38200" y="3430588"/>
            <a:ext cx="10192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P(X)</a:t>
            </a:r>
            <a:r>
              <a:rPr lang="zh-TW" altLang="en-US" dirty="0" smtClean="0"/>
              <a:t>表是文字</a:t>
            </a:r>
            <a:r>
              <a:rPr lang="en-US" altLang="zh-TW" dirty="0" smtClean="0"/>
              <a:t>X</a:t>
            </a:r>
            <a:r>
              <a:rPr lang="zh-TW" altLang="en-US" dirty="0" smtClean="0"/>
              <a:t>出現的機率，</a:t>
            </a:r>
            <a:r>
              <a:rPr lang="en-US" altLang="zh-TW" dirty="0"/>
              <a:t> </a:t>
            </a:r>
            <a:r>
              <a:rPr lang="en-US" altLang="zh-TW" dirty="0" smtClean="0"/>
              <a:t>P(Y)</a:t>
            </a:r>
            <a:r>
              <a:rPr lang="zh-TW" altLang="en-US" dirty="0"/>
              <a:t>表是</a:t>
            </a:r>
            <a:r>
              <a:rPr lang="zh-TW" altLang="en-US" dirty="0" smtClean="0"/>
              <a:t>文字</a:t>
            </a:r>
            <a:r>
              <a:rPr lang="en-US" altLang="zh-TW" dirty="0"/>
              <a:t>Y</a:t>
            </a:r>
            <a:r>
              <a:rPr lang="zh-TW" altLang="en-US" dirty="0" smtClean="0"/>
              <a:t>出現</a:t>
            </a:r>
            <a:r>
              <a:rPr lang="zh-TW" altLang="en-US" dirty="0"/>
              <a:t>的</a:t>
            </a:r>
            <a:r>
              <a:rPr lang="zh-TW" altLang="en-US" dirty="0" smtClean="0"/>
              <a:t>機率，</a:t>
            </a:r>
            <a:r>
              <a:rPr lang="en-US" altLang="zh-TW" dirty="0" smtClean="0"/>
              <a:t>P(X,Y)</a:t>
            </a:r>
            <a:r>
              <a:rPr lang="zh-TW" altLang="en-US" dirty="0" smtClean="0"/>
              <a:t>表示</a:t>
            </a:r>
            <a:r>
              <a:rPr lang="en-US" altLang="zh-TW" dirty="0" smtClean="0"/>
              <a:t>X,Y</a:t>
            </a:r>
            <a:r>
              <a:rPr lang="zh-TW" altLang="en-US" dirty="0" smtClean="0"/>
              <a:t>同時出現的機率。</a:t>
            </a:r>
            <a:endParaRPr lang="en-US" altLang="zh-TW" dirty="0" smtClean="0"/>
          </a:p>
          <a:p>
            <a:r>
              <a:rPr lang="zh-TW" altLang="en-US" dirty="0" smtClean="0"/>
              <a:t>這可以使用</a:t>
            </a:r>
            <a:r>
              <a:rPr lang="en-US" altLang="zh-TW" dirty="0"/>
              <a:t>Pointwise Mutual Information(PMI) </a:t>
            </a:r>
            <a:r>
              <a:rPr lang="zh-TW" altLang="en-US" dirty="0" smtClean="0"/>
              <a:t>計算，公式如下</a:t>
            </a:r>
            <a:r>
              <a:rPr lang="en-US" altLang="zh-TW" dirty="0" smtClean="0"/>
              <a:t>:</a:t>
            </a:r>
          </a:p>
          <a:p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38200" y="5297190"/>
            <a:ext cx="107081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如果某兩個字的出現是獨立事件</a:t>
            </a:r>
            <a:r>
              <a:rPr lang="en-US" altLang="zh-TW" dirty="0"/>
              <a:t>, </a:t>
            </a:r>
            <a:r>
              <a:rPr lang="zh-TW" altLang="en-US" dirty="0"/>
              <a:t>則 </a:t>
            </a:r>
            <a:r>
              <a:rPr lang="en-US" altLang="zh-TW" i="1" dirty="0"/>
              <a:t>PMI</a:t>
            </a:r>
            <a:r>
              <a:rPr lang="zh-TW" altLang="en-US" dirty="0"/>
              <a:t> 為 </a:t>
            </a:r>
            <a:r>
              <a:rPr lang="en-US" altLang="zh-TW" i="1" dirty="0" smtClean="0"/>
              <a:t>0</a:t>
            </a:r>
            <a:endParaRPr lang="en-US" altLang="zh-TW" dirty="0" smtClean="0"/>
          </a:p>
          <a:p>
            <a:r>
              <a:rPr lang="zh-TW" altLang="en-US" dirty="0" smtClean="0"/>
              <a:t>若</a:t>
            </a:r>
            <a:r>
              <a:rPr lang="zh-TW" altLang="en-US" dirty="0"/>
              <a:t>有兩個字出現的機率不是獨立事件</a:t>
            </a:r>
            <a:r>
              <a:rPr lang="en-US" altLang="zh-TW" dirty="0"/>
              <a:t>, </a:t>
            </a:r>
            <a:r>
              <a:rPr lang="zh-TW" altLang="en-US" dirty="0"/>
              <a:t>某個字出現時提昇另一個字的出現的機率</a:t>
            </a:r>
            <a:r>
              <a:rPr lang="en-US" altLang="zh-TW" dirty="0"/>
              <a:t>, </a:t>
            </a:r>
            <a:r>
              <a:rPr lang="zh-TW" altLang="en-US" dirty="0"/>
              <a:t>則 </a:t>
            </a:r>
            <a:r>
              <a:rPr lang="en-US" altLang="zh-TW" i="1" dirty="0"/>
              <a:t>PMI</a:t>
            </a:r>
            <a:r>
              <a:rPr lang="zh-TW" altLang="en-US" dirty="0"/>
              <a:t> 大於 </a:t>
            </a:r>
            <a:r>
              <a:rPr lang="en-US" altLang="zh-TW" i="1" dirty="0" smtClean="0"/>
              <a:t>0</a:t>
            </a:r>
          </a:p>
          <a:p>
            <a:r>
              <a:rPr lang="zh-TW" altLang="en-US" dirty="0"/>
              <a:t>也就是說</a:t>
            </a:r>
            <a:r>
              <a:rPr lang="en-US" altLang="zh-TW" dirty="0"/>
              <a:t>, </a:t>
            </a:r>
            <a:r>
              <a:rPr lang="zh-TW" altLang="en-US" dirty="0"/>
              <a:t>如果這兩個字的出現越不是偶然</a:t>
            </a:r>
            <a:r>
              <a:rPr lang="en-US" altLang="zh-TW" dirty="0"/>
              <a:t>, </a:t>
            </a:r>
            <a:r>
              <a:rPr lang="zh-TW" altLang="en-US" dirty="0"/>
              <a:t>則 </a:t>
            </a:r>
            <a:r>
              <a:rPr lang="en-US" i="1" dirty="0"/>
              <a:t>Pointwise Mutual Information</a:t>
            </a:r>
            <a:r>
              <a:rPr lang="en-US" dirty="0"/>
              <a:t> </a:t>
            </a:r>
            <a:r>
              <a:rPr lang="zh-TW" altLang="en-US" dirty="0"/>
              <a:t>算出來的值越高</a:t>
            </a:r>
            <a:r>
              <a:rPr lang="en-US" altLang="zh-TW" dirty="0"/>
              <a:t>, </a:t>
            </a:r>
            <a:r>
              <a:rPr lang="zh-TW" altLang="en-US" dirty="0"/>
              <a:t>越有可能帶有某種</a:t>
            </a:r>
            <a:r>
              <a:rPr lang="zh-TW" altLang="en-US" dirty="0" smtClean="0"/>
              <a:t>訊息。</a:t>
            </a:r>
            <a:endParaRPr lang="en-US" altLang="zh-TW" dirty="0" smtClean="0"/>
          </a:p>
          <a:p>
            <a:endParaRPr lang="en-US" altLang="zh-TW" i="1" dirty="0" smtClean="0"/>
          </a:p>
          <a:p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191" y="4125913"/>
            <a:ext cx="782002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Datasets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96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Chinese corpus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0" indent="0">
              <a:buNone/>
            </a:pPr>
            <a:r>
              <a:rPr lang="en-US" dirty="0" smtClean="0"/>
              <a:t>TanCorpV1.0 </a:t>
            </a:r>
            <a:r>
              <a:rPr lang="en-US" dirty="0"/>
              <a:t>is used in this </a:t>
            </a:r>
            <a:r>
              <a:rPr lang="en-US" dirty="0" smtClean="0"/>
              <a:t>research</a:t>
            </a:r>
            <a:r>
              <a:rPr lang="en-US" altLang="zh-TW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corpus has 14,150 </a:t>
            </a:r>
            <a:r>
              <a:rPr lang="en-US" dirty="0" smtClean="0"/>
              <a:t>documents with </a:t>
            </a:r>
            <a:r>
              <a:rPr lang="en-US" dirty="0"/>
              <a:t>20 categories from Chinese academic </a:t>
            </a:r>
            <a:r>
              <a:rPr lang="en-US" dirty="0" smtClean="0"/>
              <a:t>journals. </a:t>
            </a:r>
            <a:r>
              <a:rPr lang="en-US" dirty="0"/>
              <a:t>In this paper, </a:t>
            </a:r>
            <a:r>
              <a:rPr lang="en-US" dirty="0" smtClean="0"/>
              <a:t>documents from </a:t>
            </a:r>
            <a:r>
              <a:rPr lang="en-US" dirty="0"/>
              <a:t>four categories as ‘‘agriculture”, ‘‘history”, ‘‘</a:t>
            </a:r>
            <a:r>
              <a:rPr lang="en-US" dirty="0" smtClean="0"/>
              <a:t>politics” and </a:t>
            </a:r>
            <a:r>
              <a:rPr lang="en-US" dirty="0"/>
              <a:t>‘‘economy” are selected as target Chinese document collection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02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Datasets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2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English </a:t>
            </a:r>
            <a:r>
              <a:rPr lang="en-US" dirty="0" smtClean="0"/>
              <a:t>corpus</a:t>
            </a:r>
            <a:r>
              <a:rPr lang="zh-TW" altLang="en-US" dirty="0" smtClean="0"/>
              <a:t>：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Reuters-21578 </a:t>
            </a:r>
            <a:r>
              <a:rPr lang="en-US" dirty="0"/>
              <a:t>distribution 1.0 is used </a:t>
            </a:r>
            <a:r>
              <a:rPr lang="en-US" dirty="0" smtClean="0"/>
              <a:t>in this paper.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It </a:t>
            </a:r>
            <a:r>
              <a:rPr lang="en-US" dirty="0"/>
              <a:t>collects 21,578 news from Reuters newswire </a:t>
            </a:r>
            <a:r>
              <a:rPr lang="en-US" dirty="0" smtClean="0"/>
              <a:t>in 1987</a:t>
            </a:r>
            <a:r>
              <a:rPr lang="en-US" dirty="0"/>
              <a:t>. Since 1991, it appeared as Reuters-22173 and was </a:t>
            </a:r>
            <a:r>
              <a:rPr lang="en-US" dirty="0" smtClean="0"/>
              <a:t>assembled and </a:t>
            </a:r>
            <a:r>
              <a:rPr lang="en-US" dirty="0"/>
              <a:t>indexed with 135 categories by the personnel </a:t>
            </a:r>
            <a:r>
              <a:rPr lang="en-US" dirty="0" smtClean="0"/>
              <a:t>from Reuters </a:t>
            </a:r>
            <a:r>
              <a:rPr lang="en-US" dirty="0"/>
              <a:t>Ltd in 1996. </a:t>
            </a:r>
          </a:p>
        </p:txBody>
      </p:sp>
    </p:spTree>
    <p:extLst>
      <p:ext uri="{BB962C8B-B14F-4D97-AF65-F5344CB8AC3E}">
        <p14:creationId xmlns:p14="http://schemas.microsoft.com/office/powerpoint/2010/main" val="73793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841" y="2146106"/>
            <a:ext cx="5316809" cy="259888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258" y="1330560"/>
            <a:ext cx="4732129" cy="404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5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45" y="1740189"/>
            <a:ext cx="5468379" cy="271310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961" y="1299435"/>
            <a:ext cx="4458201" cy="373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5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834</Words>
  <Application>Microsoft Office PowerPoint</Application>
  <PresentationFormat>寬螢幕</PresentationFormat>
  <Paragraphs>229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8" baseType="lpstr">
      <vt:lpstr>Liberation Sans</vt:lpstr>
      <vt:lpstr>Liberation Sans Narrow</vt:lpstr>
      <vt:lpstr>Liberation Serif</vt:lpstr>
      <vt:lpstr>微軟正黑體</vt:lpstr>
      <vt:lpstr>新細明體</vt:lpstr>
      <vt:lpstr>Arial</vt:lpstr>
      <vt:lpstr>Calibri</vt:lpstr>
      <vt:lpstr>Calibri Light</vt:lpstr>
      <vt:lpstr>Cambria Math</vt:lpstr>
      <vt:lpstr>Mangal</vt:lpstr>
      <vt:lpstr>Tahoma</vt:lpstr>
      <vt:lpstr>Office 佈景主題</vt:lpstr>
      <vt:lpstr>Expert Systems with Applications, Vol. 38 2758–2765 Wen Zhang , Taketoshi Yoshida , Xijin Tang (2011)  </vt:lpstr>
      <vt:lpstr>Abstract</vt:lpstr>
      <vt:lpstr>TF*IDF</vt:lpstr>
      <vt:lpstr>Latent semantic indexing, LSI</vt:lpstr>
      <vt:lpstr>Dot Product of Terms</vt:lpstr>
      <vt:lpstr>Dot Product of Terms</vt:lpstr>
      <vt:lpstr>PowerPoint 簡報</vt:lpstr>
      <vt:lpstr>PowerPoint 簡報</vt:lpstr>
      <vt:lpstr>PowerPoint 簡報</vt:lpstr>
      <vt:lpstr>PowerPoint 簡報</vt:lpstr>
      <vt:lpstr>PowerPoint 簡報</vt:lpstr>
      <vt:lpstr>Multi-word</vt:lpstr>
      <vt:lpstr>Datasets</vt:lpstr>
      <vt:lpstr>Datasets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 Systems with Applications, Vol. 38 2758–2765 Wen Zhang , Taketoshi Yoshida , Xijin Tang (2011)  </dc:title>
  <dc:creator>賴駿豪</dc:creator>
  <cp:lastModifiedBy>pplab-class</cp:lastModifiedBy>
  <cp:revision>62</cp:revision>
  <dcterms:created xsi:type="dcterms:W3CDTF">2016-06-14T02:22:53Z</dcterms:created>
  <dcterms:modified xsi:type="dcterms:W3CDTF">2016-06-21T10:42:29Z</dcterms:modified>
</cp:coreProperties>
</file>