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8" r:id="rId9"/>
    <p:sldId id="269" r:id="rId10"/>
    <p:sldId id="262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3" d="100"/>
          <a:sy n="103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E849-A6E3-4997-ACC1-22F3BB492578}" type="datetimeFigureOut">
              <a:rPr lang="zh-TW" altLang="en-US" smtClean="0"/>
              <a:t>2016/3/8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Longest Common Subsequence Algorithm Suitable for Similar Text Strings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88620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Narao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Nakatsu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Yahiko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Kambayashi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Shuzo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Yajima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Acta Informatica 18, 1982  PP.171 - 179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78088" y="531563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2016/03/08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algorithms for computing the longest common subsequence (LCS for short) are discussed. O(p n) algorithm and O(p(m -p) log n) algorithm [Hirschberg 1977] seem to be best among previously known algorithms, where p is the length of an LCS and m and n are the lengths of given two strings (m ≤ n). There are many applications where the expected length of an LCS is close to m.</a:t>
            </a:r>
          </a:p>
          <a:p>
            <a:pPr marL="0" indent="0">
              <a:buNone/>
            </a:pP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O(n(m-p)) algorithm is presented. When p is close to m (in other words, two given strings are similar), the algorithm presented here runs much faster than previously known algorithms.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A = A(1)A(2)…A(m) 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B = B(1)B(2)…B(n)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and n denote the lengths of string a and b.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Assumed m ≤ n.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5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(j) denotes the largest h such that A(i)A(i+1)…A(m) and B(h)B(h+1)…B(n) have an LCS of length j.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1234567         123456789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abcabad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bdaabacca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= 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5,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 = undefined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50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48680" y="692696"/>
                <a:ext cx="8795320" cy="5141168"/>
              </a:xfrm>
            </p:spPr>
            <p:txBody>
              <a:bodyPr/>
              <a:lstStyle/>
              <a:p>
                <a:r>
                  <a:rPr lang="en-US" altLang="zh-TW" dirty="0" smtClean="0"/>
                  <a:t>Lemma1: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(1) &gt;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(2)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&gt;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… </a:t>
                </a:r>
              </a:p>
              <a:p>
                <a:r>
                  <a:rPr lang="en-US" altLang="zh-TW" dirty="0" smtClean="0"/>
                  <a:t>Lemma2: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US" altLang="zh-TW" b="0" i="1" dirty="0" smtClean="0">
                    <a:latin typeface="Cambria Math"/>
                    <a:ea typeface="Cambria Math"/>
                  </a:rPr>
                  <a:t/>
                </a:r>
                <a:br>
                  <a:rPr lang="en-US" altLang="zh-TW" b="0" i="1" dirty="0" smtClean="0">
                    <a:latin typeface="Cambria Math"/>
                    <a:ea typeface="Cambria Math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</a:rPr>
                      <m:t>)≤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Lemma3: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sz="2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h</m:t>
                                </m:r>
                                <m: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where</m:t>
                            </m:r>
                            <m: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is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the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largest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number</m:t>
                            </m:r>
                          </m:e>
                          <m:e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such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that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A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B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and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where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j</m:t>
                            </m:r>
                            <m: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  <m:t>≥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else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+1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no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such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exists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.                                      </m:t>
                            </m:r>
                          </m:e>
                        </m:eqArr>
                        <m:r>
                          <a:rPr lang="en-US" altLang="zh-TW" sz="2600" b="0" i="0" smtClean="0">
                            <a:latin typeface="Cambria Math"/>
                            <a:ea typeface="Cambria Math"/>
                          </a:rPr>
                          <m:t>  </m:t>
                        </m:r>
                      </m:e>
                    </m:d>
                  </m:oMath>
                </a14:m>
                <a:endParaRPr lang="en-US" altLang="zh-TW" sz="2600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680" y="692696"/>
                <a:ext cx="8795320" cy="5141168"/>
              </a:xfrm>
              <a:blipFill rotWithShape="0">
                <a:blip r:embed="rId2"/>
                <a:stretch>
                  <a:fillRect l="-1594" t="-14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084962"/>
              </p:ext>
            </p:extLst>
          </p:nvPr>
        </p:nvGraphicFramePr>
        <p:xfrm>
          <a:off x="1043608" y="2273747"/>
          <a:ext cx="609600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3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34007"/>
              </p:ext>
            </p:extLst>
          </p:nvPr>
        </p:nvGraphicFramePr>
        <p:xfrm>
          <a:off x="1043608" y="2273747"/>
          <a:ext cx="609600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57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1234567        123456789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abcabad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bdaabacca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676361"/>
              </p:ext>
            </p:extLst>
          </p:nvPr>
        </p:nvGraphicFramePr>
        <p:xfrm>
          <a:off x="1043608" y="2273747"/>
          <a:ext cx="609600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  <a:gridCol w="554182"/>
              </a:tblGrid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4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083660"/>
                <a:ext cx="8229600" cy="485740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1234567        123456789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abcabad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bdaabacca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TW" sz="3000" i="1">
                        <a:solidFill>
                          <a:prstClr val="black"/>
                        </a:solidFill>
                        <a:latin typeface="Cambria Math"/>
                      </a:rPr>
                      <m:t>(1)</m:t>
                    </m:r>
                  </m:oMath>
                </a14:m>
                <a:r>
                  <a:rPr lang="en-US" altLang="zh-TW" sz="3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3000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TW" sz="3000" i="1">
                        <a:latin typeface="Cambria Math"/>
                      </a:rPr>
                      <m:t>(3)</m:t>
                    </m:r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3000" i="1">
                            <a:latin typeface="Cambria Math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/>
                          </a:rPr>
                          <m:t>4</m:t>
                        </m:r>
                      </m:e>
                    </m:d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3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3000" i="1">
                        <a:latin typeface="Cambria Math"/>
                      </a:rPr>
                      <m:t>(5)</m:t>
                    </m:r>
                  </m:oMath>
                </a14:m>
                <a:r>
                  <a:rPr lang="en-US" altLang="zh-TW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 show the common subsequence: </a:t>
                </a:r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B(1)B(4)B(5)B(9) </a:t>
                </a:r>
                <a:endPara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A(2)A(4)A(5)A(6)</a:t>
                </a:r>
                <a:endPara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=baba</a:t>
                </a:r>
                <a:endParaRPr lang="en-US" altLang="zh-TW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83660"/>
                <a:ext cx="8229600" cy="4857403"/>
              </a:xfrm>
              <a:blipFill rotWithShape="0">
                <a:blip r:embed="rId2"/>
                <a:stretch>
                  <a:fillRect l="-1704" t="-2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45926"/>
              </p:ext>
            </p:extLst>
          </p:nvPr>
        </p:nvGraphicFramePr>
        <p:xfrm>
          <a:off x="3131840" y="2807903"/>
          <a:ext cx="59229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  <a:gridCol w="538447"/>
              </a:tblGrid>
              <a:tr h="356596"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           j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 </a:t>
                      </a:r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5659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5796136" y="3861048"/>
            <a:ext cx="432048" cy="4156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5220072" y="4581128"/>
            <a:ext cx="432048" cy="4156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4716016" y="4941168"/>
            <a:ext cx="432048" cy="4156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139952" y="5317641"/>
            <a:ext cx="432048" cy="41561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3844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618</Words>
  <Application>Microsoft Office PowerPoint</Application>
  <PresentationFormat>如螢幕大小 (4:3)</PresentationFormat>
  <Paragraphs>463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新細明體</vt:lpstr>
      <vt:lpstr>Arial</vt:lpstr>
      <vt:lpstr>Calibri</vt:lpstr>
      <vt:lpstr>Cambria Math</vt:lpstr>
      <vt:lpstr>Times New Roman</vt:lpstr>
      <vt:lpstr>Office 佈景主題</vt:lpstr>
      <vt:lpstr>A Longest Common Subsequence Algorithm Suitable for Similar Text Strings</vt:lpstr>
      <vt:lpstr>Abstract</vt:lpstr>
      <vt:lpstr>Definition(1/2)</vt:lpstr>
      <vt:lpstr>Definition(2/2)</vt:lpstr>
      <vt:lpstr>PowerPoint 簡報</vt:lpstr>
      <vt:lpstr>Example</vt:lpstr>
      <vt:lpstr>Example</vt:lpstr>
      <vt:lpstr>Example</vt:lpstr>
      <vt:lpstr>Example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SiangHuai</cp:lastModifiedBy>
  <cp:revision>58</cp:revision>
  <dcterms:created xsi:type="dcterms:W3CDTF">2014-03-03T17:19:54Z</dcterms:created>
  <dcterms:modified xsi:type="dcterms:W3CDTF">2016-03-08T09:42:09Z</dcterms:modified>
</cp:coreProperties>
</file>