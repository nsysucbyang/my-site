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75" r:id="rId2"/>
    <p:sldId id="257" r:id="rId3"/>
    <p:sldId id="258" r:id="rId4"/>
    <p:sldId id="259" r:id="rId5"/>
    <p:sldId id="260" r:id="rId6"/>
    <p:sldId id="261" r:id="rId7"/>
    <p:sldId id="262" r:id="rId8"/>
    <p:sldId id="271" r:id="rId9"/>
    <p:sldId id="263" r:id="rId10"/>
    <p:sldId id="274" r:id="rId11"/>
    <p:sldId id="272" r:id="rId12"/>
    <p:sldId id="273" r:id="rId13"/>
    <p:sldId id="265" r:id="rId14"/>
    <p:sldId id="266" r:id="rId15"/>
    <p:sldId id="267" r:id="rId16"/>
    <p:sldId id="270" r:id="rId17"/>
    <p:sldId id="268" r:id="rId18"/>
    <p:sldId id="269" r:id="rId19"/>
    <p:sldId id="276" r:id="rId20"/>
    <p:sldId id="264" r:id="rId2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59" d="100"/>
          <a:sy n="59" d="100"/>
        </p:scale>
        <p:origin x="64"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E884FB5D-D257-44B3-AB47-0D3ED71AE08C}" type="datetimeFigureOut">
              <a:rPr lang="zh-TW" altLang="en-US" smtClean="0"/>
              <a:t>2016/3/8</a:t>
            </a:fld>
            <a:endParaRPr lang="zh-TW" alt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zh-TW" alt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296584335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926618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E884FB5D-D257-44B3-AB47-0D3ED71AE08C}" type="datetimeFigureOut">
              <a:rPr lang="zh-TW" altLang="en-US" smtClean="0"/>
              <a:t>2016/3/8</a:t>
            </a:fld>
            <a:endParaRPr lang="zh-TW" alt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zh-TW" altLang="en-US"/>
          </a:p>
        </p:txBody>
      </p:sp>
      <p:sp>
        <p:nvSpPr>
          <p:cNvPr id="6" name="Slide Number Placeholder 5"/>
          <p:cNvSpPr>
            <a:spLocks noGrp="1"/>
          </p:cNvSpPr>
          <p:nvPr>
            <p:ph type="sldNum" sz="quarter" idx="12"/>
          </p:nvPr>
        </p:nvSpPr>
        <p:spPr>
          <a:xfrm>
            <a:off x="8604504" y="5211060"/>
            <a:ext cx="2112264" cy="228600"/>
          </a:xfrm>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333675575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327001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860779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2191043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2955567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zh-TW" altLang="en-US" smtClean="0"/>
              <a:t>按一下以編輯母片標題樣式</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8" name="Date Placeholder 7"/>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9" name="Footer Placeholder 8"/>
          <p:cNvSpPr>
            <a:spLocks noGrp="1"/>
          </p:cNvSpPr>
          <p:nvPr>
            <p:ph type="ftr" sz="quarter" idx="11"/>
          </p:nvPr>
        </p:nvSpPr>
        <p:spPr/>
        <p:txBody>
          <a:bodyPr/>
          <a:lstStyle>
            <a:lvl1pPr algn="r">
              <a:defRPr/>
            </a:lvl1pPr>
          </a:lstStyle>
          <a:p>
            <a:endParaRPr lang="zh-TW" alt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C82C2E54-7CB7-4DFE-87E7-5D2503861DB2}" type="slidenum">
              <a:rPr lang="zh-TW" altLang="en-US" smtClean="0"/>
              <a:t>‹#›</a:t>
            </a:fld>
            <a:endParaRPr lang="zh-TW" alt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8640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E884FB5D-D257-44B3-AB47-0D3ED71AE08C}" type="datetimeFigureOut">
              <a:rPr lang="zh-TW" altLang="en-US" smtClean="0"/>
              <a:t>2016/3/8</a:t>
            </a:fld>
            <a:endParaRPr lang="zh-TW" alt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zh-TW" alt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C82C2E54-7CB7-4DFE-87E7-5D2503861DB2}" type="slidenum">
              <a:rPr lang="zh-TW" altLang="en-US" smtClean="0"/>
              <a:t>‹#›</a:t>
            </a:fld>
            <a:endParaRPr lang="zh-TW" alt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65753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1573036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E884FB5D-D257-44B3-AB47-0D3ED71AE08C}" type="datetimeFigureOut">
              <a:rPr lang="zh-TW" altLang="en-US" smtClean="0"/>
              <a:t>2016/3/8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385378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E884FB5D-D257-44B3-AB47-0D3ED71AE08C}" type="datetimeFigureOut">
              <a:rPr lang="zh-TW" altLang="en-US" smtClean="0"/>
              <a:t>2016/3/8</a:t>
            </a:fld>
            <a:endParaRPr lang="zh-TW" alt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zh-TW" alt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C82C2E54-7CB7-4DFE-87E7-5D2503861DB2}" type="slidenum">
              <a:rPr lang="zh-TW" altLang="en-US" smtClean="0"/>
              <a:t>‹#›</a:t>
            </a:fld>
            <a:endParaRPr lang="zh-TW" altLang="en-US"/>
          </a:p>
        </p:txBody>
      </p:sp>
    </p:spTree>
    <p:extLst>
      <p:ext uri="{BB962C8B-B14F-4D97-AF65-F5344CB8AC3E}">
        <p14:creationId xmlns:p14="http://schemas.microsoft.com/office/powerpoint/2010/main" val="43892322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503947" y="1572370"/>
            <a:ext cx="11036996" cy="1446550"/>
          </a:xfrm>
          <a:prstGeom prst="rect">
            <a:avLst/>
          </a:prstGeom>
          <a:noFill/>
        </p:spPr>
        <p:txBody>
          <a:bodyPr wrap="none" rtlCol="0">
            <a:spAutoFit/>
          </a:bodyPr>
          <a:lstStyle/>
          <a:p>
            <a:pPr algn="ctr"/>
            <a:r>
              <a:rPr lang="zh-TW" altLang="en-US" sz="4400" dirty="0"/>
              <a:t>新聞文件自動分類之</a:t>
            </a:r>
            <a:r>
              <a:rPr lang="zh-TW" altLang="en-US" sz="4400" dirty="0" smtClean="0"/>
              <a:t>研究</a:t>
            </a:r>
            <a:endParaRPr lang="en-US" altLang="zh-TW" sz="4400" dirty="0" smtClean="0"/>
          </a:p>
          <a:p>
            <a:r>
              <a:rPr lang="en-US" altLang="zh-TW" sz="4400" dirty="0"/>
              <a:t>Automatic Text Categorization on News</a:t>
            </a:r>
            <a:endParaRPr lang="zh-TW" altLang="en-US" sz="4400" dirty="0"/>
          </a:p>
        </p:txBody>
      </p:sp>
      <p:sp>
        <p:nvSpPr>
          <p:cNvPr id="5" name="文字方塊 4"/>
          <p:cNvSpPr txBox="1"/>
          <p:nvPr/>
        </p:nvSpPr>
        <p:spPr>
          <a:xfrm>
            <a:off x="8379197" y="5773108"/>
            <a:ext cx="3345788" cy="813043"/>
          </a:xfrm>
          <a:prstGeom prst="rect">
            <a:avLst/>
          </a:prstGeom>
          <a:noFill/>
        </p:spPr>
        <p:txBody>
          <a:bodyPr wrap="none" rtlCol="0">
            <a:spAutoFit/>
          </a:bodyPr>
          <a:lstStyle/>
          <a:p>
            <a:pPr lvl="1" algn="r" hangingPunct="0">
              <a:spcBef>
                <a:spcPts val="1284"/>
              </a:spcBef>
              <a:buNone/>
            </a:pPr>
            <a:r>
              <a:rPr lang="en-US" altLang="zh-TW" dirty="0"/>
              <a:t>Presenter</a:t>
            </a:r>
            <a:r>
              <a:rPr lang="zh-TW" altLang="zh-TW" dirty="0"/>
              <a:t>：</a:t>
            </a:r>
            <a:r>
              <a:rPr lang="en-US" altLang="zh-TW" dirty="0"/>
              <a:t>Jyun-Hao Lai</a:t>
            </a:r>
          </a:p>
          <a:p>
            <a:pPr lvl="1" algn="r" hangingPunct="0">
              <a:spcBef>
                <a:spcPts val="1284"/>
              </a:spcBef>
              <a:buNone/>
            </a:pPr>
            <a:r>
              <a:rPr lang="en-US" altLang="zh-TW" dirty="0"/>
              <a:t>Date</a:t>
            </a:r>
            <a:r>
              <a:rPr lang="zh-TW" altLang="zh-TW" dirty="0"/>
              <a:t>：</a:t>
            </a:r>
            <a:r>
              <a:rPr lang="en-US" altLang="zh-TW" dirty="0"/>
              <a:t>105 / 03 / 08</a:t>
            </a:r>
          </a:p>
        </p:txBody>
      </p:sp>
      <p:sp>
        <p:nvSpPr>
          <p:cNvPr id="6" name="副標題 2"/>
          <p:cNvSpPr txBox="1">
            <a:spLocks/>
          </p:cNvSpPr>
          <p:nvPr/>
        </p:nvSpPr>
        <p:spPr>
          <a:xfrm>
            <a:off x="8630175" y="3148003"/>
            <a:ext cx="3220087" cy="542548"/>
          </a:xfrm>
          <a:prstGeom prst="rect">
            <a:avLst/>
          </a:prstGeom>
        </p:spPr>
        <p:txBody>
          <a:bodyPr vert="horz" lIns="91440" tIns="45720" rIns="91440" bIns="45720" rtlCol="0">
            <a:no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buNone/>
            </a:pPr>
            <a:r>
              <a:rPr lang="zh-TW" altLang="en-US" sz="1600" dirty="0" smtClean="0"/>
              <a:t>許雅</a:t>
            </a:r>
            <a:r>
              <a:rPr lang="zh-TW" altLang="en-US" sz="1600" dirty="0"/>
              <a:t>芬</a:t>
            </a:r>
            <a:r>
              <a:rPr lang="zh-TW" altLang="en-US" sz="1600" dirty="0" smtClean="0"/>
              <a:t> 東吳大學 資訊科學系</a:t>
            </a:r>
            <a:endParaRPr lang="en-US" altLang="zh-TW" sz="1600" dirty="0" smtClean="0"/>
          </a:p>
          <a:p>
            <a:pPr marL="0" indent="0">
              <a:buNone/>
            </a:pPr>
            <a:r>
              <a:rPr lang="zh-TW" altLang="en-US" sz="1600" dirty="0" smtClean="0"/>
              <a:t>指導教授</a:t>
            </a:r>
            <a:r>
              <a:rPr lang="zh-TW" altLang="en-US" sz="1600" dirty="0" smtClean="0">
                <a:latin typeface="+mj-ea"/>
              </a:rPr>
              <a:t>：柯淑津</a:t>
            </a:r>
            <a:endParaRPr lang="en-US" altLang="zh-TW" sz="1600" dirty="0" smtClean="0"/>
          </a:p>
        </p:txBody>
      </p:sp>
    </p:spTree>
    <p:extLst>
      <p:ext uri="{BB962C8B-B14F-4D97-AF65-F5344CB8AC3E}">
        <p14:creationId xmlns:p14="http://schemas.microsoft.com/office/powerpoint/2010/main" val="1761279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838200" y="1690688"/>
            <a:ext cx="10801865" cy="4351338"/>
          </a:xfrm>
        </p:spPr>
        <p:txBody>
          <a:bodyPr>
            <a:normAutofit/>
          </a:bodyPr>
          <a:lstStyle/>
          <a:p>
            <a:r>
              <a:rPr lang="en-US" altLang="zh-TW" sz="2400" dirty="0" smtClean="0"/>
              <a:t>In text classification, there are always two important steps. The first step is features selection, and the second one is relevance function selection. Here we propose two techniques to improve the precision of classification by using co-occurrence terms and by considering the positions which bigram occurs. Moreover, this research also provides some other different features selection methods as the contrast for the experiment, including single terms feature, bigram features, bigram features, segmentation features and the position which segmentation occurs.</a:t>
            </a:r>
            <a:endParaRPr lang="zh-TW" altLang="en-US" sz="2400" dirty="0"/>
          </a:p>
        </p:txBody>
      </p:sp>
    </p:spTree>
    <p:extLst>
      <p:ext uri="{BB962C8B-B14F-4D97-AF65-F5344CB8AC3E}">
        <p14:creationId xmlns:p14="http://schemas.microsoft.com/office/powerpoint/2010/main" val="16582793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Features selection</a:t>
            </a:r>
            <a:endParaRPr lang="zh-TW" altLang="en-US" dirty="0"/>
          </a:p>
        </p:txBody>
      </p:sp>
      <p:sp>
        <p:nvSpPr>
          <p:cNvPr id="3" name="內容版面配置區 2"/>
          <p:cNvSpPr>
            <a:spLocks noGrp="1"/>
          </p:cNvSpPr>
          <p:nvPr>
            <p:ph idx="1"/>
          </p:nvPr>
        </p:nvSpPr>
        <p:spPr/>
        <p:txBody>
          <a:bodyPr/>
          <a:lstStyle/>
          <a:p>
            <a:r>
              <a:rPr lang="zh-TW" altLang="en-US" dirty="0" smtClean="0">
                <a:latin typeface="+mj-ea"/>
                <a:ea typeface="+mj-ea"/>
              </a:rPr>
              <a:t>在文件選取特徵詞方面，</a:t>
            </a:r>
            <a:r>
              <a:rPr lang="en-US" altLang="zh-TW" dirty="0" smtClean="0">
                <a:solidFill>
                  <a:srgbClr val="FF0000"/>
                </a:solidFill>
                <a:latin typeface="+mj-ea"/>
                <a:ea typeface="+mj-ea"/>
              </a:rPr>
              <a:t/>
            </a:r>
            <a:br>
              <a:rPr lang="en-US" altLang="zh-TW" dirty="0" smtClean="0">
                <a:solidFill>
                  <a:srgbClr val="FF0000"/>
                </a:solidFill>
                <a:latin typeface="+mj-ea"/>
                <a:ea typeface="+mj-ea"/>
              </a:rPr>
            </a:br>
            <a:r>
              <a:rPr lang="zh-TW" altLang="en-US" dirty="0" smtClean="0">
                <a:latin typeface="+mj-ea"/>
                <a:ea typeface="+mj-ea"/>
              </a:rPr>
              <a:t>中文的研究有：斷詞，雙連字串</a:t>
            </a:r>
            <a:r>
              <a:rPr lang="en-US" altLang="zh-TW" dirty="0" smtClean="0">
                <a:latin typeface="+mj-ea"/>
                <a:ea typeface="+mj-ea"/>
              </a:rPr>
              <a:t>(bigram),</a:t>
            </a:r>
            <a:r>
              <a:rPr lang="zh-TW" altLang="en-US" dirty="0" smtClean="0">
                <a:latin typeface="+mj-ea"/>
                <a:ea typeface="+mj-ea"/>
              </a:rPr>
              <a:t>三連字串</a:t>
            </a:r>
            <a:r>
              <a:rPr lang="en-US" altLang="zh-TW" dirty="0" smtClean="0">
                <a:latin typeface="+mj-ea"/>
                <a:ea typeface="+mj-ea"/>
              </a:rPr>
              <a:t>(trigram)</a:t>
            </a:r>
            <a:r>
              <a:rPr lang="zh-TW" altLang="en-US" dirty="0" smtClean="0">
                <a:latin typeface="+mj-ea"/>
                <a:ea typeface="+mj-ea"/>
              </a:rPr>
              <a:t> 。</a:t>
            </a:r>
            <a:r>
              <a:rPr lang="en-US" altLang="zh-TW" dirty="0">
                <a:latin typeface="+mj-ea"/>
                <a:ea typeface="+mj-ea"/>
              </a:rPr>
              <a:t/>
            </a:r>
            <a:br>
              <a:rPr lang="en-US" altLang="zh-TW" dirty="0">
                <a:latin typeface="+mj-ea"/>
                <a:ea typeface="+mj-ea"/>
              </a:rPr>
            </a:br>
            <a:r>
              <a:rPr lang="en-US" altLang="zh-TW" dirty="0">
                <a:latin typeface="+mj-ea"/>
                <a:ea typeface="+mj-ea"/>
              </a:rPr>
              <a:t/>
            </a:r>
            <a:br>
              <a:rPr lang="en-US" altLang="zh-TW" dirty="0">
                <a:latin typeface="+mj-ea"/>
                <a:ea typeface="+mj-ea"/>
              </a:rPr>
            </a:br>
            <a:r>
              <a:rPr lang="en-US" altLang="zh-TW" dirty="0" smtClean="0">
                <a:latin typeface="+mj-ea"/>
                <a:ea typeface="+mj-ea"/>
              </a:rPr>
              <a:t>Example</a:t>
            </a:r>
            <a:r>
              <a:rPr lang="zh-TW" altLang="en-US" dirty="0" smtClean="0">
                <a:latin typeface="+mj-ea"/>
              </a:rPr>
              <a:t>：</a:t>
            </a:r>
            <a:r>
              <a:rPr lang="zh-TW" altLang="en-US" dirty="0">
                <a:latin typeface="+mj-ea"/>
              </a:rPr>
              <a:t>「國家的利益</a:t>
            </a:r>
            <a:r>
              <a:rPr lang="zh-TW" altLang="en-US" dirty="0" smtClean="0">
                <a:latin typeface="+mj-ea"/>
              </a:rPr>
              <a:t>」</a:t>
            </a:r>
            <a:r>
              <a:rPr lang="en-US" altLang="zh-TW" dirty="0" smtClean="0">
                <a:latin typeface="+mj-ea"/>
              </a:rPr>
              <a:t/>
            </a:r>
            <a:br>
              <a:rPr lang="en-US" altLang="zh-TW" dirty="0" smtClean="0">
                <a:latin typeface="+mj-ea"/>
              </a:rPr>
            </a:br>
            <a:r>
              <a:rPr lang="en-US" altLang="zh-TW" dirty="0">
                <a:latin typeface="+mj-ea"/>
              </a:rPr>
              <a:t/>
            </a:r>
            <a:br>
              <a:rPr lang="en-US" altLang="zh-TW" dirty="0">
                <a:latin typeface="+mj-ea"/>
              </a:rPr>
            </a:br>
            <a:r>
              <a:rPr lang="zh-TW" altLang="en-US" dirty="0" smtClean="0">
                <a:latin typeface="+mj-ea"/>
              </a:rPr>
              <a:t>斷詞處理：國家、的、利益</a:t>
            </a:r>
            <a:r>
              <a:rPr lang="en-US" altLang="zh-TW" dirty="0" smtClean="0">
                <a:latin typeface="+mj-ea"/>
              </a:rPr>
              <a:t/>
            </a:r>
            <a:br>
              <a:rPr lang="en-US" altLang="zh-TW" dirty="0" smtClean="0">
                <a:latin typeface="+mj-ea"/>
              </a:rPr>
            </a:br>
            <a:r>
              <a:rPr lang="en-US" altLang="zh-TW" dirty="0" smtClean="0">
                <a:latin typeface="+mj-ea"/>
                <a:ea typeface="+mj-ea"/>
              </a:rPr>
              <a:t/>
            </a:r>
            <a:br>
              <a:rPr lang="en-US" altLang="zh-TW" dirty="0" smtClean="0">
                <a:latin typeface="+mj-ea"/>
                <a:ea typeface="+mj-ea"/>
              </a:rPr>
            </a:br>
            <a:r>
              <a:rPr lang="en-US" altLang="zh-TW" dirty="0" smtClean="0">
                <a:latin typeface="+mj-ea"/>
                <a:ea typeface="+mj-ea"/>
              </a:rPr>
              <a:t>bigram </a:t>
            </a:r>
            <a:r>
              <a:rPr lang="zh-TW" altLang="en-US" dirty="0" smtClean="0">
                <a:latin typeface="+mj-ea"/>
                <a:ea typeface="+mj-ea"/>
              </a:rPr>
              <a:t>：「國家的利益」→國家、家的、的利、利益</a:t>
            </a:r>
            <a:endParaRPr lang="en-US" altLang="zh-TW" dirty="0" smtClean="0">
              <a:latin typeface="+mj-ea"/>
              <a:ea typeface="+mj-ea"/>
            </a:endParaRPr>
          </a:p>
          <a:p>
            <a:endParaRPr lang="en-US" altLang="zh-TW" dirty="0" smtClean="0">
              <a:latin typeface="+mj-ea"/>
              <a:ea typeface="+mj-ea"/>
            </a:endParaRPr>
          </a:p>
          <a:p>
            <a:r>
              <a:rPr lang="zh-TW" altLang="en-US" dirty="0" smtClean="0">
                <a:latin typeface="+mj-ea"/>
                <a:ea typeface="+mj-ea"/>
              </a:rPr>
              <a:t>此外，文件中兩個詞佔的比例高出其他詞語甚多，且三個詞的重要語意常呈現在兩字詞中。</a:t>
            </a:r>
            <a:r>
              <a:rPr lang="en-US" altLang="zh-TW" dirty="0">
                <a:latin typeface="+mj-ea"/>
                <a:ea typeface="+mj-ea"/>
              </a:rPr>
              <a:t/>
            </a:r>
            <a:br>
              <a:rPr lang="en-US" altLang="zh-TW" dirty="0">
                <a:latin typeface="+mj-ea"/>
                <a:ea typeface="+mj-ea"/>
              </a:rPr>
            </a:br>
            <a:r>
              <a:rPr lang="zh-TW" altLang="en-US" dirty="0" smtClean="0">
                <a:latin typeface="+mj-ea"/>
                <a:ea typeface="+mj-ea"/>
              </a:rPr>
              <a:t>例如：「研究生」</a:t>
            </a:r>
            <a:r>
              <a:rPr lang="zh-TW" altLang="en-US" dirty="0">
                <a:latin typeface="+mj-ea"/>
                <a:ea typeface="+mj-ea"/>
              </a:rPr>
              <a:t>中</a:t>
            </a:r>
            <a:r>
              <a:rPr lang="zh-TW" altLang="en-US" dirty="0" smtClean="0">
                <a:latin typeface="+mj-ea"/>
                <a:ea typeface="+mj-ea"/>
              </a:rPr>
              <a:t>的「研究」可以表現出「研究生」的特徵。</a:t>
            </a:r>
            <a:endParaRPr lang="zh-TW" altLang="en-US" dirty="0">
              <a:latin typeface="+mj-ea"/>
              <a:ea typeface="+mj-ea"/>
            </a:endParaRPr>
          </a:p>
        </p:txBody>
      </p:sp>
    </p:spTree>
    <p:extLst>
      <p:ext uri="{BB962C8B-B14F-4D97-AF65-F5344CB8AC3E}">
        <p14:creationId xmlns:p14="http://schemas.microsoft.com/office/powerpoint/2010/main" val="5685302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Relevance function</a:t>
            </a:r>
            <a:endParaRPr lang="zh-TW" altLang="en-US" dirty="0"/>
          </a:p>
        </p:txBody>
      </p:sp>
      <p:sp>
        <p:nvSpPr>
          <p:cNvPr id="3" name="內容版面配置區 2"/>
          <p:cNvSpPr>
            <a:spLocks noGrp="1"/>
          </p:cNvSpPr>
          <p:nvPr>
            <p:ph idx="1"/>
          </p:nvPr>
        </p:nvSpPr>
        <p:spPr/>
        <p:txBody>
          <a:bodyPr/>
          <a:lstStyle/>
          <a:p>
            <a:r>
              <a:rPr lang="zh-TW" altLang="en-US" dirty="0" smtClean="0"/>
              <a:t>一般來說，相關函數有兩種不同的方法：</a:t>
            </a:r>
            <a:r>
              <a:rPr lang="en-US" altLang="zh-TW" dirty="0" smtClean="0"/>
              <a:t/>
            </a:r>
            <a:br>
              <a:rPr lang="en-US" altLang="zh-TW" dirty="0" smtClean="0"/>
            </a:br>
            <a:r>
              <a:rPr lang="zh-TW" altLang="en-US" dirty="0" smtClean="0">
                <a:solidFill>
                  <a:srgbClr val="FF0000"/>
                </a:solidFill>
              </a:rPr>
              <a:t>中心向量</a:t>
            </a:r>
            <a:r>
              <a:rPr lang="zh-TW" altLang="en-US" dirty="0">
                <a:solidFill>
                  <a:srgbClr val="FF0000"/>
                </a:solidFill>
              </a:rPr>
              <a:t>法</a:t>
            </a:r>
            <a:r>
              <a:rPr lang="zh-TW" altLang="en-US" dirty="0" smtClean="0">
                <a:solidFill>
                  <a:srgbClr val="FF0000"/>
                </a:solidFill>
              </a:rPr>
              <a:t>（</a:t>
            </a:r>
            <a:r>
              <a:rPr lang="en-US" altLang="zh-TW" dirty="0" smtClean="0">
                <a:solidFill>
                  <a:srgbClr val="FF0000"/>
                </a:solidFill>
              </a:rPr>
              <a:t>Centroid</a:t>
            </a:r>
            <a:r>
              <a:rPr lang="zh-TW" altLang="en-US" dirty="0" smtClean="0">
                <a:solidFill>
                  <a:srgbClr val="FF0000"/>
                </a:solidFill>
              </a:rPr>
              <a:t>），</a:t>
            </a:r>
            <a:r>
              <a:rPr lang="en-US" altLang="zh-TW" dirty="0">
                <a:solidFill>
                  <a:srgbClr val="FF0000"/>
                </a:solidFill>
              </a:rPr>
              <a:t/>
            </a:r>
            <a:br>
              <a:rPr lang="en-US" altLang="zh-TW" dirty="0">
                <a:solidFill>
                  <a:srgbClr val="FF0000"/>
                </a:solidFill>
              </a:rPr>
            </a:br>
            <a:r>
              <a:rPr lang="en-US" altLang="zh-TW" dirty="0" smtClean="0">
                <a:solidFill>
                  <a:srgbClr val="FF0000"/>
                </a:solidFill>
              </a:rPr>
              <a:t>k-</a:t>
            </a:r>
            <a:r>
              <a:rPr lang="zh-TW" altLang="en-US" dirty="0" smtClean="0">
                <a:solidFill>
                  <a:srgbClr val="FF0000"/>
                </a:solidFill>
              </a:rPr>
              <a:t>最鄰近法</a:t>
            </a:r>
            <a:r>
              <a:rPr lang="en-US" altLang="zh-TW" dirty="0" smtClean="0">
                <a:solidFill>
                  <a:srgbClr val="FF0000"/>
                </a:solidFill>
              </a:rPr>
              <a:t>(K-Nearest Neighbor)</a:t>
            </a:r>
          </a:p>
          <a:p>
            <a:endParaRPr lang="en-US" altLang="zh-TW" dirty="0">
              <a:solidFill>
                <a:srgbClr val="FF0000"/>
              </a:solidFill>
            </a:endParaRPr>
          </a:p>
          <a:p>
            <a:endParaRPr lang="en-US" altLang="zh-TW" dirty="0"/>
          </a:p>
        </p:txBody>
      </p:sp>
    </p:spTree>
    <p:extLst>
      <p:ext uri="{BB962C8B-B14F-4D97-AF65-F5344CB8AC3E}">
        <p14:creationId xmlns:p14="http://schemas.microsoft.com/office/powerpoint/2010/main" val="37154673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雙字詞較單字詞具代表性</a:t>
            </a:r>
            <a:endParaRPr lang="zh-TW" altLang="en-US" dirty="0"/>
          </a:p>
        </p:txBody>
      </p:sp>
      <p:sp>
        <p:nvSpPr>
          <p:cNvPr id="3" name="內容版面配置區 2"/>
          <p:cNvSpPr>
            <a:spLocks noGrp="1"/>
          </p:cNvSpPr>
          <p:nvPr>
            <p:ph idx="1"/>
          </p:nvPr>
        </p:nvSpPr>
        <p:spPr/>
        <p:txBody>
          <a:bodyPr/>
          <a:lstStyle/>
          <a:p>
            <a:r>
              <a:rPr lang="en-US" altLang="zh-TW" dirty="0" smtClean="0"/>
              <a:t>Example</a:t>
            </a:r>
            <a:r>
              <a:rPr lang="zh-TW" altLang="en-US" dirty="0" smtClean="0"/>
              <a:t>：</a:t>
            </a:r>
            <a:r>
              <a:rPr lang="en-US" altLang="zh-TW" dirty="0"/>
              <a:t/>
            </a:r>
            <a:br>
              <a:rPr lang="en-US" altLang="zh-TW" dirty="0"/>
            </a:br>
            <a:r>
              <a:rPr lang="en-US" altLang="zh-TW" dirty="0" smtClean="0"/>
              <a:t>1.</a:t>
            </a:r>
            <a:r>
              <a:rPr lang="zh-TW" altLang="en-US" dirty="0" smtClean="0"/>
              <a:t>「建設」類：文山區合併</a:t>
            </a:r>
            <a:r>
              <a:rPr lang="zh-TW" altLang="en-US" dirty="0" smtClean="0">
                <a:solidFill>
                  <a:srgbClr val="FF0000"/>
                </a:solidFill>
              </a:rPr>
              <a:t>景美</a:t>
            </a:r>
            <a:r>
              <a:rPr lang="zh-TW" altLang="en-US" dirty="0" smtClean="0"/>
              <a:t>，木柵，向繁榮邁進。</a:t>
            </a:r>
            <a:r>
              <a:rPr lang="en-US" altLang="zh-TW" dirty="0" smtClean="0"/>
              <a:t/>
            </a:r>
            <a:br>
              <a:rPr lang="en-US" altLang="zh-TW" dirty="0" smtClean="0"/>
            </a:br>
            <a:r>
              <a:rPr lang="en-US" altLang="zh-TW" dirty="0" smtClean="0"/>
              <a:t>2.</a:t>
            </a:r>
            <a:r>
              <a:rPr lang="zh-TW" altLang="en-US" dirty="0" smtClean="0"/>
              <a:t>「金融</a:t>
            </a:r>
            <a:r>
              <a:rPr lang="zh-TW" altLang="en-US" dirty="0"/>
              <a:t>」類：</a:t>
            </a:r>
            <a:r>
              <a:rPr lang="zh-TW" altLang="en-US" dirty="0" smtClean="0"/>
              <a:t>才</a:t>
            </a:r>
            <a:r>
              <a:rPr lang="zh-TW" altLang="en-US" dirty="0"/>
              <a:t>短短一個月前，</a:t>
            </a:r>
            <a:r>
              <a:rPr lang="zh-TW" altLang="en-US" dirty="0">
                <a:solidFill>
                  <a:srgbClr val="FF0000"/>
                </a:solidFill>
              </a:rPr>
              <a:t>美國</a:t>
            </a:r>
            <a:r>
              <a:rPr lang="zh-TW" altLang="en-US" dirty="0"/>
              <a:t>股市還瀰漫恐懼，擔驚受怕的投資人不敢再乘坐指數雲霄飛車</a:t>
            </a:r>
            <a:r>
              <a:rPr lang="zh-TW" altLang="en-US" dirty="0" smtClean="0"/>
              <a:t>。</a:t>
            </a:r>
            <a:r>
              <a:rPr lang="en-US" altLang="zh-TW" dirty="0"/>
              <a:t/>
            </a:r>
            <a:br>
              <a:rPr lang="en-US" altLang="zh-TW" dirty="0"/>
            </a:br>
            <a:r>
              <a:rPr lang="en-US" altLang="zh-TW" dirty="0" smtClean="0"/>
              <a:t>3.</a:t>
            </a:r>
            <a:r>
              <a:rPr lang="zh-TW" altLang="en-US" dirty="0" smtClean="0"/>
              <a:t>「美食</a:t>
            </a:r>
            <a:r>
              <a:rPr lang="zh-TW" altLang="en-US" dirty="0"/>
              <a:t>」類：</a:t>
            </a:r>
            <a:r>
              <a:rPr lang="zh-TW" altLang="en-US" dirty="0" smtClean="0"/>
              <a:t>日本</a:t>
            </a:r>
            <a:r>
              <a:rPr lang="zh-TW" altLang="en-US" dirty="0"/>
              <a:t>和食以其敬重自然、遵循時節、珍視食材特有滋味及強調營養均衡的料理精神，廣受世界各地</a:t>
            </a:r>
            <a:r>
              <a:rPr lang="zh-TW" altLang="en-US" dirty="0">
                <a:solidFill>
                  <a:srgbClr val="FF0000"/>
                </a:solidFill>
              </a:rPr>
              <a:t>美食</a:t>
            </a:r>
            <a:r>
              <a:rPr lang="zh-TW" altLang="en-US" dirty="0"/>
              <a:t>愛好者的追捧</a:t>
            </a:r>
            <a:r>
              <a:rPr lang="zh-TW" altLang="en-US" dirty="0" smtClean="0"/>
              <a:t>。</a:t>
            </a:r>
            <a:r>
              <a:rPr lang="en-US" altLang="zh-TW" dirty="0" smtClean="0"/>
              <a:t/>
            </a:r>
            <a:br>
              <a:rPr lang="en-US" altLang="zh-TW" dirty="0" smtClean="0"/>
            </a:br>
            <a:endParaRPr lang="en-US" altLang="zh-TW" dirty="0" smtClean="0"/>
          </a:p>
          <a:p>
            <a:r>
              <a:rPr lang="zh-TW" altLang="en-US" dirty="0" smtClean="0"/>
              <a:t>上述中的「美」分別代表「地名」， 「國名」 ，「美食」，假若只看單字詞，那麼他們都是「美」，如此將會混淆真正的意義，因此若以雙字詞，意義就會被區分開來。</a:t>
            </a:r>
            <a:endParaRPr lang="en-US" altLang="zh-TW" dirty="0" smtClean="0"/>
          </a:p>
        </p:txBody>
      </p:sp>
    </p:spTree>
    <p:extLst>
      <p:ext uri="{BB962C8B-B14F-4D97-AF65-F5344CB8AC3E}">
        <p14:creationId xmlns:p14="http://schemas.microsoft.com/office/powerpoint/2010/main" val="12866225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c</a:t>
            </a:r>
            <a:r>
              <a:rPr lang="en-US" altLang="zh-TW" dirty="0" smtClean="0"/>
              <a:t>o-occurrence</a:t>
            </a:r>
            <a:endParaRPr lang="zh-TW" altLang="en-US" dirty="0"/>
          </a:p>
        </p:txBody>
      </p:sp>
      <p:sp>
        <p:nvSpPr>
          <p:cNvPr id="3" name="內容版面配置區 2"/>
          <p:cNvSpPr>
            <a:spLocks noGrp="1"/>
          </p:cNvSpPr>
          <p:nvPr>
            <p:ph idx="1"/>
          </p:nvPr>
        </p:nvSpPr>
        <p:spPr/>
        <p:txBody>
          <a:bodyPr>
            <a:normAutofit/>
          </a:bodyPr>
          <a:lstStyle/>
          <a:p>
            <a:r>
              <a:rPr lang="en-US" altLang="zh-TW" dirty="0"/>
              <a:t>Example</a:t>
            </a:r>
            <a:r>
              <a:rPr lang="zh-TW" altLang="en-US" dirty="0" smtClean="0"/>
              <a:t>：</a:t>
            </a:r>
            <a:r>
              <a:rPr lang="en-US" altLang="zh-TW" dirty="0"/>
              <a:t/>
            </a:r>
            <a:br>
              <a:rPr lang="en-US" altLang="zh-TW" dirty="0"/>
            </a:br>
            <a:r>
              <a:rPr lang="zh-TW" altLang="en-US" dirty="0" smtClean="0"/>
              <a:t>「國際政經」類：國際</a:t>
            </a:r>
            <a:r>
              <a:rPr lang="zh-TW" altLang="en-US" dirty="0" smtClean="0">
                <a:solidFill>
                  <a:srgbClr val="FF0000"/>
                </a:solidFill>
              </a:rPr>
              <a:t>景氣</a:t>
            </a:r>
            <a:r>
              <a:rPr lang="zh-TW" altLang="en-US" dirty="0" smtClean="0"/>
              <a:t>回顧與前瞻系列報導</a:t>
            </a:r>
            <a:r>
              <a:rPr lang="zh-TW" altLang="en-US" dirty="0"/>
              <a:t>：</a:t>
            </a:r>
            <a:r>
              <a:rPr lang="zh-TW" altLang="en-US" dirty="0" smtClean="0"/>
              <a:t>取代舊蘇聯崩潰邊緣經濟，資源</a:t>
            </a:r>
            <a:r>
              <a:rPr lang="zh-TW" altLang="en-US" dirty="0" smtClean="0">
                <a:solidFill>
                  <a:srgbClr val="FF0000"/>
                </a:solidFill>
              </a:rPr>
              <a:t>配置</a:t>
            </a:r>
            <a:r>
              <a:rPr lang="zh-TW" altLang="en-US" dirty="0" smtClean="0"/>
              <a:t>不當矛盾更為凸顯，新國協正設若不協調，</a:t>
            </a:r>
            <a:r>
              <a:rPr lang="zh-TW" altLang="en-US" dirty="0" smtClean="0">
                <a:solidFill>
                  <a:srgbClr val="FF0000"/>
                </a:solidFill>
              </a:rPr>
              <a:t>經濟</a:t>
            </a:r>
            <a:r>
              <a:rPr lang="zh-TW" altLang="en-US" dirty="0" smtClean="0"/>
              <a:t>更將惡化。</a:t>
            </a:r>
            <a:r>
              <a:rPr lang="en-US" altLang="zh-TW" dirty="0" smtClean="0"/>
              <a:t/>
            </a:r>
            <a:br>
              <a:rPr lang="en-US" altLang="zh-TW" dirty="0" smtClean="0"/>
            </a:br>
            <a:r>
              <a:rPr lang="en-US" altLang="zh-TW" dirty="0"/>
              <a:t/>
            </a:r>
            <a:br>
              <a:rPr lang="en-US" altLang="zh-TW" dirty="0"/>
            </a:br>
            <a:r>
              <a:rPr lang="en-US" altLang="zh-TW" dirty="0" smtClean="0"/>
              <a:t>word</a:t>
            </a:r>
            <a:r>
              <a:rPr lang="zh-TW" altLang="en-US" dirty="0" smtClean="0"/>
              <a:t> ：「國</a:t>
            </a:r>
            <a:r>
              <a:rPr lang="zh-TW" altLang="en-US" dirty="0"/>
              <a:t>際</a:t>
            </a:r>
            <a:r>
              <a:rPr lang="zh-TW" altLang="en-US" dirty="0" smtClean="0"/>
              <a:t>」，「</a:t>
            </a:r>
            <a:r>
              <a:rPr lang="zh-TW" altLang="en-US" dirty="0"/>
              <a:t>景氣</a:t>
            </a:r>
            <a:r>
              <a:rPr lang="zh-TW" altLang="en-US" dirty="0" smtClean="0"/>
              <a:t>」，「蘇</a:t>
            </a:r>
            <a:r>
              <a:rPr lang="zh-TW" altLang="en-US" dirty="0"/>
              <a:t>聯</a:t>
            </a:r>
            <a:r>
              <a:rPr lang="zh-TW" altLang="en-US" dirty="0" smtClean="0"/>
              <a:t>」， </a:t>
            </a:r>
            <a:r>
              <a:rPr lang="zh-TW" altLang="en-US" dirty="0"/>
              <a:t>「配置」 ， </a:t>
            </a:r>
            <a:r>
              <a:rPr lang="zh-TW" altLang="en-US" dirty="0" smtClean="0"/>
              <a:t>「國</a:t>
            </a:r>
            <a:r>
              <a:rPr lang="zh-TW" altLang="en-US" dirty="0"/>
              <a:t>協</a:t>
            </a:r>
            <a:r>
              <a:rPr lang="zh-TW" altLang="en-US" dirty="0" smtClean="0"/>
              <a:t>」 </a:t>
            </a:r>
            <a:r>
              <a:rPr lang="en-US" altLang="zh-TW" dirty="0" smtClean="0"/>
              <a:t>……</a:t>
            </a:r>
            <a:br>
              <a:rPr lang="en-US" altLang="zh-TW" dirty="0" smtClean="0"/>
            </a:br>
            <a:r>
              <a:rPr lang="en-US" altLang="zh-TW" dirty="0" smtClean="0"/>
              <a:t/>
            </a:r>
            <a:br>
              <a:rPr lang="en-US" altLang="zh-TW" dirty="0" smtClean="0"/>
            </a:br>
            <a:r>
              <a:rPr lang="en-US" altLang="zh-TW" dirty="0" smtClean="0"/>
              <a:t>Co-occurrence</a:t>
            </a:r>
            <a:r>
              <a:rPr lang="zh-TW" altLang="en-US" dirty="0"/>
              <a:t>：</a:t>
            </a:r>
            <a:r>
              <a:rPr lang="zh-TW" altLang="en-US" dirty="0" smtClean="0"/>
              <a:t>「</a:t>
            </a:r>
            <a:r>
              <a:rPr lang="zh-TW" altLang="en-US" dirty="0"/>
              <a:t>國際</a:t>
            </a:r>
            <a:r>
              <a:rPr lang="zh-TW" altLang="en-US" dirty="0" smtClean="0"/>
              <a:t>」</a:t>
            </a:r>
            <a:r>
              <a:rPr lang="zh-TW" altLang="en-US" dirty="0"/>
              <a:t>與</a:t>
            </a:r>
            <a:r>
              <a:rPr lang="zh-TW" altLang="en-US" dirty="0" smtClean="0"/>
              <a:t>「</a:t>
            </a:r>
            <a:r>
              <a:rPr lang="zh-TW" altLang="en-US" dirty="0"/>
              <a:t>蘇聯</a:t>
            </a:r>
            <a:r>
              <a:rPr lang="zh-TW" altLang="en-US" dirty="0" smtClean="0"/>
              <a:t>」，「</a:t>
            </a:r>
            <a:r>
              <a:rPr lang="zh-TW" altLang="en-US" dirty="0"/>
              <a:t>國際」與</a:t>
            </a:r>
            <a:r>
              <a:rPr lang="zh-TW" altLang="en-US" dirty="0" smtClean="0"/>
              <a:t>「國</a:t>
            </a:r>
            <a:r>
              <a:rPr lang="zh-TW" altLang="en-US" dirty="0"/>
              <a:t>協</a:t>
            </a:r>
            <a:r>
              <a:rPr lang="zh-TW" altLang="en-US" dirty="0" smtClean="0"/>
              <a:t>」</a:t>
            </a:r>
            <a:r>
              <a:rPr lang="zh-TW" altLang="en-US" dirty="0"/>
              <a:t>，</a:t>
            </a:r>
            <a:r>
              <a:rPr lang="zh-TW" altLang="en-US" dirty="0" smtClean="0"/>
              <a:t>「蘇</a:t>
            </a:r>
            <a:r>
              <a:rPr lang="zh-TW" altLang="en-US" dirty="0"/>
              <a:t>聯</a:t>
            </a:r>
            <a:r>
              <a:rPr lang="zh-TW" altLang="en-US" dirty="0" smtClean="0"/>
              <a:t>」</a:t>
            </a:r>
            <a:r>
              <a:rPr lang="zh-TW" altLang="en-US" dirty="0"/>
              <a:t>與「國協」</a:t>
            </a:r>
            <a:r>
              <a:rPr lang="en-US" altLang="zh-TW" dirty="0"/>
              <a:t/>
            </a:r>
            <a:br>
              <a:rPr lang="en-US" altLang="zh-TW" dirty="0"/>
            </a:br>
            <a:endParaRPr lang="en-US" altLang="zh-TW" dirty="0" smtClean="0"/>
          </a:p>
          <a:p>
            <a:r>
              <a:rPr lang="zh-TW" altLang="en-US" dirty="0" smtClean="0"/>
              <a:t>若我們只看單一語詞，很容易將「</a:t>
            </a:r>
            <a:r>
              <a:rPr lang="zh-TW" altLang="en-US" dirty="0"/>
              <a:t>景氣</a:t>
            </a:r>
            <a:r>
              <a:rPr lang="zh-TW" altLang="en-US" dirty="0" smtClean="0"/>
              <a:t>」</a:t>
            </a:r>
            <a:r>
              <a:rPr lang="zh-TW" altLang="en-US" dirty="0"/>
              <a:t> </a:t>
            </a:r>
            <a:r>
              <a:rPr lang="zh-TW" altLang="en-US" dirty="0" smtClean="0"/>
              <a:t>，</a:t>
            </a:r>
            <a:r>
              <a:rPr lang="zh-TW" altLang="en-US" dirty="0"/>
              <a:t> </a:t>
            </a:r>
            <a:r>
              <a:rPr lang="zh-TW" altLang="en-US" dirty="0" smtClean="0"/>
              <a:t>「經</a:t>
            </a:r>
            <a:r>
              <a:rPr lang="zh-TW" altLang="en-US" dirty="0"/>
              <a:t>濟</a:t>
            </a:r>
            <a:r>
              <a:rPr lang="zh-TW" altLang="en-US" dirty="0" smtClean="0"/>
              <a:t>」 </a:t>
            </a:r>
            <a:r>
              <a:rPr lang="zh-TW" altLang="en-US" dirty="0"/>
              <a:t>， </a:t>
            </a:r>
            <a:r>
              <a:rPr lang="zh-TW" altLang="en-US" dirty="0" smtClean="0"/>
              <a:t>「配</a:t>
            </a:r>
            <a:r>
              <a:rPr lang="zh-TW" altLang="en-US" dirty="0"/>
              <a:t>置</a:t>
            </a:r>
            <a:r>
              <a:rPr lang="zh-TW" altLang="en-US" dirty="0" smtClean="0"/>
              <a:t>」 等語詞，將該文件分到</a:t>
            </a:r>
            <a:r>
              <a:rPr lang="zh-TW" altLang="en-US" dirty="0"/>
              <a:t>「經濟」 </a:t>
            </a:r>
            <a:r>
              <a:rPr lang="zh-TW" altLang="en-US" dirty="0" smtClean="0"/>
              <a:t>類別。</a:t>
            </a:r>
            <a:endParaRPr lang="en-US" altLang="zh-TW" dirty="0" smtClean="0"/>
          </a:p>
          <a:p>
            <a:endParaRPr lang="en-US" altLang="zh-TW" dirty="0" smtClean="0"/>
          </a:p>
          <a:p>
            <a:r>
              <a:rPr lang="zh-TW" altLang="en-US" dirty="0" smtClean="0"/>
              <a:t>若考慮共現</a:t>
            </a:r>
            <a:r>
              <a:rPr lang="zh-TW" altLang="en-US" dirty="0"/>
              <a:t>語</a:t>
            </a:r>
            <a:r>
              <a:rPr lang="zh-TW" altLang="en-US" dirty="0" smtClean="0"/>
              <a:t>詞的話，可以很容易的發現該文件與</a:t>
            </a:r>
            <a:r>
              <a:rPr lang="zh-TW" altLang="en-US" dirty="0"/>
              <a:t>「國際政經</a:t>
            </a:r>
            <a:r>
              <a:rPr lang="zh-TW" altLang="en-US" dirty="0" smtClean="0"/>
              <a:t>」有較高的關聯度。</a:t>
            </a:r>
            <a:endParaRPr lang="en-US" altLang="zh-TW" dirty="0" smtClean="0"/>
          </a:p>
        </p:txBody>
      </p:sp>
    </p:spTree>
    <p:extLst>
      <p:ext uri="{BB962C8B-B14F-4D97-AF65-F5344CB8AC3E}">
        <p14:creationId xmlns:p14="http://schemas.microsoft.com/office/powerpoint/2010/main" val="41051024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Methods</a:t>
            </a:r>
            <a:endParaRPr lang="zh-TW" altLang="en-US" dirty="0"/>
          </a:p>
        </p:txBody>
      </p:sp>
      <p:sp>
        <p:nvSpPr>
          <p:cNvPr id="5" name="文字方塊 4"/>
          <p:cNvSpPr txBox="1"/>
          <p:nvPr/>
        </p:nvSpPr>
        <p:spPr>
          <a:xfrm>
            <a:off x="1066800" y="2014194"/>
            <a:ext cx="9725739" cy="1477328"/>
          </a:xfrm>
          <a:prstGeom prst="rect">
            <a:avLst/>
          </a:prstGeom>
          <a:noFill/>
        </p:spPr>
        <p:txBody>
          <a:bodyPr wrap="none" rtlCol="0">
            <a:spAutoFit/>
          </a:bodyPr>
          <a:lstStyle/>
          <a:p>
            <a:r>
              <a:rPr lang="en-US" altLang="zh-TW" dirty="0" smtClean="0"/>
              <a:t>Materials</a:t>
            </a:r>
            <a:r>
              <a:rPr lang="zh-TW" altLang="en-US" dirty="0" smtClean="0"/>
              <a:t>：</a:t>
            </a:r>
            <a:r>
              <a:rPr lang="en-US" altLang="zh-TW" dirty="0" smtClean="0"/>
              <a:t/>
            </a:r>
            <a:br>
              <a:rPr lang="en-US" altLang="zh-TW" dirty="0" smtClean="0"/>
            </a:br>
            <a:r>
              <a:rPr lang="zh-TW" altLang="en-US" dirty="0" smtClean="0"/>
              <a:t>中文研究資料來自</a:t>
            </a:r>
            <a:r>
              <a:rPr lang="en-US" altLang="zh-TW" dirty="0" smtClean="0"/>
              <a:t>『</a:t>
            </a:r>
            <a:r>
              <a:rPr lang="zh-TW" altLang="en-US" dirty="0" smtClean="0"/>
              <a:t>財經紀事</a:t>
            </a:r>
            <a:r>
              <a:rPr lang="en-US" altLang="zh-TW" dirty="0" smtClean="0"/>
              <a:t>』(</a:t>
            </a:r>
            <a:r>
              <a:rPr lang="zh-TW" altLang="en-US" dirty="0" smtClean="0"/>
              <a:t>卓越出版社，</a:t>
            </a:r>
            <a:r>
              <a:rPr lang="en-US" altLang="zh-TW" dirty="0" smtClean="0"/>
              <a:t>1992)</a:t>
            </a:r>
            <a:r>
              <a:rPr lang="zh-TW" altLang="en-US" dirty="0" smtClean="0"/>
              <a:t>中所含的新聞標題，其內容取自民國</a:t>
            </a:r>
            <a:r>
              <a:rPr lang="en-US" altLang="zh-TW" dirty="0" smtClean="0"/>
              <a:t>81</a:t>
            </a:r>
            <a:r>
              <a:rPr lang="zh-TW" altLang="en-US" dirty="0" smtClean="0"/>
              <a:t>年</a:t>
            </a:r>
            <a:r>
              <a:rPr lang="en-US" altLang="zh-TW" dirty="0" smtClean="0"/>
              <a:t/>
            </a:r>
            <a:br>
              <a:rPr lang="en-US" altLang="zh-TW" dirty="0" smtClean="0"/>
            </a:br>
            <a:r>
              <a:rPr lang="zh-TW" altLang="en-US" dirty="0" smtClean="0"/>
              <a:t>間的中國時報，工商日報，聯合報，民生報等各報社之新聞標題，共含有</a:t>
            </a:r>
            <a:r>
              <a:rPr lang="en-US" altLang="zh-TW" dirty="0" smtClean="0"/>
              <a:t>124940</a:t>
            </a:r>
            <a:r>
              <a:rPr lang="zh-TW" altLang="en-US" dirty="0" smtClean="0"/>
              <a:t>則新聞標題，</a:t>
            </a:r>
            <a:endParaRPr lang="en-US" altLang="zh-TW" dirty="0" smtClean="0"/>
          </a:p>
          <a:p>
            <a:r>
              <a:rPr lang="zh-TW" altLang="en-US" dirty="0" smtClean="0"/>
              <a:t>每則</a:t>
            </a:r>
            <a:r>
              <a:rPr lang="zh-TW" altLang="en-US" dirty="0"/>
              <a:t>新聞</a:t>
            </a:r>
            <a:r>
              <a:rPr lang="zh-TW" altLang="en-US" dirty="0" smtClean="0"/>
              <a:t>標題階經過人工標示所屬類別。</a:t>
            </a:r>
            <a:endParaRPr lang="en-US" altLang="zh-TW" dirty="0" smtClean="0"/>
          </a:p>
          <a:p>
            <a:endParaRPr lang="zh-TW" altLang="en-US" dirty="0"/>
          </a:p>
        </p:txBody>
      </p:sp>
    </p:spTree>
    <p:extLst>
      <p:ext uri="{BB962C8B-B14F-4D97-AF65-F5344CB8AC3E}">
        <p14:creationId xmlns:p14="http://schemas.microsoft.com/office/powerpoint/2010/main" val="22746863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Methods</a:t>
            </a:r>
            <a:endParaRPr lang="zh-TW" altLang="en-US" dirty="0"/>
          </a:p>
        </p:txBody>
      </p:sp>
      <p:sp>
        <p:nvSpPr>
          <p:cNvPr id="3" name="內容版面配置區 2"/>
          <p:cNvSpPr>
            <a:spLocks noGrp="1"/>
          </p:cNvSpPr>
          <p:nvPr>
            <p:ph idx="1"/>
          </p:nvPr>
        </p:nvSpPr>
        <p:spPr/>
        <p:txBody>
          <a:bodyPr/>
          <a:lstStyle/>
          <a:p>
            <a:r>
              <a:rPr lang="en-US" altLang="zh-TW" dirty="0"/>
              <a:t>Features selection</a:t>
            </a:r>
            <a:r>
              <a:rPr lang="zh-TW" altLang="en-US" dirty="0"/>
              <a:t> ：</a:t>
            </a:r>
            <a:endParaRPr lang="en-US" altLang="zh-TW" dirty="0"/>
          </a:p>
          <a:p>
            <a:pPr marL="0" indent="0">
              <a:buNone/>
            </a:pPr>
            <a:r>
              <a:rPr lang="en-US" altLang="zh-TW" dirty="0"/>
              <a:t>1.</a:t>
            </a:r>
            <a:r>
              <a:rPr lang="zh-TW" altLang="en-US" dirty="0"/>
              <a:t>對訓練文件拆成雙連字。</a:t>
            </a:r>
            <a:endParaRPr lang="en-US" altLang="zh-TW" dirty="0"/>
          </a:p>
          <a:p>
            <a:pPr marL="0" indent="0">
              <a:buNone/>
            </a:pPr>
            <a:r>
              <a:rPr lang="en-US" altLang="zh-TW" dirty="0"/>
              <a:t>2.</a:t>
            </a:r>
            <a:r>
              <a:rPr lang="zh-TW" altLang="en-US" dirty="0"/>
              <a:t>將每篇文件中的詞語兩兩配對一組，這些配對的詞語就是共現語詞。</a:t>
            </a:r>
            <a:endParaRPr lang="en-US" altLang="zh-TW" dirty="0"/>
          </a:p>
          <a:p>
            <a:pPr marL="0" indent="0">
              <a:buNone/>
            </a:pPr>
            <a:r>
              <a:rPr lang="en-US" altLang="zh-TW" dirty="0"/>
              <a:t>3.</a:t>
            </a:r>
            <a:r>
              <a:rPr lang="zh-TW" altLang="en-US" dirty="0"/>
              <a:t>使用統計的分法，計算每組共現語詞出現在各類別的頻率。</a:t>
            </a:r>
            <a:endParaRPr lang="en-US" altLang="zh-TW" dirty="0"/>
          </a:p>
          <a:p>
            <a:pPr marL="0" indent="0">
              <a:buNone/>
            </a:pPr>
            <a:endParaRPr lang="en-US" altLang="zh-TW" dirty="0"/>
          </a:p>
          <a:p>
            <a:pPr marL="0" indent="0">
              <a:buNone/>
            </a:pPr>
            <a:r>
              <a:rPr lang="zh-TW" altLang="en-US" dirty="0"/>
              <a:t>例如： </a:t>
            </a:r>
            <a:r>
              <a:rPr lang="en-US" altLang="zh-TW" dirty="0"/>
              <a:t/>
            </a:r>
            <a:br>
              <a:rPr lang="en-US" altLang="zh-TW" dirty="0"/>
            </a:br>
            <a:r>
              <a:rPr lang="zh-TW" altLang="en-US" dirty="0"/>
              <a:t>「政黨」與「執政」這組共現語詞在「政治」類別有高頻率的出現，表示此共現語詞與「政治」類別有相當高的關聯度。</a:t>
            </a:r>
            <a:endParaRPr lang="en-US" altLang="zh-TW" dirty="0"/>
          </a:p>
          <a:p>
            <a:endParaRPr lang="zh-TW" altLang="en-US" dirty="0"/>
          </a:p>
        </p:txBody>
      </p:sp>
    </p:spTree>
    <p:extLst>
      <p:ext uri="{BB962C8B-B14F-4D97-AF65-F5344CB8AC3E}">
        <p14:creationId xmlns:p14="http://schemas.microsoft.com/office/powerpoint/2010/main" val="30103533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Methods</a:t>
            </a:r>
            <a:endParaRPr lang="zh-TW" altLang="en-US" dirty="0"/>
          </a:p>
        </p:txBody>
      </p:sp>
      <p:sp>
        <p:nvSpPr>
          <p:cNvPr id="3" name="內容版面配置區 2"/>
          <p:cNvSpPr>
            <a:spLocks noGrp="1"/>
          </p:cNvSpPr>
          <p:nvPr>
            <p:ph idx="1"/>
          </p:nvPr>
        </p:nvSpPr>
        <p:spPr>
          <a:xfrm>
            <a:off x="1066800" y="2014195"/>
            <a:ext cx="10058400" cy="1865828"/>
          </a:xfrm>
        </p:spPr>
        <p:txBody>
          <a:bodyPr>
            <a:normAutofit lnSpcReduction="10000"/>
          </a:bodyPr>
          <a:lstStyle/>
          <a:p>
            <a:r>
              <a:rPr lang="zh-TW" altLang="en-US" dirty="0" smtClean="0">
                <a:latin typeface="Times New Roman" panose="02020603050405020304" pitchFamily="18" charset="0"/>
                <a:cs typeface="Times New Roman" panose="02020603050405020304" pitchFamily="18" charset="0"/>
              </a:rPr>
              <a:t>本文採用中心向量法中的</a:t>
            </a:r>
            <a:r>
              <a:rPr lang="en-US" altLang="zh-TW" dirty="0" smtClean="0">
                <a:solidFill>
                  <a:srgbClr val="FF0000"/>
                </a:solidFill>
                <a:latin typeface="Times New Roman" panose="02020603050405020304" pitchFamily="18" charset="0"/>
                <a:cs typeface="Times New Roman" panose="02020603050405020304" pitchFamily="18" charset="0"/>
              </a:rPr>
              <a:t>TF*IDF</a:t>
            </a:r>
            <a:r>
              <a:rPr lang="zh-TW" altLang="en-US" dirty="0" smtClean="0">
                <a:latin typeface="Times New Roman" panose="02020603050405020304" pitchFamily="18" charset="0"/>
                <a:cs typeface="Times New Roman" panose="02020603050405020304" pitchFamily="18" charset="0"/>
              </a:rPr>
              <a:t>來計算文件跟類別間的相關程度，即透過</a:t>
            </a:r>
            <a:r>
              <a:rPr lang="en-US" altLang="zh-TW" dirty="0" smtClean="0">
                <a:solidFill>
                  <a:srgbClr val="FF0000"/>
                </a:solidFill>
                <a:latin typeface="Times New Roman" panose="02020603050405020304" pitchFamily="18" charset="0"/>
                <a:cs typeface="Times New Roman" panose="02020603050405020304" pitchFamily="18" charset="0"/>
              </a:rPr>
              <a:t>TF*IDF</a:t>
            </a:r>
            <a:r>
              <a:rPr lang="zh-TW" altLang="en-US" dirty="0" smtClean="0">
                <a:latin typeface="Times New Roman" panose="02020603050405020304" pitchFamily="18" charset="0"/>
                <a:cs typeface="Times New Roman" panose="02020603050405020304" pitchFamily="18" charset="0"/>
              </a:rPr>
              <a:t>來評估每個語詞的重要程度。</a:t>
            </a:r>
            <a:endParaRPr lang="en-US" altLang="zh-TW"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zh-TW" altLang="en-US" dirty="0" smtClean="0">
                <a:latin typeface="Times New Roman" panose="02020603050405020304" pitchFamily="18" charset="0"/>
                <a:cs typeface="Times New Roman" panose="02020603050405020304" pitchFamily="18" charset="0"/>
              </a:rPr>
              <a:t>假設給與一個文件</a:t>
            </a:r>
            <a:r>
              <a:rPr lang="en-US" altLang="zh-TW" dirty="0" smtClean="0">
                <a:latin typeface="Times New Roman" panose="02020603050405020304" pitchFamily="18" charset="0"/>
                <a:cs typeface="Times New Roman" panose="02020603050405020304" pitchFamily="18" charset="0"/>
              </a:rPr>
              <a:t>d</a:t>
            </a:r>
            <a:r>
              <a:rPr lang="zh-TW" altLang="en-US" dirty="0" smtClean="0">
                <a:latin typeface="Times New Roman" panose="02020603050405020304" pitchFamily="18" charset="0"/>
                <a:cs typeface="Times New Roman" panose="02020603050405020304" pitchFamily="18" charset="0"/>
              </a:rPr>
              <a:t>，以及出現在</a:t>
            </a:r>
            <a:r>
              <a:rPr lang="en-US" altLang="zh-TW" dirty="0" smtClean="0">
                <a:latin typeface="Times New Roman" panose="02020603050405020304" pitchFamily="18" charset="0"/>
                <a:cs typeface="Times New Roman" panose="02020603050405020304" pitchFamily="18" charset="0"/>
              </a:rPr>
              <a:t>d</a:t>
            </a:r>
            <a:r>
              <a:rPr lang="zh-TW" altLang="en-US" dirty="0" smtClean="0">
                <a:latin typeface="Times New Roman" panose="02020603050405020304" pitchFamily="18" charset="0"/>
                <a:cs typeface="Times New Roman" panose="02020603050405020304" pitchFamily="18" charset="0"/>
              </a:rPr>
              <a:t>中的特徵語詞</a:t>
            </a:r>
            <a:r>
              <a:rPr lang="en-US" altLang="zh-TW" dirty="0" smtClean="0">
                <a:latin typeface="Times New Roman" panose="02020603050405020304" pitchFamily="18" charset="0"/>
                <a:cs typeface="Times New Roman" panose="02020603050405020304" pitchFamily="18" charset="0"/>
              </a:rPr>
              <a:t>a</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
            </a:r>
            <a:br>
              <a:rPr lang="en-US" altLang="zh-TW" dirty="0" smtClean="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a:r>
            <a:br>
              <a:rPr lang="en-US" altLang="zh-TW" dirty="0">
                <a:latin typeface="Times New Roman" panose="02020603050405020304" pitchFamily="18" charset="0"/>
                <a:cs typeface="Times New Roman" panose="02020603050405020304" pitchFamily="18" charset="0"/>
              </a:rPr>
            </a:br>
            <a:r>
              <a:rPr lang="zh-TW" altLang="en-US" dirty="0" smtClean="0">
                <a:latin typeface="Times New Roman" panose="02020603050405020304" pitchFamily="18" charset="0"/>
                <a:cs typeface="Times New Roman" panose="02020603050405020304" pitchFamily="18" charset="0"/>
              </a:rPr>
              <a:t>→我們決定</a:t>
            </a:r>
            <a:r>
              <a:rPr lang="en-US" altLang="zh-TW" dirty="0" smtClean="0">
                <a:latin typeface="Times New Roman" panose="02020603050405020304" pitchFamily="18" charset="0"/>
                <a:cs typeface="Times New Roman" panose="02020603050405020304" pitchFamily="18" charset="0"/>
              </a:rPr>
              <a:t>a</a:t>
            </a:r>
            <a:r>
              <a:rPr lang="zh-TW" altLang="en-US" dirty="0" smtClean="0">
                <a:latin typeface="Times New Roman" panose="02020603050405020304" pitchFamily="18" charset="0"/>
                <a:cs typeface="Times New Roman" panose="02020603050405020304" pitchFamily="18" charset="0"/>
              </a:rPr>
              <a:t>在</a:t>
            </a:r>
            <a:r>
              <a:rPr lang="en-US" altLang="zh-TW" dirty="0" smtClean="0">
                <a:latin typeface="Times New Roman" panose="02020603050405020304" pitchFamily="18" charset="0"/>
                <a:cs typeface="Times New Roman" panose="02020603050405020304" pitchFamily="18" charset="0"/>
              </a:rPr>
              <a:t>d</a:t>
            </a:r>
            <a:r>
              <a:rPr lang="zh-TW" altLang="en-US" dirty="0" smtClean="0">
                <a:latin typeface="Times New Roman" panose="02020603050405020304" pitchFamily="18" charset="0"/>
                <a:cs typeface="Times New Roman" panose="02020603050405020304" pitchFamily="18" charset="0"/>
              </a:rPr>
              <a:t>中的重要性為：</a:t>
            </a:r>
            <a:r>
              <a:rPr lang="en-US" altLang="zh-TW" dirty="0" smtClean="0">
                <a:latin typeface="Times New Roman" panose="02020603050405020304" pitchFamily="18" charset="0"/>
                <a:cs typeface="Times New Roman" panose="02020603050405020304" pitchFamily="18" charset="0"/>
              </a:rPr>
              <a:t>a</a:t>
            </a:r>
            <a:r>
              <a:rPr lang="zh-TW" altLang="en-US" dirty="0" smtClean="0">
                <a:latin typeface="Times New Roman" panose="02020603050405020304" pitchFamily="18" charset="0"/>
                <a:cs typeface="Times New Roman" panose="02020603050405020304" pitchFamily="18" charset="0"/>
              </a:rPr>
              <a:t>在</a:t>
            </a:r>
            <a:r>
              <a:rPr lang="en-US" altLang="zh-TW" dirty="0" smtClean="0">
                <a:latin typeface="Times New Roman" panose="02020603050405020304" pitchFamily="18" charset="0"/>
                <a:cs typeface="Times New Roman" panose="02020603050405020304" pitchFamily="18" charset="0"/>
              </a:rPr>
              <a:t>d</a:t>
            </a:r>
            <a:r>
              <a:rPr lang="zh-TW" altLang="en-US" dirty="0" smtClean="0">
                <a:latin typeface="Times New Roman" panose="02020603050405020304" pitchFamily="18" charset="0"/>
                <a:cs typeface="Times New Roman" panose="02020603050405020304" pitchFamily="18" charset="0"/>
              </a:rPr>
              <a:t>中出現的次數</a:t>
            </a:r>
            <a:r>
              <a:rPr lang="en-US" altLang="zh-TW" dirty="0" smtClean="0">
                <a:latin typeface="Times New Roman" panose="02020603050405020304" pitchFamily="18" charset="0"/>
                <a:cs typeface="Times New Roman" panose="02020603050405020304" pitchFamily="18" charset="0"/>
              </a:rPr>
              <a:t>TF</a:t>
            </a:r>
            <a:r>
              <a:rPr lang="zh-TW" altLang="en-US" dirty="0" smtClean="0">
                <a:latin typeface="Times New Roman" panose="02020603050405020304" pitchFamily="18" charset="0"/>
                <a:cs typeface="Times New Roman" panose="02020603050405020304" pitchFamily="18" charset="0"/>
              </a:rPr>
              <a:t>乘以特徵語詞</a:t>
            </a:r>
            <a:r>
              <a:rPr lang="en-US" altLang="zh-TW" dirty="0" smtClean="0">
                <a:latin typeface="Times New Roman" panose="02020603050405020304" pitchFamily="18" charset="0"/>
                <a:cs typeface="Times New Roman" panose="02020603050405020304" pitchFamily="18" charset="0"/>
              </a:rPr>
              <a:t>a</a:t>
            </a:r>
            <a:r>
              <a:rPr lang="zh-TW" altLang="en-US" dirty="0" smtClean="0">
                <a:latin typeface="Times New Roman" panose="02020603050405020304" pitchFamily="18" charset="0"/>
                <a:cs typeface="Times New Roman" panose="02020603050405020304" pitchFamily="18" charset="0"/>
              </a:rPr>
              <a:t>本身的重要性</a:t>
            </a:r>
            <a:r>
              <a:rPr lang="en-US" altLang="zh-TW" dirty="0" smtClean="0">
                <a:latin typeface="Times New Roman" panose="02020603050405020304" pitchFamily="18" charset="0"/>
                <a:cs typeface="Times New Roman" panose="02020603050405020304" pitchFamily="18" charset="0"/>
              </a:rPr>
              <a:t>IDF</a:t>
            </a:r>
            <a:endParaRPr lang="zh-TW" altLang="en-US" dirty="0">
              <a:latin typeface="Times New Roman" panose="02020603050405020304" pitchFamily="18" charset="0"/>
              <a:cs typeface="Times New Roman" panose="02020603050405020304" pitchFamily="18" charset="0"/>
            </a:endParaRPr>
          </a:p>
        </p:txBody>
      </p:sp>
      <p:sp>
        <p:nvSpPr>
          <p:cNvPr id="5" name="文字方塊 4"/>
          <p:cNvSpPr txBox="1"/>
          <p:nvPr/>
        </p:nvSpPr>
        <p:spPr>
          <a:xfrm>
            <a:off x="1248032" y="4011827"/>
            <a:ext cx="9587881" cy="2308324"/>
          </a:xfrm>
          <a:prstGeom prst="rect">
            <a:avLst/>
          </a:prstGeom>
          <a:noFill/>
        </p:spPr>
        <p:txBody>
          <a:bodyPr wrap="none" rtlCol="0">
            <a:spAutoFit/>
          </a:bodyPr>
          <a:lstStyle/>
          <a:p>
            <a:r>
              <a:rPr lang="en-US" altLang="zh-TW" dirty="0" smtClean="0"/>
              <a:t>Term Frequency(TF)</a:t>
            </a:r>
            <a:r>
              <a:rPr lang="zh-TW" altLang="en-US" dirty="0" smtClean="0"/>
              <a:t>：</a:t>
            </a:r>
            <a:r>
              <a:rPr lang="en-US" altLang="zh-TW" dirty="0" smtClean="0"/>
              <a:t/>
            </a:r>
            <a:br>
              <a:rPr lang="en-US" altLang="zh-TW" dirty="0" smtClean="0"/>
            </a:br>
            <a:r>
              <a:rPr lang="zh-TW" altLang="en-US" dirty="0" smtClean="0">
                <a:solidFill>
                  <a:schemeClr val="tx1">
                    <a:lumMod val="75000"/>
                    <a:lumOff val="25000"/>
                  </a:schemeClr>
                </a:solidFill>
              </a:rPr>
              <a:t>詞</a:t>
            </a:r>
            <a:r>
              <a:rPr lang="zh-TW" altLang="en-US" dirty="0">
                <a:solidFill>
                  <a:schemeClr val="tx1">
                    <a:lumMod val="75000"/>
                    <a:lumOff val="25000"/>
                  </a:schemeClr>
                </a:solidFill>
              </a:rPr>
              <a:t>出現在類別</a:t>
            </a:r>
            <a:r>
              <a:rPr lang="zh-TW" altLang="en-US" dirty="0" smtClean="0">
                <a:solidFill>
                  <a:schemeClr val="tx1">
                    <a:lumMod val="75000"/>
                    <a:lumOff val="25000"/>
                  </a:schemeClr>
                </a:solidFill>
              </a:rPr>
              <a:t>中的次數。</a:t>
            </a:r>
            <a:endParaRPr lang="en-US" altLang="zh-TW" dirty="0" smtClean="0">
              <a:solidFill>
                <a:schemeClr val="tx1">
                  <a:lumMod val="75000"/>
                  <a:lumOff val="25000"/>
                </a:schemeClr>
              </a:solidFill>
            </a:endParaRPr>
          </a:p>
          <a:p>
            <a:endParaRPr lang="en-US" altLang="zh-TW" dirty="0" smtClean="0">
              <a:solidFill>
                <a:schemeClr val="tx1">
                  <a:lumMod val="75000"/>
                  <a:lumOff val="25000"/>
                </a:schemeClr>
              </a:solidFill>
            </a:endParaRPr>
          </a:p>
          <a:p>
            <a:r>
              <a:rPr lang="en-US" altLang="zh-TW" dirty="0" smtClean="0"/>
              <a:t>Inverse Document Frequency(IDF)</a:t>
            </a:r>
            <a:r>
              <a:rPr lang="zh-TW" altLang="en-US" dirty="0" smtClean="0"/>
              <a:t> ：</a:t>
            </a:r>
            <a:r>
              <a:rPr lang="en-US" altLang="zh-TW" dirty="0" smtClean="0"/>
              <a:t/>
            </a:r>
            <a:br>
              <a:rPr lang="en-US" altLang="zh-TW" dirty="0" smtClean="0"/>
            </a:br>
            <a:r>
              <a:rPr lang="zh-TW" altLang="en-US" dirty="0" smtClean="0">
                <a:solidFill>
                  <a:schemeClr val="tx1">
                    <a:lumMod val="75000"/>
                    <a:lumOff val="25000"/>
                  </a:schemeClr>
                </a:solidFill>
              </a:rPr>
              <a:t>若</a:t>
            </a:r>
            <a:r>
              <a:rPr lang="zh-TW" altLang="en-US" dirty="0">
                <a:solidFill>
                  <a:schemeClr val="tx1">
                    <a:lumMod val="75000"/>
                    <a:lumOff val="25000"/>
                  </a:schemeClr>
                </a:solidFill>
              </a:rPr>
              <a:t>關鍵字出現在越少量的文件中，則</a:t>
            </a:r>
            <a:r>
              <a:rPr lang="en-US" altLang="zh-TW" dirty="0">
                <a:solidFill>
                  <a:schemeClr val="tx1">
                    <a:lumMod val="75000"/>
                    <a:lumOff val="25000"/>
                  </a:schemeClr>
                </a:solidFill>
              </a:rPr>
              <a:t>IDF</a:t>
            </a:r>
            <a:r>
              <a:rPr lang="zh-TW" altLang="en-US" dirty="0">
                <a:solidFill>
                  <a:schemeClr val="tx1">
                    <a:lumMod val="75000"/>
                    <a:lumOff val="25000"/>
                  </a:schemeClr>
                </a:solidFill>
              </a:rPr>
              <a:t>值越高</a:t>
            </a:r>
            <a:r>
              <a:rPr lang="zh-TW" altLang="en-US" dirty="0" smtClean="0">
                <a:solidFill>
                  <a:schemeClr val="tx1">
                    <a:lumMod val="75000"/>
                    <a:lumOff val="25000"/>
                  </a:schemeClr>
                </a:solidFill>
              </a:rPr>
              <a:t>，代表</a:t>
            </a:r>
            <a:r>
              <a:rPr lang="zh-TW" altLang="en-US" dirty="0">
                <a:solidFill>
                  <a:schemeClr val="tx1">
                    <a:lumMod val="75000"/>
                    <a:lumOff val="25000"/>
                  </a:schemeClr>
                </a:solidFill>
              </a:rPr>
              <a:t>此關鍵字對該文件具有影響力，反之，</a:t>
            </a:r>
            <a:r>
              <a:rPr lang="en-US" altLang="zh-TW" dirty="0">
                <a:solidFill>
                  <a:schemeClr val="tx1">
                    <a:lumMod val="75000"/>
                    <a:lumOff val="25000"/>
                  </a:schemeClr>
                </a:solidFill>
              </a:rPr>
              <a:t> </a:t>
            </a:r>
            <a:endParaRPr lang="en-US" altLang="zh-TW" dirty="0" smtClean="0">
              <a:solidFill>
                <a:schemeClr val="tx1">
                  <a:lumMod val="75000"/>
                  <a:lumOff val="25000"/>
                </a:schemeClr>
              </a:solidFill>
            </a:endParaRPr>
          </a:p>
          <a:p>
            <a:r>
              <a:rPr lang="en-US" altLang="zh-TW" dirty="0" smtClean="0">
                <a:solidFill>
                  <a:schemeClr val="tx1">
                    <a:lumMod val="75000"/>
                    <a:lumOff val="25000"/>
                  </a:schemeClr>
                </a:solidFill>
              </a:rPr>
              <a:t>IDF</a:t>
            </a:r>
            <a:r>
              <a:rPr lang="zh-TW" altLang="en-US" dirty="0">
                <a:solidFill>
                  <a:schemeClr val="tx1">
                    <a:lumMod val="75000"/>
                    <a:lumOff val="25000"/>
                  </a:schemeClr>
                </a:solidFill>
              </a:rPr>
              <a:t>值越低，代表此關鍵字對於該文件不具影響力。</a:t>
            </a:r>
          </a:p>
          <a:p>
            <a:endParaRPr lang="en-US" altLang="zh-TW" dirty="0"/>
          </a:p>
          <a:p>
            <a:endParaRPr lang="zh-TW" altLang="en-US" dirty="0"/>
          </a:p>
        </p:txBody>
      </p:sp>
    </p:spTree>
    <p:extLst>
      <p:ext uri="{BB962C8B-B14F-4D97-AF65-F5344CB8AC3E}">
        <p14:creationId xmlns:p14="http://schemas.microsoft.com/office/powerpoint/2010/main" val="35798569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相關函數的計算</a:t>
            </a:r>
            <a:endParaRPr lang="zh-TW" altLang="en-US" dirty="0"/>
          </a:p>
        </p:txBody>
      </p:sp>
      <p:sp>
        <p:nvSpPr>
          <p:cNvPr id="4" name="文字方塊 3"/>
          <p:cNvSpPr txBox="1"/>
          <p:nvPr/>
        </p:nvSpPr>
        <p:spPr>
          <a:xfrm>
            <a:off x="1066800" y="2014194"/>
            <a:ext cx="9839553" cy="1846659"/>
          </a:xfrm>
          <a:prstGeom prst="rect">
            <a:avLst/>
          </a:prstGeom>
          <a:noFill/>
        </p:spPr>
        <p:txBody>
          <a:bodyPr wrap="none" rtlCol="0">
            <a:spAutoFit/>
          </a:bodyPr>
          <a:lstStyle/>
          <a:p>
            <a:r>
              <a:rPr lang="zh-TW" altLang="en-US" sz="2400" dirty="0" smtClean="0"/>
              <a:t>先從待測文件</a:t>
            </a:r>
            <a:r>
              <a:rPr lang="en-US" altLang="zh-TW" sz="2400" dirty="0" smtClean="0"/>
              <a:t>d</a:t>
            </a:r>
            <a:r>
              <a:rPr lang="zh-TW" altLang="en-US" sz="2400" dirty="0" smtClean="0"/>
              <a:t>中擷取代表該文件的特徵詞</a:t>
            </a:r>
            <a:r>
              <a:rPr lang="en-US" altLang="zh-TW" sz="2400" dirty="0" smtClean="0"/>
              <a:t>a</a:t>
            </a:r>
            <a:r>
              <a:rPr lang="zh-TW" altLang="en-US" sz="2400" dirty="0" smtClean="0"/>
              <a:t>，再到訓練語料中找尋這些</a:t>
            </a:r>
            <a:endParaRPr lang="en-US" altLang="zh-TW" sz="2400" dirty="0" smtClean="0"/>
          </a:p>
          <a:p>
            <a:r>
              <a:rPr lang="zh-TW" altLang="en-US" sz="2400" dirty="0" smtClean="0"/>
              <a:t>特徵</a:t>
            </a:r>
            <a:r>
              <a:rPr lang="en-US" altLang="zh-TW" sz="2400" dirty="0" smtClean="0"/>
              <a:t>a</a:t>
            </a:r>
            <a:r>
              <a:rPr lang="zh-TW" altLang="en-US" sz="2400" dirty="0" smtClean="0"/>
              <a:t>與類別</a:t>
            </a:r>
            <a:r>
              <a:rPr lang="en-US" altLang="zh-TW" sz="2400" dirty="0" smtClean="0"/>
              <a:t>c</a:t>
            </a:r>
            <a:r>
              <a:rPr lang="zh-TW" altLang="en-US" sz="2400" dirty="0" smtClean="0"/>
              <a:t>的關聯度</a:t>
            </a:r>
            <a:r>
              <a:rPr lang="en-US" altLang="zh-TW" sz="2400" dirty="0"/>
              <a:t>w(a, c</a:t>
            </a:r>
            <a:r>
              <a:rPr lang="en-US" altLang="zh-TW" sz="2400" dirty="0" smtClean="0"/>
              <a:t>)</a:t>
            </a:r>
            <a:r>
              <a:rPr lang="zh-TW" altLang="en-US" sz="2400" dirty="0" smtClean="0"/>
              <a:t>。</a:t>
            </a:r>
            <a:endParaRPr lang="en-US" altLang="zh-TW" sz="2400" dirty="0" smtClean="0"/>
          </a:p>
          <a:p>
            <a:r>
              <a:rPr lang="zh-TW" altLang="en-US" sz="2400" dirty="0" smtClean="0"/>
              <a:t>接著，加總所有的</a:t>
            </a:r>
            <a:r>
              <a:rPr lang="en-US" altLang="zh-TW" sz="2400" dirty="0"/>
              <a:t>w(a, c</a:t>
            </a:r>
            <a:r>
              <a:rPr lang="en-US" altLang="zh-TW" sz="2400" dirty="0" smtClean="0"/>
              <a:t>)</a:t>
            </a:r>
            <a:r>
              <a:rPr lang="zh-TW" altLang="en-US" sz="2400" dirty="0" smtClean="0"/>
              <a:t>，得到文件</a:t>
            </a:r>
            <a:r>
              <a:rPr lang="en-US" altLang="zh-TW" sz="2400" dirty="0" smtClean="0"/>
              <a:t>d</a:t>
            </a:r>
            <a:r>
              <a:rPr lang="zh-TW" altLang="en-US" sz="2400" dirty="0" smtClean="0"/>
              <a:t>與類別</a:t>
            </a:r>
            <a:r>
              <a:rPr lang="en-US" altLang="zh-TW" sz="2400" dirty="0" smtClean="0"/>
              <a:t>c</a:t>
            </a:r>
            <a:r>
              <a:rPr lang="zh-TW" altLang="en-US" sz="2400" dirty="0" smtClean="0"/>
              <a:t>的關聯程度</a:t>
            </a:r>
            <a:r>
              <a:rPr lang="en-US" altLang="zh-TW" sz="2400" dirty="0" smtClean="0"/>
              <a:t>R(c, d)</a:t>
            </a:r>
            <a:r>
              <a:rPr lang="zh-TW" altLang="en-US" sz="2400" dirty="0" smtClean="0"/>
              <a:t>，</a:t>
            </a:r>
            <a:endParaRPr lang="en-US" altLang="zh-TW" sz="2400" dirty="0" smtClean="0"/>
          </a:p>
          <a:p>
            <a:r>
              <a:rPr lang="zh-TW" altLang="en-US" sz="2400" dirty="0" smtClean="0"/>
              <a:t>最後取最大關聯度的做為該文件的指派類別。</a:t>
            </a:r>
            <a:endParaRPr lang="en-US" altLang="zh-TW" sz="2400" dirty="0" smtClean="0"/>
          </a:p>
          <a:p>
            <a:endParaRPr lang="zh-TW" altLang="en-US" dirty="0"/>
          </a:p>
        </p:txBody>
      </p:sp>
    </p:spTree>
    <p:extLst>
      <p:ext uri="{BB962C8B-B14F-4D97-AF65-F5344CB8AC3E}">
        <p14:creationId xmlns:p14="http://schemas.microsoft.com/office/powerpoint/2010/main" val="8132935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不考慮特徵出現位置的相關函數計算</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66800" y="2498536"/>
                <a:ext cx="10058400" cy="1126112"/>
              </a:xfrm>
            </p:spPr>
            <p:txBody>
              <a:bodyPr>
                <a:noAutofit/>
              </a:bodyPr>
              <a:lstStyle/>
              <a:p>
                <a:pPr marL="0" indent="0" algn="ctr">
                  <a:buNone/>
                </a:pPr>
                <a:r>
                  <a:rPr lang="en-US" altLang="zh-TW" sz="2400" dirty="0" smtClean="0"/>
                  <a:t>R</a:t>
                </a:r>
                <a:r>
                  <a:rPr lang="en-US" altLang="zh-TW" sz="2400" baseline="-25000" dirty="0" smtClean="0"/>
                  <a:t>1</a:t>
                </a:r>
                <a:r>
                  <a:rPr lang="en-US" altLang="zh-TW" sz="2400" dirty="0" smtClean="0"/>
                  <a:t>(c, d) = </a:t>
                </a:r>
                <a14:m>
                  <m:oMath xmlns:m="http://schemas.openxmlformats.org/officeDocument/2006/math">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𝑎</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𝑑</m:t>
                        </m:r>
                      </m:sub>
                      <m:sup/>
                      <m:e>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m:t>
                        </m:r>
                      </m:e>
                    </m:nary>
                  </m:oMath>
                </a14:m>
                <a:endParaRPr lang="en-US" altLang="zh-TW" sz="2400" dirty="0" smtClean="0"/>
              </a:p>
              <a:p>
                <a:pPr marL="0" indent="0" algn="ctr">
                  <a:buNone/>
                </a:pPr>
                <a:r>
                  <a:rPr lang="en-US" altLang="zh-TW" sz="2400" dirty="0" smtClean="0"/>
                  <a:t>w(a, c)</a:t>
                </a:r>
                <a:r>
                  <a:rPr lang="zh-TW" altLang="en-US" sz="2400" dirty="0" smtClean="0">
                    <a:latin typeface="新細明體" panose="02020500000000000000" pitchFamily="18" charset="-120"/>
                    <a:ea typeface="新細明體" panose="02020500000000000000" pitchFamily="18" charset="-120"/>
                  </a:rPr>
                  <a:t>：</a:t>
                </a:r>
                <a:r>
                  <a:rPr lang="zh-TW" altLang="en-US" sz="2400" dirty="0"/>
                  <a:t>特徵詞</a:t>
                </a:r>
                <a:r>
                  <a:rPr lang="en-US" altLang="zh-TW" sz="2400" dirty="0"/>
                  <a:t>a</a:t>
                </a:r>
                <a:r>
                  <a:rPr lang="zh-TW" altLang="en-US" sz="2400" dirty="0"/>
                  <a:t>在類別</a:t>
                </a:r>
                <a:r>
                  <a:rPr lang="en-US" altLang="zh-TW" sz="2400" dirty="0"/>
                  <a:t>c</a:t>
                </a:r>
                <a:r>
                  <a:rPr lang="zh-TW" altLang="en-US" sz="2400" dirty="0"/>
                  <a:t>中的權重值。</a:t>
                </a:r>
                <a:endParaRPr lang="en-US" altLang="zh-TW" sz="2400" dirty="0"/>
              </a:p>
              <a:p>
                <a:pPr marL="0" indent="0" algn="ctr">
                  <a:buNone/>
                </a:pPr>
                <a:r>
                  <a:rPr lang="en-US" altLang="zh-TW" sz="2400" dirty="0"/>
                  <a:t>R</a:t>
                </a:r>
                <a:r>
                  <a:rPr lang="en-US" altLang="zh-TW" sz="2400" baseline="-25000" dirty="0"/>
                  <a:t>1</a:t>
                </a:r>
                <a:r>
                  <a:rPr lang="en-US" altLang="zh-TW" sz="2400" dirty="0"/>
                  <a:t>(c, d)</a:t>
                </a:r>
                <a:r>
                  <a:rPr lang="zh-TW" altLang="en-US" sz="2400" dirty="0"/>
                  <a:t> ：文件</a:t>
                </a:r>
                <a:r>
                  <a:rPr lang="en-US" altLang="zh-TW" sz="2400" dirty="0"/>
                  <a:t>d</a:t>
                </a:r>
                <a:r>
                  <a:rPr lang="zh-TW" altLang="en-US" sz="2400" dirty="0"/>
                  <a:t>與類別</a:t>
                </a:r>
                <a:r>
                  <a:rPr lang="en-US" altLang="zh-TW" sz="2400" dirty="0"/>
                  <a:t>c</a:t>
                </a:r>
                <a:r>
                  <a:rPr lang="zh-TW" altLang="en-US" sz="2400" dirty="0"/>
                  <a:t>的相關程度。</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66800" y="2498536"/>
                <a:ext cx="10058400" cy="1126112"/>
              </a:xfrm>
              <a:blipFill rotWithShape="0">
                <a:blip r:embed="rId2"/>
                <a:stretch>
                  <a:fillRect t="-52973" b="-383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788008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考慮</a:t>
            </a:r>
            <a:r>
              <a:rPr lang="zh-TW" altLang="en-US" dirty="0"/>
              <a:t>特徵出現位置的相關函數計算</a:t>
            </a:r>
          </a:p>
        </p:txBody>
      </p:sp>
      <p:sp>
        <p:nvSpPr>
          <p:cNvPr id="3" name="內容版面配置區 2"/>
          <p:cNvSpPr>
            <a:spLocks noGrp="1"/>
          </p:cNvSpPr>
          <p:nvPr>
            <p:ph idx="1"/>
          </p:nvPr>
        </p:nvSpPr>
        <p:spPr>
          <a:xfrm>
            <a:off x="1066800" y="2103120"/>
            <a:ext cx="10058400" cy="763648"/>
          </a:xfrm>
        </p:spPr>
        <p:txBody>
          <a:bodyPr/>
          <a:lstStyle/>
          <a:p>
            <a:pPr marL="0" indent="0">
              <a:buNone/>
            </a:pPr>
            <a:r>
              <a:rPr lang="zh-TW" altLang="en-US" dirty="0" smtClean="0"/>
              <a:t>考慮位置時，認為較前面的位置的詞較為重要，所以將測試文件中語詞位置的序數</a:t>
            </a:r>
            <a:r>
              <a:rPr lang="en-US" altLang="zh-TW" dirty="0" smtClean="0"/>
              <a:t>(order)</a:t>
            </a:r>
            <a:r>
              <a:rPr lang="zh-TW" altLang="en-US" dirty="0" smtClean="0"/>
              <a:t>開根號</a:t>
            </a:r>
            <a:endParaRPr lang="en-US" altLang="zh-TW" dirty="0" smtClean="0"/>
          </a:p>
          <a:p>
            <a:pPr marL="0" indent="0">
              <a:buNone/>
            </a:pPr>
            <a:r>
              <a:rPr lang="zh-TW" altLang="en-US" dirty="0" smtClean="0"/>
              <a:t>後取導數當做位置的權重。</a:t>
            </a:r>
            <a:endParaRPr lang="en-US" altLang="zh-TW" dirty="0" smtClean="0"/>
          </a:p>
          <a:p>
            <a:pPr marL="0" indent="0">
              <a:buNone/>
            </a:pPr>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4423718" y="2683096"/>
                <a:ext cx="4044697" cy="2365328"/>
              </a:xfrm>
              <a:prstGeom prst="rect">
                <a:avLst/>
              </a:prstGeom>
              <a:noFill/>
            </p:spPr>
            <p:txBody>
              <a:bodyPr wrap="none" rtlCol="0">
                <a:spAutoFit/>
              </a:bodyPr>
              <a:lstStyle/>
              <a:p>
                <a:r>
                  <a:rPr lang="en-US" altLang="zh-TW" dirty="0" smtClean="0"/>
                  <a:t>p</a:t>
                </a:r>
                <a:r>
                  <a:rPr lang="en-US" altLang="zh-TW" baseline="-25000" dirty="0" err="1" smtClean="0"/>
                  <a:t>b</a:t>
                </a:r>
                <a:r>
                  <a:rPr lang="en-US" altLang="zh-TW" dirty="0" smtClean="0"/>
                  <a:t> = </a:t>
                </a:r>
                <a14:m>
                  <m:oMath xmlns:m="http://schemas.openxmlformats.org/officeDocument/2006/math">
                    <m:f>
                      <m:fPr>
                        <m:type m:val="skw"/>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ad>
                          <m:radPr>
                            <m:degHide m:val="on"/>
                            <m:ctrlPr>
                              <a:rPr lang="en-US" altLang="zh-TW" i="1" smtClean="0">
                                <a:latin typeface="Cambria Math" panose="02040503050406030204" pitchFamily="18" charset="0"/>
                              </a:rPr>
                            </m:ctrlPr>
                          </m:radPr>
                          <m:deg/>
                          <m:e>
                            <m:r>
                              <a:rPr lang="en-US" altLang="zh-TW" b="0" i="1" smtClean="0">
                                <a:latin typeface="Cambria Math" panose="02040503050406030204" pitchFamily="18" charset="0"/>
                              </a:rPr>
                              <m:t>𝑜𝑟𝑑𝑒𝑟</m:t>
                            </m:r>
                            <m:r>
                              <a:rPr lang="en-US" altLang="zh-TW" b="0" i="1" baseline="-25000" smtClean="0">
                                <a:latin typeface="Cambria Math" panose="02040503050406030204" pitchFamily="18" charset="0"/>
                              </a:rPr>
                              <m:t>𝑏</m:t>
                            </m:r>
                          </m:e>
                        </m:rad>
                      </m:den>
                    </m:f>
                  </m:oMath>
                </a14:m>
                <a:endParaRPr lang="en-US" altLang="zh-TW" dirty="0" smtClean="0"/>
              </a:p>
              <a:p>
                <a:endParaRPr lang="en-US" altLang="zh-TW" dirty="0" smtClean="0"/>
              </a:p>
              <a:p>
                <a:r>
                  <a:rPr lang="en-US" altLang="zh-TW" dirty="0" smtClean="0"/>
                  <a:t>R</a:t>
                </a:r>
                <a:r>
                  <a:rPr lang="en-US" altLang="zh-TW" baseline="-25000" dirty="0" smtClean="0"/>
                  <a:t>2</a:t>
                </a:r>
                <a:r>
                  <a:rPr lang="en-US" altLang="zh-TW" dirty="0" smtClean="0"/>
                  <a:t> (c, d) = </a:t>
                </a:r>
                <a14:m>
                  <m:oMath xmlns:m="http://schemas.openxmlformats.org/officeDocument/2006/math">
                    <m:nary>
                      <m:naryPr>
                        <m:chr m:val="∑"/>
                        <m:supHide m:val="on"/>
                        <m:ctrlPr>
                          <a:rPr lang="en-US" altLang="zh-TW" i="1" smtClean="0">
                            <a:latin typeface="Cambria Math" panose="02040503050406030204" pitchFamily="18" charset="0"/>
                          </a:rPr>
                        </m:ctrlPr>
                      </m:naryPr>
                      <m:sub>
                        <m:r>
                          <m:rPr>
                            <m:brk m:alnAt="7"/>
                          </m:rPr>
                          <a:rPr lang="en-US" altLang="zh-TW" b="0" i="1" smtClean="0">
                            <a:latin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𝑑</m:t>
                        </m:r>
                      </m:sub>
                      <m:sup/>
                      <m:e>
                        <m:r>
                          <a:rPr lang="en-US" altLang="zh-TW" b="0" i="1" smtClean="0">
                            <a:latin typeface="Cambria Math" panose="02040503050406030204" pitchFamily="18" charset="0"/>
                          </a:rPr>
                          <m:t>𝑤</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b="0" i="1" smtClean="0">
                            <a:latin typeface="Cambria Math" panose="02040503050406030204" pitchFamily="18" charset="0"/>
                          </a:rPr>
                          <m:t>, </m:t>
                        </m:r>
                        <m:r>
                          <a:rPr lang="en-US" altLang="zh-TW" b="0" i="1" smtClean="0">
                            <a:latin typeface="Cambria Math" panose="02040503050406030204" pitchFamily="18" charset="0"/>
                          </a:rPr>
                          <m:t>𝑐</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𝑝𝑏</m:t>
                        </m:r>
                      </m:e>
                    </m:nary>
                  </m:oMath>
                </a14:m>
                <a:endParaRPr lang="en-US" altLang="zh-TW" dirty="0" smtClean="0"/>
              </a:p>
              <a:p>
                <a:endParaRPr lang="en-US" altLang="zh-TW" dirty="0" smtClean="0"/>
              </a:p>
              <a:p>
                <a:r>
                  <a:rPr lang="en-US" altLang="zh-TW" dirty="0" err="1" smtClean="0"/>
                  <a:t>order</a:t>
                </a:r>
                <a:r>
                  <a:rPr lang="en-US" altLang="zh-TW" baseline="-25000" dirty="0" err="1" smtClean="0"/>
                  <a:t>b</a:t>
                </a:r>
                <a:r>
                  <a:rPr lang="zh-TW" altLang="en-US" dirty="0" smtClean="0">
                    <a:latin typeface="新細明體" panose="02020500000000000000" pitchFamily="18" charset="-120"/>
                    <a:ea typeface="新細明體" panose="02020500000000000000" pitchFamily="18" charset="-120"/>
                  </a:rPr>
                  <a:t>：</a:t>
                </a:r>
                <a:r>
                  <a:rPr lang="zh-TW" altLang="en-US" dirty="0"/>
                  <a:t>特徵</a:t>
                </a:r>
                <a:r>
                  <a:rPr lang="en-US" altLang="zh-TW" dirty="0"/>
                  <a:t>b</a:t>
                </a:r>
                <a:r>
                  <a:rPr lang="zh-TW" altLang="en-US" dirty="0"/>
                  <a:t>在文件內的位置序數。</a:t>
                </a:r>
                <a:endParaRPr lang="en-US" altLang="zh-TW" dirty="0"/>
              </a:p>
              <a:p>
                <a:r>
                  <a:rPr lang="en-US" altLang="zh-TW" dirty="0" err="1"/>
                  <a:t>p</a:t>
                </a:r>
                <a:r>
                  <a:rPr lang="en-US" altLang="zh-TW" baseline="-25000" dirty="0" err="1"/>
                  <a:t>b</a:t>
                </a:r>
                <a:r>
                  <a:rPr lang="zh-TW" altLang="en-US" dirty="0"/>
                  <a:t> ：特徵</a:t>
                </a:r>
                <a:r>
                  <a:rPr lang="en-US" altLang="zh-TW" dirty="0"/>
                  <a:t>b</a:t>
                </a:r>
                <a:r>
                  <a:rPr lang="zh-TW" altLang="en-US" dirty="0"/>
                  <a:t>在文件內的位置權重。</a:t>
                </a:r>
                <a:endParaRPr lang="en-US" altLang="zh-TW" dirty="0"/>
              </a:p>
              <a:p>
                <a:endParaRPr lang="en-US" altLang="zh-TW" dirty="0" smtClean="0">
                  <a:latin typeface="新細明體" panose="02020500000000000000" pitchFamily="18" charset="-120"/>
                  <a:ea typeface="新細明體" panose="02020500000000000000" pitchFamily="18" charset="-120"/>
                </a:endParaRPr>
              </a:p>
              <a:p>
                <a:endParaRPr lang="en-US" altLang="zh-TW" dirty="0" smtClean="0"/>
              </a:p>
            </p:txBody>
          </p:sp>
        </mc:Choice>
        <mc:Fallback xmlns="">
          <p:sp>
            <p:nvSpPr>
              <p:cNvPr id="4" name="文字方塊 3"/>
              <p:cNvSpPr txBox="1">
                <a:spLocks noRot="1" noChangeAspect="1" noMove="1" noResize="1" noEditPoints="1" noAdjustHandles="1" noChangeArrowheads="1" noChangeShapeType="1" noTextEdit="1"/>
              </p:cNvSpPr>
              <p:nvPr/>
            </p:nvSpPr>
            <p:spPr>
              <a:xfrm>
                <a:off x="4423718" y="2683096"/>
                <a:ext cx="4044697" cy="2365328"/>
              </a:xfrm>
              <a:prstGeom prst="rect">
                <a:avLst/>
              </a:prstGeom>
              <a:blipFill rotWithShape="0">
                <a:blip r:embed="rId2"/>
                <a:stretch>
                  <a:fillRect l="-1357" t="-23454" r="-754"/>
                </a:stretch>
              </a:blipFill>
            </p:spPr>
            <p:txBody>
              <a:bodyPr/>
              <a:lstStyle/>
              <a:p>
                <a:r>
                  <a:rPr lang="zh-TW" altLang="en-US">
                    <a:noFill/>
                  </a:rPr>
                  <a:t> </a:t>
                </a:r>
              </a:p>
            </p:txBody>
          </p:sp>
        </mc:Fallback>
      </mc:AlternateContent>
      <p:sp>
        <p:nvSpPr>
          <p:cNvPr id="5" name="文字方塊 4"/>
          <p:cNvSpPr txBox="1"/>
          <p:nvPr/>
        </p:nvSpPr>
        <p:spPr>
          <a:xfrm>
            <a:off x="1066800" y="4506098"/>
            <a:ext cx="3283271" cy="369332"/>
          </a:xfrm>
          <a:prstGeom prst="rect">
            <a:avLst/>
          </a:prstGeom>
          <a:noFill/>
        </p:spPr>
        <p:txBody>
          <a:bodyPr wrap="none" rtlCol="0">
            <a:spAutoFit/>
          </a:bodyPr>
          <a:lstStyle/>
          <a:p>
            <a:r>
              <a:rPr lang="en-US" altLang="zh-TW" dirty="0" smtClean="0"/>
              <a:t>Example</a:t>
            </a:r>
            <a:r>
              <a:rPr lang="zh-TW" altLang="en-US" dirty="0">
                <a:latin typeface="新細明體" panose="02020500000000000000" pitchFamily="18" charset="-120"/>
              </a:rPr>
              <a:t> </a:t>
            </a:r>
            <a:r>
              <a:rPr lang="zh-TW" altLang="en-US" dirty="0" smtClean="0">
                <a:latin typeface="新細明體" panose="02020500000000000000" pitchFamily="18" charset="-120"/>
              </a:rPr>
              <a:t>：「賴駿豪住高雄」</a:t>
            </a:r>
            <a:endParaRPr lang="zh-TW" altLang="en-US" dirty="0"/>
          </a:p>
        </p:txBody>
      </p:sp>
      <p:graphicFrame>
        <p:nvGraphicFramePr>
          <p:cNvPr id="8" name="表格 7"/>
          <p:cNvGraphicFramePr>
            <a:graphicFrameLocks noGrp="1"/>
          </p:cNvGraphicFramePr>
          <p:nvPr>
            <p:extLst>
              <p:ext uri="{D42A27DB-BD31-4B8C-83A1-F6EECF244321}">
                <p14:modId xmlns:p14="http://schemas.microsoft.com/office/powerpoint/2010/main" val="1720383092"/>
              </p:ext>
            </p:extLst>
          </p:nvPr>
        </p:nvGraphicFramePr>
        <p:xfrm>
          <a:off x="2032000" y="5038816"/>
          <a:ext cx="8127999" cy="1483360"/>
        </p:xfrm>
        <a:graphic>
          <a:graphicData uri="http://schemas.openxmlformats.org/drawingml/2006/table">
            <a:tbl>
              <a:tblPr firstRow="1" bandRow="1">
                <a:tableStyleId>{5FD0F851-EC5A-4D38-B0AD-8093EC10F338}</a:tableStyleId>
              </a:tblPr>
              <a:tblGrid>
                <a:gridCol w="2709333"/>
                <a:gridCol w="2709333"/>
                <a:gridCol w="2709333"/>
              </a:tblGrid>
              <a:tr h="370840">
                <a:tc>
                  <a:txBody>
                    <a:bodyPr/>
                    <a:lstStyle/>
                    <a:p>
                      <a:pPr algn="ctr"/>
                      <a:r>
                        <a:rPr lang="zh-TW" altLang="en-US" dirty="0" smtClean="0"/>
                        <a:t>斷詞結果</a:t>
                      </a:r>
                      <a:endParaRPr lang="zh-TW" altLang="en-US" dirty="0"/>
                    </a:p>
                  </a:txBody>
                  <a:tcPr/>
                </a:tc>
                <a:tc>
                  <a:txBody>
                    <a:bodyPr/>
                    <a:lstStyle/>
                    <a:p>
                      <a:pPr algn="ctr"/>
                      <a:r>
                        <a:rPr lang="zh-TW" altLang="en-US" dirty="0" smtClean="0"/>
                        <a:t>位置序數</a:t>
                      </a:r>
                      <a:endParaRPr lang="zh-TW" altLang="en-US" dirty="0"/>
                    </a:p>
                  </a:txBody>
                  <a:tcPr/>
                </a:tc>
                <a:tc>
                  <a:txBody>
                    <a:bodyPr/>
                    <a:lstStyle/>
                    <a:p>
                      <a:pPr algn="ctr"/>
                      <a:r>
                        <a:rPr lang="en-US" altLang="zh-TW" dirty="0" err="1" smtClean="0"/>
                        <a:t>p</a:t>
                      </a:r>
                      <a:r>
                        <a:rPr lang="en-US" altLang="zh-TW" baseline="-25000" dirty="0" err="1" smtClean="0"/>
                        <a:t>b</a:t>
                      </a:r>
                      <a:endParaRPr lang="zh-TW" altLang="en-US" dirty="0"/>
                    </a:p>
                  </a:txBody>
                  <a:tcPr/>
                </a:tc>
              </a:tr>
              <a:tr h="370840">
                <a:tc>
                  <a:txBody>
                    <a:bodyPr/>
                    <a:lstStyle/>
                    <a:p>
                      <a:pPr algn="ctr"/>
                      <a:r>
                        <a:rPr lang="zh-TW" altLang="en-US" dirty="0" smtClean="0"/>
                        <a:t>賴駿豪</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70840">
                <a:tc>
                  <a:txBody>
                    <a:bodyPr/>
                    <a:lstStyle/>
                    <a:p>
                      <a:pPr algn="ctr"/>
                      <a:r>
                        <a:rPr lang="zh-TW" altLang="en-US" dirty="0" smtClean="0"/>
                        <a:t>住</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0.707</a:t>
                      </a:r>
                      <a:endParaRPr lang="zh-TW" altLang="en-US" dirty="0"/>
                    </a:p>
                  </a:txBody>
                  <a:tcPr/>
                </a:tc>
              </a:tr>
              <a:tr h="370840">
                <a:tc>
                  <a:txBody>
                    <a:bodyPr/>
                    <a:lstStyle/>
                    <a:p>
                      <a:pPr algn="ctr"/>
                      <a:r>
                        <a:rPr lang="zh-TW" altLang="en-US" dirty="0" smtClean="0"/>
                        <a:t>高雄</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0.577</a:t>
                      </a:r>
                      <a:endParaRPr lang="zh-TW" altLang="en-US" dirty="0"/>
                    </a:p>
                  </a:txBody>
                  <a:tcPr/>
                </a:tc>
              </a:tr>
            </a:tbl>
          </a:graphicData>
        </a:graphic>
      </p:graphicFrame>
    </p:spTree>
    <p:extLst>
      <p:ext uri="{BB962C8B-B14F-4D97-AF65-F5344CB8AC3E}">
        <p14:creationId xmlns:p14="http://schemas.microsoft.com/office/powerpoint/2010/main" val="25329702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訓練階段演算法</a:t>
            </a:r>
            <a:endParaRPr lang="zh-TW" altLang="en-US" dirty="0"/>
          </a:p>
        </p:txBody>
      </p:sp>
      <p:sp>
        <p:nvSpPr>
          <p:cNvPr id="3" name="內容版面配置區 2"/>
          <p:cNvSpPr>
            <a:spLocks noGrp="1"/>
          </p:cNvSpPr>
          <p:nvPr>
            <p:ph idx="1"/>
          </p:nvPr>
        </p:nvSpPr>
        <p:spPr>
          <a:xfrm>
            <a:off x="1066800" y="2103120"/>
            <a:ext cx="10058400" cy="1546242"/>
          </a:xfrm>
        </p:spPr>
        <p:txBody>
          <a:bodyPr/>
          <a:lstStyle/>
          <a:p>
            <a:pPr marL="0" indent="0">
              <a:buNone/>
            </a:pPr>
            <a:r>
              <a:rPr lang="en-US" altLang="zh-TW" dirty="0" smtClean="0"/>
              <a:t>Step1</a:t>
            </a:r>
            <a:r>
              <a:rPr lang="zh-TW" altLang="en-US" dirty="0" smtClean="0"/>
              <a:t>：將訓練文件中的新聞標題斷成一個個語詞。</a:t>
            </a:r>
            <a:endParaRPr lang="en-US" altLang="zh-TW" dirty="0" smtClean="0"/>
          </a:p>
          <a:p>
            <a:pPr marL="0" indent="0">
              <a:buNone/>
            </a:pPr>
            <a:r>
              <a:rPr lang="en-US" altLang="zh-TW" dirty="0" smtClean="0"/>
              <a:t>Step2</a:t>
            </a:r>
            <a:r>
              <a:rPr lang="zh-TW" altLang="en-US" dirty="0" smtClean="0"/>
              <a:t>：計算各語詞出現在各個類別的頻率</a:t>
            </a:r>
            <a:r>
              <a:rPr lang="en-US" altLang="zh-TW" dirty="0" smtClean="0"/>
              <a:t>(TF)</a:t>
            </a:r>
            <a:r>
              <a:rPr lang="zh-TW" altLang="en-US" dirty="0" smtClean="0"/>
              <a:t>。</a:t>
            </a:r>
            <a:endParaRPr lang="en-US" altLang="zh-TW" dirty="0" smtClean="0"/>
          </a:p>
          <a:p>
            <a:pPr marL="0" indent="0">
              <a:buNone/>
            </a:pPr>
            <a:r>
              <a:rPr lang="en-US" altLang="zh-TW" dirty="0" smtClean="0"/>
              <a:t>Step3</a:t>
            </a:r>
            <a:r>
              <a:rPr lang="zh-TW" altLang="en-US" dirty="0" smtClean="0"/>
              <a:t>：計算各個詞出現的類別數</a:t>
            </a:r>
            <a:r>
              <a:rPr lang="en-US" altLang="zh-TW" dirty="0" smtClean="0"/>
              <a:t>(IDF)</a:t>
            </a:r>
            <a:r>
              <a:rPr lang="zh-TW" altLang="en-US" dirty="0" smtClean="0"/>
              <a:t>。</a:t>
            </a:r>
            <a:endParaRPr lang="en-US" altLang="zh-TW" dirty="0" smtClean="0"/>
          </a:p>
          <a:p>
            <a:pPr marL="0" indent="0">
              <a:buNone/>
            </a:pPr>
            <a:r>
              <a:rPr lang="en-US" altLang="zh-TW" dirty="0" smtClean="0"/>
              <a:t>Step4</a:t>
            </a:r>
            <a:r>
              <a:rPr lang="zh-TW" altLang="en-US" dirty="0" smtClean="0"/>
              <a:t>：利用權重公式來計算各語詞與類別的關聯權重值。</a:t>
            </a:r>
            <a:endParaRPr lang="en-US" altLang="zh-TW" dirty="0" smtClean="0"/>
          </a:p>
          <a:p>
            <a:endParaRPr lang="zh-TW" altLang="en-US" dirty="0"/>
          </a:p>
        </p:txBody>
      </p:sp>
      <p:sp>
        <p:nvSpPr>
          <p:cNvPr id="4" name="文字方塊 3"/>
          <p:cNvSpPr txBox="1"/>
          <p:nvPr/>
        </p:nvSpPr>
        <p:spPr>
          <a:xfrm>
            <a:off x="1066800" y="3855308"/>
            <a:ext cx="8725466" cy="923330"/>
          </a:xfrm>
          <a:prstGeom prst="rect">
            <a:avLst/>
          </a:prstGeom>
          <a:noFill/>
        </p:spPr>
        <p:txBody>
          <a:bodyPr wrap="none" rtlCol="0">
            <a:spAutoFit/>
          </a:bodyPr>
          <a:lstStyle/>
          <a:p>
            <a:r>
              <a:rPr lang="en-US" altLang="zh-TW" dirty="0" smtClean="0"/>
              <a:t>Example</a:t>
            </a:r>
            <a:r>
              <a:rPr lang="zh-TW" altLang="en-US" dirty="0"/>
              <a:t> </a:t>
            </a:r>
            <a:r>
              <a:rPr lang="zh-TW" altLang="en-US" dirty="0" smtClean="0"/>
              <a:t>：「政治」類：憲改與議會民主的迷思：從煽動者到政治的新現實</a:t>
            </a:r>
            <a:r>
              <a:rPr lang="en-US" altLang="zh-TW" dirty="0" smtClean="0"/>
              <a:t/>
            </a:r>
            <a:br>
              <a:rPr lang="en-US" altLang="zh-TW" dirty="0" smtClean="0"/>
            </a:br>
            <a:endParaRPr lang="en-US" altLang="zh-TW" dirty="0" smtClean="0"/>
          </a:p>
          <a:p>
            <a:r>
              <a:rPr lang="zh-TW" altLang="en-US" dirty="0" smtClean="0"/>
              <a:t>斷詞：憲改、與</a:t>
            </a:r>
            <a:r>
              <a:rPr lang="zh-TW" altLang="en-US" dirty="0"/>
              <a:t>、</a:t>
            </a:r>
            <a:r>
              <a:rPr lang="zh-TW" altLang="en-US" dirty="0" smtClean="0"/>
              <a:t>議會</a:t>
            </a:r>
            <a:r>
              <a:rPr lang="zh-TW" altLang="en-US" dirty="0"/>
              <a:t>、</a:t>
            </a:r>
            <a:r>
              <a:rPr lang="zh-TW" altLang="en-US" dirty="0" smtClean="0"/>
              <a:t>民主</a:t>
            </a:r>
            <a:r>
              <a:rPr lang="zh-TW" altLang="en-US" dirty="0"/>
              <a:t>、</a:t>
            </a:r>
            <a:r>
              <a:rPr lang="zh-TW" altLang="en-US" dirty="0" smtClean="0"/>
              <a:t>的</a:t>
            </a:r>
            <a:r>
              <a:rPr lang="zh-TW" altLang="en-US" dirty="0"/>
              <a:t>、</a:t>
            </a:r>
            <a:r>
              <a:rPr lang="zh-TW" altLang="en-US" dirty="0" smtClean="0"/>
              <a:t>迷思</a:t>
            </a:r>
            <a:r>
              <a:rPr lang="zh-TW" altLang="en-US" dirty="0"/>
              <a:t>、</a:t>
            </a:r>
            <a:r>
              <a:rPr lang="zh-TW" altLang="en-US" dirty="0" smtClean="0"/>
              <a:t>從</a:t>
            </a:r>
            <a:r>
              <a:rPr lang="zh-TW" altLang="en-US" dirty="0"/>
              <a:t>、</a:t>
            </a:r>
            <a:r>
              <a:rPr lang="zh-TW" altLang="en-US" dirty="0" smtClean="0"/>
              <a:t>煽動</a:t>
            </a:r>
            <a:r>
              <a:rPr lang="zh-TW" altLang="en-US" dirty="0"/>
              <a:t>、</a:t>
            </a:r>
            <a:r>
              <a:rPr lang="zh-TW" altLang="en-US" dirty="0" smtClean="0"/>
              <a:t>者</a:t>
            </a:r>
            <a:r>
              <a:rPr lang="zh-TW" altLang="en-US" dirty="0"/>
              <a:t>、</a:t>
            </a:r>
            <a:r>
              <a:rPr lang="zh-TW" altLang="en-US" dirty="0" smtClean="0"/>
              <a:t>到</a:t>
            </a:r>
            <a:r>
              <a:rPr lang="zh-TW" altLang="en-US" dirty="0"/>
              <a:t>、</a:t>
            </a:r>
            <a:r>
              <a:rPr lang="zh-TW" altLang="en-US" dirty="0" smtClean="0"/>
              <a:t>政治</a:t>
            </a:r>
            <a:r>
              <a:rPr lang="zh-TW" altLang="en-US" dirty="0"/>
              <a:t>、</a:t>
            </a:r>
            <a:r>
              <a:rPr lang="zh-TW" altLang="en-US" dirty="0" smtClean="0"/>
              <a:t>的</a:t>
            </a:r>
            <a:r>
              <a:rPr lang="zh-TW" altLang="en-US" dirty="0"/>
              <a:t>、</a:t>
            </a:r>
            <a:r>
              <a:rPr lang="zh-TW" altLang="en-US" dirty="0" smtClean="0"/>
              <a:t>新</a:t>
            </a:r>
            <a:r>
              <a:rPr lang="zh-TW" altLang="en-US" dirty="0"/>
              <a:t>、</a:t>
            </a:r>
            <a:r>
              <a:rPr lang="zh-TW" altLang="en-US" dirty="0" smtClean="0"/>
              <a:t>現實</a:t>
            </a:r>
            <a:endParaRPr lang="zh-TW" altLang="en-US" dirty="0"/>
          </a:p>
        </p:txBody>
      </p:sp>
      <p:sp>
        <p:nvSpPr>
          <p:cNvPr id="5" name="文字方塊 4"/>
          <p:cNvSpPr txBox="1"/>
          <p:nvPr/>
        </p:nvSpPr>
        <p:spPr>
          <a:xfrm>
            <a:off x="1066800" y="4984584"/>
            <a:ext cx="9357049" cy="646331"/>
          </a:xfrm>
          <a:prstGeom prst="rect">
            <a:avLst/>
          </a:prstGeom>
          <a:noFill/>
        </p:spPr>
        <p:txBody>
          <a:bodyPr wrap="none" rtlCol="0">
            <a:spAutoFit/>
          </a:bodyPr>
          <a:lstStyle/>
          <a:p>
            <a:r>
              <a:rPr lang="zh-TW" altLang="en-US" dirty="0">
                <a:latin typeface="新細明體" panose="02020500000000000000" pitchFamily="18" charset="-120"/>
              </a:rPr>
              <a:t>→</a:t>
            </a:r>
            <a:r>
              <a:rPr lang="zh-TW" altLang="en-US" dirty="0" smtClean="0"/>
              <a:t>根據</a:t>
            </a:r>
            <a:r>
              <a:rPr lang="en-US" altLang="zh-TW" dirty="0" smtClean="0"/>
              <a:t>Step2</a:t>
            </a:r>
            <a:r>
              <a:rPr lang="zh-TW" altLang="en-US" dirty="0" smtClean="0"/>
              <a:t>，</a:t>
            </a:r>
            <a:r>
              <a:rPr lang="en-US" altLang="zh-TW" dirty="0"/>
              <a:t> Step3</a:t>
            </a:r>
            <a:r>
              <a:rPr lang="zh-TW" altLang="en-US" dirty="0" smtClean="0"/>
              <a:t>計算這些詞出現在各類別的頻率值，以及計算這些詞出現的類別數。</a:t>
            </a:r>
            <a:endParaRPr lang="en-US" altLang="zh-TW" dirty="0" smtClean="0"/>
          </a:p>
          <a:p>
            <a:r>
              <a:rPr lang="zh-TW" altLang="en-US" dirty="0" smtClean="0">
                <a:latin typeface="新細明體" panose="02020500000000000000" pitchFamily="18" charset="-120"/>
              </a:rPr>
              <a:t>→最後，利用權重公式來得到這些語詞和每個類別的關聯度權重值。</a:t>
            </a:r>
            <a:endParaRPr lang="zh-TW" altLang="en-US" dirty="0"/>
          </a:p>
        </p:txBody>
      </p:sp>
    </p:spTree>
    <p:extLst>
      <p:ext uri="{BB962C8B-B14F-4D97-AF65-F5344CB8AC3E}">
        <p14:creationId xmlns:p14="http://schemas.microsoft.com/office/powerpoint/2010/main" val="28887906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測試階段</a:t>
            </a:r>
            <a:r>
              <a:rPr lang="zh-TW" altLang="en-US" dirty="0"/>
              <a:t>演算法</a:t>
            </a:r>
          </a:p>
        </p:txBody>
      </p:sp>
      <p:sp>
        <p:nvSpPr>
          <p:cNvPr id="3" name="內容版面配置區 2"/>
          <p:cNvSpPr>
            <a:spLocks noGrp="1"/>
          </p:cNvSpPr>
          <p:nvPr>
            <p:ph idx="1"/>
          </p:nvPr>
        </p:nvSpPr>
        <p:spPr/>
        <p:txBody>
          <a:bodyPr/>
          <a:lstStyle/>
          <a:p>
            <a:pPr marL="0" indent="0">
              <a:buNone/>
            </a:pPr>
            <a:r>
              <a:rPr lang="en-US" altLang="zh-TW" dirty="0"/>
              <a:t>Step1</a:t>
            </a:r>
            <a:r>
              <a:rPr lang="zh-TW" altLang="en-US" dirty="0" smtClean="0"/>
              <a:t>：將文件分解成一個個語詞。</a:t>
            </a:r>
            <a:endParaRPr lang="en-US" altLang="zh-TW" dirty="0" smtClean="0"/>
          </a:p>
          <a:p>
            <a:pPr marL="0" indent="0">
              <a:buNone/>
            </a:pPr>
            <a:r>
              <a:rPr lang="en-US" altLang="zh-TW" dirty="0" smtClean="0"/>
              <a:t>Step2</a:t>
            </a:r>
            <a:r>
              <a:rPr lang="zh-TW" altLang="en-US" dirty="0" smtClean="0"/>
              <a:t>：若有位置考量則計算每個語詞中的位置序數</a:t>
            </a:r>
            <a:r>
              <a:rPr lang="en-US" altLang="zh-TW" dirty="0" smtClean="0"/>
              <a:t>(order)</a:t>
            </a:r>
            <a:r>
              <a:rPr lang="zh-TW" altLang="en-US" dirty="0" smtClean="0"/>
              <a:t>，若不考慮位置，則以</a:t>
            </a:r>
            <a:r>
              <a:rPr lang="en-US" altLang="zh-TW" dirty="0" smtClean="0"/>
              <a:t>”1”</a:t>
            </a:r>
            <a:r>
              <a:rPr lang="zh-TW" altLang="en-US" dirty="0" smtClean="0"/>
              <a:t>當做所有      語詞的</a:t>
            </a:r>
            <a:r>
              <a:rPr lang="en-US" altLang="zh-TW" dirty="0" smtClean="0"/>
              <a:t>order</a:t>
            </a:r>
            <a:r>
              <a:rPr lang="zh-TW" altLang="en-US" dirty="0" smtClean="0"/>
              <a:t>。之後在利用公式計算個文件與類別的關聯強度。</a:t>
            </a:r>
            <a:endParaRPr lang="en-US" altLang="zh-TW" dirty="0" smtClean="0"/>
          </a:p>
          <a:p>
            <a:pPr marL="0" indent="0">
              <a:buNone/>
            </a:pPr>
            <a:r>
              <a:rPr lang="en-US" altLang="zh-TW" dirty="0" smtClean="0"/>
              <a:t>Step3</a:t>
            </a:r>
            <a:r>
              <a:rPr lang="zh-TW" altLang="en-US" dirty="0" smtClean="0"/>
              <a:t>：將擁有最高關聯度的類別指派給該文件。</a:t>
            </a:r>
            <a:endParaRPr lang="en-US" altLang="zh-TW" dirty="0" smtClean="0"/>
          </a:p>
          <a:p>
            <a:endParaRPr lang="zh-TW" altLang="en-US" dirty="0"/>
          </a:p>
        </p:txBody>
      </p:sp>
    </p:spTree>
    <p:extLst>
      <p:ext uri="{BB962C8B-B14F-4D97-AF65-F5344CB8AC3E}">
        <p14:creationId xmlns:p14="http://schemas.microsoft.com/office/powerpoint/2010/main" val="33456313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4157059582"/>
              </p:ext>
            </p:extLst>
          </p:nvPr>
        </p:nvGraphicFramePr>
        <p:xfrm>
          <a:off x="1066800" y="2103438"/>
          <a:ext cx="10058400" cy="2595880"/>
        </p:xfrm>
        <a:graphic>
          <a:graphicData uri="http://schemas.openxmlformats.org/drawingml/2006/table">
            <a:tbl>
              <a:tblPr firstRow="1" bandRow="1">
                <a:tableStyleId>{5FD0F851-EC5A-4D38-B0AD-8093EC10F338}</a:tableStyleId>
              </a:tblPr>
              <a:tblGrid>
                <a:gridCol w="3352800"/>
                <a:gridCol w="3352800"/>
                <a:gridCol w="3352800"/>
              </a:tblGrid>
              <a:tr h="370840">
                <a:tc>
                  <a:txBody>
                    <a:bodyPr/>
                    <a:lstStyle/>
                    <a:p>
                      <a:pPr algn="ctr"/>
                      <a:r>
                        <a:rPr lang="zh-TW" altLang="en-US" dirty="0" smtClean="0"/>
                        <a:t>實驗</a:t>
                      </a:r>
                      <a:endParaRPr lang="zh-TW" altLang="en-US" dirty="0"/>
                    </a:p>
                  </a:txBody>
                  <a:tcPr/>
                </a:tc>
                <a:tc>
                  <a:txBody>
                    <a:bodyPr/>
                    <a:lstStyle/>
                    <a:p>
                      <a:pPr algn="ctr"/>
                      <a:r>
                        <a:rPr lang="zh-TW" altLang="en-US" dirty="0" smtClean="0"/>
                        <a:t>特徵選取</a:t>
                      </a:r>
                      <a:endParaRPr lang="zh-TW" altLang="en-US" dirty="0"/>
                    </a:p>
                  </a:txBody>
                  <a:tcPr/>
                </a:tc>
                <a:tc>
                  <a:txBody>
                    <a:bodyPr/>
                    <a:lstStyle/>
                    <a:p>
                      <a:pPr algn="ctr"/>
                      <a:r>
                        <a:rPr lang="zh-TW" altLang="en-US" dirty="0" smtClean="0"/>
                        <a:t>是否考量位置</a:t>
                      </a:r>
                      <a:endParaRPr lang="zh-TW" altLang="en-US" dirty="0"/>
                    </a:p>
                  </a:txBody>
                  <a:tcPr/>
                </a:tc>
              </a:tr>
              <a:tr h="370840">
                <a:tc>
                  <a:txBody>
                    <a:bodyPr/>
                    <a:lstStyle/>
                    <a:p>
                      <a:pPr algn="ctr"/>
                      <a:r>
                        <a:rPr lang="zh-TW" altLang="en-US" dirty="0" smtClean="0"/>
                        <a:t>實驗一</a:t>
                      </a:r>
                      <a:endParaRPr lang="zh-TW" altLang="en-US" dirty="0"/>
                    </a:p>
                  </a:txBody>
                  <a:tcPr/>
                </a:tc>
                <a:tc>
                  <a:txBody>
                    <a:bodyPr/>
                    <a:lstStyle/>
                    <a:p>
                      <a:pPr algn="ctr"/>
                      <a:r>
                        <a:rPr lang="zh-TW" altLang="en-US" dirty="0" smtClean="0"/>
                        <a:t>單字詞</a:t>
                      </a:r>
                      <a:endParaRPr lang="zh-TW" altLang="en-US" dirty="0"/>
                    </a:p>
                  </a:txBody>
                  <a:tcPr/>
                </a:tc>
                <a:tc>
                  <a:txBody>
                    <a:bodyPr/>
                    <a:lstStyle/>
                    <a:p>
                      <a:pPr algn="ctr"/>
                      <a:r>
                        <a:rPr lang="en-US" altLang="zh-TW" dirty="0" smtClean="0"/>
                        <a:t>NO</a:t>
                      </a:r>
                      <a:endParaRPr lang="zh-TW" altLang="en-US" dirty="0"/>
                    </a:p>
                  </a:txBody>
                  <a:tcPr/>
                </a:tc>
              </a:tr>
              <a:tr h="370840">
                <a:tc>
                  <a:txBody>
                    <a:bodyPr/>
                    <a:lstStyle/>
                    <a:p>
                      <a:pPr algn="ctr"/>
                      <a:r>
                        <a:rPr lang="zh-TW" altLang="en-US" dirty="0" smtClean="0"/>
                        <a:t>實驗二</a:t>
                      </a:r>
                      <a:endParaRPr lang="zh-TW" altLang="en-US" dirty="0"/>
                    </a:p>
                  </a:txBody>
                  <a:tcPr/>
                </a:tc>
                <a:tc>
                  <a:txBody>
                    <a:bodyPr/>
                    <a:lstStyle/>
                    <a:p>
                      <a:pPr algn="ctr"/>
                      <a:r>
                        <a:rPr lang="zh-TW" altLang="en-US" dirty="0" smtClean="0"/>
                        <a:t>雙連字串</a:t>
                      </a:r>
                      <a:endParaRPr lang="zh-TW" altLang="en-US" dirty="0"/>
                    </a:p>
                  </a:txBody>
                  <a:tcPr/>
                </a:tc>
                <a:tc>
                  <a:txBody>
                    <a:bodyPr/>
                    <a:lstStyle/>
                    <a:p>
                      <a:pPr algn="ctr"/>
                      <a:r>
                        <a:rPr lang="en-US" altLang="zh-TW" dirty="0" smtClean="0"/>
                        <a:t>NO</a:t>
                      </a:r>
                      <a:endParaRPr lang="zh-TW" altLang="en-US" dirty="0"/>
                    </a:p>
                  </a:txBody>
                  <a:tcPr/>
                </a:tc>
              </a:tr>
              <a:tr h="370840">
                <a:tc>
                  <a:txBody>
                    <a:bodyPr/>
                    <a:lstStyle/>
                    <a:p>
                      <a:pPr algn="ctr"/>
                      <a:r>
                        <a:rPr lang="zh-TW" altLang="en-US" dirty="0" smtClean="0"/>
                        <a:t>實驗三</a:t>
                      </a:r>
                      <a:endParaRPr lang="zh-TW" altLang="en-US" dirty="0"/>
                    </a:p>
                  </a:txBody>
                  <a:tcPr/>
                </a:tc>
                <a:tc>
                  <a:txBody>
                    <a:bodyPr/>
                    <a:lstStyle/>
                    <a:p>
                      <a:pPr algn="ctr"/>
                      <a:r>
                        <a:rPr lang="zh-TW" altLang="en-US" dirty="0" smtClean="0"/>
                        <a:t>雙連字串</a:t>
                      </a:r>
                      <a:r>
                        <a:rPr lang="en-US" altLang="zh-TW" dirty="0" smtClean="0"/>
                        <a:t>+</a:t>
                      </a:r>
                      <a:r>
                        <a:rPr lang="zh-TW" altLang="en-US" dirty="0" smtClean="0"/>
                        <a:t>共現與詞</a:t>
                      </a:r>
                      <a:endParaRPr lang="zh-TW" altLang="en-US" dirty="0"/>
                    </a:p>
                  </a:txBody>
                  <a:tcPr/>
                </a:tc>
                <a:tc>
                  <a:txBody>
                    <a:bodyPr/>
                    <a:lstStyle/>
                    <a:p>
                      <a:pPr algn="ctr"/>
                      <a:r>
                        <a:rPr lang="en-US" altLang="zh-TW" dirty="0" smtClean="0"/>
                        <a:t>NO</a:t>
                      </a:r>
                      <a:endParaRPr lang="zh-TW" altLang="en-US" dirty="0"/>
                    </a:p>
                  </a:txBody>
                  <a:tcPr/>
                </a:tc>
              </a:tr>
              <a:tr h="370840">
                <a:tc>
                  <a:txBody>
                    <a:bodyPr/>
                    <a:lstStyle/>
                    <a:p>
                      <a:pPr algn="ctr"/>
                      <a:r>
                        <a:rPr lang="zh-TW" altLang="en-US" dirty="0" smtClean="0"/>
                        <a:t>實驗四</a:t>
                      </a:r>
                      <a:endParaRPr lang="zh-TW" altLang="en-US" dirty="0"/>
                    </a:p>
                  </a:txBody>
                  <a:tcPr/>
                </a:tc>
                <a:tc>
                  <a:txBody>
                    <a:bodyPr/>
                    <a:lstStyle/>
                    <a:p>
                      <a:pPr algn="ctr"/>
                      <a:r>
                        <a:rPr lang="zh-TW" altLang="en-US" dirty="0" smtClean="0"/>
                        <a:t>雙連字串</a:t>
                      </a:r>
                      <a:endParaRPr lang="zh-TW" altLang="en-US" dirty="0"/>
                    </a:p>
                  </a:txBody>
                  <a:tcPr/>
                </a:tc>
                <a:tc>
                  <a:txBody>
                    <a:bodyPr/>
                    <a:lstStyle/>
                    <a:p>
                      <a:pPr algn="ctr"/>
                      <a:r>
                        <a:rPr lang="en-US" altLang="zh-TW" dirty="0" smtClean="0"/>
                        <a:t>YES</a:t>
                      </a:r>
                      <a:endParaRPr lang="zh-TW" altLang="en-US" dirty="0"/>
                    </a:p>
                  </a:txBody>
                  <a:tcPr/>
                </a:tc>
              </a:tr>
              <a:tr h="370840">
                <a:tc>
                  <a:txBody>
                    <a:bodyPr/>
                    <a:lstStyle/>
                    <a:p>
                      <a:pPr algn="ctr"/>
                      <a:r>
                        <a:rPr lang="zh-TW" altLang="en-US" dirty="0" smtClean="0"/>
                        <a:t>實驗五</a:t>
                      </a:r>
                      <a:endParaRPr lang="zh-TW" altLang="en-US" dirty="0"/>
                    </a:p>
                  </a:txBody>
                  <a:tcPr/>
                </a:tc>
                <a:tc>
                  <a:txBody>
                    <a:bodyPr/>
                    <a:lstStyle/>
                    <a:p>
                      <a:pPr algn="ctr"/>
                      <a:r>
                        <a:rPr lang="zh-TW" altLang="en-US" dirty="0" smtClean="0"/>
                        <a:t>斷詞</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NO</a:t>
                      </a:r>
                      <a:endParaRPr lang="zh-TW" altLang="en-US" dirty="0" smtClean="0"/>
                    </a:p>
                  </a:txBody>
                  <a:tcPr/>
                </a:tc>
              </a:tr>
              <a:tr h="370840">
                <a:tc>
                  <a:txBody>
                    <a:bodyPr/>
                    <a:lstStyle/>
                    <a:p>
                      <a:pPr algn="ctr"/>
                      <a:r>
                        <a:rPr lang="zh-TW" altLang="en-US" dirty="0" smtClean="0"/>
                        <a:t>實驗六</a:t>
                      </a:r>
                      <a:endParaRPr lang="zh-TW" altLang="en-US" dirty="0"/>
                    </a:p>
                  </a:txBody>
                  <a:tcPr/>
                </a:tc>
                <a:tc>
                  <a:txBody>
                    <a:bodyPr/>
                    <a:lstStyle/>
                    <a:p>
                      <a:pPr algn="ctr"/>
                      <a:r>
                        <a:rPr lang="zh-TW" altLang="en-US" dirty="0" smtClean="0"/>
                        <a:t>斷詞</a:t>
                      </a:r>
                      <a:r>
                        <a:rPr lang="en-US" altLang="zh-TW" dirty="0" smtClean="0"/>
                        <a:t>+</a:t>
                      </a:r>
                      <a:r>
                        <a:rPr lang="zh-TW" altLang="en-US" smtClean="0"/>
                        <a:t>共現與詞</a:t>
                      </a:r>
                      <a:endParaRPr lang="zh-TW"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NO</a:t>
                      </a:r>
                      <a:endParaRPr lang="zh-TW" altLang="en-US" dirty="0" smtClean="0"/>
                    </a:p>
                  </a:txBody>
                  <a:tcPr/>
                </a:tc>
              </a:tr>
            </a:tbl>
          </a:graphicData>
        </a:graphic>
      </p:graphicFrame>
      <p:sp>
        <p:nvSpPr>
          <p:cNvPr id="3" name="文字方塊 2"/>
          <p:cNvSpPr txBox="1"/>
          <p:nvPr/>
        </p:nvSpPr>
        <p:spPr>
          <a:xfrm>
            <a:off x="2576447" y="4865129"/>
            <a:ext cx="7039106" cy="369332"/>
          </a:xfrm>
          <a:prstGeom prst="rect">
            <a:avLst/>
          </a:prstGeom>
          <a:noFill/>
        </p:spPr>
        <p:txBody>
          <a:bodyPr wrap="none" rtlCol="0">
            <a:spAutoFit/>
          </a:bodyPr>
          <a:lstStyle/>
          <a:p>
            <a:r>
              <a:rPr lang="zh-TW" altLang="en-US" dirty="0" smtClean="0"/>
              <a:t>實驗結果以涵蓋率</a:t>
            </a:r>
            <a:r>
              <a:rPr lang="en-US" altLang="zh-TW" dirty="0" smtClean="0"/>
              <a:t>(Coverage)</a:t>
            </a:r>
            <a:r>
              <a:rPr lang="zh-TW" altLang="en-US" dirty="0" smtClean="0"/>
              <a:t>，精確率</a:t>
            </a:r>
            <a:r>
              <a:rPr lang="en-US" altLang="zh-TW" dirty="0" smtClean="0"/>
              <a:t>(Precision)</a:t>
            </a:r>
            <a:r>
              <a:rPr lang="zh-TW" altLang="en-US" dirty="0" smtClean="0"/>
              <a:t>，來進行評估。</a:t>
            </a:r>
            <a:endParaRPr lang="zh-TW" altLang="en-US" dirty="0"/>
          </a:p>
        </p:txBody>
      </p:sp>
      <mc:AlternateContent xmlns:mc="http://schemas.openxmlformats.org/markup-compatibility/2006" xmlns:a14="http://schemas.microsoft.com/office/drawing/2010/main">
        <mc:Choice Requires="a14">
          <p:sp>
            <p:nvSpPr>
              <p:cNvPr id="5" name="文字方塊 4"/>
              <p:cNvSpPr txBox="1"/>
              <p:nvPr/>
            </p:nvSpPr>
            <p:spPr>
              <a:xfrm>
                <a:off x="1230566" y="5554096"/>
                <a:ext cx="4865434" cy="609911"/>
              </a:xfrm>
              <a:prstGeom prst="rect">
                <a:avLst/>
              </a:prstGeom>
              <a:noFill/>
            </p:spPr>
            <p:txBody>
              <a:bodyPr wrap="none" rtlCol="0">
                <a:spAutoFit/>
              </a:bodyPr>
              <a:lstStyle/>
              <a:p>
                <a:r>
                  <a:rPr lang="en-US" altLang="zh-TW" dirty="0" smtClean="0"/>
                  <a:t>Coverage</a:t>
                </a:r>
                <a:r>
                  <a:rPr lang="zh-TW" altLang="en-US" dirty="0" smtClean="0"/>
                  <a:t> </a:t>
                </a:r>
                <a14:m>
                  <m:oMath xmlns:m="http://schemas.openxmlformats.org/officeDocument/2006/math">
                    <m:r>
                      <a:rPr lang="en-US" altLang="zh-TW" i="1">
                        <a:latin typeface="Cambria Math" panose="02040503050406030204" pitchFamily="18" charset="0"/>
                      </a:rPr>
                      <m:t>=</m:t>
                    </m:r>
                    <m:r>
                      <a:rPr lang="zh-TW" altLang="en-US" i="1" smtClean="0">
                        <a:latin typeface="Cambria Math" panose="02040503050406030204" pitchFamily="18" charset="0"/>
                      </a:rPr>
                      <m:t> </m:t>
                    </m:r>
                    <m:f>
                      <m:fPr>
                        <m:ctrlPr>
                          <a:rPr lang="en-US" altLang="zh-TW" i="1" smtClean="0">
                            <a:latin typeface="Cambria Math" panose="02040503050406030204" pitchFamily="18" charset="0"/>
                          </a:rPr>
                        </m:ctrlPr>
                      </m:fPr>
                      <m:num>
                        <m:r>
                          <a:rPr lang="zh-TW" altLang="en-US" i="1">
                            <a:latin typeface="Cambria Math" panose="02040503050406030204" pitchFamily="18" charset="0"/>
                          </a:rPr>
                          <m:t>可以</m:t>
                        </m:r>
                        <m:r>
                          <a:rPr lang="zh-TW" altLang="en-US" i="1" smtClean="0">
                            <a:latin typeface="Cambria Math" panose="02040503050406030204" pitchFamily="18" charset="0"/>
                          </a:rPr>
                          <m:t>標示</m:t>
                        </m:r>
                        <m:r>
                          <a:rPr lang="zh-TW" altLang="en-US" i="1">
                            <a:latin typeface="Cambria Math" panose="02040503050406030204" pitchFamily="18" charset="0"/>
                          </a:rPr>
                          <m:t>分類的文件數</m:t>
                        </m:r>
                      </m:num>
                      <m:den>
                        <m:r>
                          <a:rPr lang="zh-TW" altLang="en-US" i="1">
                            <a:latin typeface="Cambria Math" panose="02040503050406030204" pitchFamily="18" charset="0"/>
                          </a:rPr>
                          <m:t>所有測試文件的總數</m:t>
                        </m:r>
                      </m:den>
                    </m:f>
                  </m:oMath>
                </a14:m>
                <a:r>
                  <a:rPr lang="zh-TW" altLang="en-US" dirty="0" smtClean="0"/>
                  <a:t> </a:t>
                </a:r>
                <a14:m>
                  <m:oMath xmlns:m="http://schemas.openxmlformats.org/officeDocument/2006/math">
                    <m:r>
                      <a:rPr lang="en-US" altLang="zh-TW" i="1" dirty="0" smtClean="0">
                        <a:latin typeface="Cambria Math" panose="02040503050406030204" pitchFamily="18" charset="0"/>
                        <a:ea typeface="Cambria Math" panose="02040503050406030204" pitchFamily="18" charset="0"/>
                      </a:rPr>
                      <m:t>×</m:t>
                    </m:r>
                    <m:r>
                      <a:rPr lang="zh-TW" altLang="en-US" i="1" dirty="0">
                        <a:latin typeface="Cambria Math" panose="02040503050406030204" pitchFamily="18" charset="0"/>
                        <a:ea typeface="Cambria Math" panose="02040503050406030204" pitchFamily="18" charset="0"/>
                      </a:rPr>
                      <m:t> </m:t>
                    </m:r>
                  </m:oMath>
                </a14:m>
                <a:r>
                  <a:rPr lang="en-US" altLang="zh-TW" dirty="0" smtClean="0"/>
                  <a:t>100</a:t>
                </a:r>
                <a14:m>
                  <m:oMath xmlns:m="http://schemas.openxmlformats.org/officeDocument/2006/math">
                    <m:r>
                      <a:rPr lang="en-US" altLang="zh-TW" i="1" dirty="0" smtClean="0">
                        <a:latin typeface="Cambria Math" panose="02040503050406030204" pitchFamily="18" charset="0"/>
                        <a:ea typeface="Cambria Math" panose="02040503050406030204" pitchFamily="18" charset="0"/>
                      </a:rPr>
                      <m:t>%</m:t>
                    </m:r>
                  </m:oMath>
                </a14:m>
                <a:endParaRPr lang="en-US" altLang="zh-TW" dirty="0" smtClean="0">
                  <a:ea typeface="Cambria Math" panose="020405030504060302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1230566" y="5554096"/>
                <a:ext cx="4865434" cy="609911"/>
              </a:xfrm>
              <a:prstGeom prst="rect">
                <a:avLst/>
              </a:prstGeom>
              <a:blipFill rotWithShape="0">
                <a:blip r:embed="rId2"/>
                <a:stretch>
                  <a:fillRect l="-112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6429684" y="5539569"/>
                <a:ext cx="4695516" cy="607218"/>
              </a:xfrm>
              <a:prstGeom prst="rect">
                <a:avLst/>
              </a:prstGeom>
              <a:noFill/>
            </p:spPr>
            <p:txBody>
              <a:bodyPr wrap="none" rtlCol="0">
                <a:spAutoFit/>
              </a:bodyPr>
              <a:lstStyle/>
              <a:p>
                <a:r>
                  <a:rPr lang="en-US" altLang="zh-TW" dirty="0"/>
                  <a:t>Precision</a:t>
                </a:r>
                <a:r>
                  <a:rPr lang="zh-TW" altLang="en-US" dirty="0" smtClean="0"/>
                  <a:t> </a:t>
                </a:r>
                <a14:m>
                  <m:oMath xmlns:m="http://schemas.openxmlformats.org/officeDocument/2006/math">
                    <m:r>
                      <a:rPr lang="en-US" altLang="zh-TW" i="1">
                        <a:latin typeface="Cambria Math" panose="02040503050406030204" pitchFamily="18" charset="0"/>
                      </a:rPr>
                      <m:t>=</m:t>
                    </m:r>
                    <m:r>
                      <a:rPr lang="zh-TW" altLang="en-US" i="1" smtClean="0">
                        <a:latin typeface="Cambria Math" panose="02040503050406030204" pitchFamily="18" charset="0"/>
                      </a:rPr>
                      <m:t> </m:t>
                    </m:r>
                    <m:f>
                      <m:fPr>
                        <m:ctrlPr>
                          <a:rPr lang="en-US" altLang="zh-TW" i="1" smtClean="0">
                            <a:latin typeface="Cambria Math" panose="02040503050406030204" pitchFamily="18" charset="0"/>
                          </a:rPr>
                        </m:ctrlPr>
                      </m:fPr>
                      <m:num>
                        <m:r>
                          <a:rPr lang="zh-TW" altLang="en-US" i="1">
                            <a:latin typeface="Cambria Math" panose="02040503050406030204" pitchFamily="18" charset="0"/>
                          </a:rPr>
                          <m:t>正確分類的文件數</m:t>
                        </m:r>
                      </m:num>
                      <m:den>
                        <m:r>
                          <a:rPr lang="zh-TW" altLang="en-US" i="1">
                            <a:latin typeface="Cambria Math" panose="02040503050406030204" pitchFamily="18" charset="0"/>
                          </a:rPr>
                          <m:t>可以標示分類的文件數</m:t>
                        </m:r>
                      </m:den>
                    </m:f>
                  </m:oMath>
                </a14:m>
                <a:r>
                  <a:rPr lang="zh-TW" altLang="en-US" dirty="0" smtClean="0"/>
                  <a:t> </a:t>
                </a:r>
                <a14:m>
                  <m:oMath xmlns:m="http://schemas.openxmlformats.org/officeDocument/2006/math">
                    <m:r>
                      <a:rPr lang="en-US" altLang="zh-TW" i="1" dirty="0" smtClean="0">
                        <a:latin typeface="Cambria Math" panose="02040503050406030204" pitchFamily="18" charset="0"/>
                        <a:ea typeface="Cambria Math" panose="02040503050406030204" pitchFamily="18" charset="0"/>
                      </a:rPr>
                      <m:t>×</m:t>
                    </m:r>
                    <m:r>
                      <a:rPr lang="zh-TW" altLang="en-US" i="1" dirty="0">
                        <a:latin typeface="Cambria Math" panose="02040503050406030204" pitchFamily="18" charset="0"/>
                        <a:ea typeface="Cambria Math" panose="02040503050406030204" pitchFamily="18" charset="0"/>
                      </a:rPr>
                      <m:t> </m:t>
                    </m:r>
                  </m:oMath>
                </a14:m>
                <a:r>
                  <a:rPr lang="en-US" altLang="zh-TW" dirty="0" smtClean="0"/>
                  <a:t>100</a:t>
                </a:r>
                <a14:m>
                  <m:oMath xmlns:m="http://schemas.openxmlformats.org/officeDocument/2006/math">
                    <m:r>
                      <a:rPr lang="en-US" altLang="zh-TW" i="1" dirty="0" smtClean="0">
                        <a:latin typeface="Cambria Math" panose="02040503050406030204" pitchFamily="18" charset="0"/>
                        <a:ea typeface="Cambria Math" panose="02040503050406030204" pitchFamily="18" charset="0"/>
                      </a:rPr>
                      <m:t>%</m:t>
                    </m:r>
                  </m:oMath>
                </a14:m>
                <a:endParaRPr lang="en-US" altLang="zh-TW" dirty="0" smtClean="0">
                  <a:ea typeface="Cambria Math" panose="02040503050406030204" pitchFamily="18" charset="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6429684" y="5539569"/>
                <a:ext cx="4695516" cy="607218"/>
              </a:xfrm>
              <a:prstGeom prst="rect">
                <a:avLst/>
              </a:prstGeom>
              <a:blipFill rotWithShape="0">
                <a:blip r:embed="rId3"/>
                <a:stretch>
                  <a:fillRect l="-11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067444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66799" y="354270"/>
            <a:ext cx="10058400" cy="1371600"/>
          </a:xfrm>
        </p:spPr>
        <p:txBody>
          <a:bodyPr/>
          <a:lstStyle/>
          <a:p>
            <a:r>
              <a:rPr lang="en-US" altLang="zh-TW" dirty="0"/>
              <a:t>Results</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2323836" y="2507092"/>
            <a:ext cx="7544327" cy="3932237"/>
          </a:xfrm>
          <a:prstGeom prst="rect">
            <a:avLst/>
          </a:prstGeom>
          <a:ln>
            <a:noFill/>
          </a:ln>
          <a:effectLst>
            <a:outerShdw blurRad="190500" algn="tl" rotWithShape="0">
              <a:srgbClr val="000000">
                <a:alpha val="70000"/>
              </a:srgbClr>
            </a:outerShdw>
          </a:effectLst>
        </p:spPr>
      </p:pic>
      <p:sp>
        <p:nvSpPr>
          <p:cNvPr id="5" name="文字方塊 4"/>
          <p:cNvSpPr txBox="1"/>
          <p:nvPr/>
        </p:nvSpPr>
        <p:spPr>
          <a:xfrm>
            <a:off x="1066799" y="1725870"/>
            <a:ext cx="10219464" cy="646331"/>
          </a:xfrm>
          <a:prstGeom prst="rect">
            <a:avLst/>
          </a:prstGeom>
          <a:noFill/>
        </p:spPr>
        <p:txBody>
          <a:bodyPr wrap="none" rtlCol="0">
            <a:spAutoFit/>
          </a:bodyPr>
          <a:lstStyle/>
          <a:p>
            <a:r>
              <a:rPr lang="zh-TW" altLang="en-US" dirty="0" smtClean="0"/>
              <a:t>由圖可看出使用</a:t>
            </a:r>
            <a:r>
              <a:rPr lang="zh-TW" altLang="en-US" dirty="0" smtClean="0">
                <a:solidFill>
                  <a:srgbClr val="FF0000"/>
                </a:solidFill>
              </a:rPr>
              <a:t>單字詞</a:t>
            </a:r>
            <a:r>
              <a:rPr lang="en-US" altLang="zh-TW" dirty="0" smtClean="0">
                <a:solidFill>
                  <a:srgbClr val="FF0000"/>
                </a:solidFill>
              </a:rPr>
              <a:t>(</a:t>
            </a:r>
            <a:r>
              <a:rPr lang="zh-TW" altLang="en-US" dirty="0" smtClean="0">
                <a:solidFill>
                  <a:srgbClr val="FF0000"/>
                </a:solidFill>
              </a:rPr>
              <a:t>實驗一</a:t>
            </a:r>
            <a:r>
              <a:rPr lang="en-US" altLang="zh-TW" dirty="0" smtClean="0">
                <a:solidFill>
                  <a:srgbClr val="FF0000"/>
                </a:solidFill>
              </a:rPr>
              <a:t>)</a:t>
            </a:r>
            <a:r>
              <a:rPr lang="zh-TW" altLang="en-US" dirty="0" smtClean="0"/>
              <a:t>做特徵時，獲得最差的效果，不管是使用</a:t>
            </a:r>
            <a:r>
              <a:rPr lang="zh-TW" altLang="en-US" dirty="0" smtClean="0">
                <a:solidFill>
                  <a:srgbClr val="FF0000"/>
                </a:solidFill>
              </a:rPr>
              <a:t>雙連字串</a:t>
            </a:r>
            <a:r>
              <a:rPr lang="en-US" altLang="zh-TW" dirty="0" smtClean="0">
                <a:solidFill>
                  <a:srgbClr val="FF0000"/>
                </a:solidFill>
              </a:rPr>
              <a:t>(</a:t>
            </a:r>
            <a:r>
              <a:rPr lang="zh-TW" altLang="en-US" dirty="0" smtClean="0">
                <a:solidFill>
                  <a:srgbClr val="FF0000"/>
                </a:solidFill>
              </a:rPr>
              <a:t>實驗二</a:t>
            </a:r>
            <a:r>
              <a:rPr lang="en-US" altLang="zh-TW" dirty="0" smtClean="0">
                <a:solidFill>
                  <a:srgbClr val="FF0000"/>
                </a:solidFill>
              </a:rPr>
              <a:t>)</a:t>
            </a:r>
            <a:r>
              <a:rPr lang="zh-TW" altLang="en-US" dirty="0" smtClean="0"/>
              <a:t>，或</a:t>
            </a:r>
            <a:r>
              <a:rPr lang="zh-TW" altLang="en-US" dirty="0" smtClean="0">
                <a:solidFill>
                  <a:srgbClr val="FF0000"/>
                </a:solidFill>
              </a:rPr>
              <a:t>斷詞</a:t>
            </a:r>
            <a:endParaRPr lang="en-US" altLang="zh-TW" dirty="0" smtClean="0">
              <a:solidFill>
                <a:srgbClr val="FF0000"/>
              </a:solidFill>
            </a:endParaRPr>
          </a:p>
          <a:p>
            <a:r>
              <a:rPr lang="en-US" altLang="zh-TW" dirty="0" smtClean="0">
                <a:solidFill>
                  <a:srgbClr val="FF0000"/>
                </a:solidFill>
              </a:rPr>
              <a:t>(</a:t>
            </a:r>
            <a:r>
              <a:rPr lang="zh-TW" altLang="en-US" dirty="0" smtClean="0">
                <a:solidFill>
                  <a:srgbClr val="FF0000"/>
                </a:solidFill>
              </a:rPr>
              <a:t>實驗五</a:t>
            </a:r>
            <a:r>
              <a:rPr lang="en-US" altLang="zh-TW" dirty="0" smtClean="0">
                <a:solidFill>
                  <a:srgbClr val="FF0000"/>
                </a:solidFill>
              </a:rPr>
              <a:t>)</a:t>
            </a:r>
            <a:r>
              <a:rPr lang="zh-TW" altLang="en-US" dirty="0" smtClean="0"/>
              <a:t>效果都比實驗一好。</a:t>
            </a:r>
            <a:endParaRPr lang="zh-TW" altLang="en-US" dirty="0"/>
          </a:p>
        </p:txBody>
      </p:sp>
    </p:spTree>
    <p:extLst>
      <p:ext uri="{BB962C8B-B14F-4D97-AF65-F5344CB8AC3E}">
        <p14:creationId xmlns:p14="http://schemas.microsoft.com/office/powerpoint/2010/main" val="34772835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66800" y="416912"/>
            <a:ext cx="10058400" cy="1371600"/>
          </a:xfrm>
        </p:spPr>
        <p:txBody>
          <a:bodyPr/>
          <a:lstStyle/>
          <a:p>
            <a:r>
              <a:rPr lang="en-US" altLang="zh-TW" dirty="0"/>
              <a:t>Results</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2795838" y="2566129"/>
            <a:ext cx="6600323" cy="3932237"/>
          </a:xfrm>
          <a:prstGeom prst="rect">
            <a:avLst/>
          </a:prstGeom>
          <a:ln>
            <a:noFill/>
          </a:ln>
          <a:effectLst>
            <a:outerShdw blurRad="190500" algn="tl" rotWithShape="0">
              <a:srgbClr val="000000">
                <a:alpha val="70000"/>
              </a:srgbClr>
            </a:outerShdw>
          </a:effectLst>
        </p:spPr>
      </p:pic>
      <p:sp>
        <p:nvSpPr>
          <p:cNvPr id="5" name="文字方塊 4"/>
          <p:cNvSpPr txBox="1"/>
          <p:nvPr/>
        </p:nvSpPr>
        <p:spPr>
          <a:xfrm>
            <a:off x="1066800" y="1736163"/>
            <a:ext cx="10514417" cy="646331"/>
          </a:xfrm>
          <a:prstGeom prst="rect">
            <a:avLst/>
          </a:prstGeom>
          <a:noFill/>
        </p:spPr>
        <p:txBody>
          <a:bodyPr wrap="none" rtlCol="0">
            <a:spAutoFit/>
          </a:bodyPr>
          <a:lstStyle/>
          <a:p>
            <a:r>
              <a:rPr lang="zh-TW" altLang="en-US" dirty="0" smtClean="0"/>
              <a:t>考慮</a:t>
            </a:r>
            <a:r>
              <a:rPr lang="zh-TW" altLang="en-US" dirty="0" smtClean="0">
                <a:solidFill>
                  <a:srgbClr val="FF0000"/>
                </a:solidFill>
              </a:rPr>
              <a:t>雙連字串做特徵</a:t>
            </a:r>
            <a:r>
              <a:rPr lang="en-US" altLang="zh-TW" dirty="0" smtClean="0">
                <a:solidFill>
                  <a:srgbClr val="FF0000"/>
                </a:solidFill>
              </a:rPr>
              <a:t>(</a:t>
            </a:r>
            <a:r>
              <a:rPr lang="zh-TW" altLang="en-US" dirty="0" smtClean="0">
                <a:solidFill>
                  <a:srgbClr val="FF0000"/>
                </a:solidFill>
              </a:rPr>
              <a:t>實驗二</a:t>
            </a:r>
            <a:r>
              <a:rPr lang="en-US" altLang="zh-TW" dirty="0" smtClean="0">
                <a:solidFill>
                  <a:srgbClr val="FF0000"/>
                </a:solidFill>
              </a:rPr>
              <a:t>)</a:t>
            </a:r>
            <a:r>
              <a:rPr lang="zh-TW" altLang="en-US" dirty="0" smtClean="0"/>
              <a:t>，以及</a:t>
            </a:r>
            <a:r>
              <a:rPr lang="zh-TW" altLang="en-US" dirty="0" smtClean="0">
                <a:solidFill>
                  <a:srgbClr val="FF0000"/>
                </a:solidFill>
              </a:rPr>
              <a:t>加入位置考量的實驗</a:t>
            </a:r>
            <a:r>
              <a:rPr lang="en-US" altLang="zh-TW" dirty="0">
                <a:solidFill>
                  <a:srgbClr val="FF0000"/>
                </a:solidFill>
              </a:rPr>
              <a:t>(</a:t>
            </a:r>
            <a:r>
              <a:rPr lang="zh-TW" altLang="en-US" smtClean="0">
                <a:solidFill>
                  <a:srgbClr val="FF0000"/>
                </a:solidFill>
              </a:rPr>
              <a:t>實驗四</a:t>
            </a:r>
            <a:r>
              <a:rPr lang="en-US" altLang="zh-TW" smtClean="0">
                <a:solidFill>
                  <a:srgbClr val="FF0000"/>
                </a:solidFill>
              </a:rPr>
              <a:t>) </a:t>
            </a:r>
            <a:r>
              <a:rPr lang="zh-TW" altLang="en-US" dirty="0" smtClean="0"/>
              <a:t>，由圖可</a:t>
            </a:r>
            <a:r>
              <a:rPr lang="zh-TW" altLang="en-US" dirty="0" smtClean="0"/>
              <a:t>看出加入</a:t>
            </a:r>
            <a:r>
              <a:rPr lang="zh-TW" altLang="en-US" dirty="0" smtClean="0"/>
              <a:t>位置的精確率高於</a:t>
            </a:r>
            <a:endParaRPr lang="en-US" altLang="zh-TW" dirty="0" smtClean="0"/>
          </a:p>
          <a:p>
            <a:r>
              <a:rPr lang="zh-TW" altLang="en-US" dirty="0" smtClean="0"/>
              <a:t>沒有加入位置可量的實驗二，因此特徵在文件中的位置有助於自動分類。</a:t>
            </a:r>
            <a:endParaRPr lang="zh-TW" altLang="en-US" dirty="0"/>
          </a:p>
        </p:txBody>
      </p:sp>
    </p:spTree>
    <p:extLst>
      <p:ext uri="{BB962C8B-B14F-4D97-AF65-F5344CB8AC3E}">
        <p14:creationId xmlns:p14="http://schemas.microsoft.com/office/powerpoint/2010/main" val="11237924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66800" y="457928"/>
            <a:ext cx="10058400" cy="1371600"/>
          </a:xfrm>
        </p:spPr>
        <p:txBody>
          <a:bodyPr/>
          <a:lstStyle/>
          <a:p>
            <a:r>
              <a:rPr lang="en-US" altLang="zh-TW" dirty="0"/>
              <a:t>Results</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1574234" y="2497720"/>
            <a:ext cx="9550966" cy="3932237"/>
          </a:xfrm>
          <a:prstGeom prst="rect">
            <a:avLst/>
          </a:prstGeom>
          <a:ln>
            <a:noFill/>
          </a:ln>
          <a:effectLst>
            <a:outerShdw blurRad="190500" algn="tl" rotWithShape="0">
              <a:srgbClr val="000000">
                <a:alpha val="70000"/>
              </a:srgbClr>
            </a:outerShdw>
          </a:effectLst>
        </p:spPr>
      </p:pic>
      <p:sp>
        <p:nvSpPr>
          <p:cNvPr id="5" name="文字方塊 4"/>
          <p:cNvSpPr txBox="1"/>
          <p:nvPr/>
        </p:nvSpPr>
        <p:spPr>
          <a:xfrm>
            <a:off x="1320517" y="1829528"/>
            <a:ext cx="8483895" cy="369332"/>
          </a:xfrm>
          <a:prstGeom prst="rect">
            <a:avLst/>
          </a:prstGeom>
          <a:noFill/>
        </p:spPr>
        <p:txBody>
          <a:bodyPr wrap="square" rtlCol="0">
            <a:spAutoFit/>
          </a:bodyPr>
          <a:lstStyle/>
          <a:p>
            <a:r>
              <a:rPr lang="zh-TW" altLang="en-US" dirty="0" smtClean="0"/>
              <a:t>由</a:t>
            </a:r>
            <a:r>
              <a:rPr lang="zh-TW" altLang="en-US" dirty="0"/>
              <a:t>圖</a:t>
            </a:r>
            <a:r>
              <a:rPr lang="zh-TW" altLang="en-US" dirty="0" smtClean="0"/>
              <a:t>可知</a:t>
            </a:r>
            <a:r>
              <a:rPr lang="zh-TW" altLang="en-US" dirty="0" smtClean="0">
                <a:solidFill>
                  <a:srgbClr val="FF0000"/>
                </a:solidFill>
              </a:rPr>
              <a:t>雙連</a:t>
            </a:r>
            <a:r>
              <a:rPr lang="zh-TW" altLang="en-US" dirty="0">
                <a:solidFill>
                  <a:srgbClr val="FF0000"/>
                </a:solidFill>
              </a:rPr>
              <a:t>字串</a:t>
            </a:r>
            <a:r>
              <a:rPr lang="en-US" altLang="zh-TW" dirty="0">
                <a:solidFill>
                  <a:srgbClr val="FF0000"/>
                </a:solidFill>
              </a:rPr>
              <a:t>+</a:t>
            </a:r>
            <a:r>
              <a:rPr lang="zh-TW" altLang="en-US" dirty="0">
                <a:solidFill>
                  <a:srgbClr val="FF0000"/>
                </a:solidFill>
              </a:rPr>
              <a:t>共現與</a:t>
            </a:r>
            <a:r>
              <a:rPr lang="zh-TW" altLang="en-US" dirty="0" smtClean="0">
                <a:solidFill>
                  <a:srgbClr val="FF0000"/>
                </a:solidFill>
              </a:rPr>
              <a:t>詞</a:t>
            </a:r>
            <a:r>
              <a:rPr lang="en-US" altLang="zh-TW" dirty="0" smtClean="0">
                <a:solidFill>
                  <a:srgbClr val="FF0000"/>
                </a:solidFill>
              </a:rPr>
              <a:t>(</a:t>
            </a:r>
            <a:r>
              <a:rPr lang="zh-TW" altLang="en-US" dirty="0">
                <a:solidFill>
                  <a:srgbClr val="FF0000"/>
                </a:solidFill>
              </a:rPr>
              <a:t>實驗三</a:t>
            </a:r>
            <a:r>
              <a:rPr lang="en-US" altLang="zh-TW" dirty="0" smtClean="0">
                <a:solidFill>
                  <a:srgbClr val="FF0000"/>
                </a:solidFill>
              </a:rPr>
              <a:t>)</a:t>
            </a:r>
            <a:r>
              <a:rPr lang="zh-TW" altLang="en-US" dirty="0" smtClean="0"/>
              <a:t>的精確率明顯比</a:t>
            </a:r>
            <a:r>
              <a:rPr lang="zh-TW" altLang="en-US" dirty="0" smtClean="0">
                <a:solidFill>
                  <a:srgbClr val="FF0000"/>
                </a:solidFill>
              </a:rPr>
              <a:t>雙連字串</a:t>
            </a:r>
            <a:r>
              <a:rPr lang="en-US" altLang="zh-TW" dirty="0">
                <a:solidFill>
                  <a:srgbClr val="FF0000"/>
                </a:solidFill>
              </a:rPr>
              <a:t>(</a:t>
            </a:r>
            <a:r>
              <a:rPr lang="zh-TW" altLang="en-US" dirty="0" smtClean="0">
                <a:solidFill>
                  <a:srgbClr val="FF0000"/>
                </a:solidFill>
              </a:rPr>
              <a:t>實驗二</a:t>
            </a:r>
            <a:r>
              <a:rPr lang="en-US" altLang="zh-TW" dirty="0" smtClean="0">
                <a:solidFill>
                  <a:srgbClr val="FF0000"/>
                </a:solidFill>
              </a:rPr>
              <a:t>)</a:t>
            </a:r>
            <a:r>
              <a:rPr lang="zh-TW" altLang="en-US" dirty="0" smtClean="0"/>
              <a:t>高</a:t>
            </a:r>
            <a:endParaRPr lang="zh-TW" altLang="en-US" dirty="0"/>
          </a:p>
        </p:txBody>
      </p:sp>
    </p:spTree>
    <p:extLst>
      <p:ext uri="{BB962C8B-B14F-4D97-AF65-F5344CB8AC3E}">
        <p14:creationId xmlns:p14="http://schemas.microsoft.com/office/powerpoint/2010/main" val="7892203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16491156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71182" y="425322"/>
            <a:ext cx="10058400" cy="346465"/>
          </a:xfrm>
        </p:spPr>
        <p:txBody>
          <a:bodyPr>
            <a:noAutofit/>
          </a:bodyPr>
          <a:lstStyle/>
          <a:p>
            <a:r>
              <a:rPr lang="zh-TW" altLang="en-US" sz="2000" dirty="0">
                <a:latin typeface="Times New Roman" panose="02020603050405020304" pitchFamily="18" charset="0"/>
                <a:cs typeface="Times New Roman" panose="02020603050405020304" pitchFamily="18" charset="0"/>
              </a:rPr>
              <a:t>令</a:t>
            </a:r>
            <a:r>
              <a:rPr lang="zh-TW" altLang="en-US" sz="2000" dirty="0" smtClean="0">
                <a:latin typeface="Times New Roman" panose="02020603050405020304" pitchFamily="18" charset="0"/>
                <a:cs typeface="Times New Roman" panose="02020603050405020304" pitchFamily="18" charset="0"/>
              </a:rPr>
              <a:t>詞</a:t>
            </a:r>
            <a:r>
              <a:rPr lang="en-US" altLang="zh-TW" sz="2000" dirty="0" smtClean="0">
                <a:latin typeface="Times New Roman" panose="02020603050405020304" pitchFamily="18" charset="0"/>
                <a:cs typeface="Times New Roman" panose="02020603050405020304" pitchFamily="18" charset="0"/>
              </a:rPr>
              <a:t>a</a:t>
            </a:r>
            <a:r>
              <a:rPr lang="zh-TW" altLang="en-US" sz="2000" dirty="0" smtClean="0">
                <a:latin typeface="Times New Roman" panose="02020603050405020304" pitchFamily="18" charset="0"/>
                <a:cs typeface="Times New Roman" panose="02020603050405020304" pitchFamily="18" charset="0"/>
              </a:rPr>
              <a:t>在類別</a:t>
            </a:r>
            <a:r>
              <a:rPr lang="en-US" altLang="zh-TW" sz="2000" dirty="0" smtClean="0">
                <a:latin typeface="Times New Roman" panose="02020603050405020304" pitchFamily="18" charset="0"/>
                <a:cs typeface="Times New Roman" panose="02020603050405020304" pitchFamily="18" charset="0"/>
              </a:rPr>
              <a:t>c</a:t>
            </a:r>
            <a:r>
              <a:rPr lang="zh-TW" altLang="en-US" sz="2000" dirty="0" smtClean="0">
                <a:latin typeface="Times New Roman" panose="02020603050405020304" pitchFamily="18" charset="0"/>
                <a:cs typeface="Times New Roman" panose="02020603050405020304" pitchFamily="18" charset="0"/>
              </a:rPr>
              <a:t>中的權重值為</a:t>
            </a:r>
            <a:r>
              <a:rPr lang="en-US" altLang="zh-TW" sz="2000" dirty="0" smtClean="0">
                <a:latin typeface="Times New Roman" panose="02020603050405020304" pitchFamily="18" charset="0"/>
                <a:cs typeface="Times New Roman" panose="02020603050405020304" pitchFamily="18" charset="0"/>
              </a:rPr>
              <a:t>W(</a:t>
            </a:r>
            <a:r>
              <a:rPr lang="en-US" altLang="zh-TW" sz="2000" dirty="0" err="1" smtClean="0">
                <a:latin typeface="Times New Roman" panose="02020603050405020304" pitchFamily="18" charset="0"/>
                <a:cs typeface="Times New Roman" panose="02020603050405020304" pitchFamily="18" charset="0"/>
              </a:rPr>
              <a:t>s,c</a:t>
            </a:r>
            <a:r>
              <a:rPr lang="en-US" altLang="zh-TW" sz="2000" dirty="0" smtClean="0">
                <a:latin typeface="Times New Roman" panose="02020603050405020304" pitchFamily="18" charset="0"/>
                <a:cs typeface="Times New Roman" panose="02020603050405020304" pitchFamily="18" charset="0"/>
              </a:rPr>
              <a:t>)</a:t>
            </a:r>
            <a:r>
              <a:rPr lang="zh-TW" altLang="en-US" sz="2000" dirty="0" smtClean="0">
                <a:latin typeface="Times New Roman" panose="02020603050405020304" pitchFamily="18" charset="0"/>
                <a:cs typeface="Times New Roman" panose="02020603050405020304" pitchFamily="18" charset="0"/>
              </a:rPr>
              <a:t>，則</a:t>
            </a:r>
            <a:endParaRPr lang="zh-TW" altLang="en-US" sz="20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4439456" y="1070438"/>
            <a:ext cx="3591048" cy="1241365"/>
          </a:xfrm>
          <a:prstGeom prst="rect">
            <a:avLst/>
          </a:prstGeom>
          <a:noFill/>
        </p:spPr>
        <p:txBody>
          <a:bodyPr wrap="none" rtlCol="0">
            <a:spAutoFit/>
          </a:bodyPr>
          <a:lstStyle/>
          <a:p>
            <a:r>
              <a:rPr lang="en-US" altLang="zh-TW" sz="2800" dirty="0" smtClean="0">
                <a:latin typeface="Times New Roman" panose="02020603050405020304" pitchFamily="18" charset="0"/>
                <a:cs typeface="Times New Roman" panose="02020603050405020304" pitchFamily="18" charset="0"/>
              </a:rPr>
              <a:t>W(s, c) = </a:t>
            </a:r>
            <a:r>
              <a:rPr lang="en-US" altLang="zh-TW" sz="2800" dirty="0" err="1" smtClean="0">
                <a:latin typeface="Times New Roman" panose="02020603050405020304" pitchFamily="18" charset="0"/>
                <a:cs typeface="Times New Roman" panose="02020603050405020304" pitchFamily="18" charset="0"/>
              </a:rPr>
              <a:t>TF</a:t>
            </a:r>
            <a:r>
              <a:rPr lang="en-US" altLang="zh-TW" sz="2800" baseline="-25000" dirty="0" err="1" smtClean="0">
                <a:latin typeface="Times New Roman" panose="02020603050405020304" pitchFamily="18" charset="0"/>
                <a:cs typeface="Times New Roman" panose="02020603050405020304" pitchFamily="18" charset="0"/>
              </a:rPr>
              <a:t>s,c</a:t>
            </a:r>
            <a:r>
              <a:rPr lang="en-US" altLang="zh-TW" sz="2800" dirty="0" smtClean="0">
                <a:latin typeface="Times New Roman" panose="02020603050405020304" pitchFamily="18" charset="0"/>
                <a:cs typeface="Times New Roman" panose="02020603050405020304" pitchFamily="18" charset="0"/>
              </a:rPr>
              <a:t> * IDF</a:t>
            </a:r>
            <a:r>
              <a:rPr lang="en-US" altLang="zh-TW" sz="2800" baseline="-25000" dirty="0" smtClean="0">
                <a:latin typeface="Times New Roman" panose="02020603050405020304" pitchFamily="18" charset="0"/>
                <a:cs typeface="Times New Roman" panose="02020603050405020304" pitchFamily="18" charset="0"/>
              </a:rPr>
              <a:t>s</a:t>
            </a:r>
          </a:p>
          <a:p>
            <a:endParaRPr lang="en-US" altLang="zh-TW" sz="2800" baseline="-25000" dirty="0" smtClean="0">
              <a:latin typeface="Times New Roman" panose="02020603050405020304" pitchFamily="18" charset="0"/>
              <a:cs typeface="Times New Roman" panose="02020603050405020304" pitchFamily="18" charset="0"/>
            </a:endParaRPr>
          </a:p>
          <a:p>
            <a:r>
              <a:rPr lang="en-US" altLang="zh-TW" sz="2800" dirty="0" smtClean="0">
                <a:latin typeface="Times New Roman" panose="02020603050405020304" pitchFamily="18" charset="0"/>
                <a:cs typeface="Times New Roman" panose="02020603050405020304" pitchFamily="18" charset="0"/>
              </a:rPr>
              <a:t>IDF</a:t>
            </a:r>
            <a:r>
              <a:rPr lang="en-US" altLang="zh-TW" sz="2800" baseline="-25000" dirty="0" smtClean="0">
                <a:latin typeface="Times New Roman" panose="02020603050405020304" pitchFamily="18" charset="0"/>
                <a:cs typeface="Times New Roman" panose="02020603050405020304" pitchFamily="18" charset="0"/>
              </a:rPr>
              <a:t>s</a:t>
            </a:r>
            <a:r>
              <a:rPr lang="en-US" altLang="zh-TW" sz="2800" dirty="0" smtClean="0">
                <a:latin typeface="Times New Roman" panose="02020603050405020304" pitchFamily="18" charset="0"/>
                <a:cs typeface="Times New Roman" panose="02020603050405020304" pitchFamily="18" charset="0"/>
              </a:rPr>
              <a:t> = log(N / DF</a:t>
            </a:r>
            <a:r>
              <a:rPr lang="en-US" altLang="zh-TW" sz="2800" baseline="-25000" dirty="0" smtClean="0">
                <a:latin typeface="Times New Roman" panose="02020603050405020304" pitchFamily="18" charset="0"/>
                <a:cs typeface="Times New Roman" panose="02020603050405020304" pitchFamily="18" charset="0"/>
              </a:rPr>
              <a:t>s</a:t>
            </a:r>
            <a:r>
              <a:rPr lang="en-US" altLang="zh-TW" sz="2800" dirty="0" smtClean="0">
                <a:latin typeface="Times New Roman" panose="02020603050405020304" pitchFamily="18" charset="0"/>
                <a:cs typeface="Times New Roman" panose="02020603050405020304" pitchFamily="18" charset="0"/>
              </a:rPr>
              <a:t> + 1)</a:t>
            </a:r>
            <a:endParaRPr lang="zh-TW" altLang="en-US" sz="2800" dirty="0">
              <a:latin typeface="Times New Roman" panose="02020603050405020304" pitchFamily="18" charset="0"/>
              <a:cs typeface="Times New Roman" panose="02020603050405020304" pitchFamily="18" charset="0"/>
            </a:endParaRPr>
          </a:p>
        </p:txBody>
      </p:sp>
      <p:sp>
        <p:nvSpPr>
          <p:cNvPr id="6" name="文字方塊 5"/>
          <p:cNvSpPr txBox="1"/>
          <p:nvPr/>
        </p:nvSpPr>
        <p:spPr>
          <a:xfrm>
            <a:off x="471182" y="3009380"/>
            <a:ext cx="11548354" cy="1754326"/>
          </a:xfrm>
          <a:prstGeom prst="rect">
            <a:avLst/>
          </a:prstGeom>
          <a:noFill/>
        </p:spPr>
        <p:txBody>
          <a:bodyPr wrap="none" rtlCol="0">
            <a:spAutoFit/>
          </a:bodyPr>
          <a:lstStyle/>
          <a:p>
            <a:r>
              <a:rPr lang="en-US" altLang="zh-TW" dirty="0" smtClean="0"/>
              <a:t>Example</a:t>
            </a:r>
            <a:r>
              <a:rPr lang="zh-TW" altLang="en-US" dirty="0" smtClean="0"/>
              <a:t>：</a:t>
            </a:r>
            <a:endParaRPr lang="en-US" altLang="zh-TW" dirty="0" smtClean="0"/>
          </a:p>
          <a:p>
            <a:r>
              <a:rPr lang="zh-TW" altLang="en-US" dirty="0" smtClean="0"/>
              <a:t>假如</a:t>
            </a:r>
            <a:r>
              <a:rPr lang="zh-TW" altLang="en-US" dirty="0"/>
              <a:t>一篇文件的總詞語數是</a:t>
            </a:r>
            <a:r>
              <a:rPr lang="en-US" altLang="zh-TW" dirty="0"/>
              <a:t>100</a:t>
            </a:r>
            <a:r>
              <a:rPr lang="zh-TW" altLang="en-US" dirty="0"/>
              <a:t>個，而詞語「母牛」出現了</a:t>
            </a:r>
            <a:r>
              <a:rPr lang="en-US" altLang="zh-TW" dirty="0"/>
              <a:t>3</a:t>
            </a:r>
            <a:r>
              <a:rPr lang="zh-TW" altLang="en-US" dirty="0"/>
              <a:t>次</a:t>
            </a:r>
            <a:r>
              <a:rPr lang="zh-TW" altLang="en-US" dirty="0" smtClean="0"/>
              <a:t>，</a:t>
            </a:r>
            <a:endParaRPr lang="en-US" altLang="zh-TW" dirty="0" smtClean="0"/>
          </a:p>
          <a:p>
            <a:r>
              <a:rPr lang="zh-TW" altLang="en-US" dirty="0" smtClean="0"/>
              <a:t>那麼</a:t>
            </a:r>
            <a:r>
              <a:rPr lang="zh-TW" altLang="en-US" dirty="0"/>
              <a:t>「母牛」一詞在該文件中的詞頻就是</a:t>
            </a:r>
            <a:r>
              <a:rPr lang="en-US" altLang="zh-TW" dirty="0"/>
              <a:t>3/100=0.03</a:t>
            </a:r>
            <a:r>
              <a:rPr lang="zh-TW" altLang="en-US" dirty="0" smtClean="0"/>
              <a:t>。</a:t>
            </a:r>
            <a:endParaRPr lang="en-US" altLang="zh-TW" dirty="0" smtClean="0"/>
          </a:p>
          <a:p>
            <a:r>
              <a:rPr lang="zh-TW" altLang="en-US" dirty="0" smtClean="0"/>
              <a:t>一個</a:t>
            </a:r>
            <a:r>
              <a:rPr lang="zh-TW" altLang="en-US" dirty="0"/>
              <a:t>計算文件頻率（</a:t>
            </a:r>
            <a:r>
              <a:rPr lang="en-US" altLang="zh-TW" dirty="0"/>
              <a:t>DF</a:t>
            </a:r>
            <a:r>
              <a:rPr lang="zh-TW" altLang="en-US" dirty="0"/>
              <a:t>）的方法是測定有多少份文件出現過「母牛」一詞，然後除以文件集裡包含的文件總數</a:t>
            </a:r>
            <a:r>
              <a:rPr lang="zh-TW" altLang="en-US" dirty="0" smtClean="0"/>
              <a:t>。</a:t>
            </a:r>
            <a:endParaRPr lang="en-US" altLang="zh-TW" dirty="0" smtClean="0"/>
          </a:p>
          <a:p>
            <a:r>
              <a:rPr lang="zh-TW" altLang="en-US" dirty="0" smtClean="0"/>
              <a:t>所以</a:t>
            </a:r>
            <a:r>
              <a:rPr lang="zh-TW" altLang="en-US" dirty="0"/>
              <a:t>，如果「母牛」一詞在</a:t>
            </a:r>
            <a:r>
              <a:rPr lang="en-US" altLang="zh-TW" dirty="0"/>
              <a:t>1,000</a:t>
            </a:r>
            <a:r>
              <a:rPr lang="zh-TW" altLang="en-US" dirty="0"/>
              <a:t>份文件出現過，而文件總數是</a:t>
            </a:r>
            <a:r>
              <a:rPr lang="en-US" altLang="zh-TW" dirty="0"/>
              <a:t>10,000,000</a:t>
            </a:r>
            <a:r>
              <a:rPr lang="zh-TW" altLang="en-US" dirty="0"/>
              <a:t>份的話</a:t>
            </a:r>
            <a:r>
              <a:rPr lang="zh-TW" altLang="en-US" dirty="0" smtClean="0"/>
              <a:t>，</a:t>
            </a:r>
            <a:endParaRPr lang="en-US" altLang="zh-TW" dirty="0" smtClean="0"/>
          </a:p>
          <a:p>
            <a:r>
              <a:rPr lang="zh-TW" altLang="en-US" dirty="0" smtClean="0"/>
              <a:t>其</a:t>
            </a:r>
            <a:r>
              <a:rPr lang="zh-TW" altLang="en-US" dirty="0"/>
              <a:t>逆向文件頻率就是</a:t>
            </a:r>
            <a:r>
              <a:rPr lang="en-US" altLang="zh-TW" dirty="0"/>
              <a:t>log</a:t>
            </a:r>
            <a:r>
              <a:rPr lang="zh-TW" altLang="en-US" dirty="0"/>
              <a:t>（</a:t>
            </a:r>
            <a:r>
              <a:rPr lang="en-US" altLang="zh-TW" dirty="0"/>
              <a:t>10,000,000 / 1,000</a:t>
            </a:r>
            <a:r>
              <a:rPr lang="zh-TW" altLang="en-US" dirty="0"/>
              <a:t>）</a:t>
            </a:r>
            <a:r>
              <a:rPr lang="en-US" altLang="zh-TW" dirty="0"/>
              <a:t>=4</a:t>
            </a:r>
            <a:r>
              <a:rPr lang="zh-TW" altLang="en-US" dirty="0"/>
              <a:t>。最後的</a:t>
            </a:r>
            <a:r>
              <a:rPr lang="en-US" altLang="zh-TW" dirty="0"/>
              <a:t>TF-IDF</a:t>
            </a:r>
            <a:r>
              <a:rPr lang="zh-TW" altLang="en-US" dirty="0"/>
              <a:t>的分數為</a:t>
            </a:r>
            <a:r>
              <a:rPr lang="en-US" altLang="zh-TW" dirty="0"/>
              <a:t>0.03 * 4=0.12</a:t>
            </a:r>
            <a:r>
              <a:rPr lang="zh-TW" altLang="en-US" dirty="0"/>
              <a:t>。</a:t>
            </a:r>
          </a:p>
        </p:txBody>
      </p:sp>
    </p:spTree>
    <p:extLst>
      <p:ext uri="{BB962C8B-B14F-4D97-AF65-F5344CB8AC3E}">
        <p14:creationId xmlns:p14="http://schemas.microsoft.com/office/powerpoint/2010/main" val="281785020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肥皂">
  <a:themeElements>
    <a:clrScheme name="肥皂">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肥皂">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肥皂">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肥皂</Template>
  <TotalTime>706</TotalTime>
  <Words>987</Words>
  <Application>Microsoft Office PowerPoint</Application>
  <PresentationFormat>寬螢幕</PresentationFormat>
  <Paragraphs>127</Paragraphs>
  <Slides>20</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20</vt:i4>
      </vt:variant>
    </vt:vector>
  </HeadingPairs>
  <TitlesOfParts>
    <vt:vector size="26" baseType="lpstr">
      <vt:lpstr>新細明體</vt:lpstr>
      <vt:lpstr>Cambria Math</vt:lpstr>
      <vt:lpstr>Century Gothic</vt:lpstr>
      <vt:lpstr>Garamond</vt:lpstr>
      <vt:lpstr>Times New Roman</vt:lpstr>
      <vt:lpstr>肥皂</vt:lpstr>
      <vt:lpstr>PowerPoint 簡報</vt:lpstr>
      <vt:lpstr>Abstract</vt:lpstr>
      <vt:lpstr>Features selection</vt:lpstr>
      <vt:lpstr>Relevance function</vt:lpstr>
      <vt:lpstr>雙字詞較單字詞具代表性</vt:lpstr>
      <vt:lpstr>co-occurrence</vt:lpstr>
      <vt:lpstr>Methods</vt:lpstr>
      <vt:lpstr>Methods</vt:lpstr>
      <vt:lpstr>Methods</vt:lpstr>
      <vt:lpstr>相關函數的計算</vt:lpstr>
      <vt:lpstr>不考慮特徵出現位置的相關函數計算</vt:lpstr>
      <vt:lpstr>考慮特徵出現位置的相關函數計算</vt:lpstr>
      <vt:lpstr>訓練階段演算法</vt:lpstr>
      <vt:lpstr>測試階段演算法</vt:lpstr>
      <vt:lpstr>Results</vt:lpstr>
      <vt:lpstr>Results</vt:lpstr>
      <vt:lpstr>Results</vt:lpstr>
      <vt:lpstr>Results</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Jyun-Hao Lai</dc:creator>
  <cp:lastModifiedBy>pplab-class</cp:lastModifiedBy>
  <cp:revision>53</cp:revision>
  <dcterms:created xsi:type="dcterms:W3CDTF">2016-03-07T12:21:56Z</dcterms:created>
  <dcterms:modified xsi:type="dcterms:W3CDTF">2016-03-08T13:26:20Z</dcterms:modified>
</cp:coreProperties>
</file>