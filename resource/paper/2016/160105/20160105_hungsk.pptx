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8" r:id="rId10"/>
    <p:sldId id="269" r:id="rId11"/>
    <p:sldId id="266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4660"/>
  </p:normalViewPr>
  <p:slideViewPr>
    <p:cSldViewPr>
      <p:cViewPr varScale="1">
        <p:scale>
          <a:sx n="81" d="100"/>
          <a:sy n="81" d="100"/>
        </p:scale>
        <p:origin x="22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2016/1/5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ciencedirect.com/science/journal/01678655/55/supp/C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39552" y="836712"/>
            <a:ext cx="8208912" cy="1872208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Order preserving pattern </a:t>
            </a:r>
            <a:br>
              <a:rPr lang="en-US" altLang="zh-TW" dirty="0" smtClean="0"/>
            </a:br>
            <a:r>
              <a:rPr lang="en-US" altLang="zh-TW" dirty="0" smtClean="0"/>
              <a:t>matching revisited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63588" y="2636912"/>
            <a:ext cx="6400800" cy="2448272"/>
          </a:xfrm>
        </p:spPr>
        <p:txBody>
          <a:bodyPr>
            <a:normAutofit fontScale="55000" lnSpcReduction="20000"/>
          </a:bodyPr>
          <a:lstStyle/>
          <a:p>
            <a:r>
              <a:rPr lang="en-US" altLang="zh-TW" b="1" dirty="0"/>
              <a:t>Pattern Recognition </a:t>
            </a:r>
            <a:r>
              <a:rPr lang="en-US" altLang="zh-TW" b="1" dirty="0" smtClean="0"/>
              <a:t>Letters </a:t>
            </a:r>
          </a:p>
          <a:p>
            <a:r>
              <a:rPr lang="en-US" altLang="zh-TW" dirty="0">
                <a:hlinkClick r:id="rId2" tooltip="Go to table of contents for this volume/issue"/>
              </a:rPr>
              <a:t>Volume </a:t>
            </a:r>
            <a:r>
              <a:rPr lang="en-US" altLang="zh-TW" dirty="0" smtClean="0">
                <a:hlinkClick r:id="rId2" tooltip="Go to table of contents for this volume/issue"/>
              </a:rPr>
              <a:t>55</a:t>
            </a:r>
            <a:r>
              <a:rPr lang="en-US" altLang="zh-TW" dirty="0" smtClean="0"/>
              <a:t>,</a:t>
            </a:r>
            <a:r>
              <a:rPr lang="en-US" altLang="zh-TW" b="1" dirty="0" smtClean="0"/>
              <a:t>P15-21</a:t>
            </a:r>
            <a:endParaRPr lang="en-US" altLang="zh-TW" b="1" dirty="0"/>
          </a:p>
          <a:p>
            <a:r>
              <a:rPr lang="en-US" altLang="zh-TW" b="1" dirty="0"/>
              <a:t>Received </a:t>
            </a:r>
            <a:r>
              <a:rPr lang="en-US" altLang="zh-TW" b="1" dirty="0" smtClean="0"/>
              <a:t>18 March 2014</a:t>
            </a:r>
            <a:endParaRPr lang="en-US" altLang="zh-TW" b="1" dirty="0"/>
          </a:p>
          <a:p>
            <a:r>
              <a:rPr lang="en-US" altLang="zh-TW" b="1" dirty="0"/>
              <a:t>Available online </a:t>
            </a:r>
            <a:r>
              <a:rPr lang="en-US" altLang="zh-TW" b="1" dirty="0" smtClean="0"/>
              <a:t>11 December 2014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err="1" smtClean="0"/>
              <a:t>Md.MahbubulHasan</a:t>
            </a:r>
            <a:r>
              <a:rPr lang="en-US" altLang="zh-TW" dirty="0" smtClean="0"/>
              <a:t>,</a:t>
            </a:r>
          </a:p>
          <a:p>
            <a:r>
              <a:rPr lang="en-US" altLang="zh-TW" dirty="0" err="1" smtClean="0"/>
              <a:t>A.S.M.ShohidullIslam</a:t>
            </a:r>
            <a:r>
              <a:rPr lang="en-US" altLang="zh-TW" dirty="0" smtClean="0"/>
              <a:t>,</a:t>
            </a:r>
          </a:p>
          <a:p>
            <a:r>
              <a:rPr lang="en-US" altLang="zh-TW" dirty="0" err="1" smtClean="0"/>
              <a:t>MohammadSaifurRahman</a:t>
            </a:r>
            <a:r>
              <a:rPr lang="en-US" altLang="zh-TW" dirty="0" smtClean="0"/>
              <a:t>,</a:t>
            </a:r>
            <a:r>
              <a:rPr lang="en-US" altLang="zh-TW" dirty="0"/>
              <a:t> </a:t>
            </a:r>
            <a:r>
              <a:rPr lang="en-US" altLang="zh-TW" dirty="0" err="1"/>
              <a:t>M.SohelRahman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195736" y="5414499"/>
            <a:ext cx="4536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Presenter:  Shu-Kai Hung</a:t>
            </a:r>
            <a:br>
              <a:rPr lang="en-US" altLang="zh-TW" sz="2400" dirty="0"/>
            </a:br>
            <a:r>
              <a:rPr lang="en-US" altLang="zh-TW" sz="2400" dirty="0" smtClean="0"/>
              <a:t>Date:2016/1/5</a:t>
            </a:r>
            <a:r>
              <a:rPr lang="zh-TW" altLang="en-US" sz="2400" dirty="0"/>
              <a:t/>
            </a:r>
            <a:br>
              <a:rPr lang="zh-TW" altLang="en-US" sz="2400" dirty="0"/>
            </a:b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8391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pPr algn="l"/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124744"/>
            <a:ext cx="8568952" cy="5001419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In this paper , we study the order preserving pattern matching(OPPM) problem, which is a very recent variant of the classic pattern matching problem. We revisit this variant, present a new interesting pattern matching algorithm and for the first time consider string regularities from this new perspective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87934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13" y="0"/>
            <a:ext cx="9505056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dirty="0"/>
              <a:t>order preserving </a:t>
            </a:r>
            <a:r>
              <a:rPr lang="en-US" altLang="zh-TW" dirty="0" smtClean="0"/>
              <a:t>pattern matching(OPPM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908720"/>
            <a:ext cx="9036496" cy="5949280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Find exact same </a:t>
            </a:r>
            <a:r>
              <a:rPr lang="en-US" altLang="zh-TW" dirty="0" smtClean="0">
                <a:solidFill>
                  <a:srgbClr val="FF0000"/>
                </a:solidFill>
              </a:rPr>
              <a:t>regularities </a:t>
            </a:r>
            <a:r>
              <a:rPr lang="en-US" altLang="zh-TW" dirty="0" smtClean="0"/>
              <a:t>as Pattern in Text.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37618"/>
            <a:ext cx="8620125" cy="535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450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686800" cy="936104"/>
          </a:xfrm>
        </p:spPr>
        <p:txBody>
          <a:bodyPr>
            <a:noAutofit/>
          </a:bodyPr>
          <a:lstStyle/>
          <a:p>
            <a:pPr algn="l"/>
            <a:r>
              <a:rPr lang="en-US" altLang="zh-TW" sz="3200" dirty="0" err="1" smtClean="0"/>
              <a:t>Gusfield's</a:t>
            </a:r>
            <a:r>
              <a:rPr lang="en-US" altLang="zh-TW" sz="3200" dirty="0" smtClean="0"/>
              <a:t> </a:t>
            </a:r>
            <a:r>
              <a:rPr lang="en-US" altLang="zh-TW" sz="3200" dirty="0"/>
              <a:t>Algorithm </a:t>
            </a:r>
            <a:r>
              <a:rPr lang="zh-TW" altLang="en-US" sz="3200" dirty="0" smtClean="0"/>
              <a:t>（ </a:t>
            </a:r>
            <a:r>
              <a:rPr lang="en-US" altLang="zh-TW" sz="3200" dirty="0"/>
              <a:t>Z Algorithm </a:t>
            </a:r>
            <a:r>
              <a:rPr lang="zh-TW" altLang="en-US" sz="3200" dirty="0"/>
              <a:t>）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052736"/>
            <a:ext cx="8507288" cy="5544616"/>
          </a:xfrm>
        </p:spPr>
        <p:txBody>
          <a:bodyPr/>
          <a:lstStyle/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z</a:t>
            </a:r>
            <a:r>
              <a:rPr lang="en-US" altLang="zh-TW" sz="2400" dirty="0" smtClean="0"/>
              <a:t>(</a:t>
            </a:r>
            <a:r>
              <a:rPr lang="en-US" altLang="zh-TW" sz="2400" dirty="0" err="1" smtClean="0"/>
              <a:t>i</a:t>
            </a:r>
            <a:r>
              <a:rPr lang="en-US" altLang="zh-TW" sz="2400" dirty="0"/>
              <a:t>): Refers to the string by the s [</a:t>
            </a:r>
            <a:r>
              <a:rPr lang="en-US" altLang="zh-TW" sz="2400" dirty="0" err="1"/>
              <a:t>i</a:t>
            </a:r>
            <a:r>
              <a:rPr lang="en-US" altLang="zh-TW" sz="2400" dirty="0"/>
              <a:t>] beginning, and s [0] string can be matched to the start how long</a:t>
            </a:r>
            <a:r>
              <a:rPr lang="en-US" altLang="zh-TW" sz="2400" dirty="0" smtClean="0"/>
              <a:t>.(string s , s[</a:t>
            </a:r>
            <a:r>
              <a:rPr lang="en-US" altLang="zh-TW" sz="2400" dirty="0" err="1" smtClean="0"/>
              <a:t>i</a:t>
            </a:r>
            <a:r>
              <a:rPr lang="en-US" altLang="zh-TW" sz="2400" dirty="0" smtClean="0"/>
              <a:t>] : the </a:t>
            </a:r>
            <a:r>
              <a:rPr lang="en-US" altLang="zh-TW" sz="2400" dirty="0" err="1" smtClean="0"/>
              <a:t>i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th</a:t>
            </a:r>
            <a:r>
              <a:rPr lang="en-US" altLang="zh-TW" sz="2400" dirty="0" smtClean="0"/>
              <a:t> value)</a:t>
            </a:r>
          </a:p>
          <a:p>
            <a:pPr marL="0" indent="0">
              <a:buNone/>
            </a:pPr>
            <a:r>
              <a:rPr lang="en-US" altLang="zh-TW" sz="2400" dirty="0" smtClean="0"/>
              <a:t>※ compare with prefix</a:t>
            </a:r>
            <a:endParaRPr lang="en-US" altLang="zh-TW" sz="2400" dirty="0"/>
          </a:p>
          <a:p>
            <a:pPr marL="0" indent="0">
              <a:buNone/>
            </a:pPr>
            <a:r>
              <a:rPr lang="en-US" altLang="zh-TW" sz="2400" dirty="0" smtClean="0"/>
              <a:t>Example:</a:t>
            </a:r>
          </a:p>
          <a:p>
            <a:pPr marL="0" indent="0">
              <a:buNone/>
            </a:pPr>
            <a:endParaRPr lang="en-US" altLang="zh-TW" sz="2400" dirty="0"/>
          </a:p>
          <a:p>
            <a:pPr marL="0" indent="0">
              <a:buNone/>
            </a:pPr>
            <a:endParaRPr lang="en-US" altLang="zh-TW" sz="2400" dirty="0" smtClean="0"/>
          </a:p>
          <a:p>
            <a:pPr marL="0" indent="0">
              <a:buNone/>
            </a:pPr>
            <a:endParaRPr lang="zh-TW" altLang="en-US" sz="24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725340"/>
              </p:ext>
            </p:extLst>
          </p:nvPr>
        </p:nvGraphicFramePr>
        <p:xfrm>
          <a:off x="755576" y="4005064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S[</a:t>
                      </a:r>
                      <a:r>
                        <a:rPr lang="en-US" altLang="zh-TW" dirty="0" err="1" smtClean="0"/>
                        <a:t>i</a:t>
                      </a:r>
                      <a:r>
                        <a:rPr lang="en-US" altLang="zh-TW" dirty="0" smtClean="0"/>
                        <a:t>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Z(</a:t>
                      </a:r>
                      <a:r>
                        <a:rPr lang="en-US" altLang="zh-TW" dirty="0" err="1" smtClean="0"/>
                        <a:t>i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419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44624"/>
            <a:ext cx="8229600" cy="850106"/>
          </a:xfrm>
        </p:spPr>
        <p:txBody>
          <a:bodyPr/>
          <a:lstStyle/>
          <a:p>
            <a:pPr algn="l"/>
            <a:r>
              <a:rPr lang="en-US" altLang="zh-TW" dirty="0" smtClean="0"/>
              <a:t>Modified </a:t>
            </a:r>
            <a:r>
              <a:rPr lang="en-US" altLang="zh-TW" i="1" dirty="0" smtClean="0"/>
              <a:t>Z </a:t>
            </a:r>
            <a:r>
              <a:rPr lang="en-US" altLang="zh-TW" dirty="0" smtClean="0"/>
              <a:t>- function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96752"/>
                <a:ext cx="8712968" cy="514543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To useful from the order preserving point of view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Example: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Time complexity 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96752"/>
                <a:ext cx="8712968" cy="5145435"/>
              </a:xfrm>
              <a:blipFill rotWithShape="0">
                <a:blip r:embed="rId2"/>
                <a:stretch>
                  <a:fillRect l="-1819" t="-15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71952"/>
              </p:ext>
            </p:extLst>
          </p:nvPr>
        </p:nvGraphicFramePr>
        <p:xfrm>
          <a:off x="1043608" y="3398629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S[</a:t>
                      </a:r>
                      <a:r>
                        <a:rPr lang="en-US" altLang="zh-TW" dirty="0" err="1" smtClean="0"/>
                        <a:t>i</a:t>
                      </a:r>
                      <a:r>
                        <a:rPr lang="en-US" altLang="zh-TW" dirty="0" smtClean="0"/>
                        <a:t>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 18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Z(</a:t>
                      </a:r>
                      <a:r>
                        <a:rPr lang="en-US" altLang="zh-TW" dirty="0" err="1" smtClean="0"/>
                        <a:t>i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97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260648"/>
            <a:ext cx="8229600" cy="5894115"/>
          </a:xfrm>
        </p:spPr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24743"/>
            <a:ext cx="5943600" cy="522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619672" y="3429000"/>
            <a:ext cx="6336704" cy="72008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472092"/>
            <a:ext cx="5112568" cy="653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89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71804"/>
            <a:ext cx="8229600" cy="76490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Order preserving representation(OPR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692696"/>
                <a:ext cx="9144000" cy="590465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Rank(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) : Sort </a:t>
                </a:r>
                <a:r>
                  <a:rPr lang="en-US" altLang="zh-TW" dirty="0"/>
                  <a:t>the </a:t>
                </a:r>
                <a:r>
                  <a:rPr lang="en-US" altLang="zh-TW" dirty="0" smtClean="0"/>
                  <a:t>value </a:t>
                </a:r>
                <a:r>
                  <a:rPr lang="en-US" altLang="zh-TW" dirty="0"/>
                  <a:t>of the </a:t>
                </a:r>
                <a:r>
                  <a:rPr lang="en-US" altLang="zh-TW" dirty="0" err="1"/>
                  <a:t>i-th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order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Example: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S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(15,20,30,11,18)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,then rank(15) = 2,rank(20) = 3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So, 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OPR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 =rank(15),rank(20),rank(30),rank(11),rank(18)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OPR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=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= (</a:t>
                </a:r>
                <a:r>
                  <a:rPr lang="en-US" altLang="zh-TW" dirty="0" smtClean="0"/>
                  <a:t>2,4,5,1,3)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92696"/>
                <a:ext cx="9144000" cy="5904656"/>
              </a:xfrm>
              <a:blipFill rotWithShape="0">
                <a:blip r:embed="rId2"/>
                <a:stretch>
                  <a:fillRect l="-1533" t="-12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96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Balance binary search tree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600200"/>
            <a:ext cx="9036496" cy="4925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/>
              <a:t>A binary search tree is a binary tree where, for each node m, the left sub-tree only has nodes with keys smaller </a:t>
            </a:r>
            <a:r>
              <a:rPr lang="en-US" altLang="zh-TW" sz="2400" dirty="0" smtClean="0"/>
              <a:t>than the </a:t>
            </a:r>
            <a:r>
              <a:rPr lang="en-US" altLang="zh-TW" sz="2400" dirty="0"/>
              <a:t>key of m, while the right sub-tree only has nodes with keys larger than the key of m.</a:t>
            </a:r>
            <a:endParaRPr lang="zh-TW" altLang="en-US" sz="24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3429000"/>
            <a:ext cx="3024336" cy="225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9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84176" y="116632"/>
            <a:ext cx="8856984" cy="922114"/>
          </a:xfrm>
        </p:spPr>
        <p:txBody>
          <a:bodyPr/>
          <a:lstStyle/>
          <a:p>
            <a:r>
              <a:rPr lang="en-US" altLang="zh-TW" dirty="0" smtClean="0"/>
              <a:t>Algorithm 2(with Algorithm 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4176" y="895536"/>
            <a:ext cx="8856984" cy="5544616"/>
          </a:xfrm>
        </p:spPr>
        <p:txBody>
          <a:bodyPr/>
          <a:lstStyle/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908720"/>
            <a:ext cx="5219700" cy="264795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0" y="3605351"/>
            <a:ext cx="7560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Constructing Tree(include </a:t>
            </a:r>
            <a:r>
              <a:rPr lang="en-US" altLang="zh-TW" dirty="0" smtClean="0">
                <a:solidFill>
                  <a:srgbClr val="FF0000"/>
                </a:solidFill>
              </a:rPr>
              <a:t>insert(</a:t>
            </a:r>
            <a:r>
              <a:rPr lang="en-US" altLang="zh-TW" dirty="0" err="1" smtClean="0">
                <a:solidFill>
                  <a:srgbClr val="FF0000"/>
                </a:solidFill>
              </a:rPr>
              <a:t>x,i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r>
              <a:rPr lang="en-US" altLang="zh-TW" dirty="0" smtClean="0"/>
              <a:t>  ,  </a:t>
            </a:r>
            <a:r>
              <a:rPr lang="en-US" altLang="zh-TW" dirty="0" smtClean="0">
                <a:solidFill>
                  <a:srgbClr val="FF0000"/>
                </a:solidFill>
              </a:rPr>
              <a:t>Rank(x)</a:t>
            </a:r>
            <a:r>
              <a:rPr lang="en-US" altLang="zh-TW" dirty="0" smtClean="0"/>
              <a:t> )</a:t>
            </a:r>
          </a:p>
          <a:p>
            <a:r>
              <a:rPr lang="en-US" altLang="zh-TW" dirty="0" smtClean="0"/>
              <a:t>example:</a:t>
            </a:r>
          </a:p>
          <a:p>
            <a:r>
              <a:rPr lang="en-US" altLang="zh-TW" dirty="0" smtClean="0"/>
              <a:t>S = (11,18,24,20,25,29)                                                       OPRs = (1,2,4,3,5,6)</a:t>
            </a:r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4098673" y="4077072"/>
            <a:ext cx="648072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24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3275856" y="5030586"/>
            <a:ext cx="648072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18</a:t>
            </a:r>
            <a:endParaRPr lang="zh-TW" altLang="en-US" dirty="0"/>
          </a:p>
        </p:txBody>
      </p:sp>
      <p:sp>
        <p:nvSpPr>
          <p:cNvPr id="8" name="橢圓 7"/>
          <p:cNvSpPr/>
          <p:nvPr/>
        </p:nvSpPr>
        <p:spPr>
          <a:xfrm>
            <a:off x="3828492" y="5903708"/>
            <a:ext cx="648072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20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2555776" y="5903708"/>
            <a:ext cx="648072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11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5560436" y="5903708"/>
            <a:ext cx="648072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29</a:t>
            </a:r>
            <a:endParaRPr lang="zh-TW" altLang="en-US" dirty="0"/>
          </a:p>
        </p:txBody>
      </p:sp>
      <p:sp>
        <p:nvSpPr>
          <p:cNvPr id="11" name="橢圓 10"/>
          <p:cNvSpPr/>
          <p:nvPr/>
        </p:nvSpPr>
        <p:spPr>
          <a:xfrm>
            <a:off x="4860032" y="4975346"/>
            <a:ext cx="648072" cy="72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25</a:t>
            </a:r>
            <a:endParaRPr lang="zh-TW" altLang="en-US" dirty="0"/>
          </a:p>
        </p:txBody>
      </p:sp>
      <p:cxnSp>
        <p:nvCxnSpPr>
          <p:cNvPr id="13" name="直線接點 12"/>
          <p:cNvCxnSpPr>
            <a:stCxn id="6" idx="3"/>
            <a:endCxn id="7" idx="7"/>
          </p:cNvCxnSpPr>
          <p:nvPr/>
        </p:nvCxnSpPr>
        <p:spPr>
          <a:xfrm flipH="1">
            <a:off x="3829020" y="4691699"/>
            <a:ext cx="364561" cy="4443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7" idx="3"/>
            <a:endCxn id="9" idx="7"/>
          </p:cNvCxnSpPr>
          <p:nvPr/>
        </p:nvCxnSpPr>
        <p:spPr>
          <a:xfrm flipH="1">
            <a:off x="3108940" y="5645213"/>
            <a:ext cx="261824" cy="3639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7" idx="5"/>
          </p:cNvCxnSpPr>
          <p:nvPr/>
        </p:nvCxnSpPr>
        <p:spPr>
          <a:xfrm>
            <a:off x="3829020" y="5645213"/>
            <a:ext cx="182280" cy="268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6" idx="5"/>
            <a:endCxn id="11" idx="1"/>
          </p:cNvCxnSpPr>
          <p:nvPr/>
        </p:nvCxnSpPr>
        <p:spPr>
          <a:xfrm>
            <a:off x="4651837" y="4691699"/>
            <a:ext cx="303103" cy="3891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1" idx="5"/>
            <a:endCxn id="10" idx="1"/>
          </p:cNvCxnSpPr>
          <p:nvPr/>
        </p:nvCxnSpPr>
        <p:spPr>
          <a:xfrm>
            <a:off x="5413196" y="5589973"/>
            <a:ext cx="242148" cy="4191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5300024" y="2314443"/>
                <a:ext cx="359245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Time Complexity 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𝑛𝑙𝑜𝑔𝑛</m:t>
                        </m:r>
                      </m:e>
                    </m:d>
                  </m:oMath>
                </a14:m>
                <a:endParaRPr lang="en-US" altLang="zh-TW" b="0" dirty="0" smtClean="0"/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Checking equality of two OPRs: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024" y="2314443"/>
                <a:ext cx="3592456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1356" t="-30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5596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851920" y="1672047"/>
            <a:ext cx="5112568" cy="10801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18457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Algorithm3 &amp; 4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7944" y="1916832"/>
            <a:ext cx="4762500" cy="59055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544" y="908720"/>
            <a:ext cx="4176464" cy="2781300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253274" y="3738945"/>
            <a:ext cx="71972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Two new operation :</a:t>
            </a:r>
          </a:p>
          <a:p>
            <a:pPr marL="342900" indent="-342900">
              <a:buAutoNum type="arabicPeriod"/>
            </a:pPr>
            <a:r>
              <a:rPr lang="en-US" altLang="zh-TW" dirty="0" err="1" smtClean="0"/>
              <a:t>PreviousIndex</a:t>
            </a:r>
            <a:r>
              <a:rPr lang="en-US" altLang="zh-TW" dirty="0" smtClean="0"/>
              <a:t>(x) : Finds the value of pair having largest key less than x</a:t>
            </a:r>
          </a:p>
          <a:p>
            <a:pPr marL="342900" indent="-342900">
              <a:buAutoNum type="arabicPeriod"/>
            </a:pPr>
            <a:r>
              <a:rPr lang="en-US" altLang="zh-TW" dirty="0" err="1" smtClean="0"/>
              <a:t>NextIndex</a:t>
            </a:r>
            <a:r>
              <a:rPr lang="en-US" altLang="zh-TW" dirty="0" smtClean="0"/>
              <a:t>(x) : Finds the value of pair having smallest key greater than x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80389" y="5527484"/>
            <a:ext cx="777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Array </a:t>
            </a:r>
            <a:r>
              <a:rPr lang="en-US" altLang="zh-TW" dirty="0" err="1" smtClean="0">
                <a:solidFill>
                  <a:srgbClr val="FF0000"/>
                </a:solidFill>
              </a:rPr>
              <a:t>Prev</a:t>
            </a:r>
            <a:r>
              <a:rPr lang="en-US" altLang="zh-TW" dirty="0" smtClean="0"/>
              <a:t> , Array </a:t>
            </a:r>
            <a:r>
              <a:rPr lang="en-US" altLang="zh-TW" dirty="0" smtClean="0">
                <a:solidFill>
                  <a:srgbClr val="FF0000"/>
                </a:solidFill>
              </a:rPr>
              <a:t>Next</a:t>
            </a:r>
            <a:r>
              <a:rPr lang="en-US" altLang="zh-TW" dirty="0" smtClean="0"/>
              <a:t> can check the equality of two OPRs in constant time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286134" y="5098033"/>
                <a:ext cx="55166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Time complexity of Algorithm 4 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𝑛𝑙𝑜𝑔𝑛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34" y="5098033"/>
                <a:ext cx="5516625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994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02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Experiments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56592" y="1235187"/>
            <a:ext cx="5184576" cy="460851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157" y="1124744"/>
            <a:ext cx="5401469" cy="424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24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423</Words>
  <Application>Microsoft Office PowerPoint</Application>
  <PresentationFormat>如螢幕大小 (4:3)</PresentationFormat>
  <Paragraphs>110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新細明體</vt:lpstr>
      <vt:lpstr>Arial</vt:lpstr>
      <vt:lpstr>Calibri</vt:lpstr>
      <vt:lpstr>Cambria Math</vt:lpstr>
      <vt:lpstr>Office 佈景主題</vt:lpstr>
      <vt:lpstr>Order preserving pattern  matching revisited</vt:lpstr>
      <vt:lpstr>Abstract</vt:lpstr>
      <vt:lpstr>order preserving pattern matching(OPPM)</vt:lpstr>
      <vt:lpstr>Gusfield's Algorithm （ Z Algorithm ）</vt:lpstr>
      <vt:lpstr>Modified Z - function</vt:lpstr>
      <vt:lpstr>PowerPoint 簡報</vt:lpstr>
      <vt:lpstr>Order preserving representation(OPR)</vt:lpstr>
      <vt:lpstr>Balance binary search tree</vt:lpstr>
      <vt:lpstr>Algorithm 2(with Algorithm 1)</vt:lpstr>
      <vt:lpstr>Algorithm3 &amp; 4</vt:lpstr>
      <vt:lpstr>Experiments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 preserving pattern  matching revisited</dc:title>
  <dc:creator>Andy</dc:creator>
  <cp:lastModifiedBy>pplab-class</cp:lastModifiedBy>
  <cp:revision>24</cp:revision>
  <dcterms:created xsi:type="dcterms:W3CDTF">2016-01-04T11:01:58Z</dcterms:created>
  <dcterms:modified xsi:type="dcterms:W3CDTF">2016-01-05T11:26:02Z</dcterms:modified>
</cp:coreProperties>
</file>