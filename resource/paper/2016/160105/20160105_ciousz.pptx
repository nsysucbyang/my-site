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3" r:id="rId6"/>
    <p:sldId id="261" r:id="rId7"/>
    <p:sldId id="264" r:id="rId8"/>
    <p:sldId id="262" r:id="rId9"/>
    <p:sldId id="265" r:id="rId10"/>
    <p:sldId id="266" r:id="rId11"/>
    <p:sldId id="267" r:id="rId12"/>
    <p:sldId id="269" r:id="rId13"/>
    <p:sldId id="270" r:id="rId14"/>
    <p:sldId id="268" r:id="rId15"/>
    <p:sldId id="272" r:id="rId16"/>
    <p:sldId id="273" r:id="rId17"/>
    <p:sldId id="274" r:id="rId18"/>
    <p:sldId id="275" r:id="rId19"/>
    <p:sldId id="276" r:id="rId20"/>
    <p:sldId id="277" r:id="rId21"/>
    <p:sldId id="278" r:id="rId22"/>
    <p:sldId id="279" r:id="rId23"/>
    <p:sldId id="271" r:id="rId2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6CDB49F8-5776-44D2-9194-727F8BAAFFA8}">
          <p14:sldIdLst>
            <p14:sldId id="256"/>
            <p14:sldId id="257"/>
            <p14:sldId id="258"/>
            <p14:sldId id="260"/>
            <p14:sldId id="263"/>
            <p14:sldId id="261"/>
            <p14:sldId id="264"/>
            <p14:sldId id="262"/>
            <p14:sldId id="265"/>
            <p14:sldId id="266"/>
            <p14:sldId id="267"/>
            <p14:sldId id="269"/>
            <p14:sldId id="270"/>
            <p14:sldId id="268"/>
            <p14:sldId id="272"/>
            <p14:sldId id="273"/>
            <p14:sldId id="274"/>
            <p14:sldId id="275"/>
            <p14:sldId id="276"/>
            <p14:sldId id="277"/>
            <p14:sldId id="278"/>
            <p14:sldId id="279"/>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0" d="100"/>
          <a:sy n="80" d="100"/>
        </p:scale>
        <p:origin x="120"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0A778402-7401-4A7A-9F26-FAB09B09BED1}" type="datetimeFigureOut">
              <a:rPr lang="zh-TW" altLang="en-US" smtClean="0"/>
              <a:t>2016/1/5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61552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A778402-7401-4A7A-9F26-FAB09B09BED1}" type="datetimeFigureOut">
              <a:rPr lang="zh-TW" altLang="en-US" smtClean="0"/>
              <a:t>2016/1/5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660137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A778402-7401-4A7A-9F26-FAB09B09BED1}" type="datetimeFigureOut">
              <a:rPr lang="zh-TW" altLang="en-US" smtClean="0"/>
              <a:t>2016/1/5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2177512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A778402-7401-4A7A-9F26-FAB09B09BED1}" type="datetimeFigureOut">
              <a:rPr lang="zh-TW" altLang="en-US" smtClean="0"/>
              <a:t>2016/1/5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3513429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0A778402-7401-4A7A-9F26-FAB09B09BED1}" type="datetimeFigureOut">
              <a:rPr lang="zh-TW" altLang="en-US" smtClean="0"/>
              <a:t>2016/1/5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11506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A778402-7401-4A7A-9F26-FAB09B09BED1}" type="datetimeFigureOut">
              <a:rPr lang="zh-TW" altLang="en-US" smtClean="0"/>
              <a:t>2016/1/5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51347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A778402-7401-4A7A-9F26-FAB09B09BED1}" type="datetimeFigureOut">
              <a:rPr lang="zh-TW" altLang="en-US" smtClean="0"/>
              <a:t>2016/1/5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585988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A778402-7401-4A7A-9F26-FAB09B09BED1}" type="datetimeFigureOut">
              <a:rPr lang="zh-TW" altLang="en-US" smtClean="0"/>
              <a:t>2016/1/5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2379693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A778402-7401-4A7A-9F26-FAB09B09BED1}" type="datetimeFigureOut">
              <a:rPr lang="zh-TW" altLang="en-US" smtClean="0"/>
              <a:t>2016/1/5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3161950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A778402-7401-4A7A-9F26-FAB09B09BED1}" type="datetimeFigureOut">
              <a:rPr lang="zh-TW" altLang="en-US" smtClean="0"/>
              <a:t>2016/1/5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48963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A778402-7401-4A7A-9F26-FAB09B09BED1}" type="datetimeFigureOut">
              <a:rPr lang="zh-TW" altLang="en-US" smtClean="0"/>
              <a:t>2016/1/5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001806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778402-7401-4A7A-9F26-FAB09B09BED1}" type="datetimeFigureOut">
              <a:rPr lang="zh-TW" altLang="en-US" smtClean="0"/>
              <a:t>2016/1/5</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0F1A54-76A8-4FED-B292-98B587529C11}" type="slidenum">
              <a:rPr lang="zh-TW" altLang="en-US" smtClean="0"/>
              <a:t>‹#›</a:t>
            </a:fld>
            <a:endParaRPr lang="zh-TW" altLang="en-US"/>
          </a:p>
        </p:txBody>
      </p:sp>
    </p:spTree>
    <p:extLst>
      <p:ext uri="{BB962C8B-B14F-4D97-AF65-F5344CB8AC3E}">
        <p14:creationId xmlns:p14="http://schemas.microsoft.com/office/powerpoint/2010/main" val="135959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txBox="1">
            <a:spLocks/>
          </p:cNvSpPr>
          <p:nvPr/>
        </p:nvSpPr>
        <p:spPr>
          <a:xfrm>
            <a:off x="2129589" y="1277035"/>
            <a:ext cx="7543800" cy="1470025"/>
          </a:xfrm>
          <a:prstGeom prst="rect">
            <a:avLst/>
          </a:prstGeom>
        </p:spPr>
        <p:txBody>
          <a:bodyPr anchor="ctr">
            <a:no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r>
              <a:rPr lang="en-US" altLang="zh-TW" sz="4800" dirty="0"/>
              <a:t>A survey on tree edit distance and related problems</a:t>
            </a:r>
          </a:p>
        </p:txBody>
      </p:sp>
      <p:sp>
        <p:nvSpPr>
          <p:cNvPr id="6" name="副標題 2"/>
          <p:cNvSpPr txBox="1">
            <a:spLocks/>
          </p:cNvSpPr>
          <p:nvPr/>
        </p:nvSpPr>
        <p:spPr>
          <a:xfrm>
            <a:off x="2895600" y="3075857"/>
            <a:ext cx="6400800" cy="889686"/>
          </a:xfrm>
          <a:prstGeom prst="rect">
            <a:avLst/>
          </a:prstGeom>
        </p:spPr>
        <p:txBody>
          <a:bodyPr>
            <a:no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s-ES" altLang="zh-TW" sz="2400" dirty="0" smtClean="0">
                <a:solidFill>
                  <a:schemeClr val="bg1">
                    <a:lumMod val="50000"/>
                  </a:schemeClr>
                </a:solidFill>
              </a:rPr>
              <a:t>Philip Bille, IT University of Copenhagen</a:t>
            </a:r>
            <a:endParaRPr lang="en-US" altLang="zh-TW" sz="2400" dirty="0">
              <a:solidFill>
                <a:schemeClr val="bg1">
                  <a:lumMod val="50000"/>
                </a:schemeClr>
              </a:solidFill>
            </a:endParaRPr>
          </a:p>
        </p:txBody>
      </p:sp>
      <p:sp>
        <p:nvSpPr>
          <p:cNvPr id="8" name="文字方塊 6"/>
          <p:cNvSpPr txBox="1">
            <a:spLocks noChangeArrowheads="1"/>
          </p:cNvSpPr>
          <p:nvPr/>
        </p:nvSpPr>
        <p:spPr bwMode="auto">
          <a:xfrm>
            <a:off x="3523630" y="5065412"/>
            <a:ext cx="51447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spcBef>
                <a:spcPct val="0"/>
              </a:spcBef>
              <a:buFontTx/>
              <a:buNone/>
            </a:pPr>
            <a:r>
              <a:rPr lang="en-US" altLang="zh-TW" sz="2400" dirty="0"/>
              <a:t>Presenter:  </a:t>
            </a:r>
            <a:r>
              <a:rPr lang="en-US" altLang="zh-TW" sz="2400" dirty="0" err="1" smtClean="0"/>
              <a:t>Syuan</a:t>
            </a:r>
            <a:r>
              <a:rPr lang="en-US" altLang="zh-TW" sz="2400" smtClean="0"/>
              <a:t>-Chung </a:t>
            </a:r>
            <a:r>
              <a:rPr lang="en-US" altLang="zh-TW" sz="2400" dirty="0" err="1" smtClean="0"/>
              <a:t>Chiou</a:t>
            </a:r>
            <a:endParaRPr lang="en-US" altLang="zh-TW" sz="2400" dirty="0"/>
          </a:p>
          <a:p>
            <a:pPr eaLnBrk="1" hangingPunct="1">
              <a:spcBef>
                <a:spcPct val="0"/>
              </a:spcBef>
              <a:buFontTx/>
              <a:buNone/>
            </a:pPr>
            <a:r>
              <a:rPr lang="en-US" altLang="zh-TW" sz="2400" dirty="0" smtClean="0"/>
              <a:t>Date:2016/1/5</a:t>
            </a:r>
            <a:endParaRPr lang="zh-TW" altLang="en-US" sz="2400" dirty="0"/>
          </a:p>
        </p:txBody>
      </p:sp>
      <p:sp>
        <p:nvSpPr>
          <p:cNvPr id="10" name="文字方塊 9"/>
          <p:cNvSpPr txBox="1"/>
          <p:nvPr/>
        </p:nvSpPr>
        <p:spPr>
          <a:xfrm>
            <a:off x="2426043" y="3867816"/>
            <a:ext cx="7339914" cy="830997"/>
          </a:xfrm>
          <a:prstGeom prst="rect">
            <a:avLst/>
          </a:prstGeom>
          <a:noFill/>
        </p:spPr>
        <p:txBody>
          <a:bodyPr wrap="square" rtlCol="0">
            <a:spAutoFit/>
          </a:bodyPr>
          <a:lstStyle/>
          <a:p>
            <a:pPr algn="ctr"/>
            <a:r>
              <a:rPr lang="en-US" altLang="zh-TW" sz="2400" dirty="0"/>
              <a:t>Theoretical Computer </a:t>
            </a:r>
            <a:r>
              <a:rPr lang="en-US" altLang="zh-TW" sz="2400" dirty="0" smtClean="0"/>
              <a:t>Science,</a:t>
            </a:r>
            <a:r>
              <a:rPr lang="zh-TW" altLang="en-US" sz="2400" dirty="0" smtClean="0"/>
              <a:t> </a:t>
            </a:r>
            <a:r>
              <a:rPr lang="en-US" altLang="zh-TW" sz="2400" dirty="0" err="1" smtClean="0"/>
              <a:t>vol</a:t>
            </a:r>
            <a:r>
              <a:rPr lang="en-US" altLang="zh-TW" sz="2400" dirty="0" smtClean="0"/>
              <a:t> 337, </a:t>
            </a:r>
            <a:r>
              <a:rPr lang="fr-FR" altLang="zh-TW" sz="2400" dirty="0"/>
              <a:t>Issues </a:t>
            </a:r>
            <a:r>
              <a:rPr lang="fr-FR" altLang="zh-TW" sz="2400" dirty="0" smtClean="0"/>
              <a:t>1-3, pp. 217-239, June 9, 2005</a:t>
            </a:r>
            <a:endParaRPr lang="zh-TW" altLang="en-US" sz="2400" dirty="0"/>
          </a:p>
        </p:txBody>
      </p:sp>
    </p:spTree>
    <p:extLst>
      <p:ext uri="{BB962C8B-B14F-4D97-AF65-F5344CB8AC3E}">
        <p14:creationId xmlns:p14="http://schemas.microsoft.com/office/powerpoint/2010/main" val="41289913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Abstract</a:t>
            </a:r>
            <a:endParaRPr lang="zh-TW" altLang="en-US" dirty="0"/>
          </a:p>
        </p:txBody>
      </p:sp>
      <p:sp>
        <p:nvSpPr>
          <p:cNvPr id="3" name="內容版面配置區 2"/>
          <p:cNvSpPr>
            <a:spLocks noGrp="1"/>
          </p:cNvSpPr>
          <p:nvPr>
            <p:ph idx="1"/>
          </p:nvPr>
        </p:nvSpPr>
        <p:spPr>
          <a:xfrm>
            <a:off x="838200" y="1498605"/>
            <a:ext cx="10515600" cy="4351338"/>
          </a:xfrm>
        </p:spPr>
        <p:txBody>
          <a:bodyPr>
            <a:normAutofit/>
          </a:bodyPr>
          <a:lstStyle/>
          <a:p>
            <a:pPr marL="0" indent="0">
              <a:buNone/>
            </a:pPr>
            <a:r>
              <a:rPr lang="en-US" altLang="zh-TW" dirty="0" smtClean="0"/>
              <a:t>We survey the problem of comparing labeled trees based on simple local operations of deleting, inserting and relabeling nodes. These operations lead to the tree edit distance, alignment distance and inclusion problem. For each problem we review the results available and present, in detail, one or more of the central algorithms for solving the problem.</a:t>
            </a:r>
            <a:endParaRPr lang="zh-TW" altLang="en-US" dirty="0"/>
          </a:p>
        </p:txBody>
      </p:sp>
    </p:spTree>
    <p:extLst>
      <p:ext uri="{BB962C8B-B14F-4D97-AF65-F5344CB8AC3E}">
        <p14:creationId xmlns:p14="http://schemas.microsoft.com/office/powerpoint/2010/main" val="989146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95202" y="1701886"/>
            <a:ext cx="4372460" cy="2492749"/>
          </a:xfrm>
        </p:spPr>
      </p:pic>
      <p:sp>
        <p:nvSpPr>
          <p:cNvPr id="2" name="標題 1"/>
          <p:cNvSpPr>
            <a:spLocks noGrp="1"/>
          </p:cNvSpPr>
          <p:nvPr>
            <p:ph type="title"/>
          </p:nvPr>
        </p:nvSpPr>
        <p:spPr/>
        <p:txBody>
          <a:bodyPr/>
          <a:lstStyle/>
          <a:p>
            <a:r>
              <a:rPr lang="en-US" altLang="zh-TW" dirty="0" smtClean="0"/>
              <a:t>Introduction</a:t>
            </a:r>
            <a:endParaRPr lang="zh-TW" altLang="en-US" dirty="0"/>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7571" y="4160252"/>
            <a:ext cx="4604136" cy="2646947"/>
          </a:xfrm>
          <a:prstGeom prst="rect">
            <a:avLst/>
          </a:prstGeom>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4848" y="1640033"/>
            <a:ext cx="4495688" cy="2616448"/>
          </a:xfrm>
          <a:prstGeom prst="rect">
            <a:avLst/>
          </a:prstGeom>
        </p:spPr>
      </p:pic>
      <p:sp>
        <p:nvSpPr>
          <p:cNvPr id="7" name="文字方塊 6"/>
          <p:cNvSpPr txBox="1"/>
          <p:nvPr/>
        </p:nvSpPr>
        <p:spPr>
          <a:xfrm>
            <a:off x="298894" y="2412673"/>
            <a:ext cx="6921510" cy="3046988"/>
          </a:xfrm>
          <a:prstGeom prst="rect">
            <a:avLst/>
          </a:prstGeom>
          <a:noFill/>
        </p:spPr>
        <p:txBody>
          <a:bodyPr wrap="none" rtlCol="0">
            <a:spAutoFit/>
          </a:bodyPr>
          <a:lstStyle/>
          <a:p>
            <a:r>
              <a:rPr lang="en-US" altLang="zh-TW" sz="2400" dirty="0" smtClean="0"/>
              <a:t>Relabel                                                                          insert</a:t>
            </a:r>
          </a:p>
          <a:p>
            <a:endParaRPr lang="en-US" altLang="zh-TW" sz="2400" dirty="0"/>
          </a:p>
          <a:p>
            <a:endParaRPr lang="en-US" altLang="zh-TW" sz="2400" dirty="0" smtClean="0"/>
          </a:p>
          <a:p>
            <a:endParaRPr lang="en-US" altLang="zh-TW" sz="2400" dirty="0"/>
          </a:p>
          <a:p>
            <a:endParaRPr lang="en-US" altLang="zh-TW" sz="2400" dirty="0" smtClean="0"/>
          </a:p>
          <a:p>
            <a:endParaRPr lang="en-US" altLang="zh-TW" sz="2400" dirty="0"/>
          </a:p>
          <a:p>
            <a:endParaRPr lang="en-US" altLang="zh-TW" sz="2400" dirty="0" smtClean="0"/>
          </a:p>
          <a:p>
            <a:r>
              <a:rPr lang="en-US" altLang="zh-TW" sz="2400" dirty="0" smtClean="0"/>
              <a:t>delete</a:t>
            </a:r>
            <a:endParaRPr lang="zh-TW" altLang="en-US" sz="2400" dirty="0"/>
          </a:p>
        </p:txBody>
      </p:sp>
    </p:spTree>
    <p:extLst>
      <p:ext uri="{BB962C8B-B14F-4D97-AF65-F5344CB8AC3E}">
        <p14:creationId xmlns:p14="http://schemas.microsoft.com/office/powerpoint/2010/main" val="10447833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Tree Edit Distance</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17159"/>
            <a:ext cx="11089738" cy="5650704"/>
          </a:xfrm>
        </p:spPr>
      </p:pic>
      <p:cxnSp>
        <p:nvCxnSpPr>
          <p:cNvPr id="8" name="直線單箭頭接點 7"/>
          <p:cNvCxnSpPr/>
          <p:nvPr/>
        </p:nvCxnSpPr>
        <p:spPr>
          <a:xfrm>
            <a:off x="4042611" y="3777916"/>
            <a:ext cx="6858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2" name="直線單箭頭接點 11"/>
          <p:cNvCxnSpPr/>
          <p:nvPr/>
        </p:nvCxnSpPr>
        <p:spPr>
          <a:xfrm>
            <a:off x="8093243" y="3797969"/>
            <a:ext cx="6858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911520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Edit </a:t>
            </a:r>
            <a:r>
              <a:rPr lang="en-US" altLang="zh-TW" dirty="0" smtClean="0"/>
              <a:t>operations and edit </a:t>
            </a:r>
            <a:r>
              <a:rPr lang="en-US" altLang="zh-TW" dirty="0"/>
              <a:t>mappings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We represent each edit operation by </a:t>
                </a:r>
                <a14:m>
                  <m:oMath xmlns:m="http://schemas.openxmlformats.org/officeDocument/2006/math">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oMath>
                </a14:m>
                <a:r>
                  <a:rPr lang="en-US" altLang="zh-TW" dirty="0" smtClean="0"/>
                  <a:t>.</a:t>
                </a:r>
              </a:p>
              <a:p>
                <a:r>
                  <a:rPr lang="en-US" altLang="zh-TW" dirty="0" smtClean="0"/>
                  <a:t>Relabel </a:t>
                </a:r>
                <a14:m>
                  <m:oMath xmlns:m="http://schemas.openxmlformats.org/officeDocument/2006/math">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𝑙</m:t>
                            </m:r>
                          </m:e>
                          <m:sub>
                            <m:r>
                              <a:rPr lang="en-US" altLang="zh-TW" i="1">
                                <a:latin typeface="Cambria Math" panose="02040503050406030204" pitchFamily="18" charset="0"/>
                              </a:rPr>
                              <m:t>1</m:t>
                            </m:r>
                          </m:sub>
                        </m:sSub>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𝑙</m:t>
                            </m:r>
                          </m:e>
                          <m:sub>
                            <m:r>
                              <a:rPr lang="en-US" altLang="zh-TW" i="1">
                                <a:latin typeface="Cambria Math" panose="02040503050406030204" pitchFamily="18" charset="0"/>
                              </a:rPr>
                              <m:t>2</m:t>
                            </m:r>
                          </m:sub>
                        </m:sSub>
                      </m:e>
                    </m:d>
                    <m:r>
                      <a:rPr lang="en-US" altLang="zh-TW" b="0" i="1">
                        <a:latin typeface="Cambria Math" panose="02040503050406030204" pitchFamily="18" charset="0"/>
                      </a:rPr>
                      <m:t>     </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𝑙</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𝜆</m:t>
                    </m:r>
                  </m:oMath>
                </a14:m>
                <a:endParaRPr lang="en-US" altLang="zh-TW" dirty="0" smtClean="0"/>
              </a:p>
              <a:p>
                <a:r>
                  <a:rPr lang="en-US" altLang="zh-TW" dirty="0" smtClean="0"/>
                  <a:t>Delete </a:t>
                </a:r>
                <a14:m>
                  <m:oMath xmlns:m="http://schemas.openxmlformats.org/officeDocument/2006/math">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𝑙</m:t>
                            </m:r>
                          </m:e>
                          <m:sub>
                            <m:r>
                              <a:rPr lang="en-US" altLang="zh-TW" i="1">
                                <a:latin typeface="Cambria Math" panose="02040503050406030204" pitchFamily="18" charset="0"/>
                              </a:rPr>
                              <m:t>1</m:t>
                            </m:r>
                          </m:sub>
                        </m:sSub>
                        <m:r>
                          <a:rPr lang="en-US" altLang="zh-TW" i="1">
                            <a:latin typeface="Cambria Math" panose="02040503050406030204" pitchFamily="18" charset="0"/>
                            <a:ea typeface="Cambria Math" panose="02040503050406030204" pitchFamily="18" charset="0"/>
                          </a:rPr>
                          <m:t>→</m:t>
                        </m:r>
                        <m:r>
                          <a:rPr lang="zh-TW" altLang="en-US" i="1" smtClean="0">
                            <a:latin typeface="Cambria Math" panose="02040503050406030204" pitchFamily="18" charset="0"/>
                            <a:ea typeface="Cambria Math" panose="02040503050406030204" pitchFamily="18" charset="0"/>
                          </a:rPr>
                          <m:t>𝜆</m:t>
                        </m:r>
                      </m:e>
                    </m:d>
                  </m:oMath>
                </a14:m>
                <a:endParaRPr lang="en-US" altLang="zh-TW" dirty="0" smtClean="0"/>
              </a:p>
              <a:p>
                <a:r>
                  <a:rPr lang="en-US" altLang="zh-TW" dirty="0" smtClean="0"/>
                  <a:t>Insert </a:t>
                </a:r>
                <a14:m>
                  <m:oMath xmlns:m="http://schemas.openxmlformats.org/officeDocument/2006/math">
                    <m:d>
                      <m:dPr>
                        <m:ctrlPr>
                          <a:rPr lang="en-US" altLang="zh-TW" i="1">
                            <a:latin typeface="Cambria Math" panose="02040503050406030204" pitchFamily="18" charset="0"/>
                          </a:rPr>
                        </m:ctrlPr>
                      </m:dPr>
                      <m:e>
                        <m:r>
                          <a:rPr lang="zh-TW" altLang="en-US" i="1" smtClean="0">
                            <a:latin typeface="Cambria Math" panose="02040503050406030204" pitchFamily="18" charset="0"/>
                          </a:rPr>
                          <m:t>𝜆</m:t>
                        </m:r>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𝑙</m:t>
                            </m:r>
                          </m:e>
                          <m:sub>
                            <m:r>
                              <a:rPr lang="en-US" altLang="zh-TW" i="1">
                                <a:latin typeface="Cambria Math" panose="02040503050406030204" pitchFamily="18" charset="0"/>
                              </a:rPr>
                              <m:t>2</m:t>
                            </m:r>
                          </m:sub>
                        </m:sSub>
                      </m:e>
                    </m:d>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06686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229201"/>
            <a:ext cx="10515600" cy="1325563"/>
          </a:xfrm>
        </p:spPr>
        <p:txBody>
          <a:bodyPr/>
          <a:lstStyle/>
          <a:p>
            <a:r>
              <a:rPr lang="en-US" altLang="zh-TW" dirty="0"/>
              <a:t>Edit operations and edit mappings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540559"/>
                <a:ext cx="10515600" cy="4351338"/>
              </a:xfrm>
            </p:spPr>
            <p:txBody>
              <a:bodyPr/>
              <a:lstStyle/>
              <a:p>
                <a:pPr marL="0" indent="0">
                  <a:buNone/>
                </a:pPr>
                <a:r>
                  <a:rPr lang="en-US" altLang="zh-TW" b="0" dirty="0" smtClean="0"/>
                  <a:t>For any pair </a:t>
                </a:r>
                <a14:m>
                  <m:oMath xmlns:m="http://schemas.openxmlformats.org/officeDocument/2006/math">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𝑀</m:t>
                    </m:r>
                  </m:oMath>
                </a14:m>
                <a:endParaRPr lang="en-US" altLang="zh-TW" i="1" dirty="0" smtClean="0">
                  <a:latin typeface="Cambria Math" panose="02040503050406030204" pitchFamily="18" charset="0"/>
                </a:endParaRPr>
              </a:p>
              <a:p>
                <a:pPr marL="514350" indent="-514350">
                  <a:buAutoNum type="arabicPeriod"/>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1</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𝑣</m:t>
                        </m:r>
                      </m:e>
                      <m:sub>
                        <m:r>
                          <a:rPr lang="en-US" altLang="zh-TW" b="0" i="1" smtClean="0">
                            <a:latin typeface="Cambria Math" panose="02040503050406030204" pitchFamily="18" charset="0"/>
                            <a:ea typeface="Cambria Math" panose="02040503050406030204" pitchFamily="18" charset="0"/>
                          </a:rPr>
                          <m:t>2</m:t>
                        </m:r>
                      </m:sub>
                    </m:sSub>
                  </m:oMath>
                </a14:m>
                <a:r>
                  <a:rPr lang="en-US" altLang="zh-TW" dirty="0" smtClean="0"/>
                  <a:t> </a:t>
                </a:r>
                <a:r>
                  <a:rPr lang="en-US" altLang="zh-TW" dirty="0" err="1" smtClean="0"/>
                  <a:t>iff</a:t>
                </a:r>
                <a:r>
                  <a:rPr lang="en-US" altLang="zh-TW" dirty="0" smtClean="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1</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𝑤</m:t>
                        </m:r>
                      </m:e>
                      <m:sub>
                        <m:r>
                          <a:rPr lang="en-US" altLang="zh-TW" b="0" i="1" smtClean="0">
                            <a:latin typeface="Cambria Math" panose="02040503050406030204" pitchFamily="18" charset="0"/>
                            <a:ea typeface="Cambria Math" panose="02040503050406030204" pitchFamily="18" charset="0"/>
                          </a:rPr>
                          <m:t>2</m:t>
                        </m:r>
                      </m:sub>
                    </m:sSub>
                  </m:oMath>
                </a14:m>
                <a:r>
                  <a:rPr lang="en-US" altLang="zh-TW" dirty="0" smtClean="0"/>
                  <a:t>.</a:t>
                </a:r>
              </a:p>
              <a:p>
                <a:pPr marL="514350" indent="-514350">
                  <a:buAutoNum type="arabicPeriod"/>
                </a:pP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oMath>
                </a14:m>
                <a:r>
                  <a:rPr lang="en-US" altLang="zh-TW" dirty="0" smtClean="0"/>
                  <a:t> is an ancestor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2</m:t>
                        </m:r>
                      </m:sub>
                    </m:sSub>
                  </m:oMath>
                </a14:m>
                <a:r>
                  <a:rPr lang="en-US" altLang="zh-TW" dirty="0" smtClean="0"/>
                  <a:t> </a:t>
                </a:r>
                <a:r>
                  <a:rPr lang="en-US" altLang="zh-TW" dirty="0" err="1" smtClean="0"/>
                  <a:t>iff</a:t>
                </a:r>
                <a:r>
                  <a:rPr lang="en-US" altLang="zh-TW" dirty="0" smtClean="0"/>
                  <a:t>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1</m:t>
                        </m:r>
                      </m:sub>
                    </m:sSub>
                  </m:oMath>
                </a14:m>
                <a:r>
                  <a:rPr lang="en-US" altLang="zh-TW" dirty="0" smtClean="0"/>
                  <a:t> is an ancestor of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2</m:t>
                        </m:r>
                      </m:sub>
                    </m:sSub>
                  </m:oMath>
                </a14:m>
                <a:r>
                  <a:rPr lang="en-US" altLang="zh-TW" dirty="0" smtClean="0"/>
                  <a:t>.</a:t>
                </a:r>
              </a:p>
              <a:p>
                <a:pPr marL="514350" indent="-514350">
                  <a:buFont typeface="Arial" panose="020B0604020202020204" pitchFamily="34" charset="0"/>
                  <a:buAutoNum type="arabicPeriod"/>
                </a:pP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oMath>
                </a14:m>
                <a:r>
                  <a:rPr lang="en-US" altLang="zh-TW" dirty="0"/>
                  <a:t> is </a:t>
                </a:r>
                <a:r>
                  <a:rPr lang="en-US" altLang="zh-TW" dirty="0" smtClean="0"/>
                  <a:t>to the left </a:t>
                </a:r>
                <a:r>
                  <a:rPr lang="en-US" altLang="zh-TW" dirty="0"/>
                  <a:t>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2</m:t>
                        </m:r>
                      </m:sub>
                    </m:sSub>
                  </m:oMath>
                </a14:m>
                <a:r>
                  <a:rPr lang="en-US" altLang="zh-TW" dirty="0"/>
                  <a:t> </a:t>
                </a:r>
                <a:r>
                  <a:rPr lang="en-US" altLang="zh-TW" dirty="0" err="1"/>
                  <a:t>iff</a:t>
                </a:r>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1</m:t>
                        </m:r>
                      </m:sub>
                    </m:sSub>
                  </m:oMath>
                </a14:m>
                <a:r>
                  <a:rPr lang="en-US" altLang="zh-TW" dirty="0"/>
                  <a:t> is to the left</a:t>
                </a:r>
                <a:r>
                  <a:rPr lang="en-US" altLang="zh-TW" dirty="0" smtClean="0"/>
                  <a:t> </a:t>
                </a:r>
                <a:r>
                  <a:rPr lang="en-US" altLang="zh-TW" dirty="0"/>
                  <a:t>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2</m:t>
                        </m:r>
                      </m:sub>
                    </m:sSub>
                  </m:oMath>
                </a14:m>
                <a:r>
                  <a:rPr lang="en-US" altLang="zh-TW" dirty="0" smtClean="0"/>
                  <a:t>.</a:t>
                </a:r>
                <a:endParaRPr lang="en-US" altLang="zh-TW"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540559"/>
                <a:ext cx="10515600" cy="4351338"/>
              </a:xfrm>
              <a:blipFill rotWithShape="0">
                <a:blip r:embed="rId2"/>
                <a:stretch>
                  <a:fillRect l="-1217" t="-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982282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9293" y="3090882"/>
            <a:ext cx="9326277" cy="5849166"/>
          </a:xfrm>
          <a:prstGeom prst="rect">
            <a:avLst/>
          </a:prstGeom>
        </p:spPr>
      </p:pic>
      <p:sp>
        <p:nvSpPr>
          <p:cNvPr id="2" name="標題 1"/>
          <p:cNvSpPr>
            <a:spLocks noGrp="1"/>
          </p:cNvSpPr>
          <p:nvPr>
            <p:ph type="title"/>
          </p:nvPr>
        </p:nvSpPr>
        <p:spPr/>
        <p:txBody>
          <a:bodyPr/>
          <a:lstStyle/>
          <a:p>
            <a:r>
              <a:rPr lang="en-US" altLang="zh-TW" dirty="0"/>
              <a:t>Edit operations and edit mappings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𝛾</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𝑀</m:t>
                          </m:r>
                        </m:e>
                      </m:d>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rPr>
                            <m:t>,</m:t>
                          </m:r>
                          <m:r>
                            <a:rPr lang="en-US" altLang="zh-TW" b="0" i="1" smtClean="0">
                              <a:latin typeface="Cambria Math" panose="02040503050406030204" pitchFamily="18" charset="0"/>
                            </a:rPr>
                            <m:t>𝑤</m:t>
                          </m:r>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𝑀</m:t>
                          </m:r>
                        </m:sub>
                        <m:sup/>
                        <m:e>
                          <m:r>
                            <a:rPr lang="zh-TW" altLang="en-US" i="1">
                              <a:latin typeface="Cambria Math" panose="02040503050406030204" pitchFamily="18" charset="0"/>
                            </a:rPr>
                            <m:t>𝛾</m:t>
                          </m:r>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𝑤</m:t>
                          </m:r>
                          <m:r>
                            <a:rPr lang="en-US" altLang="zh-TW" b="0" i="1" smtClean="0">
                              <a:latin typeface="Cambria Math" panose="02040503050406030204" pitchFamily="18" charset="0"/>
                            </a:rPr>
                            <m:t>)</m:t>
                          </m:r>
                        </m:e>
                      </m:nary>
                      <m:r>
                        <a:rPr lang="en-US" altLang="zh-TW" b="0" i="1" smtClean="0">
                          <a:latin typeface="Cambria Math" panose="02040503050406030204" pitchFamily="18" charset="0"/>
                        </a:rPr>
                        <m:t>+</m:t>
                      </m:r>
                      <m:nary>
                        <m:naryPr>
                          <m:chr m:val="∑"/>
                          <m:supHide m:val="on"/>
                          <m:ctrlPr>
                            <a:rPr lang="en-US" altLang="zh-TW" i="1">
                              <a:latin typeface="Cambria Math" panose="02040503050406030204" pitchFamily="18" charset="0"/>
                            </a:rPr>
                          </m:ctrlPr>
                        </m:naryPr>
                        <m:sub>
                          <m:r>
                            <m:rPr>
                              <m:brk m:alnAt="7"/>
                            </m:rPr>
                            <a:rPr lang="en-US" altLang="zh-TW" b="0" i="1" smtClean="0">
                              <a:latin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1</m:t>
                              </m:r>
                            </m:sub>
                          </m:sSub>
                        </m:sub>
                        <m:sup/>
                        <m:e>
                          <m:r>
                            <a:rPr lang="zh-TW" altLang="en-US" i="1">
                              <a:latin typeface="Cambria Math" panose="02040503050406030204" pitchFamily="18" charset="0"/>
                            </a:rPr>
                            <m:t>𝛾</m:t>
                          </m:r>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r>
                            <a:rPr lang="zh-TW" altLang="en-US" i="1">
                              <a:latin typeface="Cambria Math" panose="02040503050406030204" pitchFamily="18" charset="0"/>
                              <a:ea typeface="Cambria Math" panose="02040503050406030204" pitchFamily="18" charset="0"/>
                            </a:rPr>
                            <m:t>𝜆</m:t>
                          </m:r>
                          <m:r>
                            <a:rPr lang="en-US" altLang="zh-TW" b="0" i="1" smtClean="0">
                              <a:latin typeface="Cambria Math" panose="02040503050406030204" pitchFamily="18" charset="0"/>
                            </a:rPr>
                            <m:t>)</m:t>
                          </m:r>
                        </m:e>
                      </m:nary>
                      <m:r>
                        <a:rPr lang="en-US" altLang="zh-TW" b="0" i="1" smtClean="0">
                          <a:latin typeface="Cambria Math" panose="02040503050406030204" pitchFamily="18" charset="0"/>
                        </a:rPr>
                        <m:t>+</m:t>
                      </m:r>
                      <m:nary>
                        <m:naryPr>
                          <m:chr m:val="∑"/>
                          <m:supHide m:val="on"/>
                          <m:ctrlPr>
                            <a:rPr lang="en-US" altLang="zh-TW" i="1">
                              <a:latin typeface="Cambria Math" panose="02040503050406030204" pitchFamily="18" charset="0"/>
                            </a:rPr>
                          </m:ctrlPr>
                        </m:naryPr>
                        <m:sub>
                          <m:r>
                            <m:rPr>
                              <m:brk m:alnAt="7"/>
                            </m:rPr>
                            <a:rPr lang="en-US" altLang="zh-TW" b="0" i="1" smtClean="0">
                              <a:latin typeface="Cambria Math" panose="02040503050406030204" pitchFamily="18" charset="0"/>
                            </a:rPr>
                            <m:t>𝑤</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2</m:t>
                              </m:r>
                            </m:sub>
                          </m:sSub>
                        </m:sub>
                        <m:sup/>
                        <m:e>
                          <m:r>
                            <a:rPr lang="zh-TW" altLang="en-US" i="1" smtClean="0">
                              <a:latin typeface="Cambria Math" panose="02040503050406030204" pitchFamily="18" charset="0"/>
                            </a:rPr>
                            <m:t>𝛾</m:t>
                          </m:r>
                          <m:r>
                            <a:rPr lang="en-US" altLang="zh-TW" b="0" i="1" smtClean="0">
                              <a:latin typeface="Cambria Math" panose="02040503050406030204" pitchFamily="18" charset="0"/>
                            </a:rPr>
                            <m:t>(</m:t>
                          </m:r>
                          <m:r>
                            <a:rPr lang="zh-TW" altLang="en-US" i="1">
                              <a:latin typeface="Cambria Math" panose="02040503050406030204" pitchFamily="18" charset="0"/>
                              <a:ea typeface="Cambria Math" panose="02040503050406030204" pitchFamily="18" charset="0"/>
                            </a:rPr>
                            <m:t>𝜆</m:t>
                          </m:r>
                          <m:r>
                            <a:rPr lang="zh-TW" altLang="en-US"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𝑤</m:t>
                          </m:r>
                          <m:r>
                            <a:rPr lang="en-US" altLang="zh-TW" b="0" i="1" smtClean="0">
                              <a:latin typeface="Cambria Math" panose="02040503050406030204" pitchFamily="18" charset="0"/>
                              <a:ea typeface="Cambria Math" panose="02040503050406030204" pitchFamily="18" charset="0"/>
                            </a:rPr>
                            <m:t>)</m:t>
                          </m:r>
                        </m:e>
                      </m:nary>
                    </m:oMath>
                  </m:oMathPara>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99295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1493"/>
            <a:ext cx="10515600" cy="1325563"/>
          </a:xfrm>
        </p:spPr>
        <p:txBody>
          <a:bodyPr/>
          <a:lstStyle/>
          <a:p>
            <a:r>
              <a:rPr lang="en-US" altLang="zh-TW" dirty="0" smtClean="0"/>
              <a:t>A simple 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376882" y="1159348"/>
                <a:ext cx="11691551" cy="5698652"/>
              </a:xfrm>
            </p:spPr>
            <p:txBody>
              <a:bodyPr>
                <a:noAutofit/>
              </a:bodyPr>
              <a:lstStyle/>
              <a:p>
                <a:pPr marL="0" indent="0">
                  <a:buNone/>
                </a:pPr>
                <a:r>
                  <a:rPr lang="en-US" altLang="zh-TW" b="1" dirty="0" smtClean="0"/>
                  <a:t>Lemma 1</a:t>
                </a:r>
                <a:r>
                  <a:rPr lang="en-US" altLang="zh-TW" dirty="0" smtClean="0"/>
                  <a:t> </a:t>
                </a:r>
                <a14:m>
                  <m:oMath xmlns:m="http://schemas.openxmlformats.org/officeDocument/2006/math">
                    <m:r>
                      <m:rPr>
                        <m:sty m:val="p"/>
                      </m:rPr>
                      <a:rPr lang="en-US" altLang="zh-TW">
                        <a:latin typeface="Cambria Math" panose="02040503050406030204" pitchFamily="18" charset="0"/>
                      </a:rPr>
                      <m:t>L</m:t>
                    </m:r>
                    <m:r>
                      <m:rPr>
                        <m:sty m:val="p"/>
                      </m:rPr>
                      <a:rPr lang="en-US" altLang="zh-TW" b="0" i="0" smtClean="0">
                        <a:latin typeface="Cambria Math" panose="02040503050406030204" pitchFamily="18" charset="0"/>
                      </a:rPr>
                      <m:t>et</m:t>
                    </m:r>
                    <m:r>
                      <a:rPr lang="en-US" altLang="zh-TW" b="0" i="0" smtClean="0">
                        <a:latin typeface="Cambria Math" panose="02040503050406030204" pitchFamily="18" charset="0"/>
                      </a:rPr>
                      <m:t> </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𝑎𝑛𝑑</m:t>
                    </m:r>
                    <m:r>
                      <a:rPr lang="en-US" altLang="zh-TW" b="0" i="1" smtClean="0">
                        <a:latin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𝑏𝑒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𝑜𝑟𝑑𝑒𝑟𝑒𝑑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𝑓𝑜𝑟𝑒𝑠𝑡𝑠</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and</m:t>
                    </m:r>
                    <m:r>
                      <a:rPr lang="en-US" altLang="zh-TW" b="0" i="0" smtClean="0">
                        <a:latin typeface="Cambria Math" panose="02040503050406030204" pitchFamily="18" charset="0"/>
                      </a:rPr>
                      <m:t> </m:t>
                    </m:r>
                    <m:r>
                      <a:rPr lang="zh-TW" altLang="en-US" i="1" smtClean="0">
                        <a:latin typeface="Cambria Math" panose="02040503050406030204" pitchFamily="18" charset="0"/>
                      </a:rPr>
                      <m:t>𝛾</m:t>
                    </m:r>
                    <m:r>
                      <a:rPr lang="en-US" altLang="zh-TW" b="0" i="1" smtClean="0">
                        <a:latin typeface="Cambria Math" panose="02040503050406030204" pitchFamily="18" charset="0"/>
                      </a:rPr>
                      <m:t> </m:t>
                    </m:r>
                    <m:r>
                      <a:rPr lang="en-US" altLang="zh-TW" b="0" i="1" smtClean="0">
                        <a:latin typeface="Cambria Math" panose="02040503050406030204" pitchFamily="18" charset="0"/>
                      </a:rPr>
                      <m:t>𝑏𝑒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𝑎</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𝑚𝑒𝑡𝑟𝑖𝑐</m:t>
                    </m:r>
                    <m:r>
                      <a:rPr lang="en-US" altLang="zh-TW" b="0" i="1" smtClean="0">
                        <a:latin typeface="Cambria Math" panose="02040503050406030204" pitchFamily="18" charset="0"/>
                      </a:rPr>
                      <m:t> </m:t>
                    </m:r>
                    <m:r>
                      <a:rPr lang="en-US" altLang="zh-TW" b="0" i="1" smtClean="0">
                        <a:latin typeface="Cambria Math" panose="02040503050406030204" pitchFamily="18" charset="0"/>
                      </a:rPr>
                      <m:t>𝑐𝑜𝑠𝑡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𝑓𝑢𝑛𝑐𝑡𝑖𝑜𝑛</m:t>
                    </m:r>
                    <m:r>
                      <a:rPr lang="en-US" altLang="zh-TW" b="0" i="1" smtClean="0">
                        <a:latin typeface="Cambria Math" panose="02040503050406030204" pitchFamily="18" charset="0"/>
                      </a:rPr>
                      <m:t> </m:t>
                    </m:r>
                  </m:oMath>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𝑑𝑒𝑓𝑖𝑛𝑒𝑑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𝑙𝑎𝑏𝑒𝑙𝑠</m:t>
                      </m:r>
                      <m:r>
                        <a:rPr lang="en-US" altLang="zh-TW" b="0" i="1" smtClean="0">
                          <a:latin typeface="Cambria Math" panose="02040503050406030204" pitchFamily="18" charset="0"/>
                        </a:rPr>
                        <m:t>.</m:t>
                      </m:r>
                      <m:r>
                        <a:rPr lang="en-US" altLang="zh-TW" b="0" i="1" smtClean="0">
                          <a:latin typeface="Cambria Math" panose="02040503050406030204" pitchFamily="18" charset="0"/>
                        </a:rPr>
                        <m:t>𝐿𝑒𝑡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𝑣</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𝑎𝑛𝑑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𝑤</m:t>
                      </m:r>
                      <m:r>
                        <a:rPr lang="en-US" altLang="zh-TW" b="0" i="1" smtClean="0">
                          <a:latin typeface="Cambria Math" panose="02040503050406030204" pitchFamily="18" charset="0"/>
                        </a:rPr>
                        <m:t> </m:t>
                      </m:r>
                      <m:r>
                        <a:rPr lang="en-US" altLang="zh-TW" b="0" i="1" smtClean="0">
                          <a:latin typeface="Cambria Math" panose="02040503050406030204" pitchFamily="18" charset="0"/>
                        </a:rPr>
                        <m:t>𝑏𝑒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𝑟𝑖𝑔h𝑡𝑚𝑜𝑠𝑡</m:t>
                      </m:r>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𝑎𝑛𝑦</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𝑟𝑜𝑜𝑡𝑠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𝑜𝑓</m:t>
                      </m:r>
                      <m:r>
                        <a:rPr lang="en-US" altLang="zh-TW" b="0" i="1" smtClean="0">
                          <a:latin typeface="Cambria Math" panose="02040503050406030204" pitchFamily="18" charset="0"/>
                        </a:rPr>
                        <m:t> </m:t>
                      </m:r>
                    </m:oMath>
                  </m:oMathPara>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𝑡h𝑒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𝑡𝑟𝑒𝑒𝑠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𝑖𝑛</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𝑎𝑛𝑑</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𝑟𝑒𝑠𝑝𝑒𝑐𝑡𝑖𝑣𝑒𝑙𝑦</m:t>
                      </m:r>
                      <m:r>
                        <a:rPr lang="en-US" altLang="zh-TW" b="0" i="1" smtClean="0">
                          <a:latin typeface="Cambria Math" panose="02040503050406030204" pitchFamily="18" charset="0"/>
                        </a:rPr>
                        <m:t>.</m:t>
                      </m:r>
                    </m:oMath>
                  </m:oMathPara>
                </a14:m>
                <a:endParaRPr lang="en-US" altLang="zh-TW" b="0" dirty="0" smtClean="0"/>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𝑊𝑒</m:t>
                      </m:r>
                      <m:r>
                        <a:rPr lang="en-US" altLang="zh-TW" b="0" i="1" smtClean="0">
                          <a:latin typeface="Cambria Math" panose="02040503050406030204" pitchFamily="18" charset="0"/>
                        </a:rPr>
                        <m:t> </m:t>
                      </m:r>
                      <m:r>
                        <a:rPr lang="en-US" altLang="zh-TW" b="0" i="1" smtClean="0">
                          <a:latin typeface="Cambria Math" panose="02040503050406030204" pitchFamily="18" charset="0"/>
                        </a:rPr>
                        <m:t>h𝑎𝑣𝑒</m:t>
                      </m:r>
                      <m:r>
                        <a:rPr lang="en-US" altLang="zh-TW" b="0" i="1" smtClean="0">
                          <a:latin typeface="Cambria Math" panose="02040503050406030204" pitchFamily="18" charset="0"/>
                        </a:rPr>
                        <m:t>,</m:t>
                      </m:r>
                    </m:oMath>
                  </m:oMathPara>
                </a14:m>
                <a:endParaRPr lang="en-US" altLang="zh-TW" b="0" dirty="0" smtClean="0"/>
              </a:p>
              <a:p>
                <a:pPr marL="0" indent="0">
                  <a:buNone/>
                </a:pPr>
                <a14:m>
                  <m:oMathPara xmlns:m="http://schemas.openxmlformats.org/officeDocument/2006/math">
                    <m:oMathParaPr>
                      <m:jc m:val="left"/>
                    </m:oMathParaPr>
                    <m:oMath xmlns:m="http://schemas.openxmlformats.org/officeDocument/2006/math">
                      <m:r>
                        <a:rPr lang="zh-TW" altLang="en-US" i="1" smtClean="0">
                          <a:latin typeface="Cambria Math" panose="02040503050406030204" pitchFamily="18" charset="0"/>
                        </a:rPr>
                        <m:t>𝛿</m:t>
                      </m:r>
                      <m:d>
                        <m:dPr>
                          <m:ctrlPr>
                            <a:rPr lang="en-US" altLang="zh-TW" b="0" i="1" smtClean="0">
                              <a:latin typeface="Cambria Math" panose="02040503050406030204" pitchFamily="18" charset="0"/>
                            </a:rPr>
                          </m:ctrlPr>
                        </m:dPr>
                        <m:e>
                          <m:r>
                            <a:rPr lang="zh-TW" altLang="en-US" b="0" i="1" smtClean="0">
                              <a:latin typeface="Cambria Math" panose="02040503050406030204" pitchFamily="18" charset="0"/>
                            </a:rPr>
                            <m:t>𝜃</m:t>
                          </m:r>
                          <m:r>
                            <a:rPr lang="en-US" altLang="zh-TW" b="0" i="1" smtClean="0">
                              <a:latin typeface="Cambria Math" panose="02040503050406030204" pitchFamily="18" charset="0"/>
                            </a:rPr>
                            <m:t>,</m:t>
                          </m:r>
                          <m:r>
                            <a:rPr lang="zh-TW" altLang="en-US" b="0" i="1" smtClean="0">
                              <a:latin typeface="Cambria Math" panose="02040503050406030204" pitchFamily="18" charset="0"/>
                            </a:rPr>
                            <m:t>𝜃</m:t>
                          </m:r>
                        </m:e>
                      </m:d>
                      <m:r>
                        <a:rPr lang="en-US" altLang="zh-TW" b="0" i="1" smtClean="0">
                          <a:latin typeface="Cambria Math" panose="02040503050406030204" pitchFamily="18" charset="0"/>
                        </a:rPr>
                        <m:t>=0</m:t>
                      </m:r>
                    </m:oMath>
                  </m:oMathPara>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zh-TW" altLang="en-US" i="1">
                          <a:latin typeface="Cambria Math" panose="02040503050406030204" pitchFamily="18" charset="0"/>
                        </a:rPr>
                        <m:t>𝛿</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1</m:t>
                              </m:r>
                            </m:sub>
                          </m:sSub>
                          <m:r>
                            <a:rPr lang="en-US" altLang="zh-TW" i="1">
                              <a:latin typeface="Cambria Math" panose="02040503050406030204" pitchFamily="18" charset="0"/>
                            </a:rPr>
                            <m:t>,</m:t>
                          </m:r>
                          <m:r>
                            <a:rPr lang="zh-TW" altLang="en-US" i="1">
                              <a:latin typeface="Cambria Math" panose="02040503050406030204" pitchFamily="18" charset="0"/>
                            </a:rPr>
                            <m:t>𝜃</m:t>
                          </m:r>
                        </m:e>
                      </m:d>
                      <m:r>
                        <a:rPr lang="en-US" altLang="zh-TW" i="1">
                          <a:latin typeface="Cambria Math" panose="02040503050406030204" pitchFamily="18" charset="0"/>
                        </a:rPr>
                        <m:t>=</m:t>
                      </m:r>
                      <m:r>
                        <a:rPr lang="zh-TW" altLang="en-US" i="1">
                          <a:latin typeface="Cambria Math" panose="02040503050406030204" pitchFamily="18" charset="0"/>
                        </a:rPr>
                        <m:t>𝛿</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1</m:t>
                              </m:r>
                            </m:sub>
                          </m:sSub>
                          <m:r>
                            <a:rPr lang="en-US" altLang="zh-TW" i="1">
                              <a:latin typeface="Cambria Math" panose="02040503050406030204" pitchFamily="18" charset="0"/>
                            </a:rPr>
                            <m:t>−</m:t>
                          </m:r>
                          <m:r>
                            <a:rPr lang="en-US" altLang="zh-TW" i="1">
                              <a:latin typeface="Cambria Math" panose="02040503050406030204" pitchFamily="18" charset="0"/>
                            </a:rPr>
                            <m:t>𝑣</m:t>
                          </m:r>
                          <m:r>
                            <a:rPr lang="en-US" altLang="zh-TW" i="1">
                              <a:latin typeface="Cambria Math" panose="02040503050406030204" pitchFamily="18" charset="0"/>
                            </a:rPr>
                            <m:t>,</m:t>
                          </m:r>
                          <m:r>
                            <a:rPr lang="zh-TW" altLang="en-US" i="1" smtClean="0">
                              <a:latin typeface="Cambria Math" panose="02040503050406030204" pitchFamily="18" charset="0"/>
                            </a:rPr>
                            <m:t>𝜃</m:t>
                          </m:r>
                        </m:e>
                      </m:d>
                      <m:r>
                        <a:rPr lang="en-US" altLang="zh-TW" i="1">
                          <a:latin typeface="Cambria Math" panose="02040503050406030204" pitchFamily="18" charset="0"/>
                        </a:rPr>
                        <m:t>+</m:t>
                      </m:r>
                      <m:r>
                        <a:rPr lang="zh-TW" altLang="en-US" i="1">
                          <a:latin typeface="Cambria Math" panose="02040503050406030204" pitchFamily="18" charset="0"/>
                        </a:rPr>
                        <m:t>𝛾</m:t>
                      </m:r>
                      <m:d>
                        <m:dPr>
                          <m:ctrlPr>
                            <a:rPr lang="en-US" altLang="zh-TW" i="1">
                              <a:latin typeface="Cambria Math" panose="02040503050406030204" pitchFamily="18" charset="0"/>
                            </a:rPr>
                          </m:ctrlPr>
                        </m:dPr>
                        <m:e>
                          <m:r>
                            <a:rPr lang="en-US" altLang="zh-TW" i="1">
                              <a:latin typeface="Cambria Math" panose="02040503050406030204" pitchFamily="18" charset="0"/>
                            </a:rPr>
                            <m:t>𝑣</m:t>
                          </m:r>
                          <m:r>
                            <a:rPr lang="en-US" altLang="zh-TW" i="1">
                              <a:latin typeface="Cambria Math" panose="02040503050406030204" pitchFamily="18" charset="0"/>
                              <a:ea typeface="Cambria Math" panose="02040503050406030204" pitchFamily="18" charset="0"/>
                            </a:rPr>
                            <m:t>→</m:t>
                          </m:r>
                          <m:r>
                            <a:rPr lang="zh-TW" altLang="en-US" i="1">
                              <a:latin typeface="Cambria Math" panose="02040503050406030204" pitchFamily="18" charset="0"/>
                              <a:ea typeface="Cambria Math" panose="02040503050406030204" pitchFamily="18" charset="0"/>
                            </a:rPr>
                            <m:t>𝜆</m:t>
                          </m:r>
                        </m:e>
                      </m:d>
                    </m:oMath>
                  </m:oMathPara>
                </a14:m>
                <a:endParaRPr lang="en-US" altLang="zh-TW" i="1" dirty="0" smtClean="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zh-TW" altLang="en-US" i="1">
                          <a:latin typeface="Cambria Math" panose="02040503050406030204" pitchFamily="18" charset="0"/>
                        </a:rPr>
                        <m:t>𝛿</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zh-TW" altLang="en-US" i="1" smtClean="0">
                                  <a:latin typeface="Cambria Math" panose="02040503050406030204" pitchFamily="18" charset="0"/>
                                </a:rPr>
                                <m:t>𝜃</m:t>
                              </m:r>
                              <m:r>
                                <a:rPr lang="en-US" altLang="zh-TW" b="0" i="1" smtClean="0">
                                  <a:latin typeface="Cambria Math" panose="02040503050406030204" pitchFamily="18" charset="0"/>
                                </a:rPr>
                                <m:t>,</m:t>
                              </m:r>
                              <m:r>
                                <a:rPr lang="en-US" altLang="zh-TW" i="1">
                                  <a:latin typeface="Cambria Math" panose="02040503050406030204" pitchFamily="18" charset="0"/>
                                </a:rPr>
                                <m:t>𝐹</m:t>
                              </m:r>
                            </m:e>
                            <m:sub>
                              <m:r>
                                <a:rPr lang="en-US" altLang="zh-TW" b="0" i="1" smtClean="0">
                                  <a:latin typeface="Cambria Math" panose="02040503050406030204" pitchFamily="18" charset="0"/>
                                </a:rPr>
                                <m:t>2</m:t>
                              </m:r>
                            </m:sub>
                          </m:sSub>
                        </m:e>
                      </m:d>
                      <m:r>
                        <a:rPr lang="en-US" altLang="zh-TW" i="1">
                          <a:latin typeface="Cambria Math" panose="02040503050406030204" pitchFamily="18" charset="0"/>
                        </a:rPr>
                        <m:t>=</m:t>
                      </m:r>
                      <m:r>
                        <a:rPr lang="zh-TW" altLang="en-US" i="1" smtClean="0">
                          <a:latin typeface="Cambria Math" panose="02040503050406030204" pitchFamily="18" charset="0"/>
                        </a:rPr>
                        <m:t>𝛿</m:t>
                      </m:r>
                      <m:d>
                        <m:dPr>
                          <m:ctrlPr>
                            <a:rPr lang="en-US" altLang="zh-TW" i="1">
                              <a:latin typeface="Cambria Math" panose="02040503050406030204" pitchFamily="18" charset="0"/>
                            </a:rPr>
                          </m:ctrlPr>
                        </m:dPr>
                        <m:e>
                          <m:r>
                            <a:rPr lang="zh-TW" altLang="en-US" i="1" smtClean="0">
                              <a:latin typeface="Cambria Math" panose="02040503050406030204" pitchFamily="18" charset="0"/>
                            </a:rPr>
                            <m:t>𝜃</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𝑤</m:t>
                          </m:r>
                        </m:e>
                      </m:d>
                      <m:r>
                        <a:rPr lang="en-US" altLang="zh-TW" i="1">
                          <a:latin typeface="Cambria Math" panose="02040503050406030204" pitchFamily="18" charset="0"/>
                        </a:rPr>
                        <m:t>+</m:t>
                      </m:r>
                      <m:r>
                        <a:rPr lang="zh-TW" altLang="en-US" i="1">
                          <a:latin typeface="Cambria Math" panose="02040503050406030204" pitchFamily="18" charset="0"/>
                        </a:rPr>
                        <m:t>𝛾</m:t>
                      </m:r>
                      <m:r>
                        <a:rPr lang="en-US" altLang="zh-TW" i="1">
                          <a:latin typeface="Cambria Math" panose="02040503050406030204" pitchFamily="18" charset="0"/>
                        </a:rPr>
                        <m:t>(</m:t>
                      </m:r>
                      <m:r>
                        <a:rPr lang="zh-TW" altLang="en-US" i="1">
                          <a:latin typeface="Cambria Math" panose="02040503050406030204" pitchFamily="18" charset="0"/>
                          <a:ea typeface="Cambria Math" panose="02040503050406030204" pitchFamily="18" charset="0"/>
                        </a:rPr>
                        <m:t>𝜆</m:t>
                      </m:r>
                      <m:r>
                        <a:rPr lang="zh-TW" altLang="en-US"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𝑤</m:t>
                      </m:r>
                      <m:r>
                        <a:rPr lang="en-US" altLang="zh-TW" i="1">
                          <a:latin typeface="Cambria Math" panose="02040503050406030204" pitchFamily="18" charset="0"/>
                        </a:rPr>
                        <m:t>)</m:t>
                      </m:r>
                    </m:oMath>
                  </m:oMathPara>
                </a14:m>
                <a:endParaRPr lang="en-US" altLang="zh-TW" dirty="0" smtClean="0"/>
              </a:p>
              <a:p>
                <a:pPr marL="0" indent="0">
                  <a:buNone/>
                </a:pPr>
                <a:endParaRPr lang="en-US" altLang="zh-TW" dirty="0" smtClean="0"/>
              </a:p>
              <a:p>
                <a:pPr marL="0" indent="0">
                  <a:buNone/>
                </a:pPr>
                <a14:m>
                  <m:oMathPara xmlns:m="http://schemas.openxmlformats.org/officeDocument/2006/math">
                    <m:oMathParaPr>
                      <m:jc m:val="left"/>
                    </m:oMathParaPr>
                    <m:oMath xmlns:m="http://schemas.openxmlformats.org/officeDocument/2006/math">
                      <m:r>
                        <a:rPr lang="zh-TW" altLang="en-US" i="1" smtClean="0">
                          <a:latin typeface="Cambria Math" panose="02040503050406030204" pitchFamily="18" charset="0"/>
                        </a:rPr>
                        <m:t>𝛿</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2</m:t>
                              </m:r>
                            </m:sub>
                          </m:sSub>
                        </m:e>
                      </m:d>
                      <m:r>
                        <a:rPr lang="en-US" altLang="zh-TW" b="0" i="1" smtClean="0">
                          <a:latin typeface="Cambria Math" panose="02040503050406030204" pitchFamily="18" charset="0"/>
                        </a:rPr>
                        <m:t>=</m:t>
                      </m:r>
                      <m:func>
                        <m:funcPr>
                          <m:ctrlPr>
                            <a:rPr lang="en-US" altLang="zh-TW" b="0" i="1" smtClean="0">
                              <a:latin typeface="Cambria Math" panose="02040503050406030204" pitchFamily="18" charset="0"/>
                            </a:rPr>
                          </m:ctrlPr>
                        </m:funcPr>
                        <m:fName>
                          <m:limLow>
                            <m:limLowPr>
                              <m:ctrlPr>
                                <a:rPr lang="en-US" altLang="zh-TW" b="0" i="1" smtClean="0">
                                  <a:latin typeface="Cambria Math" panose="02040503050406030204" pitchFamily="18" charset="0"/>
                                </a:rPr>
                              </m:ctrlPr>
                            </m:limLowPr>
                            <m:e>
                              <m:r>
                                <m:rPr>
                                  <m:sty m:val="p"/>
                                </m:rPr>
                                <a:rPr lang="en-US" altLang="zh-TW" b="0" i="0" smtClean="0">
                                  <a:latin typeface="Cambria Math" panose="02040503050406030204" pitchFamily="18" charset="0"/>
                                </a:rPr>
                                <m:t>min</m:t>
                              </m:r>
                            </m:e>
                            <m:lim/>
                          </m:limLow>
                        </m:fName>
                        <m:e>
                          <m:d>
                            <m:dPr>
                              <m:begChr m:val="{"/>
                              <m:endChr m:val=""/>
                              <m:ctrlPr>
                                <a:rPr lang="en-US" altLang="zh-TW" b="0" i="1" smtClean="0">
                                  <a:latin typeface="Cambria Math" panose="02040503050406030204" pitchFamily="18" charset="0"/>
                                </a:rPr>
                              </m:ctrlPr>
                            </m:dPr>
                            <m:e>
                              <m:m>
                                <m:mPr>
                                  <m:mcs>
                                    <m:mc>
                                      <m:mcPr>
                                        <m:count m:val="1"/>
                                        <m:mcJc m:val="center"/>
                                      </m:mcPr>
                                    </m:mc>
                                  </m:mcs>
                                  <m:ctrlPr>
                                    <a:rPr lang="en-US" altLang="zh-TW" b="0" i="1" smtClean="0">
                                      <a:latin typeface="Cambria Math" panose="02040503050406030204" pitchFamily="18" charset="0"/>
                                    </a:rPr>
                                  </m:ctrlPr>
                                </m:mPr>
                                <m:mr>
                                  <m:e>
                                    <m:r>
                                      <a:rPr lang="zh-TW" altLang="en-US" i="1">
                                        <a:latin typeface="Cambria Math" panose="02040503050406030204" pitchFamily="18" charset="0"/>
                                      </a:rPr>
                                      <m:t>𝛿</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1</m:t>
                                            </m:r>
                                          </m:sub>
                                        </m:sSub>
                                        <m:r>
                                          <a:rPr lang="en-US" altLang="zh-TW" i="1">
                                            <a:latin typeface="Cambria Math" panose="02040503050406030204" pitchFamily="18" charset="0"/>
                                          </a:rPr>
                                          <m:t>−</m:t>
                                        </m:r>
                                        <m:r>
                                          <a:rPr lang="en-US" altLang="zh-TW" i="1">
                                            <a:latin typeface="Cambria Math" panose="02040503050406030204" pitchFamily="18" charset="0"/>
                                          </a:rPr>
                                          <m:t>𝑣</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2</m:t>
                                            </m:r>
                                          </m:sub>
                                        </m:sSub>
                                      </m:e>
                                    </m:d>
                                    <m:r>
                                      <a:rPr lang="en-US" altLang="zh-TW" i="1">
                                        <a:latin typeface="Cambria Math" panose="02040503050406030204" pitchFamily="18" charset="0"/>
                                      </a:rPr>
                                      <m:t>+</m:t>
                                    </m:r>
                                    <m:r>
                                      <a:rPr lang="zh-TW" altLang="en-US" i="1">
                                        <a:latin typeface="Cambria Math" panose="02040503050406030204" pitchFamily="18" charset="0"/>
                                      </a:rPr>
                                      <m:t>𝛾</m:t>
                                    </m:r>
                                    <m:d>
                                      <m:dPr>
                                        <m:ctrlPr>
                                          <a:rPr lang="en-US" altLang="zh-TW" i="1">
                                            <a:latin typeface="Cambria Math" panose="02040503050406030204" pitchFamily="18" charset="0"/>
                                          </a:rPr>
                                        </m:ctrlPr>
                                      </m:dPr>
                                      <m:e>
                                        <m:r>
                                          <a:rPr lang="en-US" altLang="zh-TW" i="1">
                                            <a:latin typeface="Cambria Math" panose="02040503050406030204" pitchFamily="18" charset="0"/>
                                          </a:rPr>
                                          <m:t>𝑣</m:t>
                                        </m:r>
                                        <m:r>
                                          <a:rPr lang="en-US" altLang="zh-TW" i="1">
                                            <a:latin typeface="Cambria Math" panose="02040503050406030204" pitchFamily="18" charset="0"/>
                                            <a:ea typeface="Cambria Math" panose="02040503050406030204" pitchFamily="18" charset="0"/>
                                          </a:rPr>
                                          <m:t>→</m:t>
                                        </m:r>
                                        <m:r>
                                          <a:rPr lang="zh-TW" altLang="en-US" i="1">
                                            <a:latin typeface="Cambria Math" panose="02040503050406030204" pitchFamily="18" charset="0"/>
                                            <a:ea typeface="Cambria Math" panose="02040503050406030204" pitchFamily="18" charset="0"/>
                                          </a:rPr>
                                          <m:t>𝜆</m:t>
                                        </m:r>
                                      </m:e>
                                    </m:d>
                                  </m:e>
                                </m:mr>
                                <m:mr>
                                  <m:e>
                                    <m:r>
                                      <a:rPr lang="zh-TW" altLang="en-US" i="1">
                                        <a:latin typeface="Cambria Math" panose="02040503050406030204" pitchFamily="18" charset="0"/>
                                      </a:rPr>
                                      <m:t>𝛿</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b="0" i="1" smtClean="0">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2</m:t>
                                            </m:r>
                                          </m:sub>
                                        </m:sSub>
                                        <m:r>
                                          <a:rPr lang="en-US" altLang="zh-TW" i="1">
                                            <a:latin typeface="Cambria Math" panose="02040503050406030204" pitchFamily="18" charset="0"/>
                                          </a:rPr>
                                          <m:t>−</m:t>
                                        </m:r>
                                        <m:r>
                                          <a:rPr lang="en-US" altLang="zh-TW" i="1">
                                            <a:latin typeface="Cambria Math" panose="02040503050406030204" pitchFamily="18" charset="0"/>
                                          </a:rPr>
                                          <m:t>𝑤</m:t>
                                        </m:r>
                                      </m:e>
                                    </m:d>
                                    <m:r>
                                      <a:rPr lang="en-US" altLang="zh-TW" i="1">
                                        <a:latin typeface="Cambria Math" panose="02040503050406030204" pitchFamily="18" charset="0"/>
                                      </a:rPr>
                                      <m:t>+</m:t>
                                    </m:r>
                                    <m:r>
                                      <a:rPr lang="zh-TW" altLang="en-US" i="1">
                                        <a:latin typeface="Cambria Math" panose="02040503050406030204" pitchFamily="18" charset="0"/>
                                      </a:rPr>
                                      <m:t>𝛾</m:t>
                                    </m:r>
                                    <m:r>
                                      <a:rPr lang="en-US" altLang="zh-TW" i="1">
                                        <a:latin typeface="Cambria Math" panose="02040503050406030204" pitchFamily="18" charset="0"/>
                                      </a:rPr>
                                      <m:t>(</m:t>
                                    </m:r>
                                    <m:r>
                                      <a:rPr lang="zh-TW" altLang="en-US" i="1">
                                        <a:latin typeface="Cambria Math" panose="02040503050406030204" pitchFamily="18" charset="0"/>
                                        <a:ea typeface="Cambria Math" panose="02040503050406030204" pitchFamily="18" charset="0"/>
                                      </a:rPr>
                                      <m:t>𝜆</m:t>
                                    </m:r>
                                    <m:r>
                                      <a:rPr lang="zh-TW" altLang="en-US"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𝑤</m:t>
                                    </m:r>
                                    <m:r>
                                      <a:rPr lang="en-US" altLang="zh-TW" i="1">
                                        <a:latin typeface="Cambria Math" panose="02040503050406030204" pitchFamily="18" charset="0"/>
                                      </a:rPr>
                                      <m:t>)</m:t>
                                    </m:r>
                                    <m:r>
                                      <m:rPr>
                                        <m:nor/>
                                      </m:rPr>
                                      <a:rPr lang="en-US" altLang="zh-TW" dirty="0"/>
                                      <m:t> </m:t>
                                    </m:r>
                                  </m:e>
                                </m:mr>
                                <m:mr>
                                  <m:e>
                                    <m:r>
                                      <a:rPr lang="zh-TW" altLang="en-US" i="1">
                                        <a:latin typeface="Cambria Math" panose="02040503050406030204" pitchFamily="18" charset="0"/>
                                      </a:rPr>
                                      <m:t>𝛿</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𝑤</m:t>
                                        </m:r>
                                        <m:r>
                                          <a:rPr lang="en-US" altLang="zh-TW" b="0" i="1" smtClean="0">
                                            <a:latin typeface="Cambria Math" panose="02040503050406030204" pitchFamily="18" charset="0"/>
                                          </a:rPr>
                                          <m:t>)</m:t>
                                        </m:r>
                                      </m:e>
                                    </m:d>
                                    <m:r>
                                      <a:rPr lang="en-US" altLang="zh-TW" b="0" i="1" smtClean="0">
                                        <a:latin typeface="Cambria Math" panose="02040503050406030204" pitchFamily="18" charset="0"/>
                                      </a:rPr>
                                      <m:t>+</m:t>
                                    </m:r>
                                    <m:r>
                                      <a:rPr lang="zh-TW" altLang="en-US" i="1">
                                        <a:latin typeface="Cambria Math" panose="02040503050406030204" pitchFamily="18" charset="0"/>
                                      </a:rPr>
                                      <m:t>𝛿</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i="1">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𝑤</m:t>
                                        </m:r>
                                        <m:r>
                                          <a:rPr lang="en-US" altLang="zh-TW" b="0" i="1" smtClean="0">
                                            <a:latin typeface="Cambria Math" panose="02040503050406030204" pitchFamily="18" charset="0"/>
                                          </a:rPr>
                                          <m:t>)</m:t>
                                        </m:r>
                                      </m:e>
                                    </m:d>
                                    <m:r>
                                      <a:rPr lang="en-US" altLang="zh-TW" b="0" i="1" smtClean="0">
                                        <a:latin typeface="Cambria Math" panose="02040503050406030204" pitchFamily="18" charset="0"/>
                                      </a:rPr>
                                      <m:t>+</m:t>
                                    </m:r>
                                    <m:r>
                                      <a:rPr lang="zh-TW" altLang="en-US" b="0" i="1" smtClean="0">
                                        <a:latin typeface="Cambria Math" panose="02040503050406030204" pitchFamily="18" charset="0"/>
                                      </a:rPr>
                                      <m:t>𝛾</m:t>
                                    </m:r>
                                    <m:d>
                                      <m:dPr>
                                        <m:ctrlPr>
                                          <a:rPr lang="en-US" altLang="zh-TW" i="1">
                                            <a:latin typeface="Cambria Math" panose="02040503050406030204" pitchFamily="18" charset="0"/>
                                          </a:rPr>
                                        </m:ctrlPr>
                                      </m:dPr>
                                      <m:e>
                                        <m:r>
                                          <a:rPr lang="en-US" altLang="zh-TW" b="0" i="1" smtClean="0">
                                            <a:latin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𝑤</m:t>
                                        </m:r>
                                      </m:e>
                                    </m:d>
                                  </m:e>
                                </m:mr>
                              </m:m>
                            </m:e>
                          </m:d>
                        </m:e>
                      </m:func>
                    </m:oMath>
                  </m:oMathPara>
                </a14:m>
                <a:endParaRPr lang="en-US" altLang="zh-TW" dirty="0" smtClean="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376882" y="1159348"/>
                <a:ext cx="11691551" cy="5698652"/>
              </a:xfrm>
              <a:blipFill rotWithShape="0">
                <a:blip r:embed="rId2"/>
                <a:stretch>
                  <a:fillRect l="-1095" t="-17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240608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Zhang and </a:t>
            </a:r>
            <a:r>
              <a:rPr lang="en-US" altLang="zh-TW" dirty="0" err="1" smtClean="0"/>
              <a:t>Shasha’s</a:t>
            </a:r>
            <a:r>
              <a:rPr lang="en-US" altLang="zh-TW" dirty="0" smtClean="0"/>
              <a:t> </a:t>
            </a:r>
            <a:r>
              <a:rPr lang="en-US" altLang="zh-TW" dirty="0"/>
              <a:t>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lnSpcReduction="10000"/>
              </a:bodyPr>
              <a:lstStyle/>
              <a:p>
                <a:pPr marL="0" indent="0">
                  <a:buNone/>
                </a:pPr>
                <a:r>
                  <a:rPr lang="en-US" altLang="zh-TW" dirty="0" smtClean="0"/>
                  <a:t>Define </a:t>
                </a:r>
                <a14:m>
                  <m:oMath xmlns:m="http://schemas.openxmlformats.org/officeDocument/2006/math">
                    <m:r>
                      <a:rPr lang="en-US" altLang="zh-TW" b="0" i="1" smtClean="0">
                        <a:latin typeface="Cambria Math" panose="02040503050406030204" pitchFamily="18" charset="0"/>
                      </a:rPr>
                      <m:t>𝑘𝑒𝑦𝑟𝑜𝑜𝑡𝑠</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𝑇</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𝑟𝑜𝑜𝑡</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𝑇</m:t>
                            </m:r>
                          </m:e>
                        </m:d>
                      </m:e>
                    </m:d>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𝑉</m:t>
                            </m:r>
                          </m:e>
                        </m:d>
                        <m:r>
                          <a:rPr lang="en-US" altLang="zh-TW" b="0" i="1" smtClean="0">
                            <a:latin typeface="Cambria Math" panose="02040503050406030204" pitchFamily="18" charset="0"/>
                            <a:ea typeface="Cambria Math" panose="02040503050406030204" pitchFamily="18" charset="0"/>
                          </a:rPr>
                          <m:t> </m:t>
                        </m:r>
                      </m:e>
                    </m:d>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h𝑎𝑠</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𝑎</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𝑙𝑒𝑓𝑡</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𝑠𝑖𝑏𝑙𝑖𝑛𝑔</m:t>
                    </m:r>
                    <m:r>
                      <a:rPr lang="en-US" altLang="zh-TW" b="0" i="1" smtClean="0">
                        <a:latin typeface="Cambria Math" panose="02040503050406030204" pitchFamily="18" charset="0"/>
                        <a:ea typeface="Cambria Math" panose="02040503050406030204" pitchFamily="18" charset="0"/>
                      </a:rPr>
                      <m:t>}</m:t>
                    </m:r>
                  </m:oMath>
                </a14:m>
                <a:endParaRPr lang="en-US" altLang="zh-TW" dirty="0" smtClean="0"/>
              </a:p>
              <a:p>
                <a:pPr marL="0" indent="0">
                  <a:buNone/>
                </a:pPr>
                <a:r>
                  <a:rPr lang="en-US" altLang="zh-TW" b="1" dirty="0" smtClean="0"/>
                  <a:t>Lemma 2 </a:t>
                </a:r>
                <a14:m>
                  <m:oMath xmlns:m="http://schemas.openxmlformats.org/officeDocument/2006/math">
                    <m:r>
                      <a:rPr lang="en-US" altLang="zh-TW" b="0" i="1" smtClean="0">
                        <a:latin typeface="Cambria Math" panose="02040503050406030204" pitchFamily="18" charset="0"/>
                      </a:rPr>
                      <m:t>𝐹𝑜𝑟</m:t>
                    </m:r>
                    <m:r>
                      <a:rPr lang="en-US" altLang="zh-TW" b="0" i="1" smtClean="0">
                        <a:latin typeface="Cambria Math" panose="02040503050406030204" pitchFamily="18" charset="0"/>
                      </a:rPr>
                      <m:t> </m:t>
                    </m:r>
                    <m:r>
                      <a:rPr lang="en-US" altLang="zh-TW" b="0" i="1" smtClean="0">
                        <a:latin typeface="Cambria Math" panose="02040503050406030204" pitchFamily="18" charset="0"/>
                      </a:rPr>
                      <m:t>𝑒𝑎𝑐h</m:t>
                    </m:r>
                    <m:r>
                      <a:rPr lang="en-US" altLang="zh-TW" b="0" i="1" smtClean="0">
                        <a:latin typeface="Cambria Math" panose="02040503050406030204" pitchFamily="18" charset="0"/>
                      </a:rPr>
                      <m:t> </m:t>
                    </m:r>
                    <m:r>
                      <a:rPr lang="en-US" altLang="zh-TW" b="0" i="1" smtClean="0">
                        <a:latin typeface="Cambria Math" panose="02040503050406030204" pitchFamily="18" charset="0"/>
                      </a:rPr>
                      <m:t>𝑛𝑜𝑑𝑒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𝑉</m:t>
                    </m:r>
                    <m:d>
                      <m:dPr>
                        <m:ctrlPr>
                          <a:rPr lang="en-US" altLang="zh-TW"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𝑇</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𝐹</m:t>
                    </m:r>
                    <m:d>
                      <m:dPr>
                        <m:ctrlPr>
                          <a:rPr lang="en-US" altLang="zh-TW"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𝑣</m:t>
                        </m:r>
                      </m:e>
                    </m:d>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𝑖𝑠</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𝑎</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𝑟𝑒𝑙𝑒𝑣𝑎𝑛𝑡</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𝑠𝑢𝑏𝑝𝑟𝑜𝑏𝑙𝑒𝑚</m:t>
                    </m:r>
                    <m:r>
                      <a:rPr lang="en-US" altLang="zh-TW" b="0" i="1" smtClean="0">
                        <a:latin typeface="Cambria Math" panose="02040503050406030204" pitchFamily="18" charset="0"/>
                        <a:ea typeface="Cambria Math" panose="02040503050406030204" pitchFamily="18" charset="0"/>
                      </a:rPr>
                      <m:t>.</m:t>
                    </m:r>
                  </m:oMath>
                </a14:m>
                <a:endParaRPr lang="en-US" altLang="zh-TW" dirty="0" smtClean="0"/>
              </a:p>
              <a:p>
                <a:pPr marL="0" indent="0">
                  <a:buNone/>
                </a:pPr>
                <a:r>
                  <a:rPr lang="en-US" altLang="zh-TW" b="1" dirty="0" smtClean="0"/>
                  <a:t>Lemma 3</a:t>
                </a:r>
                <a:r>
                  <a:rPr lang="en-US" altLang="zh-TW" dirty="0" smtClean="0"/>
                  <a:t> </a:t>
                </a:r>
                <a14:m>
                  <m:oMath xmlns:m="http://schemas.openxmlformats.org/officeDocument/2006/math">
                    <m:r>
                      <a:rPr lang="en-US" altLang="zh-TW" b="0" i="1" smtClean="0">
                        <a:latin typeface="Cambria Math" panose="02040503050406030204" pitchFamily="18" charset="0"/>
                      </a:rPr>
                      <m:t>𝐹𝑜𝑟</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𝑜𝑟𝑑𝑒𝑟𝑒𝑑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𝑡𝑟𝑒𝑒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𝑇</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m:t>
                    </m:r>
                    <m:r>
                      <a:rPr lang="en-US" altLang="zh-TW" b="0" i="1" smtClean="0">
                        <a:latin typeface="Cambria Math" panose="02040503050406030204" pitchFamily="18" charset="0"/>
                      </a:rPr>
                      <m:t> # </m:t>
                    </m:r>
                    <m:r>
                      <a:rPr lang="en-US" altLang="zh-TW" b="0" i="1" smtClean="0">
                        <a:latin typeface="Cambria Math" panose="02040503050406030204" pitchFamily="18" charset="0"/>
                      </a:rPr>
                      <m:t>𝑜𝑓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𝑟𝑒𝑙𝑒𝑣𝑎𝑛𝑡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𝑠𝑢𝑏𝑝𝑟𝑜𝑏𝑙𝑒𝑚𝑠</m:t>
                    </m:r>
                    <m:r>
                      <a:rPr lang="en-US" altLang="zh-TW" b="0" i="1" smtClean="0">
                        <a:latin typeface="Cambria Math" panose="02040503050406030204" pitchFamily="18" charset="0"/>
                      </a:rPr>
                      <m:t>, </m:t>
                    </m:r>
                  </m:oMath>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  </m:t>
                      </m:r>
                      <m:r>
                        <a:rPr lang="en-US" altLang="zh-TW" b="0" i="1" smtClean="0">
                          <a:latin typeface="Cambria Math" panose="02040503050406030204" pitchFamily="18" charset="0"/>
                        </a:rPr>
                        <m:t>𝑤𝑖𝑡h</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𝑟𝑒𝑠𝑝𝑒𝑐𝑡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𝑘𝑒𝑦𝑟𝑜𝑜𝑡𝑠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𝑏𝑜𝑢𝑛𝑑𝑒𝑑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𝑏𝑦</m:t>
                      </m:r>
                      <m:r>
                        <a:rPr lang="en-US" altLang="zh-TW" b="0" i="1" smtClean="0">
                          <a:latin typeface="Cambria Math" panose="02040503050406030204" pitchFamily="18" charset="0"/>
                        </a:rPr>
                        <m:t> </m:t>
                      </m:r>
                      <m:r>
                        <a:rPr lang="en-US" altLang="zh-TW" b="0" i="1" smtClean="0">
                          <a:latin typeface="Cambria Math" panose="02040503050406030204" pitchFamily="18" charset="0"/>
                        </a:rPr>
                        <m:t>𝑂</m:t>
                      </m:r>
                      <m:d>
                        <m:dPr>
                          <m:ctrlPr>
                            <a:rPr lang="en-US" altLang="zh-TW" b="0" i="1" smtClean="0">
                              <a:latin typeface="Cambria Math" panose="02040503050406030204" pitchFamily="18" charset="0"/>
                            </a:rPr>
                          </m:ctrlPr>
                        </m:dPr>
                        <m:e>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𝑇</m:t>
                              </m:r>
                            </m:e>
                          </m:d>
                          <m:r>
                            <a:rPr lang="en-US" altLang="zh-TW" b="0" i="1" smtClean="0">
                              <a:latin typeface="Cambria Math" panose="02040503050406030204" pitchFamily="18" charset="0"/>
                            </a:rPr>
                            <m:t>𝑐𝑑𝑒𝑝𝑡h</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𝑇</m:t>
                              </m:r>
                            </m:e>
                          </m:d>
                        </m:e>
                      </m:d>
                      <m:r>
                        <a:rPr lang="en-US" altLang="zh-TW" b="0" i="1" smtClean="0">
                          <a:latin typeface="Cambria Math" panose="02040503050406030204" pitchFamily="18" charset="0"/>
                        </a:rPr>
                        <m:t>.</m:t>
                      </m:r>
                    </m:oMath>
                  </m:oMathPara>
                </a14:m>
                <a:endParaRPr lang="en-US" altLang="zh-TW" b="0" i="1" dirty="0" smtClean="0"/>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𝑘𝑒𝑦𝑟𝑜𝑜𝑡𝑠</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sub>
                        <m:sup/>
                        <m:e>
                          <m:r>
                            <a:rPr lang="en-US" altLang="zh-TW" b="0" i="1" smtClean="0">
                              <a:latin typeface="Cambria Math" panose="02040503050406030204" pitchFamily="18" charset="0"/>
                            </a:rPr>
                            <m:t>|</m:t>
                          </m:r>
                          <m:r>
                            <a:rPr lang="en-US" altLang="zh-TW" b="0" i="1" smtClean="0">
                              <a:latin typeface="Cambria Math" panose="02040503050406030204" pitchFamily="18" charset="0"/>
                            </a:rPr>
                            <m:t>𝐹</m:t>
                          </m:r>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rPr>
                            <m:t>)|</m:t>
                          </m:r>
                        </m:e>
                      </m:nary>
                      <m:r>
                        <a:rPr lang="en-US" altLang="zh-TW" b="0" i="1" smtClean="0">
                          <a:latin typeface="Cambria Math" panose="02040503050406030204" pitchFamily="18" charset="0"/>
                        </a:rPr>
                        <m:t>&lt;</m:t>
                      </m:r>
                      <m:nary>
                        <m:naryPr>
                          <m:chr m:val="∑"/>
                          <m:supHide m:val="on"/>
                          <m:ctrlPr>
                            <a:rPr lang="en-US" altLang="zh-TW" b="0" i="1" smtClean="0">
                              <a:latin typeface="Cambria Math" panose="02040503050406030204" pitchFamily="18" charset="0"/>
                            </a:rPr>
                          </m:ctrlPr>
                        </m:naryPr>
                        <m:sub>
                          <m:r>
                            <m:rPr>
                              <m:brk m:alnAt="7"/>
                            </m:rPr>
                            <a:rPr lang="en-US" altLang="zh-TW" i="1">
                              <a:latin typeface="Cambria Math" panose="02040503050406030204" pitchFamily="18" charset="0"/>
                            </a:rPr>
                            <m:t>𝑣</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𝑘𝑒𝑦𝑟𝑜𝑜𝑡𝑠</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𝑇</m:t>
                          </m:r>
                          <m:r>
                            <a:rPr lang="en-US" altLang="zh-TW" i="1">
                              <a:latin typeface="Cambria Math" panose="02040503050406030204" pitchFamily="18" charset="0"/>
                              <a:ea typeface="Cambria Math" panose="02040503050406030204" pitchFamily="18" charset="0"/>
                            </a:rPr>
                            <m:t>)</m:t>
                          </m:r>
                        </m:sub>
                        <m:sup/>
                        <m:e>
                          <m:r>
                            <a:rPr lang="en-US" altLang="zh-TW" b="0" i="1" smtClean="0">
                              <a:latin typeface="Cambria Math" panose="02040503050406030204" pitchFamily="18" charset="0"/>
                            </a:rPr>
                            <m:t>|</m:t>
                          </m:r>
                          <m:r>
                            <a:rPr lang="en-US" altLang="zh-TW" b="0" i="1" smtClean="0">
                              <a:latin typeface="Cambria Math" panose="02040503050406030204" pitchFamily="18" charset="0"/>
                            </a:rPr>
                            <m:t>𝑇</m:t>
                          </m:r>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rPr>
                            <m:t>)|</m:t>
                          </m:r>
                        </m:e>
                      </m:nary>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i="1">
                              <a:latin typeface="Cambria Math" panose="02040503050406030204" pitchFamily="18" charset="0"/>
                            </a:rPr>
                            <m:t>𝑣</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𝑉</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𝑇</m:t>
                          </m:r>
                          <m:r>
                            <a:rPr lang="en-US" altLang="zh-TW" i="1">
                              <a:latin typeface="Cambria Math" panose="02040503050406030204" pitchFamily="18" charset="0"/>
                              <a:ea typeface="Cambria Math" panose="02040503050406030204" pitchFamily="18" charset="0"/>
                            </a:rPr>
                            <m:t>)</m:t>
                          </m:r>
                        </m:sub>
                        <m:sup/>
                        <m:e>
                          <m:r>
                            <a:rPr lang="en-US" altLang="zh-TW" b="0" i="1" smtClean="0">
                              <a:latin typeface="Cambria Math" panose="02040503050406030204" pitchFamily="18" charset="0"/>
                            </a:rPr>
                            <m:t>𝑐𝑑𝑒𝑝𝑡h</m:t>
                          </m:r>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rPr>
                            <m:t>)</m:t>
                          </m:r>
                        </m:e>
                      </m:nary>
                      <m:r>
                        <a:rPr lang="en-US" altLang="zh-TW" b="0" i="1" smtClean="0">
                          <a:latin typeface="Cambria Math" panose="02040503050406030204" pitchFamily="18" charset="0"/>
                          <a:ea typeface="Cambria Math" panose="02040503050406030204" pitchFamily="18" charset="0"/>
                        </a:rPr>
                        <m:t>≤</m:t>
                      </m:r>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i="1">
                              <a:latin typeface="Cambria Math" panose="02040503050406030204" pitchFamily="18" charset="0"/>
                            </a:rPr>
                            <m:t>𝑣</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𝑉</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𝑇</m:t>
                          </m:r>
                          <m:r>
                            <a:rPr lang="en-US" altLang="zh-TW" i="1">
                              <a:latin typeface="Cambria Math" panose="02040503050406030204" pitchFamily="18" charset="0"/>
                              <a:ea typeface="Cambria Math" panose="02040503050406030204" pitchFamily="18" charset="0"/>
                            </a:rPr>
                            <m:t>)</m:t>
                          </m:r>
                        </m:sub>
                        <m:sup/>
                        <m:e>
                          <m:r>
                            <a:rPr lang="en-US" altLang="zh-TW" b="0" i="1" smtClean="0">
                              <a:latin typeface="Cambria Math" panose="02040503050406030204" pitchFamily="18" charset="0"/>
                              <a:ea typeface="Cambria Math" panose="02040503050406030204" pitchFamily="18" charset="0"/>
                            </a:rPr>
                            <m:t>𝑐𝑑𝑒𝑝𝑡h</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e>
                      </m:nary>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i="1">
                              <a:latin typeface="Cambria Math" panose="02040503050406030204" pitchFamily="18" charset="0"/>
                            </a:rPr>
                          </m:ctrlPr>
                        </m:dPr>
                        <m:e>
                          <m:r>
                            <a:rPr lang="en-US" altLang="zh-TW" i="1">
                              <a:latin typeface="Cambria Math" panose="02040503050406030204" pitchFamily="18" charset="0"/>
                            </a:rPr>
                            <m:t>𝑇</m:t>
                          </m:r>
                        </m:e>
                      </m:d>
                      <m:r>
                        <a:rPr lang="en-US" altLang="zh-TW" i="1">
                          <a:latin typeface="Cambria Math" panose="02040503050406030204" pitchFamily="18" charset="0"/>
                        </a:rPr>
                        <m:t>𝑐𝑑𝑒𝑝𝑡h</m:t>
                      </m:r>
                      <m:d>
                        <m:dPr>
                          <m:ctrlPr>
                            <a:rPr lang="en-US" altLang="zh-TW" i="1">
                              <a:latin typeface="Cambria Math" panose="02040503050406030204" pitchFamily="18" charset="0"/>
                            </a:rPr>
                          </m:ctrlPr>
                        </m:dPr>
                        <m:e>
                          <m:r>
                            <a:rPr lang="en-US" altLang="zh-TW" i="1">
                              <a:latin typeface="Cambria Math" panose="02040503050406030204" pitchFamily="18" charset="0"/>
                            </a:rPr>
                            <m:t>𝑇</m:t>
                          </m:r>
                        </m:e>
                      </m:d>
                    </m:oMath>
                  </m:oMathPara>
                </a14:m>
                <a:endParaRPr lang="en-US" altLang="zh-TW" b="0" i="1" dirty="0" smtClean="0"/>
              </a:p>
              <a:p>
                <a:pPr marL="0" indent="0">
                  <a:buNone/>
                </a:pPr>
                <a:r>
                  <a:rPr lang="en-US" altLang="zh-TW" b="1" i="1" dirty="0" smtClean="0"/>
                  <a:t>Lemma 4</a:t>
                </a:r>
                <a:r>
                  <a:rPr lang="en-US" altLang="zh-TW" i="1" dirty="0" smtClean="0"/>
                  <a:t> </a:t>
                </a:r>
                <a14:m>
                  <m:oMath xmlns:m="http://schemas.openxmlformats.org/officeDocument/2006/math">
                    <m:r>
                      <a:rPr lang="en-US" altLang="zh-TW" b="0" i="1" smtClean="0">
                        <a:latin typeface="Cambria Math" panose="02040503050406030204" pitchFamily="18" charset="0"/>
                      </a:rPr>
                      <m:t>𝐹𝑜𝑟</m:t>
                    </m:r>
                    <m:r>
                      <a:rPr lang="en-US" altLang="zh-TW" b="0" i="1" smtClean="0">
                        <a:latin typeface="Cambria Math" panose="02040503050406030204" pitchFamily="18" charset="0"/>
                      </a:rPr>
                      <m:t> </m:t>
                    </m:r>
                    <m:r>
                      <a:rPr lang="en-US" altLang="zh-TW" b="0" i="1" smtClean="0">
                        <a:latin typeface="Cambria Math" panose="02040503050406030204" pitchFamily="18" charset="0"/>
                      </a:rPr>
                      <m:t>𝑎</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𝑡𝑟𝑒𝑒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𝑇</m:t>
                    </m:r>
                    <m:r>
                      <a:rPr lang="en-US" altLang="zh-TW" b="0" i="1" smtClean="0">
                        <a:latin typeface="Cambria Math" panose="02040503050406030204" pitchFamily="18" charset="0"/>
                      </a:rPr>
                      <m:t>, </m:t>
                    </m:r>
                    <m:r>
                      <a:rPr lang="en-US" altLang="zh-TW" b="0" i="1" smtClean="0">
                        <a:latin typeface="Cambria Math" panose="02040503050406030204" pitchFamily="18" charset="0"/>
                      </a:rPr>
                      <m:t>𝑐𝑑𝑒𝑝𝑡h</m:t>
                    </m:r>
                    <m:r>
                      <a:rPr lang="en-US" altLang="zh-TW" b="0" i="1" smtClean="0">
                        <a:latin typeface="Cambria Math" panose="02040503050406030204" pitchFamily="18" charset="0"/>
                      </a:rPr>
                      <m:t>(</m:t>
                    </m:r>
                    <m:r>
                      <a:rPr lang="en-US" altLang="zh-TW" b="0" i="1" smtClean="0">
                        <a:latin typeface="Cambria Math" panose="02040503050406030204" pitchFamily="18" charset="0"/>
                      </a:rPr>
                      <m:t>𝑇</m:t>
                    </m:r>
                    <m:r>
                      <a:rPr lang="en-US" altLang="zh-TW" b="0" i="1" smtClean="0">
                        <a:latin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limLow>
                          <m:limLowPr>
                            <m:ctrlPr>
                              <a:rPr lang="en-US" altLang="zh-TW" b="0" i="1" smtClean="0">
                                <a:latin typeface="Cambria Math" panose="02040503050406030204" pitchFamily="18" charset="0"/>
                                <a:ea typeface="Cambria Math" panose="02040503050406030204" pitchFamily="18" charset="0"/>
                              </a:rPr>
                            </m:ctrlPr>
                          </m:limLowPr>
                          <m:e>
                            <m:r>
                              <m:rPr>
                                <m:sty m:val="p"/>
                              </m:rPr>
                              <a:rPr lang="en-US" altLang="zh-TW" b="0" i="0" smtClean="0">
                                <a:latin typeface="Cambria Math" panose="02040503050406030204" pitchFamily="18" charset="0"/>
                                <a:ea typeface="Cambria Math" panose="02040503050406030204" pitchFamily="18" charset="0"/>
                              </a:rPr>
                              <m:t>min</m:t>
                            </m:r>
                          </m:e>
                          <m:lim/>
                        </m:limLow>
                      </m:fName>
                      <m:e>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𝑑𝑒𝑝𝑡h</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𝑇</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𝑙𝑒𝑎𝑣𝑒𝑠</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𝑇</m:t>
                        </m:r>
                        <m:r>
                          <a:rPr lang="en-US" altLang="zh-TW" b="0" i="1" smtClean="0">
                            <a:latin typeface="Cambria Math" panose="02040503050406030204" pitchFamily="18" charset="0"/>
                            <a:ea typeface="Cambria Math" panose="02040503050406030204" pitchFamily="18" charset="0"/>
                          </a:rPr>
                          <m:t>)}</m:t>
                        </m:r>
                      </m:e>
                    </m:func>
                  </m:oMath>
                </a14:m>
                <a:endParaRPr lang="en-US" altLang="zh-TW" b="0" i="1" dirty="0" smtClean="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3081" b="-15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81543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Klein’s 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Decomposition of a rooted tree </a:t>
                </a:r>
                <a14:m>
                  <m:oMath xmlns:m="http://schemas.openxmlformats.org/officeDocument/2006/math">
                    <m:r>
                      <a:rPr lang="en-US" altLang="zh-TW" b="0" i="1" smtClean="0">
                        <a:latin typeface="Cambria Math" panose="02040503050406030204" pitchFamily="18" charset="0"/>
                      </a:rPr>
                      <m:t>𝑇</m:t>
                    </m:r>
                  </m:oMath>
                </a14:m>
                <a:r>
                  <a:rPr lang="en-US" altLang="zh-TW" dirty="0" smtClean="0"/>
                  <a:t> into disjoint paths called </a:t>
                </a:r>
                <a:r>
                  <a:rPr lang="en-US" altLang="zh-TW" b="1" i="1" dirty="0" smtClean="0"/>
                  <a:t>heavy paths</a:t>
                </a:r>
                <a:r>
                  <a:rPr lang="en-US" altLang="zh-TW" dirty="0" smtClean="0"/>
                  <a:t>.</a:t>
                </a:r>
              </a:p>
              <a:p>
                <a:r>
                  <a:rPr lang="en-US" altLang="zh-TW" dirty="0" smtClean="0"/>
                  <a:t>Root is light</a:t>
                </a:r>
              </a:p>
              <a:p>
                <a:r>
                  <a:rPr lang="en-US" altLang="zh-TW" dirty="0" smtClean="0"/>
                  <a:t>For each internal node </a:t>
                </a:r>
                <a14:m>
                  <m:oMath xmlns:m="http://schemas.openxmlformats.org/officeDocument/2006/math">
                    <m:r>
                      <a:rPr lang="en-US" altLang="zh-TW" b="0" i="1" smtClean="0">
                        <a:latin typeface="Cambria Math" panose="02040503050406030204" pitchFamily="18" charset="0"/>
                      </a:rPr>
                      <m:t>𝑣</m:t>
                    </m:r>
                  </m:oMath>
                </a14:m>
                <a:r>
                  <a:rPr lang="zh-TW" altLang="en-US" dirty="0" smtClean="0"/>
                  <a:t> </a:t>
                </a:r>
                <a:r>
                  <a:rPr lang="en-US" altLang="zh-TW" dirty="0" smtClean="0"/>
                  <a:t>we pick a child </a:t>
                </a:r>
                <a14:m>
                  <m:oMath xmlns:m="http://schemas.openxmlformats.org/officeDocument/2006/math">
                    <m:r>
                      <a:rPr lang="en-US" altLang="zh-TW" b="0" i="1" smtClean="0">
                        <a:latin typeface="Cambria Math" panose="02040503050406030204" pitchFamily="18" charset="0"/>
                      </a:rPr>
                      <m:t>𝑢</m:t>
                    </m:r>
                  </m:oMath>
                </a14:m>
                <a:r>
                  <a:rPr lang="zh-TW" altLang="en-US" dirty="0" smtClean="0"/>
                  <a:t> </a:t>
                </a:r>
                <a:r>
                  <a:rPr lang="en-US" altLang="zh-TW" dirty="0" smtClean="0"/>
                  <a:t>of </a:t>
                </a:r>
                <a14:m>
                  <m:oMath xmlns:m="http://schemas.openxmlformats.org/officeDocument/2006/math">
                    <m:r>
                      <a:rPr lang="en-US" altLang="zh-TW" b="0" i="1" smtClean="0">
                        <a:latin typeface="Cambria Math" panose="02040503050406030204" pitchFamily="18" charset="0"/>
                      </a:rPr>
                      <m:t>𝑣</m:t>
                    </m:r>
                  </m:oMath>
                </a14:m>
                <a:r>
                  <a:rPr lang="zh-TW" altLang="en-US" dirty="0" smtClean="0"/>
                  <a:t> </a:t>
                </a:r>
                <a:r>
                  <a:rPr lang="en-US" altLang="zh-TW" dirty="0" smtClean="0"/>
                  <a:t>of maximum size among the children of </a:t>
                </a:r>
                <a14:m>
                  <m:oMath xmlns:m="http://schemas.openxmlformats.org/officeDocument/2006/math">
                    <m:r>
                      <a:rPr lang="en-US" altLang="zh-TW" b="0" i="1" smtClean="0">
                        <a:latin typeface="Cambria Math" panose="02040503050406030204" pitchFamily="18" charset="0"/>
                      </a:rPr>
                      <m:t>𝑣</m:t>
                    </m:r>
                  </m:oMath>
                </a14:m>
                <a:r>
                  <a:rPr lang="zh-TW" altLang="en-US" dirty="0" smtClean="0"/>
                  <a:t> </a:t>
                </a:r>
                <a:r>
                  <a:rPr lang="en-US" altLang="zh-TW" dirty="0" smtClean="0"/>
                  <a:t>and classify </a:t>
                </a:r>
                <a14:m>
                  <m:oMath xmlns:m="http://schemas.openxmlformats.org/officeDocument/2006/math">
                    <m:r>
                      <a:rPr lang="en-US" altLang="zh-TW" b="0" i="1" smtClean="0">
                        <a:latin typeface="Cambria Math" panose="02040503050406030204" pitchFamily="18" charset="0"/>
                      </a:rPr>
                      <m:t>𝑢</m:t>
                    </m:r>
                  </m:oMath>
                </a14:m>
                <a:r>
                  <a:rPr lang="en-US" altLang="zh-TW" dirty="0" smtClean="0"/>
                  <a:t> as heavy. The remaining children are light.</a:t>
                </a:r>
              </a:p>
              <a:p>
                <a:r>
                  <a:rPr lang="en-US" altLang="zh-TW" dirty="0" smtClean="0"/>
                  <a:t>An edge to a light child is light edge, to a heavy child is heavy edge.</a:t>
                </a:r>
              </a:p>
              <a:p>
                <a14:m>
                  <m:oMath xmlns:m="http://schemas.openxmlformats.org/officeDocument/2006/math">
                    <m:r>
                      <a:rPr lang="en-US" altLang="zh-TW" b="0" i="1" smtClean="0">
                        <a:latin typeface="Cambria Math" panose="02040503050406030204" pitchFamily="18" charset="0"/>
                      </a:rPr>
                      <m:t>𝑙𝑑𝑒𝑝𝑡h</m:t>
                    </m:r>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rPr>
                      <m:t>)</m:t>
                    </m:r>
                  </m:oMath>
                </a14:m>
                <a:r>
                  <a:rPr lang="en-US" altLang="zh-TW" dirty="0" smtClean="0"/>
                  <a:t>, is the # of light edges on the path from </a:t>
                </a:r>
                <a14:m>
                  <m:oMath xmlns:m="http://schemas.openxmlformats.org/officeDocument/2006/math">
                    <m:r>
                      <a:rPr lang="en-US" altLang="zh-TW" b="0" i="1" smtClean="0">
                        <a:latin typeface="Cambria Math" panose="02040503050406030204" pitchFamily="18" charset="0"/>
                      </a:rPr>
                      <m:t>𝑣</m:t>
                    </m:r>
                  </m:oMath>
                </a14:m>
                <a:r>
                  <a:rPr lang="en-US" altLang="zh-TW" dirty="0" smtClean="0"/>
                  <a:t> to the root.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2241" r="-202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24999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Klein’s 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buNone/>
                </a:pPr>
                <a:r>
                  <a:rPr lang="en-US" altLang="zh-TW" b="1" dirty="0" smtClean="0"/>
                  <a:t>Lemma 5</a:t>
                </a:r>
                <a:r>
                  <a:rPr lang="en-US" altLang="zh-TW" dirty="0" smtClean="0"/>
                  <a:t> </a:t>
                </a:r>
                <a14:m>
                  <m:oMath xmlns:m="http://schemas.openxmlformats.org/officeDocument/2006/math">
                    <m:r>
                      <a:rPr lang="en-US" altLang="zh-TW" b="0" i="1" smtClean="0">
                        <a:latin typeface="Cambria Math" panose="02040503050406030204" pitchFamily="18" charset="0"/>
                      </a:rPr>
                      <m:t>𝐹𝑜𝑟</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𝑎𝑛𝑦</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𝑡𝑟𝑒𝑒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𝑇</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𝑎𝑛𝑑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𝑉</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𝑇</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𝑙𝑑𝑒𝑝𝑡h</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𝑣</m:t>
                        </m:r>
                      </m:e>
                    </m:d>
                    <m:r>
                      <a:rPr lang="en-US" altLang="zh-TW" b="0" i="1"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log</m:t>
                        </m:r>
                      </m:fName>
                      <m:e>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𝑇</m:t>
                            </m:r>
                          </m:e>
                        </m:d>
                      </m:e>
                    </m:func>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𝑂</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1</m:t>
                        </m:r>
                      </m:e>
                    </m:d>
                    <m:r>
                      <a:rPr lang="en-US" altLang="zh-TW" b="0" i="1" smtClean="0">
                        <a:latin typeface="Cambria Math" panose="02040503050406030204" pitchFamily="18" charset="0"/>
                        <a:ea typeface="Cambria Math" panose="02040503050406030204" pitchFamily="18" charset="0"/>
                      </a:rPr>
                      <m:t>.</m:t>
                    </m:r>
                  </m:oMath>
                </a14:m>
                <a:endParaRPr lang="en-US" altLang="zh-TW" dirty="0" smtClean="0"/>
              </a:p>
              <a:p>
                <a:pPr marL="0" indent="0">
                  <a:buNone/>
                </a:pPr>
                <a:r>
                  <a:rPr lang="en-US" altLang="zh-TW" b="1" dirty="0" smtClean="0"/>
                  <a:t>Lemma 6</a:t>
                </a:r>
                <a:r>
                  <a:rPr lang="en-US" altLang="zh-TW" dirty="0" smtClean="0"/>
                  <a:t> </a:t>
                </a:r>
                <a14:m>
                  <m:oMath xmlns:m="http://schemas.openxmlformats.org/officeDocument/2006/math">
                    <m:r>
                      <a:rPr lang="en-US" altLang="zh-TW" b="0" i="1" smtClean="0">
                        <a:latin typeface="Cambria Math" panose="02040503050406030204" pitchFamily="18" charset="0"/>
                      </a:rPr>
                      <m:t>𝐹𝑜𝑟</m:t>
                    </m:r>
                    <m:r>
                      <a:rPr lang="en-US" altLang="zh-TW" b="0" i="1" smtClean="0">
                        <a:latin typeface="Cambria Math" panose="02040503050406030204" pitchFamily="18" charset="0"/>
                      </a:rPr>
                      <m:t> </m:t>
                    </m:r>
                    <m:r>
                      <a:rPr lang="en-US" altLang="zh-TW" b="0" i="1" smtClean="0">
                        <a:latin typeface="Cambria Math" panose="02040503050406030204" pitchFamily="18" charset="0"/>
                      </a:rPr>
                      <m:t>𝑎𝑛</m:t>
                    </m:r>
                    <m:r>
                      <a:rPr lang="en-US" altLang="zh-TW" b="0" i="1" smtClean="0">
                        <a:latin typeface="Cambria Math" panose="02040503050406030204" pitchFamily="18" charset="0"/>
                      </a:rPr>
                      <m:t> </m:t>
                    </m:r>
                    <m:r>
                      <a:rPr lang="en-US" altLang="zh-TW" b="0" i="1" smtClean="0">
                        <a:latin typeface="Cambria Math" panose="02040503050406030204" pitchFamily="18" charset="0"/>
                      </a:rPr>
                      <m:t>𝑜𝑟𝑑𝑒𝑟𝑒𝑑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𝑡𝑟𝑒𝑒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𝑇</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m:t>
                    </m:r>
                    <m:r>
                      <a:rPr lang="en-US" altLang="zh-TW" b="0" i="1" smtClean="0">
                        <a:latin typeface="Cambria Math" panose="02040503050406030204" pitchFamily="18" charset="0"/>
                      </a:rPr>
                      <m:t> # </m:t>
                    </m:r>
                    <m:r>
                      <a:rPr lang="en-US" altLang="zh-TW" b="0" i="1" smtClean="0">
                        <a:latin typeface="Cambria Math" panose="02040503050406030204" pitchFamily="18" charset="0"/>
                      </a:rPr>
                      <m:t>𝑜𝑓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𝑟𝑒𝑙𝑒𝑣𝑎𝑛𝑡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𝑠𝑢𝑏𝑝𝑟𝑜𝑏𝑙𝑒𝑚𝑠</m:t>
                    </m:r>
                    <m:r>
                      <a:rPr lang="en-US" altLang="zh-TW" b="0" i="1" smtClean="0">
                        <a:latin typeface="Cambria Math" panose="02040503050406030204" pitchFamily="18" charset="0"/>
                      </a:rPr>
                      <m:t> </m:t>
                    </m:r>
                  </m:oMath>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𝑤𝑖𝑡h</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𝑟𝑒𝑠𝑝𝑒𝑐𝑡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𝑡h𝑒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𝑙𝑖𝑔h𝑡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𝑛𝑜𝑑𝑒𝑠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𝑏𝑜𝑢𝑛𝑑𝑒𝑑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𝑏𝑦</m:t>
                      </m:r>
                      <m:r>
                        <a:rPr lang="en-US" altLang="zh-TW" b="0" i="1" smtClean="0">
                          <a:latin typeface="Cambria Math" panose="02040503050406030204" pitchFamily="18" charset="0"/>
                        </a:rPr>
                        <m:t> </m:t>
                      </m:r>
                      <m:r>
                        <a:rPr lang="en-US" altLang="zh-TW" b="0" i="1" smtClean="0">
                          <a:latin typeface="Cambria Math" panose="02040503050406030204" pitchFamily="18" charset="0"/>
                        </a:rPr>
                        <m:t>𝑂</m:t>
                      </m:r>
                      <m:d>
                        <m:dPr>
                          <m:ctrlPr>
                            <a:rPr lang="en-US" altLang="zh-TW" b="0" i="1" smtClean="0">
                              <a:latin typeface="Cambria Math" panose="02040503050406030204" pitchFamily="18" charset="0"/>
                            </a:rPr>
                          </m:ctrlPr>
                        </m:dPr>
                        <m:e>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𝑇</m:t>
                              </m:r>
                            </m:e>
                          </m:d>
                          <m:r>
                            <a:rPr lang="en-US" altLang="zh-TW" b="0" i="1" smtClean="0">
                              <a:latin typeface="Cambria Math" panose="02040503050406030204" pitchFamily="18" charset="0"/>
                            </a:rPr>
                            <m:t>𝑙𝑑𝑒𝑝𝑡h</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𝑇</m:t>
                              </m:r>
                            </m:e>
                          </m:d>
                        </m:e>
                      </m:d>
                      <m:r>
                        <a:rPr lang="en-US" altLang="zh-TW" b="0" i="1" smtClean="0">
                          <a:latin typeface="Cambria Math" panose="02040503050406030204" pitchFamily="18" charset="0"/>
                        </a:rPr>
                        <m:t>.</m:t>
                      </m:r>
                    </m:oMath>
                  </m:oMathPara>
                </a14:m>
                <a:endParaRPr lang="en-US" altLang="zh-TW" dirty="0" smtClean="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516505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Constrained edit distance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𝛿</m:t>
                        </m:r>
                      </m:e>
                      <m:sub>
                        <m:r>
                          <a:rPr lang="en-US" altLang="zh-TW" b="0" i="1" smtClean="0">
                            <a:latin typeface="Cambria Math" panose="02040503050406030204" pitchFamily="18" charset="0"/>
                          </a:rPr>
                          <m:t>𝑐</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oMath>
                </a14:m>
                <a:r>
                  <a:rPr lang="en-US" altLang="zh-TW" dirty="0" smtClean="0"/>
                  <a:t> is defined as a minimum cost mapping </a:t>
                </a:r>
                <a14:m>
                  <m:oMath xmlns:m="http://schemas.openxmlformats.org/officeDocument/2006/math">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𝑀</m:t>
                        </m:r>
                      </m:e>
                      <m:sub>
                        <m:r>
                          <a:rPr lang="en-US" altLang="zh-TW" b="0" i="1" smtClean="0">
                            <a:latin typeface="Cambria Math" panose="02040503050406030204" pitchFamily="18" charset="0"/>
                          </a:rPr>
                          <m:t>𝑐</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oMath>
                </a14:m>
                <a:r>
                  <a:rPr lang="en-US" altLang="zh-TW" dirty="0" smtClean="0"/>
                  <a:t> , for all </a:t>
                </a:r>
                <a14:m>
                  <m:oMath xmlns:m="http://schemas.openxmlformats.org/officeDocument/2006/math">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2</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2</m:t>
                            </m:r>
                          </m:sub>
                        </m:sSub>
                      </m:e>
                    </m:d>
                    <m:r>
                      <a:rPr lang="en-US" altLang="zh-TW" b="0" i="1" smtClean="0">
                        <a:latin typeface="Cambria Math" panose="02040503050406030204" pitchFamily="18" charset="0"/>
                      </a:rPr>
                      <m:t>,</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3</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3</m:t>
                        </m:r>
                      </m:sub>
                    </m:sSub>
                    <m:r>
                      <a:rPr lang="en-US" altLang="zh-TW" i="1">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𝑀</m:t>
                        </m:r>
                      </m:e>
                      <m:sub>
                        <m:r>
                          <a:rPr lang="en-US" altLang="zh-TW" b="0" i="1" smtClean="0">
                            <a:latin typeface="Cambria Math" panose="02040503050406030204" pitchFamily="18" charset="0"/>
                            <a:ea typeface="Cambria Math" panose="02040503050406030204" pitchFamily="18" charset="0"/>
                          </a:rPr>
                          <m:t>𝑐</m:t>
                        </m:r>
                      </m:sub>
                    </m:sSub>
                  </m:oMath>
                </a14:m>
                <a:endParaRPr lang="en-US" altLang="zh-TW" dirty="0" smtClean="0"/>
              </a:p>
              <a:p>
                <a14:m>
                  <m:oMath xmlns:m="http://schemas.openxmlformats.org/officeDocument/2006/math">
                    <m:r>
                      <a:rPr lang="en-US" altLang="zh-TW" b="0" i="1" smtClean="0">
                        <a:latin typeface="Cambria Math" panose="02040503050406030204" pitchFamily="18" charset="0"/>
                      </a:rPr>
                      <m:t>𝑛𝑎𝑐</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oMath>
                </a14:m>
                <a:r>
                  <a:rPr lang="zh-TW" altLang="en-US" dirty="0" smtClean="0"/>
                  <a:t> </a:t>
                </a:r>
                <a:r>
                  <a:rPr lang="en-US" altLang="zh-TW" dirty="0" smtClean="0"/>
                  <a:t>is a proper ancestor of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3</m:t>
                        </m:r>
                      </m:sub>
                    </m:sSub>
                  </m:oMath>
                </a14:m>
                <a:r>
                  <a:rPr lang="zh-TW" altLang="en-US" dirty="0" smtClean="0"/>
                  <a:t> </a:t>
                </a:r>
                <a:r>
                  <a:rPr lang="en-US" altLang="zh-TW" dirty="0" smtClean="0"/>
                  <a:t>iff </a:t>
                </a:r>
                <a14:m>
                  <m:oMath xmlns:m="http://schemas.openxmlformats.org/officeDocument/2006/math">
                    <m:r>
                      <a:rPr lang="en-US" altLang="zh-TW" i="1">
                        <a:latin typeface="Cambria Math" panose="02040503050406030204" pitchFamily="18" charset="0"/>
                      </a:rPr>
                      <m:t>𝑛𝑎𝑐</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2</m:t>
                        </m:r>
                      </m:sub>
                    </m:sSub>
                    <m:r>
                      <a:rPr lang="en-US" altLang="zh-TW" i="1">
                        <a:latin typeface="Cambria Math" panose="02040503050406030204" pitchFamily="18" charset="0"/>
                      </a:rPr>
                      <m:t>)</m:t>
                    </m:r>
                  </m:oMath>
                </a14:m>
                <a:r>
                  <a:rPr lang="zh-TW" altLang="en-US" dirty="0"/>
                  <a:t> </a:t>
                </a:r>
                <a:r>
                  <a:rPr lang="en-US" altLang="zh-TW" dirty="0"/>
                  <a:t>is a proper ancestor of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3</m:t>
                        </m:r>
                      </m:sub>
                    </m:sSub>
                  </m:oMath>
                </a14:m>
                <a:r>
                  <a:rPr lang="en-US" altLang="zh-TW" dirty="0" smtClean="0"/>
                  <a:t>.</a:t>
                </a:r>
              </a:p>
              <a:p>
                <a:pPr marL="0" indent="0">
                  <a:buNone/>
                </a:pPr>
                <a:endParaRPr lang="en-US" altLang="zh-TW" i="1" dirty="0" smtClean="0">
                  <a:latin typeface="Cambria Math" panose="02040503050406030204" pitchFamily="18" charset="0"/>
                </a:endParaRPr>
              </a:p>
              <a:p>
                <a:pPr marL="0" indent="0">
                  <a:buNone/>
                </a:pP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𝛿</m:t>
                        </m:r>
                      </m:e>
                      <m:sub>
                        <m:r>
                          <a:rPr lang="en-US" altLang="zh-TW" b="0" i="1" smtClean="0">
                            <a:latin typeface="Cambria Math" panose="02040503050406030204" pitchFamily="18" charset="0"/>
                          </a:rPr>
                          <m:t>𝑠</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2</m:t>
                        </m:r>
                      </m:sub>
                    </m:sSub>
                    <m:r>
                      <a:rPr lang="en-US" altLang="zh-TW" i="1">
                        <a:latin typeface="Cambria Math" panose="02040503050406030204" pitchFamily="18" charset="0"/>
                      </a:rPr>
                      <m:t>)</m:t>
                    </m:r>
                  </m:oMath>
                </a14:m>
                <a:r>
                  <a:rPr lang="en-US" altLang="zh-TW" dirty="0"/>
                  <a:t> is defined as a minimum cost mapping </a:t>
                </a:r>
                <a14:m>
                  <m:oMath xmlns:m="http://schemas.openxmlformats.org/officeDocument/2006/math">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𝑀</m:t>
                        </m:r>
                      </m:e>
                      <m:sub>
                        <m:r>
                          <a:rPr lang="en-US" altLang="zh-TW" b="0" i="1" smtClean="0">
                            <a:latin typeface="Cambria Math" panose="02040503050406030204" pitchFamily="18" charset="0"/>
                          </a:rPr>
                          <m:t>𝑠</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2</m:t>
                        </m:r>
                      </m:sub>
                    </m:sSub>
                    <m:r>
                      <a:rPr lang="en-US" altLang="zh-TW" i="1">
                        <a:latin typeface="Cambria Math" panose="02040503050406030204" pitchFamily="18" charset="0"/>
                      </a:rPr>
                      <m:t>)</m:t>
                    </m:r>
                  </m:oMath>
                </a14:m>
                <a:r>
                  <a:rPr lang="en-US" altLang="zh-TW" dirty="0"/>
                  <a:t> , for all </a:t>
                </a:r>
                <a14:m>
                  <m:oMath xmlns:m="http://schemas.openxmlformats.org/officeDocument/2006/math">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1</m:t>
                            </m:r>
                          </m:sub>
                        </m:sSub>
                      </m:e>
                    </m:d>
                    <m:r>
                      <a:rPr lang="en-US" altLang="zh-TW" i="1">
                        <a:latin typeface="Cambria Math" panose="02040503050406030204" pitchFamily="18" charset="0"/>
                      </a:rPr>
                      <m:t>,</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2</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2</m:t>
                            </m:r>
                          </m:sub>
                        </m:sSub>
                      </m:e>
                    </m:d>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3</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3</m:t>
                        </m:r>
                      </m:sub>
                    </m:sSub>
                    <m:r>
                      <a:rPr lang="en-US" altLang="zh-TW"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𝑀</m:t>
                        </m:r>
                      </m:e>
                      <m:sub>
                        <m:r>
                          <a:rPr lang="en-US" altLang="zh-TW" b="0" i="1" smtClean="0">
                            <a:latin typeface="Cambria Math" panose="02040503050406030204" pitchFamily="18" charset="0"/>
                            <a:ea typeface="Cambria Math" panose="02040503050406030204" pitchFamily="18" charset="0"/>
                          </a:rPr>
                          <m:t>𝑠</m:t>
                        </m:r>
                      </m:sub>
                    </m:sSub>
                  </m:oMath>
                </a14:m>
                <a:r>
                  <a:rPr lang="en-US" altLang="zh-TW" dirty="0" smtClean="0"/>
                  <a:t> </a:t>
                </a:r>
                <a:r>
                  <a:rPr lang="en-US" altLang="zh-TW" dirty="0"/>
                  <a:t>such that none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2</m:t>
                        </m:r>
                      </m:sub>
                    </m:sSub>
                  </m:oMath>
                </a14:m>
                <a:r>
                  <a:rPr lang="en-US" altLang="zh-TW" dirty="0"/>
                  <a:t> 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3</m:t>
                        </m:r>
                      </m:sub>
                    </m:sSub>
                  </m:oMath>
                </a14:m>
                <a:r>
                  <a:rPr lang="en-US" altLang="zh-TW" dirty="0"/>
                  <a:t> is an ancestor of the </a:t>
                </a:r>
                <a:r>
                  <a:rPr lang="en-US" altLang="zh-TW" dirty="0" smtClean="0"/>
                  <a:t>others.</a:t>
                </a:r>
                <a:endParaRPr lang="en-US" altLang="zh-TW" dirty="0"/>
              </a:p>
              <a:p>
                <a14:m>
                  <m:oMath xmlns:m="http://schemas.openxmlformats.org/officeDocument/2006/math">
                    <m:r>
                      <a:rPr lang="en-US" altLang="zh-TW" i="1">
                        <a:latin typeface="Cambria Math" panose="02040503050406030204" pitchFamily="18" charset="0"/>
                      </a:rPr>
                      <m:t>𝑛𝑎𝑐</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2</m:t>
                            </m:r>
                          </m:sub>
                        </m:sSub>
                      </m:e>
                    </m:d>
                    <m:r>
                      <a:rPr lang="en-US" altLang="zh-TW" b="0" i="0" smtClean="0">
                        <a:latin typeface="Cambria Math" panose="02040503050406030204" pitchFamily="18" charset="0"/>
                      </a:rPr>
                      <m:t>=</m:t>
                    </m:r>
                    <m:r>
                      <a:rPr lang="en-US" altLang="zh-TW" i="1">
                        <a:latin typeface="Cambria Math" panose="02040503050406030204" pitchFamily="18" charset="0"/>
                      </a:rPr>
                      <m:t>𝑛𝑎𝑐</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3</m:t>
                        </m:r>
                      </m:sub>
                    </m:sSub>
                    <m:r>
                      <a:rPr lang="en-US" altLang="zh-TW" i="1">
                        <a:latin typeface="Cambria Math" panose="02040503050406030204" pitchFamily="18" charset="0"/>
                      </a:rPr>
                      <m:t>)</m:t>
                    </m:r>
                  </m:oMath>
                </a14:m>
                <a:r>
                  <a:rPr lang="zh-TW" altLang="en-US" dirty="0"/>
                  <a:t> </a:t>
                </a:r>
                <a:r>
                  <a:rPr lang="zh-TW" altLang="en-US" dirty="0" smtClean="0"/>
                  <a:t> </a:t>
                </a:r>
                <a:r>
                  <a:rPr lang="en-US" altLang="zh-TW" dirty="0" smtClean="0"/>
                  <a:t>iff </a:t>
                </a:r>
                <a14:m>
                  <m:oMath xmlns:m="http://schemas.openxmlformats.org/officeDocument/2006/math">
                    <m:r>
                      <a:rPr lang="en-US" altLang="zh-TW" i="1">
                        <a:latin typeface="Cambria Math" panose="02040503050406030204" pitchFamily="18" charset="0"/>
                      </a:rPr>
                      <m:t>𝑛𝑎𝑐</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2</m:t>
                            </m:r>
                          </m:sub>
                        </m:sSub>
                      </m:e>
                    </m:d>
                    <m:r>
                      <a:rPr lang="en-US" altLang="zh-TW" b="0" i="1" smtClean="0">
                        <a:latin typeface="Cambria Math" panose="02040503050406030204" pitchFamily="18" charset="0"/>
                      </a:rPr>
                      <m:t>=</m:t>
                    </m:r>
                    <m:r>
                      <a:rPr lang="en-US" altLang="zh-TW" i="1">
                        <a:latin typeface="Cambria Math" panose="02040503050406030204" pitchFamily="18" charset="0"/>
                      </a:rPr>
                      <m:t>𝑛𝑎𝑐</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3</m:t>
                        </m:r>
                      </m:sub>
                    </m:sSub>
                    <m:r>
                      <a:rPr lang="en-US" altLang="zh-TW" i="1">
                        <a:latin typeface="Cambria Math" panose="02040503050406030204" pitchFamily="18" charset="0"/>
                      </a:rPr>
                      <m:t>)</m:t>
                    </m:r>
                  </m:oMath>
                </a14:m>
                <a:r>
                  <a:rPr lang="en-US" altLang="zh-TW" dirty="0" smtClean="0"/>
                  <a:t>.</a:t>
                </a:r>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65662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Constrained edit distance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zh-TW" altLang="en-US" i="1">
                            <a:latin typeface="Cambria Math" panose="02040503050406030204" pitchFamily="18" charset="0"/>
                          </a:rPr>
                          <m:t>𝛿</m:t>
                        </m:r>
                      </m:e>
                      <m:sub>
                        <m:r>
                          <a:rPr lang="en-US" altLang="zh-TW" b="0" i="1" smtClean="0">
                            <a:latin typeface="Cambria Math" panose="02040503050406030204" pitchFamily="18" charset="0"/>
                          </a:rPr>
                          <m:t>𝑙</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2</m:t>
                        </m:r>
                      </m:sub>
                    </m:sSub>
                    <m:r>
                      <a:rPr lang="en-US" altLang="zh-TW" i="1">
                        <a:latin typeface="Cambria Math" panose="02040503050406030204" pitchFamily="18" charset="0"/>
                      </a:rPr>
                      <m:t>)</m:t>
                    </m:r>
                  </m:oMath>
                </a14:m>
                <a:r>
                  <a:rPr lang="en-US" altLang="zh-TW" dirty="0"/>
                  <a:t> is defined as a minimum cost mapping </a:t>
                </a:r>
                <a14:m>
                  <m:oMath xmlns:m="http://schemas.openxmlformats.org/officeDocument/2006/math">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𝑀</m:t>
                        </m:r>
                      </m:e>
                      <m:sub>
                        <m:r>
                          <a:rPr lang="en-US" altLang="zh-TW" b="0" i="1" smtClean="0">
                            <a:latin typeface="Cambria Math" panose="02040503050406030204" pitchFamily="18" charset="0"/>
                          </a:rPr>
                          <m:t>𝑙</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2</m:t>
                        </m:r>
                      </m:sub>
                    </m:sSub>
                    <m:r>
                      <a:rPr lang="en-US" altLang="zh-TW" i="1">
                        <a:latin typeface="Cambria Math" panose="02040503050406030204" pitchFamily="18" charset="0"/>
                      </a:rPr>
                      <m:t>)</m:t>
                    </m:r>
                  </m:oMath>
                </a14:m>
                <a:r>
                  <a:rPr lang="en-US" altLang="zh-TW" dirty="0"/>
                  <a:t> , for all </a:t>
                </a:r>
                <a14:m>
                  <m:oMath xmlns:m="http://schemas.openxmlformats.org/officeDocument/2006/math">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1</m:t>
                            </m:r>
                          </m:sub>
                        </m:sSub>
                      </m:e>
                    </m:d>
                    <m:r>
                      <a:rPr lang="en-US" altLang="zh-TW" i="1">
                        <a:latin typeface="Cambria Math" panose="02040503050406030204" pitchFamily="18" charset="0"/>
                      </a:rPr>
                      <m:t>,</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2</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2</m:t>
                            </m:r>
                          </m:sub>
                        </m:sSub>
                      </m:e>
                    </m:d>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3</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3</m:t>
                        </m:r>
                      </m:sub>
                    </m:sSub>
                    <m:r>
                      <a:rPr lang="en-US" altLang="zh-TW"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𝑀</m:t>
                        </m:r>
                      </m:e>
                      <m:sub>
                        <m:r>
                          <a:rPr lang="en-US" altLang="zh-TW" b="0" i="1" smtClean="0">
                            <a:latin typeface="Cambria Math" panose="02040503050406030204" pitchFamily="18" charset="0"/>
                            <a:ea typeface="Cambria Math" panose="02040503050406030204" pitchFamily="18" charset="0"/>
                          </a:rPr>
                          <m:t>𝑙</m:t>
                        </m:r>
                      </m:sub>
                    </m:sSub>
                  </m:oMath>
                </a14:m>
                <a:r>
                  <a:rPr lang="en-US" altLang="zh-TW" dirty="0" smtClean="0"/>
                  <a:t> such that none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oMath>
                </a14:m>
                <a:r>
                  <a:rPr lang="en-US" altLang="zh-TW" dirty="0" smtClean="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2</m:t>
                        </m:r>
                      </m:sub>
                    </m:sSub>
                  </m:oMath>
                </a14:m>
                <a:r>
                  <a:rPr lang="en-US" altLang="zh-TW" dirty="0" smtClean="0"/>
                  <a:t> 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3</m:t>
                        </m:r>
                      </m:sub>
                    </m:sSub>
                  </m:oMath>
                </a14:m>
                <a:r>
                  <a:rPr lang="en-US" altLang="zh-TW" dirty="0" smtClean="0"/>
                  <a:t> is an ancestor of the others. </a:t>
                </a:r>
              </a:p>
              <a:p>
                <a14:m>
                  <m:oMath xmlns:m="http://schemas.openxmlformats.org/officeDocument/2006/math">
                    <m:r>
                      <a:rPr lang="en-US" altLang="zh-TW" b="0" i="1" smtClean="0">
                        <a:latin typeface="Cambria Math" panose="02040503050406030204" pitchFamily="18" charset="0"/>
                      </a:rPr>
                      <m:t>𝑑𝑒𝑝𝑡h</m:t>
                    </m:r>
                    <m:r>
                      <a:rPr lang="en-US" altLang="zh-TW" b="0" i="1" smtClean="0">
                        <a:latin typeface="Cambria Math" panose="02040503050406030204" pitchFamily="18" charset="0"/>
                      </a:rPr>
                      <m:t>(</m:t>
                    </m:r>
                    <m:r>
                      <a:rPr lang="en-US" altLang="zh-TW" i="1">
                        <a:latin typeface="Cambria Math" panose="02040503050406030204" pitchFamily="18" charset="0"/>
                      </a:rPr>
                      <m:t>𝑛𝑎𝑐</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2</m:t>
                            </m:r>
                          </m:sub>
                        </m:sSub>
                      </m:e>
                    </m:d>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rPr>
                      <m:t>𝑑𝑒𝑝𝑡h</m:t>
                    </m:r>
                    <m:r>
                      <a:rPr lang="en-US" altLang="zh-TW" i="1">
                        <a:latin typeface="Cambria Math" panose="02040503050406030204" pitchFamily="18" charset="0"/>
                      </a:rPr>
                      <m:t>(</m:t>
                    </m:r>
                    <m:r>
                      <a:rPr lang="en-US" altLang="zh-TW" i="1">
                        <a:latin typeface="Cambria Math" panose="02040503050406030204" pitchFamily="18" charset="0"/>
                      </a:rPr>
                      <m:t>𝑛𝑎𝑐</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3</m:t>
                            </m:r>
                          </m:sub>
                        </m:sSub>
                      </m:e>
                    </m:d>
                    <m:r>
                      <a:rPr lang="en-US" altLang="zh-TW" i="1">
                        <a:latin typeface="Cambria Math" panose="02040503050406030204" pitchFamily="18" charset="0"/>
                      </a:rPr>
                      <m:t>)</m:t>
                    </m:r>
                  </m:oMath>
                </a14:m>
                <a:r>
                  <a:rPr lang="zh-TW" altLang="en-US" dirty="0" smtClean="0"/>
                  <a:t> </a:t>
                </a:r>
                <a:r>
                  <a:rPr lang="en-US" altLang="zh-TW" dirty="0" smtClean="0"/>
                  <a:t>and also </a:t>
                </a:r>
                <a14:m>
                  <m:oMath xmlns:m="http://schemas.openxmlformats.org/officeDocument/2006/math">
                    <m:r>
                      <a:rPr lang="en-US" altLang="zh-TW" i="1">
                        <a:latin typeface="Cambria Math" panose="02040503050406030204" pitchFamily="18" charset="0"/>
                      </a:rPr>
                      <m:t>𝑛𝑎𝑐</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2</m:t>
                            </m:r>
                          </m:sub>
                        </m:sSub>
                      </m:e>
                    </m:d>
                    <m:r>
                      <a:rPr lang="en-US" altLang="zh-TW" b="0" i="1" smtClean="0">
                        <a:latin typeface="Cambria Math" panose="02040503050406030204" pitchFamily="18" charset="0"/>
                      </a:rPr>
                      <m:t>=</m:t>
                    </m:r>
                    <m:r>
                      <a:rPr lang="en-US" altLang="zh-TW" i="1">
                        <a:latin typeface="Cambria Math" panose="02040503050406030204" pitchFamily="18" charset="0"/>
                      </a:rPr>
                      <m:t>𝑛𝑎𝑐</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3</m:t>
                            </m:r>
                          </m:sub>
                        </m:sSub>
                      </m:e>
                    </m:d>
                  </m:oMath>
                </a14:m>
                <a:r>
                  <a:rPr lang="zh-TW" altLang="en-US" dirty="0" smtClean="0"/>
                  <a:t> </a:t>
                </a:r>
                <a:r>
                  <a:rPr lang="en-US" altLang="zh-TW" dirty="0" smtClean="0"/>
                  <a:t>iff </a:t>
                </a:r>
                <a14:m>
                  <m:oMath xmlns:m="http://schemas.openxmlformats.org/officeDocument/2006/math">
                    <m:r>
                      <a:rPr lang="en-US" altLang="zh-TW" i="1">
                        <a:latin typeface="Cambria Math" panose="02040503050406030204" pitchFamily="18" charset="0"/>
                      </a:rPr>
                      <m:t>𝑑𝑒𝑝𝑡h</m:t>
                    </m:r>
                    <m:r>
                      <a:rPr lang="en-US" altLang="zh-TW" i="1">
                        <a:latin typeface="Cambria Math" panose="02040503050406030204" pitchFamily="18" charset="0"/>
                      </a:rPr>
                      <m:t>(</m:t>
                    </m:r>
                    <m:r>
                      <a:rPr lang="en-US" altLang="zh-TW" i="1">
                        <a:latin typeface="Cambria Math" panose="02040503050406030204" pitchFamily="18" charset="0"/>
                      </a:rPr>
                      <m:t>𝑛𝑎𝑐</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2</m:t>
                            </m:r>
                          </m:sub>
                        </m:sSub>
                      </m:e>
                    </m:d>
                    <m:r>
                      <a:rPr lang="en-US" altLang="zh-TW" i="1">
                        <a:latin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rPr>
                      <m:t>𝑑𝑒𝑝𝑡h</m:t>
                    </m:r>
                    <m:r>
                      <a:rPr lang="en-US" altLang="zh-TW" i="1">
                        <a:latin typeface="Cambria Math" panose="02040503050406030204" pitchFamily="18" charset="0"/>
                      </a:rPr>
                      <m:t>(</m:t>
                    </m:r>
                    <m:r>
                      <a:rPr lang="en-US" altLang="zh-TW" i="1">
                        <a:latin typeface="Cambria Math" panose="02040503050406030204" pitchFamily="18" charset="0"/>
                      </a:rPr>
                      <m:t>𝑛𝑎𝑐</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3</m:t>
                            </m:r>
                          </m:sub>
                        </m:sSub>
                      </m:e>
                    </m:d>
                    <m:r>
                      <a:rPr lang="en-US" altLang="zh-TW" i="1">
                        <a:latin typeface="Cambria Math" panose="02040503050406030204" pitchFamily="18" charset="0"/>
                      </a:rPr>
                      <m:t>)</m:t>
                    </m:r>
                  </m:oMath>
                </a14:m>
                <a:r>
                  <a:rPr lang="zh-TW" altLang="en-US" dirty="0"/>
                  <a:t> </a:t>
                </a:r>
                <a:r>
                  <a:rPr lang="en-US" altLang="zh-TW" dirty="0"/>
                  <a:t>and also </a:t>
                </a:r>
                <a14:m>
                  <m:oMath xmlns:m="http://schemas.openxmlformats.org/officeDocument/2006/math">
                    <m:r>
                      <a:rPr lang="en-US" altLang="zh-TW" i="1">
                        <a:latin typeface="Cambria Math" panose="02040503050406030204" pitchFamily="18" charset="0"/>
                      </a:rPr>
                      <m:t>𝑛𝑎𝑐</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2</m:t>
                            </m:r>
                          </m:sub>
                        </m:sSub>
                      </m:e>
                    </m:d>
                    <m:r>
                      <a:rPr lang="en-US" altLang="zh-TW" i="1">
                        <a:latin typeface="Cambria Math" panose="02040503050406030204" pitchFamily="18" charset="0"/>
                      </a:rPr>
                      <m:t>=</m:t>
                    </m:r>
                    <m:r>
                      <a:rPr lang="en-US" altLang="zh-TW" i="1">
                        <a:latin typeface="Cambria Math" panose="02040503050406030204" pitchFamily="18" charset="0"/>
                      </a:rPr>
                      <m:t>𝑛𝑎𝑐</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i="1">
                                <a:latin typeface="Cambria Math" panose="02040503050406030204" pitchFamily="18" charset="0"/>
                              </a:rPr>
                              <m:t>3</m:t>
                            </m:r>
                          </m:sub>
                        </m:sSub>
                      </m:e>
                    </m:d>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t="-2241" r="-104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56086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Constrained edit distance</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4375" y="1343712"/>
            <a:ext cx="7663249" cy="5328353"/>
          </a:xfrm>
        </p:spPr>
      </p:pic>
    </p:spTree>
    <p:extLst>
      <p:ext uri="{BB962C8B-B14F-4D97-AF65-F5344CB8AC3E}">
        <p14:creationId xmlns:p14="http://schemas.microsoft.com/office/powerpoint/2010/main" val="17288136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Tree Alignment Distance</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913" y="2822534"/>
            <a:ext cx="11470174" cy="3193255"/>
          </a:xfrm>
        </p:spPr>
      </p:pic>
    </p:spTree>
    <p:extLst>
      <p:ext uri="{BB962C8B-B14F-4D97-AF65-F5344CB8AC3E}">
        <p14:creationId xmlns:p14="http://schemas.microsoft.com/office/powerpoint/2010/main" val="69452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Tree Alignment Distance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5465512"/>
              </a:xfrm>
            </p:spPr>
            <p:txBody>
              <a:bodyPr>
                <a:normAutofit/>
              </a:bodyPr>
              <a:lstStyle/>
              <a:p>
                <a:pPr marL="0" indent="0">
                  <a:buNone/>
                </a:pPr>
                <a:r>
                  <a:rPr lang="en-US" altLang="zh-TW" b="1" dirty="0" smtClean="0"/>
                  <a:t>Lemma 7</a:t>
                </a:r>
                <a:r>
                  <a:rPr lang="en-US" altLang="zh-TW" dirty="0" smtClean="0"/>
                  <a:t> </a:t>
                </a:r>
                <a14:m>
                  <m:oMath xmlns:m="http://schemas.openxmlformats.org/officeDocument/2006/math">
                    <m:r>
                      <a:rPr lang="en-US" altLang="zh-TW" b="0" i="1" smtClean="0">
                        <a:latin typeface="Cambria Math" panose="02040503050406030204" pitchFamily="18" charset="0"/>
                      </a:rPr>
                      <m:t>𝐿𝑒𝑡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𝑉</m:t>
                    </m:r>
                    <m:d>
                      <m:dPr>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1</m:t>
                            </m:r>
                          </m:sub>
                        </m:sSub>
                      </m:e>
                    </m:d>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𝑎𝑛𝑑</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𝑤</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𝑉</m:t>
                    </m:r>
                    <m:d>
                      <m:dPr>
                        <m:ctrlPr>
                          <a:rPr lang="en-US" altLang="zh-TW" i="1">
                            <a:latin typeface="Cambria Math" panose="02040503050406030204" pitchFamily="18" charset="0"/>
                            <a:ea typeface="Cambria Math" panose="02040503050406030204" pitchFamily="18" charset="0"/>
                          </a:rPr>
                        </m:ctrlPr>
                      </m:dPr>
                      <m:e>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2</m:t>
                            </m:r>
                          </m:sub>
                        </m:sSub>
                      </m:e>
                    </m:d>
                    <m:r>
                      <a:rPr lang="en-US" altLang="zh-TW" b="0" i="1" smtClean="0">
                        <a:latin typeface="Cambria Math" panose="02040503050406030204" pitchFamily="18" charset="0"/>
                        <a:ea typeface="Cambria Math" panose="02040503050406030204" pitchFamily="18" charset="0"/>
                      </a:rPr>
                      <m:t> </m:t>
                    </m:r>
                  </m:oMath>
                </a14:m>
                <a:endParaRPr lang="en-US" altLang="zh-TW" b="0" i="1" dirty="0" smtClean="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ea typeface="Cambria Math" panose="02040503050406030204" pitchFamily="18" charset="0"/>
                        </a:rPr>
                        <m:t>𝑤𝑖𝑡h</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𝑐h𝑖𝑙𝑑𝑟𝑒𝑛</m:t>
                      </m:r>
                      <m:r>
                        <a:rPr lang="en-US" altLang="zh-TW" b="0" i="1" smtClean="0">
                          <a:latin typeface="Cambria Math" panose="02040503050406030204" pitchFamily="18" charset="0"/>
                          <a:ea typeface="Cambria Math" panose="02040503050406030204" pitchFamily="18" charset="0"/>
                        </a:rPr>
                        <m:t>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𝑣</m:t>
                          </m:r>
                        </m:e>
                        <m:sub>
                          <m:r>
                            <a:rPr lang="en-US" altLang="zh-TW" b="0" i="1" smtClean="0">
                              <a:latin typeface="Cambria Math" panose="02040503050406030204" pitchFamily="18" charset="0"/>
                              <a:ea typeface="Cambria Math" panose="02040503050406030204" pitchFamily="18" charset="0"/>
                            </a:rPr>
                            <m:t>1</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𝑣</m:t>
                          </m:r>
                        </m:e>
                        <m:sub>
                          <m:r>
                            <a:rPr lang="en-US" altLang="zh-TW" b="0" i="1" smtClean="0">
                              <a:latin typeface="Cambria Math" panose="02040503050406030204" pitchFamily="18" charset="0"/>
                              <a:ea typeface="Cambria Math" panose="02040503050406030204" pitchFamily="18" charset="0"/>
                            </a:rPr>
                            <m:t>𝑖</m:t>
                          </m:r>
                        </m:sub>
                      </m:sSub>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𝑎𝑛𝑑</m:t>
                      </m:r>
                      <m:r>
                        <a:rPr lang="en-US" altLang="zh-TW" b="0" i="1" smtClean="0">
                          <a:latin typeface="Cambria Math" panose="02040503050406030204" pitchFamily="18" charset="0"/>
                          <a:ea typeface="Cambria Math" panose="02040503050406030204" pitchFamily="18" charset="0"/>
                        </a:rPr>
                        <m:t>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𝑤</m:t>
                          </m:r>
                        </m:e>
                        <m:sub>
                          <m:r>
                            <a:rPr lang="en-US" altLang="zh-TW" b="0" i="1" smtClean="0">
                              <a:latin typeface="Cambria Math" panose="02040503050406030204" pitchFamily="18" charset="0"/>
                              <a:ea typeface="Cambria Math" panose="02040503050406030204" pitchFamily="18" charset="0"/>
                            </a:rPr>
                            <m:t>1</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𝑤</m:t>
                          </m:r>
                        </m:e>
                        <m:sub>
                          <m:r>
                            <a:rPr lang="en-US" altLang="zh-TW" b="0" i="1" smtClean="0">
                              <a:latin typeface="Cambria Math" panose="02040503050406030204" pitchFamily="18" charset="0"/>
                              <a:ea typeface="Cambria Math" panose="02040503050406030204" pitchFamily="18" charset="0"/>
                            </a:rPr>
                            <m:t>𝑗</m:t>
                          </m:r>
                        </m:sub>
                      </m:sSub>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𝑟𝑒𝑠𝑝𝑒𝑐𝑡𝑖𝑣𝑒𝑙𝑦</m:t>
                      </m:r>
                      <m:r>
                        <a:rPr lang="en-US" altLang="zh-TW" b="0" i="1" smtClean="0">
                          <a:latin typeface="Cambria Math" panose="02040503050406030204" pitchFamily="18" charset="0"/>
                          <a:ea typeface="Cambria Math" panose="02040503050406030204" pitchFamily="18" charset="0"/>
                        </a:rPr>
                        <m:t>.</m:t>
                      </m:r>
                    </m:oMath>
                  </m:oMathPara>
                </a14:m>
                <a:endParaRPr lang="en-US" altLang="zh-TW" b="0" dirty="0" smtClean="0">
                  <a:ea typeface="Cambria Math" panose="02040503050406030204" pitchFamily="18" charset="0"/>
                </a:endParaRPr>
              </a:p>
              <a:p>
                <a:pPr marL="0" indent="0">
                  <a:buNone/>
                </a:pPr>
                <a:r>
                  <a:rPr lang="en-US" altLang="zh-TW" dirty="0"/>
                  <a:t> </a:t>
                </a:r>
                <a:r>
                  <a:rPr lang="en-US" altLang="zh-TW" dirty="0" smtClean="0"/>
                  <a:t>               </a:t>
                </a:r>
                <a14:m>
                  <m:oMath xmlns:m="http://schemas.openxmlformats.org/officeDocument/2006/math">
                    <m:r>
                      <a:rPr lang="en-US" altLang="zh-TW" b="0" i="1" smtClean="0">
                        <a:latin typeface="Cambria Math" panose="02040503050406030204" pitchFamily="18" charset="0"/>
                      </a:rPr>
                      <m:t>𝑇h𝑒𝑛</m:t>
                    </m:r>
                    <m:r>
                      <a:rPr lang="en-US" altLang="zh-TW" b="0" i="1" smtClean="0">
                        <a:latin typeface="Cambria Math" panose="02040503050406030204" pitchFamily="18" charset="0"/>
                      </a:rPr>
                      <m:t> ,   </m:t>
                    </m:r>
                    <m:r>
                      <a:rPr lang="zh-TW" altLang="en-US" i="1" smtClean="0">
                        <a:latin typeface="Cambria Math" panose="02040503050406030204" pitchFamily="18" charset="0"/>
                      </a:rPr>
                      <m:t>𝛼</m:t>
                    </m:r>
                    <m:d>
                      <m:dPr>
                        <m:ctrlPr>
                          <a:rPr lang="en-US" altLang="zh-TW" b="0" i="1" smtClean="0">
                            <a:latin typeface="Cambria Math" panose="02040503050406030204" pitchFamily="18" charset="0"/>
                          </a:rPr>
                        </m:ctrlPr>
                      </m:dPr>
                      <m:e>
                        <m:r>
                          <a:rPr lang="zh-TW" altLang="en-US" b="0" i="1" smtClean="0">
                            <a:latin typeface="Cambria Math" panose="02040503050406030204" pitchFamily="18" charset="0"/>
                          </a:rPr>
                          <m:t>𝜃</m:t>
                        </m:r>
                        <m:r>
                          <a:rPr lang="en-US" altLang="zh-TW" b="0" i="1" smtClean="0">
                            <a:latin typeface="Cambria Math" panose="02040503050406030204" pitchFamily="18" charset="0"/>
                          </a:rPr>
                          <m:t>,</m:t>
                        </m:r>
                        <m:r>
                          <a:rPr lang="zh-TW" altLang="en-US" b="0" i="1" smtClean="0">
                            <a:latin typeface="Cambria Math" panose="02040503050406030204" pitchFamily="18" charset="0"/>
                          </a:rPr>
                          <m:t>𝜃</m:t>
                        </m:r>
                      </m:e>
                    </m:d>
                    <m:r>
                      <a:rPr lang="en-US" altLang="zh-TW" b="0" i="1" smtClean="0">
                        <a:latin typeface="Cambria Math" panose="02040503050406030204" pitchFamily="18" charset="0"/>
                      </a:rPr>
                      <m:t>=0 </m:t>
                    </m:r>
                  </m:oMath>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zh-TW" altLang="en-US" b="0" i="1" smtClean="0">
                          <a:latin typeface="Cambria Math" panose="02040503050406030204" pitchFamily="18" charset="0"/>
                        </a:rPr>
                        <m:t>𝛼</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r>
                            <a:rPr lang="en-US" altLang="zh-TW" b="0" i="1" smtClean="0">
                              <a:latin typeface="Cambria Math" panose="02040503050406030204" pitchFamily="18" charset="0"/>
                            </a:rPr>
                            <m:t>,</m:t>
                          </m:r>
                          <m:r>
                            <a:rPr lang="zh-TW" altLang="en-US" b="0" i="1" smtClean="0">
                              <a:latin typeface="Cambria Math" panose="02040503050406030204" pitchFamily="18" charset="0"/>
                            </a:rPr>
                            <m:t>𝜃</m:t>
                          </m:r>
                        </m:e>
                      </m:d>
                      <m:r>
                        <a:rPr lang="en-US" altLang="zh-TW" b="0" i="1" smtClean="0">
                          <a:latin typeface="Cambria Math" panose="02040503050406030204" pitchFamily="18" charset="0"/>
                        </a:rPr>
                        <m:t>=</m:t>
                      </m:r>
                      <m:r>
                        <a:rPr lang="zh-TW" altLang="en-US" b="0" i="1" smtClean="0">
                          <a:latin typeface="Cambria Math" panose="02040503050406030204" pitchFamily="18" charset="0"/>
                        </a:rPr>
                        <m:t>𝛼</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1</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r>
                            <a:rPr lang="en-US" altLang="zh-TW" b="0" i="1" smtClean="0">
                              <a:latin typeface="Cambria Math" panose="02040503050406030204" pitchFamily="18" charset="0"/>
                            </a:rPr>
                            <m:t>,</m:t>
                          </m:r>
                          <m:r>
                            <a:rPr lang="zh-TW" altLang="en-US" b="0" i="1" smtClean="0">
                              <a:latin typeface="Cambria Math" panose="02040503050406030204" pitchFamily="18" charset="0"/>
                            </a:rPr>
                            <m:t>𝜃</m:t>
                          </m:r>
                        </m:e>
                      </m:d>
                      <m:r>
                        <a:rPr lang="en-US" altLang="zh-TW" b="0" i="1" smtClean="0">
                          <a:latin typeface="Cambria Math" panose="02040503050406030204" pitchFamily="18" charset="0"/>
                        </a:rPr>
                        <m:t>+</m:t>
                      </m:r>
                      <m:r>
                        <a:rPr lang="zh-TW" altLang="en-US" b="0" i="1" smtClean="0">
                          <a:latin typeface="Cambria Math" panose="02040503050406030204" pitchFamily="18" charset="0"/>
                        </a:rPr>
                        <m:t>𝛾</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r>
                            <a:rPr lang="en-US" altLang="zh-TW" b="0" i="1" smtClean="0">
                              <a:latin typeface="Cambria Math" panose="02040503050406030204" pitchFamily="18" charset="0"/>
                            </a:rPr>
                            <m:t>,</m:t>
                          </m:r>
                          <m:r>
                            <a:rPr lang="zh-TW" altLang="en-US" b="0" i="1" smtClean="0">
                              <a:latin typeface="Cambria Math" panose="02040503050406030204" pitchFamily="18" charset="0"/>
                            </a:rPr>
                            <m:t>𝜆</m:t>
                          </m:r>
                        </m:e>
                      </m:d>
                    </m:oMath>
                  </m:oMathPara>
                </a14:m>
                <a:endParaRPr lang="en-US" altLang="zh-TW"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zh-TW" altLang="en-US" i="1">
                          <a:latin typeface="Cambria Math" panose="02040503050406030204" pitchFamily="18" charset="0"/>
                        </a:rPr>
                        <m:t>𝛼</m:t>
                      </m:r>
                      <m:d>
                        <m:dPr>
                          <m:ctrlPr>
                            <a:rPr lang="en-US" altLang="zh-TW" i="1">
                              <a:latin typeface="Cambria Math" panose="02040503050406030204" pitchFamily="18" charset="0"/>
                            </a:rPr>
                          </m:ctrlPr>
                        </m:dPr>
                        <m:e>
                          <m:r>
                            <a:rPr lang="zh-TW" altLang="en-US" i="1" smtClean="0">
                              <a:latin typeface="Cambria Math" panose="02040503050406030204" pitchFamily="18" charset="0"/>
                            </a:rPr>
                            <m:t>𝜃</m:t>
                          </m:r>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b="0" i="1" smtClean="0">
                                  <a:latin typeface="Cambria Math" panose="02040503050406030204" pitchFamily="18" charset="0"/>
                                </a:rPr>
                                <m:t>2</m:t>
                              </m:r>
                            </m:sub>
                          </m:sSub>
                          <m:d>
                            <m:dPr>
                              <m:ctrlPr>
                                <a:rPr lang="en-US" altLang="zh-TW" i="1">
                                  <a:latin typeface="Cambria Math" panose="02040503050406030204" pitchFamily="18" charset="0"/>
                                </a:rPr>
                              </m:ctrlPr>
                            </m:dPr>
                            <m:e>
                              <m:r>
                                <a:rPr lang="en-US" altLang="zh-TW" b="0" i="1" smtClean="0">
                                  <a:latin typeface="Cambria Math" panose="02040503050406030204" pitchFamily="18" charset="0"/>
                                </a:rPr>
                                <m:t>𝑤</m:t>
                              </m:r>
                            </m:e>
                          </m:d>
                          <m:r>
                            <a:rPr lang="zh-TW" altLang="en-US" i="1" smtClean="0">
                              <a:latin typeface="Cambria Math" panose="02040503050406030204" pitchFamily="18" charset="0"/>
                            </a:rPr>
                            <m:t> </m:t>
                          </m:r>
                        </m:e>
                      </m:d>
                      <m:r>
                        <a:rPr lang="en-US" altLang="zh-TW" i="1">
                          <a:latin typeface="Cambria Math" panose="02040503050406030204" pitchFamily="18" charset="0"/>
                        </a:rPr>
                        <m:t>=</m:t>
                      </m:r>
                      <m:r>
                        <a:rPr lang="zh-TW" altLang="en-US" i="1">
                          <a:latin typeface="Cambria Math" panose="02040503050406030204" pitchFamily="18" charset="0"/>
                        </a:rPr>
                        <m:t>𝛼</m:t>
                      </m:r>
                      <m:d>
                        <m:dPr>
                          <m:ctrlPr>
                            <a:rPr lang="en-US" altLang="zh-TW" i="1">
                              <a:latin typeface="Cambria Math" panose="02040503050406030204" pitchFamily="18" charset="0"/>
                            </a:rPr>
                          </m:ctrlPr>
                        </m:dPr>
                        <m:e>
                          <m:r>
                            <a:rPr lang="zh-TW" altLang="en-US" i="1" smtClean="0">
                              <a:latin typeface="Cambria Math" panose="02040503050406030204" pitchFamily="18" charset="0"/>
                            </a:rPr>
                            <m:t>𝜃</m:t>
                          </m:r>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b="0" i="1" smtClean="0">
                                  <a:latin typeface="Cambria Math" panose="02040503050406030204" pitchFamily="18" charset="0"/>
                                </a:rPr>
                                <m:t>2</m:t>
                              </m:r>
                            </m:sub>
                          </m:sSub>
                          <m:d>
                            <m:dPr>
                              <m:ctrlPr>
                                <a:rPr lang="en-US" altLang="zh-TW" i="1">
                                  <a:latin typeface="Cambria Math" panose="02040503050406030204" pitchFamily="18" charset="0"/>
                                </a:rPr>
                              </m:ctrlPr>
                            </m:dPr>
                            <m:e>
                              <m:r>
                                <a:rPr lang="en-US" altLang="zh-TW" b="0" i="1" smtClean="0">
                                  <a:latin typeface="Cambria Math" panose="02040503050406030204" pitchFamily="18" charset="0"/>
                                </a:rPr>
                                <m:t>𝑤</m:t>
                              </m:r>
                            </m:e>
                          </m:d>
                        </m:e>
                      </m:d>
                      <m:r>
                        <a:rPr lang="en-US" altLang="zh-TW" i="1">
                          <a:latin typeface="Cambria Math" panose="02040503050406030204" pitchFamily="18" charset="0"/>
                        </a:rPr>
                        <m:t>+</m:t>
                      </m:r>
                      <m:r>
                        <a:rPr lang="zh-TW" altLang="en-US" i="1">
                          <a:latin typeface="Cambria Math" panose="02040503050406030204" pitchFamily="18" charset="0"/>
                        </a:rPr>
                        <m:t>𝛾</m:t>
                      </m:r>
                      <m:d>
                        <m:dPr>
                          <m:ctrlPr>
                            <a:rPr lang="en-US" altLang="zh-TW" i="1">
                              <a:latin typeface="Cambria Math" panose="02040503050406030204" pitchFamily="18" charset="0"/>
                            </a:rPr>
                          </m:ctrlPr>
                        </m:dPr>
                        <m:e>
                          <m:r>
                            <a:rPr lang="zh-TW" altLang="en-US" i="1">
                              <a:latin typeface="Cambria Math" panose="02040503050406030204" pitchFamily="18" charset="0"/>
                            </a:rPr>
                            <m:t>𝜆</m:t>
                          </m:r>
                          <m:r>
                            <a:rPr lang="en-US" altLang="zh-TW" b="0" i="1" smtClean="0">
                              <a:latin typeface="Cambria Math" panose="02040503050406030204" pitchFamily="18" charset="0"/>
                            </a:rPr>
                            <m:t>,</m:t>
                          </m:r>
                          <m:r>
                            <a:rPr lang="en-US" altLang="zh-TW" b="0" i="1" smtClean="0">
                              <a:latin typeface="Cambria Math" panose="02040503050406030204" pitchFamily="18" charset="0"/>
                            </a:rPr>
                            <m:t>𝑤</m:t>
                          </m:r>
                        </m:e>
                      </m:d>
                    </m:oMath>
                  </m:oMathPara>
                </a14:m>
                <a:endParaRPr lang="en-US" altLang="zh-TW"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𝛼</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1</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r>
                            <a:rPr lang="en-US" altLang="zh-TW" b="0" i="1" smtClean="0">
                              <a:latin typeface="Cambria Math" panose="02040503050406030204" pitchFamily="18" charset="0"/>
                            </a:rPr>
                            <m:t>,</m:t>
                          </m:r>
                          <m:r>
                            <a:rPr lang="zh-TW" altLang="en-US" b="0" i="1" smtClean="0">
                              <a:latin typeface="Cambria Math" panose="02040503050406030204" pitchFamily="18" charset="0"/>
                            </a:rPr>
                            <m:t>𝜃</m:t>
                          </m:r>
                        </m:e>
                      </m:d>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𝑘</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𝑖</m:t>
                          </m:r>
                        </m:sup>
                        <m:e>
                          <m:r>
                            <a:rPr lang="zh-TW" altLang="en-US" b="0" i="1" smtClean="0">
                              <a:latin typeface="Cambria Math" panose="02040503050406030204" pitchFamily="18" charset="0"/>
                            </a:rPr>
                            <m:t>𝛼</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𝑘</m:t>
                                  </m:r>
                                </m:sub>
                              </m:sSub>
                            </m:e>
                          </m:d>
                          <m:r>
                            <a:rPr lang="en-US" altLang="zh-TW" b="0" i="1" smtClean="0">
                              <a:latin typeface="Cambria Math" panose="02040503050406030204" pitchFamily="18" charset="0"/>
                            </a:rPr>
                            <m:t>,</m:t>
                          </m:r>
                          <m:r>
                            <a:rPr lang="zh-TW" altLang="en-US" b="0" i="1" smtClean="0">
                              <a:latin typeface="Cambria Math" panose="02040503050406030204" pitchFamily="18" charset="0"/>
                            </a:rPr>
                            <m:t>𝜃</m:t>
                          </m:r>
                          <m:r>
                            <a:rPr lang="en-US" altLang="zh-TW" b="0" i="1" smtClean="0">
                              <a:latin typeface="Cambria Math" panose="02040503050406030204" pitchFamily="18" charset="0"/>
                            </a:rPr>
                            <m:t>)</m:t>
                          </m:r>
                        </m:e>
                      </m:nary>
                    </m:oMath>
                  </m:oMathPara>
                </a14:m>
                <a:endParaRPr lang="en-US" altLang="zh-TW" b="0" i="1" dirty="0" smtClean="0">
                  <a:latin typeface="Cambria Math" panose="02040503050406030204" pitchFamily="18" charset="0"/>
                </a:endParaRPr>
              </a:p>
              <a:p>
                <a:pPr marL="0" indent="0">
                  <a:buNone/>
                </a:pPr>
                <a:endParaRPr lang="en-US" altLang="zh-TW"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zh-TW" altLang="en-US" i="1">
                          <a:latin typeface="Cambria Math" panose="02040503050406030204" pitchFamily="18" charset="0"/>
                        </a:rPr>
                        <m:t>𝛼</m:t>
                      </m:r>
                      <m:d>
                        <m:dPr>
                          <m:ctrlPr>
                            <a:rPr lang="en-US" altLang="zh-TW" i="1">
                              <a:latin typeface="Cambria Math" panose="02040503050406030204" pitchFamily="18" charset="0"/>
                            </a:rPr>
                          </m:ctrlPr>
                        </m:dPr>
                        <m:e>
                          <m:r>
                            <a:rPr lang="zh-TW" altLang="en-US" i="1" smtClean="0">
                              <a:latin typeface="Cambria Math" panose="02040503050406030204" pitchFamily="18" charset="0"/>
                            </a:rPr>
                            <m:t>𝜃</m:t>
                          </m:r>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𝐹</m:t>
                              </m:r>
                            </m:e>
                            <m:sub>
                              <m:r>
                                <a:rPr lang="en-US" altLang="zh-TW" b="0" i="1" smtClean="0">
                                  <a:latin typeface="Cambria Math" panose="02040503050406030204" pitchFamily="18" charset="0"/>
                                </a:rPr>
                                <m:t>2</m:t>
                              </m:r>
                            </m:sub>
                          </m:sSub>
                          <m:d>
                            <m:dPr>
                              <m:ctrlPr>
                                <a:rPr lang="en-US" altLang="zh-TW" i="1">
                                  <a:latin typeface="Cambria Math" panose="02040503050406030204" pitchFamily="18" charset="0"/>
                                </a:rPr>
                              </m:ctrlPr>
                            </m:dPr>
                            <m:e>
                              <m:r>
                                <a:rPr lang="en-US" altLang="zh-TW" b="0" i="1" smtClean="0">
                                  <a:latin typeface="Cambria Math" panose="02040503050406030204" pitchFamily="18" charset="0"/>
                                </a:rPr>
                                <m:t>𝑤</m:t>
                              </m:r>
                            </m:e>
                          </m:d>
                        </m:e>
                      </m:d>
                      <m:r>
                        <a:rPr lang="en-US" altLang="zh-TW" i="1">
                          <a:latin typeface="Cambria Math" panose="02040503050406030204" pitchFamily="18" charset="0"/>
                        </a:rPr>
                        <m:t>=</m:t>
                      </m:r>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𝑘</m:t>
                          </m:r>
                          <m:r>
                            <a:rPr lang="en-US" altLang="zh-TW" i="1">
                              <a:latin typeface="Cambria Math" panose="02040503050406030204" pitchFamily="18" charset="0"/>
                            </a:rPr>
                            <m:t>=1</m:t>
                          </m:r>
                        </m:sub>
                        <m:sup>
                          <m:r>
                            <a:rPr lang="en-US" altLang="zh-TW" b="0" i="1" smtClean="0">
                              <a:latin typeface="Cambria Math" panose="02040503050406030204" pitchFamily="18" charset="0"/>
                            </a:rPr>
                            <m:t>𝑗</m:t>
                          </m:r>
                        </m:sup>
                        <m:e>
                          <m:r>
                            <a:rPr lang="zh-TW" altLang="en-US" i="1">
                              <a:latin typeface="Cambria Math" panose="02040503050406030204" pitchFamily="18" charset="0"/>
                            </a:rPr>
                            <m:t>𝛼</m:t>
                          </m:r>
                          <m:r>
                            <a:rPr lang="en-US" altLang="zh-TW" i="1">
                              <a:latin typeface="Cambria Math" panose="02040503050406030204" pitchFamily="18" charset="0"/>
                            </a:rPr>
                            <m:t>(</m:t>
                          </m:r>
                          <m:r>
                            <a:rPr lang="zh-TW" altLang="en-US" i="1" smtClean="0">
                              <a:latin typeface="Cambria Math" panose="02040503050406030204" pitchFamily="18" charset="0"/>
                            </a:rPr>
                            <m:t>𝜃</m:t>
                          </m:r>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b="0" i="1" smtClean="0">
                                  <a:latin typeface="Cambria Math" panose="02040503050406030204" pitchFamily="18" charset="0"/>
                                </a:rPr>
                                <m:t>2</m:t>
                              </m:r>
                            </m:sub>
                          </m:sSub>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𝑣</m:t>
                                  </m:r>
                                </m:e>
                                <m:sub>
                                  <m:r>
                                    <a:rPr lang="en-US" altLang="zh-TW" i="1">
                                      <a:latin typeface="Cambria Math" panose="02040503050406030204" pitchFamily="18" charset="0"/>
                                    </a:rPr>
                                    <m:t>𝑘</m:t>
                                  </m:r>
                                </m:sub>
                              </m:sSub>
                            </m:e>
                          </m:d>
                          <m:r>
                            <a:rPr lang="en-US" altLang="zh-TW" i="1">
                              <a:latin typeface="Cambria Math" panose="02040503050406030204" pitchFamily="18" charset="0"/>
                            </a:rPr>
                            <m:t>)</m:t>
                          </m:r>
                        </m:e>
                      </m:nary>
                    </m:oMath>
                  </m:oMathPara>
                </a14:m>
                <a:endParaRPr lang="en-US" altLang="zh-TW" dirty="0" smtClean="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5465512"/>
              </a:xfrm>
              <a:blipFill rotWithShape="0">
                <a:blip r:embed="rId2"/>
                <a:stretch>
                  <a:fillRect l="-1217" t="-178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764972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Tree Alignment Distance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0" y="1825625"/>
                <a:ext cx="12621126" cy="4351338"/>
              </a:xfrm>
            </p:spPr>
            <p:txBody>
              <a:bodyPr/>
              <a:lstStyle/>
              <a:p>
                <a:pPr marL="0" indent="0">
                  <a:buNone/>
                </a:pPr>
                <a:r>
                  <a:rPr lang="en-US" altLang="zh-TW" b="1" dirty="0" smtClean="0"/>
                  <a:t>Lemma 8 </a:t>
                </a:r>
                <a14:m>
                  <m:oMath xmlns:m="http://schemas.openxmlformats.org/officeDocument/2006/math">
                    <m:r>
                      <a:rPr lang="en-US" altLang="zh-TW" i="1">
                        <a:latin typeface="Cambria Math" panose="02040503050406030204" pitchFamily="18" charset="0"/>
                      </a:rPr>
                      <m:t>𝐿𝑒𝑡</m:t>
                    </m:r>
                    <m:r>
                      <a:rPr lang="en-US" altLang="zh-TW" i="1">
                        <a:latin typeface="Cambria Math" panose="02040503050406030204" pitchFamily="18" charset="0"/>
                      </a:rPr>
                      <m:t> </m:t>
                    </m:r>
                    <m:r>
                      <a:rPr lang="en-US" altLang="zh-TW" i="1">
                        <a:latin typeface="Cambria Math" panose="02040503050406030204" pitchFamily="18" charset="0"/>
                      </a:rPr>
                      <m:t>𝑣</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𝑉</m:t>
                    </m:r>
                    <m:d>
                      <m:dPr>
                        <m:ctrlPr>
                          <a:rPr lang="en-US" altLang="zh-TW" i="1">
                            <a:latin typeface="Cambria Math" panose="02040503050406030204" pitchFamily="18" charset="0"/>
                            <a:ea typeface="Cambria Math" panose="02040503050406030204" pitchFamily="18" charset="0"/>
                          </a:rPr>
                        </m:ctrlPr>
                      </m:dPr>
                      <m:e>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𝑇</m:t>
                            </m:r>
                          </m:e>
                          <m:sub>
                            <m:r>
                              <a:rPr lang="en-US" altLang="zh-TW" i="1">
                                <a:latin typeface="Cambria Math" panose="02040503050406030204" pitchFamily="18" charset="0"/>
                                <a:ea typeface="Cambria Math" panose="02040503050406030204" pitchFamily="18" charset="0"/>
                              </a:rPr>
                              <m:t>1</m:t>
                            </m:r>
                          </m:sub>
                        </m:sSub>
                      </m:e>
                    </m:d>
                    <m:r>
                      <a:rPr lang="en-US" altLang="zh-TW"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𝑎𝑛𝑑</m:t>
                    </m:r>
                    <m:r>
                      <a:rPr lang="en-US" altLang="zh-TW"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𝑤</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𝑉</m:t>
                    </m:r>
                    <m:d>
                      <m:dPr>
                        <m:ctrlPr>
                          <a:rPr lang="en-US" altLang="zh-TW" i="1">
                            <a:latin typeface="Cambria Math" panose="02040503050406030204" pitchFamily="18" charset="0"/>
                            <a:ea typeface="Cambria Math" panose="02040503050406030204" pitchFamily="18" charset="0"/>
                          </a:rPr>
                        </m:ctrlPr>
                      </m:dPr>
                      <m:e>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𝑇</m:t>
                            </m:r>
                          </m:e>
                          <m:sub>
                            <m:r>
                              <a:rPr lang="en-US" altLang="zh-TW" i="1">
                                <a:latin typeface="Cambria Math" panose="02040503050406030204" pitchFamily="18" charset="0"/>
                                <a:ea typeface="Cambria Math" panose="02040503050406030204" pitchFamily="18" charset="0"/>
                              </a:rPr>
                              <m:t>2</m:t>
                            </m:r>
                          </m:sub>
                        </m:sSub>
                      </m:e>
                    </m:d>
                    <m:r>
                      <a:rPr lang="en-US" altLang="zh-TW" i="1">
                        <a:latin typeface="Cambria Math" panose="02040503050406030204" pitchFamily="18" charset="0"/>
                        <a:ea typeface="Cambria Math" panose="02040503050406030204" pitchFamily="18" charset="0"/>
                      </a:rPr>
                      <m:t> </m:t>
                    </m:r>
                  </m:oMath>
                </a14:m>
                <a:endParaRPr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𝑤𝑖𝑡h</m:t>
                      </m:r>
                      <m:r>
                        <a:rPr lang="en-US" altLang="zh-TW"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𝑐h𝑖𝑙𝑑𝑟𝑒𝑛</m:t>
                      </m:r>
                      <m:r>
                        <a:rPr lang="en-US" altLang="zh-TW" i="1">
                          <a:latin typeface="Cambria Math" panose="02040503050406030204" pitchFamily="18" charset="0"/>
                          <a:ea typeface="Cambria Math" panose="02040503050406030204" pitchFamily="18" charset="0"/>
                        </a:rPr>
                        <m:t> </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𝑣</m:t>
                          </m:r>
                        </m:e>
                        <m:sub>
                          <m:r>
                            <a:rPr lang="en-US" altLang="zh-TW" i="1">
                              <a:latin typeface="Cambria Math" panose="02040503050406030204" pitchFamily="18" charset="0"/>
                              <a:ea typeface="Cambria Math" panose="02040503050406030204" pitchFamily="18" charset="0"/>
                            </a:rPr>
                            <m:t>1</m:t>
                          </m:r>
                        </m:sub>
                      </m:sSub>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𝑣</m:t>
                          </m:r>
                        </m:e>
                        <m:sub>
                          <m:r>
                            <a:rPr lang="en-US" altLang="zh-TW" i="1">
                              <a:latin typeface="Cambria Math" panose="02040503050406030204" pitchFamily="18" charset="0"/>
                              <a:ea typeface="Cambria Math" panose="02040503050406030204" pitchFamily="18" charset="0"/>
                            </a:rPr>
                            <m:t>𝑖</m:t>
                          </m:r>
                        </m:sub>
                      </m:sSub>
                      <m:r>
                        <a:rPr lang="en-US" altLang="zh-TW"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𝑎𝑛𝑑</m:t>
                      </m:r>
                      <m:r>
                        <a:rPr lang="en-US" altLang="zh-TW" i="1">
                          <a:latin typeface="Cambria Math" panose="02040503050406030204" pitchFamily="18" charset="0"/>
                          <a:ea typeface="Cambria Math" panose="02040503050406030204" pitchFamily="18" charset="0"/>
                        </a:rPr>
                        <m:t> </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𝑤</m:t>
                          </m:r>
                        </m:e>
                        <m:sub>
                          <m:r>
                            <a:rPr lang="en-US" altLang="zh-TW" i="1">
                              <a:latin typeface="Cambria Math" panose="02040503050406030204" pitchFamily="18" charset="0"/>
                              <a:ea typeface="Cambria Math" panose="02040503050406030204" pitchFamily="18" charset="0"/>
                            </a:rPr>
                            <m:t>1</m:t>
                          </m:r>
                        </m:sub>
                      </m:sSub>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𝑤</m:t>
                          </m:r>
                        </m:e>
                        <m:sub>
                          <m:r>
                            <a:rPr lang="en-US" altLang="zh-TW" i="1">
                              <a:latin typeface="Cambria Math" panose="02040503050406030204" pitchFamily="18" charset="0"/>
                              <a:ea typeface="Cambria Math" panose="02040503050406030204" pitchFamily="18" charset="0"/>
                            </a:rPr>
                            <m:t>𝑗</m:t>
                          </m:r>
                        </m:sub>
                      </m:sSub>
                      <m:r>
                        <a:rPr lang="en-US" altLang="zh-TW"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𝑟𝑒𝑠𝑝𝑒𝑐𝑡𝑖𝑣𝑒𝑙𝑦</m:t>
                      </m:r>
                      <m:r>
                        <a:rPr lang="en-US" altLang="zh-TW" i="1">
                          <a:latin typeface="Cambria Math" panose="02040503050406030204" pitchFamily="18" charset="0"/>
                          <a:ea typeface="Cambria Math" panose="02040503050406030204" pitchFamily="18" charset="0"/>
                        </a:rPr>
                        <m:t>.</m:t>
                      </m:r>
                    </m:oMath>
                  </m:oMathPara>
                </a14:m>
                <a:endParaRPr lang="en-US" altLang="zh-TW" i="1" dirty="0" smtClean="0">
                  <a:latin typeface="Cambria Math" panose="02040503050406030204" pitchFamily="18" charset="0"/>
                  <a:ea typeface="Cambria Math" panose="02040503050406030204" pitchFamily="18" charset="0"/>
                </a:endParaRPr>
              </a:p>
              <a:p>
                <a:pPr marL="0" indent="0">
                  <a:buNone/>
                </a:pPr>
                <a:r>
                  <a:rPr lang="en-US" altLang="zh-TW" b="0" dirty="0" smtClean="0">
                    <a:ea typeface="Cambria Math" panose="02040503050406030204" pitchFamily="18" charset="0"/>
                  </a:rPr>
                  <a:t>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𝑇h𝑒𝑛</m:t>
                    </m:r>
                    <m:r>
                      <a:rPr lang="en-US" altLang="zh-TW" b="0" i="1" smtClean="0">
                        <a:latin typeface="Cambria Math" panose="02040503050406030204" pitchFamily="18" charset="0"/>
                        <a:ea typeface="Cambria Math" panose="02040503050406030204" pitchFamily="18" charset="0"/>
                      </a:rPr>
                      <m:t>, </m:t>
                    </m:r>
                  </m:oMath>
                </a14:m>
                <a:endParaRPr lang="en-US" altLang="zh-TW" b="0" dirty="0" smtClean="0">
                  <a:ea typeface="Cambria Math" panose="02040503050406030204" pitchFamily="18" charset="0"/>
                </a:endParaRPr>
              </a:p>
              <a:p>
                <a:pPr marL="0" indent="0">
                  <a:buNone/>
                </a:pPr>
                <a:endParaRPr lang="en-US" altLang="zh-TW" i="1" dirty="0" smtClean="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zh-TW" altLang="en-US" i="1" smtClean="0">
                          <a:latin typeface="Cambria Math" panose="02040503050406030204" pitchFamily="18" charset="0"/>
                          <a:ea typeface="Cambria Math" panose="02040503050406030204" pitchFamily="18" charset="0"/>
                        </a:rPr>
                        <m:t>𝛼</m:t>
                      </m:r>
                      <m:d>
                        <m:dPr>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1</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2</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𝑤</m:t>
                          </m:r>
                          <m:r>
                            <a:rPr lang="en-US" altLang="zh-TW" b="0" i="1" smtClean="0">
                              <a:latin typeface="Cambria Math" panose="02040503050406030204" pitchFamily="18" charset="0"/>
                              <a:ea typeface="Cambria Math" panose="02040503050406030204" pitchFamily="18" charset="0"/>
                            </a:rPr>
                            <m:t>)</m:t>
                          </m:r>
                        </m:e>
                      </m:d>
                      <m:r>
                        <a:rPr lang="en-US" altLang="zh-TW" b="0" i="1"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limLow>
                            <m:limLowPr>
                              <m:ctrlPr>
                                <a:rPr lang="en-US" altLang="zh-TW" b="0" i="1" smtClean="0">
                                  <a:latin typeface="Cambria Math" panose="02040503050406030204" pitchFamily="18" charset="0"/>
                                  <a:ea typeface="Cambria Math" panose="02040503050406030204" pitchFamily="18" charset="0"/>
                                </a:rPr>
                              </m:ctrlPr>
                            </m:limLowPr>
                            <m:e>
                              <m:r>
                                <m:rPr>
                                  <m:sty m:val="p"/>
                                </m:rPr>
                                <a:rPr lang="en-US" altLang="zh-TW" b="0" i="0" smtClean="0">
                                  <a:latin typeface="Cambria Math" panose="02040503050406030204" pitchFamily="18" charset="0"/>
                                  <a:ea typeface="Cambria Math" panose="02040503050406030204" pitchFamily="18" charset="0"/>
                                </a:rPr>
                                <m:t>min</m:t>
                              </m:r>
                            </m:e>
                            <m:lim/>
                          </m:limLow>
                        </m:fName>
                        <m:e>
                          <m:d>
                            <m:dPr>
                              <m:begChr m:val="{"/>
                              <m:endChr m:val=""/>
                              <m:ctrlPr>
                                <a:rPr lang="en-US" altLang="zh-TW" b="0" i="1" smtClean="0">
                                  <a:latin typeface="Cambria Math" panose="02040503050406030204" pitchFamily="18" charset="0"/>
                                  <a:ea typeface="Cambria Math" panose="02040503050406030204" pitchFamily="18" charset="0"/>
                                </a:rPr>
                              </m:ctrlPr>
                            </m:dPr>
                            <m:e>
                              <m:eqArr>
                                <m:eqArrPr>
                                  <m:ctrlPr>
                                    <a:rPr lang="en-US" altLang="zh-TW" b="0" i="1" smtClean="0">
                                      <a:latin typeface="Cambria Math" panose="02040503050406030204" pitchFamily="18" charset="0"/>
                                      <a:ea typeface="Cambria Math" panose="02040503050406030204" pitchFamily="18" charset="0"/>
                                    </a:rPr>
                                  </m:ctrlPr>
                                </m:eqArrPr>
                                <m:e>
                                  <m:r>
                                    <a:rPr lang="zh-TW" altLang="en-US" b="0" i="1" smtClean="0">
                                      <a:latin typeface="Cambria Math" panose="02040503050406030204" pitchFamily="18" charset="0"/>
                                      <a:ea typeface="Cambria Math" panose="02040503050406030204" pitchFamily="18" charset="0"/>
                                    </a:rPr>
                                    <m:t>𝛼</m:t>
                                  </m:r>
                                  <m:d>
                                    <m:dPr>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𝐹</m:t>
                                          </m:r>
                                        </m:e>
                                        <m:sub>
                                          <m:r>
                                            <a:rPr lang="en-US" altLang="zh-TW" b="0" i="1" smtClean="0">
                                              <a:latin typeface="Cambria Math" panose="02040503050406030204" pitchFamily="18" charset="0"/>
                                              <a:ea typeface="Cambria Math" panose="02040503050406030204" pitchFamily="18" charset="0"/>
                                            </a:rPr>
                                            <m:t>1</m:t>
                                          </m:r>
                                        </m:sub>
                                      </m:sSub>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𝑣</m:t>
                                          </m:r>
                                        </m:e>
                                      </m:d>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𝐹</m:t>
                                          </m:r>
                                        </m:e>
                                        <m:sub>
                                          <m:r>
                                            <a:rPr lang="en-US" altLang="zh-TW" b="0" i="1" smtClean="0">
                                              <a:latin typeface="Cambria Math" panose="02040503050406030204" pitchFamily="18" charset="0"/>
                                              <a:ea typeface="Cambria Math" panose="02040503050406030204" pitchFamily="18" charset="0"/>
                                            </a:rPr>
                                            <m:t>2</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𝑤</m:t>
                                      </m:r>
                                      <m:r>
                                        <a:rPr lang="en-US" altLang="zh-TW" b="0" i="1" smtClean="0">
                                          <a:latin typeface="Cambria Math" panose="02040503050406030204" pitchFamily="18" charset="0"/>
                                          <a:ea typeface="Cambria Math" panose="02040503050406030204" pitchFamily="18" charset="0"/>
                                        </a:rPr>
                                        <m:t>)</m:t>
                                      </m:r>
                                    </m:e>
                                  </m:d>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𝛾</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𝑤</m:t>
                                  </m:r>
                                  <m:r>
                                    <a:rPr lang="en-US" altLang="zh-TW" b="0" i="1" smtClean="0">
                                      <a:latin typeface="Cambria Math" panose="02040503050406030204" pitchFamily="18" charset="0"/>
                                      <a:ea typeface="Cambria Math" panose="02040503050406030204" pitchFamily="18" charset="0"/>
                                    </a:rPr>
                                    <m:t>)</m:t>
                                  </m:r>
                                </m:e>
                                <m:e>
                                  <m:r>
                                    <a:rPr lang="zh-TW" altLang="en-US" b="0" i="1" smtClean="0">
                                      <a:latin typeface="Cambria Math" panose="02040503050406030204" pitchFamily="18" charset="0"/>
                                      <a:ea typeface="Cambria Math" panose="02040503050406030204" pitchFamily="18" charset="0"/>
                                    </a:rPr>
                                    <m:t>𝛼</m:t>
                                  </m:r>
                                  <m:d>
                                    <m:dPr>
                                      <m:ctrlPr>
                                        <a:rPr lang="en-US" altLang="zh-TW" b="0" i="1" smtClean="0">
                                          <a:latin typeface="Cambria Math" panose="02040503050406030204" pitchFamily="18" charset="0"/>
                                          <a:ea typeface="Cambria Math" panose="02040503050406030204" pitchFamily="18" charset="0"/>
                                        </a:rPr>
                                      </m:ctrlPr>
                                    </m:dPr>
                                    <m:e>
                                      <m:r>
                                        <a:rPr lang="zh-TW" altLang="en-US" b="0" i="1" smtClean="0">
                                          <a:latin typeface="Cambria Math" panose="02040503050406030204" pitchFamily="18" charset="0"/>
                                          <a:ea typeface="Cambria Math" panose="02040503050406030204" pitchFamily="18" charset="0"/>
                                        </a:rPr>
                                        <m:t>𝜃</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2</m:t>
                                          </m:r>
                                        </m:sub>
                                      </m:sSub>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𝑤</m:t>
                                          </m:r>
                                        </m:e>
                                      </m:d>
                                    </m:e>
                                  </m:d>
                                  <m:r>
                                    <a:rPr lang="en-US" altLang="zh-TW" b="0" i="1"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limLow>
                                        <m:limLowPr>
                                          <m:ctrlPr>
                                            <a:rPr lang="en-US" altLang="zh-TW" b="0" i="1" smtClean="0">
                                              <a:latin typeface="Cambria Math" panose="02040503050406030204" pitchFamily="18" charset="0"/>
                                              <a:ea typeface="Cambria Math" panose="02040503050406030204" pitchFamily="18" charset="0"/>
                                            </a:rPr>
                                          </m:ctrlPr>
                                        </m:limLowPr>
                                        <m:e>
                                          <m:r>
                                            <m:rPr>
                                              <m:sty m:val="p"/>
                                            </m:rPr>
                                            <a:rPr lang="en-US" altLang="zh-TW" b="0" i="0" smtClean="0">
                                              <a:latin typeface="Cambria Math" panose="02040503050406030204" pitchFamily="18" charset="0"/>
                                              <a:ea typeface="Cambria Math" panose="02040503050406030204" pitchFamily="18" charset="0"/>
                                            </a:rPr>
                                            <m:t>min</m:t>
                                          </m:r>
                                        </m:e>
                                        <m:lim>
                                          <m:r>
                                            <a:rPr lang="en-US" altLang="zh-TW" b="0" i="1" smtClean="0">
                                              <a:latin typeface="Cambria Math" panose="02040503050406030204" pitchFamily="18" charset="0"/>
                                              <a:ea typeface="Cambria Math" panose="02040503050406030204" pitchFamily="18" charset="0"/>
                                            </a:rPr>
                                            <m:t>1≤</m:t>
                                          </m:r>
                                          <m:r>
                                            <a:rPr lang="en-US" altLang="zh-TW" b="0" i="1" smtClean="0">
                                              <a:latin typeface="Cambria Math" panose="02040503050406030204" pitchFamily="18" charset="0"/>
                                              <a:ea typeface="Cambria Math" panose="02040503050406030204" pitchFamily="18" charset="0"/>
                                            </a:rPr>
                                            <m:t>𝑟</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lim>
                                      </m:limLow>
                                    </m:fName>
                                    <m:e>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𝛼</m:t>
                                      </m:r>
                                      <m:d>
                                        <m:dPr>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1</m:t>
                                              </m:r>
                                            </m:sub>
                                          </m:sSub>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𝑣</m:t>
                                              </m:r>
                                            </m:e>
                                          </m:d>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2</m:t>
                                              </m:r>
                                            </m:sub>
                                          </m:sSub>
                                          <m:d>
                                            <m:dPr>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𝑤</m:t>
                                                  </m:r>
                                                </m:e>
                                                <m:sub>
                                                  <m:r>
                                                    <a:rPr lang="en-US" altLang="zh-TW" b="0" i="1" smtClean="0">
                                                      <a:latin typeface="Cambria Math" panose="02040503050406030204" pitchFamily="18" charset="0"/>
                                                      <a:ea typeface="Cambria Math" panose="02040503050406030204" pitchFamily="18" charset="0"/>
                                                    </a:rPr>
                                                    <m:t>𝑟</m:t>
                                                  </m:r>
                                                </m:sub>
                                              </m:sSub>
                                            </m:e>
                                          </m:d>
                                        </m:e>
                                      </m:d>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𝛼</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𝜃</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2</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𝑤</m:t>
                                          </m:r>
                                        </m:e>
                                        <m:sub>
                                          <m:r>
                                            <a:rPr lang="en-US" altLang="zh-TW" b="0" i="1" smtClean="0">
                                              <a:latin typeface="Cambria Math" panose="02040503050406030204" pitchFamily="18" charset="0"/>
                                              <a:ea typeface="Cambria Math" panose="02040503050406030204" pitchFamily="18" charset="0"/>
                                            </a:rPr>
                                            <m:t>𝑟</m:t>
                                          </m:r>
                                        </m:sub>
                                      </m:sSub>
                                      <m:r>
                                        <a:rPr lang="en-US" altLang="zh-TW" b="0" i="1" smtClean="0">
                                          <a:latin typeface="Cambria Math" panose="02040503050406030204" pitchFamily="18" charset="0"/>
                                          <a:ea typeface="Cambria Math" panose="02040503050406030204" pitchFamily="18" charset="0"/>
                                        </a:rPr>
                                        <m:t>))}</m:t>
                                      </m:r>
                                    </m:e>
                                  </m:func>
                                </m:e>
                                <m:e>
                                  <m:r>
                                    <a:rPr lang="zh-TW" altLang="en-US" i="1">
                                      <a:latin typeface="Cambria Math" panose="02040503050406030204" pitchFamily="18" charset="0"/>
                                      <a:ea typeface="Cambria Math" panose="02040503050406030204" pitchFamily="18" charset="0"/>
                                    </a:rPr>
                                    <m:t>𝛼</m:t>
                                  </m:r>
                                  <m:d>
                                    <m:dPr>
                                      <m:ctrlPr>
                                        <a:rPr lang="en-US" altLang="zh-TW" i="1">
                                          <a:latin typeface="Cambria Math" panose="02040503050406030204" pitchFamily="18" charset="0"/>
                                          <a:ea typeface="Cambria Math" panose="02040503050406030204" pitchFamily="18" charset="0"/>
                                        </a:rPr>
                                      </m:ctrlPr>
                                    </m:dPr>
                                    <m:e>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1</m:t>
                                          </m:r>
                                        </m:sub>
                                      </m:sSub>
                                      <m:d>
                                        <m:dPr>
                                          <m:ctrlPr>
                                            <a:rPr lang="en-US" altLang="zh-TW" i="1">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𝑣</m:t>
                                          </m:r>
                                        </m:e>
                                      </m:d>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𝜃</m:t>
                                      </m:r>
                                    </m:e>
                                  </m:d>
                                  <m:r>
                                    <a:rPr lang="en-US" altLang="zh-TW" i="1">
                                      <a:latin typeface="Cambria Math" panose="02040503050406030204" pitchFamily="18" charset="0"/>
                                      <a:ea typeface="Cambria Math" panose="02040503050406030204" pitchFamily="18" charset="0"/>
                                    </a:rPr>
                                    <m:t>+</m:t>
                                  </m:r>
                                  <m:func>
                                    <m:funcPr>
                                      <m:ctrlPr>
                                        <a:rPr lang="en-US" altLang="zh-TW" i="1">
                                          <a:latin typeface="Cambria Math" panose="02040503050406030204" pitchFamily="18" charset="0"/>
                                          <a:ea typeface="Cambria Math" panose="02040503050406030204" pitchFamily="18" charset="0"/>
                                        </a:rPr>
                                      </m:ctrlPr>
                                    </m:funcPr>
                                    <m:fName>
                                      <m:limLow>
                                        <m:limLowPr>
                                          <m:ctrlPr>
                                            <a:rPr lang="en-US" altLang="zh-TW" i="1">
                                              <a:latin typeface="Cambria Math" panose="02040503050406030204" pitchFamily="18" charset="0"/>
                                              <a:ea typeface="Cambria Math" panose="02040503050406030204" pitchFamily="18" charset="0"/>
                                            </a:rPr>
                                          </m:ctrlPr>
                                        </m:limLowPr>
                                        <m:e>
                                          <m:r>
                                            <m:rPr>
                                              <m:sty m:val="p"/>
                                            </m:rPr>
                                            <a:rPr lang="en-US" altLang="zh-TW">
                                              <a:latin typeface="Cambria Math" panose="02040503050406030204" pitchFamily="18" charset="0"/>
                                              <a:ea typeface="Cambria Math" panose="02040503050406030204" pitchFamily="18" charset="0"/>
                                            </a:rPr>
                                            <m:t>min</m:t>
                                          </m:r>
                                        </m:e>
                                        <m:lim>
                                          <m:r>
                                            <a:rPr lang="en-US" altLang="zh-TW" i="1">
                                              <a:latin typeface="Cambria Math" panose="02040503050406030204" pitchFamily="18" charset="0"/>
                                              <a:ea typeface="Cambria Math" panose="02040503050406030204" pitchFamily="18" charset="0"/>
                                            </a:rPr>
                                            <m:t>1≤</m:t>
                                          </m:r>
                                          <m:r>
                                            <a:rPr lang="en-US" altLang="zh-TW" i="1">
                                              <a:latin typeface="Cambria Math" panose="02040503050406030204" pitchFamily="18" charset="0"/>
                                              <a:ea typeface="Cambria Math" panose="02040503050406030204" pitchFamily="18" charset="0"/>
                                            </a:rPr>
                                            <m:t>𝑟</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lim>
                                      </m:limLow>
                                    </m:fName>
                                    <m:e>
                                      <m:r>
                                        <a:rPr lang="en-US" altLang="zh-TW" i="1">
                                          <a:latin typeface="Cambria Math" panose="02040503050406030204" pitchFamily="18" charset="0"/>
                                          <a:ea typeface="Cambria Math" panose="02040503050406030204" pitchFamily="18" charset="0"/>
                                        </a:rPr>
                                        <m:t>{</m:t>
                                      </m:r>
                                      <m:r>
                                        <a:rPr lang="zh-TW" altLang="en-US" i="1">
                                          <a:latin typeface="Cambria Math" panose="02040503050406030204" pitchFamily="18" charset="0"/>
                                          <a:ea typeface="Cambria Math" panose="02040503050406030204" pitchFamily="18" charset="0"/>
                                        </a:rPr>
                                        <m:t>𝛼</m:t>
                                      </m:r>
                                      <m:d>
                                        <m:dPr>
                                          <m:ctrlPr>
                                            <a:rPr lang="en-US" altLang="zh-TW" i="1">
                                              <a:latin typeface="Cambria Math" panose="02040503050406030204" pitchFamily="18" charset="0"/>
                                              <a:ea typeface="Cambria Math" panose="02040503050406030204" pitchFamily="18" charset="0"/>
                                            </a:rPr>
                                          </m:ctrlPr>
                                        </m:dPr>
                                        <m:e>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𝑇</m:t>
                                              </m:r>
                                            </m:e>
                                            <m:sub>
                                              <m:r>
                                                <a:rPr lang="en-US" altLang="zh-TW" i="1">
                                                  <a:latin typeface="Cambria Math" panose="02040503050406030204" pitchFamily="18" charset="0"/>
                                                  <a:ea typeface="Cambria Math" panose="02040503050406030204" pitchFamily="18" charset="0"/>
                                                </a:rPr>
                                                <m:t>1</m:t>
                                              </m:r>
                                            </m:sub>
                                          </m:sSub>
                                          <m:d>
                                            <m:dPr>
                                              <m:ctrlPr>
                                                <a:rPr lang="en-US" altLang="zh-TW" i="1">
                                                  <a:latin typeface="Cambria Math" panose="02040503050406030204" pitchFamily="18" charset="0"/>
                                                  <a:ea typeface="Cambria Math" panose="02040503050406030204" pitchFamily="18" charset="0"/>
                                                </a:rPr>
                                              </m:ctrlPr>
                                            </m:dPr>
                                            <m:e>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𝑣</m:t>
                                                  </m:r>
                                                </m:e>
                                                <m:sub>
                                                  <m:r>
                                                    <a:rPr lang="en-US" altLang="zh-TW" b="0" i="1" smtClean="0">
                                                      <a:latin typeface="Cambria Math" panose="02040503050406030204" pitchFamily="18" charset="0"/>
                                                      <a:ea typeface="Cambria Math" panose="02040503050406030204" pitchFamily="18" charset="0"/>
                                                    </a:rPr>
                                                    <m:t>𝑟</m:t>
                                                  </m:r>
                                                </m:sub>
                                              </m:sSub>
                                            </m:e>
                                          </m:d>
                                          <m:r>
                                            <a:rPr lang="en-US" altLang="zh-TW" i="1">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𝑇</m:t>
                                              </m:r>
                                            </m:e>
                                            <m:sub>
                                              <m:r>
                                                <a:rPr lang="en-US" altLang="zh-TW" i="1">
                                                  <a:latin typeface="Cambria Math" panose="02040503050406030204" pitchFamily="18" charset="0"/>
                                                  <a:ea typeface="Cambria Math" panose="02040503050406030204" pitchFamily="18" charset="0"/>
                                                </a:rPr>
                                                <m:t>2</m:t>
                                              </m:r>
                                            </m:sub>
                                          </m:sSub>
                                          <m:d>
                                            <m:dPr>
                                              <m:ctrlPr>
                                                <a:rPr lang="en-US" altLang="zh-TW" i="1">
                                                  <a:latin typeface="Cambria Math" panose="02040503050406030204" pitchFamily="18" charset="0"/>
                                                  <a:ea typeface="Cambria Math" panose="02040503050406030204" pitchFamily="18" charset="0"/>
                                                </a:rPr>
                                              </m:ctrlPr>
                                            </m:dPr>
                                            <m:e>
                                              <m:r>
                                                <a:rPr lang="en-US" altLang="zh-TW" i="1">
                                                  <a:latin typeface="Cambria Math" panose="02040503050406030204" pitchFamily="18" charset="0"/>
                                                  <a:ea typeface="Cambria Math" panose="02040503050406030204" pitchFamily="18" charset="0"/>
                                                </a:rPr>
                                                <m:t>𝑤</m:t>
                                              </m:r>
                                            </m:e>
                                          </m:d>
                                        </m:e>
                                      </m:d>
                                      <m:r>
                                        <a:rPr lang="en-US" altLang="zh-TW" i="1">
                                          <a:latin typeface="Cambria Math" panose="02040503050406030204" pitchFamily="18" charset="0"/>
                                          <a:ea typeface="Cambria Math" panose="02040503050406030204" pitchFamily="18" charset="0"/>
                                        </a:rPr>
                                        <m:t>−</m:t>
                                      </m:r>
                                      <m:r>
                                        <a:rPr lang="zh-TW" altLang="en-US" i="1">
                                          <a:latin typeface="Cambria Math" panose="02040503050406030204" pitchFamily="18" charset="0"/>
                                          <a:ea typeface="Cambria Math" panose="02040503050406030204" pitchFamily="18" charset="0"/>
                                        </a:rPr>
                                        <m:t>𝛼</m:t>
                                      </m:r>
                                      <m:r>
                                        <a:rPr lang="en-US" altLang="zh-TW" i="1">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1</m:t>
                                          </m:r>
                                        </m:sub>
                                      </m:sSub>
                                      <m:d>
                                        <m:dPr>
                                          <m:ctrlPr>
                                            <a:rPr lang="en-US" altLang="zh-TW" i="1" smtClean="0">
                                              <a:latin typeface="Cambria Math" panose="02040503050406030204" pitchFamily="18" charset="0"/>
                                              <a:ea typeface="Cambria Math" panose="02040503050406030204" pitchFamily="18" charset="0"/>
                                            </a:rPr>
                                          </m:ctrlPr>
                                        </m:dPr>
                                        <m:e>
                                          <m:sSub>
                                            <m:sSubPr>
                                              <m:ctrlPr>
                                                <a:rPr lang="en-US" altLang="zh-TW" i="1">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𝑣</m:t>
                                              </m:r>
                                            </m:e>
                                            <m:sub>
                                              <m:r>
                                                <a:rPr lang="en-US" altLang="zh-TW" i="1">
                                                  <a:latin typeface="Cambria Math" panose="02040503050406030204" pitchFamily="18" charset="0"/>
                                                  <a:ea typeface="Cambria Math" panose="02040503050406030204" pitchFamily="18" charset="0"/>
                                                </a:rPr>
                                                <m:t>𝑟</m:t>
                                              </m:r>
                                            </m:sub>
                                          </m:sSub>
                                        </m:e>
                                      </m:d>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𝜃</m:t>
                                      </m:r>
                                      <m:r>
                                        <a:rPr lang="en-US" altLang="zh-TW" i="1">
                                          <a:latin typeface="Cambria Math" panose="02040503050406030204" pitchFamily="18" charset="0"/>
                                          <a:ea typeface="Cambria Math" panose="02040503050406030204" pitchFamily="18" charset="0"/>
                                        </a:rPr>
                                        <m:t>)}</m:t>
                                      </m:r>
                                    </m:e>
                                  </m:func>
                                </m:e>
                              </m:eqArr>
                            </m:e>
                          </m:d>
                        </m:e>
                      </m:func>
                    </m:oMath>
                  </m:oMathPara>
                </a14:m>
                <a:endParaRPr lang="en-US" altLang="zh-TW" dirty="0">
                  <a:ea typeface="Cambria Math" panose="020405030504060302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0" y="1825625"/>
                <a:ext cx="12621126" cy="4351338"/>
              </a:xfrm>
              <a:blipFill rotWithShape="0">
                <a:blip r:embed="rId2"/>
                <a:stretch>
                  <a:fillRect l="-96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957404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Tree Alignment Distance</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889718" cy="4036344"/>
          </a:xfrm>
        </p:spPr>
      </p:pic>
    </p:spTree>
    <p:extLst>
      <p:ext uri="{BB962C8B-B14F-4D97-AF65-F5344CB8AC3E}">
        <p14:creationId xmlns:p14="http://schemas.microsoft.com/office/powerpoint/2010/main" val="35120333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Tree Alignment Distance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n-US" altLang="zh-TW" i="1">
                              <a:latin typeface="Cambria Math" panose="02040503050406030204" pitchFamily="18" charset="0"/>
                            </a:rPr>
                            <m:t>A</m:t>
                          </m:r>
                        </m:e>
                        <m:sub>
                          <m:r>
                            <a:rPr lang="en-US" altLang="zh-TW" b="0" i="1" smtClean="0">
                              <a:latin typeface="Cambria Math" panose="02040503050406030204" pitchFamily="18" charset="0"/>
                            </a:rPr>
                            <m:t>𝑠</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zh-TW" altLang="en-US" b="0" i="1" smtClean="0">
                              <a:latin typeface="Cambria Math" panose="02040503050406030204" pitchFamily="18" charset="0"/>
                            </a:rPr>
                            <m:t>𝛼</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1</m:t>
                                  </m:r>
                                </m:sub>
                              </m:sSub>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𝑠</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𝑝</m:t>
                                      </m:r>
                                    </m:sub>
                                  </m:sSub>
                                </m:e>
                              </m:d>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𝐹</m:t>
                                  </m:r>
                                </m:e>
                                <m:sub>
                                  <m:r>
                                    <a:rPr lang="en-US" altLang="zh-TW" b="0" i="1" smtClean="0">
                                      <a:latin typeface="Cambria Math" panose="02040503050406030204" pitchFamily="18" charset="0"/>
                                    </a:rPr>
                                    <m:t>2</m:t>
                                  </m:r>
                                </m:sub>
                              </m:sSub>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𝑞</m:t>
                                      </m:r>
                                    </m:sub>
                                  </m:sSub>
                                </m:e>
                              </m:d>
                            </m:e>
                          </m:d>
                          <m:r>
                            <a:rPr lang="en-US" altLang="zh-TW" b="0" i="1" smtClean="0">
                              <a:latin typeface="Cambria Math" panose="02040503050406030204" pitchFamily="18" charset="0"/>
                            </a:rPr>
                            <m:t> </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𝑠</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𝑝</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𝑡</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𝑞</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rPr>
                        <m:t>}</m:t>
                      </m:r>
                    </m:oMath>
                  </m:oMathPara>
                </a14:m>
                <a:endParaRPr lang="en-US" altLang="zh-TW" dirty="0" smtClean="0"/>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𝑂</m:t>
                      </m:r>
                      <m:d>
                        <m:dPr>
                          <m:ctrlPr>
                            <a:rPr lang="en-US" altLang="zh-TW" b="0" i="1" smtClean="0">
                              <a:latin typeface="Cambria Math" panose="02040503050406030204" pitchFamily="18" charset="0"/>
                            </a:rPr>
                          </m:ctrlPr>
                        </m:d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𝑠</m:t>
                              </m:r>
                            </m:e>
                          </m:d>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𝑗</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e>
                          </m:d>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𝑠</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r>
                                <a:rPr lang="en-US" altLang="zh-TW" b="0" i="1" smtClean="0">
                                  <a:latin typeface="Cambria Math" panose="02040503050406030204" pitchFamily="18" charset="0"/>
                                </a:rPr>
                                <m:t>𝑡</m:t>
                              </m:r>
                            </m:e>
                          </m:d>
                        </m:e>
                      </m:d>
                      <m:r>
                        <a:rPr lang="en-US" altLang="zh-TW" b="0" i="1" smtClean="0">
                          <a:latin typeface="Cambria Math" panose="02040503050406030204" pitchFamily="18" charset="0"/>
                        </a:rPr>
                        <m:t>=</m:t>
                      </m:r>
                      <m:r>
                        <a:rPr lang="en-US" altLang="zh-TW" b="0" i="1" smtClean="0">
                          <a:latin typeface="Cambria Math" panose="02040503050406030204" pitchFamily="18" charset="0"/>
                        </a:rPr>
                        <m:t>𝑂</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𝑖𝑗</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e>
                          </m:d>
                        </m:e>
                      </m:d>
                    </m:oMath>
                  </m:oMathPara>
                </a14:m>
                <a:endParaRPr lang="en-US" altLang="zh-TW" b="0" dirty="0" smtClean="0"/>
              </a:p>
              <a:p>
                <a:pPr marL="0" indent="0">
                  <a:buNone/>
                </a:pPr>
                <a:endParaRPr lang="en-US" altLang="zh-TW" dirty="0" smtClean="0"/>
              </a:p>
              <a:p>
                <a:pPr marL="0" indent="0">
                  <a:buNone/>
                </a:pPr>
                <a:r>
                  <a:rPr lang="en-US" altLang="zh-TW" dirty="0" smtClean="0"/>
                  <a:t>The time to compute both </a:t>
                </a:r>
                <a14:m>
                  <m:oMath xmlns:m="http://schemas.openxmlformats.org/officeDocument/2006/math">
                    <m:sSub>
                      <m:sSubPr>
                        <m:ctrlPr>
                          <a:rPr lang="en-US" altLang="zh-TW" i="1">
                            <a:latin typeface="Cambria Math" panose="02040503050406030204" pitchFamily="18" charset="0"/>
                          </a:rPr>
                        </m:ctrlPr>
                      </m:sSubPr>
                      <m:e>
                        <m:r>
                          <m:rPr>
                            <m:sty m:val="p"/>
                          </m:rPr>
                          <a:rPr lang="en-US" altLang="zh-TW" i="1">
                            <a:latin typeface="Cambria Math" panose="02040503050406030204" pitchFamily="18" charset="0"/>
                          </a:rPr>
                          <m:t>A</m:t>
                        </m:r>
                      </m:e>
                      <m:sub>
                        <m:r>
                          <a:rPr lang="en-US" altLang="zh-TW" i="1">
                            <a:latin typeface="Cambria Math" panose="02040503050406030204" pitchFamily="18" charset="0"/>
                          </a:rPr>
                          <m:t>𝑠</m:t>
                        </m:r>
                        <m:r>
                          <a:rPr lang="en-US" altLang="zh-TW" i="1">
                            <a:latin typeface="Cambria Math" panose="02040503050406030204" pitchFamily="18" charset="0"/>
                          </a:rPr>
                          <m:t>,1</m:t>
                        </m:r>
                      </m:sub>
                    </m:sSub>
                  </m:oMath>
                </a14:m>
                <a:r>
                  <a:rPr lang="zh-TW" altLang="en-US" dirty="0" smtClean="0"/>
                  <a:t> </a:t>
                </a:r>
                <a:r>
                  <a:rPr lang="en-US" altLang="zh-TW" dirty="0" smtClean="0"/>
                  <a:t>and </a:t>
                </a:r>
                <a14:m>
                  <m:oMath xmlns:m="http://schemas.openxmlformats.org/officeDocument/2006/math">
                    <m:sSub>
                      <m:sSubPr>
                        <m:ctrlPr>
                          <a:rPr lang="en-US" altLang="zh-TW" i="1">
                            <a:latin typeface="Cambria Math" panose="02040503050406030204" pitchFamily="18" charset="0"/>
                          </a:rPr>
                        </m:ctrlPr>
                      </m:sSubPr>
                      <m:e>
                        <m:r>
                          <m:rPr>
                            <m:sty m:val="p"/>
                          </m:rPr>
                          <a:rPr lang="en-US" altLang="zh-TW" i="1">
                            <a:latin typeface="Cambria Math" panose="02040503050406030204" pitchFamily="18" charset="0"/>
                          </a:rPr>
                          <m:t>A</m:t>
                        </m:r>
                      </m:e>
                      <m:sub>
                        <m:r>
                          <a:rPr lang="en-US" altLang="zh-TW" b="0" i="1" smtClean="0">
                            <a:latin typeface="Cambria Math" panose="02040503050406030204" pitchFamily="18" charset="0"/>
                          </a:rPr>
                          <m:t>1</m:t>
                        </m:r>
                        <m:r>
                          <a:rPr lang="en-US" altLang="zh-TW" i="1">
                            <a:latin typeface="Cambria Math" panose="02040503050406030204" pitchFamily="18" charset="0"/>
                          </a:rPr>
                          <m:t>,</m:t>
                        </m:r>
                        <m:r>
                          <a:rPr lang="en-US" altLang="zh-TW" i="1">
                            <a:latin typeface="Cambria Math" panose="02040503050406030204" pitchFamily="18" charset="0"/>
                          </a:rPr>
                          <m:t>𝑡</m:t>
                        </m:r>
                      </m:sub>
                    </m:sSub>
                  </m:oMath>
                </a14:m>
                <a:r>
                  <a:rPr lang="zh-TW" altLang="en-US" dirty="0" smtClean="0"/>
                  <a:t> </a:t>
                </a:r>
                <a:r>
                  <a:rPr lang="en-US" altLang="zh-TW" dirty="0" smtClean="0"/>
                  <a:t>,</a:t>
                </a:r>
                <a14:m>
                  <m:oMath xmlns:m="http://schemas.openxmlformats.org/officeDocument/2006/math">
                    <m:r>
                      <a:rPr lang="en-US" altLang="zh-TW" b="0" i="1" dirty="0" smtClean="0">
                        <a:latin typeface="Cambria Math" panose="02040503050406030204" pitchFamily="18" charset="0"/>
                      </a:rPr>
                      <m:t>1</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𝑠</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𝑖</m:t>
                    </m:r>
                    <m:r>
                      <a:rPr lang="en-US" altLang="zh-TW" b="0" i="1" dirty="0" smtClean="0">
                        <a:latin typeface="Cambria Math" panose="02040503050406030204" pitchFamily="18" charset="0"/>
                        <a:ea typeface="Cambria Math" panose="02040503050406030204" pitchFamily="18" charset="0"/>
                      </a:rPr>
                      <m:t> </m:t>
                    </m:r>
                    <m:r>
                      <a:rPr lang="en-US" altLang="zh-TW" b="0" i="1" dirty="0" smtClean="0">
                        <a:latin typeface="Cambria Math" panose="02040503050406030204" pitchFamily="18" charset="0"/>
                        <a:ea typeface="Cambria Math" panose="02040503050406030204" pitchFamily="18" charset="0"/>
                      </a:rPr>
                      <m:t>𝑎𝑛𝑑</m:t>
                    </m:r>
                    <m:r>
                      <a:rPr lang="en-US" altLang="zh-TW" b="0" i="1" dirty="0" smtClean="0">
                        <a:latin typeface="Cambria Math" panose="02040503050406030204" pitchFamily="18" charset="0"/>
                        <a:ea typeface="Cambria Math" panose="02040503050406030204" pitchFamily="18" charset="0"/>
                      </a:rPr>
                      <m:t> 1≤</m:t>
                    </m:r>
                    <m:r>
                      <a:rPr lang="en-US" altLang="zh-TW" b="0" i="1" dirty="0" smtClean="0">
                        <a:latin typeface="Cambria Math" panose="02040503050406030204" pitchFamily="18" charset="0"/>
                        <a:ea typeface="Cambria Math" panose="02040503050406030204" pitchFamily="18" charset="0"/>
                      </a:rPr>
                      <m:t>𝑡</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𝑗</m:t>
                    </m:r>
                    <m:r>
                      <a:rPr lang="en-US" altLang="zh-TW" b="0" i="1" dirty="0" smtClean="0">
                        <a:latin typeface="Cambria Math" panose="02040503050406030204" pitchFamily="18" charset="0"/>
                        <a:ea typeface="Cambria Math" panose="02040503050406030204" pitchFamily="18" charset="0"/>
                      </a:rPr>
                      <m:t>,</m:t>
                    </m:r>
                  </m:oMath>
                </a14:m>
                <a:endParaRPr lang="en-US" altLang="zh-TW" b="0" dirty="0" smtClean="0">
                  <a:ea typeface="Cambria Math" panose="02040503050406030204" pitchFamily="18" charset="0"/>
                </a:endParaRPr>
              </a:p>
              <a:p>
                <a:pPr marL="0" indent="0">
                  <a:buNone/>
                </a:pPr>
                <a:r>
                  <a:rPr lang="en-US" altLang="zh-TW" dirty="0"/>
                  <a:t>i</a:t>
                </a:r>
                <a:r>
                  <a:rPr lang="en-US" altLang="zh-TW" dirty="0" smtClean="0"/>
                  <a:t>s bounded by </a:t>
                </a:r>
                <a14:m>
                  <m:oMath xmlns:m="http://schemas.openxmlformats.org/officeDocument/2006/math">
                    <m:r>
                      <a:rPr lang="en-US" altLang="zh-TW" b="0" i="1" smtClean="0">
                        <a:latin typeface="Cambria Math" panose="02040503050406030204" pitchFamily="18" charset="0"/>
                      </a:rPr>
                      <m:t>𝑂</m:t>
                    </m:r>
                    <m:r>
                      <a:rPr lang="en-US" altLang="zh-TW" b="0" i="1" smtClean="0">
                        <a:latin typeface="Cambria Math" panose="02040503050406030204" pitchFamily="18" charset="0"/>
                      </a:rPr>
                      <m:t>(</m:t>
                    </m:r>
                    <m:r>
                      <a:rPr lang="en-US" altLang="zh-TW" b="0" i="1" smtClean="0">
                        <a:latin typeface="Cambria Math" panose="02040503050406030204" pitchFamily="18" charset="0"/>
                      </a:rPr>
                      <m:t>𝑖𝑗</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oMath>
                </a14:m>
                <a:r>
                  <a:rPr lang="en-US" altLang="zh-TW" dirty="0" smtClean="0"/>
                  <a:t>.</a:t>
                </a:r>
              </a:p>
              <a:p>
                <a:pPr marL="0" indent="0">
                  <a:buNone/>
                </a:pPr>
                <a:endParaRPr lang="en-US" altLang="zh-TW" dirty="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2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42995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Tree Alignment Distance</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8679" y="1690688"/>
            <a:ext cx="11454642" cy="3952123"/>
          </a:xfrm>
        </p:spPr>
      </p:pic>
    </p:spTree>
    <p:extLst>
      <p:ext uri="{BB962C8B-B14F-4D97-AF65-F5344CB8AC3E}">
        <p14:creationId xmlns:p14="http://schemas.microsoft.com/office/powerpoint/2010/main" val="27255434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1573" y="3647627"/>
            <a:ext cx="8268854" cy="3210373"/>
          </a:xfrm>
          <a:prstGeom prst="rect">
            <a:avLst/>
          </a:prstGeom>
        </p:spPr>
      </p:pic>
      <p:sp>
        <p:nvSpPr>
          <p:cNvPr id="2" name="標題 1"/>
          <p:cNvSpPr>
            <a:spLocks noGrp="1"/>
          </p:cNvSpPr>
          <p:nvPr>
            <p:ph type="title"/>
          </p:nvPr>
        </p:nvSpPr>
        <p:spPr/>
        <p:txBody>
          <a:bodyPr/>
          <a:lstStyle/>
          <a:p>
            <a:r>
              <a:rPr lang="en-US" altLang="zh-TW" dirty="0" smtClean="0"/>
              <a:t>Tree Inclusion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428583"/>
                <a:ext cx="10515600" cy="4351338"/>
              </a:xfrm>
            </p:spPr>
            <p:txBody>
              <a:bodyPr/>
              <a:lstStyle/>
              <a:p>
                <a:pPr marL="0" indent="0">
                  <a:buNone/>
                </a:pPr>
                <a:r>
                  <a:rPr lang="en-US" altLang="zh-TW" dirty="0" smtClean="0"/>
                  <a:t>Define an </a:t>
                </a:r>
                <a14:m>
                  <m:oMath xmlns:m="http://schemas.openxmlformats.org/officeDocument/2006/math">
                    <m:r>
                      <a:rPr lang="en-US" altLang="zh-TW" b="0" i="1" smtClean="0">
                        <a:latin typeface="Cambria Math" panose="02040503050406030204" pitchFamily="18" charset="0"/>
                      </a:rPr>
                      <m:t>𝑜𝑟𝑑𝑒𝑟𝑒𝑑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𝑒𝑚𝑏𝑒𝑑𝑑𝑖𝑛𝑔</m:t>
                    </m:r>
                    <m:r>
                      <a:rPr lang="en-US" altLang="zh-TW" b="0" i="1" smtClean="0">
                        <a:latin typeface="Cambria Math" panose="02040503050406030204" pitchFamily="18" charset="0"/>
                      </a:rPr>
                      <m:t> (</m:t>
                    </m:r>
                    <m:r>
                      <a:rPr lang="en-US" altLang="zh-TW" b="0" i="1" smtClean="0">
                        <a:latin typeface="Cambria Math" panose="02040503050406030204" pitchFamily="18" charset="0"/>
                      </a:rPr>
                      <m:t>𝑓</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oMath>
                </a14:m>
                <a:r>
                  <a:rPr lang="zh-TW" altLang="en-US" dirty="0" smtClean="0"/>
                  <a:t> </a:t>
                </a:r>
                <a:r>
                  <a:rPr lang="en-US" altLang="zh-TW" dirty="0" smtClean="0"/>
                  <a:t>as an infective function</a:t>
                </a:r>
                <a:r>
                  <a:rPr lang="zh-TW" altLang="en-US" dirty="0" smtClean="0"/>
                  <a:t> </a:t>
                </a:r>
                <a:endParaRPr lang="en-US" altLang="zh-TW" b="0" i="1" dirty="0" smtClean="0">
                  <a:latin typeface="Cambria Math" panose="02040503050406030204" pitchFamily="18" charset="0"/>
                </a:endParaRPr>
              </a:p>
              <a:p>
                <a:pPr marL="0" indent="0">
                  <a:buNone/>
                </a:pPr>
                <a14:m>
                  <m:oMath xmlns:m="http://schemas.openxmlformats.org/officeDocument/2006/math">
                    <m:r>
                      <a:rPr lang="en-US" altLang="zh-TW" b="0" i="1" smtClean="0">
                        <a:latin typeface="Cambria Math" panose="02040503050406030204" pitchFamily="18" charset="0"/>
                      </a:rPr>
                      <m:t>𝑓</m:t>
                    </m:r>
                    <m:r>
                      <a:rPr lang="en-US" altLang="zh-TW" b="0" i="1" smtClean="0">
                        <a:latin typeface="Cambria Math" panose="02040503050406030204" pitchFamily="18" charset="0"/>
                      </a:rPr>
                      <m:t> :</m:t>
                    </m:r>
                    <m:r>
                      <a:rPr lang="en-US" altLang="zh-TW" b="0" i="1" smtClean="0">
                        <a:latin typeface="Cambria Math" panose="02040503050406030204" pitchFamily="18" charset="0"/>
                      </a:rPr>
                      <m:t>𝑉</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𝑉</m:t>
                    </m:r>
                    <m:d>
                      <m:dPr>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2</m:t>
                            </m:r>
                          </m:sub>
                        </m:sSub>
                      </m:e>
                    </m:d>
                  </m:oMath>
                </a14:m>
                <a:r>
                  <a:rPr lang="en-US" altLang="zh-TW" dirty="0" smtClean="0"/>
                  <a:t> such that for all nodes </a:t>
                </a:r>
                <a14:m>
                  <m:oMath xmlns:m="http://schemas.openxmlformats.org/officeDocument/2006/math">
                    <m:r>
                      <a:rPr lang="en-US" altLang="zh-TW" b="0" i="1" smtClean="0">
                        <a:latin typeface="Cambria Math" panose="02040503050406030204" pitchFamily="18" charset="0"/>
                      </a:rPr>
                      <m:t>𝑢</m:t>
                    </m:r>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𝑉</m:t>
                    </m:r>
                    <m:d>
                      <m:dPr>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1</m:t>
                            </m:r>
                          </m:sub>
                        </m:sSub>
                      </m:e>
                    </m:d>
                    <m:r>
                      <a:rPr lang="en-US" altLang="zh-TW" b="0" i="0" smtClean="0">
                        <a:latin typeface="Cambria Math" panose="02040503050406030204" pitchFamily="18" charset="0"/>
                        <a:ea typeface="Cambria Math" panose="02040503050406030204" pitchFamily="18" charset="0"/>
                      </a:rPr>
                      <m:t>,</m:t>
                    </m:r>
                  </m:oMath>
                </a14:m>
                <a:endParaRPr lang="en-US" altLang="zh-TW" dirty="0" smtClean="0"/>
              </a:p>
              <a:p>
                <a14:m>
                  <m:oMath xmlns:m="http://schemas.openxmlformats.org/officeDocument/2006/math">
                    <m:r>
                      <a:rPr lang="en-US" altLang="zh-TW" b="0" i="1" smtClean="0">
                        <a:latin typeface="Cambria Math" panose="02040503050406030204" pitchFamily="18" charset="0"/>
                      </a:rPr>
                      <m:t>𝑙𝑎𝑏𝑒𝑙</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𝑙𝑎𝑏𝑒𝑙</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𝑣</m:t>
                            </m:r>
                          </m:e>
                        </m:d>
                      </m:e>
                    </m:d>
                    <m:r>
                      <a:rPr lang="en-US" altLang="zh-TW" b="0" i="1" smtClean="0">
                        <a:latin typeface="Cambria Math" panose="02040503050406030204" pitchFamily="18" charset="0"/>
                      </a:rPr>
                      <m:t>.</m:t>
                    </m:r>
                  </m:oMath>
                </a14:m>
                <a:endParaRPr lang="en-US" altLang="zh-TW" b="0" dirty="0" smtClean="0"/>
              </a:p>
              <a:p>
                <a14:m>
                  <m:oMath xmlns:m="http://schemas.openxmlformats.org/officeDocument/2006/math">
                    <m:r>
                      <a:rPr lang="en-US" altLang="zh-TW" b="0" i="1" smtClean="0">
                        <a:latin typeface="Cambria Math" panose="02040503050406030204" pitchFamily="18" charset="0"/>
                      </a:rPr>
                      <m:t>𝑣</m:t>
                    </m:r>
                  </m:oMath>
                </a14:m>
                <a:r>
                  <a:rPr lang="en-US" altLang="zh-TW" dirty="0" smtClean="0"/>
                  <a:t> is an ancestor of </a:t>
                </a:r>
                <a14:m>
                  <m:oMath xmlns:m="http://schemas.openxmlformats.org/officeDocument/2006/math">
                    <m:r>
                      <a:rPr lang="en-US" altLang="zh-TW" b="0" i="1" smtClean="0">
                        <a:latin typeface="Cambria Math" panose="02040503050406030204" pitchFamily="18" charset="0"/>
                      </a:rPr>
                      <m:t>𝑢</m:t>
                    </m:r>
                  </m:oMath>
                </a14:m>
                <a:r>
                  <a:rPr lang="en-US" altLang="zh-TW" dirty="0" smtClean="0"/>
                  <a:t> </a:t>
                </a:r>
                <a:r>
                  <a:rPr lang="en-US" altLang="zh-TW" dirty="0" err="1" smtClean="0"/>
                  <a:t>iff</a:t>
                </a:r>
                <a:r>
                  <a:rPr lang="en-US" altLang="zh-TW" dirty="0" smtClean="0"/>
                  <a:t> </a:t>
                </a:r>
                <a14:m>
                  <m:oMath xmlns:m="http://schemas.openxmlformats.org/officeDocument/2006/math">
                    <m:r>
                      <a:rPr lang="en-US" altLang="zh-TW" b="0" i="1" smtClean="0">
                        <a:latin typeface="Cambria Math" panose="02040503050406030204" pitchFamily="18" charset="0"/>
                      </a:rPr>
                      <m:t>𝑓</m:t>
                    </m:r>
                    <m:r>
                      <a:rPr lang="en-US" altLang="zh-TW" b="0" i="1" smtClean="0">
                        <a:latin typeface="Cambria Math" panose="02040503050406030204" pitchFamily="18" charset="0"/>
                      </a:rPr>
                      <m:t>(</m:t>
                    </m:r>
                    <m:r>
                      <a:rPr lang="en-US" altLang="zh-TW" b="0" i="1" smtClean="0">
                        <a:latin typeface="Cambria Math" panose="02040503050406030204" pitchFamily="18" charset="0"/>
                      </a:rPr>
                      <m:t>𝑣</m:t>
                    </m:r>
                    <m:r>
                      <a:rPr lang="en-US" altLang="zh-TW" b="0" i="1" smtClean="0">
                        <a:latin typeface="Cambria Math" panose="02040503050406030204" pitchFamily="18" charset="0"/>
                      </a:rPr>
                      <m:t>)</m:t>
                    </m:r>
                  </m:oMath>
                </a14:m>
                <a:r>
                  <a:rPr lang="en-US" altLang="zh-TW" dirty="0" smtClean="0"/>
                  <a:t> </a:t>
                </a:r>
                <a:r>
                  <a:rPr lang="en-US" altLang="zh-TW" dirty="0"/>
                  <a:t>is an ancestor of </a:t>
                </a:r>
                <a14:m>
                  <m:oMath xmlns:m="http://schemas.openxmlformats.org/officeDocument/2006/math">
                    <m:r>
                      <m:rPr>
                        <m:sty m:val="p"/>
                      </m:rPr>
                      <a:rPr lang="en-US" altLang="zh-TW" b="0" i="0" smtClean="0">
                        <a:latin typeface="Cambria Math" panose="02040503050406030204" pitchFamily="18" charset="0"/>
                      </a:rPr>
                      <m:t>f</m:t>
                    </m:r>
                    <m:r>
                      <a:rPr lang="en-US" altLang="zh-TW" b="0" i="0" smtClean="0">
                        <a:latin typeface="Cambria Math" panose="02040503050406030204" pitchFamily="18" charset="0"/>
                      </a:rPr>
                      <m:t>(</m:t>
                    </m:r>
                    <m:r>
                      <a:rPr lang="en-US" altLang="zh-TW" i="1">
                        <a:latin typeface="Cambria Math" panose="02040503050406030204" pitchFamily="18" charset="0"/>
                      </a:rPr>
                      <m:t>𝑢</m:t>
                    </m:r>
                    <m:r>
                      <a:rPr lang="en-US" altLang="zh-TW" b="0" i="1" smtClean="0">
                        <a:latin typeface="Cambria Math" panose="02040503050406030204" pitchFamily="18" charset="0"/>
                      </a:rPr>
                      <m:t>)</m:t>
                    </m:r>
                  </m:oMath>
                </a14:m>
                <a:r>
                  <a:rPr lang="en-US" altLang="zh-TW" dirty="0" smtClean="0"/>
                  <a:t>.</a:t>
                </a:r>
              </a:p>
              <a:p>
                <a14:m>
                  <m:oMath xmlns:m="http://schemas.openxmlformats.org/officeDocument/2006/math">
                    <m:r>
                      <a:rPr lang="en-US" altLang="zh-TW" i="1">
                        <a:latin typeface="Cambria Math" panose="02040503050406030204" pitchFamily="18" charset="0"/>
                      </a:rPr>
                      <m:t>𝑣</m:t>
                    </m:r>
                  </m:oMath>
                </a14:m>
                <a:r>
                  <a:rPr lang="en-US" altLang="zh-TW" dirty="0"/>
                  <a:t> is </a:t>
                </a:r>
                <a:r>
                  <a:rPr lang="en-US" altLang="zh-TW" dirty="0" smtClean="0"/>
                  <a:t>to the left </a:t>
                </a:r>
                <a:r>
                  <a:rPr lang="en-US" altLang="zh-TW" dirty="0"/>
                  <a:t>of </a:t>
                </a:r>
                <a14:m>
                  <m:oMath xmlns:m="http://schemas.openxmlformats.org/officeDocument/2006/math">
                    <m:r>
                      <a:rPr lang="en-US" altLang="zh-TW" i="1">
                        <a:latin typeface="Cambria Math" panose="02040503050406030204" pitchFamily="18" charset="0"/>
                      </a:rPr>
                      <m:t>𝑢</m:t>
                    </m:r>
                  </m:oMath>
                </a14:m>
                <a:r>
                  <a:rPr lang="en-US" altLang="zh-TW" dirty="0"/>
                  <a:t> </a:t>
                </a:r>
                <a:r>
                  <a:rPr lang="en-US" altLang="zh-TW" dirty="0" err="1"/>
                  <a:t>iff</a:t>
                </a:r>
                <a:r>
                  <a:rPr lang="en-US" altLang="zh-TW" dirty="0"/>
                  <a:t> </a:t>
                </a:r>
                <a14:m>
                  <m:oMath xmlns:m="http://schemas.openxmlformats.org/officeDocument/2006/math">
                    <m:r>
                      <a:rPr lang="en-US" altLang="zh-TW" i="1">
                        <a:latin typeface="Cambria Math" panose="02040503050406030204" pitchFamily="18" charset="0"/>
                      </a:rPr>
                      <m:t>𝑓</m:t>
                    </m:r>
                    <m:r>
                      <a:rPr lang="en-US" altLang="zh-TW" i="1">
                        <a:latin typeface="Cambria Math" panose="02040503050406030204" pitchFamily="18" charset="0"/>
                      </a:rPr>
                      <m:t>(</m:t>
                    </m:r>
                    <m:r>
                      <a:rPr lang="en-US" altLang="zh-TW" i="1">
                        <a:latin typeface="Cambria Math" panose="02040503050406030204" pitchFamily="18" charset="0"/>
                      </a:rPr>
                      <m:t>𝑣</m:t>
                    </m:r>
                    <m:r>
                      <a:rPr lang="en-US" altLang="zh-TW" i="1">
                        <a:latin typeface="Cambria Math" panose="02040503050406030204" pitchFamily="18" charset="0"/>
                      </a:rPr>
                      <m:t>)</m:t>
                    </m:r>
                  </m:oMath>
                </a14:m>
                <a:r>
                  <a:rPr lang="en-US" altLang="zh-TW" dirty="0"/>
                  <a:t> is to the left </a:t>
                </a:r>
                <a:r>
                  <a:rPr lang="en-US" altLang="zh-TW" dirty="0" smtClean="0"/>
                  <a:t>of </a:t>
                </a:r>
                <a14:m>
                  <m:oMath xmlns:m="http://schemas.openxmlformats.org/officeDocument/2006/math">
                    <m:r>
                      <m:rPr>
                        <m:sty m:val="p"/>
                      </m:rPr>
                      <a:rPr lang="en-US" altLang="zh-TW">
                        <a:latin typeface="Cambria Math" panose="02040503050406030204" pitchFamily="18" charset="0"/>
                      </a:rPr>
                      <m:t>f</m:t>
                    </m:r>
                    <m:r>
                      <a:rPr lang="en-US" altLang="zh-TW">
                        <a:latin typeface="Cambria Math" panose="02040503050406030204" pitchFamily="18" charset="0"/>
                      </a:rPr>
                      <m:t>(</m:t>
                    </m:r>
                    <m:r>
                      <a:rPr lang="en-US" altLang="zh-TW" i="1">
                        <a:latin typeface="Cambria Math" panose="02040503050406030204" pitchFamily="18" charset="0"/>
                      </a:rPr>
                      <m:t>𝑢</m:t>
                    </m:r>
                    <m:r>
                      <a:rPr lang="en-US" altLang="zh-TW" i="1">
                        <a:latin typeface="Cambria Math" panose="02040503050406030204" pitchFamily="18" charset="0"/>
                      </a:rPr>
                      <m:t>)</m:t>
                    </m:r>
                  </m:oMath>
                </a14:m>
                <a:r>
                  <a:rPr lang="en-US" altLang="zh-TW" dirty="0"/>
                  <a:t>.</a:t>
                </a:r>
              </a:p>
              <a:p>
                <a:endParaRPr lang="en-US" altLang="zh-TW"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428583"/>
                <a:ext cx="10515600" cy="4351338"/>
              </a:xfrm>
              <a:blipFill rotWithShape="0">
                <a:blip r:embed="rId3"/>
                <a:stretch>
                  <a:fillRect l="-1217"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678408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Kilpel</a:t>
            </a:r>
            <a:r>
              <a:rPr lang="az-Cyrl-AZ" altLang="zh-TW" dirty="0" smtClean="0"/>
              <a:t>ӓ</a:t>
            </a:r>
            <a:r>
              <a:rPr lang="en-US" altLang="zh-TW" dirty="0" err="1" smtClean="0"/>
              <a:t>inen</a:t>
            </a:r>
            <a:r>
              <a:rPr lang="en-US" altLang="zh-TW" dirty="0" smtClean="0"/>
              <a:t> and </a:t>
            </a:r>
            <a:r>
              <a:rPr lang="en-US" altLang="zh-TW" dirty="0" err="1" smtClean="0"/>
              <a:t>Mannila’s</a:t>
            </a:r>
            <a:r>
              <a:rPr lang="en-US" altLang="zh-TW" dirty="0" smtClean="0"/>
              <a:t> algorithm</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221857"/>
            <a:ext cx="10676022" cy="1451609"/>
          </a:xfrm>
        </p:spPr>
      </p:pic>
      <mc:AlternateContent xmlns:mc="http://schemas.openxmlformats.org/markup-compatibility/2006" xmlns:a14="http://schemas.microsoft.com/office/drawing/2010/main">
        <mc:Choice Requires="a14">
          <p:sp>
            <p:nvSpPr>
              <p:cNvPr id="5" name="文字方塊 4"/>
              <p:cNvSpPr txBox="1"/>
              <p:nvPr/>
            </p:nvSpPr>
            <p:spPr>
              <a:xfrm>
                <a:off x="838200" y="1690686"/>
                <a:ext cx="7170296" cy="25624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TW" altLang="en-US" sz="2200" i="1" smtClean="0">
                          <a:latin typeface="Cambria Math" panose="02040503050406030204" pitchFamily="18" charset="0"/>
                        </a:rPr>
                        <m:t>𝜌</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𝑣</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𝑤</m:t>
                          </m:r>
                        </m:e>
                      </m:d>
                      <m:r>
                        <a:rPr lang="en-US" altLang="zh-TW" sz="2200" b="0" i="1" smtClean="0">
                          <a:latin typeface="Cambria Math" panose="02040503050406030204" pitchFamily="18" charset="0"/>
                        </a:rPr>
                        <m:t>=</m:t>
                      </m:r>
                      <m:func>
                        <m:funcPr>
                          <m:ctrlPr>
                            <a:rPr lang="en-US" altLang="zh-TW" sz="2200" b="0" i="1" smtClean="0">
                              <a:latin typeface="Cambria Math" panose="02040503050406030204" pitchFamily="18" charset="0"/>
                            </a:rPr>
                          </m:ctrlPr>
                        </m:funcPr>
                        <m:fName>
                          <m:limLow>
                            <m:limLowPr>
                              <m:ctrlPr>
                                <a:rPr lang="en-US" altLang="zh-TW" sz="2200" b="0" i="1" smtClean="0">
                                  <a:latin typeface="Cambria Math" panose="02040503050406030204" pitchFamily="18" charset="0"/>
                                </a:rPr>
                              </m:ctrlPr>
                            </m:limLowPr>
                            <m:e>
                              <m:r>
                                <m:rPr>
                                  <m:sty m:val="p"/>
                                </m:rPr>
                                <a:rPr lang="en-US" altLang="zh-TW" sz="2200" b="0" i="0" smtClean="0">
                                  <a:latin typeface="Cambria Math" panose="02040503050406030204" pitchFamily="18" charset="0"/>
                                </a:rPr>
                                <m:t>min</m:t>
                              </m:r>
                            </m:e>
                            <m:lim>
                              <m:r>
                                <a:rPr lang="en-US" altLang="zh-TW" sz="2200" b="0" i="1" smtClean="0">
                                  <a:latin typeface="Cambria Math" panose="02040503050406030204" pitchFamily="18" charset="0"/>
                                  <a:ea typeface="Cambria Math" panose="02040503050406030204" pitchFamily="18" charset="0"/>
                                </a:rPr>
                                <m:t>≺</m:t>
                              </m:r>
                            </m:lim>
                          </m:limLow>
                        </m:fName>
                        <m:e>
                          <m:r>
                            <a:rPr lang="en-US" altLang="zh-TW" sz="2200" b="0" i="1" smtClean="0">
                              <a:latin typeface="Cambria Math" panose="02040503050406030204" pitchFamily="18" charset="0"/>
                            </a:rPr>
                            <m:t>{</m:t>
                          </m:r>
                          <m:d>
                            <m:dPr>
                              <m:begChr m:val="{"/>
                              <m:endChr m:val="|"/>
                              <m:ctrlPr>
                                <a:rPr lang="en-US" altLang="zh-TW" sz="2200" b="0" i="1" smtClean="0">
                                  <a:latin typeface="Cambria Math" panose="02040503050406030204" pitchFamily="18" charset="0"/>
                                </a:rPr>
                              </m:ctrlPr>
                            </m:dPr>
                            <m:e>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𝑤</m:t>
                                  </m:r>
                                </m:e>
                                <m:sup>
                                  <m:r>
                                    <a:rPr lang="en-US" altLang="zh-TW" sz="2200" b="0" i="1" smtClean="0">
                                      <a:latin typeface="Cambria Math" panose="02040503050406030204" pitchFamily="18" charset="0"/>
                                    </a:rPr>
                                    <m:t>′</m:t>
                                  </m:r>
                                </m:sup>
                              </m:sSup>
                              <m:r>
                                <a:rPr lang="en-US" altLang="zh-TW" sz="2200" b="0" i="1" smtClean="0">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𝑟𝑟</m:t>
                              </m:r>
                              <m:d>
                                <m:dPr>
                                  <m:ctrlPr>
                                    <a:rPr lang="en-US" altLang="zh-TW" sz="2200" b="0" i="1" smtClean="0">
                                      <a:latin typeface="Cambria Math" panose="02040503050406030204" pitchFamily="18" charset="0"/>
                                      <a:ea typeface="Cambria Math" panose="02040503050406030204" pitchFamily="18" charset="0"/>
                                    </a:rPr>
                                  </m:ctrlPr>
                                </m:dPr>
                                <m:e>
                                  <m:r>
                                    <a:rPr lang="en-US" altLang="zh-TW" sz="2200" b="0" i="1" smtClean="0">
                                      <a:latin typeface="Cambria Math" panose="02040503050406030204" pitchFamily="18" charset="0"/>
                                      <a:ea typeface="Cambria Math" panose="02040503050406030204" pitchFamily="18" charset="0"/>
                                    </a:rPr>
                                    <m:t>𝑤</m:t>
                                  </m:r>
                                </m:e>
                              </m:d>
                            </m:e>
                          </m:d>
                          <m:r>
                            <a:rPr lang="en-US" altLang="zh-TW" sz="2200" b="0" i="1" smtClean="0">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𝑓</m:t>
                          </m:r>
                          <m:r>
                            <a:rPr lang="en-US" altLang="zh-TW" sz="2200" b="0" i="1" smtClean="0">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𝑅</m:t>
                          </m:r>
                          <m:r>
                            <a:rPr lang="en-US" altLang="zh-TW" sz="2200" b="0" i="1" smtClean="0">
                              <a:latin typeface="Cambria Math" panose="02040503050406030204" pitchFamily="18" charset="0"/>
                              <a:ea typeface="Cambria Math" panose="02040503050406030204" pitchFamily="18" charset="0"/>
                            </a:rPr>
                            <m:t>(</m:t>
                          </m:r>
                          <m:sSub>
                            <m:sSubPr>
                              <m:ctrlPr>
                                <a:rPr lang="en-US" altLang="zh-TW" sz="2200" b="0" i="1" smtClean="0">
                                  <a:latin typeface="Cambria Math" panose="02040503050406030204" pitchFamily="18" charset="0"/>
                                  <a:ea typeface="Cambria Math" panose="02040503050406030204" pitchFamily="18" charset="0"/>
                                </a:rPr>
                              </m:ctrlPr>
                            </m:sSubPr>
                            <m:e>
                              <m:r>
                                <a:rPr lang="en-US" altLang="zh-TW" sz="2200" b="0" i="1" smtClean="0">
                                  <a:latin typeface="Cambria Math" panose="02040503050406030204" pitchFamily="18" charset="0"/>
                                  <a:ea typeface="Cambria Math" panose="02040503050406030204" pitchFamily="18" charset="0"/>
                                </a:rPr>
                                <m:t>𝑇</m:t>
                              </m:r>
                            </m:e>
                            <m:sub>
                              <m:r>
                                <a:rPr lang="en-US" altLang="zh-TW" sz="2200" b="0" i="1" smtClean="0">
                                  <a:latin typeface="Cambria Math" panose="02040503050406030204" pitchFamily="18" charset="0"/>
                                  <a:ea typeface="Cambria Math" panose="02040503050406030204" pitchFamily="18" charset="0"/>
                                </a:rPr>
                                <m:t>1</m:t>
                              </m:r>
                            </m:sub>
                          </m:sSub>
                          <m:r>
                            <a:rPr lang="en-US" altLang="zh-TW" sz="2200" b="0" i="1" smtClean="0">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𝑣</m:t>
                          </m:r>
                          <m:r>
                            <a:rPr lang="en-US" altLang="zh-TW" sz="2200" b="0" i="1" smtClean="0">
                              <a:latin typeface="Cambria Math" panose="02040503050406030204" pitchFamily="18" charset="0"/>
                              <a:ea typeface="Cambria Math" panose="02040503050406030204" pitchFamily="18" charset="0"/>
                            </a:rPr>
                            <m:t>),</m:t>
                          </m:r>
                          <m:sSub>
                            <m:sSubPr>
                              <m:ctrlPr>
                                <a:rPr lang="en-US" altLang="zh-TW" sz="2200" b="0" i="1" smtClean="0">
                                  <a:latin typeface="Cambria Math" panose="02040503050406030204" pitchFamily="18" charset="0"/>
                                  <a:ea typeface="Cambria Math" panose="02040503050406030204" pitchFamily="18" charset="0"/>
                                </a:rPr>
                              </m:ctrlPr>
                            </m:sSubPr>
                            <m:e>
                              <m:r>
                                <a:rPr lang="en-US" altLang="zh-TW" sz="2200" b="0" i="1" smtClean="0">
                                  <a:latin typeface="Cambria Math" panose="02040503050406030204" pitchFamily="18" charset="0"/>
                                  <a:ea typeface="Cambria Math" panose="02040503050406030204" pitchFamily="18" charset="0"/>
                                </a:rPr>
                                <m:t>𝑇</m:t>
                              </m:r>
                            </m:e>
                            <m:sub>
                              <m:r>
                                <a:rPr lang="en-US" altLang="zh-TW" sz="2200" b="0" i="1" smtClean="0">
                                  <a:latin typeface="Cambria Math" panose="02040503050406030204" pitchFamily="18" charset="0"/>
                                  <a:ea typeface="Cambria Math" panose="02040503050406030204" pitchFamily="18" charset="0"/>
                                </a:rPr>
                                <m:t>2</m:t>
                              </m:r>
                            </m:sub>
                          </m:sSub>
                          <m:r>
                            <a:rPr lang="en-US" altLang="zh-TW" sz="2200" b="0" i="1" smtClean="0">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𝑤</m:t>
                          </m:r>
                          <m:r>
                            <a:rPr lang="en-US" altLang="zh-TW" sz="2200" b="0" i="1" smtClean="0">
                              <a:latin typeface="Cambria Math" panose="02040503050406030204" pitchFamily="18" charset="0"/>
                              <a:ea typeface="Cambria Math" panose="02040503050406030204" pitchFamily="18" charset="0"/>
                            </a:rPr>
                            <m:t>′))}⋃{⊺}}</m:t>
                          </m:r>
                        </m:e>
                      </m:func>
                    </m:oMath>
                  </m:oMathPara>
                </a14:m>
                <a:endParaRPr lang="en-US" altLang="zh-TW" sz="2200" b="0" dirty="0" smtClean="0"/>
              </a:p>
              <a:p>
                <a:endParaRPr lang="en-US" altLang="zh-TW" sz="2200" dirty="0" smtClean="0"/>
              </a:p>
              <a:p>
                <a:endParaRPr lang="en-US" altLang="zh-TW" sz="2200" dirty="0"/>
              </a:p>
              <a:p>
                <a:endParaRPr lang="en-US" altLang="zh-TW" sz="2200" dirty="0" smtClean="0"/>
              </a:p>
              <a:p>
                <a:endParaRPr lang="en-US" altLang="zh-TW" sz="2200" dirty="0"/>
              </a:p>
              <a:p>
                <a:endParaRPr lang="en-US" altLang="zh-TW" sz="2200" dirty="0" smtClean="0"/>
              </a:p>
              <a:p>
                <a:endParaRPr lang="zh-TW" altLang="en-US" sz="22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838200" y="1690686"/>
                <a:ext cx="7170296" cy="2562496"/>
              </a:xfrm>
              <a:prstGeom prst="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69349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內容版面配置區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251" y="9525"/>
            <a:ext cx="12151497" cy="6848475"/>
          </a:xfrm>
        </p:spPr>
      </p:pic>
    </p:spTree>
    <p:extLst>
      <p:ext uri="{BB962C8B-B14F-4D97-AF65-F5344CB8AC3E}">
        <p14:creationId xmlns:p14="http://schemas.microsoft.com/office/powerpoint/2010/main" val="32488933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2165</TotalTime>
  <Words>306</Words>
  <Application>Microsoft Office PowerPoint</Application>
  <PresentationFormat>寬螢幕</PresentationFormat>
  <Paragraphs>102</Paragraphs>
  <Slides>23</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23</vt:i4>
      </vt:variant>
    </vt:vector>
  </HeadingPairs>
  <TitlesOfParts>
    <vt:vector size="29" baseType="lpstr">
      <vt:lpstr>新細明體</vt:lpstr>
      <vt:lpstr>Arial</vt:lpstr>
      <vt:lpstr>Calibri</vt:lpstr>
      <vt:lpstr>Calibri Light</vt:lpstr>
      <vt:lpstr>Cambria Math</vt:lpstr>
      <vt:lpstr>Office 佈景主題</vt:lpstr>
      <vt:lpstr>PowerPoint 簡報</vt:lpstr>
      <vt:lpstr>Abstract</vt:lpstr>
      <vt:lpstr>Introduction</vt:lpstr>
      <vt:lpstr>Tree Edit Distance</vt:lpstr>
      <vt:lpstr>Edit operations and edit mappings</vt:lpstr>
      <vt:lpstr>Edit operations and edit mappings</vt:lpstr>
      <vt:lpstr>Edit operations and edit mappings</vt:lpstr>
      <vt:lpstr>A simple algorithm</vt:lpstr>
      <vt:lpstr>Zhang and Shasha’s algorithm</vt:lpstr>
      <vt:lpstr>Klein’s algorithm</vt:lpstr>
      <vt:lpstr>Klein’s algorithm</vt:lpstr>
      <vt:lpstr>Constrained edit distance</vt:lpstr>
      <vt:lpstr>Constrained edit distance</vt:lpstr>
      <vt:lpstr>Constrained edit distance</vt:lpstr>
      <vt:lpstr>Tree Alignment Distance</vt:lpstr>
      <vt:lpstr>Tree Alignment Distance</vt:lpstr>
      <vt:lpstr>Tree Alignment Distance</vt:lpstr>
      <vt:lpstr>Tree Alignment Distance</vt:lpstr>
      <vt:lpstr>Tree Alignment Distance</vt:lpstr>
      <vt:lpstr>Tree Alignment Distance</vt:lpstr>
      <vt:lpstr>Tree Inclusion</vt:lpstr>
      <vt:lpstr>Kilpelӓinen and Mannila’s algorithm</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sizuka</dc:creator>
  <cp:lastModifiedBy>sizuka</cp:lastModifiedBy>
  <cp:revision>83</cp:revision>
  <dcterms:created xsi:type="dcterms:W3CDTF">2015-11-30T03:50:15Z</dcterms:created>
  <dcterms:modified xsi:type="dcterms:W3CDTF">2016-01-05T11:23:17Z</dcterms:modified>
</cp:coreProperties>
</file>