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1" r:id="rId3"/>
    <p:sldId id="272" r:id="rId4"/>
    <p:sldId id="257" r:id="rId5"/>
    <p:sldId id="259" r:id="rId6"/>
    <p:sldId id="291" r:id="rId7"/>
    <p:sldId id="292" r:id="rId8"/>
    <p:sldId id="293" r:id="rId9"/>
    <p:sldId id="262" r:id="rId10"/>
    <p:sldId id="294" r:id="rId11"/>
    <p:sldId id="307" r:id="rId12"/>
    <p:sldId id="300" r:id="rId13"/>
    <p:sldId id="295" r:id="rId14"/>
    <p:sldId id="301" r:id="rId15"/>
    <p:sldId id="302" r:id="rId16"/>
    <p:sldId id="296" r:id="rId17"/>
    <p:sldId id="303" r:id="rId18"/>
    <p:sldId id="297" r:id="rId19"/>
    <p:sldId id="298" r:id="rId20"/>
    <p:sldId id="299" r:id="rId21"/>
    <p:sldId id="306" r:id="rId22"/>
    <p:sldId id="269" r:id="rId23"/>
    <p:sldId id="304" r:id="rId24"/>
    <p:sldId id="282" r:id="rId25"/>
    <p:sldId id="284" r:id="rId26"/>
    <p:sldId id="308" r:id="rId27"/>
    <p:sldId id="287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A2A53-36D2-4762-B04A-65AFE34FEB89}" type="datetimeFigureOut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4031D-625F-4068-9ED6-3EE1ECC134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19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4031D-625F-4068-9ED6-3EE1ECC1349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11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3BB3-77C9-4F3E-9FD9-878393123B53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41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66B7-F097-4D86-8BAC-C16010D3F582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81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23515-E16D-492C-B348-59D03B4BF0B0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5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603-9618-4679-8B32-5F113EF2629D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4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7128A-F526-4F6E-940C-35B382F5B1C5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13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AD1B-5275-4D2D-B28A-9538B323B129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97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5435-67D5-4536-A4B5-F839EBEA10EF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6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8A6E-9EF4-45C0-BFB7-6163A4CBE41F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27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E0A7-3C0C-4E27-9090-9C9C27264320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92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318C3-D4E2-4BBA-B35B-DB56FEB250CC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56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E8BD8-FA97-4F86-BFC2-F50791673713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99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4B284-EAE0-438D-83A4-9FB17A668996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CFAFA-9BFF-4693-B7DD-F6FD3655CD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38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60500" y="665163"/>
            <a:ext cx="8991600" cy="2387600"/>
          </a:xfrm>
        </p:spPr>
        <p:txBody>
          <a:bodyPr>
            <a:normAutofit/>
          </a:bodyPr>
          <a:lstStyle/>
          <a:p>
            <a:r>
              <a:rPr lang="en-US" altLang="zh-TW" sz="5200" dirty="0"/>
              <a:t>A stock market portfolio recommender system based on association rule mining</a:t>
            </a:r>
            <a:endParaRPr lang="zh-TW" altLang="en-US" sz="5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25600" y="3803650"/>
            <a:ext cx="9144000" cy="1287462"/>
          </a:xfrm>
        </p:spPr>
        <p:txBody>
          <a:bodyPr>
            <a:noAutofit/>
          </a:bodyPr>
          <a:lstStyle/>
          <a:p>
            <a:r>
              <a:rPr lang="en-US" altLang="zh-TW" sz="2500" dirty="0" err="1"/>
              <a:t>Preeti</a:t>
            </a:r>
            <a:r>
              <a:rPr lang="en-US" altLang="zh-TW" sz="2500" dirty="0"/>
              <a:t> </a:t>
            </a:r>
            <a:r>
              <a:rPr lang="en-US" altLang="zh-TW" sz="2500" dirty="0" err="1" smtClean="0"/>
              <a:t>Paranjape-Voditela</a:t>
            </a:r>
            <a:r>
              <a:rPr lang="en-US" altLang="zh-TW" sz="2500" dirty="0" smtClean="0"/>
              <a:t>, </a:t>
            </a:r>
            <a:r>
              <a:rPr lang="en-US" altLang="zh-TW" sz="2500" dirty="0" err="1"/>
              <a:t>Umesh</a:t>
            </a:r>
            <a:r>
              <a:rPr lang="en-US" altLang="zh-TW" sz="2500" dirty="0"/>
              <a:t> </a:t>
            </a:r>
            <a:r>
              <a:rPr lang="en-US" altLang="zh-TW" sz="2500" dirty="0" err="1"/>
              <a:t>Deshpandeb</a:t>
            </a:r>
            <a:endParaRPr lang="en-US" altLang="zh-TW" sz="2500" dirty="0" smtClean="0"/>
          </a:p>
          <a:p>
            <a:endParaRPr lang="en-US" altLang="zh-TW" sz="2500" dirty="0"/>
          </a:p>
          <a:p>
            <a:r>
              <a:rPr lang="en-US" altLang="zh-TW" sz="2500" dirty="0" smtClean="0"/>
              <a:t>Applied </a:t>
            </a:r>
            <a:r>
              <a:rPr lang="en-US" altLang="zh-TW" sz="2500" dirty="0"/>
              <a:t>Soft Computing </a:t>
            </a:r>
            <a:r>
              <a:rPr lang="en-US" altLang="zh-TW" sz="2500" dirty="0" smtClean="0"/>
              <a:t>13, pp. 1055–1063 (2013)</a:t>
            </a:r>
            <a:endParaRPr lang="zh-TW" altLang="en-US" sz="25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489700" y="5603472"/>
            <a:ext cx="3962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err="1" smtClean="0"/>
              <a:t>Presentor</a:t>
            </a:r>
            <a:r>
              <a:rPr lang="en-US" altLang="zh-TW" sz="2500" dirty="0" smtClean="0"/>
              <a:t> : Shih-jhan Huang</a:t>
            </a:r>
            <a:endParaRPr lang="zh-TW" altLang="en-US" sz="25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469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6986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600" dirty="0" smtClean="0"/>
              <a:t>Abstract(1/2)</a:t>
            </a:r>
            <a:endParaRPr lang="zh-TW" altLang="en-US" sz="5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35088"/>
            <a:ext cx="11391900" cy="51419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We </a:t>
            </a:r>
            <a:r>
              <a:rPr lang="en-US" altLang="zh-TW" dirty="0"/>
              <a:t>propose a stock market portfolio recommender system based on association rule mining (ARM) </a:t>
            </a:r>
            <a:r>
              <a:rPr lang="en-US" altLang="zh-TW" dirty="0" smtClean="0"/>
              <a:t>that analyzes </a:t>
            </a:r>
            <a:r>
              <a:rPr lang="en-US" altLang="zh-TW" dirty="0"/>
              <a:t>stock data and suggests a ranked basket of stocks. The objective of this recommender system </a:t>
            </a:r>
            <a:r>
              <a:rPr lang="en-US" altLang="zh-TW" dirty="0" smtClean="0"/>
              <a:t>is to support stock </a:t>
            </a:r>
            <a:r>
              <a:rPr lang="en-US" altLang="zh-TW" dirty="0"/>
              <a:t>market traders, individual investors and fund managers in their decisions by </a:t>
            </a:r>
            <a:r>
              <a:rPr lang="en-US" altLang="zh-TW" dirty="0" smtClean="0"/>
              <a:t>suggesting investment </a:t>
            </a:r>
            <a:r>
              <a:rPr lang="en-US" altLang="zh-TW" dirty="0"/>
              <a:t>in a group of equity stocks when strong evidence of possible profit from these </a:t>
            </a:r>
            <a:r>
              <a:rPr lang="en-US" altLang="zh-TW" dirty="0" smtClean="0"/>
              <a:t>transactions is </a:t>
            </a:r>
            <a:r>
              <a:rPr lang="en-US" altLang="zh-TW" dirty="0"/>
              <a:t>available.</a:t>
            </a:r>
          </a:p>
          <a:p>
            <a:pPr marL="0" indent="0" algn="just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Our </a:t>
            </a:r>
            <a:r>
              <a:rPr lang="en-US" altLang="zh-TW" dirty="0"/>
              <a:t>system is different compared to existing systems because it finds the correlation between </a:t>
            </a:r>
            <a:r>
              <a:rPr lang="en-US" altLang="zh-TW" dirty="0" smtClean="0"/>
              <a:t>stocks and </a:t>
            </a:r>
            <a:r>
              <a:rPr lang="en-US" altLang="zh-TW" dirty="0"/>
              <a:t>recommends a portfolio. Existing techniques recommend buying or selling a single stock and do </a:t>
            </a:r>
            <a:r>
              <a:rPr lang="en-US" altLang="zh-TW" dirty="0" smtClean="0"/>
              <a:t>not recommend </a:t>
            </a:r>
            <a:r>
              <a:rPr lang="en-US" altLang="zh-TW" dirty="0"/>
              <a:t>a portfolio</a:t>
            </a:r>
            <a:r>
              <a:rPr lang="en-US" altLang="zh-TW" dirty="0" smtClean="0"/>
              <a:t>.</a:t>
            </a:r>
          </a:p>
          <a:p>
            <a:pPr marL="0" indent="0" algn="just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We </a:t>
            </a:r>
            <a:r>
              <a:rPr lang="en-US" altLang="zh-TW" dirty="0"/>
              <a:t>have used the support confidence framework for generating association rules. The use of </a:t>
            </a:r>
            <a:r>
              <a:rPr lang="en-US" altLang="zh-TW" dirty="0" smtClean="0"/>
              <a:t>traditional ARM </a:t>
            </a:r>
            <a:r>
              <a:rPr lang="en-US" altLang="zh-TW" dirty="0"/>
              <a:t>is infeasible because the number of association rules is exponential and finding relevant rules </a:t>
            </a:r>
            <a:r>
              <a:rPr lang="en-US" altLang="zh-TW" dirty="0" smtClean="0"/>
              <a:t>from this </a:t>
            </a:r>
            <a:r>
              <a:rPr lang="en-US" altLang="zh-TW" dirty="0"/>
              <a:t>set is difficult. Therefore </a:t>
            </a:r>
            <a:r>
              <a:rPr lang="en-US" altLang="zh-TW" dirty="0" smtClean="0"/>
              <a:t>ARM techniques </a:t>
            </a:r>
            <a:r>
              <a:rPr lang="en-US" altLang="zh-TW" dirty="0"/>
              <a:t>have been augmented with domain specific techniques </a:t>
            </a:r>
            <a:r>
              <a:rPr lang="en-US" altLang="zh-TW" dirty="0" smtClean="0"/>
              <a:t>like formation </a:t>
            </a:r>
            <a:r>
              <a:rPr lang="en-US" altLang="zh-TW" dirty="0"/>
              <a:t>of </a:t>
            </a:r>
            <a:r>
              <a:rPr lang="en-US" altLang="zh-TW" dirty="0" err="1"/>
              <a:t>thematical</a:t>
            </a:r>
            <a:r>
              <a:rPr lang="en-US" altLang="zh-TW" dirty="0"/>
              <a:t> sectors, use of cross-sector and intra-sector rules to overcome </a:t>
            </a:r>
            <a:r>
              <a:rPr lang="en-US" altLang="zh-TW" dirty="0" smtClean="0"/>
              <a:t>the disadvantages of </a:t>
            </a:r>
            <a:r>
              <a:rPr lang="en-US" altLang="zh-TW" dirty="0"/>
              <a:t>traditional ARM.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06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73226"/>
            <a:ext cx="11252200" cy="394017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600" dirty="0" smtClean="0"/>
              <a:t>　</a:t>
            </a:r>
            <a:r>
              <a:rPr lang="en-US" altLang="zh-TW" sz="2600" dirty="0" smtClean="0"/>
              <a:t>We </a:t>
            </a:r>
            <a:r>
              <a:rPr lang="en-US" altLang="zh-TW" sz="2600" dirty="0"/>
              <a:t>have implemented novel methods like using fuzzy logic and the concept of time lags to </a:t>
            </a:r>
            <a:r>
              <a:rPr lang="en-US" altLang="zh-TW" sz="2600" dirty="0" smtClean="0"/>
              <a:t>generate datasets </a:t>
            </a:r>
            <a:r>
              <a:rPr lang="en-US" altLang="zh-TW" sz="2600" dirty="0"/>
              <a:t>from actual data of stock prices.</a:t>
            </a:r>
          </a:p>
          <a:p>
            <a:pPr marL="0" indent="0" algn="just">
              <a:buNone/>
            </a:pPr>
            <a:r>
              <a:rPr lang="zh-TW" altLang="en-US" sz="2600" dirty="0" smtClean="0"/>
              <a:t>　</a:t>
            </a:r>
            <a:r>
              <a:rPr lang="en-US" altLang="zh-TW" sz="2600" dirty="0" smtClean="0"/>
              <a:t>Thorough </a:t>
            </a:r>
            <a:r>
              <a:rPr lang="en-US" altLang="zh-TW" sz="2600" dirty="0"/>
              <a:t>experimentation has been performed on a variety of datasets like the BSE-30 sensitive </a:t>
            </a:r>
            <a:r>
              <a:rPr lang="en-US" altLang="zh-TW" sz="2600" dirty="0" smtClean="0"/>
              <a:t>Index,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the </a:t>
            </a:r>
            <a:r>
              <a:rPr lang="en-US" altLang="zh-TW" sz="2600" dirty="0"/>
              <a:t>S&amp;P CNX Nifty or NSE-50, S&amp;P CNX-100 </a:t>
            </a:r>
            <a:r>
              <a:rPr lang="en-US" altLang="zh-TW" sz="2600" dirty="0" smtClean="0"/>
              <a:t>and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DOW-30 </a:t>
            </a:r>
            <a:r>
              <a:rPr lang="en-US" altLang="zh-TW" sz="2600" dirty="0"/>
              <a:t>Industrial Average. We have compared </a:t>
            </a:r>
            <a:r>
              <a:rPr lang="en-US" altLang="zh-TW" sz="2600" dirty="0" smtClean="0"/>
              <a:t>the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returns </a:t>
            </a:r>
            <a:r>
              <a:rPr lang="en-US" altLang="zh-TW" sz="2600" dirty="0"/>
              <a:t>of </a:t>
            </a:r>
            <a:r>
              <a:rPr lang="en-US" altLang="zh-TW" sz="2600" dirty="0" smtClean="0"/>
              <a:t>our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recommender </a:t>
            </a:r>
            <a:r>
              <a:rPr lang="en-US" altLang="zh-TW" sz="2600" dirty="0"/>
              <a:t>system with the returns obtained from the top-5 </a:t>
            </a:r>
            <a:r>
              <a:rPr lang="en-US" altLang="zh-TW" sz="2600" dirty="0" smtClean="0"/>
              <a:t>mutual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funds </a:t>
            </a:r>
            <a:r>
              <a:rPr lang="en-US" altLang="zh-TW" sz="2600" dirty="0"/>
              <a:t>in India. </a:t>
            </a:r>
            <a:r>
              <a:rPr lang="en-US" altLang="zh-TW" sz="2600" dirty="0" smtClean="0"/>
              <a:t>The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results </a:t>
            </a:r>
            <a:r>
              <a:rPr lang="en-US" altLang="zh-TW" sz="2600" dirty="0"/>
              <a:t>of our system have surpassed the results from the mutual funds for all the datasets.</a:t>
            </a:r>
          </a:p>
          <a:p>
            <a:pPr marL="0" indent="0" algn="just">
              <a:buNone/>
            </a:pPr>
            <a:r>
              <a:rPr lang="zh-TW" altLang="en-US" sz="2600" dirty="0" smtClean="0"/>
              <a:t>　</a:t>
            </a:r>
            <a:r>
              <a:rPr lang="en-US" altLang="zh-TW" sz="2600" dirty="0" smtClean="0"/>
              <a:t>Our </a:t>
            </a:r>
            <a:r>
              <a:rPr lang="en-US" altLang="zh-TW" sz="2600" dirty="0"/>
              <a:t>approach demonstrates the application of soft computing techniques like ARM and fuzzy </a:t>
            </a:r>
            <a:r>
              <a:rPr lang="en-US" altLang="zh-TW" sz="2600" dirty="0" smtClean="0"/>
              <a:t>classification</a:t>
            </a:r>
            <a:r>
              <a:rPr lang="zh-TW" altLang="en-US" sz="2600" dirty="0"/>
              <a:t> </a:t>
            </a:r>
            <a:r>
              <a:rPr lang="en-US" altLang="zh-TW" sz="2600" dirty="0" smtClean="0"/>
              <a:t>in </a:t>
            </a:r>
            <a:r>
              <a:rPr lang="en-US" altLang="zh-TW" sz="2600" dirty="0"/>
              <a:t>the design of recommender systems.</a:t>
            </a:r>
            <a:endParaRPr lang="zh-TW" altLang="en-US" sz="2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16986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600" dirty="0" smtClean="0"/>
              <a:t>Abstract(2/2)</a:t>
            </a:r>
            <a:endParaRPr lang="zh-TW" altLang="en-US" sz="5600" dirty="0"/>
          </a:p>
        </p:txBody>
      </p:sp>
    </p:spTree>
    <p:extLst>
      <p:ext uri="{BB962C8B-B14F-4D97-AF65-F5344CB8AC3E}">
        <p14:creationId xmlns:p14="http://schemas.microsoft.com/office/powerpoint/2010/main" val="177084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Association Rule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24290" y="1784349"/>
                <a:ext cx="1136290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I = {i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, I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, …, i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}</a:t>
                </a:r>
                <a:r>
                  <a:rPr lang="zh-TW" altLang="en-US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TW" dirty="0" smtClean="0"/>
                  <a:t>be a set of n items. (</a:t>
                </a:r>
                <a:r>
                  <a:rPr lang="zh-TW" altLang="en-US" dirty="0" smtClean="0"/>
                  <a:t>項的集合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    D = {t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, t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, …, t</a:t>
                </a:r>
                <a:r>
                  <a:rPr lang="en-US" altLang="zh-TW" baseline="-25000" dirty="0" smtClean="0">
                    <a:solidFill>
                      <a:srgbClr val="0070C0"/>
                    </a:solidFill>
                  </a:rPr>
                  <a:t>m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} </a:t>
                </a:r>
                <a:r>
                  <a:rPr lang="en-US" altLang="zh-TW" dirty="0" smtClean="0"/>
                  <a:t>be the set of transactions called the database.(</a:t>
                </a:r>
                <a:r>
                  <a:rPr lang="zh-TW" altLang="en-US" dirty="0" smtClean="0"/>
                  <a:t>交易集合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 algn="just">
                  <a:buNone/>
                </a:pPr>
                <a:r>
                  <a:rPr lang="zh-TW" altLang="en-US" dirty="0" smtClean="0"/>
                  <a:t>　</a:t>
                </a:r>
                <a:r>
                  <a:rPr lang="en-US" altLang="zh-TW" dirty="0" smtClean="0"/>
                  <a:t>Each </a:t>
                </a:r>
                <a:r>
                  <a:rPr lang="en-US" altLang="zh-TW" dirty="0"/>
                  <a:t>transaction in D has a unique transaction id and contains </a:t>
                </a:r>
                <a:r>
                  <a:rPr lang="en-US" altLang="zh-TW" dirty="0" smtClean="0"/>
                  <a:t>a subset </a:t>
                </a:r>
                <a:r>
                  <a:rPr lang="en-US" altLang="zh-TW" dirty="0"/>
                  <a:t>of the items in I. </a:t>
                </a:r>
                <a:r>
                  <a:rPr lang="en-US" altLang="zh-TW" dirty="0" smtClean="0"/>
                  <a:t>   </a:t>
                </a:r>
                <a:r>
                  <a:rPr lang="en-US" altLang="zh-TW" sz="1800" dirty="0" smtClean="0"/>
                  <a:t>(</a:t>
                </a:r>
                <a:r>
                  <a:rPr lang="zh-TW" altLang="en-US" sz="1800" dirty="0" smtClean="0"/>
                  <a:t>即              </a:t>
                </a:r>
                <a:r>
                  <a:rPr lang="en-US" altLang="zh-TW" sz="1800" dirty="0" smtClean="0"/>
                  <a:t>)</a:t>
                </a:r>
              </a:p>
              <a:p>
                <a:pPr marL="0" indent="0" algn="just">
                  <a:buNone/>
                </a:pPr>
                <a:r>
                  <a:rPr lang="zh-TW" altLang="en-US" dirty="0"/>
                  <a:t>　</a:t>
                </a:r>
                <a:r>
                  <a:rPr lang="en-US" altLang="zh-TW" dirty="0" smtClean="0"/>
                  <a:t>A </a:t>
                </a:r>
                <a:r>
                  <a:rPr lang="en-US" altLang="zh-TW" dirty="0"/>
                  <a:t>rule is defined as an implication of </a:t>
                </a:r>
                <a:r>
                  <a:rPr lang="en-US" altLang="zh-TW" dirty="0" smtClean="0"/>
                  <a:t>the form X</a:t>
                </a:r>
                <a:r>
                  <a:rPr lang="zh-TW" altLang="en-US" dirty="0" smtClean="0"/>
                  <a:t>⇒</a:t>
                </a:r>
                <a:r>
                  <a:rPr lang="en-US" altLang="zh-TW" dirty="0" smtClean="0"/>
                  <a:t>Y </a:t>
                </a:r>
                <a:r>
                  <a:rPr lang="en-US" altLang="zh-TW" dirty="0"/>
                  <a:t>where X, </a:t>
                </a:r>
                <a:r>
                  <a:rPr lang="en-US" altLang="zh-TW" dirty="0" smtClean="0"/>
                  <a:t>Y </a:t>
                </a:r>
                <a:r>
                  <a:rPr lang="zh-TW" altLang="en-US" dirty="0" smtClean="0"/>
                  <a:t>⊆ </a:t>
                </a:r>
                <a:r>
                  <a:rPr lang="en-US" altLang="zh-TW" dirty="0" smtClean="0"/>
                  <a:t>I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∩</a:t>
                </a:r>
                <a:r>
                  <a:rPr lang="en-US" altLang="zh-TW" dirty="0" smtClean="0"/>
                  <a:t>Y=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/>
                  <a:t>. Here X and Y are called </a:t>
                </a:r>
                <a:r>
                  <a:rPr lang="en-US" altLang="zh-TW" dirty="0" smtClean="0"/>
                  <a:t>the antecedent </a:t>
                </a:r>
                <a:r>
                  <a:rPr lang="en-US" altLang="zh-TW" dirty="0"/>
                  <a:t>and the consequent, respectively.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290" y="1784349"/>
                <a:ext cx="11362909" cy="4351338"/>
              </a:xfrm>
              <a:blipFill rotWithShape="0">
                <a:blip r:embed="rId2"/>
                <a:stretch>
                  <a:fillRect l="-1073" t="-2661" r="-11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 descr="t\subseteq 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3838177"/>
            <a:ext cx="616366" cy="24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23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44500" y="1038225"/>
                <a:ext cx="11480800" cy="49561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　</a:t>
                </a:r>
                <a:r>
                  <a:rPr lang="zh-TW" altLang="en-US" dirty="0" smtClean="0"/>
                  <a:t>　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</a:t>
                </a:r>
                <a:r>
                  <a:rPr lang="en-US" altLang="zh-TW" sz="3000" dirty="0" smtClean="0"/>
                  <a:t>support(X</a:t>
                </a:r>
                <a:r>
                  <a:rPr lang="zh-TW" altLang="en-US" sz="3000" dirty="0"/>
                  <a:t>→</a:t>
                </a:r>
                <a:r>
                  <a:rPr lang="en-US" altLang="zh-TW" sz="3000" dirty="0"/>
                  <a:t>Y</a:t>
                </a:r>
                <a:r>
                  <a:rPr lang="en-US" altLang="zh-TW" sz="3000" dirty="0" smtClean="0"/>
                  <a:t>) = P(X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zh-TW" sz="3000" dirty="0" smtClean="0"/>
                  <a:t>Y)</a:t>
                </a:r>
                <a:r>
                  <a:rPr lang="zh-TW" altLang="en-US" sz="3000" dirty="0" smtClean="0"/>
                  <a:t>       </a:t>
                </a:r>
                <a:r>
                  <a:rPr lang="en-US" altLang="zh-TW" sz="3000" dirty="0" smtClean="0"/>
                  <a:t>(</a:t>
                </a:r>
                <a:r>
                  <a:rPr lang="zh-TW" altLang="en-US" sz="3000" dirty="0" smtClean="0"/>
                  <a:t>支持度</a:t>
                </a:r>
                <a:r>
                  <a:rPr lang="en-US" altLang="zh-TW" sz="3000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sz="3000" dirty="0"/>
                  <a:t> </a:t>
                </a:r>
                <a:r>
                  <a:rPr lang="en-US" altLang="zh-TW" sz="3000" dirty="0" smtClean="0"/>
                  <a:t>       </a:t>
                </a:r>
              </a:p>
              <a:p>
                <a:pPr marL="0" indent="0">
                  <a:buNone/>
                </a:pPr>
                <a:r>
                  <a:rPr lang="en-US" altLang="zh-TW" sz="3000" dirty="0"/>
                  <a:t> </a:t>
                </a:r>
                <a:r>
                  <a:rPr lang="en-US" altLang="zh-TW" sz="3000" dirty="0" smtClean="0"/>
                  <a:t>        confidence (X</a:t>
                </a:r>
                <a:r>
                  <a:rPr lang="zh-TW" altLang="en-US" sz="3000" dirty="0" smtClean="0"/>
                  <a:t>→</a:t>
                </a:r>
                <a:r>
                  <a:rPr lang="en-US" altLang="zh-TW" sz="3000" dirty="0" smtClean="0"/>
                  <a:t>Y) = P(Y|X)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3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support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count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altLang="zh-TW" sz="3000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∪</m:t>
                            </m:r>
                            <m:r>
                              <m:rPr>
                                <m:nor/>
                              </m:rPr>
                              <a:rPr lang="en-US" altLang="zh-TW" sz="3000" b="0" i="0" dirty="0" smtClean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support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count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altLang="zh-TW" sz="3000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TW" sz="3000" dirty="0" smtClean="0"/>
                              <m:t>)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sz="3000" dirty="0" smtClean="0"/>
                  <a:t>      </a:t>
                </a:r>
                <a:r>
                  <a:rPr lang="en-US" altLang="zh-TW" sz="3000" dirty="0"/>
                  <a:t>(</a:t>
                </a:r>
                <a:r>
                  <a:rPr lang="zh-TW" altLang="en-US" sz="3000" dirty="0"/>
                  <a:t>置信度</a:t>
                </a:r>
                <a:r>
                  <a:rPr lang="en-US" altLang="zh-TW" sz="3000" dirty="0" smtClean="0"/>
                  <a:t>)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sz="3000" dirty="0" smtClean="0"/>
              </a:p>
              <a:p>
                <a:r>
                  <a:rPr lang="en-US" altLang="zh-TW" sz="3000" dirty="0" smtClean="0"/>
                  <a:t> The measure of </a:t>
                </a:r>
                <a:r>
                  <a:rPr lang="en-US" altLang="zh-TW" sz="3000" b="1" dirty="0" smtClean="0">
                    <a:solidFill>
                      <a:srgbClr val="0070C0"/>
                    </a:solidFill>
                  </a:rPr>
                  <a:t>confidence</a:t>
                </a:r>
                <a:r>
                  <a:rPr lang="en-US" altLang="zh-TW" sz="3000" dirty="0" smtClean="0"/>
                  <a:t> is used as a parameter to </a:t>
                </a:r>
                <a:r>
                  <a:rPr lang="en-US" altLang="zh-TW" sz="3000" b="1" dirty="0" smtClean="0">
                    <a:solidFill>
                      <a:srgbClr val="0070C0"/>
                    </a:solidFill>
                  </a:rPr>
                  <a:t>rank rules</a:t>
                </a:r>
                <a:r>
                  <a:rPr lang="en-US" altLang="zh-TW" sz="3000" dirty="0" smtClean="0"/>
                  <a:t> which are generated on various datasets.</a:t>
                </a:r>
              </a:p>
              <a:p>
                <a:r>
                  <a:rPr lang="en-US" altLang="zh-TW" sz="3000" b="1" dirty="0" smtClean="0"/>
                  <a:t> </a:t>
                </a:r>
                <a:r>
                  <a:rPr lang="en-US" altLang="zh-TW" sz="3000" b="1" dirty="0" smtClean="0">
                    <a:solidFill>
                      <a:srgbClr val="0070C0"/>
                    </a:solidFill>
                  </a:rPr>
                  <a:t>Strong </a:t>
                </a:r>
                <a:r>
                  <a:rPr lang="en-US" altLang="zh-TW" sz="3000" b="1" dirty="0">
                    <a:solidFill>
                      <a:srgbClr val="0070C0"/>
                    </a:solidFill>
                  </a:rPr>
                  <a:t>association</a:t>
                </a:r>
                <a:r>
                  <a:rPr lang="en-US" altLang="zh-TW" sz="3000" dirty="0"/>
                  <a:t> rules satisfy both </a:t>
                </a:r>
                <a:r>
                  <a:rPr lang="en-US" altLang="zh-TW" sz="3000" b="1" dirty="0"/>
                  <a:t>minimum support</a:t>
                </a:r>
                <a:r>
                  <a:rPr lang="en-US" altLang="zh-TW" sz="3000" dirty="0"/>
                  <a:t> </a:t>
                </a:r>
                <a:r>
                  <a:rPr lang="en-US" altLang="zh-TW" sz="3000" dirty="0" smtClean="0"/>
                  <a:t>and </a:t>
                </a:r>
                <a:r>
                  <a:rPr lang="en-US" altLang="zh-TW" sz="3000" b="1" dirty="0" smtClean="0"/>
                  <a:t>minimum Confidence</a:t>
                </a:r>
                <a:r>
                  <a:rPr lang="en-US" altLang="zh-TW" sz="3000" dirty="0"/>
                  <a:t>.</a:t>
                </a:r>
                <a:r>
                  <a:rPr lang="zh-TW" altLang="en-US" sz="3000" dirty="0"/>
                  <a:t> </a:t>
                </a:r>
                <a:r>
                  <a:rPr lang="en-US" altLang="zh-TW" sz="3000" dirty="0"/>
                  <a:t>(</a:t>
                </a:r>
                <a:r>
                  <a:rPr lang="zh-TW" altLang="en-US" sz="3000" dirty="0"/>
                  <a:t>也就是說同時</a:t>
                </a:r>
                <a14:m>
                  <m:oMath xmlns:m="http://schemas.openxmlformats.org/officeDocument/2006/math">
                    <m:r>
                      <a:rPr lang="zh-TW" altLang="en-US" sz="3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TW" altLang="en-US" sz="3000" i="1">
                        <a:latin typeface="Cambria Math" panose="02040503050406030204" pitchFamily="18" charset="0"/>
                      </a:rPr>
                      <m:t>此</m:t>
                    </m:r>
                  </m:oMath>
                </a14:m>
                <a:r>
                  <a:rPr lang="zh-TW" altLang="en-US" sz="3000" dirty="0"/>
                  <a:t>二</a:t>
                </a:r>
                <a:r>
                  <a:rPr lang="zh-TW" altLang="en-US" sz="3000" dirty="0" smtClean="0"/>
                  <a:t>值 </a:t>
                </a:r>
                <a:r>
                  <a:rPr lang="en-US" altLang="zh-TW" sz="3000" dirty="0" smtClean="0"/>
                  <a:t>, </a:t>
                </a:r>
                <a:r>
                  <a:rPr lang="zh-TW" altLang="en-US" sz="3000" dirty="0" smtClean="0"/>
                  <a:t>表示存在著很緊密的關聯</a:t>
                </a:r>
                <a:r>
                  <a:rPr lang="en-US" altLang="zh-TW" sz="3000" dirty="0" smtClean="0"/>
                  <a:t>)</a:t>
                </a:r>
                <a:endParaRPr lang="en-US" altLang="zh-TW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1038225"/>
                <a:ext cx="11480800" cy="4956175"/>
              </a:xfrm>
              <a:blipFill rotWithShape="0">
                <a:blip r:embed="rId2"/>
                <a:stretch>
                  <a:fillRect l="-1115" r="-743" b="-9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509000" y="6394450"/>
            <a:ext cx="2743200" cy="365125"/>
          </a:xfrm>
        </p:spPr>
        <p:txBody>
          <a:bodyPr/>
          <a:lstStyle/>
          <a:p>
            <a:fld id="{EAFCFAFA-9BFF-4693-B7DD-F6FD3655CD5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0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8000" y="166321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47700" y="2841210"/>
            <a:ext cx="10706100" cy="3549650"/>
          </a:xfrm>
        </p:spPr>
        <p:txBody>
          <a:bodyPr>
            <a:normAutofit/>
          </a:bodyPr>
          <a:lstStyle/>
          <a:p>
            <a:pPr lvl="0" algn="just"/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表1是顧客購買記錄的資料庫，包含6個事務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(Transaction)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2525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項集I={網球拍,網球,運動鞋,羽毛球}。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2525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考慮關聯規則：網球拍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網球，事務1,2,3,4,6包含網球拍，事務1,2,6同時包含網球拍和網球，支持度(網球拍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網球)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zh-TW" altLang="en-US" dirty="0"/>
              <a:t>，置信</a:t>
            </a:r>
            <a:r>
              <a:rPr lang="zh-TW" altLang="en-US" dirty="0" smtClean="0"/>
              <a:t>度                               。</a:t>
            </a:r>
            <a:endParaRPr lang="en-US" altLang="zh-TW" dirty="0" smtClean="0"/>
          </a:p>
          <a:p>
            <a:pPr marL="0" indent="0" algn="just">
              <a:buNone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若給定最小支持度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   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，最小置信度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    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kumimoji="0" lang="zh-TW" altLang="en-US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則可得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關聯規則網球拍</a:t>
            </a:r>
            <a:r>
              <a:rPr kumimoji="0" lang="zh-TW" altLang="en-US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網球是有趣的，認為購買網球拍和購買網球之間存在強關聯。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2058" name="Picture 10" descr=" \Rightarrow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209" y="3974700"/>
            <a:ext cx="364329" cy="24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 \cap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4395787"/>
            <a:ext cx="212480" cy="23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support= \frac{3}{6} = 0.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747" y="4244599"/>
            <a:ext cx="1844853" cy="47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confidence= \frac{3}{5} = 0.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183" y="4726781"/>
            <a:ext cx="2447926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 \alpha =0.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368" y="5406402"/>
            <a:ext cx="921016" cy="20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 \beta =0.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831" y="5346087"/>
            <a:ext cx="924097" cy="2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928" y="102256"/>
            <a:ext cx="3016372" cy="27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2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3632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TW" dirty="0" smtClean="0"/>
              <a:t>  </a:t>
            </a:r>
            <a:r>
              <a:rPr lang="en-US" altLang="zh-TW" sz="3000" dirty="0" smtClean="0"/>
              <a:t>The use of </a:t>
            </a:r>
            <a:r>
              <a:rPr lang="en-US" altLang="zh-TW" sz="3000" b="1" dirty="0" smtClean="0">
                <a:solidFill>
                  <a:srgbClr val="0070C0"/>
                </a:solidFill>
              </a:rPr>
              <a:t>traditional ARM is infeasible</a:t>
            </a:r>
            <a:r>
              <a:rPr lang="en-US" altLang="zh-TW" sz="3000" dirty="0" smtClean="0"/>
              <a:t> for stock market predictions since the number of association rules generated for the stock data is </a:t>
            </a:r>
            <a:r>
              <a:rPr lang="en-US" altLang="zh-TW" sz="3000" b="1" dirty="0" smtClean="0">
                <a:solidFill>
                  <a:srgbClr val="0070C0"/>
                </a:solidFill>
              </a:rPr>
              <a:t>exponential</a:t>
            </a:r>
            <a:r>
              <a:rPr lang="en-US" altLang="zh-TW" sz="3000" dirty="0" smtClean="0"/>
              <a:t> to the number of </a:t>
            </a:r>
            <a:r>
              <a:rPr lang="en-US" altLang="zh-TW" sz="3000" dirty="0" err="1" smtClean="0"/>
              <a:t>itemsets</a:t>
            </a:r>
            <a:r>
              <a:rPr lang="en-US" altLang="zh-TW" sz="3000" dirty="0" smtClean="0"/>
              <a:t> and finding relevant rules from this set is difficult.</a:t>
            </a:r>
          </a:p>
          <a:p>
            <a:pPr marL="0" indent="0" algn="just">
              <a:buNone/>
            </a:pPr>
            <a:endParaRPr lang="en-US" altLang="zh-TW" sz="3000" dirty="0"/>
          </a:p>
          <a:p>
            <a:pPr marL="0" indent="0" algn="just">
              <a:buNone/>
            </a:pPr>
            <a:r>
              <a:rPr lang="zh-TW" altLang="en-US" sz="3000" dirty="0" smtClean="0"/>
              <a:t>所以此篇作者提出使用</a:t>
            </a:r>
            <a:r>
              <a:rPr lang="zh-TW" altLang="en-US" sz="3000" b="1" dirty="0" smtClean="0">
                <a:solidFill>
                  <a:srgbClr val="0070C0"/>
                </a:solidFill>
              </a:rPr>
              <a:t>分群</a:t>
            </a:r>
            <a:r>
              <a:rPr lang="zh-TW" altLang="en-US" sz="3000" dirty="0" smtClean="0"/>
              <a:t>的方法，且只挑取適當的關聯規則，此可降低關聯規則之間的運算量，使得更容易找出有意義的關聯</a:t>
            </a:r>
            <a:r>
              <a:rPr lang="zh-TW" altLang="en-US" sz="3000" smtClean="0"/>
              <a:t>性</a:t>
            </a:r>
            <a:r>
              <a:rPr lang="zh-TW" altLang="en-US" sz="3000" smtClean="0"/>
              <a:t>。</a:t>
            </a:r>
            <a:endParaRPr lang="zh-TW" altLang="en-US" sz="3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8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71659" y="2579687"/>
                <a:ext cx="10686941" cy="37766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zh-TW" b="1" dirty="0"/>
                  <a:t>c</a:t>
                </a:r>
                <a:r>
                  <a:rPr lang="en-US" altLang="zh-TW" b="1" dirty="0" smtClean="0"/>
                  <a:t>ross sector </a:t>
                </a:r>
                <a:r>
                  <a:rPr lang="en-US" altLang="zh-TW" dirty="0" smtClean="0"/>
                  <a:t>: </a:t>
                </a:r>
                <a:r>
                  <a:rPr lang="zh-TW" altLang="en-US" dirty="0" smtClean="0"/>
                  <a:t>不同類別的股票，相互作關聯式規則。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每個類別都有一個權重，這個權重是由該類別中所有股票各自的權重之總和。 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此篇使用</a:t>
                </a:r>
                <a:r>
                  <a:rPr lang="en-US" altLang="zh-TW" dirty="0" smtClean="0"/>
                  <a:t>BSE-30</a:t>
                </a:r>
                <a:r>
                  <a:rPr lang="zh-TW" altLang="en-US" dirty="0" smtClean="0"/>
                  <a:t>有</a:t>
                </a:r>
                <a:r>
                  <a:rPr lang="en-US" altLang="zh-TW" dirty="0" smtClean="0"/>
                  <a:t>7</a:t>
                </a:r>
                <a:r>
                  <a:rPr lang="zh-TW" altLang="en-US" dirty="0" smtClean="0"/>
                  <a:t>個</a:t>
                </a:r>
                <a:r>
                  <a:rPr lang="en-US" altLang="zh-TW" dirty="0" smtClean="0"/>
                  <a:t>sectors)</a:t>
                </a:r>
              </a:p>
              <a:p>
                <a:endParaRPr lang="en-US" altLang="zh-TW" dirty="0"/>
              </a:p>
              <a:p>
                <a:r>
                  <a:rPr lang="en-US" altLang="zh-TW" b="1" dirty="0"/>
                  <a:t>i</a:t>
                </a:r>
                <a:r>
                  <a:rPr lang="en-US" altLang="zh-TW" b="1" dirty="0" smtClean="0"/>
                  <a:t>ntra sector </a:t>
                </a:r>
                <a:r>
                  <a:rPr lang="en-US" altLang="zh-TW" dirty="0" smtClean="0"/>
                  <a:t>: </a:t>
                </a:r>
                <a:r>
                  <a:rPr lang="zh-TW" altLang="en-US" dirty="0" smtClean="0"/>
                  <a:t>同一類別的股票作關聯式規則。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zh-TW" altLang="en-US" dirty="0"/>
                  <a:t>需</a:t>
                </a:r>
                <a:r>
                  <a:rPr lang="zh-TW" altLang="en-US" dirty="0" smtClean="0"/>
                  <a:t>超過門檻值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𝓍</m:t>
                    </m:r>
                  </m:oMath>
                </a14:m>
                <a:r>
                  <a:rPr lang="en-US" altLang="zh-TW" dirty="0" smtClean="0"/>
                  <a:t>%</a:t>
                </a:r>
                <a:r>
                  <a:rPr lang="zh-TW" altLang="en-US" dirty="0" smtClean="0"/>
                  <a:t>，才能表示該股票有上漲或有下跌。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此篇預設</a:t>
                </a:r>
                <a:r>
                  <a:rPr lang="en-US" altLang="zh-TW" dirty="0" smtClean="0"/>
                  <a:t>2%)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659" y="2579687"/>
                <a:ext cx="10686941" cy="3776663"/>
              </a:xfrm>
              <a:blipFill rotWithShape="0">
                <a:blip r:embed="rId2"/>
                <a:stretch>
                  <a:fillRect l="-1026" t="-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71659" y="1408013"/>
            <a:ext cx="3798156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Step1 : </a:t>
            </a:r>
            <a:r>
              <a:rPr lang="zh-TW" altLang="en-US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分群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8610" y="326926"/>
            <a:ext cx="880241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6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分群方式計算關聯式規則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926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0" y="936625"/>
            <a:ext cx="91059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000" dirty="0" smtClean="0"/>
              <a:t>Three </a:t>
            </a:r>
            <a:r>
              <a:rPr lang="en-US" altLang="zh-TW" sz="3000" dirty="0"/>
              <a:t>types of rules are </a:t>
            </a:r>
            <a:r>
              <a:rPr lang="en-US" altLang="zh-TW" sz="3000" dirty="0" smtClean="0"/>
              <a:t>generated :</a:t>
            </a:r>
          </a:p>
          <a:p>
            <a:pPr marL="0" indent="0">
              <a:buNone/>
            </a:pPr>
            <a:endParaRPr lang="en-US" altLang="zh-TW" b="1" dirty="0" smtClean="0"/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b="1" dirty="0"/>
              <a:t>p</a:t>
            </a:r>
            <a:r>
              <a:rPr lang="en-US" altLang="zh-TW" b="1" dirty="0" smtClean="0"/>
              <a:t>ositively </a:t>
            </a:r>
            <a:r>
              <a:rPr lang="en-US" altLang="zh-TW" b="1" dirty="0"/>
              <a:t>correlated rising</a:t>
            </a:r>
            <a:r>
              <a:rPr lang="en-US" altLang="zh-TW" dirty="0"/>
              <a:t> sectors or </a:t>
            </a:r>
            <a:r>
              <a:rPr lang="en-US" altLang="zh-TW" dirty="0" smtClean="0"/>
              <a:t>stocks are </a:t>
            </a:r>
            <a:r>
              <a:rPr lang="en-US" altLang="zh-TW" dirty="0"/>
              <a:t>those which </a:t>
            </a:r>
            <a:r>
              <a:rPr lang="en-US" altLang="zh-TW" dirty="0" smtClean="0"/>
              <a:t>rise together</a:t>
            </a:r>
            <a:r>
              <a:rPr lang="en-US" altLang="zh-TW" dirty="0"/>
              <a:t>.</a:t>
            </a:r>
            <a:r>
              <a:rPr lang="en-US" altLang="zh-TW" dirty="0" smtClean="0"/>
              <a:t> (</a:t>
            </a:r>
            <a:r>
              <a:rPr lang="zh-TW" altLang="en-US" dirty="0" smtClean="0"/>
              <a:t>同漲</a:t>
            </a:r>
            <a:r>
              <a:rPr lang="en-US" altLang="zh-TW" dirty="0" smtClean="0"/>
              <a:t>)</a:t>
            </a:r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b="1" dirty="0" smtClean="0"/>
              <a:t>positively </a:t>
            </a:r>
            <a:r>
              <a:rPr lang="en-US" altLang="zh-TW" b="1" dirty="0"/>
              <a:t>correlated falling</a:t>
            </a:r>
            <a:r>
              <a:rPr lang="en-US" altLang="zh-TW" dirty="0"/>
              <a:t> </a:t>
            </a:r>
            <a:r>
              <a:rPr lang="en-US" altLang="zh-TW" dirty="0" smtClean="0"/>
              <a:t>sectors or </a:t>
            </a:r>
            <a:r>
              <a:rPr lang="en-US" altLang="zh-TW" dirty="0"/>
              <a:t>stocks are those which fall </a:t>
            </a:r>
            <a:r>
              <a:rPr lang="en-US" altLang="zh-TW" dirty="0" smtClean="0"/>
              <a:t>together. (</a:t>
            </a:r>
            <a:r>
              <a:rPr lang="zh-TW" altLang="en-US" dirty="0"/>
              <a:t>同</a:t>
            </a:r>
            <a:r>
              <a:rPr lang="zh-TW" altLang="en-US" dirty="0" smtClean="0"/>
              <a:t>跌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b="1" dirty="0" smtClean="0"/>
              <a:t>negatively correlated</a:t>
            </a:r>
            <a:r>
              <a:rPr lang="en-US" altLang="zh-TW" dirty="0" smtClean="0"/>
              <a:t> sectors </a:t>
            </a:r>
            <a:r>
              <a:rPr lang="en-US" altLang="zh-TW" dirty="0"/>
              <a:t>or stocks are such that if one falls the other rises</a:t>
            </a:r>
            <a:r>
              <a:rPr lang="en-US" altLang="zh-TW" dirty="0" smtClean="0"/>
              <a:t>.(</a:t>
            </a:r>
            <a:r>
              <a:rPr lang="zh-TW" altLang="en-US" dirty="0" smtClean="0"/>
              <a:t>一漲一跌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47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514600"/>
            <a:ext cx="10236200" cy="3568700"/>
          </a:xfrm>
        </p:spPr>
        <p:txBody>
          <a:bodyPr>
            <a:normAutofit/>
          </a:bodyPr>
          <a:lstStyle/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/>
              <a:t>frequent </a:t>
            </a:r>
            <a:r>
              <a:rPr lang="en-US" altLang="zh-TW" dirty="0" err="1" smtClean="0"/>
              <a:t>itemset</a:t>
            </a:r>
            <a:r>
              <a:rPr lang="en-US" altLang="zh-TW" dirty="0" smtClean="0"/>
              <a:t> generation algorithm(like </a:t>
            </a:r>
            <a:r>
              <a:rPr lang="en-US" altLang="zh-TW" dirty="0" err="1" smtClean="0"/>
              <a:t>Apriori</a:t>
            </a:r>
            <a:r>
              <a:rPr lang="en-US" altLang="zh-TW" dirty="0" smtClean="0"/>
              <a:t>/Dynamic </a:t>
            </a:r>
            <a:r>
              <a:rPr lang="en-US" altLang="zh-TW" dirty="0" err="1" smtClean="0"/>
              <a:t>Itemset</a:t>
            </a:r>
            <a:r>
              <a:rPr lang="en-US" altLang="zh-TW" dirty="0" smtClean="0"/>
              <a:t> Counting)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dirty="0" smtClean="0"/>
              <a:t>cross sector</a:t>
            </a:r>
            <a:r>
              <a:rPr lang="zh-TW" altLang="en-US" dirty="0" smtClean="0"/>
              <a:t> </a:t>
            </a:r>
            <a:r>
              <a:rPr lang="en-US" altLang="zh-TW" dirty="0" smtClean="0"/>
              <a:t>dataset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</a:t>
            </a:r>
            <a:r>
              <a:rPr lang="en-US" altLang="zh-TW" dirty="0" smtClean="0">
                <a:solidFill>
                  <a:srgbClr val="0070C0"/>
                </a:solidFill>
              </a:rPr>
              <a:t>frequent sectors</a:t>
            </a:r>
            <a:r>
              <a:rPr lang="zh-TW" altLang="en-US" dirty="0" smtClean="0"/>
              <a:t>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並且找出這些</a:t>
            </a:r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不同類別</a:t>
            </a:r>
            <a:r>
              <a:rPr lang="en-US" altLang="zh-TW" dirty="0" smtClean="0"/>
              <a:t>frequent sectors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</a:t>
            </a:r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漲跌關係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在這邊只討論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同漲關係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sectors</a:t>
            </a:r>
          </a:p>
          <a:p>
            <a:pPr algn="just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負相關關係之後可用來做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rebalance</a:t>
            </a:r>
          </a:p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最後，取這些關係值的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top-k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，前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好的關聯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式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規則。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此篇使用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BSE-30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838200" y="960537"/>
            <a:ext cx="864870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Step2 : find cross sector rules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42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2100" y="1168041"/>
            <a:ext cx="10807700" cy="2073276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/>
              <a:t>Portfolio formation on </a:t>
            </a:r>
            <a:r>
              <a:rPr lang="en-US" altLang="zh-TW" b="1" dirty="0" smtClean="0"/>
              <a:t>BSE-30 :</a:t>
            </a:r>
          </a:p>
          <a:p>
            <a:pPr marL="0" indent="0" algn="just">
              <a:buNone/>
            </a:pPr>
            <a:r>
              <a:rPr lang="zh-TW" altLang="en-US" dirty="0"/>
              <a:t>　</a:t>
            </a:r>
            <a:r>
              <a:rPr lang="en-US" altLang="zh-TW" dirty="0" smtClean="0"/>
              <a:t>Each </a:t>
            </a:r>
            <a:r>
              <a:rPr lang="en-US" altLang="zh-TW" dirty="0"/>
              <a:t>of these </a:t>
            </a:r>
            <a:r>
              <a:rPr lang="en-US" altLang="zh-TW" dirty="0" smtClean="0"/>
              <a:t>stocks has </a:t>
            </a:r>
            <a:r>
              <a:rPr lang="en-US" altLang="zh-TW" dirty="0"/>
              <a:t>a certain weight in the SENSEX, leading to each sector </a:t>
            </a:r>
            <a:r>
              <a:rPr lang="en-US" altLang="zh-TW" dirty="0" smtClean="0"/>
              <a:t>having a </a:t>
            </a:r>
            <a:r>
              <a:rPr lang="en-US" altLang="zh-TW" dirty="0"/>
              <a:t>particular weight in the SENSEX. We have formed the sectors </a:t>
            </a:r>
            <a:r>
              <a:rPr lang="en-US" altLang="zh-TW" dirty="0" smtClean="0"/>
              <a:t>as shown </a:t>
            </a:r>
            <a:r>
              <a:rPr lang="en-US" altLang="zh-TW" dirty="0"/>
              <a:t>in Table 1.</a:t>
            </a:r>
            <a:r>
              <a:rPr lang="en-US" altLang="zh-TW" b="1" dirty="0" smtClean="0"/>
              <a:t>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3880"/>
            <a:ext cx="12215125" cy="311503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92100" y="153430"/>
            <a:ext cx="5228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 for step2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936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6"/>
          <a:stretch/>
        </p:blipFill>
        <p:spPr>
          <a:xfrm>
            <a:off x="1193800" y="835858"/>
            <a:ext cx="8251636" cy="50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701925"/>
            <a:ext cx="10515600" cy="3343275"/>
          </a:xfrm>
        </p:spPr>
        <p:txBody>
          <a:bodyPr/>
          <a:lstStyle/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在各自的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sector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中再跑一次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frequent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itemset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generation algorithm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，產生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frequent stocks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，並且對這些</a:t>
            </a:r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同類別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frequent stocks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作關聯式規則估量，找出這些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</a:t>
            </a:r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漲跌關係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討論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同漲關係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sectors</a:t>
            </a:r>
          </a:p>
          <a:p>
            <a:pPr algn="just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負相關關係之後可用來做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rebalance</a:t>
            </a:r>
          </a:p>
          <a:p>
            <a:pPr algn="just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最後，取這些關係值的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top-k’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此篇使用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BSE-30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k’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838200" y="985937"/>
            <a:ext cx="875030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Step3 : find intra sector rules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809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"/>
          <a:stretch/>
        </p:blipFill>
        <p:spPr>
          <a:xfrm>
            <a:off x="700333" y="1939924"/>
            <a:ext cx="8496301" cy="4112445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00333" y="408383"/>
            <a:ext cx="52051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 for step3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013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20" y="947492"/>
            <a:ext cx="9245561" cy="45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6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250" y="2699842"/>
            <a:ext cx="10515600" cy="3656508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將之前兩個步驟得到的關係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拿來排整個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中股票之間的相關順序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關聯強度愈強則排序愈前面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top-k”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最後可得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portfolio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要投資的數量。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(p.s.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視資金數量，如果足夠則可一次大量買入投資組合中全部股票；如果資金有限，則從愈前面排序的股票投注，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依序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以最小單位買入，遵循此規則，不特別偏向哪支股票。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09550" y="858937"/>
            <a:ext cx="1171575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Step4 : Combine, and find relative order.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081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3"/>
          <a:stretch/>
        </p:blipFill>
        <p:spPr>
          <a:xfrm>
            <a:off x="1130300" y="419100"/>
            <a:ext cx="7533025" cy="4057650"/>
          </a:xfrm>
        </p:spPr>
      </p:pic>
      <p:pic>
        <p:nvPicPr>
          <p:cNvPr id="6" name="內容版面配置區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1"/>
          <a:stretch/>
        </p:blipFill>
        <p:spPr>
          <a:xfrm>
            <a:off x="1130300" y="4948958"/>
            <a:ext cx="7480300" cy="158995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30300" y="5410200"/>
            <a:ext cx="7251700" cy="946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0070C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9707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1385" y="2651125"/>
            <a:ext cx="10515600" cy="2085975"/>
          </a:xfrm>
        </p:spPr>
        <p:txBody>
          <a:bodyPr>
            <a:normAutofit/>
          </a:bodyPr>
          <a:lstStyle/>
          <a:p>
            <a:pPr algn="just"/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對於長期投資者來說，經過一段期間，重新檢視投資報酬率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(Return)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，調整投資組合可使得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Return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提高，可修正預測失準的情況。</a:t>
            </a:r>
            <a:endParaRPr lang="en-US" altLang="zh-TW" sz="3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此篇論文預設一年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rebalance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一次。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861385" y="887393"/>
            <a:ext cx="87560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Rebalancing the portfolio</a:t>
            </a:r>
            <a:endParaRPr lang="zh-TW" altLang="en-US" sz="5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95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69900" y="519013"/>
            <a:ext cx="10299700" cy="6186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Step1 : 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Check for the rise/fall in the portfolio.</a:t>
            </a:r>
          </a:p>
          <a:p>
            <a:endParaRPr lang="en-US" altLang="zh-TW" sz="36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Step2 : Check for the rise/fall of the individual stocks.</a:t>
            </a:r>
          </a:p>
          <a:p>
            <a:endParaRPr lang="en-US" altLang="zh-TW" sz="36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  <a:p>
            <a:r>
              <a:rPr lang="en-US" altLang="zh-TW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Step3 : Check for the negatively performing stocks.</a:t>
            </a:r>
          </a:p>
          <a:p>
            <a:r>
              <a:rPr lang="en-US" altLang="zh-TW" sz="3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 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                                     (</a:t>
            </a:r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一漲一跌關係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)</a:t>
            </a:r>
          </a:p>
          <a:p>
            <a:endParaRPr lang="en-US" altLang="zh-TW" sz="3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Step4 : </a:t>
            </a:r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將這一年資料加入產生新關係規則。</a:t>
            </a:r>
            <a:endParaRPr lang="en-US" altLang="zh-TW" sz="36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  <a:p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尋找投資組合中正在下跌股票對應到</a:t>
            </a:r>
            <a:r>
              <a:rPr lang="en-US" altLang="zh-TW" sz="3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c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ross</a:t>
            </a:r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、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intra sector</a:t>
            </a:r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軟正黑體" panose="020B0604030504040204" pitchFamily="34" charset="-120"/>
              </a:rPr>
              <a:t>中正在上漲股票的關係。</a:t>
            </a:r>
            <a:endParaRPr lang="en-US" altLang="zh-TW" sz="36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  <a:p>
            <a:endParaRPr lang="en-US" altLang="zh-TW" sz="3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653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11200" y="1268313"/>
            <a:ext cx="10299700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Step5 : </a:t>
            </a:r>
            <a:r>
              <a:rPr lang="zh-TW" altLang="en-US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將投資組合中下跌的股票替換掉，如果下跌的股票該類別的其它股票一樣都下跌，那麼認為該類別受到自然或外來因素影響，所以轉而選取</a:t>
            </a:r>
            <a:r>
              <a:rPr lang="en-US" altLang="zh-TW" sz="3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cross </a:t>
            </a:r>
            <a:r>
              <a:rPr lang="en-US" altLang="zh-TW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sector</a:t>
            </a:r>
            <a:r>
              <a:rPr lang="zh-TW" altLang="en-US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  <a:r>
              <a:rPr lang="zh-TW" altLang="en-US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具有正相關的股票。</a:t>
            </a:r>
            <a:r>
              <a:rPr lang="en-US" altLang="zh-TW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3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0" cap="none" spc="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如果呈現股票全部上漲的情況，則不需更換。</a:t>
            </a:r>
            <a:endParaRPr lang="en-US" altLang="zh-TW" sz="36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6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722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896"/>
            <a:ext cx="12192000" cy="46468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3700" y="2032000"/>
            <a:ext cx="5765800" cy="2158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0070C0"/>
                </a:solidFill>
              </a:ln>
              <a:noFill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3700" y="4167187"/>
            <a:ext cx="5765800" cy="2016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0070C0"/>
                </a:solidFill>
              </a:ln>
              <a:noFill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8394" y="2273854"/>
            <a:ext cx="1874006" cy="3231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500" b="1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 by TCS</a:t>
            </a:r>
            <a:endParaRPr lang="zh-TW" altLang="en-US" sz="1500" b="1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1049" y="3613189"/>
            <a:ext cx="1960752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500" b="1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 by Hindalco</a:t>
            </a:r>
            <a:endParaRPr lang="zh-TW" altLang="en-US" sz="1500" b="1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484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17500" y="1054100"/>
                <a:ext cx="11391900" cy="49577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TW" altLang="en-US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  <a:r>
                  <a:rPr lang="en-US" altLang="zh-TW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Return 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ROI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value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investment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after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lockin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period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cost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investment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 smtClean="0"/>
                          <m:t>cost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investment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Prediction</a:t>
                </a:r>
                <a:r>
                  <a:rPr lang="zh-TW" altLang="en-US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</a:t>
                </a:r>
                <a:r>
                  <a:rPr lang="en-US" altLang="zh-TW" sz="4200" dirty="0" err="1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Rebanlancing</a:t>
                </a:r>
                <a:r>
                  <a:rPr lang="zh-TW" altLang="en-US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的準確度 </a:t>
                </a:r>
                <a:r>
                  <a:rPr lang="en-US" altLang="zh-TW" sz="4200" dirty="0" smtClean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</a:p>
              <a:p>
                <a:pPr marL="0" indent="0">
                  <a:buNone/>
                </a:pPr>
                <a:endParaRPr lang="en-US" altLang="zh-TW" sz="32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Precision=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 smtClean="0"/>
                          <m:t>correctly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recommended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stocks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 smtClean="0"/>
                          <m:t>total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recommended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stocks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Rebalancing 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 smtClean="0"/>
                          <m:t>correctly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recommended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stocks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after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rebalancing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 smtClean="0"/>
                          <m:t>total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recomended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stocks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500" y="1054100"/>
                <a:ext cx="11391900" cy="4957763"/>
              </a:xfrm>
              <a:blipFill rotWithShape="0">
                <a:blip r:embed="rId2"/>
                <a:stretch>
                  <a:fillRect l="-1819" t="-4428" b="-1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96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0" t="49881"/>
          <a:stretch/>
        </p:blipFill>
        <p:spPr>
          <a:xfrm>
            <a:off x="1673488" y="266700"/>
            <a:ext cx="7826112" cy="2463800"/>
          </a:xfrm>
        </p:spPr>
      </p:pic>
      <p:pic>
        <p:nvPicPr>
          <p:cNvPr id="7" name="內容版面配置區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" t="22433" b="35522"/>
          <a:stretch/>
        </p:blipFill>
        <p:spPr>
          <a:xfrm>
            <a:off x="1673488" y="3022600"/>
            <a:ext cx="782895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3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fuzzy technique for portfolio creation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1530196"/>
            <a:ext cx="6997700" cy="5107139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2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/>
          <a:stretch/>
        </p:blipFill>
        <p:spPr>
          <a:xfrm>
            <a:off x="380999" y="393700"/>
            <a:ext cx="7400437" cy="273050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9" y="3632200"/>
            <a:ext cx="11912275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2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9008"/>
            <a:ext cx="11672875" cy="2679192"/>
          </a:xfrm>
        </p:spPr>
      </p:pic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33800" cy="1325563"/>
          </a:xfrm>
        </p:spPr>
        <p:txBody>
          <a:bodyPr/>
          <a:lstStyle/>
          <a:p>
            <a:r>
              <a:rPr lang="en-US" altLang="zh-TW" b="1" dirty="0"/>
              <a:t>Time-lagged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6837" y="3873500"/>
            <a:ext cx="11099800" cy="203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0070C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3088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1" y="2749163"/>
            <a:ext cx="11203368" cy="4108837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FAFA-9BFF-4693-B7DD-F6FD3655CD58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1" y="365125"/>
            <a:ext cx="6086625" cy="221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3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916</Words>
  <Application>Microsoft Office PowerPoint</Application>
  <PresentationFormat>寬螢幕</PresentationFormat>
  <Paragraphs>124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微軟正黑體</vt:lpstr>
      <vt:lpstr>新細明體</vt:lpstr>
      <vt:lpstr>Arial</vt:lpstr>
      <vt:lpstr>Calibri</vt:lpstr>
      <vt:lpstr>Calibri Light</vt:lpstr>
      <vt:lpstr>Cambria Math</vt:lpstr>
      <vt:lpstr>Wingdings</vt:lpstr>
      <vt:lpstr>Office 佈景主題</vt:lpstr>
      <vt:lpstr>A stock market portfolio recommender system based on association rule mining</vt:lpstr>
      <vt:lpstr>Abstract(1/2)</vt:lpstr>
      <vt:lpstr>Abstract(2/2)</vt:lpstr>
      <vt:lpstr>Association Rule</vt:lpstr>
      <vt:lpstr>PowerPoint 簡報</vt:lpstr>
      <vt:lpstr>Example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fuzzy technique for portfolio creation</vt:lpstr>
      <vt:lpstr>PowerPoint 簡報</vt:lpstr>
      <vt:lpstr>Time-lagged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stock market portfolio recommender system based on association rule mining</dc:title>
  <dc:creator>jhan</dc:creator>
  <cp:lastModifiedBy>pplab-class</cp:lastModifiedBy>
  <cp:revision>100</cp:revision>
  <dcterms:created xsi:type="dcterms:W3CDTF">2016-05-02T20:43:20Z</dcterms:created>
  <dcterms:modified xsi:type="dcterms:W3CDTF">2016-05-18T11:34:52Z</dcterms:modified>
</cp:coreProperties>
</file>