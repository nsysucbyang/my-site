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8" r:id="rId4"/>
    <p:sldId id="354" r:id="rId5"/>
    <p:sldId id="373" r:id="rId6"/>
    <p:sldId id="374" r:id="rId7"/>
    <p:sldId id="375" r:id="rId8"/>
    <p:sldId id="376" r:id="rId9"/>
    <p:sldId id="377" r:id="rId10"/>
    <p:sldId id="378" r:id="rId11"/>
    <p:sldId id="379" r:id="rId12"/>
    <p:sldId id="380" r:id="rId13"/>
    <p:sldId id="381" r:id="rId14"/>
    <p:sldId id="382" r:id="rId15"/>
    <p:sldId id="386" r:id="rId16"/>
    <p:sldId id="384" r:id="rId17"/>
    <p:sldId id="383" r:id="rId1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0099CC"/>
    <a:srgbClr val="C5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中等深淺樣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640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20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F118B5-9F64-4BCF-B1EE-1FDC52667EE1}" type="datetimeFigureOut">
              <a:rPr lang="zh-TW" altLang="en-US" smtClean="0"/>
              <a:t>2016/5/18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5C9B0B-B10D-49AA-966C-9C58E0B863D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9497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5C9B0B-B10D-49AA-966C-9C58E0B863DF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3010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385C0-1FCA-4A75-9F23-6295E7490FEE}" type="datetime1">
              <a:rPr lang="zh-TW" altLang="en-US" smtClean="0"/>
              <a:t>2016/5/18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8676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E0020-C82E-415B-9299-1A25D7552E73}" type="datetime1">
              <a:rPr lang="zh-TW" altLang="en-US" smtClean="0"/>
              <a:t>2016/5/18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5088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9755A-A3D0-49B7-B750-A84F0F8C3152}" type="datetime1">
              <a:rPr lang="zh-TW" altLang="en-US" smtClean="0"/>
              <a:t>2016/5/18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9045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FF536-6844-4449-BA87-F2BF5DABF104}" type="datetime1">
              <a:rPr lang="zh-TW" altLang="en-US" smtClean="0"/>
              <a:t>2016/5/18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9354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50BCE-4D5B-445D-9EBF-D040FF475579}" type="datetime1">
              <a:rPr lang="zh-TW" altLang="en-US" smtClean="0"/>
              <a:t>2016/5/18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1187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93B6D-3892-4D58-A340-8C410260F3D7}" type="datetime1">
              <a:rPr lang="zh-TW" altLang="en-US" smtClean="0"/>
              <a:t>2016/5/18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0125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B735E-8418-4C4A-BC7E-83B7EA882B5A}" type="datetime1">
              <a:rPr lang="zh-TW" altLang="en-US" smtClean="0"/>
              <a:t>2016/5/18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6498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C0A7B-C3EA-46E9-832E-F519368F0FB0}" type="datetime1">
              <a:rPr lang="zh-TW" altLang="en-US" smtClean="0"/>
              <a:t>2016/5/18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9419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CC982-7446-446B-8F17-73F2858A31F6}" type="datetime1">
              <a:rPr lang="zh-TW" altLang="en-US" smtClean="0"/>
              <a:t>2016/5/18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180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7670E-D1D9-4108-B311-ADAABD8B0D32}" type="datetime1">
              <a:rPr lang="zh-TW" altLang="en-US" smtClean="0"/>
              <a:t>2016/5/18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3520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D0F84-786D-4EF2-8481-140225BF3227}" type="datetime1">
              <a:rPr lang="zh-TW" altLang="en-US" smtClean="0"/>
              <a:t>2016/5/18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0096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FEB57B-0D0F-41CB-A932-683E565E4EE2}" type="datetime1">
              <a:rPr lang="zh-TW" altLang="en-US" smtClean="0"/>
              <a:t>2016/5/18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030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>
          <a:xfrm>
            <a:off x="598488" y="1286632"/>
            <a:ext cx="7772400" cy="147002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Resequencing a Set of Strings Based on a Target String</a:t>
            </a:r>
            <a:endParaRPr lang="zh-TW" altLang="en-US" sz="3200" dirty="0">
              <a:latin typeface="Times New Roman" panose="02020603050405020304" pitchFamily="18" charset="0"/>
              <a:ea typeface="Arial Unicode MS" pitchFamily="34" charset="-120"/>
              <a:cs typeface="Times New Roman" panose="02020603050405020304" pitchFamily="18" charset="0"/>
            </a:endParaRPr>
          </a:p>
        </p:txBody>
      </p:sp>
      <p:sp>
        <p:nvSpPr>
          <p:cNvPr id="5" name="副標題 2"/>
          <p:cNvSpPr txBox="1">
            <a:spLocks/>
          </p:cNvSpPr>
          <p:nvPr/>
        </p:nvSpPr>
        <p:spPr>
          <a:xfrm>
            <a:off x="1406525" y="3019431"/>
            <a:ext cx="6400800" cy="4794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TW" sz="2000" dirty="0" err="1" smtClean="0"/>
              <a:t>Chih-En</a:t>
            </a:r>
            <a:r>
              <a:rPr lang="en-US" altLang="zh-TW" sz="2000" dirty="0" smtClean="0"/>
              <a:t> </a:t>
            </a:r>
            <a:r>
              <a:rPr lang="en-US" altLang="zh-TW" sz="2000" dirty="0" err="1" smtClean="0"/>
              <a:t>Kuo</a:t>
            </a:r>
            <a:r>
              <a:rPr lang="en-US" altLang="zh-TW" sz="2000" dirty="0" smtClean="0"/>
              <a:t>, Yue-Li Wang, </a:t>
            </a:r>
            <a:r>
              <a:rPr lang="en-US" altLang="zh-TW" sz="2000" dirty="0" err="1" smtClean="0"/>
              <a:t>Jia-Jie</a:t>
            </a:r>
            <a:r>
              <a:rPr lang="en-US" altLang="zh-TW" sz="2000" dirty="0" smtClean="0"/>
              <a:t> Liu, Ming-Tat </a:t>
            </a:r>
            <a:r>
              <a:rPr lang="en-US" altLang="zh-TW" sz="2000" dirty="0" err="1" smtClean="0"/>
              <a:t>Ko</a:t>
            </a:r>
            <a:endParaRPr lang="en-US" altLang="zh-TW" sz="20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4168577"/>
              </p:ext>
            </p:extLst>
          </p:nvPr>
        </p:nvGraphicFramePr>
        <p:xfrm>
          <a:off x="2698748" y="3848099"/>
          <a:ext cx="3816351" cy="1500105"/>
        </p:xfrm>
        <a:graphic>
          <a:graphicData uri="http://schemas.openxmlformats.org/drawingml/2006/table">
            <a:tbl>
              <a:tblPr/>
              <a:tblGrid>
                <a:gridCol w="3816351"/>
              </a:tblGrid>
              <a:tr h="846860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aseline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Algorithmica</a:t>
                      </a:r>
                      <a:r>
                        <a:rPr lang="en-US" altLang="zh-TW" sz="180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, Vol. 72, No. 2,</a:t>
                      </a: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pp. 430-449, 2015.</a:t>
                      </a: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800" baseline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5251" marR="9525" marT="9523" marB="952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3245">
                <a:tc>
                  <a:txBody>
                    <a:bodyPr/>
                    <a:lstStyle/>
                    <a:p>
                      <a:pPr algn="ctr"/>
                      <a:endParaRPr lang="zh-TW" altLang="en-US" sz="1600" kern="12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95251" marR="9525" marT="9523" marB="952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79" name="文字方塊 6"/>
          <p:cNvSpPr txBox="1">
            <a:spLocks noChangeArrowheads="1"/>
          </p:cNvSpPr>
          <p:nvPr/>
        </p:nvSpPr>
        <p:spPr bwMode="auto">
          <a:xfrm>
            <a:off x="2982910" y="5253638"/>
            <a:ext cx="32480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/>
              <a:t>Presenter:  </a:t>
            </a:r>
            <a:r>
              <a:rPr lang="en-US" altLang="zh-TW" sz="1800" dirty="0" smtClean="0"/>
              <a:t>Bi-</a:t>
            </a:r>
            <a:r>
              <a:rPr lang="en-US" altLang="zh-TW" sz="1800" dirty="0" err="1" smtClean="0"/>
              <a:t>Shiang</a:t>
            </a:r>
            <a:r>
              <a:rPr lang="en-US" altLang="zh-TW" sz="1800" dirty="0" smtClean="0"/>
              <a:t> Lin</a:t>
            </a:r>
            <a:endParaRPr lang="en-US" altLang="zh-TW" sz="1800" dirty="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/>
              <a:t>Date:</a:t>
            </a:r>
            <a:fld id="{F3590F60-3E7B-48AD-979A-345F224951B5}" type="datetime1">
              <a:rPr lang="zh-TW" altLang="en-US" sz="1800"/>
              <a:pPr algn="ctr" eaLnBrk="1" hangingPunct="1">
                <a:spcBef>
                  <a:spcPct val="0"/>
                </a:spcBef>
                <a:buFontTx/>
                <a:buNone/>
              </a:pPr>
              <a:t>2016/5/18</a:t>
            </a:fld>
            <a:endParaRPr lang="zh-TW" altLang="en-US" sz="1800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4669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Abstract(1/3)</a:t>
            </a:r>
            <a:endParaRPr lang="zh-TW" altLang="en-US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 anchor="t" anchorCtr="0">
                <a:no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a set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={</m:t>
                    </m:r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. . .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sub>
                    </m:sSub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} 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</a:t>
                </a:r>
                <a:r>
                  <a:rPr lang="en-US" altLang="zh-TW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strings, a text </a:t>
                </a:r>
                <a:r>
                  <a:rPr lang="en-US" altLang="zh-TW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a natural number </a:t>
                </a:r>
                <a:r>
                  <a:rPr lang="en-US" altLang="zh-TW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find a string </a:t>
                </a:r>
                <a:r>
                  <a:rPr lang="en-US" altLang="zh-TW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which is a concatenation of </a:t>
                </a:r>
                <a:r>
                  <a:rPr lang="en-US" altLang="zh-TW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strings (not necessarily distinct, i.e., a string in </a:t>
                </a:r>
                <a:r>
                  <a:rPr lang="en-US" altLang="zh-TW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may occur more than once in </a:t>
                </a:r>
                <a:r>
                  <a:rPr lang="en-US" altLang="zh-TW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from </a:t>
                </a:r>
                <a:r>
                  <a:rPr lang="en-US" altLang="zh-TW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whose longest common subsequence with </a:t>
                </a:r>
                <a:r>
                  <a:rPr lang="en-US" altLang="zh-TW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largest, where a string in </a:t>
                </a:r>
                <a:r>
                  <a:rPr lang="en-US" altLang="zh-TW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may occur more than once in </a:t>
                </a:r>
                <a:r>
                  <a:rPr lang="en-US" altLang="zh-TW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Such a string is called a 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-inlay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buNone/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r="-1623" b="-728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7559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Abstract(2/3)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resequencing longest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subsequence problem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(resequencing LCS problem for short) is to find a 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inlay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query with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given.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8117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Abstract(3/3)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this paper, we propose an algorithm for solving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problem which takes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𝑛𝑚𝑙</m:t>
                        </m:r>
                      </m:e>
                    </m:d>
                  </m:oMath>
                </a14:m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preprocessing time and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𝜗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query time for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each query with parameter 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where 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the length of 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the maximal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length of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strings in 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𝜗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the length of the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longest common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subsequence between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</a:t>
                </a:r>
                <a:r>
                  <a:rPr lang="en-US" altLang="zh-TW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-inlay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 rotWithShape="0">
                <a:blip r:embed="rId2"/>
                <a:stretch>
                  <a:fillRect l="-1546" r="-1623" b="-728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9556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Mosaic(Resequencing) LCS prob.</a:t>
            </a:r>
            <a:endParaRPr lang="zh-TW" altLang="en-US" sz="4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 : </a:t>
                </a:r>
              </a:p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set of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strings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{</m:t>
                    </m:r>
                    <m:r>
                      <a:rPr lang="en-US" altLang="zh-TW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𝑎𝑔𝑐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𝑎𝑐𝑡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i="1" dirty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𝑎𝑎𝑡𝑔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𝑡𝑡𝑐𝑔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text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𝑎𝑔𝑎𝑐𝑡𝑎𝑔𝑡𝑐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natural number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4.</a:t>
                </a:r>
              </a:p>
              <a:p>
                <a:pPr marL="0" indent="0">
                  <a:buNone/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 :</a:t>
                </a:r>
              </a:p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String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𝑎𝑔𝑐</m:t>
                    </m:r>
                    <m:r>
                      <a:rPr lang="en-US" altLang="zh-TW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𝑎𝑐𝑡</m:t>
                    </m:r>
                    <m:r>
                      <a:rPr lang="en-US" altLang="zh-TW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𝑎𝑔𝑐</m:t>
                    </m:r>
                    <m:r>
                      <a:rPr lang="en-US" altLang="zh-TW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𝑡𝑡𝑐𝑔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 4-inlay).</a:t>
                </a:r>
              </a:p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LCS of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𝜗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=9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8863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  <a:endParaRPr lang="zh-TW" altLang="en-US" sz="4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Huang,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Kuo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-Si, et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al., “Dynamic programming algorithms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the mosaic longest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common subsequence problem”, </a:t>
                </a:r>
                <a:r>
                  <a:rPr lang="en-US" altLang="zh-TW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Information Processing Letters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(2007)</a:t>
                </a:r>
              </a:p>
              <a:p>
                <a:pPr algn="just"/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Formosa1 :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𝑚𝑙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func>
                      <m:func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4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</m:func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Formosa2 :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𝑛𝑚𝑙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𝑛𝑘𝑙</m:t>
                        </m:r>
                      </m:e>
                    </m:d>
                  </m:oMath>
                </a14:m>
                <a:endParaRPr lang="en-US" altLang="zh-TW" sz="24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altLang="zh-TW" sz="2400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Mosaic1 :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𝑛𝑚𝑙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TW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𝜗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func>
                      <m:func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4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</m:func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TW" sz="24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𝑚𝑜𝑠𝑎𝑖𝑐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𝐿𝐶𝑆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</a:t>
                </a:r>
                <a:r>
                  <a:rPr lang="en-US" altLang="zh-TW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all substrings of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altLang="zh-TW" sz="24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Mosaic2 :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𝑛𝑚𝑙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𝜗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𝑚𝑜𝑠𝑎𝑖𝑐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𝐿𝐶𝑆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</a:t>
                </a:r>
                <a:r>
                  <a:rPr lang="en-US" altLang="zh-TW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all prefix of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TW" sz="24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159" t="-1961" r="-1236" b="-140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1293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Review 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</a:t>
            </a: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Formosa1(1/3)</a:t>
            </a:r>
            <a:endParaRPr lang="zh-TW" altLang="en-US" sz="4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直線接點 4"/>
          <p:cNvCxnSpPr/>
          <p:nvPr/>
        </p:nvCxnSpPr>
        <p:spPr>
          <a:xfrm flipV="1">
            <a:off x="1222310" y="2275194"/>
            <a:ext cx="6699380" cy="9331"/>
          </a:xfrm>
          <a:prstGeom prst="line">
            <a:avLst/>
          </a:prstGeom>
          <a:ln w="1270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 flipV="1">
            <a:off x="1222310" y="3099387"/>
            <a:ext cx="6699380" cy="9331"/>
          </a:xfrm>
          <a:prstGeom prst="line">
            <a:avLst/>
          </a:prstGeom>
          <a:ln w="1270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718645" y="1997224"/>
                <a:ext cx="7921501" cy="43912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</a:p>
              <a:p>
                <a:endPara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</a:p>
              <a:p>
                <a:endParaRPr lang="en-US" altLang="zh-TW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8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</m:t>
                      </m:r>
                      <m:r>
                        <a:rPr lang="en-US" altLang="zh-TW" sz="28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sz="28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8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𝑎𝑔𝑐</m:t>
                          </m:r>
                          <m:r>
                            <a:rPr lang="en-US" altLang="zh-TW" sz="28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altLang="zh-TW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𝑎𝑐𝑡</m:t>
                          </m:r>
                          <m:r>
                            <a:rPr lang="en-US" altLang="zh-TW" sz="28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altLang="zh-TW" sz="2800" i="1" dirty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𝑎𝑎𝑡𝑔</m:t>
                          </m:r>
                          <m:r>
                            <a:rPr lang="en-US" altLang="zh-TW" sz="28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altLang="zh-TW" sz="2800" i="1" dirty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𝑡𝑡𝑐𝑔</m:t>
                          </m:r>
                        </m:e>
                      </m:d>
                    </m:oMath>
                  </m:oMathPara>
                </a14:m>
                <a:endParaRPr lang="en-US" altLang="zh-TW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𝑀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sz="2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𝑎𝑔𝑐</m:t>
                      </m:r>
                      <m:r>
                        <a:rPr lang="en-US" altLang="zh-TW" sz="28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𝑎𝑎𝑡𝑔</m:t>
                      </m:r>
                    </m:oMath>
                  </m:oMathPara>
                </a14:m>
                <a:endParaRPr lang="en-US" altLang="zh-TW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sz="2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altLang="zh-TW" sz="28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𝑎𝑔</m:t>
                    </m:r>
                    <m:r>
                      <a:rPr lang="en-US" altLang="zh-TW" sz="2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TW" sz="28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zh-TW" sz="2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2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TW" sz="2800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𝑎𝑔</m:t>
                    </m:r>
                    <m:r>
                      <a:rPr lang="en-US" altLang="zh-TW" sz="2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𝑡𝑐</m:t>
                    </m:r>
                  </m:oMath>
                </a14:m>
                <a:endParaRPr lang="en-US" altLang="zh-TW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8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𝐿𝐶𝑆</m:t>
                      </m:r>
                      <m:d>
                        <m:dPr>
                          <m:ctrlPr>
                            <a:rPr lang="en-US" altLang="zh-TW" sz="28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8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𝑀</m:t>
                          </m:r>
                          <m:r>
                            <a:rPr lang="en-US" altLang="zh-TW" sz="28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sz="28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altLang="zh-TW" sz="28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sz="28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𝐿𝐶𝑆</m:t>
                      </m:r>
                      <m:r>
                        <a:rPr lang="en-US" altLang="zh-TW" sz="28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TW" sz="2800" i="1" dirty="0" err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𝑎𝑔𝑐</m:t>
                      </m:r>
                      <m:r>
                        <a:rPr lang="en-US" altLang="zh-TW" sz="2800" i="1" dirty="0" err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TW" sz="2800" i="1" dirty="0" err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𝑎𝑔𝑎𝑐</m:t>
                      </m:r>
                      <m:r>
                        <a:rPr lang="en-US" altLang="zh-TW" sz="28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)+</m:t>
                      </m:r>
                      <m:r>
                        <a:rPr lang="en-US" altLang="zh-TW" sz="28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𝐿𝐶𝑆</m:t>
                      </m:r>
                      <m:r>
                        <a:rPr lang="en-US" altLang="zh-TW" sz="28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TW" sz="2800" i="1" dirty="0" err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𝑎𝑎𝑡𝑔</m:t>
                      </m:r>
                      <m:r>
                        <a:rPr lang="en-US" altLang="zh-TW" sz="2800" i="1" dirty="0" err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TW" sz="2800" i="1" dirty="0" err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𝑡𝑎𝑔𝑡𝑐</m:t>
                      </m:r>
                      <m:r>
                        <a:rPr lang="en-US" altLang="zh-TW" sz="28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)=3+</m:t>
                      </m:r>
                      <m:r>
                        <a:rPr lang="en-US" altLang="zh-TW" sz="28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zh-TW" sz="28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= 5</m:t>
                      </m:r>
                    </m:oMath>
                  </m:oMathPara>
                </a14:m>
                <a:endParaRPr lang="en-US" altLang="zh-TW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645" y="1997224"/>
                <a:ext cx="7921501" cy="4391267"/>
              </a:xfrm>
              <a:prstGeom prst="rect">
                <a:avLst/>
              </a:prstGeom>
              <a:blipFill rotWithShape="0">
                <a:blip r:embed="rId2"/>
                <a:stretch>
                  <a:fillRect l="-1617" t="-152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線接點 8"/>
          <p:cNvCxnSpPr/>
          <p:nvPr/>
        </p:nvCxnSpPr>
        <p:spPr>
          <a:xfrm flipV="1">
            <a:off x="4441371" y="1921449"/>
            <a:ext cx="3111" cy="719114"/>
          </a:xfrm>
          <a:prstGeom prst="line">
            <a:avLst/>
          </a:prstGeom>
          <a:ln w="1270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 flipV="1">
            <a:off x="3498980" y="2807845"/>
            <a:ext cx="3110" cy="601746"/>
          </a:xfrm>
          <a:prstGeom prst="line">
            <a:avLst/>
          </a:prstGeom>
          <a:ln w="1270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4217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Review 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</a:t>
            </a: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Formosa1(2/3)</a:t>
            </a:r>
            <a:endParaRPr lang="zh-TW" altLang="en-US" sz="4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直線接點 13"/>
          <p:cNvCxnSpPr/>
          <p:nvPr/>
        </p:nvCxnSpPr>
        <p:spPr>
          <a:xfrm flipV="1">
            <a:off x="1222310" y="4853551"/>
            <a:ext cx="6699380" cy="9331"/>
          </a:xfrm>
          <a:prstGeom prst="line">
            <a:avLst/>
          </a:prstGeom>
          <a:ln w="1270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 flipV="1">
            <a:off x="1222310" y="5677744"/>
            <a:ext cx="6699380" cy="9331"/>
          </a:xfrm>
          <a:prstGeom prst="line">
            <a:avLst/>
          </a:prstGeom>
          <a:ln w="1270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/>
          <p:cNvSpPr txBox="1"/>
          <p:nvPr/>
        </p:nvSpPr>
        <p:spPr>
          <a:xfrm>
            <a:off x="718646" y="4575581"/>
            <a:ext cx="50366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</a:p>
          <a:p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cxnSp>
        <p:nvCxnSpPr>
          <p:cNvPr id="17" name="直線接點 16"/>
          <p:cNvCxnSpPr/>
          <p:nvPr/>
        </p:nvCxnSpPr>
        <p:spPr>
          <a:xfrm flipV="1">
            <a:off x="4441371" y="4499806"/>
            <a:ext cx="3111" cy="719114"/>
          </a:xfrm>
          <a:prstGeom prst="line">
            <a:avLst/>
          </a:prstGeom>
          <a:ln w="1270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 flipV="1">
            <a:off x="2379307" y="5386202"/>
            <a:ext cx="3110" cy="601746"/>
          </a:xfrm>
          <a:prstGeom prst="line">
            <a:avLst/>
          </a:prstGeom>
          <a:ln w="1270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 flipV="1">
            <a:off x="6487885" y="4503325"/>
            <a:ext cx="3111" cy="719114"/>
          </a:xfrm>
          <a:prstGeom prst="line">
            <a:avLst/>
          </a:prstGeom>
          <a:ln w="1270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 flipV="1">
            <a:off x="2699657" y="4493994"/>
            <a:ext cx="3111" cy="719114"/>
          </a:xfrm>
          <a:prstGeom prst="line">
            <a:avLst/>
          </a:prstGeom>
          <a:ln w="1270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 flipV="1">
            <a:off x="4640426" y="5358830"/>
            <a:ext cx="3110" cy="601746"/>
          </a:xfrm>
          <a:prstGeom prst="line">
            <a:avLst/>
          </a:prstGeom>
          <a:ln w="1270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 flipV="1">
            <a:off x="6189307" y="5358830"/>
            <a:ext cx="3110" cy="601746"/>
          </a:xfrm>
          <a:prstGeom prst="line">
            <a:avLst/>
          </a:prstGeom>
          <a:ln w="1270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679675" y="1693610"/>
                <a:ext cx="7921501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8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</m:t>
                      </m:r>
                      <m:r>
                        <a:rPr lang="en-US" altLang="zh-TW" sz="28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={</m:t>
                      </m:r>
                      <m:r>
                        <a:rPr lang="en-US" altLang="zh-TW" sz="28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𝑎𝑔𝑐</m:t>
                      </m:r>
                      <m:r>
                        <a:rPr lang="en-US" altLang="zh-TW" sz="28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altLang="zh-TW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𝑎𝑐𝑡</m:t>
                      </m:r>
                      <m:r>
                        <a:rPr lang="en-US" altLang="zh-TW" sz="28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altLang="zh-TW" sz="2800" i="1" dirty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𝑎𝑎𝑡𝑔</m:t>
                      </m:r>
                      <m:r>
                        <a:rPr lang="en-US" altLang="zh-TW" sz="28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altLang="zh-TW" sz="2800" i="1" dirty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𝑡𝑡𝑐𝑔</m:t>
                      </m:r>
                      <m:r>
                        <a:rPr lang="en-US" altLang="zh-TW" sz="2800" i="1" dirty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en-US" altLang="zh-TW" sz="2800" dirty="0" smtClean="0">
                  <a:solidFill>
                    <a:schemeClr val="accent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8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𝑀</m:t>
                      </m:r>
                      <m:r>
                        <a:rPr lang="en-US" altLang="zh-TW" sz="28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sz="28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𝑎𝑔𝑐</m:t>
                      </m:r>
                      <m:r>
                        <a:rPr lang="en-US" altLang="zh-TW" sz="2800" i="1" dirty="0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US" altLang="zh-TW" sz="2800" b="0" i="1" dirty="0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𝑎𝑡𝑔</m:t>
                      </m:r>
                      <m:r>
                        <a:rPr lang="en-US" altLang="zh-TW" sz="28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𝑎𝑔𝑐</m:t>
                      </m:r>
                      <m:r>
                        <a:rPr lang="en-US" altLang="zh-TW" sz="2800" i="1" dirty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𝑡𝑡𝑐𝑔</m:t>
                      </m:r>
                    </m:oMath>
                  </m:oMathPara>
                </a14:m>
                <a:endParaRPr lang="en-US" altLang="zh-TW" sz="2800" i="1" dirty="0" smtClean="0">
                  <a:solidFill>
                    <a:schemeClr val="accent6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8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𝑇</m:t>
                      </m:r>
                      <m:r>
                        <a:rPr lang="en-US" altLang="zh-TW" sz="28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sz="28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𝑎𝑔</m:t>
                      </m:r>
                      <m:r>
                        <a:rPr lang="en-US" altLang="zh-TW" sz="28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sz="2800" i="1" dirty="0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US" altLang="zh-TW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altLang="zh-TW" sz="2800" i="1" dirty="0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altLang="zh-TW" sz="28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sz="28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𝑎𝑔</m:t>
                      </m:r>
                      <m:r>
                        <a:rPr lang="en-US" altLang="zh-TW" sz="28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sz="280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𝑡𝑐</m:t>
                      </m:r>
                    </m:oMath>
                  </m:oMathPara>
                </a14:m>
                <a:endParaRPr lang="en-US" altLang="zh-TW" sz="2800" dirty="0" smtClean="0">
                  <a:solidFill>
                    <a:schemeClr val="accent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2800" dirty="0">
                  <a:solidFill>
                    <a:schemeClr val="accent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8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𝐿𝐶𝑆</m:t>
                      </m:r>
                      <m:d>
                        <m:dPr>
                          <m:ctrlPr>
                            <a:rPr lang="en-US" altLang="zh-TW" sz="28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8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𝑀</m:t>
                          </m:r>
                          <m:r>
                            <a:rPr lang="en-US" altLang="zh-TW" sz="28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sz="28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altLang="zh-TW" sz="28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2+2+2+2</m:t>
                      </m:r>
                      <m:r>
                        <a:rPr lang="en-US" altLang="zh-TW" sz="28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=8</m:t>
                      </m:r>
                    </m:oMath>
                  </m:oMathPara>
                </a14:m>
                <a:endParaRPr lang="en-US" altLang="zh-TW" sz="28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675" y="1693610"/>
                <a:ext cx="7921501" cy="2246769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8497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Review 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</a:t>
            </a: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Formosa1(3/3)</a:t>
            </a:r>
            <a:endParaRPr lang="zh-TW" altLang="en-US" sz="4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679675" y="1693610"/>
                <a:ext cx="7921501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8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</m:t>
                      </m:r>
                      <m:r>
                        <a:rPr lang="en-US" altLang="zh-TW" sz="28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={</m:t>
                      </m:r>
                      <m:r>
                        <a:rPr lang="en-US" altLang="zh-TW" sz="28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𝑎𝑔𝑐</m:t>
                      </m:r>
                      <m:r>
                        <a:rPr lang="en-US" altLang="zh-TW" sz="28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altLang="zh-TW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𝑎𝑐𝑡</m:t>
                      </m:r>
                      <m:r>
                        <a:rPr lang="en-US" altLang="zh-TW" sz="28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altLang="zh-TW" sz="2800" i="1" dirty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𝑎𝑎𝑡𝑔</m:t>
                      </m:r>
                      <m:r>
                        <a:rPr lang="en-US" altLang="zh-TW" sz="28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altLang="zh-TW" sz="2800" i="1" dirty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𝑡𝑡𝑐𝑔</m:t>
                      </m:r>
                      <m:r>
                        <a:rPr lang="en-US" altLang="zh-TW" sz="2800" i="1" dirty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en-US" altLang="zh-TW" sz="2800" dirty="0" smtClean="0">
                  <a:solidFill>
                    <a:schemeClr val="accent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𝑇</m:t>
                      </m:r>
                      <m:r>
                        <a:rPr lang="en-US" altLang="zh-TW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sz="2800" i="1" dirty="0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𝑎𝑔</m:t>
                      </m:r>
                      <m:r>
                        <a:rPr lang="en-US" altLang="zh-TW" sz="28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𝑎𝑐𝑡</m:t>
                      </m:r>
                      <m:r>
                        <a:rPr lang="en-US" altLang="zh-TW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US" altLang="zh-TW" sz="28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𝑔𝑡𝑐</m:t>
                      </m:r>
                    </m:oMath>
                  </m:oMathPara>
                </a14:m>
                <a:endParaRPr lang="en-US" altLang="zh-TW" sz="28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2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240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TW" sz="2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sz="2400" i="1" dirty="0" err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𝑚𝑙</m:t>
                        </m:r>
                      </m:e>
                    </m:d>
                  </m:oMath>
                </a14:m>
                <a:r>
                  <a:rPr lang="en-US" altLang="zh-TW" sz="24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find the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𝐿𝐶𝑆</m:t>
                    </m:r>
                  </m:oMath>
                </a14:m>
                <a:r>
                  <a:rPr lang="en-US" altLang="zh-TW" sz="24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24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any substring of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altLang="zh-TW" sz="24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675" y="1693610"/>
                <a:ext cx="7921501" cy="1323439"/>
              </a:xfrm>
              <a:prstGeom prst="rect">
                <a:avLst/>
              </a:prstGeom>
              <a:blipFill rotWithShape="0">
                <a:blip r:embed="rId2"/>
                <a:stretch>
                  <a:fillRect l="-154" b="-96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9077" y="3002281"/>
            <a:ext cx="5842615" cy="3821086"/>
          </a:xfrm>
          <a:prstGeom prst="rect">
            <a:avLst/>
          </a:prstGeom>
        </p:spPr>
      </p:pic>
      <p:sp>
        <p:nvSpPr>
          <p:cNvPr id="4" name="橢圓 3"/>
          <p:cNvSpPr/>
          <p:nvPr/>
        </p:nvSpPr>
        <p:spPr>
          <a:xfrm>
            <a:off x="3456992" y="3676259"/>
            <a:ext cx="345233" cy="335903"/>
          </a:xfrm>
          <a:prstGeom prst="ellipse">
            <a:avLst/>
          </a:prstGeom>
          <a:noFill/>
          <a:ln w="635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橢圓 22"/>
          <p:cNvSpPr/>
          <p:nvPr/>
        </p:nvSpPr>
        <p:spPr>
          <a:xfrm>
            <a:off x="6825006" y="5728992"/>
            <a:ext cx="345233" cy="335903"/>
          </a:xfrm>
          <a:prstGeom prst="ellipse">
            <a:avLst/>
          </a:prstGeom>
          <a:noFill/>
          <a:ln w="635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橢圓 23"/>
          <p:cNvSpPr/>
          <p:nvPr/>
        </p:nvSpPr>
        <p:spPr>
          <a:xfrm>
            <a:off x="4887348" y="4348062"/>
            <a:ext cx="345233" cy="335903"/>
          </a:xfrm>
          <a:prstGeom prst="ellipse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9233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4841" y="0"/>
            <a:ext cx="5169159" cy="3403822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54853"/>
            <a:ext cx="5309118" cy="3503147"/>
          </a:xfrm>
          <a:prstGeom prst="rect">
            <a:avLst/>
          </a:prstGeom>
        </p:spPr>
      </p:pic>
      <p:sp>
        <p:nvSpPr>
          <p:cNvPr id="9" name="橢圓 8"/>
          <p:cNvSpPr/>
          <p:nvPr/>
        </p:nvSpPr>
        <p:spPr>
          <a:xfrm>
            <a:off x="3125756" y="4301409"/>
            <a:ext cx="345233" cy="335903"/>
          </a:xfrm>
          <a:prstGeom prst="ellipse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5723994" y="899470"/>
            <a:ext cx="345233" cy="335903"/>
          </a:xfrm>
          <a:prstGeom prst="ellipse">
            <a:avLst/>
          </a:prstGeom>
          <a:noFill/>
          <a:ln w="635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6983627" y="1207376"/>
            <a:ext cx="345233" cy="335903"/>
          </a:xfrm>
          <a:prstGeom prst="ellipse">
            <a:avLst/>
          </a:prstGeom>
          <a:noFill/>
          <a:ln w="635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6143869" y="899470"/>
            <a:ext cx="345233" cy="335903"/>
          </a:xfrm>
          <a:prstGeom prst="ellipse">
            <a:avLst/>
          </a:prstGeom>
          <a:noFill/>
          <a:ln w="635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6983627" y="1515297"/>
            <a:ext cx="345233" cy="335903"/>
          </a:xfrm>
          <a:prstGeom prst="ellipse">
            <a:avLst/>
          </a:prstGeom>
          <a:noFill/>
          <a:ln w="635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6559420" y="899470"/>
            <a:ext cx="345233" cy="335903"/>
          </a:xfrm>
          <a:prstGeom prst="ellipse">
            <a:avLst/>
          </a:prstGeom>
          <a:noFill/>
          <a:ln w="635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6983627" y="1806404"/>
            <a:ext cx="345233" cy="335903"/>
          </a:xfrm>
          <a:prstGeom prst="ellipse">
            <a:avLst/>
          </a:prstGeom>
          <a:noFill/>
          <a:ln w="635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/>
          <p:cNvSpPr/>
          <p:nvPr/>
        </p:nvSpPr>
        <p:spPr>
          <a:xfrm>
            <a:off x="6974971" y="887242"/>
            <a:ext cx="345233" cy="335903"/>
          </a:xfrm>
          <a:prstGeom prst="ellipse">
            <a:avLst/>
          </a:prstGeom>
          <a:noFill/>
          <a:ln w="635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352231" y="620379"/>
                <a:ext cx="3375348" cy="22611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sSup>
                            <m:sSupPr>
                              <m:ctrlPr>
                                <a:rPr lang="en-US" altLang="zh-TW" sz="28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2,5</m:t>
                          </m:r>
                        </m:e>
                      </m:d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2800" b="0" i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⁡(</m:t>
                      </m:r>
                    </m:oMath>
                  </m:oMathPara>
                </a14:m>
                <a:endParaRPr lang="en-US" altLang="zh-TW" sz="2800" b="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sSup>
                            <m:sSupPr>
                              <m:ctrlP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2,2</m:t>
                          </m:r>
                        </m:e>
                      </m:d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sSup>
                            <m:sSup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TW" sz="2800" b="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sSup>
                            <m:sSup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sSup>
                            <m:sSup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TW" sz="2800" b="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sSup>
                            <m:sSup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sSup>
                            <m:sSup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TW" sz="2800" b="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sSup>
                            <m:sSup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sSup>
                            <m:sSup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2800" dirty="0" smtClean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231" y="620379"/>
                <a:ext cx="3375348" cy="226119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橢圓 18"/>
          <p:cNvSpPr/>
          <p:nvPr/>
        </p:nvSpPr>
        <p:spPr>
          <a:xfrm>
            <a:off x="6983627" y="2124690"/>
            <a:ext cx="345233" cy="335903"/>
          </a:xfrm>
          <a:prstGeom prst="ellipse">
            <a:avLst/>
          </a:prstGeom>
          <a:noFill/>
          <a:ln w="635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/>
              <p:cNvSpPr txBox="1"/>
              <p:nvPr/>
            </p:nvSpPr>
            <p:spPr>
              <a:xfrm>
                <a:off x="5532241" y="4301409"/>
                <a:ext cx="3175869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𝑡𝑖𝑚𝑒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𝑐𝑜𝑚𝑝𝑙𝑒𝑥𝑖𝑡𝑦</m:t>
                      </m:r>
                      <m:r>
                        <a:rPr lang="en-US" altLang="zh-TW" sz="2800" b="0" i="0" smtClean="0">
                          <a:latin typeface="Cambria Math" panose="02040503050406030204" pitchFamily="18" charset="0"/>
                        </a:rPr>
                        <m:t> : </m:t>
                      </m:r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800" b="0" i="0" smtClean="0">
                          <a:latin typeface="Cambria Math" panose="02040503050406030204" pitchFamily="18" charset="0"/>
                        </a:rPr>
                        <m:t>query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func>
                        <m:func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8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func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2800" b="0" dirty="0" smtClean="0"/>
              </a:p>
            </p:txBody>
          </p:sp>
        </mc:Choice>
        <mc:Fallback xmlns="">
          <p:sp>
            <p:nvSpPr>
              <p:cNvPr id="20" name="文字方塊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2241" y="4301409"/>
                <a:ext cx="3175869" cy="95410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2145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mosaic1(1/4)</a:t>
            </a:r>
            <a:endParaRPr lang="zh-TW" altLang="en-US" sz="4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Preprocessing : produce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sSup>
                          <m:sSup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table in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i="1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𝑚𝑛𝑙</m:t>
                        </m:r>
                      </m:e>
                    </m:d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time.</a:t>
                </a:r>
              </a:p>
              <a:p>
                <a:pPr algn="just"/>
                <a:r>
                  <a:rPr lang="en-US" altLang="zh-TW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all-substrings common subsequence </a:t>
                </a:r>
                <a:r>
                  <a:rPr lang="en-US" altLang="zh-TW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algorithm.(2008)</a:t>
                </a:r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159" t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565" y="2929038"/>
            <a:ext cx="5818802" cy="3807659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0230" y="2929038"/>
            <a:ext cx="2738732" cy="3807659"/>
          </a:xfrm>
          <a:prstGeom prst="rect">
            <a:avLst/>
          </a:prstGeom>
        </p:spPr>
      </p:pic>
      <p:sp>
        <p:nvSpPr>
          <p:cNvPr id="7" name="橢圓 6"/>
          <p:cNvSpPr/>
          <p:nvPr/>
        </p:nvSpPr>
        <p:spPr>
          <a:xfrm>
            <a:off x="4590667" y="3573621"/>
            <a:ext cx="345233" cy="335903"/>
          </a:xfrm>
          <a:prstGeom prst="ellipse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8005665" y="3470985"/>
            <a:ext cx="345233" cy="335903"/>
          </a:xfrm>
          <a:prstGeom prst="ellipse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9046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25" y="4700589"/>
            <a:ext cx="3619500" cy="1971675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mosaic1(2/4)</a:t>
            </a:r>
            <a:endParaRPr lang="zh-TW" altLang="en-US" sz="4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4433" y="892930"/>
            <a:ext cx="2738732" cy="3807659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835" y="1690689"/>
            <a:ext cx="5314950" cy="3009900"/>
          </a:xfrm>
          <a:prstGeom prst="rect">
            <a:avLst/>
          </a:prstGeom>
        </p:spPr>
      </p:pic>
      <p:cxnSp>
        <p:nvCxnSpPr>
          <p:cNvPr id="14" name="直線單箭頭接點 13"/>
          <p:cNvCxnSpPr/>
          <p:nvPr/>
        </p:nvCxnSpPr>
        <p:spPr>
          <a:xfrm flipH="1">
            <a:off x="5545785" y="2939143"/>
            <a:ext cx="509782" cy="3732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 flipH="1">
            <a:off x="3032449" y="4700589"/>
            <a:ext cx="189331" cy="35660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 flipV="1">
            <a:off x="4110525" y="5797685"/>
            <a:ext cx="771668" cy="27369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1100252"/>
              </p:ext>
            </p:extLst>
          </p:nvPr>
        </p:nvGraphicFramePr>
        <p:xfrm>
          <a:off x="5150500" y="5379771"/>
          <a:ext cx="2982684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7114"/>
                <a:gridCol w="497114"/>
                <a:gridCol w="497114"/>
                <a:gridCol w="497114"/>
                <a:gridCol w="497114"/>
                <a:gridCol w="497114"/>
              </a:tblGrid>
              <a:tr h="33590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字方塊 21"/>
              <p:cNvSpPr txBox="1"/>
              <p:nvPr/>
            </p:nvSpPr>
            <p:spPr>
              <a:xfrm>
                <a:off x="4730612" y="5707916"/>
                <a:ext cx="4413388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column minimum</a:t>
                </a:r>
              </a:p>
              <a:p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totally monotone matrix 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sz="2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TW" altLang="en-US" sz="2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𝜗</m:t>
                        </m:r>
                      </m:e>
                      <m:sub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2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0612" y="5707916"/>
                <a:ext cx="4413388" cy="830997"/>
              </a:xfrm>
              <a:prstGeom prst="rect">
                <a:avLst/>
              </a:prstGeom>
              <a:blipFill rotWithShape="0">
                <a:blip r:embed="rId5"/>
                <a:stretch>
                  <a:fillRect l="-2072" t="-5839" r="-276" b="-1532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1668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mosaic1(3/4)</a:t>
            </a:r>
            <a:endParaRPr lang="zh-TW" altLang="en-US" sz="4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311458"/>
            <a:ext cx="4157185" cy="3954236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313992"/>
            <a:ext cx="2842338" cy="3951702"/>
          </a:xfrm>
          <a:prstGeom prst="rect">
            <a:avLst/>
          </a:prstGeom>
        </p:spPr>
      </p:pic>
      <p:cxnSp>
        <p:nvCxnSpPr>
          <p:cNvPr id="13" name="直線單箭頭接點 12"/>
          <p:cNvCxnSpPr/>
          <p:nvPr/>
        </p:nvCxnSpPr>
        <p:spPr>
          <a:xfrm>
            <a:off x="3610947" y="4288576"/>
            <a:ext cx="87707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3428738" y="4364007"/>
                <a:ext cx="124149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𝑂</m:t>
                      </m:r>
                      <m:r>
                        <a:rPr lang="en-US" altLang="zh-TW" sz="2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TW" sz="24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US" altLang="zh-TW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𝜗</m:t>
                          </m:r>
                        </m:e>
                        <m:sub>
                          <m:r>
                            <a:rPr lang="en-US" altLang="zh-TW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TW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8738" y="4364007"/>
                <a:ext cx="1241494" cy="461665"/>
              </a:xfrm>
              <a:prstGeom prst="rect">
                <a:avLst/>
              </a:prstGeom>
              <a:blipFill rotWithShape="0">
                <a:blip r:embed="rId4"/>
                <a:stretch>
                  <a:fillRect r="-490" b="-184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8826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mosaic1(4/4)</a:t>
            </a:r>
            <a:endParaRPr lang="zh-TW" altLang="en-US" sz="4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679675" y="1693610"/>
                <a:ext cx="7921501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Preprocessing time : </a:t>
                </a:r>
                <a14:m>
                  <m:oMath xmlns:m="http://schemas.openxmlformats.org/officeDocument/2006/math">
                    <m:r>
                      <a:rPr lang="en-US" altLang="zh-TW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800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𝑛𝑚𝑙</m:t>
                    </m:r>
                    <m:r>
                      <a:rPr lang="en-US" altLang="zh-TW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TW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Query time : </a:t>
                </a:r>
                <a14:m>
                  <m:oMath xmlns:m="http://schemas.openxmlformats.org/officeDocument/2006/math">
                    <m:r>
                      <a:rPr lang="en-US" altLang="zh-TW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sSub>
                      <m:sSubPr>
                        <m:ctrlPr>
                          <a:rPr lang="en-US" altLang="zh-TW" sz="2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TW" altLang="en-US" sz="2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𝜗</m:t>
                        </m:r>
                      </m:e>
                      <m:sub>
                        <m:r>
                          <a:rPr lang="en-US" altLang="zh-TW" sz="2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func>
                      <m:funcPr>
                        <m:ctrlPr>
                          <a:rPr lang="en-US" altLang="zh-TW" sz="2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800" b="0" i="0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TW" sz="2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</m:func>
                    <m:r>
                      <a:rPr lang="en-US" altLang="zh-TW" sz="2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TW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 </a:t>
                </a:r>
                <a14:m>
                  <m:oMath xmlns:m="http://schemas.openxmlformats.org/officeDocument/2006/math">
                    <m:r>
                      <a:rPr lang="en-US" altLang="zh-TW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𝐿𝐶𝑆</m:t>
                    </m:r>
                  </m:oMath>
                </a14:m>
                <a:r>
                  <a:rPr lang="en-US" altLang="zh-TW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TW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</m:oMath>
                </a14:m>
                <a:r>
                  <a:rPr lang="en-US" altLang="zh-TW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any substring of </a:t>
                </a:r>
                <a14:m>
                  <m:oMath xmlns:m="http://schemas.openxmlformats.org/officeDocument/2006/math">
                    <m:r>
                      <a:rPr lang="en-US" altLang="zh-TW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altLang="zh-TW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675" y="1693610"/>
                <a:ext cx="7921501" cy="2246769"/>
              </a:xfrm>
              <a:prstGeom prst="rect">
                <a:avLst/>
              </a:prstGeom>
              <a:blipFill rotWithShape="0">
                <a:blip r:embed="rId2"/>
                <a:stretch>
                  <a:fillRect l="-1538" t="-2989" b="-679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1208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25" y="4700589"/>
            <a:ext cx="3619500" cy="1971675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mosaic2(1/2)</a:t>
            </a:r>
            <a:endParaRPr lang="zh-TW" altLang="en-US" sz="4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4433" y="892930"/>
            <a:ext cx="2738732" cy="3807659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835" y="1690689"/>
            <a:ext cx="5314950" cy="3009900"/>
          </a:xfrm>
          <a:prstGeom prst="rect">
            <a:avLst/>
          </a:prstGeom>
        </p:spPr>
      </p:pic>
      <p:cxnSp>
        <p:nvCxnSpPr>
          <p:cNvPr id="14" name="直線單箭頭接點 13"/>
          <p:cNvCxnSpPr/>
          <p:nvPr/>
        </p:nvCxnSpPr>
        <p:spPr>
          <a:xfrm flipH="1">
            <a:off x="5545785" y="2939143"/>
            <a:ext cx="509782" cy="3732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 flipH="1">
            <a:off x="3032449" y="4700589"/>
            <a:ext cx="189331" cy="35660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 flipV="1">
            <a:off x="4110525" y="5797685"/>
            <a:ext cx="771668" cy="27369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表格 19"/>
          <p:cNvGraphicFramePr>
            <a:graphicFrameLocks noGrp="1"/>
          </p:cNvGraphicFramePr>
          <p:nvPr/>
        </p:nvGraphicFramePr>
        <p:xfrm>
          <a:off x="5150500" y="5379771"/>
          <a:ext cx="2982684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7114"/>
                <a:gridCol w="497114"/>
                <a:gridCol w="497114"/>
                <a:gridCol w="497114"/>
                <a:gridCol w="497114"/>
                <a:gridCol w="497114"/>
              </a:tblGrid>
              <a:tr h="33590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字方塊 21"/>
              <p:cNvSpPr txBox="1"/>
              <p:nvPr/>
            </p:nvSpPr>
            <p:spPr>
              <a:xfrm>
                <a:off x="4732906" y="5707916"/>
                <a:ext cx="4413388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column minimum</a:t>
                </a:r>
              </a:p>
              <a:p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totally monotone matrix 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sz="2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TW" altLang="en-US" sz="2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𝜗</m:t>
                        </m:r>
                      </m:e>
                      <m:sub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2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2906" y="5707916"/>
                <a:ext cx="4413388" cy="830997"/>
              </a:xfrm>
              <a:prstGeom prst="rect">
                <a:avLst/>
              </a:prstGeom>
              <a:blipFill rotWithShape="0">
                <a:blip r:embed="rId5"/>
                <a:stretch>
                  <a:fillRect l="-2072" t="-5839" r="-276" b="-1532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3208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mosaic2</a:t>
            </a:r>
            <a:endParaRPr lang="zh-TW" altLang="en-US" sz="4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679675" y="1693610"/>
                <a:ext cx="7921501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Preprocessing time : </a:t>
                </a:r>
                <a14:m>
                  <m:oMath xmlns:m="http://schemas.openxmlformats.org/officeDocument/2006/math">
                    <m:r>
                      <a:rPr lang="en-US" altLang="zh-TW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800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𝑛𝑚𝑙</m:t>
                    </m:r>
                    <m:r>
                      <a:rPr lang="en-US" altLang="zh-TW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TW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Query time : </a:t>
                </a:r>
                <a14:m>
                  <m:oMath xmlns:m="http://schemas.openxmlformats.org/officeDocument/2006/math">
                    <m:r>
                      <a:rPr lang="en-US" altLang="zh-TW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sz="2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TW" altLang="en-US" sz="2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𝜗</m:t>
                        </m:r>
                      </m:e>
                      <m:sub>
                        <m:r>
                          <a:rPr lang="en-US" altLang="zh-TW" sz="2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TW" sz="2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TW" sz="2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TW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 </a:t>
                </a:r>
                <a14:m>
                  <m:oMath xmlns:m="http://schemas.openxmlformats.org/officeDocument/2006/math">
                    <m:r>
                      <a:rPr lang="en-US" altLang="zh-TW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𝐿𝐶𝑆</m:t>
                    </m:r>
                  </m:oMath>
                </a14:m>
                <a:r>
                  <a:rPr lang="en-US" altLang="zh-TW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TW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</m:oMath>
                </a14:m>
                <a:r>
                  <a:rPr lang="en-US" altLang="zh-TW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any prefix of </a:t>
                </a:r>
                <a14:m>
                  <m:oMath xmlns:m="http://schemas.openxmlformats.org/officeDocument/2006/math">
                    <m:r>
                      <a:rPr lang="en-US" altLang="zh-TW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altLang="zh-TW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endPara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675" y="1693610"/>
                <a:ext cx="7921501" cy="2677656"/>
              </a:xfrm>
              <a:prstGeom prst="rect">
                <a:avLst/>
              </a:prstGeom>
              <a:blipFill rotWithShape="0">
                <a:blip r:embed="rId2"/>
                <a:stretch>
                  <a:fillRect l="-1538" t="-250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3707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sz="4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Formosa1 :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𝑚𝑙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24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4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func>
                      <m:funcPr>
                        <m:ctrlPr>
                          <a:rPr lang="en-US" altLang="zh-TW" sz="24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400" b="0" i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TW" sz="24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</m:func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Formosa2 :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𝑛𝑚𝑙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TW" sz="24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𝑛𝑘𝑙</m:t>
                        </m:r>
                      </m:e>
                    </m:d>
                  </m:oMath>
                </a14:m>
                <a:endParaRPr lang="en-US" altLang="zh-TW" sz="24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altLang="zh-TW" sz="2400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Mosaic1 :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𝑛𝑚𝑙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TW" sz="2400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sSub>
                      <m:sSubPr>
                        <m:ctrlPr>
                          <a:rPr lang="en-US" altLang="zh-TW" sz="24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TW" altLang="en-US" sz="24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𝜗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func>
                      <m:funcPr>
                        <m:ctrlPr>
                          <a:rPr lang="en-US" altLang="zh-TW" sz="24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400" b="0" i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TW" sz="24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</m:func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TW" sz="24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𝑚𝑜𝑠𝑎𝑖𝑐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𝐿𝐶𝑆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</a:t>
                </a:r>
                <a:r>
                  <a:rPr lang="en-US" altLang="zh-TW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all substrings of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altLang="zh-TW" sz="24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Mosaic2 :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4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𝑛𝑚𝑙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sz="240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𝜗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TW" sz="2400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𝑚𝑜𝑠𝑎𝑖𝑐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𝐿𝐶𝑆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</a:t>
                </a:r>
                <a:r>
                  <a:rPr lang="en-US" altLang="zh-TW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all prefix of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TW" sz="24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Mosaic2 : </a:t>
                </a:r>
                <a:r>
                  <a:rPr lang="en-US" altLang="zh-TW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altLang="zh-TW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query time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complexity.</a:t>
                </a:r>
                <a:endParaRPr lang="en-US" altLang="zh-TW" sz="24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159" t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2110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5209</TotalTime>
  <Words>354</Words>
  <Application>Microsoft Office PowerPoint</Application>
  <PresentationFormat>如螢幕大小 (4:3)</PresentationFormat>
  <Paragraphs>122</Paragraphs>
  <Slides>17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7" baseType="lpstr">
      <vt:lpstr>Arial Unicode MS</vt:lpstr>
      <vt:lpstr>KaiTi</vt:lpstr>
      <vt:lpstr>新細明體</vt:lpstr>
      <vt:lpstr>Arial</vt:lpstr>
      <vt:lpstr>Calibri</vt:lpstr>
      <vt:lpstr>Calibri Light</vt:lpstr>
      <vt:lpstr>Cambria Math</vt:lpstr>
      <vt:lpstr>Times New Roman</vt:lpstr>
      <vt:lpstr>Verdana</vt:lpstr>
      <vt:lpstr>Office 佈景主題</vt:lpstr>
      <vt:lpstr>PowerPoint 簡報</vt:lpstr>
      <vt:lpstr>Abstract(1/3)</vt:lpstr>
      <vt:lpstr>Abstract(2/3)</vt:lpstr>
      <vt:lpstr>Abstract(3/3)</vt:lpstr>
      <vt:lpstr>Mosaic(Resequencing) LCS prob.</vt:lpstr>
      <vt:lpstr>Time complexity</vt:lpstr>
      <vt:lpstr>Review Algorithm Formosa1(1/3)</vt:lpstr>
      <vt:lpstr>Review Algorithm Formosa1(2/3)</vt:lpstr>
      <vt:lpstr>Review Algorithm Formosa1(3/3)</vt:lpstr>
      <vt:lpstr>PowerPoint 簡報</vt:lpstr>
      <vt:lpstr>Algorithm mosaic1(1/4)</vt:lpstr>
      <vt:lpstr>Algorithm mosaic1(2/4)</vt:lpstr>
      <vt:lpstr>Algorithm mosaic1(3/4)</vt:lpstr>
      <vt:lpstr>Algorithm mosaic1(4/4)</vt:lpstr>
      <vt:lpstr>Algorithm mosaic2(1/2)</vt:lpstr>
      <vt:lpstr>Algorithm mosaic2</vt:lpstr>
      <vt:lpstr>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Bebe</dc:creator>
  <cp:lastModifiedBy>Bebe</cp:lastModifiedBy>
  <cp:revision>408</cp:revision>
  <dcterms:created xsi:type="dcterms:W3CDTF">2015-06-30T03:57:49Z</dcterms:created>
  <dcterms:modified xsi:type="dcterms:W3CDTF">2016-05-18T10:11:14Z</dcterms:modified>
</cp:coreProperties>
</file>