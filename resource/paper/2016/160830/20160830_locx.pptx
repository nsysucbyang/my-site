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256" r:id="rId2"/>
    <p:sldId id="257" r:id="rId3"/>
    <p:sldId id="258" r:id="rId4"/>
    <p:sldId id="259" r:id="rId5"/>
    <p:sldId id="260" r:id="rId6"/>
    <p:sldId id="262" r:id="rId7"/>
    <p:sldId id="263" r:id="rId8"/>
    <p:sldId id="264" r:id="rId9"/>
    <p:sldId id="269" r:id="rId10"/>
    <p:sldId id="265" r:id="rId11"/>
    <p:sldId id="267" r:id="rId12"/>
    <p:sldId id="266" r:id="rId13"/>
    <p:sldId id="268" r:id="rId14"/>
    <p:sldId id="279" r:id="rId15"/>
    <p:sldId id="270" r:id="rId16"/>
    <p:sldId id="271" r:id="rId17"/>
    <p:sldId id="272" r:id="rId18"/>
    <p:sldId id="273" r:id="rId19"/>
    <p:sldId id="274" r:id="rId20"/>
    <p:sldId id="275" r:id="rId21"/>
    <p:sldId id="276" r:id="rId22"/>
    <p:sldId id="277" r:id="rId23"/>
    <p:sldId id="278" r:id="rId24"/>
    <p:sldId id="280" r:id="rId2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2" autoAdjust="0"/>
    <p:restoredTop sz="94660"/>
  </p:normalViewPr>
  <p:slideViewPr>
    <p:cSldViewPr snapToGrid="0">
      <p:cViewPr varScale="1">
        <p:scale>
          <a:sx n="94" d="100"/>
          <a:sy n="94" d="100"/>
        </p:scale>
        <p:origin x="696"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BCB409-2DA1-4BCA-B435-C6D650D60C53}" type="datetimeFigureOut">
              <a:rPr lang="zh-TW" altLang="en-US" smtClean="0"/>
              <a:t>2016/8/30</a:t>
            </a:fld>
            <a:endParaRPr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6F0565-5FB6-414C-A160-5E7695D65A9B}" type="slidenum">
              <a:rPr lang="zh-TW" altLang="en-US" smtClean="0"/>
              <a:t>‹#›</a:t>
            </a:fld>
            <a:endParaRPr lang="zh-TW" altLang="en-US"/>
          </a:p>
        </p:txBody>
      </p:sp>
    </p:spTree>
    <p:extLst>
      <p:ext uri="{BB962C8B-B14F-4D97-AF65-F5344CB8AC3E}">
        <p14:creationId xmlns:p14="http://schemas.microsoft.com/office/powerpoint/2010/main" val="41654234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DEB75-3589-4D32-B44A-E0772C0D15C5}" type="datetimeFigureOut">
              <a:rPr lang="zh-TW" altLang="en-US" smtClean="0"/>
              <a:t>2016/8/30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0D5DF-B2A2-41B1-A94F-55B40B4E12BA}" type="slidenum">
              <a:rPr lang="zh-TW" altLang="en-US" smtClean="0"/>
              <a:t>‹#›</a:t>
            </a:fld>
            <a:endParaRPr lang="zh-TW" altLang="en-US"/>
          </a:p>
        </p:txBody>
      </p:sp>
    </p:spTree>
    <p:extLst>
      <p:ext uri="{BB962C8B-B14F-4D97-AF65-F5344CB8AC3E}">
        <p14:creationId xmlns:p14="http://schemas.microsoft.com/office/powerpoint/2010/main" val="30957097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1</a:t>
            </a:fld>
            <a:endParaRPr lang="zh-TW" altLang="en-US"/>
          </a:p>
        </p:txBody>
      </p:sp>
    </p:spTree>
    <p:extLst>
      <p:ext uri="{BB962C8B-B14F-4D97-AF65-F5344CB8AC3E}">
        <p14:creationId xmlns:p14="http://schemas.microsoft.com/office/powerpoint/2010/main" val="94979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a:t>
            </a:fld>
            <a:endParaRPr lang="zh-TW" altLang="en-US"/>
          </a:p>
        </p:txBody>
      </p:sp>
    </p:spTree>
    <p:extLst>
      <p:ext uri="{BB962C8B-B14F-4D97-AF65-F5344CB8AC3E}">
        <p14:creationId xmlns:p14="http://schemas.microsoft.com/office/powerpoint/2010/main" val="21879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3</a:t>
            </a:fld>
            <a:endParaRPr lang="zh-TW" altLang="en-US"/>
          </a:p>
        </p:txBody>
      </p:sp>
    </p:spTree>
    <p:extLst>
      <p:ext uri="{BB962C8B-B14F-4D97-AF65-F5344CB8AC3E}">
        <p14:creationId xmlns:p14="http://schemas.microsoft.com/office/powerpoint/2010/main" val="4087709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最大似然估計 </a:t>
            </a:r>
            <a:r>
              <a:rPr lang="en-US" altLang="zh-TW" dirty="0" smtClean="0"/>
              <a:t>(maximum likelihood estimation)</a:t>
            </a:r>
            <a:endParaRPr lang="zh-TW" altLang="en-US" dirty="0"/>
          </a:p>
        </p:txBody>
      </p:sp>
      <p:sp>
        <p:nvSpPr>
          <p:cNvPr id="4" name="投影片編號版面配置區 3"/>
          <p:cNvSpPr>
            <a:spLocks noGrp="1"/>
          </p:cNvSpPr>
          <p:nvPr>
            <p:ph type="sldNum" sz="quarter" idx="10"/>
          </p:nvPr>
        </p:nvSpPr>
        <p:spPr/>
        <p:txBody>
          <a:bodyPr/>
          <a:lstStyle/>
          <a:p>
            <a:fld id="{61F0D5DF-B2A2-41B1-A94F-55B40B4E12BA}" type="slidenum">
              <a:rPr lang="zh-TW" altLang="en-US" smtClean="0"/>
              <a:t>22</a:t>
            </a:fld>
            <a:endParaRPr lang="zh-TW" altLang="en-US"/>
          </a:p>
        </p:txBody>
      </p:sp>
    </p:spTree>
    <p:extLst>
      <p:ext uri="{BB962C8B-B14F-4D97-AF65-F5344CB8AC3E}">
        <p14:creationId xmlns:p14="http://schemas.microsoft.com/office/powerpoint/2010/main" val="4106261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083FD33D-6920-49C9-BD5B-0C0D85FA0340}" type="datetime1">
              <a:rPr lang="zh-TW" altLang="en-US" smtClean="0"/>
              <a:t>2016/8/30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69900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A763E486-6A60-4EDA-BC68-DE7B5D5D14C9}" type="datetime1">
              <a:rPr lang="zh-TW" altLang="en-US" smtClean="0"/>
              <a:t>2016/8/30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79523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A87159C-A7EE-4402-A9E1-F5C768C7B964}" type="datetime1">
              <a:rPr lang="zh-TW" altLang="en-US" smtClean="0"/>
              <a:t>2016/8/30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9713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F9040366-0D2E-4DBF-A4DB-63EF4915A4E1}" type="datetime1">
              <a:rPr lang="zh-TW" altLang="en-US" smtClean="0"/>
              <a:t>2016/8/30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348412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3B17CDEB-A01D-4AF4-97EE-6BB7504F226E}" type="datetime1">
              <a:rPr lang="zh-TW" altLang="en-US" smtClean="0"/>
              <a:t>2016/8/30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753329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5EE082A2-4BD0-4708-B70C-B5887DEA0B1F}" type="datetime1">
              <a:rPr lang="zh-TW" altLang="en-US" smtClean="0"/>
              <a:t>2016/8/30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5853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081FE-D062-4501-AF67-F6F13AB557C4}" type="datetime1">
              <a:rPr lang="zh-TW" altLang="en-US" smtClean="0"/>
              <a:t>2016/8/30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30512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F0EDBBBC-FAB9-4F8E-B87C-E92E8C50AA1F}" type="datetime1">
              <a:rPr lang="zh-TW" altLang="en-US" smtClean="0"/>
              <a:t>2016/8/30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0489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6549B5C7-F62C-4562-B6D8-707E3DE2FF75}" type="datetime1">
              <a:rPr lang="zh-TW" altLang="en-US" smtClean="0"/>
              <a:t>2016/8/30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615642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5B92113-ABB1-4EA4-8AEB-6052D5EE5BEE}" type="datetime1">
              <a:rPr lang="zh-TW" altLang="en-US" smtClean="0"/>
              <a:t>2016/8/30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294415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D519E917-8D65-4AD0-8E2F-50C5DBAAC474}" type="datetime1">
              <a:rPr lang="zh-TW" altLang="en-US" smtClean="0"/>
              <a:t>2016/8/30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11995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DF453C-B32A-44BE-9370-F66BE2CFC793}" type="datetime1">
              <a:rPr lang="zh-TW" altLang="en-US" smtClean="0"/>
              <a:t>2016/8/30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F4E80-5859-4E39-A40B-ED9B772D8B0F}" type="slidenum">
              <a:rPr lang="zh-TW" altLang="en-US" smtClean="0"/>
              <a:t>‹#›</a:t>
            </a:fld>
            <a:endParaRPr lang="zh-TW" altLang="en-US"/>
          </a:p>
        </p:txBody>
      </p:sp>
    </p:spTree>
    <p:extLst>
      <p:ext uri="{BB962C8B-B14F-4D97-AF65-F5344CB8AC3E}">
        <p14:creationId xmlns:p14="http://schemas.microsoft.com/office/powerpoint/2010/main" val="212355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798" y="628386"/>
            <a:ext cx="7508383" cy="983808"/>
          </a:xfrm>
        </p:spPr>
        <p:txBody>
          <a:bodyPr>
            <a:normAutofit fontScale="90000"/>
          </a:bodyPr>
          <a:lstStyle/>
          <a:p>
            <a:r>
              <a:rPr lang="en-US" altLang="zh-TW" sz="3300" dirty="0">
                <a:latin typeface="Times New Roman" panose="02020603050405020304" pitchFamily="18" charset="0"/>
                <a:cs typeface="Times New Roman" panose="02020603050405020304" pitchFamily="18" charset="0"/>
              </a:rPr>
              <a:t>Most Probable Longest Common Subsequence </a:t>
            </a:r>
            <a:r>
              <a:rPr lang="en-US" altLang="zh-TW" sz="3300" dirty="0" smtClean="0">
                <a:latin typeface="Times New Roman" panose="02020603050405020304" pitchFamily="18" charset="0"/>
                <a:cs typeface="Times New Roman" panose="02020603050405020304" pitchFamily="18" charset="0"/>
              </a:rPr>
              <a:t>for Recognition </a:t>
            </a:r>
            <a:r>
              <a:rPr lang="en-US" altLang="zh-TW" sz="3300" dirty="0">
                <a:latin typeface="Times New Roman" panose="02020603050405020304" pitchFamily="18" charset="0"/>
                <a:cs typeface="Times New Roman" panose="02020603050405020304" pitchFamily="18" charset="0"/>
              </a:rPr>
              <a:t>of Gesture Character Input</a:t>
            </a:r>
            <a:endParaRPr lang="zh-TW" altLang="en-US" sz="33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419895" y="2586444"/>
            <a:ext cx="8353402" cy="3573055"/>
          </a:xfrm>
        </p:spPr>
        <p:txBody>
          <a:bodyPr>
            <a:noAutofit/>
          </a:bodyPr>
          <a:lstStyle/>
          <a:p>
            <a:r>
              <a:rPr lang="en-US" altLang="zh-TW" dirty="0">
                <a:latin typeface="Times New Roman" panose="02020603050405020304" pitchFamily="18" charset="0"/>
                <a:ea typeface="+mj-ea"/>
                <a:cs typeface="Times New Roman" panose="02020603050405020304" pitchFamily="18" charset="0"/>
              </a:rPr>
              <a:t>Darya </a:t>
            </a:r>
            <a:r>
              <a:rPr lang="en-US" altLang="zh-TW" dirty="0" err="1">
                <a:latin typeface="Times New Roman" panose="02020603050405020304" pitchFamily="18" charset="0"/>
                <a:ea typeface="+mj-ea"/>
                <a:cs typeface="Times New Roman" panose="02020603050405020304" pitchFamily="18" charset="0"/>
              </a:rPr>
              <a:t>Frolova</a:t>
            </a:r>
            <a:r>
              <a:rPr lang="en-US" altLang="zh-TW" dirty="0">
                <a:latin typeface="Times New Roman" panose="02020603050405020304" pitchFamily="18" charset="0"/>
                <a:ea typeface="+mj-ea"/>
                <a:cs typeface="Times New Roman" panose="02020603050405020304" pitchFamily="18" charset="0"/>
              </a:rPr>
              <a:t>, </a:t>
            </a:r>
            <a:r>
              <a:rPr lang="en-US" altLang="zh-TW" dirty="0" err="1">
                <a:latin typeface="Times New Roman" panose="02020603050405020304" pitchFamily="18" charset="0"/>
                <a:ea typeface="+mj-ea"/>
                <a:cs typeface="Times New Roman" panose="02020603050405020304" pitchFamily="18" charset="0"/>
              </a:rPr>
              <a:t>Helman</a:t>
            </a:r>
            <a:r>
              <a:rPr lang="en-US" altLang="zh-TW" dirty="0">
                <a:latin typeface="Times New Roman" panose="02020603050405020304" pitchFamily="18" charset="0"/>
                <a:ea typeface="+mj-ea"/>
                <a:cs typeface="Times New Roman" panose="02020603050405020304" pitchFamily="18" charset="0"/>
              </a:rPr>
              <a:t> Stern</a:t>
            </a:r>
            <a:r>
              <a:rPr lang="en-US" altLang="zh-TW" dirty="0" smtClean="0">
                <a:latin typeface="Times New Roman" panose="02020603050405020304" pitchFamily="18" charset="0"/>
                <a:ea typeface="+mj-ea"/>
                <a:cs typeface="Times New Roman" panose="02020603050405020304" pitchFamily="18" charset="0"/>
              </a:rPr>
              <a:t>, and </a:t>
            </a:r>
            <a:r>
              <a:rPr lang="en-US" altLang="zh-TW" dirty="0" err="1">
                <a:latin typeface="Times New Roman" panose="02020603050405020304" pitchFamily="18" charset="0"/>
                <a:ea typeface="+mj-ea"/>
                <a:cs typeface="Times New Roman" panose="02020603050405020304" pitchFamily="18" charset="0"/>
              </a:rPr>
              <a:t>Sigal</a:t>
            </a:r>
            <a:r>
              <a:rPr lang="en-US" altLang="zh-TW" dirty="0">
                <a:latin typeface="Times New Roman" panose="02020603050405020304" pitchFamily="18" charset="0"/>
                <a:ea typeface="+mj-ea"/>
                <a:cs typeface="Times New Roman" panose="02020603050405020304" pitchFamily="18" charset="0"/>
              </a:rPr>
              <a:t> Berman</a:t>
            </a:r>
          </a:p>
          <a:p>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ea typeface="+mj-ea"/>
                <a:cs typeface="Times New Roman" panose="02020603050405020304" pitchFamily="18" charset="0"/>
              </a:rPr>
              <a:t>IEEE TRANSACTIONS ON CYBERNETICS, </a:t>
            </a:r>
            <a:endParaRPr lang="en-US" altLang="zh-TW" dirty="0" smtClean="0">
              <a:latin typeface="Times New Roman" panose="02020603050405020304" pitchFamily="18" charset="0"/>
              <a:ea typeface="+mj-ea"/>
              <a:cs typeface="Times New Roman" panose="02020603050405020304" pitchFamily="18" charset="0"/>
            </a:endParaRPr>
          </a:p>
          <a:p>
            <a:r>
              <a:rPr lang="en-US" altLang="zh-TW" dirty="0" smtClean="0">
                <a:latin typeface="Times New Roman" panose="02020603050405020304" pitchFamily="18" charset="0"/>
                <a:ea typeface="+mj-ea"/>
                <a:cs typeface="Times New Roman" panose="02020603050405020304" pitchFamily="18" charset="0"/>
              </a:rPr>
              <a:t>VOL</a:t>
            </a:r>
            <a:r>
              <a:rPr lang="en-US" altLang="zh-TW" dirty="0">
                <a:latin typeface="Times New Roman" panose="02020603050405020304" pitchFamily="18" charset="0"/>
                <a:ea typeface="+mj-ea"/>
                <a:cs typeface="Times New Roman" panose="02020603050405020304" pitchFamily="18" charset="0"/>
              </a:rPr>
              <a:t>. 43, NO. 3, JUNE 2013</a:t>
            </a:r>
          </a:p>
          <a:p>
            <a:endParaRPr lang="en-US" altLang="zh-TW" dirty="0">
              <a:latin typeface="Times New Roman" panose="02020603050405020304" pitchFamily="18" charset="0"/>
              <a:ea typeface="+mj-ea"/>
              <a:cs typeface="Times New Roman" panose="02020603050405020304" pitchFamily="18" charset="0"/>
            </a:endParaRPr>
          </a:p>
          <a:p>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ea typeface="+mj-ea"/>
                <a:cs typeface="Times New Roman" panose="02020603050405020304" pitchFamily="18" charset="0"/>
              </a:rPr>
              <a:t>Presenter: Chong-Xuan Lo</a:t>
            </a:r>
          </a:p>
          <a:p>
            <a:r>
              <a:rPr lang="en-US" altLang="zh-TW" dirty="0">
                <a:latin typeface="Times New Roman" panose="02020603050405020304" pitchFamily="18" charset="0"/>
                <a:ea typeface="+mj-ea"/>
                <a:cs typeface="Times New Roman" panose="02020603050405020304" pitchFamily="18" charset="0"/>
              </a:rPr>
              <a:t>Date:2016/8/30</a:t>
            </a:r>
            <a:endParaRPr lang="zh-TW" altLang="en-US" dirty="0">
              <a:latin typeface="Times New Roman" panose="02020603050405020304" pitchFamily="18" charset="0"/>
              <a:ea typeface="+mj-ea"/>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t>1</a:t>
            </a:fld>
            <a:endParaRPr lang="zh-TW" altLang="en-US"/>
          </a:p>
        </p:txBody>
      </p:sp>
    </p:spTree>
    <p:extLst>
      <p:ext uri="{BB962C8B-B14F-4D97-AF65-F5344CB8AC3E}">
        <p14:creationId xmlns:p14="http://schemas.microsoft.com/office/powerpoint/2010/main" val="1052000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846507" y="656177"/>
            <a:ext cx="5186966" cy="674715"/>
          </a:xfrm>
        </p:spPr>
        <p:txBody>
          <a:bodyPr>
            <a:normAutofit/>
          </a:bodyPr>
          <a:lstStyle/>
          <a:p>
            <a:r>
              <a:rPr lang="en-US" altLang="zh-TW" sz="3300" dirty="0" smtClean="0">
                <a:latin typeface="Times New Roman" panose="02020603050405020304" pitchFamily="18" charset="0"/>
                <a:cs typeface="Times New Roman" panose="02020603050405020304" pitchFamily="18" charset="0"/>
              </a:rPr>
              <a:t>Abstract(1/2)</a:t>
            </a:r>
            <a:endParaRPr lang="zh-TW" altLang="en-US" sz="33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010990" y="1814053"/>
            <a:ext cx="7130120" cy="4621582"/>
          </a:xfrm>
        </p:spPr>
        <p:txBody>
          <a:bodyPr>
            <a:normAutofit/>
          </a:bodyPr>
          <a:lstStyle/>
          <a:p>
            <a:pPr algn="l"/>
            <a:r>
              <a:rPr lang="en-US" altLang="zh-TW" dirty="0" smtClean="0">
                <a:latin typeface="Times New Roman" panose="02020603050405020304" pitchFamily="18" charset="0"/>
                <a:cs typeface="Times New Roman" panose="02020603050405020304" pitchFamily="18" charset="0"/>
              </a:rPr>
              <a:t>	This </a:t>
            </a:r>
            <a:r>
              <a:rPr lang="en-US" altLang="zh-TW" dirty="0">
                <a:latin typeface="Times New Roman" panose="02020603050405020304" pitchFamily="18" charset="0"/>
                <a:cs typeface="Times New Roman" panose="02020603050405020304" pitchFamily="18" charset="0"/>
              </a:rPr>
              <a:t>paper presents a technique for </a:t>
            </a:r>
            <a:r>
              <a:rPr lang="en-US" altLang="zh-TW" dirty="0" smtClean="0">
                <a:latin typeface="Times New Roman" panose="02020603050405020304" pitchFamily="18" charset="0"/>
                <a:cs typeface="Times New Roman" panose="02020603050405020304" pitchFamily="18" charset="0"/>
              </a:rPr>
              <a:t>trajectory classiﬁcation with applications to dynamic free-air hand gesture recognition. Such gestures are unencumbered and drawn in free air.</a:t>
            </a:r>
          </a:p>
          <a:p>
            <a:pPr algn="l"/>
            <a:r>
              <a:rPr lang="en-US" altLang="zh-TW" dirty="0" smtClean="0">
                <a:latin typeface="Times New Roman" panose="02020603050405020304" pitchFamily="18" charset="0"/>
                <a:cs typeface="Times New Roman" panose="02020603050405020304" pitchFamily="18" charset="0"/>
              </a:rPr>
              <a:t>	Our approach is an extension to the longest common subsequence (LCS) classiﬁcation algorithm. A learning preprocessing stage is performed to create a probabilistic 2-D template for each gesture, which allows taking into account different trajectory distortions with different probabilities. </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t>2</a:t>
            </a:fld>
            <a:endParaRPr lang="zh-TW" altLang="en-US"/>
          </a:p>
        </p:txBody>
      </p:sp>
    </p:spTree>
    <p:extLst>
      <p:ext uri="{BB962C8B-B14F-4D97-AF65-F5344CB8AC3E}">
        <p14:creationId xmlns:p14="http://schemas.microsoft.com/office/powerpoint/2010/main" val="1928528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846507" y="656177"/>
            <a:ext cx="5186966" cy="674715"/>
          </a:xfrm>
        </p:spPr>
        <p:txBody>
          <a:bodyPr>
            <a:normAutofit/>
          </a:bodyPr>
          <a:lstStyle/>
          <a:p>
            <a:r>
              <a:rPr lang="en-US" altLang="zh-TW" sz="3300" dirty="0" smtClean="0">
                <a:latin typeface="Times New Roman" panose="02020603050405020304" pitchFamily="18" charset="0"/>
                <a:cs typeface="Times New Roman" panose="02020603050405020304" pitchFamily="18" charset="0"/>
              </a:rPr>
              <a:t>Abstract(2/2)</a:t>
            </a:r>
            <a:endParaRPr lang="zh-TW" altLang="en-US" sz="33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010990" y="1814053"/>
            <a:ext cx="7130120" cy="4621582"/>
          </a:xfrm>
        </p:spPr>
        <p:txBody>
          <a:bodyPr>
            <a:normAutofit/>
          </a:bodyPr>
          <a:lstStyle/>
          <a:p>
            <a:pPr algn="l"/>
            <a:r>
              <a:rPr lang="en-US" altLang="zh-TW" dirty="0" smtClean="0">
                <a:latin typeface="Times New Roman" panose="02020603050405020304" pitchFamily="18" charset="0"/>
                <a:cs typeface="Times New Roman" panose="02020603050405020304" pitchFamily="18" charset="0"/>
              </a:rPr>
              <a:t>	The modiﬁed LCS, termed the most probable LCS (MPLCS), is developed to measure the similarity between the probabilistic template and the hand gesture sample. The ﬁnal decision is based on the length and probability of the extracted subsequence. Validation tests using a cohort of gesture digits from video-based capture show that the approach is promising with a recognition rate of more than 98% for video stream </a:t>
            </a:r>
            <a:r>
              <a:rPr lang="en-US" altLang="zh-TW" dirty="0" err="1" smtClean="0">
                <a:latin typeface="Times New Roman" panose="02020603050405020304" pitchFamily="18" charset="0"/>
                <a:cs typeface="Times New Roman" panose="02020603050405020304" pitchFamily="18" charset="0"/>
              </a:rPr>
              <a:t>preisolated</a:t>
            </a:r>
            <a:r>
              <a:rPr lang="en-US" altLang="zh-TW" dirty="0" smtClean="0">
                <a:latin typeface="Times New Roman" panose="02020603050405020304" pitchFamily="18" charset="0"/>
                <a:cs typeface="Times New Roman" panose="02020603050405020304" pitchFamily="18" charset="0"/>
              </a:rPr>
              <a:t> digits. The MPLCS algorithm can be integrated into a gesture recognition interface to facilitate gesture character input. This can greatly enhance the usability of such interfaces.</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B9CF4E80-5859-4E39-A40B-ED9B772D8B0F}" type="slidenum">
              <a:rPr lang="zh-TW" altLang="en-US" smtClean="0"/>
              <a:t>3</a:t>
            </a:fld>
            <a:endParaRPr lang="zh-TW" altLang="en-US"/>
          </a:p>
        </p:txBody>
      </p:sp>
    </p:spTree>
    <p:extLst>
      <p:ext uri="{BB962C8B-B14F-4D97-AF65-F5344CB8AC3E}">
        <p14:creationId xmlns:p14="http://schemas.microsoft.com/office/powerpoint/2010/main" val="5691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4</a:t>
            </a:fld>
            <a:endParaRPr lang="zh-TW" altLang="en-US"/>
          </a:p>
        </p:txBody>
      </p:sp>
      <p:pic>
        <p:nvPicPr>
          <p:cNvPr id="5" name="圖片 4"/>
          <p:cNvPicPr>
            <a:picLocks noChangeAspect="1"/>
          </p:cNvPicPr>
          <p:nvPr/>
        </p:nvPicPr>
        <p:blipFill>
          <a:blip r:embed="rId2"/>
          <a:stretch>
            <a:fillRect/>
          </a:stretch>
        </p:blipFill>
        <p:spPr>
          <a:xfrm>
            <a:off x="126528" y="1184705"/>
            <a:ext cx="9186978" cy="3881566"/>
          </a:xfrm>
          <a:prstGeom prst="rect">
            <a:avLst/>
          </a:prstGeom>
        </p:spPr>
      </p:pic>
    </p:spTree>
    <p:extLst>
      <p:ext uri="{BB962C8B-B14F-4D97-AF65-F5344CB8AC3E}">
        <p14:creationId xmlns:p14="http://schemas.microsoft.com/office/powerpoint/2010/main" val="10858898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5</a:t>
            </a:fld>
            <a:endParaRPr lang="zh-TW" altLang="en-US"/>
          </a:p>
        </p:txBody>
      </p:sp>
      <p:pic>
        <p:nvPicPr>
          <p:cNvPr id="5" name="圖片 4"/>
          <p:cNvPicPr>
            <a:picLocks noChangeAspect="1"/>
          </p:cNvPicPr>
          <p:nvPr/>
        </p:nvPicPr>
        <p:blipFill>
          <a:blip r:embed="rId2"/>
          <a:stretch>
            <a:fillRect/>
          </a:stretch>
        </p:blipFill>
        <p:spPr>
          <a:xfrm>
            <a:off x="628650" y="47138"/>
            <a:ext cx="7444431" cy="6810862"/>
          </a:xfrm>
          <a:prstGeom prst="rect">
            <a:avLst/>
          </a:prstGeom>
        </p:spPr>
      </p:pic>
    </p:spTree>
    <p:extLst>
      <p:ext uri="{BB962C8B-B14F-4D97-AF65-F5344CB8AC3E}">
        <p14:creationId xmlns:p14="http://schemas.microsoft.com/office/powerpoint/2010/main" val="727863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latin typeface="Times New Roman" panose="02020603050405020304" pitchFamily="18" charset="0"/>
                <a:cs typeface="Times New Roman" panose="02020603050405020304" pitchFamily="18" charset="0"/>
              </a:rPr>
              <a:t>OFFLINE DYNAMIC GESTURE TRAINING</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90500" y="1825624"/>
                <a:ext cx="8324850" cy="4791075"/>
              </a:xfrm>
            </p:spPr>
            <p:txBody>
              <a:bodyPr/>
              <a:lstStyle/>
              <a:p>
                <a:r>
                  <a:rPr lang="en-US" altLang="zh-TW" dirty="0" smtClean="0">
                    <a:latin typeface="Times New Roman" panose="02020603050405020304" pitchFamily="18" charset="0"/>
                    <a:cs typeface="Times New Roman" panose="02020603050405020304" pitchFamily="18" charset="0"/>
                  </a:rPr>
                  <a:t>Given a database of G gesture types, </a:t>
                </a:r>
              </a:p>
              <a:p>
                <a:pPr marL="0" indent="0">
                  <a:buNone/>
                </a:pPr>
                <a:r>
                  <a:rPr lang="en-US" altLang="zh-TW" dirty="0">
                    <a:latin typeface="Times New Roman" panose="02020603050405020304" pitchFamily="18" charset="0"/>
                    <a:cs typeface="Times New Roman" panose="02020603050405020304" pitchFamily="18" charset="0"/>
                  </a:rPr>
                  <a:t>i</a:t>
                </a:r>
                <a:r>
                  <a:rPr lang="en-US" altLang="zh-TW" dirty="0" smtClean="0">
                    <a:latin typeface="Times New Roman" panose="02020603050405020304" pitchFamily="18" charset="0"/>
                    <a:cs typeface="Times New Roman" panose="02020603050405020304" pitchFamily="18" charset="0"/>
                  </a:rPr>
                  <a:t>ndexed </a:t>
                </a:r>
                <a:r>
                  <a:rPr lang="en-US" altLang="zh-TW" dirty="0">
                    <a:latin typeface="Times New Roman" panose="02020603050405020304" pitchFamily="18" charset="0"/>
                    <a:cs typeface="Times New Roman" panose="02020603050405020304" pitchFamily="18" charset="0"/>
                  </a:rPr>
                  <a:t>as g </a:t>
                </a:r>
                <a:r>
                  <a:rPr lang="en-US" altLang="zh-TW" dirty="0" smtClean="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 2, . . . , </a:t>
                </a:r>
                <a:r>
                  <a:rPr lang="en-US" altLang="zh-TW" dirty="0" smtClean="0">
                    <a:latin typeface="Times New Roman" panose="02020603050405020304" pitchFamily="18" charset="0"/>
                    <a:cs typeface="Times New Roman" panose="02020603050405020304" pitchFamily="18" charset="0"/>
                  </a:rPr>
                  <a:t>G	ex:</a:t>
                </a:r>
              </a:p>
              <a:p>
                <a:pPr marL="0" indent="0">
                  <a:buNone/>
                </a:pPr>
                <a:endParaRPr lang="en-US" altLang="zh-TW" dirty="0" smtClean="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Each g </a:t>
                </a:r>
                <a:r>
                  <a:rPr lang="en-US" altLang="zh-TW" dirty="0" smtClean="0">
                    <a:latin typeface="Times New Roman" panose="02020603050405020304" pitchFamily="18" charset="0"/>
                    <a:cs typeface="Times New Roman" panose="02020603050405020304" pitchFamily="18" charset="0"/>
                  </a:rPr>
                  <a:t>consists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𝑔</m:t>
                        </m:r>
                      </m:sub>
                    </m:sSub>
                  </m:oMath>
                </a14:m>
                <a:r>
                  <a:rPr lang="en-US" altLang="zh-TW" dirty="0" smtClean="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samples, </a:t>
                </a:r>
                <a:r>
                  <a:rPr lang="en-US" altLang="zh-TW" dirty="0" smtClean="0">
                    <a:latin typeface="Times New Roman" panose="02020603050405020304" pitchFamily="18" charset="0"/>
                    <a:cs typeface="Times New Roman" panose="02020603050405020304" pitchFamily="18" charset="0"/>
                  </a:rPr>
                  <a:t>indexed </a:t>
                </a:r>
                <a:r>
                  <a:rPr lang="en-US" altLang="zh-TW" dirty="0">
                    <a:latin typeface="Times New Roman" panose="02020603050405020304" pitchFamily="18" charset="0"/>
                    <a:cs typeface="Times New Roman" panose="02020603050405020304" pitchFamily="18" charset="0"/>
                  </a:rPr>
                  <a:t>s </a:t>
                </a:r>
                <a:r>
                  <a:rPr lang="en-US" altLang="zh-TW" dirty="0" smtClean="0">
                    <a:latin typeface="Times New Roman" panose="02020603050405020304" pitchFamily="18" charset="0"/>
                    <a:cs typeface="Times New Roman" panose="02020603050405020304" pitchFamily="18" charset="0"/>
                  </a:rPr>
                  <a:t>=1,2</a:t>
                </a:r>
                <a:r>
                  <a:rPr lang="en-US" altLang="zh-TW" dirty="0">
                    <a:latin typeface="Times New Roman" panose="02020603050405020304" pitchFamily="18" charset="0"/>
                    <a:cs typeface="Times New Roman" panose="02020603050405020304" pitchFamily="18" charset="0"/>
                  </a:rPr>
                  <a:t>, .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𝑔</m:t>
                        </m:r>
                      </m:sub>
                    </m:sSub>
                  </m:oMath>
                </a14:m>
                <a:r>
                  <a:rPr lang="en-US" altLang="zh-TW" dirty="0" smtClean="0">
                    <a:latin typeface="Times New Roman" panose="02020603050405020304" pitchFamily="18" charset="0"/>
                    <a:cs typeface="Times New Roman" panose="02020603050405020304" pitchFamily="18" charset="0"/>
                  </a:rPr>
                  <a:t>.</a:t>
                </a:r>
              </a:p>
              <a:p>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e</a:t>
                </a:r>
                <a:r>
                  <a:rPr lang="en-US" altLang="zh-TW" dirty="0" smtClean="0">
                    <a:latin typeface="Times New Roman" panose="02020603050405020304" pitchFamily="18" charset="0"/>
                    <a:cs typeface="Times New Roman" panose="02020603050405020304" pitchFamily="18" charset="0"/>
                  </a:rPr>
                  <a:t>x:</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smtClean="0">
                    <a:latin typeface="Times New Roman" panose="02020603050405020304" pitchFamily="18" charset="0"/>
                    <a:cs typeface="Times New Roman" panose="02020603050405020304" pitchFamily="18" charset="0"/>
                  </a:rPr>
                  <a:t>Trajectories {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𝑔</m:t>
                        </m:r>
                      </m:sub>
                      <m:sup>
                        <m:r>
                          <a:rPr lang="en-US" altLang="zh-TW" b="0" i="1" smtClean="0">
                            <a:latin typeface="Cambria Math" panose="02040503050406030204" pitchFamily="18" charset="0"/>
                          </a:rPr>
                          <m:t>1</m:t>
                        </m:r>
                      </m:sup>
                    </m:sSubSup>
                    <m:r>
                      <a:rPr lang="en-US" altLang="zh-TW" b="0" i="1" smtClean="0">
                        <a:latin typeface="Cambria Math" panose="02040503050406030204" pitchFamily="18" charset="0"/>
                      </a:rPr>
                      <m:t> …</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𝑡</m:t>
                        </m:r>
                      </m:e>
                      <m:sub>
                        <m:r>
                          <a:rPr lang="en-US" altLang="zh-TW" i="1">
                            <a:latin typeface="Cambria Math" panose="02040503050406030204" pitchFamily="18" charset="0"/>
                          </a:rPr>
                          <m:t>𝑔</m:t>
                        </m:r>
                      </m:sub>
                      <m:sup>
                        <m:r>
                          <a:rPr lang="en-US" altLang="zh-TW" b="0" i="1" smtClean="0">
                            <a:latin typeface="Cambria Math" panose="02040503050406030204" pitchFamily="18" charset="0"/>
                          </a:rPr>
                          <m:t>𝑠</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𝑡</m:t>
                        </m:r>
                      </m:e>
                      <m:sub>
                        <m:r>
                          <a:rPr lang="en-US" altLang="zh-TW" i="1">
                            <a:latin typeface="Cambria Math" panose="02040503050406030204" pitchFamily="18" charset="0"/>
                          </a:rPr>
                          <m:t>𝑔</m:t>
                        </m:r>
                      </m:sub>
                      <m:sup>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𝑔</m:t>
                            </m:r>
                          </m:sub>
                        </m:sSub>
                      </m:sup>
                    </m:sSubSup>
                  </m:oMath>
                </a14:m>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90500" y="1825624"/>
                <a:ext cx="8324850" cy="4791075"/>
              </a:xfrm>
              <a:blipFill rotWithShape="0">
                <a:blip r:embed="rId2"/>
                <a:stretch>
                  <a:fillRect l="-1464" t="-2163" b="-165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6</a:t>
            </a:fld>
            <a:endParaRPr lang="zh-TW" altLang="en-US"/>
          </a:p>
        </p:txBody>
      </p:sp>
      <p:pic>
        <p:nvPicPr>
          <p:cNvPr id="5" name="圖片 4"/>
          <p:cNvPicPr>
            <a:picLocks noChangeAspect="1"/>
          </p:cNvPicPr>
          <p:nvPr/>
        </p:nvPicPr>
        <p:blipFill>
          <a:blip r:embed="rId3"/>
          <a:stretch>
            <a:fillRect/>
          </a:stretch>
        </p:blipFill>
        <p:spPr>
          <a:xfrm>
            <a:off x="879475" y="4064000"/>
            <a:ext cx="2076450" cy="1143000"/>
          </a:xfrm>
          <a:prstGeom prst="rect">
            <a:avLst/>
          </a:prstGeom>
        </p:spPr>
      </p:pic>
      <p:pic>
        <p:nvPicPr>
          <p:cNvPr id="6" name="圖片 5"/>
          <p:cNvPicPr>
            <a:picLocks noChangeAspect="1"/>
          </p:cNvPicPr>
          <p:nvPr/>
        </p:nvPicPr>
        <p:blipFill>
          <a:blip r:embed="rId4"/>
          <a:stretch>
            <a:fillRect/>
          </a:stretch>
        </p:blipFill>
        <p:spPr>
          <a:xfrm>
            <a:off x="5457825" y="2371388"/>
            <a:ext cx="3327400" cy="454698"/>
          </a:xfrm>
          <a:prstGeom prst="rect">
            <a:avLst/>
          </a:prstGeom>
        </p:spPr>
      </p:pic>
    </p:spTree>
    <p:extLst>
      <p:ext uri="{BB962C8B-B14F-4D97-AF65-F5344CB8AC3E}">
        <p14:creationId xmlns:p14="http://schemas.microsoft.com/office/powerpoint/2010/main" val="33298727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a:solidFill>
                  <a:prstClr val="black"/>
                </a:solidFill>
                <a:latin typeface="Times New Roman" panose="02020603050405020304" pitchFamily="18" charset="0"/>
                <a:cs typeface="Times New Roman" panose="02020603050405020304" pitchFamily="18" charset="0"/>
              </a:rPr>
              <a:t>OFFLINE DYNAMIC GESTURE TRAINING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50" y="4909435"/>
                <a:ext cx="7886700" cy="1287463"/>
              </a:xfrm>
            </p:spPr>
            <p:txBody>
              <a:bodyPr>
                <a:normAutofit/>
              </a:bodyPr>
              <a:lstStyle/>
              <a:p>
                <a:r>
                  <a:rPr lang="en-US" altLang="zh-TW" dirty="0" smtClean="0">
                    <a:latin typeface="Times New Roman" panose="02020603050405020304" pitchFamily="18" charset="0"/>
                    <a:cs typeface="Times New Roman" panose="02020603050405020304" pitchFamily="18" charset="0"/>
                  </a:rPr>
                  <a:t>Convert each sample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𝑡</m:t>
                        </m:r>
                      </m:e>
                      <m:sub>
                        <m:r>
                          <a:rPr lang="en-US" altLang="zh-TW" i="1">
                            <a:latin typeface="Cambria Math" panose="02040503050406030204" pitchFamily="18" charset="0"/>
                          </a:rPr>
                          <m:t>𝑔</m:t>
                        </m:r>
                      </m:sub>
                      <m:sup>
                        <m:r>
                          <a:rPr lang="en-US" altLang="zh-TW" i="1">
                            <a:latin typeface="Cambria Math" panose="02040503050406030204" pitchFamily="18" charset="0"/>
                          </a:rPr>
                          <m:t>𝑠</m:t>
                        </m:r>
                      </m:sup>
                    </m:sSubSup>
                  </m:oMath>
                </a14:m>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into </a:t>
                </a:r>
                <a:r>
                  <a:rPr lang="en-US" altLang="zh-TW" dirty="0">
                    <a:latin typeface="Times New Roman" panose="02020603050405020304" pitchFamily="18" charset="0"/>
                    <a:cs typeface="Times New Roman" panose="02020603050405020304" pitchFamily="18" charset="0"/>
                  </a:rPr>
                  <a:t>a vector of ordered </a:t>
                </a:r>
                <a:r>
                  <a:rPr lang="en-US" altLang="zh-TW" dirty="0" smtClean="0">
                    <a:latin typeface="Times New Roman" panose="02020603050405020304" pitchFamily="18" charset="0"/>
                    <a:cs typeface="Times New Roman" panose="02020603050405020304" pitchFamily="18" charset="0"/>
                  </a:rPr>
                  <a:t>tangent </a:t>
                </a:r>
                <a:r>
                  <a:rPr lang="en-US" altLang="zh-TW" dirty="0">
                    <a:latin typeface="Times New Roman" panose="02020603050405020304" pitchFamily="18" charset="0"/>
                    <a:cs typeface="Times New Roman" panose="02020603050405020304" pitchFamily="18" charset="0"/>
                  </a:rPr>
                  <a:t>angles </a:t>
                </a:r>
                <a:r>
                  <a:rPr lang="en-US" altLang="zh-TW" dirty="0" smtClean="0">
                    <a:latin typeface="Times New Roman" panose="02020603050405020304" pitchFamily="18" charset="0"/>
                    <a:cs typeface="Times New Roman" panose="02020603050405020304" pitchFamily="18" charset="0"/>
                  </a:rPr>
                  <a:t>a </a:t>
                </a:r>
                <a14:m>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𝑎</m:t>
                        </m:r>
                      </m:e>
                      <m:sub>
                        <m:r>
                          <a:rPr lang="en-US" altLang="zh-TW" i="1">
                            <a:latin typeface="Cambria Math" panose="02040503050406030204" pitchFamily="18" charset="0"/>
                          </a:rPr>
                          <m:t>𝑔</m:t>
                        </m:r>
                      </m:sub>
                      <m:sup>
                        <m:r>
                          <a:rPr lang="en-US" altLang="zh-TW" i="1">
                            <a:latin typeface="Cambria Math" panose="02040503050406030204" pitchFamily="18" charset="0"/>
                          </a:rPr>
                          <m:t>𝑠</m:t>
                        </m:r>
                      </m:sup>
                    </m:sSubSup>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TW" i="1">
                            <a:latin typeface="Cambria Math" panose="02040503050406030204" pitchFamily="18" charset="0"/>
                          </a:rPr>
                        </m:ctrlPr>
                      </m:sSubSupPr>
                      <m:e>
                        <m:r>
                          <m:rPr>
                            <m:sty m:val="p"/>
                          </m:rPr>
                          <a:rPr lang="el-GR" altLang="zh-TW" i="1" smtClean="0">
                            <a:latin typeface="Cambria Math" panose="02040503050406030204" pitchFamily="18" charset="0"/>
                          </a:rPr>
                          <m:t>α</m:t>
                        </m:r>
                      </m:e>
                      <m:sub>
                        <m:r>
                          <a:rPr lang="en-US" altLang="zh-TW" i="1">
                            <a:latin typeface="Cambria Math" panose="02040503050406030204" pitchFamily="18" charset="0"/>
                          </a:rPr>
                          <m:t>𝑔</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𝑠</m:t>
                        </m:r>
                      </m:sup>
                    </m:sSubSup>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 …</m:t>
                        </m:r>
                        <m:r>
                          <m:rPr>
                            <m:sty m:val="p"/>
                          </m:rPr>
                          <a:rPr lang="el-GR" altLang="zh-TW" i="1">
                            <a:latin typeface="Cambria Math" panose="02040503050406030204" pitchFamily="18" charset="0"/>
                          </a:rPr>
                          <m:t>α</m:t>
                        </m:r>
                      </m:e>
                      <m:sub>
                        <m:r>
                          <a:rPr lang="en-US" altLang="zh-TW" i="1">
                            <a:latin typeface="Cambria Math" panose="02040503050406030204" pitchFamily="18" charset="0"/>
                          </a:rPr>
                          <m:t>𝑔</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sub>
                      <m:sup>
                        <m:r>
                          <a:rPr lang="en-US" altLang="zh-TW" i="1">
                            <a:latin typeface="Cambria Math" panose="02040503050406030204" pitchFamily="18" charset="0"/>
                          </a:rPr>
                          <m:t>𝑠</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m:rPr>
                            <m:sty m:val="p"/>
                          </m:rPr>
                          <a:rPr lang="el-GR" altLang="zh-TW" i="1">
                            <a:latin typeface="Cambria Math" panose="02040503050406030204" pitchFamily="18" charset="0"/>
                          </a:rPr>
                          <m:t>α</m:t>
                        </m:r>
                      </m:e>
                      <m: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𝐿</m:t>
                            </m:r>
                          </m:e>
                          <m:sub>
                            <m:r>
                              <a:rPr lang="en-US" altLang="zh-TW" i="1">
                                <a:latin typeface="Cambria Math" panose="02040503050406030204" pitchFamily="18" charset="0"/>
                              </a:rPr>
                              <m:t>𝑔</m:t>
                            </m:r>
                          </m:sub>
                        </m:sSub>
                        <m:r>
                          <a:rPr lang="en-US" altLang="zh-TW" b="0" i="1" smtClean="0">
                            <a:latin typeface="Cambria Math" panose="02040503050406030204" pitchFamily="18" charset="0"/>
                          </a:rPr>
                          <m:t>−1</m:t>
                        </m:r>
                      </m:sub>
                      <m:sup>
                        <m:r>
                          <a:rPr lang="en-US" altLang="zh-TW" i="1" smtClean="0">
                            <a:latin typeface="Cambria Math" panose="02040503050406030204" pitchFamily="18" charset="0"/>
                          </a:rPr>
                          <m:t>𝑠</m:t>
                        </m:r>
                      </m:sup>
                    </m:sSubSup>
                  </m:oMath>
                </a14:m>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50" y="4909435"/>
                <a:ext cx="7886700" cy="1287463"/>
              </a:xfrm>
              <a:blipFill rotWithShape="0">
                <a:blip r:embed="rId2"/>
                <a:stretch>
                  <a:fillRect l="-1392" t="-754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7</a:t>
            </a:fld>
            <a:endParaRPr lang="zh-TW" altLang="en-US" dirty="0"/>
          </a:p>
        </p:txBody>
      </p:sp>
      <p:pic>
        <p:nvPicPr>
          <p:cNvPr id="6" name="圖片 5"/>
          <p:cNvPicPr>
            <a:picLocks noChangeAspect="1"/>
          </p:cNvPicPr>
          <p:nvPr/>
        </p:nvPicPr>
        <p:blipFill>
          <a:blip r:embed="rId3"/>
          <a:stretch>
            <a:fillRect/>
          </a:stretch>
        </p:blipFill>
        <p:spPr>
          <a:xfrm>
            <a:off x="2479675" y="1690689"/>
            <a:ext cx="3126209" cy="3043940"/>
          </a:xfrm>
          <a:prstGeom prst="rect">
            <a:avLst/>
          </a:prstGeom>
        </p:spPr>
      </p:pic>
    </p:spTree>
    <p:extLst>
      <p:ext uri="{BB962C8B-B14F-4D97-AF65-F5344CB8AC3E}">
        <p14:creationId xmlns:p14="http://schemas.microsoft.com/office/powerpoint/2010/main" val="24296551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a:solidFill>
                  <a:prstClr val="black"/>
                </a:solidFill>
                <a:latin typeface="Times New Roman" panose="02020603050405020304" pitchFamily="18" charset="0"/>
                <a:cs typeface="Times New Roman" panose="02020603050405020304" pitchFamily="18" charset="0"/>
              </a:rPr>
              <a:t>OFFLINE DYNAMIC GESTURE TRAINING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50" y="4909435"/>
                <a:ext cx="8420100" cy="1446916"/>
              </a:xfrm>
            </p:spPr>
            <p:txBody>
              <a:bodyPr>
                <a:normAutofit/>
              </a:bodyPr>
              <a:lstStyle/>
              <a:p>
                <a:r>
                  <a:rPr lang="en-US" altLang="zh-TW" dirty="0" smtClean="0">
                    <a:latin typeface="Times New Roman" panose="02020603050405020304" pitchFamily="18" charset="0"/>
                    <a:cs typeface="Times New Roman" panose="02020603050405020304" pitchFamily="18" charset="0"/>
                  </a:rPr>
                  <a:t>The size of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𝑀</m:t>
                        </m:r>
                      </m:e>
                      <m:sub>
                        <m:r>
                          <a:rPr lang="en-US" altLang="zh-TW" b="0" i="1" smtClean="0">
                            <a:latin typeface="Cambria Math" panose="02040503050406030204" pitchFamily="18" charset="0"/>
                            <a:cs typeface="Times New Roman" panose="02020603050405020304" pitchFamily="18" charset="0"/>
                          </a:rPr>
                          <m:t>𝑔</m:t>
                        </m:r>
                      </m:sub>
                    </m:sSub>
                  </m:oMath>
                </a14:m>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is </a:t>
                </a:r>
                <a:r>
                  <a:rPr lang="en-US" altLang="zh-TW"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𝐿</m:t>
                        </m:r>
                      </m:e>
                      <m:sub>
                        <m:r>
                          <a:rPr lang="en-US" altLang="zh-TW" i="1">
                            <a:latin typeface="Cambria Math" panose="02040503050406030204" pitchFamily="18" charset="0"/>
                            <a:cs typeface="Times New Roman" panose="02020603050405020304" pitchFamily="18" charset="0"/>
                          </a:rPr>
                          <m:t>𝑔</m:t>
                        </m:r>
                      </m:sub>
                    </m:sSub>
                  </m:oMath>
                </a14:m>
                <a:r>
                  <a:rPr lang="en-US" altLang="zh-TW" dirty="0">
                    <a:latin typeface="Times New Roman" panose="02020603050405020304" pitchFamily="18" charset="0"/>
                    <a:cs typeface="Times New Roman" panose="02020603050405020304" pitchFamily="18" charset="0"/>
                  </a:rPr>
                  <a:t>− 1) ×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i="1">
                            <a:latin typeface="Cambria Math" panose="02040503050406030204" pitchFamily="18" charset="0"/>
                            <a:cs typeface="Times New Roman" panose="02020603050405020304" pitchFamily="18" charset="0"/>
                          </a:rPr>
                          <m:t>𝑔</m:t>
                        </m:r>
                      </m:sub>
                    </m:sSub>
                  </m:oMath>
                </a14:m>
                <a:r>
                  <a:rPr lang="en-US" altLang="zh-TW" dirty="0">
                    <a:latin typeface="Times New Roman" panose="02020603050405020304" pitchFamily="18" charset="0"/>
                    <a:cs typeface="Times New Roman" panose="02020603050405020304" pitchFamily="18" charset="0"/>
                  </a:rPr>
                  <a:t>. </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Designate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m:rPr>
                            <m:nor/>
                          </m:rPr>
                          <a:rPr lang="en-US" altLang="zh-TW" dirty="0">
                            <a:latin typeface="Times New Roman" panose="02020603050405020304" pitchFamily="18" charset="0"/>
                            <a:cs typeface="Times New Roman" panose="02020603050405020304" pitchFamily="18" charset="0"/>
                          </a:rPr>
                          <m:t>α</m:t>
                        </m:r>
                      </m:e>
                      <m:sub>
                        <m:r>
                          <a:rPr lang="en-US" altLang="zh-TW" i="1">
                            <a:latin typeface="Cambria Math" panose="02040503050406030204" pitchFamily="18" charset="0"/>
                            <a:cs typeface="Times New Roman" panose="02020603050405020304" pitchFamily="18" charset="0"/>
                          </a:rPr>
                          <m:t>𝑔</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𝑚</m:t>
                        </m:r>
                      </m:sub>
                    </m:sSub>
                  </m:oMath>
                </a14:m>
                <a:r>
                  <a:rPr lang="en-US" altLang="zh-TW" dirty="0" smtClean="0">
                    <a:latin typeface="Times New Roman" panose="02020603050405020304" pitchFamily="18" charset="0"/>
                    <a:cs typeface="Times New Roman" panose="02020603050405020304" pitchFamily="18" charset="0"/>
                  </a:rPr>
                  <a:t> as a </a:t>
                </a:r>
                <a:r>
                  <a:rPr lang="en-US" altLang="zh-TW" dirty="0">
                    <a:latin typeface="Times New Roman" panose="02020603050405020304" pitchFamily="18" charset="0"/>
                    <a:cs typeface="Times New Roman" panose="02020603050405020304" pitchFamily="18" charset="0"/>
                  </a:rPr>
                  <a:t>random variable (RV) of the </a:t>
                </a:r>
                <a:r>
                  <a:rPr lang="en-US" altLang="zh-TW" i="1" dirty="0" err="1">
                    <a:latin typeface="Times New Roman" panose="02020603050405020304" pitchFamily="18" charset="0"/>
                    <a:cs typeface="Times New Roman" panose="02020603050405020304" pitchFamily="18" charset="0"/>
                  </a:rPr>
                  <a:t>m</a:t>
                </a:r>
                <a:r>
                  <a:rPr lang="en-US" altLang="zh-TW" sz="2400"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tangent angle </a:t>
                </a:r>
                <a:r>
                  <a:rPr lang="en-US" altLang="zh-TW" dirty="0" smtClean="0">
                    <a:latin typeface="Times New Roman" panose="02020603050405020304" pitchFamily="18" charset="0"/>
                    <a:cs typeface="Times New Roman" panose="02020603050405020304" pitchFamily="18" charset="0"/>
                  </a:rPr>
                  <a:t>of</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gesture </a:t>
                </a:r>
                <a:r>
                  <a:rPr lang="en-US" altLang="zh-TW" dirty="0">
                    <a:latin typeface="Times New Roman" panose="02020603050405020304" pitchFamily="18" charset="0"/>
                    <a:cs typeface="Times New Roman" panose="02020603050405020304" pitchFamily="18" charset="0"/>
                  </a:rPr>
                  <a:t>g.</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50" y="4909435"/>
                <a:ext cx="8420100" cy="1446916"/>
              </a:xfrm>
              <a:blipFill rotWithShape="0">
                <a:blip r:embed="rId2"/>
                <a:stretch>
                  <a:fillRect l="-1303" t="-6723" b="-10504"/>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8</a:t>
            </a:fld>
            <a:endParaRPr lang="zh-TW" altLang="en-US" dirty="0"/>
          </a:p>
        </p:txBody>
      </p:sp>
      <mc:AlternateContent xmlns:mc="http://schemas.openxmlformats.org/markup-compatibility/2006" xmlns:a14="http://schemas.microsoft.com/office/drawing/2010/main">
        <mc:Choice Requires="a14">
          <p:sp>
            <p:nvSpPr>
              <p:cNvPr id="7" name="內容版面配置區 2"/>
              <p:cNvSpPr txBox="1">
                <a:spLocks/>
              </p:cNvSpPr>
              <p:nvPr/>
            </p:nvSpPr>
            <p:spPr>
              <a:xfrm>
                <a:off x="2152650" y="1966381"/>
                <a:ext cx="2203450" cy="44776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smtClean="0">
                    <a:latin typeface="Times New Roman" panose="02020603050405020304" pitchFamily="18" charset="0"/>
                    <a:cs typeface="Times New Roman" panose="02020603050405020304" pitchFamily="18" charset="0"/>
                  </a:rPr>
                  <a:t>1  …   s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𝑔</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內容版面配置區 2"/>
              <p:cNvSpPr txBox="1">
                <a:spLocks noRot="1" noChangeAspect="1" noMove="1" noResize="1" noEditPoints="1" noAdjustHandles="1" noChangeArrowheads="1" noChangeShapeType="1" noTextEdit="1"/>
              </p:cNvSpPr>
              <p:nvPr/>
            </p:nvSpPr>
            <p:spPr>
              <a:xfrm>
                <a:off x="2152650" y="1966381"/>
                <a:ext cx="2203450" cy="447766"/>
              </a:xfrm>
              <a:prstGeom prst="rect">
                <a:avLst/>
              </a:prstGeom>
              <a:blipFill rotWithShape="0">
                <a:blip r:embed="rId3"/>
                <a:stretch>
                  <a:fillRect l="-4144" t="-24658" b="-205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內容版面配置區 2"/>
              <p:cNvSpPr txBox="1">
                <a:spLocks/>
              </p:cNvSpPr>
              <p:nvPr/>
            </p:nvSpPr>
            <p:spPr>
              <a:xfrm>
                <a:off x="1271587" y="2770279"/>
                <a:ext cx="717550" cy="162357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1</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r>
                  <a:rPr lang="en-US" altLang="zh-TW" dirty="0">
                    <a:latin typeface="Times New Roman" panose="02020603050405020304" pitchFamily="18" charset="0"/>
                    <a:cs typeface="Times New Roman" panose="02020603050405020304" pitchFamily="18" charset="0"/>
                  </a:rPr>
                  <a:t>m</a:t>
                </a:r>
                <a:endParaRPr lang="en-US" altLang="zh-TW" dirty="0" smtClean="0">
                  <a:latin typeface="Times New Roman" panose="02020603050405020304" pitchFamily="18" charset="0"/>
                  <a:cs typeface="Times New Roman" panose="02020603050405020304" pitchFamily="18" charset="0"/>
                </a:endParaRP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𝐿</m:t>
                          </m:r>
                        </m:e>
                        <m:sub>
                          <m:r>
                            <a:rPr lang="en-US" altLang="zh-TW" i="1">
                              <a:latin typeface="Cambria Math" panose="02040503050406030204" pitchFamily="18" charset="0"/>
                            </a:rPr>
                            <m:t>𝑔</m:t>
                          </m:r>
                        </m:sub>
                      </m:sSub>
                      <m:r>
                        <a:rPr lang="en-US" altLang="zh-TW" i="1">
                          <a:latin typeface="Cambria Math" panose="02040503050406030204" pitchFamily="18" charset="0"/>
                        </a:rPr>
                        <m:t>−1</m:t>
                      </m:r>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8" name="內容版面配置區 2"/>
              <p:cNvSpPr txBox="1">
                <a:spLocks noRot="1" noChangeAspect="1" noMove="1" noResize="1" noEditPoints="1" noAdjustHandles="1" noChangeArrowheads="1" noChangeShapeType="1" noTextEdit="1"/>
              </p:cNvSpPr>
              <p:nvPr/>
            </p:nvSpPr>
            <p:spPr>
              <a:xfrm>
                <a:off x="1271587" y="2770279"/>
                <a:ext cx="717550" cy="1623570"/>
              </a:xfrm>
              <a:prstGeom prst="rect">
                <a:avLst/>
              </a:prstGeom>
              <a:blipFill rotWithShape="0">
                <a:blip r:embed="rId4"/>
                <a:stretch>
                  <a:fillRect l="-3419" t="-3371"/>
                </a:stretch>
              </a:blipFill>
            </p:spPr>
            <p:txBody>
              <a:bodyPr/>
              <a:lstStyle/>
              <a:p>
                <a:r>
                  <a:rPr lang="zh-TW" altLang="en-US">
                    <a:noFill/>
                  </a:rPr>
                  <a:t> </a:t>
                </a:r>
              </a:p>
            </p:txBody>
          </p:sp>
        </mc:Fallback>
      </mc:AlternateContent>
      <p:pic>
        <p:nvPicPr>
          <p:cNvPr id="9" name="圖片 8"/>
          <p:cNvPicPr>
            <a:picLocks noChangeAspect="1"/>
          </p:cNvPicPr>
          <p:nvPr/>
        </p:nvPicPr>
        <p:blipFill>
          <a:blip r:embed="rId5"/>
          <a:stretch>
            <a:fillRect/>
          </a:stretch>
        </p:blipFill>
        <p:spPr>
          <a:xfrm>
            <a:off x="2124075" y="2507899"/>
            <a:ext cx="2181225" cy="1885950"/>
          </a:xfrm>
          <a:prstGeom prst="rect">
            <a:avLst/>
          </a:prstGeom>
        </p:spPr>
      </p:pic>
      <mc:AlternateContent xmlns:mc="http://schemas.openxmlformats.org/markup-compatibility/2006" xmlns:a14="http://schemas.microsoft.com/office/drawing/2010/main">
        <mc:Choice Requires="a14">
          <p:sp>
            <p:nvSpPr>
              <p:cNvPr id="10" name="文字方塊 9"/>
              <p:cNvSpPr txBox="1"/>
              <p:nvPr/>
            </p:nvSpPr>
            <p:spPr>
              <a:xfrm>
                <a:off x="4440238" y="3523548"/>
                <a:ext cx="762000" cy="4917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cs typeface="Times New Roman" panose="02020603050405020304" pitchFamily="18" charset="0"/>
                            </a:rPr>
                          </m:ctrlPr>
                        </m:sSubPr>
                        <m:e>
                          <m:r>
                            <m:rPr>
                              <m:nor/>
                            </m:rPr>
                            <a:rPr lang="en-US" altLang="zh-TW" sz="2400" dirty="0">
                              <a:latin typeface="Times New Roman" panose="02020603050405020304" pitchFamily="18" charset="0"/>
                              <a:cs typeface="Times New Roman" panose="02020603050405020304" pitchFamily="18" charset="0"/>
                            </a:rPr>
                            <m:t>α</m:t>
                          </m:r>
                        </m:e>
                        <m:sub>
                          <m:r>
                            <a:rPr lang="en-US" altLang="zh-TW" sz="2400" i="1">
                              <a:latin typeface="Cambria Math" panose="02040503050406030204" pitchFamily="18" charset="0"/>
                              <a:cs typeface="Times New Roman" panose="02020603050405020304" pitchFamily="18" charset="0"/>
                            </a:rPr>
                            <m:t>𝑔</m:t>
                          </m:r>
                          <m:r>
                            <a:rPr lang="en-US" altLang="zh-TW" sz="2400" i="1">
                              <a:latin typeface="Cambria Math" panose="02040503050406030204" pitchFamily="18" charset="0"/>
                              <a:cs typeface="Times New Roman" panose="02020603050405020304" pitchFamily="18" charset="0"/>
                            </a:rPr>
                            <m:t>,</m:t>
                          </m:r>
                          <m:r>
                            <a:rPr lang="en-US" altLang="zh-TW" sz="2400" i="1">
                              <a:latin typeface="Cambria Math" panose="02040503050406030204" pitchFamily="18" charset="0"/>
                              <a:cs typeface="Times New Roman" panose="02020603050405020304" pitchFamily="18" charset="0"/>
                            </a:rPr>
                            <m:t>𝑚</m:t>
                          </m:r>
                        </m:sub>
                      </m:sSub>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4440238" y="3523548"/>
                <a:ext cx="762000" cy="491738"/>
              </a:xfrm>
              <a:prstGeom prst="rect">
                <a:avLst/>
              </a:prstGeom>
              <a:blipFill rotWithShape="0">
                <a:blip r:embed="rId6"/>
                <a:stretch>
                  <a:fillRect b="-74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694404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9</a:t>
            </a:fld>
            <a:endParaRPr lang="zh-TW" altLang="en-US"/>
          </a:p>
        </p:txBody>
      </p:sp>
      <p:pic>
        <p:nvPicPr>
          <p:cNvPr id="5" name="圖片 4"/>
          <p:cNvPicPr>
            <a:picLocks noChangeAspect="1"/>
          </p:cNvPicPr>
          <p:nvPr/>
        </p:nvPicPr>
        <p:blipFill>
          <a:blip r:embed="rId2"/>
          <a:stretch>
            <a:fillRect/>
          </a:stretch>
        </p:blipFill>
        <p:spPr>
          <a:xfrm>
            <a:off x="628650" y="47138"/>
            <a:ext cx="7444431" cy="6810862"/>
          </a:xfrm>
          <a:prstGeom prst="rect">
            <a:avLst/>
          </a:prstGeom>
        </p:spPr>
      </p:pic>
    </p:spTree>
    <p:extLst>
      <p:ext uri="{BB962C8B-B14F-4D97-AF65-F5344CB8AC3E}">
        <p14:creationId xmlns:p14="http://schemas.microsoft.com/office/powerpoint/2010/main" val="2510664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a:solidFill>
                  <a:prstClr val="black"/>
                </a:solidFill>
                <a:latin typeface="Times New Roman" panose="02020603050405020304" pitchFamily="18" charset="0"/>
                <a:cs typeface="Times New Roman" panose="02020603050405020304" pitchFamily="18" charset="0"/>
              </a:rPr>
              <a:t>OFFLINE DYNAMIC GESTURE TRAINING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50" y="4909435"/>
                <a:ext cx="8420100" cy="1446916"/>
              </a:xfrm>
            </p:spPr>
            <p:txBody>
              <a:bodyPr>
                <a:normAutofit/>
              </a:bodyPr>
              <a:lstStyle/>
              <a:p>
                <a:r>
                  <a:rPr lang="en-US" altLang="zh-TW" dirty="0">
                    <a:latin typeface="Times New Roman" panose="02020603050405020304" pitchFamily="18" charset="0"/>
                    <a:cs typeface="Times New Roman" panose="02020603050405020304" pitchFamily="18" charset="0"/>
                  </a:rPr>
                  <a:t>The distribution of </a:t>
                </a:r>
                <a:r>
                  <a:rPr lang="en-US" altLang="zh-TW" dirty="0" smtClean="0">
                    <a:latin typeface="Times New Roman" panose="02020603050405020304" pitchFamily="18" charset="0"/>
                    <a:cs typeface="Times New Roman" panose="02020603050405020304" pitchFamily="18" charset="0"/>
                  </a:rPr>
                  <a:t>each RV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m:rPr>
                            <m:nor/>
                          </m:rPr>
                          <a:rPr lang="en-US" altLang="zh-TW" dirty="0">
                            <a:latin typeface="Times New Roman" panose="02020603050405020304" pitchFamily="18" charset="0"/>
                            <a:cs typeface="Times New Roman" panose="02020603050405020304" pitchFamily="18" charset="0"/>
                          </a:rPr>
                          <m:t>α</m:t>
                        </m:r>
                      </m:e>
                      <m:sub>
                        <m:r>
                          <a:rPr lang="en-US" altLang="zh-TW" i="1">
                            <a:latin typeface="Cambria Math" panose="02040503050406030204" pitchFamily="18" charset="0"/>
                            <a:cs typeface="Times New Roman" panose="02020603050405020304" pitchFamily="18" charset="0"/>
                          </a:rPr>
                          <m:t>𝑔</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𝑚</m:t>
                        </m:r>
                      </m:sub>
                    </m:sSub>
                  </m:oMath>
                </a14:m>
                <a:r>
                  <a:rPr lang="en-US" altLang="zh-TW" dirty="0">
                    <a:latin typeface="Times New Roman" panose="02020603050405020304" pitchFamily="18" charset="0"/>
                    <a:cs typeface="Times New Roman" panose="02020603050405020304" pitchFamily="18" charset="0"/>
                  </a:rPr>
                  <a:t>may be approximated by a GMM (Gaussian Mixture Model) </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50" y="4909435"/>
                <a:ext cx="8420100" cy="1446916"/>
              </a:xfrm>
              <a:blipFill rotWithShape="0">
                <a:blip r:embed="rId2"/>
                <a:stretch>
                  <a:fillRect l="-1303" t="-6723"/>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10</a:t>
            </a:fld>
            <a:endParaRPr lang="zh-TW" altLang="en-US" dirty="0"/>
          </a:p>
        </p:txBody>
      </p:sp>
      <mc:AlternateContent xmlns:mc="http://schemas.openxmlformats.org/markup-compatibility/2006" xmlns:a14="http://schemas.microsoft.com/office/drawing/2010/main">
        <mc:Choice Requires="a14">
          <p:sp>
            <p:nvSpPr>
              <p:cNvPr id="8" name="內容版面配置區 2"/>
              <p:cNvSpPr txBox="1">
                <a:spLocks/>
              </p:cNvSpPr>
              <p:nvPr/>
            </p:nvSpPr>
            <p:spPr>
              <a:xfrm>
                <a:off x="1271587" y="2770279"/>
                <a:ext cx="717550" cy="162357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1</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r>
                  <a:rPr lang="en-US" altLang="zh-TW" dirty="0">
                    <a:latin typeface="Times New Roman" panose="02020603050405020304" pitchFamily="18" charset="0"/>
                    <a:cs typeface="Times New Roman" panose="02020603050405020304" pitchFamily="18" charset="0"/>
                  </a:rPr>
                  <a:t>m</a:t>
                </a:r>
                <a:endParaRPr lang="en-US" altLang="zh-TW" dirty="0" smtClean="0">
                  <a:latin typeface="Times New Roman" panose="02020603050405020304" pitchFamily="18" charset="0"/>
                  <a:cs typeface="Times New Roman" panose="02020603050405020304" pitchFamily="18" charset="0"/>
                </a:endParaRP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𝐿</m:t>
                          </m:r>
                        </m:e>
                        <m:sub>
                          <m:r>
                            <a:rPr lang="en-US" altLang="zh-TW" i="1">
                              <a:latin typeface="Cambria Math" panose="02040503050406030204" pitchFamily="18" charset="0"/>
                            </a:rPr>
                            <m:t>𝑔</m:t>
                          </m:r>
                        </m:sub>
                      </m:sSub>
                      <m:r>
                        <a:rPr lang="en-US" altLang="zh-TW" i="1">
                          <a:latin typeface="Cambria Math" panose="02040503050406030204" pitchFamily="18" charset="0"/>
                        </a:rPr>
                        <m:t>−1</m:t>
                      </m:r>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8" name="內容版面配置區 2"/>
              <p:cNvSpPr txBox="1">
                <a:spLocks noRot="1" noChangeAspect="1" noMove="1" noResize="1" noEditPoints="1" noAdjustHandles="1" noChangeArrowheads="1" noChangeShapeType="1" noTextEdit="1"/>
              </p:cNvSpPr>
              <p:nvPr/>
            </p:nvSpPr>
            <p:spPr>
              <a:xfrm>
                <a:off x="1271587" y="2770279"/>
                <a:ext cx="717550" cy="1623570"/>
              </a:xfrm>
              <a:prstGeom prst="rect">
                <a:avLst/>
              </a:prstGeom>
              <a:blipFill rotWithShape="0">
                <a:blip r:embed="rId3"/>
                <a:stretch>
                  <a:fillRect l="-3419" t="-3371"/>
                </a:stretch>
              </a:blipFill>
            </p:spPr>
            <p:txBody>
              <a:bodyPr/>
              <a:lstStyle/>
              <a:p>
                <a:r>
                  <a:rPr lang="zh-TW" altLang="en-US">
                    <a:noFill/>
                  </a:rPr>
                  <a:t> </a:t>
                </a:r>
              </a:p>
            </p:txBody>
          </p:sp>
        </mc:Fallback>
      </mc:AlternateContent>
      <p:pic>
        <p:nvPicPr>
          <p:cNvPr id="10" name="圖片 9"/>
          <p:cNvPicPr>
            <a:picLocks noChangeAspect="1"/>
          </p:cNvPicPr>
          <p:nvPr/>
        </p:nvPicPr>
        <p:blipFill>
          <a:blip r:embed="rId4"/>
          <a:stretch>
            <a:fillRect/>
          </a:stretch>
        </p:blipFill>
        <p:spPr>
          <a:xfrm>
            <a:off x="1615401" y="1337991"/>
            <a:ext cx="6899949" cy="3467282"/>
          </a:xfrm>
          <a:prstGeom prst="rect">
            <a:avLst/>
          </a:prstGeom>
        </p:spPr>
      </p:pic>
      <mc:AlternateContent xmlns:mc="http://schemas.openxmlformats.org/markup-compatibility/2006" xmlns:a14="http://schemas.microsoft.com/office/drawing/2010/main">
        <mc:Choice Requires="a14">
          <p:sp>
            <p:nvSpPr>
              <p:cNvPr id="7" name="內容版面配置區 2"/>
              <p:cNvSpPr txBox="1">
                <a:spLocks/>
              </p:cNvSpPr>
              <p:nvPr/>
            </p:nvSpPr>
            <p:spPr>
              <a:xfrm>
                <a:off x="1830387" y="1982392"/>
                <a:ext cx="2203450" cy="44776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smtClean="0">
                    <a:latin typeface="Times New Roman" panose="02020603050405020304" pitchFamily="18" charset="0"/>
                    <a:cs typeface="Times New Roman" panose="02020603050405020304" pitchFamily="18" charset="0"/>
                  </a:rPr>
                  <a:t>1  …   s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𝑔</m:t>
                        </m:r>
                      </m:sub>
                    </m:sSub>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內容版面配置區 2"/>
              <p:cNvSpPr txBox="1">
                <a:spLocks noRot="1" noChangeAspect="1" noMove="1" noResize="1" noEditPoints="1" noAdjustHandles="1" noChangeArrowheads="1" noChangeShapeType="1" noTextEdit="1"/>
              </p:cNvSpPr>
              <p:nvPr/>
            </p:nvSpPr>
            <p:spPr>
              <a:xfrm>
                <a:off x="1830387" y="1982392"/>
                <a:ext cx="2203450" cy="447766"/>
              </a:xfrm>
              <a:prstGeom prst="rect">
                <a:avLst/>
              </a:prstGeom>
              <a:blipFill rotWithShape="0">
                <a:blip r:embed="rId5"/>
                <a:stretch>
                  <a:fillRect l="-4144" t="-24324" b="-189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07981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GMM (Gaussian Mixture Model) </a:t>
            </a:r>
            <a:br>
              <a:rPr lang="en-US" altLang="zh-TW" sz="3600" dirty="0">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34950" y="4176713"/>
                <a:ext cx="7886700" cy="2544763"/>
              </a:xfrm>
            </p:spPr>
            <p:txBody>
              <a:bodyPr/>
              <a:lstStyle/>
              <a:p>
                <a:pPr marL="0" indent="0">
                  <a:buNone/>
                </a:pPr>
                <a:endParaRPr lang="en-US" altLang="zh-TW" dirty="0" smtClean="0">
                  <a:latin typeface="Times New Roman" panose="02020603050405020304" pitchFamily="18" charset="0"/>
                  <a:ea typeface="+mj-ea"/>
                  <a:cs typeface="Times New Roman" panose="02020603050405020304" pitchFamily="18" charset="0"/>
                </a:endParaRPr>
              </a:p>
              <a:p>
                <a:pPr marL="0" indent="0">
                  <a:buNone/>
                </a:pPr>
                <a:r>
                  <a:rPr lang="zh-TW" altLang="en-US" dirty="0" smtClean="0">
                    <a:latin typeface="Times New Roman" panose="02020603050405020304" pitchFamily="18" charset="0"/>
                    <a:ea typeface="+mj-ea"/>
                    <a:cs typeface="Times New Roman" panose="02020603050405020304" pitchFamily="18" charset="0"/>
                  </a:rPr>
                  <a:t>每個</a:t>
                </a:r>
                <a:r>
                  <a:rPr lang="en-US" altLang="zh-TW" dirty="0">
                    <a:latin typeface="Times New Roman" panose="02020603050405020304" pitchFamily="18" charset="0"/>
                    <a:ea typeface="+mj-ea"/>
                    <a:cs typeface="Times New Roman" panose="02020603050405020304" pitchFamily="18" charset="0"/>
                  </a:rPr>
                  <a:t>GMM</a:t>
                </a:r>
                <a:r>
                  <a:rPr lang="zh-TW" altLang="en-US" dirty="0" smtClean="0">
                    <a:latin typeface="Times New Roman" panose="02020603050405020304" pitchFamily="18" charset="0"/>
                    <a:ea typeface="+mj-ea"/>
                    <a:cs typeface="Times New Roman" panose="02020603050405020304" pitchFamily="18" charset="0"/>
                  </a:rPr>
                  <a:t>由</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𝐾</m:t>
                        </m:r>
                      </m:e>
                      <m:sub>
                        <m:r>
                          <a:rPr lang="en-US" altLang="zh-TW" b="0" i="1" smtClean="0">
                            <a:latin typeface="Cambria Math" panose="02040503050406030204" pitchFamily="18" charset="0"/>
                            <a:cs typeface="Times New Roman" panose="02020603050405020304" pitchFamily="18" charset="0"/>
                          </a:rPr>
                          <m:t>𝑚</m:t>
                        </m:r>
                      </m:sub>
                    </m:sSub>
                  </m:oMath>
                </a14:m>
                <a:r>
                  <a:rPr lang="zh-TW" altLang="en-US" dirty="0" smtClean="0">
                    <a:latin typeface="Times New Roman" panose="02020603050405020304" pitchFamily="18" charset="0"/>
                    <a:ea typeface="+mj-ea"/>
                    <a:cs typeface="Times New Roman" panose="02020603050405020304" pitchFamily="18" charset="0"/>
                  </a:rPr>
                  <a:t>個</a:t>
                </a:r>
                <a:r>
                  <a:rPr lang="en-US" altLang="zh-TW" dirty="0">
                    <a:latin typeface="Times New Roman" panose="02020603050405020304" pitchFamily="18" charset="0"/>
                    <a:ea typeface="+mj-ea"/>
                    <a:cs typeface="Times New Roman" panose="02020603050405020304" pitchFamily="18" charset="0"/>
                  </a:rPr>
                  <a:t>Gaussian</a:t>
                </a:r>
                <a:r>
                  <a:rPr lang="zh-TW" altLang="en-US" dirty="0">
                    <a:latin typeface="Times New Roman" panose="02020603050405020304" pitchFamily="18" charset="0"/>
                    <a:ea typeface="+mj-ea"/>
                    <a:cs typeface="Times New Roman" panose="02020603050405020304" pitchFamily="18" charset="0"/>
                  </a:rPr>
                  <a:t>分佈組成，每個</a:t>
                </a:r>
                <a:r>
                  <a:rPr lang="en-US" altLang="zh-TW" dirty="0">
                    <a:latin typeface="Times New Roman" panose="02020603050405020304" pitchFamily="18" charset="0"/>
                    <a:ea typeface="+mj-ea"/>
                    <a:cs typeface="Times New Roman" panose="02020603050405020304" pitchFamily="18" charset="0"/>
                  </a:rPr>
                  <a:t>Gaussian</a:t>
                </a:r>
                <a:r>
                  <a:rPr lang="zh-TW" altLang="en-US" dirty="0">
                    <a:latin typeface="Times New Roman" panose="02020603050405020304" pitchFamily="18" charset="0"/>
                    <a:ea typeface="+mj-ea"/>
                    <a:cs typeface="Times New Roman" panose="02020603050405020304" pitchFamily="18" charset="0"/>
                  </a:rPr>
                  <a:t>稱為一個“</a:t>
                </a:r>
                <a:r>
                  <a:rPr lang="en-US" altLang="zh-TW" dirty="0">
                    <a:latin typeface="Times New Roman" panose="02020603050405020304" pitchFamily="18" charset="0"/>
                    <a:ea typeface="+mj-ea"/>
                    <a:cs typeface="Times New Roman" panose="02020603050405020304" pitchFamily="18" charset="0"/>
                  </a:rPr>
                  <a:t>Component”</a:t>
                </a:r>
                <a:r>
                  <a:rPr lang="zh-TW" altLang="en-US" dirty="0">
                    <a:latin typeface="Times New Roman" panose="02020603050405020304" pitchFamily="18" charset="0"/>
                    <a:ea typeface="+mj-ea"/>
                    <a:cs typeface="Times New Roman" panose="02020603050405020304" pitchFamily="18" charset="0"/>
                  </a:rPr>
                  <a:t>，這些</a:t>
                </a:r>
                <a:r>
                  <a:rPr lang="en-US" altLang="zh-TW" dirty="0">
                    <a:latin typeface="Times New Roman" panose="02020603050405020304" pitchFamily="18" charset="0"/>
                    <a:ea typeface="+mj-ea"/>
                    <a:cs typeface="Times New Roman" panose="02020603050405020304" pitchFamily="18" charset="0"/>
                  </a:rPr>
                  <a:t>Component</a:t>
                </a:r>
                <a:r>
                  <a:rPr lang="zh-TW" altLang="en-US" dirty="0">
                    <a:latin typeface="Times New Roman" panose="02020603050405020304" pitchFamily="18" charset="0"/>
                    <a:ea typeface="+mj-ea"/>
                    <a:cs typeface="Times New Roman" panose="02020603050405020304" pitchFamily="18" charset="0"/>
                  </a:rPr>
                  <a:t>線性加成</a:t>
                </a:r>
                <a:r>
                  <a:rPr lang="zh-TW" altLang="en-US" dirty="0" smtClean="0">
                    <a:latin typeface="Times New Roman" panose="02020603050405020304" pitchFamily="18" charset="0"/>
                    <a:ea typeface="+mj-ea"/>
                    <a:cs typeface="Times New Roman" panose="02020603050405020304" pitchFamily="18" charset="0"/>
                  </a:rPr>
                  <a:t>在一起</a:t>
                </a:r>
                <a:r>
                  <a:rPr lang="zh-TW" altLang="en-US" dirty="0">
                    <a:latin typeface="Times New Roman" panose="02020603050405020304" pitchFamily="18" charset="0"/>
                    <a:ea typeface="+mj-ea"/>
                    <a:cs typeface="Times New Roman" panose="02020603050405020304" pitchFamily="18" charset="0"/>
                  </a:rPr>
                  <a:t>就組成了</a:t>
                </a:r>
                <a:r>
                  <a:rPr lang="en-US" altLang="zh-TW" dirty="0">
                    <a:latin typeface="Times New Roman" panose="02020603050405020304" pitchFamily="18" charset="0"/>
                    <a:ea typeface="+mj-ea"/>
                    <a:cs typeface="Times New Roman" panose="02020603050405020304" pitchFamily="18" charset="0"/>
                  </a:rPr>
                  <a:t>GMM</a:t>
                </a:r>
                <a:r>
                  <a:rPr lang="zh-TW" altLang="en-US" dirty="0" smtClean="0">
                    <a:latin typeface="Times New Roman" panose="02020603050405020304" pitchFamily="18" charset="0"/>
                    <a:ea typeface="+mj-ea"/>
                    <a:cs typeface="Times New Roman" panose="02020603050405020304" pitchFamily="18" charset="0"/>
                  </a:rPr>
                  <a:t>的機率</a:t>
                </a:r>
                <a:r>
                  <a:rPr lang="zh-TW" altLang="en-US" dirty="0">
                    <a:latin typeface="Times New Roman" panose="02020603050405020304" pitchFamily="18" charset="0"/>
                    <a:ea typeface="+mj-ea"/>
                    <a:cs typeface="Times New Roman" panose="02020603050405020304" pitchFamily="18" charset="0"/>
                  </a:rPr>
                  <a:t>密度</a:t>
                </a:r>
                <a:r>
                  <a:rPr lang="zh-TW" altLang="en-US" dirty="0" smtClean="0">
                    <a:latin typeface="Times New Roman" panose="02020603050405020304" pitchFamily="18" charset="0"/>
                    <a:ea typeface="+mj-ea"/>
                    <a:cs typeface="Times New Roman" panose="02020603050405020304" pitchFamily="18" charset="0"/>
                  </a:rPr>
                  <a:t>函數</a:t>
                </a:r>
                <a:endParaRPr lang="zh-TW" altLang="en-US" dirty="0">
                  <a:latin typeface="Times New Roman" panose="02020603050405020304" pitchFamily="18" charset="0"/>
                  <a:ea typeface="+mj-ea"/>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34950" y="4176713"/>
                <a:ext cx="7886700" cy="2544763"/>
              </a:xfrm>
              <a:blipFill rotWithShape="0">
                <a:blip r:embed="rId2"/>
                <a:stretch>
                  <a:fillRect l="-1624" r="-15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latin typeface="Times New Roman" panose="02020603050405020304" pitchFamily="18" charset="0"/>
                <a:cs typeface="Times New Roman" panose="02020603050405020304" pitchFamily="18" charset="0"/>
              </a:rPr>
              <a:t>11</a:t>
            </a:fld>
            <a:endParaRPr lang="zh-TW" altLang="en-US">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stretch>
            <a:fillRect/>
          </a:stretch>
        </p:blipFill>
        <p:spPr>
          <a:xfrm>
            <a:off x="101736" y="1600200"/>
            <a:ext cx="8762728" cy="2211388"/>
          </a:xfrm>
          <a:prstGeom prst="rect">
            <a:avLst/>
          </a:prstGeom>
        </p:spPr>
      </p:pic>
    </p:spTree>
    <p:extLst>
      <p:ext uri="{BB962C8B-B14F-4D97-AF65-F5344CB8AC3E}">
        <p14:creationId xmlns:p14="http://schemas.microsoft.com/office/powerpoint/2010/main" val="26899623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GMM (Gaussian Mixture Model) </a:t>
            </a:r>
            <a:br>
              <a:rPr lang="en-US" altLang="zh-TW" sz="3600" dirty="0">
                <a:latin typeface="Times New Roman" panose="02020603050405020304" pitchFamily="18" charset="0"/>
                <a:cs typeface="Times New Roman" panose="02020603050405020304" pitchFamily="18" charset="0"/>
              </a:rPr>
            </a:b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1257300"/>
            <a:ext cx="7886700" cy="4919663"/>
          </a:xfrm>
        </p:spPr>
        <p:txBody>
          <a:bodyPr/>
          <a:lstStyle/>
          <a:p>
            <a:r>
              <a:rPr lang="zh-TW" altLang="en-US" dirty="0" smtClean="0">
                <a:latin typeface="+mj-ea"/>
                <a:ea typeface="+mj-ea"/>
                <a:cs typeface="Times New Roman" panose="02020603050405020304" pitchFamily="18" charset="0"/>
              </a:rPr>
              <a:t>左圖是某像素強度的分布曲線，可以看出可以用三個高斯分布的組合來近似它。</a:t>
            </a:r>
            <a:endParaRPr lang="en-US" altLang="zh-TW" dirty="0" smtClean="0">
              <a:latin typeface="+mj-ea"/>
              <a:ea typeface="+mj-ea"/>
              <a:cs typeface="Times New Roman" panose="02020603050405020304" pitchFamily="18" charset="0"/>
            </a:endParaRPr>
          </a:p>
          <a:p>
            <a:pPr marL="0" indent="0">
              <a:buNone/>
            </a:pPr>
            <a:endParaRPr lang="en-US" altLang="zh-TW" dirty="0" smtClean="0">
              <a:latin typeface="+mj-ea"/>
              <a:ea typeface="+mj-ea"/>
              <a:cs typeface="Times New Roman" panose="02020603050405020304" pitchFamily="18" charset="0"/>
            </a:endParaRPr>
          </a:p>
          <a:p>
            <a:r>
              <a:rPr lang="zh-TW" altLang="en-US" dirty="0">
                <a:latin typeface="+mj-ea"/>
                <a:ea typeface="+mj-ea"/>
                <a:cs typeface="Times New Roman" panose="02020603050405020304" pitchFamily="18" charset="0"/>
              </a:rPr>
              <a:t>右</a:t>
            </a:r>
            <a:r>
              <a:rPr lang="zh-TW" altLang="en-US" dirty="0" smtClean="0">
                <a:latin typeface="+mj-ea"/>
                <a:ea typeface="+mj-ea"/>
                <a:cs typeface="Times New Roman" panose="02020603050405020304" pitchFamily="18" charset="0"/>
              </a:rPr>
              <a:t>圖則是近似後的分布曲線</a:t>
            </a:r>
            <a:endParaRPr lang="zh-TW" altLang="en-US" dirty="0">
              <a:latin typeface="+mj-ea"/>
              <a:ea typeface="+mj-ea"/>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latin typeface="Times New Roman" panose="02020603050405020304" pitchFamily="18" charset="0"/>
                <a:cs typeface="Times New Roman" panose="02020603050405020304" pitchFamily="18" charset="0"/>
              </a:rPr>
              <a:t>12</a:t>
            </a:fld>
            <a:endParaRPr lang="zh-TW" altLang="en-US">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2"/>
          <a:stretch>
            <a:fillRect/>
          </a:stretch>
        </p:blipFill>
        <p:spPr>
          <a:xfrm>
            <a:off x="140905" y="3227388"/>
            <a:ext cx="8862190" cy="3311525"/>
          </a:xfrm>
          <a:prstGeom prst="rect">
            <a:avLst/>
          </a:prstGeom>
        </p:spPr>
      </p:pic>
    </p:spTree>
    <p:extLst>
      <p:ext uri="{BB962C8B-B14F-4D97-AF65-F5344CB8AC3E}">
        <p14:creationId xmlns:p14="http://schemas.microsoft.com/office/powerpoint/2010/main" val="4051868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solidFill>
                  <a:prstClr val="black"/>
                </a:solidFill>
                <a:latin typeface="Times New Roman" panose="02020603050405020304" pitchFamily="18" charset="0"/>
                <a:cs typeface="Times New Roman" panose="02020603050405020304" pitchFamily="18" charset="0"/>
              </a:rPr>
              <a:t>GMM (Gaussian Mixture Model)</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smtClean="0"/>
                  <a:t>Denote by </a:t>
                </a:r>
                <a14:m>
                  <m:oMath xmlns:m="http://schemas.openxmlformats.org/officeDocument/2006/math">
                    <m:sSubSup>
                      <m:sSubSupPr>
                        <m:ctrlPr>
                          <a:rPr lang="en-US" altLang="zh-TW" i="1" smtClean="0">
                            <a:latin typeface="Cambria Math" panose="02040503050406030204" pitchFamily="18" charset="0"/>
                          </a:rPr>
                        </m:ctrlPr>
                      </m:sSubSupPr>
                      <m:e>
                        <m:r>
                          <a:rPr lang="el-GR" altLang="zh-TW" i="1">
                            <a:latin typeface="Cambria Math" panose="02040503050406030204" pitchFamily="18" charset="0"/>
                          </a:rPr>
                          <m:t>𝜃</m:t>
                        </m:r>
                      </m:e>
                      <m:sub>
                        <m:r>
                          <a:rPr lang="en-US" altLang="zh-TW" b="0" i="1" smtClean="0">
                            <a:latin typeface="Cambria Math" panose="02040503050406030204" pitchFamily="18" charset="0"/>
                          </a:rPr>
                          <m:t>𝑔</m:t>
                        </m:r>
                      </m:sub>
                      <m:sup>
                        <m:r>
                          <a:rPr lang="en-US" altLang="zh-TW" b="0" i="1" smtClean="0">
                            <a:latin typeface="Cambria Math" panose="02040503050406030204" pitchFamily="18" charset="0"/>
                          </a:rPr>
                          <m:t>𝑘</m:t>
                        </m:r>
                      </m:sup>
                    </m:sSubSup>
                  </m:oMath>
                </a14:m>
                <a:r>
                  <a:rPr lang="en-US" altLang="zh-TW" dirty="0" smtClean="0"/>
                  <a:t>the </a:t>
                </a:r>
                <a:r>
                  <a:rPr lang="en-US" altLang="zh-TW" dirty="0"/>
                  <a:t>parameters </a:t>
                </a:r>
                <a:r>
                  <a:rPr lang="en-US" altLang="zh-TW" dirty="0" smtClean="0"/>
                  <a:t>of</a:t>
                </a:r>
                <a:r>
                  <a:rPr lang="zh-TW" altLang="en-US" dirty="0" smtClean="0"/>
                  <a:t> </a:t>
                </a:r>
                <a:r>
                  <a:rPr lang="en-US" altLang="zh-TW" dirty="0" smtClean="0"/>
                  <a:t>the </a:t>
                </a:r>
                <a:r>
                  <a:rPr lang="en-US" altLang="zh-TW" i="1" dirty="0" err="1" smtClean="0"/>
                  <a:t>k</a:t>
                </a:r>
                <a:r>
                  <a:rPr lang="en-US" altLang="zh-TW" dirty="0" err="1" smtClean="0"/>
                  <a:t>th</a:t>
                </a:r>
                <a:r>
                  <a:rPr lang="en-US" altLang="zh-TW" dirty="0" smtClean="0"/>
                  <a:t> </a:t>
                </a:r>
                <a:r>
                  <a:rPr lang="en-US" altLang="zh-TW" dirty="0"/>
                  <a:t>component of the gesture type </a:t>
                </a:r>
                <a:r>
                  <a:rPr lang="en-US" altLang="zh-TW" dirty="0" smtClean="0"/>
                  <a:t>g</a:t>
                </a:r>
                <a:r>
                  <a:rPr lang="nn-NO" altLang="zh-TW" dirty="0"/>
                  <a:t> </a:t>
                </a:r>
                <a:r>
                  <a:rPr lang="nn-NO" altLang="zh-TW" dirty="0" smtClean="0"/>
                  <a:t> (</a:t>
                </a:r>
                <a:r>
                  <a:rPr lang="nn-NO" altLang="zh-TW" dirty="0"/>
                  <a:t>k = 1 </a:t>
                </a:r>
                <a:r>
                  <a:rPr lang="nn-NO" altLang="zh-TW" dirty="0" smtClean="0"/>
                  <a:t>:</a:t>
                </a:r>
                <a14:m>
                  <m:oMath xmlns:m="http://schemas.openxmlformats.org/officeDocument/2006/math">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 </m:t>
                        </m:r>
                        <m:r>
                          <m:rPr>
                            <m:sty m:val="p"/>
                          </m:rPr>
                          <a:rPr lang="en-US" altLang="zh-TW" i="1">
                            <a:latin typeface="Cambria Math" panose="02040503050406030204" pitchFamily="18" charset="0"/>
                          </a:rPr>
                          <m:t>K</m:t>
                        </m:r>
                      </m:e>
                      <m:sub>
                        <m:r>
                          <a:rPr lang="en-US" altLang="zh-TW" b="0" i="1" dirty="0" smtClean="0">
                            <a:latin typeface="Cambria Math" panose="02040503050406030204" pitchFamily="18" charset="0"/>
                          </a:rPr>
                          <m:t>𝑔</m:t>
                        </m:r>
                      </m:sub>
                    </m:sSub>
                  </m:oMath>
                </a14:m>
                <a:r>
                  <a:rPr lang="nn-NO" altLang="zh-TW" dirty="0" smtClean="0"/>
                  <a:t>,   g </a:t>
                </a:r>
                <a:r>
                  <a:rPr lang="nn-NO" altLang="zh-TW" dirty="0"/>
                  <a:t>= 1 : G)</a:t>
                </a:r>
                <a:endParaRPr lang="en-US" altLang="zh-TW" dirty="0" smtClean="0"/>
              </a:p>
              <a:p>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391" t="-1681" r="-185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13</a:t>
            </a:fld>
            <a:endParaRPr lang="zh-TW" altLang="en-US"/>
          </a:p>
        </p:txBody>
      </p:sp>
      <p:pic>
        <p:nvPicPr>
          <p:cNvPr id="5" name="圖片 4"/>
          <p:cNvPicPr>
            <a:picLocks noChangeAspect="1"/>
          </p:cNvPicPr>
          <p:nvPr/>
        </p:nvPicPr>
        <p:blipFill>
          <a:blip r:embed="rId3"/>
          <a:stretch>
            <a:fillRect/>
          </a:stretch>
        </p:blipFill>
        <p:spPr>
          <a:xfrm>
            <a:off x="628650" y="3563144"/>
            <a:ext cx="6677025" cy="876300"/>
          </a:xfrm>
          <a:prstGeom prst="rect">
            <a:avLst/>
          </a:prstGeom>
        </p:spPr>
      </p:pic>
    </p:spTree>
    <p:extLst>
      <p:ext uri="{BB962C8B-B14F-4D97-AF65-F5344CB8AC3E}">
        <p14:creationId xmlns:p14="http://schemas.microsoft.com/office/powerpoint/2010/main" val="2258848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14</a:t>
            </a:fld>
            <a:endParaRPr lang="zh-TW" altLang="en-US"/>
          </a:p>
        </p:txBody>
      </p:sp>
      <p:pic>
        <p:nvPicPr>
          <p:cNvPr id="5" name="圖片 4"/>
          <p:cNvPicPr>
            <a:picLocks noChangeAspect="1"/>
          </p:cNvPicPr>
          <p:nvPr/>
        </p:nvPicPr>
        <p:blipFill>
          <a:blip r:embed="rId2"/>
          <a:stretch>
            <a:fillRect/>
          </a:stretch>
        </p:blipFill>
        <p:spPr>
          <a:xfrm>
            <a:off x="628650" y="47138"/>
            <a:ext cx="7444431" cy="6810862"/>
          </a:xfrm>
          <a:prstGeom prst="rect">
            <a:avLst/>
          </a:prstGeom>
        </p:spPr>
      </p:pic>
    </p:spTree>
    <p:extLst>
      <p:ext uri="{BB962C8B-B14F-4D97-AF65-F5344CB8AC3E}">
        <p14:creationId xmlns:p14="http://schemas.microsoft.com/office/powerpoint/2010/main" val="10117080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0"/>
            <a:ext cx="7886700" cy="1325563"/>
          </a:xfrm>
        </p:spPr>
        <p:txBody>
          <a:bodyPr/>
          <a:lstStyle/>
          <a:p>
            <a:pPr algn="ctr"/>
            <a:r>
              <a:rPr lang="en-US" altLang="zh-TW" sz="3600" dirty="0" smtClean="0">
                <a:solidFill>
                  <a:prstClr val="black"/>
                </a:solidFill>
                <a:latin typeface="Times New Roman" panose="02020603050405020304" pitchFamily="18" charset="0"/>
                <a:cs typeface="Times New Roman" panose="02020603050405020304" pitchFamily="18" charset="0"/>
              </a:rPr>
              <a:t>Template creation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335883"/>
                <a:ext cx="7886700" cy="4486274"/>
              </a:xfrm>
            </p:spPr>
            <p:txBody>
              <a:bodyPr/>
              <a:lstStyle/>
              <a:p>
                <a:r>
                  <a:rPr lang="en-US" altLang="zh-TW" dirty="0" smtClean="0"/>
                  <a:t>compute the probability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𝑔</m:t>
                        </m:r>
                      </m:sub>
                      <m:sup>
                        <m:r>
                          <a:rPr lang="en-US" altLang="zh-TW" b="0" i="1" smtClean="0">
                            <a:latin typeface="Cambria Math" panose="02040503050406030204" pitchFamily="18" charset="0"/>
                          </a:rPr>
                          <m:t>𝑠</m:t>
                        </m:r>
                      </m:sup>
                    </m:sSubSup>
                  </m:oMath>
                </a14:m>
                <a:r>
                  <a:rPr lang="en-US" altLang="zh-TW" dirty="0" smtClean="0"/>
                  <a:t>(k</a:t>
                </a:r>
                <a:r>
                  <a:rPr lang="en-US" altLang="zh-TW" dirty="0"/>
                  <a:t>, m) that the </a:t>
                </a:r>
                <a:r>
                  <a:rPr lang="en-US" altLang="zh-TW" dirty="0" err="1"/>
                  <a:t>sth</a:t>
                </a:r>
                <a:r>
                  <a:rPr lang="en-US" altLang="zh-TW" dirty="0"/>
                  <a:t> sample of the </a:t>
                </a:r>
                <a:r>
                  <a:rPr lang="en-US" altLang="zh-TW" i="1" dirty="0" err="1"/>
                  <a:t>m</a:t>
                </a:r>
                <a:r>
                  <a:rPr lang="en-US" altLang="zh-TW" dirty="0" err="1"/>
                  <a:t>th</a:t>
                </a:r>
                <a:r>
                  <a:rPr lang="en-US" altLang="zh-TW" dirty="0"/>
                  <a:t> </a:t>
                </a:r>
                <a:r>
                  <a:rPr lang="en-US" altLang="zh-TW" dirty="0" smtClean="0"/>
                  <a:t>tangent angle </a:t>
                </a:r>
                <a:r>
                  <a:rPr lang="en-US" altLang="zh-TW" dirty="0"/>
                  <a:t>belongs to the Gaussian component k.</a:t>
                </a:r>
              </a:p>
              <a:p>
                <a:r>
                  <a:rPr lang="en-US" altLang="zh-TW" dirty="0" smtClean="0"/>
                  <a:t>Denote </a:t>
                </a:r>
                <a14:m>
                  <m:oMath xmlns:m="http://schemas.openxmlformats.org/officeDocument/2006/math">
                    <m:sSubSup>
                      <m:sSubSupPr>
                        <m:ctrlPr>
                          <a:rPr lang="en-US" altLang="zh-TW" i="1" smtClean="0">
                            <a:latin typeface="Cambria Math" panose="02040503050406030204" pitchFamily="18" charset="0"/>
                          </a:rPr>
                        </m:ctrlPr>
                      </m:sSubSupPr>
                      <m:e>
                        <m:r>
                          <m:rPr>
                            <m:sty m:val="p"/>
                          </m:rPr>
                          <a:rPr lang="en-US" altLang="zh-TW" i="1">
                            <a:latin typeface="Cambria Math" panose="02040503050406030204" pitchFamily="18" charset="0"/>
                          </a:rPr>
                          <m:t>P</m:t>
                        </m:r>
                      </m:e>
                      <m:sub>
                        <m:r>
                          <a:rPr lang="en-US" altLang="zh-TW" b="0" i="1" smtClean="0">
                            <a:latin typeface="Cambria Math" panose="02040503050406030204" pitchFamily="18" charset="0"/>
                          </a:rPr>
                          <m:t>𝑔</m:t>
                        </m:r>
                      </m:sub>
                      <m:sup>
                        <m:r>
                          <a:rPr lang="en-US" altLang="zh-TW" b="0" i="1" smtClean="0">
                            <a:latin typeface="Cambria Math" panose="02040503050406030204" pitchFamily="18" charset="0"/>
                          </a:rPr>
                          <m:t>𝑠</m:t>
                        </m:r>
                      </m:sup>
                    </m:sSubSup>
                    <m:r>
                      <a:rPr lang="en-US" altLang="zh-TW" b="0" i="0" smtClean="0">
                        <a:latin typeface="Cambria Math" panose="02040503050406030204" pitchFamily="18" charset="0"/>
                      </a:rPr>
                      <m:t> </m:t>
                    </m:r>
                  </m:oMath>
                </a14:m>
                <a:r>
                  <a:rPr lang="en-US" altLang="zh-TW" dirty="0" smtClean="0"/>
                  <a:t>as </a:t>
                </a:r>
                <a:r>
                  <a:rPr lang="en-US" altLang="zh-TW" dirty="0"/>
                  <a:t>a matrix of size </a:t>
                </a:r>
                <a:r>
                  <a:rPr lang="en-US" altLang="zh-TW" dirty="0" smtClean="0"/>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𝐾</m:t>
                        </m:r>
                      </m:e>
                      <m:sub>
                        <m:r>
                          <a:rPr lang="en-US" altLang="zh-TW" b="0" i="1" smtClean="0">
                            <a:latin typeface="Cambria Math" panose="02040503050406030204" pitchFamily="18" charset="0"/>
                            <a:cs typeface="Times New Roman" panose="02020603050405020304" pitchFamily="18" charset="0"/>
                          </a:rPr>
                          <m:t>𝑔</m:t>
                        </m:r>
                      </m:sub>
                    </m:sSub>
                  </m:oMath>
                </a14:m>
                <a:r>
                  <a:rPr lang="en-US" altLang="zh-TW" dirty="0"/>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𝐿</m:t>
                        </m:r>
                      </m:e>
                      <m:sub>
                        <m:r>
                          <a:rPr lang="en-US" altLang="zh-TW" i="1">
                            <a:latin typeface="Cambria Math" panose="02040503050406030204" pitchFamily="18" charset="0"/>
                            <a:cs typeface="Times New Roman" panose="02020603050405020304" pitchFamily="18" charset="0"/>
                          </a:rPr>
                          <m:t>𝑔</m:t>
                        </m:r>
                      </m:sub>
                    </m:sSub>
                  </m:oMath>
                </a14:m>
                <a:r>
                  <a:rPr lang="en-US" altLang="zh-TW" dirty="0" smtClean="0"/>
                  <a:t> </a:t>
                </a:r>
                <a:r>
                  <a:rPr lang="en-US" altLang="zh-TW" dirty="0"/>
                  <a:t>− 1),</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335883"/>
                <a:ext cx="7886700" cy="4486274"/>
              </a:xfrm>
              <a:blipFill rotWithShape="0">
                <a:blip r:embed="rId2"/>
                <a:stretch>
                  <a:fillRect l="-1391" t="-190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15</a:t>
            </a:fld>
            <a:endParaRPr lang="zh-TW" altLang="en-US"/>
          </a:p>
        </p:txBody>
      </p:sp>
      <mc:AlternateContent xmlns:mc="http://schemas.openxmlformats.org/markup-compatibility/2006" xmlns:a14="http://schemas.microsoft.com/office/drawing/2010/main">
        <mc:Choice Requires="a14">
          <p:sp>
            <p:nvSpPr>
              <p:cNvPr id="5" name="內容版面配置區 2"/>
              <p:cNvSpPr txBox="1">
                <a:spLocks/>
              </p:cNvSpPr>
              <p:nvPr/>
            </p:nvSpPr>
            <p:spPr>
              <a:xfrm>
                <a:off x="1385887" y="4643087"/>
                <a:ext cx="717550" cy="162357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1</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k</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endParaRPr lang="en-US" altLang="zh-TW" i="1" dirty="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𝐾</m:t>
                          </m:r>
                        </m:e>
                        <m:sub>
                          <m:r>
                            <a:rPr lang="en-US" altLang="zh-TW" b="0" i="1" smtClean="0">
                              <a:latin typeface="Cambria Math" panose="02040503050406030204" pitchFamily="18" charset="0"/>
                              <a:cs typeface="Times New Roman" panose="02020603050405020304" pitchFamily="18" charset="0"/>
                            </a:rPr>
                            <m:t>𝑔</m:t>
                          </m:r>
                        </m:sub>
                      </m:sSub>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5" name="內容版面配置區 2"/>
              <p:cNvSpPr txBox="1">
                <a:spLocks noRot="1" noChangeAspect="1" noMove="1" noResize="1" noEditPoints="1" noAdjustHandles="1" noChangeArrowheads="1" noChangeShapeType="1" noTextEdit="1"/>
              </p:cNvSpPr>
              <p:nvPr/>
            </p:nvSpPr>
            <p:spPr>
              <a:xfrm>
                <a:off x="1385887" y="4643087"/>
                <a:ext cx="717550" cy="1623570"/>
              </a:xfrm>
              <a:prstGeom prst="rect">
                <a:avLst/>
              </a:prstGeom>
              <a:blipFill rotWithShape="0">
                <a:blip r:embed="rId3"/>
                <a:stretch>
                  <a:fillRect l="-847" t="-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內容版面配置區 2"/>
              <p:cNvSpPr txBox="1">
                <a:spLocks/>
              </p:cNvSpPr>
              <p:nvPr/>
            </p:nvSpPr>
            <p:spPr>
              <a:xfrm>
                <a:off x="2998787" y="3583828"/>
                <a:ext cx="2203450" cy="44776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smtClean="0">
                    <a:latin typeface="Times New Roman" panose="02020603050405020304" pitchFamily="18" charset="0"/>
                    <a:cs typeface="Times New Roman" panose="02020603050405020304" pitchFamily="18" charset="0"/>
                  </a:rPr>
                  <a:t>1  …   m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𝐿</m:t>
                        </m:r>
                      </m:e>
                      <m:sub>
                        <m:r>
                          <a:rPr lang="en-US" altLang="zh-TW" i="1">
                            <a:latin typeface="Cambria Math" panose="02040503050406030204" pitchFamily="18" charset="0"/>
                            <a:cs typeface="Times New Roman" panose="02020603050405020304" pitchFamily="18" charset="0"/>
                          </a:rPr>
                          <m:t>𝑔</m:t>
                        </m:r>
                      </m:sub>
                    </m:sSub>
                    <m:r>
                      <a:rPr lang="en-US" altLang="zh-TW" i="1" smtClean="0">
                        <a:latin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6" name="內容版面配置區 2"/>
              <p:cNvSpPr txBox="1">
                <a:spLocks noRot="1" noChangeAspect="1" noMove="1" noResize="1" noEditPoints="1" noAdjustHandles="1" noChangeArrowheads="1" noChangeShapeType="1" noTextEdit="1"/>
              </p:cNvSpPr>
              <p:nvPr/>
            </p:nvSpPr>
            <p:spPr>
              <a:xfrm>
                <a:off x="2998787" y="3583828"/>
                <a:ext cx="2203450" cy="447766"/>
              </a:xfrm>
              <a:prstGeom prst="rect">
                <a:avLst/>
              </a:prstGeom>
              <a:blipFill rotWithShape="0">
                <a:blip r:embed="rId4"/>
                <a:stretch>
                  <a:fillRect l="-2493" t="-23288"/>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929472053"/>
              </p:ext>
            </p:extLst>
          </p:nvPr>
        </p:nvGraphicFramePr>
        <p:xfrm>
          <a:off x="2297112" y="4001294"/>
          <a:ext cx="3735390" cy="2729570"/>
        </p:xfrm>
        <a:graphic>
          <a:graphicData uri="http://schemas.openxmlformats.org/drawingml/2006/table">
            <a:tbl>
              <a:tblPr firstRow="1" bandRow="1">
                <a:tableStyleId>{5940675A-B579-460E-94D1-54222C63F5DA}</a:tableStyleId>
              </a:tblPr>
              <a:tblGrid>
                <a:gridCol w="747078"/>
                <a:gridCol w="747078"/>
                <a:gridCol w="729932"/>
                <a:gridCol w="764224"/>
                <a:gridCol w="747078"/>
              </a:tblGrid>
              <a:tr h="545914">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smtClean="0"/>
                        <a:t>p(</a:t>
                      </a:r>
                      <a:r>
                        <a:rPr lang="en-US" altLang="zh-TW" dirty="0" err="1" smtClean="0"/>
                        <a:t>k,m</a:t>
                      </a:r>
                      <a:r>
                        <a:rPr lang="en-US" altLang="zh-TW" dirty="0" smtClean="0"/>
                        <a:t>)</a:t>
                      </a: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AlternateContent xmlns:mc="http://schemas.openxmlformats.org/markup-compatibility/2006" xmlns:a14="http://schemas.microsoft.com/office/drawing/2010/main">
        <mc:Choice Requires="a14">
          <p:sp>
            <p:nvSpPr>
              <p:cNvPr id="8" name="內容版面配置區 2"/>
              <p:cNvSpPr txBox="1">
                <a:spLocks/>
              </p:cNvSpPr>
              <p:nvPr/>
            </p:nvSpPr>
            <p:spPr>
              <a:xfrm>
                <a:off x="1385887" y="3579020"/>
                <a:ext cx="766763" cy="44776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P</m:t>
                          </m:r>
                        </m:e>
                        <m:sub>
                          <m:r>
                            <a:rPr lang="en-US" altLang="zh-TW" i="1">
                              <a:latin typeface="Cambria Math" panose="02040503050406030204" pitchFamily="18" charset="0"/>
                            </a:rPr>
                            <m:t>𝑔</m:t>
                          </m:r>
                        </m:sub>
                        <m:sup>
                          <m:r>
                            <a:rPr lang="en-US" altLang="zh-TW" i="1">
                              <a:latin typeface="Cambria Math" panose="02040503050406030204" pitchFamily="18" charset="0"/>
                            </a:rPr>
                            <m:t>𝑠</m:t>
                          </m:r>
                        </m:sup>
                      </m:sSubSup>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8" name="內容版面配置區 2"/>
              <p:cNvSpPr txBox="1">
                <a:spLocks noRot="1" noChangeAspect="1" noMove="1" noResize="1" noEditPoints="1" noAdjustHandles="1" noChangeArrowheads="1" noChangeShapeType="1" noTextEdit="1"/>
              </p:cNvSpPr>
              <p:nvPr/>
            </p:nvSpPr>
            <p:spPr>
              <a:xfrm>
                <a:off x="1385887" y="3579020"/>
                <a:ext cx="766763" cy="447766"/>
              </a:xfrm>
              <a:prstGeom prst="rect">
                <a:avLst/>
              </a:prstGeom>
              <a:blipFill rotWithShape="0">
                <a:blip r:embed="rId5"/>
                <a:stretch>
                  <a:fillRect b="-108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828669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0"/>
            <a:ext cx="7886700" cy="1325563"/>
          </a:xfrm>
        </p:spPr>
        <p:txBody>
          <a:bodyPr/>
          <a:lstStyle/>
          <a:p>
            <a:pPr algn="ctr"/>
            <a:r>
              <a:rPr lang="en-US" altLang="zh-TW" sz="3600" dirty="0">
                <a:solidFill>
                  <a:prstClr val="black"/>
                </a:solidFill>
                <a:latin typeface="Times New Roman" panose="02020603050405020304" pitchFamily="18" charset="0"/>
                <a:cs typeface="Times New Roman" panose="02020603050405020304" pitchFamily="18" charset="0"/>
              </a:rPr>
              <a:t>Template creation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335883"/>
                <a:ext cx="7886700" cy="4486274"/>
              </a:xfrm>
            </p:spPr>
            <p:txBody>
              <a:bodyPr/>
              <a:lstStyle/>
              <a:p>
                <a:r>
                  <a:rPr lang="en-US" altLang="zh-TW" dirty="0" smtClean="0"/>
                  <a:t>Compute </a:t>
                </a:r>
                <a:r>
                  <a:rPr lang="en-US" altLang="zh-TW" dirty="0" err="1"/>
                  <a:t>pointwise</a:t>
                </a:r>
                <a:r>
                  <a:rPr lang="en-US" altLang="zh-TW" dirty="0"/>
                  <a:t> average of matrices </a:t>
                </a:r>
                <a14:m>
                  <m:oMath xmlns:m="http://schemas.openxmlformats.org/officeDocument/2006/math">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P</m:t>
                        </m:r>
                      </m:e>
                      <m:sub>
                        <m:r>
                          <a:rPr lang="en-US" altLang="zh-TW" i="1">
                            <a:latin typeface="Cambria Math" panose="02040503050406030204" pitchFamily="18" charset="0"/>
                          </a:rPr>
                          <m:t>𝑔</m:t>
                        </m:r>
                      </m:sub>
                      <m:sup>
                        <m:r>
                          <a:rPr lang="en-US" altLang="zh-TW" i="1">
                            <a:latin typeface="Cambria Math" panose="02040503050406030204" pitchFamily="18" charset="0"/>
                          </a:rPr>
                          <m:t>𝑠</m:t>
                        </m:r>
                      </m:sup>
                    </m:sSubSup>
                  </m:oMath>
                </a14:m>
                <a:r>
                  <a:rPr lang="en-US" altLang="zh-TW" dirty="0"/>
                  <a:t>over s</a:t>
                </a:r>
              </a:p>
              <a:p>
                <a:pPr marL="0" indent="0">
                  <a:buNone/>
                </a:pPr>
                <a:r>
                  <a:rPr lang="en-US" altLang="zh-TW" dirty="0"/>
                  <a:t>samples, and denote it by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 </m:t>
                        </m:r>
                        <m:r>
                          <a:rPr lang="en-US" altLang="zh-TW" b="0" i="1" smtClean="0">
                            <a:latin typeface="Cambria Math" panose="02040503050406030204" pitchFamily="18" charset="0"/>
                          </a:rPr>
                          <m:t>𝑇</m:t>
                        </m:r>
                      </m:e>
                      <m:sub>
                        <m:r>
                          <a:rPr lang="en-US" altLang="zh-TW" i="1" dirty="0">
                            <a:latin typeface="Cambria Math" panose="02040503050406030204" pitchFamily="18" charset="0"/>
                          </a:rPr>
                          <m:t>𝑔</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zh-TW" altLang="en-US" i="1">
                            <a:latin typeface="Cambria Math" panose="02040503050406030204" pitchFamily="18" charset="0"/>
                          </a:rPr>
                          <m:t> </m:t>
                        </m:r>
                        <m:r>
                          <a:rPr lang="en-US" altLang="zh-TW" b="0" i="1" smtClean="0">
                            <a:latin typeface="Cambria Math" panose="02040503050406030204" pitchFamily="18" charset="0"/>
                          </a:rPr>
                          <m:t>𝑇</m:t>
                        </m:r>
                      </m:e>
                      <m:sub>
                        <m:r>
                          <a:rPr lang="en-US" altLang="zh-TW" i="1" dirty="0">
                            <a:latin typeface="Cambria Math" panose="02040503050406030204" pitchFamily="18" charset="0"/>
                          </a:rPr>
                          <m:t>𝑔</m:t>
                        </m:r>
                      </m:sub>
                    </m:sSub>
                  </m:oMath>
                </a14:m>
                <a:r>
                  <a:rPr lang="en-US" altLang="zh-TW" dirty="0" smtClean="0"/>
                  <a:t> is </a:t>
                </a:r>
                <a:r>
                  <a:rPr lang="en-US" altLang="zh-TW" dirty="0"/>
                  <a:t>a template </a:t>
                </a:r>
                <a:r>
                  <a:rPr lang="en-US" altLang="zh-TW" dirty="0" smtClean="0"/>
                  <a:t>that represents </a:t>
                </a:r>
                <a:r>
                  <a:rPr lang="en-US" altLang="zh-TW" dirty="0"/>
                  <a:t>gesture number g.</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335883"/>
                <a:ext cx="7886700" cy="4486274"/>
              </a:xfrm>
              <a:blipFill rotWithShape="0">
                <a:blip r:embed="rId2"/>
                <a:stretch>
                  <a:fillRect l="-1546" t="-190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16</a:t>
            </a:fld>
            <a:endParaRPr lang="zh-TW" altLang="en-US"/>
          </a:p>
        </p:txBody>
      </p:sp>
      <mc:AlternateContent xmlns:mc="http://schemas.openxmlformats.org/markup-compatibility/2006" xmlns:a14="http://schemas.microsoft.com/office/drawing/2010/main">
        <mc:Choice Requires="a14">
          <p:sp>
            <p:nvSpPr>
              <p:cNvPr id="5" name="內容版面配置區 2"/>
              <p:cNvSpPr txBox="1">
                <a:spLocks/>
              </p:cNvSpPr>
              <p:nvPr/>
            </p:nvSpPr>
            <p:spPr>
              <a:xfrm>
                <a:off x="1385887" y="4643087"/>
                <a:ext cx="717550" cy="162357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1</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k</a:t>
                </a:r>
              </a:p>
              <a:p>
                <a:pPr marL="0" indent="0">
                  <a:lnSpc>
                    <a:spcPct val="100000"/>
                  </a:lnSpc>
                  <a:buNone/>
                </a:pPr>
                <a:r>
                  <a:rPr lang="en-US" altLang="zh-TW" dirty="0" smtClean="0">
                    <a:latin typeface="Times New Roman" panose="02020603050405020304" pitchFamily="18" charset="0"/>
                    <a:cs typeface="Times New Roman" panose="02020603050405020304" pitchFamily="18" charset="0"/>
                  </a:rPr>
                  <a:t>…</a:t>
                </a:r>
              </a:p>
              <a:p>
                <a:pPr marL="0" indent="0">
                  <a:lnSpc>
                    <a:spcPct val="100000"/>
                  </a:lnSpc>
                  <a:buNone/>
                </a:pPr>
                <a:endParaRPr lang="en-US" altLang="zh-TW" i="1" dirty="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𝐾</m:t>
                          </m:r>
                        </m:e>
                        <m:sub>
                          <m:r>
                            <a:rPr lang="en-US" altLang="zh-TW" b="0" i="1" smtClean="0">
                              <a:latin typeface="Cambria Math" panose="02040503050406030204" pitchFamily="18" charset="0"/>
                              <a:cs typeface="Times New Roman" panose="02020603050405020304" pitchFamily="18" charset="0"/>
                            </a:rPr>
                            <m:t>𝑚</m:t>
                          </m:r>
                        </m:sub>
                      </m:sSub>
                    </m:oMath>
                  </m:oMathPara>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5" name="內容版面配置區 2"/>
              <p:cNvSpPr txBox="1">
                <a:spLocks noRot="1" noChangeAspect="1" noMove="1" noResize="1" noEditPoints="1" noAdjustHandles="1" noChangeArrowheads="1" noChangeShapeType="1" noTextEdit="1"/>
              </p:cNvSpPr>
              <p:nvPr/>
            </p:nvSpPr>
            <p:spPr>
              <a:xfrm>
                <a:off x="1385887" y="4643087"/>
                <a:ext cx="717550" cy="1623570"/>
              </a:xfrm>
              <a:prstGeom prst="rect">
                <a:avLst/>
              </a:prstGeom>
              <a:blipFill rotWithShape="0">
                <a:blip r:embed="rId3"/>
                <a:stretch>
                  <a:fillRect l="-847" t="-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內容版面配置區 2"/>
              <p:cNvSpPr txBox="1">
                <a:spLocks/>
              </p:cNvSpPr>
              <p:nvPr/>
            </p:nvSpPr>
            <p:spPr>
              <a:xfrm>
                <a:off x="2998787" y="3583828"/>
                <a:ext cx="2203450" cy="44776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dirty="0" smtClean="0">
                    <a:latin typeface="Times New Roman" panose="02020603050405020304" pitchFamily="18" charset="0"/>
                    <a:cs typeface="Times New Roman" panose="02020603050405020304" pitchFamily="18" charset="0"/>
                  </a:rPr>
                  <a:t>1  …   m  …</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𝐿</m:t>
                        </m:r>
                      </m:e>
                      <m:sub>
                        <m:r>
                          <a:rPr lang="en-US" altLang="zh-TW" i="1">
                            <a:latin typeface="Cambria Math" panose="02040503050406030204" pitchFamily="18" charset="0"/>
                            <a:cs typeface="Times New Roman" panose="02020603050405020304" pitchFamily="18" charset="0"/>
                          </a:rPr>
                          <m:t>𝑔</m:t>
                        </m:r>
                      </m:sub>
                    </m:sSub>
                    <m:r>
                      <a:rPr lang="en-US" altLang="zh-TW" i="1" smtClean="0">
                        <a:latin typeface="Cambria Math" panose="02040503050406030204" pitchFamily="18" charset="0"/>
                        <a:cs typeface="Times New Roman" panose="02020603050405020304" pitchFamily="18" charset="0"/>
                      </a:rPr>
                      <m:t>−</m:t>
                    </m:r>
                  </m:oMath>
                </a14:m>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p:txBody>
          </p:sp>
        </mc:Choice>
        <mc:Fallback xmlns="">
          <p:sp>
            <p:nvSpPr>
              <p:cNvPr id="6" name="內容版面配置區 2"/>
              <p:cNvSpPr txBox="1">
                <a:spLocks noRot="1" noChangeAspect="1" noMove="1" noResize="1" noEditPoints="1" noAdjustHandles="1" noChangeArrowheads="1" noChangeShapeType="1" noTextEdit="1"/>
              </p:cNvSpPr>
              <p:nvPr/>
            </p:nvSpPr>
            <p:spPr>
              <a:xfrm>
                <a:off x="2998787" y="3583828"/>
                <a:ext cx="2203450" cy="447766"/>
              </a:xfrm>
              <a:prstGeom prst="rect">
                <a:avLst/>
              </a:prstGeom>
              <a:blipFill rotWithShape="0">
                <a:blip r:embed="rId4"/>
                <a:stretch>
                  <a:fillRect l="-2493" t="-23288"/>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929472053"/>
              </p:ext>
            </p:extLst>
          </p:nvPr>
        </p:nvGraphicFramePr>
        <p:xfrm>
          <a:off x="2297112" y="4001294"/>
          <a:ext cx="3735390" cy="2729570"/>
        </p:xfrm>
        <a:graphic>
          <a:graphicData uri="http://schemas.openxmlformats.org/drawingml/2006/table">
            <a:tbl>
              <a:tblPr firstRow="1" bandRow="1">
                <a:tableStyleId>{5940675A-B579-460E-94D1-54222C63F5DA}</a:tableStyleId>
              </a:tblPr>
              <a:tblGrid>
                <a:gridCol w="747078"/>
                <a:gridCol w="747078"/>
                <a:gridCol w="729932"/>
                <a:gridCol w="764224"/>
                <a:gridCol w="747078"/>
              </a:tblGrid>
              <a:tr h="545914">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a:p>
                  </a:txBody>
                  <a:tcPr/>
                </a:tc>
                <a:tc>
                  <a:txBody>
                    <a:bodyPr/>
                    <a:lstStyle/>
                    <a:p>
                      <a:pPr algn="ctr"/>
                      <a:r>
                        <a:rPr lang="en-US" altLang="zh-TW" dirty="0" smtClean="0"/>
                        <a:t>p(</a:t>
                      </a:r>
                      <a:r>
                        <a:rPr lang="en-US" altLang="zh-TW" dirty="0" err="1" smtClean="0"/>
                        <a:t>k,m</a:t>
                      </a:r>
                      <a:r>
                        <a:rPr lang="en-US" altLang="zh-TW" dirty="0" smtClean="0"/>
                        <a:t>)</a:t>
                      </a: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545914">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mc:AlternateContent xmlns:mc="http://schemas.openxmlformats.org/markup-compatibility/2006" xmlns:a14="http://schemas.microsoft.com/office/drawing/2010/main">
        <mc:Choice Requires="a14">
          <p:sp>
            <p:nvSpPr>
              <p:cNvPr id="8" name="內容版面配置區 2"/>
              <p:cNvSpPr txBox="1">
                <a:spLocks/>
              </p:cNvSpPr>
              <p:nvPr/>
            </p:nvSpPr>
            <p:spPr>
              <a:xfrm>
                <a:off x="1385887" y="3579020"/>
                <a:ext cx="766763" cy="44776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Sup>
                        <m:sSubSupPr>
                          <m:ctrlPr>
                            <a:rPr lang="en-US" altLang="zh-TW" i="1">
                              <a:latin typeface="Cambria Math" panose="02040503050406030204" pitchFamily="18" charset="0"/>
                            </a:rPr>
                          </m:ctrlPr>
                        </m:sSubSupPr>
                        <m:e>
                          <m:r>
                            <m:rPr>
                              <m:sty m:val="p"/>
                            </m:rPr>
                            <a:rPr lang="en-US" altLang="zh-TW" i="1">
                              <a:latin typeface="Cambria Math" panose="02040503050406030204" pitchFamily="18" charset="0"/>
                            </a:rPr>
                            <m:t>P</m:t>
                          </m:r>
                        </m:e>
                        <m:sub>
                          <m:r>
                            <a:rPr lang="en-US" altLang="zh-TW" i="1">
                              <a:latin typeface="Cambria Math" panose="02040503050406030204" pitchFamily="18" charset="0"/>
                            </a:rPr>
                            <m:t>𝑔</m:t>
                          </m:r>
                        </m:sub>
                        <m:sup>
                          <m:r>
                            <a:rPr lang="en-US" altLang="zh-TW" i="1">
                              <a:latin typeface="Cambria Math" panose="02040503050406030204" pitchFamily="18" charset="0"/>
                            </a:rPr>
                            <m:t>𝑠</m:t>
                          </m:r>
                        </m:sup>
                      </m:sSubSup>
                    </m:oMath>
                  </m:oMathPara>
                </a14:m>
                <a:endParaRPr lang="zh-TW" altLang="en-US" dirty="0">
                  <a:latin typeface="Times New Roman" panose="02020603050405020304" pitchFamily="18" charset="0"/>
                  <a:cs typeface="Times New Roman" panose="02020603050405020304" pitchFamily="18" charset="0"/>
                </a:endParaRPr>
              </a:p>
            </p:txBody>
          </p:sp>
        </mc:Choice>
        <mc:Fallback xmlns="">
          <p:sp>
            <p:nvSpPr>
              <p:cNvPr id="8" name="內容版面配置區 2"/>
              <p:cNvSpPr txBox="1">
                <a:spLocks noRot="1" noChangeAspect="1" noMove="1" noResize="1" noEditPoints="1" noAdjustHandles="1" noChangeArrowheads="1" noChangeShapeType="1" noTextEdit="1"/>
              </p:cNvSpPr>
              <p:nvPr/>
            </p:nvSpPr>
            <p:spPr>
              <a:xfrm>
                <a:off x="1385887" y="3579020"/>
                <a:ext cx="766763" cy="447766"/>
              </a:xfrm>
              <a:prstGeom prst="rect">
                <a:avLst/>
              </a:prstGeom>
              <a:blipFill rotWithShape="0">
                <a:blip r:embed="rId5"/>
                <a:stretch>
                  <a:fillRect b="-108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938967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17</a:t>
            </a:fld>
            <a:endParaRPr lang="zh-TW" altLang="en-US"/>
          </a:p>
        </p:txBody>
      </p:sp>
      <p:pic>
        <p:nvPicPr>
          <p:cNvPr id="6" name="圖片 5"/>
          <p:cNvPicPr>
            <a:picLocks noChangeAspect="1"/>
          </p:cNvPicPr>
          <p:nvPr/>
        </p:nvPicPr>
        <p:blipFill>
          <a:blip r:embed="rId2"/>
          <a:stretch>
            <a:fillRect/>
          </a:stretch>
        </p:blipFill>
        <p:spPr>
          <a:xfrm>
            <a:off x="834866" y="778855"/>
            <a:ext cx="7026434" cy="6199795"/>
          </a:xfrm>
          <a:prstGeom prst="rect">
            <a:avLst/>
          </a:prstGeom>
        </p:spPr>
      </p:pic>
      <p:sp>
        <p:nvSpPr>
          <p:cNvPr id="2" name="標題 1"/>
          <p:cNvSpPr>
            <a:spLocks noGrp="1"/>
          </p:cNvSpPr>
          <p:nvPr>
            <p:ph type="title"/>
          </p:nvPr>
        </p:nvSpPr>
        <p:spPr>
          <a:xfrm>
            <a:off x="2152650" y="-252413"/>
            <a:ext cx="4838700" cy="1325563"/>
          </a:xfrm>
        </p:spPr>
        <p:txBody>
          <a:bodyPr>
            <a:normAutofit/>
          </a:bodyPr>
          <a:lstStyle/>
          <a:p>
            <a:r>
              <a:rPr lang="en-US" altLang="zh-TW" sz="4000" dirty="0" smtClean="0">
                <a:latin typeface="Times New Roman" panose="02020603050405020304" pitchFamily="18" charset="0"/>
                <a:cs typeface="Times New Roman" panose="02020603050405020304" pitchFamily="18" charset="0"/>
              </a:rPr>
              <a:t>On-line recognition</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1258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9CF4E80-5859-4E39-A40B-ED9B772D8B0F}" type="slidenum">
              <a:rPr lang="zh-TW" altLang="en-US" smtClean="0"/>
              <a:t>18</a:t>
            </a:fld>
            <a:endParaRPr lang="zh-TW" altLang="en-US"/>
          </a:p>
        </p:txBody>
      </p:sp>
      <p:sp>
        <p:nvSpPr>
          <p:cNvPr id="3" name="內容版面配置區 2"/>
          <p:cNvSpPr>
            <a:spLocks noGrp="1"/>
          </p:cNvSpPr>
          <p:nvPr>
            <p:ph idx="1"/>
          </p:nvPr>
        </p:nvSpPr>
        <p:spPr>
          <a:xfrm>
            <a:off x="31750" y="5343525"/>
            <a:ext cx="8483600" cy="1377951"/>
          </a:xfrm>
        </p:spPr>
        <p:txBody>
          <a:bodyPr/>
          <a:lstStyle/>
          <a:p>
            <a:pPr marL="0" indent="0">
              <a:buNone/>
            </a:pPr>
            <a:r>
              <a:rPr lang="en-US" altLang="zh-TW" dirty="0"/>
              <a:t>Image intensities (from 0—black to 1—white) </a:t>
            </a:r>
            <a:endParaRPr lang="en-US" altLang="zh-TW" dirty="0" smtClean="0"/>
          </a:p>
          <a:p>
            <a:pPr marL="0" indent="0">
              <a:buNone/>
            </a:pPr>
            <a:r>
              <a:rPr lang="en-US" altLang="zh-TW" dirty="0" smtClean="0"/>
              <a:t>encode the </a:t>
            </a:r>
            <a:r>
              <a:rPr lang="en-US" altLang="zh-TW" dirty="0"/>
              <a:t>probabilities of the points to belong to the Gaussians.</a:t>
            </a:r>
            <a:endParaRPr lang="zh-TW" altLang="en-US" dirty="0"/>
          </a:p>
        </p:txBody>
      </p:sp>
      <p:pic>
        <p:nvPicPr>
          <p:cNvPr id="7" name="圖片 6"/>
          <p:cNvPicPr>
            <a:picLocks noChangeAspect="1"/>
          </p:cNvPicPr>
          <p:nvPr/>
        </p:nvPicPr>
        <p:blipFill>
          <a:blip r:embed="rId2"/>
          <a:stretch>
            <a:fillRect/>
          </a:stretch>
        </p:blipFill>
        <p:spPr>
          <a:xfrm>
            <a:off x="0" y="738188"/>
            <a:ext cx="9155948" cy="4406899"/>
          </a:xfrm>
          <a:prstGeom prst="rect">
            <a:avLst/>
          </a:prstGeom>
        </p:spPr>
      </p:pic>
    </p:spTree>
    <p:extLst>
      <p:ext uri="{BB962C8B-B14F-4D97-AF65-F5344CB8AC3E}">
        <p14:creationId xmlns:p14="http://schemas.microsoft.com/office/powerpoint/2010/main" val="1588746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04800"/>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Algorithm Procedure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628650" y="960438"/>
                <a:ext cx="7886700" cy="5897562"/>
              </a:xfrm>
            </p:spPr>
            <p:txBody>
              <a:bodyPr>
                <a:normAutofit/>
              </a:bodyPr>
              <a:lstStyle/>
              <a:p>
                <a:r>
                  <a:rPr lang="en-US" altLang="zh-TW" dirty="0" smtClean="0"/>
                  <a:t>Matrix </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𝑄</m:t>
                        </m:r>
                      </m:e>
                      <m:sub>
                        <m:r>
                          <a:rPr lang="en-US" altLang="zh-TW" b="0" i="1" dirty="0" smtClean="0">
                            <a:latin typeface="Cambria Math" panose="02040503050406030204" pitchFamily="18" charset="0"/>
                          </a:rPr>
                          <m:t>𝑔</m:t>
                        </m:r>
                      </m:sub>
                    </m:sSub>
                  </m:oMath>
                </a14:m>
                <a:r>
                  <a:rPr lang="en-US" altLang="zh-TW" dirty="0"/>
                  <a:t>is converted </a:t>
                </a:r>
                <a:r>
                  <a:rPr lang="en-US" altLang="zh-TW" dirty="0" smtClean="0"/>
                  <a:t>into </a:t>
                </a:r>
                <a:r>
                  <a:rPr lang="en-US" altLang="zh-TW" dirty="0"/>
                  <a:t>three vectors </a:t>
                </a:r>
                <a:endParaRPr lang="en-US" altLang="zh-TW" dirty="0" smtClean="0"/>
              </a:p>
              <a:p>
                <a:endParaRPr lang="en-US" altLang="zh-TW" dirty="0"/>
              </a:p>
              <a:p>
                <a:pPr marL="0" indent="0">
                  <a:buNone/>
                </a:pPr>
                <a:r>
                  <a:rPr lang="en-US" altLang="zh-TW" dirty="0" smtClean="0"/>
                  <a:t>1) </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𝑝𝑟</m:t>
                        </m:r>
                      </m:sub>
                      <m:sup>
                        <m:r>
                          <a:rPr lang="en-US" altLang="zh-TW" b="0" i="1" smtClean="0">
                            <a:latin typeface="Cambria Math" panose="02040503050406030204" pitchFamily="18" charset="0"/>
                          </a:rPr>
                          <m:t>𝑄</m:t>
                        </m:r>
                      </m:sup>
                    </m:sSubSup>
                  </m:oMath>
                </a14:m>
                <a:r>
                  <a:rPr lang="en-US" altLang="zh-TW" dirty="0" smtClean="0"/>
                  <a:t>—</a:t>
                </a:r>
                <a:r>
                  <a:rPr lang="en-US" altLang="zh-TW" dirty="0"/>
                  <a:t>the vector of nonzero entries. Remember </a:t>
                </a:r>
                <a:r>
                  <a:rPr lang="en-US" altLang="zh-TW" dirty="0" smtClean="0"/>
                  <a:t>that (k</a:t>
                </a:r>
                <a:r>
                  <a:rPr lang="en-US" altLang="zh-TW" dirty="0"/>
                  <a:t>, m) entry of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𝑄</m:t>
                        </m:r>
                      </m:e>
                      <m:sub>
                        <m:r>
                          <a:rPr lang="en-US" altLang="zh-TW" i="1" dirty="0">
                            <a:latin typeface="Cambria Math" panose="02040503050406030204" pitchFamily="18" charset="0"/>
                          </a:rPr>
                          <m:t>𝑔</m:t>
                        </m:r>
                      </m:sub>
                    </m:sSub>
                  </m:oMath>
                </a14:m>
                <a:r>
                  <a:rPr lang="en-US" altLang="zh-TW" dirty="0"/>
                  <a:t>is Gaussian pdf of </a:t>
                </a:r>
                <a:r>
                  <a:rPr lang="en-US" altLang="zh-TW" i="1" dirty="0" err="1"/>
                  <a:t>m</a:t>
                </a:r>
                <a:r>
                  <a:rPr lang="en-US" altLang="zh-TW" dirty="0" err="1"/>
                  <a:t>th</a:t>
                </a:r>
                <a:r>
                  <a:rPr lang="en-US" altLang="zh-TW" dirty="0"/>
                  <a:t> </a:t>
                </a:r>
                <a:r>
                  <a:rPr lang="en-US" altLang="zh-TW" dirty="0" smtClean="0"/>
                  <a:t>component </a:t>
                </a:r>
                <a:r>
                  <a:rPr lang="en-US" altLang="zh-TW" dirty="0"/>
                  <a:t>of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m:rPr>
                            <m:nor/>
                          </m:rPr>
                          <a:rPr lang="en-US" altLang="zh-TW" dirty="0"/>
                          <m:t>input</m:t>
                        </m:r>
                      </m:sub>
                    </m:sSub>
                  </m:oMath>
                </a14:m>
                <a:r>
                  <a:rPr lang="en-US" altLang="zh-TW" dirty="0" smtClean="0"/>
                  <a:t> to </a:t>
                </a:r>
                <a:r>
                  <a:rPr lang="en-US" altLang="zh-TW" dirty="0"/>
                  <a:t>be associated with the sample </a:t>
                </a:r>
                <a:r>
                  <a:rPr lang="en-US" altLang="zh-TW" dirty="0" smtClean="0"/>
                  <a:t>cluster number </a:t>
                </a:r>
                <a:r>
                  <a:rPr lang="en-US" altLang="zh-TW" dirty="0"/>
                  <a:t>k.</a:t>
                </a:r>
              </a:p>
              <a:p>
                <a:pPr marL="0" indent="0">
                  <a:buNone/>
                </a:pPr>
                <a:r>
                  <a:rPr lang="en-US" altLang="zh-TW" dirty="0"/>
                  <a:t>2</a:t>
                </a:r>
                <a:r>
                  <a:rPr lang="en-US" altLang="zh-TW" dirty="0" smtClean="0"/>
                  <a:t>)</a:t>
                </a:r>
                <a14:m>
                  <m:oMath xmlns:m="http://schemas.openxmlformats.org/officeDocument/2006/math">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 </m:t>
                        </m:r>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𝑐</m:t>
                        </m:r>
                      </m:sub>
                      <m:sup>
                        <m:r>
                          <a:rPr lang="en-US" altLang="zh-TW" b="0" i="1" smtClean="0">
                            <a:latin typeface="Cambria Math" panose="02040503050406030204" pitchFamily="18" charset="0"/>
                          </a:rPr>
                          <m:t>𝑄</m:t>
                        </m:r>
                      </m:sup>
                    </m:sSubSup>
                  </m:oMath>
                </a14:m>
                <a:r>
                  <a:rPr lang="en-US" altLang="zh-TW" dirty="0" smtClean="0"/>
                  <a:t>—</a:t>
                </a:r>
                <a:r>
                  <a:rPr lang="en-US" altLang="zh-TW" dirty="0"/>
                  <a:t>the vector of row numbers of nonzero entries of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𝑄</m:t>
                        </m:r>
                      </m:e>
                      <m:sub>
                        <m:r>
                          <a:rPr lang="en-US" altLang="zh-TW" i="1" dirty="0">
                            <a:latin typeface="Cambria Math" panose="02040503050406030204" pitchFamily="18" charset="0"/>
                          </a:rPr>
                          <m:t>𝑔</m:t>
                        </m:r>
                      </m:sub>
                    </m:sSub>
                  </m:oMath>
                </a14:m>
                <a:r>
                  <a:rPr lang="en-US" altLang="zh-TW" dirty="0" smtClean="0"/>
                  <a:t>.These </a:t>
                </a:r>
                <a:r>
                  <a:rPr lang="en-US" altLang="zh-TW" dirty="0"/>
                  <a:t>row numbers correspond to the Gaussian </a:t>
                </a:r>
                <a:r>
                  <a:rPr lang="en-US" altLang="zh-TW" dirty="0" smtClean="0"/>
                  <a:t>component </a:t>
                </a:r>
                <a:r>
                  <a:rPr lang="en-US" altLang="zh-TW" dirty="0"/>
                  <a:t>indices k with parameters </a:t>
                </a:r>
                <a14:m>
                  <m:oMath xmlns:m="http://schemas.openxmlformats.org/officeDocument/2006/math">
                    <m:sSubSup>
                      <m:sSubSupPr>
                        <m:ctrlPr>
                          <a:rPr lang="en-US" altLang="zh-TW" i="1">
                            <a:latin typeface="Cambria Math" panose="02040503050406030204" pitchFamily="18" charset="0"/>
                          </a:rPr>
                        </m:ctrlPr>
                      </m:sSubSupPr>
                      <m:e>
                        <m:r>
                          <a:rPr lang="el-GR" altLang="zh-TW" i="1">
                            <a:latin typeface="Cambria Math" panose="02040503050406030204" pitchFamily="18" charset="0"/>
                          </a:rPr>
                          <m:t>𝜃</m:t>
                        </m:r>
                      </m:e>
                      <m:sub>
                        <m:r>
                          <a:rPr lang="en-US" altLang="zh-TW" i="1">
                            <a:latin typeface="Cambria Math" panose="02040503050406030204" pitchFamily="18" charset="0"/>
                          </a:rPr>
                          <m:t>𝑔</m:t>
                        </m:r>
                      </m:sub>
                      <m:sup>
                        <m:r>
                          <a:rPr lang="en-US" altLang="zh-TW" i="1">
                            <a:latin typeface="Cambria Math" panose="02040503050406030204" pitchFamily="18" charset="0"/>
                          </a:rPr>
                          <m:t>𝑘</m:t>
                        </m:r>
                      </m:sup>
                    </m:sSubSup>
                  </m:oMath>
                </a14:m>
                <a:r>
                  <a:rPr lang="en-US" altLang="zh-TW" dirty="0"/>
                  <a:t>.</a:t>
                </a:r>
              </a:p>
              <a:p>
                <a:pPr marL="0" indent="0">
                  <a:buNone/>
                </a:pPr>
                <a:r>
                  <a:rPr lang="en-US" altLang="zh-TW" dirty="0"/>
                  <a:t>3)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𝑉</m:t>
                        </m:r>
                      </m:e>
                      <m:sub>
                        <m:r>
                          <a:rPr lang="en-US" altLang="zh-TW" b="0" i="1" smtClean="0">
                            <a:latin typeface="Cambria Math" panose="02040503050406030204" pitchFamily="18" charset="0"/>
                          </a:rPr>
                          <m:t>𝑎</m:t>
                        </m:r>
                      </m:sub>
                      <m:sup>
                        <m:r>
                          <a:rPr lang="en-US" altLang="zh-TW" i="1">
                            <a:latin typeface="Cambria Math" panose="02040503050406030204" pitchFamily="18" charset="0"/>
                          </a:rPr>
                          <m:t>𝑄</m:t>
                        </m:r>
                      </m:sup>
                    </m:sSubSup>
                  </m:oMath>
                </a14:m>
                <a:r>
                  <a:rPr lang="en-US" altLang="zh-TW" dirty="0"/>
                  <a:t>—the vector of column numbers of nonzero </a:t>
                </a:r>
                <a:r>
                  <a:rPr lang="en-US" altLang="zh-TW" dirty="0" smtClean="0"/>
                  <a:t>entries of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𝑄</m:t>
                        </m:r>
                      </m:e>
                      <m:sub>
                        <m:r>
                          <a:rPr lang="en-US" altLang="zh-TW" i="1" dirty="0">
                            <a:latin typeface="Cambria Math" panose="02040503050406030204" pitchFamily="18" charset="0"/>
                          </a:rPr>
                          <m:t>𝑔</m:t>
                        </m:r>
                      </m:sub>
                    </m:sSub>
                  </m:oMath>
                </a14:m>
                <a:r>
                  <a:rPr lang="en-US" altLang="zh-TW" dirty="0"/>
                  <a:t>. These column numbers correspond to the </a:t>
                </a:r>
                <a:r>
                  <a:rPr lang="en-US" altLang="zh-TW" dirty="0" smtClean="0"/>
                  <a:t>vector </a:t>
                </a:r>
                <a:r>
                  <a:rPr lang="en-US" altLang="zh-TW" dirty="0" smtClean="0"/>
                  <a:t>an </a:t>
                </a:r>
                <a:r>
                  <a:rPr lang="en-US" altLang="zh-TW" dirty="0"/>
                  <a:t>input of tangent angles</a:t>
                </a:r>
                <a:r>
                  <a:rPr lang="en-US" altLang="zh-TW" dirty="0" smtClean="0"/>
                  <a:t>.</a:t>
                </a:r>
              </a:p>
              <a:p>
                <a:pPr marL="0" indent="0">
                  <a:buNone/>
                </a:pPr>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628650" y="960438"/>
                <a:ext cx="7886700" cy="5897562"/>
              </a:xfrm>
              <a:blipFill rotWithShape="0">
                <a:blip r:embed="rId2"/>
                <a:stretch>
                  <a:fillRect l="-1546" t="-1551" r="-2550"/>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19</a:t>
            </a:fld>
            <a:endParaRPr lang="zh-TW" altLang="en-US"/>
          </a:p>
        </p:txBody>
      </p:sp>
    </p:spTree>
    <p:extLst>
      <p:ext uri="{BB962C8B-B14F-4D97-AF65-F5344CB8AC3E}">
        <p14:creationId xmlns:p14="http://schemas.microsoft.com/office/powerpoint/2010/main" val="14928744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04800"/>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Algorithm Procedure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960438"/>
                <a:ext cx="7886700" cy="5897562"/>
              </a:xfrm>
            </p:spPr>
            <p:txBody>
              <a:bodyPr>
                <a:normAutofit/>
              </a:bodyPr>
              <a:lstStyle/>
              <a:p>
                <a:r>
                  <a:rPr lang="en-US" altLang="zh-TW" dirty="0"/>
                  <a:t>Similarly, matrix </a:t>
                </a:r>
                <a14:m>
                  <m:oMath xmlns:m="http://schemas.openxmlformats.org/officeDocument/2006/math">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𝑇</m:t>
                        </m:r>
                      </m:e>
                      <m:sub>
                        <m:r>
                          <a:rPr lang="en-US" altLang="zh-TW" i="1" dirty="0">
                            <a:latin typeface="Cambria Math" panose="02040503050406030204" pitchFamily="18" charset="0"/>
                          </a:rPr>
                          <m:t>𝑔</m:t>
                        </m:r>
                      </m:sub>
                    </m:sSub>
                  </m:oMath>
                </a14:m>
                <a:r>
                  <a:rPr lang="en-US" altLang="zh-TW" dirty="0"/>
                  <a:t>is decomposed into three vectors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𝑉</m:t>
                        </m:r>
                      </m:e>
                      <m:sub>
                        <m:r>
                          <a:rPr lang="en-US" altLang="zh-TW" i="1">
                            <a:latin typeface="Cambria Math" panose="02040503050406030204" pitchFamily="18" charset="0"/>
                          </a:rPr>
                          <m:t>𝑝𝑟</m:t>
                        </m:r>
                      </m:sub>
                      <m:sup>
                        <m:r>
                          <a:rPr lang="en-US" altLang="zh-TW" i="1">
                            <a:latin typeface="Cambria Math" panose="02040503050406030204" pitchFamily="18" charset="0"/>
                          </a:rPr>
                          <m:t>𝑇</m:t>
                        </m:r>
                      </m:sup>
                    </m:sSubSup>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 </m:t>
                        </m:r>
                        <m:r>
                          <a:rPr lang="en-US" altLang="zh-TW" i="1">
                            <a:latin typeface="Cambria Math" panose="02040503050406030204" pitchFamily="18" charset="0"/>
                          </a:rPr>
                          <m:t>𝑉</m:t>
                        </m:r>
                      </m:e>
                      <m:sub>
                        <m:r>
                          <a:rPr lang="en-US" altLang="zh-TW" i="1">
                            <a:latin typeface="Cambria Math" panose="02040503050406030204" pitchFamily="18" charset="0"/>
                          </a:rPr>
                          <m:t>𝑐</m:t>
                        </m:r>
                      </m:sub>
                      <m:sup>
                        <m:r>
                          <a:rPr lang="en-US" altLang="zh-TW" i="1">
                            <a:latin typeface="Cambria Math" panose="02040503050406030204" pitchFamily="18" charset="0"/>
                          </a:rPr>
                          <m:t>𝑇</m:t>
                        </m:r>
                      </m:sup>
                    </m:sSubSup>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𝑉</m:t>
                        </m:r>
                      </m:e>
                      <m:sub>
                        <m:r>
                          <a:rPr lang="en-US" altLang="zh-TW" i="1">
                            <a:latin typeface="Cambria Math" panose="02040503050406030204" pitchFamily="18" charset="0"/>
                          </a:rPr>
                          <m:t>𝑎</m:t>
                        </m:r>
                      </m:sub>
                      <m:sup>
                        <m:r>
                          <a:rPr lang="en-US" altLang="zh-TW" i="1">
                            <a:latin typeface="Cambria Math" panose="02040503050406030204" pitchFamily="18" charset="0"/>
                          </a:rPr>
                          <m:t>𝑇</m:t>
                        </m:r>
                      </m:sup>
                    </m:sSubSup>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960438"/>
                <a:ext cx="7886700" cy="5897562"/>
              </a:xfrm>
              <a:blipFill rotWithShape="0">
                <a:blip r:embed="rId2"/>
                <a:stretch>
                  <a:fillRect l="-1391" t="-15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20</a:t>
            </a:fld>
            <a:endParaRPr lang="zh-TW" altLang="en-US"/>
          </a:p>
        </p:txBody>
      </p:sp>
    </p:spTree>
    <p:extLst>
      <p:ext uri="{BB962C8B-B14F-4D97-AF65-F5344CB8AC3E}">
        <p14:creationId xmlns:p14="http://schemas.microsoft.com/office/powerpoint/2010/main" val="29202879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1289050" y="2005013"/>
            <a:ext cx="5581650" cy="4552950"/>
          </a:xfrm>
          <a:prstGeom prst="rect">
            <a:avLst/>
          </a:prstGeom>
        </p:spPr>
      </p:pic>
      <p:sp>
        <p:nvSpPr>
          <p:cNvPr id="2" name="標題 1"/>
          <p:cNvSpPr>
            <a:spLocks noGrp="1"/>
          </p:cNvSpPr>
          <p:nvPr>
            <p:ph type="title"/>
          </p:nvPr>
        </p:nvSpPr>
        <p:spPr>
          <a:xfrm>
            <a:off x="628650" y="0"/>
            <a:ext cx="7886700" cy="1325563"/>
          </a:xfrm>
        </p:spPr>
        <p:txBody>
          <a:bodyPr/>
          <a:lstStyle/>
          <a:p>
            <a:pPr algn="ctr"/>
            <a:r>
              <a:rPr lang="en-US" altLang="zh-TW" dirty="0">
                <a:latin typeface="Times New Roman" panose="02020603050405020304" pitchFamily="18" charset="0"/>
                <a:cs typeface="Times New Roman" panose="02020603050405020304" pitchFamily="18" charset="0"/>
              </a:rPr>
              <a:t>Algorithm Procedure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325563"/>
                <a:ext cx="7886700" cy="4351338"/>
              </a:xfrm>
            </p:spPr>
            <p:txBody>
              <a:bodyPr/>
              <a:lstStyle/>
              <a:p>
                <a:r>
                  <a:rPr lang="en-US" altLang="zh-TW" dirty="0"/>
                  <a:t>Dynamic programming is used to create a classical LCS </a:t>
                </a:r>
                <a:r>
                  <a:rPr lang="en-US" altLang="zh-TW" dirty="0" smtClean="0"/>
                  <a:t>table</a:t>
                </a:r>
                <a:r>
                  <a:rPr lang="zh-TW" altLang="en-US" dirty="0" smtClean="0"/>
                  <a:t> </a:t>
                </a:r>
                <a:r>
                  <a:rPr lang="en-US" altLang="zh-TW" dirty="0" smtClean="0"/>
                  <a:t>for </a:t>
                </a:r>
                <a:r>
                  <a:rPr lang="en-US" altLang="zh-TW" dirty="0"/>
                  <a:t>vectors of cluster numbers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 </m:t>
                        </m:r>
                        <m:r>
                          <a:rPr lang="en-US" altLang="zh-TW" i="1">
                            <a:latin typeface="Cambria Math" panose="02040503050406030204" pitchFamily="18" charset="0"/>
                          </a:rPr>
                          <m:t>𝑉</m:t>
                        </m:r>
                      </m:e>
                      <m:sub>
                        <m:r>
                          <a:rPr lang="en-US" altLang="zh-TW" i="1">
                            <a:latin typeface="Cambria Math" panose="02040503050406030204" pitchFamily="18" charset="0"/>
                          </a:rPr>
                          <m:t>𝑐</m:t>
                        </m:r>
                      </m:sub>
                      <m:sup>
                        <m:r>
                          <a:rPr lang="en-US" altLang="zh-TW" i="1">
                            <a:latin typeface="Cambria Math" panose="02040503050406030204" pitchFamily="18" charset="0"/>
                          </a:rPr>
                          <m:t>𝑇</m:t>
                        </m:r>
                      </m:sup>
                    </m:sSubSup>
                  </m:oMath>
                </a14:m>
                <a:r>
                  <a:rPr lang="en-US" altLang="zh-TW" dirty="0" smtClean="0"/>
                  <a:t>and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 </m:t>
                        </m:r>
                        <m:r>
                          <a:rPr lang="en-US" altLang="zh-TW" i="1">
                            <a:latin typeface="Cambria Math" panose="02040503050406030204" pitchFamily="18" charset="0"/>
                          </a:rPr>
                          <m:t>𝑉</m:t>
                        </m:r>
                      </m:e>
                      <m:sub>
                        <m:r>
                          <a:rPr lang="en-US" altLang="zh-TW" i="1">
                            <a:latin typeface="Cambria Math" panose="02040503050406030204" pitchFamily="18" charset="0"/>
                          </a:rPr>
                          <m:t>𝑐</m:t>
                        </m:r>
                      </m:sub>
                      <m:sup>
                        <m:r>
                          <a:rPr lang="en-US" altLang="zh-TW" i="1">
                            <a:latin typeface="Cambria Math" panose="02040503050406030204" pitchFamily="18" charset="0"/>
                          </a:rPr>
                          <m:t>𝑇</m:t>
                        </m:r>
                      </m:sup>
                    </m:sSubSup>
                  </m:oMath>
                </a14:m>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325563"/>
                <a:ext cx="7886700" cy="4351338"/>
              </a:xfrm>
              <a:blipFill rotWithShape="0">
                <a:blip r:embed="rId3"/>
                <a:stretch>
                  <a:fillRect l="-1391"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21</a:t>
            </a:fld>
            <a:endParaRPr lang="zh-TW" altLang="en-US"/>
          </a:p>
        </p:txBody>
      </p:sp>
    </p:spTree>
    <p:extLst>
      <p:ext uri="{BB962C8B-B14F-4D97-AF65-F5344CB8AC3E}">
        <p14:creationId xmlns:p14="http://schemas.microsoft.com/office/powerpoint/2010/main" val="10926307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sz="4000" dirty="0" smtClean="0">
                <a:latin typeface="Times New Roman" panose="02020603050405020304" pitchFamily="18" charset="0"/>
                <a:cs typeface="Times New Roman" panose="02020603050405020304" pitchFamily="18" charset="0"/>
              </a:rPr>
              <a:t>Maximum </a:t>
            </a:r>
            <a:r>
              <a:rPr lang="en-US" altLang="zh-TW" sz="4000" dirty="0">
                <a:latin typeface="Times New Roman" panose="02020603050405020304" pitchFamily="18" charset="0"/>
                <a:cs typeface="Times New Roman" panose="02020603050405020304" pitchFamily="18" charset="0"/>
              </a:rPr>
              <a:t>likelihood </a:t>
            </a:r>
            <a:r>
              <a:rPr lang="en-US" altLang="zh-TW" sz="4000" dirty="0" smtClean="0">
                <a:latin typeface="Times New Roman" panose="02020603050405020304" pitchFamily="18" charset="0"/>
                <a:cs typeface="Times New Roman" panose="02020603050405020304" pitchFamily="18" charset="0"/>
              </a:rPr>
              <a:t>estimation</a:t>
            </a:r>
            <a:br>
              <a:rPr lang="en-US" altLang="zh-TW" sz="4000" dirty="0" smtClean="0">
                <a:latin typeface="Times New Roman" panose="02020603050405020304" pitchFamily="18" charset="0"/>
                <a:cs typeface="Times New Roman" panose="02020603050405020304" pitchFamily="18" charset="0"/>
              </a:rPr>
            </a:br>
            <a:r>
              <a:rPr lang="en-US" altLang="zh-TW" sz="4000" dirty="0" smtClean="0">
                <a:latin typeface="Times New Roman" panose="02020603050405020304" pitchFamily="18" charset="0"/>
                <a:cs typeface="Times New Roman" panose="02020603050405020304" pitchFamily="18" charset="0"/>
              </a:rPr>
              <a:t>(</a:t>
            </a:r>
            <a:r>
              <a:rPr lang="zh-TW" altLang="en-US" sz="4000" dirty="0">
                <a:latin typeface="Times New Roman" panose="02020603050405020304" pitchFamily="18" charset="0"/>
                <a:cs typeface="Times New Roman" panose="02020603050405020304" pitchFamily="18" charset="0"/>
              </a:rPr>
              <a:t>最大似然估計</a:t>
            </a:r>
            <a:r>
              <a:rPr lang="en-US" altLang="zh-TW" sz="4000" dirty="0" smtClean="0">
                <a:latin typeface="Times New Roman" panose="02020603050405020304" pitchFamily="18" charset="0"/>
                <a:cs typeface="Times New Roman" panose="02020603050405020304" pitchFamily="18" charset="0"/>
              </a:rPr>
              <a:t>)</a:t>
            </a:r>
            <a:endParaRPr lang="zh-TW" altLang="en-US" sz="4000"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41499"/>
                <a:ext cx="7886700" cy="4335463"/>
              </a:xfrm>
            </p:spPr>
            <p:txBody>
              <a:bodyPr>
                <a:normAutofit lnSpcReduction="10000"/>
              </a:bodyPr>
              <a:lstStyle/>
              <a:p>
                <a:pPr marL="0" indent="0">
                  <a:buNone/>
                </a:pPr>
                <a:r>
                  <a:rPr lang="en-US" altLang="zh-TW" dirty="0" smtClean="0"/>
                  <a:t>(1) If there exists a set of column numbers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1</m:t>
                        </m:r>
                      </m:sub>
                    </m:sSub>
                  </m:oMath>
                </a14:m>
                <a:r>
                  <a:rPr lang="en-US" altLang="zh-TW" dirty="0" smtClean="0"/>
                  <a:t>, </a:t>
                </a:r>
                <a:r>
                  <a:rPr lang="en-US" altLang="zh-TW" dirty="0"/>
                  <a:t>. . . ,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𝑘</m:t>
                        </m:r>
                      </m:e>
                      <m:sub>
                        <m:r>
                          <a:rPr lang="en-US" altLang="zh-TW" b="0" i="1" smtClean="0">
                            <a:latin typeface="Cambria Math" panose="02040503050406030204" pitchFamily="18" charset="0"/>
                          </a:rPr>
                          <m:t>𝑁</m:t>
                        </m:r>
                      </m:sub>
                    </m:sSub>
                  </m:oMath>
                </a14:m>
                <a:r>
                  <a:rPr lang="en-US" altLang="zh-TW" dirty="0" smtClean="0"/>
                  <a:t> </a:t>
                </a:r>
                <a:r>
                  <a:rPr lang="en-US" altLang="zh-TW" dirty="0"/>
                  <a:t>} ,</a:t>
                </a:r>
              </a:p>
              <a:p>
                <a:pPr marL="0" indent="0">
                  <a:buNone/>
                </a:pPr>
                <a:r>
                  <a:rPr lang="en-US" altLang="zh-TW" dirty="0"/>
                  <a:t>such </a:t>
                </a:r>
                <a:r>
                  <a:rPr lang="en-US" altLang="zh-TW" dirty="0" smtClean="0"/>
                  <a:t>that </a:t>
                </a:r>
                <a14:m>
                  <m:oMath xmlns:m="http://schemas.openxmlformats.org/officeDocument/2006/math">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𝑉</m:t>
                        </m:r>
                      </m:e>
                      <m:sub>
                        <m:r>
                          <a:rPr lang="en-US" altLang="zh-TW" i="1" dirty="0">
                            <a:latin typeface="Cambria Math" panose="02040503050406030204" pitchFamily="18" charset="0"/>
                          </a:rPr>
                          <m:t>𝑎</m:t>
                        </m:r>
                      </m:sub>
                      <m:sup>
                        <m:r>
                          <a:rPr lang="en-US" altLang="zh-TW" i="1" dirty="0">
                            <a:latin typeface="Cambria Math" panose="02040503050406030204" pitchFamily="18" charset="0"/>
                          </a:rPr>
                          <m:t>𝑇</m:t>
                        </m:r>
                      </m:sup>
                    </m:sSubSup>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smtClean="0"/>
                  <a:t>)=</a:t>
                </a:r>
                <a:r>
                  <a:rPr lang="zh-TW" altLang="en-US" dirty="0" smtClean="0"/>
                  <a:t> </a:t>
                </a:r>
                <a:r>
                  <a:rPr lang="en-US" altLang="zh-TW" dirty="0" smtClean="0"/>
                  <a:t>…</a:t>
                </a:r>
                <a:r>
                  <a:rPr lang="zh-TW" altLang="en-US" dirty="0" smtClean="0"/>
                  <a:t> </a:t>
                </a:r>
                <a:r>
                  <a:rPr lang="en-US" altLang="zh-TW" dirty="0" smtClean="0"/>
                  <a:t>=</a:t>
                </a:r>
                <a14:m>
                  <m:oMath xmlns:m="http://schemas.openxmlformats.org/officeDocument/2006/math">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𝑉</m:t>
                        </m:r>
                      </m:e>
                      <m:sub>
                        <m:r>
                          <a:rPr lang="en-US" altLang="zh-TW" i="1" dirty="0">
                            <a:latin typeface="Cambria Math" panose="02040503050406030204" pitchFamily="18" charset="0"/>
                          </a:rPr>
                          <m:t>𝑎</m:t>
                        </m:r>
                      </m:sub>
                      <m:sup>
                        <m:r>
                          <a:rPr lang="en-US" altLang="zh-TW" i="1" dirty="0">
                            <a:latin typeface="Cambria Math" panose="02040503050406030204" pitchFamily="18" charset="0"/>
                          </a:rPr>
                          <m:t>𝑇</m:t>
                        </m:r>
                      </m:sup>
                    </m:sSubSup>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smtClean="0"/>
                  <a:t>)</a:t>
                </a:r>
                <a:r>
                  <a:rPr lang="zh-TW" altLang="en-US" dirty="0" smtClean="0"/>
                  <a:t> </a:t>
                </a:r>
                <a:r>
                  <a:rPr lang="en-US" altLang="zh-TW" dirty="0" smtClean="0"/>
                  <a:t>or</a:t>
                </a:r>
                <a:r>
                  <a:rPr lang="zh-TW" altLang="en-US" dirty="0" smtClean="0"/>
                  <a:t> </a:t>
                </a:r>
                <a:r>
                  <a:rPr lang="en-US" altLang="zh-TW" dirty="0" smtClean="0"/>
                  <a:t> </a:t>
                </a:r>
                <a14:m>
                  <m:oMath xmlns:m="http://schemas.openxmlformats.org/officeDocument/2006/math">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𝑉</m:t>
                        </m:r>
                      </m:e>
                      <m:sub>
                        <m:r>
                          <a:rPr lang="en-US" altLang="zh-TW" i="1" dirty="0">
                            <a:latin typeface="Cambria Math" panose="02040503050406030204" pitchFamily="18" charset="0"/>
                          </a:rPr>
                          <m:t>𝑎</m:t>
                        </m:r>
                      </m:sub>
                      <m:sup>
                        <m:r>
                          <m:rPr>
                            <m:sty m:val="p"/>
                          </m:rPr>
                          <a:rPr lang="en-US" altLang="zh-TW" i="1" dirty="0" smtClean="0">
                            <a:latin typeface="Cambria Math" panose="02040503050406030204" pitchFamily="18" charset="0"/>
                          </a:rPr>
                          <m:t>Q</m:t>
                        </m:r>
                      </m:sup>
                    </m:sSubSup>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smtClean="0"/>
                  <a:t>)=</a:t>
                </a:r>
                <a:r>
                  <a:rPr lang="zh-TW" altLang="en-US" dirty="0" smtClean="0"/>
                  <a:t> </a:t>
                </a:r>
                <a:r>
                  <a:rPr lang="en-US" altLang="zh-TW" dirty="0" smtClean="0"/>
                  <a:t>…</a:t>
                </a:r>
                <a:r>
                  <a:rPr lang="zh-TW" altLang="en-US" dirty="0" smtClean="0"/>
                  <a:t> </a:t>
                </a:r>
                <a:r>
                  <a:rPr lang="en-US" altLang="zh-TW" dirty="0" smtClean="0"/>
                  <a:t>= </a:t>
                </a:r>
                <a14:m>
                  <m:oMath xmlns:m="http://schemas.openxmlformats.org/officeDocument/2006/math">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𝑉</m:t>
                        </m:r>
                      </m:e>
                      <m:sub>
                        <m:r>
                          <a:rPr lang="en-US" altLang="zh-TW" i="1" dirty="0">
                            <a:latin typeface="Cambria Math" panose="02040503050406030204" pitchFamily="18" charset="0"/>
                          </a:rPr>
                          <m:t>𝑎</m:t>
                        </m:r>
                      </m:sub>
                      <m:sup>
                        <m:r>
                          <m:rPr>
                            <m:sty m:val="p"/>
                          </m:rPr>
                          <a:rPr lang="en-US" altLang="zh-TW" i="1" dirty="0" smtClean="0">
                            <a:latin typeface="Cambria Math" panose="02040503050406030204" pitchFamily="18" charset="0"/>
                          </a:rPr>
                          <m:t>Q</m:t>
                        </m:r>
                      </m:sup>
                    </m:sSubSup>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smtClean="0"/>
                  <a:t>)</a:t>
                </a:r>
                <a:endParaRPr lang="en-US" altLang="zh-TW" dirty="0"/>
              </a:p>
              <a:p>
                <a:pPr marL="0" indent="0">
                  <a:buNone/>
                </a:pPr>
                <a:endParaRPr lang="en-US" altLang="zh-TW" dirty="0"/>
              </a:p>
              <a:p>
                <a:pPr marL="0" indent="0">
                  <a:buNone/>
                </a:pPr>
                <a:r>
                  <a:rPr lang="en-US" altLang="zh-TW" dirty="0" smtClean="0"/>
                  <a:t>(2)Then </a:t>
                </a:r>
                <a:r>
                  <a:rPr lang="en-US" altLang="zh-TW" dirty="0"/>
                  <a:t>select a number</a:t>
                </a:r>
                <a:r>
                  <a:rPr lang="en-US" altLang="zh-TW" i="1" dirty="0"/>
                  <a:t> </a:t>
                </a:r>
                <a:r>
                  <a:rPr lang="en-US" altLang="zh-TW" i="1" dirty="0" smtClean="0"/>
                  <a:t>k</a:t>
                </a:r>
                <a:r>
                  <a:rPr lang="en-US" altLang="zh-TW" dirty="0" smtClean="0"/>
                  <a:t>’ from </a:t>
                </a:r>
                <a:r>
                  <a:rPr lang="en-US" altLang="zh-TW" dirty="0"/>
                  <a:t>{</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a:t>, . .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𝑁</m:t>
                        </m:r>
                      </m:sub>
                    </m:sSub>
                  </m:oMath>
                </a14:m>
                <a:r>
                  <a:rPr lang="en-US" altLang="zh-TW" dirty="0"/>
                  <a:t>} </a:t>
                </a:r>
                <a:endParaRPr lang="en-US" altLang="zh-TW" dirty="0" smtClean="0"/>
              </a:p>
              <a:p>
                <a:pPr marL="0" indent="0">
                  <a:buNone/>
                </a:pPr>
                <a:r>
                  <a:rPr lang="en-US" altLang="zh-TW" dirty="0" smtClean="0"/>
                  <a:t>such that</a:t>
                </a:r>
              </a:p>
              <a:p>
                <a:pPr marL="0" indent="0">
                  <a:buNone/>
                </a:pPr>
                <a:r>
                  <a:rPr lang="en-US" altLang="zh-TW" i="1" dirty="0" smtClean="0"/>
                  <a:t> k</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𝑘</m:t>
                        </m:r>
                      </m:e>
                      <m:sub>
                        <m:r>
                          <a:rPr lang="en-US" altLang="zh-TW" b="0" i="1" smtClean="0">
                            <a:latin typeface="Cambria Math" panose="02040503050406030204" pitchFamily="18" charset="0"/>
                          </a:rPr>
                          <m:t>𝑖</m:t>
                        </m:r>
                      </m:sub>
                    </m:sSub>
                  </m:oMath>
                </a14:m>
                <a:r>
                  <a:rPr lang="en-US" altLang="zh-TW" dirty="0" smtClean="0"/>
                  <a:t> , where </a:t>
                </a:r>
                <a:r>
                  <a:rPr lang="en-US" altLang="zh-TW" i="1" dirty="0" err="1" smtClean="0"/>
                  <a:t>i</a:t>
                </a:r>
                <a:r>
                  <a:rPr lang="en-US" altLang="zh-TW" i="1" dirty="0" smtClean="0"/>
                  <a:t> </a:t>
                </a:r>
                <a:r>
                  <a:rPr lang="en-US" altLang="zh-TW" dirty="0" smtClean="0"/>
                  <a:t>= </a:t>
                </a:r>
                <a:r>
                  <a:rPr lang="en-US" altLang="zh-TW" dirty="0" smtClean="0">
                    <a:solidFill>
                      <a:srgbClr val="FF0000"/>
                    </a:solidFill>
                  </a:rPr>
                  <a:t>arg </a:t>
                </a:r>
                <a14:m>
                  <m:oMath xmlns:m="http://schemas.openxmlformats.org/officeDocument/2006/math">
                    <m:sSub>
                      <m:sSubPr>
                        <m:ctrlPr>
                          <a:rPr lang="en-US" altLang="zh-TW" i="1">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𝑚𝑎𝑥</m:t>
                        </m:r>
                      </m:e>
                      <m:sub>
                        <m:r>
                          <a:rPr lang="en-US" altLang="zh-TW" b="0" i="1" smtClean="0">
                            <a:solidFill>
                              <a:srgbClr val="FF0000"/>
                            </a:solidFill>
                            <a:latin typeface="Cambria Math" panose="02040503050406030204" pitchFamily="18" charset="0"/>
                          </a:rPr>
                          <m:t>𝑗</m:t>
                        </m:r>
                      </m:sub>
                    </m:sSub>
                  </m:oMath>
                </a14:m>
                <a:r>
                  <a:rPr lang="en-US" altLang="zh-TW" dirty="0" smtClean="0">
                    <a:solidFill>
                      <a:srgbClr val="FF0000"/>
                    </a:solidFill>
                  </a:rPr>
                  <a:t>{</a:t>
                </a:r>
                <a14:m>
                  <m:oMath xmlns:m="http://schemas.openxmlformats.org/officeDocument/2006/math">
                    <m:sSubSup>
                      <m:sSubSupPr>
                        <m:ctrlPr>
                          <a:rPr lang="en-US" altLang="zh-TW" i="1" dirty="0" smtClean="0">
                            <a:solidFill>
                              <a:srgbClr val="FF0000"/>
                            </a:solidFill>
                            <a:latin typeface="Cambria Math" panose="02040503050406030204" pitchFamily="18" charset="0"/>
                          </a:rPr>
                        </m:ctrlPr>
                      </m:sSubSupPr>
                      <m:e>
                        <m:r>
                          <a:rPr lang="en-US" altLang="zh-TW" b="0" i="1" dirty="0" smtClean="0">
                            <a:solidFill>
                              <a:srgbClr val="FF0000"/>
                            </a:solidFill>
                            <a:latin typeface="Cambria Math" panose="02040503050406030204" pitchFamily="18" charset="0"/>
                          </a:rPr>
                          <m:t>𝑉</m:t>
                        </m:r>
                      </m:e>
                      <m:sub>
                        <m:r>
                          <a:rPr lang="en-US" altLang="zh-TW" b="0" i="1" dirty="0" smtClean="0">
                            <a:solidFill>
                              <a:srgbClr val="FF0000"/>
                            </a:solidFill>
                            <a:latin typeface="Cambria Math" panose="02040503050406030204" pitchFamily="18" charset="0"/>
                          </a:rPr>
                          <m:t>𝑝𝑟</m:t>
                        </m:r>
                      </m:sub>
                      <m:sup>
                        <m:r>
                          <a:rPr lang="en-US" altLang="zh-TW" b="0" i="1" dirty="0" smtClean="0">
                            <a:solidFill>
                              <a:srgbClr val="FF0000"/>
                            </a:solidFill>
                            <a:latin typeface="Cambria Math" panose="02040503050406030204" pitchFamily="18" charset="0"/>
                          </a:rPr>
                          <m:t>𝑇</m:t>
                        </m:r>
                      </m:sup>
                    </m:sSubSup>
                  </m:oMath>
                </a14:m>
                <a:r>
                  <a:rPr lang="en-US" altLang="zh-TW" dirty="0" smtClean="0">
                    <a:solidFill>
                      <a:srgbClr val="FF0000"/>
                    </a:solidFill>
                  </a:rPr>
                  <a:t>(</a:t>
                </a:r>
                <a14:m>
                  <m:oMath xmlns:m="http://schemas.openxmlformats.org/officeDocument/2006/math">
                    <m:sSub>
                      <m:sSubPr>
                        <m:ctrlPr>
                          <a:rPr lang="en-US" altLang="zh-TW" i="1">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𝑘</m:t>
                        </m:r>
                      </m:e>
                      <m:sub>
                        <m:r>
                          <a:rPr lang="en-US" altLang="zh-TW" i="1">
                            <a:solidFill>
                              <a:srgbClr val="FF0000"/>
                            </a:solidFill>
                            <a:latin typeface="Cambria Math" panose="02040503050406030204" pitchFamily="18" charset="0"/>
                          </a:rPr>
                          <m:t>𝑗</m:t>
                        </m:r>
                      </m:sub>
                    </m:sSub>
                  </m:oMath>
                </a14:m>
                <a:r>
                  <a:rPr lang="en-US" altLang="zh-TW" dirty="0" smtClean="0">
                    <a:solidFill>
                      <a:srgbClr val="FF0000"/>
                    </a:solidFill>
                  </a:rPr>
                  <a:t>) * </a:t>
                </a:r>
                <a14:m>
                  <m:oMath xmlns:m="http://schemas.openxmlformats.org/officeDocument/2006/math">
                    <m:sSubSup>
                      <m:sSubSupPr>
                        <m:ctrlPr>
                          <a:rPr lang="en-US" altLang="zh-TW" i="1" dirty="0">
                            <a:solidFill>
                              <a:srgbClr val="FF0000"/>
                            </a:solidFill>
                            <a:latin typeface="Cambria Math" panose="02040503050406030204" pitchFamily="18" charset="0"/>
                          </a:rPr>
                        </m:ctrlPr>
                      </m:sSubSupPr>
                      <m:e>
                        <m:r>
                          <a:rPr lang="en-US" altLang="zh-TW" i="1" dirty="0">
                            <a:solidFill>
                              <a:srgbClr val="FF0000"/>
                            </a:solidFill>
                            <a:latin typeface="Cambria Math" panose="02040503050406030204" pitchFamily="18" charset="0"/>
                          </a:rPr>
                          <m:t>𝑉</m:t>
                        </m:r>
                      </m:e>
                      <m:sub>
                        <m:r>
                          <a:rPr lang="en-US" altLang="zh-TW" i="1" dirty="0">
                            <a:solidFill>
                              <a:srgbClr val="FF0000"/>
                            </a:solidFill>
                            <a:latin typeface="Cambria Math" panose="02040503050406030204" pitchFamily="18" charset="0"/>
                          </a:rPr>
                          <m:t>𝑝𝑟</m:t>
                        </m:r>
                      </m:sub>
                      <m:sup>
                        <m:r>
                          <a:rPr lang="en-US" altLang="zh-TW" b="0" i="1" dirty="0" smtClean="0">
                            <a:solidFill>
                              <a:srgbClr val="FF0000"/>
                            </a:solidFill>
                            <a:latin typeface="Cambria Math" panose="02040503050406030204" pitchFamily="18" charset="0"/>
                          </a:rPr>
                          <m:t>𝑄</m:t>
                        </m:r>
                      </m:sup>
                    </m:sSubSup>
                  </m:oMath>
                </a14:m>
                <a:r>
                  <a:rPr lang="en-US" altLang="zh-TW" dirty="0">
                    <a:solidFill>
                      <a:srgbClr val="FF0000"/>
                    </a:solidFill>
                  </a:rPr>
                  <a:t>(</a:t>
                </a:r>
                <a14:m>
                  <m:oMath xmlns:m="http://schemas.openxmlformats.org/officeDocument/2006/math">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𝑘</m:t>
                        </m:r>
                      </m:e>
                      <m:sub>
                        <m:r>
                          <a:rPr lang="en-US" altLang="zh-TW" i="1">
                            <a:solidFill>
                              <a:srgbClr val="FF0000"/>
                            </a:solidFill>
                            <a:latin typeface="Cambria Math" panose="02040503050406030204" pitchFamily="18" charset="0"/>
                          </a:rPr>
                          <m:t>𝑗</m:t>
                        </m:r>
                      </m:sub>
                    </m:sSub>
                  </m:oMath>
                </a14:m>
                <a:r>
                  <a:rPr lang="en-US" altLang="zh-TW" dirty="0" smtClean="0">
                    <a:solidFill>
                      <a:srgbClr val="FF0000"/>
                    </a:solidFill>
                  </a:rPr>
                  <a:t>)} </a:t>
                </a:r>
                <a:r>
                  <a:rPr lang="en-US" altLang="zh-TW" dirty="0" smtClean="0"/>
                  <a:t>,</a:t>
                </a:r>
                <a:r>
                  <a:rPr lang="en-US" altLang="zh-TW" i="1" dirty="0" smtClean="0"/>
                  <a:t> j </a:t>
                </a:r>
                <a:r>
                  <a:rPr lang="en-US" altLang="zh-TW" dirty="0" smtClean="0"/>
                  <a:t>= 1:N</a:t>
                </a:r>
              </a:p>
              <a:p>
                <a:pPr marL="0" indent="0">
                  <a:buNone/>
                </a:pPr>
                <a:endParaRPr lang="en-US" altLang="zh-TW" dirty="0"/>
              </a:p>
              <a:p>
                <a:pPr marL="0" indent="0">
                  <a:buNone/>
                </a:pPr>
                <a:r>
                  <a:rPr lang="en-US" altLang="zh-TW" dirty="0" smtClean="0"/>
                  <a:t>(3</a:t>
                </a:r>
                <a:r>
                  <a:rPr lang="en-US" altLang="zh-TW" dirty="0"/>
                  <a:t>) Replace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1</m:t>
                        </m:r>
                      </m:sub>
                    </m:sSub>
                  </m:oMath>
                </a14:m>
                <a:r>
                  <a:rPr lang="en-US" altLang="zh-TW" dirty="0"/>
                  <a:t>, . . .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𝑘</m:t>
                        </m:r>
                      </m:e>
                      <m:sub>
                        <m:r>
                          <a:rPr lang="en-US" altLang="zh-TW" i="1">
                            <a:latin typeface="Cambria Math" panose="02040503050406030204" pitchFamily="18" charset="0"/>
                          </a:rPr>
                          <m:t>𝑁</m:t>
                        </m:r>
                      </m:sub>
                    </m:sSub>
                  </m:oMath>
                </a14:m>
                <a:r>
                  <a:rPr lang="en-US" altLang="zh-TW" dirty="0"/>
                  <a:t>) </a:t>
                </a:r>
                <a:r>
                  <a:rPr lang="en-US" altLang="zh-TW" dirty="0" smtClean="0"/>
                  <a:t>with</a:t>
                </a:r>
                <a:r>
                  <a:rPr lang="en-US" altLang="zh-TW" i="1" dirty="0"/>
                  <a:t> k</a:t>
                </a:r>
                <a:r>
                  <a:rPr lang="en-US" altLang="zh-TW" dirty="0"/>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41499"/>
                <a:ext cx="7886700" cy="4335463"/>
              </a:xfrm>
              <a:blipFill rotWithShape="0">
                <a:blip r:embed="rId3"/>
                <a:stretch>
                  <a:fillRect l="-1546" t="-3094" r="-541" b="-98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B9CF4E80-5859-4E39-A40B-ED9B772D8B0F}" type="slidenum">
              <a:rPr lang="zh-TW" altLang="en-US" smtClean="0"/>
              <a:t>22</a:t>
            </a:fld>
            <a:endParaRPr lang="zh-TW" altLang="en-US"/>
          </a:p>
        </p:txBody>
      </p:sp>
    </p:spTree>
    <p:extLst>
      <p:ext uri="{BB962C8B-B14F-4D97-AF65-F5344CB8AC3E}">
        <p14:creationId xmlns:p14="http://schemas.microsoft.com/office/powerpoint/2010/main" val="33301625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9CF4E80-5859-4E39-A40B-ED9B772D8B0F}" type="slidenum">
              <a:rPr lang="zh-TW" altLang="en-US" smtClean="0"/>
              <a:t>23</a:t>
            </a:fld>
            <a:endParaRPr lang="zh-TW" altLang="en-US"/>
          </a:p>
        </p:txBody>
      </p:sp>
      <p:sp>
        <p:nvSpPr>
          <p:cNvPr id="3" name="內容版面配置區 2"/>
          <p:cNvSpPr>
            <a:spLocks noGrp="1"/>
          </p:cNvSpPr>
          <p:nvPr>
            <p:ph idx="1"/>
          </p:nvPr>
        </p:nvSpPr>
        <p:spPr>
          <a:xfrm>
            <a:off x="31750" y="5343525"/>
            <a:ext cx="8483600" cy="1377951"/>
          </a:xfrm>
        </p:spPr>
        <p:txBody>
          <a:bodyPr/>
          <a:lstStyle/>
          <a:p>
            <a:pPr marL="0" indent="0">
              <a:buNone/>
            </a:pPr>
            <a:r>
              <a:rPr lang="en-US" altLang="zh-TW" dirty="0"/>
              <a:t>Image intensities (from 0—black to 1—white) </a:t>
            </a:r>
            <a:endParaRPr lang="en-US" altLang="zh-TW" dirty="0" smtClean="0"/>
          </a:p>
          <a:p>
            <a:pPr marL="0" indent="0">
              <a:buNone/>
            </a:pPr>
            <a:r>
              <a:rPr lang="en-US" altLang="zh-TW" dirty="0" smtClean="0"/>
              <a:t>encode the </a:t>
            </a:r>
            <a:r>
              <a:rPr lang="en-US" altLang="zh-TW" dirty="0"/>
              <a:t>probabilities of the points to belong to the Gaussians.</a:t>
            </a:r>
            <a:endParaRPr lang="zh-TW" altLang="en-US" dirty="0"/>
          </a:p>
        </p:txBody>
      </p:sp>
      <p:pic>
        <p:nvPicPr>
          <p:cNvPr id="7" name="圖片 6"/>
          <p:cNvPicPr>
            <a:picLocks noChangeAspect="1"/>
          </p:cNvPicPr>
          <p:nvPr/>
        </p:nvPicPr>
        <p:blipFill>
          <a:blip r:embed="rId2"/>
          <a:stretch>
            <a:fillRect/>
          </a:stretch>
        </p:blipFill>
        <p:spPr>
          <a:xfrm>
            <a:off x="0" y="738188"/>
            <a:ext cx="9155948" cy="4406899"/>
          </a:xfrm>
          <a:prstGeom prst="rect">
            <a:avLst/>
          </a:prstGeom>
        </p:spPr>
      </p:pic>
    </p:spTree>
    <p:extLst>
      <p:ext uri="{BB962C8B-B14F-4D97-AF65-F5344CB8AC3E}">
        <p14:creationId xmlns:p14="http://schemas.microsoft.com/office/powerpoint/2010/main" val="23727884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https://www.facebook.com/CTimefans/videos/1201113743268157/</a:t>
            </a:r>
            <a:endParaRPr lang="zh-TW" altLang="en-US" dirty="0"/>
          </a:p>
        </p:txBody>
      </p:sp>
      <p:sp>
        <p:nvSpPr>
          <p:cNvPr id="4" name="投影片編號版面配置區 3"/>
          <p:cNvSpPr>
            <a:spLocks noGrp="1"/>
          </p:cNvSpPr>
          <p:nvPr>
            <p:ph type="sldNum" sz="quarter" idx="12"/>
          </p:nvPr>
        </p:nvSpPr>
        <p:spPr/>
        <p:txBody>
          <a:bodyPr/>
          <a:lstStyle/>
          <a:p>
            <a:fld id="{B9CF4E80-5859-4E39-A40B-ED9B772D8B0F}" type="slidenum">
              <a:rPr lang="zh-TW" altLang="en-US" smtClean="0"/>
              <a:t>24</a:t>
            </a:fld>
            <a:endParaRPr lang="zh-TW" altLang="en-US"/>
          </a:p>
        </p:txBody>
      </p:sp>
    </p:spTree>
    <p:extLst>
      <p:ext uri="{BB962C8B-B14F-4D97-AF65-F5344CB8AC3E}">
        <p14:creationId xmlns:p14="http://schemas.microsoft.com/office/powerpoint/2010/main" val="919274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12965</TotalTime>
  <Words>321</Words>
  <Application>Microsoft Office PowerPoint</Application>
  <PresentationFormat>如螢幕大小 (4:3)</PresentationFormat>
  <Paragraphs>131</Paragraphs>
  <Slides>24</Slides>
  <Notes>4</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24</vt:i4>
      </vt:variant>
    </vt:vector>
  </HeadingPairs>
  <TitlesOfParts>
    <vt:vector size="31" baseType="lpstr">
      <vt:lpstr>新細明體</vt:lpstr>
      <vt:lpstr>Arial</vt:lpstr>
      <vt:lpstr>Calibri</vt:lpstr>
      <vt:lpstr>Calibri Light</vt:lpstr>
      <vt:lpstr>Cambria Math</vt:lpstr>
      <vt:lpstr>Times New Roman</vt:lpstr>
      <vt:lpstr>Office 佈景主題</vt:lpstr>
      <vt:lpstr>Most Probable Longest Common Subsequence for Recognition of Gesture Character Input</vt:lpstr>
      <vt:lpstr>Abstract(1/2)</vt:lpstr>
      <vt:lpstr>Abstract(2/2)</vt:lpstr>
      <vt:lpstr>PowerPoint 簡報</vt:lpstr>
      <vt:lpstr>PowerPoint 簡報</vt:lpstr>
      <vt:lpstr>OFFLINE DYNAMIC GESTURE TRAINING</vt:lpstr>
      <vt:lpstr>OFFLINE DYNAMIC GESTURE TRAINING</vt:lpstr>
      <vt:lpstr>OFFLINE DYNAMIC GESTURE TRAINING</vt:lpstr>
      <vt:lpstr>PowerPoint 簡報</vt:lpstr>
      <vt:lpstr>OFFLINE DYNAMIC GESTURE TRAINING</vt:lpstr>
      <vt:lpstr>GMM (Gaussian Mixture Model)  </vt:lpstr>
      <vt:lpstr>GMM (Gaussian Mixture Model)  </vt:lpstr>
      <vt:lpstr>GMM (Gaussian Mixture Model)</vt:lpstr>
      <vt:lpstr>PowerPoint 簡報</vt:lpstr>
      <vt:lpstr>Template creation</vt:lpstr>
      <vt:lpstr>Template creation</vt:lpstr>
      <vt:lpstr>On-line recognition</vt:lpstr>
      <vt:lpstr>PowerPoint 簡報</vt:lpstr>
      <vt:lpstr>Algorithm Procedure</vt:lpstr>
      <vt:lpstr>Algorithm Procedure</vt:lpstr>
      <vt:lpstr>Algorithm Procedure</vt:lpstr>
      <vt:lpstr>Maximum likelihood estimation (最大似然估計)</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Association Rules in Big Data for E-healthcare Information System</dc:title>
  <dc:creator>muchmuch</dc:creator>
  <cp:lastModifiedBy>pplab-class</cp:lastModifiedBy>
  <cp:revision>197</cp:revision>
  <dcterms:created xsi:type="dcterms:W3CDTF">2016-04-23T07:31:56Z</dcterms:created>
  <dcterms:modified xsi:type="dcterms:W3CDTF">2016-08-30T08:05:26Z</dcterms:modified>
</cp:coreProperties>
</file>