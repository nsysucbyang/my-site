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62" r:id="rId6"/>
    <p:sldId id="263" r:id="rId7"/>
    <p:sldId id="264" r:id="rId8"/>
    <p:sldId id="265" r:id="rId9"/>
    <p:sldId id="266" r:id="rId10"/>
    <p:sldId id="267" r:id="rId11"/>
    <p:sldId id="268" r:id="rId12"/>
    <p:sldId id="270" r:id="rId13"/>
    <p:sldId id="271" r:id="rId14"/>
    <p:sldId id="272" r:id="rId15"/>
    <p:sldId id="273" r:id="rId16"/>
    <p:sldId id="276" r:id="rId17"/>
    <p:sldId id="277" r:id="rId18"/>
    <p:sldId id="275" r:id="rId19"/>
    <p:sldId id="269"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2" d="100"/>
          <a:sy n="92" d="100"/>
        </p:scale>
        <p:origin x="66"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03D91399-5D5A-4359-9239-9BAEB37CF79A}" type="datetimeFigureOut">
              <a:rPr lang="zh-TW" altLang="en-US" smtClean="0"/>
              <a:t>2016/8/30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1308097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3D91399-5D5A-4359-9239-9BAEB37CF79A}" type="datetimeFigureOut">
              <a:rPr lang="zh-TW" altLang="en-US" smtClean="0"/>
              <a:t>2016/8/30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3756297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03D91399-5D5A-4359-9239-9BAEB37CF79A}" type="datetimeFigureOut">
              <a:rPr lang="zh-TW" altLang="en-US" smtClean="0"/>
              <a:t>2016/8/30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1391872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03D91399-5D5A-4359-9239-9BAEB37CF79A}" type="datetimeFigureOut">
              <a:rPr lang="zh-TW" altLang="en-US" smtClean="0"/>
              <a:t>2016/8/30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2205464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03D91399-5D5A-4359-9239-9BAEB37CF79A}" type="datetimeFigureOut">
              <a:rPr lang="zh-TW" altLang="en-US" smtClean="0"/>
              <a:t>2016/8/30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1583324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03D91399-5D5A-4359-9239-9BAEB37CF79A}" type="datetimeFigureOut">
              <a:rPr lang="zh-TW" altLang="en-US" smtClean="0"/>
              <a:t>2016/8/30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1244721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3D91399-5D5A-4359-9239-9BAEB37CF79A}" type="datetimeFigureOut">
              <a:rPr lang="zh-TW" altLang="en-US" smtClean="0"/>
              <a:t>2016/8/30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2194317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03D91399-5D5A-4359-9239-9BAEB37CF79A}" type="datetimeFigureOut">
              <a:rPr lang="zh-TW" altLang="en-US" smtClean="0"/>
              <a:t>2016/8/30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1938413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03D91399-5D5A-4359-9239-9BAEB37CF79A}" type="datetimeFigureOut">
              <a:rPr lang="zh-TW" altLang="en-US" smtClean="0"/>
              <a:t>2016/8/30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1233247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3D91399-5D5A-4359-9239-9BAEB37CF79A}" type="datetimeFigureOut">
              <a:rPr lang="zh-TW" altLang="en-US" smtClean="0"/>
              <a:t>2016/8/30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2923396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3D91399-5D5A-4359-9239-9BAEB37CF79A}" type="datetimeFigureOut">
              <a:rPr lang="zh-TW" altLang="en-US" smtClean="0"/>
              <a:t>2016/8/30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897629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D91399-5D5A-4359-9239-9BAEB37CF79A}" type="datetimeFigureOut">
              <a:rPr lang="zh-TW" altLang="en-US" smtClean="0"/>
              <a:t>2016/8/30</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0C2658-3DD1-4930-A8B2-E95875717617}" type="slidenum">
              <a:rPr lang="zh-TW" altLang="en-US" smtClean="0"/>
              <a:t>‹#›</a:t>
            </a:fld>
            <a:endParaRPr lang="zh-TW" altLang="en-US"/>
          </a:p>
        </p:txBody>
      </p:sp>
    </p:spTree>
    <p:extLst>
      <p:ext uri="{BB962C8B-B14F-4D97-AF65-F5344CB8AC3E}">
        <p14:creationId xmlns:p14="http://schemas.microsoft.com/office/powerpoint/2010/main" val="3372172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0.png"/><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a:latin typeface="Cambria Math" panose="02040503050406030204" pitchFamily="18" charset="0"/>
                <a:ea typeface="Cambria Math" panose="02040503050406030204" pitchFamily="18" charset="0"/>
              </a:rPr>
              <a:t>A Comparative Study on Feature Selection in Text Categorization</a:t>
            </a:r>
            <a:endParaRPr lang="zh-TW" altLang="en-US" dirty="0"/>
          </a:p>
        </p:txBody>
      </p:sp>
      <p:sp>
        <p:nvSpPr>
          <p:cNvPr id="3" name="副標題 2"/>
          <p:cNvSpPr>
            <a:spLocks noGrp="1"/>
          </p:cNvSpPr>
          <p:nvPr>
            <p:ph type="subTitle" idx="1"/>
          </p:nvPr>
        </p:nvSpPr>
        <p:spPr/>
        <p:txBody>
          <a:bodyPr>
            <a:normAutofit fontScale="70000" lnSpcReduction="20000"/>
          </a:bodyPr>
          <a:lstStyle/>
          <a:p>
            <a:r>
              <a:rPr lang="en-GB" altLang="zh-TW" sz="4300" b="1" dirty="0" err="1">
                <a:solidFill>
                  <a:srgbClr val="898989"/>
                </a:solidFill>
                <a:latin typeface="Liberation Sans Narrow" pitchFamily="34"/>
                <a:ea typeface="新細明體" pitchFamily="2"/>
              </a:rPr>
              <a:t>Yiming</a:t>
            </a:r>
            <a:r>
              <a:rPr lang="en-GB" altLang="zh-TW" sz="4300" b="1" dirty="0">
                <a:solidFill>
                  <a:srgbClr val="898989"/>
                </a:solidFill>
                <a:latin typeface="Liberation Sans Narrow" pitchFamily="34"/>
                <a:ea typeface="新細明體" pitchFamily="2"/>
              </a:rPr>
              <a:t> Yang and J. Pedersen</a:t>
            </a:r>
          </a:p>
          <a:p>
            <a:r>
              <a:rPr lang="en-US" altLang="zh-TW" sz="4300" b="1" dirty="0">
                <a:solidFill>
                  <a:srgbClr val="898989"/>
                </a:solidFill>
                <a:latin typeface="Liberation Sans Narrow" pitchFamily="34"/>
                <a:ea typeface="新細明體" pitchFamily="2"/>
              </a:rPr>
              <a:t>Proceedings of the International Conference on Machine</a:t>
            </a:r>
          </a:p>
          <a:p>
            <a:r>
              <a:rPr lang="en-US" altLang="zh-TW" sz="4300" b="1" dirty="0">
                <a:solidFill>
                  <a:srgbClr val="898989"/>
                </a:solidFill>
                <a:latin typeface="Liberation Sans Narrow" pitchFamily="34"/>
                <a:ea typeface="新細明體" pitchFamily="2"/>
              </a:rPr>
              <a:t>Learning (ICML’97), 1997, pp. 412-420.</a:t>
            </a:r>
            <a:endParaRPr lang="en-GB" altLang="zh-TW" sz="4300" b="1" dirty="0">
              <a:solidFill>
                <a:srgbClr val="898989"/>
              </a:solidFill>
              <a:latin typeface="Liberation Sans Narrow" pitchFamily="34"/>
              <a:ea typeface="新細明體" pitchFamily="2"/>
            </a:endParaRPr>
          </a:p>
        </p:txBody>
      </p:sp>
      <p:sp>
        <p:nvSpPr>
          <p:cNvPr id="4" name="文字版面配置區 3"/>
          <p:cNvSpPr txBox="1">
            <a:spLocks/>
          </p:cNvSpPr>
          <p:nvPr/>
        </p:nvSpPr>
        <p:spPr>
          <a:xfrm>
            <a:off x="2162522" y="4515041"/>
            <a:ext cx="8229630" cy="189713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r" hangingPunct="0">
              <a:spcBef>
                <a:spcPts val="1284"/>
              </a:spcBef>
              <a:buFont typeface="Arial" panose="020B0604020202020204" pitchFamily="34" charset="0"/>
              <a:buNone/>
            </a:pPr>
            <a:endParaRPr lang="en-US" sz="2903" dirty="0">
              <a:highlight>
                <a:scrgbClr r="0" g="0" b="0">
                  <a:alpha val="0"/>
                </a:scrgbClr>
              </a:highlight>
              <a:latin typeface="Liberation Sans" pitchFamily="18"/>
              <a:ea typeface="微軟正黑體" pitchFamily="2"/>
              <a:cs typeface="Mangal" pitchFamily="2"/>
            </a:endParaRPr>
          </a:p>
          <a:p>
            <a:pPr lvl="1" algn="r" hangingPunct="0">
              <a:spcBef>
                <a:spcPts val="1284"/>
              </a:spcBef>
              <a:buFont typeface="Arial" panose="020B0604020202020204" pitchFamily="34" charset="0"/>
              <a:buNone/>
            </a:pPr>
            <a:endParaRPr lang="en-US" sz="2903" dirty="0">
              <a:highlight>
                <a:scrgbClr r="0" g="0" b="0">
                  <a:alpha val="0"/>
                </a:scrgbClr>
              </a:highlight>
              <a:latin typeface="Liberation Sans" pitchFamily="18"/>
              <a:ea typeface="微軟正黑體" pitchFamily="2"/>
              <a:cs typeface="Mangal" pitchFamily="2"/>
            </a:endParaRPr>
          </a:p>
          <a:p>
            <a:pPr lvl="1" algn="r" hangingPunct="0">
              <a:spcBef>
                <a:spcPts val="1284"/>
              </a:spcBef>
              <a:buFont typeface="Arial" panose="020B0604020202020204" pitchFamily="34" charset="0"/>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dirty="0">
                <a:highlight>
                  <a:scrgbClr r="0" g="0" b="0">
                    <a:alpha val="0"/>
                  </a:scrgbClr>
                </a:highlight>
                <a:latin typeface="Liberation Sans Narrow" pitchFamily="34"/>
                <a:ea typeface="微軟正黑體" pitchFamily="34"/>
                <a:cs typeface="Mangal" pitchFamily="2"/>
              </a:rPr>
              <a:t>Jyun-Hao Lai</a:t>
            </a:r>
          </a:p>
          <a:p>
            <a:pPr lvl="1" algn="r" hangingPunct="0">
              <a:spcBef>
                <a:spcPts val="1284"/>
              </a:spcBef>
              <a:buFont typeface="Arial" panose="020B0604020202020204" pitchFamily="34" charset="0"/>
              <a:buNone/>
            </a:pPr>
            <a:r>
              <a:rPr lang="en-US" dirty="0">
                <a:highlight>
                  <a:scrgbClr r="0" g="0" b="0">
                    <a:alpha val="0"/>
                  </a:scrgbClr>
                </a:highlight>
                <a:latin typeface="Liberation Sans Narrow" pitchFamily="34"/>
                <a:ea typeface="微軟正黑體" pitchFamily="34"/>
                <a:cs typeface="Mangal" pitchFamily="2"/>
              </a:rPr>
              <a:t>Date</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2016</a:t>
            </a:r>
            <a:r>
              <a:rPr lang="en-US" dirty="0">
                <a:highlight>
                  <a:scrgbClr r="0" g="0" b="0">
                    <a:alpha val="0"/>
                  </a:scrgbClr>
                </a:highlight>
                <a:latin typeface="Liberation Sans Narrow" pitchFamily="34"/>
                <a:ea typeface="微軟正黑體" pitchFamily="34"/>
                <a:cs typeface="Mangal" pitchFamily="2"/>
              </a:rPr>
              <a:t> / 08 / </a:t>
            </a:r>
            <a:r>
              <a:rPr lang="en-US" dirty="0" smtClean="0">
                <a:highlight>
                  <a:scrgbClr r="0" g="0" b="0">
                    <a:alpha val="0"/>
                  </a:scrgbClr>
                </a:highlight>
                <a:latin typeface="Liberation Sans Narrow" pitchFamily="34"/>
                <a:ea typeface="微軟正黑體" pitchFamily="34"/>
                <a:cs typeface="Mangal" pitchFamily="2"/>
              </a:rPr>
              <a:t>30</a:t>
            </a:r>
            <a:endParaRPr lang="en-US" dirty="0">
              <a:highlight>
                <a:scrgbClr r="0" g="0" b="0">
                  <a:alpha val="0"/>
                </a:scrgbClr>
              </a:highlight>
              <a:latin typeface="Liberation Sans Narrow" pitchFamily="34"/>
              <a:ea typeface="微軟正黑體" pitchFamily="34"/>
              <a:cs typeface="Mangal" pitchFamily="2"/>
            </a:endParaRPr>
          </a:p>
        </p:txBody>
      </p:sp>
    </p:spTree>
    <p:extLst>
      <p:ext uri="{BB962C8B-B14F-4D97-AF65-F5344CB8AC3E}">
        <p14:creationId xmlns:p14="http://schemas.microsoft.com/office/powerpoint/2010/main" val="20304285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09560" y="183892"/>
            <a:ext cx="10515600" cy="1325563"/>
          </a:xfrm>
        </p:spPr>
        <p:txBody>
          <a:bodyPr/>
          <a:lstStyle/>
          <a:p>
            <a:r>
              <a:rPr lang="en-US" altLang="zh-TW" b="1" dirty="0"/>
              <a:t>Abstract</a:t>
            </a:r>
            <a:endParaRPr lang="zh-TW" altLang="en-US" dirty="0"/>
          </a:p>
        </p:txBody>
      </p:sp>
      <p:sp>
        <p:nvSpPr>
          <p:cNvPr id="3" name="內容版面配置區 2"/>
          <p:cNvSpPr>
            <a:spLocks noGrp="1"/>
          </p:cNvSpPr>
          <p:nvPr>
            <p:ph idx="1"/>
          </p:nvPr>
        </p:nvSpPr>
        <p:spPr>
          <a:xfrm>
            <a:off x="609560" y="1228166"/>
            <a:ext cx="10971688" cy="5535100"/>
          </a:xfrm>
        </p:spPr>
        <p:txBody>
          <a:bodyPr>
            <a:normAutofit lnSpcReduction="10000"/>
          </a:bodyPr>
          <a:lstStyle/>
          <a:p>
            <a:pPr marL="0" indent="0">
              <a:buNone/>
            </a:pPr>
            <a:r>
              <a:rPr lang="en-US" altLang="zh-TW" sz="2700" dirty="0">
                <a:latin typeface="Cambria Math" panose="02040503050406030204" pitchFamily="18" charset="0"/>
              </a:rPr>
              <a:t>This paper is a comparative study of feature </a:t>
            </a:r>
            <a:r>
              <a:rPr lang="en-US" altLang="zh-TW" sz="2700" dirty="0" err="1">
                <a:latin typeface="Cambria Math" panose="02040503050406030204" pitchFamily="18" charset="0"/>
              </a:rPr>
              <a:t>seleciotn</a:t>
            </a:r>
            <a:r>
              <a:rPr lang="en-US" altLang="zh-TW" sz="2700" dirty="0">
                <a:latin typeface="Cambria Math" panose="02040503050406030204" pitchFamily="18" charset="0"/>
              </a:rPr>
              <a:t> methods in statistical </a:t>
            </a:r>
            <a:r>
              <a:rPr lang="en-US" altLang="zh-TW" sz="2700" dirty="0"/>
              <a:t>learning of text categorization. The focus is on aggressive dimensionality reduction. Five methods were evaluated, including term selection based on document frequency (DF), information gain (IG), mutual information (MI), a Chi-squared test (CHI),  and term strength (TS). We found IG and CHI most effective in our experiments. Using IG thresholding with a k-nearest neighbor classifier on the Reuters corpus, removal of up to 98% removal of unique terms actually yielded an improved classification accuracy. DF thresholding, the simplest method with the lowest cost in computation, can be reliably used instead of IG or CHI when the computation of these measures are too expensive. TS compares favorably with the other methods with up to 50% vocabulary reduction but is not competitive at higher vocabulary reduction levels. In contrast, MI had relatively poor performance due to its bias towards favoring rare terms, and its sensitivity to probability estimation errors. </a:t>
            </a:r>
            <a:endParaRPr lang="zh-TW" altLang="en-US" sz="2700" dirty="0"/>
          </a:p>
        </p:txBody>
      </p:sp>
    </p:spTree>
    <p:extLst>
      <p:ext uri="{BB962C8B-B14F-4D97-AF65-F5344CB8AC3E}">
        <p14:creationId xmlns:p14="http://schemas.microsoft.com/office/powerpoint/2010/main" val="1312713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a:t>Introduction</a:t>
            </a:r>
            <a:r>
              <a:rPr lang="zh-TW" altLang="zh-TW" b="1" dirty="0"/>
              <a:t>：</a:t>
            </a:r>
            <a:endParaRPr lang="zh-TW" altLang="en-US" b="1" dirty="0"/>
          </a:p>
        </p:txBody>
      </p:sp>
      <p:sp>
        <p:nvSpPr>
          <p:cNvPr id="4" name="文字方塊 3"/>
          <p:cNvSpPr txBox="1"/>
          <p:nvPr/>
        </p:nvSpPr>
        <p:spPr>
          <a:xfrm>
            <a:off x="838200" y="3855486"/>
            <a:ext cx="10649069" cy="830997"/>
          </a:xfrm>
          <a:prstGeom prst="rect">
            <a:avLst/>
          </a:prstGeom>
          <a:noFill/>
        </p:spPr>
        <p:txBody>
          <a:bodyPr wrap="none" rtlCol="0">
            <a:spAutoFit/>
          </a:bodyPr>
          <a:lstStyle/>
          <a:p>
            <a:r>
              <a:rPr lang="zh-TW" altLang="en-US" sz="2400" dirty="0">
                <a:latin typeface="微軟正黑體" panose="020B0604030504040204" pitchFamily="34" charset="-120"/>
                <a:ea typeface="微軟正黑體" panose="020B0604030504040204" pitchFamily="34" charset="-120"/>
              </a:rPr>
              <a:t>文件的分類，其成效是依據訓練文件中的對應而來，若對應的關係無法從內容</a:t>
            </a:r>
            <a:endParaRPr lang="en-US" altLang="zh-TW" sz="2400" dirty="0">
              <a:latin typeface="微軟正黑體" panose="020B0604030504040204" pitchFamily="34" charset="-120"/>
              <a:ea typeface="微軟正黑體" panose="020B0604030504040204" pitchFamily="34" charset="-120"/>
            </a:endParaRPr>
          </a:p>
          <a:p>
            <a:r>
              <a:rPr lang="zh-TW" altLang="en-US" sz="2400" dirty="0">
                <a:latin typeface="微軟正黑體" panose="020B0604030504040204" pitchFamily="34" charset="-120"/>
                <a:ea typeface="微軟正黑體" panose="020B0604030504040204" pitchFamily="34" charset="-120"/>
              </a:rPr>
              <a:t>得到，那麼文件分類的效果就有限。</a:t>
            </a:r>
          </a:p>
        </p:txBody>
      </p:sp>
      <p:sp>
        <p:nvSpPr>
          <p:cNvPr id="5" name="文字方塊 4"/>
          <p:cNvSpPr txBox="1"/>
          <p:nvPr/>
        </p:nvSpPr>
        <p:spPr>
          <a:xfrm>
            <a:off x="838200" y="2865420"/>
            <a:ext cx="9014006" cy="646331"/>
          </a:xfrm>
          <a:prstGeom prst="rect">
            <a:avLst/>
          </a:prstGeom>
          <a:noFill/>
        </p:spPr>
        <p:txBody>
          <a:bodyPr wrap="none" rtlCol="0">
            <a:spAutoFit/>
          </a:bodyPr>
          <a:lstStyle/>
          <a:p>
            <a:r>
              <a:rPr lang="en-US" altLang="zh-TW" dirty="0">
                <a:latin typeface="微軟正黑體" panose="020B0604030504040204" pitchFamily="34" charset="-120"/>
                <a:ea typeface="微軟正黑體" panose="020B0604030504040204" pitchFamily="34" charset="-120"/>
              </a:rPr>
              <a:t>Example</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
            </a:r>
            <a:br>
              <a:rPr lang="en-US" altLang="zh-TW" dirty="0">
                <a:latin typeface="微軟正黑體" panose="020B0604030504040204" pitchFamily="34" charset="-120"/>
                <a:ea typeface="微軟正黑體" panose="020B0604030504040204" pitchFamily="34" charset="-120"/>
              </a:rPr>
            </a:br>
            <a:r>
              <a:rPr lang="zh-TW" altLang="en-US" dirty="0">
                <a:latin typeface="微軟正黑體" panose="020B0604030504040204" pitchFamily="34" charset="-120"/>
                <a:ea typeface="微軟正黑體" panose="020B0604030504040204" pitchFamily="34" charset="-120"/>
              </a:rPr>
              <a:t>新聞文件可按其報導的內容，給予「政治」、「外交」、「娛樂」、 「運動」等類別。</a:t>
            </a:r>
            <a:endParaRPr lang="en-US" altLang="zh-TW" dirty="0">
              <a:latin typeface="微軟正黑體" panose="020B0604030504040204" pitchFamily="34" charset="-120"/>
              <a:ea typeface="微軟正黑體" panose="020B0604030504040204" pitchFamily="34" charset="-120"/>
            </a:endParaRPr>
          </a:p>
        </p:txBody>
      </p:sp>
      <p:sp>
        <p:nvSpPr>
          <p:cNvPr id="7" name="文字方塊 6"/>
          <p:cNvSpPr txBox="1"/>
          <p:nvPr/>
        </p:nvSpPr>
        <p:spPr>
          <a:xfrm>
            <a:off x="838200" y="5273642"/>
            <a:ext cx="11033790" cy="923330"/>
          </a:xfrm>
          <a:prstGeom prst="rect">
            <a:avLst/>
          </a:prstGeom>
          <a:noFill/>
        </p:spPr>
        <p:txBody>
          <a:bodyPr wrap="none" rtlCol="0">
            <a:spAutoFit/>
          </a:bodyPr>
          <a:lstStyle/>
          <a:p>
            <a:r>
              <a:rPr lang="en-US" altLang="zh-TW" dirty="0">
                <a:latin typeface="微軟正黑體" panose="020B0604030504040204" pitchFamily="34" charset="-120"/>
                <a:ea typeface="微軟正黑體" panose="020B0604030504040204" pitchFamily="34" charset="-120"/>
              </a:rPr>
              <a:t>Example</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
            </a:r>
            <a:br>
              <a:rPr lang="en-US" altLang="zh-TW" dirty="0">
                <a:latin typeface="微軟正黑體" panose="020B0604030504040204" pitchFamily="34" charset="-120"/>
                <a:ea typeface="微軟正黑體" panose="020B0604030504040204" pitchFamily="34" charset="-120"/>
              </a:rPr>
            </a:br>
            <a:r>
              <a:rPr lang="zh-TW" altLang="en-US" dirty="0">
                <a:latin typeface="微軟正黑體" panose="020B0604030504040204" pitchFamily="34" charset="-120"/>
                <a:ea typeface="微軟正黑體" panose="020B0604030504040204" pitchFamily="34" charset="-120"/>
              </a:rPr>
              <a:t>把最近一星期的電子郵件分成「待處理郵件」、「不需處理郵件」。</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這個牽涉到收件者與寄件者的</a:t>
            </a:r>
            <a:r>
              <a:rPr lang="zh-TW" altLang="en-US" dirty="0">
                <a:solidFill>
                  <a:srgbClr val="FF0000"/>
                </a:solidFill>
                <a:latin typeface="微軟正黑體" panose="020B0604030504040204" pitchFamily="34" charset="-120"/>
                <a:ea typeface="微軟正黑體" panose="020B0604030504040204" pitchFamily="34" charset="-120"/>
              </a:rPr>
              <a:t>互動關係</a:t>
            </a:r>
            <a:r>
              <a:rPr lang="zh-TW" altLang="en-US" dirty="0">
                <a:latin typeface="微軟正黑體" panose="020B0604030504040204" pitchFamily="34" charset="-120"/>
                <a:ea typeface="微軟正黑體" panose="020B0604030504040204" pitchFamily="34" charset="-120"/>
              </a:rPr>
              <a:t>等「外部知識」，不好從文件內容獲得，因此難以保證分類的效果。</a:t>
            </a:r>
            <a:endParaRPr lang="en-US" altLang="zh-TW" dirty="0">
              <a:latin typeface="微軟正黑體" panose="020B0604030504040204" pitchFamily="34" charset="-120"/>
              <a:ea typeface="微軟正黑體" panose="020B0604030504040204" pitchFamily="34" charset="-120"/>
            </a:endParaRPr>
          </a:p>
        </p:txBody>
      </p:sp>
      <p:sp>
        <p:nvSpPr>
          <p:cNvPr id="9" name="文字方塊 8"/>
          <p:cNvSpPr txBox="1"/>
          <p:nvPr/>
        </p:nvSpPr>
        <p:spPr>
          <a:xfrm>
            <a:off x="838200" y="1690688"/>
            <a:ext cx="11241947" cy="830997"/>
          </a:xfrm>
          <a:prstGeom prst="rect">
            <a:avLst/>
          </a:prstGeom>
          <a:noFill/>
        </p:spPr>
        <p:txBody>
          <a:bodyPr wrap="square" rtlCol="0">
            <a:spAutoFit/>
          </a:bodyPr>
          <a:lstStyle/>
          <a:p>
            <a:r>
              <a:rPr lang="zh-TW" altLang="en-US" sz="2400" dirty="0">
                <a:latin typeface="微軟正黑體" panose="020B0604030504040204" pitchFamily="34" charset="-120"/>
                <a:ea typeface="微軟正黑體" panose="020B0604030504040204" pitchFamily="34" charset="-120"/>
              </a:rPr>
              <a:t>文件分類（</a:t>
            </a:r>
            <a:r>
              <a:rPr lang="en-US" altLang="zh-TW" sz="2400" dirty="0">
                <a:latin typeface="微軟正黑體" panose="020B0604030504040204" pitchFamily="34" charset="-120"/>
                <a:ea typeface="微軟正黑體" panose="020B0604030504040204" pitchFamily="34" charset="-120"/>
              </a:rPr>
              <a:t>document classification or text categorization</a:t>
            </a:r>
            <a:r>
              <a:rPr lang="zh-TW" altLang="en-US" sz="2400" dirty="0">
                <a:latin typeface="微軟正黑體" panose="020B0604030504040204" pitchFamily="34" charset="-120"/>
                <a:ea typeface="微軟正黑體" panose="020B0604030504040204" pitchFamily="34" charset="-120"/>
              </a:rPr>
              <a:t>）是指依</a:t>
            </a:r>
            <a:r>
              <a:rPr lang="zh-TW" altLang="en-US" sz="2400" dirty="0">
                <a:solidFill>
                  <a:srgbClr val="FF0000"/>
                </a:solidFill>
                <a:latin typeface="微軟正黑體" panose="020B0604030504040204" pitchFamily="34" charset="-120"/>
                <a:ea typeface="微軟正黑體" panose="020B0604030504040204" pitchFamily="34" charset="-120"/>
              </a:rPr>
              <a:t>文件內容</a:t>
            </a:r>
            <a:r>
              <a:rPr lang="zh-TW" altLang="en-US" sz="2400" dirty="0">
                <a:latin typeface="微軟正黑體" panose="020B0604030504040204" pitchFamily="34" charset="-120"/>
                <a:ea typeface="微軟正黑體" panose="020B0604030504040204" pitchFamily="34" charset="-120"/>
              </a:rPr>
              <a:t>給定「類別」（</a:t>
            </a:r>
            <a:r>
              <a:rPr lang="en-US" altLang="zh-TW" sz="2400" dirty="0">
                <a:latin typeface="微軟正黑體" panose="020B0604030504040204" pitchFamily="34" charset="-120"/>
                <a:ea typeface="微軟正黑體" panose="020B0604030504040204" pitchFamily="34" charset="-120"/>
              </a:rPr>
              <a:t>class </a:t>
            </a:r>
            <a:r>
              <a:rPr lang="zh-TW" altLang="en-US" sz="2400" dirty="0">
                <a:latin typeface="微軟正黑體" panose="020B0604030504040204" pitchFamily="34" charset="-120"/>
                <a:ea typeface="微軟正黑體" panose="020B0604030504040204" pitchFamily="34" charset="-120"/>
              </a:rPr>
              <a:t>）的意思。</a:t>
            </a:r>
          </a:p>
        </p:txBody>
      </p:sp>
    </p:spTree>
    <p:extLst>
      <p:ext uri="{BB962C8B-B14F-4D97-AF65-F5344CB8AC3E}">
        <p14:creationId xmlns:p14="http://schemas.microsoft.com/office/powerpoint/2010/main" val="98762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Introduction</a:t>
            </a:r>
            <a:r>
              <a:rPr lang="zh-TW" altLang="zh-TW" b="1" dirty="0"/>
              <a:t>：</a:t>
            </a:r>
            <a:endParaRPr lang="zh-TW" altLang="en-US" dirty="0"/>
          </a:p>
        </p:txBody>
      </p:sp>
      <p:sp>
        <p:nvSpPr>
          <p:cNvPr id="3" name="內容版面配置區 2"/>
          <p:cNvSpPr>
            <a:spLocks noGrp="1"/>
          </p:cNvSpPr>
          <p:nvPr>
            <p:ph idx="1"/>
          </p:nvPr>
        </p:nvSpPr>
        <p:spPr/>
        <p:txBody>
          <a:bodyPr>
            <a:normAutofit/>
          </a:bodyPr>
          <a:lstStyle/>
          <a:p>
            <a:r>
              <a:rPr lang="zh-TW" altLang="en-US" sz="2600" dirty="0">
                <a:latin typeface="微軟正黑體" panose="020B0604030504040204" pitchFamily="34" charset="-120"/>
                <a:ea typeface="微軟正黑體" panose="020B0604030504040204" pitchFamily="34" charset="-120"/>
              </a:rPr>
              <a:t>電腦在分析文件時，經常將文件分解成一個個語意較小的單位</a:t>
            </a:r>
            <a:r>
              <a:rPr lang="en-US" altLang="zh-TW" sz="2600" dirty="0">
                <a:latin typeface="微軟正黑體" panose="020B0604030504040204" pitchFamily="34" charset="-120"/>
                <a:ea typeface="微軟正黑體" panose="020B0604030504040204" pitchFamily="34" charset="-120"/>
              </a:rPr>
              <a:t>(word)</a:t>
            </a:r>
            <a:r>
              <a:rPr lang="zh-TW" altLang="en-US" sz="2600" dirty="0">
                <a:latin typeface="微軟正黑體" panose="020B0604030504040204" pitchFamily="34" charset="-120"/>
                <a:ea typeface="微軟正黑體" panose="020B0604030504040204" pitchFamily="34" charset="-120"/>
              </a:rPr>
              <a:t>，通常為文件的</a:t>
            </a:r>
            <a:r>
              <a:rPr lang="zh-TW" altLang="en-US" sz="2600" b="1" dirty="0">
                <a:solidFill>
                  <a:srgbClr val="FF0000"/>
                </a:solidFill>
                <a:latin typeface="微軟正黑體" panose="020B0604030504040204" pitchFamily="34" charset="-120"/>
                <a:ea typeface="微軟正黑體" panose="020B0604030504040204" pitchFamily="34" charset="-120"/>
              </a:rPr>
              <a:t>關鍵詞彙</a:t>
            </a:r>
            <a:r>
              <a:rPr lang="zh-TW" altLang="en-US" sz="2600" dirty="0">
                <a:latin typeface="微軟正黑體" panose="020B0604030504040204" pitchFamily="34" charset="-120"/>
                <a:ea typeface="微軟正黑體" panose="020B0604030504040204" pitchFamily="34" charset="-120"/>
              </a:rPr>
              <a:t>，或稱</a:t>
            </a:r>
            <a:r>
              <a:rPr lang="zh-TW" altLang="en-US" sz="2600" b="1" dirty="0">
                <a:solidFill>
                  <a:srgbClr val="FF0000"/>
                </a:solidFill>
                <a:latin typeface="微軟正黑體" panose="020B0604030504040204" pitchFamily="34" charset="-120"/>
                <a:ea typeface="微軟正黑體" panose="020B0604030504040204" pitchFamily="34" charset="-120"/>
              </a:rPr>
              <a:t>「特徵詞彙」</a:t>
            </a:r>
            <a:r>
              <a:rPr lang="zh-TW" altLang="en-US" sz="2600" dirty="0">
                <a:latin typeface="微軟正黑體" panose="020B0604030504040204" pitchFamily="34" charset="-120"/>
                <a:ea typeface="微軟正黑體" panose="020B0604030504040204" pitchFamily="34" charset="-120"/>
              </a:rPr>
              <a:t>，再從這些詞彙與類別中找出對應的關係。</a:t>
            </a:r>
            <a:endParaRPr lang="en-US" altLang="zh-TW" sz="2600"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r>
              <a:rPr lang="zh-TW" altLang="en-US" sz="2600" dirty="0">
                <a:latin typeface="微軟正黑體" panose="020B0604030504040204" pitchFamily="34" charset="-120"/>
                <a:ea typeface="微軟正黑體" panose="020B0604030504040204" pitchFamily="34" charset="-120"/>
              </a:rPr>
              <a:t>但是文件依主題分類通常不是很容易，因為我們定義的類別有時候可能是</a:t>
            </a:r>
            <a:r>
              <a:rPr lang="zh-TW" altLang="en-US" sz="2600" b="1" dirty="0">
                <a:solidFill>
                  <a:srgbClr val="0070C0"/>
                </a:solidFill>
                <a:latin typeface="微軟正黑體" panose="020B0604030504040204" pitchFamily="34" charset="-120"/>
                <a:ea typeface="微軟正黑體" panose="020B0604030504040204" pitchFamily="34" charset="-120"/>
              </a:rPr>
              <a:t>比較抽象</a:t>
            </a:r>
            <a:r>
              <a:rPr lang="zh-TW" altLang="en-US" sz="2600" dirty="0">
                <a:latin typeface="微軟正黑體" panose="020B0604030504040204" pitchFamily="34" charset="-120"/>
                <a:ea typeface="微軟正黑體" panose="020B0604030504040204" pitchFamily="34" charset="-120"/>
              </a:rPr>
              <a:t>的主題。</a:t>
            </a:r>
            <a:r>
              <a:rPr lang="en-US" altLang="zh-TW" sz="2600" dirty="0">
                <a:latin typeface="微軟正黑體" panose="020B0604030504040204" pitchFamily="34" charset="-120"/>
                <a:ea typeface="微軟正黑體" panose="020B0604030504040204" pitchFamily="34" charset="-120"/>
              </a:rPr>
              <a:t/>
            </a:r>
            <a:br>
              <a:rPr lang="en-US" altLang="zh-TW" sz="2600" dirty="0">
                <a:latin typeface="微軟正黑體" panose="020B0604030504040204" pitchFamily="34" charset="-120"/>
                <a:ea typeface="微軟正黑體" panose="020B0604030504040204" pitchFamily="34" charset="-120"/>
              </a:rPr>
            </a:br>
            <a:endParaRPr lang="en-US" altLang="zh-TW" sz="2600"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5" name="文字方塊 4"/>
          <p:cNvSpPr txBox="1"/>
          <p:nvPr/>
        </p:nvSpPr>
        <p:spPr>
          <a:xfrm>
            <a:off x="4823255" y="3262630"/>
            <a:ext cx="1696994" cy="738664"/>
          </a:xfrm>
          <a:prstGeom prst="rect">
            <a:avLst/>
          </a:prstGeom>
          <a:noFill/>
        </p:spPr>
        <p:txBody>
          <a:bodyPr wrap="square" rtlCol="0">
            <a:spAutoFit/>
          </a:bodyPr>
          <a:lstStyle/>
          <a:p>
            <a:r>
              <a:rPr lang="zh-TW" altLang="en-US" sz="2400" dirty="0">
                <a:latin typeface="微軟正黑體" panose="020B0604030504040204" pitchFamily="34" charset="-120"/>
                <a:ea typeface="微軟正黑體" panose="020B0604030504040204" pitchFamily="34" charset="-120"/>
              </a:rPr>
              <a:t>關鍵詞</a:t>
            </a:r>
          </a:p>
          <a:p>
            <a:endParaRPr lang="zh-TW" altLang="en-US" dirty="0">
              <a:latin typeface="微軟正黑體" panose="020B0604030504040204" pitchFamily="34" charset="-120"/>
              <a:ea typeface="微軟正黑體" panose="020B0604030504040204" pitchFamily="34" charset="-120"/>
            </a:endParaRPr>
          </a:p>
        </p:txBody>
      </p:sp>
      <p:sp>
        <p:nvSpPr>
          <p:cNvPr id="6" name="燕尾形向右箭號 5"/>
          <p:cNvSpPr/>
          <p:nvPr/>
        </p:nvSpPr>
        <p:spPr>
          <a:xfrm>
            <a:off x="6001265" y="3427559"/>
            <a:ext cx="518984" cy="131805"/>
          </a:xfrm>
          <a:prstGeom prst="notched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6590270" y="3262630"/>
            <a:ext cx="800219" cy="461665"/>
          </a:xfrm>
          <a:prstGeom prst="rect">
            <a:avLst/>
          </a:prstGeom>
          <a:noFill/>
        </p:spPr>
        <p:txBody>
          <a:bodyPr wrap="none" rtlCol="0">
            <a:spAutoFit/>
          </a:bodyPr>
          <a:lstStyle/>
          <a:p>
            <a:r>
              <a:rPr lang="zh-TW" altLang="en-US" sz="2400" dirty="0">
                <a:latin typeface="微軟正黑體" panose="020B0604030504040204" pitchFamily="34" charset="-120"/>
                <a:ea typeface="微軟正黑體" panose="020B0604030504040204" pitchFamily="34" charset="-120"/>
              </a:rPr>
              <a:t>類別</a:t>
            </a:r>
          </a:p>
        </p:txBody>
      </p:sp>
      <p:sp>
        <p:nvSpPr>
          <p:cNvPr id="8" name="文字方塊 7"/>
          <p:cNvSpPr txBox="1"/>
          <p:nvPr/>
        </p:nvSpPr>
        <p:spPr>
          <a:xfrm>
            <a:off x="838200" y="5325804"/>
            <a:ext cx="11213326" cy="1292662"/>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以「天災」類別為例：</a:t>
            </a:r>
            <a:r>
              <a:rPr lang="en-US" altLang="zh-TW" sz="2000" dirty="0">
                <a:latin typeface="微軟正黑體" panose="020B0604030504040204" pitchFamily="34" charset="-120"/>
                <a:ea typeface="微軟正黑體" panose="020B0604030504040204" pitchFamily="34" charset="-120"/>
              </a:rPr>
              <a:t/>
            </a:r>
            <a:br>
              <a:rPr lang="en-US" altLang="zh-TW" sz="2000" dirty="0">
                <a:latin typeface="微軟正黑體" panose="020B0604030504040204" pitchFamily="34" charset="-120"/>
                <a:ea typeface="微軟正黑體" panose="020B0604030504040204" pitchFamily="34" charset="-120"/>
              </a:rPr>
            </a:br>
            <a:r>
              <a:rPr lang="zh-TW" altLang="en-US" sz="2000" dirty="0">
                <a:latin typeface="微軟正黑體" panose="020B0604030504040204" pitchFamily="34" charset="-120"/>
                <a:ea typeface="微軟正黑體" panose="020B0604030504040204" pitchFamily="34" charset="-120"/>
              </a:rPr>
              <a:t>某篇報導豪雨後出現淹水、土石流的新聞。便需根據</a:t>
            </a:r>
            <a:r>
              <a:rPr lang="zh-TW" altLang="en-US" sz="2000" dirty="0">
                <a:solidFill>
                  <a:srgbClr val="00B050"/>
                </a:solidFill>
                <a:latin typeface="微軟正黑體" panose="020B0604030504040204" pitchFamily="34" charset="-120"/>
                <a:ea typeface="微軟正黑體" panose="020B0604030504040204" pitchFamily="34" charset="-120"/>
              </a:rPr>
              <a:t>「豪雨」</a:t>
            </a:r>
            <a:r>
              <a:rPr lang="zh-TW" altLang="en-US" sz="2000" dirty="0">
                <a:latin typeface="微軟正黑體" panose="020B0604030504040204" pitchFamily="34" charset="-120"/>
                <a:ea typeface="微軟正黑體" panose="020B0604030504040204" pitchFamily="34" charset="-120"/>
              </a:rPr>
              <a:t>、</a:t>
            </a:r>
            <a:r>
              <a:rPr lang="zh-TW" altLang="en-US" sz="2000" dirty="0">
                <a:solidFill>
                  <a:srgbClr val="00B050"/>
                </a:solidFill>
                <a:latin typeface="微軟正黑體" panose="020B0604030504040204" pitchFamily="34" charset="-120"/>
                <a:ea typeface="微軟正黑體" panose="020B0604030504040204" pitchFamily="34" charset="-120"/>
              </a:rPr>
              <a:t>「淹水」</a:t>
            </a:r>
            <a:r>
              <a:rPr lang="zh-TW" altLang="en-US" sz="2000" dirty="0">
                <a:latin typeface="微軟正黑體" panose="020B0604030504040204" pitchFamily="34" charset="-120"/>
                <a:ea typeface="微軟正黑體" panose="020B0604030504040204" pitchFamily="34" charset="-120"/>
              </a:rPr>
              <a:t>、</a:t>
            </a:r>
            <a:r>
              <a:rPr lang="zh-TW" altLang="en-US" sz="2000" dirty="0">
                <a:solidFill>
                  <a:srgbClr val="00B050"/>
                </a:solidFill>
                <a:latin typeface="微軟正黑體" panose="020B0604030504040204" pitchFamily="34" charset="-120"/>
                <a:ea typeface="微軟正黑體" panose="020B0604030504040204" pitchFamily="34" charset="-120"/>
              </a:rPr>
              <a:t>「土石流」</a:t>
            </a:r>
            <a:r>
              <a:rPr lang="zh-TW" altLang="en-US" sz="2000" dirty="0">
                <a:latin typeface="微軟正黑體" panose="020B0604030504040204" pitchFamily="34" charset="-120"/>
                <a:ea typeface="微軟正黑體" panose="020B0604030504040204" pitchFamily="34" charset="-120"/>
              </a:rPr>
              <a:t>等詞彙，</a:t>
            </a:r>
            <a:endParaRPr lang="en-US" altLang="zh-TW" sz="2000" dirty="0">
              <a:latin typeface="微軟正黑體" panose="020B0604030504040204" pitchFamily="34" charset="-120"/>
              <a:ea typeface="微軟正黑體" panose="020B0604030504040204" pitchFamily="34" charset="-120"/>
            </a:endParaRPr>
          </a:p>
          <a:p>
            <a:r>
              <a:rPr lang="zh-TW" altLang="en-US" sz="2000" dirty="0">
                <a:latin typeface="微軟正黑體" panose="020B0604030504040204" pitchFamily="34" charset="-120"/>
                <a:ea typeface="微軟正黑體" panose="020B0604030504040204" pitchFamily="34" charset="-120"/>
              </a:rPr>
              <a:t>來判定其為「天災」類別，而不是只根據是否出現「天災」或「天然災害」之詞來判定其類別。</a:t>
            </a:r>
          </a:p>
          <a:p>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25412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064856" y="646010"/>
            <a:ext cx="8915400" cy="395416"/>
          </a:xfrm>
        </p:spPr>
        <p:txBody>
          <a:bodyPr>
            <a:noAutofit/>
          </a:bodyPr>
          <a:lstStyle/>
          <a:p>
            <a:pPr marL="0" indent="0">
              <a:buNone/>
            </a:pPr>
            <a:r>
              <a:rPr lang="zh-TW" altLang="en-US" sz="2400" dirty="0">
                <a:latin typeface="微軟正黑體" panose="020B0604030504040204" pitchFamily="34" charset="-120"/>
                <a:ea typeface="微軟正黑體" panose="020B0604030504040204" pitchFamily="34" charset="-120"/>
              </a:rPr>
              <a:t>為了要將文件變成讓電腦可以理解，通常將文件表達為向量。</a:t>
            </a:r>
          </a:p>
        </p:txBody>
      </p:sp>
      <p:sp>
        <p:nvSpPr>
          <p:cNvPr id="4" name="文字方塊 3"/>
          <p:cNvSpPr txBox="1"/>
          <p:nvPr/>
        </p:nvSpPr>
        <p:spPr>
          <a:xfrm>
            <a:off x="1612623" y="1539115"/>
            <a:ext cx="6878806" cy="646331"/>
          </a:xfrm>
          <a:prstGeom prst="rect">
            <a:avLst/>
          </a:prstGeom>
          <a:noFill/>
        </p:spPr>
        <p:txBody>
          <a:bodyPr wrap="none" rtlCol="0">
            <a:spAutoFit/>
          </a:bodyPr>
          <a:lstStyle/>
          <a:p>
            <a:pPr defTabSz="457200">
              <a:spcBef>
                <a:spcPts val="1000"/>
              </a:spcBef>
              <a:buClr>
                <a:schemeClr val="accent1"/>
              </a:buClr>
            </a:pP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比方說有兩篇關於統計的文章，向量模式將文件表達成一組向量：</a:t>
            </a:r>
            <a:endPar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5" name="文字方塊 4"/>
          <p:cNvSpPr txBox="1"/>
          <p:nvPr/>
        </p:nvSpPr>
        <p:spPr>
          <a:xfrm>
            <a:off x="1589532" y="3905374"/>
            <a:ext cx="6186309" cy="646331"/>
          </a:xfrm>
          <a:prstGeom prst="rect">
            <a:avLst/>
          </a:prstGeom>
          <a:noFill/>
        </p:spPr>
        <p:txBody>
          <a:bodyPr wrap="none" rtlCol="0">
            <a:spAutoFit/>
          </a:bodyPr>
          <a:lstStyle/>
          <a:p>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接著把類別可能會用到的詞擷取出來，建立一個</a:t>
            </a:r>
            <a:r>
              <a:rPr lang="zh-TW" altLang="en-US" dirty="0">
                <a:solidFill>
                  <a:srgbClr val="FF0000"/>
                </a:solidFill>
                <a:latin typeface="微軟正黑體" panose="020B0604030504040204" pitchFamily="34" charset="-120"/>
                <a:ea typeface="微軟正黑體" panose="020B0604030504040204" pitchFamily="34" charset="-120"/>
              </a:rPr>
              <a:t>字典向量</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                     </a:t>
            </a:r>
            <a:endPar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6" name="文字方塊 5"/>
          <p:cNvSpPr txBox="1"/>
          <p:nvPr/>
        </p:nvSpPr>
        <p:spPr>
          <a:xfrm>
            <a:off x="4020653" y="2226016"/>
            <a:ext cx="5120312" cy="1456809"/>
          </a:xfrm>
          <a:prstGeom prst="rect">
            <a:avLst/>
          </a:prstGeom>
          <a:noFill/>
        </p:spPr>
        <p:txBody>
          <a:bodyPr wrap="none" rtlCol="0">
            <a:spAutoFit/>
          </a:bodyPr>
          <a:lstStyle/>
          <a:p>
            <a:pPr defTabSz="457200">
              <a:spcBef>
                <a:spcPts val="1000"/>
              </a:spcBef>
              <a:buClr>
                <a:schemeClr val="accent1"/>
              </a:buClr>
            </a:pPr>
            <a:r>
              <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rPr>
              <a:t>u</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機率</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5</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統計學習</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4</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向量</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0</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endParaRPr>
          </a:p>
          <a:p>
            <a:pPr defTabSz="457200">
              <a:spcBef>
                <a:spcPts val="1000"/>
              </a:spcBef>
              <a:buClr>
                <a:schemeClr val="accent1"/>
              </a:buClr>
            </a:pPr>
            <a:endPar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endParaRPr>
          </a:p>
          <a:p>
            <a:pPr defTabSz="457200">
              <a:spcBef>
                <a:spcPts val="1000"/>
              </a:spcBef>
              <a:buClr>
                <a:schemeClr val="accent1"/>
              </a:buClr>
            </a:pPr>
            <a:r>
              <a:rPr lang="en-US" altLang="zh-CN" b="1" dirty="0">
                <a:solidFill>
                  <a:schemeClr val="tx1">
                    <a:lumMod val="75000"/>
                    <a:lumOff val="25000"/>
                  </a:schemeClr>
                </a:solidFill>
                <a:latin typeface="微軟正黑體" panose="020B0604030504040204" pitchFamily="34" charset="-120"/>
                <a:ea typeface="微軟正黑體" panose="020B0604030504040204" pitchFamily="34" charset="-120"/>
              </a:rPr>
              <a:t>v</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機率</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9</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統計學習</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4</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向量</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10</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7" name="文字方塊 6"/>
          <p:cNvSpPr txBox="1"/>
          <p:nvPr/>
        </p:nvSpPr>
        <p:spPr>
          <a:xfrm>
            <a:off x="4593181" y="4489963"/>
            <a:ext cx="3858749" cy="646331"/>
          </a:xfrm>
          <a:prstGeom prst="rect">
            <a:avLst/>
          </a:prstGeom>
          <a:noFill/>
        </p:spPr>
        <p:txBody>
          <a:bodyPr wrap="none" rtlCol="0">
            <a:spAutoFit/>
          </a:bodyPr>
          <a:lstStyle/>
          <a:p>
            <a:r>
              <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rPr>
              <a:t>D</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 = (</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機率，統計學習，向量，</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8" name="文字方塊 7"/>
          <p:cNvSpPr txBox="1"/>
          <p:nvPr/>
        </p:nvSpPr>
        <p:spPr>
          <a:xfrm>
            <a:off x="1612623" y="5195098"/>
            <a:ext cx="3916457" cy="369332"/>
          </a:xfrm>
          <a:prstGeom prst="rect">
            <a:avLst/>
          </a:prstGeom>
          <a:noFill/>
        </p:spPr>
        <p:txBody>
          <a:bodyPr wrap="none" rtlCol="0">
            <a:spAutoFit/>
          </a:bodyPr>
          <a:lstStyle/>
          <a:p>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這樣子就可以把上述</a:t>
            </a:r>
            <a:r>
              <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rPr>
              <a:t>u</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rPr>
              <a:t>v</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向量做簡化</a:t>
            </a:r>
          </a:p>
        </p:txBody>
      </p:sp>
      <p:sp>
        <p:nvSpPr>
          <p:cNvPr id="10" name="文字方塊 9"/>
          <p:cNvSpPr txBox="1"/>
          <p:nvPr/>
        </p:nvSpPr>
        <p:spPr>
          <a:xfrm>
            <a:off x="5216750" y="5682038"/>
            <a:ext cx="2611612" cy="1051570"/>
          </a:xfrm>
          <a:prstGeom prst="rect">
            <a:avLst/>
          </a:prstGeom>
          <a:noFill/>
        </p:spPr>
        <p:txBody>
          <a:bodyPr wrap="none" rtlCol="0">
            <a:spAutoFit/>
          </a:bodyPr>
          <a:lstStyle/>
          <a:p>
            <a:pPr defTabSz="457200">
              <a:spcBef>
                <a:spcPts val="1000"/>
              </a:spcBef>
              <a:buClr>
                <a:schemeClr val="accent1"/>
              </a:buClr>
            </a:pPr>
            <a:r>
              <a:rPr lang="en-US" altLang="zh-CN" b="1" dirty="0">
                <a:solidFill>
                  <a:schemeClr val="tx1">
                    <a:lumMod val="75000"/>
                    <a:lumOff val="25000"/>
                  </a:schemeClr>
                </a:solidFill>
                <a:latin typeface="微軟正黑體" panose="020B0604030504040204" pitchFamily="34" charset="-120"/>
                <a:ea typeface="微軟正黑體" panose="020B0604030504040204" pitchFamily="34" charset="-120"/>
              </a:rPr>
              <a:t>u</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5</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4</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0</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endParaRPr>
          </a:p>
          <a:p>
            <a:pPr defTabSz="457200">
              <a:spcBef>
                <a:spcPts val="1000"/>
              </a:spcBef>
              <a:buClr>
                <a:schemeClr val="accent1"/>
              </a:buClr>
            </a:pPr>
            <a:r>
              <a:rPr lang="en-US" altLang="zh-CN" b="1" dirty="0">
                <a:solidFill>
                  <a:schemeClr val="tx1">
                    <a:lumMod val="75000"/>
                    <a:lumOff val="25000"/>
                  </a:schemeClr>
                </a:solidFill>
                <a:latin typeface="微軟正黑體" panose="020B0604030504040204" pitchFamily="34" charset="-120"/>
                <a:ea typeface="微軟正黑體" panose="020B0604030504040204" pitchFamily="34" charset="-120"/>
              </a:rPr>
              <a:t>v</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9</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4</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10</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CN" altLang="en-US"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CN" dirty="0">
              <a:solidFill>
                <a:schemeClr val="tx1">
                  <a:lumMod val="75000"/>
                  <a:lumOff val="25000"/>
                </a:schemeClr>
              </a:solidFill>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pic>
        <p:nvPicPr>
          <p:cNvPr id="11" name="圖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47051" y="2226016"/>
            <a:ext cx="399331" cy="452434"/>
          </a:xfrm>
          <a:prstGeom prst="rect">
            <a:avLst/>
          </a:prstGeom>
        </p:spPr>
      </p:pic>
      <p:sp>
        <p:nvSpPr>
          <p:cNvPr id="12" name="向右箭號 11"/>
          <p:cNvSpPr/>
          <p:nvPr/>
        </p:nvSpPr>
        <p:spPr>
          <a:xfrm>
            <a:off x="3902903" y="2417735"/>
            <a:ext cx="90616" cy="689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 name="圖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19916" y="2976926"/>
            <a:ext cx="453600" cy="453600"/>
          </a:xfrm>
          <a:prstGeom prst="rect">
            <a:avLst/>
          </a:prstGeom>
        </p:spPr>
      </p:pic>
      <p:sp>
        <p:nvSpPr>
          <p:cNvPr id="14" name="向右箭號 13"/>
          <p:cNvSpPr/>
          <p:nvPr/>
        </p:nvSpPr>
        <p:spPr>
          <a:xfrm>
            <a:off x="3916470" y="3172495"/>
            <a:ext cx="90616" cy="689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199179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a:t>Feature Selection</a:t>
            </a:r>
            <a:endParaRPr lang="zh-TW" altLang="en-US" b="1" dirty="0"/>
          </a:p>
        </p:txBody>
      </p:sp>
      <p:sp>
        <p:nvSpPr>
          <p:cNvPr id="3" name="內容版面配置區 2"/>
          <p:cNvSpPr>
            <a:spLocks noGrp="1"/>
          </p:cNvSpPr>
          <p:nvPr>
            <p:ph idx="1"/>
          </p:nvPr>
        </p:nvSpPr>
        <p:spPr>
          <a:xfrm>
            <a:off x="838200" y="1423973"/>
            <a:ext cx="11467744" cy="1866159"/>
          </a:xfrm>
        </p:spPr>
        <p:txBody>
          <a:bodyPr>
            <a:normAutofit/>
          </a:bodyPr>
          <a:lstStyle/>
          <a:p>
            <a:pPr marL="0" indent="0">
              <a:buNone/>
            </a:pPr>
            <a:r>
              <a:rPr lang="zh-TW" altLang="en-US" sz="2000" dirty="0">
                <a:latin typeface="微軟正黑體" panose="020B0604030504040204" pitchFamily="34" charset="-120"/>
                <a:ea typeface="微軟正黑體" panose="020B0604030504040204" pitchFamily="34" charset="-120"/>
              </a:rPr>
              <a:t>特徵選擇就是從最初的文件中選出</a:t>
            </a:r>
            <a:r>
              <a:rPr lang="en-US" altLang="zh-TW" sz="2000" dirty="0">
                <a:latin typeface="微軟正黑體" panose="020B0604030504040204" pitchFamily="34" charset="-120"/>
                <a:ea typeface="微軟正黑體" panose="020B0604030504040204" pitchFamily="34" charset="-120"/>
              </a:rPr>
              <a:t>n</a:t>
            </a:r>
            <a:r>
              <a:rPr lang="zh-TW" altLang="en-US" sz="2000" dirty="0">
                <a:latin typeface="微軟正黑體" panose="020B0604030504040204" pitchFamily="34" charset="-120"/>
                <a:ea typeface="微軟正黑體" panose="020B0604030504040204" pitchFamily="34" charset="-120"/>
              </a:rPr>
              <a:t>個能夠代表該文件的特徵，而這</a:t>
            </a:r>
            <a:r>
              <a:rPr lang="en-US" altLang="zh-TW" sz="2000" dirty="0">
                <a:latin typeface="微軟正黑體" panose="020B0604030504040204" pitchFamily="34" charset="-120"/>
                <a:ea typeface="微軟正黑體" panose="020B0604030504040204" pitchFamily="34" charset="-120"/>
              </a:rPr>
              <a:t>n</a:t>
            </a:r>
            <a:r>
              <a:rPr lang="zh-TW" altLang="en-US" sz="2000" dirty="0">
                <a:latin typeface="微軟正黑體" panose="020B0604030504040204" pitchFamily="34" charset="-120"/>
                <a:ea typeface="微軟正黑體" panose="020B0604030504040204" pitchFamily="34" charset="-120"/>
              </a:rPr>
              <a:t>個特徵能夠簡潔的表示該文件。</a:t>
            </a:r>
            <a:endParaRPr lang="en-US" altLang="zh-TW" sz="2000" dirty="0">
              <a:latin typeface="微軟正黑體" panose="020B0604030504040204" pitchFamily="34" charset="-120"/>
              <a:ea typeface="微軟正黑體" panose="020B0604030504040204" pitchFamily="34" charset="-120"/>
            </a:endParaRPr>
          </a:p>
          <a:p>
            <a:pPr marL="0" indent="0">
              <a:buNone/>
            </a:pPr>
            <a:r>
              <a:rPr lang="zh-TW" altLang="en-US" sz="2000" dirty="0">
                <a:latin typeface="微軟正黑體" panose="020B0604030504040204" pitchFamily="34" charset="-120"/>
                <a:ea typeface="微軟正黑體" panose="020B0604030504040204" pitchFamily="34" charset="-120"/>
              </a:rPr>
              <a:t>一般的想法是建構一個</a:t>
            </a:r>
            <a:r>
              <a:rPr lang="zh-TW" altLang="en-US" sz="2000" b="1" dirty="0">
                <a:solidFill>
                  <a:srgbClr val="0070C0"/>
                </a:solidFill>
                <a:latin typeface="微軟正黑體" panose="020B0604030504040204" pitchFamily="34" charset="-120"/>
                <a:ea typeface="微軟正黑體" panose="020B0604030504040204" pitchFamily="34" charset="-120"/>
              </a:rPr>
              <a:t>評估函數</a:t>
            </a:r>
            <a:r>
              <a:rPr lang="zh-TW" altLang="en-US" sz="2000" dirty="0">
                <a:latin typeface="微軟正黑體" panose="020B0604030504040204" pitchFamily="34" charset="-120"/>
                <a:ea typeface="微軟正黑體" panose="020B0604030504040204" pitchFamily="34" charset="-120"/>
              </a:rPr>
              <a:t>，然後對每一個特徵打分數，進行排序，完畢後。選擇所需特徵。</a:t>
            </a:r>
            <a:endParaRPr lang="en-US" altLang="zh-TW" sz="2000" dirty="0">
              <a:latin typeface="微軟正黑體" panose="020B0604030504040204" pitchFamily="34" charset="-120"/>
              <a:ea typeface="微軟正黑體" panose="020B0604030504040204" pitchFamily="34" charset="-120"/>
            </a:endParaRPr>
          </a:p>
          <a:p>
            <a:pPr marL="0" indent="0">
              <a:buNone/>
            </a:pPr>
            <a:endParaRPr lang="en-US" altLang="zh-TW" sz="2000" dirty="0">
              <a:latin typeface="微軟正黑體" panose="020B0604030504040204" pitchFamily="34" charset="-120"/>
              <a:ea typeface="微軟正黑體" panose="020B0604030504040204" pitchFamily="34" charset="-120"/>
            </a:endParaRPr>
          </a:p>
          <a:p>
            <a:pPr marL="0" indent="0">
              <a:buNone/>
            </a:pPr>
            <a:endParaRPr lang="zh-TW" altLang="en-US" sz="2000" dirty="0">
              <a:latin typeface="微軟正黑體" panose="020B0604030504040204" pitchFamily="34" charset="-120"/>
              <a:ea typeface="微軟正黑體" panose="020B0604030504040204" pitchFamily="34" charset="-120"/>
            </a:endParaRPr>
          </a:p>
        </p:txBody>
      </p:sp>
      <p:sp>
        <p:nvSpPr>
          <p:cNvPr id="4" name="文字方塊 3"/>
          <p:cNvSpPr txBox="1"/>
          <p:nvPr/>
        </p:nvSpPr>
        <p:spPr>
          <a:xfrm>
            <a:off x="838200" y="2917819"/>
            <a:ext cx="9570578" cy="2862322"/>
          </a:xfrm>
          <a:prstGeom prst="rect">
            <a:avLst/>
          </a:prstGeom>
          <a:noFill/>
        </p:spPr>
        <p:txBody>
          <a:bodyPr wrap="square" rtlCol="0">
            <a:spAutoFit/>
          </a:bodyPr>
          <a:lstStyle/>
          <a:p>
            <a:pPr marL="457200" indent="-457200">
              <a:buFont typeface="Arial" panose="020B0604020202020204" pitchFamily="34" charset="0"/>
              <a:buChar char="•"/>
            </a:pPr>
            <a:r>
              <a:rPr lang="en-US" altLang="zh-TW" sz="2000" b="1" dirty="0">
                <a:latin typeface="微軟正黑體" panose="020B0604030504040204" pitchFamily="34" charset="-120"/>
                <a:ea typeface="微軟正黑體" panose="020B0604030504040204" pitchFamily="34" charset="-120"/>
              </a:rPr>
              <a:t>Document frequency (DF)</a:t>
            </a:r>
          </a:p>
          <a:p>
            <a:pPr marL="457200" indent="-457200">
              <a:buFont typeface="Arial" panose="020B0604020202020204" pitchFamily="34" charset="0"/>
              <a:buChar char="•"/>
            </a:pPr>
            <a:endParaRPr lang="en-US" altLang="zh-TW" sz="2000" b="1" dirty="0">
              <a:latin typeface="微軟正黑體" panose="020B0604030504040204" pitchFamily="34" charset="-120"/>
              <a:ea typeface="微軟正黑體" panose="020B0604030504040204" pitchFamily="34" charset="-120"/>
            </a:endParaRPr>
          </a:p>
          <a:p>
            <a:pPr marL="457200" indent="-457200">
              <a:buFont typeface="Arial" panose="020B0604020202020204" pitchFamily="34" charset="0"/>
              <a:buChar char="•"/>
            </a:pPr>
            <a:r>
              <a:rPr lang="en-US" altLang="zh-TW" sz="2000" b="1" dirty="0">
                <a:latin typeface="微軟正黑體" panose="020B0604030504040204" pitchFamily="34" charset="-120"/>
                <a:ea typeface="微軟正黑體" panose="020B0604030504040204" pitchFamily="34" charset="-120"/>
              </a:rPr>
              <a:t>Mutual information (MI)</a:t>
            </a:r>
          </a:p>
          <a:p>
            <a:pPr marL="457200" indent="-457200">
              <a:buFont typeface="Arial" panose="020B0604020202020204" pitchFamily="34" charset="0"/>
              <a:buChar char="•"/>
            </a:pPr>
            <a:endParaRPr lang="en-US" altLang="zh-TW" sz="2000" b="1" dirty="0">
              <a:latin typeface="微軟正黑體" panose="020B0604030504040204" pitchFamily="34" charset="-120"/>
              <a:ea typeface="微軟正黑體" panose="020B0604030504040204" pitchFamily="34" charset="-120"/>
            </a:endParaRPr>
          </a:p>
          <a:p>
            <a:pPr marL="457200" indent="-457200">
              <a:buFont typeface="Arial" panose="020B0604020202020204" pitchFamily="34" charset="0"/>
              <a:buChar char="•"/>
            </a:pPr>
            <a:r>
              <a:rPr lang="en-US" altLang="zh-TW" sz="2000" b="1" dirty="0">
                <a:latin typeface="微軟正黑體" panose="020B0604030504040204" pitchFamily="34" charset="-120"/>
                <a:ea typeface="微軟正黑體" panose="020B0604030504040204" pitchFamily="34" charset="-120"/>
              </a:rPr>
              <a:t>Information gain (IG)</a:t>
            </a:r>
          </a:p>
          <a:p>
            <a:pPr marL="457200" indent="-457200">
              <a:buFont typeface="Arial" panose="020B0604020202020204" pitchFamily="34" charset="0"/>
              <a:buChar char="•"/>
            </a:pPr>
            <a:endParaRPr lang="en-US" altLang="zh-TW" sz="2000" b="1" dirty="0">
              <a:latin typeface="微軟正黑體" panose="020B0604030504040204" pitchFamily="34" charset="-120"/>
              <a:ea typeface="微軟正黑體" panose="020B0604030504040204" pitchFamily="34" charset="-120"/>
            </a:endParaRPr>
          </a:p>
          <a:p>
            <a:pPr marL="457200" indent="-457200">
              <a:buFont typeface="Arial" panose="020B0604020202020204" pitchFamily="34" charset="0"/>
              <a:buChar char="•"/>
            </a:pPr>
            <a:r>
              <a:rPr lang="en-US" altLang="zh-TW" sz="2000" b="1" dirty="0">
                <a:latin typeface="微軟正黑體" panose="020B0604030504040204" pitchFamily="34" charset="-120"/>
                <a:ea typeface="微軟正黑體" panose="020B0604030504040204" pitchFamily="34" charset="-120"/>
              </a:rPr>
              <a:t>Chi-squared test (CHI)</a:t>
            </a:r>
          </a:p>
          <a:p>
            <a:pPr marL="457200" indent="-457200">
              <a:buFont typeface="Arial" panose="020B0604020202020204" pitchFamily="34" charset="0"/>
              <a:buChar char="•"/>
            </a:pPr>
            <a:endParaRPr lang="en-US" altLang="zh-TW" sz="2000" b="1" dirty="0">
              <a:latin typeface="微軟正黑體" panose="020B0604030504040204" pitchFamily="34" charset="-120"/>
              <a:ea typeface="微軟正黑體" panose="020B0604030504040204" pitchFamily="34" charset="-120"/>
            </a:endParaRPr>
          </a:p>
          <a:p>
            <a:pPr marL="457200" indent="-457200">
              <a:buFont typeface="Arial" panose="020B0604020202020204" pitchFamily="34" charset="0"/>
              <a:buChar char="•"/>
            </a:pPr>
            <a:r>
              <a:rPr lang="en-US" altLang="zh-TW" sz="2000" b="1" dirty="0">
                <a:latin typeface="微軟正黑體" panose="020B0604030504040204" pitchFamily="34" charset="-120"/>
                <a:ea typeface="微軟正黑體" panose="020B0604030504040204" pitchFamily="34" charset="-120"/>
              </a:rPr>
              <a:t>Term strength (TS)</a:t>
            </a:r>
            <a:endParaRPr lang="zh-TW" altLang="en-US" sz="2000" b="1" dirty="0">
              <a:latin typeface="微軟正黑體" panose="020B0604030504040204" pitchFamily="34" charset="-120"/>
              <a:ea typeface="微軟正黑體" panose="020B0604030504040204" pitchFamily="34" charset="-120"/>
            </a:endParaRPr>
          </a:p>
        </p:txBody>
      </p:sp>
      <p:sp>
        <p:nvSpPr>
          <p:cNvPr id="7" name="文字方塊 6"/>
          <p:cNvSpPr txBox="1"/>
          <p:nvPr/>
        </p:nvSpPr>
        <p:spPr>
          <a:xfrm>
            <a:off x="5921106" y="2979650"/>
            <a:ext cx="5754973" cy="1323439"/>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除了那些</a:t>
            </a:r>
            <a:r>
              <a:rPr lang="en-US" altLang="zh-TW" sz="2000" dirty="0">
                <a:latin typeface="微軟正黑體" panose="020B0604030504040204" pitchFamily="34" charset="-120"/>
                <a:ea typeface="微軟正黑體" panose="020B0604030504040204" pitchFamily="34" charset="-120"/>
              </a:rPr>
              <a:t>stop</a:t>
            </a:r>
            <a:r>
              <a:rPr lang="zh-TW" altLang="en-US" sz="2000" dirty="0">
                <a:latin typeface="微軟正黑體" panose="020B0604030504040204" pitchFamily="34" charset="-120"/>
                <a:ea typeface="微軟正黑體" panose="020B0604030504040204" pitchFamily="34" charset="-120"/>
              </a:rPr>
              <a:t> </a:t>
            </a:r>
            <a:r>
              <a:rPr lang="en-US" altLang="zh-TW" sz="2000" dirty="0">
                <a:latin typeface="微軟正黑體" panose="020B0604030504040204" pitchFamily="34" charset="-120"/>
                <a:ea typeface="微軟正黑體" panose="020B0604030504040204" pitchFamily="34" charset="-120"/>
              </a:rPr>
              <a:t>word</a:t>
            </a:r>
            <a:r>
              <a:rPr lang="zh-TW" altLang="en-US" sz="2000" dirty="0">
                <a:latin typeface="微軟正黑體" panose="020B0604030504040204" pitchFamily="34" charset="-120"/>
                <a:ea typeface="微軟正黑體" panose="020B0604030504040204" pitchFamily="34" charset="-120"/>
              </a:rPr>
              <a:t>外，還有需多詞實際上對分類</a:t>
            </a:r>
            <a:endParaRPr lang="en-US" altLang="zh-TW" sz="2000" dirty="0">
              <a:latin typeface="微軟正黑體" panose="020B0604030504040204" pitchFamily="34" charset="-120"/>
              <a:ea typeface="微軟正黑體" panose="020B0604030504040204" pitchFamily="34" charset="-120"/>
            </a:endParaRPr>
          </a:p>
          <a:p>
            <a:r>
              <a:rPr lang="zh-TW" altLang="en-US" sz="2000" dirty="0">
                <a:latin typeface="微軟正黑體" panose="020B0604030504040204" pitchFamily="34" charset="-120"/>
                <a:ea typeface="微軟正黑體" panose="020B0604030504040204" pitchFamily="34" charset="-120"/>
              </a:rPr>
              <a:t>沒有甚麼貢獻。</a:t>
            </a:r>
            <a:endParaRPr lang="en-US" altLang="zh-TW" sz="2000" dirty="0">
              <a:latin typeface="微軟正黑體" panose="020B0604030504040204" pitchFamily="34" charset="-120"/>
              <a:ea typeface="微軟正黑體" panose="020B0604030504040204" pitchFamily="34" charset="-120"/>
            </a:endParaRPr>
          </a:p>
          <a:p>
            <a:endParaRPr lang="en-US" altLang="zh-TW" sz="2000" dirty="0">
              <a:latin typeface="微軟正黑體" panose="020B0604030504040204" pitchFamily="34" charset="-120"/>
              <a:ea typeface="微軟正黑體" panose="020B0604030504040204" pitchFamily="34" charset="-120"/>
            </a:endParaRPr>
          </a:p>
          <a:p>
            <a:r>
              <a:rPr lang="zh-TW" altLang="en-US" sz="2000" dirty="0">
                <a:latin typeface="微軟正黑體" panose="020B0604030504040204" pitchFamily="34" charset="-120"/>
                <a:ea typeface="微軟正黑體" panose="020B0604030504040204" pitchFamily="34" charset="-120"/>
              </a:rPr>
              <a:t>該如何確定這些詞</a:t>
            </a:r>
            <a:r>
              <a:rPr lang="en-US" altLang="zh-TW" sz="2000" dirty="0">
                <a:latin typeface="微軟正黑體" panose="020B0604030504040204" pitchFamily="34" charset="-120"/>
                <a:ea typeface="微軟正黑體" panose="020B0604030504040204" pitchFamily="34" charset="-120"/>
              </a:rPr>
              <a:t>?</a:t>
            </a:r>
            <a:endParaRPr lang="zh-TW" altLang="en-US" sz="2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2467674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a:t>Document frequency (DF)</a:t>
            </a:r>
            <a:r>
              <a:rPr lang="en-US" altLang="zh-TW" b="1" dirty="0">
                <a:latin typeface="微軟正黑體" panose="020B0604030504040204" pitchFamily="34" charset="-120"/>
                <a:ea typeface="微軟正黑體" panose="020B0604030504040204" pitchFamily="34" charset="-120"/>
              </a:rPr>
              <a:t/>
            </a:r>
            <a:br>
              <a:rPr lang="en-US" altLang="zh-TW" b="1" dirty="0">
                <a:latin typeface="微軟正黑體" panose="020B0604030504040204" pitchFamily="34" charset="-120"/>
                <a:ea typeface="微軟正黑體" panose="020B0604030504040204" pitchFamily="34" charset="-120"/>
              </a:rPr>
            </a:br>
            <a:endParaRPr lang="zh-TW" altLang="en-US" dirty="0"/>
          </a:p>
        </p:txBody>
      </p:sp>
      <p:sp>
        <p:nvSpPr>
          <p:cNvPr id="3" name="內容版面配置區 2"/>
          <p:cNvSpPr>
            <a:spLocks noGrp="1"/>
          </p:cNvSpPr>
          <p:nvPr>
            <p:ph idx="1"/>
          </p:nvPr>
        </p:nvSpPr>
        <p:spPr>
          <a:xfrm>
            <a:off x="838200" y="1458097"/>
            <a:ext cx="10515600" cy="1458098"/>
          </a:xfrm>
        </p:spPr>
        <p:txBody>
          <a:bodyPr/>
          <a:lstStyle/>
          <a:p>
            <a:pPr marL="0" indent="0">
              <a:buNone/>
            </a:pPr>
            <a:r>
              <a:rPr lang="zh-TW" altLang="en-US" dirty="0">
                <a:latin typeface="微軟正黑體" panose="020B0604030504040204" pitchFamily="34" charset="-120"/>
                <a:ea typeface="微軟正黑體" panose="020B0604030504040204" pitchFamily="34" charset="-120"/>
              </a:rPr>
              <a:t>最簡單的一種特徵選擇算法，在訓練集中去計算每個詞出現的文章數，並且根據預先設定的</a:t>
            </a:r>
            <a:r>
              <a:rPr lang="zh-TW" altLang="en-US" b="1" dirty="0">
                <a:solidFill>
                  <a:srgbClr val="00B050"/>
                </a:solidFill>
                <a:latin typeface="微軟正黑體" panose="020B0604030504040204" pitchFamily="34" charset="-120"/>
                <a:ea typeface="微軟正黑體" panose="020B0604030504040204" pitchFamily="34" charset="-120"/>
              </a:rPr>
              <a:t>門檻值</a:t>
            </a:r>
            <a:r>
              <a:rPr lang="en-US" altLang="zh-TW" b="1" dirty="0">
                <a:solidFill>
                  <a:srgbClr val="00B050"/>
                </a:solidFill>
                <a:latin typeface="微軟正黑體" panose="020B0604030504040204" pitchFamily="34" charset="-120"/>
                <a:ea typeface="微軟正黑體" panose="020B0604030504040204" pitchFamily="34" charset="-120"/>
              </a:rPr>
              <a:t>(threshold)</a:t>
            </a:r>
            <a:r>
              <a:rPr lang="zh-TW" altLang="en-US" dirty="0">
                <a:latin typeface="微軟正黑體" panose="020B0604030504040204" pitchFamily="34" charset="-120"/>
                <a:ea typeface="微軟正黑體" panose="020B0604030504040204" pitchFamily="34" charset="-120"/>
              </a:rPr>
              <a:t>去刪除那些頻率特別低或特別高的特徵詞。</a:t>
            </a:r>
          </a:p>
        </p:txBody>
      </p:sp>
      <p:sp>
        <p:nvSpPr>
          <p:cNvPr id="4" name="文字方塊 3"/>
          <p:cNvSpPr txBox="1"/>
          <p:nvPr/>
        </p:nvSpPr>
        <p:spPr>
          <a:xfrm>
            <a:off x="2405873" y="3491466"/>
            <a:ext cx="7489999" cy="1477328"/>
          </a:xfrm>
          <a:prstGeom prst="rect">
            <a:avLst/>
          </a:prstGeom>
          <a:noFill/>
        </p:spPr>
        <p:txBody>
          <a:bodyPr wrap="none" rtlCol="0">
            <a:spAutoFit/>
          </a:bodyPr>
          <a:lstStyle/>
          <a:p>
            <a:pPr lvl="1"/>
            <a:r>
              <a:rPr lang="en-US" altLang="zh-CN" sz="2400" dirty="0">
                <a:latin typeface="微軟正黑體" panose="020B0604030504040204" pitchFamily="34" charset="-120"/>
                <a:ea typeface="微軟正黑體" panose="020B0604030504040204" pitchFamily="34" charset="-120"/>
              </a:rPr>
              <a:t>Term</a:t>
            </a:r>
            <a:r>
              <a:rPr lang="zh-CN" altLang="en-US" sz="2400" dirty="0">
                <a:latin typeface="微軟正黑體" panose="020B0604030504040204" pitchFamily="34" charset="-120"/>
                <a:ea typeface="微軟正黑體" panose="020B0604030504040204" pitchFamily="34" charset="-120"/>
              </a:rPr>
              <a:t>的</a:t>
            </a:r>
            <a:r>
              <a:rPr lang="en-US" altLang="zh-CN" sz="2400" dirty="0">
                <a:latin typeface="微軟正黑體" panose="020B0604030504040204" pitchFamily="34" charset="-120"/>
                <a:ea typeface="微軟正黑體" panose="020B0604030504040204" pitchFamily="34" charset="-120"/>
              </a:rPr>
              <a:t>DF</a:t>
            </a:r>
            <a:r>
              <a:rPr lang="zh-CN" altLang="en-US" sz="2400" dirty="0">
                <a:latin typeface="微軟正黑體" panose="020B0604030504040204" pitchFamily="34" charset="-120"/>
                <a:ea typeface="微軟正黑體" panose="020B0604030504040204" pitchFamily="34" charset="-120"/>
              </a:rPr>
              <a:t>小</a:t>
            </a:r>
            <a:r>
              <a:rPr lang="zh-TW" altLang="en-US" sz="2400" dirty="0">
                <a:latin typeface="微軟正黑體" panose="020B0604030504040204" pitchFamily="34" charset="-120"/>
                <a:ea typeface="微軟正黑體" panose="020B0604030504040204" pitchFamily="34" charset="-120"/>
              </a:rPr>
              <a:t>於某個門檻值</a:t>
            </a:r>
            <a:r>
              <a:rPr lang="zh-CN" altLang="en-US" sz="2400" dirty="0">
                <a:latin typeface="微軟正黑體" panose="020B0604030504040204" pitchFamily="34" charset="-120"/>
                <a:ea typeface="微軟正黑體" panose="020B0604030504040204" pitchFamily="34" charset="-120"/>
              </a:rPr>
              <a:t>去掉</a:t>
            </a:r>
            <a:r>
              <a:rPr lang="en-US" altLang="zh-CN" sz="2400" dirty="0">
                <a:latin typeface="微軟正黑體" panose="020B0604030504040204" pitchFamily="34" charset="-120"/>
                <a:ea typeface="微軟正黑體" panose="020B0604030504040204" pitchFamily="34" charset="-120"/>
              </a:rPr>
              <a:t>(</a:t>
            </a:r>
            <a:r>
              <a:rPr lang="zh-CN" altLang="en-US" sz="2400" dirty="0">
                <a:latin typeface="微軟正黑體" panose="020B0604030504040204" pitchFamily="34" charset="-120"/>
                <a:ea typeface="微軟正黑體" panose="020B0604030504040204" pitchFamily="34" charset="-120"/>
              </a:rPr>
              <a:t>太少，</a:t>
            </a:r>
            <a:r>
              <a:rPr lang="zh-TW" altLang="en-US" sz="2400" dirty="0">
                <a:latin typeface="微軟正黑體" panose="020B0604030504040204" pitchFamily="34" charset="-120"/>
                <a:ea typeface="微軟正黑體" panose="020B0604030504040204" pitchFamily="34" charset="-120"/>
              </a:rPr>
              <a:t>沒有</a:t>
            </a:r>
            <a:r>
              <a:rPr lang="zh-CN" altLang="en-US" sz="2400" dirty="0">
                <a:latin typeface="微軟正黑體" panose="020B0604030504040204" pitchFamily="34" charset="-120"/>
                <a:ea typeface="微軟正黑體" panose="020B0604030504040204" pitchFamily="34" charset="-120"/>
              </a:rPr>
              <a:t>代表性</a:t>
            </a:r>
            <a:r>
              <a:rPr lang="en-US" altLang="zh-CN" sz="2400" dirty="0">
                <a:latin typeface="微軟正黑體" panose="020B0604030504040204" pitchFamily="34" charset="-120"/>
                <a:ea typeface="微軟正黑體" panose="020B0604030504040204" pitchFamily="34" charset="-120"/>
              </a:rPr>
              <a:t>)</a:t>
            </a:r>
            <a:br>
              <a:rPr lang="en-US" altLang="zh-CN" sz="2400" dirty="0">
                <a:latin typeface="微軟正黑體" panose="020B0604030504040204" pitchFamily="34" charset="-120"/>
                <a:ea typeface="微軟正黑體" panose="020B0604030504040204" pitchFamily="34" charset="-120"/>
              </a:rPr>
            </a:br>
            <a:endParaRPr lang="en-US" altLang="zh-CN" sz="2400" dirty="0">
              <a:latin typeface="微軟正黑體" panose="020B0604030504040204" pitchFamily="34" charset="-120"/>
              <a:ea typeface="微軟正黑體" panose="020B0604030504040204" pitchFamily="34" charset="-120"/>
            </a:endParaRPr>
          </a:p>
          <a:p>
            <a:pPr lvl="1"/>
            <a:r>
              <a:rPr lang="en-US" altLang="zh-CN" sz="2400" dirty="0">
                <a:latin typeface="微軟正黑體" panose="020B0604030504040204" pitchFamily="34" charset="-120"/>
                <a:ea typeface="微軟正黑體" panose="020B0604030504040204" pitchFamily="34" charset="-120"/>
              </a:rPr>
              <a:t>Term</a:t>
            </a:r>
            <a:r>
              <a:rPr lang="zh-CN" altLang="en-US" sz="2400" dirty="0">
                <a:latin typeface="微軟正黑體" panose="020B0604030504040204" pitchFamily="34" charset="-120"/>
                <a:ea typeface="微軟正黑體" panose="020B0604030504040204" pitchFamily="34" charset="-120"/>
              </a:rPr>
              <a:t>的</a:t>
            </a:r>
            <a:r>
              <a:rPr lang="en-US" altLang="zh-CN" sz="2400" dirty="0">
                <a:latin typeface="微軟正黑體" panose="020B0604030504040204" pitchFamily="34" charset="-120"/>
                <a:ea typeface="微軟正黑體" panose="020B0604030504040204" pitchFamily="34" charset="-120"/>
              </a:rPr>
              <a:t>DF</a:t>
            </a:r>
            <a:r>
              <a:rPr lang="zh-CN" altLang="en-US" sz="2400" dirty="0">
                <a:latin typeface="微軟正黑體" panose="020B0604030504040204" pitchFamily="34" charset="-120"/>
                <a:ea typeface="微軟正黑體" panose="020B0604030504040204" pitchFamily="34" charset="-120"/>
              </a:rPr>
              <a:t>大</a:t>
            </a:r>
            <a:r>
              <a:rPr lang="zh-TW" altLang="en-US" sz="2400" dirty="0">
                <a:latin typeface="微軟正黑體" panose="020B0604030504040204" pitchFamily="34" charset="-120"/>
                <a:ea typeface="微軟正黑體" panose="020B0604030504040204" pitchFamily="34" charset="-120"/>
              </a:rPr>
              <a:t>於某個門檻值</a:t>
            </a:r>
            <a:r>
              <a:rPr lang="zh-CN" altLang="en-US" sz="2400" dirty="0">
                <a:latin typeface="微軟正黑體" panose="020B0604030504040204" pitchFamily="34" charset="-120"/>
                <a:ea typeface="微軟正黑體" panose="020B0604030504040204" pitchFamily="34" charset="-120"/>
              </a:rPr>
              <a:t>去掉</a:t>
            </a:r>
            <a:r>
              <a:rPr lang="en-US" altLang="zh-CN" sz="2400" dirty="0">
                <a:latin typeface="微軟正黑體" panose="020B0604030504040204" pitchFamily="34" charset="-120"/>
                <a:ea typeface="微軟正黑體" panose="020B0604030504040204" pitchFamily="34" charset="-120"/>
              </a:rPr>
              <a:t>(</a:t>
            </a:r>
            <a:r>
              <a:rPr lang="zh-CN" altLang="en-US" sz="2400" dirty="0">
                <a:latin typeface="微軟正黑體" panose="020B0604030504040204" pitchFamily="34" charset="-120"/>
                <a:ea typeface="微軟正黑體" panose="020B0604030504040204" pitchFamily="34" charset="-120"/>
              </a:rPr>
              <a:t>太多，</a:t>
            </a:r>
            <a:r>
              <a:rPr lang="zh-TW" altLang="en-US" sz="2400" dirty="0">
                <a:latin typeface="微軟正黑體" panose="020B0604030504040204" pitchFamily="34" charset="-120"/>
                <a:ea typeface="微軟正黑體" panose="020B0604030504040204" pitchFamily="34" charset="-120"/>
              </a:rPr>
              <a:t>沒有區分</a:t>
            </a:r>
            <a:r>
              <a:rPr lang="zh-CN" altLang="en-US" sz="2400" dirty="0">
                <a:latin typeface="微軟正黑體" panose="020B0604030504040204" pitchFamily="34" charset="-120"/>
                <a:ea typeface="微軟正黑體" panose="020B0604030504040204" pitchFamily="34" charset="-120"/>
              </a:rPr>
              <a:t>度</a:t>
            </a:r>
            <a:r>
              <a:rPr lang="en-US" altLang="zh-CN" sz="2400" dirty="0">
                <a:latin typeface="微軟正黑體" panose="020B0604030504040204" pitchFamily="34" charset="-120"/>
                <a:ea typeface="微軟正黑體" panose="020B0604030504040204" pitchFamily="34" charset="-120"/>
              </a:rPr>
              <a:t>)</a:t>
            </a:r>
          </a:p>
          <a:p>
            <a:endParaRPr lang="zh-TW" altLang="en-US" dirty="0">
              <a:latin typeface="微軟正黑體" panose="020B0604030504040204" pitchFamily="34" charset="-120"/>
              <a:ea typeface="微軟正黑體" panose="020B0604030504040204" pitchFamily="34" charset="-120"/>
            </a:endParaRPr>
          </a:p>
        </p:txBody>
      </p:sp>
      <p:sp>
        <p:nvSpPr>
          <p:cNvPr id="5" name="文字方塊 4"/>
          <p:cNvSpPr txBox="1"/>
          <p:nvPr/>
        </p:nvSpPr>
        <p:spPr>
          <a:xfrm>
            <a:off x="838200" y="5544065"/>
            <a:ext cx="5671745" cy="954107"/>
          </a:xfrm>
          <a:prstGeom prst="rect">
            <a:avLst/>
          </a:prstGeom>
          <a:noFill/>
        </p:spPr>
        <p:txBody>
          <a:bodyPr wrap="none" rtlCol="0">
            <a:spAutoFit/>
          </a:bodyPr>
          <a:lstStyle/>
          <a:p>
            <a:r>
              <a:rPr lang="en-US" altLang="zh-TW" sz="2800" dirty="0">
                <a:latin typeface="微軟正黑體" panose="020B0604030504040204" pitchFamily="34" charset="-120"/>
                <a:ea typeface="微軟正黑體" panose="020B0604030504040204" pitchFamily="34" charset="-120"/>
              </a:rPr>
              <a:t>DF</a:t>
            </a:r>
            <a:r>
              <a:rPr lang="zh-TW" altLang="en-US" sz="2800" dirty="0">
                <a:latin typeface="微軟正黑體" panose="020B0604030504040204" pitchFamily="34" charset="-120"/>
                <a:ea typeface="微軟正黑體" panose="020B0604030504040204" pitchFamily="34" charset="-120"/>
              </a:rPr>
              <a:t>的優點在於計算量小，速度快。</a:t>
            </a:r>
          </a:p>
          <a:p>
            <a:endParaRPr lang="zh-TW" altLang="en-US" sz="2800" dirty="0">
              <a:latin typeface="微軟正黑體" panose="020B0604030504040204" pitchFamily="34" charset="-120"/>
              <a:ea typeface="微軟正黑體" panose="020B0604030504040204" pitchFamily="34" charset="-120"/>
            </a:endParaRPr>
          </a:p>
        </p:txBody>
      </p:sp>
      <p:sp>
        <p:nvSpPr>
          <p:cNvPr id="6" name="文字方塊 5"/>
          <p:cNvSpPr txBox="1"/>
          <p:nvPr/>
        </p:nvSpPr>
        <p:spPr>
          <a:xfrm>
            <a:off x="838200" y="2830019"/>
            <a:ext cx="986167" cy="523220"/>
          </a:xfrm>
          <a:prstGeom prst="rect">
            <a:avLst/>
          </a:prstGeom>
          <a:noFill/>
        </p:spPr>
        <p:txBody>
          <a:bodyPr wrap="none" rtlCol="0">
            <a:spAutoFit/>
          </a:bodyPr>
          <a:lstStyle/>
          <a:p>
            <a:r>
              <a:rPr lang="zh-TW" altLang="en-US" sz="2800" dirty="0">
                <a:latin typeface="微軟正黑體" panose="020B0604030504040204" pitchFamily="34" charset="-120"/>
                <a:ea typeface="微軟正黑體" panose="020B0604030504040204" pitchFamily="34" charset="-120"/>
              </a:rPr>
              <a:t>想法</a:t>
            </a:r>
            <a:r>
              <a:rPr lang="en-US" altLang="zh-TW" sz="2800" dirty="0">
                <a:latin typeface="微軟正黑體" panose="020B0604030504040204" pitchFamily="34" charset="-120"/>
                <a:ea typeface="微軟正黑體" panose="020B0604030504040204" pitchFamily="34" charset="-120"/>
              </a:rPr>
              <a:t>:</a:t>
            </a:r>
            <a:endParaRPr lang="zh-TW" altLang="en-US" sz="28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5990050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a:t>Mutual information (MI)</a:t>
            </a:r>
          </a:p>
        </p:txBody>
      </p:sp>
      <p:sp>
        <p:nvSpPr>
          <p:cNvPr id="3" name="內容版面配置區 2"/>
          <p:cNvSpPr>
            <a:spLocks noGrp="1"/>
          </p:cNvSpPr>
          <p:nvPr>
            <p:ph idx="1"/>
          </p:nvPr>
        </p:nvSpPr>
        <p:spPr>
          <a:xfrm>
            <a:off x="838200" y="1619679"/>
            <a:ext cx="10515600" cy="1312991"/>
          </a:xfrm>
        </p:spPr>
        <p:txBody>
          <a:bodyPr>
            <a:normAutofit/>
          </a:bodyPr>
          <a:lstStyle/>
          <a:p>
            <a:pPr marL="0" indent="0">
              <a:buNone/>
            </a:pPr>
            <a:r>
              <a:rPr lang="zh-TW" altLang="en-US" dirty="0">
                <a:latin typeface="微軟正黑體" panose="020B0604030504040204" pitchFamily="34" charset="-120"/>
                <a:ea typeface="微軟正黑體" panose="020B0604030504040204" pitchFamily="34" charset="-120"/>
              </a:rPr>
              <a:t>目的在於想要探討</a:t>
            </a:r>
            <a:r>
              <a:rPr lang="zh-TW" altLang="en-US" dirty="0">
                <a:solidFill>
                  <a:srgbClr val="FF0000"/>
                </a:solidFill>
                <a:latin typeface="微軟正黑體" panose="020B0604030504040204" pitchFamily="34" charset="-120"/>
                <a:ea typeface="微軟正黑體" panose="020B0604030504040204" pitchFamily="34" charset="-120"/>
              </a:rPr>
              <a:t>詞</a:t>
            </a:r>
            <a:r>
              <a:rPr lang="zh-TW" altLang="en-US" dirty="0">
                <a:latin typeface="微軟正黑體" panose="020B0604030504040204" pitchFamily="34" charset="-120"/>
                <a:ea typeface="微軟正黑體" panose="020B0604030504040204" pitchFamily="34" charset="-120"/>
              </a:rPr>
              <a:t>與</a:t>
            </a:r>
            <a:r>
              <a:rPr lang="zh-TW" altLang="en-US" dirty="0">
                <a:solidFill>
                  <a:srgbClr val="FF0000"/>
                </a:solidFill>
                <a:latin typeface="微軟正黑體" panose="020B0604030504040204" pitchFamily="34" charset="-120"/>
                <a:ea typeface="微軟正黑體" panose="020B0604030504040204" pitchFamily="34" charset="-120"/>
              </a:rPr>
              <a:t>類別</a:t>
            </a:r>
            <a:r>
              <a:rPr lang="zh-TW" altLang="en-US" dirty="0">
                <a:latin typeface="微軟正黑體" panose="020B0604030504040204" pitchFamily="34" charset="-120"/>
                <a:ea typeface="微軟正黑體" panose="020B0604030504040204" pitchFamily="34" charset="-120"/>
              </a:rPr>
              <a:t>之間的關係，是否存在某種關係，例如某些字比較容易和某類別一起出現，則這些字出現時，可能帶有某種訊息。</a:t>
            </a:r>
          </a:p>
        </p:txBody>
      </p:sp>
      <mc:AlternateContent xmlns:mc="http://schemas.openxmlformats.org/markup-compatibility/2006" xmlns:a14="http://schemas.microsoft.com/office/drawing/2010/main">
        <mc:Choice Requires="a14">
          <p:sp>
            <p:nvSpPr>
              <p:cNvPr id="6" name="文字方塊 5"/>
              <p:cNvSpPr txBox="1"/>
              <p:nvPr/>
            </p:nvSpPr>
            <p:spPr>
              <a:xfrm>
                <a:off x="2759381" y="4697538"/>
                <a:ext cx="7192610" cy="7822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𝑀𝐼</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𝑐</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𝑙𝑜𝑔</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𝑃</m:t>
                          </m:r>
                          <m:d>
                            <m:dPr>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 </m:t>
                              </m:r>
                            </m:e>
                          </m:d>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𝑐</m:t>
                          </m:r>
                          <m:r>
                            <a:rPr lang="en-US" altLang="zh-TW" sz="2400" b="0" i="1" smtClean="0">
                              <a:latin typeface="Cambria Math" panose="02040503050406030204" pitchFamily="18" charset="0"/>
                            </a:rPr>
                            <m:t>)</m:t>
                          </m:r>
                        </m:num>
                        <m:den>
                          <m:r>
                            <a:rPr lang="en-US" altLang="zh-TW" sz="2400" b="0" i="1" smtClean="0">
                              <a:latin typeface="Cambria Math" panose="02040503050406030204" pitchFamily="18" charset="0"/>
                            </a:rPr>
                            <m:t>𝑃</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𝑐</m:t>
                          </m:r>
                          <m:r>
                            <a:rPr lang="en-US" altLang="zh-TW" sz="2400" b="0" i="1" smtClean="0">
                              <a:latin typeface="Cambria Math" panose="02040503050406030204" pitchFamily="18" charset="0"/>
                            </a:rPr>
                            <m:t>)</m:t>
                          </m:r>
                        </m:den>
                      </m:f>
                      <m:r>
                        <a:rPr lang="en-US" altLang="zh-TW" sz="2400" b="0" i="1" smtClean="0">
                          <a:latin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𝑙𝑜𝑔</m:t>
                      </m:r>
                      <m:f>
                        <m:fPr>
                          <m:ctrlPr>
                            <a:rPr lang="en-US" altLang="zh-TW" sz="2400" b="0" i="1" smtClean="0">
                              <a:latin typeface="Cambria Math" panose="02040503050406030204" pitchFamily="18" charset="0"/>
                              <a:ea typeface="Cambria Math" panose="02040503050406030204" pitchFamily="18" charset="0"/>
                            </a:rPr>
                          </m:ctrlPr>
                        </m:fPr>
                        <m:num>
                          <m:r>
                            <a:rPr lang="en-US" altLang="zh-TW" sz="2400" b="0" i="1" smtClean="0">
                              <a:latin typeface="Cambria Math" panose="02040503050406030204" pitchFamily="18" charset="0"/>
                              <a:ea typeface="Cambria Math" panose="02040503050406030204" pitchFamily="18" charset="0"/>
                            </a:rPr>
                            <m:t>𝐴</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𝑁</m:t>
                          </m:r>
                        </m:num>
                        <m:den>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𝐴</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𝐶</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𝐴</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den>
                      </m:f>
                    </m:oMath>
                  </m:oMathPara>
                </a14:m>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2759381" y="4697538"/>
                <a:ext cx="7192610" cy="782265"/>
              </a:xfrm>
              <a:prstGeom prst="rect">
                <a:avLst/>
              </a:prstGeom>
              <a:blipFill>
                <a:blip r:embed="rId2"/>
                <a:stretch>
                  <a:fillRect/>
                </a:stretch>
              </a:blipFill>
            </p:spPr>
            <p:txBody>
              <a:bodyPr/>
              <a:lstStyle/>
              <a:p>
                <a:r>
                  <a:rPr lang="zh-TW" altLang="en-US">
                    <a:noFill/>
                  </a:rPr>
                  <a:t> </a:t>
                </a:r>
              </a:p>
            </p:txBody>
          </p:sp>
        </mc:Fallback>
      </mc:AlternateContent>
      <p:graphicFrame>
        <p:nvGraphicFramePr>
          <p:cNvPr id="7" name="內容版面配置區 3"/>
          <p:cNvGraphicFramePr>
            <a:graphicFrameLocks/>
          </p:cNvGraphicFramePr>
          <p:nvPr>
            <p:extLst>
              <p:ext uri="{D42A27DB-BD31-4B8C-83A1-F6EECF244321}">
                <p14:modId xmlns:p14="http://schemas.microsoft.com/office/powerpoint/2010/main" val="3725585714"/>
              </p:ext>
            </p:extLst>
          </p:nvPr>
        </p:nvGraphicFramePr>
        <p:xfrm>
          <a:off x="6096000" y="2945242"/>
          <a:ext cx="5453754" cy="1107440"/>
        </p:xfrm>
        <a:graphic>
          <a:graphicData uri="http://schemas.openxmlformats.org/drawingml/2006/table">
            <a:tbl>
              <a:tblPr firstRow="1" bandRow="1">
                <a:tableStyleId>{5940675A-B579-460E-94D1-54222C63F5DA}</a:tableStyleId>
              </a:tblPr>
              <a:tblGrid>
                <a:gridCol w="1817918">
                  <a:extLst>
                    <a:ext uri="{9D8B030D-6E8A-4147-A177-3AD203B41FA5}">
                      <a16:colId xmlns:a16="http://schemas.microsoft.com/office/drawing/2014/main" xmlns="" val="20000"/>
                    </a:ext>
                  </a:extLst>
                </a:gridCol>
                <a:gridCol w="1817918">
                  <a:extLst>
                    <a:ext uri="{9D8B030D-6E8A-4147-A177-3AD203B41FA5}">
                      <a16:colId xmlns:a16="http://schemas.microsoft.com/office/drawing/2014/main" xmlns="" val="20001"/>
                    </a:ext>
                  </a:extLst>
                </a:gridCol>
                <a:gridCol w="1817918">
                  <a:extLst>
                    <a:ext uri="{9D8B030D-6E8A-4147-A177-3AD203B41FA5}">
                      <a16:colId xmlns:a16="http://schemas.microsoft.com/office/drawing/2014/main" xmlns="" val="20002"/>
                    </a:ext>
                  </a:extLst>
                </a:gridCol>
              </a:tblGrid>
              <a:tr h="352051">
                <a:tc>
                  <a:txBody>
                    <a:bodyPr/>
                    <a:lstStyle/>
                    <a:p>
                      <a:endParaRPr lang="zh-TW" altLang="en-US" dirty="0"/>
                    </a:p>
                  </a:txBody>
                  <a:tcPr/>
                </a:tc>
                <a:tc>
                  <a:txBody>
                    <a:bodyPr/>
                    <a:lstStyle/>
                    <a:p>
                      <a:pPr algn="ctr"/>
                      <a:r>
                        <a:rPr lang="zh-TW" altLang="en-US" dirty="0"/>
                        <a:t>屬於類別</a:t>
                      </a:r>
                      <a:r>
                        <a:rPr lang="en-US" altLang="zh-TW" dirty="0"/>
                        <a:t>”c”</a:t>
                      </a:r>
                      <a:endParaRPr lang="zh-TW" altLang="en-US" dirty="0"/>
                    </a:p>
                  </a:txBody>
                  <a:tcPr/>
                </a:tc>
                <a:tc>
                  <a:txBody>
                    <a:bodyPr/>
                    <a:lstStyle/>
                    <a:p>
                      <a:pPr algn="ctr"/>
                      <a:r>
                        <a:rPr lang="zh-TW" altLang="en-US" dirty="0"/>
                        <a:t>不屬於類別</a:t>
                      </a:r>
                      <a:r>
                        <a:rPr lang="en-US" altLang="zh-TW" dirty="0"/>
                        <a:t>”c”</a:t>
                      </a:r>
                      <a:endParaRPr lang="zh-TW" altLang="en-US" dirty="0"/>
                    </a:p>
                  </a:txBody>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包含詞</a:t>
                      </a:r>
                      <a:r>
                        <a:rPr lang="en-US" altLang="zh-TW" dirty="0"/>
                        <a:t>”t”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B</a:t>
                      </a:r>
                      <a:endParaRPr lang="zh-TW" altLang="en-US" dirty="0"/>
                    </a:p>
                  </a:txBody>
                  <a:tcPr/>
                </a:tc>
                <a:extLst>
                  <a:ext uri="{0D108BD9-81ED-4DB2-BD59-A6C34878D82A}">
                    <a16:rowId xmlns:a16="http://schemas.microsoft.com/office/drawing/2014/main" xmlns=""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不包含詞</a:t>
                      </a:r>
                      <a:r>
                        <a:rPr lang="en-US" altLang="zh-TW" dirty="0"/>
                        <a:t>”t”</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D</a:t>
                      </a:r>
                      <a:endParaRPr lang="zh-TW" altLang="en-US" dirty="0"/>
                    </a:p>
                  </a:txBody>
                  <a:tcPr/>
                </a:tc>
                <a:extLst>
                  <a:ext uri="{0D108BD9-81ED-4DB2-BD59-A6C34878D82A}">
                    <a16:rowId xmlns:a16="http://schemas.microsoft.com/office/drawing/2014/main" xmlns="" val="10002"/>
                  </a:ext>
                </a:extLst>
              </a:tr>
            </a:tbl>
          </a:graphicData>
        </a:graphic>
      </p:graphicFrame>
      <mc:AlternateContent xmlns:mc="http://schemas.openxmlformats.org/markup-compatibility/2006" xmlns:a14="http://schemas.microsoft.com/office/drawing/2010/main">
        <mc:Choice Requires="a14">
          <p:sp>
            <p:nvSpPr>
              <p:cNvPr id="8" name="文字方塊 7"/>
              <p:cNvSpPr txBox="1"/>
              <p:nvPr/>
            </p:nvSpPr>
            <p:spPr>
              <a:xfrm>
                <a:off x="4695359" y="5817550"/>
                <a:ext cx="2801280" cy="369332"/>
              </a:xfrm>
              <a:prstGeom prst="rect">
                <a:avLst/>
              </a:prstGeom>
              <a:noFill/>
            </p:spPr>
            <p:txBody>
              <a:bodyPr wrap="none" rtlCol="0">
                <a:spAutoFit/>
              </a:bodyPr>
              <a:lstStyle/>
              <a:p>
                <a:r>
                  <a:rPr lang="zh-TW" altLang="en-US" dirty="0"/>
                  <a:t>其</a:t>
                </a:r>
                <a14:m>
                  <m:oMath xmlns:m="http://schemas.openxmlformats.org/officeDocument/2006/math">
                    <m:r>
                      <a:rPr lang="zh-TW" altLang="en-US">
                        <a:latin typeface="Cambria Math" panose="02040503050406030204" pitchFamily="18" charset="0"/>
                      </a:rPr>
                      <m:t>中</m:t>
                    </m:r>
                    <m:r>
                      <a:rPr lang="zh-TW" altLang="en-US"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r>
                      <a:rPr lang="en-US" altLang="zh-TW" b="0" i="1" smtClean="0">
                        <a:latin typeface="Cambria Math" panose="02040503050406030204" pitchFamily="18" charset="0"/>
                      </a:rPr>
                      <m:t>𝐴</m:t>
                    </m:r>
                    <m:r>
                      <a:rPr lang="en-US" altLang="zh-TW" b="0" i="1" smtClean="0">
                        <a:latin typeface="Cambria Math" panose="02040503050406030204" pitchFamily="18" charset="0"/>
                      </a:rPr>
                      <m:t>+</m:t>
                    </m:r>
                    <m:r>
                      <a:rPr lang="en-US" altLang="zh-TW" b="0" i="1" smtClean="0">
                        <a:latin typeface="Cambria Math" panose="02040503050406030204" pitchFamily="18" charset="0"/>
                      </a:rPr>
                      <m:t>𝐵</m:t>
                    </m:r>
                    <m:r>
                      <a:rPr lang="en-US" altLang="zh-TW" b="0" i="1" smtClean="0">
                        <a:latin typeface="Cambria Math" panose="02040503050406030204" pitchFamily="18" charset="0"/>
                      </a:rPr>
                      <m:t>+</m:t>
                    </m:r>
                    <m:r>
                      <a:rPr lang="en-US" altLang="zh-TW" b="0" i="1" smtClean="0">
                        <a:latin typeface="Cambria Math" panose="02040503050406030204" pitchFamily="18" charset="0"/>
                      </a:rPr>
                      <m:t>𝐶</m:t>
                    </m:r>
                    <m:r>
                      <a:rPr lang="en-US" altLang="zh-TW" b="0" i="1" smtClean="0">
                        <a:latin typeface="Cambria Math" panose="02040503050406030204" pitchFamily="18" charset="0"/>
                      </a:rPr>
                      <m:t>+</m:t>
                    </m:r>
                    <m:r>
                      <a:rPr lang="en-US" altLang="zh-TW" b="0" i="1" smtClean="0">
                        <a:latin typeface="Cambria Math" panose="02040503050406030204" pitchFamily="18" charset="0"/>
                      </a:rPr>
                      <m:t>𝐷</m:t>
                    </m:r>
                  </m:oMath>
                </a14:m>
                <a:endParaRPr lang="zh-TW" altLang="en-US"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4695359" y="5817550"/>
                <a:ext cx="2801280" cy="369332"/>
              </a:xfrm>
              <a:prstGeom prst="rect">
                <a:avLst/>
              </a:prstGeom>
              <a:blipFill rotWithShape="0">
                <a:blip r:embed="rId3"/>
                <a:stretch>
                  <a:fillRect l="-1739" t="-819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379271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Example</a:t>
            </a:r>
            <a:r>
              <a:rPr lang="zh-TW" altLang="en-US" dirty="0">
                <a:latin typeface="新細明體" panose="02020500000000000000" pitchFamily="18" charset="-120"/>
                <a:ea typeface="新細明體" panose="02020500000000000000" pitchFamily="18" charset="-120"/>
              </a:rPr>
              <a:t>：</a:t>
            </a:r>
            <a:endParaRPr lang="zh-TW" altLang="en-US" dirty="0"/>
          </a:p>
        </p:txBody>
      </p:sp>
      <p:graphicFrame>
        <p:nvGraphicFramePr>
          <p:cNvPr id="4" name="內容版面配置區 3"/>
          <p:cNvGraphicFramePr>
            <a:graphicFrameLocks/>
          </p:cNvGraphicFramePr>
          <p:nvPr>
            <p:extLst>
              <p:ext uri="{D42A27DB-BD31-4B8C-83A1-F6EECF244321}">
                <p14:modId xmlns:p14="http://schemas.microsoft.com/office/powerpoint/2010/main" val="3509669330"/>
              </p:ext>
            </p:extLst>
          </p:nvPr>
        </p:nvGraphicFramePr>
        <p:xfrm>
          <a:off x="6096000" y="2730366"/>
          <a:ext cx="5453754" cy="1114451"/>
        </p:xfrm>
        <a:graphic>
          <a:graphicData uri="http://schemas.openxmlformats.org/drawingml/2006/table">
            <a:tbl>
              <a:tblPr firstRow="1" bandRow="1">
                <a:tableStyleId>{5940675A-B579-460E-94D1-54222C63F5DA}</a:tableStyleId>
              </a:tblPr>
              <a:tblGrid>
                <a:gridCol w="1817918">
                  <a:extLst>
                    <a:ext uri="{9D8B030D-6E8A-4147-A177-3AD203B41FA5}">
                      <a16:colId xmlns:a16="http://schemas.microsoft.com/office/drawing/2014/main" xmlns="" val="20000"/>
                    </a:ext>
                  </a:extLst>
                </a:gridCol>
                <a:gridCol w="1817918">
                  <a:extLst>
                    <a:ext uri="{9D8B030D-6E8A-4147-A177-3AD203B41FA5}">
                      <a16:colId xmlns:a16="http://schemas.microsoft.com/office/drawing/2014/main" xmlns="" val="20001"/>
                    </a:ext>
                  </a:extLst>
                </a:gridCol>
                <a:gridCol w="1817918">
                  <a:extLst>
                    <a:ext uri="{9D8B030D-6E8A-4147-A177-3AD203B41FA5}">
                      <a16:colId xmlns:a16="http://schemas.microsoft.com/office/drawing/2014/main" xmlns="" val="20002"/>
                    </a:ext>
                  </a:extLst>
                </a:gridCol>
              </a:tblGrid>
              <a:tr h="372771">
                <a:tc>
                  <a:txBody>
                    <a:bodyPr/>
                    <a:lstStyle/>
                    <a:p>
                      <a:endParaRPr lang="zh-TW" altLang="en-US" dirty="0"/>
                    </a:p>
                  </a:txBody>
                  <a:tcPr/>
                </a:tc>
                <a:tc>
                  <a:txBody>
                    <a:bodyPr/>
                    <a:lstStyle/>
                    <a:p>
                      <a:pPr algn="ctr"/>
                      <a:r>
                        <a:rPr lang="zh-TW" altLang="en-US" dirty="0"/>
                        <a:t>屬於</a:t>
                      </a:r>
                      <a:r>
                        <a:rPr lang="en-US" altLang="zh-TW" dirty="0"/>
                        <a:t>”</a:t>
                      </a:r>
                      <a:r>
                        <a:rPr lang="zh-TW" altLang="en-US" dirty="0"/>
                        <a:t>體育</a:t>
                      </a:r>
                      <a:r>
                        <a:rPr lang="en-US" altLang="zh-TW" dirty="0"/>
                        <a:t>”</a:t>
                      </a:r>
                      <a:endParaRPr lang="zh-TW" altLang="en-US" dirty="0"/>
                    </a:p>
                  </a:txBody>
                  <a:tcPr/>
                </a:tc>
                <a:tc>
                  <a:txBody>
                    <a:bodyPr/>
                    <a:lstStyle/>
                    <a:p>
                      <a:pPr algn="ctr"/>
                      <a:r>
                        <a:rPr lang="zh-TW" altLang="en-US" dirty="0" smtClean="0"/>
                        <a:t>不屬於</a:t>
                      </a:r>
                      <a:r>
                        <a:rPr lang="en-US" altLang="zh-TW" dirty="0"/>
                        <a:t>”</a:t>
                      </a:r>
                      <a:r>
                        <a:rPr lang="zh-TW" altLang="en-US" dirty="0"/>
                        <a:t>體育</a:t>
                      </a:r>
                      <a:r>
                        <a:rPr lang="en-US" altLang="zh-TW" dirty="0"/>
                        <a:t>”</a:t>
                      </a:r>
                      <a:endParaRPr lang="zh-TW" altLang="en-US" dirty="0"/>
                    </a:p>
                  </a:txBody>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包含</a:t>
                      </a:r>
                      <a:r>
                        <a:rPr lang="en-US" altLang="zh-TW" dirty="0"/>
                        <a:t>”</a:t>
                      </a:r>
                      <a:r>
                        <a:rPr lang="zh-TW" altLang="en-US" dirty="0"/>
                        <a:t>籃球</a:t>
                      </a:r>
                      <a:r>
                        <a:rPr lang="en-US" altLang="zh-TW" dirty="0"/>
                        <a:t>”</a:t>
                      </a:r>
                      <a:endParaRPr lang="zh-TW" altLang="en-US" dirty="0"/>
                    </a:p>
                  </a:txBody>
                  <a:tcPr/>
                </a:tc>
                <a:tc>
                  <a:txBody>
                    <a:bodyPr/>
                    <a:lstStyle/>
                    <a:p>
                      <a:pPr algn="ctr"/>
                      <a:r>
                        <a:rPr lang="en-US" altLang="zh-TW" dirty="0"/>
                        <a:t>6(A)</a:t>
                      </a:r>
                      <a:endParaRPr lang="zh-TW" altLang="en-US" dirty="0"/>
                    </a:p>
                  </a:txBody>
                  <a:tcPr/>
                </a:tc>
                <a:tc>
                  <a:txBody>
                    <a:bodyPr/>
                    <a:lstStyle/>
                    <a:p>
                      <a:pPr algn="ctr"/>
                      <a:r>
                        <a:rPr lang="en-US" altLang="zh-TW" dirty="0"/>
                        <a:t>4(B)</a:t>
                      </a:r>
                      <a:endParaRPr lang="zh-TW" altLang="en-US" dirty="0"/>
                    </a:p>
                  </a:txBody>
                  <a:tcPr/>
                </a:tc>
                <a:extLst>
                  <a:ext uri="{0D108BD9-81ED-4DB2-BD59-A6C34878D82A}">
                    <a16:rowId xmlns:a16="http://schemas.microsoft.com/office/drawing/2014/main" xmlns=""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不包含</a:t>
                      </a:r>
                      <a:r>
                        <a:rPr lang="en-US" altLang="zh-TW" dirty="0"/>
                        <a:t>”</a:t>
                      </a:r>
                      <a:r>
                        <a:rPr lang="zh-TW" altLang="en-US" dirty="0"/>
                        <a:t>籃球</a:t>
                      </a:r>
                      <a:r>
                        <a:rPr lang="en-US" altLang="zh-TW" dirty="0"/>
                        <a:t>”</a:t>
                      </a:r>
                      <a:endParaRPr lang="zh-TW" altLang="en-US" dirty="0"/>
                    </a:p>
                  </a:txBody>
                  <a:tcPr/>
                </a:tc>
                <a:tc>
                  <a:txBody>
                    <a:bodyPr/>
                    <a:lstStyle/>
                    <a:p>
                      <a:pPr algn="ctr"/>
                      <a:r>
                        <a:rPr lang="en-US" altLang="zh-TW" dirty="0"/>
                        <a:t>15(C)</a:t>
                      </a:r>
                      <a:endParaRPr lang="zh-TW" altLang="en-US" dirty="0"/>
                    </a:p>
                  </a:txBody>
                  <a:tcPr/>
                </a:tc>
                <a:tc>
                  <a:txBody>
                    <a:bodyPr/>
                    <a:lstStyle/>
                    <a:p>
                      <a:pPr algn="ctr"/>
                      <a:r>
                        <a:rPr lang="en-US" altLang="zh-TW" dirty="0"/>
                        <a:t>20(D)</a:t>
                      </a:r>
                      <a:endParaRPr lang="zh-TW" altLang="en-US" dirty="0"/>
                    </a:p>
                  </a:txBody>
                  <a:tcPr/>
                </a:tc>
                <a:extLst>
                  <a:ext uri="{0D108BD9-81ED-4DB2-BD59-A6C34878D82A}">
                    <a16:rowId xmlns:a16="http://schemas.microsoft.com/office/drawing/2014/main" xmlns="" val="10002"/>
                  </a:ext>
                </a:extLst>
              </a:tr>
            </a:tbl>
          </a:graphicData>
        </a:graphic>
      </p:graphicFrame>
      <mc:AlternateContent xmlns:mc="http://schemas.openxmlformats.org/markup-compatibility/2006" xmlns:a14="http://schemas.microsoft.com/office/drawing/2010/main">
        <mc:Choice Requires="a14">
          <p:sp>
            <p:nvSpPr>
              <p:cNvPr id="5" name="文字方塊 4"/>
              <p:cNvSpPr txBox="1"/>
              <p:nvPr/>
            </p:nvSpPr>
            <p:spPr>
              <a:xfrm>
                <a:off x="2201146" y="2768706"/>
                <a:ext cx="2533771"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𝑁</m:t>
                      </m:r>
                      <m:r>
                        <a:rPr lang="en-US" altLang="zh-TW" b="0" i="1" smtClean="0">
                          <a:latin typeface="Cambria Math" panose="02040503050406030204" pitchFamily="18" charset="0"/>
                          <a:ea typeface="Cambria Math" panose="02040503050406030204" pitchFamily="18" charset="0"/>
                        </a:rPr>
                        <m:t>=6×45=270</m:t>
                      </m:r>
                    </m:oMath>
                  </m:oMathPara>
                </a14:m>
                <a:endParaRPr lang="en-US" altLang="zh-TW" b="0" dirty="0">
                  <a:ea typeface="Cambria Math" panose="02040503050406030204" pitchFamily="18" charset="0"/>
                </a:endParaRPr>
              </a:p>
              <a:p>
                <a:endParaRPr lang="zh-TW" altLang="en-US"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2201146" y="2768706"/>
                <a:ext cx="2533771" cy="646331"/>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2934647" y="3198486"/>
                <a:ext cx="1400320"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rPr>
                        <m:t>+</m:t>
                      </m:r>
                      <m:r>
                        <a:rPr lang="en-US" altLang="zh-TW" b="0" i="1" smtClean="0">
                          <a:latin typeface="Cambria Math" panose="02040503050406030204" pitchFamily="18" charset="0"/>
                        </a:rPr>
                        <m:t>𝐶</m:t>
                      </m:r>
                      <m:r>
                        <a:rPr lang="en-US" altLang="zh-TW" b="0" i="1" smtClean="0">
                          <a:latin typeface="Cambria Math" panose="02040503050406030204" pitchFamily="18" charset="0"/>
                        </a:rPr>
                        <m:t>=21</m:t>
                      </m:r>
                    </m:oMath>
                  </m:oMathPara>
                </a14:m>
                <a:endParaRPr lang="en-US" altLang="zh-TW" b="0" dirty="0"/>
              </a:p>
              <a:p>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2934647" y="3198486"/>
                <a:ext cx="1400320" cy="646331"/>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934647" y="3580126"/>
                <a:ext cx="137774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rPr>
                        <m:t>+</m:t>
                      </m:r>
                      <m:r>
                        <a:rPr lang="en-US" altLang="zh-TW" b="0" i="1" smtClean="0">
                          <a:latin typeface="Cambria Math" panose="02040503050406030204" pitchFamily="18" charset="0"/>
                        </a:rPr>
                        <m:t>𝐵</m:t>
                      </m:r>
                      <m:r>
                        <a:rPr lang="en-US" altLang="zh-TW" b="0" i="1" smtClean="0">
                          <a:latin typeface="Cambria Math" panose="02040503050406030204" pitchFamily="18" charset="0"/>
                        </a:rPr>
                        <m:t>=10</m:t>
                      </m:r>
                    </m:oMath>
                  </m:oMathPara>
                </a14:m>
                <a:endParaRPr lang="en-US" altLang="zh-TW" b="0" dirty="0"/>
              </a:p>
            </p:txBody>
          </p:sp>
        </mc:Choice>
        <mc:Fallback xmlns="">
          <p:sp>
            <p:nvSpPr>
              <p:cNvPr id="7" name="矩形 6"/>
              <p:cNvSpPr>
                <a:spLocks noRot="1" noChangeAspect="1" noMove="1" noResize="1" noEditPoints="1" noAdjustHandles="1" noChangeArrowheads="1" noChangeShapeType="1" noTextEdit="1"/>
              </p:cNvSpPr>
              <p:nvPr/>
            </p:nvSpPr>
            <p:spPr>
              <a:xfrm>
                <a:off x="2934647" y="3580126"/>
                <a:ext cx="1377749" cy="36933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6226474" y="1432278"/>
                <a:ext cx="5208542"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𝑀𝐼</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𝑐</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𝑙𝑜𝑔</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𝑃</m:t>
                          </m:r>
                          <m:d>
                            <m:dPr>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𝑡</m:t>
                              </m:r>
                              <m:r>
                                <a:rPr lang="en-US" altLang="zh-TW" b="0" i="1" smtClean="0">
                                  <a:latin typeface="Cambria Math" panose="02040503050406030204" pitchFamily="18" charset="0"/>
                                </a:rPr>
                                <m:t> </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𝑐</m:t>
                          </m:r>
                          <m:r>
                            <a:rPr lang="en-US" altLang="zh-TW" b="0" i="1" smtClean="0">
                              <a:latin typeface="Cambria Math" panose="02040503050406030204" pitchFamily="18" charset="0"/>
                            </a:rPr>
                            <m:t>)</m:t>
                          </m:r>
                        </m:num>
                        <m:den>
                          <m:r>
                            <a:rPr lang="en-US" altLang="zh-TW" b="0" i="1" smtClean="0">
                              <a:latin typeface="Cambria Math" panose="02040503050406030204" pitchFamily="18" charset="0"/>
                            </a:rPr>
                            <m:t>𝑃</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r>
                            <a:rPr lang="en-US" altLang="zh-TW" b="0" i="1" smtClean="0">
                              <a:latin typeface="Cambria Math" panose="02040503050406030204" pitchFamily="18" charset="0"/>
                            </a:rPr>
                            <m:t>)×</m:t>
                          </m:r>
                          <m:r>
                            <a:rPr lang="en-US" altLang="zh-TW" b="0" i="1" smtClean="0">
                              <a:latin typeface="Cambria Math" panose="02040503050406030204" pitchFamily="18" charset="0"/>
                            </a:rPr>
                            <m:t>𝑃</m:t>
                          </m:r>
                          <m:r>
                            <a:rPr lang="en-US" altLang="zh-TW" b="0" i="1" smtClean="0">
                              <a:latin typeface="Cambria Math" panose="02040503050406030204" pitchFamily="18" charset="0"/>
                            </a:rPr>
                            <m:t>(</m:t>
                          </m:r>
                          <m:r>
                            <a:rPr lang="en-US" altLang="zh-TW" b="0" i="1" smtClean="0">
                              <a:latin typeface="Cambria Math" panose="02040503050406030204" pitchFamily="18" charset="0"/>
                            </a:rPr>
                            <m:t>𝑐</m:t>
                          </m:r>
                          <m:r>
                            <a:rPr lang="en-US" altLang="zh-TW" b="0" i="1" smtClean="0">
                              <a:latin typeface="Cambria Math" panose="02040503050406030204" pitchFamily="18" charset="0"/>
                            </a:rPr>
                            <m:t>)</m:t>
                          </m:r>
                        </m:den>
                      </m:f>
                      <m:r>
                        <a:rPr lang="en-US" altLang="zh-TW" b="0" i="1" smtClean="0">
                          <a:latin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𝑙𝑜𝑔</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𝑁</m:t>
                          </m:r>
                        </m:num>
                        <m:den>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𝐶</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𝐵</m:t>
                          </m:r>
                          <m:r>
                            <a:rPr lang="en-US" altLang="zh-TW" b="0" i="1" smtClean="0">
                              <a:latin typeface="Cambria Math" panose="02040503050406030204" pitchFamily="18" charset="0"/>
                              <a:ea typeface="Cambria Math" panose="02040503050406030204" pitchFamily="18" charset="0"/>
                            </a:rPr>
                            <m:t>)</m:t>
                          </m:r>
                        </m:den>
                      </m:f>
                    </m:oMath>
                  </m:oMathPara>
                </a14:m>
                <a:endParaRPr lang="zh-TW" altLang="en-US"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6226474" y="1432278"/>
                <a:ext cx="5208542" cy="586699"/>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201146" y="2374183"/>
                <a:ext cx="28673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𝑁</m:t>
                      </m:r>
                      <m:r>
                        <a:rPr lang="en-US" altLang="zh-TW" b="0" i="1" smtClean="0">
                          <a:latin typeface="Cambria Math" panose="02040503050406030204" pitchFamily="18" charset="0"/>
                        </a:rPr>
                        <m:t>=6+4+15+20=45</m:t>
                      </m:r>
                    </m:oMath>
                  </m:oMathPara>
                </a14:m>
                <a:endParaRPr lang="en-US" altLang="zh-TW" b="0" dirty="0"/>
              </a:p>
            </p:txBody>
          </p:sp>
        </mc:Choice>
        <mc:Fallback xmlns="">
          <p:sp>
            <p:nvSpPr>
              <p:cNvPr id="9" name="矩形 8"/>
              <p:cNvSpPr>
                <a:spLocks noRot="1" noChangeAspect="1" noMove="1" noResize="1" noEditPoints="1" noAdjustHandles="1" noChangeArrowheads="1" noChangeShapeType="1" noTextEdit="1"/>
              </p:cNvSpPr>
              <p:nvPr/>
            </p:nvSpPr>
            <p:spPr>
              <a:xfrm>
                <a:off x="2201146" y="2374183"/>
                <a:ext cx="2867323" cy="36933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186317" y="5466867"/>
                <a:ext cx="6157583"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𝑀𝐼</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m:t>
                          </m:r>
                          <m:r>
                            <a:rPr lang="zh-TW" altLang="en-US" i="1">
                              <a:latin typeface="Cambria Math" panose="02040503050406030204" pitchFamily="18" charset="0"/>
                            </a:rPr>
                            <m:t>籃球</m:t>
                          </m:r>
                          <m:r>
                            <a:rPr lang="en-US" altLang="zh-TW" b="0" i="1" smtClean="0">
                              <a:latin typeface="Cambria Math" panose="02040503050406030204" pitchFamily="18" charset="0"/>
                            </a:rPr>
                            <m:t>", </m:t>
                          </m:r>
                          <m:r>
                            <a:rPr lang="en-US" altLang="zh-TW" i="1">
                              <a:latin typeface="Cambria Math" panose="02040503050406030204" pitchFamily="18" charset="0"/>
                            </a:rPr>
                            <m:t>"</m:t>
                          </m:r>
                          <m:r>
                            <a:rPr lang="zh-TW" altLang="en-US" i="1" smtClean="0">
                              <a:latin typeface="Cambria Math" panose="02040503050406030204" pitchFamily="18" charset="0"/>
                            </a:rPr>
                            <m:t>體育</m:t>
                          </m:r>
                          <m:r>
                            <a:rPr lang="en-US" altLang="zh-TW" i="1" smtClean="0">
                              <a:latin typeface="Cambria Math" panose="02040503050406030204" pitchFamily="18" charset="0"/>
                            </a:rPr>
                            <m:t>"</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𝑙𝑜𝑔</m:t>
                      </m:r>
                      <m:f>
                        <m:fPr>
                          <m:ctrlPr>
                            <a:rPr lang="en-US" altLang="zh-TW" b="0" i="1" smtClean="0">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2</m:t>
                          </m:r>
                          <m:r>
                            <a:rPr lang="en-US" altLang="zh-TW" i="1" smtClean="0">
                              <a:latin typeface="Cambria Math" panose="02040503050406030204" pitchFamily="18" charset="0"/>
                              <a:ea typeface="Cambria Math" panose="02040503050406030204" pitchFamily="18" charset="0"/>
                            </a:rPr>
                            <m:t>7</m:t>
                          </m:r>
                          <m:r>
                            <a:rPr lang="en-US" altLang="zh-TW" i="1">
                              <a:latin typeface="Cambria Math" panose="02040503050406030204" pitchFamily="18" charset="0"/>
                              <a:ea typeface="Cambria Math" panose="02040503050406030204" pitchFamily="18" charset="0"/>
                            </a:rPr>
                            <m:t>0</m:t>
                          </m:r>
                        </m:num>
                        <m:den>
                          <m:r>
                            <a:rPr lang="en-US" altLang="zh-TW" i="1">
                              <a:latin typeface="Cambria Math" panose="02040503050406030204" pitchFamily="18" charset="0"/>
                              <a:ea typeface="Cambria Math" panose="02040503050406030204" pitchFamily="18" charset="0"/>
                            </a:rPr>
                            <m:t>2</m:t>
                          </m:r>
                          <m:r>
                            <a:rPr lang="en-US" altLang="zh-TW" i="1" smtClean="0">
                              <a:latin typeface="Cambria Math" panose="02040503050406030204" pitchFamily="18" charset="0"/>
                              <a:ea typeface="Cambria Math" panose="02040503050406030204" pitchFamily="18" charset="0"/>
                            </a:rPr>
                            <m:t>1</m:t>
                          </m:r>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1</m:t>
                          </m:r>
                          <m:r>
                            <a:rPr lang="en-US" altLang="zh-TW" i="1" smtClean="0">
                              <a:latin typeface="Cambria Math" panose="02040503050406030204" pitchFamily="18" charset="0"/>
                              <a:ea typeface="Cambria Math" panose="02040503050406030204" pitchFamily="18" charset="0"/>
                            </a:rPr>
                            <m:t>0</m:t>
                          </m:r>
                        </m:den>
                      </m:f>
                      <m:r>
                        <a:rPr lang="en-US" altLang="zh-TW" b="0" i="1"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log</m:t>
                          </m:r>
                        </m:fName>
                        <m:e>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1.28571</m:t>
                              </m:r>
                            </m:e>
                          </m:d>
                        </m:e>
                      </m:func>
                      <m:r>
                        <a:rPr lang="en-US" altLang="zh-TW" b="0" i="1" smtClean="0">
                          <a:latin typeface="Cambria Math" panose="02040503050406030204" pitchFamily="18" charset="0"/>
                          <a:ea typeface="Cambria Math" panose="02040503050406030204" pitchFamily="18" charset="0"/>
                        </a:rPr>
                        <m:t>=0.1091</m:t>
                      </m:r>
                    </m:oMath>
                  </m:oMathPara>
                </a14:m>
                <a:endParaRPr lang="zh-TW"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3186317" y="5466867"/>
                <a:ext cx="6157583" cy="612732"/>
              </a:xfrm>
              <a:prstGeom prst="rect">
                <a:avLst/>
              </a:prstGeom>
              <a:blipFill>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602461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Information  Gain (IG)</a:t>
            </a:r>
            <a:endParaRPr lang="zh-TW" altLang="en-US" dirty="0"/>
          </a:p>
        </p:txBody>
      </p:sp>
      <p:sp>
        <p:nvSpPr>
          <p:cNvPr id="4" name="文字方塊 3"/>
          <p:cNvSpPr txBox="1"/>
          <p:nvPr/>
        </p:nvSpPr>
        <p:spPr>
          <a:xfrm>
            <a:off x="838200" y="4862898"/>
            <a:ext cx="10033516" cy="830997"/>
          </a:xfrm>
          <a:prstGeom prst="rect">
            <a:avLst/>
          </a:prstGeom>
          <a:noFill/>
        </p:spPr>
        <p:txBody>
          <a:bodyPr wrap="none" rtlCol="0">
            <a:spAutoFit/>
          </a:bodyPr>
          <a:lstStyle/>
          <a:p>
            <a:r>
              <a:rPr lang="zh-TW" altLang="en-US" sz="2400" dirty="0">
                <a:solidFill>
                  <a:srgbClr val="303030"/>
                </a:solidFill>
                <a:latin typeface="微軟正黑體" panose="020B0604030504040204" pitchFamily="34" charset="-120"/>
                <a:ea typeface="微軟正黑體" panose="020B0604030504040204" pitchFamily="34" charset="-120"/>
              </a:rPr>
              <a:t>根據訓練資料，計算出各個特徵項的資訊獲利，刪除資訊獲利很小的項，</a:t>
            </a:r>
            <a:endParaRPr lang="en-US" altLang="zh-TW" sz="2400" dirty="0">
              <a:solidFill>
                <a:srgbClr val="303030"/>
              </a:solidFill>
              <a:latin typeface="微軟正黑體" panose="020B0604030504040204" pitchFamily="34" charset="-120"/>
              <a:ea typeface="微軟正黑體" panose="020B0604030504040204" pitchFamily="34" charset="-120"/>
            </a:endParaRPr>
          </a:p>
          <a:p>
            <a:r>
              <a:rPr lang="zh-TW" altLang="en-US" sz="2400" dirty="0">
                <a:solidFill>
                  <a:srgbClr val="303030"/>
                </a:solidFill>
                <a:latin typeface="微軟正黑體" panose="020B0604030504040204" pitchFamily="34" charset="-120"/>
                <a:ea typeface="微軟正黑體" panose="020B0604030504040204" pitchFamily="34" charset="-120"/>
              </a:rPr>
              <a:t>其餘的按照資訊獲利從大到小排序</a:t>
            </a:r>
            <a:r>
              <a:rPr lang="zh-TW" altLang="en-US" dirty="0">
                <a:latin typeface="微軟正黑體" panose="020B0604030504040204" pitchFamily="34" charset="-120"/>
                <a:ea typeface="微軟正黑體" panose="020B0604030504040204" pitchFamily="34" charset="-120"/>
              </a:rPr>
              <a:t>。</a:t>
            </a:r>
            <a:endParaRPr lang="zh-TW" altLang="en-US" dirty="0"/>
          </a:p>
        </p:txBody>
      </p:sp>
      <p:sp>
        <p:nvSpPr>
          <p:cNvPr id="6" name="文字方塊 5"/>
          <p:cNvSpPr txBox="1"/>
          <p:nvPr/>
        </p:nvSpPr>
        <p:spPr>
          <a:xfrm>
            <a:off x="838200" y="1753299"/>
            <a:ext cx="11072262" cy="3046988"/>
          </a:xfrm>
          <a:prstGeom prst="rect">
            <a:avLst/>
          </a:prstGeom>
          <a:noFill/>
        </p:spPr>
        <p:txBody>
          <a:bodyPr wrap="none" rtlCol="0">
            <a:spAutoFit/>
          </a:bodyPr>
          <a:lstStyle/>
          <a:p>
            <a:r>
              <a:rPr lang="zh-TW" altLang="en-US" sz="2400" b="0" i="0" dirty="0">
                <a:solidFill>
                  <a:srgbClr val="303030"/>
                </a:solidFill>
                <a:effectLst/>
                <a:latin typeface="微軟正黑體" panose="020B0604030504040204" pitchFamily="34" charset="-120"/>
                <a:ea typeface="微軟正黑體" panose="020B0604030504040204" pitchFamily="34" charset="-120"/>
              </a:rPr>
              <a:t>資訊獲利</a:t>
            </a:r>
            <a:r>
              <a:rPr lang="zh-CN" altLang="en-US" sz="2400" b="0" i="0" dirty="0">
                <a:solidFill>
                  <a:srgbClr val="303030"/>
                </a:solidFill>
                <a:effectLst/>
                <a:latin typeface="微軟正黑體" panose="020B0604030504040204" pitchFamily="34" charset="-120"/>
                <a:ea typeface="微軟正黑體" panose="020B0604030504040204" pitchFamily="34" charset="-120"/>
              </a:rPr>
              <a:t>就是</a:t>
            </a:r>
            <a:r>
              <a:rPr lang="zh-CN" altLang="en-US" sz="2400" dirty="0">
                <a:solidFill>
                  <a:srgbClr val="303030"/>
                </a:solidFill>
                <a:latin typeface="微軟正黑體" panose="020B0604030504040204" pitchFamily="34" charset="-120"/>
                <a:ea typeface="微軟正黑體" panose="020B0604030504040204" pitchFamily="34" charset="-120"/>
              </a:rPr>
              <a:t>看</a:t>
            </a:r>
            <a:r>
              <a:rPr lang="zh-TW" altLang="en-US" sz="2400" dirty="0">
                <a:solidFill>
                  <a:srgbClr val="303030"/>
                </a:solidFill>
                <a:latin typeface="微軟正黑體" panose="020B0604030504040204" pitchFamily="34" charset="-120"/>
                <a:ea typeface="微軟正黑體" panose="020B0604030504040204" pitchFamily="34" charset="-120"/>
              </a:rPr>
              <a:t>一個特徵</a:t>
            </a:r>
            <a:r>
              <a:rPr lang="en-US" altLang="zh-TW" sz="2400" dirty="0">
                <a:solidFill>
                  <a:srgbClr val="303030"/>
                </a:solidFill>
                <a:latin typeface="微軟正黑體" panose="020B0604030504040204" pitchFamily="34" charset="-120"/>
                <a:ea typeface="微軟正黑體" panose="020B0604030504040204" pitchFamily="34" charset="-120"/>
              </a:rPr>
              <a:t>“t”</a:t>
            </a:r>
            <a:r>
              <a:rPr lang="zh-CN" altLang="en-US" sz="2400" dirty="0">
                <a:solidFill>
                  <a:srgbClr val="303030"/>
                </a:solidFill>
                <a:latin typeface="微軟正黑體" panose="020B0604030504040204" pitchFamily="34" charset="-120"/>
                <a:ea typeface="微軟正黑體" panose="020B0604030504040204" pitchFamily="34" charset="-120"/>
              </a:rPr>
              <a:t>，系统有它和</a:t>
            </a:r>
            <a:r>
              <a:rPr lang="zh-TW" altLang="en-US" sz="2400" dirty="0">
                <a:solidFill>
                  <a:srgbClr val="303030"/>
                </a:solidFill>
                <a:latin typeface="微軟正黑體" panose="020B0604030504040204" pitchFamily="34" charset="-120"/>
                <a:ea typeface="微軟正黑體" panose="020B0604030504040204" pitchFamily="34" charset="-120"/>
              </a:rPr>
              <a:t>沒</a:t>
            </a:r>
            <a:r>
              <a:rPr lang="zh-CN" altLang="en-US" sz="2400" dirty="0">
                <a:solidFill>
                  <a:srgbClr val="303030"/>
                </a:solidFill>
                <a:latin typeface="微軟正黑體" panose="020B0604030504040204" pitchFamily="34" charset="-120"/>
                <a:ea typeface="微軟正黑體" panose="020B0604030504040204" pitchFamily="34" charset="-120"/>
              </a:rPr>
              <a:t>它</a:t>
            </a:r>
            <a:r>
              <a:rPr lang="en-US" altLang="zh-TW" sz="2400" dirty="0">
                <a:solidFill>
                  <a:srgbClr val="303030"/>
                </a:solidFill>
                <a:latin typeface="微軟正黑體" panose="020B0604030504040204" pitchFamily="34" charset="-120"/>
                <a:ea typeface="微軟正黑體" panose="020B0604030504040204" pitchFamily="34" charset="-120"/>
              </a:rPr>
              <a:t>(t</a:t>
            </a:r>
            <a:r>
              <a:rPr lang="zh-TW" altLang="en-US" sz="2400" dirty="0">
                <a:solidFill>
                  <a:srgbClr val="303030"/>
                </a:solidFill>
                <a:latin typeface="微軟正黑體" panose="020B0604030504040204" pitchFamily="34" charset="-120"/>
                <a:ea typeface="微軟正黑體" panose="020B0604030504040204" pitchFamily="34" charset="-120"/>
              </a:rPr>
              <a:t>固定</a:t>
            </a:r>
            <a:r>
              <a:rPr lang="en-US" altLang="zh-TW" sz="2400" dirty="0">
                <a:solidFill>
                  <a:srgbClr val="303030"/>
                </a:solidFill>
                <a:latin typeface="微軟正黑體" panose="020B0604030504040204" pitchFamily="34" charset="-120"/>
                <a:ea typeface="微軟正黑體" panose="020B0604030504040204" pitchFamily="34" charset="-120"/>
              </a:rPr>
              <a:t>)</a:t>
            </a:r>
            <a:r>
              <a:rPr lang="zh-CN" altLang="en-US" sz="2400" dirty="0">
                <a:solidFill>
                  <a:srgbClr val="303030"/>
                </a:solidFill>
                <a:latin typeface="微軟正黑體" panose="020B0604030504040204" pitchFamily="34" charset="-120"/>
                <a:ea typeface="微軟正黑體" panose="020B0604030504040204" pitchFamily="34" charset="-120"/>
              </a:rPr>
              <a:t>的</a:t>
            </a:r>
            <a:r>
              <a:rPr lang="zh-TW" altLang="en-US" sz="2400" dirty="0">
                <a:solidFill>
                  <a:srgbClr val="303030"/>
                </a:solidFill>
                <a:latin typeface="微軟正黑體" panose="020B0604030504040204" pitchFamily="34" charset="-120"/>
                <a:ea typeface="微軟正黑體" panose="020B0604030504040204" pitchFamily="34" charset="-120"/>
              </a:rPr>
              <a:t>時候資訊量</a:t>
            </a:r>
            <a:r>
              <a:rPr lang="zh-CN" altLang="en-US" sz="2400" dirty="0">
                <a:solidFill>
                  <a:srgbClr val="303030"/>
                </a:solidFill>
                <a:latin typeface="微軟正黑體" panose="020B0604030504040204" pitchFamily="34" charset="-120"/>
                <a:ea typeface="微軟正黑體" panose="020B0604030504040204" pitchFamily="34" charset="-120"/>
              </a:rPr>
              <a:t>各是多少，</a:t>
            </a:r>
            <a:endParaRPr lang="en-US" altLang="zh-CN" sz="2400" dirty="0">
              <a:solidFill>
                <a:srgbClr val="303030"/>
              </a:solidFill>
              <a:latin typeface="微軟正黑體" panose="020B0604030504040204" pitchFamily="34" charset="-120"/>
              <a:ea typeface="微軟正黑體" panose="020B0604030504040204" pitchFamily="34" charset="-120"/>
            </a:endParaRPr>
          </a:p>
          <a:p>
            <a:r>
              <a:rPr lang="zh-TW" altLang="en-US" sz="2400" dirty="0">
                <a:solidFill>
                  <a:srgbClr val="303030"/>
                </a:solidFill>
                <a:latin typeface="微軟正黑體" panose="020B0604030504040204" pitchFamily="34" charset="-120"/>
                <a:ea typeface="微軟正黑體" panose="020B0604030504040204" pitchFamily="34" charset="-120"/>
              </a:rPr>
              <a:t>兩者的差值就是這個特徵詞帶來的資訊量，即獲利</a:t>
            </a:r>
            <a:r>
              <a:rPr lang="zh-CN" altLang="en-US" sz="2400" dirty="0">
                <a:solidFill>
                  <a:srgbClr val="303030"/>
                </a:solidFill>
                <a:latin typeface="微軟正黑體" panose="020B0604030504040204" pitchFamily="34" charset="-120"/>
                <a:ea typeface="微軟正黑體" panose="020B0604030504040204" pitchFamily="34" charset="-120"/>
              </a:rPr>
              <a:t>。</a:t>
            </a:r>
            <a:endParaRPr lang="en-US" altLang="zh-CN" sz="2400" dirty="0">
              <a:solidFill>
                <a:srgbClr val="303030"/>
              </a:solidFill>
              <a:latin typeface="微軟正黑體" panose="020B0604030504040204" pitchFamily="34" charset="-120"/>
              <a:ea typeface="微軟正黑體" panose="020B0604030504040204" pitchFamily="34" charset="-120"/>
            </a:endParaRPr>
          </a:p>
          <a:p>
            <a:r>
              <a:rPr lang="zh-TW" altLang="en-US" sz="2400" dirty="0">
                <a:solidFill>
                  <a:srgbClr val="303030"/>
                </a:solidFill>
                <a:latin typeface="微軟正黑體" panose="020B0604030504040204" pitchFamily="34" charset="-120"/>
                <a:ea typeface="微軟正黑體" panose="020B0604030504040204" pitchFamily="34" charset="-120"/>
              </a:rPr>
              <a:t>而資訊量的計算就是熵</a:t>
            </a:r>
            <a:r>
              <a:rPr lang="en-US" altLang="zh-TW" sz="2400" dirty="0">
                <a:solidFill>
                  <a:srgbClr val="303030"/>
                </a:solidFill>
                <a:latin typeface="微軟正黑體" panose="020B0604030504040204" pitchFamily="34" charset="-120"/>
                <a:ea typeface="微軟正黑體" panose="020B0604030504040204" pitchFamily="34" charset="-120"/>
              </a:rPr>
              <a:t>(Entropy)</a:t>
            </a:r>
            <a:endParaRPr lang="en-US" altLang="zh-CN" sz="2400" dirty="0">
              <a:solidFill>
                <a:srgbClr val="303030"/>
              </a:solidFill>
              <a:latin typeface="微軟正黑體" panose="020B0604030504040204" pitchFamily="34" charset="-120"/>
              <a:ea typeface="微軟正黑體" panose="020B0604030504040204" pitchFamily="34" charset="-120"/>
            </a:endParaRPr>
          </a:p>
          <a:p>
            <a:endParaRPr lang="en-US" altLang="zh-CN" sz="2400" dirty="0">
              <a:solidFill>
                <a:srgbClr val="303030"/>
              </a:solidFill>
              <a:latin typeface="微軟正黑體" panose="020B0604030504040204" pitchFamily="34" charset="-120"/>
              <a:ea typeface="微軟正黑體" panose="020B0604030504040204" pitchFamily="34" charset="-120"/>
            </a:endParaRPr>
          </a:p>
          <a:p>
            <a:endParaRPr lang="en-US" altLang="zh-CN" sz="2400" b="0" i="0" dirty="0">
              <a:solidFill>
                <a:srgbClr val="303030"/>
              </a:solidFill>
              <a:effectLst/>
              <a:latin typeface="微軟正黑體" panose="020B0604030504040204" pitchFamily="34" charset="-120"/>
              <a:ea typeface="微軟正黑體" panose="020B0604030504040204" pitchFamily="34" charset="-120"/>
            </a:endParaRPr>
          </a:p>
          <a:p>
            <a:r>
              <a:rPr lang="zh-TW" altLang="en-US" sz="2400" dirty="0">
                <a:latin typeface="微軟正黑體" panose="020B0604030504040204" pitchFamily="34" charset="-120"/>
                <a:ea typeface="微軟正黑體" panose="020B0604030504040204" pitchFamily="34" charset="-120"/>
              </a:rPr>
              <a:t/>
            </a:r>
            <a:br>
              <a:rPr lang="zh-TW" altLang="en-US" sz="2400" dirty="0">
                <a:latin typeface="微軟正黑體" panose="020B0604030504040204" pitchFamily="34" charset="-120"/>
                <a:ea typeface="微軟正黑體" panose="020B0604030504040204" pitchFamily="34" charset="-120"/>
              </a:rPr>
            </a:br>
            <a:endParaRPr lang="zh-TW" altLang="en-US" sz="2400" dirty="0">
              <a:latin typeface="微軟正黑體" panose="020B0604030504040204" pitchFamily="34" charset="-120"/>
              <a:ea typeface="微軟正黑體" panose="020B0604030504040204" pitchFamily="34" charset="-120"/>
            </a:endParaRPr>
          </a:p>
          <a:p>
            <a:endParaRPr lang="zh-TW" altLang="en-US" sz="2400" dirty="0"/>
          </a:p>
        </p:txBody>
      </p:sp>
      <mc:AlternateContent xmlns:mc="http://schemas.openxmlformats.org/markup-compatibility/2006" xmlns:a14="http://schemas.microsoft.com/office/drawing/2010/main">
        <mc:Choice Requires="a14">
          <p:sp>
            <p:nvSpPr>
              <p:cNvPr id="8" name="文字方塊 7"/>
              <p:cNvSpPr txBox="1"/>
              <p:nvPr/>
            </p:nvSpPr>
            <p:spPr>
              <a:xfrm>
                <a:off x="812662" y="3491784"/>
                <a:ext cx="10758010" cy="8485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𝐼𝐺</m:t>
                      </m:r>
                      <m:d>
                        <m:dPr>
                          <m:ctrlPr>
                            <a:rPr lang="en-US" altLang="zh-TW" b="0" i="1" smtClean="0">
                              <a:latin typeface="Cambria Math" panose="02040503050406030204" pitchFamily="18" charset="0"/>
                            </a:rPr>
                          </m:ctrlPr>
                        </m:dPr>
                        <m:e>
                          <m:r>
                            <m:rPr>
                              <m:nor/>
                            </m:rPr>
                            <a:rPr lang="en-US" altLang="zh-TW" b="0" i="0" smtClean="0">
                              <a:latin typeface="Cambria Math" panose="02040503050406030204" pitchFamily="18" charset="0"/>
                            </a:rPr>
                            <m:t>t</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𝐼𝐺</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𝐶</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𝐼𝐺</m:t>
                      </m:r>
                      <m:r>
                        <a:rPr lang="en-US" altLang="zh-TW" b="0" i="1" smtClean="0">
                          <a:latin typeface="Cambria Math" panose="02040503050406030204" pitchFamily="18" charset="0"/>
                        </a:rPr>
                        <m:t>(</m:t>
                      </m:r>
                      <m:r>
                        <a:rPr lang="en-US" altLang="zh-TW" b="0" i="1" smtClean="0">
                          <a:latin typeface="Cambria Math" panose="02040503050406030204" pitchFamily="18" charset="0"/>
                        </a:rPr>
                        <m:t>𝐶</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𝑚</m:t>
                          </m:r>
                        </m:sup>
                        <m:e>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𝑖</m:t>
                                  </m:r>
                                </m:sub>
                              </m:sSub>
                            </m:e>
                          </m:d>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𝑖</m:t>
                                      </m:r>
                                    </m:sub>
                                  </m:sSub>
                                </m:e>
                              </m:d>
                            </m:e>
                          </m:func>
                          <m:r>
                            <a:rPr lang="en-US" altLang="zh-TW" b="0" i="1" smtClean="0">
                              <a:latin typeface="Cambria Math" panose="02040503050406030204" pitchFamily="18" charset="0"/>
                            </a:rPr>
                            <m:t>+</m:t>
                          </m:r>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𝑡</m:t>
                              </m:r>
                            </m:e>
                          </m:d>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𝑚</m:t>
                              </m:r>
                            </m:sup>
                            <m:e>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𝑡</m:t>
                                  </m:r>
                                </m:e>
                              </m:d>
                            </m:e>
                          </m:nary>
                        </m:e>
                      </m:nary>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𝑡</m:t>
                              </m:r>
                            </m:e>
                          </m:d>
                        </m:e>
                      </m:func>
                      <m:r>
                        <a:rPr lang="en-US" altLang="zh-TW" b="0" i="1" smtClean="0">
                          <a:latin typeface="Cambria Math" panose="02040503050406030204" pitchFamily="18" charset="0"/>
                        </a:rPr>
                        <m:t>+</m:t>
                      </m:r>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𝑡</m:t>
                              </m:r>
                            </m:e>
                          </m:acc>
                        </m:e>
                      </m:d>
                      <m:nary>
                        <m:naryPr>
                          <m:chr m:val="∑"/>
                          <m:ctrlPr>
                            <a:rPr lang="en-US" altLang="zh-TW" b="0" i="1" smtClean="0">
                              <a:latin typeface="Cambria Math" panose="02040503050406030204" pitchFamily="18" charset="0"/>
                            </a:rPr>
                          </m:ctrlPr>
                        </m:naryPr>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m:rPr>
                              <m:brk m:alnAt="23"/>
                            </m:rPr>
                            <a:rPr lang="en-US" altLang="zh-TW" b="0" i="1" smtClean="0">
                              <a:latin typeface="Cambria Math" panose="02040503050406030204" pitchFamily="18" charset="0"/>
                            </a:rPr>
                            <m:t>1</m:t>
                          </m:r>
                        </m:sub>
                        <m:sup>
                          <m:r>
                            <a:rPr lang="en-US" altLang="zh-TW" b="0" i="1" smtClean="0">
                              <a:latin typeface="Cambria Math" panose="02040503050406030204" pitchFamily="18" charset="0"/>
                            </a:rPr>
                            <m:t>𝑚</m:t>
                          </m:r>
                        </m:sup>
                        <m:e>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𝑡</m:t>
                                  </m:r>
                                </m:e>
                              </m:acc>
                            </m:e>
                          </m:d>
                        </m:e>
                      </m:nary>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𝑡</m:t>
                                  </m:r>
                                </m:e>
                              </m:acc>
                            </m:e>
                          </m:d>
                        </m:e>
                      </m:func>
                    </m:oMath>
                  </m:oMathPara>
                </a14:m>
                <a:endParaRPr lang="zh-TW" altLang="en-US"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812662" y="3491784"/>
                <a:ext cx="10758010" cy="848566"/>
              </a:xfrm>
              <a:prstGeom prst="rect">
                <a:avLst/>
              </a:prstGeom>
              <a:blipFill>
                <a:blip r:embed="rId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884329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a:t>Chi-squared test (CHI)</a:t>
            </a:r>
            <a:br>
              <a:rPr lang="en-US" altLang="zh-TW" b="1" dirty="0"/>
            </a:br>
            <a:endParaRPr lang="zh-TW" altLang="en-US" b="1" dirty="0"/>
          </a:p>
        </p:txBody>
      </p:sp>
      <mc:AlternateContent xmlns:mc="http://schemas.openxmlformats.org/markup-compatibility/2006" xmlns:a14="http://schemas.microsoft.com/office/drawing/2010/main">
        <mc:Choice Requires="a14">
          <p:sp>
            <p:nvSpPr>
              <p:cNvPr id="4" name="文字方塊 3"/>
              <p:cNvSpPr txBox="1"/>
              <p:nvPr/>
            </p:nvSpPr>
            <p:spPr>
              <a:xfrm>
                <a:off x="838200" y="1321356"/>
                <a:ext cx="11279659" cy="1938992"/>
              </a:xfrm>
              <a:prstGeom prst="rect">
                <a:avLst/>
              </a:prstGeom>
              <a:noFill/>
            </p:spPr>
            <p:txBody>
              <a:bodyPr wrap="square" rtlCol="0">
                <a:spAutoFit/>
              </a:bodyPr>
              <a:lstStyle/>
              <a:p>
                <a:r>
                  <a:rPr lang="zh-CN" altLang="en-US" sz="2400" dirty="0">
                    <a:latin typeface="微軟正黑體" panose="020B0604030504040204" pitchFamily="34" charset="-120"/>
                    <a:ea typeface="微軟正黑體" panose="020B0604030504040204" pitchFamily="34" charset="-120"/>
                  </a:rPr>
                  <a:t>卡方檢定</a:t>
                </a:r>
                <a:r>
                  <a:rPr lang="zh-TW" altLang="en-US" sz="2400" dirty="0">
                    <a:latin typeface="微軟正黑體" panose="020B0604030504040204" pitchFamily="34" charset="-120"/>
                    <a:ea typeface="微軟正黑體" panose="020B0604030504040204" pitchFamily="34" charset="-120"/>
                  </a:rPr>
                  <a:t>的想法</a:t>
                </a:r>
                <a:r>
                  <a:rPr lang="zh-CN" altLang="en-US" sz="2400" dirty="0">
                    <a:latin typeface="微軟正黑體" panose="020B0604030504040204" pitchFamily="34" charset="-120"/>
                    <a:ea typeface="微軟正黑體" panose="020B0604030504040204" pitchFamily="34" charset="-120"/>
                  </a:rPr>
                  <a:t>就是</a:t>
                </a:r>
                <a:r>
                  <a:rPr lang="zh-TW" altLang="en-US" sz="2400" dirty="0">
                    <a:latin typeface="微軟正黑體" panose="020B0604030504040204" pitchFamily="34" charset="-120"/>
                    <a:ea typeface="微軟正黑體" panose="020B0604030504040204" pitchFamily="34" charset="-120"/>
                  </a:rPr>
                  <a:t>透過</a:t>
                </a:r>
                <a:r>
                  <a:rPr lang="zh-TW" altLang="en-US" sz="2400" b="1" dirty="0">
                    <a:solidFill>
                      <a:srgbClr val="0070C0"/>
                    </a:solidFill>
                    <a:latin typeface="微軟正黑體" panose="020B0604030504040204" pitchFamily="34" charset="-120"/>
                    <a:ea typeface="微軟正黑體" panose="020B0604030504040204" pitchFamily="34" charset="-120"/>
                  </a:rPr>
                  <a:t>觀察</a:t>
                </a:r>
                <a:r>
                  <a:rPr lang="zh-CN" altLang="en-US" sz="2400" b="1" dirty="0">
                    <a:solidFill>
                      <a:srgbClr val="0070C0"/>
                    </a:solidFill>
                    <a:latin typeface="微軟正黑體" panose="020B0604030504040204" pitchFamily="34" charset="-120"/>
                    <a:ea typeface="微軟正黑體" panose="020B0604030504040204" pitchFamily="34" charset="-120"/>
                  </a:rPr>
                  <a:t>值</a:t>
                </a:r>
                <a:r>
                  <a:rPr lang="zh-TW" altLang="en-US" sz="2400" dirty="0">
                    <a:latin typeface="微軟正黑體" panose="020B0604030504040204" pitchFamily="34" charset="-120"/>
                    <a:ea typeface="微軟正黑體" panose="020B0604030504040204" pitchFamily="34" charset="-120"/>
                  </a:rPr>
                  <a:t>與</a:t>
                </a:r>
                <a:r>
                  <a:rPr lang="zh-TW" altLang="en-US" sz="2400" b="1" dirty="0">
                    <a:solidFill>
                      <a:srgbClr val="0070C0"/>
                    </a:solidFill>
                    <a:latin typeface="微軟正黑體" panose="020B0604030504040204" pitchFamily="34" charset="-120"/>
                    <a:ea typeface="微軟正黑體" panose="020B0604030504040204" pitchFamily="34" charset="-120"/>
                  </a:rPr>
                  <a:t>理論值</a:t>
                </a:r>
                <a:r>
                  <a:rPr lang="zh-CN" altLang="en-US" sz="2400" dirty="0">
                    <a:latin typeface="微軟正黑體" panose="020B0604030504040204" pitchFamily="34" charset="-120"/>
                    <a:ea typeface="微軟正黑體" panose="020B0604030504040204" pitchFamily="34" charset="-120"/>
                  </a:rPr>
                  <a:t>的</a:t>
                </a:r>
                <a14:m>
                  <m:oMath xmlns:m="http://schemas.openxmlformats.org/officeDocument/2006/math">
                    <m:r>
                      <a:rPr lang="en-US" altLang="zh-TW" sz="2400" b="0" i="1" smtClean="0">
                        <a:solidFill>
                          <a:srgbClr val="00B050"/>
                        </a:solidFill>
                        <a:latin typeface="Cambria Math" panose="02040503050406030204" pitchFamily="18" charset="0"/>
                      </a:rPr>
                      <m:t>“</m:t>
                    </m:r>
                  </m:oMath>
                </a14:m>
                <a:r>
                  <a:rPr lang="zh-CN" altLang="en-US" sz="2400" b="1" dirty="0">
                    <a:solidFill>
                      <a:srgbClr val="00B050"/>
                    </a:solidFill>
                    <a:latin typeface="微軟正黑體" panose="020B0604030504040204" pitchFamily="34" charset="-120"/>
                    <a:ea typeface="微軟正黑體" panose="020B0604030504040204" pitchFamily="34" charset="-120"/>
                  </a:rPr>
                  <a:t>偏差</a:t>
                </a:r>
                <a14:m>
                  <m:oMath xmlns:m="http://schemas.openxmlformats.org/officeDocument/2006/math">
                    <m:r>
                      <a:rPr lang="en-US" altLang="zh-TW" sz="2400" b="0" i="1" smtClean="0">
                        <a:solidFill>
                          <a:srgbClr val="00B050"/>
                        </a:solidFill>
                        <a:latin typeface="Cambria Math" panose="02040503050406030204" pitchFamily="18" charset="0"/>
                      </a:rPr>
                      <m:t>”</m:t>
                    </m:r>
                  </m:oMath>
                </a14:m>
                <a:r>
                  <a:rPr lang="zh-TW" altLang="en-US" sz="2400" dirty="0">
                    <a:latin typeface="微軟正黑體" panose="020B0604030504040204" pitchFamily="34" charset="-120"/>
                    <a:ea typeface="微軟正黑體" panose="020B0604030504040204" pitchFamily="34" charset="-120"/>
                  </a:rPr>
                  <a:t>來確定理論的正確與否</a:t>
                </a:r>
                <a:r>
                  <a:rPr lang="zh-CN" altLang="en-US" sz="2400" dirty="0">
                    <a:latin typeface="微軟正黑體" panose="020B0604030504040204" pitchFamily="34" charset="-120"/>
                    <a:ea typeface="微軟正黑體" panose="020B0604030504040204" pitchFamily="34" charset="-120"/>
                  </a:rPr>
                  <a:t>。</a:t>
                </a:r>
                <a:endParaRPr lang="en-US" altLang="zh-CN" sz="2400" dirty="0">
                  <a:latin typeface="微軟正黑體" panose="020B0604030504040204" pitchFamily="34" charset="-120"/>
                  <a:ea typeface="微軟正黑體" panose="020B0604030504040204" pitchFamily="34" charset="-120"/>
                </a:endParaRPr>
              </a:p>
              <a:p>
                <a:r>
                  <a:rPr lang="zh-CN" altLang="en-US" sz="2400" dirty="0">
                    <a:latin typeface="微軟正黑體" panose="020B0604030504040204" pitchFamily="34" charset="-120"/>
                    <a:ea typeface="微軟正黑體" panose="020B0604030504040204" pitchFamily="34" charset="-120"/>
                  </a:rPr>
                  <a:t>如果偏差</a:t>
                </a:r>
                <a:r>
                  <a:rPr lang="zh-TW" altLang="en-US" sz="2400" dirty="0">
                    <a:latin typeface="微軟正黑體" panose="020B0604030504040204" pitchFamily="34" charset="-120"/>
                    <a:ea typeface="微軟正黑體" panose="020B0604030504040204" pitchFamily="34" charset="-120"/>
                  </a:rPr>
                  <a:t>夠</a:t>
                </a:r>
                <a:r>
                  <a:rPr lang="zh-CN" altLang="en-US" sz="2400" dirty="0">
                    <a:latin typeface="微軟正黑體" panose="020B0604030504040204" pitchFamily="34" charset="-120"/>
                    <a:ea typeface="微軟正黑體" panose="020B0604030504040204" pitchFamily="34" charset="-120"/>
                  </a:rPr>
                  <a:t>小，我</a:t>
                </a:r>
                <a:r>
                  <a:rPr lang="zh-TW" altLang="en-US" sz="2400" dirty="0">
                    <a:latin typeface="微軟正黑體" panose="020B0604030504040204" pitchFamily="34" charset="-120"/>
                    <a:ea typeface="微軟正黑體" panose="020B0604030504040204" pitchFamily="34" charset="-120"/>
                  </a:rPr>
                  <a:t>們</a:t>
                </a:r>
                <a:r>
                  <a:rPr lang="zh-CN" altLang="en-US" sz="2400" dirty="0">
                    <a:latin typeface="微軟正黑體" panose="020B0604030504040204" pitchFamily="34" charset="-120"/>
                    <a:ea typeface="微軟正黑體" panose="020B0604030504040204" pitchFamily="34" charset="-120"/>
                  </a:rPr>
                  <a:t>就</a:t>
                </a:r>
                <a:r>
                  <a:rPr lang="zh-TW" altLang="en-US" sz="2400" dirty="0">
                    <a:latin typeface="微軟正黑體" panose="020B0604030504040204" pitchFamily="34" charset="-120"/>
                    <a:ea typeface="微軟正黑體" panose="020B0604030504040204" pitchFamily="34" charset="-120"/>
                  </a:rPr>
                  <a:t>認為誤差</a:t>
                </a:r>
                <a:r>
                  <a:rPr lang="zh-CN" altLang="en-US" sz="2400" dirty="0">
                    <a:latin typeface="微軟正黑體" panose="020B0604030504040204" pitchFamily="34" charset="-120"/>
                    <a:ea typeface="微軟正黑體" panose="020B0604030504040204" pitchFamily="34" charset="-120"/>
                  </a:rPr>
                  <a:t>是很自然的</a:t>
                </a:r>
                <a:r>
                  <a:rPr lang="zh-TW" altLang="en-US" sz="2400" dirty="0">
                    <a:latin typeface="微軟正黑體" panose="020B0604030504040204" pitchFamily="34" charset="-120"/>
                    <a:ea typeface="微軟正黑體" panose="020B0604030504040204" pitchFamily="34" charset="-120"/>
                  </a:rPr>
                  <a:t>樣本誤差</a:t>
                </a:r>
                <a:r>
                  <a:rPr lang="zh-CN" altLang="en-US" sz="2400" dirty="0">
                    <a:latin typeface="微軟正黑體" panose="020B0604030504040204" pitchFamily="34" charset="-120"/>
                    <a:ea typeface="微軟正黑體" panose="020B0604030504040204" pitchFamily="34" charset="-120"/>
                  </a:rPr>
                  <a:t>，是</a:t>
                </a:r>
                <a:r>
                  <a:rPr lang="zh-TW" altLang="en-US" sz="2400" dirty="0">
                    <a:latin typeface="微軟正黑體" panose="020B0604030504040204" pitchFamily="34" charset="-120"/>
                    <a:ea typeface="微軟正黑體" panose="020B0604030504040204" pitchFamily="34" charset="-120"/>
                  </a:rPr>
                  <a:t>測量</a:t>
                </a:r>
                <a:r>
                  <a:rPr lang="zh-CN" altLang="en-US" sz="2400" dirty="0">
                    <a:latin typeface="微軟正黑體" panose="020B0604030504040204" pitchFamily="34" charset="-120"/>
                    <a:ea typeface="微軟正黑體" panose="020B0604030504040204" pitchFamily="34" charset="-120"/>
                  </a:rPr>
                  <a:t>手段不</a:t>
                </a:r>
                <a:r>
                  <a:rPr lang="zh-TW" altLang="en-US" sz="2400" dirty="0">
                    <a:latin typeface="微軟正黑體" panose="020B0604030504040204" pitchFamily="34" charset="-120"/>
                    <a:ea typeface="微軟正黑體" panose="020B0604030504040204" pitchFamily="34" charset="-120"/>
                  </a:rPr>
                  <a:t>夠精確導致</a:t>
                </a:r>
                <a:r>
                  <a:rPr lang="zh-CN" altLang="en-US" sz="2400" dirty="0">
                    <a:latin typeface="微軟正黑體" panose="020B0604030504040204" pitchFamily="34" charset="-120"/>
                    <a:ea typeface="微軟正黑體" panose="020B0604030504040204" pitchFamily="34" charset="-120"/>
                  </a:rPr>
                  <a:t>或者偶然</a:t>
                </a:r>
                <a:r>
                  <a:rPr lang="zh-TW" altLang="en-US" sz="2400" dirty="0">
                    <a:latin typeface="微軟正黑體" panose="020B0604030504040204" pitchFamily="34" charset="-120"/>
                    <a:ea typeface="微軟正黑體" panose="020B0604030504040204" pitchFamily="34" charset="-120"/>
                  </a:rPr>
                  <a:t>發</a:t>
                </a:r>
                <a:r>
                  <a:rPr lang="zh-CN" altLang="en-US" sz="2400" dirty="0">
                    <a:latin typeface="微軟正黑體" panose="020B0604030504040204" pitchFamily="34" charset="-120"/>
                    <a:ea typeface="微軟正黑體" panose="020B0604030504040204" pitchFamily="34" charset="-120"/>
                  </a:rPr>
                  <a:t>生的，</a:t>
                </a:r>
                <a:r>
                  <a:rPr lang="zh-TW" altLang="en-US" sz="2400" dirty="0">
                    <a:latin typeface="微軟正黑體" panose="020B0604030504040204" pitchFamily="34" charset="-120"/>
                    <a:ea typeface="微軟正黑體" panose="020B0604030504040204" pitchFamily="34" charset="-120"/>
                  </a:rPr>
                  <a:t>兩者確實是獨立的</a:t>
                </a:r>
                <a:r>
                  <a:rPr lang="zh-CN" altLang="en-US" sz="2400" dirty="0">
                    <a:latin typeface="微軟正黑體" panose="020B0604030504040204" pitchFamily="34" charset="-120"/>
                    <a:ea typeface="微軟正黑體" panose="020B0604030504040204" pitchFamily="34" charset="-120"/>
                  </a:rPr>
                  <a:t>，</a:t>
                </a:r>
                <a:r>
                  <a:rPr lang="zh-TW" altLang="en-US" sz="2400" dirty="0">
                    <a:latin typeface="微軟正黑體" panose="020B0604030504040204" pitchFamily="34" charset="-120"/>
                    <a:ea typeface="微軟正黑體" panose="020B0604030504040204" pitchFamily="34" charset="-120"/>
                  </a:rPr>
                  <a:t>此時</a:t>
                </a:r>
                <a:r>
                  <a:rPr lang="zh-CN" altLang="en-US" sz="2400" dirty="0">
                    <a:latin typeface="微軟正黑體" panose="020B0604030504040204" pitchFamily="34" charset="-120"/>
                    <a:ea typeface="微軟正黑體" panose="020B0604030504040204" pitchFamily="34" charset="-120"/>
                  </a:rPr>
                  <a:t>就接受</a:t>
                </a:r>
                <a:r>
                  <a:rPr lang="zh-TW" altLang="en-US" sz="2400" dirty="0">
                    <a:latin typeface="微軟正黑體" panose="020B0604030504040204" pitchFamily="34" charset="-120"/>
                    <a:ea typeface="微軟正黑體" panose="020B0604030504040204" pitchFamily="34" charset="-120"/>
                  </a:rPr>
                  <a:t>原假設。</a:t>
                </a:r>
                <a:endParaRPr lang="en-US" altLang="zh-CN" sz="2400" dirty="0">
                  <a:latin typeface="微軟正黑體" panose="020B0604030504040204" pitchFamily="34" charset="-120"/>
                  <a:ea typeface="微軟正黑體" panose="020B0604030504040204" pitchFamily="34" charset="-120"/>
                </a:endParaRPr>
              </a:p>
              <a:p>
                <a:r>
                  <a:rPr lang="zh-CN" altLang="en-US" sz="2400" dirty="0">
                    <a:latin typeface="微軟正黑體" panose="020B0604030504040204" pitchFamily="34" charset="-120"/>
                    <a:ea typeface="微軟正黑體" panose="020B0604030504040204" pitchFamily="34" charset="-120"/>
                  </a:rPr>
                  <a:t>如果偏差大到一定程度，</a:t>
                </a:r>
                <a:r>
                  <a:rPr lang="zh-TW" altLang="en-US" sz="2400" dirty="0">
                    <a:latin typeface="微軟正黑體" panose="020B0604030504040204" pitchFamily="34" charset="-120"/>
                    <a:ea typeface="微軟正黑體" panose="020B0604030504040204" pitchFamily="34" charset="-120"/>
                  </a:rPr>
                  <a:t>使得這樣的誤差不大可能是偶然或測量不精確所導致</a:t>
                </a:r>
                <a:r>
                  <a:rPr lang="zh-CN" altLang="en-US" sz="2400" dirty="0">
                    <a:latin typeface="微軟正黑體" panose="020B0604030504040204" pitchFamily="34" charset="-120"/>
                    <a:ea typeface="微軟正黑體" panose="020B0604030504040204" pitchFamily="34" charset="-120"/>
                  </a:rPr>
                  <a:t>，</a:t>
                </a:r>
                <a:r>
                  <a:rPr lang="zh-TW" altLang="en-US" sz="2400" dirty="0">
                    <a:latin typeface="微軟正黑體" panose="020B0604030504040204" pitchFamily="34" charset="-120"/>
                    <a:ea typeface="微軟正黑體" panose="020B0604030504040204" pitchFamily="34" charset="-120"/>
                  </a:rPr>
                  <a:t>我們就認為兩者實際上是相關的</a:t>
                </a:r>
                <a:r>
                  <a:rPr lang="zh-CN" altLang="en-US" sz="2400" dirty="0">
                    <a:latin typeface="微軟正黑體" panose="020B0604030504040204" pitchFamily="34" charset="-120"/>
                    <a:ea typeface="微軟正黑體" panose="020B0604030504040204" pitchFamily="34" charset="-120"/>
                  </a:rPr>
                  <a:t>，即否定原假设。</a:t>
                </a:r>
                <a:endParaRPr lang="zh-TW" altLang="en-US" sz="2400" dirty="0">
                  <a:latin typeface="微軟正黑體" panose="020B0604030504040204" pitchFamily="34" charset="-120"/>
                  <a:ea typeface="微軟正黑體" panose="020B0604030504040204" pitchFamily="34" charset="-120"/>
                </a:endParaRPr>
              </a:p>
            </p:txBody>
          </p:sp>
        </mc:Choice>
        <mc:Fallback xmlns="">
          <p:sp>
            <p:nvSpPr>
              <p:cNvPr id="4" name="文字方塊 3"/>
              <p:cNvSpPr txBox="1">
                <a:spLocks noRot="1" noChangeAspect="1" noMove="1" noResize="1" noEditPoints="1" noAdjustHandles="1" noChangeArrowheads="1" noChangeShapeType="1" noTextEdit="1"/>
              </p:cNvSpPr>
              <p:nvPr/>
            </p:nvSpPr>
            <p:spPr>
              <a:xfrm>
                <a:off x="838200" y="1321356"/>
                <a:ext cx="11279659" cy="1938992"/>
              </a:xfrm>
              <a:prstGeom prst="rect">
                <a:avLst/>
              </a:prstGeom>
              <a:blipFill rotWithShape="0">
                <a:blip r:embed="rId2"/>
                <a:stretch>
                  <a:fillRect l="-865" t="-2201" b="-6604"/>
                </a:stretch>
              </a:blipFill>
            </p:spPr>
            <p:txBody>
              <a:bodyPr/>
              <a:lstStyle/>
              <a:p>
                <a:r>
                  <a:rPr lang="zh-TW" altLang="en-US">
                    <a:noFill/>
                  </a:rPr>
                  <a:t> </a:t>
                </a:r>
              </a:p>
            </p:txBody>
          </p:sp>
        </mc:Fallback>
      </mc:AlternateContent>
      <p:sp>
        <p:nvSpPr>
          <p:cNvPr id="5" name="文字方塊 4"/>
          <p:cNvSpPr txBox="1"/>
          <p:nvPr/>
        </p:nvSpPr>
        <p:spPr>
          <a:xfrm>
            <a:off x="838200" y="4981021"/>
            <a:ext cx="11149668" cy="1200329"/>
          </a:xfrm>
          <a:prstGeom prst="rect">
            <a:avLst/>
          </a:prstGeom>
          <a:noFill/>
        </p:spPr>
        <p:txBody>
          <a:bodyPr wrap="square" rtlCol="0">
            <a:spAutoFit/>
          </a:bodyPr>
          <a:lstStyle/>
          <a:p>
            <a:r>
              <a:rPr lang="zh-TW" altLang="en-US" sz="2400" dirty="0">
                <a:latin typeface="微軟正黑體" panose="020B0604030504040204" pitchFamily="34" charset="-120"/>
                <a:ea typeface="微軟正黑體" panose="020B0604030504040204" pitchFamily="34" charset="-120"/>
              </a:rPr>
              <a:t>在文件分類的特徵選擇上</a:t>
            </a:r>
            <a:r>
              <a:rPr lang="zh-CN" altLang="en-US" sz="2400" dirty="0">
                <a:latin typeface="微軟正黑體" panose="020B0604030504040204" pitchFamily="34" charset="-120"/>
                <a:ea typeface="微軟正黑體" panose="020B0604030504040204" pitchFamily="34" charset="-120"/>
              </a:rPr>
              <a:t>，</a:t>
            </a:r>
            <a:r>
              <a:rPr lang="zh-TW" altLang="en-US" sz="2400" dirty="0">
                <a:latin typeface="微軟正黑體" panose="020B0604030504040204" pitchFamily="34" charset="-120"/>
                <a:ea typeface="微軟正黑體" panose="020B0604030504040204" pitchFamily="34" charset="-120"/>
              </a:rPr>
              <a:t>我們主要關心一個</a:t>
            </a:r>
            <a:r>
              <a:rPr lang="zh-TW" altLang="en-US" sz="2400" b="1" dirty="0">
                <a:solidFill>
                  <a:srgbClr val="0070C0"/>
                </a:solidFill>
                <a:latin typeface="微軟正黑體" panose="020B0604030504040204" pitchFamily="34" charset="-120"/>
                <a:ea typeface="微軟正黑體" panose="020B0604030504040204" pitchFamily="34" charset="-120"/>
              </a:rPr>
              <a:t>詞</a:t>
            </a:r>
            <a:r>
              <a:rPr lang="en-US" altLang="zh-TW" sz="2400" b="1" dirty="0">
                <a:solidFill>
                  <a:srgbClr val="0070C0"/>
                </a:solidFill>
                <a:latin typeface="微軟正黑體" panose="020B0604030504040204" pitchFamily="34" charset="-120"/>
                <a:ea typeface="微軟正黑體" panose="020B0604030504040204" pitchFamily="34" charset="-120"/>
              </a:rPr>
              <a:t>t</a:t>
            </a:r>
            <a:r>
              <a:rPr lang="zh-TW" altLang="en-US" sz="2400" dirty="0">
                <a:latin typeface="微軟正黑體" panose="020B0604030504040204" pitchFamily="34" charset="-120"/>
                <a:ea typeface="微軟正黑體" panose="020B0604030504040204" pitchFamily="34" charset="-120"/>
              </a:rPr>
              <a:t>和一個</a:t>
            </a:r>
            <a:r>
              <a:rPr lang="zh-TW" altLang="en-US" sz="2400" b="1" dirty="0">
                <a:solidFill>
                  <a:srgbClr val="0070C0"/>
                </a:solidFill>
                <a:latin typeface="微軟正黑體" panose="020B0604030504040204" pitchFamily="34" charset="-120"/>
                <a:ea typeface="微軟正黑體" panose="020B0604030504040204" pitchFamily="34" charset="-120"/>
              </a:rPr>
              <a:t>類別</a:t>
            </a:r>
            <a:r>
              <a:rPr lang="en-US" altLang="zh-TW" sz="2400" b="1" dirty="0">
                <a:solidFill>
                  <a:srgbClr val="0070C0"/>
                </a:solidFill>
                <a:latin typeface="微軟正黑體" panose="020B0604030504040204" pitchFamily="34" charset="-120"/>
                <a:ea typeface="微軟正黑體" panose="020B0604030504040204" pitchFamily="34" charset="-120"/>
              </a:rPr>
              <a:t>c</a:t>
            </a:r>
            <a:r>
              <a:rPr lang="zh-TW" altLang="en-US" sz="2400" dirty="0">
                <a:latin typeface="微軟正黑體" panose="020B0604030504040204" pitchFamily="34" charset="-120"/>
                <a:ea typeface="微軟正黑體" panose="020B0604030504040204" pitchFamily="34" charset="-120"/>
              </a:rPr>
              <a:t>之間是否</a:t>
            </a:r>
            <a:r>
              <a:rPr lang="zh-TW" altLang="en-US" sz="2400" b="1" dirty="0">
                <a:solidFill>
                  <a:srgbClr val="00B050"/>
                </a:solidFill>
                <a:latin typeface="微軟正黑體" panose="020B0604030504040204" pitchFamily="34" charset="-120"/>
                <a:ea typeface="微軟正黑體" panose="020B0604030504040204" pitchFamily="34" charset="-120"/>
              </a:rPr>
              <a:t>互相獨立</a:t>
            </a:r>
            <a:r>
              <a:rPr lang="zh-CN" altLang="en-US" sz="2400" b="1" dirty="0">
                <a:solidFill>
                  <a:srgbClr val="00B050"/>
                </a:solidFill>
                <a:latin typeface="微軟正黑體" panose="020B0604030504040204" pitchFamily="34" charset="-120"/>
                <a:ea typeface="微軟正黑體" panose="020B0604030504040204" pitchFamily="34" charset="-120"/>
              </a:rPr>
              <a:t> </a:t>
            </a:r>
            <a:r>
              <a:rPr lang="zh-CN" altLang="en-US" sz="2400" dirty="0">
                <a:latin typeface="微軟正黑體" panose="020B0604030504040204" pitchFamily="34" charset="-120"/>
                <a:ea typeface="微軟正黑體" panose="020B0604030504040204" pitchFamily="34" charset="-120"/>
              </a:rPr>
              <a:t>？如果</a:t>
            </a:r>
            <a:r>
              <a:rPr lang="zh-TW" altLang="en-US" sz="2400" dirty="0">
                <a:latin typeface="微軟正黑體" panose="020B0604030504040204" pitchFamily="34" charset="-120"/>
                <a:ea typeface="微軟正黑體" panose="020B0604030504040204" pitchFamily="34" charset="-120"/>
              </a:rPr>
              <a:t>獨立</a:t>
            </a:r>
            <a:r>
              <a:rPr lang="zh-CN" altLang="en-US" sz="2400" dirty="0">
                <a:latin typeface="微軟正黑體" panose="020B0604030504040204" pitchFamily="34" charset="-120"/>
                <a:ea typeface="微軟正黑體" panose="020B0604030504040204" pitchFamily="34" charset="-120"/>
              </a:rPr>
              <a:t>，</a:t>
            </a:r>
            <a:r>
              <a:rPr lang="zh-TW" altLang="en-US" sz="2400" dirty="0">
                <a:latin typeface="微軟正黑體" panose="020B0604030504040204" pitchFamily="34" charset="-120"/>
                <a:ea typeface="微軟正黑體" panose="020B0604030504040204" pitchFamily="34" charset="-120"/>
              </a:rPr>
              <a:t>就說詞</a:t>
            </a:r>
            <a:r>
              <a:rPr lang="en-US" altLang="zh-TW" sz="2400" dirty="0">
                <a:latin typeface="微軟正黑體" panose="020B0604030504040204" pitchFamily="34" charset="-120"/>
                <a:ea typeface="微軟正黑體" panose="020B0604030504040204" pitchFamily="34" charset="-120"/>
              </a:rPr>
              <a:t>t</a:t>
            </a:r>
            <a:r>
              <a:rPr lang="zh-TW" altLang="en-US" sz="2400" dirty="0">
                <a:latin typeface="微軟正黑體" panose="020B0604030504040204" pitchFamily="34" charset="-120"/>
                <a:ea typeface="微軟正黑體" panose="020B0604030504040204" pitchFamily="34" charset="-120"/>
              </a:rPr>
              <a:t>出現與類別類別</a:t>
            </a:r>
            <a:r>
              <a:rPr lang="en-US" altLang="zh-TW" sz="2400" dirty="0">
                <a:latin typeface="微軟正黑體" panose="020B0604030504040204" pitchFamily="34" charset="-120"/>
                <a:ea typeface="微軟正黑體" panose="020B0604030504040204" pitchFamily="34" charset="-120"/>
              </a:rPr>
              <a:t>c</a:t>
            </a:r>
            <a:r>
              <a:rPr lang="zh-TW" altLang="en-US" sz="2400" dirty="0">
                <a:latin typeface="微軟正黑體" panose="020B0604030504040204" pitchFamily="34" charset="-120"/>
                <a:ea typeface="微軟正黑體" panose="020B0604030504040204" pitchFamily="34" charset="-120"/>
              </a:rPr>
              <a:t>無關</a:t>
            </a:r>
            <a:r>
              <a:rPr lang="en-US" altLang="zh-TW" sz="2400" dirty="0">
                <a:latin typeface="微軟正黑體" panose="020B0604030504040204" pitchFamily="34" charset="-120"/>
                <a:ea typeface="微軟正黑體" panose="020B0604030504040204" pitchFamily="34" charset="-120"/>
              </a:rPr>
              <a:t> </a:t>
            </a:r>
            <a:r>
              <a:rPr lang="zh-TW" altLang="en-US" sz="2400" dirty="0">
                <a:latin typeface="微軟正黑體" panose="020B0604030504040204" pitchFamily="34" charset="-120"/>
                <a:ea typeface="微軟正黑體" panose="020B0604030504040204" pitchFamily="34" charset="-120"/>
              </a:rPr>
              <a:t>，即無法根據該詞來判斷一篇文件是否屬於類別</a:t>
            </a:r>
            <a:r>
              <a:rPr lang="en-US" altLang="zh-TW" sz="2400" dirty="0">
                <a:latin typeface="微軟正黑體" panose="020B0604030504040204" pitchFamily="34" charset="-120"/>
                <a:ea typeface="微軟正黑體" panose="020B0604030504040204" pitchFamily="34" charset="-120"/>
              </a:rPr>
              <a:t>c</a:t>
            </a:r>
            <a:endParaRPr lang="zh-TW" altLang="en-US" sz="2400" dirty="0">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7" name="文字方塊 6"/>
              <p:cNvSpPr txBox="1"/>
              <p:nvPr/>
            </p:nvSpPr>
            <p:spPr>
              <a:xfrm>
                <a:off x="5201174" y="3531765"/>
                <a:ext cx="1778466" cy="9326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ctrlPr>
                            <a:rPr lang="zh-TW" altLang="en-US" sz="2000" i="1" smtClean="0">
                              <a:latin typeface="Cambria Math" panose="02040503050406030204" pitchFamily="18" charset="0"/>
                            </a:rPr>
                          </m:ctrlPr>
                        </m:naryPr>
                        <m:sub>
                          <m:r>
                            <m:rPr>
                              <m:brk m:alnAt="23"/>
                            </m:rPr>
                            <a:rPr lang="en-US" altLang="zh-TW" sz="2000" b="0" i="1" smtClean="0">
                              <a:latin typeface="Cambria Math" panose="02040503050406030204" pitchFamily="18" charset="0"/>
                            </a:rPr>
                            <m:t>𝑖</m:t>
                          </m:r>
                          <m:r>
                            <a:rPr lang="en-US" altLang="zh-TW" sz="2000" b="0" i="1" smtClean="0">
                              <a:latin typeface="Cambria Math" panose="02040503050406030204" pitchFamily="18" charset="0"/>
                            </a:rPr>
                            <m:t>=1</m:t>
                          </m:r>
                        </m:sub>
                        <m:sup>
                          <m:r>
                            <a:rPr lang="en-US" altLang="zh-TW" sz="2000" b="0" i="1" smtClean="0">
                              <a:latin typeface="Cambria Math" panose="02040503050406030204" pitchFamily="18" charset="0"/>
                            </a:rPr>
                            <m:t>𝑛</m:t>
                          </m:r>
                        </m:sup>
                        <m:e>
                          <m:f>
                            <m:fPr>
                              <m:ctrlPr>
                                <a:rPr lang="en-US" altLang="zh-TW" sz="2000" i="1" smtClean="0">
                                  <a:latin typeface="Cambria Math" panose="02040503050406030204" pitchFamily="18" charset="0"/>
                                </a:rPr>
                              </m:ctrlPr>
                            </m:fPr>
                            <m:num>
                              <m:sSup>
                                <m:sSupPr>
                                  <m:ctrlPr>
                                    <a:rPr lang="en-US" altLang="zh-TW" sz="2000" i="1" smtClean="0">
                                      <a:latin typeface="Cambria Math" panose="02040503050406030204" pitchFamily="18" charset="0"/>
                                    </a:rPr>
                                  </m:ctrlPr>
                                </m:sSupPr>
                                <m:e>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𝑖</m:t>
                                      </m:r>
                                    </m:sub>
                                  </m:sSub>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𝐸</m:t>
                                  </m:r>
                                  <m:r>
                                    <a:rPr lang="en-US" altLang="zh-TW" sz="2000" b="0" i="1" smtClean="0">
                                      <a:latin typeface="Cambria Math" panose="02040503050406030204" pitchFamily="18" charset="0"/>
                                    </a:rPr>
                                    <m:t>)</m:t>
                                  </m:r>
                                </m:e>
                                <m:sup>
                                  <m:r>
                                    <a:rPr lang="en-US" altLang="zh-TW" sz="2000" b="0" i="1" smtClean="0">
                                      <a:latin typeface="Cambria Math" panose="02040503050406030204" pitchFamily="18" charset="0"/>
                                    </a:rPr>
                                    <m:t>2</m:t>
                                  </m:r>
                                </m:sup>
                              </m:sSup>
                            </m:num>
                            <m:den>
                              <m:r>
                                <a:rPr lang="en-US" altLang="zh-TW" sz="2000" b="0" i="1" smtClean="0">
                                  <a:latin typeface="Cambria Math" panose="02040503050406030204" pitchFamily="18" charset="0"/>
                                </a:rPr>
                                <m:t>𝐸</m:t>
                              </m:r>
                            </m:den>
                          </m:f>
                        </m:e>
                      </m:nary>
                    </m:oMath>
                  </m:oMathPara>
                </a14:m>
                <a:endParaRPr lang="zh-TW" altLang="en-US" sz="20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5201174" y="3531765"/>
                <a:ext cx="1778466" cy="932628"/>
              </a:xfrm>
              <a:prstGeom prst="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437256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740586" y="285226"/>
            <a:ext cx="9147056" cy="461665"/>
          </a:xfrm>
          <a:prstGeom prst="rect">
            <a:avLst/>
          </a:prstGeom>
          <a:noFill/>
        </p:spPr>
        <p:txBody>
          <a:bodyPr wrap="none" rtlCol="0">
            <a:spAutoFit/>
          </a:bodyPr>
          <a:lstStyle/>
          <a:p>
            <a:r>
              <a:rPr lang="zh-TW" altLang="en-US" sz="2400" dirty="0">
                <a:latin typeface="微軟正黑體" panose="020B0604030504040204" pitchFamily="34" charset="-120"/>
                <a:ea typeface="微軟正黑體" panose="020B0604030504040204" pitchFamily="34" charset="-120"/>
              </a:rPr>
              <a:t>對於文件分類其假設通常都是假定</a:t>
            </a:r>
            <a:r>
              <a:rPr lang="en-US" altLang="zh-TW" sz="2400" dirty="0">
                <a:latin typeface="微軟正黑體" panose="020B0604030504040204" pitchFamily="34" charset="-120"/>
                <a:ea typeface="微軟正黑體" panose="020B0604030504040204" pitchFamily="34" charset="-120"/>
              </a:rPr>
              <a:t>:</a:t>
            </a:r>
            <a:r>
              <a:rPr lang="zh-TW" altLang="en-US" sz="2400" b="1" dirty="0">
                <a:solidFill>
                  <a:srgbClr val="FF0000"/>
                </a:solidFill>
                <a:latin typeface="微軟正黑體" panose="020B0604030504040204" pitchFamily="34" charset="-120"/>
                <a:ea typeface="微軟正黑體" panose="020B0604030504040204" pitchFamily="34" charset="-120"/>
              </a:rPr>
              <a:t>「詞</a:t>
            </a:r>
            <a:r>
              <a:rPr lang="en-US" altLang="zh-TW" sz="2400" b="1" dirty="0">
                <a:solidFill>
                  <a:srgbClr val="FF0000"/>
                </a:solidFill>
                <a:latin typeface="微軟正黑體" panose="020B0604030504040204" pitchFamily="34" charset="-120"/>
                <a:ea typeface="微軟正黑體" panose="020B0604030504040204" pitchFamily="34" charset="-120"/>
              </a:rPr>
              <a:t>t</a:t>
            </a:r>
            <a:r>
              <a:rPr lang="zh-TW" altLang="en-US" sz="2400" b="1" dirty="0">
                <a:solidFill>
                  <a:srgbClr val="FF0000"/>
                </a:solidFill>
                <a:latin typeface="微軟正黑體" panose="020B0604030504040204" pitchFamily="34" charset="-120"/>
                <a:ea typeface="微軟正黑體" panose="020B0604030504040204" pitchFamily="34" charset="-120"/>
              </a:rPr>
              <a:t>和一個類別</a:t>
            </a:r>
            <a:r>
              <a:rPr lang="en-US" altLang="zh-TW" sz="2400" b="1" dirty="0">
                <a:solidFill>
                  <a:srgbClr val="FF0000"/>
                </a:solidFill>
                <a:latin typeface="微軟正黑體" panose="020B0604030504040204" pitchFamily="34" charset="-120"/>
                <a:ea typeface="微軟正黑體" panose="020B0604030504040204" pitchFamily="34" charset="-120"/>
              </a:rPr>
              <a:t>c</a:t>
            </a:r>
            <a:r>
              <a:rPr lang="zh-TW" altLang="en-US" sz="2400" b="1" dirty="0">
                <a:solidFill>
                  <a:srgbClr val="FF0000"/>
                </a:solidFill>
                <a:latin typeface="微軟正黑體" panose="020B0604030504040204" pitchFamily="34" charset="-120"/>
                <a:ea typeface="微軟正黑體" panose="020B0604030504040204" pitchFamily="34" charset="-120"/>
              </a:rPr>
              <a:t>之間不相關」</a:t>
            </a:r>
          </a:p>
        </p:txBody>
      </p:sp>
      <mc:AlternateContent xmlns:mc="http://schemas.openxmlformats.org/markup-compatibility/2006" xmlns:a14="http://schemas.microsoft.com/office/drawing/2010/main">
        <mc:Choice Requires="a14">
          <p:sp>
            <p:nvSpPr>
              <p:cNvPr id="7" name="文字方塊 6"/>
              <p:cNvSpPr txBox="1"/>
              <p:nvPr/>
            </p:nvSpPr>
            <p:spPr>
              <a:xfrm>
                <a:off x="4331309" y="3739514"/>
                <a:ext cx="3965610" cy="583365"/>
              </a:xfrm>
              <a:prstGeom prst="rect">
                <a:avLst/>
              </a:prstGeom>
              <a:noFill/>
            </p:spPr>
            <p:txBody>
              <a:bodyPr wrap="square" lIns="0" tIns="0" rIns="0" bIns="0" rtlCol="0">
                <a:spAutoFit/>
              </a:bodyPr>
              <a:lstStyle>
                <a:defPPr>
                  <a:defRPr lang="zh-TW"/>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f>
                        <m:fPr>
                          <m:ctrlPr>
                            <a:rPr lang="en-US" altLang="zh-TW" sz="2000" i="1">
                              <a:latin typeface="Cambria Math" panose="02040503050406030204" pitchFamily="18" charset="0"/>
                            </a:rPr>
                          </m:ctrlPr>
                        </m:fPr>
                        <m:num>
                          <m:r>
                            <a:rPr lang="en-US" altLang="zh-TW" sz="2000">
                              <a:latin typeface="Cambria Math" panose="02040503050406030204" pitchFamily="18" charset="0"/>
                            </a:rPr>
                            <m:t>19+34</m:t>
                          </m:r>
                        </m:num>
                        <m:den>
                          <m:r>
                            <a:rPr lang="en-US" altLang="zh-TW" sz="2000">
                              <a:latin typeface="Cambria Math" panose="02040503050406030204" pitchFamily="18" charset="0"/>
                            </a:rPr>
                            <m:t>19+34+24+10</m:t>
                          </m:r>
                        </m:den>
                      </m:f>
                      <m:r>
                        <a:rPr lang="en-US" altLang="zh-TW" sz="2000">
                          <a:latin typeface="Cambria Math" panose="02040503050406030204" pitchFamily="18" charset="0"/>
                        </a:rPr>
                        <m:t>=</m:t>
                      </m:r>
                      <m:r>
                        <a:rPr lang="en-US" altLang="zh-TW" sz="2000" smtClean="0">
                          <a:latin typeface="Cambria Math" panose="02040503050406030204" pitchFamily="18" charset="0"/>
                        </a:rPr>
                        <m:t>6</m:t>
                      </m:r>
                      <m:r>
                        <a:rPr lang="en-US" altLang="zh-TW" sz="2000">
                          <a:latin typeface="Cambria Math" panose="02040503050406030204" pitchFamily="18" charset="0"/>
                        </a:rPr>
                        <m:t>0</m:t>
                      </m:r>
                      <m:r>
                        <a:rPr lang="en-US" altLang="zh-TW" sz="2000" smtClean="0">
                          <a:latin typeface="Cambria Math" panose="02040503050406030204" pitchFamily="18" charset="0"/>
                        </a:rPr>
                        <m:t>.</m:t>
                      </m:r>
                      <m:r>
                        <a:rPr lang="en-US" altLang="zh-TW" sz="2000">
                          <a:latin typeface="Cambria Math" panose="02040503050406030204" pitchFamily="18" charset="0"/>
                        </a:rPr>
                        <m:t>9</m:t>
                      </m:r>
                      <m:r>
                        <a:rPr lang="en-US" altLang="zh-TW" sz="2000" i="1" smtClean="0">
                          <a:latin typeface="Cambria Math" panose="02040503050406030204" pitchFamily="18" charset="0"/>
                          <a:ea typeface="Cambria Math" panose="02040503050406030204" pitchFamily="18" charset="0"/>
                        </a:rPr>
                        <m:t>%</m:t>
                      </m:r>
                    </m:oMath>
                  </m:oMathPara>
                </a14:m>
                <a:endParaRPr lang="zh-TW" altLang="en-US" sz="20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4331309" y="3739514"/>
                <a:ext cx="3965610" cy="583365"/>
              </a:xfrm>
              <a:prstGeom prst="rect">
                <a:avLst/>
              </a:prstGeom>
              <a:blipFill rotWithShape="0">
                <a:blip r:embed="rId2"/>
                <a:stretch>
                  <a:fillRect/>
                </a:stretch>
              </a:blipFill>
            </p:spPr>
            <p:txBody>
              <a:bodyPr/>
              <a:lstStyle/>
              <a:p>
                <a:r>
                  <a:rPr lang="zh-TW" altLang="en-US">
                    <a:noFill/>
                  </a:rPr>
                  <a:t> </a:t>
                </a:r>
              </a:p>
            </p:txBody>
          </p:sp>
        </mc:Fallback>
      </mc:AlternateContent>
      <p:sp>
        <p:nvSpPr>
          <p:cNvPr id="12" name="文字方塊 11"/>
          <p:cNvSpPr txBox="1"/>
          <p:nvPr/>
        </p:nvSpPr>
        <p:spPr>
          <a:xfrm>
            <a:off x="809937" y="2752425"/>
            <a:ext cx="10572125" cy="646331"/>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透過此表格我們發現，包含籃球且屬於體育的比例較高，但是我們還無法排除是否為抽樣誤差所導致。</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那麼首先假設籃球和新聞是否屬於體育無關，因此隨便抽取一條新聞，則是體育的機率是</a:t>
            </a:r>
          </a:p>
        </p:txBody>
      </p:sp>
      <p:graphicFrame>
        <p:nvGraphicFramePr>
          <p:cNvPr id="14" name="表格 13"/>
          <p:cNvGraphicFramePr>
            <a:graphicFrameLocks noGrp="1"/>
          </p:cNvGraphicFramePr>
          <p:nvPr>
            <p:extLst>
              <p:ext uri="{D42A27DB-BD31-4B8C-83A1-F6EECF244321}">
                <p14:modId xmlns:p14="http://schemas.microsoft.com/office/powerpoint/2010/main" val="2433967759"/>
              </p:ext>
            </p:extLst>
          </p:nvPr>
        </p:nvGraphicFramePr>
        <p:xfrm>
          <a:off x="2031999" y="955763"/>
          <a:ext cx="8128000" cy="1478280"/>
        </p:xfrm>
        <a:graphic>
          <a:graphicData uri="http://schemas.openxmlformats.org/drawingml/2006/table">
            <a:tbl>
              <a:tblPr firstRow="1" bandRow="1">
                <a:tableStyleId>{F5AB1C69-6EDB-4FF4-983F-18BD219EF322}</a:tableStyleId>
              </a:tblPr>
              <a:tblGrid>
                <a:gridCol w="2032000">
                  <a:extLst>
                    <a:ext uri="{9D8B030D-6E8A-4147-A177-3AD203B41FA5}">
                      <a16:colId xmlns:a16="http://schemas.microsoft.com/office/drawing/2014/main" xmlns="" val="20000"/>
                    </a:ext>
                  </a:extLst>
                </a:gridCol>
                <a:gridCol w="2032000">
                  <a:extLst>
                    <a:ext uri="{9D8B030D-6E8A-4147-A177-3AD203B41FA5}">
                      <a16:colId xmlns:a16="http://schemas.microsoft.com/office/drawing/2014/main" xmlns="" val="20001"/>
                    </a:ext>
                  </a:extLst>
                </a:gridCol>
                <a:gridCol w="2032000">
                  <a:extLst>
                    <a:ext uri="{9D8B030D-6E8A-4147-A177-3AD203B41FA5}">
                      <a16:colId xmlns:a16="http://schemas.microsoft.com/office/drawing/2014/main" xmlns="" val="20002"/>
                    </a:ext>
                  </a:extLst>
                </a:gridCol>
                <a:gridCol w="2032000">
                  <a:extLst>
                    <a:ext uri="{9D8B030D-6E8A-4147-A177-3AD203B41FA5}">
                      <a16:colId xmlns:a16="http://schemas.microsoft.com/office/drawing/2014/main" xmlns="" val="20003"/>
                    </a:ext>
                  </a:extLst>
                </a:gridCol>
              </a:tblGrid>
              <a:tr h="0">
                <a:tc>
                  <a:txBody>
                    <a:bodyPr/>
                    <a:lstStyle/>
                    <a:p>
                      <a:endParaRPr lang="zh-TW" altLang="en-US" dirty="0"/>
                    </a:p>
                  </a:txBody>
                  <a:tcPr/>
                </a:tc>
                <a:tc>
                  <a:txBody>
                    <a:bodyPr/>
                    <a:lstStyle/>
                    <a:p>
                      <a:pPr algn="ctr"/>
                      <a:r>
                        <a:rPr lang="zh-TW" altLang="en-US" dirty="0"/>
                        <a:t>屬於</a:t>
                      </a:r>
                      <a:r>
                        <a:rPr lang="en-US" altLang="zh-TW" dirty="0"/>
                        <a:t>”</a:t>
                      </a:r>
                      <a:r>
                        <a:rPr lang="zh-TW" altLang="en-US" dirty="0"/>
                        <a:t>體育</a:t>
                      </a:r>
                      <a:r>
                        <a:rPr lang="en-US" altLang="zh-TW" dirty="0"/>
                        <a:t>”</a:t>
                      </a:r>
                      <a:endParaRPr lang="zh-TW" altLang="en-US" dirty="0"/>
                    </a:p>
                  </a:txBody>
                  <a:tcPr/>
                </a:tc>
                <a:tc>
                  <a:txBody>
                    <a:bodyPr/>
                    <a:lstStyle/>
                    <a:p>
                      <a:pPr algn="ctr"/>
                      <a:r>
                        <a:rPr lang="zh-TW" altLang="en-US" dirty="0"/>
                        <a:t>不屬於</a:t>
                      </a:r>
                      <a:r>
                        <a:rPr lang="en-US" altLang="zh-TW" dirty="0"/>
                        <a:t>”</a:t>
                      </a:r>
                      <a:r>
                        <a:rPr lang="zh-TW" altLang="en-US" dirty="0"/>
                        <a:t>體育</a:t>
                      </a:r>
                      <a:r>
                        <a:rPr lang="en-US" altLang="zh-TW" dirty="0"/>
                        <a:t>”</a:t>
                      </a:r>
                      <a:endParaRPr lang="zh-TW" altLang="en-US" dirty="0"/>
                    </a:p>
                  </a:txBody>
                  <a:tcPr/>
                </a:tc>
                <a:tc>
                  <a:txBody>
                    <a:bodyPr/>
                    <a:lstStyle/>
                    <a:p>
                      <a:pPr algn="ctr"/>
                      <a:r>
                        <a:rPr lang="zh-TW" altLang="en-US" dirty="0"/>
                        <a:t>合計</a:t>
                      </a:r>
                    </a:p>
                  </a:txBody>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包含</a:t>
                      </a:r>
                      <a:r>
                        <a:rPr lang="en-US" altLang="zh-TW" dirty="0"/>
                        <a:t>”</a:t>
                      </a:r>
                      <a:r>
                        <a:rPr lang="zh-TW" altLang="en-US" dirty="0"/>
                        <a:t>籃球</a:t>
                      </a:r>
                      <a:r>
                        <a:rPr lang="en-US" altLang="zh-TW" dirty="0"/>
                        <a:t>”</a:t>
                      </a:r>
                      <a:endParaRPr lang="zh-TW" altLang="en-US" dirty="0"/>
                    </a:p>
                  </a:txBody>
                  <a:tcPr/>
                </a:tc>
                <a:tc>
                  <a:txBody>
                    <a:bodyPr/>
                    <a:lstStyle/>
                    <a:p>
                      <a:pPr algn="ctr"/>
                      <a:r>
                        <a:rPr lang="en-US" altLang="zh-TW" dirty="0"/>
                        <a:t>34</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44</a:t>
                      </a:r>
                      <a:endParaRPr lang="zh-TW" altLang="en-US" dirty="0"/>
                    </a:p>
                  </a:txBody>
                  <a:tcPr/>
                </a:tc>
                <a:extLst>
                  <a:ext uri="{0D108BD9-81ED-4DB2-BD59-A6C34878D82A}">
                    <a16:rowId xmlns:a16="http://schemas.microsoft.com/office/drawing/2014/main" xmlns=""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不包含</a:t>
                      </a:r>
                      <a:r>
                        <a:rPr lang="en-US" altLang="zh-TW" dirty="0"/>
                        <a:t>”</a:t>
                      </a:r>
                      <a:r>
                        <a:rPr lang="zh-TW" altLang="en-US" dirty="0"/>
                        <a:t>籃球</a:t>
                      </a:r>
                      <a:r>
                        <a:rPr lang="en-US" altLang="zh-TW" dirty="0"/>
                        <a:t>”</a:t>
                      </a:r>
                      <a:endParaRPr lang="zh-TW" altLang="en-US" dirty="0"/>
                    </a:p>
                  </a:txBody>
                  <a:tcPr/>
                </a:tc>
                <a:tc>
                  <a:txBody>
                    <a:bodyPr/>
                    <a:lstStyle/>
                    <a:p>
                      <a:pPr algn="ctr"/>
                      <a:r>
                        <a:rPr lang="en-US" altLang="zh-TW" dirty="0"/>
                        <a:t>19</a:t>
                      </a:r>
                      <a:endParaRPr lang="zh-TW" altLang="en-US" dirty="0"/>
                    </a:p>
                  </a:txBody>
                  <a:tcPr/>
                </a:tc>
                <a:tc>
                  <a:txBody>
                    <a:bodyPr/>
                    <a:lstStyle/>
                    <a:p>
                      <a:pPr algn="ctr"/>
                      <a:r>
                        <a:rPr lang="en-US" altLang="zh-TW" dirty="0"/>
                        <a:t>24</a:t>
                      </a:r>
                      <a:endParaRPr lang="zh-TW" altLang="en-US" dirty="0"/>
                    </a:p>
                  </a:txBody>
                  <a:tcPr/>
                </a:tc>
                <a:tc>
                  <a:txBody>
                    <a:bodyPr/>
                    <a:lstStyle/>
                    <a:p>
                      <a:pPr algn="ctr"/>
                      <a:r>
                        <a:rPr lang="en-US" altLang="zh-TW" dirty="0"/>
                        <a:t>43</a:t>
                      </a:r>
                      <a:endParaRPr lang="zh-TW" altLang="en-US" dirty="0"/>
                    </a:p>
                  </a:txBody>
                  <a:tcPr/>
                </a:tc>
                <a:extLst>
                  <a:ext uri="{0D108BD9-81ED-4DB2-BD59-A6C34878D82A}">
                    <a16:rowId xmlns:a16="http://schemas.microsoft.com/office/drawing/2014/main" xmlns=""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合計</a:t>
                      </a:r>
                    </a:p>
                  </a:txBody>
                  <a:tcPr/>
                </a:tc>
                <a:tc>
                  <a:txBody>
                    <a:bodyPr/>
                    <a:lstStyle/>
                    <a:p>
                      <a:pPr algn="ctr"/>
                      <a:r>
                        <a:rPr lang="en-US" altLang="zh-TW" dirty="0"/>
                        <a:t>53</a:t>
                      </a:r>
                      <a:endParaRPr lang="zh-TW" altLang="en-US" dirty="0"/>
                    </a:p>
                  </a:txBody>
                  <a:tcPr/>
                </a:tc>
                <a:tc>
                  <a:txBody>
                    <a:bodyPr/>
                    <a:lstStyle/>
                    <a:p>
                      <a:pPr algn="ctr"/>
                      <a:r>
                        <a:rPr lang="en-US" altLang="zh-TW" dirty="0"/>
                        <a:t>34</a:t>
                      </a:r>
                      <a:endParaRPr lang="zh-TW" altLang="en-US" dirty="0"/>
                    </a:p>
                  </a:txBody>
                  <a:tcPr/>
                </a:tc>
                <a:tc>
                  <a:txBody>
                    <a:bodyPr/>
                    <a:lstStyle/>
                    <a:p>
                      <a:pPr algn="ctr"/>
                      <a:r>
                        <a:rPr lang="en-US" altLang="zh-TW" dirty="0"/>
                        <a:t>87</a:t>
                      </a:r>
                      <a:endParaRPr lang="zh-TW" altLang="en-US" dirty="0"/>
                    </a:p>
                  </a:txBody>
                  <a:tcPr/>
                </a:tc>
                <a:extLst>
                  <a:ext uri="{0D108BD9-81ED-4DB2-BD59-A6C34878D82A}">
                    <a16:rowId xmlns:a16="http://schemas.microsoft.com/office/drawing/2014/main" xmlns="" val="10003"/>
                  </a:ext>
                </a:extLst>
              </a:tr>
            </a:tbl>
          </a:graphicData>
        </a:graphic>
      </p:graphicFrame>
      <mc:AlternateContent xmlns:mc="http://schemas.openxmlformats.org/markup-compatibility/2006">
        <mc:Choice xmlns:a14="http://schemas.microsoft.com/office/drawing/2010/main" Requires="a14">
          <p:graphicFrame>
            <p:nvGraphicFramePr>
              <p:cNvPr id="15" name="表格 14"/>
              <p:cNvGraphicFramePr>
                <a:graphicFrameLocks noGrp="1"/>
              </p:cNvGraphicFramePr>
              <p:nvPr>
                <p:extLst>
                  <p:ext uri="{D42A27DB-BD31-4B8C-83A1-F6EECF244321}">
                    <p14:modId xmlns:p14="http://schemas.microsoft.com/office/powerpoint/2010/main" val="3493379447"/>
                  </p:ext>
                </p:extLst>
              </p:nvPr>
            </p:nvGraphicFramePr>
            <p:xfrm>
              <a:off x="3130958" y="5220972"/>
              <a:ext cx="6096000" cy="1107440"/>
            </p:xfrm>
            <a:graphic>
              <a:graphicData uri="http://schemas.openxmlformats.org/drawingml/2006/table">
                <a:tbl>
                  <a:tblPr firstRow="1" bandRow="1">
                    <a:tableStyleId>{F5AB1C69-6EDB-4FF4-983F-18BD219EF322}</a:tableStyleId>
                  </a:tblPr>
                  <a:tblGrid>
                    <a:gridCol w="2032000">
                      <a:extLst>
                        <a:ext uri="{9D8B030D-6E8A-4147-A177-3AD203B41FA5}">
                          <a16:colId xmlns:a16="http://schemas.microsoft.com/office/drawing/2014/main" xmlns="" val="20000"/>
                        </a:ext>
                      </a:extLst>
                    </a:gridCol>
                    <a:gridCol w="2032000">
                      <a:extLst>
                        <a:ext uri="{9D8B030D-6E8A-4147-A177-3AD203B41FA5}">
                          <a16:colId xmlns:a16="http://schemas.microsoft.com/office/drawing/2014/main" xmlns="" val="20001"/>
                        </a:ext>
                      </a:extLst>
                    </a:gridCol>
                    <a:gridCol w="2032000">
                      <a:extLst>
                        <a:ext uri="{9D8B030D-6E8A-4147-A177-3AD203B41FA5}">
                          <a16:colId xmlns:a16="http://schemas.microsoft.com/office/drawing/2014/main" xmlns="" val="20002"/>
                        </a:ext>
                      </a:extLst>
                    </a:gridCol>
                  </a:tblGrid>
                  <a:tr h="0">
                    <a:tc>
                      <a:txBody>
                        <a:bodyPr/>
                        <a:lstStyle/>
                        <a:p>
                          <a:endParaRPr lang="zh-TW" altLang="en-US" dirty="0"/>
                        </a:p>
                      </a:txBody>
                      <a:tcPr/>
                    </a:tc>
                    <a:tc>
                      <a:txBody>
                        <a:bodyPr/>
                        <a:lstStyle/>
                        <a:p>
                          <a:pPr algn="ctr"/>
                          <a:r>
                            <a:rPr lang="zh-TW" altLang="en-US" dirty="0"/>
                            <a:t>屬於</a:t>
                          </a:r>
                          <a:r>
                            <a:rPr lang="en-US" altLang="zh-TW" dirty="0"/>
                            <a:t>”</a:t>
                          </a:r>
                          <a:r>
                            <a:rPr lang="zh-TW" altLang="en-US" dirty="0"/>
                            <a:t>體育</a:t>
                          </a:r>
                          <a:r>
                            <a:rPr lang="en-US" altLang="zh-TW" dirty="0"/>
                            <a:t>”</a:t>
                          </a:r>
                          <a:endParaRPr lang="zh-TW" altLang="en-US" dirty="0"/>
                        </a:p>
                      </a:txBody>
                      <a:tcPr/>
                    </a:tc>
                    <a:tc>
                      <a:txBody>
                        <a:bodyPr/>
                        <a:lstStyle/>
                        <a:p>
                          <a:pPr algn="ctr"/>
                          <a:r>
                            <a:rPr lang="zh-TW" altLang="en-US" dirty="0"/>
                            <a:t>不屬於</a:t>
                          </a:r>
                          <a:r>
                            <a:rPr lang="en-US" altLang="zh-TW" dirty="0"/>
                            <a:t>”</a:t>
                          </a:r>
                          <a:r>
                            <a:rPr lang="zh-TW" altLang="en-US" dirty="0"/>
                            <a:t>體育</a:t>
                          </a:r>
                          <a:r>
                            <a:rPr lang="en-US" altLang="zh-TW" dirty="0"/>
                            <a:t>”</a:t>
                          </a:r>
                          <a:endParaRPr lang="zh-TW" altLang="en-US" dirty="0"/>
                        </a:p>
                      </a:txBody>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包含</a:t>
                          </a:r>
                          <a:r>
                            <a:rPr lang="en-US" altLang="zh-TW" dirty="0"/>
                            <a:t>”</a:t>
                          </a:r>
                          <a:r>
                            <a:rPr lang="zh-TW" altLang="en-US" dirty="0"/>
                            <a:t>籃球</a:t>
                          </a:r>
                          <a:r>
                            <a:rPr lang="en-US" altLang="zh-TW" dirty="0"/>
                            <a:t>”</a:t>
                          </a:r>
                          <a:endParaRPr lang="zh-TW" altLang="en-US" dirty="0"/>
                        </a:p>
                      </a:txBody>
                      <a:tcPr/>
                    </a:tc>
                    <a:tc>
                      <a:txBody>
                        <a:bodyPr/>
                        <a:lstStyle/>
                        <a:p>
                          <a:pPr algn="ctr"/>
                          <a14:m>
                            <m:oMath xmlns:m="http://schemas.openxmlformats.org/officeDocument/2006/math">
                              <m:r>
                                <a:rPr lang="en-US" altLang="zh-TW" i="1" smtClean="0">
                                  <a:latin typeface="Cambria Math" panose="02040503050406030204" pitchFamily="18" charset="0"/>
                                  <a:ea typeface="Cambria Math" panose="02040503050406030204" pitchFamily="18" charset="0"/>
                                </a:rPr>
                                <m:t>44×0</m:t>
                              </m:r>
                            </m:oMath>
                          </a14:m>
                          <a:r>
                            <a:rPr lang="en-US" altLang="zh-TW" dirty="0"/>
                            <a:t>.609</a:t>
                          </a:r>
                          <a:r>
                            <a:rPr lang="zh-TW" altLang="en-US" dirty="0"/>
                            <a:t> </a:t>
                          </a:r>
                          <a:r>
                            <a:rPr lang="en-US" altLang="zh-TW" dirty="0"/>
                            <a:t>=</a:t>
                          </a:r>
                          <a:r>
                            <a:rPr lang="zh-TW" altLang="en-US" dirty="0"/>
                            <a:t> </a:t>
                          </a:r>
                          <a:r>
                            <a:rPr lang="en-US" altLang="zh-TW" dirty="0"/>
                            <a:t>26.8</a:t>
                          </a:r>
                          <a:endParaRPr lang="zh-TW" altLang="en-US" dirty="0"/>
                        </a:p>
                      </a:txBody>
                      <a:tcPr/>
                    </a:tc>
                    <a:tc>
                      <a:txBody>
                        <a:bodyPr/>
                        <a:lstStyle/>
                        <a:p>
                          <a:pPr algn="ctr"/>
                          <a14:m>
                            <m:oMath xmlns:m="http://schemas.openxmlformats.org/officeDocument/2006/math">
                              <m:r>
                                <a:rPr lang="en-US" altLang="zh-TW" i="1" smtClean="0">
                                  <a:latin typeface="Cambria Math" panose="02040503050406030204" pitchFamily="18" charset="0"/>
                                  <a:ea typeface="Cambria Math" panose="02040503050406030204" pitchFamily="18" charset="0"/>
                                </a:rPr>
                                <m:t>44×0</m:t>
                              </m:r>
                            </m:oMath>
                          </a14:m>
                          <a:r>
                            <a:rPr lang="en-US" altLang="zh-TW" dirty="0"/>
                            <a:t>.391</a:t>
                          </a:r>
                          <a:r>
                            <a:rPr lang="zh-TW" altLang="en-US" dirty="0"/>
                            <a:t> </a:t>
                          </a:r>
                          <a:r>
                            <a:rPr lang="en-US" altLang="zh-TW" dirty="0"/>
                            <a:t>=</a:t>
                          </a:r>
                          <a:r>
                            <a:rPr lang="zh-TW" altLang="en-US" dirty="0"/>
                            <a:t> </a:t>
                          </a:r>
                          <a:r>
                            <a:rPr lang="en-US" altLang="zh-TW" dirty="0"/>
                            <a:t>17.2</a:t>
                          </a:r>
                          <a:endParaRPr lang="zh-TW" altLang="en-US" dirty="0"/>
                        </a:p>
                      </a:txBody>
                      <a:tcPr/>
                    </a:tc>
                    <a:extLst>
                      <a:ext uri="{0D108BD9-81ED-4DB2-BD59-A6C34878D82A}">
                        <a16:rowId xmlns:a16="http://schemas.microsoft.com/office/drawing/2014/main" xmlns=""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不包含</a:t>
                          </a:r>
                          <a:r>
                            <a:rPr lang="en-US" altLang="zh-TW" dirty="0"/>
                            <a:t>”</a:t>
                          </a:r>
                          <a:r>
                            <a:rPr lang="zh-TW" altLang="en-US" dirty="0"/>
                            <a:t>籃球</a:t>
                          </a:r>
                          <a:r>
                            <a:rPr lang="en-US" altLang="zh-TW" dirty="0"/>
                            <a:t>”</a:t>
                          </a:r>
                          <a:endParaRPr lang="zh-TW" altLang="en-US" dirty="0"/>
                        </a:p>
                      </a:txBody>
                      <a:tcPr/>
                    </a:tc>
                    <a:tc>
                      <a:txBody>
                        <a:bodyPr/>
                        <a:lstStyle/>
                        <a:p>
                          <a:pPr algn="ctr"/>
                          <a14:m>
                            <m:oMath xmlns:m="http://schemas.openxmlformats.org/officeDocument/2006/math">
                              <m:r>
                                <a:rPr lang="en-US" altLang="zh-TW" i="1" smtClean="0">
                                  <a:latin typeface="Cambria Math" panose="02040503050406030204" pitchFamily="18" charset="0"/>
                                  <a:ea typeface="Cambria Math" panose="02040503050406030204" pitchFamily="18" charset="0"/>
                                </a:rPr>
                                <m:t>43×0</m:t>
                              </m:r>
                            </m:oMath>
                          </a14:m>
                          <a:r>
                            <a:rPr lang="en-US" altLang="zh-TW" dirty="0"/>
                            <a:t>.609</a:t>
                          </a:r>
                          <a:r>
                            <a:rPr lang="zh-TW" altLang="en-US" dirty="0"/>
                            <a:t> </a:t>
                          </a:r>
                          <a:r>
                            <a:rPr lang="en-US" altLang="zh-TW" dirty="0"/>
                            <a:t>=</a:t>
                          </a:r>
                          <a:r>
                            <a:rPr lang="zh-TW" altLang="en-US" dirty="0"/>
                            <a:t> </a:t>
                          </a:r>
                          <a:r>
                            <a:rPr lang="en-US" altLang="zh-TW" dirty="0"/>
                            <a:t>26.2</a:t>
                          </a:r>
                          <a:endParaRPr lang="zh-TW" altLang="en-US" dirty="0"/>
                        </a:p>
                      </a:txBody>
                      <a:tcPr/>
                    </a:tc>
                    <a:tc>
                      <a:txBody>
                        <a:bodyPr/>
                        <a:lstStyle/>
                        <a:p>
                          <a:pPr algn="ctr"/>
                          <a14:m>
                            <m:oMath xmlns:m="http://schemas.openxmlformats.org/officeDocument/2006/math">
                              <m:r>
                                <a:rPr lang="en-US" altLang="zh-TW" i="1" smtClean="0">
                                  <a:latin typeface="Cambria Math" panose="02040503050406030204" pitchFamily="18" charset="0"/>
                                  <a:ea typeface="Cambria Math" panose="02040503050406030204" pitchFamily="18" charset="0"/>
                                </a:rPr>
                                <m:t>43×0</m:t>
                              </m:r>
                            </m:oMath>
                          </a14:m>
                          <a:r>
                            <a:rPr lang="en-US" altLang="zh-TW" dirty="0" smtClean="0"/>
                            <a:t>.391</a:t>
                          </a:r>
                          <a:r>
                            <a:rPr lang="zh-TW" altLang="en-US" dirty="0" smtClean="0"/>
                            <a:t> </a:t>
                          </a:r>
                          <a:r>
                            <a:rPr lang="en-US" altLang="zh-TW" dirty="0"/>
                            <a:t>=</a:t>
                          </a:r>
                          <a:r>
                            <a:rPr lang="zh-TW" altLang="en-US" dirty="0"/>
                            <a:t> </a:t>
                          </a:r>
                          <a:r>
                            <a:rPr lang="en-US" altLang="zh-TW" dirty="0"/>
                            <a:t>16.8</a:t>
                          </a:r>
                          <a:endParaRPr lang="zh-TW" altLang="en-US" dirty="0"/>
                        </a:p>
                      </a:txBody>
                      <a:tcPr/>
                    </a:tc>
                    <a:extLst>
                      <a:ext uri="{0D108BD9-81ED-4DB2-BD59-A6C34878D82A}">
                        <a16:rowId xmlns:a16="http://schemas.microsoft.com/office/drawing/2014/main" xmlns="" val="10002"/>
                      </a:ext>
                    </a:extLst>
                  </a:tr>
                </a:tbl>
              </a:graphicData>
            </a:graphic>
          </p:graphicFrame>
        </mc:Choice>
        <mc:Fallback>
          <p:graphicFrame>
            <p:nvGraphicFramePr>
              <p:cNvPr id="15" name="表格 14"/>
              <p:cNvGraphicFramePr>
                <a:graphicFrameLocks noGrp="1"/>
              </p:cNvGraphicFramePr>
              <p:nvPr>
                <p:extLst>
                  <p:ext uri="{D42A27DB-BD31-4B8C-83A1-F6EECF244321}">
                    <p14:modId xmlns:p14="http://schemas.microsoft.com/office/powerpoint/2010/main" val="3493379447"/>
                  </p:ext>
                </p:extLst>
              </p:nvPr>
            </p:nvGraphicFramePr>
            <p:xfrm>
              <a:off x="3130958" y="5220972"/>
              <a:ext cx="6096000" cy="1107440"/>
            </p:xfrm>
            <a:graphic>
              <a:graphicData uri="http://schemas.openxmlformats.org/drawingml/2006/table">
                <a:tbl>
                  <a:tblPr firstRow="1" bandRow="1">
                    <a:tableStyleId>{F5AB1C69-6EDB-4FF4-983F-18BD219EF322}</a:tableStyleId>
                  </a:tblPr>
                  <a:tblGrid>
                    <a:gridCol w="2032000">
                      <a:extLst>
                        <a:ext uri="{9D8B030D-6E8A-4147-A177-3AD203B41FA5}">
                          <a16:colId xmlns:a16="http://schemas.microsoft.com/office/drawing/2014/main" xmlns:a14="http://schemas.microsoft.com/office/drawing/2010/main" xmlns="" val="20000"/>
                        </a:ext>
                      </a:extLst>
                    </a:gridCol>
                    <a:gridCol w="2032000">
                      <a:extLst>
                        <a:ext uri="{9D8B030D-6E8A-4147-A177-3AD203B41FA5}">
                          <a16:colId xmlns:a16="http://schemas.microsoft.com/office/drawing/2014/main" xmlns:a14="http://schemas.microsoft.com/office/drawing/2010/main" xmlns="" val="20001"/>
                        </a:ext>
                      </a:extLst>
                    </a:gridCol>
                    <a:gridCol w="2032000">
                      <a:extLst>
                        <a:ext uri="{9D8B030D-6E8A-4147-A177-3AD203B41FA5}">
                          <a16:colId xmlns:a16="http://schemas.microsoft.com/office/drawing/2014/main" xmlns:a14="http://schemas.microsoft.com/office/drawing/2010/main" xmlns="" val="20002"/>
                        </a:ext>
                      </a:extLst>
                    </a:gridCol>
                  </a:tblGrid>
                  <a:tr h="365760">
                    <a:tc>
                      <a:txBody>
                        <a:bodyPr/>
                        <a:lstStyle/>
                        <a:p>
                          <a:endParaRPr lang="zh-TW" altLang="en-US" dirty="0"/>
                        </a:p>
                      </a:txBody>
                      <a:tcPr/>
                    </a:tc>
                    <a:tc>
                      <a:txBody>
                        <a:bodyPr/>
                        <a:lstStyle/>
                        <a:p>
                          <a:pPr algn="ctr"/>
                          <a:r>
                            <a:rPr lang="zh-TW" altLang="en-US" dirty="0"/>
                            <a:t>屬於</a:t>
                          </a:r>
                          <a:r>
                            <a:rPr lang="en-US" altLang="zh-TW" dirty="0"/>
                            <a:t>”</a:t>
                          </a:r>
                          <a:r>
                            <a:rPr lang="zh-TW" altLang="en-US" dirty="0"/>
                            <a:t>體育</a:t>
                          </a:r>
                          <a:r>
                            <a:rPr lang="en-US" altLang="zh-TW" dirty="0"/>
                            <a:t>”</a:t>
                          </a:r>
                          <a:endParaRPr lang="zh-TW" altLang="en-US" dirty="0"/>
                        </a:p>
                      </a:txBody>
                      <a:tcPr/>
                    </a:tc>
                    <a:tc>
                      <a:txBody>
                        <a:bodyPr/>
                        <a:lstStyle/>
                        <a:p>
                          <a:pPr algn="ctr"/>
                          <a:r>
                            <a:rPr lang="zh-TW" altLang="en-US" dirty="0"/>
                            <a:t>不屬於</a:t>
                          </a:r>
                          <a:r>
                            <a:rPr lang="en-US" altLang="zh-TW" dirty="0"/>
                            <a:t>”</a:t>
                          </a:r>
                          <a:r>
                            <a:rPr lang="zh-TW" altLang="en-US" dirty="0"/>
                            <a:t>體育</a:t>
                          </a:r>
                          <a:r>
                            <a:rPr lang="en-US" altLang="zh-TW" dirty="0"/>
                            <a:t>”</a:t>
                          </a:r>
                          <a:endParaRPr lang="zh-TW" altLang="en-US" dirty="0"/>
                        </a:p>
                      </a:txBody>
                      <a:tcPr/>
                    </a:tc>
                    <a:extLst>
                      <a:ext uri="{0D108BD9-81ED-4DB2-BD59-A6C34878D82A}">
                        <a16:rowId xmlns:a16="http://schemas.microsoft.com/office/drawing/2014/main" xmlns:a14="http://schemas.microsoft.com/office/drawing/2010/main" xmlns=""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包含</a:t>
                          </a:r>
                          <a:r>
                            <a:rPr lang="en-US" altLang="zh-TW" dirty="0"/>
                            <a:t>”</a:t>
                          </a:r>
                          <a:r>
                            <a:rPr lang="zh-TW" altLang="en-US" dirty="0"/>
                            <a:t>籃球</a:t>
                          </a:r>
                          <a:r>
                            <a:rPr lang="en-US" altLang="zh-TW" dirty="0"/>
                            <a:t>”</a:t>
                          </a:r>
                          <a:endParaRPr lang="zh-TW" altLang="en-US" dirty="0"/>
                        </a:p>
                      </a:txBody>
                      <a:tcPr/>
                    </a:tc>
                    <a:tc>
                      <a:txBody>
                        <a:bodyPr/>
                        <a:lstStyle/>
                        <a:p>
                          <a:endParaRPr lang="zh-TW"/>
                        </a:p>
                      </a:txBody>
                      <a:tcPr>
                        <a:blipFill rotWithShape="0">
                          <a:blip r:embed="rId3"/>
                          <a:stretch>
                            <a:fillRect l="-100601" t="-104839" r="-101502" b="-120968"/>
                          </a:stretch>
                        </a:blipFill>
                      </a:tcPr>
                    </a:tc>
                    <a:tc>
                      <a:txBody>
                        <a:bodyPr/>
                        <a:lstStyle/>
                        <a:p>
                          <a:endParaRPr lang="zh-TW"/>
                        </a:p>
                      </a:txBody>
                      <a:tcPr>
                        <a:blipFill rotWithShape="0">
                          <a:blip r:embed="rId3"/>
                          <a:stretch>
                            <a:fillRect l="-200000" t="-104839" r="-1198" b="-120968"/>
                          </a:stretch>
                        </a:blipFill>
                      </a:tcPr>
                    </a:tc>
                    <a:extLst>
                      <a:ext uri="{0D108BD9-81ED-4DB2-BD59-A6C34878D82A}">
                        <a16:rowId xmlns:a16="http://schemas.microsoft.com/office/drawing/2014/main" xmlns:a14="http://schemas.microsoft.com/office/drawing/2010/main" xmlns=""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不包含</a:t>
                          </a:r>
                          <a:r>
                            <a:rPr lang="en-US" altLang="zh-TW" dirty="0"/>
                            <a:t>”</a:t>
                          </a:r>
                          <a:r>
                            <a:rPr lang="zh-TW" altLang="en-US" dirty="0"/>
                            <a:t>籃球</a:t>
                          </a:r>
                          <a:r>
                            <a:rPr lang="en-US" altLang="zh-TW" dirty="0"/>
                            <a:t>”</a:t>
                          </a:r>
                          <a:endParaRPr lang="zh-TW" altLang="en-US" dirty="0"/>
                        </a:p>
                      </a:txBody>
                      <a:tcPr/>
                    </a:tc>
                    <a:tc>
                      <a:txBody>
                        <a:bodyPr/>
                        <a:lstStyle/>
                        <a:p>
                          <a:endParaRPr lang="zh-TW"/>
                        </a:p>
                      </a:txBody>
                      <a:tcPr>
                        <a:blipFill rotWithShape="0">
                          <a:blip r:embed="rId3"/>
                          <a:stretch>
                            <a:fillRect l="-100601" t="-208197" r="-101502" b="-22951"/>
                          </a:stretch>
                        </a:blipFill>
                      </a:tcPr>
                    </a:tc>
                    <a:tc>
                      <a:txBody>
                        <a:bodyPr/>
                        <a:lstStyle/>
                        <a:p>
                          <a:endParaRPr lang="zh-TW"/>
                        </a:p>
                      </a:txBody>
                      <a:tcPr>
                        <a:blipFill rotWithShape="0">
                          <a:blip r:embed="rId3"/>
                          <a:stretch>
                            <a:fillRect l="-200000" t="-208197" r="-1198" b="-22951"/>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16" name="文字方塊 15"/>
          <p:cNvSpPr txBox="1"/>
          <p:nvPr/>
        </p:nvSpPr>
        <p:spPr>
          <a:xfrm>
            <a:off x="809937" y="4678918"/>
            <a:ext cx="9879628"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根據假設，計算理論值，如果兩個變量是無關的，那麼表格中的理論值與實際值差異會非常小。</a:t>
            </a:r>
          </a:p>
        </p:txBody>
      </p:sp>
    </p:spTree>
    <p:extLst>
      <p:ext uri="{BB962C8B-B14F-4D97-AF65-F5344CB8AC3E}">
        <p14:creationId xmlns:p14="http://schemas.microsoft.com/office/powerpoint/2010/main" val="15353151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字方塊 5"/>
              <p:cNvSpPr txBox="1"/>
              <p:nvPr/>
            </p:nvSpPr>
            <p:spPr>
              <a:xfrm>
                <a:off x="2496065" y="4369926"/>
                <a:ext cx="2806005" cy="9902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i="1" smtClean="0">
                              <a:latin typeface="Cambria Math" panose="02040503050406030204" pitchFamily="18" charset="0"/>
                            </a:rPr>
                          </m:ctrlPr>
                        </m:sSupPr>
                        <m:e>
                          <m:r>
                            <a:rPr lang="zh-TW" altLang="en-US" sz="2000" i="1" smtClean="0">
                              <a:latin typeface="Cambria Math" panose="02040503050406030204" pitchFamily="18" charset="0"/>
                            </a:rPr>
                            <m:t>𝜒</m:t>
                          </m:r>
                        </m:e>
                        <m:sup>
                          <m:r>
                            <a:rPr lang="en-US" altLang="zh-TW" sz="2000" i="1">
                              <a:latin typeface="Cambria Math" panose="02040503050406030204" pitchFamily="18" charset="0"/>
                            </a:rPr>
                            <m:t>2</m:t>
                          </m:r>
                        </m:sup>
                      </m:sSup>
                      <m:r>
                        <a:rPr lang="en-US" altLang="zh-TW" sz="2000" i="1">
                          <a:latin typeface="Cambria Math" panose="02040503050406030204" pitchFamily="18" charset="0"/>
                        </a:rPr>
                        <m:t>=</m:t>
                      </m:r>
                      <m:nary>
                        <m:naryPr>
                          <m:chr m:val="∑"/>
                          <m:ctrlPr>
                            <a:rPr lang="zh-TW" altLang="en-US" sz="2000" i="1" smtClean="0">
                              <a:latin typeface="Cambria Math" panose="02040503050406030204" pitchFamily="18" charset="0"/>
                            </a:rPr>
                          </m:ctrlPr>
                        </m:naryPr>
                        <m:sub/>
                        <m:sup/>
                        <m:e>
                          <m:f>
                            <m:fPr>
                              <m:ctrlPr>
                                <a:rPr lang="en-US" altLang="zh-TW" sz="2000" i="1" smtClean="0">
                                  <a:latin typeface="Cambria Math" panose="02040503050406030204" pitchFamily="18" charset="0"/>
                                </a:rPr>
                              </m:ctrlPr>
                            </m:fPr>
                            <m:num>
                              <m:sSup>
                                <m:sSupPr>
                                  <m:ctrlPr>
                                    <a:rPr lang="en-US" altLang="zh-TW" sz="2000" i="1" smtClean="0">
                                      <a:latin typeface="Cambria Math" panose="02040503050406030204" pitchFamily="18" charset="0"/>
                                    </a:rPr>
                                  </m:ctrlPr>
                                </m:sSupPr>
                                <m:e>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𝑖</m:t>
                                      </m:r>
                                    </m:sub>
                                  </m:sSub>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𝐸</m:t>
                                  </m:r>
                                  <m:r>
                                    <a:rPr lang="en-US" altLang="zh-TW" sz="2000" b="0" i="1" smtClean="0">
                                      <a:latin typeface="Cambria Math" panose="02040503050406030204" pitchFamily="18" charset="0"/>
                                    </a:rPr>
                                    <m:t>)</m:t>
                                  </m:r>
                                </m:e>
                                <m:sup>
                                  <m:r>
                                    <a:rPr lang="en-US" altLang="zh-TW" sz="2000" b="0" i="1" smtClean="0">
                                      <a:latin typeface="Cambria Math" panose="02040503050406030204" pitchFamily="18" charset="0"/>
                                    </a:rPr>
                                    <m:t>2</m:t>
                                  </m:r>
                                </m:sup>
                              </m:sSup>
                            </m:num>
                            <m:den>
                              <m:r>
                                <a:rPr lang="en-US" altLang="zh-TW" sz="2000" b="0" i="1" smtClean="0">
                                  <a:latin typeface="Cambria Math" panose="02040503050406030204" pitchFamily="18" charset="0"/>
                                </a:rPr>
                                <m:t>𝐸</m:t>
                              </m:r>
                            </m:den>
                          </m:f>
                          <m:r>
                            <a:rPr lang="en-US" altLang="zh-TW" sz="2000" i="1">
                              <a:latin typeface="Cambria Math" panose="02040503050406030204" pitchFamily="18" charset="0"/>
                            </a:rPr>
                            <m:t>=</m:t>
                          </m:r>
                        </m:e>
                      </m:nary>
                    </m:oMath>
                  </m:oMathPara>
                </a14:m>
                <a:endParaRPr lang="zh-TW" altLang="en-US" sz="20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2496065" y="4369926"/>
                <a:ext cx="2806005" cy="990207"/>
              </a:xfrm>
              <a:prstGeom prst="rect">
                <a:avLst/>
              </a:prstGeom>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文字方塊 6"/>
              <p:cNvSpPr txBox="1"/>
              <p:nvPr/>
            </p:nvSpPr>
            <p:spPr>
              <a:xfrm>
                <a:off x="889034" y="3737515"/>
                <a:ext cx="10948959"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利用公式算出</a:t>
                </a:r>
                <a14:m>
                  <m:oMath xmlns:m="http://schemas.openxmlformats.org/officeDocument/2006/math">
                    <m:sSup>
                      <m:sSupPr>
                        <m:ctrlPr>
                          <a:rPr lang="en-US" altLang="zh-TW" i="1" smtClean="0">
                            <a:latin typeface="Cambria Math" panose="02040503050406030204" pitchFamily="18" charset="0"/>
                          </a:rPr>
                        </m:ctrlPr>
                      </m:sSupPr>
                      <m:e>
                        <m:r>
                          <a:rPr lang="zh-TW" altLang="en-US" i="1" smtClean="0">
                            <a:latin typeface="Cambria Math" panose="02040503050406030204" pitchFamily="18" charset="0"/>
                          </a:rPr>
                          <m:t>𝜒</m:t>
                        </m:r>
                      </m:e>
                      <m:sup>
                        <m:r>
                          <a:rPr lang="en-US" altLang="zh-TW" i="1">
                            <a:latin typeface="Cambria Math" panose="02040503050406030204" pitchFamily="18" charset="0"/>
                          </a:rPr>
                          <m:t>2</m:t>
                        </m:r>
                      </m:sup>
                    </m:sSup>
                    <m:r>
                      <a:rPr lang="zh-TW" altLang="en-US" i="1">
                        <a:latin typeface="Cambria Math" panose="02040503050406030204" pitchFamily="18" charset="0"/>
                      </a:rPr>
                      <m:t>，</m:t>
                    </m:r>
                  </m:oMath>
                </a14:m>
                <a:r>
                  <a:rPr lang="zh-TW" altLang="en-US" dirty="0">
                    <a:latin typeface="微軟正黑體" panose="020B0604030504040204" pitchFamily="34" charset="-120"/>
                    <a:ea typeface="微軟正黑體" panose="020B0604030504040204" pitchFamily="34" charset="-120"/>
                  </a:rPr>
                  <a:t>其中</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Sub>
                  </m:oMath>
                </a14:m>
                <a:r>
                  <a:rPr lang="zh-TW" altLang="en-US" dirty="0">
                    <a:latin typeface="微軟正黑體" panose="020B0604030504040204" pitchFamily="34" charset="-120"/>
                    <a:ea typeface="微軟正黑體" panose="020B0604030504040204" pitchFamily="34" charset="-120"/>
                  </a:rPr>
                  <a:t>為實際值</a:t>
                </a:r>
                <a:r>
                  <a:rPr lang="zh-CN" altLang="en-US" dirty="0">
                    <a:latin typeface="微軟正黑體" panose="020B0604030504040204" pitchFamily="34" charset="-120"/>
                    <a:ea typeface="微軟正黑體" panose="020B0604030504040204" pitchFamily="34" charset="-120"/>
                  </a:rPr>
                  <a:t>，也就是</a:t>
                </a:r>
                <a:r>
                  <a:rPr lang="zh-TW" altLang="en-US" dirty="0">
                    <a:latin typeface="微軟正黑體" panose="020B0604030504040204" pitchFamily="34" charset="-120"/>
                    <a:ea typeface="微軟正黑體" panose="020B0604030504040204" pitchFamily="34" charset="-120"/>
                  </a:rPr>
                  <a:t>第</a:t>
                </a:r>
                <a:r>
                  <a:rPr lang="zh-TW" altLang="en-US" dirty="0" smtClean="0">
                    <a:latin typeface="微軟正黑體" panose="020B0604030504040204" pitchFamily="34" charset="-120"/>
                    <a:ea typeface="微軟正黑體" panose="020B0604030504040204" pitchFamily="34" charset="-120"/>
                  </a:rPr>
                  <a:t>一個</a:t>
                </a:r>
                <a:r>
                  <a:rPr lang="zh-TW" altLang="en-US" dirty="0">
                    <a:latin typeface="微軟正黑體" panose="020B0604030504040204" pitchFamily="34" charset="-120"/>
                    <a:ea typeface="微軟正黑體" panose="020B0604030504040204" pitchFamily="34" charset="-120"/>
                  </a:rPr>
                  <a:t>表</a:t>
                </a:r>
                <a:r>
                  <a:rPr lang="zh-CN" altLang="en-US" dirty="0" smtClean="0">
                    <a:latin typeface="微軟正黑體" panose="020B0604030504040204" pitchFamily="34" charset="-120"/>
                    <a:ea typeface="微軟正黑體" panose="020B0604030504040204" pitchFamily="34" charset="-120"/>
                  </a:rPr>
                  <a:t>的</a:t>
                </a:r>
                <a:r>
                  <a:rPr lang="en-US" altLang="zh-TW" dirty="0">
                    <a:latin typeface="微軟正黑體" panose="020B0604030504040204" pitchFamily="34" charset="-120"/>
                    <a:ea typeface="微軟正黑體" panose="020B0604030504040204" pitchFamily="34" charset="-120"/>
                  </a:rPr>
                  <a:t>4</a:t>
                </a:r>
                <a:r>
                  <a:rPr lang="zh-TW" altLang="en-US" dirty="0">
                    <a:latin typeface="微軟正黑體" panose="020B0604030504040204" pitchFamily="34" charset="-120"/>
                    <a:ea typeface="微軟正黑體" panose="020B0604030504040204" pitchFamily="34" charset="-120"/>
                  </a:rPr>
                  <a:t>個資料</a:t>
                </a:r>
                <a:r>
                  <a:rPr lang="zh-CN" altLang="en-US" dirty="0">
                    <a:latin typeface="微軟正黑體" panose="020B0604030504040204" pitchFamily="34" charset="-120"/>
                    <a:ea typeface="微軟正黑體" panose="020B0604030504040204" pitchFamily="34" charset="-120"/>
                  </a:rPr>
                  <a:t>，</a:t>
                </a:r>
                <a:r>
                  <a:rPr lang="en-US" altLang="zh-CN" dirty="0">
                    <a:latin typeface="微軟正黑體" panose="020B0604030504040204" pitchFamily="34" charset="-120"/>
                    <a:ea typeface="微軟正黑體" panose="020B0604030504040204" pitchFamily="34" charset="-120"/>
                  </a:rPr>
                  <a:t>E</a:t>
                </a:r>
                <a:r>
                  <a:rPr lang="zh-TW" altLang="en-US" dirty="0">
                    <a:latin typeface="微軟正黑體" panose="020B0604030504040204" pitchFamily="34" charset="-120"/>
                    <a:ea typeface="微軟正黑體" panose="020B0604030504040204" pitchFamily="34" charset="-120"/>
                  </a:rPr>
                  <a:t>為期望值</a:t>
                </a:r>
                <a:r>
                  <a:rPr lang="zh-CN" altLang="en-US" dirty="0">
                    <a:latin typeface="微軟正黑體" panose="020B0604030504040204" pitchFamily="34" charset="-120"/>
                    <a:ea typeface="微軟正黑體" panose="020B0604030504040204" pitchFamily="34" charset="-120"/>
                  </a:rPr>
                  <a:t>，</a:t>
                </a:r>
                <a:r>
                  <a:rPr lang="zh-CN" altLang="en-US" dirty="0" smtClean="0">
                    <a:latin typeface="微軟正黑體" panose="020B0604030504040204" pitchFamily="34" charset="-120"/>
                    <a:ea typeface="微軟正黑體" panose="020B0604030504040204" pitchFamily="34" charset="-120"/>
                  </a:rPr>
                  <a:t>也就是</a:t>
                </a:r>
                <a:r>
                  <a:rPr lang="zh-TW" altLang="en-US" dirty="0" smtClean="0">
                    <a:latin typeface="微軟正黑體" panose="020B0604030504040204" pitchFamily="34" charset="-120"/>
                    <a:ea typeface="微軟正黑體" panose="020B0604030504040204" pitchFamily="34" charset="-120"/>
                  </a:rPr>
                  <a:t>期</a:t>
                </a:r>
                <a:r>
                  <a:rPr lang="zh-TW" altLang="en-US" dirty="0">
                    <a:latin typeface="微軟正黑體" panose="020B0604030504040204" pitchFamily="34" charset="-120"/>
                    <a:ea typeface="微軟正黑體" panose="020B0604030504040204" pitchFamily="34" charset="-120"/>
                  </a:rPr>
                  <a:t>望</a:t>
                </a:r>
                <a:r>
                  <a:rPr lang="zh-TW" altLang="en-US" dirty="0" smtClean="0">
                    <a:latin typeface="微軟正黑體" panose="020B0604030504040204" pitchFamily="34" charset="-120"/>
                    <a:ea typeface="微軟正黑體" panose="020B0604030504040204" pitchFamily="34" charset="-120"/>
                  </a:rPr>
                  <a:t>值表</a:t>
                </a:r>
                <a:r>
                  <a:rPr lang="zh-CN" altLang="en-US" dirty="0" smtClean="0">
                    <a:latin typeface="微軟正黑體" panose="020B0604030504040204" pitchFamily="34" charset="-120"/>
                    <a:ea typeface="微軟正黑體" panose="020B0604030504040204" pitchFamily="34" charset="-120"/>
                  </a:rPr>
                  <a:t>的</a:t>
                </a:r>
                <a:r>
                  <a:rPr lang="en-US" altLang="zh-TW" dirty="0">
                    <a:latin typeface="微軟正黑體" panose="020B0604030504040204" pitchFamily="34" charset="-120"/>
                    <a:ea typeface="微軟正黑體" panose="020B0604030504040204" pitchFamily="34" charset="-120"/>
                  </a:rPr>
                  <a:t>4</a:t>
                </a:r>
                <a:r>
                  <a:rPr lang="zh-TW" altLang="en-US" dirty="0">
                    <a:latin typeface="微軟正黑體" panose="020B0604030504040204" pitchFamily="34" charset="-120"/>
                    <a:ea typeface="微軟正黑體" panose="020B0604030504040204" pitchFamily="34" charset="-120"/>
                  </a:rPr>
                  <a:t>個資料。</a:t>
                </a:r>
              </a:p>
            </p:txBody>
          </p:sp>
        </mc:Choice>
        <mc:Fallback>
          <p:sp>
            <p:nvSpPr>
              <p:cNvPr id="7" name="文字方塊 6"/>
              <p:cNvSpPr txBox="1">
                <a:spLocks noRot="1" noChangeAspect="1" noMove="1" noResize="1" noEditPoints="1" noAdjustHandles="1" noChangeArrowheads="1" noChangeShapeType="1" noTextEdit="1"/>
              </p:cNvSpPr>
              <p:nvPr/>
            </p:nvSpPr>
            <p:spPr>
              <a:xfrm>
                <a:off x="889034" y="3737515"/>
                <a:ext cx="10948959" cy="369332"/>
              </a:xfrm>
              <a:prstGeom prst="rect">
                <a:avLst/>
              </a:prstGeom>
              <a:blipFill rotWithShape="0">
                <a:blip r:embed="rId3"/>
                <a:stretch>
                  <a:fillRect l="-501" t="-8197" b="-24590"/>
                </a:stretch>
              </a:blipFill>
            </p:spPr>
            <p:txBody>
              <a:bodyPr/>
              <a:lstStyle/>
              <a:p>
                <a:r>
                  <a:rPr lang="zh-TW" altLang="en-US">
                    <a:noFill/>
                  </a:rPr>
                  <a:t> </a:t>
                </a:r>
              </a:p>
            </p:txBody>
          </p:sp>
        </mc:Fallback>
      </mc:AlternateContent>
      <p:graphicFrame>
        <p:nvGraphicFramePr>
          <p:cNvPr id="8" name="表格 7"/>
          <p:cNvGraphicFramePr>
            <a:graphicFrameLocks noGrp="1"/>
          </p:cNvGraphicFramePr>
          <p:nvPr>
            <p:extLst>
              <p:ext uri="{D42A27DB-BD31-4B8C-83A1-F6EECF244321}">
                <p14:modId xmlns:p14="http://schemas.microsoft.com/office/powerpoint/2010/main" val="3160992681"/>
              </p:ext>
            </p:extLst>
          </p:nvPr>
        </p:nvGraphicFramePr>
        <p:xfrm>
          <a:off x="2122615" y="420129"/>
          <a:ext cx="8128000" cy="1478280"/>
        </p:xfrm>
        <a:graphic>
          <a:graphicData uri="http://schemas.openxmlformats.org/drawingml/2006/table">
            <a:tbl>
              <a:tblPr firstRow="1" bandRow="1">
                <a:tableStyleId>{F5AB1C69-6EDB-4FF4-983F-18BD219EF322}</a:tableStyleId>
              </a:tblPr>
              <a:tblGrid>
                <a:gridCol w="2032000">
                  <a:extLst>
                    <a:ext uri="{9D8B030D-6E8A-4147-A177-3AD203B41FA5}">
                      <a16:colId xmlns:a16="http://schemas.microsoft.com/office/drawing/2014/main" xmlns="" val="20000"/>
                    </a:ext>
                  </a:extLst>
                </a:gridCol>
                <a:gridCol w="2032000">
                  <a:extLst>
                    <a:ext uri="{9D8B030D-6E8A-4147-A177-3AD203B41FA5}">
                      <a16:colId xmlns:a16="http://schemas.microsoft.com/office/drawing/2014/main" xmlns="" val="20001"/>
                    </a:ext>
                  </a:extLst>
                </a:gridCol>
                <a:gridCol w="2032000">
                  <a:extLst>
                    <a:ext uri="{9D8B030D-6E8A-4147-A177-3AD203B41FA5}">
                      <a16:colId xmlns:a16="http://schemas.microsoft.com/office/drawing/2014/main" xmlns="" val="20002"/>
                    </a:ext>
                  </a:extLst>
                </a:gridCol>
                <a:gridCol w="2032000">
                  <a:extLst>
                    <a:ext uri="{9D8B030D-6E8A-4147-A177-3AD203B41FA5}">
                      <a16:colId xmlns:a16="http://schemas.microsoft.com/office/drawing/2014/main" xmlns="" val="20003"/>
                    </a:ext>
                  </a:extLst>
                </a:gridCol>
              </a:tblGrid>
              <a:tr h="0">
                <a:tc>
                  <a:txBody>
                    <a:bodyPr/>
                    <a:lstStyle/>
                    <a:p>
                      <a:endParaRPr lang="zh-TW" altLang="en-US" dirty="0"/>
                    </a:p>
                  </a:txBody>
                  <a:tcPr/>
                </a:tc>
                <a:tc>
                  <a:txBody>
                    <a:bodyPr/>
                    <a:lstStyle/>
                    <a:p>
                      <a:pPr algn="ctr"/>
                      <a:r>
                        <a:rPr lang="zh-TW" altLang="en-US" dirty="0"/>
                        <a:t>屬於</a:t>
                      </a:r>
                      <a:r>
                        <a:rPr lang="en-US" altLang="zh-TW" dirty="0"/>
                        <a:t>”</a:t>
                      </a:r>
                      <a:r>
                        <a:rPr lang="zh-TW" altLang="en-US" dirty="0"/>
                        <a:t>體育</a:t>
                      </a:r>
                      <a:r>
                        <a:rPr lang="en-US" altLang="zh-TW" dirty="0"/>
                        <a:t>”</a:t>
                      </a:r>
                      <a:endParaRPr lang="zh-TW" altLang="en-US" dirty="0"/>
                    </a:p>
                  </a:txBody>
                  <a:tcPr/>
                </a:tc>
                <a:tc>
                  <a:txBody>
                    <a:bodyPr/>
                    <a:lstStyle/>
                    <a:p>
                      <a:pPr algn="ctr"/>
                      <a:r>
                        <a:rPr lang="zh-TW" altLang="en-US" dirty="0"/>
                        <a:t>不屬於</a:t>
                      </a:r>
                      <a:r>
                        <a:rPr lang="en-US" altLang="zh-TW" dirty="0"/>
                        <a:t>”</a:t>
                      </a:r>
                      <a:r>
                        <a:rPr lang="zh-TW" altLang="en-US" dirty="0"/>
                        <a:t>體育</a:t>
                      </a:r>
                      <a:r>
                        <a:rPr lang="en-US" altLang="zh-TW" dirty="0"/>
                        <a:t>”</a:t>
                      </a:r>
                      <a:endParaRPr lang="zh-TW" altLang="en-US" dirty="0"/>
                    </a:p>
                  </a:txBody>
                  <a:tcPr/>
                </a:tc>
                <a:tc>
                  <a:txBody>
                    <a:bodyPr/>
                    <a:lstStyle/>
                    <a:p>
                      <a:pPr algn="ctr"/>
                      <a:r>
                        <a:rPr lang="zh-TW" altLang="en-US" dirty="0"/>
                        <a:t>合計</a:t>
                      </a:r>
                    </a:p>
                  </a:txBody>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包含</a:t>
                      </a:r>
                      <a:r>
                        <a:rPr lang="en-US" altLang="zh-TW" dirty="0"/>
                        <a:t>”</a:t>
                      </a:r>
                      <a:r>
                        <a:rPr lang="zh-TW" altLang="en-US" dirty="0"/>
                        <a:t>籃球</a:t>
                      </a:r>
                      <a:r>
                        <a:rPr lang="en-US" altLang="zh-TW" dirty="0"/>
                        <a:t>”</a:t>
                      </a:r>
                      <a:endParaRPr lang="zh-TW" altLang="en-US" dirty="0"/>
                    </a:p>
                  </a:txBody>
                  <a:tcPr/>
                </a:tc>
                <a:tc>
                  <a:txBody>
                    <a:bodyPr/>
                    <a:lstStyle/>
                    <a:p>
                      <a:pPr algn="ctr"/>
                      <a:r>
                        <a:rPr lang="en-US" altLang="zh-TW" dirty="0"/>
                        <a:t>34</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44</a:t>
                      </a:r>
                      <a:endParaRPr lang="zh-TW" altLang="en-US" dirty="0"/>
                    </a:p>
                  </a:txBody>
                  <a:tcPr/>
                </a:tc>
                <a:extLst>
                  <a:ext uri="{0D108BD9-81ED-4DB2-BD59-A6C34878D82A}">
                    <a16:rowId xmlns:a16="http://schemas.microsoft.com/office/drawing/2014/main" xmlns=""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不包含</a:t>
                      </a:r>
                      <a:r>
                        <a:rPr lang="en-US" altLang="zh-TW" dirty="0"/>
                        <a:t>”</a:t>
                      </a:r>
                      <a:r>
                        <a:rPr lang="zh-TW" altLang="en-US" dirty="0"/>
                        <a:t>籃球</a:t>
                      </a:r>
                      <a:r>
                        <a:rPr lang="en-US" altLang="zh-TW" dirty="0"/>
                        <a:t>”</a:t>
                      </a:r>
                      <a:endParaRPr lang="zh-TW" altLang="en-US" dirty="0"/>
                    </a:p>
                  </a:txBody>
                  <a:tcPr/>
                </a:tc>
                <a:tc>
                  <a:txBody>
                    <a:bodyPr/>
                    <a:lstStyle/>
                    <a:p>
                      <a:pPr algn="ctr"/>
                      <a:r>
                        <a:rPr lang="en-US" altLang="zh-TW" dirty="0"/>
                        <a:t>19</a:t>
                      </a:r>
                      <a:endParaRPr lang="zh-TW" altLang="en-US" dirty="0"/>
                    </a:p>
                  </a:txBody>
                  <a:tcPr/>
                </a:tc>
                <a:tc>
                  <a:txBody>
                    <a:bodyPr/>
                    <a:lstStyle/>
                    <a:p>
                      <a:pPr algn="ctr"/>
                      <a:r>
                        <a:rPr lang="en-US" altLang="zh-TW" dirty="0"/>
                        <a:t>24</a:t>
                      </a:r>
                      <a:endParaRPr lang="zh-TW" altLang="en-US" dirty="0"/>
                    </a:p>
                  </a:txBody>
                  <a:tcPr/>
                </a:tc>
                <a:tc>
                  <a:txBody>
                    <a:bodyPr/>
                    <a:lstStyle/>
                    <a:p>
                      <a:pPr algn="ctr"/>
                      <a:r>
                        <a:rPr lang="en-US" altLang="zh-TW" dirty="0"/>
                        <a:t>43</a:t>
                      </a:r>
                      <a:endParaRPr lang="zh-TW" altLang="en-US" dirty="0"/>
                    </a:p>
                  </a:txBody>
                  <a:tcPr/>
                </a:tc>
                <a:extLst>
                  <a:ext uri="{0D108BD9-81ED-4DB2-BD59-A6C34878D82A}">
                    <a16:rowId xmlns:a16="http://schemas.microsoft.com/office/drawing/2014/main" xmlns=""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合計</a:t>
                      </a:r>
                    </a:p>
                  </a:txBody>
                  <a:tcPr/>
                </a:tc>
                <a:tc>
                  <a:txBody>
                    <a:bodyPr/>
                    <a:lstStyle/>
                    <a:p>
                      <a:pPr algn="ctr"/>
                      <a:r>
                        <a:rPr lang="en-US" altLang="zh-TW" dirty="0"/>
                        <a:t>53</a:t>
                      </a:r>
                      <a:endParaRPr lang="zh-TW" altLang="en-US" dirty="0"/>
                    </a:p>
                  </a:txBody>
                  <a:tcPr/>
                </a:tc>
                <a:tc>
                  <a:txBody>
                    <a:bodyPr/>
                    <a:lstStyle/>
                    <a:p>
                      <a:pPr algn="ctr"/>
                      <a:r>
                        <a:rPr lang="en-US" altLang="zh-TW" dirty="0"/>
                        <a:t>34</a:t>
                      </a:r>
                      <a:endParaRPr lang="zh-TW" altLang="en-US" dirty="0"/>
                    </a:p>
                  </a:txBody>
                  <a:tcPr/>
                </a:tc>
                <a:tc>
                  <a:txBody>
                    <a:bodyPr/>
                    <a:lstStyle/>
                    <a:p>
                      <a:pPr algn="ctr"/>
                      <a:r>
                        <a:rPr lang="en-US" altLang="zh-TW" dirty="0"/>
                        <a:t>87</a:t>
                      </a:r>
                      <a:endParaRPr lang="zh-TW" altLang="en-US" dirty="0"/>
                    </a:p>
                  </a:txBody>
                  <a:tcPr/>
                </a:tc>
                <a:extLst>
                  <a:ext uri="{0D108BD9-81ED-4DB2-BD59-A6C34878D82A}">
                    <a16:rowId xmlns:a16="http://schemas.microsoft.com/office/drawing/2014/main" xmlns="" val="10003"/>
                  </a:ext>
                </a:extLst>
              </a:tr>
            </a:tbl>
          </a:graphicData>
        </a:graphic>
      </p:graphicFrame>
      <mc:AlternateContent xmlns:mc="http://schemas.openxmlformats.org/markup-compatibility/2006" xmlns:a14="http://schemas.microsoft.com/office/drawing/2010/main">
        <mc:Choice Requires="a14">
          <p:graphicFrame>
            <p:nvGraphicFramePr>
              <p:cNvPr id="9" name="表格 8"/>
              <p:cNvGraphicFramePr>
                <a:graphicFrameLocks noGrp="1"/>
              </p:cNvGraphicFramePr>
              <p:nvPr>
                <p:extLst>
                  <p:ext uri="{D42A27DB-BD31-4B8C-83A1-F6EECF244321}">
                    <p14:modId xmlns:p14="http://schemas.microsoft.com/office/powerpoint/2010/main" val="1365662203"/>
                  </p:ext>
                </p:extLst>
              </p:nvPr>
            </p:nvGraphicFramePr>
            <p:xfrm>
              <a:off x="2122615" y="2356575"/>
              <a:ext cx="8128000" cy="1107440"/>
            </p:xfrm>
            <a:graphic>
              <a:graphicData uri="http://schemas.openxmlformats.org/drawingml/2006/table">
                <a:tbl>
                  <a:tblPr firstRow="1" bandRow="1">
                    <a:tableStyleId>{F5AB1C69-6EDB-4FF4-983F-18BD219EF322}</a:tableStyleId>
                  </a:tblPr>
                  <a:tblGrid>
                    <a:gridCol w="2032000">
                      <a:extLst>
                        <a:ext uri="{9D8B030D-6E8A-4147-A177-3AD203B41FA5}">
                          <a16:colId xmlns:a16="http://schemas.microsoft.com/office/drawing/2014/main" xmlns="" val="20000"/>
                        </a:ext>
                      </a:extLst>
                    </a:gridCol>
                    <a:gridCol w="2032000">
                      <a:extLst>
                        <a:ext uri="{9D8B030D-6E8A-4147-A177-3AD203B41FA5}">
                          <a16:colId xmlns:a16="http://schemas.microsoft.com/office/drawing/2014/main" xmlns="" val="20001"/>
                        </a:ext>
                      </a:extLst>
                    </a:gridCol>
                    <a:gridCol w="2032000">
                      <a:extLst>
                        <a:ext uri="{9D8B030D-6E8A-4147-A177-3AD203B41FA5}">
                          <a16:colId xmlns:a16="http://schemas.microsoft.com/office/drawing/2014/main" xmlns="" val="20002"/>
                        </a:ext>
                      </a:extLst>
                    </a:gridCol>
                    <a:gridCol w="2032000">
                      <a:extLst>
                        <a:ext uri="{9D8B030D-6E8A-4147-A177-3AD203B41FA5}">
                          <a16:colId xmlns:a16="http://schemas.microsoft.com/office/drawing/2014/main" xmlns="" val="20003"/>
                        </a:ext>
                      </a:extLst>
                    </a:gridCol>
                  </a:tblGrid>
                  <a:tr h="0">
                    <a:tc>
                      <a:txBody>
                        <a:bodyPr/>
                        <a:lstStyle/>
                        <a:p>
                          <a:endParaRPr lang="zh-TW" altLang="en-US" dirty="0"/>
                        </a:p>
                      </a:txBody>
                      <a:tcPr/>
                    </a:tc>
                    <a:tc>
                      <a:txBody>
                        <a:bodyPr/>
                        <a:lstStyle/>
                        <a:p>
                          <a:pPr algn="ctr"/>
                          <a:r>
                            <a:rPr lang="zh-TW" altLang="en-US" dirty="0"/>
                            <a:t>屬於</a:t>
                          </a:r>
                          <a:r>
                            <a:rPr lang="en-US" altLang="zh-TW" dirty="0"/>
                            <a:t>”</a:t>
                          </a:r>
                          <a:r>
                            <a:rPr lang="zh-TW" altLang="en-US" dirty="0"/>
                            <a:t>體育</a:t>
                          </a:r>
                          <a:r>
                            <a:rPr lang="en-US" altLang="zh-TW" dirty="0"/>
                            <a:t>”</a:t>
                          </a:r>
                          <a:endParaRPr lang="zh-TW" altLang="en-US" dirty="0"/>
                        </a:p>
                      </a:txBody>
                      <a:tcPr/>
                    </a:tc>
                    <a:tc>
                      <a:txBody>
                        <a:bodyPr/>
                        <a:lstStyle/>
                        <a:p>
                          <a:pPr algn="ctr"/>
                          <a:r>
                            <a:rPr lang="zh-TW" altLang="en-US" dirty="0"/>
                            <a:t>不屬於</a:t>
                          </a:r>
                          <a:r>
                            <a:rPr lang="en-US" altLang="zh-TW" dirty="0"/>
                            <a:t>”</a:t>
                          </a:r>
                          <a:r>
                            <a:rPr lang="zh-TW" altLang="en-US" dirty="0"/>
                            <a:t>體育</a:t>
                          </a:r>
                          <a:r>
                            <a:rPr lang="en-US" altLang="zh-TW" dirty="0"/>
                            <a:t>”</a:t>
                          </a:r>
                          <a:endParaRPr lang="zh-TW" altLang="en-US" dirty="0"/>
                        </a:p>
                      </a:txBody>
                      <a:tcPr/>
                    </a:tc>
                    <a:tc>
                      <a:txBody>
                        <a:bodyPr/>
                        <a:lstStyle/>
                        <a:p>
                          <a:pPr algn="ctr"/>
                          <a:r>
                            <a:rPr lang="zh-TW" altLang="en-US" dirty="0"/>
                            <a:t>合計</a:t>
                          </a:r>
                        </a:p>
                      </a:txBody>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包含</a:t>
                          </a:r>
                          <a:r>
                            <a:rPr lang="en-US" altLang="zh-TW" dirty="0"/>
                            <a:t>”</a:t>
                          </a:r>
                          <a:r>
                            <a:rPr lang="zh-TW" altLang="en-US" dirty="0"/>
                            <a:t>籃球</a:t>
                          </a:r>
                          <a:r>
                            <a:rPr lang="en-US" altLang="zh-TW" dirty="0"/>
                            <a:t>”</a:t>
                          </a:r>
                          <a:endParaRPr lang="zh-TW" altLang="en-US" dirty="0"/>
                        </a:p>
                      </a:txBody>
                      <a:tcPr/>
                    </a:tc>
                    <a:tc>
                      <a:txBody>
                        <a:bodyPr/>
                        <a:lstStyle/>
                        <a:p>
                          <a:pPr algn="ctr"/>
                          <a14:m>
                            <m:oMath xmlns:m="http://schemas.openxmlformats.org/officeDocument/2006/math">
                              <m:r>
                                <a:rPr lang="en-US" altLang="zh-TW" i="1" smtClean="0">
                                  <a:latin typeface="Cambria Math" panose="02040503050406030204" pitchFamily="18" charset="0"/>
                                  <a:ea typeface="Cambria Math" panose="02040503050406030204" pitchFamily="18" charset="0"/>
                                </a:rPr>
                                <m:t>44×0</m:t>
                              </m:r>
                            </m:oMath>
                          </a14:m>
                          <a:r>
                            <a:rPr lang="en-US" altLang="zh-TW" dirty="0"/>
                            <a:t>.609</a:t>
                          </a:r>
                          <a:r>
                            <a:rPr lang="zh-TW" altLang="en-US" dirty="0"/>
                            <a:t> </a:t>
                          </a:r>
                          <a:r>
                            <a:rPr lang="en-US" altLang="zh-TW" dirty="0"/>
                            <a:t>=</a:t>
                          </a:r>
                          <a:r>
                            <a:rPr lang="zh-TW" altLang="en-US" dirty="0"/>
                            <a:t> </a:t>
                          </a:r>
                          <a:r>
                            <a:rPr lang="en-US" altLang="zh-TW" dirty="0"/>
                            <a:t>26.8</a:t>
                          </a:r>
                          <a:endParaRPr lang="zh-TW" altLang="en-US" dirty="0"/>
                        </a:p>
                      </a:txBody>
                      <a:tcPr/>
                    </a:tc>
                    <a:tc>
                      <a:txBody>
                        <a:bodyPr/>
                        <a:lstStyle/>
                        <a:p>
                          <a:pPr algn="ctr"/>
                          <a14:m>
                            <m:oMath xmlns:m="http://schemas.openxmlformats.org/officeDocument/2006/math">
                              <m:r>
                                <a:rPr lang="en-US" altLang="zh-TW" i="1" smtClean="0">
                                  <a:latin typeface="Cambria Math" panose="02040503050406030204" pitchFamily="18" charset="0"/>
                                  <a:ea typeface="Cambria Math" panose="02040503050406030204" pitchFamily="18" charset="0"/>
                                </a:rPr>
                                <m:t>44×0</m:t>
                              </m:r>
                            </m:oMath>
                          </a14:m>
                          <a:r>
                            <a:rPr lang="en-US" altLang="zh-TW" dirty="0"/>
                            <a:t>.391</a:t>
                          </a:r>
                          <a:r>
                            <a:rPr lang="zh-TW" altLang="en-US" dirty="0"/>
                            <a:t> </a:t>
                          </a:r>
                          <a:r>
                            <a:rPr lang="en-US" altLang="zh-TW" dirty="0"/>
                            <a:t>=</a:t>
                          </a:r>
                          <a:r>
                            <a:rPr lang="zh-TW" altLang="en-US" dirty="0"/>
                            <a:t> </a:t>
                          </a:r>
                          <a:r>
                            <a:rPr lang="en-US" altLang="zh-TW" dirty="0"/>
                            <a:t>17.2</a:t>
                          </a:r>
                          <a:endParaRPr lang="zh-TW" altLang="en-US" dirty="0"/>
                        </a:p>
                      </a:txBody>
                      <a:tcPr/>
                    </a:tc>
                    <a:tc>
                      <a:txBody>
                        <a:bodyPr/>
                        <a:lstStyle/>
                        <a:p>
                          <a:pPr algn="ctr"/>
                          <a:r>
                            <a:rPr lang="en-US" altLang="zh-TW" dirty="0"/>
                            <a:t>44</a:t>
                          </a:r>
                          <a:endParaRPr lang="zh-TW" altLang="en-US" dirty="0"/>
                        </a:p>
                      </a:txBody>
                      <a:tcPr/>
                    </a:tc>
                    <a:extLst>
                      <a:ext uri="{0D108BD9-81ED-4DB2-BD59-A6C34878D82A}">
                        <a16:rowId xmlns:a16="http://schemas.microsoft.com/office/drawing/2014/main" xmlns=""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不包含</a:t>
                          </a:r>
                          <a:r>
                            <a:rPr lang="en-US" altLang="zh-TW" dirty="0"/>
                            <a:t>”</a:t>
                          </a:r>
                          <a:r>
                            <a:rPr lang="zh-TW" altLang="en-US" dirty="0"/>
                            <a:t>籃球</a:t>
                          </a:r>
                          <a:r>
                            <a:rPr lang="en-US" altLang="zh-TW" dirty="0"/>
                            <a:t>”</a:t>
                          </a:r>
                          <a:endParaRPr lang="zh-TW" altLang="en-US" dirty="0"/>
                        </a:p>
                      </a:txBody>
                      <a:tcPr/>
                    </a:tc>
                    <a:tc>
                      <a:txBody>
                        <a:bodyPr/>
                        <a:lstStyle/>
                        <a:p>
                          <a:pPr algn="ctr"/>
                          <a14:m>
                            <m:oMath xmlns:m="http://schemas.openxmlformats.org/officeDocument/2006/math">
                              <m:r>
                                <a:rPr lang="en-US" altLang="zh-TW" i="1" smtClean="0">
                                  <a:latin typeface="Cambria Math" panose="02040503050406030204" pitchFamily="18" charset="0"/>
                                  <a:ea typeface="Cambria Math" panose="02040503050406030204" pitchFamily="18" charset="0"/>
                                </a:rPr>
                                <m:t>43×0</m:t>
                              </m:r>
                            </m:oMath>
                          </a14:m>
                          <a:r>
                            <a:rPr lang="en-US" altLang="zh-TW" dirty="0"/>
                            <a:t>.609</a:t>
                          </a:r>
                          <a:r>
                            <a:rPr lang="zh-TW" altLang="en-US" dirty="0"/>
                            <a:t> </a:t>
                          </a:r>
                          <a:r>
                            <a:rPr lang="en-US" altLang="zh-TW" dirty="0"/>
                            <a:t>=</a:t>
                          </a:r>
                          <a:r>
                            <a:rPr lang="zh-TW" altLang="en-US" dirty="0"/>
                            <a:t> </a:t>
                          </a:r>
                          <a:r>
                            <a:rPr lang="en-US" altLang="zh-TW" dirty="0"/>
                            <a:t>26.2</a:t>
                          </a:r>
                          <a:endParaRPr lang="zh-TW" altLang="en-US" dirty="0"/>
                        </a:p>
                      </a:txBody>
                      <a:tcPr/>
                    </a:tc>
                    <a:tc>
                      <a:txBody>
                        <a:bodyPr/>
                        <a:lstStyle/>
                        <a:p>
                          <a:pPr algn="ctr"/>
                          <a14:m>
                            <m:oMath xmlns:m="http://schemas.openxmlformats.org/officeDocument/2006/math">
                              <m:r>
                                <a:rPr lang="en-US" altLang="zh-TW" i="1" smtClean="0">
                                  <a:latin typeface="Cambria Math" panose="02040503050406030204" pitchFamily="18" charset="0"/>
                                  <a:ea typeface="Cambria Math" panose="02040503050406030204" pitchFamily="18" charset="0"/>
                                </a:rPr>
                                <m:t>43×0</m:t>
                              </m:r>
                            </m:oMath>
                          </a14:m>
                          <a:r>
                            <a:rPr lang="en-US" altLang="zh-TW" dirty="0"/>
                            <a:t>.609</a:t>
                          </a:r>
                          <a:r>
                            <a:rPr lang="zh-TW" altLang="en-US" dirty="0"/>
                            <a:t> </a:t>
                          </a:r>
                          <a:r>
                            <a:rPr lang="en-US" altLang="zh-TW" dirty="0"/>
                            <a:t>=</a:t>
                          </a:r>
                          <a:r>
                            <a:rPr lang="zh-TW" altLang="en-US" dirty="0"/>
                            <a:t> </a:t>
                          </a:r>
                          <a:r>
                            <a:rPr lang="en-US" altLang="zh-TW" dirty="0"/>
                            <a:t>16.8</a:t>
                          </a:r>
                          <a:endParaRPr lang="zh-TW" altLang="en-US" dirty="0"/>
                        </a:p>
                      </a:txBody>
                      <a:tcPr/>
                    </a:tc>
                    <a:tc>
                      <a:txBody>
                        <a:bodyPr/>
                        <a:lstStyle/>
                        <a:p>
                          <a:pPr algn="ctr"/>
                          <a:r>
                            <a:rPr lang="en-US" altLang="zh-TW" dirty="0"/>
                            <a:t>43</a:t>
                          </a:r>
                          <a:endParaRPr lang="zh-TW" altLang="en-US" dirty="0"/>
                        </a:p>
                      </a:txBody>
                      <a:tcPr/>
                    </a:tc>
                    <a:extLst>
                      <a:ext uri="{0D108BD9-81ED-4DB2-BD59-A6C34878D82A}">
                        <a16:rowId xmlns:a16="http://schemas.microsoft.com/office/drawing/2014/main" xmlns="" val="10002"/>
                      </a:ext>
                    </a:extLst>
                  </a:tr>
                </a:tbl>
              </a:graphicData>
            </a:graphic>
          </p:graphicFrame>
        </mc:Choice>
        <mc:Fallback xmlns="">
          <p:graphicFrame>
            <p:nvGraphicFramePr>
              <p:cNvPr id="9" name="表格 8"/>
              <p:cNvGraphicFramePr>
                <a:graphicFrameLocks noGrp="1"/>
              </p:cNvGraphicFramePr>
              <p:nvPr>
                <p:extLst>
                  <p:ext uri="{D42A27DB-BD31-4B8C-83A1-F6EECF244321}">
                    <p14:modId xmlns:p14="http://schemas.microsoft.com/office/powerpoint/2010/main" val="1365662203"/>
                  </p:ext>
                </p:extLst>
              </p:nvPr>
            </p:nvGraphicFramePr>
            <p:xfrm>
              <a:off x="2122615" y="2356575"/>
              <a:ext cx="8128000" cy="1107440"/>
            </p:xfrm>
            <a:graphic>
              <a:graphicData uri="http://schemas.openxmlformats.org/drawingml/2006/table">
                <a:tbl>
                  <a:tblPr firstRow="1" bandRow="1">
                    <a:tableStyleId>{F5AB1C69-6EDB-4FF4-983F-18BD219EF322}</a:tableStyleId>
                  </a:tblPr>
                  <a:tblGrid>
                    <a:gridCol w="2032000"/>
                    <a:gridCol w="2032000"/>
                    <a:gridCol w="2032000"/>
                    <a:gridCol w="2032000"/>
                  </a:tblGrid>
                  <a:tr h="365760">
                    <a:tc>
                      <a:txBody>
                        <a:bodyPr/>
                        <a:lstStyle/>
                        <a:p>
                          <a:endParaRPr lang="zh-TW" altLang="en-US" dirty="0"/>
                        </a:p>
                      </a:txBody>
                      <a:tcPr/>
                    </a:tc>
                    <a:tc>
                      <a:txBody>
                        <a:bodyPr/>
                        <a:lstStyle/>
                        <a:p>
                          <a:pPr algn="ctr"/>
                          <a:r>
                            <a:rPr lang="zh-TW" altLang="en-US" dirty="0" smtClean="0"/>
                            <a:t>屬於</a:t>
                          </a:r>
                          <a:r>
                            <a:rPr lang="en-US" altLang="zh-TW" dirty="0" smtClean="0"/>
                            <a:t>”</a:t>
                          </a:r>
                          <a:r>
                            <a:rPr lang="zh-TW" altLang="en-US" dirty="0" smtClean="0"/>
                            <a:t>體育</a:t>
                          </a:r>
                          <a:r>
                            <a:rPr lang="en-US" altLang="zh-TW" dirty="0" smtClean="0"/>
                            <a:t>”</a:t>
                          </a:r>
                          <a:endParaRPr lang="zh-TW" altLang="en-US" dirty="0"/>
                        </a:p>
                      </a:txBody>
                      <a:tcPr/>
                    </a:tc>
                    <a:tc>
                      <a:txBody>
                        <a:bodyPr/>
                        <a:lstStyle/>
                        <a:p>
                          <a:pPr algn="ctr"/>
                          <a:r>
                            <a:rPr lang="zh-TW" altLang="en-US" dirty="0" smtClean="0"/>
                            <a:t>不屬於</a:t>
                          </a:r>
                          <a:r>
                            <a:rPr lang="en-US" altLang="zh-TW" dirty="0" smtClean="0"/>
                            <a:t>”</a:t>
                          </a:r>
                          <a:r>
                            <a:rPr lang="zh-TW" altLang="en-US" dirty="0" smtClean="0"/>
                            <a:t>體育</a:t>
                          </a:r>
                          <a:r>
                            <a:rPr lang="en-US" altLang="zh-TW" dirty="0" smtClean="0"/>
                            <a:t>”</a:t>
                          </a:r>
                          <a:endParaRPr lang="zh-TW" altLang="en-US" dirty="0"/>
                        </a:p>
                      </a:txBody>
                      <a:tcPr/>
                    </a:tc>
                    <a:tc>
                      <a:txBody>
                        <a:bodyPr/>
                        <a:lstStyle/>
                        <a:p>
                          <a:pPr algn="ctr"/>
                          <a:r>
                            <a:rPr lang="zh-TW" altLang="en-US" dirty="0" smtClean="0"/>
                            <a:t>合計</a:t>
                          </a:r>
                          <a:endParaRPr lang="zh-TW" alt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包含</a:t>
                          </a:r>
                          <a:r>
                            <a:rPr lang="en-US" altLang="zh-TW" dirty="0" smtClean="0"/>
                            <a:t>”</a:t>
                          </a:r>
                          <a:r>
                            <a:rPr lang="zh-TW" altLang="en-US" dirty="0" smtClean="0"/>
                            <a:t>籃球</a:t>
                          </a:r>
                          <a:r>
                            <a:rPr lang="en-US" altLang="zh-TW" dirty="0" smtClean="0"/>
                            <a:t>”</a:t>
                          </a:r>
                          <a:endParaRPr lang="zh-TW" altLang="en-US" dirty="0" smtClean="0"/>
                        </a:p>
                      </a:txBody>
                      <a:tcPr/>
                    </a:tc>
                    <a:tc>
                      <a:txBody>
                        <a:bodyPr/>
                        <a:lstStyle/>
                        <a:p>
                          <a:endParaRPr lang="zh-TW"/>
                        </a:p>
                      </a:txBody>
                      <a:tcPr>
                        <a:blipFill rotWithShape="0">
                          <a:blip r:embed="rId4"/>
                          <a:stretch>
                            <a:fillRect l="-100601" t="-104839" r="-201502" b="-120968"/>
                          </a:stretch>
                        </a:blipFill>
                      </a:tcPr>
                    </a:tc>
                    <a:tc>
                      <a:txBody>
                        <a:bodyPr/>
                        <a:lstStyle/>
                        <a:p>
                          <a:endParaRPr lang="zh-TW"/>
                        </a:p>
                      </a:txBody>
                      <a:tcPr>
                        <a:blipFill rotWithShape="0">
                          <a:blip r:embed="rId4"/>
                          <a:stretch>
                            <a:fillRect l="-200000" t="-104839" r="-100898" b="-120968"/>
                          </a:stretch>
                        </a:blipFill>
                      </a:tcPr>
                    </a:tc>
                    <a:tc>
                      <a:txBody>
                        <a:bodyPr/>
                        <a:lstStyle/>
                        <a:p>
                          <a:pPr algn="ctr"/>
                          <a:r>
                            <a:rPr lang="en-US" altLang="zh-TW" dirty="0" smtClean="0"/>
                            <a:t>44</a:t>
                          </a:r>
                          <a:endParaRPr lang="zh-TW" alt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不包含</a:t>
                          </a:r>
                          <a:r>
                            <a:rPr lang="en-US" altLang="zh-TW" dirty="0" smtClean="0"/>
                            <a:t>”</a:t>
                          </a:r>
                          <a:r>
                            <a:rPr lang="zh-TW" altLang="en-US" dirty="0" smtClean="0"/>
                            <a:t>籃球</a:t>
                          </a:r>
                          <a:r>
                            <a:rPr lang="en-US" altLang="zh-TW" dirty="0" smtClean="0"/>
                            <a:t>”</a:t>
                          </a:r>
                          <a:endParaRPr lang="zh-TW" altLang="en-US" dirty="0" smtClean="0"/>
                        </a:p>
                      </a:txBody>
                      <a:tcPr/>
                    </a:tc>
                    <a:tc>
                      <a:txBody>
                        <a:bodyPr/>
                        <a:lstStyle/>
                        <a:p>
                          <a:endParaRPr lang="zh-TW"/>
                        </a:p>
                      </a:txBody>
                      <a:tcPr>
                        <a:blipFill rotWithShape="0">
                          <a:blip r:embed="rId4"/>
                          <a:stretch>
                            <a:fillRect l="-100601" t="-208197" r="-201502" b="-22951"/>
                          </a:stretch>
                        </a:blipFill>
                      </a:tcPr>
                    </a:tc>
                    <a:tc>
                      <a:txBody>
                        <a:bodyPr/>
                        <a:lstStyle/>
                        <a:p>
                          <a:endParaRPr lang="zh-TW"/>
                        </a:p>
                      </a:txBody>
                      <a:tcPr>
                        <a:blipFill rotWithShape="0">
                          <a:blip r:embed="rId4"/>
                          <a:stretch>
                            <a:fillRect l="-200000" t="-208197" r="-100898" b="-22951"/>
                          </a:stretch>
                        </a:blipFill>
                      </a:tcPr>
                    </a:tc>
                    <a:tc>
                      <a:txBody>
                        <a:bodyPr/>
                        <a:lstStyle/>
                        <a:p>
                          <a:pPr algn="ctr"/>
                          <a:r>
                            <a:rPr lang="en-US" altLang="zh-TW" dirty="0" smtClean="0"/>
                            <a:t>43</a:t>
                          </a:r>
                          <a:endParaRPr lang="zh-TW" altLang="en-US" dirty="0"/>
                        </a:p>
                      </a:txBody>
                      <a:tcPr/>
                    </a:tc>
                  </a:tr>
                </a:tbl>
              </a:graphicData>
            </a:graphic>
          </p:graphicFrame>
        </mc:Fallback>
      </mc:AlternateContent>
      <mc:AlternateContent xmlns:mc="http://schemas.openxmlformats.org/markup-compatibility/2006" xmlns:a14="http://schemas.microsoft.com/office/drawing/2010/main">
        <mc:Choice Requires="a14">
          <p:sp>
            <p:nvSpPr>
              <p:cNvPr id="10" name="文字方塊 9"/>
              <p:cNvSpPr txBox="1"/>
              <p:nvPr/>
            </p:nvSpPr>
            <p:spPr>
              <a:xfrm>
                <a:off x="5074248" y="4602745"/>
                <a:ext cx="5085751" cy="524567"/>
              </a:xfrm>
              <a:prstGeom prst="rect">
                <a:avLst/>
              </a:prstGeom>
              <a:noFill/>
            </p:spPr>
            <p:txBody>
              <a:bodyPr wrap="none" rtlCol="0">
                <a:spAutoFit/>
              </a:bodyPr>
              <a:lstStyle/>
              <a:p>
                <a14:m>
                  <m:oMath xmlns:m="http://schemas.openxmlformats.org/officeDocument/2006/math">
                    <m:f>
                      <m:fPr>
                        <m:ctrlPr>
                          <a:rPr lang="en-US" altLang="zh-TW" i="1" smtClean="0">
                            <a:latin typeface="Cambria Math" panose="02040503050406030204" pitchFamily="18" charset="0"/>
                          </a:rPr>
                        </m:ctrlPr>
                      </m:fPr>
                      <m:num>
                        <m:sSup>
                          <m:sSupPr>
                            <m:ctrlPr>
                              <a:rPr lang="en-US" altLang="zh-TW" i="1" smtClean="0">
                                <a:latin typeface="Cambria Math" panose="02040503050406030204" pitchFamily="18" charset="0"/>
                              </a:rPr>
                            </m:ctrlPr>
                          </m:sSupPr>
                          <m:e>
                            <m:r>
                              <a:rPr lang="en-US" altLang="zh-TW" i="1" smtClean="0">
                                <a:latin typeface="Cambria Math" panose="02040503050406030204" pitchFamily="18" charset="0"/>
                              </a:rPr>
                              <m:t>(</m:t>
                            </m:r>
                            <m:r>
                              <a:rPr lang="en-US" altLang="zh-TW" i="1">
                                <a:latin typeface="Cambria Math" panose="02040503050406030204" pitchFamily="18" charset="0"/>
                              </a:rPr>
                              <m:t>3</m:t>
                            </m:r>
                            <m:r>
                              <a:rPr lang="en-US" altLang="zh-TW" i="1" smtClean="0">
                                <a:latin typeface="Cambria Math" panose="02040503050406030204" pitchFamily="18" charset="0"/>
                              </a:rPr>
                              <m:t>4</m:t>
                            </m:r>
                            <m:r>
                              <a:rPr lang="en-US" altLang="zh-TW" i="1">
                                <a:latin typeface="Cambria Math" panose="02040503050406030204" pitchFamily="18" charset="0"/>
                              </a:rPr>
                              <m:t>−</m:t>
                            </m:r>
                            <m:r>
                              <a:rPr lang="en-US" altLang="zh-TW" i="1" smtClean="0">
                                <a:latin typeface="Cambria Math" panose="02040503050406030204" pitchFamily="18" charset="0"/>
                              </a:rPr>
                              <m:t>2</m:t>
                            </m:r>
                            <m:r>
                              <a:rPr lang="en-US" altLang="zh-TW" i="1">
                                <a:latin typeface="Cambria Math" panose="02040503050406030204" pitchFamily="18" charset="0"/>
                              </a:rPr>
                              <m:t>6</m:t>
                            </m:r>
                            <m:r>
                              <a:rPr lang="en-US" altLang="zh-TW" i="1" smtClean="0">
                                <a:latin typeface="Cambria Math" panose="02040503050406030204" pitchFamily="18" charset="0"/>
                              </a:rPr>
                              <m:t>.</m:t>
                            </m:r>
                            <m:r>
                              <a:rPr lang="en-US" altLang="zh-TW" i="1">
                                <a:latin typeface="Cambria Math" panose="02040503050406030204" pitchFamily="18" charset="0"/>
                              </a:rPr>
                              <m:t>8</m:t>
                            </m:r>
                            <m:r>
                              <a:rPr lang="en-US" altLang="zh-TW" i="1" smtClean="0">
                                <a:latin typeface="Cambria Math" panose="02040503050406030204" pitchFamily="18" charset="0"/>
                              </a:rPr>
                              <m:t>)</m:t>
                            </m:r>
                          </m:e>
                          <m:sup>
                            <m:r>
                              <a:rPr lang="en-US" altLang="zh-TW" i="1">
                                <a:latin typeface="Cambria Math" panose="02040503050406030204" pitchFamily="18" charset="0"/>
                              </a:rPr>
                              <m:t>2</m:t>
                            </m:r>
                          </m:sup>
                        </m:sSup>
                      </m:num>
                      <m:den>
                        <m:r>
                          <a:rPr lang="en-US" altLang="zh-TW" i="1">
                            <a:latin typeface="Cambria Math" panose="02040503050406030204" pitchFamily="18" charset="0"/>
                          </a:rPr>
                          <m:t>2</m:t>
                        </m:r>
                        <m:r>
                          <a:rPr lang="en-US" altLang="zh-TW" i="1" smtClean="0">
                            <a:latin typeface="Cambria Math" panose="02040503050406030204" pitchFamily="18" charset="0"/>
                          </a:rPr>
                          <m:t>6</m:t>
                        </m:r>
                        <m:r>
                          <a:rPr lang="en-US" altLang="zh-TW" i="1">
                            <a:latin typeface="Cambria Math" panose="02040503050406030204" pitchFamily="18" charset="0"/>
                          </a:rPr>
                          <m:t>.</m:t>
                        </m:r>
                        <m:r>
                          <a:rPr lang="en-US" altLang="zh-TW" i="1" smtClean="0">
                            <a:latin typeface="Cambria Math" panose="02040503050406030204" pitchFamily="18" charset="0"/>
                          </a:rPr>
                          <m:t>8</m:t>
                        </m:r>
                      </m:den>
                    </m:f>
                    <m:r>
                      <a:rPr lang="en-US" altLang="zh-TW" i="1">
                        <a:latin typeface="Cambria Math" panose="02040503050406030204" pitchFamily="18" charset="0"/>
                      </a:rPr>
                      <m:t>+</m:t>
                    </m:r>
                    <m:f>
                      <m:fPr>
                        <m:ctrlPr>
                          <a:rPr lang="en-US" altLang="zh-TW" i="1" smtClean="0">
                            <a:latin typeface="Cambria Math" panose="02040503050406030204" pitchFamily="18" charset="0"/>
                          </a:rPr>
                        </m:ctrlPr>
                      </m:fPr>
                      <m:num>
                        <m:sSup>
                          <m:sSupPr>
                            <m:ctrlPr>
                              <a:rPr lang="en-US" altLang="zh-TW" i="1" smtClean="0">
                                <a:latin typeface="Cambria Math" panose="02040503050406030204" pitchFamily="18" charset="0"/>
                              </a:rPr>
                            </m:ctrlPr>
                          </m:sSupPr>
                          <m:e>
                            <m:r>
                              <a:rPr lang="en-US" altLang="zh-TW" i="1" smtClean="0">
                                <a:latin typeface="Cambria Math" panose="02040503050406030204" pitchFamily="18" charset="0"/>
                              </a:rPr>
                              <m:t>(</m:t>
                            </m:r>
                            <m:r>
                              <a:rPr lang="en-US" altLang="zh-TW" i="1">
                                <a:latin typeface="Cambria Math" panose="02040503050406030204" pitchFamily="18" charset="0"/>
                              </a:rPr>
                              <m:t>1</m:t>
                            </m:r>
                            <m:r>
                              <a:rPr lang="en-US" altLang="zh-TW" i="1" smtClean="0">
                                <a:latin typeface="Cambria Math" panose="02040503050406030204" pitchFamily="18" charset="0"/>
                              </a:rPr>
                              <m:t>0</m:t>
                            </m:r>
                            <m:r>
                              <a:rPr lang="en-US" altLang="zh-TW" i="1">
                                <a:latin typeface="Cambria Math" panose="02040503050406030204" pitchFamily="18" charset="0"/>
                              </a:rPr>
                              <m:t>−</m:t>
                            </m:r>
                            <m:r>
                              <a:rPr lang="en-US" altLang="zh-TW" i="1" smtClean="0">
                                <a:latin typeface="Cambria Math" panose="02040503050406030204" pitchFamily="18" charset="0"/>
                              </a:rPr>
                              <m:t>1</m:t>
                            </m:r>
                            <m:r>
                              <a:rPr lang="en-US" altLang="zh-TW" i="1">
                                <a:latin typeface="Cambria Math" panose="02040503050406030204" pitchFamily="18" charset="0"/>
                              </a:rPr>
                              <m:t>7</m:t>
                            </m:r>
                            <m:r>
                              <a:rPr lang="en-US" altLang="zh-TW" i="1" smtClean="0">
                                <a:latin typeface="Cambria Math" panose="02040503050406030204" pitchFamily="18" charset="0"/>
                              </a:rPr>
                              <m:t>.</m:t>
                            </m:r>
                            <m:r>
                              <a:rPr lang="en-US" altLang="zh-TW" i="1">
                                <a:latin typeface="Cambria Math" panose="02040503050406030204" pitchFamily="18" charset="0"/>
                              </a:rPr>
                              <m:t>2</m:t>
                            </m:r>
                            <m:r>
                              <a:rPr lang="en-US" altLang="zh-TW" i="1" smtClean="0">
                                <a:latin typeface="Cambria Math" panose="02040503050406030204" pitchFamily="18" charset="0"/>
                              </a:rPr>
                              <m:t>)</m:t>
                            </m:r>
                          </m:e>
                          <m:sup>
                            <m:r>
                              <a:rPr lang="en-US" altLang="zh-TW" i="1">
                                <a:latin typeface="Cambria Math" panose="02040503050406030204" pitchFamily="18" charset="0"/>
                              </a:rPr>
                              <m:t>2</m:t>
                            </m:r>
                          </m:sup>
                        </m:sSup>
                      </m:num>
                      <m:den>
                        <m:r>
                          <a:rPr lang="en-US" altLang="zh-TW" i="1">
                            <a:latin typeface="Cambria Math" panose="02040503050406030204" pitchFamily="18" charset="0"/>
                          </a:rPr>
                          <m:t>1</m:t>
                        </m:r>
                        <m:r>
                          <a:rPr lang="en-US" altLang="zh-TW" i="1" smtClean="0">
                            <a:latin typeface="Cambria Math" panose="02040503050406030204" pitchFamily="18" charset="0"/>
                          </a:rPr>
                          <m:t>7</m:t>
                        </m:r>
                        <m:r>
                          <a:rPr lang="en-US" altLang="zh-TW" i="1">
                            <a:latin typeface="Cambria Math" panose="02040503050406030204" pitchFamily="18" charset="0"/>
                          </a:rPr>
                          <m:t>.</m:t>
                        </m:r>
                        <m:r>
                          <a:rPr lang="en-US" altLang="zh-TW" i="1" smtClean="0">
                            <a:latin typeface="Cambria Math" panose="02040503050406030204" pitchFamily="18" charset="0"/>
                          </a:rPr>
                          <m:t>2</m:t>
                        </m:r>
                      </m:den>
                    </m:f>
                    <m:r>
                      <a:rPr lang="en-US" altLang="zh-TW" i="1">
                        <a:latin typeface="Cambria Math" panose="02040503050406030204" pitchFamily="18" charset="0"/>
                      </a:rPr>
                      <m:t>+</m:t>
                    </m:r>
                    <m:f>
                      <m:fPr>
                        <m:ctrlPr>
                          <a:rPr lang="en-US" altLang="zh-TW" i="1" smtClean="0">
                            <a:latin typeface="Cambria Math" panose="02040503050406030204" pitchFamily="18" charset="0"/>
                          </a:rPr>
                        </m:ctrlPr>
                      </m:fPr>
                      <m:num>
                        <m:sSup>
                          <m:sSupPr>
                            <m:ctrlPr>
                              <a:rPr lang="en-US" altLang="zh-TW" i="1" smtClean="0">
                                <a:latin typeface="Cambria Math" panose="02040503050406030204" pitchFamily="18" charset="0"/>
                              </a:rPr>
                            </m:ctrlPr>
                          </m:sSupPr>
                          <m:e>
                            <m:r>
                              <a:rPr lang="en-US" altLang="zh-TW" i="1" smtClean="0">
                                <a:latin typeface="Cambria Math" panose="02040503050406030204" pitchFamily="18" charset="0"/>
                              </a:rPr>
                              <m:t>(</m:t>
                            </m:r>
                            <m:r>
                              <a:rPr lang="en-US" altLang="zh-TW" i="1">
                                <a:latin typeface="Cambria Math" panose="02040503050406030204" pitchFamily="18" charset="0"/>
                              </a:rPr>
                              <m:t>1</m:t>
                            </m:r>
                            <m:r>
                              <a:rPr lang="en-US" altLang="zh-TW" i="1" smtClean="0">
                                <a:latin typeface="Cambria Math" panose="02040503050406030204" pitchFamily="18" charset="0"/>
                              </a:rPr>
                              <m:t>9</m:t>
                            </m:r>
                            <m:r>
                              <a:rPr lang="en-US" altLang="zh-TW" i="1">
                                <a:latin typeface="Cambria Math" panose="02040503050406030204" pitchFamily="18" charset="0"/>
                              </a:rPr>
                              <m:t>−</m:t>
                            </m:r>
                            <m:r>
                              <a:rPr lang="en-US" altLang="zh-TW" i="1" smtClean="0">
                                <a:latin typeface="Cambria Math" panose="02040503050406030204" pitchFamily="18" charset="0"/>
                              </a:rPr>
                              <m:t>2</m:t>
                            </m:r>
                            <m:r>
                              <a:rPr lang="en-US" altLang="zh-TW" i="1">
                                <a:latin typeface="Cambria Math" panose="02040503050406030204" pitchFamily="18" charset="0"/>
                              </a:rPr>
                              <m:t>6</m:t>
                            </m:r>
                            <m:r>
                              <a:rPr lang="en-US" altLang="zh-TW" i="1" smtClean="0">
                                <a:latin typeface="Cambria Math" panose="02040503050406030204" pitchFamily="18" charset="0"/>
                              </a:rPr>
                              <m:t>.</m:t>
                            </m:r>
                            <m:r>
                              <a:rPr lang="en-US" altLang="zh-TW" i="1">
                                <a:latin typeface="Cambria Math" panose="02040503050406030204" pitchFamily="18" charset="0"/>
                              </a:rPr>
                              <m:t>2</m:t>
                            </m:r>
                            <m:r>
                              <a:rPr lang="en-US" altLang="zh-TW" i="1" smtClean="0">
                                <a:latin typeface="Cambria Math" panose="02040503050406030204" pitchFamily="18" charset="0"/>
                              </a:rPr>
                              <m:t>)</m:t>
                            </m:r>
                          </m:e>
                          <m:sup>
                            <m:r>
                              <a:rPr lang="en-US" altLang="zh-TW" i="1">
                                <a:latin typeface="Cambria Math" panose="02040503050406030204" pitchFamily="18" charset="0"/>
                              </a:rPr>
                              <m:t>2</m:t>
                            </m:r>
                          </m:sup>
                        </m:sSup>
                      </m:num>
                      <m:den>
                        <m:r>
                          <a:rPr lang="en-US" altLang="zh-TW" i="1">
                            <a:latin typeface="Cambria Math" panose="02040503050406030204" pitchFamily="18" charset="0"/>
                          </a:rPr>
                          <m:t>2</m:t>
                        </m:r>
                        <m:r>
                          <a:rPr lang="en-US" altLang="zh-TW" i="1" smtClean="0">
                            <a:latin typeface="Cambria Math" panose="02040503050406030204" pitchFamily="18" charset="0"/>
                          </a:rPr>
                          <m:t>6</m:t>
                        </m:r>
                        <m:r>
                          <a:rPr lang="en-US" altLang="zh-TW" i="1">
                            <a:latin typeface="Cambria Math" panose="02040503050406030204" pitchFamily="18" charset="0"/>
                          </a:rPr>
                          <m:t>.</m:t>
                        </m:r>
                        <m:r>
                          <a:rPr lang="en-US" altLang="zh-TW" i="1" smtClean="0">
                            <a:latin typeface="Cambria Math" panose="02040503050406030204" pitchFamily="18" charset="0"/>
                          </a:rPr>
                          <m:t>2</m:t>
                        </m:r>
                      </m:den>
                    </m:f>
                    <m:r>
                      <a:rPr lang="en-US" altLang="zh-TW" i="1">
                        <a:latin typeface="Cambria Math" panose="02040503050406030204" pitchFamily="18" charset="0"/>
                      </a:rPr>
                      <m:t>+</m:t>
                    </m:r>
                    <m:f>
                      <m:fPr>
                        <m:ctrlPr>
                          <a:rPr lang="en-US" altLang="zh-TW" i="1" smtClean="0">
                            <a:latin typeface="Cambria Math" panose="02040503050406030204" pitchFamily="18" charset="0"/>
                          </a:rPr>
                        </m:ctrlPr>
                      </m:fPr>
                      <m:num>
                        <m:sSup>
                          <m:sSupPr>
                            <m:ctrlPr>
                              <a:rPr lang="en-US" altLang="zh-TW" i="1" smtClean="0">
                                <a:latin typeface="Cambria Math" panose="02040503050406030204" pitchFamily="18" charset="0"/>
                              </a:rPr>
                            </m:ctrlPr>
                          </m:sSupPr>
                          <m:e>
                            <m:r>
                              <a:rPr lang="en-US" altLang="zh-TW" i="1">
                                <a:latin typeface="Cambria Math" panose="02040503050406030204" pitchFamily="18" charset="0"/>
                              </a:rPr>
                              <m:t>(</m:t>
                            </m:r>
                            <m:r>
                              <a:rPr lang="en-US" altLang="zh-TW" i="1" smtClean="0">
                                <a:latin typeface="Cambria Math" panose="02040503050406030204" pitchFamily="18" charset="0"/>
                              </a:rPr>
                              <m:t>2</m:t>
                            </m:r>
                            <m:r>
                              <a:rPr lang="en-US" altLang="zh-TW" i="1">
                                <a:latin typeface="Cambria Math" panose="02040503050406030204" pitchFamily="18" charset="0"/>
                              </a:rPr>
                              <m:t>4</m:t>
                            </m:r>
                            <m:r>
                              <a:rPr lang="en-US" altLang="zh-TW" i="1" smtClean="0">
                                <a:latin typeface="Cambria Math" panose="02040503050406030204" pitchFamily="18" charset="0"/>
                              </a:rPr>
                              <m:t>−</m:t>
                            </m:r>
                            <m:r>
                              <a:rPr lang="en-US" altLang="zh-TW" i="1">
                                <a:latin typeface="Cambria Math" panose="02040503050406030204" pitchFamily="18" charset="0"/>
                              </a:rPr>
                              <m:t>1</m:t>
                            </m:r>
                            <m:r>
                              <a:rPr lang="en-US" altLang="zh-TW" i="1" smtClean="0">
                                <a:latin typeface="Cambria Math" panose="02040503050406030204" pitchFamily="18" charset="0"/>
                              </a:rPr>
                              <m:t>6</m:t>
                            </m:r>
                            <m:r>
                              <a:rPr lang="en-US" altLang="zh-TW" i="1">
                                <a:latin typeface="Cambria Math" panose="02040503050406030204" pitchFamily="18" charset="0"/>
                              </a:rPr>
                              <m:t>.</m:t>
                            </m:r>
                            <m:r>
                              <a:rPr lang="en-US" altLang="zh-TW" i="1" smtClean="0">
                                <a:latin typeface="Cambria Math" panose="02040503050406030204" pitchFamily="18" charset="0"/>
                              </a:rPr>
                              <m:t>8)</m:t>
                            </m:r>
                          </m:e>
                          <m:sup>
                            <m:r>
                              <a:rPr lang="en-US" altLang="zh-TW" i="1">
                                <a:latin typeface="Cambria Math" panose="02040503050406030204" pitchFamily="18" charset="0"/>
                              </a:rPr>
                              <m:t>2</m:t>
                            </m:r>
                          </m:sup>
                        </m:sSup>
                      </m:num>
                      <m:den>
                        <m:r>
                          <a:rPr lang="en-US" altLang="zh-TW" i="1">
                            <a:latin typeface="Cambria Math" panose="02040503050406030204" pitchFamily="18" charset="0"/>
                          </a:rPr>
                          <m:t>1</m:t>
                        </m:r>
                        <m:r>
                          <a:rPr lang="en-US" altLang="zh-TW" i="1" smtClean="0">
                            <a:latin typeface="Cambria Math" panose="02040503050406030204" pitchFamily="18" charset="0"/>
                          </a:rPr>
                          <m:t>6</m:t>
                        </m:r>
                        <m:r>
                          <a:rPr lang="en-US" altLang="zh-TW" i="1">
                            <a:latin typeface="Cambria Math" panose="02040503050406030204" pitchFamily="18" charset="0"/>
                          </a:rPr>
                          <m:t>.</m:t>
                        </m:r>
                        <m:r>
                          <a:rPr lang="en-US" altLang="zh-TW" i="1" smtClean="0">
                            <a:latin typeface="Cambria Math" panose="02040503050406030204" pitchFamily="18" charset="0"/>
                          </a:rPr>
                          <m:t>8</m:t>
                        </m:r>
                      </m:den>
                    </m:f>
                    <m:r>
                      <a:rPr lang="en-US" altLang="zh-TW" i="1">
                        <a:latin typeface="Cambria Math" panose="02040503050406030204" pitchFamily="18" charset="0"/>
                      </a:rPr>
                      <m:t>=</m:t>
                    </m:r>
                    <m:r>
                      <a:rPr lang="en-US" altLang="zh-TW" i="1" smtClean="0">
                        <a:latin typeface="Cambria Math" panose="02040503050406030204" pitchFamily="18" charset="0"/>
                      </a:rPr>
                      <m:t>1</m:t>
                    </m:r>
                  </m:oMath>
                </a14:m>
                <a:r>
                  <a:rPr lang="en-US" altLang="zh-TW" dirty="0"/>
                  <a:t>0.01</a:t>
                </a:r>
                <a:endParaRPr lang="zh-TW" altLang="en-US"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5074248" y="4602745"/>
                <a:ext cx="5085751" cy="524567"/>
              </a:xfrm>
              <a:prstGeom prst="rect">
                <a:avLst/>
              </a:prstGeom>
              <a:blipFill rotWithShape="0">
                <a:blip r:embed="rId5"/>
                <a:stretch>
                  <a:fillRect r="-120" b="-697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889034" y="5623210"/>
                <a:ext cx="10713061" cy="646331"/>
              </a:xfrm>
              <a:prstGeom prst="rect">
                <a:avLst/>
              </a:prstGeom>
              <a:noFill/>
            </p:spPr>
            <p:txBody>
              <a:bodyPr wrap="none" rtlCol="0">
                <a:spAutoFit/>
              </a:bodyPr>
              <a:lstStyle/>
              <a:p>
                <a14:m>
                  <m:oMath xmlns:m="http://schemas.openxmlformats.org/officeDocument/2006/math">
                    <m:sSup>
                      <m:sSupPr>
                        <m:ctrlPr>
                          <a:rPr lang="en-US" altLang="zh-TW" i="1" smtClean="0">
                            <a:latin typeface="Cambria Math" panose="02040503050406030204" pitchFamily="18" charset="0"/>
                          </a:rPr>
                        </m:ctrlPr>
                      </m:sSupPr>
                      <m:e>
                        <m:r>
                          <a:rPr lang="zh-TW" altLang="en-US" i="1" smtClean="0">
                            <a:latin typeface="Cambria Math" panose="02040503050406030204" pitchFamily="18" charset="0"/>
                          </a:rPr>
                          <m:t>𝜒</m:t>
                        </m:r>
                      </m:e>
                      <m:sup>
                        <m:r>
                          <a:rPr lang="en-US" altLang="zh-TW" i="1">
                            <a:latin typeface="Cambria Math" panose="02040503050406030204" pitchFamily="18" charset="0"/>
                          </a:rPr>
                          <m:t>2</m:t>
                        </m:r>
                      </m:sup>
                    </m:sSup>
                    <m:r>
                      <a:rPr lang="zh-TW" altLang="en-US" i="1">
                        <a:latin typeface="Cambria Math" panose="02040503050406030204" pitchFamily="18" charset="0"/>
                      </a:rPr>
                      <m:t>值越大</m:t>
                    </m:r>
                  </m:oMath>
                </a14:m>
                <a:r>
                  <a:rPr lang="zh-TW" altLang="en-US" dirty="0">
                    <a:latin typeface="微軟正黑體" panose="020B0604030504040204" pitchFamily="34" charset="-120"/>
                    <a:ea typeface="微軟正黑體" panose="020B0604030504040204" pitchFamily="34" charset="-120"/>
                  </a:rPr>
                  <a:t>，相關程度越大，因此如果我們希望獲得體育新聞相關性較強的前</a:t>
                </a:r>
                <a:r>
                  <a:rPr lang="en-US" altLang="zh-TW" dirty="0">
                    <a:latin typeface="微軟正黑體" panose="020B0604030504040204" pitchFamily="34" charset="-120"/>
                    <a:ea typeface="微軟正黑體" panose="020B0604030504040204" pitchFamily="34" charset="-120"/>
                  </a:rPr>
                  <a:t>100</a:t>
                </a:r>
                <a:r>
                  <a:rPr lang="zh-TW" altLang="en-US" dirty="0">
                    <a:latin typeface="微軟正黑體" panose="020B0604030504040204" pitchFamily="34" charset="-120"/>
                    <a:ea typeface="微軟正黑體" panose="020B0604030504040204" pitchFamily="34" charset="-120"/>
                  </a:rPr>
                  <a:t>個詞，則將體育新聞文章</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所含有的詞依上述步驟計算，計算完畢後，進行排序，取前</a:t>
                </a:r>
                <a:r>
                  <a:rPr lang="en-US" altLang="zh-TW" dirty="0">
                    <a:latin typeface="微軟正黑體" panose="020B0604030504040204" pitchFamily="34" charset="-120"/>
                    <a:ea typeface="微軟正黑體" panose="020B0604030504040204" pitchFamily="34" charset="-120"/>
                  </a:rPr>
                  <a:t>100</a:t>
                </a:r>
                <a:r>
                  <a:rPr lang="zh-TW" altLang="en-US" dirty="0">
                    <a:latin typeface="微軟正黑體" panose="020B0604030504040204" pitchFamily="34" charset="-120"/>
                    <a:ea typeface="微軟正黑體" panose="020B0604030504040204" pitchFamily="34" charset="-120"/>
                  </a:rPr>
                  <a:t>個即可。</a:t>
                </a:r>
              </a:p>
            </p:txBody>
          </p:sp>
        </mc:Choice>
        <mc:Fallback xmlns="">
          <p:sp>
            <p:nvSpPr>
              <p:cNvPr id="12" name="文字方塊 11"/>
              <p:cNvSpPr txBox="1">
                <a:spLocks noRot="1" noChangeAspect="1" noMove="1" noResize="1" noEditPoints="1" noAdjustHandles="1" noChangeArrowheads="1" noChangeShapeType="1" noTextEdit="1"/>
              </p:cNvSpPr>
              <p:nvPr/>
            </p:nvSpPr>
            <p:spPr>
              <a:xfrm>
                <a:off x="889034" y="5623210"/>
                <a:ext cx="10713061" cy="646331"/>
              </a:xfrm>
              <a:prstGeom prst="rect">
                <a:avLst/>
              </a:prstGeom>
              <a:blipFill rotWithShape="0">
                <a:blip r:embed="rId6"/>
                <a:stretch>
                  <a:fillRect l="-512" t="-4717" r="-114" b="-14151"/>
                </a:stretch>
              </a:blipFill>
            </p:spPr>
            <p:txBody>
              <a:bodyPr/>
              <a:lstStyle/>
              <a:p>
                <a:r>
                  <a:rPr lang="zh-TW" altLang="en-US">
                    <a:noFill/>
                  </a:rPr>
                  <a:t> </a:t>
                </a:r>
              </a:p>
            </p:txBody>
          </p:sp>
        </mc:Fallback>
      </mc:AlternateContent>
      <p:sp>
        <p:nvSpPr>
          <p:cNvPr id="2" name="文字方塊 1"/>
          <p:cNvSpPr txBox="1"/>
          <p:nvPr/>
        </p:nvSpPr>
        <p:spPr>
          <a:xfrm>
            <a:off x="764596" y="1218906"/>
            <a:ext cx="954107"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實際值</a:t>
            </a:r>
          </a:p>
        </p:txBody>
      </p:sp>
      <p:sp>
        <p:nvSpPr>
          <p:cNvPr id="11" name="文字方塊 10"/>
          <p:cNvSpPr txBox="1"/>
          <p:nvPr/>
        </p:nvSpPr>
        <p:spPr>
          <a:xfrm>
            <a:off x="764597" y="2725629"/>
            <a:ext cx="954107"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期望</a:t>
            </a:r>
            <a:r>
              <a:rPr lang="zh-TW" altLang="en-US" sz="2000" dirty="0" smtClean="0">
                <a:latin typeface="微軟正黑體" panose="020B0604030504040204" pitchFamily="34" charset="-120"/>
                <a:ea typeface="微軟正黑體" panose="020B0604030504040204" pitchFamily="34" charset="-120"/>
              </a:rPr>
              <a:t>值</a:t>
            </a:r>
            <a:endParaRPr lang="zh-TW" altLang="en-US" sz="2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286066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84205" y="243792"/>
            <a:ext cx="10515600" cy="1325563"/>
          </a:xfrm>
        </p:spPr>
        <p:txBody>
          <a:bodyPr>
            <a:normAutofit/>
          </a:bodyPr>
          <a:lstStyle/>
          <a:p>
            <a:r>
              <a:rPr lang="en-US" altLang="zh-TW" b="1" dirty="0"/>
              <a:t>Term strength (TS)</a:t>
            </a:r>
            <a:endParaRPr lang="zh-TW" altLang="en-US" b="1" dirty="0"/>
          </a:p>
        </p:txBody>
      </p:sp>
      <p:sp>
        <p:nvSpPr>
          <p:cNvPr id="4" name="文字方塊 3"/>
          <p:cNvSpPr txBox="1"/>
          <p:nvPr/>
        </p:nvSpPr>
        <p:spPr>
          <a:xfrm>
            <a:off x="667265" y="1688500"/>
            <a:ext cx="10749481" cy="369332"/>
          </a:xfrm>
          <a:prstGeom prst="rect">
            <a:avLst/>
          </a:prstGeom>
          <a:noFill/>
        </p:spPr>
        <p:txBody>
          <a:bodyPr wrap="none" rtlCol="0">
            <a:spAutoFit/>
          </a:bodyPr>
          <a:lstStyle/>
          <a:p>
            <a:r>
              <a:rPr lang="en-US" altLang="zh-TW" dirty="0">
                <a:latin typeface="微軟正黑體" panose="020B0604030504040204" pitchFamily="34" charset="-120"/>
                <a:ea typeface="微軟正黑體" panose="020B0604030504040204" pitchFamily="34" charset="-120"/>
              </a:rPr>
              <a:t>Term strength </a:t>
            </a:r>
            <a:r>
              <a:rPr lang="zh-TW" altLang="en-US" dirty="0">
                <a:latin typeface="微軟正黑體" panose="020B0604030504040204" pitchFamily="34" charset="-120"/>
                <a:ea typeface="微軟正黑體" panose="020B0604030504040204" pitchFamily="34" charset="-120"/>
              </a:rPr>
              <a:t>計算的是一個詞出現的條件機率，即該詞出現在某一文章下，在另一個文章出現的機率。</a:t>
            </a:r>
          </a:p>
        </p:txBody>
      </p:sp>
      <p:sp>
        <p:nvSpPr>
          <p:cNvPr id="5" name="文字方塊 4"/>
          <p:cNvSpPr txBox="1"/>
          <p:nvPr/>
        </p:nvSpPr>
        <p:spPr>
          <a:xfrm>
            <a:off x="667265" y="2308283"/>
            <a:ext cx="11264622" cy="923330"/>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他的方式有別於前面介紹的</a:t>
            </a:r>
            <a:r>
              <a:rPr lang="en-US" altLang="zh-TW" dirty="0">
                <a:latin typeface="微軟正黑體" panose="020B0604030504040204" pitchFamily="34" charset="-120"/>
                <a:ea typeface="微軟正黑體" panose="020B0604030504040204" pitchFamily="34" charset="-120"/>
              </a:rPr>
              <a:t>feature</a:t>
            </a: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selection</a:t>
            </a:r>
            <a:r>
              <a:rPr lang="zh-TW" altLang="en-US" dirty="0">
                <a:latin typeface="微軟正黑體" panose="020B0604030504040204" pitchFamily="34" charset="-120"/>
                <a:ea typeface="微軟正黑體" panose="020B0604030504040204" pitchFamily="34" charset="-120"/>
              </a:rPr>
              <a:t>，他是透過</a:t>
            </a:r>
            <a:r>
              <a:rPr lang="zh-TW" altLang="en-US" b="1" dirty="0">
                <a:solidFill>
                  <a:srgbClr val="FF0000"/>
                </a:solidFill>
                <a:latin typeface="微軟正黑體" panose="020B0604030504040204" pitchFamily="34" charset="-120"/>
                <a:ea typeface="微軟正黑體" panose="020B0604030504040204" pitchFamily="34" charset="-120"/>
              </a:rPr>
              <a:t>「文件歸類」（</a:t>
            </a:r>
            <a:r>
              <a:rPr lang="en-US" altLang="zh-TW" b="1" dirty="0">
                <a:solidFill>
                  <a:srgbClr val="FF0000"/>
                </a:solidFill>
                <a:latin typeface="微軟正黑體" panose="020B0604030504040204" pitchFamily="34" charset="-120"/>
                <a:ea typeface="微軟正黑體" panose="020B0604030504040204" pitchFamily="34" charset="-120"/>
              </a:rPr>
              <a:t>document clustering</a:t>
            </a:r>
            <a:r>
              <a:rPr lang="zh-TW" altLang="en-US" b="1" dirty="0">
                <a:solidFill>
                  <a:srgbClr val="FF0000"/>
                </a:solidFill>
                <a:latin typeface="微軟正黑體" panose="020B0604030504040204" pitchFamily="34" charset="-120"/>
                <a:ea typeface="微軟正黑體" panose="020B0604030504040204" pitchFamily="34" charset="-120"/>
              </a:rPr>
              <a:t>）</a:t>
            </a:r>
            <a:r>
              <a:rPr lang="en-US" altLang="zh-TW" b="1" dirty="0">
                <a:solidFill>
                  <a:srgbClr val="FF0000"/>
                </a:solidFill>
                <a:latin typeface="微軟正黑體" panose="020B0604030504040204" pitchFamily="34" charset="-120"/>
                <a:ea typeface="微軟正黑體" panose="020B0604030504040204" pitchFamily="34" charset="-120"/>
              </a:rPr>
              <a:t/>
            </a:r>
            <a:br>
              <a:rPr lang="en-US" altLang="zh-TW" b="1" dirty="0">
                <a:solidFill>
                  <a:srgbClr val="FF0000"/>
                </a:solidFill>
                <a:latin typeface="微軟正黑體" panose="020B0604030504040204" pitchFamily="34" charset="-120"/>
                <a:ea typeface="微軟正黑體" panose="020B0604030504040204" pitchFamily="34" charset="-120"/>
              </a:rPr>
            </a:br>
            <a:r>
              <a:rPr lang="zh-TW" altLang="en-US" dirty="0">
                <a:latin typeface="微軟正黑體" panose="020B0604030504040204" pitchFamily="34" charset="-120"/>
                <a:ea typeface="微軟正黑體" panose="020B0604030504040204" pitchFamily="34" charset="-120"/>
              </a:rPr>
              <a:t>文件歸類的意義是將文件按內容主題的相似度歸納分群，而不需依照某些事先給定的主題或類別來聚集文件，</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是非監督式學習的一種，重點在於如何定義文件之間的相似度。</a:t>
            </a:r>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3547" y="4604951"/>
            <a:ext cx="4207652" cy="2103826"/>
          </a:xfrm>
          <a:prstGeom prst="rect">
            <a:avLst/>
          </a:prstGeom>
        </p:spPr>
      </p:pic>
      <p:sp>
        <p:nvSpPr>
          <p:cNvPr id="8" name="文字方塊 7"/>
          <p:cNvSpPr txBox="1"/>
          <p:nvPr/>
        </p:nvSpPr>
        <p:spPr>
          <a:xfrm>
            <a:off x="667265" y="3482064"/>
            <a:ext cx="11452174" cy="646331"/>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例如：根據定義的相似度，可能一篇有關於「台積電晶圓製程」的文章以及「 軍事武器研發」的文章，會被</a:t>
            </a:r>
            <a:r>
              <a:rPr lang="en-US" altLang="zh-TW" dirty="0">
                <a:latin typeface="微軟正黑體" panose="020B0604030504040204" pitchFamily="34" charset="-120"/>
                <a:ea typeface="微軟正黑體" panose="020B0604030504040204" pitchFamily="34" charset="-120"/>
              </a:rPr>
              <a:t/>
            </a:r>
            <a:br>
              <a:rPr lang="en-US" altLang="zh-TW" dirty="0">
                <a:latin typeface="微軟正黑體" panose="020B0604030504040204" pitchFamily="34" charset="-120"/>
                <a:ea typeface="微軟正黑體" panose="020B0604030504040204" pitchFamily="34" charset="-120"/>
              </a:rPr>
            </a:br>
            <a:r>
              <a:rPr lang="zh-TW" altLang="en-US" dirty="0">
                <a:latin typeface="微軟正黑體" panose="020B0604030504040204" pitchFamily="34" charset="-120"/>
                <a:ea typeface="微軟正黑體" panose="020B0604030504040204" pitchFamily="34" charset="-120"/>
              </a:rPr>
              <a:t>分到同一群裡，儘管他們的類別可能是不同的。</a:t>
            </a:r>
          </a:p>
        </p:txBody>
      </p:sp>
      <mc:AlternateContent xmlns:mc="http://schemas.openxmlformats.org/markup-compatibility/2006" xmlns:a14="http://schemas.microsoft.com/office/drawing/2010/main">
        <mc:Choice Requires="a14">
          <p:sp>
            <p:nvSpPr>
              <p:cNvPr id="9" name="文字方塊 8"/>
              <p:cNvSpPr txBox="1"/>
              <p:nvPr/>
            </p:nvSpPr>
            <p:spPr>
              <a:xfrm>
                <a:off x="506555" y="4708820"/>
                <a:ext cx="7276992" cy="923330"/>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若有一個文件集，大小為</a:t>
                </a:r>
                <a:r>
                  <a:rPr lang="en-US" altLang="zh-TW" dirty="0">
                    <a:latin typeface="微軟正黑體" panose="020B0604030504040204" pitchFamily="34" charset="-120"/>
                    <a:ea typeface="微軟正黑體" panose="020B0604030504040204" pitchFamily="34" charset="-120"/>
                  </a:rPr>
                  <a:t>N</a:t>
                </a:r>
                <a:r>
                  <a:rPr lang="zh-TW" altLang="en-US" dirty="0">
                    <a:latin typeface="微軟正黑體" panose="020B0604030504040204" pitchFamily="34" charset="-120"/>
                    <a:ea typeface="微軟正黑體" panose="020B0604030504040204" pitchFamily="34" charset="-120"/>
                  </a:rPr>
                  <a:t>，有</a:t>
                </a:r>
                <a:r>
                  <a:rPr lang="en-US" altLang="zh-TW" dirty="0">
                    <a:latin typeface="微軟正黑體" panose="020B0604030504040204" pitchFamily="34" charset="-120"/>
                    <a:ea typeface="微軟正黑體" panose="020B0604030504040204" pitchFamily="34" charset="-120"/>
                  </a:rPr>
                  <a:t>M</a:t>
                </a:r>
                <a:r>
                  <a:rPr lang="zh-TW" altLang="en-US" dirty="0">
                    <a:latin typeface="微軟正黑體" panose="020B0604030504040204" pitchFamily="34" charset="-120"/>
                    <a:ea typeface="微軟正黑體" panose="020B0604030504040204" pitchFamily="34" charset="-120"/>
                  </a:rPr>
                  <a:t>篇是彼此相關的，有</a:t>
                </a:r>
                <a:r>
                  <a:rPr lang="en-US" altLang="zh-TW" dirty="0">
                    <a:latin typeface="微軟正黑體" panose="020B0604030504040204" pitchFamily="34" charset="-120"/>
                    <a:ea typeface="微軟正黑體" panose="020B0604030504040204" pitchFamily="34" charset="-120"/>
                  </a:rPr>
                  <a:t>K</a:t>
                </a:r>
                <a:r>
                  <a:rPr lang="zh-TW" altLang="en-US" dirty="0">
                    <a:latin typeface="微軟正黑體" panose="020B0604030504040204" pitchFamily="34" charset="-120"/>
                    <a:ea typeface="微軟正黑體" panose="020B0604030504040204" pitchFamily="34" charset="-120"/>
                  </a:rPr>
                  <a:t>篇是包含詞</a:t>
                </a:r>
                <a:r>
                  <a:rPr lang="en-US" altLang="zh-TW" dirty="0">
                    <a:latin typeface="微軟正黑體" panose="020B0604030504040204" pitchFamily="34" charset="-120"/>
                    <a:ea typeface="微軟正黑體" panose="020B0604030504040204" pitchFamily="34" charset="-120"/>
                  </a:rPr>
                  <a:t>t</a:t>
                </a:r>
                <a:r>
                  <a:rPr lang="zh-TW" altLang="en-US" dirty="0">
                    <a:latin typeface="微軟正黑體" panose="020B0604030504040204" pitchFamily="34" charset="-120"/>
                    <a:ea typeface="微軟正黑體" panose="020B0604030504040204" pitchFamily="34" charset="-120"/>
                  </a:rPr>
                  <a:t>的</a:t>
                </a:r>
                <a:r>
                  <a:rPr lang="en-US" altLang="zh-TW" dirty="0">
                    <a:latin typeface="微軟正黑體" panose="020B0604030504040204" pitchFamily="34" charset="-120"/>
                    <a:ea typeface="微軟正黑體" panose="020B0604030504040204" pitchFamily="34" charset="-120"/>
                  </a:rPr>
                  <a:t/>
                </a:r>
                <a:br>
                  <a:rPr lang="en-US" altLang="zh-TW" dirty="0">
                    <a:latin typeface="微軟正黑體" panose="020B0604030504040204" pitchFamily="34" charset="-120"/>
                    <a:ea typeface="微軟正黑體" panose="020B0604030504040204" pitchFamily="34" charset="-120"/>
                  </a:rPr>
                </a:br>
                <a:r>
                  <a:rPr lang="zh-TW" altLang="en-US" dirty="0">
                    <a:latin typeface="微軟正黑體" panose="020B0604030504040204" pitchFamily="34" charset="-120"/>
                    <a:ea typeface="微軟正黑體" panose="020B0604030504040204" pitchFamily="34" charset="-120"/>
                  </a:rPr>
                  <a:t>，即在所有相關的文件集合中，同時包含詞</a:t>
                </a:r>
                <a:r>
                  <a:rPr lang="en-US" altLang="zh-TW" dirty="0">
                    <a:latin typeface="微軟正黑體" panose="020B0604030504040204" pitchFamily="34" charset="-120"/>
                    <a:ea typeface="微軟正黑體" panose="020B0604030504040204" pitchFamily="34" charset="-120"/>
                  </a:rPr>
                  <a:t>T</a:t>
                </a:r>
                <a:r>
                  <a:rPr lang="zh-TW" altLang="en-US" dirty="0">
                    <a:latin typeface="微軟正黑體" panose="020B0604030504040204" pitchFamily="34" charset="-120"/>
                    <a:ea typeface="微軟正黑體" panose="020B0604030504040204" pitchFamily="34" charset="-120"/>
                  </a:rPr>
                  <a:t>的比例</a:t>
                </a:r>
                <a:r>
                  <a:rPr lang="en-US" altLang="zh-TW" dirty="0">
                    <a:latin typeface="微軟正黑體" panose="020B0604030504040204" pitchFamily="34" charset="-120"/>
                    <a:ea typeface="微軟正黑體" panose="020B0604030504040204" pitchFamily="34" charset="-120"/>
                  </a:rPr>
                  <a:t/>
                </a:r>
                <a:br>
                  <a:rPr lang="en-US" altLang="zh-TW" dirty="0">
                    <a:latin typeface="微軟正黑體" panose="020B0604030504040204" pitchFamily="34" charset="-120"/>
                    <a:ea typeface="微軟正黑體" panose="020B0604030504040204" pitchFamily="34" charset="-120"/>
                  </a:rPr>
                </a:br>
                <a14:m>
                  <m:oMath xmlns:m="http://schemas.openxmlformats.org/officeDocument/2006/math">
                    <m:r>
                      <a:rPr lang="en-US" altLang="zh-TW" b="0" i="1" smtClean="0">
                        <a:latin typeface="Cambria Math" panose="02040503050406030204" pitchFamily="18" charset="0"/>
                      </a:rPr>
                      <m:t>𝑇𝑆</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𝑡</m:t>
                        </m:r>
                      </m:e>
                    </m:d>
                  </m:oMath>
                </a14:m>
                <a:r>
                  <a:rPr lang="zh-TW" altLang="en-US" dirty="0">
                    <a:latin typeface="微軟正黑體" panose="020B0604030504040204" pitchFamily="34" charset="-120"/>
                    <a:ea typeface="微軟正黑體" panose="020B0604030504040204" pitchFamily="34" charset="-120"/>
                  </a:rPr>
                  <a:t>越大，說明詞</a:t>
                </a:r>
                <a:r>
                  <a:rPr lang="en-US" altLang="zh-TW" dirty="0">
                    <a:latin typeface="微軟正黑體" panose="020B0604030504040204" pitchFamily="34" charset="-120"/>
                    <a:ea typeface="微軟正黑體" panose="020B0604030504040204" pitchFamily="34" charset="-120"/>
                  </a:rPr>
                  <a:t>t</a:t>
                </a:r>
                <a:r>
                  <a:rPr lang="zh-TW" altLang="en-US" dirty="0">
                    <a:latin typeface="微軟正黑體" panose="020B0604030504040204" pitchFamily="34" charset="-120"/>
                    <a:ea typeface="微軟正黑體" panose="020B0604030504040204" pitchFamily="34" charset="-120"/>
                  </a:rPr>
                  <a:t>在相關文件中出現的越多，越重要。</a:t>
                </a:r>
              </a:p>
            </p:txBody>
          </p:sp>
        </mc:Choice>
        <mc:Fallback xmlns="">
          <p:sp>
            <p:nvSpPr>
              <p:cNvPr id="9" name="文字方塊 8"/>
              <p:cNvSpPr txBox="1">
                <a:spLocks noRot="1" noChangeAspect="1" noMove="1" noResize="1" noEditPoints="1" noAdjustHandles="1" noChangeArrowheads="1" noChangeShapeType="1" noTextEdit="1"/>
              </p:cNvSpPr>
              <p:nvPr/>
            </p:nvSpPr>
            <p:spPr>
              <a:xfrm>
                <a:off x="506555" y="4708820"/>
                <a:ext cx="7276992" cy="923330"/>
              </a:xfrm>
              <a:prstGeom prst="rect">
                <a:avLst/>
              </a:prstGeom>
              <a:blipFill>
                <a:blip r:embed="rId3"/>
                <a:stretch>
                  <a:fillRect l="-670" t="-3289" r="-84" b="-92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250404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Data collections</a:t>
            </a:r>
            <a:endParaRPr lang="zh-TW" altLang="en-US" dirty="0"/>
          </a:p>
        </p:txBody>
      </p:sp>
      <p:sp>
        <p:nvSpPr>
          <p:cNvPr id="3" name="內容版面配置區 2"/>
          <p:cNvSpPr>
            <a:spLocks noGrp="1"/>
          </p:cNvSpPr>
          <p:nvPr>
            <p:ph idx="1"/>
          </p:nvPr>
        </p:nvSpPr>
        <p:spPr/>
        <p:txBody>
          <a:bodyPr/>
          <a:lstStyle/>
          <a:p>
            <a:r>
              <a:rPr lang="en-US" altLang="zh-TW" dirty="0"/>
              <a:t>Reuters </a:t>
            </a:r>
            <a:r>
              <a:rPr lang="zh-TW" altLang="en-US" dirty="0"/>
              <a:t>為路透社</a:t>
            </a:r>
            <a:r>
              <a:rPr lang="en-US" altLang="zh-TW" dirty="0"/>
              <a:t>1987 </a:t>
            </a:r>
            <a:r>
              <a:rPr lang="zh-TW" altLang="en-US" dirty="0"/>
              <a:t>年的新聞資料，由</a:t>
            </a:r>
            <a:r>
              <a:rPr lang="en-US" altLang="zh-TW" dirty="0"/>
              <a:t>David Lewis </a:t>
            </a:r>
            <a:r>
              <a:rPr lang="zh-TW" altLang="en-US" dirty="0"/>
              <a:t>分別於</a:t>
            </a:r>
            <a:r>
              <a:rPr lang="en-US" altLang="zh-TW" dirty="0"/>
              <a:t>1990 </a:t>
            </a:r>
            <a:r>
              <a:rPr lang="zh-TW" altLang="en-US" dirty="0"/>
              <a:t>及</a:t>
            </a:r>
            <a:r>
              <a:rPr lang="en-US" altLang="zh-TW" dirty="0"/>
              <a:t>1996 </a:t>
            </a:r>
            <a:r>
              <a:rPr lang="zh-TW" altLang="en-US" dirty="0"/>
              <a:t>年整理而成，包含</a:t>
            </a:r>
            <a:r>
              <a:rPr lang="en-US" altLang="zh-TW" dirty="0"/>
              <a:t>21578</a:t>
            </a:r>
            <a:r>
              <a:rPr lang="zh-TW" altLang="en-US" dirty="0"/>
              <a:t>篇新聞，每篇文件有</a:t>
            </a:r>
            <a:r>
              <a:rPr lang="en-US" altLang="zh-TW" dirty="0"/>
              <a:t>1-5 </a:t>
            </a:r>
            <a:r>
              <a:rPr lang="zh-TW" altLang="en-US" dirty="0"/>
              <a:t>個路透社人員選定的類別，全部共有</a:t>
            </a:r>
            <a:r>
              <a:rPr lang="en-US" altLang="zh-TW" dirty="0"/>
              <a:t>135 </a:t>
            </a:r>
            <a:r>
              <a:rPr lang="zh-TW" altLang="en-US" dirty="0"/>
              <a:t>個類別。</a:t>
            </a:r>
            <a:endParaRPr lang="en-US" altLang="zh-TW" dirty="0"/>
          </a:p>
          <a:p>
            <a:endParaRPr lang="en-US" altLang="zh-TW" dirty="0"/>
          </a:p>
          <a:p>
            <a:r>
              <a:rPr lang="en-US" altLang="zh-TW" dirty="0"/>
              <a:t>OHSUMED </a:t>
            </a:r>
            <a:r>
              <a:rPr lang="zh-TW" altLang="en-US" dirty="0"/>
              <a:t>則由</a:t>
            </a:r>
            <a:r>
              <a:rPr lang="en-US" altLang="zh-TW" dirty="0"/>
              <a:t>William </a:t>
            </a:r>
            <a:r>
              <a:rPr lang="en-US" altLang="zh-TW" dirty="0" err="1"/>
              <a:t>Hersh</a:t>
            </a:r>
            <a:r>
              <a:rPr lang="en-US" altLang="zh-TW" dirty="0"/>
              <a:t> </a:t>
            </a:r>
            <a:r>
              <a:rPr lang="zh-TW" altLang="en-US" dirty="0"/>
              <a:t>及其同事整理而成 ，共包含</a:t>
            </a:r>
            <a:r>
              <a:rPr lang="en-US" altLang="zh-TW" dirty="0"/>
              <a:t>1987 </a:t>
            </a:r>
            <a:r>
              <a:rPr lang="zh-TW" altLang="en-US" dirty="0"/>
              <a:t>年到</a:t>
            </a:r>
            <a:r>
              <a:rPr lang="en-US" altLang="zh-TW" dirty="0"/>
              <a:t>1991</a:t>
            </a:r>
            <a:r>
              <a:rPr lang="zh-TW" altLang="en-US" dirty="0"/>
              <a:t>年間</a:t>
            </a:r>
            <a:r>
              <a:rPr lang="en-US" altLang="zh-TW" dirty="0"/>
              <a:t>233,445 </a:t>
            </a:r>
            <a:r>
              <a:rPr lang="zh-TW" altLang="en-US" dirty="0"/>
              <a:t>篇的醫學文獻，這些文獻都含有篇名與摘要，以及平均</a:t>
            </a:r>
            <a:r>
              <a:rPr lang="en-US" altLang="zh-TW" dirty="0"/>
              <a:t>13 </a:t>
            </a:r>
            <a:r>
              <a:rPr lang="zh-TW" altLang="en-US" dirty="0"/>
              <a:t>個取自</a:t>
            </a:r>
            <a:r>
              <a:rPr lang="en-US" altLang="zh-TW" dirty="0" err="1"/>
              <a:t>MeSH</a:t>
            </a:r>
            <a:r>
              <a:rPr lang="zh-TW" altLang="en-US" dirty="0"/>
              <a:t>（</a:t>
            </a:r>
            <a:r>
              <a:rPr lang="en-US" altLang="zh-TW" dirty="0"/>
              <a:t>Medical Subject Headline</a:t>
            </a:r>
            <a:r>
              <a:rPr lang="zh-TW" altLang="en-US" dirty="0"/>
              <a:t>）分類表的類別，全部用到</a:t>
            </a:r>
            <a:r>
              <a:rPr lang="en-US" altLang="zh-TW" dirty="0"/>
              <a:t>14,321 </a:t>
            </a:r>
            <a:r>
              <a:rPr lang="zh-TW" altLang="en-US" dirty="0"/>
              <a:t>個類別</a:t>
            </a:r>
          </a:p>
        </p:txBody>
      </p:sp>
    </p:spTree>
    <p:extLst>
      <p:ext uri="{BB962C8B-B14F-4D97-AF65-F5344CB8AC3E}">
        <p14:creationId xmlns:p14="http://schemas.microsoft.com/office/powerpoint/2010/main" val="31683944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stretch>
            <a:fillRect/>
          </a:stretch>
        </p:blipFill>
        <p:spPr>
          <a:xfrm>
            <a:off x="2834074" y="934078"/>
            <a:ext cx="6909742" cy="4807587"/>
          </a:xfrm>
          <a:prstGeom prst="rect">
            <a:avLst/>
          </a:prstGeom>
        </p:spPr>
      </p:pic>
      <p:sp>
        <p:nvSpPr>
          <p:cNvPr id="6" name="矩形 5"/>
          <p:cNvSpPr/>
          <p:nvPr/>
        </p:nvSpPr>
        <p:spPr>
          <a:xfrm>
            <a:off x="1649833" y="5970198"/>
            <a:ext cx="11325136" cy="590931"/>
          </a:xfrm>
          <a:prstGeom prst="rect">
            <a:avLst/>
          </a:prstGeom>
        </p:spPr>
        <p:txBody>
          <a:bodyPr wrap="square">
            <a:spAutoFit/>
          </a:bodyPr>
          <a:lstStyle/>
          <a:p>
            <a:pPr>
              <a:lnSpc>
                <a:spcPct val="90000"/>
              </a:lnSpc>
            </a:pPr>
            <a:r>
              <a:rPr lang="en-US" altLang="zh-TW" dirty="0">
                <a:latin typeface="微軟正黑體" panose="020B0604030504040204" pitchFamily="34" charset="-120"/>
                <a:ea typeface="微軟正黑體" panose="020B0604030504040204" pitchFamily="34" charset="-120"/>
              </a:rPr>
              <a:t>Displays the performance curves for KNN on Reuters(9610 training documents, and 3662 test documents)after term selection using IG, DF TS, MI and CHI thresholding, respectively.</a:t>
            </a:r>
          </a:p>
        </p:txBody>
      </p:sp>
      <p:sp>
        <p:nvSpPr>
          <p:cNvPr id="2" name="文字方塊 1"/>
          <p:cNvSpPr txBox="1"/>
          <p:nvPr/>
        </p:nvSpPr>
        <p:spPr>
          <a:xfrm>
            <a:off x="872455" y="243880"/>
            <a:ext cx="10922466" cy="461665"/>
          </a:xfrm>
          <a:prstGeom prst="rect">
            <a:avLst/>
          </a:prstGeom>
          <a:noFill/>
        </p:spPr>
        <p:txBody>
          <a:bodyPr wrap="square" rtlCol="0">
            <a:spAutoFit/>
          </a:bodyPr>
          <a:lstStyle/>
          <a:p>
            <a:pPr algn="ctr"/>
            <a:r>
              <a:rPr lang="en-US" altLang="zh-TW" sz="2400" dirty="0">
                <a:latin typeface="微軟正黑體" panose="020B0604030504040204" pitchFamily="34" charset="-120"/>
                <a:ea typeface="微軟正黑體" panose="020B0604030504040204" pitchFamily="34" charset="-120"/>
              </a:rPr>
              <a:t>Feature Selection</a:t>
            </a:r>
            <a:r>
              <a:rPr lang="zh-TW" altLang="en-US" sz="2400" dirty="0">
                <a:latin typeface="微軟正黑體" panose="020B0604030504040204" pitchFamily="34" charset="-120"/>
                <a:ea typeface="微軟正黑體" panose="020B0604030504040204" pitchFamily="34" charset="-120"/>
              </a:rPr>
              <a:t>的性能比較</a:t>
            </a:r>
            <a:r>
              <a:rPr lang="en-US" altLang="zh-TW" sz="2400" dirty="0">
                <a:latin typeface="微軟正黑體" panose="020B0604030504040204" pitchFamily="34" charset="-120"/>
                <a:ea typeface="微軟正黑體" panose="020B0604030504040204" pitchFamily="34" charset="-120"/>
              </a:rPr>
              <a:t>(KNN)</a:t>
            </a:r>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4918367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2432805" y="1001700"/>
            <a:ext cx="6908400" cy="4853151"/>
          </a:xfrm>
          <a:prstGeom prst="rect">
            <a:avLst/>
          </a:prstGeom>
        </p:spPr>
      </p:pic>
      <p:sp>
        <p:nvSpPr>
          <p:cNvPr id="5" name="文字方塊 4"/>
          <p:cNvSpPr txBox="1"/>
          <p:nvPr/>
        </p:nvSpPr>
        <p:spPr>
          <a:xfrm>
            <a:off x="4447829" y="310393"/>
            <a:ext cx="3329694" cy="369332"/>
          </a:xfrm>
          <a:prstGeom prst="rect">
            <a:avLst/>
          </a:prstGeom>
          <a:noFill/>
        </p:spPr>
        <p:txBody>
          <a:bodyPr wrap="none" rtlCol="0">
            <a:spAutoFit/>
          </a:bodyPr>
          <a:lstStyle/>
          <a:p>
            <a:r>
              <a:rPr lang="en-US" altLang="zh-TW" dirty="0">
                <a:latin typeface="微軟正黑體" panose="020B0604030504040204" pitchFamily="34" charset="-120"/>
                <a:ea typeface="微軟正黑體" panose="020B0604030504040204" pitchFamily="34" charset="-120"/>
              </a:rPr>
              <a:t>Cross-collection examination</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3619076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5377342" y="2860646"/>
            <a:ext cx="1641796" cy="923330"/>
          </a:xfrm>
          <a:prstGeom prst="rect">
            <a:avLst/>
          </a:prstGeom>
          <a:noFill/>
        </p:spPr>
        <p:txBody>
          <a:bodyPr wrap="none" rtlCol="0">
            <a:spAutoFit/>
          </a:bodyPr>
          <a:lstStyle/>
          <a:p>
            <a:r>
              <a:rPr lang="en-US" altLang="zh-TW" sz="5400" dirty="0">
                <a:latin typeface="微軟正黑體" panose="020B0604030504040204" pitchFamily="34" charset="-120"/>
                <a:ea typeface="微軟正黑體" panose="020B0604030504040204" pitchFamily="34" charset="-120"/>
              </a:rPr>
              <a:t>END</a:t>
            </a:r>
            <a:endParaRPr lang="zh-TW" altLang="en-US" sz="5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1618232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備用</a:t>
            </a:r>
          </a:p>
        </p:txBody>
      </p:sp>
      <p:sp>
        <p:nvSpPr>
          <p:cNvPr id="3" name="內容版面配置區 2"/>
          <p:cNvSpPr>
            <a:spLocks noGrp="1"/>
          </p:cNvSpPr>
          <p:nvPr>
            <p:ph idx="1"/>
          </p:nvPr>
        </p:nvSpPr>
        <p:spPr/>
        <p:txBody>
          <a:bodyPr/>
          <a:lstStyle/>
          <a:p>
            <a:r>
              <a:rPr lang="zh-TW" altLang="en-US" dirty="0"/>
              <a:t>依據某特徵詞</a:t>
            </a:r>
            <a:r>
              <a:rPr lang="en-US" altLang="zh-TW" dirty="0"/>
              <a:t>”t”</a:t>
            </a:r>
            <a:r>
              <a:rPr lang="zh-TW" altLang="en-US" dirty="0"/>
              <a:t>為整個分類</a:t>
            </a:r>
            <a:r>
              <a:rPr lang="zh-CN" altLang="en-US" dirty="0"/>
              <a:t>所能提供的</a:t>
            </a:r>
            <a:r>
              <a:rPr lang="zh-TW" altLang="en-US" dirty="0"/>
              <a:t>訊息量</a:t>
            </a:r>
            <a:r>
              <a:rPr lang="zh-CN" altLang="en-US" dirty="0"/>
              <a:t>多少</a:t>
            </a:r>
            <a:r>
              <a:rPr lang="zh-TW" altLang="en-US" dirty="0"/>
              <a:t>來</a:t>
            </a:r>
            <a:r>
              <a:rPr lang="zh-CN" altLang="en-US" dirty="0"/>
              <a:t>衡量</a:t>
            </a:r>
            <a:r>
              <a:rPr lang="zh-TW" altLang="en-US" dirty="0"/>
              <a:t>該特徵詞的</a:t>
            </a:r>
            <a:r>
              <a:rPr lang="zh-CN" altLang="en-US" dirty="0"/>
              <a:t>的重要程度，</a:t>
            </a:r>
            <a:r>
              <a:rPr lang="zh-TW" altLang="en-US" dirty="0"/>
              <a:t>從而決定對該特徵詞的取捨</a:t>
            </a:r>
            <a:r>
              <a:rPr lang="zh-CN" altLang="en-US" dirty="0"/>
              <a:t>。</a:t>
            </a:r>
            <a:endParaRPr lang="en-US" altLang="zh-CN" dirty="0"/>
          </a:p>
          <a:p>
            <a:endParaRPr lang="zh-TW" altLang="en-US" dirty="0"/>
          </a:p>
        </p:txBody>
      </p:sp>
      <mc:AlternateContent xmlns:mc="http://schemas.openxmlformats.org/markup-compatibility/2006" xmlns:a14="http://schemas.microsoft.com/office/drawing/2010/main">
        <mc:Choice Requires="a14">
          <p:sp>
            <p:nvSpPr>
              <p:cNvPr id="4" name="文字方塊 3"/>
              <p:cNvSpPr txBox="1"/>
              <p:nvPr/>
            </p:nvSpPr>
            <p:spPr>
              <a:xfrm>
                <a:off x="5356216" y="906573"/>
                <a:ext cx="24273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𝑇𝑆</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𝑡</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𝑃</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r>
                        <a:rPr lang="en-US" altLang="zh-TW" b="0" i="1" smtClean="0">
                          <a:latin typeface="Cambria Math" panose="02040503050406030204" pitchFamily="18" charset="0"/>
                        </a:rPr>
                        <m:t>∈</m:t>
                      </m:r>
                      <m:r>
                        <a:rPr lang="en-US" altLang="zh-TW" b="0" i="1" smtClean="0">
                          <a:latin typeface="Cambria Math" panose="02040503050406030204" pitchFamily="18" charset="0"/>
                        </a:rPr>
                        <m:t>𝑦</m:t>
                      </m:r>
                      <m:r>
                        <a:rPr lang="zh-TW" altLang="en-US" i="1">
                          <a:latin typeface="Cambria Math" panose="02040503050406030204" pitchFamily="18" charset="0"/>
                        </a:rPr>
                        <m:t> </m:t>
                      </m:r>
                      <m:r>
                        <a:rPr lang="en-US" altLang="zh-TW" b="0" i="1" smtClean="0">
                          <a:latin typeface="Cambria Math" panose="02040503050406030204" pitchFamily="18" charset="0"/>
                        </a:rPr>
                        <m:t>|</m:t>
                      </m:r>
                      <m:r>
                        <a:rPr lang="zh-TW" altLang="en-US" i="1">
                          <a:latin typeface="Cambria Math" panose="02040503050406030204" pitchFamily="18" charset="0"/>
                        </a:rPr>
                        <m:t> </m:t>
                      </m:r>
                      <m:r>
                        <a:rPr lang="en-US" altLang="zh-TW" b="0" i="1" smtClean="0">
                          <a:latin typeface="Cambria Math" panose="02040503050406030204" pitchFamily="18" charset="0"/>
                        </a:rPr>
                        <m:t>𝑡</m:t>
                      </m:r>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m:t>
                      </m:r>
                    </m:oMath>
                  </m:oMathPara>
                </a14:m>
                <a:endParaRPr lang="zh-TW" altLang="en-US"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5356216" y="906573"/>
                <a:ext cx="2427331" cy="276999"/>
              </a:xfrm>
              <a:prstGeom prst="rect">
                <a:avLst/>
              </a:prstGeom>
              <a:blipFill rotWithShape="0">
                <a:blip r:embed="rId2"/>
                <a:stretch>
                  <a:fillRect l="-2010" t="-4444" r="-3015" b="-35556"/>
                </a:stretch>
              </a:blipFill>
            </p:spPr>
            <p:txBody>
              <a:bodyPr/>
              <a:lstStyle/>
              <a:p>
                <a:r>
                  <a:rPr lang="zh-TW" altLang="en-US">
                    <a:noFill/>
                  </a:rPr>
                  <a:t> </a:t>
                </a:r>
              </a:p>
            </p:txBody>
          </p:sp>
        </mc:Fallback>
      </mc:AlternateContent>
      <p:pic>
        <p:nvPicPr>
          <p:cNvPr id="6" name="圖片 5"/>
          <p:cNvPicPr>
            <a:picLocks noChangeAspect="1"/>
          </p:cNvPicPr>
          <p:nvPr/>
        </p:nvPicPr>
        <p:blipFill>
          <a:blip r:embed="rId3"/>
          <a:stretch>
            <a:fillRect/>
          </a:stretch>
        </p:blipFill>
        <p:spPr>
          <a:xfrm>
            <a:off x="5185053" y="2983032"/>
            <a:ext cx="6574916" cy="3730059"/>
          </a:xfrm>
          <a:prstGeom prst="rect">
            <a:avLst/>
          </a:prstGeom>
          <a:ln>
            <a:noFill/>
          </a:ln>
          <a:effectLst>
            <a:outerShdw blurRad="190500" algn="tl" rotWithShape="0">
              <a:srgbClr val="000000">
                <a:alpha val="70000"/>
              </a:srgbClr>
            </a:outerShdw>
          </a:effectLst>
        </p:spPr>
      </p:pic>
      <mc:AlternateContent xmlns:mc="http://schemas.openxmlformats.org/markup-compatibility/2006" xmlns:a14="http://schemas.microsoft.com/office/drawing/2010/main">
        <mc:Choice Requires="a14">
          <p:sp>
            <p:nvSpPr>
              <p:cNvPr id="7" name="矩形 6"/>
              <p:cNvSpPr/>
              <p:nvPr/>
            </p:nvSpPr>
            <p:spPr>
              <a:xfrm>
                <a:off x="2125007" y="3487615"/>
                <a:ext cx="2086469" cy="369332"/>
              </a:xfrm>
              <a:prstGeom prst="rect">
                <a:avLst/>
              </a:prstGeom>
            </p:spPr>
            <p:txBody>
              <a:bodyPr wrap="none">
                <a:spAutoFit/>
              </a:bodyPr>
              <a:lstStyle/>
              <a:p>
                <a:r>
                  <a:rPr lang="zh-TW" altLang="en-US" dirty="0">
                    <a:latin typeface="微軟正黑體" panose="020B0604030504040204" pitchFamily="34" charset="-120"/>
                    <a:ea typeface="微軟正黑體" panose="020B0604030504040204" pitchFamily="34" charset="-120"/>
                  </a:rPr>
                  <a:t>則</a:t>
                </a:r>
                <a14:m>
                  <m:oMath xmlns:m="http://schemas.openxmlformats.org/officeDocument/2006/math">
                    <m:r>
                      <a:rPr lang="en-US" altLang="zh-TW" i="1">
                        <a:latin typeface="Cambria Math" panose="02040503050406030204" pitchFamily="18" charset="0"/>
                      </a:rPr>
                      <m:t>𝑇𝑆</m:t>
                    </m:r>
                    <m:d>
                      <m:dPr>
                        <m:ctrlPr>
                          <a:rPr lang="en-US" altLang="zh-TW" i="1">
                            <a:latin typeface="Cambria Math" panose="02040503050406030204" pitchFamily="18" charset="0"/>
                          </a:rPr>
                        </m:ctrlPr>
                      </m:dPr>
                      <m:e>
                        <m:r>
                          <a:rPr lang="en-US" altLang="zh-TW" i="1">
                            <a:latin typeface="Cambria Math" panose="02040503050406030204" pitchFamily="18" charset="0"/>
                          </a:rPr>
                          <m:t>𝑡</m:t>
                        </m:r>
                      </m:e>
                    </m:d>
                    <m:r>
                      <a:rPr lang="en-US" altLang="zh-TW" i="1">
                        <a:latin typeface="Cambria Math" panose="02040503050406030204" pitchFamily="18" charset="0"/>
                      </a:rPr>
                      <m:t>=</m:t>
                    </m:r>
                    <m:r>
                      <a:rPr lang="en-US" altLang="zh-TW" i="1">
                        <a:latin typeface="Cambria Math" panose="02040503050406030204" pitchFamily="18" charset="0"/>
                      </a:rPr>
                      <m:t>𝑃</m:t>
                    </m:r>
                    <m:r>
                      <a:rPr lang="en-US" altLang="zh-TW" i="1">
                        <a:latin typeface="Cambria Math" panose="02040503050406030204" pitchFamily="18" charset="0"/>
                      </a:rPr>
                      <m:t>(</m:t>
                    </m:r>
                    <m:r>
                      <a:rPr lang="en-US" altLang="zh-TW" i="1">
                        <a:latin typeface="Cambria Math" panose="02040503050406030204" pitchFamily="18" charset="0"/>
                      </a:rPr>
                      <m:t>𝑡</m:t>
                    </m:r>
                    <m:r>
                      <a:rPr lang="zh-TW" altLang="en-US" i="1">
                        <a:latin typeface="Cambria Math" panose="02040503050406030204" pitchFamily="18" charset="0"/>
                      </a:rPr>
                      <m:t> </m:t>
                    </m:r>
                    <m:r>
                      <a:rPr lang="en-US" altLang="zh-TW" i="1">
                        <a:latin typeface="Cambria Math" panose="02040503050406030204" pitchFamily="18" charset="0"/>
                      </a:rPr>
                      <m:t>|</m:t>
                    </m:r>
                    <m:r>
                      <a:rPr lang="zh-TW" altLang="en-US" i="1">
                        <a:latin typeface="Cambria Math" panose="02040503050406030204" pitchFamily="18" charset="0"/>
                      </a:rPr>
                      <m:t> </m:t>
                    </m:r>
                    <m:r>
                      <a:rPr lang="en-US" altLang="zh-TW" i="1">
                        <a:latin typeface="Cambria Math" panose="02040503050406030204" pitchFamily="18" charset="0"/>
                      </a:rPr>
                      <m:t>𝑀</m:t>
                    </m:r>
                    <m:r>
                      <a:rPr lang="en-US" altLang="zh-TW" i="1">
                        <a:latin typeface="Cambria Math" panose="02040503050406030204" pitchFamily="18" charset="0"/>
                      </a:rPr>
                      <m:t>)</m:t>
                    </m:r>
                  </m:oMath>
                </a14:m>
                <a:endParaRPr lang="zh-TW" altLang="en-US" dirty="0"/>
              </a:p>
            </p:txBody>
          </p:sp>
        </mc:Choice>
        <mc:Fallback xmlns="">
          <p:sp>
            <p:nvSpPr>
              <p:cNvPr id="7" name="矩形 6"/>
              <p:cNvSpPr>
                <a:spLocks noRot="1" noChangeAspect="1" noMove="1" noResize="1" noEditPoints="1" noAdjustHandles="1" noChangeArrowheads="1" noChangeShapeType="1" noTextEdit="1"/>
              </p:cNvSpPr>
              <p:nvPr/>
            </p:nvSpPr>
            <p:spPr>
              <a:xfrm>
                <a:off x="2125007" y="3487615"/>
                <a:ext cx="2086469" cy="369332"/>
              </a:xfrm>
              <a:prstGeom prst="rect">
                <a:avLst/>
              </a:prstGeom>
              <a:blipFill>
                <a:blip r:embed="rId4"/>
                <a:stretch>
                  <a:fillRect l="-2632" t="-9836" b="-229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62706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8461</TotalTime>
  <Words>1459</Words>
  <Application>Microsoft Office PowerPoint</Application>
  <PresentationFormat>寬螢幕</PresentationFormat>
  <Paragraphs>181</Paragraphs>
  <Slides>19</Slides>
  <Notes>0</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19</vt:i4>
      </vt:variant>
    </vt:vector>
  </HeadingPairs>
  <TitlesOfParts>
    <vt:vector size="30" baseType="lpstr">
      <vt:lpstr>Liberation Sans</vt:lpstr>
      <vt:lpstr>Liberation Sans Narrow</vt:lpstr>
      <vt:lpstr>宋体</vt:lpstr>
      <vt:lpstr>微軟正黑體</vt:lpstr>
      <vt:lpstr>新細明體</vt:lpstr>
      <vt:lpstr>Arial</vt:lpstr>
      <vt:lpstr>Calibri</vt:lpstr>
      <vt:lpstr>Calibri Light</vt:lpstr>
      <vt:lpstr>Cambria Math</vt:lpstr>
      <vt:lpstr>Mangal</vt:lpstr>
      <vt:lpstr>Office 佈景主題</vt:lpstr>
      <vt:lpstr>A Comparative Study on Feature Selection in Text Categorization</vt:lpstr>
      <vt:lpstr>Abstract</vt:lpstr>
      <vt:lpstr>Introduction：</vt:lpstr>
      <vt:lpstr>Introduction：</vt:lpstr>
      <vt:lpstr>PowerPoint 簡報</vt:lpstr>
      <vt:lpstr>Feature Selection</vt:lpstr>
      <vt:lpstr>Document frequency (DF) </vt:lpstr>
      <vt:lpstr>Mutual information (MI)</vt:lpstr>
      <vt:lpstr>Example：</vt:lpstr>
      <vt:lpstr>Information  Gain (IG)</vt:lpstr>
      <vt:lpstr>Chi-squared test (CHI) </vt:lpstr>
      <vt:lpstr>PowerPoint 簡報</vt:lpstr>
      <vt:lpstr>PowerPoint 簡報</vt:lpstr>
      <vt:lpstr>Term strength (TS)</vt:lpstr>
      <vt:lpstr>Data collections</vt:lpstr>
      <vt:lpstr>PowerPoint 簡報</vt:lpstr>
      <vt:lpstr>PowerPoint 簡報</vt:lpstr>
      <vt:lpstr>PowerPoint 簡報</vt:lpstr>
      <vt:lpstr>備用</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Comparative Study on Feature Selection in Text Categorization</dc:title>
  <dc:creator>賴駿豪</dc:creator>
  <cp:lastModifiedBy>pplab-class</cp:lastModifiedBy>
  <cp:revision>116</cp:revision>
  <dcterms:created xsi:type="dcterms:W3CDTF">2016-08-22T11:42:27Z</dcterms:created>
  <dcterms:modified xsi:type="dcterms:W3CDTF">2016-08-30T06:52:25Z</dcterms:modified>
</cp:coreProperties>
</file>