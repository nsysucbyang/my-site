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71" r:id="rId3"/>
    <p:sldId id="257" r:id="rId4"/>
    <p:sldId id="258" r:id="rId5"/>
    <p:sldId id="259" r:id="rId6"/>
    <p:sldId id="261" r:id="rId7"/>
    <p:sldId id="263" r:id="rId8"/>
    <p:sldId id="277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6" r:id="rId20"/>
    <p:sldId id="282" r:id="rId21"/>
    <p:sldId id="275" r:id="rId22"/>
    <p:sldId id="278" r:id="rId23"/>
    <p:sldId id="280" r:id="rId24"/>
    <p:sldId id="283" r:id="rId25"/>
    <p:sldId id="281" r:id="rId26"/>
    <p:sldId id="279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89BEF8-D0BD-4356-A8CA-BA3187606838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7FDAF1-6805-4C20-B7A3-994A6BFA95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1298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FDAF1-6805-4C20-B7A3-994A6BFA9550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12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3C8F-508C-4264-87A0-529C31E19107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B782-DBE2-4F29-BAC4-97AE1E55C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5318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3C8F-508C-4264-87A0-529C31E19107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B782-DBE2-4F29-BAC4-97AE1E55C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1813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3C8F-508C-4264-87A0-529C31E19107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B782-DBE2-4F29-BAC4-97AE1E55C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755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3C8F-508C-4264-87A0-529C31E19107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B782-DBE2-4F29-BAC4-97AE1E55C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9158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3C8F-508C-4264-87A0-529C31E19107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B782-DBE2-4F29-BAC4-97AE1E55C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6942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3C8F-508C-4264-87A0-529C31E19107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B782-DBE2-4F29-BAC4-97AE1E55C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7582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3C8F-508C-4264-87A0-529C31E19107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B782-DBE2-4F29-BAC4-97AE1E55C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3190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3C8F-508C-4264-87A0-529C31E19107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B782-DBE2-4F29-BAC4-97AE1E55C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2798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3C8F-508C-4264-87A0-529C31E19107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B782-DBE2-4F29-BAC4-97AE1E55C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9771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3C8F-508C-4264-87A0-529C31E19107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B782-DBE2-4F29-BAC4-97AE1E55C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7481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3C8F-508C-4264-87A0-529C31E19107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B782-DBE2-4F29-BAC4-97AE1E55C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7486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53C8F-508C-4264-87A0-529C31E19107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BB782-DBE2-4F29-BAC4-97AE1E55C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8302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900" dirty="0"/>
              <a:t>文件主題自動分類成效因素探討</a:t>
            </a:r>
            <a:br>
              <a:rPr lang="zh-TW" altLang="en-US" sz="4900" dirty="0"/>
            </a:br>
            <a:r>
              <a:rPr lang="en-US" altLang="zh-TW" sz="4900" dirty="0"/>
              <a:t>Effectiveness Issues in Automatic Text Categorization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曾元顯 輔仁大學 圖書資訊學系</a:t>
            </a:r>
            <a:endParaRPr lang="en-US" altLang="zh-TW" dirty="0" smtClean="0"/>
          </a:p>
          <a:p>
            <a:r>
              <a:rPr lang="zh-TW" altLang="en-US" dirty="0" smtClean="0"/>
              <a:t>「中國圖書館學會會報」</a:t>
            </a:r>
            <a:r>
              <a:rPr lang="en-US" altLang="zh-TW" dirty="0" smtClean="0"/>
              <a:t>, 2002</a:t>
            </a:r>
            <a:r>
              <a:rPr lang="zh-TW" altLang="en-US" dirty="0" smtClean="0"/>
              <a:t>年</a:t>
            </a:r>
            <a:r>
              <a:rPr lang="en-US" altLang="zh-TW" dirty="0" smtClean="0"/>
              <a:t>6</a:t>
            </a:r>
            <a:r>
              <a:rPr lang="zh-TW" altLang="en-US" dirty="0" smtClean="0"/>
              <a:t>月</a:t>
            </a:r>
            <a:r>
              <a:rPr lang="en-US" altLang="zh-TW" dirty="0" smtClean="0"/>
              <a:t>, </a:t>
            </a:r>
            <a:r>
              <a:rPr lang="zh-TW" altLang="en-US" dirty="0" smtClean="0"/>
              <a:t>第</a:t>
            </a:r>
            <a:r>
              <a:rPr lang="en-US" altLang="zh-TW" dirty="0" smtClean="0"/>
              <a:t>68</a:t>
            </a:r>
            <a:r>
              <a:rPr lang="zh-TW" altLang="en-US" dirty="0" smtClean="0"/>
              <a:t>期</a:t>
            </a:r>
            <a:r>
              <a:rPr lang="en-US" altLang="zh-TW" dirty="0" smtClean="0"/>
              <a:t>, </a:t>
            </a:r>
            <a:r>
              <a:rPr lang="zh-TW" altLang="en-US" dirty="0" smtClean="0"/>
              <a:t>頁</a:t>
            </a:r>
            <a:r>
              <a:rPr lang="en-US" altLang="zh-TW" dirty="0" smtClean="0"/>
              <a:t>62-83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9259601" y="5896676"/>
            <a:ext cx="2816798" cy="813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 algn="r" hangingPunct="0">
              <a:spcBef>
                <a:spcPts val="1284"/>
              </a:spcBef>
              <a:buNone/>
            </a:pPr>
            <a:r>
              <a:rPr lang="en-US" alt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Presenter</a:t>
            </a:r>
            <a:r>
              <a:rPr lang="zh-TW" alt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Jyun-Hao Lai</a:t>
            </a:r>
          </a:p>
          <a:p>
            <a:pPr lvl="1" algn="r" hangingPunct="0">
              <a:spcBef>
                <a:spcPts val="1284"/>
              </a:spcBef>
              <a:buNone/>
            </a:pPr>
            <a:r>
              <a:rPr lang="en-US" alt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Date</a:t>
            </a:r>
            <a:r>
              <a:rPr lang="zh-TW" alt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105 / 01 / 26</a:t>
            </a:r>
            <a:endParaRPr lang="en-US" altLang="zh-TW" dirty="0">
              <a:highlight>
                <a:scrgbClr r="0" g="0" b="0">
                  <a:alpha val="0"/>
                </a:scrgbClr>
              </a:highlight>
              <a:latin typeface="Liberation Sans Narrow" pitchFamily="34"/>
              <a:ea typeface="微軟正黑體" pitchFamily="34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488474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28816" y="762944"/>
            <a:ext cx="10515600" cy="917575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討論文件分類</a:t>
            </a:r>
            <a:r>
              <a:rPr lang="zh-TW" altLang="en-US" dirty="0" smtClean="0">
                <a:solidFill>
                  <a:srgbClr val="FF0000"/>
                </a:solidFill>
              </a:rPr>
              <a:t>成效</a:t>
            </a:r>
            <a:r>
              <a:rPr lang="zh-TW" altLang="en-US" dirty="0" smtClean="0"/>
              <a:t>的各項議題，使剛接觸自動分類問題的工程師能夠了解各項觀念。</a:t>
            </a:r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928816" y="1777771"/>
            <a:ext cx="20826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 smtClean="0"/>
              <a:t>本篇作</a:t>
            </a:r>
            <a:r>
              <a:rPr lang="zh-TW" altLang="en-US" sz="2800" dirty="0"/>
              <a:t>者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864974" y="3326992"/>
            <a:ext cx="7925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姓名：曾元顯 </a:t>
            </a:r>
            <a:r>
              <a:rPr lang="en-US" altLang="zh-TW" dirty="0" smtClean="0"/>
              <a:t>(</a:t>
            </a:r>
            <a:r>
              <a:rPr lang="en-US" altLang="zh-TW" b="1" dirty="0" smtClean="0">
                <a:latin typeface="+mj-ea"/>
                <a:ea typeface="+mj-ea"/>
              </a:rPr>
              <a:t>Yuen-Hsien Tseng)</a:t>
            </a:r>
            <a:endParaRPr lang="en-US" altLang="zh-TW" dirty="0" smtClean="0">
              <a:latin typeface="+mj-ea"/>
              <a:ea typeface="+mj-ea"/>
            </a:endParaRPr>
          </a:p>
          <a:p>
            <a:r>
              <a:rPr lang="zh-TW" altLang="en-US" dirty="0" smtClean="0"/>
              <a:t>現職：</a:t>
            </a:r>
            <a:r>
              <a:rPr lang="zh-TW" altLang="en-US" dirty="0"/>
              <a:t>國立臺灣師範大學資訊中心</a:t>
            </a:r>
            <a:r>
              <a:rPr lang="zh-TW" altLang="en-US" dirty="0" smtClean="0"/>
              <a:t>主任</a:t>
            </a:r>
            <a:endParaRPr lang="en-US" altLang="zh-TW" dirty="0" smtClean="0"/>
          </a:p>
          <a:p>
            <a:r>
              <a:rPr lang="zh-TW" altLang="en-US" dirty="0" smtClean="0"/>
              <a:t>學歷：</a:t>
            </a:r>
            <a:r>
              <a:rPr lang="zh-TW" altLang="en-US" dirty="0"/>
              <a:t>臺灣大學資訊工程學博士 </a:t>
            </a:r>
            <a:endParaRPr lang="en-US" altLang="zh-TW" dirty="0" smtClean="0"/>
          </a:p>
          <a:p>
            <a:r>
              <a:rPr lang="zh-TW" altLang="en-US" dirty="0" smtClean="0"/>
              <a:t>專長：</a:t>
            </a:r>
            <a:r>
              <a:rPr lang="zh-TW" altLang="en-US" dirty="0"/>
              <a:t>資訊檢索、文字知識探勘、自動化資訊組織與分析、自然語言處理</a:t>
            </a:r>
            <a:r>
              <a:rPr lang="zh-TW" altLang="en-US" dirty="0" smtClean="0"/>
              <a:t>、     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             機器學習</a:t>
            </a:r>
            <a:r>
              <a:rPr lang="zh-TW" altLang="en-US" dirty="0"/>
              <a:t>、數位化</a:t>
            </a:r>
            <a:r>
              <a:rPr lang="zh-TW" altLang="en-US" dirty="0" smtClean="0"/>
              <a:t>圖書館。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5465" y="3326992"/>
            <a:ext cx="1476375" cy="19335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410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Introduction</a:t>
            </a:r>
            <a:r>
              <a:rPr lang="zh-TW" altLang="zh-TW" b="1" dirty="0" smtClean="0"/>
              <a:t>：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838200" y="3482165"/>
            <a:ext cx="100655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200" dirty="0" smtClean="0"/>
              <a:t>文件的分類，其成效是依據訓練文件中的對應而來，若對應的關係無法從內容</a:t>
            </a:r>
            <a:endParaRPr lang="en-US" altLang="zh-TW" sz="2200" dirty="0" smtClean="0"/>
          </a:p>
          <a:p>
            <a:r>
              <a:rPr lang="zh-TW" altLang="en-US" sz="2200" dirty="0" smtClean="0"/>
              <a:t>得到，那麼文件分類的效果就有限。</a:t>
            </a:r>
            <a:endParaRPr lang="zh-TW" altLang="en-US" sz="2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838200" y="2621996"/>
            <a:ext cx="9015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Example</a:t>
            </a:r>
            <a:r>
              <a:rPr lang="zh-TW" altLang="en-US" dirty="0">
                <a:latin typeface="新細明體" panose="02020500000000000000" pitchFamily="18" charset="-120"/>
              </a:rPr>
              <a:t>：</a:t>
            </a:r>
            <a:r>
              <a:rPr lang="en-US" altLang="zh-TW" dirty="0">
                <a:latin typeface="新細明體" panose="02020500000000000000" pitchFamily="18" charset="-120"/>
              </a:rPr>
              <a:t/>
            </a:r>
            <a:br>
              <a:rPr lang="en-US" altLang="zh-TW" dirty="0">
                <a:latin typeface="新細明體" panose="02020500000000000000" pitchFamily="18" charset="-120"/>
              </a:rPr>
            </a:br>
            <a:r>
              <a:rPr lang="zh-TW" altLang="en-US" dirty="0">
                <a:latin typeface="新細明體" panose="02020500000000000000" pitchFamily="18" charset="-120"/>
              </a:rPr>
              <a:t>新聞文件可按其報導的內容，給予「政治」、「外交」、「娛樂」、 「運動」等類別。</a:t>
            </a:r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38200" y="4454022"/>
            <a:ext cx="110337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Example</a:t>
            </a:r>
            <a:r>
              <a:rPr lang="zh-TW" altLang="en-US" dirty="0">
                <a:latin typeface="新細明體" panose="02020500000000000000" pitchFamily="18" charset="-120"/>
              </a:rPr>
              <a:t>：</a:t>
            </a:r>
            <a:r>
              <a:rPr lang="en-US" altLang="zh-TW" dirty="0">
                <a:latin typeface="新細明體" panose="02020500000000000000" pitchFamily="18" charset="-120"/>
              </a:rPr>
              <a:t/>
            </a:r>
            <a:br>
              <a:rPr lang="en-US" altLang="zh-TW" dirty="0">
                <a:latin typeface="新細明體" panose="02020500000000000000" pitchFamily="18" charset="-120"/>
              </a:rPr>
            </a:br>
            <a:r>
              <a:rPr lang="zh-TW" altLang="en-US" dirty="0" smtClean="0">
                <a:latin typeface="新細明體" panose="02020500000000000000" pitchFamily="18" charset="-120"/>
              </a:rPr>
              <a:t>把最近一星期的電子郵件分成「待處理郵件」</a:t>
            </a:r>
            <a:r>
              <a:rPr lang="zh-TW" altLang="en-US" dirty="0">
                <a:latin typeface="新細明體" panose="02020500000000000000" pitchFamily="18" charset="-120"/>
              </a:rPr>
              <a:t>、</a:t>
            </a:r>
            <a:r>
              <a:rPr lang="zh-TW" altLang="en-US" dirty="0" smtClean="0">
                <a:latin typeface="新細明體" panose="02020500000000000000" pitchFamily="18" charset="-120"/>
              </a:rPr>
              <a:t>「不需處理</a:t>
            </a:r>
            <a:r>
              <a:rPr lang="zh-TW" altLang="en-US" dirty="0">
                <a:latin typeface="新細明體" panose="02020500000000000000" pitchFamily="18" charset="-120"/>
              </a:rPr>
              <a:t>郵件</a:t>
            </a:r>
            <a:r>
              <a:rPr lang="zh-TW" altLang="en-US" dirty="0" smtClean="0">
                <a:latin typeface="新細明體" panose="02020500000000000000" pitchFamily="18" charset="-120"/>
              </a:rPr>
              <a:t>」。這個牽涉到收件者與寄件者的</a:t>
            </a:r>
            <a:r>
              <a:rPr lang="zh-TW" altLang="en-US" dirty="0" smtClean="0">
                <a:solidFill>
                  <a:srgbClr val="FF0000"/>
                </a:solidFill>
                <a:latin typeface="新細明體" panose="02020500000000000000" pitchFamily="18" charset="-120"/>
              </a:rPr>
              <a:t>互動關係</a:t>
            </a:r>
            <a:endParaRPr lang="en-US" altLang="zh-TW" dirty="0" smtClean="0">
              <a:solidFill>
                <a:srgbClr val="FF0000"/>
              </a:solidFill>
              <a:latin typeface="新細明體" panose="02020500000000000000" pitchFamily="18" charset="-120"/>
            </a:endParaRPr>
          </a:p>
          <a:p>
            <a:r>
              <a:rPr lang="zh-TW" altLang="en-US" dirty="0" smtClean="0">
                <a:latin typeface="新細明體" panose="02020500000000000000" pitchFamily="18" charset="-120"/>
              </a:rPr>
              <a:t>等「外部知識」，不好從文件內容獲得，因此難以保證分類的效果。</a:t>
            </a:r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838200" y="1690688"/>
            <a:ext cx="112419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200" dirty="0" smtClean="0"/>
              <a:t>文件分類（</a:t>
            </a:r>
            <a:r>
              <a:rPr lang="en-US" altLang="zh-TW" sz="2200" dirty="0" smtClean="0"/>
              <a:t>document classification or text categorization</a:t>
            </a:r>
            <a:r>
              <a:rPr lang="zh-TW" altLang="en-US" sz="2200" dirty="0" smtClean="0"/>
              <a:t>）是指依</a:t>
            </a:r>
            <a:r>
              <a:rPr lang="zh-TW" altLang="en-US" sz="2200" dirty="0" smtClean="0">
                <a:solidFill>
                  <a:srgbClr val="FF0000"/>
                </a:solidFill>
              </a:rPr>
              <a:t>文件內容</a:t>
            </a:r>
            <a:r>
              <a:rPr lang="zh-TW" altLang="en-US" sz="2200" dirty="0" smtClean="0"/>
              <a:t>給定「類別」（</a:t>
            </a:r>
            <a:r>
              <a:rPr lang="en-US" altLang="zh-TW" sz="2200" dirty="0" smtClean="0"/>
              <a:t>class </a:t>
            </a:r>
            <a:r>
              <a:rPr lang="zh-TW" altLang="en-US" sz="2200" dirty="0" smtClean="0"/>
              <a:t>）的意思。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43596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Introduction</a:t>
            </a:r>
            <a:r>
              <a:rPr lang="zh-TW" altLang="zh-TW" b="1" dirty="0" smtClean="0"/>
              <a:t>：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600" dirty="0"/>
              <a:t>電腦</a:t>
            </a:r>
            <a:r>
              <a:rPr lang="zh-TW" altLang="en-US" sz="2600" dirty="0" smtClean="0"/>
              <a:t>在分析</a:t>
            </a:r>
            <a:r>
              <a:rPr lang="zh-TW" altLang="en-US" sz="2600" dirty="0"/>
              <a:t>文件時</a:t>
            </a:r>
            <a:r>
              <a:rPr lang="zh-TW" altLang="en-US" sz="2600" dirty="0" smtClean="0"/>
              <a:t>，經常</a:t>
            </a:r>
            <a:r>
              <a:rPr lang="zh-TW" altLang="en-US" sz="2600" dirty="0"/>
              <a:t>將文件分解成一個個語意較小的</a:t>
            </a:r>
            <a:r>
              <a:rPr lang="zh-TW" altLang="en-US" sz="2600" dirty="0" smtClean="0"/>
              <a:t>單位</a:t>
            </a:r>
            <a:r>
              <a:rPr lang="en-US" altLang="zh-TW" sz="2600" dirty="0" smtClean="0"/>
              <a:t>(word)</a:t>
            </a:r>
            <a:r>
              <a:rPr lang="zh-TW" altLang="en-US" sz="2600" dirty="0" smtClean="0"/>
              <a:t>，</a:t>
            </a:r>
            <a:r>
              <a:rPr lang="zh-TW" altLang="en-US" sz="2600" dirty="0"/>
              <a:t>通常為文件的</a:t>
            </a:r>
            <a:r>
              <a:rPr lang="zh-TW" altLang="en-US" sz="2600" dirty="0">
                <a:solidFill>
                  <a:srgbClr val="FF0000"/>
                </a:solidFill>
              </a:rPr>
              <a:t>關鍵詞彙</a:t>
            </a:r>
            <a:r>
              <a:rPr lang="zh-TW" altLang="en-US" sz="2600" dirty="0" smtClean="0"/>
              <a:t>，或</a:t>
            </a:r>
            <a:r>
              <a:rPr lang="zh-TW" altLang="en-US" sz="2600" dirty="0"/>
              <a:t>稱「特徵</a:t>
            </a:r>
            <a:r>
              <a:rPr lang="zh-TW" altLang="en-US" sz="2600" dirty="0" smtClean="0"/>
              <a:t>詞彙」，再從這些詞彙與類別中找出對應的關係。</a:t>
            </a:r>
            <a:endParaRPr lang="en-US" altLang="zh-TW" sz="2600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sz="2600" dirty="0" smtClean="0"/>
              <a:t>但是文件</a:t>
            </a:r>
            <a:r>
              <a:rPr lang="zh-TW" altLang="en-US" sz="2600" dirty="0"/>
              <a:t>依</a:t>
            </a:r>
            <a:r>
              <a:rPr lang="zh-TW" altLang="en-US" sz="2600" dirty="0" smtClean="0"/>
              <a:t>主題分類通常不是很容</a:t>
            </a:r>
            <a:r>
              <a:rPr lang="zh-TW" altLang="en-US" sz="2600" dirty="0"/>
              <a:t>易</a:t>
            </a:r>
            <a:r>
              <a:rPr lang="zh-TW" altLang="en-US" sz="2600" dirty="0" smtClean="0"/>
              <a:t>，因為我們定義的類別通常是比較為抽象的主題。</a:t>
            </a:r>
            <a:r>
              <a:rPr lang="en-US" altLang="zh-TW" sz="2600" dirty="0" smtClean="0"/>
              <a:t/>
            </a:r>
            <a:br>
              <a:rPr lang="en-US" altLang="zh-TW" sz="2600" dirty="0" smtClean="0"/>
            </a:br>
            <a:endParaRPr lang="en-US" altLang="zh-TW" sz="2600" dirty="0" smtClean="0"/>
          </a:p>
          <a:p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4823255" y="3262630"/>
            <a:ext cx="16969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/>
              <a:t>關鍵詞</a:t>
            </a:r>
          </a:p>
          <a:p>
            <a:endParaRPr lang="zh-TW" altLang="en-US" dirty="0"/>
          </a:p>
        </p:txBody>
      </p:sp>
      <p:sp>
        <p:nvSpPr>
          <p:cNvPr id="6" name="燕尾形向右箭號 5"/>
          <p:cNvSpPr/>
          <p:nvPr/>
        </p:nvSpPr>
        <p:spPr>
          <a:xfrm>
            <a:off x="6001265" y="3427559"/>
            <a:ext cx="518984" cy="131805"/>
          </a:xfrm>
          <a:prstGeom prst="notched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6590270" y="326263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 smtClean="0"/>
              <a:t>類別</a:t>
            </a:r>
            <a:endParaRPr lang="zh-TW" altLang="en-US" sz="24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838200" y="4884301"/>
            <a:ext cx="11213326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 smtClean="0"/>
              <a:t>以「天災」為例</a:t>
            </a:r>
            <a:r>
              <a:rPr lang="zh-TW" altLang="en-US" sz="2000" dirty="0" smtClean="0">
                <a:latin typeface="新細明體" panose="02020500000000000000" pitchFamily="18" charset="-120"/>
              </a:rPr>
              <a:t>：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zh-TW" altLang="en-US" sz="2000" dirty="0" smtClean="0"/>
              <a:t>一篇報導豪雨過後出現淹水、土石流的新聞，便需根據「豪雨」、「淹水」、「土石流」等詞彙，</a:t>
            </a:r>
            <a:endParaRPr lang="en-US" altLang="zh-TW" sz="2000" dirty="0" smtClean="0"/>
          </a:p>
          <a:p>
            <a:r>
              <a:rPr lang="zh-TW" altLang="en-US" sz="2000" dirty="0" smtClean="0"/>
              <a:t>來判定其為「天災」類別，而不是只根據是否出現「天災」或「天然災害」來判定其類別。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8676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Introduction</a:t>
            </a:r>
            <a:r>
              <a:rPr lang="zh-TW" altLang="zh-TW" b="1" dirty="0" smtClean="0"/>
              <a:t>：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/>
              <a:t>特別注意的是，分類是根據</a:t>
            </a:r>
            <a:r>
              <a:rPr lang="zh-TW" altLang="en-US" sz="3200" dirty="0" smtClean="0">
                <a:solidFill>
                  <a:srgbClr val="FF0000"/>
                </a:solidFill>
              </a:rPr>
              <a:t>類別的定義</a:t>
            </a:r>
            <a:r>
              <a:rPr lang="zh-TW" altLang="en-US" sz="3200" dirty="0" smtClean="0"/>
              <a:t>，將所有符合其定義文件放在一起。</a:t>
            </a:r>
            <a:r>
              <a:rPr lang="en-US" altLang="zh-TW" sz="3200" dirty="0" smtClean="0"/>
              <a:t/>
            </a:r>
            <a:br>
              <a:rPr lang="en-US" altLang="zh-TW" sz="3200" dirty="0" smtClean="0"/>
            </a:br>
            <a:r>
              <a:rPr lang="en-US" altLang="zh-TW" sz="2400" dirty="0" smtClean="0"/>
              <a:t/>
            </a:r>
            <a:br>
              <a:rPr lang="en-US" altLang="zh-TW" sz="2400" dirty="0" smtClean="0"/>
            </a:br>
            <a:r>
              <a:rPr lang="en-US" altLang="zh-TW" sz="2400" dirty="0" smtClean="0"/>
              <a:t>Example</a:t>
            </a:r>
            <a:r>
              <a:rPr lang="zh-TW" altLang="en-US" sz="2400" dirty="0" smtClean="0">
                <a:latin typeface="新細明體" panose="02020500000000000000" pitchFamily="18" charset="-120"/>
              </a:rPr>
              <a:t>：</a:t>
            </a:r>
            <a:r>
              <a:rPr lang="zh-TW" altLang="en-US" sz="2400" dirty="0" smtClean="0"/>
              <a:t>高科技晶圓製程的文章與軍事消息報導同屬於「機密類」，但這兩種文章，卻不見得會有任何相似的內容。</a:t>
            </a:r>
          </a:p>
          <a:p>
            <a:pPr marL="0" indent="0">
              <a:buNone/>
            </a:pPr>
            <a:r>
              <a:rPr lang="en-US" altLang="zh-TW" sz="2600" dirty="0"/>
              <a:t/>
            </a:r>
            <a:br>
              <a:rPr lang="en-US" altLang="zh-TW" sz="2600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8557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 smtClean="0"/>
              <a:t>特徵詞選擇（</a:t>
            </a:r>
            <a:r>
              <a:rPr lang="en-US" altLang="zh-TW" sz="4000" dirty="0" smtClean="0"/>
              <a:t>feature selection</a:t>
            </a:r>
            <a:r>
              <a:rPr lang="zh-TW" altLang="en-US" sz="4000" dirty="0" smtClean="0"/>
              <a:t>）</a:t>
            </a:r>
            <a:r>
              <a:rPr lang="zh-TW" altLang="en-US" dirty="0"/>
              <a:t/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99285"/>
            <a:ext cx="10515600" cy="2356023"/>
          </a:xfrm>
        </p:spPr>
        <p:txBody>
          <a:bodyPr>
            <a:normAutofit fontScale="92500"/>
          </a:bodyPr>
          <a:lstStyle/>
          <a:p>
            <a:r>
              <a:rPr lang="zh-TW" altLang="en-US" sz="2400" dirty="0" smtClean="0"/>
              <a:t>通常只要</a:t>
            </a:r>
            <a:r>
              <a:rPr lang="zh-TW" altLang="en-US" sz="2400" dirty="0"/>
              <a:t>依空格將</a:t>
            </a:r>
            <a:r>
              <a:rPr lang="zh-TW" altLang="en-US" sz="2400" dirty="0" smtClean="0"/>
              <a:t>文件分解</a:t>
            </a:r>
            <a:r>
              <a:rPr lang="zh-TW" altLang="en-US" sz="2400" dirty="0"/>
              <a:t>成一個個詞</a:t>
            </a:r>
            <a:r>
              <a:rPr lang="zh-TW" altLang="en-US" sz="2400" dirty="0" smtClean="0"/>
              <a:t>（</a:t>
            </a:r>
            <a:r>
              <a:rPr lang="en-US" altLang="zh-TW" sz="2400" dirty="0" smtClean="0"/>
              <a:t>word</a:t>
            </a:r>
            <a:r>
              <a:rPr lang="zh-TW" altLang="en-US" sz="2400" dirty="0" smtClean="0"/>
              <a:t>），</a:t>
            </a:r>
            <a:r>
              <a:rPr lang="zh-TW" altLang="en-US" sz="2400" dirty="0"/>
              <a:t>再進行學習、分類，就有</a:t>
            </a:r>
            <a:r>
              <a:rPr lang="zh-TW" altLang="en-US" sz="2400" dirty="0" smtClean="0"/>
              <a:t>不錯的</a:t>
            </a:r>
            <a:r>
              <a:rPr lang="zh-TW" altLang="en-US" sz="2400" dirty="0"/>
              <a:t>效果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  <a:p>
            <a:endParaRPr lang="en-US" altLang="zh-TW" sz="2400" dirty="0" smtClean="0"/>
          </a:p>
          <a:p>
            <a:r>
              <a:rPr lang="zh-TW" altLang="en-US" sz="2400" dirty="0" smtClean="0"/>
              <a:t>不過，分類的文件通</a:t>
            </a:r>
            <a:r>
              <a:rPr lang="zh-TW" altLang="en-US" sz="2400" dirty="0"/>
              <a:t>常</a:t>
            </a:r>
            <a:r>
              <a:rPr lang="zh-TW" altLang="en-US" sz="2400" dirty="0" smtClean="0"/>
              <a:t>用</a:t>
            </a:r>
            <a:r>
              <a:rPr lang="zh-TW" altLang="en-US" sz="2400" dirty="0"/>
              <a:t>詞都很相似</a:t>
            </a:r>
            <a:r>
              <a:rPr lang="zh-TW" altLang="en-US" sz="2400" dirty="0" smtClean="0"/>
              <a:t>，光用一個</a:t>
            </a:r>
            <a:r>
              <a:rPr lang="zh-TW" altLang="en-US" sz="2400" dirty="0"/>
              <a:t>個</a:t>
            </a:r>
            <a:r>
              <a:rPr lang="en-US" altLang="zh-TW" sz="2400" dirty="0" smtClean="0"/>
              <a:t>word</a:t>
            </a:r>
            <a:r>
              <a:rPr lang="zh-TW" altLang="en-US" sz="2400" dirty="0" smtClean="0"/>
              <a:t>不</a:t>
            </a:r>
            <a:r>
              <a:rPr lang="zh-TW" altLang="en-US" sz="2400" dirty="0"/>
              <a:t>容易區別出不同的類別，因此把出現在鄰近的</a:t>
            </a:r>
            <a:r>
              <a:rPr lang="zh-TW" altLang="en-US" sz="2400" dirty="0" smtClean="0"/>
              <a:t>詞彙</a:t>
            </a:r>
            <a:r>
              <a:rPr lang="zh-TW" altLang="en-US" sz="2400" dirty="0"/>
              <a:t>組成一對一對</a:t>
            </a:r>
            <a:r>
              <a:rPr lang="zh-TW" altLang="en-US" sz="2400" dirty="0" smtClean="0"/>
              <a:t>的</a:t>
            </a:r>
            <a:r>
              <a:rPr lang="en-US" altLang="zh-TW" sz="2400" dirty="0" smtClean="0">
                <a:solidFill>
                  <a:srgbClr val="FF0000"/>
                </a:solidFill>
              </a:rPr>
              <a:t>word pair</a:t>
            </a:r>
            <a:r>
              <a:rPr lang="zh-TW" altLang="en-US" sz="2400" dirty="0" smtClean="0"/>
              <a:t>當作</a:t>
            </a:r>
            <a:r>
              <a:rPr lang="zh-TW" altLang="en-US" sz="2400" dirty="0"/>
              <a:t>文件的特徵，來增加區別能力</a:t>
            </a:r>
            <a:r>
              <a:rPr lang="zh-TW" altLang="en-US" sz="2400" dirty="0" smtClean="0"/>
              <a:t>。 </a:t>
            </a:r>
            <a:r>
              <a:rPr lang="en-US" altLang="zh-TW" sz="2400" dirty="0" smtClean="0"/>
              <a:t>(Al-</a:t>
            </a:r>
            <a:r>
              <a:rPr lang="en-US" altLang="zh-TW" sz="2400" dirty="0" err="1" smtClean="0"/>
              <a:t>Kofahi</a:t>
            </a:r>
            <a:r>
              <a:rPr lang="zh-TW" altLang="en-US" sz="2400" dirty="0" smtClean="0"/>
              <a:t>，為了對付</a:t>
            </a:r>
            <a:r>
              <a:rPr lang="en-US" altLang="zh-TW" sz="2400" dirty="0" smtClean="0"/>
              <a:t>13799</a:t>
            </a:r>
            <a:r>
              <a:rPr lang="zh-TW" altLang="en-US" sz="2400" dirty="0" smtClean="0"/>
              <a:t>個類別，使用了</a:t>
            </a:r>
            <a:r>
              <a:rPr lang="en-US" altLang="zh-TW" sz="2400" dirty="0" smtClean="0"/>
              <a:t>word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pair</a:t>
            </a:r>
            <a:r>
              <a:rPr lang="zh-TW" altLang="en-US" sz="2400" dirty="0" smtClean="0"/>
              <a:t>當特徵詞</a:t>
            </a:r>
            <a:r>
              <a:rPr lang="en-US" altLang="zh-TW" sz="2400" dirty="0" smtClean="0"/>
              <a:t>)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060621" y="3855308"/>
            <a:ext cx="105156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Example</a:t>
            </a:r>
            <a:r>
              <a:rPr lang="zh-TW" altLang="en-US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：</a:t>
            </a:r>
            <a:endParaRPr lang="en-US" altLang="zh-TW" dirty="0" smtClean="0"/>
          </a:p>
          <a:p>
            <a:r>
              <a:rPr lang="zh-TW" altLang="en-US" dirty="0" smtClean="0"/>
              <a:t>「</a:t>
            </a:r>
            <a:r>
              <a:rPr lang="zh-TW" altLang="en-US" dirty="0"/>
              <a:t>離家</a:t>
            </a:r>
            <a:r>
              <a:rPr lang="zh-TW" altLang="en-US" dirty="0" smtClean="0"/>
              <a:t>少年</a:t>
            </a:r>
            <a:r>
              <a:rPr lang="zh-TW" altLang="en-US" dirty="0"/>
              <a:t>遭竊」跟「離家少年</a:t>
            </a:r>
            <a:r>
              <a:rPr lang="zh-TW" altLang="en-US" dirty="0" smtClean="0"/>
              <a:t>偷竊」，</a:t>
            </a:r>
            <a:r>
              <a:rPr lang="zh-TW" altLang="en-US" dirty="0"/>
              <a:t>兩者只有一詞之差</a:t>
            </a:r>
            <a:r>
              <a:rPr lang="zh-TW" altLang="en-US" dirty="0" smtClean="0"/>
              <a:t>，前者</a:t>
            </a:r>
            <a:r>
              <a:rPr lang="zh-TW" altLang="en-US" dirty="0"/>
              <a:t>可能要分在「偷竊</a:t>
            </a:r>
            <a:r>
              <a:rPr lang="zh-TW" altLang="en-US" dirty="0" smtClean="0"/>
              <a:t>報案</a:t>
            </a:r>
            <a:r>
              <a:rPr lang="zh-TW" altLang="en-US" dirty="0"/>
              <a:t>」的類別，而後者可能要分在「少年犯罪」的類別</a:t>
            </a:r>
            <a:r>
              <a:rPr lang="zh-TW" altLang="en-US" dirty="0" smtClean="0"/>
              <a:t>。</a:t>
            </a:r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sz="1600" dirty="0" smtClean="0"/>
              <a:t>(</a:t>
            </a:r>
            <a:r>
              <a:rPr lang="zh-TW" altLang="en-US" sz="1600" dirty="0" smtClean="0"/>
              <a:t>離家</a:t>
            </a:r>
            <a:r>
              <a:rPr lang="zh-TW" altLang="en-US" sz="1600" dirty="0"/>
              <a:t>，少年，遭竊，</a:t>
            </a:r>
            <a:r>
              <a:rPr lang="zh-TW" altLang="en-US" sz="1600" dirty="0" smtClean="0"/>
              <a:t>偷竊</a:t>
            </a:r>
            <a:r>
              <a:rPr lang="en-US" altLang="zh-TW" sz="1600" dirty="0" smtClean="0"/>
              <a:t>)</a:t>
            </a:r>
            <a:r>
              <a:rPr lang="zh-TW" altLang="en-US" sz="1600" dirty="0">
                <a:latin typeface="新細明體" panose="02020500000000000000" pitchFamily="18" charset="-120"/>
              </a:rPr>
              <a:t> ： </a:t>
            </a:r>
            <a:endParaRPr lang="en-US" altLang="zh-TW" sz="1600" dirty="0" smtClean="0">
              <a:latin typeface="新細明體" panose="02020500000000000000" pitchFamily="18" charset="-120"/>
            </a:endParaRPr>
          </a:p>
          <a:p>
            <a:r>
              <a:rPr lang="zh-TW" altLang="en-US" sz="1600" dirty="0" smtClean="0"/>
              <a:t>相似度達 </a:t>
            </a:r>
            <a:r>
              <a:rPr lang="en-US" altLang="zh-TW" sz="1600" dirty="0" smtClean="0"/>
              <a:t>2/3</a:t>
            </a:r>
          </a:p>
          <a:p>
            <a:endParaRPr lang="en-US" altLang="zh-TW" sz="1600" dirty="0" smtClean="0"/>
          </a:p>
          <a:p>
            <a:r>
              <a:rPr lang="en-US" altLang="zh-TW" sz="1600" dirty="0" smtClean="0"/>
              <a:t>(</a:t>
            </a:r>
            <a:r>
              <a:rPr lang="zh-TW" altLang="en-US" sz="1600" dirty="0" smtClean="0"/>
              <a:t>離家，少年，遭竊，偷竊，離家</a:t>
            </a:r>
            <a:r>
              <a:rPr lang="en-US" altLang="zh-TW" sz="1600" dirty="0" smtClean="0"/>
              <a:t>-</a:t>
            </a:r>
            <a:r>
              <a:rPr lang="zh-TW" altLang="en-US" sz="1600" dirty="0" smtClean="0"/>
              <a:t>少年，離家</a:t>
            </a:r>
            <a:r>
              <a:rPr lang="en-US" altLang="zh-TW" sz="1600" dirty="0" smtClean="0"/>
              <a:t>-</a:t>
            </a:r>
            <a:r>
              <a:rPr lang="zh-TW" altLang="en-US" sz="1600" dirty="0" smtClean="0"/>
              <a:t>遭竊，少年</a:t>
            </a:r>
            <a:r>
              <a:rPr lang="en-US" altLang="zh-TW" sz="1600" dirty="0" smtClean="0"/>
              <a:t>-</a:t>
            </a:r>
            <a:r>
              <a:rPr lang="zh-TW" altLang="en-US" sz="1600" dirty="0" smtClean="0"/>
              <a:t>遭竊，離家偷竊，少年</a:t>
            </a:r>
            <a:r>
              <a:rPr lang="en-US" altLang="zh-TW" sz="1600" dirty="0" smtClean="0"/>
              <a:t>-</a:t>
            </a:r>
            <a:r>
              <a:rPr lang="zh-TW" altLang="en-US" sz="1600" dirty="0" smtClean="0"/>
              <a:t>偷竊</a:t>
            </a:r>
            <a:r>
              <a:rPr lang="en-US" altLang="zh-TW" sz="1600" dirty="0" smtClean="0"/>
              <a:t>)</a:t>
            </a:r>
            <a:r>
              <a:rPr lang="zh-TW" altLang="en-US" sz="1600" dirty="0" smtClean="0"/>
              <a:t> </a:t>
            </a:r>
            <a:r>
              <a:rPr lang="zh-TW" altLang="en-US" sz="1600" dirty="0" smtClean="0">
                <a:latin typeface="新細明體" panose="02020500000000000000" pitchFamily="18" charset="-120"/>
              </a:rPr>
              <a:t>：</a:t>
            </a:r>
            <a:r>
              <a:rPr lang="zh-TW" altLang="en-US" sz="1600" dirty="0" smtClean="0"/>
              <a:t> </a:t>
            </a:r>
            <a:endParaRPr lang="en-US" altLang="zh-TW" sz="1600" dirty="0" smtClean="0"/>
          </a:p>
          <a:p>
            <a:r>
              <a:rPr lang="zh-TW" altLang="en-US" sz="1600" dirty="0" smtClean="0"/>
              <a:t>相似度降至 </a:t>
            </a:r>
            <a:r>
              <a:rPr lang="en-US" altLang="zh-TW" sz="1600" dirty="0" smtClean="0"/>
              <a:t>3/6</a:t>
            </a:r>
            <a:r>
              <a:rPr lang="zh-TW" altLang="en-US" sz="1600" dirty="0" smtClean="0"/>
              <a:t>，有助於區別不同的文</a:t>
            </a:r>
            <a:r>
              <a:rPr lang="zh-TW" altLang="en-US" sz="1600" dirty="0"/>
              <a:t>件</a:t>
            </a:r>
            <a:endParaRPr lang="en-US" altLang="zh-TW" sz="1600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68874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7729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特徵</a:t>
            </a:r>
            <a:r>
              <a:rPr lang="zh-TW" altLang="en-US" sz="4000" dirty="0" smtClean="0"/>
              <a:t>詞刪減（</a:t>
            </a:r>
            <a:r>
              <a:rPr lang="en-US" altLang="zh-TW" sz="4000" dirty="0" smtClean="0"/>
              <a:t>feature reduction</a:t>
            </a:r>
            <a:r>
              <a:rPr lang="zh-TW" altLang="en-US" sz="4000" dirty="0" smtClean="0"/>
              <a:t>）</a:t>
            </a:r>
            <a:r>
              <a:rPr lang="zh-TW" altLang="en-US" dirty="0"/>
              <a:t/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07787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dirty="0"/>
              <a:t>決定特徵選擇策略後，常會因全部文件的特徵詞太多，導致系統耗費過多</a:t>
            </a:r>
            <a:r>
              <a:rPr lang="zh-TW" altLang="en-US" dirty="0" smtClean="0"/>
              <a:t>的記憶</a:t>
            </a:r>
            <a:r>
              <a:rPr lang="zh-TW" altLang="en-US" dirty="0"/>
              <a:t>空間或計算時間，而效率不佳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/>
              <a:t>然而要刪減多少詞彙，才不會大幅影響</a:t>
            </a:r>
            <a:r>
              <a:rPr lang="zh-TW" altLang="en-US" dirty="0" smtClean="0"/>
              <a:t>成效。以</a:t>
            </a:r>
            <a:r>
              <a:rPr lang="en-US" altLang="zh-TW" dirty="0" smtClean="0"/>
              <a:t>Reuters</a:t>
            </a:r>
            <a:r>
              <a:rPr lang="zh-TW" altLang="en-US" dirty="0" smtClean="0"/>
              <a:t>的</a:t>
            </a:r>
            <a:r>
              <a:rPr lang="zh-TW" altLang="en-US" dirty="0"/>
              <a:t>測試集</a:t>
            </a:r>
            <a:r>
              <a:rPr lang="zh-TW" altLang="en-US" dirty="0" smtClean="0"/>
              <a:t>試驗三</a:t>
            </a:r>
            <a:r>
              <a:rPr lang="zh-TW" altLang="en-US" dirty="0"/>
              <a:t>種特徵詞刪減的成效</a:t>
            </a:r>
            <a:r>
              <a:rPr lang="zh-TW" altLang="en-US" dirty="0" smtClean="0"/>
              <a:t>，三種方法各有好壞，但是保留的詞彙越多效過越好。</a:t>
            </a:r>
            <a:r>
              <a:rPr lang="en-US" altLang="zh-TW" dirty="0" smtClean="0"/>
              <a:t>[Ng, 1997]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014421"/>
            <a:ext cx="10058400" cy="238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89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特徵詞刪減（</a:t>
            </a:r>
            <a:r>
              <a:rPr lang="en-US" altLang="zh-TW" dirty="0"/>
              <a:t>feature reduction</a:t>
            </a:r>
            <a:r>
              <a:rPr lang="zh-TW" altLang="en-US" dirty="0"/>
              <a:t>）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Bekkerman</a:t>
            </a:r>
            <a:r>
              <a:rPr lang="zh-TW" altLang="en-US" dirty="0" smtClean="0"/>
              <a:t>發現對</a:t>
            </a:r>
            <a:r>
              <a:rPr lang="zh-TW" altLang="en-US" dirty="0" smtClean="0"/>
              <a:t>路透社文件刪減到剩下</a:t>
            </a:r>
            <a:r>
              <a:rPr lang="en-US" altLang="zh-TW" dirty="0" smtClean="0"/>
              <a:t>50</a:t>
            </a:r>
            <a:r>
              <a:rPr lang="zh-TW" altLang="en-US" dirty="0" smtClean="0"/>
              <a:t>個詞時，發現分類成效就達到最大值。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227" y="2504303"/>
            <a:ext cx="5573444" cy="435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4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 smtClean="0"/>
              <a:t>摘要處理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548363"/>
            <a:ext cx="10515600" cy="2414038"/>
          </a:xfrm>
        </p:spPr>
        <p:txBody>
          <a:bodyPr>
            <a:normAutofit/>
          </a:bodyPr>
          <a:lstStyle/>
          <a:p>
            <a:r>
              <a:rPr lang="zh-TW" altLang="en-US" dirty="0"/>
              <a:t>摘要的目的，是希望</a:t>
            </a:r>
            <a:r>
              <a:rPr lang="zh-TW" altLang="en-US" dirty="0" smtClean="0"/>
              <a:t>能</a:t>
            </a:r>
            <a:r>
              <a:rPr lang="zh-TW" altLang="en-US" dirty="0"/>
              <a:t>夠</a:t>
            </a:r>
            <a:r>
              <a:rPr lang="zh-TW" altLang="en-US" dirty="0" smtClean="0"/>
              <a:t>去除文件多餘</a:t>
            </a:r>
            <a:r>
              <a:rPr lang="zh-TW" altLang="en-US" dirty="0"/>
              <a:t>的訊息，留下精華的</a:t>
            </a:r>
            <a:r>
              <a:rPr lang="zh-TW" altLang="en-US" dirty="0" smtClean="0"/>
              <a:t>部分</a:t>
            </a:r>
            <a:r>
              <a:rPr lang="zh-TW" altLang="en-US" dirty="0"/>
              <a:t>，</a:t>
            </a:r>
            <a:r>
              <a:rPr lang="zh-TW" altLang="en-US" dirty="0" smtClean="0"/>
              <a:t>以節省使用者</a:t>
            </a:r>
            <a:r>
              <a:rPr lang="zh-TW" altLang="en-US" dirty="0"/>
              <a:t>閱讀文件的力氣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/>
              <a:t>基於這樣的觀察，文件自動摘要的技術，可能</a:t>
            </a:r>
            <a:r>
              <a:rPr lang="zh-TW" altLang="en-US" dirty="0" smtClean="0"/>
              <a:t>有助於</a:t>
            </a:r>
            <a:r>
              <a:rPr lang="zh-TW" altLang="en-US" dirty="0"/>
              <a:t>文件的自動分類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838200" y="4058458"/>
            <a:ext cx="10515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/>
              <a:t>Example</a:t>
            </a:r>
            <a:r>
              <a:rPr lang="zh-TW" altLang="en-US" sz="2200" dirty="0">
                <a:latin typeface="新細明體" panose="02020500000000000000" pitchFamily="18" charset="-120"/>
              </a:rPr>
              <a:t>：李祥賓，</a:t>
            </a:r>
            <a:r>
              <a:rPr lang="en-US" altLang="zh-TW" sz="2200" dirty="0">
                <a:latin typeface="新細明體" panose="02020500000000000000" pitchFamily="18" charset="-120"/>
              </a:rPr>
              <a:t>”</a:t>
            </a:r>
            <a:r>
              <a:rPr lang="zh-TW" altLang="en-US" sz="2200" dirty="0">
                <a:latin typeface="新細明體" panose="02020500000000000000" pitchFamily="18" charset="-120"/>
              </a:rPr>
              <a:t>新聞文件摘要研究</a:t>
            </a:r>
            <a:r>
              <a:rPr lang="en-US" altLang="zh-TW" sz="2200" dirty="0">
                <a:latin typeface="新細明體" panose="02020500000000000000" pitchFamily="18" charset="-120"/>
              </a:rPr>
              <a:t>”</a:t>
            </a:r>
            <a:r>
              <a:rPr lang="zh-TW" altLang="en-US" sz="2200" dirty="0">
                <a:latin typeface="新細明體" panose="02020500000000000000" pitchFamily="18" charset="-120"/>
              </a:rPr>
              <a:t>，</a:t>
            </a:r>
            <a:r>
              <a:rPr lang="en-US" altLang="zh-TW" sz="2200" dirty="0">
                <a:latin typeface="新細明體" panose="02020500000000000000" pitchFamily="18" charset="-120"/>
              </a:rPr>
              <a:t>2001</a:t>
            </a:r>
            <a:r>
              <a:rPr lang="zh-TW" altLang="en-US" sz="2200" dirty="0" smtClean="0">
                <a:latin typeface="新細明體" panose="02020500000000000000" pitchFamily="18" charset="-120"/>
              </a:rPr>
              <a:t>年</a:t>
            </a:r>
            <a:endParaRPr lang="en-US" altLang="zh-TW" sz="2200" dirty="0" smtClean="0">
              <a:latin typeface="新細明體" panose="02020500000000000000" pitchFamily="18" charset="-120"/>
            </a:endParaRPr>
          </a:p>
          <a:p>
            <a:r>
              <a:rPr lang="zh-TW" altLang="en-US" sz="2200" dirty="0" smtClean="0">
                <a:latin typeface="新細明體" panose="02020500000000000000" pitchFamily="18" charset="-120"/>
              </a:rPr>
              <a:t>希望透過</a:t>
            </a:r>
            <a:r>
              <a:rPr lang="zh-TW" altLang="en-US" sz="2200" dirty="0" smtClean="0"/>
              <a:t>精</a:t>
            </a:r>
            <a:r>
              <a:rPr lang="zh-TW" altLang="en-US" sz="2200" dirty="0"/>
              <a:t>簡摘要來協助使用者選擇自己所需求的 文件</a:t>
            </a:r>
            <a:r>
              <a:rPr lang="zh-TW" altLang="en-US" sz="2200" dirty="0" smtClean="0"/>
              <a:t>。</a:t>
            </a:r>
            <a:r>
              <a:rPr lang="en-US" altLang="zh-TW" sz="2200" dirty="0"/>
              <a:t/>
            </a:r>
            <a:br>
              <a:rPr lang="en-US" altLang="zh-TW" sz="2200" dirty="0"/>
            </a:br>
            <a:r>
              <a:rPr lang="zh-TW" altLang="en-US" sz="2200" dirty="0"/>
              <a:t>作者用</a:t>
            </a:r>
            <a:r>
              <a:rPr lang="zh-TW" altLang="en-US" sz="2200" dirty="0" smtClean="0"/>
              <a:t>路透社</a:t>
            </a:r>
            <a:r>
              <a:rPr lang="en-US" altLang="zh-TW" sz="2200" dirty="0" smtClean="0"/>
              <a:t>(Reuters)</a:t>
            </a:r>
            <a:r>
              <a:rPr lang="zh-TW" altLang="en-US" sz="2200" dirty="0" smtClean="0"/>
              <a:t>的</a:t>
            </a:r>
            <a:r>
              <a:rPr lang="zh-TW" altLang="en-US" sz="2200" dirty="0"/>
              <a:t>新聞資料做實驗，每篇文件取重要的三個句子做分類，並用全文分類做比較</a:t>
            </a:r>
            <a:r>
              <a:rPr lang="zh-TW" altLang="en-US" sz="2200" dirty="0" smtClean="0"/>
              <a:t>，實驗</a:t>
            </a:r>
            <a:r>
              <a:rPr lang="zh-TW" altLang="en-US" sz="2200" dirty="0"/>
              <a:t>結果為摘要前正確率</a:t>
            </a:r>
            <a:r>
              <a:rPr lang="en-US" altLang="zh-TW" sz="2200" dirty="0"/>
              <a:t>65</a:t>
            </a:r>
            <a:r>
              <a:rPr lang="en-US" altLang="zh-TW" sz="2200" dirty="0" smtClean="0"/>
              <a:t>%</a:t>
            </a:r>
            <a:r>
              <a:rPr lang="zh-TW" altLang="en-US" sz="2200" dirty="0" smtClean="0"/>
              <a:t>，摘要</a:t>
            </a:r>
            <a:r>
              <a:rPr lang="zh-TW" altLang="en-US" sz="2200" dirty="0"/>
              <a:t>後正確率</a:t>
            </a:r>
            <a:r>
              <a:rPr lang="en-US" altLang="zh-TW" sz="2200" dirty="0"/>
              <a:t>71.9</a:t>
            </a:r>
            <a:r>
              <a:rPr lang="en-US" altLang="zh-TW" sz="2200" dirty="0" smtClean="0"/>
              <a:t>%</a:t>
            </a:r>
            <a:r>
              <a:rPr lang="zh-TW" altLang="en-US" sz="2200" dirty="0" smtClean="0"/>
              <a:t>，顯示了摘要後對於文件的分類有幫助。</a:t>
            </a:r>
            <a:endParaRPr lang="en-US" altLang="zh-TW" sz="2200" dirty="0"/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300" y="5888005"/>
            <a:ext cx="2857500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071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分類架構的設計（</a:t>
            </a:r>
            <a:r>
              <a:rPr lang="en-US" altLang="zh-TW" dirty="0" smtClean="0"/>
              <a:t>classification scheme</a:t>
            </a:r>
            <a:r>
              <a:rPr lang="zh-TW" altLang="en-US" dirty="0" smtClean="0"/>
              <a:t>）</a:t>
            </a:r>
            <a:r>
              <a:rPr lang="zh-TW" altLang="en-US" dirty="0"/>
              <a:t/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單層式</a:t>
            </a:r>
            <a:r>
              <a:rPr lang="zh-TW" altLang="en-US" dirty="0" smtClean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：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/>
            </a:r>
            <a:b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</a:br>
            <a:r>
              <a:rPr lang="zh-TW" altLang="en-US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應用類別數較少的情況，例如新聞常分成</a:t>
            </a:r>
            <a:r>
              <a:rPr lang="zh-TW" altLang="en-US" dirty="0" smtClean="0">
                <a:latin typeface="新細明體" panose="02020500000000000000" pitchFamily="18" charset="-120"/>
              </a:rPr>
              <a:t>：政治、社會、</a:t>
            </a:r>
            <a:r>
              <a:rPr lang="en-US" altLang="zh-TW" dirty="0" smtClean="0">
                <a:latin typeface="新細明體" panose="02020500000000000000" pitchFamily="18" charset="-120"/>
              </a:rPr>
              <a:t/>
            </a:r>
            <a:br>
              <a:rPr lang="en-US" altLang="zh-TW" dirty="0" smtClean="0">
                <a:latin typeface="新細明體" panose="02020500000000000000" pitchFamily="18" charset="-120"/>
              </a:rPr>
            </a:br>
            <a:r>
              <a:rPr lang="zh-TW" altLang="en-US" dirty="0" smtClean="0">
                <a:latin typeface="新細明體" panose="02020500000000000000" pitchFamily="18" charset="-120"/>
              </a:rPr>
              <a:t>文藝、體育、娛樂等版面。</a:t>
            </a:r>
            <a:endParaRPr lang="en-US" altLang="zh-TW" dirty="0" smtClean="0">
              <a:latin typeface="新細明體" panose="02020500000000000000" pitchFamily="18" charset="-120"/>
            </a:endParaRPr>
          </a:p>
          <a:p>
            <a:endParaRPr lang="en-US" altLang="zh-TW" dirty="0" smtClean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dirty="0" smtClean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階層式</a:t>
            </a:r>
            <a:r>
              <a:rPr lang="zh-TW" altLang="en-US" dirty="0" smtClean="0">
                <a:solidFill>
                  <a:srgbClr val="FF0000"/>
                </a:solidFill>
                <a:latin typeface="新細明體" panose="02020500000000000000" pitchFamily="18" charset="-120"/>
              </a:rPr>
              <a:t>：</a:t>
            </a:r>
            <a:r>
              <a:rPr lang="en-US" altLang="zh-TW" dirty="0" smtClean="0">
                <a:latin typeface="新細明體" panose="02020500000000000000" pitchFamily="18" charset="-120"/>
              </a:rPr>
              <a:t/>
            </a:r>
            <a:br>
              <a:rPr lang="en-US" altLang="zh-TW" dirty="0" smtClean="0">
                <a:latin typeface="新細明體" panose="02020500000000000000" pitchFamily="18" charset="-120"/>
              </a:rPr>
            </a:br>
            <a:r>
              <a:rPr lang="zh-TW" altLang="en-US" dirty="0" smtClean="0">
                <a:latin typeface="新細明體" panose="02020500000000000000" pitchFamily="18" charset="-120"/>
              </a:rPr>
              <a:t>應用類別</a:t>
            </a:r>
            <a:r>
              <a:rPr lang="zh-TW" altLang="en-US" dirty="0">
                <a:latin typeface="新細明體" panose="02020500000000000000" pitchFamily="18" charset="-120"/>
              </a:rPr>
              <a:t>數</a:t>
            </a:r>
            <a:r>
              <a:rPr lang="zh-TW" altLang="en-US" dirty="0" smtClean="0">
                <a:latin typeface="新細明體" panose="02020500000000000000" pitchFamily="18" charset="-120"/>
              </a:rPr>
              <a:t>較多，類別先依大類別區分，大類在向下逐層細分，越下的類別其主題越相近。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69844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分類架構（</a:t>
            </a:r>
            <a:r>
              <a:rPr lang="en-US" altLang="zh-TW" dirty="0" smtClean="0"/>
              <a:t>classification scheme</a:t>
            </a:r>
            <a:r>
              <a:rPr lang="zh-TW" altLang="en-US" dirty="0" smtClean="0"/>
              <a:t>）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74626"/>
          </a:xfrm>
        </p:spPr>
        <p:txBody>
          <a:bodyPr/>
          <a:lstStyle/>
          <a:p>
            <a:r>
              <a:rPr lang="zh-TW" altLang="en-US" dirty="0" smtClean="0"/>
              <a:t>此外，分類架構必須小心設計。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zh-TW" altLang="en-US" sz="24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1045028" y="2311858"/>
            <a:ext cx="69573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例如</a:t>
            </a:r>
            <a:r>
              <a:rPr lang="zh-TW" altLang="en-US" dirty="0">
                <a:latin typeface="新細明體" panose="02020500000000000000" pitchFamily="18" charset="-120"/>
              </a:rPr>
              <a:t>：「美國中學校園槍擊案」「</a:t>
            </a:r>
            <a:r>
              <a:rPr lang="zh-TW" altLang="en-US" dirty="0" smtClean="0">
                <a:latin typeface="新細明體" panose="02020500000000000000" pitchFamily="18" charset="-120"/>
              </a:rPr>
              <a:t>德國中學校園槍擊案</a:t>
            </a:r>
            <a:r>
              <a:rPr lang="zh-TW" altLang="en-US" dirty="0">
                <a:latin typeface="新細明體" panose="02020500000000000000" pitchFamily="18" charset="-120"/>
              </a:rPr>
              <a:t>」</a:t>
            </a:r>
            <a:r>
              <a:rPr lang="en-US" altLang="zh-TW" dirty="0">
                <a:latin typeface="新細明體" panose="02020500000000000000" pitchFamily="18" charset="-120"/>
              </a:rPr>
              <a:t/>
            </a:r>
            <a:br>
              <a:rPr lang="en-US" altLang="zh-TW" dirty="0">
                <a:latin typeface="新細明體" panose="02020500000000000000" pitchFamily="18" charset="-120"/>
              </a:rPr>
            </a:br>
            <a:r>
              <a:rPr lang="zh-TW" altLang="en-US" dirty="0">
                <a:latin typeface="新細明體" panose="02020500000000000000" pitchFamily="18" charset="-120"/>
              </a:rPr>
              <a:t>             若分類時按</a:t>
            </a:r>
            <a:r>
              <a:rPr lang="zh-TW" altLang="en-US" dirty="0">
                <a:solidFill>
                  <a:srgbClr val="FF0000"/>
                </a:solidFill>
                <a:latin typeface="新細明體" panose="02020500000000000000" pitchFamily="18" charset="-120"/>
              </a:rPr>
              <a:t>地區</a:t>
            </a:r>
            <a:r>
              <a:rPr lang="zh-TW" altLang="en-US" dirty="0">
                <a:latin typeface="新細明體" panose="02020500000000000000" pitchFamily="18" charset="-120"/>
              </a:rPr>
              <a:t>再按</a:t>
            </a:r>
            <a:r>
              <a:rPr lang="zh-TW" altLang="en-US" dirty="0">
                <a:solidFill>
                  <a:srgbClr val="FF0000"/>
                </a:solidFill>
                <a:latin typeface="新細明體" panose="02020500000000000000" pitchFamily="18" charset="-120"/>
              </a:rPr>
              <a:t>主題</a:t>
            </a:r>
            <a:r>
              <a:rPr lang="zh-TW" altLang="en-US" dirty="0">
                <a:latin typeface="新細明體" panose="02020500000000000000" pitchFamily="18" charset="-120"/>
              </a:rPr>
              <a:t>，就會發生內容相當但類別不同。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838200" y="3324874"/>
            <a:ext cx="6750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 smtClean="0"/>
              <a:t>原本看似毫無關係，最後卻有所關連。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045028" y="3871622"/>
            <a:ext cx="108318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例如</a:t>
            </a:r>
            <a:r>
              <a:rPr lang="zh-TW" altLang="en-US" dirty="0" smtClean="0">
                <a:latin typeface="新細明體" panose="02020500000000000000" pitchFamily="18" charset="-120"/>
              </a:rPr>
              <a:t>：「</a:t>
            </a:r>
            <a:r>
              <a:rPr lang="en-US" altLang="zh-TW" dirty="0" smtClean="0">
                <a:latin typeface="新細明體" panose="02020500000000000000" pitchFamily="18" charset="-120"/>
              </a:rPr>
              <a:t>AI</a:t>
            </a:r>
            <a:r>
              <a:rPr lang="zh-TW" altLang="en-US" dirty="0" smtClean="0">
                <a:latin typeface="新細明體" panose="02020500000000000000" pitchFamily="18" charset="-120"/>
              </a:rPr>
              <a:t>」</a:t>
            </a:r>
            <a:r>
              <a:rPr lang="en-US" altLang="zh-TW" dirty="0" smtClean="0">
                <a:latin typeface="新細明體" panose="02020500000000000000" pitchFamily="18" charset="-120"/>
              </a:rPr>
              <a:t>(</a:t>
            </a:r>
            <a:r>
              <a:rPr lang="zh-TW" altLang="en-US" dirty="0" smtClean="0">
                <a:latin typeface="新細明體" panose="02020500000000000000" pitchFamily="18" charset="-120"/>
              </a:rPr>
              <a:t>人工智慧</a:t>
            </a:r>
            <a:r>
              <a:rPr lang="en-US" altLang="zh-TW" dirty="0" smtClean="0">
                <a:latin typeface="新細明體" panose="02020500000000000000" pitchFamily="18" charset="-120"/>
              </a:rPr>
              <a:t>)</a:t>
            </a:r>
            <a:r>
              <a:rPr lang="zh-TW" altLang="en-US" dirty="0" smtClean="0">
                <a:latin typeface="新細明體" panose="02020500000000000000" pitchFamily="18" charset="-120"/>
              </a:rPr>
              <a:t>底下有「機器學習類」，其下有一個「資訊分類」</a:t>
            </a:r>
            <a:r>
              <a:rPr lang="en-US" altLang="zh-TW" dirty="0" smtClean="0">
                <a:latin typeface="新細明體" panose="02020500000000000000" pitchFamily="18" charset="-120"/>
              </a:rPr>
              <a:t>(classification)</a:t>
            </a:r>
            <a:r>
              <a:rPr lang="zh-TW" altLang="en-US" dirty="0" smtClean="0">
                <a:latin typeface="新細明體" panose="02020500000000000000" pitchFamily="18" charset="-120"/>
              </a:rPr>
              <a:t>的個類別。</a:t>
            </a:r>
            <a:r>
              <a:rPr lang="en-US" altLang="zh-TW" dirty="0" smtClean="0">
                <a:latin typeface="新細明體" panose="02020500000000000000" pitchFamily="18" charset="-120"/>
              </a:rPr>
              <a:t/>
            </a:r>
            <a:br>
              <a:rPr lang="en-US" altLang="zh-TW" dirty="0" smtClean="0">
                <a:latin typeface="新細明體" panose="02020500000000000000" pitchFamily="18" charset="-120"/>
              </a:rPr>
            </a:br>
            <a:r>
              <a:rPr lang="en-US" altLang="zh-TW" dirty="0" smtClean="0">
                <a:latin typeface="新細明體" panose="02020500000000000000" pitchFamily="18" charset="-120"/>
              </a:rPr>
              <a:t>             </a:t>
            </a:r>
            <a:r>
              <a:rPr lang="zh-TW" altLang="en-US" dirty="0" smtClean="0">
                <a:latin typeface="新細明體" panose="02020500000000000000" pitchFamily="18" charset="-120"/>
              </a:rPr>
              <a:t>而另一個領域「</a:t>
            </a:r>
            <a:r>
              <a:rPr lang="en-US" altLang="zh-TW" dirty="0" smtClean="0">
                <a:latin typeface="新細明體" panose="02020500000000000000" pitchFamily="18" charset="-120"/>
              </a:rPr>
              <a:t>IR</a:t>
            </a:r>
            <a:r>
              <a:rPr lang="zh-TW" altLang="en-US" dirty="0" smtClean="0">
                <a:latin typeface="新細明體" panose="02020500000000000000" pitchFamily="18" charset="-120"/>
              </a:rPr>
              <a:t>」</a:t>
            </a:r>
            <a:r>
              <a:rPr lang="en-US" altLang="zh-TW" dirty="0" smtClean="0">
                <a:latin typeface="新細明體" panose="02020500000000000000" pitchFamily="18" charset="-120"/>
              </a:rPr>
              <a:t>(</a:t>
            </a:r>
            <a:r>
              <a:rPr lang="zh-TW" altLang="en-US" dirty="0" smtClean="0">
                <a:latin typeface="新細明體" panose="02020500000000000000" pitchFamily="18" charset="-120"/>
              </a:rPr>
              <a:t>資訊檢索</a:t>
            </a:r>
            <a:r>
              <a:rPr lang="en-US" altLang="zh-TW" dirty="0" smtClean="0">
                <a:latin typeface="新細明體" panose="02020500000000000000" pitchFamily="18" charset="-120"/>
              </a:rPr>
              <a:t>)</a:t>
            </a:r>
            <a:r>
              <a:rPr lang="zh-TW" altLang="en-US" dirty="0" smtClean="0">
                <a:latin typeface="新細明體" panose="02020500000000000000" pitchFamily="18" charset="-120"/>
              </a:rPr>
              <a:t>底下有個「文件組織類」 ，其下有一個「文件分類」</a:t>
            </a:r>
            <a:r>
              <a:rPr lang="en-US" altLang="zh-TW" dirty="0" smtClean="0">
                <a:latin typeface="新細明體" panose="02020500000000000000" pitchFamily="18" charset="-120"/>
              </a:rPr>
              <a:t>(categorization)</a:t>
            </a:r>
            <a:br>
              <a:rPr lang="en-US" altLang="zh-TW" dirty="0" smtClean="0">
                <a:latin typeface="新細明體" panose="02020500000000000000" pitchFamily="18" charset="-120"/>
              </a:rPr>
            </a:br>
            <a:r>
              <a:rPr lang="zh-TW" altLang="en-US" dirty="0" smtClean="0">
                <a:latin typeface="新細明體" panose="02020500000000000000" pitchFamily="18" charset="-120"/>
              </a:rPr>
              <a:t>             如果以節點和節點的距離計算，彼此差了</a:t>
            </a:r>
            <a:r>
              <a:rPr lang="en-US" altLang="zh-TW" dirty="0" smtClean="0">
                <a:latin typeface="新細明體" panose="02020500000000000000" pitchFamily="18" charset="-120"/>
              </a:rPr>
              <a:t>6</a:t>
            </a:r>
            <a:r>
              <a:rPr lang="zh-TW" altLang="en-US" dirty="0" smtClean="0">
                <a:latin typeface="新細明體" panose="02020500000000000000" pitchFamily="18" charset="-120"/>
              </a:rPr>
              <a:t>個節點，但主題十分相近。</a:t>
            </a:r>
            <a:endParaRPr lang="en-US" altLang="zh-TW" dirty="0" smtClean="0">
              <a:latin typeface="新細明體" panose="02020500000000000000" pitchFamily="18" charset="-120"/>
            </a:endParaRPr>
          </a:p>
          <a:p>
            <a:endParaRPr lang="zh-TW" altLang="en-US" dirty="0"/>
          </a:p>
        </p:txBody>
      </p:sp>
      <p:grpSp>
        <p:nvGrpSpPr>
          <p:cNvPr id="114" name="群組 113"/>
          <p:cNvGrpSpPr/>
          <p:nvPr/>
        </p:nvGrpSpPr>
        <p:grpSpPr>
          <a:xfrm>
            <a:off x="8076662" y="4755804"/>
            <a:ext cx="3914565" cy="1957137"/>
            <a:chOff x="8076662" y="4755804"/>
            <a:chExt cx="3914565" cy="1957137"/>
          </a:xfrm>
        </p:grpSpPr>
        <p:sp>
          <p:nvSpPr>
            <p:cNvPr id="8" name="橢圓 7"/>
            <p:cNvSpPr/>
            <p:nvPr/>
          </p:nvSpPr>
          <p:spPr>
            <a:xfrm>
              <a:off x="9794191" y="4755804"/>
              <a:ext cx="154577" cy="1306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" name="直線接點 9"/>
            <p:cNvCxnSpPr>
              <a:stCxn id="8" idx="3"/>
              <a:endCxn id="13" idx="0"/>
            </p:cNvCxnSpPr>
            <p:nvPr/>
          </p:nvCxnSpPr>
          <p:spPr>
            <a:xfrm flipH="1">
              <a:off x="8492812" y="4867302"/>
              <a:ext cx="1324016" cy="4810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>
              <a:stCxn id="8" idx="5"/>
              <a:endCxn id="15" idx="0"/>
            </p:cNvCxnSpPr>
            <p:nvPr/>
          </p:nvCxnSpPr>
          <p:spPr>
            <a:xfrm>
              <a:off x="9926131" y="4867302"/>
              <a:ext cx="837677" cy="3279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橢圓 12"/>
            <p:cNvSpPr/>
            <p:nvPr/>
          </p:nvSpPr>
          <p:spPr>
            <a:xfrm>
              <a:off x="8415523" y="5348365"/>
              <a:ext cx="154577" cy="1306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10686519" y="5195258"/>
              <a:ext cx="154577" cy="1306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接點 17"/>
            <p:cNvCxnSpPr>
              <a:stCxn id="13" idx="5"/>
              <a:endCxn id="19" idx="0"/>
            </p:cNvCxnSpPr>
            <p:nvPr/>
          </p:nvCxnSpPr>
          <p:spPr>
            <a:xfrm>
              <a:off x="8547463" y="5459863"/>
              <a:ext cx="525067" cy="2143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橢圓 18"/>
            <p:cNvSpPr/>
            <p:nvPr/>
          </p:nvSpPr>
          <p:spPr>
            <a:xfrm>
              <a:off x="8995241" y="5674204"/>
              <a:ext cx="154577" cy="1306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2" name="直線接點 21"/>
            <p:cNvCxnSpPr>
              <a:stCxn id="19" idx="3"/>
              <a:endCxn id="27" idx="0"/>
            </p:cNvCxnSpPr>
            <p:nvPr/>
          </p:nvCxnSpPr>
          <p:spPr>
            <a:xfrm flipH="1">
              <a:off x="8743673" y="5785702"/>
              <a:ext cx="274205" cy="3373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>
              <a:stCxn id="19" idx="5"/>
              <a:endCxn id="36" idx="5"/>
            </p:cNvCxnSpPr>
            <p:nvPr/>
          </p:nvCxnSpPr>
          <p:spPr>
            <a:xfrm>
              <a:off x="9127181" y="5785702"/>
              <a:ext cx="667010" cy="5141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橢圓 26"/>
            <p:cNvSpPr/>
            <p:nvPr/>
          </p:nvSpPr>
          <p:spPr>
            <a:xfrm>
              <a:off x="8666384" y="6123058"/>
              <a:ext cx="154577" cy="13062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橢圓 35"/>
            <p:cNvSpPr/>
            <p:nvPr/>
          </p:nvSpPr>
          <p:spPr>
            <a:xfrm>
              <a:off x="9662251" y="6188372"/>
              <a:ext cx="154577" cy="1306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6" name="直線接點 55"/>
            <p:cNvCxnSpPr>
              <a:stCxn id="15" idx="3"/>
              <a:endCxn id="58" idx="0"/>
            </p:cNvCxnSpPr>
            <p:nvPr/>
          </p:nvCxnSpPr>
          <p:spPr>
            <a:xfrm flipH="1">
              <a:off x="10014361" y="5306756"/>
              <a:ext cx="694795" cy="236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橢圓 57"/>
            <p:cNvSpPr/>
            <p:nvPr/>
          </p:nvSpPr>
          <p:spPr>
            <a:xfrm>
              <a:off x="9937072" y="5543576"/>
              <a:ext cx="154577" cy="1306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1" name="直線接點 60"/>
            <p:cNvCxnSpPr>
              <a:stCxn id="15" idx="5"/>
              <a:endCxn id="62" idx="0"/>
            </p:cNvCxnSpPr>
            <p:nvPr/>
          </p:nvCxnSpPr>
          <p:spPr>
            <a:xfrm>
              <a:off x="10818459" y="5306756"/>
              <a:ext cx="280160" cy="4980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橢圓 61"/>
            <p:cNvSpPr/>
            <p:nvPr/>
          </p:nvSpPr>
          <p:spPr>
            <a:xfrm>
              <a:off x="11021330" y="5804832"/>
              <a:ext cx="154577" cy="1306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8" name="直線接點 77"/>
            <p:cNvCxnSpPr>
              <a:stCxn id="62" idx="4"/>
              <a:endCxn id="79" idx="4"/>
            </p:cNvCxnSpPr>
            <p:nvPr/>
          </p:nvCxnSpPr>
          <p:spPr>
            <a:xfrm>
              <a:off x="11098619" y="5935460"/>
              <a:ext cx="27214" cy="4081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橢圓 78"/>
            <p:cNvSpPr/>
            <p:nvPr/>
          </p:nvSpPr>
          <p:spPr>
            <a:xfrm>
              <a:off x="11048544" y="6212981"/>
              <a:ext cx="154577" cy="13062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文字方塊 90"/>
            <p:cNvSpPr txBox="1"/>
            <p:nvPr/>
          </p:nvSpPr>
          <p:spPr>
            <a:xfrm>
              <a:off x="8076662" y="6343609"/>
              <a:ext cx="13340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latin typeface="新細明體" panose="02020500000000000000" pitchFamily="18" charset="-120"/>
                </a:rPr>
                <a:t>classification</a:t>
              </a:r>
              <a:endParaRPr lang="zh-TW" altLang="en-US" dirty="0"/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10573851" y="6343609"/>
              <a:ext cx="1417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latin typeface="新細明體" panose="02020500000000000000" pitchFamily="18" charset="-120"/>
                </a:rPr>
                <a:t>categorization</a:t>
              </a:r>
              <a:endParaRPr lang="zh-TW" altLang="en-US" dirty="0"/>
            </a:p>
          </p:txBody>
        </p:sp>
      </p:grpSp>
      <p:sp>
        <p:nvSpPr>
          <p:cNvPr id="115" name="文字方塊 114"/>
          <p:cNvSpPr txBox="1"/>
          <p:nvPr/>
        </p:nvSpPr>
        <p:spPr>
          <a:xfrm>
            <a:off x="8830166" y="4803130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AI</a:t>
            </a:r>
            <a:endParaRPr lang="zh-TW" altLang="en-US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10242136" y="4697009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023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15" grpId="0"/>
      <p:bldP spid="1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分類不一致的現象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67061"/>
          </a:xfrm>
        </p:spPr>
        <p:txBody>
          <a:bodyPr/>
          <a:lstStyle/>
          <a:p>
            <a:r>
              <a:rPr lang="zh-TW" altLang="en-US" dirty="0" smtClean="0"/>
              <a:t>指的是索引詞幾乎一樣，卻被分在不同的類別。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sz="2400" dirty="0" smtClean="0"/>
              <a:t>Example</a:t>
            </a:r>
            <a:r>
              <a:rPr lang="zh-TW" altLang="en-US" sz="24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：</a:t>
            </a:r>
            <a:r>
              <a:rPr lang="en-US" altLang="zh-TW" sz="24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/>
            </a:r>
            <a:br>
              <a:rPr lang="en-US" altLang="zh-TW" sz="24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</a:br>
            <a:r>
              <a:rPr lang="zh-TW" altLang="en-US" sz="24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聘請一位</a:t>
            </a:r>
            <a:r>
              <a:rPr lang="en-US" altLang="zh-TW" sz="24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30</a:t>
            </a:r>
            <a:r>
              <a:rPr lang="zh-TW" altLang="en-US" sz="24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年經驗的分類專家做文件分類，類別共</a:t>
            </a:r>
            <a:r>
              <a:rPr lang="en-US" altLang="zh-TW" sz="24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500</a:t>
            </a:r>
            <a:r>
              <a:rPr lang="zh-TW" altLang="en-US" sz="24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多類，平均每篇文件被分到</a:t>
            </a:r>
            <a:r>
              <a:rPr lang="en-US" altLang="zh-TW" sz="24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5</a:t>
            </a:r>
            <a:r>
              <a:rPr lang="zh-TW" altLang="en-US" sz="24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類，但三個月後相同的文件又被分到不同的類別。</a:t>
            </a:r>
            <a:r>
              <a:rPr lang="en-US" altLang="zh-TW" sz="2400" dirty="0">
                <a:latin typeface="新細明體" panose="02020500000000000000" pitchFamily="18" charset="-120"/>
              </a:rPr>
              <a:t> [Kao, 2001]</a:t>
            </a:r>
            <a:endParaRPr lang="en-US" altLang="zh-TW" sz="2400" dirty="0" smtClean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endParaRPr lang="en-US" altLang="zh-TW" sz="2400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en-US" altLang="zh-TW" sz="2400" dirty="0" smtClean="0"/>
              <a:t>Example</a:t>
            </a:r>
            <a:r>
              <a:rPr lang="zh-TW" altLang="en-US" sz="2400" dirty="0" smtClean="0">
                <a:latin typeface="新細明體" panose="02020500000000000000" pitchFamily="18" charset="-120"/>
              </a:rPr>
              <a:t>：</a:t>
            </a:r>
            <a:r>
              <a:rPr lang="en-US" altLang="zh-TW" sz="2400" dirty="0">
                <a:latin typeface="新細明體" panose="02020500000000000000" pitchFamily="18" charset="-120"/>
              </a:rPr>
              <a:t/>
            </a:r>
            <a:br>
              <a:rPr lang="en-US" altLang="zh-TW" sz="2400" dirty="0">
                <a:latin typeface="新細明體" panose="02020500000000000000" pitchFamily="18" charset="-120"/>
              </a:rPr>
            </a:br>
            <a:r>
              <a:rPr lang="zh-TW" altLang="en-US" sz="2400" dirty="0" smtClean="0">
                <a:latin typeface="新細明體" panose="02020500000000000000" pitchFamily="18" charset="-120"/>
              </a:rPr>
              <a:t>比較好的分類器，得出比較差的分數，像報導郭泰源的文件，在訓練資料中</a:t>
            </a:r>
            <a:r>
              <a:rPr lang="en-US" altLang="zh-TW" sz="2400" dirty="0" smtClean="0">
                <a:latin typeface="新細明體" panose="02020500000000000000" pitchFamily="18" charset="-120"/>
              </a:rPr>
              <a:t/>
            </a:r>
            <a:br>
              <a:rPr lang="en-US" altLang="zh-TW" sz="2400" dirty="0" smtClean="0">
                <a:latin typeface="新細明體" panose="02020500000000000000" pitchFamily="18" charset="-120"/>
              </a:rPr>
            </a:br>
            <a:r>
              <a:rPr lang="zh-TW" altLang="en-US" sz="2400" dirty="0" smtClean="0">
                <a:latin typeface="新細明體" panose="02020500000000000000" pitchFamily="18" charset="-120"/>
              </a:rPr>
              <a:t>被分到「職業棒球」、有時分到「體育」。</a:t>
            </a:r>
            <a:r>
              <a:rPr lang="en-US" altLang="zh-TW" sz="2400" dirty="0" smtClean="0">
                <a:latin typeface="新細明體" panose="02020500000000000000" pitchFamily="18" charset="-120"/>
              </a:rPr>
              <a:t/>
            </a:r>
            <a:br>
              <a:rPr lang="en-US" altLang="zh-TW" sz="2400" dirty="0" smtClean="0">
                <a:latin typeface="新細明體" panose="02020500000000000000" pitchFamily="18" charset="-120"/>
              </a:rPr>
            </a:br>
            <a:r>
              <a:rPr lang="zh-TW" altLang="en-US" sz="2400" dirty="0" smtClean="0">
                <a:latin typeface="新細明體" panose="02020500000000000000" pitchFamily="18" charset="-120"/>
              </a:rPr>
              <a:t>比較好的分類器將測試文件分在「職業棒球」，但比較差的分類器分不到這麼細，只分在「體育」，但因為正</a:t>
            </a:r>
            <a:r>
              <a:rPr lang="zh-TW" altLang="en-US" sz="2400" dirty="0">
                <a:latin typeface="新細明體" panose="02020500000000000000" pitchFamily="18" charset="-120"/>
              </a:rPr>
              <a:t>確</a:t>
            </a:r>
            <a:r>
              <a:rPr lang="zh-TW" altLang="en-US" sz="2400" dirty="0" smtClean="0">
                <a:latin typeface="新細明體" panose="02020500000000000000" pitchFamily="18" charset="-120"/>
              </a:rPr>
              <a:t>答案是「體育」，因此較好的分類器數據反而較差。</a:t>
            </a:r>
            <a:endParaRPr lang="en-US" altLang="zh-TW" sz="2400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8331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分類不一致的現象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分類不一致是普遍且</a:t>
            </a:r>
            <a:r>
              <a:rPr lang="zh-TW" altLang="en-US" dirty="0" smtClean="0">
                <a:solidFill>
                  <a:srgbClr val="FF0000"/>
                </a:solidFill>
              </a:rPr>
              <a:t>難以避免</a:t>
            </a:r>
            <a:r>
              <a:rPr lang="zh-TW" altLang="en-US" dirty="0" smtClean="0"/>
              <a:t>的現象。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sz="2000" dirty="0" smtClean="0"/>
              <a:t>因為任兩個人都無法完全做到一模一樣的分類，更何況機器可以做到跟任何一個人的分類完全一致</a:t>
            </a:r>
            <a:endParaRPr lang="en-US" altLang="zh-TW" sz="2000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在不清楚分類一致性的程度時，不同的分類器得到的數據，難以比較，數據較高者，不一定是較好的分類器</a:t>
            </a:r>
            <a:r>
              <a:rPr lang="zh-TW" altLang="en-US" dirty="0"/>
              <a:t>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29364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訓練資料量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67718"/>
            <a:ext cx="10515600" cy="499564"/>
          </a:xfrm>
        </p:spPr>
        <p:txBody>
          <a:bodyPr/>
          <a:lstStyle/>
          <a:p>
            <a:r>
              <a:rPr lang="zh-TW" altLang="en-US" dirty="0" smtClean="0"/>
              <a:t>要訓練多少文件才能獲得足夠的成效</a:t>
            </a:r>
            <a:r>
              <a:rPr lang="en-US" altLang="zh-TW" dirty="0" smtClean="0"/>
              <a:t>?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1079862" y="2139500"/>
            <a:ext cx="102739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Example</a:t>
            </a:r>
            <a:r>
              <a:rPr lang="zh-TW" altLang="en-US" dirty="0" smtClean="0">
                <a:latin typeface="新細明體" panose="02020500000000000000" pitchFamily="18" charset="-120"/>
              </a:rPr>
              <a:t>：</a:t>
            </a:r>
            <a:r>
              <a:rPr lang="zh-TW" altLang="en-US" dirty="0"/>
              <a:t>楊允</a:t>
            </a:r>
            <a:r>
              <a:rPr lang="zh-TW" altLang="en-US" dirty="0" smtClean="0"/>
              <a:t>言，</a:t>
            </a:r>
            <a:r>
              <a:rPr lang="en-US" altLang="zh-TW" dirty="0" smtClean="0"/>
              <a:t>”</a:t>
            </a:r>
            <a:r>
              <a:rPr lang="zh-TW" altLang="en-US" dirty="0" smtClean="0"/>
              <a:t>中文</a:t>
            </a:r>
            <a:r>
              <a:rPr lang="zh-TW" altLang="en-US" dirty="0"/>
              <a:t>文件自動分類之</a:t>
            </a:r>
            <a:r>
              <a:rPr lang="zh-TW" altLang="en-US" dirty="0" smtClean="0"/>
              <a:t>探討</a:t>
            </a:r>
            <a:r>
              <a:rPr lang="en-US" altLang="zh-TW" dirty="0" smtClean="0"/>
              <a:t>”</a:t>
            </a:r>
            <a:r>
              <a:rPr lang="zh-TW" altLang="en-US" dirty="0" smtClean="0"/>
              <a:t>，頁</a:t>
            </a:r>
            <a:r>
              <a:rPr lang="en-US" altLang="zh-TW" dirty="0" smtClean="0"/>
              <a:t>241-256</a:t>
            </a:r>
            <a:br>
              <a:rPr lang="en-US" altLang="zh-TW" dirty="0" smtClean="0"/>
            </a:br>
            <a:r>
              <a:rPr lang="zh-TW" altLang="en-US" dirty="0"/>
              <a:t>以工商時報為對象，每</a:t>
            </a:r>
            <a:r>
              <a:rPr lang="en-US" altLang="zh-TW" dirty="0"/>
              <a:t>8</a:t>
            </a:r>
            <a:r>
              <a:rPr lang="zh-TW" altLang="en-US" dirty="0"/>
              <a:t>天取樣一天，將當日合於選取範圍的新聞報導做為樣本，共有</a:t>
            </a:r>
            <a:r>
              <a:rPr lang="en-US" altLang="zh-TW" dirty="0"/>
              <a:t>2036</a:t>
            </a:r>
            <a:r>
              <a:rPr lang="zh-TW" altLang="en-US" dirty="0" smtClean="0"/>
              <a:t>篇。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957" y="2964364"/>
            <a:ext cx="5272811" cy="381961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241281" y="6275482"/>
            <a:ext cx="1045028" cy="4388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0241281" y="3880630"/>
            <a:ext cx="1045028" cy="4388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533437"/>
              </p:ext>
            </p:extLst>
          </p:nvPr>
        </p:nvGraphicFramePr>
        <p:xfrm>
          <a:off x="1079862" y="4071752"/>
          <a:ext cx="493363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4545"/>
                <a:gridCol w="1644545"/>
                <a:gridCol w="1644545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/>
                        <a:t>系統分為該類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/>
                        <a:t>系統不分為該類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屬於改類別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不屬於該類別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1079862" y="2935982"/>
            <a:ext cx="5001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訓練資料只用</a:t>
            </a:r>
            <a:r>
              <a:rPr lang="en-US" altLang="zh-TW" dirty="0" smtClean="0"/>
              <a:t>12</a:t>
            </a:r>
            <a:r>
              <a:rPr lang="zh-TW" altLang="en-US" dirty="0" smtClean="0"/>
              <a:t>月份時，測試文件的成效為</a:t>
            </a:r>
            <a:r>
              <a:rPr lang="en-US" altLang="zh-TW" dirty="0" smtClean="0"/>
              <a:t>52.64%</a:t>
            </a:r>
            <a:r>
              <a:rPr lang="zh-TW" altLang="en-US" dirty="0" smtClean="0"/>
              <a:t>，訓練資料用</a:t>
            </a:r>
            <a:r>
              <a:rPr lang="en-US" altLang="zh-TW" dirty="0" smtClean="0"/>
              <a:t>7~12</a:t>
            </a:r>
            <a:r>
              <a:rPr lang="zh-TW" altLang="en-US" dirty="0" smtClean="0"/>
              <a:t>月時，進步到</a:t>
            </a:r>
            <a:r>
              <a:rPr lang="en-US" altLang="zh-TW" dirty="0" smtClean="0"/>
              <a:t>67.14</a:t>
            </a:r>
            <a:r>
              <a:rPr lang="zh-TW" altLang="en-US" dirty="0" smtClean="0"/>
              <a:t>。</a:t>
            </a:r>
          </a:p>
          <a:p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997217" y="5396712"/>
            <a:ext cx="2583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召回率</a:t>
            </a:r>
            <a:r>
              <a:rPr lang="en-US" altLang="zh-TW" dirty="0" smtClean="0"/>
              <a:t>(Recall)</a:t>
            </a:r>
            <a:r>
              <a:rPr lang="zh-TW" altLang="en-US" dirty="0" smtClean="0">
                <a:latin typeface="新細明體" panose="02020500000000000000" pitchFamily="18" charset="-120"/>
              </a:rPr>
              <a:t>：</a:t>
            </a:r>
            <a:r>
              <a:rPr lang="en-US" altLang="zh-TW" dirty="0" smtClean="0">
                <a:latin typeface="新細明體" panose="02020500000000000000" pitchFamily="18" charset="-120"/>
              </a:rPr>
              <a:t>A/(A+B)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0761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9" grpId="0" animBg="1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訓練資料的代表</a:t>
            </a:r>
            <a:r>
              <a:rPr lang="zh-TW" altLang="en-US" dirty="0"/>
              <a:t>性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若是以訓練資料作為分類器唯一的知識來源，類別的定義有下列：</a:t>
            </a:r>
            <a:endParaRPr lang="en-US" altLang="zh-TW" dirty="0" smtClean="0"/>
          </a:p>
          <a:p>
            <a:r>
              <a:rPr lang="zh-TW" altLang="en-US" dirty="0" smtClean="0"/>
              <a:t>以</a:t>
            </a:r>
            <a:r>
              <a:rPr lang="zh-TW" altLang="en-US" dirty="0" smtClean="0">
                <a:solidFill>
                  <a:srgbClr val="FF0000"/>
                </a:solidFill>
              </a:rPr>
              <a:t>範圍</a:t>
            </a:r>
            <a:r>
              <a:rPr lang="zh-TW" altLang="en-US" dirty="0" smtClean="0"/>
              <a:t>做定義</a:t>
            </a:r>
            <a:r>
              <a:rPr lang="en-US" altLang="zh-TW" dirty="0" smtClean="0"/>
              <a:t>(defined by example)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sz="2400" dirty="0" smtClean="0"/>
              <a:t>每個類別的意義、範圍、以及代表的主題，都是由訓練資料表示，以範例做定義時，機器較容易接受，因為分類器只要依範例學習，在做分類。</a:t>
            </a:r>
            <a:endParaRPr lang="en-US" altLang="zh-TW" sz="2400" dirty="0" smtClean="0"/>
          </a:p>
          <a:p>
            <a:pPr marL="0" indent="0">
              <a:buNone/>
            </a:pPr>
            <a:endParaRPr lang="en-US" altLang="zh-TW" sz="2400" dirty="0" smtClean="0"/>
          </a:p>
          <a:p>
            <a:r>
              <a:rPr lang="zh-TW" altLang="en-US" dirty="0" smtClean="0"/>
              <a:t>以</a:t>
            </a:r>
            <a:r>
              <a:rPr lang="zh-TW" altLang="en-US" dirty="0" smtClean="0">
                <a:solidFill>
                  <a:srgbClr val="FF0000"/>
                </a:solidFill>
              </a:rPr>
              <a:t>敘</a:t>
            </a:r>
            <a:r>
              <a:rPr lang="zh-TW" altLang="en-US" dirty="0">
                <a:solidFill>
                  <a:srgbClr val="FF0000"/>
                </a:solidFill>
              </a:rPr>
              <a:t>述</a:t>
            </a:r>
            <a:r>
              <a:rPr lang="zh-TW" altLang="en-US" dirty="0" smtClean="0"/>
              <a:t>做</a:t>
            </a:r>
            <a:r>
              <a:rPr lang="zh-TW" altLang="en-US" dirty="0"/>
              <a:t>定義</a:t>
            </a:r>
            <a:r>
              <a:rPr lang="en-US" altLang="zh-TW" dirty="0"/>
              <a:t>(defined by </a:t>
            </a:r>
            <a:r>
              <a:rPr lang="en-US" altLang="zh-TW" dirty="0" smtClean="0"/>
              <a:t>descriptions)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sz="2400" dirty="0"/>
              <a:t>每個類別的意義、範圍、以及代表的</a:t>
            </a:r>
            <a:r>
              <a:rPr lang="zh-TW" altLang="en-US" sz="2400" dirty="0" smtClean="0"/>
              <a:t>主題是以清楚，完整的文字加以敘述，由於機器要理解文字內容，是比較困難的工作。</a:t>
            </a:r>
            <a:endParaRPr lang="en-US" altLang="zh-TW" sz="2400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477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訓練資料的代表性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518937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以</a:t>
            </a:r>
            <a:r>
              <a:rPr lang="zh-TW" altLang="en-US" dirty="0" smtClean="0"/>
              <a:t>範例做定義時，若範例數量不夠，涵蓋的範圍不夠廣時，則對新進文件做分類時，便不容易分的好。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 smtClean="0"/>
          </a:p>
        </p:txBody>
      </p:sp>
      <p:sp>
        <p:nvSpPr>
          <p:cNvPr id="4" name="文字方塊 3"/>
          <p:cNvSpPr txBox="1"/>
          <p:nvPr/>
        </p:nvSpPr>
        <p:spPr>
          <a:xfrm>
            <a:off x="1073791" y="3024042"/>
            <a:ext cx="10443885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Example</a:t>
            </a:r>
            <a:r>
              <a:rPr lang="zh-TW" altLang="en-US" sz="2000" dirty="0"/>
              <a:t>：</a:t>
            </a:r>
            <a:r>
              <a:rPr lang="en-US" altLang="zh-TW" sz="2000" dirty="0"/>
              <a:t/>
            </a:r>
            <a:br>
              <a:rPr lang="en-US" altLang="zh-TW" sz="2000" dirty="0"/>
            </a:br>
            <a:r>
              <a:rPr lang="zh-TW" altLang="en-US" sz="2000" dirty="0"/>
              <a:t>假設我們有一個「民間社團」類別，訓練資料中已經有一堆「基金會」「獅子 會</a:t>
            </a:r>
            <a:r>
              <a:rPr lang="zh-TW" altLang="en-US" sz="2000" dirty="0" smtClean="0"/>
              <a:t>」。</a:t>
            </a:r>
            <a:endParaRPr lang="en-US" altLang="zh-TW" sz="2000" dirty="0" smtClean="0"/>
          </a:p>
          <a:p>
            <a:r>
              <a:rPr lang="zh-TW" altLang="en-US" sz="2000" dirty="0" smtClean="0"/>
              <a:t>分類</a:t>
            </a:r>
            <a:r>
              <a:rPr lang="zh-TW" altLang="en-US" sz="2000" dirty="0"/>
              <a:t>文件是一篇有關於「童子軍團」的報導，分類器可能會不知道要分在「民間社團」類。</a:t>
            </a:r>
            <a:endParaRPr lang="en-US" altLang="zh-TW" sz="20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105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分</a:t>
            </a:r>
            <a:r>
              <a:rPr lang="zh-TW" altLang="en-US" dirty="0"/>
              <a:t>類</a:t>
            </a:r>
            <a:r>
              <a:rPr lang="zh-TW" altLang="en-US" dirty="0" smtClean="0"/>
              <a:t>成效的評估方式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0331884"/>
              </p:ext>
            </p:extLst>
          </p:nvPr>
        </p:nvGraphicFramePr>
        <p:xfrm>
          <a:off x="6532301" y="1902941"/>
          <a:ext cx="5453754" cy="11144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7918"/>
                <a:gridCol w="1817918"/>
                <a:gridCol w="1817918"/>
              </a:tblGrid>
              <a:tr h="37277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系統分為該類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系統分不為該類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/>
                        <a:t>屬於改類別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/>
                        <a:t>不屬於該類別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95865" y="1690688"/>
            <a:ext cx="557877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對於每一個類別的文件，都會被分做下列四種狀況：</a:t>
            </a:r>
            <a:endParaRPr lang="en-US" altLang="zh-TW" dirty="0" smtClean="0"/>
          </a:p>
          <a:p>
            <a:r>
              <a:rPr lang="en-US" altLang="zh-TW" dirty="0" smtClean="0"/>
              <a:t>A </a:t>
            </a:r>
            <a:r>
              <a:rPr lang="zh-TW" altLang="en-US" dirty="0" smtClean="0"/>
              <a:t>→屬於該類別且系統正確分為該類的有</a:t>
            </a:r>
            <a:r>
              <a:rPr lang="en-US" altLang="zh-TW" dirty="0" smtClean="0"/>
              <a:t>A</a:t>
            </a:r>
            <a:r>
              <a:rPr lang="zh-TW" altLang="en-US" dirty="0" smtClean="0"/>
              <a:t>篇。</a:t>
            </a:r>
            <a:endParaRPr lang="en-US" altLang="zh-TW" dirty="0" smtClean="0"/>
          </a:p>
          <a:p>
            <a:r>
              <a:rPr lang="en-US" altLang="zh-TW" dirty="0" smtClean="0"/>
              <a:t>B</a:t>
            </a:r>
            <a:r>
              <a:rPr lang="zh-TW" altLang="en-US" dirty="0" smtClean="0"/>
              <a:t> →</a:t>
            </a:r>
            <a:r>
              <a:rPr lang="zh-TW" altLang="en-US" dirty="0"/>
              <a:t>屬於該</a:t>
            </a:r>
            <a:r>
              <a:rPr lang="zh-TW" altLang="en-US" dirty="0" smtClean="0"/>
              <a:t>類別但是沒有被分為</a:t>
            </a:r>
            <a:r>
              <a:rPr lang="zh-TW" altLang="en-US" dirty="0"/>
              <a:t>該</a:t>
            </a:r>
            <a:r>
              <a:rPr lang="zh-TW" altLang="en-US" dirty="0" smtClean="0"/>
              <a:t>類</a:t>
            </a:r>
            <a:r>
              <a:rPr lang="zh-TW" altLang="en-US" dirty="0"/>
              <a:t>的</a:t>
            </a:r>
            <a:r>
              <a:rPr lang="zh-TW" altLang="en-US" dirty="0" smtClean="0"/>
              <a:t>有</a:t>
            </a:r>
            <a:r>
              <a:rPr lang="en-US" altLang="zh-TW" dirty="0"/>
              <a:t>B</a:t>
            </a:r>
            <a:r>
              <a:rPr lang="zh-TW" altLang="en-US" dirty="0" smtClean="0"/>
              <a:t>篇。</a:t>
            </a:r>
            <a:endParaRPr lang="en-US" altLang="zh-TW" dirty="0" smtClean="0"/>
          </a:p>
          <a:p>
            <a:r>
              <a:rPr lang="en-US" altLang="zh-TW" dirty="0" smtClean="0"/>
              <a:t>C</a:t>
            </a:r>
            <a:r>
              <a:rPr lang="zh-TW" altLang="en-US" dirty="0" smtClean="0"/>
              <a:t> →不屬於該類別，但被系統分到</a:t>
            </a:r>
            <a:r>
              <a:rPr lang="zh-TW" altLang="en-US" dirty="0"/>
              <a:t>該類的</a:t>
            </a:r>
            <a:r>
              <a:rPr lang="zh-TW" altLang="en-US" dirty="0" smtClean="0"/>
              <a:t>有</a:t>
            </a:r>
            <a:r>
              <a:rPr lang="en-US" altLang="zh-TW" dirty="0" smtClean="0"/>
              <a:t>C</a:t>
            </a:r>
            <a:r>
              <a:rPr lang="zh-TW" altLang="en-US" dirty="0" smtClean="0"/>
              <a:t>篇。</a:t>
            </a:r>
            <a:endParaRPr lang="en-US" altLang="zh-TW" dirty="0" smtClean="0"/>
          </a:p>
          <a:p>
            <a:r>
              <a:rPr lang="en-US" altLang="zh-TW" dirty="0" smtClean="0"/>
              <a:t>D </a:t>
            </a:r>
            <a:r>
              <a:rPr lang="zh-TW" altLang="en-US" dirty="0" smtClean="0"/>
              <a:t>→</a:t>
            </a:r>
            <a:r>
              <a:rPr lang="zh-TW" altLang="en-US" dirty="0"/>
              <a:t>不屬於該類別，</a:t>
            </a:r>
            <a:r>
              <a:rPr lang="zh-TW" altLang="en-US" dirty="0" smtClean="0"/>
              <a:t>但沒有被系統</a:t>
            </a:r>
            <a:r>
              <a:rPr lang="zh-TW" altLang="en-US" dirty="0"/>
              <a:t>分到該類的</a:t>
            </a:r>
            <a:r>
              <a:rPr lang="zh-TW" altLang="en-US" dirty="0" smtClean="0"/>
              <a:t>有</a:t>
            </a:r>
            <a:r>
              <a:rPr lang="en-US" altLang="zh-TW" dirty="0" smtClean="0"/>
              <a:t>D</a:t>
            </a:r>
            <a:r>
              <a:rPr lang="zh-TW" altLang="en-US" dirty="0" smtClean="0"/>
              <a:t>篇。</a:t>
            </a:r>
            <a:endParaRPr lang="en-US" altLang="zh-TW" dirty="0"/>
          </a:p>
          <a:p>
            <a:endParaRPr lang="en-US" altLang="zh-TW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838200" y="3657267"/>
            <a:ext cx="111478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做完統計後，可以計算「精確率」</a:t>
            </a:r>
            <a:r>
              <a:rPr lang="en-US" altLang="zh-TW" dirty="0" smtClean="0"/>
              <a:t>(P, precision)</a:t>
            </a:r>
            <a:r>
              <a:rPr lang="zh-TW" altLang="en-US" dirty="0" smtClean="0"/>
              <a:t>、「</a:t>
            </a:r>
            <a:r>
              <a:rPr lang="zh-TW" altLang="en-US" dirty="0"/>
              <a:t>召回率</a:t>
            </a:r>
            <a:r>
              <a:rPr lang="zh-TW" altLang="en-US" dirty="0" smtClean="0"/>
              <a:t>」</a:t>
            </a:r>
            <a:r>
              <a:rPr lang="en-US" altLang="zh-TW" dirty="0" smtClean="0"/>
              <a:t>(R, recall)</a:t>
            </a:r>
          </a:p>
          <a:p>
            <a:endParaRPr lang="en-US" altLang="zh-TW" dirty="0" smtClean="0"/>
          </a:p>
          <a:p>
            <a:r>
              <a:rPr lang="zh-TW" altLang="en-US" dirty="0"/>
              <a:t>精確</a:t>
            </a:r>
            <a:r>
              <a:rPr lang="zh-TW" altLang="en-US" dirty="0" smtClean="0"/>
              <a:t>率 ：所有分</a:t>
            </a:r>
            <a:r>
              <a:rPr lang="zh-TW" altLang="en-US" dirty="0"/>
              <a:t>到</a:t>
            </a:r>
            <a:r>
              <a:rPr lang="zh-TW" altLang="en-US" dirty="0" smtClean="0"/>
              <a:t>該</a:t>
            </a:r>
            <a:r>
              <a:rPr lang="zh-TW" altLang="en-US" dirty="0"/>
              <a:t>類別</a:t>
            </a:r>
            <a:r>
              <a:rPr lang="zh-TW" altLang="en-US" dirty="0" smtClean="0"/>
              <a:t>的文件總數當</a:t>
            </a:r>
            <a:r>
              <a:rPr lang="zh-TW" altLang="en-US" dirty="0"/>
              <a:t>分母</a:t>
            </a:r>
            <a:r>
              <a:rPr lang="zh-TW" altLang="en-US" dirty="0" smtClean="0"/>
              <a:t>，被系統正確</a:t>
            </a:r>
            <a:r>
              <a:rPr lang="zh-TW" altLang="en-US" dirty="0"/>
              <a:t>分到的當分子，即</a:t>
            </a:r>
            <a:r>
              <a:rPr lang="en-US" altLang="zh-TW" dirty="0" smtClean="0"/>
              <a:t> P = A / (A+C)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召回率 ：所有符合該類別的相關文件數量當分母，正確分到的當分子，即 </a:t>
            </a:r>
            <a:r>
              <a:rPr lang="en-US" altLang="zh-TW" dirty="0" smtClean="0"/>
              <a:t>R = A / (A+B)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384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280086"/>
            <a:ext cx="10515600" cy="25043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 smtClean="0"/>
              <a:t>Example</a:t>
            </a:r>
            <a:r>
              <a:rPr lang="zh-TW" altLang="en-US" sz="2400" dirty="0" smtClean="0"/>
              <a:t>：</a:t>
            </a:r>
            <a:endParaRPr lang="en-US" altLang="zh-TW" sz="2400" dirty="0" smtClean="0"/>
          </a:p>
          <a:p>
            <a:pPr marL="0" indent="0" fontAlgn="base">
              <a:buNone/>
            </a:pPr>
            <a:r>
              <a:rPr lang="zh-TW" altLang="en-US" sz="2400" dirty="0" smtClean="0"/>
              <a:t>一個資料庫有</a:t>
            </a:r>
            <a:r>
              <a:rPr lang="en-US" altLang="zh-TW" sz="2400" dirty="0" smtClean="0"/>
              <a:t>500</a:t>
            </a:r>
            <a:r>
              <a:rPr lang="zh-TW" altLang="en-US" sz="2400" dirty="0" smtClean="0"/>
              <a:t>個文件，其中</a:t>
            </a:r>
            <a:r>
              <a:rPr lang="zh-TW" altLang="en-US" sz="2400" dirty="0"/>
              <a:t>有</a:t>
            </a:r>
            <a:r>
              <a:rPr lang="en-US" altLang="zh-TW" sz="2400" dirty="0"/>
              <a:t>50</a:t>
            </a:r>
            <a:r>
              <a:rPr lang="zh-TW" altLang="en-US" sz="2400" dirty="0" smtClean="0"/>
              <a:t>個</a:t>
            </a:r>
            <a:r>
              <a:rPr lang="zh-TW" altLang="en-US" sz="2400" dirty="0"/>
              <a:t>文件</a:t>
            </a:r>
            <a:r>
              <a:rPr lang="zh-TW" altLang="en-US" sz="2400" dirty="0" smtClean="0"/>
              <a:t>符合</a:t>
            </a:r>
            <a:r>
              <a:rPr lang="zh-TW" altLang="en-US" sz="2400" dirty="0"/>
              <a:t>定義的</a:t>
            </a:r>
            <a:r>
              <a:rPr lang="zh-TW" altLang="en-US" sz="2400" dirty="0" smtClean="0"/>
              <a:t>問題，系統搜索到</a:t>
            </a:r>
            <a:r>
              <a:rPr lang="en-US" altLang="zh-TW" sz="2400" dirty="0" smtClean="0"/>
              <a:t>75</a:t>
            </a:r>
            <a:r>
              <a:rPr lang="zh-TW" altLang="en-US" sz="2400" dirty="0" smtClean="0"/>
              <a:t>個相關文件，但是</a:t>
            </a:r>
            <a:r>
              <a:rPr lang="zh-TW" altLang="en-US" sz="2400" dirty="0"/>
              <a:t>只有</a:t>
            </a:r>
            <a:r>
              <a:rPr lang="en-US" altLang="zh-TW" sz="2400" dirty="0"/>
              <a:t>45</a:t>
            </a:r>
            <a:r>
              <a:rPr lang="zh-TW" altLang="en-US" sz="2400" dirty="0"/>
              <a:t>個</a:t>
            </a:r>
            <a:r>
              <a:rPr lang="zh-TW" altLang="en-US" sz="2400" dirty="0" smtClean="0"/>
              <a:t>符合我們的定義。</a:t>
            </a:r>
            <a:endParaRPr lang="zh-TW" altLang="en-US" sz="2400" dirty="0"/>
          </a:p>
          <a:p>
            <a:pPr marL="0" indent="0" fontAlgn="base">
              <a:buNone/>
            </a:pPr>
            <a:r>
              <a:rPr lang="zh-TW" altLang="en-US" sz="2400" dirty="0"/>
              <a:t>召回率</a:t>
            </a:r>
            <a:r>
              <a:rPr lang="en-US" altLang="zh-TW" sz="2400" dirty="0"/>
              <a:t>R=45/50=90</a:t>
            </a:r>
            <a:r>
              <a:rPr lang="en-US" altLang="zh-TW" sz="2400" dirty="0" smtClean="0"/>
              <a:t>%</a:t>
            </a:r>
            <a:endParaRPr lang="en-US" altLang="zh-TW" sz="2400" dirty="0"/>
          </a:p>
          <a:p>
            <a:pPr marL="0" indent="0" fontAlgn="base">
              <a:buNone/>
            </a:pPr>
            <a:r>
              <a:rPr lang="zh-TW" altLang="en-US" sz="2400" dirty="0"/>
              <a:t>精度</a:t>
            </a:r>
            <a:r>
              <a:rPr lang="en-US" altLang="zh-TW" sz="2400" dirty="0"/>
              <a:t>P=45/75=60</a:t>
            </a:r>
            <a:r>
              <a:rPr lang="en-US" altLang="zh-TW" sz="2400" dirty="0" smtClean="0"/>
              <a:t>%</a:t>
            </a:r>
          </a:p>
          <a:p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838200" y="2899719"/>
            <a:ext cx="110901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 smtClean="0"/>
              <a:t>但</a:t>
            </a:r>
            <a:r>
              <a:rPr lang="zh-TW" altLang="en-US" sz="2000" dirty="0"/>
              <a:t>是</a:t>
            </a:r>
            <a:r>
              <a:rPr lang="zh-TW" altLang="en-US" sz="2000" dirty="0" smtClean="0"/>
              <a:t>，研究人員漸漸發現用這種方式評估並不恰當。</a:t>
            </a:r>
            <a:r>
              <a:rPr lang="en-US" altLang="zh-TW" sz="2000" dirty="0" smtClean="0"/>
              <a:t>(</a:t>
            </a:r>
            <a:r>
              <a:rPr lang="en-US" altLang="zh-TW" sz="2000" dirty="0" err="1" smtClean="0"/>
              <a:t>Hersh</a:t>
            </a:r>
            <a:r>
              <a:rPr lang="en-US" altLang="zh-TW" sz="2000" dirty="0" smtClean="0"/>
              <a:t>, 2002)</a:t>
            </a:r>
          </a:p>
          <a:p>
            <a:r>
              <a:rPr lang="zh-TW" altLang="en-US" sz="2000" dirty="0" smtClean="0"/>
              <a:t>因為在實際應用上，我們必須要看文件分類是否能讓研究人員</a:t>
            </a:r>
            <a:r>
              <a:rPr lang="zh-TW" altLang="en-US" sz="2000" dirty="0" smtClean="0">
                <a:solidFill>
                  <a:srgbClr val="FF0000"/>
                </a:solidFill>
              </a:rPr>
              <a:t>挖掘新知</a:t>
            </a:r>
            <a:r>
              <a:rPr lang="zh-TW" altLang="en-US" sz="2000" dirty="0" smtClean="0"/>
              <a:t>，或加快過去要</a:t>
            </a:r>
            <a:r>
              <a:rPr lang="zh-TW" altLang="en-US" sz="2000" dirty="0" smtClean="0">
                <a:solidFill>
                  <a:srgbClr val="FF0000"/>
                </a:solidFill>
              </a:rPr>
              <a:t>花費極大時間</a:t>
            </a:r>
            <a:r>
              <a:rPr lang="zh-TW" altLang="en-US" sz="2000" dirty="0" smtClean="0"/>
              <a:t>才能獲得的成果，比起精確率，召回率，還是要看研究成果是否能</a:t>
            </a:r>
            <a:r>
              <a:rPr lang="zh-TW" altLang="en-US" sz="2000" dirty="0" smtClean="0">
                <a:solidFill>
                  <a:srgbClr val="FF0000"/>
                </a:solidFill>
              </a:rPr>
              <a:t>節省使用者負擔</a:t>
            </a:r>
            <a:r>
              <a:rPr lang="zh-TW" altLang="en-US" sz="2000" dirty="0" smtClean="0"/>
              <a:t>，以此做為分類成效才是最好的。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2293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結</a:t>
            </a:r>
            <a:r>
              <a:rPr lang="zh-TW" altLang="en-US" dirty="0"/>
              <a:t>論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982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TW" dirty="0" smtClean="0"/>
              <a:t>1.</a:t>
            </a:r>
            <a:r>
              <a:rPr lang="zh-TW" altLang="en-US" dirty="0" smtClean="0"/>
              <a:t> 必須小心的比較不同的數據結果，一致性不高的資料，其結果可能較不可靠。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838200" y="2841847"/>
            <a:ext cx="94900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200" dirty="0" smtClean="0"/>
              <a:t>2.</a:t>
            </a:r>
            <a:r>
              <a:rPr lang="zh-TW" altLang="en-US" sz="2200" dirty="0" smtClean="0"/>
              <a:t> 成效評估除了傳統的精確率以及召回率，還要去了解使用者真正的需求，</a:t>
            </a:r>
            <a:endParaRPr lang="en-US" altLang="zh-TW" sz="2200" dirty="0" smtClean="0"/>
          </a:p>
          <a:p>
            <a:r>
              <a:rPr lang="zh-TW" altLang="en-US" sz="2200" dirty="0"/>
              <a:t> </a:t>
            </a:r>
            <a:r>
              <a:rPr lang="zh-TW" altLang="en-US" sz="2200" dirty="0" smtClean="0"/>
              <a:t>   才能設計出最佳的分類系統。</a:t>
            </a:r>
            <a:endParaRPr lang="zh-TW" altLang="en-US" sz="22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838200" y="4047686"/>
            <a:ext cx="109007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200" dirty="0"/>
              <a:t>3</a:t>
            </a:r>
            <a:r>
              <a:rPr lang="en-US" altLang="zh-TW" sz="2200" dirty="0" smtClean="0"/>
              <a:t>.</a:t>
            </a:r>
            <a:r>
              <a:rPr lang="zh-TW" altLang="en-US" sz="2200" dirty="0" smtClean="0"/>
              <a:t> 文件分類的研究的方向</a:t>
            </a:r>
            <a:r>
              <a:rPr lang="zh-TW" altLang="en-US" sz="22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：少量訓練文件的分類，分類架構的建構或建議，分類錯誤的</a:t>
            </a:r>
            <a:endParaRPr lang="en-US" altLang="zh-TW" sz="2200" dirty="0" smtClean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2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zh-TW" altLang="en-US" sz="22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   自動偵測與更正，外部知識結合分類等等</a:t>
            </a:r>
            <a:r>
              <a:rPr lang="en-US" altLang="zh-TW" sz="22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……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40177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804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824476"/>
            <a:ext cx="11024286" cy="24548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sz="2400" dirty="0" smtClean="0"/>
              <a:t>Example</a:t>
            </a:r>
            <a:r>
              <a:rPr lang="zh-TW" altLang="en-US" sz="2400" dirty="0" smtClean="0"/>
              <a:t>：</a:t>
            </a:r>
            <a:endParaRPr lang="en-US" altLang="zh-TW" sz="2400" dirty="0" smtClean="0"/>
          </a:p>
          <a:p>
            <a:pPr marL="0" indent="0">
              <a:buNone/>
            </a:pPr>
            <a:r>
              <a:rPr lang="zh-TW" altLang="en-US" sz="2400" dirty="0" smtClean="0"/>
              <a:t>池塘</a:t>
            </a:r>
            <a:r>
              <a:rPr lang="zh-TW" altLang="en-US" sz="2400" dirty="0"/>
              <a:t>有</a:t>
            </a:r>
            <a:r>
              <a:rPr lang="en-US" altLang="zh-TW" sz="2400" dirty="0"/>
              <a:t>1400</a:t>
            </a:r>
            <a:r>
              <a:rPr lang="zh-TW" altLang="en-US" sz="2400" dirty="0"/>
              <a:t>條鯉魚，</a:t>
            </a:r>
            <a:r>
              <a:rPr lang="en-US" altLang="zh-TW" sz="2400" dirty="0" smtClean="0"/>
              <a:t>300</a:t>
            </a:r>
            <a:r>
              <a:rPr lang="zh-TW" altLang="en-US" sz="2400" dirty="0"/>
              <a:t>隻</a:t>
            </a:r>
            <a:r>
              <a:rPr lang="zh-TW" altLang="en-US" sz="2400" dirty="0" smtClean="0"/>
              <a:t>蝦</a:t>
            </a:r>
            <a:r>
              <a:rPr lang="zh-TW" altLang="en-US" sz="2400" dirty="0"/>
              <a:t>，</a:t>
            </a:r>
            <a:r>
              <a:rPr lang="en-US" altLang="zh-TW" sz="2400" dirty="0" smtClean="0"/>
              <a:t>300</a:t>
            </a:r>
            <a:r>
              <a:rPr lang="zh-TW" altLang="en-US" sz="2400" dirty="0"/>
              <a:t>隻</a:t>
            </a:r>
            <a:r>
              <a:rPr lang="zh-TW" altLang="en-US" sz="2400" dirty="0" smtClean="0"/>
              <a:t>龜。</a:t>
            </a:r>
            <a:r>
              <a:rPr lang="zh-TW" altLang="en-US" sz="2400" dirty="0"/>
              <a:t>現在以捕鯉魚爲</a:t>
            </a:r>
            <a:r>
              <a:rPr lang="zh-TW" altLang="en-US" sz="2400" dirty="0" smtClean="0"/>
              <a:t>目標。</a:t>
            </a:r>
            <a:r>
              <a:rPr lang="zh-TW" altLang="en-US" sz="2400" dirty="0"/>
              <a:t>撒</a:t>
            </a:r>
            <a:r>
              <a:rPr lang="zh-TW" altLang="en-US" sz="2400" dirty="0" smtClean="0"/>
              <a:t>一網，捕到了</a:t>
            </a:r>
            <a:r>
              <a:rPr lang="en-US" altLang="zh-TW" sz="2400" dirty="0"/>
              <a:t>700</a:t>
            </a:r>
            <a:r>
              <a:rPr lang="zh-TW" altLang="en-US" sz="2400" dirty="0"/>
              <a:t>條鯉魚，</a:t>
            </a:r>
            <a:r>
              <a:rPr lang="en-US" altLang="zh-TW" sz="2400" dirty="0" smtClean="0"/>
              <a:t>200</a:t>
            </a:r>
            <a:r>
              <a:rPr lang="zh-TW" altLang="en-US" sz="2400" dirty="0"/>
              <a:t>隻</a:t>
            </a:r>
            <a:r>
              <a:rPr lang="zh-TW" altLang="en-US" sz="2400" dirty="0" smtClean="0"/>
              <a:t>蝦</a:t>
            </a:r>
            <a:r>
              <a:rPr lang="zh-TW" altLang="en-US" sz="2400" dirty="0"/>
              <a:t>，</a:t>
            </a:r>
            <a:r>
              <a:rPr lang="en-US" altLang="zh-TW" sz="2400" dirty="0" smtClean="0"/>
              <a:t>100</a:t>
            </a:r>
            <a:r>
              <a:rPr lang="zh-TW" altLang="en-US" sz="2400" dirty="0" smtClean="0"/>
              <a:t>隻龜。</a:t>
            </a:r>
            <a:r>
              <a:rPr lang="zh-TW" altLang="en-US" sz="2400" dirty="0"/>
              <a:t>那麽，這些指標分別如下：</a:t>
            </a:r>
          </a:p>
          <a:p>
            <a:pPr marL="0" indent="0">
              <a:buNone/>
            </a:pPr>
            <a:r>
              <a:rPr lang="zh-TW" altLang="en-US" sz="2400" dirty="0"/>
              <a:t>正確率 </a:t>
            </a:r>
            <a:r>
              <a:rPr lang="en-US" altLang="zh-TW" sz="2400" dirty="0"/>
              <a:t>= 700 / (700 + 200 + 100) = 70%</a:t>
            </a:r>
          </a:p>
          <a:p>
            <a:pPr marL="0" indent="0">
              <a:buNone/>
            </a:pPr>
            <a:r>
              <a:rPr lang="zh-TW" altLang="en-US" sz="2400" dirty="0"/>
              <a:t>召回率 </a:t>
            </a:r>
            <a:r>
              <a:rPr lang="en-US" altLang="zh-TW" sz="2400" dirty="0"/>
              <a:t>= 700 / 1400 = 50%</a:t>
            </a:r>
          </a:p>
          <a:p>
            <a:pPr marL="0" indent="0">
              <a:buNone/>
            </a:pPr>
            <a:r>
              <a:rPr lang="en-US" altLang="zh-TW" sz="2400" dirty="0" smtClean="0"/>
              <a:t>F</a:t>
            </a:r>
            <a:r>
              <a:rPr lang="zh-TW" altLang="en-US" sz="2400" dirty="0" smtClean="0"/>
              <a:t>值 </a:t>
            </a:r>
            <a:r>
              <a:rPr lang="en-US" altLang="zh-TW" sz="2400" dirty="0" smtClean="0"/>
              <a:t>= </a:t>
            </a:r>
            <a:r>
              <a:rPr lang="en-US" altLang="zh-TW" sz="2400" dirty="0"/>
              <a:t>70% * 50% * 2 / (70% + 50%) = 58.3%</a:t>
            </a:r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838200" y="3583459"/>
            <a:ext cx="10033516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 smtClean="0"/>
              <a:t>如果</a:t>
            </a:r>
            <a:r>
              <a:rPr lang="zh-TW" altLang="en-US" sz="2400" dirty="0"/>
              <a:t>把池子裏的所有的鯉魚、蝦</a:t>
            </a:r>
            <a:r>
              <a:rPr lang="zh-TW" altLang="en-US" sz="2400" dirty="0" smtClean="0"/>
              <a:t>和龜都</a:t>
            </a:r>
            <a:r>
              <a:rPr lang="zh-TW" altLang="en-US" sz="2400" dirty="0"/>
              <a:t>一網打盡，這些指標又有何變化：</a:t>
            </a:r>
          </a:p>
          <a:p>
            <a:r>
              <a:rPr lang="zh-TW" altLang="en-US" sz="2400" dirty="0"/>
              <a:t>正確率 </a:t>
            </a:r>
            <a:r>
              <a:rPr lang="en-US" altLang="zh-TW" sz="2400" dirty="0"/>
              <a:t>= 1400 / (1400 + 300 + 300) = 70%</a:t>
            </a:r>
          </a:p>
          <a:p>
            <a:r>
              <a:rPr lang="zh-TW" altLang="en-US" sz="2400" dirty="0"/>
              <a:t>召回率 </a:t>
            </a:r>
            <a:r>
              <a:rPr lang="en-US" altLang="zh-TW" sz="2400" dirty="0"/>
              <a:t>= 1400 / 1400 = 100%</a:t>
            </a:r>
          </a:p>
          <a:p>
            <a:r>
              <a:rPr lang="en-US" altLang="zh-TW" sz="2400" dirty="0"/>
              <a:t>F</a:t>
            </a:r>
            <a:r>
              <a:rPr lang="zh-TW" altLang="en-US" sz="2400" dirty="0"/>
              <a:t>值 </a:t>
            </a:r>
            <a:r>
              <a:rPr lang="en-US" altLang="zh-TW" sz="2400" dirty="0"/>
              <a:t>= 70% * 100% * 2 / (70% + 100%) = 82.35%</a:t>
            </a:r>
          </a:p>
          <a:p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838200" y="5430118"/>
            <a:ext cx="68788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由此可見</a:t>
            </a:r>
            <a:r>
              <a:rPr lang="zh-TW" altLang="en-US" dirty="0" smtClean="0"/>
              <a:t>，</a:t>
            </a:r>
            <a:r>
              <a:rPr lang="zh-TW" altLang="en-US" dirty="0"/>
              <a:t>精確率</a:t>
            </a:r>
            <a:r>
              <a:rPr lang="zh-TW" altLang="en-US" dirty="0" smtClean="0"/>
              <a:t>是</a:t>
            </a:r>
            <a:r>
              <a:rPr lang="zh-TW" altLang="en-US" dirty="0"/>
              <a:t>評估捕獲的成果中</a:t>
            </a:r>
            <a:r>
              <a:rPr lang="zh-TW" altLang="en-US" dirty="0" smtClean="0">
                <a:solidFill>
                  <a:srgbClr val="FF0000"/>
                </a:solidFill>
              </a:rPr>
              <a:t>目標所占</a:t>
            </a:r>
            <a:r>
              <a:rPr lang="zh-TW" altLang="en-US" dirty="0">
                <a:solidFill>
                  <a:srgbClr val="FF0000"/>
                </a:solidFill>
              </a:rPr>
              <a:t>的</a:t>
            </a:r>
            <a:r>
              <a:rPr lang="zh-TW" altLang="en-US" dirty="0" smtClean="0">
                <a:solidFill>
                  <a:srgbClr val="FF0000"/>
                </a:solidFill>
              </a:rPr>
              <a:t>比例</a:t>
            </a:r>
            <a:r>
              <a:rPr lang="zh-TW" altLang="en-US" dirty="0" smtClean="0"/>
              <a:t>；</a:t>
            </a:r>
            <a:endParaRPr lang="en-US" altLang="zh-TW" dirty="0" smtClean="0"/>
          </a:p>
          <a:p>
            <a:r>
              <a:rPr lang="zh-TW" altLang="en-US" dirty="0" smtClean="0"/>
              <a:t>召回</a:t>
            </a:r>
            <a:r>
              <a:rPr lang="zh-TW" altLang="en-US" dirty="0"/>
              <a:t>率，顧名思義，</a:t>
            </a:r>
            <a:r>
              <a:rPr lang="zh-TW" altLang="en-US" dirty="0" smtClean="0"/>
              <a:t>就是我們</a:t>
            </a:r>
            <a:r>
              <a:rPr lang="zh-TW" altLang="en-US" dirty="0" smtClean="0">
                <a:solidFill>
                  <a:srgbClr val="FF0000"/>
                </a:solidFill>
              </a:rPr>
              <a:t>關注</a:t>
            </a:r>
            <a:r>
              <a:rPr lang="zh-TW" altLang="en-US" dirty="0">
                <a:solidFill>
                  <a:srgbClr val="FF0000"/>
                </a:solidFill>
              </a:rPr>
              <a:t>領域</a:t>
            </a:r>
            <a:r>
              <a:rPr lang="zh-TW" altLang="en-US" dirty="0"/>
              <a:t>中</a:t>
            </a:r>
            <a:r>
              <a:rPr lang="zh-TW" altLang="en-US" dirty="0" smtClean="0"/>
              <a:t>，召回</a:t>
            </a:r>
            <a:r>
              <a:rPr lang="zh-TW" altLang="en-US" dirty="0"/>
              <a:t>目標類別的比例</a:t>
            </a:r>
            <a:r>
              <a:rPr lang="zh-TW" altLang="en-US" dirty="0" smtClean="0"/>
              <a:t>；</a:t>
            </a:r>
            <a:endParaRPr lang="en-US" altLang="zh-TW" dirty="0" smtClean="0"/>
          </a:p>
          <a:p>
            <a:r>
              <a:rPr lang="zh-TW" altLang="en-US" dirty="0" smtClean="0"/>
              <a:t>而</a:t>
            </a:r>
            <a:r>
              <a:rPr lang="en-US" altLang="zh-TW" dirty="0"/>
              <a:t>F</a:t>
            </a:r>
            <a:r>
              <a:rPr lang="zh-TW" altLang="en-US" dirty="0"/>
              <a:t>值，則是綜合這二者指標的評估指標，</a:t>
            </a:r>
            <a:r>
              <a:rPr lang="zh-TW" altLang="en-US" dirty="0" smtClean="0"/>
              <a:t>用來反映</a:t>
            </a:r>
            <a:r>
              <a:rPr lang="zh-TW" altLang="en-US" dirty="0"/>
              <a:t>整體的指標。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5531792" y="15103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 smtClean="0"/>
              <a:t>附錄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3591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11194" y="674256"/>
            <a:ext cx="11073713" cy="2250176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Correlation </a:t>
            </a:r>
            <a:r>
              <a:rPr lang="en-US" altLang="zh-TW" dirty="0" smtClean="0"/>
              <a:t>Coefficient(</a:t>
            </a:r>
            <a:r>
              <a:rPr lang="zh-TW" altLang="en-US" dirty="0" smtClean="0"/>
              <a:t>相關係數</a:t>
            </a:r>
            <a:r>
              <a:rPr lang="en-US" altLang="zh-TW" dirty="0" smtClean="0"/>
              <a:t>)</a:t>
            </a:r>
            <a:r>
              <a:rPr lang="zh-TW" altLang="en-US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：</a:t>
            </a:r>
            <a:endParaRPr lang="en-US" altLang="zh-TW" dirty="0" smtClean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marL="0" indent="0">
              <a:buNone/>
            </a:pPr>
            <a:r>
              <a:rPr lang="zh-TW" altLang="en-US" dirty="0" smtClean="0"/>
              <a:t>所謂</a:t>
            </a:r>
            <a:r>
              <a:rPr lang="zh-TW" altLang="en-US" dirty="0"/>
              <a:t>相關簡單</a:t>
            </a:r>
            <a:r>
              <a:rPr lang="zh-TW" altLang="en-US" dirty="0" smtClean="0"/>
              <a:t>講，就是</a:t>
            </a:r>
            <a:r>
              <a:rPr lang="zh-TW" altLang="en-US" dirty="0"/>
              <a:t>兩個變項的線性</a:t>
            </a:r>
            <a:r>
              <a:rPr lang="zh-TW" altLang="en-US" dirty="0" smtClean="0"/>
              <a:t>變化。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>
                <a:solidFill>
                  <a:schemeClr val="accent5"/>
                </a:solidFill>
              </a:rPr>
              <a:t>是不是</a:t>
            </a:r>
            <a:r>
              <a:rPr lang="zh-TW" altLang="en-US" dirty="0">
                <a:solidFill>
                  <a:schemeClr val="accent5"/>
                </a:solidFill>
              </a:rPr>
              <a:t>其中一個增加、</a:t>
            </a:r>
            <a:r>
              <a:rPr lang="zh-TW" altLang="en-US" dirty="0" smtClean="0">
                <a:solidFill>
                  <a:schemeClr val="accent5"/>
                </a:solidFill>
              </a:rPr>
              <a:t>另一個也</a:t>
            </a:r>
            <a:r>
              <a:rPr lang="zh-TW" altLang="en-US" dirty="0">
                <a:solidFill>
                  <a:schemeClr val="accent5"/>
                </a:solidFill>
              </a:rPr>
              <a:t>會增加</a:t>
            </a:r>
            <a:r>
              <a:rPr lang="zh-TW" altLang="en-US" dirty="0" smtClean="0">
                <a:solidFill>
                  <a:schemeClr val="accent5"/>
                </a:solidFill>
              </a:rPr>
              <a:t>？</a:t>
            </a:r>
            <a:endParaRPr lang="en-US" altLang="zh-TW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zh-TW" altLang="en-US" dirty="0" smtClean="0"/>
              <a:t>比方</a:t>
            </a:r>
            <a:r>
              <a:rPr lang="zh-TW" altLang="en-US" dirty="0"/>
              <a:t>說</a:t>
            </a:r>
            <a:r>
              <a:rPr lang="zh-TW" altLang="en-US" dirty="0" smtClean="0"/>
              <a:t>身高</a:t>
            </a:r>
            <a:r>
              <a:rPr lang="zh-TW" altLang="en-US" dirty="0"/>
              <a:t>高的人往往體重多半也會比較容易重</a:t>
            </a:r>
            <a:r>
              <a:rPr lang="zh-TW" altLang="en-US" dirty="0" smtClean="0"/>
              <a:t>一些，或者</a:t>
            </a:r>
            <a:r>
              <a:rPr lang="zh-TW" altLang="en-US" dirty="0"/>
              <a:t>其中</a:t>
            </a:r>
            <a:r>
              <a:rPr lang="zh-TW" altLang="en-US" dirty="0" smtClean="0"/>
              <a:t>一個增加</a:t>
            </a:r>
            <a:r>
              <a:rPr lang="zh-TW" altLang="en-US" dirty="0"/>
              <a:t>、另一個反隨之減少</a:t>
            </a:r>
            <a:r>
              <a:rPr lang="zh-TW" altLang="en-US" dirty="0" smtClean="0"/>
              <a:t>？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011194" y="2924432"/>
            <a:ext cx="95394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想知道的是：</a:t>
            </a:r>
            <a:r>
              <a:rPr lang="zh-TW" altLang="en-US" b="1" dirty="0">
                <a:solidFill>
                  <a:srgbClr val="FF0000"/>
                </a:solidFill>
              </a:rPr>
              <a:t>有沒有辦法用較簡單的統計方式來描述兩個變</a:t>
            </a:r>
            <a:r>
              <a:rPr lang="zh-TW" altLang="en-US" b="1" dirty="0" smtClean="0">
                <a:solidFill>
                  <a:srgbClr val="FF0000"/>
                </a:solidFill>
              </a:rPr>
              <a:t>項趨勢變化的比例</a:t>
            </a:r>
            <a:r>
              <a:rPr lang="en-US" altLang="zh-TW" b="1" dirty="0" smtClean="0">
                <a:solidFill>
                  <a:srgbClr val="FF0000"/>
                </a:solidFill>
              </a:rPr>
              <a:t>(</a:t>
            </a:r>
            <a:r>
              <a:rPr lang="zh-TW" altLang="en-US" b="1" dirty="0" smtClean="0">
                <a:solidFill>
                  <a:srgbClr val="FF0000"/>
                </a:solidFill>
              </a:rPr>
              <a:t>介於</a:t>
            </a:r>
            <a:r>
              <a:rPr lang="en-US" altLang="zh-TW" b="1" dirty="0" smtClean="0">
                <a:solidFill>
                  <a:srgbClr val="FF0000"/>
                </a:solidFill>
              </a:rPr>
              <a:t>-1~+1)</a:t>
            </a:r>
            <a:r>
              <a:rPr lang="zh-TW" altLang="en-US" b="1" dirty="0" smtClean="0">
                <a:solidFill>
                  <a:srgbClr val="FF0000"/>
                </a:solidFill>
              </a:rPr>
              <a:t>？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r>
              <a:rPr lang="zh-TW" altLang="en-US" dirty="0" smtClean="0"/>
              <a:t>畢竟</a:t>
            </a:r>
            <a:r>
              <a:rPr lang="zh-TW" altLang="en-US" dirty="0"/>
              <a:t>一大堆資料沒辦法隨身帶著</a:t>
            </a:r>
            <a:r>
              <a:rPr lang="zh-TW" altLang="en-US" dirty="0" smtClean="0"/>
              <a:t>走，要</a:t>
            </a:r>
            <a:r>
              <a:rPr lang="zh-TW" altLang="en-US" dirty="0"/>
              <a:t>形容手上的資料的</a:t>
            </a:r>
            <a:r>
              <a:rPr lang="zh-TW" altLang="en-US" dirty="0" smtClean="0"/>
              <a:t>關係，當然</a:t>
            </a:r>
            <a:r>
              <a:rPr lang="zh-TW" altLang="en-US" dirty="0"/>
              <a:t>是能夠越簡單明瞭越好</a:t>
            </a:r>
          </a:p>
          <a:p>
            <a:r>
              <a:rPr lang="zh-TW" altLang="en-US" dirty="0">
                <a:solidFill>
                  <a:srgbClr val="FF0000"/>
                </a:solidFill>
              </a:rPr>
              <a:t>而要用來描述兩個變數之間線性相關性的就是「相關係數」</a:t>
            </a:r>
            <a:r>
              <a:rPr lang="en-US" altLang="zh-TW" dirty="0">
                <a:solidFill>
                  <a:srgbClr val="FF0000"/>
                </a:solidFill>
              </a:rPr>
              <a:t>(Correlation Coefficient)</a:t>
            </a:r>
          </a:p>
          <a:p>
            <a:endParaRPr lang="en-US" altLang="zh-TW" b="1" dirty="0"/>
          </a:p>
          <a:p>
            <a:endParaRPr lang="en-US" altLang="zh-TW" b="1" dirty="0" smtClean="0"/>
          </a:p>
          <a:p>
            <a:endParaRPr lang="en-US" altLang="zh-TW" b="1" dirty="0"/>
          </a:p>
          <a:p>
            <a:endParaRPr lang="en-US" altLang="zh-TW" b="1" dirty="0" smtClean="0"/>
          </a:p>
          <a:p>
            <a:endParaRPr lang="en-US" altLang="zh-TW" b="1" dirty="0"/>
          </a:p>
          <a:p>
            <a:endParaRPr lang="en-US" altLang="zh-TW" b="1" dirty="0" smtClean="0"/>
          </a:p>
          <a:p>
            <a:endParaRPr lang="en-US" altLang="zh-TW" b="1" dirty="0"/>
          </a:p>
          <a:p>
            <a:endParaRPr lang="en-US" altLang="zh-TW" b="1" dirty="0" smtClean="0"/>
          </a:p>
          <a:p>
            <a:endParaRPr lang="zh-TW" altLang="en-US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94" y="4088606"/>
            <a:ext cx="3924848" cy="9907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046" y="3993343"/>
            <a:ext cx="1924319" cy="118126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365" y="3946696"/>
            <a:ext cx="3271303" cy="257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030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卡方檢定 </a:t>
            </a:r>
            <a:r>
              <a:rPr lang="en-US" altLang="zh-TW" b="1" dirty="0"/>
              <a:t>(Chi-square Test) 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37054" y="1574629"/>
            <a:ext cx="10515600" cy="1720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 smtClean="0"/>
              <a:t>卡方檢定經常用於類別資料。所為類別資料是只能以類別區分的資料。</a:t>
            </a:r>
            <a:endParaRPr lang="en-US" altLang="zh-TW" sz="2400" dirty="0" smtClean="0"/>
          </a:p>
          <a:p>
            <a:pPr marL="0" indent="0">
              <a:buNone/>
            </a:pPr>
            <a:r>
              <a:rPr lang="en-US" altLang="zh-TW" sz="2400" dirty="0"/>
              <a:t>Example</a:t>
            </a:r>
            <a:r>
              <a:rPr lang="zh-TW" altLang="en-US" sz="2400" dirty="0" smtClean="0"/>
              <a:t>：男女性別，教育程度，品質好壞，離職意願等</a:t>
            </a:r>
            <a:r>
              <a:rPr lang="en-US" altLang="zh-TW" sz="2400" dirty="0" smtClean="0"/>
              <a:t>……</a:t>
            </a:r>
          </a:p>
          <a:p>
            <a:pPr marL="0" indent="0">
              <a:buNone/>
            </a:pPr>
            <a:r>
              <a:rPr lang="zh-TW" altLang="en-US" sz="2400" dirty="0" smtClean="0"/>
              <a:t>在處理這些資料時，通常是將所觀察的樣本依其類別計算次數，而得到各類別的次數分配表，然後用來分析資料的特性。</a:t>
            </a:r>
            <a:endParaRPr lang="en-US" altLang="zh-TW" sz="2400" dirty="0"/>
          </a:p>
          <a:p>
            <a:pPr marL="0" indent="0">
              <a:buNone/>
            </a:pPr>
            <a:endParaRPr lang="zh-TW" altLang="en-US" sz="24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937054" y="3581309"/>
            <a:ext cx="68180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TW" dirty="0"/>
          </a:p>
          <a:p>
            <a:r>
              <a:rPr lang="en-US" altLang="zh-TW" dirty="0"/>
              <a:t>Frequency</a:t>
            </a:r>
            <a:r>
              <a:rPr lang="zh-TW" altLang="en-US" dirty="0">
                <a:latin typeface="新細明體" panose="02020500000000000000" pitchFamily="18" charset="-120"/>
              </a:rPr>
              <a:t> ：</a:t>
            </a:r>
            <a:r>
              <a:rPr lang="zh-TW" altLang="en-US" dirty="0"/>
              <a:t>資料一經排序，就可以計算出每一個數值發生的次數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429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收支平衡點（</a:t>
            </a:r>
            <a:r>
              <a:rPr lang="en-US" altLang="zh-TW" b="1" dirty="0"/>
              <a:t>Break-even Point</a:t>
            </a:r>
            <a:r>
              <a:rPr lang="zh-TW" altLang="en-US" b="1" dirty="0"/>
              <a:t>）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所謂的收支相抵點是指廠商無經濟利潤但能實現正常利潤的均衡點，是邊際成本與平均成本的交點。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0130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461319"/>
            <a:ext cx="10515600" cy="1705232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400" dirty="0"/>
              <a:t>H</a:t>
            </a:r>
            <a:r>
              <a:rPr lang="en-US" altLang="zh-TW" sz="2400" baseline="-25000" dirty="0"/>
              <a:t>o</a:t>
            </a:r>
            <a:r>
              <a:rPr lang="zh-TW" altLang="en-US" sz="2400" dirty="0"/>
              <a:t>：點什麼麵和點什麼附餐</a:t>
            </a:r>
            <a:r>
              <a:rPr lang="zh-TW" altLang="en-US" sz="2400" dirty="0" smtClean="0"/>
              <a:t>無關</a:t>
            </a:r>
            <a:r>
              <a:rPr lang="en-US" altLang="zh-TW" sz="2400" dirty="0"/>
              <a:t>(</a:t>
            </a:r>
            <a:r>
              <a:rPr lang="zh-TW" altLang="en-US" sz="2400" dirty="0"/>
              <a:t>點什麼麵不影響點什麼附餐，也就是</a:t>
            </a:r>
            <a:r>
              <a:rPr lang="zh-TW" altLang="en-US" sz="2400" b="1" dirty="0"/>
              <a:t>獨立</a:t>
            </a:r>
            <a:r>
              <a:rPr lang="en-US" altLang="zh-TW" sz="2400" dirty="0"/>
              <a:t>)</a:t>
            </a:r>
          </a:p>
          <a:p>
            <a:pPr marL="0" indent="0">
              <a:buNone/>
            </a:pPr>
            <a:r>
              <a:rPr lang="zh-TW" altLang="en-US" sz="2400" dirty="0"/>
              <a:t/>
            </a:r>
            <a:br>
              <a:rPr lang="zh-TW" altLang="en-US" sz="2400" dirty="0"/>
            </a:br>
            <a:r>
              <a:rPr lang="en-US" altLang="zh-TW" sz="2400" dirty="0"/>
              <a:t>H</a:t>
            </a:r>
            <a:r>
              <a:rPr lang="en-US" altLang="zh-TW" sz="2400" baseline="-25000" dirty="0"/>
              <a:t>1</a:t>
            </a:r>
            <a:r>
              <a:rPr lang="zh-TW" altLang="en-US" sz="2400" dirty="0"/>
              <a:t>：點什麼麵和點什麼附餐有關</a:t>
            </a:r>
          </a:p>
        </p:txBody>
      </p:sp>
    </p:spTree>
    <p:extLst>
      <p:ext uri="{BB962C8B-B14F-4D97-AF65-F5344CB8AC3E}">
        <p14:creationId xmlns:p14="http://schemas.microsoft.com/office/powerpoint/2010/main" val="2414971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8281"/>
            <a:ext cx="10515600" cy="6028682"/>
          </a:xfrm>
        </p:spPr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838200" y="1690688"/>
            <a:ext cx="81564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卡方檢驗</a:t>
            </a:r>
            <a:r>
              <a:rPr lang="zh-TW" altLang="en-US" dirty="0"/>
              <a:t>是一種用途很廣的計數資料的假設檢驗方法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主要</a:t>
            </a:r>
            <a:r>
              <a:rPr lang="zh-TW" altLang="en-US" dirty="0"/>
              <a:t>是比較兩個及兩個以上樣本率</a:t>
            </a:r>
            <a:r>
              <a:rPr lang="en-US" altLang="zh-TW" dirty="0"/>
              <a:t>( </a:t>
            </a:r>
            <a:r>
              <a:rPr lang="zh-TW" altLang="en-US" dirty="0"/>
              <a:t>構成比）以及兩個分類變數的關聯性分析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其</a:t>
            </a:r>
            <a:r>
              <a:rPr lang="zh-TW" altLang="en-US" dirty="0"/>
              <a:t>根本思想就是在於比較</a:t>
            </a:r>
            <a:r>
              <a:rPr lang="zh-TW" altLang="en-US" dirty="0">
                <a:solidFill>
                  <a:srgbClr val="FF0000"/>
                </a:solidFill>
              </a:rPr>
              <a:t>理論頻數</a:t>
            </a:r>
            <a:r>
              <a:rPr lang="zh-TW" altLang="en-US" dirty="0"/>
              <a:t>和</a:t>
            </a:r>
            <a:r>
              <a:rPr lang="zh-TW" altLang="en-US" dirty="0">
                <a:solidFill>
                  <a:srgbClr val="FF0000"/>
                </a:solidFill>
              </a:rPr>
              <a:t>實際頻數</a:t>
            </a:r>
            <a:r>
              <a:rPr lang="zh-TW" altLang="en-US" dirty="0"/>
              <a:t>的吻合程度或擬合優度問題。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88853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TM02900743[[fn=有機]]</Template>
  <TotalTime>764</TotalTime>
  <Words>1986</Words>
  <Application>Microsoft Office PowerPoint</Application>
  <PresentationFormat>寬螢幕</PresentationFormat>
  <Paragraphs>181</Paragraphs>
  <Slides>26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4" baseType="lpstr">
      <vt:lpstr>Liberation Sans Narrow</vt:lpstr>
      <vt:lpstr>微軟正黑體</vt:lpstr>
      <vt:lpstr>新細明體</vt:lpstr>
      <vt:lpstr>Arial</vt:lpstr>
      <vt:lpstr>Calibri</vt:lpstr>
      <vt:lpstr>Calibri Light</vt:lpstr>
      <vt:lpstr>Mangal</vt:lpstr>
      <vt:lpstr>Office 佈景主題</vt:lpstr>
      <vt:lpstr>文件主題自動分類成效因素探討 Effectiveness Issues in Automatic Text Categorization </vt:lpstr>
      <vt:lpstr>PowerPoint 簡報</vt:lpstr>
      <vt:lpstr>Introduction：</vt:lpstr>
      <vt:lpstr>Introduction：</vt:lpstr>
      <vt:lpstr>Introduction：</vt:lpstr>
      <vt:lpstr>特徵詞選擇（feature selection） </vt:lpstr>
      <vt:lpstr>特徵詞刪減（feature reduction） </vt:lpstr>
      <vt:lpstr>特徵詞刪減（feature reduction）</vt:lpstr>
      <vt:lpstr>摘要處理</vt:lpstr>
      <vt:lpstr>分類架構的設計（classification scheme） </vt:lpstr>
      <vt:lpstr>分類架構（classification scheme）</vt:lpstr>
      <vt:lpstr>分類不一致的現象</vt:lpstr>
      <vt:lpstr>分類不一致的現象</vt:lpstr>
      <vt:lpstr>訓練資料量</vt:lpstr>
      <vt:lpstr>訓練資料的代表性</vt:lpstr>
      <vt:lpstr>訓練資料的代表性</vt:lpstr>
      <vt:lpstr>分類成效的評估方式</vt:lpstr>
      <vt:lpstr>PowerPoint 簡報</vt:lpstr>
      <vt:lpstr>結論</vt:lpstr>
      <vt:lpstr>PowerPoint 簡報</vt:lpstr>
      <vt:lpstr>PowerPoint 簡報</vt:lpstr>
      <vt:lpstr>PowerPoint 簡報</vt:lpstr>
      <vt:lpstr>卡方檢定 (Chi-square Test) </vt:lpstr>
      <vt:lpstr>收支平衡點（Break-even Point）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文件主題自動分類成效因素探討 Effectiveness Issues in Automatic Text Categorization </dc:title>
  <dc:creator>賴駿豪</dc:creator>
  <cp:lastModifiedBy>Jyun-Hao Lai</cp:lastModifiedBy>
  <cp:revision>105</cp:revision>
  <dcterms:created xsi:type="dcterms:W3CDTF">2016-01-25T11:29:45Z</dcterms:created>
  <dcterms:modified xsi:type="dcterms:W3CDTF">2016-01-26T10:28:40Z</dcterms:modified>
</cp:coreProperties>
</file>