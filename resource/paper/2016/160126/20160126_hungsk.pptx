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6"/>
  </p:notesMasterIdLst>
  <p:sldIdLst>
    <p:sldId id="256" r:id="rId2"/>
    <p:sldId id="257" r:id="rId3"/>
    <p:sldId id="272" r:id="rId4"/>
    <p:sldId id="270" r:id="rId5"/>
    <p:sldId id="258" r:id="rId6"/>
    <p:sldId id="259" r:id="rId7"/>
    <p:sldId id="260" r:id="rId8"/>
    <p:sldId id="261" r:id="rId9"/>
    <p:sldId id="265" r:id="rId10"/>
    <p:sldId id="268" r:id="rId11"/>
    <p:sldId id="269" r:id="rId12"/>
    <p:sldId id="273" r:id="rId13"/>
    <p:sldId id="266" r:id="rId14"/>
    <p:sldId id="274" r:id="rId15"/>
  </p:sldIdLst>
  <p:sldSz cx="9144000" cy="6858000" type="screen4x3"/>
  <p:notesSz cx="6858000" cy="9144000"/>
  <p:defaultTextStyle>
    <a:defPPr>
      <a:defRPr lang="zh-TW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等深淺樣式 2 - 輔色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9702" autoAdjust="0"/>
    <p:restoredTop sz="94660"/>
  </p:normalViewPr>
  <p:slideViewPr>
    <p:cSldViewPr>
      <p:cViewPr varScale="1">
        <p:scale>
          <a:sx n="101" d="100"/>
          <a:sy n="101" d="100"/>
        </p:scale>
        <p:origin x="204" y="96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notesMaster" Target="notesMasters/notesMaster1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頁首版面配置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TW" altLang="en-US"/>
          </a:p>
        </p:txBody>
      </p:sp>
      <p:sp>
        <p:nvSpPr>
          <p:cNvPr id="3" name="日期版面配置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C5EF212-BC39-4092-837B-884A4D9E3F13}" type="datetimeFigureOut">
              <a:rPr lang="zh-TW" altLang="en-US" smtClean="0"/>
              <a:t>2016/1/26</a:t>
            </a:fld>
            <a:endParaRPr lang="zh-TW" altLang="en-US"/>
          </a:p>
        </p:txBody>
      </p:sp>
      <p:sp>
        <p:nvSpPr>
          <p:cNvPr id="4" name="投影片圖像版面配置區 3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TW" altLang="en-US"/>
          </a:p>
        </p:txBody>
      </p:sp>
      <p:sp>
        <p:nvSpPr>
          <p:cNvPr id="5" name="備忘稿版面配置區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TW" alt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D35FC6F-F070-40B5-95E3-88BF9AAFCDA0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33679329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圖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TW" dirty="0" smtClean="0"/>
              <a:t>http://www.sciencedirect.com/science/journal/01678655/55</a:t>
            </a:r>
            <a:endParaRPr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D35FC6F-F070-40B5-95E3-88BF9AAFCDA0}" type="slidenum">
              <a:rPr lang="zh-TW" altLang="en-US" smtClean="0"/>
              <a:t>1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81875392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標題投影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副標題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zh-TW" altLang="en-US" smtClean="0"/>
              <a:t>按一下以編輯母片副標題樣式</a:t>
            </a:r>
            <a:endParaRPr lang="zh-TW" altLang="en-US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BEAD13-0566-4C6C-97E7-55F17F24B09F}" type="datetimeFigureOut">
              <a:rPr lang="zh-TW" altLang="en-US" smtClean="0"/>
              <a:t>2016/1/26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DA0BB7-265A-403C-9275-D587AB510EDC}" type="slidenum">
              <a:rPr lang="zh-TW" altLang="en-US" smtClean="0"/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標題及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BEAD13-0566-4C6C-97E7-55F17F24B09F}" type="datetimeFigureOut">
              <a:rPr lang="zh-TW" altLang="en-US" smtClean="0"/>
              <a:t>2016/1/26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DA0BB7-265A-403C-9275-D587AB510EDC}" type="slidenum">
              <a:rPr lang="zh-TW" altLang="en-US" smtClean="0"/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區段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BEAD13-0566-4C6C-97E7-55F17F24B09F}" type="datetimeFigureOut">
              <a:rPr lang="zh-TW" altLang="en-US" smtClean="0"/>
              <a:t>2016/1/26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DA0BB7-265A-403C-9275-D587AB510EDC}" type="slidenum">
              <a:rPr lang="zh-TW" altLang="en-US" smtClean="0"/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兩項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內容版面配置區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4" name="內容版面配置區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5" name="日期版面配置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BEAD13-0566-4C6C-97E7-55F17F24B09F}" type="datetimeFigureOut">
              <a:rPr lang="zh-TW" altLang="en-US" smtClean="0"/>
              <a:t>2016/1/26</a:t>
            </a:fld>
            <a:endParaRPr lang="zh-TW" altLang="en-US"/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DA0BB7-265A-403C-9275-D587AB510EDC}" type="slidenum">
              <a:rPr lang="zh-TW" altLang="en-US" smtClean="0"/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對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</p:txBody>
      </p:sp>
      <p:sp>
        <p:nvSpPr>
          <p:cNvPr id="4" name="內容版面配置區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5" name="文字版面配置區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</p:txBody>
      </p:sp>
      <p:sp>
        <p:nvSpPr>
          <p:cNvPr id="6" name="內容版面配置區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7" name="日期版面配置區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BEAD13-0566-4C6C-97E7-55F17F24B09F}" type="datetimeFigureOut">
              <a:rPr lang="zh-TW" altLang="en-US" smtClean="0"/>
              <a:t>2016/1/26</a:t>
            </a:fld>
            <a:endParaRPr lang="zh-TW" altLang="en-US"/>
          </a:p>
        </p:txBody>
      </p:sp>
      <p:sp>
        <p:nvSpPr>
          <p:cNvPr id="8" name="頁尾版面配置區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9" name="投影片編號版面配置區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DA0BB7-265A-403C-9275-D587AB510EDC}" type="slidenum">
              <a:rPr lang="zh-TW" altLang="en-US" smtClean="0"/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只有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日期版面配置區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BEAD13-0566-4C6C-97E7-55F17F24B09F}" type="datetimeFigureOut">
              <a:rPr lang="zh-TW" altLang="en-US" smtClean="0"/>
              <a:t>2016/1/26</a:t>
            </a:fld>
            <a:endParaRPr lang="zh-TW" altLang="en-US"/>
          </a:p>
        </p:txBody>
      </p:sp>
      <p:sp>
        <p:nvSpPr>
          <p:cNvPr id="4" name="頁尾版面配置區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5" name="投影片編號版面配置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DA0BB7-265A-403C-9275-D587AB510EDC}" type="slidenum">
              <a:rPr lang="zh-TW" altLang="en-US" smtClean="0"/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版面配置區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BEAD13-0566-4C6C-97E7-55F17F24B09F}" type="datetimeFigureOut">
              <a:rPr lang="zh-TW" altLang="en-US" smtClean="0"/>
              <a:t>2016/1/26</a:t>
            </a:fld>
            <a:endParaRPr lang="zh-TW" altLang="en-US"/>
          </a:p>
        </p:txBody>
      </p:sp>
      <p:sp>
        <p:nvSpPr>
          <p:cNvPr id="3" name="頁尾版面配置區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DA0BB7-265A-403C-9275-D587AB510EDC}" type="slidenum">
              <a:rPr lang="zh-TW" altLang="en-US" smtClean="0"/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含標題的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4" name="文字版面配置區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</p:txBody>
      </p:sp>
      <p:sp>
        <p:nvSpPr>
          <p:cNvPr id="5" name="日期版面配置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BEAD13-0566-4C6C-97E7-55F17F24B09F}" type="datetimeFigureOut">
              <a:rPr lang="zh-TW" altLang="en-US" smtClean="0"/>
              <a:t>2016/1/26</a:t>
            </a:fld>
            <a:endParaRPr lang="zh-TW" altLang="en-US"/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DA0BB7-265A-403C-9275-D587AB510EDC}" type="slidenum">
              <a:rPr lang="zh-TW" altLang="en-US" smtClean="0"/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含標題的圖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圖片版面配置區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TW" altLang="en-US"/>
          </a:p>
        </p:txBody>
      </p:sp>
      <p:sp>
        <p:nvSpPr>
          <p:cNvPr id="4" name="文字版面配置區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</p:txBody>
      </p:sp>
      <p:sp>
        <p:nvSpPr>
          <p:cNvPr id="5" name="日期版面配置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BEAD13-0566-4C6C-97E7-55F17F24B09F}" type="datetimeFigureOut">
              <a:rPr lang="zh-TW" altLang="en-US" smtClean="0"/>
              <a:t>2016/1/26</a:t>
            </a:fld>
            <a:endParaRPr lang="zh-TW" altLang="en-US"/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DA0BB7-265A-403C-9275-D587AB510EDC}" type="slidenum">
              <a:rPr lang="zh-TW" altLang="en-US" smtClean="0"/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標題及直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直排文字版面配置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BEAD13-0566-4C6C-97E7-55F17F24B09F}" type="datetimeFigureOut">
              <a:rPr lang="zh-TW" altLang="en-US" smtClean="0"/>
              <a:t>2016/1/26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DA0BB7-265A-403C-9275-D587AB510EDC}" type="slidenum">
              <a:rPr lang="zh-TW" altLang="en-US" smtClean="0"/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直排標題及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直排標題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直排文字版面配置區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BEAD13-0566-4C6C-97E7-55F17F24B09F}" type="datetimeFigureOut">
              <a:rPr lang="zh-TW" altLang="en-US" smtClean="0"/>
              <a:t>2016/1/26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DA0BB7-265A-403C-9275-D587AB510EDC}" type="slidenum">
              <a:rPr lang="zh-TW" altLang="en-US" smtClean="0"/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版面配置區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BEAD13-0566-4C6C-97E7-55F17F24B09F}" type="datetimeFigureOut">
              <a:rPr lang="zh-TW" altLang="en-US" smtClean="0"/>
              <a:t>2016/1/26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3DA0BB7-265A-403C-9275-D587AB510EDC}" type="slidenum">
              <a:rPr lang="zh-TW" altLang="en-US" smtClean="0"/>
              <a:t>‹#›</a:t>
            </a:fld>
            <a:endParaRPr lang="zh-TW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TW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80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1.png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ctrTitle"/>
          </p:nvPr>
        </p:nvSpPr>
        <p:spPr>
          <a:xfrm>
            <a:off x="539552" y="836712"/>
            <a:ext cx="8208912" cy="1872208"/>
          </a:xfrm>
        </p:spPr>
        <p:txBody>
          <a:bodyPr>
            <a:normAutofit/>
          </a:bodyPr>
          <a:lstStyle/>
          <a:p>
            <a:r>
              <a:rPr lang="en-US" altLang="zh-TW" dirty="0" smtClean="0"/>
              <a:t>Order preserving pattern </a:t>
            </a:r>
            <a:br>
              <a:rPr lang="en-US" altLang="zh-TW" dirty="0" smtClean="0"/>
            </a:br>
            <a:r>
              <a:rPr lang="en-US" altLang="zh-TW" dirty="0" smtClean="0"/>
              <a:t>matching revisited</a:t>
            </a:r>
            <a:endParaRPr lang="zh-TW" altLang="en-US" dirty="0"/>
          </a:p>
        </p:txBody>
      </p:sp>
      <p:sp>
        <p:nvSpPr>
          <p:cNvPr id="3" name="副標題 2"/>
          <p:cNvSpPr>
            <a:spLocks noGrp="1"/>
          </p:cNvSpPr>
          <p:nvPr>
            <p:ph type="subTitle" idx="1"/>
          </p:nvPr>
        </p:nvSpPr>
        <p:spPr>
          <a:xfrm>
            <a:off x="1263588" y="2636912"/>
            <a:ext cx="6400800" cy="2664296"/>
          </a:xfrm>
        </p:spPr>
        <p:txBody>
          <a:bodyPr>
            <a:normAutofit fontScale="62500" lnSpcReduction="20000"/>
          </a:bodyPr>
          <a:lstStyle/>
          <a:p>
            <a:r>
              <a:rPr lang="en-US" altLang="zh-TW" b="1" dirty="0"/>
              <a:t>Pattern Recognition </a:t>
            </a:r>
            <a:r>
              <a:rPr lang="en-US" altLang="zh-TW" b="1" dirty="0" smtClean="0"/>
              <a:t>Letters</a:t>
            </a:r>
            <a:r>
              <a:rPr lang="zh-TW" altLang="en-US" b="1" dirty="0"/>
              <a:t> </a:t>
            </a:r>
            <a:endParaRPr lang="en-US" altLang="zh-TW" b="1" dirty="0" smtClean="0"/>
          </a:p>
          <a:p>
            <a:r>
              <a:rPr lang="en-US" altLang="zh-TW" b="1" dirty="0" smtClean="0"/>
              <a:t>volume </a:t>
            </a:r>
            <a:r>
              <a:rPr lang="en-US" altLang="zh-TW" dirty="0" smtClean="0"/>
              <a:t>55</a:t>
            </a:r>
            <a:endParaRPr lang="en-US" altLang="zh-TW" b="1" dirty="0" smtClean="0"/>
          </a:p>
          <a:p>
            <a:r>
              <a:rPr lang="en-US" altLang="zh-TW" dirty="0" smtClean="0"/>
              <a:t>(</a:t>
            </a:r>
            <a:r>
              <a:rPr lang="en-US" altLang="zh-TW" dirty="0"/>
              <a:t>2015) </a:t>
            </a:r>
            <a:r>
              <a:rPr lang="en-US" altLang="zh-TW" dirty="0" smtClean="0"/>
              <a:t>15–21</a:t>
            </a:r>
          </a:p>
          <a:p>
            <a:endParaRPr lang="en-US" altLang="zh-TW" dirty="0"/>
          </a:p>
          <a:p>
            <a:r>
              <a:rPr lang="en-US" altLang="zh-TW" dirty="0" err="1" smtClean="0"/>
              <a:t>Md.MahbubulHasan</a:t>
            </a:r>
            <a:r>
              <a:rPr lang="en-US" altLang="zh-TW" dirty="0" smtClean="0"/>
              <a:t>,</a:t>
            </a:r>
          </a:p>
          <a:p>
            <a:r>
              <a:rPr lang="en-US" altLang="zh-TW" dirty="0" err="1" smtClean="0"/>
              <a:t>A.S.M.ShohidullIslam</a:t>
            </a:r>
            <a:r>
              <a:rPr lang="en-US" altLang="zh-TW" dirty="0" smtClean="0"/>
              <a:t>,</a:t>
            </a:r>
          </a:p>
          <a:p>
            <a:r>
              <a:rPr lang="en-US" altLang="zh-TW" dirty="0" err="1" smtClean="0"/>
              <a:t>MohammadSaifurRahman</a:t>
            </a:r>
            <a:r>
              <a:rPr lang="en-US" altLang="zh-TW" dirty="0" smtClean="0"/>
              <a:t>,</a:t>
            </a:r>
            <a:r>
              <a:rPr lang="en-US" altLang="zh-TW" dirty="0"/>
              <a:t> </a:t>
            </a:r>
            <a:endParaRPr lang="en-US" altLang="zh-TW" dirty="0" smtClean="0"/>
          </a:p>
          <a:p>
            <a:r>
              <a:rPr lang="en-US" altLang="zh-TW" dirty="0" err="1" smtClean="0"/>
              <a:t>M.SohelRahman</a:t>
            </a:r>
            <a:endParaRPr lang="zh-TW" altLang="en-US" dirty="0"/>
          </a:p>
        </p:txBody>
      </p:sp>
      <p:sp>
        <p:nvSpPr>
          <p:cNvPr id="4" name="文字方塊 3"/>
          <p:cNvSpPr txBox="1"/>
          <p:nvPr/>
        </p:nvSpPr>
        <p:spPr>
          <a:xfrm>
            <a:off x="2195736" y="5414499"/>
            <a:ext cx="4536504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TW" sz="2400" dirty="0"/>
              <a:t>Presenter:  </a:t>
            </a:r>
            <a:r>
              <a:rPr lang="en-US" altLang="zh-TW" sz="2400" dirty="0" err="1"/>
              <a:t>Shu</a:t>
            </a:r>
            <a:r>
              <a:rPr lang="en-US" altLang="zh-TW" sz="2400" dirty="0"/>
              <a:t>-Kai Hung</a:t>
            </a:r>
            <a:br>
              <a:rPr lang="en-US" altLang="zh-TW" sz="2400" dirty="0"/>
            </a:br>
            <a:r>
              <a:rPr lang="en-US" altLang="zh-TW" sz="2400" dirty="0"/>
              <a:t>Date:2015/12/15</a:t>
            </a:r>
            <a:r>
              <a:rPr lang="zh-TW" altLang="en-US" sz="2400" dirty="0"/>
              <a:t/>
            </a:r>
            <a:br>
              <a:rPr lang="zh-TW" altLang="en-US" sz="2400" dirty="0"/>
            </a:br>
            <a:endParaRPr lang="zh-TW" altLang="en-US" sz="2400" dirty="0"/>
          </a:p>
        </p:txBody>
      </p:sp>
    </p:spTree>
    <p:extLst>
      <p:ext uri="{BB962C8B-B14F-4D97-AF65-F5344CB8AC3E}">
        <p14:creationId xmlns:p14="http://schemas.microsoft.com/office/powerpoint/2010/main" val="228391753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778098"/>
          </a:xfrm>
        </p:spPr>
        <p:txBody>
          <a:bodyPr/>
          <a:lstStyle/>
          <a:p>
            <a:pPr algn="l"/>
            <a:r>
              <a:rPr lang="en-US" altLang="zh-TW" dirty="0" smtClean="0"/>
              <a:t>Abstract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395536" y="1124744"/>
            <a:ext cx="8568952" cy="5001419"/>
          </a:xfrm>
        </p:spPr>
        <p:txBody>
          <a:bodyPr/>
          <a:lstStyle/>
          <a:p>
            <a:pPr marL="0" indent="0">
              <a:buNone/>
            </a:pPr>
            <a:r>
              <a:rPr lang="en-US" altLang="zh-TW" dirty="0" smtClean="0"/>
              <a:t>In this paper , we study the order preserving pattern matching(OPPM) problem, which is a very recent variant of the classic pattern matching problem. We revisit this variant, present a new interesting pattern matching algorithm and for the first time consider string regularities from this new perspective</a:t>
            </a:r>
            <a:r>
              <a:rPr lang="en-US" altLang="zh-TW" dirty="0"/>
              <a:t>.</a:t>
            </a:r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88793497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457200" y="71804"/>
            <a:ext cx="8229600" cy="764908"/>
          </a:xfrm>
        </p:spPr>
        <p:txBody>
          <a:bodyPr>
            <a:normAutofit fontScale="90000"/>
          </a:bodyPr>
          <a:lstStyle/>
          <a:p>
            <a:r>
              <a:rPr lang="en-US" altLang="zh-TW" dirty="0"/>
              <a:t>Order preserving representation(OPR</a:t>
            </a:r>
            <a:r>
              <a:rPr lang="en-US" altLang="zh-TW" dirty="0" smtClean="0"/>
              <a:t>)</a:t>
            </a:r>
            <a:endParaRPr lang="zh-TW" alt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內容版面配置區 2"/>
              <p:cNvSpPr>
                <a:spLocks noGrp="1"/>
              </p:cNvSpPr>
              <p:nvPr>
                <p:ph idx="1"/>
              </p:nvPr>
            </p:nvSpPr>
            <p:spPr>
              <a:xfrm>
                <a:off x="0" y="692696"/>
                <a:ext cx="9144000" cy="5904656"/>
              </a:xfrm>
            </p:spPr>
            <p:txBody>
              <a:bodyPr>
                <a:normAutofit fontScale="92500"/>
              </a:bodyPr>
              <a:lstStyle/>
              <a:p>
                <a:pPr marL="0" indent="0">
                  <a:buNone/>
                </a:pPr>
                <a:r>
                  <a:rPr lang="en-US" altLang="zh-TW" dirty="0">
                    <a:latin typeface="Cambria Math" panose="02040503050406030204" pitchFamily="18" charset="0"/>
                  </a:rPr>
                  <a:t>S</a:t>
                </a:r>
                <a:r>
                  <a:rPr lang="zh-TW" altLang="en-US" dirty="0">
                    <a:latin typeface="Cambria Math" panose="02040503050406030204" pitchFamily="18" charset="0"/>
                  </a:rPr>
                  <a:t> </a:t>
                </a:r>
                <a:r>
                  <a:rPr lang="en-US" altLang="zh-TW" dirty="0">
                    <a:latin typeface="Cambria Math" panose="02040503050406030204" pitchFamily="18" charset="0"/>
                  </a:rPr>
                  <a:t>:</a:t>
                </a:r>
                <a:r>
                  <a:rPr lang="zh-TW" altLang="en-US" i="1" dirty="0">
                    <a:latin typeface="Cambria Math" panose="02040503050406030204" pitchFamily="18" charset="0"/>
                  </a:rPr>
                  <a:t> </a:t>
                </a:r>
                <a:r>
                  <a:rPr lang="zh-TW" altLang="en-US" dirty="0">
                    <a:latin typeface="Cambria Math" panose="02040503050406030204" pitchFamily="18" charset="0"/>
                  </a:rPr>
                  <a:t>數字所組成的一串序列  </a:t>
                </a:r>
                <a:r>
                  <a:rPr lang="en-US" altLang="zh-TW" dirty="0">
                    <a:latin typeface="Cambria Math" panose="02040503050406030204" pitchFamily="18" charset="0"/>
                  </a:rPr>
                  <a:t>ex</a:t>
                </a:r>
                <a:r>
                  <a:rPr lang="en-US" altLang="zh-TW" dirty="0">
                    <a:latin typeface="Cambria Math" panose="02040503050406030204" pitchFamily="18" charset="0"/>
                    <a:sym typeface="Wingdings" panose="05000000000000000000" pitchFamily="2" charset="2"/>
                  </a:rPr>
                  <a:t> :  (1,15,20,60)</a:t>
                </a:r>
              </a:p>
              <a:p>
                <a:pPr marL="0" indent="0">
                  <a:buNone/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US" altLang="zh-TW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TW" i="1">
                            <a:latin typeface="Cambria Math" panose="02040503050406030204" pitchFamily="18" charset="0"/>
                          </a:rPr>
                          <m:t>𝑟𝑎𝑛𝑘</m:t>
                        </m:r>
                      </m:e>
                      <m:sub>
                        <m:r>
                          <a:rPr lang="en-US" altLang="zh-TW" i="1">
                            <a:latin typeface="Cambria Math" panose="02040503050406030204" pitchFamily="18" charset="0"/>
                          </a:rPr>
                          <m:t>𝑠</m:t>
                        </m:r>
                      </m:sub>
                    </m:sSub>
                  </m:oMath>
                </a14:m>
                <a:r>
                  <a:rPr lang="en-US" altLang="zh-TW" dirty="0"/>
                  <a:t>(</a:t>
                </a:r>
                <a:r>
                  <a:rPr lang="en-US" altLang="zh-TW" dirty="0" err="1"/>
                  <a:t>i</a:t>
                </a:r>
                <a:r>
                  <a:rPr lang="en-US" altLang="zh-TW" dirty="0"/>
                  <a:t>) : </a:t>
                </a:r>
                <a:r>
                  <a:rPr lang="zh-TW" altLang="en-US" dirty="0"/>
                  <a:t>表示第</a:t>
                </a:r>
                <a:r>
                  <a:rPr lang="en-US" altLang="zh-TW" dirty="0" err="1"/>
                  <a:t>i</a:t>
                </a:r>
                <a:r>
                  <a:rPr lang="zh-TW" altLang="en-US" dirty="0"/>
                  <a:t>個數字於整個</a:t>
                </a:r>
                <a:r>
                  <a:rPr lang="en-US" altLang="zh-TW" dirty="0"/>
                  <a:t>s</a:t>
                </a:r>
                <a:r>
                  <a:rPr lang="zh-TW" altLang="en-US" dirty="0"/>
                  <a:t>中的排名</a:t>
                </a:r>
                <a:endParaRPr lang="en-US" altLang="zh-TW" dirty="0"/>
              </a:p>
              <a:p>
                <a:pPr marL="0" indent="0">
                  <a:buNone/>
                </a:pPr>
                <a:r>
                  <a:rPr lang="en-US" altLang="zh-TW" dirty="0"/>
                  <a:t>	</a:t>
                </a:r>
                <a:r>
                  <a:rPr lang="zh-TW" altLang="en-US" dirty="0"/>
                  <a:t>如果</a:t>
                </a:r>
                <a:r>
                  <a:rPr lang="en-US" altLang="zh-TW" dirty="0"/>
                  <a:t>15</a:t>
                </a:r>
                <a:r>
                  <a:rPr lang="zh-TW" altLang="en-US" dirty="0"/>
                  <a:t>其</a:t>
                </a:r>
                <a:r>
                  <a:rPr lang="en-US" altLang="zh-TW" dirty="0"/>
                  <a:t>rank</a:t>
                </a:r>
                <a:r>
                  <a:rPr lang="zh-TW" altLang="en-US" dirty="0"/>
                  <a:t>即為</a:t>
                </a:r>
                <a:r>
                  <a:rPr lang="en-US" altLang="zh-TW" dirty="0" smtClean="0"/>
                  <a:t>2</a:t>
                </a:r>
              </a:p>
              <a:p>
                <a:pPr marL="0" indent="0">
                  <a:buNone/>
                </a:pPr>
                <a:endParaRPr lang="en-US" altLang="zh-TW" dirty="0"/>
              </a:p>
              <a:p>
                <a:pPr marL="0" indent="0">
                  <a:buNone/>
                </a:pPr>
                <a:r>
                  <a:rPr lang="en-US" altLang="zh-TW" dirty="0" smtClean="0"/>
                  <a:t>Example:</a:t>
                </a:r>
              </a:p>
              <a:p>
                <a:pPr marL="0" indent="0">
                  <a:buNone/>
                </a:pPr>
                <a:r>
                  <a:rPr lang="en-US" altLang="zh-TW" dirty="0" smtClean="0"/>
                  <a:t>S</a:t>
                </a:r>
                <a:r>
                  <a:rPr lang="zh-TW" altLang="en-US" dirty="0" smtClean="0"/>
                  <a:t> </a:t>
                </a:r>
                <a:r>
                  <a:rPr lang="en-US" altLang="zh-TW" dirty="0" smtClean="0"/>
                  <a:t>=</a:t>
                </a:r>
                <a:r>
                  <a:rPr lang="zh-TW" altLang="en-US" dirty="0" smtClean="0"/>
                  <a:t> </a:t>
                </a:r>
                <a:r>
                  <a:rPr lang="en-US" altLang="zh-TW" dirty="0" smtClean="0"/>
                  <a:t>(15,20,30,11,18)</a:t>
                </a:r>
                <a:r>
                  <a:rPr lang="zh-TW" altLang="en-US" dirty="0" smtClean="0"/>
                  <a:t> </a:t>
                </a:r>
                <a:r>
                  <a:rPr lang="en-US" altLang="zh-TW" dirty="0" smtClean="0"/>
                  <a:t>,then rank(15) = 2,rank(20) = 3</a:t>
                </a:r>
              </a:p>
              <a:p>
                <a:pPr marL="0" indent="0">
                  <a:buNone/>
                </a:pPr>
                <a:r>
                  <a:rPr lang="en-US" altLang="zh-TW" dirty="0" smtClean="0"/>
                  <a:t>So, </a:t>
                </a:r>
              </a:p>
              <a:p>
                <a:pPr marL="0" indent="0">
                  <a:buNone/>
                </a:pPr>
                <a:r>
                  <a:rPr lang="en-US" altLang="zh-TW" dirty="0" smtClean="0"/>
                  <a:t>OPR</a:t>
                </a:r>
                <a:r>
                  <a:rPr lang="en-US" altLang="zh-TW" dirty="0"/>
                  <a:t> </a:t>
                </a:r>
                <a14:m>
                  <m:oMath xmlns:m="http://schemas.openxmlformats.org/officeDocument/2006/math">
                    <m:r>
                      <a:rPr lang="en-US" altLang="zh-TW" i="1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altLang="zh-TW" i="1">
                        <a:latin typeface="Cambria Math" panose="02040503050406030204" pitchFamily="18" charset="0"/>
                      </a:rPr>
                      <m:t>𝑠</m:t>
                    </m:r>
                    <m:r>
                      <a:rPr lang="en-US" altLang="zh-TW" i="1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altLang="zh-TW" dirty="0"/>
                  <a:t> </a:t>
                </a:r>
                <a:r>
                  <a:rPr lang="en-US" altLang="zh-TW" dirty="0" smtClean="0"/>
                  <a:t> =rank(15),rank(20),rank(30),rank(11),rank(18)</a:t>
                </a:r>
              </a:p>
              <a:p>
                <a:pPr marL="0" indent="0">
                  <a:buNone/>
                </a:pPr>
                <a:r>
                  <a:rPr lang="en-US" altLang="zh-TW" dirty="0" smtClean="0"/>
                  <a:t>OPR</a:t>
                </a:r>
                <a14:m>
                  <m:oMath xmlns:m="http://schemas.openxmlformats.org/officeDocument/2006/math">
                    <m:r>
                      <a:rPr lang="en-US" altLang="zh-TW" b="0" i="1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altLang="zh-TW" b="0" i="1" smtClean="0">
                        <a:latin typeface="Cambria Math" panose="02040503050406030204" pitchFamily="18" charset="0"/>
                      </a:rPr>
                      <m:t>𝑠</m:t>
                    </m:r>
                    <m:r>
                      <a:rPr lang="en-US" altLang="zh-TW" b="0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altLang="zh-TW" dirty="0" smtClean="0"/>
                  <a:t> = </a:t>
                </a:r>
                <a14:m>
                  <m:oMath xmlns:m="http://schemas.openxmlformats.org/officeDocument/2006/math">
                    <m:r>
                      <a:rPr lang="zh-TW" altLang="en-US" i="1" smtClean="0">
                        <a:latin typeface="Cambria Math" panose="02040503050406030204" pitchFamily="18" charset="0"/>
                      </a:rPr>
                      <m:t>𝜎</m:t>
                    </m:r>
                    <m:r>
                      <a:rPr lang="en-US" altLang="zh-TW" b="0" i="1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altLang="zh-TW" b="0" i="1" smtClean="0">
                        <a:latin typeface="Cambria Math" panose="02040503050406030204" pitchFamily="18" charset="0"/>
                      </a:rPr>
                      <m:t>𝑠</m:t>
                    </m:r>
                    <m:r>
                      <a:rPr lang="en-US" altLang="zh-TW" b="0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altLang="zh-TW" dirty="0" smtClean="0"/>
                  <a:t> = (2,4,5,1,3)</a:t>
                </a:r>
              </a:p>
              <a:p>
                <a:pPr marL="0" indent="0">
                  <a:buNone/>
                </a:pPr>
                <a:r>
                  <a:rPr lang="en-US" altLang="zh-TW" dirty="0" smtClean="0"/>
                  <a:t> </a:t>
                </a:r>
              </a:p>
            </p:txBody>
          </p:sp>
        </mc:Choice>
        <mc:Fallback xmlns="">
          <p:sp>
            <p:nvSpPr>
              <p:cNvPr id="3" name="內容版面配置區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0" y="692696"/>
                <a:ext cx="9144000" cy="5904656"/>
              </a:xfrm>
              <a:blipFill rotWithShape="0">
                <a:blip r:embed="rId2"/>
                <a:stretch>
                  <a:fillRect l="-1533" t="-1446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4" name="圖片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7504" y="2348880"/>
            <a:ext cx="4800600" cy="4762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3657185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850106"/>
          </a:xfrm>
        </p:spPr>
        <p:txBody>
          <a:bodyPr/>
          <a:lstStyle/>
          <a:p>
            <a:r>
              <a:rPr lang="en-US" altLang="zh-TW" dirty="0" smtClean="0"/>
              <a:t>Order-Isomorphic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107504" y="1124744"/>
            <a:ext cx="8856984" cy="5733256"/>
          </a:xfrm>
        </p:spPr>
        <p:txBody>
          <a:bodyPr/>
          <a:lstStyle/>
          <a:p>
            <a:pPr marL="0" indent="0">
              <a:buNone/>
            </a:pPr>
            <a:r>
              <a:rPr lang="zh-TW" altLang="en-US" dirty="0" smtClean="0"/>
              <a:t>若有兩字串</a:t>
            </a:r>
            <a:r>
              <a:rPr lang="en-US" altLang="zh-TW" dirty="0" smtClean="0"/>
              <a:t>S1,S2</a:t>
            </a:r>
            <a:r>
              <a:rPr lang="zh-TW" altLang="en-US" dirty="0" smtClean="0"/>
              <a:t>且</a:t>
            </a:r>
            <a:r>
              <a:rPr lang="el-GR" altLang="zh-TW" dirty="0" smtClean="0"/>
              <a:t>σ</a:t>
            </a:r>
            <a:r>
              <a:rPr lang="en-US" altLang="zh-TW" dirty="0" smtClean="0"/>
              <a:t>(S1)=</a:t>
            </a:r>
            <a:r>
              <a:rPr lang="el-GR" altLang="zh-TW" dirty="0" smtClean="0"/>
              <a:t>σ</a:t>
            </a:r>
            <a:r>
              <a:rPr lang="en-US" altLang="zh-TW" dirty="0" smtClean="0"/>
              <a:t>(S2)</a:t>
            </a:r>
            <a:endParaRPr lang="en-US" altLang="zh-TW" dirty="0"/>
          </a:p>
          <a:p>
            <a:pPr marL="0" indent="0">
              <a:buNone/>
            </a:pPr>
            <a:r>
              <a:rPr lang="zh-TW" altLang="en-US" dirty="0" smtClean="0"/>
              <a:t>則稱</a:t>
            </a:r>
            <a:r>
              <a:rPr lang="en-US" altLang="zh-TW" dirty="0" smtClean="0"/>
              <a:t>S1,S2 OPR-equal </a:t>
            </a:r>
            <a:r>
              <a:rPr lang="zh-TW" altLang="en-US" dirty="0" smtClean="0"/>
              <a:t>或 </a:t>
            </a:r>
            <a:r>
              <a:rPr lang="en-US" altLang="zh-TW" dirty="0" smtClean="0"/>
              <a:t>Order-Isomorphic</a:t>
            </a:r>
          </a:p>
          <a:p>
            <a:pPr marL="0" indent="0">
              <a:buNone/>
            </a:pPr>
            <a:endParaRPr lang="en-US" altLang="zh-TW" dirty="0"/>
          </a:p>
          <a:p>
            <a:pPr marL="0" indent="0">
              <a:buNone/>
            </a:pPr>
            <a:r>
              <a:rPr lang="en-US" altLang="zh-TW" dirty="0" smtClean="0"/>
              <a:t>Example:</a:t>
            </a:r>
          </a:p>
          <a:p>
            <a:pPr marL="0" indent="0">
              <a:buNone/>
            </a:pPr>
            <a:r>
              <a:rPr lang="en-US" altLang="zh-TW" dirty="0" smtClean="0"/>
              <a:t>(4,1,2,3)</a:t>
            </a:r>
            <a:r>
              <a:rPr lang="zh-TW" altLang="en-US" dirty="0" smtClean="0"/>
              <a:t>～</a:t>
            </a:r>
            <a:r>
              <a:rPr lang="en-US" altLang="zh-TW" dirty="0" smtClean="0"/>
              <a:t>(63,12,23,42)</a:t>
            </a:r>
            <a:endParaRPr lang="en-US" altLang="zh-TW" dirty="0"/>
          </a:p>
          <a:p>
            <a:pPr marL="0" indent="0">
              <a:buNone/>
            </a:pPr>
            <a:endParaRPr lang="en-US" altLang="zh-TW" dirty="0" smtClean="0"/>
          </a:p>
          <a:p>
            <a:pPr marL="0" indent="0">
              <a:buNone/>
            </a:pPr>
            <a:endParaRPr lang="en-US" altLang="zh-TW" dirty="0" smtClean="0"/>
          </a:p>
          <a:p>
            <a:pPr marL="0" indent="0">
              <a:buNone/>
            </a:pPr>
            <a:endParaRPr lang="en-US" altLang="zh-TW" dirty="0"/>
          </a:p>
        </p:txBody>
      </p:sp>
    </p:spTree>
    <p:extLst>
      <p:ext uri="{BB962C8B-B14F-4D97-AF65-F5344CB8AC3E}">
        <p14:creationId xmlns:p14="http://schemas.microsoft.com/office/powerpoint/2010/main" val="345214603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0" y="-18256"/>
            <a:ext cx="9505056" cy="1143000"/>
          </a:xfrm>
        </p:spPr>
        <p:txBody>
          <a:bodyPr>
            <a:normAutofit fontScale="90000"/>
          </a:bodyPr>
          <a:lstStyle/>
          <a:p>
            <a:pPr algn="l"/>
            <a:r>
              <a:rPr lang="en-US" altLang="zh-TW" dirty="0"/>
              <a:t>order preserving </a:t>
            </a:r>
            <a:r>
              <a:rPr lang="en-US" altLang="zh-TW" dirty="0" smtClean="0"/>
              <a:t>pattern matching(OPPM</a:t>
            </a:r>
            <a:r>
              <a:rPr lang="en-US" altLang="zh-TW" dirty="0"/>
              <a:t>)</a:t>
            </a:r>
            <a:endParaRPr lang="zh-TW" alt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內容版面配置區 2"/>
              <p:cNvSpPr>
                <a:spLocks noGrp="1"/>
              </p:cNvSpPr>
              <p:nvPr>
                <p:ph idx="1"/>
              </p:nvPr>
            </p:nvSpPr>
            <p:spPr>
              <a:xfrm>
                <a:off x="107504" y="908720"/>
                <a:ext cx="9036496" cy="5949280"/>
              </a:xfrm>
            </p:spPr>
            <p:txBody>
              <a:bodyPr>
                <a:normAutofit/>
              </a:bodyPr>
              <a:lstStyle/>
              <a:p>
                <a:pPr marL="0" indent="0">
                  <a:buNone/>
                </a:pPr>
                <a:r>
                  <a:rPr lang="en-US" altLang="zh-TW" dirty="0" smtClean="0"/>
                  <a:t>Input</a:t>
                </a:r>
                <a:r>
                  <a:rPr lang="en-US" altLang="zh-TW" dirty="0">
                    <a:sym typeface="Wingdings" panose="05000000000000000000" pitchFamily="2" charset="2"/>
                  </a:rPr>
                  <a:t>: </a:t>
                </a:r>
                <a:r>
                  <a:rPr lang="en-US" altLang="zh-TW" sz="2400" dirty="0">
                    <a:sym typeface="Wingdings" panose="05000000000000000000" pitchFamily="2" charset="2"/>
                  </a:rPr>
                  <a:t>text(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TW" sz="2400" i="1">
                            <a:latin typeface="Cambria Math" panose="02040503050406030204" pitchFamily="18" charset="0"/>
                            <a:sym typeface="Wingdings" panose="05000000000000000000" pitchFamily="2" charset="2"/>
                          </a:rPr>
                        </m:ctrlPr>
                      </m:sSubPr>
                      <m:e>
                        <m:r>
                          <a:rPr lang="en-US" altLang="zh-TW" sz="2400" i="1">
                            <a:latin typeface="Cambria Math" panose="02040503050406030204" pitchFamily="18" charset="0"/>
                            <a:sym typeface="Wingdings" panose="05000000000000000000" pitchFamily="2" charset="2"/>
                          </a:rPr>
                          <m:t>𝑡</m:t>
                        </m:r>
                      </m:e>
                      <m:sub>
                        <m:r>
                          <a:rPr lang="en-US" altLang="zh-TW" sz="2400" i="1">
                            <a:latin typeface="Cambria Math" panose="02040503050406030204" pitchFamily="18" charset="0"/>
                            <a:sym typeface="Wingdings" panose="05000000000000000000" pitchFamily="2" charset="2"/>
                          </a:rPr>
                          <m:t>1</m:t>
                        </m:r>
                      </m:sub>
                    </m:sSub>
                  </m:oMath>
                </a14:m>
                <a:r>
                  <a:rPr lang="en-US" altLang="zh-TW" sz="2400" dirty="0">
                    <a:sym typeface="Wingdings" panose="05000000000000000000" pitchFamily="2" charset="2"/>
                  </a:rPr>
                  <a:t>,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TW" sz="2400" i="1">
                            <a:latin typeface="Cambria Math" panose="02040503050406030204" pitchFamily="18" charset="0"/>
                            <a:sym typeface="Wingdings" panose="05000000000000000000" pitchFamily="2" charset="2"/>
                          </a:rPr>
                        </m:ctrlPr>
                      </m:sSubPr>
                      <m:e>
                        <m:r>
                          <a:rPr lang="en-US" altLang="zh-TW" sz="2400" i="1">
                            <a:latin typeface="Cambria Math" panose="02040503050406030204" pitchFamily="18" charset="0"/>
                            <a:sym typeface="Wingdings" panose="05000000000000000000" pitchFamily="2" charset="2"/>
                          </a:rPr>
                          <m:t>𝑡</m:t>
                        </m:r>
                      </m:e>
                      <m:sub>
                        <m:r>
                          <a:rPr lang="en-US" altLang="zh-TW" sz="2400" i="1">
                            <a:latin typeface="Cambria Math" panose="02040503050406030204" pitchFamily="18" charset="0"/>
                            <a:sym typeface="Wingdings" panose="05000000000000000000" pitchFamily="2" charset="2"/>
                          </a:rPr>
                          <m:t>2</m:t>
                        </m:r>
                      </m:sub>
                    </m:sSub>
                    <m:r>
                      <a:rPr lang="en-US" altLang="zh-TW" sz="2400" i="1">
                        <a:latin typeface="Cambria Math" panose="02040503050406030204" pitchFamily="18" charset="0"/>
                        <a:sym typeface="Wingdings" panose="05000000000000000000" pitchFamily="2" charset="2"/>
                      </a:rPr>
                      <m:t>,…..,</m:t>
                    </m:r>
                    <m:sSub>
                      <m:sSubPr>
                        <m:ctrlPr>
                          <a:rPr lang="en-US" altLang="zh-TW" sz="2400" i="1">
                            <a:latin typeface="Cambria Math" panose="02040503050406030204" pitchFamily="18" charset="0"/>
                            <a:sym typeface="Wingdings" panose="05000000000000000000" pitchFamily="2" charset="2"/>
                          </a:rPr>
                        </m:ctrlPr>
                      </m:sSubPr>
                      <m:e>
                        <m:r>
                          <a:rPr lang="en-US" altLang="zh-TW" sz="2400" i="1">
                            <a:latin typeface="Cambria Math" panose="02040503050406030204" pitchFamily="18" charset="0"/>
                            <a:sym typeface="Wingdings" panose="05000000000000000000" pitchFamily="2" charset="2"/>
                          </a:rPr>
                          <m:t>𝑡</m:t>
                        </m:r>
                      </m:e>
                      <m:sub>
                        <m:r>
                          <a:rPr lang="en-US" altLang="zh-TW" sz="2400" i="1">
                            <a:latin typeface="Cambria Math" panose="02040503050406030204" pitchFamily="18" charset="0"/>
                            <a:sym typeface="Wingdings" panose="05000000000000000000" pitchFamily="2" charset="2"/>
                          </a:rPr>
                          <m:t>𝑛</m:t>
                        </m:r>
                      </m:sub>
                    </m:sSub>
                  </m:oMath>
                </a14:m>
                <a:r>
                  <a:rPr lang="en-US" altLang="zh-TW" sz="2400" dirty="0">
                    <a:sym typeface="Wingdings" panose="05000000000000000000" pitchFamily="2" charset="2"/>
                  </a:rPr>
                  <a:t>) and </a:t>
                </a:r>
                <a:r>
                  <a:rPr lang="en-US" altLang="zh-TW" sz="2400" dirty="0" smtClean="0">
                    <a:sym typeface="Wingdings" panose="05000000000000000000" pitchFamily="2" charset="2"/>
                  </a:rPr>
                  <a:t>pattern(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TW" sz="2400" i="1" smtClean="0">
                            <a:latin typeface="Cambria Math" panose="02040503050406030204" pitchFamily="18" charset="0"/>
                            <a:sym typeface="Wingdings" panose="05000000000000000000" pitchFamily="2" charset="2"/>
                          </a:rPr>
                        </m:ctrlPr>
                      </m:sSubPr>
                      <m:e>
                        <m:r>
                          <a:rPr lang="en-US" altLang="zh-TW" sz="2400" b="0" i="1" smtClean="0">
                            <a:latin typeface="Cambria Math" panose="02040503050406030204" pitchFamily="18" charset="0"/>
                            <a:sym typeface="Wingdings" panose="05000000000000000000" pitchFamily="2" charset="2"/>
                          </a:rPr>
                          <m:t>𝑝</m:t>
                        </m:r>
                      </m:e>
                      <m:sub>
                        <m:r>
                          <a:rPr lang="en-US" altLang="zh-TW" sz="2400" b="0" i="1" smtClean="0">
                            <a:latin typeface="Cambria Math" panose="02040503050406030204" pitchFamily="18" charset="0"/>
                            <a:sym typeface="Wingdings" panose="05000000000000000000" pitchFamily="2" charset="2"/>
                          </a:rPr>
                          <m:t>1</m:t>
                        </m:r>
                      </m:sub>
                    </m:sSub>
                    <m:r>
                      <a:rPr lang="en-US" altLang="zh-TW" sz="2400" b="0" i="1" smtClean="0">
                        <a:latin typeface="Cambria Math" panose="02040503050406030204" pitchFamily="18" charset="0"/>
                        <a:sym typeface="Wingdings" panose="05000000000000000000" pitchFamily="2" charset="2"/>
                      </a:rPr>
                      <m:t>,</m:t>
                    </m:r>
                    <m:sSub>
                      <m:sSubPr>
                        <m:ctrlPr>
                          <a:rPr lang="en-US" altLang="zh-TW" sz="2400" i="1">
                            <a:latin typeface="Cambria Math" panose="02040503050406030204" pitchFamily="18" charset="0"/>
                            <a:sym typeface="Wingdings" panose="05000000000000000000" pitchFamily="2" charset="2"/>
                          </a:rPr>
                        </m:ctrlPr>
                      </m:sSubPr>
                      <m:e>
                        <m:r>
                          <a:rPr lang="en-US" altLang="zh-TW" sz="2400" i="1">
                            <a:latin typeface="Cambria Math" panose="02040503050406030204" pitchFamily="18" charset="0"/>
                            <a:sym typeface="Wingdings" panose="05000000000000000000" pitchFamily="2" charset="2"/>
                          </a:rPr>
                          <m:t>𝑝</m:t>
                        </m:r>
                      </m:e>
                      <m:sub>
                        <m:r>
                          <a:rPr lang="en-US" altLang="zh-TW" sz="2400" b="0" i="1" smtClean="0">
                            <a:latin typeface="Cambria Math" panose="02040503050406030204" pitchFamily="18" charset="0"/>
                            <a:sym typeface="Wingdings" panose="05000000000000000000" pitchFamily="2" charset="2"/>
                          </a:rPr>
                          <m:t>2</m:t>
                        </m:r>
                      </m:sub>
                    </m:sSub>
                    <m:r>
                      <a:rPr lang="en-US" altLang="zh-TW" sz="2400" b="0" i="1" smtClean="0">
                        <a:latin typeface="Cambria Math" panose="02040503050406030204" pitchFamily="18" charset="0"/>
                        <a:sym typeface="Wingdings" panose="05000000000000000000" pitchFamily="2" charset="2"/>
                      </a:rPr>
                      <m:t>,….,</m:t>
                    </m:r>
                    <m:sSub>
                      <m:sSubPr>
                        <m:ctrlPr>
                          <a:rPr lang="en-US" altLang="zh-TW" sz="2400" i="1">
                            <a:latin typeface="Cambria Math" panose="02040503050406030204" pitchFamily="18" charset="0"/>
                            <a:sym typeface="Wingdings" panose="05000000000000000000" pitchFamily="2" charset="2"/>
                          </a:rPr>
                        </m:ctrlPr>
                      </m:sSubPr>
                      <m:e>
                        <m:r>
                          <a:rPr lang="en-US" altLang="zh-TW" sz="2400" i="1">
                            <a:latin typeface="Cambria Math" panose="02040503050406030204" pitchFamily="18" charset="0"/>
                            <a:sym typeface="Wingdings" panose="05000000000000000000" pitchFamily="2" charset="2"/>
                          </a:rPr>
                          <m:t>𝑝</m:t>
                        </m:r>
                      </m:e>
                      <m:sub>
                        <m:r>
                          <a:rPr lang="en-US" altLang="zh-TW" sz="2400" b="0" i="1" smtClean="0">
                            <a:latin typeface="Cambria Math" panose="02040503050406030204" pitchFamily="18" charset="0"/>
                            <a:sym typeface="Wingdings" panose="05000000000000000000" pitchFamily="2" charset="2"/>
                          </a:rPr>
                          <m:t>𝑚</m:t>
                        </m:r>
                      </m:sub>
                    </m:sSub>
                  </m:oMath>
                </a14:m>
                <a:r>
                  <a:rPr lang="en-US" altLang="zh-TW" sz="2400" dirty="0" smtClean="0">
                    <a:sym typeface="Wingdings" panose="05000000000000000000" pitchFamily="2" charset="2"/>
                  </a:rPr>
                  <a:t>)</a:t>
                </a:r>
              </a:p>
              <a:p>
                <a:pPr marL="0" indent="0">
                  <a:buNone/>
                </a:pPr>
                <a:r>
                  <a:rPr lang="en-US" altLang="zh-TW" dirty="0" smtClean="0">
                    <a:sym typeface="Wingdings" panose="05000000000000000000" pitchFamily="2" charset="2"/>
                  </a:rPr>
                  <a:t>Output: </a:t>
                </a:r>
                <a:r>
                  <a:rPr lang="en-US" altLang="zh-TW" sz="2400" dirty="0" smtClean="0">
                    <a:sym typeface="Wingdings" panose="05000000000000000000" pitchFamily="2" charset="2"/>
                  </a:rPr>
                  <a:t>is there </a:t>
                </a:r>
                <a:r>
                  <a:rPr lang="en-US" altLang="zh-TW" sz="2400" dirty="0" err="1" smtClean="0">
                    <a:sym typeface="Wingdings" panose="05000000000000000000" pitchFamily="2" charset="2"/>
                  </a:rPr>
                  <a:t>i</a:t>
                </a:r>
                <a:r>
                  <a:rPr lang="en-US" altLang="zh-TW" sz="2400" dirty="0" smtClean="0">
                    <a:sym typeface="Wingdings" panose="05000000000000000000" pitchFamily="2" charset="2"/>
                  </a:rPr>
                  <a:t> such that </a:t>
                </a:r>
                <a:r>
                  <a:rPr lang="en-US" altLang="zh-TW" sz="2400" dirty="0">
                    <a:sym typeface="Wingdings" panose="05000000000000000000" pitchFamily="2" charset="2"/>
                  </a:rPr>
                  <a:t>(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TW" sz="2400" i="1">
                            <a:latin typeface="Cambria Math" panose="02040503050406030204" pitchFamily="18" charset="0"/>
                            <a:sym typeface="Wingdings" panose="05000000000000000000" pitchFamily="2" charset="2"/>
                          </a:rPr>
                        </m:ctrlPr>
                      </m:sSubPr>
                      <m:e>
                        <m:r>
                          <a:rPr lang="en-US" altLang="zh-TW" sz="2400" i="1">
                            <a:latin typeface="Cambria Math" panose="02040503050406030204" pitchFamily="18" charset="0"/>
                            <a:sym typeface="Wingdings" panose="05000000000000000000" pitchFamily="2" charset="2"/>
                          </a:rPr>
                          <m:t>𝑡</m:t>
                        </m:r>
                      </m:e>
                      <m:sub>
                        <m:r>
                          <a:rPr lang="en-US" altLang="zh-TW" sz="2400" b="0" i="1" smtClean="0">
                            <a:latin typeface="Cambria Math" panose="02040503050406030204" pitchFamily="18" charset="0"/>
                            <a:sym typeface="Wingdings" panose="05000000000000000000" pitchFamily="2" charset="2"/>
                          </a:rPr>
                          <m:t>𝑖</m:t>
                        </m:r>
                      </m:sub>
                    </m:sSub>
                  </m:oMath>
                </a14:m>
                <a:r>
                  <a:rPr lang="en-US" altLang="zh-TW" sz="2400" dirty="0">
                    <a:sym typeface="Wingdings" panose="05000000000000000000" pitchFamily="2" charset="2"/>
                  </a:rPr>
                  <a:t>,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TW" sz="2400" i="1">
                            <a:latin typeface="Cambria Math" panose="02040503050406030204" pitchFamily="18" charset="0"/>
                            <a:sym typeface="Wingdings" panose="05000000000000000000" pitchFamily="2" charset="2"/>
                          </a:rPr>
                        </m:ctrlPr>
                      </m:sSubPr>
                      <m:e>
                        <m:r>
                          <a:rPr lang="en-US" altLang="zh-TW" sz="2400" i="1">
                            <a:latin typeface="Cambria Math" panose="02040503050406030204" pitchFamily="18" charset="0"/>
                            <a:sym typeface="Wingdings" panose="05000000000000000000" pitchFamily="2" charset="2"/>
                          </a:rPr>
                          <m:t>𝑡</m:t>
                        </m:r>
                      </m:e>
                      <m:sub>
                        <m:r>
                          <a:rPr lang="en-US" altLang="zh-TW" sz="2400" b="0" i="1" smtClean="0">
                            <a:latin typeface="Cambria Math" panose="02040503050406030204" pitchFamily="18" charset="0"/>
                            <a:sym typeface="Wingdings" panose="05000000000000000000" pitchFamily="2" charset="2"/>
                          </a:rPr>
                          <m:t>𝑖</m:t>
                        </m:r>
                        <m:r>
                          <a:rPr lang="en-US" altLang="zh-TW" sz="2400" b="0" i="1" smtClean="0">
                            <a:latin typeface="Cambria Math" panose="02040503050406030204" pitchFamily="18" charset="0"/>
                            <a:sym typeface="Wingdings" panose="05000000000000000000" pitchFamily="2" charset="2"/>
                          </a:rPr>
                          <m:t>+1</m:t>
                        </m:r>
                      </m:sub>
                    </m:sSub>
                    <m:r>
                      <a:rPr lang="en-US" altLang="zh-TW" sz="2400" i="1">
                        <a:latin typeface="Cambria Math" panose="02040503050406030204" pitchFamily="18" charset="0"/>
                        <a:sym typeface="Wingdings" panose="05000000000000000000" pitchFamily="2" charset="2"/>
                      </a:rPr>
                      <m:t>,…..,</m:t>
                    </m:r>
                    <m:sSub>
                      <m:sSubPr>
                        <m:ctrlPr>
                          <a:rPr lang="en-US" altLang="zh-TW" sz="2400" i="1">
                            <a:latin typeface="Cambria Math" panose="02040503050406030204" pitchFamily="18" charset="0"/>
                            <a:sym typeface="Wingdings" panose="05000000000000000000" pitchFamily="2" charset="2"/>
                          </a:rPr>
                        </m:ctrlPr>
                      </m:sSubPr>
                      <m:e>
                        <m:r>
                          <a:rPr lang="en-US" altLang="zh-TW" sz="2400" i="1">
                            <a:latin typeface="Cambria Math" panose="02040503050406030204" pitchFamily="18" charset="0"/>
                            <a:sym typeface="Wingdings" panose="05000000000000000000" pitchFamily="2" charset="2"/>
                          </a:rPr>
                          <m:t>𝑡</m:t>
                        </m:r>
                      </m:e>
                      <m:sub>
                        <m:r>
                          <a:rPr lang="en-US" altLang="zh-TW" sz="2400" b="0" i="1" smtClean="0">
                            <a:latin typeface="Cambria Math" panose="02040503050406030204" pitchFamily="18" charset="0"/>
                            <a:sym typeface="Wingdings" panose="05000000000000000000" pitchFamily="2" charset="2"/>
                          </a:rPr>
                          <m:t>𝑖</m:t>
                        </m:r>
                        <m:r>
                          <a:rPr lang="en-US" altLang="zh-TW" sz="2400" b="0" i="1" smtClean="0">
                            <a:latin typeface="Cambria Math" panose="02040503050406030204" pitchFamily="18" charset="0"/>
                            <a:sym typeface="Wingdings" panose="05000000000000000000" pitchFamily="2" charset="2"/>
                          </a:rPr>
                          <m:t>+</m:t>
                        </m:r>
                        <m:r>
                          <a:rPr lang="en-US" altLang="zh-TW" sz="2400" b="0" i="1" smtClean="0">
                            <a:latin typeface="Cambria Math" panose="02040503050406030204" pitchFamily="18" charset="0"/>
                            <a:sym typeface="Wingdings" panose="05000000000000000000" pitchFamily="2" charset="2"/>
                          </a:rPr>
                          <m:t>𝑚</m:t>
                        </m:r>
                        <m:r>
                          <a:rPr lang="en-US" altLang="zh-TW" sz="2400" b="0" i="1" smtClean="0">
                            <a:latin typeface="Cambria Math" panose="02040503050406030204" pitchFamily="18" charset="0"/>
                            <a:sym typeface="Wingdings" panose="05000000000000000000" pitchFamily="2" charset="2"/>
                          </a:rPr>
                          <m:t>−1</m:t>
                        </m:r>
                      </m:sub>
                    </m:sSub>
                  </m:oMath>
                </a14:m>
                <a:r>
                  <a:rPr lang="en-US" altLang="zh-TW" sz="2400" dirty="0">
                    <a:sym typeface="Wingdings" panose="05000000000000000000" pitchFamily="2" charset="2"/>
                  </a:rPr>
                  <a:t>) </a:t>
                </a:r>
                <a:r>
                  <a:rPr lang="zh-TW" altLang="en-US" sz="2400" dirty="0" smtClean="0">
                    <a:sym typeface="Wingdings" panose="05000000000000000000" pitchFamily="2" charset="2"/>
                  </a:rPr>
                  <a:t>～</a:t>
                </a:r>
                <a:r>
                  <a:rPr lang="en-US" altLang="zh-TW" sz="2400" dirty="0">
                    <a:sym typeface="Wingdings" panose="05000000000000000000" pitchFamily="2" charset="2"/>
                  </a:rPr>
                  <a:t> (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TW" sz="2400" i="1">
                            <a:latin typeface="Cambria Math" panose="02040503050406030204" pitchFamily="18" charset="0"/>
                            <a:sym typeface="Wingdings" panose="05000000000000000000" pitchFamily="2" charset="2"/>
                          </a:rPr>
                        </m:ctrlPr>
                      </m:sSubPr>
                      <m:e>
                        <m:r>
                          <a:rPr lang="en-US" altLang="zh-TW" sz="2400" i="1">
                            <a:latin typeface="Cambria Math" panose="02040503050406030204" pitchFamily="18" charset="0"/>
                            <a:sym typeface="Wingdings" panose="05000000000000000000" pitchFamily="2" charset="2"/>
                          </a:rPr>
                          <m:t>𝑝</m:t>
                        </m:r>
                      </m:e>
                      <m:sub>
                        <m:r>
                          <a:rPr lang="en-US" altLang="zh-TW" sz="2400" i="1">
                            <a:latin typeface="Cambria Math" panose="02040503050406030204" pitchFamily="18" charset="0"/>
                            <a:sym typeface="Wingdings" panose="05000000000000000000" pitchFamily="2" charset="2"/>
                          </a:rPr>
                          <m:t>1</m:t>
                        </m:r>
                      </m:sub>
                    </m:sSub>
                    <m:r>
                      <a:rPr lang="en-US" altLang="zh-TW" sz="2400" i="1">
                        <a:latin typeface="Cambria Math" panose="02040503050406030204" pitchFamily="18" charset="0"/>
                        <a:sym typeface="Wingdings" panose="05000000000000000000" pitchFamily="2" charset="2"/>
                      </a:rPr>
                      <m:t>,</m:t>
                    </m:r>
                    <m:sSub>
                      <m:sSubPr>
                        <m:ctrlPr>
                          <a:rPr lang="en-US" altLang="zh-TW" sz="2400" i="1">
                            <a:latin typeface="Cambria Math" panose="02040503050406030204" pitchFamily="18" charset="0"/>
                            <a:sym typeface="Wingdings" panose="05000000000000000000" pitchFamily="2" charset="2"/>
                          </a:rPr>
                        </m:ctrlPr>
                      </m:sSubPr>
                      <m:e>
                        <m:r>
                          <a:rPr lang="en-US" altLang="zh-TW" sz="2400" i="1">
                            <a:latin typeface="Cambria Math" panose="02040503050406030204" pitchFamily="18" charset="0"/>
                            <a:sym typeface="Wingdings" panose="05000000000000000000" pitchFamily="2" charset="2"/>
                          </a:rPr>
                          <m:t>𝑝</m:t>
                        </m:r>
                      </m:e>
                      <m:sub>
                        <m:r>
                          <a:rPr lang="en-US" altLang="zh-TW" sz="2400" i="1">
                            <a:latin typeface="Cambria Math" panose="02040503050406030204" pitchFamily="18" charset="0"/>
                            <a:sym typeface="Wingdings" panose="05000000000000000000" pitchFamily="2" charset="2"/>
                          </a:rPr>
                          <m:t>2</m:t>
                        </m:r>
                      </m:sub>
                    </m:sSub>
                    <m:r>
                      <a:rPr lang="en-US" altLang="zh-TW" sz="2400" i="1">
                        <a:latin typeface="Cambria Math" panose="02040503050406030204" pitchFamily="18" charset="0"/>
                        <a:sym typeface="Wingdings" panose="05000000000000000000" pitchFamily="2" charset="2"/>
                      </a:rPr>
                      <m:t>,….,</m:t>
                    </m:r>
                    <m:sSub>
                      <m:sSubPr>
                        <m:ctrlPr>
                          <a:rPr lang="en-US" altLang="zh-TW" sz="2400" i="1">
                            <a:latin typeface="Cambria Math" panose="02040503050406030204" pitchFamily="18" charset="0"/>
                            <a:sym typeface="Wingdings" panose="05000000000000000000" pitchFamily="2" charset="2"/>
                          </a:rPr>
                        </m:ctrlPr>
                      </m:sSubPr>
                      <m:e>
                        <m:r>
                          <a:rPr lang="en-US" altLang="zh-TW" sz="2400" i="1">
                            <a:latin typeface="Cambria Math" panose="02040503050406030204" pitchFamily="18" charset="0"/>
                            <a:sym typeface="Wingdings" panose="05000000000000000000" pitchFamily="2" charset="2"/>
                          </a:rPr>
                          <m:t>𝑝</m:t>
                        </m:r>
                      </m:e>
                      <m:sub>
                        <m:r>
                          <a:rPr lang="en-US" altLang="zh-TW" sz="2400" i="1">
                            <a:latin typeface="Cambria Math" panose="02040503050406030204" pitchFamily="18" charset="0"/>
                            <a:sym typeface="Wingdings" panose="05000000000000000000" pitchFamily="2" charset="2"/>
                          </a:rPr>
                          <m:t>𝑚</m:t>
                        </m:r>
                      </m:sub>
                    </m:sSub>
                  </m:oMath>
                </a14:m>
                <a:r>
                  <a:rPr lang="en-US" altLang="zh-TW" sz="2400" dirty="0">
                    <a:sym typeface="Wingdings" panose="05000000000000000000" pitchFamily="2" charset="2"/>
                  </a:rPr>
                  <a:t>)</a:t>
                </a:r>
                <a:endParaRPr lang="en-US" altLang="zh-TW" sz="2400" dirty="0" smtClean="0"/>
              </a:p>
              <a:p>
                <a:pPr marL="0" indent="0">
                  <a:buNone/>
                </a:pPr>
                <a:endParaRPr lang="en-US" altLang="zh-TW" dirty="0"/>
              </a:p>
              <a:p>
                <a:pPr marL="0" indent="0">
                  <a:buNone/>
                </a:pPr>
                <a:endParaRPr lang="en-US" altLang="zh-TW" dirty="0" smtClean="0"/>
              </a:p>
              <a:p>
                <a:pPr marL="0" indent="0">
                  <a:buNone/>
                </a:pPr>
                <a:endParaRPr lang="en-US" altLang="zh-TW" dirty="0"/>
              </a:p>
              <a:p>
                <a:pPr marL="0" indent="0">
                  <a:buNone/>
                </a:pPr>
                <a:endParaRPr lang="en-US" altLang="zh-TW" dirty="0" smtClean="0"/>
              </a:p>
              <a:p>
                <a:pPr marL="0" indent="0">
                  <a:buNone/>
                </a:pPr>
                <a:endParaRPr lang="en-US" altLang="zh-TW" dirty="0"/>
              </a:p>
              <a:p>
                <a:pPr marL="0" indent="0">
                  <a:buNone/>
                </a:pPr>
                <a:endParaRPr lang="en-US" altLang="zh-TW" dirty="0" smtClean="0"/>
              </a:p>
              <a:p>
                <a:pPr marL="0" indent="0">
                  <a:buNone/>
                </a:pPr>
                <a:endParaRPr lang="en-US" altLang="zh-TW" dirty="0" smtClean="0"/>
              </a:p>
              <a:p>
                <a:pPr marL="0" indent="0">
                  <a:buNone/>
                </a:pPr>
                <a:r>
                  <a:rPr lang="en-US" altLang="zh-TW" dirty="0" smtClean="0"/>
                  <a:t>Time complexity : O(n + sort(m) )</a:t>
                </a:r>
              </a:p>
              <a:p>
                <a:pPr marL="0" indent="0">
                  <a:buNone/>
                </a:pPr>
                <a:endParaRPr lang="en-US" altLang="zh-TW" dirty="0"/>
              </a:p>
            </p:txBody>
          </p:sp>
        </mc:Choice>
        <mc:Fallback xmlns="">
          <p:sp>
            <p:nvSpPr>
              <p:cNvPr id="3" name="內容版面配置區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107504" y="908720"/>
                <a:ext cx="9036496" cy="5949280"/>
              </a:xfrm>
              <a:blipFill rotWithShape="0">
                <a:blip r:embed="rId2"/>
                <a:stretch>
                  <a:fillRect l="-1754" t="-1332" b="-1639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7504" y="2172392"/>
            <a:ext cx="8280920" cy="392090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123450859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179512" y="116632"/>
            <a:ext cx="8686800" cy="936104"/>
          </a:xfrm>
        </p:spPr>
        <p:txBody>
          <a:bodyPr>
            <a:noAutofit/>
          </a:bodyPr>
          <a:lstStyle/>
          <a:p>
            <a:pPr algn="l"/>
            <a:r>
              <a:rPr lang="en-US" altLang="zh-TW" sz="3200" dirty="0" err="1" smtClean="0"/>
              <a:t>Gusfield's</a:t>
            </a:r>
            <a:r>
              <a:rPr lang="en-US" altLang="zh-TW" sz="3200" dirty="0" smtClean="0"/>
              <a:t> </a:t>
            </a:r>
            <a:r>
              <a:rPr lang="en-US" altLang="zh-TW" sz="3200" dirty="0"/>
              <a:t>Algorithm </a:t>
            </a:r>
            <a:r>
              <a:rPr lang="zh-TW" altLang="en-US" sz="3200" dirty="0" smtClean="0"/>
              <a:t>（ </a:t>
            </a:r>
            <a:r>
              <a:rPr lang="en-US" altLang="zh-TW" sz="3200" dirty="0"/>
              <a:t>Z Algorithm </a:t>
            </a:r>
            <a:r>
              <a:rPr lang="zh-TW" altLang="en-US" sz="3200" dirty="0"/>
              <a:t>）</a:t>
            </a:r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179512" y="1052736"/>
            <a:ext cx="8507288" cy="5544616"/>
          </a:xfrm>
        </p:spPr>
        <p:txBody>
          <a:bodyPr/>
          <a:lstStyle/>
          <a:p>
            <a:pPr marL="0" indent="0">
              <a:buNone/>
            </a:pPr>
            <a:endParaRPr lang="en-US" altLang="zh-TW" dirty="0" smtClean="0"/>
          </a:p>
          <a:p>
            <a:pPr marL="0" indent="0">
              <a:buNone/>
            </a:pPr>
            <a:r>
              <a:rPr lang="en-US" altLang="zh-TW" dirty="0" smtClean="0"/>
              <a:t>z</a:t>
            </a:r>
            <a:r>
              <a:rPr lang="en-US" altLang="zh-TW" sz="2400" dirty="0" smtClean="0"/>
              <a:t>(</a:t>
            </a:r>
            <a:r>
              <a:rPr lang="en-US" altLang="zh-TW" sz="2400" dirty="0" err="1" smtClean="0"/>
              <a:t>i</a:t>
            </a:r>
            <a:r>
              <a:rPr lang="en-US" altLang="zh-TW" sz="2400" dirty="0"/>
              <a:t>): Refers to the string by the s [</a:t>
            </a:r>
            <a:r>
              <a:rPr lang="en-US" altLang="zh-TW" sz="2400" dirty="0" err="1"/>
              <a:t>i</a:t>
            </a:r>
            <a:r>
              <a:rPr lang="en-US" altLang="zh-TW" sz="2400" dirty="0"/>
              <a:t>] beginning, and s [0] string can be matched to the start how long</a:t>
            </a:r>
            <a:r>
              <a:rPr lang="en-US" altLang="zh-TW" sz="2400" dirty="0" smtClean="0"/>
              <a:t>.(string s , s[</a:t>
            </a:r>
            <a:r>
              <a:rPr lang="en-US" altLang="zh-TW" sz="2400" dirty="0" err="1" smtClean="0"/>
              <a:t>i</a:t>
            </a:r>
            <a:r>
              <a:rPr lang="en-US" altLang="zh-TW" sz="2400" dirty="0" smtClean="0"/>
              <a:t>] : the </a:t>
            </a:r>
            <a:r>
              <a:rPr lang="en-US" altLang="zh-TW" sz="2400" dirty="0" err="1" smtClean="0"/>
              <a:t>i</a:t>
            </a:r>
            <a:r>
              <a:rPr lang="en-US" altLang="zh-TW" sz="2400" dirty="0" smtClean="0"/>
              <a:t> </a:t>
            </a:r>
            <a:r>
              <a:rPr lang="en-US" altLang="zh-TW" sz="2400" dirty="0" err="1" smtClean="0"/>
              <a:t>th</a:t>
            </a:r>
            <a:r>
              <a:rPr lang="en-US" altLang="zh-TW" sz="2400" dirty="0" smtClean="0"/>
              <a:t> value)</a:t>
            </a:r>
          </a:p>
          <a:p>
            <a:pPr marL="0" indent="0">
              <a:buNone/>
            </a:pPr>
            <a:r>
              <a:rPr lang="en-US" altLang="zh-TW" sz="2400" dirty="0" smtClean="0"/>
              <a:t>※ compare with prefix</a:t>
            </a:r>
            <a:endParaRPr lang="en-US" altLang="zh-TW" sz="2400" dirty="0"/>
          </a:p>
          <a:p>
            <a:pPr marL="0" indent="0">
              <a:buNone/>
            </a:pPr>
            <a:r>
              <a:rPr lang="en-US" altLang="zh-TW" sz="2400" dirty="0" smtClean="0"/>
              <a:t>Example:</a:t>
            </a:r>
          </a:p>
          <a:p>
            <a:pPr marL="0" indent="0">
              <a:buNone/>
            </a:pPr>
            <a:endParaRPr lang="en-US" altLang="zh-TW" sz="2400" dirty="0"/>
          </a:p>
          <a:p>
            <a:pPr marL="0" indent="0">
              <a:buNone/>
            </a:pPr>
            <a:endParaRPr lang="en-US" altLang="zh-TW" sz="2400" dirty="0" smtClean="0"/>
          </a:p>
          <a:p>
            <a:pPr marL="0" indent="0">
              <a:buNone/>
            </a:pPr>
            <a:endParaRPr lang="zh-TW" altLang="en-US" sz="2400" dirty="0"/>
          </a:p>
        </p:txBody>
      </p:sp>
      <p:graphicFrame>
        <p:nvGraphicFramePr>
          <p:cNvPr id="5" name="表格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164725340"/>
              </p:ext>
            </p:extLst>
          </p:nvPr>
        </p:nvGraphicFramePr>
        <p:xfrm>
          <a:off x="755576" y="4005064"/>
          <a:ext cx="6095999" cy="7416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68923"/>
                <a:gridCol w="468923"/>
                <a:gridCol w="468923"/>
                <a:gridCol w="468923"/>
                <a:gridCol w="468923"/>
                <a:gridCol w="468923"/>
                <a:gridCol w="468923"/>
                <a:gridCol w="468923"/>
                <a:gridCol w="468923"/>
                <a:gridCol w="468923"/>
                <a:gridCol w="468923"/>
                <a:gridCol w="468923"/>
                <a:gridCol w="468923"/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S[</a:t>
                      </a:r>
                      <a:r>
                        <a:rPr lang="en-US" altLang="zh-TW" dirty="0" err="1" smtClean="0"/>
                        <a:t>i</a:t>
                      </a:r>
                      <a:r>
                        <a:rPr lang="en-US" altLang="zh-TW" dirty="0" smtClean="0"/>
                        <a:t>]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A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C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A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G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G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T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A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C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A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G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A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C</a:t>
                      </a:r>
                      <a:endParaRPr lang="zh-TW" altLang="en-US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Z(</a:t>
                      </a:r>
                      <a:r>
                        <a:rPr lang="en-US" altLang="zh-TW" dirty="0" err="1" smtClean="0"/>
                        <a:t>i</a:t>
                      </a:r>
                      <a:r>
                        <a:rPr lang="en-US" altLang="zh-TW" dirty="0" smtClean="0"/>
                        <a:t>)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1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0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1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0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0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0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4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0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1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0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2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0</a:t>
                      </a:r>
                      <a:endParaRPr lang="zh-TW" altLang="en-US" dirty="0"/>
                    </a:p>
                  </a:txBody>
                  <a:tcPr/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09641974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251520" y="44624"/>
            <a:ext cx="8229600" cy="850106"/>
          </a:xfrm>
        </p:spPr>
        <p:txBody>
          <a:bodyPr/>
          <a:lstStyle/>
          <a:p>
            <a:pPr algn="l"/>
            <a:r>
              <a:rPr lang="en-US" altLang="zh-TW" dirty="0" smtClean="0"/>
              <a:t>Modified </a:t>
            </a:r>
            <a:r>
              <a:rPr lang="en-US" altLang="zh-TW" i="1" dirty="0" smtClean="0"/>
              <a:t>Z </a:t>
            </a:r>
            <a:r>
              <a:rPr lang="en-US" altLang="zh-TW" dirty="0" smtClean="0"/>
              <a:t>- function</a:t>
            </a:r>
            <a:endParaRPr lang="zh-TW" alt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內容版面配置區 2"/>
              <p:cNvSpPr>
                <a:spLocks noGrp="1"/>
              </p:cNvSpPr>
              <p:nvPr>
                <p:ph idx="1"/>
              </p:nvPr>
            </p:nvSpPr>
            <p:spPr>
              <a:xfrm>
                <a:off x="107504" y="1196752"/>
                <a:ext cx="8712968" cy="5145435"/>
              </a:xfrm>
            </p:spPr>
            <p:txBody>
              <a:bodyPr/>
              <a:lstStyle/>
              <a:p>
                <a:pPr marL="0" indent="0">
                  <a:buNone/>
                </a:pPr>
                <a:r>
                  <a:rPr lang="en-US" altLang="zh-TW" dirty="0" smtClean="0"/>
                  <a:t>To useful from the order preserving point of view</a:t>
                </a:r>
              </a:p>
              <a:p>
                <a:pPr marL="0" indent="0">
                  <a:buNone/>
                </a:pPr>
                <a:endParaRPr lang="en-US" altLang="zh-TW" dirty="0" smtClean="0"/>
              </a:p>
              <a:p>
                <a:pPr marL="0" indent="0">
                  <a:buNone/>
                </a:pPr>
                <a:r>
                  <a:rPr lang="en-US" altLang="zh-TW" dirty="0" smtClean="0"/>
                  <a:t>Example:</a:t>
                </a:r>
              </a:p>
              <a:p>
                <a:pPr marL="0" indent="0">
                  <a:buNone/>
                </a:pPr>
                <a:endParaRPr lang="en-US" altLang="zh-TW" dirty="0"/>
              </a:p>
              <a:p>
                <a:pPr marL="0" indent="0">
                  <a:buNone/>
                </a:pPr>
                <a:endParaRPr lang="en-US" altLang="zh-TW" dirty="0" smtClean="0"/>
              </a:p>
              <a:p>
                <a:pPr marL="0" indent="0">
                  <a:buNone/>
                </a:pPr>
                <a:endParaRPr lang="en-US" altLang="zh-TW" dirty="0"/>
              </a:p>
              <a:p>
                <a:pPr marL="0" indent="0">
                  <a:buNone/>
                </a:pPr>
                <a:r>
                  <a:rPr lang="en-US" altLang="zh-TW" dirty="0" smtClean="0"/>
                  <a:t>Time complexity : </a:t>
                </a:r>
                <a14:m>
                  <m:oMath xmlns:m="http://schemas.openxmlformats.org/officeDocument/2006/math">
                    <m:r>
                      <a:rPr lang="en-US" altLang="zh-TW" b="0" i="1" smtClean="0">
                        <a:latin typeface="Cambria Math" panose="02040503050406030204" pitchFamily="18" charset="0"/>
                      </a:rPr>
                      <m:t>𝑂</m:t>
                    </m:r>
                    <m:r>
                      <a:rPr lang="en-US" altLang="zh-TW" b="0" i="1" smtClean="0">
                        <a:latin typeface="Cambria Math" panose="02040503050406030204" pitchFamily="18" charset="0"/>
                      </a:rPr>
                      <m:t>(</m:t>
                    </m:r>
                    <m:sSup>
                      <m:sSupPr>
                        <m:ctrlPr>
                          <a:rPr lang="en-US" altLang="zh-TW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zh-TW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  <m:sup>
                        <m:r>
                          <a:rPr lang="en-US" altLang="zh-TW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US" altLang="zh-TW" b="0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 lang="en-US" altLang="zh-TW" dirty="0" smtClean="0"/>
              </a:p>
            </p:txBody>
          </p:sp>
        </mc:Choice>
        <mc:Fallback xmlns="">
          <p:sp>
            <p:nvSpPr>
              <p:cNvPr id="3" name="內容版面配置區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107504" y="1196752"/>
                <a:ext cx="8712968" cy="5145435"/>
              </a:xfrm>
              <a:blipFill rotWithShape="0">
                <a:blip r:embed="rId2"/>
                <a:stretch>
                  <a:fillRect l="-1819" t="-1540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graphicFrame>
        <p:nvGraphicFramePr>
          <p:cNvPr id="4" name="表格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60471952"/>
              </p:ext>
            </p:extLst>
          </p:nvPr>
        </p:nvGraphicFramePr>
        <p:xfrm>
          <a:off x="1043608" y="3398629"/>
          <a:ext cx="6096000" cy="7416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09600"/>
                <a:gridCol w="609600"/>
                <a:gridCol w="609600"/>
                <a:gridCol w="609600"/>
                <a:gridCol w="609600"/>
                <a:gridCol w="609600"/>
                <a:gridCol w="609600"/>
                <a:gridCol w="609600"/>
                <a:gridCol w="609600"/>
                <a:gridCol w="609600"/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S[</a:t>
                      </a:r>
                      <a:r>
                        <a:rPr lang="en-US" altLang="zh-TW" dirty="0" err="1" smtClean="0"/>
                        <a:t>i</a:t>
                      </a:r>
                      <a:r>
                        <a:rPr lang="en-US" altLang="zh-TW" dirty="0" smtClean="0"/>
                        <a:t>]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11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 18 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24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26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20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25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23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29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30</a:t>
                      </a:r>
                      <a:endParaRPr lang="zh-TW" altLang="en-US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Z(</a:t>
                      </a:r>
                      <a:r>
                        <a:rPr lang="en-US" altLang="zh-TW" dirty="0" err="1" smtClean="0"/>
                        <a:t>i</a:t>
                      </a:r>
                      <a:r>
                        <a:rPr lang="en-US" altLang="zh-TW" dirty="0" smtClean="0"/>
                        <a:t>)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9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3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2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1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2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1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3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2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1</a:t>
                      </a:r>
                      <a:endParaRPr lang="zh-TW" altLang="en-US" dirty="0"/>
                    </a:p>
                  </a:txBody>
                  <a:tcPr/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11697799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/>
          <p:nvPr/>
        </p:nvSpPr>
        <p:spPr>
          <a:xfrm>
            <a:off x="4355976" y="3379315"/>
            <a:ext cx="2664296" cy="360040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395536" y="260648"/>
            <a:ext cx="8229600" cy="5894115"/>
          </a:xfrm>
        </p:spPr>
        <p:txBody>
          <a:bodyPr/>
          <a:lstStyle/>
          <a:p>
            <a:pPr marL="0" indent="0">
              <a:buNone/>
            </a:pPr>
            <a:endParaRPr lang="zh-TW" altLang="en-US" dirty="0"/>
          </a:p>
        </p:txBody>
      </p:sp>
      <p:pic>
        <p:nvPicPr>
          <p:cNvPr id="3074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59632" y="1124743"/>
            <a:ext cx="5943600" cy="52292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5" name="矩形 4"/>
          <p:cNvSpPr/>
          <p:nvPr/>
        </p:nvSpPr>
        <p:spPr>
          <a:xfrm>
            <a:off x="1619672" y="3429000"/>
            <a:ext cx="6336704" cy="720080"/>
          </a:xfrm>
          <a:prstGeom prst="rect">
            <a:avLst/>
          </a:prstGeom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pic>
        <p:nvPicPr>
          <p:cNvPr id="3075" name="Picture 3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907704" y="3472092"/>
            <a:ext cx="5112568" cy="65362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41189978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 smtClean="0"/>
              <a:t>Balance binary search tree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107504" y="1600200"/>
            <a:ext cx="9036496" cy="4925144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altLang="zh-TW" sz="2400" dirty="0"/>
              <a:t>A binary search tree is a binary tree where, for each node m, the left sub-tree only has nodes with keys smaller </a:t>
            </a:r>
            <a:r>
              <a:rPr lang="en-US" altLang="zh-TW" sz="2400" dirty="0" smtClean="0"/>
              <a:t>than the </a:t>
            </a:r>
            <a:r>
              <a:rPr lang="en-US" altLang="zh-TW" sz="2400" dirty="0"/>
              <a:t>key of m, while the right sub-tree only has nodes with keys larger than the key of m.</a:t>
            </a:r>
            <a:endParaRPr lang="zh-TW" altLang="en-US" sz="2400" dirty="0"/>
          </a:p>
        </p:txBody>
      </p:sp>
      <p:pic>
        <p:nvPicPr>
          <p:cNvPr id="4" name="圖片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91680" y="3429000"/>
            <a:ext cx="3024336" cy="22543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7719882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284176" y="116632"/>
            <a:ext cx="8856984" cy="922114"/>
          </a:xfrm>
        </p:spPr>
        <p:txBody>
          <a:bodyPr/>
          <a:lstStyle/>
          <a:p>
            <a:r>
              <a:rPr lang="en-US" altLang="zh-TW" dirty="0" smtClean="0"/>
              <a:t>Algorithm 2(with Algorithm 1)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284176" y="895536"/>
            <a:ext cx="8856984" cy="5544616"/>
          </a:xfrm>
        </p:spPr>
        <p:txBody>
          <a:bodyPr/>
          <a:lstStyle/>
          <a:p>
            <a:pPr marL="0" indent="0">
              <a:buNone/>
            </a:pPr>
            <a:endParaRPr lang="en-US" altLang="zh-TW" dirty="0" smtClean="0"/>
          </a:p>
          <a:p>
            <a:pPr marL="0" indent="0">
              <a:buNone/>
            </a:pPr>
            <a:endParaRPr lang="en-US" altLang="zh-TW" dirty="0"/>
          </a:p>
          <a:p>
            <a:pPr marL="0" indent="0">
              <a:buNone/>
            </a:pPr>
            <a:endParaRPr lang="en-US" altLang="zh-TW" dirty="0" smtClean="0"/>
          </a:p>
          <a:p>
            <a:pPr marL="0" indent="0">
              <a:buNone/>
            </a:pPr>
            <a:endParaRPr lang="en-US" altLang="zh-TW" dirty="0"/>
          </a:p>
          <a:p>
            <a:pPr marL="0" indent="0">
              <a:buNone/>
            </a:pPr>
            <a:endParaRPr lang="en-US" altLang="zh-TW" dirty="0" smtClean="0"/>
          </a:p>
          <a:p>
            <a:pPr marL="0" indent="0">
              <a:buNone/>
            </a:pPr>
            <a:endParaRPr lang="en-US" altLang="zh-TW" dirty="0"/>
          </a:p>
          <a:p>
            <a:pPr marL="0" indent="0">
              <a:buNone/>
            </a:pPr>
            <a:endParaRPr lang="en-US" altLang="zh-TW" dirty="0" smtClean="0"/>
          </a:p>
        </p:txBody>
      </p:sp>
      <p:pic>
        <p:nvPicPr>
          <p:cNvPr id="4" name="圖片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7504" y="908720"/>
            <a:ext cx="5219700" cy="2647950"/>
          </a:xfrm>
          <a:prstGeom prst="rect">
            <a:avLst/>
          </a:prstGeom>
        </p:spPr>
      </p:pic>
      <p:sp>
        <p:nvSpPr>
          <p:cNvPr id="5" name="文字方塊 4"/>
          <p:cNvSpPr txBox="1"/>
          <p:nvPr/>
        </p:nvSpPr>
        <p:spPr>
          <a:xfrm>
            <a:off x="0" y="3605351"/>
            <a:ext cx="7560840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dirty="0" smtClean="0"/>
              <a:t>Constructing Tree(include </a:t>
            </a:r>
            <a:r>
              <a:rPr lang="en-US" altLang="zh-TW" dirty="0" smtClean="0">
                <a:solidFill>
                  <a:srgbClr val="FF0000"/>
                </a:solidFill>
              </a:rPr>
              <a:t>insert(</a:t>
            </a:r>
            <a:r>
              <a:rPr lang="en-US" altLang="zh-TW" dirty="0" err="1" smtClean="0">
                <a:solidFill>
                  <a:srgbClr val="FF0000"/>
                </a:solidFill>
              </a:rPr>
              <a:t>x,i</a:t>
            </a:r>
            <a:r>
              <a:rPr lang="en-US" altLang="zh-TW" dirty="0" smtClean="0">
                <a:solidFill>
                  <a:srgbClr val="FF0000"/>
                </a:solidFill>
              </a:rPr>
              <a:t>)</a:t>
            </a:r>
            <a:r>
              <a:rPr lang="en-US" altLang="zh-TW" dirty="0" smtClean="0"/>
              <a:t>  ,  </a:t>
            </a:r>
            <a:r>
              <a:rPr lang="en-US" altLang="zh-TW" dirty="0" smtClean="0">
                <a:solidFill>
                  <a:srgbClr val="FF0000"/>
                </a:solidFill>
              </a:rPr>
              <a:t>Rank(x)</a:t>
            </a:r>
            <a:r>
              <a:rPr lang="en-US" altLang="zh-TW" dirty="0" smtClean="0"/>
              <a:t> )</a:t>
            </a:r>
          </a:p>
          <a:p>
            <a:r>
              <a:rPr lang="en-US" altLang="zh-TW" dirty="0" smtClean="0"/>
              <a:t>example:</a:t>
            </a:r>
          </a:p>
          <a:p>
            <a:r>
              <a:rPr lang="en-US" altLang="zh-TW" dirty="0" smtClean="0"/>
              <a:t>S = (11,18,24,20,25,29)                                                       OPRs = (1,2,4,3,5,6)</a:t>
            </a:r>
            <a:endParaRPr lang="zh-TW" altLang="en-US" dirty="0"/>
          </a:p>
        </p:txBody>
      </p:sp>
      <p:sp>
        <p:nvSpPr>
          <p:cNvPr id="6" name="橢圓 5"/>
          <p:cNvSpPr/>
          <p:nvPr/>
        </p:nvSpPr>
        <p:spPr>
          <a:xfrm>
            <a:off x="4098673" y="4077072"/>
            <a:ext cx="648072" cy="720080"/>
          </a:xfrm>
          <a:prstGeom prst="ellipse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TW" dirty="0" smtClean="0"/>
              <a:t>24</a:t>
            </a:r>
            <a:endParaRPr lang="zh-TW" altLang="en-US" dirty="0"/>
          </a:p>
        </p:txBody>
      </p:sp>
      <p:sp>
        <p:nvSpPr>
          <p:cNvPr id="7" name="橢圓 6"/>
          <p:cNvSpPr/>
          <p:nvPr/>
        </p:nvSpPr>
        <p:spPr>
          <a:xfrm>
            <a:off x="3275856" y="5030586"/>
            <a:ext cx="648072" cy="720080"/>
          </a:xfrm>
          <a:prstGeom prst="ellipse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TW" dirty="0" smtClean="0"/>
              <a:t>18</a:t>
            </a:r>
            <a:endParaRPr lang="zh-TW" altLang="en-US" dirty="0"/>
          </a:p>
        </p:txBody>
      </p:sp>
      <p:sp>
        <p:nvSpPr>
          <p:cNvPr id="8" name="橢圓 7"/>
          <p:cNvSpPr/>
          <p:nvPr/>
        </p:nvSpPr>
        <p:spPr>
          <a:xfrm>
            <a:off x="3828492" y="5903708"/>
            <a:ext cx="648072" cy="720080"/>
          </a:xfrm>
          <a:prstGeom prst="ellipse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TW" dirty="0" smtClean="0"/>
              <a:t>20</a:t>
            </a:r>
            <a:endParaRPr lang="zh-TW" altLang="en-US" dirty="0"/>
          </a:p>
        </p:txBody>
      </p:sp>
      <p:sp>
        <p:nvSpPr>
          <p:cNvPr id="9" name="橢圓 8"/>
          <p:cNvSpPr/>
          <p:nvPr/>
        </p:nvSpPr>
        <p:spPr>
          <a:xfrm>
            <a:off x="2555776" y="5903708"/>
            <a:ext cx="648072" cy="720080"/>
          </a:xfrm>
          <a:prstGeom prst="ellipse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TW" dirty="0" smtClean="0"/>
              <a:t>11</a:t>
            </a:r>
            <a:endParaRPr lang="zh-TW" altLang="en-US" dirty="0"/>
          </a:p>
        </p:txBody>
      </p:sp>
      <p:sp>
        <p:nvSpPr>
          <p:cNvPr id="10" name="橢圓 9"/>
          <p:cNvSpPr/>
          <p:nvPr/>
        </p:nvSpPr>
        <p:spPr>
          <a:xfrm>
            <a:off x="5560436" y="5903708"/>
            <a:ext cx="648072" cy="720080"/>
          </a:xfrm>
          <a:prstGeom prst="ellipse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TW" dirty="0" smtClean="0"/>
              <a:t>29</a:t>
            </a:r>
            <a:endParaRPr lang="zh-TW" altLang="en-US" dirty="0"/>
          </a:p>
        </p:txBody>
      </p:sp>
      <p:sp>
        <p:nvSpPr>
          <p:cNvPr id="11" name="橢圓 10"/>
          <p:cNvSpPr/>
          <p:nvPr/>
        </p:nvSpPr>
        <p:spPr>
          <a:xfrm>
            <a:off x="4860032" y="4975346"/>
            <a:ext cx="648072" cy="720080"/>
          </a:xfrm>
          <a:prstGeom prst="ellipse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TW" dirty="0" smtClean="0"/>
              <a:t>25</a:t>
            </a:r>
            <a:endParaRPr lang="zh-TW" altLang="en-US" dirty="0"/>
          </a:p>
        </p:txBody>
      </p:sp>
      <p:cxnSp>
        <p:nvCxnSpPr>
          <p:cNvPr id="13" name="直線接點 12"/>
          <p:cNvCxnSpPr>
            <a:stCxn id="6" idx="3"/>
            <a:endCxn id="7" idx="7"/>
          </p:cNvCxnSpPr>
          <p:nvPr/>
        </p:nvCxnSpPr>
        <p:spPr>
          <a:xfrm flipH="1">
            <a:off x="3829020" y="4691699"/>
            <a:ext cx="364561" cy="444340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5" name="直線接點 14"/>
          <p:cNvCxnSpPr>
            <a:stCxn id="7" idx="3"/>
            <a:endCxn id="9" idx="7"/>
          </p:cNvCxnSpPr>
          <p:nvPr/>
        </p:nvCxnSpPr>
        <p:spPr>
          <a:xfrm flipH="1">
            <a:off x="3108940" y="5645213"/>
            <a:ext cx="261824" cy="363948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7" name="直線接點 16"/>
          <p:cNvCxnSpPr>
            <a:stCxn id="7" idx="5"/>
          </p:cNvCxnSpPr>
          <p:nvPr/>
        </p:nvCxnSpPr>
        <p:spPr>
          <a:xfrm>
            <a:off x="3829020" y="5645213"/>
            <a:ext cx="182280" cy="268222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9" name="直線接點 18"/>
          <p:cNvCxnSpPr>
            <a:stCxn id="6" idx="5"/>
            <a:endCxn id="11" idx="1"/>
          </p:cNvCxnSpPr>
          <p:nvPr/>
        </p:nvCxnSpPr>
        <p:spPr>
          <a:xfrm>
            <a:off x="4651837" y="4691699"/>
            <a:ext cx="303103" cy="389100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1" name="直線接點 20"/>
          <p:cNvCxnSpPr>
            <a:stCxn id="11" idx="5"/>
            <a:endCxn id="10" idx="1"/>
          </p:cNvCxnSpPr>
          <p:nvPr/>
        </p:nvCxnSpPr>
        <p:spPr>
          <a:xfrm>
            <a:off x="5413196" y="5589973"/>
            <a:ext cx="242148" cy="419188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22" name="文字方塊 21"/>
              <p:cNvSpPr txBox="1"/>
              <p:nvPr/>
            </p:nvSpPr>
            <p:spPr>
              <a:xfrm>
                <a:off x="5300024" y="2314443"/>
                <a:ext cx="3592456" cy="120032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altLang="zh-TW" dirty="0" smtClean="0"/>
                  <a:t>Time Complexity : </a:t>
                </a:r>
                <a14:m>
                  <m:oMath xmlns:m="http://schemas.openxmlformats.org/officeDocument/2006/math">
                    <m:r>
                      <a:rPr lang="en-US" altLang="zh-TW" b="0" i="1" smtClean="0">
                        <a:latin typeface="Cambria Math" panose="02040503050406030204" pitchFamily="18" charset="0"/>
                      </a:rPr>
                      <m:t>𝑂</m:t>
                    </m:r>
                    <m:d>
                      <m:dPr>
                        <m:ctrlPr>
                          <a:rPr lang="en-US" altLang="zh-TW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TW" b="0" i="1" smtClean="0">
                            <a:latin typeface="Cambria Math" panose="02040503050406030204" pitchFamily="18" charset="0"/>
                          </a:rPr>
                          <m:t>𝑛𝑙𝑜𝑔𝑛</m:t>
                        </m:r>
                      </m:e>
                    </m:d>
                  </m:oMath>
                </a14:m>
                <a:endParaRPr lang="en-US" altLang="zh-TW" b="0" dirty="0" smtClean="0"/>
              </a:p>
              <a:p>
                <a:endParaRPr lang="en-US" altLang="zh-TW" dirty="0" smtClean="0"/>
              </a:p>
              <a:p>
                <a:r>
                  <a:rPr lang="en-US" altLang="zh-TW" dirty="0" smtClean="0"/>
                  <a:t>Checking equality of two OPRs:</a:t>
                </a:r>
                <a14:m>
                  <m:oMath xmlns:m="http://schemas.openxmlformats.org/officeDocument/2006/math">
                    <m:r>
                      <a:rPr lang="en-US" altLang="zh-TW" b="0" i="1" smtClean="0">
                        <a:latin typeface="Cambria Math" panose="02040503050406030204" pitchFamily="18" charset="0"/>
                      </a:rPr>
                      <m:t>𝑂</m:t>
                    </m:r>
                    <m:r>
                      <a:rPr lang="en-US" altLang="zh-TW" b="0" i="1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altLang="zh-TW" b="0" i="1" smtClean="0">
                        <a:latin typeface="Cambria Math" panose="02040503050406030204" pitchFamily="18" charset="0"/>
                      </a:rPr>
                      <m:t>𝑛</m:t>
                    </m:r>
                    <m:r>
                      <a:rPr lang="en-US" altLang="zh-TW" b="0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 lang="en-US" altLang="zh-TW" dirty="0" smtClean="0"/>
              </a:p>
              <a:p>
                <a:endParaRPr lang="zh-TW" altLang="en-US" dirty="0"/>
              </a:p>
            </p:txBody>
          </p:sp>
        </mc:Choice>
        <mc:Fallback xmlns="">
          <p:sp>
            <p:nvSpPr>
              <p:cNvPr id="22" name="文字方塊 2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300024" y="2314443"/>
                <a:ext cx="3592456" cy="1200329"/>
              </a:xfrm>
              <a:prstGeom prst="rect">
                <a:avLst/>
              </a:prstGeom>
              <a:blipFill rotWithShape="0">
                <a:blip r:embed="rId3"/>
                <a:stretch>
                  <a:fillRect l="-1356" t="-3046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05559623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矩形 4"/>
          <p:cNvSpPr/>
          <p:nvPr/>
        </p:nvSpPr>
        <p:spPr>
          <a:xfrm>
            <a:off x="3851920" y="1672047"/>
            <a:ext cx="5112568" cy="1080120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395536" y="18457"/>
            <a:ext cx="8229600" cy="1143000"/>
          </a:xfrm>
        </p:spPr>
        <p:txBody>
          <a:bodyPr/>
          <a:lstStyle/>
          <a:p>
            <a:r>
              <a:rPr lang="en-US" altLang="zh-TW" dirty="0" smtClean="0"/>
              <a:t>Algorithm3 &amp; 4</a:t>
            </a:r>
            <a:endParaRPr lang="zh-TW" altLang="en-US" dirty="0"/>
          </a:p>
        </p:txBody>
      </p:sp>
      <p:pic>
        <p:nvPicPr>
          <p:cNvPr id="4" name="內容版面配置區 3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4067944" y="1916832"/>
            <a:ext cx="4762500" cy="590550"/>
          </a:xfrm>
          <a:prstGeom prst="rect">
            <a:avLst/>
          </a:prstGeom>
        </p:spPr>
      </p:pic>
      <p:pic>
        <p:nvPicPr>
          <p:cNvPr id="6" name="圖片 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-324544" y="908720"/>
            <a:ext cx="4176464" cy="2781300"/>
          </a:xfrm>
          <a:prstGeom prst="rect">
            <a:avLst/>
          </a:prstGeom>
        </p:spPr>
      </p:pic>
      <p:sp>
        <p:nvSpPr>
          <p:cNvPr id="7" name="文字方塊 6"/>
          <p:cNvSpPr txBox="1"/>
          <p:nvPr/>
        </p:nvSpPr>
        <p:spPr>
          <a:xfrm>
            <a:off x="253274" y="3738945"/>
            <a:ext cx="7197291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dirty="0" smtClean="0"/>
              <a:t>Two new operation :</a:t>
            </a:r>
          </a:p>
          <a:p>
            <a:pPr marL="342900" indent="-342900">
              <a:buAutoNum type="arabicPeriod"/>
            </a:pPr>
            <a:r>
              <a:rPr lang="en-US" altLang="zh-TW" dirty="0" err="1" smtClean="0"/>
              <a:t>PreviousIndex</a:t>
            </a:r>
            <a:r>
              <a:rPr lang="en-US" altLang="zh-TW" dirty="0" smtClean="0"/>
              <a:t>(x) : Finds the value of pair having largest key less than x</a:t>
            </a:r>
          </a:p>
          <a:p>
            <a:pPr marL="342900" indent="-342900">
              <a:buAutoNum type="arabicPeriod"/>
            </a:pPr>
            <a:r>
              <a:rPr lang="en-US" altLang="zh-TW" dirty="0" err="1" smtClean="0"/>
              <a:t>NextIndex</a:t>
            </a:r>
            <a:r>
              <a:rPr lang="en-US" altLang="zh-TW" dirty="0" smtClean="0"/>
              <a:t>(x) : Finds the value of pair having smallest key greater than x</a:t>
            </a:r>
            <a:endParaRPr lang="zh-TW" altLang="en-US" dirty="0"/>
          </a:p>
        </p:txBody>
      </p:sp>
      <p:sp>
        <p:nvSpPr>
          <p:cNvPr id="8" name="文字方塊 7"/>
          <p:cNvSpPr txBox="1"/>
          <p:nvPr/>
        </p:nvSpPr>
        <p:spPr>
          <a:xfrm>
            <a:off x="180389" y="5527484"/>
            <a:ext cx="777511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dirty="0" smtClean="0"/>
              <a:t>Array </a:t>
            </a:r>
            <a:r>
              <a:rPr lang="en-US" altLang="zh-TW" dirty="0" err="1" smtClean="0">
                <a:solidFill>
                  <a:srgbClr val="FF0000"/>
                </a:solidFill>
              </a:rPr>
              <a:t>Prev</a:t>
            </a:r>
            <a:r>
              <a:rPr lang="en-US" altLang="zh-TW" dirty="0" smtClean="0"/>
              <a:t> , Array </a:t>
            </a:r>
            <a:r>
              <a:rPr lang="en-US" altLang="zh-TW" dirty="0" smtClean="0">
                <a:solidFill>
                  <a:srgbClr val="FF0000"/>
                </a:solidFill>
              </a:rPr>
              <a:t>Next</a:t>
            </a:r>
            <a:r>
              <a:rPr lang="en-US" altLang="zh-TW" dirty="0" smtClean="0"/>
              <a:t> can check the equality of two OPRs in constant time</a:t>
            </a:r>
            <a:endParaRPr lang="zh-TW" alt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9" name="文字方塊 8"/>
              <p:cNvSpPr txBox="1"/>
              <p:nvPr/>
            </p:nvSpPr>
            <p:spPr>
              <a:xfrm>
                <a:off x="395536" y="4941917"/>
                <a:ext cx="5516625" cy="64633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altLang="zh-TW" dirty="0"/>
                  <a:t>Time complexity of Algorithm </a:t>
                </a:r>
                <a:r>
                  <a:rPr lang="en-US" altLang="zh-TW" dirty="0" smtClean="0"/>
                  <a:t>3 </a:t>
                </a:r>
                <a:r>
                  <a:rPr lang="en-US" altLang="zh-TW" dirty="0"/>
                  <a:t>: </a:t>
                </a:r>
                <a14:m>
                  <m:oMath xmlns:m="http://schemas.openxmlformats.org/officeDocument/2006/math">
                    <m:r>
                      <a:rPr lang="en-US" altLang="zh-TW" i="1">
                        <a:latin typeface="Cambria Math" panose="02040503050406030204" pitchFamily="18" charset="0"/>
                      </a:rPr>
                      <m:t>𝑂</m:t>
                    </m:r>
                    <m:r>
                      <a:rPr lang="en-US" altLang="zh-TW" i="1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altLang="zh-TW" i="1">
                        <a:latin typeface="Cambria Math" panose="02040503050406030204" pitchFamily="18" charset="0"/>
                      </a:rPr>
                      <m:t>𝑛𝑙𝑜𝑔𝑛</m:t>
                    </m:r>
                    <m:r>
                      <a:rPr lang="en-US" altLang="zh-TW" i="1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 lang="en-US" altLang="zh-TW" dirty="0" smtClean="0"/>
              </a:p>
              <a:p>
                <a:r>
                  <a:rPr lang="en-US" altLang="zh-TW" dirty="0" smtClean="0"/>
                  <a:t>Time complexity of Algorithm 4 : </a:t>
                </a:r>
                <a14:m>
                  <m:oMath xmlns:m="http://schemas.openxmlformats.org/officeDocument/2006/math">
                    <m:r>
                      <a:rPr lang="en-US" altLang="zh-TW" b="0" i="1" smtClean="0">
                        <a:latin typeface="Cambria Math" panose="02040503050406030204" pitchFamily="18" charset="0"/>
                      </a:rPr>
                      <m:t>𝑂</m:t>
                    </m:r>
                    <m:r>
                      <a:rPr lang="en-US" altLang="zh-TW" b="0" i="1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altLang="zh-TW" b="0" i="1" smtClean="0">
                        <a:latin typeface="Cambria Math" panose="02040503050406030204" pitchFamily="18" charset="0"/>
                      </a:rPr>
                      <m:t>𝑛𝑙𝑜𝑔𝑛</m:t>
                    </m:r>
                    <m:r>
                      <a:rPr lang="en-US" altLang="zh-TW" b="0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 lang="en-US" altLang="zh-TW" dirty="0" smtClean="0"/>
              </a:p>
            </p:txBody>
          </p:sp>
        </mc:Choice>
        <mc:Fallback xmlns="">
          <p:sp>
            <p:nvSpPr>
              <p:cNvPr id="9" name="文字方塊 8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95536" y="4941917"/>
                <a:ext cx="5516625" cy="646331"/>
              </a:xfrm>
              <a:prstGeom prst="rect">
                <a:avLst/>
              </a:prstGeom>
              <a:blipFill rotWithShape="0">
                <a:blip r:embed="rId4"/>
                <a:stretch>
                  <a:fillRect l="-994" t="-5660" b="-14151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69202864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179512" y="260648"/>
            <a:ext cx="8712968" cy="6336704"/>
          </a:xfrm>
        </p:spPr>
        <p:txBody>
          <a:bodyPr/>
          <a:lstStyle/>
          <a:p>
            <a:pPr marL="0" indent="0">
              <a:buNone/>
            </a:pPr>
            <a:r>
              <a:rPr lang="en-US" altLang="zh-TW" dirty="0" smtClean="0"/>
              <a:t>Example:</a:t>
            </a:r>
          </a:p>
          <a:p>
            <a:pPr marL="0" indent="0">
              <a:buNone/>
            </a:pPr>
            <a:r>
              <a:rPr lang="en-US" altLang="zh-TW" dirty="0" smtClean="0"/>
              <a:t>S=(11,18,24,20,25,29)   Z(S) = (6,2,1,3,2,1)</a:t>
            </a:r>
          </a:p>
          <a:p>
            <a:pPr marL="0" indent="0">
              <a:buNone/>
            </a:pPr>
            <a:r>
              <a:rPr lang="en-US" altLang="zh-TW" dirty="0" err="1" smtClean="0"/>
              <a:t>Prev</a:t>
            </a:r>
            <a:r>
              <a:rPr lang="en-US" altLang="zh-TW" dirty="0" smtClean="0"/>
              <a:t>(</a:t>
            </a:r>
            <a:r>
              <a:rPr lang="en-US" altLang="zh-TW" dirty="0" err="1" smtClean="0"/>
              <a:t>i</a:t>
            </a:r>
            <a:r>
              <a:rPr lang="en-US" altLang="zh-TW" dirty="0" smtClean="0"/>
              <a:t>) = (-∞,1,2,2,3,5)</a:t>
            </a:r>
          </a:p>
          <a:p>
            <a:pPr marL="0" indent="0">
              <a:buNone/>
            </a:pPr>
            <a:r>
              <a:rPr lang="en-US" altLang="zh-TW" dirty="0" smtClean="0"/>
              <a:t>Next(</a:t>
            </a:r>
            <a:r>
              <a:rPr lang="en-US" altLang="zh-TW" dirty="0" err="1" smtClean="0"/>
              <a:t>i</a:t>
            </a:r>
            <a:r>
              <a:rPr lang="en-US" altLang="zh-TW" dirty="0" smtClean="0"/>
              <a:t>) = (∞,</a:t>
            </a:r>
            <a:r>
              <a:rPr lang="en-US" altLang="zh-TW" dirty="0"/>
              <a:t> </a:t>
            </a:r>
            <a:r>
              <a:rPr lang="en-US" altLang="zh-TW" dirty="0" smtClean="0"/>
              <a:t>∞,</a:t>
            </a:r>
            <a:r>
              <a:rPr lang="en-US" altLang="zh-TW" dirty="0"/>
              <a:t> </a:t>
            </a:r>
            <a:r>
              <a:rPr lang="en-US" altLang="zh-TW" dirty="0" smtClean="0"/>
              <a:t>∞,3, ∞,</a:t>
            </a:r>
            <a:r>
              <a:rPr lang="en-US" altLang="zh-TW" dirty="0"/>
              <a:t> ∞</a:t>
            </a:r>
            <a:r>
              <a:rPr lang="en-US" altLang="zh-TW" dirty="0" smtClean="0"/>
              <a:t>)</a:t>
            </a:r>
            <a:endParaRPr lang="zh-TW" altLang="en-US" dirty="0"/>
          </a:p>
        </p:txBody>
      </p:sp>
      <p:sp>
        <p:nvSpPr>
          <p:cNvPr id="4" name="橢圓 3"/>
          <p:cNvSpPr/>
          <p:nvPr/>
        </p:nvSpPr>
        <p:spPr>
          <a:xfrm>
            <a:off x="395536" y="2708920"/>
            <a:ext cx="720080" cy="648072"/>
          </a:xfrm>
          <a:prstGeom prst="ellipse">
            <a:avLst/>
          </a:prstGeom>
          <a:ln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TW" dirty="0" smtClean="0"/>
              <a:t>11</a:t>
            </a:r>
            <a:endParaRPr lang="zh-TW" altLang="en-US" dirty="0"/>
          </a:p>
        </p:txBody>
      </p:sp>
      <p:cxnSp>
        <p:nvCxnSpPr>
          <p:cNvPr id="6" name="直線單箭頭接點 5"/>
          <p:cNvCxnSpPr/>
          <p:nvPr/>
        </p:nvCxnSpPr>
        <p:spPr>
          <a:xfrm>
            <a:off x="1215057" y="3015034"/>
            <a:ext cx="576064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橢圓 6"/>
          <p:cNvSpPr/>
          <p:nvPr/>
        </p:nvSpPr>
        <p:spPr>
          <a:xfrm>
            <a:off x="1867048" y="2651239"/>
            <a:ext cx="720080" cy="648072"/>
          </a:xfrm>
          <a:prstGeom prst="ellipse">
            <a:avLst/>
          </a:prstGeom>
          <a:ln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TW" dirty="0" smtClean="0"/>
              <a:t>11</a:t>
            </a:r>
            <a:endParaRPr lang="zh-TW" altLang="en-US" dirty="0"/>
          </a:p>
        </p:txBody>
      </p:sp>
      <p:cxnSp>
        <p:nvCxnSpPr>
          <p:cNvPr id="11" name="直線接點 10"/>
          <p:cNvCxnSpPr>
            <a:stCxn id="7" idx="5"/>
          </p:cNvCxnSpPr>
          <p:nvPr/>
        </p:nvCxnSpPr>
        <p:spPr>
          <a:xfrm>
            <a:off x="2481675" y="3204403"/>
            <a:ext cx="333671" cy="382940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2" name="橢圓 11"/>
          <p:cNvSpPr/>
          <p:nvPr/>
        </p:nvSpPr>
        <p:spPr>
          <a:xfrm>
            <a:off x="2618737" y="3552751"/>
            <a:ext cx="720080" cy="648072"/>
          </a:xfrm>
          <a:prstGeom prst="ellipse">
            <a:avLst/>
          </a:prstGeom>
          <a:ln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TW" dirty="0" smtClean="0"/>
              <a:t>18</a:t>
            </a:r>
            <a:endParaRPr lang="zh-TW" altLang="en-US" dirty="0"/>
          </a:p>
        </p:txBody>
      </p:sp>
      <p:sp>
        <p:nvSpPr>
          <p:cNvPr id="13" name="橢圓 12"/>
          <p:cNvSpPr/>
          <p:nvPr/>
        </p:nvSpPr>
        <p:spPr>
          <a:xfrm>
            <a:off x="4280552" y="2708920"/>
            <a:ext cx="720080" cy="648072"/>
          </a:xfrm>
          <a:prstGeom prst="ellipse">
            <a:avLst/>
          </a:prstGeom>
          <a:ln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TW" dirty="0" smtClean="0"/>
              <a:t>18</a:t>
            </a:r>
            <a:endParaRPr lang="zh-TW" altLang="en-US" dirty="0"/>
          </a:p>
        </p:txBody>
      </p:sp>
      <p:cxnSp>
        <p:nvCxnSpPr>
          <p:cNvPr id="14" name="直線接點 13"/>
          <p:cNvCxnSpPr>
            <a:stCxn id="13" idx="5"/>
          </p:cNvCxnSpPr>
          <p:nvPr/>
        </p:nvCxnSpPr>
        <p:spPr>
          <a:xfrm>
            <a:off x="4895179" y="3262084"/>
            <a:ext cx="333671" cy="382940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5" name="橢圓 14"/>
          <p:cNvSpPr/>
          <p:nvPr/>
        </p:nvSpPr>
        <p:spPr>
          <a:xfrm>
            <a:off x="5071441" y="3552751"/>
            <a:ext cx="720080" cy="648072"/>
          </a:xfrm>
          <a:prstGeom prst="ellipse">
            <a:avLst/>
          </a:prstGeom>
          <a:ln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TW" dirty="0" smtClean="0"/>
              <a:t>24</a:t>
            </a:r>
            <a:endParaRPr lang="zh-TW" altLang="en-US" dirty="0"/>
          </a:p>
        </p:txBody>
      </p:sp>
      <p:cxnSp>
        <p:nvCxnSpPr>
          <p:cNvPr id="17" name="直線單箭頭接點 16"/>
          <p:cNvCxnSpPr/>
          <p:nvPr/>
        </p:nvCxnSpPr>
        <p:spPr>
          <a:xfrm>
            <a:off x="3141308" y="3061806"/>
            <a:ext cx="621703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" name="直線接點 25"/>
          <p:cNvCxnSpPr>
            <a:stCxn id="13" idx="3"/>
          </p:cNvCxnSpPr>
          <p:nvPr/>
        </p:nvCxnSpPr>
        <p:spPr>
          <a:xfrm flipH="1">
            <a:off x="4064528" y="3262084"/>
            <a:ext cx="321477" cy="382940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27" name="橢圓 26"/>
          <p:cNvSpPr/>
          <p:nvPr/>
        </p:nvSpPr>
        <p:spPr>
          <a:xfrm>
            <a:off x="3555354" y="3586120"/>
            <a:ext cx="720080" cy="648072"/>
          </a:xfrm>
          <a:prstGeom prst="ellipse">
            <a:avLst/>
          </a:prstGeom>
          <a:ln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TW" dirty="0" smtClean="0"/>
              <a:t>11</a:t>
            </a:r>
            <a:endParaRPr lang="zh-TW" altLang="en-US" dirty="0"/>
          </a:p>
        </p:txBody>
      </p:sp>
      <p:cxnSp>
        <p:nvCxnSpPr>
          <p:cNvPr id="28" name="直線單箭頭接點 27"/>
          <p:cNvCxnSpPr/>
          <p:nvPr/>
        </p:nvCxnSpPr>
        <p:spPr>
          <a:xfrm>
            <a:off x="5228850" y="3087821"/>
            <a:ext cx="621703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9" name="橢圓 28"/>
          <p:cNvSpPr/>
          <p:nvPr/>
        </p:nvSpPr>
        <p:spPr>
          <a:xfrm>
            <a:off x="6714659" y="2672916"/>
            <a:ext cx="720080" cy="648072"/>
          </a:xfrm>
          <a:prstGeom prst="ellipse">
            <a:avLst/>
          </a:prstGeom>
          <a:ln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TW" dirty="0" smtClean="0"/>
              <a:t>18</a:t>
            </a:r>
            <a:endParaRPr lang="zh-TW" altLang="en-US" dirty="0"/>
          </a:p>
        </p:txBody>
      </p:sp>
      <p:cxnSp>
        <p:nvCxnSpPr>
          <p:cNvPr id="30" name="直線接點 29"/>
          <p:cNvCxnSpPr>
            <a:stCxn id="29" idx="5"/>
          </p:cNvCxnSpPr>
          <p:nvPr/>
        </p:nvCxnSpPr>
        <p:spPr>
          <a:xfrm>
            <a:off x="7329286" y="3226080"/>
            <a:ext cx="333671" cy="382940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31" name="橢圓 30"/>
          <p:cNvSpPr/>
          <p:nvPr/>
        </p:nvSpPr>
        <p:spPr>
          <a:xfrm>
            <a:off x="7505548" y="3516747"/>
            <a:ext cx="720080" cy="648072"/>
          </a:xfrm>
          <a:prstGeom prst="ellipse">
            <a:avLst/>
          </a:prstGeom>
          <a:ln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TW" dirty="0" smtClean="0"/>
              <a:t>24</a:t>
            </a:r>
            <a:endParaRPr lang="zh-TW" altLang="en-US" dirty="0"/>
          </a:p>
        </p:txBody>
      </p:sp>
      <p:cxnSp>
        <p:nvCxnSpPr>
          <p:cNvPr id="32" name="直線接點 31"/>
          <p:cNvCxnSpPr>
            <a:stCxn id="29" idx="3"/>
          </p:cNvCxnSpPr>
          <p:nvPr/>
        </p:nvCxnSpPr>
        <p:spPr>
          <a:xfrm flipH="1">
            <a:off x="6498635" y="3226080"/>
            <a:ext cx="321477" cy="382940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33" name="橢圓 32"/>
          <p:cNvSpPr/>
          <p:nvPr/>
        </p:nvSpPr>
        <p:spPr>
          <a:xfrm>
            <a:off x="5989461" y="3550116"/>
            <a:ext cx="720080" cy="648072"/>
          </a:xfrm>
          <a:prstGeom prst="ellipse">
            <a:avLst/>
          </a:prstGeom>
          <a:ln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TW" dirty="0" smtClean="0"/>
              <a:t>11</a:t>
            </a:r>
            <a:endParaRPr lang="zh-TW" altLang="en-US" dirty="0"/>
          </a:p>
        </p:txBody>
      </p:sp>
      <p:sp>
        <p:nvSpPr>
          <p:cNvPr id="41" name="橢圓 40"/>
          <p:cNvSpPr/>
          <p:nvPr/>
        </p:nvSpPr>
        <p:spPr>
          <a:xfrm>
            <a:off x="6762183" y="4411552"/>
            <a:ext cx="720080" cy="648072"/>
          </a:xfrm>
          <a:prstGeom prst="ellipse">
            <a:avLst/>
          </a:prstGeom>
          <a:ln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TW" dirty="0" smtClean="0"/>
              <a:t>20</a:t>
            </a:r>
            <a:endParaRPr lang="zh-TW" altLang="en-US" dirty="0"/>
          </a:p>
        </p:txBody>
      </p:sp>
      <p:cxnSp>
        <p:nvCxnSpPr>
          <p:cNvPr id="43" name="直線單箭頭接點 42"/>
          <p:cNvCxnSpPr/>
          <p:nvPr/>
        </p:nvCxnSpPr>
        <p:spPr>
          <a:xfrm>
            <a:off x="7956376" y="3087821"/>
            <a:ext cx="792088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4" name="橢圓 43"/>
          <p:cNvSpPr/>
          <p:nvPr/>
        </p:nvSpPr>
        <p:spPr>
          <a:xfrm>
            <a:off x="755576" y="4255680"/>
            <a:ext cx="720080" cy="648072"/>
          </a:xfrm>
          <a:prstGeom prst="ellipse">
            <a:avLst/>
          </a:prstGeom>
          <a:ln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TW" dirty="0" smtClean="0"/>
              <a:t>18</a:t>
            </a:r>
            <a:endParaRPr lang="zh-TW" altLang="en-US" dirty="0"/>
          </a:p>
        </p:txBody>
      </p:sp>
      <p:cxnSp>
        <p:nvCxnSpPr>
          <p:cNvPr id="45" name="直線接點 44"/>
          <p:cNvCxnSpPr>
            <a:stCxn id="44" idx="5"/>
          </p:cNvCxnSpPr>
          <p:nvPr/>
        </p:nvCxnSpPr>
        <p:spPr>
          <a:xfrm>
            <a:off x="1370203" y="4808844"/>
            <a:ext cx="333671" cy="382940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46" name="橢圓 45"/>
          <p:cNvSpPr/>
          <p:nvPr/>
        </p:nvSpPr>
        <p:spPr>
          <a:xfrm>
            <a:off x="1546465" y="5099511"/>
            <a:ext cx="720080" cy="648072"/>
          </a:xfrm>
          <a:prstGeom prst="ellipse">
            <a:avLst/>
          </a:prstGeom>
          <a:ln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TW" dirty="0" smtClean="0"/>
              <a:t>24</a:t>
            </a:r>
            <a:endParaRPr lang="zh-TW" altLang="en-US" dirty="0"/>
          </a:p>
        </p:txBody>
      </p:sp>
      <p:cxnSp>
        <p:nvCxnSpPr>
          <p:cNvPr id="47" name="直線接點 46"/>
          <p:cNvCxnSpPr>
            <a:stCxn id="44" idx="3"/>
          </p:cNvCxnSpPr>
          <p:nvPr/>
        </p:nvCxnSpPr>
        <p:spPr>
          <a:xfrm flipH="1">
            <a:off x="539552" y="4808844"/>
            <a:ext cx="321477" cy="382940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48" name="橢圓 47"/>
          <p:cNvSpPr/>
          <p:nvPr/>
        </p:nvSpPr>
        <p:spPr>
          <a:xfrm>
            <a:off x="30378" y="5132880"/>
            <a:ext cx="720080" cy="648072"/>
          </a:xfrm>
          <a:prstGeom prst="ellipse">
            <a:avLst/>
          </a:prstGeom>
          <a:ln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TW" dirty="0" smtClean="0"/>
              <a:t>11</a:t>
            </a:r>
            <a:endParaRPr lang="zh-TW" altLang="en-US" dirty="0"/>
          </a:p>
        </p:txBody>
      </p:sp>
      <p:cxnSp>
        <p:nvCxnSpPr>
          <p:cNvPr id="49" name="直線接點 48"/>
          <p:cNvCxnSpPr>
            <a:stCxn id="46" idx="5"/>
          </p:cNvCxnSpPr>
          <p:nvPr/>
        </p:nvCxnSpPr>
        <p:spPr>
          <a:xfrm>
            <a:off x="2161092" y="5652675"/>
            <a:ext cx="298413" cy="367201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50" name="橢圓 49"/>
          <p:cNvSpPr/>
          <p:nvPr/>
        </p:nvSpPr>
        <p:spPr>
          <a:xfrm>
            <a:off x="783009" y="5993765"/>
            <a:ext cx="720080" cy="648072"/>
          </a:xfrm>
          <a:prstGeom prst="ellipse">
            <a:avLst/>
          </a:prstGeom>
          <a:ln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TW" dirty="0" smtClean="0"/>
              <a:t>20</a:t>
            </a:r>
            <a:endParaRPr lang="zh-TW" altLang="en-US" dirty="0"/>
          </a:p>
        </p:txBody>
      </p:sp>
      <p:cxnSp>
        <p:nvCxnSpPr>
          <p:cNvPr id="51" name="直線單箭頭接點 50"/>
          <p:cNvCxnSpPr/>
          <p:nvPr/>
        </p:nvCxnSpPr>
        <p:spPr>
          <a:xfrm>
            <a:off x="2618737" y="4924559"/>
            <a:ext cx="792088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3" name="直線接點 52"/>
          <p:cNvCxnSpPr>
            <a:stCxn id="46" idx="3"/>
          </p:cNvCxnSpPr>
          <p:nvPr/>
        </p:nvCxnSpPr>
        <p:spPr>
          <a:xfrm flipH="1">
            <a:off x="1370203" y="5652675"/>
            <a:ext cx="281715" cy="385575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54" name="橢圓 53"/>
          <p:cNvSpPr/>
          <p:nvPr/>
        </p:nvSpPr>
        <p:spPr>
          <a:xfrm>
            <a:off x="4522488" y="6014713"/>
            <a:ext cx="720080" cy="648072"/>
          </a:xfrm>
          <a:prstGeom prst="ellipse">
            <a:avLst/>
          </a:prstGeom>
          <a:ln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TW" dirty="0" smtClean="0"/>
              <a:t>20</a:t>
            </a:r>
            <a:endParaRPr lang="zh-TW" altLang="en-US" dirty="0"/>
          </a:p>
        </p:txBody>
      </p:sp>
      <p:sp>
        <p:nvSpPr>
          <p:cNvPr id="55" name="橢圓 54"/>
          <p:cNvSpPr/>
          <p:nvPr/>
        </p:nvSpPr>
        <p:spPr>
          <a:xfrm>
            <a:off x="4535139" y="4293025"/>
            <a:ext cx="720080" cy="648072"/>
          </a:xfrm>
          <a:prstGeom prst="ellipse">
            <a:avLst/>
          </a:prstGeom>
          <a:ln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TW" dirty="0" smtClean="0"/>
              <a:t>24</a:t>
            </a:r>
            <a:endParaRPr lang="zh-TW" altLang="en-US" dirty="0"/>
          </a:p>
        </p:txBody>
      </p:sp>
      <p:cxnSp>
        <p:nvCxnSpPr>
          <p:cNvPr id="56" name="直線接點 55"/>
          <p:cNvCxnSpPr>
            <a:stCxn id="55" idx="5"/>
          </p:cNvCxnSpPr>
          <p:nvPr/>
        </p:nvCxnSpPr>
        <p:spPr>
          <a:xfrm>
            <a:off x="5149766" y="4846189"/>
            <a:ext cx="333671" cy="382940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57" name="橢圓 56"/>
          <p:cNvSpPr/>
          <p:nvPr/>
        </p:nvSpPr>
        <p:spPr>
          <a:xfrm>
            <a:off x="5326028" y="5136856"/>
            <a:ext cx="720080" cy="648072"/>
          </a:xfrm>
          <a:prstGeom prst="ellipse">
            <a:avLst/>
          </a:prstGeom>
          <a:ln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TW" dirty="0" smtClean="0"/>
              <a:t>25</a:t>
            </a:r>
            <a:endParaRPr lang="zh-TW" altLang="en-US" dirty="0"/>
          </a:p>
        </p:txBody>
      </p:sp>
      <p:cxnSp>
        <p:nvCxnSpPr>
          <p:cNvPr id="58" name="直線接點 57"/>
          <p:cNvCxnSpPr>
            <a:stCxn id="55" idx="3"/>
          </p:cNvCxnSpPr>
          <p:nvPr/>
        </p:nvCxnSpPr>
        <p:spPr>
          <a:xfrm flipH="1">
            <a:off x="4319115" y="4846189"/>
            <a:ext cx="321477" cy="382940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59" name="橢圓 58"/>
          <p:cNvSpPr/>
          <p:nvPr/>
        </p:nvSpPr>
        <p:spPr>
          <a:xfrm>
            <a:off x="3809941" y="5170225"/>
            <a:ext cx="720080" cy="648072"/>
          </a:xfrm>
          <a:prstGeom prst="ellipse">
            <a:avLst/>
          </a:prstGeom>
          <a:ln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TW" dirty="0" smtClean="0"/>
              <a:t>18</a:t>
            </a:r>
            <a:endParaRPr lang="zh-TW" altLang="en-US" dirty="0"/>
          </a:p>
        </p:txBody>
      </p:sp>
      <p:cxnSp>
        <p:nvCxnSpPr>
          <p:cNvPr id="60" name="直線接點 59"/>
          <p:cNvCxnSpPr>
            <a:stCxn id="57" idx="5"/>
          </p:cNvCxnSpPr>
          <p:nvPr/>
        </p:nvCxnSpPr>
        <p:spPr>
          <a:xfrm>
            <a:off x="5940655" y="5690020"/>
            <a:ext cx="298413" cy="367201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61" name="橢圓 60"/>
          <p:cNvSpPr/>
          <p:nvPr/>
        </p:nvSpPr>
        <p:spPr>
          <a:xfrm>
            <a:off x="3195314" y="6033919"/>
            <a:ext cx="720080" cy="648072"/>
          </a:xfrm>
          <a:prstGeom prst="ellipse">
            <a:avLst/>
          </a:prstGeom>
          <a:ln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TW" dirty="0" smtClean="0"/>
              <a:t>11</a:t>
            </a:r>
            <a:endParaRPr lang="zh-TW" altLang="en-US" dirty="0"/>
          </a:p>
        </p:txBody>
      </p:sp>
      <p:cxnSp>
        <p:nvCxnSpPr>
          <p:cNvPr id="63" name="直線接點 62"/>
          <p:cNvCxnSpPr/>
          <p:nvPr/>
        </p:nvCxnSpPr>
        <p:spPr>
          <a:xfrm flipH="1">
            <a:off x="3622154" y="5661632"/>
            <a:ext cx="281715" cy="385575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64" name="橢圓 63"/>
          <p:cNvSpPr/>
          <p:nvPr/>
        </p:nvSpPr>
        <p:spPr>
          <a:xfrm>
            <a:off x="6087448" y="6021524"/>
            <a:ext cx="720080" cy="648072"/>
          </a:xfrm>
          <a:prstGeom prst="ellipse">
            <a:avLst/>
          </a:prstGeom>
          <a:ln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TW" dirty="0" smtClean="0"/>
              <a:t>29</a:t>
            </a:r>
            <a:endParaRPr lang="zh-TW" altLang="en-US" dirty="0"/>
          </a:p>
        </p:txBody>
      </p:sp>
      <p:cxnSp>
        <p:nvCxnSpPr>
          <p:cNvPr id="65" name="直線接點 64"/>
          <p:cNvCxnSpPr/>
          <p:nvPr/>
        </p:nvCxnSpPr>
        <p:spPr>
          <a:xfrm>
            <a:off x="4404279" y="5727093"/>
            <a:ext cx="298413" cy="367201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66" name="橢圓 65"/>
          <p:cNvSpPr/>
          <p:nvPr/>
        </p:nvSpPr>
        <p:spPr>
          <a:xfrm>
            <a:off x="2302242" y="5978495"/>
            <a:ext cx="720080" cy="648072"/>
          </a:xfrm>
          <a:prstGeom prst="ellipse">
            <a:avLst/>
          </a:prstGeom>
          <a:ln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TW" dirty="0" smtClean="0"/>
              <a:t>25</a:t>
            </a:r>
            <a:endParaRPr lang="zh-TW" altLang="en-US" dirty="0"/>
          </a:p>
        </p:txBody>
      </p:sp>
      <p:cxnSp>
        <p:nvCxnSpPr>
          <p:cNvPr id="67" name="直線接點 66"/>
          <p:cNvCxnSpPr/>
          <p:nvPr/>
        </p:nvCxnSpPr>
        <p:spPr>
          <a:xfrm flipH="1">
            <a:off x="7328485" y="4109496"/>
            <a:ext cx="321477" cy="382940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775927154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b="1" dirty="0"/>
              <a:t>Experiments</a:t>
            </a:r>
            <a:endParaRPr lang="zh-TW" altLang="en-US" dirty="0"/>
          </a:p>
        </p:txBody>
      </p:sp>
      <p:pic>
        <p:nvPicPr>
          <p:cNvPr id="6" name="內容版面配置區 5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-612576" y="1196752"/>
            <a:ext cx="5184576" cy="4608512"/>
          </a:xfrm>
          <a:prstGeom prst="rect">
            <a:avLst/>
          </a:prstGeom>
        </p:spPr>
      </p:pic>
      <p:pic>
        <p:nvPicPr>
          <p:cNvPr id="7" name="圖片 6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995936" y="1124744"/>
            <a:ext cx="5401469" cy="424361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52244013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內容版面配置區 3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043608" y="836712"/>
            <a:ext cx="7029450" cy="48196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1216231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佈景主題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佈景主題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807</TotalTime>
  <Words>470</Words>
  <Application>Microsoft Office PowerPoint</Application>
  <PresentationFormat>如螢幕大小 (4:3)</PresentationFormat>
  <Paragraphs>156</Paragraphs>
  <Slides>14</Slides>
  <Notes>1</Notes>
  <HiddenSlides>0</HiddenSlides>
  <MMClips>0</MMClips>
  <ScaleCrop>false</ScaleCrop>
  <HeadingPairs>
    <vt:vector size="6" baseType="variant">
      <vt:variant>
        <vt:lpstr>使用字型</vt:lpstr>
      </vt:variant>
      <vt:variant>
        <vt:i4>5</vt:i4>
      </vt:variant>
      <vt:variant>
        <vt:lpstr>佈景主題</vt:lpstr>
      </vt:variant>
      <vt:variant>
        <vt:i4>1</vt:i4>
      </vt:variant>
      <vt:variant>
        <vt:lpstr>投影片標題</vt:lpstr>
      </vt:variant>
      <vt:variant>
        <vt:i4>14</vt:i4>
      </vt:variant>
    </vt:vector>
  </HeadingPairs>
  <TitlesOfParts>
    <vt:vector size="20" baseType="lpstr">
      <vt:lpstr>新細明體</vt:lpstr>
      <vt:lpstr>Arial</vt:lpstr>
      <vt:lpstr>Calibri</vt:lpstr>
      <vt:lpstr>Cambria Math</vt:lpstr>
      <vt:lpstr>Wingdings</vt:lpstr>
      <vt:lpstr>Office 佈景主題</vt:lpstr>
      <vt:lpstr>Order preserving pattern  matching revisited</vt:lpstr>
      <vt:lpstr>Abstract</vt:lpstr>
      <vt:lpstr>Order preserving representation(OPR)</vt:lpstr>
      <vt:lpstr>Order-Isomorphic</vt:lpstr>
      <vt:lpstr>order preserving pattern matching(OPPM)</vt:lpstr>
      <vt:lpstr>Gusfield's Algorithm （ Z Algorithm ）</vt:lpstr>
      <vt:lpstr>Modified Z - function</vt:lpstr>
      <vt:lpstr>PowerPoint 簡報</vt:lpstr>
      <vt:lpstr>Balance binary search tree</vt:lpstr>
      <vt:lpstr>Algorithm 2(with Algorithm 1)</vt:lpstr>
      <vt:lpstr>Algorithm3 &amp; 4</vt:lpstr>
      <vt:lpstr>PowerPoint 簡報</vt:lpstr>
      <vt:lpstr>Experiments</vt:lpstr>
      <vt:lpstr>PowerPoint 簡報</vt:lpstr>
    </vt:vector>
  </TitlesOfParts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Order preserving pattern  matching revisited</dc:title>
  <dc:creator>Andy</dc:creator>
  <cp:lastModifiedBy>andy</cp:lastModifiedBy>
  <cp:revision>38</cp:revision>
  <dcterms:created xsi:type="dcterms:W3CDTF">2016-01-04T11:01:58Z</dcterms:created>
  <dcterms:modified xsi:type="dcterms:W3CDTF">2016-01-26T10:19:54Z</dcterms:modified>
</cp:coreProperties>
</file>