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6" r:id="rId9"/>
    <p:sldId id="263" r:id="rId10"/>
    <p:sldId id="264" r:id="rId11"/>
    <p:sldId id="265" r:id="rId12"/>
    <p:sldId id="268" r:id="rId13"/>
    <p:sldId id="267" r:id="rId14"/>
    <p:sldId id="269" r:id="rId15"/>
    <p:sldId id="270" r:id="rId16"/>
    <p:sldId id="271" r:id="rId17"/>
    <p:sldId id="272" r:id="rId18"/>
    <p:sldId id="273" r:id="rId19"/>
    <p:sldId id="274" r:id="rId20"/>
  </p:sldIdLst>
  <p:sldSz cx="9144000" cy="6858000" type="screen4x3"/>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0"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新細明體" charset="-120"/>
              </a:defRPr>
            </a:lvl1pPr>
          </a:lstStyle>
          <a:p>
            <a:pPr>
              <a:defRPr/>
            </a:pPr>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新細明體" charset="-120"/>
              </a:defRPr>
            </a:lvl1pPr>
          </a:lstStyle>
          <a:p>
            <a:pPr>
              <a:defRPr/>
            </a:pPr>
            <a:fld id="{ED8C34F9-D85F-4C42-8EB2-E1FBAFDE9294}" type="datetimeFigureOut">
              <a:rPr lang="zh-TW" altLang="en-US"/>
              <a:pPr>
                <a:defRPr/>
              </a:pPr>
              <a:t>2016/8/19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TW" altLang="en-US" noProof="0" smtClean="0"/>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noProof="0" smtClean="0"/>
              <a:t>按一下以編輯母片文字樣式</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新細明體" charset="-120"/>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2337CE2D-7632-49F7-B60F-3EFCAC03D381}" type="slidenum">
              <a:rPr lang="zh-TW" altLang="en-US"/>
              <a:pPr>
                <a:defRPr/>
              </a:pPr>
              <a:t>‹#›</a:t>
            </a:fld>
            <a:endParaRPr lang="zh-TW" altLang="en-US"/>
          </a:p>
        </p:txBody>
      </p:sp>
    </p:spTree>
    <p:extLst>
      <p:ext uri="{BB962C8B-B14F-4D97-AF65-F5344CB8AC3E}">
        <p14:creationId xmlns:p14="http://schemas.microsoft.com/office/powerpoint/2010/main" val="11732015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smtClean="0"/>
          </a:p>
        </p:txBody>
      </p:sp>
      <p:sp>
        <p:nvSpPr>
          <p:cNvPr id="12292"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8ED983BD-39B1-4DAD-A340-9225C0F9F7EC}" type="slidenum">
              <a:rPr lang="zh-TW" altLang="en-US"/>
              <a:pPr/>
              <a:t>9</a:t>
            </a:fld>
            <a:endParaRPr lang="zh-TW" altLang="en-US"/>
          </a:p>
        </p:txBody>
      </p:sp>
    </p:spTree>
    <p:extLst>
      <p:ext uri="{BB962C8B-B14F-4D97-AF65-F5344CB8AC3E}">
        <p14:creationId xmlns:p14="http://schemas.microsoft.com/office/powerpoint/2010/main" val="2563897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8FAF58B-FC1C-40DA-8136-F568C713E324}" type="datetimeFigureOut">
              <a:rPr lang="zh-TW" altLang="en-US"/>
              <a:pPr>
                <a:defRPr/>
              </a:pPr>
              <a:t>2016/8/19</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3A936F2D-5845-474D-A5AC-28F5680CDB96}" type="slidenum">
              <a:rPr lang="zh-TW" altLang="en-US"/>
              <a:pPr>
                <a:defRPr/>
              </a:pPr>
              <a:t>‹#›</a:t>
            </a:fld>
            <a:endParaRPr lang="zh-TW" altLang="en-US"/>
          </a:p>
        </p:txBody>
      </p:sp>
    </p:spTree>
    <p:extLst>
      <p:ext uri="{BB962C8B-B14F-4D97-AF65-F5344CB8AC3E}">
        <p14:creationId xmlns:p14="http://schemas.microsoft.com/office/powerpoint/2010/main" val="373234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1A46FBD6-BE31-442B-BF14-92EB125FB59D}" type="datetimeFigureOut">
              <a:rPr lang="zh-TW" altLang="en-US"/>
              <a:pPr>
                <a:defRPr/>
              </a:pPr>
              <a:t>2016/8/19</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A015660D-94BB-4A7E-B1D1-A43818E6895A}" type="slidenum">
              <a:rPr lang="zh-TW" altLang="en-US"/>
              <a:pPr>
                <a:defRPr/>
              </a:pPr>
              <a:t>‹#›</a:t>
            </a:fld>
            <a:endParaRPr lang="zh-TW" altLang="en-US"/>
          </a:p>
        </p:txBody>
      </p:sp>
    </p:spTree>
    <p:extLst>
      <p:ext uri="{BB962C8B-B14F-4D97-AF65-F5344CB8AC3E}">
        <p14:creationId xmlns:p14="http://schemas.microsoft.com/office/powerpoint/2010/main" val="13359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6F57DE01-46EA-4950-9AF0-EB30AA400B77}" type="datetimeFigureOut">
              <a:rPr lang="zh-TW" altLang="en-US"/>
              <a:pPr>
                <a:defRPr/>
              </a:pPr>
              <a:t>2016/8/19</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92142B53-0D36-47A7-A247-86764ADCBF9B}" type="slidenum">
              <a:rPr lang="zh-TW" altLang="en-US"/>
              <a:pPr>
                <a:defRPr/>
              </a:pPr>
              <a:t>‹#›</a:t>
            </a:fld>
            <a:endParaRPr lang="zh-TW" altLang="en-US"/>
          </a:p>
        </p:txBody>
      </p:sp>
    </p:spTree>
    <p:extLst>
      <p:ext uri="{BB962C8B-B14F-4D97-AF65-F5344CB8AC3E}">
        <p14:creationId xmlns:p14="http://schemas.microsoft.com/office/powerpoint/2010/main" val="78798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ED5A32DF-F376-4D8F-99FB-EBB64E9A48FB}" type="datetimeFigureOut">
              <a:rPr lang="zh-TW" altLang="en-US"/>
              <a:pPr>
                <a:defRPr/>
              </a:pPr>
              <a:t>2016/8/19</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07A3E303-6A5C-4E72-BB02-66CBB55AF0E5}" type="slidenum">
              <a:rPr lang="zh-TW" altLang="en-US"/>
              <a:pPr>
                <a:defRPr/>
              </a:pPr>
              <a:t>‹#›</a:t>
            </a:fld>
            <a:endParaRPr lang="zh-TW" altLang="en-US"/>
          </a:p>
        </p:txBody>
      </p:sp>
    </p:spTree>
    <p:extLst>
      <p:ext uri="{BB962C8B-B14F-4D97-AF65-F5344CB8AC3E}">
        <p14:creationId xmlns:p14="http://schemas.microsoft.com/office/powerpoint/2010/main" val="2526955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8C90B575-7880-446F-A225-3D05DB693E81}" type="datetimeFigureOut">
              <a:rPr lang="zh-TW" altLang="en-US"/>
              <a:pPr>
                <a:defRPr/>
              </a:pPr>
              <a:t>2016/8/19</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CC9448A5-E09C-41CC-8F4A-993B1DDE4110}" type="slidenum">
              <a:rPr lang="zh-TW" altLang="en-US"/>
              <a:pPr>
                <a:defRPr/>
              </a:pPr>
              <a:t>‹#›</a:t>
            </a:fld>
            <a:endParaRPr lang="zh-TW" altLang="en-US"/>
          </a:p>
        </p:txBody>
      </p:sp>
    </p:spTree>
    <p:extLst>
      <p:ext uri="{BB962C8B-B14F-4D97-AF65-F5344CB8AC3E}">
        <p14:creationId xmlns:p14="http://schemas.microsoft.com/office/powerpoint/2010/main" val="209027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158C0032-31B6-42CD-93AA-BD93F37F0FC5}" type="datetimeFigureOut">
              <a:rPr lang="zh-TW" altLang="en-US"/>
              <a:pPr>
                <a:defRPr/>
              </a:pPr>
              <a:t>2016/8/19</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954DED84-C058-4662-BA30-80B3BD44F4EF}" type="slidenum">
              <a:rPr lang="zh-TW" altLang="en-US"/>
              <a:pPr>
                <a:defRPr/>
              </a:pPr>
              <a:t>‹#›</a:t>
            </a:fld>
            <a:endParaRPr lang="zh-TW" altLang="en-US"/>
          </a:p>
        </p:txBody>
      </p:sp>
    </p:spTree>
    <p:extLst>
      <p:ext uri="{BB962C8B-B14F-4D97-AF65-F5344CB8AC3E}">
        <p14:creationId xmlns:p14="http://schemas.microsoft.com/office/powerpoint/2010/main" val="405010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84E1CC8F-F367-4822-B3C8-00375B16D4C3}" type="datetimeFigureOut">
              <a:rPr lang="zh-TW" altLang="en-US"/>
              <a:pPr>
                <a:defRPr/>
              </a:pPr>
              <a:t>2016/8/19</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FE785658-EB91-473C-BDCF-01916590614F}" type="slidenum">
              <a:rPr lang="zh-TW" altLang="en-US"/>
              <a:pPr>
                <a:defRPr/>
              </a:pPr>
              <a:t>‹#›</a:t>
            </a:fld>
            <a:endParaRPr lang="zh-TW" altLang="en-US"/>
          </a:p>
        </p:txBody>
      </p:sp>
    </p:spTree>
    <p:extLst>
      <p:ext uri="{BB962C8B-B14F-4D97-AF65-F5344CB8AC3E}">
        <p14:creationId xmlns:p14="http://schemas.microsoft.com/office/powerpoint/2010/main" val="3939887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FAFB68C6-F85B-4E2B-B494-139E1281D936}" type="datetimeFigureOut">
              <a:rPr lang="zh-TW" altLang="en-US"/>
              <a:pPr>
                <a:defRPr/>
              </a:pPr>
              <a:t>2016/8/19</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3779980-9265-47B4-BBB9-A72459DDF3F1}" type="slidenum">
              <a:rPr lang="zh-TW" altLang="en-US"/>
              <a:pPr>
                <a:defRPr/>
              </a:pPr>
              <a:t>‹#›</a:t>
            </a:fld>
            <a:endParaRPr lang="zh-TW" altLang="en-US"/>
          </a:p>
        </p:txBody>
      </p:sp>
    </p:spTree>
    <p:extLst>
      <p:ext uri="{BB962C8B-B14F-4D97-AF65-F5344CB8AC3E}">
        <p14:creationId xmlns:p14="http://schemas.microsoft.com/office/powerpoint/2010/main" val="1685150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3FA19837-BB2B-4DA6-BB28-86ABE82C51AC}" type="datetimeFigureOut">
              <a:rPr lang="zh-TW" altLang="en-US"/>
              <a:pPr>
                <a:defRPr/>
              </a:pPr>
              <a:t>2016/8/19</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AA8E2A9A-A16E-4970-9853-097B927ED1AC}" type="slidenum">
              <a:rPr lang="zh-TW" altLang="en-US"/>
              <a:pPr>
                <a:defRPr/>
              </a:pPr>
              <a:t>‹#›</a:t>
            </a:fld>
            <a:endParaRPr lang="zh-TW" altLang="en-US"/>
          </a:p>
        </p:txBody>
      </p:sp>
    </p:spTree>
    <p:extLst>
      <p:ext uri="{BB962C8B-B14F-4D97-AF65-F5344CB8AC3E}">
        <p14:creationId xmlns:p14="http://schemas.microsoft.com/office/powerpoint/2010/main" val="1716053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8937DAD0-3E45-4CEF-9670-43EEBCC5A578}" type="datetimeFigureOut">
              <a:rPr lang="zh-TW" altLang="en-US"/>
              <a:pPr>
                <a:defRPr/>
              </a:pPr>
              <a:t>2016/8/19</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934E3AF-A01A-47A6-A945-AA6FE96AC570}" type="slidenum">
              <a:rPr lang="zh-TW" altLang="en-US"/>
              <a:pPr>
                <a:defRPr/>
              </a:pPr>
              <a:t>‹#›</a:t>
            </a:fld>
            <a:endParaRPr lang="zh-TW" altLang="en-US"/>
          </a:p>
        </p:txBody>
      </p:sp>
    </p:spTree>
    <p:extLst>
      <p:ext uri="{BB962C8B-B14F-4D97-AF65-F5344CB8AC3E}">
        <p14:creationId xmlns:p14="http://schemas.microsoft.com/office/powerpoint/2010/main" val="2255585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877293FD-A236-46FC-8F73-74CD3EB117EF}" type="datetimeFigureOut">
              <a:rPr lang="zh-TW" altLang="en-US"/>
              <a:pPr>
                <a:defRPr/>
              </a:pPr>
              <a:t>2016/8/19</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4E985C93-35E0-4F61-8D5F-DC5DB7EAB7AA}" type="slidenum">
              <a:rPr lang="zh-TW" altLang="en-US"/>
              <a:pPr>
                <a:defRPr/>
              </a:pPr>
              <a:t>‹#›</a:t>
            </a:fld>
            <a:endParaRPr lang="zh-TW" altLang="en-US"/>
          </a:p>
        </p:txBody>
      </p:sp>
    </p:spTree>
    <p:extLst>
      <p:ext uri="{BB962C8B-B14F-4D97-AF65-F5344CB8AC3E}">
        <p14:creationId xmlns:p14="http://schemas.microsoft.com/office/powerpoint/2010/main" val="659992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kumimoji="0" sz="1200">
                <a:solidFill>
                  <a:schemeClr val="tx1">
                    <a:tint val="75000"/>
                  </a:schemeClr>
                </a:solidFill>
                <a:latin typeface="+mn-lt"/>
                <a:ea typeface="+mn-ea"/>
              </a:defRPr>
            </a:lvl1pPr>
          </a:lstStyle>
          <a:p>
            <a:pPr>
              <a:defRPr/>
            </a:pPr>
            <a:fld id="{2983E144-FBE0-4E59-9C07-00BF1D74FE17}" type="datetimeFigureOut">
              <a:rPr lang="zh-TW" altLang="en-US"/>
              <a:pPr>
                <a:defRPr/>
              </a:pPr>
              <a:t>2016/8/19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kumimoji="0" sz="1200" smtClean="0">
                <a:solidFill>
                  <a:srgbClr val="898989"/>
                </a:solidFill>
                <a:latin typeface="Calibri" panose="020F0502020204030204" pitchFamily="34" charset="0"/>
              </a:defRPr>
            </a:lvl1pPr>
          </a:lstStyle>
          <a:p>
            <a:pPr>
              <a:defRPr/>
            </a:pPr>
            <a:fld id="{1C702775-3850-472E-827D-C198A55041B6}"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新細明體" charset="-120"/>
        </a:defRPr>
      </a:lvl2pPr>
      <a:lvl3pPr algn="ctr" rtl="0" eaLnBrk="0" fontAlgn="base" hangingPunct="0">
        <a:spcBef>
          <a:spcPct val="0"/>
        </a:spcBef>
        <a:spcAft>
          <a:spcPct val="0"/>
        </a:spcAft>
        <a:defRPr sz="4400">
          <a:solidFill>
            <a:schemeClr val="tx1"/>
          </a:solidFill>
          <a:latin typeface="Calibri" pitchFamily="34" charset="0"/>
          <a:ea typeface="新細明體" charset="-120"/>
        </a:defRPr>
      </a:lvl3pPr>
      <a:lvl4pPr algn="ctr" rtl="0" eaLnBrk="0" fontAlgn="base" hangingPunct="0">
        <a:spcBef>
          <a:spcPct val="0"/>
        </a:spcBef>
        <a:spcAft>
          <a:spcPct val="0"/>
        </a:spcAft>
        <a:defRPr sz="4400">
          <a:solidFill>
            <a:schemeClr val="tx1"/>
          </a:solidFill>
          <a:latin typeface="Calibri" pitchFamily="34" charset="0"/>
          <a:ea typeface="新細明體" charset="-120"/>
        </a:defRPr>
      </a:lvl4pPr>
      <a:lvl5pPr algn="ctr" rtl="0" eaLnBrk="0" fontAlgn="base" hangingPunct="0">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ctrTitle"/>
          </p:nvPr>
        </p:nvSpPr>
        <p:spPr>
          <a:xfrm>
            <a:off x="684213" y="1268413"/>
            <a:ext cx="7772400" cy="1470025"/>
          </a:xfrm>
        </p:spPr>
        <p:txBody>
          <a:bodyPr/>
          <a:lstStyle/>
          <a:p>
            <a:pPr eaLnBrk="1" hangingPunct="1"/>
            <a:r>
              <a:rPr lang="en-US" altLang="zh-TW" smtClean="0"/>
              <a:t>A study of correlations in the stock market</a:t>
            </a:r>
            <a:endParaRPr lang="zh-TW" altLang="en-US" smtClean="0"/>
          </a:p>
        </p:txBody>
      </p:sp>
      <p:sp>
        <p:nvSpPr>
          <p:cNvPr id="3075" name="副標題 2"/>
          <p:cNvSpPr>
            <a:spLocks noGrp="1"/>
          </p:cNvSpPr>
          <p:nvPr>
            <p:ph type="subTitle" idx="1"/>
          </p:nvPr>
        </p:nvSpPr>
        <p:spPr>
          <a:xfrm>
            <a:off x="1403350" y="3357563"/>
            <a:ext cx="6400800" cy="1008062"/>
          </a:xfrm>
        </p:spPr>
        <p:txBody>
          <a:bodyPr/>
          <a:lstStyle/>
          <a:p>
            <a:pPr eaLnBrk="1" hangingPunct="1"/>
            <a:r>
              <a:rPr lang="en-US" altLang="zh-TW" smtClean="0">
                <a:solidFill>
                  <a:schemeClr val="tx1"/>
                </a:solidFill>
              </a:rPr>
              <a:t>Chandradew Sharma, Kinjal Banerjee</a:t>
            </a:r>
            <a:endParaRPr lang="zh-TW" altLang="en-US" smtClean="0">
              <a:solidFill>
                <a:schemeClr val="tx1"/>
              </a:solidFill>
            </a:endParaRPr>
          </a:p>
        </p:txBody>
      </p:sp>
      <p:sp>
        <p:nvSpPr>
          <p:cNvPr id="3076" name="文字方塊 3"/>
          <p:cNvSpPr txBox="1">
            <a:spLocks noChangeArrowheads="1"/>
          </p:cNvSpPr>
          <p:nvPr/>
        </p:nvSpPr>
        <p:spPr bwMode="auto">
          <a:xfrm>
            <a:off x="1692275" y="4437063"/>
            <a:ext cx="59039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kumimoji="0" lang="en-US" altLang="zh-TW" sz="3000"/>
              <a:t>Physica A 432, pp.321-330, 2015</a:t>
            </a:r>
            <a:endParaRPr kumimoji="0" lang="zh-TW" altLang="en-US" sz="3000"/>
          </a:p>
        </p:txBody>
      </p:sp>
      <p:sp>
        <p:nvSpPr>
          <p:cNvPr id="3077" name="副標題 2"/>
          <p:cNvSpPr txBox="1">
            <a:spLocks/>
          </p:cNvSpPr>
          <p:nvPr/>
        </p:nvSpPr>
        <p:spPr bwMode="auto">
          <a:xfrm>
            <a:off x="2916238" y="5849938"/>
            <a:ext cx="64008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buFont typeface="Arial" panose="020B0604020202020204" pitchFamily="34" charset="0"/>
              <a:buNone/>
            </a:pPr>
            <a:r>
              <a:rPr kumimoji="0" lang="en-US" altLang="zh-TW" sz="2500"/>
              <a:t>Presenter:Shih-jhan Huang</a:t>
            </a:r>
            <a:endParaRPr kumimoji="0" lang="zh-TW" altLang="en-US" sz="2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pPr algn="l" eaLnBrk="1" hangingPunct="1"/>
            <a:r>
              <a:rPr lang="en-US" altLang="zh-TW" smtClean="0"/>
              <a:t>Abstract(1/2)</a:t>
            </a:r>
            <a:endParaRPr lang="zh-TW" altLang="en-US" smtClean="0"/>
          </a:p>
        </p:txBody>
      </p:sp>
      <p:sp>
        <p:nvSpPr>
          <p:cNvPr id="4099" name="文字方塊 3"/>
          <p:cNvSpPr txBox="1">
            <a:spLocks noChangeArrowheads="1"/>
          </p:cNvSpPr>
          <p:nvPr/>
        </p:nvSpPr>
        <p:spPr bwMode="auto">
          <a:xfrm>
            <a:off x="250825" y="2138363"/>
            <a:ext cx="8766175"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pPr>
            <a:r>
              <a:rPr kumimoji="0" lang="en-US" altLang="zh-TW" sz="2500"/>
              <a:t>We study the various sectors of the Bombay Stock Exchange (BSE) for a period of 8 years from April 2006 to March 2014. Using the data of daily returns of a period of eight years, we make a direct model free analysis of the pattern of the sectorial indices movement and the correlations among them. Our analysis shows significant auto correlation among the individual sectors and also strong cross-correlation among sectors.</a:t>
            </a:r>
            <a:r>
              <a:rPr kumimoji="0" lang="zh-TW" altLang="en-US" sz="2500"/>
              <a:t> </a:t>
            </a:r>
            <a:r>
              <a:rPr kumimoji="0" lang="en-US" altLang="zh-TW" sz="2500"/>
              <a:t>We also find that auto correlations in some of the sectors persist in time. This is a very significant result and has not been reported so far in Indian context. </a:t>
            </a:r>
            <a:endParaRPr kumimoji="0" lang="zh-TW" altLang="en-US" sz="2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標題 1"/>
          <p:cNvSpPr>
            <a:spLocks noGrp="1"/>
          </p:cNvSpPr>
          <p:nvPr>
            <p:ph type="title"/>
          </p:nvPr>
        </p:nvSpPr>
        <p:spPr/>
        <p:txBody>
          <a:bodyPr/>
          <a:lstStyle/>
          <a:p>
            <a:pPr algn="l" eaLnBrk="1" hangingPunct="1"/>
            <a:r>
              <a:rPr lang="en-US" altLang="zh-TW" smtClean="0"/>
              <a:t>Abstract(2/2)</a:t>
            </a:r>
            <a:endParaRPr lang="zh-TW" altLang="en-US" smtClean="0"/>
          </a:p>
        </p:txBody>
      </p:sp>
      <p:sp>
        <p:nvSpPr>
          <p:cNvPr id="5123" name="文字方塊 3"/>
          <p:cNvSpPr txBox="1">
            <a:spLocks noChangeArrowheads="1"/>
          </p:cNvSpPr>
          <p:nvPr/>
        </p:nvSpPr>
        <p:spPr bwMode="auto">
          <a:xfrm>
            <a:off x="107950" y="2365375"/>
            <a:ext cx="8893175"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pPr>
            <a:r>
              <a:rPr kumimoji="0" lang="en-US" altLang="zh-TW" sz="2500"/>
              <a:t>These findings will be very useful in model building for prediction of price movement of equities, derivatives and portfolio management.We</a:t>
            </a:r>
            <a:r>
              <a:rPr kumimoji="0" lang="zh-TW" altLang="en-US" sz="2500"/>
              <a:t> </a:t>
            </a:r>
            <a:r>
              <a:rPr kumimoji="0" lang="en-US" altLang="zh-TW" sz="2500"/>
              <a:t>show that the Random Walk Hypothesis is not applicable in</a:t>
            </a:r>
            <a:r>
              <a:rPr kumimoji="0" lang="zh-TW" altLang="en-US" sz="2500"/>
              <a:t> </a:t>
            </a:r>
            <a:r>
              <a:rPr kumimoji="0" lang="en-US" altLang="zh-TW" sz="2500"/>
              <a:t>modeling the Indian market</a:t>
            </a:r>
            <a:r>
              <a:rPr kumimoji="0" lang="zh-TW" altLang="en-US" sz="2500"/>
              <a:t> </a:t>
            </a:r>
            <a:r>
              <a:rPr kumimoji="0" lang="en-US" altLang="zh-TW" sz="2500"/>
              <a:t>and mean–variance–skewness–kurtosis based portfolio optimization might be required.</a:t>
            </a:r>
            <a:r>
              <a:rPr kumimoji="0" lang="zh-TW" altLang="en-US" sz="2500"/>
              <a:t> </a:t>
            </a:r>
            <a:r>
              <a:rPr kumimoji="0" lang="en-US" altLang="zh-TW" sz="2500"/>
              <a:t>We also find that almost all sectors are highly correlated during large fluctuation periods</a:t>
            </a:r>
            <a:r>
              <a:rPr kumimoji="0" lang="zh-TW" altLang="en-US" sz="2500"/>
              <a:t> </a:t>
            </a:r>
            <a:r>
              <a:rPr kumimoji="0" lang="en-US" altLang="zh-TW" sz="2500"/>
              <a:t>and have only moderate correlation during normal periods.</a:t>
            </a:r>
            <a:endParaRPr kumimoji="0" lang="zh-TW" altLang="en-US" sz="2500"/>
          </a:p>
          <a:p>
            <a:pPr algn="just" eaLnBrk="1" hangingPunct="1">
              <a:spcBef>
                <a:spcPct val="0"/>
              </a:spcBef>
              <a:buFontTx/>
              <a:buNone/>
            </a:pPr>
            <a:endParaRPr kumimoji="0" lang="zh-TW" altLang="en-US" sz="2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p:cNvSpPr>
            <a:spLocks noGrp="1"/>
          </p:cNvSpPr>
          <p:nvPr>
            <p:ph type="title"/>
          </p:nvPr>
        </p:nvSpPr>
        <p:spPr/>
        <p:txBody>
          <a:bodyPr/>
          <a:lstStyle/>
          <a:p>
            <a:pPr algn="l" eaLnBrk="1" hangingPunct="1"/>
            <a:r>
              <a:rPr lang="en-US" altLang="zh-TW" sz="5000" smtClean="0"/>
              <a:t>Study of this paper</a:t>
            </a:r>
            <a:endParaRPr lang="zh-TW" altLang="en-US" sz="5000" smtClean="0"/>
          </a:p>
        </p:txBody>
      </p:sp>
      <p:sp>
        <p:nvSpPr>
          <p:cNvPr id="6147" name="內容版面配置區 2"/>
          <p:cNvSpPr>
            <a:spLocks noGrp="1"/>
          </p:cNvSpPr>
          <p:nvPr>
            <p:ph idx="1"/>
          </p:nvPr>
        </p:nvSpPr>
        <p:spPr>
          <a:xfrm>
            <a:off x="468313" y="2060575"/>
            <a:ext cx="8229600" cy="3341688"/>
          </a:xfrm>
        </p:spPr>
        <p:txBody>
          <a:bodyPr/>
          <a:lstStyle/>
          <a:p>
            <a:pPr marL="514350" indent="-514350" eaLnBrk="1" hangingPunct="1">
              <a:buFont typeface="Wingdings" panose="05000000000000000000" pitchFamily="2" charset="2"/>
              <a:buAutoNum type="circleNumWdWhitePlain"/>
            </a:pPr>
            <a:r>
              <a:rPr lang="en-US" altLang="zh-TW" smtClean="0"/>
              <a:t>How one stock movement affects the others within the </a:t>
            </a:r>
            <a:r>
              <a:rPr lang="en-US" altLang="zh-TW" u="sng" smtClean="0"/>
              <a:t>same sector</a:t>
            </a:r>
            <a:r>
              <a:rPr lang="en-US" altLang="zh-TW" smtClean="0"/>
              <a:t>.</a:t>
            </a:r>
          </a:p>
          <a:p>
            <a:pPr marL="514350" indent="-514350" eaLnBrk="1" hangingPunct="1">
              <a:buFont typeface="Wingdings" panose="05000000000000000000" pitchFamily="2" charset="2"/>
              <a:buAutoNum type="circleNumWdWhitePlain"/>
            </a:pPr>
            <a:endParaRPr lang="en-US" altLang="zh-TW" smtClean="0"/>
          </a:p>
          <a:p>
            <a:pPr marL="514350" indent="-514350" eaLnBrk="1" hangingPunct="1">
              <a:buFont typeface="Wingdings" panose="05000000000000000000" pitchFamily="2" charset="2"/>
              <a:buAutoNum type="circleNumWdWhitePlain"/>
            </a:pPr>
            <a:r>
              <a:rPr lang="en-US" altLang="zh-TW" smtClean="0"/>
              <a:t>How the overall prices of the </a:t>
            </a:r>
            <a:r>
              <a:rPr lang="en-US" altLang="zh-TW" u="sng" smtClean="0"/>
              <a:t>various sectors are correlated.</a:t>
            </a:r>
            <a:endParaRPr lang="zh-TW" altLang="en-US" u="sng"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標題 1"/>
          <p:cNvSpPr>
            <a:spLocks noGrp="1"/>
          </p:cNvSpPr>
          <p:nvPr>
            <p:ph type="title"/>
          </p:nvPr>
        </p:nvSpPr>
        <p:spPr>
          <a:xfrm>
            <a:off x="395288" y="476250"/>
            <a:ext cx="8229600" cy="1143000"/>
          </a:xfrm>
        </p:spPr>
        <p:txBody>
          <a:bodyPr/>
          <a:lstStyle/>
          <a:p>
            <a:pPr algn="l" eaLnBrk="1" hangingPunct="1"/>
            <a:r>
              <a:rPr lang="en-US" altLang="zh-TW" sz="5000" smtClean="0"/>
              <a:t>Data</a:t>
            </a:r>
            <a:endParaRPr lang="zh-TW" altLang="en-US" sz="5000" smtClean="0"/>
          </a:p>
        </p:txBody>
      </p:sp>
      <p:sp>
        <p:nvSpPr>
          <p:cNvPr id="4" name="文字方塊 3"/>
          <p:cNvSpPr txBox="1"/>
          <p:nvPr/>
        </p:nvSpPr>
        <p:spPr>
          <a:xfrm>
            <a:off x="179388" y="2781300"/>
            <a:ext cx="8748712" cy="1862138"/>
          </a:xfrm>
          <a:prstGeom prst="rect">
            <a:avLst/>
          </a:prstGeom>
          <a:noFill/>
        </p:spPr>
        <p:txBody>
          <a:bodyPr>
            <a:spAutoFit/>
          </a:bodyPr>
          <a:lstStyle/>
          <a:p>
            <a:pPr eaLnBrk="1" hangingPunct="1">
              <a:defRPr/>
            </a:pPr>
            <a:r>
              <a:rPr lang="en-US" altLang="zh-TW" sz="3000" dirty="0">
                <a:latin typeface="+mn-lt"/>
                <a:ea typeface="新細明體" charset="-120"/>
              </a:rPr>
              <a:t>Data consists of the daily returns of 12 sectors of stocks of the BSE for Financial Year 2006 to 2013.</a:t>
            </a:r>
            <a:br>
              <a:rPr lang="en-US" altLang="zh-TW" sz="3000" dirty="0">
                <a:latin typeface="+mn-lt"/>
                <a:ea typeface="新細明體" charset="-120"/>
              </a:rPr>
            </a:br>
            <a:r>
              <a:rPr lang="en-US" altLang="zh-TW" sz="3000" dirty="0">
                <a:latin typeface="+mn-lt"/>
                <a:ea typeface="新細明體" charset="-120"/>
              </a:rPr>
              <a:t>i.e. </a:t>
            </a:r>
            <a:r>
              <a:rPr lang="en-US" altLang="zh-TW" sz="3000" b="1" dirty="0">
                <a:solidFill>
                  <a:srgbClr val="0070C0"/>
                </a:solidFill>
                <a:latin typeface="+mn-lt"/>
                <a:ea typeface="新細明體" charset="-120"/>
              </a:rPr>
              <a:t>1990 days from 3</a:t>
            </a:r>
            <a:r>
              <a:rPr lang="en-US" altLang="zh-TW" sz="3000" b="1" baseline="30000" dirty="0">
                <a:solidFill>
                  <a:srgbClr val="0070C0"/>
                </a:solidFill>
                <a:latin typeface="+mn-lt"/>
                <a:ea typeface="新細明體" charset="-120"/>
              </a:rPr>
              <a:t>rd</a:t>
            </a:r>
            <a:r>
              <a:rPr lang="en-US" altLang="zh-TW" sz="3000" b="1" dirty="0">
                <a:solidFill>
                  <a:srgbClr val="0070C0"/>
                </a:solidFill>
                <a:latin typeface="+mn-lt"/>
                <a:ea typeface="新細明體" charset="-120"/>
              </a:rPr>
              <a:t> April 2006 to 31</a:t>
            </a:r>
            <a:r>
              <a:rPr lang="en-US" altLang="zh-TW" sz="3000" b="1" baseline="30000" dirty="0">
                <a:solidFill>
                  <a:srgbClr val="0070C0"/>
                </a:solidFill>
                <a:latin typeface="+mn-lt"/>
                <a:ea typeface="新細明體" charset="-120"/>
              </a:rPr>
              <a:t>st</a:t>
            </a:r>
            <a:r>
              <a:rPr lang="en-US" altLang="zh-TW" sz="3000" b="1" dirty="0">
                <a:solidFill>
                  <a:srgbClr val="0070C0"/>
                </a:solidFill>
                <a:latin typeface="+mn-lt"/>
                <a:ea typeface="新細明體" charset="-120"/>
              </a:rPr>
              <a:t> March 2014.</a:t>
            </a:r>
            <a:endParaRPr lang="zh-TW" altLang="en-US" sz="3000" b="1" dirty="0">
              <a:solidFill>
                <a:srgbClr val="0070C0"/>
              </a:solidFill>
              <a:latin typeface="+mn-lt"/>
              <a:ea typeface="新細明體" charset="-120"/>
            </a:endParaRPr>
          </a:p>
          <a:p>
            <a:pPr eaLnBrk="1" hangingPunct="1">
              <a:defRPr/>
            </a:pPr>
            <a:endParaRPr lang="zh-TW" altLang="en-US" sz="2500" dirty="0">
              <a:latin typeface="+mn-lt"/>
              <a:ea typeface="新細明體" charset="-12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標題 1"/>
          <p:cNvSpPr>
            <a:spLocks noGrp="1"/>
          </p:cNvSpPr>
          <p:nvPr>
            <p:ph type="title"/>
          </p:nvPr>
        </p:nvSpPr>
        <p:spPr/>
        <p:txBody>
          <a:bodyPr/>
          <a:lstStyle/>
          <a:p>
            <a:pPr eaLnBrk="1" hangingPunct="1"/>
            <a:endParaRPr lang="zh-TW" altLang="en-US" smtClean="0"/>
          </a:p>
        </p:txBody>
      </p:sp>
      <p:sp>
        <p:nvSpPr>
          <p:cNvPr id="4" name="文字方塊 3"/>
          <p:cNvSpPr txBox="1"/>
          <p:nvPr/>
        </p:nvSpPr>
        <p:spPr>
          <a:xfrm>
            <a:off x="214313" y="1989138"/>
            <a:ext cx="8389937" cy="1246187"/>
          </a:xfrm>
          <a:prstGeom prst="rect">
            <a:avLst/>
          </a:prstGeom>
          <a:noFill/>
        </p:spPr>
        <p:txBody>
          <a:bodyPr>
            <a:spAutoFit/>
          </a:bodyPr>
          <a:lstStyle/>
          <a:p>
            <a:pPr eaLnBrk="1" hangingPunct="1">
              <a:defRPr/>
            </a:pPr>
            <a:r>
              <a:rPr lang="en-US" altLang="zh-TW" sz="2500" dirty="0">
                <a:latin typeface="+mn-lt"/>
                <a:ea typeface="新細明體" charset="-120"/>
              </a:rPr>
              <a:t>If </a:t>
            </a:r>
            <a:r>
              <a:rPr lang="en-US" altLang="zh-TW" sz="2500" b="1" dirty="0">
                <a:latin typeface="+mn-lt"/>
                <a:ea typeface="新細明體" charset="-120"/>
              </a:rPr>
              <a:t>Pi(t) is the index </a:t>
            </a:r>
            <a:r>
              <a:rPr lang="en-US" altLang="zh-TW" sz="2500" dirty="0">
                <a:latin typeface="+mn-lt"/>
                <a:ea typeface="新細明體" charset="-120"/>
              </a:rPr>
              <a:t>of the </a:t>
            </a:r>
            <a:r>
              <a:rPr lang="en-US" altLang="zh-TW" sz="2500" b="1" dirty="0">
                <a:latin typeface="+mn-lt"/>
                <a:ea typeface="新細明體" charset="-120"/>
              </a:rPr>
              <a:t>sector </a:t>
            </a:r>
            <a:r>
              <a:rPr lang="en-US" altLang="zh-TW" sz="2500" b="1" dirty="0" err="1">
                <a:latin typeface="+mn-lt"/>
                <a:ea typeface="新細明體" charset="-120"/>
              </a:rPr>
              <a:t>i</a:t>
            </a:r>
            <a:r>
              <a:rPr lang="en-US" altLang="zh-TW" sz="2500" dirty="0">
                <a:latin typeface="+mn-lt"/>
                <a:ea typeface="新細明體" charset="-120"/>
              </a:rPr>
              <a:t> = 1, . . . , N at time t, then the </a:t>
            </a:r>
            <a:r>
              <a:rPr lang="en-US" altLang="zh-TW" sz="2500" b="1" dirty="0">
                <a:solidFill>
                  <a:srgbClr val="0070C0"/>
                </a:solidFill>
                <a:latin typeface="+mn-lt"/>
                <a:ea typeface="新細明體" charset="-120"/>
              </a:rPr>
              <a:t>(logarithmic) </a:t>
            </a:r>
            <a:r>
              <a:rPr lang="en-US" altLang="zh-TW" sz="2500" b="1" u="sng" dirty="0">
                <a:solidFill>
                  <a:srgbClr val="0070C0"/>
                </a:solidFill>
                <a:latin typeface="+mn-lt"/>
                <a:ea typeface="新細明體" charset="-120"/>
              </a:rPr>
              <a:t>return</a:t>
            </a:r>
            <a:r>
              <a:rPr lang="en-US" altLang="zh-TW" sz="2500" b="1" dirty="0">
                <a:solidFill>
                  <a:srgbClr val="0070C0"/>
                </a:solidFill>
                <a:latin typeface="+mn-lt"/>
                <a:ea typeface="新細明體" charset="-120"/>
              </a:rPr>
              <a:t> </a:t>
            </a:r>
            <a:r>
              <a:rPr lang="en-US" altLang="zh-TW" sz="2500" dirty="0">
                <a:latin typeface="+mn-lt"/>
                <a:ea typeface="新細明體" charset="-120"/>
              </a:rPr>
              <a:t>of the </a:t>
            </a:r>
            <a:r>
              <a:rPr lang="en-US" altLang="zh-TW" sz="2500" dirty="0" err="1">
                <a:latin typeface="+mn-lt"/>
                <a:ea typeface="新細明體" charset="-120"/>
              </a:rPr>
              <a:t>ith</a:t>
            </a:r>
            <a:r>
              <a:rPr lang="en-US" altLang="zh-TW" sz="2500" dirty="0">
                <a:latin typeface="+mn-lt"/>
                <a:ea typeface="新細明體" charset="-120"/>
              </a:rPr>
              <a:t> sector over a time interval t = 1 to t = T days in the interval is defined as</a:t>
            </a:r>
            <a:endParaRPr lang="zh-TW" altLang="en-US" sz="2500" dirty="0">
              <a:latin typeface="+mn-lt"/>
              <a:ea typeface="新細明體" charset="-120"/>
            </a:endParaRPr>
          </a:p>
        </p:txBody>
      </p:sp>
      <p:pic>
        <p:nvPicPr>
          <p:cNvPr id="8196" name="圖片 4" descr="a.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716338"/>
            <a:ext cx="4535487"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文字方塊 5"/>
          <p:cNvSpPr txBox="1">
            <a:spLocks noChangeArrowheads="1"/>
          </p:cNvSpPr>
          <p:nvPr/>
        </p:nvSpPr>
        <p:spPr bwMode="auto">
          <a:xfrm>
            <a:off x="250825" y="5084763"/>
            <a:ext cx="8569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2000">
                <a:latin typeface="Arial" panose="020B0604020202020204" pitchFamily="34" charset="0"/>
              </a:rPr>
              <a:t>In our case T = 1900, the number of days we have considered, and N = 13</a:t>
            </a:r>
            <a:endParaRPr lang="zh-TW"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250825" y="476250"/>
            <a:ext cx="8893175" cy="6324600"/>
          </a:xfrm>
          <a:prstGeom prst="rect">
            <a:avLst/>
          </a:prstGeom>
          <a:noFill/>
        </p:spPr>
        <p:txBody>
          <a:bodyPr>
            <a:spAutoFit/>
          </a:bodyPr>
          <a:lstStyle/>
          <a:p>
            <a:pPr eaLnBrk="1" hangingPunct="1">
              <a:defRPr/>
            </a:pPr>
            <a:r>
              <a:rPr lang="en-US" altLang="zh-TW" sz="3000" dirty="0">
                <a:latin typeface="Arial" charset="0"/>
                <a:ea typeface="新細明體" charset="-120"/>
              </a:rPr>
              <a:t>The following 12 sectors :</a:t>
            </a:r>
          </a:p>
          <a:p>
            <a:pPr marL="457200" indent="-457200" eaLnBrk="1" hangingPunct="1">
              <a:defRPr/>
            </a:pPr>
            <a:r>
              <a:rPr lang="en-US" altLang="zh-TW" sz="2500" b="1" dirty="0">
                <a:latin typeface="Arial" charset="0"/>
                <a:ea typeface="新細明體" charset="-120"/>
              </a:rPr>
              <a:t>1. </a:t>
            </a:r>
            <a:r>
              <a:rPr lang="en-US" altLang="zh-TW" sz="2500" dirty="0">
                <a:latin typeface="Arial" charset="0"/>
                <a:ea typeface="新細明體" charset="-120"/>
              </a:rPr>
              <a:t>S&amp;P BSE Auto (Auto)</a:t>
            </a:r>
          </a:p>
          <a:p>
            <a:pPr marL="457200" indent="-457200" eaLnBrk="1" hangingPunct="1">
              <a:defRPr/>
            </a:pPr>
            <a:r>
              <a:rPr lang="en-US" altLang="zh-TW" sz="2500" b="1" dirty="0">
                <a:latin typeface="Arial" charset="0"/>
                <a:ea typeface="新細明體" charset="-120"/>
              </a:rPr>
              <a:t>2. </a:t>
            </a:r>
            <a:r>
              <a:rPr lang="en-US" altLang="zh-TW" sz="2500" dirty="0">
                <a:latin typeface="Arial" charset="0"/>
                <a:ea typeface="新細明體" charset="-120"/>
              </a:rPr>
              <a:t>S&amp;P BSE </a:t>
            </a:r>
            <a:r>
              <a:rPr lang="en-US" altLang="zh-TW" sz="2500" dirty="0" err="1">
                <a:latin typeface="Arial" charset="0"/>
                <a:ea typeface="新細明體" charset="-120"/>
              </a:rPr>
              <a:t>Bankex</a:t>
            </a:r>
            <a:r>
              <a:rPr lang="en-US" altLang="zh-TW" sz="2500" dirty="0">
                <a:latin typeface="Arial" charset="0"/>
                <a:ea typeface="新細明體" charset="-120"/>
              </a:rPr>
              <a:t> (</a:t>
            </a:r>
            <a:r>
              <a:rPr lang="en-US" altLang="zh-TW" sz="2500" dirty="0" err="1">
                <a:latin typeface="Arial" charset="0"/>
                <a:ea typeface="新細明體" charset="-120"/>
              </a:rPr>
              <a:t>Bankex</a:t>
            </a:r>
            <a:r>
              <a:rPr lang="en-US" altLang="zh-TW" sz="2500" dirty="0">
                <a:latin typeface="Arial" charset="0"/>
                <a:ea typeface="新細明體" charset="-120"/>
              </a:rPr>
              <a:t>)</a:t>
            </a:r>
          </a:p>
          <a:p>
            <a:pPr marL="457200" indent="-457200" eaLnBrk="1" hangingPunct="1">
              <a:defRPr/>
            </a:pPr>
            <a:r>
              <a:rPr lang="en-US" altLang="zh-TW" sz="2500" b="1" dirty="0">
                <a:latin typeface="Arial" charset="0"/>
                <a:ea typeface="新細明體" charset="-120"/>
              </a:rPr>
              <a:t>3. </a:t>
            </a:r>
            <a:r>
              <a:rPr lang="en-US" altLang="zh-TW" sz="2500" dirty="0">
                <a:latin typeface="Arial" charset="0"/>
                <a:ea typeface="新細明體" charset="-120"/>
              </a:rPr>
              <a:t>S&amp;P BSE Consumer Durables (CD)</a:t>
            </a:r>
          </a:p>
          <a:p>
            <a:pPr marL="457200" indent="-457200" eaLnBrk="1" hangingPunct="1">
              <a:defRPr/>
            </a:pPr>
            <a:r>
              <a:rPr lang="en-US" altLang="zh-TW" sz="2500" b="1" dirty="0">
                <a:latin typeface="Arial" charset="0"/>
                <a:ea typeface="新細明體" charset="-120"/>
              </a:rPr>
              <a:t>4. </a:t>
            </a:r>
            <a:r>
              <a:rPr lang="en-US" altLang="zh-TW" sz="2500" dirty="0">
                <a:latin typeface="Arial" charset="0"/>
                <a:ea typeface="新細明體" charset="-120"/>
              </a:rPr>
              <a:t>S&amp;P BSE Capital Goods (CG)</a:t>
            </a:r>
          </a:p>
          <a:p>
            <a:pPr marL="457200" indent="-457200" eaLnBrk="1" hangingPunct="1">
              <a:defRPr/>
            </a:pPr>
            <a:r>
              <a:rPr lang="en-US" altLang="zh-TW" sz="2500" b="1" dirty="0">
                <a:latin typeface="Arial" charset="0"/>
                <a:ea typeface="新細明體" charset="-120"/>
              </a:rPr>
              <a:t>5. </a:t>
            </a:r>
            <a:r>
              <a:rPr lang="en-US" altLang="zh-TW" sz="2500" dirty="0">
                <a:latin typeface="Arial" charset="0"/>
                <a:ea typeface="新細明體" charset="-120"/>
              </a:rPr>
              <a:t>S&amp;P BSE FMCG (FMCG)</a:t>
            </a:r>
          </a:p>
          <a:p>
            <a:pPr marL="457200" indent="-457200" eaLnBrk="1" hangingPunct="1">
              <a:defRPr/>
            </a:pPr>
            <a:r>
              <a:rPr lang="en-US" altLang="zh-TW" sz="2500" b="1" dirty="0">
                <a:latin typeface="Arial" charset="0"/>
                <a:ea typeface="新細明體" charset="-120"/>
              </a:rPr>
              <a:t>6. </a:t>
            </a:r>
            <a:r>
              <a:rPr lang="en-US" altLang="zh-TW" sz="2500" dirty="0">
                <a:latin typeface="Arial" charset="0"/>
                <a:ea typeface="新細明體" charset="-120"/>
              </a:rPr>
              <a:t>S&amp;P BSE Health care (HC)</a:t>
            </a:r>
          </a:p>
          <a:p>
            <a:pPr marL="457200" indent="-457200" eaLnBrk="1" hangingPunct="1">
              <a:defRPr/>
            </a:pPr>
            <a:r>
              <a:rPr lang="en-US" altLang="zh-TW" sz="2500" b="1" dirty="0">
                <a:latin typeface="Arial" charset="0"/>
                <a:ea typeface="新細明體" charset="-120"/>
              </a:rPr>
              <a:t>7. </a:t>
            </a:r>
            <a:r>
              <a:rPr lang="en-US" altLang="zh-TW" sz="2500" dirty="0">
                <a:latin typeface="Arial" charset="0"/>
                <a:ea typeface="新細明體" charset="-120"/>
              </a:rPr>
              <a:t>S&amp;P BSE IT (IT)</a:t>
            </a:r>
          </a:p>
          <a:p>
            <a:pPr marL="457200" indent="-457200" eaLnBrk="1" hangingPunct="1">
              <a:defRPr/>
            </a:pPr>
            <a:r>
              <a:rPr lang="en-US" altLang="zh-TW" sz="2500" b="1" dirty="0">
                <a:latin typeface="Arial" charset="0"/>
                <a:ea typeface="新細明體" charset="-120"/>
              </a:rPr>
              <a:t>8. </a:t>
            </a:r>
            <a:r>
              <a:rPr lang="en-US" altLang="zh-TW" sz="2500" dirty="0">
                <a:latin typeface="Arial" charset="0"/>
                <a:ea typeface="新細明體" charset="-120"/>
              </a:rPr>
              <a:t>S&amp;P BSE Metal (Metal)</a:t>
            </a:r>
          </a:p>
          <a:p>
            <a:pPr marL="457200" indent="-457200" eaLnBrk="1" hangingPunct="1">
              <a:defRPr/>
            </a:pPr>
            <a:r>
              <a:rPr lang="en-US" altLang="zh-TW" sz="2500" b="1" dirty="0">
                <a:latin typeface="Arial" charset="0"/>
                <a:ea typeface="新細明體" charset="-120"/>
              </a:rPr>
              <a:t>9. </a:t>
            </a:r>
            <a:r>
              <a:rPr lang="en-US" altLang="zh-TW" sz="2500" dirty="0">
                <a:latin typeface="Arial" charset="0"/>
                <a:ea typeface="新細明體" charset="-120"/>
              </a:rPr>
              <a:t>S&amp;P BSE Oil and Gas (Oil and Gas)</a:t>
            </a:r>
          </a:p>
          <a:p>
            <a:pPr marL="457200" indent="-457200" eaLnBrk="1" hangingPunct="1">
              <a:defRPr/>
            </a:pPr>
            <a:r>
              <a:rPr lang="en-US" altLang="zh-TW" sz="2500" b="1" dirty="0">
                <a:latin typeface="Arial" charset="0"/>
                <a:ea typeface="新細明體" charset="-120"/>
              </a:rPr>
              <a:t>10. </a:t>
            </a:r>
            <a:r>
              <a:rPr lang="en-US" altLang="zh-TW" sz="2500" dirty="0">
                <a:latin typeface="Arial" charset="0"/>
                <a:ea typeface="新細明體" charset="-120"/>
              </a:rPr>
              <a:t>S&amp;P BSE Power (Power)</a:t>
            </a:r>
          </a:p>
          <a:p>
            <a:pPr marL="457200" indent="-457200" eaLnBrk="1" hangingPunct="1">
              <a:defRPr/>
            </a:pPr>
            <a:r>
              <a:rPr lang="en-US" altLang="zh-TW" sz="2500" b="1" dirty="0">
                <a:latin typeface="Arial" charset="0"/>
                <a:ea typeface="新細明體" charset="-120"/>
              </a:rPr>
              <a:t>11. </a:t>
            </a:r>
            <a:r>
              <a:rPr lang="en-US" altLang="zh-TW" sz="2500" dirty="0">
                <a:latin typeface="Arial" charset="0"/>
                <a:ea typeface="新細明體" charset="-120"/>
              </a:rPr>
              <a:t>S&amp;P BSE Realty (Realty)</a:t>
            </a:r>
          </a:p>
          <a:p>
            <a:pPr eaLnBrk="1" hangingPunct="1">
              <a:defRPr/>
            </a:pPr>
            <a:r>
              <a:rPr lang="en-US" altLang="zh-TW" sz="2500" b="1" dirty="0">
                <a:latin typeface="Arial" charset="0"/>
                <a:ea typeface="新細明體" charset="-120"/>
              </a:rPr>
              <a:t>12. </a:t>
            </a:r>
            <a:r>
              <a:rPr lang="en-US" altLang="zh-TW" sz="2500" dirty="0">
                <a:latin typeface="Arial" charset="0"/>
                <a:ea typeface="新細明體" charset="-120"/>
              </a:rPr>
              <a:t>S&amp;P BSE </a:t>
            </a:r>
            <a:r>
              <a:rPr lang="en-US" altLang="zh-TW" sz="2500" dirty="0" err="1">
                <a:latin typeface="Arial" charset="0"/>
                <a:ea typeface="新細明體" charset="-120"/>
              </a:rPr>
              <a:t>Teck</a:t>
            </a:r>
            <a:r>
              <a:rPr lang="en-US" altLang="zh-TW" sz="2500" dirty="0">
                <a:latin typeface="Arial" charset="0"/>
                <a:ea typeface="新細明體" charset="-120"/>
              </a:rPr>
              <a:t> (</a:t>
            </a:r>
            <a:r>
              <a:rPr lang="en-US" altLang="zh-TW" sz="2500" dirty="0" err="1">
                <a:latin typeface="Arial" charset="0"/>
                <a:ea typeface="新細明體" charset="-120"/>
              </a:rPr>
              <a:t>Teck</a:t>
            </a:r>
            <a:r>
              <a:rPr lang="en-US" altLang="zh-TW" sz="2500" dirty="0">
                <a:latin typeface="Arial" charset="0"/>
                <a:ea typeface="新細明體" charset="-120"/>
              </a:rPr>
              <a:t>)</a:t>
            </a:r>
          </a:p>
          <a:p>
            <a:pPr eaLnBrk="1" hangingPunct="1">
              <a:defRPr/>
            </a:pPr>
            <a:endParaRPr lang="en-US" altLang="zh-TW" sz="2500" dirty="0">
              <a:latin typeface="Arial" charset="0"/>
              <a:ea typeface="新細明體" charset="-120"/>
            </a:endParaRPr>
          </a:p>
          <a:p>
            <a:pPr eaLnBrk="1" hangingPunct="1">
              <a:defRPr/>
            </a:pPr>
            <a:r>
              <a:rPr lang="en-US" altLang="zh-TW" sz="2500" dirty="0">
                <a:latin typeface="Arial" charset="0"/>
                <a:ea typeface="新細明體" charset="-120"/>
              </a:rPr>
              <a:t>S&amp;P BSE </a:t>
            </a:r>
            <a:r>
              <a:rPr lang="en-US" altLang="zh-TW" sz="2500" b="1" dirty="0">
                <a:latin typeface="Arial" charset="0"/>
                <a:ea typeface="新細明體" charset="-120"/>
              </a:rPr>
              <a:t>SENSEX</a:t>
            </a:r>
            <a:r>
              <a:rPr lang="en-US" altLang="zh-TW" sz="2500" dirty="0">
                <a:latin typeface="Arial" charset="0"/>
                <a:ea typeface="新細明體" charset="-120"/>
              </a:rPr>
              <a:t> (</a:t>
            </a:r>
            <a:r>
              <a:rPr lang="en-US" altLang="zh-TW" sz="2500" dirty="0" err="1">
                <a:latin typeface="Arial" charset="0"/>
                <a:ea typeface="新細明體" charset="-120"/>
              </a:rPr>
              <a:t>Sensex</a:t>
            </a:r>
            <a:r>
              <a:rPr lang="en-US" altLang="zh-TW" sz="2500" dirty="0">
                <a:latin typeface="Arial" charset="0"/>
                <a:ea typeface="新細明體" charset="-120"/>
              </a:rPr>
              <a:t>) which serves as the benchmark.</a:t>
            </a:r>
            <a:endParaRPr lang="zh-TW" altLang="en-US" sz="2500" dirty="0">
              <a:latin typeface="Arial" charset="0"/>
              <a:ea typeface="新細明體" charset="-120"/>
            </a:endParaRPr>
          </a:p>
          <a:p>
            <a:pPr eaLnBrk="1" hangingPunct="1">
              <a:defRPr/>
            </a:pPr>
            <a:endParaRPr lang="zh-TW" altLang="en-US" sz="2500" dirty="0">
              <a:latin typeface="Arial" charset="0"/>
              <a:ea typeface="新細明體" charset="-12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標題 1"/>
          <p:cNvSpPr>
            <a:spLocks noGrp="1"/>
          </p:cNvSpPr>
          <p:nvPr>
            <p:ph type="title"/>
          </p:nvPr>
        </p:nvSpPr>
        <p:spPr>
          <a:xfrm>
            <a:off x="179388" y="333375"/>
            <a:ext cx="8229600" cy="1143000"/>
          </a:xfrm>
        </p:spPr>
        <p:txBody>
          <a:bodyPr/>
          <a:lstStyle/>
          <a:p>
            <a:pPr algn="l" eaLnBrk="1" hangingPunct="1"/>
            <a:r>
              <a:rPr lang="en-US" altLang="zh-TW" sz="2500" smtClean="0"/>
              <a:t>Mean return of the i</a:t>
            </a:r>
            <a:r>
              <a:rPr lang="en-US" altLang="zh-TW" sz="2500" baseline="-15000" smtClean="0"/>
              <a:t>th</a:t>
            </a:r>
            <a:r>
              <a:rPr lang="en-US" altLang="zh-TW" sz="2500" smtClean="0"/>
              <a:t> sector</a:t>
            </a:r>
            <a:endParaRPr lang="zh-TW" altLang="en-US" sz="2500" smtClean="0"/>
          </a:p>
        </p:txBody>
      </p:sp>
      <p:pic>
        <p:nvPicPr>
          <p:cNvPr id="10243" name="圖片 3" descr="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125538"/>
            <a:ext cx="2747962"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圖片 4" descr="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997200"/>
            <a:ext cx="8964612" cy="312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線接點 6"/>
          <p:cNvCxnSpPr/>
          <p:nvPr/>
        </p:nvCxnSpPr>
        <p:spPr>
          <a:xfrm>
            <a:off x="1116013" y="3500438"/>
            <a:ext cx="20161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2051050" y="4941888"/>
            <a:ext cx="41052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字方塊 3"/>
          <p:cNvSpPr txBox="1">
            <a:spLocks noChangeArrowheads="1"/>
          </p:cNvSpPr>
          <p:nvPr/>
        </p:nvSpPr>
        <p:spPr bwMode="auto">
          <a:xfrm>
            <a:off x="250825" y="404813"/>
            <a:ext cx="8569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2000">
                <a:latin typeface="Arial" panose="020B0604020202020204" pitchFamily="34" charset="0"/>
              </a:rPr>
              <a:t>It is clear that we can divide the entire period in two sub interval (i) from FY 2006 to FY 2009 as </a:t>
            </a:r>
            <a:r>
              <a:rPr lang="en-US" altLang="zh-TW" sz="2000" b="1" u="sng">
                <a:latin typeface="Arial" panose="020B0604020202020204" pitchFamily="34" charset="0"/>
              </a:rPr>
              <a:t>large fluctuation</a:t>
            </a:r>
            <a:r>
              <a:rPr lang="en-US" altLang="zh-TW" sz="2000">
                <a:latin typeface="Arial" panose="020B0604020202020204" pitchFamily="34" charset="0"/>
              </a:rPr>
              <a:t> period and  (ii) from FY 2010 to FY 2013 for </a:t>
            </a:r>
            <a:r>
              <a:rPr lang="en-US" altLang="zh-TW" sz="2000" b="1" u="sng">
                <a:latin typeface="Arial" panose="020B0604020202020204" pitchFamily="34" charset="0"/>
              </a:rPr>
              <a:t>normal</a:t>
            </a:r>
            <a:r>
              <a:rPr lang="en-US" altLang="zh-TW" sz="2000">
                <a:latin typeface="Arial" panose="020B0604020202020204" pitchFamily="34" charset="0"/>
              </a:rPr>
              <a:t> period.</a:t>
            </a:r>
            <a:endParaRPr lang="zh-TW" altLang="en-US" sz="2000">
              <a:latin typeface="Arial" panose="020B0604020202020204" pitchFamily="34" charset="0"/>
            </a:endParaRPr>
          </a:p>
        </p:txBody>
      </p:sp>
      <p:pic>
        <p:nvPicPr>
          <p:cNvPr id="11267" name="圖片 4" descr="b.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5263" y="1757363"/>
            <a:ext cx="467836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圖片 5" descr="c.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89475" y="1860550"/>
            <a:ext cx="4562475"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6156325" y="2060575"/>
            <a:ext cx="1079500" cy="39608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
        <p:nvSpPr>
          <p:cNvPr id="8" name="矩形 7"/>
          <p:cNvSpPr/>
          <p:nvPr/>
        </p:nvSpPr>
        <p:spPr>
          <a:xfrm>
            <a:off x="2771775" y="2060575"/>
            <a:ext cx="1295400" cy="37449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
        <p:nvSpPr>
          <p:cNvPr id="9" name="矩形 8"/>
          <p:cNvSpPr/>
          <p:nvPr/>
        </p:nvSpPr>
        <p:spPr>
          <a:xfrm>
            <a:off x="1331913" y="2060575"/>
            <a:ext cx="1295400" cy="37449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
        <p:nvSpPr>
          <p:cNvPr id="10" name="矩形 9"/>
          <p:cNvSpPr/>
          <p:nvPr/>
        </p:nvSpPr>
        <p:spPr>
          <a:xfrm>
            <a:off x="7596188" y="2060575"/>
            <a:ext cx="1079500" cy="39608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
        <p:nvSpPr>
          <p:cNvPr id="13" name="文字方塊 12"/>
          <p:cNvSpPr txBox="1">
            <a:spLocks noChangeArrowheads="1"/>
          </p:cNvSpPr>
          <p:nvPr/>
        </p:nvSpPr>
        <p:spPr bwMode="auto">
          <a:xfrm>
            <a:off x="1331913" y="1412875"/>
            <a:ext cx="1368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b="1">
                <a:solidFill>
                  <a:srgbClr val="FF0000"/>
                </a:solidFill>
                <a:latin typeface="Arial" panose="020B0604020202020204" pitchFamily="34" charset="0"/>
              </a:rPr>
              <a:t>large fluctuation</a:t>
            </a:r>
            <a:endParaRPr lang="zh-TW" altLang="en-US" sz="1800" b="1">
              <a:solidFill>
                <a:srgbClr val="FF0000"/>
              </a:solidFill>
              <a:latin typeface="Arial" panose="020B0604020202020204" pitchFamily="34" charset="0"/>
            </a:endParaRPr>
          </a:p>
        </p:txBody>
      </p:sp>
      <p:sp>
        <p:nvSpPr>
          <p:cNvPr id="14" name="文字方塊 13"/>
          <p:cNvSpPr txBox="1">
            <a:spLocks noChangeArrowheads="1"/>
          </p:cNvSpPr>
          <p:nvPr/>
        </p:nvSpPr>
        <p:spPr bwMode="auto">
          <a:xfrm>
            <a:off x="2843213" y="1628775"/>
            <a:ext cx="1081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b="1">
                <a:solidFill>
                  <a:srgbClr val="FF0000"/>
                </a:solidFill>
                <a:latin typeface="Arial" panose="020B0604020202020204" pitchFamily="34" charset="0"/>
              </a:rPr>
              <a:t>normal</a:t>
            </a:r>
            <a:endParaRPr lang="zh-TW" altLang="en-US" sz="1800" b="1">
              <a:solidFill>
                <a:srgbClr val="FF0000"/>
              </a:solidFill>
              <a:latin typeface="Arial" panose="020B0604020202020204" pitchFamily="34" charset="0"/>
            </a:endParaRPr>
          </a:p>
        </p:txBody>
      </p:sp>
      <p:sp>
        <p:nvSpPr>
          <p:cNvPr id="15" name="文字方塊 14"/>
          <p:cNvSpPr txBox="1">
            <a:spLocks noChangeArrowheads="1"/>
          </p:cNvSpPr>
          <p:nvPr/>
        </p:nvSpPr>
        <p:spPr bwMode="auto">
          <a:xfrm>
            <a:off x="5940425" y="1341438"/>
            <a:ext cx="1368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b="1">
                <a:solidFill>
                  <a:srgbClr val="FF0000"/>
                </a:solidFill>
                <a:latin typeface="Arial" panose="020B0604020202020204" pitchFamily="34" charset="0"/>
              </a:rPr>
              <a:t>large fluctuation</a:t>
            </a:r>
            <a:endParaRPr lang="zh-TW" altLang="en-US" sz="1800" b="1">
              <a:solidFill>
                <a:srgbClr val="FF0000"/>
              </a:solidFill>
              <a:latin typeface="Arial" panose="020B0604020202020204" pitchFamily="34" charset="0"/>
            </a:endParaRPr>
          </a:p>
        </p:txBody>
      </p:sp>
      <p:sp>
        <p:nvSpPr>
          <p:cNvPr id="16" name="文字方塊 15"/>
          <p:cNvSpPr txBox="1">
            <a:spLocks noChangeArrowheads="1"/>
          </p:cNvSpPr>
          <p:nvPr/>
        </p:nvSpPr>
        <p:spPr bwMode="auto">
          <a:xfrm>
            <a:off x="7596188" y="1557338"/>
            <a:ext cx="1079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b="1">
                <a:solidFill>
                  <a:srgbClr val="FF0000"/>
                </a:solidFill>
                <a:latin typeface="Arial" panose="020B0604020202020204" pitchFamily="34" charset="0"/>
              </a:rPr>
              <a:t>normal</a:t>
            </a:r>
            <a:endParaRPr lang="zh-TW" altLang="en-US" sz="1800" b="1">
              <a:solidFill>
                <a:srgbClr val="FF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20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20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內容版面配置區 2"/>
          <p:cNvSpPr>
            <a:spLocks noGrp="1"/>
          </p:cNvSpPr>
          <p:nvPr>
            <p:ph idx="1"/>
          </p:nvPr>
        </p:nvSpPr>
        <p:spPr>
          <a:xfrm>
            <a:off x="468313" y="692150"/>
            <a:ext cx="8229600" cy="5070475"/>
          </a:xfrm>
        </p:spPr>
        <p:txBody>
          <a:bodyPr/>
          <a:lstStyle/>
          <a:p>
            <a:pPr eaLnBrk="1" hangingPunct="1">
              <a:buFont typeface="Arial" charset="0"/>
              <a:buChar char="•"/>
              <a:defRPr/>
            </a:pPr>
            <a:r>
              <a:rPr lang="zh-TW" altLang="en-US" sz="2500" dirty="0" smtClean="0"/>
              <a:t>這篇論文研究表示，任何</a:t>
            </a:r>
            <a:r>
              <a:rPr lang="en-US" altLang="zh-TW" sz="2500" dirty="0" smtClean="0"/>
              <a:t>Return</a:t>
            </a:r>
            <a:r>
              <a:rPr lang="zh-TW" altLang="en-US" sz="2500" dirty="0" smtClean="0"/>
              <a:t>基於常態分佈的預測都會失測。尤其是，有些存在偏差於常態分佈中，那麼</a:t>
            </a:r>
            <a:r>
              <a:rPr lang="en-US" altLang="zh-TW" sz="2500" b="1" dirty="0" smtClean="0"/>
              <a:t>Random Walk Hypothesis </a:t>
            </a:r>
            <a:r>
              <a:rPr lang="zh-TW" altLang="en-US" sz="2500" dirty="0" smtClean="0"/>
              <a:t>將失證。</a:t>
            </a:r>
            <a:endParaRPr lang="en-US" altLang="zh-TW" sz="2500" dirty="0" smtClean="0"/>
          </a:p>
          <a:p>
            <a:pPr eaLnBrk="1" hangingPunct="1">
              <a:buFont typeface="Arial" charset="0"/>
              <a:buChar char="•"/>
              <a:defRPr/>
            </a:pPr>
            <a:endParaRPr lang="en-US" altLang="zh-TW" sz="2500" dirty="0" smtClean="0"/>
          </a:p>
          <a:p>
            <a:pPr eaLnBrk="1" hangingPunct="1">
              <a:buFont typeface="Arial" charset="0"/>
              <a:buChar char="•"/>
              <a:defRPr/>
            </a:pPr>
            <a:r>
              <a:rPr lang="zh-TW" altLang="en-US" sz="2500" b="1" dirty="0" smtClean="0">
                <a:latin typeface="+mn-ea"/>
              </a:rPr>
              <a:t>隨機漫步理論 </a:t>
            </a:r>
            <a:r>
              <a:rPr lang="en-US" altLang="zh-TW" sz="2500" b="1" dirty="0" smtClean="0">
                <a:latin typeface="+mn-ea"/>
              </a:rPr>
              <a:t>(Random Walk Theory) </a:t>
            </a:r>
            <a:r>
              <a:rPr lang="zh-TW" altLang="en-US" sz="2500" b="1" dirty="0" smtClean="0">
                <a:latin typeface="+mn-ea"/>
              </a:rPr>
              <a:t>：</a:t>
            </a:r>
            <a:endParaRPr lang="en-US" altLang="zh-TW" sz="2500" b="1" dirty="0" smtClean="0">
              <a:latin typeface="+mn-ea"/>
            </a:endParaRPr>
          </a:p>
          <a:p>
            <a:pPr eaLnBrk="1" hangingPunct="1">
              <a:buFont typeface="Arial" charset="0"/>
              <a:buNone/>
              <a:defRPr/>
            </a:pPr>
            <a:r>
              <a:rPr lang="en-US" altLang="zh-TW" sz="2800" dirty="0" smtClean="0">
                <a:latin typeface="+mn-ea"/>
              </a:rPr>
              <a:t>   </a:t>
            </a:r>
            <a:r>
              <a:rPr lang="zh-TW" altLang="en-US" sz="2800" dirty="0" smtClean="0">
                <a:latin typeface="+mn-ea"/>
              </a:rPr>
              <a:t>　　</a:t>
            </a:r>
            <a:r>
              <a:rPr lang="zh-TW" altLang="en-US" sz="2500" dirty="0" smtClean="0">
                <a:latin typeface="+mn-ea"/>
              </a:rPr>
              <a:t>證券價格的波動是隨機的，像一個醉漢行走一樣，價格的下一步將走向哪裡，是沒有規律的。市場中，價格的走向受到多方面因素的影響。一件不起眼的小事也可能對市場產生巨大的影響。從長時間的價格走勢圖上也可以看出，價格的上下起伏的機會差不多是均等的。</a:t>
            </a:r>
            <a:endParaRPr lang="en-US" altLang="zh-TW" sz="2500" dirty="0" smtClean="0">
              <a:latin typeface="+mn-ea"/>
            </a:endParaRPr>
          </a:p>
          <a:p>
            <a:pPr eaLnBrk="1" hangingPunct="1">
              <a:buFont typeface="Arial" charset="0"/>
              <a:buNone/>
              <a:defRPr/>
            </a:pPr>
            <a:r>
              <a:rPr lang="zh-TW" altLang="en-US" sz="2500" dirty="0" smtClean="0"/>
              <a:t>     市價會圍繞著內在價值而上下波動。這些波動卻是隨意而沒有任何軌跡可循。</a:t>
            </a:r>
            <a:endParaRPr lang="zh-TW" altLang="en-US" sz="2500" dirty="0" smtClean="0">
              <a:latin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標題 1"/>
          <p:cNvSpPr>
            <a:spLocks noGrp="1"/>
          </p:cNvSpPr>
          <p:nvPr>
            <p:ph type="title"/>
          </p:nvPr>
        </p:nvSpPr>
        <p:spPr/>
        <p:txBody>
          <a:bodyPr/>
          <a:lstStyle/>
          <a:p>
            <a:pPr algn="l" eaLnBrk="1" hangingPunct="1"/>
            <a:r>
              <a:rPr lang="en-US" altLang="zh-TW" smtClean="0"/>
              <a:t>skewness and kurtosis</a:t>
            </a:r>
            <a:endParaRPr lang="zh-TW" altLang="en-US" smtClean="0"/>
          </a:p>
        </p:txBody>
      </p:sp>
      <p:pic>
        <p:nvPicPr>
          <p:cNvPr id="14339" name="圖片 5" descr="f.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844675"/>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圖片 6" descr="g.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20938"/>
            <a:ext cx="8713788"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41" name="群組 3"/>
          <p:cNvGrpSpPr>
            <a:grpSpLocks/>
          </p:cNvGrpSpPr>
          <p:nvPr/>
        </p:nvGrpSpPr>
        <p:grpSpPr bwMode="auto">
          <a:xfrm>
            <a:off x="250825" y="5157788"/>
            <a:ext cx="8316913" cy="1435100"/>
            <a:chOff x="250825" y="4724400"/>
            <a:chExt cx="8316913" cy="1435100"/>
          </a:xfrm>
        </p:grpSpPr>
        <p:pic>
          <p:nvPicPr>
            <p:cNvPr id="14344" name="圖片 7" descr="h.png"/>
            <p:cNvPicPr>
              <a:picLocks noChangeAspect="1"/>
            </p:cNvPicPr>
            <p:nvPr/>
          </p:nvPicPr>
          <p:blipFill>
            <a:blip r:embed="rId4">
              <a:extLst>
                <a:ext uri="{28A0092B-C50C-407E-A947-70E740481C1C}">
                  <a14:useLocalDpi xmlns:a14="http://schemas.microsoft.com/office/drawing/2010/main" val="0"/>
                </a:ext>
              </a:extLst>
            </a:blip>
            <a:srcRect t="9122"/>
            <a:stretch>
              <a:fillRect/>
            </a:stretch>
          </p:blipFill>
          <p:spPr bwMode="auto">
            <a:xfrm>
              <a:off x="250825" y="4724400"/>
              <a:ext cx="831691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線接點 9"/>
            <p:cNvCxnSpPr/>
            <p:nvPr/>
          </p:nvCxnSpPr>
          <p:spPr>
            <a:xfrm>
              <a:off x="684213" y="5013325"/>
              <a:ext cx="3024187"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4140200" y="5013325"/>
              <a:ext cx="2952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3" name="文字方塊 2"/>
          <p:cNvSpPr txBox="1"/>
          <p:nvPr/>
        </p:nvSpPr>
        <p:spPr>
          <a:xfrm>
            <a:off x="5634038" y="2203450"/>
            <a:ext cx="2589212" cy="1354138"/>
          </a:xfrm>
          <a:prstGeom prst="rect">
            <a:avLst/>
          </a:prstGeom>
          <a:noFill/>
        </p:spPr>
        <p:txBody>
          <a:bodyPr>
            <a:spAutoFit/>
          </a:bodyPr>
          <a:lstStyle/>
          <a:p>
            <a:pPr eaLnBrk="1" hangingPunct="1">
              <a:defRPr/>
            </a:pPr>
            <a:r>
              <a:rPr lang="zh-TW" altLang="en-US" sz="1600" dirty="0">
                <a:solidFill>
                  <a:srgbClr val="00B0F0"/>
                </a:solidFill>
              </a:rPr>
              <a:t>備註：</a:t>
            </a:r>
            <a:r>
              <a:rPr lang="en-US" altLang="zh-TW" sz="1600" dirty="0">
                <a:solidFill>
                  <a:srgbClr val="00B0F0"/>
                </a:solidFill>
              </a:rPr>
              <a:t>Skewness</a:t>
            </a:r>
          </a:p>
          <a:p>
            <a:pPr marL="285750" indent="-285750" eaLnBrk="1" hangingPunct="1">
              <a:buFont typeface="Arial" panose="020B0604020202020204" pitchFamily="34" charset="0"/>
              <a:buChar char="•"/>
              <a:defRPr/>
            </a:pPr>
            <a:r>
              <a:rPr lang="zh-TW" altLang="en-US" sz="1600" dirty="0">
                <a:solidFill>
                  <a:srgbClr val="00B0F0"/>
                </a:solidFill>
              </a:rPr>
              <a:t>等於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分佈</a:t>
            </a:r>
            <a:r>
              <a:rPr lang="zh-TW" altLang="en-US" sz="1600" b="1" dirty="0">
                <a:solidFill>
                  <a:srgbClr val="00B0F0"/>
                </a:solidFill>
              </a:rPr>
              <a:t>對稱</a:t>
            </a:r>
            <a:endParaRPr lang="en-US" altLang="zh-TW" sz="1600" b="1" dirty="0">
              <a:solidFill>
                <a:srgbClr val="00B0F0"/>
              </a:solidFill>
            </a:endParaRPr>
          </a:p>
          <a:p>
            <a:pPr marL="285750" indent="-285750" eaLnBrk="1" hangingPunct="1">
              <a:buFont typeface="Arial" panose="020B0604020202020204" pitchFamily="34" charset="0"/>
              <a:buChar char="•"/>
              <a:defRPr/>
            </a:pPr>
            <a:r>
              <a:rPr lang="zh-TW" altLang="en-US" sz="1600" dirty="0">
                <a:solidFill>
                  <a:srgbClr val="00B0F0"/>
                </a:solidFill>
              </a:rPr>
              <a:t>大於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分佈</a:t>
            </a:r>
            <a:r>
              <a:rPr lang="zh-TW" altLang="en-US" sz="1600" b="1" dirty="0">
                <a:solidFill>
                  <a:srgbClr val="00B0F0"/>
                </a:solidFill>
              </a:rPr>
              <a:t>偏右</a:t>
            </a:r>
            <a:endParaRPr lang="en-US" altLang="zh-TW" sz="1600" b="1" dirty="0">
              <a:solidFill>
                <a:srgbClr val="00B0F0"/>
              </a:solidFill>
            </a:endParaRPr>
          </a:p>
          <a:p>
            <a:pPr marL="285750" indent="-285750" eaLnBrk="1" hangingPunct="1">
              <a:buFont typeface="Arial" panose="020B0604020202020204" pitchFamily="34" charset="0"/>
              <a:buChar char="•"/>
              <a:defRPr/>
            </a:pPr>
            <a:r>
              <a:rPr lang="zh-TW" altLang="en-US" sz="1600" dirty="0">
                <a:solidFill>
                  <a:srgbClr val="00B0F0"/>
                </a:solidFill>
              </a:rPr>
              <a:t>小於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分佈</a:t>
            </a:r>
            <a:r>
              <a:rPr lang="zh-TW" altLang="en-US" sz="1600" b="1" dirty="0">
                <a:solidFill>
                  <a:srgbClr val="00B0F0"/>
                </a:solidFill>
              </a:rPr>
              <a:t>偏左</a:t>
            </a:r>
          </a:p>
          <a:p>
            <a:pPr eaLnBrk="1" hangingPunct="1">
              <a:defRPr/>
            </a:pPr>
            <a:endParaRPr lang="zh-TW" altLang="en-US" dirty="0"/>
          </a:p>
        </p:txBody>
      </p:sp>
      <p:sp>
        <p:nvSpPr>
          <p:cNvPr id="12" name="文字方塊 11"/>
          <p:cNvSpPr txBox="1"/>
          <p:nvPr/>
        </p:nvSpPr>
        <p:spPr>
          <a:xfrm>
            <a:off x="5590315" y="4092576"/>
            <a:ext cx="2589213" cy="1354137"/>
          </a:xfrm>
          <a:prstGeom prst="rect">
            <a:avLst/>
          </a:prstGeom>
          <a:noFill/>
        </p:spPr>
        <p:txBody>
          <a:bodyPr>
            <a:spAutoFit/>
          </a:bodyPr>
          <a:lstStyle/>
          <a:p>
            <a:pPr eaLnBrk="1" hangingPunct="1">
              <a:defRPr/>
            </a:pPr>
            <a:r>
              <a:rPr lang="zh-TW" altLang="en-US" sz="1600" dirty="0">
                <a:solidFill>
                  <a:srgbClr val="00B0F0"/>
                </a:solidFill>
              </a:rPr>
              <a:t>備註：</a:t>
            </a:r>
            <a:r>
              <a:rPr lang="en-US" altLang="zh-TW" sz="1600" dirty="0">
                <a:solidFill>
                  <a:srgbClr val="00B0F0"/>
                </a:solidFill>
              </a:rPr>
              <a:t>Kurtosis</a:t>
            </a:r>
          </a:p>
          <a:p>
            <a:pPr marL="285750" indent="-285750" eaLnBrk="1" hangingPunct="1">
              <a:buFont typeface="Arial" panose="020B0604020202020204" pitchFamily="34" charset="0"/>
              <a:buChar char="•"/>
              <a:defRPr/>
            </a:pPr>
            <a:r>
              <a:rPr lang="zh-TW" altLang="en-US" sz="1600" dirty="0">
                <a:solidFill>
                  <a:srgbClr val="00B0F0"/>
                </a:solidFill>
              </a:rPr>
              <a:t>等於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常態峰</a:t>
            </a:r>
            <a:endParaRPr lang="en-US" altLang="zh-TW" sz="1600" b="1" dirty="0">
              <a:solidFill>
                <a:srgbClr val="00B0F0"/>
              </a:solidFill>
            </a:endParaRPr>
          </a:p>
          <a:p>
            <a:pPr marL="285750" indent="-285750" eaLnBrk="1" hangingPunct="1">
              <a:buFont typeface="Arial" panose="020B0604020202020204" pitchFamily="34" charset="0"/>
              <a:buChar char="•"/>
              <a:defRPr/>
            </a:pPr>
            <a:r>
              <a:rPr lang="zh-TW" altLang="en-US" sz="1600" dirty="0">
                <a:solidFill>
                  <a:srgbClr val="00B0F0"/>
                </a:solidFill>
              </a:rPr>
              <a:t>大於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低闊峰</a:t>
            </a:r>
            <a:endParaRPr lang="en-US" altLang="zh-TW" sz="1600" b="1" dirty="0">
              <a:solidFill>
                <a:srgbClr val="00B0F0"/>
              </a:solidFill>
            </a:endParaRPr>
          </a:p>
          <a:p>
            <a:pPr marL="285750" indent="-285750" eaLnBrk="1" hangingPunct="1">
              <a:buFont typeface="Arial" panose="020B0604020202020204" pitchFamily="34" charset="0"/>
              <a:buChar char="•"/>
              <a:defRPr/>
            </a:pPr>
            <a:r>
              <a:rPr lang="zh-TW" altLang="en-US" sz="1600" dirty="0">
                <a:solidFill>
                  <a:srgbClr val="00B0F0"/>
                </a:solidFill>
              </a:rPr>
              <a:t>小於</a:t>
            </a:r>
            <a:r>
              <a:rPr lang="en-US" altLang="zh-TW" sz="1600" dirty="0">
                <a:solidFill>
                  <a:srgbClr val="00B0F0"/>
                </a:solidFill>
              </a:rPr>
              <a:t>0</a:t>
            </a:r>
            <a:r>
              <a:rPr lang="zh-TW" altLang="en-US" sz="1600" dirty="0">
                <a:solidFill>
                  <a:srgbClr val="00B0F0"/>
                </a:solidFill>
              </a:rPr>
              <a:t> </a:t>
            </a:r>
            <a:r>
              <a:rPr lang="en-US" altLang="zh-TW" sz="1600" dirty="0">
                <a:solidFill>
                  <a:srgbClr val="00B0F0"/>
                </a:solidFill>
              </a:rPr>
              <a:t>:</a:t>
            </a:r>
            <a:r>
              <a:rPr lang="zh-TW" altLang="en-US" sz="1600" dirty="0">
                <a:solidFill>
                  <a:srgbClr val="00B0F0"/>
                </a:solidFill>
              </a:rPr>
              <a:t> 高狹峰</a:t>
            </a:r>
            <a:endParaRPr lang="zh-TW" altLang="en-US" sz="1600" b="1" dirty="0">
              <a:solidFill>
                <a:srgbClr val="00B0F0"/>
              </a:solidFill>
            </a:endParaRPr>
          </a:p>
          <a:p>
            <a:pPr eaLnBrk="1" hangingPunct="1">
              <a:defRPr/>
            </a:pPr>
            <a:endParaRPr lang="zh-TW"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42988" y="1196975"/>
            <a:ext cx="5832475" cy="4683125"/>
          </a:xfrm>
        </p:spPr>
      </p:pic>
      <p:sp>
        <p:nvSpPr>
          <p:cNvPr id="15363" name="文字方塊 4"/>
          <p:cNvSpPr txBox="1">
            <a:spLocks noChangeArrowheads="1"/>
          </p:cNvSpPr>
          <p:nvPr/>
        </p:nvSpPr>
        <p:spPr bwMode="auto">
          <a:xfrm>
            <a:off x="468313" y="549275"/>
            <a:ext cx="4391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a:t>本篇論文</a:t>
            </a:r>
            <a:r>
              <a:rPr lang="en-US" altLang="zh-TW"/>
              <a:t>data</a:t>
            </a:r>
            <a:r>
              <a:rPr lang="zh-TW" altLang="en-US"/>
              <a:t>分佈呈</a:t>
            </a:r>
            <a:r>
              <a:rPr lang="zh-TW" altLang="en-US" b="1"/>
              <a:t>高狹峰</a:t>
            </a:r>
            <a:r>
              <a:rPr lang="zh-TW" altLang="en-US"/>
              <a:t>，如下圖所示 </a:t>
            </a:r>
            <a:r>
              <a:rPr lang="en-US" altLang="zh-TW"/>
              <a:t>: </a:t>
            </a:r>
            <a:endParaRPr lang="zh-TW"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標題 1"/>
          <p:cNvSpPr>
            <a:spLocks noGrp="1"/>
          </p:cNvSpPr>
          <p:nvPr>
            <p:ph type="title"/>
          </p:nvPr>
        </p:nvSpPr>
        <p:spPr/>
        <p:txBody>
          <a:bodyPr/>
          <a:lstStyle/>
          <a:p>
            <a:pPr eaLnBrk="1" hangingPunct="1"/>
            <a:endParaRPr lang="zh-TW" altLang="en-US" smtClean="0"/>
          </a:p>
        </p:txBody>
      </p:sp>
      <p:pic>
        <p:nvPicPr>
          <p:cNvPr id="16387" name="內容版面配置區 3" descr="i.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875" y="549275"/>
            <a:ext cx="9159875" cy="4392613"/>
          </a:xfrm>
        </p:spPr>
      </p:pic>
      <p:sp>
        <p:nvSpPr>
          <p:cNvPr id="16388" name="文字方塊 4"/>
          <p:cNvSpPr txBox="1">
            <a:spLocks noChangeArrowheads="1"/>
          </p:cNvSpPr>
          <p:nvPr/>
        </p:nvSpPr>
        <p:spPr bwMode="auto">
          <a:xfrm>
            <a:off x="827088" y="6092825"/>
            <a:ext cx="4249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b="1">
                <a:latin typeface="Arial" panose="020B0604020202020204" pitchFamily="34" charset="0"/>
              </a:rPr>
              <a:t>SEC=0.06</a:t>
            </a:r>
            <a:r>
              <a:rPr lang="zh-TW" altLang="en-US" sz="1800" b="1">
                <a:latin typeface="Arial" panose="020B0604020202020204" pitchFamily="34" charset="0"/>
              </a:rPr>
              <a:t>　</a:t>
            </a:r>
            <a:r>
              <a:rPr lang="en-US" altLang="zh-TW" sz="1800" b="1">
                <a:latin typeface="Arial" panose="020B0604020202020204" pitchFamily="34" charset="0"/>
              </a:rPr>
              <a:t>SEK=0.11</a:t>
            </a:r>
            <a:endParaRPr lang="zh-TW" altLang="en-US" sz="1800" b="1">
              <a:latin typeface="Arial" panose="020B0604020202020204" pitchFamily="34" charset="0"/>
            </a:endParaRPr>
          </a:p>
        </p:txBody>
      </p:sp>
      <p:pic>
        <p:nvPicPr>
          <p:cNvPr id="16389" name="圖片 5" descr="j.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5084763"/>
            <a:ext cx="91440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線接點 7"/>
          <p:cNvCxnSpPr/>
          <p:nvPr/>
        </p:nvCxnSpPr>
        <p:spPr>
          <a:xfrm>
            <a:off x="7815263" y="5268913"/>
            <a:ext cx="12588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V="1">
            <a:off x="-4763" y="5502275"/>
            <a:ext cx="3695701"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5651500" y="5516563"/>
            <a:ext cx="34925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0" y="5732463"/>
            <a:ext cx="270033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標題 1"/>
          <p:cNvSpPr>
            <a:spLocks noGrp="1"/>
          </p:cNvSpPr>
          <p:nvPr>
            <p:ph type="title"/>
          </p:nvPr>
        </p:nvSpPr>
        <p:spPr/>
        <p:txBody>
          <a:bodyPr/>
          <a:lstStyle/>
          <a:p>
            <a:pPr algn="l"/>
            <a:r>
              <a:rPr lang="en-US" altLang="zh-TW" sz="3600" smtClean="0"/>
              <a:t>D’Agostino–Pearson omnibus test</a:t>
            </a:r>
            <a:endParaRPr lang="zh-TW" altLang="en-US" sz="3600" smtClean="0"/>
          </a:p>
        </p:txBody>
      </p:sp>
      <p:pic>
        <p:nvPicPr>
          <p:cNvPr id="17411"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11188" y="1844675"/>
            <a:ext cx="4100512" cy="1398588"/>
          </a:xfrm>
        </p:spPr>
      </p:pic>
      <p:sp>
        <p:nvSpPr>
          <p:cNvPr id="5" name="文字方塊 4"/>
          <p:cNvSpPr txBox="1"/>
          <p:nvPr/>
        </p:nvSpPr>
        <p:spPr>
          <a:xfrm>
            <a:off x="576263" y="3651250"/>
            <a:ext cx="8110537" cy="2308225"/>
          </a:xfrm>
          <a:prstGeom prst="rect">
            <a:avLst/>
          </a:prstGeom>
          <a:noFill/>
        </p:spPr>
        <p:txBody>
          <a:bodyPr>
            <a:spAutoFit/>
          </a:bodyPr>
          <a:lstStyle/>
          <a:p>
            <a:pPr marL="342900" indent="-342900" algn="just" eaLnBrk="1" hangingPunct="1">
              <a:buFont typeface="Wingdings" panose="05000000000000000000" pitchFamily="2" charset="2"/>
              <a:buAutoNum type="circleNumWdWhitePlain"/>
              <a:defRPr/>
            </a:pPr>
            <a:r>
              <a:rPr lang="en-US" altLang="zh-TW" dirty="0"/>
              <a:t>If the distribution of </a:t>
            </a:r>
            <a:r>
              <a:rPr lang="en-US" altLang="zh-TW" dirty="0" err="1"/>
              <a:t>ith</a:t>
            </a:r>
            <a:r>
              <a:rPr lang="en-US" altLang="zh-TW" dirty="0"/>
              <a:t> sector is </a:t>
            </a:r>
            <a:r>
              <a:rPr lang="en-US" altLang="zh-TW" dirty="0">
                <a:solidFill>
                  <a:srgbClr val="00B0F0"/>
                </a:solidFill>
              </a:rPr>
              <a:t>normal</a:t>
            </a:r>
            <a:r>
              <a:rPr lang="en-US" altLang="zh-TW" dirty="0"/>
              <a:t>, the DP(</a:t>
            </a:r>
            <a:r>
              <a:rPr lang="en-US" altLang="zh-TW" dirty="0" err="1"/>
              <a:t>i</a:t>
            </a:r>
            <a:r>
              <a:rPr lang="en-US" altLang="zh-TW" dirty="0"/>
              <a:t>) should be that of </a:t>
            </a:r>
            <a:r>
              <a:rPr lang="en-US" altLang="zh-TW" dirty="0">
                <a:solidFill>
                  <a:srgbClr val="00B0F0"/>
                </a:solidFill>
              </a:rPr>
              <a:t>χ</a:t>
            </a:r>
            <a:r>
              <a:rPr lang="en-US" altLang="zh-TW" dirty="0"/>
              <a:t> distribution.</a:t>
            </a:r>
          </a:p>
          <a:p>
            <a:pPr marL="342900" indent="-342900" algn="just" eaLnBrk="1" hangingPunct="1">
              <a:buFont typeface="Wingdings" panose="05000000000000000000" pitchFamily="2" charset="2"/>
              <a:buAutoNum type="circleNumWdWhitePlain"/>
              <a:defRPr/>
            </a:pPr>
            <a:r>
              <a:rPr lang="en-US" altLang="zh-TW" dirty="0"/>
              <a:t>If </a:t>
            </a:r>
            <a:r>
              <a:rPr lang="en-US" altLang="zh-TW" dirty="0">
                <a:solidFill>
                  <a:srgbClr val="00B0F0"/>
                </a:solidFill>
              </a:rPr>
              <a:t>DP(</a:t>
            </a:r>
            <a:r>
              <a:rPr lang="en-US" altLang="zh-TW" dirty="0" err="1">
                <a:solidFill>
                  <a:srgbClr val="00B0F0"/>
                </a:solidFill>
              </a:rPr>
              <a:t>i</a:t>
            </a:r>
            <a:r>
              <a:rPr lang="en-US" altLang="zh-TW" dirty="0">
                <a:solidFill>
                  <a:srgbClr val="00B0F0"/>
                </a:solidFill>
              </a:rPr>
              <a:t>) &gt; χ</a:t>
            </a:r>
            <a:r>
              <a:rPr lang="en-US" altLang="zh-TW" baseline="30000" dirty="0">
                <a:solidFill>
                  <a:srgbClr val="00B0F0"/>
                </a:solidFill>
              </a:rPr>
              <a:t>2</a:t>
            </a:r>
            <a:r>
              <a:rPr lang="en-US" altLang="zh-TW" dirty="0">
                <a:solidFill>
                  <a:srgbClr val="00B0F0"/>
                </a:solidFill>
              </a:rPr>
              <a:t> </a:t>
            </a:r>
            <a:r>
              <a:rPr lang="en-US" altLang="zh-TW" baseline="-25000" dirty="0">
                <a:solidFill>
                  <a:srgbClr val="00B0F0"/>
                </a:solidFill>
              </a:rPr>
              <a:t>critical </a:t>
            </a:r>
            <a:r>
              <a:rPr lang="en-US" altLang="zh-TW" dirty="0"/>
              <a:t>, then the distribution of the </a:t>
            </a:r>
            <a:r>
              <a:rPr lang="en-US" altLang="zh-TW" dirty="0" err="1"/>
              <a:t>ith</a:t>
            </a:r>
            <a:r>
              <a:rPr lang="en-US" altLang="zh-TW" dirty="0"/>
              <a:t> sector is </a:t>
            </a:r>
            <a:r>
              <a:rPr lang="en-US" altLang="zh-TW" dirty="0">
                <a:solidFill>
                  <a:srgbClr val="00B0F0"/>
                </a:solidFill>
              </a:rPr>
              <a:t>not normal</a:t>
            </a:r>
            <a:r>
              <a:rPr lang="en-US" altLang="zh-TW" dirty="0"/>
              <a:t>. </a:t>
            </a:r>
          </a:p>
          <a:p>
            <a:pPr marL="342900" indent="-342900" algn="just" eaLnBrk="1" hangingPunct="1">
              <a:buFont typeface="Wingdings" panose="05000000000000000000" pitchFamily="2" charset="2"/>
              <a:buAutoNum type="circleNumWdWhitePlain"/>
              <a:defRPr/>
            </a:pPr>
            <a:r>
              <a:rPr lang="en-US" altLang="zh-TW" dirty="0"/>
              <a:t>For a normal distribution of </a:t>
            </a:r>
            <a:r>
              <a:rPr lang="en-US" altLang="zh-TW" dirty="0" err="1"/>
              <a:t>ith</a:t>
            </a:r>
            <a:r>
              <a:rPr lang="en-US" altLang="zh-TW" dirty="0"/>
              <a:t> sector, χ</a:t>
            </a:r>
            <a:r>
              <a:rPr lang="en-US" altLang="zh-TW" baseline="30000" dirty="0"/>
              <a:t>2</a:t>
            </a:r>
            <a:r>
              <a:rPr lang="en-US" altLang="zh-TW" dirty="0"/>
              <a:t> </a:t>
            </a:r>
            <a:r>
              <a:rPr lang="en-US" altLang="zh-TW" baseline="-25000" dirty="0"/>
              <a:t>critical</a:t>
            </a:r>
            <a:r>
              <a:rPr lang="en-US" altLang="zh-TW" dirty="0"/>
              <a:t>(2df ) should be 13.82 with significance level of 0.1%. </a:t>
            </a:r>
          </a:p>
          <a:p>
            <a:pPr algn="just" eaLnBrk="1" hangingPunct="1">
              <a:defRPr/>
            </a:pPr>
            <a:endParaRPr lang="en-US" altLang="zh-TW" dirty="0"/>
          </a:p>
          <a:p>
            <a:pPr algn="just" eaLnBrk="1" hangingPunct="1">
              <a:defRPr/>
            </a:pPr>
            <a:r>
              <a:rPr lang="zh-TW" altLang="en-US" dirty="0"/>
              <a:t>　　</a:t>
            </a:r>
            <a:r>
              <a:rPr lang="en-US" altLang="zh-TW" dirty="0">
                <a:solidFill>
                  <a:srgbClr val="00B0F0"/>
                </a:solidFill>
              </a:rPr>
              <a:t>DP values for all the sectors are much larger than</a:t>
            </a:r>
            <a:r>
              <a:rPr lang="zh-TW" altLang="en-US" dirty="0">
                <a:solidFill>
                  <a:srgbClr val="00B0F0"/>
                </a:solidFill>
              </a:rPr>
              <a:t> </a:t>
            </a:r>
            <a:r>
              <a:rPr lang="en-US" altLang="zh-TW" dirty="0">
                <a:solidFill>
                  <a:srgbClr val="00B0F0"/>
                </a:solidFill>
              </a:rPr>
              <a:t>13.82. </a:t>
            </a:r>
            <a:r>
              <a:rPr lang="en-US" altLang="zh-TW" dirty="0"/>
              <a:t>Therefore, the statistical results clearly indicate that </a:t>
            </a:r>
            <a:r>
              <a:rPr lang="en-US" altLang="zh-TW" u="sng" dirty="0">
                <a:solidFill>
                  <a:srgbClr val="00B0F0"/>
                </a:solidFill>
              </a:rPr>
              <a:t>the data does not satisfy the normality</a:t>
            </a:r>
            <a:r>
              <a:rPr lang="en-US" altLang="zh-TW" dirty="0"/>
              <a:t>.</a:t>
            </a:r>
            <a:endParaRPr lang="zh-TW"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標題 1"/>
          <p:cNvSpPr>
            <a:spLocks noGrp="1"/>
          </p:cNvSpPr>
          <p:nvPr>
            <p:ph type="title"/>
          </p:nvPr>
        </p:nvSpPr>
        <p:spPr/>
        <p:txBody>
          <a:bodyPr/>
          <a:lstStyle/>
          <a:p>
            <a:pPr algn="l"/>
            <a:r>
              <a:rPr lang="en-US" altLang="zh-TW" sz="3600" smtClean="0"/>
              <a:t>Auto correlation in the time series</a:t>
            </a:r>
            <a:endParaRPr lang="zh-TW" altLang="en-US" sz="3600" smtClean="0"/>
          </a:p>
        </p:txBody>
      </p:sp>
      <p:sp>
        <p:nvSpPr>
          <p:cNvPr id="3" name="內容版面配置區 2"/>
          <p:cNvSpPr>
            <a:spLocks noGrp="1" noRot="1" noChangeAspect="1" noMove="1" noResize="1" noEditPoints="1" noAdjustHandles="1" noChangeArrowheads="1" noChangeShapeType="1" noTextEdit="1"/>
          </p:cNvSpPr>
          <p:nvPr>
            <p:ph idx="1"/>
          </p:nvPr>
        </p:nvSpPr>
        <p:spPr>
          <a:xfrm>
            <a:off x="465981" y="1628800"/>
            <a:ext cx="8229600" cy="4525963"/>
          </a:xfrm>
          <a:blipFill rotWithShape="0">
            <a:blip r:embed="rId2"/>
            <a:stretch>
              <a:fillRect l="-593" t="-673"/>
            </a:stretch>
          </a:blipFill>
          <a:extLst/>
        </p:spPr>
        <p:txBody>
          <a:bodyPr/>
          <a:lstStyle/>
          <a:p>
            <a:r>
              <a:rPr lang="zh-TW" altLang="en-US">
                <a:noFill/>
              </a:rPr>
              <a:t> </a:t>
            </a:r>
          </a:p>
        </p:txBody>
      </p:sp>
      <p:pic>
        <p:nvPicPr>
          <p:cNvPr id="18436" name="圖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205038"/>
            <a:ext cx="5256212"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圖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933825"/>
            <a:ext cx="1944688"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71550" y="1241425"/>
            <a:ext cx="6696075" cy="5586413"/>
          </a:xfrm>
        </p:spPr>
      </p:pic>
      <p:sp>
        <p:nvSpPr>
          <p:cNvPr id="19459" name="文字方塊 4"/>
          <p:cNvSpPr txBox="1">
            <a:spLocks noChangeArrowheads="1"/>
          </p:cNvSpPr>
          <p:nvPr/>
        </p:nvSpPr>
        <p:spPr bwMode="auto">
          <a:xfrm>
            <a:off x="395288" y="404813"/>
            <a:ext cx="6840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a:solidFill>
                  <a:srgbClr val="0070C0"/>
                </a:solidFill>
              </a:rPr>
              <a:t>明顯可見，大部份的</a:t>
            </a:r>
            <a:r>
              <a:rPr lang="en-US" altLang="zh-TW">
                <a:solidFill>
                  <a:srgbClr val="0070C0"/>
                </a:solidFill>
              </a:rPr>
              <a:t>sectors of BSE at lag 1</a:t>
            </a:r>
            <a:r>
              <a:rPr lang="zh-TW" altLang="en-US">
                <a:solidFill>
                  <a:srgbClr val="0070C0"/>
                </a:solidFill>
              </a:rPr>
              <a:t>是有</a:t>
            </a:r>
            <a:r>
              <a:rPr lang="en-US" altLang="zh-TW">
                <a:solidFill>
                  <a:srgbClr val="0070C0"/>
                </a:solidFill>
              </a:rPr>
              <a:t>auto correlation</a:t>
            </a:r>
            <a:r>
              <a:rPr lang="zh-TW" altLang="en-US">
                <a:solidFill>
                  <a:srgbClr val="0070C0"/>
                </a:solidFill>
              </a:rPr>
              <a:t>的</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內容版面配置區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178050"/>
            <a:ext cx="620712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標題 1"/>
          <p:cNvSpPr>
            <a:spLocks noGrp="1"/>
          </p:cNvSpPr>
          <p:nvPr>
            <p:ph type="title"/>
          </p:nvPr>
        </p:nvSpPr>
        <p:spPr>
          <a:xfrm>
            <a:off x="457200" y="212725"/>
            <a:ext cx="8229600" cy="1143000"/>
          </a:xfrm>
        </p:spPr>
        <p:txBody>
          <a:bodyPr/>
          <a:lstStyle/>
          <a:p>
            <a:pPr algn="l"/>
            <a:r>
              <a:rPr lang="en-US" altLang="zh-TW" smtClean="0"/>
              <a:t>Cross-correlation</a:t>
            </a:r>
            <a:endParaRPr lang="zh-TW" altLang="en-US" smtClean="0"/>
          </a:p>
        </p:txBody>
      </p:sp>
      <p:sp>
        <p:nvSpPr>
          <p:cNvPr id="20484" name="文字方塊 4"/>
          <p:cNvSpPr txBox="1">
            <a:spLocks noChangeArrowheads="1"/>
          </p:cNvSpPr>
          <p:nvPr/>
        </p:nvSpPr>
        <p:spPr bwMode="auto">
          <a:xfrm>
            <a:off x="1403350" y="1700213"/>
            <a:ext cx="44640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a:t>We estimate the sample cross correlation matrix for our data set. (N=13</a:t>
            </a:r>
            <a:r>
              <a:rPr lang="zh-TW" altLang="en-US"/>
              <a:t>　</a:t>
            </a:r>
            <a:r>
              <a:rPr lang="en-US" altLang="zh-TW"/>
              <a:t>T=1990)</a:t>
            </a:r>
            <a:endParaRPr lang="zh-TW"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701800"/>
            <a:ext cx="4643438" cy="3565525"/>
          </a:xfrm>
        </p:spPr>
      </p:pic>
      <p:pic>
        <p:nvPicPr>
          <p:cNvPr id="21507" name="圖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62475" y="1562100"/>
            <a:ext cx="4830763"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文字方塊 6"/>
          <p:cNvSpPr txBox="1">
            <a:spLocks noChangeArrowheads="1"/>
          </p:cNvSpPr>
          <p:nvPr/>
        </p:nvSpPr>
        <p:spPr bwMode="auto">
          <a:xfrm>
            <a:off x="539750" y="531813"/>
            <a:ext cx="72009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a:t>由下列結果可知：</a:t>
            </a:r>
            <a:r>
              <a:rPr lang="en-US" altLang="zh-TW"/>
              <a:t/>
            </a:r>
            <a:br>
              <a:rPr lang="en-US" altLang="zh-TW"/>
            </a:br>
            <a:r>
              <a:rPr lang="zh-TW" altLang="en-US"/>
              <a:t>當發生大幅度波動，此時間區間的的</a:t>
            </a:r>
            <a:r>
              <a:rPr lang="en-US" altLang="zh-TW"/>
              <a:t>Cross correlation</a:t>
            </a:r>
            <a:r>
              <a:rPr lang="zh-TW" altLang="en-US"/>
              <a:t>比較明顯；</a:t>
            </a:r>
            <a:endParaRPr lang="en-US" altLang="zh-TW"/>
          </a:p>
          <a:p>
            <a:pPr eaLnBrk="1" hangingPunct="1"/>
            <a:r>
              <a:rPr lang="zh-TW" altLang="en-US"/>
              <a:t>而平緩的波動，此時間區間的</a:t>
            </a:r>
            <a:r>
              <a:rPr lang="en-US" altLang="zh-TW"/>
              <a:t>Cross correlation</a:t>
            </a:r>
            <a:r>
              <a:rPr lang="zh-TW" altLang="en-US"/>
              <a:t>比較不明顯。</a:t>
            </a:r>
          </a:p>
        </p:txBody>
      </p:sp>
      <p:sp>
        <p:nvSpPr>
          <p:cNvPr id="21509" name="文字方塊 8"/>
          <p:cNvSpPr txBox="1">
            <a:spLocks noChangeArrowheads="1"/>
          </p:cNvSpPr>
          <p:nvPr/>
        </p:nvSpPr>
        <p:spPr bwMode="auto">
          <a:xfrm>
            <a:off x="1150938" y="5530850"/>
            <a:ext cx="63007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a:t>此篇論文提出，</a:t>
            </a:r>
            <a:r>
              <a:rPr lang="en-US" altLang="zh-TW"/>
              <a:t>Cross correlation</a:t>
            </a:r>
            <a:r>
              <a:rPr lang="zh-TW" altLang="en-US"/>
              <a:t>值大時，是因為外力所影響，所以事實上平常的</a:t>
            </a:r>
            <a:r>
              <a:rPr lang="en-US" altLang="zh-TW"/>
              <a:t>cross correlation</a:t>
            </a:r>
            <a:r>
              <a:rPr lang="zh-TW" altLang="en-US"/>
              <a:t>值並不是那麼明顯。</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標題 1"/>
          <p:cNvSpPr>
            <a:spLocks noGrp="1"/>
          </p:cNvSpPr>
          <p:nvPr>
            <p:ph type="title"/>
          </p:nvPr>
        </p:nvSpPr>
        <p:spPr/>
        <p:txBody>
          <a:bodyPr/>
          <a:lstStyle/>
          <a:p>
            <a:pPr algn="l"/>
            <a:r>
              <a:rPr lang="zh-TW" altLang="en-US" dirty="0" smtClean="0"/>
              <a:t>結論</a:t>
            </a:r>
            <a:endParaRPr lang="zh-TW" altLang="en-US" dirty="0" smtClean="0"/>
          </a:p>
        </p:txBody>
      </p:sp>
      <p:sp>
        <p:nvSpPr>
          <p:cNvPr id="22531" name="內容版面配置區 2"/>
          <p:cNvSpPr>
            <a:spLocks noGrp="1"/>
          </p:cNvSpPr>
          <p:nvPr>
            <p:ph idx="1"/>
          </p:nvPr>
        </p:nvSpPr>
        <p:spPr>
          <a:xfrm>
            <a:off x="179388" y="1628775"/>
            <a:ext cx="8686800" cy="5040313"/>
          </a:xfrm>
        </p:spPr>
        <p:txBody>
          <a:bodyPr/>
          <a:lstStyle/>
          <a:p>
            <a:pPr algn="just"/>
            <a:r>
              <a:rPr lang="en-US" altLang="zh-TW" sz="2500" smtClean="0"/>
              <a:t>We found the presence of significant auto correlations in all the sectors clearly demonstrating that the movement of the stock prices cannot be modeled via random walk.</a:t>
            </a:r>
          </a:p>
          <a:p>
            <a:r>
              <a:rPr lang="en-US" altLang="zh-TW" sz="2500" b="1" smtClean="0">
                <a:solidFill>
                  <a:srgbClr val="0070C0"/>
                </a:solidFill>
              </a:rPr>
              <a:t>The ACF is significant for all sectors at lag one </a:t>
            </a:r>
            <a:r>
              <a:rPr lang="en-US" altLang="zh-TW" sz="2500" smtClean="0"/>
              <a:t>and there are certain sectors where this auto correlation persists at higher lags.</a:t>
            </a:r>
          </a:p>
          <a:p>
            <a:r>
              <a:rPr lang="en-US" altLang="zh-TW" sz="2800" smtClean="0"/>
              <a:t>There exist a very </a:t>
            </a:r>
            <a:r>
              <a:rPr lang="en-US" altLang="zh-TW" sz="2800" smtClean="0">
                <a:solidFill>
                  <a:srgbClr val="0070C0"/>
                </a:solidFill>
              </a:rPr>
              <a:t>large cross correlation </a:t>
            </a:r>
            <a:r>
              <a:rPr lang="en-US" altLang="zh-TW" sz="2800" smtClean="0"/>
              <a:t>but that correlation is </a:t>
            </a:r>
            <a:r>
              <a:rPr lang="en-US" altLang="zh-TW" sz="2800" smtClean="0">
                <a:solidFill>
                  <a:srgbClr val="0070C0"/>
                </a:solidFill>
              </a:rPr>
              <a:t>due to some external force </a:t>
            </a:r>
            <a:r>
              <a:rPr lang="en-US" altLang="zh-TW" sz="2800" smtClean="0"/>
              <a:t>which drives the market as a whole. </a:t>
            </a:r>
          </a:p>
          <a:p>
            <a:r>
              <a:rPr lang="en-US" altLang="zh-TW" sz="2800" smtClean="0">
                <a:solidFill>
                  <a:srgbClr val="0070C0"/>
                </a:solidFill>
              </a:rPr>
              <a:t>The effect of sectors on each other is smaller but not insignificant</a:t>
            </a:r>
            <a:r>
              <a:rPr lang="en-US" altLang="zh-TW" sz="2800" smtClean="0"/>
              <a:t> and will be the focus of a future work.</a:t>
            </a:r>
            <a:endParaRPr lang="zh-TW" altLang="en-US" sz="2500" smtClean="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TotalTime>
  <Words>826</Words>
  <Application>Microsoft Office PowerPoint</Application>
  <PresentationFormat>如螢幕大小 (4:3)</PresentationFormat>
  <Paragraphs>73</Paragraphs>
  <Slides>19</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新細明體</vt:lpstr>
      <vt:lpstr>Arial</vt:lpstr>
      <vt:lpstr>Calibri</vt:lpstr>
      <vt:lpstr>Wingdings</vt:lpstr>
      <vt:lpstr>Office 佈景主題</vt:lpstr>
      <vt:lpstr>A study of correlations in the stock market</vt:lpstr>
      <vt:lpstr>Abstract(1/2)</vt:lpstr>
      <vt:lpstr>Abstract(2/2)</vt:lpstr>
      <vt:lpstr>Study of this paper</vt:lpstr>
      <vt:lpstr>Data</vt:lpstr>
      <vt:lpstr>PowerPoint 簡報</vt:lpstr>
      <vt:lpstr>PowerPoint 簡報</vt:lpstr>
      <vt:lpstr>Mean return of the ith sector</vt:lpstr>
      <vt:lpstr>PowerPoint 簡報</vt:lpstr>
      <vt:lpstr>PowerPoint 簡報</vt:lpstr>
      <vt:lpstr>skewness and kurtosis</vt:lpstr>
      <vt:lpstr>PowerPoint 簡報</vt:lpstr>
      <vt:lpstr>PowerPoint 簡報</vt:lpstr>
      <vt:lpstr>D’Agostino–Pearson omnibus test</vt:lpstr>
      <vt:lpstr>Auto correlation in the time series</vt:lpstr>
      <vt:lpstr>PowerPoint 簡報</vt:lpstr>
      <vt:lpstr>Cross-correlation</vt:lpstr>
      <vt:lpstr>PowerPoint 簡報</vt:lpstr>
      <vt:lpstr>結論</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correlations in the stock market</dc:title>
  <dc:creator>User</dc:creator>
  <cp:lastModifiedBy>jhan</cp:lastModifiedBy>
  <cp:revision>24</cp:revision>
  <dcterms:created xsi:type="dcterms:W3CDTF">2016-08-09T02:04:43Z</dcterms:created>
  <dcterms:modified xsi:type="dcterms:W3CDTF">2016-08-19T07:38:51Z</dcterms:modified>
</cp:coreProperties>
</file>