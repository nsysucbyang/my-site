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73" r:id="rId10"/>
    <p:sldId id="264" r:id="rId11"/>
    <p:sldId id="266" r:id="rId12"/>
    <p:sldId id="265" r:id="rId13"/>
    <p:sldId id="267" r:id="rId14"/>
    <p:sldId id="274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796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7931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901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044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056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242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3959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318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544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788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989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0334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346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78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7224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5019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162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376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D33D-6920-49C9-BD5B-0C0D85FA0340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3E486-6A60-4EDA-BC68-DE7B5D5D14C9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59C-A7EE-4402-A9E1-F5C768C7B964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40366-0D2E-4DBF-A4DB-63EF4915A4E1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DEB-A01D-4AF4-97EE-6BB7504F226E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82A2-4BD0-4708-B70C-B5887DEA0B1F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81FE-D062-4501-AF67-F6F13AB557C4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BBBC-FAB9-4F8E-B87C-E92E8C50AA1F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B5C7-F62C-4562-B6D8-707E3DE2FF75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2113-ABB1-4EA4-8AEB-6052D5EE5BEE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E917-8D65-4AD0-8E2F-50C5DBAAC474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F453C-B32A-44BE-9370-F66BE2CFC793}" type="datetime1">
              <a:rPr lang="zh-TW" altLang="en-US" smtClean="0"/>
              <a:t>2016/8/9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798" y="628386"/>
            <a:ext cx="7508383" cy="983808"/>
          </a:xfrm>
        </p:spPr>
        <p:txBody>
          <a:bodyPr>
            <a:normAutofit fontScale="90000"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Efﬁcient algorithms for ﬁnding interleaving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86444"/>
            <a:ext cx="8040190" cy="3573055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Kuo</a:t>
            </a:r>
            <a:r>
              <a:rPr lang="en-US" altLang="zh-TW" dirty="0"/>
              <a:t>-Si Huang, Chang-</a:t>
            </a:r>
            <a:r>
              <a:rPr lang="en-US" altLang="zh-TW" dirty="0" err="1"/>
              <a:t>Biau</a:t>
            </a:r>
            <a:r>
              <a:rPr lang="en-US" altLang="zh-TW" dirty="0"/>
              <a:t> </a:t>
            </a:r>
            <a:r>
              <a:rPr lang="en-US" altLang="zh-TW" dirty="0" smtClean="0"/>
              <a:t>Yang, </a:t>
            </a:r>
            <a:r>
              <a:rPr lang="en-US" altLang="zh-TW" dirty="0" err="1"/>
              <a:t>Kuo-Tsung</a:t>
            </a:r>
            <a:r>
              <a:rPr lang="en-US" altLang="zh-TW" dirty="0"/>
              <a:t> Tseng,</a:t>
            </a:r>
          </a:p>
          <a:p>
            <a:r>
              <a:rPr lang="en-US" altLang="zh-TW" dirty="0" err="1"/>
              <a:t>Hsing</a:t>
            </a:r>
            <a:r>
              <a:rPr lang="en-US" altLang="zh-TW" dirty="0"/>
              <a:t>-Yen Ann, Yung-</a:t>
            </a:r>
            <a:r>
              <a:rPr lang="en-US" altLang="zh-TW" dirty="0" err="1"/>
              <a:t>Hsing</a:t>
            </a:r>
            <a:r>
              <a:rPr lang="en-US" altLang="zh-TW" dirty="0"/>
              <a:t> </a:t>
            </a:r>
            <a:r>
              <a:rPr lang="en-US" altLang="zh-TW" dirty="0" smtClean="0"/>
              <a:t>Peng</a:t>
            </a:r>
          </a:p>
          <a:p>
            <a:r>
              <a:rPr lang="en-US" altLang="zh-TW" dirty="0" smtClean="0"/>
              <a:t>Information </a:t>
            </a:r>
            <a:r>
              <a:rPr lang="en-US" altLang="zh-TW" dirty="0"/>
              <a:t>Processing Letters 105 (2008) 188–193</a:t>
            </a:r>
            <a:endParaRPr lang="en-US" altLang="zh-TW" dirty="0" smtClean="0"/>
          </a:p>
          <a:p>
            <a:r>
              <a:rPr lang="en-US" altLang="zh-TW" dirty="0" smtClean="0"/>
              <a:t>Presenter: Chong-Xuan Lo</a:t>
            </a:r>
          </a:p>
          <a:p>
            <a:r>
              <a:rPr lang="en-US" altLang="zh-TW" dirty="0" smtClean="0"/>
              <a:t>Date:2016/8/9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10990" y="1814053"/>
            <a:ext cx="7130120" cy="4621582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and sequence alignment problems have been studied extensively and they can be regarded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measurement between sequences. However, most of them treat sequences evenly or consider only two sequences.</a:t>
            </a:r>
          </a:p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Recently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the rise of whole-genome duplication research, the doubly conserved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synteny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among three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 should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considered. It is a brand new model to ﬁnd a merging way for understanding the interleaving relationship of sequences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52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23226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10990" y="2051949"/>
                <a:ext cx="6858000" cy="4383685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deﬁne the merged LCS problem for measuring the interleaving relationship among three sequences.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algorithm is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ﬁrst proposed for solving the problem, where n is the sequence length. We further discuss the variant version of this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with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block information. For the blocked merged LCS problem, we propose an algorithm with time complexity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m),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m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number of blocks. An improved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is further proposed for the same blocked problem.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10990" y="2051949"/>
                <a:ext cx="6858000" cy="4383685"/>
              </a:xfrm>
              <a:blipFill rotWithShape="0">
                <a:blip r:embed="rId3"/>
                <a:stretch>
                  <a:fillRect l="-1422" t="-1947" r="-20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582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Merged sequence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10990" y="2051949"/>
            <a:ext cx="6858000" cy="438368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E(A,B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=e</a:t>
            </a:r>
            <a:r>
              <a:rPr lang="en-US" altLang="zh-TW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 e</a:t>
            </a:r>
            <a:r>
              <a:rPr lang="en-US" altLang="zh-TW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E(A,B) |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obtained by merging two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merged sequence is not unique.</a:t>
            </a:r>
          </a:p>
          <a:p>
            <a:pPr algn="l"/>
            <a:r>
              <a:rPr lang="en-US" altLang="zh-TW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cgatacc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aattcgc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l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cgata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aacg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algn="l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aatt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cgc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atacc</a:t>
            </a:r>
          </a:p>
          <a:p>
            <a:pPr algn="l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tcg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Merged LCS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(MLCS) problem 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10990" y="1587500"/>
            <a:ext cx="7294810" cy="476885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merged LCS (MLCS) problem is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ﬁnd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LCS of T and E(A,B), denoted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zh-TW" dirty="0">
                <a:solidFill>
                  <a:srgbClr val="FF0000"/>
                </a:solidFill>
              </a:rPr>
              <a:t> LCS(T, E(A, B))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atacgcgctt</a:t>
            </a:r>
            <a:endParaRPr lang="en-US" altLang="zh-TW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cgatacc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aattcgc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-----</a:t>
            </a:r>
            <a:r>
              <a:rPr lang="en-US" altLang="zh-TW" sz="26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---a</a:t>
            </a:r>
            <a:r>
              <a:rPr lang="en-US" altLang="zh-TW" sz="26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cgc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pPr algn="l"/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cgc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-----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LCS </a:t>
            </a:r>
            <a:r>
              <a:rPr lang="en-US" altLang="zh-TW" dirty="0" smtClean="0"/>
              <a:t>(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 , E(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/>
              <a:t>) = </a:t>
            </a:r>
            <a:r>
              <a:rPr lang="en-US" altLang="zh-TW" dirty="0" err="1" smtClean="0"/>
              <a:t>aacgcgct</a:t>
            </a:r>
            <a:r>
              <a:rPr lang="en-US" altLang="zh-TW" dirty="0" smtClean="0"/>
              <a:t> </a:t>
            </a:r>
            <a:r>
              <a:rPr lang="en-US" altLang="zh-TW" dirty="0"/>
              <a:t>= LCS (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 ,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/>
              <a:t>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5760528" y="2349500"/>
            <a:ext cx="25458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cgata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aacg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aatt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cgc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atacc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tcg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642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Merged LCS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(MLCS) problem 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90" y="3145333"/>
            <a:ext cx="5343525" cy="2038350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10990" y="1651779"/>
            <a:ext cx="6858000" cy="4863321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formula.</a:t>
            </a: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smtClean="0"/>
              <a:t>Time </a:t>
            </a:r>
            <a:r>
              <a:rPr lang="en-US" altLang="zh-TW" dirty="0"/>
              <a:t>complexity: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nm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TW" dirty="0"/>
              <a:t>, </a:t>
            </a:r>
            <a:r>
              <a:rPr lang="en-US" altLang="zh-TW" sz="2000" i="1" dirty="0">
                <a:latin typeface="Times New Roman" panose="02020603050405020304" pitchFamily="18" charset="0"/>
              </a:rPr>
              <a:t>n</a:t>
            </a:r>
            <a:r>
              <a:rPr lang="en-US" altLang="zh-TW" sz="2000" dirty="0">
                <a:latin typeface="Times New Roman" panose="02020603050405020304" pitchFamily="18" charset="0"/>
              </a:rPr>
              <a:t>=|</a:t>
            </a:r>
            <a:r>
              <a:rPr lang="en-US" altLang="zh-TW" sz="2000" i="1" dirty="0">
                <a:latin typeface="Times New Roman" panose="02020603050405020304" pitchFamily="18" charset="0"/>
              </a:rPr>
              <a:t>T</a:t>
            </a:r>
            <a:r>
              <a:rPr lang="en-US" altLang="zh-TW" sz="2000" dirty="0">
                <a:latin typeface="Times New Roman" panose="02020603050405020304" pitchFamily="18" charset="0"/>
              </a:rPr>
              <a:t>|</a:t>
            </a:r>
            <a:r>
              <a:rPr lang="en-US" altLang="zh-TW" sz="2000" dirty="0"/>
              <a:t>, </a:t>
            </a:r>
            <a:r>
              <a:rPr lang="en-US" altLang="zh-TW" sz="2000" dirty="0">
                <a:latin typeface="Times New Roman" panose="02020603050405020304" pitchFamily="18" charset="0"/>
              </a:rPr>
              <a:t>m = max{|</a:t>
            </a:r>
            <a:r>
              <a:rPr lang="en-US" altLang="zh-TW" sz="2000" i="1" dirty="0">
                <a:latin typeface="Times New Roman" panose="02020603050405020304" pitchFamily="18" charset="0"/>
              </a:rPr>
              <a:t>A</a:t>
            </a:r>
            <a:r>
              <a:rPr lang="en-US" altLang="zh-TW" sz="2000" dirty="0">
                <a:latin typeface="Times New Roman" panose="02020603050405020304" pitchFamily="18" charset="0"/>
              </a:rPr>
              <a:t>|, |</a:t>
            </a:r>
            <a:r>
              <a:rPr lang="en-US" altLang="zh-TW" sz="2000" i="1" dirty="0">
                <a:latin typeface="Times New Roman" panose="02020603050405020304" pitchFamily="18" charset="0"/>
              </a:rPr>
              <a:t>B</a:t>
            </a:r>
            <a:r>
              <a:rPr lang="en-US" altLang="zh-TW" sz="2000" dirty="0">
                <a:latin typeface="Times New Roman" panose="02020603050405020304" pitchFamily="18" charset="0"/>
              </a:rPr>
              <a:t>|}</a:t>
            </a:r>
          </a:p>
          <a:p>
            <a:pPr algn="l"/>
            <a:r>
              <a:rPr lang="en-US" altLang="zh-TW" dirty="0"/>
              <a:t>Space complexity: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nm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TW" dirty="0"/>
              <a:t> </a:t>
            </a: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90" y="2384815"/>
            <a:ext cx="56102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0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Blocked Merged sequence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10990" y="1778001"/>
            <a:ext cx="6858000" cy="465763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interleaving block 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merging block sequences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denoted as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blocked merged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is not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unique.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cgat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cgat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cgat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endParaRPr lang="en-US" altLang="zh-TW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08119"/>
              </p:ext>
            </p:extLst>
          </p:nvPr>
        </p:nvGraphicFramePr>
        <p:xfrm>
          <a:off x="1010990" y="3397078"/>
          <a:ext cx="2257167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89"/>
                <a:gridCol w="752389"/>
                <a:gridCol w="752389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zh-TW" sz="2000" baseline="300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cgat</a:t>
                      </a:r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zh-TW" sz="2000" baseline="300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zh-TW" sz="2000" baseline="3000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935240"/>
              </p:ext>
            </p:extLst>
          </p:nvPr>
        </p:nvGraphicFramePr>
        <p:xfrm>
          <a:off x="3830934" y="3401197"/>
          <a:ext cx="2627016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754"/>
                <a:gridCol w="656754"/>
                <a:gridCol w="656754"/>
                <a:gridCol w="656754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aat</a:t>
                      </a:r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</a:t>
                      </a:r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98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Merged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91890" y="1526578"/>
            <a:ext cx="8133010" cy="5331421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BMLCS problem is to ﬁnd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constrained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of T and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i="1" baseline="30000" dirty="0" err="1"/>
              <a:t>b</a:t>
            </a:r>
            <a:r>
              <a:rPr lang="en-US" altLang="zh-TW" i="1" baseline="30000" dirty="0"/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(A,B) 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err="1" smtClean="0">
                <a:solidFill>
                  <a:srgbClr val="FF0000"/>
                </a:solidFill>
              </a:rPr>
              <a:t>bLCS</a:t>
            </a:r>
            <a:r>
              <a:rPr lang="en-US" altLang="zh-TW" dirty="0" smtClean="0">
                <a:solidFill>
                  <a:srgbClr val="FF0000"/>
                </a:solidFill>
              </a:rPr>
              <a:t>(T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dirty="0" err="1" smtClean="0">
                <a:solidFill>
                  <a:srgbClr val="FF0000"/>
                </a:solidFill>
              </a:rPr>
              <a:t>E</a:t>
            </a:r>
            <a:r>
              <a:rPr lang="en-US" altLang="zh-TW" i="1" baseline="30000" dirty="0" err="1">
                <a:solidFill>
                  <a:srgbClr val="FF0000"/>
                </a:solidFill>
              </a:rPr>
              <a:t>b</a:t>
            </a:r>
            <a:r>
              <a:rPr lang="en-US" altLang="zh-TW" i="1" baseline="30000" dirty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dirty="0">
                <a:solidFill>
                  <a:srgbClr val="FF0000"/>
                </a:solidFill>
              </a:rPr>
              <a:t>A, B</a:t>
            </a:r>
            <a:r>
              <a:rPr lang="en-US" altLang="zh-TW" dirty="0" smtClean="0">
                <a:solidFill>
                  <a:srgbClr val="FF0000"/>
                </a:solidFill>
              </a:rPr>
              <a:t>))</a:t>
            </a: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atacgcgctt</a:t>
            </a:r>
            <a:endParaRPr lang="en-US" altLang="zh-TW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cgat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endParaRPr lang="en-US" altLang="zh-TW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 </a:t>
            </a:r>
            <a:r>
              <a:rPr lang="en-US" altLang="zh-TW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cg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--  -</a:t>
            </a:r>
            <a:r>
              <a:rPr lang="en-US" altLang="zh-TW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zh-TW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-t</a:t>
            </a:r>
          </a:p>
          <a:p>
            <a:pPr algn="l"/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zh-TW" baseline="30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5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baseline="300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 </a:t>
            </a:r>
            <a:r>
              <a:rPr lang="en-US" altLang="zh-TW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cg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a</a:t>
            </a:r>
            <a:r>
              <a:rPr lang="en-US" altLang="zh-TW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TW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bLCS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(T 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atcgcct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bLCS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(T , E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330622"/>
              </p:ext>
            </p:extLst>
          </p:nvPr>
        </p:nvGraphicFramePr>
        <p:xfrm>
          <a:off x="3470391" y="2723978"/>
          <a:ext cx="2257167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89"/>
                <a:gridCol w="752389"/>
                <a:gridCol w="752389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cgat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977850"/>
              </p:ext>
            </p:extLst>
          </p:nvPr>
        </p:nvGraphicFramePr>
        <p:xfrm>
          <a:off x="6292850" y="2740797"/>
          <a:ext cx="2627016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754"/>
                <a:gridCol w="656754"/>
                <a:gridCol w="656754"/>
                <a:gridCol w="656754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aat</a:t>
                      </a:r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</a:t>
                      </a:r>
                      <a:endParaRPr lang="zh-TW" altLang="en-US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2000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4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270264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Blocked Merged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04875" y="1252151"/>
            <a:ext cx="6858000" cy="5469324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 symbol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1556951" y="2660822"/>
            <a:ext cx="450609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3616205" y="3578995"/>
            <a:ext cx="9720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5144527" y="3578995"/>
            <a:ext cx="9720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5144527" y="4276580"/>
            <a:ext cx="9720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3616205" y="4276580"/>
            <a:ext cx="9720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V="1">
            <a:off x="1696992" y="3578995"/>
            <a:ext cx="9720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696992" y="4276580"/>
            <a:ext cx="9720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656038" y="247615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653049" y="40919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35198" y="339432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239235" y="339432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119866" y="3394329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4622146" y="3394329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229078" y="409191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9446" y="409191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629466" y="409191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692147" y="331475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 …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705335" y="4017435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 …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5049795" y="2476156"/>
            <a:ext cx="1013253" cy="36933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單箭頭接點 32"/>
          <p:cNvCxnSpPr/>
          <p:nvPr/>
        </p:nvCxnSpPr>
        <p:spPr>
          <a:xfrm flipV="1">
            <a:off x="5272217" y="2845488"/>
            <a:ext cx="0" cy="6950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3863621" y="2903338"/>
            <a:ext cx="461319" cy="6144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H="1" flipV="1">
            <a:off x="4627408" y="2923063"/>
            <a:ext cx="856535" cy="1331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4005152" y="2476156"/>
            <a:ext cx="1013253" cy="36933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5953255" y="3492956"/>
            <a:ext cx="175497" cy="172078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單箭頭接點 40"/>
          <p:cNvCxnSpPr/>
          <p:nvPr/>
        </p:nvCxnSpPr>
        <p:spPr>
          <a:xfrm flipH="1">
            <a:off x="5399902" y="3492956"/>
            <a:ext cx="6631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>
            <a:off x="5399902" y="2236686"/>
            <a:ext cx="6631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28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270264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Blocked Merged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04875" y="944978"/>
            <a:ext cx="6858000" cy="577649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programing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symbol End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is 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O(n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m </a:t>
            </a:r>
            <a:r>
              <a:rPr lang="en-US" altLang="zh-TW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TW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</a:p>
          <a:p>
            <a:pPr algn="l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max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{|</a:t>
            </a:r>
            <a:r>
              <a:rPr lang="en-US" altLang="zh-TW" dirty="0" smtClean="0">
                <a:latin typeface="Times New Roman" panose="02020603050405020304" pitchFamily="18" charset="0"/>
              </a:rPr>
              <a:t>A</a:t>
            </a:r>
            <a:r>
              <a:rPr lang="en-US" altLang="zh-TW" baseline="30000" dirty="0" smtClean="0">
                <a:latin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</a:rPr>
              <a:t>|,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|B</a:t>
            </a:r>
            <a:r>
              <a:rPr lang="en-US" altLang="zh-TW" baseline="30000" dirty="0">
                <a:latin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|},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baseline="-25000" dirty="0" err="1">
                <a:latin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max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blocks in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</a:rPr>
              <a:t>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8390"/>
            <a:ext cx="86677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4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84886" y="1869989"/>
            <a:ext cx="8180173" cy="4486363"/>
          </a:xfrm>
        </p:spPr>
        <p:txBody>
          <a:bodyPr>
            <a:normAutofit lnSpcReduction="10000"/>
          </a:bodyPr>
          <a:lstStyle/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Step 1. Compute </a:t>
            </a:r>
            <a:r>
              <a:rPr kumimoji="1" lang="en-US" altLang="zh-TW" sz="3000" i="1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-table</a:t>
            </a:r>
            <a:r>
              <a:rPr kumimoji="1" lang="en-US" altLang="zh-TW" sz="3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 </a:t>
            </a:r>
            <a:r>
              <a:rPr kumimoji="1" lang="en-US" altLang="zh-TW" sz="3000" i="1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</a:t>
            </a:r>
            <a:r>
              <a:rPr kumimoji="1" lang="en-US" altLang="zh-TW" sz="30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3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</a:t>
            </a:r>
            <a:r>
              <a:rPr kumimoji="1" lang="en-US" altLang="zh-TW" sz="3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and </a:t>
            </a:r>
            <a:r>
              <a:rPr kumimoji="1" lang="en-US" altLang="zh-TW" sz="3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kumimoji="1" lang="en-US" altLang="zh-TW" sz="3000" dirty="0" smtClean="0">
              <a:solidFill>
                <a:srgbClr val="000000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Step 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2. Initialize 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0, 0) = 0. 	</a:t>
            </a:r>
            <a:endParaRPr kumimoji="1" lang="en-US" altLang="zh-TW" sz="30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kumimoji="1" lang="en-US" altLang="zh-TW" sz="30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Step 3. 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k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= </a:t>
            </a: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max{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1,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i="1" baseline="30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 err="1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</a:t>
            </a:r>
            <a:r>
              <a:rPr kumimoji="1" lang="en-US" altLang="zh-TW" sz="3000" i="1" baseline="30000" dirty="0" err="1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-25000" dirty="0" err="1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 1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kumimoji="1" lang="en-US" altLang="zh-TW" sz="3000" i="1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i="1" baseline="30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 err="1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 err="1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</a:t>
            </a:r>
            <a:r>
              <a:rPr kumimoji="1" lang="en-US" altLang="zh-TW" sz="3000" i="1" dirty="0" err="1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30000" dirty="0" err="1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-25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k</a:t>
            </a:r>
            <a:r>
              <a:rPr kumimoji="1" lang="en-US" altLang="zh-TW" sz="3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)}. 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		        </a:t>
            </a:r>
            <a:endParaRPr kumimoji="1" lang="en-US" altLang="zh-TW" sz="30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kumimoji="1" lang="en-US" altLang="zh-TW" sz="30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Step 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4. Return 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(|T|,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).</a:t>
            </a:r>
            <a:endParaRPr lang="zh-TW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132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53016" y="1672280"/>
                <a:ext cx="7562334" cy="4684071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 i</a:t>
                </a:r>
                <a:r>
                  <a:rPr lang="en-US" altLang="zh-TW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,i</a:t>
                </a:r>
                <a:r>
                  <a:rPr lang="en-US" altLang="zh-TW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represent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substring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i1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i1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+ 1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··· t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i2 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 T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kumimoji="1" lang="en-US" altLang="zh-TW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V</a:t>
                </a:r>
                <a:r>
                  <a:rPr kumimoji="1" lang="en-US" altLang="zh-TW" baseline="30000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j,k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&lt; </a:t>
                </a:r>
                <a:r>
                  <a:rPr kumimoji="1" lang="en-US" altLang="zh-TW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L</a:t>
                </a:r>
                <a:r>
                  <a:rPr kumimoji="1" lang="en-US" altLang="zh-TW" baseline="30000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b</a:t>
                </a:r>
                <a:r>
                  <a:rPr kumimoji="1" lang="en-US" altLang="zh-TW" baseline="30000" dirty="0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(1,j,k),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L</a:t>
                </a:r>
                <a:r>
                  <a:rPr kumimoji="1" lang="en-US" altLang="zh-TW" baseline="30000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(2,j,k),...,</a:t>
                </a:r>
                <a:r>
                  <a:rPr kumimoji="1" lang="en-US" altLang="zh-TW" dirty="0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L</a:t>
                </a:r>
                <a:r>
                  <a:rPr kumimoji="1" lang="en-US" altLang="zh-TW" baseline="30000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|T| ,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j,k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&gt; </a:t>
                </a:r>
              </a:p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stores the LCS of  </a:t>
                </a:r>
                <a:r>
                  <a:rPr kumimoji="1" lang="en-US" altLang="zh-TW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L</a:t>
                </a:r>
                <a:r>
                  <a:rPr kumimoji="1" lang="en-US" altLang="zh-TW" baseline="30000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for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preﬁx T [1, 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of 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kumimoji="1" lang="en-US" altLang="zh-TW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E</a:t>
                </a:r>
                <a:r>
                  <a:rPr kumimoji="1" lang="en-US" altLang="zh-TW" baseline="30000" dirty="0" err="1"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···</a:t>
                </a:r>
                <a:r>
                  <a:rPr lang="en-US" altLang="zh-TW" dirty="0" err="1"/>
                  <a:t>A</a:t>
                </a:r>
                <a:r>
                  <a:rPr lang="en-US" altLang="zh-TW" baseline="-25000" dirty="0" err="1"/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/>
                  <a:t> B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B</a:t>
                </a:r>
                <a:r>
                  <a:rPr lang="en-US" altLang="zh-TW" baseline="-25000" dirty="0"/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··· </a:t>
                </a:r>
                <a:r>
                  <a:rPr lang="en-US" altLang="zh-TW" dirty="0"/>
                  <a:t>B</a:t>
                </a:r>
                <a:r>
                  <a:rPr lang="en-US" altLang="zh-TW" baseline="-25000" dirty="0"/>
                  <a:t>k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T,X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algn="l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LCS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of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and each sufﬁx T [ 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|T| ]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53016" y="1672280"/>
                <a:ext cx="7562334" cy="4684071"/>
              </a:xfrm>
              <a:blipFill rotWithShape="0">
                <a:blip r:embed="rId3"/>
                <a:stretch>
                  <a:fillRect l="-1209" t="-1821" r="-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07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0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9700" y="1016000"/>
            <a:ext cx="8625359" cy="5340353"/>
          </a:xfrm>
        </p:spPr>
        <p:txBody>
          <a:bodyPr>
            <a:normAutofit/>
          </a:bodyPr>
          <a:lstStyle/>
          <a:p>
            <a:pPr marL="34290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atacgcgctt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lang="zh-TW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74530"/>
              </p:ext>
            </p:extLst>
          </p:nvPr>
        </p:nvGraphicFramePr>
        <p:xfrm>
          <a:off x="2657591" y="1111078"/>
          <a:ext cx="225716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89"/>
                <a:gridCol w="752389"/>
                <a:gridCol w="752389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cgat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143994"/>
              </p:ext>
            </p:extLst>
          </p:nvPr>
        </p:nvGraphicFramePr>
        <p:xfrm>
          <a:off x="5348585" y="1127897"/>
          <a:ext cx="243016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541"/>
                <a:gridCol w="607541"/>
                <a:gridCol w="607541"/>
                <a:gridCol w="607541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aat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870736"/>
              </p:ext>
            </p:extLst>
          </p:nvPr>
        </p:nvGraphicFramePr>
        <p:xfrm>
          <a:off x="139700" y="2019605"/>
          <a:ext cx="4697704" cy="1998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064"/>
                <a:gridCol w="427064"/>
                <a:gridCol w="427064"/>
                <a:gridCol w="427064"/>
                <a:gridCol w="395388"/>
                <a:gridCol w="458740"/>
                <a:gridCol w="427064"/>
                <a:gridCol w="427064"/>
                <a:gridCol w="427064"/>
                <a:gridCol w="427064"/>
                <a:gridCol w="427064"/>
              </a:tblGrid>
              <a:tr h="398562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4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578484"/>
              </p:ext>
            </p:extLst>
          </p:nvPr>
        </p:nvGraphicFramePr>
        <p:xfrm>
          <a:off x="7182993" y="2181434"/>
          <a:ext cx="1934535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435"/>
                <a:gridCol w="3683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7762862" y="1780202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</a:t>
            </a:r>
            <a:r>
              <a:rPr kumimoji="1" lang="en-US" altLang="zh-TW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1</a:t>
            </a:r>
            <a:r>
              <a:rPr kumimoji="1"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10794" y="1980257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7015" y="2149534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75889" y="2127368"/>
            <a:ext cx="4869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189968" y="2248374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-84797" y="4625110"/>
            <a:ext cx="38626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 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              LCS(T[1, </a:t>
            </a:r>
            <a:r>
              <a:rPr kumimoji="1" lang="en-US" altLang="zh-TW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</a:t>
            </a:r>
          </a:p>
          <a:p>
            <a:endParaRPr kumimoji="1" lang="en-US" altLang="zh-TW" sz="1600" dirty="0" smtClean="0">
              <a:solidFill>
                <a:srgbClr val="000000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kumimoji="1" lang="en-US" altLang="zh-TW" sz="1600" dirty="0">
              <a:solidFill>
                <a:srgbClr val="000000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               LCS(T[2, </a:t>
            </a:r>
            <a:r>
              <a:rPr kumimoji="1" lang="en-US" altLang="zh-TW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,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</a:t>
            </a:r>
          </a:p>
          <a:p>
            <a:endParaRPr kumimoji="1" lang="en-US" altLang="zh-TW" sz="1600" dirty="0" smtClean="0">
              <a:solidFill>
                <a:srgbClr val="000000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kumimoji="1" lang="en-US" altLang="zh-TW" sz="1600" dirty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               LCS(T[3, </a:t>
            </a:r>
            <a:r>
              <a:rPr kumimoji="1" lang="en-US" altLang="zh-TW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,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</a:t>
            </a:r>
            <a:endParaRPr kumimoji="1" lang="en-US" altLang="zh-TW" sz="1600" dirty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kumimoji="1" lang="en-US" altLang="zh-TW" sz="1600" dirty="0" smtClean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lang="zh-TW" altLang="en-US" sz="1600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15286"/>
              </p:ext>
            </p:extLst>
          </p:nvPr>
        </p:nvGraphicFramePr>
        <p:xfrm>
          <a:off x="2059441" y="4292600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err="1" smtClean="0"/>
                        <a:t>i</a:t>
                      </a:r>
                      <a:r>
                        <a:rPr lang="en-US" altLang="zh-TW" sz="1400" b="0" dirty="0" smtClean="0"/>
                        <a:t> =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3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4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5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6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7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8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14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10</a:t>
                      </a:r>
                      <a:endParaRPr lang="zh-TW" altLang="en-US" sz="1400" b="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en-US" altLang="zh-TW" sz="1400" b="0" dirty="0" smtClean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0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1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3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3</a:t>
                      </a:r>
                      <a:endParaRPr lang="zh-TW" altLang="en-US" sz="1400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162954"/>
              </p:ext>
            </p:extLst>
          </p:nvPr>
        </p:nvGraphicFramePr>
        <p:xfrm>
          <a:off x="2046741" y="5136344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r>
                        <a:rPr lang="en-US" altLang="zh-TW" sz="1400" dirty="0" smtClean="0"/>
                        <a:t> =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</a:t>
                      </a:r>
                      <a:endParaRPr lang="zh-TW" altLang="en-US" sz="140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868137"/>
              </p:ext>
            </p:extLst>
          </p:nvPr>
        </p:nvGraphicFramePr>
        <p:xfrm>
          <a:off x="2021341" y="5918957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r>
                        <a:rPr lang="en-US" altLang="zh-TW" sz="1400" dirty="0" smtClean="0"/>
                        <a:t> =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</a:t>
                      </a:r>
                      <a:endParaRPr lang="zh-TW" altLang="en-US" sz="140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587258" y="1794664"/>
            <a:ext cx="4305222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1034816" y="1776570"/>
            <a:ext cx="3943585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1458734" y="1772938"/>
            <a:ext cx="3572352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7109254" y="2513003"/>
            <a:ext cx="2034746" cy="477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7117161" y="2868171"/>
            <a:ext cx="2034746" cy="477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7099966" y="3254964"/>
            <a:ext cx="2034746" cy="477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8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 animBg="1"/>
      <p:bldP spid="23" grpId="0" animBg="1"/>
      <p:bldP spid="23" grpId="1" animBg="1"/>
      <p:bldP spid="25" grpId="0" animBg="1"/>
      <p:bldP spid="25" grpId="1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0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9700" y="1016000"/>
            <a:ext cx="8625359" cy="5340353"/>
          </a:xfrm>
        </p:spPr>
        <p:txBody>
          <a:bodyPr>
            <a:normAutofit/>
          </a:bodyPr>
          <a:lstStyle/>
          <a:p>
            <a:pPr marL="34290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atacgcgctt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lang="zh-TW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74530"/>
              </p:ext>
            </p:extLst>
          </p:nvPr>
        </p:nvGraphicFramePr>
        <p:xfrm>
          <a:off x="2657591" y="1111078"/>
          <a:ext cx="225716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89"/>
                <a:gridCol w="752389"/>
                <a:gridCol w="752389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cgat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143994"/>
              </p:ext>
            </p:extLst>
          </p:nvPr>
        </p:nvGraphicFramePr>
        <p:xfrm>
          <a:off x="5348585" y="1127897"/>
          <a:ext cx="243016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541"/>
                <a:gridCol w="607541"/>
                <a:gridCol w="607541"/>
                <a:gridCol w="607541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aat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870736"/>
              </p:ext>
            </p:extLst>
          </p:nvPr>
        </p:nvGraphicFramePr>
        <p:xfrm>
          <a:off x="139700" y="2019605"/>
          <a:ext cx="4697704" cy="1998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064"/>
                <a:gridCol w="427064"/>
                <a:gridCol w="427064"/>
                <a:gridCol w="427064"/>
                <a:gridCol w="395388"/>
                <a:gridCol w="458740"/>
                <a:gridCol w="427064"/>
                <a:gridCol w="427064"/>
                <a:gridCol w="427064"/>
                <a:gridCol w="427064"/>
                <a:gridCol w="427064"/>
              </a:tblGrid>
              <a:tr h="398562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4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578484"/>
              </p:ext>
            </p:extLst>
          </p:nvPr>
        </p:nvGraphicFramePr>
        <p:xfrm>
          <a:off x="7182993" y="2181434"/>
          <a:ext cx="1934535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435"/>
                <a:gridCol w="3683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7762862" y="1780202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</a:t>
            </a:r>
            <a:r>
              <a:rPr kumimoji="1" lang="en-US" altLang="zh-TW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1</a:t>
            </a:r>
            <a:r>
              <a:rPr kumimoji="1"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10794" y="1980257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7015" y="2149534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75889" y="2127368"/>
            <a:ext cx="4869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189968" y="2248374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-84797" y="5300897"/>
            <a:ext cx="3862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(1,0)=</a:t>
            </a:r>
            <a:r>
              <a:rPr lang="zh-TW" altLang="en-US" sz="1600" dirty="0" smtClean="0"/>
              <a:t> 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LCS(T[1, </a:t>
            </a:r>
            <a:r>
              <a:rPr kumimoji="1" lang="en-US" altLang="zh-TW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</a:t>
            </a:r>
          </a:p>
          <a:p>
            <a:endParaRPr kumimoji="1" lang="en-US" altLang="zh-TW" sz="1600" dirty="0" smtClean="0">
              <a:solidFill>
                <a:srgbClr val="000000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kumimoji="1" lang="en-US" altLang="zh-TW" sz="1600" dirty="0" smtClean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lang="zh-TW" altLang="en-US" sz="1600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0588"/>
              </p:ext>
            </p:extLst>
          </p:nvPr>
        </p:nvGraphicFramePr>
        <p:xfrm>
          <a:off x="2026490" y="4989747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err="1" smtClean="0"/>
                        <a:t>i</a:t>
                      </a:r>
                      <a:r>
                        <a:rPr lang="en-US" altLang="zh-TW" sz="1400" b="0" dirty="0" smtClean="0"/>
                        <a:t> =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3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4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5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6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7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8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14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10</a:t>
                      </a:r>
                      <a:endParaRPr lang="zh-TW" altLang="en-US" sz="1400" b="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en-US" altLang="zh-TW" sz="1400" b="0" dirty="0" smtClean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0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1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2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3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3</a:t>
                      </a:r>
                      <a:endParaRPr lang="zh-TW" altLang="en-US" sz="1400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587258" y="1794664"/>
            <a:ext cx="434288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541925" y="1805545"/>
            <a:ext cx="932647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589816" y="1816426"/>
            <a:ext cx="3875091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81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17" grpId="0" animBg="1"/>
      <p:bldP spid="17" grpId="1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0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9700" y="1016000"/>
            <a:ext cx="8625359" cy="5340353"/>
          </a:xfrm>
        </p:spPr>
        <p:txBody>
          <a:bodyPr>
            <a:normAutofit/>
          </a:bodyPr>
          <a:lstStyle/>
          <a:p>
            <a:pPr marL="34290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atacgcgctt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lang="zh-TW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57591" y="1111078"/>
          <a:ext cx="225716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89"/>
                <a:gridCol w="752389"/>
                <a:gridCol w="752389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cgat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348585" y="1127897"/>
          <a:ext cx="243016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541"/>
                <a:gridCol w="607541"/>
                <a:gridCol w="607541"/>
                <a:gridCol w="607541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aat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24972"/>
              </p:ext>
            </p:extLst>
          </p:nvPr>
        </p:nvGraphicFramePr>
        <p:xfrm>
          <a:off x="139700" y="2019605"/>
          <a:ext cx="4697704" cy="15997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064"/>
                <a:gridCol w="427064"/>
                <a:gridCol w="427064"/>
                <a:gridCol w="427064"/>
                <a:gridCol w="395388"/>
                <a:gridCol w="458740"/>
                <a:gridCol w="427064"/>
                <a:gridCol w="427064"/>
                <a:gridCol w="427064"/>
                <a:gridCol w="427064"/>
                <a:gridCol w="427064"/>
              </a:tblGrid>
              <a:tr h="398562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4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919606"/>
              </p:ext>
            </p:extLst>
          </p:nvPr>
        </p:nvGraphicFramePr>
        <p:xfrm>
          <a:off x="7182993" y="2181434"/>
          <a:ext cx="1934535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435"/>
                <a:gridCol w="3683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7762862" y="1780202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1</a:t>
            </a:r>
            <a:r>
              <a:rPr kumimoji="1"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10794" y="1980257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7015" y="2149534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75889" y="2127368"/>
            <a:ext cx="4869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189968" y="2248374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-84797" y="4914900"/>
            <a:ext cx="3862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(0, </a:t>
            </a:r>
            <a:r>
              <a:rPr kumimoji="1" lang="en-US" altLang="zh-TW" sz="16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LCS(T[1, </a:t>
            </a:r>
            <a:r>
              <a:rPr kumimoji="1" lang="en-US" altLang="zh-TW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</a:t>
            </a:r>
            <a:endParaRPr kumimoji="1" lang="en-US" altLang="zh-TW" sz="1600" dirty="0" smtClean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lang="zh-TW" altLang="en-US" sz="1600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26982"/>
              </p:ext>
            </p:extLst>
          </p:nvPr>
        </p:nvGraphicFramePr>
        <p:xfrm>
          <a:off x="2097541" y="4603750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r>
                        <a:rPr lang="en-US" altLang="zh-TW" sz="1400" dirty="0" smtClean="0"/>
                        <a:t> =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</a:t>
                      </a:r>
                      <a:endParaRPr lang="zh-TW" altLang="en-US" sz="140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587258" y="1794664"/>
            <a:ext cx="434288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541925" y="1805545"/>
            <a:ext cx="932647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589816" y="1816426"/>
            <a:ext cx="3875091" cy="2372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17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63827" y="1869989"/>
            <a:ext cx="7801232" cy="4486363"/>
          </a:xfrm>
        </p:spPr>
        <p:txBody>
          <a:bodyPr>
            <a:normAutofit fontScale="92500" lnSpcReduction="10000"/>
          </a:bodyPr>
          <a:lstStyle/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Step 1. Compute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-table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i="1" baseline="30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-25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and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i="1" baseline="30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-25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kumimoji="1" lang="en-US" altLang="zh-TW" sz="3000" dirty="0" smtClean="0">
              <a:solidFill>
                <a:srgbClr val="000000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Step 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2. Initialize 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0, 0) = 0. 	</a:t>
            </a:r>
            <a:endParaRPr kumimoji="1" lang="en-US" altLang="zh-TW" sz="30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kumimoji="1" lang="en-US" altLang="zh-TW" sz="30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Step 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3. </a:t>
            </a:r>
            <a:r>
              <a:rPr kumimoji="1" lang="en-US" altLang="zh-TW" sz="3000" i="1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3000" i="1" baseline="300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k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= </a:t>
            </a:r>
            <a:endParaRPr kumimoji="1" lang="en-US" altLang="zh-TW" sz="3000" dirty="0" smtClean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max{</a:t>
            </a:r>
            <a:r>
              <a:rPr kumimoji="1" lang="en-US" altLang="zh-TW" sz="3000" i="1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3000" i="1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1, </a:t>
            </a:r>
            <a:r>
              <a:rPr kumimoji="1" lang="en-US" altLang="zh-TW" sz="3000" i="1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kumimoji="1" lang="en-US" altLang="zh-TW" sz="3000" i="1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i="1" baseline="30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</a:t>
            </a:r>
            <a:r>
              <a:rPr kumimoji="1" lang="en-US" altLang="zh-TW" sz="3000" i="1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-250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</a:t>
            </a: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TW" sz="3000" i="1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3000" i="1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j</a:t>
            </a: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TW" sz="3000" i="1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 1</a:t>
            </a: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kumimoji="1" lang="en-US" altLang="zh-TW" sz="3000" i="1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3000" i="1" baseline="30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sz="3000" i="1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sz="3000" i="1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i="1" baseline="-250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k</a:t>
            </a:r>
            <a:r>
              <a:rPr kumimoji="1" lang="en-US" altLang="zh-TW" sz="30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)}.</a:t>
            </a:r>
            <a:r>
              <a:rPr kumimoji="1" lang="en-US" altLang="zh-TW" sz="30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	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	        </a:t>
            </a:r>
            <a:endParaRPr kumimoji="1" lang="en-US" altLang="zh-TW" sz="30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kumimoji="1" lang="en-US" altLang="zh-TW" sz="30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kumimoji="1" lang="en-US" altLang="zh-TW" sz="3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Step 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4. Return </a:t>
            </a:r>
            <a:r>
              <a:rPr kumimoji="1" lang="en-US" altLang="zh-TW" sz="3000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</a:t>
            </a:r>
            <a:r>
              <a:rPr kumimoji="1" lang="en-US" altLang="zh-TW" sz="3000" i="1" baseline="30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(|T|,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TW" sz="30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1" lang="en-US" altLang="zh-TW" sz="3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).</a:t>
            </a:r>
            <a:endParaRPr lang="zh-TW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84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0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9700" y="1016000"/>
            <a:ext cx="8625359" cy="5340353"/>
          </a:xfrm>
        </p:spPr>
        <p:txBody>
          <a:bodyPr>
            <a:normAutofit/>
          </a:bodyPr>
          <a:lstStyle/>
          <a:p>
            <a:pPr marL="34290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atacgcgctt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lang="zh-TW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57591" y="1111078"/>
          <a:ext cx="225716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89"/>
                <a:gridCol w="752389"/>
                <a:gridCol w="752389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cgat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89808"/>
              </p:ext>
            </p:extLst>
          </p:nvPr>
        </p:nvGraphicFramePr>
        <p:xfrm>
          <a:off x="4974780" y="1124608"/>
          <a:ext cx="243016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541"/>
                <a:gridCol w="607541"/>
                <a:gridCol w="607541"/>
                <a:gridCol w="607541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aat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-66246" y="6136701"/>
            <a:ext cx="5099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(1, 1) = </a:t>
            </a:r>
            <a:r>
              <a:rPr kumimoji="1" lang="en-US" altLang="zh-TW" sz="16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(1, 0</a:t>
            </a:r>
            <a:r>
              <a:rPr kumimoji="1" lang="en-US" altLang="zh-TW" sz="16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⊕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16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(T,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  <a:r>
              <a:rPr lang="zh-TW" altLang="en-US" sz="1600" dirty="0" smtClean="0"/>
              <a:t> </a:t>
            </a:r>
            <a:r>
              <a:rPr kumimoji="1" lang="en-US" altLang="zh-TW" sz="16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= 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LCS(T[1, </a:t>
            </a:r>
            <a:r>
              <a:rPr kumimoji="1" lang="en-US" altLang="zh-TW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TW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=</a:t>
            </a:r>
            <a:endParaRPr kumimoji="1" lang="en-US" altLang="zh-TW" sz="1600" dirty="0" smtClean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lang="zh-TW" altLang="en-US" sz="1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0" y="2979656"/>
            <a:ext cx="3862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(1, 0)=LCS(T[1, </a:t>
            </a:r>
            <a:r>
              <a:rPr kumimoji="1" lang="en-US" altLang="zh-TW" sz="16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</a:t>
            </a:r>
            <a:r>
              <a:rPr kumimoji="1"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</a:t>
            </a:r>
          </a:p>
          <a:p>
            <a:endParaRPr lang="zh-TW" altLang="en-US" sz="16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582717"/>
              </p:ext>
            </p:extLst>
          </p:nvPr>
        </p:nvGraphicFramePr>
        <p:xfrm>
          <a:off x="2190041" y="2752726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r>
                        <a:rPr lang="en-US" altLang="zh-TW" sz="1400" dirty="0" smtClean="0"/>
                        <a:t> =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</a:t>
                      </a:r>
                      <a:endParaRPr lang="zh-TW" altLang="en-US" sz="140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044103"/>
              </p:ext>
            </p:extLst>
          </p:nvPr>
        </p:nvGraphicFramePr>
        <p:xfrm>
          <a:off x="7533986" y="674715"/>
          <a:ext cx="14351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文字方塊 26"/>
          <p:cNvSpPr txBox="1"/>
          <p:nvPr/>
        </p:nvSpPr>
        <p:spPr>
          <a:xfrm>
            <a:off x="7729198" y="152691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1</a:t>
            </a:r>
            <a:r>
              <a:rPr kumimoji="1"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253056"/>
              </p:ext>
            </p:extLst>
          </p:nvPr>
        </p:nvGraphicFramePr>
        <p:xfrm>
          <a:off x="4488326" y="5801713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r>
                        <a:rPr lang="en-US" altLang="zh-TW" sz="1400" dirty="0" smtClean="0"/>
                        <a:t> =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</a:t>
                      </a:r>
                      <a:endParaRPr lang="zh-TW" altLang="en-US" sz="140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469954"/>
              </p:ext>
            </p:extLst>
          </p:nvPr>
        </p:nvGraphicFramePr>
        <p:xfrm>
          <a:off x="2383369" y="3733764"/>
          <a:ext cx="4074581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083"/>
                <a:gridCol w="582083"/>
                <a:gridCol w="582083"/>
                <a:gridCol w="582083"/>
                <a:gridCol w="582083"/>
                <a:gridCol w="582083"/>
                <a:gridCol w="582083"/>
              </a:tblGrid>
              <a:tr h="31750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1750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1750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1750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dirty="0" smtClean="0">
                          <a:latin typeface="Times New Roman" panose="02020603050405020304" pitchFamily="18" charset="0"/>
                          <a:ea typeface="新細明體"/>
                          <a:cs typeface="Times New Roman" panose="02020603050405020304" pitchFamily="18" charset="0"/>
                        </a:rPr>
                        <a:t>⊕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0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7405472" y="626076"/>
            <a:ext cx="1631436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7405472" y="1016000"/>
            <a:ext cx="1631436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7405472" y="1357285"/>
            <a:ext cx="1631436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7431410" y="3961027"/>
            <a:ext cx="1631436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14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0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9700" y="1016000"/>
            <a:ext cx="8625359" cy="5340353"/>
          </a:xfrm>
        </p:spPr>
        <p:txBody>
          <a:bodyPr>
            <a:normAutofit/>
          </a:bodyPr>
          <a:lstStyle/>
          <a:p>
            <a:pPr marL="34290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atacgcgctt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lang="zh-TW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57591" y="1111078"/>
          <a:ext cx="225716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89"/>
                <a:gridCol w="752389"/>
                <a:gridCol w="752389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cgat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196838"/>
              </p:ext>
            </p:extLst>
          </p:nvPr>
        </p:nvGraphicFramePr>
        <p:xfrm>
          <a:off x="4950766" y="1125837"/>
          <a:ext cx="243016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541"/>
                <a:gridCol w="607541"/>
                <a:gridCol w="607541"/>
                <a:gridCol w="607541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aat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-1" y="6112863"/>
            <a:ext cx="5008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(1, 1) = </a:t>
            </a:r>
            <a:r>
              <a:rPr kumimoji="1" lang="en-US" altLang="zh-TW" sz="16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(0, 1) </a:t>
            </a:r>
            <a:r>
              <a:rPr kumimoji="1" lang="en-US" altLang="zh-TW" sz="16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⊕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16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(T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  <a:r>
              <a:rPr lang="zh-TW" altLang="en-US" sz="1600" dirty="0" smtClean="0"/>
              <a:t> </a:t>
            </a:r>
            <a:r>
              <a:rPr kumimoji="1" lang="en-US" altLang="zh-TW" sz="16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= 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LCS(T[1, </a:t>
            </a:r>
            <a:r>
              <a:rPr kumimoji="1" lang="en-US" altLang="zh-TW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=</a:t>
            </a:r>
            <a:endParaRPr kumimoji="1" lang="en-US" altLang="zh-TW" sz="1600" dirty="0" smtClean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lang="zh-TW" altLang="en-US" sz="16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301957"/>
              </p:ext>
            </p:extLst>
          </p:nvPr>
        </p:nvGraphicFramePr>
        <p:xfrm>
          <a:off x="7504602" y="674715"/>
          <a:ext cx="14351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7729198" y="152691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</a:t>
            </a:r>
            <a:r>
              <a:rPr kumimoji="1" lang="en-US" altLang="zh-TW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1</a:t>
            </a:r>
            <a:r>
              <a:rPr kumimoji="1"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0" y="3101401"/>
            <a:ext cx="3862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(0, </a:t>
            </a:r>
            <a:r>
              <a:rPr kumimoji="1"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)=LCS(T[1, </a:t>
            </a:r>
            <a:r>
              <a:rPr kumimoji="1" lang="en-US" altLang="zh-TW" sz="16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i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] </a:t>
            </a:r>
            <a:r>
              <a:rPr kumimoji="1"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, </a:t>
            </a:r>
            <a:r>
              <a:rPr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)=</a:t>
            </a:r>
          </a:p>
          <a:p>
            <a:endParaRPr lang="zh-TW" altLang="en-US" sz="16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15261"/>
              </p:ext>
            </p:extLst>
          </p:nvPr>
        </p:nvGraphicFramePr>
        <p:xfrm>
          <a:off x="2149513" y="2820388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r>
                        <a:rPr lang="en-US" altLang="zh-TW" sz="1400" dirty="0" smtClean="0"/>
                        <a:t> =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</a:t>
                      </a:r>
                      <a:endParaRPr lang="zh-TW" altLang="en-US" sz="140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24796"/>
              </p:ext>
            </p:extLst>
          </p:nvPr>
        </p:nvGraphicFramePr>
        <p:xfrm>
          <a:off x="2063392" y="3686176"/>
          <a:ext cx="4074581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083"/>
                <a:gridCol w="582083"/>
                <a:gridCol w="582083"/>
                <a:gridCol w="582083"/>
                <a:gridCol w="582083"/>
                <a:gridCol w="582083"/>
                <a:gridCol w="582083"/>
              </a:tblGrid>
              <a:tr h="31750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1750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1750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1750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dirty="0" smtClean="0">
                          <a:latin typeface="Times New Roman" panose="02020603050405020304" pitchFamily="18" charset="0"/>
                          <a:ea typeface="新細明體"/>
                          <a:cs typeface="Times New Roman" panose="02020603050405020304" pitchFamily="18" charset="0"/>
                        </a:rPr>
                        <a:t>⊕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0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24382"/>
              </p:ext>
            </p:extLst>
          </p:nvPr>
        </p:nvGraphicFramePr>
        <p:xfrm>
          <a:off x="4538268" y="5801713"/>
          <a:ext cx="4605732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  <a:gridCol w="383811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r>
                        <a:rPr lang="en-US" altLang="zh-TW" sz="1400" dirty="0" smtClean="0"/>
                        <a:t> =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</a:t>
                      </a:r>
                      <a:endParaRPr lang="zh-TW" altLang="en-US" sz="140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7405472" y="626076"/>
            <a:ext cx="1631436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405472" y="1016000"/>
            <a:ext cx="1631436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7405472" y="1357285"/>
            <a:ext cx="1631436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7405472" y="3961027"/>
            <a:ext cx="1631436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99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9" grpId="0" animBg="1"/>
      <p:bldP spid="19" grpId="1" animBg="1"/>
      <p:bldP spid="20" grpId="0" animBg="1"/>
      <p:bldP spid="20" grpId="1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0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S-table for BMLCS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9700" y="1016000"/>
            <a:ext cx="8625359" cy="5340353"/>
          </a:xfrm>
        </p:spPr>
        <p:txBody>
          <a:bodyPr>
            <a:normAutofit/>
          </a:bodyPr>
          <a:lstStyle/>
          <a:p>
            <a:pPr marL="34290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atacgcgctt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</a:pPr>
            <a:endParaRPr lang="zh-TW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19</a:t>
            </a:fld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57591" y="1111078"/>
          <a:ext cx="225716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89"/>
                <a:gridCol w="752389"/>
                <a:gridCol w="752389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cgat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30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348585" y="1127897"/>
          <a:ext cx="243016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541"/>
                <a:gridCol w="607541"/>
                <a:gridCol w="607541"/>
                <a:gridCol w="607541"/>
              </a:tblGrid>
              <a:tr h="269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aat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4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-88900" y="2659609"/>
            <a:ext cx="614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 smtClean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(1, 1) =max {</a:t>
            </a:r>
            <a:r>
              <a:rPr kumimoji="1" lang="en-US" altLang="zh-TW" sz="16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(1, 0) ⊕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16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(T,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),</a:t>
            </a:r>
            <a:r>
              <a:rPr kumimoji="1" lang="en-US" altLang="zh-TW" sz="16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 </a:t>
            </a:r>
            <a:r>
              <a:rPr kumimoji="1" lang="en-US" altLang="zh-TW" sz="16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V</a:t>
            </a:r>
            <a:r>
              <a:rPr kumimoji="1" lang="en-US" altLang="zh-TW" sz="1600" baseline="30000" dirty="0" err="1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</a:t>
            </a:r>
            <a:r>
              <a:rPr kumimoji="1" lang="en-US" altLang="zh-TW" sz="1600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(0, 1) ⊕ 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</a:t>
            </a:r>
            <a:r>
              <a:rPr kumimoji="1" lang="en-US" altLang="zh-TW" sz="16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(T,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TW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</a:t>
            </a:r>
            <a:r>
              <a:rPr lang="zh-TW" altLang="en-US" sz="1600" dirty="0"/>
              <a:t> </a:t>
            </a:r>
            <a:r>
              <a:rPr kumimoji="1" lang="en-US" altLang="zh-TW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} =</a:t>
            </a:r>
            <a:endParaRPr kumimoji="1" lang="en-US" altLang="zh-TW" sz="1600" dirty="0" smtClean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endParaRPr lang="zh-TW" altLang="en-US" sz="1600" dirty="0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/>
          </p:nvPr>
        </p:nvGraphicFramePr>
        <p:xfrm>
          <a:off x="4907385" y="2335759"/>
          <a:ext cx="4252176" cy="622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48"/>
                <a:gridCol w="354348"/>
                <a:gridCol w="354348"/>
                <a:gridCol w="354348"/>
                <a:gridCol w="354348"/>
                <a:gridCol w="354348"/>
                <a:gridCol w="354348"/>
                <a:gridCol w="354348"/>
                <a:gridCol w="354348"/>
                <a:gridCol w="354348"/>
                <a:gridCol w="354348"/>
                <a:gridCol w="354348"/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 smtClean="0"/>
                        <a:t>i</a:t>
                      </a:r>
                      <a:r>
                        <a:rPr lang="en-US" altLang="zh-TW" sz="1400" dirty="0" smtClean="0"/>
                        <a:t> =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409564" y="5022575"/>
                <a:ext cx="48133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Algorithm </a:t>
                </a:r>
                <a:r>
                  <a:rPr lang="en-US" altLang="zh-TW" dirty="0" err="1"/>
                  <a:t>BMergedLCS</a:t>
                </a:r>
                <a:r>
                  <a:rPr lang="en-US" altLang="zh-TW" dirty="0"/>
                  <a:t>+ solves </a:t>
                </a:r>
                <a:r>
                  <a:rPr lang="en-US" altLang="zh-TW" dirty="0" smtClean="0"/>
                  <a:t>the BMLCS </a:t>
                </a:r>
                <a:r>
                  <a:rPr lang="en-US" altLang="zh-TW" dirty="0"/>
                  <a:t>problem in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+ n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</a:t>
                </a:r>
                <a:r>
                  <a:rPr lang="en-US" altLang="zh-TW" dirty="0"/>
                  <a:t> time and space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564" y="5022575"/>
                <a:ext cx="4813300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013" t="-566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30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9246</TotalTime>
  <Words>1427</Words>
  <Application>Microsoft Office PowerPoint</Application>
  <PresentationFormat>如螢幕大小 (4:3)</PresentationFormat>
  <Paragraphs>847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8" baseType="lpstr">
      <vt:lpstr>新細明體</vt:lpstr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Office 佈景主題</vt:lpstr>
      <vt:lpstr>Efﬁcient algorithms for ﬁnding interleaving relationship between sequences</vt:lpstr>
      <vt:lpstr>Abstract</vt:lpstr>
      <vt:lpstr>Abstract</vt:lpstr>
      <vt:lpstr>Merged sequence</vt:lpstr>
      <vt:lpstr>Merged LCS (MLCS) problem </vt:lpstr>
      <vt:lpstr>Merged LCS (MLCS) problem </vt:lpstr>
      <vt:lpstr>Blocked Merged sequence</vt:lpstr>
      <vt:lpstr>Blocked Merged LCS</vt:lpstr>
      <vt:lpstr> Blocked Merged LCS</vt:lpstr>
      <vt:lpstr> Blocked Merged LCS</vt:lpstr>
      <vt:lpstr>S-table for BMLCS</vt:lpstr>
      <vt:lpstr>S-table for BMLCS</vt:lpstr>
      <vt:lpstr>S-table for BMLCS</vt:lpstr>
      <vt:lpstr>S-table for BMLCS</vt:lpstr>
      <vt:lpstr>S-table for BMLCS</vt:lpstr>
      <vt:lpstr>S-table for BMLCS</vt:lpstr>
      <vt:lpstr>S-table for BMLCS</vt:lpstr>
      <vt:lpstr>S-table for BMLCS</vt:lpstr>
      <vt:lpstr>S-table for BMLCS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152</cp:revision>
  <dcterms:created xsi:type="dcterms:W3CDTF">2016-04-23T07:31:56Z</dcterms:created>
  <dcterms:modified xsi:type="dcterms:W3CDTF">2016-08-09T08:05:13Z</dcterms:modified>
</cp:coreProperties>
</file>