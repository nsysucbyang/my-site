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92" r:id="rId4"/>
    <p:sldId id="293" r:id="rId5"/>
    <p:sldId id="294" r:id="rId6"/>
    <p:sldId id="295" r:id="rId7"/>
    <p:sldId id="296" r:id="rId8"/>
    <p:sldId id="297" r:id="rId9"/>
    <p:sldId id="298" r:id="rId10"/>
    <p:sldId id="299" r:id="rId11"/>
    <p:sldId id="302" r:id="rId12"/>
    <p:sldId id="301" r:id="rId13"/>
    <p:sldId id="304" r:id="rId14"/>
    <p:sldId id="303" r:id="rId15"/>
    <p:sldId id="306" r:id="rId16"/>
    <p:sldId id="307" r:id="rId17"/>
    <p:sldId id="308"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00FF"/>
    <a:srgbClr val="0099CC"/>
    <a:srgbClr val="C5C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39" autoAdjust="0"/>
    <p:restoredTop sz="94660"/>
  </p:normalViewPr>
  <p:slideViewPr>
    <p:cSldViewPr snapToGrid="0">
      <p:cViewPr varScale="1">
        <p:scale>
          <a:sx n="104" d="100"/>
          <a:sy n="104" d="100"/>
        </p:scale>
        <p:origin x="12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18B5-9F64-4BCF-B1EE-1FDC52667EE1}" type="datetimeFigureOut">
              <a:rPr lang="zh-TW" altLang="en-US" smtClean="0"/>
              <a:t>2016/12/15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C9B0B-B10D-49AA-966C-9C58E0B863DF}" type="slidenum">
              <a:rPr lang="zh-TW" altLang="en-US" smtClean="0"/>
              <a:t>‹#›</a:t>
            </a:fld>
            <a:endParaRPr lang="zh-TW" altLang="en-US"/>
          </a:p>
        </p:txBody>
      </p:sp>
    </p:spTree>
    <p:extLst>
      <p:ext uri="{BB962C8B-B14F-4D97-AF65-F5344CB8AC3E}">
        <p14:creationId xmlns:p14="http://schemas.microsoft.com/office/powerpoint/2010/main" val="2609497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669385C0-1FCA-4A75-9F23-6295E7490FEE}" type="datetime1">
              <a:rPr lang="zh-TW" altLang="en-US" smtClean="0"/>
              <a:t>2016/12/15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42E0020-C82E-415B-9299-1A25D7552E73}" type="datetime1">
              <a:rPr lang="zh-TW" altLang="en-US" smtClean="0"/>
              <a:t>2016/12/15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05E9755A-A3D0-49B7-B750-A84F0F8C3152}" type="datetime1">
              <a:rPr lang="zh-TW" altLang="en-US" smtClean="0"/>
              <a:t>2016/12/15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177FF536-6844-4449-BA87-F2BF5DABF104}" type="datetime1">
              <a:rPr lang="zh-TW" altLang="en-US" smtClean="0"/>
              <a:t>2016/12/15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ACF50BCE-4D5B-445D-9EBF-D040FF475579}" type="datetime1">
              <a:rPr lang="zh-TW" altLang="en-US" smtClean="0"/>
              <a:t>2016/12/15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A9293B6D-3892-4D58-A340-8C410260F3D7}" type="datetime1">
              <a:rPr lang="zh-TW" altLang="en-US" smtClean="0"/>
              <a:t>2016/12/15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B735E-8418-4C4A-BC7E-83B7EA882B5A}" type="datetime1">
              <a:rPr lang="zh-TW" altLang="en-US" smtClean="0"/>
              <a:t>2016/12/15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1C2C0A7B-C3EA-46E9-832E-F519368F0FB0}" type="datetime1">
              <a:rPr lang="zh-TW" altLang="en-US" smtClean="0"/>
              <a:t>2016/12/15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8CACC982-7446-446B-8F17-73F2858A31F6}" type="datetime1">
              <a:rPr lang="zh-TW" altLang="en-US" smtClean="0"/>
              <a:t>2016/12/15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A87670E-D1D9-4108-B311-ADAABD8B0D32}" type="datetime1">
              <a:rPr lang="zh-TW" altLang="en-US" smtClean="0"/>
              <a:t>2016/12/15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646D0F84-786D-4EF2-8481-140225BF3227}" type="datetime1">
              <a:rPr lang="zh-TW" altLang="en-US" smtClean="0"/>
              <a:t>2016/12/15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FEB57B-0D0F-41CB-A932-683E565E4EE2}" type="datetime1">
              <a:rPr lang="zh-TW" altLang="en-US" smtClean="0"/>
              <a:t>2016/12/15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720722" y="1230178"/>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200" dirty="0">
                <a:latin typeface="Times New Roman" panose="02020603050405020304" pitchFamily="18" charset="0"/>
                <a:ea typeface="Arial Unicode MS" pitchFamily="34" charset="-120"/>
                <a:cs typeface="Times New Roman" panose="02020603050405020304" pitchFamily="18" charset="0"/>
              </a:rPr>
              <a:t>Sequence alignment using </a:t>
            </a:r>
            <a:r>
              <a:rPr lang="en-US" altLang="zh-TW" sz="3200" dirty="0" err="1">
                <a:latin typeface="Times New Roman" panose="02020603050405020304" pitchFamily="18" charset="0"/>
                <a:ea typeface="Arial Unicode MS" pitchFamily="34" charset="-120"/>
                <a:cs typeface="Times New Roman" panose="02020603050405020304" pitchFamily="18" charset="0"/>
              </a:rPr>
              <a:t>FastLSA</a:t>
            </a:r>
            <a:endParaRPr lang="zh-TW" altLang="en-US" sz="3200" dirty="0">
              <a:latin typeface="Times New Roman" panose="02020603050405020304" pitchFamily="18" charset="0"/>
              <a:ea typeface="Arial Unicode MS" pitchFamily="34" charset="-120"/>
              <a:cs typeface="Times New Roman" panose="02020603050405020304" pitchFamily="18" charset="0"/>
            </a:endParaRPr>
          </a:p>
        </p:txBody>
      </p:sp>
      <p:sp>
        <p:nvSpPr>
          <p:cNvPr id="5" name="副標題 2"/>
          <p:cNvSpPr txBox="1">
            <a:spLocks/>
          </p:cNvSpPr>
          <p:nvPr/>
        </p:nvSpPr>
        <p:spPr>
          <a:xfrm>
            <a:off x="1406522" y="3019431"/>
            <a:ext cx="6400800"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a:t>Kevin Charter, Jonathan </a:t>
            </a:r>
            <a:r>
              <a:rPr lang="en-US" altLang="zh-TW" sz="2000" dirty="0" smtClean="0"/>
              <a:t>Schaeffer</a:t>
            </a:r>
            <a:r>
              <a:rPr lang="en-US" altLang="zh-TW" sz="2000" dirty="0"/>
              <a:t>, Duane </a:t>
            </a:r>
            <a:r>
              <a:rPr lang="en-US" altLang="zh-TW" sz="2000" dirty="0" err="1"/>
              <a:t>Szafron</a:t>
            </a:r>
            <a:endParaRPr lang="en-US" altLang="zh-TW" sz="2000" dirty="0"/>
          </a:p>
        </p:txBody>
      </p:sp>
      <p:graphicFrame>
        <p:nvGraphicFramePr>
          <p:cNvPr id="6" name="表格 5"/>
          <p:cNvGraphicFramePr>
            <a:graphicFrameLocks noGrp="1"/>
          </p:cNvGraphicFramePr>
          <p:nvPr>
            <p:extLst>
              <p:ext uri="{D42A27DB-BD31-4B8C-83A1-F6EECF244321}">
                <p14:modId xmlns:p14="http://schemas.microsoft.com/office/powerpoint/2010/main" val="2071689400"/>
              </p:ext>
            </p:extLst>
          </p:nvPr>
        </p:nvGraphicFramePr>
        <p:xfrm>
          <a:off x="2312119" y="3818084"/>
          <a:ext cx="4589606" cy="1116326"/>
        </p:xfrm>
        <a:graphic>
          <a:graphicData uri="http://schemas.openxmlformats.org/drawingml/2006/table">
            <a:tbl>
              <a:tblPr/>
              <a:tblGrid>
                <a:gridCol w="4589606"/>
              </a:tblGrid>
              <a:tr h="846860">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en-US" altLang="zh-TW" sz="1800" b="0" i="0" kern="1200" dirty="0" smtClean="0">
                          <a:solidFill>
                            <a:schemeClr val="tx1"/>
                          </a:solidFill>
                          <a:effectLst/>
                          <a:latin typeface="+mn-lt"/>
                          <a:ea typeface="+mn-ea"/>
                          <a:cs typeface="+mn-cs"/>
                        </a:rPr>
                        <a:t>Proceedings of the 2000 International Conference on Mathematics and Engineering Techniques in Medicine and Biological Sciences,</a:t>
                      </a:r>
                      <a:r>
                        <a:rPr lang="en-US" altLang="zh-TW" sz="1800" b="0" i="0" kern="1200" baseline="0" dirty="0" smtClean="0">
                          <a:solidFill>
                            <a:schemeClr val="tx1"/>
                          </a:solidFill>
                          <a:effectLst/>
                          <a:latin typeface="+mn-lt"/>
                          <a:ea typeface="+mn-ea"/>
                          <a:cs typeface="+mn-cs"/>
                        </a:rPr>
                        <a:t> Las Vegas, Nevada, 2000, pp.239-245</a:t>
                      </a:r>
                      <a:endParaRPr lang="en-US" altLang="zh-TW" sz="1800" b="0" i="0" kern="1200" dirty="0" smtClean="0">
                        <a:solidFill>
                          <a:schemeClr val="tx1"/>
                        </a:solidFill>
                        <a:effectLst/>
                        <a:latin typeface="+mn-lt"/>
                        <a:ea typeface="+mn-ea"/>
                        <a:cs typeface="+mn-cs"/>
                      </a:endParaRPr>
                    </a:p>
                  </a:txBody>
                  <a:tcPr marL="95251" marR="9525" marT="9523" marB="9523">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2982910" y="525363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algn="ctr" eaLnBrk="1" hangingPunct="1">
              <a:spcBef>
                <a:spcPct val="0"/>
              </a:spcBef>
              <a:buFontTx/>
              <a:buNone/>
            </a:pPr>
            <a:r>
              <a:rPr lang="en-US" altLang="zh-TW" sz="1800" dirty="0"/>
              <a:t>Date:</a:t>
            </a:r>
            <a:fld id="{F3590F60-3E7B-48AD-979A-345F224951B5}" type="datetime1">
              <a:rPr lang="zh-TW" altLang="en-US" sz="1800"/>
              <a:pPr algn="ctr" eaLnBrk="1" hangingPunct="1">
                <a:spcBef>
                  <a:spcPct val="0"/>
                </a:spcBef>
                <a:buFontTx/>
                <a:buNone/>
              </a:pPr>
              <a:t>2016/12/15</a:t>
            </a:fld>
            <a:endParaRPr lang="zh-TW" altLang="en-US" sz="1800" dirty="0"/>
          </a:p>
        </p:txBody>
      </p:sp>
      <p:sp>
        <p:nvSpPr>
          <p:cNvPr id="2" name="投影片編號版面配置區 1"/>
          <p:cNvSpPr>
            <a:spLocks noGrp="1"/>
          </p:cNvSpPr>
          <p:nvPr>
            <p:ph type="sldNum" sz="quarter" idx="12"/>
          </p:nvPr>
        </p:nvSpPr>
        <p:spPr/>
        <p:txBody>
          <a:bodyPr/>
          <a:lstStyle/>
          <a:p>
            <a:fld id="{0C029359-40AB-419B-8FBB-45C7471E1ED3}" type="slidenum">
              <a:rPr lang="zh-TW" altLang="en-US" smtClean="0"/>
              <a:t>1</a:t>
            </a:fld>
            <a:endParaRPr lang="zh-TW" altLang="en-US"/>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Abstract(1/3)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5"/>
                <a:ext cx="7886700" cy="4713720"/>
              </a:xfrm>
            </p:spPr>
            <p:txBody>
              <a:bodyPr anchor="t" anchorCtr="0">
                <a:normAutofit lnSpcReduction="10000"/>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For two strings of length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𝑚</m:t>
                    </m:r>
                  </m:oMath>
                </a14:m>
                <a:r>
                  <a:rPr lang="en-US" altLang="zh-TW" sz="2700" dirty="0" smtClean="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𝑛</m:t>
                    </m:r>
                  </m:oMath>
                </a14:m>
                <a:r>
                  <a:rPr lang="en-US" altLang="zh-TW" sz="2700"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𝑚</m:t>
                    </m:r>
                    <m:r>
                      <a:rPr lang="en-US" altLang="zh-TW" sz="2700" i="1" dirty="0" smtClean="0">
                        <a:latin typeface="Cambria Math" panose="02040503050406030204" pitchFamily="18" charset="0"/>
                        <a:cs typeface="Times New Roman" panose="02020603050405020304" pitchFamily="18" charset="0"/>
                      </a:rPr>
                      <m:t> ≤ </m:t>
                    </m:r>
                    <m:r>
                      <a:rPr lang="en-US" altLang="zh-TW" sz="2700" i="1" dirty="0" smtClean="0">
                        <a:latin typeface="Cambria Math" panose="02040503050406030204" pitchFamily="18" charset="0"/>
                        <a:cs typeface="Times New Roman" panose="02020603050405020304" pitchFamily="18" charset="0"/>
                      </a:rPr>
                      <m:t>𝑛</m:t>
                    </m:r>
                  </m:oMath>
                </a14:m>
                <a:r>
                  <a:rPr lang="en-US" altLang="zh-TW" sz="2700" dirty="0" smtClean="0">
                    <a:latin typeface="Times New Roman" panose="02020603050405020304" pitchFamily="18" charset="0"/>
                    <a:cs typeface="Times New Roman" panose="02020603050405020304" pitchFamily="18" charset="0"/>
                  </a:rPr>
                  <a:t>), optimal sequence alignment (as a function of the alignment scoring function) takes time and space proportional to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𝑚</m:t>
                    </m:r>
                    <m:r>
                      <a:rPr lang="en-US" altLang="zh-TW" sz="27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700" i="1" dirty="0" smtClean="0">
                        <a:latin typeface="Cambria Math" panose="02040503050406030204" pitchFamily="18" charset="0"/>
                        <a:cs typeface="Times New Roman" panose="02020603050405020304" pitchFamily="18" charset="0"/>
                      </a:rPr>
                      <m:t>𝑛</m:t>
                    </m:r>
                  </m:oMath>
                </a14:m>
                <a:r>
                  <a:rPr lang="en-US" altLang="zh-TW" sz="2700" dirty="0" smtClean="0">
                    <a:latin typeface="Times New Roman" panose="02020603050405020304" pitchFamily="18" charset="0"/>
                    <a:cs typeface="Times New Roman" panose="02020603050405020304" pitchFamily="18" charset="0"/>
                  </a:rPr>
                  <a:t> to compute. The time actually consists of two parts: computing the score of the best alignment (calculating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m:t>
                    </m:r>
                    <m:r>
                      <a:rPr lang="en-US" altLang="zh-TW" sz="2700" i="1" dirty="0" smtClean="0">
                        <a:latin typeface="Cambria Math" panose="02040503050406030204" pitchFamily="18" charset="0"/>
                        <a:cs typeface="Times New Roman" panose="02020603050405020304" pitchFamily="18" charset="0"/>
                      </a:rPr>
                      <m:t>𝑚</m:t>
                    </m:r>
                    <m:r>
                      <a:rPr lang="en-US" altLang="zh-TW" sz="2700" i="1" dirty="0" smtClean="0">
                        <a:latin typeface="Cambria Math" panose="02040503050406030204" pitchFamily="18" charset="0"/>
                        <a:cs typeface="Times New Roman" panose="02020603050405020304" pitchFamily="18" charset="0"/>
                      </a:rPr>
                      <m:t>+1)×(</m:t>
                    </m:r>
                    <m:r>
                      <a:rPr lang="en-US" altLang="zh-TW" sz="2700" i="1" dirty="0" smtClean="0">
                        <a:latin typeface="Cambria Math" panose="02040503050406030204" pitchFamily="18" charset="0"/>
                        <a:cs typeface="Times New Roman" panose="02020603050405020304" pitchFamily="18" charset="0"/>
                      </a:rPr>
                      <m:t>𝑛</m:t>
                    </m:r>
                    <m:r>
                      <a:rPr lang="en-US" altLang="zh-TW" sz="2700" i="1" dirty="0" smtClean="0">
                        <a:latin typeface="Cambria Math" panose="02040503050406030204" pitchFamily="18" charset="0"/>
                        <a:cs typeface="Times New Roman" panose="02020603050405020304" pitchFamily="18" charset="0"/>
                      </a:rPr>
                      <m:t>+1) </m:t>
                    </m:r>
                  </m:oMath>
                </a14:m>
                <a:r>
                  <a:rPr lang="en-US" altLang="zh-TW" sz="2700" dirty="0" smtClean="0">
                    <a:latin typeface="Times New Roman" panose="02020603050405020304" pitchFamily="18" charset="0"/>
                    <a:cs typeface="Times New Roman" panose="02020603050405020304" pitchFamily="18" charset="0"/>
                  </a:rPr>
                  <a:t>values), and then extracting the alignment (by reading the computed values).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5"/>
                <a:ext cx="7886700" cy="4713720"/>
              </a:xfrm>
              <a:blipFill rotWithShape="0">
                <a:blip r:embed="rId2"/>
                <a:stretch>
                  <a:fillRect l="-1468" r="-1468" b="-168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2</a:t>
            </a:fld>
            <a:endParaRPr lang="zh-TW" altLang="en-US"/>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Abstract(2/3)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5"/>
                <a:ext cx="7886700" cy="4713720"/>
              </a:xfrm>
            </p:spPr>
            <p:txBody>
              <a:bodyPr anchor="t" anchorCtr="0">
                <a:normAutofit/>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The space requirement is usually prohibitive. Hirschberg’s algorithm reduces the space needs to roughly </a:t>
                </a:r>
                <a14:m>
                  <m:oMath xmlns:m="http://schemas.openxmlformats.org/officeDocument/2006/math">
                    <m:r>
                      <a:rPr lang="en-US" altLang="zh-TW" sz="2700" i="1" dirty="0" smtClean="0">
                        <a:latin typeface="Cambria Math" panose="02040503050406030204" pitchFamily="18" charset="0"/>
                        <a:cs typeface="Times New Roman" panose="02020603050405020304" pitchFamily="18" charset="0"/>
                      </a:rPr>
                      <m:t>2</m:t>
                    </m:r>
                    <m:r>
                      <a:rPr lang="en-US" altLang="zh-TW" sz="27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700" i="1" dirty="0" smtClean="0">
                        <a:latin typeface="Cambria Math" panose="02040503050406030204" pitchFamily="18" charset="0"/>
                        <a:cs typeface="Times New Roman" panose="02020603050405020304" pitchFamily="18" charset="0"/>
                      </a:rPr>
                      <m:t>𝑚</m:t>
                    </m:r>
                  </m:oMath>
                </a14:m>
                <a:r>
                  <a:rPr lang="en-US" altLang="zh-TW" sz="2700" dirty="0" smtClean="0">
                    <a:latin typeface="Times New Roman" panose="02020603050405020304" pitchFamily="18" charset="0"/>
                    <a:cs typeface="Times New Roman" panose="02020603050405020304" pitchFamily="18" charset="0"/>
                  </a:rPr>
                  <a:t>, but doubles the cost of computing and extracting the alignment. This paper introduces the </a:t>
                </a:r>
                <a:r>
                  <a:rPr lang="en-US" altLang="zh-TW" sz="2700" dirty="0" err="1" smtClean="0">
                    <a:latin typeface="Times New Roman" panose="02020603050405020304" pitchFamily="18" charset="0"/>
                    <a:cs typeface="Times New Roman" panose="02020603050405020304" pitchFamily="18" charset="0"/>
                  </a:rPr>
                  <a:t>FastLSA</a:t>
                </a:r>
                <a:r>
                  <a:rPr lang="en-US" altLang="zh-TW" sz="2700" dirty="0" smtClean="0">
                    <a:latin typeface="Times New Roman" panose="02020603050405020304" pitchFamily="18" charset="0"/>
                    <a:cs typeface="Times New Roman" panose="02020603050405020304" pitchFamily="18" charset="0"/>
                  </a:rPr>
                  <a:t> algorithm that is adaptive to the amount of space available. At one extreme, it users linear space, while at the other it uses quadratic space.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5"/>
                <a:ext cx="7886700" cy="4713720"/>
              </a:xfrm>
              <a:blipFill rotWithShape="0">
                <a:blip r:embed="rId2"/>
                <a:stretch>
                  <a:fillRect l="-1468" r="-14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3</a:t>
            </a:fld>
            <a:endParaRPr lang="zh-TW" altLang="en-US"/>
          </a:p>
        </p:txBody>
      </p:sp>
    </p:spTree>
    <p:extLst>
      <p:ext uri="{BB962C8B-B14F-4D97-AF65-F5344CB8AC3E}">
        <p14:creationId xmlns:p14="http://schemas.microsoft.com/office/powerpoint/2010/main" val="4010467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Abstract(3/3)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Based on the memory resources available, the algorithm saves the maximum amount of information to achieve the lowest extraction cost. The algorithm is shown to be analytically and experimentally superior to Hirschberg’s algorithm.</a:t>
            </a: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4</a:t>
            </a:fld>
            <a:endParaRPr lang="zh-TW" altLang="en-US"/>
          </a:p>
        </p:txBody>
      </p:sp>
    </p:spTree>
    <p:extLst>
      <p:ext uri="{BB962C8B-B14F-4D97-AF65-F5344CB8AC3E}">
        <p14:creationId xmlns:p14="http://schemas.microsoft.com/office/powerpoint/2010/main" val="15494355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Hirschberg’s algorithm</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latin typeface="Times New Roman" panose="02020603050405020304" pitchFamily="18" charset="0"/>
                    <a:cs typeface="Times New Roman" panose="02020603050405020304" pitchFamily="18" charset="0"/>
                  </a:rPr>
                  <a:t>Time complexity</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d>
                      <m:dPr>
                        <m:ctrlPr>
                          <a:rPr lang="en-US" altLang="zh-TW" i="1" dirty="0" smtClean="0">
                            <a:latin typeface="Cambria Math" panose="02040503050406030204" pitchFamily="18" charset="0"/>
                            <a:cs typeface="Times New Roman" panose="02020603050405020304" pitchFamily="18" charset="0"/>
                          </a:rPr>
                        </m:ctrlPr>
                      </m:dPr>
                      <m:e>
                        <m:sSup>
                          <m:sSupPr>
                            <m:ctrlPr>
                              <a:rPr lang="en-US" altLang="zh-TW" i="1" dirty="0" smtClean="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𝑛</m:t>
                            </m:r>
                          </m:e>
                          <m:sup>
                            <m:r>
                              <a:rPr lang="en-US" altLang="zh-TW" b="0" i="1" dirty="0" smtClean="0">
                                <a:latin typeface="Cambria Math" panose="02040503050406030204" pitchFamily="18" charset="0"/>
                                <a:cs typeface="Times New Roman" panose="02020603050405020304" pitchFamily="18" charset="0"/>
                              </a:rPr>
                              <m:t>2</m:t>
                            </m:r>
                          </m:sup>
                        </m:sSup>
                      </m:e>
                    </m:d>
                  </m:oMath>
                </a14:m>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Approximately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𝑚</m:t>
                    </m:r>
                    <m:r>
                      <a:rPr lang="en-US" altLang="zh-TW"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𝑛</m:t>
                    </m:r>
                    <m:r>
                      <a:rPr lang="en-US" altLang="zh-TW" i="1" dirty="0">
                        <a:latin typeface="Cambria Math" panose="02040503050406030204" pitchFamily="18" charset="0"/>
                        <a:cs typeface="Times New Roman" panose="02020603050405020304" pitchFamily="18" charset="0"/>
                      </a:rPr>
                      <m:t> </m:t>
                    </m:r>
                  </m:oMath>
                </a14:m>
                <a:r>
                  <a:rPr lang="en-US" altLang="zh-TW" dirty="0" smtClean="0">
                    <a:latin typeface="Times New Roman" panose="02020603050405020304" pitchFamily="18" charset="0"/>
                    <a:cs typeface="Times New Roman" panose="02020603050405020304" pitchFamily="18" charset="0"/>
                  </a:rPr>
                  <a:t> re-computations </a:t>
                </a:r>
                <a:r>
                  <a:rPr lang="en-US" altLang="zh-TW" dirty="0">
                    <a:latin typeface="Times New Roman" panose="02020603050405020304" pitchFamily="18" charset="0"/>
                    <a:cs typeface="Times New Roman" panose="02020603050405020304" pitchFamily="18" charset="0"/>
                  </a:rPr>
                  <a:t>need to be </a:t>
                </a:r>
                <a:r>
                  <a:rPr lang="en-US" altLang="zh-TW" dirty="0" smtClean="0">
                    <a:latin typeface="Times New Roman" panose="02020603050405020304" pitchFamily="18" charset="0"/>
                    <a:cs typeface="Times New Roman" panose="02020603050405020304" pitchFamily="18" charset="0"/>
                  </a:rPr>
                  <a:t>done.</a:t>
                </a:r>
              </a:p>
              <a:p>
                <a:r>
                  <a:rPr lang="en-US" altLang="zh-TW" dirty="0" smtClean="0">
                    <a:latin typeface="Times New Roman" panose="02020603050405020304" pitchFamily="18" charset="0"/>
                    <a:cs typeface="Times New Roman" panose="02020603050405020304" pitchFamily="18" charset="0"/>
                  </a:rPr>
                  <a:t>Space complexity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d>
                      <m:dPr>
                        <m:ctrlPr>
                          <a:rPr lang="en-US" altLang="zh-TW" i="1" dirty="0" smtClean="0">
                            <a:latin typeface="Cambria Math" panose="02040503050406030204" pitchFamily="18" charset="0"/>
                            <a:cs typeface="Times New Roman" panose="02020603050405020304" pitchFamily="18" charset="0"/>
                          </a:rPr>
                        </m:ctrlPr>
                      </m:dPr>
                      <m:e>
                        <m:r>
                          <a:rPr lang="en-US" altLang="zh-TW" i="1" dirty="0" smtClean="0">
                            <a:latin typeface="Cambria Math" panose="02040503050406030204" pitchFamily="18" charset="0"/>
                            <a:cs typeface="Times New Roman" panose="02020603050405020304" pitchFamily="18" charset="0"/>
                          </a:rPr>
                          <m:t>𝑛</m:t>
                        </m:r>
                      </m:e>
                    </m:d>
                  </m:oMath>
                </a14:m>
                <a:endParaRPr lang="en-US" altLang="zh-TW" dirty="0" smtClean="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381" r="-15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5</a:t>
            </a:fld>
            <a:endParaRPr lang="zh-TW" altLang="en-US"/>
          </a:p>
        </p:txBody>
      </p:sp>
      <p:pic>
        <p:nvPicPr>
          <p:cNvPr id="5" name="圖片 4"/>
          <p:cNvPicPr>
            <a:picLocks noChangeAspect="1"/>
          </p:cNvPicPr>
          <p:nvPr/>
        </p:nvPicPr>
        <p:blipFill>
          <a:blip r:embed="rId3"/>
          <a:stretch>
            <a:fillRect/>
          </a:stretch>
        </p:blipFill>
        <p:spPr>
          <a:xfrm>
            <a:off x="4913746" y="2789382"/>
            <a:ext cx="3811047" cy="3777420"/>
          </a:xfrm>
          <a:prstGeom prst="rect">
            <a:avLst/>
          </a:prstGeom>
        </p:spPr>
      </p:pic>
      <p:cxnSp>
        <p:nvCxnSpPr>
          <p:cNvPr id="18" name="直線接點 17"/>
          <p:cNvCxnSpPr>
            <a:stCxn id="5" idx="1"/>
            <a:endCxn id="5" idx="3"/>
          </p:cNvCxnSpPr>
          <p:nvPr/>
        </p:nvCxnSpPr>
        <p:spPr>
          <a:xfrm>
            <a:off x="4913746" y="4678092"/>
            <a:ext cx="3811047"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flipV="1">
            <a:off x="6363855" y="5507985"/>
            <a:ext cx="2290618" cy="2"/>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4913746" y="3792784"/>
            <a:ext cx="1905523" cy="27708"/>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6863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Changes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latin typeface="Times New Roman" panose="02020603050405020304" pitchFamily="18" charset="0"/>
                    <a:cs typeface="Times New Roman" panose="02020603050405020304" pitchFamily="18" charset="0"/>
                  </a:rPr>
                  <a:t>Divide </a:t>
                </a:r>
                <a:r>
                  <a:rPr lang="en-US" altLang="zh-TW" dirty="0">
                    <a:latin typeface="Times New Roman" panose="02020603050405020304" pitchFamily="18" charset="0"/>
                    <a:cs typeface="Times New Roman" panose="02020603050405020304" pitchFamily="18" charset="0"/>
                  </a:rPr>
                  <a:t>both </a:t>
                </a:r>
                <a:r>
                  <a:rPr lang="en-US" altLang="zh-TW" dirty="0" smtClean="0">
                    <a:latin typeface="Times New Roman" panose="02020603050405020304" pitchFamily="18" charset="0"/>
                    <a:cs typeface="Times New Roman" panose="02020603050405020304" pitchFamily="18" charset="0"/>
                  </a:rPr>
                  <a:t>sequences.</a:t>
                </a:r>
              </a:p>
              <a:p>
                <a:r>
                  <a:rPr lang="en-US" altLang="zh-TW" dirty="0" smtClean="0">
                    <a:latin typeface="Times New Roman" panose="02020603050405020304" pitchFamily="18" charset="0"/>
                    <a:cs typeface="Times New Roman" panose="02020603050405020304" pitchFamily="18" charset="0"/>
                  </a:rPr>
                  <a:t>Divide each </a:t>
                </a:r>
                <a:r>
                  <a:rPr lang="en-US" altLang="zh-TW" dirty="0">
                    <a:latin typeface="Times New Roman" panose="02020603050405020304" pitchFamily="18" charset="0"/>
                    <a:cs typeface="Times New Roman" panose="02020603050405020304" pitchFamily="18" charset="0"/>
                  </a:rPr>
                  <a:t>sequence into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𝑘</m:t>
                    </m:r>
                  </m:oMath>
                </a14:m>
                <a:r>
                  <a:rPr lang="en-US" altLang="zh-TW" dirty="0" smtClean="0">
                    <a:latin typeface="Times New Roman" panose="02020603050405020304" pitchFamily="18" charset="0"/>
                    <a:cs typeface="Times New Roman" panose="02020603050405020304" pitchFamily="18" charset="0"/>
                  </a:rPr>
                  <a:t> parts.</a:t>
                </a:r>
              </a:p>
              <a:p>
                <a:r>
                  <a:rPr lang="en-US" altLang="zh-TW" dirty="0" smtClean="0">
                    <a:latin typeface="Times New Roman" panose="02020603050405020304" pitchFamily="18" charset="0"/>
                    <a:cs typeface="Times New Roman" panose="02020603050405020304" pitchFamily="18" charset="0"/>
                  </a:rPr>
                  <a:t>Store </a:t>
                </a:r>
                <a:r>
                  <a:rPr lang="en-US" altLang="zh-TW" dirty="0">
                    <a:latin typeface="Times New Roman" panose="02020603050405020304" pitchFamily="18" charset="0"/>
                    <a:cs typeface="Times New Roman" panose="02020603050405020304" pitchFamily="18" charset="0"/>
                  </a:rPr>
                  <a:t>some specific rows and </a:t>
                </a:r>
                <a:r>
                  <a:rPr lang="en-US" altLang="zh-TW" dirty="0" smtClean="0">
                    <a:latin typeface="Times New Roman" panose="02020603050405020304" pitchFamily="18" charset="0"/>
                    <a:cs typeface="Times New Roman" panose="02020603050405020304" pitchFamily="18" charset="0"/>
                  </a:rPr>
                  <a:t>columns to </a:t>
                </a:r>
                <a:r>
                  <a:rPr lang="en-US" altLang="zh-TW" dirty="0">
                    <a:latin typeface="Times New Roman" panose="02020603050405020304" pitchFamily="18" charset="0"/>
                    <a:cs typeface="Times New Roman" panose="02020603050405020304" pitchFamily="18" charset="0"/>
                  </a:rPr>
                  <a:t>reduce the </a:t>
                </a:r>
                <a:r>
                  <a:rPr lang="en-US" altLang="zh-TW" dirty="0" smtClean="0">
                    <a:latin typeface="Times New Roman" panose="02020603050405020304" pitchFamily="18" charset="0"/>
                    <a:cs typeface="Times New Roman" panose="02020603050405020304" pitchFamily="18" charset="0"/>
                  </a:rPr>
                  <a:t>re-computations</a:t>
                </a:r>
                <a:r>
                  <a:rPr lang="en-US" altLang="zh-TW" dirty="0">
                    <a:latin typeface="Times New Roman" panose="02020603050405020304" pitchFamily="18" charset="0"/>
                    <a:cs typeface="Times New Roman" panose="02020603050405020304" pitchFamily="18" charset="0"/>
                  </a:rPr>
                  <a:t>.</a:t>
                </a: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381" r="-154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6</a:t>
            </a:fld>
            <a:endParaRPr lang="zh-TW" altLang="en-US"/>
          </a:p>
        </p:txBody>
      </p:sp>
    </p:spTree>
    <p:extLst>
      <p:ext uri="{BB962C8B-B14F-4D97-AF65-F5344CB8AC3E}">
        <p14:creationId xmlns:p14="http://schemas.microsoft.com/office/powerpoint/2010/main" val="40478433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Fast Linear-Space Alignment(1/8)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7</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805223663"/>
              </p:ext>
            </p:extLst>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951634"/>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T w="38100" cap="flat" cmpd="sng" algn="ctr">
                      <a:solidFill>
                        <a:srgbClr val="FF0000"/>
                      </a:solidFill>
                      <a:prstDash val="solid"/>
                      <a:round/>
                      <a:headEnd type="none" w="med" len="med"/>
                      <a:tailEnd type="none" w="med" len="med"/>
                    </a:lnT>
                  </a:tcPr>
                </a:tc>
                <a:tc>
                  <a:txBody>
                    <a:bodyPr/>
                    <a:lstStyle/>
                    <a:p>
                      <a:endParaRPr lang="zh-TW" altLang="en-US" dirty="0"/>
                    </a:p>
                  </a:txBody>
                  <a:tcPr>
                    <a:lnT w="38100" cap="flat" cmpd="sng" algn="ctr">
                      <a:solidFill>
                        <a:srgbClr val="FF0000"/>
                      </a:solidFill>
                      <a:prstDash val="solid"/>
                      <a:round/>
                      <a:headEnd type="none" w="med" len="med"/>
                      <a:tailEnd type="none" w="med" len="med"/>
                    </a:lnT>
                  </a:tcPr>
                </a:tc>
                <a:tc>
                  <a:txBody>
                    <a:bodyPr/>
                    <a:lstStyle/>
                    <a:p>
                      <a:endParaRPr lang="zh-TW" altLang="en-US" dirty="0"/>
                    </a:p>
                  </a:txBody>
                  <a:tcPr>
                    <a:lnT w="38100" cap="flat" cmpd="sng" algn="ctr">
                      <a:solidFill>
                        <a:srgbClr val="FF0000"/>
                      </a:solidFill>
                      <a:prstDash val="solid"/>
                      <a:round/>
                      <a:headEnd type="none" w="med" len="med"/>
                      <a:tailEnd type="none" w="med" len="med"/>
                    </a:lnT>
                  </a:tcPr>
                </a:tc>
                <a:tc>
                  <a:txBody>
                    <a:bodyPr/>
                    <a:lstStyle/>
                    <a:p>
                      <a:endParaRPr lang="zh-TW" altLang="en-US" dirty="0"/>
                    </a:p>
                  </a:txBody>
                  <a:tcPr>
                    <a:lnT w="38100" cap="flat" cmpd="sng" algn="ctr">
                      <a:solidFill>
                        <a:srgbClr val="FF0000"/>
                      </a:solidFill>
                      <a:prstDash val="solid"/>
                      <a:round/>
                      <a:headEnd type="none" w="med" len="med"/>
                      <a:tailEnd type="none" w="med" len="med"/>
                    </a:lnT>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r>
              <a:tr h="822325">
                <a:tc>
                  <a:txBody>
                    <a:bodyPr/>
                    <a:lstStyle/>
                    <a:p>
                      <a:endParaRPr lang="zh-TW" altLang="en-US"/>
                    </a:p>
                  </a:txBody>
                  <a:tcPr>
                    <a:lnL w="38100" cap="flat" cmpd="sng" algn="ctr">
                      <a:solidFill>
                        <a:srgbClr val="FF0000"/>
                      </a:solidFill>
                      <a:prstDash val="solid"/>
                      <a:round/>
                      <a:headEnd type="none" w="med" len="med"/>
                      <a:tailEnd type="none" w="med" len="med"/>
                    </a:lnL>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bl>
          </a:graphicData>
        </a:graphic>
      </p:graphicFrame>
      <p:cxnSp>
        <p:nvCxnSpPr>
          <p:cNvPr id="8" name="直線單箭頭接點 7"/>
          <p:cNvCxnSpPr/>
          <p:nvPr/>
        </p:nvCxnSpPr>
        <p:spPr>
          <a:xfrm>
            <a:off x="2566554" y="1546588"/>
            <a:ext cx="308264" cy="288202"/>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970395" y="1978891"/>
            <a:ext cx="925253" cy="523220"/>
          </a:xfrm>
          <a:prstGeom prst="rect">
            <a:avLst/>
          </a:prstGeom>
          <a:noFill/>
        </p:spPr>
        <p:txBody>
          <a:bodyPr wrap="none" rtlCol="0">
            <a:spAutoFit/>
          </a:bodyPr>
          <a:lstStyle/>
          <a:p>
            <a:r>
              <a:rPr lang="en-US" altLang="zh-TW" sz="2800" dirty="0" smtClean="0">
                <a:latin typeface="Times New Roman" panose="02020603050405020304" pitchFamily="18" charset="0"/>
                <a:cs typeface="Times New Roman" panose="02020603050405020304" pitchFamily="18" charset="0"/>
              </a:rPr>
              <a:t>k </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4</a:t>
            </a:r>
            <a:endParaRPr lang="zh-TW" altLang="en-US" sz="2800" dirty="0"/>
          </a:p>
        </p:txBody>
      </p:sp>
    </p:spTree>
    <p:extLst>
      <p:ext uri="{BB962C8B-B14F-4D97-AF65-F5344CB8AC3E}">
        <p14:creationId xmlns:p14="http://schemas.microsoft.com/office/powerpoint/2010/main" val="3083134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(2/8)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8</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3221897711"/>
              </p:ext>
            </p:extLst>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951634"/>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7" name="直線單箭頭接點 6"/>
          <p:cNvCxnSpPr/>
          <p:nvPr/>
        </p:nvCxnSpPr>
        <p:spPr>
          <a:xfrm>
            <a:off x="2566554" y="1546588"/>
            <a:ext cx="308264" cy="288202"/>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6271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(3/8)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9</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2207135284"/>
              </p:ext>
            </p:extLst>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951634"/>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18578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(4/8)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10</a:t>
            </a:fld>
            <a:endParaRPr lang="zh-TW" altLang="en-US"/>
          </a:p>
        </p:txBody>
      </p:sp>
      <p:graphicFrame>
        <p:nvGraphicFramePr>
          <p:cNvPr id="5" name="表格 4"/>
          <p:cNvGraphicFramePr>
            <a:graphicFrameLocks noGrp="1"/>
          </p:cNvGraphicFramePr>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951634"/>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flipH="1" flipV="1">
            <a:off x="6286500" y="4436918"/>
            <a:ext cx="529938" cy="831273"/>
          </a:xfrm>
          <a:prstGeom prst="line">
            <a:avLst/>
          </a:prstGeom>
          <a:ln w="635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2062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(5/8)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11</a:t>
            </a:fld>
            <a:endParaRPr lang="zh-TW" altLang="en-US"/>
          </a:p>
        </p:txBody>
      </p:sp>
      <p:graphicFrame>
        <p:nvGraphicFramePr>
          <p:cNvPr id="5" name="表格 4"/>
          <p:cNvGraphicFramePr>
            <a:graphicFrameLocks noGrp="1"/>
          </p:cNvGraphicFramePr>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400916"/>
                <a:gridCol w="550718"/>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TW" altLang="en-US"/>
                    </a:p>
                  </a:txBody>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H="1" flipV="1">
            <a:off x="6286500" y="4436918"/>
            <a:ext cx="529938" cy="831273"/>
          </a:xfrm>
          <a:prstGeom prst="line">
            <a:avLst/>
          </a:prstGeom>
          <a:ln w="635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2254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(6/8)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12</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236518902"/>
              </p:ext>
            </p:extLst>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400916"/>
                <a:gridCol w="550718"/>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TW" altLang="en-US"/>
                    </a:p>
                  </a:txBody>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H="1" flipV="1">
            <a:off x="5860473" y="4148716"/>
            <a:ext cx="426027" cy="306099"/>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flipH="1" flipV="1">
            <a:off x="6286500" y="4436918"/>
            <a:ext cx="529938" cy="831273"/>
          </a:xfrm>
          <a:prstGeom prst="line">
            <a:avLst/>
          </a:prstGeom>
          <a:ln w="635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3481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(7/8)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13</a:t>
            </a:fld>
            <a:endParaRPr lang="zh-TW" altLang="en-US"/>
          </a:p>
        </p:txBody>
      </p:sp>
      <p:graphicFrame>
        <p:nvGraphicFramePr>
          <p:cNvPr id="5" name="表格 4"/>
          <p:cNvGraphicFramePr>
            <a:graphicFrameLocks noGrp="1"/>
          </p:cNvGraphicFramePr>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400916"/>
                <a:gridCol w="550718"/>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TW" altLang="en-US"/>
                    </a:p>
                  </a:txBody>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H="1" flipV="1">
            <a:off x="5860473" y="4148716"/>
            <a:ext cx="426027" cy="306099"/>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flipV="1">
            <a:off x="4913168" y="3623541"/>
            <a:ext cx="947304" cy="525177"/>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flipV="1">
            <a:off x="4655127" y="2801215"/>
            <a:ext cx="258041" cy="822327"/>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H="1" flipV="1">
            <a:off x="3969327" y="2513013"/>
            <a:ext cx="685799" cy="288205"/>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3009898" y="1978891"/>
            <a:ext cx="959428" cy="534123"/>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flipH="1" flipV="1">
            <a:off x="6286500" y="4436918"/>
            <a:ext cx="529938" cy="831273"/>
          </a:xfrm>
          <a:prstGeom prst="line">
            <a:avLst/>
          </a:prstGeom>
          <a:ln w="635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25" name="圖片 24"/>
          <p:cNvPicPr>
            <a:picLocks noChangeAspect="1"/>
          </p:cNvPicPr>
          <p:nvPr/>
        </p:nvPicPr>
        <p:blipFill>
          <a:blip r:embed="rId2"/>
          <a:stretch>
            <a:fillRect/>
          </a:stretch>
        </p:blipFill>
        <p:spPr>
          <a:xfrm>
            <a:off x="2834119" y="1856579"/>
            <a:ext cx="4191000" cy="3590925"/>
          </a:xfrm>
          <a:prstGeom prst="rect">
            <a:avLst/>
          </a:prstGeom>
        </p:spPr>
      </p:pic>
    </p:spTree>
    <p:extLst>
      <p:ext uri="{BB962C8B-B14F-4D97-AF65-F5344CB8AC3E}">
        <p14:creationId xmlns:p14="http://schemas.microsoft.com/office/powerpoint/2010/main" val="2269549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(8/8)</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14</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2334300723"/>
              </p:ext>
            </p:extLst>
          </p:nvPr>
        </p:nvGraphicFramePr>
        <p:xfrm>
          <a:off x="3009900" y="1978891"/>
          <a:ext cx="3806536" cy="3289300"/>
        </p:xfrm>
        <a:graphic>
          <a:graphicData uri="http://schemas.openxmlformats.org/drawingml/2006/table">
            <a:tbl>
              <a:tblPr firstRow="1" bandRow="1">
                <a:tableStyleId>{5940675A-B579-460E-94D1-54222C63F5DA}</a:tableStyleId>
              </a:tblPr>
              <a:tblGrid>
                <a:gridCol w="951634"/>
                <a:gridCol w="951634"/>
                <a:gridCol w="951634"/>
                <a:gridCol w="400916"/>
                <a:gridCol w="550718"/>
              </a:tblGrid>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gridSpan="2">
                  <a:txBody>
                    <a:bodyPr/>
                    <a:lstStyle/>
                    <a:p>
                      <a:endParaRPr lang="zh-TW" altLang="en-US"/>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hMerge="1">
                  <a:txBody>
                    <a:bodyPr/>
                    <a:lstStyle/>
                    <a:p>
                      <a:endParaRPr lang="zh-TW" altLang="en-US"/>
                    </a:p>
                  </a:txBody>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bg1">
                        <a:lumMod val="75000"/>
                      </a:schemeClr>
                    </a:solidFill>
                  </a:tcPr>
                </a:tc>
                <a:tc>
                  <a:txBody>
                    <a:bodyPr/>
                    <a:lstStyle/>
                    <a:p>
                      <a:endParaRPr lang="zh-TW" altLang="en-US"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822325">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zh-TW" altLang="en-US" dirty="0"/>
                    </a:p>
                  </a:txBody>
                  <a:tcP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TW" altLang="en-US"/>
                    </a:p>
                  </a:txBody>
                  <a:tcPr/>
                </a:tc>
              </a:tr>
            </a:tbl>
          </a:graphicData>
        </a:graphic>
      </p:graphicFrame>
      <p:cxnSp>
        <p:nvCxnSpPr>
          <p:cNvPr id="6" name="直線單箭頭接點 5"/>
          <p:cNvCxnSpPr/>
          <p:nvPr/>
        </p:nvCxnSpPr>
        <p:spPr>
          <a:xfrm flipH="1" flipV="1">
            <a:off x="6949787" y="5428454"/>
            <a:ext cx="251113" cy="25587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H="1" flipV="1">
            <a:off x="5860473" y="4148716"/>
            <a:ext cx="426027" cy="306099"/>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flipV="1">
            <a:off x="4913168" y="3623541"/>
            <a:ext cx="947304" cy="525177"/>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flipV="1">
            <a:off x="4655127" y="2801215"/>
            <a:ext cx="258041" cy="822327"/>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H="1" flipV="1">
            <a:off x="3969327" y="2513013"/>
            <a:ext cx="685799" cy="288205"/>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3009898" y="1978891"/>
            <a:ext cx="959428" cy="534123"/>
          </a:xfrm>
          <a:prstGeom prst="line">
            <a:avLst/>
          </a:prstGeom>
          <a:ln w="635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flipH="1" flipV="1">
            <a:off x="6286500" y="4436918"/>
            <a:ext cx="529938" cy="831273"/>
          </a:xfrm>
          <a:prstGeom prst="line">
            <a:avLst/>
          </a:prstGeom>
          <a:ln w="635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25" name="圖片 24"/>
          <p:cNvPicPr>
            <a:picLocks noChangeAspect="1"/>
          </p:cNvPicPr>
          <p:nvPr/>
        </p:nvPicPr>
        <p:blipFill>
          <a:blip r:embed="rId2"/>
          <a:stretch>
            <a:fillRect/>
          </a:stretch>
        </p:blipFill>
        <p:spPr>
          <a:xfrm>
            <a:off x="2834119" y="1856579"/>
            <a:ext cx="4191000" cy="3590925"/>
          </a:xfrm>
          <a:prstGeom prst="rect">
            <a:avLst/>
          </a:prstGeom>
        </p:spPr>
      </p:pic>
      <p:cxnSp>
        <p:nvCxnSpPr>
          <p:cNvPr id="28" name="直線單箭頭接點 27"/>
          <p:cNvCxnSpPr/>
          <p:nvPr/>
        </p:nvCxnSpPr>
        <p:spPr>
          <a:xfrm flipH="1" flipV="1">
            <a:off x="2755320" y="3656767"/>
            <a:ext cx="1946566" cy="265329"/>
          </a:xfrm>
          <a:prstGeom prst="straightConnector1">
            <a:avLst/>
          </a:prstGeom>
          <a:ln w="635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61" name="圖片 60"/>
          <p:cNvPicPr>
            <a:picLocks noChangeAspect="1"/>
          </p:cNvPicPr>
          <p:nvPr/>
        </p:nvPicPr>
        <p:blipFill>
          <a:blip r:embed="rId3"/>
          <a:stretch>
            <a:fillRect/>
          </a:stretch>
        </p:blipFill>
        <p:spPr>
          <a:xfrm>
            <a:off x="573449" y="2423515"/>
            <a:ext cx="2121910" cy="2013403"/>
          </a:xfrm>
          <a:prstGeom prst="rect">
            <a:avLst/>
          </a:prstGeom>
        </p:spPr>
      </p:pic>
    </p:spTree>
    <p:extLst>
      <p:ext uri="{BB962C8B-B14F-4D97-AF65-F5344CB8AC3E}">
        <p14:creationId xmlns:p14="http://schemas.microsoft.com/office/powerpoint/2010/main" val="1459014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FastLSA</a:t>
            </a:r>
            <a:r>
              <a:rPr lang="en-US" altLang="zh-TW" dirty="0" smtClean="0">
                <a:latin typeface="Times New Roman" panose="02020603050405020304" pitchFamily="18" charset="0"/>
                <a:cs typeface="Times New Roman" panose="02020603050405020304" pitchFamily="18" charset="0"/>
              </a:rPr>
              <a:t> Conclusion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latin typeface="Times New Roman" panose="02020603050405020304" pitchFamily="18" charset="0"/>
                    <a:cs typeface="Times New Roman" panose="02020603050405020304" pitchFamily="18" charset="0"/>
                  </a:rPr>
                  <a:t>Space : </a:t>
                </a:r>
                <a14:m>
                  <m:oMath xmlns:m="http://schemas.openxmlformats.org/officeDocument/2006/math">
                    <m:r>
                      <a:rPr lang="en-US" altLang="zh-TW" i="1" dirty="0" smtClean="0">
                        <a:latin typeface="Cambria Math" panose="02040503050406030204" pitchFamily="18" charset="0"/>
                      </a:rPr>
                      <m:t>2</m:t>
                    </m:r>
                    <m:r>
                      <a:rPr lang="en-US" altLang="zh-TW" i="1" dirty="0" smtClean="0">
                        <a:latin typeface="Cambria Math" panose="02040503050406030204" pitchFamily="18" charset="0"/>
                      </a:rPr>
                      <m:t>𝑘𝑛</m:t>
                    </m:r>
                  </m:oMath>
                </a14:m>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Expected number of values recomputed :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𝑛</m:t>
                        </m:r>
                      </m:num>
                      <m:den>
                        <m:r>
                          <a:rPr lang="en-US" altLang="zh-TW" b="0" i="1" smtClean="0">
                            <a:latin typeface="Cambria Math" panose="02040503050406030204" pitchFamily="18" charset="0"/>
                          </a:rPr>
                          <m:t>𝑘</m:t>
                        </m:r>
                      </m:den>
                    </m:f>
                  </m:oMath>
                </a14:m>
                <a:endParaRPr lang="en-US" altLang="zh-TW" dirty="0" smtClean="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3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15</a:t>
            </a:fld>
            <a:endParaRPr lang="zh-TW" altLang="en-US"/>
          </a:p>
        </p:txBody>
      </p:sp>
    </p:spTree>
    <p:extLst>
      <p:ext uri="{BB962C8B-B14F-4D97-AF65-F5344CB8AC3E}">
        <p14:creationId xmlns:p14="http://schemas.microsoft.com/office/powerpoint/2010/main" val="5102531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16</a:t>
            </a:fld>
            <a:endParaRPr lang="zh-TW" altLang="en-US"/>
          </a:p>
        </p:txBody>
      </p:sp>
      <p:pic>
        <p:nvPicPr>
          <p:cNvPr id="6" name="圖片 5"/>
          <p:cNvPicPr>
            <a:picLocks noChangeAspect="1"/>
          </p:cNvPicPr>
          <p:nvPr/>
        </p:nvPicPr>
        <p:blipFill>
          <a:blip r:embed="rId2"/>
          <a:stretch>
            <a:fillRect/>
          </a:stretch>
        </p:blipFill>
        <p:spPr>
          <a:xfrm>
            <a:off x="1069552" y="2207492"/>
            <a:ext cx="7017318" cy="3399940"/>
          </a:xfrm>
          <a:prstGeom prst="rect">
            <a:avLst/>
          </a:prstGeom>
        </p:spPr>
      </p:pic>
      <p:sp>
        <p:nvSpPr>
          <p:cNvPr id="7" name="文字方塊 6"/>
          <p:cNvSpPr txBox="1"/>
          <p:nvPr/>
        </p:nvSpPr>
        <p:spPr>
          <a:xfrm>
            <a:off x="2750924" y="5626864"/>
            <a:ext cx="3642151"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Number of </a:t>
            </a:r>
            <a:r>
              <a:rPr lang="en-US" altLang="zh-TW" sz="2400" dirty="0" err="1" smtClean="0">
                <a:latin typeface="Times New Roman" panose="02020603050405020304" pitchFamily="18" charset="0"/>
                <a:cs typeface="Times New Roman" panose="02020603050405020304" pitchFamily="18" charset="0"/>
              </a:rPr>
              <a:t>Recomputations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2087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17</a:t>
            </a:fld>
            <a:endParaRPr lang="zh-TW" altLang="en-US"/>
          </a:p>
        </p:txBody>
      </p:sp>
      <p:pic>
        <p:nvPicPr>
          <p:cNvPr id="6" name="圖片 5"/>
          <p:cNvPicPr>
            <a:picLocks noChangeAspect="1"/>
          </p:cNvPicPr>
          <p:nvPr/>
        </p:nvPicPr>
        <p:blipFill>
          <a:blip r:embed="rId2"/>
          <a:stretch>
            <a:fillRect/>
          </a:stretch>
        </p:blipFill>
        <p:spPr>
          <a:xfrm>
            <a:off x="1445058" y="2263344"/>
            <a:ext cx="6253884" cy="3030051"/>
          </a:xfrm>
          <a:prstGeom prst="rect">
            <a:avLst/>
          </a:prstGeom>
        </p:spPr>
      </p:pic>
      <p:pic>
        <p:nvPicPr>
          <p:cNvPr id="3" name="圖片 2"/>
          <p:cNvPicPr>
            <a:picLocks noChangeAspect="1"/>
          </p:cNvPicPr>
          <p:nvPr/>
        </p:nvPicPr>
        <p:blipFill>
          <a:blip r:embed="rId3"/>
          <a:stretch>
            <a:fillRect/>
          </a:stretch>
        </p:blipFill>
        <p:spPr>
          <a:xfrm>
            <a:off x="1166812" y="2068631"/>
            <a:ext cx="6810375" cy="3419475"/>
          </a:xfrm>
          <a:prstGeom prst="rect">
            <a:avLst/>
          </a:prstGeom>
        </p:spPr>
      </p:pic>
      <p:sp>
        <p:nvSpPr>
          <p:cNvPr id="7" name="文字方塊 6"/>
          <p:cNvSpPr txBox="1"/>
          <p:nvPr/>
        </p:nvSpPr>
        <p:spPr>
          <a:xfrm>
            <a:off x="3502828" y="5488106"/>
            <a:ext cx="2138342"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Execution Time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43355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8417</TotalTime>
  <Words>315</Words>
  <Application>Microsoft Office PowerPoint</Application>
  <PresentationFormat>如螢幕大小 (4:3)</PresentationFormat>
  <Paragraphs>52</Paragraphs>
  <Slides>17</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17</vt:i4>
      </vt:variant>
    </vt:vector>
  </HeadingPairs>
  <TitlesOfParts>
    <vt:vector size="26" baseType="lpstr">
      <vt:lpstr>Arial Unicode MS</vt:lpstr>
      <vt:lpstr>KaiTi</vt:lpstr>
      <vt:lpstr>新細明體</vt:lpstr>
      <vt:lpstr>Arial</vt:lpstr>
      <vt:lpstr>Calibri</vt:lpstr>
      <vt:lpstr>Calibri Light</vt:lpstr>
      <vt:lpstr>Cambria Math</vt:lpstr>
      <vt:lpstr>Times New Roman</vt:lpstr>
      <vt:lpstr>Office 佈景主題</vt:lpstr>
      <vt:lpstr>PowerPoint 簡報</vt:lpstr>
      <vt:lpstr>Abstract(1/3)</vt:lpstr>
      <vt:lpstr>Abstract(2/3)</vt:lpstr>
      <vt:lpstr>Abstract(3/3)</vt:lpstr>
      <vt:lpstr>Hirschberg’s algorithm</vt:lpstr>
      <vt:lpstr>Changes</vt:lpstr>
      <vt:lpstr>Fast Linear-Space Alignment(1/8)</vt:lpstr>
      <vt:lpstr>FastLSA(2/8)</vt:lpstr>
      <vt:lpstr>FastLSA(3/8)</vt:lpstr>
      <vt:lpstr>FastLSA(4/8)</vt:lpstr>
      <vt:lpstr>FastLSA(5/8)</vt:lpstr>
      <vt:lpstr>FastLSA(6/8)</vt:lpstr>
      <vt:lpstr>FastLSA(7/8)</vt:lpstr>
      <vt:lpstr>FastLSA(8/8)</vt:lpstr>
      <vt:lpstr>FastLSA Conclusion</vt:lpstr>
      <vt:lpstr>Experimental Results</vt:lpstr>
      <vt:lpstr>Experimental Results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Bebe</cp:lastModifiedBy>
  <cp:revision>788</cp:revision>
  <dcterms:created xsi:type="dcterms:W3CDTF">2015-06-30T03:57:49Z</dcterms:created>
  <dcterms:modified xsi:type="dcterms:W3CDTF">2016-12-15T10:26:17Z</dcterms:modified>
</cp:coreProperties>
</file>