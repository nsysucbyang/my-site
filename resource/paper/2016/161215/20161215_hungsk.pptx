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5" r:id="rId8"/>
    <p:sldId id="261" r:id="rId9"/>
    <p:sldId id="262" r:id="rId10"/>
    <p:sldId id="263" r:id="rId11"/>
    <p:sldId id="266" r:id="rId12"/>
    <p:sldId id="267" r:id="rId13"/>
    <p:sldId id="268" r:id="rId14"/>
    <p:sldId id="269" r:id="rId15"/>
    <p:sldId id="270"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96" y="4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1592323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3365556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272579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4070937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581396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1806714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1356192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92629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642849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3448788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95A84ED-55E6-4378-BCB8-62525E224F4C}" type="datetimeFigureOut">
              <a:rPr lang="zh-TW" altLang="en-US" smtClean="0"/>
              <a:t>2016/12/15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1536005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5A84ED-55E6-4378-BCB8-62525E224F4C}" type="datetimeFigureOut">
              <a:rPr lang="zh-TW" altLang="en-US" smtClean="0"/>
              <a:t>2016/12/15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E8CB8-3A78-416C-9502-FAAFD989CAE3}" type="slidenum">
              <a:rPr lang="zh-TW" altLang="en-US" smtClean="0"/>
              <a:t>‹#›</a:t>
            </a:fld>
            <a:endParaRPr lang="zh-TW" altLang="en-US"/>
          </a:p>
        </p:txBody>
      </p:sp>
    </p:spTree>
    <p:extLst>
      <p:ext uri="{BB962C8B-B14F-4D97-AF65-F5344CB8AC3E}">
        <p14:creationId xmlns:p14="http://schemas.microsoft.com/office/powerpoint/2010/main" val="1291952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417468" y="394394"/>
            <a:ext cx="9144000" cy="1842779"/>
          </a:xfrm>
        </p:spPr>
        <p:txBody>
          <a:bodyPr/>
          <a:lstStyle/>
          <a:p>
            <a:r>
              <a:rPr lang="en-US" altLang="zh-TW" b="1" dirty="0"/>
              <a:t>Prototype selection for dissimilarity-based classifiers</a:t>
            </a:r>
            <a:endParaRPr lang="zh-TW" altLang="en-US" b="1" dirty="0"/>
          </a:p>
        </p:txBody>
      </p:sp>
      <p:sp>
        <p:nvSpPr>
          <p:cNvPr id="3" name="副標題 2"/>
          <p:cNvSpPr>
            <a:spLocks noGrp="1"/>
          </p:cNvSpPr>
          <p:nvPr>
            <p:ph type="subTitle" idx="1"/>
          </p:nvPr>
        </p:nvSpPr>
        <p:spPr>
          <a:xfrm>
            <a:off x="1417468" y="2396971"/>
            <a:ext cx="9144000" cy="3994951"/>
          </a:xfrm>
        </p:spPr>
        <p:txBody>
          <a:bodyPr/>
          <a:lstStyle/>
          <a:p>
            <a:endParaRPr lang="en-US" altLang="zh-TW" dirty="0"/>
          </a:p>
          <a:p>
            <a:r>
              <a:rPr lang="en-US" altLang="zh-TW" dirty="0" err="1"/>
              <a:t>Elzbieta</a:t>
            </a:r>
            <a:r>
              <a:rPr lang="en-US" altLang="zh-TW" dirty="0"/>
              <a:t> </a:t>
            </a:r>
            <a:r>
              <a:rPr lang="en-US" altLang="zh-TW" dirty="0" err="1"/>
              <a:t>PeRkalska</a:t>
            </a:r>
            <a:r>
              <a:rPr lang="en-US" altLang="zh-TW" dirty="0"/>
              <a:t>, </a:t>
            </a:r>
          </a:p>
          <a:p>
            <a:r>
              <a:rPr lang="en-US" altLang="zh-TW" dirty="0"/>
              <a:t>Robert P.W. </a:t>
            </a:r>
            <a:r>
              <a:rPr lang="en-US" altLang="zh-TW" dirty="0" err="1"/>
              <a:t>Duin</a:t>
            </a:r>
            <a:r>
              <a:rPr lang="en-US" altLang="zh-TW" dirty="0"/>
              <a:t>, </a:t>
            </a:r>
          </a:p>
          <a:p>
            <a:r>
              <a:rPr lang="en-US" altLang="zh-TW" dirty="0"/>
              <a:t>Pavel </a:t>
            </a:r>
            <a:r>
              <a:rPr lang="en-US" altLang="zh-TW" dirty="0" err="1"/>
              <a:t>Paclik</a:t>
            </a:r>
            <a:r>
              <a:rPr lang="en-US" altLang="zh-TW" dirty="0"/>
              <a:t>,</a:t>
            </a:r>
          </a:p>
          <a:p>
            <a:r>
              <a:rPr lang="en-US" altLang="zh-TW" dirty="0"/>
              <a:t>Pattern Recognition 39 (2006) 189 – 208</a:t>
            </a:r>
          </a:p>
          <a:p>
            <a:endParaRPr lang="en-US" altLang="zh-TW" dirty="0"/>
          </a:p>
          <a:p>
            <a:r>
              <a:rPr lang="en-US" altLang="zh-TW" dirty="0"/>
              <a:t>Presenter: Shu-Kai Hung</a:t>
            </a:r>
            <a:endParaRPr lang="zh-TW" altLang="en-US" dirty="0"/>
          </a:p>
          <a:p>
            <a:r>
              <a:rPr lang="en-US" altLang="zh-TW" dirty="0"/>
              <a:t>Date:2016/12/15</a:t>
            </a:r>
            <a:endParaRPr lang="zh-TW" altLang="en-US" dirty="0"/>
          </a:p>
        </p:txBody>
      </p:sp>
    </p:spTree>
    <p:extLst>
      <p:ext uri="{BB962C8B-B14F-4D97-AF65-F5344CB8AC3E}">
        <p14:creationId xmlns:p14="http://schemas.microsoft.com/office/powerpoint/2010/main" val="3700818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Abstract(1/2)</a:t>
            </a:r>
            <a:br>
              <a:rPr lang="en-US" altLang="zh-TW" b="1" dirty="0"/>
            </a:br>
            <a:endParaRPr lang="zh-TW" altLang="en-US" dirty="0"/>
          </a:p>
        </p:txBody>
      </p:sp>
      <p:sp>
        <p:nvSpPr>
          <p:cNvPr id="3" name="內容版面配置區 2"/>
          <p:cNvSpPr>
            <a:spLocks noGrp="1"/>
          </p:cNvSpPr>
          <p:nvPr>
            <p:ph idx="1"/>
          </p:nvPr>
        </p:nvSpPr>
        <p:spPr/>
        <p:txBody>
          <a:bodyPr>
            <a:normAutofit fontScale="92500" lnSpcReduction="10000"/>
          </a:bodyPr>
          <a:lstStyle/>
          <a:p>
            <a:pPr marL="0" indent="0">
              <a:buNone/>
            </a:pPr>
            <a:r>
              <a:rPr lang="en-US" altLang="zh-TW" dirty="0"/>
              <a:t>A conventional way to discriminate between objects represented by dissimilarities is the nearest neighbor method. A more efficient and sometimes a more accurate solution is offered by other dissimilarity-based classifiers. They construct a decision rule based on the entire training set, but they need just a small set of prototypes, the so-called representation set, as a reference for classifying new objects. Such alternative approaches may be especially advantageous for non-Euclidean or even non-metric dissimilarities.</a:t>
            </a:r>
          </a:p>
          <a:p>
            <a:pPr marL="0" indent="0">
              <a:buNone/>
            </a:pPr>
            <a:r>
              <a:rPr lang="en-US" altLang="zh-TW" dirty="0"/>
              <a:t>The choice of a proper representation set for dissimilarity-based classifiers is not yet fully investigated. It appears that a random selection may work well. In this paper, a number of experiments has been conducted on various metric and non-metric dissimilarity representations and prototype selection methods. </a:t>
            </a:r>
            <a:endParaRPr lang="zh-TW" altLang="en-US" dirty="0"/>
          </a:p>
        </p:txBody>
      </p:sp>
    </p:spTree>
    <p:extLst>
      <p:ext uri="{BB962C8B-B14F-4D97-AF65-F5344CB8AC3E}">
        <p14:creationId xmlns:p14="http://schemas.microsoft.com/office/powerpoint/2010/main" val="420834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07673"/>
            <a:ext cx="10515600" cy="1325563"/>
          </a:xfrm>
        </p:spPr>
        <p:txBody>
          <a:bodyPr/>
          <a:lstStyle/>
          <a:p>
            <a:r>
              <a:rPr lang="en-US" altLang="zh-TW" b="1" dirty="0"/>
              <a:t>Abstract(2/2)</a:t>
            </a:r>
            <a:endParaRPr lang="zh-TW" altLang="en-US" b="1" dirty="0"/>
          </a:p>
        </p:txBody>
      </p:sp>
      <p:sp>
        <p:nvSpPr>
          <p:cNvPr id="3" name="內容版面配置區 2"/>
          <p:cNvSpPr>
            <a:spLocks noGrp="1"/>
          </p:cNvSpPr>
          <p:nvPr>
            <p:ph idx="1"/>
          </p:nvPr>
        </p:nvSpPr>
        <p:spPr/>
        <p:txBody>
          <a:bodyPr>
            <a:normAutofit fontScale="92500" lnSpcReduction="10000"/>
          </a:bodyPr>
          <a:lstStyle/>
          <a:p>
            <a:pPr marL="0" indent="0">
              <a:buNone/>
            </a:pPr>
            <a:r>
              <a:rPr lang="en-US" altLang="zh-TW" dirty="0"/>
              <a:t>Several procedures, like traditional feature selection methods (here effectively searching for prototypes), mode seeking and linear programming are compared to the random selection. In general, we find out that systematic approaches lead to better results than the random selection, especially for a small number of prototypes. Although there is no single winner as it depends on data characteristics, the </a:t>
            </a:r>
            <a:r>
              <a:rPr lang="en-US" altLang="zh-TW" i="1" dirty="0"/>
              <a:t>k</a:t>
            </a:r>
            <a:r>
              <a:rPr lang="en-US" altLang="zh-TW" dirty="0"/>
              <a:t>-</a:t>
            </a:r>
            <a:r>
              <a:rPr lang="en-US" altLang="zh-TW" dirty="0" err="1"/>
              <a:t>centres</a:t>
            </a:r>
            <a:r>
              <a:rPr lang="en-US" altLang="zh-TW" dirty="0"/>
              <a:t> works well, in general. For two-class problems, an important observation is that our dissimilarity-based discrimination functions relying on significantly reduced prototype sets (3–10% of the training objects) offer a similar or much better</a:t>
            </a:r>
          </a:p>
          <a:p>
            <a:pPr marL="0" indent="0">
              <a:buNone/>
            </a:pPr>
            <a:r>
              <a:rPr lang="en-US" altLang="zh-TW" dirty="0"/>
              <a:t>classification accuracy than the best </a:t>
            </a:r>
            <a:r>
              <a:rPr lang="en-US" altLang="zh-TW" i="1" dirty="0"/>
              <a:t>k</a:t>
            </a:r>
            <a:r>
              <a:rPr lang="en-US" altLang="zh-TW" dirty="0"/>
              <a:t>-NN rule on the entire training set. This may be reached for multi-class data as well, however such problems are more difficult.</a:t>
            </a:r>
            <a:endParaRPr lang="zh-TW" altLang="en-US" dirty="0"/>
          </a:p>
          <a:p>
            <a:endParaRPr lang="zh-TW" altLang="en-US" dirty="0"/>
          </a:p>
        </p:txBody>
      </p:sp>
    </p:spTree>
    <p:extLst>
      <p:ext uri="{BB962C8B-B14F-4D97-AF65-F5344CB8AC3E}">
        <p14:creationId xmlns:p14="http://schemas.microsoft.com/office/powerpoint/2010/main" val="2992253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1010914"/>
          </a:xfrm>
        </p:spPr>
        <p:txBody>
          <a:bodyPr/>
          <a:lstStyle/>
          <a:p>
            <a:r>
              <a:rPr lang="en-US" altLang="zh-TW" b="1" dirty="0"/>
              <a:t>Dissimilarity-based classification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251751"/>
                <a:ext cx="10515600" cy="4925212"/>
              </a:xfrm>
            </p:spPr>
            <p:txBody>
              <a:bodyPr>
                <a:normAutofit lnSpcReduction="10000"/>
              </a:bodyPr>
              <a:lstStyle/>
              <a:p>
                <a:r>
                  <a:rPr lang="en-US" altLang="zh-TW" dirty="0"/>
                  <a:t>a representation set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𝑛</m:t>
                        </m:r>
                      </m:sub>
                    </m:sSub>
                    <m:r>
                      <a:rPr lang="en-US" altLang="zh-TW" b="0" i="1" smtClean="0">
                        <a:latin typeface="Cambria Math" panose="02040503050406030204" pitchFamily="18" charset="0"/>
                      </a:rPr>
                      <m:t>}</m:t>
                    </m:r>
                  </m:oMath>
                </a14:m>
                <a:r>
                  <a:rPr lang="zh-TW" altLang="en-US" dirty="0"/>
                  <a:t> </a:t>
                </a:r>
                <a:r>
                  <a:rPr lang="en-US" altLang="zh-TW" dirty="0"/>
                  <a:t>collection of </a:t>
                </a:r>
                <a:r>
                  <a:rPr lang="en-US" altLang="zh-TW" i="1" dirty="0"/>
                  <a:t>n </a:t>
                </a:r>
                <a:r>
                  <a:rPr lang="en-US" altLang="zh-TW" dirty="0"/>
                  <a:t>prototype objects</a:t>
                </a:r>
              </a:p>
              <a:p>
                <a:r>
                  <a:rPr lang="en-US" altLang="zh-TW" dirty="0"/>
                  <a:t>Dissimilarity measure d =&gt; </a:t>
                </a:r>
                <a:r>
                  <a:rPr lang="zh-TW" altLang="en-US" dirty="0"/>
                  <a:t>計算兩</a:t>
                </a:r>
                <a:r>
                  <a:rPr lang="en-US" altLang="zh-TW" dirty="0"/>
                  <a:t>time series</a:t>
                </a:r>
                <a:r>
                  <a:rPr lang="zh-TW" altLang="en-US" dirty="0"/>
                  <a:t>差異</a:t>
                </a:r>
                <a:endParaRPr lang="en-US" altLang="zh-TW" dirty="0"/>
              </a:p>
              <a:p>
                <a:pPr marL="0" indent="0">
                  <a:buNone/>
                </a:pPr>
                <a:r>
                  <a:rPr lang="en-US" altLang="zh-TW" dirty="0"/>
                  <a:t>	</a:t>
                </a:r>
                <a:r>
                  <a:rPr lang="zh-TW" altLang="en-US" dirty="0"/>
                  <a:t>分為</a:t>
                </a:r>
                <a:r>
                  <a:rPr lang="en-US" altLang="zh-TW" dirty="0"/>
                  <a:t>metric , non-metric</a:t>
                </a:r>
              </a:p>
              <a:p>
                <a:r>
                  <a:rPr lang="en-US" altLang="zh-TW" dirty="0"/>
                  <a:t>An object(time series) </a:t>
                </a:r>
                <a:r>
                  <a:rPr lang="en-US" altLang="zh-TW" i="1" dirty="0"/>
                  <a:t>x </a:t>
                </a:r>
                <a:r>
                  <a:rPr lang="en-US" altLang="zh-TW" dirty="0"/>
                  <a:t>is represented as a vector of the dissimilarities computed between </a:t>
                </a:r>
                <a:r>
                  <a:rPr lang="en-US" altLang="zh-TW" i="1" dirty="0"/>
                  <a:t>x </a:t>
                </a:r>
                <a:r>
                  <a:rPr lang="en-US" altLang="zh-TW" dirty="0"/>
                  <a:t>and the prototypes from </a:t>
                </a:r>
                <a:r>
                  <a:rPr lang="en-US" altLang="zh-TW" i="1" dirty="0"/>
                  <a:t>R.</a:t>
                </a:r>
              </a:p>
              <a:p>
                <a:pPr marL="0" indent="0">
                  <a:buNone/>
                </a:pPr>
                <a:r>
                  <a:rPr lang="en-US" altLang="zh-TW" i="1" dirty="0"/>
                  <a:t>Ex : </a:t>
                </a:r>
                <a14:m>
                  <m:oMath xmlns:m="http://schemas.openxmlformats.org/officeDocument/2006/math">
                    <m:r>
                      <a:rPr lang="en-US" altLang="zh-TW" b="0" i="1" smtClean="0">
                        <a:latin typeface="Cambria Math" panose="02040503050406030204" pitchFamily="18" charset="0"/>
                      </a:rPr>
                      <m:t>𝐷</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rPr>
                          <m:t>𝑅</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𝑑</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m:t>
                    </m:r>
                    <m:r>
                      <a:rPr lang="en-US" altLang="zh-TW" b="0" i="1" smtClean="0">
                        <a:latin typeface="Cambria Math" panose="02040503050406030204" pitchFamily="18" charset="0"/>
                      </a:rPr>
                      <m:t>𝑑</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2</m:t>
                            </m:r>
                          </m:sub>
                        </m:sSub>
                      </m:e>
                    </m:d>
                    <m:r>
                      <a:rPr lang="en-US" altLang="zh-TW" b="0" i="1" smtClean="0">
                        <a:latin typeface="Cambria Math" panose="02040503050406030204" pitchFamily="18" charset="0"/>
                      </a:rPr>
                      <m:t>,…</m:t>
                    </m:r>
                    <m:r>
                      <a:rPr lang="en-US" altLang="zh-TW" b="0" i="1" smtClean="0">
                        <a:latin typeface="Cambria Math" panose="02040503050406030204" pitchFamily="18" charset="0"/>
                      </a:rPr>
                      <m:t>𝑑</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𝑛</m:t>
                            </m:r>
                          </m:sub>
                        </m:sSub>
                      </m:e>
                    </m:d>
                    <m:r>
                      <a:rPr lang="en-US" altLang="zh-TW" b="0" i="1" smtClean="0">
                        <a:latin typeface="Cambria Math" panose="02040503050406030204" pitchFamily="18" charset="0"/>
                      </a:rPr>
                      <m:t>]</m:t>
                    </m:r>
                  </m:oMath>
                </a14:m>
                <a:r>
                  <a:rPr lang="zh-TW" altLang="en-US" dirty="0"/>
                  <a:t> </a:t>
                </a:r>
                <a:r>
                  <a:rPr lang="en-US" altLang="zh-TW" dirty="0"/>
                  <a:t>dissimilarity representation we want to</a:t>
                </a:r>
                <a:r>
                  <a:rPr lang="zh-TW" altLang="en-US" dirty="0"/>
                  <a:t> </a:t>
                </a:r>
                <a:r>
                  <a:rPr lang="en-US" altLang="zh-TW" dirty="0"/>
                  <a:t>learn from</a:t>
                </a:r>
              </a:p>
              <a:p>
                <a:pPr marL="0" indent="0">
                  <a:buNone/>
                </a:pPr>
                <a:endParaRPr lang="en-US" altLang="zh-TW" dirty="0"/>
              </a:p>
              <a:p>
                <a:pPr marL="0" indent="0">
                  <a:buNone/>
                </a:pPr>
                <a:r>
                  <a:rPr lang="en-US" altLang="zh-TW" dirty="0"/>
                  <a:t>New problem arise : how to choose R ? Is that more accuracy? Less complexity?</a:t>
                </a:r>
              </a:p>
              <a:p>
                <a:pPr marL="0" indent="0">
                  <a:buNone/>
                </a:pPr>
                <a:endParaRPr lang="en-US" altLang="zh-TW" dirty="0"/>
              </a:p>
              <a:p>
                <a:pPr marL="0" indent="0">
                  <a:buNone/>
                </a:pPr>
                <a:endParaRPr lang="en-US" altLang="zh-TW" dirty="0"/>
              </a:p>
              <a:p>
                <a:endParaRPr lang="en-US" altLang="zh-TW" dirty="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251751"/>
                <a:ext cx="10515600" cy="4925212"/>
              </a:xfrm>
              <a:blipFill>
                <a:blip r:embed="rId2"/>
                <a:stretch>
                  <a:fillRect l="-1217" t="-272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24801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Dissimilarity measure</a:t>
            </a:r>
            <a:endParaRPr lang="zh-TW" altLang="en-US" b="1" dirty="0"/>
          </a:p>
        </p:txBody>
      </p:sp>
      <p:sp>
        <p:nvSpPr>
          <p:cNvPr id="3" name="內容版面配置區 2"/>
          <p:cNvSpPr>
            <a:spLocks noGrp="1"/>
          </p:cNvSpPr>
          <p:nvPr>
            <p:ph idx="1"/>
          </p:nvPr>
        </p:nvSpPr>
        <p:spPr>
          <a:xfrm>
            <a:off x="838200" y="1690688"/>
            <a:ext cx="10515600" cy="4486275"/>
          </a:xfrm>
        </p:spPr>
        <p:txBody>
          <a:bodyPr/>
          <a:lstStyle/>
          <a:p>
            <a:r>
              <a:rPr lang="en-US" altLang="zh-TW" dirty="0"/>
              <a:t>Metric measure :</a:t>
            </a:r>
          </a:p>
          <a:p>
            <a:pPr marL="0" indent="0">
              <a:buNone/>
            </a:pPr>
            <a:r>
              <a:rPr lang="en-US" altLang="zh-TW" dirty="0"/>
              <a:t> 	Euclidean distance, DTW</a:t>
            </a:r>
          </a:p>
          <a:p>
            <a:pPr marL="0" indent="0">
              <a:buNone/>
            </a:pPr>
            <a:endParaRPr lang="en-US" altLang="zh-TW" dirty="0"/>
          </a:p>
          <a:p>
            <a:r>
              <a:rPr lang="en-US" altLang="zh-TW" dirty="0"/>
              <a:t>Non-Metric measure :</a:t>
            </a:r>
          </a:p>
          <a:p>
            <a:pPr lvl="1"/>
            <a:r>
              <a:rPr lang="en-US" altLang="zh-TW" dirty="0"/>
              <a:t>modified </a:t>
            </a:r>
            <a:r>
              <a:rPr lang="en-US" altLang="zh-TW" dirty="0" err="1"/>
              <a:t>Hausdorff</a:t>
            </a:r>
            <a:r>
              <a:rPr lang="en-US" altLang="zh-TW" dirty="0"/>
              <a:t> measure : </a:t>
            </a:r>
            <a:r>
              <a:rPr lang="zh-TW" altLang="en-US" dirty="0"/>
              <a:t>測量兩子集差距</a:t>
            </a:r>
            <a:r>
              <a:rPr lang="en-US" altLang="zh-TW" dirty="0"/>
              <a:t>(</a:t>
            </a:r>
            <a:r>
              <a:rPr lang="zh-TW" altLang="en-US" dirty="0"/>
              <a:t>圖形</a:t>
            </a:r>
            <a:r>
              <a:rPr lang="en-US" altLang="zh-TW" dirty="0"/>
              <a:t>)</a:t>
            </a:r>
          </a:p>
          <a:p>
            <a:pPr lvl="1"/>
            <a:r>
              <a:rPr lang="en-US" altLang="zh-TW" dirty="0" err="1"/>
              <a:t>Mahalanobis</a:t>
            </a:r>
            <a:r>
              <a:rPr lang="en-US" altLang="zh-TW" dirty="0"/>
              <a:t> distance</a:t>
            </a:r>
            <a:r>
              <a:rPr lang="zh-TW" altLang="en-US" dirty="0"/>
              <a:t> </a:t>
            </a:r>
            <a:r>
              <a:rPr lang="en-US" altLang="zh-TW" dirty="0"/>
              <a:t>:</a:t>
            </a:r>
            <a:r>
              <a:rPr lang="zh-TW" altLang="en-US" dirty="0"/>
              <a:t> 兩群體差距</a:t>
            </a:r>
            <a:endParaRPr lang="en-US" altLang="zh-TW" dirty="0"/>
          </a:p>
          <a:p>
            <a:pPr lvl="1"/>
            <a:endParaRPr lang="en-US" altLang="zh-TW" dirty="0"/>
          </a:p>
          <a:p>
            <a:pPr marL="0" indent="0">
              <a:buNone/>
            </a:pPr>
            <a:endParaRPr lang="zh-TW" altLang="en-US" dirty="0"/>
          </a:p>
        </p:txBody>
      </p:sp>
    </p:spTree>
    <p:extLst>
      <p:ext uri="{BB962C8B-B14F-4D97-AF65-F5344CB8AC3E}">
        <p14:creationId xmlns:p14="http://schemas.microsoft.com/office/powerpoint/2010/main" val="2486176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028669"/>
          </a:xfrm>
        </p:spPr>
        <p:txBody>
          <a:bodyPr/>
          <a:lstStyle/>
          <a:p>
            <a:r>
              <a:rPr lang="en-US" altLang="zh-TW" b="1" dirty="0"/>
              <a:t>Prototype selection and the representation set</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200" y="1393794"/>
                <a:ext cx="10515600" cy="5066383"/>
              </a:xfrm>
            </p:spPr>
            <p:txBody>
              <a:bodyPr>
                <a:normAutofit/>
              </a:bodyPr>
              <a:lstStyle/>
              <a:p>
                <a:r>
                  <a:rPr lang="en-US" altLang="zh-TW" i="1" dirty="0">
                    <a:solidFill>
                      <a:srgbClr val="FF0000"/>
                    </a:solidFill>
                  </a:rPr>
                  <a:t>Random</a:t>
                </a:r>
                <a:r>
                  <a:rPr lang="en-US" altLang="zh-TW" dirty="0">
                    <a:solidFill>
                      <a:srgbClr val="FF0000"/>
                    </a:solidFill>
                  </a:rPr>
                  <a:t>, </a:t>
                </a:r>
                <a:r>
                  <a:rPr lang="en-US" altLang="zh-TW" i="1" dirty="0" err="1">
                    <a:solidFill>
                      <a:srgbClr val="FF0000"/>
                    </a:solidFill>
                  </a:rPr>
                  <a:t>RandomC</a:t>
                </a:r>
                <a:r>
                  <a:rPr lang="en-US" altLang="zh-TW" dirty="0"/>
                  <a:t>, </a:t>
                </a:r>
                <a:r>
                  <a:rPr lang="en-US" altLang="zh-TW" i="1" dirty="0" err="1">
                    <a:solidFill>
                      <a:srgbClr val="FF0000"/>
                    </a:solidFill>
                  </a:rPr>
                  <a:t>KCentres</a:t>
                </a:r>
                <a:r>
                  <a:rPr lang="en-US" altLang="zh-TW" dirty="0"/>
                  <a:t>, </a:t>
                </a:r>
                <a:r>
                  <a:rPr lang="en-US" altLang="zh-TW" i="1" dirty="0" err="1">
                    <a:solidFill>
                      <a:srgbClr val="FF0000"/>
                    </a:solidFill>
                  </a:rPr>
                  <a:t>ModeSeek</a:t>
                </a:r>
                <a:r>
                  <a:rPr lang="en-US" altLang="zh-TW" dirty="0"/>
                  <a:t>, </a:t>
                </a:r>
                <a:r>
                  <a:rPr lang="en-US" altLang="zh-TW" i="1" dirty="0" err="1"/>
                  <a:t>LinProg</a:t>
                </a:r>
                <a:r>
                  <a:rPr lang="en-US" altLang="zh-TW" dirty="0"/>
                  <a:t>, </a:t>
                </a:r>
                <a:r>
                  <a:rPr lang="en-US" altLang="zh-TW" i="1" dirty="0" err="1"/>
                  <a:t>FeatSel</a:t>
                </a:r>
                <a:r>
                  <a:rPr lang="en-US" altLang="zh-TW" dirty="0"/>
                  <a:t>, </a:t>
                </a:r>
                <a:r>
                  <a:rPr lang="en-US" altLang="zh-TW" i="1" dirty="0" err="1">
                    <a:solidFill>
                      <a:srgbClr val="FF0000"/>
                    </a:solidFill>
                  </a:rPr>
                  <a:t>KCentres</a:t>
                </a:r>
                <a:r>
                  <a:rPr lang="en-US" altLang="zh-TW" i="1" dirty="0">
                    <a:solidFill>
                      <a:srgbClr val="FF0000"/>
                    </a:solidFill>
                  </a:rPr>
                  <a:t>-LP</a:t>
                </a:r>
                <a:r>
                  <a:rPr lang="en-US" altLang="zh-TW" i="1" dirty="0"/>
                  <a:t> </a:t>
                </a:r>
                <a:r>
                  <a:rPr lang="en-US" altLang="zh-TW" dirty="0"/>
                  <a:t>and </a:t>
                </a:r>
                <a:r>
                  <a:rPr lang="en-US" altLang="zh-TW" i="1" dirty="0" err="1"/>
                  <a:t>EdiCon</a:t>
                </a:r>
                <a:endParaRPr lang="en-US" altLang="zh-TW" i="1" dirty="0"/>
              </a:p>
              <a:p>
                <a:endParaRPr lang="en-US" altLang="zh-TW" i="1" dirty="0"/>
              </a:p>
              <a:p>
                <a:r>
                  <a:rPr lang="en-US" altLang="zh-TW" i="1" dirty="0" err="1"/>
                  <a:t>Kcentres</a:t>
                </a:r>
                <a:r>
                  <a:rPr lang="en-US" altLang="zh-TW" i="1" dirty="0"/>
                  <a:t> : </a:t>
                </a:r>
              </a:p>
              <a:p>
                <a:pPr marL="0" indent="0">
                  <a:buNone/>
                </a:pPr>
                <a:r>
                  <a:rPr lang="en-US" altLang="zh-TW" dirty="0"/>
                  <a:t>For each class</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𝑖</m:t>
                        </m:r>
                      </m:sub>
                    </m:sSub>
                  </m:oMath>
                </a14:m>
                <a:r>
                  <a:rPr lang="en-US" altLang="zh-TW" dirty="0"/>
                  <a:t>:</a:t>
                </a:r>
                <a:endParaRPr lang="en-US" altLang="zh-TW" i="1" dirty="0"/>
              </a:p>
              <a:p>
                <a:pPr marL="0" indent="0">
                  <a:buNone/>
                </a:pPr>
                <a:r>
                  <a:rPr lang="en-US" altLang="zh-TW" dirty="0"/>
                  <a:t>1.</a:t>
                </a:r>
                <a:r>
                  <a:rPr lang="zh-TW" altLang="en-US" dirty="0"/>
                  <a:t>從分類為</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𝑖</m:t>
                        </m:r>
                      </m:sub>
                    </m:sSub>
                  </m:oMath>
                </a14:m>
                <a:r>
                  <a:rPr lang="zh-TW" altLang="en-US" dirty="0"/>
                  <a:t>選</a:t>
                </a:r>
                <a:r>
                  <a:rPr lang="en-US" altLang="zh-TW" dirty="0"/>
                  <a:t>k</a:t>
                </a:r>
                <a:r>
                  <a:rPr lang="zh-TW" altLang="en-US" dirty="0"/>
                  <a:t>個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𝑅</m:t>
                        </m:r>
                      </m:e>
                      <m:sub>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𝑖</m:t>
                            </m:r>
                          </m:sub>
                        </m:sSub>
                      </m:sub>
                    </m:sSub>
                  </m:oMath>
                </a14:m>
                <a:r>
                  <a:rPr lang="en-US" altLang="zh-TW" dirty="0"/>
                  <a:t> = {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sup>
                    </m:sSubSup>
                    <m:r>
                      <a:rPr lang="en-US" altLang="zh-TW" b="0" i="1" smtClean="0">
                        <a:latin typeface="Cambria Math" panose="02040503050406030204" pitchFamily="18" charset="0"/>
                      </a:rPr>
                      <m:t>,</m:t>
                    </m:r>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sup>
                    </m:sSubSup>
                    <m:r>
                      <a:rPr lang="en-US" altLang="zh-TW" b="0" i="1" smtClean="0">
                        <a:latin typeface="Cambria Math" panose="02040503050406030204" pitchFamily="18" charset="0"/>
                      </a:rPr>
                      <m:t>,….</m:t>
                    </m:r>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𝑘</m:t>
                        </m:r>
                      </m:sub>
                      <m:sup>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sup>
                    </m:sSubSup>
                  </m:oMath>
                </a14:m>
                <a:r>
                  <a:rPr lang="en-US" altLang="zh-TW" dirty="0"/>
                  <a:t>}</a:t>
                </a:r>
              </a:p>
              <a:p>
                <a:pPr marL="0" indent="0">
                  <a:buNone/>
                </a:pPr>
                <a:r>
                  <a:rPr lang="en-US" altLang="zh-TW" dirty="0"/>
                  <a:t>2.</a:t>
                </a:r>
                <a:r>
                  <a:rPr lang="zh-TW" altLang="en-US" dirty="0"/>
                  <a:t>對每個</a:t>
                </a:r>
                <a:r>
                  <a:rPr lang="en-US" altLang="zh-TW" dirty="0"/>
                  <a:t>time series x</a:t>
                </a:r>
                <a14:m>
                  <m:oMath xmlns:m="http://schemas.openxmlformats.org/officeDocument/2006/math">
                    <m:r>
                      <a:rPr lang="zh-TW" altLang="en-US" i="1" smtClean="0">
                        <a:latin typeface="Cambria Math" panose="02040503050406030204" pitchFamily="18" charset="0"/>
                      </a:rPr>
                      <m:t>𝜖</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𝑖</m:t>
                            </m:r>
                          </m:sub>
                        </m:sSub>
                      </m:sub>
                    </m:sSub>
                    <m:r>
                      <a:rPr lang="zh-TW" altLang="en-US" i="1">
                        <a:latin typeface="Cambria Math" panose="02040503050406030204" pitchFamily="18" charset="0"/>
                      </a:rPr>
                      <m:t>去</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𝑅</m:t>
                        </m:r>
                      </m:e>
                      <m:sub>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𝑖</m:t>
                            </m:r>
                          </m:sub>
                        </m:sSub>
                      </m:sub>
                    </m:sSub>
                  </m:oMath>
                </a14:m>
                <a:r>
                  <a:rPr lang="zh-TW" altLang="en-US" dirty="0"/>
                  <a:t>找最鄰近的，形成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𝐽</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𝐽</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𝐽</m:t>
                        </m:r>
                      </m:e>
                      <m:sub>
                        <m:r>
                          <a:rPr lang="en-US" altLang="zh-TW" b="0" i="1" smtClean="0">
                            <a:latin typeface="Cambria Math" panose="02040503050406030204" pitchFamily="18" charset="0"/>
                          </a:rPr>
                          <m:t>𝑘</m:t>
                        </m:r>
                      </m:sub>
                    </m:sSub>
                  </m:oMath>
                </a14:m>
                <a:endParaRPr lang="en-US" altLang="zh-TW" dirty="0"/>
              </a:p>
              <a:p>
                <a:pPr marL="0" indent="0">
                  <a:buNone/>
                </a:pPr>
                <a:r>
                  <a:rPr lang="en-US" altLang="zh-TW" dirty="0"/>
                  <a:t>3.</a:t>
                </a:r>
                <a:r>
                  <a:rPr lang="zh-TW" altLang="en-US" dirty="0"/>
                  <a:t>對</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𝐽</m:t>
                        </m:r>
                      </m:e>
                      <m:sub>
                        <m:r>
                          <a:rPr lang="en-US" altLang="zh-TW" b="0" i="1" smtClean="0">
                            <a:latin typeface="Cambria Math" panose="02040503050406030204" pitchFamily="18" charset="0"/>
                          </a:rPr>
                          <m:t>𝑗</m:t>
                        </m:r>
                      </m:sub>
                    </m:sSub>
                    <m:r>
                      <a:rPr lang="zh-TW" altLang="en-US" i="1">
                        <a:latin typeface="Cambria Math" panose="02040503050406030204" pitchFamily="18" charset="0"/>
                      </a:rPr>
                      <m:t>每個</m:t>
                    </m:r>
                  </m:oMath>
                </a14:m>
                <a:r>
                  <a:rPr lang="zh-TW" altLang="en-US" dirty="0"/>
                  <a:t>找中心</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𝑗</m:t>
                        </m:r>
                      </m:sub>
                    </m:sSub>
                  </m:oMath>
                </a14:m>
                <a:endParaRPr lang="en-US" altLang="zh-TW" dirty="0"/>
              </a:p>
              <a:p>
                <a:pPr marL="0" indent="0">
                  <a:buNone/>
                </a:pPr>
                <a:r>
                  <a:rPr lang="en-US" altLang="zh-TW" dirty="0"/>
                  <a:t>4.</a:t>
                </a:r>
                <a:r>
                  <a:rPr lang="zh-TW" altLang="en-US" dirty="0"/>
                  <a:t>若                    則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𝑗</m:t>
                        </m:r>
                      </m:sub>
                    </m:sSub>
                    <m:r>
                      <a:rPr lang="zh-TW" altLang="en-US" i="1">
                        <a:latin typeface="Cambria Math" panose="02040503050406030204" pitchFamily="18" charset="0"/>
                      </a:rPr>
                      <m:t>替換</m:t>
                    </m:r>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𝑗</m:t>
                        </m:r>
                      </m:sub>
                      <m:sup>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sup>
                    </m:sSubSup>
                    <m:r>
                      <a:rPr lang="en-US" altLang="zh-TW" b="0" i="1" smtClean="0">
                        <a:latin typeface="Cambria Math" panose="02040503050406030204" pitchFamily="18" charset="0"/>
                      </a:rPr>
                      <m:t> </m:t>
                    </m:r>
                    <m:r>
                      <a:rPr lang="zh-TW" altLang="en-US" i="1">
                        <a:latin typeface="Cambria Math" panose="02040503050406030204" pitchFamily="18" charset="0"/>
                      </a:rPr>
                      <m:t>有替換</m:t>
                    </m:r>
                  </m:oMath>
                </a14:m>
                <a:r>
                  <a:rPr lang="zh-TW" altLang="en-US" dirty="0"/>
                  <a:t>發生回到步驟</a:t>
                </a:r>
                <a:r>
                  <a:rPr lang="en-US" altLang="zh-TW" dirty="0"/>
                  <a:t>2</a:t>
                </a:r>
              </a:p>
              <a:p>
                <a:endParaRPr lang="en-US" altLang="zh-TW" i="1" dirty="0"/>
              </a:p>
              <a:p>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200" y="1393794"/>
                <a:ext cx="10515600" cy="5066383"/>
              </a:xfrm>
              <a:blipFill rotWithShape="0">
                <a:blip r:embed="rId2"/>
                <a:stretch>
                  <a:fillRect l="-1217" t="-2046"/>
                </a:stretch>
              </a:blipFill>
            </p:spPr>
            <p:txBody>
              <a:bodyPr/>
              <a:lstStyle/>
              <a:p>
                <a:r>
                  <a:rPr lang="zh-TW" altLang="en-US">
                    <a:noFill/>
                  </a:rPr>
                  <a:t> </a:t>
                </a:r>
              </a:p>
            </p:txBody>
          </p:sp>
        </mc:Fallback>
      </mc:AlternateContent>
      <p:pic>
        <p:nvPicPr>
          <p:cNvPr id="5" name="圖片 4"/>
          <p:cNvPicPr>
            <a:picLocks noChangeAspect="1"/>
          </p:cNvPicPr>
          <p:nvPr/>
        </p:nvPicPr>
        <p:blipFill>
          <a:blip r:embed="rId3"/>
          <a:stretch>
            <a:fillRect/>
          </a:stretch>
        </p:blipFill>
        <p:spPr>
          <a:xfrm>
            <a:off x="1595534" y="5499275"/>
            <a:ext cx="1546938" cy="603044"/>
          </a:xfrm>
          <a:prstGeom prst="rect">
            <a:avLst/>
          </a:prstGeom>
        </p:spPr>
      </p:pic>
    </p:spTree>
    <p:extLst>
      <p:ext uri="{BB962C8B-B14F-4D97-AF65-F5344CB8AC3E}">
        <p14:creationId xmlns:p14="http://schemas.microsoft.com/office/powerpoint/2010/main" val="896243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213064"/>
                <a:ext cx="10515600" cy="5963899"/>
              </a:xfrm>
            </p:spPr>
            <p:txBody>
              <a:bodyPr/>
              <a:lstStyle/>
              <a:p>
                <a:r>
                  <a:rPr lang="en-US" altLang="zh-TW" i="1" dirty="0"/>
                  <a:t>ModeSeek</a:t>
                </a:r>
                <a:r>
                  <a:rPr lang="zh-TW" altLang="en-US" i="1" dirty="0"/>
                  <a:t> </a:t>
                </a:r>
                <a:r>
                  <a:rPr lang="en-US" altLang="zh-TW" i="1" dirty="0"/>
                  <a:t>:</a:t>
                </a:r>
                <a:r>
                  <a:rPr lang="zh-TW" altLang="en-US" i="1" dirty="0"/>
                  <a:t> </a:t>
                </a:r>
                <a:endParaRPr lang="en-US" altLang="zh-TW" i="1" dirty="0"/>
              </a:p>
              <a:p>
                <a:pPr marL="0" indent="0">
                  <a:buNone/>
                </a:pPr>
                <a:r>
                  <a:rPr lang="en-US" altLang="zh-TW" dirty="0"/>
                  <a:t>1. relative neighborhood size s &gt;1</a:t>
                </a:r>
              </a:p>
              <a:p>
                <a:pPr marL="0" indent="0">
                  <a:buNone/>
                </a:pPr>
                <a:r>
                  <a:rPr lang="en-US" altLang="zh-TW" dirty="0"/>
                  <a:t>2.</a:t>
                </a:r>
                <a:r>
                  <a:rPr lang="zh-TW" altLang="en-US" dirty="0"/>
                  <a:t>對每個</a:t>
                </a:r>
                <a:r>
                  <a:rPr lang="en-US" altLang="zh-TW" dirty="0"/>
                  <a:t>time series x</a:t>
                </a:r>
                <a14:m>
                  <m:oMath xmlns:m="http://schemas.openxmlformats.org/officeDocument/2006/math">
                    <m:r>
                      <a:rPr lang="zh-TW" altLang="en-US" i="1" smtClean="0">
                        <a:latin typeface="Cambria Math" panose="02040503050406030204" pitchFamily="18" charset="0"/>
                      </a:rPr>
                      <m:t>𝜖</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𝑖</m:t>
                            </m:r>
                          </m:sub>
                        </m:sSub>
                      </m:sub>
                    </m:sSub>
                    <m:r>
                      <a:rPr lang="zh-TW" altLang="en-US" i="1">
                        <a:latin typeface="Cambria Math" panose="02040503050406030204" pitchFamily="18" charset="0"/>
                      </a:rPr>
                      <m:t>去</m:t>
                    </m:r>
                  </m:oMath>
                </a14:m>
                <a:r>
                  <a:rPr lang="zh-TW" altLang="en-US" dirty="0"/>
                  <a:t> 找第</a:t>
                </a:r>
                <a:r>
                  <a:rPr lang="en-US" altLang="zh-TW" dirty="0"/>
                  <a:t>s</a:t>
                </a:r>
                <a:r>
                  <a:rPr lang="zh-TW" altLang="en-US" dirty="0"/>
                  <a:t>個</a:t>
                </a:r>
                <a:r>
                  <a:rPr lang="en-US" altLang="zh-TW" dirty="0"/>
                  <a:t>neighborhood</a:t>
                </a:r>
              </a:p>
              <a:p>
                <a:pPr marL="0" indent="0">
                  <a:buNone/>
                </a:pPr>
                <a:r>
                  <a:rPr lang="en-US" altLang="zh-TW" dirty="0"/>
                  <a:t>3.</a:t>
                </a:r>
                <a:r>
                  <a:rPr lang="zh-TW" altLang="en-US" dirty="0"/>
                  <a:t>找</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𝑅</m:t>
                        </m:r>
                      </m:e>
                      <m:sub>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𝑖</m:t>
                            </m:r>
                          </m:sub>
                        </m:sSub>
                      </m:sub>
                    </m:sSub>
                  </m:oMath>
                </a14:m>
                <a:r>
                  <a:rPr lang="zh-TW" altLang="en-US" dirty="0"/>
                  <a:t> 包含 第</a:t>
                </a:r>
                <a:r>
                  <a:rPr lang="en-US" altLang="zh-TW" dirty="0"/>
                  <a:t>S</a:t>
                </a:r>
                <a:r>
                  <a:rPr lang="zh-TW" altLang="en-US" dirty="0"/>
                  <a:t>個最小</a:t>
                </a:r>
                <a:r>
                  <a:rPr lang="en-US" altLang="zh-TW" dirty="0"/>
                  <a:t>neighborhood</a:t>
                </a:r>
                <a:r>
                  <a:rPr lang="zh-TW" altLang="en-US" dirty="0"/>
                  <a:t>的</a:t>
                </a:r>
                <a:r>
                  <a:rPr lang="en-US" altLang="zh-TW" dirty="0"/>
                  <a:t>x</a:t>
                </a:r>
                <a14:m>
                  <m:oMath xmlns:m="http://schemas.openxmlformats.org/officeDocument/2006/math">
                    <m:r>
                      <a:rPr lang="zh-TW" altLang="en-US" i="1" smtClean="0">
                        <a:latin typeface="Cambria Math" panose="02040503050406030204" pitchFamily="18" charset="0"/>
                      </a:rPr>
                      <m:t>𝜖</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𝑖</m:t>
                            </m:r>
                          </m:sub>
                        </m:sSub>
                      </m:sub>
                    </m:sSub>
                  </m:oMath>
                </a14:m>
                <a:endParaRPr lang="en-US" altLang="zh-TW" dirty="0"/>
              </a:p>
              <a:p>
                <a:pPr marL="0" indent="0">
                  <a:buNone/>
                </a:pPr>
                <a:endParaRPr lang="en-US" altLang="zh-TW" dirty="0"/>
              </a:p>
              <a:p>
                <a:r>
                  <a:rPr lang="en-US" altLang="zh-TW" i="1" dirty="0" err="1"/>
                  <a:t>Kcentres</a:t>
                </a:r>
                <a:r>
                  <a:rPr lang="en-US" altLang="zh-TW" i="1" dirty="0"/>
                  <a:t>-LP</a:t>
                </a:r>
              </a:p>
              <a:p>
                <a:pPr marL="0" indent="0">
                  <a:buNone/>
                </a:pPr>
                <a:r>
                  <a:rPr lang="en-US" altLang="zh-TW" i="1" dirty="0"/>
                  <a:t>1.</a:t>
                </a:r>
                <a:r>
                  <a:rPr lang="zh-TW" altLang="en-US" i="1" dirty="0"/>
                  <a:t>先實行上述</a:t>
                </a:r>
                <a:r>
                  <a:rPr lang="en-US" altLang="zh-TW" i="1" dirty="0" err="1"/>
                  <a:t>Kcentres</a:t>
                </a:r>
                <a:r>
                  <a:rPr lang="zh-TW" altLang="en-US" i="1" dirty="0"/>
                  <a:t> 找出</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𝑅</m:t>
                        </m:r>
                      </m:e>
                      <m:sub>
                        <m:r>
                          <m:rPr>
                            <m:sty m:val="p"/>
                          </m:rPr>
                          <a:rPr lang="en-US" altLang="zh-TW" i="1">
                            <a:latin typeface="Cambria Math" panose="02040503050406030204" pitchFamily="18" charset="0"/>
                          </a:rPr>
                          <m:t>K</m:t>
                        </m:r>
                        <m:r>
                          <m:rPr>
                            <m:sty m:val="p"/>
                          </m:rPr>
                          <a:rPr lang="en-US" altLang="zh-TW" i="1" smtClean="0">
                            <a:latin typeface="Cambria Math" panose="02040503050406030204" pitchFamily="18" charset="0"/>
                          </a:rPr>
                          <m:t>C</m:t>
                        </m:r>
                      </m:sub>
                    </m:sSub>
                  </m:oMath>
                </a14:m>
                <a:endParaRPr lang="en-US" altLang="zh-TW" b="0" i="1" dirty="0"/>
              </a:p>
              <a:p>
                <a:pPr marL="0" indent="0">
                  <a:buNone/>
                </a:pPr>
                <a:r>
                  <a:rPr lang="en-US" altLang="zh-TW" dirty="0"/>
                  <a:t>2.</a:t>
                </a:r>
                <a:r>
                  <a:rPr lang="zh-TW" altLang="en-US" dirty="0"/>
                  <a:t>再利用</a:t>
                </a:r>
                <a:r>
                  <a:rPr lang="en-US" altLang="zh-TW" dirty="0"/>
                  <a:t>linear programming </a:t>
                </a:r>
                <a:r>
                  <a:rPr lang="zh-TW" altLang="en-US" dirty="0"/>
                  <a:t>去影響一些基數</a:t>
                </a:r>
                <a:endParaRPr lang="en-US" altLang="zh-TW" dirty="0"/>
              </a:p>
              <a:p>
                <a:pPr marL="0" indent="0">
                  <a:buNone/>
                </a:pPr>
                <a:endParaRPr lang="en-US" altLang="zh-TW" dirty="0"/>
              </a:p>
              <a:p>
                <a:pPr marL="0" indent="0">
                  <a:buNone/>
                </a:pPr>
                <a:endParaRPr lang="en-US" altLang="zh-TW" dirty="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213064"/>
                <a:ext cx="10515600" cy="5963899"/>
              </a:xfrm>
              <a:blipFill>
                <a:blip r:embed="rId2"/>
                <a:stretch>
                  <a:fillRect l="-1217" t="-173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72334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Classifiers in dissimilarity spaces</a:t>
            </a:r>
            <a:endParaRPr lang="zh-TW" altLang="en-US" b="1" dirty="0"/>
          </a:p>
        </p:txBody>
      </p:sp>
      <p:sp>
        <p:nvSpPr>
          <p:cNvPr id="3" name="內容版面配置區 2"/>
          <p:cNvSpPr>
            <a:spLocks noGrp="1"/>
          </p:cNvSpPr>
          <p:nvPr>
            <p:ph idx="1"/>
          </p:nvPr>
        </p:nvSpPr>
        <p:spPr>
          <a:xfrm>
            <a:off x="838200" y="1825624"/>
            <a:ext cx="10515600" cy="4449051"/>
          </a:xfrm>
        </p:spPr>
        <p:txBody>
          <a:bodyPr/>
          <a:lstStyle/>
          <a:p>
            <a:r>
              <a:rPr lang="en-US" altLang="zh-TW" dirty="0"/>
              <a:t>K-NN rule</a:t>
            </a:r>
            <a:r>
              <a:rPr lang="zh-TW" altLang="en-US" dirty="0"/>
              <a:t> </a:t>
            </a:r>
            <a:r>
              <a:rPr lang="en-US" altLang="zh-TW" dirty="0"/>
              <a:t>:</a:t>
            </a:r>
            <a:r>
              <a:rPr lang="zh-TW" altLang="en-US" dirty="0"/>
              <a:t> 在</a:t>
            </a:r>
            <a:r>
              <a:rPr lang="en-US" altLang="zh-TW" dirty="0"/>
              <a:t>R</a:t>
            </a:r>
            <a:r>
              <a:rPr lang="zh-TW" altLang="en-US" dirty="0"/>
              <a:t>中 尋找</a:t>
            </a:r>
            <a:r>
              <a:rPr lang="en-US" altLang="zh-TW" dirty="0"/>
              <a:t>K</a:t>
            </a:r>
            <a:r>
              <a:rPr lang="zh-TW" altLang="en-US" dirty="0"/>
              <a:t>個離 </a:t>
            </a:r>
            <a:r>
              <a:rPr lang="en-US" altLang="zh-TW" dirty="0"/>
              <a:t>x (time series) </a:t>
            </a:r>
            <a:r>
              <a:rPr lang="zh-TW" altLang="en-US" dirty="0"/>
              <a:t>最近的，哪一類比較多</a:t>
            </a:r>
            <a:r>
              <a:rPr lang="en-US" altLang="zh-TW" dirty="0"/>
              <a:t>x</a:t>
            </a:r>
            <a:r>
              <a:rPr lang="zh-TW" altLang="en-US" dirty="0"/>
              <a:t>即標記為此類</a:t>
            </a:r>
            <a:endParaRPr lang="en-US" altLang="zh-TW" dirty="0"/>
          </a:p>
          <a:p>
            <a:r>
              <a:rPr lang="en-US" altLang="zh-TW" dirty="0"/>
              <a:t>K-means : </a:t>
            </a:r>
            <a:r>
              <a:rPr lang="zh-TW" altLang="en-US" dirty="0"/>
              <a:t>在</a:t>
            </a:r>
            <a:r>
              <a:rPr lang="en-US" altLang="zh-TW" dirty="0"/>
              <a:t>R</a:t>
            </a:r>
            <a:r>
              <a:rPr lang="zh-TW" altLang="en-US" dirty="0"/>
              <a:t>中 尋找</a:t>
            </a:r>
            <a:r>
              <a:rPr lang="en-US" altLang="zh-TW" dirty="0"/>
              <a:t>K</a:t>
            </a:r>
            <a:r>
              <a:rPr lang="zh-TW" altLang="en-US" dirty="0"/>
              <a:t>個群集的中心點，</a:t>
            </a:r>
            <a:r>
              <a:rPr lang="en-US" altLang="zh-TW" dirty="0"/>
              <a:t>x </a:t>
            </a:r>
            <a:r>
              <a:rPr lang="zh-TW" altLang="en-US" dirty="0"/>
              <a:t>離哪一個最近 </a:t>
            </a:r>
            <a:r>
              <a:rPr lang="en-US" altLang="zh-TW" dirty="0"/>
              <a:t>x</a:t>
            </a:r>
            <a:r>
              <a:rPr lang="zh-TW" altLang="en-US" dirty="0"/>
              <a:t>即標記為此類</a:t>
            </a:r>
            <a:endParaRPr lang="en-US" altLang="zh-TW" dirty="0"/>
          </a:p>
          <a:p>
            <a:pPr marL="0" indent="0">
              <a:buNone/>
            </a:pPr>
            <a:endParaRPr lang="zh-TW" altLang="en-US" dirty="0"/>
          </a:p>
        </p:txBody>
      </p:sp>
      <p:cxnSp>
        <p:nvCxnSpPr>
          <p:cNvPr id="5" name="直線接點 4"/>
          <p:cNvCxnSpPr/>
          <p:nvPr/>
        </p:nvCxnSpPr>
        <p:spPr>
          <a:xfrm>
            <a:off x="2645546" y="3604334"/>
            <a:ext cx="26633" cy="2796466"/>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flipV="1">
            <a:off x="1837678" y="5486400"/>
            <a:ext cx="4083728" cy="17755"/>
          </a:xfrm>
          <a:prstGeom prst="line">
            <a:avLst/>
          </a:prstGeom>
        </p:spPr>
        <p:style>
          <a:lnRef idx="1">
            <a:schemeClr val="accent1"/>
          </a:lnRef>
          <a:fillRef idx="0">
            <a:schemeClr val="accent1"/>
          </a:fillRef>
          <a:effectRef idx="0">
            <a:schemeClr val="accent1"/>
          </a:effectRef>
          <a:fontRef idx="minor">
            <a:schemeClr val="tx1"/>
          </a:fontRef>
        </p:style>
      </p:cxnSp>
      <p:sp>
        <p:nvSpPr>
          <p:cNvPr id="8" name="橢圓 7"/>
          <p:cNvSpPr/>
          <p:nvPr/>
        </p:nvSpPr>
        <p:spPr>
          <a:xfrm>
            <a:off x="3355759" y="3604334"/>
            <a:ext cx="142043" cy="1953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3028765" y="4252404"/>
            <a:ext cx="142043" cy="1953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3527394" y="4154749"/>
            <a:ext cx="142043" cy="1953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3278079" y="4447713"/>
            <a:ext cx="142043" cy="1953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3099786" y="3883310"/>
            <a:ext cx="142043" cy="1953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4351537" y="4017813"/>
            <a:ext cx="159798" cy="1737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
        <p:nvSpPr>
          <p:cNvPr id="14" name="橢圓 13"/>
          <p:cNvSpPr/>
          <p:nvPr/>
        </p:nvSpPr>
        <p:spPr>
          <a:xfrm>
            <a:off x="4216893" y="4447713"/>
            <a:ext cx="159798" cy="1737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5" name="橢圓 14"/>
          <p:cNvSpPr/>
          <p:nvPr/>
        </p:nvSpPr>
        <p:spPr>
          <a:xfrm>
            <a:off x="4376691" y="4789503"/>
            <a:ext cx="159798" cy="1737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6" name="橢圓 15"/>
          <p:cNvSpPr/>
          <p:nvPr/>
        </p:nvSpPr>
        <p:spPr>
          <a:xfrm>
            <a:off x="4643021" y="4590968"/>
            <a:ext cx="159798" cy="1737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7" name="橢圓 16"/>
          <p:cNvSpPr/>
          <p:nvPr/>
        </p:nvSpPr>
        <p:spPr>
          <a:xfrm>
            <a:off x="3879542" y="4864899"/>
            <a:ext cx="159798" cy="1737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8" name="文字方塊 17"/>
          <p:cNvSpPr txBox="1"/>
          <p:nvPr/>
        </p:nvSpPr>
        <p:spPr>
          <a:xfrm>
            <a:off x="3950563" y="4095042"/>
            <a:ext cx="284052" cy="369332"/>
          </a:xfrm>
          <a:prstGeom prst="rect">
            <a:avLst/>
          </a:prstGeom>
          <a:noFill/>
        </p:spPr>
        <p:txBody>
          <a:bodyPr wrap="none" rtlCol="0">
            <a:spAutoFit/>
          </a:bodyPr>
          <a:lstStyle/>
          <a:p>
            <a:r>
              <a:rPr lang="en-US" altLang="zh-TW" dirty="0">
                <a:solidFill>
                  <a:srgbClr val="FF0000"/>
                </a:solidFill>
              </a:rPr>
              <a:t>x</a:t>
            </a:r>
            <a:endParaRPr lang="zh-TW" altLang="en-US" dirty="0">
              <a:solidFill>
                <a:srgbClr val="FF0000"/>
              </a:solidFill>
            </a:endParaRPr>
          </a:p>
        </p:txBody>
      </p:sp>
      <p:cxnSp>
        <p:nvCxnSpPr>
          <p:cNvPr id="22" name="直線接點 21"/>
          <p:cNvCxnSpPr>
            <a:endCxn id="14" idx="1"/>
          </p:cNvCxnSpPr>
          <p:nvPr/>
        </p:nvCxnSpPr>
        <p:spPr>
          <a:xfrm>
            <a:off x="4105413" y="4279708"/>
            <a:ext cx="134882" cy="1934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線接點 23"/>
          <p:cNvCxnSpPr>
            <a:endCxn id="10" idx="5"/>
          </p:cNvCxnSpPr>
          <p:nvPr/>
        </p:nvCxnSpPr>
        <p:spPr>
          <a:xfrm flipH="1">
            <a:off x="3648635" y="4312777"/>
            <a:ext cx="456778" cy="86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接點 27"/>
          <p:cNvCxnSpPr>
            <a:endCxn id="13" idx="3"/>
          </p:cNvCxnSpPr>
          <p:nvPr/>
        </p:nvCxnSpPr>
        <p:spPr>
          <a:xfrm flipV="1">
            <a:off x="4105413" y="4166148"/>
            <a:ext cx="269526" cy="146629"/>
          </a:xfrm>
          <a:prstGeom prst="line">
            <a:avLst/>
          </a:prstGeom>
        </p:spPr>
        <p:style>
          <a:lnRef idx="1">
            <a:schemeClr val="accent1"/>
          </a:lnRef>
          <a:fillRef idx="0">
            <a:schemeClr val="accent1"/>
          </a:fillRef>
          <a:effectRef idx="0">
            <a:schemeClr val="accent1"/>
          </a:effectRef>
          <a:fontRef idx="minor">
            <a:schemeClr val="tx1"/>
          </a:fontRef>
        </p:style>
      </p:cxnSp>
      <p:sp>
        <p:nvSpPr>
          <p:cNvPr id="29" name="橢圓 28"/>
          <p:cNvSpPr/>
          <p:nvPr/>
        </p:nvSpPr>
        <p:spPr>
          <a:xfrm>
            <a:off x="3278079" y="4166148"/>
            <a:ext cx="77680" cy="8625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4235109" y="4704736"/>
            <a:ext cx="114676" cy="10339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642237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62382"/>
            <a:ext cx="10515600" cy="904382"/>
          </a:xfrm>
        </p:spPr>
        <p:txBody>
          <a:bodyPr/>
          <a:lstStyle/>
          <a:p>
            <a:r>
              <a:rPr lang="en-US" altLang="zh-TW" b="1" dirty="0"/>
              <a:t>Naive Bayesian Classifier</a:t>
            </a:r>
            <a:endParaRPr lang="zh-TW" altLang="en-US" b="1" dirty="0"/>
          </a:p>
        </p:txBody>
      </p:sp>
      <p:sp>
        <p:nvSpPr>
          <p:cNvPr id="3" name="內容版面配置區 2"/>
          <p:cNvSpPr>
            <a:spLocks noGrp="1"/>
          </p:cNvSpPr>
          <p:nvPr>
            <p:ph idx="1"/>
          </p:nvPr>
        </p:nvSpPr>
        <p:spPr>
          <a:xfrm>
            <a:off x="838200" y="1056444"/>
            <a:ext cx="10515600" cy="5120520"/>
          </a:xfrm>
        </p:spPr>
        <p:txBody>
          <a:bodyPr/>
          <a:lstStyle/>
          <a:p>
            <a:r>
              <a:rPr lang="zh-TW" altLang="en-US" dirty="0"/>
              <a:t>把每個特徵化成機率，去計算</a:t>
            </a:r>
            <a:r>
              <a:rPr lang="en-US" altLang="zh-TW" dirty="0"/>
              <a:t>x</a:t>
            </a:r>
            <a:r>
              <a:rPr lang="zh-TW" altLang="en-US" dirty="0"/>
              <a:t>所要分去的那一類</a:t>
            </a:r>
            <a:endParaRPr lang="en-US" altLang="zh-TW" dirty="0"/>
          </a:p>
          <a:p>
            <a:r>
              <a:rPr lang="en-US" altLang="zh-TW" dirty="0"/>
              <a:t>Play-tennis example:</a:t>
            </a:r>
          </a:p>
          <a:p>
            <a:endParaRPr lang="zh-TW" altLang="en-US" dirty="0"/>
          </a:p>
        </p:txBody>
      </p:sp>
      <p:grpSp>
        <p:nvGrpSpPr>
          <p:cNvPr id="4" name="Group 51"/>
          <p:cNvGrpSpPr>
            <a:grpSpLocks/>
          </p:cNvGrpSpPr>
          <p:nvPr/>
        </p:nvGrpSpPr>
        <p:grpSpPr bwMode="auto">
          <a:xfrm>
            <a:off x="1061621" y="2067757"/>
            <a:ext cx="1905000" cy="1041400"/>
            <a:chOff x="480" y="2688"/>
            <a:chExt cx="1200" cy="656"/>
          </a:xfrm>
        </p:grpSpPr>
        <p:sp>
          <p:nvSpPr>
            <p:cNvPr id="5" name="Rectangle 52"/>
            <p:cNvSpPr>
              <a:spLocks noChangeArrowheads="1"/>
            </p:cNvSpPr>
            <p:nvPr/>
          </p:nvSpPr>
          <p:spPr bwMode="auto">
            <a:xfrm>
              <a:off x="480" y="3016"/>
              <a:ext cx="120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TW" sz="2000" b="1">
                  <a:ea typeface="新細明體" panose="02020500000000000000" pitchFamily="18" charset="-120"/>
                </a:rPr>
                <a:t>P(n) = 5/14</a:t>
              </a:r>
              <a:endParaRPr lang="it-IT" altLang="zh-TW" sz="2000" b="1"/>
            </a:p>
          </p:txBody>
        </p:sp>
        <p:sp>
          <p:nvSpPr>
            <p:cNvPr id="6" name="Rectangle 53"/>
            <p:cNvSpPr>
              <a:spLocks noChangeArrowheads="1"/>
            </p:cNvSpPr>
            <p:nvPr/>
          </p:nvSpPr>
          <p:spPr bwMode="auto">
            <a:xfrm>
              <a:off x="480" y="2688"/>
              <a:ext cx="120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TW" sz="2000" b="1">
                  <a:ea typeface="新細明體" panose="02020500000000000000" pitchFamily="18" charset="-120"/>
                </a:rPr>
                <a:t>P(p) = 9/14</a:t>
              </a:r>
              <a:endParaRPr lang="it-IT" altLang="zh-TW" sz="2000" b="1"/>
            </a:p>
          </p:txBody>
        </p:sp>
        <p:sp>
          <p:nvSpPr>
            <p:cNvPr id="7" name="Line 54"/>
            <p:cNvSpPr>
              <a:spLocks noChangeShapeType="1"/>
            </p:cNvSpPr>
            <p:nvPr/>
          </p:nvSpPr>
          <p:spPr bwMode="auto">
            <a:xfrm>
              <a:off x="480" y="2688"/>
              <a:ext cx="12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8" name="Line 55"/>
            <p:cNvSpPr>
              <a:spLocks noChangeShapeType="1"/>
            </p:cNvSpPr>
            <p:nvPr/>
          </p:nvSpPr>
          <p:spPr bwMode="auto">
            <a:xfrm>
              <a:off x="480" y="3016"/>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 name="Line 56"/>
            <p:cNvSpPr>
              <a:spLocks noChangeShapeType="1"/>
            </p:cNvSpPr>
            <p:nvPr/>
          </p:nvSpPr>
          <p:spPr bwMode="auto">
            <a:xfrm>
              <a:off x="480" y="3344"/>
              <a:ext cx="12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 name="Line 57"/>
            <p:cNvSpPr>
              <a:spLocks noChangeShapeType="1"/>
            </p:cNvSpPr>
            <p:nvPr/>
          </p:nvSpPr>
          <p:spPr bwMode="auto">
            <a:xfrm>
              <a:off x="480" y="2688"/>
              <a:ext cx="0" cy="65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 name="Line 58"/>
            <p:cNvSpPr>
              <a:spLocks noChangeShapeType="1"/>
            </p:cNvSpPr>
            <p:nvPr/>
          </p:nvSpPr>
          <p:spPr bwMode="auto">
            <a:xfrm>
              <a:off x="1680" y="2688"/>
              <a:ext cx="0" cy="65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pSp>
      <p:graphicFrame>
        <p:nvGraphicFramePr>
          <p:cNvPr id="13" name="Object 3"/>
          <p:cNvGraphicFramePr>
            <a:graphicFrameLocks/>
          </p:cNvGraphicFramePr>
          <p:nvPr>
            <p:extLst>
              <p:ext uri="{D42A27DB-BD31-4B8C-83A1-F6EECF244321}">
                <p14:modId xmlns:p14="http://schemas.microsoft.com/office/powerpoint/2010/main" val="2427401387"/>
              </p:ext>
            </p:extLst>
          </p:nvPr>
        </p:nvGraphicFramePr>
        <p:xfrm>
          <a:off x="1071978" y="3640083"/>
          <a:ext cx="3505200" cy="2895600"/>
        </p:xfrm>
        <a:graphic>
          <a:graphicData uri="http://schemas.openxmlformats.org/presentationml/2006/ole">
            <mc:AlternateContent xmlns:mc="http://schemas.openxmlformats.org/markup-compatibility/2006">
              <mc:Choice xmlns:v="urn:schemas-microsoft-com:vml" Requires="v">
                <p:oleObj spid="_x0000_s1035" name="Worksheet" r:id="rId3" imgW="5743956" imgH="5172456" progId="Excel.Sheet.8">
                  <p:embed/>
                </p:oleObj>
              </mc:Choice>
              <mc:Fallback>
                <p:oleObj name="Worksheet" r:id="rId3" imgW="5743956" imgH="5172456" progId="Excel.Sheet.8">
                  <p:embed/>
                  <p:pic>
                    <p:nvPicPr>
                      <p:cNvPr id="2355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978" y="3640083"/>
                        <a:ext cx="35052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文字方塊 13"/>
          <p:cNvSpPr txBox="1"/>
          <p:nvPr/>
        </p:nvSpPr>
        <p:spPr>
          <a:xfrm>
            <a:off x="1061621" y="3270750"/>
            <a:ext cx="1323376" cy="369332"/>
          </a:xfrm>
          <a:prstGeom prst="rect">
            <a:avLst/>
          </a:prstGeom>
          <a:noFill/>
        </p:spPr>
        <p:txBody>
          <a:bodyPr wrap="none" rtlCol="0">
            <a:spAutoFit/>
          </a:bodyPr>
          <a:lstStyle/>
          <a:p>
            <a:r>
              <a:rPr lang="en-US" altLang="zh-TW" dirty="0"/>
              <a:t>Training set:</a:t>
            </a:r>
            <a:endParaRPr lang="zh-TW" altLang="en-US" dirty="0"/>
          </a:p>
        </p:txBody>
      </p:sp>
      <p:graphicFrame>
        <p:nvGraphicFramePr>
          <p:cNvPr id="15" name="Object 4"/>
          <p:cNvGraphicFramePr>
            <a:graphicFrameLocks/>
          </p:cNvGraphicFramePr>
          <p:nvPr>
            <p:extLst>
              <p:ext uri="{D42A27DB-BD31-4B8C-83A1-F6EECF244321}">
                <p14:modId xmlns:p14="http://schemas.microsoft.com/office/powerpoint/2010/main" val="2632031554"/>
              </p:ext>
            </p:extLst>
          </p:nvPr>
        </p:nvGraphicFramePr>
        <p:xfrm>
          <a:off x="4735720" y="2225620"/>
          <a:ext cx="6459538" cy="2862263"/>
        </p:xfrm>
        <a:graphic>
          <a:graphicData uri="http://schemas.openxmlformats.org/presentationml/2006/ole">
            <mc:AlternateContent xmlns:mc="http://schemas.openxmlformats.org/markup-compatibility/2006">
              <mc:Choice xmlns:v="urn:schemas-microsoft-com:vml" Requires="v">
                <p:oleObj spid="_x0000_s1036" name="Worksheet" r:id="rId5" imgW="6459480" imgH="2862000" progId="Excel.Sheet.8">
                  <p:embed/>
                </p:oleObj>
              </mc:Choice>
              <mc:Fallback>
                <p:oleObj name="Worksheet" r:id="rId5" imgW="6459480" imgH="2862000" progId="Excel.Sheet.8">
                  <p:embed/>
                  <p:pic>
                    <p:nvPicPr>
                      <p:cNvPr id="1946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5720" y="2225620"/>
                        <a:ext cx="6459538" cy="286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0229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838200" y="355107"/>
            <a:ext cx="10515600" cy="5821856"/>
          </a:xfrm>
        </p:spPr>
        <p:txBody>
          <a:bodyPr/>
          <a:lstStyle/>
          <a:p>
            <a:r>
              <a:rPr lang="en-US" altLang="zh-TW" dirty="0"/>
              <a:t>An unseen sample X = &lt;rain, hot, high, false&gt;</a:t>
            </a:r>
          </a:p>
          <a:p>
            <a:pPr marL="0" indent="0">
              <a:buNone/>
            </a:pPr>
            <a:endParaRPr lang="en-US" altLang="zh-TW" dirty="0"/>
          </a:p>
          <a:p>
            <a:r>
              <a:rPr lang="en-US" altLang="zh-TW" dirty="0"/>
              <a:t>P(</a:t>
            </a:r>
            <a:r>
              <a:rPr lang="en-US" altLang="zh-TW" dirty="0" err="1"/>
              <a:t>X|p</a:t>
            </a:r>
            <a:r>
              <a:rPr lang="en-US" altLang="zh-TW" dirty="0"/>
              <a:t>)·P(p) = </a:t>
            </a:r>
            <a:br>
              <a:rPr lang="en-US" altLang="zh-TW" dirty="0"/>
            </a:br>
            <a:r>
              <a:rPr lang="en-US" altLang="zh-TW" dirty="0"/>
              <a:t>P(</a:t>
            </a:r>
            <a:r>
              <a:rPr lang="en-US" altLang="zh-TW" dirty="0" err="1"/>
              <a:t>rain|p</a:t>
            </a:r>
            <a:r>
              <a:rPr lang="en-US" altLang="zh-TW" dirty="0"/>
              <a:t>)·P(</a:t>
            </a:r>
            <a:r>
              <a:rPr lang="en-US" altLang="zh-TW" dirty="0" err="1"/>
              <a:t>hot|p</a:t>
            </a:r>
            <a:r>
              <a:rPr lang="en-US" altLang="zh-TW" dirty="0"/>
              <a:t>)·P(</a:t>
            </a:r>
            <a:r>
              <a:rPr lang="en-US" altLang="zh-TW" dirty="0" err="1"/>
              <a:t>high|p</a:t>
            </a:r>
            <a:r>
              <a:rPr lang="en-US" altLang="zh-TW" dirty="0"/>
              <a:t>)·P(</a:t>
            </a:r>
            <a:r>
              <a:rPr lang="en-US" altLang="zh-TW" dirty="0" err="1"/>
              <a:t>false|p</a:t>
            </a:r>
            <a:r>
              <a:rPr lang="en-US" altLang="zh-TW" dirty="0"/>
              <a:t>)·P(p) = 3/9·2/9·3/9·6/9·9/14 = </a:t>
            </a:r>
            <a:r>
              <a:rPr lang="it-IT" altLang="zh-TW" dirty="0">
                <a:cs typeface="Arial" panose="020B0604020202020204" pitchFamily="34" charset="0"/>
              </a:rPr>
              <a:t>0.010582</a:t>
            </a:r>
            <a:endParaRPr lang="en-US" altLang="zh-TW" dirty="0">
              <a:cs typeface="Arial" panose="020B0604020202020204" pitchFamily="34" charset="0"/>
            </a:endParaRPr>
          </a:p>
          <a:p>
            <a:r>
              <a:rPr lang="en-US" altLang="zh-TW" dirty="0"/>
              <a:t>P(</a:t>
            </a:r>
            <a:r>
              <a:rPr lang="en-US" altLang="zh-TW" dirty="0" err="1"/>
              <a:t>X|n</a:t>
            </a:r>
            <a:r>
              <a:rPr lang="en-US" altLang="zh-TW" dirty="0"/>
              <a:t>)·P(n) = </a:t>
            </a:r>
            <a:br>
              <a:rPr lang="en-US" altLang="zh-TW" dirty="0"/>
            </a:br>
            <a:r>
              <a:rPr lang="en-US" altLang="zh-TW" dirty="0"/>
              <a:t>P(</a:t>
            </a:r>
            <a:r>
              <a:rPr lang="en-US" altLang="zh-TW" dirty="0" err="1"/>
              <a:t>rain|n</a:t>
            </a:r>
            <a:r>
              <a:rPr lang="en-US" altLang="zh-TW" dirty="0"/>
              <a:t>)·P(</a:t>
            </a:r>
            <a:r>
              <a:rPr lang="en-US" altLang="zh-TW" dirty="0" err="1"/>
              <a:t>hot|n</a:t>
            </a:r>
            <a:r>
              <a:rPr lang="en-US" altLang="zh-TW" dirty="0"/>
              <a:t>)·P(</a:t>
            </a:r>
            <a:r>
              <a:rPr lang="en-US" altLang="zh-TW" dirty="0" err="1"/>
              <a:t>high|n</a:t>
            </a:r>
            <a:r>
              <a:rPr lang="en-US" altLang="zh-TW" dirty="0"/>
              <a:t>)·P(</a:t>
            </a:r>
            <a:r>
              <a:rPr lang="en-US" altLang="zh-TW" dirty="0" err="1"/>
              <a:t>false|n</a:t>
            </a:r>
            <a:r>
              <a:rPr lang="en-US" altLang="zh-TW" dirty="0"/>
              <a:t>)·P(n) = 2/5·2/5·4/5·2/5·5/14 = </a:t>
            </a:r>
            <a:r>
              <a:rPr lang="it-IT" altLang="zh-TW" dirty="0">
                <a:cs typeface="Arial" panose="020B0604020202020204" pitchFamily="34" charset="0"/>
              </a:rPr>
              <a:t>0.018286</a:t>
            </a:r>
            <a:endParaRPr lang="en-US" altLang="zh-TW" dirty="0">
              <a:cs typeface="Arial" panose="020B0604020202020204" pitchFamily="34" charset="0"/>
            </a:endParaRPr>
          </a:p>
          <a:p>
            <a:endParaRPr lang="en-US" altLang="zh-TW" dirty="0">
              <a:cs typeface="Arial" panose="020B0604020202020204" pitchFamily="34" charset="0"/>
            </a:endParaRPr>
          </a:p>
          <a:p>
            <a:r>
              <a:rPr lang="en-US" altLang="zh-TW" dirty="0"/>
              <a:t>Sample X is classified in class n (don</a:t>
            </a:r>
            <a:r>
              <a:rPr lang="en-US" altLang="zh-TW" dirty="0">
                <a:latin typeface="Comic Sans MS" panose="030F0702030302020204" pitchFamily="66" charset="0"/>
              </a:rPr>
              <a:t>’</a:t>
            </a:r>
            <a:r>
              <a:rPr lang="en-US" altLang="zh-TW" dirty="0"/>
              <a:t>t play)</a:t>
            </a:r>
            <a:endParaRPr lang="it-IT" altLang="zh-TW" dirty="0"/>
          </a:p>
          <a:p>
            <a:endParaRPr lang="zh-TW" altLang="en-US" dirty="0"/>
          </a:p>
        </p:txBody>
      </p:sp>
    </p:spTree>
    <p:extLst>
      <p:ext uri="{BB962C8B-B14F-4D97-AF65-F5344CB8AC3E}">
        <p14:creationId xmlns:p14="http://schemas.microsoft.com/office/powerpoint/2010/main" val="387619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1794509" y="651001"/>
            <a:ext cx="8125911" cy="5761229"/>
          </a:xfrm>
          <a:prstGeom prst="rect">
            <a:avLst/>
          </a:prstGeom>
        </p:spPr>
      </p:pic>
    </p:spTree>
    <p:extLst>
      <p:ext uri="{BB962C8B-B14F-4D97-AF65-F5344CB8AC3E}">
        <p14:creationId xmlns:p14="http://schemas.microsoft.com/office/powerpoint/2010/main" val="1926405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838200" y="845820"/>
            <a:ext cx="10515600" cy="5372100"/>
          </a:xfrm>
          <a:prstGeom prst="rect">
            <a:avLst/>
          </a:prstGeom>
        </p:spPr>
      </p:pic>
    </p:spTree>
    <p:extLst>
      <p:ext uri="{BB962C8B-B14F-4D97-AF65-F5344CB8AC3E}">
        <p14:creationId xmlns:p14="http://schemas.microsoft.com/office/powerpoint/2010/main" val="164108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1067473" y="262254"/>
            <a:ext cx="9492749" cy="6024245"/>
          </a:xfrm>
          <a:prstGeom prst="rect">
            <a:avLst/>
          </a:prstGeom>
        </p:spPr>
      </p:pic>
    </p:spTree>
    <p:extLst>
      <p:ext uri="{BB962C8B-B14F-4D97-AF65-F5344CB8AC3E}">
        <p14:creationId xmlns:p14="http://schemas.microsoft.com/office/powerpoint/2010/main" val="2099208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838199" y="522604"/>
            <a:ext cx="9607261" cy="5706745"/>
          </a:xfrm>
          <a:prstGeom prst="rect">
            <a:avLst/>
          </a:prstGeom>
        </p:spPr>
      </p:pic>
    </p:spTree>
    <p:extLst>
      <p:ext uri="{BB962C8B-B14F-4D97-AF65-F5344CB8AC3E}">
        <p14:creationId xmlns:p14="http://schemas.microsoft.com/office/powerpoint/2010/main" val="1105277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838200" y="591184"/>
            <a:ext cx="10547168" cy="6152515"/>
          </a:xfrm>
          <a:prstGeom prst="rect">
            <a:avLst/>
          </a:prstGeom>
        </p:spPr>
      </p:pic>
    </p:spTree>
    <p:extLst>
      <p:ext uri="{BB962C8B-B14F-4D97-AF65-F5344CB8AC3E}">
        <p14:creationId xmlns:p14="http://schemas.microsoft.com/office/powerpoint/2010/main" val="138732759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TotalTime>
  <Words>469</Words>
  <Application>Microsoft Office PowerPoint</Application>
  <PresentationFormat>寬螢幕</PresentationFormat>
  <Paragraphs>66</Paragraphs>
  <Slides>15</Slides>
  <Notes>0</Notes>
  <HiddenSlides>0</HiddenSlides>
  <MMClips>0</MMClips>
  <ScaleCrop>false</ScaleCrop>
  <HeadingPairs>
    <vt:vector size="8" baseType="variant">
      <vt:variant>
        <vt:lpstr>使用字型</vt:lpstr>
      </vt:variant>
      <vt:variant>
        <vt:i4>6</vt:i4>
      </vt:variant>
      <vt:variant>
        <vt:lpstr>佈景主題</vt:lpstr>
      </vt:variant>
      <vt:variant>
        <vt:i4>1</vt:i4>
      </vt:variant>
      <vt:variant>
        <vt:lpstr>內嵌 OLE 伺服程式</vt:lpstr>
      </vt:variant>
      <vt:variant>
        <vt:i4>1</vt:i4>
      </vt:variant>
      <vt:variant>
        <vt:lpstr>投影片標題</vt:lpstr>
      </vt:variant>
      <vt:variant>
        <vt:i4>15</vt:i4>
      </vt:variant>
    </vt:vector>
  </HeadingPairs>
  <TitlesOfParts>
    <vt:vector size="23" baseType="lpstr">
      <vt:lpstr>新細明體</vt:lpstr>
      <vt:lpstr>Arial</vt:lpstr>
      <vt:lpstr>Calibri</vt:lpstr>
      <vt:lpstr>Calibri Light</vt:lpstr>
      <vt:lpstr>Cambria Math</vt:lpstr>
      <vt:lpstr>Comic Sans MS</vt:lpstr>
      <vt:lpstr>Office 佈景主題</vt:lpstr>
      <vt:lpstr>Worksheet</vt:lpstr>
      <vt:lpstr>Prototype selection for dissimilarity-based classifiers</vt:lpstr>
      <vt:lpstr>Abstract(1/2) </vt:lpstr>
      <vt:lpstr>Abstract(2/2)</vt:lpstr>
      <vt:lpstr>Dissimilarity-based classification</vt:lpstr>
      <vt:lpstr>Dissimilarity measure</vt:lpstr>
      <vt:lpstr>Prototype selection and the representation set</vt:lpstr>
      <vt:lpstr>PowerPoint 簡報</vt:lpstr>
      <vt:lpstr>Classifiers in dissimilarity spaces</vt:lpstr>
      <vt:lpstr>Naive Bayesian Classifier</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Prototype selection for dissimilarity-based classifiers</dc:title>
  <dc:creator>andy</dc:creator>
  <cp:lastModifiedBy>andy</cp:lastModifiedBy>
  <cp:revision>17</cp:revision>
  <dcterms:created xsi:type="dcterms:W3CDTF">2016-12-14T09:01:25Z</dcterms:created>
  <dcterms:modified xsi:type="dcterms:W3CDTF">2016-12-15T10:30:01Z</dcterms:modified>
</cp:coreProperties>
</file>