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56" r:id="rId2"/>
    <p:sldId id="258" r:id="rId3"/>
    <p:sldId id="275" r:id="rId4"/>
    <p:sldId id="260" r:id="rId5"/>
    <p:sldId id="261" r:id="rId6"/>
    <p:sldId id="263" r:id="rId7"/>
    <p:sldId id="265" r:id="rId8"/>
    <p:sldId id="27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7" r:id="rId1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88876" autoAdjust="0"/>
  </p:normalViewPr>
  <p:slideViewPr>
    <p:cSldViewPr snapToGrid="0">
      <p:cViewPr varScale="1">
        <p:scale>
          <a:sx n="79" d="100"/>
          <a:sy n="79" d="100"/>
        </p:scale>
        <p:origin x="762" y="7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-193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CB409-2DA1-4BCA-B435-C6D650D60C53}" type="datetimeFigureOut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6F0565-5FB6-414C-A160-5E7695D65A9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6542347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CDEB75-3589-4D32-B44A-E0772C0D15C5}" type="datetimeFigureOut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F0D5DF-B2A2-41B1-A94F-55B40B4E12B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7097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9795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9558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7676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1640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168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68765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D790BC-32F9-4A5C-A116-81764BA3259F}" type="slidenum">
              <a:rPr lang="en-US" altLang="zh-TW"/>
              <a:pPr/>
              <a:t>7</a:t>
            </a:fld>
            <a:endParaRPr lang="en-US" altLang="zh-TW"/>
          </a:p>
        </p:txBody>
      </p:sp>
      <p:sp>
        <p:nvSpPr>
          <p:cNvPr id="819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67071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54694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ABA4F4-70E6-405A-BFB8-A3BCC30A53DD}" type="slidenum">
              <a:rPr lang="en-US" altLang="zh-TW"/>
              <a:pPr/>
              <a:t>11</a:t>
            </a:fld>
            <a:endParaRPr lang="en-US" altLang="zh-TW"/>
          </a:p>
        </p:txBody>
      </p:sp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1068305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69272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2920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0ED8BE4-65DD-4C5D-B469-2C1C9A601062}" type="slidenum">
              <a:rPr lang="en-US" altLang="zh-TW"/>
              <a:pPr/>
              <a:t>14</a:t>
            </a:fld>
            <a:endParaRPr lang="en-US" altLang="zh-TW"/>
          </a:p>
        </p:txBody>
      </p:sp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TW" altLang="zh-TW"/>
          </a:p>
        </p:txBody>
      </p:sp>
    </p:spTree>
    <p:extLst>
      <p:ext uri="{BB962C8B-B14F-4D97-AF65-F5344CB8AC3E}">
        <p14:creationId xmlns:p14="http://schemas.microsoft.com/office/powerpoint/2010/main" val="3550784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72641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99186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1F0D5DF-B2A2-41B1-A94F-55B40B4E12BA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21429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D7AD2-AD46-4F9C-9DB9-311BC9C511FB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9006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CF8EA7-3B33-4CFB-BDA8-CB4ED22BDFA6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5238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09E7C-A5F4-4E44-A0D0-D8D823ED55EC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132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A09CB-B913-4CE8-9656-48ED378732FA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120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74B2C-81A9-40B9-8191-4AFF6A362158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3329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92B90-13AF-4EA9-8E1C-B6AB9BFE2FEA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34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BC651D-9550-4C8E-A2AF-E9628836D6AE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5121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1AE1-4A31-4B16-8CF5-B0A0C6DC12AA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958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96643-C3C1-4791-B485-3954350756FB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5642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2DB6-053F-4534-9F02-C898C0154A73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4415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D7D-FFB8-45BA-8DA5-BBC396FFB252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95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8CBB84-2B8D-4741-B97A-9F882A8CC49B}" type="datetime1">
              <a:rPr lang="zh-TW" altLang="en-US" smtClean="0"/>
              <a:t>2016/12/27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CF4E80-5859-4E39-A40B-ED9B772D8B0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355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19895" y="323586"/>
            <a:ext cx="8353401" cy="1276614"/>
          </a:xfrm>
        </p:spPr>
        <p:txBody>
          <a:bodyPr>
            <a:normAutofit/>
          </a:bodyPr>
          <a:lstStyle/>
          <a:p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fast linear space computation</a:t>
            </a:r>
            <a:b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3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longest common subsequences</a:t>
            </a:r>
            <a:endParaRPr lang="zh-TW" alt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419895" y="2599144"/>
            <a:ext cx="8353402" cy="3573055"/>
          </a:xfrm>
        </p:spPr>
        <p:txBody>
          <a:bodyPr>
            <a:no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Claus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Rick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Information </a:t>
            </a:r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Processing Letters</a:t>
            </a: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Volume 75, Issue 6, 30 November 2000, Pages </a:t>
            </a:r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275-281</a:t>
            </a:r>
          </a:p>
          <a:p>
            <a:endParaRPr lang="en-US" altLang="zh-TW" dirty="0" smtClean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endParaRPr lang="en-US" altLang="zh-TW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  <a:p>
            <a:r>
              <a:rPr lang="en-US" altLang="zh-TW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Presenter: Chong-Xuan Lo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Date:2016/12/27</a:t>
            </a:r>
            <a:endParaRPr lang="zh-TW" altLang="en-US" dirty="0"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000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show how to maintain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O(min{pm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p(n − p)}) time complexity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linear space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algorithm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which seems to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been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widely accepted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very fast and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ﬂexible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All linear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implementations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ours, rely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variations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divide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conquer scheme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ﬁrst introduced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Hirschberg [5]. The main difﬁculty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keeping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 the time complexity of an algorithm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ﬁnd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suitable partition into two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subproblems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such that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time to solve these is about half the time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the original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0506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ordered pair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 ), 1 ≦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≦ m,1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≦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match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zh-TW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c b a b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 b a c b c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52373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matches that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strictly increasing in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both components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a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c b a b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 b a c b c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1167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 match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 ) we say that it is of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rank k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longest chain ending at (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 ) is k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= c b a b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 = a b a c b c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4436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Line 5"/>
          <p:cNvSpPr>
            <a:spLocks noChangeShapeType="1"/>
          </p:cNvSpPr>
          <p:nvPr/>
        </p:nvSpPr>
        <p:spPr bwMode="auto">
          <a:xfrm>
            <a:off x="1908176" y="2133600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14" name="Line 6"/>
          <p:cNvSpPr>
            <a:spLocks noChangeShapeType="1"/>
          </p:cNvSpPr>
          <p:nvPr/>
        </p:nvSpPr>
        <p:spPr bwMode="auto">
          <a:xfrm>
            <a:off x="2339976" y="1844675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15" name="Rectangle 7"/>
          <p:cNvSpPr>
            <a:spLocks noChangeArrowheads="1"/>
          </p:cNvSpPr>
          <p:nvPr/>
        </p:nvSpPr>
        <p:spPr bwMode="auto">
          <a:xfrm>
            <a:off x="2555876" y="1557338"/>
            <a:ext cx="482441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 dirty="0">
                <a:ea typeface="新細明體" panose="02020500000000000000" pitchFamily="18" charset="-120"/>
              </a:rPr>
              <a:t>c  b  a  b  </a:t>
            </a:r>
            <a:r>
              <a:rPr lang="en-US" altLang="zh-TW" sz="3600" dirty="0" err="1">
                <a:ea typeface="新細明體" panose="02020500000000000000" pitchFamily="18" charset="-120"/>
              </a:rPr>
              <a:t>b</a:t>
            </a:r>
            <a:r>
              <a:rPr lang="en-US" altLang="zh-TW" sz="3600" dirty="0">
                <a:ea typeface="新細明體" panose="02020500000000000000" pitchFamily="18" charset="-120"/>
              </a:rPr>
              <a:t>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 dirty="0">
              <a:ea typeface="新細明體" panose="02020500000000000000" pitchFamily="18" charset="-120"/>
            </a:endParaRPr>
          </a:p>
        </p:txBody>
      </p:sp>
      <p:sp>
        <p:nvSpPr>
          <p:cNvPr id="43016" name="Text Box 8"/>
          <p:cNvSpPr txBox="1">
            <a:spLocks noChangeArrowheads="1"/>
          </p:cNvSpPr>
          <p:nvPr/>
        </p:nvSpPr>
        <p:spPr bwMode="auto">
          <a:xfrm>
            <a:off x="1835152" y="2099599"/>
            <a:ext cx="792162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 dirty="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 dirty="0">
              <a:ea typeface="新細明體" panose="02020500000000000000" pitchFamily="18" charset="-120"/>
            </a:endParaRPr>
          </a:p>
        </p:txBody>
      </p:sp>
      <p:sp>
        <p:nvSpPr>
          <p:cNvPr id="43019" name="Rectangle 11"/>
          <p:cNvSpPr>
            <a:spLocks noChangeArrowheads="1"/>
          </p:cNvSpPr>
          <p:nvPr/>
        </p:nvSpPr>
        <p:spPr bwMode="auto">
          <a:xfrm>
            <a:off x="1582738" y="348789"/>
            <a:ext cx="66960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buNone/>
            </a:pPr>
            <a:r>
              <a:rPr lang="en-US" altLang="zh-TW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Forward contours (FC)</a:t>
            </a:r>
            <a:endParaRPr lang="en-US" altLang="zh-TW" sz="4800" dirty="0">
              <a:solidFill>
                <a:srgbClr val="0000FF"/>
              </a:solidFill>
              <a:ea typeface="新細明體" panose="02020500000000000000" pitchFamily="18" charset="-120"/>
              <a:cs typeface="David" panose="020E0502060401010101" pitchFamily="34" charset="-79"/>
            </a:endParaRPr>
          </a:p>
        </p:txBody>
      </p:sp>
      <p:sp>
        <p:nvSpPr>
          <p:cNvPr id="43022" name="Oval 14"/>
          <p:cNvSpPr>
            <a:spLocks noChangeArrowheads="1"/>
          </p:cNvSpPr>
          <p:nvPr/>
        </p:nvSpPr>
        <p:spPr bwMode="auto">
          <a:xfrm>
            <a:off x="5148263" y="2133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3" name="Oval 15"/>
          <p:cNvSpPr>
            <a:spLocks noChangeArrowheads="1"/>
          </p:cNvSpPr>
          <p:nvPr/>
        </p:nvSpPr>
        <p:spPr bwMode="auto">
          <a:xfrm>
            <a:off x="6156326" y="213360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4" name="Oval 16"/>
          <p:cNvSpPr>
            <a:spLocks noChangeArrowheads="1"/>
          </p:cNvSpPr>
          <p:nvPr/>
        </p:nvSpPr>
        <p:spPr bwMode="auto">
          <a:xfrm>
            <a:off x="3563938" y="2133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5" name="Oval 17"/>
          <p:cNvSpPr>
            <a:spLocks noChangeArrowheads="1"/>
          </p:cNvSpPr>
          <p:nvPr/>
        </p:nvSpPr>
        <p:spPr bwMode="auto">
          <a:xfrm>
            <a:off x="3132138" y="263683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6" name="Oval 18"/>
          <p:cNvSpPr>
            <a:spLocks noChangeArrowheads="1"/>
          </p:cNvSpPr>
          <p:nvPr/>
        </p:nvSpPr>
        <p:spPr bwMode="auto">
          <a:xfrm>
            <a:off x="4067176" y="263683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7" name="Oval 19"/>
          <p:cNvSpPr>
            <a:spLocks noChangeArrowheads="1"/>
          </p:cNvSpPr>
          <p:nvPr/>
        </p:nvSpPr>
        <p:spPr bwMode="auto">
          <a:xfrm>
            <a:off x="4643438" y="263683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29" name="Oval 21"/>
          <p:cNvSpPr>
            <a:spLocks noChangeArrowheads="1"/>
          </p:cNvSpPr>
          <p:nvPr/>
        </p:nvSpPr>
        <p:spPr bwMode="auto">
          <a:xfrm>
            <a:off x="3563938" y="3141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0" name="Oval 22"/>
          <p:cNvSpPr>
            <a:spLocks noChangeArrowheads="1"/>
          </p:cNvSpPr>
          <p:nvPr/>
        </p:nvSpPr>
        <p:spPr bwMode="auto">
          <a:xfrm>
            <a:off x="5075238" y="3141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1" name="Oval 23"/>
          <p:cNvSpPr>
            <a:spLocks noChangeArrowheads="1"/>
          </p:cNvSpPr>
          <p:nvPr/>
        </p:nvSpPr>
        <p:spPr bwMode="auto">
          <a:xfrm>
            <a:off x="6156326" y="31416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2" name="Oval 24"/>
          <p:cNvSpPr>
            <a:spLocks noChangeArrowheads="1"/>
          </p:cNvSpPr>
          <p:nvPr/>
        </p:nvSpPr>
        <p:spPr bwMode="auto">
          <a:xfrm>
            <a:off x="2555876" y="371633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3" name="Oval 25"/>
          <p:cNvSpPr>
            <a:spLocks noChangeArrowheads="1"/>
          </p:cNvSpPr>
          <p:nvPr/>
        </p:nvSpPr>
        <p:spPr bwMode="auto">
          <a:xfrm>
            <a:off x="5651501" y="37893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4" name="Oval 26"/>
          <p:cNvSpPr>
            <a:spLocks noChangeArrowheads="1"/>
          </p:cNvSpPr>
          <p:nvPr/>
        </p:nvSpPr>
        <p:spPr bwMode="auto">
          <a:xfrm>
            <a:off x="6732588" y="37893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5" name="Oval 27"/>
          <p:cNvSpPr>
            <a:spLocks noChangeArrowheads="1"/>
          </p:cNvSpPr>
          <p:nvPr/>
        </p:nvSpPr>
        <p:spPr bwMode="auto">
          <a:xfrm>
            <a:off x="3132138" y="4292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6" name="Oval 28"/>
          <p:cNvSpPr>
            <a:spLocks noChangeArrowheads="1"/>
          </p:cNvSpPr>
          <p:nvPr/>
        </p:nvSpPr>
        <p:spPr bwMode="auto">
          <a:xfrm>
            <a:off x="3995738" y="4292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7" name="Oval 29"/>
          <p:cNvSpPr>
            <a:spLocks noChangeArrowheads="1"/>
          </p:cNvSpPr>
          <p:nvPr/>
        </p:nvSpPr>
        <p:spPr bwMode="auto">
          <a:xfrm>
            <a:off x="4643438" y="4292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8" name="Oval 30"/>
          <p:cNvSpPr>
            <a:spLocks noChangeArrowheads="1"/>
          </p:cNvSpPr>
          <p:nvPr/>
        </p:nvSpPr>
        <p:spPr bwMode="auto">
          <a:xfrm>
            <a:off x="2555876" y="472440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39" name="Oval 31"/>
          <p:cNvSpPr>
            <a:spLocks noChangeArrowheads="1"/>
          </p:cNvSpPr>
          <p:nvPr/>
        </p:nvSpPr>
        <p:spPr bwMode="auto">
          <a:xfrm>
            <a:off x="6732588" y="479742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0" name="Oval 32"/>
          <p:cNvSpPr>
            <a:spLocks noChangeArrowheads="1"/>
          </p:cNvSpPr>
          <p:nvPr/>
        </p:nvSpPr>
        <p:spPr bwMode="auto">
          <a:xfrm>
            <a:off x="5651501" y="479742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1" name="Oval 33"/>
          <p:cNvSpPr>
            <a:spLocks noChangeArrowheads="1"/>
          </p:cNvSpPr>
          <p:nvPr/>
        </p:nvSpPr>
        <p:spPr bwMode="auto">
          <a:xfrm>
            <a:off x="3132138" y="5300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2" name="Oval 34"/>
          <p:cNvSpPr>
            <a:spLocks noChangeArrowheads="1"/>
          </p:cNvSpPr>
          <p:nvPr/>
        </p:nvSpPr>
        <p:spPr bwMode="auto">
          <a:xfrm>
            <a:off x="3995738" y="5300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3" name="Oval 35"/>
          <p:cNvSpPr>
            <a:spLocks noChangeArrowheads="1"/>
          </p:cNvSpPr>
          <p:nvPr/>
        </p:nvSpPr>
        <p:spPr bwMode="auto">
          <a:xfrm>
            <a:off x="4643438" y="5300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4" name="Oval 36"/>
          <p:cNvSpPr>
            <a:spLocks noChangeArrowheads="1"/>
          </p:cNvSpPr>
          <p:nvPr/>
        </p:nvSpPr>
        <p:spPr bwMode="auto">
          <a:xfrm>
            <a:off x="3635376" y="594995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5" name="Oval 37"/>
          <p:cNvSpPr>
            <a:spLocks noChangeArrowheads="1"/>
          </p:cNvSpPr>
          <p:nvPr/>
        </p:nvSpPr>
        <p:spPr bwMode="auto">
          <a:xfrm>
            <a:off x="5148263" y="594995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6" name="Oval 38"/>
          <p:cNvSpPr>
            <a:spLocks noChangeArrowheads="1"/>
          </p:cNvSpPr>
          <p:nvPr/>
        </p:nvSpPr>
        <p:spPr bwMode="auto">
          <a:xfrm>
            <a:off x="6299201" y="594995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7" name="Line 39"/>
          <p:cNvSpPr>
            <a:spLocks noChangeShapeType="1"/>
          </p:cNvSpPr>
          <p:nvPr/>
        </p:nvSpPr>
        <p:spPr bwMode="auto">
          <a:xfrm flipV="1">
            <a:off x="2771776" y="5084763"/>
            <a:ext cx="0" cy="13700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49" name="Line 41"/>
          <p:cNvSpPr>
            <a:spLocks noChangeShapeType="1"/>
          </p:cNvSpPr>
          <p:nvPr/>
        </p:nvSpPr>
        <p:spPr bwMode="auto">
          <a:xfrm flipV="1">
            <a:off x="2771776" y="4076700"/>
            <a:ext cx="0" cy="6492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0" name="Line 42"/>
          <p:cNvSpPr>
            <a:spLocks noChangeShapeType="1"/>
          </p:cNvSpPr>
          <p:nvPr/>
        </p:nvSpPr>
        <p:spPr bwMode="auto">
          <a:xfrm>
            <a:off x="2771776" y="3713160"/>
            <a:ext cx="574676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2" name="Line 44"/>
          <p:cNvSpPr>
            <a:spLocks noChangeShapeType="1"/>
          </p:cNvSpPr>
          <p:nvPr/>
        </p:nvSpPr>
        <p:spPr bwMode="auto">
          <a:xfrm flipV="1">
            <a:off x="3346452" y="2997199"/>
            <a:ext cx="1586" cy="715961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3" name="Line 45"/>
          <p:cNvSpPr>
            <a:spLocks noChangeShapeType="1"/>
          </p:cNvSpPr>
          <p:nvPr/>
        </p:nvSpPr>
        <p:spPr bwMode="auto">
          <a:xfrm flipV="1">
            <a:off x="3490913" y="2781300"/>
            <a:ext cx="287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4" name="Line 46"/>
          <p:cNvSpPr>
            <a:spLocks noChangeShapeType="1"/>
          </p:cNvSpPr>
          <p:nvPr/>
        </p:nvSpPr>
        <p:spPr bwMode="auto">
          <a:xfrm flipV="1">
            <a:off x="3779838" y="2492375"/>
            <a:ext cx="0" cy="2905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5" name="Line 47"/>
          <p:cNvSpPr>
            <a:spLocks noChangeShapeType="1"/>
          </p:cNvSpPr>
          <p:nvPr/>
        </p:nvSpPr>
        <p:spPr bwMode="auto">
          <a:xfrm flipV="1">
            <a:off x="3924301" y="2349500"/>
            <a:ext cx="12239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6" name="Line 48"/>
          <p:cNvSpPr>
            <a:spLocks noChangeShapeType="1"/>
          </p:cNvSpPr>
          <p:nvPr/>
        </p:nvSpPr>
        <p:spPr bwMode="auto">
          <a:xfrm flipV="1">
            <a:off x="5507038" y="2349500"/>
            <a:ext cx="649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7" name="Line 49"/>
          <p:cNvSpPr>
            <a:spLocks noChangeShapeType="1"/>
          </p:cNvSpPr>
          <p:nvPr/>
        </p:nvSpPr>
        <p:spPr bwMode="auto">
          <a:xfrm flipV="1">
            <a:off x="3275013" y="5661025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8" name="Line 50"/>
          <p:cNvSpPr>
            <a:spLocks noChangeShapeType="1"/>
          </p:cNvSpPr>
          <p:nvPr/>
        </p:nvSpPr>
        <p:spPr bwMode="auto">
          <a:xfrm flipV="1">
            <a:off x="3275013" y="4652963"/>
            <a:ext cx="0" cy="6492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59" name="Line 51"/>
          <p:cNvSpPr>
            <a:spLocks noChangeShapeType="1"/>
          </p:cNvSpPr>
          <p:nvPr/>
        </p:nvSpPr>
        <p:spPr bwMode="auto">
          <a:xfrm flipV="1">
            <a:off x="3490913" y="4437063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0" name="Line 52"/>
          <p:cNvSpPr>
            <a:spLocks noChangeShapeType="1"/>
          </p:cNvSpPr>
          <p:nvPr/>
        </p:nvSpPr>
        <p:spPr bwMode="auto">
          <a:xfrm flipV="1">
            <a:off x="3779838" y="3500438"/>
            <a:ext cx="0" cy="939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1" name="Line 53"/>
          <p:cNvSpPr>
            <a:spLocks noChangeShapeType="1"/>
          </p:cNvSpPr>
          <p:nvPr/>
        </p:nvSpPr>
        <p:spPr bwMode="auto">
          <a:xfrm flipV="1">
            <a:off x="3924301" y="3284538"/>
            <a:ext cx="3587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2" name="Line 54"/>
          <p:cNvSpPr>
            <a:spLocks noChangeShapeType="1"/>
          </p:cNvSpPr>
          <p:nvPr/>
        </p:nvSpPr>
        <p:spPr bwMode="auto">
          <a:xfrm flipV="1">
            <a:off x="4283076" y="2997200"/>
            <a:ext cx="0" cy="2873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3" name="Line 55"/>
          <p:cNvSpPr>
            <a:spLocks noChangeShapeType="1"/>
          </p:cNvSpPr>
          <p:nvPr/>
        </p:nvSpPr>
        <p:spPr bwMode="auto">
          <a:xfrm flipV="1">
            <a:off x="4427538" y="2781300"/>
            <a:ext cx="21590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4" name="Line 56"/>
          <p:cNvSpPr>
            <a:spLocks noChangeShapeType="1"/>
          </p:cNvSpPr>
          <p:nvPr/>
        </p:nvSpPr>
        <p:spPr bwMode="auto">
          <a:xfrm flipV="1">
            <a:off x="5003801" y="2781300"/>
            <a:ext cx="2232025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5" name="Line 57"/>
          <p:cNvSpPr>
            <a:spLocks noChangeShapeType="1"/>
          </p:cNvSpPr>
          <p:nvPr/>
        </p:nvSpPr>
        <p:spPr bwMode="auto">
          <a:xfrm flipV="1">
            <a:off x="6516688" y="2349500"/>
            <a:ext cx="649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6" name="Line 58"/>
          <p:cNvSpPr>
            <a:spLocks noChangeShapeType="1"/>
          </p:cNvSpPr>
          <p:nvPr/>
        </p:nvSpPr>
        <p:spPr bwMode="auto">
          <a:xfrm flipV="1">
            <a:off x="3995738" y="6165850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7" name="Line 59"/>
          <p:cNvSpPr>
            <a:spLocks noChangeShapeType="1"/>
          </p:cNvSpPr>
          <p:nvPr/>
        </p:nvSpPr>
        <p:spPr bwMode="auto">
          <a:xfrm flipV="1">
            <a:off x="4211638" y="5661025"/>
            <a:ext cx="0" cy="5064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8" name="Line 60"/>
          <p:cNvSpPr>
            <a:spLocks noChangeShapeType="1"/>
          </p:cNvSpPr>
          <p:nvPr/>
        </p:nvSpPr>
        <p:spPr bwMode="auto">
          <a:xfrm flipV="1">
            <a:off x="4211638" y="4652963"/>
            <a:ext cx="0" cy="650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69" name="Line 61"/>
          <p:cNvSpPr>
            <a:spLocks noChangeShapeType="1"/>
          </p:cNvSpPr>
          <p:nvPr/>
        </p:nvSpPr>
        <p:spPr bwMode="auto">
          <a:xfrm flipV="1">
            <a:off x="4356101" y="4437063"/>
            <a:ext cx="287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0" name="Line 62"/>
          <p:cNvSpPr>
            <a:spLocks noChangeShapeType="1"/>
          </p:cNvSpPr>
          <p:nvPr/>
        </p:nvSpPr>
        <p:spPr bwMode="auto">
          <a:xfrm flipV="1">
            <a:off x="5003801" y="4437063"/>
            <a:ext cx="287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1" name="Line 63"/>
          <p:cNvSpPr>
            <a:spLocks noChangeShapeType="1"/>
          </p:cNvSpPr>
          <p:nvPr/>
        </p:nvSpPr>
        <p:spPr bwMode="auto">
          <a:xfrm flipV="1">
            <a:off x="5291138" y="3500438"/>
            <a:ext cx="0" cy="939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2" name="Line 64"/>
          <p:cNvSpPr>
            <a:spLocks noChangeShapeType="1"/>
          </p:cNvSpPr>
          <p:nvPr/>
        </p:nvSpPr>
        <p:spPr bwMode="auto">
          <a:xfrm flipV="1">
            <a:off x="5435601" y="3284538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3" name="Line 65"/>
          <p:cNvSpPr>
            <a:spLocks noChangeShapeType="1"/>
          </p:cNvSpPr>
          <p:nvPr/>
        </p:nvSpPr>
        <p:spPr bwMode="auto">
          <a:xfrm flipV="1">
            <a:off x="6516688" y="3284538"/>
            <a:ext cx="7191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5" name="Line 67"/>
          <p:cNvSpPr>
            <a:spLocks noChangeShapeType="1"/>
          </p:cNvSpPr>
          <p:nvPr/>
        </p:nvSpPr>
        <p:spPr bwMode="auto">
          <a:xfrm flipV="1">
            <a:off x="4859338" y="5661025"/>
            <a:ext cx="0" cy="7223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6" name="Line 68"/>
          <p:cNvSpPr>
            <a:spLocks noChangeShapeType="1"/>
          </p:cNvSpPr>
          <p:nvPr/>
        </p:nvSpPr>
        <p:spPr bwMode="auto">
          <a:xfrm flipV="1">
            <a:off x="5003801" y="5516563"/>
            <a:ext cx="863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7" name="Line 69"/>
          <p:cNvSpPr>
            <a:spLocks noChangeShapeType="1"/>
          </p:cNvSpPr>
          <p:nvPr/>
        </p:nvSpPr>
        <p:spPr bwMode="auto">
          <a:xfrm flipV="1">
            <a:off x="5867401" y="5157788"/>
            <a:ext cx="0" cy="361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8" name="Line 70"/>
          <p:cNvSpPr>
            <a:spLocks noChangeShapeType="1"/>
          </p:cNvSpPr>
          <p:nvPr/>
        </p:nvSpPr>
        <p:spPr bwMode="auto">
          <a:xfrm flipV="1">
            <a:off x="5867401" y="4149725"/>
            <a:ext cx="0" cy="650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79" name="Line 71"/>
          <p:cNvSpPr>
            <a:spLocks noChangeShapeType="1"/>
          </p:cNvSpPr>
          <p:nvPr/>
        </p:nvSpPr>
        <p:spPr bwMode="auto">
          <a:xfrm flipV="1">
            <a:off x="6011863" y="3933825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80" name="Line 72"/>
          <p:cNvSpPr>
            <a:spLocks noChangeShapeType="1"/>
          </p:cNvSpPr>
          <p:nvPr/>
        </p:nvSpPr>
        <p:spPr bwMode="auto">
          <a:xfrm flipV="1">
            <a:off x="7091363" y="3933825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81" name="Line 73"/>
          <p:cNvSpPr>
            <a:spLocks noChangeShapeType="1"/>
          </p:cNvSpPr>
          <p:nvPr/>
        </p:nvSpPr>
        <p:spPr bwMode="auto">
          <a:xfrm flipV="1">
            <a:off x="5364163" y="6308725"/>
            <a:ext cx="0" cy="146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82" name="Line 74"/>
          <p:cNvSpPr>
            <a:spLocks noChangeShapeType="1"/>
          </p:cNvSpPr>
          <p:nvPr/>
        </p:nvSpPr>
        <p:spPr bwMode="auto">
          <a:xfrm flipV="1">
            <a:off x="5507038" y="6092825"/>
            <a:ext cx="7921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83" name="Line 75"/>
          <p:cNvSpPr>
            <a:spLocks noChangeShapeType="1"/>
          </p:cNvSpPr>
          <p:nvPr/>
        </p:nvSpPr>
        <p:spPr bwMode="auto">
          <a:xfrm flipV="1">
            <a:off x="6659563" y="6092825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84" name="Line 76"/>
          <p:cNvSpPr>
            <a:spLocks noChangeShapeType="1"/>
          </p:cNvSpPr>
          <p:nvPr/>
        </p:nvSpPr>
        <p:spPr bwMode="auto">
          <a:xfrm flipV="1">
            <a:off x="6948488" y="5157788"/>
            <a:ext cx="0" cy="9382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85" name="Line 77"/>
          <p:cNvSpPr>
            <a:spLocks noChangeShapeType="1"/>
          </p:cNvSpPr>
          <p:nvPr/>
        </p:nvSpPr>
        <p:spPr bwMode="auto">
          <a:xfrm flipV="1">
            <a:off x="7091363" y="5013325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43086" name="Line 78"/>
          <p:cNvSpPr>
            <a:spLocks noChangeShapeType="1"/>
          </p:cNvSpPr>
          <p:nvPr/>
        </p:nvSpPr>
        <p:spPr bwMode="auto">
          <a:xfrm flipV="1">
            <a:off x="3851276" y="6308725"/>
            <a:ext cx="0" cy="14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2" name="Text Box 88"/>
          <p:cNvSpPr txBox="1">
            <a:spLocks noChangeArrowheads="1"/>
          </p:cNvSpPr>
          <p:nvPr/>
        </p:nvSpPr>
        <p:spPr bwMode="auto">
          <a:xfrm>
            <a:off x="3489326" y="2115344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 dirty="0"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73" name="Text Box 90"/>
          <p:cNvSpPr txBox="1">
            <a:spLocks noChangeArrowheads="1"/>
          </p:cNvSpPr>
          <p:nvPr/>
        </p:nvSpPr>
        <p:spPr bwMode="auto">
          <a:xfrm>
            <a:off x="3922714" y="2618582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 dirty="0"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74" name="Text Box 91"/>
          <p:cNvSpPr txBox="1">
            <a:spLocks noChangeArrowheads="1"/>
          </p:cNvSpPr>
          <p:nvPr/>
        </p:nvSpPr>
        <p:spPr bwMode="auto">
          <a:xfrm>
            <a:off x="4930776" y="3123407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75" name="Text Box 92"/>
          <p:cNvSpPr txBox="1">
            <a:spLocks noChangeArrowheads="1"/>
          </p:cNvSpPr>
          <p:nvPr/>
        </p:nvSpPr>
        <p:spPr bwMode="auto">
          <a:xfrm>
            <a:off x="5505451" y="3771107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76" name="Text Box 93"/>
          <p:cNvSpPr txBox="1">
            <a:spLocks noChangeArrowheads="1"/>
          </p:cNvSpPr>
          <p:nvPr/>
        </p:nvSpPr>
        <p:spPr bwMode="auto">
          <a:xfrm>
            <a:off x="6657976" y="4779169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705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500"/>
                                        <p:tgtEl>
                                          <p:spTgt spid="43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500"/>
                                        <p:tgtEl>
                                          <p:spTgt spid="43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0" dur="500"/>
                                        <p:tgtEl>
                                          <p:spTgt spid="43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3" dur="500"/>
                                        <p:tgtEl>
                                          <p:spTgt spid="43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6" dur="500"/>
                                        <p:tgtEl>
                                          <p:spTgt spid="43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9" dur="500"/>
                                        <p:tgtEl>
                                          <p:spTgt spid="43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500"/>
                                        <p:tgtEl>
                                          <p:spTgt spid="43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5" dur="500"/>
                                        <p:tgtEl>
                                          <p:spTgt spid="43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8" dur="500"/>
                                        <p:tgtEl>
                                          <p:spTgt spid="43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1" dur="500"/>
                                        <p:tgtEl>
                                          <p:spTgt spid="43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4" dur="500"/>
                                        <p:tgtEl>
                                          <p:spTgt spid="43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47" dur="500"/>
                                        <p:tgtEl>
                                          <p:spTgt spid="43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0" dur="500"/>
                                        <p:tgtEl>
                                          <p:spTgt spid="43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3" dur="500"/>
                                        <p:tgtEl>
                                          <p:spTgt spid="43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6" dur="500"/>
                                        <p:tgtEl>
                                          <p:spTgt spid="43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59" dur="500"/>
                                        <p:tgtEl>
                                          <p:spTgt spid="43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2" dur="500"/>
                                        <p:tgtEl>
                                          <p:spTgt spid="43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5" dur="500"/>
                                        <p:tgtEl>
                                          <p:spTgt spid="43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68" dur="500"/>
                                        <p:tgtEl>
                                          <p:spTgt spid="43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1" dur="500"/>
                                        <p:tgtEl>
                                          <p:spTgt spid="43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4" dur="500"/>
                                        <p:tgtEl>
                                          <p:spTgt spid="43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7" dur="500"/>
                                        <p:tgtEl>
                                          <p:spTgt spid="43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80" dur="500"/>
                                        <p:tgtEl>
                                          <p:spTgt spid="43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5" dur="500"/>
                                        <p:tgtEl>
                                          <p:spTgt spid="43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89" dur="500"/>
                                        <p:tgtEl>
                                          <p:spTgt spid="43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43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43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98" dur="500"/>
                                        <p:tgtEl>
                                          <p:spTgt spid="43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02" dur="500"/>
                                        <p:tgtEl>
                                          <p:spTgt spid="43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0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06" dur="500"/>
                                        <p:tgtEl>
                                          <p:spTgt spid="43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0" dur="500"/>
                                        <p:tgtEl>
                                          <p:spTgt spid="43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4" dur="500"/>
                                        <p:tgtEl>
                                          <p:spTgt spid="43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18" dur="500"/>
                                        <p:tgtEl>
                                          <p:spTgt spid="430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2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2" dur="500"/>
                                        <p:tgtEl>
                                          <p:spTgt spid="43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6" dur="500"/>
                                        <p:tgtEl>
                                          <p:spTgt spid="43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0" dur="500"/>
                                        <p:tgtEl>
                                          <p:spTgt spid="43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1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34" dur="500"/>
                                        <p:tgtEl>
                                          <p:spTgt spid="43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3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38" dur="500"/>
                                        <p:tgtEl>
                                          <p:spTgt spid="43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7000"/>
                            </p:stCondLst>
                            <p:childTnLst>
                              <p:par>
                                <p:cTn id="1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42" dur="500"/>
                                        <p:tgtEl>
                                          <p:spTgt spid="43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4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46" dur="500"/>
                                        <p:tgtEl>
                                          <p:spTgt spid="43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8000"/>
                            </p:stCondLst>
                            <p:childTnLst>
                              <p:par>
                                <p:cTn id="14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0" dur="500"/>
                                        <p:tgtEl>
                                          <p:spTgt spid="43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5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4" dur="500"/>
                                        <p:tgtEl>
                                          <p:spTgt spid="4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9000"/>
                            </p:stCondLst>
                            <p:childTnLst>
                              <p:par>
                                <p:cTn id="15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8" dur="500"/>
                                        <p:tgtEl>
                                          <p:spTgt spid="430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9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6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2" dur="500"/>
                                        <p:tgtEl>
                                          <p:spTgt spid="43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3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16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66" dur="500"/>
                                        <p:tgtEl>
                                          <p:spTgt spid="430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6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0" dur="500"/>
                                        <p:tgtEl>
                                          <p:spTgt spid="430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 nodeType="afterGroup">
                            <p:stCondLst>
                              <p:cond delay="11000"/>
                            </p:stCondLst>
                            <p:childTnLst>
                              <p:par>
                                <p:cTn id="17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4" dur="500"/>
                                        <p:tgtEl>
                                          <p:spTgt spid="43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7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78" dur="500"/>
                                        <p:tgtEl>
                                          <p:spTgt spid="430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12000"/>
                            </p:stCondLst>
                            <p:childTnLst>
                              <p:par>
                                <p:cTn id="18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2" dur="500"/>
                                        <p:tgtEl>
                                          <p:spTgt spid="43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8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86" dur="500"/>
                                        <p:tgtEl>
                                          <p:spTgt spid="4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7" fill="hold" nodeType="afterGroup">
                            <p:stCondLst>
                              <p:cond delay="13000"/>
                            </p:stCondLst>
                            <p:childTnLst>
                              <p:par>
                                <p:cTn id="188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0" dur="500"/>
                                        <p:tgtEl>
                                          <p:spTgt spid="4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1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9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4" dur="500"/>
                                        <p:tgtEl>
                                          <p:spTgt spid="4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5" fill="hold" nodeType="afterGroup">
                            <p:stCondLst>
                              <p:cond delay="14000"/>
                            </p:stCondLst>
                            <p:childTnLst>
                              <p:par>
                                <p:cTn id="19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8" dur="500"/>
                                        <p:tgtEl>
                                          <p:spTgt spid="4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20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02" dur="500"/>
                                        <p:tgtEl>
                                          <p:spTgt spid="4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 nodeType="afterGroup">
                            <p:stCondLst>
                              <p:cond delay="15000"/>
                            </p:stCondLst>
                            <p:childTnLst>
                              <p:par>
                                <p:cTn id="204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06" dur="500"/>
                                        <p:tgtEl>
                                          <p:spTgt spid="4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7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20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0" dur="500"/>
                                        <p:tgtEl>
                                          <p:spTgt spid="4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1" fill="hold" nodeType="afterGroup">
                            <p:stCondLst>
                              <p:cond delay="16000"/>
                            </p:stCondLst>
                            <p:childTnLst>
                              <p:par>
                                <p:cTn id="21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14" dur="500"/>
                                        <p:tgtEl>
                                          <p:spTgt spid="4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21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18" dur="500"/>
                                        <p:tgtEl>
                                          <p:spTgt spid="4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 nodeType="afterGroup">
                            <p:stCondLst>
                              <p:cond delay="17000"/>
                            </p:stCondLst>
                            <p:childTnLst>
                              <p:par>
                                <p:cTn id="220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2" dur="500"/>
                                        <p:tgtEl>
                                          <p:spTgt spid="4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3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224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6" dur="500"/>
                                        <p:tgtEl>
                                          <p:spTgt spid="4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7" fill="hold" nodeType="afterGroup">
                            <p:stCondLst>
                              <p:cond delay="18000"/>
                            </p:stCondLst>
                            <p:childTnLst>
                              <p:par>
                                <p:cTn id="22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0" dur="500"/>
                                        <p:tgtEl>
                                          <p:spTgt spid="43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22" grpId="0" animBg="1"/>
      <p:bldP spid="43023" grpId="0" animBg="1"/>
      <p:bldP spid="43024" grpId="0" animBg="1"/>
      <p:bldP spid="43025" grpId="0" animBg="1"/>
      <p:bldP spid="43026" grpId="0" animBg="1"/>
      <p:bldP spid="43027" grpId="0" animBg="1"/>
      <p:bldP spid="43029" grpId="0" animBg="1"/>
      <p:bldP spid="43030" grpId="0" animBg="1"/>
      <p:bldP spid="43031" grpId="0" animBg="1"/>
      <p:bldP spid="43032" grpId="0" animBg="1"/>
      <p:bldP spid="43033" grpId="0" animBg="1"/>
      <p:bldP spid="43034" grpId="0" animBg="1"/>
      <p:bldP spid="43035" grpId="0" animBg="1"/>
      <p:bldP spid="43036" grpId="0" animBg="1"/>
      <p:bldP spid="43037" grpId="0" animBg="1"/>
      <p:bldP spid="43038" grpId="0" animBg="1"/>
      <p:bldP spid="43039" grpId="0" animBg="1"/>
      <p:bldP spid="43040" grpId="0" animBg="1"/>
      <p:bldP spid="43041" grpId="0" animBg="1"/>
      <p:bldP spid="43042" grpId="0" animBg="1"/>
      <p:bldP spid="43043" grpId="0" animBg="1"/>
      <p:bldP spid="43044" grpId="0" animBg="1"/>
      <p:bldP spid="43045" grpId="0" animBg="1"/>
      <p:bldP spid="43046" grpId="0" animBg="1"/>
      <p:bldP spid="43047" grpId="0" animBg="1"/>
      <p:bldP spid="43049" grpId="0" animBg="1"/>
      <p:bldP spid="43050" grpId="0" animBg="1"/>
      <p:bldP spid="43052" grpId="0" animBg="1"/>
      <p:bldP spid="43053" grpId="0" animBg="1"/>
      <p:bldP spid="43054" grpId="0" animBg="1"/>
      <p:bldP spid="43055" grpId="0" animBg="1"/>
      <p:bldP spid="43056" grpId="0" animBg="1"/>
      <p:bldP spid="43057" grpId="0" animBg="1"/>
      <p:bldP spid="43058" grpId="0" animBg="1"/>
      <p:bldP spid="43059" grpId="0" animBg="1"/>
      <p:bldP spid="43060" grpId="0" animBg="1"/>
      <p:bldP spid="43061" grpId="0" animBg="1"/>
      <p:bldP spid="43062" grpId="0" animBg="1"/>
      <p:bldP spid="43063" grpId="0" animBg="1"/>
      <p:bldP spid="43064" grpId="0" animBg="1"/>
      <p:bldP spid="43065" grpId="0" animBg="1"/>
      <p:bldP spid="43066" grpId="0" animBg="1"/>
      <p:bldP spid="43067" grpId="0" animBg="1"/>
      <p:bldP spid="43068" grpId="0" animBg="1"/>
      <p:bldP spid="43069" grpId="0" animBg="1"/>
      <p:bldP spid="43070" grpId="0" animBg="1"/>
      <p:bldP spid="43071" grpId="0" animBg="1"/>
      <p:bldP spid="43072" grpId="0" animBg="1"/>
      <p:bldP spid="43073" grpId="0" animBg="1"/>
      <p:bldP spid="43075" grpId="0" animBg="1"/>
      <p:bldP spid="43076" grpId="0" animBg="1"/>
      <p:bldP spid="43077" grpId="0" animBg="1"/>
      <p:bldP spid="43078" grpId="0" animBg="1"/>
      <p:bldP spid="43079" grpId="0" animBg="1"/>
      <p:bldP spid="43080" grpId="0" animBg="1"/>
      <p:bldP spid="43081" grpId="0" animBg="1"/>
      <p:bldP spid="43082" grpId="0" animBg="1"/>
      <p:bldP spid="43083" grpId="0" animBg="1"/>
      <p:bldP spid="43084" grpId="0" animBg="1"/>
      <p:bldP spid="43085" grpId="0" animBg="1"/>
      <p:bldP spid="43086" grpId="0" animBg="1"/>
      <p:bldP spid="72" grpId="0"/>
      <p:bldP spid="73" grpId="0"/>
      <p:bldP spid="74" grpId="0"/>
      <p:bldP spid="75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Line 3"/>
          <p:cNvSpPr>
            <a:spLocks noChangeShapeType="1"/>
          </p:cNvSpPr>
          <p:nvPr/>
        </p:nvSpPr>
        <p:spPr bwMode="auto">
          <a:xfrm>
            <a:off x="1969279" y="206057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60" name="Line 4"/>
          <p:cNvSpPr>
            <a:spLocks noChangeShapeType="1"/>
          </p:cNvSpPr>
          <p:nvPr/>
        </p:nvSpPr>
        <p:spPr bwMode="auto">
          <a:xfrm>
            <a:off x="2401079" y="1844675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61" name="Rectangle 5"/>
          <p:cNvSpPr>
            <a:spLocks noChangeArrowheads="1"/>
          </p:cNvSpPr>
          <p:nvPr/>
        </p:nvSpPr>
        <p:spPr bwMode="auto">
          <a:xfrm>
            <a:off x="2616979" y="1557338"/>
            <a:ext cx="482441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>
                <a:ea typeface="新細明體" panose="02020500000000000000" pitchFamily="18" charset="-120"/>
              </a:rPr>
              <a:t>c  b  a  b  b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70662" name="Text Box 6"/>
          <p:cNvSpPr txBox="1">
            <a:spLocks noChangeArrowheads="1"/>
          </p:cNvSpPr>
          <p:nvPr/>
        </p:nvSpPr>
        <p:spPr bwMode="auto">
          <a:xfrm>
            <a:off x="1896254" y="1822450"/>
            <a:ext cx="792162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70664" name="Oval 8"/>
          <p:cNvSpPr>
            <a:spLocks noChangeArrowheads="1"/>
          </p:cNvSpPr>
          <p:nvPr/>
        </p:nvSpPr>
        <p:spPr bwMode="auto">
          <a:xfrm>
            <a:off x="5209366" y="2133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65" name="Oval 9"/>
          <p:cNvSpPr>
            <a:spLocks noChangeArrowheads="1"/>
          </p:cNvSpPr>
          <p:nvPr/>
        </p:nvSpPr>
        <p:spPr bwMode="auto">
          <a:xfrm>
            <a:off x="6217429" y="213360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66" name="Oval 10"/>
          <p:cNvSpPr>
            <a:spLocks noChangeArrowheads="1"/>
          </p:cNvSpPr>
          <p:nvPr/>
        </p:nvSpPr>
        <p:spPr bwMode="auto">
          <a:xfrm>
            <a:off x="3625041" y="2133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67" name="Oval 11"/>
          <p:cNvSpPr>
            <a:spLocks noChangeArrowheads="1"/>
          </p:cNvSpPr>
          <p:nvPr/>
        </p:nvSpPr>
        <p:spPr bwMode="auto">
          <a:xfrm>
            <a:off x="3193241" y="263683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68" name="Oval 12"/>
          <p:cNvSpPr>
            <a:spLocks noChangeArrowheads="1"/>
          </p:cNvSpPr>
          <p:nvPr/>
        </p:nvSpPr>
        <p:spPr bwMode="auto">
          <a:xfrm>
            <a:off x="4128279" y="263683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69" name="Oval 13"/>
          <p:cNvSpPr>
            <a:spLocks noChangeArrowheads="1"/>
          </p:cNvSpPr>
          <p:nvPr/>
        </p:nvSpPr>
        <p:spPr bwMode="auto">
          <a:xfrm>
            <a:off x="4704541" y="263683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0" name="Oval 14"/>
          <p:cNvSpPr>
            <a:spLocks noChangeArrowheads="1"/>
          </p:cNvSpPr>
          <p:nvPr/>
        </p:nvSpPr>
        <p:spPr bwMode="auto">
          <a:xfrm>
            <a:off x="3625041" y="3141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1" name="Oval 15"/>
          <p:cNvSpPr>
            <a:spLocks noChangeArrowheads="1"/>
          </p:cNvSpPr>
          <p:nvPr/>
        </p:nvSpPr>
        <p:spPr bwMode="auto">
          <a:xfrm>
            <a:off x="5136341" y="3141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2" name="Oval 16"/>
          <p:cNvSpPr>
            <a:spLocks noChangeArrowheads="1"/>
          </p:cNvSpPr>
          <p:nvPr/>
        </p:nvSpPr>
        <p:spPr bwMode="auto">
          <a:xfrm>
            <a:off x="6217429" y="31416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3" name="Oval 17"/>
          <p:cNvSpPr>
            <a:spLocks noChangeArrowheads="1"/>
          </p:cNvSpPr>
          <p:nvPr/>
        </p:nvSpPr>
        <p:spPr bwMode="auto">
          <a:xfrm>
            <a:off x="2616979" y="371633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4" name="Oval 18"/>
          <p:cNvSpPr>
            <a:spLocks noChangeArrowheads="1"/>
          </p:cNvSpPr>
          <p:nvPr/>
        </p:nvSpPr>
        <p:spPr bwMode="auto">
          <a:xfrm>
            <a:off x="5712604" y="37893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5" name="Oval 19"/>
          <p:cNvSpPr>
            <a:spLocks noChangeArrowheads="1"/>
          </p:cNvSpPr>
          <p:nvPr/>
        </p:nvSpPr>
        <p:spPr bwMode="auto">
          <a:xfrm>
            <a:off x="6793691" y="37893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6" name="Oval 20"/>
          <p:cNvSpPr>
            <a:spLocks noChangeArrowheads="1"/>
          </p:cNvSpPr>
          <p:nvPr/>
        </p:nvSpPr>
        <p:spPr bwMode="auto">
          <a:xfrm>
            <a:off x="3193241" y="4292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7" name="Oval 21"/>
          <p:cNvSpPr>
            <a:spLocks noChangeArrowheads="1"/>
          </p:cNvSpPr>
          <p:nvPr/>
        </p:nvSpPr>
        <p:spPr bwMode="auto">
          <a:xfrm>
            <a:off x="4056841" y="4292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8" name="Oval 22"/>
          <p:cNvSpPr>
            <a:spLocks noChangeArrowheads="1"/>
          </p:cNvSpPr>
          <p:nvPr/>
        </p:nvSpPr>
        <p:spPr bwMode="auto">
          <a:xfrm>
            <a:off x="4704541" y="42926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79" name="Oval 23"/>
          <p:cNvSpPr>
            <a:spLocks noChangeArrowheads="1"/>
          </p:cNvSpPr>
          <p:nvPr/>
        </p:nvSpPr>
        <p:spPr bwMode="auto">
          <a:xfrm>
            <a:off x="2616979" y="472440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0" name="Oval 24"/>
          <p:cNvSpPr>
            <a:spLocks noChangeArrowheads="1"/>
          </p:cNvSpPr>
          <p:nvPr/>
        </p:nvSpPr>
        <p:spPr bwMode="auto">
          <a:xfrm>
            <a:off x="6793691" y="479742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1" name="Oval 25"/>
          <p:cNvSpPr>
            <a:spLocks noChangeArrowheads="1"/>
          </p:cNvSpPr>
          <p:nvPr/>
        </p:nvSpPr>
        <p:spPr bwMode="auto">
          <a:xfrm>
            <a:off x="5712604" y="479742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2" name="Oval 26"/>
          <p:cNvSpPr>
            <a:spLocks noChangeArrowheads="1"/>
          </p:cNvSpPr>
          <p:nvPr/>
        </p:nvSpPr>
        <p:spPr bwMode="auto">
          <a:xfrm>
            <a:off x="3193241" y="5300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3" name="Oval 27"/>
          <p:cNvSpPr>
            <a:spLocks noChangeArrowheads="1"/>
          </p:cNvSpPr>
          <p:nvPr/>
        </p:nvSpPr>
        <p:spPr bwMode="auto">
          <a:xfrm>
            <a:off x="4056841" y="5300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4" name="Oval 28"/>
          <p:cNvSpPr>
            <a:spLocks noChangeArrowheads="1"/>
          </p:cNvSpPr>
          <p:nvPr/>
        </p:nvSpPr>
        <p:spPr bwMode="auto">
          <a:xfrm>
            <a:off x="4704541" y="5300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5" name="Oval 29"/>
          <p:cNvSpPr>
            <a:spLocks noChangeArrowheads="1"/>
          </p:cNvSpPr>
          <p:nvPr/>
        </p:nvSpPr>
        <p:spPr bwMode="auto">
          <a:xfrm>
            <a:off x="3696479" y="5949950"/>
            <a:ext cx="360362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6" name="Oval 30"/>
          <p:cNvSpPr>
            <a:spLocks noChangeArrowheads="1"/>
          </p:cNvSpPr>
          <p:nvPr/>
        </p:nvSpPr>
        <p:spPr bwMode="auto">
          <a:xfrm>
            <a:off x="5209366" y="594995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7" name="Oval 31"/>
          <p:cNvSpPr>
            <a:spLocks noChangeArrowheads="1"/>
          </p:cNvSpPr>
          <p:nvPr/>
        </p:nvSpPr>
        <p:spPr bwMode="auto">
          <a:xfrm>
            <a:off x="6360304" y="594995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8" name="Line 32"/>
          <p:cNvSpPr>
            <a:spLocks noChangeShapeType="1"/>
          </p:cNvSpPr>
          <p:nvPr/>
        </p:nvSpPr>
        <p:spPr bwMode="auto">
          <a:xfrm flipV="1">
            <a:off x="2832879" y="5084763"/>
            <a:ext cx="0" cy="13700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89" name="Line 33"/>
          <p:cNvSpPr>
            <a:spLocks noChangeShapeType="1"/>
          </p:cNvSpPr>
          <p:nvPr/>
        </p:nvSpPr>
        <p:spPr bwMode="auto">
          <a:xfrm flipV="1">
            <a:off x="2832879" y="4076700"/>
            <a:ext cx="0" cy="6492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0" name="Line 34"/>
          <p:cNvSpPr>
            <a:spLocks noChangeShapeType="1"/>
          </p:cNvSpPr>
          <p:nvPr/>
        </p:nvSpPr>
        <p:spPr bwMode="auto">
          <a:xfrm flipV="1">
            <a:off x="2832878" y="3714750"/>
            <a:ext cx="576263" cy="317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2" name="Line 36"/>
          <p:cNvSpPr>
            <a:spLocks noChangeShapeType="1"/>
          </p:cNvSpPr>
          <p:nvPr/>
        </p:nvSpPr>
        <p:spPr bwMode="auto">
          <a:xfrm flipV="1">
            <a:off x="3409141" y="2997199"/>
            <a:ext cx="0" cy="71596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3" name="Line 37"/>
          <p:cNvSpPr>
            <a:spLocks noChangeShapeType="1"/>
          </p:cNvSpPr>
          <p:nvPr/>
        </p:nvSpPr>
        <p:spPr bwMode="auto">
          <a:xfrm flipV="1">
            <a:off x="3552016" y="2781300"/>
            <a:ext cx="2873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4" name="Line 38"/>
          <p:cNvSpPr>
            <a:spLocks noChangeShapeType="1"/>
          </p:cNvSpPr>
          <p:nvPr/>
        </p:nvSpPr>
        <p:spPr bwMode="auto">
          <a:xfrm flipV="1">
            <a:off x="3840941" y="2492375"/>
            <a:ext cx="0" cy="2905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5" name="Line 39"/>
          <p:cNvSpPr>
            <a:spLocks noChangeShapeType="1"/>
          </p:cNvSpPr>
          <p:nvPr/>
        </p:nvSpPr>
        <p:spPr bwMode="auto">
          <a:xfrm flipV="1">
            <a:off x="3985404" y="2349500"/>
            <a:ext cx="1223962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6" name="Line 40"/>
          <p:cNvSpPr>
            <a:spLocks noChangeShapeType="1"/>
          </p:cNvSpPr>
          <p:nvPr/>
        </p:nvSpPr>
        <p:spPr bwMode="auto">
          <a:xfrm flipV="1">
            <a:off x="5568141" y="2349500"/>
            <a:ext cx="649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7" name="Line 41"/>
          <p:cNvSpPr>
            <a:spLocks noChangeShapeType="1"/>
          </p:cNvSpPr>
          <p:nvPr/>
        </p:nvSpPr>
        <p:spPr bwMode="auto">
          <a:xfrm flipV="1">
            <a:off x="3336116" y="5661025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8" name="Line 42"/>
          <p:cNvSpPr>
            <a:spLocks noChangeShapeType="1"/>
          </p:cNvSpPr>
          <p:nvPr/>
        </p:nvSpPr>
        <p:spPr bwMode="auto">
          <a:xfrm flipV="1">
            <a:off x="3336116" y="4652963"/>
            <a:ext cx="0" cy="6492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699" name="Line 43"/>
          <p:cNvSpPr>
            <a:spLocks noChangeShapeType="1"/>
          </p:cNvSpPr>
          <p:nvPr/>
        </p:nvSpPr>
        <p:spPr bwMode="auto">
          <a:xfrm flipV="1">
            <a:off x="3552016" y="4437063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0" name="Line 44"/>
          <p:cNvSpPr>
            <a:spLocks noChangeShapeType="1"/>
          </p:cNvSpPr>
          <p:nvPr/>
        </p:nvSpPr>
        <p:spPr bwMode="auto">
          <a:xfrm flipV="1">
            <a:off x="3840941" y="3500438"/>
            <a:ext cx="0" cy="939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1" name="Line 45"/>
          <p:cNvSpPr>
            <a:spLocks noChangeShapeType="1"/>
          </p:cNvSpPr>
          <p:nvPr/>
        </p:nvSpPr>
        <p:spPr bwMode="auto">
          <a:xfrm flipV="1">
            <a:off x="3985404" y="3284538"/>
            <a:ext cx="35877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2" name="Line 46"/>
          <p:cNvSpPr>
            <a:spLocks noChangeShapeType="1"/>
          </p:cNvSpPr>
          <p:nvPr/>
        </p:nvSpPr>
        <p:spPr bwMode="auto">
          <a:xfrm flipV="1">
            <a:off x="4344179" y="2997200"/>
            <a:ext cx="0" cy="28733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3" name="Line 47"/>
          <p:cNvSpPr>
            <a:spLocks noChangeShapeType="1"/>
          </p:cNvSpPr>
          <p:nvPr/>
        </p:nvSpPr>
        <p:spPr bwMode="auto">
          <a:xfrm flipV="1">
            <a:off x="4488641" y="2781300"/>
            <a:ext cx="21590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4" name="Line 48"/>
          <p:cNvSpPr>
            <a:spLocks noChangeShapeType="1"/>
          </p:cNvSpPr>
          <p:nvPr/>
        </p:nvSpPr>
        <p:spPr bwMode="auto">
          <a:xfrm flipV="1">
            <a:off x="5064904" y="2781300"/>
            <a:ext cx="2232025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5" name="Line 49"/>
          <p:cNvSpPr>
            <a:spLocks noChangeShapeType="1"/>
          </p:cNvSpPr>
          <p:nvPr/>
        </p:nvSpPr>
        <p:spPr bwMode="auto">
          <a:xfrm flipV="1">
            <a:off x="6577791" y="2349500"/>
            <a:ext cx="64928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6" name="Line 50"/>
          <p:cNvSpPr>
            <a:spLocks noChangeShapeType="1"/>
          </p:cNvSpPr>
          <p:nvPr/>
        </p:nvSpPr>
        <p:spPr bwMode="auto">
          <a:xfrm flipV="1">
            <a:off x="4056841" y="6165850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7" name="Line 51"/>
          <p:cNvSpPr>
            <a:spLocks noChangeShapeType="1"/>
          </p:cNvSpPr>
          <p:nvPr/>
        </p:nvSpPr>
        <p:spPr bwMode="auto">
          <a:xfrm flipV="1">
            <a:off x="4272741" y="5661025"/>
            <a:ext cx="0" cy="5064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8" name="Line 52"/>
          <p:cNvSpPr>
            <a:spLocks noChangeShapeType="1"/>
          </p:cNvSpPr>
          <p:nvPr/>
        </p:nvSpPr>
        <p:spPr bwMode="auto">
          <a:xfrm flipV="1">
            <a:off x="4272741" y="4652963"/>
            <a:ext cx="0" cy="650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09" name="Line 53"/>
          <p:cNvSpPr>
            <a:spLocks noChangeShapeType="1"/>
          </p:cNvSpPr>
          <p:nvPr/>
        </p:nvSpPr>
        <p:spPr bwMode="auto">
          <a:xfrm flipV="1">
            <a:off x="4417204" y="4437063"/>
            <a:ext cx="287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0" name="Line 54"/>
          <p:cNvSpPr>
            <a:spLocks noChangeShapeType="1"/>
          </p:cNvSpPr>
          <p:nvPr/>
        </p:nvSpPr>
        <p:spPr bwMode="auto">
          <a:xfrm flipV="1">
            <a:off x="5064904" y="4437063"/>
            <a:ext cx="28733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1" name="Line 55"/>
          <p:cNvSpPr>
            <a:spLocks noChangeShapeType="1"/>
          </p:cNvSpPr>
          <p:nvPr/>
        </p:nvSpPr>
        <p:spPr bwMode="auto">
          <a:xfrm flipV="1">
            <a:off x="5352241" y="3500438"/>
            <a:ext cx="0" cy="939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2" name="Line 56"/>
          <p:cNvSpPr>
            <a:spLocks noChangeShapeType="1"/>
          </p:cNvSpPr>
          <p:nvPr/>
        </p:nvSpPr>
        <p:spPr bwMode="auto">
          <a:xfrm flipV="1">
            <a:off x="5496704" y="3284538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3" name="Line 57"/>
          <p:cNvSpPr>
            <a:spLocks noChangeShapeType="1"/>
          </p:cNvSpPr>
          <p:nvPr/>
        </p:nvSpPr>
        <p:spPr bwMode="auto">
          <a:xfrm flipV="1">
            <a:off x="6577791" y="3284538"/>
            <a:ext cx="719138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4" name="Line 58"/>
          <p:cNvSpPr>
            <a:spLocks noChangeShapeType="1"/>
          </p:cNvSpPr>
          <p:nvPr/>
        </p:nvSpPr>
        <p:spPr bwMode="auto">
          <a:xfrm flipV="1">
            <a:off x="4920441" y="5661025"/>
            <a:ext cx="0" cy="72231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5" name="Line 59"/>
          <p:cNvSpPr>
            <a:spLocks noChangeShapeType="1"/>
          </p:cNvSpPr>
          <p:nvPr/>
        </p:nvSpPr>
        <p:spPr bwMode="auto">
          <a:xfrm flipV="1">
            <a:off x="5064904" y="5516563"/>
            <a:ext cx="863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6" name="Line 60"/>
          <p:cNvSpPr>
            <a:spLocks noChangeShapeType="1"/>
          </p:cNvSpPr>
          <p:nvPr/>
        </p:nvSpPr>
        <p:spPr bwMode="auto">
          <a:xfrm flipV="1">
            <a:off x="5928504" y="5157788"/>
            <a:ext cx="0" cy="361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7" name="Line 61"/>
          <p:cNvSpPr>
            <a:spLocks noChangeShapeType="1"/>
          </p:cNvSpPr>
          <p:nvPr/>
        </p:nvSpPr>
        <p:spPr bwMode="auto">
          <a:xfrm flipV="1">
            <a:off x="5928504" y="4149725"/>
            <a:ext cx="0" cy="650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8" name="Line 62"/>
          <p:cNvSpPr>
            <a:spLocks noChangeShapeType="1"/>
          </p:cNvSpPr>
          <p:nvPr/>
        </p:nvSpPr>
        <p:spPr bwMode="auto">
          <a:xfrm flipV="1">
            <a:off x="6072966" y="3933825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19" name="Line 63"/>
          <p:cNvSpPr>
            <a:spLocks noChangeShapeType="1"/>
          </p:cNvSpPr>
          <p:nvPr/>
        </p:nvSpPr>
        <p:spPr bwMode="auto">
          <a:xfrm flipV="1">
            <a:off x="7152466" y="3933825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20" name="Line 64"/>
          <p:cNvSpPr>
            <a:spLocks noChangeShapeType="1"/>
          </p:cNvSpPr>
          <p:nvPr/>
        </p:nvSpPr>
        <p:spPr bwMode="auto">
          <a:xfrm flipV="1">
            <a:off x="5425266" y="6308725"/>
            <a:ext cx="0" cy="1460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21" name="Line 65"/>
          <p:cNvSpPr>
            <a:spLocks noChangeShapeType="1"/>
          </p:cNvSpPr>
          <p:nvPr/>
        </p:nvSpPr>
        <p:spPr bwMode="auto">
          <a:xfrm flipV="1">
            <a:off x="5568141" y="6092825"/>
            <a:ext cx="7921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22" name="Line 66"/>
          <p:cNvSpPr>
            <a:spLocks noChangeShapeType="1"/>
          </p:cNvSpPr>
          <p:nvPr/>
        </p:nvSpPr>
        <p:spPr bwMode="auto">
          <a:xfrm flipV="1">
            <a:off x="6720666" y="6092825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23" name="Line 67"/>
          <p:cNvSpPr>
            <a:spLocks noChangeShapeType="1"/>
          </p:cNvSpPr>
          <p:nvPr/>
        </p:nvSpPr>
        <p:spPr bwMode="auto">
          <a:xfrm flipV="1">
            <a:off x="7009591" y="5157788"/>
            <a:ext cx="0" cy="9382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24" name="Line 68"/>
          <p:cNvSpPr>
            <a:spLocks noChangeShapeType="1"/>
          </p:cNvSpPr>
          <p:nvPr/>
        </p:nvSpPr>
        <p:spPr bwMode="auto">
          <a:xfrm flipV="1">
            <a:off x="7152466" y="5013325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25" name="Line 69"/>
          <p:cNvSpPr>
            <a:spLocks noChangeShapeType="1"/>
          </p:cNvSpPr>
          <p:nvPr/>
        </p:nvSpPr>
        <p:spPr bwMode="auto">
          <a:xfrm flipV="1">
            <a:off x="3912379" y="6308725"/>
            <a:ext cx="0" cy="142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27" name="Rectangle 71"/>
          <p:cNvSpPr>
            <a:spLocks noChangeArrowheads="1"/>
          </p:cNvSpPr>
          <p:nvPr/>
        </p:nvSpPr>
        <p:spPr bwMode="auto">
          <a:xfrm>
            <a:off x="2148666" y="412982"/>
            <a:ext cx="6696075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90000"/>
              </a:lnSpc>
              <a:buNone/>
            </a:pPr>
            <a:r>
              <a:rPr lang="en-US" altLang="zh-TW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matches</a:t>
            </a:r>
            <a:endParaRPr lang="en-US" altLang="zh-TW" sz="4800" dirty="0">
              <a:solidFill>
                <a:srgbClr val="0000FF"/>
              </a:solidFill>
              <a:ea typeface="新細明體" panose="02020500000000000000" pitchFamily="18" charset="-120"/>
              <a:cs typeface="David" panose="020E0502060401010101" pitchFamily="34" charset="-79"/>
            </a:endParaRPr>
          </a:p>
        </p:txBody>
      </p:sp>
      <p:sp>
        <p:nvSpPr>
          <p:cNvPr id="70729" name="Oval 73"/>
          <p:cNvSpPr>
            <a:spLocks noChangeArrowheads="1"/>
          </p:cNvSpPr>
          <p:nvPr/>
        </p:nvSpPr>
        <p:spPr bwMode="auto">
          <a:xfrm>
            <a:off x="3625041" y="2133600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33" name="Oval 77"/>
          <p:cNvSpPr>
            <a:spLocks noChangeArrowheads="1"/>
          </p:cNvSpPr>
          <p:nvPr/>
        </p:nvSpPr>
        <p:spPr bwMode="auto">
          <a:xfrm>
            <a:off x="3193241" y="2636838"/>
            <a:ext cx="360363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34" name="Oval 78"/>
          <p:cNvSpPr>
            <a:spLocks noChangeArrowheads="1"/>
          </p:cNvSpPr>
          <p:nvPr/>
        </p:nvSpPr>
        <p:spPr bwMode="auto">
          <a:xfrm>
            <a:off x="2616979" y="3716338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35" name="Oval 79"/>
          <p:cNvSpPr>
            <a:spLocks noChangeArrowheads="1"/>
          </p:cNvSpPr>
          <p:nvPr/>
        </p:nvSpPr>
        <p:spPr bwMode="auto">
          <a:xfrm>
            <a:off x="4128279" y="2636838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36" name="Oval 80"/>
          <p:cNvSpPr>
            <a:spLocks noChangeArrowheads="1"/>
          </p:cNvSpPr>
          <p:nvPr/>
        </p:nvSpPr>
        <p:spPr bwMode="auto">
          <a:xfrm>
            <a:off x="3625041" y="3141663"/>
            <a:ext cx="360363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37" name="Oval 81"/>
          <p:cNvSpPr>
            <a:spLocks noChangeArrowheads="1"/>
          </p:cNvSpPr>
          <p:nvPr/>
        </p:nvSpPr>
        <p:spPr bwMode="auto">
          <a:xfrm>
            <a:off x="3193241" y="4292600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38" name="Oval 82"/>
          <p:cNvSpPr>
            <a:spLocks noChangeArrowheads="1"/>
          </p:cNvSpPr>
          <p:nvPr/>
        </p:nvSpPr>
        <p:spPr bwMode="auto">
          <a:xfrm>
            <a:off x="5136341" y="3141663"/>
            <a:ext cx="360363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39" name="Oval 83"/>
          <p:cNvSpPr>
            <a:spLocks noChangeArrowheads="1"/>
          </p:cNvSpPr>
          <p:nvPr/>
        </p:nvSpPr>
        <p:spPr bwMode="auto">
          <a:xfrm>
            <a:off x="4056841" y="4292600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40" name="Oval 84"/>
          <p:cNvSpPr>
            <a:spLocks noChangeArrowheads="1"/>
          </p:cNvSpPr>
          <p:nvPr/>
        </p:nvSpPr>
        <p:spPr bwMode="auto">
          <a:xfrm>
            <a:off x="5712604" y="3789363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41" name="Oval 85"/>
          <p:cNvSpPr>
            <a:spLocks noChangeArrowheads="1"/>
          </p:cNvSpPr>
          <p:nvPr/>
        </p:nvSpPr>
        <p:spPr bwMode="auto">
          <a:xfrm>
            <a:off x="4704541" y="5300663"/>
            <a:ext cx="360363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42" name="Oval 86"/>
          <p:cNvSpPr>
            <a:spLocks noChangeArrowheads="1"/>
          </p:cNvSpPr>
          <p:nvPr/>
        </p:nvSpPr>
        <p:spPr bwMode="auto">
          <a:xfrm>
            <a:off x="5209366" y="5949950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43" name="Oval 87"/>
          <p:cNvSpPr>
            <a:spLocks noChangeArrowheads="1"/>
          </p:cNvSpPr>
          <p:nvPr/>
        </p:nvSpPr>
        <p:spPr bwMode="auto">
          <a:xfrm>
            <a:off x="6793691" y="4797425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70744" name="Text Box 88"/>
          <p:cNvSpPr txBox="1">
            <a:spLocks noChangeArrowheads="1"/>
          </p:cNvSpPr>
          <p:nvPr/>
        </p:nvSpPr>
        <p:spPr bwMode="auto">
          <a:xfrm>
            <a:off x="3552016" y="2133600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 dirty="0"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70746" name="Text Box 90"/>
          <p:cNvSpPr txBox="1">
            <a:spLocks noChangeArrowheads="1"/>
          </p:cNvSpPr>
          <p:nvPr/>
        </p:nvSpPr>
        <p:spPr bwMode="auto">
          <a:xfrm>
            <a:off x="3985404" y="2636838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 dirty="0"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70747" name="Text Box 91"/>
          <p:cNvSpPr txBox="1">
            <a:spLocks noChangeArrowheads="1"/>
          </p:cNvSpPr>
          <p:nvPr/>
        </p:nvSpPr>
        <p:spPr bwMode="auto">
          <a:xfrm>
            <a:off x="4993466" y="3141663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70748" name="Text Box 92"/>
          <p:cNvSpPr txBox="1">
            <a:spLocks noChangeArrowheads="1"/>
          </p:cNvSpPr>
          <p:nvPr/>
        </p:nvSpPr>
        <p:spPr bwMode="auto">
          <a:xfrm>
            <a:off x="5568141" y="3789363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70749" name="Text Box 93"/>
          <p:cNvSpPr txBox="1">
            <a:spLocks noChangeArrowheads="1"/>
          </p:cNvSpPr>
          <p:nvPr/>
        </p:nvSpPr>
        <p:spPr bwMode="auto">
          <a:xfrm>
            <a:off x="6720666" y="4797425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575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09" name="Rectangle 77"/>
          <p:cNvSpPr>
            <a:spLocks noChangeArrowheads="1"/>
          </p:cNvSpPr>
          <p:nvPr/>
        </p:nvSpPr>
        <p:spPr bwMode="auto">
          <a:xfrm>
            <a:off x="2916238" y="1557338"/>
            <a:ext cx="482441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>
                <a:ea typeface="新細明體" panose="02020500000000000000" pitchFamily="18" charset="-120"/>
              </a:rPr>
              <a:t>c  b  a  b  b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69710" name="Text Box 78"/>
          <p:cNvSpPr txBox="1">
            <a:spLocks noChangeArrowheads="1"/>
          </p:cNvSpPr>
          <p:nvPr/>
        </p:nvSpPr>
        <p:spPr bwMode="auto">
          <a:xfrm>
            <a:off x="2195513" y="1822450"/>
            <a:ext cx="792162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69711" name="Line 79"/>
          <p:cNvSpPr>
            <a:spLocks noChangeShapeType="1"/>
          </p:cNvSpPr>
          <p:nvPr/>
        </p:nvSpPr>
        <p:spPr bwMode="auto">
          <a:xfrm>
            <a:off x="2700338" y="1844675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712" name="Line 80"/>
          <p:cNvSpPr>
            <a:spLocks noChangeShapeType="1"/>
          </p:cNvSpPr>
          <p:nvPr/>
        </p:nvSpPr>
        <p:spPr bwMode="auto">
          <a:xfrm>
            <a:off x="2268538" y="2060575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9713" name="WordArt 81">
            <a:hlinkClick r:id="" action="ppaction://noaction"/>
          </p:cNvPr>
          <p:cNvSpPr>
            <a:spLocks noChangeArrowheads="1" noChangeShapeType="1" noTextEdit="1"/>
          </p:cNvSpPr>
          <p:nvPr/>
        </p:nvSpPr>
        <p:spPr bwMode="auto">
          <a:xfrm>
            <a:off x="8855075" y="0"/>
            <a:ext cx="288925" cy="2873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zh-TW" altLang="en-US" sz="3600" kern="10" dirty="0"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005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97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2.59259E-6 L 0.00208 0.67755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697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4" y="33866"/>
                                    </p:animMotion>
                                  </p:childTnLst>
                                </p:cTn>
                              </p:par>
                              <p:par>
                                <p:cTn id="2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96296E-6 L 2.77778E-7 0.60903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697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044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-3.7037E-7 L 0.55521 0.0037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697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760" y="185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1.48148E-6 L 0.504 0.00532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697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191" y="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09" grpId="0" build="allAtOnce"/>
      <p:bldP spid="69709" grpId="1" build="allAtOnce"/>
      <p:bldP spid="69710" grpId="0"/>
      <p:bldP spid="69710" grpId="1"/>
      <p:bldP spid="69711" grpId="0" animBg="1"/>
      <p:bldP spid="69711" grpId="1" animBg="1"/>
      <p:bldP spid="69712" grpId="0" animBg="1"/>
      <p:bldP spid="6971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ChangeArrowheads="1"/>
          </p:cNvSpPr>
          <p:nvPr/>
        </p:nvSpPr>
        <p:spPr bwMode="auto">
          <a:xfrm>
            <a:off x="2843213" y="6137275"/>
            <a:ext cx="482441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>
                <a:ea typeface="新細明體" panose="02020500000000000000" pitchFamily="18" charset="-120"/>
              </a:rPr>
              <a:t>c  b  a  b  b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84995" name="Text Box 3"/>
          <p:cNvSpPr txBox="1">
            <a:spLocks noChangeArrowheads="1"/>
          </p:cNvSpPr>
          <p:nvPr/>
        </p:nvSpPr>
        <p:spPr bwMode="auto">
          <a:xfrm>
            <a:off x="7308850" y="1822450"/>
            <a:ext cx="792163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84996" name="Line 4"/>
          <p:cNvSpPr>
            <a:spLocks noChangeShapeType="1"/>
          </p:cNvSpPr>
          <p:nvPr/>
        </p:nvSpPr>
        <p:spPr bwMode="auto">
          <a:xfrm>
            <a:off x="7308850" y="1844675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4997" name="Line 5"/>
          <p:cNvSpPr>
            <a:spLocks noChangeShapeType="1"/>
          </p:cNvSpPr>
          <p:nvPr/>
        </p:nvSpPr>
        <p:spPr bwMode="auto">
          <a:xfrm>
            <a:off x="2268538" y="6237288"/>
            <a:ext cx="53276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4998" name="Oval 6"/>
          <p:cNvSpPr>
            <a:spLocks noChangeArrowheads="1"/>
          </p:cNvSpPr>
          <p:nvPr/>
        </p:nvSpPr>
        <p:spPr bwMode="auto">
          <a:xfrm>
            <a:off x="6372225" y="580548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4999" name="Oval 7"/>
          <p:cNvSpPr>
            <a:spLocks noChangeArrowheads="1"/>
          </p:cNvSpPr>
          <p:nvPr/>
        </p:nvSpPr>
        <p:spPr bwMode="auto">
          <a:xfrm>
            <a:off x="5364163" y="580548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0" name="Oval 8"/>
          <p:cNvSpPr>
            <a:spLocks noChangeArrowheads="1"/>
          </p:cNvSpPr>
          <p:nvPr/>
        </p:nvSpPr>
        <p:spPr bwMode="auto">
          <a:xfrm>
            <a:off x="3851275" y="580548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1" name="Oval 9"/>
          <p:cNvSpPr>
            <a:spLocks noChangeArrowheads="1"/>
          </p:cNvSpPr>
          <p:nvPr/>
        </p:nvSpPr>
        <p:spPr bwMode="auto">
          <a:xfrm>
            <a:off x="4859338" y="53006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2" name="Oval 10"/>
          <p:cNvSpPr>
            <a:spLocks noChangeArrowheads="1"/>
          </p:cNvSpPr>
          <p:nvPr/>
        </p:nvSpPr>
        <p:spPr bwMode="auto">
          <a:xfrm>
            <a:off x="4356100" y="530066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3" name="Oval 11"/>
          <p:cNvSpPr>
            <a:spLocks noChangeArrowheads="1"/>
          </p:cNvSpPr>
          <p:nvPr/>
        </p:nvSpPr>
        <p:spPr bwMode="auto">
          <a:xfrm>
            <a:off x="3348038" y="53006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4" name="Oval 12"/>
          <p:cNvSpPr>
            <a:spLocks noChangeArrowheads="1"/>
          </p:cNvSpPr>
          <p:nvPr/>
        </p:nvSpPr>
        <p:spPr bwMode="auto">
          <a:xfrm>
            <a:off x="6804025" y="479742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5" name="Oval 13"/>
          <p:cNvSpPr>
            <a:spLocks noChangeArrowheads="1"/>
          </p:cNvSpPr>
          <p:nvPr/>
        </p:nvSpPr>
        <p:spPr bwMode="auto">
          <a:xfrm>
            <a:off x="5867400" y="479742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6" name="Oval 14"/>
          <p:cNvSpPr>
            <a:spLocks noChangeArrowheads="1"/>
          </p:cNvSpPr>
          <p:nvPr/>
        </p:nvSpPr>
        <p:spPr bwMode="auto">
          <a:xfrm>
            <a:off x="2771775" y="479742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7" name="Oval 15"/>
          <p:cNvSpPr>
            <a:spLocks noChangeArrowheads="1"/>
          </p:cNvSpPr>
          <p:nvPr/>
        </p:nvSpPr>
        <p:spPr bwMode="auto">
          <a:xfrm>
            <a:off x="4859338" y="414972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8" name="Oval 16"/>
          <p:cNvSpPr>
            <a:spLocks noChangeArrowheads="1"/>
          </p:cNvSpPr>
          <p:nvPr/>
        </p:nvSpPr>
        <p:spPr bwMode="auto">
          <a:xfrm>
            <a:off x="4284663" y="414972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09" name="Oval 17"/>
          <p:cNvSpPr>
            <a:spLocks noChangeArrowheads="1"/>
          </p:cNvSpPr>
          <p:nvPr/>
        </p:nvSpPr>
        <p:spPr bwMode="auto">
          <a:xfrm>
            <a:off x="3348038" y="414972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0" name="Oval 18"/>
          <p:cNvSpPr>
            <a:spLocks noChangeArrowheads="1"/>
          </p:cNvSpPr>
          <p:nvPr/>
        </p:nvSpPr>
        <p:spPr bwMode="auto">
          <a:xfrm>
            <a:off x="6804025" y="36449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1" name="Oval 19"/>
          <p:cNvSpPr>
            <a:spLocks noChangeArrowheads="1"/>
          </p:cNvSpPr>
          <p:nvPr/>
        </p:nvSpPr>
        <p:spPr bwMode="auto">
          <a:xfrm>
            <a:off x="5867400" y="364490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2" name="Oval 20"/>
          <p:cNvSpPr>
            <a:spLocks noChangeArrowheads="1"/>
          </p:cNvSpPr>
          <p:nvPr/>
        </p:nvSpPr>
        <p:spPr bwMode="auto">
          <a:xfrm>
            <a:off x="2700338" y="364490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3" name="Oval 21"/>
          <p:cNvSpPr>
            <a:spLocks noChangeArrowheads="1"/>
          </p:cNvSpPr>
          <p:nvPr/>
        </p:nvSpPr>
        <p:spPr bwMode="auto">
          <a:xfrm>
            <a:off x="6300788" y="31416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4" name="Oval 22"/>
          <p:cNvSpPr>
            <a:spLocks noChangeArrowheads="1"/>
          </p:cNvSpPr>
          <p:nvPr/>
        </p:nvSpPr>
        <p:spPr bwMode="auto">
          <a:xfrm>
            <a:off x="5364163" y="31416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5" name="Oval 23"/>
          <p:cNvSpPr>
            <a:spLocks noChangeArrowheads="1"/>
          </p:cNvSpPr>
          <p:nvPr/>
        </p:nvSpPr>
        <p:spPr bwMode="auto">
          <a:xfrm>
            <a:off x="3779838" y="314166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6" name="Oval 24"/>
          <p:cNvSpPr>
            <a:spLocks noChangeArrowheads="1"/>
          </p:cNvSpPr>
          <p:nvPr/>
        </p:nvSpPr>
        <p:spPr bwMode="auto">
          <a:xfrm>
            <a:off x="4787900" y="249237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7" name="Oval 25"/>
          <p:cNvSpPr>
            <a:spLocks noChangeArrowheads="1"/>
          </p:cNvSpPr>
          <p:nvPr/>
        </p:nvSpPr>
        <p:spPr bwMode="auto">
          <a:xfrm>
            <a:off x="4284663" y="249237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8" name="Oval 26"/>
          <p:cNvSpPr>
            <a:spLocks noChangeArrowheads="1"/>
          </p:cNvSpPr>
          <p:nvPr/>
        </p:nvSpPr>
        <p:spPr bwMode="auto">
          <a:xfrm>
            <a:off x="3276600" y="249237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19" name="Oval 27"/>
          <p:cNvSpPr>
            <a:spLocks noChangeArrowheads="1"/>
          </p:cNvSpPr>
          <p:nvPr/>
        </p:nvSpPr>
        <p:spPr bwMode="auto">
          <a:xfrm>
            <a:off x="6300788" y="198913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0" name="Oval 28"/>
          <p:cNvSpPr>
            <a:spLocks noChangeArrowheads="1"/>
          </p:cNvSpPr>
          <p:nvPr/>
        </p:nvSpPr>
        <p:spPr bwMode="auto">
          <a:xfrm>
            <a:off x="5292725" y="198913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1" name="Oval 29"/>
          <p:cNvSpPr>
            <a:spLocks noChangeArrowheads="1"/>
          </p:cNvSpPr>
          <p:nvPr/>
        </p:nvSpPr>
        <p:spPr bwMode="auto">
          <a:xfrm>
            <a:off x="3779838" y="198913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2" name="Line 30"/>
          <p:cNvSpPr>
            <a:spLocks noChangeShapeType="1"/>
          </p:cNvSpPr>
          <p:nvPr/>
        </p:nvSpPr>
        <p:spPr bwMode="auto">
          <a:xfrm flipV="1">
            <a:off x="2411413" y="6021388"/>
            <a:ext cx="1439862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3" name="Line 31"/>
          <p:cNvSpPr>
            <a:spLocks noChangeShapeType="1"/>
          </p:cNvSpPr>
          <p:nvPr/>
        </p:nvSpPr>
        <p:spPr bwMode="auto">
          <a:xfrm flipV="1">
            <a:off x="4211638" y="6021388"/>
            <a:ext cx="1152525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5" name="Line 33"/>
          <p:cNvSpPr>
            <a:spLocks noChangeShapeType="1"/>
          </p:cNvSpPr>
          <p:nvPr/>
        </p:nvSpPr>
        <p:spPr bwMode="auto">
          <a:xfrm flipV="1">
            <a:off x="5724525" y="6021388"/>
            <a:ext cx="64770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6" name="Line 34"/>
          <p:cNvSpPr>
            <a:spLocks noChangeShapeType="1"/>
          </p:cNvSpPr>
          <p:nvPr/>
        </p:nvSpPr>
        <p:spPr bwMode="auto">
          <a:xfrm flipV="1">
            <a:off x="6588125" y="5013325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7" name="Line 35"/>
          <p:cNvSpPr>
            <a:spLocks noChangeShapeType="1"/>
          </p:cNvSpPr>
          <p:nvPr/>
        </p:nvSpPr>
        <p:spPr bwMode="auto">
          <a:xfrm flipV="1">
            <a:off x="6588125" y="5013325"/>
            <a:ext cx="21590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8" name="Line 36"/>
          <p:cNvSpPr>
            <a:spLocks noChangeShapeType="1"/>
          </p:cNvSpPr>
          <p:nvPr/>
        </p:nvSpPr>
        <p:spPr bwMode="auto">
          <a:xfrm flipV="1">
            <a:off x="7019925" y="4005263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29" name="Line 37"/>
          <p:cNvSpPr>
            <a:spLocks noChangeShapeType="1"/>
          </p:cNvSpPr>
          <p:nvPr/>
        </p:nvSpPr>
        <p:spPr bwMode="auto">
          <a:xfrm flipV="1">
            <a:off x="7019925" y="1773238"/>
            <a:ext cx="0" cy="18732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0" name="Line 38"/>
          <p:cNvSpPr>
            <a:spLocks noChangeShapeType="1"/>
          </p:cNvSpPr>
          <p:nvPr/>
        </p:nvSpPr>
        <p:spPr bwMode="auto">
          <a:xfrm flipV="1">
            <a:off x="2411413" y="5516563"/>
            <a:ext cx="9366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1" name="Line 39"/>
          <p:cNvSpPr>
            <a:spLocks noChangeShapeType="1"/>
          </p:cNvSpPr>
          <p:nvPr/>
        </p:nvSpPr>
        <p:spPr bwMode="auto">
          <a:xfrm flipV="1">
            <a:off x="3708400" y="5516563"/>
            <a:ext cx="6477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2" name="Line 40"/>
          <p:cNvSpPr>
            <a:spLocks noChangeShapeType="1"/>
          </p:cNvSpPr>
          <p:nvPr/>
        </p:nvSpPr>
        <p:spPr bwMode="auto">
          <a:xfrm flipV="1">
            <a:off x="4716463" y="5516563"/>
            <a:ext cx="21590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3" name="Line 41"/>
          <p:cNvSpPr>
            <a:spLocks noChangeShapeType="1"/>
          </p:cNvSpPr>
          <p:nvPr/>
        </p:nvSpPr>
        <p:spPr bwMode="auto">
          <a:xfrm flipV="1">
            <a:off x="5003800" y="4941888"/>
            <a:ext cx="0" cy="3587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4" name="Line 42"/>
          <p:cNvSpPr>
            <a:spLocks noChangeShapeType="1"/>
          </p:cNvSpPr>
          <p:nvPr/>
        </p:nvSpPr>
        <p:spPr bwMode="auto">
          <a:xfrm flipV="1">
            <a:off x="5003800" y="4941888"/>
            <a:ext cx="863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5" name="Line 43"/>
          <p:cNvSpPr>
            <a:spLocks noChangeShapeType="1"/>
          </p:cNvSpPr>
          <p:nvPr/>
        </p:nvSpPr>
        <p:spPr bwMode="auto">
          <a:xfrm flipV="1">
            <a:off x="6084888" y="4005263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6" name="Line 44"/>
          <p:cNvSpPr>
            <a:spLocks noChangeShapeType="1"/>
          </p:cNvSpPr>
          <p:nvPr/>
        </p:nvSpPr>
        <p:spPr bwMode="auto">
          <a:xfrm flipV="1">
            <a:off x="6084888" y="3284538"/>
            <a:ext cx="0" cy="3587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7" name="Line 45"/>
          <p:cNvSpPr>
            <a:spLocks noChangeShapeType="1"/>
          </p:cNvSpPr>
          <p:nvPr/>
        </p:nvSpPr>
        <p:spPr bwMode="auto">
          <a:xfrm flipV="1">
            <a:off x="6084888" y="3284538"/>
            <a:ext cx="215900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8" name="Line 46"/>
          <p:cNvSpPr>
            <a:spLocks noChangeShapeType="1"/>
          </p:cNvSpPr>
          <p:nvPr/>
        </p:nvSpPr>
        <p:spPr bwMode="auto">
          <a:xfrm flipV="1">
            <a:off x="6516688" y="2349500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39" name="Line 47"/>
          <p:cNvSpPr>
            <a:spLocks noChangeShapeType="1"/>
          </p:cNvSpPr>
          <p:nvPr/>
        </p:nvSpPr>
        <p:spPr bwMode="auto">
          <a:xfrm flipV="1">
            <a:off x="6516688" y="1700213"/>
            <a:ext cx="0" cy="2873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0" name="Line 48"/>
          <p:cNvSpPr>
            <a:spLocks noChangeShapeType="1"/>
          </p:cNvSpPr>
          <p:nvPr/>
        </p:nvSpPr>
        <p:spPr bwMode="auto">
          <a:xfrm flipV="1">
            <a:off x="2411413" y="5013325"/>
            <a:ext cx="360362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1" name="Line 49"/>
          <p:cNvSpPr>
            <a:spLocks noChangeShapeType="1"/>
          </p:cNvSpPr>
          <p:nvPr/>
        </p:nvSpPr>
        <p:spPr bwMode="auto">
          <a:xfrm flipV="1">
            <a:off x="2916238" y="4365625"/>
            <a:ext cx="0" cy="43180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2" name="Line 50"/>
          <p:cNvSpPr>
            <a:spLocks noChangeShapeType="1"/>
          </p:cNvSpPr>
          <p:nvPr/>
        </p:nvSpPr>
        <p:spPr bwMode="auto">
          <a:xfrm flipV="1">
            <a:off x="2916238" y="4365625"/>
            <a:ext cx="43180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3" name="Line 51"/>
          <p:cNvSpPr>
            <a:spLocks noChangeShapeType="1"/>
          </p:cNvSpPr>
          <p:nvPr/>
        </p:nvSpPr>
        <p:spPr bwMode="auto">
          <a:xfrm flipV="1">
            <a:off x="3708400" y="4365625"/>
            <a:ext cx="576263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4" name="Line 52"/>
          <p:cNvSpPr>
            <a:spLocks noChangeShapeType="1"/>
          </p:cNvSpPr>
          <p:nvPr/>
        </p:nvSpPr>
        <p:spPr bwMode="auto">
          <a:xfrm flipV="1">
            <a:off x="4643438" y="4365625"/>
            <a:ext cx="215900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5" name="Line 53"/>
          <p:cNvSpPr>
            <a:spLocks noChangeShapeType="1"/>
          </p:cNvSpPr>
          <p:nvPr/>
        </p:nvSpPr>
        <p:spPr bwMode="auto">
          <a:xfrm flipV="1">
            <a:off x="5003800" y="3284538"/>
            <a:ext cx="360363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6" name="Line 54"/>
          <p:cNvSpPr>
            <a:spLocks noChangeShapeType="1"/>
          </p:cNvSpPr>
          <p:nvPr/>
        </p:nvSpPr>
        <p:spPr bwMode="auto">
          <a:xfrm flipV="1">
            <a:off x="5003800" y="3284538"/>
            <a:ext cx="0" cy="8651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49" name="Line 57"/>
          <p:cNvSpPr>
            <a:spLocks noChangeShapeType="1"/>
          </p:cNvSpPr>
          <p:nvPr/>
        </p:nvSpPr>
        <p:spPr bwMode="auto">
          <a:xfrm flipV="1">
            <a:off x="5508625" y="2349500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0" name="Line 58"/>
          <p:cNvSpPr>
            <a:spLocks noChangeShapeType="1"/>
          </p:cNvSpPr>
          <p:nvPr/>
        </p:nvSpPr>
        <p:spPr bwMode="auto">
          <a:xfrm flipV="1">
            <a:off x="5508625" y="1700213"/>
            <a:ext cx="0" cy="2873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1" name="Line 59"/>
          <p:cNvSpPr>
            <a:spLocks noChangeShapeType="1"/>
          </p:cNvSpPr>
          <p:nvPr/>
        </p:nvSpPr>
        <p:spPr bwMode="auto">
          <a:xfrm flipV="1">
            <a:off x="2339975" y="3860800"/>
            <a:ext cx="360363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2" name="Line 60"/>
          <p:cNvSpPr>
            <a:spLocks noChangeShapeType="1"/>
          </p:cNvSpPr>
          <p:nvPr/>
        </p:nvSpPr>
        <p:spPr bwMode="auto">
          <a:xfrm flipV="1">
            <a:off x="2916238" y="3284538"/>
            <a:ext cx="0" cy="3619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3" name="Line 61"/>
          <p:cNvSpPr>
            <a:spLocks noChangeShapeType="1"/>
          </p:cNvSpPr>
          <p:nvPr/>
        </p:nvSpPr>
        <p:spPr bwMode="auto">
          <a:xfrm flipV="1">
            <a:off x="2916238" y="3284538"/>
            <a:ext cx="8636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4" name="Line 62"/>
          <p:cNvSpPr>
            <a:spLocks noChangeShapeType="1"/>
          </p:cNvSpPr>
          <p:nvPr/>
        </p:nvSpPr>
        <p:spPr bwMode="auto">
          <a:xfrm flipV="1">
            <a:off x="3995738" y="2636838"/>
            <a:ext cx="0" cy="5048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5" name="Line 63"/>
          <p:cNvSpPr>
            <a:spLocks noChangeShapeType="1"/>
          </p:cNvSpPr>
          <p:nvPr/>
        </p:nvSpPr>
        <p:spPr bwMode="auto">
          <a:xfrm flipV="1">
            <a:off x="3995738" y="2636838"/>
            <a:ext cx="360362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6" name="Line 64"/>
          <p:cNvSpPr>
            <a:spLocks noChangeShapeType="1"/>
          </p:cNvSpPr>
          <p:nvPr/>
        </p:nvSpPr>
        <p:spPr bwMode="auto">
          <a:xfrm flipV="1">
            <a:off x="4643438" y="2636838"/>
            <a:ext cx="144462" cy="158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7" name="Line 65"/>
          <p:cNvSpPr>
            <a:spLocks noChangeShapeType="1"/>
          </p:cNvSpPr>
          <p:nvPr/>
        </p:nvSpPr>
        <p:spPr bwMode="auto">
          <a:xfrm flipV="1">
            <a:off x="4932363" y="1700213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8" name="Line 66"/>
          <p:cNvSpPr>
            <a:spLocks noChangeShapeType="1"/>
          </p:cNvSpPr>
          <p:nvPr/>
        </p:nvSpPr>
        <p:spPr bwMode="auto">
          <a:xfrm flipV="1">
            <a:off x="2268538" y="2636838"/>
            <a:ext cx="10064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59" name="Line 67"/>
          <p:cNvSpPr>
            <a:spLocks noChangeShapeType="1"/>
          </p:cNvSpPr>
          <p:nvPr/>
        </p:nvSpPr>
        <p:spPr bwMode="auto">
          <a:xfrm flipV="1">
            <a:off x="3492500" y="2133600"/>
            <a:ext cx="0" cy="3603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0" name="Line 68"/>
          <p:cNvSpPr>
            <a:spLocks noChangeShapeType="1"/>
          </p:cNvSpPr>
          <p:nvPr/>
        </p:nvSpPr>
        <p:spPr bwMode="auto">
          <a:xfrm flipV="1">
            <a:off x="3492500" y="2133600"/>
            <a:ext cx="287338" cy="15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1" name="Line 69"/>
          <p:cNvSpPr>
            <a:spLocks noChangeShapeType="1"/>
          </p:cNvSpPr>
          <p:nvPr/>
        </p:nvSpPr>
        <p:spPr bwMode="auto">
          <a:xfrm flipV="1">
            <a:off x="3995738" y="1700213"/>
            <a:ext cx="0" cy="287337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2" name="Rectangle 70"/>
          <p:cNvSpPr>
            <a:spLocks noGrp="1" noChangeArrowheads="1"/>
          </p:cNvSpPr>
          <p:nvPr>
            <p:ph type="title"/>
          </p:nvPr>
        </p:nvSpPr>
        <p:spPr>
          <a:xfrm>
            <a:off x="915988" y="363537"/>
            <a:ext cx="7886700" cy="1325563"/>
          </a:xfrm>
          <a:noFill/>
          <a:ln/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Backward contours (BC)</a:t>
            </a:r>
            <a:endParaRPr lang="en-US" altLang="zh-TW" dirty="0">
              <a:solidFill>
                <a:srgbClr val="0000FF"/>
              </a:solidFill>
              <a:cs typeface="David" panose="020E0502060401010101" pitchFamily="34" charset="-79"/>
            </a:endParaRPr>
          </a:p>
        </p:txBody>
      </p:sp>
      <p:sp>
        <p:nvSpPr>
          <p:cNvPr id="85063" name="Oval 71"/>
          <p:cNvSpPr>
            <a:spLocks noChangeArrowheads="1"/>
          </p:cNvSpPr>
          <p:nvPr/>
        </p:nvSpPr>
        <p:spPr bwMode="auto">
          <a:xfrm>
            <a:off x="6372225" y="5805488"/>
            <a:ext cx="360363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4" name="Oval 72"/>
          <p:cNvSpPr>
            <a:spLocks noChangeArrowheads="1"/>
          </p:cNvSpPr>
          <p:nvPr/>
        </p:nvSpPr>
        <p:spPr bwMode="auto">
          <a:xfrm>
            <a:off x="5867400" y="4797425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5" name="Oval 73"/>
          <p:cNvSpPr>
            <a:spLocks noChangeArrowheads="1"/>
          </p:cNvSpPr>
          <p:nvPr/>
        </p:nvSpPr>
        <p:spPr bwMode="auto">
          <a:xfrm>
            <a:off x="4859338" y="5300663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6" name="Oval 74"/>
          <p:cNvSpPr>
            <a:spLocks noChangeArrowheads="1"/>
          </p:cNvSpPr>
          <p:nvPr/>
        </p:nvSpPr>
        <p:spPr bwMode="auto">
          <a:xfrm>
            <a:off x="6804025" y="4797425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7" name="Oval 75"/>
          <p:cNvSpPr>
            <a:spLocks noChangeArrowheads="1"/>
          </p:cNvSpPr>
          <p:nvPr/>
        </p:nvSpPr>
        <p:spPr bwMode="auto">
          <a:xfrm>
            <a:off x="6300788" y="3141663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8" name="Oval 76"/>
          <p:cNvSpPr>
            <a:spLocks noChangeArrowheads="1"/>
          </p:cNvSpPr>
          <p:nvPr/>
        </p:nvSpPr>
        <p:spPr bwMode="auto">
          <a:xfrm>
            <a:off x="5364163" y="3141663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69" name="Oval 77"/>
          <p:cNvSpPr>
            <a:spLocks noChangeArrowheads="1"/>
          </p:cNvSpPr>
          <p:nvPr/>
        </p:nvSpPr>
        <p:spPr bwMode="auto">
          <a:xfrm>
            <a:off x="4859338" y="4149725"/>
            <a:ext cx="360362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70" name="Oval 78"/>
          <p:cNvSpPr>
            <a:spLocks noChangeArrowheads="1"/>
          </p:cNvSpPr>
          <p:nvPr/>
        </p:nvSpPr>
        <p:spPr bwMode="auto">
          <a:xfrm>
            <a:off x="2771775" y="4797425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71" name="Oval 79"/>
          <p:cNvSpPr>
            <a:spLocks noChangeArrowheads="1"/>
          </p:cNvSpPr>
          <p:nvPr/>
        </p:nvSpPr>
        <p:spPr bwMode="auto">
          <a:xfrm>
            <a:off x="2700338" y="3644900"/>
            <a:ext cx="360362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72" name="Oval 80"/>
          <p:cNvSpPr>
            <a:spLocks noChangeArrowheads="1"/>
          </p:cNvSpPr>
          <p:nvPr/>
        </p:nvSpPr>
        <p:spPr bwMode="auto">
          <a:xfrm>
            <a:off x="3779838" y="3141663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73" name="Oval 81"/>
          <p:cNvSpPr>
            <a:spLocks noChangeArrowheads="1"/>
          </p:cNvSpPr>
          <p:nvPr/>
        </p:nvSpPr>
        <p:spPr bwMode="auto">
          <a:xfrm>
            <a:off x="4787900" y="2492375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74" name="Oval 82"/>
          <p:cNvSpPr>
            <a:spLocks noChangeArrowheads="1"/>
          </p:cNvSpPr>
          <p:nvPr/>
        </p:nvSpPr>
        <p:spPr bwMode="auto">
          <a:xfrm>
            <a:off x="3779838" y="1989138"/>
            <a:ext cx="360362" cy="360362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75" name="Oval 83"/>
          <p:cNvSpPr>
            <a:spLocks noChangeArrowheads="1"/>
          </p:cNvSpPr>
          <p:nvPr/>
        </p:nvSpPr>
        <p:spPr bwMode="auto">
          <a:xfrm>
            <a:off x="3276600" y="2492375"/>
            <a:ext cx="360363" cy="360363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85076" name="Text Box 84"/>
          <p:cNvSpPr txBox="1">
            <a:spLocks noChangeArrowheads="1"/>
          </p:cNvSpPr>
          <p:nvPr/>
        </p:nvSpPr>
        <p:spPr bwMode="auto">
          <a:xfrm>
            <a:off x="6300788" y="5805488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85077" name="Text Box 85"/>
          <p:cNvSpPr txBox="1">
            <a:spLocks noChangeArrowheads="1"/>
          </p:cNvSpPr>
          <p:nvPr/>
        </p:nvSpPr>
        <p:spPr bwMode="auto">
          <a:xfrm>
            <a:off x="5795963" y="4797425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85078" name="Text Box 86"/>
          <p:cNvSpPr txBox="1">
            <a:spLocks noChangeArrowheads="1"/>
          </p:cNvSpPr>
          <p:nvPr/>
        </p:nvSpPr>
        <p:spPr bwMode="auto">
          <a:xfrm>
            <a:off x="4716463" y="4149725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85079" name="Text Box 87"/>
          <p:cNvSpPr txBox="1">
            <a:spLocks noChangeArrowheads="1"/>
          </p:cNvSpPr>
          <p:nvPr/>
        </p:nvSpPr>
        <p:spPr bwMode="auto">
          <a:xfrm>
            <a:off x="3635375" y="3141663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85080" name="Text Box 88"/>
          <p:cNvSpPr txBox="1">
            <a:spLocks noChangeArrowheads="1"/>
          </p:cNvSpPr>
          <p:nvPr/>
        </p:nvSpPr>
        <p:spPr bwMode="auto">
          <a:xfrm>
            <a:off x="3203575" y="2492375"/>
            <a:ext cx="587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/>
            <a:r>
              <a:rPr lang="en-US" altLang="zh-TW" sz="2000" b="1"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062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5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5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85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5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5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85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5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85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85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50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5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50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850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5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85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5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85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850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85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85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85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85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85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1000"/>
                                        <p:tgtEl>
                                          <p:spTgt spid="850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1000"/>
                                        <p:tgtEl>
                                          <p:spTgt spid="85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1000"/>
                                        <p:tgtEl>
                                          <p:spTgt spid="85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85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85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1000"/>
                                        <p:tgtEl>
                                          <p:spTgt spid="85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1000"/>
                                        <p:tgtEl>
                                          <p:spTgt spid="85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1000"/>
                                        <p:tgtEl>
                                          <p:spTgt spid="85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1000"/>
                                        <p:tgtEl>
                                          <p:spTgt spid="85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1000"/>
                                        <p:tgtEl>
                                          <p:spTgt spid="850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1000"/>
                                        <p:tgtEl>
                                          <p:spTgt spid="85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1000"/>
                                        <p:tgtEl>
                                          <p:spTgt spid="85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85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85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1000"/>
                                        <p:tgtEl>
                                          <p:spTgt spid="8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1000"/>
                                        <p:tgtEl>
                                          <p:spTgt spid="850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1000"/>
                                        <p:tgtEl>
                                          <p:spTgt spid="850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1000"/>
                                        <p:tgtEl>
                                          <p:spTgt spid="850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1000"/>
                                        <p:tgtEl>
                                          <p:spTgt spid="8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1000"/>
                                        <p:tgtEl>
                                          <p:spTgt spid="8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1000"/>
                                        <p:tgtEl>
                                          <p:spTgt spid="8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1000"/>
                                        <p:tgtEl>
                                          <p:spTgt spid="8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1000"/>
                                        <p:tgtEl>
                                          <p:spTgt spid="8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1000"/>
                                        <p:tgtEl>
                                          <p:spTgt spid="850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1000"/>
                                        <p:tgtEl>
                                          <p:spTgt spid="85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1000"/>
                                        <p:tgtEl>
                                          <p:spTgt spid="85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8" dur="1000"/>
                                        <p:tgtEl>
                                          <p:spTgt spid="85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1000"/>
                                        <p:tgtEl>
                                          <p:spTgt spid="85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2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1000"/>
                                        <p:tgtEl>
                                          <p:spTgt spid="85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1000"/>
                                        <p:tgtEl>
                                          <p:spTgt spid="85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1000"/>
                                        <p:tgtEl>
                                          <p:spTgt spid="85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5" dur="1000"/>
                                        <p:tgtEl>
                                          <p:spTgt spid="85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8" dur="1000"/>
                                        <p:tgtEl>
                                          <p:spTgt spid="85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1000"/>
                                        <p:tgtEl>
                                          <p:spTgt spid="85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1000"/>
                                        <p:tgtEl>
                                          <p:spTgt spid="85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1000"/>
                                        <p:tgtEl>
                                          <p:spTgt spid="85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0" fill="hold" nodeType="clickPar">
                      <p:stCondLst>
                        <p:cond delay="indefinite"/>
                      </p:stCondLst>
                      <p:childTnLst>
                        <p:par>
                          <p:cTn id="3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4" grpId="0"/>
      <p:bldP spid="84995" grpId="0"/>
      <p:bldP spid="84996" grpId="0" animBg="1"/>
      <p:bldP spid="84997" grpId="0" animBg="1"/>
      <p:bldP spid="84998" grpId="0" animBg="1"/>
      <p:bldP spid="84998" grpId="1" animBg="1"/>
      <p:bldP spid="84999" grpId="0" animBg="1"/>
      <p:bldP spid="84999" grpId="1" animBg="1"/>
      <p:bldP spid="85000" grpId="0" animBg="1"/>
      <p:bldP spid="85000" grpId="1" animBg="1"/>
      <p:bldP spid="85001" grpId="0" animBg="1"/>
      <p:bldP spid="85001" grpId="1" animBg="1"/>
      <p:bldP spid="85002" grpId="0" animBg="1"/>
      <p:bldP spid="85002" grpId="1" animBg="1"/>
      <p:bldP spid="85003" grpId="0" animBg="1"/>
      <p:bldP spid="85003" grpId="1" animBg="1"/>
      <p:bldP spid="85004" grpId="0" animBg="1"/>
      <p:bldP spid="85004" grpId="1" animBg="1"/>
      <p:bldP spid="85005" grpId="0" animBg="1"/>
      <p:bldP spid="85005" grpId="1" animBg="1"/>
      <p:bldP spid="85006" grpId="0" animBg="1"/>
      <p:bldP spid="85006" grpId="1" animBg="1"/>
      <p:bldP spid="85007" grpId="0" animBg="1"/>
      <p:bldP spid="85007" grpId="1" animBg="1"/>
      <p:bldP spid="85008" grpId="0" animBg="1"/>
      <p:bldP spid="85008" grpId="1" animBg="1"/>
      <p:bldP spid="85009" grpId="0" animBg="1"/>
      <p:bldP spid="85009" grpId="1" animBg="1"/>
      <p:bldP spid="85010" grpId="0" animBg="1"/>
      <p:bldP spid="85010" grpId="1" animBg="1"/>
      <p:bldP spid="85011" grpId="0" animBg="1"/>
      <p:bldP spid="85011" grpId="1" animBg="1"/>
      <p:bldP spid="85012" grpId="0" animBg="1"/>
      <p:bldP spid="85012" grpId="1" animBg="1"/>
      <p:bldP spid="85013" grpId="0" animBg="1"/>
      <p:bldP spid="85013" grpId="1" animBg="1"/>
      <p:bldP spid="85014" grpId="0" animBg="1"/>
      <p:bldP spid="85014" grpId="1" animBg="1"/>
      <p:bldP spid="85015" grpId="0" animBg="1"/>
      <p:bldP spid="85015" grpId="1" animBg="1"/>
      <p:bldP spid="85016" grpId="0" animBg="1"/>
      <p:bldP spid="85016" grpId="1" animBg="1"/>
      <p:bldP spid="85017" grpId="0" animBg="1"/>
      <p:bldP spid="85017" grpId="1" animBg="1"/>
      <p:bldP spid="85018" grpId="0" animBg="1"/>
      <p:bldP spid="85018" grpId="1" animBg="1"/>
      <p:bldP spid="85019" grpId="0" animBg="1"/>
      <p:bldP spid="85019" grpId="1" animBg="1"/>
      <p:bldP spid="85020" grpId="0" animBg="1"/>
      <p:bldP spid="85020" grpId="1" animBg="1"/>
      <p:bldP spid="85021" grpId="0" animBg="1"/>
      <p:bldP spid="85021" grpId="1" animBg="1"/>
      <p:bldP spid="85022" grpId="0" animBg="1"/>
      <p:bldP spid="85022" grpId="1" animBg="1"/>
      <p:bldP spid="85023" grpId="0" animBg="1"/>
      <p:bldP spid="85025" grpId="0" animBg="1"/>
      <p:bldP spid="85025" grpId="1" animBg="1"/>
      <p:bldP spid="85026" grpId="0" animBg="1"/>
      <p:bldP spid="85027" grpId="0" animBg="1"/>
      <p:bldP spid="85028" grpId="0" animBg="1"/>
      <p:bldP spid="85029" grpId="0" animBg="1"/>
      <p:bldP spid="85030" grpId="0" animBg="1"/>
      <p:bldP spid="85030" grpId="1" animBg="1"/>
      <p:bldP spid="85031" grpId="0" animBg="1"/>
      <p:bldP spid="85031" grpId="1" animBg="1"/>
      <p:bldP spid="85032" grpId="0" animBg="1"/>
      <p:bldP spid="85033" grpId="0" animBg="1"/>
      <p:bldP spid="85033" grpId="1" animBg="1"/>
      <p:bldP spid="85034" grpId="0" animBg="1"/>
      <p:bldP spid="85034" grpId="1" animBg="1"/>
      <p:bldP spid="85035" grpId="0" animBg="1"/>
      <p:bldP spid="85036" grpId="0" animBg="1"/>
      <p:bldP spid="85036" grpId="1" animBg="1"/>
      <p:bldP spid="85037" grpId="0" animBg="1"/>
      <p:bldP spid="85038" grpId="0" animBg="1"/>
      <p:bldP spid="85039" grpId="0" animBg="1"/>
      <p:bldP spid="85039" grpId="1" animBg="1"/>
      <p:bldP spid="85040" grpId="0" animBg="1"/>
      <p:bldP spid="85041" grpId="0" animBg="1"/>
      <p:bldP spid="85041" grpId="1" animBg="1"/>
      <p:bldP spid="85042" grpId="0" animBg="1"/>
      <p:bldP spid="85043" grpId="0" animBg="1"/>
      <p:bldP spid="85043" grpId="1" animBg="1"/>
      <p:bldP spid="85044" grpId="0" animBg="1"/>
      <p:bldP spid="85045" grpId="0" animBg="1"/>
      <p:bldP spid="85046" grpId="0" animBg="1"/>
      <p:bldP spid="85049" grpId="0" animBg="1"/>
      <p:bldP spid="85050" grpId="0" animBg="1"/>
      <p:bldP spid="85050" grpId="1" animBg="1"/>
      <p:bldP spid="85051" grpId="0" animBg="1"/>
      <p:bldP spid="85052" grpId="0" animBg="1"/>
      <p:bldP spid="85053" grpId="0" animBg="1"/>
      <p:bldP spid="85053" grpId="1" animBg="1"/>
      <p:bldP spid="85054" grpId="0" animBg="1"/>
      <p:bldP spid="85055" grpId="0" animBg="1"/>
      <p:bldP spid="85056" grpId="0" animBg="1"/>
      <p:bldP spid="85057" grpId="0" animBg="1"/>
      <p:bldP spid="85058" grpId="0" animBg="1"/>
      <p:bldP spid="85058" grpId="1" animBg="1"/>
      <p:bldP spid="85059" grpId="0" animBg="1"/>
      <p:bldP spid="85060" grpId="0" animBg="1"/>
      <p:bldP spid="85061" grpId="0" animBg="1"/>
      <p:bldP spid="85061" grpId="1" animBg="1"/>
      <p:bldP spid="85063" grpId="0" animBg="1"/>
      <p:bldP spid="85064" grpId="0" animBg="1"/>
      <p:bldP spid="85065" grpId="0" animBg="1"/>
      <p:bldP spid="85066" grpId="0" animBg="1"/>
      <p:bldP spid="85067" grpId="0" animBg="1"/>
      <p:bldP spid="85068" grpId="0" animBg="1"/>
      <p:bldP spid="85069" grpId="0" animBg="1"/>
      <p:bldP spid="85070" grpId="0" animBg="1"/>
      <p:bldP spid="85071" grpId="0" animBg="1"/>
      <p:bldP spid="85072" grpId="0" animBg="1"/>
      <p:bldP spid="85073" grpId="0" animBg="1"/>
      <p:bldP spid="85074" grpId="0" animBg="1"/>
      <p:bldP spid="85075" grpId="0" animBg="1"/>
      <p:bldP spid="85076" grpId="0"/>
      <p:bldP spid="85077" grpId="0"/>
      <p:bldP spid="85078" grpId="0"/>
      <p:bldP spid="85079" grpId="0"/>
      <p:bldP spid="8508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98763" y="1825625"/>
            <a:ext cx="8132965" cy="472480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computing forward contours and backward contours in an alternating fashion , 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order FC</a:t>
            </a:r>
            <a:r>
              <a:rPr lang="en-US" altLang="zh-TW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BC</a:t>
            </a:r>
            <a:r>
              <a:rPr lang="en-US" altLang="zh-TW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FC</a:t>
            </a:r>
            <a:r>
              <a:rPr lang="en-US" altLang="zh-TW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BC</a:t>
            </a:r>
            <a:r>
              <a:rPr lang="en-US" altLang="zh-TW" sz="240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 . . </a:t>
            </a: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sets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containing the matches which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remain uncovered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 FC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 M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 BC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2i-1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2(i-1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2i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=M</a:t>
            </a:r>
            <a:r>
              <a:rPr lang="en-US" altLang="zh-TW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2i-1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\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TW" sz="2400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en-US" altLang="zh-TW" sz="24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9562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Line 2"/>
          <p:cNvSpPr>
            <a:spLocks noChangeShapeType="1"/>
          </p:cNvSpPr>
          <p:nvPr/>
        </p:nvSpPr>
        <p:spPr bwMode="auto">
          <a:xfrm>
            <a:off x="2017713" y="1713085"/>
            <a:ext cx="568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55" name="Line 3"/>
          <p:cNvSpPr>
            <a:spLocks noChangeShapeType="1"/>
          </p:cNvSpPr>
          <p:nvPr/>
        </p:nvSpPr>
        <p:spPr bwMode="auto">
          <a:xfrm>
            <a:off x="2449513" y="1497185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auto">
          <a:xfrm>
            <a:off x="2665413" y="1209848"/>
            <a:ext cx="482441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 dirty="0">
                <a:ea typeface="新細明體" panose="02020500000000000000" pitchFamily="18" charset="-120"/>
              </a:rPr>
              <a:t>c  b  a  b  </a:t>
            </a:r>
            <a:r>
              <a:rPr lang="en-US" altLang="zh-TW" sz="3600" dirty="0" err="1">
                <a:ea typeface="新細明體" panose="02020500000000000000" pitchFamily="18" charset="-120"/>
              </a:rPr>
              <a:t>b</a:t>
            </a:r>
            <a:r>
              <a:rPr lang="en-US" altLang="zh-TW" sz="3600" dirty="0">
                <a:ea typeface="新細明體" panose="02020500000000000000" pitchFamily="18" charset="-120"/>
              </a:rPr>
              <a:t>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 dirty="0">
              <a:ea typeface="新細明體" panose="02020500000000000000" pitchFamily="18" charset="-120"/>
            </a:endParaRPr>
          </a:p>
        </p:txBody>
      </p:sp>
      <p:sp>
        <p:nvSpPr>
          <p:cNvPr id="100357" name="Text Box 5"/>
          <p:cNvSpPr txBox="1">
            <a:spLocks noChangeArrowheads="1"/>
          </p:cNvSpPr>
          <p:nvPr/>
        </p:nvSpPr>
        <p:spPr bwMode="auto">
          <a:xfrm>
            <a:off x="1944688" y="1497185"/>
            <a:ext cx="792162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100358" name="Oval 6"/>
          <p:cNvSpPr>
            <a:spLocks noChangeArrowheads="1"/>
          </p:cNvSpPr>
          <p:nvPr/>
        </p:nvSpPr>
        <p:spPr bwMode="auto">
          <a:xfrm>
            <a:off x="5257800" y="178452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59" name="Oval 7"/>
          <p:cNvSpPr>
            <a:spLocks noChangeArrowheads="1"/>
          </p:cNvSpPr>
          <p:nvPr/>
        </p:nvSpPr>
        <p:spPr bwMode="auto">
          <a:xfrm>
            <a:off x="6265863" y="178452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0" name="Oval 8"/>
          <p:cNvSpPr>
            <a:spLocks noChangeArrowheads="1"/>
          </p:cNvSpPr>
          <p:nvPr/>
        </p:nvSpPr>
        <p:spPr bwMode="auto">
          <a:xfrm>
            <a:off x="3673475" y="178452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1" name="Oval 9"/>
          <p:cNvSpPr>
            <a:spLocks noChangeArrowheads="1"/>
          </p:cNvSpPr>
          <p:nvPr/>
        </p:nvSpPr>
        <p:spPr bwMode="auto">
          <a:xfrm>
            <a:off x="3241675" y="221791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2" name="Oval 10"/>
          <p:cNvSpPr>
            <a:spLocks noChangeArrowheads="1"/>
          </p:cNvSpPr>
          <p:nvPr/>
        </p:nvSpPr>
        <p:spPr bwMode="auto">
          <a:xfrm>
            <a:off x="4176713" y="221791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3" name="Oval 11"/>
          <p:cNvSpPr>
            <a:spLocks noChangeArrowheads="1"/>
          </p:cNvSpPr>
          <p:nvPr/>
        </p:nvSpPr>
        <p:spPr bwMode="auto">
          <a:xfrm>
            <a:off x="4752975" y="221791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4" name="Oval 12"/>
          <p:cNvSpPr>
            <a:spLocks noChangeArrowheads="1"/>
          </p:cNvSpPr>
          <p:nvPr/>
        </p:nvSpPr>
        <p:spPr bwMode="auto">
          <a:xfrm>
            <a:off x="3673475" y="279258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5" name="Oval 13"/>
          <p:cNvSpPr>
            <a:spLocks noChangeArrowheads="1"/>
          </p:cNvSpPr>
          <p:nvPr/>
        </p:nvSpPr>
        <p:spPr bwMode="auto">
          <a:xfrm>
            <a:off x="5184775" y="272114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6" name="Oval 14"/>
          <p:cNvSpPr>
            <a:spLocks noChangeArrowheads="1"/>
          </p:cNvSpPr>
          <p:nvPr/>
        </p:nvSpPr>
        <p:spPr bwMode="auto">
          <a:xfrm>
            <a:off x="6265863" y="272114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7" name="Oval 15"/>
          <p:cNvSpPr>
            <a:spLocks noChangeArrowheads="1"/>
          </p:cNvSpPr>
          <p:nvPr/>
        </p:nvSpPr>
        <p:spPr bwMode="auto">
          <a:xfrm>
            <a:off x="2665413" y="336884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8" name="Oval 16"/>
          <p:cNvSpPr>
            <a:spLocks noChangeArrowheads="1"/>
          </p:cNvSpPr>
          <p:nvPr/>
        </p:nvSpPr>
        <p:spPr bwMode="auto">
          <a:xfrm>
            <a:off x="5834063" y="3368848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69" name="Oval 17"/>
          <p:cNvSpPr>
            <a:spLocks noChangeArrowheads="1"/>
          </p:cNvSpPr>
          <p:nvPr/>
        </p:nvSpPr>
        <p:spPr bwMode="auto">
          <a:xfrm>
            <a:off x="6842125" y="336884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0" name="Oval 18"/>
          <p:cNvSpPr>
            <a:spLocks noChangeArrowheads="1"/>
          </p:cNvSpPr>
          <p:nvPr/>
        </p:nvSpPr>
        <p:spPr bwMode="auto">
          <a:xfrm>
            <a:off x="3241675" y="387367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1" name="Oval 19"/>
          <p:cNvSpPr>
            <a:spLocks noChangeArrowheads="1"/>
          </p:cNvSpPr>
          <p:nvPr/>
        </p:nvSpPr>
        <p:spPr bwMode="auto">
          <a:xfrm>
            <a:off x="4176713" y="3873673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2" name="Oval 20"/>
          <p:cNvSpPr>
            <a:spLocks noChangeArrowheads="1"/>
          </p:cNvSpPr>
          <p:nvPr/>
        </p:nvSpPr>
        <p:spPr bwMode="auto">
          <a:xfrm>
            <a:off x="4752975" y="387367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3" name="Oval 21"/>
          <p:cNvSpPr>
            <a:spLocks noChangeArrowheads="1"/>
          </p:cNvSpPr>
          <p:nvPr/>
        </p:nvSpPr>
        <p:spPr bwMode="auto">
          <a:xfrm>
            <a:off x="2665413" y="437691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4" name="Oval 22"/>
          <p:cNvSpPr>
            <a:spLocks noChangeArrowheads="1"/>
          </p:cNvSpPr>
          <p:nvPr/>
        </p:nvSpPr>
        <p:spPr bwMode="auto">
          <a:xfrm>
            <a:off x="6842125" y="437691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5" name="Oval 23"/>
          <p:cNvSpPr>
            <a:spLocks noChangeArrowheads="1"/>
          </p:cNvSpPr>
          <p:nvPr/>
        </p:nvSpPr>
        <p:spPr bwMode="auto">
          <a:xfrm>
            <a:off x="5761038" y="437691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6" name="Oval 24"/>
          <p:cNvSpPr>
            <a:spLocks noChangeArrowheads="1"/>
          </p:cNvSpPr>
          <p:nvPr/>
        </p:nvSpPr>
        <p:spPr bwMode="auto">
          <a:xfrm>
            <a:off x="3241675" y="495317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7" name="Oval 25"/>
          <p:cNvSpPr>
            <a:spLocks noChangeArrowheads="1"/>
          </p:cNvSpPr>
          <p:nvPr/>
        </p:nvSpPr>
        <p:spPr bwMode="auto">
          <a:xfrm>
            <a:off x="4105275" y="495317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8" name="Oval 26"/>
          <p:cNvSpPr>
            <a:spLocks noChangeArrowheads="1"/>
          </p:cNvSpPr>
          <p:nvPr/>
        </p:nvSpPr>
        <p:spPr bwMode="auto">
          <a:xfrm>
            <a:off x="4752975" y="4953173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79" name="Oval 27"/>
          <p:cNvSpPr>
            <a:spLocks noChangeArrowheads="1"/>
          </p:cNvSpPr>
          <p:nvPr/>
        </p:nvSpPr>
        <p:spPr bwMode="auto">
          <a:xfrm>
            <a:off x="3816350" y="560246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80" name="Oval 28"/>
          <p:cNvSpPr>
            <a:spLocks noChangeArrowheads="1"/>
          </p:cNvSpPr>
          <p:nvPr/>
        </p:nvSpPr>
        <p:spPr bwMode="auto">
          <a:xfrm>
            <a:off x="5257800" y="567389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81" name="Oval 29"/>
          <p:cNvSpPr>
            <a:spLocks noChangeArrowheads="1"/>
          </p:cNvSpPr>
          <p:nvPr/>
        </p:nvSpPr>
        <p:spPr bwMode="auto">
          <a:xfrm>
            <a:off x="6337300" y="5673898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82" name="Text Box 30"/>
          <p:cNvSpPr txBox="1">
            <a:spLocks noChangeArrowheads="1"/>
          </p:cNvSpPr>
          <p:nvPr/>
        </p:nvSpPr>
        <p:spPr bwMode="auto">
          <a:xfrm>
            <a:off x="7345363" y="1497185"/>
            <a:ext cx="792162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100383" name="Line 31"/>
          <p:cNvSpPr>
            <a:spLocks noChangeShapeType="1"/>
          </p:cNvSpPr>
          <p:nvPr/>
        </p:nvSpPr>
        <p:spPr bwMode="auto">
          <a:xfrm>
            <a:off x="7416800" y="1568623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84" name="Rectangle 32"/>
          <p:cNvSpPr>
            <a:spLocks noChangeArrowheads="1"/>
          </p:cNvSpPr>
          <p:nvPr/>
        </p:nvSpPr>
        <p:spPr bwMode="auto">
          <a:xfrm>
            <a:off x="2736850" y="6005685"/>
            <a:ext cx="482441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>
                <a:ea typeface="新細明體" panose="02020500000000000000" pitchFamily="18" charset="-120"/>
              </a:rPr>
              <a:t>c  b  a  b  b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100385" name="Line 33"/>
          <p:cNvSpPr>
            <a:spLocks noChangeShapeType="1"/>
          </p:cNvSpPr>
          <p:nvPr/>
        </p:nvSpPr>
        <p:spPr bwMode="auto">
          <a:xfrm>
            <a:off x="2017713" y="6177135"/>
            <a:ext cx="568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86" name="Text Box 34"/>
          <p:cNvSpPr txBox="1">
            <a:spLocks noChangeArrowheads="1"/>
          </p:cNvSpPr>
          <p:nvPr/>
        </p:nvSpPr>
        <p:spPr bwMode="auto">
          <a:xfrm>
            <a:off x="0" y="1713085"/>
            <a:ext cx="14398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TW" sz="4800">
                <a:ea typeface="新細明體" panose="02020500000000000000" pitchFamily="18" charset="-120"/>
              </a:rPr>
              <a:t>M</a:t>
            </a:r>
            <a:r>
              <a:rPr lang="en-US" altLang="zh-TW" sz="3600">
                <a:ea typeface="新細明體" panose="02020500000000000000" pitchFamily="18" charset="-120"/>
              </a:rPr>
              <a:t>1</a:t>
            </a:r>
          </a:p>
        </p:txBody>
      </p:sp>
      <p:sp>
        <p:nvSpPr>
          <p:cNvPr id="100387" name="Line 35"/>
          <p:cNvSpPr>
            <a:spLocks noChangeShapeType="1"/>
          </p:cNvSpPr>
          <p:nvPr/>
        </p:nvSpPr>
        <p:spPr bwMode="auto">
          <a:xfrm flipV="1">
            <a:off x="2881313" y="4737273"/>
            <a:ext cx="0" cy="13700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88" name="Line 36"/>
          <p:cNvSpPr>
            <a:spLocks noChangeShapeType="1"/>
          </p:cNvSpPr>
          <p:nvPr/>
        </p:nvSpPr>
        <p:spPr bwMode="auto">
          <a:xfrm flipV="1">
            <a:off x="2881313" y="3729210"/>
            <a:ext cx="0" cy="650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89" name="Line 37"/>
          <p:cNvSpPr>
            <a:spLocks noChangeShapeType="1"/>
          </p:cNvSpPr>
          <p:nvPr/>
        </p:nvSpPr>
        <p:spPr bwMode="auto">
          <a:xfrm flipV="1">
            <a:off x="3025775" y="3513310"/>
            <a:ext cx="431800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0" name="Line 38"/>
          <p:cNvSpPr>
            <a:spLocks noChangeShapeType="1"/>
          </p:cNvSpPr>
          <p:nvPr/>
        </p:nvSpPr>
        <p:spPr bwMode="auto">
          <a:xfrm flipV="1">
            <a:off x="3457575" y="2576685"/>
            <a:ext cx="1588" cy="9366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1" name="Line 39"/>
          <p:cNvSpPr>
            <a:spLocks noChangeShapeType="1"/>
          </p:cNvSpPr>
          <p:nvPr/>
        </p:nvSpPr>
        <p:spPr bwMode="auto">
          <a:xfrm flipV="1">
            <a:off x="3600450" y="2360785"/>
            <a:ext cx="288925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2" name="Line 40"/>
          <p:cNvSpPr>
            <a:spLocks noChangeShapeType="1"/>
          </p:cNvSpPr>
          <p:nvPr/>
        </p:nvSpPr>
        <p:spPr bwMode="auto">
          <a:xfrm flipV="1">
            <a:off x="3889375" y="2144885"/>
            <a:ext cx="0" cy="217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3" name="Line 41"/>
          <p:cNvSpPr>
            <a:spLocks noChangeShapeType="1"/>
          </p:cNvSpPr>
          <p:nvPr/>
        </p:nvSpPr>
        <p:spPr bwMode="auto">
          <a:xfrm flipV="1">
            <a:off x="4033838" y="2002010"/>
            <a:ext cx="1223962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4" name="Line 42"/>
          <p:cNvSpPr>
            <a:spLocks noChangeShapeType="1"/>
          </p:cNvSpPr>
          <p:nvPr/>
        </p:nvSpPr>
        <p:spPr bwMode="auto">
          <a:xfrm flipV="1">
            <a:off x="5616575" y="2002010"/>
            <a:ext cx="649288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5" name="Line 43"/>
          <p:cNvSpPr>
            <a:spLocks noChangeShapeType="1"/>
          </p:cNvSpPr>
          <p:nvPr/>
        </p:nvSpPr>
        <p:spPr bwMode="auto">
          <a:xfrm flipV="1">
            <a:off x="6626225" y="2002010"/>
            <a:ext cx="649288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6" name="Oval 44"/>
          <p:cNvSpPr>
            <a:spLocks noChangeArrowheads="1"/>
          </p:cNvSpPr>
          <p:nvPr/>
        </p:nvSpPr>
        <p:spPr bwMode="auto">
          <a:xfrm>
            <a:off x="2665413" y="4376910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7" name="Oval 45"/>
          <p:cNvSpPr>
            <a:spLocks noChangeArrowheads="1"/>
          </p:cNvSpPr>
          <p:nvPr/>
        </p:nvSpPr>
        <p:spPr bwMode="auto">
          <a:xfrm>
            <a:off x="2665413" y="3368848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8" name="Oval 46"/>
          <p:cNvSpPr>
            <a:spLocks noChangeArrowheads="1"/>
          </p:cNvSpPr>
          <p:nvPr/>
        </p:nvSpPr>
        <p:spPr bwMode="auto">
          <a:xfrm>
            <a:off x="3241675" y="2217910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399" name="Oval 47"/>
          <p:cNvSpPr>
            <a:spLocks noChangeArrowheads="1"/>
          </p:cNvSpPr>
          <p:nvPr/>
        </p:nvSpPr>
        <p:spPr bwMode="auto">
          <a:xfrm>
            <a:off x="3673475" y="1784523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0" name="Oval 48"/>
          <p:cNvSpPr>
            <a:spLocks noChangeArrowheads="1"/>
          </p:cNvSpPr>
          <p:nvPr/>
        </p:nvSpPr>
        <p:spPr bwMode="auto">
          <a:xfrm>
            <a:off x="5257800" y="1784523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1" name="Oval 49"/>
          <p:cNvSpPr>
            <a:spLocks noChangeArrowheads="1"/>
          </p:cNvSpPr>
          <p:nvPr/>
        </p:nvSpPr>
        <p:spPr bwMode="auto">
          <a:xfrm>
            <a:off x="6265863" y="1784523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2" name="Line 50"/>
          <p:cNvSpPr>
            <a:spLocks noChangeShapeType="1"/>
          </p:cNvSpPr>
          <p:nvPr/>
        </p:nvSpPr>
        <p:spPr bwMode="auto">
          <a:xfrm flipV="1">
            <a:off x="2520950" y="5818360"/>
            <a:ext cx="1296988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3" name="Line 51"/>
          <p:cNvSpPr>
            <a:spLocks noChangeShapeType="1"/>
          </p:cNvSpPr>
          <p:nvPr/>
        </p:nvSpPr>
        <p:spPr bwMode="auto">
          <a:xfrm flipV="1">
            <a:off x="4176713" y="5818360"/>
            <a:ext cx="1081087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4" name="Line 52"/>
          <p:cNvSpPr>
            <a:spLocks noChangeShapeType="1"/>
          </p:cNvSpPr>
          <p:nvPr/>
        </p:nvSpPr>
        <p:spPr bwMode="auto">
          <a:xfrm flipV="1">
            <a:off x="5616575" y="5818360"/>
            <a:ext cx="720725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5" name="Line 53"/>
          <p:cNvSpPr>
            <a:spLocks noChangeShapeType="1"/>
          </p:cNvSpPr>
          <p:nvPr/>
        </p:nvSpPr>
        <p:spPr bwMode="auto">
          <a:xfrm flipV="1">
            <a:off x="6553200" y="4521373"/>
            <a:ext cx="0" cy="1152525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6" name="Line 54"/>
          <p:cNvSpPr>
            <a:spLocks noChangeShapeType="1"/>
          </p:cNvSpPr>
          <p:nvPr/>
        </p:nvSpPr>
        <p:spPr bwMode="auto">
          <a:xfrm flipV="1">
            <a:off x="6553200" y="4521373"/>
            <a:ext cx="288925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7" name="Line 55"/>
          <p:cNvSpPr>
            <a:spLocks noChangeShapeType="1"/>
          </p:cNvSpPr>
          <p:nvPr/>
        </p:nvSpPr>
        <p:spPr bwMode="auto">
          <a:xfrm flipV="1">
            <a:off x="6985000" y="3729210"/>
            <a:ext cx="0" cy="6492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8" name="Line 56"/>
          <p:cNvSpPr>
            <a:spLocks noChangeShapeType="1"/>
          </p:cNvSpPr>
          <p:nvPr/>
        </p:nvSpPr>
        <p:spPr bwMode="auto">
          <a:xfrm flipV="1">
            <a:off x="6985000" y="1713085"/>
            <a:ext cx="0" cy="165735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09" name="Text Box 57"/>
          <p:cNvSpPr txBox="1">
            <a:spLocks noChangeArrowheads="1"/>
          </p:cNvSpPr>
          <p:nvPr/>
        </p:nvSpPr>
        <p:spPr bwMode="auto">
          <a:xfrm>
            <a:off x="0" y="1713085"/>
            <a:ext cx="14398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TW" sz="4800">
                <a:ea typeface="新細明體" panose="02020500000000000000" pitchFamily="18" charset="-120"/>
              </a:rPr>
              <a:t>M</a:t>
            </a:r>
            <a:r>
              <a:rPr lang="en-US" altLang="zh-TW" sz="3600">
                <a:ea typeface="新細明體" panose="02020500000000000000" pitchFamily="18" charset="-120"/>
              </a:rPr>
              <a:t>2</a:t>
            </a:r>
          </a:p>
        </p:txBody>
      </p:sp>
      <p:sp>
        <p:nvSpPr>
          <p:cNvPr id="100411" name="Oval 59"/>
          <p:cNvSpPr>
            <a:spLocks noChangeArrowheads="1"/>
          </p:cNvSpPr>
          <p:nvPr/>
        </p:nvSpPr>
        <p:spPr bwMode="auto">
          <a:xfrm>
            <a:off x="3816350" y="5602460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2" name="Oval 60"/>
          <p:cNvSpPr>
            <a:spLocks noChangeArrowheads="1"/>
          </p:cNvSpPr>
          <p:nvPr/>
        </p:nvSpPr>
        <p:spPr bwMode="auto">
          <a:xfrm>
            <a:off x="5257800" y="5673898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3" name="Oval 61"/>
          <p:cNvSpPr>
            <a:spLocks noChangeArrowheads="1"/>
          </p:cNvSpPr>
          <p:nvPr/>
        </p:nvSpPr>
        <p:spPr bwMode="auto">
          <a:xfrm>
            <a:off x="6337300" y="5673898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4" name="Oval 62"/>
          <p:cNvSpPr>
            <a:spLocks noChangeArrowheads="1"/>
          </p:cNvSpPr>
          <p:nvPr/>
        </p:nvSpPr>
        <p:spPr bwMode="auto">
          <a:xfrm>
            <a:off x="6842125" y="4376910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5" name="Oval 63"/>
          <p:cNvSpPr>
            <a:spLocks noChangeArrowheads="1"/>
          </p:cNvSpPr>
          <p:nvPr/>
        </p:nvSpPr>
        <p:spPr bwMode="auto">
          <a:xfrm>
            <a:off x="6842125" y="3368848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6" name="Line 64"/>
          <p:cNvSpPr>
            <a:spLocks noChangeShapeType="1"/>
          </p:cNvSpPr>
          <p:nvPr/>
        </p:nvSpPr>
        <p:spPr bwMode="auto">
          <a:xfrm flipV="1">
            <a:off x="3384550" y="5313535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7" name="Line 65"/>
          <p:cNvSpPr>
            <a:spLocks noChangeShapeType="1"/>
          </p:cNvSpPr>
          <p:nvPr/>
        </p:nvSpPr>
        <p:spPr bwMode="auto">
          <a:xfrm flipV="1">
            <a:off x="3384550" y="4234035"/>
            <a:ext cx="0" cy="7207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8" name="Line 66"/>
          <p:cNvSpPr>
            <a:spLocks noChangeShapeType="1"/>
          </p:cNvSpPr>
          <p:nvPr/>
        </p:nvSpPr>
        <p:spPr bwMode="auto">
          <a:xfrm flipV="1">
            <a:off x="3600450" y="4089573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19" name="Line 67"/>
          <p:cNvSpPr>
            <a:spLocks noChangeShapeType="1"/>
          </p:cNvSpPr>
          <p:nvPr/>
        </p:nvSpPr>
        <p:spPr bwMode="auto">
          <a:xfrm flipV="1">
            <a:off x="3889375" y="3152948"/>
            <a:ext cx="0" cy="9366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0" name="Line 68"/>
          <p:cNvSpPr>
            <a:spLocks noChangeShapeType="1"/>
          </p:cNvSpPr>
          <p:nvPr/>
        </p:nvSpPr>
        <p:spPr bwMode="auto">
          <a:xfrm flipV="1">
            <a:off x="3600450" y="4089573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1" name="Line 69"/>
          <p:cNvSpPr>
            <a:spLocks noChangeShapeType="1"/>
          </p:cNvSpPr>
          <p:nvPr/>
        </p:nvSpPr>
        <p:spPr bwMode="auto">
          <a:xfrm flipV="1">
            <a:off x="4033838" y="3010073"/>
            <a:ext cx="3587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2" name="Line 70"/>
          <p:cNvSpPr>
            <a:spLocks noChangeShapeType="1"/>
          </p:cNvSpPr>
          <p:nvPr/>
        </p:nvSpPr>
        <p:spPr bwMode="auto">
          <a:xfrm flipV="1">
            <a:off x="4392613" y="2576685"/>
            <a:ext cx="0" cy="4333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3" name="Line 71"/>
          <p:cNvSpPr>
            <a:spLocks noChangeShapeType="1"/>
          </p:cNvSpPr>
          <p:nvPr/>
        </p:nvSpPr>
        <p:spPr bwMode="auto">
          <a:xfrm flipV="1">
            <a:off x="4537075" y="2433810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4" name="Line 72"/>
          <p:cNvSpPr>
            <a:spLocks noChangeShapeType="1"/>
          </p:cNvSpPr>
          <p:nvPr/>
        </p:nvSpPr>
        <p:spPr bwMode="auto">
          <a:xfrm flipV="1">
            <a:off x="5113338" y="2433810"/>
            <a:ext cx="21605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7" name="Oval 75"/>
          <p:cNvSpPr>
            <a:spLocks noChangeArrowheads="1"/>
          </p:cNvSpPr>
          <p:nvPr/>
        </p:nvSpPr>
        <p:spPr bwMode="auto">
          <a:xfrm>
            <a:off x="3241675" y="4953173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8" name="Oval 76"/>
          <p:cNvSpPr>
            <a:spLocks noChangeArrowheads="1"/>
          </p:cNvSpPr>
          <p:nvPr/>
        </p:nvSpPr>
        <p:spPr bwMode="auto">
          <a:xfrm>
            <a:off x="3241675" y="3873673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29" name="Oval 77"/>
          <p:cNvSpPr>
            <a:spLocks noChangeArrowheads="1"/>
          </p:cNvSpPr>
          <p:nvPr/>
        </p:nvSpPr>
        <p:spPr bwMode="auto">
          <a:xfrm>
            <a:off x="3673475" y="2792585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0" name="Oval 78"/>
          <p:cNvSpPr>
            <a:spLocks noChangeArrowheads="1"/>
          </p:cNvSpPr>
          <p:nvPr/>
        </p:nvSpPr>
        <p:spPr bwMode="auto">
          <a:xfrm>
            <a:off x="4176713" y="2217910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1" name="Oval 79"/>
          <p:cNvSpPr>
            <a:spLocks noChangeArrowheads="1"/>
          </p:cNvSpPr>
          <p:nvPr/>
        </p:nvSpPr>
        <p:spPr bwMode="auto">
          <a:xfrm>
            <a:off x="4752975" y="2217910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2" name="Text Box 80"/>
          <p:cNvSpPr txBox="1">
            <a:spLocks noChangeArrowheads="1"/>
          </p:cNvSpPr>
          <p:nvPr/>
        </p:nvSpPr>
        <p:spPr bwMode="auto">
          <a:xfrm>
            <a:off x="0" y="1713085"/>
            <a:ext cx="14398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TW" sz="4800">
                <a:ea typeface="新細明體" panose="02020500000000000000" pitchFamily="18" charset="-120"/>
              </a:rPr>
              <a:t>M</a:t>
            </a:r>
            <a:r>
              <a:rPr lang="en-US" altLang="zh-TW" sz="3600">
                <a:ea typeface="新細明體" panose="02020500000000000000" pitchFamily="18" charset="-120"/>
              </a:rPr>
              <a:t>3</a:t>
            </a:r>
          </a:p>
        </p:txBody>
      </p:sp>
      <p:sp>
        <p:nvSpPr>
          <p:cNvPr id="100433" name="Line 81"/>
          <p:cNvSpPr>
            <a:spLocks noChangeShapeType="1"/>
          </p:cNvSpPr>
          <p:nvPr/>
        </p:nvSpPr>
        <p:spPr bwMode="auto">
          <a:xfrm flipV="1">
            <a:off x="2449513" y="5169073"/>
            <a:ext cx="792162" cy="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5" name="Line 83"/>
          <p:cNvSpPr>
            <a:spLocks noChangeShapeType="1"/>
          </p:cNvSpPr>
          <p:nvPr/>
        </p:nvSpPr>
        <p:spPr bwMode="auto">
          <a:xfrm flipV="1">
            <a:off x="3673475" y="5169073"/>
            <a:ext cx="431800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6" name="Line 84"/>
          <p:cNvSpPr>
            <a:spLocks noChangeShapeType="1"/>
          </p:cNvSpPr>
          <p:nvPr/>
        </p:nvSpPr>
        <p:spPr bwMode="auto">
          <a:xfrm flipV="1">
            <a:off x="4465638" y="5169073"/>
            <a:ext cx="287337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7" name="Line 85"/>
          <p:cNvSpPr>
            <a:spLocks noChangeShapeType="1"/>
          </p:cNvSpPr>
          <p:nvPr/>
        </p:nvSpPr>
        <p:spPr bwMode="auto">
          <a:xfrm flipV="1">
            <a:off x="4968875" y="4521373"/>
            <a:ext cx="0" cy="4333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8" name="Line 86"/>
          <p:cNvSpPr>
            <a:spLocks noChangeShapeType="1"/>
          </p:cNvSpPr>
          <p:nvPr/>
        </p:nvSpPr>
        <p:spPr bwMode="auto">
          <a:xfrm flipV="1">
            <a:off x="4968875" y="4521373"/>
            <a:ext cx="792163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39" name="AutoShape 87"/>
          <p:cNvSpPr>
            <a:spLocks noChangeArrowheads="1"/>
          </p:cNvSpPr>
          <p:nvPr/>
        </p:nvSpPr>
        <p:spPr bwMode="auto">
          <a:xfrm>
            <a:off x="2376488" y="993948"/>
            <a:ext cx="3313112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0" name="AutoShape 88"/>
          <p:cNvSpPr>
            <a:spLocks noChangeArrowheads="1"/>
          </p:cNvSpPr>
          <p:nvPr/>
        </p:nvSpPr>
        <p:spPr bwMode="auto">
          <a:xfrm rot="5400000">
            <a:off x="-35718" y="3333129"/>
            <a:ext cx="3313112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1" name="AutoShape 89"/>
          <p:cNvSpPr>
            <a:spLocks noChangeArrowheads="1"/>
          </p:cNvSpPr>
          <p:nvPr/>
        </p:nvSpPr>
        <p:spPr bwMode="auto">
          <a:xfrm rot="16200000">
            <a:off x="6373018" y="3477592"/>
            <a:ext cx="3313113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2" name="AutoShape 90"/>
          <p:cNvSpPr>
            <a:spLocks noChangeArrowheads="1"/>
          </p:cNvSpPr>
          <p:nvPr/>
        </p:nvSpPr>
        <p:spPr bwMode="auto">
          <a:xfrm rot="10800000">
            <a:off x="3529013" y="6510510"/>
            <a:ext cx="3313112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3" name="Line 91"/>
          <p:cNvSpPr>
            <a:spLocks noChangeShapeType="1"/>
          </p:cNvSpPr>
          <p:nvPr/>
        </p:nvSpPr>
        <p:spPr bwMode="auto">
          <a:xfrm flipV="1">
            <a:off x="5976938" y="3729210"/>
            <a:ext cx="0" cy="6492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4" name="Line 92"/>
          <p:cNvSpPr>
            <a:spLocks noChangeShapeType="1"/>
          </p:cNvSpPr>
          <p:nvPr/>
        </p:nvSpPr>
        <p:spPr bwMode="auto">
          <a:xfrm flipV="1">
            <a:off x="6192838" y="3513310"/>
            <a:ext cx="288925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5" name="Line 93"/>
          <p:cNvSpPr>
            <a:spLocks noChangeShapeType="1"/>
          </p:cNvSpPr>
          <p:nvPr/>
        </p:nvSpPr>
        <p:spPr bwMode="auto">
          <a:xfrm flipV="1">
            <a:off x="6481763" y="3081510"/>
            <a:ext cx="0" cy="4333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6" name="Line 94"/>
          <p:cNvSpPr>
            <a:spLocks noChangeShapeType="1"/>
          </p:cNvSpPr>
          <p:nvPr/>
        </p:nvSpPr>
        <p:spPr bwMode="auto">
          <a:xfrm flipV="1">
            <a:off x="6481763" y="2144885"/>
            <a:ext cx="0" cy="57785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7" name="Line 95"/>
          <p:cNvSpPr>
            <a:spLocks noChangeShapeType="1"/>
          </p:cNvSpPr>
          <p:nvPr/>
        </p:nvSpPr>
        <p:spPr bwMode="auto">
          <a:xfrm flipV="1">
            <a:off x="6481763" y="1641648"/>
            <a:ext cx="0" cy="144462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8" name="Oval 96"/>
          <p:cNvSpPr>
            <a:spLocks noChangeArrowheads="1"/>
          </p:cNvSpPr>
          <p:nvPr/>
        </p:nvSpPr>
        <p:spPr bwMode="auto">
          <a:xfrm>
            <a:off x="4105275" y="4953173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49" name="Oval 97"/>
          <p:cNvSpPr>
            <a:spLocks noChangeArrowheads="1"/>
          </p:cNvSpPr>
          <p:nvPr/>
        </p:nvSpPr>
        <p:spPr bwMode="auto">
          <a:xfrm>
            <a:off x="4752975" y="4953173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0" name="Oval 98"/>
          <p:cNvSpPr>
            <a:spLocks noChangeArrowheads="1"/>
          </p:cNvSpPr>
          <p:nvPr/>
        </p:nvSpPr>
        <p:spPr bwMode="auto">
          <a:xfrm>
            <a:off x="5761038" y="4376910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1" name="Oval 99"/>
          <p:cNvSpPr>
            <a:spLocks noChangeArrowheads="1"/>
          </p:cNvSpPr>
          <p:nvPr/>
        </p:nvSpPr>
        <p:spPr bwMode="auto">
          <a:xfrm>
            <a:off x="5834063" y="3368848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2" name="Oval 100"/>
          <p:cNvSpPr>
            <a:spLocks noChangeArrowheads="1"/>
          </p:cNvSpPr>
          <p:nvPr/>
        </p:nvSpPr>
        <p:spPr bwMode="auto">
          <a:xfrm>
            <a:off x="6265863" y="2721148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3" name="Text Box 101"/>
          <p:cNvSpPr txBox="1">
            <a:spLocks noChangeArrowheads="1"/>
          </p:cNvSpPr>
          <p:nvPr/>
        </p:nvSpPr>
        <p:spPr bwMode="auto">
          <a:xfrm>
            <a:off x="0" y="1713085"/>
            <a:ext cx="14398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TW" sz="4800">
                <a:ea typeface="新細明體" panose="02020500000000000000" pitchFamily="18" charset="-120"/>
              </a:rPr>
              <a:t>M</a:t>
            </a:r>
            <a:r>
              <a:rPr lang="en-US" altLang="zh-TW" sz="3600">
                <a:ea typeface="新細明體" panose="02020500000000000000" pitchFamily="18" charset="-120"/>
              </a:rPr>
              <a:t>4</a:t>
            </a:r>
          </a:p>
        </p:txBody>
      </p:sp>
      <p:sp>
        <p:nvSpPr>
          <p:cNvPr id="100454" name="Line 102"/>
          <p:cNvSpPr>
            <a:spLocks noChangeShapeType="1"/>
          </p:cNvSpPr>
          <p:nvPr/>
        </p:nvSpPr>
        <p:spPr bwMode="auto">
          <a:xfrm flipV="1">
            <a:off x="3960813" y="5889798"/>
            <a:ext cx="0" cy="2889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5" name="Line 103"/>
          <p:cNvSpPr>
            <a:spLocks noChangeShapeType="1"/>
          </p:cNvSpPr>
          <p:nvPr/>
        </p:nvSpPr>
        <p:spPr bwMode="auto">
          <a:xfrm>
            <a:off x="4105275" y="5673898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6" name="Line 104"/>
          <p:cNvSpPr>
            <a:spLocks noChangeShapeType="1"/>
          </p:cNvSpPr>
          <p:nvPr/>
        </p:nvSpPr>
        <p:spPr bwMode="auto">
          <a:xfrm flipV="1">
            <a:off x="4321175" y="5097635"/>
            <a:ext cx="0" cy="5762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7" name="Line 105"/>
          <p:cNvSpPr>
            <a:spLocks noChangeShapeType="1"/>
          </p:cNvSpPr>
          <p:nvPr/>
        </p:nvSpPr>
        <p:spPr bwMode="auto">
          <a:xfrm flipV="1">
            <a:off x="4321175" y="4234035"/>
            <a:ext cx="0" cy="7207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8" name="Line 106"/>
          <p:cNvSpPr>
            <a:spLocks noChangeShapeType="1"/>
          </p:cNvSpPr>
          <p:nvPr/>
        </p:nvSpPr>
        <p:spPr bwMode="auto">
          <a:xfrm flipV="1">
            <a:off x="4537075" y="4089573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59" name="Line 107"/>
          <p:cNvSpPr>
            <a:spLocks noChangeShapeType="1"/>
          </p:cNvSpPr>
          <p:nvPr/>
        </p:nvSpPr>
        <p:spPr bwMode="auto">
          <a:xfrm flipV="1">
            <a:off x="5113338" y="4089573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60" name="Line 108"/>
          <p:cNvSpPr>
            <a:spLocks noChangeShapeType="1"/>
          </p:cNvSpPr>
          <p:nvPr/>
        </p:nvSpPr>
        <p:spPr bwMode="auto">
          <a:xfrm flipV="1">
            <a:off x="5329238" y="3081510"/>
            <a:ext cx="0" cy="10080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61" name="Line 109"/>
          <p:cNvSpPr>
            <a:spLocks noChangeShapeType="1"/>
          </p:cNvSpPr>
          <p:nvPr/>
        </p:nvSpPr>
        <p:spPr bwMode="auto">
          <a:xfrm flipV="1">
            <a:off x="5545138" y="2937048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62" name="Line 110"/>
          <p:cNvSpPr>
            <a:spLocks noChangeShapeType="1"/>
          </p:cNvSpPr>
          <p:nvPr/>
        </p:nvSpPr>
        <p:spPr bwMode="auto">
          <a:xfrm flipV="1">
            <a:off x="6626225" y="2937048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64" name="Oval 112"/>
          <p:cNvSpPr>
            <a:spLocks noChangeArrowheads="1"/>
          </p:cNvSpPr>
          <p:nvPr/>
        </p:nvSpPr>
        <p:spPr bwMode="auto">
          <a:xfrm>
            <a:off x="4176713" y="3873673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65" name="Oval 113"/>
          <p:cNvSpPr>
            <a:spLocks noChangeArrowheads="1"/>
          </p:cNvSpPr>
          <p:nvPr/>
        </p:nvSpPr>
        <p:spPr bwMode="auto">
          <a:xfrm>
            <a:off x="4752975" y="3873673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66" name="Oval 114"/>
          <p:cNvSpPr>
            <a:spLocks noChangeArrowheads="1"/>
          </p:cNvSpPr>
          <p:nvPr/>
        </p:nvSpPr>
        <p:spPr bwMode="auto">
          <a:xfrm>
            <a:off x="5184775" y="2721148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00467" name="Text Box 115"/>
          <p:cNvSpPr txBox="1">
            <a:spLocks noChangeArrowheads="1"/>
          </p:cNvSpPr>
          <p:nvPr/>
        </p:nvSpPr>
        <p:spPr bwMode="auto">
          <a:xfrm>
            <a:off x="0" y="1713085"/>
            <a:ext cx="14398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TW" sz="4800" dirty="0">
                <a:ea typeface="新細明體" panose="02020500000000000000" pitchFamily="18" charset="-120"/>
              </a:rPr>
              <a:t>M</a:t>
            </a:r>
            <a:r>
              <a:rPr lang="en-US" altLang="zh-TW" sz="3600" dirty="0">
                <a:ea typeface="新細明體" panose="02020500000000000000" pitchFamily="18" charset="-120"/>
              </a:rPr>
              <a:t>5</a:t>
            </a:r>
          </a:p>
        </p:txBody>
      </p:sp>
      <p:sp>
        <p:nvSpPr>
          <p:cNvPr id="112" name="標題 1"/>
          <p:cNvSpPr>
            <a:spLocks noGrp="1"/>
          </p:cNvSpPr>
          <p:nvPr>
            <p:ph type="title"/>
          </p:nvPr>
        </p:nvSpPr>
        <p:spPr>
          <a:xfrm>
            <a:off x="989806" y="-33425"/>
            <a:ext cx="7886700" cy="1325563"/>
          </a:xfrm>
        </p:spPr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113" name="Text Box 115"/>
          <p:cNvSpPr txBox="1">
            <a:spLocks noChangeArrowheads="1"/>
          </p:cNvSpPr>
          <p:nvPr/>
        </p:nvSpPr>
        <p:spPr bwMode="auto">
          <a:xfrm>
            <a:off x="-1" y="1713084"/>
            <a:ext cx="1439863" cy="823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n-US" altLang="zh-TW" sz="4800" dirty="0" smtClean="0">
                <a:ea typeface="新細明體" panose="02020500000000000000" pitchFamily="18" charset="-120"/>
              </a:rPr>
              <a:t>M</a:t>
            </a:r>
            <a:r>
              <a:rPr lang="en-US" altLang="zh-TW" sz="3600" dirty="0">
                <a:ea typeface="新細明體" panose="02020500000000000000" pitchFamily="18" charset="-12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259136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0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0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00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00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0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0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0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00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00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00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00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00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00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00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0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100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3" dur="500"/>
                                        <p:tgtEl>
                                          <p:spTgt spid="10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6" dur="500"/>
                                        <p:tgtEl>
                                          <p:spTgt spid="100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10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100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10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00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0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00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7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9" dur="500" fill="hold"/>
                                        <p:tgtEl>
                                          <p:spTgt spid="1004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500" fill="hold"/>
                                        <p:tgtEl>
                                          <p:spTgt spid="1004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100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8" dur="500"/>
                                        <p:tgtEl>
                                          <p:spTgt spid="100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100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100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7" dur="500"/>
                                        <p:tgtEl>
                                          <p:spTgt spid="100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0" dur="500"/>
                                        <p:tgtEl>
                                          <p:spTgt spid="100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3" dur="500"/>
                                        <p:tgtEl>
                                          <p:spTgt spid="100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6" dur="500"/>
                                        <p:tgtEl>
                                          <p:spTgt spid="100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00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0" fill="hold" nodeType="clickPar">
                      <p:stCondLst>
                        <p:cond delay="indefinite"/>
                      </p:stCondLst>
                      <p:childTnLst>
                        <p:par>
                          <p:cTn id="2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100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100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100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100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00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1" dur="500" fill="hold"/>
                                        <p:tgtEl>
                                          <p:spTgt spid="1004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2" dur="500" fill="hold"/>
                                        <p:tgtEl>
                                          <p:spTgt spid="1004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7" dur="500"/>
                                        <p:tgtEl>
                                          <p:spTgt spid="100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0" dur="500"/>
                                        <p:tgtEl>
                                          <p:spTgt spid="100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3" dur="500"/>
                                        <p:tgtEl>
                                          <p:spTgt spid="100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6" dur="500"/>
                                        <p:tgtEl>
                                          <p:spTgt spid="100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9" dur="500"/>
                                        <p:tgtEl>
                                          <p:spTgt spid="100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2" dur="500"/>
                                        <p:tgtEl>
                                          <p:spTgt spid="100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5" dur="500"/>
                                        <p:tgtEl>
                                          <p:spTgt spid="100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8" dur="500"/>
                                        <p:tgtEl>
                                          <p:spTgt spid="100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1" dur="500"/>
                                        <p:tgtEl>
                                          <p:spTgt spid="100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4" dur="500"/>
                                        <p:tgtEl>
                                          <p:spTgt spid="100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5" fill="hold" nodeType="clickPar">
                      <p:stCondLst>
                        <p:cond delay="indefinite"/>
                      </p:stCondLst>
                      <p:childTnLst>
                        <p:par>
                          <p:cTn id="2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9" dur="500"/>
                                        <p:tgtEl>
                                          <p:spTgt spid="10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0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2" dur="500"/>
                                        <p:tgtEl>
                                          <p:spTgt spid="100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5" dur="500"/>
                                        <p:tgtEl>
                                          <p:spTgt spid="10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6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8" dur="500"/>
                                        <p:tgtEl>
                                          <p:spTgt spid="100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1" dur="500"/>
                                        <p:tgtEl>
                                          <p:spTgt spid="10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2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4" dur="500"/>
                                        <p:tgtEl>
                                          <p:spTgt spid="100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7" dur="500"/>
                                        <p:tgtEl>
                                          <p:spTgt spid="10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0" dur="500"/>
                                        <p:tgtEl>
                                          <p:spTgt spid="100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10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4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6" dur="500"/>
                                        <p:tgtEl>
                                          <p:spTgt spid="100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9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1" dur="500" fill="hold"/>
                                        <p:tgtEl>
                                          <p:spTgt spid="100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2" dur="500" fill="hold"/>
                                        <p:tgtEl>
                                          <p:spTgt spid="100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3" fill="hold" nodeType="clickPar">
                      <p:stCondLst>
                        <p:cond delay="indefinite"/>
                      </p:stCondLst>
                      <p:childTnLst>
                        <p:par>
                          <p:cTn id="3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7" dur="500"/>
                                        <p:tgtEl>
                                          <p:spTgt spid="100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0" dur="500"/>
                                        <p:tgtEl>
                                          <p:spTgt spid="100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100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6" dur="500"/>
                                        <p:tgtEl>
                                          <p:spTgt spid="100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9" dur="500"/>
                                        <p:tgtEl>
                                          <p:spTgt spid="100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2" dur="500"/>
                                        <p:tgtEl>
                                          <p:spTgt spid="100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5" dur="500"/>
                                        <p:tgtEl>
                                          <p:spTgt spid="100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8" dur="500"/>
                                        <p:tgtEl>
                                          <p:spTgt spid="100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1" dur="500"/>
                                        <p:tgtEl>
                                          <p:spTgt spid="100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2" fill="hold" nodeType="clickPar">
                      <p:stCondLst>
                        <p:cond delay="indefinite"/>
                      </p:stCondLst>
                      <p:childTnLst>
                        <p:par>
                          <p:cTn id="3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6" dur="500"/>
                                        <p:tgtEl>
                                          <p:spTgt spid="10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7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9" dur="500"/>
                                        <p:tgtEl>
                                          <p:spTgt spid="100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2" dur="500"/>
                                        <p:tgtEl>
                                          <p:spTgt spid="10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3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5" dur="500"/>
                                        <p:tgtEl>
                                          <p:spTgt spid="100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8" dur="500"/>
                                        <p:tgtEl>
                                          <p:spTgt spid="10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9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1" dur="500"/>
                                        <p:tgtEl>
                                          <p:spTgt spid="100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4" presetID="17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6" dur="500" fill="hold"/>
                                        <p:tgtEl>
                                          <p:spTgt spid="1004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500" fill="hold"/>
                                        <p:tgtEl>
                                          <p:spTgt spid="1004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4" grpId="0" animBg="1"/>
      <p:bldP spid="100355" grpId="0" animBg="1"/>
      <p:bldP spid="100356" grpId="0"/>
      <p:bldP spid="100357" grpId="0"/>
      <p:bldP spid="100358" grpId="0" animBg="1"/>
      <p:bldP spid="100359" grpId="0" animBg="1"/>
      <p:bldP spid="100360" grpId="0" animBg="1"/>
      <p:bldP spid="100361" grpId="0" animBg="1"/>
      <p:bldP spid="100362" grpId="0" animBg="1"/>
      <p:bldP spid="100363" grpId="0" animBg="1"/>
      <p:bldP spid="100364" grpId="0" animBg="1"/>
      <p:bldP spid="100365" grpId="0" animBg="1"/>
      <p:bldP spid="100366" grpId="0" animBg="1"/>
      <p:bldP spid="100367" grpId="0" animBg="1"/>
      <p:bldP spid="100368" grpId="0" animBg="1"/>
      <p:bldP spid="100369" grpId="0" animBg="1"/>
      <p:bldP spid="100370" grpId="0" animBg="1"/>
      <p:bldP spid="100371" grpId="0" animBg="1"/>
      <p:bldP spid="100372" grpId="0" animBg="1"/>
      <p:bldP spid="100373" grpId="0" animBg="1"/>
      <p:bldP spid="100374" grpId="0" animBg="1"/>
      <p:bldP spid="100375" grpId="0" animBg="1"/>
      <p:bldP spid="100376" grpId="0" animBg="1"/>
      <p:bldP spid="100377" grpId="0" animBg="1"/>
      <p:bldP spid="100378" grpId="0" animBg="1"/>
      <p:bldP spid="100379" grpId="0" animBg="1"/>
      <p:bldP spid="100380" grpId="0" animBg="1"/>
      <p:bldP spid="100381" grpId="0" animBg="1"/>
      <p:bldP spid="100382" grpId="0"/>
      <p:bldP spid="100383" grpId="0" animBg="1"/>
      <p:bldP spid="100384" grpId="0"/>
      <p:bldP spid="100385" grpId="0" animBg="1"/>
      <p:bldP spid="100386" grpId="0"/>
      <p:bldP spid="100386" grpId="1"/>
      <p:bldP spid="100387" grpId="0" animBg="1"/>
      <p:bldP spid="100388" grpId="0" animBg="1"/>
      <p:bldP spid="100389" grpId="0" animBg="1"/>
      <p:bldP spid="100390" grpId="0" animBg="1"/>
      <p:bldP spid="100391" grpId="0" animBg="1"/>
      <p:bldP spid="100392" grpId="0" animBg="1"/>
      <p:bldP spid="100393" grpId="0" animBg="1"/>
      <p:bldP spid="100394" grpId="0" animBg="1"/>
      <p:bldP spid="100395" grpId="0" animBg="1"/>
      <p:bldP spid="100396" grpId="0" animBg="1"/>
      <p:bldP spid="100397" grpId="0" animBg="1"/>
      <p:bldP spid="100398" grpId="0" animBg="1"/>
      <p:bldP spid="100399" grpId="0" animBg="1"/>
      <p:bldP spid="100400" grpId="0" animBg="1"/>
      <p:bldP spid="100400" grpId="1" animBg="1"/>
      <p:bldP spid="100401" grpId="0" animBg="1"/>
      <p:bldP spid="100402" grpId="0" animBg="1"/>
      <p:bldP spid="100403" grpId="0" animBg="1"/>
      <p:bldP spid="100404" grpId="0" animBg="1"/>
      <p:bldP spid="100405" grpId="0" animBg="1"/>
      <p:bldP spid="100406" grpId="0" animBg="1"/>
      <p:bldP spid="100407" grpId="0" animBg="1"/>
      <p:bldP spid="100408" grpId="0" animBg="1"/>
      <p:bldP spid="100409" grpId="0"/>
      <p:bldP spid="100409" grpId="1"/>
      <p:bldP spid="100411" grpId="0" animBg="1"/>
      <p:bldP spid="100411" grpId="1" animBg="1"/>
      <p:bldP spid="100412" grpId="0" animBg="1"/>
      <p:bldP spid="100412" grpId="1" animBg="1"/>
      <p:bldP spid="100413" grpId="0" animBg="1"/>
      <p:bldP spid="100413" grpId="1" animBg="1"/>
      <p:bldP spid="100414" grpId="0" animBg="1"/>
      <p:bldP spid="100414" grpId="1" animBg="1"/>
      <p:bldP spid="100415" grpId="0" animBg="1"/>
      <p:bldP spid="100415" grpId="1" animBg="1"/>
      <p:bldP spid="100416" grpId="0" animBg="1"/>
      <p:bldP spid="100417" grpId="0" animBg="1"/>
      <p:bldP spid="100418" grpId="0" animBg="1"/>
      <p:bldP spid="100419" grpId="0" animBg="1"/>
      <p:bldP spid="100420" grpId="0" animBg="1"/>
      <p:bldP spid="100421" grpId="0" animBg="1"/>
      <p:bldP spid="100422" grpId="0" animBg="1"/>
      <p:bldP spid="100423" grpId="0" animBg="1"/>
      <p:bldP spid="100424" grpId="0" animBg="1"/>
      <p:bldP spid="100427" grpId="0" animBg="1"/>
      <p:bldP spid="100428" grpId="0" animBg="1"/>
      <p:bldP spid="100429" grpId="0" animBg="1"/>
      <p:bldP spid="100430" grpId="0" animBg="1"/>
      <p:bldP spid="100431" grpId="0" animBg="1"/>
      <p:bldP spid="100432" grpId="0"/>
      <p:bldP spid="100432" grpId="1"/>
      <p:bldP spid="100433" grpId="0" animBg="1"/>
      <p:bldP spid="100435" grpId="0" animBg="1"/>
      <p:bldP spid="100436" grpId="0" animBg="1"/>
      <p:bldP spid="100437" grpId="0" animBg="1"/>
      <p:bldP spid="100438" grpId="0" animBg="1"/>
      <p:bldP spid="100443" grpId="0" animBg="1"/>
      <p:bldP spid="100444" grpId="0" animBg="1"/>
      <p:bldP spid="100445" grpId="0" animBg="1"/>
      <p:bldP spid="100446" grpId="0" animBg="1"/>
      <p:bldP spid="100447" grpId="0" animBg="1"/>
      <p:bldP spid="100448" grpId="0" animBg="1"/>
      <p:bldP spid="100448" grpId="1" animBg="1"/>
      <p:bldP spid="100449" grpId="0" animBg="1"/>
      <p:bldP spid="100449" grpId="1" animBg="1"/>
      <p:bldP spid="100450" grpId="0" animBg="1"/>
      <p:bldP spid="100450" grpId="1" animBg="1"/>
      <p:bldP spid="100451" grpId="0" animBg="1"/>
      <p:bldP spid="100451" grpId="1" animBg="1"/>
      <p:bldP spid="100452" grpId="0" animBg="1"/>
      <p:bldP spid="100452" grpId="1" animBg="1"/>
      <p:bldP spid="100453" grpId="0"/>
      <p:bldP spid="100453" grpId="1"/>
      <p:bldP spid="100454" grpId="0" animBg="1"/>
      <p:bldP spid="100455" grpId="0" animBg="1"/>
      <p:bldP spid="100456" grpId="0" animBg="1"/>
      <p:bldP spid="100457" grpId="0" animBg="1"/>
      <p:bldP spid="100458" grpId="0" animBg="1"/>
      <p:bldP spid="100459" grpId="0" animBg="1"/>
      <p:bldP spid="100460" grpId="0" animBg="1"/>
      <p:bldP spid="100461" grpId="0" animBg="1"/>
      <p:bldP spid="100462" grpId="0" animBg="1"/>
      <p:bldP spid="100464" grpId="0" animBg="1"/>
      <p:bldP spid="100464" grpId="1" animBg="1"/>
      <p:bldP spid="100465" grpId="0" animBg="1"/>
      <p:bldP spid="100465" grpId="1" animBg="1"/>
      <p:bldP spid="100466" grpId="0" animBg="1"/>
      <p:bldP spid="100466" grpId="1" animBg="1"/>
      <p:bldP spid="100467" grpId="0"/>
      <p:bldP spid="113" grpId="0"/>
      <p:bldP spid="11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pˆ be the minimal index such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𝑀</m:t>
                        </m:r>
                      </m:e>
                      <m:sub>
                        <m:acc>
                          <m:accPr>
                            <m:chr m:val="̂"/>
                            <m:ctrlPr>
                              <a:rPr lang="en-US" altLang="zh-TW" sz="240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sz="24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𝑃</m:t>
                            </m:r>
                          </m:e>
                        </m:acc>
                      </m:sub>
                    </m:sSub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∅</a:t>
                </a:r>
              </a:p>
              <a:p>
                <a:pPr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Lemma :</a:t>
                </a:r>
                <a:endParaRPr lang="en-US" altLang="zh-TW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length of an LCS is pˆ and each match</a:t>
                </a:r>
              </a:p>
              <a:p>
                <a:pPr>
                  <a:buNone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Mp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ˆ−1 is a possible midpoint of an LCS.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159" t="-21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2654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matches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can’t keep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of these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sets explicitly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order to ﬁnd pˆ. This would be too costly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track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only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matches</a:t>
            </a:r>
          </a:p>
          <a:p>
            <a:pPr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altLang="zh-TW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ˆ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TW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ˆ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minimal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indices are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follows.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9772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Line 2"/>
          <p:cNvSpPr>
            <a:spLocks noChangeShapeType="1"/>
          </p:cNvSpPr>
          <p:nvPr/>
        </p:nvSpPr>
        <p:spPr bwMode="auto">
          <a:xfrm>
            <a:off x="1686647" y="1562042"/>
            <a:ext cx="568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595" name="Line 3"/>
          <p:cNvSpPr>
            <a:spLocks noChangeShapeType="1"/>
          </p:cNvSpPr>
          <p:nvPr/>
        </p:nvSpPr>
        <p:spPr bwMode="auto">
          <a:xfrm>
            <a:off x="2118447" y="1346142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auto">
          <a:xfrm>
            <a:off x="2334347" y="1058805"/>
            <a:ext cx="4824412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>
                <a:ea typeface="新細明體" panose="02020500000000000000" pitchFamily="18" charset="-120"/>
              </a:rPr>
              <a:t>c  b  a  b  b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110597" name="Text Box 5"/>
          <p:cNvSpPr txBox="1">
            <a:spLocks noChangeArrowheads="1"/>
          </p:cNvSpPr>
          <p:nvPr/>
        </p:nvSpPr>
        <p:spPr bwMode="auto">
          <a:xfrm>
            <a:off x="1613622" y="1346142"/>
            <a:ext cx="792162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110598" name="Oval 6"/>
          <p:cNvSpPr>
            <a:spLocks noChangeArrowheads="1"/>
          </p:cNvSpPr>
          <p:nvPr/>
        </p:nvSpPr>
        <p:spPr bwMode="auto">
          <a:xfrm>
            <a:off x="4926734" y="163348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599" name="Oval 7"/>
          <p:cNvSpPr>
            <a:spLocks noChangeArrowheads="1"/>
          </p:cNvSpPr>
          <p:nvPr/>
        </p:nvSpPr>
        <p:spPr bwMode="auto">
          <a:xfrm>
            <a:off x="5934797" y="163348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0" name="Oval 8"/>
          <p:cNvSpPr>
            <a:spLocks noChangeArrowheads="1"/>
          </p:cNvSpPr>
          <p:nvPr/>
        </p:nvSpPr>
        <p:spPr bwMode="auto">
          <a:xfrm>
            <a:off x="3342409" y="163348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1" name="Oval 9"/>
          <p:cNvSpPr>
            <a:spLocks noChangeArrowheads="1"/>
          </p:cNvSpPr>
          <p:nvPr/>
        </p:nvSpPr>
        <p:spPr bwMode="auto">
          <a:xfrm>
            <a:off x="2910609" y="2066867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2" name="Oval 10"/>
          <p:cNvSpPr>
            <a:spLocks noChangeArrowheads="1"/>
          </p:cNvSpPr>
          <p:nvPr/>
        </p:nvSpPr>
        <p:spPr bwMode="auto">
          <a:xfrm>
            <a:off x="3845647" y="2066867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3" name="Oval 11"/>
          <p:cNvSpPr>
            <a:spLocks noChangeArrowheads="1"/>
          </p:cNvSpPr>
          <p:nvPr/>
        </p:nvSpPr>
        <p:spPr bwMode="auto">
          <a:xfrm>
            <a:off x="4421909" y="2066867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4" name="Oval 12"/>
          <p:cNvSpPr>
            <a:spLocks noChangeArrowheads="1"/>
          </p:cNvSpPr>
          <p:nvPr/>
        </p:nvSpPr>
        <p:spPr bwMode="auto">
          <a:xfrm>
            <a:off x="3342409" y="2641542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5" name="Oval 13"/>
          <p:cNvSpPr>
            <a:spLocks noChangeArrowheads="1"/>
          </p:cNvSpPr>
          <p:nvPr/>
        </p:nvSpPr>
        <p:spPr bwMode="auto">
          <a:xfrm>
            <a:off x="4853709" y="257010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6" name="Oval 14"/>
          <p:cNvSpPr>
            <a:spLocks noChangeArrowheads="1"/>
          </p:cNvSpPr>
          <p:nvPr/>
        </p:nvSpPr>
        <p:spPr bwMode="auto">
          <a:xfrm>
            <a:off x="5934797" y="257010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7" name="Oval 15"/>
          <p:cNvSpPr>
            <a:spLocks noChangeArrowheads="1"/>
          </p:cNvSpPr>
          <p:nvPr/>
        </p:nvSpPr>
        <p:spPr bwMode="auto">
          <a:xfrm>
            <a:off x="2334347" y="321780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8" name="Oval 16"/>
          <p:cNvSpPr>
            <a:spLocks noChangeArrowheads="1"/>
          </p:cNvSpPr>
          <p:nvPr/>
        </p:nvSpPr>
        <p:spPr bwMode="auto">
          <a:xfrm>
            <a:off x="5502997" y="3217805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09" name="Oval 17"/>
          <p:cNvSpPr>
            <a:spLocks noChangeArrowheads="1"/>
          </p:cNvSpPr>
          <p:nvPr/>
        </p:nvSpPr>
        <p:spPr bwMode="auto">
          <a:xfrm>
            <a:off x="6511059" y="321780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0" name="Oval 18"/>
          <p:cNvSpPr>
            <a:spLocks noChangeArrowheads="1"/>
          </p:cNvSpPr>
          <p:nvPr/>
        </p:nvSpPr>
        <p:spPr bwMode="auto">
          <a:xfrm>
            <a:off x="2910609" y="372263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1" name="Oval 19"/>
          <p:cNvSpPr>
            <a:spLocks noChangeArrowheads="1"/>
          </p:cNvSpPr>
          <p:nvPr/>
        </p:nvSpPr>
        <p:spPr bwMode="auto">
          <a:xfrm>
            <a:off x="3845647" y="3722630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2" name="Oval 20"/>
          <p:cNvSpPr>
            <a:spLocks noChangeArrowheads="1"/>
          </p:cNvSpPr>
          <p:nvPr/>
        </p:nvSpPr>
        <p:spPr bwMode="auto">
          <a:xfrm>
            <a:off x="4421909" y="372263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3" name="Oval 21"/>
          <p:cNvSpPr>
            <a:spLocks noChangeArrowheads="1"/>
          </p:cNvSpPr>
          <p:nvPr/>
        </p:nvSpPr>
        <p:spPr bwMode="auto">
          <a:xfrm>
            <a:off x="2334347" y="4225867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4" name="Oval 22"/>
          <p:cNvSpPr>
            <a:spLocks noChangeArrowheads="1"/>
          </p:cNvSpPr>
          <p:nvPr/>
        </p:nvSpPr>
        <p:spPr bwMode="auto">
          <a:xfrm>
            <a:off x="6511059" y="4225867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5" name="Oval 23"/>
          <p:cNvSpPr>
            <a:spLocks noChangeArrowheads="1"/>
          </p:cNvSpPr>
          <p:nvPr/>
        </p:nvSpPr>
        <p:spPr bwMode="auto">
          <a:xfrm>
            <a:off x="5429972" y="4225867"/>
            <a:ext cx="360362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6" name="Oval 24"/>
          <p:cNvSpPr>
            <a:spLocks noChangeArrowheads="1"/>
          </p:cNvSpPr>
          <p:nvPr/>
        </p:nvSpPr>
        <p:spPr bwMode="auto">
          <a:xfrm>
            <a:off x="2910609" y="480213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7" name="Oval 25"/>
          <p:cNvSpPr>
            <a:spLocks noChangeArrowheads="1"/>
          </p:cNvSpPr>
          <p:nvPr/>
        </p:nvSpPr>
        <p:spPr bwMode="auto">
          <a:xfrm>
            <a:off x="3774209" y="480213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8" name="Oval 26"/>
          <p:cNvSpPr>
            <a:spLocks noChangeArrowheads="1"/>
          </p:cNvSpPr>
          <p:nvPr/>
        </p:nvSpPr>
        <p:spPr bwMode="auto">
          <a:xfrm>
            <a:off x="4421909" y="4802130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19" name="Oval 27"/>
          <p:cNvSpPr>
            <a:spLocks noChangeArrowheads="1"/>
          </p:cNvSpPr>
          <p:nvPr/>
        </p:nvSpPr>
        <p:spPr bwMode="auto">
          <a:xfrm>
            <a:off x="3485284" y="5451417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0" name="Oval 28"/>
          <p:cNvSpPr>
            <a:spLocks noChangeArrowheads="1"/>
          </p:cNvSpPr>
          <p:nvPr/>
        </p:nvSpPr>
        <p:spPr bwMode="auto">
          <a:xfrm>
            <a:off x="4926734" y="552285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1" name="Oval 29"/>
          <p:cNvSpPr>
            <a:spLocks noChangeArrowheads="1"/>
          </p:cNvSpPr>
          <p:nvPr/>
        </p:nvSpPr>
        <p:spPr bwMode="auto">
          <a:xfrm>
            <a:off x="6006234" y="5522855"/>
            <a:ext cx="360363" cy="358775"/>
          </a:xfrm>
          <a:prstGeom prst="ellipse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2" name="Text Box 30"/>
          <p:cNvSpPr txBox="1">
            <a:spLocks noChangeArrowheads="1"/>
          </p:cNvSpPr>
          <p:nvPr/>
        </p:nvSpPr>
        <p:spPr bwMode="auto">
          <a:xfrm>
            <a:off x="7014297" y="1346142"/>
            <a:ext cx="792162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c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b</a:t>
            </a:r>
          </a:p>
          <a:p>
            <a:pPr eaLnBrk="1" hangingPunct="1"/>
            <a:r>
              <a:rPr lang="en-US" altLang="zh-TW" sz="3600">
                <a:ea typeface="新細明體" panose="02020500000000000000" pitchFamily="18" charset="-120"/>
              </a:rPr>
              <a:t>a</a:t>
            </a:r>
          </a:p>
          <a:p>
            <a:pPr eaLnBrk="1" hangingPunct="1"/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110623" name="Line 31"/>
          <p:cNvSpPr>
            <a:spLocks noChangeShapeType="1"/>
          </p:cNvSpPr>
          <p:nvPr/>
        </p:nvSpPr>
        <p:spPr bwMode="auto">
          <a:xfrm>
            <a:off x="7085734" y="1417580"/>
            <a:ext cx="0" cy="4537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4" name="Rectangle 32"/>
          <p:cNvSpPr>
            <a:spLocks noChangeArrowheads="1"/>
          </p:cNvSpPr>
          <p:nvPr/>
        </p:nvSpPr>
        <p:spPr bwMode="auto">
          <a:xfrm>
            <a:off x="2405784" y="5854642"/>
            <a:ext cx="4824413" cy="720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9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SzPct val="75000"/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5000"/>
              <a:buFont typeface="Wingdings" panose="05000000000000000000" pitchFamily="2" charset="2"/>
              <a:buChar char="n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TW" sz="3600">
                <a:ea typeface="新細明體" panose="02020500000000000000" pitchFamily="18" charset="-120"/>
              </a:rPr>
              <a:t>c  b  a  b  b  a  c  a  c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TW" sz="3600">
              <a:ea typeface="新細明體" panose="02020500000000000000" pitchFamily="18" charset="-120"/>
            </a:endParaRPr>
          </a:p>
        </p:txBody>
      </p:sp>
      <p:sp>
        <p:nvSpPr>
          <p:cNvPr id="110625" name="Line 33"/>
          <p:cNvSpPr>
            <a:spLocks noChangeShapeType="1"/>
          </p:cNvSpPr>
          <p:nvPr/>
        </p:nvSpPr>
        <p:spPr bwMode="auto">
          <a:xfrm>
            <a:off x="1686647" y="6026092"/>
            <a:ext cx="56880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6" name="Line 34"/>
          <p:cNvSpPr>
            <a:spLocks noChangeShapeType="1"/>
          </p:cNvSpPr>
          <p:nvPr/>
        </p:nvSpPr>
        <p:spPr bwMode="auto">
          <a:xfrm flipV="1">
            <a:off x="2550247" y="4586230"/>
            <a:ext cx="0" cy="1370012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7" name="Line 35"/>
          <p:cNvSpPr>
            <a:spLocks noChangeShapeType="1"/>
          </p:cNvSpPr>
          <p:nvPr/>
        </p:nvSpPr>
        <p:spPr bwMode="auto">
          <a:xfrm flipV="1">
            <a:off x="2550247" y="3578167"/>
            <a:ext cx="0" cy="6508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8" name="Line 36"/>
          <p:cNvSpPr>
            <a:spLocks noChangeShapeType="1"/>
          </p:cNvSpPr>
          <p:nvPr/>
        </p:nvSpPr>
        <p:spPr bwMode="auto">
          <a:xfrm flipV="1">
            <a:off x="2694709" y="3362267"/>
            <a:ext cx="431800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29" name="Line 37"/>
          <p:cNvSpPr>
            <a:spLocks noChangeShapeType="1"/>
          </p:cNvSpPr>
          <p:nvPr/>
        </p:nvSpPr>
        <p:spPr bwMode="auto">
          <a:xfrm flipV="1">
            <a:off x="3126509" y="2425642"/>
            <a:ext cx="1588" cy="9366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0" name="Line 38"/>
          <p:cNvSpPr>
            <a:spLocks noChangeShapeType="1"/>
          </p:cNvSpPr>
          <p:nvPr/>
        </p:nvSpPr>
        <p:spPr bwMode="auto">
          <a:xfrm flipV="1">
            <a:off x="3269384" y="2209742"/>
            <a:ext cx="288925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1" name="Line 39"/>
          <p:cNvSpPr>
            <a:spLocks noChangeShapeType="1"/>
          </p:cNvSpPr>
          <p:nvPr/>
        </p:nvSpPr>
        <p:spPr bwMode="auto">
          <a:xfrm flipV="1">
            <a:off x="3558309" y="1993842"/>
            <a:ext cx="0" cy="2174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2" name="Line 40"/>
          <p:cNvSpPr>
            <a:spLocks noChangeShapeType="1"/>
          </p:cNvSpPr>
          <p:nvPr/>
        </p:nvSpPr>
        <p:spPr bwMode="auto">
          <a:xfrm flipV="1">
            <a:off x="3702772" y="1850967"/>
            <a:ext cx="1223962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3" name="Line 41"/>
          <p:cNvSpPr>
            <a:spLocks noChangeShapeType="1"/>
          </p:cNvSpPr>
          <p:nvPr/>
        </p:nvSpPr>
        <p:spPr bwMode="auto">
          <a:xfrm flipV="1">
            <a:off x="5285509" y="1850967"/>
            <a:ext cx="649288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4" name="Line 42"/>
          <p:cNvSpPr>
            <a:spLocks noChangeShapeType="1"/>
          </p:cNvSpPr>
          <p:nvPr/>
        </p:nvSpPr>
        <p:spPr bwMode="auto">
          <a:xfrm flipV="1">
            <a:off x="6295159" y="1850967"/>
            <a:ext cx="649288" cy="317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5" name="Line 43"/>
          <p:cNvSpPr>
            <a:spLocks noChangeShapeType="1"/>
          </p:cNvSpPr>
          <p:nvPr/>
        </p:nvSpPr>
        <p:spPr bwMode="auto">
          <a:xfrm flipV="1">
            <a:off x="2189884" y="5667317"/>
            <a:ext cx="1296988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6" name="Line 44"/>
          <p:cNvSpPr>
            <a:spLocks noChangeShapeType="1"/>
          </p:cNvSpPr>
          <p:nvPr/>
        </p:nvSpPr>
        <p:spPr bwMode="auto">
          <a:xfrm flipV="1">
            <a:off x="3845647" y="5667317"/>
            <a:ext cx="1081087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7" name="Line 45"/>
          <p:cNvSpPr>
            <a:spLocks noChangeShapeType="1"/>
          </p:cNvSpPr>
          <p:nvPr/>
        </p:nvSpPr>
        <p:spPr bwMode="auto">
          <a:xfrm flipV="1">
            <a:off x="5285509" y="5667317"/>
            <a:ext cx="720725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8" name="Line 46"/>
          <p:cNvSpPr>
            <a:spLocks noChangeShapeType="1"/>
          </p:cNvSpPr>
          <p:nvPr/>
        </p:nvSpPr>
        <p:spPr bwMode="auto">
          <a:xfrm flipV="1">
            <a:off x="6222134" y="4370330"/>
            <a:ext cx="0" cy="1152525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39" name="Line 47"/>
          <p:cNvSpPr>
            <a:spLocks noChangeShapeType="1"/>
          </p:cNvSpPr>
          <p:nvPr/>
        </p:nvSpPr>
        <p:spPr bwMode="auto">
          <a:xfrm flipV="1">
            <a:off x="6222134" y="4370330"/>
            <a:ext cx="288925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0" name="Line 48"/>
          <p:cNvSpPr>
            <a:spLocks noChangeShapeType="1"/>
          </p:cNvSpPr>
          <p:nvPr/>
        </p:nvSpPr>
        <p:spPr bwMode="auto">
          <a:xfrm flipV="1">
            <a:off x="6653934" y="3578167"/>
            <a:ext cx="0" cy="6492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1" name="Line 49"/>
          <p:cNvSpPr>
            <a:spLocks noChangeShapeType="1"/>
          </p:cNvSpPr>
          <p:nvPr/>
        </p:nvSpPr>
        <p:spPr bwMode="auto">
          <a:xfrm flipV="1">
            <a:off x="6653934" y="1562042"/>
            <a:ext cx="0" cy="165735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2" name="Line 50"/>
          <p:cNvSpPr>
            <a:spLocks noChangeShapeType="1"/>
          </p:cNvSpPr>
          <p:nvPr/>
        </p:nvSpPr>
        <p:spPr bwMode="auto">
          <a:xfrm flipV="1">
            <a:off x="3053484" y="5162492"/>
            <a:ext cx="0" cy="79375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3" name="Line 51"/>
          <p:cNvSpPr>
            <a:spLocks noChangeShapeType="1"/>
          </p:cNvSpPr>
          <p:nvPr/>
        </p:nvSpPr>
        <p:spPr bwMode="auto">
          <a:xfrm flipV="1">
            <a:off x="3053484" y="4082992"/>
            <a:ext cx="0" cy="7207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4" name="Line 52"/>
          <p:cNvSpPr>
            <a:spLocks noChangeShapeType="1"/>
          </p:cNvSpPr>
          <p:nvPr/>
        </p:nvSpPr>
        <p:spPr bwMode="auto">
          <a:xfrm flipV="1">
            <a:off x="3269384" y="3938530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5" name="Line 53"/>
          <p:cNvSpPr>
            <a:spLocks noChangeShapeType="1"/>
          </p:cNvSpPr>
          <p:nvPr/>
        </p:nvSpPr>
        <p:spPr bwMode="auto">
          <a:xfrm flipV="1">
            <a:off x="3558309" y="3001905"/>
            <a:ext cx="0" cy="9366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6" name="Line 54"/>
          <p:cNvSpPr>
            <a:spLocks noChangeShapeType="1"/>
          </p:cNvSpPr>
          <p:nvPr/>
        </p:nvSpPr>
        <p:spPr bwMode="auto">
          <a:xfrm flipV="1">
            <a:off x="3269384" y="3938530"/>
            <a:ext cx="2889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7" name="Line 55"/>
          <p:cNvSpPr>
            <a:spLocks noChangeShapeType="1"/>
          </p:cNvSpPr>
          <p:nvPr/>
        </p:nvSpPr>
        <p:spPr bwMode="auto">
          <a:xfrm flipV="1">
            <a:off x="3702772" y="2859030"/>
            <a:ext cx="35877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8" name="Line 56"/>
          <p:cNvSpPr>
            <a:spLocks noChangeShapeType="1"/>
          </p:cNvSpPr>
          <p:nvPr/>
        </p:nvSpPr>
        <p:spPr bwMode="auto">
          <a:xfrm flipV="1">
            <a:off x="4061547" y="2425642"/>
            <a:ext cx="0" cy="433388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49" name="Line 57"/>
          <p:cNvSpPr>
            <a:spLocks noChangeShapeType="1"/>
          </p:cNvSpPr>
          <p:nvPr/>
        </p:nvSpPr>
        <p:spPr bwMode="auto">
          <a:xfrm flipV="1">
            <a:off x="4206009" y="2282767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0" name="Line 58"/>
          <p:cNvSpPr>
            <a:spLocks noChangeShapeType="1"/>
          </p:cNvSpPr>
          <p:nvPr/>
        </p:nvSpPr>
        <p:spPr bwMode="auto">
          <a:xfrm flipV="1">
            <a:off x="4782272" y="2282767"/>
            <a:ext cx="2160587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1" name="Line 59"/>
          <p:cNvSpPr>
            <a:spLocks noChangeShapeType="1"/>
          </p:cNvSpPr>
          <p:nvPr/>
        </p:nvSpPr>
        <p:spPr bwMode="auto">
          <a:xfrm flipV="1">
            <a:off x="2118447" y="5018030"/>
            <a:ext cx="792162" cy="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2" name="Line 60"/>
          <p:cNvSpPr>
            <a:spLocks noChangeShapeType="1"/>
          </p:cNvSpPr>
          <p:nvPr/>
        </p:nvSpPr>
        <p:spPr bwMode="auto">
          <a:xfrm flipV="1">
            <a:off x="3342409" y="5018030"/>
            <a:ext cx="431800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3" name="Line 61"/>
          <p:cNvSpPr>
            <a:spLocks noChangeShapeType="1"/>
          </p:cNvSpPr>
          <p:nvPr/>
        </p:nvSpPr>
        <p:spPr bwMode="auto">
          <a:xfrm flipV="1">
            <a:off x="4134572" y="5018030"/>
            <a:ext cx="287337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4" name="Line 62"/>
          <p:cNvSpPr>
            <a:spLocks noChangeShapeType="1"/>
          </p:cNvSpPr>
          <p:nvPr/>
        </p:nvSpPr>
        <p:spPr bwMode="auto">
          <a:xfrm flipV="1">
            <a:off x="4637809" y="4370330"/>
            <a:ext cx="0" cy="4333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5" name="Line 63"/>
          <p:cNvSpPr>
            <a:spLocks noChangeShapeType="1"/>
          </p:cNvSpPr>
          <p:nvPr/>
        </p:nvSpPr>
        <p:spPr bwMode="auto">
          <a:xfrm flipV="1">
            <a:off x="4637809" y="4370330"/>
            <a:ext cx="792163" cy="15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6" name="AutoShape 64"/>
          <p:cNvSpPr>
            <a:spLocks noChangeArrowheads="1"/>
          </p:cNvSpPr>
          <p:nvPr/>
        </p:nvSpPr>
        <p:spPr bwMode="auto">
          <a:xfrm>
            <a:off x="2045422" y="842905"/>
            <a:ext cx="3313112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7" name="AutoShape 65"/>
          <p:cNvSpPr>
            <a:spLocks noChangeArrowheads="1"/>
          </p:cNvSpPr>
          <p:nvPr/>
        </p:nvSpPr>
        <p:spPr bwMode="auto">
          <a:xfrm rot="5400000">
            <a:off x="-366784" y="3182086"/>
            <a:ext cx="3313112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8" name="AutoShape 66"/>
          <p:cNvSpPr>
            <a:spLocks noChangeArrowheads="1"/>
          </p:cNvSpPr>
          <p:nvPr/>
        </p:nvSpPr>
        <p:spPr bwMode="auto">
          <a:xfrm rot="16200000">
            <a:off x="6041952" y="3326549"/>
            <a:ext cx="3313113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59" name="AutoShape 67"/>
          <p:cNvSpPr>
            <a:spLocks noChangeArrowheads="1"/>
          </p:cNvSpPr>
          <p:nvPr/>
        </p:nvSpPr>
        <p:spPr bwMode="auto">
          <a:xfrm rot="10800000">
            <a:off x="3197947" y="6359467"/>
            <a:ext cx="3313112" cy="215900"/>
          </a:xfrm>
          <a:prstGeom prst="rightArrow">
            <a:avLst>
              <a:gd name="adj1" fmla="val 50000"/>
              <a:gd name="adj2" fmla="val 38364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0" name="Line 68"/>
          <p:cNvSpPr>
            <a:spLocks noChangeShapeType="1"/>
          </p:cNvSpPr>
          <p:nvPr/>
        </p:nvSpPr>
        <p:spPr bwMode="auto">
          <a:xfrm flipV="1">
            <a:off x="5645872" y="3578167"/>
            <a:ext cx="0" cy="6492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1" name="Line 69"/>
          <p:cNvSpPr>
            <a:spLocks noChangeShapeType="1"/>
          </p:cNvSpPr>
          <p:nvPr/>
        </p:nvSpPr>
        <p:spPr bwMode="auto">
          <a:xfrm flipV="1">
            <a:off x="5718897" y="2641542"/>
            <a:ext cx="288925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2" name="Line 70"/>
          <p:cNvSpPr>
            <a:spLocks noChangeShapeType="1"/>
          </p:cNvSpPr>
          <p:nvPr/>
        </p:nvSpPr>
        <p:spPr bwMode="auto">
          <a:xfrm flipV="1">
            <a:off x="5718897" y="2714567"/>
            <a:ext cx="0" cy="504825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3" name="Line 71"/>
          <p:cNvSpPr>
            <a:spLocks noChangeShapeType="1"/>
          </p:cNvSpPr>
          <p:nvPr/>
        </p:nvSpPr>
        <p:spPr bwMode="auto">
          <a:xfrm flipV="1">
            <a:off x="6150697" y="1993842"/>
            <a:ext cx="0" cy="57785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4" name="Line 72"/>
          <p:cNvSpPr>
            <a:spLocks noChangeShapeType="1"/>
          </p:cNvSpPr>
          <p:nvPr/>
        </p:nvSpPr>
        <p:spPr bwMode="auto">
          <a:xfrm flipV="1">
            <a:off x="6150697" y="1490605"/>
            <a:ext cx="0" cy="144462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5" name="Line 73"/>
          <p:cNvSpPr>
            <a:spLocks noChangeShapeType="1"/>
          </p:cNvSpPr>
          <p:nvPr/>
        </p:nvSpPr>
        <p:spPr bwMode="auto">
          <a:xfrm flipV="1">
            <a:off x="3629747" y="5738755"/>
            <a:ext cx="0" cy="2889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6" name="Line 74"/>
          <p:cNvSpPr>
            <a:spLocks noChangeShapeType="1"/>
          </p:cNvSpPr>
          <p:nvPr/>
        </p:nvSpPr>
        <p:spPr bwMode="auto">
          <a:xfrm>
            <a:off x="3774209" y="5522855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7" name="Line 75"/>
          <p:cNvSpPr>
            <a:spLocks noChangeShapeType="1"/>
          </p:cNvSpPr>
          <p:nvPr/>
        </p:nvSpPr>
        <p:spPr bwMode="auto">
          <a:xfrm flipV="1">
            <a:off x="3990109" y="5162492"/>
            <a:ext cx="0" cy="3603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8" name="Line 76"/>
          <p:cNvSpPr>
            <a:spLocks noChangeShapeType="1"/>
          </p:cNvSpPr>
          <p:nvPr/>
        </p:nvSpPr>
        <p:spPr bwMode="auto">
          <a:xfrm flipV="1">
            <a:off x="3990109" y="4082992"/>
            <a:ext cx="0" cy="720725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69" name="Line 77"/>
          <p:cNvSpPr>
            <a:spLocks noChangeShapeType="1"/>
          </p:cNvSpPr>
          <p:nvPr/>
        </p:nvSpPr>
        <p:spPr bwMode="auto">
          <a:xfrm flipV="1">
            <a:off x="4206009" y="3938530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0" name="Line 78"/>
          <p:cNvSpPr>
            <a:spLocks noChangeShapeType="1"/>
          </p:cNvSpPr>
          <p:nvPr/>
        </p:nvSpPr>
        <p:spPr bwMode="auto">
          <a:xfrm flipV="1">
            <a:off x="4782272" y="3938530"/>
            <a:ext cx="215900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1" name="Line 79"/>
          <p:cNvSpPr>
            <a:spLocks noChangeShapeType="1"/>
          </p:cNvSpPr>
          <p:nvPr/>
        </p:nvSpPr>
        <p:spPr bwMode="auto">
          <a:xfrm flipV="1">
            <a:off x="4998172" y="2930467"/>
            <a:ext cx="0" cy="1008063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2" name="Line 80"/>
          <p:cNvSpPr>
            <a:spLocks noChangeShapeType="1"/>
          </p:cNvSpPr>
          <p:nvPr/>
        </p:nvSpPr>
        <p:spPr bwMode="auto">
          <a:xfrm flipV="1">
            <a:off x="5214072" y="2786005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3" name="Line 81"/>
          <p:cNvSpPr>
            <a:spLocks noChangeShapeType="1"/>
          </p:cNvSpPr>
          <p:nvPr/>
        </p:nvSpPr>
        <p:spPr bwMode="auto">
          <a:xfrm flipV="1">
            <a:off x="6295159" y="2786005"/>
            <a:ext cx="720725" cy="0"/>
          </a:xfrm>
          <a:prstGeom prst="lin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4" name="Line 82"/>
          <p:cNvSpPr>
            <a:spLocks noChangeShapeType="1"/>
          </p:cNvSpPr>
          <p:nvPr/>
        </p:nvSpPr>
        <p:spPr bwMode="auto">
          <a:xfrm flipV="1">
            <a:off x="2118447" y="4441767"/>
            <a:ext cx="215900" cy="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5" name="Line 83"/>
          <p:cNvSpPr>
            <a:spLocks noChangeShapeType="1"/>
          </p:cNvSpPr>
          <p:nvPr/>
        </p:nvSpPr>
        <p:spPr bwMode="auto">
          <a:xfrm flipV="1">
            <a:off x="2694709" y="3867092"/>
            <a:ext cx="215900" cy="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6" name="Line 84"/>
          <p:cNvSpPr>
            <a:spLocks noChangeShapeType="1"/>
          </p:cNvSpPr>
          <p:nvPr/>
        </p:nvSpPr>
        <p:spPr bwMode="auto">
          <a:xfrm flipV="1">
            <a:off x="2621684" y="3867092"/>
            <a:ext cx="0" cy="4333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7" name="Line 85"/>
          <p:cNvSpPr>
            <a:spLocks noChangeShapeType="1"/>
          </p:cNvSpPr>
          <p:nvPr/>
        </p:nvSpPr>
        <p:spPr bwMode="auto">
          <a:xfrm flipV="1">
            <a:off x="3197947" y="3794067"/>
            <a:ext cx="647700" cy="1588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8" name="Line 86"/>
          <p:cNvSpPr>
            <a:spLocks noChangeShapeType="1"/>
          </p:cNvSpPr>
          <p:nvPr/>
        </p:nvSpPr>
        <p:spPr bwMode="auto">
          <a:xfrm flipV="1">
            <a:off x="4206009" y="3794067"/>
            <a:ext cx="288925" cy="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79" name="Line 87"/>
          <p:cNvSpPr>
            <a:spLocks noChangeShapeType="1"/>
          </p:cNvSpPr>
          <p:nvPr/>
        </p:nvSpPr>
        <p:spPr bwMode="auto">
          <a:xfrm flipV="1">
            <a:off x="4566372" y="2786005"/>
            <a:ext cx="287337" cy="0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0" name="Line 88"/>
          <p:cNvSpPr>
            <a:spLocks noChangeShapeType="1"/>
          </p:cNvSpPr>
          <p:nvPr/>
        </p:nvSpPr>
        <p:spPr bwMode="auto">
          <a:xfrm flipV="1">
            <a:off x="4637809" y="2859030"/>
            <a:ext cx="0" cy="93503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1" name="Line 89"/>
          <p:cNvSpPr>
            <a:spLocks noChangeShapeType="1"/>
          </p:cNvSpPr>
          <p:nvPr/>
        </p:nvSpPr>
        <p:spPr bwMode="auto">
          <a:xfrm flipV="1">
            <a:off x="5069609" y="1993842"/>
            <a:ext cx="0" cy="574675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2" name="Line 90"/>
          <p:cNvSpPr>
            <a:spLocks noChangeShapeType="1"/>
          </p:cNvSpPr>
          <p:nvPr/>
        </p:nvSpPr>
        <p:spPr bwMode="auto">
          <a:xfrm flipH="1" flipV="1">
            <a:off x="5069609" y="1490605"/>
            <a:ext cx="0" cy="141287"/>
          </a:xfrm>
          <a:prstGeom prst="line">
            <a:avLst/>
          </a:prstGeom>
          <a:noFill/>
          <a:ln w="57150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3" name="Oval 91"/>
          <p:cNvSpPr>
            <a:spLocks noChangeArrowheads="1"/>
          </p:cNvSpPr>
          <p:nvPr/>
        </p:nvSpPr>
        <p:spPr bwMode="auto">
          <a:xfrm>
            <a:off x="3342409" y="1633480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4" name="Oval 92"/>
          <p:cNvSpPr>
            <a:spLocks noChangeArrowheads="1"/>
          </p:cNvSpPr>
          <p:nvPr/>
        </p:nvSpPr>
        <p:spPr bwMode="auto">
          <a:xfrm>
            <a:off x="2910609" y="2066867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5" name="Oval 93"/>
          <p:cNvSpPr>
            <a:spLocks noChangeArrowheads="1"/>
          </p:cNvSpPr>
          <p:nvPr/>
        </p:nvSpPr>
        <p:spPr bwMode="auto">
          <a:xfrm>
            <a:off x="2334347" y="3217805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6" name="Oval 94"/>
          <p:cNvSpPr>
            <a:spLocks noChangeArrowheads="1"/>
          </p:cNvSpPr>
          <p:nvPr/>
        </p:nvSpPr>
        <p:spPr bwMode="auto">
          <a:xfrm>
            <a:off x="6511059" y="4225867"/>
            <a:ext cx="360363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7" name="Oval 95"/>
          <p:cNvSpPr>
            <a:spLocks noChangeArrowheads="1"/>
          </p:cNvSpPr>
          <p:nvPr/>
        </p:nvSpPr>
        <p:spPr bwMode="auto">
          <a:xfrm>
            <a:off x="6006234" y="5522855"/>
            <a:ext cx="360363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8" name="Oval 96"/>
          <p:cNvSpPr>
            <a:spLocks noChangeArrowheads="1"/>
          </p:cNvSpPr>
          <p:nvPr/>
        </p:nvSpPr>
        <p:spPr bwMode="auto">
          <a:xfrm>
            <a:off x="3845647" y="2066867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89" name="Oval 97"/>
          <p:cNvSpPr>
            <a:spLocks noChangeArrowheads="1"/>
          </p:cNvSpPr>
          <p:nvPr/>
        </p:nvSpPr>
        <p:spPr bwMode="auto">
          <a:xfrm>
            <a:off x="3342409" y="2641542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0" name="Oval 98"/>
          <p:cNvSpPr>
            <a:spLocks noChangeArrowheads="1"/>
          </p:cNvSpPr>
          <p:nvPr/>
        </p:nvSpPr>
        <p:spPr bwMode="auto">
          <a:xfrm>
            <a:off x="2910609" y="3722630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1" name="Oval 99"/>
          <p:cNvSpPr>
            <a:spLocks noChangeArrowheads="1"/>
          </p:cNvSpPr>
          <p:nvPr/>
        </p:nvSpPr>
        <p:spPr bwMode="auto">
          <a:xfrm>
            <a:off x="5934797" y="2570105"/>
            <a:ext cx="360362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2" name="Oval 100"/>
          <p:cNvSpPr>
            <a:spLocks noChangeArrowheads="1"/>
          </p:cNvSpPr>
          <p:nvPr/>
        </p:nvSpPr>
        <p:spPr bwMode="auto">
          <a:xfrm>
            <a:off x="5429972" y="4225867"/>
            <a:ext cx="360362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3" name="Oval 101"/>
          <p:cNvSpPr>
            <a:spLocks noChangeArrowheads="1"/>
          </p:cNvSpPr>
          <p:nvPr/>
        </p:nvSpPr>
        <p:spPr bwMode="auto">
          <a:xfrm>
            <a:off x="4421909" y="4802130"/>
            <a:ext cx="360363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4" name="Oval 102"/>
          <p:cNvSpPr>
            <a:spLocks noChangeArrowheads="1"/>
          </p:cNvSpPr>
          <p:nvPr/>
        </p:nvSpPr>
        <p:spPr bwMode="auto">
          <a:xfrm>
            <a:off x="4853709" y="2570105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5" name="Oval 103"/>
          <p:cNvSpPr>
            <a:spLocks noChangeArrowheads="1"/>
          </p:cNvSpPr>
          <p:nvPr/>
        </p:nvSpPr>
        <p:spPr bwMode="auto">
          <a:xfrm>
            <a:off x="3845647" y="3722630"/>
            <a:ext cx="360362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6" name="Oval 104"/>
          <p:cNvSpPr>
            <a:spLocks noChangeArrowheads="1"/>
          </p:cNvSpPr>
          <p:nvPr/>
        </p:nvSpPr>
        <p:spPr bwMode="auto">
          <a:xfrm>
            <a:off x="3485284" y="5451417"/>
            <a:ext cx="360363" cy="358775"/>
          </a:xfrm>
          <a:prstGeom prst="ellipse">
            <a:avLst/>
          </a:prstGeom>
          <a:solidFill>
            <a:schemeClr val="tx1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7" name="Oval 105"/>
          <p:cNvSpPr>
            <a:spLocks noChangeArrowheads="1"/>
          </p:cNvSpPr>
          <p:nvPr/>
        </p:nvSpPr>
        <p:spPr bwMode="auto">
          <a:xfrm>
            <a:off x="4421909" y="3722630"/>
            <a:ext cx="360363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698" name="Oval 106"/>
          <p:cNvSpPr>
            <a:spLocks noChangeArrowheads="1"/>
          </p:cNvSpPr>
          <p:nvPr/>
        </p:nvSpPr>
        <p:spPr bwMode="auto">
          <a:xfrm>
            <a:off x="4926734" y="2641542"/>
            <a:ext cx="215900" cy="215900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0700" name="WordArt 108">
            <a:hlinkClick r:id="" action="ppaction://noaction"/>
          </p:cNvPr>
          <p:cNvSpPr>
            <a:spLocks noChangeArrowheads="1" noChangeShapeType="1" noTextEdit="1"/>
          </p:cNvSpPr>
          <p:nvPr/>
        </p:nvSpPr>
        <p:spPr bwMode="auto">
          <a:xfrm>
            <a:off x="8273184" y="-282633"/>
            <a:ext cx="288925" cy="287338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endParaRPr lang="zh-TW" altLang="en-US" sz="3600" kern="10" dirty="0">
              <a:solidFill>
                <a:srgbClr val="336699"/>
              </a:solidFill>
              <a:effectLst>
                <a:outerShdw dist="45791" dir="2021404" algn="ctr" rotWithShape="0">
                  <a:srgbClr val="B2B2B2">
                    <a:alpha val="8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Oval 105"/>
          <p:cNvSpPr>
            <a:spLocks noChangeArrowheads="1"/>
          </p:cNvSpPr>
          <p:nvPr/>
        </p:nvSpPr>
        <p:spPr bwMode="auto">
          <a:xfrm>
            <a:off x="2332759" y="4224279"/>
            <a:ext cx="360363" cy="358775"/>
          </a:xfrm>
          <a:prstGeom prst="ellipse">
            <a:avLst/>
          </a:prstGeom>
          <a:solidFill>
            <a:schemeClr val="accent2"/>
          </a:solidFill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CF4E80-5859-4E39-A40B-ED9B772D8B0F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4712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10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0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10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0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10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10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10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10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0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1106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11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10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0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110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0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10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110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110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0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10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10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10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10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10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106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110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10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110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10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110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110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110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110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 nodeType="clickPar">
                      <p:stCondLst>
                        <p:cond delay="indefinite"/>
                      </p:stCondLst>
                      <p:childTnLst>
                        <p:par>
                          <p:cTn id="1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110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110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4" dur="500"/>
                                        <p:tgtEl>
                                          <p:spTgt spid="110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110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110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3" dur="500"/>
                                        <p:tgtEl>
                                          <p:spTgt spid="110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110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9" dur="500"/>
                                        <p:tgtEl>
                                          <p:spTgt spid="110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2" dur="500"/>
                                        <p:tgtEl>
                                          <p:spTgt spid="1106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1106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8" dur="500"/>
                                        <p:tgtEl>
                                          <p:spTgt spid="11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1" dur="500"/>
                                        <p:tgtEl>
                                          <p:spTgt spid="110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1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 nodeType="clickPar">
                      <p:stCondLst>
                        <p:cond delay="indefinite"/>
                      </p:stCondLst>
                      <p:childTnLst>
                        <p:par>
                          <p:cTn id="2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110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110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5" dur="500"/>
                                        <p:tgtEl>
                                          <p:spTgt spid="110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8" dur="500"/>
                                        <p:tgtEl>
                                          <p:spTgt spid="1106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1" dur="500"/>
                                        <p:tgtEl>
                                          <p:spTgt spid="110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4" dur="500"/>
                                        <p:tgtEl>
                                          <p:spTgt spid="1106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7" dur="500"/>
                                        <p:tgtEl>
                                          <p:spTgt spid="110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110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3" dur="500"/>
                                        <p:tgtEl>
                                          <p:spTgt spid="110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6" dur="500"/>
                                        <p:tgtEl>
                                          <p:spTgt spid="11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9" dur="500"/>
                                        <p:tgtEl>
                                          <p:spTgt spid="11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2" dur="500"/>
                                        <p:tgtEl>
                                          <p:spTgt spid="110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 nodeType="clickPar">
                      <p:stCondLst>
                        <p:cond delay="indefinite"/>
                      </p:stCondLst>
                      <p:childTnLst>
                        <p:par>
                          <p:cTn id="2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7" dur="500"/>
                                        <p:tgtEl>
                                          <p:spTgt spid="110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0" dur="500"/>
                                        <p:tgtEl>
                                          <p:spTgt spid="110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3" dur="500"/>
                                        <p:tgtEl>
                                          <p:spTgt spid="110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6" dur="500"/>
                                        <p:tgtEl>
                                          <p:spTgt spid="110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9" dur="500"/>
                                        <p:tgtEl>
                                          <p:spTgt spid="11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2" dur="500"/>
                                        <p:tgtEl>
                                          <p:spTgt spid="110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5" dur="500"/>
                                        <p:tgtEl>
                                          <p:spTgt spid="110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8" dur="500"/>
                                        <p:tgtEl>
                                          <p:spTgt spid="110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1" dur="500"/>
                                        <p:tgtEl>
                                          <p:spTgt spid="1106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4" dur="500"/>
                                        <p:tgtEl>
                                          <p:spTgt spid="110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7" dur="500"/>
                                        <p:tgtEl>
                                          <p:spTgt spid="110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0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 animBg="1"/>
      <p:bldP spid="110595" grpId="0" animBg="1"/>
      <p:bldP spid="110596" grpId="0"/>
      <p:bldP spid="110597" grpId="0"/>
      <p:bldP spid="110598" grpId="0" animBg="1"/>
      <p:bldP spid="110599" grpId="0" animBg="1"/>
      <p:bldP spid="110600" grpId="0" animBg="1"/>
      <p:bldP spid="110601" grpId="0" animBg="1"/>
      <p:bldP spid="110602" grpId="0" animBg="1"/>
      <p:bldP spid="110603" grpId="0" animBg="1"/>
      <p:bldP spid="110604" grpId="0" animBg="1"/>
      <p:bldP spid="110605" grpId="0" animBg="1"/>
      <p:bldP spid="110606" grpId="0" animBg="1"/>
      <p:bldP spid="110607" grpId="0" animBg="1"/>
      <p:bldP spid="110608" grpId="0" animBg="1"/>
      <p:bldP spid="110609" grpId="0" animBg="1"/>
      <p:bldP spid="110610" grpId="0" animBg="1"/>
      <p:bldP spid="110611" grpId="0" animBg="1"/>
      <p:bldP spid="110612" grpId="0" animBg="1"/>
      <p:bldP spid="110613" grpId="0" animBg="1"/>
      <p:bldP spid="110614" grpId="0" animBg="1"/>
      <p:bldP spid="110615" grpId="0" animBg="1"/>
      <p:bldP spid="110616" grpId="0" animBg="1"/>
      <p:bldP spid="110617" grpId="0" animBg="1"/>
      <p:bldP spid="110618" grpId="0" animBg="1"/>
      <p:bldP spid="110619" grpId="0" animBg="1"/>
      <p:bldP spid="110620" grpId="0" animBg="1"/>
      <p:bldP spid="110621" grpId="0" animBg="1"/>
      <p:bldP spid="110622" grpId="0"/>
      <p:bldP spid="110623" grpId="0" animBg="1"/>
      <p:bldP spid="110624" grpId="0"/>
      <p:bldP spid="110625" grpId="0" animBg="1"/>
      <p:bldP spid="110626" grpId="0" animBg="1"/>
      <p:bldP spid="110627" grpId="0" animBg="1"/>
      <p:bldP spid="110628" grpId="0" animBg="1"/>
      <p:bldP spid="110629" grpId="0" animBg="1"/>
      <p:bldP spid="110630" grpId="0" animBg="1"/>
      <p:bldP spid="110631" grpId="0" animBg="1"/>
      <p:bldP spid="110632" grpId="0" animBg="1"/>
      <p:bldP spid="110633" grpId="0" animBg="1"/>
      <p:bldP spid="110634" grpId="0" animBg="1"/>
      <p:bldP spid="110635" grpId="0" animBg="1"/>
      <p:bldP spid="110636" grpId="0" animBg="1"/>
      <p:bldP spid="110637" grpId="0" animBg="1"/>
      <p:bldP spid="110638" grpId="0" animBg="1"/>
      <p:bldP spid="110639" grpId="0" animBg="1"/>
      <p:bldP spid="110640" grpId="0" animBg="1"/>
      <p:bldP spid="110641" grpId="0" animBg="1"/>
      <p:bldP spid="110642" grpId="0" animBg="1"/>
      <p:bldP spid="110643" grpId="0" animBg="1"/>
      <p:bldP spid="110644" grpId="0" animBg="1"/>
      <p:bldP spid="110645" grpId="0" animBg="1"/>
      <p:bldP spid="110646" grpId="0" animBg="1"/>
      <p:bldP spid="110647" grpId="0" animBg="1"/>
      <p:bldP spid="110648" grpId="0" animBg="1"/>
      <p:bldP spid="110649" grpId="0" animBg="1"/>
      <p:bldP spid="110650" grpId="0" animBg="1"/>
      <p:bldP spid="110651" grpId="0" animBg="1"/>
      <p:bldP spid="110652" grpId="0" animBg="1"/>
      <p:bldP spid="110653" grpId="0" animBg="1"/>
      <p:bldP spid="110654" grpId="0" animBg="1"/>
      <p:bldP spid="110655" grpId="0" animBg="1"/>
      <p:bldP spid="110660" grpId="0" animBg="1"/>
      <p:bldP spid="110661" grpId="0" animBg="1"/>
      <p:bldP spid="110662" grpId="0" animBg="1"/>
      <p:bldP spid="110663" grpId="0" animBg="1"/>
      <p:bldP spid="110664" grpId="0" animBg="1"/>
      <p:bldP spid="110665" grpId="0" animBg="1"/>
      <p:bldP spid="110666" grpId="0" animBg="1"/>
      <p:bldP spid="110667" grpId="0" animBg="1"/>
      <p:bldP spid="110668" grpId="0" animBg="1"/>
      <p:bldP spid="110669" grpId="0" animBg="1"/>
      <p:bldP spid="110670" grpId="0" animBg="1"/>
      <p:bldP spid="110671" grpId="0" animBg="1"/>
      <p:bldP spid="110672" grpId="0" animBg="1"/>
      <p:bldP spid="110673" grpId="0" animBg="1"/>
      <p:bldP spid="110674" grpId="0" animBg="1"/>
      <p:bldP spid="110675" grpId="0" animBg="1"/>
      <p:bldP spid="110676" grpId="0" animBg="1"/>
      <p:bldP spid="110677" grpId="0" animBg="1"/>
      <p:bldP spid="110678" grpId="0" animBg="1"/>
      <p:bldP spid="110679" grpId="0" animBg="1"/>
      <p:bldP spid="110680" grpId="0" animBg="1"/>
      <p:bldP spid="110681" grpId="0" animBg="1"/>
      <p:bldP spid="110682" grpId="0" animBg="1"/>
      <p:bldP spid="110683" grpId="0" animBg="1"/>
      <p:bldP spid="110684" grpId="0" animBg="1"/>
      <p:bldP spid="110685" grpId="0" animBg="1"/>
      <p:bldP spid="110686" grpId="0" animBg="1"/>
      <p:bldP spid="110687" grpId="0" animBg="1"/>
      <p:bldP spid="110688" grpId="0" animBg="1"/>
      <p:bldP spid="110689" grpId="0" animBg="1"/>
      <p:bldP spid="110690" grpId="0" animBg="1"/>
      <p:bldP spid="110691" grpId="0" animBg="1"/>
      <p:bldP spid="110692" grpId="0" animBg="1"/>
      <p:bldP spid="110693" grpId="0" animBg="1"/>
      <p:bldP spid="110694" grpId="0" animBg="1"/>
      <p:bldP spid="110695" grpId="0" animBg="1"/>
      <p:bldP spid="110696" grpId="0" animBg="1"/>
      <p:bldP spid="110697" grpId="0" animBg="1"/>
      <p:bldP spid="110698" grpId="0" animBg="1"/>
      <p:bldP spid="10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Lemma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 The length of an LCS is bˆ + fˆ − 1.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(2)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ˆ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ˆ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share at least one match which is</a:t>
            </a:r>
          </a:p>
          <a:p>
            <a:pPr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on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FC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ˆ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and/or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en-US" altLang="zh-TW" sz="2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ˆ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464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45028" y="1875501"/>
            <a:ext cx="7634201" cy="430916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dominant matches on each contour is bounded by O(min(m,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(n-p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contours : p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and the midpoint of an LCS  can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 constructed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O(min(pm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2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p(n-p</a:t>
            </a:r>
            <a:r>
              <a:rPr lang="en-US" altLang="zh-TW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377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745028" y="1875501"/>
            <a:ext cx="7634201" cy="4309168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zh-TW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25" y="1690689"/>
            <a:ext cx="8964950" cy="4255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98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29681</TotalTime>
  <Words>542</Words>
  <Application>Microsoft Office PowerPoint</Application>
  <PresentationFormat>如螢幕大小 (4:3)</PresentationFormat>
  <Paragraphs>188</Paragraphs>
  <Slides>17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6" baseType="lpstr">
      <vt:lpstr>新細明體</vt:lpstr>
      <vt:lpstr>Arial</vt:lpstr>
      <vt:lpstr>Calibri</vt:lpstr>
      <vt:lpstr>Calibri Light</vt:lpstr>
      <vt:lpstr>Cambria Math</vt:lpstr>
      <vt:lpstr>David</vt:lpstr>
      <vt:lpstr>Times New Roman</vt:lpstr>
      <vt:lpstr>Wingdings</vt:lpstr>
      <vt:lpstr>Office 佈景主題</vt:lpstr>
      <vt:lpstr>Simple and fast linear space computation of longest common subsequences</vt:lpstr>
      <vt:lpstr>Abstract</vt:lpstr>
      <vt:lpstr>Introduction</vt:lpstr>
      <vt:lpstr>Introduction</vt:lpstr>
      <vt:lpstr>Introduction</vt:lpstr>
      <vt:lpstr>PowerPoint 簡報</vt:lpstr>
      <vt:lpstr>PowerPoint 簡報</vt:lpstr>
      <vt:lpstr>PowerPoint 簡報</vt:lpstr>
      <vt:lpstr>Backward contours (BC)</vt:lpstr>
      <vt:lpstr>Method</vt:lpstr>
      <vt:lpstr>Method</vt:lpstr>
      <vt:lpstr>Lemma</vt:lpstr>
      <vt:lpstr>Dominant matches</vt:lpstr>
      <vt:lpstr>PowerPoint 簡報</vt:lpstr>
      <vt:lpstr>Lemma</vt:lpstr>
      <vt:lpstr>Time complexity</vt:lpstr>
      <vt:lpstr>PowerPoint 簡報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Mining Association Rules in Big Data for E-healthcare Information System</dc:title>
  <dc:creator>muchmuch</dc:creator>
  <cp:lastModifiedBy>pplab-class</cp:lastModifiedBy>
  <cp:revision>296</cp:revision>
  <dcterms:created xsi:type="dcterms:W3CDTF">2016-04-23T07:31:56Z</dcterms:created>
  <dcterms:modified xsi:type="dcterms:W3CDTF">2016-12-27T12:01:38Z</dcterms:modified>
</cp:coreProperties>
</file>