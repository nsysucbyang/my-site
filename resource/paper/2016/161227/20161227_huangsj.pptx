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6" r:id="rId2"/>
    <p:sldId id="265" r:id="rId3"/>
    <p:sldId id="257" r:id="rId4"/>
    <p:sldId id="258" r:id="rId5"/>
    <p:sldId id="259" r:id="rId6"/>
    <p:sldId id="260" r:id="rId7"/>
    <p:sldId id="261" r:id="rId8"/>
    <p:sldId id="262" r:id="rId9"/>
    <p:sldId id="263" r:id="rId10"/>
    <p:sldId id="264" r:id="rId11"/>
    <p:sldId id="266" r:id="rId12"/>
    <p:sldId id="267" r:id="rId13"/>
    <p:sldId id="268" r:id="rId14"/>
    <p:sldId id="269" r:id="rId15"/>
    <p:sldId id="270" r:id="rId16"/>
    <p:sldId id="271" r:id="rId17"/>
    <p:sldId id="272" r:id="rId18"/>
    <p:sldId id="273" r:id="rId19"/>
    <p:sldId id="274" r:id="rId20"/>
    <p:sldId id="275" r:id="rId21"/>
    <p:sldId id="276" r:id="rId22"/>
    <p:sldId id="284" r:id="rId23"/>
    <p:sldId id="283" r:id="rId24"/>
    <p:sldId id="277" r:id="rId25"/>
    <p:sldId id="278" r:id="rId26"/>
    <p:sldId id="279" r:id="rId27"/>
    <p:sldId id="280" r:id="rId28"/>
    <p:sldId id="281" r:id="rId29"/>
  </p:sldIdLst>
  <p:sldSz cx="9144000" cy="6858000" type="screen4x3"/>
  <p:notesSz cx="6858000" cy="9144000"/>
  <p:defaultTextStyle>
    <a:defPPr>
      <a:defRPr lang="zh-TW"/>
    </a:defPPr>
    <a:lvl1pPr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1pPr>
    <a:lvl2pPr marL="4572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2pPr>
    <a:lvl3pPr marL="9144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3pPr>
    <a:lvl4pPr marL="13716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4pPr>
    <a:lvl5pPr marL="18288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5pPr>
    <a:lvl6pPr marL="22860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6pPr>
    <a:lvl7pPr marL="27432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7pPr>
    <a:lvl8pPr marL="32004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8pPr>
    <a:lvl9pPr marL="36576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8" d="100"/>
          <a:sy n="68" d="100"/>
        </p:scale>
        <p:origin x="1440" y="6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hangingPunct="1">
              <a:defRPr sz="1200"/>
            </a:lvl1pPr>
          </a:lstStyle>
          <a:p>
            <a:pPr>
              <a:defRPr/>
            </a:pPr>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hangingPunct="1">
              <a:defRPr sz="1200"/>
            </a:lvl1pPr>
          </a:lstStyle>
          <a:p>
            <a:pPr>
              <a:defRPr/>
            </a:pPr>
            <a:fld id="{A8FD2A19-848A-4A0D-B5AB-9341ACDC3FF6}" type="datetimeFigureOut">
              <a:rPr lang="zh-TW" altLang="en-US"/>
              <a:pPr>
                <a:defRPr/>
              </a:pPr>
              <a:t>2016/12/28</a:t>
            </a:fld>
            <a:endParaRPr lang="zh-TW" altLang="en-US"/>
          </a:p>
        </p:txBody>
      </p:sp>
      <p:sp>
        <p:nvSpPr>
          <p:cNvPr id="4" name="投影片影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zh-TW" altLang="en-US" noProof="0"/>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noProof="0"/>
              <a:t>編輯母片文字樣式</a:t>
            </a:r>
          </a:p>
          <a:p>
            <a:pPr lvl="1"/>
            <a:r>
              <a:rPr lang="zh-TW" altLang="en-US" noProof="0"/>
              <a:t>第二層</a:t>
            </a:r>
          </a:p>
          <a:p>
            <a:pPr lvl="2"/>
            <a:r>
              <a:rPr lang="zh-TW" altLang="en-US" noProof="0"/>
              <a:t>第三層</a:t>
            </a:r>
          </a:p>
          <a:p>
            <a:pPr lvl="3"/>
            <a:r>
              <a:rPr lang="zh-TW" altLang="en-US" noProof="0"/>
              <a:t>第四層</a:t>
            </a:r>
          </a:p>
          <a:p>
            <a:pPr lvl="4"/>
            <a:r>
              <a:rPr lang="zh-TW" altLang="en-US" noProof="0"/>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hangingPunct="1">
              <a:defRPr sz="1200"/>
            </a:lvl1pPr>
          </a:lstStyle>
          <a:p>
            <a:pPr>
              <a:defRPr/>
            </a:pPr>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hangingPunct="1">
              <a:defRPr sz="1200"/>
            </a:lvl1pPr>
          </a:lstStyle>
          <a:p>
            <a:pPr>
              <a:defRPr/>
            </a:pPr>
            <a:fld id="{40F6A1F1-4A3B-4711-ADA3-12EA9B5F9CB8}" type="slidenum">
              <a:rPr lang="zh-TW" altLang="en-US"/>
              <a:pPr>
                <a:defRPr/>
              </a:pPr>
              <a:t>‹#›</a:t>
            </a:fld>
            <a:endParaRPr lang="zh-TW"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投影片影像版面配置區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TW" altLang="en-US"/>
          </a:p>
        </p:txBody>
      </p:sp>
      <p:sp>
        <p:nvSpPr>
          <p:cNvPr id="12292" name="投影片編號版面配置區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fld id="{F7A1F189-F0FC-44A2-A234-9876C2CCCD78}" type="slidenum">
              <a:rPr lang="zh-TW" altLang="en-US" smtClean="0"/>
              <a:pPr/>
              <a:t>9</a:t>
            </a:fld>
            <a:endParaRPr lang="zh-TW"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a:t>按一下以編輯母片標題樣式</a:t>
            </a:r>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按一下以編輯母片副標題樣式</a:t>
            </a:r>
          </a:p>
        </p:txBody>
      </p:sp>
      <p:sp>
        <p:nvSpPr>
          <p:cNvPr id="4" name="日期版面配置區 3"/>
          <p:cNvSpPr>
            <a:spLocks noGrp="1"/>
          </p:cNvSpPr>
          <p:nvPr>
            <p:ph type="dt" sz="half" idx="10"/>
          </p:nvPr>
        </p:nvSpPr>
        <p:spPr/>
        <p:txBody>
          <a:bodyPr/>
          <a:lstStyle>
            <a:lvl1pPr>
              <a:defRPr/>
            </a:lvl1pPr>
          </a:lstStyle>
          <a:p>
            <a:pPr>
              <a:defRPr/>
            </a:pPr>
            <a:fld id="{B83C40D4-10C9-4D88-81DC-7196638CBC69}" type="datetimeFigureOut">
              <a:rPr lang="zh-TW" altLang="en-US"/>
              <a:pPr>
                <a:defRPr/>
              </a:pPr>
              <a:t>2016/12/28</a:t>
            </a:fld>
            <a:endParaRPr lang="zh-TW" altLang="en-US"/>
          </a:p>
        </p:txBody>
      </p:sp>
      <p:sp>
        <p:nvSpPr>
          <p:cNvPr id="5" name="頁尾版面配置區 4"/>
          <p:cNvSpPr>
            <a:spLocks noGrp="1"/>
          </p:cNvSpPr>
          <p:nvPr>
            <p:ph type="ftr" sz="quarter" idx="11"/>
          </p:nvPr>
        </p:nvSpPr>
        <p:spPr/>
        <p:txBody>
          <a:bodyPr/>
          <a:lstStyle>
            <a:lvl1pPr>
              <a:defRPr/>
            </a:lvl1pPr>
          </a:lstStyle>
          <a:p>
            <a:pPr>
              <a:defRPr/>
            </a:pPr>
            <a:endParaRPr lang="zh-TW" altLang="en-US"/>
          </a:p>
        </p:txBody>
      </p:sp>
      <p:sp>
        <p:nvSpPr>
          <p:cNvPr id="6" name="投影片編號版面配置區 5"/>
          <p:cNvSpPr>
            <a:spLocks noGrp="1"/>
          </p:cNvSpPr>
          <p:nvPr>
            <p:ph type="sldNum" sz="quarter" idx="12"/>
          </p:nvPr>
        </p:nvSpPr>
        <p:spPr/>
        <p:txBody>
          <a:bodyPr/>
          <a:lstStyle>
            <a:lvl1pPr>
              <a:defRPr/>
            </a:lvl1pPr>
          </a:lstStyle>
          <a:p>
            <a:pPr>
              <a:defRPr/>
            </a:pPr>
            <a:fld id="{5197FA7E-E57A-4D1B-984B-CB056ADC0F27}" type="slidenum">
              <a:rPr lang="zh-TW" altLang="en-US"/>
              <a:pPr>
                <a:defRPr/>
              </a:pPr>
              <a:t>‹#›</a:t>
            </a:fld>
            <a:endParaRPr lang="zh-TW" altLang="en-US"/>
          </a:p>
        </p:txBody>
      </p:sp>
    </p:spTree>
    <p:extLst>
      <p:ext uri="{BB962C8B-B14F-4D97-AF65-F5344CB8AC3E}">
        <p14:creationId xmlns:p14="http://schemas.microsoft.com/office/powerpoint/2010/main" val="29326956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lvl1pPr>
              <a:defRPr/>
            </a:lvl1pPr>
          </a:lstStyle>
          <a:p>
            <a:pPr>
              <a:defRPr/>
            </a:pPr>
            <a:fld id="{340A9FB6-1FA7-4DF5-83C4-0AAD990CCB49}" type="datetimeFigureOut">
              <a:rPr lang="zh-TW" altLang="en-US"/>
              <a:pPr>
                <a:defRPr/>
              </a:pPr>
              <a:t>2016/12/28</a:t>
            </a:fld>
            <a:endParaRPr lang="zh-TW" altLang="en-US"/>
          </a:p>
        </p:txBody>
      </p:sp>
      <p:sp>
        <p:nvSpPr>
          <p:cNvPr id="5" name="頁尾版面配置區 4"/>
          <p:cNvSpPr>
            <a:spLocks noGrp="1"/>
          </p:cNvSpPr>
          <p:nvPr>
            <p:ph type="ftr" sz="quarter" idx="11"/>
          </p:nvPr>
        </p:nvSpPr>
        <p:spPr/>
        <p:txBody>
          <a:bodyPr/>
          <a:lstStyle>
            <a:lvl1pPr>
              <a:defRPr/>
            </a:lvl1pPr>
          </a:lstStyle>
          <a:p>
            <a:pPr>
              <a:defRPr/>
            </a:pPr>
            <a:endParaRPr lang="zh-TW" altLang="en-US"/>
          </a:p>
        </p:txBody>
      </p:sp>
      <p:sp>
        <p:nvSpPr>
          <p:cNvPr id="6" name="投影片編號版面配置區 5"/>
          <p:cNvSpPr>
            <a:spLocks noGrp="1"/>
          </p:cNvSpPr>
          <p:nvPr>
            <p:ph type="sldNum" sz="quarter" idx="12"/>
          </p:nvPr>
        </p:nvSpPr>
        <p:spPr/>
        <p:txBody>
          <a:bodyPr/>
          <a:lstStyle>
            <a:lvl1pPr>
              <a:defRPr/>
            </a:lvl1pPr>
          </a:lstStyle>
          <a:p>
            <a:pPr>
              <a:defRPr/>
            </a:pPr>
            <a:fld id="{1EADD578-9374-49CB-AE44-132B2772A7F5}" type="slidenum">
              <a:rPr lang="zh-TW" altLang="en-US"/>
              <a:pPr>
                <a:defRPr/>
              </a:pPr>
              <a:t>‹#›</a:t>
            </a:fld>
            <a:endParaRPr lang="zh-TW" altLang="en-US"/>
          </a:p>
        </p:txBody>
      </p:sp>
    </p:spTree>
    <p:extLst>
      <p:ext uri="{BB962C8B-B14F-4D97-AF65-F5344CB8AC3E}">
        <p14:creationId xmlns:p14="http://schemas.microsoft.com/office/powerpoint/2010/main" val="22031965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lvl1pPr>
              <a:defRPr/>
            </a:lvl1pPr>
          </a:lstStyle>
          <a:p>
            <a:pPr>
              <a:defRPr/>
            </a:pPr>
            <a:fld id="{B38E4191-BEF7-4F55-980B-A318016B53B3}" type="datetimeFigureOut">
              <a:rPr lang="zh-TW" altLang="en-US"/>
              <a:pPr>
                <a:defRPr/>
              </a:pPr>
              <a:t>2016/12/28</a:t>
            </a:fld>
            <a:endParaRPr lang="zh-TW" altLang="en-US"/>
          </a:p>
        </p:txBody>
      </p:sp>
      <p:sp>
        <p:nvSpPr>
          <p:cNvPr id="5" name="頁尾版面配置區 4"/>
          <p:cNvSpPr>
            <a:spLocks noGrp="1"/>
          </p:cNvSpPr>
          <p:nvPr>
            <p:ph type="ftr" sz="quarter" idx="11"/>
          </p:nvPr>
        </p:nvSpPr>
        <p:spPr/>
        <p:txBody>
          <a:bodyPr/>
          <a:lstStyle>
            <a:lvl1pPr>
              <a:defRPr/>
            </a:lvl1pPr>
          </a:lstStyle>
          <a:p>
            <a:pPr>
              <a:defRPr/>
            </a:pPr>
            <a:endParaRPr lang="zh-TW" altLang="en-US"/>
          </a:p>
        </p:txBody>
      </p:sp>
      <p:sp>
        <p:nvSpPr>
          <p:cNvPr id="6" name="投影片編號版面配置區 5"/>
          <p:cNvSpPr>
            <a:spLocks noGrp="1"/>
          </p:cNvSpPr>
          <p:nvPr>
            <p:ph type="sldNum" sz="quarter" idx="12"/>
          </p:nvPr>
        </p:nvSpPr>
        <p:spPr/>
        <p:txBody>
          <a:bodyPr/>
          <a:lstStyle>
            <a:lvl1pPr>
              <a:defRPr/>
            </a:lvl1pPr>
          </a:lstStyle>
          <a:p>
            <a:pPr>
              <a:defRPr/>
            </a:pPr>
            <a:fld id="{3BC44DCA-C23C-4A49-B070-3D4CC67CA237}" type="slidenum">
              <a:rPr lang="zh-TW" altLang="en-US"/>
              <a:pPr>
                <a:defRPr/>
              </a:pPr>
              <a:t>‹#›</a:t>
            </a:fld>
            <a:endParaRPr lang="zh-TW" altLang="en-US"/>
          </a:p>
        </p:txBody>
      </p:sp>
    </p:spTree>
    <p:extLst>
      <p:ext uri="{BB962C8B-B14F-4D97-AF65-F5344CB8AC3E}">
        <p14:creationId xmlns:p14="http://schemas.microsoft.com/office/powerpoint/2010/main" val="32438460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3"/>
          <p:cNvSpPr>
            <a:spLocks noGrp="1"/>
          </p:cNvSpPr>
          <p:nvPr>
            <p:ph type="dt" sz="half" idx="10"/>
          </p:nvPr>
        </p:nvSpPr>
        <p:spPr/>
        <p:txBody>
          <a:bodyPr/>
          <a:lstStyle>
            <a:lvl1pPr>
              <a:defRPr/>
            </a:lvl1pPr>
          </a:lstStyle>
          <a:p>
            <a:pPr>
              <a:defRPr/>
            </a:pPr>
            <a:fld id="{76FBC3B5-F83D-4DA7-98B5-63FE4006AC39}" type="datetimeFigureOut">
              <a:rPr lang="zh-TW" altLang="en-US"/>
              <a:pPr>
                <a:defRPr/>
              </a:pPr>
              <a:t>2016/12/28</a:t>
            </a:fld>
            <a:endParaRPr lang="zh-TW" altLang="en-US"/>
          </a:p>
        </p:txBody>
      </p:sp>
      <p:sp>
        <p:nvSpPr>
          <p:cNvPr id="6" name="頁尾版面配置區 4"/>
          <p:cNvSpPr>
            <a:spLocks noGrp="1"/>
          </p:cNvSpPr>
          <p:nvPr>
            <p:ph type="ftr" sz="quarter" idx="11"/>
          </p:nvPr>
        </p:nvSpPr>
        <p:spPr/>
        <p:txBody>
          <a:bodyPr/>
          <a:lstStyle>
            <a:lvl1pPr>
              <a:defRPr/>
            </a:lvl1pPr>
          </a:lstStyle>
          <a:p>
            <a:pPr>
              <a:defRPr/>
            </a:pPr>
            <a:endParaRPr lang="zh-TW" altLang="en-US"/>
          </a:p>
        </p:txBody>
      </p:sp>
      <p:sp>
        <p:nvSpPr>
          <p:cNvPr id="7" name="投影片編號版面配置區 5"/>
          <p:cNvSpPr>
            <a:spLocks noGrp="1"/>
          </p:cNvSpPr>
          <p:nvPr>
            <p:ph type="sldNum" sz="quarter" idx="12"/>
          </p:nvPr>
        </p:nvSpPr>
        <p:spPr/>
        <p:txBody>
          <a:bodyPr/>
          <a:lstStyle>
            <a:lvl1pPr>
              <a:defRPr/>
            </a:lvl1pPr>
          </a:lstStyle>
          <a:p>
            <a:pPr>
              <a:defRPr/>
            </a:pPr>
            <a:fld id="{357A2611-314D-44E6-9142-3CED79A50FCD}" type="slidenum">
              <a:rPr lang="zh-TW" altLang="en-US"/>
              <a:pPr>
                <a:defRPr/>
              </a:pPr>
              <a:t>‹#›</a:t>
            </a:fld>
            <a:endParaRPr lang="zh-TW" altLang="en-US"/>
          </a:p>
        </p:txBody>
      </p:sp>
    </p:spTree>
    <p:extLst>
      <p:ext uri="{BB962C8B-B14F-4D97-AF65-F5344CB8AC3E}">
        <p14:creationId xmlns:p14="http://schemas.microsoft.com/office/powerpoint/2010/main" val="28475471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3"/>
          <p:cNvSpPr>
            <a:spLocks noGrp="1"/>
          </p:cNvSpPr>
          <p:nvPr>
            <p:ph type="dt" sz="half" idx="10"/>
          </p:nvPr>
        </p:nvSpPr>
        <p:spPr/>
        <p:txBody>
          <a:bodyPr/>
          <a:lstStyle>
            <a:lvl1pPr>
              <a:defRPr/>
            </a:lvl1pPr>
          </a:lstStyle>
          <a:p>
            <a:pPr>
              <a:defRPr/>
            </a:pPr>
            <a:fld id="{F61D2DD3-36C6-41D9-B4DD-AC5BAB6788BF}" type="datetimeFigureOut">
              <a:rPr lang="zh-TW" altLang="en-US"/>
              <a:pPr>
                <a:defRPr/>
              </a:pPr>
              <a:t>2016/12/28</a:t>
            </a:fld>
            <a:endParaRPr lang="zh-TW" altLang="en-US"/>
          </a:p>
        </p:txBody>
      </p:sp>
      <p:sp>
        <p:nvSpPr>
          <p:cNvPr id="8" name="頁尾版面配置區 4"/>
          <p:cNvSpPr>
            <a:spLocks noGrp="1"/>
          </p:cNvSpPr>
          <p:nvPr>
            <p:ph type="ftr" sz="quarter" idx="11"/>
          </p:nvPr>
        </p:nvSpPr>
        <p:spPr/>
        <p:txBody>
          <a:bodyPr/>
          <a:lstStyle>
            <a:lvl1pPr>
              <a:defRPr/>
            </a:lvl1pPr>
          </a:lstStyle>
          <a:p>
            <a:pPr>
              <a:defRPr/>
            </a:pPr>
            <a:endParaRPr lang="zh-TW" altLang="en-US"/>
          </a:p>
        </p:txBody>
      </p:sp>
      <p:sp>
        <p:nvSpPr>
          <p:cNvPr id="9" name="投影片編號版面配置區 5"/>
          <p:cNvSpPr>
            <a:spLocks noGrp="1"/>
          </p:cNvSpPr>
          <p:nvPr>
            <p:ph type="sldNum" sz="quarter" idx="12"/>
          </p:nvPr>
        </p:nvSpPr>
        <p:spPr/>
        <p:txBody>
          <a:bodyPr/>
          <a:lstStyle>
            <a:lvl1pPr>
              <a:defRPr/>
            </a:lvl1pPr>
          </a:lstStyle>
          <a:p>
            <a:pPr>
              <a:defRPr/>
            </a:pPr>
            <a:fld id="{51C1E0DF-ADDC-4C32-ADEC-CA431972AB46}" type="slidenum">
              <a:rPr lang="zh-TW" altLang="en-US"/>
              <a:pPr>
                <a:defRPr/>
              </a:pPr>
              <a:t>‹#›</a:t>
            </a:fld>
            <a:endParaRPr lang="zh-TW" altLang="en-US"/>
          </a:p>
        </p:txBody>
      </p:sp>
    </p:spTree>
    <p:extLst>
      <p:ext uri="{BB962C8B-B14F-4D97-AF65-F5344CB8AC3E}">
        <p14:creationId xmlns:p14="http://schemas.microsoft.com/office/powerpoint/2010/main" val="27420501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3"/>
          <p:cNvSpPr>
            <a:spLocks noGrp="1"/>
          </p:cNvSpPr>
          <p:nvPr>
            <p:ph type="dt" sz="half" idx="10"/>
          </p:nvPr>
        </p:nvSpPr>
        <p:spPr/>
        <p:txBody>
          <a:bodyPr/>
          <a:lstStyle>
            <a:lvl1pPr>
              <a:defRPr/>
            </a:lvl1pPr>
          </a:lstStyle>
          <a:p>
            <a:pPr>
              <a:defRPr/>
            </a:pPr>
            <a:fld id="{E3BA188B-A952-4182-B5AF-571E2ACB76E8}" type="datetimeFigureOut">
              <a:rPr lang="zh-TW" altLang="en-US"/>
              <a:pPr>
                <a:defRPr/>
              </a:pPr>
              <a:t>2016/12/28</a:t>
            </a:fld>
            <a:endParaRPr lang="zh-TW" altLang="en-US"/>
          </a:p>
        </p:txBody>
      </p:sp>
      <p:sp>
        <p:nvSpPr>
          <p:cNvPr id="4" name="頁尾版面配置區 4"/>
          <p:cNvSpPr>
            <a:spLocks noGrp="1"/>
          </p:cNvSpPr>
          <p:nvPr>
            <p:ph type="ftr" sz="quarter" idx="11"/>
          </p:nvPr>
        </p:nvSpPr>
        <p:spPr/>
        <p:txBody>
          <a:bodyPr/>
          <a:lstStyle>
            <a:lvl1pPr>
              <a:defRPr/>
            </a:lvl1pPr>
          </a:lstStyle>
          <a:p>
            <a:pPr>
              <a:defRPr/>
            </a:pPr>
            <a:endParaRPr lang="zh-TW" altLang="en-US"/>
          </a:p>
        </p:txBody>
      </p:sp>
      <p:sp>
        <p:nvSpPr>
          <p:cNvPr id="5" name="投影片編號版面配置區 5"/>
          <p:cNvSpPr>
            <a:spLocks noGrp="1"/>
          </p:cNvSpPr>
          <p:nvPr>
            <p:ph type="sldNum" sz="quarter" idx="12"/>
          </p:nvPr>
        </p:nvSpPr>
        <p:spPr/>
        <p:txBody>
          <a:bodyPr/>
          <a:lstStyle>
            <a:lvl1pPr>
              <a:defRPr/>
            </a:lvl1pPr>
          </a:lstStyle>
          <a:p>
            <a:pPr>
              <a:defRPr/>
            </a:pPr>
            <a:fld id="{7B0E15F5-EEC2-4E32-AE61-005CEE4AC8A5}" type="slidenum">
              <a:rPr lang="zh-TW" altLang="en-US"/>
              <a:pPr>
                <a:defRPr/>
              </a:pPr>
              <a:t>‹#›</a:t>
            </a:fld>
            <a:endParaRPr lang="zh-TW" altLang="en-US"/>
          </a:p>
        </p:txBody>
      </p:sp>
    </p:spTree>
    <p:extLst>
      <p:ext uri="{BB962C8B-B14F-4D97-AF65-F5344CB8AC3E}">
        <p14:creationId xmlns:p14="http://schemas.microsoft.com/office/powerpoint/2010/main" val="5110975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3"/>
          <p:cNvSpPr>
            <a:spLocks noGrp="1"/>
          </p:cNvSpPr>
          <p:nvPr>
            <p:ph type="dt" sz="half" idx="10"/>
          </p:nvPr>
        </p:nvSpPr>
        <p:spPr/>
        <p:txBody>
          <a:bodyPr/>
          <a:lstStyle>
            <a:lvl1pPr>
              <a:defRPr/>
            </a:lvl1pPr>
          </a:lstStyle>
          <a:p>
            <a:pPr>
              <a:defRPr/>
            </a:pPr>
            <a:fld id="{419C7BB0-F367-49A7-8C62-B34AC2C26D15}" type="datetimeFigureOut">
              <a:rPr lang="zh-TW" altLang="en-US"/>
              <a:pPr>
                <a:defRPr/>
              </a:pPr>
              <a:t>2016/12/28</a:t>
            </a:fld>
            <a:endParaRPr lang="zh-TW" altLang="en-US"/>
          </a:p>
        </p:txBody>
      </p:sp>
      <p:sp>
        <p:nvSpPr>
          <p:cNvPr id="3" name="頁尾版面配置區 4"/>
          <p:cNvSpPr>
            <a:spLocks noGrp="1"/>
          </p:cNvSpPr>
          <p:nvPr>
            <p:ph type="ftr" sz="quarter" idx="11"/>
          </p:nvPr>
        </p:nvSpPr>
        <p:spPr/>
        <p:txBody>
          <a:bodyPr/>
          <a:lstStyle>
            <a:lvl1pPr>
              <a:defRPr/>
            </a:lvl1pPr>
          </a:lstStyle>
          <a:p>
            <a:pPr>
              <a:defRPr/>
            </a:pPr>
            <a:endParaRPr lang="zh-TW" altLang="en-US"/>
          </a:p>
        </p:txBody>
      </p:sp>
      <p:sp>
        <p:nvSpPr>
          <p:cNvPr id="4" name="投影片編號版面配置區 5"/>
          <p:cNvSpPr>
            <a:spLocks noGrp="1"/>
          </p:cNvSpPr>
          <p:nvPr>
            <p:ph type="sldNum" sz="quarter" idx="12"/>
          </p:nvPr>
        </p:nvSpPr>
        <p:spPr/>
        <p:txBody>
          <a:bodyPr/>
          <a:lstStyle>
            <a:lvl1pPr>
              <a:defRPr/>
            </a:lvl1pPr>
          </a:lstStyle>
          <a:p>
            <a:pPr>
              <a:defRPr/>
            </a:pPr>
            <a:fld id="{E1469B6A-2431-4C51-ABDD-1A2142787A89}" type="slidenum">
              <a:rPr lang="zh-TW" altLang="en-US"/>
              <a:pPr>
                <a:defRPr/>
              </a:pPr>
              <a:t>‹#›</a:t>
            </a:fld>
            <a:endParaRPr lang="zh-TW" altLang="en-US"/>
          </a:p>
        </p:txBody>
      </p:sp>
    </p:spTree>
    <p:extLst>
      <p:ext uri="{BB962C8B-B14F-4D97-AF65-F5344CB8AC3E}">
        <p14:creationId xmlns:p14="http://schemas.microsoft.com/office/powerpoint/2010/main" val="31417834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3"/>
          <p:cNvSpPr>
            <a:spLocks noGrp="1"/>
          </p:cNvSpPr>
          <p:nvPr>
            <p:ph type="dt" sz="half" idx="10"/>
          </p:nvPr>
        </p:nvSpPr>
        <p:spPr/>
        <p:txBody>
          <a:bodyPr/>
          <a:lstStyle>
            <a:lvl1pPr>
              <a:defRPr/>
            </a:lvl1pPr>
          </a:lstStyle>
          <a:p>
            <a:pPr>
              <a:defRPr/>
            </a:pPr>
            <a:fld id="{429D2851-53A8-471A-BB82-F617C982E0B8}" type="datetimeFigureOut">
              <a:rPr lang="zh-TW" altLang="en-US"/>
              <a:pPr>
                <a:defRPr/>
              </a:pPr>
              <a:t>2016/12/28</a:t>
            </a:fld>
            <a:endParaRPr lang="zh-TW" altLang="en-US"/>
          </a:p>
        </p:txBody>
      </p:sp>
      <p:sp>
        <p:nvSpPr>
          <p:cNvPr id="6" name="頁尾版面配置區 4"/>
          <p:cNvSpPr>
            <a:spLocks noGrp="1"/>
          </p:cNvSpPr>
          <p:nvPr>
            <p:ph type="ftr" sz="quarter" idx="11"/>
          </p:nvPr>
        </p:nvSpPr>
        <p:spPr/>
        <p:txBody>
          <a:bodyPr/>
          <a:lstStyle>
            <a:lvl1pPr>
              <a:defRPr/>
            </a:lvl1pPr>
          </a:lstStyle>
          <a:p>
            <a:pPr>
              <a:defRPr/>
            </a:pPr>
            <a:endParaRPr lang="zh-TW" altLang="en-US"/>
          </a:p>
        </p:txBody>
      </p:sp>
      <p:sp>
        <p:nvSpPr>
          <p:cNvPr id="7" name="投影片編號版面配置區 5"/>
          <p:cNvSpPr>
            <a:spLocks noGrp="1"/>
          </p:cNvSpPr>
          <p:nvPr>
            <p:ph type="sldNum" sz="quarter" idx="12"/>
          </p:nvPr>
        </p:nvSpPr>
        <p:spPr/>
        <p:txBody>
          <a:bodyPr/>
          <a:lstStyle>
            <a:lvl1pPr>
              <a:defRPr/>
            </a:lvl1pPr>
          </a:lstStyle>
          <a:p>
            <a:pPr>
              <a:defRPr/>
            </a:pPr>
            <a:fld id="{26786588-BCD7-45CE-BE57-8EA3D6C004F0}" type="slidenum">
              <a:rPr lang="zh-TW" altLang="en-US"/>
              <a:pPr>
                <a:defRPr/>
              </a:pPr>
              <a:t>‹#›</a:t>
            </a:fld>
            <a:endParaRPr lang="zh-TW" altLang="en-US"/>
          </a:p>
        </p:txBody>
      </p:sp>
    </p:spTree>
    <p:extLst>
      <p:ext uri="{BB962C8B-B14F-4D97-AF65-F5344CB8AC3E}">
        <p14:creationId xmlns:p14="http://schemas.microsoft.com/office/powerpoint/2010/main" val="24764464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TW" altLang="en-US" noProof="0"/>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3"/>
          <p:cNvSpPr>
            <a:spLocks noGrp="1"/>
          </p:cNvSpPr>
          <p:nvPr>
            <p:ph type="dt" sz="half" idx="10"/>
          </p:nvPr>
        </p:nvSpPr>
        <p:spPr/>
        <p:txBody>
          <a:bodyPr/>
          <a:lstStyle>
            <a:lvl1pPr>
              <a:defRPr/>
            </a:lvl1pPr>
          </a:lstStyle>
          <a:p>
            <a:pPr>
              <a:defRPr/>
            </a:pPr>
            <a:fld id="{5A50AF56-6873-4F4E-A6AF-A04F9CE7FB08}" type="datetimeFigureOut">
              <a:rPr lang="zh-TW" altLang="en-US"/>
              <a:pPr>
                <a:defRPr/>
              </a:pPr>
              <a:t>2016/12/28</a:t>
            </a:fld>
            <a:endParaRPr lang="zh-TW" altLang="en-US"/>
          </a:p>
        </p:txBody>
      </p:sp>
      <p:sp>
        <p:nvSpPr>
          <p:cNvPr id="6" name="頁尾版面配置區 4"/>
          <p:cNvSpPr>
            <a:spLocks noGrp="1"/>
          </p:cNvSpPr>
          <p:nvPr>
            <p:ph type="ftr" sz="quarter" idx="11"/>
          </p:nvPr>
        </p:nvSpPr>
        <p:spPr/>
        <p:txBody>
          <a:bodyPr/>
          <a:lstStyle>
            <a:lvl1pPr>
              <a:defRPr/>
            </a:lvl1pPr>
          </a:lstStyle>
          <a:p>
            <a:pPr>
              <a:defRPr/>
            </a:pPr>
            <a:endParaRPr lang="zh-TW" altLang="en-US"/>
          </a:p>
        </p:txBody>
      </p:sp>
      <p:sp>
        <p:nvSpPr>
          <p:cNvPr id="7" name="投影片編號版面配置區 5"/>
          <p:cNvSpPr>
            <a:spLocks noGrp="1"/>
          </p:cNvSpPr>
          <p:nvPr>
            <p:ph type="sldNum" sz="quarter" idx="12"/>
          </p:nvPr>
        </p:nvSpPr>
        <p:spPr/>
        <p:txBody>
          <a:bodyPr/>
          <a:lstStyle>
            <a:lvl1pPr>
              <a:defRPr/>
            </a:lvl1pPr>
          </a:lstStyle>
          <a:p>
            <a:pPr>
              <a:defRPr/>
            </a:pPr>
            <a:fld id="{F7B79160-8E1A-4B6C-AB2F-15EAD7CD5061}" type="slidenum">
              <a:rPr lang="zh-TW" altLang="en-US"/>
              <a:pPr>
                <a:defRPr/>
              </a:pPr>
              <a:t>‹#›</a:t>
            </a:fld>
            <a:endParaRPr lang="zh-TW" altLang="en-US"/>
          </a:p>
        </p:txBody>
      </p:sp>
    </p:spTree>
    <p:extLst>
      <p:ext uri="{BB962C8B-B14F-4D97-AF65-F5344CB8AC3E}">
        <p14:creationId xmlns:p14="http://schemas.microsoft.com/office/powerpoint/2010/main" val="38142659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lvl1pPr>
              <a:defRPr/>
            </a:lvl1pPr>
          </a:lstStyle>
          <a:p>
            <a:pPr>
              <a:defRPr/>
            </a:pPr>
            <a:fld id="{C1DE6415-DDF8-4987-B619-4F4E780A7302}" type="datetimeFigureOut">
              <a:rPr lang="zh-TW" altLang="en-US"/>
              <a:pPr>
                <a:defRPr/>
              </a:pPr>
              <a:t>2016/12/28</a:t>
            </a:fld>
            <a:endParaRPr lang="zh-TW" altLang="en-US"/>
          </a:p>
        </p:txBody>
      </p:sp>
      <p:sp>
        <p:nvSpPr>
          <p:cNvPr id="5" name="頁尾版面配置區 4"/>
          <p:cNvSpPr>
            <a:spLocks noGrp="1"/>
          </p:cNvSpPr>
          <p:nvPr>
            <p:ph type="ftr" sz="quarter" idx="11"/>
          </p:nvPr>
        </p:nvSpPr>
        <p:spPr/>
        <p:txBody>
          <a:bodyPr/>
          <a:lstStyle>
            <a:lvl1pPr>
              <a:defRPr/>
            </a:lvl1pPr>
          </a:lstStyle>
          <a:p>
            <a:pPr>
              <a:defRPr/>
            </a:pPr>
            <a:endParaRPr lang="zh-TW" altLang="en-US"/>
          </a:p>
        </p:txBody>
      </p:sp>
      <p:sp>
        <p:nvSpPr>
          <p:cNvPr id="6" name="投影片編號版面配置區 5"/>
          <p:cNvSpPr>
            <a:spLocks noGrp="1"/>
          </p:cNvSpPr>
          <p:nvPr>
            <p:ph type="sldNum" sz="quarter" idx="12"/>
          </p:nvPr>
        </p:nvSpPr>
        <p:spPr/>
        <p:txBody>
          <a:bodyPr/>
          <a:lstStyle>
            <a:lvl1pPr>
              <a:defRPr/>
            </a:lvl1pPr>
          </a:lstStyle>
          <a:p>
            <a:pPr>
              <a:defRPr/>
            </a:pPr>
            <a:fld id="{3297534E-2874-4102-883D-2B4E9D5DF0C5}" type="slidenum">
              <a:rPr lang="zh-TW" altLang="en-US"/>
              <a:pPr>
                <a:defRPr/>
              </a:pPr>
              <a:t>‹#›</a:t>
            </a:fld>
            <a:endParaRPr lang="zh-TW" altLang="en-US"/>
          </a:p>
        </p:txBody>
      </p:sp>
    </p:spTree>
    <p:extLst>
      <p:ext uri="{BB962C8B-B14F-4D97-AF65-F5344CB8AC3E}">
        <p14:creationId xmlns:p14="http://schemas.microsoft.com/office/powerpoint/2010/main" val="37166543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lvl1pPr>
              <a:defRPr/>
            </a:lvl1pPr>
          </a:lstStyle>
          <a:p>
            <a:pPr>
              <a:defRPr/>
            </a:pPr>
            <a:fld id="{9BC5202D-7D77-46DA-8CB8-F9E98B531FF4}" type="datetimeFigureOut">
              <a:rPr lang="zh-TW" altLang="en-US"/>
              <a:pPr>
                <a:defRPr/>
              </a:pPr>
              <a:t>2016/12/28</a:t>
            </a:fld>
            <a:endParaRPr lang="zh-TW" altLang="en-US"/>
          </a:p>
        </p:txBody>
      </p:sp>
      <p:sp>
        <p:nvSpPr>
          <p:cNvPr id="5" name="頁尾版面配置區 4"/>
          <p:cNvSpPr>
            <a:spLocks noGrp="1"/>
          </p:cNvSpPr>
          <p:nvPr>
            <p:ph type="ftr" sz="quarter" idx="11"/>
          </p:nvPr>
        </p:nvSpPr>
        <p:spPr/>
        <p:txBody>
          <a:bodyPr/>
          <a:lstStyle>
            <a:lvl1pPr>
              <a:defRPr/>
            </a:lvl1pPr>
          </a:lstStyle>
          <a:p>
            <a:pPr>
              <a:defRPr/>
            </a:pPr>
            <a:endParaRPr lang="zh-TW" altLang="en-US"/>
          </a:p>
        </p:txBody>
      </p:sp>
      <p:sp>
        <p:nvSpPr>
          <p:cNvPr id="6" name="投影片編號版面配置區 5"/>
          <p:cNvSpPr>
            <a:spLocks noGrp="1"/>
          </p:cNvSpPr>
          <p:nvPr>
            <p:ph type="sldNum" sz="quarter" idx="12"/>
          </p:nvPr>
        </p:nvSpPr>
        <p:spPr/>
        <p:txBody>
          <a:bodyPr/>
          <a:lstStyle>
            <a:lvl1pPr>
              <a:defRPr/>
            </a:lvl1pPr>
          </a:lstStyle>
          <a:p>
            <a:pPr>
              <a:defRPr/>
            </a:pPr>
            <a:fld id="{D7B2AE54-D82F-42CD-AB8C-0391504BCC95}" type="slidenum">
              <a:rPr lang="zh-TW" altLang="en-US"/>
              <a:pPr>
                <a:defRPr/>
              </a:pPr>
              <a:t>‹#›</a:t>
            </a:fld>
            <a:endParaRPr lang="zh-TW" altLang="en-US"/>
          </a:p>
        </p:txBody>
      </p:sp>
    </p:spTree>
    <p:extLst>
      <p:ext uri="{BB962C8B-B14F-4D97-AF65-F5344CB8AC3E}">
        <p14:creationId xmlns:p14="http://schemas.microsoft.com/office/powerpoint/2010/main" val="27191562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標題版面配置區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TW" altLang="en-US"/>
              <a:t>按一下以編輯母片標題樣式</a:t>
            </a:r>
          </a:p>
        </p:txBody>
      </p:sp>
      <p:sp>
        <p:nvSpPr>
          <p:cNvPr id="1027" name="文字版面配置區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kumimoji="0" sz="1200">
                <a:solidFill>
                  <a:schemeClr val="tx1">
                    <a:tint val="75000"/>
                  </a:schemeClr>
                </a:solidFill>
                <a:latin typeface="+mn-lt"/>
                <a:ea typeface="+mn-ea"/>
              </a:defRPr>
            </a:lvl1pPr>
          </a:lstStyle>
          <a:p>
            <a:pPr>
              <a:defRPr/>
            </a:pPr>
            <a:fld id="{01346C35-AE9E-4EA4-8E94-0693F1A0AE59}" type="datetimeFigureOut">
              <a:rPr lang="zh-TW" altLang="en-US"/>
              <a:pPr>
                <a:defRPr/>
              </a:pPr>
              <a:t>2016/12/28</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kumimoji="0" sz="1200">
                <a:solidFill>
                  <a:schemeClr val="tx1">
                    <a:tint val="75000"/>
                  </a:schemeClr>
                </a:solidFill>
                <a:latin typeface="+mn-lt"/>
                <a:ea typeface="+mn-ea"/>
              </a:defRPr>
            </a:lvl1pPr>
          </a:lstStyle>
          <a:p>
            <a:pPr>
              <a:defRPr/>
            </a:pPr>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kumimoji="0" sz="1200">
                <a:solidFill>
                  <a:srgbClr val="898989"/>
                </a:solidFill>
                <a:latin typeface="Calibri" panose="020F0502020204030204" pitchFamily="34" charset="0"/>
              </a:defRPr>
            </a:lvl1pPr>
          </a:lstStyle>
          <a:p>
            <a:pPr>
              <a:defRPr/>
            </a:pPr>
            <a:fld id="{18772DE4-B95E-444B-8C06-978290699F5E}" type="slidenum">
              <a:rPr lang="zh-TW" altLang="en-US"/>
              <a:pPr>
                <a:defRPr/>
              </a:pPr>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新細明體" panose="02020500000000000000" pitchFamily="18" charset="-120"/>
        </a:defRPr>
      </a:lvl2pPr>
      <a:lvl3pPr algn="ctr" rtl="0" eaLnBrk="0" fontAlgn="base" hangingPunct="0">
        <a:spcBef>
          <a:spcPct val="0"/>
        </a:spcBef>
        <a:spcAft>
          <a:spcPct val="0"/>
        </a:spcAft>
        <a:defRPr sz="4400">
          <a:solidFill>
            <a:schemeClr val="tx1"/>
          </a:solidFill>
          <a:latin typeface="Calibri" panose="020F0502020204030204" pitchFamily="34" charset="0"/>
          <a:ea typeface="新細明體" panose="02020500000000000000" pitchFamily="18" charset="-120"/>
        </a:defRPr>
      </a:lvl3pPr>
      <a:lvl4pPr algn="ctr" rtl="0" eaLnBrk="0" fontAlgn="base" hangingPunct="0">
        <a:spcBef>
          <a:spcPct val="0"/>
        </a:spcBef>
        <a:spcAft>
          <a:spcPct val="0"/>
        </a:spcAft>
        <a:defRPr sz="4400">
          <a:solidFill>
            <a:schemeClr val="tx1"/>
          </a:solidFill>
          <a:latin typeface="Calibri" panose="020F0502020204030204" pitchFamily="34" charset="0"/>
          <a:ea typeface="新細明體" panose="02020500000000000000" pitchFamily="18" charset="-120"/>
        </a:defRPr>
      </a:lvl4pPr>
      <a:lvl5pPr algn="ctr" rtl="0" eaLnBrk="0" fontAlgn="base" hangingPunct="0">
        <a:spcBef>
          <a:spcPct val="0"/>
        </a:spcBef>
        <a:spcAft>
          <a:spcPct val="0"/>
        </a:spcAft>
        <a:defRPr sz="4400">
          <a:solidFill>
            <a:schemeClr val="tx1"/>
          </a:solidFill>
          <a:latin typeface="Calibri" panose="020F0502020204030204" pitchFamily="34" charset="0"/>
          <a:ea typeface="新細明體" panose="02020500000000000000" pitchFamily="18" charset="-120"/>
        </a:defRPr>
      </a:lvl5pPr>
      <a:lvl6pPr marL="457200" algn="ctr" rtl="0" fontAlgn="base">
        <a:spcBef>
          <a:spcPct val="0"/>
        </a:spcBef>
        <a:spcAft>
          <a:spcPct val="0"/>
        </a:spcAft>
        <a:defRPr sz="4400">
          <a:solidFill>
            <a:schemeClr val="tx1"/>
          </a:solidFill>
          <a:latin typeface="Calibri" panose="020F0502020204030204" pitchFamily="34" charset="0"/>
          <a:ea typeface="新細明體" panose="02020500000000000000" pitchFamily="18" charset="-120"/>
        </a:defRPr>
      </a:lvl6pPr>
      <a:lvl7pPr marL="914400" algn="ctr" rtl="0" fontAlgn="base">
        <a:spcBef>
          <a:spcPct val="0"/>
        </a:spcBef>
        <a:spcAft>
          <a:spcPct val="0"/>
        </a:spcAft>
        <a:defRPr sz="4400">
          <a:solidFill>
            <a:schemeClr val="tx1"/>
          </a:solidFill>
          <a:latin typeface="Calibri" panose="020F0502020204030204" pitchFamily="34" charset="0"/>
          <a:ea typeface="新細明體" panose="02020500000000000000" pitchFamily="18" charset="-120"/>
        </a:defRPr>
      </a:lvl7pPr>
      <a:lvl8pPr marL="1371600" algn="ctr" rtl="0" fontAlgn="base">
        <a:spcBef>
          <a:spcPct val="0"/>
        </a:spcBef>
        <a:spcAft>
          <a:spcPct val="0"/>
        </a:spcAft>
        <a:defRPr sz="4400">
          <a:solidFill>
            <a:schemeClr val="tx1"/>
          </a:solidFill>
          <a:latin typeface="Calibri" panose="020F0502020204030204" pitchFamily="34" charset="0"/>
          <a:ea typeface="新細明體" panose="02020500000000000000" pitchFamily="18" charset="-120"/>
        </a:defRPr>
      </a:lvl8pPr>
      <a:lvl9pPr marL="1828800" algn="ctr" rtl="0" fontAlgn="base">
        <a:spcBef>
          <a:spcPct val="0"/>
        </a:spcBef>
        <a:spcAft>
          <a:spcPct val="0"/>
        </a:spcAft>
        <a:defRPr sz="4400">
          <a:solidFill>
            <a:schemeClr val="tx1"/>
          </a:solidFill>
          <a:latin typeface="Calibri" panose="020F0502020204030204" pitchFamily="34" charset="0"/>
          <a:ea typeface="新細明體" panose="02020500000000000000" pitchFamily="18" charset="-12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標題 1"/>
          <p:cNvSpPr>
            <a:spLocks noGrp="1"/>
          </p:cNvSpPr>
          <p:nvPr>
            <p:ph type="ctrTitle"/>
          </p:nvPr>
        </p:nvSpPr>
        <p:spPr>
          <a:xfrm>
            <a:off x="468313" y="981075"/>
            <a:ext cx="8351837" cy="1439863"/>
          </a:xfrm>
        </p:spPr>
        <p:txBody>
          <a:bodyPr/>
          <a:lstStyle/>
          <a:p>
            <a:pPr eaLnBrk="1" hangingPunct="1"/>
            <a:r>
              <a:rPr lang="en-US" altLang="zh-TW" sz="3000"/>
              <a:t>Support vector regression with chaos-based firefly algorithm for stock market price forecasting</a:t>
            </a:r>
            <a:endParaRPr lang="zh-TW" altLang="en-US" sz="3000"/>
          </a:p>
        </p:txBody>
      </p:sp>
      <p:sp>
        <p:nvSpPr>
          <p:cNvPr id="3075" name="副標題 2"/>
          <p:cNvSpPr>
            <a:spLocks noGrp="1"/>
          </p:cNvSpPr>
          <p:nvPr>
            <p:ph type="subTitle" idx="1"/>
          </p:nvPr>
        </p:nvSpPr>
        <p:spPr>
          <a:xfrm>
            <a:off x="900113" y="2781300"/>
            <a:ext cx="7559675" cy="2592388"/>
          </a:xfrm>
        </p:spPr>
        <p:txBody>
          <a:bodyPr/>
          <a:lstStyle/>
          <a:p>
            <a:pPr eaLnBrk="1" hangingPunct="1"/>
            <a:r>
              <a:rPr lang="en-US" altLang="zh-TW" sz="2500">
                <a:solidFill>
                  <a:schemeClr val="tx1"/>
                </a:solidFill>
              </a:rPr>
              <a:t>Applied Soft Computing 13 (2013) 947–958</a:t>
            </a:r>
          </a:p>
          <a:p>
            <a:pPr eaLnBrk="1" hangingPunct="1"/>
            <a:endParaRPr lang="en-US" altLang="zh-TW" sz="2500">
              <a:solidFill>
                <a:schemeClr val="tx1"/>
              </a:solidFill>
            </a:endParaRPr>
          </a:p>
          <a:p>
            <a:pPr eaLnBrk="1" hangingPunct="1"/>
            <a:r>
              <a:rPr lang="en-US" altLang="zh-TW" sz="2500">
                <a:solidFill>
                  <a:schemeClr val="tx1"/>
                </a:solidFill>
              </a:rPr>
              <a:t>Ahmad Kazem, Ebrahim Sharifi, Farookh Khadeer Hussain, Morteza Saberi, Omar Khadeer Hussain</a:t>
            </a:r>
            <a:endParaRPr lang="zh-TW" altLang="en-US" sz="2500">
              <a:solidFill>
                <a:schemeClr val="tx1"/>
              </a:solidFill>
            </a:endParaRPr>
          </a:p>
        </p:txBody>
      </p:sp>
      <p:sp>
        <p:nvSpPr>
          <p:cNvPr id="3076" name="文字方塊 3"/>
          <p:cNvSpPr txBox="1">
            <a:spLocks noChangeArrowheads="1"/>
          </p:cNvSpPr>
          <p:nvPr/>
        </p:nvSpPr>
        <p:spPr bwMode="auto">
          <a:xfrm>
            <a:off x="4932363" y="5300663"/>
            <a:ext cx="324008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9pPr>
          </a:lstStyle>
          <a:p>
            <a:pPr eaLnBrk="1" hangingPunct="1">
              <a:spcBef>
                <a:spcPct val="0"/>
              </a:spcBef>
              <a:buFontTx/>
              <a:buNone/>
            </a:pPr>
            <a:r>
              <a:rPr kumimoji="0" lang="en-US" altLang="zh-TW" sz="1800"/>
              <a:t>Presentor</a:t>
            </a:r>
            <a:r>
              <a:rPr kumimoji="0" lang="zh-TW" altLang="en-US" sz="1800"/>
              <a:t> </a:t>
            </a:r>
            <a:r>
              <a:rPr kumimoji="0" lang="en-US" altLang="zh-TW" sz="1800"/>
              <a:t>: Shih-jhan Huang</a:t>
            </a:r>
          </a:p>
          <a:p>
            <a:pPr eaLnBrk="1" hangingPunct="1">
              <a:spcBef>
                <a:spcPct val="0"/>
              </a:spcBef>
              <a:buFontTx/>
              <a:buNone/>
            </a:pPr>
            <a:r>
              <a:rPr kumimoji="0" lang="en-US" altLang="zh-TW" sz="1800"/>
              <a:t>Date : 2016/12/27</a:t>
            </a:r>
            <a:endParaRPr kumimoji="0" lang="zh-TW" altLang="en-US" sz="18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標題 1"/>
          <p:cNvSpPr>
            <a:spLocks noGrp="1"/>
          </p:cNvSpPr>
          <p:nvPr>
            <p:ph type="title"/>
          </p:nvPr>
        </p:nvSpPr>
        <p:spPr/>
        <p:txBody>
          <a:bodyPr/>
          <a:lstStyle/>
          <a:p>
            <a:pPr algn="l" eaLnBrk="1" hangingPunct="1"/>
            <a:r>
              <a:rPr lang="en-US" altLang="zh-TW"/>
              <a:t>Abstract(1/3)</a:t>
            </a:r>
            <a:endParaRPr lang="zh-TW" altLang="en-US"/>
          </a:p>
        </p:txBody>
      </p:sp>
      <p:sp>
        <p:nvSpPr>
          <p:cNvPr id="4099" name="文字方塊 3"/>
          <p:cNvSpPr txBox="1">
            <a:spLocks noChangeArrowheads="1"/>
          </p:cNvSpPr>
          <p:nvPr/>
        </p:nvSpPr>
        <p:spPr bwMode="auto">
          <a:xfrm>
            <a:off x="323850" y="1557338"/>
            <a:ext cx="8570913" cy="4338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9pPr>
          </a:lstStyle>
          <a:p>
            <a:pPr algn="just" eaLnBrk="1" hangingPunct="1">
              <a:spcBef>
                <a:spcPct val="0"/>
              </a:spcBef>
              <a:buFontTx/>
              <a:buNone/>
            </a:pPr>
            <a:r>
              <a:rPr kumimoji="0" lang="en-US" altLang="zh-TW" sz="2300"/>
              <a:t>Due to the inherent non-linearity and non-stationary characteristics of financial stock market price time series, conventional modeling techniques such as the Box–Jenkins autoregressive integrated moving average (ARIMA) are not adequate for stock market price forecasting. In this paper, a forecasting model based on chaotic mapping, firefly algorithm, and support vector regression (SVR) is proposed to predict stock market price. The forecasting model has three stages. In the first stage, a delay coordinate embedding method is used to reconstruct unseen phase space dynamics. In the second stage, a chaotic firefly algorithm is employed to optimize SVR hyperparameters. Finally in the third stage, the optimized SVR is used to forecast stock market price. The significance of the proposed algorithm is 3-fold. </a:t>
            </a:r>
            <a:endParaRPr kumimoji="0" lang="zh-TW" altLang="en-US" sz="23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標題 1"/>
          <p:cNvSpPr>
            <a:spLocks noGrp="1"/>
          </p:cNvSpPr>
          <p:nvPr>
            <p:ph type="title"/>
          </p:nvPr>
        </p:nvSpPr>
        <p:spPr/>
        <p:txBody>
          <a:bodyPr/>
          <a:lstStyle/>
          <a:p>
            <a:pPr algn="l" eaLnBrk="1" hangingPunct="1"/>
            <a:r>
              <a:rPr lang="en-US" altLang="zh-TW"/>
              <a:t>Abstract(2/3)</a:t>
            </a:r>
            <a:endParaRPr lang="zh-TW" altLang="en-US"/>
          </a:p>
        </p:txBody>
      </p:sp>
      <p:sp>
        <p:nvSpPr>
          <p:cNvPr id="5123" name="文字方塊 3"/>
          <p:cNvSpPr txBox="1">
            <a:spLocks noChangeArrowheads="1"/>
          </p:cNvSpPr>
          <p:nvPr/>
        </p:nvSpPr>
        <p:spPr bwMode="auto">
          <a:xfrm>
            <a:off x="323850" y="1628775"/>
            <a:ext cx="8351838" cy="435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9pPr>
          </a:lstStyle>
          <a:p>
            <a:pPr algn="just" eaLnBrk="1" hangingPunct="1">
              <a:spcBef>
                <a:spcPct val="0"/>
              </a:spcBef>
              <a:buFontTx/>
              <a:buNone/>
            </a:pPr>
            <a:r>
              <a:rPr kumimoji="0" lang="en-US" altLang="zh-TW" sz="2300"/>
              <a:t>First, it integrates both chaos theory and the firefly algorithm to optimize SVR hyperparameters, whereas previous studies employ a genetic algorithm (GA) to optimize these parameters. Second, it uses a delay coordinate embedding method to reconstruct phase space dynamics. Third, it has high prediction accuracy due to its implementation of structural risk minimization (SRM). </a:t>
            </a:r>
            <a:r>
              <a:rPr kumimoji="0" lang="en-US" altLang="zh-TW" sz="2400"/>
              <a:t>To show the applicability and superiority of the proposed algorithm, we selected the three most challenging stock market time series data from NASDAQ historical quotes, namely Intel, National Bank shares and Microsoft daily closed (last) stock price, and applied the proposed algorithm to these data. </a:t>
            </a:r>
            <a:endParaRPr kumimoji="0" lang="zh-TW" altLang="en-US" sz="2300"/>
          </a:p>
          <a:p>
            <a:pPr eaLnBrk="1" hangingPunct="1">
              <a:spcBef>
                <a:spcPct val="0"/>
              </a:spcBef>
              <a:buFontTx/>
              <a:buNone/>
            </a:pPr>
            <a:endParaRPr kumimoji="0" lang="zh-TW" altLang="en-US" sz="18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標題 1"/>
          <p:cNvSpPr>
            <a:spLocks noGrp="1"/>
          </p:cNvSpPr>
          <p:nvPr>
            <p:ph type="title"/>
          </p:nvPr>
        </p:nvSpPr>
        <p:spPr/>
        <p:txBody>
          <a:bodyPr/>
          <a:lstStyle/>
          <a:p>
            <a:pPr algn="l" eaLnBrk="1" hangingPunct="1"/>
            <a:r>
              <a:rPr lang="en-US" altLang="zh-TW"/>
              <a:t>Abstract(3/3)</a:t>
            </a:r>
            <a:endParaRPr lang="zh-TW" altLang="en-US"/>
          </a:p>
        </p:txBody>
      </p:sp>
      <p:sp>
        <p:nvSpPr>
          <p:cNvPr id="6147" name="文字方塊 3"/>
          <p:cNvSpPr txBox="1">
            <a:spLocks noChangeArrowheads="1"/>
          </p:cNvSpPr>
          <p:nvPr/>
        </p:nvSpPr>
        <p:spPr bwMode="auto">
          <a:xfrm>
            <a:off x="539750" y="1844675"/>
            <a:ext cx="7920038" cy="221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9pPr>
          </a:lstStyle>
          <a:p>
            <a:pPr eaLnBrk="1" hangingPunct="1">
              <a:spcBef>
                <a:spcPct val="0"/>
              </a:spcBef>
              <a:buFontTx/>
              <a:buNone/>
            </a:pPr>
            <a:r>
              <a:rPr kumimoji="0" lang="en-US" altLang="zh-TW" sz="2300"/>
              <a:t>Compared with genetic algorithm-based SVR (SVR-GA), chaotic genetic algorithm-based SVR (SVR-CGA), firefly-based SVR (SVR-FA), artificial neural networks (ANNs) and adaptive neuro-fuzzy inference systems (ANFIS), the proposed model performs best based on two error measures, namely mean squared error (MSE) and mean absolute percent error (MAPE).</a:t>
            </a:r>
            <a:endParaRPr kumimoji="0" lang="zh-TW" altLang="en-US" sz="23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標題 1"/>
          <p:cNvSpPr>
            <a:spLocks noGrp="1"/>
          </p:cNvSpPr>
          <p:nvPr>
            <p:ph type="title"/>
          </p:nvPr>
        </p:nvSpPr>
        <p:spPr/>
        <p:txBody>
          <a:bodyPr/>
          <a:lstStyle/>
          <a:p>
            <a:pPr algn="l" eaLnBrk="1" hangingPunct="1"/>
            <a:r>
              <a:rPr lang="en-US" altLang="zh-TW"/>
              <a:t>Delay coordinate</a:t>
            </a:r>
            <a:endParaRPr lang="zh-TW" altLang="en-US"/>
          </a:p>
        </p:txBody>
      </p:sp>
      <p:sp>
        <p:nvSpPr>
          <p:cNvPr id="6147" name="內容版面配置區 2"/>
          <p:cNvSpPr>
            <a:spLocks noGrp="1" noRot="1" noChangeAspect="1" noMove="1" noResize="1" noEditPoints="1" noAdjustHandles="1" noChangeArrowheads="1" noChangeShapeType="1" noTextEdit="1"/>
          </p:cNvSpPr>
          <p:nvPr>
            <p:ph idx="1"/>
          </p:nvPr>
        </p:nvSpPr>
        <p:spPr>
          <a:blipFill>
            <a:blip r:embed="rId2"/>
            <a:stretch>
              <a:fillRect l="-889" t="-1078" r="-1037"/>
            </a:stretch>
          </a:blipFill>
          <a:extLst/>
        </p:spPr>
        <p:txBody>
          <a:bodyPr/>
          <a:lstStyle/>
          <a:p>
            <a:pPr>
              <a:defRPr/>
            </a:pPr>
            <a:r>
              <a:rPr lang="zh-TW" altLang="en-US">
                <a:noFill/>
              </a:rPr>
              <a:t> </a:t>
            </a:r>
          </a:p>
        </p:txBody>
      </p:sp>
      <p:pic>
        <p:nvPicPr>
          <p:cNvPr id="7172" name="圖片 3" descr="a.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63713" y="3933825"/>
            <a:ext cx="3584575"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3" name="文字方塊 4"/>
          <p:cNvSpPr txBox="1">
            <a:spLocks noChangeArrowheads="1"/>
          </p:cNvSpPr>
          <p:nvPr/>
        </p:nvSpPr>
        <p:spPr bwMode="auto">
          <a:xfrm>
            <a:off x="611188" y="5229225"/>
            <a:ext cx="7561262"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9pPr>
          </a:lstStyle>
          <a:p>
            <a:pPr eaLnBrk="1" hangingPunct="1">
              <a:spcBef>
                <a:spcPct val="0"/>
              </a:spcBef>
              <a:buFontTx/>
              <a:buNone/>
            </a:pPr>
            <a:r>
              <a:rPr kumimoji="0" lang="en-US" altLang="zh-TW" sz="2300"/>
              <a:t>m : the embedding dimension of reconstructed phase space</a:t>
            </a:r>
          </a:p>
          <a:p>
            <a:pPr eaLnBrk="1" hangingPunct="1">
              <a:spcBef>
                <a:spcPct val="0"/>
              </a:spcBef>
              <a:buFontTx/>
              <a:buNone/>
            </a:pPr>
            <a:r>
              <a:rPr kumimoji="0" lang="en-US" altLang="zh-TW" sz="2300"/>
              <a:t> </a:t>
            </a:r>
            <a:r>
              <a:rPr kumimoji="0" lang="el-GR" altLang="zh-TW" sz="2300">
                <a:ea typeface="標楷體" panose="03000509000000000000" pitchFamily="65" charset="-120"/>
              </a:rPr>
              <a:t>τ</a:t>
            </a:r>
            <a:r>
              <a:rPr kumimoji="0" lang="en-US" altLang="zh-TW" sz="2300">
                <a:ea typeface="標楷體" panose="03000509000000000000" pitchFamily="65" charset="-120"/>
              </a:rPr>
              <a:t> : </a:t>
            </a:r>
            <a:r>
              <a:rPr kumimoji="0" lang="en-US" altLang="zh-TW" sz="2300"/>
              <a:t>the time delay constant.</a:t>
            </a:r>
            <a:endParaRPr kumimoji="0" lang="zh-TW" altLang="en-US" sz="2300"/>
          </a:p>
        </p:txBody>
      </p:sp>
      <p:cxnSp>
        <p:nvCxnSpPr>
          <p:cNvPr id="3" name="直線接點 2"/>
          <p:cNvCxnSpPr/>
          <p:nvPr/>
        </p:nvCxnSpPr>
        <p:spPr>
          <a:xfrm>
            <a:off x="7308850" y="2276475"/>
            <a:ext cx="137795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直線接點 7"/>
          <p:cNvCxnSpPr/>
          <p:nvPr/>
        </p:nvCxnSpPr>
        <p:spPr>
          <a:xfrm>
            <a:off x="827088" y="2636838"/>
            <a:ext cx="1379537"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標題 1"/>
          <p:cNvSpPr>
            <a:spLocks noGrp="1"/>
          </p:cNvSpPr>
          <p:nvPr>
            <p:ph type="title"/>
          </p:nvPr>
        </p:nvSpPr>
        <p:spPr>
          <a:xfrm>
            <a:off x="323850" y="476250"/>
            <a:ext cx="8229600" cy="1143000"/>
          </a:xfrm>
        </p:spPr>
        <p:txBody>
          <a:bodyPr/>
          <a:lstStyle/>
          <a:p>
            <a:pPr algn="l" eaLnBrk="1" hangingPunct="1"/>
            <a:r>
              <a:rPr lang="en-US" altLang="zh-TW"/>
              <a:t>embedding dimension</a:t>
            </a:r>
            <a:endParaRPr lang="zh-TW" altLang="en-US"/>
          </a:p>
        </p:txBody>
      </p:sp>
      <p:sp>
        <p:nvSpPr>
          <p:cNvPr id="8195" name="文字方塊 3"/>
          <p:cNvSpPr txBox="1">
            <a:spLocks noChangeArrowheads="1"/>
          </p:cNvSpPr>
          <p:nvPr/>
        </p:nvSpPr>
        <p:spPr bwMode="auto">
          <a:xfrm>
            <a:off x="395288" y="1700213"/>
            <a:ext cx="8064500" cy="409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9pPr>
          </a:lstStyle>
          <a:p>
            <a:pPr algn="just" eaLnBrk="1" hangingPunct="1">
              <a:spcBef>
                <a:spcPct val="0"/>
              </a:spcBef>
              <a:buFontTx/>
              <a:buNone/>
              <a:defRPr/>
            </a:pPr>
            <a:br>
              <a:rPr kumimoji="0" lang="en-US" altLang="zh-TW" sz="2300" dirty="0"/>
            </a:br>
            <a:r>
              <a:rPr kumimoji="0" lang="en-US" altLang="zh-TW" sz="2300" dirty="0"/>
              <a:t>too large</a:t>
            </a:r>
            <a:r>
              <a:rPr kumimoji="0" lang="zh-TW" altLang="en-US" sz="2300" dirty="0"/>
              <a:t>：</a:t>
            </a:r>
            <a:r>
              <a:rPr kumimoji="0" lang="en-US" altLang="zh-TW" sz="2300" dirty="0"/>
              <a:t>Noise and other unwanted inputs will be highly embedded with the real source input information, which may corrupt(</a:t>
            </a:r>
            <a:r>
              <a:rPr kumimoji="0" lang="zh-TW" altLang="en-US" sz="2300" dirty="0"/>
              <a:t>損壞</a:t>
            </a:r>
            <a:r>
              <a:rPr kumimoji="0" lang="en-US" altLang="zh-TW" sz="2300" dirty="0"/>
              <a:t>) the underlying system dynamic information. </a:t>
            </a:r>
          </a:p>
          <a:p>
            <a:pPr algn="just" eaLnBrk="1" hangingPunct="1">
              <a:spcBef>
                <a:spcPct val="0"/>
              </a:spcBef>
              <a:buFontTx/>
              <a:buNone/>
              <a:defRPr/>
            </a:pPr>
            <a:endParaRPr kumimoji="0" lang="en-US" altLang="zh-TW" sz="2300" dirty="0"/>
          </a:p>
          <a:p>
            <a:pPr algn="just" eaLnBrk="1" hangingPunct="1">
              <a:spcBef>
                <a:spcPct val="0"/>
              </a:spcBef>
              <a:buFontTx/>
              <a:buNone/>
              <a:defRPr/>
            </a:pPr>
            <a:r>
              <a:rPr kumimoji="0" lang="en-US" altLang="zh-TW" sz="2300" dirty="0"/>
              <a:t>According to [37]</a:t>
            </a:r>
            <a:r>
              <a:rPr kumimoji="0" lang="zh-TW" altLang="en-US" sz="2300" dirty="0"/>
              <a:t>：</a:t>
            </a:r>
            <a:endParaRPr kumimoji="0" lang="en-US" altLang="zh-TW" sz="2300" dirty="0"/>
          </a:p>
          <a:p>
            <a:pPr algn="just" eaLnBrk="1" hangingPunct="1">
              <a:spcBef>
                <a:spcPct val="0"/>
              </a:spcBef>
              <a:buFontTx/>
              <a:buNone/>
              <a:defRPr/>
            </a:pPr>
            <a:r>
              <a:rPr kumimoji="0" lang="en-US" altLang="zh-TW" sz="3000" b="1" dirty="0">
                <a:solidFill>
                  <a:srgbClr val="0070C0"/>
                </a:solidFill>
              </a:rPr>
              <a:t>m = 2d + 1 </a:t>
            </a:r>
            <a:r>
              <a:rPr kumimoji="0" lang="en-US" altLang="zh-TW" sz="3000" dirty="0">
                <a:solidFill>
                  <a:srgbClr val="0070C0"/>
                </a:solidFill>
              </a:rPr>
              <a:t>  </a:t>
            </a:r>
            <a:r>
              <a:rPr kumimoji="0" lang="zh-TW" altLang="en-US" sz="2300" dirty="0"/>
              <a:t>→ </a:t>
            </a:r>
            <a:r>
              <a:rPr kumimoji="0" lang="en-US" altLang="zh-TW" sz="2300" dirty="0"/>
              <a:t>adequate for reconstructing the attractor</a:t>
            </a:r>
          </a:p>
          <a:p>
            <a:pPr algn="just" eaLnBrk="1" hangingPunct="1">
              <a:spcBef>
                <a:spcPct val="0"/>
              </a:spcBef>
              <a:buFontTx/>
              <a:buNone/>
              <a:defRPr/>
            </a:pPr>
            <a:endParaRPr kumimoji="0" lang="en-US" altLang="zh-TW" sz="2300" dirty="0"/>
          </a:p>
          <a:p>
            <a:pPr algn="just" eaLnBrk="1" hangingPunct="1">
              <a:spcBef>
                <a:spcPct val="0"/>
              </a:spcBef>
              <a:buFontTx/>
              <a:buNone/>
              <a:defRPr/>
            </a:pPr>
            <a:r>
              <a:rPr kumimoji="0" lang="en-US" altLang="zh-TW" sz="2300" dirty="0">
                <a:solidFill>
                  <a:schemeClr val="bg1">
                    <a:lumMod val="75000"/>
                  </a:schemeClr>
                </a:solidFill>
              </a:rPr>
              <a:t>m</a:t>
            </a:r>
            <a:r>
              <a:rPr kumimoji="0" lang="zh-TW" altLang="en-US" sz="2300" dirty="0">
                <a:solidFill>
                  <a:schemeClr val="bg1">
                    <a:lumMod val="75000"/>
                  </a:schemeClr>
                </a:solidFill>
              </a:rPr>
              <a:t>：</a:t>
            </a:r>
            <a:r>
              <a:rPr kumimoji="0" lang="en-US" altLang="zh-TW" sz="2300" dirty="0">
                <a:solidFill>
                  <a:schemeClr val="bg1">
                    <a:lumMod val="75000"/>
                  </a:schemeClr>
                </a:solidFill>
              </a:rPr>
              <a:t>embedding dimension</a:t>
            </a:r>
          </a:p>
          <a:p>
            <a:pPr algn="just" eaLnBrk="1" hangingPunct="1">
              <a:spcBef>
                <a:spcPct val="0"/>
              </a:spcBef>
              <a:buFontTx/>
              <a:buNone/>
              <a:defRPr/>
            </a:pPr>
            <a:r>
              <a:rPr kumimoji="0" lang="en-US" altLang="zh-TW" sz="2300" dirty="0">
                <a:solidFill>
                  <a:schemeClr val="bg1">
                    <a:lumMod val="75000"/>
                  </a:schemeClr>
                </a:solidFill>
              </a:rPr>
              <a:t>d</a:t>
            </a:r>
            <a:r>
              <a:rPr kumimoji="0" lang="zh-TW" altLang="en-US" sz="2300" dirty="0">
                <a:solidFill>
                  <a:schemeClr val="bg1">
                    <a:lumMod val="75000"/>
                  </a:schemeClr>
                </a:solidFill>
              </a:rPr>
              <a:t>：</a:t>
            </a:r>
            <a:r>
              <a:rPr kumimoji="0" lang="en-US" altLang="zh-TW" sz="2300" dirty="0">
                <a:solidFill>
                  <a:schemeClr val="bg1">
                    <a:lumMod val="75000"/>
                  </a:schemeClr>
                </a:solidFill>
              </a:rPr>
              <a:t>the dimension of the original attractor</a:t>
            </a:r>
            <a:endParaRPr kumimoji="0" lang="zh-TW" altLang="en-US" sz="2300" dirty="0">
              <a:solidFill>
                <a:schemeClr val="bg1">
                  <a:lumMod val="75000"/>
                </a:schemeClr>
              </a:solidFill>
            </a:endParaRPr>
          </a:p>
          <a:p>
            <a:pPr eaLnBrk="1" hangingPunct="1">
              <a:spcBef>
                <a:spcPct val="0"/>
              </a:spcBef>
              <a:buFontTx/>
              <a:buNone/>
              <a:defRPr/>
            </a:pPr>
            <a:endParaRPr kumimoji="0" lang="zh-TW" altLang="en-US" sz="2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標題 1"/>
          <p:cNvSpPr>
            <a:spLocks noGrp="1"/>
          </p:cNvSpPr>
          <p:nvPr>
            <p:ph type="title"/>
          </p:nvPr>
        </p:nvSpPr>
        <p:spPr/>
        <p:txBody>
          <a:bodyPr/>
          <a:lstStyle/>
          <a:p>
            <a:pPr algn="l" eaLnBrk="1" hangingPunct="1"/>
            <a:r>
              <a:rPr lang="en-US" altLang="zh-TW"/>
              <a:t>FNN</a:t>
            </a:r>
            <a:endParaRPr lang="zh-TW" altLang="en-US"/>
          </a:p>
        </p:txBody>
      </p:sp>
      <p:sp>
        <p:nvSpPr>
          <p:cNvPr id="9219" name="文字方塊 3"/>
          <p:cNvSpPr txBox="1">
            <a:spLocks noChangeArrowheads="1"/>
          </p:cNvSpPr>
          <p:nvPr/>
        </p:nvSpPr>
        <p:spPr bwMode="auto">
          <a:xfrm>
            <a:off x="434975" y="2420938"/>
            <a:ext cx="8064500" cy="2630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9pPr>
          </a:lstStyle>
          <a:p>
            <a:pPr algn="just" eaLnBrk="1" hangingPunct="1">
              <a:spcBef>
                <a:spcPct val="0"/>
              </a:spcBef>
              <a:buFont typeface="Wingdings" panose="05000000000000000000" pitchFamily="2" charset="2"/>
              <a:buChar char="Ø"/>
            </a:pPr>
            <a:r>
              <a:rPr kumimoji="0" lang="en-US" altLang="zh-TW" sz="2300"/>
              <a:t>false nearest neighbor(FNN)</a:t>
            </a:r>
            <a:r>
              <a:rPr kumimoji="0" lang="zh-TW" altLang="en-US" sz="2300"/>
              <a:t>：</a:t>
            </a:r>
            <a:r>
              <a:rPr kumimoji="0" lang="zh-TW" altLang="en-US" sz="2300">
                <a:latin typeface="標楷體" panose="03000509000000000000" pitchFamily="65" charset="-120"/>
                <a:ea typeface="標楷體" panose="03000509000000000000" pitchFamily="65" charset="-120"/>
              </a:rPr>
              <a:t>在重建的相空間中兩點相近，但在原始的空間卻相離甚遠，即稱為</a:t>
            </a:r>
            <a:r>
              <a:rPr kumimoji="0" lang="en-US" altLang="zh-TW" sz="2300">
                <a:latin typeface="標楷體" panose="03000509000000000000" pitchFamily="65" charset="-120"/>
                <a:ea typeface="標楷體" panose="03000509000000000000" pitchFamily="65" charset="-120"/>
              </a:rPr>
              <a:t>FNN</a:t>
            </a:r>
            <a:r>
              <a:rPr kumimoji="0" lang="zh-TW" altLang="en-US" sz="2300">
                <a:latin typeface="標楷體" panose="03000509000000000000" pitchFamily="65" charset="-120"/>
                <a:ea typeface="標楷體" panose="03000509000000000000" pitchFamily="65" charset="-120"/>
              </a:rPr>
              <a:t>。</a:t>
            </a:r>
            <a:endParaRPr kumimoji="0" lang="en-US" altLang="zh-TW" sz="2300">
              <a:latin typeface="標楷體" panose="03000509000000000000" pitchFamily="65" charset="-120"/>
              <a:ea typeface="標楷體" panose="03000509000000000000" pitchFamily="65" charset="-120"/>
            </a:endParaRPr>
          </a:p>
          <a:p>
            <a:pPr algn="just" eaLnBrk="1" hangingPunct="1">
              <a:spcBef>
                <a:spcPct val="0"/>
              </a:spcBef>
              <a:buFont typeface="Wingdings" panose="05000000000000000000" pitchFamily="2" charset="2"/>
              <a:buChar char="Ø"/>
            </a:pPr>
            <a:endParaRPr kumimoji="0" lang="en-US" altLang="zh-TW" sz="2300"/>
          </a:p>
          <a:p>
            <a:pPr algn="just" eaLnBrk="1" hangingPunct="1">
              <a:spcBef>
                <a:spcPct val="0"/>
              </a:spcBef>
              <a:buFont typeface="Wingdings" panose="05000000000000000000" pitchFamily="2" charset="2"/>
              <a:buChar char="Ø"/>
            </a:pPr>
            <a:r>
              <a:rPr kumimoji="0" lang="en-US" altLang="zh-TW" sz="2400"/>
              <a:t>Such a phenomenon occurs if we select an embedding dimension </a:t>
            </a:r>
            <a:r>
              <a:rPr kumimoji="0" lang="en-US" altLang="zh-TW" sz="2400">
                <a:solidFill>
                  <a:srgbClr val="00B0F0"/>
                </a:solidFill>
              </a:rPr>
              <a:t>lower than the minimal sufficient value </a:t>
            </a:r>
            <a:r>
              <a:rPr kumimoji="0" lang="en-US" altLang="zh-TW" sz="2400"/>
              <a:t>and the </a:t>
            </a:r>
            <a:r>
              <a:rPr kumimoji="0" lang="en-US" altLang="zh-TW" sz="2400">
                <a:solidFill>
                  <a:srgbClr val="FFC000"/>
                </a:solidFill>
              </a:rPr>
              <a:t>reconstructed attractor therefore </a:t>
            </a:r>
            <a:r>
              <a:rPr kumimoji="0" lang="en-US" altLang="zh-TW" sz="2400" b="1">
                <a:solidFill>
                  <a:srgbClr val="FFC000"/>
                </a:solidFill>
              </a:rPr>
              <a:t>does not preserve the topological properties of the real phase space.</a:t>
            </a:r>
            <a:endParaRPr kumimoji="0" lang="zh-TW" altLang="en-US" sz="2300" b="1">
              <a:solidFill>
                <a:srgbClr val="FFC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圖片 3" descr="b.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84213" y="765175"/>
            <a:ext cx="23749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3" name="圖片 4" descr="c.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15925" y="3933825"/>
            <a:ext cx="5319713"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4" name="文字方塊 5"/>
          <p:cNvSpPr txBox="1">
            <a:spLocks noChangeArrowheads="1"/>
          </p:cNvSpPr>
          <p:nvPr/>
        </p:nvSpPr>
        <p:spPr bwMode="auto">
          <a:xfrm>
            <a:off x="395288" y="2205038"/>
            <a:ext cx="8064500"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9pPr>
          </a:lstStyle>
          <a:p>
            <a:pPr algn="just" eaLnBrk="1" hangingPunct="1">
              <a:spcBef>
                <a:spcPct val="0"/>
              </a:spcBef>
              <a:buFontTx/>
              <a:buNone/>
            </a:pPr>
            <a:r>
              <a:rPr kumimoji="0" lang="en-US" altLang="zh-TW" sz="2300" b="1"/>
              <a:t>If R</a:t>
            </a:r>
            <a:r>
              <a:rPr kumimoji="0" lang="en-US" altLang="zh-TW" sz="2300" b="1" baseline="-25000"/>
              <a:t>i</a:t>
            </a:r>
            <a:r>
              <a:rPr kumimoji="0" lang="en-US" altLang="zh-TW" sz="2300" b="1"/>
              <a:t> exceeds a given threshold R</a:t>
            </a:r>
            <a:r>
              <a:rPr kumimoji="0" lang="en-US" altLang="zh-TW" sz="2300" b="1" baseline="-25000"/>
              <a:t>tol</a:t>
            </a:r>
            <a:r>
              <a:rPr kumimoji="0" lang="en-US" altLang="zh-TW" sz="2300"/>
              <a:t> (say, 10 or 15), the point X</a:t>
            </a:r>
            <a:r>
              <a:rPr kumimoji="0" lang="en-US" altLang="zh-TW" sz="2300" baseline="-25000"/>
              <a:t>j </a:t>
            </a:r>
            <a:r>
              <a:rPr kumimoji="0" lang="en-US" altLang="zh-TW" sz="2300"/>
              <a:t>is considered as a </a:t>
            </a:r>
            <a:r>
              <a:rPr kumimoji="0" lang="en-US" altLang="zh-TW" sz="2300" b="1">
                <a:solidFill>
                  <a:srgbClr val="0070C0"/>
                </a:solidFill>
              </a:rPr>
              <a:t>false nearest neighbor </a:t>
            </a:r>
            <a:r>
              <a:rPr kumimoji="0" lang="en-US" altLang="zh-TW" sz="2300"/>
              <a:t>in dimension m. </a:t>
            </a:r>
          </a:p>
        </p:txBody>
      </p:sp>
      <p:sp>
        <p:nvSpPr>
          <p:cNvPr id="10245" name="文字方塊 6"/>
          <p:cNvSpPr txBox="1">
            <a:spLocks noChangeArrowheads="1"/>
          </p:cNvSpPr>
          <p:nvPr/>
        </p:nvSpPr>
        <p:spPr bwMode="auto">
          <a:xfrm>
            <a:off x="468313" y="5157788"/>
            <a:ext cx="80645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9pPr>
          </a:lstStyle>
          <a:p>
            <a:pPr eaLnBrk="1" hangingPunct="1">
              <a:spcBef>
                <a:spcPct val="0"/>
              </a:spcBef>
              <a:buFontTx/>
              <a:buNone/>
            </a:pPr>
            <a:r>
              <a:rPr kumimoji="0" lang="en-US" altLang="zh-TW" sz="2400"/>
              <a:t>Use the first minimum of mutual information </a:t>
            </a:r>
            <a:r>
              <a:rPr kumimoji="0" lang="en-US" altLang="zh-TW" sz="2400" b="1">
                <a:solidFill>
                  <a:srgbClr val="0070C0"/>
                </a:solidFill>
              </a:rPr>
              <a:t>(MI) function </a:t>
            </a:r>
            <a:r>
              <a:rPr kumimoji="0" lang="en-US" altLang="zh-TW" sz="2400"/>
              <a:t>[39] </a:t>
            </a:r>
            <a:r>
              <a:rPr kumimoji="0" lang="en-US" altLang="zh-TW" sz="2400">
                <a:solidFill>
                  <a:srgbClr val="0070C0"/>
                </a:solidFill>
              </a:rPr>
              <a:t>to determine </a:t>
            </a:r>
            <a:r>
              <a:rPr kumimoji="0" lang="el-GR" altLang="zh-TW" sz="2300">
                <a:solidFill>
                  <a:srgbClr val="0070C0"/>
                </a:solidFill>
                <a:ea typeface="標楷體" panose="03000509000000000000" pitchFamily="65" charset="-120"/>
              </a:rPr>
              <a:t>τ</a:t>
            </a:r>
            <a:r>
              <a:rPr kumimoji="0" lang="en-US" altLang="zh-TW" sz="2300">
                <a:solidFill>
                  <a:srgbClr val="0070C0"/>
                </a:solidFill>
                <a:ea typeface="標楷體" panose="03000509000000000000" pitchFamily="65" charset="-120"/>
              </a:rPr>
              <a:t> .   (</a:t>
            </a:r>
            <a:r>
              <a:rPr kumimoji="0" lang="zh-TW" altLang="en-US" sz="2300">
                <a:solidFill>
                  <a:srgbClr val="0070C0"/>
                </a:solidFill>
                <a:ea typeface="標楷體" panose="03000509000000000000" pitchFamily="65" charset="-120"/>
              </a:rPr>
              <a:t>決定</a:t>
            </a:r>
            <a:r>
              <a:rPr kumimoji="0" lang="el-GR" altLang="zh-TW" sz="2300">
                <a:solidFill>
                  <a:srgbClr val="0070C0"/>
                </a:solidFill>
                <a:ea typeface="標楷體" panose="03000509000000000000" pitchFamily="65" charset="-120"/>
              </a:rPr>
              <a:t>τ</a:t>
            </a:r>
            <a:r>
              <a:rPr kumimoji="0" lang="en-US" altLang="zh-TW" sz="2300">
                <a:solidFill>
                  <a:srgbClr val="0070C0"/>
                </a:solidFill>
                <a:ea typeface="標楷體" panose="03000509000000000000" pitchFamily="65" charset="-120"/>
              </a:rPr>
              <a:t>)</a:t>
            </a:r>
            <a:endParaRPr kumimoji="0" lang="zh-TW" altLang="en-US" sz="2300">
              <a:solidFill>
                <a:srgbClr val="0070C0"/>
              </a:solidFill>
            </a:endParaRPr>
          </a:p>
        </p:txBody>
      </p:sp>
      <p:sp>
        <p:nvSpPr>
          <p:cNvPr id="10246" name="文字方塊 1"/>
          <p:cNvSpPr txBox="1">
            <a:spLocks noChangeArrowheads="1"/>
          </p:cNvSpPr>
          <p:nvPr/>
        </p:nvSpPr>
        <p:spPr bwMode="auto">
          <a:xfrm>
            <a:off x="3995738" y="1120775"/>
            <a:ext cx="23050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lgn="just" eaLnBrk="1" hangingPunct="1"/>
            <a:r>
              <a:rPr kumimoji="0" lang="en-US" altLang="zh-TW">
                <a:solidFill>
                  <a:srgbClr val="00B0F0"/>
                </a:solidFill>
                <a:latin typeface="標楷體" panose="03000509000000000000" pitchFamily="65" charset="-120"/>
                <a:ea typeface="標楷體" panose="03000509000000000000" pitchFamily="65" charset="-120"/>
              </a:rPr>
              <a:t>(</a:t>
            </a:r>
            <a:r>
              <a:rPr kumimoji="0" lang="zh-TW" altLang="en-US">
                <a:solidFill>
                  <a:srgbClr val="00B0F0"/>
                </a:solidFill>
                <a:latin typeface="標楷體" panose="03000509000000000000" pitchFamily="65" charset="-120"/>
                <a:ea typeface="標楷體" panose="03000509000000000000" pitchFamily="65" charset="-120"/>
              </a:rPr>
              <a:t>用來判斷是否為</a:t>
            </a:r>
            <a:r>
              <a:rPr kumimoji="0" lang="en-US" altLang="zh-TW">
                <a:solidFill>
                  <a:srgbClr val="00B0F0"/>
                </a:solidFill>
                <a:latin typeface="標楷體" panose="03000509000000000000" pitchFamily="65" charset="-120"/>
                <a:ea typeface="標楷體" panose="03000509000000000000" pitchFamily="65" charset="-120"/>
              </a:rPr>
              <a:t>FNN)</a:t>
            </a:r>
            <a:endParaRPr kumimoji="0" lang="zh-TW" altLang="en-US">
              <a:solidFill>
                <a:srgbClr val="00B0F0"/>
              </a:solidFill>
              <a:latin typeface="標楷體" panose="03000509000000000000" pitchFamily="65" charset="-120"/>
              <a:ea typeface="標楷體" panose="03000509000000000000" pitchFamily="65" charset="-12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標題 1"/>
          <p:cNvSpPr>
            <a:spLocks noGrp="1"/>
          </p:cNvSpPr>
          <p:nvPr>
            <p:ph type="title"/>
          </p:nvPr>
        </p:nvSpPr>
        <p:spPr/>
        <p:txBody>
          <a:bodyPr/>
          <a:lstStyle/>
          <a:p>
            <a:pPr algn="l" eaLnBrk="1" hangingPunct="1"/>
            <a:r>
              <a:rPr lang="en-US" altLang="zh-TW"/>
              <a:t>Chaotic mapping operator(CMO)</a:t>
            </a:r>
            <a:endParaRPr lang="zh-TW" altLang="en-US"/>
          </a:p>
        </p:txBody>
      </p:sp>
      <p:sp>
        <p:nvSpPr>
          <p:cNvPr id="11267" name="文字方塊 3"/>
          <p:cNvSpPr txBox="1">
            <a:spLocks noChangeArrowheads="1"/>
          </p:cNvSpPr>
          <p:nvPr/>
        </p:nvSpPr>
        <p:spPr bwMode="auto">
          <a:xfrm>
            <a:off x="395288" y="1700213"/>
            <a:ext cx="84248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9pPr>
          </a:lstStyle>
          <a:p>
            <a:pPr eaLnBrk="1" hangingPunct="1">
              <a:spcBef>
                <a:spcPct val="0"/>
              </a:spcBef>
              <a:buFontTx/>
              <a:buNone/>
            </a:pPr>
            <a:r>
              <a:rPr kumimoji="0" lang="en-US" altLang="zh-TW" sz="2400"/>
              <a:t>The simplest chaotic mapping operator (CMO is </a:t>
            </a:r>
            <a:r>
              <a:rPr kumimoji="0" lang="en-US" altLang="zh-TW" sz="2400" b="1">
                <a:solidFill>
                  <a:srgbClr val="0070C0"/>
                </a:solidFill>
              </a:rPr>
              <a:t>logistic mapping</a:t>
            </a:r>
            <a:r>
              <a:rPr kumimoji="0" lang="en-US" altLang="zh-TW" sz="2400"/>
              <a:t>.</a:t>
            </a:r>
            <a:endParaRPr kumimoji="0" lang="zh-TW" altLang="en-US" sz="2300">
              <a:solidFill>
                <a:srgbClr val="0070C0"/>
              </a:solidFill>
            </a:endParaRPr>
          </a:p>
        </p:txBody>
      </p:sp>
      <p:pic>
        <p:nvPicPr>
          <p:cNvPr id="11268" name="圖片 4" descr="d.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42988" y="2532063"/>
            <a:ext cx="3316287"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9" name="文字方塊 5"/>
          <p:cNvSpPr txBox="1">
            <a:spLocks noChangeArrowheads="1"/>
          </p:cNvSpPr>
          <p:nvPr/>
        </p:nvSpPr>
        <p:spPr bwMode="auto">
          <a:xfrm>
            <a:off x="468313" y="3429000"/>
            <a:ext cx="8675687"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9pPr>
          </a:lstStyle>
          <a:p>
            <a:pPr eaLnBrk="1" hangingPunct="1">
              <a:spcBef>
                <a:spcPct val="0"/>
              </a:spcBef>
              <a:buFontTx/>
              <a:buNone/>
            </a:pPr>
            <a:r>
              <a:rPr kumimoji="0" lang="en-US" altLang="zh-TW" sz="2400"/>
              <a:t>where x</a:t>
            </a:r>
            <a:r>
              <a:rPr kumimoji="0" lang="en-US" altLang="zh-TW" sz="2400" baseline="-25000"/>
              <a:t>n</a:t>
            </a:r>
            <a:r>
              <a:rPr kumimoji="0" lang="en-US" altLang="zh-TW" sz="2400"/>
              <a:t> is the </a:t>
            </a:r>
            <a:r>
              <a:rPr kumimoji="0" lang="en-US" altLang="zh-TW" sz="2400" i="1"/>
              <a:t>n</a:t>
            </a:r>
            <a:r>
              <a:rPr kumimoji="0" lang="en-US" altLang="zh-TW" sz="2400"/>
              <a:t>th chaotic number, </a:t>
            </a:r>
            <a:r>
              <a:rPr kumimoji="0" lang="en-US" altLang="zh-TW" sz="2400" i="1"/>
              <a:t>n</a:t>
            </a:r>
            <a:r>
              <a:rPr kumimoji="0" lang="en-US" altLang="zh-TW" sz="2400"/>
              <a:t> denotes the iteration number and </a:t>
            </a:r>
            <a:r>
              <a:rPr kumimoji="0" lang="el-GR" altLang="zh-TW" sz="2400">
                <a:ea typeface="標楷體" panose="03000509000000000000" pitchFamily="65" charset="-120"/>
              </a:rPr>
              <a:t>μ</a:t>
            </a:r>
            <a:r>
              <a:rPr kumimoji="0" lang="en-US" altLang="zh-TW" sz="2400"/>
              <a:t> = 4.</a:t>
            </a:r>
            <a:endParaRPr kumimoji="0" lang="zh-TW" altLang="en-US" sz="2300">
              <a:solidFill>
                <a:srgbClr val="0070C0"/>
              </a:solidFill>
            </a:endParaRPr>
          </a:p>
        </p:txBody>
      </p:sp>
      <p:sp>
        <p:nvSpPr>
          <p:cNvPr id="7" name="文字方塊 6"/>
          <p:cNvSpPr txBox="1"/>
          <p:nvPr/>
        </p:nvSpPr>
        <p:spPr>
          <a:xfrm>
            <a:off x="142875" y="4716463"/>
            <a:ext cx="8677275" cy="1939925"/>
          </a:xfrm>
          <a:prstGeom prst="rect">
            <a:avLst/>
          </a:prstGeom>
          <a:noFill/>
        </p:spPr>
        <p:txBody>
          <a:bodyPr>
            <a:spAutoFit/>
          </a:bodyPr>
          <a:lstStyle/>
          <a:p>
            <a:pPr eaLnBrk="1" fontAlgn="auto" hangingPunct="1">
              <a:spcBef>
                <a:spcPts val="0"/>
              </a:spcBef>
              <a:spcAft>
                <a:spcPts val="0"/>
              </a:spcAft>
              <a:buFont typeface="Wingdings" pitchFamily="2" charset="2"/>
              <a:buChar char="Ø"/>
              <a:defRPr/>
            </a:pPr>
            <a:r>
              <a:rPr kumimoji="0" lang="en-US" altLang="zh-TW" sz="2400" b="1" dirty="0">
                <a:solidFill>
                  <a:srgbClr val="0070C0"/>
                </a:solidFill>
                <a:latin typeface="+mn-lt"/>
                <a:ea typeface="+mn-ea"/>
              </a:rPr>
              <a:t>Diversity in the initial solution of optimization algorithm is vital for preventing premature phenomena. </a:t>
            </a:r>
          </a:p>
          <a:p>
            <a:pPr eaLnBrk="1" fontAlgn="auto" hangingPunct="1">
              <a:spcBef>
                <a:spcPts val="0"/>
              </a:spcBef>
              <a:spcAft>
                <a:spcPts val="0"/>
              </a:spcAft>
              <a:buFont typeface="Wingdings" pitchFamily="2" charset="2"/>
              <a:buChar char="Ø"/>
              <a:defRPr/>
            </a:pPr>
            <a:r>
              <a:rPr kumimoji="0" lang="en-US" altLang="zh-TW" sz="2400" dirty="0">
                <a:latin typeface="+mn-lt"/>
                <a:ea typeface="+mn-ea"/>
              </a:rPr>
              <a:t>Logistic mapping</a:t>
            </a:r>
            <a:r>
              <a:rPr kumimoji="0" lang="zh-TW" altLang="en-US" sz="2400" dirty="0">
                <a:latin typeface="+mn-lt"/>
                <a:ea typeface="+mn-ea"/>
              </a:rPr>
              <a:t>：</a:t>
            </a:r>
            <a:endParaRPr kumimoji="0" lang="en-US" altLang="zh-TW" sz="2400" dirty="0">
              <a:latin typeface="+mn-lt"/>
              <a:ea typeface="+mn-ea"/>
            </a:endParaRPr>
          </a:p>
          <a:p>
            <a:pPr marL="457200" indent="-457200" eaLnBrk="1" fontAlgn="auto" hangingPunct="1">
              <a:spcBef>
                <a:spcPts val="0"/>
              </a:spcBef>
              <a:spcAft>
                <a:spcPts val="0"/>
              </a:spcAft>
              <a:buFont typeface="Wingdings" pitchFamily="2" charset="2"/>
              <a:buAutoNum type="circleNumWdWhitePlain"/>
              <a:defRPr/>
            </a:pPr>
            <a:r>
              <a:rPr kumimoji="0" lang="en-US" altLang="zh-TW" sz="2400" dirty="0">
                <a:latin typeface="+mn-lt"/>
                <a:ea typeface="+mn-ea"/>
              </a:rPr>
              <a:t>provide </a:t>
            </a:r>
            <a:r>
              <a:rPr kumimoji="0" lang="en-US" altLang="zh-TW" sz="2400" dirty="0">
                <a:solidFill>
                  <a:srgbClr val="0070C0"/>
                </a:solidFill>
                <a:latin typeface="+mn-lt"/>
                <a:ea typeface="+mn-ea"/>
              </a:rPr>
              <a:t>more diversity </a:t>
            </a:r>
            <a:r>
              <a:rPr kumimoji="0" lang="en-US" altLang="zh-TW" sz="2400" dirty="0">
                <a:latin typeface="+mn-lt"/>
                <a:ea typeface="+mn-ea"/>
              </a:rPr>
              <a:t>than randomly selected initial solutions</a:t>
            </a:r>
          </a:p>
          <a:p>
            <a:pPr marL="457200" indent="-457200" eaLnBrk="1" fontAlgn="auto" hangingPunct="1">
              <a:spcBef>
                <a:spcPts val="0"/>
              </a:spcBef>
              <a:spcAft>
                <a:spcPts val="0"/>
              </a:spcAft>
              <a:buFont typeface="Wingdings" pitchFamily="2" charset="2"/>
              <a:buAutoNum type="circleNumWdWhitePlain"/>
              <a:defRPr/>
            </a:pPr>
            <a:r>
              <a:rPr kumimoji="0" lang="en-US" altLang="zh-TW" sz="2400" dirty="0">
                <a:latin typeface="+mn-lt"/>
                <a:ea typeface="+mn-ea"/>
              </a:rPr>
              <a:t>decrease the probability of p</a:t>
            </a:r>
            <a:r>
              <a:rPr kumimoji="0" lang="en-US" altLang="zh-TW" sz="2400" dirty="0">
                <a:solidFill>
                  <a:srgbClr val="0070C0"/>
                </a:solidFill>
                <a:latin typeface="+mn-lt"/>
                <a:ea typeface="+mn-ea"/>
              </a:rPr>
              <a:t>remature occurrence</a:t>
            </a:r>
            <a:endParaRPr kumimoji="0" lang="zh-TW" altLang="en-US" sz="2300" dirty="0">
              <a:solidFill>
                <a:srgbClr val="0070C0"/>
              </a:solidFill>
              <a:latin typeface="+mn-lt"/>
              <a:ea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標題 1"/>
          <p:cNvSpPr>
            <a:spLocks noGrp="1"/>
          </p:cNvSpPr>
          <p:nvPr>
            <p:ph type="title"/>
          </p:nvPr>
        </p:nvSpPr>
        <p:spPr/>
        <p:txBody>
          <a:bodyPr/>
          <a:lstStyle/>
          <a:p>
            <a:pPr algn="l" eaLnBrk="1" hangingPunct="1"/>
            <a:r>
              <a:rPr lang="en-US" altLang="zh-TW"/>
              <a:t>Support vector regression</a:t>
            </a:r>
            <a:endParaRPr lang="zh-TW" altLang="en-US"/>
          </a:p>
        </p:txBody>
      </p:sp>
      <p:sp>
        <p:nvSpPr>
          <p:cNvPr id="13315" name="內容版面配置區 2"/>
          <p:cNvSpPr>
            <a:spLocks noGrp="1"/>
          </p:cNvSpPr>
          <p:nvPr>
            <p:ph idx="1"/>
          </p:nvPr>
        </p:nvSpPr>
        <p:spPr>
          <a:xfrm>
            <a:off x="457200" y="2492375"/>
            <a:ext cx="8075613" cy="2478088"/>
          </a:xfrm>
        </p:spPr>
        <p:txBody>
          <a:bodyPr/>
          <a:lstStyle/>
          <a:p>
            <a:pPr marL="0" indent="0" eaLnBrk="1" hangingPunct="1">
              <a:buFont typeface="Arial" panose="020B0604020202020204" pitchFamily="34" charset="0"/>
              <a:buNone/>
            </a:pPr>
            <a:r>
              <a:rPr lang="en-US" altLang="zh-TW"/>
              <a:t>SVM</a:t>
            </a:r>
            <a:r>
              <a:rPr lang="zh-TW" altLang="en-US"/>
              <a:t>：在找能將資料一分為二的平面，即所謂的分類。</a:t>
            </a:r>
            <a:endParaRPr lang="en-US" altLang="zh-TW"/>
          </a:p>
          <a:p>
            <a:pPr marL="0" indent="0" eaLnBrk="1" hangingPunct="1">
              <a:buFont typeface="Arial" panose="020B0604020202020204" pitchFamily="34" charset="0"/>
              <a:buNone/>
            </a:pPr>
            <a:r>
              <a:rPr lang="en-US" altLang="zh-TW" b="1">
                <a:solidFill>
                  <a:srgbClr val="00B0F0"/>
                </a:solidFill>
              </a:rPr>
              <a:t>SVR</a:t>
            </a:r>
            <a:r>
              <a:rPr lang="zh-TW" altLang="en-US" b="1">
                <a:solidFill>
                  <a:srgbClr val="00B0F0"/>
                </a:solidFill>
              </a:rPr>
              <a:t>：在找能準確預測資料分佈的平面</a:t>
            </a:r>
            <a:r>
              <a:rPr lang="en-US" altLang="zh-TW" b="1">
                <a:solidFill>
                  <a:srgbClr val="00B0F0"/>
                </a:solidFill>
              </a:rPr>
              <a:t>(hyperlane)</a:t>
            </a:r>
            <a:endParaRPr lang="zh-TW" altLang="en-US" b="1">
              <a:solidFill>
                <a:srgbClr val="00B0F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標題 1"/>
          <p:cNvSpPr>
            <a:spLocks noGrp="1"/>
          </p:cNvSpPr>
          <p:nvPr>
            <p:ph type="title"/>
          </p:nvPr>
        </p:nvSpPr>
        <p:spPr/>
        <p:txBody>
          <a:bodyPr/>
          <a:lstStyle/>
          <a:p>
            <a:pPr algn="l" eaLnBrk="1" hangingPunct="1"/>
            <a:r>
              <a:rPr lang="en-US" altLang="zh-TW"/>
              <a:t>Support vector regression</a:t>
            </a:r>
            <a:endParaRPr lang="zh-TW" altLang="en-US"/>
          </a:p>
        </p:txBody>
      </p:sp>
      <p:sp>
        <p:nvSpPr>
          <p:cNvPr id="14339" name="內容版面配置區 2"/>
          <p:cNvSpPr>
            <a:spLocks noGrp="1"/>
          </p:cNvSpPr>
          <p:nvPr>
            <p:ph idx="1"/>
          </p:nvPr>
        </p:nvSpPr>
        <p:spPr>
          <a:xfrm>
            <a:off x="481013" y="1525588"/>
            <a:ext cx="8229600" cy="4525962"/>
          </a:xfrm>
        </p:spPr>
        <p:txBody>
          <a:bodyPr/>
          <a:lstStyle/>
          <a:p>
            <a:pPr marL="0" indent="0" eaLnBrk="1" hangingPunct="1">
              <a:buFont typeface="Arial" panose="020B0604020202020204" pitchFamily="34" charset="0"/>
              <a:buNone/>
            </a:pPr>
            <a:r>
              <a:rPr lang="en-US" altLang="zh-TW" sz="2500"/>
              <a:t>Suppose we are given a set of training patterns </a:t>
            </a:r>
            <a:r>
              <a:rPr lang="es-ES" altLang="zh-TW" sz="2500"/>
              <a:t>(x</a:t>
            </a:r>
            <a:r>
              <a:rPr lang="es-ES" altLang="zh-TW" sz="2500" baseline="-25000"/>
              <a:t>1</a:t>
            </a:r>
            <a:r>
              <a:rPr lang="es-ES" altLang="zh-TW" sz="2500"/>
              <a:t>, y</a:t>
            </a:r>
            <a:r>
              <a:rPr lang="es-ES" altLang="zh-TW" sz="2500" baseline="-25000"/>
              <a:t>1</a:t>
            </a:r>
            <a:r>
              <a:rPr lang="es-ES" altLang="zh-TW" sz="2500"/>
              <a:t>), . . . , (x</a:t>
            </a:r>
            <a:r>
              <a:rPr lang="es-ES" altLang="zh-TW" sz="2500" baseline="-25000">
                <a:latin typeface="Freestyle Script" panose="030804020302050B0404" pitchFamily="66" charset="0"/>
              </a:rPr>
              <a:t>l</a:t>
            </a:r>
            <a:r>
              <a:rPr lang="es-ES" altLang="zh-TW" sz="2500"/>
              <a:t>, y</a:t>
            </a:r>
            <a:r>
              <a:rPr lang="es-ES" altLang="zh-TW" sz="2500" baseline="-25000">
                <a:latin typeface="Freestyle Script" panose="030804020302050B0404" pitchFamily="66" charset="0"/>
              </a:rPr>
              <a:t>l</a:t>
            </a:r>
            <a:r>
              <a:rPr lang="es-ES" altLang="zh-TW" sz="2500"/>
              <a:t>), where x</a:t>
            </a:r>
            <a:r>
              <a:rPr lang="es-ES" altLang="zh-TW" sz="2500" baseline="-25000"/>
              <a:t>i</a:t>
            </a:r>
            <a:r>
              <a:rPr lang="es-ES" altLang="zh-TW" sz="2500"/>
              <a:t> ∈ </a:t>
            </a:r>
            <a:r>
              <a:rPr lang="en-US" altLang="zh-TW" sz="2500" i="1"/>
              <a:t>R</a:t>
            </a:r>
            <a:r>
              <a:rPr lang="en-US" altLang="zh-TW" sz="2500" i="1" baseline="30000"/>
              <a:t>n</a:t>
            </a:r>
            <a:r>
              <a:rPr lang="en-US" altLang="zh-TW" sz="2500"/>
              <a:t>, I =1, 2, . . . , </a:t>
            </a:r>
            <a:r>
              <a:rPr lang="es-ES" altLang="zh-TW" sz="2500">
                <a:latin typeface="Freestyle Script" panose="030804020302050B0404" pitchFamily="66" charset="0"/>
              </a:rPr>
              <a:t>l</a:t>
            </a:r>
            <a:r>
              <a:rPr lang="en-US" altLang="zh-TW" sz="2500"/>
              <a:t> and y</a:t>
            </a:r>
            <a:r>
              <a:rPr lang="en-US" altLang="zh-TW" sz="2500" baseline="-25000"/>
              <a:t>i</a:t>
            </a:r>
            <a:r>
              <a:rPr lang="en-US" altLang="zh-TW" sz="2500"/>
              <a:t> ∈ </a:t>
            </a:r>
            <a:r>
              <a:rPr lang="en-US" altLang="zh-TW" sz="2500" i="1"/>
              <a:t>R</a:t>
            </a:r>
            <a:r>
              <a:rPr lang="en-US" altLang="zh-TW" sz="2500"/>
              <a:t> is the target value for each input vector x</a:t>
            </a:r>
            <a:r>
              <a:rPr lang="en-US" altLang="zh-TW" sz="2500" baseline="-25000"/>
              <a:t>i</a:t>
            </a:r>
            <a:r>
              <a:rPr lang="en-US" altLang="zh-TW" sz="2500"/>
              <a:t>. A regression model is trained by these patterns and used to </a:t>
            </a:r>
            <a:r>
              <a:rPr lang="en-US" altLang="zh-TW" sz="2500">
                <a:solidFill>
                  <a:srgbClr val="0070C0"/>
                </a:solidFill>
              </a:rPr>
              <a:t>predict the future target values.</a:t>
            </a:r>
            <a:endParaRPr lang="zh-TW" altLang="en-US" sz="2500">
              <a:solidFill>
                <a:srgbClr val="0070C0"/>
              </a:solidFill>
            </a:endParaRPr>
          </a:p>
        </p:txBody>
      </p:sp>
      <p:pic>
        <p:nvPicPr>
          <p:cNvPr id="14340" name="圖片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11188" y="3284538"/>
            <a:ext cx="6681787" cy="334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p:cNvSpPr/>
          <p:nvPr/>
        </p:nvSpPr>
        <p:spPr>
          <a:xfrm>
            <a:off x="611188" y="3284538"/>
            <a:ext cx="2016125" cy="50482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TW" altLang="en-US"/>
          </a:p>
        </p:txBody>
      </p:sp>
      <p:sp>
        <p:nvSpPr>
          <p:cNvPr id="9" name="矩形 8"/>
          <p:cNvSpPr/>
          <p:nvPr/>
        </p:nvSpPr>
        <p:spPr>
          <a:xfrm>
            <a:off x="684213" y="5043488"/>
            <a:ext cx="2232025" cy="50482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TW" altLang="en-US"/>
          </a:p>
        </p:txBody>
      </p:sp>
      <p:cxnSp>
        <p:nvCxnSpPr>
          <p:cNvPr id="8" name="直線接點 7"/>
          <p:cNvCxnSpPr/>
          <p:nvPr/>
        </p:nvCxnSpPr>
        <p:spPr>
          <a:xfrm flipV="1">
            <a:off x="1628775" y="4670425"/>
            <a:ext cx="4994275" cy="1588"/>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4975225" y="6134100"/>
            <a:ext cx="2447925" cy="476250"/>
          </a:xfrm>
          <a:prstGeom prst="rect">
            <a:avLst/>
          </a:prstGeom>
          <a:noFill/>
        </p:spPr>
        <p:txBody>
          <a:bodyPr>
            <a:spAutoFit/>
          </a:bodyPr>
          <a:lstStyle/>
          <a:p>
            <a:pPr algn="ctr" eaLnBrk="1" hangingPunct="1">
              <a:defRPr/>
            </a:pPr>
            <a:r>
              <a:rPr lang="zh-TW" altLang="en-US" sz="2500" dirty="0">
                <a:solidFill>
                  <a:srgbClr val="FFC000"/>
                </a:solidFill>
                <a:latin typeface="標楷體" panose="03000509000000000000" pitchFamily="65" charset="-120"/>
                <a:ea typeface="標楷體" panose="03000509000000000000" pitchFamily="65" charset="-120"/>
              </a:rPr>
              <a:t>又稱</a:t>
            </a:r>
            <a:r>
              <a:rPr lang="el-GR" altLang="zh-TW" sz="2500" i="1" dirty="0">
                <a:solidFill>
                  <a:srgbClr val="FFC000"/>
                </a:solidFill>
              </a:rPr>
              <a:t>ε</a:t>
            </a:r>
            <a:r>
              <a:rPr lang="el-GR" altLang="zh-TW" sz="2500" dirty="0">
                <a:solidFill>
                  <a:srgbClr val="FFC000"/>
                </a:solidFill>
              </a:rPr>
              <a:t>-</a:t>
            </a:r>
            <a:r>
              <a:rPr lang="en-US" altLang="zh-TW" sz="2500" dirty="0">
                <a:solidFill>
                  <a:srgbClr val="FFC000"/>
                </a:solidFill>
              </a:rPr>
              <a:t>SVR</a:t>
            </a:r>
            <a:endParaRPr lang="zh-TW" altLang="en-US" sz="2500" dirty="0">
              <a:ln w="0"/>
              <a:solidFill>
                <a:srgbClr val="FFC000"/>
              </a:solidFill>
              <a:effectLst>
                <a:outerShdw blurRad="38100" dist="25400" dir="5400000" algn="ctr" rotWithShape="0">
                  <a:srgbClr val="6E747A">
                    <a:alpha val="43000"/>
                  </a:srgbClr>
                </a:outerShdw>
              </a:effectLs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標題 1"/>
          <p:cNvSpPr>
            <a:spLocks noGrp="1"/>
          </p:cNvSpPr>
          <p:nvPr>
            <p:ph type="title"/>
          </p:nvPr>
        </p:nvSpPr>
        <p:spPr/>
        <p:txBody>
          <a:bodyPr/>
          <a:lstStyle/>
          <a:p>
            <a:pPr algn="l" eaLnBrk="1" hangingPunct="1"/>
            <a:r>
              <a:rPr lang="en-US" altLang="zh-TW"/>
              <a:t>feasibility of SVR</a:t>
            </a:r>
            <a:endParaRPr lang="zh-TW" altLang="en-US"/>
          </a:p>
        </p:txBody>
      </p:sp>
      <p:sp>
        <p:nvSpPr>
          <p:cNvPr id="15363" name="內容版面配置區 2"/>
          <p:cNvSpPr>
            <a:spLocks noGrp="1"/>
          </p:cNvSpPr>
          <p:nvPr>
            <p:ph idx="1"/>
          </p:nvPr>
        </p:nvSpPr>
        <p:spPr>
          <a:xfrm>
            <a:off x="457200" y="1628775"/>
            <a:ext cx="8229600" cy="4525963"/>
          </a:xfrm>
        </p:spPr>
        <p:txBody>
          <a:bodyPr/>
          <a:lstStyle/>
          <a:p>
            <a:pPr marL="0" indent="0" eaLnBrk="1" hangingPunct="1">
              <a:buFont typeface="Arial" panose="020B0604020202020204" pitchFamily="34" charset="0"/>
              <a:buNone/>
            </a:pPr>
            <a:r>
              <a:rPr lang="zh-TW" altLang="en-US" sz="2500">
                <a:latin typeface="標楷體" panose="03000509000000000000" pitchFamily="65" charset="-120"/>
                <a:ea typeface="標楷體" panose="03000509000000000000" pitchFamily="65" charset="-120"/>
              </a:rPr>
              <a:t>在做迴歸時，實際上可能會有雜訊、誤差</a:t>
            </a:r>
            <a:r>
              <a:rPr lang="en-US" altLang="zh-TW" sz="2500">
                <a:latin typeface="標楷體" panose="03000509000000000000" pitchFamily="65" charset="-120"/>
                <a:ea typeface="標楷體" panose="03000509000000000000" pitchFamily="65" charset="-120"/>
              </a:rPr>
              <a:t>…</a:t>
            </a:r>
            <a:r>
              <a:rPr lang="zh-TW" altLang="en-US" sz="2500">
                <a:latin typeface="標楷體" panose="03000509000000000000" pitchFamily="65" charset="-120"/>
                <a:ea typeface="標楷體" panose="03000509000000000000" pitchFamily="65" charset="-120"/>
              </a:rPr>
              <a:t>等，通常使用原始</a:t>
            </a:r>
            <a:r>
              <a:rPr lang="en-US" altLang="zh-TW" sz="2500">
                <a:latin typeface="標楷體" panose="03000509000000000000" pitchFamily="65" charset="-120"/>
                <a:ea typeface="標楷體" panose="03000509000000000000" pitchFamily="65" charset="-120"/>
              </a:rPr>
              <a:t>SVR</a:t>
            </a:r>
            <a:r>
              <a:rPr lang="zh-TW" altLang="en-US" sz="2500">
                <a:latin typeface="標楷體" panose="03000509000000000000" pitchFamily="65" charset="-120"/>
                <a:ea typeface="標楷體" panose="03000509000000000000" pitchFamily="65" charset="-120"/>
              </a:rPr>
              <a:t>不會是</a:t>
            </a:r>
            <a:r>
              <a:rPr lang="en-US" altLang="zh-TW" sz="2500">
                <a:latin typeface="標楷體" panose="03000509000000000000" pitchFamily="65" charset="-120"/>
                <a:ea typeface="標楷體" panose="03000509000000000000" pitchFamily="65" charset="-120"/>
              </a:rPr>
              <a:t>feasible</a:t>
            </a:r>
            <a:r>
              <a:rPr lang="zh-TW" altLang="en-US" sz="2500">
                <a:latin typeface="標楷體" panose="03000509000000000000" pitchFamily="65" charset="-120"/>
                <a:ea typeface="標楷體" panose="03000509000000000000" pitchFamily="65" charset="-120"/>
              </a:rPr>
              <a:t>的，因此額外加入</a:t>
            </a:r>
            <a:r>
              <a:rPr lang="el-GR" altLang="zh-TW" sz="2500">
                <a:latin typeface="新細明體" panose="02020500000000000000" pitchFamily="18" charset="-120"/>
              </a:rPr>
              <a:t>ξ</a:t>
            </a:r>
            <a:r>
              <a:rPr lang="zh-TW" altLang="en-US" sz="2500">
                <a:latin typeface="標楷體" panose="03000509000000000000" pitchFamily="65" charset="-120"/>
                <a:ea typeface="標楷體" panose="03000509000000000000" pitchFamily="65" charset="-120"/>
              </a:rPr>
              <a:t>變數，以容許某些</a:t>
            </a:r>
            <a:r>
              <a:rPr lang="en-US" altLang="zh-TW" sz="2500">
                <a:latin typeface="標楷體" panose="03000509000000000000" pitchFamily="65" charset="-120"/>
                <a:ea typeface="標楷體" panose="03000509000000000000" pitchFamily="65" charset="-120"/>
              </a:rPr>
              <a:t>instances</a:t>
            </a:r>
            <a:r>
              <a:rPr lang="zh-TW" altLang="en-US" sz="2500">
                <a:latin typeface="標楷體" panose="03000509000000000000" pitchFamily="65" charset="-120"/>
                <a:ea typeface="標楷體" panose="03000509000000000000" pitchFamily="65" charset="-120"/>
              </a:rPr>
              <a:t>落在</a:t>
            </a:r>
            <a:r>
              <a:rPr lang="el-GR" altLang="zh-TW" sz="2500" i="1">
                <a:ea typeface="標楷體" panose="03000509000000000000" pitchFamily="65" charset="-120"/>
              </a:rPr>
              <a:t>ε</a:t>
            </a:r>
            <a:r>
              <a:rPr lang="zh-TW" altLang="en-US" sz="2500">
                <a:latin typeface="標楷體" panose="03000509000000000000" pitchFamily="65" charset="-120"/>
                <a:ea typeface="標楷體" panose="03000509000000000000" pitchFamily="65" charset="-120"/>
              </a:rPr>
              <a:t>之外的情況。</a:t>
            </a:r>
          </a:p>
        </p:txBody>
      </p:sp>
      <p:pic>
        <p:nvPicPr>
          <p:cNvPr id="15364" name="圖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71550" y="2997200"/>
            <a:ext cx="6848475" cy="3649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p:cNvSpPr/>
          <p:nvPr/>
        </p:nvSpPr>
        <p:spPr>
          <a:xfrm>
            <a:off x="5292725" y="3892550"/>
            <a:ext cx="358775" cy="104933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TW"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標題 1"/>
          <p:cNvSpPr>
            <a:spLocks noGrp="1"/>
          </p:cNvSpPr>
          <p:nvPr>
            <p:ph type="title"/>
          </p:nvPr>
        </p:nvSpPr>
        <p:spPr>
          <a:xfrm>
            <a:off x="250825" y="112713"/>
            <a:ext cx="8229600" cy="1143000"/>
          </a:xfrm>
        </p:spPr>
        <p:txBody>
          <a:bodyPr/>
          <a:lstStyle/>
          <a:p>
            <a:pPr algn="l" eaLnBrk="1" hangingPunct="1"/>
            <a:r>
              <a:rPr lang="en-US" altLang="zh-TW"/>
              <a:t>Firefly algorithm(FA)</a:t>
            </a:r>
            <a:endParaRPr lang="zh-TW" altLang="en-US"/>
          </a:p>
        </p:txBody>
      </p:sp>
      <p:sp>
        <p:nvSpPr>
          <p:cNvPr id="3" name="文字方塊 2"/>
          <p:cNvSpPr txBox="1"/>
          <p:nvPr/>
        </p:nvSpPr>
        <p:spPr>
          <a:xfrm>
            <a:off x="323850" y="933450"/>
            <a:ext cx="8351838" cy="1754188"/>
          </a:xfrm>
          <a:prstGeom prst="rect">
            <a:avLst/>
          </a:prstGeom>
          <a:noFill/>
        </p:spPr>
        <p:txBody>
          <a:bodyPr>
            <a:spAutoFit/>
          </a:bodyPr>
          <a:lstStyle/>
          <a:p>
            <a:pPr eaLnBrk="1" hangingPunct="1">
              <a:defRPr/>
            </a:pPr>
            <a:r>
              <a:rPr lang="zh-TW" altLang="en-US" dirty="0"/>
              <a:t>三項假設：</a:t>
            </a:r>
            <a:endParaRPr lang="en-US" altLang="zh-TW" dirty="0"/>
          </a:p>
          <a:p>
            <a:pPr marL="342900" indent="-342900" eaLnBrk="1" hangingPunct="1">
              <a:buFont typeface="Wingdings" panose="05000000000000000000" pitchFamily="2" charset="2"/>
              <a:buAutoNum type="circleNumWdWhitePlain"/>
              <a:defRPr/>
            </a:pPr>
            <a:r>
              <a:rPr lang="zh-TW" altLang="en-US" dirty="0"/>
              <a:t>螢火蟲不分性別，這樣一個螢火蟲將會吸引到所有其他的螢火蟲</a:t>
            </a:r>
            <a:r>
              <a:rPr lang="en-US" altLang="zh-TW" dirty="0"/>
              <a:t>;</a:t>
            </a:r>
          </a:p>
          <a:p>
            <a:pPr marL="342900" indent="-342900" eaLnBrk="1" hangingPunct="1">
              <a:buFont typeface="Wingdings" panose="05000000000000000000" pitchFamily="2" charset="2"/>
              <a:buAutoNum type="circleNumWdWhitePlain"/>
              <a:defRPr/>
            </a:pPr>
            <a:r>
              <a:rPr lang="zh-TW" altLang="en-US" dirty="0"/>
              <a:t>吸引力與它們的亮度成正比，對於任何兩個螢火蟲，不那麼明亮的螢火蟲被吸引，因此移動到更亮的一個，然而，亮度又隨著其距離的增加而減少</a:t>
            </a:r>
            <a:r>
              <a:rPr lang="en-US" altLang="zh-TW" dirty="0"/>
              <a:t>;</a:t>
            </a:r>
          </a:p>
          <a:p>
            <a:pPr marL="342900" indent="-342900" eaLnBrk="1" hangingPunct="1">
              <a:buFont typeface="Wingdings" panose="05000000000000000000" pitchFamily="2" charset="2"/>
              <a:buAutoNum type="circleNumWdWhitePlain"/>
              <a:defRPr/>
            </a:pPr>
            <a:r>
              <a:rPr lang="zh-TW" altLang="en-US" dirty="0"/>
              <a:t>如果沒有比一個給定的螢火蟲更亮的螢火蟲，它會隨機移動。</a:t>
            </a:r>
          </a:p>
          <a:p>
            <a:pPr eaLnBrk="1" hangingPunct="1">
              <a:defRPr/>
            </a:pPr>
            <a:endParaRPr lang="zh-TW" altLang="en-US" dirty="0"/>
          </a:p>
        </p:txBody>
      </p:sp>
      <p:pic>
        <p:nvPicPr>
          <p:cNvPr id="16388" name="圖片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06488" y="2855913"/>
            <a:ext cx="3744912" cy="396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9" name="文字方塊 5"/>
          <p:cNvSpPr txBox="1">
            <a:spLocks noChangeArrowheads="1"/>
          </p:cNvSpPr>
          <p:nvPr/>
        </p:nvSpPr>
        <p:spPr bwMode="auto">
          <a:xfrm>
            <a:off x="0" y="2687638"/>
            <a:ext cx="2160588" cy="29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9pPr>
          </a:lstStyle>
          <a:p>
            <a:pPr eaLnBrk="1" hangingPunct="1">
              <a:spcBef>
                <a:spcPct val="0"/>
              </a:spcBef>
              <a:buFontTx/>
              <a:buNone/>
            </a:pPr>
            <a:r>
              <a:rPr lang="en-US" altLang="zh-TW" sz="1300">
                <a:solidFill>
                  <a:srgbClr val="0070C0"/>
                </a:solidFill>
                <a:latin typeface="Arial" panose="020B0604020202020204" pitchFamily="34" charset="0"/>
              </a:rPr>
              <a:t>pseudo code</a:t>
            </a:r>
            <a:endParaRPr lang="zh-TW" altLang="en-US" sz="1300">
              <a:solidFill>
                <a:srgbClr val="0070C0"/>
              </a:solidFill>
              <a:latin typeface="Arial" panose="020B0604020202020204" pitchFamily="34" charset="0"/>
            </a:endParaRPr>
          </a:p>
        </p:txBody>
      </p:sp>
      <p:pic>
        <p:nvPicPr>
          <p:cNvPr id="16390" name="圖片 8"/>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580063" y="2397125"/>
            <a:ext cx="2614612" cy="443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91" name="文字方塊 9"/>
          <p:cNvSpPr txBox="1">
            <a:spLocks noChangeArrowheads="1"/>
          </p:cNvSpPr>
          <p:nvPr/>
        </p:nvSpPr>
        <p:spPr bwMode="auto">
          <a:xfrm>
            <a:off x="4560888" y="2397125"/>
            <a:ext cx="1309687"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9pPr>
          </a:lstStyle>
          <a:p>
            <a:pPr eaLnBrk="1" hangingPunct="1">
              <a:spcBef>
                <a:spcPct val="0"/>
              </a:spcBef>
              <a:buFontTx/>
              <a:buNone/>
            </a:pPr>
            <a:r>
              <a:rPr lang="zh-TW" altLang="en-US" sz="1300">
                <a:solidFill>
                  <a:srgbClr val="0070C0"/>
                </a:solidFill>
                <a:latin typeface="Arial" panose="020B0604020202020204" pitchFamily="34" charset="0"/>
              </a:rPr>
              <a:t>此篇論文的</a:t>
            </a:r>
            <a:r>
              <a:rPr lang="en-US" altLang="zh-TW" sz="1300">
                <a:solidFill>
                  <a:srgbClr val="0070C0"/>
                </a:solidFill>
                <a:latin typeface="Arial" panose="020B0604020202020204" pitchFamily="34" charset="0"/>
              </a:rPr>
              <a:t>chaotic firefly algorithm</a:t>
            </a:r>
            <a:endParaRPr lang="zh-TW" altLang="en-US" sz="1300">
              <a:solidFill>
                <a:srgbClr val="0070C0"/>
              </a:solidFill>
              <a:latin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內容版面配置區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11188" y="1844675"/>
            <a:ext cx="6969125" cy="273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1" name="文字方塊 1"/>
          <p:cNvSpPr txBox="1">
            <a:spLocks noChangeArrowheads="1"/>
          </p:cNvSpPr>
          <p:nvPr/>
        </p:nvSpPr>
        <p:spPr bwMode="auto">
          <a:xfrm>
            <a:off x="723900" y="1125538"/>
            <a:ext cx="31686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9pPr>
          </a:lstStyle>
          <a:p>
            <a:pPr eaLnBrk="1" hangingPunct="1">
              <a:spcBef>
                <a:spcPct val="0"/>
              </a:spcBef>
              <a:buFontTx/>
              <a:buNone/>
            </a:pPr>
            <a:r>
              <a:rPr lang="zh-TW" altLang="en-US" sz="1800">
                <a:solidFill>
                  <a:srgbClr val="0070C0"/>
                </a:solidFill>
                <a:latin typeface="標楷體" panose="03000509000000000000" pitchFamily="65" charset="-120"/>
                <a:ea typeface="標楷體" panose="03000509000000000000" pitchFamily="65" charset="-120"/>
              </a:rPr>
              <a:t>螢火蟲狀態更新公式：</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標題 1"/>
          <p:cNvSpPr>
            <a:spLocks noGrp="1"/>
          </p:cNvSpPr>
          <p:nvPr>
            <p:ph type="title"/>
          </p:nvPr>
        </p:nvSpPr>
        <p:spPr/>
        <p:txBody>
          <a:bodyPr/>
          <a:lstStyle/>
          <a:p>
            <a:pPr eaLnBrk="1" hangingPunct="1"/>
            <a:r>
              <a:rPr lang="en-US" altLang="zh-TW"/>
              <a:t>Proposed integrated algorithm</a:t>
            </a:r>
            <a:endParaRPr lang="zh-TW" altLang="en-US"/>
          </a:p>
        </p:txBody>
      </p:sp>
      <p:sp>
        <p:nvSpPr>
          <p:cNvPr id="16387" name="內容版面配置區 2"/>
          <p:cNvSpPr>
            <a:spLocks noGrp="1"/>
          </p:cNvSpPr>
          <p:nvPr>
            <p:ph idx="1"/>
          </p:nvPr>
        </p:nvSpPr>
        <p:spPr/>
        <p:txBody>
          <a:bodyPr/>
          <a:lstStyle/>
          <a:p>
            <a:pPr marL="0" indent="0" eaLnBrk="1" hangingPunct="1">
              <a:buFont typeface="Arial" panose="020B0604020202020204" pitchFamily="34" charset="0"/>
              <a:buNone/>
              <a:defRPr/>
            </a:pPr>
            <a:r>
              <a:rPr lang="en-US" altLang="zh-TW" sz="2500" b="1" dirty="0"/>
              <a:t>Data preprocessing</a:t>
            </a:r>
          </a:p>
          <a:p>
            <a:pPr marL="0" indent="0" eaLnBrk="1" hangingPunct="1">
              <a:buFont typeface="Arial" panose="020B0604020202020204" pitchFamily="34" charset="0"/>
              <a:buNone/>
              <a:defRPr/>
            </a:pPr>
            <a:r>
              <a:rPr lang="en-US" altLang="zh-TW" sz="2300" b="1" dirty="0">
                <a:latin typeface="標楷體" panose="03000509000000000000" pitchFamily="65" charset="-120"/>
                <a:ea typeface="標楷體" panose="03000509000000000000" pitchFamily="65" charset="-120"/>
              </a:rPr>
              <a:t>First</a:t>
            </a:r>
            <a:r>
              <a:rPr lang="zh-TW" altLang="en-US" sz="2300" b="1" dirty="0">
                <a:latin typeface="標楷體" panose="03000509000000000000" pitchFamily="65" charset="-120"/>
                <a:ea typeface="標楷體" panose="03000509000000000000" pitchFamily="65" charset="-120"/>
              </a:rPr>
              <a:t>：</a:t>
            </a:r>
            <a:endParaRPr lang="en-US" altLang="zh-TW" sz="2300" b="1" dirty="0">
              <a:latin typeface="標楷體" panose="03000509000000000000" pitchFamily="65" charset="-120"/>
              <a:ea typeface="標楷體" panose="03000509000000000000" pitchFamily="65" charset="-120"/>
            </a:endParaRPr>
          </a:p>
          <a:p>
            <a:pPr marL="0" indent="0" eaLnBrk="1" hangingPunct="1">
              <a:buFont typeface="Arial" panose="020B0604020202020204" pitchFamily="34" charset="0"/>
              <a:buNone/>
              <a:defRPr/>
            </a:pPr>
            <a:r>
              <a:rPr lang="zh-TW" altLang="en-US" sz="2300" dirty="0">
                <a:latin typeface="標楷體" panose="03000509000000000000" pitchFamily="65" charset="-120"/>
                <a:ea typeface="標楷體" panose="03000509000000000000" pitchFamily="65" charset="-120"/>
              </a:rPr>
              <a:t>對時間序列使用</a:t>
            </a:r>
            <a:r>
              <a:rPr lang="en-US" altLang="zh-TW" sz="2300" dirty="0">
                <a:latin typeface="標楷體" panose="03000509000000000000" pitchFamily="65" charset="-120"/>
                <a:ea typeface="標楷體" panose="03000509000000000000" pitchFamily="65" charset="-120"/>
              </a:rPr>
              <a:t>MI function</a:t>
            </a:r>
            <a:r>
              <a:rPr lang="zh-TW" altLang="en-US" sz="2300" dirty="0">
                <a:latin typeface="標楷體" panose="03000509000000000000" pitchFamily="65" charset="-120"/>
                <a:ea typeface="標楷體" panose="03000509000000000000" pitchFamily="65" charset="-120"/>
              </a:rPr>
              <a:t>做計算</a:t>
            </a:r>
            <a:endParaRPr lang="en-US" altLang="zh-TW" sz="2300" dirty="0">
              <a:latin typeface="標楷體" panose="03000509000000000000" pitchFamily="65" charset="-120"/>
              <a:ea typeface="標楷體" panose="03000509000000000000" pitchFamily="65" charset="-120"/>
            </a:endParaRPr>
          </a:p>
          <a:p>
            <a:pPr marL="0" indent="0" eaLnBrk="1" hangingPunct="1">
              <a:buFont typeface="Arial" panose="020B0604020202020204" pitchFamily="34" charset="0"/>
              <a:buNone/>
              <a:defRPr/>
            </a:pPr>
            <a:r>
              <a:rPr lang="en-US" altLang="zh-TW" sz="2300" b="1" dirty="0">
                <a:latin typeface="標楷體" panose="03000509000000000000" pitchFamily="65" charset="-120"/>
                <a:ea typeface="標楷體" panose="03000509000000000000" pitchFamily="65" charset="-120"/>
              </a:rPr>
              <a:t>Second</a:t>
            </a:r>
            <a:r>
              <a:rPr lang="zh-TW" altLang="en-US" sz="2300" b="1" dirty="0">
                <a:latin typeface="標楷體" panose="03000509000000000000" pitchFamily="65" charset="-120"/>
                <a:ea typeface="標楷體" panose="03000509000000000000" pitchFamily="65" charset="-120"/>
              </a:rPr>
              <a:t>：</a:t>
            </a:r>
            <a:endParaRPr lang="en-US" altLang="zh-TW" sz="2300" b="1" dirty="0">
              <a:latin typeface="標楷體" panose="03000509000000000000" pitchFamily="65" charset="-120"/>
              <a:ea typeface="標楷體" panose="03000509000000000000" pitchFamily="65" charset="-120"/>
            </a:endParaRPr>
          </a:p>
          <a:p>
            <a:pPr marL="0" indent="0" eaLnBrk="1" hangingPunct="1">
              <a:buFont typeface="Arial" panose="020B0604020202020204" pitchFamily="34" charset="0"/>
              <a:buNone/>
              <a:defRPr/>
            </a:pPr>
            <a:r>
              <a:rPr lang="en-US" altLang="zh-TW" sz="2300" dirty="0">
                <a:latin typeface="標楷體" panose="03000509000000000000" pitchFamily="65" charset="-120"/>
                <a:ea typeface="標楷體" panose="03000509000000000000" pitchFamily="65" charset="-120"/>
              </a:rPr>
              <a:t>first delay time</a:t>
            </a:r>
            <a:r>
              <a:rPr lang="zh-TW" altLang="en-US" sz="2300" dirty="0">
                <a:latin typeface="標楷體" panose="03000509000000000000" pitchFamily="65" charset="-120"/>
                <a:ea typeface="標楷體" panose="03000509000000000000" pitchFamily="65" charset="-120"/>
              </a:rPr>
              <a:t>，即</a:t>
            </a:r>
            <a:r>
              <a:rPr lang="en-US" altLang="zh-TW" sz="2300" dirty="0">
                <a:latin typeface="標楷體" panose="03000509000000000000" pitchFamily="65" charset="-120"/>
                <a:ea typeface="標楷體" panose="03000509000000000000" pitchFamily="65" charset="-120"/>
              </a:rPr>
              <a:t>MI function</a:t>
            </a:r>
            <a:r>
              <a:rPr lang="zh-TW" altLang="en-US" sz="2300" dirty="0">
                <a:latin typeface="標楷體" panose="03000509000000000000" pitchFamily="65" charset="-120"/>
                <a:ea typeface="標楷體" panose="03000509000000000000" pitchFamily="65" charset="-120"/>
              </a:rPr>
              <a:t>最小值，被認為最佳的</a:t>
            </a:r>
            <a:r>
              <a:rPr lang="en-US" altLang="zh-TW" sz="2300" dirty="0">
                <a:latin typeface="標楷體" panose="03000509000000000000" pitchFamily="65" charset="-120"/>
                <a:ea typeface="標楷體" panose="03000509000000000000" pitchFamily="65" charset="-120"/>
              </a:rPr>
              <a:t>time delay value</a:t>
            </a:r>
          </a:p>
          <a:p>
            <a:pPr marL="0" indent="0" eaLnBrk="1" hangingPunct="1">
              <a:buFont typeface="Arial" panose="020B0604020202020204" pitchFamily="34" charset="0"/>
              <a:buNone/>
              <a:defRPr/>
            </a:pPr>
            <a:r>
              <a:rPr lang="en-US" altLang="zh-TW" sz="2300" b="1" dirty="0">
                <a:latin typeface="標楷體" panose="03000509000000000000" pitchFamily="65" charset="-120"/>
                <a:ea typeface="標楷體" panose="03000509000000000000" pitchFamily="65" charset="-120"/>
              </a:rPr>
              <a:t>Third</a:t>
            </a:r>
            <a:r>
              <a:rPr lang="zh-TW" altLang="en-US" sz="2300" b="1" dirty="0">
                <a:latin typeface="標楷體" panose="03000509000000000000" pitchFamily="65" charset="-120"/>
                <a:ea typeface="標楷體" panose="03000509000000000000" pitchFamily="65" charset="-120"/>
              </a:rPr>
              <a:t>：</a:t>
            </a:r>
            <a:endParaRPr lang="en-US" altLang="zh-TW" sz="2300" b="1" dirty="0">
              <a:latin typeface="標楷體" panose="03000509000000000000" pitchFamily="65" charset="-120"/>
              <a:ea typeface="標楷體" panose="03000509000000000000" pitchFamily="65" charset="-120"/>
            </a:endParaRPr>
          </a:p>
          <a:p>
            <a:pPr marL="0" indent="0" eaLnBrk="1" hangingPunct="1">
              <a:buFont typeface="Arial" panose="020B0604020202020204" pitchFamily="34" charset="0"/>
              <a:buNone/>
              <a:defRPr/>
            </a:pPr>
            <a:r>
              <a:rPr lang="en-US" altLang="zh-TW" sz="2300" dirty="0">
                <a:latin typeface="標楷體" panose="03000509000000000000" pitchFamily="65" charset="-120"/>
                <a:ea typeface="標楷體" panose="03000509000000000000" pitchFamily="65" charset="-120"/>
              </a:rPr>
              <a:t>FNN</a:t>
            </a:r>
            <a:r>
              <a:rPr lang="zh-TW" altLang="en-US" sz="2300" dirty="0">
                <a:latin typeface="標楷體" panose="03000509000000000000" pitchFamily="65" charset="-120"/>
                <a:ea typeface="標楷體" panose="03000509000000000000" pitchFamily="65" charset="-120"/>
              </a:rPr>
              <a:t>方法用來找</a:t>
            </a:r>
            <a:r>
              <a:rPr lang="en-US" altLang="zh-TW" sz="2300" dirty="0">
                <a:latin typeface="標楷體" panose="03000509000000000000" pitchFamily="65" charset="-120"/>
                <a:ea typeface="標楷體" panose="03000509000000000000" pitchFamily="65" charset="-120"/>
              </a:rPr>
              <a:t>minimum sufficient embedding dimension</a:t>
            </a:r>
          </a:p>
          <a:p>
            <a:pPr marL="0" indent="0" eaLnBrk="1" hangingPunct="1">
              <a:buFont typeface="Arial" panose="020B0604020202020204" pitchFamily="34" charset="0"/>
              <a:buNone/>
              <a:defRPr/>
            </a:pPr>
            <a:r>
              <a:rPr lang="en-US" altLang="zh-TW" sz="2300" b="1" dirty="0">
                <a:latin typeface="標楷體" panose="03000509000000000000" pitchFamily="65" charset="-120"/>
                <a:ea typeface="標楷體" panose="03000509000000000000" pitchFamily="65" charset="-120"/>
              </a:rPr>
              <a:t>Fourth</a:t>
            </a:r>
            <a:r>
              <a:rPr lang="zh-TW" altLang="en-US" sz="2300" b="1" dirty="0">
                <a:latin typeface="標楷體" panose="03000509000000000000" pitchFamily="65" charset="-120"/>
                <a:ea typeface="標楷體" panose="03000509000000000000" pitchFamily="65" charset="-120"/>
              </a:rPr>
              <a:t>：</a:t>
            </a:r>
            <a:endParaRPr lang="en-US" altLang="zh-TW" sz="2300" b="1" dirty="0">
              <a:latin typeface="標楷體" panose="03000509000000000000" pitchFamily="65" charset="-120"/>
              <a:ea typeface="標楷體" panose="03000509000000000000" pitchFamily="65" charset="-120"/>
            </a:endParaRPr>
          </a:p>
          <a:p>
            <a:pPr marL="457200" indent="-457200" eaLnBrk="1" hangingPunct="1">
              <a:buFont typeface="Wingdings" panose="05000000000000000000" pitchFamily="2" charset="2"/>
              <a:buAutoNum type="circleNumWdWhitePlain"/>
              <a:defRPr/>
            </a:pPr>
            <a:r>
              <a:rPr lang="en-US" altLang="zh-TW" sz="2300" dirty="0">
                <a:latin typeface="標楷體" panose="03000509000000000000" pitchFamily="65" charset="-120"/>
                <a:ea typeface="標楷體" panose="03000509000000000000" pitchFamily="65" charset="-120"/>
              </a:rPr>
              <a:t>time series phase space is reconstructed</a:t>
            </a:r>
          </a:p>
          <a:p>
            <a:pPr marL="457200" indent="-457200" eaLnBrk="1" hangingPunct="1">
              <a:buFont typeface="Wingdings" panose="05000000000000000000" pitchFamily="2" charset="2"/>
              <a:buAutoNum type="circleNumWdWhitePlain"/>
              <a:defRPr/>
            </a:pPr>
            <a:r>
              <a:rPr lang="en-US" altLang="zh-TW" sz="2300" dirty="0">
                <a:latin typeface="標楷體" panose="03000509000000000000" pitchFamily="65" charset="-120"/>
                <a:ea typeface="標楷體" panose="03000509000000000000" pitchFamily="65" charset="-120"/>
              </a:rPr>
              <a:t>normalize</a:t>
            </a:r>
          </a:p>
          <a:p>
            <a:pPr marL="0" indent="0" eaLnBrk="1" hangingPunct="1">
              <a:buFont typeface="Arial" panose="020B0604020202020204" pitchFamily="34" charset="0"/>
              <a:buNone/>
              <a:defRPr/>
            </a:pPr>
            <a:r>
              <a:rPr lang="en-US" altLang="zh-TW" sz="2300" b="1" dirty="0">
                <a:latin typeface="標楷體" panose="03000509000000000000" pitchFamily="65" charset="-120"/>
                <a:ea typeface="標楷體" panose="03000509000000000000" pitchFamily="65" charset="-120"/>
              </a:rPr>
              <a:t>Finally</a:t>
            </a:r>
            <a:r>
              <a:rPr lang="zh-TW" altLang="en-US" sz="2300" b="1" dirty="0">
                <a:latin typeface="標楷體" panose="03000509000000000000" pitchFamily="65" charset="-120"/>
                <a:ea typeface="標楷體" panose="03000509000000000000" pitchFamily="65" charset="-120"/>
              </a:rPr>
              <a:t>：</a:t>
            </a:r>
            <a:r>
              <a:rPr lang="zh-TW" altLang="en-US" sz="2300" dirty="0">
                <a:latin typeface="標楷體" panose="03000509000000000000" pitchFamily="65" charset="-120"/>
                <a:ea typeface="標楷體" panose="03000509000000000000" pitchFamily="65" charset="-120"/>
              </a:rPr>
              <a:t>分成訓練集和測試集</a:t>
            </a:r>
            <a:endParaRPr lang="en-US" altLang="zh-TW" sz="2300" dirty="0">
              <a:latin typeface="標楷體" panose="03000509000000000000" pitchFamily="65" charset="-120"/>
              <a:ea typeface="標楷體" panose="03000509000000000000" pitchFamily="65" charset="-120"/>
            </a:endParaRPr>
          </a:p>
          <a:p>
            <a:pPr marL="0" indent="0" eaLnBrk="1" hangingPunct="1">
              <a:buFont typeface="Arial" panose="020B0604020202020204" pitchFamily="34" charset="0"/>
              <a:buNone/>
              <a:defRPr/>
            </a:pPr>
            <a:endParaRPr lang="zh-TW" altLang="en-US" sz="2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標題 1"/>
          <p:cNvSpPr>
            <a:spLocks noGrp="1"/>
          </p:cNvSpPr>
          <p:nvPr>
            <p:ph type="title"/>
          </p:nvPr>
        </p:nvSpPr>
        <p:spPr/>
        <p:txBody>
          <a:bodyPr/>
          <a:lstStyle/>
          <a:p>
            <a:pPr eaLnBrk="1" hangingPunct="1"/>
            <a:endParaRPr lang="zh-TW" altLang="en-US"/>
          </a:p>
        </p:txBody>
      </p:sp>
      <p:pic>
        <p:nvPicPr>
          <p:cNvPr id="19459"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442913" y="476250"/>
            <a:ext cx="3743325" cy="5884863"/>
          </a:xfr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標題 1"/>
          <p:cNvSpPr>
            <a:spLocks noGrp="1"/>
          </p:cNvSpPr>
          <p:nvPr>
            <p:ph type="title"/>
          </p:nvPr>
        </p:nvSpPr>
        <p:spPr>
          <a:xfrm>
            <a:off x="323850" y="125413"/>
            <a:ext cx="8229600" cy="1143000"/>
          </a:xfrm>
        </p:spPr>
        <p:txBody>
          <a:bodyPr/>
          <a:lstStyle/>
          <a:p>
            <a:pPr algn="l" eaLnBrk="1" hangingPunct="1"/>
            <a:r>
              <a:rPr lang="en-US" altLang="zh-TW"/>
              <a:t>Chaotic firefly algorithm</a:t>
            </a:r>
            <a:endParaRPr lang="zh-TW" altLang="en-US"/>
          </a:p>
        </p:txBody>
      </p:sp>
      <p:sp>
        <p:nvSpPr>
          <p:cNvPr id="20483" name="內容版面配置區 5"/>
          <p:cNvSpPr>
            <a:spLocks noGrp="1"/>
          </p:cNvSpPr>
          <p:nvPr>
            <p:ph idx="1"/>
          </p:nvPr>
        </p:nvSpPr>
        <p:spPr>
          <a:xfrm>
            <a:off x="323850" y="1077913"/>
            <a:ext cx="4330700" cy="965200"/>
          </a:xfrm>
        </p:spPr>
        <p:txBody>
          <a:bodyPr/>
          <a:lstStyle/>
          <a:p>
            <a:pPr eaLnBrk="1" hangingPunct="1"/>
            <a:r>
              <a:rPr lang="zh-TW" altLang="en-US"/>
              <a:t>最佳化參數值</a:t>
            </a:r>
          </a:p>
        </p:txBody>
      </p:sp>
      <p:pic>
        <p:nvPicPr>
          <p:cNvPr id="20484" name="圖片 6"/>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68313" y="1700213"/>
            <a:ext cx="5832475" cy="3436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5" name="內容版面配置區 3"/>
          <p:cNvPicPr>
            <a:picLocks noChangeAspect="1"/>
          </p:cNvPicPr>
          <p:nvPr/>
        </p:nvPicPr>
        <p:blipFill>
          <a:blip r:embed="rId3">
            <a:extLst>
              <a:ext uri="{28A0092B-C50C-407E-A947-70E740481C1C}">
                <a14:useLocalDpi xmlns:a14="http://schemas.microsoft.com/office/drawing/2010/main" val="0"/>
              </a:ext>
            </a:extLst>
          </a:blip>
          <a:srcRect b="73184"/>
          <a:stretch>
            <a:fillRect/>
          </a:stretch>
        </p:blipFill>
        <p:spPr bwMode="auto">
          <a:xfrm>
            <a:off x="627063" y="5229225"/>
            <a:ext cx="5673725" cy="1349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 name="直線接點 9"/>
          <p:cNvCxnSpPr/>
          <p:nvPr/>
        </p:nvCxnSpPr>
        <p:spPr>
          <a:xfrm>
            <a:off x="1258888" y="2852738"/>
            <a:ext cx="3673475"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直線接點 10"/>
          <p:cNvCxnSpPr/>
          <p:nvPr/>
        </p:nvCxnSpPr>
        <p:spPr>
          <a:xfrm>
            <a:off x="1258888" y="5516563"/>
            <a:ext cx="50419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直線接點 12"/>
          <p:cNvCxnSpPr/>
          <p:nvPr/>
        </p:nvCxnSpPr>
        <p:spPr>
          <a:xfrm>
            <a:off x="982663" y="5805488"/>
            <a:ext cx="517366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直線接點 14"/>
          <p:cNvCxnSpPr/>
          <p:nvPr/>
        </p:nvCxnSpPr>
        <p:spPr>
          <a:xfrm>
            <a:off x="1125538" y="6165850"/>
            <a:ext cx="517525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內容版面配置區 3"/>
          <p:cNvPicPr>
            <a:picLocks noChangeAspect="1"/>
          </p:cNvPicPr>
          <p:nvPr/>
        </p:nvPicPr>
        <p:blipFill>
          <a:blip r:embed="rId2">
            <a:extLst>
              <a:ext uri="{28A0092B-C50C-407E-A947-70E740481C1C}">
                <a14:useLocalDpi xmlns:a14="http://schemas.microsoft.com/office/drawing/2010/main" val="0"/>
              </a:ext>
            </a:extLst>
          </a:blip>
          <a:srcRect t="26424"/>
          <a:stretch>
            <a:fillRect/>
          </a:stretch>
        </p:blipFill>
        <p:spPr bwMode="auto">
          <a:xfrm>
            <a:off x="684213" y="836613"/>
            <a:ext cx="5672137" cy="370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 name="直線接點 5"/>
          <p:cNvCxnSpPr/>
          <p:nvPr/>
        </p:nvCxnSpPr>
        <p:spPr>
          <a:xfrm flipV="1">
            <a:off x="1336675" y="1082675"/>
            <a:ext cx="2197100" cy="793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直線接點 7"/>
          <p:cNvCxnSpPr/>
          <p:nvPr/>
        </p:nvCxnSpPr>
        <p:spPr>
          <a:xfrm flipV="1">
            <a:off x="1336675" y="3284538"/>
            <a:ext cx="2632075" cy="793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圖片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71550" y="1412875"/>
            <a:ext cx="5329238" cy="297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 name="直線接點 5"/>
          <p:cNvCxnSpPr/>
          <p:nvPr/>
        </p:nvCxnSpPr>
        <p:spPr>
          <a:xfrm>
            <a:off x="3201988" y="3097213"/>
            <a:ext cx="3030537" cy="952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直線接點 7"/>
          <p:cNvCxnSpPr/>
          <p:nvPr/>
        </p:nvCxnSpPr>
        <p:spPr>
          <a:xfrm flipV="1">
            <a:off x="1504950" y="3328988"/>
            <a:ext cx="4710113" cy="2540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直線接點 9"/>
          <p:cNvCxnSpPr/>
          <p:nvPr/>
        </p:nvCxnSpPr>
        <p:spPr>
          <a:xfrm>
            <a:off x="1501775" y="3576638"/>
            <a:ext cx="4713288" cy="158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圖片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95288" y="476250"/>
            <a:ext cx="7632700" cy="603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標題 1"/>
          <p:cNvSpPr>
            <a:spLocks noGrp="1"/>
          </p:cNvSpPr>
          <p:nvPr>
            <p:ph type="title"/>
          </p:nvPr>
        </p:nvSpPr>
        <p:spPr/>
        <p:txBody>
          <a:bodyPr/>
          <a:lstStyle/>
          <a:p>
            <a:pPr eaLnBrk="1" hangingPunct="1"/>
            <a:endParaRPr lang="zh-TW" altLang="en-US"/>
          </a:p>
        </p:txBody>
      </p:sp>
      <p:pic>
        <p:nvPicPr>
          <p:cNvPr id="24579"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1979613" y="2133600"/>
            <a:ext cx="4800600" cy="3286125"/>
          </a:xfr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1042988" y="2420938"/>
            <a:ext cx="7075487" cy="1800225"/>
          </a:xfrm>
        </p:spPr>
      </p:pic>
      <p:sp>
        <p:nvSpPr>
          <p:cNvPr id="25603" name="文字方塊 4"/>
          <p:cNvSpPr txBox="1">
            <a:spLocks noChangeArrowheads="1"/>
          </p:cNvSpPr>
          <p:nvPr/>
        </p:nvSpPr>
        <p:spPr bwMode="auto">
          <a:xfrm>
            <a:off x="1019175" y="4508500"/>
            <a:ext cx="7561263"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9pPr>
          </a:lstStyle>
          <a:p>
            <a:pPr eaLnBrk="1" hangingPunct="1">
              <a:spcBef>
                <a:spcPct val="0"/>
              </a:spcBef>
              <a:buFontTx/>
              <a:buNone/>
            </a:pPr>
            <a:r>
              <a:rPr kumimoji="0" lang="en-US" altLang="zh-TW" sz="2300"/>
              <a:t>m : the embedding dimension of reconstructed phase space</a:t>
            </a:r>
          </a:p>
          <a:p>
            <a:pPr eaLnBrk="1" hangingPunct="1">
              <a:spcBef>
                <a:spcPct val="0"/>
              </a:spcBef>
              <a:buFontTx/>
              <a:buNone/>
            </a:pPr>
            <a:r>
              <a:rPr kumimoji="0" lang="en-US" altLang="zh-TW" sz="2300"/>
              <a:t> </a:t>
            </a:r>
            <a:r>
              <a:rPr kumimoji="0" lang="el-GR" altLang="zh-TW" sz="2300">
                <a:ea typeface="標楷體" panose="03000509000000000000" pitchFamily="65" charset="-120"/>
              </a:rPr>
              <a:t>τ</a:t>
            </a:r>
            <a:r>
              <a:rPr kumimoji="0" lang="en-US" altLang="zh-TW" sz="2300">
                <a:ea typeface="標楷體" panose="03000509000000000000" pitchFamily="65" charset="-120"/>
              </a:rPr>
              <a:t> : </a:t>
            </a:r>
            <a:r>
              <a:rPr kumimoji="0" lang="en-US" altLang="zh-TW" sz="2300"/>
              <a:t>the time delay constant.</a:t>
            </a:r>
            <a:endParaRPr kumimoji="0" lang="zh-TW" altLang="en-US" sz="23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標題 1"/>
          <p:cNvSpPr>
            <a:spLocks noGrp="1"/>
          </p:cNvSpPr>
          <p:nvPr>
            <p:ph type="title"/>
          </p:nvPr>
        </p:nvSpPr>
        <p:spPr>
          <a:xfrm>
            <a:off x="457200" y="274638"/>
            <a:ext cx="3898900" cy="130175"/>
          </a:xfrm>
        </p:spPr>
        <p:txBody>
          <a:bodyPr/>
          <a:lstStyle/>
          <a:p>
            <a:pPr eaLnBrk="1" hangingPunct="1"/>
            <a:r>
              <a:rPr lang="zh-TW" altLang="en-US"/>
              <a:t>參數最佳化</a:t>
            </a:r>
          </a:p>
        </p:txBody>
      </p:sp>
      <p:pic>
        <p:nvPicPr>
          <p:cNvPr id="26627"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827088" y="908050"/>
            <a:ext cx="7448550" cy="5459413"/>
          </a:xfr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標題 1"/>
          <p:cNvSpPr>
            <a:spLocks noGrp="1"/>
          </p:cNvSpPr>
          <p:nvPr>
            <p:ph type="title"/>
          </p:nvPr>
        </p:nvSpPr>
        <p:spPr>
          <a:xfrm>
            <a:off x="457200" y="274638"/>
            <a:ext cx="2098675" cy="417512"/>
          </a:xfrm>
        </p:spPr>
        <p:txBody>
          <a:bodyPr/>
          <a:lstStyle/>
          <a:p>
            <a:pPr eaLnBrk="1" hangingPunct="1"/>
            <a:r>
              <a:rPr lang="en-US" altLang="zh-TW"/>
              <a:t>Intel</a:t>
            </a:r>
            <a:endParaRPr lang="zh-TW" altLang="en-US"/>
          </a:p>
        </p:txBody>
      </p:sp>
      <p:pic>
        <p:nvPicPr>
          <p:cNvPr id="27651"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2484438" y="188913"/>
            <a:ext cx="4895850" cy="6365875"/>
          </a:xfr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標題 1"/>
          <p:cNvSpPr>
            <a:spLocks noGrp="1"/>
          </p:cNvSpPr>
          <p:nvPr>
            <p:ph type="title"/>
          </p:nvPr>
        </p:nvSpPr>
        <p:spPr/>
        <p:txBody>
          <a:bodyPr/>
          <a:lstStyle/>
          <a:p>
            <a:pPr eaLnBrk="1" hangingPunct="1"/>
            <a:endParaRPr lang="zh-TW" altLang="en-US"/>
          </a:p>
        </p:txBody>
      </p:sp>
      <p:pic>
        <p:nvPicPr>
          <p:cNvPr id="28675"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2124075" y="176213"/>
            <a:ext cx="5535613" cy="6704012"/>
          </a:xfr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標題 1"/>
          <p:cNvSpPr>
            <a:spLocks noGrp="1"/>
          </p:cNvSpPr>
          <p:nvPr>
            <p:ph type="title"/>
          </p:nvPr>
        </p:nvSpPr>
        <p:spPr>
          <a:xfrm>
            <a:off x="457200" y="274638"/>
            <a:ext cx="2459038" cy="1066800"/>
          </a:xfrm>
        </p:spPr>
        <p:txBody>
          <a:bodyPr/>
          <a:lstStyle/>
          <a:p>
            <a:pPr eaLnBrk="1" hangingPunct="1"/>
            <a:r>
              <a:rPr lang="en-US" altLang="zh-TW"/>
              <a:t>Microsoft</a:t>
            </a:r>
            <a:endParaRPr lang="zh-TW" altLang="en-US"/>
          </a:p>
        </p:txBody>
      </p:sp>
      <p:pic>
        <p:nvPicPr>
          <p:cNvPr id="29699"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2987675" y="214313"/>
            <a:ext cx="5183188" cy="6635750"/>
          </a:xfr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標題 1"/>
          <p:cNvSpPr>
            <a:spLocks noGrp="1"/>
          </p:cNvSpPr>
          <p:nvPr>
            <p:ph type="title"/>
          </p:nvPr>
        </p:nvSpPr>
        <p:spPr/>
        <p:txBody>
          <a:bodyPr/>
          <a:lstStyle/>
          <a:p>
            <a:pPr eaLnBrk="1" hangingPunct="1"/>
            <a:endParaRPr lang="zh-TW" altLang="en-US"/>
          </a:p>
        </p:txBody>
      </p:sp>
      <p:sp>
        <p:nvSpPr>
          <p:cNvPr id="30723" name="內容版面配置區 2"/>
          <p:cNvSpPr>
            <a:spLocks noGrp="1"/>
          </p:cNvSpPr>
          <p:nvPr>
            <p:ph idx="1"/>
          </p:nvPr>
        </p:nvSpPr>
        <p:spPr/>
        <p:txBody>
          <a:bodyPr/>
          <a:lstStyle/>
          <a:p>
            <a:pPr eaLnBrk="1" hangingPunct="1"/>
            <a:endParaRPr lang="zh-TW" altLang="en-US"/>
          </a:p>
        </p:txBody>
      </p:sp>
      <p:pic>
        <p:nvPicPr>
          <p:cNvPr id="30724" name="圖片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132138" y="188913"/>
            <a:ext cx="5367337" cy="642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755650" y="476250"/>
            <a:ext cx="7646988" cy="5976938"/>
          </a:xfrm>
        </p:spPr>
      </p:pic>
      <p:sp>
        <p:nvSpPr>
          <p:cNvPr id="31747" name="文字方塊 4"/>
          <p:cNvSpPr txBox="1">
            <a:spLocks noChangeArrowheads="1"/>
          </p:cNvSpPr>
          <p:nvPr/>
        </p:nvSpPr>
        <p:spPr bwMode="auto">
          <a:xfrm>
            <a:off x="835025" y="1530350"/>
            <a:ext cx="2889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9pPr>
          </a:lstStyle>
          <a:p>
            <a:pPr eaLnBrk="1" hangingPunct="1">
              <a:spcBef>
                <a:spcPct val="0"/>
              </a:spcBef>
              <a:buFontTx/>
              <a:buNone/>
            </a:pPr>
            <a:r>
              <a:rPr lang="en-US" altLang="zh-TW" sz="1800">
                <a:solidFill>
                  <a:srgbClr val="FFC000"/>
                </a:solidFill>
                <a:latin typeface="Arial" panose="020B0604020202020204" pitchFamily="34" charset="0"/>
              </a:rPr>
              <a:t>6</a:t>
            </a:r>
            <a:endParaRPr lang="zh-TW" altLang="en-US" sz="1800">
              <a:solidFill>
                <a:srgbClr val="FFC000"/>
              </a:solidFill>
              <a:latin typeface="Arial" panose="020B0604020202020204" pitchFamily="34" charset="0"/>
            </a:endParaRPr>
          </a:p>
        </p:txBody>
      </p:sp>
      <p:sp>
        <p:nvSpPr>
          <p:cNvPr id="31748" name="文字方塊 5"/>
          <p:cNvSpPr txBox="1">
            <a:spLocks noChangeArrowheads="1"/>
          </p:cNvSpPr>
          <p:nvPr/>
        </p:nvSpPr>
        <p:spPr bwMode="auto">
          <a:xfrm>
            <a:off x="817563" y="1776413"/>
            <a:ext cx="2159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9pPr>
          </a:lstStyle>
          <a:p>
            <a:pPr eaLnBrk="1" hangingPunct="1">
              <a:spcBef>
                <a:spcPct val="0"/>
              </a:spcBef>
              <a:buFontTx/>
              <a:buNone/>
            </a:pPr>
            <a:r>
              <a:rPr lang="en-US" altLang="zh-TW" sz="1800">
                <a:solidFill>
                  <a:srgbClr val="FFC000"/>
                </a:solidFill>
                <a:latin typeface="Arial" panose="020B0604020202020204" pitchFamily="34" charset="0"/>
              </a:rPr>
              <a:t>5</a:t>
            </a:r>
            <a:endParaRPr lang="zh-TW" altLang="en-US" sz="1800">
              <a:solidFill>
                <a:srgbClr val="FFC000"/>
              </a:solidFill>
              <a:latin typeface="Arial" panose="020B0604020202020204" pitchFamily="34" charset="0"/>
            </a:endParaRPr>
          </a:p>
        </p:txBody>
      </p:sp>
      <p:sp>
        <p:nvSpPr>
          <p:cNvPr id="31749" name="文字方塊 6"/>
          <p:cNvSpPr txBox="1">
            <a:spLocks noChangeArrowheads="1"/>
          </p:cNvSpPr>
          <p:nvPr/>
        </p:nvSpPr>
        <p:spPr bwMode="auto">
          <a:xfrm>
            <a:off x="804863" y="2305050"/>
            <a:ext cx="2159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9pPr>
          </a:lstStyle>
          <a:p>
            <a:pPr eaLnBrk="1" hangingPunct="1">
              <a:spcBef>
                <a:spcPct val="0"/>
              </a:spcBef>
              <a:buFontTx/>
              <a:buNone/>
            </a:pPr>
            <a:r>
              <a:rPr lang="en-US" altLang="zh-TW" sz="1800">
                <a:solidFill>
                  <a:srgbClr val="FFC000"/>
                </a:solidFill>
                <a:latin typeface="Arial" panose="020B0604020202020204" pitchFamily="34" charset="0"/>
              </a:rPr>
              <a:t>1</a:t>
            </a:r>
            <a:endParaRPr lang="zh-TW" altLang="en-US" sz="1800">
              <a:solidFill>
                <a:srgbClr val="FFC000"/>
              </a:solidFill>
              <a:latin typeface="Arial" panose="020B0604020202020204" pitchFamily="34" charset="0"/>
            </a:endParaRPr>
          </a:p>
        </p:txBody>
      </p:sp>
      <p:sp>
        <p:nvSpPr>
          <p:cNvPr id="31750" name="文字方塊 7"/>
          <p:cNvSpPr txBox="1">
            <a:spLocks noChangeArrowheads="1"/>
          </p:cNvSpPr>
          <p:nvPr/>
        </p:nvSpPr>
        <p:spPr bwMode="auto">
          <a:xfrm>
            <a:off x="814388" y="2032000"/>
            <a:ext cx="2159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9pPr>
          </a:lstStyle>
          <a:p>
            <a:pPr eaLnBrk="1" hangingPunct="1">
              <a:spcBef>
                <a:spcPct val="0"/>
              </a:spcBef>
              <a:buFontTx/>
              <a:buNone/>
            </a:pPr>
            <a:r>
              <a:rPr lang="en-US" altLang="zh-TW" sz="1800">
                <a:solidFill>
                  <a:srgbClr val="FFC000"/>
                </a:solidFill>
                <a:latin typeface="Arial" panose="020B0604020202020204" pitchFamily="34" charset="0"/>
              </a:rPr>
              <a:t>2</a:t>
            </a:r>
            <a:endParaRPr lang="zh-TW" altLang="en-US" sz="1800">
              <a:solidFill>
                <a:srgbClr val="FFC000"/>
              </a:solidFill>
              <a:latin typeface="Arial" panose="020B0604020202020204" pitchFamily="34" charset="0"/>
            </a:endParaRPr>
          </a:p>
        </p:txBody>
      </p:sp>
      <p:sp>
        <p:nvSpPr>
          <p:cNvPr id="31751" name="文字方塊 8"/>
          <p:cNvSpPr txBox="1">
            <a:spLocks noChangeArrowheads="1"/>
          </p:cNvSpPr>
          <p:nvPr/>
        </p:nvSpPr>
        <p:spPr bwMode="auto">
          <a:xfrm>
            <a:off x="804863" y="2578100"/>
            <a:ext cx="2159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9pPr>
          </a:lstStyle>
          <a:p>
            <a:pPr eaLnBrk="1" hangingPunct="1">
              <a:spcBef>
                <a:spcPct val="0"/>
              </a:spcBef>
              <a:buFontTx/>
              <a:buNone/>
            </a:pPr>
            <a:r>
              <a:rPr lang="en-US" altLang="zh-TW" sz="1800">
                <a:solidFill>
                  <a:srgbClr val="FFC000"/>
                </a:solidFill>
                <a:latin typeface="Arial" panose="020B0604020202020204" pitchFamily="34" charset="0"/>
              </a:rPr>
              <a:t>3</a:t>
            </a:r>
            <a:endParaRPr lang="zh-TW" altLang="en-US" sz="1800">
              <a:solidFill>
                <a:srgbClr val="FFC000"/>
              </a:solidFill>
              <a:latin typeface="Arial" panose="020B0604020202020204" pitchFamily="34" charset="0"/>
            </a:endParaRPr>
          </a:p>
        </p:txBody>
      </p:sp>
      <p:sp>
        <p:nvSpPr>
          <p:cNvPr id="31752" name="文字方塊 9"/>
          <p:cNvSpPr txBox="1">
            <a:spLocks noChangeArrowheads="1"/>
          </p:cNvSpPr>
          <p:nvPr/>
        </p:nvSpPr>
        <p:spPr bwMode="auto">
          <a:xfrm>
            <a:off x="808038" y="2790825"/>
            <a:ext cx="2159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9pPr>
          </a:lstStyle>
          <a:p>
            <a:pPr eaLnBrk="1" hangingPunct="1">
              <a:spcBef>
                <a:spcPct val="0"/>
              </a:spcBef>
              <a:buFontTx/>
              <a:buNone/>
            </a:pPr>
            <a:r>
              <a:rPr lang="en-US" altLang="zh-TW" sz="1800">
                <a:solidFill>
                  <a:srgbClr val="FFC000"/>
                </a:solidFill>
                <a:latin typeface="Arial" panose="020B0604020202020204" pitchFamily="34" charset="0"/>
              </a:rPr>
              <a:t>4</a:t>
            </a:r>
            <a:endParaRPr lang="zh-TW" altLang="en-US" sz="1800">
              <a:solidFill>
                <a:srgbClr val="FFC000"/>
              </a:solidFill>
              <a:latin typeface="Arial" panose="020B0604020202020204" pitchFamily="34" charset="0"/>
            </a:endParaRPr>
          </a:p>
        </p:txBody>
      </p:sp>
      <p:sp>
        <p:nvSpPr>
          <p:cNvPr id="31753" name="文字方塊 10"/>
          <p:cNvSpPr txBox="1">
            <a:spLocks noChangeArrowheads="1"/>
          </p:cNvSpPr>
          <p:nvPr/>
        </p:nvSpPr>
        <p:spPr bwMode="auto">
          <a:xfrm>
            <a:off x="846138" y="4686300"/>
            <a:ext cx="2159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9pPr>
          </a:lstStyle>
          <a:p>
            <a:pPr eaLnBrk="1" hangingPunct="1">
              <a:spcBef>
                <a:spcPct val="0"/>
              </a:spcBef>
              <a:buFontTx/>
              <a:buNone/>
            </a:pPr>
            <a:r>
              <a:rPr lang="en-US" altLang="zh-TW" sz="1800">
                <a:solidFill>
                  <a:srgbClr val="FFC000"/>
                </a:solidFill>
                <a:latin typeface="Arial" panose="020B0604020202020204" pitchFamily="34" charset="0"/>
              </a:rPr>
              <a:t>5</a:t>
            </a:r>
            <a:endParaRPr lang="zh-TW" altLang="en-US" sz="1800">
              <a:solidFill>
                <a:srgbClr val="FFC000"/>
              </a:solidFill>
              <a:latin typeface="Arial" panose="020B0604020202020204" pitchFamily="34" charset="0"/>
            </a:endParaRPr>
          </a:p>
        </p:txBody>
      </p:sp>
      <p:sp>
        <p:nvSpPr>
          <p:cNvPr id="31754" name="文字方塊 11"/>
          <p:cNvSpPr txBox="1">
            <a:spLocks noChangeArrowheads="1"/>
          </p:cNvSpPr>
          <p:nvPr/>
        </p:nvSpPr>
        <p:spPr bwMode="auto">
          <a:xfrm>
            <a:off x="833438" y="5487988"/>
            <a:ext cx="2159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9pPr>
          </a:lstStyle>
          <a:p>
            <a:pPr eaLnBrk="1" hangingPunct="1">
              <a:spcBef>
                <a:spcPct val="0"/>
              </a:spcBef>
              <a:buFontTx/>
              <a:buNone/>
            </a:pPr>
            <a:r>
              <a:rPr lang="en-US" altLang="zh-TW" sz="1800">
                <a:solidFill>
                  <a:srgbClr val="FFC000"/>
                </a:solidFill>
                <a:latin typeface="Arial" panose="020B0604020202020204" pitchFamily="34" charset="0"/>
              </a:rPr>
              <a:t>3</a:t>
            </a:r>
            <a:endParaRPr lang="zh-TW" altLang="en-US" sz="1800">
              <a:solidFill>
                <a:srgbClr val="FFC000"/>
              </a:solidFill>
              <a:latin typeface="Arial" panose="020B0604020202020204" pitchFamily="34" charset="0"/>
            </a:endParaRPr>
          </a:p>
        </p:txBody>
      </p:sp>
      <p:sp>
        <p:nvSpPr>
          <p:cNvPr id="31755" name="文字方塊 12"/>
          <p:cNvSpPr txBox="1">
            <a:spLocks noChangeArrowheads="1"/>
          </p:cNvSpPr>
          <p:nvPr/>
        </p:nvSpPr>
        <p:spPr bwMode="auto">
          <a:xfrm>
            <a:off x="835025" y="5700713"/>
            <a:ext cx="2159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9pPr>
          </a:lstStyle>
          <a:p>
            <a:pPr eaLnBrk="1" hangingPunct="1">
              <a:spcBef>
                <a:spcPct val="0"/>
              </a:spcBef>
              <a:buFontTx/>
              <a:buNone/>
            </a:pPr>
            <a:r>
              <a:rPr lang="en-US" altLang="zh-TW" sz="1800">
                <a:solidFill>
                  <a:srgbClr val="FFC000"/>
                </a:solidFill>
                <a:latin typeface="Arial" panose="020B0604020202020204" pitchFamily="34" charset="0"/>
              </a:rPr>
              <a:t>4</a:t>
            </a:r>
            <a:endParaRPr lang="zh-TW" altLang="en-US" sz="1800">
              <a:solidFill>
                <a:srgbClr val="FFC000"/>
              </a:solidFill>
              <a:latin typeface="Arial" panose="020B0604020202020204" pitchFamily="34" charset="0"/>
            </a:endParaRPr>
          </a:p>
        </p:txBody>
      </p:sp>
      <p:sp>
        <p:nvSpPr>
          <p:cNvPr id="31756" name="文字方塊 13"/>
          <p:cNvSpPr txBox="1">
            <a:spLocks noChangeArrowheads="1"/>
          </p:cNvSpPr>
          <p:nvPr/>
        </p:nvSpPr>
        <p:spPr bwMode="auto">
          <a:xfrm>
            <a:off x="835025" y="4430713"/>
            <a:ext cx="2873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9pPr>
          </a:lstStyle>
          <a:p>
            <a:pPr eaLnBrk="1" hangingPunct="1">
              <a:spcBef>
                <a:spcPct val="0"/>
              </a:spcBef>
              <a:buFontTx/>
              <a:buNone/>
            </a:pPr>
            <a:r>
              <a:rPr lang="en-US" altLang="zh-TW" sz="1800">
                <a:solidFill>
                  <a:srgbClr val="FFC000"/>
                </a:solidFill>
                <a:latin typeface="Arial" panose="020B0604020202020204" pitchFamily="34" charset="0"/>
              </a:rPr>
              <a:t>6</a:t>
            </a:r>
            <a:endParaRPr lang="zh-TW" altLang="en-US" sz="1800">
              <a:solidFill>
                <a:srgbClr val="FFC000"/>
              </a:solidFill>
              <a:latin typeface="Arial" panose="020B0604020202020204" pitchFamily="34" charset="0"/>
            </a:endParaRPr>
          </a:p>
        </p:txBody>
      </p:sp>
      <p:sp>
        <p:nvSpPr>
          <p:cNvPr id="31757" name="文字方塊 14"/>
          <p:cNvSpPr txBox="1">
            <a:spLocks noChangeArrowheads="1"/>
          </p:cNvSpPr>
          <p:nvPr/>
        </p:nvSpPr>
        <p:spPr bwMode="auto">
          <a:xfrm>
            <a:off x="804863" y="5207000"/>
            <a:ext cx="2159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9pPr>
          </a:lstStyle>
          <a:p>
            <a:pPr eaLnBrk="1" hangingPunct="1">
              <a:spcBef>
                <a:spcPct val="0"/>
              </a:spcBef>
              <a:buFontTx/>
              <a:buNone/>
            </a:pPr>
            <a:r>
              <a:rPr lang="en-US" altLang="zh-TW" sz="1800">
                <a:solidFill>
                  <a:srgbClr val="FFC000"/>
                </a:solidFill>
                <a:latin typeface="Arial" panose="020B0604020202020204" pitchFamily="34" charset="0"/>
              </a:rPr>
              <a:t>1</a:t>
            </a:r>
            <a:endParaRPr lang="zh-TW" altLang="en-US" sz="1800">
              <a:solidFill>
                <a:srgbClr val="FFC000"/>
              </a:solidFill>
              <a:latin typeface="Arial" panose="020B0604020202020204" pitchFamily="34" charset="0"/>
            </a:endParaRPr>
          </a:p>
        </p:txBody>
      </p:sp>
      <p:sp>
        <p:nvSpPr>
          <p:cNvPr id="31758" name="文字方塊 15"/>
          <p:cNvSpPr txBox="1">
            <a:spLocks noChangeArrowheads="1"/>
          </p:cNvSpPr>
          <p:nvPr/>
        </p:nvSpPr>
        <p:spPr bwMode="auto">
          <a:xfrm>
            <a:off x="833438" y="4937125"/>
            <a:ext cx="2159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9pPr>
          </a:lstStyle>
          <a:p>
            <a:pPr eaLnBrk="1" hangingPunct="1">
              <a:spcBef>
                <a:spcPct val="0"/>
              </a:spcBef>
              <a:buFontTx/>
              <a:buNone/>
            </a:pPr>
            <a:r>
              <a:rPr lang="en-US" altLang="zh-TW" sz="1800">
                <a:solidFill>
                  <a:srgbClr val="FFC000"/>
                </a:solidFill>
                <a:latin typeface="Arial" panose="020B0604020202020204" pitchFamily="34" charset="0"/>
              </a:rPr>
              <a:t>2</a:t>
            </a:r>
            <a:endParaRPr lang="zh-TW" altLang="en-US" sz="1800">
              <a:solidFill>
                <a:srgbClr val="FFC000"/>
              </a:solidFill>
              <a:latin typeface="Arial" panose="020B0604020202020204" pitchFamily="34" charset="0"/>
            </a:endParaRPr>
          </a:p>
        </p:txBody>
      </p:sp>
    </p:spTree>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234</TotalTime>
  <Words>933</Words>
  <Application>Microsoft Office PowerPoint</Application>
  <PresentationFormat>如螢幕大小 (4:3)</PresentationFormat>
  <Paragraphs>86</Paragraphs>
  <Slides>28</Slides>
  <Notes>1</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28</vt:i4>
      </vt:variant>
    </vt:vector>
  </HeadingPairs>
  <TitlesOfParts>
    <vt:vector size="35" baseType="lpstr">
      <vt:lpstr>Arial</vt:lpstr>
      <vt:lpstr>新細明體</vt:lpstr>
      <vt:lpstr>Calibri</vt:lpstr>
      <vt:lpstr>標楷體</vt:lpstr>
      <vt:lpstr>Wingdings</vt:lpstr>
      <vt:lpstr>Freestyle Script</vt:lpstr>
      <vt:lpstr>Office 佈景主題</vt:lpstr>
      <vt:lpstr>Support vector regression with chaos-based firefly algorithm for stock market price forecasting</vt:lpstr>
      <vt:lpstr>Abstract(1/3)</vt:lpstr>
      <vt:lpstr>Abstract(2/3)</vt:lpstr>
      <vt:lpstr>Abstract(3/3)</vt:lpstr>
      <vt:lpstr>Delay coordinate</vt:lpstr>
      <vt:lpstr>embedding dimension</vt:lpstr>
      <vt:lpstr>FNN</vt:lpstr>
      <vt:lpstr>PowerPoint 簡報</vt:lpstr>
      <vt:lpstr>Chaotic mapping operator(CMO)</vt:lpstr>
      <vt:lpstr>Support vector regression</vt:lpstr>
      <vt:lpstr>Support vector regression</vt:lpstr>
      <vt:lpstr>feasibility of SVR</vt:lpstr>
      <vt:lpstr>Firefly algorithm(FA)</vt:lpstr>
      <vt:lpstr>PowerPoint 簡報</vt:lpstr>
      <vt:lpstr>Proposed integrated algorithm</vt:lpstr>
      <vt:lpstr>PowerPoint 簡報</vt:lpstr>
      <vt:lpstr>Chaotic firefly algorithm</vt:lpstr>
      <vt:lpstr>PowerPoint 簡報</vt:lpstr>
      <vt:lpstr>PowerPoint 簡報</vt:lpstr>
      <vt:lpstr>PowerPoint 簡報</vt:lpstr>
      <vt:lpstr>PowerPoint 簡報</vt:lpstr>
      <vt:lpstr>PowerPoint 簡報</vt:lpstr>
      <vt:lpstr>參數最佳化</vt:lpstr>
      <vt:lpstr>Intel</vt:lpstr>
      <vt:lpstr>PowerPoint 簡報</vt:lpstr>
      <vt:lpstr>Microsoft</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Support vector regression with chaos-based firefly algorithm for stock market price forecasting</dc:title>
  <dc:creator>User</dc:creator>
  <cp:lastModifiedBy>jhan</cp:lastModifiedBy>
  <cp:revision>45</cp:revision>
  <dcterms:created xsi:type="dcterms:W3CDTF">2016-12-27T09:17:03Z</dcterms:created>
  <dcterms:modified xsi:type="dcterms:W3CDTF">2016-12-28T13:29:18Z</dcterms:modified>
</cp:coreProperties>
</file>