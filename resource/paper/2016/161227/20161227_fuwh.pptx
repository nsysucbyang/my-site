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8" r:id="rId3"/>
    <p:sldId id="257" r:id="rId4"/>
    <p:sldId id="259" r:id="rId5"/>
    <p:sldId id="260" r:id="rId6"/>
    <p:sldId id="264" r:id="rId7"/>
    <p:sldId id="265" r:id="rId8"/>
    <p:sldId id="266" r:id="rId9"/>
    <p:sldId id="263" r:id="rId10"/>
    <p:sldId id="267" r:id="rId11"/>
    <p:sldId id="261" r:id="rId12"/>
    <p:sldId id="262" r:id="rId13"/>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110" autoAdjust="0"/>
  </p:normalViewPr>
  <p:slideViewPr>
    <p:cSldViewPr snapToGrid="0">
      <p:cViewPr varScale="1">
        <p:scale>
          <a:sx n="80" d="100"/>
          <a:sy n="80" d="100"/>
        </p:scale>
        <p:origin x="102" y="60"/>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r>
              <a:rPr lang="zh-TW" altLang="en-US" dirty="0"/>
              <a:t>有</a:t>
            </a:r>
            <a:r>
              <a:rPr lang="en-US" altLang="zh-TW" dirty="0"/>
              <a:t>ground truth</a:t>
            </a:r>
            <a:r>
              <a:rPr lang="zh-TW" altLang="en-US" dirty="0"/>
              <a:t>就用</a:t>
            </a:r>
            <a:r>
              <a:rPr lang="en-US" altLang="zh-TW" dirty="0"/>
              <a:t>ground truth</a:t>
            </a:r>
            <a:r>
              <a:rPr lang="zh-TW" altLang="en-US" dirty="0"/>
              <a:t>去訓練。</a:t>
            </a:r>
            <a:endParaRPr lang="en-US" altLang="zh-TW" dirty="0"/>
          </a:p>
          <a:p>
            <a:r>
              <a:rPr lang="zh-TW" altLang="en-US" dirty="0"/>
              <a:t>沒有就用</a:t>
            </a:r>
            <a:r>
              <a:rPr lang="en-US" altLang="zh-TW" dirty="0"/>
              <a:t>approximate</a:t>
            </a:r>
            <a:r>
              <a:rPr lang="en-US" altLang="zh-TW" baseline="0" dirty="0"/>
              <a:t> segmentation</a:t>
            </a:r>
            <a:r>
              <a:rPr lang="zh-TW" altLang="en-US" baseline="0" dirty="0"/>
              <a:t>，一直反覆訓練直到沒有變化。</a:t>
            </a:r>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6</a:t>
            </a:fld>
            <a:endParaRPr lang="zh-TW" altLang="en-US"/>
          </a:p>
        </p:txBody>
      </p:sp>
    </p:spTree>
    <p:extLst>
      <p:ext uri="{BB962C8B-B14F-4D97-AF65-F5344CB8AC3E}">
        <p14:creationId xmlns:p14="http://schemas.microsoft.com/office/powerpoint/2010/main" val="286985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8</a:t>
            </a:fld>
            <a:endParaRPr lang="zh-TW" altLang="en-US"/>
          </a:p>
        </p:txBody>
      </p:sp>
    </p:spTree>
    <p:extLst>
      <p:ext uri="{BB962C8B-B14F-4D97-AF65-F5344CB8AC3E}">
        <p14:creationId xmlns:p14="http://schemas.microsoft.com/office/powerpoint/2010/main" val="778158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pPr marL="215999" marR="0" indent="-215999" defTabSz="914400" rtl="0" eaLnBrk="1" fontAlgn="auto" latinLnBrk="0" hangingPunct="0">
              <a:lnSpc>
                <a:spcPct val="100000"/>
              </a:lnSpc>
              <a:spcBef>
                <a:spcPts val="0"/>
              </a:spcBef>
              <a:spcAft>
                <a:spcPts val="0"/>
              </a:spcAft>
              <a:buClrTx/>
              <a:buSzTx/>
              <a:buFontTx/>
              <a:buNone/>
              <a:tabLst/>
              <a:defRPr/>
            </a:pPr>
            <a:r>
              <a:rPr lang="en-US" altLang="zh-TW" dirty="0">
                <a:latin typeface="Cambria Math" panose="02040503050406030204" pitchFamily="18" charset="0"/>
              </a:rPr>
              <a:t>HOG features at </a:t>
            </a:r>
            <a:r>
              <a:rPr lang="en-US" altLang="zh-TW" dirty="0">
                <a:solidFill>
                  <a:schemeClr val="tx1"/>
                </a:solidFill>
                <a:latin typeface="Cambria Math" panose="02040503050406030204" pitchFamily="18" charset="0"/>
              </a:rPr>
              <a:t>4 different scales</a:t>
            </a:r>
            <a:r>
              <a:rPr lang="en-US" altLang="zh-TW" dirty="0">
                <a:latin typeface="Cambria Math" panose="02040503050406030204" pitchFamily="18" charset="0"/>
              </a:rPr>
              <a:t>, then those features are encoded in </a:t>
            </a:r>
            <a:r>
              <a:rPr lang="en-US" altLang="zh-TW" dirty="0">
                <a:solidFill>
                  <a:schemeClr val="tx1"/>
                </a:solidFill>
                <a:latin typeface="Cambria Math" panose="02040503050406030204" pitchFamily="18" charset="0"/>
              </a:rPr>
              <a:t>8K</a:t>
            </a:r>
            <a:r>
              <a:rPr lang="en-US" altLang="zh-TW" dirty="0">
                <a:latin typeface="Cambria Math" panose="02040503050406030204" pitchFamily="18" charset="0"/>
              </a:rPr>
              <a:t> dimensional global feature dictionary using the LLC method.</a:t>
            </a:r>
          </a:p>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9</a:t>
            </a:fld>
            <a:endParaRPr lang="zh-TW" altLang="en-US"/>
          </a:p>
        </p:txBody>
      </p:sp>
    </p:spTree>
    <p:extLst>
      <p:ext uri="{BB962C8B-B14F-4D97-AF65-F5344CB8AC3E}">
        <p14:creationId xmlns:p14="http://schemas.microsoft.com/office/powerpoint/2010/main" val="3263717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3189647"/>
            <a:ext cx="9071643" cy="1261884"/>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IEEE Conference on Computer Vision and Pattern Recognition, Oregon, USA, 2013</a:t>
            </a:r>
            <a:br>
              <a:rPr lang="en-US" altLang="zh-TW" sz="2700" b="1" dirty="0">
                <a:solidFill>
                  <a:srgbClr val="898989"/>
                </a:solidFill>
                <a:latin typeface="Sitka Subheading" panose="02000505000000020004" pitchFamily="2" charset="0"/>
                <a:ea typeface="新細明體" pitchFamily="2"/>
              </a:rPr>
            </a:br>
            <a:r>
              <a:rPr lang="en-US" altLang="zh-TW" sz="2700" b="1" dirty="0">
                <a:solidFill>
                  <a:srgbClr val="898989"/>
                </a:solidFill>
                <a:latin typeface="Sitka Subheading" panose="02000505000000020004" pitchFamily="2" charset="0"/>
                <a:ea typeface="新細明體" pitchFamily="2"/>
              </a:rPr>
              <a:t>Anelia Angelova, Shenghuo Zhu</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pPr lvl="0" algn="ctr"/>
            <a:r>
              <a:rPr lang="en-US" sz="4000" b="1" dirty="0">
                <a:latin typeface="Cambria Math" panose="02040503050406030204" pitchFamily="18" charset="0"/>
                <a:ea typeface="Cambria Math" panose="02040503050406030204" pitchFamily="18" charset="0"/>
                <a:cs typeface="Ebrima" panose="02000000000000000000" pitchFamily="2" charset="0"/>
              </a:rPr>
              <a:t>Efficient object detection and segmentation for fine-grained recognition</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2016</a:t>
            </a:r>
            <a:r>
              <a:rPr 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12</a:t>
            </a:r>
            <a:r>
              <a:rPr lang="en-US" dirty="0">
                <a:highlight>
                  <a:scrgbClr r="0" g="0" b="0">
                    <a:alpha val="0"/>
                  </a:scrgbClr>
                </a:highlight>
                <a:latin typeface="Liberation Sans Narrow" pitchFamily="34"/>
                <a:ea typeface="微軟正黑體" pitchFamily="34"/>
                <a:cs typeface="Mangal" pitchFamily="2"/>
              </a:rPr>
              <a:t>/</a:t>
            </a:r>
            <a:r>
              <a:rPr lang="zh-TW" alt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27</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Abstract(1/3)</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sz="2800" dirty="0">
                <a:latin typeface="Cambria Math" panose="02040503050406030204" pitchFamily="18" charset="0"/>
                <a:ea typeface="Cambria Math" panose="02040503050406030204" pitchFamily="18" charset="0"/>
              </a:rPr>
              <a:t>We propose a detection and segmentation algorithm for the purposes of fine-grained recognition. The algorithm first detects low-level regions that could potentially belong to the object and then performs a full-object segmentation through propagation. Apart from segmenting the object, we can also ‘zoom in’ on the object, i.e. center it, normalize it for scale, and thus discount the effects of the background. </a:t>
            </a:r>
          </a:p>
          <a:p>
            <a:r>
              <a:rPr lang="en-US" altLang="zh-TW" sz="2800" dirty="0">
                <a:latin typeface="Cambria Math" panose="02040503050406030204" pitchFamily="18" charset="0"/>
                <a:ea typeface="Cambria Math" panose="02040503050406030204" pitchFamily="18" charset="0"/>
              </a:rPr>
              <a:t>We then show that combining this with a state-of-the-art classification algorithm leads to significant improvements in performance especially for datasets which are considered particularly hard for recognition, e.g. birds species.</a:t>
            </a:r>
          </a:p>
          <a:p>
            <a:endParaRPr lang="en-US" altLang="zh-TW" sz="28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114120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Abstract(2/3)</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dirty="0">
                <a:latin typeface="Cambria Math" panose="02040503050406030204" pitchFamily="18" charset="0"/>
                <a:ea typeface="Cambria Math" panose="02040503050406030204" pitchFamily="18" charset="0"/>
              </a:rPr>
              <a:t>The proposed algorithm is much more efficient than other known methods in similar scenarios [4, 21]. Our method is also simpler and we apply it here to different classes of objects, e.g. birds, flowers, cats and dogs.</a:t>
            </a:r>
            <a:endParaRPr lang="en-US" altLang="zh-TW"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spTree>
    <p:extLst>
      <p:ext uri="{BB962C8B-B14F-4D97-AF65-F5344CB8AC3E}">
        <p14:creationId xmlns:p14="http://schemas.microsoft.com/office/powerpoint/2010/main" val="2128211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Abstract(3/3)</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769043"/>
            <a:ext cx="9071643" cy="5639398"/>
          </a:xfrm>
        </p:spPr>
        <p:txBody>
          <a:bodyPr/>
          <a:lstStyle/>
          <a:p>
            <a:r>
              <a:rPr lang="en-US" altLang="zh-TW" dirty="0">
                <a:latin typeface="Cambria Math" panose="02040503050406030204" pitchFamily="18" charset="0"/>
                <a:ea typeface="Cambria Math" panose="02040503050406030204" pitchFamily="18" charset="0"/>
              </a:rPr>
              <a:t>We tested the algorithm on a number of benchmark datasets for fine-grained categorization. It outperforms all the known state-of-the-art methods on these datasets, sometimes by as much as 11%. It improves the performance of our baseline algorithm by 3-4%, consistently on all datasets. We also observed more than a 4% improvement in the recognition performance on a  challenging largescale flower dataset, containing 578 species  flowers and 250,000 images.</a:t>
            </a:r>
            <a:endParaRPr lang="en-US" altLang="zh-TW" dirty="0">
              <a:latin typeface="Cambria Math" panose="02040503050406030204" pitchFamily="18" charset="0"/>
              <a:ea typeface="Cambria Math" panose="02040503050406030204" pitchFamily="18"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spTree>
    <p:extLst>
      <p:ext uri="{BB962C8B-B14F-4D97-AF65-F5344CB8AC3E}">
        <p14:creationId xmlns:p14="http://schemas.microsoft.com/office/powerpoint/2010/main" val="612358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Algorithm(1/5)</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Step 1: Detection object (low-level)</a:t>
            </a:r>
          </a:p>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Step 2: Full-object segmentation</a:t>
            </a:r>
          </a:p>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Step 3: Training and classification</a:t>
            </a:r>
            <a:endParaRPr lang="zh-TW" altLang="en-US" dirty="0">
              <a:latin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a:p>
        </p:txBody>
      </p:sp>
    </p:spTree>
    <p:extLst>
      <p:ext uri="{BB962C8B-B14F-4D97-AF65-F5344CB8AC3E}">
        <p14:creationId xmlns:p14="http://schemas.microsoft.com/office/powerpoint/2010/main" val="3505984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Algorithm(2/5)</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b="1" dirty="0">
                <a:solidFill>
                  <a:schemeClr val="tx1"/>
                </a:solidFill>
                <a:latin typeface="Cambria Math" panose="02040503050406030204" pitchFamily="18" charset="0"/>
                <a:ea typeface="Cambria Math" panose="02040503050406030204" pitchFamily="18" charset="0"/>
              </a:rPr>
              <a:t>Step 1: Detection object (low-level)</a:t>
            </a:r>
          </a:p>
          <a:p>
            <a:r>
              <a:rPr lang="en-US" altLang="zh-TW" dirty="0">
                <a:latin typeface="Cambria Math" panose="02040503050406030204" pitchFamily="18" charset="0"/>
                <a:ea typeface="Cambria Math" panose="02040503050406030204" pitchFamily="18" charset="0"/>
              </a:rPr>
              <a:t>First, use the super-pixel segmentation method to over-segment the image into small coherent regions.</a:t>
            </a:r>
          </a:p>
          <a:p>
            <a:r>
              <a:rPr lang="en-US" altLang="zh-TW" dirty="0">
                <a:latin typeface="Cambria Math" panose="02040503050406030204" pitchFamily="18" charset="0"/>
                <a:ea typeface="Cambria Math" panose="02040503050406030204" pitchFamily="18" charset="0"/>
              </a:rPr>
              <a:t>Second, each super-pixel region is described by average color and HOG feature.</a:t>
            </a:r>
          </a:p>
          <a:p>
            <a:r>
              <a:rPr lang="en-US" altLang="zh-TW" dirty="0">
                <a:latin typeface="Cambria Math" panose="02040503050406030204" pitchFamily="18" charset="0"/>
                <a:ea typeface="Cambria Math" panose="02040503050406030204" pitchFamily="18" charset="0"/>
              </a:rPr>
              <a:t>Last, train a classification model to decide if a region belongs to a super-class or the background.</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a:p>
        </p:txBody>
      </p:sp>
      <p:pic>
        <p:nvPicPr>
          <p:cNvPr id="6" name="圖片 5"/>
          <p:cNvPicPr>
            <a:picLocks noChangeAspect="1"/>
          </p:cNvPicPr>
          <p:nvPr/>
        </p:nvPicPr>
        <p:blipFill>
          <a:blip r:embed="rId3"/>
          <a:stretch>
            <a:fillRect/>
          </a:stretch>
        </p:blipFill>
        <p:spPr>
          <a:xfrm>
            <a:off x="802398" y="3955081"/>
            <a:ext cx="8474842" cy="3192719"/>
          </a:xfrm>
          <a:prstGeom prst="rect">
            <a:avLst/>
          </a:prstGeom>
        </p:spPr>
      </p:pic>
    </p:spTree>
    <p:extLst>
      <p:ext uri="{BB962C8B-B14F-4D97-AF65-F5344CB8AC3E}">
        <p14:creationId xmlns:p14="http://schemas.microsoft.com/office/powerpoint/2010/main" val="278820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Algorithm(3/5)</a:t>
            </a:r>
            <a:endParaRPr lang="zh-TW" altLang="en-US" b="1" dirty="0">
              <a:latin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2"/>
                <a:ext cx="9071643" cy="5266239"/>
              </a:xfrm>
            </p:spPr>
            <p:txBody>
              <a:bodyPr/>
              <a:lstStyle/>
              <a:p>
                <a:pPr marL="457200" indent="-457200">
                  <a:buFont typeface="Arial" panose="020B0604020202020204" pitchFamily="34" charset="0"/>
                  <a:buChar char="•"/>
                </a:pPr>
                <a:r>
                  <a:rPr lang="en-US" altLang="zh-TW" b="1" dirty="0">
                    <a:latin typeface="Cambria Math" panose="02040503050406030204" pitchFamily="18" charset="0"/>
                    <a:ea typeface="Cambria Math" panose="02040503050406030204" pitchFamily="18" charset="0"/>
                  </a:rPr>
                  <a:t>Step 2: Full-object segmentation</a:t>
                </a:r>
              </a:p>
              <a:p>
                <a:r>
                  <a:rPr lang="en-US" altLang="zh-TW" dirty="0">
                    <a:latin typeface="Cambria Math" panose="02040503050406030204" pitchFamily="18" charset="0"/>
                    <a:ea typeface="Cambria Math" panose="02040503050406030204" pitchFamily="18" charset="0"/>
                  </a:rPr>
                  <a:t>Affinity matrix:</a:t>
                </a:r>
              </a:p>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𝑊</m:t>
                          </m:r>
                        </m:e>
                        <m:sub>
                          <m:r>
                            <a:rPr lang="en-US" altLang="zh-TW" sz="2800" b="0" i="1" smtClean="0">
                              <a:latin typeface="Cambria Math"/>
                              <a:ea typeface="Cambria Math" panose="02040503050406030204" pitchFamily="18" charset="0"/>
                            </a:rPr>
                            <m:t>𝑖𝑗</m:t>
                          </m:r>
                        </m:sub>
                      </m:sSub>
                      <m:r>
                        <a:rPr lang="en-US" altLang="zh-TW" sz="2800" b="0" i="1" smtClean="0">
                          <a:latin typeface="Cambria Math"/>
                          <a:ea typeface="Cambria Math" panose="02040503050406030204" pitchFamily="18" charset="0"/>
                        </a:rPr>
                        <m:t>=</m:t>
                      </m:r>
                      <m:func>
                        <m:funcPr>
                          <m:ctrlPr>
                            <a:rPr lang="en-US" altLang="zh-TW" sz="2800" b="0" i="1" smtClean="0">
                              <a:latin typeface="Cambria Math" panose="02040503050406030204" pitchFamily="18" charset="0"/>
                              <a:ea typeface="Cambria Math" panose="02040503050406030204" pitchFamily="18" charset="0"/>
                            </a:rPr>
                          </m:ctrlPr>
                        </m:funcPr>
                        <m:fName>
                          <m:r>
                            <m:rPr>
                              <m:sty m:val="p"/>
                            </m:rPr>
                            <a:rPr lang="en-US" altLang="zh-TW" sz="2800" b="0" i="0" smtClean="0">
                              <a:latin typeface="Cambria Math"/>
                              <a:ea typeface="Cambria Math" panose="02040503050406030204" pitchFamily="18" charset="0"/>
                            </a:rPr>
                            <m:t>exp</m:t>
                          </m:r>
                        </m:fName>
                        <m:e>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r>
                                    <a:rPr lang="en-US" altLang="zh-TW" sz="2800" b="0" i="1" smtClean="0">
                                      <a:latin typeface="Cambria Math"/>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𝑓</m:t>
                                      </m:r>
                                    </m:e>
                                    <m:sub>
                                      <m:r>
                                        <a:rPr lang="en-US" altLang="zh-TW" sz="2800" b="0" i="1" smtClean="0">
                                          <a:latin typeface="Cambria Math"/>
                                          <a:ea typeface="Cambria Math" panose="02040503050406030204" pitchFamily="18" charset="0"/>
                                        </a:rPr>
                                        <m:t>𝑖</m:t>
                                      </m:r>
                                    </m:sub>
                                  </m:sSub>
                                  <m:r>
                                    <a:rPr lang="en-US" altLang="zh-TW" sz="2800" b="0" i="1" smtClean="0">
                                      <a:latin typeface="Cambria Math"/>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𝑓</m:t>
                                      </m:r>
                                    </m:e>
                                    <m:sub>
                                      <m:r>
                                        <a:rPr lang="en-US" altLang="zh-TW" sz="2800" b="0" i="1" smtClean="0">
                                          <a:latin typeface="Cambria Math"/>
                                          <a:ea typeface="Cambria Math" panose="02040503050406030204" pitchFamily="18" charset="0"/>
                                        </a:rPr>
                                        <m:t>𝑗</m:t>
                                      </m:r>
                                    </m:sub>
                                  </m:sSub>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a:ea typeface="Cambria Math" panose="02040503050406030204" pitchFamily="18" charset="0"/>
                                        </a:rPr>
                                        <m:t>|</m:t>
                                      </m:r>
                                    </m:e>
                                    <m:sup>
                                      <m:r>
                                        <a:rPr lang="en-US" altLang="zh-TW" sz="2800" b="0" i="1" smtClean="0">
                                          <a:latin typeface="Cambria Math"/>
                                          <a:ea typeface="Cambria Math" panose="02040503050406030204" pitchFamily="18" charset="0"/>
                                        </a:rPr>
                                        <m:t>2</m:t>
                                      </m:r>
                                    </m:sup>
                                  </m:sSup>
                                </m:num>
                                <m:den>
                                  <m:r>
                                    <a:rPr lang="en-US" altLang="zh-TW" sz="2800" b="0" i="1" smtClean="0">
                                      <a:latin typeface="Cambria Math"/>
                                      <a:ea typeface="Cambria Math" panose="02040503050406030204" pitchFamily="18" charset="0"/>
                                    </a:rPr>
                                    <m:t>2</m:t>
                                  </m:r>
                                  <m:sSup>
                                    <m:sSupPr>
                                      <m:ctrlPr>
                                        <a:rPr lang="en-US" altLang="zh-TW" sz="2800" b="0" i="1" smtClean="0">
                                          <a:latin typeface="Cambria Math" panose="02040503050406030204" pitchFamily="18" charset="0"/>
                                          <a:ea typeface="Cambria Math" panose="02040503050406030204" pitchFamily="18" charset="0"/>
                                        </a:rPr>
                                      </m:ctrlPr>
                                    </m:sSupPr>
                                    <m:e>
                                      <m:r>
                                        <a:rPr lang="zh-TW" altLang="en-US" sz="2800" b="0" i="1" smtClean="0">
                                          <a:latin typeface="Cambria Math"/>
                                          <a:ea typeface="Cambria Math" panose="02040503050406030204" pitchFamily="18" charset="0"/>
                                        </a:rPr>
                                        <m:t>𝜎</m:t>
                                      </m:r>
                                    </m:e>
                                    <m:sup>
                                      <m:r>
                                        <a:rPr lang="en-US" altLang="zh-TW" sz="2800" b="0" i="1" smtClean="0">
                                          <a:latin typeface="Cambria Math"/>
                                          <a:ea typeface="Cambria Math" panose="02040503050406030204" pitchFamily="18" charset="0"/>
                                        </a:rPr>
                                        <m:t>2</m:t>
                                      </m:r>
                                    </m:sup>
                                  </m:sSup>
                                </m:den>
                              </m:f>
                            </m:e>
                          </m:d>
                        </m:e>
                      </m:func>
                    </m:oMath>
                  </m:oMathPara>
                </a14:m>
                <a:endParaRPr lang="en-US" altLang="zh-TW" sz="2800" b="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𝑊</m:t>
                          </m:r>
                        </m:e>
                        <m:sub>
                          <m:r>
                            <a:rPr lang="en-US" altLang="zh-TW" sz="2800" b="0" i="1" smtClean="0">
                              <a:latin typeface="Cambria Math"/>
                              <a:ea typeface="Cambria Math" panose="02040503050406030204" pitchFamily="18" charset="0"/>
                            </a:rPr>
                            <m:t>𝑖𝑖</m:t>
                          </m:r>
                        </m:sub>
                      </m:sSub>
                      <m:r>
                        <a:rPr lang="en-US" altLang="zh-TW" sz="2800" b="0" i="1" smtClean="0">
                          <a:latin typeface="Cambria Math"/>
                          <a:ea typeface="Cambria Math" panose="02040503050406030204" pitchFamily="18" charset="0"/>
                        </a:rPr>
                        <m:t>=0</m:t>
                      </m:r>
                    </m:oMath>
                  </m:oMathPara>
                </a14:m>
                <a:endParaRPr lang="en-US" altLang="zh-TW" sz="2800" b="0" dirty="0">
                  <a:latin typeface="Cambria Math" panose="02040503050406030204" pitchFamily="18" charset="0"/>
                  <a:ea typeface="Cambria Math" panose="02040503050406030204" pitchFamily="18" charset="0"/>
                </a:endParaRPr>
              </a:p>
              <a:p>
                <a:r>
                  <a:rPr lang="en-US" altLang="zh-TW" dirty="0">
                    <a:latin typeface="Cambria Math" panose="02040503050406030204" pitchFamily="18" charset="0"/>
                    <a:ea typeface="Cambria Math" panose="02040503050406030204" pitchFamily="18" charset="0"/>
                  </a:rPr>
                  <a:t>Cost function:</a:t>
                </a:r>
              </a:p>
              <a:p>
                <a:pPr/>
                <a14:m>
                  <m:oMathPara xmlns:m="http://schemas.openxmlformats.org/officeDocument/2006/math">
                    <m:oMathParaPr>
                      <m:jc m:val="centerGroup"/>
                    </m:oMathParaPr>
                    <m:oMath xmlns:m="http://schemas.openxmlformats.org/officeDocument/2006/math">
                      <m:r>
                        <a:rPr lang="en-US" altLang="zh-TW" sz="2800" b="0" i="1" smtClean="0">
                          <a:latin typeface="Cambria Math"/>
                          <a:ea typeface="Cambria Math" panose="02040503050406030204" pitchFamily="18" charset="0"/>
                        </a:rPr>
                        <m:t>𝐶</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a:ea typeface="Cambria Math" panose="02040503050406030204" pitchFamily="18" charset="0"/>
                            </a:rPr>
                            <m:t>𝑋</m:t>
                          </m:r>
                        </m:e>
                      </m:d>
                      <m:r>
                        <a:rPr lang="en-US" altLang="zh-TW" sz="2800" b="0" i="1" smtClean="0">
                          <a:latin typeface="Cambria Math"/>
                          <a:ea typeface="Cambria Math" panose="02040503050406030204" pitchFamily="18" charset="0"/>
                        </a:rPr>
                        <m:t>=</m:t>
                      </m:r>
                      <m:nary>
                        <m:naryPr>
                          <m:chr m:val="∑"/>
                          <m:ctrlPr>
                            <a:rPr lang="en-US" altLang="zh-TW" sz="2800" b="0" i="1" smtClean="0">
                              <a:latin typeface="Cambria Math" panose="02040503050406030204" pitchFamily="18" charset="0"/>
                              <a:ea typeface="Cambria Math" panose="02040503050406030204" pitchFamily="18" charset="0"/>
                            </a:rPr>
                          </m:ctrlPr>
                        </m:naryPr>
                        <m:sub>
                          <m:r>
                            <m:rPr>
                              <m:brk m:alnAt="23"/>
                            </m:rPr>
                            <a:rPr lang="en-US" altLang="zh-TW" sz="2800" b="0" i="1" smtClean="0">
                              <a:latin typeface="Cambria Math"/>
                              <a:ea typeface="Cambria Math" panose="02040503050406030204" pitchFamily="18" charset="0"/>
                            </a:rPr>
                            <m:t>𝑖</m:t>
                          </m:r>
                          <m:r>
                            <a:rPr lang="en-US" altLang="zh-TW" sz="2800" b="0" i="1" smtClean="0">
                              <a:latin typeface="Cambria Math"/>
                              <a:ea typeface="Cambria Math" panose="02040503050406030204" pitchFamily="18" charset="0"/>
                            </a:rPr>
                            <m:t>, </m:t>
                          </m:r>
                          <m:r>
                            <a:rPr lang="en-US" altLang="zh-TW" sz="2800" b="0" i="1" smtClean="0">
                              <a:latin typeface="Cambria Math"/>
                              <a:ea typeface="Cambria Math" panose="02040503050406030204" pitchFamily="18" charset="0"/>
                            </a:rPr>
                            <m:t>𝑗</m:t>
                          </m:r>
                          <m:r>
                            <a:rPr lang="en-US" altLang="zh-TW" sz="2800" b="0" i="1" smtClean="0">
                              <a:latin typeface="Cambria Math"/>
                              <a:ea typeface="Cambria Math" panose="02040503050406030204" pitchFamily="18" charset="0"/>
                            </a:rPr>
                            <m:t>=1</m:t>
                          </m:r>
                        </m:sub>
                        <m:sup>
                          <m:r>
                            <a:rPr lang="en-US" altLang="zh-TW" sz="2800" b="0" i="1" smtClean="0">
                              <a:latin typeface="Cambria Math"/>
                              <a:ea typeface="Cambria Math" panose="02040503050406030204" pitchFamily="18" charset="0"/>
                            </a:rPr>
                            <m:t>𝑁</m:t>
                          </m:r>
                        </m:sup>
                        <m:e>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𝑊</m:t>
                              </m:r>
                            </m:e>
                            <m:sub>
                              <m:r>
                                <a:rPr lang="en-US" altLang="zh-TW" sz="2800" b="0" i="1" smtClean="0">
                                  <a:latin typeface="Cambria Math"/>
                                  <a:ea typeface="Cambria Math" panose="02040503050406030204" pitchFamily="18" charset="0"/>
                                </a:rPr>
                                <m:t>𝑖𝑗</m:t>
                              </m:r>
                            </m:sub>
                          </m:sSub>
                        </m:e>
                      </m:nary>
                      <m:r>
                        <a:rPr lang="en-US" altLang="zh-TW" sz="2800" b="0" i="1" smtClean="0">
                          <a:latin typeface="Cambria Math"/>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𝑋</m:t>
                              </m:r>
                            </m:e>
                            <m:sub>
                              <m:r>
                                <a:rPr lang="en-US" altLang="zh-TW" sz="2800" b="0" i="1" smtClean="0">
                                  <a:latin typeface="Cambria Math"/>
                                  <a:ea typeface="Cambria Math" panose="02040503050406030204" pitchFamily="18" charset="0"/>
                                </a:rPr>
                                <m:t>𝑖</m:t>
                              </m:r>
                            </m:sub>
                          </m:sSub>
                        </m:num>
                        <m:den>
                          <m:rad>
                            <m:radPr>
                              <m:degHide m:val="on"/>
                              <m:ctrlPr>
                                <a:rPr lang="en-US" altLang="zh-TW" sz="2800" b="0" i="1" smtClean="0">
                                  <a:latin typeface="Cambria Math" panose="02040503050406030204" pitchFamily="18" charset="0"/>
                                  <a:ea typeface="Cambria Math" panose="02040503050406030204" pitchFamily="18" charset="0"/>
                                </a:rPr>
                              </m:ctrlPr>
                            </m:radPr>
                            <m:deg/>
                            <m:e>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𝐷</m:t>
                                  </m:r>
                                </m:e>
                                <m:sub>
                                  <m:r>
                                    <a:rPr lang="en-US" altLang="zh-TW" sz="2800" b="0" i="1" smtClean="0">
                                      <a:latin typeface="Cambria Math"/>
                                      <a:ea typeface="Cambria Math" panose="02040503050406030204" pitchFamily="18" charset="0"/>
                                    </a:rPr>
                                    <m:t>𝑖𝑖</m:t>
                                  </m:r>
                                </m:sub>
                              </m:sSub>
                            </m:e>
                          </m:rad>
                        </m:den>
                      </m:f>
                      <m:r>
                        <a:rPr lang="en-US" altLang="zh-TW" sz="2800" b="0" i="1" smtClean="0">
                          <a:latin typeface="Cambria Math"/>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𝑋</m:t>
                              </m:r>
                            </m:e>
                            <m:sub>
                              <m:r>
                                <a:rPr lang="en-US" altLang="zh-TW" sz="2800" b="0" i="1" smtClean="0">
                                  <a:latin typeface="Cambria Math"/>
                                  <a:ea typeface="Cambria Math" panose="02040503050406030204" pitchFamily="18" charset="0"/>
                                </a:rPr>
                                <m:t>𝑗</m:t>
                              </m:r>
                            </m:sub>
                          </m:sSub>
                        </m:num>
                        <m:den>
                          <m:rad>
                            <m:radPr>
                              <m:degHide m:val="on"/>
                              <m:ctrlPr>
                                <a:rPr lang="en-US" altLang="zh-TW" sz="2800" b="0" i="1" smtClean="0">
                                  <a:latin typeface="Cambria Math" panose="02040503050406030204" pitchFamily="18" charset="0"/>
                                  <a:ea typeface="Cambria Math" panose="02040503050406030204" pitchFamily="18" charset="0"/>
                                </a:rPr>
                              </m:ctrlPr>
                            </m:radPr>
                            <m:deg/>
                            <m:e>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𝐷</m:t>
                                  </m:r>
                                </m:e>
                                <m:sub>
                                  <m:r>
                                    <a:rPr lang="en-US" altLang="zh-TW" sz="2800" b="0" i="1" smtClean="0">
                                      <a:latin typeface="Cambria Math"/>
                                      <a:ea typeface="Cambria Math" panose="02040503050406030204" pitchFamily="18" charset="0"/>
                                    </a:rPr>
                                    <m:t>𝑗𝑗</m:t>
                                  </m:r>
                                </m:sub>
                              </m:sSub>
                            </m:e>
                          </m:rad>
                        </m:den>
                      </m:f>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a:ea typeface="Cambria Math" panose="02040503050406030204" pitchFamily="18" charset="0"/>
                            </a:rPr>
                            <m:t>|</m:t>
                          </m:r>
                        </m:e>
                        <m:sup>
                          <m:r>
                            <a:rPr lang="en-US" altLang="zh-TW" sz="2800" b="0" i="1" smtClean="0">
                              <a:latin typeface="Cambria Math"/>
                              <a:ea typeface="Cambria Math" panose="02040503050406030204" pitchFamily="18" charset="0"/>
                            </a:rPr>
                            <m:t>2</m:t>
                          </m:r>
                        </m:sup>
                      </m:sSup>
                      <m:r>
                        <a:rPr lang="en-US" altLang="zh-TW" sz="2800" b="0" i="1" smtClean="0">
                          <a:latin typeface="Cambria Math"/>
                          <a:ea typeface="Cambria Math" panose="02040503050406030204" pitchFamily="18" charset="0"/>
                        </a:rPr>
                        <m:t>+</m:t>
                      </m:r>
                      <m:nary>
                        <m:naryPr>
                          <m:chr m:val="∑"/>
                          <m:ctrlPr>
                            <a:rPr lang="en-US" altLang="zh-TW" sz="2800" b="0" i="1" smtClean="0">
                              <a:latin typeface="Cambria Math" panose="02040503050406030204" pitchFamily="18" charset="0"/>
                              <a:ea typeface="Cambria Math" panose="02040503050406030204" pitchFamily="18" charset="0"/>
                            </a:rPr>
                          </m:ctrlPr>
                        </m:naryPr>
                        <m:sub>
                          <m:r>
                            <m:rPr>
                              <m:brk m:alnAt="23"/>
                            </m:rPr>
                            <a:rPr lang="en-US" altLang="zh-TW" sz="2800" b="0" i="1" smtClean="0">
                              <a:latin typeface="Cambria Math"/>
                              <a:ea typeface="Cambria Math" panose="02040503050406030204" pitchFamily="18" charset="0"/>
                            </a:rPr>
                            <m:t>𝑖</m:t>
                          </m:r>
                          <m:r>
                            <a:rPr lang="en-US" altLang="zh-TW" sz="2800" b="0" i="1" smtClean="0">
                              <a:latin typeface="Cambria Math"/>
                              <a:ea typeface="Cambria Math" panose="02040503050406030204" pitchFamily="18" charset="0"/>
                            </a:rPr>
                            <m:t>=1</m:t>
                          </m:r>
                        </m:sub>
                        <m:sup>
                          <m:r>
                            <a:rPr lang="en-US" altLang="zh-TW" sz="2800" b="0" i="1" smtClean="0">
                              <a:latin typeface="Cambria Math"/>
                              <a:ea typeface="Cambria Math" panose="02040503050406030204" pitchFamily="18" charset="0"/>
                            </a:rPr>
                            <m:t>𝑁</m:t>
                          </m:r>
                        </m:sup>
                        <m:e>
                          <m:r>
                            <m:rPr>
                              <m:sty m:val="p"/>
                            </m:rPr>
                            <a:rPr lang="en-US" altLang="zh-TW" sz="2800" i="1">
                              <a:latin typeface="Cambria Math"/>
                              <a:ea typeface="Cambria Math" panose="02040503050406030204" pitchFamily="18" charset="0"/>
                            </a:rPr>
                            <m:t>λ</m:t>
                          </m:r>
                          <m:r>
                            <a:rPr lang="en-US" altLang="zh-TW" sz="2800" i="1">
                              <a:latin typeface="Cambria Math"/>
                              <a:ea typeface="Cambria Math" panose="02040503050406030204" pitchFamily="18" charset="0"/>
                            </a:rPr>
                            <m:t>|</m:t>
                          </m:r>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𝑋</m:t>
                              </m:r>
                            </m:e>
                            <m:sub>
                              <m:r>
                                <a:rPr lang="en-US" altLang="zh-TW" sz="2800" b="0" i="1" smtClean="0">
                                  <a:latin typeface="Cambria Math"/>
                                  <a:ea typeface="Cambria Math" panose="02040503050406030204" pitchFamily="18" charset="0"/>
                                </a:rPr>
                                <m:t>𝑖</m:t>
                              </m:r>
                            </m:sub>
                          </m:sSub>
                          <m:r>
                            <a:rPr lang="en-US" altLang="zh-TW" sz="2800" b="0" i="1" smtClean="0">
                              <a:latin typeface="Cambria Math"/>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a:ea typeface="Cambria Math" panose="02040503050406030204" pitchFamily="18" charset="0"/>
                                </a:rPr>
                                <m:t>𝑌</m:t>
                              </m:r>
                            </m:e>
                            <m:sub>
                              <m:r>
                                <a:rPr lang="en-US" altLang="zh-TW" sz="2800" b="0" i="1" smtClean="0">
                                  <a:latin typeface="Cambria Math"/>
                                  <a:ea typeface="Cambria Math" panose="02040503050406030204" pitchFamily="18" charset="0"/>
                                </a:rPr>
                                <m:t>𝑖</m:t>
                              </m:r>
                            </m:sub>
                          </m:sSub>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a:ea typeface="Cambria Math" panose="02040503050406030204" pitchFamily="18" charset="0"/>
                                </a:rPr>
                                <m:t>|</m:t>
                              </m:r>
                            </m:e>
                            <m:sup>
                              <m:r>
                                <a:rPr lang="en-US" altLang="zh-TW" sz="2800" b="0" i="1" smtClean="0">
                                  <a:latin typeface="Cambria Math"/>
                                  <a:ea typeface="Cambria Math" panose="02040503050406030204" pitchFamily="18" charset="0"/>
                                </a:rPr>
                                <m:t>2</m:t>
                              </m:r>
                            </m:sup>
                          </m:sSup>
                        </m:e>
                      </m:nary>
                    </m:oMath>
                  </m:oMathPara>
                </a14:m>
                <a:endParaRPr lang="en-US" altLang="zh-TW" sz="28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𝐷</m:t>
                          </m:r>
                        </m:e>
                        <m:sub>
                          <m:r>
                            <a:rPr lang="en-US" altLang="zh-TW" sz="2800" b="0" i="1" smtClean="0">
                              <a:latin typeface="Cambria Math" panose="02040503050406030204" pitchFamily="18" charset="0"/>
                              <a:ea typeface="Cambria Math" panose="02040503050406030204" pitchFamily="18" charset="0"/>
                            </a:rPr>
                            <m:t>𝑖𝑖</m:t>
                          </m:r>
                        </m:sub>
                      </m:sSub>
                      <m:r>
                        <a:rPr lang="en-US" altLang="zh-TW" sz="2800" b="0" i="1" smtClean="0">
                          <a:latin typeface="Cambria Math" panose="02040503050406030204" pitchFamily="18" charset="0"/>
                          <a:ea typeface="Cambria Math" panose="02040503050406030204" pitchFamily="18" charset="0"/>
                        </a:rPr>
                        <m:t>=</m:t>
                      </m:r>
                      <m:nary>
                        <m:naryPr>
                          <m:chr m:val="∑"/>
                          <m:limLoc m:val="subSup"/>
                          <m:ctrlPr>
                            <a:rPr lang="en-US" altLang="zh-TW" sz="2800" b="0" i="1" smtClean="0">
                              <a:latin typeface="Cambria Math" panose="02040503050406030204" pitchFamily="18" charset="0"/>
                              <a:ea typeface="Cambria Math" panose="02040503050406030204" pitchFamily="18" charset="0"/>
                            </a:rPr>
                          </m:ctrlPr>
                        </m:naryPr>
                        <m:sub>
                          <m:r>
                            <m:rPr>
                              <m:brk m:alnAt="25"/>
                            </m:rPr>
                            <a:rPr lang="en-US" altLang="zh-TW" sz="2800" b="0" i="1" smtClean="0">
                              <a:latin typeface="Cambria Math" panose="02040503050406030204" pitchFamily="18" charset="0"/>
                              <a:ea typeface="Cambria Math" panose="02040503050406030204" pitchFamily="18" charset="0"/>
                            </a:rPr>
                            <m:t>𝑗</m:t>
                          </m:r>
                          <m:r>
                            <a:rPr lang="en-US" altLang="zh-TW" sz="2800" b="0" i="1" smtClean="0">
                              <a:latin typeface="Cambria Math" panose="02040503050406030204" pitchFamily="18" charset="0"/>
                              <a:ea typeface="Cambria Math" panose="02040503050406030204" pitchFamily="18" charset="0"/>
                            </a:rPr>
                            <m:t>=1</m:t>
                          </m:r>
                        </m:sub>
                        <m:sup>
                          <m:r>
                            <a:rPr lang="en-US" altLang="zh-TW" sz="2800" b="0" i="1" smtClean="0">
                              <a:latin typeface="Cambria Math" panose="02040503050406030204" pitchFamily="18" charset="0"/>
                              <a:ea typeface="Cambria Math" panose="02040503050406030204" pitchFamily="18" charset="0"/>
                            </a:rPr>
                            <m:t>𝑁</m:t>
                          </m:r>
                        </m:sup>
                        <m:e>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𝑊</m:t>
                              </m:r>
                            </m:e>
                            <m:sub>
                              <m:r>
                                <a:rPr lang="en-US" altLang="zh-TW" sz="2800" b="0" i="1" smtClean="0">
                                  <a:latin typeface="Cambria Math" panose="02040503050406030204" pitchFamily="18" charset="0"/>
                                  <a:ea typeface="Cambria Math" panose="02040503050406030204" pitchFamily="18" charset="0"/>
                                </a:rPr>
                                <m:t>𝑖𝑗</m:t>
                              </m:r>
                            </m:sub>
                          </m:sSub>
                        </m:e>
                      </m:nary>
                    </m:oMath>
                  </m:oMathPara>
                </a14:m>
                <a:endParaRPr lang="en-US" altLang="zh-TW" sz="28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2"/>
                <a:ext cx="9071643" cy="5266239"/>
              </a:xfrm>
              <a:blipFill>
                <a:blip r:embed="rId2"/>
                <a:stretch>
                  <a:fillRect l="-2755" t="-2431" b="-19907"/>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a:p>
        </p:txBody>
      </p:sp>
    </p:spTree>
    <p:extLst>
      <p:ext uri="{BB962C8B-B14F-4D97-AF65-F5344CB8AC3E}">
        <p14:creationId xmlns:p14="http://schemas.microsoft.com/office/powerpoint/2010/main" val="1056429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Algorithm(4/5)</a:t>
            </a:r>
            <a:endParaRPr lang="zh-TW" altLang="en-US" b="1" dirty="0">
              <a:latin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769042"/>
                <a:ext cx="9071643" cy="5266239"/>
              </a:xfrm>
            </p:spPr>
            <p:txBody>
              <a:bodyPr/>
              <a:lstStyle/>
              <a:p>
                <a:pPr marL="457200" indent="-457200">
                  <a:buFont typeface="Arial" panose="020B0604020202020204" pitchFamily="34" charset="0"/>
                  <a:buChar char="•"/>
                </a:pPr>
                <a:r>
                  <a:rPr lang="en-US" altLang="zh-TW" b="1" dirty="0">
                    <a:latin typeface="Cambria Math" panose="02040503050406030204" pitchFamily="18" charset="0"/>
                    <a:ea typeface="Cambria Math" panose="02040503050406030204" pitchFamily="18" charset="0"/>
                  </a:rPr>
                  <a:t>Step 2: Full-object segmentation</a:t>
                </a:r>
              </a:p>
              <a:p>
                <a:r>
                  <a:rPr lang="en-US" altLang="zh-TW" dirty="0">
                    <a:latin typeface="Cambria Math" panose="02040503050406030204" pitchFamily="18" charset="0"/>
                    <a:ea typeface="Cambria Math" panose="02040503050406030204" pitchFamily="18" charset="0"/>
                  </a:rPr>
                  <a:t>Cost function:</a:t>
                </a:r>
              </a:p>
              <a:p>
                <a:pPr/>
                <a14:m>
                  <m:oMathPara xmlns:m="http://schemas.openxmlformats.org/officeDocument/2006/math">
                    <m:oMathParaPr>
                      <m:jc m:val="centerGroup"/>
                    </m:oMathParaPr>
                    <m:oMath xmlns:m="http://schemas.openxmlformats.org/officeDocument/2006/math">
                      <m:r>
                        <a:rPr lang="en-US" altLang="zh-TW" sz="2800" b="0" i="1" smtClean="0">
                          <a:latin typeface="Cambria Math"/>
                          <a:ea typeface="Cambria Math" panose="02040503050406030204" pitchFamily="18" charset="0"/>
                        </a:rPr>
                        <m:t>𝐶</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a:ea typeface="Cambria Math" panose="02040503050406030204" pitchFamily="18" charset="0"/>
                            </a:rPr>
                            <m:t>𝑋</m:t>
                          </m:r>
                        </m:e>
                      </m:d>
                      <m:r>
                        <a:rPr lang="en-US" altLang="zh-TW" sz="2800" b="0" i="1" smtClean="0">
                          <a:latin typeface="Cambria Math"/>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𝑋</m:t>
                          </m:r>
                        </m:e>
                        <m:sup>
                          <m:r>
                            <a:rPr lang="en-US" altLang="zh-TW" sz="2800" b="0" i="1" smtClean="0">
                              <a:latin typeface="Cambria Math" panose="02040503050406030204" pitchFamily="18" charset="0"/>
                              <a:ea typeface="Cambria Math" panose="02040503050406030204" pitchFamily="18" charset="0"/>
                            </a:rPr>
                            <m:t>𝑇</m:t>
                          </m:r>
                        </m:sup>
                      </m:sSup>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𝐼</m:t>
                          </m:r>
                          <m:r>
                            <a:rPr lang="en-US" altLang="zh-TW" sz="2800" b="0" i="1" smtClean="0">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𝑆</m:t>
                          </m:r>
                        </m:e>
                      </m:d>
                      <m:r>
                        <a:rPr lang="en-US" altLang="zh-TW" sz="2800" b="0" i="1" smtClean="0">
                          <a:latin typeface="Cambria Math" panose="02040503050406030204" pitchFamily="18" charset="0"/>
                          <a:ea typeface="Cambria Math" panose="02040503050406030204" pitchFamily="18" charset="0"/>
                        </a:rPr>
                        <m:t>𝑋</m:t>
                      </m:r>
                      <m:r>
                        <a:rPr lang="en-US" altLang="zh-TW" sz="2800" b="0" i="1" smtClean="0">
                          <a:latin typeface="Cambria Math" panose="02040503050406030204" pitchFamily="18" charset="0"/>
                          <a:ea typeface="Cambria Math" panose="02040503050406030204" pitchFamily="18" charset="0"/>
                        </a:rPr>
                        <m:t>+</m:t>
                      </m:r>
                      <m:r>
                        <m:rPr>
                          <m:sty m:val="p"/>
                        </m:rPr>
                        <a:rPr lang="en-US" altLang="zh-TW" sz="2800" i="1">
                          <a:latin typeface="Cambria Math" panose="02040503050406030204" pitchFamily="18" charset="0"/>
                          <a:ea typeface="Cambria Math" panose="02040503050406030204" pitchFamily="18" charset="0"/>
                        </a:rPr>
                        <m:t>λ</m:t>
                      </m:r>
                      <m:r>
                        <a:rPr lang="en-US" altLang="zh-TW" sz="2800" b="0" i="0" smtClean="0">
                          <a:latin typeface="Cambria Math" panose="02040503050406030204" pitchFamily="18" charset="0"/>
                          <a:ea typeface="Cambria Math" panose="02040503050406030204" pitchFamily="18" charset="0"/>
                        </a:rPr>
                        <m:t>|</m:t>
                      </m:r>
                      <m:r>
                        <m:rPr>
                          <m:sty m:val="p"/>
                        </m:rPr>
                        <a:rPr lang="en-US" altLang="zh-TW" sz="2800" b="0" i="0" smtClean="0">
                          <a:latin typeface="Cambria Math" panose="02040503050406030204" pitchFamily="18" charset="0"/>
                          <a:ea typeface="Cambria Math" panose="02040503050406030204" pitchFamily="18" charset="0"/>
                        </a:rPr>
                        <m:t>X</m:t>
                      </m:r>
                      <m:r>
                        <a:rPr lang="en-US" altLang="zh-TW" sz="2800" b="0" i="0" smtClean="0">
                          <a:latin typeface="Cambria Math" panose="02040503050406030204" pitchFamily="18" charset="0"/>
                          <a:ea typeface="Cambria Math" panose="02040503050406030204" pitchFamily="18" charset="0"/>
                        </a:rPr>
                        <m:t>−</m:t>
                      </m:r>
                      <m:r>
                        <m:rPr>
                          <m:sty m:val="p"/>
                        </m:rPr>
                        <a:rPr lang="en-US" altLang="zh-TW" sz="2800" b="0" i="0" smtClean="0">
                          <a:latin typeface="Cambria Math" panose="02040503050406030204" pitchFamily="18" charset="0"/>
                          <a:ea typeface="Cambria Math" panose="02040503050406030204" pitchFamily="18" charset="0"/>
                        </a:rPr>
                        <m:t>Y</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m:t>
                          </m:r>
                        </m:e>
                        <m:sup>
                          <m:r>
                            <a:rPr lang="en-US" altLang="zh-TW" sz="2800" b="0" i="1" smtClean="0">
                              <a:latin typeface="Cambria Math" panose="02040503050406030204" pitchFamily="18" charset="0"/>
                              <a:ea typeface="Cambria Math" panose="02040503050406030204" pitchFamily="18" charset="0"/>
                            </a:rPr>
                            <m:t>2</m:t>
                          </m:r>
                        </m:sup>
                      </m:sSup>
                    </m:oMath>
                  </m:oMathPara>
                </a14:m>
                <a:endParaRPr lang="en-US" altLang="zh-TW" sz="28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ea typeface="Cambria Math" panose="02040503050406030204" pitchFamily="18" charset="0"/>
                        </a:rPr>
                        <m:t>𝑆</m:t>
                      </m:r>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𝐷</m:t>
                          </m:r>
                        </m:e>
                        <m:sup>
                          <m:r>
                            <a:rPr lang="en-US" altLang="zh-TW" sz="2800" b="0" i="1" smtClean="0">
                              <a:latin typeface="Cambria Math" panose="02040503050406030204" pitchFamily="18" charset="0"/>
                              <a:ea typeface="Cambria Math" panose="02040503050406030204" pitchFamily="18" charset="0"/>
                            </a:rPr>
                            <m:t>−1/2</m:t>
                          </m:r>
                        </m:sup>
                      </m:sSup>
                      <m:r>
                        <a:rPr lang="en-US" altLang="zh-TW" sz="2800" b="0" i="1" smtClean="0">
                          <a:latin typeface="Cambria Math" panose="02040503050406030204" pitchFamily="18" charset="0"/>
                          <a:ea typeface="Cambria Math" panose="02040503050406030204" pitchFamily="18" charset="0"/>
                        </a:rPr>
                        <m:t>𝑊</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𝐷</m:t>
                          </m:r>
                        </m:e>
                        <m:sup>
                          <m:r>
                            <a:rPr lang="en-US" altLang="zh-TW" sz="2800" i="1">
                              <a:latin typeface="Cambria Math" panose="02040503050406030204" pitchFamily="18" charset="0"/>
                              <a:ea typeface="Cambria Math" panose="02040503050406030204" pitchFamily="18" charset="0"/>
                            </a:rPr>
                            <m:t>−1/2</m:t>
                          </m:r>
                        </m:sup>
                      </m:sSup>
                    </m:oMath>
                  </m:oMathPara>
                </a14:m>
                <a:endParaRPr lang="en-US" altLang="zh-TW" sz="2800" dirty="0">
                  <a:latin typeface="Cambria Math" panose="02040503050406030204" pitchFamily="18" charset="0"/>
                  <a:ea typeface="Cambria Math" panose="02040503050406030204" pitchFamily="18" charset="0"/>
                </a:endParaRPr>
              </a:p>
              <a:p>
                <a:pPr/>
                <a:r>
                  <a:rPr lang="en-US" altLang="zh-TW" dirty="0">
                    <a:latin typeface="Cambria Math" panose="02040503050406030204" pitchFamily="18" charset="0"/>
                    <a:ea typeface="Cambria Math" panose="02040503050406030204" pitchFamily="18" charset="0"/>
                  </a:rPr>
                  <a:t>Optimal solution:</a:t>
                </a:r>
              </a:p>
              <a:p>
                <a:pPr/>
                <a14:m>
                  <m:oMathPara xmlns:m="http://schemas.openxmlformats.org/officeDocument/2006/math">
                    <m:oMathParaPr>
                      <m:jc m:val="centerGroup"/>
                    </m:oMathParaPr>
                    <m:oMath xmlns:m="http://schemas.openxmlformats.org/officeDocument/2006/math">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𝐼</m:t>
                          </m:r>
                          <m:r>
                            <a:rPr lang="en-US" altLang="zh-TW" sz="2800" b="0" i="1" smtClean="0">
                              <a:latin typeface="Cambria Math" panose="02040503050406030204" pitchFamily="18" charset="0"/>
                              <a:ea typeface="Cambria Math" panose="02040503050406030204" pitchFamily="18" charset="0"/>
                            </a:rPr>
                            <m:t>−</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1−</m:t>
                              </m:r>
                              <m:r>
                                <a:rPr lang="zh-TW" altLang="en-US" sz="2800" b="0" i="1" smtClean="0">
                                  <a:latin typeface="Cambria Math" panose="02040503050406030204" pitchFamily="18" charset="0"/>
                                  <a:ea typeface="Cambria Math" panose="02040503050406030204" pitchFamily="18" charset="0"/>
                                </a:rPr>
                                <m:t>𝛼</m:t>
                              </m:r>
                            </m:e>
                          </m:d>
                          <m:r>
                            <a:rPr lang="en-US" altLang="zh-TW" sz="2800" b="0" i="1" smtClean="0">
                              <a:latin typeface="Cambria Math" panose="02040503050406030204" pitchFamily="18" charset="0"/>
                              <a:ea typeface="Cambria Math" panose="02040503050406030204" pitchFamily="18" charset="0"/>
                            </a:rPr>
                            <m:t>𝑆</m:t>
                          </m:r>
                        </m:e>
                      </m:d>
                      <m:r>
                        <a:rPr lang="en-US" altLang="zh-TW" sz="2800" b="0" i="1" smtClean="0">
                          <a:latin typeface="Cambria Math" panose="02040503050406030204" pitchFamily="18" charset="0"/>
                          <a:ea typeface="Cambria Math" panose="02040503050406030204" pitchFamily="18" charset="0"/>
                        </a:rPr>
                        <m:t>𝑋</m:t>
                      </m:r>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𝛼</m:t>
                      </m:r>
                      <m:r>
                        <a:rPr lang="en-US" altLang="zh-TW" sz="2800" b="0" i="1" smtClean="0">
                          <a:latin typeface="Cambria Math" panose="02040503050406030204" pitchFamily="18" charset="0"/>
                          <a:ea typeface="Cambria Math" panose="02040503050406030204" pitchFamily="18" charset="0"/>
                        </a:rPr>
                        <m:t>𝑌</m:t>
                      </m:r>
                      <m:r>
                        <a:rPr lang="en-US" altLang="zh-TW" sz="2800" b="0" i="1" smtClean="0">
                          <a:latin typeface="Cambria Math" panose="02040503050406030204" pitchFamily="18" charset="0"/>
                          <a:ea typeface="Cambria Math" panose="02040503050406030204" pitchFamily="18" charset="0"/>
                        </a:rPr>
                        <m:t>, </m:t>
                      </m:r>
                      <m:r>
                        <a:rPr lang="zh-TW" altLang="en-US" sz="2800" b="0" i="1" smtClean="0">
                          <a:latin typeface="Cambria Math" panose="02040503050406030204" pitchFamily="18" charset="0"/>
                          <a:ea typeface="Cambria Math" panose="02040503050406030204" pitchFamily="18" charset="0"/>
                        </a:rPr>
                        <m:t>𝛼</m:t>
                      </m:r>
                      <m:r>
                        <a:rPr lang="en-US" altLang="zh-TW" sz="2800" b="0" i="1" smtClean="0">
                          <a:latin typeface="Cambria Math" panose="02040503050406030204" pitchFamily="18" charset="0"/>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r>
                            <m:rPr>
                              <m:sty m:val="p"/>
                            </m:rPr>
                            <a:rPr lang="en-US" altLang="zh-TW" sz="2800" i="1">
                              <a:latin typeface="Cambria Math" panose="02040503050406030204" pitchFamily="18" charset="0"/>
                              <a:ea typeface="Cambria Math" panose="02040503050406030204" pitchFamily="18" charset="0"/>
                            </a:rPr>
                            <m:t>λ</m:t>
                          </m:r>
                        </m:num>
                        <m:den>
                          <m:r>
                            <a:rPr lang="en-US" altLang="zh-TW" sz="2800" b="0" i="1" smtClean="0">
                              <a:latin typeface="Cambria Math" panose="02040503050406030204" pitchFamily="18" charset="0"/>
                              <a:ea typeface="Cambria Math" panose="02040503050406030204" pitchFamily="18" charset="0"/>
                            </a:rPr>
                            <m:t>1−</m:t>
                          </m:r>
                          <m:r>
                            <m:rPr>
                              <m:sty m:val="p"/>
                            </m:rPr>
                            <a:rPr lang="en-US" altLang="zh-TW" sz="2800" i="1">
                              <a:latin typeface="Cambria Math" panose="02040503050406030204" pitchFamily="18" charset="0"/>
                              <a:ea typeface="Cambria Math" panose="02040503050406030204" pitchFamily="18" charset="0"/>
                            </a:rPr>
                            <m:t>λ</m:t>
                          </m:r>
                        </m:den>
                      </m:f>
                    </m:oMath>
                  </m:oMathPara>
                </a14:m>
                <a:endParaRPr lang="en-US" altLang="zh-TW" sz="28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𝑋</m:t>
                          </m:r>
                        </m:e>
                        <m:sub>
                          <m:r>
                            <a:rPr lang="en-US" altLang="zh-TW" sz="2800" b="0" i="1" smtClean="0">
                              <a:latin typeface="Cambria Math" panose="02040503050406030204" pitchFamily="18" charset="0"/>
                              <a:ea typeface="Cambria Math" panose="02040503050406030204" pitchFamily="18" charset="0"/>
                            </a:rPr>
                            <m:t>𝑓𝑔</m:t>
                          </m:r>
                        </m:sub>
                      </m:sSub>
                      <m:r>
                        <a:rPr lang="en-US" altLang="zh-TW" sz="2800" b="0" i="1" smtClean="0">
                          <a:latin typeface="Cambria Math" panose="02040503050406030204" pitchFamily="18" charset="0"/>
                          <a:ea typeface="Cambria Math" panose="02040503050406030204" pitchFamily="18" charset="0"/>
                        </a:rPr>
                        <m:t>=</m:t>
                      </m:r>
                      <m:r>
                        <a:rPr lang="zh-TW" altLang="en-US" sz="2800" b="0" i="1" smtClean="0">
                          <a:latin typeface="Cambria Math" panose="02040503050406030204" pitchFamily="18" charset="0"/>
                          <a:ea typeface="Cambria Math" panose="02040503050406030204" pitchFamily="18" charset="0"/>
                        </a:rPr>
                        <m:t>𝛼</m:t>
                      </m:r>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ea typeface="Cambria Math" panose="02040503050406030204" pitchFamily="18" charset="0"/>
                        </a:rPr>
                        <m:t>𝐼</m:t>
                      </m:r>
                      <m:r>
                        <a:rPr lang="en-US" altLang="zh-TW" sz="2800" b="0" i="1" smtClean="0">
                          <a:latin typeface="Cambria Math" panose="02040503050406030204" pitchFamily="18" charset="0"/>
                          <a:ea typeface="Cambria Math" panose="02040503050406030204" pitchFamily="18" charset="0"/>
                        </a:rPr>
                        <m:t>−</m:t>
                      </m:r>
                      <m:d>
                        <m:dPr>
                          <m:ctrlPr>
                            <a:rPr lang="en-US" altLang="zh-TW" sz="2800" b="0" i="1" smtClean="0">
                              <a:latin typeface="Cambria Math" panose="02040503050406030204" pitchFamily="18" charset="0"/>
                              <a:ea typeface="Cambria Math" panose="02040503050406030204" pitchFamily="18" charset="0"/>
                            </a:rPr>
                          </m:ctrlPr>
                        </m:dPr>
                        <m:e>
                          <m:r>
                            <a:rPr lang="en-US" altLang="zh-TW" sz="2800" b="0" i="1" smtClean="0">
                              <a:latin typeface="Cambria Math" panose="02040503050406030204" pitchFamily="18" charset="0"/>
                              <a:ea typeface="Cambria Math" panose="02040503050406030204" pitchFamily="18" charset="0"/>
                            </a:rPr>
                            <m:t>1−</m:t>
                          </m:r>
                          <m:r>
                            <a:rPr lang="zh-TW" altLang="en-US" sz="2800" b="0" i="1" smtClean="0">
                              <a:latin typeface="Cambria Math" panose="02040503050406030204" pitchFamily="18" charset="0"/>
                              <a:ea typeface="Cambria Math" panose="02040503050406030204" pitchFamily="18" charset="0"/>
                            </a:rPr>
                            <m:t>𝛼</m:t>
                          </m:r>
                        </m:e>
                      </m:d>
                      <m:r>
                        <a:rPr lang="en-US" altLang="zh-TW" sz="2800" b="0" i="1" smtClean="0">
                          <a:latin typeface="Cambria Math" panose="02040503050406030204" pitchFamily="18" charset="0"/>
                          <a:ea typeface="Cambria Math" panose="02040503050406030204" pitchFamily="18" charset="0"/>
                        </a:rPr>
                        <m:t>𝑆</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m:t>
                          </m:r>
                        </m:e>
                        <m:sup>
                          <m:r>
                            <a:rPr lang="en-US" altLang="zh-TW" sz="2800" b="0" i="1" smtClean="0">
                              <a:latin typeface="Cambria Math" panose="02040503050406030204" pitchFamily="18" charset="0"/>
                              <a:ea typeface="Cambria Math" panose="02040503050406030204" pitchFamily="18" charset="0"/>
                            </a:rPr>
                            <m:t>−1</m:t>
                          </m:r>
                        </m:sup>
                      </m:sSup>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𝑓𝑔</m:t>
                          </m:r>
                        </m:sub>
                      </m:sSub>
                    </m:oMath>
                  </m:oMathPara>
                </a14:m>
                <a:endParaRPr lang="en-US" altLang="zh-TW" sz="28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𝑋</m:t>
                          </m:r>
                        </m:e>
                        <m:sub>
                          <m:r>
                            <a:rPr lang="en-US" altLang="zh-TW" sz="2800" b="0" i="1" smtClean="0">
                              <a:latin typeface="Cambria Math" panose="02040503050406030204" pitchFamily="18" charset="0"/>
                              <a:ea typeface="Cambria Math" panose="02040503050406030204" pitchFamily="18" charset="0"/>
                            </a:rPr>
                            <m:t>𝑏</m:t>
                          </m:r>
                          <m:r>
                            <a:rPr lang="en-US" altLang="zh-TW" sz="2800" i="1">
                              <a:latin typeface="Cambria Math" panose="02040503050406030204" pitchFamily="18" charset="0"/>
                              <a:ea typeface="Cambria Math" panose="02040503050406030204" pitchFamily="18" charset="0"/>
                            </a:rPr>
                            <m:t>𝑔</m:t>
                          </m:r>
                        </m:sub>
                      </m:sSub>
                      <m:r>
                        <a:rPr lang="en-US" altLang="zh-TW" sz="2800" i="1">
                          <a:latin typeface="Cambria Math" panose="02040503050406030204" pitchFamily="18" charset="0"/>
                          <a:ea typeface="Cambria Math" panose="02040503050406030204" pitchFamily="18" charset="0"/>
                        </a:rPr>
                        <m:t>=</m:t>
                      </m:r>
                      <m:r>
                        <a:rPr lang="zh-TW" altLang="en-US" sz="2800" i="1">
                          <a:latin typeface="Cambria Math" panose="02040503050406030204" pitchFamily="18" charset="0"/>
                          <a:ea typeface="Cambria Math" panose="02040503050406030204" pitchFamily="18" charset="0"/>
                        </a:rPr>
                        <m:t>𝛼</m:t>
                      </m:r>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𝐼</m:t>
                      </m:r>
                      <m:r>
                        <a:rPr lang="en-US" altLang="zh-TW" sz="2800" i="1">
                          <a:latin typeface="Cambria Math" panose="02040503050406030204" pitchFamily="18" charset="0"/>
                          <a:ea typeface="Cambria Math" panose="02040503050406030204" pitchFamily="18" charset="0"/>
                        </a:rPr>
                        <m:t>−</m:t>
                      </m:r>
                      <m:d>
                        <m:dPr>
                          <m:ctrlPr>
                            <a:rPr lang="en-US" altLang="zh-TW" sz="2800" i="1">
                              <a:latin typeface="Cambria Math" panose="02040503050406030204" pitchFamily="18" charset="0"/>
                              <a:ea typeface="Cambria Math" panose="02040503050406030204" pitchFamily="18" charset="0"/>
                            </a:rPr>
                          </m:ctrlPr>
                        </m:dPr>
                        <m:e>
                          <m:r>
                            <a:rPr lang="en-US" altLang="zh-TW" sz="2800" i="1">
                              <a:latin typeface="Cambria Math" panose="02040503050406030204" pitchFamily="18" charset="0"/>
                              <a:ea typeface="Cambria Math" panose="02040503050406030204" pitchFamily="18" charset="0"/>
                            </a:rPr>
                            <m:t>1−</m:t>
                          </m:r>
                          <m:r>
                            <a:rPr lang="zh-TW" altLang="en-US" sz="2800" i="1">
                              <a:latin typeface="Cambria Math" panose="02040503050406030204" pitchFamily="18" charset="0"/>
                              <a:ea typeface="Cambria Math" panose="02040503050406030204" pitchFamily="18" charset="0"/>
                            </a:rPr>
                            <m:t>𝛼</m:t>
                          </m:r>
                        </m:e>
                      </m:d>
                      <m:r>
                        <a:rPr lang="en-US" altLang="zh-TW" sz="2800" i="1">
                          <a:latin typeface="Cambria Math" panose="02040503050406030204" pitchFamily="18" charset="0"/>
                          <a:ea typeface="Cambria Math" panose="02040503050406030204" pitchFamily="18" charset="0"/>
                        </a:rPr>
                        <m:t>𝑆</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m:t>
                          </m:r>
                        </m:e>
                        <m:sup>
                          <m:r>
                            <a:rPr lang="en-US" altLang="zh-TW" sz="2800" i="1">
                              <a:latin typeface="Cambria Math" panose="02040503050406030204" pitchFamily="18" charset="0"/>
                              <a:ea typeface="Cambria Math" panose="02040503050406030204" pitchFamily="18" charset="0"/>
                            </a:rPr>
                            <m:t>−1</m:t>
                          </m:r>
                        </m:sup>
                      </m:sSup>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𝑏</m:t>
                          </m:r>
                          <m:r>
                            <a:rPr lang="en-US" altLang="zh-TW" sz="2800" i="1">
                              <a:latin typeface="Cambria Math" panose="02040503050406030204" pitchFamily="18" charset="0"/>
                              <a:ea typeface="Cambria Math" panose="02040503050406030204" pitchFamily="18" charset="0"/>
                            </a:rPr>
                            <m:t>𝑔</m:t>
                          </m:r>
                        </m:sub>
                      </m:sSub>
                    </m:oMath>
                  </m:oMathPara>
                </a14:m>
                <a:endParaRPr lang="en-US" altLang="zh-TW" sz="280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TW" sz="2800" i="1">
                              <a:latin typeface="Cambria Math" panose="02040503050406030204" pitchFamily="18" charset="0"/>
                              <a:ea typeface="Cambria Math" panose="02040503050406030204" pitchFamily="18" charset="0"/>
                            </a:rPr>
                          </m:ctrlPr>
                        </m:sSubPr>
                        <m:e>
                          <m:r>
                            <a:rPr lang="en-US" altLang="zh-TW" sz="2800" i="1">
                              <a:latin typeface="Cambria Math" panose="02040503050406030204" pitchFamily="18" charset="0"/>
                              <a:ea typeface="Cambria Math" panose="02040503050406030204" pitchFamily="18" charset="0"/>
                            </a:rPr>
                            <m:t>𝑋</m:t>
                          </m:r>
                        </m:e>
                        <m:sub>
                          <m:r>
                            <a:rPr lang="en-US" altLang="zh-TW" sz="2800" b="0" i="1" smtClean="0">
                              <a:latin typeface="Cambria Math" panose="02040503050406030204" pitchFamily="18" charset="0"/>
                              <a:ea typeface="Cambria Math" panose="02040503050406030204" pitchFamily="18" charset="0"/>
                            </a:rPr>
                            <m:t>𝑠𝑒𝑔𝑚</m:t>
                          </m:r>
                        </m:sub>
                      </m:sSub>
                      <m:r>
                        <a:rPr lang="en-US" altLang="zh-TW" sz="2800" i="1">
                          <a:latin typeface="Cambria Math" panose="02040503050406030204" pitchFamily="18" charset="0"/>
                          <a:ea typeface="Cambria Math" panose="02040503050406030204" pitchFamily="18" charset="0"/>
                        </a:rPr>
                        <m:t>=</m:t>
                      </m:r>
                      <m:r>
                        <a:rPr lang="zh-TW" altLang="en-US" sz="2800" i="1">
                          <a:latin typeface="Cambria Math" panose="02040503050406030204" pitchFamily="18" charset="0"/>
                          <a:ea typeface="Cambria Math" panose="02040503050406030204" pitchFamily="18" charset="0"/>
                        </a:rPr>
                        <m:t>𝛼</m:t>
                      </m:r>
                      <m:r>
                        <a:rPr lang="en-US" altLang="zh-TW" sz="2800" i="1">
                          <a:latin typeface="Cambria Math" panose="02040503050406030204" pitchFamily="18" charset="0"/>
                          <a:ea typeface="Cambria Math" panose="02040503050406030204" pitchFamily="18" charset="0"/>
                        </a:rPr>
                        <m:t>(</m:t>
                      </m:r>
                      <m:r>
                        <a:rPr lang="en-US" altLang="zh-TW" sz="2800" i="1">
                          <a:latin typeface="Cambria Math" panose="02040503050406030204" pitchFamily="18" charset="0"/>
                          <a:ea typeface="Cambria Math" panose="02040503050406030204" pitchFamily="18" charset="0"/>
                        </a:rPr>
                        <m:t>𝐼</m:t>
                      </m:r>
                      <m:r>
                        <a:rPr lang="en-US" altLang="zh-TW" sz="2800" i="1">
                          <a:latin typeface="Cambria Math" panose="02040503050406030204" pitchFamily="18" charset="0"/>
                          <a:ea typeface="Cambria Math" panose="02040503050406030204" pitchFamily="18" charset="0"/>
                        </a:rPr>
                        <m:t>−</m:t>
                      </m:r>
                      <m:d>
                        <m:dPr>
                          <m:ctrlPr>
                            <a:rPr lang="en-US" altLang="zh-TW" sz="2800" i="1">
                              <a:latin typeface="Cambria Math" panose="02040503050406030204" pitchFamily="18" charset="0"/>
                              <a:ea typeface="Cambria Math" panose="02040503050406030204" pitchFamily="18" charset="0"/>
                            </a:rPr>
                          </m:ctrlPr>
                        </m:dPr>
                        <m:e>
                          <m:r>
                            <a:rPr lang="en-US" altLang="zh-TW" sz="2800" i="1">
                              <a:latin typeface="Cambria Math" panose="02040503050406030204" pitchFamily="18" charset="0"/>
                              <a:ea typeface="Cambria Math" panose="02040503050406030204" pitchFamily="18" charset="0"/>
                            </a:rPr>
                            <m:t>1−</m:t>
                          </m:r>
                          <m:r>
                            <a:rPr lang="zh-TW" altLang="en-US" sz="2800" i="1">
                              <a:latin typeface="Cambria Math" panose="02040503050406030204" pitchFamily="18" charset="0"/>
                              <a:ea typeface="Cambria Math" panose="02040503050406030204" pitchFamily="18" charset="0"/>
                            </a:rPr>
                            <m:t>𝛼</m:t>
                          </m:r>
                        </m:e>
                      </m:d>
                      <m:r>
                        <a:rPr lang="en-US" altLang="zh-TW" sz="2800" i="1">
                          <a:latin typeface="Cambria Math" panose="02040503050406030204" pitchFamily="18" charset="0"/>
                          <a:ea typeface="Cambria Math" panose="02040503050406030204" pitchFamily="18" charset="0"/>
                        </a:rPr>
                        <m:t>𝑆</m:t>
                      </m:r>
                      <m:sSup>
                        <m:sSupPr>
                          <m:ctrlPr>
                            <a:rPr lang="en-US" altLang="zh-TW" sz="2800" i="1">
                              <a:latin typeface="Cambria Math" panose="02040503050406030204" pitchFamily="18" charset="0"/>
                              <a:ea typeface="Cambria Math" panose="02040503050406030204" pitchFamily="18" charset="0"/>
                            </a:rPr>
                          </m:ctrlPr>
                        </m:sSupPr>
                        <m:e>
                          <m:r>
                            <a:rPr lang="en-US" altLang="zh-TW" sz="2800" i="1">
                              <a:latin typeface="Cambria Math" panose="02040503050406030204" pitchFamily="18" charset="0"/>
                              <a:ea typeface="Cambria Math" panose="02040503050406030204" pitchFamily="18" charset="0"/>
                            </a:rPr>
                            <m:t>)</m:t>
                          </m:r>
                        </m:e>
                        <m:sup>
                          <m:r>
                            <a:rPr lang="en-US" altLang="zh-TW" sz="2800" i="1">
                              <a:latin typeface="Cambria Math" panose="02040503050406030204" pitchFamily="18" charset="0"/>
                              <a:ea typeface="Cambria Math" panose="02040503050406030204" pitchFamily="18" charset="0"/>
                            </a:rPr>
                            <m:t>−1</m:t>
                          </m:r>
                        </m:sup>
                      </m:sSup>
                      <m:r>
                        <a:rPr lang="en-US" altLang="zh-TW" sz="2800" b="0" i="1" smtClean="0">
                          <a:latin typeface="Cambria Math" panose="02040503050406030204" pitchFamily="18" charset="0"/>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𝑓𝑔</m:t>
                              </m:r>
                            </m:sub>
                          </m:sSub>
                        </m:num>
                        <m:den>
                          <m:r>
                            <a:rPr lang="en-US" altLang="zh-TW" sz="2800" b="0" i="1" smtClean="0">
                              <a:latin typeface="Cambria Math" panose="02040503050406030204" pitchFamily="18" charset="0"/>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𝑓𝑔</m:t>
                              </m:r>
                            </m:sub>
                          </m:sSub>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m:t>
                              </m:r>
                            </m:e>
                            <m:sup>
                              <m:r>
                                <a:rPr lang="en-US" altLang="zh-TW" sz="2800" b="0" i="1" smtClean="0">
                                  <a:latin typeface="Cambria Math" panose="02040503050406030204" pitchFamily="18" charset="0"/>
                                  <a:ea typeface="Cambria Math" panose="02040503050406030204" pitchFamily="18" charset="0"/>
                                </a:rPr>
                                <m:t>2</m:t>
                              </m:r>
                            </m:sup>
                          </m:sSup>
                        </m:den>
                      </m:f>
                      <m:r>
                        <a:rPr lang="en-US" altLang="zh-TW" sz="2800" b="0" i="1" smtClean="0">
                          <a:latin typeface="Cambria Math" panose="02040503050406030204" pitchFamily="18" charset="0"/>
                          <a:ea typeface="Cambria Math" panose="02040503050406030204" pitchFamily="18" charset="0"/>
                        </a:rPr>
                        <m:t>−</m:t>
                      </m:r>
                      <m:f>
                        <m:fPr>
                          <m:ctrlPr>
                            <a:rPr lang="en-US" altLang="zh-TW" sz="2800" b="0" i="1" smtClean="0">
                              <a:latin typeface="Cambria Math" panose="02040503050406030204" pitchFamily="18" charset="0"/>
                              <a:ea typeface="Cambria Math" panose="02040503050406030204" pitchFamily="18" charset="0"/>
                            </a:rPr>
                          </m:ctrlPr>
                        </m:fPr>
                        <m:num>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𝑏𝑔</m:t>
                              </m:r>
                            </m:sub>
                          </m:sSub>
                        </m:num>
                        <m:den>
                          <m:r>
                            <a:rPr lang="en-US" altLang="zh-TW" sz="2800" b="0" i="1" smtClean="0">
                              <a:latin typeface="Cambria Math" panose="02040503050406030204" pitchFamily="18" charset="0"/>
                              <a:ea typeface="Cambria Math" panose="02040503050406030204" pitchFamily="18" charset="0"/>
                            </a:rPr>
                            <m:t>||</m:t>
                          </m:r>
                          <m:sSub>
                            <m:sSubPr>
                              <m:ctrlPr>
                                <a:rPr lang="en-US" altLang="zh-TW" sz="2800" b="0" i="1" smtClean="0">
                                  <a:latin typeface="Cambria Math" panose="02040503050406030204" pitchFamily="18" charset="0"/>
                                  <a:ea typeface="Cambria Math" panose="02040503050406030204" pitchFamily="18" charset="0"/>
                                </a:rPr>
                              </m:ctrlPr>
                            </m:sSubPr>
                            <m:e>
                              <m:r>
                                <a:rPr lang="en-US" altLang="zh-TW" sz="2800" b="0" i="1" smtClean="0">
                                  <a:latin typeface="Cambria Math" panose="02040503050406030204" pitchFamily="18" charset="0"/>
                                  <a:ea typeface="Cambria Math" panose="02040503050406030204" pitchFamily="18" charset="0"/>
                                </a:rPr>
                                <m:t>𝑌</m:t>
                              </m:r>
                            </m:e>
                            <m:sub>
                              <m:r>
                                <a:rPr lang="en-US" altLang="zh-TW" sz="2800" b="0" i="1" smtClean="0">
                                  <a:latin typeface="Cambria Math" panose="02040503050406030204" pitchFamily="18" charset="0"/>
                                  <a:ea typeface="Cambria Math" panose="02040503050406030204" pitchFamily="18" charset="0"/>
                                </a:rPr>
                                <m:t>𝑏𝑔</m:t>
                              </m:r>
                            </m:sub>
                          </m:sSub>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m:t>
                              </m:r>
                            </m:e>
                            <m:sup>
                              <m:r>
                                <a:rPr lang="en-US" altLang="zh-TW" sz="2800" b="0" i="1" smtClean="0">
                                  <a:latin typeface="Cambria Math" panose="02040503050406030204" pitchFamily="18" charset="0"/>
                                  <a:ea typeface="Cambria Math" panose="02040503050406030204" pitchFamily="18" charset="0"/>
                                </a:rPr>
                                <m:t>2</m:t>
                              </m:r>
                            </m:sup>
                          </m:sSup>
                        </m:den>
                      </m:f>
                      <m:r>
                        <a:rPr lang="en-US" altLang="zh-TW" sz="2800" b="0" i="1" smtClean="0">
                          <a:latin typeface="Cambria Math" panose="02040503050406030204" pitchFamily="18" charset="0"/>
                          <a:ea typeface="Cambria Math" panose="02040503050406030204" pitchFamily="18" charset="0"/>
                        </a:rPr>
                        <m:t>)</m:t>
                      </m:r>
                    </m:oMath>
                  </m:oMathPara>
                </a14:m>
                <a:endParaRPr lang="en-US" altLang="zh-TW" sz="2800"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769042"/>
                <a:ext cx="9071643" cy="5266239"/>
              </a:xfrm>
              <a:blipFill>
                <a:blip r:embed="rId3"/>
                <a:stretch>
                  <a:fillRect l="-2755" t="-2315" b="-567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a:p>
        </p:txBody>
      </p:sp>
      <p:pic>
        <p:nvPicPr>
          <p:cNvPr id="5" name="圖片 4"/>
          <p:cNvPicPr>
            <a:picLocks noChangeAspect="1"/>
          </p:cNvPicPr>
          <p:nvPr/>
        </p:nvPicPr>
        <p:blipFill>
          <a:blip r:embed="rId4"/>
          <a:stretch>
            <a:fillRect/>
          </a:stretch>
        </p:blipFill>
        <p:spPr>
          <a:xfrm>
            <a:off x="1604640" y="2378892"/>
            <a:ext cx="6870358" cy="4768908"/>
          </a:xfrm>
          <a:prstGeom prst="rect">
            <a:avLst/>
          </a:prstGeom>
        </p:spPr>
      </p:pic>
    </p:spTree>
    <p:extLst>
      <p:ext uri="{BB962C8B-B14F-4D97-AF65-F5344CB8AC3E}">
        <p14:creationId xmlns:p14="http://schemas.microsoft.com/office/powerpoint/2010/main" val="2858803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Algorithm(5/5)</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pPr marL="457200" indent="-457200">
              <a:buFont typeface="Arial" panose="020B0604020202020204" pitchFamily="34" charset="0"/>
              <a:buChar char="•"/>
            </a:pPr>
            <a:r>
              <a:rPr lang="en-US" altLang="zh-TW" b="1" dirty="0">
                <a:latin typeface="Cambria Math" panose="02040503050406030204" pitchFamily="18" charset="0"/>
                <a:ea typeface="Cambria Math" panose="02040503050406030204" pitchFamily="18" charset="0"/>
              </a:rPr>
              <a:t>Step 3: Training and classification</a:t>
            </a:r>
          </a:p>
          <a:p>
            <a:r>
              <a:rPr lang="en-US" altLang="zh-TW" dirty="0">
                <a:latin typeface="Cambria Math" panose="02040503050406030204" pitchFamily="18" charset="0"/>
              </a:rPr>
              <a:t>Baseline: </a:t>
            </a:r>
          </a:p>
          <a:p>
            <a:r>
              <a:rPr lang="en-US" altLang="zh-TW" dirty="0">
                <a:latin typeface="Cambria Math" panose="02040503050406030204" pitchFamily="18" charset="0"/>
              </a:rPr>
              <a:t>	Feature: HOG features</a:t>
            </a:r>
          </a:p>
          <a:p>
            <a:r>
              <a:rPr lang="en-US" altLang="zh-TW" dirty="0">
                <a:latin typeface="Cambria Math" panose="02040503050406030204" pitchFamily="18" charset="0"/>
              </a:rPr>
              <a:t>	Classifier: LibSVM </a:t>
            </a:r>
          </a:p>
          <a:p>
            <a:r>
              <a:rPr lang="en-US" altLang="zh-TW" dirty="0">
                <a:latin typeface="Cambria Math" panose="02040503050406030204" pitchFamily="18" charset="0"/>
              </a:rPr>
              <a:t>This paper: Segmentation + Baseline</a:t>
            </a:r>
            <a:endParaRPr lang="zh-TW" altLang="en-US" dirty="0">
              <a:latin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a:p>
        </p:txBody>
      </p:sp>
    </p:spTree>
    <p:extLst>
      <p:ext uri="{BB962C8B-B14F-4D97-AF65-F5344CB8AC3E}">
        <p14:creationId xmlns:p14="http://schemas.microsoft.com/office/powerpoint/2010/main" val="1846195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Result(1/3)</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endParaRPr lang="zh-TW" altLang="en-US" dirty="0">
              <a:latin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a:p>
        </p:txBody>
      </p:sp>
      <p:pic>
        <p:nvPicPr>
          <p:cNvPr id="6" name="圖片 5"/>
          <p:cNvPicPr>
            <a:picLocks noChangeAspect="1"/>
          </p:cNvPicPr>
          <p:nvPr/>
        </p:nvPicPr>
        <p:blipFill>
          <a:blip r:embed="rId2"/>
          <a:stretch>
            <a:fillRect/>
          </a:stretch>
        </p:blipFill>
        <p:spPr>
          <a:xfrm>
            <a:off x="93610" y="1563477"/>
            <a:ext cx="9878629" cy="5217467"/>
          </a:xfrm>
          <a:prstGeom prst="rect">
            <a:avLst/>
          </a:prstGeom>
        </p:spPr>
      </p:pic>
    </p:spTree>
    <p:extLst>
      <p:ext uri="{BB962C8B-B14F-4D97-AF65-F5344CB8AC3E}">
        <p14:creationId xmlns:p14="http://schemas.microsoft.com/office/powerpoint/2010/main" val="118609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Result(2/3)</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dirty="0">
                <a:latin typeface="Cambria Math" panose="02040503050406030204" pitchFamily="18" charset="0"/>
              </a:rPr>
              <a:t>Oxford 102 flower species dataset</a:t>
            </a:r>
          </a:p>
          <a:p>
            <a:endParaRPr lang="zh-TW" altLang="en-US" dirty="0">
              <a:latin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609" y="2398878"/>
            <a:ext cx="9301653" cy="4391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98524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Result(3/3)</a:t>
            </a:r>
            <a:endParaRPr lang="zh-TW" altLang="en-US" b="1"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dirty="0">
                <a:latin typeface="Cambria Math" panose="02040503050406030204" pitchFamily="18" charset="0"/>
              </a:rPr>
              <a:t>Large-scale 578 flower species dataset</a:t>
            </a:r>
          </a:p>
          <a:p>
            <a:endParaRPr lang="zh-TW" altLang="en-US" dirty="0">
              <a:latin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606" y="2358972"/>
            <a:ext cx="9427779" cy="21365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8214782"/>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12641</TotalTime>
  <Words>453</Words>
  <Application>Microsoft Office PowerPoint</Application>
  <PresentationFormat>自訂</PresentationFormat>
  <Paragraphs>67</Paragraphs>
  <Slides>12</Slides>
  <Notes>4</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12</vt:i4>
      </vt:variant>
    </vt:vector>
  </HeadingPairs>
  <TitlesOfParts>
    <vt:vector size="25"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預設</vt:lpstr>
      <vt:lpstr>IEEE Conference on Computer Vision and Pattern Recognition, Oregon, USA, 2013 Anelia Angelova, Shenghuo Zhu</vt:lpstr>
      <vt:lpstr>Abstract(1/3)</vt:lpstr>
      <vt:lpstr>Abstract(2/3)</vt:lpstr>
      <vt:lpstr>Abstract(3/3)</vt:lpstr>
      <vt:lpstr>Algorithm(1/5)</vt:lpstr>
      <vt:lpstr>Algorithm(2/5)</vt:lpstr>
      <vt:lpstr>Algorithm(3/5)</vt:lpstr>
      <vt:lpstr>Algorithm(4/5)</vt:lpstr>
      <vt:lpstr>Algorithm(5/5)</vt:lpstr>
      <vt:lpstr>Result(1/3)</vt:lpstr>
      <vt:lpstr>Result(2/3)</vt:lpstr>
      <vt:lpstr>Result(3/3)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204</cp:revision>
  <dcterms:created xsi:type="dcterms:W3CDTF">2015-10-08T13:19:19Z</dcterms:created>
  <dcterms:modified xsi:type="dcterms:W3CDTF">2016-12-27T08:02:15Z</dcterms:modified>
</cp:coreProperties>
</file>