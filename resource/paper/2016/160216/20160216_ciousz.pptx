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07AA4AF-478E-40A4-98AA-2AA887A7ADDD}">
          <p14:sldIdLst>
            <p14:sldId id="256"/>
            <p14:sldId id="257"/>
            <p14:sldId id="258"/>
            <p14:sldId id="260"/>
            <p14:sldId id="259"/>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6" autoAdjust="0"/>
    <p:restoredTop sz="94700" autoAdjust="0"/>
  </p:normalViewPr>
  <p:slideViewPr>
    <p:cSldViewPr snapToGrid="0">
      <p:cViewPr varScale="1">
        <p:scale>
          <a:sx n="107" d="100"/>
          <a:sy n="107" d="100"/>
        </p:scale>
        <p:origin x="102" y="1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1069801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791765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3073456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1697284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826912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108015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2749255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3454431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1519894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3845833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46FE4D3F-5318-4DF7-A8D8-EE263E4971F6}" type="datetimeFigureOut">
              <a:rPr lang="zh-TW" altLang="en-US" smtClean="0"/>
              <a:t>2016/2/16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113243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FE4D3F-5318-4DF7-A8D8-EE263E4971F6}" type="datetimeFigureOut">
              <a:rPr lang="zh-TW" altLang="en-US" smtClean="0"/>
              <a:t>2016/2/16</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2C406D-A960-4E38-A666-FFEB9F54DD18}" type="slidenum">
              <a:rPr lang="zh-TW" altLang="en-US" smtClean="0"/>
              <a:t>‹#›</a:t>
            </a:fld>
            <a:endParaRPr lang="zh-TW" altLang="en-US"/>
          </a:p>
        </p:txBody>
      </p:sp>
    </p:spTree>
    <p:extLst>
      <p:ext uri="{BB962C8B-B14F-4D97-AF65-F5344CB8AC3E}">
        <p14:creationId xmlns:p14="http://schemas.microsoft.com/office/powerpoint/2010/main" val="550233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7"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4.png"/><Relationship Id="rId10" Type="http://schemas.openxmlformats.org/officeDocument/2006/relationships/image" Target="../media/image18.pn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469220"/>
            <a:ext cx="7772400" cy="2387600"/>
          </a:xfrm>
        </p:spPr>
        <p:txBody>
          <a:bodyPr anchor="t">
            <a:normAutofit/>
          </a:bodyPr>
          <a:lstStyle/>
          <a:p>
            <a:r>
              <a:rPr lang="en-US" altLang="zh-TW" sz="4400" dirty="0" smtClean="0"/>
              <a:t>Computational complexity of similarity retrieval in a pictorial database</a:t>
            </a:r>
            <a:endParaRPr lang="zh-TW" altLang="en-US" sz="4400" dirty="0"/>
          </a:p>
        </p:txBody>
      </p:sp>
      <p:sp>
        <p:nvSpPr>
          <p:cNvPr id="3" name="副標題 2"/>
          <p:cNvSpPr>
            <a:spLocks noGrp="1"/>
          </p:cNvSpPr>
          <p:nvPr>
            <p:ph type="subTitle" idx="1"/>
          </p:nvPr>
        </p:nvSpPr>
        <p:spPr>
          <a:xfrm>
            <a:off x="1143000" y="2408584"/>
            <a:ext cx="6858000" cy="2442193"/>
          </a:xfrm>
        </p:spPr>
        <p:txBody>
          <a:bodyPr>
            <a:normAutofit/>
          </a:bodyPr>
          <a:lstStyle/>
          <a:p>
            <a:r>
              <a:rPr lang="en-US" altLang="zh-TW" sz="2200" dirty="0" smtClean="0"/>
              <a:t>D.J. </a:t>
            </a:r>
            <a:r>
              <a:rPr lang="en-US" altLang="zh-TW" sz="2200" dirty="0" smtClean="0"/>
              <a:t>Guan</a:t>
            </a:r>
          </a:p>
          <a:p>
            <a:r>
              <a:rPr lang="en-US" altLang="zh-TW" sz="1500" dirty="0" smtClean="0"/>
              <a:t>Department of Computer Science, National Sun-</a:t>
            </a:r>
            <a:r>
              <a:rPr lang="en-US" altLang="zh-TW" sz="1500" dirty="0" err="1" smtClean="0"/>
              <a:t>Yat</a:t>
            </a:r>
            <a:r>
              <a:rPr lang="en-US" altLang="zh-TW" sz="1500" dirty="0" smtClean="0"/>
              <a:t>-Sen University, Kaohsiung 80424, Taiwan</a:t>
            </a:r>
            <a:endParaRPr lang="en-US" altLang="zh-TW" sz="1500" dirty="0" smtClean="0"/>
          </a:p>
          <a:p>
            <a:r>
              <a:rPr lang="en-US" altLang="zh-TW" sz="2200" dirty="0" smtClean="0"/>
              <a:t>Chun-Yen Chou</a:t>
            </a:r>
          </a:p>
          <a:p>
            <a:r>
              <a:rPr lang="en-US" altLang="zh-TW" sz="2200" dirty="0" err="1" smtClean="0"/>
              <a:t>Chiou</a:t>
            </a:r>
            <a:r>
              <a:rPr lang="en-US" altLang="zh-TW" sz="2200" dirty="0" smtClean="0"/>
              <a:t>-Wei </a:t>
            </a:r>
            <a:r>
              <a:rPr lang="en-US" altLang="zh-TW" sz="2200" dirty="0" smtClean="0"/>
              <a:t>Chen</a:t>
            </a:r>
          </a:p>
          <a:p>
            <a:r>
              <a:rPr lang="en-US" altLang="zh-TW" sz="1400" dirty="0"/>
              <a:t>Department of </a:t>
            </a:r>
            <a:r>
              <a:rPr lang="en-US" altLang="zh-TW" sz="1400" dirty="0" smtClean="0"/>
              <a:t>Applied Mathematics, </a:t>
            </a:r>
            <a:r>
              <a:rPr lang="en-US" altLang="zh-TW" sz="1400" dirty="0"/>
              <a:t>National Sun-</a:t>
            </a:r>
            <a:r>
              <a:rPr lang="en-US" altLang="zh-TW" sz="1400" dirty="0" err="1"/>
              <a:t>Yat</a:t>
            </a:r>
            <a:r>
              <a:rPr lang="en-US" altLang="zh-TW" sz="1400" dirty="0"/>
              <a:t>-Sen University, Kaohsiung 80424, Taiwan</a:t>
            </a:r>
          </a:p>
          <a:p>
            <a:endParaRPr lang="zh-TW" altLang="en-US" sz="2200" dirty="0"/>
          </a:p>
        </p:txBody>
      </p:sp>
      <p:sp>
        <p:nvSpPr>
          <p:cNvPr id="4" name="文字方塊 3"/>
          <p:cNvSpPr txBox="1"/>
          <p:nvPr/>
        </p:nvSpPr>
        <p:spPr>
          <a:xfrm>
            <a:off x="3172258" y="5830389"/>
            <a:ext cx="2852384" cy="646331"/>
          </a:xfrm>
          <a:prstGeom prst="rect">
            <a:avLst/>
          </a:prstGeom>
          <a:noFill/>
        </p:spPr>
        <p:txBody>
          <a:bodyPr wrap="none" rtlCol="0">
            <a:spAutoFit/>
          </a:bodyPr>
          <a:lstStyle/>
          <a:p>
            <a:r>
              <a:rPr lang="en-US" altLang="zh-TW" dirty="0" smtClean="0"/>
              <a:t>Presenter: </a:t>
            </a:r>
            <a:r>
              <a:rPr lang="en-US" altLang="zh-TW" dirty="0" err="1" smtClean="0"/>
              <a:t>Shiou-Zong</a:t>
            </a:r>
            <a:r>
              <a:rPr lang="en-US" altLang="zh-TW" dirty="0" smtClean="0"/>
              <a:t> </a:t>
            </a:r>
            <a:r>
              <a:rPr lang="en-US" altLang="zh-TW" dirty="0" err="1" smtClean="0"/>
              <a:t>Chiou</a:t>
            </a:r>
            <a:endParaRPr lang="en-US" altLang="zh-TW" dirty="0" smtClean="0"/>
          </a:p>
          <a:p>
            <a:r>
              <a:rPr lang="en-US" altLang="zh-TW" dirty="0" smtClean="0"/>
              <a:t>Date:2016/02/16</a:t>
            </a:r>
            <a:endParaRPr lang="zh-TW" altLang="en-US" dirty="0"/>
          </a:p>
        </p:txBody>
      </p:sp>
      <p:sp>
        <p:nvSpPr>
          <p:cNvPr id="5" name="文字方塊 4"/>
          <p:cNvSpPr txBox="1"/>
          <p:nvPr/>
        </p:nvSpPr>
        <p:spPr>
          <a:xfrm>
            <a:off x="2028162" y="4939553"/>
            <a:ext cx="5087675" cy="646331"/>
          </a:xfrm>
          <a:prstGeom prst="rect">
            <a:avLst/>
          </a:prstGeom>
          <a:noFill/>
        </p:spPr>
        <p:txBody>
          <a:bodyPr wrap="none" rtlCol="0">
            <a:spAutoFit/>
          </a:bodyPr>
          <a:lstStyle/>
          <a:p>
            <a:r>
              <a:rPr lang="en-US" altLang="zh-TW" dirty="0" smtClean="0"/>
              <a:t>Information Processing Letters 75, pp.113-117, 2000</a:t>
            </a:r>
          </a:p>
          <a:p>
            <a:endParaRPr lang="zh-TW" altLang="en-US" dirty="0"/>
          </a:p>
        </p:txBody>
      </p:sp>
    </p:spTree>
    <p:extLst>
      <p:ext uri="{BB962C8B-B14F-4D97-AF65-F5344CB8AC3E}">
        <p14:creationId xmlns:p14="http://schemas.microsoft.com/office/powerpoint/2010/main" val="31866151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Three types of similarity are commonly used in similarity retrieval of a pictorial database. Only one of them is isometric hence transitive. We present polynomial time algorithms to find the maximum similar subpicture of two given pictures when the similarity is isometric. For </a:t>
            </a:r>
            <a:r>
              <a:rPr lang="en-US" altLang="zh-TW" dirty="0" err="1" smtClean="0"/>
              <a:t>nonisometric</a:t>
            </a:r>
            <a:r>
              <a:rPr lang="en-US" altLang="zh-TW" dirty="0" smtClean="0"/>
              <a:t> types, we show that finding a maximum similar subpicture in two given pictures is NP-complete, even then all symbols are distinct, by reducing the satisfiability problem to it.</a:t>
            </a:r>
            <a:endParaRPr lang="zh-TW" altLang="en-US" dirty="0"/>
          </a:p>
        </p:txBody>
      </p:sp>
    </p:spTree>
    <p:extLst>
      <p:ext uri="{BB962C8B-B14F-4D97-AF65-F5344CB8AC3E}">
        <p14:creationId xmlns:p14="http://schemas.microsoft.com/office/powerpoint/2010/main" val="13898730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0" y="2143940"/>
                <a:ext cx="6582032" cy="3263504"/>
              </a:xfrm>
            </p:spPr>
            <p:txBody>
              <a:bodyPr>
                <a:normAutofit/>
              </a:bodyPr>
              <a:lstStyle/>
              <a:p>
                <a:r>
                  <a:rPr lang="en-US" altLang="zh-TW" sz="2400" dirty="0" smtClean="0"/>
                  <a:t>Type-0: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𝑥</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𝑎</m:t>
                    </m:r>
                    <m:r>
                      <a:rPr lang="en-US" altLang="zh-TW" sz="2400" b="0" i="1" smtClean="0">
                        <a:latin typeface="Cambria Math" panose="02040503050406030204" pitchFamily="18" charset="0"/>
                        <a:ea typeface="Cambria Math" panose="02040503050406030204" pitchFamily="18" charset="0"/>
                      </a:rPr>
                      <m:t>≥0 </m:t>
                    </m:r>
                    <m:r>
                      <a:rPr lang="en-US" altLang="zh-TW" sz="2400" b="0" i="1" smtClean="0">
                        <a:latin typeface="Cambria Math" panose="02040503050406030204" pitchFamily="18" charset="0"/>
                        <a:ea typeface="Cambria Math" panose="02040503050406030204" pitchFamily="18" charset="0"/>
                      </a:rPr>
                      <m:t>𝑎𝑛𝑑</m:t>
                    </m:r>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𝑦</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𝑏</m:t>
                    </m:r>
                    <m:r>
                      <a:rPr lang="en-US" altLang="zh-TW" sz="2400" b="0" i="1" smtClean="0">
                        <a:latin typeface="Cambria Math" panose="02040503050406030204" pitchFamily="18" charset="0"/>
                        <a:ea typeface="Cambria Math" panose="02040503050406030204" pitchFamily="18" charset="0"/>
                      </a:rPr>
                      <m:t>≥0</m:t>
                    </m:r>
                  </m:oMath>
                </a14:m>
                <a:r>
                  <a:rPr lang="en-US" altLang="zh-TW" sz="2400" dirty="0" smtClean="0"/>
                  <a:t>.</a:t>
                </a:r>
              </a:p>
              <a:p>
                <a:endParaRPr lang="en-US" altLang="zh-TW" sz="2400" dirty="0"/>
              </a:p>
              <a:p>
                <a:r>
                  <a:rPr lang="en-US" altLang="zh-TW" sz="2400" dirty="0" smtClean="0"/>
                  <a:t>Type-1: </a:t>
                </a:r>
                <a14:m>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𝑥</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𝑎</m:t>
                    </m:r>
                    <m:r>
                      <a:rPr lang="en-US" altLang="zh-TW" sz="2400" b="0" i="1" smtClean="0">
                        <a:latin typeface="Cambria Math" panose="02040503050406030204" pitchFamily="18" charset="0"/>
                        <a:ea typeface="Cambria Math" panose="02040503050406030204" pitchFamily="18" charset="0"/>
                      </a:rPr>
                      <m:t>&gt;0 </m:t>
                    </m:r>
                    <m:r>
                      <a:rPr lang="en-US" altLang="zh-TW" sz="2400" b="0" i="1" smtClean="0">
                        <a:latin typeface="Cambria Math" panose="02040503050406030204" pitchFamily="18" charset="0"/>
                        <a:ea typeface="Cambria Math" panose="02040503050406030204" pitchFamily="18" charset="0"/>
                      </a:rPr>
                      <m:t>𝑜𝑟</m:t>
                    </m:r>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𝑥</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𝑎</m:t>
                    </m:r>
                    <m:r>
                      <a:rPr lang="en-US" altLang="zh-TW" sz="2400" b="0" i="1" smtClean="0">
                        <a:latin typeface="Cambria Math" panose="02040503050406030204" pitchFamily="18" charset="0"/>
                        <a:ea typeface="Cambria Math" panose="02040503050406030204" pitchFamily="18" charset="0"/>
                      </a:rPr>
                      <m:t>=0“</m:t>
                    </m:r>
                  </m:oMath>
                </a14:m>
                <a:r>
                  <a:rPr lang="en-US" altLang="zh-TW" sz="2400" b="0" i="1" dirty="0" smtClean="0">
                    <a:latin typeface="Cambria Math" panose="02040503050406030204" pitchFamily="18" charset="0"/>
                    <a:ea typeface="Cambria Math" panose="02040503050406030204" pitchFamily="18" charset="0"/>
                  </a:rPr>
                  <a:t> and  </a:t>
                </a:r>
              </a:p>
              <a:p>
                <a:pPr marL="0" indent="0">
                  <a:buNone/>
                </a:pPr>
                <a:r>
                  <a:rPr lang="en-US" altLang="zh-TW" sz="2400" i="1" dirty="0">
                    <a:latin typeface="Cambria Math" panose="02040503050406030204" pitchFamily="18" charset="0"/>
                    <a:ea typeface="Cambria Math" panose="02040503050406030204" pitchFamily="18" charset="0"/>
                  </a:rPr>
                  <a:t> </a:t>
                </a:r>
                <a:r>
                  <a:rPr lang="en-US" altLang="zh-TW" sz="2400" i="1" dirty="0" smtClean="0">
                    <a:latin typeface="Cambria Math" panose="02040503050406030204" pitchFamily="18" charset="0"/>
                    <a:ea typeface="Cambria Math" panose="02040503050406030204" pitchFamily="18" charset="0"/>
                  </a:rPr>
                  <a:t>                </a:t>
                </a:r>
                <a14:m>
                  <m:oMath xmlns:m="http://schemas.openxmlformats.org/officeDocument/2006/math">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𝑦</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𝑏</m:t>
                    </m:r>
                    <m:r>
                      <a:rPr lang="en-US" altLang="zh-TW" sz="2400" b="0" i="1" smtClean="0">
                        <a:latin typeface="Cambria Math" panose="02040503050406030204" pitchFamily="18" charset="0"/>
                        <a:ea typeface="Cambria Math" panose="02040503050406030204" pitchFamily="18" charset="0"/>
                      </a:rPr>
                      <m:t>&gt;0 </m:t>
                    </m:r>
                    <m:r>
                      <a:rPr lang="en-US" altLang="zh-TW" sz="2400" b="0" i="1" smtClean="0">
                        <a:latin typeface="Cambria Math" panose="02040503050406030204" pitchFamily="18" charset="0"/>
                        <a:ea typeface="Cambria Math" panose="02040503050406030204" pitchFamily="18" charset="0"/>
                      </a:rPr>
                      <m:t>𝑜𝑟</m:t>
                    </m:r>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𝑦</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𝑏</m:t>
                    </m:r>
                    <m:r>
                      <a:rPr lang="en-US" altLang="zh-TW" sz="2400" b="0" i="1" smtClean="0">
                        <a:latin typeface="Cambria Math" panose="02040503050406030204" pitchFamily="18" charset="0"/>
                        <a:ea typeface="Cambria Math" panose="02040503050406030204" pitchFamily="18" charset="0"/>
                      </a:rPr>
                      <m:t>=0“</m:t>
                    </m:r>
                  </m:oMath>
                </a14:m>
                <a:endParaRPr lang="en-US" altLang="zh-TW" sz="2400" dirty="0" smtClean="0"/>
              </a:p>
              <a:p>
                <a:endParaRPr lang="en-US" altLang="zh-TW" sz="2400" dirty="0"/>
              </a:p>
              <a:p>
                <a:r>
                  <a:rPr lang="en-US" altLang="zh-TW" sz="2400" dirty="0" smtClean="0"/>
                  <a:t>Type-2: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𝑥</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𝑎</m:t>
                    </m:r>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𝑎𝑛𝑑</m:t>
                    </m:r>
                    <m:r>
                      <a:rPr lang="en-US" altLang="zh-TW" sz="2400" b="0" i="1" smtClean="0">
                        <a:latin typeface="Cambria Math" panose="02040503050406030204" pitchFamily="18" charset="0"/>
                        <a:ea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𝑦</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𝑏</m:t>
                    </m:r>
                  </m:oMath>
                </a14:m>
                <a:endParaRPr lang="zh-TW" altLang="en-US"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0" y="2143940"/>
                <a:ext cx="6582032" cy="3263504"/>
              </a:xfrm>
              <a:blipFill rotWithShape="0">
                <a:blip r:embed="rId2"/>
                <a:stretch>
                  <a:fillRect l="-1204" t="-2617"/>
                </a:stretch>
              </a:blipFill>
            </p:spPr>
            <p:txBody>
              <a:bodyPr/>
              <a:lstStyle/>
              <a:p>
                <a:r>
                  <a:rPr lang="zh-TW" altLang="en-US">
                    <a:noFill/>
                  </a:rPr>
                  <a:t> </a:t>
                </a:r>
              </a:p>
            </p:txBody>
          </p:sp>
        </mc:Fallback>
      </mc:AlternateContent>
      <p:graphicFrame>
        <p:nvGraphicFramePr>
          <p:cNvPr id="6" name="表格 5"/>
          <p:cNvGraphicFramePr>
            <a:graphicFrameLocks noGrp="1"/>
          </p:cNvGraphicFramePr>
          <p:nvPr>
            <p:extLst>
              <p:ext uri="{D42A27DB-BD31-4B8C-83A1-F6EECF244321}">
                <p14:modId xmlns:p14="http://schemas.microsoft.com/office/powerpoint/2010/main" val="3056482975"/>
              </p:ext>
            </p:extLst>
          </p:nvPr>
        </p:nvGraphicFramePr>
        <p:xfrm>
          <a:off x="5827242" y="2217357"/>
          <a:ext cx="1172862" cy="900750"/>
        </p:xfrm>
        <a:graphic>
          <a:graphicData uri="http://schemas.openxmlformats.org/drawingml/2006/table">
            <a:tbl>
              <a:tblPr>
                <a:tableStyleId>{93296810-A885-4BE3-A3E7-6D5BEEA58F35}</a:tableStyleId>
              </a:tblPr>
              <a:tblGrid>
                <a:gridCol w="390954"/>
                <a:gridCol w="390954"/>
                <a:gridCol w="390954"/>
              </a:tblGrid>
              <a:tr h="300250">
                <a:tc>
                  <a:txBody>
                    <a:bodyPr/>
                    <a:lstStyle/>
                    <a:p>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dirty="0" smtClean="0"/>
                        <a:t>A</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dirty="0" smtClean="0"/>
                        <a:t>B</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912905007"/>
              </p:ext>
            </p:extLst>
          </p:nvPr>
        </p:nvGraphicFramePr>
        <p:xfrm>
          <a:off x="7597861" y="2224984"/>
          <a:ext cx="1172862" cy="900750"/>
        </p:xfrm>
        <a:graphic>
          <a:graphicData uri="http://schemas.openxmlformats.org/drawingml/2006/table">
            <a:tbl>
              <a:tblPr>
                <a:tableStyleId>{93296810-A885-4BE3-A3E7-6D5BEEA58F35}</a:tableStyleId>
              </a:tblPr>
              <a:tblGrid>
                <a:gridCol w="390954"/>
                <a:gridCol w="390954"/>
                <a:gridCol w="390954"/>
              </a:tblGrid>
              <a:tr h="300250">
                <a:tc>
                  <a:txBody>
                    <a:bodyPr/>
                    <a:lstStyle/>
                    <a:p>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r>
                        <a:rPr lang="en-US" altLang="zh-TW" sz="1400" dirty="0" smtClean="0"/>
                        <a:t>A</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66409226"/>
              </p:ext>
            </p:extLst>
          </p:nvPr>
        </p:nvGraphicFramePr>
        <p:xfrm>
          <a:off x="5827242" y="3386287"/>
          <a:ext cx="1172862" cy="900750"/>
        </p:xfrm>
        <a:graphic>
          <a:graphicData uri="http://schemas.openxmlformats.org/drawingml/2006/table">
            <a:tbl>
              <a:tblPr>
                <a:tableStyleId>{93296810-A885-4BE3-A3E7-6D5BEEA58F35}</a:tableStyleId>
              </a:tblPr>
              <a:tblGrid>
                <a:gridCol w="390954"/>
                <a:gridCol w="390954"/>
                <a:gridCol w="390954"/>
              </a:tblGrid>
              <a:tr h="300250">
                <a:tc>
                  <a:txBody>
                    <a:bodyPr/>
                    <a:lstStyle/>
                    <a:p>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dirty="0" smtClean="0"/>
                        <a:t>A</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dirty="0" smtClean="0"/>
                        <a:t>B</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4182967209"/>
              </p:ext>
            </p:extLst>
          </p:nvPr>
        </p:nvGraphicFramePr>
        <p:xfrm>
          <a:off x="7597861" y="3386287"/>
          <a:ext cx="1172862" cy="900750"/>
        </p:xfrm>
        <a:graphic>
          <a:graphicData uri="http://schemas.openxmlformats.org/drawingml/2006/table">
            <a:tbl>
              <a:tblPr>
                <a:tableStyleId>{93296810-A885-4BE3-A3E7-6D5BEEA58F35}</a:tableStyleId>
              </a:tblPr>
              <a:tblGrid>
                <a:gridCol w="390954"/>
                <a:gridCol w="390954"/>
                <a:gridCol w="390954"/>
              </a:tblGrid>
              <a:tr h="300250">
                <a:tc>
                  <a:txBody>
                    <a:bodyPr/>
                    <a:lstStyle/>
                    <a:p>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dirty="0" smtClean="0"/>
                        <a:t>A</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bl>
          </a:graphicData>
        </a:graphic>
      </p:graphicFrame>
      <mc:AlternateContent xmlns:mc="http://schemas.openxmlformats.org/markup-compatibility/2006" xmlns:a14="http://schemas.microsoft.com/office/drawing/2010/main">
        <mc:Choice Requires="a14">
          <p:sp>
            <p:nvSpPr>
              <p:cNvPr id="11" name="文字方塊 10"/>
              <p:cNvSpPr txBox="1"/>
              <p:nvPr/>
            </p:nvSpPr>
            <p:spPr>
              <a:xfrm>
                <a:off x="6242135" y="1839449"/>
                <a:ext cx="388824"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350" i="1">
                              <a:latin typeface="Cambria Math" panose="02040503050406030204" pitchFamily="18" charset="0"/>
                            </a:rPr>
                          </m:ctrlPr>
                        </m:sSubPr>
                        <m:e>
                          <m:r>
                            <a:rPr lang="en-US" altLang="zh-TW" sz="1350" i="1">
                              <a:latin typeface="Cambria Math" panose="02040503050406030204" pitchFamily="18" charset="0"/>
                            </a:rPr>
                            <m:t>𝑃</m:t>
                          </m:r>
                        </m:e>
                        <m:sub>
                          <m:r>
                            <a:rPr lang="en-US" altLang="zh-TW" sz="1350" i="1">
                              <a:latin typeface="Cambria Math" panose="02040503050406030204" pitchFamily="18" charset="0"/>
                            </a:rPr>
                            <m:t>1</m:t>
                          </m:r>
                        </m:sub>
                      </m:sSub>
                    </m:oMath>
                  </m:oMathPara>
                </a14:m>
                <a:endParaRPr lang="zh-TW" altLang="en-US" sz="135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6242135" y="1839449"/>
                <a:ext cx="388824" cy="300082"/>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8012754" y="1843858"/>
                <a:ext cx="392864"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350" i="1">
                              <a:latin typeface="Cambria Math" panose="02040503050406030204" pitchFamily="18" charset="0"/>
                            </a:rPr>
                          </m:ctrlPr>
                        </m:sSubPr>
                        <m:e>
                          <m:r>
                            <a:rPr lang="en-US" altLang="zh-TW" sz="1350" i="1">
                              <a:latin typeface="Cambria Math" panose="02040503050406030204" pitchFamily="18" charset="0"/>
                            </a:rPr>
                            <m:t>𝑃</m:t>
                          </m:r>
                        </m:e>
                        <m:sub>
                          <m:r>
                            <a:rPr lang="en-US" altLang="zh-TW" sz="1350" i="1">
                              <a:latin typeface="Cambria Math" panose="02040503050406030204" pitchFamily="18" charset="0"/>
                            </a:rPr>
                            <m:t>2</m:t>
                          </m:r>
                        </m:sub>
                      </m:sSub>
                    </m:oMath>
                  </m:oMathPara>
                </a14:m>
                <a:endParaRPr lang="zh-TW" altLang="en-US" sz="135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8012754" y="1843858"/>
                <a:ext cx="392864" cy="300082"/>
              </a:xfrm>
              <a:prstGeom prst="rect">
                <a:avLst/>
              </a:prstGeom>
              <a:blipFill rotWithShape="0">
                <a:blip r:embed="rId4"/>
                <a:stretch>
                  <a:fillRect/>
                </a:stretch>
              </a:blipFill>
            </p:spPr>
            <p:txBody>
              <a:bodyPr/>
              <a:lstStyle/>
              <a:p>
                <a:r>
                  <a:rPr lang="zh-TW" altLang="en-US">
                    <a:noFill/>
                  </a:rPr>
                  <a:t> </a:t>
                </a:r>
              </a:p>
            </p:txBody>
          </p:sp>
        </mc:Fallback>
      </mc:AlternateContent>
      <p:graphicFrame>
        <p:nvGraphicFramePr>
          <p:cNvPr id="14" name="表格 13"/>
          <p:cNvGraphicFramePr>
            <a:graphicFrameLocks noGrp="1"/>
          </p:cNvGraphicFramePr>
          <p:nvPr>
            <p:extLst>
              <p:ext uri="{D42A27DB-BD31-4B8C-83A1-F6EECF244321}">
                <p14:modId xmlns:p14="http://schemas.microsoft.com/office/powerpoint/2010/main" val="2044194981"/>
              </p:ext>
            </p:extLst>
          </p:nvPr>
        </p:nvGraphicFramePr>
        <p:xfrm>
          <a:off x="7597861" y="3378660"/>
          <a:ext cx="1172862" cy="900750"/>
        </p:xfrm>
        <a:graphic>
          <a:graphicData uri="http://schemas.openxmlformats.org/drawingml/2006/table">
            <a:tbl>
              <a:tblPr>
                <a:tableStyleId>{93296810-A885-4BE3-A3E7-6D5BEEA58F35}</a:tableStyleId>
              </a:tblPr>
              <a:tblGrid>
                <a:gridCol w="390954"/>
                <a:gridCol w="390954"/>
                <a:gridCol w="390954"/>
              </a:tblGrid>
              <a:tr h="300250">
                <a:tc>
                  <a:txBody>
                    <a:bodyPr/>
                    <a:lstStyle/>
                    <a:p>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dirty="0" smtClean="0"/>
                        <a:t>A</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1657830812"/>
              </p:ext>
            </p:extLst>
          </p:nvPr>
        </p:nvGraphicFramePr>
        <p:xfrm>
          <a:off x="7597861" y="2217357"/>
          <a:ext cx="1172862" cy="900750"/>
        </p:xfrm>
        <a:graphic>
          <a:graphicData uri="http://schemas.openxmlformats.org/drawingml/2006/table">
            <a:tbl>
              <a:tblPr>
                <a:tableStyleId>{93296810-A885-4BE3-A3E7-6D5BEEA58F35}</a:tableStyleId>
              </a:tblPr>
              <a:tblGrid>
                <a:gridCol w="390954"/>
                <a:gridCol w="390954"/>
                <a:gridCol w="390954"/>
              </a:tblGrid>
              <a:tr h="300250">
                <a:tc>
                  <a:txBody>
                    <a:bodyPr/>
                    <a:lstStyle/>
                    <a:p>
                      <a:r>
                        <a:rPr lang="en-US" altLang="zh-TW" sz="1400" dirty="0" smtClean="0"/>
                        <a:t>A</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3093658547"/>
              </p:ext>
            </p:extLst>
          </p:nvPr>
        </p:nvGraphicFramePr>
        <p:xfrm>
          <a:off x="7597861" y="3386286"/>
          <a:ext cx="1172862" cy="900750"/>
        </p:xfrm>
        <a:graphic>
          <a:graphicData uri="http://schemas.openxmlformats.org/drawingml/2006/table">
            <a:tbl>
              <a:tblPr>
                <a:tableStyleId>{93296810-A885-4BE3-A3E7-6D5BEEA58F35}</a:tableStyleId>
              </a:tblPr>
              <a:tblGrid>
                <a:gridCol w="390954"/>
                <a:gridCol w="390954"/>
                <a:gridCol w="390954"/>
              </a:tblGrid>
              <a:tr h="300250">
                <a:tc>
                  <a:txBody>
                    <a:bodyPr/>
                    <a:lstStyle/>
                    <a:p>
                      <a:r>
                        <a:rPr lang="en-US" altLang="zh-TW" sz="1400" dirty="0" smtClean="0"/>
                        <a:t>A</a:t>
                      </a: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00250">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14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7679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0"/>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4"/>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altLang="zh-TW" i="1" dirty="0" smtClean="0">
                          <a:latin typeface="Cambria Math" panose="02040503050406030204" pitchFamily="18" charset="0"/>
                        </a:rPr>
                        <m:t>𝑀𝑎𝑥𝑖𝑚𝑢𝑚</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𝑠𝑖𝑚𝑖𝑙𝑎𝑟</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𝑠𝑢𝑏𝑝𝑖𝑐𝑡𝑢𝑟𝑒</m:t>
                      </m:r>
                      <m:r>
                        <a:rPr lang="en-US" altLang="zh-TW" b="0" i="1" dirty="0" smtClean="0">
                          <a:latin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𝑐𝑙𝑖𝑞𝑢𝑒</m:t>
                      </m:r>
                      <m:r>
                        <a:rPr lang="en-US" altLang="zh-TW" b="0" i="1" dirty="0" smtClean="0">
                          <a:latin typeface="Cambria Math" panose="02040503050406030204" pitchFamily="18" charset="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𝑝𝑟𝑜𝑏𝑙𝑒𝑚</m:t>
                      </m:r>
                    </m:oMath>
                  </m:oMathPara>
                </a14:m>
                <a:endParaRPr lang="zh-TW" altLang="en-US" dirty="0"/>
              </a:p>
            </p:txBody>
          </p:sp>
        </mc:Choice>
        <mc:Fallback xmlns="">
          <p:sp>
            <p:nvSpPr>
              <p:cNvPr id="2" name="標題 1"/>
              <p:cNvSpPr>
                <a:spLocks noGrp="1" noRot="1" noChangeAspect="1" noMove="1" noResize="1" noEditPoints="1" noAdjustHandles="1" noChangeArrowheads="1" noChangeShapeType="1" noTextEdit="1"/>
              </p:cNvSpPr>
              <p:nvPr>
                <p:ph type="title"/>
              </p:nvPr>
            </p:nvSpPr>
            <p:spPr>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Let the vertex set V be the set of symbols appearing in both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oMath>
                </a14:m>
                <a:r>
                  <a:rPr lang="zh-TW" altLang="en-US" dirty="0" smtClean="0"/>
                  <a:t> </a:t>
                </a:r>
                <a:r>
                  <a:rPr lang="en-US" altLang="zh-TW" dirty="0" smtClean="0"/>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b="0" i="1" smtClean="0">
                            <a:latin typeface="Cambria Math" panose="02040503050406030204" pitchFamily="18" charset="0"/>
                          </a:rPr>
                          <m:t>2</m:t>
                        </m:r>
                      </m:sub>
                    </m:sSub>
                  </m:oMath>
                </a14:m>
                <a:r>
                  <a:rPr lang="en-US" altLang="zh-TW" dirty="0" smtClean="0"/>
                  <a:t>.</a:t>
                </a:r>
              </a:p>
              <a:p>
                <a:pPr marL="0" indent="0">
                  <a:buNone/>
                </a:pPr>
                <a:endParaRPr lang="en-US" altLang="zh-TW" dirty="0"/>
              </a:p>
              <a:p>
                <a:pPr marL="0" indent="0">
                  <a:buNone/>
                </a:pPr>
                <a:r>
                  <a:rPr lang="en-US" altLang="zh-TW" dirty="0" smtClean="0"/>
                  <a:t>There is a edge between A and B </a:t>
                </a:r>
                <a:r>
                  <a:rPr lang="en-US" altLang="zh-TW" dirty="0" err="1" smtClean="0"/>
                  <a:t>iff</a:t>
                </a:r>
                <a:r>
                  <a:rPr lang="en-US" altLang="zh-TW" dirty="0" smtClean="0"/>
                  <a:t> A,B in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1</m:t>
                        </m:r>
                      </m:sub>
                    </m:sSub>
                  </m:oMath>
                </a14:m>
                <a:r>
                  <a:rPr lang="zh-TW" altLang="en-US" dirty="0" smtClean="0"/>
                  <a:t> </a:t>
                </a:r>
                <a:r>
                  <a:rPr lang="en-US" altLang="zh-TW" dirty="0" smtClean="0"/>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b="0" i="1" smtClean="0">
                            <a:latin typeface="Cambria Math" panose="02040503050406030204" pitchFamily="18" charset="0"/>
                          </a:rPr>
                          <m:t>2</m:t>
                        </m:r>
                      </m:sub>
                    </m:sSub>
                  </m:oMath>
                </a14:m>
                <a:r>
                  <a:rPr lang="zh-TW" altLang="en-US" dirty="0" smtClean="0"/>
                  <a:t> </a:t>
                </a:r>
                <a:r>
                  <a:rPr lang="en-US" altLang="zh-TW" dirty="0" smtClean="0"/>
                  <a:t>have the spatial relation of type-</a:t>
                </a:r>
                <a:r>
                  <a:rPr lang="en-US" altLang="zh-TW" dirty="0" err="1"/>
                  <a:t>i</a:t>
                </a:r>
                <a:r>
                  <a:rPr lang="en-US" altLang="zh-TW" dirty="0" err="1" smtClean="0"/>
                  <a:t>,i</a:t>
                </a:r>
                <a:r>
                  <a:rPr lang="en-US" altLang="zh-TW" dirty="0" smtClean="0"/>
                  <a:t>=0,1,2.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3"/>
                <a:stretch>
                  <a:fillRect l="-1546" t="-2241"/>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3620721746"/>
              </p:ext>
            </p:extLst>
          </p:nvPr>
        </p:nvGraphicFramePr>
        <p:xfrm>
          <a:off x="628650"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G</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F</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A</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B</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E</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C</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latin typeface="+mn-lt"/>
                        </a:rPr>
                        <a:t>D</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414080785"/>
              </p:ext>
            </p:extLst>
          </p:nvPr>
        </p:nvGraphicFramePr>
        <p:xfrm>
          <a:off x="3404902"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t>E</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B</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C</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D</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F</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文字方塊 6"/>
          <p:cNvSpPr txBox="1"/>
          <p:nvPr/>
        </p:nvSpPr>
        <p:spPr>
          <a:xfrm>
            <a:off x="6820986" y="6258247"/>
            <a:ext cx="815416" cy="369332"/>
          </a:xfrm>
          <a:prstGeom prst="rect">
            <a:avLst/>
          </a:prstGeom>
          <a:noFill/>
        </p:spPr>
        <p:txBody>
          <a:bodyPr wrap="none" rtlCol="0">
            <a:spAutoFit/>
          </a:bodyPr>
          <a:lstStyle/>
          <a:p>
            <a:r>
              <a:rPr lang="en-US" altLang="zh-TW" dirty="0" smtClean="0"/>
              <a:t>Type-1</a:t>
            </a:r>
            <a:endParaRPr lang="zh-TW" altLang="en-US" dirty="0"/>
          </a:p>
        </p:txBody>
      </p:sp>
      <p:pic>
        <p:nvPicPr>
          <p:cNvPr id="8" name="圖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6621" y="4187752"/>
            <a:ext cx="2124147" cy="2124147"/>
          </a:xfrm>
          <a:prstGeom prst="rect">
            <a:avLst/>
          </a:prstGeom>
        </p:spPr>
      </p:pic>
    </p:spTree>
    <p:extLst>
      <p:ext uri="{BB962C8B-B14F-4D97-AF65-F5344CB8AC3E}">
        <p14:creationId xmlns:p14="http://schemas.microsoft.com/office/powerpoint/2010/main" val="3309616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Type-2</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71078" y="1690689"/>
                <a:ext cx="8201841" cy="4351338"/>
              </a:xfrm>
            </p:spPr>
            <p:txBody>
              <a:bodyPr/>
              <a:lstStyle/>
              <a:p>
                <a:pPr marL="0" indent="0">
                  <a:buNone/>
                </a:pPr>
                <a:r>
                  <a:rPr lang="en-US" altLang="zh-TW" dirty="0" smtClean="0"/>
                  <a:t>When all symbols are distinct, it can be solved in </a:t>
                </a:r>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𝑛</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oMath>
                </a14:m>
                <a:r>
                  <a:rPr lang="en-US" altLang="zh-TW" dirty="0" smtClean="0"/>
                  <a:t>.</a:t>
                </a:r>
              </a:p>
              <a:p>
                <a:pPr marL="0" indent="0">
                  <a:buNone/>
                </a:pPr>
                <a:endParaRPr lang="en-US" altLang="zh-TW" dirty="0" smtClean="0"/>
              </a:p>
              <a:p>
                <a:pPr marL="0" indent="0">
                  <a:buNone/>
                </a:pPr>
                <a:r>
                  <a:rPr lang="en-US" altLang="zh-TW" dirty="0" smtClean="0"/>
                  <a:t>If A and B have a relation of type-2,and B and C have a relation of type-2, then A and C have a relation of type-2.</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71078" y="1690689"/>
                <a:ext cx="8201841" cy="4351338"/>
              </a:xfrm>
              <a:blipFill rotWithShape="0">
                <a:blip r:embed="rId2"/>
                <a:stretch>
                  <a:fillRect l="-1486" t="-2241" r="-2600"/>
                </a:stretch>
              </a:blipFill>
            </p:spPr>
            <p:txBody>
              <a:bodyPr/>
              <a:lstStyle/>
              <a:p>
                <a:r>
                  <a:rPr lang="zh-TW" altLang="en-US">
                    <a:noFill/>
                  </a:rPr>
                  <a:t> </a:t>
                </a:r>
              </a:p>
            </p:txBody>
          </p:sp>
        </mc:Fallback>
      </mc:AlternateContent>
      <p:graphicFrame>
        <p:nvGraphicFramePr>
          <p:cNvPr id="6" name="表格 5"/>
          <p:cNvGraphicFramePr>
            <a:graphicFrameLocks noGrp="1"/>
          </p:cNvGraphicFramePr>
          <p:nvPr>
            <p:extLst>
              <p:ext uri="{D42A27DB-BD31-4B8C-83A1-F6EECF244321}">
                <p14:modId xmlns:p14="http://schemas.microsoft.com/office/powerpoint/2010/main" val="233991495"/>
              </p:ext>
            </p:extLst>
          </p:nvPr>
        </p:nvGraphicFramePr>
        <p:xfrm>
          <a:off x="628650"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G</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F</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A</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B</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E</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C</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latin typeface="+mn-lt"/>
                        </a:rPr>
                        <a:t>D</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744042675"/>
              </p:ext>
            </p:extLst>
          </p:nvPr>
        </p:nvGraphicFramePr>
        <p:xfrm>
          <a:off x="3404902"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t>E</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B</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C</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t>D</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F</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2364" y="4191343"/>
            <a:ext cx="2120555" cy="2120555"/>
          </a:xfrm>
          <a:prstGeom prst="rect">
            <a:avLst/>
          </a:prstGeom>
        </p:spPr>
      </p:pic>
    </p:spTree>
    <p:extLst>
      <p:ext uri="{BB962C8B-B14F-4D97-AF65-F5344CB8AC3E}">
        <p14:creationId xmlns:p14="http://schemas.microsoft.com/office/powerpoint/2010/main" val="31926183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Type-2</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231593" y="1690689"/>
                <a:ext cx="8680813" cy="4351338"/>
              </a:xfrm>
            </p:spPr>
            <p:txBody>
              <a:bodyPr/>
              <a:lstStyle/>
              <a:p>
                <a:pPr marL="0" indent="0">
                  <a:buNone/>
                </a:pPr>
                <a:r>
                  <a:rPr lang="en-US" altLang="zh-TW" dirty="0" smtClean="0"/>
                  <a:t>When symbols are not all distinct, can </a:t>
                </a:r>
                <a:r>
                  <a:rPr lang="en-US" altLang="zh-TW" dirty="0"/>
                  <a:t>be solved in </a:t>
                </a:r>
                <a14:m>
                  <m:oMath xmlns:m="http://schemas.openxmlformats.org/officeDocument/2006/math">
                    <m:r>
                      <a:rPr lang="en-US" altLang="zh-TW" i="1">
                        <a:latin typeface="Cambria Math" panose="02040503050406030204" pitchFamily="18" charset="0"/>
                      </a:rPr>
                      <m:t>𝑂</m:t>
                    </m:r>
                    <m:d>
                      <m:dPr>
                        <m:ctrlPr>
                          <a:rPr lang="en-US" altLang="zh-TW" i="1">
                            <a:latin typeface="Cambria Math" panose="02040503050406030204" pitchFamily="18" charset="0"/>
                          </a:rPr>
                        </m:ctrlPr>
                      </m:dPr>
                      <m:e>
                        <m:sSup>
                          <m:sSupPr>
                            <m:ctrlPr>
                              <a:rPr lang="en-US" altLang="zh-TW" i="1">
                                <a:latin typeface="Cambria Math" panose="02040503050406030204" pitchFamily="18" charset="0"/>
                              </a:rPr>
                            </m:ctrlPr>
                          </m:sSupPr>
                          <m:e>
                            <m:r>
                              <a:rPr lang="en-US" altLang="zh-TW" i="1">
                                <a:latin typeface="Cambria Math" panose="02040503050406030204" pitchFamily="18" charset="0"/>
                              </a:rPr>
                              <m:t>𝑛</m:t>
                            </m:r>
                          </m:e>
                          <m:sup>
                            <m:r>
                              <a:rPr lang="en-US" altLang="zh-TW" b="0" i="1" smtClean="0">
                                <a:latin typeface="Cambria Math" panose="02040503050406030204" pitchFamily="18" charset="0"/>
                              </a:rPr>
                              <m:t>3</m:t>
                            </m:r>
                          </m:sup>
                        </m:sSup>
                      </m:e>
                    </m:d>
                    <m:r>
                      <a:rPr lang="en-US" altLang="zh-TW" b="0" i="0" smtClean="0">
                        <a:latin typeface="Cambria Math" panose="02040503050406030204" pitchFamily="18" charset="0"/>
                      </a:rPr>
                      <m:t>.</m:t>
                    </m:r>
                  </m:oMath>
                </a14:m>
                <a:endParaRPr lang="en-US" altLang="zh-TW" dirty="0" smtClean="0"/>
              </a:p>
              <a:p>
                <a:pPr marL="0" indent="0">
                  <a:buNone/>
                </a:pPr>
                <a:endParaRPr lang="en-US" altLang="zh-TW" dirty="0" smtClean="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231593" y="1690689"/>
                <a:ext cx="8680813" cy="4351338"/>
              </a:xfrm>
              <a:blipFill rotWithShape="0">
                <a:blip r:embed="rId2"/>
                <a:stretch>
                  <a:fillRect l="-1475" t="-22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ext uri="{D42A27DB-BD31-4B8C-83A1-F6EECF244321}">
                    <p14:modId xmlns:p14="http://schemas.microsoft.com/office/powerpoint/2010/main" val="3728552748"/>
                  </p:ext>
                </p:extLst>
              </p:nvPr>
            </p:nvGraphicFramePr>
            <p:xfrm>
              <a:off x="628650"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A</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000" b="0" dirty="0" smtClean="0">
                              <a:solidFill>
                                <a:schemeClr val="tx1"/>
                              </a:solidFill>
                              <a:latin typeface="+mn-lt"/>
                            </a:rPr>
                            <a:t>G</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F</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2000" b="0" i="1" dirty="0" smtClean="0">
                                        <a:latin typeface="Cambria Math" panose="02040503050406030204" pitchFamily="18" charset="0"/>
                                      </a:rPr>
                                    </m:ctrlPr>
                                  </m:sSupPr>
                                  <m:e>
                                    <m:r>
                                      <m:rPr>
                                        <m:sty m:val="p"/>
                                      </m:rPr>
                                      <a:rPr lang="en-US" altLang="zh-TW" sz="2000" b="0" i="1" dirty="0" smtClean="0">
                                        <a:latin typeface="Cambria Math" panose="02040503050406030204" pitchFamily="18" charset="0"/>
                                      </a:rPr>
                                      <m:t>A</m:t>
                                    </m:r>
                                  </m:e>
                                  <m:sup>
                                    <m:r>
                                      <a:rPr lang="zh-TW" altLang="en-US" sz="2000" b="0" i="1" dirty="0" smtClean="0">
                                        <a:latin typeface="Cambria Math" panose="02040503050406030204" pitchFamily="18" charset="0"/>
                                      </a:rPr>
                                      <m:t>∗</m:t>
                                    </m:r>
                                  </m:sup>
                                </m:sSup>
                              </m:oMath>
                            </m:oMathPara>
                          </a14:m>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B</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E</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C</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latin typeface="+mn-lt"/>
                            </a:rPr>
                            <a:t>D</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3728552748"/>
                  </p:ext>
                </p:extLst>
              </p:nvPr>
            </p:nvGraphicFramePr>
            <p:xfrm>
              <a:off x="628650"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A</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000" b="0" dirty="0" smtClean="0">
                              <a:solidFill>
                                <a:schemeClr val="tx1"/>
                              </a:solidFill>
                              <a:latin typeface="+mn-lt"/>
                            </a:rPr>
                            <a:t>G</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latin typeface="+mn-lt"/>
                            </a:rPr>
                            <a:t>F</a:t>
                          </a:r>
                          <a:endParaRPr lang="zh-TW" altLang="en-US" sz="2000" b="0" dirty="0">
                            <a:solidFill>
                              <a:schemeClr val="tx1"/>
                            </a:solidFill>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101299" t="-104286" r="-301299" b="-320000"/>
                          </a:stretch>
                        </a:blip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B</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E</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latin typeface="+mn-lt"/>
                            </a:rPr>
                            <a:t>C</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latin typeface="+mn-lt"/>
                            </a:rPr>
                            <a:t>D</a:t>
                          </a: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latin typeface="+mn-lt"/>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3910807995"/>
                  </p:ext>
                </p:extLst>
              </p:nvPr>
            </p:nvGraphicFramePr>
            <p:xfrm>
              <a:off x="3404902"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t>E</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B</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C</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D</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F</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2000" b="0" i="1" smtClean="0">
                                        <a:latin typeface="Cambria Math" panose="02040503050406030204" pitchFamily="18" charset="0"/>
                                      </a:rPr>
                                    </m:ctrlPr>
                                  </m:sSupPr>
                                  <m:e>
                                    <m:r>
                                      <m:rPr>
                                        <m:sty m:val="p"/>
                                      </m:rPr>
                                      <a:rPr lang="en-US" altLang="zh-TW" sz="2000" b="0" i="1" smtClean="0">
                                        <a:latin typeface="Cambria Math" panose="02040503050406030204" pitchFamily="18" charset="0"/>
                                      </a:rPr>
                                      <m:t>A</m:t>
                                    </m:r>
                                  </m:e>
                                  <m:sup>
                                    <m:r>
                                      <a:rPr lang="zh-TW" altLang="en-US" sz="2000" b="0" i="1" smtClean="0">
                                        <a:latin typeface="Cambria Math" panose="02040503050406030204" pitchFamily="18" charset="0"/>
                                      </a:rPr>
                                      <m:t>∗</m:t>
                                    </m:r>
                                  </m:sup>
                                </m:sSup>
                              </m:oMath>
                            </m:oMathPara>
                          </a14:m>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000" b="0" dirty="0" smtClean="0"/>
                            <a:t>G</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3910807995"/>
                  </p:ext>
                </p:extLst>
              </p:nvPr>
            </p:nvGraphicFramePr>
            <p:xfrm>
              <a:off x="3404902" y="4191344"/>
              <a:ext cx="2334195" cy="2120555"/>
            </p:xfrm>
            <a:graphic>
              <a:graphicData uri="http://schemas.openxmlformats.org/drawingml/2006/table">
                <a:tbl>
                  <a:tblPr firstRow="1" bandRow="1">
                    <a:tableStyleId>{5C22544A-7EE6-4342-B048-85BDC9FD1C3A}</a:tableStyleId>
                  </a:tblPr>
                  <a:tblGrid>
                    <a:gridCol w="466839"/>
                    <a:gridCol w="466839"/>
                    <a:gridCol w="466839"/>
                    <a:gridCol w="466839"/>
                    <a:gridCol w="466839"/>
                  </a:tblGrid>
                  <a:tr h="424111">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solidFill>
                              <a:schemeClr val="tx1"/>
                            </a:solidFill>
                          </a:endParaRPr>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r>
                            <a:rPr lang="en-US" altLang="zh-TW" sz="2000" b="0" dirty="0" smtClean="0"/>
                            <a:t>E</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B</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C</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D</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000" b="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4111">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000" b="0" dirty="0" smtClean="0"/>
                            <a:t>F</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203947" t="-402857" r="-205263" b="-21429"/>
                          </a:stretch>
                        </a:blipFill>
                      </a:tcPr>
                    </a:tc>
                    <a:tc>
                      <a:txBody>
                        <a:bodyPr/>
                        <a:lstStyle/>
                        <a:p>
                          <a:pPr algn="ctr"/>
                          <a:r>
                            <a:rPr lang="en-US" altLang="zh-TW" sz="2000" b="0" dirty="0" smtClean="0"/>
                            <a:t>G</a:t>
                          </a: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000" b="0" dirty="0"/>
                        </a:p>
                      </a:txBody>
                      <a:tcPr marL="72780" marR="72780" marT="36390" marB="363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3624084300"/>
                  </p:ext>
                </p:extLst>
              </p:nvPr>
            </p:nvGraphicFramePr>
            <p:xfrm>
              <a:off x="6327458" y="3383787"/>
              <a:ext cx="487680" cy="3010408"/>
            </p:xfrm>
            <a:graphic>
              <a:graphicData uri="http://schemas.openxmlformats.org/drawingml/2006/table">
                <a:tbl>
                  <a:tblPr>
                    <a:tableStyleId>{5C22544A-7EE6-4342-B048-85BDC9FD1C3A}</a:tableStyleId>
                  </a:tblPr>
                  <a:tblGrid>
                    <a:gridCol w="487680"/>
                  </a:tblGrid>
                  <a:tr h="376301">
                    <a:tc>
                      <a:txBody>
                        <a:bodyPr/>
                        <a:lstStyle/>
                        <a:p>
                          <a:pPr algn="ctr"/>
                          <a:r>
                            <a:rPr lang="en-US" altLang="zh-TW" dirty="0" smtClean="0"/>
                            <a:t>D</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C</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800" b="0" i="1" dirty="0" smtClean="0">
                                        <a:latin typeface="Cambria Math" panose="02040503050406030204" pitchFamily="18" charset="0"/>
                                      </a:rPr>
                                    </m:ctrlPr>
                                  </m:sSupPr>
                                  <m:e>
                                    <m:r>
                                      <m:rPr>
                                        <m:sty m:val="p"/>
                                      </m:rPr>
                                      <a:rPr lang="en-US" altLang="zh-TW" sz="1800" b="0" i="1" dirty="0" smtClean="0">
                                        <a:latin typeface="Cambria Math" panose="02040503050406030204" pitchFamily="18" charset="0"/>
                                      </a:rPr>
                                      <m:t>A</m:t>
                                    </m:r>
                                  </m:e>
                                  <m:sup>
                                    <m:r>
                                      <a:rPr lang="zh-TW" altLang="en-US" sz="1800" b="0" i="1" dirty="0" smtClean="0">
                                        <a:latin typeface="Cambria Math" panose="02040503050406030204" pitchFamily="18" charset="0"/>
                                      </a:rPr>
                                      <m:t>∗</m:t>
                                    </m:r>
                                  </m:sup>
                                </m:s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A</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G</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B</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F</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3624084300"/>
                  </p:ext>
                </p:extLst>
              </p:nvPr>
            </p:nvGraphicFramePr>
            <p:xfrm>
              <a:off x="6327458" y="3383787"/>
              <a:ext cx="487680" cy="3010408"/>
            </p:xfrm>
            <a:graphic>
              <a:graphicData uri="http://schemas.openxmlformats.org/drawingml/2006/table">
                <a:tbl>
                  <a:tblPr>
                    <a:tableStyleId>{5C22544A-7EE6-4342-B048-85BDC9FD1C3A}</a:tableStyleId>
                  </a:tblPr>
                  <a:tblGrid>
                    <a:gridCol w="487680"/>
                  </a:tblGrid>
                  <a:tr h="376301">
                    <a:tc>
                      <a:txBody>
                        <a:bodyPr/>
                        <a:lstStyle/>
                        <a:p>
                          <a:pPr algn="ctr"/>
                          <a:r>
                            <a:rPr lang="en-US" altLang="zh-TW" dirty="0" smtClean="0"/>
                            <a:t>D</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C</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1235" t="-306452" r="-3704" b="-422581"/>
                          </a:stretch>
                        </a:blipFill>
                      </a:tcPr>
                    </a:tc>
                  </a:tr>
                  <a:tr h="376301">
                    <a:tc>
                      <a:txBody>
                        <a:bodyPr/>
                        <a:lstStyle/>
                        <a:p>
                          <a:pPr algn="ctr"/>
                          <a:r>
                            <a:rPr lang="en-US" altLang="zh-TW" dirty="0" smtClean="0"/>
                            <a:t>A</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G</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B</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F</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extLst>
                  <p:ext uri="{D42A27DB-BD31-4B8C-83A1-F6EECF244321}">
                    <p14:modId xmlns:p14="http://schemas.microsoft.com/office/powerpoint/2010/main" val="769513737"/>
                  </p:ext>
                </p:extLst>
              </p:nvPr>
            </p:nvGraphicFramePr>
            <p:xfrm>
              <a:off x="7403499" y="3383787"/>
              <a:ext cx="487680" cy="3010408"/>
            </p:xfrm>
            <a:graphic>
              <a:graphicData uri="http://schemas.openxmlformats.org/drawingml/2006/table">
                <a:tbl>
                  <a:tblPr>
                    <a:tableStyleId>{5C22544A-7EE6-4342-B048-85BDC9FD1C3A}</a:tableStyleId>
                  </a:tblPr>
                  <a:tblGrid>
                    <a:gridCol w="487680"/>
                  </a:tblGrid>
                  <a:tr h="376301">
                    <a:tc>
                      <a:txBody>
                        <a:bodyPr/>
                        <a:lstStyle/>
                        <a:p>
                          <a:pPr algn="ctr"/>
                          <a:r>
                            <a:rPr lang="en-US" altLang="zh-TW" dirty="0" smtClean="0"/>
                            <a:t>D</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14:m>
                            <m:oMathPara xmlns:m="http://schemas.openxmlformats.org/officeDocument/2006/math">
                              <m:oMathParaPr>
                                <m:jc m:val="centerGroup"/>
                              </m:oMathParaPr>
                              <m:oMath xmlns:m="http://schemas.openxmlformats.org/officeDocument/2006/math">
                                <m:sSup>
                                  <m:sSupPr>
                                    <m:ctrlPr>
                                      <a:rPr lang="en-US" altLang="zh-TW" sz="1800" b="0" i="1" dirty="0" smtClean="0">
                                        <a:latin typeface="Cambria Math" panose="02040503050406030204" pitchFamily="18" charset="0"/>
                                      </a:rPr>
                                    </m:ctrlPr>
                                  </m:sSupPr>
                                  <m:e>
                                    <m:r>
                                      <m:rPr>
                                        <m:sty m:val="p"/>
                                      </m:rPr>
                                      <a:rPr lang="en-US" altLang="zh-TW" sz="1800" b="0" i="1" dirty="0" smtClean="0">
                                        <a:latin typeface="Cambria Math" panose="02040503050406030204" pitchFamily="18" charset="0"/>
                                      </a:rPr>
                                      <m:t>A</m:t>
                                    </m:r>
                                  </m:e>
                                  <m:sup>
                                    <m:r>
                                      <a:rPr lang="zh-TW" altLang="en-US" sz="1800" b="0" i="1" dirty="0" smtClean="0">
                                        <a:latin typeface="Cambria Math" panose="02040503050406030204" pitchFamily="18" charset="0"/>
                                      </a:rPr>
                                      <m:t>∗</m:t>
                                    </m:r>
                                  </m:sup>
                                </m:s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G</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C</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A</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B</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Choice>
        <mc:Fallback xmlns="">
          <p:graphicFrame>
            <p:nvGraphicFramePr>
              <p:cNvPr id="7" name="表格 6"/>
              <p:cNvGraphicFramePr>
                <a:graphicFrameLocks noGrp="1"/>
              </p:cNvGraphicFramePr>
              <p:nvPr>
                <p:extLst>
                  <p:ext uri="{D42A27DB-BD31-4B8C-83A1-F6EECF244321}">
                    <p14:modId xmlns:p14="http://schemas.microsoft.com/office/powerpoint/2010/main" val="769513737"/>
                  </p:ext>
                </p:extLst>
              </p:nvPr>
            </p:nvGraphicFramePr>
            <p:xfrm>
              <a:off x="7403499" y="3383787"/>
              <a:ext cx="487680" cy="3010408"/>
            </p:xfrm>
            <a:graphic>
              <a:graphicData uri="http://schemas.openxmlformats.org/drawingml/2006/table">
                <a:tbl>
                  <a:tblPr>
                    <a:tableStyleId>{5C22544A-7EE6-4342-B048-85BDC9FD1C3A}</a:tableStyleId>
                  </a:tblPr>
                  <a:tblGrid>
                    <a:gridCol w="487680"/>
                  </a:tblGrid>
                  <a:tr h="376301">
                    <a:tc>
                      <a:txBody>
                        <a:bodyPr/>
                        <a:lstStyle/>
                        <a:p>
                          <a:pPr algn="ctr"/>
                          <a:r>
                            <a:rPr lang="en-US" altLang="zh-TW" dirty="0" smtClean="0"/>
                            <a:t>D</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6"/>
                          <a:stretch>
                            <a:fillRect l="-1235" t="-108065" r="-2469" b="-600000"/>
                          </a:stretch>
                        </a:blipFill>
                      </a:tcPr>
                    </a:tc>
                  </a:tr>
                  <a:tr h="376301">
                    <a:tc>
                      <a:txBody>
                        <a:bodyPr/>
                        <a:lstStyle/>
                        <a:p>
                          <a:pPr algn="ctr"/>
                          <a:r>
                            <a:rPr lang="en-US" altLang="zh-TW" dirty="0" smtClean="0"/>
                            <a:t>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G</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C</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A</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r>
                            <a:rPr lang="en-US" altLang="zh-TW" dirty="0" smtClean="0"/>
                            <a:t>B</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6301">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cxnSp>
        <p:nvCxnSpPr>
          <p:cNvPr id="9" name="直線單箭頭接點 8"/>
          <p:cNvCxnSpPr/>
          <p:nvPr/>
        </p:nvCxnSpPr>
        <p:spPr>
          <a:xfrm>
            <a:off x="628650" y="5888736"/>
            <a:ext cx="468630" cy="423163"/>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1" name="直線單箭頭接點 10"/>
          <p:cNvCxnSpPr/>
          <p:nvPr/>
        </p:nvCxnSpPr>
        <p:spPr>
          <a:xfrm>
            <a:off x="628650" y="5458968"/>
            <a:ext cx="934974" cy="8529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851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Type-0 and type-1</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r>
                      <a:rPr lang="en-US" altLang="zh-TW" b="0" i="1" smtClean="0">
                        <a:latin typeface="Cambria Math" panose="02040503050406030204" pitchFamily="18" charset="0"/>
                      </a:rPr>
                      <m:t>𝑆𝐴𝑇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𝑚𝑎𝑥𝑖𝑚𝑢𝑛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𝑠𝑖𝑚𝑖𝑙𝑎𝑟</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𝑠𝑢𝑏𝑝𝑖𝑐𝑡𝑢𝑟𝑒</m:t>
                    </m:r>
                  </m:oMath>
                </a14:m>
                <a:r>
                  <a:rPr lang="en-US" altLang="zh-TW" dirty="0" smtClean="0"/>
                  <a:t>.</a:t>
                </a: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t="-22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628650" y="2294709"/>
                <a:ext cx="5202065" cy="3740126"/>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𝑟</m:t>
                          </m:r>
                        </m:sup>
                      </m:sSubSup>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h</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r>
                        <a:rPr lang="en-US" altLang="zh-TW" b="0" i="1" smtClean="0">
                          <a:latin typeface="Cambria Math" panose="02040503050406030204" pitchFamily="18" charset="0"/>
                        </a:rPr>
                        <m:t>))]</m:t>
                      </m:r>
                    </m:oMath>
                  </m:oMathPara>
                </a14:m>
                <a:endParaRPr lang="en-US" altLang="zh-TW"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i="1">
                              <a:latin typeface="Cambria Math" panose="02040503050406030204" pitchFamily="18" charset="0"/>
                            </a:rPr>
                            <m:t>2</m:t>
                          </m:r>
                        </m:sub>
                      </m:sSub>
                      <m:r>
                        <a:rPr lang="en-US" altLang="zh-TW" b="0" i="1" smtClean="0">
                          <a:latin typeface="Cambria Math" panose="02040503050406030204" pitchFamily="18" charset="0"/>
                        </a:rPr>
                        <m:t>:[</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𝑟</m:t>
                          </m:r>
                        </m:sup>
                      </m:sSubSup>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i="1">
                              <a:latin typeface="Cambria Math" panose="02040503050406030204" pitchFamily="18" charset="0"/>
                            </a:rPr>
                            <m:t>2</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h</m:t>
                          </m:r>
                        </m:e>
                        <m:sub>
                          <m:r>
                            <a:rPr lang="en-US" altLang="zh-TW" i="1">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r>
                        <a:rPr lang="en-US" altLang="zh-TW" b="0" i="1" smtClean="0">
                          <a:latin typeface="Cambria Math" panose="02040503050406030204" pitchFamily="18" charset="0"/>
                        </a:rPr>
                        <m:t>))]</m:t>
                      </m:r>
                    </m:oMath>
                  </m:oMathPara>
                </a14:m>
                <a:endParaRPr lang="en-US" altLang="zh-TW"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e>
                      </m:d>
                      <m:r>
                        <a:rPr lang="en-US" altLang="zh-TW" b="0"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3</m:t>
                                </m:r>
                                <m:r>
                                  <a:rPr lang="en-US" altLang="zh-TW" b="0" i="1" smtClean="0">
                                    <a:latin typeface="Cambria Math" panose="02040503050406030204" pitchFamily="18" charset="0"/>
                                  </a:rPr>
                                  <m:t>𝑟</m:t>
                                </m:r>
                                <m:r>
                                  <a:rPr lang="en-US" altLang="zh-TW" b="0" i="1" smtClean="0">
                                    <a:latin typeface="Cambria Math" panose="02040503050406030204" pitchFamily="18" charset="0"/>
                                  </a:rPr>
                                  <m:t>−2</m:t>
                                </m:r>
                              </m:e>
                            </m:mr>
                            <m:mr>
                              <m:e>
                                <m:r>
                                  <a:rPr lang="en-US" altLang="zh-TW" b="0" i="1" smtClean="0">
                                    <a:latin typeface="Cambria Math" panose="02040503050406030204" pitchFamily="18" charset="0"/>
                                  </a:rPr>
                                  <m:t>3</m:t>
                                </m:r>
                                <m:r>
                                  <a:rPr lang="en-US" altLang="zh-TW" b="0" i="1" smtClean="0">
                                    <a:latin typeface="Cambria Math" panose="02040503050406030204" pitchFamily="18" charset="0"/>
                                  </a:rPr>
                                  <m:t>𝑟</m:t>
                                </m:r>
                                <m:r>
                                  <a:rPr lang="en-US" altLang="zh-TW" b="0" i="1" smtClean="0">
                                    <a:latin typeface="Cambria Math" panose="02040503050406030204" pitchFamily="18" charset="0"/>
                                  </a:rPr>
                                  <m:t>−1</m:t>
                                </m:r>
                              </m:e>
                            </m:mr>
                            <m:mr>
                              <m:e>
                                <m:r>
                                  <a:rPr lang="en-US" altLang="zh-TW" b="0" i="1" smtClean="0">
                                    <a:latin typeface="Cambria Math" panose="02040503050406030204" pitchFamily="18" charset="0"/>
                                  </a:rPr>
                                  <m:t>3</m:t>
                                </m:r>
                                <m:r>
                                  <a:rPr lang="en-US" altLang="zh-TW" b="0" i="1" smtClean="0">
                                    <a:latin typeface="Cambria Math" panose="02040503050406030204" pitchFamily="18" charset="0"/>
                                  </a:rPr>
                                  <m:t>𝑟</m:t>
                                </m:r>
                              </m:e>
                            </m:mr>
                          </m:m>
                          <m:r>
                            <a:rPr lang="en-US" altLang="zh-TW" b="0" i="1" smtClean="0">
                              <a:latin typeface="Cambria Math" panose="02040503050406030204" pitchFamily="18" charset="0"/>
                            </a:rPr>
                            <m:t>     </m:t>
                          </m:r>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𝑖</m:t>
                                </m:r>
                                <m:r>
                                  <a:rPr lang="en-US" altLang="zh-TW" b="0" i="1" smtClean="0">
                                    <a:latin typeface="Cambria Math" panose="02040503050406030204" pitchFamily="18" charset="0"/>
                                  </a:rPr>
                                  <m:t>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e>
                            </m:mr>
                            <m:mr>
                              <m:e>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𝑖</m:t>
                                </m:r>
                                <m:r>
                                  <a:rPr lang="en-US" altLang="zh-TW" b="0" i="1" smtClean="0">
                                    <a:latin typeface="Cambria Math" panose="02040503050406030204" pitchFamily="18" charset="0"/>
                                  </a:rPr>
                                  <m:t>=2</m:t>
                                </m:r>
                              </m:e>
                            </m:mr>
                            <m:mr>
                              <m:e>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𝑖</m:t>
                                </m:r>
                                <m:r>
                                  <a:rPr lang="en-US" altLang="zh-TW" b="0" i="1" smtClean="0">
                                    <a:latin typeface="Cambria Math" panose="02040503050406030204" pitchFamily="18" charset="0"/>
                                  </a:rPr>
                                  <m:t>=3</m:t>
                                </m:r>
                              </m:e>
                            </m:mr>
                          </m:m>
                        </m:e>
                      </m:d>
                    </m:oMath>
                  </m:oMathPara>
                </a14:m>
                <a:endParaRPr lang="en-US" altLang="zh-TW" dirty="0" smtClean="0"/>
              </a:p>
              <a:p>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𝑔</m:t>
                          </m:r>
                        </m:e>
                        <m:sub>
                          <m:r>
                            <a:rPr lang="en-US" altLang="zh-TW" i="1">
                              <a:latin typeface="Cambria Math" panose="02040503050406030204" pitchFamily="18" charset="0"/>
                            </a:rPr>
                            <m:t>2</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e>
                      </m:d>
                      <m:r>
                        <a:rPr lang="en-US" altLang="zh-TW" b="0"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3</m:t>
                                </m:r>
                                <m:r>
                                  <a:rPr lang="en-US" altLang="zh-TW" b="0" i="1" smtClean="0">
                                    <a:latin typeface="Cambria Math" panose="02040503050406030204" pitchFamily="18" charset="0"/>
                                  </a:rPr>
                                  <m:t>𝑟</m:t>
                                </m:r>
                              </m:e>
                            </m:mr>
                            <m:mr>
                              <m:e>
                                <m:r>
                                  <a:rPr lang="en-US" altLang="zh-TW" b="0" i="1" smtClean="0">
                                    <a:latin typeface="Cambria Math" panose="02040503050406030204" pitchFamily="18" charset="0"/>
                                  </a:rPr>
                                  <m:t>3</m:t>
                                </m:r>
                                <m:r>
                                  <a:rPr lang="en-US" altLang="zh-TW" b="0" i="1" smtClean="0">
                                    <a:latin typeface="Cambria Math" panose="02040503050406030204" pitchFamily="18" charset="0"/>
                                  </a:rPr>
                                  <m:t>𝑟</m:t>
                                </m:r>
                                <m:r>
                                  <a:rPr lang="en-US" altLang="zh-TW" b="0" i="1" smtClean="0">
                                    <a:latin typeface="Cambria Math" panose="02040503050406030204" pitchFamily="18" charset="0"/>
                                  </a:rPr>
                                  <m:t>−1</m:t>
                                </m:r>
                              </m:e>
                            </m:mr>
                            <m:mr>
                              <m:e>
                                <m:r>
                                  <a:rPr lang="en-US" altLang="zh-TW" b="0" i="1" smtClean="0">
                                    <a:latin typeface="Cambria Math" panose="02040503050406030204" pitchFamily="18" charset="0"/>
                                  </a:rPr>
                                  <m:t>3</m:t>
                                </m:r>
                                <m:r>
                                  <a:rPr lang="en-US" altLang="zh-TW" b="0" i="1" smtClean="0">
                                    <a:latin typeface="Cambria Math" panose="02040503050406030204" pitchFamily="18" charset="0"/>
                                  </a:rPr>
                                  <m:t>𝑟</m:t>
                                </m:r>
                                <m:r>
                                  <a:rPr lang="en-US" altLang="zh-TW" b="0" i="1" smtClean="0">
                                    <a:latin typeface="Cambria Math" panose="02040503050406030204" pitchFamily="18" charset="0"/>
                                  </a:rPr>
                                  <m:t>−2</m:t>
                                </m:r>
                              </m:e>
                            </m:mr>
                          </m:m>
                          <m:r>
                            <a:rPr lang="en-US" altLang="zh-TW" b="0" i="1" smtClean="0">
                              <a:latin typeface="Cambria Math" panose="02040503050406030204" pitchFamily="18" charset="0"/>
                            </a:rPr>
                            <m:t>    </m:t>
                          </m:r>
                        </m:e>
                      </m:d>
                      <m:r>
                        <a:rPr lang="en-US" altLang="zh-TW" b="0" i="1" smtClean="0">
                          <a:latin typeface="Cambria Math" panose="02040503050406030204" pitchFamily="18" charset="0"/>
                        </a:rPr>
                        <m:t> </m:t>
                      </m:r>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𝑖</m:t>
                            </m:r>
                            <m:r>
                              <a:rPr lang="en-US" altLang="zh-TW" b="0" i="1" smtClean="0">
                                <a:latin typeface="Cambria Math" panose="02040503050406030204" pitchFamily="18" charset="0"/>
                              </a:rPr>
                              <m:t>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e>
                        </m:mr>
                        <m:mr>
                          <m:e>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𝑖</m:t>
                            </m:r>
                            <m:r>
                              <a:rPr lang="en-US" altLang="zh-TW" b="0" i="1" smtClean="0">
                                <a:latin typeface="Cambria Math" panose="02040503050406030204" pitchFamily="18" charset="0"/>
                              </a:rPr>
                              <m:t>=2</m:t>
                            </m:r>
                          </m:e>
                        </m:mr>
                        <m:mr>
                          <m:e>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𝑖</m:t>
                            </m:r>
                            <m:r>
                              <a:rPr lang="en-US" altLang="zh-TW" b="0" i="1" smtClean="0">
                                <a:latin typeface="Cambria Math" panose="02040503050406030204" pitchFamily="18" charset="0"/>
                              </a:rPr>
                              <m:t>=3</m:t>
                            </m:r>
                          </m:e>
                        </m:mr>
                      </m:m>
                    </m:oMath>
                  </m:oMathPara>
                </a14:m>
                <a:endParaRPr lang="en-US" altLang="zh-TW" dirty="0" smtClean="0"/>
              </a:p>
              <a:p>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h</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e>
                      </m:d>
                      <m:r>
                        <a:rPr lang="en-US" altLang="zh-TW" b="0"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2</m:t>
                                </m:r>
                                <m:r>
                                  <a:rPr lang="en-US" altLang="zh-TW" b="0" i="1" smtClean="0">
                                    <a:latin typeface="Cambria Math" panose="02040503050406030204" pitchFamily="18" charset="0"/>
                                  </a:rPr>
                                  <m:t>𝑗</m:t>
                                </m:r>
                              </m:e>
                            </m:mr>
                            <m:mr>
                              <m:e>
                                <m:r>
                                  <a:rPr lang="en-US" altLang="zh-TW" b="0" i="1" smtClean="0">
                                    <a:latin typeface="Cambria Math" panose="02040503050406030204" pitchFamily="18" charset="0"/>
                                  </a:rPr>
                                  <m:t>2</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e>
                            </m:mr>
                          </m:m>
                          <m:r>
                            <a:rPr lang="en-US" altLang="zh-TW" b="0" i="1" smtClean="0">
                              <a:latin typeface="Cambria Math" panose="02040503050406030204" pitchFamily="18" charset="0"/>
                            </a:rPr>
                            <m:t>    </m:t>
                          </m:r>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𝑖</m:t>
                                </m:r>
                                <m:r>
                                  <a:rPr lang="en-US" altLang="zh-TW" b="0" i="1" smtClean="0">
                                    <a:latin typeface="Cambria Math" panose="02040503050406030204" pitchFamily="18" charset="0"/>
                                  </a:rPr>
                                  <m:t>𝑓</m:t>
                                </m:r>
                                <m:r>
                                  <a:rPr lang="en-US" altLang="zh-TW" b="0" i="1" smtClean="0">
                                    <a:latin typeface="Cambria Math" panose="02040503050406030204" pitchFamily="18" charset="0"/>
                                  </a:rPr>
                                  <m:t> </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𝑟</m:t>
                                    </m:r>
                                  </m:sup>
                                </m:sSubSup>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𝐵𝑜𝑜𝑙𝑒𝑎𝑛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𝑣𝑎𝑟𝑖𝑎𝑏𝑙𝑒</m:t>
                                </m:r>
                                <m:acc>
                                  <m:accPr>
                                    <m:chr m:val="̅"/>
                                    <m:ctrlPr>
                                      <a:rPr lang="en-US" altLang="zh-TW" b="0" i="1" smtClean="0">
                                        <a:latin typeface="Cambria Math" panose="02040503050406030204" pitchFamily="18" charset="0"/>
                                      </a:rPr>
                                    </m:ctrlPr>
                                  </m:acc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𝑗</m:t>
                                        </m:r>
                                      </m:sub>
                                    </m:sSub>
                                  </m:e>
                                </m:acc>
                              </m:e>
                            </m:mr>
                            <m:mr>
                              <m:e>
                                <m:r>
                                  <m:rPr>
                                    <m:brk m:alnAt="7"/>
                                  </m:rPr>
                                  <a:rPr lang="en-US" altLang="zh-TW" b="0" i="1" smtClean="0">
                                    <a:latin typeface="Cambria Math" panose="02040503050406030204" pitchFamily="18" charset="0"/>
                                  </a:rPr>
                                  <m:t>𝑖</m:t>
                                </m:r>
                                <m:r>
                                  <a:rPr lang="en-US" altLang="zh-TW" b="0" i="1" smtClean="0">
                                    <a:latin typeface="Cambria Math" panose="02040503050406030204" pitchFamily="18" charset="0"/>
                                  </a:rPr>
                                  <m:t>𝑓</m:t>
                                </m:r>
                                <m:r>
                                  <a:rPr lang="en-US" altLang="zh-TW" b="0" i="1" smtClean="0">
                                    <a:latin typeface="Cambria Math" panose="02040503050406030204" pitchFamily="18" charset="0"/>
                                  </a:rPr>
                                  <m:t> </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𝑟</m:t>
                                    </m:r>
                                  </m:sup>
                                </m:sSubSup>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𝐵𝑜𝑜𝑙𝑒𝑎𝑛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𝑣𝑎𝑟𝑖𝑎𝑏𝑙𝑒</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𝑗</m:t>
                                    </m:r>
                                  </m:sub>
                                </m:sSub>
                              </m:e>
                            </m:mr>
                          </m:m>
                        </m:e>
                      </m:d>
                    </m:oMath>
                  </m:oMathPara>
                </a14:m>
                <a:endParaRPr lang="en-US" altLang="zh-TW" dirty="0" smtClean="0"/>
              </a:p>
              <a:p>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h</m:t>
                          </m:r>
                        </m:e>
                        <m:sub>
                          <m:r>
                            <a:rPr lang="en-US" altLang="zh-TW" i="1">
                              <a:latin typeface="Cambria Math" panose="02040503050406030204" pitchFamily="18" charset="0"/>
                            </a:rPr>
                            <m:t>2</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𝑟</m:t>
                          </m:r>
                        </m:e>
                      </m:d>
                      <m:r>
                        <a:rPr lang="en-US" altLang="zh-TW" b="0"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2</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e>
                            </m:mr>
                            <m:mr>
                              <m:e>
                                <m:r>
                                  <a:rPr lang="en-US" altLang="zh-TW" b="0" i="1" smtClean="0">
                                    <a:latin typeface="Cambria Math" panose="02040503050406030204" pitchFamily="18" charset="0"/>
                                  </a:rPr>
                                  <m:t>2</m:t>
                                </m:r>
                                <m:r>
                                  <a:rPr lang="en-US" altLang="zh-TW" b="0" i="1" smtClean="0">
                                    <a:latin typeface="Cambria Math" panose="02040503050406030204" pitchFamily="18" charset="0"/>
                                  </a:rPr>
                                  <m:t>𝑗</m:t>
                                </m:r>
                              </m:e>
                            </m:mr>
                          </m:m>
                        </m:e>
                      </m:d>
                      <m:r>
                        <a:rPr lang="en-US" altLang="zh-TW" b="0" i="1" smtClean="0">
                          <a:latin typeface="Cambria Math" panose="02040503050406030204" pitchFamily="18" charset="0"/>
                        </a:rPr>
                        <m:t>    </m:t>
                      </m:r>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𝑖</m:t>
                            </m:r>
                            <m:r>
                              <a:rPr lang="en-US" altLang="zh-TW" b="0" i="1" smtClean="0">
                                <a:latin typeface="Cambria Math" panose="02040503050406030204" pitchFamily="18" charset="0"/>
                              </a:rPr>
                              <m:t>𝑓</m:t>
                            </m:r>
                            <m:r>
                              <a:rPr lang="en-US" altLang="zh-TW" b="0" i="1" smtClean="0">
                                <a:latin typeface="Cambria Math" panose="02040503050406030204" pitchFamily="18" charset="0"/>
                              </a:rPr>
                              <m:t> </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𝑟</m:t>
                                </m:r>
                              </m:sup>
                            </m:sSubSup>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𝐵𝑜𝑜𝑙𝑒𝑎𝑛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𝑣𝑎𝑟𝑖𝑎𝑏𝑙𝑒</m:t>
                            </m:r>
                            <m:acc>
                              <m:accPr>
                                <m:chr m:val="̅"/>
                                <m:ctrlPr>
                                  <a:rPr lang="en-US" altLang="zh-TW" b="0" i="1" smtClean="0">
                                    <a:latin typeface="Cambria Math" panose="02040503050406030204" pitchFamily="18" charset="0"/>
                                  </a:rPr>
                                </m:ctrlPr>
                              </m:acc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𝑗</m:t>
                                    </m:r>
                                  </m:sub>
                                </m:sSub>
                              </m:e>
                            </m:acc>
                          </m:e>
                        </m:mr>
                        <m:mr>
                          <m:e>
                            <m:r>
                              <m:rPr>
                                <m:brk m:alnAt="7"/>
                              </m:rPr>
                              <a:rPr lang="en-US" altLang="zh-TW" b="0" i="1" smtClean="0">
                                <a:latin typeface="Cambria Math" panose="02040503050406030204" pitchFamily="18" charset="0"/>
                              </a:rPr>
                              <m:t>𝑖</m:t>
                            </m:r>
                            <m:r>
                              <a:rPr lang="en-US" altLang="zh-TW" b="0" i="1" smtClean="0">
                                <a:latin typeface="Cambria Math" panose="02040503050406030204" pitchFamily="18" charset="0"/>
                              </a:rPr>
                              <m:t>𝑓</m:t>
                            </m:r>
                            <m:r>
                              <a:rPr lang="en-US" altLang="zh-TW" b="0" i="1" smtClean="0">
                                <a:latin typeface="Cambria Math" panose="02040503050406030204" pitchFamily="18" charset="0"/>
                              </a:rPr>
                              <m:t> </m:t>
                            </m:r>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𝑟</m:t>
                                </m:r>
                              </m:sup>
                            </m:sSubSup>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𝐵𝑜𝑜𝑙𝑒𝑎𝑛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𝑣𝑎𝑟𝑖𝑎𝑏𝑙𝑒</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𝑗</m:t>
                                </m:r>
                              </m:sub>
                            </m:sSub>
                          </m:e>
                        </m:mr>
                      </m:m>
                    </m:oMath>
                  </m:oMathPara>
                </a14:m>
                <a:endParaRPr lang="zh-TW" altLang="en-US"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628650" y="2294709"/>
                <a:ext cx="5202065" cy="3740126"/>
              </a:xfrm>
              <a:prstGeom prst="rect">
                <a:avLst/>
              </a:prstGeom>
              <a:blipFill rotWithShape="0">
                <a:blip r:embed="rId3"/>
                <a:stretch>
                  <a:fillRect l="-15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80126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Type-0 and type-1</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err="1" smtClean="0"/>
                  <a:t>Ex:if</a:t>
                </a:r>
                <a:r>
                  <a:rPr lang="en-US" altLang="zh-TW" dirty="0" smtClean="0"/>
                  <a:t> </a:t>
                </a:r>
                <a14:m>
                  <m:oMath xmlns:m="http://schemas.openxmlformats.org/officeDocument/2006/math">
                    <m:r>
                      <m:rPr>
                        <m:sty m:val="p"/>
                      </m:rPr>
                      <a:rPr lang="el-GR" altLang="zh-TW" i="1" smtClean="0">
                        <a:latin typeface="Cambria Math" panose="02040503050406030204" pitchFamily="18" charset="0"/>
                        <a:ea typeface="Cambria Math" panose="02040503050406030204" pitchFamily="18" charset="0"/>
                      </a:rPr>
                      <m:t>Φ</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m:t>
                    </m:r>
                    <m:acc>
                      <m:accPr>
                        <m:chr m:val="̅"/>
                        <m:ctrlPr>
                          <a:rPr lang="en-US" altLang="zh-TW" b="0" i="1" smtClean="0">
                            <a:latin typeface="Cambria Math" panose="02040503050406030204" pitchFamily="18" charset="0"/>
                            <a:ea typeface="Cambria Math" panose="02040503050406030204" pitchFamily="18" charset="0"/>
                          </a:rPr>
                        </m:ctrlPr>
                      </m:acc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3</m:t>
                            </m:r>
                          </m:sub>
                        </m:sSub>
                      </m:e>
                    </m:acc>
                    <m:r>
                      <a:rPr lang="en-US" altLang="zh-TW" b="0" i="1" smtClean="0">
                        <a:latin typeface="Cambria Math" panose="02040503050406030204" pitchFamily="18" charset="0"/>
                        <a:ea typeface="Cambria Math" panose="02040503050406030204" pitchFamily="18" charset="0"/>
                      </a:rPr>
                      <m:t>∨</m:t>
                    </m:r>
                    <m:acc>
                      <m:accPr>
                        <m:chr m:val="̅"/>
                        <m:ctrlPr>
                          <a:rPr lang="en-US" altLang="zh-TW" b="0" i="1" smtClean="0">
                            <a:latin typeface="Cambria Math" panose="02040503050406030204" pitchFamily="18" charset="0"/>
                            <a:ea typeface="Cambria Math" panose="02040503050406030204" pitchFamily="18" charset="0"/>
                          </a:rPr>
                        </m:ctrlPr>
                      </m:acc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2</m:t>
                            </m:r>
                          </m:sub>
                        </m:sSub>
                      </m:e>
                    </m:acc>
                    <m:r>
                      <a:rPr lang="en-US" altLang="zh-TW" b="0" i="1" smtClean="0">
                        <a:latin typeface="Cambria Math" panose="02040503050406030204" pitchFamily="18" charset="0"/>
                        <a:ea typeface="Cambria Math" panose="02040503050406030204" pitchFamily="18" charset="0"/>
                      </a:rPr>
                      <m:t>)∧(</m:t>
                    </m:r>
                    <m:acc>
                      <m:accPr>
                        <m:chr m:val="̅"/>
                        <m:ctrlPr>
                          <a:rPr lang="en-US" altLang="zh-TW" b="0" i="1" smtClean="0">
                            <a:latin typeface="Cambria Math" panose="02040503050406030204" pitchFamily="18" charset="0"/>
                            <a:ea typeface="Cambria Math" panose="02040503050406030204" pitchFamily="18" charset="0"/>
                          </a:rPr>
                        </m:ctrlPr>
                      </m:acc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1</m:t>
                            </m:r>
                          </m:sub>
                        </m:sSub>
                      </m:e>
                    </m:acc>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2</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𝑥</m:t>
                        </m:r>
                      </m:e>
                      <m:sub>
                        <m:r>
                          <a:rPr lang="en-US" altLang="zh-TW" b="0" i="1" smtClean="0">
                            <a:latin typeface="Cambria Math" panose="02040503050406030204" pitchFamily="18" charset="0"/>
                            <a:ea typeface="Cambria Math" panose="02040503050406030204" pitchFamily="18" charset="0"/>
                          </a:rPr>
                          <m:t>3</m:t>
                        </m:r>
                      </m:sub>
                    </m:sSub>
                    <m:r>
                      <a:rPr lang="en-US" altLang="zh-TW" b="0" i="1" smtClean="0">
                        <a:latin typeface="Cambria Math" panose="02040503050406030204" pitchFamily="18" charset="0"/>
                        <a:ea typeface="Cambria Math" panose="02040503050406030204" pitchFamily="18" charset="0"/>
                      </a:rPr>
                      <m:t>)</m:t>
                    </m:r>
                  </m:oMath>
                </a14:m>
                <a:endParaRPr lang="en-US" altLang="zh-TW" dirty="0" smtClean="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6"/>
                <a:stretch>
                  <a:fillRect l="-1546" t="-22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ext uri="{D42A27DB-BD31-4B8C-83A1-F6EECF244321}">
                    <p14:modId xmlns:p14="http://schemas.microsoft.com/office/powerpoint/2010/main" val="504456812"/>
                  </p:ext>
                </p:extLst>
              </p:nvPr>
            </p:nvGraphicFramePr>
            <p:xfrm>
              <a:off x="628650" y="2979549"/>
              <a:ext cx="2724150" cy="2376222"/>
            </p:xfrm>
            <a:graphic>
              <a:graphicData uri="http://schemas.openxmlformats.org/drawingml/2006/table">
                <a:tbl>
                  <a:tblPr>
                    <a:tableStyleId>{5C22544A-7EE6-4342-B048-85BDC9FD1C3A}</a:tableStyleId>
                  </a:tblPr>
                  <a:tblGrid>
                    <a:gridCol w="454025"/>
                    <a:gridCol w="454025"/>
                    <a:gridCol w="457563"/>
                    <a:gridCol w="450487"/>
                    <a:gridCol w="454025"/>
                    <a:gridCol w="454025"/>
                  </a:tblGrid>
                  <a:tr h="396037">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1</m:t>
                                    </m:r>
                                  </m:sup>
                                </m:sSub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3</m:t>
                                    </m:r>
                                  </m:sub>
                                  <m:sup>
                                    <m:r>
                                      <a:rPr lang="en-US" altLang="zh-TW" b="0" i="1" smtClean="0">
                                        <a:latin typeface="Cambria Math" panose="02040503050406030204" pitchFamily="18" charset="0"/>
                                      </a:rPr>
                                      <m:t>2</m:t>
                                    </m:r>
                                  </m:sup>
                                </m:sSub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3</m:t>
                                    </m:r>
                                  </m:sub>
                                  <m:sup>
                                    <m:r>
                                      <a:rPr lang="en-US" altLang="zh-TW" b="0" i="1" smtClean="0">
                                        <a:latin typeface="Cambria Math" panose="02040503050406030204" pitchFamily="18" charset="0"/>
                                      </a:rPr>
                                      <m:t>1</m:t>
                                    </m:r>
                                  </m:sup>
                                </m:sSub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2</m:t>
                                    </m:r>
                                  </m:sup>
                                </m:sSub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1</m:t>
                                    </m:r>
                                  </m:sup>
                                </m:sSubSup>
                              </m:oMath>
                            </m:oMathPara>
                          </a14:m>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504456812"/>
                  </p:ext>
                </p:extLst>
              </p:nvPr>
            </p:nvGraphicFramePr>
            <p:xfrm>
              <a:off x="628650" y="2979549"/>
              <a:ext cx="2724150" cy="2376222"/>
            </p:xfrm>
            <a:graphic>
              <a:graphicData uri="http://schemas.openxmlformats.org/drawingml/2006/table">
                <a:tbl>
                  <a:tblPr>
                    <a:tableStyleId>{5C22544A-7EE6-4342-B048-85BDC9FD1C3A}</a:tableStyleId>
                  </a:tblPr>
                  <a:tblGrid>
                    <a:gridCol w="454025"/>
                    <a:gridCol w="454025"/>
                    <a:gridCol w="457563"/>
                    <a:gridCol w="450487"/>
                    <a:gridCol w="454025"/>
                    <a:gridCol w="454025"/>
                  </a:tblGrid>
                  <a:tr h="396037">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7"/>
                          <a:stretch>
                            <a:fillRect l="-102703" t="-1538" r="-406757" b="-504615"/>
                          </a:stretch>
                        </a:blip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7"/>
                          <a:stretch>
                            <a:fillRect l="-505405" t="-101538" r="-4054" b="-404615"/>
                          </a:stretch>
                        </a:blipFill>
                      </a:tcPr>
                    </a:tc>
                  </a:tr>
                  <a:tr h="396037">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7"/>
                          <a:stretch>
                            <a:fillRect l="-200000" t="-198485" r="-301333" b="-298485"/>
                          </a:stretch>
                        </a:blip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7"/>
                          <a:stretch>
                            <a:fillRect l="-398667" t="-303077" r="-102667" b="-203077"/>
                          </a:stretch>
                        </a:blip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7"/>
                          <a:stretch>
                            <a:fillRect l="-304054" t="-403077" r="-205405" b="-103077"/>
                          </a:stretch>
                        </a:blip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7"/>
                          <a:stretch>
                            <a:fillRect l="-1333" t="-503077" r="-500000" b="-3077"/>
                          </a:stretch>
                        </a:blip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extLst>
                  <p:ext uri="{D42A27DB-BD31-4B8C-83A1-F6EECF244321}">
                    <p14:modId xmlns:p14="http://schemas.microsoft.com/office/powerpoint/2010/main" val="1904660727"/>
                  </p:ext>
                </p:extLst>
              </p:nvPr>
            </p:nvGraphicFramePr>
            <p:xfrm>
              <a:off x="5791200" y="2979549"/>
              <a:ext cx="2724150" cy="2376222"/>
            </p:xfrm>
            <a:graphic>
              <a:graphicData uri="http://schemas.openxmlformats.org/drawingml/2006/table">
                <a:tbl>
                  <a:tblPr>
                    <a:tableStyleId>{5C22544A-7EE6-4342-B048-85BDC9FD1C3A}</a:tableStyleId>
                  </a:tblPr>
                  <a:tblGrid>
                    <a:gridCol w="454025"/>
                    <a:gridCol w="454025"/>
                    <a:gridCol w="454025"/>
                    <a:gridCol w="454025"/>
                    <a:gridCol w="454025"/>
                    <a:gridCol w="454025"/>
                  </a:tblGrid>
                  <a:tr h="396037">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3</m:t>
                                    </m:r>
                                  </m:sub>
                                  <m:sup>
                                    <m:r>
                                      <a:rPr lang="en-US" altLang="zh-TW" b="0" i="1" smtClean="0">
                                        <a:latin typeface="Cambria Math" panose="02040503050406030204" pitchFamily="18" charset="0"/>
                                      </a:rPr>
                                      <m:t>2</m:t>
                                    </m:r>
                                  </m:sup>
                                </m:sSubSup>
                              </m:oMath>
                            </m:oMathPara>
                          </a14:m>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1</m:t>
                                    </m:r>
                                  </m:sup>
                                </m:sSubSup>
                              </m:oMath>
                            </m:oMathPara>
                          </a14:m>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2</m:t>
                                    </m:r>
                                  </m:sup>
                                </m:sSubSup>
                              </m:oMath>
                            </m:oMathPara>
                          </a14:m>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3</m:t>
                                    </m:r>
                                  </m:sub>
                                  <m:sup>
                                    <m:r>
                                      <a:rPr lang="en-US" altLang="zh-TW" b="0" i="1" smtClean="0">
                                        <a:latin typeface="Cambria Math" panose="02040503050406030204" pitchFamily="18" charset="0"/>
                                      </a:rPr>
                                      <m:t>1</m:t>
                                    </m:r>
                                  </m:sup>
                                </m:sSubSup>
                              </m:oMath>
                            </m:oMathPara>
                          </a14:m>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1</m:t>
                                    </m:r>
                                  </m:sup>
                                </m:sSubSup>
                              </m:oMath>
                            </m:oMathPara>
                          </a14:m>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oMath>
                            </m:oMathPara>
                          </a14:m>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Choice>
        <mc:Fallback xmlns="">
          <p:graphicFrame>
            <p:nvGraphicFramePr>
              <p:cNvPr id="5" name="表格 4"/>
              <p:cNvGraphicFramePr>
                <a:graphicFrameLocks noGrp="1"/>
              </p:cNvGraphicFramePr>
              <p:nvPr>
                <p:extLst>
                  <p:ext uri="{D42A27DB-BD31-4B8C-83A1-F6EECF244321}">
                    <p14:modId xmlns:p14="http://schemas.microsoft.com/office/powerpoint/2010/main" val="1904660727"/>
                  </p:ext>
                </p:extLst>
              </p:nvPr>
            </p:nvGraphicFramePr>
            <p:xfrm>
              <a:off x="5791200" y="2979549"/>
              <a:ext cx="2724150" cy="2376222"/>
            </p:xfrm>
            <a:graphic>
              <a:graphicData uri="http://schemas.openxmlformats.org/drawingml/2006/table">
                <a:tbl>
                  <a:tblPr>
                    <a:tableStyleId>{5C22544A-7EE6-4342-B048-85BDC9FD1C3A}</a:tableStyleId>
                  </a:tblPr>
                  <a:tblGrid>
                    <a:gridCol w="454025"/>
                    <a:gridCol w="454025"/>
                    <a:gridCol w="454025"/>
                    <a:gridCol w="454025"/>
                    <a:gridCol w="454025"/>
                    <a:gridCol w="454025"/>
                  </a:tblGrid>
                  <a:tr h="396037">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8"/>
                          <a:stretch>
                            <a:fillRect l="-305405" t="-1538" r="-204054" b="-504615"/>
                          </a:stretch>
                        </a:blip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8"/>
                          <a:stretch>
                            <a:fillRect l="-104054" t="-101538" r="-405405" b="-404615"/>
                          </a:stretch>
                        </a:blip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8"/>
                          <a:stretch>
                            <a:fillRect l="-400000" t="-198485" r="-101333" b="-298485"/>
                          </a:stretch>
                        </a:blip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8"/>
                          <a:stretch>
                            <a:fillRect l="-2667" t="-303077" r="-498667" b="-203077"/>
                          </a:stretch>
                        </a:blip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8"/>
                          <a:stretch>
                            <a:fillRect l="-201333" t="-403077" r="-300000" b="-103077"/>
                          </a:stretch>
                        </a:blip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96037">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8"/>
                          <a:stretch>
                            <a:fillRect l="-506757" t="-503077" r="-2703" b="-3077"/>
                          </a:stretch>
                        </a:blipFill>
                      </a:tcPr>
                    </a:tc>
                  </a:tr>
                </a:tbl>
              </a:graphicData>
            </a:graphic>
          </p:graphicFrame>
        </mc:Fallback>
      </mc:AlternateContent>
      <mc:AlternateContent xmlns:mc="http://schemas.openxmlformats.org/markup-compatibility/2006" xmlns:a14="http://schemas.microsoft.com/office/drawing/2010/main">
        <mc:Choice Requires="a14">
          <p:sp>
            <p:nvSpPr>
              <p:cNvPr id="6" name="文字方塊 5"/>
              <p:cNvSpPr txBox="1"/>
              <p:nvPr/>
            </p:nvSpPr>
            <p:spPr>
              <a:xfrm>
                <a:off x="1748512" y="5495116"/>
                <a:ext cx="48718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𝑃</m:t>
                          </m:r>
                        </m:e>
                        <m:sub>
                          <m:r>
                            <a:rPr lang="en-US" altLang="zh-TW" sz="2000" i="1">
                              <a:latin typeface="Cambria Math" panose="02040503050406030204" pitchFamily="18" charset="0"/>
                            </a:rPr>
                            <m:t>1</m:t>
                          </m:r>
                        </m:sub>
                      </m:sSub>
                    </m:oMath>
                  </m:oMathPara>
                </a14:m>
                <a:endParaRPr lang="zh-TW" altLang="en-US" sz="20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748512" y="5495116"/>
                <a:ext cx="487185" cy="400110"/>
              </a:xfrm>
              <a:prstGeom prst="rect">
                <a:avLst/>
              </a:prstGeom>
              <a:blipFill rotWithShape="0">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6906701" y="5495116"/>
                <a:ext cx="49314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𝑃</m:t>
                          </m:r>
                        </m:e>
                        <m:sub>
                          <m:r>
                            <a:rPr lang="en-US" altLang="zh-TW" sz="2000" i="1">
                              <a:latin typeface="Cambria Math" panose="02040503050406030204" pitchFamily="18" charset="0"/>
                            </a:rPr>
                            <m:t>2</m:t>
                          </m:r>
                        </m:sub>
                      </m:sSub>
                    </m:oMath>
                  </m:oMathPara>
                </a14:m>
                <a:endParaRPr lang="zh-TW" altLang="en-US" sz="20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6906701" y="5495116"/>
                <a:ext cx="493148" cy="400110"/>
              </a:xfrm>
              <a:prstGeom prst="rect">
                <a:avLst/>
              </a:prstGeom>
              <a:blipFill rotWithShape="0">
                <a:blip r:embed="rId10"/>
                <a:stretch>
                  <a:fillRect/>
                </a:stretch>
              </a:blipFill>
            </p:spPr>
            <p:txBody>
              <a:bodyPr/>
              <a:lstStyle/>
              <a:p>
                <a:r>
                  <a:rPr lang="zh-TW" altLang="en-US">
                    <a:noFill/>
                  </a:rPr>
                  <a:t> </a:t>
                </a:r>
              </a:p>
            </p:txBody>
          </p:sp>
        </mc:Fallback>
      </mc:AlternateContent>
      <p:cxnSp>
        <p:nvCxnSpPr>
          <p:cNvPr id="10" name="直線接點 9"/>
          <p:cNvCxnSpPr/>
          <p:nvPr/>
        </p:nvCxnSpPr>
        <p:spPr>
          <a:xfrm>
            <a:off x="1984174" y="2638697"/>
            <a:ext cx="6551" cy="285641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1" name="直線接點 10"/>
          <p:cNvCxnSpPr/>
          <p:nvPr/>
        </p:nvCxnSpPr>
        <p:spPr>
          <a:xfrm>
            <a:off x="7153275" y="2638697"/>
            <a:ext cx="6551" cy="285641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9359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502</TotalTime>
  <Words>329</Words>
  <Application>Microsoft Office PowerPoint</Application>
  <PresentationFormat>如螢幕大小 (4:3)</PresentationFormat>
  <Paragraphs>121</Paragraphs>
  <Slides>8</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新細明體</vt:lpstr>
      <vt:lpstr>Arial</vt:lpstr>
      <vt:lpstr>Calibri</vt:lpstr>
      <vt:lpstr>Calibri Light</vt:lpstr>
      <vt:lpstr>Cambria Math</vt:lpstr>
      <vt:lpstr>Office 佈景主題</vt:lpstr>
      <vt:lpstr>Computational complexity of similarity retrieval in a pictorial database</vt:lpstr>
      <vt:lpstr>Abstract</vt:lpstr>
      <vt:lpstr>Introduction</vt:lpstr>
      <vt:lpstr>Maximum similar subpicture ∝clique problem</vt:lpstr>
      <vt:lpstr>Type-2</vt:lpstr>
      <vt:lpstr>Type-2</vt:lpstr>
      <vt:lpstr>Type-0 and type-1</vt:lpstr>
      <vt:lpstr>Type-0 and type-1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complexity of similarity retrieval in a pictorial database</dc:title>
  <dc:creator>sizuka</dc:creator>
  <cp:lastModifiedBy>sizuka</cp:lastModifiedBy>
  <cp:revision>22</cp:revision>
  <dcterms:created xsi:type="dcterms:W3CDTF">2016-02-15T14:15:17Z</dcterms:created>
  <dcterms:modified xsi:type="dcterms:W3CDTF">2016-02-16T10:37:18Z</dcterms:modified>
</cp:coreProperties>
</file>