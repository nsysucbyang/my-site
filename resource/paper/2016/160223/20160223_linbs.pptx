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354" r:id="rId5"/>
    <p:sldId id="355" r:id="rId6"/>
    <p:sldId id="356" r:id="rId7"/>
    <p:sldId id="357" r:id="rId8"/>
    <p:sldId id="358" r:id="rId9"/>
    <p:sldId id="359" r:id="rId10"/>
    <p:sldId id="360" r:id="rId11"/>
    <p:sldId id="362" r:id="rId12"/>
    <p:sldId id="363" r:id="rId13"/>
    <p:sldId id="364" r:id="rId14"/>
    <p:sldId id="365" r:id="rId15"/>
    <p:sldId id="366" r:id="rId16"/>
    <p:sldId id="367" r:id="rId17"/>
    <p:sldId id="368" r:id="rId18"/>
    <p:sldId id="369" r:id="rId19"/>
    <p:sldId id="370" r:id="rId20"/>
    <p:sldId id="371" r:id="rId21"/>
    <p:sldId id="372" r:id="rId22"/>
    <p:sldId id="373" r:id="rId23"/>
    <p:sldId id="374" r:id="rId24"/>
    <p:sldId id="375" r:id="rId25"/>
    <p:sldId id="376" r:id="rId26"/>
    <p:sldId id="377" r:id="rId27"/>
    <p:sldId id="378" r:id="rId28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  <a:srgbClr val="0099CC"/>
    <a:srgbClr val="C5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EC20E35-A176-4012-BC5E-935CFFF8708E}" styleName="中等深淺樣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淺色樣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189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14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65F44-F807-4518-89E2-C811281CE334}" type="datetimeFigureOut">
              <a:rPr lang="zh-TW" altLang="en-US" smtClean="0"/>
              <a:t>2016/2/23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78676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65F44-F807-4518-89E2-C811281CE334}" type="datetimeFigureOut">
              <a:rPr lang="zh-TW" altLang="en-US" smtClean="0"/>
              <a:t>2016/2/23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15088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65F44-F807-4518-89E2-C811281CE334}" type="datetimeFigureOut">
              <a:rPr lang="zh-TW" altLang="en-US" smtClean="0"/>
              <a:t>2016/2/23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190451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65F44-F807-4518-89E2-C811281CE334}" type="datetimeFigureOut">
              <a:rPr lang="zh-TW" altLang="en-US" smtClean="0"/>
              <a:t>2016/2/23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393548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65F44-F807-4518-89E2-C811281CE334}" type="datetimeFigureOut">
              <a:rPr lang="zh-TW" altLang="en-US" smtClean="0"/>
              <a:t>2016/2/23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711873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65F44-F807-4518-89E2-C811281CE334}" type="datetimeFigureOut">
              <a:rPr lang="zh-TW" altLang="en-US" smtClean="0"/>
              <a:t>2016/2/23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601250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65F44-F807-4518-89E2-C811281CE334}" type="datetimeFigureOut">
              <a:rPr lang="zh-TW" altLang="en-US" smtClean="0"/>
              <a:t>2016/2/23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164980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65F44-F807-4518-89E2-C811281CE334}" type="datetimeFigureOut">
              <a:rPr lang="zh-TW" altLang="en-US" smtClean="0"/>
              <a:t>2016/2/23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194190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65F44-F807-4518-89E2-C811281CE334}" type="datetimeFigureOut">
              <a:rPr lang="zh-TW" altLang="en-US" smtClean="0"/>
              <a:t>2016/2/23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61802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65F44-F807-4518-89E2-C811281CE334}" type="datetimeFigureOut">
              <a:rPr lang="zh-TW" altLang="en-US" smtClean="0"/>
              <a:t>2016/2/23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23520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65F44-F807-4518-89E2-C811281CE334}" type="datetimeFigureOut">
              <a:rPr lang="zh-TW" altLang="en-US" smtClean="0"/>
              <a:t>2016/2/23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29359-40AB-419B-8FBB-45C7471E1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00096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465F44-F807-4518-89E2-C811281CE334}" type="datetimeFigureOut">
              <a:rPr lang="zh-TW" altLang="en-US" smtClean="0"/>
              <a:t>2016/2/23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029359-40AB-419B-8FBB-45C7471E1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8030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 txBox="1">
            <a:spLocks/>
          </p:cNvSpPr>
          <p:nvPr/>
        </p:nvSpPr>
        <p:spPr>
          <a:xfrm>
            <a:off x="598488" y="1286632"/>
            <a:ext cx="7772400" cy="1470025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TW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 the Common Substring Alignment Problem</a:t>
            </a:r>
            <a:endParaRPr lang="zh-TW" altLang="en-US" sz="3200" dirty="0">
              <a:latin typeface="Times New Roman" panose="02020603050405020304" pitchFamily="18" charset="0"/>
              <a:ea typeface="Arial Unicode MS" pitchFamily="34" charset="-120"/>
              <a:cs typeface="Times New Roman" panose="02020603050405020304" pitchFamily="18" charset="0"/>
            </a:endParaRPr>
          </a:p>
        </p:txBody>
      </p:sp>
      <p:sp>
        <p:nvSpPr>
          <p:cNvPr id="5" name="副標題 2"/>
          <p:cNvSpPr txBox="1">
            <a:spLocks/>
          </p:cNvSpPr>
          <p:nvPr/>
        </p:nvSpPr>
        <p:spPr>
          <a:xfrm>
            <a:off x="1406525" y="3019431"/>
            <a:ext cx="6400800" cy="4794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TW" sz="2000" dirty="0" smtClean="0"/>
              <a:t>Gad M. Landau, Michal </a:t>
            </a:r>
            <a:r>
              <a:rPr lang="en-US" altLang="zh-TW" sz="2000" dirty="0" err="1" smtClean="0"/>
              <a:t>Ziv-Ukelson</a:t>
            </a:r>
            <a:endParaRPr lang="en-US" altLang="zh-TW" sz="2000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5783777"/>
              </p:ext>
            </p:extLst>
          </p:nvPr>
        </p:nvGraphicFramePr>
        <p:xfrm>
          <a:off x="2698748" y="3848099"/>
          <a:ext cx="3816351" cy="1500105"/>
        </p:xfrm>
        <a:graphic>
          <a:graphicData uri="http://schemas.openxmlformats.org/drawingml/2006/table">
            <a:tbl>
              <a:tblPr/>
              <a:tblGrid>
                <a:gridCol w="3816351"/>
              </a:tblGrid>
              <a:tr h="846860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aseline="0" dirty="0" smtClean="0">
                          <a:solidFill>
                            <a:schemeClr val="tx1"/>
                          </a:solidFill>
                          <a:latin typeface="+mn-lt"/>
                        </a:rPr>
                        <a:t>Journal of Algorithms 41, pp. 338-359, 2001</a:t>
                      </a:r>
                    </a:p>
                  </a:txBody>
                  <a:tcPr marL="95251" marR="9525" marT="9523" marB="952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53245">
                <a:tc>
                  <a:txBody>
                    <a:bodyPr/>
                    <a:lstStyle/>
                    <a:p>
                      <a:pPr algn="ctr"/>
                      <a:endParaRPr lang="zh-TW" altLang="en-US" sz="1600" kern="1200" dirty="0"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+mn-ea"/>
                        <a:cs typeface="+mn-cs"/>
                      </a:endParaRPr>
                    </a:p>
                  </a:txBody>
                  <a:tcPr marL="95251" marR="9525" marT="9523" marB="952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79" name="文字方塊 6"/>
          <p:cNvSpPr txBox="1">
            <a:spLocks noChangeArrowheads="1"/>
          </p:cNvSpPr>
          <p:nvPr/>
        </p:nvSpPr>
        <p:spPr bwMode="auto">
          <a:xfrm>
            <a:off x="2982910" y="5253638"/>
            <a:ext cx="324802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1800" dirty="0"/>
              <a:t>Presenter:  </a:t>
            </a:r>
            <a:r>
              <a:rPr lang="en-US" altLang="zh-TW" sz="1800" dirty="0" smtClean="0"/>
              <a:t>Bi-</a:t>
            </a:r>
            <a:r>
              <a:rPr lang="en-US" altLang="zh-TW" sz="1800" dirty="0" err="1" smtClean="0"/>
              <a:t>Shiang</a:t>
            </a:r>
            <a:r>
              <a:rPr lang="en-US" altLang="zh-TW" sz="1800" dirty="0" smtClean="0"/>
              <a:t> Lin</a:t>
            </a:r>
            <a:endParaRPr lang="en-US" altLang="zh-TW" sz="1800" dirty="0"/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TW" sz="1800" dirty="0"/>
              <a:t>Date:</a:t>
            </a:r>
            <a:fld id="{F3590F60-3E7B-48AD-979A-345F224951B5}" type="datetime1">
              <a:rPr lang="zh-TW" altLang="en-US" sz="1800"/>
              <a:pPr algn="ctr" eaLnBrk="1" hangingPunct="1">
                <a:spcBef>
                  <a:spcPct val="0"/>
                </a:spcBef>
                <a:buFontTx/>
                <a:buNone/>
              </a:pPr>
              <a:t>2016/2/23</a:t>
            </a:fld>
            <a:endParaRPr lang="zh-TW" altLang="en-US" sz="1800" dirty="0"/>
          </a:p>
        </p:txBody>
      </p:sp>
    </p:spTree>
    <p:extLst>
      <p:ext uri="{BB962C8B-B14F-4D97-AF65-F5344CB8AC3E}">
        <p14:creationId xmlns:p14="http://schemas.microsoft.com/office/powerpoint/2010/main" val="1494669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Abstract(1/4)</a:t>
            </a:r>
            <a:endParaRPr lang="zh-TW" altLang="en-US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Common Substring Alignment Problem is defined as follows: Given a set of one or more strings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…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a target string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𝑇</m:t>
                    </m:r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𝑌</m:t>
                    </m:r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a common substring of all strings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that is,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𝑌</m:t>
                    </m:r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The goal is to compute the similarity of all strings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with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𝑇</m:t>
                    </m:r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without computing the part of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𝑌</m:t>
                    </m:r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again and again. </a:t>
                </a:r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546" r="-162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97559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Abstract(2/4)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Using the classical dynamic 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programming  tables, each appearance of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𝑌</m:t>
                    </m:r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in a source string would require the computation of all the values in a dynamic programming table of size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TW" i="1" dirty="0" err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ℓ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where </a:t>
                </a:r>
                <a14:m>
                  <m:oMath xmlns:m="http://schemas.openxmlformats.org/officeDocument/2006/math">
                    <m:r>
                      <a:rPr lang="en-US" altLang="zh-TW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ℓ</m:t>
                    </m:r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size of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𝑌</m:t>
                    </m:r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Here we describe an algorithm which is composed of an encoding stage and an alignment stage.</a:t>
                </a:r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546" r="-1623" b="-728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28117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Abstract(3/4)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During the first stage, a data structure is constructed which encodes the comparison of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𝑌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with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𝑇</m:t>
                    </m:r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Then, during the alignment stage, for each comparison of a source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with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𝑇</m:t>
                    </m:r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the precompiled data structure is used to speed up the part of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𝑌</m:t>
                    </m:r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54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99556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Abstract(4/4)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show how to reduce the </a:t>
                </a:r>
                <a14:m>
                  <m:oMath xmlns:m="http://schemas.openxmlformats.org/officeDocument/2006/math">
                    <m:r>
                      <a:rPr lang="en-US" altLang="zh-TW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TW" i="1" dirty="0" err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ℓ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alignment work, for each appearance of the common substring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𝑌</m:t>
                    </m:r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in a source string, to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-at the cost of </a:t>
                </a:r>
                <a14:m>
                  <m:oMath xmlns:m="http://schemas.openxmlformats.org/officeDocument/2006/math">
                    <m:r>
                      <a:rPr lang="en-US" altLang="zh-TW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TW" i="1" dirty="0" err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ℓ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encoding work, which is executed only once.</a:t>
                </a:r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54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30781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Input : a set of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strings ,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common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substring Y,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target T</a:t>
            </a: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Output :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find the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similarity of any string and the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target T without computing Y and T again and again</a:t>
            </a:r>
            <a:endParaRPr lang="en-US" altLang="zh-TW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4778374"/>
            <a:ext cx="7915275" cy="1533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374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" y="216296"/>
            <a:ext cx="4843081" cy="6393482"/>
          </a:xfrm>
          <a:prstGeom prst="rect">
            <a:avLst/>
          </a:prstGeom>
        </p:spPr>
      </p:pic>
      <p:sp>
        <p:nvSpPr>
          <p:cNvPr id="6" name="文字方塊 5"/>
          <p:cNvSpPr txBox="1"/>
          <p:nvPr/>
        </p:nvSpPr>
        <p:spPr>
          <a:xfrm>
            <a:off x="4581144" y="1024128"/>
            <a:ext cx="4309193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dit distance, Score:</a:t>
            </a:r>
          </a:p>
          <a:p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Mismatched aligned pair = 1</a:t>
            </a:r>
          </a:p>
          <a:p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Unaligned symbol = </a:t>
            </a:r>
            <a:r>
              <a:rPr lang="en-US" altLang="zh-TW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Matched pair = 0</a:t>
            </a:r>
          </a:p>
          <a:p>
            <a:endParaRPr lang="en-US" altLang="zh-TW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Two Stage :</a:t>
            </a:r>
          </a:p>
          <a:p>
            <a:pPr marL="514350" indent="-514350">
              <a:buAutoNum type="arabicPeriod"/>
            </a:pP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Encoding stage</a:t>
            </a:r>
          </a:p>
          <a:p>
            <a:pPr marL="514350" indent="-514350">
              <a:buAutoNum type="arabicPeriod"/>
            </a:pP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Alignment stage</a:t>
            </a:r>
            <a:endParaRPr lang="en-US" altLang="zh-TW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3112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First Algorithm</a:t>
            </a:r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8650" y="365126"/>
            <a:ext cx="4381500" cy="6115050"/>
          </a:xfrm>
          <a:prstGeom prst="rect">
            <a:avLst/>
          </a:prstGeom>
        </p:spPr>
      </p:pic>
      <p:sp>
        <p:nvSpPr>
          <p:cNvPr id="8" name="橢圓 7"/>
          <p:cNvSpPr/>
          <p:nvPr/>
        </p:nvSpPr>
        <p:spPr>
          <a:xfrm>
            <a:off x="4447794" y="603504"/>
            <a:ext cx="224790" cy="219456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橢圓 8"/>
          <p:cNvSpPr/>
          <p:nvPr/>
        </p:nvSpPr>
        <p:spPr>
          <a:xfrm>
            <a:off x="5779770" y="1277112"/>
            <a:ext cx="224790" cy="219456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/>
          <p:cNvSpPr/>
          <p:nvPr/>
        </p:nvSpPr>
        <p:spPr>
          <a:xfrm>
            <a:off x="5779770" y="3765392"/>
            <a:ext cx="224790" cy="219456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/>
          <p:cNvSpPr/>
          <p:nvPr/>
        </p:nvSpPr>
        <p:spPr>
          <a:xfrm>
            <a:off x="4772025" y="603504"/>
            <a:ext cx="224790" cy="219456"/>
          </a:xfrm>
          <a:prstGeom prst="ellipse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橢圓 11"/>
          <p:cNvSpPr/>
          <p:nvPr/>
        </p:nvSpPr>
        <p:spPr>
          <a:xfrm>
            <a:off x="5779770" y="1505712"/>
            <a:ext cx="224790" cy="219456"/>
          </a:xfrm>
          <a:prstGeom prst="ellipse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橢圓 12"/>
          <p:cNvSpPr/>
          <p:nvPr/>
        </p:nvSpPr>
        <p:spPr>
          <a:xfrm>
            <a:off x="5779770" y="3993992"/>
            <a:ext cx="224790" cy="219456"/>
          </a:xfrm>
          <a:prstGeom prst="ellipse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/>
              <p:cNvSpPr txBox="1"/>
              <p:nvPr/>
            </p:nvSpPr>
            <p:spPr>
              <a:xfrm>
                <a:off x="127629" y="2940746"/>
                <a:ext cx="4432560" cy="35394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AutoNum type="arabicPeriod"/>
                </a:pPr>
                <a:r>
                  <a:rPr lang="en-US" altLang="zh-TW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Build DIST matrix</a:t>
                </a:r>
              </a:p>
              <a:p>
                <a:pPr marL="342900" indent="-342900">
                  <a:buAutoNum type="arabicPeriod"/>
                </a:pPr>
                <a:r>
                  <a:rPr lang="en-US" altLang="zh-TW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Use DIST matrix and input</a:t>
                </a:r>
              </a:p>
              <a:p>
                <a:r>
                  <a:rPr lang="en-US" altLang="zh-TW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row to obtain output row</a:t>
                </a:r>
              </a:p>
              <a:p>
                <a:endPara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2800" b="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Encode : </a:t>
                </a:r>
                <a14:m>
                  <m:oMath xmlns:m="http://schemas.openxmlformats.org/officeDocument/2006/math">
                    <m:r>
                      <a:rPr lang="en-US" altLang="zh-TW" sz="28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28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altLang="zh-TW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TW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ℓ</m:t>
                        </m:r>
                      </m:e>
                    </m:d>
                  </m:oMath>
                </a14:m>
                <a:endParaRPr lang="en-US" altLang="zh-TW" sz="2800" b="0" dirty="0" smtClean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2800" b="0" dirty="0" smtClean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Alignment : </a:t>
                </a:r>
                <a14:m>
                  <m:oMath xmlns:m="http://schemas.openxmlformats.org/officeDocument/2006/math">
                    <m:r>
                      <a:rPr lang="en-US" altLang="zh-TW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</m:t>
                    </m:r>
                    <m:r>
                      <a:rPr lang="en-US" altLang="zh-TW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TW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zh-TW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TW" sz="2800" b="0" dirty="0" smtClean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2800" b="0" dirty="0" smtClean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	because of</a:t>
                </a:r>
              </a:p>
              <a:p>
                <a:r>
                  <a:rPr lang="en-US" altLang="zh-TW" sz="2800" b="0" dirty="0" smtClean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totally monotone matrix</a:t>
                </a:r>
              </a:p>
            </p:txBody>
          </p:sp>
        </mc:Choice>
        <mc:Fallback xmlns="">
          <p:sp>
            <p:nvSpPr>
              <p:cNvPr id="14" name="文字方塊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629" y="2940746"/>
                <a:ext cx="4432560" cy="3539430"/>
              </a:xfrm>
              <a:prstGeom prst="rect">
                <a:avLst/>
              </a:prstGeom>
              <a:blipFill rotWithShape="0">
                <a:blip r:embed="rId3"/>
                <a:stretch>
                  <a:fillRect l="-2889" t="-1721" r="-1238" b="-378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矩形 14"/>
          <p:cNvSpPr/>
          <p:nvPr/>
        </p:nvSpPr>
        <p:spPr>
          <a:xfrm>
            <a:off x="4447794" y="1277112"/>
            <a:ext cx="549021" cy="219456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61072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Second Algorithm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137" y="1447228"/>
            <a:ext cx="8467725" cy="5133975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978408" y="1856232"/>
            <a:ext cx="365760" cy="301752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87946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7332349"/>
              </p:ext>
            </p:extLst>
          </p:nvPr>
        </p:nvGraphicFramePr>
        <p:xfrm>
          <a:off x="457202" y="1033274"/>
          <a:ext cx="8211310" cy="518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21131"/>
                <a:gridCol w="821131"/>
                <a:gridCol w="821131"/>
                <a:gridCol w="821131"/>
                <a:gridCol w="821131"/>
                <a:gridCol w="821131"/>
                <a:gridCol w="821131"/>
                <a:gridCol w="821131"/>
                <a:gridCol w="821131"/>
                <a:gridCol w="821131"/>
              </a:tblGrid>
              <a:tr h="513893"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O0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O8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138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I0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138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571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138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571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138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138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138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571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38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571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5138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</a:tr>
              <a:tr h="5138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I8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5530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3197978"/>
              </p:ext>
            </p:extLst>
          </p:nvPr>
        </p:nvGraphicFramePr>
        <p:xfrm>
          <a:off x="457202" y="1033274"/>
          <a:ext cx="8211310" cy="518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21131"/>
                <a:gridCol w="821131"/>
                <a:gridCol w="821131"/>
                <a:gridCol w="821131"/>
                <a:gridCol w="821131"/>
                <a:gridCol w="821131"/>
                <a:gridCol w="821131"/>
                <a:gridCol w="821131"/>
                <a:gridCol w="821131"/>
                <a:gridCol w="821131"/>
              </a:tblGrid>
              <a:tr h="513893"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O0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O8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138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I0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7/0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138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571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138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571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138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138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138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571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38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571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5138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</a:tr>
              <a:tr h="5138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I8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1780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8745289"/>
              </p:ext>
            </p:extLst>
          </p:nvPr>
        </p:nvGraphicFramePr>
        <p:xfrm>
          <a:off x="457202" y="1033274"/>
          <a:ext cx="8211310" cy="518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21131"/>
                <a:gridCol w="821131"/>
                <a:gridCol w="821131"/>
                <a:gridCol w="821131"/>
                <a:gridCol w="821131"/>
                <a:gridCol w="821131"/>
                <a:gridCol w="821131"/>
                <a:gridCol w="821131"/>
                <a:gridCol w="821131"/>
                <a:gridCol w="821131"/>
              </a:tblGrid>
              <a:tr h="513893"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O0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O8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138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I0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6/1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138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7/0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571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138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571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138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138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138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571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38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571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5138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</a:tr>
              <a:tr h="5138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I8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9341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7548017"/>
              </p:ext>
            </p:extLst>
          </p:nvPr>
        </p:nvGraphicFramePr>
        <p:xfrm>
          <a:off x="457202" y="1033274"/>
          <a:ext cx="8211310" cy="518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21131"/>
                <a:gridCol w="821131"/>
                <a:gridCol w="821131"/>
                <a:gridCol w="821131"/>
                <a:gridCol w="821131"/>
                <a:gridCol w="821131"/>
                <a:gridCol w="821131"/>
                <a:gridCol w="821131"/>
                <a:gridCol w="821131"/>
                <a:gridCol w="821131"/>
              </a:tblGrid>
              <a:tr h="513893"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O0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O8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138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I0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5/1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138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6/1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571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138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7/0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571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138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138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138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571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38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571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5138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</a:tr>
              <a:tr h="5138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I8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8741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7012710"/>
              </p:ext>
            </p:extLst>
          </p:nvPr>
        </p:nvGraphicFramePr>
        <p:xfrm>
          <a:off x="457202" y="1033274"/>
          <a:ext cx="8211310" cy="518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21131"/>
                <a:gridCol w="821131"/>
                <a:gridCol w="821131"/>
                <a:gridCol w="821131"/>
                <a:gridCol w="821131"/>
                <a:gridCol w="821131"/>
                <a:gridCol w="821131"/>
                <a:gridCol w="821131"/>
                <a:gridCol w="821131"/>
                <a:gridCol w="821131"/>
              </a:tblGrid>
              <a:tr h="513893"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O0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O8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138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I0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4/1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138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5/1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571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138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6/0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571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138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6/0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138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138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571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38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571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5138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</a:tr>
              <a:tr h="5138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I8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4217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9732932"/>
              </p:ext>
            </p:extLst>
          </p:nvPr>
        </p:nvGraphicFramePr>
        <p:xfrm>
          <a:off x="457202" y="1033274"/>
          <a:ext cx="8211310" cy="518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21131"/>
                <a:gridCol w="821131"/>
                <a:gridCol w="821131"/>
                <a:gridCol w="821131"/>
                <a:gridCol w="821131"/>
                <a:gridCol w="821131"/>
                <a:gridCol w="821131"/>
                <a:gridCol w="821131"/>
                <a:gridCol w="821131"/>
                <a:gridCol w="821131"/>
              </a:tblGrid>
              <a:tr h="513893"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O0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O8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138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I0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4/1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138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5/1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571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138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571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138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6/0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138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138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571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38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571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5138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</a:tr>
              <a:tr h="5138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I8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0961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0467380"/>
              </p:ext>
            </p:extLst>
          </p:nvPr>
        </p:nvGraphicFramePr>
        <p:xfrm>
          <a:off x="457202" y="1033274"/>
          <a:ext cx="8211310" cy="518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21131"/>
                <a:gridCol w="821131"/>
                <a:gridCol w="821131"/>
                <a:gridCol w="821131"/>
                <a:gridCol w="821131"/>
                <a:gridCol w="821131"/>
                <a:gridCol w="821131"/>
                <a:gridCol w="821131"/>
                <a:gridCol w="821131"/>
                <a:gridCol w="821131"/>
              </a:tblGrid>
              <a:tr h="513893"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O0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O8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138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I0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4/1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138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5/1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571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138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571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138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6/-1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138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5/0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138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571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38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571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5138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</a:tr>
              <a:tr h="5138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I8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9262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2463994"/>
              </p:ext>
            </p:extLst>
          </p:nvPr>
        </p:nvGraphicFramePr>
        <p:xfrm>
          <a:off x="457202" y="1033274"/>
          <a:ext cx="8211310" cy="518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21131"/>
                <a:gridCol w="821131"/>
                <a:gridCol w="821131"/>
                <a:gridCol w="821131"/>
                <a:gridCol w="821131"/>
                <a:gridCol w="821131"/>
                <a:gridCol w="821131"/>
                <a:gridCol w="821131"/>
                <a:gridCol w="821131"/>
                <a:gridCol w="821131"/>
              </a:tblGrid>
              <a:tr h="513893"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O0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O8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138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I0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4/1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138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571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138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571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138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138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5/0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138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571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38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571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5138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</a:tr>
              <a:tr h="5138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I8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9921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2352970"/>
              </p:ext>
            </p:extLst>
          </p:nvPr>
        </p:nvGraphicFramePr>
        <p:xfrm>
          <a:off x="457202" y="1033274"/>
          <a:ext cx="8211310" cy="518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21131"/>
                <a:gridCol w="821131"/>
                <a:gridCol w="821131"/>
                <a:gridCol w="821131"/>
                <a:gridCol w="821131"/>
                <a:gridCol w="821131"/>
                <a:gridCol w="821131"/>
                <a:gridCol w="821131"/>
                <a:gridCol w="821131"/>
                <a:gridCol w="821131"/>
              </a:tblGrid>
              <a:tr h="513893"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O0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O8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138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I0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4/1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138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571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138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571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138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138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4/2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138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6/0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571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38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571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5138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</a:tr>
              <a:tr h="5138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I8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7937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8094610"/>
              </p:ext>
            </p:extLst>
          </p:nvPr>
        </p:nvGraphicFramePr>
        <p:xfrm>
          <a:off x="457202" y="1033274"/>
          <a:ext cx="8211310" cy="518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21131"/>
                <a:gridCol w="821131"/>
                <a:gridCol w="821131"/>
                <a:gridCol w="821131"/>
                <a:gridCol w="821131"/>
                <a:gridCol w="821131"/>
                <a:gridCol w="821131"/>
                <a:gridCol w="821131"/>
                <a:gridCol w="821131"/>
                <a:gridCol w="821131"/>
              </a:tblGrid>
              <a:tr h="513893"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O0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O8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138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I0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4/0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138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571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138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571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138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138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4/2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138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6/0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571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38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571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5138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</a:tr>
              <a:tr h="5138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I8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9497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300202"/>
              </p:ext>
            </p:extLst>
          </p:nvPr>
        </p:nvGraphicFramePr>
        <p:xfrm>
          <a:off x="457202" y="1033274"/>
          <a:ext cx="8211310" cy="518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21131"/>
                <a:gridCol w="821131"/>
                <a:gridCol w="821131"/>
                <a:gridCol w="821131"/>
                <a:gridCol w="821131"/>
                <a:gridCol w="821131"/>
                <a:gridCol w="821131"/>
                <a:gridCol w="821131"/>
                <a:gridCol w="821131"/>
                <a:gridCol w="821131"/>
              </a:tblGrid>
              <a:tr h="513893"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O0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O8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138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I0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138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571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138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571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138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138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4/2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138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6/0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571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38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571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5138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</a:tr>
              <a:tr h="5138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I8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0851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5924363"/>
              </p:ext>
            </p:extLst>
          </p:nvPr>
        </p:nvGraphicFramePr>
        <p:xfrm>
          <a:off x="457202" y="1033274"/>
          <a:ext cx="8211310" cy="518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21131"/>
                <a:gridCol w="821131"/>
                <a:gridCol w="821131"/>
                <a:gridCol w="821131"/>
                <a:gridCol w="821131"/>
                <a:gridCol w="821131"/>
                <a:gridCol w="821131"/>
                <a:gridCol w="821131"/>
                <a:gridCol w="821131"/>
                <a:gridCol w="821131"/>
              </a:tblGrid>
              <a:tr h="513893"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O0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O8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138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I0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138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571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138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571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138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138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3/2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138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5/2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571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38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7/0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571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5138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</a:tr>
              <a:tr h="5138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I8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4600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8004272"/>
              </p:ext>
            </p:extLst>
          </p:nvPr>
        </p:nvGraphicFramePr>
        <p:xfrm>
          <a:off x="457202" y="1033274"/>
          <a:ext cx="8211310" cy="518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21131"/>
                <a:gridCol w="821131"/>
                <a:gridCol w="821131"/>
                <a:gridCol w="821131"/>
                <a:gridCol w="821131"/>
                <a:gridCol w="821131"/>
                <a:gridCol w="821131"/>
                <a:gridCol w="821131"/>
                <a:gridCol w="821131"/>
                <a:gridCol w="821131"/>
              </a:tblGrid>
              <a:tr h="513893"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O0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O8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138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I0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138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571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138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571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138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138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2/2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138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4/2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571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38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6/2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571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5138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8/0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</a:tr>
              <a:tr h="5138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I8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3809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5597385"/>
              </p:ext>
            </p:extLst>
          </p:nvPr>
        </p:nvGraphicFramePr>
        <p:xfrm>
          <a:off x="457202" y="1033274"/>
          <a:ext cx="8211310" cy="518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21131"/>
                <a:gridCol w="821131"/>
                <a:gridCol w="821131"/>
                <a:gridCol w="821131"/>
                <a:gridCol w="821131"/>
                <a:gridCol w="821131"/>
                <a:gridCol w="821131"/>
                <a:gridCol w="821131"/>
                <a:gridCol w="821131"/>
                <a:gridCol w="821131"/>
              </a:tblGrid>
              <a:tr h="513893"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O0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O8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138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I0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138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571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138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571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138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138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3/2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</a:tr>
              <a:tr h="5138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5/2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571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5138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5/2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571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2D050"/>
                    </a:solidFill>
                  </a:tcPr>
                </a:tc>
              </a:tr>
              <a:tr h="5138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7/2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</a:tr>
              <a:tr h="5138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I8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9/0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7830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0608040"/>
              </p:ext>
            </p:extLst>
          </p:nvPr>
        </p:nvGraphicFramePr>
        <p:xfrm>
          <a:off x="457202" y="1033274"/>
          <a:ext cx="8211310" cy="518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21131"/>
                <a:gridCol w="821131"/>
                <a:gridCol w="821131"/>
                <a:gridCol w="821131"/>
                <a:gridCol w="821131"/>
                <a:gridCol w="821131"/>
                <a:gridCol w="821131"/>
                <a:gridCol w="821131"/>
                <a:gridCol w="821131"/>
                <a:gridCol w="821131"/>
              </a:tblGrid>
              <a:tr h="513893"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O0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O8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138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I0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138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571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138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571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138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138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3/2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</a:tr>
              <a:tr h="5138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5/0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571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5138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5/2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571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2D050"/>
                    </a:solidFill>
                  </a:tcPr>
                </a:tc>
              </a:tr>
              <a:tr h="5138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7/2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</a:tr>
              <a:tr h="5138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I8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9/0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728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2015556"/>
              </p:ext>
            </p:extLst>
          </p:nvPr>
        </p:nvGraphicFramePr>
        <p:xfrm>
          <a:off x="457202" y="1033274"/>
          <a:ext cx="8211310" cy="518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21131"/>
                <a:gridCol w="821131"/>
                <a:gridCol w="821131"/>
                <a:gridCol w="821131"/>
                <a:gridCol w="821131"/>
                <a:gridCol w="821131"/>
                <a:gridCol w="821131"/>
                <a:gridCol w="821131"/>
                <a:gridCol w="821131"/>
                <a:gridCol w="821131"/>
              </a:tblGrid>
              <a:tr h="513893"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O0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O8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138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I0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138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571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138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571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138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138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3/2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</a:tr>
              <a:tr h="5138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571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38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5/2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571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2D050"/>
                    </a:solidFill>
                  </a:tcPr>
                </a:tc>
              </a:tr>
              <a:tr h="5138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7/2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</a:tr>
              <a:tr h="5138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I8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9/0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1885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2928854"/>
              </p:ext>
            </p:extLst>
          </p:nvPr>
        </p:nvGraphicFramePr>
        <p:xfrm>
          <a:off x="457202" y="1033274"/>
          <a:ext cx="8211310" cy="518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21131"/>
                <a:gridCol w="821131"/>
                <a:gridCol w="821131"/>
                <a:gridCol w="821131"/>
                <a:gridCol w="821131"/>
                <a:gridCol w="821131"/>
                <a:gridCol w="821131"/>
                <a:gridCol w="821131"/>
                <a:gridCol w="821131"/>
                <a:gridCol w="821131"/>
              </a:tblGrid>
              <a:tr h="513893"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O0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O8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138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I0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138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I1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571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138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571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138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5138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571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</a:tr>
              <a:tr h="5138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571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38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8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T w="5715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5138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</a:tr>
              <a:tr h="51389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I8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4852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Analysis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Encoding stage : </a:t>
                </a:r>
              </a:p>
              <a:p>
                <a:pPr marL="0" indent="0">
                  <a:buNone/>
                </a:pP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Build Borderline Points - </a:t>
                </a:r>
                <a14:m>
                  <m:oMath xmlns:m="http://schemas.openxmlformats.org/officeDocument/2006/math">
                    <m:r>
                      <a:rPr lang="en-US" altLang="zh-TW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TW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i="1" dirty="0" err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ℓ</m:t>
                        </m:r>
                      </m:e>
                    </m:d>
                  </m:oMath>
                </a14:m>
                <a:endParaRPr lang="en-US" altLang="zh-TW" dirty="0" smtClean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ome OUT table value -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+ℓ×</m:t>
                        </m:r>
                        <m:func>
                          <m:func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TW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min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zh-TW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𝑛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r>
                                  <m:rPr>
                                    <m:sty m:val="p"/>
                                  </m:rPr>
                                  <a:rPr lang="el-GR" altLang="zh-TW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Σ</m:t>
                                </m:r>
                              </m:e>
                            </m:d>
                          </m:e>
                        </m:func>
                      </m:e>
                    </m:d>
                  </m:oMath>
                </a14:m>
                <a:endParaRPr lang="en-US" altLang="zh-TW" b="0" dirty="0" smtClean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Alignment stage 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𝑂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𝑛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546" t="-238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77290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3659</TotalTime>
  <Words>1360</Words>
  <Application>Microsoft Office PowerPoint</Application>
  <PresentationFormat>如螢幕大小 (4:3)</PresentationFormat>
  <Paragraphs>1116</Paragraphs>
  <Slides>27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27</vt:i4>
      </vt:variant>
    </vt:vector>
  </HeadingPairs>
  <TitlesOfParts>
    <vt:vector size="37" baseType="lpstr">
      <vt:lpstr>Arial Unicode MS</vt:lpstr>
      <vt:lpstr>KaiTi</vt:lpstr>
      <vt:lpstr>新細明體</vt:lpstr>
      <vt:lpstr>Arial</vt:lpstr>
      <vt:lpstr>Calibri</vt:lpstr>
      <vt:lpstr>Calibri Light</vt:lpstr>
      <vt:lpstr>Cambria Math</vt:lpstr>
      <vt:lpstr>Times New Roman</vt:lpstr>
      <vt:lpstr>Verdana</vt:lpstr>
      <vt:lpstr>Office 佈景主題</vt:lpstr>
      <vt:lpstr>PowerPoint 簡報</vt:lpstr>
      <vt:lpstr>Abstract(1/4)</vt:lpstr>
      <vt:lpstr>Abstract(2/4)</vt:lpstr>
      <vt:lpstr>Abstract(3/4)</vt:lpstr>
      <vt:lpstr>Abstract(4/4)</vt:lpstr>
      <vt:lpstr>Problem</vt:lpstr>
      <vt:lpstr>PowerPoint 簡報</vt:lpstr>
      <vt:lpstr>First Algorithm</vt:lpstr>
      <vt:lpstr>Second Algorithm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Analysis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Bebe</dc:creator>
  <cp:lastModifiedBy>Bebe</cp:lastModifiedBy>
  <cp:revision>281</cp:revision>
  <dcterms:created xsi:type="dcterms:W3CDTF">2015-06-30T03:57:49Z</dcterms:created>
  <dcterms:modified xsi:type="dcterms:W3CDTF">2016-02-23T09:48:35Z</dcterms:modified>
</cp:coreProperties>
</file>