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16"/>
  </p:handoutMasterIdLst>
  <p:sldIdLst>
    <p:sldId id="256" r:id="rId2"/>
    <p:sldId id="257" r:id="rId3"/>
    <p:sldId id="348" r:id="rId4"/>
    <p:sldId id="349" r:id="rId5"/>
    <p:sldId id="350" r:id="rId6"/>
    <p:sldId id="351" r:id="rId7"/>
    <p:sldId id="352" r:id="rId8"/>
    <p:sldId id="353" r:id="rId9"/>
    <p:sldId id="354" r:id="rId10"/>
    <p:sldId id="356" r:id="rId11"/>
    <p:sldId id="355" r:id="rId12"/>
    <p:sldId id="357" r:id="rId13"/>
    <p:sldId id="359" r:id="rId14"/>
    <p:sldId id="358" r:id="rId15"/>
  </p:sldIdLst>
  <p:sldSz cx="9144000" cy="6858000" type="screen4x3"/>
  <p:notesSz cx="9944100" cy="68151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003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0" y="2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9110" cy="34194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5632689" y="1"/>
            <a:ext cx="4309110" cy="34194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750277-8496-4D93-BB82-C65FFA6E6E09}" type="datetimeFigureOut">
              <a:rPr lang="zh-TW" altLang="en-US" smtClean="0"/>
              <a:t>2016/2/16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6473199"/>
            <a:ext cx="4309110" cy="3419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5632689" y="6473199"/>
            <a:ext cx="4309110" cy="3419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EC84A5-85E3-43EF-862F-C857A26CC4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94447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pPr/>
              <a:t>2016/2/16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8676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pPr/>
              <a:t>2016/2/16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088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pPr/>
              <a:t>2016/2/16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9045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pPr/>
              <a:t>2016/2/16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9354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pPr/>
              <a:t>2016/2/16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1187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pPr/>
              <a:t>2016/2/16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0125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pPr/>
              <a:t>2016/2/16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6498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pPr/>
              <a:t>2016/2/16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9419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pPr/>
              <a:t>2016/2/16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180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pPr/>
              <a:t>2016/2/16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3520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pPr/>
              <a:t>2016/2/16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0096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465F44-F807-4518-89E2-C811281CE334}" type="datetimeFigureOut">
              <a:rPr lang="zh-TW" altLang="en-US" smtClean="0"/>
              <a:pPr/>
              <a:t>2016/2/16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029359-40AB-419B-8FBB-45C7471E1ED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030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720721" y="740911"/>
            <a:ext cx="7772400" cy="147002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TW" sz="3200" dirty="0" smtClean="0">
                <a:latin typeface="Times New Roman" panose="02020603050405020304" pitchFamily="18" charset="0"/>
                <a:ea typeface="Arial Unicode MS" pitchFamily="34" charset="-120"/>
                <a:cs typeface="Times New Roman" panose="02020603050405020304" pitchFamily="18" charset="0"/>
              </a:rPr>
              <a:t>An O(n log n) Algorithm for Finding All Repetitions in a String</a:t>
            </a:r>
            <a:endParaRPr lang="zh-TW" altLang="en-US" sz="3200" dirty="0">
              <a:latin typeface="Times New Roman" panose="02020603050405020304" pitchFamily="18" charset="0"/>
              <a:ea typeface="Arial Unicode MS" pitchFamily="34" charset="-120"/>
              <a:cs typeface="Times New Roman" panose="02020603050405020304" pitchFamily="18" charset="0"/>
            </a:endParaRPr>
          </a:p>
        </p:txBody>
      </p:sp>
      <p:sp>
        <p:nvSpPr>
          <p:cNvPr id="5" name="副標題 2"/>
          <p:cNvSpPr txBox="1">
            <a:spLocks/>
          </p:cNvSpPr>
          <p:nvPr/>
        </p:nvSpPr>
        <p:spPr>
          <a:xfrm>
            <a:off x="1223958" y="2640845"/>
            <a:ext cx="6765925" cy="10914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 dirty="0">
                <a:solidFill>
                  <a:schemeClr val="tx1"/>
                </a:solidFill>
              </a:rPr>
              <a:t>MICHAEL G. </a:t>
            </a:r>
            <a:r>
              <a:rPr lang="en-US" altLang="zh-TW" sz="1600" dirty="0" smtClean="0">
                <a:solidFill>
                  <a:schemeClr val="tx1"/>
                </a:solidFill>
              </a:rPr>
              <a:t>MAIN</a:t>
            </a:r>
            <a:endParaRPr lang="en-US" altLang="zh-TW" sz="1600" dirty="0">
              <a:solidFill>
                <a:schemeClr val="tx1"/>
              </a:solidFill>
            </a:endParaRPr>
          </a:p>
          <a:p>
            <a:r>
              <a:rPr lang="en-US" altLang="zh-TW" sz="1300" dirty="0" smtClean="0">
                <a:solidFill>
                  <a:schemeClr val="tx1"/>
                </a:solidFill>
              </a:rPr>
              <a:t>Department of Computer Science, University of Colorado, Boulder, Colorado 80309</a:t>
            </a:r>
          </a:p>
          <a:p>
            <a:r>
              <a:rPr lang="en-US" altLang="zh-TW" sz="1600" dirty="0" smtClean="0">
                <a:solidFill>
                  <a:schemeClr val="tx1"/>
                </a:solidFill>
              </a:rPr>
              <a:t>RICHARD </a:t>
            </a:r>
            <a:r>
              <a:rPr lang="en-US" altLang="zh-TW" sz="1600" dirty="0">
                <a:solidFill>
                  <a:schemeClr val="tx1"/>
                </a:solidFill>
              </a:rPr>
              <a:t>J. </a:t>
            </a:r>
            <a:r>
              <a:rPr lang="en-US" altLang="zh-TW" sz="1600" dirty="0" smtClean="0">
                <a:solidFill>
                  <a:schemeClr val="tx1"/>
                </a:solidFill>
              </a:rPr>
              <a:t>LORRNTZ</a:t>
            </a:r>
          </a:p>
          <a:p>
            <a:r>
              <a:rPr lang="en-US" altLang="zh-TW" sz="1300" dirty="0" smtClean="0">
                <a:solidFill>
                  <a:schemeClr val="tx1"/>
                </a:solidFill>
              </a:rPr>
              <a:t>Computer Science Group, Harvey </a:t>
            </a:r>
            <a:r>
              <a:rPr lang="en-US" altLang="zh-TW" sz="1300" dirty="0" err="1" smtClean="0">
                <a:solidFill>
                  <a:schemeClr val="tx1"/>
                </a:solidFill>
              </a:rPr>
              <a:t>Mudd</a:t>
            </a:r>
            <a:r>
              <a:rPr lang="en-US" altLang="zh-TW" sz="1300" dirty="0" smtClean="0">
                <a:solidFill>
                  <a:schemeClr val="tx1"/>
                </a:solidFill>
              </a:rPr>
              <a:t> College, Claremont, California 91711</a:t>
            </a:r>
            <a:endParaRPr lang="en-US" altLang="zh-TW" sz="1300" dirty="0">
              <a:solidFill>
                <a:schemeClr val="tx1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4323812"/>
              </p:ext>
            </p:extLst>
          </p:nvPr>
        </p:nvGraphicFramePr>
        <p:xfrm>
          <a:off x="2101846" y="4162196"/>
          <a:ext cx="5010150" cy="916274"/>
        </p:xfrm>
        <a:graphic>
          <a:graphicData uri="http://schemas.openxmlformats.org/drawingml/2006/table">
            <a:tbl>
              <a:tblPr/>
              <a:tblGrid>
                <a:gridCol w="5010150"/>
              </a:tblGrid>
              <a:tr h="454542">
                <a:tc>
                  <a:txBody>
                    <a:bodyPr/>
                    <a:lstStyle/>
                    <a:p>
                      <a:pPr algn="ctr"/>
                      <a:r>
                        <a:rPr lang="en-US" altLang="zh-TW" u="none" dirty="0" smtClean="0"/>
                        <a:t>Journal of Algorithms </a:t>
                      </a:r>
                    </a:p>
                    <a:p>
                      <a:pPr algn="ctr"/>
                      <a:r>
                        <a:rPr lang="en-US" altLang="zh-TW" u="none" dirty="0" smtClean="0"/>
                        <a:t>Volume 5, Issue 3, pp. 422-432,</a:t>
                      </a:r>
                      <a:r>
                        <a:rPr lang="zh-TW" altLang="en-US" u="none" dirty="0" smtClean="0"/>
                        <a:t> </a:t>
                      </a:r>
                      <a:r>
                        <a:rPr lang="en-US" altLang="zh-TW" u="none" dirty="0" smtClean="0"/>
                        <a:t>September 1984</a:t>
                      </a:r>
                      <a:endParaRPr lang="en-US" altLang="zh-TW" u="none" dirty="0"/>
                    </a:p>
                  </a:txBody>
                  <a:tcPr marL="95251" marR="9525" marT="9523" marB="952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9112"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95251" marR="9525" marT="9523" marB="952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79" name="文字方塊 6"/>
          <p:cNvSpPr txBox="1">
            <a:spLocks noChangeArrowheads="1"/>
          </p:cNvSpPr>
          <p:nvPr/>
        </p:nvSpPr>
        <p:spPr bwMode="auto">
          <a:xfrm>
            <a:off x="3097210" y="5394079"/>
            <a:ext cx="32480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/>
              <a:t>Presenter:  </a:t>
            </a:r>
            <a:r>
              <a:rPr lang="en-US" altLang="zh-TW" sz="1800" dirty="0" smtClean="0"/>
              <a:t>Shih-</a:t>
            </a:r>
            <a:r>
              <a:rPr lang="en-US" altLang="zh-TW" sz="1800" dirty="0" err="1" smtClean="0"/>
              <a:t>jhan</a:t>
            </a:r>
            <a:r>
              <a:rPr lang="en-US" altLang="zh-TW" sz="1800" dirty="0" smtClean="0"/>
              <a:t> Huang</a:t>
            </a:r>
            <a:endParaRPr lang="en-US" altLang="zh-TW" sz="1800" dirty="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 smtClean="0"/>
              <a:t>Date:</a:t>
            </a:r>
            <a:fld id="{F3590F60-3E7B-48AD-979A-345F224951B5}" type="datetime1">
              <a:rPr lang="zh-TW" altLang="en-US" sz="1800" smtClean="0"/>
              <a:pPr algn="ctr" eaLnBrk="1" hangingPunct="1">
                <a:spcBef>
                  <a:spcPct val="0"/>
                </a:spcBef>
                <a:buFontTx/>
                <a:buNone/>
              </a:pPr>
              <a:t>2016/2/16</a:t>
            </a:fld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494669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5" y="31751"/>
            <a:ext cx="7886700" cy="1325563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33375" y="1357314"/>
            <a:ext cx="8077200" cy="5291136"/>
          </a:xfrm>
        </p:spPr>
        <p:txBody>
          <a:bodyPr>
            <a:no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zh-TW" altLang="en-US" sz="2500" dirty="0" smtClean="0"/>
              <a:t>　</a:t>
            </a:r>
            <a:r>
              <a:rPr lang="en-US" altLang="zh-TW" sz="2500" dirty="0" smtClean="0"/>
              <a:t>Any </a:t>
            </a:r>
            <a:r>
              <a:rPr lang="en-US" altLang="zh-TW" sz="2500" dirty="0"/>
              <a:t>nonempty string of the form </a:t>
            </a:r>
            <a:r>
              <a:rPr lang="en-US" altLang="zh-TW" sz="2500" i="1" dirty="0"/>
              <a:t>xx</a:t>
            </a:r>
            <a:r>
              <a:rPr lang="en-US" altLang="zh-TW" sz="2500" dirty="0"/>
              <a:t> is called a </a:t>
            </a:r>
            <a:r>
              <a:rPr lang="en-US" altLang="zh-TW" sz="2500" i="1" dirty="0"/>
              <a:t>repetition</a:t>
            </a:r>
            <a:r>
              <a:rPr lang="en-US" altLang="zh-TW" sz="2500" dirty="0"/>
              <a:t>. </a:t>
            </a:r>
            <a:r>
              <a:rPr lang="en-US" altLang="zh-TW" sz="2500" dirty="0" smtClean="0"/>
              <a:t>An </a:t>
            </a:r>
            <a:r>
              <a:rPr lang="en-US" altLang="zh-TW" sz="2500" i="1" dirty="0" smtClean="0"/>
              <a:t>O</a:t>
            </a:r>
            <a:r>
              <a:rPr lang="en-US" altLang="zh-TW" sz="2500" dirty="0" smtClean="0"/>
              <a:t>(</a:t>
            </a:r>
            <a:r>
              <a:rPr lang="en-US" altLang="zh-TW" sz="2500" i="1" dirty="0" smtClean="0"/>
              <a:t>n </a:t>
            </a:r>
            <a:r>
              <a:rPr lang="en-US" altLang="zh-TW" sz="2500" dirty="0" smtClean="0"/>
              <a:t>log </a:t>
            </a:r>
            <a:r>
              <a:rPr lang="en-US" altLang="zh-TW" sz="2500" i="1" dirty="0" smtClean="0"/>
              <a:t>n</a:t>
            </a:r>
            <a:r>
              <a:rPr lang="en-US" altLang="zh-TW" sz="2500" dirty="0"/>
              <a:t>) algorithm is presented to find all repetitions in a string of </a:t>
            </a:r>
            <a:r>
              <a:rPr lang="en-US" altLang="zh-TW" sz="2500" dirty="0" smtClean="0"/>
              <a:t>length </a:t>
            </a:r>
            <a:r>
              <a:rPr lang="en-US" altLang="zh-TW" sz="2500" i="1" dirty="0" smtClean="0"/>
              <a:t>n</a:t>
            </a:r>
            <a:r>
              <a:rPr lang="en-US" altLang="zh-TW" sz="2500" dirty="0" smtClean="0"/>
              <a:t>. The </a:t>
            </a:r>
            <a:r>
              <a:rPr lang="en-US" altLang="zh-TW" sz="2500" dirty="0"/>
              <a:t>algorithm is based on a linear algorithm to find all the new repetitions formed when two strings are </a:t>
            </a:r>
            <a:r>
              <a:rPr lang="en-US" altLang="zh-TW" sz="2500" dirty="0" smtClean="0"/>
              <a:t>concatenated. This </a:t>
            </a:r>
            <a:r>
              <a:rPr lang="en-US" altLang="zh-TW" sz="2500" dirty="0"/>
              <a:t>linear algorithm is possible because new repetitions of equal length must occur in blocks with consecutive starting </a:t>
            </a:r>
            <a:r>
              <a:rPr lang="en-US" altLang="zh-TW" sz="2500" dirty="0" smtClean="0"/>
              <a:t>positions. The </a:t>
            </a:r>
            <a:r>
              <a:rPr lang="en-US" altLang="zh-TW" sz="2500" dirty="0"/>
              <a:t>linear algorithm uses a variation of the Knuth-Morris-Pratt algorithm to find all partial occurrences of a pattern within a text string. It is also shown that no algorithm based on comparisons of symbols can improve </a:t>
            </a:r>
            <a:r>
              <a:rPr lang="en-US" altLang="zh-TW" sz="2500" i="1" dirty="0" smtClean="0"/>
              <a:t>O</a:t>
            </a:r>
            <a:r>
              <a:rPr lang="en-US" altLang="zh-TW" sz="2500" dirty="0" smtClean="0"/>
              <a:t>(</a:t>
            </a:r>
            <a:r>
              <a:rPr lang="en-US" altLang="zh-TW" sz="2500" i="1" dirty="0" smtClean="0"/>
              <a:t>n </a:t>
            </a:r>
            <a:r>
              <a:rPr lang="en-US" altLang="zh-TW" sz="2500" dirty="0" smtClean="0"/>
              <a:t>log </a:t>
            </a:r>
            <a:r>
              <a:rPr lang="en-US" altLang="zh-TW" sz="2500" i="1" dirty="0" smtClean="0"/>
              <a:t>n</a:t>
            </a:r>
            <a:r>
              <a:rPr lang="en-US" altLang="zh-TW" sz="2500" dirty="0" smtClean="0"/>
              <a:t>). Finally</a:t>
            </a:r>
            <a:r>
              <a:rPr lang="en-US" altLang="zh-TW" sz="2500" dirty="0"/>
              <a:t>, some open problems and applications are suggested.</a:t>
            </a:r>
            <a:endParaRPr lang="en-US" altLang="zh-TW" sz="2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7559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9186" y="1942437"/>
            <a:ext cx="6724148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8000" b="0" cap="none" spc="60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AAAB</a:t>
            </a:r>
            <a:r>
              <a:rPr lang="en-US" altLang="zh-TW" sz="8000" b="0" cap="none" spc="600" dirty="0" smtClean="0">
                <a:ln w="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BAABBA</a:t>
            </a:r>
            <a:endParaRPr lang="zh-TW" altLang="en-US" sz="8000" b="0" cap="none" spc="600" dirty="0">
              <a:ln w="0"/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6815780"/>
              </p:ext>
            </p:extLst>
          </p:nvPr>
        </p:nvGraphicFramePr>
        <p:xfrm>
          <a:off x="1346736" y="5054060"/>
          <a:ext cx="6096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ls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x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>
                          <a:latin typeface="+mn-lt"/>
                          <a:cs typeface="Courier New" panose="02070309020205020404" pitchFamily="49" charset="0"/>
                        </a:rPr>
                        <a:t>lp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x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59878" y="889153"/>
            <a:ext cx="887351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find all “right” repetitions with length 4+4</a:t>
            </a:r>
            <a:endParaRPr lang="zh-TW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36536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9186" y="1942437"/>
            <a:ext cx="6724148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8000" b="0" cap="none" spc="60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A</a:t>
            </a:r>
            <a:r>
              <a:rPr lang="en-US" altLang="zh-TW" sz="8000" b="0" u="sng" cap="none" spc="60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AAB</a:t>
            </a:r>
            <a:r>
              <a:rPr lang="en-US" altLang="zh-TW" sz="8000" b="0" cap="none" spc="600" dirty="0" smtClean="0">
                <a:ln w="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B</a:t>
            </a:r>
            <a:r>
              <a:rPr lang="en-US" altLang="zh-TW" sz="8000" b="0" u="sng" cap="none" spc="600" dirty="0" smtClean="0">
                <a:ln w="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AAB</a:t>
            </a:r>
            <a:r>
              <a:rPr lang="en-US" altLang="zh-TW" sz="8000" b="0" cap="none" spc="600" dirty="0" smtClean="0">
                <a:ln w="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BA</a:t>
            </a:r>
            <a:endParaRPr lang="zh-TW" altLang="en-US" sz="8000" b="0" cap="none" spc="600" dirty="0">
              <a:ln w="0"/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0749175"/>
              </p:ext>
            </p:extLst>
          </p:nvPr>
        </p:nvGraphicFramePr>
        <p:xfrm>
          <a:off x="1346736" y="5054060"/>
          <a:ext cx="6096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ls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x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>
                          <a:latin typeface="+mn-lt"/>
                          <a:cs typeface="Courier New" panose="02070309020205020404" pitchFamily="49" charset="0"/>
                        </a:rPr>
                        <a:t>lp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x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4669507" y="1360207"/>
            <a:ext cx="47000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8310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9186" y="1942437"/>
            <a:ext cx="6724148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8000" b="0" cap="none" spc="60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A</a:t>
            </a:r>
            <a:r>
              <a:rPr lang="en-US" altLang="zh-TW" sz="8000" b="0" u="sng" cap="none" spc="60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AAB</a:t>
            </a:r>
            <a:r>
              <a:rPr lang="en-US" altLang="zh-TW" sz="8000" b="0" cap="none" spc="600" dirty="0" smtClean="0">
                <a:ln w="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B</a:t>
            </a:r>
            <a:r>
              <a:rPr lang="en-US" altLang="zh-TW" sz="8000" b="0" u="sng" cap="none" spc="600" dirty="0" smtClean="0">
                <a:ln w="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AAB</a:t>
            </a:r>
            <a:r>
              <a:rPr lang="en-US" altLang="zh-TW" sz="8000" b="0" cap="none" spc="600" dirty="0" smtClean="0">
                <a:ln w="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BA</a:t>
            </a:r>
            <a:endParaRPr lang="zh-TW" altLang="en-US" sz="8000" b="0" cap="none" spc="600" dirty="0">
              <a:ln w="0"/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0749175"/>
              </p:ext>
            </p:extLst>
          </p:nvPr>
        </p:nvGraphicFramePr>
        <p:xfrm>
          <a:off x="1346736" y="5054060"/>
          <a:ext cx="6096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ls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x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>
                          <a:latin typeface="+mn-lt"/>
                          <a:cs typeface="Courier New" panose="02070309020205020404" pitchFamily="49" charset="0"/>
                        </a:rPr>
                        <a:t>lp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x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pSp>
        <p:nvGrpSpPr>
          <p:cNvPr id="10" name="群組 9"/>
          <p:cNvGrpSpPr/>
          <p:nvPr/>
        </p:nvGrpSpPr>
        <p:grpSpPr>
          <a:xfrm>
            <a:off x="778830" y="1817895"/>
            <a:ext cx="5244860" cy="1561382"/>
            <a:chOff x="2924355" y="1906437"/>
            <a:chExt cx="5244860" cy="1561382"/>
          </a:xfrm>
        </p:grpSpPr>
        <p:sp>
          <p:nvSpPr>
            <p:cNvPr id="8" name="矩形 7"/>
            <p:cNvSpPr/>
            <p:nvPr/>
          </p:nvSpPr>
          <p:spPr>
            <a:xfrm>
              <a:off x="2924355" y="1906438"/>
              <a:ext cx="2622430" cy="1561381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5546785" y="1906437"/>
              <a:ext cx="2622430" cy="1561381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矩形 12"/>
          <p:cNvSpPr/>
          <p:nvPr/>
        </p:nvSpPr>
        <p:spPr>
          <a:xfrm>
            <a:off x="5156736" y="892107"/>
            <a:ext cx="190751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0" cap="none" spc="0" dirty="0" smtClean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↓</a:t>
            </a:r>
            <a:r>
              <a:rPr lang="en-US" altLang="zh-TW" sz="5400" b="0" cap="none" spc="0" dirty="0" smtClean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first</a:t>
            </a:r>
            <a:endParaRPr lang="zh-TW" altLang="en-US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37282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147732"/>
              </p:ext>
            </p:extLst>
          </p:nvPr>
        </p:nvGraphicFramePr>
        <p:xfrm>
          <a:off x="1346736" y="5054060"/>
          <a:ext cx="6096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ls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x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>
                          <a:latin typeface="+mn-lt"/>
                          <a:cs typeface="Courier New" panose="02070309020205020404" pitchFamily="49" charset="0"/>
                        </a:rPr>
                        <a:t>lp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x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5156736" y="892107"/>
            <a:ext cx="190751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0" cap="none" spc="0" dirty="0" smtClean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↓</a:t>
            </a:r>
            <a:r>
              <a:rPr lang="en-US" altLang="zh-TW" sz="5400" b="0" cap="none" spc="0" dirty="0" smtClean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first</a:t>
            </a:r>
            <a:endParaRPr lang="zh-TW" altLang="en-US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矩形 4"/>
          <p:cNvSpPr/>
          <p:nvPr/>
        </p:nvSpPr>
        <p:spPr>
          <a:xfrm>
            <a:off x="39186" y="1942437"/>
            <a:ext cx="6724148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8000" b="0" cap="none" spc="60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AAAB</a:t>
            </a:r>
            <a:r>
              <a:rPr lang="en-US" altLang="zh-TW" sz="8000" b="0" u="sng" cap="none" spc="600" dirty="0" smtClean="0">
                <a:ln w="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BA</a:t>
            </a:r>
            <a:r>
              <a:rPr lang="en-US" altLang="zh-TW" sz="8000" b="0" cap="none" spc="600" dirty="0" smtClean="0">
                <a:ln w="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AB</a:t>
            </a:r>
            <a:r>
              <a:rPr lang="en-US" altLang="zh-TW" sz="8000" b="0" u="sng" cap="none" spc="600" dirty="0" smtClean="0">
                <a:ln w="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BA</a:t>
            </a:r>
            <a:endParaRPr lang="zh-TW" altLang="en-US" sz="8000" b="0" u="sng" cap="none" spc="600" dirty="0">
              <a:ln w="0"/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64095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9186" y="1942437"/>
            <a:ext cx="6724148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8000" b="0" cap="none" spc="60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AAAB</a:t>
            </a:r>
            <a:r>
              <a:rPr lang="en-US" altLang="zh-TW" sz="8000" b="0" u="sng" cap="none" spc="600" dirty="0" smtClean="0">
                <a:ln w="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BA</a:t>
            </a:r>
            <a:r>
              <a:rPr lang="en-US" altLang="zh-TW" sz="8000" b="0" cap="none" spc="600" dirty="0" smtClean="0">
                <a:ln w="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AB</a:t>
            </a:r>
            <a:r>
              <a:rPr lang="en-US" altLang="zh-TW" sz="8000" b="0" u="sng" cap="none" spc="600" dirty="0" smtClean="0">
                <a:ln w="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BA</a:t>
            </a:r>
            <a:endParaRPr lang="zh-TW" altLang="en-US" sz="8000" b="0" u="sng" cap="none" spc="600" dirty="0">
              <a:ln w="0"/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147732"/>
              </p:ext>
            </p:extLst>
          </p:nvPr>
        </p:nvGraphicFramePr>
        <p:xfrm>
          <a:off x="1346736" y="5054060"/>
          <a:ext cx="6096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ls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x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>
                          <a:latin typeface="+mn-lt"/>
                          <a:cs typeface="Courier New" panose="02070309020205020404" pitchFamily="49" charset="0"/>
                        </a:rPr>
                        <a:t>lp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x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14" name="矩形 13"/>
          <p:cNvSpPr/>
          <p:nvPr/>
        </p:nvSpPr>
        <p:spPr>
          <a:xfrm>
            <a:off x="5156736" y="892107"/>
            <a:ext cx="190751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0" cap="none" spc="0" dirty="0" smtClean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↓</a:t>
            </a:r>
            <a:r>
              <a:rPr lang="en-US" altLang="zh-TW" sz="5400" b="0" cap="none" spc="0" dirty="0" smtClean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first</a:t>
            </a:r>
            <a:endParaRPr lang="zh-TW" altLang="en-US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745120" y="3330507"/>
            <a:ext cx="179754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0" cap="none" spc="0" dirty="0" smtClean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↑</a:t>
            </a:r>
            <a:r>
              <a:rPr lang="en-US" altLang="zh-TW" sz="5400" dirty="0" smtClean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last</a:t>
            </a:r>
            <a:endParaRPr lang="zh-TW" altLang="en-US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16" name="群組 15"/>
          <p:cNvGrpSpPr/>
          <p:nvPr/>
        </p:nvGrpSpPr>
        <p:grpSpPr>
          <a:xfrm>
            <a:off x="1413830" y="1817895"/>
            <a:ext cx="5244860" cy="1561382"/>
            <a:chOff x="2924355" y="1906437"/>
            <a:chExt cx="5244860" cy="1561382"/>
          </a:xfrm>
        </p:grpSpPr>
        <p:sp>
          <p:nvSpPr>
            <p:cNvPr id="17" name="矩形 16"/>
            <p:cNvSpPr/>
            <p:nvPr/>
          </p:nvSpPr>
          <p:spPr>
            <a:xfrm>
              <a:off x="2924355" y="1906438"/>
              <a:ext cx="2622430" cy="1561381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5546785" y="1906437"/>
              <a:ext cx="2622430" cy="1561381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26612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9186" y="1942437"/>
            <a:ext cx="6724148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8000" b="0" cap="none" spc="60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AAA</a:t>
            </a:r>
            <a:r>
              <a:rPr lang="en-US" altLang="zh-TW" sz="8000" b="0" u="sng" cap="none" spc="60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B</a:t>
            </a:r>
            <a:r>
              <a:rPr lang="en-US" altLang="zh-TW" sz="8000" b="0" cap="none" spc="600" dirty="0" smtClean="0">
                <a:ln w="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BAAB</a:t>
            </a:r>
            <a:r>
              <a:rPr lang="en-US" altLang="zh-TW" sz="8000" b="0" u="sng" cap="none" spc="600" dirty="0" smtClean="0">
                <a:ln w="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B</a:t>
            </a:r>
            <a:r>
              <a:rPr lang="en-US" altLang="zh-TW" sz="8000" b="0" cap="none" spc="600" dirty="0" smtClean="0">
                <a:ln w="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A</a:t>
            </a:r>
            <a:endParaRPr lang="zh-TW" altLang="en-US" sz="8000" b="0" cap="none" spc="600" dirty="0">
              <a:ln w="0"/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6400522"/>
              </p:ext>
            </p:extLst>
          </p:nvPr>
        </p:nvGraphicFramePr>
        <p:xfrm>
          <a:off x="1346736" y="5054060"/>
          <a:ext cx="6096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ls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x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>
                          <a:latin typeface="+mn-lt"/>
                          <a:cs typeface="Courier New" panose="02070309020205020404" pitchFamily="49" charset="0"/>
                        </a:rPr>
                        <a:t>lp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x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59878" y="889153"/>
            <a:ext cx="887351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find all “right” repetitions with length 5+5</a:t>
            </a:r>
            <a:endParaRPr lang="zh-TW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35971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9186" y="1942437"/>
            <a:ext cx="6724148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8000" b="0" cap="none" spc="60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AAA</a:t>
            </a:r>
            <a:r>
              <a:rPr lang="en-US" altLang="zh-TW" sz="8000" b="0" u="sng" cap="none" spc="60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B</a:t>
            </a:r>
            <a:r>
              <a:rPr lang="en-US" altLang="zh-TW" sz="8000" b="0" cap="none" spc="600" dirty="0" smtClean="0">
                <a:ln w="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BAAB</a:t>
            </a:r>
            <a:r>
              <a:rPr lang="en-US" altLang="zh-TW" sz="8000" b="0" u="sng" cap="none" spc="600" dirty="0" smtClean="0">
                <a:ln w="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B</a:t>
            </a:r>
            <a:r>
              <a:rPr lang="en-US" altLang="zh-TW" sz="8000" b="0" cap="none" spc="600" dirty="0" smtClean="0">
                <a:ln w="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A</a:t>
            </a:r>
            <a:endParaRPr lang="zh-TW" altLang="en-US" sz="8000" b="0" cap="none" spc="600" dirty="0">
              <a:ln w="0"/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6400522"/>
              </p:ext>
            </p:extLst>
          </p:nvPr>
        </p:nvGraphicFramePr>
        <p:xfrm>
          <a:off x="1346736" y="5054060"/>
          <a:ext cx="6096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ls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x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>
                          <a:latin typeface="+mn-lt"/>
                          <a:cs typeface="Courier New" panose="02070309020205020404" pitchFamily="49" charset="0"/>
                        </a:rPr>
                        <a:t>lp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x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pSp>
        <p:nvGrpSpPr>
          <p:cNvPr id="2" name="群組 1"/>
          <p:cNvGrpSpPr/>
          <p:nvPr/>
        </p:nvGrpSpPr>
        <p:grpSpPr>
          <a:xfrm>
            <a:off x="2106761" y="1822210"/>
            <a:ext cx="6262778" cy="1561381"/>
            <a:chOff x="2741761" y="1822210"/>
            <a:chExt cx="6262778" cy="1561381"/>
          </a:xfrm>
        </p:grpSpPr>
        <p:sp>
          <p:nvSpPr>
            <p:cNvPr id="8" name="矩形 7"/>
            <p:cNvSpPr/>
            <p:nvPr/>
          </p:nvSpPr>
          <p:spPr>
            <a:xfrm>
              <a:off x="2741761" y="1822210"/>
              <a:ext cx="3131389" cy="1561381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5873150" y="1822210"/>
              <a:ext cx="3131389" cy="1561381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2" name="矩形 11"/>
          <p:cNvSpPr/>
          <p:nvPr/>
        </p:nvSpPr>
        <p:spPr>
          <a:xfrm>
            <a:off x="6426737" y="892107"/>
            <a:ext cx="190750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first</a:t>
            </a:r>
            <a:r>
              <a:rPr lang="zh-TW" altLang="en-US" sz="5400" b="0" cap="none" spc="0" dirty="0" smtClean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↓</a:t>
            </a:r>
            <a:endParaRPr lang="zh-TW" altLang="en-US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3597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9186" y="1942437"/>
            <a:ext cx="6724148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8000" b="0" cap="none" spc="60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AAAB</a:t>
            </a:r>
            <a:r>
              <a:rPr lang="en-US" altLang="zh-TW" sz="8000" b="0" u="sng" cap="none" spc="600" dirty="0" smtClean="0">
                <a:ln w="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B</a:t>
            </a:r>
            <a:r>
              <a:rPr lang="en-US" altLang="zh-TW" sz="8000" b="0" cap="none" spc="600" dirty="0" smtClean="0">
                <a:ln w="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AABB</a:t>
            </a:r>
            <a:r>
              <a:rPr lang="en-US" altLang="zh-TW" sz="8000" b="0" u="sng" cap="none" spc="600" dirty="0" smtClean="0">
                <a:ln w="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A</a:t>
            </a:r>
            <a:endParaRPr lang="zh-TW" altLang="en-US" sz="8000" b="0" u="sng" cap="none" spc="600" dirty="0">
              <a:ln w="0"/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416019"/>
              </p:ext>
            </p:extLst>
          </p:nvPr>
        </p:nvGraphicFramePr>
        <p:xfrm>
          <a:off x="1346736" y="5054060"/>
          <a:ext cx="6096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ls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x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>
                          <a:latin typeface="+mn-lt"/>
                          <a:cs typeface="Courier New" panose="02070309020205020404" pitchFamily="49" charset="0"/>
                        </a:rPr>
                        <a:t>lp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x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4394736" y="3329312"/>
            <a:ext cx="35618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2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x</a:t>
            </a:r>
            <a:endParaRPr lang="zh-TW" alt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426737" y="892107"/>
            <a:ext cx="190750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first</a:t>
            </a:r>
            <a:r>
              <a:rPr lang="zh-TW" altLang="en-US" sz="5400" b="0" cap="none" spc="0" dirty="0" smtClean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↓</a:t>
            </a:r>
            <a:endParaRPr lang="zh-TW" altLang="en-US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24" name="群組 23"/>
          <p:cNvGrpSpPr/>
          <p:nvPr/>
        </p:nvGrpSpPr>
        <p:grpSpPr>
          <a:xfrm>
            <a:off x="3028950" y="3191862"/>
            <a:ext cx="3219450" cy="485774"/>
            <a:chOff x="3038475" y="3190876"/>
            <a:chExt cx="3219450" cy="485774"/>
          </a:xfrm>
        </p:grpSpPr>
        <p:cxnSp>
          <p:nvCxnSpPr>
            <p:cNvPr id="10" name="直線接點 9"/>
            <p:cNvCxnSpPr/>
            <p:nvPr/>
          </p:nvCxnSpPr>
          <p:spPr>
            <a:xfrm>
              <a:off x="3038475" y="3657600"/>
              <a:ext cx="3219450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線單箭頭接點 12"/>
            <p:cNvCxnSpPr/>
            <p:nvPr/>
          </p:nvCxnSpPr>
          <p:spPr>
            <a:xfrm flipV="1">
              <a:off x="3038475" y="3190877"/>
              <a:ext cx="0" cy="48577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線單箭頭接點 13"/>
            <p:cNvCxnSpPr/>
            <p:nvPr/>
          </p:nvCxnSpPr>
          <p:spPr>
            <a:xfrm flipV="1">
              <a:off x="6257925" y="3190876"/>
              <a:ext cx="0" cy="48577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0108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9186" y="1942437"/>
            <a:ext cx="6724148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8000" b="0" cap="none" spc="60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AAAB</a:t>
            </a:r>
            <a:r>
              <a:rPr lang="en-US" altLang="zh-TW" sz="8000" b="0" u="sng" cap="none" spc="600" dirty="0" smtClean="0">
                <a:ln w="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B</a:t>
            </a:r>
            <a:r>
              <a:rPr lang="en-US" altLang="zh-TW" sz="8000" b="0" cap="none" spc="600" dirty="0" smtClean="0">
                <a:ln w="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AABB</a:t>
            </a:r>
            <a:r>
              <a:rPr lang="en-US" altLang="zh-TW" sz="8000" b="0" u="sng" cap="none" spc="600" dirty="0" smtClean="0">
                <a:ln w="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A</a:t>
            </a:r>
            <a:endParaRPr lang="zh-TW" altLang="en-US" sz="8000" b="0" u="sng" cap="none" spc="600" dirty="0">
              <a:ln w="0"/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7858443"/>
              </p:ext>
            </p:extLst>
          </p:nvPr>
        </p:nvGraphicFramePr>
        <p:xfrm>
          <a:off x="1346736" y="5054060"/>
          <a:ext cx="6096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5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ls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x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>
                          <a:latin typeface="+mn-lt"/>
                          <a:cs typeface="Courier New" panose="02070309020205020404" pitchFamily="49" charset="0"/>
                        </a:rPr>
                        <a:t>lp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x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pSp>
        <p:nvGrpSpPr>
          <p:cNvPr id="2" name="群組 1"/>
          <p:cNvGrpSpPr/>
          <p:nvPr/>
        </p:nvGrpSpPr>
        <p:grpSpPr>
          <a:xfrm>
            <a:off x="-357998" y="1823465"/>
            <a:ext cx="6262778" cy="1561381"/>
            <a:chOff x="2741761" y="1822210"/>
            <a:chExt cx="6262778" cy="1561381"/>
          </a:xfrm>
        </p:grpSpPr>
        <p:sp>
          <p:nvSpPr>
            <p:cNvPr id="8" name="矩形 7"/>
            <p:cNvSpPr/>
            <p:nvPr/>
          </p:nvSpPr>
          <p:spPr>
            <a:xfrm>
              <a:off x="2741761" y="1822210"/>
              <a:ext cx="3131389" cy="1561381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5873150" y="1822210"/>
              <a:ext cx="3131389" cy="1561381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2" name="矩形 11"/>
          <p:cNvSpPr/>
          <p:nvPr/>
        </p:nvSpPr>
        <p:spPr>
          <a:xfrm>
            <a:off x="2945700" y="2921926"/>
            <a:ext cx="312906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x</a:t>
            </a:r>
            <a:endParaRPr lang="zh-TW" alt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237120" y="3330507"/>
            <a:ext cx="179754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0" cap="none" spc="0" dirty="0" smtClean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↑</a:t>
            </a:r>
            <a:r>
              <a:rPr lang="en-US" altLang="zh-TW" sz="5400" dirty="0" smtClean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last</a:t>
            </a:r>
            <a:endParaRPr lang="zh-TW" altLang="en-US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426737" y="892107"/>
            <a:ext cx="190750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first</a:t>
            </a:r>
            <a:r>
              <a:rPr lang="zh-TW" altLang="en-US" sz="5400" b="0" cap="none" spc="0" dirty="0" smtClean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↓</a:t>
            </a:r>
            <a:endParaRPr lang="zh-TW" altLang="en-US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94893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30416" y="526059"/>
            <a:ext cx="6463885" cy="563231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findReps</a:t>
            </a:r>
            <a:r>
              <a:rPr lang="en-US" altLang="zh-TW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(string s)  {</a:t>
            </a:r>
          </a:p>
          <a:p>
            <a:r>
              <a:rPr lang="en-US" altLang="zh-TW" sz="36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	if ( |s| ≤ 1 )</a:t>
            </a:r>
          </a:p>
          <a:p>
            <a:r>
              <a:rPr lang="en-US" altLang="zh-TW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	</a:t>
            </a:r>
            <a:r>
              <a:rPr lang="en-US" altLang="zh-TW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	s is repetition-free;</a:t>
            </a:r>
          </a:p>
          <a:p>
            <a:r>
              <a:rPr lang="en-US" altLang="zh-TW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	</a:t>
            </a:r>
            <a:r>
              <a:rPr lang="en-US" altLang="zh-TW" sz="36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else {</a:t>
            </a:r>
          </a:p>
          <a:p>
            <a:r>
              <a:rPr lang="en-US" altLang="zh-TW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	</a:t>
            </a:r>
            <a:r>
              <a:rPr lang="en-US" altLang="zh-TW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	</a:t>
            </a:r>
            <a:r>
              <a:rPr lang="en-US" altLang="zh-TW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findReps</a:t>
            </a:r>
            <a:r>
              <a:rPr lang="en-US" altLang="zh-TW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(left half of s);</a:t>
            </a:r>
          </a:p>
          <a:p>
            <a:r>
              <a:rPr lang="en-US" altLang="zh-TW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	</a:t>
            </a:r>
            <a:r>
              <a:rPr lang="en-US" altLang="zh-TW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	</a:t>
            </a:r>
            <a:r>
              <a:rPr lang="en-US" altLang="zh-TW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findReps</a:t>
            </a:r>
            <a:r>
              <a:rPr lang="en-US" altLang="zh-TW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(right half of s);</a:t>
            </a:r>
          </a:p>
          <a:p>
            <a:r>
              <a:rPr lang="en-US" altLang="zh-TW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	</a:t>
            </a:r>
            <a:r>
              <a:rPr lang="en-US" altLang="zh-TW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findAllRightReps</a:t>
            </a:r>
            <a:r>
              <a:rPr lang="en-US" altLang="zh-TW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;</a:t>
            </a:r>
          </a:p>
          <a:p>
            <a:r>
              <a:rPr lang="en-US" altLang="zh-TW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	</a:t>
            </a:r>
            <a:r>
              <a:rPr lang="en-US" altLang="zh-TW" sz="36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	</a:t>
            </a:r>
            <a:r>
              <a:rPr lang="en-US" altLang="zh-TW" sz="36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findAllLeftReps</a:t>
            </a:r>
            <a:r>
              <a:rPr lang="en-US" altLang="zh-TW" sz="36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;</a:t>
            </a:r>
          </a:p>
          <a:p>
            <a:r>
              <a:rPr lang="en-US" altLang="zh-TW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	</a:t>
            </a:r>
            <a:r>
              <a:rPr lang="en-US" altLang="zh-TW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}</a:t>
            </a:r>
          </a:p>
          <a:p>
            <a:r>
              <a:rPr lang="en-US" altLang="zh-TW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}</a:t>
            </a:r>
            <a:endParaRPr lang="en-US" altLang="zh-TW" sz="3600" b="0" cap="none" spc="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98649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58991" y="2297709"/>
            <a:ext cx="7629846" cy="150810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T(n) = </a:t>
            </a:r>
            <a:r>
              <a:rPr lang="en-US" altLang="zh-TW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cn</a:t>
            </a:r>
            <a:r>
              <a:rPr lang="en-US" altLang="zh-TW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 + 2T(n/2)   ,</a:t>
            </a:r>
            <a:r>
              <a:rPr lang="en-US" altLang="zh-TW" sz="36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T(1) = d </a:t>
            </a:r>
            <a:r>
              <a:rPr lang="en-US" altLang="zh-TW" sz="28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(</a:t>
            </a:r>
            <a:r>
              <a:rPr lang="en-US" altLang="zh-TW" sz="28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c</a:t>
            </a:r>
            <a:r>
              <a:rPr lang="en-US" altLang="zh-TW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,</a:t>
            </a:r>
            <a:r>
              <a:rPr lang="en-US" altLang="zh-TW" sz="28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n</a:t>
            </a:r>
            <a:r>
              <a:rPr lang="en-US" altLang="zh-TW" sz="28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:</a:t>
            </a:r>
            <a:r>
              <a:rPr lang="en-US" altLang="zh-TW" sz="28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constants</a:t>
            </a:r>
            <a:r>
              <a:rPr lang="en-US" altLang="zh-TW" sz="28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)</a:t>
            </a:r>
          </a:p>
          <a:p>
            <a:endParaRPr lang="en-US" altLang="zh-TW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  <a:p>
            <a:r>
              <a:rPr lang="en-US" altLang="zh-TW" sz="28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Time complexity : O(n log n)</a:t>
            </a:r>
            <a:endParaRPr lang="en-US" altLang="zh-TW" sz="2800" b="0" cap="none" spc="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19369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Conclusion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33349" y="1797050"/>
            <a:ext cx="8639175" cy="4351338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 smtClean="0"/>
              <a:t>　</a:t>
            </a:r>
            <a:r>
              <a:rPr lang="en-US" altLang="zh-TW" dirty="0" smtClean="0"/>
              <a:t>Given </a:t>
            </a:r>
            <a:r>
              <a:rPr lang="en-US" altLang="zh-TW" dirty="0"/>
              <a:t>a string w, of length n, the algorithm of the previous section </a:t>
            </a:r>
            <a:r>
              <a:rPr lang="en-US" altLang="zh-TW" dirty="0" smtClean="0"/>
              <a:t>finds all </a:t>
            </a:r>
            <a:r>
              <a:rPr lang="en-US" altLang="zh-TW" dirty="0"/>
              <a:t>repetitions in w in time </a:t>
            </a:r>
            <a:r>
              <a:rPr lang="en-US" altLang="zh-TW" dirty="0" smtClean="0"/>
              <a:t>O(n </a:t>
            </a:r>
            <a:r>
              <a:rPr lang="en-US" altLang="zh-TW" dirty="0" err="1" smtClean="0"/>
              <a:t>logn</a:t>
            </a:r>
            <a:r>
              <a:rPr lang="en-US" altLang="zh-TW" dirty="0"/>
              <a:t>). If we know nothing about the size </a:t>
            </a:r>
            <a:r>
              <a:rPr lang="en-US" altLang="zh-TW" dirty="0" smtClean="0"/>
              <a:t>of the </a:t>
            </a:r>
            <a:r>
              <a:rPr lang="en-US" altLang="zh-TW" dirty="0"/>
              <a:t>alphabet, then this is optimal for algorithms based on comparisons </a:t>
            </a:r>
            <a:r>
              <a:rPr lang="en-US" altLang="zh-TW" dirty="0" smtClean="0"/>
              <a:t>of symbols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 smtClean="0"/>
              <a:t>　</a:t>
            </a:r>
            <a:r>
              <a:rPr lang="en-US" altLang="zh-TW" dirty="0" smtClean="0"/>
              <a:t>In </a:t>
            </a:r>
            <a:r>
              <a:rPr lang="en-US" altLang="zh-TW" dirty="0"/>
              <a:t>fact, it is optimal for any algorithm which determines if w </a:t>
            </a:r>
            <a:r>
              <a:rPr lang="en-US" altLang="zh-TW" dirty="0" smtClean="0"/>
              <a:t>is repetition-free</a:t>
            </a:r>
            <a:r>
              <a:rPr lang="en-US" altLang="zh-TW" dirty="0"/>
              <a:t>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24466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6042</TotalTime>
  <Words>348</Words>
  <Application>Microsoft Office PowerPoint</Application>
  <PresentationFormat>如螢幕大小 (4:3)</PresentationFormat>
  <Paragraphs>256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4" baseType="lpstr">
      <vt:lpstr>Arial Unicode MS</vt:lpstr>
      <vt:lpstr>KaiTi</vt:lpstr>
      <vt:lpstr>新細明體</vt:lpstr>
      <vt:lpstr>Arial</vt:lpstr>
      <vt:lpstr>Calibri</vt:lpstr>
      <vt:lpstr>Calibri Light</vt:lpstr>
      <vt:lpstr>Courier New</vt:lpstr>
      <vt:lpstr>Times New Roman</vt:lpstr>
      <vt:lpstr>Verdana</vt:lpstr>
      <vt:lpstr>Office 佈景主題</vt:lpstr>
      <vt:lpstr>PowerPoint 簡報</vt:lpstr>
      <vt:lpstr>Abstract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Conclusion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Bebe</dc:creator>
  <cp:lastModifiedBy>user</cp:lastModifiedBy>
  <cp:revision>280</cp:revision>
  <cp:lastPrinted>2016-02-16T10:34:55Z</cp:lastPrinted>
  <dcterms:created xsi:type="dcterms:W3CDTF">2015-06-30T03:57:49Z</dcterms:created>
  <dcterms:modified xsi:type="dcterms:W3CDTF">2016-02-16T11:42:37Z</dcterms:modified>
</cp:coreProperties>
</file>