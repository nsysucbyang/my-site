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90" r:id="rId32"/>
    <p:sldId id="289" r:id="rId33"/>
    <p:sldId id="288" r:id="rId3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60"/>
  </p:normalViewPr>
  <p:slideViewPr>
    <p:cSldViewPr snapToGrid="0">
      <p:cViewPr varScale="1">
        <p:scale>
          <a:sx n="69" d="100"/>
          <a:sy n="69" d="100"/>
        </p:scale>
        <p:origin x="402" y="78"/>
      </p:cViewPr>
      <p:guideLst/>
    </p:cSldViewPr>
  </p:slideViewPr>
  <p:notesTextViewPr>
    <p:cViewPr>
      <p:scale>
        <a:sx n="3" d="2"/>
        <a:sy n="3" d="2"/>
      </p:scale>
      <p:origin x="0" y="0"/>
    </p:cViewPr>
  </p:notesTextViewPr>
  <p:sorterViewPr>
    <p:cViewPr>
      <p:scale>
        <a:sx n="100" d="100"/>
        <a:sy n="100" d="100"/>
      </p:scale>
      <p:origin x="0" y="-19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BCB409-2DA1-4BCA-B435-C6D650D60C53}" type="datetimeFigureOut">
              <a:rPr lang="zh-TW" altLang="en-US" smtClean="0"/>
              <a:t>2016/10/10</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6F0565-5FB6-414C-A160-5E7695D65A9B}" type="slidenum">
              <a:rPr lang="zh-TW" altLang="en-US" smtClean="0"/>
              <a:t>‹#›</a:t>
            </a:fld>
            <a:endParaRPr lang="zh-TW" altLang="en-US"/>
          </a:p>
        </p:txBody>
      </p:sp>
    </p:spTree>
    <p:extLst>
      <p:ext uri="{BB962C8B-B14F-4D97-AF65-F5344CB8AC3E}">
        <p14:creationId xmlns:p14="http://schemas.microsoft.com/office/powerpoint/2010/main" val="41654234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DEB75-3589-4D32-B44A-E0772C0D15C5}" type="datetimeFigureOut">
              <a:rPr lang="zh-TW" altLang="en-US" smtClean="0"/>
              <a:t>2016/10/10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0D5DF-B2A2-41B1-A94F-55B40B4E12BA}" type="slidenum">
              <a:rPr lang="zh-TW" altLang="en-US" smtClean="0"/>
              <a:t>‹#›</a:t>
            </a:fld>
            <a:endParaRPr lang="zh-TW" altLang="en-US"/>
          </a:p>
        </p:txBody>
      </p:sp>
    </p:spTree>
    <p:extLst>
      <p:ext uri="{BB962C8B-B14F-4D97-AF65-F5344CB8AC3E}">
        <p14:creationId xmlns:p14="http://schemas.microsoft.com/office/powerpoint/2010/main" val="30957097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a:t>
            </a:fld>
            <a:endParaRPr lang="zh-TW" altLang="en-US"/>
          </a:p>
        </p:txBody>
      </p:sp>
    </p:spTree>
    <p:extLst>
      <p:ext uri="{BB962C8B-B14F-4D97-AF65-F5344CB8AC3E}">
        <p14:creationId xmlns:p14="http://schemas.microsoft.com/office/powerpoint/2010/main" val="949795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9125288D-75E0-49F6-B688-2D42F3082988}" type="slidenum">
              <a:rPr lang="zh-TW" altLang="en-US" smtClean="0"/>
              <a:pPr/>
              <a:t>7</a:t>
            </a:fld>
            <a:endParaRPr lang="zh-TW" altLang="en-US"/>
          </a:p>
        </p:txBody>
      </p:sp>
    </p:spTree>
    <p:extLst>
      <p:ext uri="{BB962C8B-B14F-4D97-AF65-F5344CB8AC3E}">
        <p14:creationId xmlns:p14="http://schemas.microsoft.com/office/powerpoint/2010/main" val="2222755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9</a:t>
            </a:fld>
            <a:endParaRPr lang="zh-TW" altLang="en-US"/>
          </a:p>
        </p:txBody>
      </p:sp>
    </p:spTree>
    <p:extLst>
      <p:ext uri="{BB962C8B-B14F-4D97-AF65-F5344CB8AC3E}">
        <p14:creationId xmlns:p14="http://schemas.microsoft.com/office/powerpoint/2010/main" val="1020758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11</a:t>
            </a:fld>
            <a:endParaRPr lang="zh-TW" altLang="en-US"/>
          </a:p>
        </p:txBody>
      </p:sp>
    </p:spTree>
    <p:extLst>
      <p:ext uri="{BB962C8B-B14F-4D97-AF65-F5344CB8AC3E}">
        <p14:creationId xmlns:p14="http://schemas.microsoft.com/office/powerpoint/2010/main" val="2355912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14</a:t>
            </a:fld>
            <a:endParaRPr lang="zh-TW" altLang="en-US"/>
          </a:p>
        </p:txBody>
      </p:sp>
    </p:spTree>
    <p:extLst>
      <p:ext uri="{BB962C8B-B14F-4D97-AF65-F5344CB8AC3E}">
        <p14:creationId xmlns:p14="http://schemas.microsoft.com/office/powerpoint/2010/main" val="2934214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B531298A-9EB3-42B2-88C5-2F0EFF490742}" type="datetime1">
              <a:rPr lang="zh-TW" altLang="en-US" smtClean="0"/>
              <a:t>2016/10/10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69900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68E4F48-615B-4D43-85F8-FC994E9EB636}" type="datetime1">
              <a:rPr lang="zh-TW" altLang="en-US" smtClean="0"/>
              <a:t>2016/10/10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79523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72EF1928-6700-4DC9-A076-D0BF30D5DBBD}" type="datetime1">
              <a:rPr lang="zh-TW" altLang="en-US" smtClean="0"/>
              <a:t>2016/10/10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971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203D3154-712F-45B6-A0AE-7A098B6338F6}" type="datetime1">
              <a:rPr lang="zh-TW" altLang="en-US" smtClean="0"/>
              <a:t>2016/10/10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3484120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27E273DF-615B-4058-AF41-EADF7509BC00}" type="datetime1">
              <a:rPr lang="zh-TW" altLang="en-US" smtClean="0"/>
              <a:t>2016/10/10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753329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42ABB4DD-0673-4B64-95EC-7226B2234C4F}" type="datetime1">
              <a:rPr lang="zh-TW" altLang="en-US" smtClean="0"/>
              <a:t>2016/10/10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5853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7D4EB-58DD-47ED-9641-44B3A13428A7}" type="datetime1">
              <a:rPr lang="zh-TW" altLang="en-US" smtClean="0"/>
              <a:t>2016/10/10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30512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55573EA-C642-4CFF-8FB0-29B81741E751}" type="datetime1">
              <a:rPr lang="zh-TW" altLang="en-US" smtClean="0"/>
              <a:t>2016/10/10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4895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CB6159C-D510-455D-9AED-3E6EEFED4716}" type="datetime1">
              <a:rPr lang="zh-TW" altLang="en-US" smtClean="0"/>
              <a:t>2016/10/10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615642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C6EC1DA0-3176-4336-A105-86AE0C6420FD}" type="datetime1">
              <a:rPr lang="zh-TW" altLang="en-US" smtClean="0"/>
              <a:t>2016/10/10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29441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CFE0B38E-410A-4A55-B707-0AD4CE835622}" type="datetime1">
              <a:rPr lang="zh-TW" altLang="en-US" smtClean="0"/>
              <a:t>2016/10/10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199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B0AF7-0BBF-4044-8175-A5863DDFEA3E}" type="datetime1">
              <a:rPr lang="zh-TW" altLang="en-US" smtClean="0"/>
              <a:t>2016/10/10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12355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53.png"/><Relationship Id="rId2"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6.png"/><Relationship Id="rId4" Type="http://schemas.openxmlformats.org/officeDocument/2006/relationships/image" Target="../media/image45.png"/><Relationship Id="rId9" Type="http://schemas.openxmlformats.org/officeDocument/2006/relationships/image" Target="../media/image55.png"/></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53.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60.png"/><Relationship Id="rId5" Type="http://schemas.openxmlformats.org/officeDocument/2006/relationships/image" Target="../media/image46.png"/><Relationship Id="rId10" Type="http://schemas.openxmlformats.org/officeDocument/2006/relationships/image" Target="../media/image59.png"/><Relationship Id="rId4" Type="http://schemas.openxmlformats.org/officeDocument/2006/relationships/image" Target="../media/image45.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3.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53.png"/><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79.png"/><Relationship Id="rId5" Type="http://schemas.openxmlformats.org/officeDocument/2006/relationships/image" Target="../media/image74.png"/><Relationship Id="rId10" Type="http://schemas.openxmlformats.org/officeDocument/2006/relationships/image" Target="../media/image78.png"/><Relationship Id="rId4" Type="http://schemas.openxmlformats.org/officeDocument/2006/relationships/image" Target="../media/image73.png"/><Relationship Id="rId9" Type="http://schemas.openxmlformats.org/officeDocument/2006/relationships/image" Target="../media/image77.png"/></Relationships>
</file>

<file path=ppt/slides/_rels/slide24.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1.png"/><Relationship Id="rId7" Type="http://schemas.openxmlformats.org/officeDocument/2006/relationships/image" Target="../media/image53.png"/><Relationship Id="rId2"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8.png"/><Relationship Id="rId5" Type="http://schemas.openxmlformats.org/officeDocument/2006/relationships/image" Target="../media/image83.png"/><Relationship Id="rId10" Type="http://schemas.openxmlformats.org/officeDocument/2006/relationships/image" Target="../media/image87.png"/><Relationship Id="rId4" Type="http://schemas.openxmlformats.org/officeDocument/2006/relationships/image" Target="../media/image82.png"/><Relationship Id="rId9" Type="http://schemas.openxmlformats.org/officeDocument/2006/relationships/image" Target="../media/image86.png"/></Relationships>
</file>

<file path=ppt/slides/_rels/slide2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1.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26.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0.png"/><Relationship Id="rId7" Type="http://schemas.openxmlformats.org/officeDocument/2006/relationships/image" Target="../media/image103.png"/><Relationship Id="rId2" Type="http://schemas.openxmlformats.org/officeDocument/2006/relationships/image" Target="../media/image99.png"/><Relationship Id="rId1" Type="http://schemas.openxmlformats.org/officeDocument/2006/relationships/slideLayout" Target="../slideLayouts/slideLayout1.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64.png"/><Relationship Id="rId10" Type="http://schemas.openxmlformats.org/officeDocument/2006/relationships/image" Target="../media/image106.png"/><Relationship Id="rId4" Type="http://schemas.openxmlformats.org/officeDocument/2006/relationships/image" Target="../media/image101.png"/><Relationship Id="rId9" Type="http://schemas.openxmlformats.org/officeDocument/2006/relationships/image" Target="../media/image105.png"/></Relationships>
</file>

<file path=ppt/slides/_rels/slide27.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1.xml"/><Relationship Id="rId6" Type="http://schemas.openxmlformats.org/officeDocument/2006/relationships/image" Target="../media/image102.png"/><Relationship Id="rId11" Type="http://schemas.openxmlformats.org/officeDocument/2006/relationships/image" Target="../media/image116.png"/><Relationship Id="rId5" Type="http://schemas.openxmlformats.org/officeDocument/2006/relationships/image" Target="../media/image111.png"/><Relationship Id="rId10" Type="http://schemas.openxmlformats.org/officeDocument/2006/relationships/image" Target="../media/image115.png"/><Relationship Id="rId4" Type="http://schemas.openxmlformats.org/officeDocument/2006/relationships/image" Target="../media/image110.png"/><Relationship Id="rId9" Type="http://schemas.openxmlformats.org/officeDocument/2006/relationships/image" Target="../media/image114.png"/></Relationships>
</file>

<file path=ppt/slides/_rels/slide28.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8.png"/><Relationship Id="rId7" Type="http://schemas.openxmlformats.org/officeDocument/2006/relationships/image" Target="../media/image121.png"/><Relationship Id="rId2" Type="http://schemas.openxmlformats.org/officeDocument/2006/relationships/image" Target="../media/image117.png"/><Relationship Id="rId1" Type="http://schemas.openxmlformats.org/officeDocument/2006/relationships/slideLayout" Target="../slideLayouts/slideLayout1.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1.png"/><Relationship Id="rId10" Type="http://schemas.openxmlformats.org/officeDocument/2006/relationships/image" Target="../media/image124.png"/><Relationship Id="rId4" Type="http://schemas.openxmlformats.org/officeDocument/2006/relationships/image" Target="../media/image119.png"/><Relationship Id="rId9" Type="http://schemas.openxmlformats.org/officeDocument/2006/relationships/image" Target="../media/image123.png"/></Relationships>
</file>

<file path=ppt/slides/_rels/slide29.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7.png"/><Relationship Id="rId7" Type="http://schemas.openxmlformats.org/officeDocument/2006/relationships/image" Target="../media/image130.png"/><Relationship Id="rId2" Type="http://schemas.openxmlformats.org/officeDocument/2006/relationships/image" Target="../media/image126.png"/><Relationship Id="rId1" Type="http://schemas.openxmlformats.org/officeDocument/2006/relationships/slideLayout" Target="../slideLayouts/slideLayout1.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64.png"/><Relationship Id="rId10" Type="http://schemas.openxmlformats.org/officeDocument/2006/relationships/image" Target="../media/image133.png"/><Relationship Id="rId4" Type="http://schemas.openxmlformats.org/officeDocument/2006/relationships/image" Target="../media/image128.png"/><Relationship Id="rId9" Type="http://schemas.openxmlformats.org/officeDocument/2006/relationships/image" Target="../media/image132.png"/></Relationships>
</file>

<file path=ppt/slides/_rels/slide3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419895" y="323586"/>
            <a:ext cx="8353401" cy="1276614"/>
          </a:xfrm>
        </p:spPr>
        <p:txBody>
          <a:bodyPr>
            <a:normAutofit fontScale="90000"/>
          </a:bodyPr>
          <a:lstStyle/>
          <a:p>
            <a:r>
              <a:rPr lang="en-US" altLang="zh-TW" sz="3300" dirty="0">
                <a:latin typeface="Times New Roman" panose="02020603050405020304" pitchFamily="18" charset="0"/>
                <a:cs typeface="Times New Roman" panose="02020603050405020304" pitchFamily="18" charset="0"/>
              </a:rPr>
              <a:t>Effective Sparse Dynamic </a:t>
            </a:r>
            <a:r>
              <a:rPr lang="en-US" altLang="zh-TW" sz="3300" dirty="0" smtClean="0">
                <a:latin typeface="Times New Roman" panose="02020603050405020304" pitchFamily="18" charset="0"/>
                <a:cs typeface="Times New Roman" panose="02020603050405020304" pitchFamily="18" charset="0"/>
              </a:rPr>
              <a:t>Programming</a:t>
            </a:r>
            <a:r>
              <a:rPr lang="zh-TW" altLang="en-US" sz="3300" dirty="0" smtClean="0">
                <a:latin typeface="Times New Roman" panose="02020603050405020304" pitchFamily="18" charset="0"/>
                <a:cs typeface="Times New Roman" panose="02020603050405020304" pitchFamily="18" charset="0"/>
              </a:rPr>
              <a:t> </a:t>
            </a:r>
            <a:r>
              <a:rPr lang="en-US" altLang="zh-TW" sz="3300" dirty="0" smtClean="0">
                <a:latin typeface="Times New Roman" panose="02020603050405020304" pitchFamily="18" charset="0"/>
                <a:cs typeface="Times New Roman" panose="02020603050405020304" pitchFamily="18" charset="0"/>
              </a:rPr>
              <a:t>Algorithms </a:t>
            </a:r>
            <a:r>
              <a:rPr lang="en-US" altLang="zh-TW" sz="3300" dirty="0">
                <a:latin typeface="Times New Roman" panose="02020603050405020304" pitchFamily="18" charset="0"/>
                <a:cs typeface="Times New Roman" panose="02020603050405020304" pitchFamily="18" charset="0"/>
              </a:rPr>
              <a:t>for Merged and Block Merged </a:t>
            </a:r>
            <a:r>
              <a:rPr lang="en-US" altLang="zh-TW" sz="3300" dirty="0" smtClean="0">
                <a:latin typeface="Times New Roman" panose="02020603050405020304" pitchFamily="18" charset="0"/>
                <a:cs typeface="Times New Roman" panose="02020603050405020304" pitchFamily="18" charset="0"/>
              </a:rPr>
              <a:t>LCS</a:t>
            </a:r>
            <a:r>
              <a:rPr lang="zh-TW" altLang="en-US" sz="3300" dirty="0" smtClean="0">
                <a:latin typeface="Times New Roman" panose="02020603050405020304" pitchFamily="18" charset="0"/>
                <a:cs typeface="Times New Roman" panose="02020603050405020304" pitchFamily="18" charset="0"/>
              </a:rPr>
              <a:t> </a:t>
            </a:r>
            <a:r>
              <a:rPr lang="en-US" altLang="zh-TW" sz="3300" dirty="0" smtClean="0">
                <a:latin typeface="Times New Roman" panose="02020603050405020304" pitchFamily="18" charset="0"/>
                <a:cs typeface="Times New Roman" panose="02020603050405020304" pitchFamily="18" charset="0"/>
              </a:rPr>
              <a:t>Problems</a:t>
            </a:r>
            <a:endParaRPr lang="zh-TW" altLang="en-US" sz="33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419895" y="2675344"/>
            <a:ext cx="8353402" cy="3573055"/>
          </a:xfrm>
        </p:spPr>
        <p:txBody>
          <a:bodyPr>
            <a:noAutofit/>
          </a:bodyPr>
          <a:lstStyle/>
          <a:p>
            <a:r>
              <a:rPr lang="en-US" altLang="zh-TW" dirty="0">
                <a:latin typeface="Times New Roman" panose="02020603050405020304" pitchFamily="18" charset="0"/>
                <a:ea typeface="+mj-ea"/>
                <a:cs typeface="Times New Roman" panose="02020603050405020304" pitchFamily="18" charset="0"/>
              </a:rPr>
              <a:t>AHM </a:t>
            </a:r>
            <a:r>
              <a:rPr lang="en-US" altLang="zh-TW" dirty="0" err="1">
                <a:latin typeface="Times New Roman" panose="02020603050405020304" pitchFamily="18" charset="0"/>
                <a:ea typeface="+mj-ea"/>
                <a:cs typeface="Times New Roman" panose="02020603050405020304" pitchFamily="18" charset="0"/>
              </a:rPr>
              <a:t>Mahfuzur</a:t>
            </a:r>
            <a:r>
              <a:rPr lang="en-US" altLang="zh-TW" dirty="0">
                <a:latin typeface="Times New Roman" panose="02020603050405020304" pitchFamily="18" charset="0"/>
                <a:ea typeface="+mj-ea"/>
                <a:cs typeface="Times New Roman" panose="02020603050405020304" pitchFamily="18" charset="0"/>
              </a:rPr>
              <a:t> </a:t>
            </a:r>
            <a:r>
              <a:rPr lang="en-US" altLang="zh-TW" dirty="0" smtClean="0">
                <a:latin typeface="Times New Roman" panose="02020603050405020304" pitchFamily="18" charset="0"/>
                <a:ea typeface="+mj-ea"/>
                <a:cs typeface="Times New Roman" panose="02020603050405020304" pitchFamily="18" charset="0"/>
              </a:rPr>
              <a:t>Rahman, </a:t>
            </a:r>
            <a:r>
              <a:rPr lang="en-US" altLang="zh-TW" dirty="0">
                <a:latin typeface="Times New Roman" panose="02020603050405020304" pitchFamily="18" charset="0"/>
                <a:ea typeface="+mj-ea"/>
                <a:cs typeface="Times New Roman" panose="02020603050405020304" pitchFamily="18" charset="0"/>
              </a:rPr>
              <a:t>M. </a:t>
            </a:r>
            <a:r>
              <a:rPr lang="en-US" altLang="zh-TW" dirty="0" err="1">
                <a:latin typeface="Times New Roman" panose="02020603050405020304" pitchFamily="18" charset="0"/>
                <a:ea typeface="+mj-ea"/>
                <a:cs typeface="Times New Roman" panose="02020603050405020304" pitchFamily="18" charset="0"/>
              </a:rPr>
              <a:t>Sohel</a:t>
            </a:r>
            <a:r>
              <a:rPr lang="en-US" altLang="zh-TW" dirty="0">
                <a:latin typeface="Times New Roman" panose="02020603050405020304" pitchFamily="18" charset="0"/>
                <a:ea typeface="+mj-ea"/>
                <a:cs typeface="Times New Roman" panose="02020603050405020304" pitchFamily="18" charset="0"/>
              </a:rPr>
              <a:t> </a:t>
            </a:r>
            <a:r>
              <a:rPr lang="en-US" altLang="zh-TW" dirty="0" smtClean="0">
                <a:latin typeface="Times New Roman" panose="02020603050405020304" pitchFamily="18" charset="0"/>
                <a:ea typeface="+mj-ea"/>
                <a:cs typeface="Times New Roman" panose="02020603050405020304" pitchFamily="18" charset="0"/>
              </a:rPr>
              <a:t>Rahman</a:t>
            </a:r>
            <a:endParaRPr lang="en-US" altLang="zh-TW" dirty="0">
              <a:latin typeface="Times New Roman" panose="02020603050405020304" pitchFamily="18" charset="0"/>
              <a:ea typeface="+mj-ea"/>
              <a:cs typeface="Times New Roman" panose="02020603050405020304" pitchFamily="18" charset="0"/>
            </a:endParaRPr>
          </a:p>
          <a:p>
            <a:r>
              <a:rPr lang="en-US" altLang="zh-TW" dirty="0">
                <a:latin typeface="Times New Roman" panose="02020603050405020304" pitchFamily="18" charset="0"/>
                <a:ea typeface="+mj-ea"/>
                <a:cs typeface="Times New Roman" panose="02020603050405020304" pitchFamily="18" charset="0"/>
              </a:rPr>
              <a:t>JOURNAL OF COMPUTERS, VOL. 9, NO. 8, AUGUST 2014</a:t>
            </a:r>
          </a:p>
          <a:p>
            <a:endParaRPr lang="en-US" altLang="zh-TW" dirty="0" smtClean="0">
              <a:latin typeface="Times New Roman" panose="02020603050405020304" pitchFamily="18" charset="0"/>
              <a:ea typeface="+mj-ea"/>
              <a:cs typeface="Times New Roman" panose="02020603050405020304" pitchFamily="18" charset="0"/>
            </a:endParaRPr>
          </a:p>
          <a:p>
            <a:endParaRPr lang="en-US" altLang="zh-TW" dirty="0">
              <a:latin typeface="Times New Roman" panose="02020603050405020304" pitchFamily="18" charset="0"/>
              <a:ea typeface="+mj-ea"/>
              <a:cs typeface="Times New Roman" panose="02020603050405020304" pitchFamily="18" charset="0"/>
            </a:endParaRPr>
          </a:p>
          <a:p>
            <a:r>
              <a:rPr lang="en-US" altLang="zh-TW" dirty="0">
                <a:latin typeface="Times New Roman" panose="02020603050405020304" pitchFamily="18" charset="0"/>
                <a:ea typeface="+mj-ea"/>
                <a:cs typeface="Times New Roman" panose="02020603050405020304" pitchFamily="18" charset="0"/>
              </a:rPr>
              <a:t>Presenter: Chong-Xuan Lo</a:t>
            </a:r>
          </a:p>
          <a:p>
            <a:r>
              <a:rPr lang="en-US" altLang="zh-TW" dirty="0" smtClean="0">
                <a:latin typeface="Times New Roman" panose="02020603050405020304" pitchFamily="18" charset="0"/>
                <a:ea typeface="+mj-ea"/>
                <a:cs typeface="Times New Roman" panose="02020603050405020304" pitchFamily="18" charset="0"/>
              </a:rPr>
              <a:t>Date:2016/10/11</a:t>
            </a:r>
            <a:endParaRPr lang="zh-TW" altLang="en-US" dirty="0">
              <a:latin typeface="Times New Roman" panose="02020603050405020304" pitchFamily="18" charset="0"/>
              <a:ea typeface="+mj-ea"/>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B9CF4E80-5859-4E39-A40B-ED9B772D8B0F}" type="slidenum">
              <a:rPr lang="zh-TW" altLang="en-US" smtClean="0">
                <a:latin typeface="Times New Roman" panose="02020603050405020304" pitchFamily="18" charset="0"/>
                <a:cs typeface="Times New Roman" panose="02020603050405020304" pitchFamily="18" charset="0"/>
              </a:rPr>
              <a:t>1</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2000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Abstract(1/3)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Autofit/>
          </a:bodyPr>
          <a:lstStyle/>
          <a:p>
            <a:pPr>
              <a:buNone/>
            </a:pPr>
            <a:r>
              <a:rPr lang="en-US" altLang="zh-TW" sz="2400" dirty="0" smtClean="0">
                <a:latin typeface="Times New Roman" panose="02020603050405020304" pitchFamily="18" charset="0"/>
                <a:cs typeface="Times New Roman" panose="02020603050405020304" pitchFamily="18" charset="0"/>
              </a:rPr>
              <a:t>		The longest common subsequence problem has been widely studied and used to find out the relationship between sequences. In this paper, we study the interleaving relationship between sequences, that is, we measure the relationship among three sequences, where two of those are interleaved in different ways and then the interleaved sequences are subsequently matched with the third remaining sequence, as </a:t>
            </a:r>
            <a:r>
              <a:rPr lang="en-US" altLang="zh-TW" sz="2400" dirty="0" err="1" smtClean="0">
                <a:latin typeface="Times New Roman" panose="02020603050405020304" pitchFamily="18" charset="0"/>
                <a:cs typeface="Times New Roman" panose="02020603050405020304" pitchFamily="18" charset="0"/>
              </a:rPr>
              <a:t>pairwise</a:t>
            </a:r>
            <a:r>
              <a:rPr lang="en-US" altLang="zh-TW" sz="2400" dirty="0" smtClean="0">
                <a:latin typeface="Times New Roman" panose="02020603050405020304" pitchFamily="18" charset="0"/>
                <a:cs typeface="Times New Roman" panose="02020603050405020304" pitchFamily="18" charset="0"/>
              </a:rPr>
              <a:t> longest common subsequence problems. Given a target sequence </a:t>
            </a:r>
            <a:r>
              <a:rPr lang="en-US" altLang="zh-TW" sz="2400" i="1" dirty="0" smtClean="0">
                <a:latin typeface="Times New Roman" pitchFamily="18" charset="0"/>
                <a:cs typeface="Times New Roman" pitchFamily="18" charset="0"/>
              </a:rPr>
              <a:t>T</a:t>
            </a:r>
            <a:r>
              <a:rPr lang="en-US" altLang="zh-TW" sz="2400" dirty="0" smtClean="0">
                <a:latin typeface="Times New Roman" panose="02020603050405020304" pitchFamily="18" charset="0"/>
                <a:cs typeface="Times New Roman" panose="02020603050405020304" pitchFamily="18" charset="0"/>
              </a:rPr>
              <a:t> and two other sequences </a:t>
            </a:r>
            <a:r>
              <a:rPr lang="en-US" altLang="zh-TW" sz="2400" i="1" dirty="0" smtClean="0">
                <a:latin typeface="Times New Roman" pitchFamily="18" charset="0"/>
                <a:cs typeface="Times New Roman" pitchFamily="18" charset="0"/>
              </a:rPr>
              <a:t>A</a:t>
            </a:r>
            <a:r>
              <a:rPr lang="en-US" altLang="zh-TW" sz="2400" dirty="0" smtClean="0">
                <a:latin typeface="Times New Roman" panose="02020603050405020304" pitchFamily="18" charset="0"/>
                <a:cs typeface="Times New Roman" panose="02020603050405020304" pitchFamily="18" charset="0"/>
              </a:rPr>
              <a:t> and </a:t>
            </a:r>
            <a:r>
              <a:rPr lang="en-US" altLang="zh-TW" sz="2400" i="1" dirty="0" smtClean="0">
                <a:latin typeface="Times New Roman" pitchFamily="18" charset="0"/>
                <a:cs typeface="Times New Roman" pitchFamily="18" charset="0"/>
              </a:rPr>
              <a:t>B</a:t>
            </a:r>
            <a:r>
              <a:rPr lang="en-US" altLang="zh-TW" sz="2400" dirty="0" smtClean="0">
                <a:latin typeface="Times New Roman" panose="02020603050405020304" pitchFamily="18" charset="0"/>
                <a:cs typeface="Times New Roman" panose="02020603050405020304" pitchFamily="18" charset="0"/>
              </a:rPr>
              <a:t>, we need to find out the LCS between M(</a:t>
            </a:r>
            <a:r>
              <a:rPr lang="en-US" altLang="zh-TW" sz="2400" i="1" dirty="0" smtClean="0">
                <a:latin typeface="Times New Roman" pitchFamily="18" charset="0"/>
                <a:cs typeface="Times New Roman" pitchFamily="18" charset="0"/>
              </a:rPr>
              <a:t>A</a:t>
            </a:r>
            <a:r>
              <a:rPr lang="en-US" altLang="zh-TW" sz="2400" dirty="0" smtClean="0">
                <a:latin typeface="Times New Roman" panose="02020603050405020304" pitchFamily="18" charset="0"/>
                <a:cs typeface="Times New Roman" panose="02020603050405020304" pitchFamily="18" charset="0"/>
              </a:rPr>
              <a:t>, </a:t>
            </a:r>
            <a:r>
              <a:rPr lang="en-US" altLang="zh-TW" sz="2400" i="1" dirty="0" smtClean="0">
                <a:latin typeface="Times New Roman" pitchFamily="18" charset="0"/>
                <a:cs typeface="Times New Roman" pitchFamily="18" charset="0"/>
              </a:rPr>
              <a:t>B</a:t>
            </a:r>
            <a:r>
              <a:rPr lang="en-US" altLang="zh-TW" sz="2400" dirty="0" smtClean="0">
                <a:latin typeface="Times New Roman" panose="02020603050405020304" pitchFamily="18" charset="0"/>
                <a:cs typeface="Times New Roman" panose="02020603050405020304" pitchFamily="18" charset="0"/>
              </a:rPr>
              <a:t>) and T, where M(A,B) denotes the merged-sequence which consists of </a:t>
            </a:r>
            <a:r>
              <a:rPr lang="en-US" altLang="zh-TW" sz="2400" i="1" dirty="0" smtClean="0">
                <a:latin typeface="Times New Roman" pitchFamily="18" charset="0"/>
                <a:cs typeface="Times New Roman" pitchFamily="18" charset="0"/>
              </a:rPr>
              <a:t>A</a:t>
            </a:r>
            <a:r>
              <a:rPr lang="en-US" altLang="zh-TW" sz="2400" dirty="0" smtClean="0">
                <a:latin typeface="Times New Roman" panose="02020603050405020304" pitchFamily="18" charset="0"/>
                <a:cs typeface="Times New Roman" panose="02020603050405020304" pitchFamily="18" charset="0"/>
              </a:rPr>
              <a:t> and </a:t>
            </a:r>
            <a:r>
              <a:rPr lang="en-US" altLang="zh-TW" sz="2400" i="1" dirty="0" smtClean="0">
                <a:latin typeface="Times New Roman" pitchFamily="18" charset="0"/>
                <a:cs typeface="Times New Roman" pitchFamily="18" charset="0"/>
              </a:rPr>
              <a:t>B</a:t>
            </a:r>
            <a:r>
              <a:rPr lang="en-US" altLang="zh-TW"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2</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0506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Abstract(2/3)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Autofit/>
          </a:bodyPr>
          <a:lstStyle/>
          <a:p>
            <a:pPr>
              <a:buNone/>
            </a:pPr>
            <a:r>
              <a:rPr lang="en-US" altLang="zh-TW" sz="2400" dirty="0" smtClean="0">
                <a:latin typeface="Times New Roman" panose="02020603050405020304" pitchFamily="18" charset="0"/>
                <a:cs typeface="Times New Roman" panose="02020603050405020304" pitchFamily="18" charset="0"/>
              </a:rPr>
              <a:t>    We first present an improved O((</a:t>
            </a:r>
            <a:r>
              <a:rPr lang="en-US" altLang="zh-TW" sz="2400" i="1" dirty="0" err="1" smtClean="0">
                <a:latin typeface="Times New Roman" pitchFamily="18" charset="0"/>
                <a:cs typeface="Times New Roman" pitchFamily="18" charset="0"/>
              </a:rPr>
              <a:t>Rr</a:t>
            </a:r>
            <a:r>
              <a:rPr lang="en-US" altLang="zh-TW" sz="2400" dirty="0" smtClean="0">
                <a:latin typeface="Times New Roman" panose="02020603050405020304" pitchFamily="18" charset="0"/>
                <a:cs typeface="Times New Roman" panose="02020603050405020304" pitchFamily="18" charset="0"/>
              </a:rPr>
              <a:t> + </a:t>
            </a:r>
            <a:r>
              <a:rPr lang="en-US" altLang="zh-TW" sz="2400" i="1" dirty="0" smtClean="0">
                <a:latin typeface="Times New Roman" pitchFamily="18" charset="0"/>
                <a:cs typeface="Times New Roman" pitchFamily="18" charset="0"/>
              </a:rPr>
              <a:t>Pm</a:t>
            </a:r>
            <a:r>
              <a:rPr lang="en-US" altLang="zh-TW" sz="2400" dirty="0" smtClean="0">
                <a:latin typeface="Times New Roman" panose="02020603050405020304" pitchFamily="18" charset="0"/>
                <a:cs typeface="Times New Roman" panose="02020603050405020304" pitchFamily="18" charset="0"/>
              </a:rPr>
              <a:t>)</a:t>
            </a:r>
            <a:r>
              <a:rPr lang="en-US" altLang="zh-TW" sz="2400" dirty="0" err="1" smtClean="0">
                <a:latin typeface="Times New Roman" panose="02020603050405020304" pitchFamily="18" charset="0"/>
                <a:cs typeface="Times New Roman" panose="02020603050405020304" pitchFamily="18" charset="0"/>
              </a:rPr>
              <a:t>loglog</a:t>
            </a:r>
            <a:r>
              <a:rPr lang="en-US" altLang="zh-TW" sz="2400" i="1" dirty="0" err="1" smtClean="0">
                <a:latin typeface="Times New Roman" pitchFamily="18" charset="0"/>
                <a:cs typeface="Times New Roman" pitchFamily="18" charset="0"/>
              </a:rPr>
              <a:t>r</a:t>
            </a:r>
            <a:r>
              <a:rPr lang="en-US" altLang="zh-TW" sz="2400" dirty="0" smtClean="0">
                <a:latin typeface="Times New Roman" panose="02020603050405020304" pitchFamily="18" charset="0"/>
                <a:cs typeface="Times New Roman" panose="02020603050405020304" pitchFamily="18" charset="0"/>
              </a:rPr>
              <a:t>) time algorithm, where we consider only the matches between sequences; here </a:t>
            </a:r>
            <a:r>
              <a:rPr lang="pt-BR" altLang="zh-TW" sz="2400" dirty="0" smtClean="0">
                <a:latin typeface="Times New Roman" panose="02020603050405020304" pitchFamily="18" charset="0"/>
                <a:cs typeface="Times New Roman" panose="02020603050405020304" pitchFamily="18" charset="0"/>
              </a:rPr>
              <a:t>|</a:t>
            </a:r>
            <a:r>
              <a:rPr lang="pt-BR" altLang="zh-TW" sz="2400" i="1" dirty="0" smtClean="0">
                <a:latin typeface="Times New Roman" pitchFamily="18" charset="0"/>
                <a:cs typeface="Times New Roman" pitchFamily="18" charset="0"/>
              </a:rPr>
              <a:t>T</a:t>
            </a:r>
            <a:r>
              <a:rPr lang="pt-BR" altLang="zh-TW" sz="2400" dirty="0" smtClean="0">
                <a:latin typeface="Times New Roman" panose="02020603050405020304" pitchFamily="18" charset="0"/>
                <a:cs typeface="Times New Roman" panose="02020603050405020304" pitchFamily="18" charset="0"/>
              </a:rPr>
              <a:t>| = </a:t>
            </a:r>
            <a:r>
              <a:rPr lang="pt-BR" altLang="zh-TW" sz="2400" i="1" dirty="0" smtClean="0">
                <a:latin typeface="Times New Roman" pitchFamily="18" charset="0"/>
                <a:cs typeface="Times New Roman" pitchFamily="18" charset="0"/>
              </a:rPr>
              <a:t>n</a:t>
            </a:r>
            <a:r>
              <a:rPr lang="pt-BR" altLang="zh-TW" sz="2400" dirty="0" smtClean="0">
                <a:latin typeface="Times New Roman" panose="02020603050405020304" pitchFamily="18" charset="0"/>
                <a:cs typeface="Times New Roman" panose="02020603050405020304" pitchFamily="18" charset="0"/>
              </a:rPr>
              <a:t>, |</a:t>
            </a:r>
            <a:r>
              <a:rPr lang="pt-BR" altLang="zh-TW" sz="2400" i="1" dirty="0" smtClean="0">
                <a:latin typeface="Times New Roman" pitchFamily="18" charset="0"/>
                <a:cs typeface="Times New Roman" pitchFamily="18" charset="0"/>
              </a:rPr>
              <a:t>A</a:t>
            </a:r>
            <a:r>
              <a:rPr lang="pt-BR" altLang="zh-TW" sz="2400" dirty="0" smtClean="0">
                <a:latin typeface="Times New Roman" panose="02020603050405020304" pitchFamily="18" charset="0"/>
                <a:cs typeface="Times New Roman" panose="02020603050405020304" pitchFamily="18" charset="0"/>
              </a:rPr>
              <a:t>| = </a:t>
            </a:r>
            <a:r>
              <a:rPr lang="pt-BR" altLang="zh-TW" sz="2400" i="1" dirty="0" smtClean="0">
                <a:latin typeface="Times New Roman" pitchFamily="18" charset="0"/>
                <a:cs typeface="Times New Roman" pitchFamily="18" charset="0"/>
              </a:rPr>
              <a:t>m</a:t>
            </a:r>
            <a:r>
              <a:rPr lang="pt-BR" altLang="zh-TW" sz="2400" dirty="0" smtClean="0">
                <a:latin typeface="Times New Roman" panose="02020603050405020304" pitchFamily="18" charset="0"/>
                <a:cs typeface="Times New Roman" panose="02020603050405020304" pitchFamily="18" charset="0"/>
              </a:rPr>
              <a:t> and |</a:t>
            </a:r>
            <a:r>
              <a:rPr lang="pt-BR" altLang="zh-TW" sz="2400" i="1" dirty="0" smtClean="0">
                <a:latin typeface="Times New Roman" pitchFamily="18" charset="0"/>
                <a:cs typeface="Times New Roman" pitchFamily="18" charset="0"/>
              </a:rPr>
              <a:t>B</a:t>
            </a:r>
            <a:r>
              <a:rPr lang="pt-BR" altLang="zh-TW" sz="2400" dirty="0" smtClean="0">
                <a:latin typeface="Times New Roman" panose="02020603050405020304" pitchFamily="18" charset="0"/>
                <a:cs typeface="Times New Roman" panose="02020603050405020304" pitchFamily="18" charset="0"/>
              </a:rPr>
              <a:t>| = </a:t>
            </a:r>
            <a:r>
              <a:rPr lang="pt-BR" altLang="zh-TW" sz="2400" i="1" dirty="0" smtClean="0">
                <a:latin typeface="Times New Roman" pitchFamily="18" charset="0"/>
                <a:cs typeface="Times New Roman" pitchFamily="18" charset="0"/>
              </a:rPr>
              <a:t>r</a:t>
            </a:r>
            <a:r>
              <a:rPr lang="pt-BR" altLang="zh-TW" sz="2400" dirty="0" smtClean="0">
                <a:latin typeface="Times New Roman" panose="02020603050405020304" pitchFamily="18" charset="0"/>
                <a:cs typeface="Times New Roman" panose="02020603050405020304" pitchFamily="18" charset="0"/>
              </a:rPr>
              <a:t> (</a:t>
            </a:r>
            <a:r>
              <a:rPr lang="pt-BR" altLang="zh-TW" sz="2400" i="1" dirty="0" smtClean="0">
                <a:latin typeface="Times New Roman" pitchFamily="18" charset="0"/>
                <a:cs typeface="Times New Roman" pitchFamily="18" charset="0"/>
              </a:rPr>
              <a:t>m</a:t>
            </a:r>
            <a:r>
              <a:rPr lang="zh-TW" altLang="en-US" sz="2400" dirty="0" smtClean="0">
                <a:latin typeface="Times New Roman" panose="02020603050405020304" pitchFamily="18" charset="0"/>
                <a:cs typeface="Times New Roman" panose="02020603050405020304" pitchFamily="18" charset="0"/>
              </a:rPr>
              <a:t>≥</a:t>
            </a:r>
            <a:r>
              <a:rPr lang="pt-BR" altLang="zh-TW" sz="2400" i="1" dirty="0" smtClean="0">
                <a:latin typeface="Times New Roman" pitchFamily="18" charset="0"/>
                <a:cs typeface="Times New Roman" pitchFamily="18" charset="0"/>
              </a:rPr>
              <a:t>r</a:t>
            </a:r>
            <a:r>
              <a:rPr lang="pt-BR" altLang="zh-TW" sz="2400" dirty="0" smtClean="0">
                <a:latin typeface="Times New Roman" panose="02020603050405020304" pitchFamily="18" charset="0"/>
                <a:cs typeface="Times New Roman" panose="02020603050405020304" pitchFamily="18" charset="0"/>
              </a:rPr>
              <a:t>); </a:t>
            </a:r>
            <a:r>
              <a:rPr lang="pt-BR" altLang="zh-TW" sz="2400" i="1" dirty="0" smtClean="0">
                <a:latin typeface="Times New Roman" pitchFamily="18" charset="0"/>
                <a:cs typeface="Times New Roman" pitchFamily="18" charset="0"/>
              </a:rPr>
              <a:t>R</a:t>
            </a:r>
            <a:r>
              <a:rPr lang="pt-BR" altLang="zh-TW" sz="2400" dirty="0" smtClean="0">
                <a:latin typeface="Times New Roman" panose="02020603050405020304" pitchFamily="18" charset="0"/>
                <a:cs typeface="Times New Roman" panose="02020603050405020304" pitchFamily="18" charset="0"/>
              </a:rPr>
              <a:t> is the total </a:t>
            </a:r>
            <a:r>
              <a:rPr lang="en-US" altLang="zh-TW" sz="2400" dirty="0" smtClean="0">
                <a:latin typeface="Times New Roman" panose="02020603050405020304" pitchFamily="18" charset="0"/>
                <a:cs typeface="Times New Roman" panose="02020603050405020304" pitchFamily="18" charset="0"/>
              </a:rPr>
              <a:t>number of ordered pairs of positions at which the two strings </a:t>
            </a:r>
            <a:r>
              <a:rPr lang="en-US" altLang="zh-TW" sz="2400" i="1" dirty="0" smtClean="0">
                <a:latin typeface="Times New Roman" pitchFamily="18" charset="0"/>
                <a:cs typeface="Times New Roman" pitchFamily="18" charset="0"/>
              </a:rPr>
              <a:t>A</a:t>
            </a:r>
            <a:r>
              <a:rPr lang="en-US" altLang="zh-TW" sz="2400" dirty="0" smtClean="0">
                <a:latin typeface="Times New Roman" panose="02020603050405020304" pitchFamily="18" charset="0"/>
                <a:cs typeface="Times New Roman" panose="02020603050405020304" pitchFamily="18" charset="0"/>
              </a:rPr>
              <a:t> and </a:t>
            </a:r>
            <a:r>
              <a:rPr lang="en-US" altLang="zh-TW" sz="2400" i="1" dirty="0" smtClean="0">
                <a:latin typeface="Times New Roman" pitchFamily="18" charset="0"/>
                <a:cs typeface="Times New Roman" pitchFamily="18" charset="0"/>
              </a:rPr>
              <a:t>T</a:t>
            </a:r>
            <a:r>
              <a:rPr lang="en-US" altLang="zh-TW" sz="2400" dirty="0" smtClean="0">
                <a:latin typeface="Times New Roman" panose="02020603050405020304" pitchFamily="18" charset="0"/>
                <a:cs typeface="Times New Roman" panose="02020603050405020304" pitchFamily="18" charset="0"/>
              </a:rPr>
              <a:t> match and </a:t>
            </a:r>
            <a:r>
              <a:rPr lang="en-US" altLang="zh-TW" sz="2400" i="1" dirty="0" smtClean="0">
                <a:latin typeface="Times New Roman" pitchFamily="18" charset="0"/>
                <a:cs typeface="Times New Roman" pitchFamily="18" charset="0"/>
              </a:rPr>
              <a:t>P</a:t>
            </a:r>
            <a:r>
              <a:rPr lang="en-US" altLang="zh-TW" sz="2400" dirty="0" smtClean="0">
                <a:latin typeface="Times New Roman" panose="02020603050405020304" pitchFamily="18" charset="0"/>
                <a:cs typeface="Times New Roman" panose="02020603050405020304" pitchFamily="18" charset="0"/>
              </a:rPr>
              <a:t> denotes the total number of ordered pairs of positions at which the two strings </a:t>
            </a:r>
            <a:r>
              <a:rPr lang="en-US" altLang="zh-TW" sz="2400" i="1" dirty="0" smtClean="0">
                <a:latin typeface="Times New Roman" pitchFamily="18" charset="0"/>
                <a:cs typeface="Times New Roman" pitchFamily="18" charset="0"/>
              </a:rPr>
              <a:t>B</a:t>
            </a:r>
            <a:r>
              <a:rPr lang="en-US" altLang="zh-TW" sz="2400" dirty="0" smtClean="0">
                <a:latin typeface="Times New Roman" panose="02020603050405020304" pitchFamily="18" charset="0"/>
                <a:cs typeface="Times New Roman" panose="02020603050405020304" pitchFamily="18" charset="0"/>
              </a:rPr>
              <a:t> and </a:t>
            </a:r>
            <a:r>
              <a:rPr lang="en-US" altLang="zh-TW" sz="2400" i="1" dirty="0" smtClean="0">
                <a:latin typeface="Times New Roman" pitchFamily="18" charset="0"/>
                <a:cs typeface="Times New Roman" pitchFamily="18" charset="0"/>
              </a:rPr>
              <a:t>T</a:t>
            </a:r>
            <a:r>
              <a:rPr lang="en-US" altLang="zh-TW" sz="2400" dirty="0" smtClean="0">
                <a:latin typeface="Times New Roman" panose="02020603050405020304" pitchFamily="18" charset="0"/>
                <a:cs typeface="Times New Roman" panose="02020603050405020304" pitchFamily="18" charset="0"/>
              </a:rPr>
              <a:t> match. Basing on the same idea, we also propose an improved algorithm to solve a block constrained variation of the problem. Running time of the blocked version is O(max{</a:t>
            </a:r>
            <a:r>
              <a:rPr lang="en-US" altLang="zh-TW" sz="2400" i="1" dirty="0" smtClean="0">
                <a:latin typeface="Times New Roman" pitchFamily="18" charset="0"/>
                <a:cs typeface="Times New Roman" pitchFamily="18" charset="0"/>
              </a:rPr>
              <a:t>R</a:t>
            </a:r>
            <a:r>
              <a:rPr lang="el-GR" altLang="zh-TW" sz="2400" i="1" dirty="0" smtClean="0">
                <a:latin typeface="Times New Roman" pitchFamily="18" charset="0"/>
                <a:cs typeface="Times New Roman" pitchFamily="18" charset="0"/>
              </a:rPr>
              <a:t>β</a:t>
            </a:r>
            <a:r>
              <a:rPr lang="en-US" altLang="zh-TW" sz="2400" dirty="0" err="1" smtClean="0">
                <a:latin typeface="Times New Roman" panose="02020603050405020304" pitchFamily="18" charset="0"/>
                <a:cs typeface="Times New Roman" panose="02020603050405020304" pitchFamily="18" charset="0"/>
              </a:rPr>
              <a:t>loglog</a:t>
            </a:r>
            <a:r>
              <a:rPr lang="en-US" altLang="zh-TW" sz="2400" dirty="0" smtClean="0">
                <a:latin typeface="Times New Roman" panose="02020603050405020304" pitchFamily="18" charset="0"/>
                <a:cs typeface="Times New Roman" panose="02020603050405020304" pitchFamily="18" charset="0"/>
              </a:rPr>
              <a:t> </a:t>
            </a:r>
            <a:r>
              <a:rPr lang="en-US" altLang="zh-TW" sz="2400" i="1" dirty="0" smtClean="0">
                <a:latin typeface="Times New Roman" pitchFamily="18" charset="0"/>
                <a:cs typeface="Times New Roman" pitchFamily="18" charset="0"/>
              </a:rPr>
              <a:t>r</a:t>
            </a:r>
            <a:r>
              <a:rPr lang="en-US" altLang="zh-TW" sz="2400" dirty="0" smtClean="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 </a:t>
            </a:r>
            <a:r>
              <a:rPr lang="en-US" altLang="zh-TW" sz="2400" i="1" dirty="0" smtClean="0">
                <a:latin typeface="Times New Roman" pitchFamily="18" charset="0"/>
                <a:cs typeface="Times New Roman" pitchFamily="18" charset="0"/>
              </a:rPr>
              <a:t>P</a:t>
            </a:r>
            <a:r>
              <a:rPr lang="el-GR" altLang="zh-TW" sz="2400" i="1" dirty="0" smtClean="0">
                <a:latin typeface="Times New Roman" pitchFamily="18" charset="0"/>
                <a:cs typeface="Times New Roman" pitchFamily="18" charset="0"/>
              </a:rPr>
              <a:t>α</a:t>
            </a:r>
            <a:r>
              <a:rPr lang="en-US" altLang="zh-TW" sz="2400" dirty="0" err="1" smtClean="0">
                <a:latin typeface="Times New Roman" panose="02020603050405020304" pitchFamily="18" charset="0"/>
                <a:cs typeface="Times New Roman" panose="02020603050405020304" pitchFamily="18" charset="0"/>
              </a:rPr>
              <a:t>loglog</a:t>
            </a:r>
            <a:r>
              <a:rPr lang="en-US" altLang="zh-TW" sz="2400" i="1" dirty="0" err="1" smtClean="0">
                <a:latin typeface="Times New Roman" pitchFamily="18" charset="0"/>
                <a:cs typeface="Times New Roman" pitchFamily="18" charset="0"/>
              </a:rPr>
              <a:t>r</a:t>
            </a:r>
            <a:r>
              <a:rPr lang="en-US" altLang="zh-TW" sz="2400" dirty="0" smtClean="0">
                <a:latin typeface="Times New Roman" panose="02020603050405020304" pitchFamily="18" charset="0"/>
                <a:cs typeface="Times New Roman" panose="02020603050405020304" pitchFamily="18" charset="0"/>
              </a:rPr>
              <a:t>}), where</a:t>
            </a:r>
            <a:r>
              <a:rPr lang="el-GR" sz="2400" i="1" dirty="0" smtClean="0">
                <a:latin typeface="Times New Roman" pitchFamily="18" charset="0"/>
                <a:cs typeface="Times New Roman" pitchFamily="18" charset="0"/>
              </a:rPr>
              <a:t> α </a:t>
            </a:r>
            <a:r>
              <a:rPr lang="en-US" altLang="zh-TW" sz="2400" dirty="0" smtClean="0">
                <a:latin typeface="Times New Roman" panose="02020603050405020304" pitchFamily="18" charset="0"/>
                <a:cs typeface="Times New Roman" panose="02020603050405020304" pitchFamily="18" charset="0"/>
              </a:rPr>
              <a:t>denotes the number of blocks in A and</a:t>
            </a:r>
            <a:r>
              <a:rPr lang="el-GR" sz="2400" i="1" dirty="0" smtClean="0">
                <a:latin typeface="Times New Roman" pitchFamily="18" charset="0"/>
                <a:cs typeface="Times New Roman" pitchFamily="18" charset="0"/>
              </a:rPr>
              <a:t> β </a:t>
            </a:r>
            <a:r>
              <a:rPr lang="en-US" altLang="zh-TW" sz="2400" dirty="0" smtClean="0">
                <a:latin typeface="Times New Roman" panose="02020603050405020304" pitchFamily="18" charset="0"/>
                <a:cs typeface="Times New Roman" panose="02020603050405020304" pitchFamily="18" charset="0"/>
              </a:rPr>
              <a:t>denotes the number of blocks in B.</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7255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Abstract(3/3)</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a:buNone/>
            </a:pPr>
            <a:r>
              <a:rPr lang="en-US" altLang="zh-TW" dirty="0" smtClean="0">
                <a:latin typeface="Times New Roman" panose="02020603050405020304" pitchFamily="18" charset="0"/>
                <a:cs typeface="Times New Roman" panose="02020603050405020304" pitchFamily="18" charset="0"/>
              </a:rPr>
              <a:t>    	However, these improved algorithms do not provide best output in every cases. Therefore we finally fabricate a hybrid algorithm which utilizes the advantages of our proposed algorithms and previous state of the arts algorithms to provide best output in every possible cases, from both time efficiency and space efficiency.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4</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3460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Merged LCS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pPr marL="0" indent="0">
              <a:buNone/>
            </a:pPr>
            <a:r>
              <a:rPr lang="en-US" altLang="zh-TW" dirty="0">
                <a:latin typeface="Times New Roman" pitchFamily="18" charset="0"/>
                <a:cs typeface="Times New Roman" pitchFamily="18" charset="0"/>
              </a:rPr>
              <a:t>A = 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 </a:t>
            </a:r>
            <a:r>
              <a:rPr lang="en-US" altLang="zh-TW" dirty="0" err="1" smtClean="0">
                <a:solidFill>
                  <a:srgbClr val="FF0000"/>
                </a:solidFill>
                <a:latin typeface="Times New Roman" pitchFamily="18" charset="0"/>
                <a:cs typeface="Times New Roman" pitchFamily="18" charset="0"/>
              </a:rPr>
              <a:t>act</a:t>
            </a:r>
            <a:r>
              <a:rPr lang="en-US" altLang="zh-TW" dirty="0" err="1">
                <a:solidFill>
                  <a:srgbClr val="FF0000"/>
                </a:solidFill>
                <a:latin typeface="Times New Roman" pitchFamily="18" charset="0"/>
                <a:cs typeface="Times New Roman" pitchFamily="18" charset="0"/>
              </a:rPr>
              <a:t>t</a:t>
            </a:r>
            <a:r>
              <a:rPr lang="en-US" altLang="zh-TW" dirty="0" smtClean="0">
                <a:latin typeface="Times New Roman" panose="02020603050405020304" pitchFamily="18" charset="0"/>
                <a:cs typeface="Times New Roman" panose="02020603050405020304" pitchFamily="18" charset="0"/>
              </a:rPr>
              <a:t>,  B </a:t>
            </a:r>
            <a:r>
              <a:rPr lang="en-US" altLang="zh-TW" dirty="0">
                <a:latin typeface="Times New Roman" panose="02020603050405020304" pitchFamily="18" charset="0"/>
                <a:cs typeface="Times New Roman" panose="02020603050405020304" pitchFamily="18" charset="0"/>
              </a:rPr>
              <a:t>= 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 </a:t>
            </a:r>
            <a:r>
              <a:rPr lang="en-US" altLang="zh-TW" dirty="0" err="1" smtClean="0">
                <a:solidFill>
                  <a:srgbClr val="00B0F0"/>
                </a:solidFill>
                <a:latin typeface="Times New Roman" pitchFamily="18" charset="0"/>
                <a:cs typeface="Times New Roman" pitchFamily="18" charset="0"/>
              </a:rPr>
              <a:t>ctg</a:t>
            </a:r>
            <a:r>
              <a:rPr lang="en-US" altLang="zh-TW" dirty="0" smtClean="0">
                <a:latin typeface="Times New Roman" pitchFamily="18" charset="0"/>
                <a:cs typeface="Times New Roman" pitchFamily="18" charset="0"/>
              </a:rPr>
              <a:t> ,  T </a:t>
            </a:r>
            <a:r>
              <a:rPr lang="en-US" altLang="zh-TW" dirty="0">
                <a:latin typeface="Times New Roman" panose="02020603050405020304" pitchFamily="18" charset="0"/>
                <a:cs typeface="Times New Roman" panose="02020603050405020304" pitchFamily="18" charset="0"/>
              </a:rPr>
              <a:t>= </a:t>
            </a:r>
            <a:r>
              <a:rPr lang="en-US" altLang="zh-TW" dirty="0" err="1" smtClean="0">
                <a:latin typeface="Times New Roman" pitchFamily="18" charset="0"/>
                <a:cs typeface="Times New Roman" pitchFamily="18" charset="0"/>
              </a:rPr>
              <a:t>tcatcg</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a:buNone/>
            </a:pPr>
            <a:r>
              <a:rPr lang="en-US" altLang="zh-TW" dirty="0">
                <a:latin typeface="Times New Roman" panose="02020603050405020304" pitchFamily="18" charset="0"/>
                <a:cs typeface="Times New Roman" panose="02020603050405020304" pitchFamily="18" charset="0"/>
              </a:rPr>
              <a:t>M</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(A, B) = 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FF0000"/>
                </a:solidFill>
                <a:latin typeface="Times New Roman" pitchFamily="18" charset="0"/>
                <a:cs typeface="Times New Roman" pitchFamily="18" charset="0"/>
              </a:rPr>
              <a:t>a</a:t>
            </a:r>
            <a:r>
              <a:rPr lang="en-US" altLang="zh-TW" dirty="0" err="1">
                <a:solidFill>
                  <a:srgbClr val="0070C0"/>
                </a:solidFill>
                <a:latin typeface="Times New Roman" pitchFamily="18" charset="0"/>
                <a:cs typeface="Times New Roman" pitchFamily="18" charset="0"/>
              </a:rPr>
              <a:t>c</a:t>
            </a:r>
            <a:r>
              <a:rPr lang="en-US" altLang="zh-TW" dirty="0" err="1">
                <a:solidFill>
                  <a:srgbClr val="FF0000"/>
                </a:solidFill>
                <a:latin typeface="Times New Roman" pitchFamily="18" charset="0"/>
                <a:cs typeface="Times New Roman" pitchFamily="18" charset="0"/>
              </a:rPr>
              <a:t>c</a:t>
            </a:r>
            <a:r>
              <a:rPr lang="en-US" altLang="zh-TW" dirty="0" err="1">
                <a:solidFill>
                  <a:srgbClr val="0070C0"/>
                </a:solidFill>
                <a:latin typeface="Times New Roman" pitchFamily="18" charset="0"/>
                <a:cs typeface="Times New Roman" pitchFamily="18" charset="0"/>
              </a:rPr>
              <a:t>tg</a:t>
            </a:r>
            <a:r>
              <a:rPr lang="en-US" altLang="zh-TW" dirty="0" err="1">
                <a:solidFill>
                  <a:srgbClr val="FF0000"/>
                </a:solidFill>
                <a:latin typeface="Times New Roman" pitchFamily="18" charset="0"/>
                <a:cs typeface="Times New Roman" pitchFamily="18" charset="0"/>
              </a:rPr>
              <a:t>tt</a:t>
            </a:r>
            <a:endParaRPr lang="en-US" altLang="zh-TW" dirty="0">
              <a:solidFill>
                <a:srgbClr val="FF0000"/>
              </a:solidFill>
              <a:latin typeface="Times New Roman" pitchFamily="18" charset="0"/>
              <a:cs typeface="Times New Roman" pitchFamily="18" charset="0"/>
            </a:endParaRPr>
          </a:p>
          <a:p>
            <a:pPr>
              <a:buNone/>
            </a:pPr>
            <a:r>
              <a:rPr lang="en-US" altLang="zh-TW" dirty="0">
                <a:latin typeface="Times New Roman" pitchFamily="18" charset="0"/>
                <a:cs typeface="Times New Roman" pitchFamily="18" charset="0"/>
              </a:rPr>
              <a:t>M</a:t>
            </a:r>
            <a:r>
              <a:rPr lang="en-US" altLang="zh-TW" baseline="-25000" dirty="0">
                <a:latin typeface="Times New Roman" pitchFamily="18" charset="0"/>
                <a:cs typeface="Times New Roman" pitchFamily="18" charset="0"/>
              </a:rPr>
              <a:t>2</a:t>
            </a:r>
            <a:r>
              <a:rPr lang="en-US" altLang="zh-TW" dirty="0">
                <a:latin typeface="Times New Roman" panose="02020603050405020304" pitchFamily="18" charset="0"/>
                <a:cs typeface="Times New Roman" panose="02020603050405020304" pitchFamily="18" charset="0"/>
              </a:rPr>
              <a:t>(A, B) = 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FF0000"/>
                </a:solidFill>
                <a:latin typeface="Times New Roman" pitchFamily="18" charset="0"/>
                <a:cs typeface="Times New Roman" pitchFamily="18" charset="0"/>
              </a:rPr>
              <a:t>actt</a:t>
            </a:r>
            <a:r>
              <a:rPr lang="en-US" altLang="zh-TW" dirty="0" err="1">
                <a:solidFill>
                  <a:srgbClr val="0070C0"/>
                </a:solidFill>
                <a:latin typeface="Times New Roman" pitchFamily="18" charset="0"/>
                <a:cs typeface="Times New Roman" pitchFamily="18" charset="0"/>
              </a:rPr>
              <a:t>ctg</a:t>
            </a:r>
            <a:endParaRPr lang="zh-TW" altLang="en-US" dirty="0">
              <a:solidFill>
                <a:srgbClr val="FF0000"/>
              </a:solidFill>
              <a:latin typeface="Times New Roman" pitchFamily="18" charset="0"/>
              <a:cs typeface="Times New Roman" pitchFamily="18" charset="0"/>
            </a:endParaRPr>
          </a:p>
          <a:p>
            <a:pPr>
              <a:buNone/>
            </a:pPr>
            <a:r>
              <a:rPr lang="en-US" altLang="zh-TW" dirty="0">
                <a:latin typeface="Times New Roman" pitchFamily="18" charset="0"/>
                <a:cs typeface="Times New Roman" pitchFamily="18" charset="0"/>
              </a:rPr>
              <a:t>M</a:t>
            </a:r>
            <a:r>
              <a:rPr lang="en-US" altLang="zh-TW" baseline="-25000" dirty="0">
                <a:latin typeface="Times New Roman" pitchFamily="18" charset="0"/>
                <a:cs typeface="Times New Roman" pitchFamily="18" charset="0"/>
              </a:rPr>
              <a:t>3</a:t>
            </a:r>
            <a:r>
              <a:rPr lang="en-US" altLang="zh-TW" dirty="0">
                <a:latin typeface="Times New Roman" panose="02020603050405020304" pitchFamily="18" charset="0"/>
                <a:cs typeface="Times New Roman" panose="02020603050405020304" pitchFamily="18" charset="0"/>
              </a:rPr>
              <a:t>(A, B) = b</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itchFamily="18" charset="0"/>
                <a:cs typeface="Times New Roman" pitchFamily="18" charset="0"/>
              </a:rPr>
              <a:t>b</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3</a:t>
            </a:r>
            <a:r>
              <a:rPr lang="en-US" altLang="zh-TW" dirty="0">
                <a:latin typeface="Times New Roman" pitchFamily="18" charset="0"/>
                <a:cs typeface="Times New Roman" pitchFamily="18" charset="0"/>
              </a:rPr>
              <a:t>a</a:t>
            </a:r>
            <a:r>
              <a:rPr lang="en-US" altLang="zh-TW" baseline="-25000" dirty="0">
                <a:latin typeface="Times New Roman" panose="02020603050405020304" pitchFamily="18" charset="0"/>
                <a:cs typeface="Times New Roman" panose="02020603050405020304" pitchFamily="18" charset="0"/>
              </a:rPr>
              <a:t>4</a:t>
            </a:r>
            <a:r>
              <a:rPr lang="en-US" altLang="zh-TW" dirty="0">
                <a:latin typeface="Times New Roman" panose="02020603050405020304" pitchFamily="18" charset="0"/>
                <a:cs typeface="Times New Roman" panose="02020603050405020304" pitchFamily="18" charset="0"/>
              </a:rPr>
              <a:t> = </a:t>
            </a:r>
            <a:r>
              <a:rPr lang="en-US" altLang="zh-TW" dirty="0" err="1">
                <a:solidFill>
                  <a:srgbClr val="0070C0"/>
                </a:solidFill>
                <a:latin typeface="Times New Roman" pitchFamily="18" charset="0"/>
                <a:cs typeface="Times New Roman" pitchFamily="18" charset="0"/>
              </a:rPr>
              <a:t>c</a:t>
            </a:r>
            <a:r>
              <a:rPr lang="en-US" altLang="zh-TW" dirty="0" err="1">
                <a:solidFill>
                  <a:srgbClr val="FF0000"/>
                </a:solidFill>
                <a:latin typeface="Times New Roman" pitchFamily="18" charset="0"/>
                <a:cs typeface="Times New Roman" pitchFamily="18" charset="0"/>
              </a:rPr>
              <a:t>a</a:t>
            </a:r>
            <a:r>
              <a:rPr lang="en-US" altLang="zh-TW" dirty="0" err="1">
                <a:solidFill>
                  <a:srgbClr val="0070C0"/>
                </a:solidFill>
                <a:latin typeface="Times New Roman" pitchFamily="18" charset="0"/>
                <a:cs typeface="Times New Roman" pitchFamily="18" charset="0"/>
              </a:rPr>
              <a:t>t</a:t>
            </a:r>
            <a:r>
              <a:rPr lang="en-US" altLang="zh-TW" dirty="0" err="1">
                <a:solidFill>
                  <a:srgbClr val="FF0000"/>
                </a:solidFill>
                <a:latin typeface="Times New Roman" pitchFamily="18" charset="0"/>
                <a:cs typeface="Times New Roman" pitchFamily="18" charset="0"/>
              </a:rPr>
              <a:t>c</a:t>
            </a:r>
            <a:r>
              <a:rPr lang="en-US" altLang="zh-TW" dirty="0" err="1">
                <a:solidFill>
                  <a:srgbClr val="0070C0"/>
                </a:solidFill>
                <a:latin typeface="Times New Roman" pitchFamily="18" charset="0"/>
                <a:cs typeface="Times New Roman" pitchFamily="18" charset="0"/>
              </a:rPr>
              <a:t>g</a:t>
            </a:r>
            <a:r>
              <a:rPr lang="en-US" altLang="zh-TW" dirty="0" err="1">
                <a:solidFill>
                  <a:srgbClr val="FF0000"/>
                </a:solidFill>
                <a:latin typeface="Times New Roman" pitchFamily="18" charset="0"/>
                <a:cs typeface="Times New Roman" pitchFamily="18" charset="0"/>
              </a:rPr>
              <a:t>tt</a:t>
            </a:r>
            <a:endParaRPr lang="en-US" altLang="zh-TW" dirty="0">
              <a:solidFill>
                <a:srgbClr val="FF0000"/>
              </a:solidFill>
              <a:latin typeface="Times New Roman" pitchFamily="18" charset="0"/>
              <a:cs typeface="Times New Roman" pitchFamily="18" charset="0"/>
            </a:endParaRPr>
          </a:p>
          <a:p>
            <a:pPr>
              <a:buNone/>
            </a:pPr>
            <a:endParaRPr lang="en-US" altLang="zh-TW" dirty="0" smtClean="0">
              <a:latin typeface="Times New Roman" pitchFamily="18" charset="0"/>
              <a:cs typeface="Times New Roman" pitchFamily="18" charset="0"/>
            </a:endParaRPr>
          </a:p>
          <a:p>
            <a:pPr>
              <a:buNone/>
            </a:pPr>
            <a:endParaRPr lang="en-US" altLang="zh-TW" dirty="0" smtClean="0">
              <a:latin typeface="Times New Roman" pitchFamily="18" charset="0"/>
              <a:cs typeface="Times New Roman" pitchFamily="18" charset="0"/>
            </a:endParaRPr>
          </a:p>
          <a:p>
            <a:pPr>
              <a:buNone/>
            </a:pPr>
            <a:r>
              <a:rPr lang="en-US" altLang="zh-TW" dirty="0" smtClean="0">
                <a:latin typeface="Times New Roman" pitchFamily="18" charset="0"/>
                <a:cs typeface="Times New Roman" pitchFamily="18" charset="0"/>
              </a:rPr>
              <a:t>MLCS(A</a:t>
            </a:r>
            <a:r>
              <a:rPr lang="en-US" altLang="zh-TW" dirty="0">
                <a:latin typeface="Times New Roman" panose="02020603050405020304" pitchFamily="18" charset="0"/>
                <a:cs typeface="Times New Roman" panose="02020603050405020304" pitchFamily="18" charset="0"/>
              </a:rPr>
              <a:t>, B, T) = LCS </a:t>
            </a:r>
            <a:r>
              <a:rPr lang="en-US" altLang="zh-TW" dirty="0" smtClean="0">
                <a:latin typeface="Times New Roman" panose="02020603050405020304" pitchFamily="18" charset="0"/>
                <a:cs typeface="Times New Roman" panose="02020603050405020304" pitchFamily="18" charset="0"/>
              </a:rPr>
              <a:t>(</a:t>
            </a:r>
            <a:r>
              <a:rPr lang="en-US" altLang="zh-TW" dirty="0">
                <a:latin typeface="Times New Roman" pitchFamily="18" charset="0"/>
                <a:cs typeface="Times New Roman" pitchFamily="18" charset="0"/>
              </a:rPr>
              <a:t>M</a:t>
            </a:r>
            <a:r>
              <a:rPr lang="en-US" altLang="zh-TW" baseline="-25000" dirty="0">
                <a:latin typeface="Times New Roman" pitchFamily="18" charset="0"/>
                <a:cs typeface="Times New Roman" pitchFamily="18" charset="0"/>
              </a:rPr>
              <a:t>3</a:t>
            </a:r>
            <a:r>
              <a:rPr lang="en-US" altLang="zh-TW" dirty="0" smtClean="0">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 B), T</a:t>
            </a:r>
            <a:r>
              <a:rPr lang="en-US" altLang="zh-TW" dirty="0" smtClean="0">
                <a:latin typeface="Times New Roman" panose="02020603050405020304" pitchFamily="18" charset="0"/>
                <a:cs typeface="Times New Roman" panose="02020603050405020304" pitchFamily="18" charset="0"/>
              </a:rPr>
              <a:t>) = </a:t>
            </a:r>
            <a:r>
              <a:rPr lang="en-US" altLang="zh-TW" dirty="0" err="1" smtClean="0">
                <a:latin typeface="Times New Roman" panose="02020603050405020304" pitchFamily="18" charset="0"/>
                <a:cs typeface="Times New Roman" panose="02020603050405020304" pitchFamily="18" charset="0"/>
              </a:rPr>
              <a:t>catcg</a:t>
            </a:r>
            <a:endParaRPr lang="en-US" altLang="zh-TW" dirty="0" smtClean="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5</a:t>
            </a:fld>
            <a:endParaRPr lang="zh-TW"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3920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98426"/>
            <a:ext cx="7886700" cy="1325563"/>
          </a:xfrm>
        </p:spPr>
        <p:txBody>
          <a:bodyPr/>
          <a:lstStyle/>
          <a:p>
            <a:pPr algn="ctr"/>
            <a:r>
              <a:rPr lang="en-US" altLang="zh-TW" dirty="0" smtClean="0">
                <a:latin typeface="Times New Roman" panose="02020603050405020304" pitchFamily="18" charset="0"/>
                <a:cs typeface="Times New Roman" panose="02020603050405020304" pitchFamily="18" charset="0"/>
              </a:rPr>
              <a:t>Block Merged LCS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4"/>
                <a:ext cx="7886700" cy="4791075"/>
              </a:xfrm>
            </p:spPr>
            <p:txBody>
              <a:bodyPr>
                <a:normAutofit lnSpcReduction="10000"/>
              </a:bodyPr>
              <a:lstStyle/>
              <a:p>
                <a:pPr marL="0" indent="0">
                  <a:buNone/>
                </a:pPr>
                <a:r>
                  <a:rPr lang="en-US" altLang="zh-TW" dirty="0" smtClean="0">
                    <a:latin typeface="Times New Roman" panose="02020603050405020304" pitchFamily="18" charset="0"/>
                    <a:cs typeface="Times New Roman" panose="02020603050405020304" pitchFamily="18" charset="0"/>
                  </a:rPr>
                  <a:t>A = </a:t>
                </a:r>
                <a14:m>
                  <m:oMath xmlns:m="http://schemas.openxmlformats.org/officeDocument/2006/math">
                    <m:sSub>
                      <m:sSubPr>
                        <m:ctrlPr>
                          <a:rPr lang="en-US" altLang="zh-TW" i="1" smtClean="0">
                            <a:latin typeface="Cambria Math" panose="02040503050406030204" pitchFamily="18" charset="0"/>
                            <a:cs typeface="Times New Roman" pitchFamily="18" charset="0"/>
                          </a:rPr>
                        </m:ctrlPr>
                      </m:sSubPr>
                      <m:e>
                        <m:r>
                          <m:rPr>
                            <m:sty m:val="p"/>
                          </m:rPr>
                          <a:rPr lang="en-US" altLang="zh-TW" b="0" i="0" smtClean="0">
                            <a:latin typeface="Cambria Math" panose="02040503050406030204" pitchFamily="18" charset="0"/>
                            <a:cs typeface="Times New Roman" pitchFamily="18" charset="0"/>
                          </a:rPr>
                          <m:t>A</m:t>
                        </m:r>
                      </m:e>
                      <m:sub>
                        <m:r>
                          <a:rPr lang="en-US" altLang="zh-TW" b="0" i="0" smtClean="0">
                            <a:latin typeface="Cambria Math" panose="02040503050406030204" pitchFamily="18" charset="0"/>
                            <a:cs typeface="Times New Roman" pitchFamily="18" charset="0"/>
                          </a:rPr>
                          <m:t>1</m:t>
                        </m:r>
                      </m:sub>
                    </m:sSub>
                    <m:sSub>
                      <m:sSubPr>
                        <m:ctrlPr>
                          <a:rPr lang="en-US" altLang="zh-TW" i="1">
                            <a:latin typeface="Cambria Math" panose="02040503050406030204" pitchFamily="18" charset="0"/>
                            <a:cs typeface="Times New Roman" pitchFamily="18" charset="0"/>
                          </a:rPr>
                        </m:ctrlPr>
                      </m:sSubPr>
                      <m:e>
                        <m:r>
                          <m:rPr>
                            <m:sty m:val="p"/>
                          </m:rPr>
                          <a:rPr lang="en-US" altLang="zh-TW" i="0">
                            <a:latin typeface="Cambria Math" panose="02040503050406030204" pitchFamily="18" charset="0"/>
                            <a:cs typeface="Times New Roman" pitchFamily="18" charset="0"/>
                          </a:rPr>
                          <m:t>A</m:t>
                        </m:r>
                      </m:e>
                      <m:sub>
                        <m:r>
                          <a:rPr lang="en-US" altLang="zh-TW" b="0" i="0" smtClean="0">
                            <a:latin typeface="Cambria Math" panose="02040503050406030204" pitchFamily="18" charset="0"/>
                            <a:cs typeface="Times New Roman" pitchFamily="18" charset="0"/>
                          </a:rPr>
                          <m:t>2</m:t>
                        </m:r>
                      </m:sub>
                    </m:sSub>
                  </m:oMath>
                </a14:m>
                <a:r>
                  <a:rPr lang="en-US" altLang="zh-TW" dirty="0" smtClean="0">
                    <a:latin typeface="Times New Roman" panose="02020603050405020304" pitchFamily="18" charset="0"/>
                    <a:cs typeface="Times New Roman" panose="02020603050405020304" pitchFamily="18" charset="0"/>
                  </a:rPr>
                  <a:t> =			, B </a:t>
                </a:r>
                <a:r>
                  <a:rPr lang="en-US" altLang="zh-TW" dirty="0">
                    <a:latin typeface="Times New Roman" pitchFamily="18" charset="0"/>
                    <a:cs typeface="Times New Roman" pitchFamily="18" charset="0"/>
                  </a:rPr>
                  <a:t>= </a:t>
                </a:r>
                <a14:m>
                  <m:oMath xmlns:m="http://schemas.openxmlformats.org/officeDocument/2006/math">
                    <m:sSub>
                      <m:sSubPr>
                        <m:ctrlPr>
                          <a:rPr lang="en-US" altLang="zh-TW" i="1">
                            <a:latin typeface="Cambria Math" panose="02040503050406030204" pitchFamily="18" charset="0"/>
                            <a:cs typeface="Times New Roman" pitchFamily="18" charset="0"/>
                          </a:rPr>
                        </m:ctrlPr>
                      </m:sSubPr>
                      <m:e>
                        <m:r>
                          <m:rPr>
                            <m:sty m:val="p"/>
                          </m:rPr>
                          <a:rPr lang="en-US" altLang="zh-TW" b="0" i="0" smtClean="0">
                            <a:latin typeface="Cambria Math" panose="02040503050406030204" pitchFamily="18" charset="0"/>
                            <a:cs typeface="Times New Roman" pitchFamily="18" charset="0"/>
                          </a:rPr>
                          <m:t>B</m:t>
                        </m:r>
                      </m:e>
                      <m:sub>
                        <m:r>
                          <a:rPr lang="en-US" altLang="zh-TW" i="0">
                            <a:latin typeface="Cambria Math" panose="02040503050406030204" pitchFamily="18" charset="0"/>
                            <a:cs typeface="Times New Roman" pitchFamily="18" charset="0"/>
                          </a:rPr>
                          <m:t>1</m:t>
                        </m:r>
                      </m:sub>
                    </m:sSub>
                    <m:sSub>
                      <m:sSubPr>
                        <m:ctrlPr>
                          <a:rPr lang="en-US" altLang="zh-TW" i="1">
                            <a:latin typeface="Cambria Math" panose="02040503050406030204" pitchFamily="18" charset="0"/>
                            <a:cs typeface="Times New Roman" pitchFamily="18" charset="0"/>
                          </a:rPr>
                        </m:ctrlPr>
                      </m:sSubPr>
                      <m:e>
                        <m:r>
                          <m:rPr>
                            <m:sty m:val="p"/>
                          </m:rPr>
                          <a:rPr lang="en-US" altLang="zh-TW" b="0" i="0" smtClean="0">
                            <a:latin typeface="Cambria Math" panose="02040503050406030204" pitchFamily="18" charset="0"/>
                            <a:cs typeface="Times New Roman" pitchFamily="18" charset="0"/>
                          </a:rPr>
                          <m:t>B</m:t>
                        </m:r>
                      </m:e>
                      <m:sub>
                        <m:r>
                          <a:rPr lang="en-US" altLang="zh-TW" i="0">
                            <a:latin typeface="Cambria Math" panose="02040503050406030204" pitchFamily="18" charset="0"/>
                            <a:cs typeface="Times New Roman" pitchFamily="18" charset="0"/>
                          </a:rPr>
                          <m:t>2</m:t>
                        </m:r>
                      </m:sub>
                    </m:sSub>
                  </m:oMath>
                </a14:m>
                <a:r>
                  <a:rPr lang="en-US" altLang="zh-TW" dirty="0">
                    <a:latin typeface="Times New Roman" pitchFamily="18" charset="0"/>
                    <a:cs typeface="Times New Roman" pitchFamily="18" charset="0"/>
                  </a:rPr>
                  <a:t> = </a:t>
                </a:r>
                <a:r>
                  <a:rPr lang="en-US" altLang="zh-TW" dirty="0" smtClean="0">
                    <a:latin typeface="Times New Roman" panose="02020603050405020304" pitchFamily="18" charset="0"/>
                    <a:cs typeface="Times New Roman" panose="02020603050405020304" pitchFamily="18" charset="0"/>
                  </a:rPr>
                  <a:t>  </a:t>
                </a:r>
              </a:p>
              <a:p>
                <a:pPr marL="0" indent="0">
                  <a:buNone/>
                </a:pPr>
                <a:r>
                  <a:rPr lang="en-US" altLang="zh-TW" dirty="0" smtClean="0">
                    <a:latin typeface="Times New Roman" panose="02020603050405020304" pitchFamily="18" charset="0"/>
                    <a:cs typeface="Times New Roman" panose="02020603050405020304" pitchFamily="18" charset="0"/>
                  </a:rPr>
                  <a:t>T </a:t>
                </a:r>
                <a:r>
                  <a:rPr lang="en-US" altLang="zh-TW" dirty="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tcatcg</a:t>
                </a: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              </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𝑏</m:t>
                        </m:r>
                      </m:sup>
                    </m:sSubSup>
                  </m:oMath>
                </a14:m>
                <a:r>
                  <a:rPr lang="en-US" altLang="zh-TW" dirty="0" smtClean="0">
                    <a:latin typeface="Times New Roman" panose="02020603050405020304" pitchFamily="18" charset="0"/>
                    <a:cs typeface="Times New Roman" panose="02020603050405020304" pitchFamily="18" charset="0"/>
                  </a:rPr>
                  <a:t>(A</a:t>
                </a:r>
                <a:r>
                  <a:rPr lang="en-US" altLang="zh-TW" dirty="0">
                    <a:latin typeface="Times New Roman" pitchFamily="18" charset="0"/>
                    <a:cs typeface="Times New Roman" pitchFamily="18" charset="0"/>
                  </a:rPr>
                  <a:t>, B) = </a:t>
                </a:r>
                <a:r>
                  <a:rPr lang="en-US" altLang="zh-TW" dirty="0" smtClean="0">
                    <a:latin typeface="Times New Roman" pitchFamily="18" charset="0"/>
                    <a:cs typeface="Times New Roman" pitchFamily="18" charset="0"/>
                  </a:rPr>
                  <a:t>A</a:t>
                </a:r>
                <a:r>
                  <a:rPr lang="en-US" altLang="zh-TW" baseline="-25000" dirty="0" smtClean="0"/>
                  <a:t>1</a:t>
                </a:r>
                <a:r>
                  <a:rPr lang="en-US" altLang="zh-TW" dirty="0" smtClean="0">
                    <a:latin typeface="Times New Roman" pitchFamily="18" charset="0"/>
                    <a:cs typeface="Times New Roman" pitchFamily="18" charset="0"/>
                  </a:rPr>
                  <a:t>B</a:t>
                </a:r>
                <a:r>
                  <a:rPr lang="en-US" altLang="zh-TW" baseline="-25000" dirty="0" smtClean="0">
                    <a:cs typeface="Times New Roman" pitchFamily="18" charset="0"/>
                  </a:rPr>
                  <a:t>1</a:t>
                </a:r>
                <a:r>
                  <a:rPr lang="en-US" altLang="zh-TW" dirty="0" smtClean="0">
                    <a:latin typeface="Times New Roman" pitchFamily="18" charset="0"/>
                    <a:cs typeface="Times New Roman" pitchFamily="18" charset="0"/>
                  </a:rPr>
                  <a:t>B</a:t>
                </a:r>
                <a:r>
                  <a:rPr lang="en-US" altLang="zh-TW" baseline="-25000" dirty="0" smtClean="0">
                    <a:cs typeface="Times New Roman" pitchFamily="18" charset="0"/>
                  </a:rPr>
                  <a:t>2</a:t>
                </a:r>
                <a:r>
                  <a:rPr lang="en-US" altLang="zh-TW" dirty="0" smtClean="0">
                    <a:latin typeface="Times New Roman" pitchFamily="18" charset="0"/>
                    <a:cs typeface="Times New Roman" pitchFamily="18" charset="0"/>
                  </a:rPr>
                  <a:t>A</a:t>
                </a:r>
                <a:r>
                  <a:rPr lang="en-US" altLang="zh-TW" baseline="-25000" dirty="0" smtClean="0"/>
                  <a:t>2</a:t>
                </a:r>
                <a:r>
                  <a:rPr lang="en-US" altLang="zh-TW" dirty="0" smtClean="0"/>
                  <a:t> </a:t>
                </a:r>
                <a:r>
                  <a:rPr lang="en-US" altLang="zh-TW" dirty="0"/>
                  <a:t>= </a:t>
                </a:r>
                <a:r>
                  <a:rPr lang="en-US" altLang="zh-TW" dirty="0" err="1">
                    <a:solidFill>
                      <a:srgbClr val="FF0000"/>
                    </a:solidFill>
                    <a:latin typeface="Times New Roman" pitchFamily="18" charset="0"/>
                    <a:cs typeface="Times New Roman" pitchFamily="18" charset="0"/>
                  </a:rPr>
                  <a:t>ac</a:t>
                </a:r>
                <a:r>
                  <a:rPr lang="en-US" altLang="zh-TW" dirty="0" err="1">
                    <a:solidFill>
                      <a:srgbClr val="0070C0"/>
                    </a:solidFill>
                    <a:latin typeface="Times New Roman" pitchFamily="18" charset="0"/>
                    <a:cs typeface="Times New Roman" pitchFamily="18" charset="0"/>
                  </a:rPr>
                  <a:t>ctg</a:t>
                </a:r>
                <a:r>
                  <a:rPr lang="en-US" altLang="zh-TW" dirty="0" err="1">
                    <a:solidFill>
                      <a:srgbClr val="FF0000"/>
                    </a:solidFill>
                    <a:latin typeface="Times New Roman" pitchFamily="18" charset="0"/>
                    <a:cs typeface="Times New Roman" pitchFamily="18" charset="0"/>
                  </a:rPr>
                  <a:t>tt</a:t>
                </a:r>
                <a:r>
                  <a:rPr lang="en-US" altLang="zh-TW" dirty="0">
                    <a:solidFill>
                      <a:srgbClr val="FF0000"/>
                    </a:solidFill>
                    <a:latin typeface="Times New Roman" pitchFamily="18" charset="0"/>
                    <a:cs typeface="Times New Roman" pitchFamily="18" charset="0"/>
                  </a:rPr>
                  <a:t> </a:t>
                </a:r>
                <a:endParaRPr lang="en-US" altLang="zh-TW" dirty="0" smtClean="0">
                  <a:solidFill>
                    <a:srgbClr val="FF0000"/>
                  </a:solidFill>
                  <a:latin typeface="Times New Roman" pitchFamily="18" charset="0"/>
                  <a:cs typeface="Times New Roman" pitchFamily="18" charset="0"/>
                </a:endParaRP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2</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smtClean="0">
                    <a:latin typeface="Times New Roman" panose="02020603050405020304" pitchFamily="18" charset="0"/>
                    <a:cs typeface="Times New Roman" panose="02020603050405020304" pitchFamily="18" charset="0"/>
                  </a:rPr>
                  <a:t>(A</a:t>
                </a:r>
                <a:r>
                  <a:rPr lang="en-US" altLang="zh-TW" dirty="0">
                    <a:latin typeface="Times New Roman" pitchFamily="18" charset="0"/>
                    <a:cs typeface="Times New Roman" pitchFamily="18" charset="0"/>
                  </a:rPr>
                  <a:t>, B) = A</a:t>
                </a:r>
                <a:r>
                  <a:rPr lang="en-US" altLang="zh-TW" baseline="-25000" dirty="0"/>
                  <a:t>1</a:t>
                </a:r>
                <a:r>
                  <a:rPr lang="en-US" altLang="zh-TW" dirty="0">
                    <a:latin typeface="Times New Roman" pitchFamily="18" charset="0"/>
                    <a:cs typeface="Times New Roman" pitchFamily="18" charset="0"/>
                  </a:rPr>
                  <a:t>A</a:t>
                </a:r>
                <a:r>
                  <a:rPr lang="en-US" altLang="zh-TW" baseline="-25000" dirty="0"/>
                  <a:t>2</a:t>
                </a:r>
                <a:r>
                  <a:rPr lang="en-US" altLang="zh-TW" dirty="0">
                    <a:latin typeface="Times New Roman" pitchFamily="18" charset="0"/>
                    <a:cs typeface="Times New Roman" pitchFamily="18" charset="0"/>
                  </a:rPr>
                  <a:t>B</a:t>
                </a:r>
                <a:r>
                  <a:rPr lang="en-US" altLang="zh-TW" baseline="-25000" dirty="0">
                    <a:cs typeface="Times New Roman" pitchFamily="18" charset="0"/>
                  </a:rPr>
                  <a:t>1</a:t>
                </a:r>
                <a:r>
                  <a:rPr lang="en-US" altLang="zh-TW" dirty="0">
                    <a:latin typeface="Times New Roman" pitchFamily="18" charset="0"/>
                    <a:cs typeface="Times New Roman" pitchFamily="18" charset="0"/>
                  </a:rPr>
                  <a:t>B</a:t>
                </a:r>
                <a:r>
                  <a:rPr lang="en-US" altLang="zh-TW" baseline="-25000" dirty="0">
                    <a:cs typeface="Times New Roman" pitchFamily="18" charset="0"/>
                  </a:rPr>
                  <a:t>2 </a:t>
                </a:r>
                <a:r>
                  <a:rPr lang="en-US" altLang="zh-TW" dirty="0"/>
                  <a:t>= </a:t>
                </a:r>
                <a:r>
                  <a:rPr lang="en-US" altLang="zh-TW" dirty="0" err="1">
                    <a:solidFill>
                      <a:srgbClr val="FF0000"/>
                    </a:solidFill>
                    <a:latin typeface="Times New Roman" pitchFamily="18" charset="0"/>
                    <a:cs typeface="Times New Roman" pitchFamily="18" charset="0"/>
                  </a:rPr>
                  <a:t>actt</a:t>
                </a:r>
                <a:r>
                  <a:rPr lang="en-US" altLang="zh-TW" dirty="0" err="1">
                    <a:solidFill>
                      <a:srgbClr val="0070C0"/>
                    </a:solidFill>
                    <a:latin typeface="Times New Roman" pitchFamily="18" charset="0"/>
                    <a:cs typeface="Times New Roman" pitchFamily="18" charset="0"/>
                  </a:rPr>
                  <a:t>ctg</a:t>
                </a:r>
                <a:endParaRPr lang="zh-TW" altLang="en-US" dirty="0">
                  <a:solidFill>
                    <a:srgbClr val="FF0000"/>
                  </a:solidFill>
                  <a:latin typeface="Times New Roman" pitchFamily="18" charset="0"/>
                  <a:cs typeface="Times New Roman" pitchFamily="18" charset="0"/>
                </a:endParaRP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3</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smtClean="0">
                    <a:latin typeface="Times New Roman" panose="02020603050405020304" pitchFamily="18" charset="0"/>
                    <a:cs typeface="Times New Roman" panose="02020603050405020304" pitchFamily="18" charset="0"/>
                  </a:rPr>
                  <a:t>(A</a:t>
                </a:r>
                <a:r>
                  <a:rPr lang="en-US" altLang="zh-TW" dirty="0">
                    <a:latin typeface="Times New Roman" pitchFamily="18" charset="0"/>
                    <a:cs typeface="Times New Roman" pitchFamily="18" charset="0"/>
                  </a:rPr>
                  <a:t>, B) = B</a:t>
                </a:r>
                <a:r>
                  <a:rPr lang="en-US" altLang="zh-TW" baseline="-25000" dirty="0">
                    <a:cs typeface="Times New Roman" pitchFamily="18" charset="0"/>
                  </a:rPr>
                  <a:t>1</a:t>
                </a:r>
                <a:r>
                  <a:rPr lang="en-US" altLang="zh-TW" dirty="0">
                    <a:latin typeface="Times New Roman" pitchFamily="18" charset="0"/>
                    <a:cs typeface="Times New Roman" pitchFamily="18" charset="0"/>
                  </a:rPr>
                  <a:t>A</a:t>
                </a:r>
                <a:r>
                  <a:rPr lang="en-US" altLang="zh-TW" baseline="-25000" dirty="0"/>
                  <a:t>1</a:t>
                </a:r>
                <a:r>
                  <a:rPr lang="en-US" altLang="zh-TW" dirty="0">
                    <a:latin typeface="Times New Roman" pitchFamily="18" charset="0"/>
                    <a:cs typeface="Times New Roman" pitchFamily="18" charset="0"/>
                  </a:rPr>
                  <a:t>A</a:t>
                </a:r>
                <a:r>
                  <a:rPr lang="en-US" altLang="zh-TW" baseline="-25000" dirty="0"/>
                  <a:t>2</a:t>
                </a:r>
                <a:r>
                  <a:rPr lang="en-US" altLang="zh-TW" dirty="0">
                    <a:latin typeface="Times New Roman" pitchFamily="18" charset="0"/>
                    <a:cs typeface="Times New Roman" pitchFamily="18" charset="0"/>
                  </a:rPr>
                  <a:t>B</a:t>
                </a:r>
                <a:r>
                  <a:rPr lang="en-US" altLang="zh-TW" baseline="-25000" dirty="0">
                    <a:cs typeface="Times New Roman" pitchFamily="18" charset="0"/>
                  </a:rPr>
                  <a:t>2 </a:t>
                </a:r>
                <a:r>
                  <a:rPr lang="en-US" altLang="zh-TW" dirty="0"/>
                  <a:t>=</a:t>
                </a:r>
                <a:r>
                  <a:rPr lang="en-US" altLang="zh-TW" dirty="0">
                    <a:solidFill>
                      <a:srgbClr val="FF0000"/>
                    </a:solidFill>
                  </a:rPr>
                  <a:t> </a:t>
                </a:r>
                <a:r>
                  <a:rPr lang="en-US" altLang="zh-TW" dirty="0" err="1">
                    <a:solidFill>
                      <a:srgbClr val="0070C0"/>
                    </a:solidFill>
                    <a:latin typeface="Times New Roman" pitchFamily="18" charset="0"/>
                    <a:cs typeface="Times New Roman" pitchFamily="18" charset="0"/>
                  </a:rPr>
                  <a:t>ct</a:t>
                </a:r>
                <a:r>
                  <a:rPr lang="en-US" altLang="zh-TW" dirty="0" err="1">
                    <a:solidFill>
                      <a:srgbClr val="FF0000"/>
                    </a:solidFill>
                    <a:latin typeface="Times New Roman" pitchFamily="18" charset="0"/>
                    <a:cs typeface="Times New Roman" pitchFamily="18" charset="0"/>
                  </a:rPr>
                  <a:t>actt</a:t>
                </a:r>
                <a:r>
                  <a:rPr lang="en-US" altLang="zh-TW" dirty="0" err="1">
                    <a:solidFill>
                      <a:srgbClr val="0070C0"/>
                    </a:solidFill>
                    <a:latin typeface="Times New Roman" pitchFamily="18" charset="0"/>
                    <a:cs typeface="Times New Roman" pitchFamily="18" charset="0"/>
                  </a:rPr>
                  <a:t>g</a:t>
                </a:r>
                <a:endParaRPr lang="en-US" altLang="zh-TW" dirty="0">
                  <a:solidFill>
                    <a:srgbClr val="FF0000"/>
                  </a:solidFill>
                  <a:latin typeface="Times New Roman" pitchFamily="18" charset="0"/>
                  <a:cs typeface="Times New Roman" pitchFamily="18" charset="0"/>
                </a:endParaRPr>
              </a:p>
              <a:p>
                <a:pPr>
                  <a:buNone/>
                </a:pPr>
                <a:endParaRPr lang="en-US" altLang="zh-TW" dirty="0" smtClean="0">
                  <a:latin typeface="Times New Roman" panose="02020603050405020304" pitchFamily="18" charset="0"/>
                  <a:cs typeface="Times New Roman" panose="02020603050405020304" pitchFamily="18" charset="0"/>
                </a:endParaRPr>
              </a:p>
              <a:p>
                <a:pPr>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i="1" dirty="0">
                    <a:latin typeface="Times New Roman" pitchFamily="18" charset="0"/>
                    <a:cs typeface="Times New Roman" pitchFamily="18" charset="0"/>
                  </a:rPr>
                  <a:t>BMLCS</a:t>
                </a:r>
                <a:r>
                  <a:rPr lang="en-US" altLang="zh-TW" dirty="0"/>
                  <a:t>(</a:t>
                </a:r>
                <a:r>
                  <a:rPr lang="en-US" altLang="zh-TW" i="1" dirty="0">
                    <a:latin typeface="Times New Roman" pitchFamily="18" charset="0"/>
                    <a:cs typeface="Times New Roman" pitchFamily="18" charset="0"/>
                  </a:rPr>
                  <a:t>A</a:t>
                </a:r>
                <a:r>
                  <a:rPr lang="en-US" altLang="zh-TW" dirty="0"/>
                  <a:t>, </a:t>
                </a:r>
                <a:r>
                  <a:rPr lang="en-US" altLang="zh-TW" i="1" dirty="0">
                    <a:latin typeface="Times New Roman" pitchFamily="18" charset="0"/>
                    <a:cs typeface="Times New Roman" pitchFamily="18" charset="0"/>
                  </a:rPr>
                  <a:t>B</a:t>
                </a:r>
                <a:r>
                  <a:rPr lang="en-US" altLang="zh-TW" dirty="0"/>
                  <a:t>, </a:t>
                </a:r>
                <a:r>
                  <a:rPr lang="en-US" altLang="zh-TW" i="1" dirty="0">
                    <a:latin typeface="Times New Roman" pitchFamily="18" charset="0"/>
                    <a:cs typeface="Times New Roman" pitchFamily="18" charset="0"/>
                  </a:rPr>
                  <a:t>T</a:t>
                </a:r>
                <a:r>
                  <a:rPr lang="en-US" altLang="zh-TW" dirty="0"/>
                  <a:t>) = LCS(</a:t>
                </a: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2</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 </a:t>
                </a:r>
                <a:r>
                  <a:rPr lang="en-US" altLang="zh-TW" dirty="0" smtClean="0"/>
                  <a:t>, </a:t>
                </a:r>
                <a:r>
                  <a:rPr lang="en-US" altLang="zh-TW" i="1" dirty="0">
                    <a:latin typeface="Times New Roman" pitchFamily="18" charset="0"/>
                    <a:cs typeface="Times New Roman" pitchFamily="18" charset="0"/>
                  </a:rPr>
                  <a:t>T</a:t>
                </a:r>
                <a:r>
                  <a:rPr lang="en-US" altLang="zh-TW" dirty="0"/>
                  <a:t>) = </a:t>
                </a:r>
                <a:r>
                  <a:rPr lang="en-US" altLang="zh-TW" i="1" dirty="0" err="1" smtClean="0">
                    <a:latin typeface="Times New Roman" pitchFamily="18" charset="0"/>
                    <a:cs typeface="Times New Roman" pitchFamily="18" charset="0"/>
                  </a:rPr>
                  <a:t>actg</a:t>
                </a:r>
                <a:r>
                  <a:rPr lang="en-US" altLang="zh-TW" dirty="0" smtClean="0"/>
                  <a:t>   </a:t>
                </a:r>
              </a:p>
              <a:p>
                <a:pPr marL="0" indent="0">
                  <a:buNone/>
                </a:pPr>
                <a:r>
                  <a:rPr lang="en-US" altLang="zh-TW" i="1" dirty="0">
                    <a:latin typeface="Times New Roman" pitchFamily="18" charset="0"/>
                    <a:cs typeface="Times New Roman" pitchFamily="18" charset="0"/>
                  </a:rPr>
                  <a:t>BMLCS</a:t>
                </a:r>
                <a:r>
                  <a:rPr lang="en-US" altLang="zh-TW" dirty="0"/>
                  <a:t>(</a:t>
                </a:r>
                <a:r>
                  <a:rPr lang="en-US" altLang="zh-TW" i="1" dirty="0">
                    <a:latin typeface="Times New Roman" pitchFamily="18" charset="0"/>
                    <a:cs typeface="Times New Roman" pitchFamily="18" charset="0"/>
                  </a:rPr>
                  <a:t>A</a:t>
                </a:r>
                <a:r>
                  <a:rPr lang="en-US" altLang="zh-TW" dirty="0"/>
                  <a:t>, </a:t>
                </a:r>
                <a:r>
                  <a:rPr lang="en-US" altLang="zh-TW" i="1" dirty="0">
                    <a:latin typeface="Times New Roman" pitchFamily="18" charset="0"/>
                    <a:cs typeface="Times New Roman" pitchFamily="18" charset="0"/>
                  </a:rPr>
                  <a:t>B</a:t>
                </a:r>
                <a:r>
                  <a:rPr lang="en-US" altLang="zh-TW" dirty="0"/>
                  <a:t>, </a:t>
                </a:r>
                <a:r>
                  <a:rPr lang="en-US" altLang="zh-TW" i="1" dirty="0">
                    <a:latin typeface="Times New Roman" pitchFamily="18" charset="0"/>
                    <a:cs typeface="Times New Roman" pitchFamily="18" charset="0"/>
                  </a:rPr>
                  <a:t>T</a:t>
                </a:r>
                <a:r>
                  <a:rPr lang="en-US" altLang="zh-TW" dirty="0"/>
                  <a:t>) = LCS(</a:t>
                </a: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3</m:t>
                        </m:r>
                      </m:sub>
                      <m:sup>
                        <m:r>
                          <a:rPr lang="en-US" altLang="zh-TW" i="1">
                            <a:latin typeface="Cambria Math" panose="02040503050406030204" pitchFamily="18" charset="0"/>
                            <a:cs typeface="Times New Roman" panose="02020603050405020304" pitchFamily="18" charset="0"/>
                          </a:rPr>
                          <m:t>𝑏</m:t>
                        </m:r>
                      </m:sup>
                    </m:sSubSup>
                  </m:oMath>
                </a14:m>
                <a:r>
                  <a:rPr lang="en-US" altLang="zh-TW" dirty="0">
                    <a:latin typeface="Times New Roman" panose="02020603050405020304" pitchFamily="18" charset="0"/>
                    <a:cs typeface="Times New Roman" panose="02020603050405020304" pitchFamily="18" charset="0"/>
                  </a:rPr>
                  <a:t>(A, B</a:t>
                </a:r>
                <a:r>
                  <a:rPr lang="en-US" altLang="zh-TW" dirty="0" smtClean="0">
                    <a:latin typeface="Times New Roman" pitchFamily="18" charset="0"/>
                    <a:cs typeface="Times New Roman" pitchFamily="18" charset="0"/>
                  </a:rPr>
                  <a:t>) </a:t>
                </a:r>
                <a:r>
                  <a:rPr lang="en-US" altLang="zh-TW" dirty="0" smtClean="0"/>
                  <a:t>, </a:t>
                </a:r>
                <a:r>
                  <a:rPr lang="en-US" altLang="zh-TW" i="1" dirty="0">
                    <a:latin typeface="Times New Roman" pitchFamily="18" charset="0"/>
                    <a:cs typeface="Times New Roman" pitchFamily="18" charset="0"/>
                  </a:rPr>
                  <a:t>T</a:t>
                </a:r>
                <a:r>
                  <a:rPr lang="en-US" altLang="zh-TW" dirty="0"/>
                  <a:t>) = </a:t>
                </a:r>
                <a:r>
                  <a:rPr lang="en-US" altLang="zh-TW" i="1" dirty="0" err="1">
                    <a:latin typeface="Times New Roman" pitchFamily="18" charset="0"/>
                    <a:cs typeface="Times New Roman" pitchFamily="18" charset="0"/>
                  </a:rPr>
                  <a:t>ctcg</a:t>
                </a:r>
                <a:r>
                  <a:rPr lang="en-US" altLang="zh-TW" dirty="0"/>
                  <a:t>   </a:t>
                </a:r>
                <a:endParaRPr lang="zh-TW" altLang="en-US"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4"/>
                <a:ext cx="7886700" cy="4791075"/>
              </a:xfrm>
              <a:blipFill rotWithShape="0">
                <a:blip r:embed="rId2"/>
                <a:stretch>
                  <a:fillRect l="-1546" t="-3053" b="-216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6</a:t>
            </a:fld>
            <a:endParaRPr lang="zh-TW" altLang="en-US">
              <a:latin typeface="Times New Roman" panose="02020603050405020304" pitchFamily="18" charset="0"/>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519408642"/>
              </p:ext>
            </p:extLst>
          </p:nvPr>
        </p:nvGraphicFramePr>
        <p:xfrm>
          <a:off x="2413000" y="1690689"/>
          <a:ext cx="1765300" cy="487680"/>
        </p:xfrm>
        <a:graphic>
          <a:graphicData uri="http://schemas.openxmlformats.org/drawingml/2006/table">
            <a:tbl>
              <a:tblPr firstRow="1" bandRow="1">
                <a:tableStyleId>{5940675A-B579-460E-94D1-54222C63F5DA}</a:tableStyleId>
              </a:tblPr>
              <a:tblGrid>
                <a:gridCol w="882650"/>
                <a:gridCol w="882650"/>
              </a:tblGrid>
              <a:tr h="293689">
                <a:tc>
                  <a:txBody>
                    <a:bodyPr/>
                    <a:lstStyle/>
                    <a:p>
                      <a:pPr algn="ctr"/>
                      <a:r>
                        <a:rPr lang="en-US" altLang="zh-TW" sz="2600" dirty="0" smtClean="0">
                          <a:solidFill>
                            <a:srgbClr val="FF0000"/>
                          </a:solidFill>
                        </a:rPr>
                        <a:t>ac</a:t>
                      </a:r>
                      <a:endParaRPr lang="zh-TW" altLang="en-US" sz="2600" dirty="0">
                        <a:solidFill>
                          <a:srgbClr val="FF0000"/>
                        </a:solidFill>
                      </a:endParaRPr>
                    </a:p>
                  </a:txBody>
                  <a:tcPr/>
                </a:tc>
                <a:tc>
                  <a:txBody>
                    <a:bodyPr/>
                    <a:lstStyle/>
                    <a:p>
                      <a:pPr algn="ctr"/>
                      <a:r>
                        <a:rPr lang="en-US" altLang="zh-TW" sz="2600" dirty="0" err="1" smtClean="0">
                          <a:solidFill>
                            <a:srgbClr val="FF0000"/>
                          </a:solidFill>
                        </a:rPr>
                        <a:t>tt</a:t>
                      </a:r>
                      <a:endParaRPr lang="zh-TW" altLang="en-US" sz="2600" dirty="0">
                        <a:solidFill>
                          <a:srgbClr val="FF0000"/>
                        </a:solidFill>
                      </a:endParaRPr>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598733576"/>
              </p:ext>
            </p:extLst>
          </p:nvPr>
        </p:nvGraphicFramePr>
        <p:xfrm>
          <a:off x="6197600" y="1690689"/>
          <a:ext cx="1765300" cy="487680"/>
        </p:xfrm>
        <a:graphic>
          <a:graphicData uri="http://schemas.openxmlformats.org/drawingml/2006/table">
            <a:tbl>
              <a:tblPr firstRow="1" bandRow="1">
                <a:tableStyleId>{5940675A-B579-460E-94D1-54222C63F5DA}</a:tableStyleId>
              </a:tblPr>
              <a:tblGrid>
                <a:gridCol w="882650"/>
                <a:gridCol w="882650"/>
              </a:tblGrid>
              <a:tr h="293689">
                <a:tc>
                  <a:txBody>
                    <a:bodyPr/>
                    <a:lstStyle/>
                    <a:p>
                      <a:pPr algn="ctr"/>
                      <a:r>
                        <a:rPr lang="en-US" altLang="zh-TW" sz="2600" dirty="0" err="1" smtClean="0">
                          <a:solidFill>
                            <a:srgbClr val="00B0F0"/>
                          </a:solidFill>
                        </a:rPr>
                        <a:t>ct</a:t>
                      </a:r>
                      <a:endParaRPr lang="zh-TW" altLang="en-US" sz="2600" dirty="0">
                        <a:solidFill>
                          <a:srgbClr val="00B0F0"/>
                        </a:solidFill>
                      </a:endParaRPr>
                    </a:p>
                  </a:txBody>
                  <a:tcPr/>
                </a:tc>
                <a:tc>
                  <a:txBody>
                    <a:bodyPr/>
                    <a:lstStyle/>
                    <a:p>
                      <a:pPr algn="ctr"/>
                      <a:r>
                        <a:rPr lang="en-US" altLang="zh-TW" sz="2600" dirty="0" smtClean="0">
                          <a:solidFill>
                            <a:srgbClr val="00B0F0"/>
                          </a:solidFill>
                        </a:rPr>
                        <a:t>g</a:t>
                      </a:r>
                      <a:endParaRPr lang="zh-TW" altLang="en-US" sz="2600" dirty="0">
                        <a:solidFill>
                          <a:srgbClr val="00B0F0"/>
                        </a:solidFill>
                      </a:endParaRPr>
                    </a:p>
                  </a:txBody>
                  <a:tcPr/>
                </a:tc>
              </a:tr>
            </a:tbl>
          </a:graphicData>
        </a:graphic>
      </p:graphicFrame>
    </p:spTree>
    <p:extLst>
      <p:ext uri="{BB962C8B-B14F-4D97-AF65-F5344CB8AC3E}">
        <p14:creationId xmlns:p14="http://schemas.microsoft.com/office/powerpoint/2010/main" val="29920699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95679" y="-291582"/>
            <a:ext cx="788670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Match pair</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7</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1297409" y="1521373"/>
                <a:ext cx="6683240" cy="1189556"/>
              </a:xfrm>
              <a:prstGeom prst="rect">
                <a:avLst/>
              </a:prstGeom>
              <a:noFill/>
            </p:spPr>
            <p:txBody>
              <a:bodyPr wrap="none" rtlCol="0">
                <a:spAutoFit/>
              </a:bodyPr>
              <a:lstStyle/>
              <a:p>
                <a14:m>
                  <m:oMath xmlns:m="http://schemas.openxmlformats.org/officeDocument/2006/math">
                    <m:sSubSup>
                      <m:sSubSupPr>
                        <m:ctrlPr>
                          <a:rPr lang="en-US" altLang="zh-TW" sz="3200" i="1" smtClean="0">
                            <a:latin typeface="Cambria Math" panose="02040503050406030204" pitchFamily="18" charset="0"/>
                            <a:cs typeface="Times New Roman" panose="02020603050405020304" pitchFamily="18" charset="0"/>
                          </a:rPr>
                        </m:ctrlPr>
                      </m:sSubSupPr>
                      <m:e>
                        <m:r>
                          <a:rPr lang="en-US" altLang="zh-TW" sz="3200" i="1">
                            <a:latin typeface="Cambria Math" panose="02040503050406030204" pitchFamily="18" charset="0"/>
                            <a:cs typeface="Times New Roman" panose="02020603050405020304" pitchFamily="18" charset="0"/>
                          </a:rPr>
                          <m:t>𝑀</m:t>
                        </m:r>
                      </m:e>
                      <m:sub>
                        <m:r>
                          <a:rPr lang="en-US" altLang="zh-TW" sz="3200" b="0" i="1" smtClean="0">
                            <a:latin typeface="Cambria Math" panose="02040503050406030204" pitchFamily="18" charset="0"/>
                            <a:cs typeface="Times New Roman" panose="02020603050405020304" pitchFamily="18" charset="0"/>
                          </a:rPr>
                          <m:t>𝑖</m:t>
                        </m:r>
                      </m:sub>
                      <m:sup>
                        <m:r>
                          <a:rPr lang="en-US" altLang="zh-TW" sz="3200" b="0" i="1" smtClean="0">
                            <a:latin typeface="Cambria Math" panose="02040503050406030204" pitchFamily="18" charset="0"/>
                            <a:cs typeface="Times New Roman" panose="02020603050405020304" pitchFamily="18" charset="0"/>
                          </a:rPr>
                          <m:t>𝐴</m:t>
                        </m:r>
                      </m:sup>
                    </m:sSubSup>
                  </m:oMath>
                </a14:m>
                <a:r>
                  <a:rPr lang="en-US" altLang="zh-TW" sz="3200" dirty="0" smtClean="0">
                    <a:latin typeface="Times New Roman" panose="02020603050405020304" pitchFamily="18" charset="0"/>
                    <a:cs typeface="Times New Roman" panose="02020603050405020304" pitchFamily="18" charset="0"/>
                  </a:rPr>
                  <a:t>= {(</a:t>
                </a:r>
                <a:r>
                  <a:rPr lang="en-US" altLang="zh-TW" sz="3200" i="1" dirty="0" err="1" smtClean="0">
                    <a:latin typeface="Times New Roman" pitchFamily="18" charset="0"/>
                    <a:cs typeface="Times New Roman" pitchFamily="18" charset="0"/>
                  </a:rPr>
                  <a:t>i</a:t>
                </a:r>
                <a:r>
                  <a:rPr lang="en-US" altLang="zh-TW" sz="3200" dirty="0" smtClean="0">
                    <a:latin typeface="Times New Roman" panose="02020603050405020304" pitchFamily="18" charset="0"/>
                    <a:cs typeface="Times New Roman" panose="02020603050405020304" pitchFamily="18" charset="0"/>
                  </a:rPr>
                  <a:t>, </a:t>
                </a:r>
                <a:r>
                  <a:rPr lang="en-US" altLang="zh-TW" sz="3200" i="1" dirty="0" smtClean="0">
                    <a:latin typeface="Times New Roman" pitchFamily="18" charset="0"/>
                    <a:cs typeface="Times New Roman" pitchFamily="18" charset="0"/>
                  </a:rPr>
                  <a:t>k</a:t>
                </a:r>
                <a:r>
                  <a:rPr lang="en-US" altLang="zh-TW" sz="3200" dirty="0" smtClean="0">
                    <a:latin typeface="Times New Roman" panose="02020603050405020304" pitchFamily="18" charset="0"/>
                    <a:cs typeface="Times New Roman" panose="02020603050405020304" pitchFamily="18" charset="0"/>
                  </a:rPr>
                  <a:t>)|</a:t>
                </a:r>
                <a:r>
                  <a:rPr lang="en-US" altLang="zh-TW" sz="3200" i="1" dirty="0" err="1" smtClean="0">
                    <a:latin typeface="Times New Roman" pitchFamily="18" charset="0"/>
                    <a:cs typeface="Times New Roman" pitchFamily="18" charset="0"/>
                  </a:rPr>
                  <a:t>a</a:t>
                </a:r>
                <a:r>
                  <a:rPr lang="en-US" altLang="zh-TW" sz="3200" baseline="-25000" dirty="0" err="1" smtClean="0">
                    <a:latin typeface="Times New Roman" panose="02020603050405020304" pitchFamily="18" charset="0"/>
                    <a:cs typeface="Times New Roman" panose="02020603050405020304" pitchFamily="18" charset="0"/>
                  </a:rPr>
                  <a:t>i</a:t>
                </a:r>
                <a:r>
                  <a:rPr lang="en-US" altLang="zh-TW" sz="3200" dirty="0">
                    <a:latin typeface="Times New Roman" panose="02020603050405020304" pitchFamily="18" charset="0"/>
                    <a:cs typeface="Times New Roman" panose="02020603050405020304" pitchFamily="18" charset="0"/>
                  </a:rPr>
                  <a:t>=</a:t>
                </a:r>
                <a:r>
                  <a:rPr lang="en-US" altLang="zh-TW" sz="3200" i="1" dirty="0" err="1" smtClean="0">
                    <a:latin typeface="Times New Roman" pitchFamily="18" charset="0"/>
                    <a:cs typeface="Times New Roman" pitchFamily="18" charset="0"/>
                  </a:rPr>
                  <a:t>t</a:t>
                </a:r>
                <a:r>
                  <a:rPr lang="en-US" altLang="zh-TW" sz="3200" baseline="-25000" dirty="0" err="1" smtClean="0">
                    <a:latin typeface="Times New Roman" panose="02020603050405020304" pitchFamily="18" charset="0"/>
                    <a:cs typeface="Times New Roman" panose="02020603050405020304" pitchFamily="18" charset="0"/>
                  </a:rPr>
                  <a:t>k</a:t>
                </a:r>
                <a:r>
                  <a:rPr lang="en-US" altLang="zh-TW" sz="3200" dirty="0" smtClean="0">
                    <a:latin typeface="Times New Roman" panose="02020603050405020304" pitchFamily="18" charset="0"/>
                    <a:cs typeface="Times New Roman" panose="02020603050405020304" pitchFamily="18" charset="0"/>
                  </a:rPr>
                  <a:t>, 1</a:t>
                </a:r>
                <a:r>
                  <a:rPr lang="zh-TW" altLang="en-US" sz="3200" dirty="0" smtClean="0">
                    <a:latin typeface="Times New Roman" panose="02020603050405020304" pitchFamily="18" charset="0"/>
                    <a:cs typeface="Times New Roman" panose="02020603050405020304" pitchFamily="18" charset="0"/>
                  </a:rPr>
                  <a:t>≦</a:t>
                </a:r>
                <a:r>
                  <a:rPr lang="en-US" altLang="zh-TW" sz="3200" i="1" dirty="0" err="1" smtClean="0">
                    <a:latin typeface="Times New Roman" pitchFamily="18" charset="0"/>
                    <a:cs typeface="Times New Roman" pitchFamily="18" charset="0"/>
                  </a:rPr>
                  <a:t>i</a:t>
                </a:r>
                <a:r>
                  <a:rPr lang="zh-TW" altLang="en-US" sz="3200" dirty="0" smtClean="0">
                    <a:latin typeface="Times New Roman" panose="02020603050405020304" pitchFamily="18" charset="0"/>
                    <a:cs typeface="Times New Roman" panose="02020603050405020304" pitchFamily="18" charset="0"/>
                  </a:rPr>
                  <a:t>≦</a:t>
                </a:r>
                <a:r>
                  <a:rPr lang="en-US" altLang="zh-TW" sz="3200" dirty="0" smtClean="0">
                    <a:latin typeface="Times New Roman" panose="02020603050405020304" pitchFamily="18" charset="0"/>
                    <a:cs typeface="Times New Roman" panose="02020603050405020304" pitchFamily="18" charset="0"/>
                  </a:rPr>
                  <a:t>|</a:t>
                </a:r>
                <a:r>
                  <a:rPr lang="en-US" altLang="zh-TW" sz="3200" i="1" dirty="0" smtClean="0">
                    <a:latin typeface="Times New Roman" pitchFamily="18" charset="0"/>
                    <a:cs typeface="Times New Roman" pitchFamily="18" charset="0"/>
                  </a:rPr>
                  <a:t>A</a:t>
                </a:r>
                <a:r>
                  <a:rPr lang="en-US" altLang="zh-TW" sz="3200" dirty="0" smtClean="0">
                    <a:latin typeface="Times New Roman" panose="02020603050405020304" pitchFamily="18" charset="0"/>
                    <a:cs typeface="Times New Roman" panose="02020603050405020304" pitchFamily="18" charset="0"/>
                  </a:rPr>
                  <a:t>|, 1</a:t>
                </a:r>
                <a:r>
                  <a:rPr lang="zh-TW" altLang="en-US" sz="3200" dirty="0" smtClean="0">
                    <a:latin typeface="Times New Roman" panose="02020603050405020304" pitchFamily="18" charset="0"/>
                    <a:cs typeface="Times New Roman" panose="02020603050405020304" pitchFamily="18" charset="0"/>
                  </a:rPr>
                  <a:t>≦</a:t>
                </a:r>
                <a:r>
                  <a:rPr lang="en-US" altLang="zh-TW" sz="3200" i="1" dirty="0" smtClean="0">
                    <a:latin typeface="Times New Roman" pitchFamily="18" charset="0"/>
                    <a:cs typeface="Times New Roman" pitchFamily="18" charset="0"/>
                  </a:rPr>
                  <a:t>k</a:t>
                </a:r>
                <a:r>
                  <a:rPr lang="zh-TW" altLang="en-US" sz="3200" dirty="0" smtClean="0">
                    <a:latin typeface="Times New Roman" panose="02020603050405020304" pitchFamily="18" charset="0"/>
                    <a:cs typeface="Times New Roman" panose="02020603050405020304" pitchFamily="18" charset="0"/>
                  </a:rPr>
                  <a:t>≦</a:t>
                </a:r>
                <a:r>
                  <a:rPr lang="en-US" altLang="zh-TW" sz="3200" dirty="0" smtClean="0">
                    <a:latin typeface="Times New Roman" panose="02020603050405020304" pitchFamily="18" charset="0"/>
                    <a:cs typeface="Times New Roman" panose="02020603050405020304" pitchFamily="18" charset="0"/>
                  </a:rPr>
                  <a:t>|</a:t>
                </a:r>
                <a:r>
                  <a:rPr lang="en-US" altLang="zh-TW" sz="3200" i="1" dirty="0" smtClean="0">
                    <a:latin typeface="Times New Roman" pitchFamily="18" charset="0"/>
                    <a:cs typeface="Times New Roman" pitchFamily="18" charset="0"/>
                  </a:rPr>
                  <a:t>T</a:t>
                </a:r>
                <a:r>
                  <a:rPr lang="en-US" altLang="zh-TW" sz="3200" dirty="0" smtClean="0">
                    <a:latin typeface="Times New Roman" panose="02020603050405020304" pitchFamily="18" charset="0"/>
                    <a:cs typeface="Times New Roman" panose="02020603050405020304" pitchFamily="18" charset="0"/>
                  </a:rPr>
                  <a:t>|}</a:t>
                </a:r>
              </a:p>
              <a:p>
                <a14:m>
                  <m:oMath xmlns:m="http://schemas.openxmlformats.org/officeDocument/2006/math">
                    <m:sSubSup>
                      <m:sSubSupPr>
                        <m:ctrlPr>
                          <a:rPr lang="en-US" altLang="zh-TW" sz="3200" i="1">
                            <a:latin typeface="Cambria Math" panose="02040503050406030204" pitchFamily="18" charset="0"/>
                            <a:cs typeface="Times New Roman" panose="02020603050405020304" pitchFamily="18" charset="0"/>
                          </a:rPr>
                        </m:ctrlPr>
                      </m:sSubSupPr>
                      <m:e>
                        <m:r>
                          <a:rPr lang="en-US" altLang="zh-TW" sz="3200" i="1">
                            <a:latin typeface="Cambria Math" panose="02040503050406030204" pitchFamily="18" charset="0"/>
                            <a:cs typeface="Times New Roman" panose="02020603050405020304" pitchFamily="18" charset="0"/>
                          </a:rPr>
                          <m:t>𝑀</m:t>
                        </m:r>
                      </m:e>
                      <m:sub>
                        <m:r>
                          <a:rPr lang="en-US" altLang="zh-TW" sz="3200" i="1">
                            <a:latin typeface="Cambria Math" panose="02040503050406030204" pitchFamily="18" charset="0"/>
                            <a:cs typeface="Times New Roman" panose="02020603050405020304" pitchFamily="18" charset="0"/>
                          </a:rPr>
                          <m:t>𝑗</m:t>
                        </m:r>
                      </m:sub>
                      <m:sup>
                        <m:r>
                          <a:rPr lang="en-US" altLang="zh-TW" sz="3200" i="1">
                            <a:latin typeface="Cambria Math" panose="02040503050406030204" pitchFamily="18" charset="0"/>
                            <a:cs typeface="Times New Roman" panose="02020603050405020304" pitchFamily="18" charset="0"/>
                          </a:rPr>
                          <m:t>𝐵</m:t>
                        </m:r>
                      </m:sup>
                    </m:sSubSup>
                  </m:oMath>
                </a14:m>
                <a:r>
                  <a:rPr lang="en-US" altLang="zh-TW" sz="3200" dirty="0">
                    <a:latin typeface="Times New Roman" panose="02020603050405020304" pitchFamily="18" charset="0"/>
                    <a:cs typeface="Times New Roman" panose="02020603050405020304" pitchFamily="18" charset="0"/>
                  </a:rPr>
                  <a:t>= {(</a:t>
                </a:r>
                <a:r>
                  <a:rPr lang="en-US" altLang="zh-TW" sz="3200" i="1" dirty="0">
                    <a:latin typeface="Times New Roman" pitchFamily="18" charset="0"/>
                    <a:cs typeface="Times New Roman" pitchFamily="18" charset="0"/>
                  </a:rPr>
                  <a:t>j</a:t>
                </a:r>
                <a:r>
                  <a:rPr lang="en-US" altLang="zh-TW" sz="3200" dirty="0">
                    <a:latin typeface="Times New Roman" panose="02020603050405020304" pitchFamily="18" charset="0"/>
                    <a:cs typeface="Times New Roman" panose="02020603050405020304" pitchFamily="18" charset="0"/>
                  </a:rPr>
                  <a:t>, </a:t>
                </a:r>
                <a:r>
                  <a:rPr lang="en-US" altLang="zh-TW" sz="3200" i="1" dirty="0">
                    <a:latin typeface="Times New Roman" pitchFamily="18" charset="0"/>
                    <a:cs typeface="Times New Roman" pitchFamily="18" charset="0"/>
                  </a:rPr>
                  <a:t>k</a:t>
                </a:r>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b</a:t>
                </a:r>
                <a:r>
                  <a:rPr lang="en-US" altLang="zh-TW" sz="3200" baseline="-25000" dirty="0" err="1">
                    <a:latin typeface="Times New Roman" panose="02020603050405020304" pitchFamily="18" charset="0"/>
                    <a:cs typeface="Times New Roman" panose="02020603050405020304" pitchFamily="18" charset="0"/>
                  </a:rPr>
                  <a:t>j</a:t>
                </a:r>
                <a:r>
                  <a:rPr lang="en-US" altLang="zh-TW" sz="3200" dirty="0">
                    <a:latin typeface="Times New Roman" panose="02020603050405020304" pitchFamily="18" charset="0"/>
                    <a:cs typeface="Times New Roman" panose="02020603050405020304" pitchFamily="18" charset="0"/>
                  </a:rPr>
                  <a:t>=</a:t>
                </a:r>
                <a:r>
                  <a:rPr lang="en-US" altLang="zh-TW" sz="3200" i="1" dirty="0" err="1">
                    <a:latin typeface="Times New Roman" pitchFamily="18" charset="0"/>
                    <a:cs typeface="Times New Roman" pitchFamily="18" charset="0"/>
                  </a:rPr>
                  <a:t>t</a:t>
                </a:r>
                <a:r>
                  <a:rPr lang="en-US" altLang="zh-TW" sz="3200" baseline="-25000" dirty="0" err="1">
                    <a:latin typeface="Times New Roman" panose="02020603050405020304" pitchFamily="18" charset="0"/>
                    <a:cs typeface="Times New Roman" panose="02020603050405020304" pitchFamily="18" charset="0"/>
                  </a:rPr>
                  <a:t>k</a:t>
                </a:r>
                <a:r>
                  <a:rPr lang="en-US" altLang="zh-TW" sz="3200" dirty="0">
                    <a:latin typeface="Times New Roman" panose="02020603050405020304" pitchFamily="18" charset="0"/>
                    <a:cs typeface="Times New Roman" panose="02020603050405020304" pitchFamily="18" charset="0"/>
                  </a:rPr>
                  <a:t>, 1</a:t>
                </a:r>
                <a:r>
                  <a:rPr lang="zh-TW" altLang="en-US"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j</a:t>
                </a:r>
                <a:r>
                  <a:rPr lang="zh-TW" altLang="en-US" sz="3200" dirty="0">
                    <a:latin typeface="Times New Roman" panose="02020603050405020304" pitchFamily="18" charset="0"/>
                    <a:cs typeface="Times New Roman" panose="02020603050405020304" pitchFamily="18" charset="0"/>
                  </a:rPr>
                  <a:t>≦</a:t>
                </a:r>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B</a:t>
                </a:r>
                <a:r>
                  <a:rPr lang="en-US" altLang="zh-TW" sz="3200" dirty="0">
                    <a:latin typeface="Times New Roman" panose="02020603050405020304" pitchFamily="18" charset="0"/>
                    <a:cs typeface="Times New Roman" panose="02020603050405020304" pitchFamily="18" charset="0"/>
                  </a:rPr>
                  <a:t>|, 1</a:t>
                </a:r>
                <a:r>
                  <a:rPr lang="zh-TW" altLang="en-US"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k</a:t>
                </a:r>
                <a:r>
                  <a:rPr lang="zh-TW" altLang="en-US" sz="3200" dirty="0">
                    <a:latin typeface="Times New Roman" panose="02020603050405020304" pitchFamily="18" charset="0"/>
                    <a:cs typeface="Times New Roman" panose="02020603050405020304" pitchFamily="18" charset="0"/>
                  </a:rPr>
                  <a:t>≦</a:t>
                </a:r>
                <a:r>
                  <a:rPr lang="en-US" altLang="zh-TW" sz="3200" dirty="0">
                    <a:latin typeface="Times New Roman" panose="02020603050405020304" pitchFamily="18" charset="0"/>
                    <a:cs typeface="Times New Roman" panose="02020603050405020304" pitchFamily="18" charset="0"/>
                  </a:rPr>
                  <a:t>|</a:t>
                </a:r>
                <a:r>
                  <a:rPr lang="en-US" altLang="zh-TW" sz="3200" i="1" dirty="0">
                    <a:latin typeface="Times New Roman" pitchFamily="18" charset="0"/>
                    <a:cs typeface="Times New Roman" pitchFamily="18" charset="0"/>
                  </a:rPr>
                  <a:t>T</a:t>
                </a:r>
                <a:r>
                  <a:rPr lang="en-US" altLang="zh-TW" sz="3200" dirty="0" smtClean="0">
                    <a:latin typeface="Times New Roman" panose="02020603050405020304" pitchFamily="18" charset="0"/>
                    <a:cs typeface="Times New Roman" panose="02020603050405020304" pitchFamily="18" charset="0"/>
                  </a:rPr>
                  <a:t>|}</a:t>
                </a:r>
                <a:endParaRPr lang="zh-TW" altLang="en-US" sz="3200" dirty="0">
                  <a:latin typeface="Times New Roman" panose="02020603050405020304" pitchFamily="18" charset="0"/>
                  <a:cs typeface="Times New Roman" panose="02020603050405020304" pitchFamily="18" charset="0"/>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1297409" y="1521373"/>
                <a:ext cx="6683240" cy="1189556"/>
              </a:xfrm>
              <a:prstGeom prst="rect">
                <a:avLst/>
              </a:prstGeom>
              <a:blipFill rotWithShape="0">
                <a:blip r:embed="rId3"/>
                <a:stretch>
                  <a:fillRect t="-5128" r="-1277" b="-10769"/>
                </a:stretch>
              </a:blipFill>
            </p:spPr>
            <p:txBody>
              <a:bodyPr/>
              <a:lstStyle/>
              <a:p>
                <a:r>
                  <a:rPr lang="zh-TW" altLang="en-US">
                    <a:noFill/>
                  </a:rPr>
                  <a:t> </a:t>
                </a:r>
              </a:p>
            </p:txBody>
          </p:sp>
        </mc:Fallback>
      </mc:AlternateContent>
      <p:pic>
        <p:nvPicPr>
          <p:cNvPr id="4100" name="Picture 4"/>
          <p:cNvPicPr>
            <a:picLocks noChangeAspect="1" noChangeArrowheads="1"/>
          </p:cNvPicPr>
          <p:nvPr/>
        </p:nvPicPr>
        <p:blipFill>
          <a:blip r:embed="rId4"/>
          <a:srcRect/>
          <a:stretch>
            <a:fillRect/>
          </a:stretch>
        </p:blipFill>
        <p:spPr bwMode="auto">
          <a:xfrm>
            <a:off x="0" y="2852752"/>
            <a:ext cx="4143403" cy="3290892"/>
          </a:xfrm>
          <a:prstGeom prst="rect">
            <a:avLst/>
          </a:prstGeom>
          <a:noFill/>
          <a:ln w="9525">
            <a:noFill/>
            <a:miter lim="800000"/>
            <a:headEnd/>
            <a:tailEnd/>
          </a:ln>
          <a:effectLst/>
        </p:spPr>
      </p:pic>
      <p:pic>
        <p:nvPicPr>
          <p:cNvPr id="4102" name="Picture 6"/>
          <p:cNvPicPr>
            <a:picLocks noChangeAspect="1" noChangeArrowheads="1"/>
          </p:cNvPicPr>
          <p:nvPr/>
        </p:nvPicPr>
        <p:blipFill>
          <a:blip r:embed="rId5"/>
          <a:srcRect/>
          <a:stretch>
            <a:fillRect/>
          </a:stretch>
        </p:blipFill>
        <p:spPr bwMode="auto">
          <a:xfrm>
            <a:off x="4781905" y="2857478"/>
            <a:ext cx="4286280" cy="3214710"/>
          </a:xfrm>
          <a:prstGeom prst="rect">
            <a:avLst/>
          </a:prstGeom>
          <a:noFill/>
          <a:ln w="9525">
            <a:noFill/>
            <a:miter lim="800000"/>
            <a:headEnd/>
            <a:tailEnd/>
          </a:ln>
          <a:effectLst/>
        </p:spPr>
      </p:pic>
      <p:sp>
        <p:nvSpPr>
          <p:cNvPr id="13" name="文字方塊 12"/>
          <p:cNvSpPr txBox="1"/>
          <p:nvPr/>
        </p:nvSpPr>
        <p:spPr>
          <a:xfrm>
            <a:off x="4984367" y="4797430"/>
            <a:ext cx="372218" cy="461665"/>
          </a:xfrm>
          <a:prstGeom prst="rect">
            <a:avLst/>
          </a:prstGeom>
          <a:noFill/>
        </p:spPr>
        <p:txBody>
          <a:bodyPr wrap="none" rtlCol="0">
            <a:spAutoFit/>
          </a:bodyPr>
          <a:lstStyle/>
          <a:p>
            <a:r>
              <a:rPr lang="en-US" altLang="zh-TW" sz="2400" i="1" dirty="0" smtClean="0">
                <a:latin typeface="Times New Roman" pitchFamily="18" charset="0"/>
                <a:cs typeface="Times New Roman" pitchFamily="18" charset="0"/>
              </a:rPr>
              <a:t>B</a:t>
            </a:r>
            <a:endParaRPr lang="zh-TW" altLang="en-US" sz="2400" i="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5" name="文字方塊 14"/>
              <p:cNvSpPr txBox="1"/>
              <p:nvPr/>
            </p:nvSpPr>
            <p:spPr>
              <a:xfrm>
                <a:off x="-39999" y="6282497"/>
                <a:ext cx="4223400" cy="483722"/>
              </a:xfrm>
              <a:prstGeom prst="rect">
                <a:avLst/>
              </a:prstGeom>
              <a:noFill/>
            </p:spPr>
            <p:txBody>
              <a:bodyPr wrap="none" rtlCol="0">
                <a:spAutoFit/>
              </a:bodyPr>
              <a:lstStyle/>
              <a:p>
                <a14:m>
                  <m:oMath xmlns:m="http://schemas.openxmlformats.org/officeDocument/2006/math">
                    <m:sSubSup>
                      <m:sSubSupPr>
                        <m:ctrlPr>
                          <a:rPr lang="en-US" altLang="zh-TW" sz="2400" i="1">
                            <a:latin typeface="Cambria Math" panose="02040503050406030204" pitchFamily="18" charset="0"/>
                            <a:cs typeface="Times New Roman" panose="02020603050405020304" pitchFamily="18" charset="0"/>
                          </a:rPr>
                        </m:ctrlPr>
                      </m:sSubSupPr>
                      <m:e>
                        <m:r>
                          <a:rPr lang="en-US" altLang="zh-TW" sz="2400" i="1">
                            <a:latin typeface="Cambria Math" panose="02040503050406030204" pitchFamily="18" charset="0"/>
                            <a:cs typeface="Times New Roman" panose="02020603050405020304" pitchFamily="18" charset="0"/>
                          </a:rPr>
                          <m:t>𝑀</m:t>
                        </m:r>
                      </m:e>
                      <m:sub>
                        <m:r>
                          <a:rPr lang="en-US" altLang="zh-TW" sz="2400" i="1">
                            <a:latin typeface="Cambria Math" panose="02040503050406030204" pitchFamily="18" charset="0"/>
                            <a:cs typeface="Times New Roman" panose="02020603050405020304" pitchFamily="18" charset="0"/>
                          </a:rPr>
                          <m:t>𝑖</m:t>
                        </m:r>
                      </m:sub>
                      <m:sup>
                        <m:r>
                          <a:rPr lang="en-US" altLang="zh-TW" sz="2400" i="1">
                            <a:latin typeface="Cambria Math" panose="02040503050406030204" pitchFamily="18" charset="0"/>
                            <a:cs typeface="Times New Roman" panose="02020603050405020304" pitchFamily="18" charset="0"/>
                          </a:rPr>
                          <m:t>𝐴</m:t>
                        </m:r>
                      </m:sup>
                    </m:sSubSup>
                  </m:oMath>
                </a14:m>
                <a:r>
                  <a:rPr lang="en-US" altLang="zh-TW" sz="2400" dirty="0" smtClean="0">
                    <a:latin typeface="Times New Roman" panose="02020603050405020304" pitchFamily="18" charset="0"/>
                    <a:cs typeface="Times New Roman" panose="02020603050405020304" pitchFamily="18" charset="0"/>
                  </a:rPr>
                  <a:t>={(1, 3), (2, 2), (3, 1), (3, 4)}</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5" name="文字方塊 14"/>
              <p:cNvSpPr txBox="1">
                <a:spLocks noRot="1" noChangeAspect="1" noMove="1" noResize="1" noEditPoints="1" noAdjustHandles="1" noChangeArrowheads="1" noChangeShapeType="1" noTextEdit="1"/>
              </p:cNvSpPr>
              <p:nvPr/>
            </p:nvSpPr>
            <p:spPr>
              <a:xfrm>
                <a:off x="-39999" y="6282497"/>
                <a:ext cx="4223400" cy="483722"/>
              </a:xfrm>
              <a:prstGeom prst="rect">
                <a:avLst/>
              </a:prstGeom>
              <a:blipFill rotWithShape="0">
                <a:blip r:embed="rId6"/>
                <a:stretch>
                  <a:fillRect t="-6329" r="-1443" b="-278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4984367" y="6282497"/>
                <a:ext cx="4221669" cy="523670"/>
              </a:xfrm>
              <a:prstGeom prst="rect">
                <a:avLst/>
              </a:prstGeom>
              <a:noFill/>
            </p:spPr>
            <p:txBody>
              <a:bodyPr wrap="none" rtlCol="0">
                <a:spAutoFit/>
              </a:bodyPr>
              <a:lstStyle/>
              <a:p>
                <a14:m>
                  <m:oMath xmlns:m="http://schemas.openxmlformats.org/officeDocument/2006/math">
                    <m:sSubSup>
                      <m:sSubSupPr>
                        <m:ctrlPr>
                          <a:rPr lang="en-US" altLang="zh-TW" sz="2400" i="1">
                            <a:latin typeface="Cambria Math" panose="02040503050406030204" pitchFamily="18" charset="0"/>
                            <a:cs typeface="Times New Roman" panose="02020603050405020304" pitchFamily="18" charset="0"/>
                          </a:rPr>
                        </m:ctrlPr>
                      </m:sSubSupPr>
                      <m:e>
                        <m:r>
                          <a:rPr lang="en-US" altLang="zh-TW" sz="2400" i="1">
                            <a:latin typeface="Cambria Math" panose="02040503050406030204" pitchFamily="18" charset="0"/>
                            <a:cs typeface="Times New Roman" panose="02020603050405020304" pitchFamily="18" charset="0"/>
                          </a:rPr>
                          <m:t>𝑀</m:t>
                        </m:r>
                      </m:e>
                      <m:sub>
                        <m:r>
                          <a:rPr lang="en-US" altLang="zh-TW" sz="2400" i="1">
                            <a:latin typeface="Cambria Math" panose="02040503050406030204" pitchFamily="18" charset="0"/>
                            <a:cs typeface="Times New Roman" panose="02020603050405020304" pitchFamily="18" charset="0"/>
                          </a:rPr>
                          <m:t>𝑗</m:t>
                        </m:r>
                      </m:sub>
                      <m:sup>
                        <m:r>
                          <a:rPr lang="en-US" altLang="zh-TW" sz="2400" i="1">
                            <a:latin typeface="Cambria Math" panose="02040503050406030204" pitchFamily="18" charset="0"/>
                            <a:cs typeface="Times New Roman" panose="02020603050405020304" pitchFamily="18" charset="0"/>
                          </a:rPr>
                          <m:t>𝐵</m:t>
                        </m:r>
                      </m:sup>
                    </m:sSubSup>
                  </m:oMath>
                </a14:m>
                <a:r>
                  <a:rPr lang="en-US" altLang="zh-TW" sz="2400" dirty="0" smtClean="0">
                    <a:latin typeface="Times New Roman" panose="02020603050405020304" pitchFamily="18" charset="0"/>
                    <a:cs typeface="Times New Roman" panose="02020603050405020304" pitchFamily="18" charset="0"/>
                  </a:rPr>
                  <a:t>={(1, 2), (2, 1), (2, 4), (3, 5)}</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7" name="文字方塊 16"/>
              <p:cNvSpPr txBox="1">
                <a:spLocks noRot="1" noChangeAspect="1" noMove="1" noResize="1" noEditPoints="1" noAdjustHandles="1" noChangeArrowheads="1" noChangeShapeType="1" noTextEdit="1"/>
              </p:cNvSpPr>
              <p:nvPr/>
            </p:nvSpPr>
            <p:spPr>
              <a:xfrm>
                <a:off x="4984367" y="6282497"/>
                <a:ext cx="4221669" cy="523670"/>
              </a:xfrm>
              <a:prstGeom prst="rect">
                <a:avLst/>
              </a:prstGeom>
              <a:blipFill rotWithShape="0">
                <a:blip r:embed="rId7"/>
                <a:stretch>
                  <a:fillRect t="-5882" r="-1301" b="-18824"/>
                </a:stretch>
              </a:blipFill>
            </p:spPr>
            <p:txBody>
              <a:bodyPr/>
              <a:lstStyle/>
              <a:p>
                <a:r>
                  <a:rPr lang="zh-TW" altLang="en-US">
                    <a:noFill/>
                  </a:rPr>
                  <a:t> </a:t>
                </a:r>
              </a:p>
            </p:txBody>
          </p:sp>
        </mc:Fallback>
      </mc:AlternateContent>
      <p:sp>
        <p:nvSpPr>
          <p:cNvPr id="3" name="文字方塊 2"/>
          <p:cNvSpPr txBox="1"/>
          <p:nvPr/>
        </p:nvSpPr>
        <p:spPr>
          <a:xfrm>
            <a:off x="2103952" y="968144"/>
            <a:ext cx="5000659" cy="461665"/>
          </a:xfrm>
          <a:prstGeom prst="rect">
            <a:avLst/>
          </a:prstGeom>
          <a:noFill/>
        </p:spPr>
        <p:txBody>
          <a:bodyPr wrap="square" rtlCol="0">
            <a:spAutoFit/>
          </a:bodyPr>
          <a:lstStyle/>
          <a:p>
            <a:pPr algn="ct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en-US" altLang="zh-TW" sz="2400" i="1" dirty="0">
                <a:latin typeface="Times New Roman" pitchFamily="18" charset="0"/>
                <a:cs typeface="Times New Roman" pitchFamily="18" charset="0"/>
              </a:rPr>
              <a:t>A</a:t>
            </a:r>
            <a:r>
              <a:rPr lang="en-US" altLang="zh-TW" sz="2400" dirty="0" smtClean="0">
                <a:latin typeface="Times New Roman" panose="02020603050405020304" pitchFamily="18" charset="0"/>
                <a:cs typeface="Times New Roman" panose="02020603050405020304" pitchFamily="18" charset="0"/>
              </a:rPr>
              <a:t>| = m , |</a:t>
            </a:r>
            <a:r>
              <a:rPr lang="en-US" altLang="zh-TW" sz="2400" i="1" dirty="0" smtClean="0">
                <a:latin typeface="Times New Roman" pitchFamily="18" charset="0"/>
                <a:cs typeface="Times New Roman" pitchFamily="18" charset="0"/>
              </a:rPr>
              <a:t>B</a:t>
            </a:r>
            <a:r>
              <a:rPr lang="en-US" altLang="zh-TW" sz="2400" dirty="0" smtClean="0">
                <a:latin typeface="Times New Roman" panose="02020603050405020304" pitchFamily="18" charset="0"/>
                <a:cs typeface="Times New Roman" panose="02020603050405020304" pitchFamily="18" charset="0"/>
              </a:rPr>
              <a:t>| = r , |</a:t>
            </a:r>
            <a:r>
              <a:rPr lang="en-US" altLang="zh-TW" sz="2400" i="1" dirty="0" smtClean="0">
                <a:latin typeface="Times New Roman" pitchFamily="18" charset="0"/>
                <a:cs typeface="Times New Roman" pitchFamily="18" charset="0"/>
              </a:rPr>
              <a:t>T</a:t>
            </a:r>
            <a:r>
              <a:rPr lang="en-US" altLang="zh-TW" sz="2400" dirty="0" smtClean="0">
                <a:latin typeface="Times New Roman" panose="02020603050405020304" pitchFamily="18" charset="0"/>
                <a:cs typeface="Times New Roman" panose="02020603050405020304" pitchFamily="18" charset="0"/>
              </a:rPr>
              <a:t>| = n</a:t>
            </a:r>
            <a:endParaRPr lang="zh-TW" altLang="en-US" sz="2400" dirty="0"/>
          </a:p>
        </p:txBody>
      </p:sp>
    </p:spTree>
    <p:extLst>
      <p:ext uri="{BB962C8B-B14F-4D97-AF65-F5344CB8AC3E}">
        <p14:creationId xmlns:p14="http://schemas.microsoft.com/office/powerpoint/2010/main" val="30171135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1449" y="78979"/>
            <a:ext cx="8515350" cy="1325563"/>
          </a:xfrm>
        </p:spPr>
        <p:txBody>
          <a:bodyPr/>
          <a:lstStyle/>
          <a:p>
            <a:r>
              <a:rPr lang="en-US" altLang="zh-TW" dirty="0" smtClean="0">
                <a:latin typeface="Times New Roman" panose="02020603050405020304" pitchFamily="18" charset="0"/>
                <a:cs typeface="Times New Roman" panose="02020603050405020304" pitchFamily="18" charset="0"/>
              </a:rPr>
              <a:t>Algorithm for Merged LCS Problem</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8</a:t>
            </a:fld>
            <a:endParaRPr lang="zh-TW" altLang="en-US">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srcRect/>
          <a:stretch>
            <a:fillRect/>
          </a:stretch>
        </p:blipFill>
        <p:spPr bwMode="auto">
          <a:xfrm>
            <a:off x="4429124" y="1027907"/>
            <a:ext cx="4714876" cy="5143536"/>
          </a:xfrm>
          <a:prstGeom prst="rect">
            <a:avLst/>
          </a:prstGeom>
          <a:noFill/>
          <a:ln w="9525">
            <a:noFill/>
            <a:miter lim="800000"/>
            <a:headEnd/>
            <a:tailEnd/>
          </a:ln>
          <a:effectLst/>
        </p:spPr>
      </p:pic>
      <p:pic>
        <p:nvPicPr>
          <p:cNvPr id="3" name="圖片 2"/>
          <p:cNvPicPr>
            <a:picLocks noChangeAspect="1"/>
          </p:cNvPicPr>
          <p:nvPr/>
        </p:nvPicPr>
        <p:blipFill>
          <a:blip r:embed="rId3"/>
          <a:stretch>
            <a:fillRect/>
          </a:stretch>
        </p:blipFill>
        <p:spPr>
          <a:xfrm>
            <a:off x="-48094" y="2528889"/>
            <a:ext cx="4477218" cy="2576512"/>
          </a:xfrm>
          <a:prstGeom prst="rect">
            <a:avLst/>
          </a:prstGeom>
        </p:spPr>
      </p:pic>
      <p:sp>
        <p:nvSpPr>
          <p:cNvPr id="6" name="向下箭號 5"/>
          <p:cNvSpPr/>
          <p:nvPr/>
        </p:nvSpPr>
        <p:spPr>
          <a:xfrm rot="16200000">
            <a:off x="4064000" y="3251200"/>
            <a:ext cx="463550" cy="5143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595355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3"/>
          <a:stretch>
            <a:fillRect/>
          </a:stretch>
        </p:blipFill>
        <p:spPr>
          <a:xfrm>
            <a:off x="171449" y="1419225"/>
            <a:ext cx="6934200" cy="5438775"/>
          </a:xfrm>
          <a:prstGeom prst="rect">
            <a:avLst/>
          </a:prstGeom>
        </p:spPr>
      </p:pic>
      <p:sp>
        <p:nvSpPr>
          <p:cNvPr id="2" name="標題 1"/>
          <p:cNvSpPr>
            <a:spLocks noGrp="1"/>
          </p:cNvSpPr>
          <p:nvPr>
            <p:ph type="title"/>
          </p:nvPr>
        </p:nvSpPr>
        <p:spPr>
          <a:xfrm>
            <a:off x="171449" y="78979"/>
            <a:ext cx="8515350" cy="1325563"/>
          </a:xfrm>
        </p:spPr>
        <p:txBody>
          <a:bodyPr/>
          <a:lstStyle/>
          <a:p>
            <a:r>
              <a:rPr lang="en-US" altLang="zh-TW" dirty="0" smtClean="0">
                <a:latin typeface="Times New Roman" panose="02020603050405020304" pitchFamily="18" charset="0"/>
                <a:cs typeface="Times New Roman" panose="02020603050405020304" pitchFamily="18" charset="0"/>
              </a:rPr>
              <a:t>Algorithm for Merged LCS Problem</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9</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字方塊 6"/>
              <p:cNvSpPr txBox="1"/>
              <p:nvPr/>
            </p:nvSpPr>
            <p:spPr>
              <a:xfrm>
                <a:off x="5740400" y="1192540"/>
                <a:ext cx="2508250" cy="1815882"/>
              </a:xfrm>
              <a:prstGeom prst="rect">
                <a:avLst/>
              </a:prstGeom>
              <a:noFill/>
            </p:spPr>
            <p:txBody>
              <a:bodyPr wrap="square" rtlCol="0">
                <a:spAutoFit/>
              </a:bodyPr>
              <a:lstStyle/>
              <a:p>
                <a:r>
                  <a:rPr lang="pt-BR" altLang="zh-TW" sz="2800" i="1" dirty="0" smtClean="0"/>
                  <a:t>L(i</a:t>
                </a:r>
                <a:r>
                  <a:rPr lang="pt-BR" altLang="zh-TW" sz="2800" i="1" dirty="0"/>
                  <a:t>, j, k) = </a:t>
                </a:r>
                <a14:m>
                  <m:oMath xmlns:m="http://schemas.openxmlformats.org/officeDocument/2006/math">
                    <m:sSub>
                      <m:sSubPr>
                        <m:ctrlPr>
                          <a:rPr lang="pt-BR" altLang="zh-TW" sz="2800" i="1" smtClean="0">
                            <a:latin typeface="Cambria Math" panose="02040503050406030204" pitchFamily="18" charset="0"/>
                          </a:rPr>
                        </m:ctrlPr>
                      </m:sSubPr>
                      <m:e>
                        <m:r>
                          <a:rPr lang="en-US" altLang="zh-TW" sz="2800" b="0" i="1" smtClean="0">
                            <a:latin typeface="Cambria Math" panose="02040503050406030204" pitchFamily="18" charset="0"/>
                          </a:rPr>
                          <m:t>𝐿</m:t>
                        </m:r>
                      </m:e>
                      <m:sub>
                        <m:r>
                          <a:rPr lang="en-US" altLang="zh-TW" sz="2800" b="0" i="1" smtClean="0">
                            <a:latin typeface="Cambria Math" panose="02040503050406030204" pitchFamily="18" charset="0"/>
                          </a:rPr>
                          <m:t>𝑘</m:t>
                        </m:r>
                      </m:sub>
                    </m:sSub>
                  </m:oMath>
                </a14:m>
                <a:r>
                  <a:rPr lang="pt-BR" altLang="zh-TW" sz="2800" i="1" dirty="0" smtClean="0"/>
                  <a:t>(i</a:t>
                </a:r>
                <a:r>
                  <a:rPr lang="pt-BR" altLang="zh-TW" sz="2800" i="1" dirty="0"/>
                  <a:t>, j</a:t>
                </a:r>
                <a:r>
                  <a:rPr lang="pt-BR" altLang="zh-TW" sz="2800" i="1" dirty="0" smtClean="0"/>
                  <a:t>) </a:t>
                </a:r>
              </a:p>
              <a:p>
                <a:r>
                  <a:rPr lang="pt-BR" altLang="zh-TW" sz="2800" i="1" dirty="0" smtClean="0"/>
                  <a:t>0 </a:t>
                </a:r>
                <a:r>
                  <a:rPr lang="pt-BR" altLang="zh-TW" sz="2800" i="1" dirty="0"/>
                  <a:t>≤ i </a:t>
                </a:r>
                <a:r>
                  <a:rPr lang="pt-BR" altLang="zh-TW" sz="2800" i="1" dirty="0" smtClean="0"/>
                  <a:t>≤m,</a:t>
                </a:r>
              </a:p>
              <a:p>
                <a:r>
                  <a:rPr lang="pt-BR" altLang="zh-TW" sz="2800" i="1" dirty="0" smtClean="0"/>
                  <a:t>0 </a:t>
                </a:r>
                <a:r>
                  <a:rPr lang="pt-BR" altLang="zh-TW" sz="2800" i="1" dirty="0"/>
                  <a:t>≤ j ≤ r, </a:t>
                </a:r>
                <a:endParaRPr lang="pt-BR" altLang="zh-TW" sz="2800" i="1" dirty="0" smtClean="0"/>
              </a:p>
              <a:p>
                <a:r>
                  <a:rPr lang="pt-BR" altLang="zh-TW" sz="2800" i="1" dirty="0" smtClean="0"/>
                  <a:t>1 </a:t>
                </a:r>
                <a:r>
                  <a:rPr lang="pt-BR" altLang="zh-TW" sz="2800" i="1" dirty="0"/>
                  <a:t>≤ k ≤ n</a:t>
                </a:r>
                <a:endParaRPr lang="zh-TW" altLang="en-US" sz="2800" i="1"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740400" y="1192540"/>
                <a:ext cx="2508250" cy="1815882"/>
              </a:xfrm>
              <a:prstGeom prst="rect">
                <a:avLst/>
              </a:prstGeom>
              <a:blipFill rotWithShape="0">
                <a:blip r:embed="rId4"/>
                <a:stretch>
                  <a:fillRect l="-5109" t="-3356" r="-6813" b="-872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051944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lstStyle/>
          <a:p>
            <a:r>
              <a:rPr lang="en-US" altLang="zh-TW" dirty="0" smtClean="0">
                <a:latin typeface="Times New Roman" panose="02020603050405020304" pitchFamily="18" charset="0"/>
                <a:cs typeface="Times New Roman" panose="02020603050405020304" pitchFamily="18" charset="0"/>
              </a:rPr>
              <a:t>Bounded Heap data structure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69900" y="1558924"/>
            <a:ext cx="8489950" cy="4895851"/>
          </a:xfrm>
        </p:spPr>
        <p:txBody>
          <a:bodyPr>
            <a:normAutofit fontScale="92500" lnSpcReduction="10000"/>
          </a:bodyPr>
          <a:lstStyle/>
          <a:p>
            <a:pPr>
              <a:buNone/>
            </a:pPr>
            <a:r>
              <a:rPr lang="en-US" altLang="zh-TW" dirty="0" smtClean="0">
                <a:latin typeface="Times New Roman" panose="02020603050405020304" pitchFamily="18" charset="0"/>
                <a:cs typeface="Times New Roman" panose="02020603050405020304" pitchFamily="18" charset="0"/>
              </a:rPr>
              <a:t>Insert(H, pos, </a:t>
            </a:r>
            <a:r>
              <a:rPr lang="en-US" altLang="zh-TW" dirty="0" err="1" smtClean="0">
                <a:latin typeface="Times New Roman" panose="02020603050405020304" pitchFamily="18" charset="0"/>
                <a:cs typeface="Times New Roman" panose="02020603050405020304" pitchFamily="18" charset="0"/>
              </a:rPr>
              <a:t>val</a:t>
            </a:r>
            <a:r>
              <a:rPr lang="en-US" altLang="zh-TW" dirty="0" smtClean="0">
                <a:latin typeface="Times New Roman" panose="02020603050405020304" pitchFamily="18" charset="0"/>
                <a:cs typeface="Times New Roman" panose="02020603050405020304" pitchFamily="18" charset="0"/>
              </a:rPr>
              <a:t>, data)</a:t>
            </a:r>
          </a:p>
          <a:p>
            <a:pPr>
              <a:buNone/>
            </a:pPr>
            <a:r>
              <a:rPr lang="en-US" altLang="zh-TW" dirty="0" err="1" smtClean="0">
                <a:latin typeface="Times New Roman" panose="02020603050405020304" pitchFamily="18" charset="0"/>
                <a:cs typeface="Times New Roman" panose="02020603050405020304" pitchFamily="18" charset="0"/>
              </a:rPr>
              <a:t>IncVal</a:t>
            </a:r>
            <a:r>
              <a:rPr lang="en-US" altLang="zh-TW" dirty="0" smtClean="0">
                <a:latin typeface="Times New Roman" panose="02020603050405020304" pitchFamily="18" charset="0"/>
                <a:cs typeface="Times New Roman" panose="02020603050405020304" pitchFamily="18" charset="0"/>
              </a:rPr>
              <a:t>(H, pos, </a:t>
            </a:r>
            <a:r>
              <a:rPr lang="en-US" altLang="zh-TW" dirty="0" err="1" smtClean="0">
                <a:latin typeface="Times New Roman" panose="02020603050405020304" pitchFamily="18" charset="0"/>
                <a:cs typeface="Times New Roman" panose="02020603050405020304" pitchFamily="18" charset="0"/>
              </a:rPr>
              <a:t>val</a:t>
            </a:r>
            <a:r>
              <a:rPr lang="en-US" altLang="zh-TW" dirty="0" smtClean="0">
                <a:latin typeface="Times New Roman" panose="02020603050405020304" pitchFamily="18" charset="0"/>
                <a:cs typeface="Times New Roman" panose="02020603050405020304" pitchFamily="18" charset="0"/>
              </a:rPr>
              <a:t>, data)</a:t>
            </a:r>
          </a:p>
          <a:p>
            <a:pPr>
              <a:buNone/>
            </a:pPr>
            <a:r>
              <a:rPr lang="en-US" altLang="zh-TW" dirty="0" err="1" smtClean="0">
                <a:latin typeface="Times New Roman" panose="02020603050405020304" pitchFamily="18" charset="0"/>
                <a:cs typeface="Times New Roman" panose="02020603050405020304" pitchFamily="18" charset="0"/>
              </a:rPr>
              <a:t>BoundedMax</a:t>
            </a:r>
            <a:r>
              <a:rPr lang="en-US" altLang="zh-TW" dirty="0" smtClean="0">
                <a:latin typeface="Times New Roman" panose="02020603050405020304" pitchFamily="18" charset="0"/>
                <a:cs typeface="Times New Roman" panose="02020603050405020304" pitchFamily="18" charset="0"/>
              </a:rPr>
              <a:t>(H, pos)</a:t>
            </a:r>
          </a:p>
          <a:p>
            <a:pPr>
              <a:buNone/>
            </a:pPr>
            <a:r>
              <a:rPr lang="en-US" altLang="zh-TW" dirty="0" smtClean="0">
                <a:latin typeface="Times New Roman" panose="02020603050405020304" pitchFamily="18" charset="0"/>
                <a:cs typeface="Times New Roman" panose="02020603050405020304" pitchFamily="18" charset="0"/>
              </a:rPr>
              <a:t>above operations in O(</a:t>
            </a:r>
            <a:r>
              <a:rPr lang="en-US" altLang="zh-TW" dirty="0" err="1" smtClean="0">
                <a:latin typeface="Times New Roman" panose="02020603050405020304" pitchFamily="18" charset="0"/>
                <a:cs typeface="Times New Roman" panose="02020603050405020304" pitchFamily="18" charset="0"/>
              </a:rPr>
              <a:t>loglog</a:t>
            </a:r>
            <a:r>
              <a:rPr lang="en-US" altLang="zh-TW" i="1" dirty="0" err="1" smtClean="0">
                <a:latin typeface="Times New Roman" pitchFamily="18" charset="0"/>
                <a:cs typeface="Times New Roman" pitchFamily="18" charset="0"/>
              </a:rPr>
              <a:t>n</a:t>
            </a:r>
            <a:r>
              <a:rPr lang="en-US" altLang="zh-TW" dirty="0" smtClean="0">
                <a:latin typeface="Times New Roman" panose="02020603050405020304" pitchFamily="18" charset="0"/>
                <a:cs typeface="Times New Roman" panose="02020603050405020304" pitchFamily="18" charset="0"/>
              </a:rPr>
              <a:t>) amortized time.</a:t>
            </a:r>
          </a:p>
          <a:p>
            <a:pPr>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Using </a:t>
            </a:r>
            <a:r>
              <a:rPr lang="en-US" altLang="zh-TW" dirty="0">
                <a:latin typeface="Times New Roman" panose="02020603050405020304" pitchFamily="18" charset="0"/>
                <a:cs typeface="Times New Roman" panose="02020603050405020304" pitchFamily="18" charset="0"/>
              </a:rPr>
              <a:t>van </a:t>
            </a:r>
            <a:r>
              <a:rPr lang="en-US" altLang="zh-TW" dirty="0" err="1">
                <a:latin typeface="Times New Roman" panose="02020603050405020304" pitchFamily="18" charset="0"/>
                <a:cs typeface="Times New Roman" panose="02020603050405020304" pitchFamily="18" charset="0"/>
              </a:rPr>
              <a:t>Emde</a:t>
            </a:r>
            <a:r>
              <a:rPr lang="en-US" altLang="zh-TW" dirty="0">
                <a:latin typeface="Times New Roman" panose="02020603050405020304" pitchFamily="18" charset="0"/>
                <a:cs typeface="Times New Roman" panose="02020603050405020304" pitchFamily="18" charset="0"/>
              </a:rPr>
              <a:t> Boas tree (</a:t>
            </a:r>
            <a:r>
              <a:rPr lang="en-US" altLang="zh-TW" dirty="0" err="1">
                <a:latin typeface="Times New Roman" panose="02020603050405020304" pitchFamily="18" charset="0"/>
                <a:cs typeface="Times New Roman" panose="02020603050405020304" pitchFamily="18" charset="0"/>
              </a:rPr>
              <a:t>vEB</a:t>
            </a:r>
            <a:r>
              <a:rPr lang="en-US" altLang="zh-TW" dirty="0">
                <a:latin typeface="Times New Roman" panose="02020603050405020304" pitchFamily="18" charset="0"/>
                <a:cs typeface="Times New Roman" panose="02020603050405020304" pitchFamily="18" charset="0"/>
              </a:rPr>
              <a:t> tree).</a:t>
            </a:r>
          </a:p>
          <a:p>
            <a:pPr marL="0" indent="0" algn="ctr">
              <a:buNone/>
            </a:pPr>
            <a:r>
              <a:rPr lang="en-US" altLang="zh-TW" sz="2200" dirty="0">
                <a:solidFill>
                  <a:schemeClr val="bg1">
                    <a:lumMod val="75000"/>
                  </a:schemeClr>
                </a:solidFill>
                <a:latin typeface="Times New Roman" panose="02020603050405020304" pitchFamily="18" charset="0"/>
                <a:cs typeface="Times New Roman" panose="02020603050405020304" pitchFamily="18" charset="0"/>
              </a:rPr>
              <a:t>Faster algorithms for computing longest common increasing subsequences</a:t>
            </a:r>
          </a:p>
          <a:p>
            <a:pPr marL="0" indent="0" algn="ctr">
              <a:buNone/>
            </a:pPr>
            <a:r>
              <a:rPr lang="en-US" altLang="zh-TW" sz="2200" dirty="0">
                <a:solidFill>
                  <a:schemeClr val="bg1">
                    <a:lumMod val="75000"/>
                  </a:schemeClr>
                </a:solidFill>
                <a:latin typeface="Times New Roman" panose="02020603050405020304" pitchFamily="18" charset="0"/>
                <a:cs typeface="Times New Roman" panose="02020603050405020304" pitchFamily="18" charset="0"/>
              </a:rPr>
              <a:t>Journal of Discrete Algorithms ,Volume 9, Issue 4, December 2011, Pages 314–325</a:t>
            </a:r>
          </a:p>
          <a:p>
            <a:pPr>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10</a:t>
            </a:fld>
            <a:endParaRPr lang="zh-TW" altLang="en-US">
              <a:latin typeface="Times New Roman" panose="02020603050405020304" pitchFamily="18" charset="0"/>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551344300"/>
              </p:ext>
            </p:extLst>
          </p:nvPr>
        </p:nvGraphicFramePr>
        <p:xfrm>
          <a:off x="4578350" y="1681162"/>
          <a:ext cx="4000506" cy="799280"/>
        </p:xfrm>
        <a:graphic>
          <a:graphicData uri="http://schemas.openxmlformats.org/drawingml/2006/table">
            <a:tbl>
              <a:tblPr firstRow="1" bandRow="1">
                <a:tableStyleId>{5940675A-B579-460E-94D1-54222C63F5DA}</a:tableStyleId>
              </a:tblPr>
              <a:tblGrid>
                <a:gridCol w="666751"/>
                <a:gridCol w="666751"/>
                <a:gridCol w="666751"/>
                <a:gridCol w="666751"/>
                <a:gridCol w="666751"/>
                <a:gridCol w="666751"/>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TW" sz="1600" dirty="0" smtClean="0"/>
                        <a:t>H</a:t>
                      </a:r>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p:spTree>
    <p:extLst>
      <p:ext uri="{BB962C8B-B14F-4D97-AF65-F5344CB8AC3E}">
        <p14:creationId xmlns:p14="http://schemas.microsoft.com/office/powerpoint/2010/main" val="35300337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lstStyle/>
          <a:p>
            <a:r>
              <a:rPr lang="en-US" altLang="zh-TW" dirty="0" smtClean="0">
                <a:latin typeface="Times New Roman" panose="02020603050405020304" pitchFamily="18" charset="0"/>
                <a:cs typeface="Times New Roman" panose="02020603050405020304" pitchFamily="18" charset="0"/>
              </a:rPr>
              <a:t>Bounded Heap data structure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11</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a:bodyPr>
              <a:lstStyle/>
              <a:p>
                <a:pPr marL="0" indent="0">
                  <a:buNone/>
                </a:pPr>
                <a:r>
                  <a:rPr lang="en-US" altLang="zh-TW" dirty="0" smtClean="0">
                    <a:latin typeface="Times New Roman" panose="02020603050405020304" pitchFamily="18" charset="0"/>
                    <a:cs typeface="Times New Roman" panose="02020603050405020304" pitchFamily="18" charset="0"/>
                  </a:rPr>
                  <a:t>Each of the bounded heap,</a:t>
                </a: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𝐻</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contains values for </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LCS(M(a</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a</a:t>
                </a:r>
                <a:r>
                  <a:rPr lang="en-US" altLang="zh-TW" baseline="-25000" dirty="0" smtClean="0">
                    <a:latin typeface="Times New Roman" panose="02020603050405020304" pitchFamily="18" charset="0"/>
                    <a:cs typeface="Times New Roman" panose="02020603050405020304" pitchFamily="18" charset="0"/>
                  </a:rPr>
                  <a:t>2</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𝑖</m:t>
                        </m:r>
                      </m:sub>
                    </m:sSub>
                  </m:oMath>
                </a14:m>
                <a:r>
                  <a:rPr lang="en-US" altLang="zh-TW" dirty="0" smtClean="0">
                    <a:latin typeface="Times New Roman" panose="02020603050405020304" pitchFamily="18" charset="0"/>
                    <a:cs typeface="Times New Roman" panose="02020603050405020304" pitchFamily="18" charset="0"/>
                  </a:rPr>
                  <a:t>, b</a:t>
                </a:r>
                <a:r>
                  <a:rPr lang="en-US" altLang="zh-TW" baseline="-25000" dirty="0" smtClean="0">
                    <a:latin typeface="Times New Roman" panose="02020603050405020304" pitchFamily="18" charset="0"/>
                    <a:cs typeface="Times New Roman" panose="02020603050405020304" pitchFamily="18" charset="0"/>
                  </a:rPr>
                  <a:t>0</a:t>
                </a:r>
                <a:r>
                  <a:rPr lang="en-US" altLang="zh-TW" dirty="0" smtClean="0">
                    <a:latin typeface="Times New Roman" panose="02020603050405020304" pitchFamily="18" charset="0"/>
                    <a:cs typeface="Times New Roman" panose="02020603050405020304" pitchFamily="18" charset="0"/>
                  </a:rPr>
                  <a:t>), t</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t</a:t>
                </a:r>
                <a:r>
                  <a:rPr lang="en-US" altLang="zh-TW" baseline="-25000" dirty="0" smtClean="0">
                    <a:latin typeface="Times New Roman" panose="02020603050405020304" pitchFamily="18" charset="0"/>
                    <a:cs typeface="Times New Roman" panose="02020603050405020304" pitchFamily="18" charset="0"/>
                  </a:rPr>
                  <a:t>2</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𝑡</m:t>
                        </m:r>
                      </m:e>
                      <m:sub>
                        <m:r>
                          <a:rPr lang="en-US" altLang="zh-TW" i="1">
                            <a:latin typeface="Cambria Math" panose="02040503050406030204" pitchFamily="18" charset="0"/>
                            <a:cs typeface="Times New Roman" panose="02020603050405020304" pitchFamily="18" charset="0"/>
                          </a:rPr>
                          <m:t>𝑘</m:t>
                        </m:r>
                      </m:sub>
                    </m:sSub>
                  </m:oMath>
                </a14:m>
                <a:r>
                  <a:rPr lang="en-US" altLang="zh-TW" dirty="0" smtClean="0">
                    <a:latin typeface="Times New Roman" panose="02020603050405020304" pitchFamily="18" charset="0"/>
                    <a:cs typeface="Times New Roman" panose="02020603050405020304" pitchFamily="18" charset="0"/>
                  </a:rPr>
                  <a:t>), </a:t>
                </a:r>
              </a:p>
              <a:p>
                <a:pPr>
                  <a:buNone/>
                </a:pPr>
                <a:r>
                  <a:rPr lang="en-US" altLang="zh-TW" dirty="0" smtClean="0">
                    <a:latin typeface="Times New Roman" panose="02020603050405020304" pitchFamily="18" charset="0"/>
                    <a:cs typeface="Times New Roman" panose="02020603050405020304" pitchFamily="18" charset="0"/>
                  </a:rPr>
                  <a:t>LCS(M(a</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a</a:t>
                </a:r>
                <a:r>
                  <a:rPr lang="en-US" altLang="zh-TW" baseline="-25000" dirty="0" smtClean="0">
                    <a:latin typeface="Times New Roman" panose="02020603050405020304" pitchFamily="18" charset="0"/>
                    <a:cs typeface="Times New Roman" panose="02020603050405020304" pitchFamily="18" charset="0"/>
                  </a:rPr>
                  <a:t>2</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𝑖</m:t>
                        </m:r>
                      </m:sub>
                    </m:sSub>
                  </m:oMath>
                </a14:m>
                <a:r>
                  <a:rPr lang="en-US" altLang="zh-TW" dirty="0" smtClean="0">
                    <a:latin typeface="Times New Roman" panose="02020603050405020304" pitchFamily="18" charset="0"/>
                    <a:cs typeface="Times New Roman" panose="02020603050405020304" pitchFamily="18" charset="0"/>
                  </a:rPr>
                  <a:t>, b</a:t>
                </a:r>
                <a:r>
                  <a:rPr lang="en-US" altLang="zh-TW" baseline="-25000" dirty="0" smtClean="0">
                    <a:latin typeface="Times New Roman" panose="02020603050405020304" pitchFamily="18" charset="0"/>
                    <a:cs typeface="Times New Roman" panose="02020603050405020304" pitchFamily="18" charset="0"/>
                  </a:rPr>
                  <a:t>0</a:t>
                </a:r>
                <a:r>
                  <a:rPr lang="en-US" altLang="zh-TW" dirty="0" smtClean="0">
                    <a:latin typeface="Times New Roman" panose="02020603050405020304" pitchFamily="18" charset="0"/>
                    <a:cs typeface="Times New Roman" panose="02020603050405020304" pitchFamily="18" charset="0"/>
                  </a:rPr>
                  <a:t> b</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 t</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t</a:t>
                </a:r>
                <a:r>
                  <a:rPr lang="en-US" altLang="zh-TW" baseline="-25000" dirty="0" smtClean="0">
                    <a:latin typeface="Times New Roman" panose="02020603050405020304" pitchFamily="18" charset="0"/>
                    <a:cs typeface="Times New Roman" panose="02020603050405020304" pitchFamily="18" charset="0"/>
                  </a:rPr>
                  <a:t>2</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𝑡</m:t>
                        </m:r>
                      </m:e>
                      <m:sub>
                        <m:r>
                          <a:rPr lang="en-US" altLang="zh-TW" i="1">
                            <a:latin typeface="Cambria Math" panose="02040503050406030204" pitchFamily="18" charset="0"/>
                            <a:cs typeface="Times New Roman" panose="02020603050405020304" pitchFamily="18" charset="0"/>
                          </a:rPr>
                          <m:t>𝑘</m:t>
                        </m:r>
                      </m:sub>
                    </m:sSub>
                  </m:oMath>
                </a14:m>
                <a:r>
                  <a:rPr lang="en-US" altLang="zh-TW" dirty="0" smtClean="0">
                    <a:latin typeface="Times New Roman" panose="02020603050405020304" pitchFamily="18" charset="0"/>
                    <a:cs typeface="Times New Roman" panose="02020603050405020304" pitchFamily="18" charset="0"/>
                  </a:rPr>
                  <a:t>),</a:t>
                </a:r>
              </a:p>
              <a:p>
                <a:pPr>
                  <a:buNone/>
                </a:pP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	</a:t>
                </a:r>
              </a:p>
              <a:p>
                <a:pPr>
                  <a:buNone/>
                </a:pPr>
                <a:r>
                  <a:rPr lang="en-US" altLang="zh-TW" dirty="0" smtClean="0">
                    <a:latin typeface="Times New Roman" panose="02020603050405020304" pitchFamily="18" charset="0"/>
                    <a:cs typeface="Times New Roman" panose="02020603050405020304" pitchFamily="18" charset="0"/>
                  </a:rPr>
                  <a:t>LCS(M(a</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a</a:t>
                </a:r>
                <a:r>
                  <a:rPr lang="en-US" altLang="zh-TW" baseline="-25000" dirty="0" smtClean="0">
                    <a:latin typeface="Times New Roman" panose="02020603050405020304" pitchFamily="18" charset="0"/>
                    <a:cs typeface="Times New Roman" panose="02020603050405020304" pitchFamily="18" charset="0"/>
                  </a:rPr>
                  <a:t>2</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𝑎</m:t>
                        </m:r>
                      </m:e>
                      <m:sub>
                        <m:r>
                          <a:rPr lang="en-US" altLang="zh-TW" i="1">
                            <a:latin typeface="Cambria Math" panose="02040503050406030204" pitchFamily="18" charset="0"/>
                            <a:cs typeface="Times New Roman" panose="02020603050405020304" pitchFamily="18" charset="0"/>
                          </a:rPr>
                          <m:t>𝑖</m:t>
                        </m:r>
                      </m:sub>
                    </m:sSub>
                  </m:oMath>
                </a14:m>
                <a:r>
                  <a:rPr lang="en-US" altLang="zh-TW" baseline="-25000"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b</a:t>
                </a:r>
                <a:r>
                  <a:rPr lang="en-US" altLang="zh-TW" baseline="-25000" dirty="0" smtClean="0">
                    <a:latin typeface="Times New Roman" panose="02020603050405020304" pitchFamily="18" charset="0"/>
                    <a:cs typeface="Times New Roman" panose="02020603050405020304" pitchFamily="18" charset="0"/>
                  </a:rPr>
                  <a:t>0</a:t>
                </a:r>
                <a:r>
                  <a:rPr lang="en-US" altLang="zh-TW" dirty="0" smtClean="0">
                    <a:latin typeface="Times New Roman" panose="02020603050405020304" pitchFamily="18" charset="0"/>
                    <a:cs typeface="Times New Roman" panose="02020603050405020304" pitchFamily="18" charset="0"/>
                  </a:rPr>
                  <a:t> b</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𝑏</m:t>
                        </m:r>
                      </m:e>
                      <m:sub>
                        <m:r>
                          <a:rPr lang="en-US" altLang="zh-TW" i="1">
                            <a:latin typeface="Cambria Math" panose="02040503050406030204" pitchFamily="18" charset="0"/>
                            <a:cs typeface="Times New Roman" panose="02020603050405020304" pitchFamily="18" charset="0"/>
                          </a:rPr>
                          <m:t>𝑗</m:t>
                        </m:r>
                      </m:sub>
                    </m:sSub>
                  </m:oMath>
                </a14:m>
                <a:r>
                  <a:rPr lang="en-US" altLang="zh-TW" dirty="0" smtClean="0">
                    <a:latin typeface="Times New Roman" panose="02020603050405020304" pitchFamily="18" charset="0"/>
                    <a:cs typeface="Times New Roman" panose="02020603050405020304" pitchFamily="18" charset="0"/>
                  </a:rPr>
                  <a:t>), t</a:t>
                </a:r>
                <a:r>
                  <a:rPr lang="en-US" altLang="zh-TW" baseline="-25000" dirty="0" smtClean="0">
                    <a:latin typeface="Times New Roman" panose="02020603050405020304" pitchFamily="18" charset="0"/>
                    <a:cs typeface="Times New Roman" panose="02020603050405020304" pitchFamily="18" charset="0"/>
                  </a:rPr>
                  <a:t>1</a:t>
                </a:r>
                <a:r>
                  <a:rPr lang="en-US" altLang="zh-TW" dirty="0" smtClean="0">
                    <a:latin typeface="Times New Roman" panose="02020603050405020304" pitchFamily="18" charset="0"/>
                    <a:cs typeface="Times New Roman" panose="02020603050405020304" pitchFamily="18" charset="0"/>
                  </a:rPr>
                  <a:t>t</a:t>
                </a:r>
                <a:r>
                  <a:rPr lang="en-US" altLang="zh-TW" baseline="-25000" dirty="0" smtClean="0">
                    <a:latin typeface="Times New Roman" panose="02020603050405020304" pitchFamily="18" charset="0"/>
                    <a:cs typeface="Times New Roman" panose="02020603050405020304" pitchFamily="18" charset="0"/>
                  </a:rPr>
                  <a:t>2</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𝑡</m:t>
                        </m:r>
                      </m:e>
                      <m:sub>
                        <m:r>
                          <a:rPr lang="en-US" altLang="zh-TW" i="1">
                            <a:latin typeface="Cambria Math" panose="02040503050406030204" pitchFamily="18" charset="0"/>
                            <a:cs typeface="Times New Roman" panose="02020603050405020304" pitchFamily="18" charset="0"/>
                          </a:rPr>
                          <m:t>𝑘</m:t>
                        </m:r>
                      </m:sub>
                    </m:sSub>
                  </m:oMath>
                </a14:m>
                <a:r>
                  <a:rPr lang="en-US" altLang="zh-TW" dirty="0" smtClean="0">
                    <a:latin typeface="Times New Roman" panose="02020603050405020304" pitchFamily="18" charset="0"/>
                    <a:cs typeface="Times New Roman" panose="02020603050405020304" pitchFamily="18" charset="0"/>
                  </a:rPr>
                  <a:t>)</a:t>
                </a:r>
              </a:p>
              <a:p>
                <a:pPr>
                  <a:buNone/>
                </a:pPr>
                <a:endParaRPr lang="en-US" altLang="zh-TW" dirty="0" smtClean="0">
                  <a:latin typeface="Times New Roman" panose="02020603050405020304" pitchFamily="18" charset="0"/>
                  <a:cs typeface="Times New Roman" panose="02020603050405020304" pitchFamily="18" charset="0"/>
                </a:endParaRPr>
              </a:p>
              <a:p>
                <a:pPr>
                  <a:buNone/>
                </a:pPr>
                <a:r>
                  <a:rPr lang="en-US" altLang="zh-TW" dirty="0">
                    <a:latin typeface="Times New Roman" panose="02020603050405020304" pitchFamily="18" charset="0"/>
                    <a:cs typeface="Times New Roman" panose="02020603050405020304" pitchFamily="18" charset="0"/>
                  </a:rPr>
                  <a:t>w</a:t>
                </a:r>
                <a:r>
                  <a:rPr lang="en-US" altLang="zh-TW" dirty="0" smtClean="0">
                    <a:latin typeface="Times New Roman" panose="02020603050405020304" pitchFamily="18" charset="0"/>
                    <a:cs typeface="Times New Roman" panose="02020603050405020304" pitchFamily="18" charset="0"/>
                  </a:rPr>
                  <a:t>here 0</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j</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r</a:t>
                </a:r>
              </a:p>
              <a:p>
                <a:pPr>
                  <a:buNone/>
                </a:pP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3"/>
                <a:stretch>
                  <a:fillRect l="-1481" t="-18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extLst>
                  <p:ext uri="{D42A27DB-BD31-4B8C-83A1-F6EECF244321}">
                    <p14:modId xmlns:p14="http://schemas.microsoft.com/office/powerpoint/2010/main" val="2049153977"/>
                  </p:ext>
                </p:extLst>
              </p:nvPr>
            </p:nvGraphicFramePr>
            <p:xfrm>
              <a:off x="3968750" y="5679455"/>
              <a:ext cx="4000506" cy="820391"/>
            </p:xfrm>
            <a:graphic>
              <a:graphicData uri="http://schemas.openxmlformats.org/drawingml/2006/table">
                <a:tbl>
                  <a:tblPr firstRow="1" bandRow="1">
                    <a:tableStyleId>{5940675A-B579-460E-94D1-54222C63F5DA}</a:tableStyleId>
                  </a:tblPr>
                  <a:tblGrid>
                    <a:gridCol w="666751"/>
                    <a:gridCol w="666751"/>
                    <a:gridCol w="666751"/>
                    <a:gridCol w="666751"/>
                    <a:gridCol w="666751"/>
                    <a:gridCol w="666751"/>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TW" sz="2000" i="1" dirty="0" smtClean="0"/>
                            <a:t>j</a:t>
                          </a:r>
                          <a:endParaRPr lang="zh-TW" altLang="en-US" sz="2000" i="1"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𝐻</m:t>
                                    </m:r>
                                  </m:e>
                                  <m:sub>
                                    <m:r>
                                      <a:rPr lang="en-US" altLang="zh-TW" sz="2000" b="0" i="1" smtClean="0">
                                        <a:latin typeface="Cambria Math" panose="02040503050406030204" pitchFamily="18" charset="0"/>
                                        <a:cs typeface="Times New Roman" panose="02020603050405020304" pitchFamily="18" charset="0"/>
                                      </a:rPr>
                                      <m:t>𝑖</m:t>
                                    </m:r>
                                  </m:sub>
                                  <m:sup>
                                    <m:r>
                                      <a:rPr lang="en-US" altLang="zh-TW" sz="2000" b="0" i="1" smtClean="0">
                                        <a:latin typeface="Cambria Math" panose="02040503050406030204" pitchFamily="18" charset="0"/>
                                        <a:cs typeface="Times New Roman" panose="02020603050405020304" pitchFamily="18" charset="0"/>
                                      </a:rPr>
                                      <m:t>𝑘</m:t>
                                    </m:r>
                                  </m:sup>
                                </m:sSubSup>
                              </m:oMath>
                            </m:oMathPara>
                          </a14:m>
                          <a:endParaRPr lang="zh-TW" altLang="en-US" sz="20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6" name="表格 5"/>
              <p:cNvGraphicFramePr>
                <a:graphicFrameLocks noGrp="1"/>
              </p:cNvGraphicFramePr>
              <p:nvPr>
                <p:extLst>
                  <p:ext uri="{D42A27DB-BD31-4B8C-83A1-F6EECF244321}">
                    <p14:modId xmlns:p14="http://schemas.microsoft.com/office/powerpoint/2010/main" val="2049153977"/>
                  </p:ext>
                </p:extLst>
              </p:nvPr>
            </p:nvGraphicFramePr>
            <p:xfrm>
              <a:off x="3968750" y="5679455"/>
              <a:ext cx="4000506" cy="820391"/>
            </p:xfrm>
            <a:graphic>
              <a:graphicData uri="http://schemas.openxmlformats.org/drawingml/2006/table">
                <a:tbl>
                  <a:tblPr firstRow="1" bandRow="1">
                    <a:tableStyleId>{5940675A-B579-460E-94D1-54222C63F5DA}</a:tableStyleId>
                  </a:tblPr>
                  <a:tblGrid>
                    <a:gridCol w="666751"/>
                    <a:gridCol w="666751"/>
                    <a:gridCol w="666751"/>
                    <a:gridCol w="666751"/>
                    <a:gridCol w="666751"/>
                    <a:gridCol w="666751"/>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zh-TW" sz="2000" i="1" dirty="0" smtClean="0"/>
                            <a:t>j</a:t>
                          </a:r>
                          <a:endParaRPr lang="zh-TW" altLang="en-US" sz="2000" i="1"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r h="420751">
                    <a:tc>
                      <a:txBody>
                        <a:bodyPr/>
                        <a:lstStyle/>
                        <a:p>
                          <a:endParaRPr lang="zh-TW"/>
                        </a:p>
                      </a:txBody>
                      <a:tcPr>
                        <a:blipFill rotWithShape="0">
                          <a:blip r:embed="rId4"/>
                          <a:stretch>
                            <a:fillRect l="-909" t="-101429" r="-499091" b="-8571"/>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Tree>
    <p:extLst>
      <p:ext uri="{BB962C8B-B14F-4D97-AF65-F5344CB8AC3E}">
        <p14:creationId xmlns:p14="http://schemas.microsoft.com/office/powerpoint/2010/main" val="38547922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Algorithm MLCS(A</a:t>
            </a:r>
            <a:r>
              <a:rPr lang="en-US" altLang="zh-TW" dirty="0">
                <a:latin typeface="Times New Roman" panose="02020603050405020304" pitchFamily="18" charset="0"/>
                <a:cs typeface="Times New Roman" panose="02020603050405020304" pitchFamily="18" charset="0"/>
              </a:rPr>
              <a:t>, B, T</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12</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a:bodyPr>
              <a:lstStyle/>
              <a:p>
                <a:r>
                  <a:rPr lang="en-US" altLang="zh-TW" dirty="0" smtClean="0">
                    <a:latin typeface="Times New Roman" panose="02020603050405020304" pitchFamily="18" charset="0"/>
                    <a:cs typeface="Times New Roman" panose="02020603050405020304" pitchFamily="18" charset="0"/>
                  </a:rPr>
                  <a:t>At ﬁrst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is initialized to max</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b="0" i="1" smtClean="0">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pt-BR" altLang="zh-TW" i="1" dirty="0">
                  <a:solidFill>
                    <a:srgbClr val="FF0000"/>
                  </a:solidFill>
                </a:endParaRPr>
              </a:p>
              <a:p>
                <a:r>
                  <a:rPr lang="en-US" altLang="zh-TW" dirty="0">
                    <a:latin typeface="Times New Roman" panose="02020603050405020304" pitchFamily="18" charset="0"/>
                    <a:cs typeface="Times New Roman" panose="02020603050405020304" pitchFamily="18" charset="0"/>
                  </a:rPr>
                  <a:t>If </a:t>
                </a:r>
                <a14:m>
                  <m:oMath xmlns:m="http://schemas.openxmlformats.org/officeDocument/2006/math">
                    <m:r>
                      <m:rPr>
                        <m:sty m:val="p"/>
                      </m:rPr>
                      <a:rPr lang="en-US" altLang="zh-TW">
                        <a:latin typeface="Cambria Math" panose="02040503050406030204" pitchFamily="18" charset="0"/>
                        <a:cs typeface="Times New Roman" panose="02020603050405020304" pitchFamily="18" charset="0"/>
                      </a:rPr>
                      <m:t>match</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cs typeface="Times New Roman" panose="02020603050405020304" pitchFamily="18" charset="0"/>
                          </a:rPr>
                          <m:t>M</m:t>
                        </m:r>
                      </m:e>
                      <m:sub>
                        <m:r>
                          <m:rPr>
                            <m:sty m:val="p"/>
                          </m:rPr>
                          <a:rPr lang="en-US" altLang="zh-TW">
                            <a:latin typeface="Cambria Math" panose="02040503050406030204" pitchFamily="18" charset="0"/>
                            <a:cs typeface="Times New Roman" panose="02020603050405020304" pitchFamily="18" charset="0"/>
                          </a:rPr>
                          <m:t>j</m:t>
                        </m:r>
                      </m:sub>
                    </m:sSub>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r</m:t>
                    </m:r>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n</m:t>
                    </m:r>
                  </m:oMath>
                </a14:m>
                <a:endParaRPr lang="pt-BR" altLang="zh-TW" dirty="0"/>
              </a:p>
              <a:p>
                <a:pPr>
                  <a:buNone/>
                </a:pPr>
                <a:r>
                  <a:rPr lang="pt-BR" altLang="zh-TW" dirty="0"/>
                  <a:t>		</a:t>
                </a: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a:t>
                </a:r>
                <a:r>
                  <a:rPr lang="pt-BR" altLang="zh-TW" i="1" dirty="0" smtClean="0">
                    <a:solidFill>
                      <a:srgbClr val="FF0000"/>
                    </a:solidFill>
                  </a:rPr>
                  <a:t>1</a:t>
                </a:r>
                <a:endParaRPr lang="en-US" altLang="zh-TW" dirty="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If </a:t>
                </a:r>
                <a14:m>
                  <m:oMath xmlns:m="http://schemas.openxmlformats.org/officeDocument/2006/math">
                    <m:r>
                      <m:rPr>
                        <m:sty m:val="p"/>
                      </m:rPr>
                      <a:rPr lang="en-US" altLang="zh-TW" i="0">
                        <a:latin typeface="Cambria Math" panose="02040503050406030204" pitchFamily="18" charset="0"/>
                        <a:cs typeface="Times New Roman" panose="02020603050405020304" pitchFamily="18" charset="0"/>
                      </a:rPr>
                      <m:t>match</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i="0">
                            <a:latin typeface="Cambria Math" panose="02040503050406030204" pitchFamily="18" charset="0"/>
                            <a:cs typeface="Times New Roman" panose="02020603050405020304" pitchFamily="18" charset="0"/>
                          </a:rPr>
                          <m:t>M</m:t>
                        </m:r>
                      </m:e>
                      <m:sub>
                        <m:r>
                          <m:rPr>
                            <m:sty m:val="p"/>
                          </m:rPr>
                          <a:rPr lang="en-US" altLang="zh-TW" i="0">
                            <a:latin typeface="Cambria Math" panose="02040503050406030204" pitchFamily="18" charset="0"/>
                            <a:cs typeface="Times New Roman" panose="02020603050405020304" pitchFamily="18" charset="0"/>
                          </a:rPr>
                          <m:t>i</m:t>
                        </m:r>
                      </m:sub>
                    </m:sSub>
                    <m:r>
                      <a:rPr lang="en-US" altLang="zh-TW" i="0">
                        <a:latin typeface="Cambria Math" panose="02040503050406030204" pitchFamily="18" charset="0"/>
                        <a:cs typeface="Times New Roman" panose="02020603050405020304" pitchFamily="18" charset="0"/>
                      </a:rPr>
                      <m:t>, 1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m</m:t>
                    </m:r>
                    <m:r>
                      <a:rPr lang="en-US" altLang="zh-TW" i="0">
                        <a:latin typeface="Cambria Math" panose="02040503050406030204" pitchFamily="18" charset="0"/>
                        <a:cs typeface="Times New Roman" panose="02020603050405020304" pitchFamily="18" charset="0"/>
                      </a:rPr>
                      <m:t>, 1 ≤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 </m:t>
                    </m:r>
                    <m:r>
                      <m:rPr>
                        <m:sty m:val="p"/>
                      </m:rPr>
                      <a:rPr lang="en-US" altLang="zh-TW" i="0">
                        <a:latin typeface="Cambria Math" panose="02040503050406030204" pitchFamily="18" charset="0"/>
                        <a:cs typeface="Times New Roman" panose="02020603050405020304" pitchFamily="18" charset="0"/>
                      </a:rPr>
                      <m:t>n</m:t>
                    </m:r>
                  </m:oMath>
                </a14:m>
                <a:r>
                  <a:rPr lang="en-US" altLang="zh-TW" baseline="-25000" dirty="0">
                    <a:latin typeface="Times New Roman" panose="02020603050405020304" pitchFamily="18" charset="0"/>
                    <a:cs typeface="Times New Roman" panose="02020603050405020304" pitchFamily="18" charset="0"/>
                  </a:rPr>
                  <a:t>  </a:t>
                </a:r>
              </a:p>
              <a:p>
                <a:pPr>
                  <a:buNone/>
                </a:pPr>
                <a:r>
                  <a:rPr lang="pt-BR" altLang="zh-TW" dirty="0" smtClean="0"/>
                  <a:t>		</a:t>
                </a:r>
                <a14:m>
                  <m:oMath xmlns:m="http://schemas.openxmlformats.org/officeDocument/2006/math">
                    <m:sSub>
                      <m:sSubPr>
                        <m:ctrlPr>
                          <a:rPr lang="pt-BR" altLang="zh-TW" i="1" smtClean="0">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 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r>
                      <a:rPr lang="en-US" altLang="zh-TW" i="1">
                        <a:solidFill>
                          <a:srgbClr val="FF0000"/>
                        </a:solidFill>
                        <a:latin typeface="Cambria Math" panose="02040503050406030204" pitchFamily="18" charset="0"/>
                      </a:rPr>
                      <m:t>+1</m:t>
                    </m:r>
                  </m:oMath>
                </a14:m>
                <a:r>
                  <a:rPr lang="pt-BR" altLang="zh-TW" i="1" dirty="0" smtClean="0">
                    <a:solidFill>
                      <a:srgbClr val="FF0000"/>
                    </a:solidFill>
                  </a:rPr>
                  <a:t>) + 1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2"/>
                <a:stretch>
                  <a:fillRect l="-1333" t="-1823"/>
                </a:stretch>
              </a:blipFill>
            </p:spPr>
            <p:txBody>
              <a:bodyPr/>
              <a:lstStyle/>
              <a:p>
                <a:r>
                  <a:rPr lang="zh-TW" altLang="en-US">
                    <a:noFill/>
                  </a:rPr>
                  <a:t> </a:t>
                </a:r>
              </a:p>
            </p:txBody>
          </p:sp>
        </mc:Fallback>
      </mc:AlternateContent>
      <p:pic>
        <p:nvPicPr>
          <p:cNvPr id="7" name="圖片 6"/>
          <p:cNvPicPr>
            <a:picLocks noChangeAspect="1"/>
          </p:cNvPicPr>
          <p:nvPr/>
        </p:nvPicPr>
        <p:blipFill>
          <a:blip r:embed="rId3"/>
          <a:stretch>
            <a:fillRect/>
          </a:stretch>
        </p:blipFill>
        <p:spPr>
          <a:xfrm>
            <a:off x="4209582" y="4281488"/>
            <a:ext cx="4477218" cy="2576512"/>
          </a:xfrm>
          <a:prstGeom prst="rect">
            <a:avLst/>
          </a:prstGeom>
        </p:spPr>
      </p:pic>
      <mc:AlternateContent xmlns:mc="http://schemas.openxmlformats.org/markup-compatibility/2006" xmlns:a14="http://schemas.microsoft.com/office/drawing/2010/main">
        <mc:Choice Requires="a14">
          <p:graphicFrame>
            <p:nvGraphicFramePr>
              <p:cNvPr id="8" name="表格 7"/>
              <p:cNvGraphicFramePr>
                <a:graphicFrameLocks noGrp="1"/>
              </p:cNvGraphicFramePr>
              <p:nvPr>
                <p:extLst>
                  <p:ext uri="{D42A27DB-BD31-4B8C-83A1-F6EECF244321}">
                    <p14:modId xmlns:p14="http://schemas.microsoft.com/office/powerpoint/2010/main" val="1175161881"/>
                  </p:ext>
                </p:extLst>
              </p:nvPr>
            </p:nvGraphicFramePr>
            <p:xfrm>
              <a:off x="512318" y="4625976"/>
              <a:ext cx="1121664" cy="187287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solidFill>
                                          <a:schemeClr val="tx1"/>
                                        </a:solidFill>
                                        <a:latin typeface="Cambria Math" panose="02040503050406030204" pitchFamily="18" charset="0"/>
                                      </a:rPr>
                                    </m:ctrlPr>
                                  </m:sSubSupPr>
                                  <m:e>
                                    <m:r>
                                      <a:rPr lang="en-US" altLang="zh-TW" i="1">
                                        <a:solidFill>
                                          <a:schemeClr val="tx1"/>
                                        </a:solidFill>
                                        <a:latin typeface="Cambria Math" panose="02040503050406030204" pitchFamily="18" charset="0"/>
                                      </a:rPr>
                                      <m:t>𝐻</m:t>
                                    </m:r>
                                  </m:e>
                                  <m:sub>
                                    <m:r>
                                      <a:rPr lang="en-US" altLang="zh-TW" i="1">
                                        <a:solidFill>
                                          <a:schemeClr val="tx1"/>
                                        </a:solidFill>
                                        <a:latin typeface="Cambria Math" panose="02040503050406030204" pitchFamily="18" charset="0"/>
                                      </a:rPr>
                                      <m:t>𝑖</m:t>
                                    </m:r>
                                    <m:r>
                                      <a:rPr lang="en-US" altLang="zh-TW" i="1">
                                        <a:solidFill>
                                          <a:schemeClr val="tx1"/>
                                        </a:solidFill>
                                        <a:latin typeface="Cambria Math" panose="02040503050406030204" pitchFamily="18" charset="0"/>
                                      </a:rPr>
                                      <m:t>−1</m:t>
                                    </m:r>
                                  </m:sub>
                                  <m:sup>
                                    <m:r>
                                      <a:rPr lang="en-US" altLang="zh-TW" i="1">
                                        <a:solidFill>
                                          <a:schemeClr val="tx1"/>
                                        </a:solidFill>
                                        <a:latin typeface="Cambria Math" panose="02040503050406030204" pitchFamily="18" charset="0"/>
                                      </a:rPr>
                                      <m:t>𝑘</m:t>
                                    </m:r>
                                    <m:r>
                                      <a:rPr lang="en-US" altLang="zh-TW" i="1">
                                        <a:solidFill>
                                          <a:schemeClr val="tx1"/>
                                        </a:solidFill>
                                        <a:latin typeface="Cambria Math" panose="02040503050406030204" pitchFamily="18" charset="0"/>
                                      </a:rPr>
                                      <m:t>−1</m:t>
                                    </m:r>
                                  </m:sup>
                                </m:sSubSup>
                              </m:oMath>
                            </m:oMathPara>
                          </a14:m>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b="0" i="1" smtClean="0">
                                        <a:latin typeface="Cambria Math" panose="02040503050406030204" pitchFamily="18" charset="0"/>
                                      </a:rPr>
                                      <m:t>−1</m:t>
                                    </m:r>
                                  </m:sup>
                                </m:sSubSup>
                              </m:oMath>
                            </m:oMathPara>
                          </a14:m>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mc:Choice>
        <mc:Fallback xmlns="">
          <p:graphicFrame>
            <p:nvGraphicFramePr>
              <p:cNvPr id="8" name="表格 7"/>
              <p:cNvGraphicFramePr>
                <a:graphicFrameLocks noGrp="1"/>
              </p:cNvGraphicFramePr>
              <p:nvPr>
                <p:extLst>
                  <p:ext uri="{D42A27DB-BD31-4B8C-83A1-F6EECF244321}">
                    <p14:modId xmlns:p14="http://schemas.microsoft.com/office/powerpoint/2010/main" val="1175161881"/>
                  </p:ext>
                </p:extLst>
              </p:nvPr>
            </p:nvGraphicFramePr>
            <p:xfrm>
              <a:off x="512318" y="4625976"/>
              <a:ext cx="1121664" cy="1872870"/>
            </p:xfrm>
            <a:graphic>
              <a:graphicData uri="http://schemas.openxmlformats.org/drawingml/2006/table">
                <a:tbl>
                  <a:tblPr firstRow="1" bandRow="1">
                    <a:tableStyleId>{5940675A-B579-460E-94D1-54222C63F5DA}</a:tableStyleId>
                  </a:tblPr>
                  <a:tblGrid>
                    <a:gridCol w="280416"/>
                    <a:gridCol w="280416"/>
                    <a:gridCol w="280416"/>
                    <a:gridCol w="280416"/>
                  </a:tblGrid>
                  <a:tr h="36576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87795">
                    <a:tc gridSpan="4">
                      <a:txBody>
                        <a:bodyPr/>
                        <a:lstStyle/>
                        <a:p>
                          <a:endParaRPr lang="zh-TW"/>
                        </a:p>
                      </a:txBody>
                      <a:tcPr>
                        <a:blipFill rotWithShape="0">
                          <a:blip r:embed="rId4"/>
                          <a:stretch>
                            <a:fillRect l="-541" t="-95313" r="-1081" b="-292188"/>
                          </a:stretch>
                        </a:blip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r>
                  <a:tr h="387795">
                    <a:tc gridSpan="4">
                      <a:txBody>
                        <a:bodyPr/>
                        <a:lstStyle/>
                        <a:p>
                          <a:endParaRPr lang="zh-TW"/>
                        </a:p>
                      </a:txBody>
                      <a:tcPr>
                        <a:blipFill rotWithShape="0">
                          <a:blip r:embed="rId4"/>
                          <a:stretch>
                            <a:fillRect l="-541" t="-195313" r="-1081" b="-192188"/>
                          </a:stretch>
                        </a:blipFill>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extLst>
                  <p:ext uri="{D42A27DB-BD31-4B8C-83A1-F6EECF244321}">
                    <p14:modId xmlns:p14="http://schemas.microsoft.com/office/powerpoint/2010/main" val="2424125503"/>
                  </p:ext>
                </p:extLst>
              </p:nvPr>
            </p:nvGraphicFramePr>
            <p:xfrm>
              <a:off x="1964049" y="4625976"/>
              <a:ext cx="1121664" cy="187287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b="0" i="1" smtClean="0">
                                        <a:latin typeface="Cambria Math" panose="02040503050406030204" pitchFamily="18" charset="0"/>
                                      </a:rPr>
                                      <m:t>−1</m:t>
                                    </m:r>
                                  </m:sub>
                                  <m:sup>
                                    <m:r>
                                      <a:rPr lang="en-US" altLang="zh-TW" i="1">
                                        <a:latin typeface="Cambria Math" panose="02040503050406030204" pitchFamily="18" charset="0"/>
                                      </a:rPr>
                                      <m:t>𝑘</m:t>
                                    </m:r>
                                  </m:sup>
                                </m:sSubSup>
                              </m:oMath>
                            </m:oMathPara>
                          </a14:m>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r>
                  <a:tr h="303022">
                    <a:tc gridSpan="4">
                      <a:txBody>
                        <a:body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m:oMathPara>
                          </a14:m>
                          <a:endParaRPr lang="zh-TW" altLang="en-US" dirty="0"/>
                        </a:p>
                      </a:txBody>
                      <a:tcPr>
                        <a:solidFill>
                          <a:schemeClr val="accent2"/>
                        </a:solid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mc:Choice>
        <mc:Fallback xmlns="">
          <p:graphicFrame>
            <p:nvGraphicFramePr>
              <p:cNvPr id="9" name="表格 8"/>
              <p:cNvGraphicFramePr>
                <a:graphicFrameLocks noGrp="1"/>
              </p:cNvGraphicFramePr>
              <p:nvPr>
                <p:extLst>
                  <p:ext uri="{D42A27DB-BD31-4B8C-83A1-F6EECF244321}">
                    <p14:modId xmlns:p14="http://schemas.microsoft.com/office/powerpoint/2010/main" val="2424125503"/>
                  </p:ext>
                </p:extLst>
              </p:nvPr>
            </p:nvGraphicFramePr>
            <p:xfrm>
              <a:off x="1964049" y="4625976"/>
              <a:ext cx="1121664" cy="1872870"/>
            </p:xfrm>
            <a:graphic>
              <a:graphicData uri="http://schemas.openxmlformats.org/drawingml/2006/table">
                <a:tbl>
                  <a:tblPr firstRow="1" bandRow="1">
                    <a:tableStyleId>{5940675A-B579-460E-94D1-54222C63F5DA}</a:tableStyleId>
                  </a:tblPr>
                  <a:tblGrid>
                    <a:gridCol w="280416"/>
                    <a:gridCol w="280416"/>
                    <a:gridCol w="280416"/>
                    <a:gridCol w="280416"/>
                  </a:tblGrid>
                  <a:tr h="365760">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87795">
                    <a:tc gridSpan="4">
                      <a:txBody>
                        <a:bodyPr/>
                        <a:lstStyle/>
                        <a:p>
                          <a:endParaRPr lang="zh-TW"/>
                        </a:p>
                      </a:txBody>
                      <a:tcPr>
                        <a:blipFill rotWithShape="0">
                          <a:blip r:embed="rId5"/>
                          <a:stretch>
                            <a:fillRect l="-541" t="-95313" r="-1081" b="-292188"/>
                          </a:stretch>
                        </a:blip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c hMerge="1">
                      <a:txBody>
                        <a:bodyPr/>
                        <a:lstStyle/>
                        <a:p>
                          <a:endParaRPr lang="zh-TW" altLang="en-US" dirty="0"/>
                        </a:p>
                      </a:txBody>
                      <a:tcPr>
                        <a:solidFill>
                          <a:schemeClr val="bg1"/>
                        </a:solidFill>
                      </a:tcPr>
                    </a:tc>
                  </a:tr>
                  <a:tr h="387795">
                    <a:tc gridSpan="4">
                      <a:txBody>
                        <a:bodyPr/>
                        <a:lstStyle/>
                        <a:p>
                          <a:endParaRPr lang="zh-TW"/>
                        </a:p>
                      </a:txBody>
                      <a:tcPr>
                        <a:blipFill rotWithShape="0">
                          <a:blip r:embed="rId5"/>
                          <a:stretch>
                            <a:fillRect l="-541" t="-195313" r="-1081" b="-192188"/>
                          </a:stretch>
                        </a:blip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c hMerge="1">
                      <a:txBody>
                        <a:bodyPr/>
                        <a:lstStyle/>
                        <a:p>
                          <a:endParaRPr lang="zh-TW" altLang="en-US" dirty="0"/>
                        </a:p>
                      </a:txBody>
                      <a:tcPr>
                        <a:solidFill>
                          <a:schemeClr val="accent2"/>
                        </a:solidFill>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65760">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mc:Fallback>
      </mc:AlternateContent>
      <p:graphicFrame>
        <p:nvGraphicFramePr>
          <p:cNvPr id="11" name="表格 10"/>
          <p:cNvGraphicFramePr>
            <a:graphicFrameLocks noGrp="1"/>
          </p:cNvGraphicFramePr>
          <p:nvPr>
            <p:extLst>
              <p:ext uri="{D42A27DB-BD31-4B8C-83A1-F6EECF244321}">
                <p14:modId xmlns:p14="http://schemas.microsoft.com/office/powerpoint/2010/main" val="566497841"/>
              </p:ext>
            </p:extLst>
          </p:nvPr>
        </p:nvGraphicFramePr>
        <p:xfrm>
          <a:off x="0" y="5019676"/>
          <a:ext cx="457200" cy="731520"/>
        </p:xfrm>
        <a:graphic>
          <a:graphicData uri="http://schemas.openxmlformats.org/drawingml/2006/table">
            <a:tbl>
              <a:tblPr firstRow="1" bandRow="1">
                <a:tableStyleId>{2D5ABB26-0587-4C30-8999-92F81FD0307C}</a:tableStyleId>
              </a:tblPr>
              <a:tblGrid>
                <a:gridCol w="457200"/>
              </a:tblGrid>
              <a:tr h="307391">
                <a:tc>
                  <a:txBody>
                    <a:bodyPr/>
                    <a:lstStyle/>
                    <a:p>
                      <a:pPr algn="ctr"/>
                      <a:r>
                        <a:rPr lang="en-US" altLang="zh-TW" dirty="0" smtClean="0"/>
                        <a:t>i-1</a:t>
                      </a:r>
                      <a:endParaRPr lang="zh-TW" altLang="en-US" dirty="0"/>
                    </a:p>
                  </a:txBody>
                  <a:tcPr/>
                </a:tc>
              </a:tr>
              <a:tr h="307391">
                <a:tc>
                  <a:txBody>
                    <a:bodyPr/>
                    <a:lstStyle/>
                    <a:p>
                      <a:pPr algn="ctr"/>
                      <a:r>
                        <a:rPr lang="en-US" altLang="zh-TW" dirty="0" err="1" smtClean="0"/>
                        <a:t>i</a:t>
                      </a:r>
                      <a:endParaRPr lang="zh-TW" altLang="en-US" dirty="0"/>
                    </a:p>
                  </a:txBody>
                  <a:tcPr/>
                </a:tc>
              </a:tr>
            </a:tbl>
          </a:graphicData>
        </a:graphic>
      </p:graphicFrame>
      <p:sp>
        <p:nvSpPr>
          <p:cNvPr id="12" name="文字方塊 11"/>
          <p:cNvSpPr txBox="1"/>
          <p:nvPr/>
        </p:nvSpPr>
        <p:spPr>
          <a:xfrm>
            <a:off x="828155" y="6488668"/>
            <a:ext cx="2169045" cy="369332"/>
          </a:xfrm>
          <a:prstGeom prst="rect">
            <a:avLst/>
          </a:prstGeom>
          <a:noFill/>
        </p:spPr>
        <p:txBody>
          <a:bodyPr wrap="square" rtlCol="0">
            <a:spAutoFit/>
          </a:bodyPr>
          <a:lstStyle/>
          <a:p>
            <a:r>
              <a:rPr lang="en-US" altLang="zh-TW" dirty="0" smtClean="0"/>
              <a:t>k -1                       k</a:t>
            </a:r>
            <a:endParaRPr lang="zh-TW" altLang="en-US" dirty="0"/>
          </a:p>
        </p:txBody>
      </p:sp>
      <p:sp>
        <p:nvSpPr>
          <p:cNvPr id="13" name="文字方塊 12"/>
          <p:cNvSpPr txBox="1"/>
          <p:nvPr/>
        </p:nvSpPr>
        <p:spPr>
          <a:xfrm>
            <a:off x="953566" y="4281488"/>
            <a:ext cx="239168" cy="369332"/>
          </a:xfrm>
          <a:prstGeom prst="rect">
            <a:avLst/>
          </a:prstGeom>
          <a:noFill/>
        </p:spPr>
        <p:txBody>
          <a:bodyPr wrap="none" rtlCol="0">
            <a:spAutoFit/>
          </a:bodyPr>
          <a:lstStyle/>
          <a:p>
            <a:r>
              <a:rPr lang="en-US" altLang="zh-TW" dirty="0" err="1"/>
              <a:t>j</a:t>
            </a:r>
            <a:endParaRPr lang="zh-TW" altLang="en-US" dirty="0"/>
          </a:p>
        </p:txBody>
      </p:sp>
      <p:sp>
        <p:nvSpPr>
          <p:cNvPr id="14" name="文字方塊 13"/>
          <p:cNvSpPr txBox="1"/>
          <p:nvPr/>
        </p:nvSpPr>
        <p:spPr>
          <a:xfrm>
            <a:off x="2405116" y="4281488"/>
            <a:ext cx="239168" cy="369332"/>
          </a:xfrm>
          <a:prstGeom prst="rect">
            <a:avLst/>
          </a:prstGeom>
          <a:noFill/>
        </p:spPr>
        <p:txBody>
          <a:bodyPr wrap="none" rtlCol="0">
            <a:spAutoFit/>
          </a:bodyPr>
          <a:lstStyle/>
          <a:p>
            <a:r>
              <a:rPr lang="en-US" altLang="zh-TW" dirty="0" err="1"/>
              <a:t>j</a:t>
            </a:r>
            <a:endParaRPr lang="zh-TW" altLang="en-US" dirty="0"/>
          </a:p>
        </p:txBody>
      </p:sp>
    </p:spTree>
    <p:extLst>
      <p:ext uri="{BB962C8B-B14F-4D97-AF65-F5344CB8AC3E}">
        <p14:creationId xmlns:p14="http://schemas.microsoft.com/office/powerpoint/2010/main" val="7327178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Algorithm MLCS(A, B, 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13</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a:bodyPr>
              <a:lstStyle/>
              <a:p>
                <a:pPr>
                  <a:buNone/>
                </a:pPr>
                <a:r>
                  <a:rPr lang="en-US" altLang="zh-TW" i="1" dirty="0" smtClean="0">
                    <a:latin typeface="Times New Roman" pitchFamily="18" charset="0"/>
                    <a:cs typeface="Times New Roman" pitchFamily="18" charset="0"/>
                  </a:rPr>
                  <a:t>A</a:t>
                </a:r>
                <a:r>
                  <a:rPr lang="en-US" altLang="zh-TW" dirty="0" smtClean="0"/>
                  <a:t> = </a:t>
                </a:r>
                <a:r>
                  <a:rPr lang="en-US" altLang="zh-TW" i="1" dirty="0" err="1" smtClean="0">
                    <a:latin typeface="Times New Roman" pitchFamily="18" charset="0"/>
                    <a:cs typeface="Times New Roman" pitchFamily="18" charset="0"/>
                  </a:rPr>
                  <a:t>actt</a:t>
                </a:r>
                <a:r>
                  <a:rPr lang="en-US" altLang="zh-TW" i="1" dirty="0" smtClean="0">
                    <a:latin typeface="Times New Roman" pitchFamily="18" charset="0"/>
                    <a:cs typeface="Times New Roman" pitchFamily="18" charset="0"/>
                  </a:rPr>
                  <a:t>, B</a:t>
                </a:r>
                <a:r>
                  <a:rPr lang="en-US" altLang="zh-TW" dirty="0" smtClean="0"/>
                  <a:t> = </a:t>
                </a:r>
                <a:r>
                  <a:rPr lang="en-US" altLang="zh-TW" i="1" dirty="0" err="1" smtClean="0">
                    <a:latin typeface="Times New Roman" pitchFamily="18" charset="0"/>
                    <a:cs typeface="Times New Roman" pitchFamily="18" charset="0"/>
                  </a:rPr>
                  <a:t>ctg</a:t>
                </a:r>
                <a:r>
                  <a:rPr lang="en-US" altLang="zh-TW" i="1" dirty="0" smtClean="0">
                    <a:latin typeface="Times New Roman" pitchFamily="18" charset="0"/>
                    <a:cs typeface="Times New Roman" pitchFamily="18" charset="0"/>
                  </a:rPr>
                  <a:t>, T </a:t>
                </a:r>
                <a:r>
                  <a:rPr lang="en-US" altLang="zh-TW" dirty="0" smtClean="0"/>
                  <a:t>=</a:t>
                </a:r>
                <a:r>
                  <a:rPr lang="en-US" altLang="zh-TW" i="1" dirty="0" smtClean="0">
                    <a:latin typeface="Times New Roman" pitchFamily="18" charset="0"/>
                    <a:cs typeface="Times New Roman" pitchFamily="18" charset="0"/>
                  </a:rPr>
                  <a:t> </a:t>
                </a:r>
                <a:r>
                  <a:rPr lang="en-US" altLang="zh-TW" i="1" dirty="0" err="1" smtClean="0">
                    <a:latin typeface="Times New Roman" pitchFamily="18" charset="0"/>
                    <a:cs typeface="Times New Roman" pitchFamily="18" charset="0"/>
                  </a:rPr>
                  <a:t>tcatcg</a:t>
                </a:r>
                <a:endParaRPr lang="en-US" altLang="zh-TW" i="1" dirty="0" smtClean="0">
                  <a:latin typeface="Times New Roman" pitchFamily="18" charset="0"/>
                  <a:cs typeface="Times New Roman" pitchFamily="18" charset="0"/>
                </a:endParaRP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𝑖</m:t>
                        </m:r>
                      </m:sub>
                      <m:sup>
                        <m:r>
                          <a:rPr lang="en-US" altLang="zh-TW" i="1">
                            <a:latin typeface="Cambria Math" panose="02040503050406030204" pitchFamily="18" charset="0"/>
                            <a:cs typeface="Times New Roman" panose="02020603050405020304" pitchFamily="18" charset="0"/>
                          </a:rPr>
                          <m:t>𝐴</m:t>
                        </m:r>
                      </m:sup>
                    </m:sSubSup>
                  </m:oMath>
                </a14:m>
                <a:r>
                  <a:rPr lang="en-US" altLang="zh-TW" dirty="0"/>
                  <a:t>={ (1, 3), (2, 2), (2, 5), (3, 1), (3, 4), (4, 1), (4, 4)}</a:t>
                </a:r>
              </a:p>
              <a:p>
                <a:pPr>
                  <a:buNone/>
                </a:pPr>
                <a14:m>
                  <m:oMath xmlns:m="http://schemas.openxmlformats.org/officeDocument/2006/math">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a:t>={(1, 2), (1, 5), (2, 1), (2, 4), (3, 6)}</a:t>
                </a:r>
              </a:p>
              <a:p>
                <a:pPr>
                  <a:buNone/>
                </a:pP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2"/>
                <a:stretch>
                  <a:fillRect l="-1481" t="-24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058104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0" y="1074916"/>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237566" y="2430579"/>
            <a:ext cx="8247771" cy="369332"/>
          </a:xfrm>
          <a:prstGeom prst="rect">
            <a:avLst/>
          </a:prstGeom>
          <a:noFill/>
        </p:spPr>
        <p:txBody>
          <a:bodyPr wrap="none" rtlCol="0">
            <a:spAutoFit/>
          </a:bodyPr>
          <a:lstStyle/>
          <a:p>
            <a:r>
              <a:rPr lang="en-US" altLang="zh-TW" dirty="0" smtClean="0"/>
              <a:t>k =          1                         2                       3                         4                          5                         6</a:t>
            </a:r>
            <a:endParaRPr lang="zh-TW" altLang="en-US" dirty="0"/>
          </a:p>
        </p:txBody>
      </p:sp>
      <mc:AlternateContent xmlns:mc="http://schemas.openxmlformats.org/markup-compatibility/2006" xmlns:a14="http://schemas.microsoft.com/office/drawing/2010/main">
        <mc:Choice Requires="a14">
          <p:graphicFrame>
            <p:nvGraphicFramePr>
              <p:cNvPr id="20" name="表格 19"/>
              <p:cNvGraphicFramePr>
                <a:graphicFrameLocks noGrp="1"/>
              </p:cNvGraphicFramePr>
              <p:nvPr>
                <p:extLst>
                  <p:ext uri="{D42A27DB-BD31-4B8C-83A1-F6EECF244321}">
                    <p14:modId xmlns:p14="http://schemas.microsoft.com/office/powerpoint/2010/main" val="562972320"/>
                  </p:ext>
                </p:extLst>
              </p:nvPr>
            </p:nvGraphicFramePr>
            <p:xfrm>
              <a:off x="34831" y="28754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0" name="表格 19"/>
              <p:cNvGraphicFramePr>
                <a:graphicFrameLocks noGrp="1"/>
              </p:cNvGraphicFramePr>
              <p:nvPr>
                <p:extLst>
                  <p:ext uri="{D42A27DB-BD31-4B8C-83A1-F6EECF244321}">
                    <p14:modId xmlns:p14="http://schemas.microsoft.com/office/powerpoint/2010/main" val="562972320"/>
                  </p:ext>
                </p:extLst>
              </p:nvPr>
            </p:nvGraphicFramePr>
            <p:xfrm>
              <a:off x="34831" y="28754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3"/>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sp>
            <p:nvSpPr>
              <p:cNvPr id="26" name="文字方塊 25"/>
              <p:cNvSpPr txBox="1"/>
              <p:nvPr/>
            </p:nvSpPr>
            <p:spPr>
              <a:xfrm>
                <a:off x="4197453" y="3129483"/>
                <a:ext cx="4946547"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(2, 2), (2, 5), (3, 1), (3, 4), (4, 1),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={(1, 2), (1, 5), (2, 1), (2, 4),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4197453" y="3129483"/>
                <a:ext cx="4946547" cy="986296"/>
              </a:xfrm>
              <a:prstGeom prst="rect">
                <a:avLst/>
              </a:prstGeom>
              <a:blipFill rotWithShape="0">
                <a:blip r:embed="rId4"/>
                <a:stretch>
                  <a:fillRect t="-1235"/>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extLst/>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extLst/>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extLst/>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extLst/>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extLst/>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extLst/>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extLst/>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667158176"/>
                  </p:ext>
                </p:extLst>
              </p:nvPr>
            </p:nvGraphicFramePr>
            <p:xfrm>
              <a:off x="34831" y="43209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667158176"/>
                  </p:ext>
                </p:extLst>
              </p:nvPr>
            </p:nvGraphicFramePr>
            <p:xfrm>
              <a:off x="34831" y="43209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5"/>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14</a:t>
            </a:fld>
            <a:endParaRPr lang="zh-TW" altLang="en-US"/>
          </a:p>
        </p:txBody>
      </p:sp>
    </p:spTree>
    <p:extLst>
      <p:ext uri="{BB962C8B-B14F-4D97-AF65-F5344CB8AC3E}">
        <p14:creationId xmlns:p14="http://schemas.microsoft.com/office/powerpoint/2010/main" val="19788020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26466" y="2481379"/>
            <a:ext cx="8247771" cy="369332"/>
          </a:xfrm>
          <a:prstGeom prst="rect">
            <a:avLst/>
          </a:prstGeom>
          <a:noFill/>
        </p:spPr>
        <p:txBody>
          <a:bodyPr wrap="none" rtlCol="0">
            <a:spAutoFit/>
          </a:bodyPr>
          <a:lstStyle/>
          <a:p>
            <a:r>
              <a:rPr lang="en-US" altLang="zh-TW" dirty="0" smtClean="0"/>
              <a:t>k =          1                         2                       3                         4                          5                         6</a:t>
            </a:r>
            <a:endParaRPr lang="zh-TW" altLang="en-US" dirty="0"/>
          </a:p>
        </p:txBody>
      </p:sp>
      <mc:AlternateContent xmlns:mc="http://schemas.openxmlformats.org/markup-compatibility/2006" xmlns:a14="http://schemas.microsoft.com/office/drawing/2010/main">
        <mc:Choice Requires="a14">
          <p:sp>
            <p:nvSpPr>
              <p:cNvPr id="22" name="文字方塊 21"/>
              <p:cNvSpPr txBox="1"/>
              <p:nvPr/>
            </p:nvSpPr>
            <p:spPr>
              <a:xfrm>
                <a:off x="5702301" y="5510642"/>
                <a:ext cx="3441699" cy="975011"/>
              </a:xfrm>
              <a:prstGeom prst="rect">
                <a:avLst/>
              </a:prstGeom>
              <a:noFill/>
            </p:spPr>
            <p:txBody>
              <a:bodyPr wrap="square" rtlCol="0">
                <a:spAutoFit/>
              </a:bodyPr>
              <a:lstStyle/>
              <a:p>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0</m:t>
                        </m:r>
                      </m:sup>
                    </m:sSubSup>
                  </m:oMath>
                </a14:m>
                <a:r>
                  <a:rPr lang="en-US" altLang="zh-TW" dirty="0" smtClean="0"/>
                  <a:t> , 2) + 1</a:t>
                </a:r>
                <a:endParaRPr lang="zh-TW" altLang="en-US"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5702301" y="5510642"/>
                <a:ext cx="3441699" cy="975011"/>
              </a:xfrm>
              <a:prstGeom prst="rect">
                <a:avLst/>
              </a:prstGeom>
              <a:blipFill rotWithShape="0">
                <a:blip r:embed="rId2"/>
                <a:stretch>
                  <a:fillRect t="-1875" b="-9375"/>
                </a:stretch>
              </a:blipFill>
            </p:spPr>
            <p:txBody>
              <a:bodyPr/>
              <a:lstStyle/>
              <a:p>
                <a:r>
                  <a:rPr lang="zh-TW" altLang="en-US">
                    <a:noFill/>
                  </a:rPr>
                  <a:t> </a:t>
                </a:r>
              </a:p>
            </p:txBody>
          </p:sp>
        </mc:Fallback>
      </mc:AlternateContent>
      <p:sp>
        <p:nvSpPr>
          <p:cNvPr id="24" name="文字方塊 23"/>
          <p:cNvSpPr txBox="1"/>
          <p:nvPr/>
        </p:nvSpPr>
        <p:spPr>
          <a:xfrm>
            <a:off x="3215718" y="3783029"/>
            <a:ext cx="1234633" cy="369332"/>
          </a:xfrm>
          <a:prstGeom prst="rect">
            <a:avLst/>
          </a:prstGeom>
          <a:noFill/>
        </p:spPr>
        <p:txBody>
          <a:bodyPr wrap="none" rtlCol="0">
            <a:spAutoFit/>
          </a:bodyPr>
          <a:lstStyle/>
          <a:p>
            <a:r>
              <a:rPr lang="en-US" altLang="zh-TW" dirty="0" err="1"/>
              <a:t>i</a:t>
            </a:r>
            <a:r>
              <a:rPr lang="en-US" altLang="zh-TW" dirty="0" smtClean="0"/>
              <a:t> = 0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672432" y="27967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={(1, 2) , (1, 5) , </a:t>
                </a:r>
                <a:r>
                  <a:rPr lang="en-US" altLang="zh-TW" dirty="0" smtClean="0">
                    <a:solidFill>
                      <a:srgbClr val="FF0000"/>
                    </a:solidFill>
                  </a:rPr>
                  <a:t>(2, 1) </a:t>
                </a:r>
                <a:r>
                  <a:rPr lang="en-US" altLang="zh-TW" dirty="0" smtClean="0"/>
                  <a:t>,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672432" y="2796733"/>
                <a:ext cx="5211042" cy="986296"/>
              </a:xfrm>
              <a:prstGeom prst="rect">
                <a:avLst/>
              </a:prstGeom>
              <a:blipFill rotWithShape="0">
                <a:blip r:embed="rId3"/>
                <a:stretch>
                  <a:fillRect t="-1852"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extLst/>
          </p:nvPr>
        </p:nvGraphicFramePr>
        <p:xfrm>
          <a:off x="673400" y="283987"/>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325613">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extLst/>
          </p:nvPr>
        </p:nvGraphicFramePr>
        <p:xfrm>
          <a:off x="2063288" y="296765"/>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312836">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59404177"/>
                  </p:ext>
                </p:extLst>
              </p:nvPr>
            </p:nvGraphicFramePr>
            <p:xfrm>
              <a:off x="123731" y="440218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59404177"/>
                  </p:ext>
                </p:extLst>
              </p:nvPr>
            </p:nvGraphicFramePr>
            <p:xfrm>
              <a:off x="123731" y="440218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865329771"/>
                  </p:ext>
                </p:extLst>
              </p:nvPr>
            </p:nvGraphicFramePr>
            <p:xfrm>
              <a:off x="3215718" y="4381724"/>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865329771"/>
                  </p:ext>
                </p:extLst>
              </p:nvPr>
            </p:nvGraphicFramePr>
            <p:xfrm>
              <a:off x="3215718" y="4381724"/>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5"/>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164058039"/>
                  </p:ext>
                </p:extLst>
              </p:nvPr>
            </p:nvGraphicFramePr>
            <p:xfrm>
              <a:off x="123731" y="29262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164058039"/>
                  </p:ext>
                </p:extLst>
              </p:nvPr>
            </p:nvGraphicFramePr>
            <p:xfrm>
              <a:off x="123731" y="29262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6"/>
                          <a:stretch>
                            <a:fillRect l="-1190" t="-115385" r="-402381" b="-116923"/>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6"/>
                          <a:stretch>
                            <a:fillRect l="-1190" t="-212121"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15</a:t>
            </a:fld>
            <a:endParaRPr lang="zh-TW" altLang="en-US"/>
          </a:p>
        </p:txBody>
      </p:sp>
    </p:spTree>
    <p:extLst>
      <p:ext uri="{BB962C8B-B14F-4D97-AF65-F5344CB8AC3E}">
        <p14:creationId xmlns:p14="http://schemas.microsoft.com/office/powerpoint/2010/main" val="16538224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616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827379" y="3712663"/>
            <a:ext cx="1234633" cy="369332"/>
          </a:xfrm>
          <a:prstGeom prst="rect">
            <a:avLst/>
          </a:prstGeom>
          <a:noFill/>
        </p:spPr>
        <p:txBody>
          <a:bodyPr wrap="none" rtlCol="0">
            <a:spAutoFit/>
          </a:bodyPr>
          <a:lstStyle/>
          <a:p>
            <a:r>
              <a:rPr lang="en-US" altLang="zh-TW" dirty="0" err="1"/>
              <a:t>i</a:t>
            </a:r>
            <a:r>
              <a:rPr lang="en-US" altLang="zh-TW" dirty="0" smtClean="0"/>
              <a:t> = 0  , k = 2</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10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a:t>
                </a:r>
                <a:r>
                  <a:rPr lang="en-US" altLang="zh-TW" dirty="0" smtClean="0">
                    <a:solidFill>
                      <a:srgbClr val="FF0000"/>
                    </a:solidFill>
                  </a:rPr>
                  <a:t>(1, 2) </a:t>
                </a:r>
                <a:r>
                  <a:rPr lang="en-US" altLang="zh-TW" dirty="0" smtClean="0"/>
                  <a:t>, (1, 5) , (2, 1) ,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1033"/>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solidFill>
                      <a:schemeClr val="accent2"/>
                    </a:solidFill>
                  </a:tcPr>
                </a:tc>
                <a:tc>
                  <a:txBody>
                    <a:bodyPr/>
                    <a:lstStyle/>
                    <a:p>
                      <a:r>
                        <a:rPr lang="en-US" altLang="zh-TW" dirty="0" smtClean="0"/>
                        <a:t> </a:t>
                      </a:r>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extLst/>
          </p:nvPr>
        </p:nvGraphicFramePr>
        <p:xfrm>
          <a:off x="2063288" y="296765"/>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312836">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133418217"/>
                  </p:ext>
                </p:extLst>
              </p:nvPr>
            </p:nvGraphicFramePr>
            <p:xfrm>
              <a:off x="34831" y="44311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133418217"/>
                  </p:ext>
                </p:extLst>
              </p:nvPr>
            </p:nvGraphicFramePr>
            <p:xfrm>
              <a:off x="34831" y="44311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463" r="-402381" b="-111940"/>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9091" r="-402381" b="-13636"/>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3649548635"/>
                  </p:ext>
                </p:extLst>
              </p:nvPr>
            </p:nvGraphicFramePr>
            <p:xfrm>
              <a:off x="2936527" y="434382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3649548635"/>
                  </p:ext>
                </p:extLst>
              </p:nvPr>
            </p:nvGraphicFramePr>
            <p:xfrm>
              <a:off x="2936527" y="434382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682907024"/>
                  </p:ext>
                </p:extLst>
              </p:nvPr>
            </p:nvGraphicFramePr>
            <p:xfrm>
              <a:off x="34831" y="30405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682907024"/>
                  </p:ext>
                </p:extLst>
              </p:nvPr>
            </p:nvGraphicFramePr>
            <p:xfrm>
              <a:off x="34831" y="30405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5"/>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16</a:t>
            </a:fld>
            <a:endParaRPr lang="zh-TW" altLang="en-US"/>
          </a:p>
        </p:txBody>
      </p:sp>
      <mc:AlternateContent xmlns:mc="http://schemas.openxmlformats.org/markup-compatibility/2006" xmlns:a14="http://schemas.microsoft.com/office/drawing/2010/main">
        <mc:Choice Requires="a14">
          <p:sp>
            <p:nvSpPr>
              <p:cNvPr id="37" name="文字方塊 36"/>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1</m:t>
                        </m:r>
                      </m:sup>
                    </m:sSubSup>
                  </m:oMath>
                </a14:m>
                <a:r>
                  <a:rPr lang="en-US" altLang="zh-TW" dirty="0" smtClean="0"/>
                  <a:t> , 1) + 1</a:t>
                </a:r>
                <a:endParaRPr lang="zh-TW" altLang="en-US"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6"/>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917867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743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620798"/>
            <a:ext cx="1234633" cy="369332"/>
          </a:xfrm>
          <a:prstGeom prst="rect">
            <a:avLst/>
          </a:prstGeom>
          <a:noFill/>
        </p:spPr>
        <p:txBody>
          <a:bodyPr wrap="none" rtlCol="0">
            <a:spAutoFit/>
          </a:bodyPr>
          <a:lstStyle/>
          <a:p>
            <a:r>
              <a:rPr lang="en-US" altLang="zh-TW" dirty="0" err="1"/>
              <a:t>i</a:t>
            </a:r>
            <a:r>
              <a:rPr lang="en-US" altLang="zh-TW" dirty="0" smtClean="0"/>
              <a:t> = 0  , k = 3</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237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(2, 1) ,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23733"/>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extLst/>
          </p:nvPr>
        </p:nvGraphicFramePr>
        <p:xfrm>
          <a:off x="3422696" y="286165"/>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238092">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650564148"/>
                  </p:ext>
                </p:extLst>
              </p:nvPr>
            </p:nvGraphicFramePr>
            <p:xfrm>
              <a:off x="34831" y="44438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650564148"/>
                  </p:ext>
                </p:extLst>
              </p:nvPr>
            </p:nvGraphicFramePr>
            <p:xfrm>
              <a:off x="34831" y="44438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463" r="-402381" b="-113433"/>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9091"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3527578101"/>
                  </p:ext>
                </p:extLst>
              </p:nvPr>
            </p:nvGraphicFramePr>
            <p:xfrm>
              <a:off x="34831" y="54294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3527578101"/>
                  </p:ext>
                </p:extLst>
              </p:nvPr>
            </p:nvGraphicFramePr>
            <p:xfrm>
              <a:off x="34831" y="54294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769183949"/>
                  </p:ext>
                </p:extLst>
              </p:nvPr>
            </p:nvGraphicFramePr>
            <p:xfrm>
              <a:off x="34831" y="30532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769183949"/>
                  </p:ext>
                </p:extLst>
              </p:nvPr>
            </p:nvGraphicFramePr>
            <p:xfrm>
              <a:off x="34831" y="30532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5"/>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4034384359"/>
                  </p:ext>
                </p:extLst>
              </p:nvPr>
            </p:nvGraphicFramePr>
            <p:xfrm>
              <a:off x="2863375" y="444384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4034384359"/>
                  </p:ext>
                </p:extLst>
              </p:nvPr>
            </p:nvGraphicFramePr>
            <p:xfrm>
              <a:off x="2863375" y="444384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17</a:t>
            </a:fld>
            <a:endParaRPr lang="zh-TW" altLang="en-US"/>
          </a:p>
        </p:txBody>
      </p:sp>
      <mc:AlternateContent xmlns:mc="http://schemas.openxmlformats.org/markup-compatibility/2006" xmlns:a14="http://schemas.microsoft.com/office/drawing/2010/main">
        <mc:Choice Requires="a14">
          <p:sp>
            <p:nvSpPr>
              <p:cNvPr id="40" name="文字方塊 39"/>
              <p:cNvSpPr txBox="1"/>
              <p:nvPr/>
            </p:nvSpPr>
            <p:spPr>
              <a:xfrm>
                <a:off x="5702301" y="5510642"/>
                <a:ext cx="3441699" cy="391582"/>
              </a:xfrm>
              <a:prstGeom prst="rect">
                <a:avLst/>
              </a:prstGeom>
              <a:noFill/>
            </p:spPr>
            <p:txBody>
              <a:bodyPr wrap="square" rtlCol="0">
                <a:spAutoFit/>
              </a:bodyPr>
              <a:lstStyle/>
              <a:p>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zh-TW" altLang="en-US"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5702301" y="5510642"/>
                <a:ext cx="3441699" cy="391582"/>
              </a:xfrm>
              <a:prstGeom prst="rect">
                <a:avLst/>
              </a:prstGeom>
              <a:blipFill rotWithShape="0">
                <a:blip r:embed="rId7"/>
                <a:stretch>
                  <a:fillRect t="-4688" b="-2343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018398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573782" y="25251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932162" y="3671598"/>
            <a:ext cx="1234633" cy="369332"/>
          </a:xfrm>
          <a:prstGeom prst="rect">
            <a:avLst/>
          </a:prstGeom>
          <a:noFill/>
        </p:spPr>
        <p:txBody>
          <a:bodyPr wrap="none" rtlCol="0">
            <a:spAutoFit/>
          </a:bodyPr>
          <a:lstStyle/>
          <a:p>
            <a:r>
              <a:rPr lang="en-US" altLang="zh-TW" dirty="0" err="1"/>
              <a:t>i</a:t>
            </a:r>
            <a:r>
              <a:rPr lang="en-US" altLang="zh-TW" dirty="0" smtClean="0"/>
              <a:t> = 0  , k = 4</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4123085" y="29745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(2, 1) , </a:t>
                </a:r>
                <a:r>
                  <a:rPr lang="en-US" altLang="zh-TW" dirty="0" smtClean="0">
                    <a:solidFill>
                      <a:srgbClr val="FF0000"/>
                    </a:solidFill>
                  </a:rPr>
                  <a:t>(2, 4) </a:t>
                </a:r>
                <a:r>
                  <a:rPr lang="en-US" altLang="zh-TW" dirty="0" smtClean="0"/>
                  <a:t>,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4123085" y="2974533"/>
                <a:ext cx="5211042" cy="986296"/>
              </a:xfrm>
              <a:prstGeom prst="rect">
                <a:avLst/>
              </a:prstGeom>
              <a:blipFill rotWithShape="0">
                <a:blip r:embed="rId2"/>
                <a:stretch>
                  <a:fillRect t="-1852"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extLst/>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extLst/>
          </p:nvPr>
        </p:nvGraphicFramePr>
        <p:xfrm>
          <a:off x="4836968" y="265255"/>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344346">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3753683089"/>
                  </p:ext>
                </p:extLst>
              </p:nvPr>
            </p:nvGraphicFramePr>
            <p:xfrm>
              <a:off x="224958" y="44946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3753683089"/>
                  </p:ext>
                </p:extLst>
              </p:nvPr>
            </p:nvGraphicFramePr>
            <p:xfrm>
              <a:off x="224958" y="44946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357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357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1271205137"/>
                  </p:ext>
                </p:extLst>
              </p:nvPr>
            </p:nvGraphicFramePr>
            <p:xfrm>
              <a:off x="224958" y="54802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1271205137"/>
                  </p:ext>
                </p:extLst>
              </p:nvPr>
            </p:nvGraphicFramePr>
            <p:xfrm>
              <a:off x="224958" y="54802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357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945545681"/>
                  </p:ext>
                </p:extLst>
              </p:nvPr>
            </p:nvGraphicFramePr>
            <p:xfrm>
              <a:off x="224958" y="31040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945545681"/>
                  </p:ext>
                </p:extLst>
              </p:nvPr>
            </p:nvGraphicFramePr>
            <p:xfrm>
              <a:off x="224958" y="3104083"/>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357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5"/>
                          <a:stretch>
                            <a:fillRect l="-1190" t="-213636" r="-40357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988124534"/>
                  </p:ext>
                </p:extLst>
              </p:nvPr>
            </p:nvGraphicFramePr>
            <p:xfrm>
              <a:off x="224958" y="604500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988124534"/>
                  </p:ext>
                </p:extLst>
              </p:nvPr>
            </p:nvGraphicFramePr>
            <p:xfrm>
              <a:off x="224958" y="604500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357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24156352"/>
                  </p:ext>
                </p:extLst>
              </p:nvPr>
            </p:nvGraphicFramePr>
            <p:xfrm>
              <a:off x="3041310" y="449464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24156352"/>
                  </p:ext>
                </p:extLst>
              </p:nvPr>
            </p:nvGraphicFramePr>
            <p:xfrm>
              <a:off x="3041310" y="449464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357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18</a:t>
            </a:fld>
            <a:endParaRPr lang="zh-TW" altLang="en-US"/>
          </a:p>
        </p:txBody>
      </p:sp>
      <mc:AlternateContent xmlns:mc="http://schemas.openxmlformats.org/markup-compatibility/2006" xmlns:a14="http://schemas.microsoft.com/office/drawing/2010/main">
        <mc:Choice Requires="a14">
          <p:sp>
            <p:nvSpPr>
              <p:cNvPr id="41" name="文字方塊 40"/>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3</m:t>
                        </m:r>
                      </m:sup>
                    </m:sSubSup>
                  </m:oMath>
                </a14:m>
                <a:r>
                  <a:rPr lang="en-US" altLang="zh-TW" dirty="0" smtClean="0"/>
                  <a:t> , 2) + 1</a:t>
                </a:r>
                <a:endParaRPr lang="zh-TW" altLang="en-US"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8"/>
                <a:stretch>
                  <a:fillRect t="-1829" b="-67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131350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361314"/>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07812"/>
            <a:ext cx="1234633" cy="369332"/>
          </a:xfrm>
          <a:prstGeom prst="rect">
            <a:avLst/>
          </a:prstGeom>
          <a:noFill/>
        </p:spPr>
        <p:txBody>
          <a:bodyPr wrap="none" rtlCol="0">
            <a:spAutoFit/>
          </a:bodyPr>
          <a:lstStyle/>
          <a:p>
            <a:r>
              <a:rPr lang="en-US" altLang="zh-TW" dirty="0" err="1"/>
              <a:t>i</a:t>
            </a:r>
            <a:r>
              <a:rPr lang="en-US" altLang="zh-TW" dirty="0" smtClean="0"/>
              <a:t> = 0  , k = 5</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10747"/>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a:t>
                </a:r>
                <a:r>
                  <a:rPr lang="en-US" altLang="zh-TW" dirty="0" smtClean="0">
                    <a:solidFill>
                      <a:srgbClr val="FF0000"/>
                    </a:solidFill>
                  </a:rPr>
                  <a:t>(1, 5) </a:t>
                </a:r>
                <a:r>
                  <a:rPr lang="en-US" altLang="zh-TW" dirty="0" smtClean="0"/>
                  <a:t>, (2, 1) , (2, 4) , (3, 6)}</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10747"/>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extLst/>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extLst/>
          </p:nvPr>
        </p:nvGraphicFramePr>
        <p:xfrm>
          <a:off x="6300008" y="265255"/>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344346">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856370700"/>
                  </p:ext>
                </p:extLst>
              </p:nvPr>
            </p:nvGraphicFramePr>
            <p:xfrm>
              <a:off x="34831" y="4330856"/>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856370700"/>
                  </p:ext>
                </p:extLst>
              </p:nvPr>
            </p:nvGraphicFramePr>
            <p:xfrm>
              <a:off x="34831" y="4330856"/>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442274166"/>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442274166"/>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2977351441"/>
                  </p:ext>
                </p:extLst>
              </p:nvPr>
            </p:nvGraphicFramePr>
            <p:xfrm>
              <a:off x="34831" y="2940297"/>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2977351441"/>
                  </p:ext>
                </p:extLst>
              </p:nvPr>
            </p:nvGraphicFramePr>
            <p:xfrm>
              <a:off x="34831" y="2940297"/>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5"/>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921206875"/>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921206875"/>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994598453"/>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994598453"/>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3690257531"/>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690257531"/>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19</a:t>
            </a:fld>
            <a:endParaRPr lang="zh-TW" altLang="en-US"/>
          </a:p>
        </p:txBody>
      </p:sp>
      <mc:AlternateContent xmlns:mc="http://schemas.openxmlformats.org/markup-compatibility/2006" xmlns:a14="http://schemas.microsoft.com/office/drawing/2010/main">
        <mc:Choice Requires="a14">
          <p:sp>
            <p:nvSpPr>
              <p:cNvPr id="43" name="文字方塊 42"/>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4</m:t>
                        </m:r>
                      </m:sup>
                    </m:sSubSup>
                  </m:oMath>
                </a14:m>
                <a:r>
                  <a:rPr lang="en-US" altLang="zh-TW" dirty="0" smtClean="0"/>
                  <a:t> , 1) + 1</a:t>
                </a:r>
                <a:endParaRPr lang="zh-TW" altLang="en-US"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9"/>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76377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361314"/>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07812"/>
            <a:ext cx="1234633" cy="369332"/>
          </a:xfrm>
          <a:prstGeom prst="rect">
            <a:avLst/>
          </a:prstGeom>
          <a:noFill/>
        </p:spPr>
        <p:txBody>
          <a:bodyPr wrap="none" rtlCol="0">
            <a:spAutoFit/>
          </a:bodyPr>
          <a:lstStyle/>
          <a:p>
            <a:r>
              <a:rPr lang="en-US" altLang="zh-TW" dirty="0" err="1"/>
              <a:t>i</a:t>
            </a:r>
            <a:r>
              <a:rPr lang="en-US" altLang="zh-TW" dirty="0" smtClean="0"/>
              <a:t> = 0  , k = 6</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10747"/>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(2, 1) , (2, 4) , </a:t>
                </a:r>
                <a:r>
                  <a:rPr lang="en-US" altLang="zh-TW" dirty="0" smtClean="0">
                    <a:solidFill>
                      <a:srgbClr val="FF0000"/>
                    </a:solidFill>
                  </a:rPr>
                  <a:t>(3, 6) </a:t>
                </a:r>
                <a:r>
                  <a:rPr lang="en-US" altLang="zh-TW" dirty="0" smtClean="0"/>
                  <a:t>}</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10747"/>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extLst/>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solidFill>
                          <a:srgbClr val="FF0000"/>
                        </a:solidFill>
                      </a:endParaRPr>
                    </a:p>
                  </a:txBody>
                  <a:tcPr>
                    <a:solidFill>
                      <a:schemeClr val="accent2"/>
                    </a:solidFill>
                  </a:tcPr>
                </a:tc>
                <a:tc>
                  <a:txBody>
                    <a:bodyPr/>
                    <a:lstStyle/>
                    <a:p>
                      <a:endParaRPr lang="zh-TW" altLang="en-US" dirty="0">
                        <a:solidFill>
                          <a:srgbClr val="FF0000"/>
                        </a:solidFill>
                      </a:endParaRPr>
                    </a:p>
                  </a:txBody>
                  <a:tcPr>
                    <a:solidFill>
                      <a:schemeClr val="accent2"/>
                    </a:solidFill>
                  </a:tcPr>
                </a:tc>
                <a:tc>
                  <a:txBody>
                    <a:bodyPr/>
                    <a:lstStyle/>
                    <a:p>
                      <a:endParaRPr lang="zh-TW" altLang="en-US" dirty="0">
                        <a:solidFill>
                          <a:srgbClr val="FF0000"/>
                        </a:solidFill>
                      </a:endParaRPr>
                    </a:p>
                  </a:txBody>
                  <a:tcPr>
                    <a:solidFill>
                      <a:schemeClr val="accent2"/>
                    </a:solidFill>
                  </a:tcPr>
                </a:tc>
                <a:tc>
                  <a:txBody>
                    <a:bodyPr/>
                    <a:lstStyle/>
                    <a:p>
                      <a:endParaRPr lang="zh-TW" altLang="en-US" dirty="0">
                        <a:solidFill>
                          <a:srgbClr val="FF0000"/>
                        </a:solidFill>
                      </a:endParaRPr>
                    </a:p>
                  </a:txBody>
                  <a:tcPr>
                    <a:solidFill>
                      <a:schemeClr val="accent2"/>
                    </a:solidFill>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extLst/>
          </p:nvPr>
        </p:nvGraphicFramePr>
        <p:xfrm>
          <a:off x="7775240" y="286165"/>
          <a:ext cx="1131016" cy="365760"/>
        </p:xfrm>
        <a:graphic>
          <a:graphicData uri="http://schemas.openxmlformats.org/drawingml/2006/table">
            <a:tbl>
              <a:tblPr firstRow="1" bandRow="1">
                <a:tableStyleId>{2D5ABB26-0587-4C30-8999-92F81FD0307C}</a:tableStyleId>
              </a:tblPr>
              <a:tblGrid>
                <a:gridCol w="282754"/>
                <a:gridCol w="282754"/>
                <a:gridCol w="282754"/>
                <a:gridCol w="282754"/>
              </a:tblGrid>
              <a:tr h="286860">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376043057"/>
                  </p:ext>
                </p:extLst>
              </p:nvPr>
            </p:nvGraphicFramePr>
            <p:xfrm>
              <a:off x="34831" y="4330856"/>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376043057"/>
                  </p:ext>
                </p:extLst>
              </p:nvPr>
            </p:nvGraphicFramePr>
            <p:xfrm>
              <a:off x="34831" y="4330856"/>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4047013027"/>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4047013027"/>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2066125199"/>
                  </p:ext>
                </p:extLst>
              </p:nvPr>
            </p:nvGraphicFramePr>
            <p:xfrm>
              <a:off x="34831" y="2940297"/>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2066125199"/>
                  </p:ext>
                </p:extLst>
              </p:nvPr>
            </p:nvGraphicFramePr>
            <p:xfrm>
              <a:off x="34831" y="2940297"/>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5"/>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317317298"/>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317317298"/>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3168142476"/>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3168142476"/>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1869595193"/>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1869595193"/>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2421600986"/>
                  </p:ext>
                </p:extLst>
              </p:nvPr>
            </p:nvGraphicFramePr>
            <p:xfrm>
              <a:off x="2742035" y="500713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3</a:t>
                          </a:r>
                          <a:endParaRPr lang="zh-TW" altLang="en-US" dirty="0">
                            <a:solidFill>
                              <a:srgbClr val="FF0000"/>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2421600986"/>
                  </p:ext>
                </p:extLst>
              </p:nvPr>
            </p:nvGraphicFramePr>
            <p:xfrm>
              <a:off x="2742035" y="500713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3</a:t>
                          </a:r>
                          <a:endParaRPr lang="zh-TW" altLang="en-US" dirty="0">
                            <a:solidFill>
                              <a:srgbClr val="FF0000"/>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20</a:t>
            </a:fld>
            <a:endParaRPr lang="zh-TW" altLang="en-US"/>
          </a:p>
        </p:txBody>
      </p:sp>
      <mc:AlternateContent xmlns:mc="http://schemas.openxmlformats.org/markup-compatibility/2006" xmlns:a14="http://schemas.microsoft.com/office/drawing/2010/main">
        <mc:Choice Requires="a14">
          <p:sp>
            <p:nvSpPr>
              <p:cNvPr id="44" name="文字方塊 43"/>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5</m:t>
                        </m:r>
                      </m:sup>
                    </m:sSubSup>
                  </m:oMath>
                </a14:m>
                <a:r>
                  <a:rPr lang="en-US" altLang="zh-TW" dirty="0" smtClean="0"/>
                  <a:t> , 3) + 1</a:t>
                </a:r>
                <a:endParaRPr lang="zh-TW" altLang="en-US"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0"/>
                <a:stretch>
                  <a:fillRect t="-1829" b="-67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754400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361314"/>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07812"/>
            <a:ext cx="1234633" cy="369332"/>
          </a:xfrm>
          <a:prstGeom prst="rect">
            <a:avLst/>
          </a:prstGeom>
          <a:noFill/>
        </p:spPr>
        <p:txBody>
          <a:bodyPr wrap="none" rtlCol="0">
            <a:spAutoFit/>
          </a:bodyPr>
          <a:lstStyle/>
          <a:p>
            <a:r>
              <a:rPr lang="en-US" altLang="zh-TW" dirty="0" err="1"/>
              <a:t>i</a:t>
            </a:r>
            <a:r>
              <a:rPr lang="en-US" altLang="zh-TW" dirty="0" smtClean="0"/>
              <a:t> = 1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10747"/>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a:t>
                </a:r>
                <a:r>
                  <a:rPr lang="en-US" altLang="zh-TW" dirty="0" smtClean="0">
                    <a:solidFill>
                      <a:srgbClr val="FF0000"/>
                    </a:solidFill>
                  </a:rPr>
                  <a:t>(2, 1) </a:t>
                </a:r>
                <a:r>
                  <a:rPr lang="en-US" altLang="zh-TW" dirty="0" smtClean="0"/>
                  <a:t>,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10747"/>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753232944"/>
                  </p:ext>
                </p:extLst>
              </p:nvPr>
            </p:nvGraphicFramePr>
            <p:xfrm>
              <a:off x="34831" y="4330856"/>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753232944"/>
                  </p:ext>
                </p:extLst>
              </p:nvPr>
            </p:nvGraphicFramePr>
            <p:xfrm>
              <a:off x="34831" y="4330856"/>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421920704"/>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421920704"/>
                  </p:ext>
                </p:extLst>
              </p:nvPr>
            </p:nvGraphicFramePr>
            <p:xfrm>
              <a:off x="34831" y="531643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374620519"/>
                  </p:ext>
                </p:extLst>
              </p:nvPr>
            </p:nvGraphicFramePr>
            <p:xfrm>
              <a:off x="34831" y="2940297"/>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374620519"/>
                  </p:ext>
                </p:extLst>
              </p:nvPr>
            </p:nvGraphicFramePr>
            <p:xfrm>
              <a:off x="34831" y="2940297"/>
              <a:ext cx="2554465" cy="122472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5"/>
                          <a:stretch>
                            <a:fillRect l="-1190" t="-2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1095392616"/>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1095392616"/>
                  </p:ext>
                </p:extLst>
              </p:nvPr>
            </p:nvGraphicFramePr>
            <p:xfrm>
              <a:off x="34831" y="588122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89766421"/>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89766421"/>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2773926732"/>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2773926732"/>
                  </p:ext>
                </p:extLst>
              </p:nvPr>
            </p:nvGraphicFramePr>
            <p:xfrm>
              <a:off x="2742035" y="4330856"/>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249720805"/>
                  </p:ext>
                </p:extLst>
              </p:nvPr>
            </p:nvGraphicFramePr>
            <p:xfrm>
              <a:off x="2742035" y="48073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249720805"/>
                  </p:ext>
                </p:extLst>
              </p:nvPr>
            </p:nvGraphicFramePr>
            <p:xfrm>
              <a:off x="2742035" y="48073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2609818657"/>
                  </p:ext>
                </p:extLst>
              </p:nvPr>
            </p:nvGraphicFramePr>
            <p:xfrm>
              <a:off x="2742035" y="542300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2609818657"/>
                  </p:ext>
                </p:extLst>
              </p:nvPr>
            </p:nvGraphicFramePr>
            <p:xfrm>
              <a:off x="2742035" y="542300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21</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0</m:t>
                        </m:r>
                      </m:sup>
                    </m:sSubSup>
                  </m:oMath>
                </a14:m>
                <a:r>
                  <a:rPr lang="en-US" altLang="zh-TW" dirty="0" smtClean="0"/>
                  <a:t> , 2)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515096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3854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31898"/>
            <a:ext cx="1234633" cy="369332"/>
          </a:xfrm>
          <a:prstGeom prst="rect">
            <a:avLst/>
          </a:prstGeom>
          <a:noFill/>
        </p:spPr>
        <p:txBody>
          <a:bodyPr wrap="none" rtlCol="0">
            <a:spAutoFit/>
          </a:bodyPr>
          <a:lstStyle/>
          <a:p>
            <a:r>
              <a:rPr lang="en-US" altLang="zh-TW" dirty="0" err="1"/>
              <a:t>i</a:t>
            </a:r>
            <a:r>
              <a:rPr lang="en-US" altLang="zh-TW" dirty="0" smtClean="0"/>
              <a:t> = 1  , k = 2</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348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a:t>
                </a:r>
                <a:r>
                  <a:rPr lang="en-US" altLang="zh-TW" dirty="0" smtClean="0">
                    <a:solidFill>
                      <a:srgbClr val="FF0000"/>
                    </a:solidFill>
                  </a:rPr>
                  <a:t>(1, 2) </a:t>
                </a:r>
                <a:r>
                  <a:rPr lang="en-US" altLang="zh-TW" dirty="0" smtClean="0"/>
                  <a:t>,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348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extLst/>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3013144968"/>
                  </p:ext>
                </p:extLst>
              </p:nvPr>
            </p:nvGraphicFramePr>
            <p:xfrm>
              <a:off x="34831" y="4050142"/>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3013144968"/>
                  </p:ext>
                </p:extLst>
              </p:nvPr>
            </p:nvGraphicFramePr>
            <p:xfrm>
              <a:off x="34831" y="4050142"/>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2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2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1358591080"/>
                  </p:ext>
                </p:extLst>
              </p:nvPr>
            </p:nvGraphicFramePr>
            <p:xfrm>
              <a:off x="34831" y="542586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1358591080"/>
                  </p:ext>
                </p:extLst>
              </p:nvPr>
            </p:nvGraphicFramePr>
            <p:xfrm>
              <a:off x="34831" y="5425869"/>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591539433"/>
                  </p:ext>
                </p:extLst>
              </p:nvPr>
            </p:nvGraphicFramePr>
            <p:xfrm>
              <a:off x="34831" y="29643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591539433"/>
                  </p:ext>
                </p:extLst>
              </p:nvPr>
            </p:nvGraphicFramePr>
            <p:xfrm>
              <a:off x="34831" y="29643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2292372583"/>
                  </p:ext>
                </p:extLst>
              </p:nvPr>
            </p:nvGraphicFramePr>
            <p:xfrm>
              <a:off x="34831" y="589819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2292372583"/>
                  </p:ext>
                </p:extLst>
              </p:nvPr>
            </p:nvGraphicFramePr>
            <p:xfrm>
              <a:off x="34831" y="589819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2887625647"/>
                  </p:ext>
                </p:extLst>
              </p:nvPr>
            </p:nvGraphicFramePr>
            <p:xfrm>
              <a:off x="34831" y="63484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2887625647"/>
                  </p:ext>
                </p:extLst>
              </p:nvPr>
            </p:nvGraphicFramePr>
            <p:xfrm>
              <a:off x="34831" y="63484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2863774481"/>
                  </p:ext>
                </p:extLst>
              </p:nvPr>
            </p:nvGraphicFramePr>
            <p:xfrm>
              <a:off x="2742035" y="41551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2863774481"/>
                  </p:ext>
                </p:extLst>
              </p:nvPr>
            </p:nvGraphicFramePr>
            <p:xfrm>
              <a:off x="2742035" y="41551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3614197505"/>
                  </p:ext>
                </p:extLst>
              </p:nvPr>
            </p:nvGraphicFramePr>
            <p:xfrm>
              <a:off x="2742035" y="463157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3614197505"/>
                  </p:ext>
                </p:extLst>
              </p:nvPr>
            </p:nvGraphicFramePr>
            <p:xfrm>
              <a:off x="2742035" y="4631577"/>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4128251505"/>
                  </p:ext>
                </p:extLst>
              </p:nvPr>
            </p:nvGraphicFramePr>
            <p:xfrm>
              <a:off x="2742035" y="56177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4128251505"/>
                  </p:ext>
                </p:extLst>
              </p:nvPr>
            </p:nvGraphicFramePr>
            <p:xfrm>
              <a:off x="2742035" y="56177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22</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sup>
                    </m:sSubSup>
                  </m:oMath>
                </a14:m>
                <a:r>
                  <a:rPr lang="en-US" altLang="zh-TW" dirty="0" smtClean="0"/>
                  <a:t> , 1)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215286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67906"/>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614404"/>
            <a:ext cx="1234633" cy="369332"/>
          </a:xfrm>
          <a:prstGeom prst="rect">
            <a:avLst/>
          </a:prstGeom>
          <a:noFill/>
        </p:spPr>
        <p:txBody>
          <a:bodyPr wrap="none" rtlCol="0">
            <a:spAutoFit/>
          </a:bodyPr>
          <a:lstStyle/>
          <a:p>
            <a:r>
              <a:rPr lang="en-US" altLang="zh-TW" dirty="0" err="1"/>
              <a:t>i</a:t>
            </a:r>
            <a:r>
              <a:rPr lang="en-US" altLang="zh-TW" dirty="0" smtClean="0"/>
              <a:t> = 1  , k = 3</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7339"/>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a:t>
                </a:r>
                <a:r>
                  <a:rPr lang="en-US" altLang="zh-TW" dirty="0" smtClean="0">
                    <a:solidFill>
                      <a:srgbClr val="FF0000"/>
                    </a:solidFill>
                  </a:rPr>
                  <a:t>(1, 3) </a:t>
                </a:r>
                <a:r>
                  <a:rPr lang="en-US" altLang="zh-TW" dirty="0" smtClean="0"/>
                  <a:t>,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7339"/>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4102221472"/>
                  </p:ext>
                </p:extLst>
              </p:nvPr>
            </p:nvGraphicFramePr>
            <p:xfrm>
              <a:off x="34831" y="4132648"/>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4102221472"/>
                  </p:ext>
                </p:extLst>
              </p:nvPr>
            </p:nvGraphicFramePr>
            <p:xfrm>
              <a:off x="34831" y="4132648"/>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463" r="-402381" b="-111940"/>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9091" r="-402381" b="-13636"/>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245915130"/>
                  </p:ext>
                </p:extLst>
              </p:nvPr>
            </p:nvGraphicFramePr>
            <p:xfrm>
              <a:off x="34831" y="5086408"/>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245915130"/>
                  </p:ext>
                </p:extLst>
              </p:nvPr>
            </p:nvGraphicFramePr>
            <p:xfrm>
              <a:off x="34831" y="5086408"/>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4"/>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515773311"/>
                  </p:ext>
                </p:extLst>
              </p:nvPr>
            </p:nvGraphicFramePr>
            <p:xfrm>
              <a:off x="34831" y="3046889"/>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515773311"/>
                  </p:ext>
                </p:extLst>
              </p:nvPr>
            </p:nvGraphicFramePr>
            <p:xfrm>
              <a:off x="34831" y="3046889"/>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5152"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042276536"/>
                  </p:ext>
                </p:extLst>
              </p:nvPr>
            </p:nvGraphicFramePr>
            <p:xfrm>
              <a:off x="34831" y="597054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042276536"/>
                  </p:ext>
                </p:extLst>
              </p:nvPr>
            </p:nvGraphicFramePr>
            <p:xfrm>
              <a:off x="34831" y="597054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2870057336"/>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2870057336"/>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3932696001"/>
                  </p:ext>
                </p:extLst>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932696001"/>
                  </p:ext>
                </p:extLst>
              </p:nvPr>
            </p:nvGraphicFramePr>
            <p:xfrm>
              <a:off x="2742035" y="423762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3485433098"/>
                  </p:ext>
                </p:extLst>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3485433098"/>
                  </p:ext>
                </p:extLst>
              </p:nvPr>
            </p:nvGraphicFramePr>
            <p:xfrm>
              <a:off x="2742035" y="4781608"/>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1601362089"/>
                  </p:ext>
                </p:extLst>
              </p:nvPr>
            </p:nvGraphicFramePr>
            <p:xfrm>
              <a:off x="2742035" y="53589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b="0" i="1" smtClean="0">
                                        <a:latin typeface="Cambria Math" panose="02040503050406030204" pitchFamily="18" charset="0"/>
                                      </a:rPr>
                                      <m:t>𝐻</m:t>
                                    </m:r>
                                  </m:e>
                                  <m:sub>
                                    <m:r>
                                      <a:rPr lang="en-US" altLang="zh-TW" sz="1400" b="0" i="1" smtClean="0">
                                        <a:latin typeface="Cambria Math" panose="02040503050406030204" pitchFamily="18" charset="0"/>
                                      </a:rPr>
                                      <m:t>1</m:t>
                                    </m:r>
                                  </m:sub>
                                  <m:sup>
                                    <m:r>
                                      <a:rPr lang="en-US" altLang="zh-TW" sz="1400" b="0" i="1" smtClean="0">
                                        <a:latin typeface="Cambria Math" panose="02040503050406030204" pitchFamily="18" charset="0"/>
                                      </a:rPr>
                                      <m:t>3</m:t>
                                    </m:r>
                                  </m:sup>
                                </m:sSubSup>
                              </m:oMath>
                            </m:oMathPara>
                          </a14:m>
                          <a:endParaRPr lang="zh-TW" altLang="en-US"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1601362089"/>
                  </p:ext>
                </p:extLst>
              </p:nvPr>
            </p:nvGraphicFramePr>
            <p:xfrm>
              <a:off x="2742035" y="53589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576" r="-402381" b="-15152"/>
                          </a:stretch>
                        </a:blipFill>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23</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473700" y="5563902"/>
                <a:ext cx="3771901"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a:t>
                </a:r>
                <a:r>
                  <a:rPr lang="pt-BR" altLang="zh-TW" i="1" dirty="0">
                    <a:solidFill>
                      <a:srgbClr val="FF0000"/>
                    </a:solidFill>
                  </a:rPr>
                  <a:t>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r>
                      <a:rPr lang="en-US" altLang="zh-TW" i="1">
                        <a:solidFill>
                          <a:srgbClr val="FF0000"/>
                        </a:solidFill>
                        <a:latin typeface="Cambria Math" panose="02040503050406030204" pitchFamily="18" charset="0"/>
                      </a:rPr>
                      <m:t>+1</m:t>
                    </m:r>
                  </m:oMath>
                </a14:m>
                <a:r>
                  <a:rPr lang="pt-BR" altLang="zh-TW" i="1" dirty="0" smtClean="0">
                    <a:solidFill>
                      <a:srgbClr val="FF0000"/>
                    </a:solidFill>
                  </a:rPr>
                  <a:t>)+1</a:t>
                </a:r>
                <a:endParaRPr lang="pt-BR" altLang="zh-TW" i="1" dirty="0">
                  <a:solidFill>
                    <a:srgbClr val="FF0000"/>
                  </a:solidFill>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2</m:t>
                        </m:r>
                      </m:sup>
                    </m:sSubSup>
                  </m:oMath>
                </a14:m>
                <a:r>
                  <a:rPr lang="en-US" altLang="zh-TW" dirty="0" smtClean="0"/>
                  <a:t> , 1~4)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473700" y="5563902"/>
                <a:ext cx="3771901" cy="997774"/>
              </a:xfrm>
              <a:prstGeom prst="rect">
                <a:avLst/>
              </a:prstGeom>
              <a:blipFill rotWithShape="0">
                <a:blip r:embed="rId11"/>
                <a:stretch>
                  <a:fillRect t="-1840" r="-323" b="-674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557513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616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608098"/>
            <a:ext cx="1234633" cy="369332"/>
          </a:xfrm>
          <a:prstGeom prst="rect">
            <a:avLst/>
          </a:prstGeom>
          <a:noFill/>
        </p:spPr>
        <p:txBody>
          <a:bodyPr wrap="none" rtlCol="0">
            <a:spAutoFit/>
          </a:bodyPr>
          <a:lstStyle/>
          <a:p>
            <a:r>
              <a:rPr lang="en-US" altLang="zh-TW" dirty="0" err="1"/>
              <a:t>i</a:t>
            </a:r>
            <a:r>
              <a:rPr lang="en-US" altLang="zh-TW" dirty="0" smtClean="0"/>
              <a:t> = 1  , k = 4</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9110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(2, 1) , </a:t>
                </a:r>
                <a:r>
                  <a:rPr lang="en-US" altLang="zh-TW" dirty="0" smtClean="0">
                    <a:solidFill>
                      <a:srgbClr val="FF0000"/>
                    </a:solidFill>
                  </a:rPr>
                  <a:t>(2, 4) </a:t>
                </a:r>
                <a:r>
                  <a:rPr lang="en-US" altLang="zh-TW" dirty="0" smtClean="0"/>
                  <a:t>,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911033"/>
                <a:ext cx="5211042" cy="986296"/>
              </a:xfrm>
              <a:prstGeom prst="rect">
                <a:avLst/>
              </a:prstGeom>
              <a:blipFill rotWithShape="0">
                <a:blip r:embed="rId2"/>
                <a:stretch>
                  <a:fillRect t="-1863"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2581508787"/>
                  </p:ext>
                </p:extLst>
              </p:nvPr>
            </p:nvGraphicFramePr>
            <p:xfrm>
              <a:off x="34831" y="41263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2581508787"/>
                  </p:ext>
                </p:extLst>
              </p:nvPr>
            </p:nvGraphicFramePr>
            <p:xfrm>
              <a:off x="34831" y="41263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463" r="-402381" b="-111940"/>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9091" r="-402381" b="-13636"/>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337802695"/>
                  </p:ext>
                </p:extLst>
              </p:nvPr>
            </p:nvGraphicFramePr>
            <p:xfrm>
              <a:off x="34831" y="50801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337802695"/>
                  </p:ext>
                </p:extLst>
              </p:nvPr>
            </p:nvGraphicFramePr>
            <p:xfrm>
              <a:off x="34831" y="50801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1408250454"/>
                  </p:ext>
                </p:extLst>
              </p:nvPr>
            </p:nvGraphicFramePr>
            <p:xfrm>
              <a:off x="34831" y="30405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1408250454"/>
                  </p:ext>
                </p:extLst>
              </p:nvPr>
            </p:nvGraphicFramePr>
            <p:xfrm>
              <a:off x="34831" y="30405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5152"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896025381"/>
                  </p:ext>
                </p:extLst>
              </p:nvPr>
            </p:nvGraphicFramePr>
            <p:xfrm>
              <a:off x="34831" y="558123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3</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solidFill>
                                          <a:schemeClr val="tx1"/>
                                        </a:solidFill>
                                        <a:latin typeface="Cambria Math" panose="02040503050406030204" pitchFamily="18" charset="0"/>
                                      </a:rPr>
                                    </m:ctrlPr>
                                  </m:sSubSupPr>
                                  <m:e>
                                    <m:r>
                                      <a:rPr lang="en-US" altLang="zh-TW" sz="1400" b="0" i="1" smtClean="0">
                                        <a:solidFill>
                                          <a:schemeClr val="tx1"/>
                                        </a:solidFill>
                                        <a:latin typeface="Cambria Math" panose="02040503050406030204" pitchFamily="18" charset="0"/>
                                      </a:rPr>
                                      <m:t>𝐻</m:t>
                                    </m:r>
                                  </m:e>
                                  <m:sub>
                                    <m:r>
                                      <a:rPr lang="en-US" altLang="zh-TW" sz="1400" b="0" i="1" smtClean="0">
                                        <a:solidFill>
                                          <a:schemeClr val="tx1"/>
                                        </a:solidFill>
                                        <a:latin typeface="Cambria Math" panose="02040503050406030204" pitchFamily="18" charset="0"/>
                                      </a:rPr>
                                      <m:t>1</m:t>
                                    </m:r>
                                  </m:sub>
                                  <m:sup>
                                    <m:r>
                                      <a:rPr lang="en-US" altLang="zh-TW" sz="1400" b="0" i="1" smtClean="0">
                                        <a:solidFill>
                                          <a:schemeClr val="tx1"/>
                                        </a:solidFill>
                                        <a:latin typeface="Cambria Math" panose="02040503050406030204" pitchFamily="18" charset="0"/>
                                      </a:rPr>
                                      <m:t>3</m:t>
                                    </m:r>
                                  </m:sup>
                                </m:sSubSup>
                              </m:oMath>
                            </m:oMathPara>
                          </a14:m>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896025381"/>
                  </p:ext>
                </p:extLst>
              </p:nvPr>
            </p:nvGraphicFramePr>
            <p:xfrm>
              <a:off x="34831" y="558123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6"/>
                          <a:stretch>
                            <a:fillRect l="-1190" t="-10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100975517"/>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100975517"/>
                  </p:ext>
                </p:extLst>
              </p:nvPr>
            </p:nvGraphicFramePr>
            <p:xfrm>
              <a:off x="34831" y="64583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1876446422"/>
                  </p:ext>
                </p:extLst>
              </p:nvPr>
            </p:nvGraphicFramePr>
            <p:xfrm>
              <a:off x="2742035" y="42313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1876446422"/>
                  </p:ext>
                </p:extLst>
              </p:nvPr>
            </p:nvGraphicFramePr>
            <p:xfrm>
              <a:off x="2742035" y="42313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1401594224"/>
                  </p:ext>
                </p:extLst>
              </p:nvPr>
            </p:nvGraphicFramePr>
            <p:xfrm>
              <a:off x="2742035" y="47753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1401594224"/>
                  </p:ext>
                </p:extLst>
              </p:nvPr>
            </p:nvGraphicFramePr>
            <p:xfrm>
              <a:off x="2742035" y="47753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2025442480"/>
                  </p:ext>
                </p:extLst>
              </p:nvPr>
            </p:nvGraphicFramePr>
            <p:xfrm>
              <a:off x="2742035" y="535260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2025442480"/>
                  </p:ext>
                </p:extLst>
              </p:nvPr>
            </p:nvGraphicFramePr>
            <p:xfrm>
              <a:off x="2742035" y="535260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rgbClr val="FF0000"/>
                              </a:solidFill>
                            </a:rPr>
                            <a:t>3</a:t>
                          </a:r>
                          <a:endParaRPr lang="zh-TW" altLang="en-US" dirty="0">
                            <a:solidFill>
                              <a:srgbClr val="FF0000"/>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24</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3</m:t>
                        </m:r>
                      </m:sup>
                    </m:sSubSup>
                  </m:oMath>
                </a14:m>
                <a:r>
                  <a:rPr lang="en-US" altLang="zh-TW" dirty="0" smtClean="0"/>
                  <a:t> , 2)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965781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362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82698"/>
            <a:ext cx="1234633" cy="369332"/>
          </a:xfrm>
          <a:prstGeom prst="rect">
            <a:avLst/>
          </a:prstGeom>
          <a:noFill/>
        </p:spPr>
        <p:txBody>
          <a:bodyPr wrap="none" rtlCol="0">
            <a:spAutoFit/>
          </a:bodyPr>
          <a:lstStyle/>
          <a:p>
            <a:r>
              <a:rPr lang="en-US" altLang="zh-TW" dirty="0" err="1"/>
              <a:t>i</a:t>
            </a:r>
            <a:r>
              <a:rPr lang="en-US" altLang="zh-TW" dirty="0" smtClean="0"/>
              <a:t> = 1  , k = </a:t>
            </a:r>
            <a:r>
              <a:rPr lang="en-US" altLang="zh-TW" dirty="0"/>
              <a:t>5</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856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a:t>
                </a:r>
                <a:r>
                  <a:rPr lang="en-US" altLang="zh-TW" dirty="0" smtClean="0">
                    <a:solidFill>
                      <a:srgbClr val="FF0000"/>
                    </a:solidFill>
                  </a:rPr>
                  <a:t>(1, 5) </a:t>
                </a:r>
                <a:r>
                  <a:rPr lang="en-US" altLang="zh-TW" dirty="0" smtClean="0"/>
                  <a:t>, (2,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856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636399273"/>
                  </p:ext>
                </p:extLst>
              </p:nvPr>
            </p:nvGraphicFramePr>
            <p:xfrm>
              <a:off x="34831" y="3952030"/>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636399273"/>
                  </p:ext>
                </p:extLst>
              </p:nvPr>
            </p:nvGraphicFramePr>
            <p:xfrm>
              <a:off x="34831" y="3952030"/>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2433787940"/>
                  </p:ext>
                </p:extLst>
              </p:nvPr>
            </p:nvGraphicFramePr>
            <p:xfrm>
              <a:off x="34831" y="490579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2433787940"/>
                  </p:ext>
                </p:extLst>
              </p:nvPr>
            </p:nvGraphicFramePr>
            <p:xfrm>
              <a:off x="34831" y="490579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4166424872"/>
                  </p:ext>
                </p:extLst>
              </p:nvPr>
            </p:nvGraphicFramePr>
            <p:xfrm>
              <a:off x="34831" y="30151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4166424872"/>
                  </p:ext>
                </p:extLst>
              </p:nvPr>
            </p:nvGraphicFramePr>
            <p:xfrm>
              <a:off x="34831" y="30151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132899600"/>
                  </p:ext>
                </p:extLst>
              </p:nvPr>
            </p:nvGraphicFramePr>
            <p:xfrm>
              <a:off x="34831" y="545772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solidFill>
                                          <a:schemeClr val="tx1"/>
                                        </a:solidFill>
                                        <a:latin typeface="Cambria Math" panose="02040503050406030204" pitchFamily="18" charset="0"/>
                                      </a:rPr>
                                    </m:ctrlPr>
                                  </m:sSubSupPr>
                                  <m:e>
                                    <m:r>
                                      <a:rPr lang="en-US" altLang="zh-TW" sz="1400" b="0" i="1" smtClean="0">
                                        <a:solidFill>
                                          <a:schemeClr val="tx1"/>
                                        </a:solidFill>
                                        <a:latin typeface="Cambria Math" panose="02040503050406030204" pitchFamily="18" charset="0"/>
                                      </a:rPr>
                                      <m:t>𝐻</m:t>
                                    </m:r>
                                  </m:e>
                                  <m:sub>
                                    <m:r>
                                      <a:rPr lang="en-US" altLang="zh-TW" sz="1400" b="0" i="1" smtClean="0">
                                        <a:solidFill>
                                          <a:schemeClr val="tx1"/>
                                        </a:solidFill>
                                        <a:latin typeface="Cambria Math" panose="02040503050406030204" pitchFamily="18" charset="0"/>
                                      </a:rPr>
                                      <m:t>1</m:t>
                                    </m:r>
                                  </m:sub>
                                  <m:sup>
                                    <m:r>
                                      <a:rPr lang="en-US" altLang="zh-TW" sz="1400" b="0" i="1" smtClean="0">
                                        <a:solidFill>
                                          <a:schemeClr val="tx1"/>
                                        </a:solidFill>
                                        <a:latin typeface="Cambria Math" panose="02040503050406030204" pitchFamily="18" charset="0"/>
                                      </a:rPr>
                                      <m:t>3</m:t>
                                    </m:r>
                                  </m:sup>
                                </m:sSubSup>
                              </m:oMath>
                            </m:oMathPara>
                          </a14:m>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132899600"/>
                  </p:ext>
                </p:extLst>
              </p:nvPr>
            </p:nvGraphicFramePr>
            <p:xfrm>
              <a:off x="34831" y="545772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280109245"/>
                  </p:ext>
                </p:extLst>
              </p:nvPr>
            </p:nvGraphicFramePr>
            <p:xfrm>
              <a:off x="34831" y="5940711"/>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280109245"/>
                  </p:ext>
                </p:extLst>
              </p:nvPr>
            </p:nvGraphicFramePr>
            <p:xfrm>
              <a:off x="34831" y="5940711"/>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7"/>
                          <a:stretch>
                            <a:fillRect l="-1190" t="-10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3034829871"/>
                  </p:ext>
                </p:extLst>
              </p:nvPr>
            </p:nvGraphicFramePr>
            <p:xfrm>
              <a:off x="2742035" y="42059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034829871"/>
                  </p:ext>
                </p:extLst>
              </p:nvPr>
            </p:nvGraphicFramePr>
            <p:xfrm>
              <a:off x="2742035" y="42059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2995344223"/>
                  </p:ext>
                </p:extLst>
              </p:nvPr>
            </p:nvGraphicFramePr>
            <p:xfrm>
              <a:off x="2742035" y="47499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2995344223"/>
                  </p:ext>
                </p:extLst>
              </p:nvPr>
            </p:nvGraphicFramePr>
            <p:xfrm>
              <a:off x="2742035" y="47499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2555447395"/>
                  </p:ext>
                </p:extLst>
              </p:nvPr>
            </p:nvGraphicFramePr>
            <p:xfrm>
              <a:off x="2742035" y="532720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2555447395"/>
                  </p:ext>
                </p:extLst>
              </p:nvPr>
            </p:nvGraphicFramePr>
            <p:xfrm>
              <a:off x="2742035" y="532720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25</a:t>
            </a:fld>
            <a:endParaRPr lang="zh-TW" altLang="en-US"/>
          </a:p>
        </p:txBody>
      </p:sp>
      <mc:AlternateContent xmlns:mc="http://schemas.openxmlformats.org/markup-compatibility/2006" xmlns:a14="http://schemas.microsoft.com/office/drawing/2010/main">
        <mc:Choice Requires="a14">
          <p:sp>
            <p:nvSpPr>
              <p:cNvPr id="48" name="文字方塊 47"/>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sSubSup>
                  </m:oMath>
                </a14:m>
                <a:r>
                  <a:rPr lang="en-US" altLang="zh-TW" dirty="0" smtClean="0"/>
                  <a:t> , 1) + 1</a:t>
                </a:r>
                <a:endParaRPr lang="zh-TW" altLang="en-US"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013104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3854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31898"/>
            <a:ext cx="1234633" cy="369332"/>
          </a:xfrm>
          <a:prstGeom prst="rect">
            <a:avLst/>
          </a:prstGeom>
          <a:noFill/>
        </p:spPr>
        <p:txBody>
          <a:bodyPr wrap="none" rtlCol="0">
            <a:spAutoFit/>
          </a:bodyPr>
          <a:lstStyle/>
          <a:p>
            <a:r>
              <a:rPr lang="en-US" altLang="zh-TW" dirty="0" err="1"/>
              <a:t>i</a:t>
            </a:r>
            <a:r>
              <a:rPr lang="en-US" altLang="zh-TW" dirty="0" smtClean="0"/>
              <a:t> = 1  , k = </a:t>
            </a:r>
            <a:r>
              <a:rPr lang="en-US" altLang="zh-TW" dirty="0"/>
              <a:t>6</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348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 (2, 1) , (2, 4) , </a:t>
                </a:r>
                <a:r>
                  <a:rPr lang="en-US" altLang="zh-TW" dirty="0" smtClean="0">
                    <a:solidFill>
                      <a:srgbClr val="FF0000"/>
                    </a:solidFill>
                  </a:rPr>
                  <a:t>(3, 6) </a:t>
                </a:r>
                <a:r>
                  <a:rPr lang="en-US" altLang="zh-TW" dirty="0" smtClean="0"/>
                  <a:t>}</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348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1130519788"/>
                  </p:ext>
                </p:extLst>
              </p:nvPr>
            </p:nvGraphicFramePr>
            <p:xfrm>
              <a:off x="34831" y="40501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1130519788"/>
                  </p:ext>
                </p:extLst>
              </p:nvPr>
            </p:nvGraphicFramePr>
            <p:xfrm>
              <a:off x="34831" y="405014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4067782725"/>
                  </p:ext>
                </p:extLst>
              </p:nvPr>
            </p:nvGraphicFramePr>
            <p:xfrm>
              <a:off x="34831" y="50039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4067782725"/>
                  </p:ext>
                </p:extLst>
              </p:nvPr>
            </p:nvGraphicFramePr>
            <p:xfrm>
              <a:off x="34831" y="500390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2880853569"/>
                  </p:ext>
                </p:extLst>
              </p:nvPr>
            </p:nvGraphicFramePr>
            <p:xfrm>
              <a:off x="34831" y="29643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2880853569"/>
                  </p:ext>
                </p:extLst>
              </p:nvPr>
            </p:nvGraphicFramePr>
            <p:xfrm>
              <a:off x="34831" y="29643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1541432781"/>
                  </p:ext>
                </p:extLst>
              </p:nvPr>
            </p:nvGraphicFramePr>
            <p:xfrm>
              <a:off x="34831" y="559393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solidFill>
                                          <a:schemeClr val="tx1"/>
                                        </a:solidFill>
                                        <a:latin typeface="Cambria Math" panose="02040503050406030204" pitchFamily="18" charset="0"/>
                                      </a:rPr>
                                    </m:ctrlPr>
                                  </m:sSubSupPr>
                                  <m:e>
                                    <m:r>
                                      <a:rPr lang="en-US" altLang="zh-TW" sz="1400" b="0" i="1" smtClean="0">
                                        <a:solidFill>
                                          <a:schemeClr val="tx1"/>
                                        </a:solidFill>
                                        <a:latin typeface="Cambria Math" panose="02040503050406030204" pitchFamily="18" charset="0"/>
                                      </a:rPr>
                                      <m:t>𝐻</m:t>
                                    </m:r>
                                  </m:e>
                                  <m:sub>
                                    <m:r>
                                      <a:rPr lang="en-US" altLang="zh-TW" sz="1400" b="0" i="1" smtClean="0">
                                        <a:solidFill>
                                          <a:schemeClr val="tx1"/>
                                        </a:solidFill>
                                        <a:latin typeface="Cambria Math" panose="02040503050406030204" pitchFamily="18" charset="0"/>
                                      </a:rPr>
                                      <m:t>1</m:t>
                                    </m:r>
                                  </m:sub>
                                  <m:sup>
                                    <m:r>
                                      <a:rPr lang="en-US" altLang="zh-TW" sz="1400" b="0" i="1" smtClean="0">
                                        <a:solidFill>
                                          <a:schemeClr val="tx1"/>
                                        </a:solidFill>
                                        <a:latin typeface="Cambria Math" panose="02040503050406030204" pitchFamily="18" charset="0"/>
                                      </a:rPr>
                                      <m:t>3</m:t>
                                    </m:r>
                                  </m:sup>
                                </m:sSubSup>
                              </m:oMath>
                            </m:oMathPara>
                          </a14:m>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1541432781"/>
                  </p:ext>
                </p:extLst>
              </p:nvPr>
            </p:nvGraphicFramePr>
            <p:xfrm>
              <a:off x="34831" y="559393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665909305"/>
                  </p:ext>
                </p:extLst>
              </p:nvPr>
            </p:nvGraphicFramePr>
            <p:xfrm>
              <a:off x="34831" y="62074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665909305"/>
                  </p:ext>
                </p:extLst>
              </p:nvPr>
            </p:nvGraphicFramePr>
            <p:xfrm>
              <a:off x="34831" y="620741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3857774396"/>
                  </p:ext>
                </p:extLst>
              </p:nvPr>
            </p:nvGraphicFramePr>
            <p:xfrm>
              <a:off x="2742035" y="415512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3857774396"/>
                  </p:ext>
                </p:extLst>
              </p:nvPr>
            </p:nvGraphicFramePr>
            <p:xfrm>
              <a:off x="2742035" y="4155122"/>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8"/>
                          <a:stretch>
                            <a:fillRect l="-1190" t="-10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2122039418"/>
                  </p:ext>
                </p:extLst>
              </p:nvPr>
            </p:nvGraphicFramePr>
            <p:xfrm>
              <a:off x="2742035" y="50033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0</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2122039418"/>
                  </p:ext>
                </p:extLst>
              </p:nvPr>
            </p:nvGraphicFramePr>
            <p:xfrm>
              <a:off x="2742035" y="5003325"/>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2240331644"/>
                  </p:ext>
                </p:extLst>
              </p:nvPr>
            </p:nvGraphicFramePr>
            <p:xfrm>
              <a:off x="2742035" y="578173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6</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rgbClr val="FF0000"/>
                              </a:solidFill>
                            </a:rPr>
                            <a:t>4</a:t>
                          </a:r>
                          <a:endParaRPr lang="zh-TW" altLang="en-US" dirty="0">
                            <a:solidFill>
                              <a:srgbClr val="FF0000"/>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2240331644"/>
                  </p:ext>
                </p:extLst>
              </p:nvPr>
            </p:nvGraphicFramePr>
            <p:xfrm>
              <a:off x="2742035" y="578173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3433"/>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rgbClr val="FF0000"/>
                              </a:solidFill>
                            </a:rPr>
                            <a:t>4</a:t>
                          </a:r>
                          <a:endParaRPr lang="zh-TW" altLang="en-US" dirty="0">
                            <a:solidFill>
                              <a:srgbClr val="FF0000"/>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26</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5</m:t>
                        </m:r>
                      </m:sup>
                    </m:sSubSup>
                  </m:oMath>
                </a14:m>
                <a:r>
                  <a:rPr lang="en-US" altLang="zh-TW" dirty="0" smtClean="0"/>
                  <a:t> , 3)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7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42019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solidFill>
                      <a:schemeClr val="accent2"/>
                    </a:solidFill>
                  </a:tcPr>
                </a:tc>
                <a:tc>
                  <a:txBody>
                    <a:bodyPr/>
                    <a:lstStyle/>
                    <a:p>
                      <a:endParaRPr lang="zh-TW" altLang="en-US"/>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235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69998"/>
            <a:ext cx="1234633" cy="369332"/>
          </a:xfrm>
          <a:prstGeom prst="rect">
            <a:avLst/>
          </a:prstGeom>
          <a:noFill/>
        </p:spPr>
        <p:txBody>
          <a:bodyPr wrap="none" rtlCol="0">
            <a:spAutoFit/>
          </a:bodyPr>
          <a:lstStyle/>
          <a:p>
            <a:r>
              <a:rPr lang="en-US" altLang="zh-TW" dirty="0" err="1"/>
              <a:t>i</a:t>
            </a:r>
            <a:r>
              <a:rPr lang="en-US" altLang="zh-TW" dirty="0" smtClean="0"/>
              <a:t> = 2  , k = 1</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729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a:t>
                </a:r>
                <a:r>
                  <a:rPr lang="en-US" altLang="zh-TW" dirty="0" smtClean="0">
                    <a:solidFill>
                      <a:srgbClr val="FF0000"/>
                    </a:solidFill>
                  </a:rPr>
                  <a:t> (2, 1) </a:t>
                </a:r>
                <a:r>
                  <a:rPr lang="en-US" altLang="zh-TW" dirty="0" smtClean="0"/>
                  <a:t>,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729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3420127014"/>
                  </p:ext>
                </p:extLst>
              </p:nvPr>
            </p:nvGraphicFramePr>
            <p:xfrm>
              <a:off x="34831" y="3939330"/>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3420127014"/>
                  </p:ext>
                </p:extLst>
              </p:nvPr>
            </p:nvGraphicFramePr>
            <p:xfrm>
              <a:off x="34831" y="3939330"/>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667386442"/>
                  </p:ext>
                </p:extLst>
              </p:nvPr>
            </p:nvGraphicFramePr>
            <p:xfrm>
              <a:off x="34831" y="486725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667386442"/>
                  </p:ext>
                </p:extLst>
              </p:nvPr>
            </p:nvGraphicFramePr>
            <p:xfrm>
              <a:off x="34831" y="486725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3784683870"/>
                  </p:ext>
                </p:extLst>
              </p:nvPr>
            </p:nvGraphicFramePr>
            <p:xfrm>
              <a:off x="34831" y="30024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3784683870"/>
                  </p:ext>
                </p:extLst>
              </p:nvPr>
            </p:nvGraphicFramePr>
            <p:xfrm>
              <a:off x="34831" y="30024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174524818"/>
                  </p:ext>
                </p:extLst>
              </p:nvPr>
            </p:nvGraphicFramePr>
            <p:xfrm>
              <a:off x="34831" y="536838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solidFill>
                                          <a:schemeClr val="tx1"/>
                                        </a:solidFill>
                                        <a:latin typeface="Cambria Math" panose="02040503050406030204" pitchFamily="18" charset="0"/>
                                      </a:rPr>
                                    </m:ctrlPr>
                                  </m:sSubSupPr>
                                  <m:e>
                                    <m:r>
                                      <a:rPr lang="en-US" altLang="zh-TW" sz="1400" b="0" i="1" smtClean="0">
                                        <a:solidFill>
                                          <a:schemeClr val="tx1"/>
                                        </a:solidFill>
                                        <a:latin typeface="Cambria Math" panose="02040503050406030204" pitchFamily="18" charset="0"/>
                                      </a:rPr>
                                      <m:t>𝐻</m:t>
                                    </m:r>
                                  </m:e>
                                  <m:sub>
                                    <m:r>
                                      <a:rPr lang="en-US" altLang="zh-TW" sz="1400" b="0" i="1" smtClean="0">
                                        <a:solidFill>
                                          <a:schemeClr val="tx1"/>
                                        </a:solidFill>
                                        <a:latin typeface="Cambria Math" panose="02040503050406030204" pitchFamily="18" charset="0"/>
                                      </a:rPr>
                                      <m:t>1</m:t>
                                    </m:r>
                                  </m:sub>
                                  <m:sup>
                                    <m:r>
                                      <a:rPr lang="en-US" altLang="zh-TW" sz="1400" b="0" i="1" smtClean="0">
                                        <a:solidFill>
                                          <a:schemeClr val="tx1"/>
                                        </a:solidFill>
                                        <a:latin typeface="Cambria Math" panose="02040503050406030204" pitchFamily="18" charset="0"/>
                                      </a:rPr>
                                      <m:t>3</m:t>
                                    </m:r>
                                  </m:sup>
                                </m:sSubSup>
                              </m:oMath>
                            </m:oMathPara>
                          </a14:m>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174524818"/>
                  </p:ext>
                </p:extLst>
              </p:nvPr>
            </p:nvGraphicFramePr>
            <p:xfrm>
              <a:off x="34831" y="5368383"/>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324320813"/>
                  </p:ext>
                </p:extLst>
              </p:nvPr>
            </p:nvGraphicFramePr>
            <p:xfrm>
              <a:off x="34831" y="589296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324320813"/>
                  </p:ext>
                </p:extLst>
              </p:nvPr>
            </p:nvGraphicFramePr>
            <p:xfrm>
              <a:off x="34831" y="589296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1341052304"/>
                  </p:ext>
                </p:extLst>
              </p:nvPr>
            </p:nvGraphicFramePr>
            <p:xfrm>
              <a:off x="34831" y="6403340"/>
              <a:ext cx="2554465" cy="36576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234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1341052304"/>
                  </p:ext>
                </p:extLst>
              </p:nvPr>
            </p:nvGraphicFramePr>
            <p:xfrm>
              <a:off x="34831" y="6403340"/>
              <a:ext cx="2554465" cy="36576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65760">
                    <a:tc>
                      <a:txBody>
                        <a:bodyPr/>
                        <a:lstStyle/>
                        <a:p>
                          <a:endParaRPr lang="zh-TW"/>
                        </a:p>
                      </a:txBody>
                      <a:tcPr>
                        <a:blipFill rotWithShape="0">
                          <a:blip r:embed="rId8"/>
                          <a:stretch>
                            <a:fillRect l="-1190" t="-8197" r="-402381" b="-24590"/>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713979300"/>
                  </p:ext>
                </p:extLst>
              </p:nvPr>
            </p:nvGraphicFramePr>
            <p:xfrm>
              <a:off x="2742035" y="4267793"/>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0</m:t>
                                    </m:r>
                                  </m:sub>
                                  <m:sup>
                                    <m:r>
                                      <a:rPr lang="en-US" altLang="zh-TW" sz="1600" b="0" i="1" smtClean="0">
                                        <a:solidFill>
                                          <a:schemeClr val="tx1"/>
                                        </a:solidFill>
                                        <a:latin typeface="Cambria Math" panose="02040503050406030204" pitchFamily="18" charset="0"/>
                                      </a:rPr>
                                      <m:t>6</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1</m:t>
                                    </m:r>
                                  </m:sub>
                                  <m:sup>
                                    <m:r>
                                      <a:rPr lang="en-US" altLang="zh-TW" sz="1600" b="0" i="1" smtClean="0">
                                        <a:solidFill>
                                          <a:schemeClr val="tx1"/>
                                        </a:solidFill>
                                        <a:latin typeface="Cambria Math" panose="02040503050406030204" pitchFamily="18" charset="0"/>
                                      </a:rPr>
                                      <m:t>6</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713979300"/>
                  </p:ext>
                </p:extLst>
              </p:nvPr>
            </p:nvGraphicFramePr>
            <p:xfrm>
              <a:off x="2742035" y="4267793"/>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9"/>
                          <a:stretch>
                            <a:fillRect l="-1190" t="-10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1231501143"/>
                  </p:ext>
                </p:extLst>
              </p:nvPr>
            </p:nvGraphicFramePr>
            <p:xfrm>
              <a:off x="2742035" y="543482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b="0" dirty="0" smtClean="0">
                              <a:solidFill>
                                <a:srgbClr val="FF0000"/>
                              </a:solidFill>
                            </a:rPr>
                            <a:t>1</a:t>
                          </a:r>
                          <a:endParaRPr lang="zh-TW" altLang="en-US" b="0"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1231501143"/>
                  </p:ext>
                </p:extLst>
              </p:nvPr>
            </p:nvGraphicFramePr>
            <p:xfrm>
              <a:off x="2742035" y="543482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b="0" dirty="0" smtClean="0">
                              <a:solidFill>
                                <a:srgbClr val="FF0000"/>
                              </a:solidFill>
                            </a:rPr>
                            <a:t>1</a:t>
                          </a:r>
                          <a:endParaRPr lang="zh-TW" altLang="en-US" b="0" dirty="0">
                            <a:solidFill>
                              <a:srgbClr val="FF0000"/>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27</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0</m:t>
                        </m:r>
                      </m:sup>
                    </m:sSubSup>
                  </m:oMath>
                </a14:m>
                <a:r>
                  <a:rPr lang="en-US" altLang="zh-TW" dirty="0" smtClean="0"/>
                  <a:t> , 2)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7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71763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4235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69998"/>
            <a:ext cx="1234633" cy="369332"/>
          </a:xfrm>
          <a:prstGeom prst="rect">
            <a:avLst/>
          </a:prstGeom>
          <a:noFill/>
        </p:spPr>
        <p:txBody>
          <a:bodyPr wrap="none" rtlCol="0">
            <a:spAutoFit/>
          </a:bodyPr>
          <a:lstStyle/>
          <a:p>
            <a:r>
              <a:rPr lang="en-US" altLang="zh-TW" dirty="0" err="1"/>
              <a:t>i</a:t>
            </a:r>
            <a:r>
              <a:rPr lang="en-US" altLang="zh-TW" dirty="0" smtClean="0"/>
              <a:t> = 2  , k = 2</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729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(2, 2) ,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a:t>
                </a:r>
                <a:r>
                  <a:rPr lang="en-US" altLang="zh-TW" dirty="0" smtClean="0">
                    <a:solidFill>
                      <a:srgbClr val="FF0000"/>
                    </a:solidFill>
                  </a:rPr>
                  <a:t> (1, 2) </a:t>
                </a:r>
                <a:r>
                  <a:rPr lang="en-US" altLang="zh-TW" dirty="0" smtClean="0"/>
                  <a:t>, (1, 5) ,</a:t>
                </a:r>
                <a:r>
                  <a:rPr lang="en-US" altLang="zh-TW" dirty="0" smtClean="0">
                    <a:solidFill>
                      <a:srgbClr val="FF0000"/>
                    </a:solidFill>
                  </a:rPr>
                  <a:t> </a:t>
                </a:r>
                <a:r>
                  <a:rPr lang="en-US" altLang="zh-TW" dirty="0" smtClean="0"/>
                  <a:t>(2,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729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1445252322"/>
                  </p:ext>
                </p:extLst>
              </p:nvPr>
            </p:nvGraphicFramePr>
            <p:xfrm>
              <a:off x="34831" y="3939330"/>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2</m:t>
                                    </m:r>
                                  </m:sub>
                                  <m:sup>
                                    <m:r>
                                      <a:rPr lang="en-US" altLang="zh-TW" sz="1600" b="0" i="1" smtClean="0">
                                        <a:solidFill>
                                          <a:schemeClr val="tx1"/>
                                        </a:solidFill>
                                        <a:latin typeface="Cambria Math" panose="02040503050406030204" pitchFamily="18" charset="0"/>
                                      </a:rPr>
                                      <m:t>1</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b="0" dirty="0" smtClean="0">
                              <a:solidFill>
                                <a:schemeClr val="tx1"/>
                              </a:solidFill>
                            </a:rPr>
                            <a:t>1</a:t>
                          </a:r>
                          <a:endParaRPr lang="zh-TW" altLang="en-US" b="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1445252322"/>
                  </p:ext>
                </p:extLst>
              </p:nvPr>
            </p:nvGraphicFramePr>
            <p:xfrm>
              <a:off x="34831" y="3939330"/>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213636"/>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9231" r="-402381" b="-116923"/>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206061"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b="0" dirty="0" smtClean="0">
                              <a:solidFill>
                                <a:schemeClr val="tx1"/>
                              </a:solidFill>
                            </a:rPr>
                            <a:t>1</a:t>
                          </a:r>
                          <a:endParaRPr lang="zh-TW" altLang="en-US" b="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3353047038"/>
                  </p:ext>
                </p:extLst>
              </p:nvPr>
            </p:nvGraphicFramePr>
            <p:xfrm>
              <a:off x="34831" y="52929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3353047038"/>
                  </p:ext>
                </p:extLst>
              </p:nvPr>
            </p:nvGraphicFramePr>
            <p:xfrm>
              <a:off x="34831" y="52929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2954760863"/>
                  </p:ext>
                </p:extLst>
              </p:nvPr>
            </p:nvGraphicFramePr>
            <p:xfrm>
              <a:off x="34831" y="30024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2954760863"/>
                  </p:ext>
                </p:extLst>
              </p:nvPr>
            </p:nvGraphicFramePr>
            <p:xfrm>
              <a:off x="34831" y="30024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563998615"/>
                  </p:ext>
                </p:extLst>
              </p:nvPr>
            </p:nvGraphicFramePr>
            <p:xfrm>
              <a:off x="34831" y="58448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solidFill>
                                          <a:schemeClr val="tx1"/>
                                        </a:solidFill>
                                        <a:latin typeface="Cambria Math" panose="02040503050406030204" pitchFamily="18" charset="0"/>
                                      </a:rPr>
                                    </m:ctrlPr>
                                  </m:sSubSupPr>
                                  <m:e>
                                    <m:r>
                                      <a:rPr lang="en-US" altLang="zh-TW" sz="1400" b="0" i="1" smtClean="0">
                                        <a:solidFill>
                                          <a:schemeClr val="tx1"/>
                                        </a:solidFill>
                                        <a:latin typeface="Cambria Math" panose="02040503050406030204" pitchFamily="18" charset="0"/>
                                      </a:rPr>
                                      <m:t>𝐻</m:t>
                                    </m:r>
                                  </m:e>
                                  <m:sub>
                                    <m:r>
                                      <a:rPr lang="en-US" altLang="zh-TW" sz="1400" b="0" i="1" smtClean="0">
                                        <a:solidFill>
                                          <a:schemeClr val="tx1"/>
                                        </a:solidFill>
                                        <a:latin typeface="Cambria Math" panose="02040503050406030204" pitchFamily="18" charset="0"/>
                                      </a:rPr>
                                      <m:t>1</m:t>
                                    </m:r>
                                  </m:sub>
                                  <m:sup>
                                    <m:r>
                                      <a:rPr lang="en-US" altLang="zh-TW" sz="1400" b="0" i="1" smtClean="0">
                                        <a:solidFill>
                                          <a:schemeClr val="tx1"/>
                                        </a:solidFill>
                                        <a:latin typeface="Cambria Math" panose="02040503050406030204" pitchFamily="18" charset="0"/>
                                      </a:rPr>
                                      <m:t>3</m:t>
                                    </m:r>
                                  </m:sup>
                                </m:sSubSup>
                              </m:oMath>
                            </m:oMathPara>
                          </a14:m>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563998615"/>
                  </p:ext>
                </p:extLst>
              </p:nvPr>
            </p:nvGraphicFramePr>
            <p:xfrm>
              <a:off x="34831" y="58448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1968425783"/>
                  </p:ext>
                </p:extLst>
              </p:nvPr>
            </p:nvGraphicFramePr>
            <p:xfrm>
              <a:off x="34831" y="63567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1968425783"/>
                  </p:ext>
                </p:extLst>
              </p:nvPr>
            </p:nvGraphicFramePr>
            <p:xfrm>
              <a:off x="34831" y="63567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2784072076"/>
                  </p:ext>
                </p:extLst>
              </p:nvPr>
            </p:nvGraphicFramePr>
            <p:xfrm>
              <a:off x="2742035" y="41932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2784072076"/>
                  </p:ext>
                </p:extLst>
              </p:nvPr>
            </p:nvGraphicFramePr>
            <p:xfrm>
              <a:off x="2742035" y="41932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1105498271"/>
                  </p:ext>
                </p:extLst>
              </p:nvPr>
            </p:nvGraphicFramePr>
            <p:xfrm>
              <a:off x="2742035" y="4809214"/>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0</m:t>
                                    </m:r>
                                  </m:sub>
                                  <m:sup>
                                    <m:r>
                                      <a:rPr lang="en-US" altLang="zh-TW" sz="1600" b="0" i="1" smtClean="0">
                                        <a:solidFill>
                                          <a:schemeClr val="tx1"/>
                                        </a:solidFill>
                                        <a:latin typeface="Cambria Math" panose="02040503050406030204" pitchFamily="18" charset="0"/>
                                      </a:rPr>
                                      <m:t>6</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1</m:t>
                                    </m:r>
                                  </m:sub>
                                  <m:sup>
                                    <m:r>
                                      <a:rPr lang="en-US" altLang="zh-TW" sz="1600" b="0" i="1" smtClean="0">
                                        <a:solidFill>
                                          <a:schemeClr val="tx1"/>
                                        </a:solidFill>
                                        <a:latin typeface="Cambria Math" panose="02040503050406030204" pitchFamily="18" charset="0"/>
                                      </a:rPr>
                                      <m:t>6</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1105498271"/>
                  </p:ext>
                </p:extLst>
              </p:nvPr>
            </p:nvGraphicFramePr>
            <p:xfrm>
              <a:off x="2742035" y="4809214"/>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463" r="-402381" b="-111940"/>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9"/>
                          <a:stretch>
                            <a:fillRect l="-1190" t="-109091" r="-402381" b="-13636"/>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892973161"/>
                  </p:ext>
                </p:extLst>
              </p:nvPr>
            </p:nvGraphicFramePr>
            <p:xfrm>
              <a:off x="2742035" y="580780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b="0" dirty="0" smtClean="0">
                              <a:solidFill>
                                <a:schemeClr val="tx1"/>
                              </a:solidFill>
                            </a:rPr>
                            <a:t>1</a:t>
                          </a:r>
                          <a:endParaRPr lang="zh-TW" altLang="en-US" b="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892973161"/>
                  </p:ext>
                </p:extLst>
              </p:nvPr>
            </p:nvGraphicFramePr>
            <p:xfrm>
              <a:off x="2742035" y="580780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b="0" dirty="0" smtClean="0">
                              <a:solidFill>
                                <a:schemeClr val="tx1"/>
                              </a:solidFill>
                            </a:rPr>
                            <a:t>1</a:t>
                          </a:r>
                          <a:endParaRPr lang="zh-TW" altLang="en-US" b="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28</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702301" y="5510642"/>
                <a:ext cx="3441699"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=BoundedMax(</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oMath>
                </a14:m>
                <a:r>
                  <a:rPr lang="pt-BR" altLang="zh-TW" i="1" dirty="0">
                    <a:solidFill>
                      <a:srgbClr val="FF0000"/>
                    </a:solidFill>
                  </a:rPr>
                  <a:t>) + 1</a:t>
                </a:r>
                <a:endParaRPr lang="zh-TW" altLang="en-US" dirty="0">
                  <a:solidFill>
                    <a:srgbClr val="FF0000"/>
                  </a:solidFill>
                  <a:latin typeface="Times New Roman" panose="02020603050405020304" pitchFamily="18" charset="0"/>
                  <a:cs typeface="Times New Roman" panose="02020603050405020304" pitchFamily="18" charset="0"/>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2</m:t>
                        </m:r>
                      </m:sub>
                      <m:sup>
                        <m:r>
                          <a:rPr lang="en-US" altLang="zh-TW" b="0" i="1" smtClean="0">
                            <a:latin typeface="Cambria Math" panose="02040503050406030204" pitchFamily="18" charset="0"/>
                          </a:rPr>
                          <m:t>1</m:t>
                        </m:r>
                      </m:sup>
                    </m:sSubSup>
                  </m:oMath>
                </a14:m>
                <a:r>
                  <a:rPr lang="en-US" altLang="zh-TW" dirty="0" smtClean="0"/>
                  <a:t> , 1)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02301" y="5510642"/>
                <a:ext cx="3441699" cy="997774"/>
              </a:xfrm>
              <a:prstGeom prst="rect">
                <a:avLst/>
              </a:prstGeom>
              <a:blipFill rotWithShape="0">
                <a:blip r:embed="rId11"/>
                <a:stretch>
                  <a:fillRect t="-1829"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32706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668224" y="585112"/>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
        <p:nvSpPr>
          <p:cNvPr id="11" name="文字方塊 10"/>
          <p:cNvSpPr txBox="1"/>
          <p:nvPr/>
        </p:nvSpPr>
        <p:spPr>
          <a:xfrm>
            <a:off x="1072896" y="-85344"/>
            <a:ext cx="239168" cy="369332"/>
          </a:xfrm>
          <a:prstGeom prst="rect">
            <a:avLst/>
          </a:prstGeom>
          <a:noFill/>
        </p:spPr>
        <p:txBody>
          <a:bodyPr wrap="none" rtlCol="0">
            <a:spAutoFit/>
          </a:bodyPr>
          <a:lstStyle/>
          <a:p>
            <a:r>
              <a:rPr lang="en-US" altLang="zh-TW" dirty="0" err="1"/>
              <a:t>j</a:t>
            </a:r>
            <a:endParaRPr lang="zh-TW" altLang="en-US" dirty="0"/>
          </a:p>
        </p:txBody>
      </p:sp>
      <p:sp>
        <p:nvSpPr>
          <p:cNvPr id="12" name="文字方塊 11"/>
          <p:cNvSpPr txBox="1"/>
          <p:nvPr/>
        </p:nvSpPr>
        <p:spPr>
          <a:xfrm>
            <a:off x="-12608" y="815618"/>
            <a:ext cx="237566" cy="369332"/>
          </a:xfrm>
          <a:prstGeom prst="rect">
            <a:avLst/>
          </a:prstGeom>
          <a:noFill/>
        </p:spPr>
        <p:txBody>
          <a:bodyPr wrap="none" rtlCol="0">
            <a:spAutoFit/>
          </a:bodyPr>
          <a:lstStyle/>
          <a:p>
            <a:r>
              <a:rPr lang="en-US" altLang="zh-TW" dirty="0" err="1" smtClean="0"/>
              <a:t>i</a:t>
            </a:r>
            <a:endParaRPr lang="zh-TW" altLang="en-US" dirty="0"/>
          </a:p>
        </p:txBody>
      </p:sp>
      <p:sp>
        <p:nvSpPr>
          <p:cNvPr id="13" name="文字方塊 12"/>
          <p:cNvSpPr txBox="1"/>
          <p:nvPr/>
        </p:nvSpPr>
        <p:spPr>
          <a:xfrm>
            <a:off x="383655" y="2385400"/>
            <a:ext cx="8260379" cy="369332"/>
          </a:xfrm>
          <a:prstGeom prst="rect">
            <a:avLst/>
          </a:prstGeom>
          <a:noFill/>
        </p:spPr>
        <p:txBody>
          <a:bodyPr wrap="square" rtlCol="0">
            <a:spAutoFit/>
          </a:bodyPr>
          <a:lstStyle/>
          <a:p>
            <a:r>
              <a:rPr lang="en-US" altLang="zh-TW" dirty="0" smtClean="0"/>
              <a:t>k =          1                         2                       3                         4                          5                         6</a:t>
            </a:r>
            <a:endParaRPr lang="zh-TW" altLang="en-US" dirty="0"/>
          </a:p>
        </p:txBody>
      </p:sp>
      <p:sp>
        <p:nvSpPr>
          <p:cNvPr id="24" name="文字方塊 23"/>
          <p:cNvSpPr txBox="1"/>
          <p:nvPr/>
        </p:nvSpPr>
        <p:spPr>
          <a:xfrm>
            <a:off x="2742035" y="3531898"/>
            <a:ext cx="1234633" cy="369332"/>
          </a:xfrm>
          <a:prstGeom prst="rect">
            <a:avLst/>
          </a:prstGeom>
          <a:noFill/>
        </p:spPr>
        <p:txBody>
          <a:bodyPr wrap="none" rtlCol="0">
            <a:spAutoFit/>
          </a:bodyPr>
          <a:lstStyle/>
          <a:p>
            <a:r>
              <a:rPr lang="en-US" altLang="zh-TW" dirty="0" err="1"/>
              <a:t>i</a:t>
            </a:r>
            <a:r>
              <a:rPr lang="en-US" altLang="zh-TW" dirty="0" smtClean="0"/>
              <a:t> = 2  , k = 2</a:t>
            </a:r>
            <a:endParaRPr lang="zh-TW" altLang="en-US" dirty="0"/>
          </a:p>
        </p:txBody>
      </p:sp>
      <mc:AlternateContent xmlns:mc="http://schemas.openxmlformats.org/markup-compatibility/2006" xmlns:a14="http://schemas.microsoft.com/office/drawing/2010/main">
        <mc:Choice Requires="a14">
          <p:sp>
            <p:nvSpPr>
              <p:cNvPr id="26" name="文字方塊 25"/>
              <p:cNvSpPr txBox="1"/>
              <p:nvPr/>
            </p:nvSpPr>
            <p:spPr>
              <a:xfrm>
                <a:off x="3932958" y="2834833"/>
                <a:ext cx="5211042" cy="986296"/>
              </a:xfrm>
              <a:prstGeom prst="rect">
                <a:avLst/>
              </a:prstGeom>
              <a:noFill/>
            </p:spPr>
            <p:txBody>
              <a:bodyPr wrap="none" rtlCol="0">
                <a:spAutoFit/>
              </a:bodyPr>
              <a:lstStyle/>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𝐴</m:t>
                        </m:r>
                      </m:sup>
                    </m:sSubSup>
                  </m:oMath>
                </a14:m>
                <a:r>
                  <a:rPr lang="en-US" altLang="zh-TW" dirty="0" smtClean="0"/>
                  <a:t>={ (1, 3) , </a:t>
                </a:r>
                <a:r>
                  <a:rPr lang="en-US" altLang="zh-TW" dirty="0" smtClean="0">
                    <a:solidFill>
                      <a:srgbClr val="FF0000"/>
                    </a:solidFill>
                  </a:rPr>
                  <a:t>(2, 2) </a:t>
                </a:r>
                <a:r>
                  <a:rPr lang="en-US" altLang="zh-TW" dirty="0" smtClean="0"/>
                  <a:t>, (2, 5) , (3, 1) , (3, 4) , (4, 1) , (4, 4)}</a:t>
                </a:r>
              </a:p>
              <a:p>
                <a:pPr>
                  <a:buNone/>
                </a:pPr>
                <a14:m>
                  <m:oMath xmlns:m="http://schemas.openxmlformats.org/officeDocument/2006/math">
                    <m:sSubSup>
                      <m:sSubSupPr>
                        <m:ctrlPr>
                          <a:rPr lang="en-US" altLang="zh-TW" i="1" smtClean="0">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𝑀</m:t>
                        </m:r>
                      </m:e>
                      <m:sub>
                        <m:r>
                          <a:rPr lang="en-US" altLang="zh-TW" i="1">
                            <a:latin typeface="Cambria Math" panose="02040503050406030204" pitchFamily="18" charset="0"/>
                            <a:cs typeface="Times New Roman" panose="02020603050405020304" pitchFamily="18" charset="0"/>
                          </a:rPr>
                          <m:t>𝑗</m:t>
                        </m:r>
                      </m:sub>
                      <m:sup>
                        <m:r>
                          <a:rPr lang="en-US" altLang="zh-TW" i="1">
                            <a:latin typeface="Cambria Math" panose="02040503050406030204" pitchFamily="18" charset="0"/>
                            <a:cs typeface="Times New Roman" panose="02020603050405020304" pitchFamily="18" charset="0"/>
                          </a:rPr>
                          <m:t>𝐵</m:t>
                        </m:r>
                      </m:sup>
                    </m:sSubSup>
                  </m:oMath>
                </a14:m>
                <a:r>
                  <a:rPr lang="en-US" altLang="zh-TW" dirty="0" smtClean="0"/>
                  <a:t>={ (1, 2) , (1, 5) ,</a:t>
                </a:r>
                <a:r>
                  <a:rPr lang="en-US" altLang="zh-TW" dirty="0" smtClean="0">
                    <a:solidFill>
                      <a:srgbClr val="FF0000"/>
                    </a:solidFill>
                  </a:rPr>
                  <a:t> </a:t>
                </a:r>
                <a:r>
                  <a:rPr lang="en-US" altLang="zh-TW" dirty="0" smtClean="0"/>
                  <a:t>(2, 1) , (2, 4) , (3, 6) }</a:t>
                </a:r>
              </a:p>
              <a:p>
                <a:endParaRPr lang="zh-TW" altLang="en-US"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932958" y="2834833"/>
                <a:ext cx="5211042" cy="986296"/>
              </a:xfrm>
              <a:prstGeom prst="rect">
                <a:avLst/>
              </a:prstGeom>
              <a:blipFill rotWithShape="0">
                <a:blip r:embed="rId2"/>
                <a:stretch>
                  <a:fillRect t="-1235" r="-117"/>
                </a:stretch>
              </a:blipFill>
            </p:spPr>
            <p:txBody>
              <a:bodyPr/>
              <a:lstStyle/>
              <a:p>
                <a:r>
                  <a:rPr lang="zh-TW" altLang="en-US">
                    <a:noFill/>
                  </a:rPr>
                  <a:t> </a:t>
                </a:r>
              </a:p>
            </p:txBody>
          </p:sp>
        </mc:Fallback>
      </mc:AlternateContent>
      <p:graphicFrame>
        <p:nvGraphicFramePr>
          <p:cNvPr id="27" name="表格 26"/>
          <p:cNvGraphicFramePr>
            <a:graphicFrameLocks noGrp="1"/>
          </p:cNvGraphicFramePr>
          <p:nvPr/>
        </p:nvGraphicFramePr>
        <p:xfrm>
          <a:off x="2083275" y="588549"/>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r>
                        <a:rPr lang="en-US" altLang="zh-TW" dirty="0" smtClean="0"/>
                        <a:t> </a:t>
                      </a:r>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r>
              <a:tr h="303022">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c>
                  <a:txBody>
                    <a:bodyPr/>
                    <a:lstStyle/>
                    <a:p>
                      <a:endParaRPr lang="zh-TW" altLang="en-US" dirty="0"/>
                    </a:p>
                  </a:txBody>
                  <a:tcPr>
                    <a:solidFill>
                      <a:schemeClr val="accent2"/>
                    </a:solidFill>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8" name="表格 27"/>
          <p:cNvGraphicFramePr>
            <a:graphicFrameLocks noGrp="1"/>
          </p:cNvGraphicFramePr>
          <p:nvPr>
            <p:extLst/>
          </p:nvPr>
        </p:nvGraphicFramePr>
        <p:xfrm>
          <a:off x="3437249"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9" name="表格 28"/>
          <p:cNvGraphicFramePr>
            <a:graphicFrameLocks noGrp="1"/>
          </p:cNvGraphicFramePr>
          <p:nvPr/>
        </p:nvGraphicFramePr>
        <p:xfrm>
          <a:off x="4832255" y="55774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0" name="表格 29"/>
          <p:cNvGraphicFramePr>
            <a:graphicFrameLocks noGrp="1"/>
          </p:cNvGraphicFramePr>
          <p:nvPr/>
        </p:nvGraphicFramePr>
        <p:xfrm>
          <a:off x="6301707" y="569483"/>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31" name="表格 30"/>
          <p:cNvGraphicFramePr>
            <a:graphicFrameLocks noGrp="1"/>
          </p:cNvGraphicFramePr>
          <p:nvPr/>
        </p:nvGraphicFramePr>
        <p:xfrm>
          <a:off x="7787258" y="566435"/>
          <a:ext cx="1121664" cy="1828800"/>
        </p:xfrm>
        <a:graphic>
          <a:graphicData uri="http://schemas.openxmlformats.org/drawingml/2006/table">
            <a:tbl>
              <a:tblPr firstRow="1" bandRow="1">
                <a:tableStyleId>{5940675A-B579-460E-94D1-54222C63F5DA}</a:tableStyleId>
              </a:tblPr>
              <a:tblGrid>
                <a:gridCol w="280416"/>
                <a:gridCol w="280416"/>
                <a:gridCol w="280416"/>
                <a:gridCol w="280416"/>
              </a:tblGrid>
              <a:tr h="303022">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r>
              <a:tr h="303022">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r h="303022">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graphicFrame>
        <p:nvGraphicFramePr>
          <p:cNvPr id="2" name="表格 1"/>
          <p:cNvGraphicFramePr>
            <a:graphicFrameLocks noGrp="1"/>
          </p:cNvGraphicFramePr>
          <p:nvPr/>
        </p:nvGraphicFramePr>
        <p:xfrm>
          <a:off x="326848" y="593488"/>
          <a:ext cx="330741" cy="1828800"/>
        </p:xfrm>
        <a:graphic>
          <a:graphicData uri="http://schemas.openxmlformats.org/drawingml/2006/table">
            <a:tbl>
              <a:tblPr firstRow="1" bandRow="1">
                <a:tableStyleId>{2D5ABB26-0587-4C30-8999-92F81FD0307C}</a:tableStyleId>
              </a:tblPr>
              <a:tblGrid>
                <a:gridCol w="330741"/>
              </a:tblGrid>
              <a:tr h="307391">
                <a:tc>
                  <a:txBody>
                    <a:bodyPr/>
                    <a:lstStyle/>
                    <a:p>
                      <a:r>
                        <a:rPr lang="en-US" altLang="zh-TW" dirty="0" smtClean="0"/>
                        <a:t>0</a:t>
                      </a:r>
                      <a:endParaRPr lang="zh-TW" altLang="en-US" dirty="0"/>
                    </a:p>
                  </a:txBody>
                  <a:tcPr/>
                </a:tc>
              </a:tr>
              <a:tr h="307391">
                <a:tc>
                  <a:txBody>
                    <a:bodyPr/>
                    <a:lstStyle/>
                    <a:p>
                      <a:r>
                        <a:rPr lang="en-US" altLang="zh-TW" dirty="0" smtClean="0"/>
                        <a:t>1</a:t>
                      </a:r>
                      <a:endParaRPr lang="zh-TW" altLang="en-US" dirty="0"/>
                    </a:p>
                  </a:txBody>
                  <a:tcPr/>
                </a:tc>
              </a:tr>
              <a:tr h="307391">
                <a:tc>
                  <a:txBody>
                    <a:bodyPr/>
                    <a:lstStyle/>
                    <a:p>
                      <a:r>
                        <a:rPr lang="en-US" altLang="zh-TW" dirty="0" smtClean="0"/>
                        <a:t>2</a:t>
                      </a:r>
                      <a:endParaRPr lang="zh-TW" altLang="en-US" dirty="0"/>
                    </a:p>
                  </a:txBody>
                  <a:tcPr/>
                </a:tc>
              </a:tr>
              <a:tr h="307391">
                <a:tc>
                  <a:txBody>
                    <a:bodyPr/>
                    <a:lstStyle/>
                    <a:p>
                      <a:r>
                        <a:rPr lang="en-US" altLang="zh-TW" dirty="0" smtClean="0"/>
                        <a:t>3</a:t>
                      </a:r>
                      <a:endParaRPr lang="zh-TW" altLang="en-US" dirty="0"/>
                    </a:p>
                  </a:txBody>
                  <a:tcPr/>
                </a:tc>
              </a:tr>
              <a:tr h="307391">
                <a:tc>
                  <a:txBody>
                    <a:bodyPr/>
                    <a:lstStyle/>
                    <a:p>
                      <a:r>
                        <a:rPr lang="en-US" altLang="zh-TW" dirty="0" smtClean="0"/>
                        <a:t>4</a:t>
                      </a:r>
                      <a:endParaRPr lang="zh-TW" altLang="en-US" dirty="0"/>
                    </a:p>
                  </a:txBody>
                  <a:tcPr/>
                </a:tc>
              </a:tr>
            </a:tbl>
          </a:graphicData>
        </a:graphic>
      </p:graphicFrame>
      <p:graphicFrame>
        <p:nvGraphicFramePr>
          <p:cNvPr id="3" name="表格 2"/>
          <p:cNvGraphicFramePr>
            <a:graphicFrameLocks noGrp="1"/>
          </p:cNvGraphicFramePr>
          <p:nvPr/>
        </p:nvGraphicFramePr>
        <p:xfrm>
          <a:off x="673400" y="283987"/>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2" name="表格 31"/>
          <p:cNvGraphicFramePr>
            <a:graphicFrameLocks noGrp="1"/>
          </p:cNvGraphicFramePr>
          <p:nvPr/>
        </p:nvGraphicFramePr>
        <p:xfrm>
          <a:off x="2063288" y="2967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3" name="表格 32"/>
          <p:cNvGraphicFramePr>
            <a:graphicFrameLocks noGrp="1"/>
          </p:cNvGraphicFramePr>
          <p:nvPr/>
        </p:nvGraphicFramePr>
        <p:xfrm>
          <a:off x="3422696"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4" name="表格 33"/>
          <p:cNvGraphicFramePr>
            <a:graphicFrameLocks noGrp="1"/>
          </p:cNvGraphicFramePr>
          <p:nvPr/>
        </p:nvGraphicFramePr>
        <p:xfrm>
          <a:off x="483696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5" name="表格 34"/>
          <p:cNvGraphicFramePr>
            <a:graphicFrameLocks noGrp="1"/>
          </p:cNvGraphicFramePr>
          <p:nvPr/>
        </p:nvGraphicFramePr>
        <p:xfrm>
          <a:off x="6300008" y="26525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graphicFrame>
        <p:nvGraphicFramePr>
          <p:cNvPr id="36" name="表格 35"/>
          <p:cNvGraphicFramePr>
            <a:graphicFrameLocks noGrp="1"/>
          </p:cNvGraphicFramePr>
          <p:nvPr/>
        </p:nvGraphicFramePr>
        <p:xfrm>
          <a:off x="7775240" y="286164"/>
          <a:ext cx="1131016" cy="430541"/>
        </p:xfrm>
        <a:graphic>
          <a:graphicData uri="http://schemas.openxmlformats.org/drawingml/2006/table">
            <a:tbl>
              <a:tblPr firstRow="1" bandRow="1">
                <a:tableStyleId>{2D5ABB26-0587-4C30-8999-92F81FD0307C}</a:tableStyleId>
              </a:tblPr>
              <a:tblGrid>
                <a:gridCol w="282754"/>
                <a:gridCol w="282754"/>
                <a:gridCol w="282754"/>
                <a:gridCol w="282754"/>
              </a:tblGrid>
              <a:tr h="430541">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mc:AlternateContent xmlns:mc="http://schemas.openxmlformats.org/markup-compatibility/2006" xmlns:a14="http://schemas.microsoft.com/office/drawing/2010/main">
        <mc:Choice Requires="a14">
          <p:graphicFrame>
            <p:nvGraphicFramePr>
              <p:cNvPr id="38" name="表格 37"/>
              <p:cNvGraphicFramePr>
                <a:graphicFrameLocks noGrp="1"/>
              </p:cNvGraphicFramePr>
              <p:nvPr>
                <p:extLst>
                  <p:ext uri="{D42A27DB-BD31-4B8C-83A1-F6EECF244321}">
                    <p14:modId xmlns:p14="http://schemas.microsoft.com/office/powerpoint/2010/main" val="1755707167"/>
                  </p:ext>
                </p:extLst>
              </p:nvPr>
            </p:nvGraphicFramePr>
            <p:xfrm>
              <a:off x="34831" y="3901230"/>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1</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2</m:t>
                                    </m:r>
                                  </m:sub>
                                  <m:sup>
                                    <m:r>
                                      <a:rPr lang="en-US" altLang="zh-TW" sz="1600" b="0" i="1" smtClean="0">
                                        <a:solidFill>
                                          <a:schemeClr val="tx1"/>
                                        </a:solidFill>
                                        <a:latin typeface="Cambria Math" panose="02040503050406030204" pitchFamily="18" charset="0"/>
                                      </a:rPr>
                                      <m:t>1</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b="0" dirty="0" smtClean="0">
                              <a:solidFill>
                                <a:schemeClr val="tx1"/>
                              </a:solidFill>
                            </a:rPr>
                            <a:t>1</a:t>
                          </a:r>
                          <a:endParaRPr lang="zh-TW" altLang="en-US" b="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8" name="表格 37"/>
              <p:cNvGraphicFramePr>
                <a:graphicFrameLocks noGrp="1"/>
              </p:cNvGraphicFramePr>
              <p:nvPr>
                <p:extLst>
                  <p:ext uri="{D42A27DB-BD31-4B8C-83A1-F6EECF244321}">
                    <p14:modId xmlns:p14="http://schemas.microsoft.com/office/powerpoint/2010/main" val="1755707167"/>
                  </p:ext>
                </p:extLst>
              </p:nvPr>
            </p:nvGraphicFramePr>
            <p:xfrm>
              <a:off x="34831" y="3901230"/>
              <a:ext cx="2554465" cy="119892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3"/>
                          <a:stretch>
                            <a:fillRect l="-1190" t="-7576" r="-402381" b="-2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10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r h="399640">
                    <a:tc>
                      <a:txBody>
                        <a:bodyPr/>
                        <a:lstStyle/>
                        <a:p>
                          <a:endParaRPr lang="zh-TW"/>
                        </a:p>
                      </a:txBody>
                      <a:tcPr>
                        <a:blipFill rotWithShape="0">
                          <a:blip r:embed="rId3"/>
                          <a:stretch>
                            <a:fillRect l="-1190" t="-20757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b="0" dirty="0" smtClean="0">
                              <a:solidFill>
                                <a:schemeClr val="tx1"/>
                              </a:solidFill>
                            </a:rPr>
                            <a:t>1</a:t>
                          </a:r>
                          <a:endParaRPr lang="zh-TW" altLang="en-US" b="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9" name="表格 38"/>
              <p:cNvGraphicFramePr>
                <a:graphicFrameLocks noGrp="1"/>
              </p:cNvGraphicFramePr>
              <p:nvPr>
                <p:extLst>
                  <p:ext uri="{D42A27DB-BD31-4B8C-83A1-F6EECF244321}">
                    <p14:modId xmlns:p14="http://schemas.microsoft.com/office/powerpoint/2010/main" val="734799362"/>
                  </p:ext>
                </p:extLst>
              </p:nvPr>
            </p:nvGraphicFramePr>
            <p:xfrm>
              <a:off x="34831" y="52040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39" name="表格 38"/>
              <p:cNvGraphicFramePr>
                <a:graphicFrameLocks noGrp="1"/>
              </p:cNvGraphicFramePr>
              <p:nvPr>
                <p:extLst>
                  <p:ext uri="{D42A27DB-BD31-4B8C-83A1-F6EECF244321}">
                    <p14:modId xmlns:p14="http://schemas.microsoft.com/office/powerpoint/2010/main" val="734799362"/>
                  </p:ext>
                </p:extLst>
              </p:nvPr>
            </p:nvGraphicFramePr>
            <p:xfrm>
              <a:off x="34831" y="520405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4"/>
                          <a:stretch>
                            <a:fillRect l="-1190" t="-7463" r="-402381" b="-14925"/>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p:cNvGraphicFramePr>
                <a:graphicFrameLocks noGrp="1"/>
              </p:cNvGraphicFramePr>
              <p:nvPr>
                <p:extLst>
                  <p:ext uri="{D42A27DB-BD31-4B8C-83A1-F6EECF244321}">
                    <p14:modId xmlns:p14="http://schemas.microsoft.com/office/powerpoint/2010/main" val="2817840123"/>
                  </p:ext>
                </p:extLst>
              </p:nvPr>
            </p:nvGraphicFramePr>
            <p:xfrm>
              <a:off x="34831" y="29643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0</m:t>
                                    </m:r>
                                  </m:sup>
                                </m:sSubSup>
                              </m:oMath>
                            </m:oMathPara>
                          </a14:m>
                          <a:endParaRPr lang="zh-TW" altLang="en-US" sz="1600" dirty="0"/>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Choice>
        <mc:Fallback xmlns="">
          <p:graphicFrame>
            <p:nvGraphicFramePr>
              <p:cNvPr id="42" name="表格 41"/>
              <p:cNvGraphicFramePr>
                <a:graphicFrameLocks noGrp="1"/>
              </p:cNvGraphicFramePr>
              <p:nvPr>
                <p:extLst>
                  <p:ext uri="{D42A27DB-BD31-4B8C-83A1-F6EECF244321}">
                    <p14:modId xmlns:p14="http://schemas.microsoft.com/office/powerpoint/2010/main" val="2817840123"/>
                  </p:ext>
                </p:extLst>
              </p:nvPr>
            </p:nvGraphicFramePr>
            <p:xfrm>
              <a:off x="34831" y="2964383"/>
              <a:ext cx="2554465" cy="825089"/>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425449">
                    <a:tc>
                      <a:txBody>
                        <a:bodyPr/>
                        <a:lstStyle/>
                        <a:p>
                          <a:pPr algn="ct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5"/>
                          <a:stretch>
                            <a:fillRect l="-1190" t="-113636" r="-402381" b="-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extLst>
                  <p:ext uri="{D42A27DB-BD31-4B8C-83A1-F6EECF244321}">
                    <p14:modId xmlns:p14="http://schemas.microsoft.com/office/powerpoint/2010/main" val="3180247659"/>
                  </p:ext>
                </p:extLst>
              </p:nvPr>
            </p:nvGraphicFramePr>
            <p:xfrm>
              <a:off x="34831" y="57559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400" i="1" smtClean="0">
                                        <a:solidFill>
                                          <a:schemeClr val="tx1"/>
                                        </a:solidFill>
                                        <a:latin typeface="Cambria Math" panose="02040503050406030204" pitchFamily="18" charset="0"/>
                                      </a:rPr>
                                    </m:ctrlPr>
                                  </m:sSubSupPr>
                                  <m:e>
                                    <m:r>
                                      <a:rPr lang="en-US" altLang="zh-TW" sz="1400" b="0" i="1" smtClean="0">
                                        <a:solidFill>
                                          <a:schemeClr val="tx1"/>
                                        </a:solidFill>
                                        <a:latin typeface="Cambria Math" panose="02040503050406030204" pitchFamily="18" charset="0"/>
                                      </a:rPr>
                                      <m:t>𝐻</m:t>
                                    </m:r>
                                  </m:e>
                                  <m:sub>
                                    <m:r>
                                      <a:rPr lang="en-US" altLang="zh-TW" sz="1400" b="0" i="1" smtClean="0">
                                        <a:solidFill>
                                          <a:schemeClr val="tx1"/>
                                        </a:solidFill>
                                        <a:latin typeface="Cambria Math" panose="02040503050406030204" pitchFamily="18" charset="0"/>
                                      </a:rPr>
                                      <m:t>1</m:t>
                                    </m:r>
                                  </m:sub>
                                  <m:sup>
                                    <m:r>
                                      <a:rPr lang="en-US" altLang="zh-TW" sz="1400" b="0" i="1" smtClean="0">
                                        <a:solidFill>
                                          <a:schemeClr val="tx1"/>
                                        </a:solidFill>
                                        <a:latin typeface="Cambria Math" panose="02040503050406030204" pitchFamily="18" charset="0"/>
                                      </a:rPr>
                                      <m:t>3</m:t>
                                    </m:r>
                                  </m:sup>
                                </m:sSubSup>
                              </m:oMath>
                            </m:oMathPara>
                          </a14:m>
                          <a:endParaRPr lang="zh-TW" altLang="en-US"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25" name="表格 24"/>
              <p:cNvGraphicFramePr>
                <a:graphicFrameLocks noGrp="1"/>
              </p:cNvGraphicFramePr>
              <p:nvPr>
                <p:extLst>
                  <p:ext uri="{D42A27DB-BD31-4B8C-83A1-F6EECF244321}">
                    <p14:modId xmlns:p14="http://schemas.microsoft.com/office/powerpoint/2010/main" val="3180247659"/>
                  </p:ext>
                </p:extLst>
              </p:nvPr>
            </p:nvGraphicFramePr>
            <p:xfrm>
              <a:off x="34831" y="5755981"/>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6"/>
                          <a:stretch>
                            <a:fillRect l="-1190" t="-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 name="表格 36"/>
              <p:cNvGraphicFramePr>
                <a:graphicFrameLocks noGrp="1"/>
              </p:cNvGraphicFramePr>
              <p:nvPr>
                <p:extLst>
                  <p:ext uri="{D42A27DB-BD31-4B8C-83A1-F6EECF244321}">
                    <p14:modId xmlns:p14="http://schemas.microsoft.com/office/powerpoint/2010/main" val="3958338715"/>
                  </p:ext>
                </p:extLst>
              </p:nvPr>
            </p:nvGraphicFramePr>
            <p:xfrm>
              <a:off x="34831" y="63694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4</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37" name="表格 36"/>
              <p:cNvGraphicFramePr>
                <a:graphicFrameLocks noGrp="1"/>
              </p:cNvGraphicFramePr>
              <p:nvPr>
                <p:extLst>
                  <p:ext uri="{D42A27DB-BD31-4B8C-83A1-F6EECF244321}">
                    <p14:modId xmlns:p14="http://schemas.microsoft.com/office/powerpoint/2010/main" val="3958338715"/>
                  </p:ext>
                </p:extLst>
              </p:nvPr>
            </p:nvGraphicFramePr>
            <p:xfrm>
              <a:off x="34831" y="636946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7"/>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extLst>
                  <p:ext uri="{D42A27DB-BD31-4B8C-83A1-F6EECF244321}">
                    <p14:modId xmlns:p14="http://schemas.microsoft.com/office/powerpoint/2010/main" val="1839663651"/>
                  </p:ext>
                </p:extLst>
              </p:nvPr>
            </p:nvGraphicFramePr>
            <p:xfrm>
              <a:off x="2742035" y="41551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1</m:t>
                                    </m:r>
                                  </m:sub>
                                  <m:sup>
                                    <m:r>
                                      <a:rPr lang="en-US" altLang="zh-TW" sz="1600" b="0" i="1" smtClean="0">
                                        <a:latin typeface="Cambria Math" panose="02040503050406030204" pitchFamily="18" charset="0"/>
                                      </a:rPr>
                                      <m:t>5</m:t>
                                    </m:r>
                                  </m:sup>
                                </m:sSubSup>
                              </m:oMath>
                            </m:oMathPara>
                          </a14:m>
                          <a:endParaRPr lang="zh-TW" altLang="en-US" sz="16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Choice>
        <mc:Fallback xmlns="">
          <p:graphicFrame>
            <p:nvGraphicFramePr>
              <p:cNvPr id="40" name="表格 39"/>
              <p:cNvGraphicFramePr>
                <a:graphicFrameLocks noGrp="1"/>
              </p:cNvGraphicFramePr>
              <p:nvPr>
                <p:extLst>
                  <p:ext uri="{D42A27DB-BD31-4B8C-83A1-F6EECF244321}">
                    <p14:modId xmlns:p14="http://schemas.microsoft.com/office/powerpoint/2010/main" val="1839663651"/>
                  </p:ext>
                </p:extLst>
              </p:nvPr>
            </p:nvGraphicFramePr>
            <p:xfrm>
              <a:off x="2742035" y="4155122"/>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8"/>
                          <a:stretch>
                            <a:fillRect l="-1190" t="-7463" r="-402381" b="-14925"/>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p:cNvGraphicFramePr>
                <a:graphicFrameLocks noGrp="1"/>
              </p:cNvGraphicFramePr>
              <p:nvPr>
                <p:extLst>
                  <p:ext uri="{D42A27DB-BD31-4B8C-83A1-F6EECF244321}">
                    <p14:modId xmlns:p14="http://schemas.microsoft.com/office/powerpoint/2010/main" val="2528092116"/>
                  </p:ext>
                </p:extLst>
              </p:nvPr>
            </p:nvGraphicFramePr>
            <p:xfrm>
              <a:off x="2742035" y="4771114"/>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0</m:t>
                                    </m:r>
                                  </m:sub>
                                  <m:sup>
                                    <m:r>
                                      <a:rPr lang="en-US" altLang="zh-TW" sz="1600" b="0" i="1" smtClean="0">
                                        <a:solidFill>
                                          <a:schemeClr val="tx1"/>
                                        </a:solidFill>
                                        <a:latin typeface="Cambria Math" panose="02040503050406030204" pitchFamily="18" charset="0"/>
                                      </a:rPr>
                                      <m:t>6</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solidFill>
                                          <a:schemeClr val="tx1"/>
                                        </a:solidFill>
                                        <a:latin typeface="Cambria Math" panose="02040503050406030204" pitchFamily="18" charset="0"/>
                                      </a:rPr>
                                    </m:ctrlPr>
                                  </m:sSubSupPr>
                                  <m:e>
                                    <m:r>
                                      <a:rPr lang="en-US" altLang="zh-TW" sz="1600" b="0" i="1" smtClean="0">
                                        <a:solidFill>
                                          <a:schemeClr val="tx1"/>
                                        </a:solidFill>
                                        <a:latin typeface="Cambria Math" panose="02040503050406030204" pitchFamily="18" charset="0"/>
                                      </a:rPr>
                                      <m:t>𝐻</m:t>
                                    </m:r>
                                  </m:e>
                                  <m:sub>
                                    <m:r>
                                      <a:rPr lang="en-US" altLang="zh-TW" sz="1600" b="0" i="1" smtClean="0">
                                        <a:solidFill>
                                          <a:schemeClr val="tx1"/>
                                        </a:solidFill>
                                        <a:latin typeface="Cambria Math" panose="02040503050406030204" pitchFamily="18" charset="0"/>
                                      </a:rPr>
                                      <m:t>1</m:t>
                                    </m:r>
                                  </m:sub>
                                  <m:sup>
                                    <m:r>
                                      <a:rPr lang="en-US" altLang="zh-TW" sz="1600" b="0" i="1" smtClean="0">
                                        <a:solidFill>
                                          <a:schemeClr val="tx1"/>
                                        </a:solidFill>
                                        <a:latin typeface="Cambria Math" panose="02040503050406030204" pitchFamily="18" charset="0"/>
                                      </a:rPr>
                                      <m:t>6</m:t>
                                    </m:r>
                                  </m:sup>
                                </m:sSubSup>
                              </m:oMath>
                            </m:oMathPara>
                          </a14:m>
                          <a:endParaRPr lang="zh-TW" altLang="en-US" sz="1600" dirty="0">
                            <a:solidFill>
                              <a:schemeClr val="tx1"/>
                            </a:solidFill>
                          </a:endParaRPr>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bl>
              </a:graphicData>
            </a:graphic>
          </p:graphicFrame>
        </mc:Choice>
        <mc:Fallback xmlns="">
          <p:graphicFrame>
            <p:nvGraphicFramePr>
              <p:cNvPr id="41" name="表格 40"/>
              <p:cNvGraphicFramePr>
                <a:graphicFrameLocks noGrp="1"/>
              </p:cNvGraphicFramePr>
              <p:nvPr>
                <p:extLst>
                  <p:ext uri="{D42A27DB-BD31-4B8C-83A1-F6EECF244321}">
                    <p14:modId xmlns:p14="http://schemas.microsoft.com/office/powerpoint/2010/main" val="2528092116"/>
                  </p:ext>
                </p:extLst>
              </p:nvPr>
            </p:nvGraphicFramePr>
            <p:xfrm>
              <a:off x="2742035" y="4771114"/>
              <a:ext cx="2554465" cy="79928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9"/>
                          <a:stretch>
                            <a:fillRect l="-1190" t="-7576" r="-402381" b="-115152"/>
                          </a:stretch>
                        </a:blipFill>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0</a:t>
                          </a:r>
                          <a:endParaRPr lang="zh-TW" altLang="en-US" dirty="0">
                            <a:solidFill>
                              <a:schemeClr val="tx1"/>
                            </a:solidFill>
                          </a:endParaRPr>
                        </a:p>
                      </a:txBody>
                      <a:tcPr/>
                    </a:tc>
                    <a:tc>
                      <a:txBody>
                        <a:bodyPr/>
                        <a:lstStyle/>
                        <a:p>
                          <a:pPr algn="ctr"/>
                          <a:r>
                            <a:rPr lang="en-US" altLang="zh-TW" dirty="0" smtClean="0">
                              <a:solidFill>
                                <a:schemeClr val="tx1"/>
                              </a:solidFill>
                            </a:rPr>
                            <a:t>3</a:t>
                          </a:r>
                          <a:endParaRPr lang="zh-TW" altLang="en-US" dirty="0">
                            <a:solidFill>
                              <a:schemeClr val="tx1"/>
                            </a:solidFill>
                          </a:endParaRPr>
                        </a:p>
                      </a:txBody>
                      <a:tcPr/>
                    </a:tc>
                  </a:tr>
                  <a:tr h="399640">
                    <a:tc>
                      <a:txBody>
                        <a:bodyPr/>
                        <a:lstStyle/>
                        <a:p>
                          <a:endParaRPr lang="zh-TW"/>
                        </a:p>
                      </a:txBody>
                      <a:tcPr>
                        <a:blipFill rotWithShape="0">
                          <a:blip r:embed="rId9"/>
                          <a:stretch>
                            <a:fillRect l="-1190" t="-107576" r="-402381" b="-15152"/>
                          </a:stretch>
                        </a:blipFill>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2</a:t>
                          </a:r>
                          <a:endParaRPr lang="zh-TW" altLang="en-US" dirty="0">
                            <a:solidFill>
                              <a:schemeClr val="tx1"/>
                            </a:solidFill>
                          </a:endParaRPr>
                        </a:p>
                      </a:txBody>
                      <a:tcPr/>
                    </a:tc>
                    <a:tc>
                      <a:txBody>
                        <a:bodyPr/>
                        <a:lstStyle/>
                        <a:p>
                          <a:pPr algn="ctr"/>
                          <a:r>
                            <a:rPr lang="en-US" altLang="zh-TW" b="0" dirty="0" smtClean="0">
                              <a:solidFill>
                                <a:schemeClr val="tx1"/>
                              </a:solidFill>
                            </a:rPr>
                            <a:t>3</a:t>
                          </a:r>
                          <a:endParaRPr lang="zh-TW" altLang="en-US" b="0" dirty="0">
                            <a:solidFill>
                              <a:schemeClr val="tx1"/>
                            </a:solidFill>
                          </a:endParaRPr>
                        </a:p>
                      </a:txBody>
                      <a:tcPr/>
                    </a:tc>
                    <a:tc>
                      <a:txBody>
                        <a:bodyPr/>
                        <a:lstStyle/>
                        <a:p>
                          <a:pPr algn="ctr"/>
                          <a:r>
                            <a:rPr lang="en-US" altLang="zh-TW" dirty="0" smtClean="0">
                              <a:solidFill>
                                <a:schemeClr val="tx1"/>
                              </a:solidFill>
                            </a:rPr>
                            <a:t>4</a:t>
                          </a:r>
                          <a:endParaRPr lang="zh-TW" altLang="en-US" dirty="0">
                            <a:solidFill>
                              <a:schemeClr val="tx1"/>
                            </a:solidFill>
                          </a:endParaRPr>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3" name="表格 42"/>
              <p:cNvGraphicFramePr>
                <a:graphicFrameLocks noGrp="1"/>
              </p:cNvGraphicFramePr>
              <p:nvPr>
                <p:extLst>
                  <p:ext uri="{D42A27DB-BD31-4B8C-83A1-F6EECF244321}">
                    <p14:modId xmlns:p14="http://schemas.microsoft.com/office/powerpoint/2010/main" val="4108939807"/>
                  </p:ext>
                </p:extLst>
              </p:nvPr>
            </p:nvGraphicFramePr>
            <p:xfrm>
              <a:off x="2742035" y="576970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𝐻</m:t>
                                    </m:r>
                                  </m:e>
                                  <m:sub>
                                    <m:r>
                                      <a:rPr lang="en-US" altLang="zh-TW" sz="1600" b="0" i="1" smtClean="0">
                                        <a:latin typeface="Cambria Math" panose="02040503050406030204" pitchFamily="18" charset="0"/>
                                      </a:rPr>
                                      <m:t>2</m:t>
                                    </m:r>
                                  </m:sub>
                                  <m:sup>
                                    <m:r>
                                      <a:rPr lang="en-US" altLang="zh-TW" sz="1600" b="0" i="1" smtClean="0">
                                        <a:latin typeface="Cambria Math" panose="02040503050406030204" pitchFamily="18" charset="0"/>
                                      </a:rPr>
                                      <m:t>2</m:t>
                                    </m:r>
                                  </m:sup>
                                </m:sSubSup>
                              </m:oMath>
                            </m:oMathPara>
                          </a14:m>
                          <a:endParaRPr lang="zh-TW" altLang="en-US" sz="1600" dirty="0"/>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b="0" dirty="0" smtClean="0">
                              <a:solidFill>
                                <a:srgbClr val="FF0000"/>
                              </a:solidFill>
                            </a:rPr>
                            <a:t>2</a:t>
                          </a:r>
                          <a:endParaRPr lang="zh-TW" altLang="en-US" b="0"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r>
                </a:tbl>
              </a:graphicData>
            </a:graphic>
          </p:graphicFrame>
        </mc:Choice>
        <mc:Fallback xmlns="">
          <p:graphicFrame>
            <p:nvGraphicFramePr>
              <p:cNvPr id="43" name="表格 42"/>
              <p:cNvGraphicFramePr>
                <a:graphicFrameLocks noGrp="1"/>
              </p:cNvGraphicFramePr>
              <p:nvPr>
                <p:extLst>
                  <p:ext uri="{D42A27DB-BD31-4B8C-83A1-F6EECF244321}">
                    <p14:modId xmlns:p14="http://schemas.microsoft.com/office/powerpoint/2010/main" val="4108939807"/>
                  </p:ext>
                </p:extLst>
              </p:nvPr>
            </p:nvGraphicFramePr>
            <p:xfrm>
              <a:off x="2742035" y="5769700"/>
              <a:ext cx="2554465" cy="399640"/>
            </p:xfrm>
            <a:graphic>
              <a:graphicData uri="http://schemas.openxmlformats.org/drawingml/2006/table">
                <a:tbl>
                  <a:tblPr firstRow="1" bandRow="1">
                    <a:tableStyleId>{5940675A-B579-460E-94D1-54222C63F5DA}</a:tableStyleId>
                  </a:tblPr>
                  <a:tblGrid>
                    <a:gridCol w="510893"/>
                    <a:gridCol w="510893"/>
                    <a:gridCol w="510893"/>
                    <a:gridCol w="510893"/>
                    <a:gridCol w="510893"/>
                  </a:tblGrid>
                  <a:tr h="399640">
                    <a:tc>
                      <a:txBody>
                        <a:bodyPr/>
                        <a:lstStyle/>
                        <a:p>
                          <a:endParaRPr lang="zh-TW"/>
                        </a:p>
                      </a:txBody>
                      <a:tcPr>
                        <a:blipFill rotWithShape="0">
                          <a:blip r:embed="rId10"/>
                          <a:stretch>
                            <a:fillRect l="-1190" t="-7463" r="-402381" b="-13433"/>
                          </a:stretch>
                        </a:blipFill>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b="0" dirty="0" smtClean="0">
                              <a:solidFill>
                                <a:srgbClr val="FF0000"/>
                              </a:solidFill>
                            </a:rPr>
                            <a:t>2</a:t>
                          </a:r>
                          <a:endParaRPr lang="zh-TW" altLang="en-US" b="0" dirty="0">
                            <a:solidFill>
                              <a:srgbClr val="FF0000"/>
                            </a:solidFill>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r>
                </a:tbl>
              </a:graphicData>
            </a:graphic>
          </p:graphicFrame>
        </mc:Fallback>
      </mc:AlternateContent>
      <p:sp>
        <p:nvSpPr>
          <p:cNvPr id="5" name="投影片編號版面配置區 4"/>
          <p:cNvSpPr>
            <a:spLocks noGrp="1"/>
          </p:cNvSpPr>
          <p:nvPr>
            <p:ph type="sldNum" sz="quarter" idx="12"/>
          </p:nvPr>
        </p:nvSpPr>
        <p:spPr/>
        <p:txBody>
          <a:bodyPr/>
          <a:lstStyle/>
          <a:p>
            <a:fld id="{B9CF4E80-5859-4E39-A40B-ED9B772D8B0F}" type="slidenum">
              <a:rPr lang="zh-TW" altLang="en-US" smtClean="0"/>
              <a:t>29</a:t>
            </a:fld>
            <a:endParaRPr lang="zh-TW" altLang="en-US"/>
          </a:p>
        </p:txBody>
      </p:sp>
      <mc:AlternateContent xmlns:mc="http://schemas.openxmlformats.org/markup-compatibility/2006" xmlns:a14="http://schemas.microsoft.com/office/drawing/2010/main">
        <mc:Choice Requires="a14">
          <p:sp>
            <p:nvSpPr>
              <p:cNvPr id="45" name="文字方塊 44"/>
              <p:cNvSpPr txBox="1"/>
              <p:nvPr/>
            </p:nvSpPr>
            <p:spPr>
              <a:xfrm>
                <a:off x="5575300" y="5537715"/>
                <a:ext cx="3822700" cy="997774"/>
              </a:xfrm>
              <a:prstGeom prst="rect">
                <a:avLst/>
              </a:prstGeom>
              <a:noFill/>
            </p:spPr>
            <p:txBody>
              <a:bodyPr wrap="square" rtlCol="0">
                <a:spAutoFit/>
              </a:bodyPr>
              <a:lstStyle/>
              <a:p>
                <a14:m>
                  <m:oMath xmlns:m="http://schemas.openxmlformats.org/officeDocument/2006/math">
                    <m:sSubSup>
                      <m:sSubSupPr>
                        <m:ctrlPr>
                          <a:rPr lang="en-US" altLang="zh-TW" i="1" smtClean="0">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smtClean="0">
                    <a:latin typeface="Times New Roman" panose="02020603050405020304" pitchFamily="18" charset="0"/>
                    <a:cs typeface="Times New Roman" panose="02020603050405020304" pitchFamily="18" charset="0"/>
                  </a:rPr>
                  <a:t>= max</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endParaRPr lang="en-US" altLang="zh-TW" dirty="0" smtClean="0"/>
              </a:p>
              <a:p>
                <a:pPr>
                  <a:buNone/>
                </a:pPr>
                <a14:m>
                  <m:oMath xmlns:m="http://schemas.openxmlformats.org/officeDocument/2006/math">
                    <m:sSub>
                      <m:sSubPr>
                        <m:ctrlPr>
                          <a:rPr lang="pt-BR" altLang="zh-TW" i="1" smtClean="0">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𝐿</m:t>
                        </m:r>
                      </m:e>
                      <m:sub>
                        <m:r>
                          <a:rPr lang="en-US" altLang="zh-TW" i="1">
                            <a:solidFill>
                              <a:srgbClr val="FF0000"/>
                            </a:solidFill>
                            <a:latin typeface="Cambria Math" panose="02040503050406030204" pitchFamily="18" charset="0"/>
                          </a:rPr>
                          <m:t>𝑘</m:t>
                        </m:r>
                      </m:sub>
                    </m:sSub>
                  </m:oMath>
                </a14:m>
                <a:r>
                  <a:rPr lang="pt-BR" altLang="zh-TW" i="1" dirty="0">
                    <a:solidFill>
                      <a:srgbClr val="FF0000"/>
                    </a:solidFill>
                  </a:rPr>
                  <a:t>(i, j) </a:t>
                </a:r>
                <a:r>
                  <a:rPr lang="pt-BR" altLang="zh-TW" i="1" dirty="0" smtClean="0">
                    <a:solidFill>
                      <a:srgbClr val="FF0000"/>
                    </a:solidFill>
                  </a:rPr>
                  <a:t>=</a:t>
                </a:r>
                <a:r>
                  <a:rPr lang="pt-BR" altLang="zh-TW" i="1" dirty="0">
                    <a:solidFill>
                      <a:srgbClr val="FF0000"/>
                    </a:solidFill>
                  </a:rPr>
                  <a:t>BoundedMax (</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𝐻</m:t>
                        </m:r>
                      </m:e>
                      <m:sub>
                        <m:r>
                          <a:rPr lang="en-US" altLang="zh-TW" i="1">
                            <a:solidFill>
                              <a:srgbClr val="FF0000"/>
                            </a:solidFill>
                            <a:latin typeface="Cambria Math" panose="02040503050406030204" pitchFamily="18" charset="0"/>
                          </a:rPr>
                          <m:t>𝑖</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𝑘</m:t>
                        </m:r>
                        <m:r>
                          <a:rPr lang="en-US" altLang="zh-TW" i="1">
                            <a:solidFill>
                              <a:srgbClr val="FF0000"/>
                            </a:solidFill>
                            <a:latin typeface="Cambria Math" panose="02040503050406030204" pitchFamily="18" charset="0"/>
                          </a:rPr>
                          <m:t>−1</m:t>
                        </m:r>
                      </m:sup>
                    </m:sSubSup>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𝑗</m:t>
                    </m:r>
                    <m:r>
                      <a:rPr lang="en-US" altLang="zh-TW" i="1">
                        <a:solidFill>
                          <a:srgbClr val="FF0000"/>
                        </a:solidFill>
                        <a:latin typeface="Cambria Math" panose="02040503050406030204" pitchFamily="18" charset="0"/>
                      </a:rPr>
                      <m:t>+1</m:t>
                    </m:r>
                  </m:oMath>
                </a14:m>
                <a:r>
                  <a:rPr lang="pt-BR" altLang="zh-TW" i="1" dirty="0" smtClean="0">
                    <a:solidFill>
                      <a:srgbClr val="FF0000"/>
                    </a:solidFill>
                  </a:rPr>
                  <a:t>)+1</a:t>
                </a:r>
                <a:endParaRPr lang="pt-BR" altLang="zh-TW" i="1" dirty="0">
                  <a:solidFill>
                    <a:srgbClr val="FF0000"/>
                  </a:solidFill>
                </a:endParaRPr>
              </a:p>
              <a:p>
                <a:r>
                  <a:rPr lang="en-US" altLang="zh-TW" dirty="0"/>
                  <a:t> </a:t>
                </a:r>
                <a:r>
                  <a:rPr lang="en-US" altLang="zh-TW" dirty="0" smtClean="0"/>
                  <a:t>             =</a:t>
                </a:r>
                <a:r>
                  <a:rPr lang="en-US" altLang="zh-TW" dirty="0" err="1" smtClean="0"/>
                  <a:t>BoundedMax</a:t>
                </a:r>
                <a:r>
                  <a:rPr lang="en-US" altLang="zh-TW" dirty="0" smtClean="0"/>
                  <a:t>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𝐻</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1</m:t>
                        </m:r>
                      </m:sup>
                    </m:sSubSup>
                  </m:oMath>
                </a14:m>
                <a:r>
                  <a:rPr lang="en-US" altLang="zh-TW" dirty="0" smtClean="0"/>
                  <a:t> , 1~4) + 1</a:t>
                </a:r>
                <a:endParaRPr lang="zh-TW" altLang="en-US"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575300" y="5537715"/>
                <a:ext cx="3822700" cy="997774"/>
              </a:xfrm>
              <a:prstGeom prst="rect">
                <a:avLst/>
              </a:prstGeom>
              <a:blipFill rotWithShape="0">
                <a:blip r:embed="rId11"/>
                <a:stretch>
                  <a:fillRect t="-1220" b="-6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87492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stretch>
            <a:fillRect/>
          </a:stretch>
        </p:blipFill>
        <p:spPr>
          <a:xfrm>
            <a:off x="727954" y="5115424"/>
            <a:ext cx="7135637" cy="1011238"/>
          </a:xfrm>
          <a:prstGeom prst="rect">
            <a:avLst/>
          </a:prstGeom>
        </p:spPr>
      </p:pic>
      <p:pic>
        <p:nvPicPr>
          <p:cNvPr id="5" name="圖片 4"/>
          <p:cNvPicPr>
            <a:picLocks noChangeAspect="1"/>
          </p:cNvPicPr>
          <p:nvPr/>
        </p:nvPicPr>
        <p:blipFill>
          <a:blip r:embed="rId3"/>
          <a:stretch>
            <a:fillRect/>
          </a:stretch>
        </p:blipFill>
        <p:spPr>
          <a:xfrm>
            <a:off x="0" y="1007965"/>
            <a:ext cx="8837731" cy="3136304"/>
          </a:xfrm>
          <a:prstGeom prst="rect">
            <a:avLst/>
          </a:prstGeom>
        </p:spPr>
      </p:pic>
      <p:sp>
        <p:nvSpPr>
          <p:cNvPr id="2" name="標題 1"/>
          <p:cNvSpPr>
            <a:spLocks noGrp="1"/>
          </p:cNvSpPr>
          <p:nvPr>
            <p:ph type="title"/>
          </p:nvPr>
        </p:nvSpPr>
        <p:spPr>
          <a:xfrm>
            <a:off x="527049" y="78979"/>
            <a:ext cx="8515350" cy="1325563"/>
          </a:xfrm>
        </p:spPr>
        <p:txBody>
          <a:bodyPr>
            <a:normAutofit/>
          </a:bodyPr>
          <a:lstStyle/>
          <a:p>
            <a:r>
              <a:rPr lang="en-US" altLang="zh-TW" sz="3600" dirty="0" smtClean="0">
                <a:latin typeface="Times New Roman" panose="02020603050405020304" pitchFamily="18" charset="0"/>
                <a:cs typeface="Times New Roman" panose="02020603050405020304" pitchFamily="18" charset="0"/>
              </a:rPr>
              <a:t>Algorithm for Block Merged LCS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30</a:t>
            </a:fld>
            <a:endParaRPr lang="zh-TW" altLang="en-US">
              <a:latin typeface="Times New Roman" panose="02020603050405020304" pitchFamily="18" charset="0"/>
              <a:cs typeface="Times New Roman" panose="02020603050405020304" pitchFamily="18" charset="0"/>
            </a:endParaRPr>
          </a:p>
        </p:txBody>
      </p:sp>
      <p:sp>
        <p:nvSpPr>
          <p:cNvPr id="6" name="向下箭號 5"/>
          <p:cNvSpPr/>
          <p:nvPr/>
        </p:nvSpPr>
        <p:spPr>
          <a:xfrm>
            <a:off x="4063997" y="4297365"/>
            <a:ext cx="463550" cy="5143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720338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27049" y="78979"/>
            <a:ext cx="8515350" cy="1325563"/>
          </a:xfrm>
        </p:spPr>
        <p:txBody>
          <a:bodyPr>
            <a:normAutofit/>
          </a:bodyPr>
          <a:lstStyle/>
          <a:p>
            <a:r>
              <a:rPr lang="en-US" altLang="zh-TW" sz="3600" dirty="0" smtClean="0">
                <a:latin typeface="Times New Roman" panose="02020603050405020304" pitchFamily="18" charset="0"/>
                <a:cs typeface="Times New Roman" panose="02020603050405020304" pitchFamily="18" charset="0"/>
              </a:rPr>
              <a:t>Algorithm for Block Merged LCS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31</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字方塊 7"/>
              <p:cNvSpPr txBox="1"/>
              <p:nvPr/>
            </p:nvSpPr>
            <p:spPr>
              <a:xfrm>
                <a:off x="0" y="1681847"/>
                <a:ext cx="8750300" cy="4870692"/>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smtClean="0">
                    <a:solidFill>
                      <a:schemeClr val="tx1"/>
                    </a:solidFill>
                    <a:latin typeface="Times New Roman" panose="02020603050405020304" pitchFamily="18" charset="0"/>
                    <a:cs typeface="Times New Roman" panose="02020603050405020304" pitchFamily="18" charset="0"/>
                  </a:rPr>
                  <a:t>Furthermore, we can exclude the part of Equation 5, when “</a:t>
                </a:r>
                <a14:m>
                  <m:oMath xmlns:m="http://schemas.openxmlformats.org/officeDocument/2006/math">
                    <m:sSub>
                      <m:sSubPr>
                        <m:ctrlPr>
                          <a:rPr lang="en-US" altLang="zh-TW" sz="2800" i="1" smtClean="0">
                            <a:solidFill>
                              <a:schemeClr val="tx1"/>
                            </a:solidFill>
                            <a:latin typeface="Cambria Math" panose="02040503050406030204" pitchFamily="18" charset="0"/>
                            <a:cs typeface="Times New Roman" panose="02020603050405020304" pitchFamily="18" charset="0"/>
                          </a:rPr>
                        </m:ctrlPr>
                      </m:sSubPr>
                      <m:e>
                        <m:r>
                          <a:rPr lang="en-US" altLang="zh-TW" sz="2800" b="0" i="1" smtClean="0">
                            <a:solidFill>
                              <a:schemeClr val="tx1"/>
                            </a:solidFill>
                            <a:latin typeface="Cambria Math" panose="02040503050406030204" pitchFamily="18" charset="0"/>
                            <a:cs typeface="Times New Roman" panose="02020603050405020304" pitchFamily="18" charset="0"/>
                          </a:rPr>
                          <m:t>𝑎</m:t>
                        </m:r>
                      </m:e>
                      <m:sub>
                        <m:r>
                          <a:rPr lang="en-US" altLang="zh-TW" sz="2800" b="0" i="1" smtClean="0">
                            <a:solidFill>
                              <a:schemeClr val="tx1"/>
                            </a:solidFill>
                            <a:latin typeface="Cambria Math" panose="02040503050406030204" pitchFamily="18" charset="0"/>
                            <a:cs typeface="Times New Roman" panose="02020603050405020304" pitchFamily="18" charset="0"/>
                          </a:rPr>
                          <m:t>𝑖</m:t>
                        </m:r>
                      </m:sub>
                    </m:sSub>
                  </m:oMath>
                </a14:m>
                <a:r>
                  <a:rPr lang="en-US" altLang="zh-TW" sz="2800" dirty="0" smtClean="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 # and </a:t>
                </a:r>
                <a14:m>
                  <m:oMath xmlns:m="http://schemas.openxmlformats.org/officeDocument/2006/math">
                    <m:sSub>
                      <m:sSubPr>
                        <m:ctrlPr>
                          <a:rPr lang="en-US" altLang="zh-TW" sz="2800" i="1">
                            <a:solidFill>
                              <a:schemeClr val="tx1"/>
                            </a:solidFill>
                            <a:latin typeface="Cambria Math" panose="02040503050406030204" pitchFamily="18" charset="0"/>
                            <a:cs typeface="Times New Roman" panose="02020603050405020304" pitchFamily="18" charset="0"/>
                          </a:rPr>
                        </m:ctrlPr>
                      </m:sSubPr>
                      <m:e>
                        <m:r>
                          <a:rPr lang="en-US" altLang="zh-TW" sz="2800" b="0" i="1" smtClean="0">
                            <a:solidFill>
                              <a:schemeClr val="tx1"/>
                            </a:solidFill>
                            <a:latin typeface="Cambria Math" panose="02040503050406030204" pitchFamily="18" charset="0"/>
                            <a:cs typeface="Times New Roman" panose="02020603050405020304" pitchFamily="18" charset="0"/>
                          </a:rPr>
                          <m:t>𝑏</m:t>
                        </m:r>
                      </m:e>
                      <m:sub>
                        <m:r>
                          <a:rPr lang="en-US" altLang="zh-TW" sz="2800" b="0" i="1" smtClean="0">
                            <a:solidFill>
                              <a:schemeClr val="tx1"/>
                            </a:solidFill>
                            <a:latin typeface="Cambria Math" panose="02040503050406030204" pitchFamily="18" charset="0"/>
                            <a:cs typeface="Times New Roman" panose="02020603050405020304" pitchFamily="18" charset="0"/>
                          </a:rPr>
                          <m:t>𝑗</m:t>
                        </m:r>
                      </m:sub>
                    </m:sSub>
                  </m:oMath>
                </a14:m>
                <a:r>
                  <a:rPr lang="en-US" altLang="zh-TW" sz="2800" dirty="0" smtClean="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 #”, as there is no </a:t>
                </a:r>
                <a:r>
                  <a:rPr lang="en-US" altLang="zh-TW" sz="2800" dirty="0" smtClean="0">
                    <a:solidFill>
                      <a:schemeClr val="tx1"/>
                    </a:solidFill>
                    <a:latin typeface="Times New Roman" panose="02020603050405020304" pitchFamily="18" charset="0"/>
                    <a:cs typeface="Times New Roman" panose="02020603050405020304" pitchFamily="18" charset="0"/>
                  </a:rPr>
                  <a:t>possibility of </a:t>
                </a:r>
                <a:r>
                  <a:rPr lang="en-US" altLang="zh-TW" sz="2800" dirty="0">
                    <a:solidFill>
                      <a:schemeClr val="tx1"/>
                    </a:solidFill>
                    <a:latin typeface="Times New Roman" panose="02020603050405020304" pitchFamily="18" charset="0"/>
                    <a:cs typeface="Times New Roman" panose="02020603050405020304" pitchFamily="18" charset="0"/>
                  </a:rPr>
                  <a:t>a match here (the string T do not contain any block</a:t>
                </a:r>
                <a:r>
                  <a:rPr lang="en-US" altLang="zh-TW" sz="2800" dirty="0" smtClean="0">
                    <a:solidFill>
                      <a:schemeClr val="tx1"/>
                    </a:solidFill>
                    <a:latin typeface="Times New Roman" panose="02020603050405020304" pitchFamily="18" charset="0"/>
                    <a:cs typeface="Times New Roman" panose="02020603050405020304" pitchFamily="18" charset="0"/>
                  </a:rPr>
                  <a:t>).</a:t>
                </a:r>
              </a:p>
              <a:p>
                <a:endParaRPr lang="en-US" altLang="zh-TW" sz="2800" dirty="0" smtClean="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sz="2800" dirty="0">
                    <a:solidFill>
                      <a:schemeClr val="tx1"/>
                    </a:solidFill>
                    <a:latin typeface="Times New Roman" panose="02020603050405020304" pitchFamily="18" charset="0"/>
                    <a:cs typeface="Times New Roman" panose="02020603050405020304" pitchFamily="18" charset="0"/>
                  </a:rPr>
                  <a:t>In particular, the authors of [21] as well considers </a:t>
                </a:r>
                <a:r>
                  <a:rPr lang="en-US" altLang="zh-TW" sz="2800" dirty="0" smtClean="0">
                    <a:solidFill>
                      <a:schemeClr val="tx1"/>
                    </a:solidFill>
                    <a:latin typeface="Times New Roman" panose="02020603050405020304" pitchFamily="18" charset="0"/>
                    <a:cs typeface="Times New Roman" panose="02020603050405020304" pitchFamily="18" charset="0"/>
                  </a:rPr>
                  <a:t>only </a:t>
                </a:r>
                <a:r>
                  <a:rPr lang="en-US" altLang="zh-TW" sz="2800" dirty="0">
                    <a:latin typeface="Times New Roman" panose="02020603050405020304" pitchFamily="18" charset="0"/>
                    <a:cs typeface="Times New Roman" panose="02020603050405020304" pitchFamily="18" charset="0"/>
                  </a:rPr>
                  <a:t>three cases</a:t>
                </a:r>
                <a:r>
                  <a:rPr lang="en-US" altLang="zh-TW" sz="2800" dirty="0" smtClean="0">
                    <a:latin typeface="Times New Roman" panose="02020603050405020304" pitchFamily="18" charset="0"/>
                    <a:cs typeface="Times New Roman" panose="02020603050405020304" pitchFamily="18" charset="0"/>
                  </a:rPr>
                  <a:t>:</a:t>
                </a:r>
              </a:p>
              <a:p>
                <a:r>
                  <a:rPr lang="en-US" altLang="zh-TW" dirty="0" smtClean="0">
                    <a:solidFill>
                      <a:schemeClr val="bg1">
                        <a:lumMod val="75000"/>
                      </a:schemeClr>
                    </a:solidFill>
                    <a:latin typeface="Times New Roman" panose="02020603050405020304" pitchFamily="18" charset="0"/>
                    <a:cs typeface="Times New Roman" panose="02020603050405020304" pitchFamily="18" charset="0"/>
                  </a:rPr>
                  <a:t>Efﬁcient </a:t>
                </a:r>
                <a:r>
                  <a:rPr lang="en-US" altLang="zh-TW" dirty="0">
                    <a:solidFill>
                      <a:schemeClr val="bg1">
                        <a:lumMod val="75000"/>
                      </a:schemeClr>
                    </a:solidFill>
                    <a:latin typeface="Times New Roman" panose="02020603050405020304" pitchFamily="18" charset="0"/>
                    <a:cs typeface="Times New Roman" panose="02020603050405020304" pitchFamily="18" charset="0"/>
                  </a:rPr>
                  <a:t>sparse dynamic programming </a:t>
                </a:r>
                <a:r>
                  <a:rPr lang="en-US" altLang="zh-TW" dirty="0" smtClean="0">
                    <a:solidFill>
                      <a:schemeClr val="bg1">
                        <a:lumMod val="75000"/>
                      </a:schemeClr>
                    </a:solidFill>
                    <a:latin typeface="Times New Roman" panose="02020603050405020304" pitchFamily="18" charset="0"/>
                    <a:cs typeface="Times New Roman" panose="02020603050405020304" pitchFamily="18" charset="0"/>
                  </a:rPr>
                  <a:t>for the </a:t>
                </a:r>
                <a:r>
                  <a:rPr lang="en-US" altLang="zh-TW" dirty="0">
                    <a:solidFill>
                      <a:schemeClr val="bg1">
                        <a:lumMod val="75000"/>
                      </a:schemeClr>
                    </a:solidFill>
                    <a:latin typeface="Times New Roman" panose="02020603050405020304" pitchFamily="18" charset="0"/>
                    <a:cs typeface="Times New Roman" panose="02020603050405020304" pitchFamily="18" charset="0"/>
                  </a:rPr>
                  <a:t>merged </a:t>
                </a:r>
                <a:r>
                  <a:rPr lang="en-US" altLang="zh-TW" dirty="0" smtClean="0">
                    <a:solidFill>
                      <a:schemeClr val="bg1">
                        <a:lumMod val="75000"/>
                      </a:schemeClr>
                    </a:solidFill>
                    <a:latin typeface="Times New Roman" panose="02020603050405020304" pitchFamily="18" charset="0"/>
                    <a:cs typeface="Times New Roman" panose="02020603050405020304" pitchFamily="18" charset="0"/>
                  </a:rPr>
                  <a:t>LCS </a:t>
                </a:r>
                <a:r>
                  <a:rPr lang="en-US" altLang="zh-TW" dirty="0">
                    <a:solidFill>
                      <a:schemeClr val="bg1">
                        <a:lumMod val="75000"/>
                      </a:schemeClr>
                    </a:solidFill>
                    <a:latin typeface="Times New Roman" panose="02020603050405020304" pitchFamily="18" charset="0"/>
                    <a:cs typeface="Times New Roman" panose="02020603050405020304" pitchFamily="18" charset="0"/>
                  </a:rPr>
                  <a:t>problem with </a:t>
                </a:r>
                <a:r>
                  <a:rPr lang="en-US" altLang="zh-TW" dirty="0" smtClean="0">
                    <a:solidFill>
                      <a:schemeClr val="bg1">
                        <a:lumMod val="75000"/>
                      </a:schemeClr>
                    </a:solidFill>
                    <a:latin typeface="Times New Roman" panose="02020603050405020304" pitchFamily="18" charset="0"/>
                    <a:cs typeface="Times New Roman" panose="02020603050405020304" pitchFamily="18" charset="0"/>
                  </a:rPr>
                  <a:t>block constraints</a:t>
                </a:r>
                <a:r>
                  <a:rPr lang="en-US" altLang="zh-TW" dirty="0">
                    <a:solidFill>
                      <a:schemeClr val="bg1">
                        <a:lumMod val="75000"/>
                      </a:schemeClr>
                    </a:solidFill>
                    <a:latin typeface="Times New Roman" panose="02020603050405020304" pitchFamily="18" charset="0"/>
                    <a:cs typeface="Times New Roman" panose="02020603050405020304" pitchFamily="18" charset="0"/>
                  </a:rPr>
                  <a:t>,”</a:t>
                </a:r>
              </a:p>
              <a:p>
                <a:pPr algn="ctr"/>
                <a:r>
                  <a:rPr lang="en-US" altLang="zh-TW" dirty="0">
                    <a:solidFill>
                      <a:schemeClr val="bg1">
                        <a:lumMod val="75000"/>
                      </a:schemeClr>
                    </a:solidFill>
                    <a:latin typeface="Times New Roman" panose="02020603050405020304" pitchFamily="18" charset="0"/>
                    <a:cs typeface="Times New Roman" panose="02020603050405020304" pitchFamily="18" charset="0"/>
                  </a:rPr>
                  <a:t>International Journal of Innovative Computing,</a:t>
                </a:r>
              </a:p>
              <a:p>
                <a:pPr algn="ctr"/>
                <a:r>
                  <a:rPr lang="en-US" altLang="zh-TW" dirty="0">
                    <a:solidFill>
                      <a:schemeClr val="bg1">
                        <a:lumMod val="75000"/>
                      </a:schemeClr>
                    </a:solidFill>
                    <a:latin typeface="Times New Roman" panose="02020603050405020304" pitchFamily="18" charset="0"/>
                    <a:cs typeface="Times New Roman" panose="02020603050405020304" pitchFamily="18" charset="0"/>
                  </a:rPr>
                  <a:t>Information and Control, vol. 6, April 2010.</a:t>
                </a:r>
              </a:p>
              <a:p>
                <a:pPr algn="ctr"/>
                <a:r>
                  <a:rPr lang="en-US" altLang="zh-TW" sz="2800" dirty="0" smtClean="0">
                    <a:solidFill>
                      <a:schemeClr val="tx1"/>
                    </a:solidFill>
                    <a:latin typeface="Times New Roman" panose="02020603050405020304" pitchFamily="18" charset="0"/>
                    <a:cs typeface="Times New Roman" panose="02020603050405020304" pitchFamily="18" charset="0"/>
                  </a:rPr>
                  <a:t> 1</a:t>
                </a:r>
                <a:r>
                  <a:rPr lang="en-US" altLang="zh-TW" sz="2800" dirty="0">
                    <a:solidFill>
                      <a:schemeClr val="tx1"/>
                    </a:solidFill>
                    <a:latin typeface="Times New Roman" panose="02020603050405020304" pitchFamily="18" charset="0"/>
                    <a:cs typeface="Times New Roman" panose="02020603050405020304" pitchFamily="18" charset="0"/>
                  </a:rPr>
                  <a:t>. (</a:t>
                </a:r>
                <a:r>
                  <a:rPr lang="en-US" altLang="zh-TW" sz="2800" dirty="0" err="1">
                    <a:solidFill>
                      <a:schemeClr val="tx1"/>
                    </a:solidFill>
                    <a:latin typeface="Times New Roman" panose="02020603050405020304" pitchFamily="18" charset="0"/>
                    <a:cs typeface="Times New Roman" panose="02020603050405020304" pitchFamily="18" charset="0"/>
                  </a:rPr>
                  <a:t>i</a:t>
                </a:r>
                <a:r>
                  <a:rPr lang="en-US" altLang="zh-TW" sz="2800" dirty="0">
                    <a:solidFill>
                      <a:schemeClr val="tx1"/>
                    </a:solidFill>
                    <a:latin typeface="Times New Roman" panose="02020603050405020304" pitchFamily="18" charset="0"/>
                    <a:cs typeface="Times New Roman" panose="02020603050405020304" pitchFamily="18" charset="0"/>
                  </a:rPr>
                  <a:t>, j) = (0, 0)</a:t>
                </a:r>
              </a:p>
              <a:p>
                <a:pPr algn="ctr"/>
                <a:r>
                  <a:rPr lang="en-US" altLang="zh-TW" sz="2800" dirty="0">
                    <a:solidFill>
                      <a:schemeClr val="tx1"/>
                    </a:solidFill>
                    <a:latin typeface="Times New Roman" panose="02020603050405020304" pitchFamily="18" charset="0"/>
                    <a:cs typeface="Times New Roman" panose="02020603050405020304" pitchFamily="18" charset="0"/>
                  </a:rPr>
                  <a:t>2. </a:t>
                </a:r>
                <a14:m>
                  <m:oMath xmlns:m="http://schemas.openxmlformats.org/officeDocument/2006/math">
                    <m:sSub>
                      <m:sSubPr>
                        <m:ctrlPr>
                          <a:rPr lang="en-US" altLang="zh-TW" sz="2800" i="1">
                            <a:solidFill>
                              <a:schemeClr val="tx1"/>
                            </a:solidFill>
                            <a:latin typeface="Cambria Math" panose="02040503050406030204" pitchFamily="18" charset="0"/>
                            <a:cs typeface="Times New Roman" panose="02020603050405020304" pitchFamily="18" charset="0"/>
                          </a:rPr>
                        </m:ctrlPr>
                      </m:sSubPr>
                      <m:e>
                        <m:r>
                          <a:rPr lang="en-US" altLang="zh-TW" sz="2800" i="1">
                            <a:solidFill>
                              <a:schemeClr val="tx1"/>
                            </a:solidFill>
                            <a:latin typeface="Cambria Math" panose="02040503050406030204" pitchFamily="18" charset="0"/>
                            <a:cs typeface="Times New Roman" panose="02020603050405020304" pitchFamily="18" charset="0"/>
                          </a:rPr>
                          <m:t>𝑎</m:t>
                        </m:r>
                      </m:e>
                      <m:sub>
                        <m:r>
                          <a:rPr lang="en-US" altLang="zh-TW" sz="2800" i="1">
                            <a:solidFill>
                              <a:schemeClr val="tx1"/>
                            </a:solidFill>
                            <a:latin typeface="Cambria Math" panose="02040503050406030204" pitchFamily="18" charset="0"/>
                            <a:cs typeface="Times New Roman" panose="02020603050405020304" pitchFamily="18" charset="0"/>
                          </a:rPr>
                          <m:t>𝑖</m:t>
                        </m:r>
                      </m:sub>
                    </m:sSub>
                  </m:oMath>
                </a14:m>
                <a:r>
                  <a:rPr lang="en-US" altLang="zh-TW" sz="2800" dirty="0" smtClean="0">
                    <a:solidFill>
                      <a:schemeClr val="tx1"/>
                    </a:solidFill>
                    <a:latin typeface="Times New Roman" panose="02020603050405020304" pitchFamily="18" charset="0"/>
                    <a:cs typeface="Times New Roman" panose="02020603050405020304" pitchFamily="18" charset="0"/>
                  </a:rPr>
                  <a:t>  ≠ {#, </a:t>
                </a:r>
                <a:r>
                  <a:rPr lang="en-US" altLang="zh-TW" sz="2800" dirty="0">
                    <a:solidFill>
                      <a:schemeClr val="tx1"/>
                    </a:solidFill>
                    <a:latin typeface="Times New Roman" panose="02020603050405020304" pitchFamily="18" charset="0"/>
                    <a:cs typeface="Times New Roman" panose="02020603050405020304" pitchFamily="18" charset="0"/>
                  </a:rPr>
                  <a:t>φ</a:t>
                </a:r>
                <a:r>
                  <a:rPr lang="en-US" altLang="zh-TW" sz="2800" dirty="0" smtClean="0">
                    <a:solidFill>
                      <a:schemeClr val="tx1"/>
                    </a:solidFill>
                    <a:latin typeface="Times New Roman" panose="02020603050405020304" pitchFamily="18" charset="0"/>
                    <a:cs typeface="Times New Roman" panose="02020603050405020304" pitchFamily="18" charset="0"/>
                  </a:rPr>
                  <a:t>}</a:t>
                </a:r>
                <a:endParaRPr lang="en-US" altLang="zh-TW" sz="2800" dirty="0">
                  <a:solidFill>
                    <a:schemeClr val="tx1"/>
                  </a:solidFill>
                  <a:latin typeface="Times New Roman" panose="02020603050405020304" pitchFamily="18" charset="0"/>
                  <a:cs typeface="Times New Roman" panose="02020603050405020304" pitchFamily="18" charset="0"/>
                </a:endParaRPr>
              </a:p>
              <a:p>
                <a:pPr algn="ctr"/>
                <a:r>
                  <a:rPr lang="en-US" altLang="zh-TW" sz="2800" dirty="0">
                    <a:solidFill>
                      <a:schemeClr val="tx1"/>
                    </a:solidFill>
                    <a:latin typeface="Times New Roman" panose="02020603050405020304" pitchFamily="18" charset="0"/>
                    <a:cs typeface="Times New Roman" panose="02020603050405020304" pitchFamily="18" charset="0"/>
                  </a:rPr>
                  <a:t>3. </a:t>
                </a:r>
                <a14:m>
                  <m:oMath xmlns:m="http://schemas.openxmlformats.org/officeDocument/2006/math">
                    <m:sSub>
                      <m:sSubPr>
                        <m:ctrlPr>
                          <a:rPr lang="en-US" altLang="zh-TW" sz="2800" i="1">
                            <a:solidFill>
                              <a:schemeClr val="tx1"/>
                            </a:solidFill>
                            <a:latin typeface="Cambria Math" panose="02040503050406030204" pitchFamily="18" charset="0"/>
                            <a:cs typeface="Times New Roman" panose="02020603050405020304" pitchFamily="18" charset="0"/>
                          </a:rPr>
                        </m:ctrlPr>
                      </m:sSubPr>
                      <m:e>
                        <m:r>
                          <a:rPr lang="en-US" altLang="zh-TW" sz="2800" i="1">
                            <a:solidFill>
                              <a:schemeClr val="tx1"/>
                            </a:solidFill>
                            <a:latin typeface="Cambria Math" panose="02040503050406030204" pitchFamily="18" charset="0"/>
                            <a:cs typeface="Times New Roman" panose="02020603050405020304" pitchFamily="18" charset="0"/>
                          </a:rPr>
                          <m:t>𝑏</m:t>
                        </m:r>
                      </m:e>
                      <m:sub>
                        <m:r>
                          <a:rPr lang="en-US" altLang="zh-TW" sz="2800" i="1">
                            <a:solidFill>
                              <a:schemeClr val="tx1"/>
                            </a:solidFill>
                            <a:latin typeface="Cambria Math" panose="02040503050406030204" pitchFamily="18" charset="0"/>
                            <a:cs typeface="Times New Roman" panose="02020603050405020304" pitchFamily="18" charset="0"/>
                          </a:rPr>
                          <m:t>𝑗</m:t>
                        </m:r>
                      </m:sub>
                    </m:sSub>
                  </m:oMath>
                </a14:m>
                <a:r>
                  <a:rPr lang="en-US" altLang="zh-TW" sz="2800" dirty="0" smtClean="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 ≠ </a:t>
                </a:r>
                <a:r>
                  <a:rPr lang="en-US" altLang="zh-TW" sz="2800" dirty="0" smtClean="0">
                    <a:solidFill>
                      <a:schemeClr val="tx1"/>
                    </a:solidFill>
                    <a:latin typeface="Times New Roman" panose="02020603050405020304" pitchFamily="18" charset="0"/>
                    <a:cs typeface="Times New Roman" panose="02020603050405020304" pitchFamily="18" charset="0"/>
                  </a:rPr>
                  <a:t>{#, </a:t>
                </a:r>
                <a:r>
                  <a:rPr lang="en-US" altLang="zh-TW" sz="2800" dirty="0">
                    <a:solidFill>
                      <a:schemeClr val="tx1"/>
                    </a:solidFill>
                    <a:latin typeface="Times New Roman" panose="02020603050405020304" pitchFamily="18" charset="0"/>
                    <a:cs typeface="Times New Roman" panose="02020603050405020304" pitchFamily="18" charset="0"/>
                  </a:rPr>
                  <a:t>φ}</a:t>
                </a:r>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0" y="1681847"/>
                <a:ext cx="8750300" cy="4870692"/>
              </a:xfrm>
              <a:prstGeom prst="rect">
                <a:avLst/>
              </a:prstGeom>
              <a:blipFill rotWithShape="0">
                <a:blip r:embed="rId2"/>
                <a:stretch>
                  <a:fillRect l="-1254" t="-1377" r="-2439" b="-175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989824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73150" y="98426"/>
            <a:ext cx="7886700" cy="1325563"/>
          </a:xfrm>
        </p:spPr>
        <p:txBody>
          <a:bodyPr>
            <a:normAutofit/>
          </a:bodyPr>
          <a:lstStyle/>
          <a:p>
            <a:pPr algn="ctr"/>
            <a:r>
              <a:rPr lang="en-US" altLang="zh-TW" dirty="0" smtClean="0">
                <a:latin typeface="Times New Roman" panose="02020603050405020304" pitchFamily="18" charset="0"/>
                <a:cs typeface="Times New Roman" panose="02020603050405020304" pitchFamily="18" charset="0"/>
              </a:rPr>
              <a:t>Algorithm BMLCS(A</a:t>
            </a:r>
            <a:r>
              <a:rPr lang="en-US" altLang="zh-TW" dirty="0">
                <a:latin typeface="Times New Roman" panose="02020603050405020304" pitchFamily="18" charset="0"/>
                <a:cs typeface="Times New Roman" panose="02020603050405020304" pitchFamily="18" charset="0"/>
              </a:rPr>
              <a:t>, B, T</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a:xfrm>
            <a:off x="6902450" y="6089651"/>
            <a:ext cx="2057400" cy="365125"/>
          </a:xfrm>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32</a:t>
            </a:fld>
            <a:endParaRPr lang="zh-TW" alt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內容版面配置區 2"/>
              <p:cNvSpPr>
                <a:spLocks noGrp="1"/>
              </p:cNvSpPr>
              <p:nvPr>
                <p:ph idx="1"/>
              </p:nvPr>
            </p:nvSpPr>
            <p:spPr>
              <a:xfrm>
                <a:off x="457200" y="1600200"/>
                <a:ext cx="8229600" cy="4686320"/>
              </a:xfrm>
            </p:spPr>
            <p:txBody>
              <a:bodyPr>
                <a:normAutofit lnSpcReduction="10000"/>
              </a:bodyPr>
              <a:lstStyle/>
              <a:p>
                <a:r>
                  <a:rPr lang="en-US" altLang="zh-TW" dirty="0" smtClean="0">
                    <a:latin typeface="Times New Roman" panose="02020603050405020304" pitchFamily="18" charset="0"/>
                    <a:cs typeface="Times New Roman" panose="02020603050405020304" pitchFamily="18" charset="0"/>
                  </a:rPr>
                  <a:t>At ﬁrst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is initialized to max</a:t>
                </a:r>
                <a:r>
                  <a:rPr lang="en-US" altLang="zh-TW" dirty="0" smtClean="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r>
                          <a:rPr lang="en-US" altLang="zh-TW" b="0" i="1" smtClean="0">
                            <a:latin typeface="Cambria Math" panose="02040503050406030204" pitchFamily="18" charset="0"/>
                          </a:rPr>
                          <m:t>−1</m:t>
                        </m:r>
                      </m:sub>
                      <m:sup>
                        <m:r>
                          <a:rPr lang="en-US" altLang="zh-TW" i="1">
                            <a:latin typeface="Cambria Math" panose="02040503050406030204" pitchFamily="18" charset="0"/>
                          </a:rPr>
                          <m:t>𝑘</m:t>
                        </m:r>
                      </m:sup>
                    </m:sSubSup>
                  </m:oMath>
                </a14:m>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t>
                </a:r>
              </a:p>
              <a:p>
                <a:pPr>
                  <a:buNone/>
                </a:pPr>
                <a:endParaRPr lang="pt-BR" altLang="zh-TW" i="1" dirty="0"/>
              </a:p>
              <a:p>
                <a:r>
                  <a:rPr lang="en-US" altLang="zh-TW" dirty="0">
                    <a:solidFill>
                      <a:srgbClr val="FF0000"/>
                    </a:solidFill>
                    <a:latin typeface="Times New Roman" panose="02020603050405020304" pitchFamily="18" charset="0"/>
                    <a:cs typeface="Times New Roman" panose="02020603050405020304" pitchFamily="18" charset="0"/>
                  </a:rPr>
                  <a:t>if</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i="1">
                            <a:solidFill>
                              <a:srgbClr val="FF0000"/>
                            </a:solidFill>
                            <a:latin typeface="Cambria Math" panose="02040503050406030204" pitchFamily="18" charset="0"/>
                            <a:cs typeface="Times New Roman" panose="02020603050405020304" pitchFamily="18" charset="0"/>
                          </a:rPr>
                          <m:t> </m:t>
                        </m:r>
                        <m:r>
                          <a:rPr lang="en-US" altLang="zh-TW" i="1">
                            <a:solidFill>
                              <a:srgbClr val="FF0000"/>
                            </a:solidFill>
                            <a:latin typeface="Cambria Math" panose="02040503050406030204" pitchFamily="18" charset="0"/>
                            <a:cs typeface="Times New Roman" panose="02020603050405020304" pitchFamily="18" charset="0"/>
                          </a:rPr>
                          <m:t>𝑎</m:t>
                        </m:r>
                      </m:e>
                      <m:sub>
                        <m:r>
                          <a:rPr lang="en-US" altLang="zh-TW" i="1">
                            <a:solidFill>
                              <a:srgbClr val="FF0000"/>
                            </a:solidFill>
                            <a:latin typeface="Cambria Math" panose="02040503050406030204" pitchFamily="18" charset="0"/>
                            <a:cs typeface="Times New Roman" panose="02020603050405020304" pitchFamily="18" charset="0"/>
                          </a:rPr>
                          <m:t>𝑖</m:t>
                        </m:r>
                      </m:sub>
                    </m:sSub>
                  </m:oMath>
                </a14:m>
                <a:r>
                  <a:rPr lang="en-US" altLang="zh-TW" dirty="0">
                    <a:solidFill>
                      <a:srgbClr val="FF0000"/>
                    </a:solidFill>
                    <a:latin typeface="Times New Roman" panose="02020603050405020304" pitchFamily="18" charset="0"/>
                    <a:cs typeface="Times New Roman" panose="02020603050405020304" pitchFamily="18" charset="0"/>
                  </a:rPr>
                  <a:t> = </a:t>
                </a:r>
                <a:r>
                  <a:rPr lang="el-GR" altLang="zh-TW" dirty="0">
                    <a:solidFill>
                      <a:srgbClr val="FF0000"/>
                    </a:solidFill>
                    <a:latin typeface="Times New Roman" panose="02020603050405020304" pitchFamily="18" charset="0"/>
                    <a:cs typeface="Times New Roman" panose="02020603050405020304" pitchFamily="18" charset="0"/>
                  </a:rPr>
                  <a:t>{φ, #}</a:t>
                </a:r>
                <a:r>
                  <a:rPr lang="en-US" altLang="zh-TW" dirty="0">
                    <a:solidFill>
                      <a:srgbClr val="FF0000"/>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i="1">
                            <a:solidFill>
                              <a:srgbClr val="FF0000"/>
                            </a:solidFill>
                            <a:latin typeface="Cambria Math" panose="02040503050406030204" pitchFamily="18" charset="0"/>
                            <a:cs typeface="Times New Roman" panose="02020603050405020304" pitchFamily="18" charset="0"/>
                          </a:rPr>
                          <m:t>𝑏</m:t>
                        </m:r>
                      </m:e>
                      <m:sub>
                        <m:r>
                          <a:rPr lang="en-US" altLang="zh-TW" i="1">
                            <a:solidFill>
                              <a:srgbClr val="FF0000"/>
                            </a:solidFill>
                            <a:latin typeface="Cambria Math" panose="02040503050406030204" pitchFamily="18" charset="0"/>
                            <a:cs typeface="Times New Roman" panose="02020603050405020304" pitchFamily="18" charset="0"/>
                          </a:rPr>
                          <m:t>𝑗</m:t>
                        </m:r>
                      </m:sub>
                    </m:sSub>
                  </m:oMath>
                </a14:m>
                <a:r>
                  <a:rPr lang="en-US" altLang="zh-TW" dirty="0">
                    <a:solidFill>
                      <a:srgbClr val="FF0000"/>
                    </a:solidFill>
                    <a:latin typeface="Times New Roman" panose="02020603050405020304" pitchFamily="18" charset="0"/>
                    <a:cs typeface="Times New Roman" panose="02020603050405020304" pitchFamily="18" charset="0"/>
                  </a:rPr>
                  <a:t>  ≠</a:t>
                </a:r>
                <a:r>
                  <a:rPr lang="el-GR" altLang="zh-TW" dirty="0">
                    <a:solidFill>
                      <a:srgbClr val="FF0000"/>
                    </a:solidFill>
                    <a:latin typeface="Times New Roman" panose="02020603050405020304" pitchFamily="18" charset="0"/>
                    <a:cs typeface="Times New Roman" panose="02020603050405020304" pitchFamily="18" charset="0"/>
                  </a:rPr>
                  <a:t>{φ, #}</a:t>
                </a:r>
                <a:endParaRPr lang="pt-BR" altLang="zh-TW" i="1" dirty="0"/>
              </a:p>
              <a:p>
                <a:pPr marL="0" indent="0">
                  <a:buNone/>
                </a:pPr>
                <a:r>
                  <a:rPr lang="en-US" altLang="zh-TW" dirty="0">
                    <a:cs typeface="Times New Roman" panose="02020603050405020304" pitchFamily="18" charset="0"/>
                  </a:rPr>
                  <a:t>then </a:t>
                </a:r>
                <a14:m>
                  <m:oMath xmlns:m="http://schemas.openxmlformats.org/officeDocument/2006/math">
                    <m:r>
                      <m:rPr>
                        <m:sty m:val="p"/>
                      </m:rPr>
                      <a:rPr lang="en-US" altLang="zh-TW">
                        <a:latin typeface="Cambria Math" panose="02040503050406030204" pitchFamily="18" charset="0"/>
                        <a:cs typeface="Times New Roman" panose="02020603050405020304" pitchFamily="18" charset="0"/>
                      </a:rPr>
                      <m:t>match</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a:latin typeface="Cambria Math" panose="02040503050406030204" pitchFamily="18" charset="0"/>
                            <a:cs typeface="Times New Roman" panose="02020603050405020304" pitchFamily="18" charset="0"/>
                          </a:rPr>
                          <m:t>M</m:t>
                        </m:r>
                      </m:e>
                      <m:sub>
                        <m:r>
                          <m:rPr>
                            <m:sty m:val="p"/>
                          </m:rPr>
                          <a:rPr lang="en-US" altLang="zh-TW">
                            <a:latin typeface="Cambria Math" panose="02040503050406030204" pitchFamily="18" charset="0"/>
                            <a:cs typeface="Times New Roman" panose="02020603050405020304" pitchFamily="18" charset="0"/>
                          </a:rPr>
                          <m:t>j</m:t>
                        </m:r>
                      </m:sub>
                    </m:sSub>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j</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r</m:t>
                    </m:r>
                    <m:r>
                      <a:rPr lang="en-US" altLang="zh-TW">
                        <a:latin typeface="Cambria Math" panose="02040503050406030204" pitchFamily="18" charset="0"/>
                        <a:cs typeface="Times New Roman" panose="02020603050405020304" pitchFamily="18" charset="0"/>
                      </a:rPr>
                      <m:t>, 1 ≤ </m:t>
                    </m:r>
                    <m:r>
                      <m:rPr>
                        <m:sty m:val="p"/>
                      </m:rPr>
                      <a:rPr lang="en-US" altLang="zh-TW">
                        <a:latin typeface="Cambria Math" panose="02040503050406030204" pitchFamily="18" charset="0"/>
                        <a:cs typeface="Times New Roman" panose="02020603050405020304" pitchFamily="18" charset="0"/>
                      </a:rPr>
                      <m:t>k</m:t>
                    </m:r>
                    <m:r>
                      <a:rPr lang="en-US" altLang="zh-TW">
                        <a:latin typeface="Cambria Math" panose="02040503050406030204" pitchFamily="18" charset="0"/>
                        <a:cs typeface="Times New Roman" panose="02020603050405020304" pitchFamily="18" charset="0"/>
                      </a:rPr>
                      <m:t> ≤ </m:t>
                    </m:r>
                    <m:r>
                      <m:rPr>
                        <m:sty m:val="p"/>
                      </m:rPr>
                      <a:rPr lang="en-US" altLang="zh-TW">
                        <a:latin typeface="Cambria Math" panose="02040503050406030204" pitchFamily="18" charset="0"/>
                        <a:cs typeface="Times New Roman" panose="02020603050405020304" pitchFamily="18" charset="0"/>
                      </a:rPr>
                      <m:t>n</m:t>
                    </m:r>
                  </m:oMath>
                </a14:m>
                <a:endParaRPr lang="pt-BR" altLang="zh-TW" dirty="0"/>
              </a:p>
              <a:p>
                <a:pPr>
                  <a:buNone/>
                </a:pPr>
                <a:r>
                  <a:rPr lang="pt-BR" altLang="zh-TW" dirty="0"/>
                  <a:t>		</a:t>
                </a:r>
                <a14:m>
                  <m:oMath xmlns:m="http://schemas.openxmlformats.org/officeDocument/2006/math">
                    <m:sSub>
                      <m:sSubPr>
                        <m:ctrlPr>
                          <a:rPr lang="pt-BR" altLang="zh-TW" i="1">
                            <a:latin typeface="Cambria Math" panose="02040503050406030204" pitchFamily="18" charset="0"/>
                          </a:rPr>
                        </m:ctrlPr>
                      </m:sSubPr>
                      <m:e>
                        <m:r>
                          <a:rPr lang="en-US" altLang="zh-TW" i="1">
                            <a:latin typeface="Cambria Math" panose="02040503050406030204" pitchFamily="18" charset="0"/>
                          </a:rPr>
                          <m:t>𝐿</m:t>
                        </m:r>
                      </m:e>
                      <m:sub>
                        <m:r>
                          <a:rPr lang="en-US" altLang="zh-TW" i="1">
                            <a:latin typeface="Cambria Math" panose="02040503050406030204" pitchFamily="18" charset="0"/>
                          </a:rPr>
                          <m:t>𝑘</m:t>
                        </m:r>
                      </m:sub>
                    </m:sSub>
                  </m:oMath>
                </a14:m>
                <a:r>
                  <a:rPr lang="pt-BR" altLang="zh-TW" i="1" dirty="0"/>
                  <a:t>(i, j)  = BoundedMax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𝐻</m:t>
                        </m:r>
                      </m:e>
                      <m:sub>
                        <m:r>
                          <a:rPr lang="en-US" altLang="zh-TW" i="1">
                            <a:latin typeface="Cambria Math" panose="02040503050406030204" pitchFamily="18" charset="0"/>
                          </a:rPr>
                          <m:t>𝑖</m:t>
                        </m:r>
                      </m:sub>
                      <m:sup>
                        <m:r>
                          <a:rPr lang="en-US" altLang="zh-TW" i="1">
                            <a:latin typeface="Cambria Math" panose="02040503050406030204" pitchFamily="18" charset="0"/>
                          </a:rPr>
                          <m:t>𝑘</m:t>
                        </m:r>
                        <m:r>
                          <a:rPr lang="en-US" altLang="zh-TW" i="1">
                            <a:latin typeface="Cambria Math" panose="02040503050406030204" pitchFamily="18" charset="0"/>
                          </a:rPr>
                          <m:t>−1</m:t>
                        </m:r>
                      </m:sup>
                    </m:sSubSup>
                    <m:r>
                      <a:rPr lang="en-US" altLang="zh-TW" i="1">
                        <a:latin typeface="Cambria Math" panose="02040503050406030204" pitchFamily="18" charset="0"/>
                      </a:rPr>
                      <m:t>,</m:t>
                    </m:r>
                    <m:r>
                      <a:rPr lang="en-US" altLang="zh-TW" i="1">
                        <a:latin typeface="Cambria Math" panose="02040503050406030204" pitchFamily="18" charset="0"/>
                      </a:rPr>
                      <m:t>𝑗</m:t>
                    </m:r>
                  </m:oMath>
                </a14:m>
                <a:r>
                  <a:rPr lang="pt-BR" altLang="zh-TW" i="1" dirty="0"/>
                  <a:t>) + 1</a:t>
                </a:r>
                <a:endParaRPr lang="zh-TW" altLang="en-US" dirty="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r>
                  <a:rPr lang="en-US" altLang="zh-TW" dirty="0" smtClean="0">
                    <a:solidFill>
                      <a:srgbClr val="FF0000"/>
                    </a:solidFill>
                    <a:latin typeface="Times New Roman" panose="02020603050405020304" pitchFamily="18" charset="0"/>
                    <a:cs typeface="Times New Roman" panose="02020603050405020304" pitchFamily="18" charset="0"/>
                  </a:rPr>
                  <a:t>if</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b="0" i="1" smtClean="0">
                            <a:solidFill>
                              <a:srgbClr val="FF0000"/>
                            </a:solidFill>
                            <a:latin typeface="Cambria Math" panose="02040503050406030204" pitchFamily="18" charset="0"/>
                            <a:cs typeface="Times New Roman" panose="02020603050405020304" pitchFamily="18" charset="0"/>
                          </a:rPr>
                          <m:t> </m:t>
                        </m:r>
                        <m:r>
                          <a:rPr lang="en-US" altLang="zh-TW" i="1">
                            <a:solidFill>
                              <a:srgbClr val="FF0000"/>
                            </a:solidFill>
                            <a:latin typeface="Cambria Math" panose="02040503050406030204" pitchFamily="18" charset="0"/>
                            <a:cs typeface="Times New Roman" panose="02020603050405020304" pitchFamily="18" charset="0"/>
                          </a:rPr>
                          <m:t>𝑎</m:t>
                        </m:r>
                      </m:e>
                      <m:sub>
                        <m:r>
                          <a:rPr lang="en-US" altLang="zh-TW" i="1">
                            <a:solidFill>
                              <a:srgbClr val="FF0000"/>
                            </a:solidFill>
                            <a:latin typeface="Cambria Math" panose="02040503050406030204" pitchFamily="18" charset="0"/>
                            <a:cs typeface="Times New Roman" panose="02020603050405020304" pitchFamily="18" charset="0"/>
                          </a:rPr>
                          <m:t>𝑖</m:t>
                        </m:r>
                      </m:sub>
                    </m:sSub>
                  </m:oMath>
                </a14:m>
                <a:r>
                  <a:rPr lang="en-US" altLang="zh-TW" dirty="0">
                    <a:solidFill>
                      <a:srgbClr val="FF0000"/>
                    </a:solidFill>
                    <a:latin typeface="Times New Roman" panose="02020603050405020304" pitchFamily="18" charset="0"/>
                    <a:cs typeface="Times New Roman" panose="02020603050405020304" pitchFamily="18" charset="0"/>
                  </a:rPr>
                  <a:t> </a:t>
                </a:r>
                <a:r>
                  <a:rPr lang="en-US" altLang="zh-TW" dirty="0" smtClean="0">
                    <a:solidFill>
                      <a:srgbClr val="FF0000"/>
                    </a:solidFill>
                    <a:latin typeface="Times New Roman" panose="02020603050405020304" pitchFamily="18" charset="0"/>
                    <a:cs typeface="Times New Roman" panose="02020603050405020304" pitchFamily="18" charset="0"/>
                  </a:rPr>
                  <a:t>≠ </a:t>
                </a:r>
                <a:r>
                  <a:rPr lang="el-GR" altLang="zh-TW" dirty="0">
                    <a:solidFill>
                      <a:srgbClr val="FF0000"/>
                    </a:solidFill>
                    <a:latin typeface="Times New Roman" panose="02020603050405020304" pitchFamily="18" charset="0"/>
                    <a:cs typeface="Times New Roman" panose="02020603050405020304" pitchFamily="18" charset="0"/>
                  </a:rPr>
                  <a:t>{φ, #}</a:t>
                </a:r>
                <a:r>
                  <a:rPr lang="en-US" altLang="zh-TW" dirty="0" smtClean="0">
                    <a:solidFill>
                      <a:srgbClr val="FF0000"/>
                    </a:solidFill>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altLang="zh-TW" i="1">
                            <a:solidFill>
                              <a:srgbClr val="FF0000"/>
                            </a:solidFill>
                            <a:latin typeface="Cambria Math" panose="02040503050406030204" pitchFamily="18" charset="0"/>
                            <a:cs typeface="Times New Roman" panose="02020603050405020304" pitchFamily="18" charset="0"/>
                          </a:rPr>
                        </m:ctrlPr>
                      </m:sSubPr>
                      <m:e>
                        <m:r>
                          <a:rPr lang="en-US" altLang="zh-TW" i="1">
                            <a:solidFill>
                              <a:srgbClr val="FF0000"/>
                            </a:solidFill>
                            <a:latin typeface="Cambria Math" panose="02040503050406030204" pitchFamily="18" charset="0"/>
                            <a:cs typeface="Times New Roman" panose="02020603050405020304" pitchFamily="18" charset="0"/>
                          </a:rPr>
                          <m:t>𝑏</m:t>
                        </m:r>
                      </m:e>
                      <m:sub>
                        <m:r>
                          <a:rPr lang="en-US" altLang="zh-TW" i="1">
                            <a:solidFill>
                              <a:srgbClr val="FF0000"/>
                            </a:solidFill>
                            <a:latin typeface="Cambria Math" panose="02040503050406030204" pitchFamily="18" charset="0"/>
                            <a:cs typeface="Times New Roman" panose="02020603050405020304" pitchFamily="18" charset="0"/>
                          </a:rPr>
                          <m:t>𝑗</m:t>
                        </m:r>
                      </m:sub>
                    </m:sSub>
                  </m:oMath>
                </a14:m>
                <a:r>
                  <a:rPr lang="en-US" altLang="zh-TW" dirty="0">
                    <a:solidFill>
                      <a:srgbClr val="FF0000"/>
                    </a:solidFill>
                    <a:latin typeface="Times New Roman" panose="02020603050405020304" pitchFamily="18" charset="0"/>
                    <a:cs typeface="Times New Roman" panose="02020603050405020304" pitchFamily="18" charset="0"/>
                  </a:rPr>
                  <a:t> =</a:t>
                </a:r>
                <a:r>
                  <a:rPr lang="el-GR" altLang="zh-TW" dirty="0" smtClean="0">
                    <a:solidFill>
                      <a:srgbClr val="FF0000"/>
                    </a:solidFill>
                    <a:latin typeface="Times New Roman" panose="02020603050405020304" pitchFamily="18" charset="0"/>
                    <a:cs typeface="Times New Roman" panose="02020603050405020304" pitchFamily="18" charset="0"/>
                  </a:rPr>
                  <a:t>{</a:t>
                </a:r>
                <a:r>
                  <a:rPr lang="el-GR" altLang="zh-TW" dirty="0">
                    <a:solidFill>
                      <a:srgbClr val="FF0000"/>
                    </a:solidFill>
                    <a:latin typeface="Times New Roman" panose="02020603050405020304" pitchFamily="18" charset="0"/>
                    <a:cs typeface="Times New Roman" panose="02020603050405020304" pitchFamily="18" charset="0"/>
                  </a:rPr>
                  <a:t>φ, </a:t>
                </a:r>
                <a:r>
                  <a:rPr lang="el-GR" altLang="zh-TW" dirty="0" smtClean="0">
                    <a:solidFill>
                      <a:srgbClr val="FF0000"/>
                    </a:solidFill>
                    <a:latin typeface="Times New Roman" panose="02020603050405020304" pitchFamily="18" charset="0"/>
                    <a:cs typeface="Times New Roman" panose="02020603050405020304" pitchFamily="18" charset="0"/>
                  </a:rPr>
                  <a:t>#}</a:t>
                </a: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then </a:t>
                </a:r>
                <a14:m>
                  <m:oMath xmlns:m="http://schemas.openxmlformats.org/officeDocument/2006/math">
                    <m:r>
                      <m:rPr>
                        <m:sty m:val="p"/>
                      </m:rPr>
                      <a:rPr lang="en-US" altLang="zh-TW" i="0">
                        <a:latin typeface="Cambria Math" panose="02040503050406030204" pitchFamily="18" charset="0"/>
                        <a:cs typeface="Times New Roman" panose="02020603050405020304" pitchFamily="18" charset="0"/>
                      </a:rPr>
                      <m:t>match</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m:t>
                    </m:r>
                    <m:sSub>
                      <m:sSubPr>
                        <m:ctrlPr>
                          <a:rPr lang="en-US" altLang="zh-TW" i="1">
                            <a:latin typeface="Cambria Math" panose="02040503050406030204" pitchFamily="18" charset="0"/>
                            <a:cs typeface="Times New Roman" panose="02020603050405020304" pitchFamily="18" charset="0"/>
                          </a:rPr>
                        </m:ctrlPr>
                      </m:sSubPr>
                      <m:e>
                        <m:r>
                          <m:rPr>
                            <m:sty m:val="p"/>
                          </m:rPr>
                          <a:rPr lang="en-US" altLang="zh-TW" i="0">
                            <a:latin typeface="Cambria Math" panose="02040503050406030204" pitchFamily="18" charset="0"/>
                            <a:cs typeface="Times New Roman" panose="02020603050405020304" pitchFamily="18" charset="0"/>
                          </a:rPr>
                          <m:t>M</m:t>
                        </m:r>
                      </m:e>
                      <m:sub>
                        <m:r>
                          <m:rPr>
                            <m:sty m:val="p"/>
                          </m:rPr>
                          <a:rPr lang="en-US" altLang="zh-TW" i="0">
                            <a:latin typeface="Cambria Math" panose="02040503050406030204" pitchFamily="18" charset="0"/>
                            <a:cs typeface="Times New Roman" panose="02020603050405020304" pitchFamily="18" charset="0"/>
                          </a:rPr>
                          <m:t>i</m:t>
                        </m:r>
                      </m:sub>
                    </m:sSub>
                    <m:r>
                      <a:rPr lang="en-US" altLang="zh-TW" i="0">
                        <a:latin typeface="Cambria Math" panose="02040503050406030204" pitchFamily="18" charset="0"/>
                        <a:cs typeface="Times New Roman" panose="02020603050405020304" pitchFamily="18" charset="0"/>
                      </a:rPr>
                      <m:t>, 1 ≤</m:t>
                    </m:r>
                    <m:r>
                      <m:rPr>
                        <m:sty m:val="p"/>
                      </m:rPr>
                      <a:rPr lang="en-US" altLang="zh-TW" b="0" i="0" smtClean="0">
                        <a:latin typeface="Cambria Math" panose="02040503050406030204" pitchFamily="18" charset="0"/>
                        <a:cs typeface="Times New Roman" panose="02020603050405020304" pitchFamily="18" charset="0"/>
                      </a:rPr>
                      <m:t>i</m:t>
                    </m:r>
                    <m:r>
                      <a:rPr lang="en-US" altLang="zh-TW" i="0">
                        <a:latin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cs typeface="Times New Roman" panose="02020603050405020304" pitchFamily="18" charset="0"/>
                      </a:rPr>
                      <m:t>m</m:t>
                    </m:r>
                    <m:r>
                      <a:rPr lang="en-US" altLang="zh-TW" i="0">
                        <a:latin typeface="Cambria Math" panose="02040503050406030204" pitchFamily="18" charset="0"/>
                        <a:cs typeface="Times New Roman" panose="02020603050405020304" pitchFamily="18" charset="0"/>
                      </a:rPr>
                      <m:t>, 1 ≤ </m:t>
                    </m:r>
                    <m:r>
                      <m:rPr>
                        <m:sty m:val="p"/>
                      </m:rPr>
                      <a:rPr lang="en-US" altLang="zh-TW" i="0">
                        <a:latin typeface="Cambria Math" panose="02040503050406030204" pitchFamily="18" charset="0"/>
                        <a:cs typeface="Times New Roman" panose="02020603050405020304" pitchFamily="18" charset="0"/>
                      </a:rPr>
                      <m:t>k</m:t>
                    </m:r>
                    <m:r>
                      <a:rPr lang="en-US" altLang="zh-TW" i="0">
                        <a:latin typeface="Cambria Math" panose="02040503050406030204" pitchFamily="18" charset="0"/>
                        <a:cs typeface="Times New Roman" panose="02020603050405020304" pitchFamily="18" charset="0"/>
                      </a:rPr>
                      <m:t> ≤ </m:t>
                    </m:r>
                    <m:r>
                      <m:rPr>
                        <m:sty m:val="p"/>
                      </m:rPr>
                      <a:rPr lang="en-US" altLang="zh-TW" i="0">
                        <a:latin typeface="Cambria Math" panose="02040503050406030204" pitchFamily="18" charset="0"/>
                        <a:cs typeface="Times New Roman" panose="02020603050405020304" pitchFamily="18" charset="0"/>
                      </a:rPr>
                      <m:t>n</m:t>
                    </m:r>
                  </m:oMath>
                </a14:m>
                <a:r>
                  <a:rPr lang="en-US" altLang="zh-TW" baseline="-25000" dirty="0">
                    <a:latin typeface="Times New Roman" panose="02020603050405020304" pitchFamily="18" charset="0"/>
                    <a:cs typeface="Times New Roman" panose="02020603050405020304" pitchFamily="18" charset="0"/>
                  </a:rPr>
                  <a:t>  </a:t>
                </a:r>
              </a:p>
              <a:p>
                <a:pPr>
                  <a:buNone/>
                </a:pPr>
                <a:r>
                  <a:rPr lang="pt-BR" altLang="zh-TW" dirty="0" smtClean="0"/>
                  <a:t>		</a:t>
                </a:r>
                <a14:m>
                  <m:oMath xmlns:m="http://schemas.openxmlformats.org/officeDocument/2006/math">
                    <m:sSub>
                      <m:sSubPr>
                        <m:ctrlPr>
                          <a:rPr lang="pt-BR" altLang="zh-TW" i="1" smtClean="0">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𝐿</m:t>
                        </m:r>
                      </m:e>
                      <m:sub>
                        <m:r>
                          <a:rPr lang="en-US" altLang="zh-TW" i="1">
                            <a:solidFill>
                              <a:schemeClr val="tx1"/>
                            </a:solidFill>
                            <a:latin typeface="Cambria Math" panose="02040503050406030204" pitchFamily="18" charset="0"/>
                          </a:rPr>
                          <m:t>𝑘</m:t>
                        </m:r>
                      </m:sub>
                    </m:sSub>
                  </m:oMath>
                </a14:m>
                <a:r>
                  <a:rPr lang="pt-BR" altLang="zh-TW" i="1" dirty="0">
                    <a:solidFill>
                      <a:schemeClr val="tx1"/>
                    </a:solidFill>
                  </a:rPr>
                  <a:t>(i, j)  = BoundedMax (</a:t>
                </a:r>
                <a14:m>
                  <m:oMath xmlns:m="http://schemas.openxmlformats.org/officeDocument/2006/math">
                    <m:sSubSup>
                      <m:sSubSupPr>
                        <m:ctrlPr>
                          <a:rPr lang="en-US" altLang="zh-TW" i="1">
                            <a:solidFill>
                              <a:schemeClr val="tx1"/>
                            </a:solidFill>
                            <a:latin typeface="Cambria Math" panose="02040503050406030204" pitchFamily="18" charset="0"/>
                          </a:rPr>
                        </m:ctrlPr>
                      </m:sSubSupPr>
                      <m:e>
                        <m:r>
                          <a:rPr lang="en-US" altLang="zh-TW" i="1">
                            <a:solidFill>
                              <a:schemeClr val="tx1"/>
                            </a:solidFill>
                            <a:latin typeface="Cambria Math" panose="02040503050406030204" pitchFamily="18" charset="0"/>
                          </a:rPr>
                          <m:t>𝐻</m:t>
                        </m:r>
                      </m:e>
                      <m:sub>
                        <m:r>
                          <a:rPr lang="en-US" altLang="zh-TW" i="1">
                            <a:solidFill>
                              <a:schemeClr val="tx1"/>
                            </a:solidFill>
                            <a:latin typeface="Cambria Math" panose="02040503050406030204" pitchFamily="18" charset="0"/>
                          </a:rPr>
                          <m:t>𝑖</m:t>
                        </m:r>
                        <m:r>
                          <a:rPr lang="en-US" altLang="zh-TW" i="1">
                            <a:solidFill>
                              <a:schemeClr val="tx1"/>
                            </a:solidFill>
                            <a:latin typeface="Cambria Math" panose="02040503050406030204" pitchFamily="18" charset="0"/>
                          </a:rPr>
                          <m:t>−1</m:t>
                        </m:r>
                      </m:sub>
                      <m:sup>
                        <m:r>
                          <a:rPr lang="en-US" altLang="zh-TW" i="1">
                            <a:solidFill>
                              <a:schemeClr val="tx1"/>
                            </a:solidFill>
                            <a:latin typeface="Cambria Math" panose="02040503050406030204" pitchFamily="18" charset="0"/>
                          </a:rPr>
                          <m:t>𝑘</m:t>
                        </m:r>
                        <m:r>
                          <a:rPr lang="en-US" altLang="zh-TW" i="1">
                            <a:solidFill>
                              <a:schemeClr val="tx1"/>
                            </a:solidFill>
                            <a:latin typeface="Cambria Math" panose="02040503050406030204" pitchFamily="18" charset="0"/>
                          </a:rPr>
                          <m:t>−1</m:t>
                        </m:r>
                      </m:sup>
                    </m:sSubSup>
                    <m:r>
                      <a:rPr lang="en-US" altLang="zh-TW" i="1">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𝑗</m:t>
                    </m:r>
                    <m:r>
                      <a:rPr lang="en-US" altLang="zh-TW" i="1">
                        <a:solidFill>
                          <a:schemeClr val="tx1"/>
                        </a:solidFill>
                        <a:latin typeface="Cambria Math" panose="02040503050406030204" pitchFamily="18" charset="0"/>
                      </a:rPr>
                      <m:t>+1</m:t>
                    </m:r>
                  </m:oMath>
                </a14:m>
                <a:r>
                  <a:rPr lang="pt-BR" altLang="zh-TW" i="1" dirty="0" smtClean="0">
                    <a:solidFill>
                      <a:schemeClr val="tx1"/>
                    </a:solidFill>
                  </a:rPr>
                  <a:t>) + 1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5" name="內容版面配置區 2"/>
              <p:cNvSpPr>
                <a:spLocks noGrp="1" noRot="1" noChangeAspect="1" noMove="1" noResize="1" noEditPoints="1" noAdjustHandles="1" noChangeArrowheads="1" noChangeShapeType="1" noTextEdit="1"/>
              </p:cNvSpPr>
              <p:nvPr>
                <p:ph idx="1"/>
              </p:nvPr>
            </p:nvSpPr>
            <p:spPr>
              <a:xfrm>
                <a:off x="457200" y="1600200"/>
                <a:ext cx="8229600" cy="4686320"/>
              </a:xfrm>
              <a:blipFill rotWithShape="0">
                <a:blip r:embed="rId2"/>
                <a:stretch>
                  <a:fillRect l="-1481" t="-27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942243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27049" y="78979"/>
            <a:ext cx="8515350" cy="1325563"/>
          </a:xfrm>
        </p:spPr>
        <p:txBody>
          <a:bodyPr>
            <a:normAutofit/>
          </a:bodyPr>
          <a:lstStyle/>
          <a:p>
            <a:pPr algn="ctr"/>
            <a:r>
              <a:rPr lang="en-US" altLang="zh-TW" sz="3600" dirty="0" smtClean="0">
                <a:latin typeface="Times New Roman" panose="02020603050405020304" pitchFamily="18" charset="0"/>
                <a:cs typeface="Times New Roman" panose="02020603050405020304" pitchFamily="18" charset="0"/>
              </a:rPr>
              <a:t>Comparison </a:t>
            </a:r>
            <a:r>
              <a:rPr lang="en-US" altLang="zh-TW" sz="3600" dirty="0">
                <a:latin typeface="Times New Roman" panose="02020603050405020304" pitchFamily="18" charset="0"/>
                <a:cs typeface="Times New Roman" panose="02020603050405020304" pitchFamily="18" charset="0"/>
              </a:rPr>
              <a:t>of algorithms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latin typeface="Times New Roman" panose="02020603050405020304" pitchFamily="18" charset="0"/>
                <a:cs typeface="Times New Roman" panose="02020603050405020304" pitchFamily="18" charset="0"/>
              </a:rPr>
              <a:pPr/>
              <a:t>33</a:t>
            </a:fld>
            <a:endParaRPr lang="zh-TW" altLang="en-US">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2"/>
          <a:stretch>
            <a:fillRect/>
          </a:stretch>
        </p:blipFill>
        <p:spPr>
          <a:xfrm>
            <a:off x="2194801" y="1404542"/>
            <a:ext cx="4993399" cy="4719638"/>
          </a:xfrm>
          <a:prstGeom prst="rect">
            <a:avLst/>
          </a:prstGeom>
        </p:spPr>
      </p:pic>
    </p:spTree>
    <p:extLst>
      <p:ext uri="{BB962C8B-B14F-4D97-AF65-F5344CB8AC3E}">
        <p14:creationId xmlns:p14="http://schemas.microsoft.com/office/powerpoint/2010/main" val="35052403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19966</TotalTime>
  <Words>1852</Words>
  <Application>Microsoft Office PowerPoint</Application>
  <PresentationFormat>如螢幕大小 (4:3)</PresentationFormat>
  <Paragraphs>1524</Paragraphs>
  <Slides>33</Slides>
  <Notes>5</Notes>
  <HiddenSlides>6</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33</vt:i4>
      </vt:variant>
    </vt:vector>
  </HeadingPairs>
  <TitlesOfParts>
    <vt:vector size="40" baseType="lpstr">
      <vt:lpstr>新細明體</vt:lpstr>
      <vt:lpstr>Arial</vt:lpstr>
      <vt:lpstr>Calibri</vt:lpstr>
      <vt:lpstr>Calibri Light</vt:lpstr>
      <vt:lpstr>Cambria Math</vt:lpstr>
      <vt:lpstr>Times New Roman</vt:lpstr>
      <vt:lpstr>Office 佈景主題</vt:lpstr>
      <vt:lpstr>Effective Sparse Dynamic Programming Algorithms for Merged and Block Merged LCS Problems</vt:lpstr>
      <vt:lpstr>Abstract(1/3)</vt:lpstr>
      <vt:lpstr>Abstract(2/3)</vt:lpstr>
      <vt:lpstr>Abstract(3/3)</vt:lpstr>
      <vt:lpstr>Merged LCS</vt:lpstr>
      <vt:lpstr>Block Merged LCS</vt:lpstr>
      <vt:lpstr>Match pair</vt:lpstr>
      <vt:lpstr>Algorithm for Merged LCS Problem</vt:lpstr>
      <vt:lpstr>Algorithm for Merged LCS Problem</vt:lpstr>
      <vt:lpstr>Bounded Heap data structure</vt:lpstr>
      <vt:lpstr>Bounded Heap data structure</vt:lpstr>
      <vt:lpstr>Algorithm MLCS(A, B, T)</vt:lpstr>
      <vt:lpstr>Algorithm MLCS(A, B, 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Algorithm for Block Merged LCS Problem</vt:lpstr>
      <vt:lpstr>Algorithm for Block Merged LCS Problem</vt:lpstr>
      <vt:lpstr>Algorithm BMLCS(A, B, T)</vt:lpstr>
      <vt:lpstr>Comparison of algorithms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Association Rules in Big Data for E-healthcare Information System</dc:title>
  <dc:creator>muchmuch</dc:creator>
  <cp:lastModifiedBy>much</cp:lastModifiedBy>
  <cp:revision>225</cp:revision>
  <dcterms:created xsi:type="dcterms:W3CDTF">2016-04-23T07:31:56Z</dcterms:created>
  <dcterms:modified xsi:type="dcterms:W3CDTF">2016-10-10T09:41:09Z</dcterms:modified>
</cp:coreProperties>
</file>