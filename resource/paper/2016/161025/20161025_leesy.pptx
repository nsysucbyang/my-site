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63" r:id="rId6"/>
    <p:sldId id="259" r:id="rId7"/>
    <p:sldId id="265" r:id="rId8"/>
    <p:sldId id="264" r:id="rId9"/>
    <p:sldId id="266" r:id="rId10"/>
    <p:sldId id="267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5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2016/10/25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04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2016/10/25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7248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2016/10/25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291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2016/10/25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9483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2016/10/25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1948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2016/10/25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530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2016/10/25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5807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2016/10/25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9603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2016/10/25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7219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2016/10/25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8200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2016/10/25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18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E010FB-2E68-4D6F-963D-E2C0D8E7433A}" type="datetimeFigureOut">
              <a:rPr lang="zh-TW" altLang="en-US" smtClean="0"/>
              <a:t>2016/10/25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8705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A Bit-String Longest-Common-Subsequence </a:t>
            </a:r>
            <a:r>
              <a:rPr lang="en-US" altLang="zh-TW" b="1" dirty="0" smtClean="0"/>
              <a:t>Algorithm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2999" y="3602038"/>
            <a:ext cx="7134225" cy="1655762"/>
          </a:xfrm>
        </p:spPr>
        <p:txBody>
          <a:bodyPr>
            <a:normAutofit/>
          </a:bodyPr>
          <a:lstStyle/>
          <a:p>
            <a:r>
              <a:rPr lang="fr-FR" altLang="zh-TW" b="1" dirty="0"/>
              <a:t>Lloyd Allison, Trevor I. Dix</a:t>
            </a:r>
            <a:r>
              <a:rPr lang="en-US" altLang="zh-TW" b="1" dirty="0"/>
              <a:t/>
            </a:r>
            <a:br>
              <a:rPr lang="en-US" altLang="zh-TW" b="1" dirty="0"/>
            </a:br>
            <a:r>
              <a:rPr lang="en-US" altLang="zh-TW" b="1" dirty="0"/>
              <a:t>Information Processing Letters</a:t>
            </a:r>
          </a:p>
          <a:p>
            <a:r>
              <a:rPr lang="en-US" altLang="zh-TW" b="1" dirty="0"/>
              <a:t>Volume 23, Issue 5, 24 November 1986, Pages 305-310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4479634" y="44849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/>
          </a:p>
        </p:txBody>
      </p:sp>
      <p:sp>
        <p:nvSpPr>
          <p:cNvPr id="5" name="副標題 2"/>
          <p:cNvSpPr txBox="1">
            <a:spLocks/>
          </p:cNvSpPr>
          <p:nvPr/>
        </p:nvSpPr>
        <p:spPr>
          <a:xfrm>
            <a:off x="1281111" y="5312807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b="1" dirty="0" err="1" smtClean="0"/>
              <a:t>Shie</a:t>
            </a:r>
            <a:r>
              <a:rPr lang="en-US" altLang="zh-TW" b="1" dirty="0" smtClean="0"/>
              <a:t>-Yan Lee</a:t>
            </a:r>
          </a:p>
          <a:p>
            <a:r>
              <a:rPr lang="en-US" altLang="zh-TW" b="1" dirty="0" smtClean="0"/>
              <a:t>2016/10/25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27520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365126"/>
            <a:ext cx="7886700" cy="1325563"/>
          </a:xfrm>
        </p:spPr>
        <p:txBody>
          <a:bodyPr/>
          <a:lstStyle/>
          <a:p>
            <a:r>
              <a:rPr lang="en-US" altLang="zh-TW" sz="6000" dirty="0" smtClean="0"/>
              <a:t>Abstract</a:t>
            </a:r>
            <a:endParaRPr lang="zh-TW" altLang="en-US" sz="6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82677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A </a:t>
            </a:r>
            <a:r>
              <a:rPr lang="en-US" altLang="zh-TW" dirty="0"/>
              <a:t>longest-common-subsequence algorithm is described which operates in terms of bit or bit-string operations. It offers a speedup of the order of the word-length on a conventional computer.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36294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5078" y="252004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sz="6000" dirty="0" smtClean="0"/>
              <a:t>LCS matrix</a:t>
            </a:r>
            <a:endParaRPr lang="zh-TW" altLang="en-US" sz="60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313662"/>
              </p:ext>
            </p:extLst>
          </p:nvPr>
        </p:nvGraphicFramePr>
        <p:xfrm>
          <a:off x="2806045" y="1690688"/>
          <a:ext cx="6102285" cy="490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1755"/>
                <a:gridCol w="871755"/>
                <a:gridCol w="871755"/>
                <a:gridCol w="871755"/>
                <a:gridCol w="871755"/>
                <a:gridCol w="871755"/>
                <a:gridCol w="871755"/>
              </a:tblGrid>
              <a:tr h="559751">
                <a:tc>
                  <a:txBody>
                    <a:bodyPr/>
                    <a:lstStyle/>
                    <a:p>
                      <a:pPr algn="ctr"/>
                      <a:endParaRPr lang="zh-TW" altLang="en-US" sz="4000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C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A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C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G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T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A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5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T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/>
                </a:tc>
              </a:tr>
              <a:tr h="5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C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/>
                </a:tc>
              </a:tr>
              <a:tr h="5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C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2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2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2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2</a:t>
                      </a:r>
                      <a:endParaRPr lang="zh-TW" altLang="en-US" sz="4000" dirty="0"/>
                    </a:p>
                  </a:txBody>
                  <a:tcPr/>
                </a:tc>
              </a:tr>
              <a:tr h="5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T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2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2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3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3</a:t>
                      </a:r>
                      <a:endParaRPr lang="zh-TW" altLang="en-US" sz="4000" dirty="0"/>
                    </a:p>
                  </a:txBody>
                  <a:tcPr/>
                </a:tc>
              </a:tr>
              <a:tr h="5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A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2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2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2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3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4</a:t>
                      </a:r>
                      <a:endParaRPr lang="zh-TW" altLang="en-US" sz="4000" dirty="0"/>
                    </a:p>
                  </a:txBody>
                  <a:tcPr/>
                </a:tc>
              </a:tr>
              <a:tr h="5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G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2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2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3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3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4</a:t>
                      </a:r>
                      <a:endParaRPr lang="zh-TW" altLang="en-US" sz="4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188535" y="1690689"/>
            <a:ext cx="25075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 smtClean="0"/>
              <a:t>A : TCCTAG</a:t>
            </a:r>
          </a:p>
          <a:p>
            <a:r>
              <a:rPr lang="en-US" altLang="zh-TW" sz="4000" dirty="0" smtClean="0"/>
              <a:t>B : CACGTA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235078" y="4883085"/>
                <a:ext cx="2414443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i="1" dirty="0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TW" sz="4000" i="1" dirty="0" smtClean="0"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sz="4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400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TW" sz="4000" i="1" dirty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TW" sz="4000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4000" i="1" dirty="0" smtClean="0">
                          <a:latin typeface="Cambria Math" panose="02040503050406030204" pitchFamily="18" charset="0"/>
                        </a:rPr>
                        <m:t>|)</m:t>
                      </m:r>
                    </m:oMath>
                  </m:oMathPara>
                </a14:m>
                <a:endParaRPr lang="zh-TW" altLang="en-US" sz="4000" dirty="0" smtClean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078" y="4883085"/>
                <a:ext cx="2414443" cy="70788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8657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5078" y="252004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sz="6000" dirty="0" smtClean="0"/>
              <a:t>LCS matrix</a:t>
            </a:r>
            <a:endParaRPr lang="zh-TW" altLang="en-US" sz="60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337630"/>
              </p:ext>
            </p:extLst>
          </p:nvPr>
        </p:nvGraphicFramePr>
        <p:xfrm>
          <a:off x="2806045" y="1690688"/>
          <a:ext cx="6102285" cy="490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1755"/>
                <a:gridCol w="871755"/>
                <a:gridCol w="871755"/>
                <a:gridCol w="871755"/>
                <a:gridCol w="871755"/>
                <a:gridCol w="871755"/>
                <a:gridCol w="871755"/>
              </a:tblGrid>
              <a:tr h="5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4</a:t>
                      </a:r>
                      <a:endParaRPr lang="zh-TW" altLang="en-US" sz="4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3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3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2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2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G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4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3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2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2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2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A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3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3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2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2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T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2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2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2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2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C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C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T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A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T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G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C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A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C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4000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188535" y="1690689"/>
            <a:ext cx="25075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 smtClean="0"/>
              <a:t>A : TCCTAG</a:t>
            </a:r>
          </a:p>
          <a:p>
            <a:r>
              <a:rPr lang="en-US" altLang="zh-TW" sz="4000" dirty="0" smtClean="0"/>
              <a:t>B : CACGTA</a:t>
            </a:r>
          </a:p>
        </p:txBody>
      </p:sp>
    </p:spTree>
    <p:extLst>
      <p:ext uri="{BB962C8B-B14F-4D97-AF65-F5344CB8AC3E}">
        <p14:creationId xmlns:p14="http://schemas.microsoft.com/office/powerpoint/2010/main" val="2040777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5078" y="252004"/>
            <a:ext cx="5261154" cy="1325563"/>
          </a:xfrm>
        </p:spPr>
        <p:txBody>
          <a:bodyPr>
            <a:normAutofit/>
          </a:bodyPr>
          <a:lstStyle/>
          <a:p>
            <a:r>
              <a:rPr lang="en-US" altLang="zh-TW" sz="6000" dirty="0" smtClean="0"/>
              <a:t>Bit-string matrix</a:t>
            </a:r>
            <a:endParaRPr lang="zh-TW" altLang="en-US" sz="60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839873"/>
              </p:ext>
            </p:extLst>
          </p:nvPr>
        </p:nvGraphicFramePr>
        <p:xfrm>
          <a:off x="2806045" y="1690688"/>
          <a:ext cx="6102285" cy="490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1755"/>
                <a:gridCol w="871755"/>
                <a:gridCol w="871755"/>
                <a:gridCol w="871755"/>
                <a:gridCol w="871755"/>
                <a:gridCol w="871755"/>
                <a:gridCol w="871755"/>
              </a:tblGrid>
              <a:tr h="5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G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A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T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C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C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T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A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T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G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C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A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C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4000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6412354" y="137192"/>
            <a:ext cx="25075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 smtClean="0"/>
              <a:t>A : TCCTAG</a:t>
            </a:r>
          </a:p>
          <a:p>
            <a:r>
              <a:rPr lang="en-US" altLang="zh-TW" sz="4000" dirty="0" smtClean="0"/>
              <a:t>B : CACGTA</a:t>
            </a:r>
          </a:p>
        </p:txBody>
      </p:sp>
      <p:sp>
        <p:nvSpPr>
          <p:cNvPr id="3" name="文字方塊 2"/>
          <p:cNvSpPr txBox="1"/>
          <p:nvPr/>
        </p:nvSpPr>
        <p:spPr>
          <a:xfrm>
            <a:off x="2143431" y="1641988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5000" dirty="0" smtClean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2138062" y="2322872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5000" dirty="0" smtClean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9" name="文字方塊 8"/>
          <p:cNvSpPr txBox="1"/>
          <p:nvPr/>
        </p:nvSpPr>
        <p:spPr>
          <a:xfrm>
            <a:off x="2138062" y="3003755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5000" dirty="0">
                <a:solidFill>
                  <a:srgbClr val="C00000"/>
                </a:solidFill>
              </a:rPr>
              <a:t>3</a:t>
            </a:r>
            <a:endParaRPr lang="en-US" altLang="zh-TW" sz="5000" dirty="0" smtClean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138062" y="3738548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5000" dirty="0">
                <a:solidFill>
                  <a:srgbClr val="C00000"/>
                </a:solidFill>
              </a:rPr>
              <a:t>2</a:t>
            </a:r>
            <a:endParaRPr lang="en-US" altLang="zh-TW" sz="5000" dirty="0" smtClean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2132693" y="4419432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5000" dirty="0">
                <a:solidFill>
                  <a:srgbClr val="C00000"/>
                </a:solidFill>
              </a:rPr>
              <a:t>1</a:t>
            </a:r>
            <a:endParaRPr lang="en-US" altLang="zh-TW" sz="5000" dirty="0" smtClean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132693" y="5100315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5000" dirty="0">
                <a:solidFill>
                  <a:srgbClr val="C00000"/>
                </a:solidFill>
              </a:rPr>
              <a:t>1</a:t>
            </a:r>
            <a:endParaRPr lang="en-US" altLang="zh-TW" sz="5000" dirty="0" smtClean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235078" y="1862496"/>
                <a:ext cx="2499915" cy="12825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i="1" dirty="0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TW" sz="4000" i="1" dirty="0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altLang="zh-TW" sz="4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40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400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en-US" altLang="zh-TW" sz="40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en-US" altLang="zh-TW" sz="4000" i="1" dirty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TW" sz="4000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4000" i="1" dirty="0" smtClean="0">
                          <a:latin typeface="Cambria Math" panose="02040503050406030204" pitchFamily="18" charset="0"/>
                        </a:rPr>
                        <m:t>|)</m:t>
                      </m:r>
                    </m:oMath>
                  </m:oMathPara>
                </a14:m>
                <a:endParaRPr lang="zh-TW" altLang="en-US" sz="4000" dirty="0" smtClean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078" y="1862496"/>
                <a:ext cx="2499915" cy="128253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字方塊 13"/>
          <p:cNvSpPr txBox="1"/>
          <p:nvPr/>
        </p:nvSpPr>
        <p:spPr>
          <a:xfrm>
            <a:off x="422577" y="3177606"/>
            <a:ext cx="18473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sz="3000" dirty="0"/>
          </a:p>
        </p:txBody>
      </p:sp>
    </p:spTree>
    <p:extLst>
      <p:ext uri="{BB962C8B-B14F-4D97-AF65-F5344CB8AC3E}">
        <p14:creationId xmlns:p14="http://schemas.microsoft.com/office/powerpoint/2010/main" val="74468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8" grpId="0"/>
      <p:bldP spid="8" grpId="1"/>
      <p:bldP spid="9" grpId="0"/>
      <p:bldP spid="9" grpId="1"/>
      <p:bldP spid="10" grpId="0"/>
      <p:bldP spid="10" grpId="1"/>
      <p:bldP spid="11" grpId="0"/>
      <p:bldP spid="11" grpId="1"/>
      <p:bldP spid="12" grpId="0"/>
      <p:bldP spid="12" grpId="1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235078" y="252004"/>
            <a:ext cx="6200446" cy="1325563"/>
          </a:xfrm>
        </p:spPr>
        <p:txBody>
          <a:bodyPr>
            <a:normAutofit/>
          </a:bodyPr>
          <a:lstStyle/>
          <a:p>
            <a:r>
              <a:rPr lang="en-US" altLang="zh-TW" sz="6000" dirty="0" smtClean="0"/>
              <a:t>Bit-string algorithm</a:t>
            </a:r>
            <a:endParaRPr lang="zh-TW" altLang="en-US" sz="60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648182" y="1577567"/>
            <a:ext cx="477701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TW" sz="3500" dirty="0" smtClean="0"/>
              <a:t>Define alphabet-strings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443320"/>
              </p:ext>
            </p:extLst>
          </p:nvPr>
        </p:nvGraphicFramePr>
        <p:xfrm>
          <a:off x="3438208" y="2698029"/>
          <a:ext cx="3973974" cy="312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2329"/>
                <a:gridCol w="662329"/>
                <a:gridCol w="662329"/>
                <a:gridCol w="662329"/>
                <a:gridCol w="662329"/>
                <a:gridCol w="662329"/>
              </a:tblGrid>
              <a:tr h="51925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500" b="0" dirty="0" smtClean="0"/>
                        <a:t>A</a:t>
                      </a:r>
                      <a:endParaRPr lang="zh-TW" altLang="en-US" sz="35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500" b="0" dirty="0" smtClean="0"/>
                        <a:t>T</a:t>
                      </a:r>
                      <a:endParaRPr lang="zh-TW" altLang="en-US" sz="35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500" b="0" dirty="0" smtClean="0"/>
                        <a:t>G</a:t>
                      </a:r>
                      <a:endParaRPr lang="zh-TW" altLang="en-US" sz="35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500" b="0" dirty="0" smtClean="0"/>
                        <a:t>C</a:t>
                      </a:r>
                      <a:endParaRPr lang="zh-TW" altLang="en-US" sz="35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500" b="0" dirty="0" smtClean="0"/>
                        <a:t>A</a:t>
                      </a:r>
                      <a:endParaRPr lang="zh-TW" altLang="en-US" sz="35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500" b="0" dirty="0" smtClean="0"/>
                        <a:t>C</a:t>
                      </a:r>
                      <a:endParaRPr lang="zh-TW" altLang="en-US" sz="35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1925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500" b="0" dirty="0" smtClean="0"/>
                        <a:t>1</a:t>
                      </a:r>
                      <a:endParaRPr lang="zh-TW" altLang="en-US" sz="35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500" b="0" dirty="0" smtClean="0"/>
                        <a:t>0</a:t>
                      </a:r>
                      <a:endParaRPr lang="zh-TW" altLang="en-US" sz="35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500" b="0" dirty="0" smtClean="0"/>
                        <a:t>0</a:t>
                      </a:r>
                      <a:endParaRPr lang="zh-TW" altLang="en-US" sz="35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500" b="0" dirty="0" smtClean="0"/>
                        <a:t>0</a:t>
                      </a:r>
                      <a:endParaRPr lang="zh-TW" altLang="en-US" sz="35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500" b="0" dirty="0" smtClean="0"/>
                        <a:t>1</a:t>
                      </a:r>
                      <a:endParaRPr lang="zh-TW" altLang="en-US" sz="35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500" b="0" dirty="0" smtClean="0"/>
                        <a:t>0</a:t>
                      </a:r>
                      <a:endParaRPr lang="zh-TW" altLang="en-US" sz="35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1925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500" b="0" dirty="0" smtClean="0"/>
                        <a:t>0</a:t>
                      </a:r>
                      <a:endParaRPr lang="zh-TW" altLang="en-US" sz="35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500" b="0" dirty="0" smtClean="0"/>
                        <a:t>0</a:t>
                      </a:r>
                      <a:endParaRPr lang="zh-TW" altLang="en-US" sz="35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500" b="0" dirty="0" smtClean="0"/>
                        <a:t>0</a:t>
                      </a:r>
                      <a:endParaRPr lang="zh-TW" altLang="en-US" sz="35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500" b="0" dirty="0" smtClean="0"/>
                        <a:t>1</a:t>
                      </a:r>
                      <a:endParaRPr lang="zh-TW" altLang="en-US" sz="35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500" b="0" dirty="0" smtClean="0"/>
                        <a:t>0</a:t>
                      </a:r>
                      <a:endParaRPr lang="zh-TW" altLang="en-US" sz="35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500" b="0" dirty="0" smtClean="0"/>
                        <a:t>1</a:t>
                      </a:r>
                      <a:endParaRPr lang="zh-TW" altLang="en-US" sz="35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1925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500" b="0" dirty="0" smtClean="0"/>
                        <a:t>0</a:t>
                      </a:r>
                      <a:endParaRPr lang="zh-TW" altLang="en-US" sz="35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500" b="0" dirty="0" smtClean="0"/>
                        <a:t>0</a:t>
                      </a:r>
                      <a:endParaRPr lang="zh-TW" altLang="en-US" sz="35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500" b="0" dirty="0" smtClean="0"/>
                        <a:t>1</a:t>
                      </a:r>
                      <a:endParaRPr lang="zh-TW" altLang="en-US" sz="35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500" b="0" dirty="0" smtClean="0"/>
                        <a:t>0</a:t>
                      </a:r>
                      <a:endParaRPr lang="zh-TW" altLang="en-US" sz="35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500" b="0" dirty="0" smtClean="0"/>
                        <a:t>0</a:t>
                      </a:r>
                      <a:endParaRPr lang="zh-TW" altLang="en-US" sz="35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500" b="0" dirty="0" smtClean="0"/>
                        <a:t>0</a:t>
                      </a:r>
                      <a:endParaRPr lang="zh-TW" altLang="en-US" sz="35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1925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500" b="0" dirty="0" smtClean="0"/>
                        <a:t>0</a:t>
                      </a:r>
                      <a:endParaRPr lang="zh-TW" altLang="en-US" sz="35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500" b="0" dirty="0" smtClean="0"/>
                        <a:t>1</a:t>
                      </a:r>
                      <a:endParaRPr lang="zh-TW" altLang="en-US" sz="35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500" b="0" dirty="0" smtClean="0"/>
                        <a:t>0</a:t>
                      </a:r>
                      <a:endParaRPr lang="zh-TW" altLang="en-US" sz="35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500" b="0" dirty="0" smtClean="0"/>
                        <a:t>0</a:t>
                      </a:r>
                      <a:endParaRPr lang="zh-TW" altLang="en-US" sz="35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500" b="0" dirty="0" smtClean="0"/>
                        <a:t>0</a:t>
                      </a:r>
                      <a:endParaRPr lang="zh-TW" altLang="en-US" sz="35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500" b="0" dirty="0" smtClean="0"/>
                        <a:t>0</a:t>
                      </a:r>
                      <a:endParaRPr lang="zh-TW" altLang="en-US" sz="3500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1562582" y="3251820"/>
            <a:ext cx="2031325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dirty="0" smtClean="0"/>
              <a:t>A-string	</a:t>
            </a:r>
          </a:p>
          <a:p>
            <a:r>
              <a:rPr lang="en-US" altLang="zh-TW" sz="4000" dirty="0" smtClean="0"/>
              <a:t>C-string	</a:t>
            </a:r>
          </a:p>
          <a:p>
            <a:r>
              <a:rPr lang="en-US" altLang="zh-TW" sz="4000" dirty="0" smtClean="0"/>
              <a:t>G-string	</a:t>
            </a:r>
          </a:p>
          <a:p>
            <a:r>
              <a:rPr lang="en-US" altLang="zh-TW" sz="4000" dirty="0" smtClean="0"/>
              <a:t>T-string</a:t>
            </a:r>
            <a:r>
              <a:rPr lang="en-US" altLang="zh-TW" sz="3500" dirty="0" smtClean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912206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235078" y="252004"/>
            <a:ext cx="6200446" cy="1325563"/>
          </a:xfrm>
        </p:spPr>
        <p:txBody>
          <a:bodyPr>
            <a:normAutofit/>
          </a:bodyPr>
          <a:lstStyle/>
          <a:p>
            <a:r>
              <a:rPr lang="en-US" altLang="zh-TW" sz="6000" dirty="0" smtClean="0"/>
              <a:t>Bit-string algorithm</a:t>
            </a:r>
            <a:endParaRPr lang="zh-TW" altLang="en-US" sz="60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648182" y="1448777"/>
            <a:ext cx="73152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500" dirty="0" smtClean="0"/>
              <a:t>2.Calculate Matrix </a:t>
            </a:r>
          </a:p>
          <a:p>
            <a:endParaRPr lang="en-US" altLang="zh-TW" sz="3500" dirty="0"/>
          </a:p>
          <a:p>
            <a:endParaRPr lang="en-US" altLang="zh-TW" sz="3500" dirty="0"/>
          </a:p>
          <a:p>
            <a:endParaRPr lang="en-US" altLang="zh-TW" sz="3500" dirty="0" smtClean="0"/>
          </a:p>
          <a:p>
            <a:endParaRPr lang="en-US" altLang="zh-TW" sz="3500" dirty="0"/>
          </a:p>
          <a:p>
            <a:endParaRPr lang="en-US" altLang="zh-TW" sz="3500" dirty="0" smtClean="0"/>
          </a:p>
          <a:p>
            <a:endParaRPr lang="en-US" altLang="zh-TW" sz="3500" dirty="0"/>
          </a:p>
          <a:p>
            <a:endParaRPr lang="zh-TW" altLang="en-US" sz="3500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044364"/>
              </p:ext>
            </p:extLst>
          </p:nvPr>
        </p:nvGraphicFramePr>
        <p:xfrm>
          <a:off x="2852343" y="2311141"/>
          <a:ext cx="6102285" cy="420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1755"/>
                <a:gridCol w="871755"/>
                <a:gridCol w="871755"/>
                <a:gridCol w="871755"/>
                <a:gridCol w="871755"/>
                <a:gridCol w="871755"/>
                <a:gridCol w="871755"/>
              </a:tblGrid>
              <a:tr h="559751">
                <a:tc>
                  <a:txBody>
                    <a:bodyPr/>
                    <a:lstStyle/>
                    <a:p>
                      <a:pPr algn="ctr"/>
                      <a:endParaRPr lang="zh-TW" altLang="en-US" sz="4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A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T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C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C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T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A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T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G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C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A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C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4000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1676551" y="3055731"/>
            <a:ext cx="110504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500" dirty="0" smtClean="0"/>
              <a:t>Row</a:t>
            </a:r>
            <a:r>
              <a:rPr lang="en-US" altLang="zh-TW" sz="2000" dirty="0"/>
              <a:t>4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1676551" y="2337249"/>
            <a:ext cx="110504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500" dirty="0" smtClean="0"/>
              <a:t>Row</a:t>
            </a:r>
            <a:r>
              <a:rPr lang="en-US" altLang="zh-TW" sz="2000" dirty="0"/>
              <a:t>5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1676551" y="3739532"/>
            <a:ext cx="110504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500" dirty="0" smtClean="0"/>
              <a:t>Row</a:t>
            </a:r>
            <a:r>
              <a:rPr lang="en-US" altLang="zh-TW" sz="2000" dirty="0"/>
              <a:t>3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1676551" y="4457188"/>
            <a:ext cx="110504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500" dirty="0" smtClean="0"/>
              <a:t>Row</a:t>
            </a:r>
            <a:r>
              <a:rPr lang="en-US" altLang="zh-TW" sz="2000" dirty="0"/>
              <a:t>2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1676551" y="5095507"/>
            <a:ext cx="110504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500" dirty="0" smtClean="0"/>
              <a:t>Row</a:t>
            </a:r>
            <a:r>
              <a:rPr lang="en-US" altLang="zh-TW" sz="2000" dirty="0"/>
              <a:t>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79644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8" grpId="0"/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235078" y="252004"/>
            <a:ext cx="6200446" cy="1325563"/>
          </a:xfrm>
        </p:spPr>
        <p:txBody>
          <a:bodyPr>
            <a:normAutofit/>
          </a:bodyPr>
          <a:lstStyle/>
          <a:p>
            <a:r>
              <a:rPr lang="en-US" altLang="zh-TW" sz="6000" dirty="0" smtClean="0"/>
              <a:t>Bit-string algorithm</a:t>
            </a:r>
            <a:endParaRPr lang="zh-TW" altLang="en-US" sz="60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648182" y="1448777"/>
            <a:ext cx="7315200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500" dirty="0" smtClean="0"/>
              <a:t>2.Calculate Matrix </a:t>
            </a:r>
          </a:p>
          <a:p>
            <a:r>
              <a:rPr lang="en-US" altLang="zh-TW" sz="3500" dirty="0" smtClean="0"/>
              <a:t>	</a:t>
            </a:r>
            <a:endParaRPr lang="en-US" altLang="zh-TW" sz="3500" dirty="0"/>
          </a:p>
          <a:p>
            <a:endParaRPr lang="en-US" altLang="zh-TW" sz="3500" dirty="0" smtClean="0"/>
          </a:p>
          <a:p>
            <a:endParaRPr lang="en-US" altLang="zh-TW" sz="3500" dirty="0"/>
          </a:p>
          <a:p>
            <a:endParaRPr lang="en-US" altLang="zh-TW" sz="3500" dirty="0" smtClean="0"/>
          </a:p>
          <a:p>
            <a:endParaRPr lang="en-US" altLang="zh-TW" sz="3500" dirty="0"/>
          </a:p>
          <a:p>
            <a:endParaRPr lang="en-US" altLang="zh-TW" sz="3500" dirty="0" smtClean="0"/>
          </a:p>
          <a:p>
            <a:endParaRPr lang="en-US" altLang="zh-TW" sz="3500" dirty="0"/>
          </a:p>
          <a:p>
            <a:endParaRPr lang="zh-TW" altLang="en-US" sz="3500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8861785"/>
              </p:ext>
            </p:extLst>
          </p:nvPr>
        </p:nvGraphicFramePr>
        <p:xfrm>
          <a:off x="1137840" y="2273631"/>
          <a:ext cx="6825542" cy="1402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9150"/>
                <a:gridCol w="777732"/>
                <a:gridCol w="777732"/>
                <a:gridCol w="777732"/>
                <a:gridCol w="777732"/>
                <a:gridCol w="777732"/>
                <a:gridCol w="777732"/>
              </a:tblGrid>
              <a:tr h="55975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4000" dirty="0" smtClean="0"/>
                        <a:t>Row</a:t>
                      </a:r>
                      <a:r>
                        <a:rPr lang="en-US" altLang="zh-TW" sz="2000" dirty="0" smtClean="0"/>
                        <a:t>4</a:t>
                      </a:r>
                      <a:endParaRPr lang="zh-TW" altLang="en-US" sz="4000" dirty="0" smtClean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5975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4000" dirty="0" smtClean="0"/>
                        <a:t>A-string</a:t>
                      </a:r>
                      <a:endParaRPr lang="zh-TW" altLang="en-US" sz="4000" dirty="0" smtClean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7478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235078" y="252004"/>
            <a:ext cx="6200446" cy="1325563"/>
          </a:xfrm>
        </p:spPr>
        <p:txBody>
          <a:bodyPr>
            <a:normAutofit/>
          </a:bodyPr>
          <a:lstStyle/>
          <a:p>
            <a:r>
              <a:rPr lang="en-US" altLang="zh-TW" sz="6000" dirty="0" smtClean="0"/>
              <a:t>Bit-string algorithm</a:t>
            </a:r>
            <a:endParaRPr lang="zh-TW" altLang="en-US" sz="60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648182" y="1448777"/>
            <a:ext cx="7315200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500" dirty="0" smtClean="0"/>
              <a:t>2.Calculate Matrix </a:t>
            </a:r>
          </a:p>
          <a:p>
            <a:r>
              <a:rPr lang="en-US" altLang="zh-TW" sz="3500" dirty="0" smtClean="0"/>
              <a:t>	</a:t>
            </a:r>
            <a:endParaRPr lang="en-US" altLang="zh-TW" sz="3500" dirty="0"/>
          </a:p>
          <a:p>
            <a:endParaRPr lang="en-US" altLang="zh-TW" sz="3500" dirty="0" smtClean="0"/>
          </a:p>
          <a:p>
            <a:endParaRPr lang="en-US" altLang="zh-TW" sz="3500" dirty="0"/>
          </a:p>
          <a:p>
            <a:endParaRPr lang="en-US" altLang="zh-TW" sz="3500" dirty="0" smtClean="0"/>
          </a:p>
          <a:p>
            <a:endParaRPr lang="en-US" altLang="zh-TW" sz="3500" dirty="0"/>
          </a:p>
          <a:p>
            <a:endParaRPr lang="en-US" altLang="zh-TW" sz="3500" dirty="0" smtClean="0"/>
          </a:p>
          <a:p>
            <a:endParaRPr lang="en-US" altLang="zh-TW" sz="3500" dirty="0"/>
          </a:p>
          <a:p>
            <a:endParaRPr lang="zh-TW" altLang="en-US" sz="35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7082563"/>
              </p:ext>
            </p:extLst>
          </p:nvPr>
        </p:nvGraphicFramePr>
        <p:xfrm>
          <a:off x="1137840" y="2273631"/>
          <a:ext cx="6825542" cy="1402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9150"/>
                <a:gridCol w="777732"/>
                <a:gridCol w="777732"/>
                <a:gridCol w="777732"/>
                <a:gridCol w="777732"/>
                <a:gridCol w="777732"/>
                <a:gridCol w="777732"/>
              </a:tblGrid>
              <a:tr h="55975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4000" dirty="0" smtClean="0"/>
                        <a:t>Row</a:t>
                      </a:r>
                      <a:r>
                        <a:rPr lang="en-US" altLang="zh-TW" sz="2000" dirty="0" smtClean="0"/>
                        <a:t>4</a:t>
                      </a:r>
                      <a:endParaRPr lang="zh-TW" altLang="en-US" sz="4000" dirty="0" smtClean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55975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4000" dirty="0" smtClean="0"/>
                        <a:t>A-string</a:t>
                      </a:r>
                      <a:endParaRPr lang="zh-TW" altLang="en-US" sz="4000" dirty="0" smtClean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8348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235078" y="252004"/>
            <a:ext cx="6200446" cy="1325563"/>
          </a:xfrm>
        </p:spPr>
        <p:txBody>
          <a:bodyPr>
            <a:normAutofit/>
          </a:bodyPr>
          <a:lstStyle/>
          <a:p>
            <a:r>
              <a:rPr lang="en-US" altLang="zh-TW" sz="6000" dirty="0" smtClean="0"/>
              <a:t>Bit-string algorithm</a:t>
            </a:r>
            <a:endParaRPr lang="zh-TW" altLang="en-US" sz="60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648182" y="1448777"/>
            <a:ext cx="7315200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500" dirty="0" smtClean="0"/>
              <a:t>2.Calculate Matrix </a:t>
            </a:r>
          </a:p>
          <a:p>
            <a:r>
              <a:rPr lang="en-US" altLang="zh-TW" sz="3500" dirty="0" smtClean="0"/>
              <a:t>	</a:t>
            </a:r>
            <a:endParaRPr lang="en-US" altLang="zh-TW" sz="3500" dirty="0"/>
          </a:p>
          <a:p>
            <a:endParaRPr lang="en-US" altLang="zh-TW" sz="3500" dirty="0" smtClean="0"/>
          </a:p>
          <a:p>
            <a:endParaRPr lang="en-US" altLang="zh-TW" sz="3500" dirty="0"/>
          </a:p>
          <a:p>
            <a:endParaRPr lang="en-US" altLang="zh-TW" sz="3500" dirty="0" smtClean="0"/>
          </a:p>
          <a:p>
            <a:endParaRPr lang="en-US" altLang="zh-TW" sz="3500" dirty="0"/>
          </a:p>
          <a:p>
            <a:endParaRPr lang="en-US" altLang="zh-TW" sz="3500" dirty="0" smtClean="0"/>
          </a:p>
          <a:p>
            <a:endParaRPr lang="en-US" altLang="zh-TW" sz="3500" dirty="0"/>
          </a:p>
          <a:p>
            <a:endParaRPr lang="zh-TW" altLang="en-US" sz="3500" dirty="0"/>
          </a:p>
        </p:txBody>
      </p:sp>
      <p:sp>
        <p:nvSpPr>
          <p:cNvPr id="11" name="向下箭號 10"/>
          <p:cNvSpPr/>
          <p:nvPr/>
        </p:nvSpPr>
        <p:spPr>
          <a:xfrm>
            <a:off x="6604669" y="3979572"/>
            <a:ext cx="347729" cy="643944"/>
          </a:xfrm>
          <a:prstGeom prst="downArrow">
            <a:avLst>
              <a:gd name="adj1" fmla="val 35185"/>
              <a:gd name="adj2" fmla="val 90741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向下箭號 11"/>
          <p:cNvSpPr/>
          <p:nvPr/>
        </p:nvSpPr>
        <p:spPr>
          <a:xfrm>
            <a:off x="7386942" y="3979572"/>
            <a:ext cx="347729" cy="643944"/>
          </a:xfrm>
          <a:prstGeom prst="downArrow">
            <a:avLst>
              <a:gd name="adj1" fmla="val 35185"/>
              <a:gd name="adj2" fmla="val 90741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向下箭號 12"/>
          <p:cNvSpPr/>
          <p:nvPr/>
        </p:nvSpPr>
        <p:spPr>
          <a:xfrm>
            <a:off x="3505093" y="3979572"/>
            <a:ext cx="347729" cy="643944"/>
          </a:xfrm>
          <a:prstGeom prst="downArrow">
            <a:avLst>
              <a:gd name="adj1" fmla="val 35185"/>
              <a:gd name="adj2" fmla="val 90741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向下箭號 13"/>
          <p:cNvSpPr/>
          <p:nvPr/>
        </p:nvSpPr>
        <p:spPr>
          <a:xfrm>
            <a:off x="4305782" y="3979572"/>
            <a:ext cx="347729" cy="643944"/>
          </a:xfrm>
          <a:prstGeom prst="downArrow">
            <a:avLst>
              <a:gd name="adj1" fmla="val 35185"/>
              <a:gd name="adj2" fmla="val 90741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1938551"/>
              </p:ext>
            </p:extLst>
          </p:nvPr>
        </p:nvGraphicFramePr>
        <p:xfrm>
          <a:off x="1137840" y="2273631"/>
          <a:ext cx="6825542" cy="1402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9150"/>
                <a:gridCol w="777732"/>
                <a:gridCol w="777732"/>
                <a:gridCol w="777732"/>
                <a:gridCol w="777732"/>
                <a:gridCol w="777732"/>
                <a:gridCol w="777732"/>
              </a:tblGrid>
              <a:tr h="55975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4000" dirty="0" smtClean="0"/>
                        <a:t>Row</a:t>
                      </a:r>
                      <a:r>
                        <a:rPr lang="en-US" altLang="zh-TW" sz="2000" dirty="0" smtClean="0"/>
                        <a:t>4</a:t>
                      </a:r>
                      <a:endParaRPr lang="zh-TW" altLang="en-US" sz="4000" dirty="0" smtClean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5975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4000" dirty="0" smtClean="0"/>
                        <a:t>A-string</a:t>
                      </a:r>
                      <a:endParaRPr lang="zh-TW" altLang="en-US" sz="4000" dirty="0" smtClean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76858"/>
              </p:ext>
            </p:extLst>
          </p:nvPr>
        </p:nvGraphicFramePr>
        <p:xfrm>
          <a:off x="1161450" y="5040441"/>
          <a:ext cx="6825542" cy="701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9150"/>
                <a:gridCol w="777732"/>
                <a:gridCol w="777732"/>
                <a:gridCol w="777732"/>
                <a:gridCol w="777732"/>
                <a:gridCol w="777732"/>
                <a:gridCol w="777732"/>
              </a:tblGrid>
              <a:tr h="55975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4000" dirty="0" smtClean="0"/>
                        <a:t>Row</a:t>
                      </a:r>
                      <a:r>
                        <a:rPr lang="en-US" altLang="zh-TW" sz="2000" dirty="0" smtClean="0"/>
                        <a:t>5</a:t>
                      </a:r>
                      <a:endParaRPr lang="zh-TW" altLang="en-US" sz="4000" dirty="0" smtClean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2368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235078" y="252004"/>
            <a:ext cx="6200446" cy="1325563"/>
          </a:xfrm>
        </p:spPr>
        <p:txBody>
          <a:bodyPr>
            <a:normAutofit/>
          </a:bodyPr>
          <a:lstStyle/>
          <a:p>
            <a:r>
              <a:rPr lang="en-US" altLang="zh-TW" sz="6000" dirty="0" smtClean="0"/>
              <a:t>Bit-string algorithm</a:t>
            </a:r>
            <a:endParaRPr lang="zh-TW" altLang="en-US" sz="60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648182" y="1448777"/>
            <a:ext cx="3730635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500" dirty="0" smtClean="0"/>
              <a:t>2.Calculate Matrix </a:t>
            </a:r>
          </a:p>
        </p:txBody>
      </p:sp>
      <p:cxnSp>
        <p:nvCxnSpPr>
          <p:cNvPr id="3" name="直線接點 2"/>
          <p:cNvCxnSpPr/>
          <p:nvPr/>
        </p:nvCxnSpPr>
        <p:spPr>
          <a:xfrm>
            <a:off x="1506828" y="4005330"/>
            <a:ext cx="736671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522245"/>
              </p:ext>
            </p:extLst>
          </p:nvPr>
        </p:nvGraphicFramePr>
        <p:xfrm>
          <a:off x="1137840" y="2273631"/>
          <a:ext cx="6825542" cy="1402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9150"/>
                <a:gridCol w="777732"/>
                <a:gridCol w="777732"/>
                <a:gridCol w="777732"/>
                <a:gridCol w="777732"/>
                <a:gridCol w="777732"/>
                <a:gridCol w="777732"/>
              </a:tblGrid>
              <a:tr h="55975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4000" dirty="0" smtClean="0"/>
                        <a:t>Row</a:t>
                      </a:r>
                      <a:r>
                        <a:rPr lang="en-US" altLang="zh-TW" sz="2000" dirty="0" smtClean="0"/>
                        <a:t>4</a:t>
                      </a:r>
                      <a:endParaRPr lang="zh-TW" altLang="en-US" sz="4000" dirty="0" smtClean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5975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4000" dirty="0" smtClean="0"/>
                        <a:t>A-string</a:t>
                      </a:r>
                      <a:endParaRPr lang="zh-TW" altLang="en-US" sz="4000" dirty="0" smtClean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4098753"/>
              </p:ext>
            </p:extLst>
          </p:nvPr>
        </p:nvGraphicFramePr>
        <p:xfrm>
          <a:off x="1122813" y="4396498"/>
          <a:ext cx="6825542" cy="701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9150"/>
                <a:gridCol w="777732"/>
                <a:gridCol w="777732"/>
                <a:gridCol w="777732"/>
                <a:gridCol w="777732"/>
                <a:gridCol w="777732"/>
                <a:gridCol w="777732"/>
              </a:tblGrid>
              <a:tr h="55975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4000" dirty="0" smtClean="0"/>
                        <a:t>x</a:t>
                      </a:r>
                      <a:endParaRPr lang="zh-TW" altLang="en-US" sz="4000" dirty="0" smtClean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235078" y="3651387"/>
                <a:ext cx="98834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i="1" dirty="0" smtClean="0">
                          <a:latin typeface="Cambria Math" panose="02040503050406030204" pitchFamily="18" charset="0"/>
                        </a:rPr>
                        <m:t>𝑂𝑅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078" y="3651387"/>
                <a:ext cx="988347" cy="70788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2985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235078" y="252004"/>
            <a:ext cx="6200446" cy="1325563"/>
          </a:xfrm>
        </p:spPr>
        <p:txBody>
          <a:bodyPr>
            <a:normAutofit/>
          </a:bodyPr>
          <a:lstStyle/>
          <a:p>
            <a:r>
              <a:rPr lang="en-US" altLang="zh-TW" sz="6000" dirty="0" smtClean="0"/>
              <a:t>Bit-string algorithm</a:t>
            </a:r>
            <a:endParaRPr lang="zh-TW" altLang="en-US" sz="60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648182" y="1448777"/>
            <a:ext cx="3730635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500" dirty="0" smtClean="0"/>
              <a:t>2.Calculate Matrix </a:t>
            </a:r>
          </a:p>
        </p:txBody>
      </p:sp>
      <p:cxnSp>
        <p:nvCxnSpPr>
          <p:cNvPr id="3" name="直線接點 2"/>
          <p:cNvCxnSpPr/>
          <p:nvPr/>
        </p:nvCxnSpPr>
        <p:spPr>
          <a:xfrm>
            <a:off x="399245" y="4710180"/>
            <a:ext cx="847429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996252"/>
              </p:ext>
            </p:extLst>
          </p:nvPr>
        </p:nvGraphicFramePr>
        <p:xfrm>
          <a:off x="1137840" y="2273631"/>
          <a:ext cx="6825542" cy="2103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9150"/>
                <a:gridCol w="777732"/>
                <a:gridCol w="777732"/>
                <a:gridCol w="777732"/>
                <a:gridCol w="777732"/>
                <a:gridCol w="777732"/>
                <a:gridCol w="777732"/>
              </a:tblGrid>
              <a:tr h="55975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4000" dirty="0" smtClean="0"/>
                        <a:t>x</a:t>
                      </a:r>
                      <a:endParaRPr lang="zh-TW" altLang="en-US" sz="4000" dirty="0" smtClean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5975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4000" dirty="0" smtClean="0"/>
                        <a:t>Row</a:t>
                      </a:r>
                      <a:r>
                        <a:rPr lang="en-US" altLang="zh-TW" sz="2000" dirty="0" smtClean="0"/>
                        <a:t>4</a:t>
                      </a:r>
                      <a:r>
                        <a:rPr lang="en-US" altLang="zh-TW" sz="3500" dirty="0" smtClean="0"/>
                        <a:t> &lt;&lt; 1</a:t>
                      </a:r>
                      <a:endParaRPr lang="zh-TW" altLang="en-US" sz="3500" dirty="0" smtClean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5975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600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altLang="zh-TW" sz="1800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4</a:t>
                      </a:r>
                      <a:r>
                        <a:rPr lang="en-US" altLang="zh-TW" sz="3200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 </a:t>
                      </a:r>
                      <a:endParaRPr lang="zh-TW" altLang="en-US" sz="3500" dirty="0" smtClean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sz="400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zh-TW" altLang="en-US" sz="400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sz="400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zh-TW" altLang="en-US" sz="400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sz="400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zh-TW" altLang="en-US" sz="400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143358"/>
              </p:ext>
            </p:extLst>
          </p:nvPr>
        </p:nvGraphicFramePr>
        <p:xfrm>
          <a:off x="1151388" y="5033010"/>
          <a:ext cx="6825542" cy="701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9150"/>
                <a:gridCol w="777732"/>
                <a:gridCol w="777732"/>
                <a:gridCol w="777732"/>
                <a:gridCol w="777732"/>
                <a:gridCol w="777732"/>
                <a:gridCol w="777732"/>
              </a:tblGrid>
              <a:tr h="61365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4000" dirty="0" smtClean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306582" y="3020323"/>
                <a:ext cx="68319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582" y="3020323"/>
                <a:ext cx="683199" cy="70788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7824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235078" y="252004"/>
            <a:ext cx="6200446" cy="1325563"/>
          </a:xfrm>
        </p:spPr>
        <p:txBody>
          <a:bodyPr>
            <a:normAutofit/>
          </a:bodyPr>
          <a:lstStyle/>
          <a:p>
            <a:r>
              <a:rPr lang="en-US" altLang="zh-TW" sz="6000" dirty="0" smtClean="0"/>
              <a:t>Bit-string algorithm</a:t>
            </a:r>
            <a:endParaRPr lang="zh-TW" altLang="en-US" sz="60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648182" y="1448777"/>
            <a:ext cx="3730635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500" dirty="0" smtClean="0"/>
              <a:t>2.Calculate Matrix </a:t>
            </a:r>
          </a:p>
        </p:txBody>
      </p:sp>
      <p:cxnSp>
        <p:nvCxnSpPr>
          <p:cNvPr id="3" name="直線接點 2"/>
          <p:cNvCxnSpPr/>
          <p:nvPr/>
        </p:nvCxnSpPr>
        <p:spPr>
          <a:xfrm>
            <a:off x="1374320" y="4005330"/>
            <a:ext cx="7499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4111462"/>
              </p:ext>
            </p:extLst>
          </p:nvPr>
        </p:nvGraphicFramePr>
        <p:xfrm>
          <a:off x="1137840" y="2273631"/>
          <a:ext cx="6825542" cy="1402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9150"/>
                <a:gridCol w="777732"/>
                <a:gridCol w="777732"/>
                <a:gridCol w="777732"/>
                <a:gridCol w="777732"/>
                <a:gridCol w="777732"/>
                <a:gridCol w="777732"/>
              </a:tblGrid>
              <a:tr h="55975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4000" dirty="0" smtClean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5975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4000" dirty="0" smtClean="0"/>
                        <a:t>x</a:t>
                      </a:r>
                      <a:endParaRPr lang="zh-TW" altLang="en-US" sz="4000" dirty="0" smtClean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045853"/>
              </p:ext>
            </p:extLst>
          </p:nvPr>
        </p:nvGraphicFramePr>
        <p:xfrm>
          <a:off x="1122813" y="4396498"/>
          <a:ext cx="6825542" cy="701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9150"/>
                <a:gridCol w="777732"/>
                <a:gridCol w="777732"/>
                <a:gridCol w="777732"/>
                <a:gridCol w="777732"/>
                <a:gridCol w="777732"/>
                <a:gridCol w="777732"/>
              </a:tblGrid>
              <a:tr h="55975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4000" dirty="0" smtClean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55754" y="3651387"/>
                <a:ext cx="1318566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𝑋𝑂𝑅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54" y="3651387"/>
                <a:ext cx="1318566" cy="70788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0766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235078" y="252004"/>
            <a:ext cx="6200446" cy="1325563"/>
          </a:xfrm>
        </p:spPr>
        <p:txBody>
          <a:bodyPr>
            <a:normAutofit/>
          </a:bodyPr>
          <a:lstStyle/>
          <a:p>
            <a:r>
              <a:rPr lang="en-US" altLang="zh-TW" sz="6000" dirty="0" smtClean="0"/>
              <a:t>Bit-string algorithm</a:t>
            </a:r>
            <a:endParaRPr lang="zh-TW" altLang="en-US" sz="60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648182" y="1448777"/>
            <a:ext cx="3730635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500" dirty="0" smtClean="0"/>
              <a:t>2.Calculate Matrix </a:t>
            </a:r>
          </a:p>
        </p:txBody>
      </p:sp>
      <p:cxnSp>
        <p:nvCxnSpPr>
          <p:cNvPr id="3" name="直線接點 2"/>
          <p:cNvCxnSpPr/>
          <p:nvPr/>
        </p:nvCxnSpPr>
        <p:spPr>
          <a:xfrm>
            <a:off x="1374320" y="4005330"/>
            <a:ext cx="7499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495347"/>
              </p:ext>
            </p:extLst>
          </p:nvPr>
        </p:nvGraphicFramePr>
        <p:xfrm>
          <a:off x="1137840" y="2273631"/>
          <a:ext cx="6825542" cy="1402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9150"/>
                <a:gridCol w="777732"/>
                <a:gridCol w="777732"/>
                <a:gridCol w="777732"/>
                <a:gridCol w="777732"/>
                <a:gridCol w="777732"/>
                <a:gridCol w="777732"/>
              </a:tblGrid>
              <a:tr h="55975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4000" dirty="0" smtClean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5975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4000" dirty="0" smtClean="0"/>
                        <a:t>x</a:t>
                      </a:r>
                      <a:endParaRPr lang="zh-TW" altLang="en-US" sz="4000" dirty="0" smtClean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418631"/>
              </p:ext>
            </p:extLst>
          </p:nvPr>
        </p:nvGraphicFramePr>
        <p:xfrm>
          <a:off x="1122813" y="4396498"/>
          <a:ext cx="6825542" cy="701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9150"/>
                <a:gridCol w="777732"/>
                <a:gridCol w="777732"/>
                <a:gridCol w="777732"/>
                <a:gridCol w="777732"/>
                <a:gridCol w="777732"/>
                <a:gridCol w="777732"/>
              </a:tblGrid>
              <a:tr h="55975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4000" dirty="0" smtClean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55754" y="3651387"/>
                <a:ext cx="1371466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𝐴𝑁𝐷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54" y="3651387"/>
                <a:ext cx="1371466" cy="70788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9622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235078" y="252004"/>
            <a:ext cx="6200446" cy="1325563"/>
          </a:xfrm>
        </p:spPr>
        <p:txBody>
          <a:bodyPr>
            <a:normAutofit/>
          </a:bodyPr>
          <a:lstStyle/>
          <a:p>
            <a:r>
              <a:rPr lang="en-US" altLang="zh-TW" sz="6000" dirty="0" smtClean="0"/>
              <a:t>Bit-string algorithm</a:t>
            </a:r>
            <a:endParaRPr lang="zh-TW" altLang="en-US" sz="60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648182" y="1448777"/>
            <a:ext cx="3730635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500" dirty="0" smtClean="0"/>
              <a:t>2.Calculate Matrix </a:t>
            </a:r>
          </a:p>
        </p:txBody>
      </p:sp>
      <p:cxnSp>
        <p:nvCxnSpPr>
          <p:cNvPr id="3" name="直線接點 2"/>
          <p:cNvCxnSpPr/>
          <p:nvPr/>
        </p:nvCxnSpPr>
        <p:spPr>
          <a:xfrm>
            <a:off x="1374320" y="4005330"/>
            <a:ext cx="7499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495347"/>
              </p:ext>
            </p:extLst>
          </p:nvPr>
        </p:nvGraphicFramePr>
        <p:xfrm>
          <a:off x="1137840" y="2273631"/>
          <a:ext cx="6825542" cy="1402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9150"/>
                <a:gridCol w="777732"/>
                <a:gridCol w="777732"/>
                <a:gridCol w="777732"/>
                <a:gridCol w="777732"/>
                <a:gridCol w="777732"/>
                <a:gridCol w="777732"/>
              </a:tblGrid>
              <a:tr h="55975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4000" dirty="0" smtClean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5975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4000" dirty="0" smtClean="0"/>
                        <a:t>x</a:t>
                      </a:r>
                      <a:endParaRPr lang="zh-TW" altLang="en-US" sz="4000" dirty="0" smtClean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149036"/>
              </p:ext>
            </p:extLst>
          </p:nvPr>
        </p:nvGraphicFramePr>
        <p:xfrm>
          <a:off x="1122813" y="4396498"/>
          <a:ext cx="6825542" cy="701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9150"/>
                <a:gridCol w="777732"/>
                <a:gridCol w="777732"/>
                <a:gridCol w="777732"/>
                <a:gridCol w="777732"/>
                <a:gridCol w="777732"/>
                <a:gridCol w="777732"/>
              </a:tblGrid>
              <a:tr h="55975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4000" dirty="0" smtClean="0"/>
                        <a:t>Row</a:t>
                      </a:r>
                      <a:r>
                        <a:rPr lang="en-US" altLang="zh-TW" sz="2000" dirty="0" smtClean="0"/>
                        <a:t>5</a:t>
                      </a:r>
                      <a:endParaRPr lang="zh-TW" altLang="en-US" sz="4000" dirty="0" smtClean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55754" y="3651387"/>
                <a:ext cx="1371466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𝐴𝑁𝐷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54" y="3651387"/>
                <a:ext cx="1371466" cy="70788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8247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235078" y="252004"/>
            <a:ext cx="6200446" cy="1325563"/>
          </a:xfrm>
        </p:spPr>
        <p:txBody>
          <a:bodyPr>
            <a:normAutofit/>
          </a:bodyPr>
          <a:lstStyle/>
          <a:p>
            <a:r>
              <a:rPr lang="en-US" altLang="zh-TW" sz="6000" dirty="0" smtClean="0"/>
              <a:t>Bit-string algorithm</a:t>
            </a:r>
            <a:endParaRPr lang="zh-TW" altLang="en-US" sz="60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648182" y="1448777"/>
            <a:ext cx="3730635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500" dirty="0" smtClean="0"/>
              <a:t>2.Calculate Matrix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-189925" y="2774340"/>
                <a:ext cx="965905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000" b="0" i="1" smtClean="0">
                              <a:latin typeface="Cambria Math" panose="02040503050406030204" pitchFamily="18" charset="0"/>
                            </a:rPr>
                            <m:t>𝑟𝑜𝑤</m:t>
                          </m:r>
                        </m:e>
                        <m:sub>
                          <m:r>
                            <a:rPr lang="en-US" altLang="zh-TW" sz="4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𝐴𝑁𝐷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 ( </m:t>
                      </m:r>
                      <m:d>
                        <m:dPr>
                          <m:ctrlPr>
                            <a:rPr lang="en-US" altLang="zh-TW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4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4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4000" b="0" i="1" smtClean="0">
                                  <a:latin typeface="Cambria Math" panose="02040503050406030204" pitchFamily="18" charset="0"/>
                                </a:rPr>
                                <m:t>𝑟𝑜𝑤</m:t>
                              </m:r>
                            </m:e>
                            <m:sub>
                              <m:r>
                                <a:rPr lang="en-US" altLang="zh-TW" sz="4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4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TW" sz="4000" b="0" i="1" smtClean="0">
                              <a:latin typeface="Cambria Math" panose="02040503050406030204" pitchFamily="18" charset="0"/>
                            </a:rPr>
                            <m:t>≪1</m:t>
                          </m:r>
                        </m:e>
                      </m:d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𝑋𝑂𝑅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9925" y="2774340"/>
                <a:ext cx="9659054" cy="70788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1507940" y="3712352"/>
                <a:ext cx="6867073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4000" b="1" i="0" dirty="0" smtClean="0">
                    <a:latin typeface="+mj-lt"/>
                  </a:rPr>
                  <a:t>where   </a:t>
                </a:r>
                <a14:m>
                  <m:oMath xmlns:m="http://schemas.openxmlformats.org/officeDocument/2006/math"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4000" i="1">
                            <a:latin typeface="Cambria Math" panose="02040503050406030204" pitchFamily="18" charset="0"/>
                          </a:rPr>
                          <m:t>𝑟𝑜𝑤</m:t>
                        </m:r>
                      </m:e>
                      <m:sub>
                        <m:r>
                          <a:rPr lang="en-US" altLang="zh-TW" sz="4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4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𝑂𝑅</m:t>
                    </m:r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4000" b="1" i="0" dirty="0" smtClean="0">
                    <a:latin typeface="+mj-lt"/>
                  </a:rPr>
                  <a:t>-string</a:t>
                </a:r>
                <a:endParaRPr lang="zh-TW" altLang="en-US" sz="4000" b="1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940" y="3712352"/>
                <a:ext cx="6867073" cy="707886"/>
              </a:xfrm>
              <a:prstGeom prst="rect">
                <a:avLst/>
              </a:prstGeom>
              <a:blipFill rotWithShape="0">
                <a:blip r:embed="rId3"/>
                <a:stretch>
                  <a:fillRect l="-3106" t="-15517" r="-3194" b="-362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9702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5078" y="252004"/>
            <a:ext cx="5261154" cy="1325563"/>
          </a:xfrm>
        </p:spPr>
        <p:txBody>
          <a:bodyPr>
            <a:normAutofit/>
          </a:bodyPr>
          <a:lstStyle/>
          <a:p>
            <a:r>
              <a:rPr lang="en-US" altLang="zh-TW" sz="6000" dirty="0" smtClean="0"/>
              <a:t>Bit-string matrix</a:t>
            </a:r>
            <a:endParaRPr lang="zh-TW" altLang="en-US" sz="60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6412354" y="137192"/>
            <a:ext cx="25075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 smtClean="0"/>
              <a:t>A : TCCTAG</a:t>
            </a:r>
          </a:p>
          <a:p>
            <a:r>
              <a:rPr lang="en-US" altLang="zh-TW" sz="4000" dirty="0" smtClean="0"/>
              <a:t>B : CACGTA</a:t>
            </a:r>
          </a:p>
        </p:txBody>
      </p:sp>
      <p:sp>
        <p:nvSpPr>
          <p:cNvPr id="14" name="文字方塊 13"/>
          <p:cNvSpPr txBox="1"/>
          <p:nvPr/>
        </p:nvSpPr>
        <p:spPr>
          <a:xfrm>
            <a:off x="422577" y="3177606"/>
            <a:ext cx="18473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sz="3000" dirty="0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780017"/>
              </p:ext>
            </p:extLst>
          </p:nvPr>
        </p:nvGraphicFramePr>
        <p:xfrm>
          <a:off x="2806045" y="1690688"/>
          <a:ext cx="6102285" cy="490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1755"/>
                <a:gridCol w="871755"/>
                <a:gridCol w="871755"/>
                <a:gridCol w="871755"/>
                <a:gridCol w="871755"/>
                <a:gridCol w="871755"/>
                <a:gridCol w="871755"/>
              </a:tblGrid>
              <a:tr h="5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G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A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T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C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C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T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A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T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G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C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A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C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4000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3940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5078" y="252004"/>
            <a:ext cx="5261154" cy="1325563"/>
          </a:xfrm>
        </p:spPr>
        <p:txBody>
          <a:bodyPr>
            <a:normAutofit/>
          </a:bodyPr>
          <a:lstStyle/>
          <a:p>
            <a:r>
              <a:rPr lang="en-US" altLang="zh-TW" sz="6000" dirty="0" smtClean="0"/>
              <a:t>Bit-string matrix</a:t>
            </a:r>
            <a:endParaRPr lang="zh-TW" altLang="en-US" sz="60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6412354" y="137192"/>
            <a:ext cx="25075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 smtClean="0"/>
              <a:t>A : TCCTAG</a:t>
            </a:r>
          </a:p>
          <a:p>
            <a:r>
              <a:rPr lang="en-US" altLang="zh-TW" sz="4000" dirty="0" smtClean="0"/>
              <a:t>B : CACGTA</a:t>
            </a:r>
          </a:p>
        </p:txBody>
      </p:sp>
      <p:sp>
        <p:nvSpPr>
          <p:cNvPr id="14" name="文字方塊 13"/>
          <p:cNvSpPr txBox="1"/>
          <p:nvPr/>
        </p:nvSpPr>
        <p:spPr>
          <a:xfrm>
            <a:off x="422577" y="3177606"/>
            <a:ext cx="18473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sz="3000" dirty="0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/>
          </p:nvPr>
        </p:nvGraphicFramePr>
        <p:xfrm>
          <a:off x="2806045" y="1690688"/>
          <a:ext cx="6102285" cy="490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1755"/>
                <a:gridCol w="871755"/>
                <a:gridCol w="871755"/>
                <a:gridCol w="871755"/>
                <a:gridCol w="871755"/>
                <a:gridCol w="871755"/>
                <a:gridCol w="871755"/>
              </a:tblGrid>
              <a:tr h="5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G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A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T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C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C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1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0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T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A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T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G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C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A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dirty="0" smtClean="0"/>
                        <a:t>C</a:t>
                      </a:r>
                      <a:endParaRPr lang="zh-TW" altLang="en-US" sz="4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4000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235078" y="1862496"/>
                <a:ext cx="2499915" cy="12825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i="1" dirty="0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TW" sz="4000" i="1" dirty="0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altLang="zh-TW" sz="4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40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400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en-US" altLang="zh-TW" sz="40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en-US" altLang="zh-TW" sz="4000" i="1" dirty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TW" sz="4000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4000" i="1" dirty="0" smtClean="0">
                          <a:latin typeface="Cambria Math" panose="02040503050406030204" pitchFamily="18" charset="0"/>
                        </a:rPr>
                        <m:t>|)</m:t>
                      </m:r>
                    </m:oMath>
                  </m:oMathPara>
                </a14:m>
                <a:endParaRPr lang="zh-TW" altLang="en-US" sz="4000" dirty="0" smtClean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078" y="1862496"/>
                <a:ext cx="2499915" cy="128253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729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5078" y="252004"/>
            <a:ext cx="8908922" cy="1325563"/>
          </a:xfrm>
        </p:spPr>
        <p:txBody>
          <a:bodyPr>
            <a:normAutofit/>
          </a:bodyPr>
          <a:lstStyle/>
          <a:p>
            <a:r>
              <a:rPr lang="en-US" altLang="zh-TW" sz="4000" dirty="0" smtClean="0"/>
              <a:t>Simulation results on a 32-bit computer </a:t>
            </a:r>
            <a:endParaRPr lang="zh-TW" altLang="en-US" sz="40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422577" y="3177606"/>
            <a:ext cx="18473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2464127"/>
                  </p:ext>
                </p:extLst>
              </p:nvPr>
            </p:nvGraphicFramePr>
            <p:xfrm>
              <a:off x="1060359" y="1371054"/>
              <a:ext cx="7774548" cy="497272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197996"/>
                    <a:gridCol w="2985036"/>
                    <a:gridCol w="2591516"/>
                  </a:tblGrid>
                  <a:tr h="632012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35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500" dirty="0" smtClean="0"/>
                            <a:t>Time ratio</a:t>
                          </a:r>
                          <a:endParaRPr lang="zh-TW" altLang="en-US" sz="35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</a:tr>
                  <a:tr h="53407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3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3000" i="1" dirty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oMath>
                          </a14:m>
                          <a:r>
                            <a:rPr lang="en-US" altLang="zh-TW" sz="3000" b="0" i="0" dirty="0" smtClean="0">
                              <a:latin typeface="+mj-lt"/>
                            </a:rPr>
                            <a:t> x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3000" i="1" dirty="0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TW" sz="3000" i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altLang="zh-TW" sz="3000" i="1" dirty="0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oMath>
                          </a14:m>
                          <a:endParaRPr lang="zh-TW" altLang="en-US" sz="3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Alphabet</a:t>
                          </a:r>
                          <a:r>
                            <a:rPr lang="en-US" altLang="zh-TW" sz="2000" baseline="0" dirty="0" smtClean="0"/>
                            <a:t> of size 4</a:t>
                          </a:r>
                          <a:endParaRPr lang="zh-TW" alt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dirty="0" smtClean="0"/>
                            <a:t>Alphabet</a:t>
                          </a:r>
                          <a:r>
                            <a:rPr lang="en-US" altLang="zh-TW" sz="2000" baseline="0" dirty="0" smtClean="0"/>
                            <a:t> of size 256</a:t>
                          </a:r>
                          <a:endParaRPr lang="zh-TW" altLang="en-US" sz="2000" dirty="0" smtClean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6320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000" dirty="0" smtClean="0"/>
                            <a:t>32 x 32</a:t>
                          </a:r>
                          <a:endParaRPr lang="zh-TW" altLang="en-US" sz="3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500" dirty="0" smtClean="0"/>
                            <a:t>6</a:t>
                          </a:r>
                          <a:endParaRPr lang="zh-TW" altLang="en-US" sz="35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500" dirty="0" smtClean="0"/>
                            <a:t>2</a:t>
                          </a:r>
                          <a:endParaRPr lang="zh-TW" altLang="en-US" sz="35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6320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000" dirty="0" smtClean="0"/>
                            <a:t>64 x 64</a:t>
                          </a:r>
                          <a:endParaRPr lang="zh-TW" altLang="en-US" sz="3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500" dirty="0" smtClean="0"/>
                            <a:t>10</a:t>
                          </a:r>
                          <a:endParaRPr lang="zh-TW" altLang="en-US" sz="35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500" dirty="0" smtClean="0"/>
                            <a:t>5</a:t>
                          </a:r>
                          <a:endParaRPr lang="zh-TW" altLang="en-US" sz="35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6320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000" dirty="0" smtClean="0"/>
                            <a:t>100 x 100</a:t>
                          </a:r>
                          <a:endParaRPr lang="zh-TW" altLang="en-US" sz="3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500" dirty="0" smtClean="0"/>
                            <a:t>11</a:t>
                          </a:r>
                          <a:endParaRPr lang="zh-TW" altLang="en-US" sz="35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500" dirty="0" smtClean="0"/>
                            <a:t>6</a:t>
                          </a:r>
                          <a:endParaRPr lang="zh-TW" altLang="en-US" sz="35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6320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000" dirty="0" smtClean="0"/>
                            <a:t>500 x 500</a:t>
                          </a:r>
                          <a:endParaRPr lang="zh-TW" altLang="en-US" sz="3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500" dirty="0" smtClean="0"/>
                            <a:t>25</a:t>
                          </a:r>
                          <a:endParaRPr lang="zh-TW" altLang="en-US" sz="35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500" dirty="0" smtClean="0"/>
                            <a:t>19</a:t>
                          </a:r>
                          <a:endParaRPr lang="zh-TW" altLang="en-US" sz="35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6320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000" dirty="0" smtClean="0"/>
                            <a:t>1000</a:t>
                          </a:r>
                          <a:r>
                            <a:rPr lang="en-US" altLang="zh-TW" sz="3000" baseline="0" dirty="0" smtClean="0"/>
                            <a:t> x 1000</a:t>
                          </a:r>
                          <a:endParaRPr lang="zh-TW" altLang="en-US" sz="3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500" dirty="0" smtClean="0"/>
                            <a:t>26</a:t>
                          </a:r>
                          <a:endParaRPr lang="zh-TW" altLang="en-US" sz="35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500" dirty="0" smtClean="0"/>
                            <a:t>21</a:t>
                          </a:r>
                          <a:endParaRPr lang="zh-TW" altLang="en-US" sz="35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6320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000" dirty="0" smtClean="0"/>
                            <a:t>4000 x 4000</a:t>
                          </a:r>
                          <a:endParaRPr lang="zh-TW" altLang="en-US" sz="3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500" dirty="0" smtClean="0"/>
                            <a:t>27</a:t>
                          </a:r>
                          <a:endParaRPr lang="zh-TW" altLang="en-US" sz="35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500" dirty="0" smtClean="0"/>
                            <a:t>27</a:t>
                          </a:r>
                          <a:endParaRPr lang="zh-TW" altLang="en-US" sz="35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2464127"/>
                  </p:ext>
                </p:extLst>
              </p:nvPr>
            </p:nvGraphicFramePr>
            <p:xfrm>
              <a:off x="1060359" y="1371054"/>
              <a:ext cx="7774548" cy="497272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197996"/>
                    <a:gridCol w="2985036"/>
                    <a:gridCol w="2591516"/>
                  </a:tblGrid>
                  <a:tr h="632012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35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500" dirty="0" smtClean="0"/>
                            <a:t>Time ratio</a:t>
                          </a:r>
                          <a:endParaRPr lang="zh-TW" altLang="en-US" sz="35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</a:tr>
                  <a:tr h="5486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2"/>
                          <a:stretch>
                            <a:fillRect t="-131111" r="-254017" b="-73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Alphabet</a:t>
                          </a:r>
                          <a:r>
                            <a:rPr lang="en-US" altLang="zh-TW" sz="2000" baseline="0" dirty="0" smtClean="0"/>
                            <a:t> of size 4</a:t>
                          </a:r>
                          <a:endParaRPr lang="zh-TW" alt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dirty="0" smtClean="0"/>
                            <a:t>Alphabet</a:t>
                          </a:r>
                          <a:r>
                            <a:rPr lang="en-US" altLang="zh-TW" sz="2000" baseline="0" dirty="0" smtClean="0"/>
                            <a:t> of size 256</a:t>
                          </a:r>
                          <a:endParaRPr lang="zh-TW" altLang="en-US" sz="2000" dirty="0" smtClean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6320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000" dirty="0" smtClean="0"/>
                            <a:t>32 x 32</a:t>
                          </a:r>
                          <a:endParaRPr lang="zh-TW" altLang="en-US" sz="3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500" dirty="0" smtClean="0"/>
                            <a:t>6</a:t>
                          </a:r>
                          <a:endParaRPr lang="zh-TW" altLang="en-US" sz="35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500" dirty="0" smtClean="0"/>
                            <a:t>2</a:t>
                          </a:r>
                          <a:endParaRPr lang="zh-TW" altLang="en-US" sz="35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6320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000" dirty="0" smtClean="0"/>
                            <a:t>64 x 64</a:t>
                          </a:r>
                          <a:endParaRPr lang="zh-TW" altLang="en-US" sz="3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500" dirty="0" smtClean="0"/>
                            <a:t>10</a:t>
                          </a:r>
                          <a:endParaRPr lang="zh-TW" altLang="en-US" sz="35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500" dirty="0" smtClean="0"/>
                            <a:t>5</a:t>
                          </a:r>
                          <a:endParaRPr lang="zh-TW" altLang="en-US" sz="35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6320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000" dirty="0" smtClean="0"/>
                            <a:t>100 x 100</a:t>
                          </a:r>
                          <a:endParaRPr lang="zh-TW" altLang="en-US" sz="3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500" dirty="0" smtClean="0"/>
                            <a:t>11</a:t>
                          </a:r>
                          <a:endParaRPr lang="zh-TW" altLang="en-US" sz="35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500" dirty="0" smtClean="0"/>
                            <a:t>6</a:t>
                          </a:r>
                          <a:endParaRPr lang="zh-TW" altLang="en-US" sz="35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6320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000" dirty="0" smtClean="0"/>
                            <a:t>500 x 500</a:t>
                          </a:r>
                          <a:endParaRPr lang="zh-TW" altLang="en-US" sz="3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500" dirty="0" smtClean="0"/>
                            <a:t>25</a:t>
                          </a:r>
                          <a:endParaRPr lang="zh-TW" altLang="en-US" sz="35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500" dirty="0" smtClean="0"/>
                            <a:t>19</a:t>
                          </a:r>
                          <a:endParaRPr lang="zh-TW" altLang="en-US" sz="35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6320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000" dirty="0" smtClean="0"/>
                            <a:t>1000</a:t>
                          </a:r>
                          <a:r>
                            <a:rPr lang="en-US" altLang="zh-TW" sz="3000" baseline="0" dirty="0" smtClean="0"/>
                            <a:t> x 1000</a:t>
                          </a:r>
                          <a:endParaRPr lang="zh-TW" altLang="en-US" sz="3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500" dirty="0" smtClean="0"/>
                            <a:t>26</a:t>
                          </a:r>
                          <a:endParaRPr lang="zh-TW" altLang="en-US" sz="35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500" dirty="0" smtClean="0"/>
                            <a:t>21</a:t>
                          </a:r>
                          <a:endParaRPr lang="zh-TW" altLang="en-US" sz="35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6320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000" dirty="0" smtClean="0"/>
                            <a:t>4000 x 4000</a:t>
                          </a:r>
                          <a:endParaRPr lang="zh-TW" altLang="en-US" sz="3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500" dirty="0" smtClean="0"/>
                            <a:t>27</a:t>
                          </a:r>
                          <a:endParaRPr lang="zh-TW" altLang="en-US" sz="35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500" dirty="0" smtClean="0"/>
                            <a:t>27</a:t>
                          </a:r>
                          <a:endParaRPr lang="zh-TW" altLang="en-US" sz="35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42969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743</TotalTime>
  <Words>669</Words>
  <Application>Microsoft Office PowerPoint</Application>
  <PresentationFormat>如螢幕大小 (4:3)</PresentationFormat>
  <Paragraphs>575</Paragraphs>
  <Slides>19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5" baseType="lpstr">
      <vt:lpstr>新細明體</vt:lpstr>
      <vt:lpstr>Arial</vt:lpstr>
      <vt:lpstr>Calibri</vt:lpstr>
      <vt:lpstr>Calibri Light</vt:lpstr>
      <vt:lpstr>Cambria Math</vt:lpstr>
      <vt:lpstr>Office 佈景主題</vt:lpstr>
      <vt:lpstr>A Bit-String Longest-Common-Subsequence Algorithm</vt:lpstr>
      <vt:lpstr>Abstract</vt:lpstr>
      <vt:lpstr>LCS matrix</vt:lpstr>
      <vt:lpstr>LCS matrix</vt:lpstr>
      <vt:lpstr>Bit-string matrix</vt:lpstr>
      <vt:lpstr>Bit-string algorithm</vt:lpstr>
      <vt:lpstr>Bit-string algorithm</vt:lpstr>
      <vt:lpstr>Bit-string algorithm</vt:lpstr>
      <vt:lpstr>Bit-string algorithm</vt:lpstr>
      <vt:lpstr>Bit-string algorithm</vt:lpstr>
      <vt:lpstr>Bit-string algorithm</vt:lpstr>
      <vt:lpstr>Bit-string algorithm</vt:lpstr>
      <vt:lpstr>Bit-string algorithm</vt:lpstr>
      <vt:lpstr>Bit-string algorithm</vt:lpstr>
      <vt:lpstr>Bit-string algorithm</vt:lpstr>
      <vt:lpstr>Bit-string algorithm</vt:lpstr>
      <vt:lpstr>Bit-string matrix</vt:lpstr>
      <vt:lpstr>Bit-string matrix</vt:lpstr>
      <vt:lpstr>Simulation results on a 32-bit computer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Bit-String Longest-Common-Subsequence Algorithm</dc:title>
  <dc:creator>YanLee</dc:creator>
  <cp:lastModifiedBy>YanLee</cp:lastModifiedBy>
  <cp:revision>36</cp:revision>
  <dcterms:created xsi:type="dcterms:W3CDTF">2016-10-24T04:50:56Z</dcterms:created>
  <dcterms:modified xsi:type="dcterms:W3CDTF">2016-10-25T10:11:07Z</dcterms:modified>
</cp:coreProperties>
</file>