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 ContentType="image/t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1pPr>
    <a:lvl2pPr marL="0" marR="0" indent="2286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Ref idx="minor">
          <a:srgbClr val="000000"/>
        </a:fontRef>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8" d="100"/>
          <a:sy n="58" d="100"/>
        </p:scale>
        <p:origin x="82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6" name="Shape 116"/>
          <p:cNvSpPr>
            <a:spLocks noGrp="1" noRot="1" noChangeAspect="1"/>
          </p:cNvSpPr>
          <p:nvPr>
            <p:ph type="sldImg"/>
          </p:nvPr>
        </p:nvSpPr>
        <p:spPr>
          <a:xfrm>
            <a:off x="1143000" y="685800"/>
            <a:ext cx="4572000" cy="3429000"/>
          </a:xfrm>
          <a:prstGeom prst="rect">
            <a:avLst/>
          </a:prstGeom>
        </p:spPr>
        <p:txBody>
          <a:bodyPr/>
          <a:lstStyle/>
          <a:p>
            <a:endParaRPr/>
          </a:p>
        </p:txBody>
      </p:sp>
      <p:sp>
        <p:nvSpPr>
          <p:cNvPr id="117" name="Shape 117"/>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677202177"/>
      </p:ext>
    </p:extLst>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Shape 183"/>
          <p:cNvSpPr>
            <a:spLocks noGrp="1" noRot="1" noChangeAspect="1"/>
          </p:cNvSpPr>
          <p:nvPr>
            <p:ph type="sldImg"/>
          </p:nvPr>
        </p:nvSpPr>
        <p:spPr>
          <a:prstGeom prst="rect">
            <a:avLst/>
          </a:prstGeom>
        </p:spPr>
        <p:txBody>
          <a:bodyPr/>
          <a:lstStyle/>
          <a:p>
            <a:endParaRPr/>
          </a:p>
        </p:txBody>
      </p:sp>
      <p:sp>
        <p:nvSpPr>
          <p:cNvPr id="184" name="Shape 184"/>
          <p:cNvSpPr>
            <a:spLocks noGrp="1"/>
          </p:cNvSpPr>
          <p:nvPr>
            <p:ph type="body" sz="quarter" idx="1"/>
          </p:nvPr>
        </p:nvSpPr>
        <p:spPr>
          <a:prstGeom prst="rect">
            <a:avLst/>
          </a:prstGeom>
        </p:spPr>
        <p:txBody>
          <a:bodyPr/>
          <a:lstStyle/>
          <a:p>
            <a:r>
              <a:t>這篇論文是使用bag of words model來分類圖片</a:t>
            </a:r>
          </a:p>
          <a:p>
            <a:r>
              <a:t>這裡有三張圖，取出他們的特徵，然後找出代表性的特徵</a:t>
            </a:r>
          </a:p>
          <a:p>
            <a:r>
              <a:t>在統計這些代表性的特徵在每張圖片出現的數量</a:t>
            </a:r>
          </a:p>
          <a:p>
            <a:r>
              <a:t>利用這些統計的數量的數據作分類</a:t>
            </a:r>
          </a:p>
        </p:txBody>
      </p:sp>
    </p:spTree>
    <p:extLst>
      <p:ext uri="{BB962C8B-B14F-4D97-AF65-F5344CB8AC3E}">
        <p14:creationId xmlns:p14="http://schemas.microsoft.com/office/powerpoint/2010/main" val="35644786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Shape 188"/>
          <p:cNvSpPr>
            <a:spLocks noGrp="1" noRot="1" noChangeAspect="1"/>
          </p:cNvSpPr>
          <p:nvPr>
            <p:ph type="sldImg"/>
          </p:nvPr>
        </p:nvSpPr>
        <p:spPr>
          <a:prstGeom prst="rect">
            <a:avLst/>
          </a:prstGeom>
        </p:spPr>
        <p:txBody>
          <a:bodyPr/>
          <a:lstStyle/>
          <a:p>
            <a:endParaRPr/>
          </a:p>
        </p:txBody>
      </p:sp>
      <p:sp>
        <p:nvSpPr>
          <p:cNvPr id="189" name="Shape 189"/>
          <p:cNvSpPr>
            <a:spLocks noGrp="1"/>
          </p:cNvSpPr>
          <p:nvPr>
            <p:ph type="body" sz="quarter" idx="1"/>
          </p:nvPr>
        </p:nvSpPr>
        <p:spPr>
          <a:prstGeom prst="rect">
            <a:avLst/>
          </a:prstGeom>
        </p:spPr>
        <p:txBody>
          <a:bodyPr/>
          <a:lstStyle/>
          <a:p>
            <a:r>
              <a:t>這篇論文的方在2002年已經有人使用bag of words model來分類圖片</a:t>
            </a:r>
          </a:p>
          <a:p>
            <a:r>
              <a:t>那個方法叫做keyblocks</a:t>
            </a:r>
          </a:p>
          <a:p>
            <a:r>
              <a:t>但是keyblocks沒有invariance properties</a:t>
            </a:r>
          </a:p>
          <a:p>
            <a:r>
              <a:t>有invariance properties表示當圖片旋轉或縮放</a:t>
            </a:r>
          </a:p>
          <a:p>
            <a:r>
              <a:t>還是可以找到相同的特徵點</a:t>
            </a:r>
          </a:p>
          <a:p>
            <a:r>
              <a:t>這篇論文就是多加入了invariance properties</a:t>
            </a:r>
          </a:p>
        </p:txBody>
      </p:sp>
    </p:spTree>
    <p:extLst>
      <p:ext uri="{BB962C8B-B14F-4D97-AF65-F5344CB8AC3E}">
        <p14:creationId xmlns:p14="http://schemas.microsoft.com/office/powerpoint/2010/main" val="2265307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Shape 193"/>
          <p:cNvSpPr>
            <a:spLocks noGrp="1" noRot="1" noChangeAspect="1"/>
          </p:cNvSpPr>
          <p:nvPr>
            <p:ph type="sldImg"/>
          </p:nvPr>
        </p:nvSpPr>
        <p:spPr>
          <a:prstGeom prst="rect">
            <a:avLst/>
          </a:prstGeom>
        </p:spPr>
        <p:txBody>
          <a:bodyPr/>
          <a:lstStyle/>
          <a:p>
            <a:endParaRPr/>
          </a:p>
        </p:txBody>
      </p:sp>
      <p:sp>
        <p:nvSpPr>
          <p:cNvPr id="194" name="Shape 194"/>
          <p:cNvSpPr>
            <a:spLocks noGrp="1"/>
          </p:cNvSpPr>
          <p:nvPr>
            <p:ph type="body" sz="quarter" idx="1"/>
          </p:nvPr>
        </p:nvSpPr>
        <p:spPr>
          <a:prstGeom prst="rect">
            <a:avLst/>
          </a:prstGeom>
        </p:spPr>
        <p:txBody>
          <a:bodyPr/>
          <a:lstStyle/>
          <a:p>
            <a:r>
              <a:t>這篇論文的方法主要分成四個步驟</a:t>
            </a:r>
          </a:p>
          <a:p>
            <a:r>
              <a:t>偵測圖片上特徵點的位置和範圍大小，將特徵點的區塊做正規化，讓每個特徵點可以互相比較相似的程度</a:t>
            </a:r>
          </a:p>
          <a:p>
            <a:r>
              <a:t>將圖片上的特徵點進行分類</a:t>
            </a:r>
          </a:p>
          <a:p>
            <a:r>
              <a:t>統計圖片上的特徵點每個類別所佔數量</a:t>
            </a:r>
          </a:p>
          <a:p>
            <a:r>
              <a:t>利用這些統計的數量資料來對圖片分類</a:t>
            </a:r>
          </a:p>
          <a:p>
            <a:r>
              <a:t>這篇論文是使用Naive Bayes跟SVM來處理圖片的分類</a:t>
            </a:r>
          </a:p>
          <a:p>
            <a:r>
              <a:t>目標就是設計一個有效率且效果不錯的方法</a:t>
            </a:r>
          </a:p>
        </p:txBody>
      </p:sp>
    </p:spTree>
    <p:extLst>
      <p:ext uri="{BB962C8B-B14F-4D97-AF65-F5344CB8AC3E}">
        <p14:creationId xmlns:p14="http://schemas.microsoft.com/office/powerpoint/2010/main" val="33993247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Shape 211"/>
          <p:cNvSpPr>
            <a:spLocks noGrp="1" noRot="1" noChangeAspect="1"/>
          </p:cNvSpPr>
          <p:nvPr>
            <p:ph type="sldImg"/>
          </p:nvPr>
        </p:nvSpPr>
        <p:spPr>
          <a:prstGeom prst="rect">
            <a:avLst/>
          </a:prstGeom>
        </p:spPr>
        <p:txBody>
          <a:bodyPr/>
          <a:lstStyle/>
          <a:p>
            <a:endParaRPr/>
          </a:p>
        </p:txBody>
      </p:sp>
      <p:sp>
        <p:nvSpPr>
          <p:cNvPr id="212" name="Shape 212"/>
          <p:cNvSpPr>
            <a:spLocks noGrp="1"/>
          </p:cNvSpPr>
          <p:nvPr>
            <p:ph type="body" sz="quarter" idx="1"/>
          </p:nvPr>
        </p:nvSpPr>
        <p:spPr>
          <a:prstGeom prst="rect">
            <a:avLst/>
          </a:prstGeom>
        </p:spPr>
        <p:txBody>
          <a:bodyPr/>
          <a:lstStyle/>
          <a:p>
            <a:r>
              <a:t>要偵測的特徵點必須不變的，就是在圖片旋轉縮放或是些微的視角改變，我們還是可以找到相同的特徵點，使得可以有足夠的資訊去做分類</a:t>
            </a:r>
          </a:p>
          <a:p>
            <a:r>
              <a:t>像是一個人眼睛鼻子嘴巴和邊邊角角的地方，都是不變的特徵，當視角些微的改變，我們還是可以找這些特徵</a:t>
            </a:r>
          </a:p>
        </p:txBody>
      </p:sp>
    </p:spTree>
    <p:extLst>
      <p:ext uri="{BB962C8B-B14F-4D97-AF65-F5344CB8AC3E}">
        <p14:creationId xmlns:p14="http://schemas.microsoft.com/office/powerpoint/2010/main" val="27688571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Shape 218"/>
          <p:cNvSpPr>
            <a:spLocks noGrp="1" noRot="1" noChangeAspect="1"/>
          </p:cNvSpPr>
          <p:nvPr>
            <p:ph type="sldImg"/>
          </p:nvPr>
        </p:nvSpPr>
        <p:spPr>
          <a:prstGeom prst="rect">
            <a:avLst/>
          </a:prstGeom>
        </p:spPr>
        <p:txBody>
          <a:bodyPr/>
          <a:lstStyle/>
          <a:p>
            <a:endParaRPr/>
          </a:p>
        </p:txBody>
      </p:sp>
      <p:sp>
        <p:nvSpPr>
          <p:cNvPr id="219" name="Shape 219"/>
          <p:cNvSpPr>
            <a:spLocks noGrp="1"/>
          </p:cNvSpPr>
          <p:nvPr>
            <p:ph type="body" sz="quarter" idx="1"/>
          </p:nvPr>
        </p:nvSpPr>
        <p:spPr>
          <a:prstGeom prst="rect">
            <a:avLst/>
          </a:prstGeom>
        </p:spPr>
        <p:txBody>
          <a:bodyPr/>
          <a:lstStyle/>
          <a:p>
            <a:r>
              <a:t>這篇論文偵測特徵是使用harris affine detecter這個方法</a:t>
            </a:r>
          </a:p>
          <a:p>
            <a:r>
              <a:t>下面這兩張圖是同個建築物，只是拍攝的距離和角度不一樣</a:t>
            </a:r>
          </a:p>
          <a:p>
            <a:r>
              <a:t>這個方法可以偵測到相同的特徵</a:t>
            </a:r>
          </a:p>
          <a:p>
            <a:r>
              <a:t>橢圓形的區塊是偵測到的特徵</a:t>
            </a:r>
          </a:p>
        </p:txBody>
      </p:sp>
    </p:spTree>
    <p:extLst>
      <p:ext uri="{BB962C8B-B14F-4D97-AF65-F5344CB8AC3E}">
        <p14:creationId xmlns:p14="http://schemas.microsoft.com/office/powerpoint/2010/main" val="16094777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Shape 226"/>
          <p:cNvSpPr>
            <a:spLocks noGrp="1" noRot="1" noChangeAspect="1"/>
          </p:cNvSpPr>
          <p:nvPr>
            <p:ph type="sldImg"/>
          </p:nvPr>
        </p:nvSpPr>
        <p:spPr>
          <a:prstGeom prst="rect">
            <a:avLst/>
          </a:prstGeom>
        </p:spPr>
        <p:txBody>
          <a:bodyPr/>
          <a:lstStyle/>
          <a:p>
            <a:endParaRPr/>
          </a:p>
        </p:txBody>
      </p:sp>
      <p:sp>
        <p:nvSpPr>
          <p:cNvPr id="227" name="Shape 227"/>
          <p:cNvSpPr>
            <a:spLocks noGrp="1"/>
          </p:cNvSpPr>
          <p:nvPr>
            <p:ph type="body" sz="quarter" idx="1"/>
          </p:nvPr>
        </p:nvSpPr>
        <p:spPr>
          <a:prstGeom prst="rect">
            <a:avLst/>
          </a:prstGeom>
        </p:spPr>
        <p:txBody>
          <a:bodyPr/>
          <a:lstStyle/>
          <a:p>
            <a:r>
              <a:t>偵測到的特徵點，利用sift descriptor對特徵點做正規化成128維度的向量</a:t>
            </a:r>
          </a:p>
          <a:p>
            <a:r>
              <a:t>這兩張是不同角度的圖，特徵點的方向也不一樣，把兩個橢圓的特徵點拉成圓形</a:t>
            </a:r>
          </a:p>
          <a:p>
            <a:r>
              <a:t>轉成相同的角度，再轉成128維度的向量，兩個128維度的向量就可以比較相似度</a:t>
            </a:r>
          </a:p>
          <a:p>
            <a:r>
              <a:t>右邊這兩圖是128維度向量的示意圖，一格有8條線，每一條線的長度代表一個值，有4*4格，所以有128個值是128維度，我等下會講這張圖怎麼算的</a:t>
            </a:r>
          </a:p>
        </p:txBody>
      </p:sp>
    </p:spTree>
    <p:extLst>
      <p:ext uri="{BB962C8B-B14F-4D97-AF65-F5344CB8AC3E}">
        <p14:creationId xmlns:p14="http://schemas.microsoft.com/office/powerpoint/2010/main" val="31101160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 name="Shape 236"/>
          <p:cNvSpPr>
            <a:spLocks noGrp="1" noRot="1" noChangeAspect="1"/>
          </p:cNvSpPr>
          <p:nvPr>
            <p:ph type="sldImg"/>
          </p:nvPr>
        </p:nvSpPr>
        <p:spPr>
          <a:prstGeom prst="rect">
            <a:avLst/>
          </a:prstGeom>
        </p:spPr>
        <p:txBody>
          <a:bodyPr/>
          <a:lstStyle/>
          <a:p>
            <a:endParaRPr/>
          </a:p>
        </p:txBody>
      </p:sp>
      <p:sp>
        <p:nvSpPr>
          <p:cNvPr id="237" name="Shape 237"/>
          <p:cNvSpPr>
            <a:spLocks noGrp="1"/>
          </p:cNvSpPr>
          <p:nvPr>
            <p:ph type="body" sz="quarter" idx="1"/>
          </p:nvPr>
        </p:nvSpPr>
        <p:spPr>
          <a:prstGeom prst="rect">
            <a:avLst/>
          </a:prstGeom>
        </p:spPr>
        <p:txBody>
          <a:bodyPr/>
          <a:lstStyle/>
          <a:p>
            <a:r>
              <a:t>估算特徵點每個 pixel的值是往哪個方向變動和變動的幅度</a:t>
            </a:r>
          </a:p>
          <a:p>
            <a:r>
              <a:t>結果會存成右邊這張表，每一格是pixel的位置，</a:t>
            </a:r>
          </a:p>
          <a:p>
            <a:r>
              <a:t>所以這張圖有8*8=16個pixel，裡面的箭頭代表兩個值</a:t>
            </a:r>
          </a:p>
          <a:p>
            <a:r>
              <a:t>箭頭朝向的值代表pixel變動的方向，箭頭的長度代表變動的大小</a:t>
            </a:r>
          </a:p>
          <a:p>
            <a:endParaRPr/>
          </a:p>
        </p:txBody>
      </p:sp>
    </p:spTree>
    <p:extLst>
      <p:ext uri="{BB962C8B-B14F-4D97-AF65-F5344CB8AC3E}">
        <p14:creationId xmlns:p14="http://schemas.microsoft.com/office/powerpoint/2010/main" val="4558606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Shape 247"/>
          <p:cNvSpPr>
            <a:spLocks noGrp="1" noRot="1" noChangeAspect="1"/>
          </p:cNvSpPr>
          <p:nvPr>
            <p:ph type="sldImg"/>
          </p:nvPr>
        </p:nvSpPr>
        <p:spPr>
          <a:prstGeom prst="rect">
            <a:avLst/>
          </a:prstGeom>
        </p:spPr>
        <p:txBody>
          <a:bodyPr/>
          <a:lstStyle/>
          <a:p>
            <a:endParaRPr/>
          </a:p>
        </p:txBody>
      </p:sp>
      <p:sp>
        <p:nvSpPr>
          <p:cNvPr id="248" name="Shape 248"/>
          <p:cNvSpPr>
            <a:spLocks noGrp="1"/>
          </p:cNvSpPr>
          <p:nvPr>
            <p:ph type="body" sz="quarter" idx="1"/>
          </p:nvPr>
        </p:nvSpPr>
        <p:spPr>
          <a:prstGeom prst="rect">
            <a:avLst/>
          </a:prstGeom>
        </p:spPr>
        <p:txBody>
          <a:bodyPr/>
          <a:lstStyle/>
          <a:p>
            <a:r>
              <a:t>估算特徵點每個 pixel的值是往哪個方向變動和變動的幅度</a:t>
            </a:r>
          </a:p>
          <a:p>
            <a:r>
              <a:t>結果會存成右邊這張表，每一格是pixel的位置，</a:t>
            </a:r>
          </a:p>
          <a:p>
            <a:r>
              <a:t>所以這張圖有16*16=256個pixel，裡面的箭頭代表兩個值</a:t>
            </a:r>
          </a:p>
          <a:p>
            <a:r>
              <a:t>箭頭朝向的值代表pixel變動的方向，箭頭的長度代表變動的大小</a:t>
            </a:r>
          </a:p>
          <a:p>
            <a:endParaRPr/>
          </a:p>
        </p:txBody>
      </p:sp>
    </p:spTree>
    <p:extLst>
      <p:ext uri="{BB962C8B-B14F-4D97-AF65-F5344CB8AC3E}">
        <p14:creationId xmlns:p14="http://schemas.microsoft.com/office/powerpoint/2010/main" val="13486854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 name="Shape 260"/>
          <p:cNvSpPr>
            <a:spLocks noGrp="1" noRot="1" noChangeAspect="1"/>
          </p:cNvSpPr>
          <p:nvPr>
            <p:ph type="sldImg"/>
          </p:nvPr>
        </p:nvSpPr>
        <p:spPr>
          <a:prstGeom prst="rect">
            <a:avLst/>
          </a:prstGeom>
        </p:spPr>
        <p:txBody>
          <a:bodyPr/>
          <a:lstStyle/>
          <a:p>
            <a:endParaRPr/>
          </a:p>
        </p:txBody>
      </p:sp>
      <p:sp>
        <p:nvSpPr>
          <p:cNvPr id="261" name="Shape 261"/>
          <p:cNvSpPr>
            <a:spLocks noGrp="1"/>
          </p:cNvSpPr>
          <p:nvPr>
            <p:ph type="body" sz="quarter" idx="1"/>
          </p:nvPr>
        </p:nvSpPr>
        <p:spPr>
          <a:prstGeom prst="rect">
            <a:avLst/>
          </a:prstGeom>
        </p:spPr>
        <p:txBody>
          <a:bodyPr/>
          <a:lstStyle/>
          <a:p>
            <a:r>
              <a:t>把每個箭頭的長度做為統計的單位，對每個方向去做統計</a:t>
            </a:r>
          </a:p>
          <a:p>
            <a:r>
              <a:t>假設往左邊方向的箭頭數量比較多，</a:t>
            </a:r>
          </a:p>
          <a:p>
            <a:r>
              <a:t>就表示這個特徵往左邊方向pixel變化的程度比較大</a:t>
            </a:r>
          </a:p>
        </p:txBody>
      </p:sp>
    </p:spTree>
    <p:extLst>
      <p:ext uri="{BB962C8B-B14F-4D97-AF65-F5344CB8AC3E}">
        <p14:creationId xmlns:p14="http://schemas.microsoft.com/office/powerpoint/2010/main" val="14854388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 name="Shape 279"/>
          <p:cNvSpPr>
            <a:spLocks noGrp="1" noRot="1" noChangeAspect="1"/>
          </p:cNvSpPr>
          <p:nvPr>
            <p:ph type="sldImg"/>
          </p:nvPr>
        </p:nvSpPr>
        <p:spPr>
          <a:prstGeom prst="rect">
            <a:avLst/>
          </a:prstGeom>
        </p:spPr>
        <p:txBody>
          <a:bodyPr/>
          <a:lstStyle/>
          <a:p>
            <a:endParaRPr/>
          </a:p>
        </p:txBody>
      </p:sp>
      <p:sp>
        <p:nvSpPr>
          <p:cNvPr id="280" name="Shape 280"/>
          <p:cNvSpPr>
            <a:spLocks noGrp="1"/>
          </p:cNvSpPr>
          <p:nvPr>
            <p:ph type="body" sz="quarter" idx="1"/>
          </p:nvPr>
        </p:nvSpPr>
        <p:spPr>
          <a:prstGeom prst="rect">
            <a:avLst/>
          </a:prstGeom>
        </p:spPr>
        <p:txBody>
          <a:bodyPr/>
          <a:lstStyle/>
          <a:p>
            <a:r>
              <a:t>然後一樣把每個箭頭的長度做為統計的單位，對每個方向去做統計</a:t>
            </a:r>
          </a:p>
          <a:p>
            <a:r>
              <a:t>假設往左邊方向的箭頭數量比較多，就表示這個特徵往左邊方向pixel變化的程度比較大</a:t>
            </a:r>
          </a:p>
          <a:p>
            <a:r>
              <a:t>這個方向可以當作特徵點的對齊的方向，兩個相同的特徵點這個方向會是一樣的，所以就可以轉到相同的角度做比對</a:t>
            </a:r>
          </a:p>
          <a:p>
            <a:r>
              <a:t>接著就是把特徵點做正規化，讓特徵點有相同的值可以比較</a:t>
            </a:r>
          </a:p>
          <a:p>
            <a:r>
              <a:t>然後把特徵點切成16個區塊，每個區塊去統計8個方向箭頭的值</a:t>
            </a:r>
          </a:p>
          <a:p>
            <a:r>
              <a:t>，跟上面使用一樣的統計方法，然後就會產生右邊這個圖</a:t>
            </a:r>
          </a:p>
          <a:p>
            <a:r>
              <a:t>每一格是對應一個區塊，存放8方向的資料，一個箭頭代表一個方向的值</a:t>
            </a:r>
          </a:p>
          <a:p>
            <a:r>
              <a:t>所以有16格，就形成128維的向量，sift descriptor</a:t>
            </a:r>
          </a:p>
          <a:p>
            <a:endParaRPr/>
          </a:p>
        </p:txBody>
      </p:sp>
    </p:spTree>
    <p:extLst>
      <p:ext uri="{BB962C8B-B14F-4D97-AF65-F5344CB8AC3E}">
        <p14:creationId xmlns:p14="http://schemas.microsoft.com/office/powerpoint/2010/main" val="623905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 name="Shape 284"/>
          <p:cNvSpPr>
            <a:spLocks noGrp="1" noRot="1" noChangeAspect="1"/>
          </p:cNvSpPr>
          <p:nvPr>
            <p:ph type="sldImg"/>
          </p:nvPr>
        </p:nvSpPr>
        <p:spPr>
          <a:prstGeom prst="rect">
            <a:avLst/>
          </a:prstGeom>
        </p:spPr>
        <p:txBody>
          <a:bodyPr/>
          <a:lstStyle/>
          <a:p>
            <a:endParaRPr/>
          </a:p>
        </p:txBody>
      </p:sp>
      <p:sp>
        <p:nvSpPr>
          <p:cNvPr id="285" name="Shape 285"/>
          <p:cNvSpPr>
            <a:spLocks noGrp="1"/>
          </p:cNvSpPr>
          <p:nvPr>
            <p:ph type="body" sz="quarter" idx="1"/>
          </p:nvPr>
        </p:nvSpPr>
        <p:spPr>
          <a:prstGeom prst="rect">
            <a:avLst/>
          </a:prstGeom>
        </p:spPr>
        <p:txBody>
          <a:bodyPr/>
          <a:lstStyle/>
          <a:p>
            <a:r>
              <a:t>一張圖片要分類時，必須將圖片上的特徵分類到訓練集裡的特徵</a:t>
            </a:r>
          </a:p>
          <a:p>
            <a:r>
              <a:t>但訓練集裡面的特徵很多，要每個都比對會很沒有效率</a:t>
            </a:r>
          </a:p>
          <a:p>
            <a:r>
              <a:t>所以必須從訓練集挑選合適的特徵數量來比對</a:t>
            </a:r>
          </a:p>
        </p:txBody>
      </p:sp>
    </p:spTree>
    <p:extLst>
      <p:ext uri="{BB962C8B-B14F-4D97-AF65-F5344CB8AC3E}">
        <p14:creationId xmlns:p14="http://schemas.microsoft.com/office/powerpoint/2010/main" val="30446729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 name="Shape 290"/>
          <p:cNvSpPr>
            <a:spLocks noGrp="1" noRot="1" noChangeAspect="1"/>
          </p:cNvSpPr>
          <p:nvPr>
            <p:ph type="sldImg"/>
          </p:nvPr>
        </p:nvSpPr>
        <p:spPr>
          <a:prstGeom prst="rect">
            <a:avLst/>
          </a:prstGeom>
        </p:spPr>
        <p:txBody>
          <a:bodyPr/>
          <a:lstStyle/>
          <a:p>
            <a:endParaRPr/>
          </a:p>
        </p:txBody>
      </p:sp>
      <p:sp>
        <p:nvSpPr>
          <p:cNvPr id="291" name="Shape 291"/>
          <p:cNvSpPr>
            <a:spLocks noGrp="1"/>
          </p:cNvSpPr>
          <p:nvPr>
            <p:ph type="body" sz="quarter" idx="1"/>
          </p:nvPr>
        </p:nvSpPr>
        <p:spPr>
          <a:prstGeom prst="rect">
            <a:avLst/>
          </a:prstGeom>
        </p:spPr>
        <p:txBody>
          <a:bodyPr/>
          <a:lstStyle/>
          <a:p>
            <a:r>
              <a:t>這邊是一個示意圖，每張圖片的特徵都會對應到一個128維度的向量</a:t>
            </a:r>
          </a:p>
        </p:txBody>
      </p:sp>
    </p:spTree>
    <p:extLst>
      <p:ext uri="{BB962C8B-B14F-4D97-AF65-F5344CB8AC3E}">
        <p14:creationId xmlns:p14="http://schemas.microsoft.com/office/powerpoint/2010/main" val="23068981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 name="Shape 296"/>
          <p:cNvSpPr>
            <a:spLocks noGrp="1" noRot="1" noChangeAspect="1"/>
          </p:cNvSpPr>
          <p:nvPr>
            <p:ph type="sldImg"/>
          </p:nvPr>
        </p:nvSpPr>
        <p:spPr>
          <a:prstGeom prst="rect">
            <a:avLst/>
          </a:prstGeom>
        </p:spPr>
        <p:txBody>
          <a:bodyPr/>
          <a:lstStyle/>
          <a:p>
            <a:endParaRPr/>
          </a:p>
        </p:txBody>
      </p:sp>
      <p:sp>
        <p:nvSpPr>
          <p:cNvPr id="297" name="Shape 297"/>
          <p:cNvSpPr>
            <a:spLocks noGrp="1"/>
          </p:cNvSpPr>
          <p:nvPr>
            <p:ph type="body" sz="quarter" idx="1"/>
          </p:nvPr>
        </p:nvSpPr>
        <p:spPr>
          <a:prstGeom prst="rect">
            <a:avLst/>
          </a:prstGeom>
        </p:spPr>
        <p:txBody>
          <a:bodyPr/>
          <a:lstStyle/>
          <a:p>
            <a:r>
              <a:t>在這個向量空間，兩個距離最近的特徵，表示這兩個特徵最相似</a:t>
            </a:r>
          </a:p>
        </p:txBody>
      </p:sp>
    </p:spTree>
    <p:extLst>
      <p:ext uri="{BB962C8B-B14F-4D97-AF65-F5344CB8AC3E}">
        <p14:creationId xmlns:p14="http://schemas.microsoft.com/office/powerpoint/2010/main" val="18545218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 name="Shape 302"/>
          <p:cNvSpPr>
            <a:spLocks noGrp="1" noRot="1" noChangeAspect="1"/>
          </p:cNvSpPr>
          <p:nvPr>
            <p:ph type="sldImg"/>
          </p:nvPr>
        </p:nvSpPr>
        <p:spPr>
          <a:prstGeom prst="rect">
            <a:avLst/>
          </a:prstGeom>
        </p:spPr>
        <p:txBody>
          <a:bodyPr/>
          <a:lstStyle/>
          <a:p>
            <a:endParaRPr/>
          </a:p>
        </p:txBody>
      </p:sp>
      <p:sp>
        <p:nvSpPr>
          <p:cNvPr id="303" name="Shape 303"/>
          <p:cNvSpPr>
            <a:spLocks noGrp="1"/>
          </p:cNvSpPr>
          <p:nvPr>
            <p:ph type="body" sz="quarter" idx="1"/>
          </p:nvPr>
        </p:nvSpPr>
        <p:spPr>
          <a:prstGeom prst="rect">
            <a:avLst/>
          </a:prstGeom>
        </p:spPr>
        <p:txBody>
          <a:bodyPr/>
          <a:lstStyle/>
          <a:p>
            <a:r>
              <a:t>所以我們可以利用分群的方法，縮減訓練集裡的特徵</a:t>
            </a:r>
          </a:p>
          <a:p>
            <a:r>
              <a:t>分群的方法我們是使用k-means的方法</a:t>
            </a:r>
          </a:p>
          <a:p>
            <a:r>
              <a:t>將訓練集的特徵分成k個群</a:t>
            </a:r>
          </a:p>
        </p:txBody>
      </p:sp>
    </p:spTree>
    <p:extLst>
      <p:ext uri="{BB962C8B-B14F-4D97-AF65-F5344CB8AC3E}">
        <p14:creationId xmlns:p14="http://schemas.microsoft.com/office/powerpoint/2010/main" val="6393963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 name="Shape 308"/>
          <p:cNvSpPr>
            <a:spLocks noGrp="1" noRot="1" noChangeAspect="1"/>
          </p:cNvSpPr>
          <p:nvPr>
            <p:ph type="sldImg"/>
          </p:nvPr>
        </p:nvSpPr>
        <p:spPr>
          <a:prstGeom prst="rect">
            <a:avLst/>
          </a:prstGeom>
        </p:spPr>
        <p:txBody>
          <a:bodyPr/>
          <a:lstStyle/>
          <a:p>
            <a:endParaRPr/>
          </a:p>
        </p:txBody>
      </p:sp>
      <p:sp>
        <p:nvSpPr>
          <p:cNvPr id="309" name="Shape 309"/>
          <p:cNvSpPr>
            <a:spLocks noGrp="1"/>
          </p:cNvSpPr>
          <p:nvPr>
            <p:ph type="body" sz="quarter" idx="1"/>
          </p:nvPr>
        </p:nvSpPr>
        <p:spPr>
          <a:prstGeom prst="rect">
            <a:avLst/>
          </a:prstGeom>
        </p:spPr>
        <p:txBody>
          <a:bodyPr/>
          <a:lstStyle/>
          <a:p>
            <a:r>
              <a:t>左邊訓練集的特徵點都對應到一個向量，k-means分成的k個群，群的中心就是訓練集代表的向量，這些代表的向量相當於是一組詞彙</a:t>
            </a:r>
          </a:p>
        </p:txBody>
      </p:sp>
    </p:spTree>
    <p:extLst>
      <p:ext uri="{BB962C8B-B14F-4D97-AF65-F5344CB8AC3E}">
        <p14:creationId xmlns:p14="http://schemas.microsoft.com/office/powerpoint/2010/main" val="28791874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 name="Shape 316"/>
          <p:cNvSpPr>
            <a:spLocks noGrp="1" noRot="1" noChangeAspect="1"/>
          </p:cNvSpPr>
          <p:nvPr>
            <p:ph type="sldImg"/>
          </p:nvPr>
        </p:nvSpPr>
        <p:spPr>
          <a:prstGeom prst="rect">
            <a:avLst/>
          </a:prstGeom>
        </p:spPr>
        <p:txBody>
          <a:bodyPr/>
          <a:lstStyle/>
          <a:p>
            <a:endParaRPr/>
          </a:p>
        </p:txBody>
      </p:sp>
      <p:sp>
        <p:nvSpPr>
          <p:cNvPr id="317" name="Shape 317"/>
          <p:cNvSpPr>
            <a:spLocks noGrp="1"/>
          </p:cNvSpPr>
          <p:nvPr>
            <p:ph type="body" sz="quarter" idx="1"/>
          </p:nvPr>
        </p:nvSpPr>
        <p:spPr>
          <a:prstGeom prst="rect">
            <a:avLst/>
          </a:prstGeom>
        </p:spPr>
        <p:txBody>
          <a:bodyPr/>
          <a:lstStyle/>
          <a:p>
            <a:r>
              <a:t>一張要分類的圖片，特徵點會分類到最靠近的群中心</a:t>
            </a:r>
          </a:p>
          <a:p>
            <a:r>
              <a:t>圖片的特徵就是一個詞，這些群的中心就是詞彙表</a:t>
            </a:r>
          </a:p>
          <a:p>
            <a:r>
              <a:t>分類就像是在這個詞彙表找到這個詞</a:t>
            </a:r>
          </a:p>
        </p:txBody>
      </p:sp>
    </p:spTree>
    <p:extLst>
      <p:ext uri="{BB962C8B-B14F-4D97-AF65-F5344CB8AC3E}">
        <p14:creationId xmlns:p14="http://schemas.microsoft.com/office/powerpoint/2010/main" val="23216569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 name="Shape 321"/>
          <p:cNvSpPr>
            <a:spLocks noGrp="1" noRot="1" noChangeAspect="1"/>
          </p:cNvSpPr>
          <p:nvPr>
            <p:ph type="sldImg"/>
          </p:nvPr>
        </p:nvSpPr>
        <p:spPr>
          <a:prstGeom prst="rect">
            <a:avLst/>
          </a:prstGeom>
        </p:spPr>
        <p:txBody>
          <a:bodyPr/>
          <a:lstStyle/>
          <a:p>
            <a:endParaRPr/>
          </a:p>
        </p:txBody>
      </p:sp>
      <p:sp>
        <p:nvSpPr>
          <p:cNvPr id="322" name="Shape 322"/>
          <p:cNvSpPr>
            <a:spLocks noGrp="1"/>
          </p:cNvSpPr>
          <p:nvPr>
            <p:ph type="body" sz="quarter" idx="1"/>
          </p:nvPr>
        </p:nvSpPr>
        <p:spPr>
          <a:prstGeom prst="rect">
            <a:avLst/>
          </a:prstGeom>
        </p:spPr>
        <p:txBody>
          <a:bodyPr/>
          <a:lstStyle/>
          <a:p>
            <a:r>
              <a:t>訓練集的詞彙必須多到能夠區別不同的圖片</a:t>
            </a:r>
          </a:p>
          <a:p>
            <a:r>
              <a:t>但是不能多到產生雜訊影響到分類</a:t>
            </a:r>
          </a:p>
        </p:txBody>
      </p:sp>
    </p:spTree>
    <p:extLst>
      <p:ext uri="{BB962C8B-B14F-4D97-AF65-F5344CB8AC3E}">
        <p14:creationId xmlns:p14="http://schemas.microsoft.com/office/powerpoint/2010/main" val="35822591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 name="Shape 361"/>
          <p:cNvSpPr>
            <a:spLocks noGrp="1" noRot="1" noChangeAspect="1"/>
          </p:cNvSpPr>
          <p:nvPr>
            <p:ph type="sldImg"/>
          </p:nvPr>
        </p:nvSpPr>
        <p:spPr>
          <a:prstGeom prst="rect">
            <a:avLst/>
          </a:prstGeom>
        </p:spPr>
        <p:txBody>
          <a:bodyPr/>
          <a:lstStyle/>
          <a:p>
            <a:endParaRPr/>
          </a:p>
        </p:txBody>
      </p:sp>
      <p:sp>
        <p:nvSpPr>
          <p:cNvPr id="362" name="Shape 362"/>
          <p:cNvSpPr>
            <a:spLocks noGrp="1"/>
          </p:cNvSpPr>
          <p:nvPr>
            <p:ph type="body" sz="quarter" idx="1"/>
          </p:nvPr>
        </p:nvSpPr>
        <p:spPr>
          <a:prstGeom prst="rect">
            <a:avLst/>
          </a:prstGeom>
        </p:spPr>
        <p:txBody>
          <a:bodyPr/>
          <a:lstStyle/>
          <a:p>
            <a:r>
              <a:t>對所有圖片的特徵做完分類後，每張圖片會統計各類別特徵的個數</a:t>
            </a:r>
          </a:p>
          <a:p>
            <a:r>
              <a:t>每張圖片都可以用一個向量表示，裡面分量的內容就是圖片各類別特徵的數量</a:t>
            </a:r>
          </a:p>
        </p:txBody>
      </p:sp>
    </p:spTree>
    <p:extLst>
      <p:ext uri="{BB962C8B-B14F-4D97-AF65-F5344CB8AC3E}">
        <p14:creationId xmlns:p14="http://schemas.microsoft.com/office/powerpoint/2010/main" val="15497254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 name="Shape 366"/>
          <p:cNvSpPr>
            <a:spLocks noGrp="1" noRot="1" noChangeAspect="1"/>
          </p:cNvSpPr>
          <p:nvPr>
            <p:ph type="sldImg"/>
          </p:nvPr>
        </p:nvSpPr>
        <p:spPr>
          <a:prstGeom prst="rect">
            <a:avLst/>
          </a:prstGeom>
        </p:spPr>
        <p:txBody>
          <a:bodyPr/>
          <a:lstStyle/>
          <a:p>
            <a:endParaRPr/>
          </a:p>
        </p:txBody>
      </p:sp>
      <p:sp>
        <p:nvSpPr>
          <p:cNvPr id="367" name="Shape 367"/>
          <p:cNvSpPr>
            <a:spLocks noGrp="1"/>
          </p:cNvSpPr>
          <p:nvPr>
            <p:ph type="body" sz="quarter" idx="1"/>
          </p:nvPr>
        </p:nvSpPr>
        <p:spPr>
          <a:prstGeom prst="rect">
            <a:avLst/>
          </a:prstGeom>
        </p:spPr>
        <p:txBody>
          <a:bodyPr/>
          <a:lstStyle/>
          <a:p>
            <a:r>
              <a:t>依據圖片上各類別特徵數量的資訊，來分類圖片的類別</a:t>
            </a:r>
          </a:p>
          <a:p>
            <a:r>
              <a:t>這篇論文用的分類的方法有兩種</a:t>
            </a:r>
          </a:p>
          <a:p>
            <a:r>
              <a:t>Naive Bayes</a:t>
            </a:r>
          </a:p>
          <a:p>
            <a:r>
              <a:t>SVM</a:t>
            </a:r>
          </a:p>
        </p:txBody>
      </p:sp>
    </p:spTree>
    <p:extLst>
      <p:ext uri="{BB962C8B-B14F-4D97-AF65-F5344CB8AC3E}">
        <p14:creationId xmlns:p14="http://schemas.microsoft.com/office/powerpoint/2010/main" val="28607224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 name="Shape 377"/>
          <p:cNvSpPr>
            <a:spLocks noGrp="1" noRot="1" noChangeAspect="1"/>
          </p:cNvSpPr>
          <p:nvPr>
            <p:ph type="sldImg"/>
          </p:nvPr>
        </p:nvSpPr>
        <p:spPr>
          <a:prstGeom prst="rect">
            <a:avLst/>
          </a:prstGeom>
        </p:spPr>
        <p:txBody>
          <a:bodyPr/>
          <a:lstStyle/>
          <a:p>
            <a:endParaRPr/>
          </a:p>
        </p:txBody>
      </p:sp>
      <p:sp>
        <p:nvSpPr>
          <p:cNvPr id="378" name="Shape 378"/>
          <p:cNvSpPr>
            <a:spLocks noGrp="1"/>
          </p:cNvSpPr>
          <p:nvPr>
            <p:ph type="body" sz="quarter" idx="1"/>
          </p:nvPr>
        </p:nvSpPr>
        <p:spPr>
          <a:prstGeom prst="rect">
            <a:avLst/>
          </a:prstGeom>
        </p:spPr>
        <p:txBody>
          <a:bodyPr/>
          <a:lstStyle/>
          <a:p>
            <a:r>
              <a:t>計算向量在每個類別的機率，利用這個機率當作分類的分數</a:t>
            </a:r>
          </a:p>
        </p:txBody>
      </p:sp>
    </p:spTree>
    <p:extLst>
      <p:ext uri="{BB962C8B-B14F-4D97-AF65-F5344CB8AC3E}">
        <p14:creationId xmlns:p14="http://schemas.microsoft.com/office/powerpoint/2010/main" val="26901062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 name="Shape 385"/>
          <p:cNvSpPr>
            <a:spLocks noGrp="1" noRot="1" noChangeAspect="1"/>
          </p:cNvSpPr>
          <p:nvPr>
            <p:ph type="sldImg"/>
          </p:nvPr>
        </p:nvSpPr>
        <p:spPr>
          <a:prstGeom prst="rect">
            <a:avLst/>
          </a:prstGeom>
        </p:spPr>
        <p:txBody>
          <a:bodyPr/>
          <a:lstStyle/>
          <a:p>
            <a:endParaRPr/>
          </a:p>
        </p:txBody>
      </p:sp>
      <p:sp>
        <p:nvSpPr>
          <p:cNvPr id="386" name="Shape 386"/>
          <p:cNvSpPr>
            <a:spLocks noGrp="1"/>
          </p:cNvSpPr>
          <p:nvPr>
            <p:ph type="body" sz="quarter" idx="1"/>
          </p:nvPr>
        </p:nvSpPr>
        <p:spPr>
          <a:prstGeom prst="rect">
            <a:avLst/>
          </a:prstGeom>
        </p:spPr>
        <p:txBody>
          <a:bodyPr/>
          <a:lstStyle/>
          <a:p>
            <a:r>
              <a:t>計算圖片在每個類別的機率，利用這個機率當作分類的分數</a:t>
            </a:r>
          </a:p>
        </p:txBody>
      </p:sp>
    </p:spTree>
    <p:extLst>
      <p:ext uri="{BB962C8B-B14F-4D97-AF65-F5344CB8AC3E}">
        <p14:creationId xmlns:p14="http://schemas.microsoft.com/office/powerpoint/2010/main" val="35923157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 name="Shape 395"/>
          <p:cNvSpPr>
            <a:spLocks noGrp="1" noRot="1" noChangeAspect="1"/>
          </p:cNvSpPr>
          <p:nvPr>
            <p:ph type="sldImg"/>
          </p:nvPr>
        </p:nvSpPr>
        <p:spPr>
          <a:prstGeom prst="rect">
            <a:avLst/>
          </a:prstGeom>
        </p:spPr>
        <p:txBody>
          <a:bodyPr/>
          <a:lstStyle/>
          <a:p>
            <a:endParaRPr/>
          </a:p>
        </p:txBody>
      </p:sp>
      <p:sp>
        <p:nvSpPr>
          <p:cNvPr id="396" name="Shape 396"/>
          <p:cNvSpPr>
            <a:spLocks noGrp="1"/>
          </p:cNvSpPr>
          <p:nvPr>
            <p:ph type="body" sz="quarter" idx="1"/>
          </p:nvPr>
        </p:nvSpPr>
        <p:spPr>
          <a:prstGeom prst="rect">
            <a:avLst/>
          </a:prstGeom>
        </p:spPr>
        <p:txBody>
          <a:bodyPr/>
          <a:lstStyle/>
          <a:p>
            <a:r>
              <a:t>1776張</a:t>
            </a:r>
          </a:p>
        </p:txBody>
      </p:sp>
    </p:spTree>
    <p:extLst>
      <p:ext uri="{BB962C8B-B14F-4D97-AF65-F5344CB8AC3E}">
        <p14:creationId xmlns:p14="http://schemas.microsoft.com/office/powerpoint/2010/main" val="23975527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 name="Shape 408"/>
          <p:cNvSpPr>
            <a:spLocks noGrp="1" noRot="1" noChangeAspect="1"/>
          </p:cNvSpPr>
          <p:nvPr>
            <p:ph type="sldImg"/>
          </p:nvPr>
        </p:nvSpPr>
        <p:spPr>
          <a:prstGeom prst="rect">
            <a:avLst/>
          </a:prstGeom>
        </p:spPr>
        <p:txBody>
          <a:bodyPr/>
          <a:lstStyle/>
          <a:p>
            <a:endParaRPr/>
          </a:p>
        </p:txBody>
      </p:sp>
      <p:sp>
        <p:nvSpPr>
          <p:cNvPr id="409" name="Shape 409"/>
          <p:cNvSpPr>
            <a:spLocks noGrp="1"/>
          </p:cNvSpPr>
          <p:nvPr>
            <p:ph type="body" sz="quarter" idx="1"/>
          </p:nvPr>
        </p:nvSpPr>
        <p:spPr>
          <a:prstGeom prst="rect">
            <a:avLst/>
          </a:prstGeom>
        </p:spPr>
        <p:txBody>
          <a:bodyPr/>
          <a:lstStyle/>
          <a:p>
            <a:r>
              <a:t>上面是naive bays實驗的結果，下面是svm的結果</a:t>
            </a:r>
          </a:p>
          <a:p>
            <a:r>
              <a:t>上面是正確類別，左邊是預測的類別，中間數字的單位是百分比</a:t>
            </a:r>
          </a:p>
          <a:p>
            <a:r>
              <a:t>臉這一欄，預測正確是臉的有76％，剩下的是預測到其他錯誤類別的%數</a:t>
            </a:r>
          </a:p>
          <a:p>
            <a:r>
              <a:t>mean rank: 正確類別分數排名的平均值</a:t>
            </a:r>
          </a:p>
        </p:txBody>
      </p:sp>
    </p:spTree>
    <p:extLst>
      <p:ext uri="{BB962C8B-B14F-4D97-AF65-F5344CB8AC3E}">
        <p14:creationId xmlns:p14="http://schemas.microsoft.com/office/powerpoint/2010/main" val="6079325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 name="Shape 418"/>
          <p:cNvSpPr>
            <a:spLocks noGrp="1" noRot="1" noChangeAspect="1"/>
          </p:cNvSpPr>
          <p:nvPr>
            <p:ph type="sldImg"/>
          </p:nvPr>
        </p:nvSpPr>
        <p:spPr>
          <a:prstGeom prst="rect">
            <a:avLst/>
          </a:prstGeom>
        </p:spPr>
        <p:txBody>
          <a:bodyPr/>
          <a:lstStyle/>
          <a:p>
            <a:endParaRPr/>
          </a:p>
        </p:txBody>
      </p:sp>
      <p:sp>
        <p:nvSpPr>
          <p:cNvPr id="419" name="Shape 419"/>
          <p:cNvSpPr>
            <a:spLocks noGrp="1"/>
          </p:cNvSpPr>
          <p:nvPr>
            <p:ph type="body" sz="quarter" idx="1"/>
          </p:nvPr>
        </p:nvSpPr>
        <p:spPr>
          <a:prstGeom prst="rect">
            <a:avLst/>
          </a:prstGeom>
        </p:spPr>
        <p:txBody>
          <a:bodyPr/>
          <a:lstStyle/>
          <a:p>
            <a:r>
              <a:t>450+1074+651+720+826=3721</a:t>
            </a:r>
          </a:p>
        </p:txBody>
      </p:sp>
    </p:spTree>
    <p:extLst>
      <p:ext uri="{BB962C8B-B14F-4D97-AF65-F5344CB8AC3E}">
        <p14:creationId xmlns:p14="http://schemas.microsoft.com/office/powerpoint/2010/main" val="29390348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大標題與副標題">
    <p:spTree>
      <p:nvGrpSpPr>
        <p:cNvPr id="1" name=""/>
        <p:cNvGrpSpPr/>
        <p:nvPr/>
      </p:nvGrpSpPr>
      <p:grpSpPr>
        <a:xfrm>
          <a:off x="0" y="0"/>
          <a:ext cx="0" cy="0"/>
          <a:chOff x="0" y="0"/>
          <a:chExt cx="0" cy="0"/>
        </a:xfrm>
      </p:grpSpPr>
      <p:sp>
        <p:nvSpPr>
          <p:cNvPr id="11" name="Shape 11"/>
          <p:cNvSpPr>
            <a:spLocks noGrp="1"/>
          </p:cNvSpPr>
          <p:nvPr>
            <p:ph type="title"/>
          </p:nvPr>
        </p:nvSpPr>
        <p:spPr>
          <a:xfrm>
            <a:off x="1270000" y="1638300"/>
            <a:ext cx="10464800" cy="3302000"/>
          </a:xfrm>
          <a:prstGeom prst="rect">
            <a:avLst/>
          </a:prstGeom>
        </p:spPr>
        <p:txBody>
          <a:bodyPr anchor="b"/>
          <a:lstStyle/>
          <a:p>
            <a:r>
              <a:t>大標題文字</a:t>
            </a:r>
          </a:p>
        </p:txBody>
      </p:sp>
      <p:sp>
        <p:nvSpPr>
          <p:cNvPr id="12" name="Shape 12"/>
          <p:cNvSpPr>
            <a:spLocks noGrp="1"/>
          </p:cNvSpPr>
          <p:nvPr>
            <p:ph type="body" sz="quarter" idx="1"/>
          </p:nvPr>
        </p:nvSpPr>
        <p:spPr>
          <a:xfrm>
            <a:off x="1270000" y="5029200"/>
            <a:ext cx="10464800" cy="1130300"/>
          </a:xfrm>
          <a:prstGeom prst="rect">
            <a:avLst/>
          </a:prstGeom>
        </p:spPr>
        <p:txBody>
          <a:bodyPr anchor="t"/>
          <a:lstStyle>
            <a:lvl1pPr marL="0" indent="0" algn="ctr">
              <a:spcBef>
                <a:spcPts val="0"/>
              </a:spcBef>
              <a:buSzTx/>
              <a:buNone/>
              <a:defRPr sz="3200"/>
            </a:lvl1pPr>
            <a:lvl2pPr marL="0" indent="228600" algn="ctr">
              <a:spcBef>
                <a:spcPts val="0"/>
              </a:spcBef>
              <a:buSzTx/>
              <a:buNone/>
              <a:defRPr sz="3200"/>
            </a:lvl2pPr>
            <a:lvl3pPr marL="0" indent="457200" algn="ctr">
              <a:spcBef>
                <a:spcPts val="0"/>
              </a:spcBef>
              <a:buSzTx/>
              <a:buNone/>
              <a:defRPr sz="3200"/>
            </a:lvl3pPr>
            <a:lvl4pPr marL="0" indent="685800" algn="ctr">
              <a:spcBef>
                <a:spcPts val="0"/>
              </a:spcBef>
              <a:buSzTx/>
              <a:buNone/>
              <a:defRPr sz="3200"/>
            </a:lvl4pPr>
            <a:lvl5pPr marL="0" indent="914400" algn="ctr">
              <a:spcBef>
                <a:spcPts val="0"/>
              </a:spcBef>
              <a:buSzTx/>
              <a:buNone/>
              <a:defRPr sz="3200"/>
            </a:lvl5pPr>
          </a:lstStyle>
          <a:p>
            <a:r>
              <a:t>內文層級一</a:t>
            </a:r>
          </a:p>
          <a:p>
            <a:pPr lvl="1"/>
            <a:r>
              <a:t>內文層級二</a:t>
            </a:r>
          </a:p>
          <a:p>
            <a:pPr lvl="2"/>
            <a:r>
              <a:t>內文層級三</a:t>
            </a:r>
          </a:p>
          <a:p>
            <a:pPr lvl="3"/>
            <a:r>
              <a:t>內文層級四</a:t>
            </a:r>
          </a:p>
          <a:p>
            <a:pPr lvl="4"/>
            <a:r>
              <a:t>內文層級五</a:t>
            </a:r>
          </a:p>
        </p:txBody>
      </p:sp>
      <p:sp>
        <p:nvSpPr>
          <p:cNvPr id="13" name="Shape 13"/>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照片 - 水平">
    <p:spTree>
      <p:nvGrpSpPr>
        <p:cNvPr id="1" name=""/>
        <p:cNvGrpSpPr/>
        <p:nvPr/>
      </p:nvGrpSpPr>
      <p:grpSpPr>
        <a:xfrm>
          <a:off x="0" y="0"/>
          <a:ext cx="0" cy="0"/>
          <a:chOff x="0" y="0"/>
          <a:chExt cx="0" cy="0"/>
        </a:xfrm>
      </p:grpSpPr>
      <p:sp>
        <p:nvSpPr>
          <p:cNvPr id="20" name="Shape 20"/>
          <p:cNvSpPr>
            <a:spLocks noGrp="1"/>
          </p:cNvSpPr>
          <p:nvPr>
            <p:ph type="pic" idx="13"/>
          </p:nvPr>
        </p:nvSpPr>
        <p:spPr>
          <a:xfrm>
            <a:off x="1606550" y="635000"/>
            <a:ext cx="9779000" cy="5918200"/>
          </a:xfrm>
          <a:prstGeom prst="rect">
            <a:avLst/>
          </a:prstGeom>
        </p:spPr>
        <p:txBody>
          <a:bodyPr lIns="91439" tIns="45719" rIns="91439" bIns="45719" anchor="t">
            <a:noAutofit/>
          </a:bodyPr>
          <a:lstStyle/>
          <a:p>
            <a:endParaRPr/>
          </a:p>
        </p:txBody>
      </p:sp>
      <p:sp>
        <p:nvSpPr>
          <p:cNvPr id="21" name="Shape 21"/>
          <p:cNvSpPr>
            <a:spLocks noGrp="1"/>
          </p:cNvSpPr>
          <p:nvPr>
            <p:ph type="title"/>
          </p:nvPr>
        </p:nvSpPr>
        <p:spPr>
          <a:xfrm>
            <a:off x="1270000" y="6718300"/>
            <a:ext cx="10464800" cy="1422400"/>
          </a:xfrm>
          <a:prstGeom prst="rect">
            <a:avLst/>
          </a:prstGeom>
        </p:spPr>
        <p:txBody>
          <a:bodyPr anchor="b"/>
          <a:lstStyle/>
          <a:p>
            <a:r>
              <a:t>大標題文字</a:t>
            </a:r>
          </a:p>
        </p:txBody>
      </p:sp>
      <p:sp>
        <p:nvSpPr>
          <p:cNvPr id="22" name="Shape 22"/>
          <p:cNvSpPr>
            <a:spLocks noGrp="1"/>
          </p:cNvSpPr>
          <p:nvPr>
            <p:ph type="body" sz="quarter" idx="1"/>
          </p:nvPr>
        </p:nvSpPr>
        <p:spPr>
          <a:xfrm>
            <a:off x="1270000" y="8191500"/>
            <a:ext cx="10464800" cy="1130300"/>
          </a:xfrm>
          <a:prstGeom prst="rect">
            <a:avLst/>
          </a:prstGeom>
        </p:spPr>
        <p:txBody>
          <a:bodyPr anchor="t"/>
          <a:lstStyle>
            <a:lvl1pPr marL="0" indent="0" algn="ctr">
              <a:spcBef>
                <a:spcPts val="0"/>
              </a:spcBef>
              <a:buSzTx/>
              <a:buNone/>
              <a:defRPr sz="3200"/>
            </a:lvl1pPr>
            <a:lvl2pPr marL="0" indent="228600" algn="ctr">
              <a:spcBef>
                <a:spcPts val="0"/>
              </a:spcBef>
              <a:buSzTx/>
              <a:buNone/>
              <a:defRPr sz="3200"/>
            </a:lvl2pPr>
            <a:lvl3pPr marL="0" indent="457200" algn="ctr">
              <a:spcBef>
                <a:spcPts val="0"/>
              </a:spcBef>
              <a:buSzTx/>
              <a:buNone/>
              <a:defRPr sz="3200"/>
            </a:lvl3pPr>
            <a:lvl4pPr marL="0" indent="685800" algn="ctr">
              <a:spcBef>
                <a:spcPts val="0"/>
              </a:spcBef>
              <a:buSzTx/>
              <a:buNone/>
              <a:defRPr sz="3200"/>
            </a:lvl4pPr>
            <a:lvl5pPr marL="0" indent="914400" algn="ctr">
              <a:spcBef>
                <a:spcPts val="0"/>
              </a:spcBef>
              <a:buSzTx/>
              <a:buNone/>
              <a:defRPr sz="3200"/>
            </a:lvl5pPr>
          </a:lstStyle>
          <a:p>
            <a:r>
              <a:t>內文層級一</a:t>
            </a:r>
          </a:p>
          <a:p>
            <a:pPr lvl="1"/>
            <a:r>
              <a:t>內文層級二</a:t>
            </a:r>
          </a:p>
          <a:p>
            <a:pPr lvl="2"/>
            <a:r>
              <a:t>內文層級三</a:t>
            </a:r>
          </a:p>
          <a:p>
            <a:pPr lvl="3"/>
            <a:r>
              <a:t>內文層級四</a:t>
            </a:r>
          </a:p>
          <a:p>
            <a:pPr lvl="4"/>
            <a:r>
              <a:t>內文層級五</a:t>
            </a:r>
          </a:p>
        </p:txBody>
      </p:sp>
      <p:sp>
        <p:nvSpPr>
          <p:cNvPr id="23" name="Shape 23"/>
          <p:cNvSpPr>
            <a:spLocks noGrp="1"/>
          </p:cNvSpPr>
          <p:nvPr>
            <p:ph type="sldNum" sz="quarter" idx="2"/>
          </p:nvPr>
        </p:nvSpPr>
        <p:spPr>
          <a:xfrm>
            <a:off x="6311798" y="9245600"/>
            <a:ext cx="368504" cy="3810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大標題 - 中央">
    <p:spTree>
      <p:nvGrpSpPr>
        <p:cNvPr id="1" name=""/>
        <p:cNvGrpSpPr/>
        <p:nvPr/>
      </p:nvGrpSpPr>
      <p:grpSpPr>
        <a:xfrm>
          <a:off x="0" y="0"/>
          <a:ext cx="0" cy="0"/>
          <a:chOff x="0" y="0"/>
          <a:chExt cx="0" cy="0"/>
        </a:xfrm>
      </p:grpSpPr>
      <p:sp>
        <p:nvSpPr>
          <p:cNvPr id="30" name="Shape 30"/>
          <p:cNvSpPr>
            <a:spLocks noGrp="1"/>
          </p:cNvSpPr>
          <p:nvPr>
            <p:ph type="title"/>
          </p:nvPr>
        </p:nvSpPr>
        <p:spPr>
          <a:xfrm>
            <a:off x="1270000" y="3225800"/>
            <a:ext cx="10464800" cy="3302000"/>
          </a:xfrm>
          <a:prstGeom prst="rect">
            <a:avLst/>
          </a:prstGeom>
        </p:spPr>
        <p:txBody>
          <a:bodyPr/>
          <a:lstStyle/>
          <a:p>
            <a:r>
              <a:t>大標題文字</a:t>
            </a:r>
          </a:p>
        </p:txBody>
      </p:sp>
      <p:sp>
        <p:nvSpPr>
          <p:cNvPr id="31" name="Shape 3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照片 - 直式">
    <p:spTree>
      <p:nvGrpSpPr>
        <p:cNvPr id="1" name=""/>
        <p:cNvGrpSpPr/>
        <p:nvPr/>
      </p:nvGrpSpPr>
      <p:grpSpPr>
        <a:xfrm>
          <a:off x="0" y="0"/>
          <a:ext cx="0" cy="0"/>
          <a:chOff x="0" y="0"/>
          <a:chExt cx="0" cy="0"/>
        </a:xfrm>
      </p:grpSpPr>
      <p:sp>
        <p:nvSpPr>
          <p:cNvPr id="38" name="Shape 38"/>
          <p:cNvSpPr>
            <a:spLocks noGrp="1"/>
          </p:cNvSpPr>
          <p:nvPr>
            <p:ph type="pic" sz="half" idx="13"/>
          </p:nvPr>
        </p:nvSpPr>
        <p:spPr>
          <a:xfrm>
            <a:off x="6718300" y="635000"/>
            <a:ext cx="5334000" cy="8229600"/>
          </a:xfrm>
          <a:prstGeom prst="rect">
            <a:avLst/>
          </a:prstGeom>
        </p:spPr>
        <p:txBody>
          <a:bodyPr lIns="91439" tIns="45719" rIns="91439" bIns="45719" anchor="t">
            <a:noAutofit/>
          </a:bodyPr>
          <a:lstStyle/>
          <a:p>
            <a:endParaRPr/>
          </a:p>
        </p:txBody>
      </p:sp>
      <p:sp>
        <p:nvSpPr>
          <p:cNvPr id="39" name="Shape 39"/>
          <p:cNvSpPr>
            <a:spLocks noGrp="1"/>
          </p:cNvSpPr>
          <p:nvPr>
            <p:ph type="title"/>
          </p:nvPr>
        </p:nvSpPr>
        <p:spPr>
          <a:xfrm>
            <a:off x="952500" y="635000"/>
            <a:ext cx="5334000" cy="3987800"/>
          </a:xfrm>
          <a:prstGeom prst="rect">
            <a:avLst/>
          </a:prstGeom>
        </p:spPr>
        <p:txBody>
          <a:bodyPr anchor="b"/>
          <a:lstStyle>
            <a:lvl1pPr>
              <a:defRPr sz="6000"/>
            </a:lvl1pPr>
          </a:lstStyle>
          <a:p>
            <a:r>
              <a:t>大標題文字</a:t>
            </a:r>
          </a:p>
        </p:txBody>
      </p:sp>
      <p:sp>
        <p:nvSpPr>
          <p:cNvPr id="40" name="Shape 40"/>
          <p:cNvSpPr>
            <a:spLocks noGrp="1"/>
          </p:cNvSpPr>
          <p:nvPr>
            <p:ph type="body" sz="quarter" idx="1"/>
          </p:nvPr>
        </p:nvSpPr>
        <p:spPr>
          <a:xfrm>
            <a:off x="952500" y="4762500"/>
            <a:ext cx="5334000" cy="4102100"/>
          </a:xfrm>
          <a:prstGeom prst="rect">
            <a:avLst/>
          </a:prstGeom>
        </p:spPr>
        <p:txBody>
          <a:bodyPr anchor="t"/>
          <a:lstStyle>
            <a:lvl1pPr marL="0" indent="0" algn="ctr">
              <a:spcBef>
                <a:spcPts val="0"/>
              </a:spcBef>
              <a:buSzTx/>
              <a:buNone/>
              <a:defRPr sz="3200"/>
            </a:lvl1pPr>
            <a:lvl2pPr marL="0" indent="228600" algn="ctr">
              <a:spcBef>
                <a:spcPts val="0"/>
              </a:spcBef>
              <a:buSzTx/>
              <a:buNone/>
              <a:defRPr sz="3200"/>
            </a:lvl2pPr>
            <a:lvl3pPr marL="0" indent="457200" algn="ctr">
              <a:spcBef>
                <a:spcPts val="0"/>
              </a:spcBef>
              <a:buSzTx/>
              <a:buNone/>
              <a:defRPr sz="3200"/>
            </a:lvl3pPr>
            <a:lvl4pPr marL="0" indent="685800" algn="ctr">
              <a:spcBef>
                <a:spcPts val="0"/>
              </a:spcBef>
              <a:buSzTx/>
              <a:buNone/>
              <a:defRPr sz="3200"/>
            </a:lvl4pPr>
            <a:lvl5pPr marL="0" indent="914400" algn="ctr">
              <a:spcBef>
                <a:spcPts val="0"/>
              </a:spcBef>
              <a:buSzTx/>
              <a:buNone/>
              <a:defRPr sz="3200"/>
            </a:lvl5pPr>
          </a:lstStyle>
          <a:p>
            <a:r>
              <a:t>內文層級一</a:t>
            </a:r>
          </a:p>
          <a:p>
            <a:pPr lvl="1"/>
            <a:r>
              <a:t>內文層級二</a:t>
            </a:r>
          </a:p>
          <a:p>
            <a:pPr lvl="2"/>
            <a:r>
              <a:t>內文層級三</a:t>
            </a:r>
          </a:p>
          <a:p>
            <a:pPr lvl="3"/>
            <a:r>
              <a:t>內文層級四</a:t>
            </a:r>
          </a:p>
          <a:p>
            <a:pPr lvl="4"/>
            <a:r>
              <a:t>內文層級五</a:t>
            </a:r>
          </a:p>
        </p:txBody>
      </p:sp>
      <p:sp>
        <p:nvSpPr>
          <p:cNvPr id="41" name="Shape 4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大標題 - 上方">
    <p:spTree>
      <p:nvGrpSpPr>
        <p:cNvPr id="1" name=""/>
        <p:cNvGrpSpPr/>
        <p:nvPr/>
      </p:nvGrpSpPr>
      <p:grpSpPr>
        <a:xfrm>
          <a:off x="0" y="0"/>
          <a:ext cx="0" cy="0"/>
          <a:chOff x="0" y="0"/>
          <a:chExt cx="0" cy="0"/>
        </a:xfrm>
      </p:grpSpPr>
      <p:sp>
        <p:nvSpPr>
          <p:cNvPr id="48" name="Shape 48"/>
          <p:cNvSpPr>
            <a:spLocks noGrp="1"/>
          </p:cNvSpPr>
          <p:nvPr>
            <p:ph type="title"/>
          </p:nvPr>
        </p:nvSpPr>
        <p:spPr>
          <a:prstGeom prst="rect">
            <a:avLst/>
          </a:prstGeom>
        </p:spPr>
        <p:txBody>
          <a:bodyPr/>
          <a:lstStyle/>
          <a:p>
            <a:r>
              <a:t>大標題文字</a:t>
            </a:r>
          </a:p>
        </p:txBody>
      </p:sp>
      <p:sp>
        <p:nvSpPr>
          <p:cNvPr id="49" name="Shape 49"/>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大標題與項目符號">
    <p:spTree>
      <p:nvGrpSpPr>
        <p:cNvPr id="1" name=""/>
        <p:cNvGrpSpPr/>
        <p:nvPr/>
      </p:nvGrpSpPr>
      <p:grpSpPr>
        <a:xfrm>
          <a:off x="0" y="0"/>
          <a:ext cx="0" cy="0"/>
          <a:chOff x="0" y="0"/>
          <a:chExt cx="0" cy="0"/>
        </a:xfrm>
      </p:grpSpPr>
      <p:sp>
        <p:nvSpPr>
          <p:cNvPr id="56" name="Shape 56"/>
          <p:cNvSpPr>
            <a:spLocks noGrp="1"/>
          </p:cNvSpPr>
          <p:nvPr>
            <p:ph type="title"/>
          </p:nvPr>
        </p:nvSpPr>
        <p:spPr>
          <a:prstGeom prst="rect">
            <a:avLst/>
          </a:prstGeom>
        </p:spPr>
        <p:txBody>
          <a:bodyPr/>
          <a:lstStyle/>
          <a:p>
            <a:r>
              <a:t>大標題文字</a:t>
            </a:r>
          </a:p>
        </p:txBody>
      </p:sp>
      <p:sp>
        <p:nvSpPr>
          <p:cNvPr id="57" name="Shape 57"/>
          <p:cNvSpPr>
            <a:spLocks noGrp="1"/>
          </p:cNvSpPr>
          <p:nvPr>
            <p:ph type="body" idx="1"/>
          </p:nvPr>
        </p:nvSpPr>
        <p:spPr>
          <a:prstGeom prst="rect">
            <a:avLst/>
          </a:prstGeom>
        </p:spPr>
        <p:txBody>
          <a:bodyPr/>
          <a:lstStyle/>
          <a:p>
            <a:r>
              <a:t>內文層級一</a:t>
            </a:r>
          </a:p>
          <a:p>
            <a:pPr lvl="1"/>
            <a:r>
              <a:t>內文層級二</a:t>
            </a:r>
          </a:p>
          <a:p>
            <a:pPr lvl="2"/>
            <a:r>
              <a:t>內文層級三</a:t>
            </a:r>
          </a:p>
          <a:p>
            <a:pPr lvl="3"/>
            <a:r>
              <a:t>內文層級四</a:t>
            </a:r>
          </a:p>
          <a:p>
            <a:pPr lvl="4"/>
            <a:r>
              <a:t>內文層級五</a:t>
            </a:r>
          </a:p>
        </p:txBody>
      </p:sp>
      <p:sp>
        <p:nvSpPr>
          <p:cNvPr id="58" name="Shape 58"/>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大標題、項目符號與照片">
    <p:spTree>
      <p:nvGrpSpPr>
        <p:cNvPr id="1" name=""/>
        <p:cNvGrpSpPr/>
        <p:nvPr/>
      </p:nvGrpSpPr>
      <p:grpSpPr>
        <a:xfrm>
          <a:off x="0" y="0"/>
          <a:ext cx="0" cy="0"/>
          <a:chOff x="0" y="0"/>
          <a:chExt cx="0" cy="0"/>
        </a:xfrm>
      </p:grpSpPr>
      <p:sp>
        <p:nvSpPr>
          <p:cNvPr id="65" name="Shape 65"/>
          <p:cNvSpPr>
            <a:spLocks noGrp="1"/>
          </p:cNvSpPr>
          <p:nvPr>
            <p:ph type="pic" sz="half" idx="13"/>
          </p:nvPr>
        </p:nvSpPr>
        <p:spPr>
          <a:xfrm>
            <a:off x="6718300" y="2603500"/>
            <a:ext cx="5334000" cy="6286500"/>
          </a:xfrm>
          <a:prstGeom prst="rect">
            <a:avLst/>
          </a:prstGeom>
        </p:spPr>
        <p:txBody>
          <a:bodyPr lIns="91439" tIns="45719" rIns="91439" bIns="45719" anchor="t">
            <a:noAutofit/>
          </a:bodyPr>
          <a:lstStyle/>
          <a:p>
            <a:endParaRPr/>
          </a:p>
        </p:txBody>
      </p:sp>
      <p:sp>
        <p:nvSpPr>
          <p:cNvPr id="66" name="Shape 66"/>
          <p:cNvSpPr>
            <a:spLocks noGrp="1"/>
          </p:cNvSpPr>
          <p:nvPr>
            <p:ph type="title"/>
          </p:nvPr>
        </p:nvSpPr>
        <p:spPr>
          <a:prstGeom prst="rect">
            <a:avLst/>
          </a:prstGeom>
        </p:spPr>
        <p:txBody>
          <a:bodyPr/>
          <a:lstStyle/>
          <a:p>
            <a:r>
              <a:t>大標題文字</a:t>
            </a:r>
          </a:p>
        </p:txBody>
      </p:sp>
      <p:sp>
        <p:nvSpPr>
          <p:cNvPr id="67" name="Shape 67"/>
          <p:cNvSpPr>
            <a:spLocks noGrp="1"/>
          </p:cNvSpPr>
          <p:nvPr>
            <p:ph type="body" sz="half" idx="1"/>
          </p:nvPr>
        </p:nvSpPr>
        <p:spPr>
          <a:xfrm>
            <a:off x="952500" y="2603500"/>
            <a:ext cx="5334000" cy="6286500"/>
          </a:xfrm>
          <a:prstGeom prst="rect">
            <a:avLst/>
          </a:prstGeom>
        </p:spPr>
        <p:txBody>
          <a:bodyPr/>
          <a:lstStyle>
            <a:lvl1pPr marL="342900" indent="-342900">
              <a:spcBef>
                <a:spcPts val="3200"/>
              </a:spcBef>
              <a:defRPr sz="2800"/>
            </a:lvl1pPr>
            <a:lvl2pPr marL="685800" indent="-342900">
              <a:spcBef>
                <a:spcPts val="3200"/>
              </a:spcBef>
              <a:defRPr sz="2800"/>
            </a:lvl2pPr>
            <a:lvl3pPr marL="1028700" indent="-342900">
              <a:spcBef>
                <a:spcPts val="3200"/>
              </a:spcBef>
              <a:defRPr sz="2800"/>
            </a:lvl3pPr>
            <a:lvl4pPr marL="1371600" indent="-342900">
              <a:spcBef>
                <a:spcPts val="3200"/>
              </a:spcBef>
              <a:defRPr sz="2800"/>
            </a:lvl4pPr>
            <a:lvl5pPr marL="1714500" indent="-342900">
              <a:spcBef>
                <a:spcPts val="3200"/>
              </a:spcBef>
              <a:defRPr sz="2800"/>
            </a:lvl5pPr>
          </a:lstStyle>
          <a:p>
            <a:r>
              <a:t>內文層級一</a:t>
            </a:r>
          </a:p>
          <a:p>
            <a:pPr lvl="1"/>
            <a:r>
              <a:t>內文層級二</a:t>
            </a:r>
          </a:p>
          <a:p>
            <a:pPr lvl="2"/>
            <a:r>
              <a:t>內文層級三</a:t>
            </a:r>
          </a:p>
          <a:p>
            <a:pPr lvl="3"/>
            <a:r>
              <a:t>內文層級四</a:t>
            </a:r>
          </a:p>
          <a:p>
            <a:pPr lvl="4"/>
            <a:r>
              <a:t>內文層級五</a:t>
            </a:r>
          </a:p>
        </p:txBody>
      </p:sp>
      <p:sp>
        <p:nvSpPr>
          <p:cNvPr id="68" name="Shape 68"/>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項目符號">
    <p:spTree>
      <p:nvGrpSpPr>
        <p:cNvPr id="1" name=""/>
        <p:cNvGrpSpPr/>
        <p:nvPr/>
      </p:nvGrpSpPr>
      <p:grpSpPr>
        <a:xfrm>
          <a:off x="0" y="0"/>
          <a:ext cx="0" cy="0"/>
          <a:chOff x="0" y="0"/>
          <a:chExt cx="0" cy="0"/>
        </a:xfrm>
      </p:grpSpPr>
      <p:sp>
        <p:nvSpPr>
          <p:cNvPr id="75" name="Shape 75"/>
          <p:cNvSpPr>
            <a:spLocks noGrp="1"/>
          </p:cNvSpPr>
          <p:nvPr>
            <p:ph type="body" idx="1"/>
          </p:nvPr>
        </p:nvSpPr>
        <p:spPr>
          <a:xfrm>
            <a:off x="952500" y="1270000"/>
            <a:ext cx="11099800" cy="7213600"/>
          </a:xfrm>
          <a:prstGeom prst="rect">
            <a:avLst/>
          </a:prstGeom>
        </p:spPr>
        <p:txBody>
          <a:bodyPr/>
          <a:lstStyle/>
          <a:p>
            <a:r>
              <a:t>內文層級一</a:t>
            </a:r>
          </a:p>
          <a:p>
            <a:pPr lvl="1"/>
            <a:r>
              <a:t>內文層級二</a:t>
            </a:r>
          </a:p>
          <a:p>
            <a:pPr lvl="2"/>
            <a:r>
              <a:t>內文層級三</a:t>
            </a:r>
          </a:p>
          <a:p>
            <a:pPr lvl="3"/>
            <a:r>
              <a:t>內文層級四</a:t>
            </a:r>
          </a:p>
          <a:p>
            <a:pPr lvl="4"/>
            <a:r>
              <a:t>內文層級五</a:t>
            </a:r>
          </a:p>
        </p:txBody>
      </p:sp>
      <p:sp>
        <p:nvSpPr>
          <p:cNvPr id="76" name="Shape 76"/>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照片 - 一頁三張">
    <p:spTree>
      <p:nvGrpSpPr>
        <p:cNvPr id="1" name=""/>
        <p:cNvGrpSpPr/>
        <p:nvPr/>
      </p:nvGrpSpPr>
      <p:grpSpPr>
        <a:xfrm>
          <a:off x="0" y="0"/>
          <a:ext cx="0" cy="0"/>
          <a:chOff x="0" y="0"/>
          <a:chExt cx="0" cy="0"/>
        </a:xfrm>
      </p:grpSpPr>
      <p:sp>
        <p:nvSpPr>
          <p:cNvPr id="83" name="Shape 83"/>
          <p:cNvSpPr>
            <a:spLocks noGrp="1"/>
          </p:cNvSpPr>
          <p:nvPr>
            <p:ph type="pic" sz="quarter" idx="13"/>
          </p:nvPr>
        </p:nvSpPr>
        <p:spPr>
          <a:xfrm>
            <a:off x="6718300" y="5092700"/>
            <a:ext cx="5334000" cy="3771900"/>
          </a:xfrm>
          <a:prstGeom prst="rect">
            <a:avLst/>
          </a:prstGeom>
        </p:spPr>
        <p:txBody>
          <a:bodyPr lIns="91439" tIns="45719" rIns="91439" bIns="45719" anchor="t">
            <a:noAutofit/>
          </a:bodyPr>
          <a:lstStyle/>
          <a:p>
            <a:endParaRPr/>
          </a:p>
        </p:txBody>
      </p:sp>
      <p:sp>
        <p:nvSpPr>
          <p:cNvPr id="84" name="Shape 84"/>
          <p:cNvSpPr>
            <a:spLocks noGrp="1"/>
          </p:cNvSpPr>
          <p:nvPr>
            <p:ph type="pic" sz="quarter" idx="14"/>
          </p:nvPr>
        </p:nvSpPr>
        <p:spPr>
          <a:xfrm>
            <a:off x="6724518" y="889000"/>
            <a:ext cx="5334001" cy="3771900"/>
          </a:xfrm>
          <a:prstGeom prst="rect">
            <a:avLst/>
          </a:prstGeom>
        </p:spPr>
        <p:txBody>
          <a:bodyPr lIns="91439" tIns="45719" rIns="91439" bIns="45719" anchor="t">
            <a:noAutofit/>
          </a:bodyPr>
          <a:lstStyle/>
          <a:p>
            <a:endParaRPr/>
          </a:p>
        </p:txBody>
      </p:sp>
      <p:sp>
        <p:nvSpPr>
          <p:cNvPr id="85" name="Shape 85"/>
          <p:cNvSpPr>
            <a:spLocks noGrp="1"/>
          </p:cNvSpPr>
          <p:nvPr>
            <p:ph type="pic" sz="half" idx="15"/>
          </p:nvPr>
        </p:nvSpPr>
        <p:spPr>
          <a:xfrm>
            <a:off x="952500" y="889000"/>
            <a:ext cx="5334000" cy="7975600"/>
          </a:xfrm>
          <a:prstGeom prst="rect">
            <a:avLst/>
          </a:prstGeom>
        </p:spPr>
        <p:txBody>
          <a:bodyPr lIns="91439" tIns="45719" rIns="91439" bIns="45719" anchor="t">
            <a:noAutofit/>
          </a:bodyPr>
          <a:lstStyle/>
          <a:p>
            <a:endParaRPr/>
          </a:p>
        </p:txBody>
      </p:sp>
      <p:sp>
        <p:nvSpPr>
          <p:cNvPr id="86" name="Shape 86"/>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名言語錄">
    <p:spTree>
      <p:nvGrpSpPr>
        <p:cNvPr id="1" name=""/>
        <p:cNvGrpSpPr/>
        <p:nvPr/>
      </p:nvGrpSpPr>
      <p:grpSpPr>
        <a:xfrm>
          <a:off x="0" y="0"/>
          <a:ext cx="0" cy="0"/>
          <a:chOff x="0" y="0"/>
          <a:chExt cx="0" cy="0"/>
        </a:xfrm>
      </p:grpSpPr>
      <p:sp>
        <p:nvSpPr>
          <p:cNvPr id="93" name="Shape 93"/>
          <p:cNvSpPr>
            <a:spLocks noGrp="1"/>
          </p:cNvSpPr>
          <p:nvPr>
            <p:ph type="body" sz="quarter" idx="13"/>
          </p:nvPr>
        </p:nvSpPr>
        <p:spPr>
          <a:xfrm>
            <a:off x="1270000" y="6362700"/>
            <a:ext cx="10464800" cy="520700"/>
          </a:xfrm>
          <a:prstGeom prst="rect">
            <a:avLst/>
          </a:prstGeom>
        </p:spPr>
        <p:txBody>
          <a:bodyPr anchor="t">
            <a:spAutoFit/>
          </a:bodyPr>
          <a:lstStyle>
            <a:lvl1pPr marL="0" indent="0" algn="ctr">
              <a:spcBef>
                <a:spcPts val="0"/>
              </a:spcBef>
              <a:buSzTx/>
              <a:buNone/>
              <a:defRPr sz="2400">
                <a:latin typeface="Helvetica"/>
                <a:ea typeface="Helvetica"/>
                <a:cs typeface="Helvetica"/>
                <a:sym typeface="Helvetica"/>
              </a:defRPr>
            </a:lvl1pPr>
          </a:lstStyle>
          <a:p>
            <a:r>
              <a:t>–王大明</a:t>
            </a:r>
          </a:p>
        </p:txBody>
      </p:sp>
      <p:sp>
        <p:nvSpPr>
          <p:cNvPr id="94" name="Shape 94"/>
          <p:cNvSpPr>
            <a:spLocks noGrp="1"/>
          </p:cNvSpPr>
          <p:nvPr>
            <p:ph type="body" sz="quarter" idx="14"/>
          </p:nvPr>
        </p:nvSpPr>
        <p:spPr>
          <a:xfrm>
            <a:off x="1270000" y="4222750"/>
            <a:ext cx="10464800" cy="774701"/>
          </a:xfrm>
          <a:prstGeom prst="rect">
            <a:avLst/>
          </a:prstGeom>
        </p:spPr>
        <p:txBody>
          <a:bodyPr>
            <a:spAutoFit/>
          </a:bodyPr>
          <a:lstStyle>
            <a:lvl1pPr marL="0" indent="0" algn="ctr">
              <a:spcBef>
                <a:spcPts val="0"/>
              </a:spcBef>
              <a:buSzTx/>
              <a:buNone/>
              <a:defRPr sz="3800"/>
            </a:lvl1pPr>
          </a:lstStyle>
          <a:p>
            <a:r>
              <a:t>「在此輸入名言語錄。」</a:t>
            </a:r>
          </a:p>
        </p:txBody>
      </p:sp>
      <p:sp>
        <p:nvSpPr>
          <p:cNvPr id="95" name="Shape 95"/>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照片">
    <p:spTree>
      <p:nvGrpSpPr>
        <p:cNvPr id="1" name=""/>
        <p:cNvGrpSpPr/>
        <p:nvPr/>
      </p:nvGrpSpPr>
      <p:grpSpPr>
        <a:xfrm>
          <a:off x="0" y="0"/>
          <a:ext cx="0" cy="0"/>
          <a:chOff x="0" y="0"/>
          <a:chExt cx="0" cy="0"/>
        </a:xfrm>
      </p:grpSpPr>
      <p:sp>
        <p:nvSpPr>
          <p:cNvPr id="102" name="Shape 102"/>
          <p:cNvSpPr>
            <a:spLocks noGrp="1"/>
          </p:cNvSpPr>
          <p:nvPr>
            <p:ph type="pic" idx="13"/>
          </p:nvPr>
        </p:nvSpPr>
        <p:spPr>
          <a:xfrm>
            <a:off x="0" y="0"/>
            <a:ext cx="13004800" cy="9753600"/>
          </a:xfrm>
          <a:prstGeom prst="rect">
            <a:avLst/>
          </a:prstGeom>
        </p:spPr>
        <p:txBody>
          <a:bodyPr lIns="91439" tIns="45719" rIns="91439" bIns="45719" anchor="t">
            <a:noAutofit/>
          </a:bodyPr>
          <a:lstStyle/>
          <a:p>
            <a:endParaRPr/>
          </a:p>
        </p:txBody>
      </p:sp>
      <p:sp>
        <p:nvSpPr>
          <p:cNvPr id="103" name="Shape 103"/>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空白">
    <p:spTree>
      <p:nvGrpSpPr>
        <p:cNvPr id="1" name=""/>
        <p:cNvGrpSpPr/>
        <p:nvPr/>
      </p:nvGrpSpPr>
      <p:grpSpPr>
        <a:xfrm>
          <a:off x="0" y="0"/>
          <a:ext cx="0" cy="0"/>
          <a:chOff x="0" y="0"/>
          <a:chExt cx="0" cy="0"/>
        </a:xfrm>
      </p:grpSpPr>
      <p:sp>
        <p:nvSpPr>
          <p:cNvPr id="110" name="Shape 110"/>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952500" y="444500"/>
            <a:ext cx="11099800" cy="2159000"/>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normAutofit/>
          </a:bodyPr>
          <a:lstStyle/>
          <a:p>
            <a:r>
              <a:t>大標題文字</a:t>
            </a:r>
          </a:p>
        </p:txBody>
      </p:sp>
      <p:sp>
        <p:nvSpPr>
          <p:cNvPr id="3" name="Shape 3"/>
          <p:cNvSpPr>
            <a:spLocks noGrp="1"/>
          </p:cNvSpPr>
          <p:nvPr>
            <p:ph type="body" idx="1"/>
          </p:nvPr>
        </p:nvSpPr>
        <p:spPr>
          <a:xfrm>
            <a:off x="952500" y="2603500"/>
            <a:ext cx="11099800" cy="6286500"/>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normAutofit/>
          </a:bodyPr>
          <a:lstStyle/>
          <a:p>
            <a:r>
              <a:t>內文層級一</a:t>
            </a:r>
          </a:p>
          <a:p>
            <a:pPr lvl="1"/>
            <a:r>
              <a:t>內文層級二</a:t>
            </a:r>
          </a:p>
          <a:p>
            <a:pPr lvl="2"/>
            <a:r>
              <a:t>內文層級三</a:t>
            </a:r>
          </a:p>
          <a:p>
            <a:pPr lvl="3"/>
            <a:r>
              <a:t>內文層級四</a:t>
            </a:r>
          </a:p>
          <a:p>
            <a:pPr lvl="4"/>
            <a:r>
              <a:t>內文層級五</a:t>
            </a:r>
          </a:p>
        </p:txBody>
      </p:sp>
      <p:sp>
        <p:nvSpPr>
          <p:cNvPr id="4" name="Shape 4"/>
          <p:cNvSpPr>
            <a:spLocks noGrp="1"/>
          </p:cNvSpPr>
          <p:nvPr>
            <p:ph type="sldNum" sz="quarter" idx="2"/>
          </p:nvPr>
        </p:nvSpPr>
        <p:spPr>
          <a:xfrm>
            <a:off x="6311798" y="9251950"/>
            <a:ext cx="368504" cy="381000"/>
          </a:xfrm>
          <a:prstGeom prst="rect">
            <a:avLst/>
          </a:prstGeom>
          <a:ln w="12700">
            <a:miter lim="400000"/>
          </a:ln>
        </p:spPr>
        <p:txBody>
          <a:bodyPr wrap="none" lIns="50800" tIns="50800" rIns="50800" bIns="50800">
            <a:spAutoFit/>
          </a:bodyPr>
          <a:lstStyle>
            <a:lvl1pPr>
              <a:defRPr sz="18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txStyles>
    <p:titleStyle>
      <a:lvl1pPr marL="0" marR="0" indent="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Light"/>
        </a:defRPr>
      </a:lvl1pPr>
      <a:lvl2pPr marL="0" marR="0" indent="2286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Light"/>
        </a:defRPr>
      </a:lvl2pPr>
      <a:lvl3pPr marL="0" marR="0" indent="4572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Light"/>
        </a:defRPr>
      </a:lvl3pPr>
      <a:lvl4pPr marL="0" marR="0" indent="6858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Light"/>
        </a:defRPr>
      </a:lvl4pPr>
      <a:lvl5pPr marL="0" marR="0" indent="9144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Light"/>
        </a:defRPr>
      </a:lvl5pPr>
      <a:lvl6pPr marL="0" marR="0" indent="11430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Light"/>
        </a:defRPr>
      </a:lvl6pPr>
      <a:lvl7pPr marL="0" marR="0" indent="13716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Light"/>
        </a:defRPr>
      </a:lvl7pPr>
      <a:lvl8pPr marL="0" marR="0" indent="16002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Light"/>
        </a:defRPr>
      </a:lvl8pPr>
      <a:lvl9pPr marL="0" marR="0" indent="18288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Light"/>
        </a:defRPr>
      </a:lvl9pPr>
    </p:titleStyle>
    <p:bodyStyle>
      <a:lvl1pPr marL="444500" marR="0" indent="-444500" algn="l" defTabSz="584200" rtl="0" latinLnBrk="0">
        <a:lnSpc>
          <a:spcPct val="100000"/>
        </a:lnSpc>
        <a:spcBef>
          <a:spcPts val="4200"/>
        </a:spcBef>
        <a:spcAft>
          <a:spcPts val="0"/>
        </a:spcAft>
        <a:buClrTx/>
        <a:buSzPct val="75000"/>
        <a:buFontTx/>
        <a:buChar char="•"/>
        <a:tabLst/>
        <a:defRPr sz="3600" b="0" i="0" u="none" strike="noStrike" cap="none" spc="0" baseline="0">
          <a:ln>
            <a:noFill/>
          </a:ln>
          <a:solidFill>
            <a:srgbClr val="000000"/>
          </a:solidFill>
          <a:uFillTx/>
          <a:latin typeface="+mn-lt"/>
          <a:ea typeface="+mn-ea"/>
          <a:cs typeface="+mn-cs"/>
          <a:sym typeface="Helvetica Light"/>
        </a:defRPr>
      </a:lvl1pPr>
      <a:lvl2pPr marL="889000" marR="0" indent="-444500" algn="l" defTabSz="584200" rtl="0" latinLnBrk="0">
        <a:lnSpc>
          <a:spcPct val="100000"/>
        </a:lnSpc>
        <a:spcBef>
          <a:spcPts val="4200"/>
        </a:spcBef>
        <a:spcAft>
          <a:spcPts val="0"/>
        </a:spcAft>
        <a:buClrTx/>
        <a:buSzPct val="75000"/>
        <a:buFontTx/>
        <a:buChar char="•"/>
        <a:tabLst/>
        <a:defRPr sz="3600" b="0" i="0" u="none" strike="noStrike" cap="none" spc="0" baseline="0">
          <a:ln>
            <a:noFill/>
          </a:ln>
          <a:solidFill>
            <a:srgbClr val="000000"/>
          </a:solidFill>
          <a:uFillTx/>
          <a:latin typeface="+mn-lt"/>
          <a:ea typeface="+mn-ea"/>
          <a:cs typeface="+mn-cs"/>
          <a:sym typeface="Helvetica Light"/>
        </a:defRPr>
      </a:lvl2pPr>
      <a:lvl3pPr marL="1333500" marR="0" indent="-444500" algn="l" defTabSz="584200" rtl="0" latinLnBrk="0">
        <a:lnSpc>
          <a:spcPct val="100000"/>
        </a:lnSpc>
        <a:spcBef>
          <a:spcPts val="4200"/>
        </a:spcBef>
        <a:spcAft>
          <a:spcPts val="0"/>
        </a:spcAft>
        <a:buClrTx/>
        <a:buSzPct val="75000"/>
        <a:buFontTx/>
        <a:buChar char="•"/>
        <a:tabLst/>
        <a:defRPr sz="3600" b="0" i="0" u="none" strike="noStrike" cap="none" spc="0" baseline="0">
          <a:ln>
            <a:noFill/>
          </a:ln>
          <a:solidFill>
            <a:srgbClr val="000000"/>
          </a:solidFill>
          <a:uFillTx/>
          <a:latin typeface="+mn-lt"/>
          <a:ea typeface="+mn-ea"/>
          <a:cs typeface="+mn-cs"/>
          <a:sym typeface="Helvetica Light"/>
        </a:defRPr>
      </a:lvl3pPr>
      <a:lvl4pPr marL="1778000" marR="0" indent="-444500" algn="l" defTabSz="584200" rtl="0" latinLnBrk="0">
        <a:lnSpc>
          <a:spcPct val="100000"/>
        </a:lnSpc>
        <a:spcBef>
          <a:spcPts val="4200"/>
        </a:spcBef>
        <a:spcAft>
          <a:spcPts val="0"/>
        </a:spcAft>
        <a:buClrTx/>
        <a:buSzPct val="75000"/>
        <a:buFontTx/>
        <a:buChar char="•"/>
        <a:tabLst/>
        <a:defRPr sz="3600" b="0" i="0" u="none" strike="noStrike" cap="none" spc="0" baseline="0">
          <a:ln>
            <a:noFill/>
          </a:ln>
          <a:solidFill>
            <a:srgbClr val="000000"/>
          </a:solidFill>
          <a:uFillTx/>
          <a:latin typeface="+mn-lt"/>
          <a:ea typeface="+mn-ea"/>
          <a:cs typeface="+mn-cs"/>
          <a:sym typeface="Helvetica Light"/>
        </a:defRPr>
      </a:lvl4pPr>
      <a:lvl5pPr marL="2222500" marR="0" indent="-444500" algn="l" defTabSz="584200" rtl="0" latinLnBrk="0">
        <a:lnSpc>
          <a:spcPct val="100000"/>
        </a:lnSpc>
        <a:spcBef>
          <a:spcPts val="4200"/>
        </a:spcBef>
        <a:spcAft>
          <a:spcPts val="0"/>
        </a:spcAft>
        <a:buClrTx/>
        <a:buSzPct val="75000"/>
        <a:buFontTx/>
        <a:buChar char="•"/>
        <a:tabLst/>
        <a:defRPr sz="3600" b="0" i="0" u="none" strike="noStrike" cap="none" spc="0" baseline="0">
          <a:ln>
            <a:noFill/>
          </a:ln>
          <a:solidFill>
            <a:srgbClr val="000000"/>
          </a:solidFill>
          <a:uFillTx/>
          <a:latin typeface="+mn-lt"/>
          <a:ea typeface="+mn-ea"/>
          <a:cs typeface="+mn-cs"/>
          <a:sym typeface="Helvetica Light"/>
        </a:defRPr>
      </a:lvl5pPr>
      <a:lvl6pPr marL="2667000" marR="0" indent="-444500" algn="l" defTabSz="584200" rtl="0" latinLnBrk="0">
        <a:lnSpc>
          <a:spcPct val="100000"/>
        </a:lnSpc>
        <a:spcBef>
          <a:spcPts val="4200"/>
        </a:spcBef>
        <a:spcAft>
          <a:spcPts val="0"/>
        </a:spcAft>
        <a:buClrTx/>
        <a:buSzPct val="75000"/>
        <a:buFontTx/>
        <a:buChar char="•"/>
        <a:tabLst/>
        <a:defRPr sz="3600" b="0" i="0" u="none" strike="noStrike" cap="none" spc="0" baseline="0">
          <a:ln>
            <a:noFill/>
          </a:ln>
          <a:solidFill>
            <a:srgbClr val="000000"/>
          </a:solidFill>
          <a:uFillTx/>
          <a:latin typeface="+mn-lt"/>
          <a:ea typeface="+mn-ea"/>
          <a:cs typeface="+mn-cs"/>
          <a:sym typeface="Helvetica Light"/>
        </a:defRPr>
      </a:lvl6pPr>
      <a:lvl7pPr marL="3111500" marR="0" indent="-444500" algn="l" defTabSz="584200" rtl="0" latinLnBrk="0">
        <a:lnSpc>
          <a:spcPct val="100000"/>
        </a:lnSpc>
        <a:spcBef>
          <a:spcPts val="4200"/>
        </a:spcBef>
        <a:spcAft>
          <a:spcPts val="0"/>
        </a:spcAft>
        <a:buClrTx/>
        <a:buSzPct val="75000"/>
        <a:buFontTx/>
        <a:buChar char="•"/>
        <a:tabLst/>
        <a:defRPr sz="3600" b="0" i="0" u="none" strike="noStrike" cap="none" spc="0" baseline="0">
          <a:ln>
            <a:noFill/>
          </a:ln>
          <a:solidFill>
            <a:srgbClr val="000000"/>
          </a:solidFill>
          <a:uFillTx/>
          <a:latin typeface="+mn-lt"/>
          <a:ea typeface="+mn-ea"/>
          <a:cs typeface="+mn-cs"/>
          <a:sym typeface="Helvetica Light"/>
        </a:defRPr>
      </a:lvl7pPr>
      <a:lvl8pPr marL="3556000" marR="0" indent="-444500" algn="l" defTabSz="584200" rtl="0" latinLnBrk="0">
        <a:lnSpc>
          <a:spcPct val="100000"/>
        </a:lnSpc>
        <a:spcBef>
          <a:spcPts val="4200"/>
        </a:spcBef>
        <a:spcAft>
          <a:spcPts val="0"/>
        </a:spcAft>
        <a:buClrTx/>
        <a:buSzPct val="75000"/>
        <a:buFontTx/>
        <a:buChar char="•"/>
        <a:tabLst/>
        <a:defRPr sz="3600" b="0" i="0" u="none" strike="noStrike" cap="none" spc="0" baseline="0">
          <a:ln>
            <a:noFill/>
          </a:ln>
          <a:solidFill>
            <a:srgbClr val="000000"/>
          </a:solidFill>
          <a:uFillTx/>
          <a:latin typeface="+mn-lt"/>
          <a:ea typeface="+mn-ea"/>
          <a:cs typeface="+mn-cs"/>
          <a:sym typeface="Helvetica Light"/>
        </a:defRPr>
      </a:lvl8pPr>
      <a:lvl9pPr marL="4000500" marR="0" indent="-444500" algn="l" defTabSz="584200" rtl="0" latinLnBrk="0">
        <a:lnSpc>
          <a:spcPct val="100000"/>
        </a:lnSpc>
        <a:spcBef>
          <a:spcPts val="4200"/>
        </a:spcBef>
        <a:spcAft>
          <a:spcPts val="0"/>
        </a:spcAft>
        <a:buClrTx/>
        <a:buSzPct val="75000"/>
        <a:buFontTx/>
        <a:buChar char="•"/>
        <a:tabLst/>
        <a:defRPr sz="3600" b="0" i="0" u="none" strike="noStrike" cap="none" spc="0" baseline="0">
          <a:ln>
            <a:noFill/>
          </a:ln>
          <a:solidFill>
            <a:srgbClr val="000000"/>
          </a:solidFill>
          <a:uFillTx/>
          <a:latin typeface="+mn-lt"/>
          <a:ea typeface="+mn-ea"/>
          <a:cs typeface="+mn-cs"/>
          <a:sym typeface="Helvetica Light"/>
        </a:defRPr>
      </a:lvl9pPr>
    </p:bodyStyle>
    <p:otherStyle>
      <a:lvl1pPr marL="0" marR="0" indent="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1pPr>
      <a:lvl2pPr marL="0" marR="0" indent="2286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2pPr>
      <a:lvl3pPr marL="0" marR="0" indent="4572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3pPr>
      <a:lvl4pPr marL="0" marR="0" indent="6858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4pPr>
      <a:lvl5pPr marL="0" marR="0" indent="9144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5pPr>
      <a:lvl6pPr marL="0" marR="0" indent="11430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6pPr>
      <a:lvl7pPr marL="0" marR="0" indent="13716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7pPr>
      <a:lvl8pPr marL="0" marR="0" indent="16002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8pPr>
      <a:lvl9pPr marL="0" marR="0" indent="18288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7.png"/><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9.jpe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15.tif"/><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8" Type="http://schemas.openxmlformats.org/officeDocument/2006/relationships/image" Target="../media/image19.tif"/><Relationship Id="rId3" Type="http://schemas.openxmlformats.org/officeDocument/2006/relationships/image" Target="../media/image12.png"/><Relationship Id="rId7" Type="http://schemas.openxmlformats.org/officeDocument/2006/relationships/image" Target="../media/image18.tif"/><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17.png"/><Relationship Id="rId5" Type="http://schemas.openxmlformats.org/officeDocument/2006/relationships/image" Target="../media/image14.png"/><Relationship Id="rId4" Type="http://schemas.openxmlformats.org/officeDocument/2006/relationships/image" Target="../media/image16.tif"/></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15.tif"/><Relationship Id="rId5" Type="http://schemas.openxmlformats.org/officeDocument/2006/relationships/image" Target="../media/image20.tif"/><Relationship Id="rId4" Type="http://schemas.openxmlformats.org/officeDocument/2006/relationships/image" Target="../media/image18.ti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6.jpeg"/><Relationship Id="rId7"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6.xml"/><Relationship Id="rId5" Type="http://schemas.openxmlformats.org/officeDocument/2006/relationships/image" Target="../media/image31.png"/><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37.png"/></Relationships>
</file>

<file path=ppt/slides/_rels/slide2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Shape 119"/>
          <p:cNvSpPr>
            <a:spLocks noGrp="1"/>
          </p:cNvSpPr>
          <p:nvPr>
            <p:ph type="ctrTitle"/>
          </p:nvPr>
        </p:nvSpPr>
        <p:spPr>
          <a:prstGeom prst="rect">
            <a:avLst/>
          </a:prstGeom>
        </p:spPr>
        <p:txBody>
          <a:bodyPr/>
          <a:lstStyle>
            <a:lvl1pPr defTabSz="578358">
              <a:defRPr sz="7919"/>
            </a:lvl1pPr>
          </a:lstStyle>
          <a:p>
            <a:r>
              <a:t>Visual Categorization with Bags of Keypoints </a:t>
            </a:r>
            <a:endParaRPr sz="1188"/>
          </a:p>
        </p:txBody>
      </p:sp>
      <p:sp>
        <p:nvSpPr>
          <p:cNvPr id="120" name="Shape 120"/>
          <p:cNvSpPr>
            <a:spLocks noGrp="1"/>
          </p:cNvSpPr>
          <p:nvPr>
            <p:ph type="subTitle" sz="half" idx="1"/>
          </p:nvPr>
        </p:nvSpPr>
        <p:spPr>
          <a:xfrm>
            <a:off x="1270000" y="5029200"/>
            <a:ext cx="10464800" cy="2665760"/>
          </a:xfrm>
          <a:prstGeom prst="rect">
            <a:avLst/>
          </a:prstGeom>
        </p:spPr>
        <p:txBody>
          <a:bodyPr>
            <a:normAutofit fontScale="92500" lnSpcReduction="10000"/>
          </a:bodyPr>
          <a:lstStyle/>
          <a:p>
            <a:pPr defTabSz="373887">
              <a:defRPr sz="3839"/>
            </a:pPr>
            <a:r>
              <a:rPr dirty="0"/>
              <a:t>Gabriella </a:t>
            </a:r>
            <a:r>
              <a:rPr dirty="0" err="1"/>
              <a:t>Csurka</a:t>
            </a:r>
            <a:r>
              <a:rPr dirty="0"/>
              <a:t>, Christopher R. Dance, </a:t>
            </a:r>
            <a:r>
              <a:rPr dirty="0" err="1"/>
              <a:t>Lixin</a:t>
            </a:r>
            <a:r>
              <a:rPr dirty="0"/>
              <a:t> Fan, Jutta </a:t>
            </a:r>
            <a:r>
              <a:rPr dirty="0" err="1"/>
              <a:t>Willamowski</a:t>
            </a:r>
            <a:r>
              <a:rPr dirty="0"/>
              <a:t>, </a:t>
            </a:r>
            <a:r>
              <a:rPr dirty="0" err="1"/>
              <a:t>Cédric</a:t>
            </a:r>
            <a:r>
              <a:rPr dirty="0"/>
              <a:t> Bray </a:t>
            </a:r>
            <a:endParaRPr sz="768" dirty="0"/>
          </a:p>
          <a:p>
            <a:pPr defTabSz="373887">
              <a:defRPr sz="3839"/>
            </a:pPr>
            <a:r>
              <a:rPr lang="en-US" dirty="0"/>
              <a:t>Workshop on </a:t>
            </a:r>
            <a:r>
              <a:rPr lang="en-US" dirty="0" smtClean="0"/>
              <a:t>Statistical Learning </a:t>
            </a:r>
            <a:r>
              <a:rPr lang="en-US" dirty="0"/>
              <a:t>in </a:t>
            </a:r>
            <a:r>
              <a:rPr lang="en-US" dirty="0" smtClean="0"/>
              <a:t>Computer Vision</a:t>
            </a:r>
            <a:r>
              <a:rPr lang="en-US" dirty="0"/>
              <a:t>, ECCV</a:t>
            </a:r>
            <a:r>
              <a:rPr dirty="0" smtClean="0"/>
              <a:t>, France,</a:t>
            </a:r>
            <a:r>
              <a:rPr lang="en-US" dirty="0" smtClean="0"/>
              <a:t> </a:t>
            </a:r>
            <a:r>
              <a:rPr dirty="0" smtClean="0"/>
              <a:t>2004</a:t>
            </a:r>
            <a:endParaRPr dirty="0"/>
          </a:p>
          <a:p>
            <a:pPr defTabSz="373887">
              <a:defRPr sz="3839"/>
            </a:pPr>
            <a:r>
              <a:rPr dirty="0"/>
              <a:t>            </a:t>
            </a:r>
          </a:p>
        </p:txBody>
      </p:sp>
      <p:sp>
        <p:nvSpPr>
          <p:cNvPr id="121" name="Shape 121"/>
          <p:cNvSpPr/>
          <p:nvPr/>
        </p:nvSpPr>
        <p:spPr>
          <a:xfrm>
            <a:off x="8204585" y="7862421"/>
            <a:ext cx="4570162" cy="1087477"/>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p>
            <a:pPr lvl="1" indent="457200">
              <a:defRPr sz="3200"/>
            </a:pPr>
            <a:r>
              <a:rPr dirty="0" err="1" smtClean="0"/>
              <a:t>Presenter</a:t>
            </a:r>
            <a:r>
              <a:rPr dirty="0" err="1" smtClean="0">
                <a:latin typeface="微軟正黑體"/>
                <a:ea typeface="微軟正黑體"/>
                <a:cs typeface="微軟正黑體"/>
                <a:sym typeface="微軟正黑體"/>
              </a:rPr>
              <a:t>：</a:t>
            </a:r>
            <a:r>
              <a:rPr sz="3200" dirty="0" err="1" smtClean="0">
                <a:sym typeface="微軟正黑體"/>
              </a:rPr>
              <a:t>Jia</a:t>
            </a:r>
            <a:r>
              <a:rPr sz="3200" dirty="0" err="1" smtClean="0"/>
              <a:t>-Ho</a:t>
            </a:r>
            <a:r>
              <a:rPr dirty="0" err="1" smtClean="0"/>
              <a:t>ng</a:t>
            </a:r>
            <a:r>
              <a:rPr dirty="0" smtClean="0"/>
              <a:t> </a:t>
            </a:r>
            <a:r>
              <a:rPr dirty="0"/>
              <a:t>Liu</a:t>
            </a:r>
            <a:endParaRPr sz="2400" dirty="0">
              <a:latin typeface="Liberation Sans Narrow"/>
              <a:ea typeface="Liberation Sans Narrow"/>
              <a:cs typeface="Liberation Sans Narrow"/>
              <a:sym typeface="Liberation Sans Narrow"/>
            </a:endParaRPr>
          </a:p>
          <a:p>
            <a:pPr lvl="1" indent="457200">
              <a:defRPr sz="3200"/>
            </a:pPr>
            <a:r>
              <a:rPr dirty="0" smtClean="0"/>
              <a:t>Date</a:t>
            </a:r>
            <a:r>
              <a:rPr dirty="0" smtClean="0">
                <a:latin typeface="微軟正黑體"/>
                <a:ea typeface="微軟正黑體"/>
                <a:cs typeface="微軟正黑體"/>
                <a:sym typeface="微軟正黑體"/>
              </a:rPr>
              <a:t>：</a:t>
            </a:r>
            <a:r>
              <a:rPr lang="en-US" dirty="0" smtClean="0"/>
              <a:t>2016</a:t>
            </a:r>
            <a:r>
              <a:rPr dirty="0" smtClean="0"/>
              <a:t>/ </a:t>
            </a:r>
            <a:r>
              <a:rPr dirty="0"/>
              <a:t>10</a:t>
            </a:r>
            <a:r>
              <a:rPr dirty="0"/>
              <a:t>/ </a:t>
            </a:r>
            <a:r>
              <a:rPr lang="en-US" dirty="0" smtClean="0"/>
              <a:t>25</a:t>
            </a:r>
            <a:endParaRPr dirty="0"/>
          </a:p>
        </p:txBody>
      </p:sp>
    </p:spTree>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Shape 123"/>
          <p:cNvSpPr>
            <a:spLocks noGrp="1"/>
          </p:cNvSpPr>
          <p:nvPr>
            <p:ph type="title"/>
          </p:nvPr>
        </p:nvSpPr>
        <p:spPr>
          <a:prstGeom prst="rect">
            <a:avLst/>
          </a:prstGeom>
        </p:spPr>
        <p:txBody>
          <a:bodyPr/>
          <a:lstStyle>
            <a:lvl1pPr>
              <a:defRPr b="1">
                <a:latin typeface="Helvetica"/>
                <a:ea typeface="Helvetica"/>
                <a:cs typeface="Helvetica"/>
                <a:sym typeface="Helvetica"/>
              </a:defRPr>
            </a:lvl1pPr>
          </a:lstStyle>
          <a:p>
            <a:pPr>
              <a:defRPr b="0">
                <a:latin typeface="+mn-lt"/>
                <a:ea typeface="+mn-ea"/>
                <a:cs typeface="+mn-cs"/>
                <a:sym typeface="Helvetica Light"/>
              </a:defRPr>
            </a:pPr>
            <a:r>
              <a:rPr b="1">
                <a:latin typeface="Helvetica"/>
                <a:ea typeface="Helvetica"/>
                <a:cs typeface="Helvetica"/>
                <a:sym typeface="Helvetica"/>
              </a:rPr>
              <a:t>Abstract</a:t>
            </a:r>
          </a:p>
        </p:txBody>
      </p:sp>
      <p:sp>
        <p:nvSpPr>
          <p:cNvPr id="124" name="Shape 124"/>
          <p:cNvSpPr>
            <a:spLocks noGrp="1"/>
          </p:cNvSpPr>
          <p:nvPr>
            <p:ph type="body" idx="1"/>
          </p:nvPr>
        </p:nvSpPr>
        <p:spPr>
          <a:prstGeom prst="rect">
            <a:avLst/>
          </a:prstGeom>
        </p:spPr>
        <p:txBody>
          <a:bodyPr/>
          <a:lstStyle/>
          <a:p>
            <a:pPr marL="0" indent="0" defTabSz="496570">
              <a:spcBef>
                <a:spcPts val="3500"/>
              </a:spcBef>
              <a:buSzTx/>
              <a:buNone/>
              <a:defRPr sz="3060"/>
            </a:pPr>
            <a:r>
              <a:rPr dirty="0"/>
              <a:t>We present a novel method for generic visual categorization: the problem of identifying the object content of natural images while generalizing across variations inherent to the object class. This </a:t>
            </a:r>
            <a:r>
              <a:rPr i="1" dirty="0">
                <a:latin typeface="Helvetica"/>
                <a:ea typeface="Helvetica"/>
                <a:cs typeface="Helvetica"/>
                <a:sym typeface="Helvetica"/>
              </a:rPr>
              <a:t>bag of </a:t>
            </a:r>
            <a:r>
              <a:rPr i="1" dirty="0" err="1">
                <a:latin typeface="Helvetica"/>
                <a:ea typeface="Helvetica"/>
                <a:cs typeface="Helvetica"/>
                <a:sym typeface="Helvetica"/>
              </a:rPr>
              <a:t>keypoints</a:t>
            </a:r>
            <a:r>
              <a:rPr i="1" dirty="0">
                <a:latin typeface="Helvetica"/>
                <a:ea typeface="Helvetica"/>
                <a:cs typeface="Helvetica"/>
                <a:sym typeface="Helvetica"/>
              </a:rPr>
              <a:t> </a:t>
            </a:r>
            <a:r>
              <a:rPr dirty="0"/>
              <a:t>method is based on vector quantization of affine invariant descriptors of image patches. We propose and compare two alternative implementations using different classifiers: Naïve Bayes and SVM. The main advantages of the method are that it is simple, computationally efficient and intrinsically invariant. We present results for simultaneously classifying seven semantic visual categories. These results clearly demonstrate that the method is robust to background clutter and produces good categorization accuracy even without exploiting geometric information. </a:t>
            </a:r>
          </a:p>
        </p:txBody>
      </p:sp>
    </p:spTree>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a:spLocks noGrp="1"/>
          </p:cNvSpPr>
          <p:nvPr>
            <p:ph type="title"/>
          </p:nvPr>
        </p:nvSpPr>
        <p:spPr>
          <a:prstGeom prst="rect">
            <a:avLst/>
          </a:prstGeom>
        </p:spPr>
        <p:txBody>
          <a:bodyPr/>
          <a:lstStyle/>
          <a:p>
            <a:r>
              <a:t>Bag of Words Analogy</a:t>
            </a:r>
          </a:p>
        </p:txBody>
      </p:sp>
      <p:grpSp>
        <p:nvGrpSpPr>
          <p:cNvPr id="131" name="Group 131"/>
          <p:cNvGrpSpPr/>
          <p:nvPr/>
        </p:nvGrpSpPr>
        <p:grpSpPr>
          <a:xfrm>
            <a:off x="2148962" y="2087585"/>
            <a:ext cx="8236023" cy="2512902"/>
            <a:chOff x="0" y="0"/>
            <a:chExt cx="8236022" cy="2512901"/>
          </a:xfrm>
        </p:grpSpPr>
        <p:sp>
          <p:nvSpPr>
            <p:cNvPr id="127" name="Shape 127"/>
            <p:cNvSpPr/>
            <p:nvPr/>
          </p:nvSpPr>
          <p:spPr>
            <a:xfrm>
              <a:off x="0" y="402175"/>
              <a:ext cx="8236023" cy="1888799"/>
            </a:xfrm>
            <a:prstGeom prst="rect">
              <a:avLst/>
            </a:prstGeom>
            <a:solidFill>
              <a:srgbClr val="DFCCAB"/>
            </a:solidFill>
            <a:ln w="38100" cap="flat">
              <a:solidFill>
                <a:srgbClr val="5D483D"/>
              </a:solidFill>
              <a:prstDash val="solid"/>
              <a:miter lim="800000"/>
            </a:ln>
            <a:effectLst/>
          </p:spPr>
          <p:txBody>
            <a:bodyPr wrap="square" lIns="45719" tIns="45719" rIns="45719" bIns="45719" numCol="1" anchor="ctr">
              <a:noAutofit/>
            </a:bodyPr>
            <a:lstStyle/>
            <a:p>
              <a:pPr algn="l" defTabSz="914400">
                <a:defRPr sz="1800">
                  <a:latin typeface="Calibri"/>
                  <a:ea typeface="Calibri"/>
                  <a:cs typeface="Calibri"/>
                  <a:sym typeface="Calibri"/>
                </a:defRPr>
              </a:pPr>
              <a:endParaRPr/>
            </a:p>
          </p:txBody>
        </p:sp>
        <p:pic>
          <p:nvPicPr>
            <p:cNvPr id="128" name="image9.png" descr="DaVinci_face_only"/>
            <p:cNvPicPr>
              <a:picLocks noChangeAspect="1"/>
            </p:cNvPicPr>
            <p:nvPr/>
          </p:nvPicPr>
          <p:blipFill>
            <a:blip r:embed="rId3">
              <a:extLst/>
            </a:blip>
            <a:stretch>
              <a:fillRect/>
            </a:stretch>
          </p:blipFill>
          <p:spPr>
            <a:xfrm>
              <a:off x="281573" y="402175"/>
              <a:ext cx="1729038" cy="1854527"/>
            </a:xfrm>
            <a:prstGeom prst="rect">
              <a:avLst/>
            </a:prstGeom>
            <a:ln w="12700" cap="flat">
              <a:noFill/>
              <a:miter lim="400000"/>
            </a:ln>
            <a:effectLst/>
          </p:spPr>
        </p:pic>
        <p:pic>
          <p:nvPicPr>
            <p:cNvPr id="129" name="image10.png" descr="bicycle"/>
            <p:cNvPicPr>
              <a:picLocks noChangeAspect="1"/>
            </p:cNvPicPr>
            <p:nvPr/>
          </p:nvPicPr>
          <p:blipFill>
            <a:blip r:embed="rId4">
              <a:extLst/>
            </a:blip>
            <a:stretch>
              <a:fillRect/>
            </a:stretch>
          </p:blipFill>
          <p:spPr>
            <a:xfrm>
              <a:off x="2534161" y="706820"/>
              <a:ext cx="2815735" cy="1453411"/>
            </a:xfrm>
            <a:prstGeom prst="rect">
              <a:avLst/>
            </a:prstGeom>
            <a:ln w="12700" cap="flat">
              <a:noFill/>
              <a:miter lim="400000"/>
            </a:ln>
            <a:effectLst/>
          </p:spPr>
        </p:pic>
        <p:pic>
          <p:nvPicPr>
            <p:cNvPr id="130" name="image11.png" descr="violin"/>
            <p:cNvPicPr>
              <a:picLocks noChangeAspect="1"/>
            </p:cNvPicPr>
            <p:nvPr/>
          </p:nvPicPr>
          <p:blipFill>
            <a:blip r:embed="rId5">
              <a:extLst/>
            </a:blip>
            <a:stretch>
              <a:fillRect/>
            </a:stretch>
          </p:blipFill>
          <p:spPr>
            <a:xfrm rot="2301099">
              <a:off x="6476189" y="97529"/>
              <a:ext cx="1120429" cy="2317843"/>
            </a:xfrm>
            <a:prstGeom prst="rect">
              <a:avLst/>
            </a:prstGeom>
            <a:ln w="12700" cap="flat">
              <a:noFill/>
              <a:miter lim="400000"/>
            </a:ln>
            <a:effectLst/>
          </p:spPr>
        </p:pic>
      </p:grpSp>
      <p:grpSp>
        <p:nvGrpSpPr>
          <p:cNvPr id="151" name="Group 151"/>
          <p:cNvGrpSpPr/>
          <p:nvPr/>
        </p:nvGrpSpPr>
        <p:grpSpPr>
          <a:xfrm>
            <a:off x="2148961" y="4691186"/>
            <a:ext cx="8236024" cy="1152128"/>
            <a:chOff x="0" y="0"/>
            <a:chExt cx="8236022" cy="1152127"/>
          </a:xfrm>
        </p:grpSpPr>
        <p:sp>
          <p:nvSpPr>
            <p:cNvPr id="132" name="Shape 132"/>
            <p:cNvSpPr/>
            <p:nvPr/>
          </p:nvSpPr>
          <p:spPr>
            <a:xfrm>
              <a:off x="0" y="0"/>
              <a:ext cx="8236023" cy="1152128"/>
            </a:xfrm>
            <a:prstGeom prst="rect">
              <a:avLst/>
            </a:prstGeom>
            <a:solidFill>
              <a:srgbClr val="FFE4C9"/>
            </a:solidFill>
            <a:ln w="38100" cap="flat">
              <a:solidFill>
                <a:srgbClr val="864300"/>
              </a:solidFill>
              <a:prstDash val="solid"/>
              <a:miter lim="800000"/>
            </a:ln>
            <a:effectLst/>
          </p:spPr>
          <p:txBody>
            <a:bodyPr wrap="square" lIns="45719" tIns="45719" rIns="45719" bIns="45719" numCol="1" anchor="ctr">
              <a:noAutofit/>
            </a:bodyPr>
            <a:lstStyle/>
            <a:p>
              <a:pPr algn="l" defTabSz="914400">
                <a:defRPr sz="1800">
                  <a:latin typeface="Calibri"/>
                  <a:ea typeface="Calibri"/>
                  <a:cs typeface="Calibri"/>
                  <a:sym typeface="Calibri"/>
                </a:defRPr>
              </a:pPr>
              <a:endParaRPr/>
            </a:p>
          </p:txBody>
        </p:sp>
        <p:grpSp>
          <p:nvGrpSpPr>
            <p:cNvPr id="150" name="Group 150"/>
            <p:cNvGrpSpPr/>
            <p:nvPr/>
          </p:nvGrpSpPr>
          <p:grpSpPr>
            <a:xfrm>
              <a:off x="211179" y="97631"/>
              <a:ext cx="7922188" cy="953791"/>
              <a:chOff x="0" y="0"/>
              <a:chExt cx="7922186" cy="953789"/>
            </a:xfrm>
          </p:grpSpPr>
          <p:pic>
            <p:nvPicPr>
              <p:cNvPr id="133" name="image12.jpg" descr="ermine"/>
              <p:cNvPicPr>
                <a:picLocks noChangeAspect="1"/>
              </p:cNvPicPr>
              <p:nvPr/>
            </p:nvPicPr>
            <p:blipFill>
              <a:blip r:embed="rId6">
                <a:extLst/>
              </a:blip>
              <a:srcRect l="49399" t="22293" r="38897" b="71706"/>
              <a:stretch>
                <a:fillRect/>
              </a:stretch>
            </p:blipFill>
            <p:spPr>
              <a:xfrm>
                <a:off x="0" y="548271"/>
                <a:ext cx="563147" cy="339828"/>
              </a:xfrm>
              <a:prstGeom prst="rect">
                <a:avLst/>
              </a:prstGeom>
              <a:ln w="12700" cap="flat">
                <a:noFill/>
                <a:miter lim="400000"/>
              </a:ln>
              <a:effectLst/>
            </p:spPr>
          </p:pic>
          <p:pic>
            <p:nvPicPr>
              <p:cNvPr id="134" name="image12.jpg" descr="ermine"/>
              <p:cNvPicPr>
                <a:picLocks noChangeAspect="1"/>
              </p:cNvPicPr>
              <p:nvPr/>
            </p:nvPicPr>
            <p:blipFill>
              <a:blip r:embed="rId6">
                <a:extLst/>
              </a:blip>
              <a:srcRect l="57590" t="4287" r="29534" b="88853"/>
              <a:stretch>
                <a:fillRect/>
              </a:stretch>
            </p:blipFill>
            <p:spPr>
              <a:xfrm>
                <a:off x="6687369" y="487633"/>
                <a:ext cx="563148" cy="352460"/>
              </a:xfrm>
              <a:prstGeom prst="rect">
                <a:avLst/>
              </a:prstGeom>
              <a:ln w="12700" cap="flat">
                <a:noFill/>
                <a:miter lim="400000"/>
              </a:ln>
              <a:effectLst/>
            </p:spPr>
          </p:pic>
          <p:pic>
            <p:nvPicPr>
              <p:cNvPr id="135" name="image12.jpg" descr="ermine"/>
              <p:cNvPicPr>
                <a:picLocks noChangeAspect="1"/>
              </p:cNvPicPr>
              <p:nvPr/>
            </p:nvPicPr>
            <p:blipFill>
              <a:blip r:embed="rId6">
                <a:extLst/>
              </a:blip>
              <a:srcRect l="58762" t="14577" r="31876" b="79422"/>
              <a:stretch>
                <a:fillRect/>
              </a:stretch>
            </p:blipFill>
            <p:spPr>
              <a:xfrm>
                <a:off x="-1" y="2526"/>
                <a:ext cx="563148" cy="424470"/>
              </a:xfrm>
              <a:prstGeom prst="rect">
                <a:avLst/>
              </a:prstGeom>
              <a:ln w="12700" cap="flat">
                <a:noFill/>
                <a:miter lim="400000"/>
              </a:ln>
              <a:effectLst/>
            </p:spPr>
          </p:pic>
          <p:pic>
            <p:nvPicPr>
              <p:cNvPr id="136" name="image12.jpg" descr="ermine"/>
              <p:cNvPicPr>
                <a:picLocks noChangeAspect="1"/>
              </p:cNvPicPr>
              <p:nvPr/>
            </p:nvPicPr>
            <p:blipFill>
              <a:blip r:embed="rId6">
                <a:extLst/>
              </a:blip>
              <a:srcRect l="58762" t="27437" r="31876" b="67418"/>
              <a:stretch>
                <a:fillRect/>
              </a:stretch>
            </p:blipFill>
            <p:spPr>
              <a:xfrm>
                <a:off x="4927535" y="487633"/>
                <a:ext cx="563148" cy="363830"/>
              </a:xfrm>
              <a:prstGeom prst="rect">
                <a:avLst/>
              </a:prstGeom>
              <a:ln w="12700" cap="flat">
                <a:noFill/>
                <a:miter lim="400000"/>
              </a:ln>
              <a:effectLst/>
            </p:spPr>
          </p:pic>
          <p:pic>
            <p:nvPicPr>
              <p:cNvPr id="137" name="image12.jpg" descr="ermine"/>
              <p:cNvPicPr>
                <a:picLocks noChangeAspect="1"/>
              </p:cNvPicPr>
              <p:nvPr/>
            </p:nvPicPr>
            <p:blipFill>
              <a:blip r:embed="rId6">
                <a:extLst/>
              </a:blip>
              <a:srcRect l="59932" t="23150" r="31876" b="71706"/>
              <a:stretch>
                <a:fillRect/>
              </a:stretch>
            </p:blipFill>
            <p:spPr>
              <a:xfrm>
                <a:off x="1267080" y="72007"/>
                <a:ext cx="563148" cy="415627"/>
              </a:xfrm>
              <a:prstGeom prst="rect">
                <a:avLst/>
              </a:prstGeom>
              <a:ln w="12700" cap="flat">
                <a:noFill/>
                <a:miter lim="400000"/>
              </a:ln>
              <a:effectLst/>
            </p:spPr>
          </p:pic>
          <p:pic>
            <p:nvPicPr>
              <p:cNvPr id="138" name="image12.jpg" descr="ermine"/>
              <p:cNvPicPr>
                <a:picLocks noChangeAspect="1"/>
              </p:cNvPicPr>
              <p:nvPr/>
            </p:nvPicPr>
            <p:blipFill>
              <a:blip r:embed="rId6">
                <a:extLst/>
              </a:blip>
              <a:srcRect l="50568" t="17148" r="37727" b="76851"/>
              <a:stretch>
                <a:fillRect/>
              </a:stretch>
            </p:blipFill>
            <p:spPr>
              <a:xfrm>
                <a:off x="3519667" y="63164"/>
                <a:ext cx="703935" cy="424470"/>
              </a:xfrm>
              <a:prstGeom prst="rect">
                <a:avLst/>
              </a:prstGeom>
              <a:ln w="12700" cap="flat">
                <a:noFill/>
                <a:miter lim="400000"/>
              </a:ln>
              <a:effectLst/>
            </p:spPr>
          </p:pic>
          <p:pic>
            <p:nvPicPr>
              <p:cNvPr id="139" name="image10.tif" descr="bicycle"/>
              <p:cNvPicPr>
                <a:picLocks noChangeAspect="1"/>
              </p:cNvPicPr>
              <p:nvPr/>
            </p:nvPicPr>
            <p:blipFill>
              <a:blip r:embed="rId4">
                <a:extLst/>
              </a:blip>
              <a:srcRect l="67500" t="75458"/>
              <a:stretch>
                <a:fillRect/>
              </a:stretch>
            </p:blipFill>
            <p:spPr>
              <a:xfrm>
                <a:off x="1267080" y="608909"/>
                <a:ext cx="633541" cy="246344"/>
              </a:xfrm>
              <a:prstGeom prst="rect">
                <a:avLst/>
              </a:prstGeom>
              <a:ln w="12700" cap="flat">
                <a:noFill/>
                <a:miter lim="400000"/>
              </a:ln>
              <a:effectLst/>
            </p:spPr>
          </p:pic>
          <p:pic>
            <p:nvPicPr>
              <p:cNvPr id="140" name="image10.tif" descr="bicycle"/>
              <p:cNvPicPr>
                <a:picLocks noChangeAspect="1"/>
              </p:cNvPicPr>
              <p:nvPr/>
            </p:nvPicPr>
            <p:blipFill>
              <a:blip r:embed="rId4">
                <a:extLst/>
              </a:blip>
              <a:srcRect l="35001" t="49956" r="42498" b="16507"/>
              <a:stretch>
                <a:fillRect/>
              </a:stretch>
            </p:blipFill>
            <p:spPr>
              <a:xfrm>
                <a:off x="7461696" y="487633"/>
                <a:ext cx="460491" cy="352460"/>
              </a:xfrm>
              <a:prstGeom prst="rect">
                <a:avLst/>
              </a:prstGeom>
              <a:ln w="12700" cap="flat">
                <a:noFill/>
                <a:miter lim="400000"/>
              </a:ln>
              <a:effectLst/>
            </p:spPr>
          </p:pic>
          <p:pic>
            <p:nvPicPr>
              <p:cNvPr id="141" name="image10.tif" descr="bicycle"/>
              <p:cNvPicPr>
                <a:picLocks noChangeAspect="1"/>
              </p:cNvPicPr>
              <p:nvPr/>
            </p:nvPicPr>
            <p:blipFill>
              <a:blip r:embed="rId4">
                <a:extLst/>
              </a:blip>
              <a:srcRect l="20000" r="55000" b="54236"/>
              <a:stretch>
                <a:fillRect/>
              </a:stretch>
            </p:blipFill>
            <p:spPr>
              <a:xfrm>
                <a:off x="6265009" y="63164"/>
                <a:ext cx="417962" cy="392886"/>
              </a:xfrm>
              <a:prstGeom prst="rect">
                <a:avLst/>
              </a:prstGeom>
              <a:ln w="12700" cap="flat">
                <a:noFill/>
                <a:miter lim="400000"/>
              </a:ln>
              <a:effectLst/>
            </p:spPr>
          </p:pic>
          <p:pic>
            <p:nvPicPr>
              <p:cNvPr id="142" name="image10.tif" descr="bicycle"/>
              <p:cNvPicPr>
                <a:picLocks noChangeAspect="1"/>
              </p:cNvPicPr>
              <p:nvPr/>
            </p:nvPicPr>
            <p:blipFill>
              <a:blip r:embed="rId4">
                <a:extLst/>
              </a:blip>
              <a:srcRect t="33188" r="60000"/>
              <a:stretch>
                <a:fillRect/>
              </a:stretch>
            </p:blipFill>
            <p:spPr>
              <a:xfrm>
                <a:off x="2815734" y="65691"/>
                <a:ext cx="563148" cy="482581"/>
              </a:xfrm>
              <a:prstGeom prst="rect">
                <a:avLst/>
              </a:prstGeom>
              <a:ln w="12700" cap="flat">
                <a:noFill/>
                <a:miter lim="400000"/>
              </a:ln>
              <a:effectLst/>
            </p:spPr>
          </p:pic>
          <p:pic>
            <p:nvPicPr>
              <p:cNvPr id="143" name="image10.tif" descr="bicycle"/>
              <p:cNvPicPr>
                <a:picLocks noChangeAspect="1"/>
              </p:cNvPicPr>
              <p:nvPr/>
            </p:nvPicPr>
            <p:blipFill>
              <a:blip r:embed="rId4">
                <a:extLst/>
              </a:blip>
              <a:srcRect l="32499" t="20612" r="22501" b="37468"/>
              <a:stretch>
                <a:fillRect/>
              </a:stretch>
            </p:blipFill>
            <p:spPr>
              <a:xfrm>
                <a:off x="4927535" y="63164"/>
                <a:ext cx="633541" cy="303193"/>
              </a:xfrm>
              <a:prstGeom prst="rect">
                <a:avLst/>
              </a:prstGeom>
              <a:ln w="12700" cap="flat">
                <a:noFill/>
                <a:miter lim="400000"/>
              </a:ln>
              <a:effectLst/>
            </p:spPr>
          </p:pic>
          <p:pic>
            <p:nvPicPr>
              <p:cNvPr id="144" name="image11.png" descr="violin"/>
              <p:cNvPicPr>
                <a:picLocks noChangeAspect="1"/>
              </p:cNvPicPr>
              <p:nvPr/>
            </p:nvPicPr>
            <p:blipFill>
              <a:blip r:embed="rId5">
                <a:extLst/>
              </a:blip>
              <a:srcRect l="35715" t="2991" r="21427" b="71085"/>
              <a:stretch>
                <a:fillRect/>
              </a:stretch>
            </p:blipFill>
            <p:spPr>
              <a:xfrm>
                <a:off x="4337990" y="123802"/>
                <a:ext cx="519152" cy="646810"/>
              </a:xfrm>
              <a:prstGeom prst="rect">
                <a:avLst/>
              </a:prstGeom>
              <a:ln w="12700" cap="flat">
                <a:noFill/>
                <a:miter lim="400000"/>
              </a:ln>
              <a:effectLst/>
            </p:spPr>
          </p:pic>
          <p:pic>
            <p:nvPicPr>
              <p:cNvPr id="145" name="image11.png" descr="violin"/>
              <p:cNvPicPr>
                <a:picLocks noChangeAspect="1"/>
              </p:cNvPicPr>
              <p:nvPr/>
            </p:nvPicPr>
            <p:blipFill>
              <a:blip r:embed="rId5">
                <a:extLst/>
              </a:blip>
              <a:srcRect t="26286" b="52683"/>
              <a:stretch>
                <a:fillRect/>
              </a:stretch>
            </p:blipFill>
            <p:spPr>
              <a:xfrm>
                <a:off x="5631469" y="123802"/>
                <a:ext cx="774328" cy="608911"/>
              </a:xfrm>
              <a:prstGeom prst="rect">
                <a:avLst/>
              </a:prstGeom>
              <a:ln w="12700" cap="flat">
                <a:noFill/>
                <a:miter lim="400000"/>
              </a:ln>
              <a:effectLst/>
            </p:spPr>
          </p:pic>
          <p:pic>
            <p:nvPicPr>
              <p:cNvPr id="146" name="image11.png" descr="violin"/>
              <p:cNvPicPr>
                <a:picLocks noChangeAspect="1"/>
              </p:cNvPicPr>
              <p:nvPr/>
            </p:nvPicPr>
            <p:blipFill>
              <a:blip r:embed="rId5">
                <a:extLst/>
              </a:blip>
              <a:srcRect t="50054" b="26286"/>
              <a:stretch>
                <a:fillRect/>
              </a:stretch>
            </p:blipFill>
            <p:spPr>
              <a:xfrm>
                <a:off x="1971013" y="245079"/>
                <a:ext cx="844721" cy="411836"/>
              </a:xfrm>
              <a:prstGeom prst="rect">
                <a:avLst/>
              </a:prstGeom>
              <a:ln w="12700" cap="flat">
                <a:noFill/>
                <a:miter lim="400000"/>
              </a:ln>
              <a:effectLst/>
            </p:spPr>
          </p:pic>
          <p:pic>
            <p:nvPicPr>
              <p:cNvPr id="147" name="image11.png" descr="violin"/>
              <p:cNvPicPr>
                <a:picLocks noChangeAspect="1"/>
              </p:cNvPicPr>
              <p:nvPr/>
            </p:nvPicPr>
            <p:blipFill>
              <a:blip r:embed="rId5">
                <a:extLst/>
              </a:blip>
              <a:srcRect t="76233"/>
              <a:stretch>
                <a:fillRect/>
              </a:stretch>
            </p:blipFill>
            <p:spPr>
              <a:xfrm>
                <a:off x="3167701" y="608909"/>
                <a:ext cx="915115" cy="344881"/>
              </a:xfrm>
              <a:prstGeom prst="rect">
                <a:avLst/>
              </a:prstGeom>
              <a:ln w="12700" cap="flat">
                <a:noFill/>
                <a:miter lim="400000"/>
              </a:ln>
              <a:effectLst/>
            </p:spPr>
          </p:pic>
          <p:pic>
            <p:nvPicPr>
              <p:cNvPr id="148" name="image11.png" descr="violin"/>
              <p:cNvPicPr>
                <a:picLocks noChangeAspect="1"/>
              </p:cNvPicPr>
              <p:nvPr/>
            </p:nvPicPr>
            <p:blipFill>
              <a:blip r:embed="rId5">
                <a:extLst/>
              </a:blip>
              <a:srcRect l="56544" t="49945" b="18509"/>
              <a:stretch>
                <a:fillRect/>
              </a:stretch>
            </p:blipFill>
            <p:spPr>
              <a:xfrm>
                <a:off x="703933" y="184441"/>
                <a:ext cx="428931" cy="640493"/>
              </a:xfrm>
              <a:prstGeom prst="rect">
                <a:avLst/>
              </a:prstGeom>
              <a:ln w="12700" cap="flat">
                <a:noFill/>
                <a:miter lim="400000"/>
              </a:ln>
              <a:effectLst/>
            </p:spPr>
          </p:pic>
          <p:pic>
            <p:nvPicPr>
              <p:cNvPr id="149" name="image11.png" descr="violin"/>
              <p:cNvPicPr>
                <a:picLocks noChangeAspect="1"/>
              </p:cNvPicPr>
              <p:nvPr/>
            </p:nvPicPr>
            <p:blipFill>
              <a:blip r:embed="rId5">
                <a:extLst/>
              </a:blip>
              <a:srcRect t="31544" b="47426"/>
              <a:stretch>
                <a:fillRect/>
              </a:stretch>
            </p:blipFill>
            <p:spPr>
              <a:xfrm>
                <a:off x="6828156" y="-1"/>
                <a:ext cx="985507" cy="426997"/>
              </a:xfrm>
              <a:prstGeom prst="rect">
                <a:avLst/>
              </a:prstGeom>
              <a:ln w="12700" cap="flat">
                <a:noFill/>
                <a:miter lim="400000"/>
              </a:ln>
              <a:effectLst/>
            </p:spPr>
          </p:pic>
        </p:grpSp>
      </p:grpSp>
      <p:grpSp>
        <p:nvGrpSpPr>
          <p:cNvPr id="182" name="Group 182"/>
          <p:cNvGrpSpPr/>
          <p:nvPr/>
        </p:nvGrpSpPr>
        <p:grpSpPr>
          <a:xfrm>
            <a:off x="1885473" y="6291101"/>
            <a:ext cx="8763001" cy="2209801"/>
            <a:chOff x="0" y="0"/>
            <a:chExt cx="8763000" cy="2209800"/>
          </a:xfrm>
        </p:grpSpPr>
        <p:sp>
          <p:nvSpPr>
            <p:cNvPr id="152" name="Shape 152"/>
            <p:cNvSpPr/>
            <p:nvPr/>
          </p:nvSpPr>
          <p:spPr>
            <a:xfrm>
              <a:off x="6248400" y="1792287"/>
              <a:ext cx="2514600" cy="1"/>
            </a:xfrm>
            <a:prstGeom prst="line">
              <a:avLst/>
            </a:prstGeom>
            <a:noFill/>
            <a:ln w="38100" cap="flat">
              <a:solidFill>
                <a:srgbClr val="000000"/>
              </a:solidFill>
              <a:prstDash val="solid"/>
              <a:round/>
              <a:tailEnd type="triangle" w="med" len="med"/>
            </a:ln>
            <a:effectLst/>
          </p:spPr>
          <p:txBody>
            <a:bodyPr wrap="square" lIns="45719" tIns="45719" rIns="45719" bIns="45719" numCol="1" anchor="t">
              <a:noAutofit/>
            </a:bodyPr>
            <a:lstStyle/>
            <a:p>
              <a:pPr algn="l" defTabSz="914400">
                <a:defRPr sz="1800">
                  <a:latin typeface="Calibri"/>
                  <a:ea typeface="Calibri"/>
                  <a:cs typeface="Calibri"/>
                  <a:sym typeface="Calibri"/>
                </a:defRPr>
              </a:pPr>
              <a:endParaRPr/>
            </a:p>
          </p:txBody>
        </p:sp>
        <p:sp>
          <p:nvSpPr>
            <p:cNvPr id="153" name="Shape 153"/>
            <p:cNvSpPr/>
            <p:nvPr/>
          </p:nvSpPr>
          <p:spPr>
            <a:xfrm>
              <a:off x="7620000" y="-1"/>
              <a:ext cx="152400" cy="1792289"/>
            </a:xfrm>
            <a:prstGeom prst="rect">
              <a:avLst/>
            </a:prstGeom>
            <a:solidFill>
              <a:srgbClr val="B32727"/>
            </a:solidFill>
            <a:ln w="12700" cap="flat">
              <a:solidFill>
                <a:srgbClr val="000000"/>
              </a:solidFill>
              <a:prstDash val="solid"/>
              <a:miter lim="800000"/>
            </a:ln>
            <a:effectLst/>
          </p:spPr>
          <p:txBody>
            <a:bodyPr wrap="square" lIns="45719" tIns="45719" rIns="45719" bIns="45719" numCol="1" anchor="ctr">
              <a:noAutofit/>
            </a:bodyPr>
            <a:lstStyle/>
            <a:p>
              <a:pPr algn="l" defTabSz="914400">
                <a:defRPr sz="1800">
                  <a:latin typeface="Calibri"/>
                  <a:ea typeface="Calibri"/>
                  <a:cs typeface="Calibri"/>
                  <a:sym typeface="Calibri"/>
                </a:defRPr>
              </a:pPr>
              <a:endParaRPr/>
            </a:p>
          </p:txBody>
        </p:sp>
        <p:sp>
          <p:nvSpPr>
            <p:cNvPr id="154" name="Shape 154"/>
            <p:cNvSpPr/>
            <p:nvPr/>
          </p:nvSpPr>
          <p:spPr>
            <a:xfrm>
              <a:off x="6629400" y="1524000"/>
              <a:ext cx="152400" cy="268288"/>
            </a:xfrm>
            <a:prstGeom prst="rect">
              <a:avLst/>
            </a:prstGeom>
            <a:solidFill>
              <a:srgbClr val="B32727"/>
            </a:solidFill>
            <a:ln w="12700" cap="flat">
              <a:solidFill>
                <a:srgbClr val="000000"/>
              </a:solidFill>
              <a:prstDash val="solid"/>
              <a:miter lim="800000"/>
            </a:ln>
            <a:effectLst/>
          </p:spPr>
          <p:txBody>
            <a:bodyPr wrap="square" lIns="45719" tIns="45719" rIns="45719" bIns="45719" numCol="1" anchor="ctr">
              <a:noAutofit/>
            </a:bodyPr>
            <a:lstStyle/>
            <a:p>
              <a:pPr algn="l" defTabSz="914400">
                <a:defRPr sz="1800">
                  <a:latin typeface="Calibri"/>
                  <a:ea typeface="Calibri"/>
                  <a:cs typeface="Calibri"/>
                  <a:sym typeface="Calibri"/>
                </a:defRPr>
              </a:pPr>
              <a:endParaRPr/>
            </a:p>
          </p:txBody>
        </p:sp>
        <p:sp>
          <p:nvSpPr>
            <p:cNvPr id="155" name="Shape 155"/>
            <p:cNvSpPr/>
            <p:nvPr/>
          </p:nvSpPr>
          <p:spPr>
            <a:xfrm>
              <a:off x="7086600" y="1295400"/>
              <a:ext cx="152400" cy="496888"/>
            </a:xfrm>
            <a:prstGeom prst="rect">
              <a:avLst/>
            </a:prstGeom>
            <a:solidFill>
              <a:srgbClr val="B32727"/>
            </a:solidFill>
            <a:ln w="12700" cap="flat">
              <a:solidFill>
                <a:srgbClr val="000000"/>
              </a:solidFill>
              <a:prstDash val="solid"/>
              <a:miter lim="800000"/>
            </a:ln>
            <a:effectLst/>
          </p:spPr>
          <p:txBody>
            <a:bodyPr wrap="square" lIns="45719" tIns="45719" rIns="45719" bIns="45719" numCol="1" anchor="ctr">
              <a:noAutofit/>
            </a:bodyPr>
            <a:lstStyle/>
            <a:p>
              <a:pPr algn="l" defTabSz="914400">
                <a:defRPr sz="1800">
                  <a:latin typeface="Calibri"/>
                  <a:ea typeface="Calibri"/>
                  <a:cs typeface="Calibri"/>
                  <a:sym typeface="Calibri"/>
                </a:defRPr>
              </a:pPr>
              <a:endParaRPr/>
            </a:p>
          </p:txBody>
        </p:sp>
        <p:sp>
          <p:nvSpPr>
            <p:cNvPr id="156" name="Shape 156"/>
            <p:cNvSpPr/>
            <p:nvPr/>
          </p:nvSpPr>
          <p:spPr>
            <a:xfrm>
              <a:off x="8229600" y="1524000"/>
              <a:ext cx="152400" cy="268288"/>
            </a:xfrm>
            <a:prstGeom prst="rect">
              <a:avLst/>
            </a:prstGeom>
            <a:solidFill>
              <a:srgbClr val="B32727"/>
            </a:solidFill>
            <a:ln w="12700" cap="flat">
              <a:solidFill>
                <a:srgbClr val="000000"/>
              </a:solidFill>
              <a:prstDash val="solid"/>
              <a:miter lim="800000"/>
            </a:ln>
            <a:effectLst/>
          </p:spPr>
          <p:txBody>
            <a:bodyPr wrap="square" lIns="45719" tIns="45719" rIns="45719" bIns="45719" numCol="1" anchor="ctr">
              <a:noAutofit/>
            </a:bodyPr>
            <a:lstStyle/>
            <a:p>
              <a:pPr algn="l" defTabSz="914400">
                <a:defRPr sz="1800">
                  <a:latin typeface="Calibri"/>
                  <a:ea typeface="Calibri"/>
                  <a:cs typeface="Calibri"/>
                  <a:sym typeface="Calibri"/>
                </a:defRPr>
              </a:pPr>
              <a:endParaRPr/>
            </a:p>
          </p:txBody>
        </p:sp>
        <p:sp>
          <p:nvSpPr>
            <p:cNvPr id="157" name="Shape 157"/>
            <p:cNvSpPr/>
            <p:nvPr/>
          </p:nvSpPr>
          <p:spPr>
            <a:xfrm>
              <a:off x="4495800" y="1676400"/>
              <a:ext cx="152400" cy="152400"/>
            </a:xfrm>
            <a:prstGeom prst="rect">
              <a:avLst/>
            </a:prstGeom>
            <a:solidFill>
              <a:srgbClr val="FFFF00"/>
            </a:solidFill>
            <a:ln w="12700" cap="flat">
              <a:solidFill>
                <a:srgbClr val="000000"/>
              </a:solidFill>
              <a:prstDash val="solid"/>
              <a:miter lim="800000"/>
            </a:ln>
            <a:effectLst/>
          </p:spPr>
          <p:txBody>
            <a:bodyPr wrap="square" lIns="45719" tIns="45719" rIns="45719" bIns="45719" numCol="1" anchor="ctr">
              <a:noAutofit/>
            </a:bodyPr>
            <a:lstStyle/>
            <a:p>
              <a:pPr algn="l" defTabSz="914400">
                <a:defRPr sz="1800">
                  <a:latin typeface="Calibri"/>
                  <a:ea typeface="Calibri"/>
                  <a:cs typeface="Calibri"/>
                  <a:sym typeface="Calibri"/>
                </a:defRPr>
              </a:pPr>
              <a:endParaRPr/>
            </a:p>
          </p:txBody>
        </p:sp>
        <p:sp>
          <p:nvSpPr>
            <p:cNvPr id="158" name="Shape 158"/>
            <p:cNvSpPr/>
            <p:nvPr/>
          </p:nvSpPr>
          <p:spPr>
            <a:xfrm>
              <a:off x="3581400" y="685800"/>
              <a:ext cx="152400" cy="1143000"/>
            </a:xfrm>
            <a:prstGeom prst="rect">
              <a:avLst/>
            </a:prstGeom>
            <a:solidFill>
              <a:srgbClr val="FFFF00"/>
            </a:solidFill>
            <a:ln w="12700" cap="flat">
              <a:solidFill>
                <a:srgbClr val="000000"/>
              </a:solidFill>
              <a:prstDash val="solid"/>
              <a:miter lim="800000"/>
            </a:ln>
            <a:effectLst/>
          </p:spPr>
          <p:txBody>
            <a:bodyPr wrap="square" lIns="45719" tIns="45719" rIns="45719" bIns="45719" numCol="1" anchor="ctr">
              <a:noAutofit/>
            </a:bodyPr>
            <a:lstStyle/>
            <a:p>
              <a:pPr algn="l" defTabSz="914400">
                <a:defRPr sz="1800">
                  <a:latin typeface="Calibri"/>
                  <a:ea typeface="Calibri"/>
                  <a:cs typeface="Calibri"/>
                  <a:sym typeface="Calibri"/>
                </a:defRPr>
              </a:pPr>
              <a:endParaRPr/>
            </a:p>
          </p:txBody>
        </p:sp>
        <p:sp>
          <p:nvSpPr>
            <p:cNvPr id="159" name="Shape 159"/>
            <p:cNvSpPr/>
            <p:nvPr/>
          </p:nvSpPr>
          <p:spPr>
            <a:xfrm>
              <a:off x="4038600" y="1676400"/>
              <a:ext cx="152400" cy="152400"/>
            </a:xfrm>
            <a:prstGeom prst="rect">
              <a:avLst/>
            </a:prstGeom>
            <a:solidFill>
              <a:srgbClr val="FFFF00"/>
            </a:solidFill>
            <a:ln w="12700" cap="flat">
              <a:solidFill>
                <a:srgbClr val="000000"/>
              </a:solidFill>
              <a:prstDash val="solid"/>
              <a:miter lim="800000"/>
            </a:ln>
            <a:effectLst/>
          </p:spPr>
          <p:txBody>
            <a:bodyPr wrap="square" lIns="45719" tIns="45719" rIns="45719" bIns="45719" numCol="1" anchor="ctr">
              <a:noAutofit/>
            </a:bodyPr>
            <a:lstStyle/>
            <a:p>
              <a:pPr algn="l" defTabSz="914400">
                <a:defRPr sz="1800">
                  <a:latin typeface="Calibri"/>
                  <a:ea typeface="Calibri"/>
                  <a:cs typeface="Calibri"/>
                  <a:sym typeface="Calibri"/>
                </a:defRPr>
              </a:pPr>
              <a:endParaRPr/>
            </a:p>
          </p:txBody>
        </p:sp>
        <p:sp>
          <p:nvSpPr>
            <p:cNvPr id="160" name="Shape 160"/>
            <p:cNvSpPr/>
            <p:nvPr/>
          </p:nvSpPr>
          <p:spPr>
            <a:xfrm>
              <a:off x="5181600" y="1752600"/>
              <a:ext cx="152400" cy="76200"/>
            </a:xfrm>
            <a:prstGeom prst="rect">
              <a:avLst/>
            </a:prstGeom>
            <a:solidFill>
              <a:srgbClr val="FFFF00"/>
            </a:solidFill>
            <a:ln w="12700" cap="flat">
              <a:solidFill>
                <a:srgbClr val="000000"/>
              </a:solidFill>
              <a:prstDash val="solid"/>
              <a:miter lim="800000"/>
            </a:ln>
            <a:effectLst/>
          </p:spPr>
          <p:txBody>
            <a:bodyPr wrap="square" lIns="45719" tIns="45719" rIns="45719" bIns="45719" numCol="1" anchor="ctr">
              <a:noAutofit/>
            </a:bodyPr>
            <a:lstStyle/>
            <a:p>
              <a:pPr algn="l" defTabSz="914400">
                <a:defRPr sz="1800">
                  <a:latin typeface="Calibri"/>
                  <a:ea typeface="Calibri"/>
                  <a:cs typeface="Calibri"/>
                  <a:sym typeface="Calibri"/>
                </a:defRPr>
              </a:pPr>
              <a:endParaRPr/>
            </a:p>
          </p:txBody>
        </p:sp>
        <p:sp>
          <p:nvSpPr>
            <p:cNvPr id="161" name="Shape 161"/>
            <p:cNvSpPr/>
            <p:nvPr/>
          </p:nvSpPr>
          <p:spPr>
            <a:xfrm>
              <a:off x="1295400" y="1639887"/>
              <a:ext cx="152400" cy="152401"/>
            </a:xfrm>
            <a:prstGeom prst="rect">
              <a:avLst/>
            </a:prstGeom>
            <a:solidFill>
              <a:srgbClr val="B1EBA3"/>
            </a:solidFill>
            <a:ln w="12700" cap="flat">
              <a:solidFill>
                <a:srgbClr val="5D483D"/>
              </a:solidFill>
              <a:prstDash val="solid"/>
              <a:miter lim="800000"/>
            </a:ln>
            <a:effectLst/>
          </p:spPr>
          <p:txBody>
            <a:bodyPr wrap="square" lIns="45719" tIns="45719" rIns="45719" bIns="45719" numCol="1" anchor="ctr">
              <a:noAutofit/>
            </a:bodyPr>
            <a:lstStyle/>
            <a:p>
              <a:pPr algn="l" defTabSz="914400">
                <a:defRPr sz="1800">
                  <a:latin typeface="Calibri"/>
                  <a:ea typeface="Calibri"/>
                  <a:cs typeface="Calibri"/>
                  <a:sym typeface="Calibri"/>
                </a:defRPr>
              </a:pPr>
              <a:endParaRPr/>
            </a:p>
          </p:txBody>
        </p:sp>
        <p:sp>
          <p:nvSpPr>
            <p:cNvPr id="162" name="Shape 162"/>
            <p:cNvSpPr/>
            <p:nvPr/>
          </p:nvSpPr>
          <p:spPr>
            <a:xfrm>
              <a:off x="381000" y="1639887"/>
              <a:ext cx="152400" cy="152401"/>
            </a:xfrm>
            <a:prstGeom prst="rect">
              <a:avLst/>
            </a:prstGeom>
            <a:solidFill>
              <a:srgbClr val="B1EBA3"/>
            </a:solidFill>
            <a:ln w="12700" cap="flat">
              <a:solidFill>
                <a:srgbClr val="5D483D"/>
              </a:solidFill>
              <a:prstDash val="solid"/>
              <a:miter lim="800000"/>
            </a:ln>
            <a:effectLst/>
          </p:spPr>
          <p:txBody>
            <a:bodyPr wrap="square" lIns="45719" tIns="45719" rIns="45719" bIns="45719" numCol="1" anchor="ctr">
              <a:noAutofit/>
            </a:bodyPr>
            <a:lstStyle/>
            <a:p>
              <a:pPr algn="l" defTabSz="914400">
                <a:defRPr sz="1800">
                  <a:latin typeface="Calibri"/>
                  <a:ea typeface="Calibri"/>
                  <a:cs typeface="Calibri"/>
                  <a:sym typeface="Calibri"/>
                </a:defRPr>
              </a:pPr>
              <a:endParaRPr/>
            </a:p>
          </p:txBody>
        </p:sp>
        <p:sp>
          <p:nvSpPr>
            <p:cNvPr id="163" name="Shape 163"/>
            <p:cNvSpPr/>
            <p:nvPr/>
          </p:nvSpPr>
          <p:spPr>
            <a:xfrm>
              <a:off x="838200" y="192087"/>
              <a:ext cx="152400" cy="1600201"/>
            </a:xfrm>
            <a:prstGeom prst="rect">
              <a:avLst/>
            </a:prstGeom>
            <a:solidFill>
              <a:srgbClr val="B1EBA3"/>
            </a:solidFill>
            <a:ln w="12700" cap="flat">
              <a:solidFill>
                <a:srgbClr val="5D483D"/>
              </a:solidFill>
              <a:prstDash val="solid"/>
              <a:miter lim="800000"/>
            </a:ln>
            <a:effectLst/>
          </p:spPr>
          <p:txBody>
            <a:bodyPr wrap="square" lIns="45719" tIns="45719" rIns="45719" bIns="45719" numCol="1" anchor="ctr">
              <a:noAutofit/>
            </a:bodyPr>
            <a:lstStyle/>
            <a:p>
              <a:pPr algn="l" defTabSz="914400">
                <a:defRPr sz="1800">
                  <a:latin typeface="Calibri"/>
                  <a:ea typeface="Calibri"/>
                  <a:cs typeface="Calibri"/>
                  <a:sym typeface="Calibri"/>
                </a:defRPr>
              </a:pPr>
              <a:endParaRPr/>
            </a:p>
          </p:txBody>
        </p:sp>
        <p:sp>
          <p:nvSpPr>
            <p:cNvPr id="164" name="Shape 164"/>
            <p:cNvSpPr/>
            <p:nvPr/>
          </p:nvSpPr>
          <p:spPr>
            <a:xfrm>
              <a:off x="1981200" y="649287"/>
              <a:ext cx="152400" cy="1143001"/>
            </a:xfrm>
            <a:prstGeom prst="rect">
              <a:avLst/>
            </a:prstGeom>
            <a:solidFill>
              <a:srgbClr val="B1EBA3"/>
            </a:solidFill>
            <a:ln w="12700" cap="flat">
              <a:solidFill>
                <a:srgbClr val="5D483D"/>
              </a:solidFill>
              <a:prstDash val="solid"/>
              <a:miter lim="800000"/>
            </a:ln>
            <a:effectLst/>
          </p:spPr>
          <p:txBody>
            <a:bodyPr wrap="square" lIns="45719" tIns="45719" rIns="45719" bIns="45719" numCol="1" anchor="ctr">
              <a:noAutofit/>
            </a:bodyPr>
            <a:lstStyle/>
            <a:p>
              <a:pPr algn="l" defTabSz="914400">
                <a:defRPr sz="1800">
                  <a:latin typeface="Calibri"/>
                  <a:ea typeface="Calibri"/>
                  <a:cs typeface="Calibri"/>
                  <a:sym typeface="Calibri"/>
                </a:defRPr>
              </a:pPr>
              <a:endParaRPr/>
            </a:p>
          </p:txBody>
        </p:sp>
        <p:sp>
          <p:nvSpPr>
            <p:cNvPr id="165" name="Shape 165"/>
            <p:cNvSpPr/>
            <p:nvPr/>
          </p:nvSpPr>
          <p:spPr>
            <a:xfrm>
              <a:off x="0" y="1792287"/>
              <a:ext cx="2514600" cy="1"/>
            </a:xfrm>
            <a:prstGeom prst="line">
              <a:avLst/>
            </a:prstGeom>
            <a:noFill/>
            <a:ln w="38100" cap="flat">
              <a:solidFill>
                <a:srgbClr val="000000"/>
              </a:solidFill>
              <a:prstDash val="solid"/>
              <a:round/>
              <a:tailEnd type="triangle" w="med" len="med"/>
            </a:ln>
            <a:effectLst/>
          </p:spPr>
          <p:txBody>
            <a:bodyPr wrap="square" lIns="45719" tIns="45719" rIns="45719" bIns="45719" numCol="1" anchor="t">
              <a:noAutofit/>
            </a:bodyPr>
            <a:lstStyle/>
            <a:p>
              <a:pPr algn="l" defTabSz="914400">
                <a:defRPr sz="1800">
                  <a:latin typeface="Calibri"/>
                  <a:ea typeface="Calibri"/>
                  <a:cs typeface="Calibri"/>
                  <a:sym typeface="Calibri"/>
                </a:defRPr>
              </a:pPr>
              <a:endParaRPr/>
            </a:p>
          </p:txBody>
        </p:sp>
        <p:sp>
          <p:nvSpPr>
            <p:cNvPr id="166" name="Shape 166"/>
            <p:cNvSpPr/>
            <p:nvPr/>
          </p:nvSpPr>
          <p:spPr>
            <a:xfrm flipV="1">
              <a:off x="-1" y="39687"/>
              <a:ext cx="2" cy="1752601"/>
            </a:xfrm>
            <a:prstGeom prst="line">
              <a:avLst/>
            </a:prstGeom>
            <a:noFill/>
            <a:ln w="38100" cap="flat">
              <a:solidFill>
                <a:srgbClr val="000000"/>
              </a:solidFill>
              <a:prstDash val="solid"/>
              <a:round/>
              <a:tailEnd type="triangle" w="med" len="med"/>
            </a:ln>
            <a:effectLst/>
          </p:spPr>
          <p:txBody>
            <a:bodyPr wrap="square" lIns="45719" tIns="45719" rIns="45719" bIns="45719" numCol="1" anchor="t">
              <a:noAutofit/>
            </a:bodyPr>
            <a:lstStyle/>
            <a:p>
              <a:pPr algn="l" defTabSz="914400">
                <a:defRPr sz="1800">
                  <a:latin typeface="Calibri"/>
                  <a:ea typeface="Calibri"/>
                  <a:cs typeface="Calibri"/>
                  <a:sym typeface="Calibri"/>
                </a:defRPr>
              </a:pPr>
              <a:endParaRPr/>
            </a:p>
          </p:txBody>
        </p:sp>
        <p:pic>
          <p:nvPicPr>
            <p:cNvPr id="167" name="image12.jpg" descr="ermine"/>
            <p:cNvPicPr>
              <a:picLocks noChangeAspect="1"/>
            </p:cNvPicPr>
            <p:nvPr/>
          </p:nvPicPr>
          <p:blipFill>
            <a:blip r:embed="rId6">
              <a:extLst/>
            </a:blip>
            <a:srcRect l="50568" t="17148" r="37727" b="76851"/>
            <a:stretch>
              <a:fillRect/>
            </a:stretch>
          </p:blipFill>
          <p:spPr>
            <a:xfrm>
              <a:off x="1828799" y="1884362"/>
              <a:ext cx="381001" cy="266701"/>
            </a:xfrm>
            <a:prstGeom prst="rect">
              <a:avLst/>
            </a:prstGeom>
            <a:ln w="12700" cap="flat">
              <a:noFill/>
              <a:miter lim="400000"/>
            </a:ln>
            <a:effectLst/>
          </p:spPr>
        </p:pic>
        <p:pic>
          <p:nvPicPr>
            <p:cNvPr id="168" name="image10.png" descr="bicycle"/>
            <p:cNvPicPr>
              <a:picLocks noChangeAspect="1"/>
            </p:cNvPicPr>
            <p:nvPr/>
          </p:nvPicPr>
          <p:blipFill>
            <a:blip r:embed="rId7">
              <a:extLst/>
            </a:blip>
            <a:srcRect l="20000" r="55000" b="54236"/>
            <a:stretch>
              <a:fillRect/>
            </a:stretch>
          </p:blipFill>
          <p:spPr>
            <a:xfrm>
              <a:off x="228600" y="1868487"/>
              <a:ext cx="312738" cy="341313"/>
            </a:xfrm>
            <a:prstGeom prst="rect">
              <a:avLst/>
            </a:prstGeom>
            <a:ln w="12700" cap="flat">
              <a:noFill/>
              <a:miter lim="400000"/>
            </a:ln>
            <a:effectLst/>
          </p:spPr>
        </p:pic>
        <p:pic>
          <p:nvPicPr>
            <p:cNvPr id="169" name="image12.jpg" descr="ermine"/>
            <p:cNvPicPr>
              <a:picLocks noChangeAspect="1"/>
            </p:cNvPicPr>
            <p:nvPr/>
          </p:nvPicPr>
          <p:blipFill>
            <a:blip r:embed="rId6">
              <a:extLst/>
            </a:blip>
            <a:srcRect l="49399" t="22292" r="38897" b="71706"/>
            <a:stretch>
              <a:fillRect/>
            </a:stretch>
          </p:blipFill>
          <p:spPr>
            <a:xfrm>
              <a:off x="685800" y="1868487"/>
              <a:ext cx="381001" cy="266701"/>
            </a:xfrm>
            <a:prstGeom prst="rect">
              <a:avLst/>
            </a:prstGeom>
            <a:ln w="12700" cap="flat">
              <a:noFill/>
              <a:miter lim="400000"/>
            </a:ln>
            <a:effectLst/>
          </p:spPr>
        </p:pic>
        <p:sp>
          <p:nvSpPr>
            <p:cNvPr id="170" name="Shape 170"/>
            <p:cNvSpPr/>
            <p:nvPr/>
          </p:nvSpPr>
          <p:spPr>
            <a:xfrm flipV="1">
              <a:off x="6248400" y="39687"/>
              <a:ext cx="0" cy="1752601"/>
            </a:xfrm>
            <a:prstGeom prst="line">
              <a:avLst/>
            </a:prstGeom>
            <a:noFill/>
            <a:ln w="38100" cap="flat">
              <a:solidFill>
                <a:srgbClr val="000000"/>
              </a:solidFill>
              <a:prstDash val="solid"/>
              <a:round/>
              <a:tailEnd type="triangle" w="med" len="med"/>
            </a:ln>
            <a:effectLst/>
          </p:spPr>
          <p:txBody>
            <a:bodyPr wrap="square" lIns="45719" tIns="45719" rIns="45719" bIns="45719" numCol="1" anchor="t">
              <a:noAutofit/>
            </a:bodyPr>
            <a:lstStyle/>
            <a:p>
              <a:pPr algn="l" defTabSz="914400">
                <a:defRPr sz="1800">
                  <a:latin typeface="Calibri"/>
                  <a:ea typeface="Calibri"/>
                  <a:cs typeface="Calibri"/>
                  <a:sym typeface="Calibri"/>
                </a:defRPr>
              </a:pPr>
              <a:endParaRPr/>
            </a:p>
          </p:txBody>
        </p:sp>
        <p:sp>
          <p:nvSpPr>
            <p:cNvPr id="171" name="Shape 171"/>
            <p:cNvSpPr/>
            <p:nvPr/>
          </p:nvSpPr>
          <p:spPr>
            <a:xfrm>
              <a:off x="3200400" y="1828800"/>
              <a:ext cx="2514600" cy="0"/>
            </a:xfrm>
            <a:prstGeom prst="line">
              <a:avLst/>
            </a:prstGeom>
            <a:noFill/>
            <a:ln w="38100" cap="flat">
              <a:solidFill>
                <a:srgbClr val="000000"/>
              </a:solidFill>
              <a:prstDash val="solid"/>
              <a:round/>
              <a:tailEnd type="triangle" w="med" len="med"/>
            </a:ln>
            <a:effectLst/>
          </p:spPr>
          <p:txBody>
            <a:bodyPr wrap="square" lIns="45719" tIns="45719" rIns="45719" bIns="45719" numCol="1" anchor="t">
              <a:noAutofit/>
            </a:bodyPr>
            <a:lstStyle/>
            <a:p>
              <a:pPr algn="l" defTabSz="914400">
                <a:defRPr sz="1800">
                  <a:latin typeface="Calibri"/>
                  <a:ea typeface="Calibri"/>
                  <a:cs typeface="Calibri"/>
                  <a:sym typeface="Calibri"/>
                </a:defRPr>
              </a:pPr>
              <a:endParaRPr/>
            </a:p>
          </p:txBody>
        </p:sp>
        <p:sp>
          <p:nvSpPr>
            <p:cNvPr id="172" name="Shape 172"/>
            <p:cNvSpPr/>
            <p:nvPr/>
          </p:nvSpPr>
          <p:spPr>
            <a:xfrm flipV="1">
              <a:off x="3200400" y="76200"/>
              <a:ext cx="0" cy="1752600"/>
            </a:xfrm>
            <a:prstGeom prst="line">
              <a:avLst/>
            </a:prstGeom>
            <a:noFill/>
            <a:ln w="38100" cap="flat">
              <a:solidFill>
                <a:srgbClr val="000000"/>
              </a:solidFill>
              <a:prstDash val="solid"/>
              <a:round/>
              <a:tailEnd type="triangle" w="med" len="med"/>
            </a:ln>
            <a:effectLst/>
          </p:spPr>
          <p:txBody>
            <a:bodyPr wrap="square" lIns="45719" tIns="45719" rIns="45719" bIns="45719" numCol="1" anchor="t">
              <a:noAutofit/>
            </a:bodyPr>
            <a:lstStyle/>
            <a:p>
              <a:pPr algn="l" defTabSz="914400">
                <a:defRPr sz="1800">
                  <a:latin typeface="Calibri"/>
                  <a:ea typeface="Calibri"/>
                  <a:cs typeface="Calibri"/>
                  <a:sym typeface="Calibri"/>
                </a:defRPr>
              </a:pPr>
              <a:endParaRPr/>
            </a:p>
          </p:txBody>
        </p:sp>
        <p:pic>
          <p:nvPicPr>
            <p:cNvPr id="173" name="image11.png" descr="violin"/>
            <p:cNvPicPr>
              <a:picLocks noChangeAspect="1"/>
            </p:cNvPicPr>
            <p:nvPr/>
          </p:nvPicPr>
          <p:blipFill>
            <a:blip r:embed="rId5">
              <a:extLst/>
            </a:blip>
            <a:srcRect t="76233"/>
            <a:stretch>
              <a:fillRect/>
            </a:stretch>
          </p:blipFill>
          <p:spPr>
            <a:xfrm>
              <a:off x="1143000" y="1905000"/>
              <a:ext cx="533400" cy="276225"/>
            </a:xfrm>
            <a:prstGeom prst="rect">
              <a:avLst/>
            </a:prstGeom>
            <a:ln w="12700" cap="flat">
              <a:noFill/>
              <a:miter lim="400000"/>
            </a:ln>
            <a:effectLst/>
          </p:spPr>
        </p:pic>
        <p:pic>
          <p:nvPicPr>
            <p:cNvPr id="174" name="image12.jpg" descr="ermine"/>
            <p:cNvPicPr>
              <a:picLocks noChangeAspect="1"/>
            </p:cNvPicPr>
            <p:nvPr/>
          </p:nvPicPr>
          <p:blipFill>
            <a:blip r:embed="rId6">
              <a:extLst/>
            </a:blip>
            <a:srcRect l="50568" t="17148" r="37727" b="76851"/>
            <a:stretch>
              <a:fillRect/>
            </a:stretch>
          </p:blipFill>
          <p:spPr>
            <a:xfrm>
              <a:off x="5105399" y="1884362"/>
              <a:ext cx="381001" cy="266701"/>
            </a:xfrm>
            <a:prstGeom prst="rect">
              <a:avLst/>
            </a:prstGeom>
            <a:ln w="12700" cap="flat">
              <a:noFill/>
              <a:miter lim="400000"/>
            </a:ln>
            <a:effectLst/>
          </p:spPr>
        </p:pic>
        <p:pic>
          <p:nvPicPr>
            <p:cNvPr id="175" name="image10.png" descr="bicycle"/>
            <p:cNvPicPr>
              <a:picLocks noChangeAspect="1"/>
            </p:cNvPicPr>
            <p:nvPr/>
          </p:nvPicPr>
          <p:blipFill>
            <a:blip r:embed="rId7">
              <a:extLst/>
            </a:blip>
            <a:srcRect l="20000" r="55000" b="54236"/>
            <a:stretch>
              <a:fillRect/>
            </a:stretch>
          </p:blipFill>
          <p:spPr>
            <a:xfrm>
              <a:off x="3429000" y="1868487"/>
              <a:ext cx="312738" cy="341313"/>
            </a:xfrm>
            <a:prstGeom prst="rect">
              <a:avLst/>
            </a:prstGeom>
            <a:ln w="12700" cap="flat">
              <a:noFill/>
              <a:miter lim="400000"/>
            </a:ln>
            <a:effectLst/>
          </p:spPr>
        </p:pic>
        <p:pic>
          <p:nvPicPr>
            <p:cNvPr id="176" name="image12.jpg" descr="ermine"/>
            <p:cNvPicPr>
              <a:picLocks noChangeAspect="1"/>
            </p:cNvPicPr>
            <p:nvPr/>
          </p:nvPicPr>
          <p:blipFill>
            <a:blip r:embed="rId6">
              <a:extLst/>
            </a:blip>
            <a:srcRect l="49399" t="22292" r="38897" b="71706"/>
            <a:stretch>
              <a:fillRect/>
            </a:stretch>
          </p:blipFill>
          <p:spPr>
            <a:xfrm>
              <a:off x="3886200" y="1905000"/>
              <a:ext cx="381001" cy="266700"/>
            </a:xfrm>
            <a:prstGeom prst="rect">
              <a:avLst/>
            </a:prstGeom>
            <a:ln w="12700" cap="flat">
              <a:noFill/>
              <a:miter lim="400000"/>
            </a:ln>
            <a:effectLst/>
          </p:spPr>
        </p:pic>
        <p:pic>
          <p:nvPicPr>
            <p:cNvPr id="177" name="image11.png" descr="violin"/>
            <p:cNvPicPr>
              <a:picLocks noChangeAspect="1"/>
            </p:cNvPicPr>
            <p:nvPr/>
          </p:nvPicPr>
          <p:blipFill>
            <a:blip r:embed="rId5">
              <a:extLst/>
            </a:blip>
            <a:srcRect t="76233"/>
            <a:stretch>
              <a:fillRect/>
            </a:stretch>
          </p:blipFill>
          <p:spPr>
            <a:xfrm>
              <a:off x="4267200" y="1905000"/>
              <a:ext cx="533400" cy="276225"/>
            </a:xfrm>
            <a:prstGeom prst="rect">
              <a:avLst/>
            </a:prstGeom>
            <a:ln w="12700" cap="flat">
              <a:noFill/>
              <a:miter lim="400000"/>
            </a:ln>
            <a:effectLst/>
          </p:spPr>
        </p:pic>
        <p:pic>
          <p:nvPicPr>
            <p:cNvPr id="178" name="image12.jpg" descr="ermine"/>
            <p:cNvPicPr>
              <a:picLocks noChangeAspect="1"/>
            </p:cNvPicPr>
            <p:nvPr/>
          </p:nvPicPr>
          <p:blipFill>
            <a:blip r:embed="rId6">
              <a:extLst/>
            </a:blip>
            <a:srcRect l="50568" t="17148" r="37727" b="76851"/>
            <a:stretch>
              <a:fillRect/>
            </a:stretch>
          </p:blipFill>
          <p:spPr>
            <a:xfrm>
              <a:off x="8153399" y="1884362"/>
              <a:ext cx="381001" cy="266701"/>
            </a:xfrm>
            <a:prstGeom prst="rect">
              <a:avLst/>
            </a:prstGeom>
            <a:ln w="12700" cap="flat">
              <a:noFill/>
              <a:miter lim="400000"/>
            </a:ln>
            <a:effectLst/>
          </p:spPr>
        </p:pic>
        <p:pic>
          <p:nvPicPr>
            <p:cNvPr id="179" name="image10.png" descr="bicycle"/>
            <p:cNvPicPr>
              <a:picLocks noChangeAspect="1"/>
            </p:cNvPicPr>
            <p:nvPr/>
          </p:nvPicPr>
          <p:blipFill>
            <a:blip r:embed="rId7">
              <a:extLst/>
            </a:blip>
            <a:srcRect l="20000" r="55000" b="54236"/>
            <a:stretch>
              <a:fillRect/>
            </a:stretch>
          </p:blipFill>
          <p:spPr>
            <a:xfrm>
              <a:off x="6476999" y="1868487"/>
              <a:ext cx="312739" cy="341313"/>
            </a:xfrm>
            <a:prstGeom prst="rect">
              <a:avLst/>
            </a:prstGeom>
            <a:ln w="12700" cap="flat">
              <a:noFill/>
              <a:miter lim="400000"/>
            </a:ln>
            <a:effectLst/>
          </p:spPr>
        </p:pic>
        <p:pic>
          <p:nvPicPr>
            <p:cNvPr id="180" name="image12.jpg" descr="ermine"/>
            <p:cNvPicPr>
              <a:picLocks noChangeAspect="1"/>
            </p:cNvPicPr>
            <p:nvPr/>
          </p:nvPicPr>
          <p:blipFill>
            <a:blip r:embed="rId6">
              <a:extLst/>
            </a:blip>
            <a:srcRect l="49399" t="22292" r="38897" b="71706"/>
            <a:stretch>
              <a:fillRect/>
            </a:stretch>
          </p:blipFill>
          <p:spPr>
            <a:xfrm>
              <a:off x="7010399" y="1868487"/>
              <a:ext cx="381001" cy="266701"/>
            </a:xfrm>
            <a:prstGeom prst="rect">
              <a:avLst/>
            </a:prstGeom>
            <a:ln w="12700" cap="flat">
              <a:noFill/>
              <a:miter lim="400000"/>
            </a:ln>
            <a:effectLst/>
          </p:spPr>
        </p:pic>
        <p:pic>
          <p:nvPicPr>
            <p:cNvPr id="181" name="image11.png" descr="violin"/>
            <p:cNvPicPr>
              <a:picLocks noChangeAspect="1"/>
            </p:cNvPicPr>
            <p:nvPr/>
          </p:nvPicPr>
          <p:blipFill>
            <a:blip r:embed="rId5">
              <a:extLst/>
            </a:blip>
            <a:srcRect t="76233"/>
            <a:stretch>
              <a:fillRect/>
            </a:stretch>
          </p:blipFill>
          <p:spPr>
            <a:xfrm>
              <a:off x="7467600" y="1905000"/>
              <a:ext cx="533400" cy="276225"/>
            </a:xfrm>
            <a:prstGeom prst="rect">
              <a:avLst/>
            </a:prstGeom>
            <a:ln w="12700" cap="flat">
              <a:noFill/>
              <a:miter lim="400000"/>
            </a:ln>
            <a:effectLst/>
          </p:spPr>
        </p:pic>
      </p:grpSp>
    </p:spTree>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Shape 186"/>
          <p:cNvSpPr>
            <a:spLocks noGrp="1"/>
          </p:cNvSpPr>
          <p:nvPr>
            <p:ph type="title"/>
          </p:nvPr>
        </p:nvSpPr>
        <p:spPr>
          <a:prstGeom prst="rect">
            <a:avLst/>
          </a:prstGeom>
        </p:spPr>
        <p:txBody>
          <a:bodyPr/>
          <a:lstStyle/>
          <a:p>
            <a:r>
              <a:t>Bag of Words Analogy</a:t>
            </a:r>
          </a:p>
        </p:txBody>
      </p:sp>
      <p:sp>
        <p:nvSpPr>
          <p:cNvPr id="187" name="Shape 187"/>
          <p:cNvSpPr>
            <a:spLocks noGrp="1"/>
          </p:cNvSpPr>
          <p:nvPr>
            <p:ph type="body" idx="1"/>
          </p:nvPr>
        </p:nvSpPr>
        <p:spPr>
          <a:prstGeom prst="rect">
            <a:avLst/>
          </a:prstGeom>
        </p:spPr>
        <p:txBody>
          <a:bodyPr/>
          <a:lstStyle/>
          <a:p>
            <a:pPr marL="385762" indent="-385762">
              <a:buSzPct val="100000"/>
              <a:buFont typeface="Arial"/>
            </a:pPr>
            <a:r>
              <a:t>Zhu et al – 2002 have used this method for categorization using small square image windows – called keyblocks</a:t>
            </a:r>
          </a:p>
          <a:p>
            <a:pPr marL="385762" indent="-385762">
              <a:buSzPct val="100000"/>
              <a:buFont typeface="Arial"/>
            </a:pPr>
            <a:endParaRPr/>
          </a:p>
          <a:p>
            <a:pPr marL="385762" indent="-385762">
              <a:buSzPct val="100000"/>
              <a:buFont typeface="Arial"/>
            </a:pPr>
            <a:r>
              <a:t>But keyblocks don’t posses any invariance properties that Bags of Keypoints posses</a:t>
            </a:r>
          </a:p>
        </p:txBody>
      </p:sp>
    </p:spTree>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Shape 191"/>
          <p:cNvSpPr>
            <a:spLocks noGrp="1"/>
          </p:cNvSpPr>
          <p:nvPr>
            <p:ph type="title"/>
          </p:nvPr>
        </p:nvSpPr>
        <p:spPr>
          <a:prstGeom prst="rect">
            <a:avLst/>
          </a:prstGeom>
        </p:spPr>
        <p:txBody>
          <a:bodyPr/>
          <a:lstStyle/>
          <a:p>
            <a:r>
              <a:t>Method</a:t>
            </a:r>
          </a:p>
        </p:txBody>
      </p:sp>
      <p:sp>
        <p:nvSpPr>
          <p:cNvPr id="192" name="Shape 192"/>
          <p:cNvSpPr>
            <a:spLocks noGrp="1"/>
          </p:cNvSpPr>
          <p:nvPr>
            <p:ph type="body" idx="1"/>
          </p:nvPr>
        </p:nvSpPr>
        <p:spPr>
          <a:prstGeom prst="rect">
            <a:avLst/>
          </a:prstGeom>
        </p:spPr>
        <p:txBody>
          <a:bodyPr/>
          <a:lstStyle/>
          <a:p>
            <a:pPr marL="272428" indent="-272428" defTabSz="373887">
              <a:spcBef>
                <a:spcPts val="2600"/>
              </a:spcBef>
              <a:buSzPct val="100000"/>
              <a:buFont typeface="Arial"/>
              <a:defRPr sz="2304"/>
            </a:pPr>
            <a:r>
              <a:t>4 main steps</a:t>
            </a:r>
            <a:endParaRPr sz="1856"/>
          </a:p>
          <a:p>
            <a:pPr marL="555955" lvl="1" indent="-263347" defTabSz="373887">
              <a:spcBef>
                <a:spcPts val="2600"/>
              </a:spcBef>
              <a:buSzPct val="100000"/>
              <a:buFont typeface="Arial"/>
              <a:buChar char="–"/>
              <a:defRPr sz="2304"/>
            </a:pPr>
            <a:r>
              <a:t>Detection And Description of Image Patches</a:t>
            </a:r>
            <a:endParaRPr sz="1600"/>
          </a:p>
          <a:p>
            <a:pPr marL="555955" lvl="1" indent="-263347" defTabSz="373887">
              <a:spcBef>
                <a:spcPts val="2600"/>
              </a:spcBef>
              <a:buSzPct val="100000"/>
              <a:buFont typeface="Arial"/>
              <a:buChar char="–"/>
              <a:defRPr sz="2304"/>
            </a:pPr>
            <a:r>
              <a:t>Assignment of Patch Descriptors</a:t>
            </a:r>
            <a:endParaRPr sz="1600"/>
          </a:p>
          <a:p>
            <a:pPr marL="555955" lvl="1" indent="-263347" defTabSz="373887">
              <a:spcBef>
                <a:spcPts val="2600"/>
              </a:spcBef>
              <a:buSzPct val="100000"/>
              <a:buFont typeface="Arial"/>
              <a:buChar char="–"/>
              <a:defRPr sz="2304"/>
            </a:pPr>
            <a:r>
              <a:t>Contruction of Bag of Keypoints</a:t>
            </a:r>
            <a:endParaRPr sz="1600"/>
          </a:p>
          <a:p>
            <a:pPr marL="555955" lvl="1" indent="-263347" defTabSz="373887">
              <a:spcBef>
                <a:spcPts val="2600"/>
              </a:spcBef>
              <a:buSzPct val="100000"/>
              <a:buFont typeface="Arial"/>
              <a:buChar char="–"/>
              <a:defRPr sz="2304"/>
            </a:pPr>
            <a:r>
              <a:t>Application of Multi-Class Classifier</a:t>
            </a:r>
            <a:endParaRPr sz="1600"/>
          </a:p>
          <a:p>
            <a:pPr marL="824622" lvl="2" indent="-239406" defTabSz="373887">
              <a:spcBef>
                <a:spcPts val="2600"/>
              </a:spcBef>
              <a:buSzPct val="100000"/>
              <a:buFont typeface="Arial"/>
              <a:defRPr sz="2304"/>
            </a:pPr>
            <a:r>
              <a:t>Categorization by Naive Bayes</a:t>
            </a:r>
            <a:endParaRPr sz="1408"/>
          </a:p>
          <a:p>
            <a:pPr marL="824622" lvl="2" indent="-239406" defTabSz="373887">
              <a:spcBef>
                <a:spcPts val="2600"/>
              </a:spcBef>
              <a:buSzPct val="100000"/>
              <a:buFont typeface="Arial"/>
              <a:defRPr sz="2304"/>
            </a:pPr>
            <a:r>
              <a:t>Categorization by SVM</a:t>
            </a:r>
            <a:endParaRPr sz="1408"/>
          </a:p>
          <a:p>
            <a:pPr marL="824622" lvl="2" indent="-239406" defTabSz="373887">
              <a:spcBef>
                <a:spcPts val="2600"/>
              </a:spcBef>
              <a:buSzPct val="100000"/>
              <a:buFont typeface="Arial"/>
              <a:defRPr sz="2304"/>
            </a:pPr>
            <a:endParaRPr sz="1408"/>
          </a:p>
          <a:p>
            <a:pPr marL="272428" indent="-272428" defTabSz="373887">
              <a:spcBef>
                <a:spcPts val="2600"/>
              </a:spcBef>
              <a:buSzPct val="100000"/>
              <a:buFont typeface="Arial"/>
              <a:defRPr sz="2304"/>
            </a:pPr>
            <a:r>
              <a:t>Designed to maximize classification accuracy while minimizing computational effort</a:t>
            </a:r>
          </a:p>
        </p:txBody>
      </p:sp>
    </p:spTree>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Shape 196"/>
          <p:cNvSpPr>
            <a:spLocks noGrp="1"/>
          </p:cNvSpPr>
          <p:nvPr>
            <p:ph type="title"/>
          </p:nvPr>
        </p:nvSpPr>
        <p:spPr>
          <a:prstGeom prst="rect">
            <a:avLst/>
          </a:prstGeom>
        </p:spPr>
        <p:txBody>
          <a:bodyPr/>
          <a:lstStyle>
            <a:lvl1pPr defTabSz="490727">
              <a:defRPr sz="6719"/>
            </a:lvl1pPr>
          </a:lstStyle>
          <a:p>
            <a:r>
              <a:t>Detection And Description of Image Patches</a:t>
            </a:r>
          </a:p>
        </p:txBody>
      </p:sp>
      <p:sp>
        <p:nvSpPr>
          <p:cNvPr id="197" name="Shape 197"/>
          <p:cNvSpPr>
            <a:spLocks noGrp="1"/>
          </p:cNvSpPr>
          <p:nvPr>
            <p:ph type="body" idx="4294967295"/>
          </p:nvPr>
        </p:nvSpPr>
        <p:spPr>
          <a:prstGeom prst="rect">
            <a:avLst/>
          </a:prstGeom>
        </p:spPr>
        <p:txBody>
          <a:bodyPr/>
          <a:lstStyle/>
          <a:p>
            <a:pPr marL="342900" indent="-342900" defTabSz="914400">
              <a:lnSpc>
                <a:spcPct val="90000"/>
              </a:lnSpc>
              <a:spcBef>
                <a:spcPts val="700"/>
              </a:spcBef>
              <a:buSzPct val="100000"/>
              <a:buFont typeface="Arial"/>
              <a:defRPr sz="3200">
                <a:latin typeface="Calibri"/>
                <a:ea typeface="Calibri"/>
                <a:cs typeface="Calibri"/>
                <a:sym typeface="Calibri"/>
              </a:defRPr>
            </a:pPr>
            <a:endParaRPr/>
          </a:p>
          <a:p>
            <a:pPr marL="342900" indent="-342900" defTabSz="914400">
              <a:lnSpc>
                <a:spcPct val="90000"/>
              </a:lnSpc>
              <a:spcBef>
                <a:spcPts val="700"/>
              </a:spcBef>
              <a:buSzPct val="100000"/>
              <a:buFont typeface="Arial"/>
              <a:defRPr sz="3200">
                <a:latin typeface="Calibri"/>
                <a:ea typeface="Calibri"/>
                <a:cs typeface="Calibri"/>
                <a:sym typeface="Calibri"/>
              </a:defRPr>
            </a:pPr>
            <a:endParaRPr/>
          </a:p>
          <a:p>
            <a:pPr marL="342900" indent="-342900" defTabSz="914400">
              <a:lnSpc>
                <a:spcPct val="90000"/>
              </a:lnSpc>
              <a:spcBef>
                <a:spcPts val="700"/>
              </a:spcBef>
              <a:buSzPct val="100000"/>
              <a:buFont typeface="Arial"/>
              <a:defRPr sz="3200">
                <a:latin typeface="Calibri"/>
                <a:ea typeface="Calibri"/>
                <a:cs typeface="Calibri"/>
                <a:sym typeface="Calibri"/>
              </a:defRPr>
            </a:pPr>
            <a:endParaRPr/>
          </a:p>
          <a:p>
            <a:pPr marL="342900" indent="-342900" defTabSz="914400">
              <a:lnSpc>
                <a:spcPct val="90000"/>
              </a:lnSpc>
              <a:spcBef>
                <a:spcPts val="700"/>
              </a:spcBef>
              <a:buSzPct val="100000"/>
              <a:buFont typeface="Arial"/>
              <a:defRPr sz="3200">
                <a:latin typeface="Calibri"/>
                <a:ea typeface="Calibri"/>
                <a:cs typeface="Calibri"/>
                <a:sym typeface="Calibri"/>
              </a:defRPr>
            </a:pPr>
            <a:endParaRPr/>
          </a:p>
          <a:p>
            <a:pPr marL="342900" indent="-342900" defTabSz="914400">
              <a:lnSpc>
                <a:spcPct val="90000"/>
              </a:lnSpc>
              <a:spcBef>
                <a:spcPts val="700"/>
              </a:spcBef>
              <a:buSzPct val="100000"/>
              <a:buFont typeface="Arial"/>
              <a:defRPr sz="3200">
                <a:latin typeface="Calibri"/>
                <a:ea typeface="Calibri"/>
                <a:cs typeface="Calibri"/>
                <a:sym typeface="Calibri"/>
              </a:defRPr>
            </a:pPr>
            <a:endParaRPr/>
          </a:p>
          <a:p>
            <a:pPr marL="342900" indent="-342900" defTabSz="914400">
              <a:lnSpc>
                <a:spcPct val="90000"/>
              </a:lnSpc>
              <a:spcBef>
                <a:spcPts val="700"/>
              </a:spcBef>
              <a:buSzPct val="100000"/>
              <a:buFont typeface="Arial"/>
              <a:defRPr sz="3200">
                <a:latin typeface="Calibri"/>
                <a:ea typeface="Calibri"/>
                <a:cs typeface="Calibri"/>
                <a:sym typeface="Calibri"/>
              </a:defRPr>
            </a:pPr>
            <a:endParaRPr/>
          </a:p>
          <a:p>
            <a:pPr marL="342900" indent="-342900" defTabSz="914400">
              <a:lnSpc>
                <a:spcPct val="90000"/>
              </a:lnSpc>
              <a:spcBef>
                <a:spcPts val="700"/>
              </a:spcBef>
              <a:buSzPct val="100000"/>
              <a:buFont typeface="Arial"/>
              <a:defRPr sz="3200">
                <a:latin typeface="Calibri"/>
                <a:ea typeface="Calibri"/>
                <a:cs typeface="Calibri"/>
                <a:sym typeface="Calibri"/>
              </a:defRPr>
            </a:pPr>
            <a:r>
              <a:t>Descriptors should be invariant to variation but have enough information to discriminate different categories</a:t>
            </a:r>
          </a:p>
        </p:txBody>
      </p:sp>
      <p:pic>
        <p:nvPicPr>
          <p:cNvPr id="198" name="image9.png" descr="DaVinci_face_only"/>
          <p:cNvPicPr>
            <a:picLocks noChangeAspect="1"/>
          </p:cNvPicPr>
          <p:nvPr/>
        </p:nvPicPr>
        <p:blipFill>
          <a:blip r:embed="rId3">
            <a:extLst/>
          </a:blip>
          <a:stretch>
            <a:fillRect/>
          </a:stretch>
        </p:blipFill>
        <p:spPr>
          <a:xfrm>
            <a:off x="1323689" y="2886397"/>
            <a:ext cx="2918958" cy="3616580"/>
          </a:xfrm>
          <a:prstGeom prst="rect">
            <a:avLst/>
          </a:prstGeom>
          <a:ln w="12700">
            <a:miter lim="400000"/>
          </a:ln>
        </p:spPr>
      </p:pic>
      <p:grpSp>
        <p:nvGrpSpPr>
          <p:cNvPr id="209" name="Group 209"/>
          <p:cNvGrpSpPr/>
          <p:nvPr/>
        </p:nvGrpSpPr>
        <p:grpSpPr>
          <a:xfrm>
            <a:off x="4427847" y="2764884"/>
            <a:ext cx="3473781" cy="3751215"/>
            <a:chOff x="0" y="0"/>
            <a:chExt cx="3473780" cy="3751214"/>
          </a:xfrm>
        </p:grpSpPr>
        <p:pic>
          <p:nvPicPr>
            <p:cNvPr id="199" name="image12.jpg" descr="ermine"/>
            <p:cNvPicPr>
              <a:picLocks noChangeAspect="1"/>
            </p:cNvPicPr>
            <p:nvPr/>
          </p:nvPicPr>
          <p:blipFill>
            <a:blip r:embed="rId4">
              <a:extLst/>
            </a:blip>
            <a:srcRect l="49399" t="22293" r="38897" b="71706"/>
            <a:stretch>
              <a:fillRect/>
            </a:stretch>
          </p:blipFill>
          <p:spPr>
            <a:xfrm>
              <a:off x="2481271" y="2394392"/>
              <a:ext cx="992510" cy="558692"/>
            </a:xfrm>
            <a:prstGeom prst="rect">
              <a:avLst/>
            </a:prstGeom>
            <a:ln w="12700" cap="flat">
              <a:noFill/>
              <a:miter lim="400000"/>
            </a:ln>
            <a:effectLst/>
          </p:spPr>
        </p:pic>
        <p:pic>
          <p:nvPicPr>
            <p:cNvPr id="200" name="image12.jpg" descr="ermine"/>
            <p:cNvPicPr>
              <a:picLocks noChangeAspect="1"/>
            </p:cNvPicPr>
            <p:nvPr/>
          </p:nvPicPr>
          <p:blipFill>
            <a:blip r:embed="rId4">
              <a:extLst/>
            </a:blip>
            <a:srcRect l="57590" t="4288" r="29535" b="88853"/>
            <a:stretch>
              <a:fillRect/>
            </a:stretch>
          </p:blipFill>
          <p:spPr>
            <a:xfrm>
              <a:off x="1786515" y="-1"/>
              <a:ext cx="893259" cy="522112"/>
            </a:xfrm>
            <a:prstGeom prst="rect">
              <a:avLst/>
            </a:prstGeom>
            <a:ln w="12700" cap="flat">
              <a:noFill/>
              <a:miter lim="400000"/>
            </a:ln>
            <a:effectLst/>
          </p:spPr>
        </p:pic>
        <p:pic>
          <p:nvPicPr>
            <p:cNvPr id="201" name="image12.jpg" descr="ermine"/>
            <p:cNvPicPr>
              <a:picLocks noChangeAspect="1"/>
            </p:cNvPicPr>
            <p:nvPr/>
          </p:nvPicPr>
          <p:blipFill>
            <a:blip r:embed="rId4">
              <a:extLst/>
            </a:blip>
            <a:srcRect l="43547" t="38582" r="43579" b="54558"/>
            <a:stretch>
              <a:fillRect/>
            </a:stretch>
          </p:blipFill>
          <p:spPr>
            <a:xfrm>
              <a:off x="0" y="2474204"/>
              <a:ext cx="893258" cy="522112"/>
            </a:xfrm>
            <a:prstGeom prst="rect">
              <a:avLst/>
            </a:prstGeom>
            <a:ln w="12700" cap="flat">
              <a:noFill/>
              <a:miter lim="400000"/>
            </a:ln>
            <a:effectLst/>
          </p:spPr>
        </p:pic>
        <p:pic>
          <p:nvPicPr>
            <p:cNvPr id="202" name="image12.jpg" descr="ermine"/>
            <p:cNvPicPr>
              <a:picLocks noChangeAspect="1"/>
            </p:cNvPicPr>
            <p:nvPr/>
          </p:nvPicPr>
          <p:blipFill>
            <a:blip r:embed="rId4">
              <a:extLst/>
            </a:blip>
            <a:srcRect l="38866" t="15433" r="51772" b="79422"/>
            <a:stretch>
              <a:fillRect/>
            </a:stretch>
          </p:blipFill>
          <p:spPr>
            <a:xfrm>
              <a:off x="2183519" y="1436635"/>
              <a:ext cx="794008" cy="478879"/>
            </a:xfrm>
            <a:prstGeom prst="rect">
              <a:avLst/>
            </a:prstGeom>
            <a:ln w="12700" cap="flat">
              <a:noFill/>
              <a:miter lim="400000"/>
            </a:ln>
            <a:effectLst/>
          </p:spPr>
        </p:pic>
        <p:pic>
          <p:nvPicPr>
            <p:cNvPr id="203" name="image12.jpg" descr="ermine"/>
            <p:cNvPicPr>
              <a:picLocks noChangeAspect="1"/>
            </p:cNvPicPr>
            <p:nvPr/>
          </p:nvPicPr>
          <p:blipFill>
            <a:blip r:embed="rId4">
              <a:extLst/>
            </a:blip>
            <a:srcRect l="58761" t="14577" r="31876" b="79422"/>
            <a:stretch>
              <a:fillRect/>
            </a:stretch>
          </p:blipFill>
          <p:spPr>
            <a:xfrm>
              <a:off x="992508" y="1516448"/>
              <a:ext cx="794008" cy="558692"/>
            </a:xfrm>
            <a:prstGeom prst="rect">
              <a:avLst/>
            </a:prstGeom>
            <a:ln w="12700" cap="flat">
              <a:noFill/>
              <a:miter lim="400000"/>
            </a:ln>
            <a:effectLst/>
          </p:spPr>
        </p:pic>
        <p:pic>
          <p:nvPicPr>
            <p:cNvPr id="204" name="image12.jpg" descr="ermine"/>
            <p:cNvPicPr>
              <a:picLocks noChangeAspect="1"/>
            </p:cNvPicPr>
            <p:nvPr/>
          </p:nvPicPr>
          <p:blipFill>
            <a:blip r:embed="rId4">
              <a:extLst/>
            </a:blip>
            <a:srcRect l="56421" t="32581" r="31875" b="62274"/>
            <a:stretch>
              <a:fillRect/>
            </a:stretch>
          </p:blipFill>
          <p:spPr>
            <a:xfrm>
              <a:off x="2084268" y="3272335"/>
              <a:ext cx="992510" cy="478879"/>
            </a:xfrm>
            <a:prstGeom prst="rect">
              <a:avLst/>
            </a:prstGeom>
            <a:ln w="12700" cap="flat">
              <a:noFill/>
              <a:miter lim="400000"/>
            </a:ln>
            <a:effectLst/>
          </p:spPr>
        </p:pic>
        <p:pic>
          <p:nvPicPr>
            <p:cNvPr id="205" name="image12.jpg" descr="ermine"/>
            <p:cNvPicPr>
              <a:picLocks noChangeAspect="1"/>
            </p:cNvPicPr>
            <p:nvPr/>
          </p:nvPicPr>
          <p:blipFill>
            <a:blip r:embed="rId4">
              <a:extLst/>
            </a:blip>
            <a:srcRect l="58761" t="27437" r="31876" b="67418"/>
            <a:stretch>
              <a:fillRect/>
            </a:stretch>
          </p:blipFill>
          <p:spPr>
            <a:xfrm>
              <a:off x="2382020" y="718317"/>
              <a:ext cx="794008" cy="478879"/>
            </a:xfrm>
            <a:prstGeom prst="rect">
              <a:avLst/>
            </a:prstGeom>
            <a:ln w="12700" cap="flat">
              <a:noFill/>
              <a:miter lim="400000"/>
            </a:ln>
            <a:effectLst/>
          </p:spPr>
        </p:pic>
        <p:pic>
          <p:nvPicPr>
            <p:cNvPr id="206" name="image12.jpg" descr="ermine"/>
            <p:cNvPicPr>
              <a:picLocks noChangeAspect="1"/>
            </p:cNvPicPr>
            <p:nvPr/>
          </p:nvPicPr>
          <p:blipFill>
            <a:blip r:embed="rId4">
              <a:extLst/>
            </a:blip>
            <a:srcRect l="59932" t="23151" r="31876" b="71706"/>
            <a:stretch>
              <a:fillRect/>
            </a:stretch>
          </p:blipFill>
          <p:spPr>
            <a:xfrm>
              <a:off x="1389512" y="2314578"/>
              <a:ext cx="694757" cy="478880"/>
            </a:xfrm>
            <a:prstGeom prst="rect">
              <a:avLst/>
            </a:prstGeom>
            <a:ln w="12700" cap="flat">
              <a:noFill/>
              <a:miter lim="400000"/>
            </a:ln>
            <a:effectLst/>
          </p:spPr>
        </p:pic>
        <p:pic>
          <p:nvPicPr>
            <p:cNvPr id="207" name="image12.jpg" descr="ermine"/>
            <p:cNvPicPr>
              <a:picLocks noChangeAspect="1"/>
            </p:cNvPicPr>
            <p:nvPr/>
          </p:nvPicPr>
          <p:blipFill>
            <a:blip r:embed="rId4">
              <a:extLst/>
            </a:blip>
            <a:srcRect l="47058" t="24008" r="45920" b="63129"/>
            <a:stretch>
              <a:fillRect/>
            </a:stretch>
          </p:blipFill>
          <p:spPr>
            <a:xfrm>
              <a:off x="893257" y="79812"/>
              <a:ext cx="595506" cy="1197197"/>
            </a:xfrm>
            <a:prstGeom prst="rect">
              <a:avLst/>
            </a:prstGeom>
            <a:ln w="12700" cap="flat">
              <a:noFill/>
              <a:miter lim="400000"/>
            </a:ln>
            <a:effectLst/>
          </p:spPr>
        </p:pic>
        <p:pic>
          <p:nvPicPr>
            <p:cNvPr id="208" name="image12.jpg" descr="ermine"/>
            <p:cNvPicPr>
              <a:picLocks noChangeAspect="1"/>
            </p:cNvPicPr>
            <p:nvPr/>
          </p:nvPicPr>
          <p:blipFill>
            <a:blip r:embed="rId4">
              <a:extLst/>
            </a:blip>
            <a:srcRect l="50568" t="17148" r="37727" b="76851"/>
            <a:stretch>
              <a:fillRect/>
            </a:stretch>
          </p:blipFill>
          <p:spPr>
            <a:xfrm>
              <a:off x="595505" y="3192522"/>
              <a:ext cx="992509" cy="558693"/>
            </a:xfrm>
            <a:prstGeom prst="rect">
              <a:avLst/>
            </a:prstGeom>
            <a:ln w="12700" cap="flat">
              <a:noFill/>
              <a:miter lim="400000"/>
            </a:ln>
            <a:effectLst/>
          </p:spPr>
        </p:pic>
      </p:grpSp>
      <p:pic>
        <p:nvPicPr>
          <p:cNvPr id="210" name="image13.png"/>
          <p:cNvPicPr>
            <a:picLocks noChangeAspect="1"/>
          </p:cNvPicPr>
          <p:nvPr/>
        </p:nvPicPr>
        <p:blipFill>
          <a:blip r:embed="rId5">
            <a:extLst/>
          </a:blip>
          <a:srcRect b="38798"/>
          <a:stretch>
            <a:fillRect/>
          </a:stretch>
        </p:blipFill>
        <p:spPr>
          <a:xfrm>
            <a:off x="8086828" y="3797300"/>
            <a:ext cx="3739641" cy="2158839"/>
          </a:xfrm>
          <a:prstGeom prst="rect">
            <a:avLst/>
          </a:prstGeom>
          <a:ln w="12700">
            <a:miter lim="400000"/>
          </a:ln>
        </p:spPr>
      </p:pic>
    </p:spTree>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Shape 214"/>
          <p:cNvSpPr>
            <a:spLocks noGrp="1"/>
          </p:cNvSpPr>
          <p:nvPr>
            <p:ph type="title"/>
          </p:nvPr>
        </p:nvSpPr>
        <p:spPr>
          <a:prstGeom prst="rect">
            <a:avLst/>
          </a:prstGeom>
        </p:spPr>
        <p:txBody>
          <a:bodyPr/>
          <a:lstStyle>
            <a:lvl1pPr defTabSz="490727">
              <a:defRPr sz="6719"/>
            </a:lvl1pPr>
          </a:lstStyle>
          <a:p>
            <a:r>
              <a:t>Detection And Description of Image Patches</a:t>
            </a:r>
          </a:p>
        </p:txBody>
      </p:sp>
      <p:sp>
        <p:nvSpPr>
          <p:cNvPr id="215" name="Shape 215"/>
          <p:cNvSpPr>
            <a:spLocks noGrp="1"/>
          </p:cNvSpPr>
          <p:nvPr>
            <p:ph type="body" idx="1"/>
          </p:nvPr>
        </p:nvSpPr>
        <p:spPr>
          <a:prstGeom prst="rect">
            <a:avLst/>
          </a:prstGeom>
        </p:spPr>
        <p:txBody>
          <a:bodyPr anchor="t"/>
          <a:lstStyle>
            <a:lvl1pPr marL="385762" indent="-385762">
              <a:buSzPct val="100000"/>
              <a:buFont typeface="Arial"/>
            </a:lvl1pPr>
          </a:lstStyle>
          <a:p>
            <a:r>
              <a:t>Detection – Harris affine detector</a:t>
            </a:r>
          </a:p>
        </p:txBody>
      </p:sp>
      <p:pic>
        <p:nvPicPr>
          <p:cNvPr id="216" name="page13image568.jpg"/>
          <p:cNvPicPr>
            <a:picLocks noChangeAspect="1"/>
          </p:cNvPicPr>
          <p:nvPr/>
        </p:nvPicPr>
        <p:blipFill>
          <a:blip r:embed="rId3">
            <a:extLst/>
          </a:blip>
          <a:stretch>
            <a:fillRect/>
          </a:stretch>
        </p:blipFill>
        <p:spPr>
          <a:xfrm>
            <a:off x="2296839" y="3743995"/>
            <a:ext cx="3251201" cy="4876801"/>
          </a:xfrm>
          <a:prstGeom prst="rect">
            <a:avLst/>
          </a:prstGeom>
          <a:ln w="12700">
            <a:miter lim="400000"/>
          </a:ln>
        </p:spPr>
      </p:pic>
      <p:pic>
        <p:nvPicPr>
          <p:cNvPr id="217" name="page13image736.jpg"/>
          <p:cNvPicPr>
            <a:picLocks noChangeAspect="1"/>
          </p:cNvPicPr>
          <p:nvPr/>
        </p:nvPicPr>
        <p:blipFill>
          <a:blip r:embed="rId4">
            <a:extLst/>
          </a:blip>
          <a:stretch>
            <a:fillRect/>
          </a:stretch>
        </p:blipFill>
        <p:spPr>
          <a:xfrm>
            <a:off x="6706772" y="3743995"/>
            <a:ext cx="3251201" cy="4876801"/>
          </a:xfrm>
          <a:prstGeom prst="rect">
            <a:avLst/>
          </a:prstGeom>
          <a:ln w="12700">
            <a:miter lim="400000"/>
          </a:ln>
        </p:spPr>
      </p:pic>
    </p:spTree>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 name="Shape 221"/>
          <p:cNvSpPr>
            <a:spLocks noGrp="1"/>
          </p:cNvSpPr>
          <p:nvPr>
            <p:ph type="title"/>
          </p:nvPr>
        </p:nvSpPr>
        <p:spPr>
          <a:prstGeom prst="rect">
            <a:avLst/>
          </a:prstGeom>
        </p:spPr>
        <p:txBody>
          <a:bodyPr/>
          <a:lstStyle>
            <a:lvl1pPr defTabSz="490727">
              <a:defRPr sz="6719"/>
            </a:lvl1pPr>
          </a:lstStyle>
          <a:p>
            <a:r>
              <a:t>Detection And Description of Image Patches</a:t>
            </a:r>
          </a:p>
        </p:txBody>
      </p:sp>
      <p:sp>
        <p:nvSpPr>
          <p:cNvPr id="222" name="Shape 222"/>
          <p:cNvSpPr/>
          <p:nvPr/>
        </p:nvSpPr>
        <p:spPr>
          <a:xfrm>
            <a:off x="6826770" y="3200399"/>
            <a:ext cx="190501" cy="4572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lgn="l" defTabSz="457200">
              <a:lnSpc>
                <a:spcPts val="2800"/>
              </a:lnSpc>
              <a:defRPr sz="1200">
                <a:latin typeface="Times"/>
                <a:ea typeface="Times"/>
                <a:cs typeface="Times"/>
                <a:sym typeface="Times"/>
              </a:defRPr>
            </a:lvl1pPr>
          </a:lstStyle>
          <a:p>
            <a:r>
              <a:t> </a:t>
            </a:r>
          </a:p>
        </p:txBody>
      </p:sp>
      <p:sp>
        <p:nvSpPr>
          <p:cNvPr id="223" name="Shape 223"/>
          <p:cNvSpPr/>
          <p:nvPr/>
        </p:nvSpPr>
        <p:spPr>
          <a:xfrm>
            <a:off x="2566835" y="3200399"/>
            <a:ext cx="190501" cy="4572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lgn="l" defTabSz="457200">
              <a:lnSpc>
                <a:spcPts val="2800"/>
              </a:lnSpc>
              <a:defRPr sz="1200">
                <a:latin typeface="Times"/>
                <a:ea typeface="Times"/>
                <a:cs typeface="Times"/>
                <a:sym typeface="Times"/>
              </a:defRPr>
            </a:lvl1pPr>
          </a:lstStyle>
          <a:p>
            <a:r>
              <a:t> </a:t>
            </a:r>
          </a:p>
        </p:txBody>
      </p:sp>
      <p:sp>
        <p:nvSpPr>
          <p:cNvPr id="224" name="Shape 224"/>
          <p:cNvSpPr>
            <a:spLocks noGrp="1"/>
          </p:cNvSpPr>
          <p:nvPr>
            <p:ph type="body" sz="quarter" idx="4294967295"/>
          </p:nvPr>
        </p:nvSpPr>
        <p:spPr>
          <a:xfrm>
            <a:off x="952500" y="2603500"/>
            <a:ext cx="11099800" cy="1904576"/>
          </a:xfrm>
          <a:prstGeom prst="rect">
            <a:avLst/>
          </a:prstGeom>
        </p:spPr>
        <p:txBody>
          <a:bodyPr anchor="t"/>
          <a:lstStyle>
            <a:lvl1pPr marL="385762" indent="-385762">
              <a:buSzPct val="100000"/>
              <a:buFont typeface="Arial"/>
            </a:lvl1pPr>
            <a:lvl2pPr marL="824592" indent="-367392">
              <a:buSzPct val="100000"/>
              <a:buFont typeface="Arial"/>
              <a:buChar char="–"/>
            </a:lvl2pPr>
          </a:lstStyle>
          <a:p>
            <a:r>
              <a:t>Description – SIFT descriptor</a:t>
            </a:r>
          </a:p>
          <a:p>
            <a:pPr lvl="1"/>
            <a:r>
              <a:t>128 dimensional vector – 8 * (4*4)</a:t>
            </a:r>
          </a:p>
        </p:txBody>
      </p:sp>
      <p:pic>
        <p:nvPicPr>
          <p:cNvPr id="225" name="pasted-image.pdf"/>
          <p:cNvPicPr>
            <a:picLocks noChangeAspect="1"/>
          </p:cNvPicPr>
          <p:nvPr/>
        </p:nvPicPr>
        <p:blipFill>
          <a:blip r:embed="rId3">
            <a:extLst/>
          </a:blip>
          <a:stretch>
            <a:fillRect/>
          </a:stretch>
        </p:blipFill>
        <p:spPr>
          <a:xfrm>
            <a:off x="1213877" y="4785206"/>
            <a:ext cx="10022904" cy="4430082"/>
          </a:xfrm>
          <a:prstGeom prst="rect">
            <a:avLst/>
          </a:prstGeom>
          <a:ln w="12700">
            <a:miter lim="400000"/>
          </a:ln>
        </p:spPr>
      </p:pic>
    </p:spTree>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9" name="Shape 229"/>
          <p:cNvSpPr>
            <a:spLocks noGrp="1"/>
          </p:cNvSpPr>
          <p:nvPr>
            <p:ph type="title"/>
          </p:nvPr>
        </p:nvSpPr>
        <p:spPr>
          <a:prstGeom prst="rect">
            <a:avLst/>
          </a:prstGeom>
        </p:spPr>
        <p:txBody>
          <a:bodyPr/>
          <a:lstStyle>
            <a:lvl1pPr defTabSz="490727">
              <a:defRPr sz="6719"/>
            </a:lvl1pPr>
          </a:lstStyle>
          <a:p>
            <a:r>
              <a:t>Detection And Description of Image Patches</a:t>
            </a:r>
          </a:p>
        </p:txBody>
      </p:sp>
      <p:pic>
        <p:nvPicPr>
          <p:cNvPr id="230" name="page53image640.png"/>
          <p:cNvPicPr>
            <a:picLocks noChangeAspect="1"/>
          </p:cNvPicPr>
          <p:nvPr/>
        </p:nvPicPr>
        <p:blipFill>
          <a:blip r:embed="rId3">
            <a:extLst/>
          </a:blip>
          <a:stretch>
            <a:fillRect/>
          </a:stretch>
        </p:blipFill>
        <p:spPr>
          <a:xfrm>
            <a:off x="2967993" y="6221564"/>
            <a:ext cx="2183079" cy="2159001"/>
          </a:xfrm>
          <a:prstGeom prst="rect">
            <a:avLst/>
          </a:prstGeom>
          <a:ln w="12700">
            <a:miter lim="400000"/>
          </a:ln>
        </p:spPr>
      </p:pic>
      <p:pic>
        <p:nvPicPr>
          <p:cNvPr id="231" name="page54image8272.png"/>
          <p:cNvPicPr>
            <a:picLocks noChangeAspect="1"/>
          </p:cNvPicPr>
          <p:nvPr/>
        </p:nvPicPr>
        <p:blipFill>
          <a:blip r:embed="rId4">
            <a:extLst/>
          </a:blip>
          <a:stretch>
            <a:fillRect/>
          </a:stretch>
        </p:blipFill>
        <p:spPr>
          <a:xfrm>
            <a:off x="5794254" y="6862914"/>
            <a:ext cx="876301" cy="876301"/>
          </a:xfrm>
          <a:prstGeom prst="rect">
            <a:avLst/>
          </a:prstGeom>
          <a:ln w="12700">
            <a:miter lim="400000"/>
          </a:ln>
        </p:spPr>
      </p:pic>
      <p:sp>
        <p:nvSpPr>
          <p:cNvPr id="232" name="Shape 232"/>
          <p:cNvSpPr/>
          <p:nvPr/>
        </p:nvSpPr>
        <p:spPr>
          <a:xfrm>
            <a:off x="3454290" y="6634314"/>
            <a:ext cx="190501" cy="4572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lgn="l" defTabSz="457200">
              <a:lnSpc>
                <a:spcPts val="2800"/>
              </a:lnSpc>
              <a:defRPr sz="1200">
                <a:latin typeface="Times"/>
                <a:ea typeface="Times"/>
                <a:cs typeface="Times"/>
                <a:sym typeface="Times"/>
              </a:defRPr>
            </a:lvl1pPr>
          </a:lstStyle>
          <a:p>
            <a:r>
              <a:t> </a:t>
            </a:r>
          </a:p>
        </p:txBody>
      </p:sp>
      <p:sp>
        <p:nvSpPr>
          <p:cNvPr id="233" name="Shape 233"/>
          <p:cNvSpPr/>
          <p:nvPr/>
        </p:nvSpPr>
        <p:spPr>
          <a:xfrm>
            <a:off x="4197210" y="2435960"/>
            <a:ext cx="190501" cy="4572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lgn="l" defTabSz="457200">
              <a:lnSpc>
                <a:spcPts val="2800"/>
              </a:lnSpc>
              <a:defRPr sz="1200">
                <a:latin typeface="Times"/>
                <a:ea typeface="Times"/>
                <a:cs typeface="Times"/>
                <a:sym typeface="Times"/>
              </a:defRPr>
            </a:lvl1pPr>
          </a:lstStyle>
          <a:p>
            <a:r>
              <a:t> </a:t>
            </a:r>
          </a:p>
        </p:txBody>
      </p:sp>
      <p:pic>
        <p:nvPicPr>
          <p:cNvPr id="234" name="螢幕快照 2016-09-27 下午5.06.40.png"/>
          <p:cNvPicPr>
            <a:picLocks noChangeAspect="1"/>
          </p:cNvPicPr>
          <p:nvPr/>
        </p:nvPicPr>
        <p:blipFill>
          <a:blip r:embed="rId5">
            <a:extLst/>
          </a:blip>
          <a:stretch>
            <a:fillRect/>
          </a:stretch>
        </p:blipFill>
        <p:spPr>
          <a:xfrm>
            <a:off x="662630" y="3268509"/>
            <a:ext cx="11679540" cy="1781989"/>
          </a:xfrm>
          <a:prstGeom prst="rect">
            <a:avLst/>
          </a:prstGeom>
          <a:ln w="12700">
            <a:miter lim="400000"/>
          </a:ln>
        </p:spPr>
      </p:pic>
      <p:pic>
        <p:nvPicPr>
          <p:cNvPr id="235" name="pasted-image.pdf"/>
          <p:cNvPicPr>
            <a:picLocks noChangeAspect="1"/>
          </p:cNvPicPr>
          <p:nvPr/>
        </p:nvPicPr>
        <p:blipFill>
          <a:blip r:embed="rId6">
            <a:extLst/>
          </a:blip>
          <a:stretch>
            <a:fillRect/>
          </a:stretch>
        </p:blipFill>
        <p:spPr>
          <a:xfrm>
            <a:off x="7168084" y="6163021"/>
            <a:ext cx="2522320" cy="2481759"/>
          </a:xfrm>
          <a:prstGeom prst="rect">
            <a:avLst/>
          </a:prstGeom>
          <a:ln w="12700">
            <a:miter lim="400000"/>
          </a:ln>
        </p:spPr>
      </p:pic>
    </p:spTree>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Shape 239"/>
          <p:cNvSpPr>
            <a:spLocks noGrp="1"/>
          </p:cNvSpPr>
          <p:nvPr>
            <p:ph type="title"/>
          </p:nvPr>
        </p:nvSpPr>
        <p:spPr>
          <a:prstGeom prst="rect">
            <a:avLst/>
          </a:prstGeom>
        </p:spPr>
        <p:txBody>
          <a:bodyPr/>
          <a:lstStyle>
            <a:lvl1pPr defTabSz="490727">
              <a:defRPr sz="6719"/>
            </a:lvl1pPr>
          </a:lstStyle>
          <a:p>
            <a:r>
              <a:t>Detection And Description of Image Patches</a:t>
            </a:r>
          </a:p>
        </p:txBody>
      </p:sp>
      <p:pic>
        <p:nvPicPr>
          <p:cNvPr id="240" name="page53image640.png"/>
          <p:cNvPicPr>
            <a:picLocks noChangeAspect="1"/>
          </p:cNvPicPr>
          <p:nvPr/>
        </p:nvPicPr>
        <p:blipFill>
          <a:blip r:embed="rId3">
            <a:extLst/>
          </a:blip>
          <a:stretch>
            <a:fillRect/>
          </a:stretch>
        </p:blipFill>
        <p:spPr>
          <a:xfrm>
            <a:off x="2967993" y="6221564"/>
            <a:ext cx="2183079" cy="2159001"/>
          </a:xfrm>
          <a:prstGeom prst="rect">
            <a:avLst/>
          </a:prstGeom>
          <a:ln w="12700">
            <a:miter lim="400000"/>
          </a:ln>
        </p:spPr>
      </p:pic>
      <p:pic>
        <p:nvPicPr>
          <p:cNvPr id="241" name="page54image8272.png"/>
          <p:cNvPicPr>
            <a:picLocks noChangeAspect="1"/>
          </p:cNvPicPr>
          <p:nvPr/>
        </p:nvPicPr>
        <p:blipFill>
          <a:blip r:embed="rId4">
            <a:extLst/>
          </a:blip>
          <a:stretch>
            <a:fillRect/>
          </a:stretch>
        </p:blipFill>
        <p:spPr>
          <a:xfrm>
            <a:off x="5794254" y="6862914"/>
            <a:ext cx="876301" cy="876301"/>
          </a:xfrm>
          <a:prstGeom prst="rect">
            <a:avLst/>
          </a:prstGeom>
          <a:ln w="12700">
            <a:miter lim="400000"/>
          </a:ln>
        </p:spPr>
      </p:pic>
      <p:sp>
        <p:nvSpPr>
          <p:cNvPr id="242" name="Shape 242"/>
          <p:cNvSpPr/>
          <p:nvPr/>
        </p:nvSpPr>
        <p:spPr>
          <a:xfrm>
            <a:off x="3454290" y="6634314"/>
            <a:ext cx="190501" cy="4572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lgn="l" defTabSz="457200">
              <a:lnSpc>
                <a:spcPts val="2800"/>
              </a:lnSpc>
              <a:defRPr sz="1200">
                <a:latin typeface="Times"/>
                <a:ea typeface="Times"/>
                <a:cs typeface="Times"/>
                <a:sym typeface="Times"/>
              </a:defRPr>
            </a:lvl1pPr>
          </a:lstStyle>
          <a:p>
            <a:r>
              <a:t> </a:t>
            </a:r>
          </a:p>
        </p:txBody>
      </p:sp>
      <p:sp>
        <p:nvSpPr>
          <p:cNvPr id="243" name="Shape 243"/>
          <p:cNvSpPr/>
          <p:nvPr/>
        </p:nvSpPr>
        <p:spPr>
          <a:xfrm>
            <a:off x="4197210" y="2435960"/>
            <a:ext cx="190501" cy="4572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lgn="l" defTabSz="457200">
              <a:lnSpc>
                <a:spcPts val="2800"/>
              </a:lnSpc>
              <a:defRPr sz="1200">
                <a:latin typeface="Times"/>
                <a:ea typeface="Times"/>
                <a:cs typeface="Times"/>
                <a:sym typeface="Times"/>
              </a:defRPr>
            </a:lvl1pPr>
          </a:lstStyle>
          <a:p>
            <a:r>
              <a:t> </a:t>
            </a:r>
          </a:p>
        </p:txBody>
      </p:sp>
      <p:pic>
        <p:nvPicPr>
          <p:cNvPr id="244" name="螢幕快照 2016-09-27 下午5.06.40.png"/>
          <p:cNvPicPr>
            <a:picLocks noChangeAspect="1"/>
          </p:cNvPicPr>
          <p:nvPr/>
        </p:nvPicPr>
        <p:blipFill>
          <a:blip r:embed="rId5">
            <a:extLst/>
          </a:blip>
          <a:stretch>
            <a:fillRect/>
          </a:stretch>
        </p:blipFill>
        <p:spPr>
          <a:xfrm>
            <a:off x="662630" y="3268509"/>
            <a:ext cx="11679540" cy="1781989"/>
          </a:xfrm>
          <a:prstGeom prst="rect">
            <a:avLst/>
          </a:prstGeom>
          <a:ln w="12700">
            <a:miter lim="400000"/>
          </a:ln>
        </p:spPr>
      </p:pic>
      <p:pic>
        <p:nvPicPr>
          <p:cNvPr id="245" name="pasted-image.tiff"/>
          <p:cNvPicPr>
            <a:picLocks noChangeAspect="1"/>
          </p:cNvPicPr>
          <p:nvPr/>
        </p:nvPicPr>
        <p:blipFill>
          <a:blip r:embed="rId6">
            <a:extLst/>
          </a:blip>
          <a:srcRect l="55967"/>
          <a:stretch>
            <a:fillRect/>
          </a:stretch>
        </p:blipFill>
        <p:spPr>
          <a:xfrm>
            <a:off x="7142364" y="5715487"/>
            <a:ext cx="3255259" cy="3172507"/>
          </a:xfrm>
          <a:prstGeom prst="rect">
            <a:avLst/>
          </a:prstGeom>
          <a:ln w="12700">
            <a:miter lim="400000"/>
          </a:ln>
        </p:spPr>
      </p:pic>
      <p:sp>
        <p:nvSpPr>
          <p:cNvPr id="246" name="Shape 246"/>
          <p:cNvSpPr/>
          <p:nvPr/>
        </p:nvSpPr>
        <p:spPr>
          <a:xfrm>
            <a:off x="7098437" y="5780595"/>
            <a:ext cx="3178970" cy="3178970"/>
          </a:xfrm>
          <a:prstGeom prst="ellipse">
            <a:avLst/>
          </a:prstGeom>
          <a:ln w="76200">
            <a:solidFill>
              <a:schemeClr val="accent1"/>
            </a:solidFill>
            <a:miter lim="400000"/>
          </a:ln>
          <a:effectLst>
            <a:outerShdw blurRad="38100" dist="25400" dir="5400000" rotWithShape="0">
              <a:srgbClr val="000000">
                <a:alpha val="50000"/>
              </a:srgbClr>
            </a:outerShdw>
          </a:effectLst>
        </p:spPr>
        <p:txBody>
          <a:bodyPr lIns="50800" tIns="50800" rIns="50800" bIns="50800" anchor="ctr"/>
          <a:lstStyle/>
          <a:p>
            <a:pPr>
              <a:defRPr sz="2400">
                <a:solidFill>
                  <a:srgbClr val="FFFFFF"/>
                </a:solidFill>
              </a:defRPr>
            </a:pPr>
            <a:endParaRPr/>
          </a:p>
        </p:txBody>
      </p:sp>
    </p:spTree>
  </p:cSld>
  <p:clrMapOvr>
    <a:masterClrMapping/>
  </p:clrMapOvr>
  <p:transition spd="med"/>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0" name="Shape 250"/>
          <p:cNvSpPr>
            <a:spLocks noGrp="1"/>
          </p:cNvSpPr>
          <p:nvPr>
            <p:ph type="title"/>
          </p:nvPr>
        </p:nvSpPr>
        <p:spPr>
          <a:prstGeom prst="rect">
            <a:avLst/>
          </a:prstGeom>
        </p:spPr>
        <p:txBody>
          <a:bodyPr/>
          <a:lstStyle>
            <a:lvl1pPr defTabSz="490727">
              <a:defRPr sz="6719"/>
            </a:lvl1pPr>
          </a:lstStyle>
          <a:p>
            <a:r>
              <a:t>Detection And Description of Image Patches</a:t>
            </a:r>
          </a:p>
        </p:txBody>
      </p:sp>
      <p:pic>
        <p:nvPicPr>
          <p:cNvPr id="251" name="page54image8272.png"/>
          <p:cNvPicPr>
            <a:picLocks noChangeAspect="1"/>
          </p:cNvPicPr>
          <p:nvPr/>
        </p:nvPicPr>
        <p:blipFill>
          <a:blip r:embed="rId3">
            <a:extLst/>
          </a:blip>
          <a:stretch>
            <a:fillRect/>
          </a:stretch>
        </p:blipFill>
        <p:spPr>
          <a:xfrm>
            <a:off x="7277440" y="4138654"/>
            <a:ext cx="876301" cy="876301"/>
          </a:xfrm>
          <a:prstGeom prst="rect">
            <a:avLst/>
          </a:prstGeom>
          <a:ln w="12700">
            <a:miter lim="400000"/>
          </a:ln>
        </p:spPr>
      </p:pic>
      <p:pic>
        <p:nvPicPr>
          <p:cNvPr id="252" name="pasted-image.tiff"/>
          <p:cNvPicPr>
            <a:picLocks noChangeAspect="1"/>
          </p:cNvPicPr>
          <p:nvPr/>
        </p:nvPicPr>
        <p:blipFill>
          <a:blip r:embed="rId4">
            <a:extLst/>
          </a:blip>
          <a:stretch>
            <a:fillRect/>
          </a:stretch>
        </p:blipFill>
        <p:spPr>
          <a:xfrm>
            <a:off x="688985" y="3460750"/>
            <a:ext cx="6094205" cy="2484475"/>
          </a:xfrm>
          <a:prstGeom prst="rect">
            <a:avLst/>
          </a:prstGeom>
          <a:ln w="12700">
            <a:miter lim="400000"/>
          </a:ln>
        </p:spPr>
      </p:pic>
      <p:pic>
        <p:nvPicPr>
          <p:cNvPr id="253" name="pasted-image.pdf"/>
          <p:cNvPicPr>
            <a:picLocks noChangeAspect="1"/>
          </p:cNvPicPr>
          <p:nvPr/>
        </p:nvPicPr>
        <p:blipFill>
          <a:blip r:embed="rId5">
            <a:extLst/>
          </a:blip>
          <a:stretch>
            <a:fillRect/>
          </a:stretch>
        </p:blipFill>
        <p:spPr>
          <a:xfrm>
            <a:off x="8517869" y="3157555"/>
            <a:ext cx="3012448" cy="2964006"/>
          </a:xfrm>
          <a:prstGeom prst="rect">
            <a:avLst/>
          </a:prstGeom>
          <a:ln w="12700">
            <a:miter lim="400000"/>
          </a:ln>
        </p:spPr>
      </p:pic>
      <p:sp>
        <p:nvSpPr>
          <p:cNvPr id="254" name="Shape 254"/>
          <p:cNvSpPr/>
          <p:nvPr/>
        </p:nvSpPr>
        <p:spPr>
          <a:xfrm rot="10793492">
            <a:off x="8381213" y="4386788"/>
            <a:ext cx="1785618" cy="367846"/>
          </a:xfrm>
          <a:prstGeom prst="rightArrow">
            <a:avLst>
              <a:gd name="adj1" fmla="val 50955"/>
              <a:gd name="adj2" fmla="val 129850"/>
            </a:avLst>
          </a:prstGeom>
          <a:blipFill>
            <a:blip r:embed="rId6"/>
          </a:blipFill>
          <a:ln w="12700">
            <a:miter lim="400000"/>
          </a:ln>
          <a:effectLst>
            <a:outerShdw blurRad="38100" dist="25400" dir="5400000" rotWithShape="0">
              <a:srgbClr val="000000">
                <a:alpha val="50000"/>
              </a:srgbClr>
            </a:outerShdw>
          </a:effectLst>
        </p:spPr>
        <p:txBody>
          <a:bodyPr lIns="50800" tIns="50800" rIns="50800" bIns="50800" anchor="ctr"/>
          <a:lstStyle/>
          <a:p>
            <a:pPr>
              <a:defRPr sz="2400">
                <a:solidFill>
                  <a:srgbClr val="FFFFFF"/>
                </a:solidFill>
              </a:defRPr>
            </a:pPr>
            <a:endParaRPr/>
          </a:p>
        </p:txBody>
      </p:sp>
      <p:sp>
        <p:nvSpPr>
          <p:cNvPr id="255" name="Shape 255"/>
          <p:cNvSpPr/>
          <p:nvPr/>
        </p:nvSpPr>
        <p:spPr>
          <a:xfrm>
            <a:off x="5322134" y="3365998"/>
            <a:ext cx="425796" cy="2673978"/>
          </a:xfrm>
          <a:prstGeom prst="rect">
            <a:avLst/>
          </a:prstGeom>
          <a:ln w="50800">
            <a:solidFill>
              <a:schemeClr val="accent5"/>
            </a:solidFill>
            <a:miter lim="400000"/>
          </a:ln>
          <a:effectLst>
            <a:outerShdw blurRad="38100" dist="25400" dir="5400000" rotWithShape="0">
              <a:srgbClr val="000000">
                <a:alpha val="50000"/>
              </a:srgbClr>
            </a:outerShdw>
          </a:effectLst>
        </p:spPr>
        <p:txBody>
          <a:bodyPr lIns="50800" tIns="50800" rIns="50800" bIns="50800" anchor="ctr"/>
          <a:lstStyle/>
          <a:p>
            <a:pPr>
              <a:defRPr sz="2400">
                <a:solidFill>
                  <a:srgbClr val="FFFFFF"/>
                </a:solidFill>
              </a:defRPr>
            </a:pPr>
            <a:endParaRPr/>
          </a:p>
        </p:txBody>
      </p:sp>
      <p:sp>
        <p:nvSpPr>
          <p:cNvPr id="256" name="Shape 256"/>
          <p:cNvSpPr/>
          <p:nvPr/>
        </p:nvSpPr>
        <p:spPr>
          <a:xfrm>
            <a:off x="6381699" y="4552950"/>
            <a:ext cx="241402" cy="6477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p>
            <a:r>
              <a:t> </a:t>
            </a:r>
          </a:p>
        </p:txBody>
      </p:sp>
      <p:sp>
        <p:nvSpPr>
          <p:cNvPr id="257" name="Shape 257"/>
          <p:cNvSpPr/>
          <p:nvPr/>
        </p:nvSpPr>
        <p:spPr>
          <a:xfrm>
            <a:off x="2832100" y="5813209"/>
            <a:ext cx="190500" cy="4572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lgn="l" defTabSz="457200">
              <a:lnSpc>
                <a:spcPts val="2800"/>
              </a:lnSpc>
              <a:defRPr sz="1200">
                <a:latin typeface="Times"/>
                <a:ea typeface="Times"/>
                <a:cs typeface="Times"/>
                <a:sym typeface="Times"/>
              </a:defRPr>
            </a:lvl1pPr>
          </a:lstStyle>
          <a:p>
            <a:r>
              <a:t> </a:t>
            </a:r>
          </a:p>
        </p:txBody>
      </p:sp>
      <p:pic>
        <p:nvPicPr>
          <p:cNvPr id="258" name="pasted-image.tiff"/>
          <p:cNvPicPr>
            <a:picLocks noChangeAspect="1"/>
          </p:cNvPicPr>
          <p:nvPr/>
        </p:nvPicPr>
        <p:blipFill>
          <a:blip r:embed="rId7">
            <a:extLst/>
          </a:blip>
          <a:stretch>
            <a:fillRect/>
          </a:stretch>
        </p:blipFill>
        <p:spPr>
          <a:xfrm>
            <a:off x="6850651" y="6802474"/>
            <a:ext cx="5492491" cy="2402965"/>
          </a:xfrm>
          <a:prstGeom prst="rect">
            <a:avLst/>
          </a:prstGeom>
          <a:ln w="12700">
            <a:miter lim="400000"/>
          </a:ln>
        </p:spPr>
      </p:pic>
      <p:pic>
        <p:nvPicPr>
          <p:cNvPr id="259" name="pasted-image.tiff"/>
          <p:cNvPicPr>
            <a:picLocks noChangeAspect="1"/>
          </p:cNvPicPr>
          <p:nvPr/>
        </p:nvPicPr>
        <p:blipFill>
          <a:blip r:embed="rId8">
            <a:extLst/>
          </a:blip>
          <a:stretch>
            <a:fillRect/>
          </a:stretch>
        </p:blipFill>
        <p:spPr>
          <a:xfrm>
            <a:off x="646077" y="6682131"/>
            <a:ext cx="5670029" cy="2643651"/>
          </a:xfrm>
          <a:prstGeom prst="rect">
            <a:avLst/>
          </a:prstGeom>
          <a:ln w="12700">
            <a:miter lim="400000"/>
          </a:ln>
        </p:spPr>
      </p:pic>
    </p:spTree>
  </p:cSld>
  <p:clrMapOvr>
    <a:masterClrMapping/>
  </p:clrMapOvr>
  <p:transition spd="med"/>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 name="Shape 263"/>
          <p:cNvSpPr>
            <a:spLocks noGrp="1"/>
          </p:cNvSpPr>
          <p:nvPr>
            <p:ph type="title"/>
          </p:nvPr>
        </p:nvSpPr>
        <p:spPr>
          <a:prstGeom prst="rect">
            <a:avLst/>
          </a:prstGeom>
        </p:spPr>
        <p:txBody>
          <a:bodyPr/>
          <a:lstStyle>
            <a:lvl1pPr defTabSz="490727">
              <a:defRPr sz="6719"/>
            </a:lvl1pPr>
          </a:lstStyle>
          <a:p>
            <a:r>
              <a:t>Detection And Description of Image Patches</a:t>
            </a:r>
          </a:p>
        </p:txBody>
      </p:sp>
      <p:pic>
        <p:nvPicPr>
          <p:cNvPr id="264" name="page54image8272.png"/>
          <p:cNvPicPr>
            <a:picLocks noChangeAspect="1"/>
          </p:cNvPicPr>
          <p:nvPr/>
        </p:nvPicPr>
        <p:blipFill>
          <a:blip r:embed="rId3">
            <a:extLst/>
          </a:blip>
          <a:stretch>
            <a:fillRect/>
          </a:stretch>
        </p:blipFill>
        <p:spPr>
          <a:xfrm>
            <a:off x="7865191" y="4138654"/>
            <a:ext cx="876301" cy="876301"/>
          </a:xfrm>
          <a:prstGeom prst="rect">
            <a:avLst/>
          </a:prstGeom>
          <a:ln w="12700">
            <a:miter lim="400000"/>
          </a:ln>
        </p:spPr>
      </p:pic>
      <p:sp>
        <p:nvSpPr>
          <p:cNvPr id="265" name="Shape 265"/>
          <p:cNvSpPr/>
          <p:nvPr/>
        </p:nvSpPr>
        <p:spPr>
          <a:xfrm>
            <a:off x="6853143" y="4336789"/>
            <a:ext cx="241402" cy="6477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p>
            <a:r>
              <a:t> </a:t>
            </a:r>
          </a:p>
        </p:txBody>
      </p:sp>
      <p:sp>
        <p:nvSpPr>
          <p:cNvPr id="266" name="Shape 266"/>
          <p:cNvSpPr/>
          <p:nvPr/>
        </p:nvSpPr>
        <p:spPr>
          <a:xfrm>
            <a:off x="2832100" y="5813209"/>
            <a:ext cx="190500" cy="4572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lgn="l" defTabSz="457200">
              <a:lnSpc>
                <a:spcPts val="2800"/>
              </a:lnSpc>
              <a:defRPr sz="1200">
                <a:latin typeface="Times"/>
                <a:ea typeface="Times"/>
                <a:cs typeface="Times"/>
                <a:sym typeface="Times"/>
              </a:defRPr>
            </a:lvl1pPr>
          </a:lstStyle>
          <a:p>
            <a:r>
              <a:t> </a:t>
            </a:r>
          </a:p>
        </p:txBody>
      </p:sp>
      <p:pic>
        <p:nvPicPr>
          <p:cNvPr id="267" name="pasted-image.tiff"/>
          <p:cNvPicPr>
            <a:picLocks noChangeAspect="1"/>
          </p:cNvPicPr>
          <p:nvPr/>
        </p:nvPicPr>
        <p:blipFill>
          <a:blip r:embed="rId4">
            <a:extLst/>
          </a:blip>
          <a:srcRect l="55615"/>
          <a:stretch>
            <a:fillRect/>
          </a:stretch>
        </p:blipFill>
        <p:spPr>
          <a:xfrm>
            <a:off x="7997315" y="6583789"/>
            <a:ext cx="2795661" cy="2755676"/>
          </a:xfrm>
          <a:prstGeom prst="rect">
            <a:avLst/>
          </a:prstGeom>
          <a:ln w="12700">
            <a:miter lim="400000"/>
          </a:ln>
        </p:spPr>
      </p:pic>
      <p:pic>
        <p:nvPicPr>
          <p:cNvPr id="268" name="pasted-image.tiff"/>
          <p:cNvPicPr>
            <a:picLocks noChangeAspect="1"/>
          </p:cNvPicPr>
          <p:nvPr/>
        </p:nvPicPr>
        <p:blipFill>
          <a:blip r:embed="rId5">
            <a:extLst/>
          </a:blip>
          <a:stretch>
            <a:fillRect/>
          </a:stretch>
        </p:blipFill>
        <p:spPr>
          <a:xfrm>
            <a:off x="677102" y="6712711"/>
            <a:ext cx="6227753" cy="2402965"/>
          </a:xfrm>
          <a:prstGeom prst="rect">
            <a:avLst/>
          </a:prstGeom>
          <a:ln w="12700">
            <a:miter lim="400000"/>
          </a:ln>
        </p:spPr>
      </p:pic>
      <p:pic>
        <p:nvPicPr>
          <p:cNvPr id="269" name="page54image8272.png"/>
          <p:cNvPicPr>
            <a:picLocks noChangeAspect="1"/>
          </p:cNvPicPr>
          <p:nvPr/>
        </p:nvPicPr>
        <p:blipFill>
          <a:blip r:embed="rId3">
            <a:extLst/>
          </a:blip>
          <a:stretch>
            <a:fillRect/>
          </a:stretch>
        </p:blipFill>
        <p:spPr>
          <a:xfrm>
            <a:off x="7012934" y="7476043"/>
            <a:ext cx="876301" cy="876301"/>
          </a:xfrm>
          <a:prstGeom prst="rect">
            <a:avLst/>
          </a:prstGeom>
          <a:ln w="12700">
            <a:miter lim="400000"/>
          </a:ln>
        </p:spPr>
      </p:pic>
      <p:pic>
        <p:nvPicPr>
          <p:cNvPr id="270" name="pasted-image.tiff"/>
          <p:cNvPicPr>
            <a:picLocks noChangeAspect="1"/>
          </p:cNvPicPr>
          <p:nvPr/>
        </p:nvPicPr>
        <p:blipFill>
          <a:blip r:embed="rId6">
            <a:extLst/>
          </a:blip>
          <a:srcRect l="55967"/>
          <a:stretch>
            <a:fillRect/>
          </a:stretch>
        </p:blipFill>
        <p:spPr>
          <a:xfrm>
            <a:off x="743974" y="3279618"/>
            <a:ext cx="2662203" cy="2594527"/>
          </a:xfrm>
          <a:prstGeom prst="rect">
            <a:avLst/>
          </a:prstGeom>
          <a:ln w="12700">
            <a:miter lim="400000"/>
          </a:ln>
        </p:spPr>
      </p:pic>
      <p:pic>
        <p:nvPicPr>
          <p:cNvPr id="271" name="page54image8272.png"/>
          <p:cNvPicPr>
            <a:picLocks noChangeAspect="1"/>
          </p:cNvPicPr>
          <p:nvPr/>
        </p:nvPicPr>
        <p:blipFill>
          <a:blip r:embed="rId3">
            <a:extLst/>
          </a:blip>
          <a:stretch>
            <a:fillRect/>
          </a:stretch>
        </p:blipFill>
        <p:spPr>
          <a:xfrm>
            <a:off x="3611397" y="4222489"/>
            <a:ext cx="876301" cy="876301"/>
          </a:xfrm>
          <a:prstGeom prst="rect">
            <a:avLst/>
          </a:prstGeom>
          <a:ln w="12700">
            <a:miter lim="400000"/>
          </a:ln>
        </p:spPr>
      </p:pic>
      <p:pic>
        <p:nvPicPr>
          <p:cNvPr id="272" name="pasted-image.tiff"/>
          <p:cNvPicPr>
            <a:picLocks noChangeAspect="1"/>
          </p:cNvPicPr>
          <p:nvPr/>
        </p:nvPicPr>
        <p:blipFill>
          <a:blip r:embed="rId5">
            <a:extLst/>
          </a:blip>
          <a:srcRect l="60056"/>
          <a:stretch>
            <a:fillRect/>
          </a:stretch>
        </p:blipFill>
        <p:spPr>
          <a:xfrm>
            <a:off x="4692882" y="2994600"/>
            <a:ext cx="2828351" cy="2732155"/>
          </a:xfrm>
          <a:prstGeom prst="rect">
            <a:avLst/>
          </a:prstGeom>
          <a:ln w="12700">
            <a:miter lim="400000"/>
          </a:ln>
        </p:spPr>
      </p:pic>
      <p:sp>
        <p:nvSpPr>
          <p:cNvPr id="273" name="Shape 273"/>
          <p:cNvSpPr/>
          <p:nvPr/>
        </p:nvSpPr>
        <p:spPr>
          <a:xfrm>
            <a:off x="5990245" y="3323651"/>
            <a:ext cx="399097" cy="2506307"/>
          </a:xfrm>
          <a:prstGeom prst="rect">
            <a:avLst/>
          </a:prstGeom>
          <a:ln w="50800">
            <a:solidFill>
              <a:schemeClr val="accent5"/>
            </a:solidFill>
            <a:miter lim="400000"/>
          </a:ln>
          <a:effectLst>
            <a:outerShdw blurRad="38100" dist="25400" dir="5400000" rotWithShape="0">
              <a:srgbClr val="000000">
                <a:alpha val="50000"/>
              </a:srgbClr>
            </a:outerShdw>
          </a:effectLst>
        </p:spPr>
        <p:txBody>
          <a:bodyPr lIns="50800" tIns="50800" rIns="50800" bIns="50800" anchor="ctr"/>
          <a:lstStyle/>
          <a:p>
            <a:pPr>
              <a:defRPr sz="2400">
                <a:solidFill>
                  <a:srgbClr val="FFFFFF"/>
                </a:solidFill>
              </a:defRPr>
            </a:pPr>
            <a:endParaRPr/>
          </a:p>
        </p:txBody>
      </p:sp>
      <p:pic>
        <p:nvPicPr>
          <p:cNvPr id="274" name="pasted-image.tiff"/>
          <p:cNvPicPr>
            <a:picLocks noChangeAspect="1"/>
          </p:cNvPicPr>
          <p:nvPr/>
        </p:nvPicPr>
        <p:blipFill>
          <a:blip r:embed="rId6">
            <a:extLst/>
          </a:blip>
          <a:srcRect l="55967"/>
          <a:stretch>
            <a:fillRect/>
          </a:stretch>
        </p:blipFill>
        <p:spPr>
          <a:xfrm>
            <a:off x="9356987" y="3296458"/>
            <a:ext cx="2662203" cy="2594527"/>
          </a:xfrm>
          <a:prstGeom prst="rect">
            <a:avLst/>
          </a:prstGeom>
          <a:ln w="12700">
            <a:miter lim="400000"/>
          </a:ln>
        </p:spPr>
      </p:pic>
      <p:sp>
        <p:nvSpPr>
          <p:cNvPr id="275" name="Shape 275"/>
          <p:cNvSpPr/>
          <p:nvPr/>
        </p:nvSpPr>
        <p:spPr>
          <a:xfrm>
            <a:off x="713240" y="3298786"/>
            <a:ext cx="2586038" cy="2586039"/>
          </a:xfrm>
          <a:prstGeom prst="ellipse">
            <a:avLst/>
          </a:prstGeom>
          <a:ln w="76200">
            <a:solidFill>
              <a:schemeClr val="accent1"/>
            </a:solidFill>
            <a:miter lim="400000"/>
          </a:ln>
          <a:effectLst>
            <a:outerShdw blurRad="38100" dist="25400" dir="5400000" rotWithShape="0">
              <a:srgbClr val="000000">
                <a:alpha val="50000"/>
              </a:srgbClr>
            </a:outerShdw>
          </a:effectLst>
        </p:spPr>
        <p:txBody>
          <a:bodyPr lIns="50800" tIns="50800" rIns="50800" bIns="50800" anchor="ctr"/>
          <a:lstStyle/>
          <a:p>
            <a:pPr>
              <a:defRPr sz="2400">
                <a:solidFill>
                  <a:srgbClr val="FFFFFF"/>
                </a:solidFill>
              </a:defRPr>
            </a:pPr>
            <a:endParaRPr/>
          </a:p>
        </p:txBody>
      </p:sp>
      <p:sp>
        <p:nvSpPr>
          <p:cNvPr id="276" name="Shape 276"/>
          <p:cNvSpPr/>
          <p:nvPr/>
        </p:nvSpPr>
        <p:spPr>
          <a:xfrm>
            <a:off x="713240" y="6588209"/>
            <a:ext cx="2586038" cy="2586038"/>
          </a:xfrm>
          <a:prstGeom prst="ellipse">
            <a:avLst/>
          </a:prstGeom>
          <a:ln w="76200">
            <a:solidFill>
              <a:schemeClr val="accent1"/>
            </a:solidFill>
            <a:miter lim="400000"/>
          </a:ln>
          <a:effectLst>
            <a:outerShdw blurRad="38100" dist="25400" dir="5400000" rotWithShape="0">
              <a:srgbClr val="000000">
                <a:alpha val="50000"/>
              </a:srgbClr>
            </a:outerShdw>
          </a:effectLst>
        </p:spPr>
        <p:txBody>
          <a:bodyPr lIns="50800" tIns="50800" rIns="50800" bIns="50800" anchor="ctr"/>
          <a:lstStyle/>
          <a:p>
            <a:pPr>
              <a:defRPr sz="2400">
                <a:solidFill>
                  <a:srgbClr val="FFFFFF"/>
                </a:solidFill>
              </a:defRPr>
            </a:pPr>
            <a:endParaRPr/>
          </a:p>
        </p:txBody>
      </p:sp>
      <p:sp>
        <p:nvSpPr>
          <p:cNvPr id="277" name="Shape 277"/>
          <p:cNvSpPr/>
          <p:nvPr/>
        </p:nvSpPr>
        <p:spPr>
          <a:xfrm>
            <a:off x="9315456" y="3354765"/>
            <a:ext cx="2586038" cy="2586038"/>
          </a:xfrm>
          <a:prstGeom prst="ellipse">
            <a:avLst/>
          </a:prstGeom>
          <a:ln w="76200">
            <a:solidFill>
              <a:schemeClr val="accent1"/>
            </a:solidFill>
            <a:miter lim="400000"/>
          </a:ln>
          <a:effectLst>
            <a:outerShdw blurRad="38100" dist="25400" dir="5400000" rotWithShape="0">
              <a:srgbClr val="000000">
                <a:alpha val="50000"/>
              </a:srgbClr>
            </a:outerShdw>
          </a:effectLst>
        </p:spPr>
        <p:txBody>
          <a:bodyPr lIns="50800" tIns="50800" rIns="50800" bIns="50800" anchor="ctr"/>
          <a:lstStyle/>
          <a:p>
            <a:pPr>
              <a:defRPr sz="2400">
                <a:solidFill>
                  <a:srgbClr val="FFFFFF"/>
                </a:solidFill>
              </a:defRPr>
            </a:pPr>
            <a:endParaRPr/>
          </a:p>
        </p:txBody>
      </p:sp>
      <p:sp>
        <p:nvSpPr>
          <p:cNvPr id="278" name="Shape 278"/>
          <p:cNvSpPr/>
          <p:nvPr/>
        </p:nvSpPr>
        <p:spPr>
          <a:xfrm rot="10793492">
            <a:off x="8973373" y="4475931"/>
            <a:ext cx="1785618" cy="367846"/>
          </a:xfrm>
          <a:prstGeom prst="rightArrow">
            <a:avLst>
              <a:gd name="adj1" fmla="val 50955"/>
              <a:gd name="adj2" fmla="val 129850"/>
            </a:avLst>
          </a:prstGeom>
          <a:blipFill>
            <a:blip r:embed="rId7"/>
          </a:blipFill>
          <a:ln w="12700">
            <a:miter lim="400000"/>
          </a:ln>
          <a:effectLst>
            <a:outerShdw blurRad="38100" dist="25400" dir="5400000" rotWithShape="0">
              <a:srgbClr val="000000">
                <a:alpha val="50000"/>
              </a:srgbClr>
            </a:outerShdw>
          </a:effectLst>
        </p:spPr>
        <p:txBody>
          <a:bodyPr lIns="50800" tIns="50800" rIns="50800" bIns="50800" anchor="ctr"/>
          <a:lstStyle/>
          <a:p>
            <a:pPr>
              <a:defRPr sz="2400">
                <a:solidFill>
                  <a:srgbClr val="FFFFFF"/>
                </a:solidFill>
              </a:defRPr>
            </a:pPr>
            <a:endParaRPr/>
          </a:p>
        </p:txBody>
      </p:sp>
    </p:spTree>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 name="Shape 282"/>
          <p:cNvSpPr>
            <a:spLocks noGrp="1"/>
          </p:cNvSpPr>
          <p:nvPr>
            <p:ph type="title"/>
          </p:nvPr>
        </p:nvSpPr>
        <p:spPr>
          <a:prstGeom prst="rect">
            <a:avLst/>
          </a:prstGeom>
        </p:spPr>
        <p:txBody>
          <a:bodyPr/>
          <a:lstStyle>
            <a:lvl1pPr defTabSz="490727">
              <a:defRPr sz="6719"/>
            </a:lvl1pPr>
          </a:lstStyle>
          <a:p>
            <a:r>
              <a:t>Assignment of Patch Descriptors</a:t>
            </a:r>
          </a:p>
        </p:txBody>
      </p:sp>
      <p:sp>
        <p:nvSpPr>
          <p:cNvPr id="283" name="Shape 283"/>
          <p:cNvSpPr>
            <a:spLocks noGrp="1"/>
          </p:cNvSpPr>
          <p:nvPr>
            <p:ph type="body" idx="1"/>
          </p:nvPr>
        </p:nvSpPr>
        <p:spPr>
          <a:prstGeom prst="rect">
            <a:avLst/>
          </a:prstGeom>
        </p:spPr>
        <p:txBody>
          <a:bodyPr/>
          <a:lstStyle/>
          <a:p>
            <a:pPr marL="343879" lvl="1" indent="-343879" defTabSz="455675">
              <a:spcBef>
                <a:spcPts val="3200"/>
              </a:spcBef>
              <a:buSzPct val="100000"/>
              <a:buFont typeface="Arial"/>
              <a:defRPr sz="2807"/>
            </a:pPr>
            <a:r>
              <a:t>When a new query image is given, the derived descriptors should be assigned to ones that are already in our training dataset</a:t>
            </a:r>
            <a:endParaRPr sz="2184"/>
          </a:p>
          <a:p>
            <a:pPr marL="343879" lvl="1" indent="-343879" defTabSz="455675">
              <a:spcBef>
                <a:spcPts val="3200"/>
              </a:spcBef>
              <a:buSzPct val="100000"/>
              <a:buFont typeface="Arial"/>
              <a:defRPr sz="2807"/>
            </a:pPr>
            <a:endParaRPr sz="2184"/>
          </a:p>
          <a:p>
            <a:pPr marL="343879" lvl="1" indent="-343879" defTabSz="455675">
              <a:spcBef>
                <a:spcPts val="3200"/>
              </a:spcBef>
              <a:buSzPct val="100000"/>
              <a:buFont typeface="Arial"/>
              <a:defRPr sz="2807"/>
            </a:pPr>
            <a:r>
              <a:t>Check them with </a:t>
            </a:r>
            <a:endParaRPr sz="2184"/>
          </a:p>
          <a:p>
            <a:pPr marL="713231" lvl="2" indent="-401192" defTabSz="455675">
              <a:spcBef>
                <a:spcPts val="3200"/>
              </a:spcBef>
              <a:buSzPct val="100000"/>
              <a:buFont typeface="Arial"/>
              <a:defRPr sz="2807"/>
            </a:pPr>
            <a:r>
              <a:t>All the descriptors available in the training dataset – too expensive</a:t>
            </a:r>
            <a:endParaRPr sz="1871"/>
          </a:p>
          <a:p>
            <a:pPr marL="713231" lvl="2" indent="-401192" defTabSz="455675">
              <a:spcBef>
                <a:spcPts val="3200"/>
              </a:spcBef>
              <a:buSzPct val="100000"/>
              <a:buFont typeface="Arial"/>
              <a:defRPr sz="2807"/>
            </a:pPr>
            <a:r>
              <a:t>Only a few of them – but not too few</a:t>
            </a:r>
            <a:endParaRPr sz="1871"/>
          </a:p>
          <a:p>
            <a:pPr marL="343879" lvl="1" indent="-343879" defTabSz="455675">
              <a:spcBef>
                <a:spcPts val="3200"/>
              </a:spcBef>
              <a:buSzPct val="100000"/>
              <a:buFont typeface="Arial"/>
              <a:defRPr sz="2807"/>
            </a:pPr>
            <a:endParaRPr sz="2184"/>
          </a:p>
          <a:p>
            <a:pPr marL="343879" lvl="1" indent="-343879" defTabSz="455675">
              <a:spcBef>
                <a:spcPts val="3200"/>
              </a:spcBef>
              <a:buSzPct val="100000"/>
              <a:buFont typeface="Arial"/>
              <a:defRPr sz="2807"/>
            </a:pPr>
            <a:r>
              <a:t>The number of descriptors should be carefully selected</a:t>
            </a:r>
          </a:p>
        </p:txBody>
      </p:sp>
    </p:spTree>
  </p:cSld>
  <p:clrMapOvr>
    <a:masterClrMapping/>
  </p:clrMapOvr>
  <p:transition spd="med"/>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 name="Shape 287"/>
          <p:cNvSpPr>
            <a:spLocks noGrp="1"/>
          </p:cNvSpPr>
          <p:nvPr>
            <p:ph type="title"/>
          </p:nvPr>
        </p:nvSpPr>
        <p:spPr>
          <a:prstGeom prst="rect">
            <a:avLst/>
          </a:prstGeom>
        </p:spPr>
        <p:txBody>
          <a:bodyPr/>
          <a:lstStyle>
            <a:lvl1pPr defTabSz="490727">
              <a:defRPr sz="6719"/>
            </a:lvl1pPr>
          </a:lstStyle>
          <a:p>
            <a:r>
              <a:t>Assignment of Patch Descriptors</a:t>
            </a:r>
          </a:p>
        </p:txBody>
      </p:sp>
      <p:sp>
        <p:nvSpPr>
          <p:cNvPr id="288" name="Shape 288"/>
          <p:cNvSpPr>
            <a:spLocks noGrp="1"/>
          </p:cNvSpPr>
          <p:nvPr>
            <p:ph type="body" idx="1"/>
          </p:nvPr>
        </p:nvSpPr>
        <p:spPr>
          <a:xfrm>
            <a:off x="952500" y="2609850"/>
            <a:ext cx="11099800" cy="6286500"/>
          </a:xfrm>
          <a:prstGeom prst="rect">
            <a:avLst/>
          </a:prstGeom>
        </p:spPr>
        <p:txBody>
          <a:bodyPr anchor="t"/>
          <a:lstStyle/>
          <a:p>
            <a:pPr marL="440871" lvl="1" indent="-440871">
              <a:buSzPct val="100000"/>
              <a:buFont typeface="Arial"/>
            </a:pPr>
            <a:r>
              <a:t>Each patch has a descriptor, which is a point in some high-dimensional space (128)</a:t>
            </a:r>
          </a:p>
        </p:txBody>
      </p:sp>
      <p:pic>
        <p:nvPicPr>
          <p:cNvPr id="289" name="image15.png" descr="21.PNG"/>
          <p:cNvPicPr>
            <a:picLocks noChangeAspect="1"/>
          </p:cNvPicPr>
          <p:nvPr/>
        </p:nvPicPr>
        <p:blipFill>
          <a:blip r:embed="rId3">
            <a:extLst/>
          </a:blip>
          <a:stretch>
            <a:fillRect/>
          </a:stretch>
        </p:blipFill>
        <p:spPr>
          <a:xfrm>
            <a:off x="3457502" y="4352016"/>
            <a:ext cx="5255306" cy="4600255"/>
          </a:xfrm>
          <a:prstGeom prst="rect">
            <a:avLst/>
          </a:prstGeom>
          <a:ln w="12700">
            <a:miter lim="400000"/>
          </a:ln>
        </p:spPr>
      </p:pic>
    </p:spTree>
  </p:cSld>
  <p:clrMapOvr>
    <a:masterClrMapping/>
  </p:clrMapOvr>
  <p:transition spd="med"/>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 name="Shape 293"/>
          <p:cNvSpPr>
            <a:spLocks noGrp="1"/>
          </p:cNvSpPr>
          <p:nvPr>
            <p:ph type="title"/>
          </p:nvPr>
        </p:nvSpPr>
        <p:spPr>
          <a:prstGeom prst="rect">
            <a:avLst/>
          </a:prstGeom>
        </p:spPr>
        <p:txBody>
          <a:bodyPr/>
          <a:lstStyle>
            <a:lvl1pPr defTabSz="490727">
              <a:defRPr sz="6719"/>
            </a:lvl1pPr>
          </a:lstStyle>
          <a:p>
            <a:r>
              <a:t>Assignment of Patch Descriptors</a:t>
            </a:r>
          </a:p>
        </p:txBody>
      </p:sp>
      <p:sp>
        <p:nvSpPr>
          <p:cNvPr id="294" name="Shape 294"/>
          <p:cNvSpPr>
            <a:spLocks noGrp="1"/>
          </p:cNvSpPr>
          <p:nvPr>
            <p:ph type="body" idx="1"/>
          </p:nvPr>
        </p:nvSpPr>
        <p:spPr>
          <a:prstGeom prst="rect">
            <a:avLst/>
          </a:prstGeom>
        </p:spPr>
        <p:txBody>
          <a:bodyPr anchor="t"/>
          <a:lstStyle/>
          <a:p>
            <a:r>
              <a:t>Close points in feature space, means similar descriptors, which indicates similar local content</a:t>
            </a:r>
          </a:p>
        </p:txBody>
      </p:sp>
      <p:pic>
        <p:nvPicPr>
          <p:cNvPr id="295" name="image16.png" descr="22.PNG"/>
          <p:cNvPicPr>
            <a:picLocks noChangeAspect="1"/>
          </p:cNvPicPr>
          <p:nvPr/>
        </p:nvPicPr>
        <p:blipFill>
          <a:blip r:embed="rId3">
            <a:extLst/>
          </a:blip>
          <a:stretch>
            <a:fillRect/>
          </a:stretch>
        </p:blipFill>
        <p:spPr>
          <a:xfrm>
            <a:off x="1044789" y="4340731"/>
            <a:ext cx="10224565" cy="3570483"/>
          </a:xfrm>
          <a:prstGeom prst="rect">
            <a:avLst/>
          </a:prstGeom>
          <a:ln w="12700">
            <a:miter lim="400000"/>
          </a:ln>
        </p:spPr>
      </p:pic>
    </p:spTree>
  </p:cSld>
  <p:clrMapOvr>
    <a:masterClrMapping/>
  </p:clrMapOvr>
  <p:transition spd="med"/>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 name="Shape 299"/>
          <p:cNvSpPr>
            <a:spLocks noGrp="1"/>
          </p:cNvSpPr>
          <p:nvPr>
            <p:ph type="title"/>
          </p:nvPr>
        </p:nvSpPr>
        <p:spPr>
          <a:prstGeom prst="rect">
            <a:avLst/>
          </a:prstGeom>
        </p:spPr>
        <p:txBody>
          <a:bodyPr/>
          <a:lstStyle>
            <a:lvl1pPr defTabSz="490727">
              <a:defRPr sz="6719"/>
            </a:lvl1pPr>
          </a:lstStyle>
          <a:p>
            <a:r>
              <a:t>Assignment of Patch Descriptors</a:t>
            </a:r>
          </a:p>
        </p:txBody>
      </p:sp>
      <p:sp>
        <p:nvSpPr>
          <p:cNvPr id="300" name="Shape 300"/>
          <p:cNvSpPr>
            <a:spLocks noGrp="1"/>
          </p:cNvSpPr>
          <p:nvPr>
            <p:ph type="body" idx="1"/>
          </p:nvPr>
        </p:nvSpPr>
        <p:spPr>
          <a:prstGeom prst="rect">
            <a:avLst/>
          </a:prstGeom>
        </p:spPr>
        <p:txBody>
          <a:bodyPr/>
          <a:lstStyle/>
          <a:p>
            <a:pPr marL="396784" lvl="1" indent="-396784" defTabSz="525779">
              <a:spcBef>
                <a:spcPts val="3700"/>
              </a:spcBef>
              <a:buSzPct val="100000"/>
              <a:buFont typeface="Arial"/>
              <a:defRPr sz="3239"/>
            </a:pPr>
            <a:r>
              <a:t>To reduce the huge number of descriptors involved (600 000), they are clustered </a:t>
            </a:r>
            <a:endParaRPr sz="2520"/>
          </a:p>
          <a:p>
            <a:pPr marL="396784" lvl="1" indent="-396784" defTabSz="525779">
              <a:spcBef>
                <a:spcPts val="3700"/>
              </a:spcBef>
              <a:buSzPct val="100000"/>
              <a:buFont typeface="Arial"/>
              <a:defRPr sz="3239"/>
            </a:pPr>
            <a:r>
              <a:t>Using K-means</a:t>
            </a:r>
            <a:endParaRPr sz="2520"/>
          </a:p>
          <a:p>
            <a:pPr marL="0" lvl="1" indent="3963352" defTabSz="525779">
              <a:spcBef>
                <a:spcPts val="3700"/>
              </a:spcBef>
              <a:buSzTx/>
              <a:buFont typeface="Arial"/>
              <a:buNone/>
              <a:defRPr sz="3239"/>
            </a:pPr>
            <a:r>
              <a:t>K-means is run several times using different K values and initial positions</a:t>
            </a:r>
            <a:endParaRPr sz="2520"/>
          </a:p>
          <a:p>
            <a:pPr marL="0" lvl="1" indent="3963352" defTabSz="525779">
              <a:spcBef>
                <a:spcPts val="3700"/>
              </a:spcBef>
              <a:buSzTx/>
              <a:buFont typeface="Arial"/>
              <a:buNone/>
              <a:defRPr sz="3239"/>
            </a:pPr>
            <a:endParaRPr sz="2520"/>
          </a:p>
          <a:p>
            <a:pPr marL="0" lvl="1" indent="3963352" defTabSz="525779">
              <a:spcBef>
                <a:spcPts val="3700"/>
              </a:spcBef>
              <a:buSzTx/>
              <a:buFont typeface="Arial"/>
              <a:buNone/>
              <a:defRPr sz="3239"/>
            </a:pPr>
            <a:r>
              <a:t>One with the lowest empirical risk is used</a:t>
            </a:r>
          </a:p>
        </p:txBody>
      </p:sp>
      <p:pic>
        <p:nvPicPr>
          <p:cNvPr id="301" name="image17.png" descr="23.PNG"/>
          <p:cNvPicPr>
            <a:picLocks noChangeAspect="1"/>
          </p:cNvPicPr>
          <p:nvPr/>
        </p:nvPicPr>
        <p:blipFill>
          <a:blip r:embed="rId3">
            <a:extLst/>
          </a:blip>
          <a:stretch>
            <a:fillRect/>
          </a:stretch>
        </p:blipFill>
        <p:spPr>
          <a:xfrm>
            <a:off x="1168454" y="5467267"/>
            <a:ext cx="3919566" cy="2920994"/>
          </a:xfrm>
          <a:prstGeom prst="rect">
            <a:avLst/>
          </a:prstGeom>
          <a:ln w="12700">
            <a:miter lim="400000"/>
          </a:ln>
        </p:spPr>
      </p:pic>
    </p:spTree>
  </p:cSld>
  <p:clrMapOvr>
    <a:masterClrMapping/>
  </p:clrMapOvr>
  <p:transition spd="med"/>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 name="image18.png" descr="24.PNG"/>
          <p:cNvPicPr>
            <a:picLocks noChangeAspect="1"/>
          </p:cNvPicPr>
          <p:nvPr/>
        </p:nvPicPr>
        <p:blipFill>
          <a:blip r:embed="rId3">
            <a:extLst/>
          </a:blip>
          <a:stretch>
            <a:fillRect/>
          </a:stretch>
        </p:blipFill>
        <p:spPr>
          <a:xfrm>
            <a:off x="599596" y="4472139"/>
            <a:ext cx="5170442" cy="4159109"/>
          </a:xfrm>
          <a:prstGeom prst="rect">
            <a:avLst/>
          </a:prstGeom>
          <a:ln w="12700">
            <a:miter lim="400000"/>
          </a:ln>
        </p:spPr>
      </p:pic>
      <p:sp>
        <p:nvSpPr>
          <p:cNvPr id="305" name="Shape 305"/>
          <p:cNvSpPr>
            <a:spLocks noGrp="1"/>
          </p:cNvSpPr>
          <p:nvPr>
            <p:ph type="title"/>
          </p:nvPr>
        </p:nvSpPr>
        <p:spPr>
          <a:prstGeom prst="rect">
            <a:avLst/>
          </a:prstGeom>
        </p:spPr>
        <p:txBody>
          <a:bodyPr/>
          <a:lstStyle>
            <a:lvl1pPr defTabSz="490727">
              <a:defRPr sz="6719"/>
            </a:lvl1pPr>
          </a:lstStyle>
          <a:p>
            <a:r>
              <a:t>Assignment of Patch Descriptors</a:t>
            </a:r>
          </a:p>
        </p:txBody>
      </p:sp>
      <p:sp>
        <p:nvSpPr>
          <p:cNvPr id="306" name="Shape 306"/>
          <p:cNvSpPr>
            <a:spLocks noGrp="1"/>
          </p:cNvSpPr>
          <p:nvPr>
            <p:ph type="body" idx="1"/>
          </p:nvPr>
        </p:nvSpPr>
        <p:spPr>
          <a:prstGeom prst="rect">
            <a:avLst/>
          </a:prstGeom>
        </p:spPr>
        <p:txBody>
          <a:bodyPr/>
          <a:lstStyle/>
          <a:p>
            <a:pPr marL="434522" lvl="1" indent="-434522" defTabSz="514095">
              <a:spcBef>
                <a:spcPts val="3600"/>
              </a:spcBef>
              <a:buSzPct val="100000"/>
              <a:buFont typeface="Arial"/>
              <a:defRPr sz="3168"/>
            </a:pPr>
            <a:r>
              <a:rPr dirty="0"/>
              <a:t>Now the descriptor space looks like</a:t>
            </a:r>
            <a:endParaRPr sz="2200" dirty="0"/>
          </a:p>
          <a:p>
            <a:pPr marL="0" lvl="1" indent="4583557" defTabSz="514095">
              <a:spcBef>
                <a:spcPts val="3600"/>
              </a:spcBef>
              <a:buSzTx/>
              <a:buFont typeface="Arial"/>
              <a:buNone/>
              <a:defRPr sz="3168"/>
            </a:pPr>
            <a:endParaRPr sz="2200" dirty="0"/>
          </a:p>
          <a:p>
            <a:pPr marL="0" lvl="1" indent="4583557" defTabSz="514095">
              <a:spcBef>
                <a:spcPts val="3600"/>
              </a:spcBef>
              <a:buSzTx/>
              <a:buFont typeface="Arial"/>
              <a:buNone/>
              <a:defRPr sz="3168"/>
            </a:pPr>
            <a:r>
              <a:rPr dirty="0"/>
              <a:t>Feature space is quantized</a:t>
            </a:r>
            <a:endParaRPr sz="2200" dirty="0"/>
          </a:p>
          <a:p>
            <a:pPr marL="0" lvl="1" indent="4583557" defTabSz="514095">
              <a:spcBef>
                <a:spcPts val="3600"/>
              </a:spcBef>
              <a:buSzTx/>
              <a:buFont typeface="Arial"/>
              <a:buNone/>
              <a:defRPr sz="3168"/>
            </a:pPr>
            <a:endParaRPr sz="2200" dirty="0"/>
          </a:p>
          <a:p>
            <a:pPr marL="0" lvl="1" indent="4583557" defTabSz="514095">
              <a:spcBef>
                <a:spcPts val="3600"/>
              </a:spcBef>
              <a:buSzTx/>
              <a:buFont typeface="Arial"/>
              <a:buNone/>
              <a:defRPr sz="3168"/>
            </a:pPr>
            <a:r>
              <a:rPr dirty="0"/>
              <a:t>These cluster centers are the prototype words</a:t>
            </a:r>
            <a:endParaRPr sz="2200" dirty="0"/>
          </a:p>
          <a:p>
            <a:pPr marL="0" lvl="1" indent="4583557" defTabSz="514095">
              <a:spcBef>
                <a:spcPts val="3600"/>
              </a:spcBef>
              <a:buSzTx/>
              <a:buFont typeface="Arial"/>
              <a:buNone/>
              <a:defRPr sz="3168"/>
            </a:pPr>
            <a:endParaRPr sz="2200" dirty="0"/>
          </a:p>
          <a:p>
            <a:pPr marL="0" lvl="1" indent="4583557" defTabSz="514095">
              <a:spcBef>
                <a:spcPts val="3600"/>
              </a:spcBef>
              <a:buSzTx/>
              <a:buFont typeface="Arial"/>
              <a:buNone/>
              <a:defRPr sz="3168"/>
            </a:pPr>
            <a:r>
              <a:rPr dirty="0"/>
              <a:t>They make the </a:t>
            </a:r>
            <a:r>
              <a:rPr dirty="0">
                <a:solidFill>
                  <a:srgbClr val="FF0000"/>
                </a:solidFill>
              </a:rPr>
              <a:t>vocabulary</a:t>
            </a:r>
          </a:p>
        </p:txBody>
      </p:sp>
    </p:spTree>
  </p:cSld>
  <p:clrMapOvr>
    <a:masterClrMapping/>
  </p:clrMapOvr>
  <p:transition spd="med"/>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 name="Shape 311"/>
          <p:cNvSpPr>
            <a:spLocks noGrp="1"/>
          </p:cNvSpPr>
          <p:nvPr>
            <p:ph type="title"/>
          </p:nvPr>
        </p:nvSpPr>
        <p:spPr>
          <a:prstGeom prst="rect">
            <a:avLst/>
          </a:prstGeom>
        </p:spPr>
        <p:txBody>
          <a:bodyPr/>
          <a:lstStyle>
            <a:lvl1pPr defTabSz="490727">
              <a:defRPr sz="6719"/>
            </a:lvl1pPr>
          </a:lstStyle>
          <a:p>
            <a:r>
              <a:t>Assignment of Patch Descriptors</a:t>
            </a:r>
          </a:p>
        </p:txBody>
      </p:sp>
      <p:sp>
        <p:nvSpPr>
          <p:cNvPr id="312" name="Shape 312"/>
          <p:cNvSpPr>
            <a:spLocks noGrp="1"/>
          </p:cNvSpPr>
          <p:nvPr>
            <p:ph type="body" idx="1"/>
          </p:nvPr>
        </p:nvSpPr>
        <p:spPr>
          <a:prstGeom prst="rect">
            <a:avLst/>
          </a:prstGeom>
        </p:spPr>
        <p:txBody>
          <a:bodyPr/>
          <a:lstStyle/>
          <a:p>
            <a:pPr marL="440871" lvl="1" indent="-440871">
              <a:buSzPct val="100000"/>
              <a:buFont typeface="Arial"/>
            </a:pPr>
            <a:r>
              <a:t>When a query image comes</a:t>
            </a:r>
            <a:endParaRPr sz="2800"/>
          </a:p>
          <a:p>
            <a:pPr marL="0" lvl="1" indent="5208587">
              <a:buSzTx/>
              <a:buFont typeface="Arial"/>
              <a:buNone/>
            </a:pPr>
            <a:r>
              <a:t>Its descriptors are attached to the nearest cluster center </a:t>
            </a:r>
            <a:endParaRPr sz="2800"/>
          </a:p>
          <a:p>
            <a:pPr marL="0" lvl="1" indent="5208587">
              <a:buSzTx/>
              <a:buFont typeface="Arial"/>
              <a:buNone/>
            </a:pPr>
            <a:endParaRPr sz="2800"/>
          </a:p>
          <a:p>
            <a:pPr marL="0" lvl="1" indent="5208587">
              <a:buSzTx/>
              <a:buFont typeface="Arial"/>
              <a:buNone/>
            </a:pPr>
            <a:r>
              <a:t>That particular </a:t>
            </a:r>
            <a:r>
              <a:rPr>
                <a:solidFill>
                  <a:srgbClr val="FF0000"/>
                </a:solidFill>
              </a:rPr>
              <a:t>word</a:t>
            </a:r>
            <a:r>
              <a:t> is present in the query image</a:t>
            </a:r>
          </a:p>
        </p:txBody>
      </p:sp>
      <p:grpSp>
        <p:nvGrpSpPr>
          <p:cNvPr id="315" name="Group 315"/>
          <p:cNvGrpSpPr/>
          <p:nvPr/>
        </p:nvGrpSpPr>
        <p:grpSpPr>
          <a:xfrm>
            <a:off x="357283" y="4922415"/>
            <a:ext cx="5576797" cy="3186741"/>
            <a:chOff x="0" y="0"/>
            <a:chExt cx="5576795" cy="3186740"/>
          </a:xfrm>
        </p:grpSpPr>
        <p:pic>
          <p:nvPicPr>
            <p:cNvPr id="313" name="image19.png" descr="24.PNG"/>
            <p:cNvPicPr>
              <a:picLocks noChangeAspect="1"/>
            </p:cNvPicPr>
            <p:nvPr/>
          </p:nvPicPr>
          <p:blipFill>
            <a:blip r:embed="rId3">
              <a:extLst/>
            </a:blip>
            <a:stretch>
              <a:fillRect/>
            </a:stretch>
          </p:blipFill>
          <p:spPr>
            <a:xfrm>
              <a:off x="0" y="0"/>
              <a:ext cx="5576796" cy="3076852"/>
            </a:xfrm>
            <a:prstGeom prst="rect">
              <a:avLst/>
            </a:prstGeom>
            <a:ln w="12700" cap="flat">
              <a:noFill/>
              <a:miter lim="400000"/>
            </a:ln>
            <a:effectLst/>
          </p:spPr>
        </p:pic>
        <p:sp>
          <p:nvSpPr>
            <p:cNvPr id="314" name="Shape 314"/>
            <p:cNvSpPr/>
            <p:nvPr/>
          </p:nvSpPr>
          <p:spPr>
            <a:xfrm>
              <a:off x="88520" y="1593370"/>
              <a:ext cx="2832659" cy="1593371"/>
            </a:xfrm>
            <a:prstGeom prst="rect">
              <a:avLst/>
            </a:prstGeom>
            <a:solidFill>
              <a:srgbClr val="FFFFFF"/>
            </a:solidFill>
            <a:ln w="12700" cap="flat">
              <a:noFill/>
              <a:miter lim="400000"/>
            </a:ln>
            <a:effectLst/>
          </p:spPr>
          <p:txBody>
            <a:bodyPr wrap="square" lIns="45719" tIns="45719" rIns="45719" bIns="45719" numCol="1" anchor="ctr">
              <a:noAutofit/>
            </a:bodyPr>
            <a:lstStyle/>
            <a:p>
              <a:pPr defTabSz="914400">
                <a:defRPr sz="1800">
                  <a:solidFill>
                    <a:srgbClr val="FFFFFF"/>
                  </a:solidFill>
                  <a:latin typeface="Calibri"/>
                  <a:ea typeface="Calibri"/>
                  <a:cs typeface="Calibri"/>
                  <a:sym typeface="Calibri"/>
                </a:defRPr>
              </a:pPr>
              <a:endParaRPr/>
            </a:p>
          </p:txBody>
        </p:sp>
      </p:grpSp>
    </p:spTree>
  </p:cSld>
  <p:clrMapOvr>
    <a:masterClrMapping/>
  </p:clrMapOvr>
  <p:transition spd="med"/>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 name="Shape 319"/>
          <p:cNvSpPr>
            <a:spLocks noGrp="1"/>
          </p:cNvSpPr>
          <p:nvPr>
            <p:ph type="title"/>
          </p:nvPr>
        </p:nvSpPr>
        <p:spPr>
          <a:prstGeom prst="rect">
            <a:avLst/>
          </a:prstGeom>
        </p:spPr>
        <p:txBody>
          <a:bodyPr/>
          <a:lstStyle>
            <a:lvl1pPr defTabSz="490727">
              <a:defRPr sz="6719"/>
            </a:lvl1pPr>
          </a:lstStyle>
          <a:p>
            <a:r>
              <a:t>Assignment of Patch Descriptors</a:t>
            </a:r>
          </a:p>
        </p:txBody>
      </p:sp>
      <p:sp>
        <p:nvSpPr>
          <p:cNvPr id="320" name="Shape 320"/>
          <p:cNvSpPr>
            <a:spLocks noGrp="1"/>
          </p:cNvSpPr>
          <p:nvPr>
            <p:ph type="body" idx="1"/>
          </p:nvPr>
        </p:nvSpPr>
        <p:spPr>
          <a:prstGeom prst="rect">
            <a:avLst/>
          </a:prstGeom>
        </p:spPr>
        <p:txBody>
          <a:bodyPr anchor="t"/>
          <a:lstStyle/>
          <a:p>
            <a:pPr marL="385762" indent="-385762">
              <a:buSzPct val="100000"/>
              <a:buFont typeface="Arial"/>
            </a:pPr>
            <a:r>
              <a:t>Vocabulary should be</a:t>
            </a:r>
          </a:p>
          <a:p>
            <a:pPr marL="824592" lvl="1" indent="-367392">
              <a:buSzPct val="100000"/>
              <a:buFont typeface="Arial"/>
              <a:buChar char="–"/>
            </a:pPr>
            <a:r>
              <a:t>Large enough to distinguish relevant changes in the image parts</a:t>
            </a:r>
            <a:endParaRPr sz="2800"/>
          </a:p>
          <a:p>
            <a:pPr marL="824592" lvl="1" indent="-367392">
              <a:buSzPct val="100000"/>
              <a:buFont typeface="Arial"/>
              <a:buChar char="–"/>
            </a:pPr>
            <a:r>
              <a:t>Not so large that noise starts affecting the categorization</a:t>
            </a:r>
          </a:p>
        </p:txBody>
      </p:sp>
    </p:spTree>
  </p:cSld>
  <p:clrMapOvr>
    <a:masterClrMapping/>
  </p:clrMapOvr>
  <p:transition spd="med"/>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 name="Shape 324"/>
          <p:cNvSpPr>
            <a:spLocks noGrp="1"/>
          </p:cNvSpPr>
          <p:nvPr>
            <p:ph type="title"/>
          </p:nvPr>
        </p:nvSpPr>
        <p:spPr>
          <a:prstGeom prst="rect">
            <a:avLst/>
          </a:prstGeom>
        </p:spPr>
        <p:txBody>
          <a:bodyPr/>
          <a:lstStyle>
            <a:lvl1pPr defTabSz="490727">
              <a:defRPr sz="6719"/>
            </a:lvl1pPr>
          </a:lstStyle>
          <a:p>
            <a:r>
              <a:t>Contruction of Bags of Keypoints</a:t>
            </a:r>
          </a:p>
        </p:txBody>
      </p:sp>
      <p:sp>
        <p:nvSpPr>
          <p:cNvPr id="325" name="Shape 325"/>
          <p:cNvSpPr>
            <a:spLocks noGrp="1"/>
          </p:cNvSpPr>
          <p:nvPr>
            <p:ph type="body" idx="1"/>
          </p:nvPr>
        </p:nvSpPr>
        <p:spPr>
          <a:prstGeom prst="rect">
            <a:avLst/>
          </a:prstGeom>
        </p:spPr>
        <p:txBody>
          <a:bodyPr anchor="t"/>
          <a:lstStyle/>
          <a:p>
            <a:r>
              <a:t>Summarize entire image based on its distribution (histogram) of word  occurrences</a:t>
            </a:r>
          </a:p>
        </p:txBody>
      </p:sp>
      <p:grpSp>
        <p:nvGrpSpPr>
          <p:cNvPr id="356" name="Group 356"/>
          <p:cNvGrpSpPr/>
          <p:nvPr/>
        </p:nvGrpSpPr>
        <p:grpSpPr>
          <a:xfrm>
            <a:off x="1833575" y="5799054"/>
            <a:ext cx="8763001" cy="2209801"/>
            <a:chOff x="0" y="0"/>
            <a:chExt cx="8763000" cy="2209800"/>
          </a:xfrm>
        </p:grpSpPr>
        <p:sp>
          <p:nvSpPr>
            <p:cNvPr id="326" name="Shape 326"/>
            <p:cNvSpPr/>
            <p:nvPr/>
          </p:nvSpPr>
          <p:spPr>
            <a:xfrm>
              <a:off x="6248400" y="1792287"/>
              <a:ext cx="2514600" cy="1"/>
            </a:xfrm>
            <a:prstGeom prst="line">
              <a:avLst/>
            </a:prstGeom>
            <a:noFill/>
            <a:ln w="38100" cap="flat">
              <a:solidFill>
                <a:srgbClr val="000000"/>
              </a:solidFill>
              <a:prstDash val="solid"/>
              <a:round/>
              <a:tailEnd type="triangle" w="med" len="med"/>
            </a:ln>
            <a:effectLst/>
          </p:spPr>
          <p:txBody>
            <a:bodyPr wrap="square" lIns="45719" tIns="45719" rIns="45719" bIns="45719" numCol="1" anchor="t">
              <a:noAutofit/>
            </a:bodyPr>
            <a:lstStyle/>
            <a:p>
              <a:pPr algn="l" defTabSz="914400">
                <a:defRPr sz="1800">
                  <a:latin typeface="Calibri"/>
                  <a:ea typeface="Calibri"/>
                  <a:cs typeface="Calibri"/>
                  <a:sym typeface="Calibri"/>
                </a:defRPr>
              </a:pPr>
              <a:endParaRPr/>
            </a:p>
          </p:txBody>
        </p:sp>
        <p:sp>
          <p:nvSpPr>
            <p:cNvPr id="327" name="Shape 327"/>
            <p:cNvSpPr/>
            <p:nvPr/>
          </p:nvSpPr>
          <p:spPr>
            <a:xfrm>
              <a:off x="7620000" y="-1"/>
              <a:ext cx="152400" cy="1792289"/>
            </a:xfrm>
            <a:prstGeom prst="rect">
              <a:avLst/>
            </a:prstGeom>
            <a:solidFill>
              <a:srgbClr val="B32727"/>
            </a:solidFill>
            <a:ln w="12700" cap="flat">
              <a:solidFill>
                <a:srgbClr val="000000"/>
              </a:solidFill>
              <a:prstDash val="solid"/>
              <a:miter lim="800000"/>
            </a:ln>
            <a:effectLst/>
          </p:spPr>
          <p:txBody>
            <a:bodyPr wrap="square" lIns="45719" tIns="45719" rIns="45719" bIns="45719" numCol="1" anchor="ctr">
              <a:noAutofit/>
            </a:bodyPr>
            <a:lstStyle/>
            <a:p>
              <a:pPr algn="l" defTabSz="914400">
                <a:defRPr sz="1800">
                  <a:latin typeface="Calibri"/>
                  <a:ea typeface="Calibri"/>
                  <a:cs typeface="Calibri"/>
                  <a:sym typeface="Calibri"/>
                </a:defRPr>
              </a:pPr>
              <a:endParaRPr/>
            </a:p>
          </p:txBody>
        </p:sp>
        <p:sp>
          <p:nvSpPr>
            <p:cNvPr id="328" name="Shape 328"/>
            <p:cNvSpPr/>
            <p:nvPr/>
          </p:nvSpPr>
          <p:spPr>
            <a:xfrm>
              <a:off x="6629400" y="1524000"/>
              <a:ext cx="152400" cy="268288"/>
            </a:xfrm>
            <a:prstGeom prst="rect">
              <a:avLst/>
            </a:prstGeom>
            <a:solidFill>
              <a:srgbClr val="B32727"/>
            </a:solidFill>
            <a:ln w="12700" cap="flat">
              <a:solidFill>
                <a:srgbClr val="000000"/>
              </a:solidFill>
              <a:prstDash val="solid"/>
              <a:miter lim="800000"/>
            </a:ln>
            <a:effectLst/>
          </p:spPr>
          <p:txBody>
            <a:bodyPr wrap="square" lIns="45719" tIns="45719" rIns="45719" bIns="45719" numCol="1" anchor="ctr">
              <a:noAutofit/>
            </a:bodyPr>
            <a:lstStyle/>
            <a:p>
              <a:pPr algn="l" defTabSz="914400">
                <a:defRPr sz="1800">
                  <a:latin typeface="Calibri"/>
                  <a:ea typeface="Calibri"/>
                  <a:cs typeface="Calibri"/>
                  <a:sym typeface="Calibri"/>
                </a:defRPr>
              </a:pPr>
              <a:endParaRPr/>
            </a:p>
          </p:txBody>
        </p:sp>
        <p:sp>
          <p:nvSpPr>
            <p:cNvPr id="329" name="Shape 329"/>
            <p:cNvSpPr/>
            <p:nvPr/>
          </p:nvSpPr>
          <p:spPr>
            <a:xfrm>
              <a:off x="7086600" y="1295400"/>
              <a:ext cx="152400" cy="496888"/>
            </a:xfrm>
            <a:prstGeom prst="rect">
              <a:avLst/>
            </a:prstGeom>
            <a:solidFill>
              <a:srgbClr val="B32727"/>
            </a:solidFill>
            <a:ln w="12700" cap="flat">
              <a:solidFill>
                <a:srgbClr val="000000"/>
              </a:solidFill>
              <a:prstDash val="solid"/>
              <a:miter lim="800000"/>
            </a:ln>
            <a:effectLst/>
          </p:spPr>
          <p:txBody>
            <a:bodyPr wrap="square" lIns="45719" tIns="45719" rIns="45719" bIns="45719" numCol="1" anchor="ctr">
              <a:noAutofit/>
            </a:bodyPr>
            <a:lstStyle/>
            <a:p>
              <a:pPr algn="l" defTabSz="914400">
                <a:defRPr sz="1800">
                  <a:latin typeface="Calibri"/>
                  <a:ea typeface="Calibri"/>
                  <a:cs typeface="Calibri"/>
                  <a:sym typeface="Calibri"/>
                </a:defRPr>
              </a:pPr>
              <a:endParaRPr/>
            </a:p>
          </p:txBody>
        </p:sp>
        <p:sp>
          <p:nvSpPr>
            <p:cNvPr id="330" name="Shape 330"/>
            <p:cNvSpPr/>
            <p:nvPr/>
          </p:nvSpPr>
          <p:spPr>
            <a:xfrm>
              <a:off x="8229600" y="1524000"/>
              <a:ext cx="152400" cy="268288"/>
            </a:xfrm>
            <a:prstGeom prst="rect">
              <a:avLst/>
            </a:prstGeom>
            <a:solidFill>
              <a:srgbClr val="B32727"/>
            </a:solidFill>
            <a:ln w="12700" cap="flat">
              <a:solidFill>
                <a:srgbClr val="000000"/>
              </a:solidFill>
              <a:prstDash val="solid"/>
              <a:miter lim="800000"/>
            </a:ln>
            <a:effectLst/>
          </p:spPr>
          <p:txBody>
            <a:bodyPr wrap="square" lIns="45719" tIns="45719" rIns="45719" bIns="45719" numCol="1" anchor="ctr">
              <a:noAutofit/>
            </a:bodyPr>
            <a:lstStyle/>
            <a:p>
              <a:pPr algn="l" defTabSz="914400">
                <a:defRPr sz="1800">
                  <a:latin typeface="Calibri"/>
                  <a:ea typeface="Calibri"/>
                  <a:cs typeface="Calibri"/>
                  <a:sym typeface="Calibri"/>
                </a:defRPr>
              </a:pPr>
              <a:endParaRPr/>
            </a:p>
          </p:txBody>
        </p:sp>
        <p:sp>
          <p:nvSpPr>
            <p:cNvPr id="331" name="Shape 331"/>
            <p:cNvSpPr/>
            <p:nvPr/>
          </p:nvSpPr>
          <p:spPr>
            <a:xfrm>
              <a:off x="4495800" y="1676400"/>
              <a:ext cx="152400" cy="152400"/>
            </a:xfrm>
            <a:prstGeom prst="rect">
              <a:avLst/>
            </a:prstGeom>
            <a:solidFill>
              <a:srgbClr val="FFFF00"/>
            </a:solidFill>
            <a:ln w="12700" cap="flat">
              <a:solidFill>
                <a:srgbClr val="000000"/>
              </a:solidFill>
              <a:prstDash val="solid"/>
              <a:miter lim="800000"/>
            </a:ln>
            <a:effectLst/>
          </p:spPr>
          <p:txBody>
            <a:bodyPr wrap="square" lIns="45719" tIns="45719" rIns="45719" bIns="45719" numCol="1" anchor="ctr">
              <a:noAutofit/>
            </a:bodyPr>
            <a:lstStyle/>
            <a:p>
              <a:pPr algn="l" defTabSz="914400">
                <a:defRPr sz="1800">
                  <a:latin typeface="Calibri"/>
                  <a:ea typeface="Calibri"/>
                  <a:cs typeface="Calibri"/>
                  <a:sym typeface="Calibri"/>
                </a:defRPr>
              </a:pPr>
              <a:endParaRPr/>
            </a:p>
          </p:txBody>
        </p:sp>
        <p:sp>
          <p:nvSpPr>
            <p:cNvPr id="332" name="Shape 332"/>
            <p:cNvSpPr/>
            <p:nvPr/>
          </p:nvSpPr>
          <p:spPr>
            <a:xfrm>
              <a:off x="3581400" y="685800"/>
              <a:ext cx="152400" cy="1143000"/>
            </a:xfrm>
            <a:prstGeom prst="rect">
              <a:avLst/>
            </a:prstGeom>
            <a:solidFill>
              <a:srgbClr val="FFFF00"/>
            </a:solidFill>
            <a:ln w="12700" cap="flat">
              <a:solidFill>
                <a:srgbClr val="000000"/>
              </a:solidFill>
              <a:prstDash val="solid"/>
              <a:miter lim="800000"/>
            </a:ln>
            <a:effectLst/>
          </p:spPr>
          <p:txBody>
            <a:bodyPr wrap="square" lIns="45719" tIns="45719" rIns="45719" bIns="45719" numCol="1" anchor="ctr">
              <a:noAutofit/>
            </a:bodyPr>
            <a:lstStyle/>
            <a:p>
              <a:pPr algn="l" defTabSz="914400">
                <a:defRPr sz="1800">
                  <a:latin typeface="Calibri"/>
                  <a:ea typeface="Calibri"/>
                  <a:cs typeface="Calibri"/>
                  <a:sym typeface="Calibri"/>
                </a:defRPr>
              </a:pPr>
              <a:endParaRPr/>
            </a:p>
          </p:txBody>
        </p:sp>
        <p:sp>
          <p:nvSpPr>
            <p:cNvPr id="333" name="Shape 333"/>
            <p:cNvSpPr/>
            <p:nvPr/>
          </p:nvSpPr>
          <p:spPr>
            <a:xfrm>
              <a:off x="4038600" y="1676400"/>
              <a:ext cx="152400" cy="152400"/>
            </a:xfrm>
            <a:prstGeom prst="rect">
              <a:avLst/>
            </a:prstGeom>
            <a:solidFill>
              <a:srgbClr val="FFFF00"/>
            </a:solidFill>
            <a:ln w="12700" cap="flat">
              <a:solidFill>
                <a:srgbClr val="000000"/>
              </a:solidFill>
              <a:prstDash val="solid"/>
              <a:miter lim="800000"/>
            </a:ln>
            <a:effectLst/>
          </p:spPr>
          <p:txBody>
            <a:bodyPr wrap="square" lIns="45719" tIns="45719" rIns="45719" bIns="45719" numCol="1" anchor="ctr">
              <a:noAutofit/>
            </a:bodyPr>
            <a:lstStyle/>
            <a:p>
              <a:pPr algn="l" defTabSz="914400">
                <a:defRPr sz="1800">
                  <a:latin typeface="Calibri"/>
                  <a:ea typeface="Calibri"/>
                  <a:cs typeface="Calibri"/>
                  <a:sym typeface="Calibri"/>
                </a:defRPr>
              </a:pPr>
              <a:endParaRPr/>
            </a:p>
          </p:txBody>
        </p:sp>
        <p:sp>
          <p:nvSpPr>
            <p:cNvPr id="334" name="Shape 334"/>
            <p:cNvSpPr/>
            <p:nvPr/>
          </p:nvSpPr>
          <p:spPr>
            <a:xfrm>
              <a:off x="5181600" y="1752600"/>
              <a:ext cx="152400" cy="76200"/>
            </a:xfrm>
            <a:prstGeom prst="rect">
              <a:avLst/>
            </a:prstGeom>
            <a:solidFill>
              <a:srgbClr val="FFFF00"/>
            </a:solidFill>
            <a:ln w="12700" cap="flat">
              <a:solidFill>
                <a:srgbClr val="000000"/>
              </a:solidFill>
              <a:prstDash val="solid"/>
              <a:miter lim="800000"/>
            </a:ln>
            <a:effectLst/>
          </p:spPr>
          <p:txBody>
            <a:bodyPr wrap="square" lIns="45719" tIns="45719" rIns="45719" bIns="45719" numCol="1" anchor="ctr">
              <a:noAutofit/>
            </a:bodyPr>
            <a:lstStyle/>
            <a:p>
              <a:pPr algn="l" defTabSz="914400">
                <a:defRPr sz="1800">
                  <a:latin typeface="Calibri"/>
                  <a:ea typeface="Calibri"/>
                  <a:cs typeface="Calibri"/>
                  <a:sym typeface="Calibri"/>
                </a:defRPr>
              </a:pPr>
              <a:endParaRPr/>
            </a:p>
          </p:txBody>
        </p:sp>
        <p:sp>
          <p:nvSpPr>
            <p:cNvPr id="335" name="Shape 335"/>
            <p:cNvSpPr/>
            <p:nvPr/>
          </p:nvSpPr>
          <p:spPr>
            <a:xfrm>
              <a:off x="1295400" y="1639887"/>
              <a:ext cx="152400" cy="152401"/>
            </a:xfrm>
            <a:prstGeom prst="rect">
              <a:avLst/>
            </a:prstGeom>
            <a:solidFill>
              <a:srgbClr val="B1EBA3"/>
            </a:solidFill>
            <a:ln w="12700" cap="flat">
              <a:solidFill>
                <a:srgbClr val="5D483D"/>
              </a:solidFill>
              <a:prstDash val="solid"/>
              <a:miter lim="800000"/>
            </a:ln>
            <a:effectLst/>
          </p:spPr>
          <p:txBody>
            <a:bodyPr wrap="square" lIns="45719" tIns="45719" rIns="45719" bIns="45719" numCol="1" anchor="ctr">
              <a:noAutofit/>
            </a:bodyPr>
            <a:lstStyle/>
            <a:p>
              <a:pPr algn="l" defTabSz="914400">
                <a:defRPr sz="1800">
                  <a:latin typeface="Calibri"/>
                  <a:ea typeface="Calibri"/>
                  <a:cs typeface="Calibri"/>
                  <a:sym typeface="Calibri"/>
                </a:defRPr>
              </a:pPr>
              <a:endParaRPr/>
            </a:p>
          </p:txBody>
        </p:sp>
        <p:sp>
          <p:nvSpPr>
            <p:cNvPr id="336" name="Shape 336"/>
            <p:cNvSpPr/>
            <p:nvPr/>
          </p:nvSpPr>
          <p:spPr>
            <a:xfrm>
              <a:off x="381000" y="1639887"/>
              <a:ext cx="152400" cy="152401"/>
            </a:xfrm>
            <a:prstGeom prst="rect">
              <a:avLst/>
            </a:prstGeom>
            <a:solidFill>
              <a:srgbClr val="B1EBA3"/>
            </a:solidFill>
            <a:ln w="12700" cap="flat">
              <a:solidFill>
                <a:srgbClr val="5D483D"/>
              </a:solidFill>
              <a:prstDash val="solid"/>
              <a:miter lim="800000"/>
            </a:ln>
            <a:effectLst/>
          </p:spPr>
          <p:txBody>
            <a:bodyPr wrap="square" lIns="45719" tIns="45719" rIns="45719" bIns="45719" numCol="1" anchor="ctr">
              <a:noAutofit/>
            </a:bodyPr>
            <a:lstStyle/>
            <a:p>
              <a:pPr algn="l" defTabSz="914400">
                <a:defRPr sz="1800">
                  <a:latin typeface="Calibri"/>
                  <a:ea typeface="Calibri"/>
                  <a:cs typeface="Calibri"/>
                  <a:sym typeface="Calibri"/>
                </a:defRPr>
              </a:pPr>
              <a:endParaRPr/>
            </a:p>
          </p:txBody>
        </p:sp>
        <p:sp>
          <p:nvSpPr>
            <p:cNvPr id="337" name="Shape 337"/>
            <p:cNvSpPr/>
            <p:nvPr/>
          </p:nvSpPr>
          <p:spPr>
            <a:xfrm>
              <a:off x="838200" y="192087"/>
              <a:ext cx="152400" cy="1600201"/>
            </a:xfrm>
            <a:prstGeom prst="rect">
              <a:avLst/>
            </a:prstGeom>
            <a:solidFill>
              <a:srgbClr val="B1EBA3"/>
            </a:solidFill>
            <a:ln w="12700" cap="flat">
              <a:solidFill>
                <a:srgbClr val="5D483D"/>
              </a:solidFill>
              <a:prstDash val="solid"/>
              <a:miter lim="800000"/>
            </a:ln>
            <a:effectLst/>
          </p:spPr>
          <p:txBody>
            <a:bodyPr wrap="square" lIns="45719" tIns="45719" rIns="45719" bIns="45719" numCol="1" anchor="ctr">
              <a:noAutofit/>
            </a:bodyPr>
            <a:lstStyle/>
            <a:p>
              <a:pPr algn="l" defTabSz="914400">
                <a:defRPr sz="1800">
                  <a:latin typeface="Calibri"/>
                  <a:ea typeface="Calibri"/>
                  <a:cs typeface="Calibri"/>
                  <a:sym typeface="Calibri"/>
                </a:defRPr>
              </a:pPr>
              <a:endParaRPr/>
            </a:p>
          </p:txBody>
        </p:sp>
        <p:sp>
          <p:nvSpPr>
            <p:cNvPr id="338" name="Shape 338"/>
            <p:cNvSpPr/>
            <p:nvPr/>
          </p:nvSpPr>
          <p:spPr>
            <a:xfrm>
              <a:off x="1981200" y="649287"/>
              <a:ext cx="152400" cy="1143001"/>
            </a:xfrm>
            <a:prstGeom prst="rect">
              <a:avLst/>
            </a:prstGeom>
            <a:solidFill>
              <a:srgbClr val="B1EBA3"/>
            </a:solidFill>
            <a:ln w="12700" cap="flat">
              <a:solidFill>
                <a:srgbClr val="5D483D"/>
              </a:solidFill>
              <a:prstDash val="solid"/>
              <a:miter lim="800000"/>
            </a:ln>
            <a:effectLst/>
          </p:spPr>
          <p:txBody>
            <a:bodyPr wrap="square" lIns="45719" tIns="45719" rIns="45719" bIns="45719" numCol="1" anchor="ctr">
              <a:noAutofit/>
            </a:bodyPr>
            <a:lstStyle/>
            <a:p>
              <a:pPr algn="l" defTabSz="914400">
                <a:defRPr sz="1800">
                  <a:latin typeface="Calibri"/>
                  <a:ea typeface="Calibri"/>
                  <a:cs typeface="Calibri"/>
                  <a:sym typeface="Calibri"/>
                </a:defRPr>
              </a:pPr>
              <a:endParaRPr/>
            </a:p>
          </p:txBody>
        </p:sp>
        <p:sp>
          <p:nvSpPr>
            <p:cNvPr id="339" name="Shape 339"/>
            <p:cNvSpPr/>
            <p:nvPr/>
          </p:nvSpPr>
          <p:spPr>
            <a:xfrm>
              <a:off x="0" y="1792287"/>
              <a:ext cx="2514600" cy="1"/>
            </a:xfrm>
            <a:prstGeom prst="line">
              <a:avLst/>
            </a:prstGeom>
            <a:noFill/>
            <a:ln w="38100" cap="flat">
              <a:solidFill>
                <a:srgbClr val="000000"/>
              </a:solidFill>
              <a:prstDash val="solid"/>
              <a:round/>
              <a:tailEnd type="triangle" w="med" len="med"/>
            </a:ln>
            <a:effectLst/>
          </p:spPr>
          <p:txBody>
            <a:bodyPr wrap="square" lIns="45719" tIns="45719" rIns="45719" bIns="45719" numCol="1" anchor="t">
              <a:noAutofit/>
            </a:bodyPr>
            <a:lstStyle/>
            <a:p>
              <a:pPr algn="l" defTabSz="914400">
                <a:defRPr sz="1800">
                  <a:latin typeface="Calibri"/>
                  <a:ea typeface="Calibri"/>
                  <a:cs typeface="Calibri"/>
                  <a:sym typeface="Calibri"/>
                </a:defRPr>
              </a:pPr>
              <a:endParaRPr/>
            </a:p>
          </p:txBody>
        </p:sp>
        <p:sp>
          <p:nvSpPr>
            <p:cNvPr id="340" name="Shape 340"/>
            <p:cNvSpPr/>
            <p:nvPr/>
          </p:nvSpPr>
          <p:spPr>
            <a:xfrm flipV="1">
              <a:off x="-1" y="39687"/>
              <a:ext cx="2" cy="1752601"/>
            </a:xfrm>
            <a:prstGeom prst="line">
              <a:avLst/>
            </a:prstGeom>
            <a:noFill/>
            <a:ln w="38100" cap="flat">
              <a:solidFill>
                <a:srgbClr val="000000"/>
              </a:solidFill>
              <a:prstDash val="solid"/>
              <a:round/>
              <a:tailEnd type="triangle" w="med" len="med"/>
            </a:ln>
            <a:effectLst/>
          </p:spPr>
          <p:txBody>
            <a:bodyPr wrap="square" lIns="45719" tIns="45719" rIns="45719" bIns="45719" numCol="1" anchor="t">
              <a:noAutofit/>
            </a:bodyPr>
            <a:lstStyle/>
            <a:p>
              <a:pPr algn="l" defTabSz="914400">
                <a:defRPr sz="1800">
                  <a:latin typeface="Calibri"/>
                  <a:ea typeface="Calibri"/>
                  <a:cs typeface="Calibri"/>
                  <a:sym typeface="Calibri"/>
                </a:defRPr>
              </a:pPr>
              <a:endParaRPr/>
            </a:p>
          </p:txBody>
        </p:sp>
        <p:pic>
          <p:nvPicPr>
            <p:cNvPr id="341" name="image12.jpeg" descr="ermine"/>
            <p:cNvPicPr>
              <a:picLocks noChangeAspect="1"/>
            </p:cNvPicPr>
            <p:nvPr/>
          </p:nvPicPr>
          <p:blipFill>
            <a:blip r:embed="rId3">
              <a:extLst/>
            </a:blip>
            <a:srcRect l="50568" t="17148" r="37727" b="76851"/>
            <a:stretch>
              <a:fillRect/>
            </a:stretch>
          </p:blipFill>
          <p:spPr>
            <a:xfrm>
              <a:off x="1828799" y="1884362"/>
              <a:ext cx="381001" cy="266701"/>
            </a:xfrm>
            <a:prstGeom prst="rect">
              <a:avLst/>
            </a:prstGeom>
            <a:ln w="12700" cap="flat">
              <a:noFill/>
              <a:miter lim="400000"/>
            </a:ln>
            <a:effectLst/>
          </p:spPr>
        </p:pic>
        <p:pic>
          <p:nvPicPr>
            <p:cNvPr id="342" name="image10.png" descr="bicycle"/>
            <p:cNvPicPr>
              <a:picLocks noChangeAspect="1"/>
            </p:cNvPicPr>
            <p:nvPr/>
          </p:nvPicPr>
          <p:blipFill>
            <a:blip r:embed="rId4">
              <a:extLst/>
            </a:blip>
            <a:srcRect l="20000" r="55000" b="54236"/>
            <a:stretch>
              <a:fillRect/>
            </a:stretch>
          </p:blipFill>
          <p:spPr>
            <a:xfrm>
              <a:off x="228600" y="1868487"/>
              <a:ext cx="312738" cy="341313"/>
            </a:xfrm>
            <a:prstGeom prst="rect">
              <a:avLst/>
            </a:prstGeom>
            <a:ln w="12700" cap="flat">
              <a:noFill/>
              <a:miter lim="400000"/>
            </a:ln>
            <a:effectLst/>
          </p:spPr>
        </p:pic>
        <p:pic>
          <p:nvPicPr>
            <p:cNvPr id="343" name="image12.jpeg" descr="ermine"/>
            <p:cNvPicPr>
              <a:picLocks noChangeAspect="1"/>
            </p:cNvPicPr>
            <p:nvPr/>
          </p:nvPicPr>
          <p:blipFill>
            <a:blip r:embed="rId3">
              <a:extLst/>
            </a:blip>
            <a:srcRect l="49399" t="22292" r="38897" b="71706"/>
            <a:stretch>
              <a:fillRect/>
            </a:stretch>
          </p:blipFill>
          <p:spPr>
            <a:xfrm>
              <a:off x="685800" y="1868487"/>
              <a:ext cx="381001" cy="266701"/>
            </a:xfrm>
            <a:prstGeom prst="rect">
              <a:avLst/>
            </a:prstGeom>
            <a:ln w="12700" cap="flat">
              <a:noFill/>
              <a:miter lim="400000"/>
            </a:ln>
            <a:effectLst/>
          </p:spPr>
        </p:pic>
        <p:sp>
          <p:nvSpPr>
            <p:cNvPr id="344" name="Shape 344"/>
            <p:cNvSpPr/>
            <p:nvPr/>
          </p:nvSpPr>
          <p:spPr>
            <a:xfrm flipV="1">
              <a:off x="6248400" y="39687"/>
              <a:ext cx="0" cy="1752601"/>
            </a:xfrm>
            <a:prstGeom prst="line">
              <a:avLst/>
            </a:prstGeom>
            <a:noFill/>
            <a:ln w="38100" cap="flat">
              <a:solidFill>
                <a:srgbClr val="000000"/>
              </a:solidFill>
              <a:prstDash val="solid"/>
              <a:round/>
              <a:tailEnd type="triangle" w="med" len="med"/>
            </a:ln>
            <a:effectLst/>
          </p:spPr>
          <p:txBody>
            <a:bodyPr wrap="square" lIns="45719" tIns="45719" rIns="45719" bIns="45719" numCol="1" anchor="t">
              <a:noAutofit/>
            </a:bodyPr>
            <a:lstStyle/>
            <a:p>
              <a:pPr algn="l" defTabSz="914400">
                <a:defRPr sz="1800">
                  <a:latin typeface="Calibri"/>
                  <a:ea typeface="Calibri"/>
                  <a:cs typeface="Calibri"/>
                  <a:sym typeface="Calibri"/>
                </a:defRPr>
              </a:pPr>
              <a:endParaRPr/>
            </a:p>
          </p:txBody>
        </p:sp>
        <p:sp>
          <p:nvSpPr>
            <p:cNvPr id="345" name="Shape 345"/>
            <p:cNvSpPr/>
            <p:nvPr/>
          </p:nvSpPr>
          <p:spPr>
            <a:xfrm>
              <a:off x="3200400" y="1828800"/>
              <a:ext cx="2514600" cy="0"/>
            </a:xfrm>
            <a:prstGeom prst="line">
              <a:avLst/>
            </a:prstGeom>
            <a:noFill/>
            <a:ln w="38100" cap="flat">
              <a:solidFill>
                <a:srgbClr val="000000"/>
              </a:solidFill>
              <a:prstDash val="solid"/>
              <a:round/>
              <a:tailEnd type="triangle" w="med" len="med"/>
            </a:ln>
            <a:effectLst/>
          </p:spPr>
          <p:txBody>
            <a:bodyPr wrap="square" lIns="45719" tIns="45719" rIns="45719" bIns="45719" numCol="1" anchor="t">
              <a:noAutofit/>
            </a:bodyPr>
            <a:lstStyle/>
            <a:p>
              <a:pPr algn="l" defTabSz="914400">
                <a:defRPr sz="1800">
                  <a:latin typeface="Calibri"/>
                  <a:ea typeface="Calibri"/>
                  <a:cs typeface="Calibri"/>
                  <a:sym typeface="Calibri"/>
                </a:defRPr>
              </a:pPr>
              <a:endParaRPr/>
            </a:p>
          </p:txBody>
        </p:sp>
        <p:sp>
          <p:nvSpPr>
            <p:cNvPr id="346" name="Shape 346"/>
            <p:cNvSpPr/>
            <p:nvPr/>
          </p:nvSpPr>
          <p:spPr>
            <a:xfrm flipV="1">
              <a:off x="3200400" y="76200"/>
              <a:ext cx="0" cy="1752600"/>
            </a:xfrm>
            <a:prstGeom prst="line">
              <a:avLst/>
            </a:prstGeom>
            <a:noFill/>
            <a:ln w="38100" cap="flat">
              <a:solidFill>
                <a:srgbClr val="000000"/>
              </a:solidFill>
              <a:prstDash val="solid"/>
              <a:round/>
              <a:tailEnd type="triangle" w="med" len="med"/>
            </a:ln>
            <a:effectLst/>
          </p:spPr>
          <p:txBody>
            <a:bodyPr wrap="square" lIns="45719" tIns="45719" rIns="45719" bIns="45719" numCol="1" anchor="t">
              <a:noAutofit/>
            </a:bodyPr>
            <a:lstStyle/>
            <a:p>
              <a:pPr algn="l" defTabSz="914400">
                <a:defRPr sz="1800">
                  <a:latin typeface="Calibri"/>
                  <a:ea typeface="Calibri"/>
                  <a:cs typeface="Calibri"/>
                  <a:sym typeface="Calibri"/>
                </a:defRPr>
              </a:pPr>
              <a:endParaRPr/>
            </a:p>
          </p:txBody>
        </p:sp>
        <p:pic>
          <p:nvPicPr>
            <p:cNvPr id="347" name="image11.png" descr="violin"/>
            <p:cNvPicPr>
              <a:picLocks noChangeAspect="1"/>
            </p:cNvPicPr>
            <p:nvPr/>
          </p:nvPicPr>
          <p:blipFill>
            <a:blip r:embed="rId5">
              <a:extLst/>
            </a:blip>
            <a:srcRect t="76233"/>
            <a:stretch>
              <a:fillRect/>
            </a:stretch>
          </p:blipFill>
          <p:spPr>
            <a:xfrm>
              <a:off x="1143000" y="1905000"/>
              <a:ext cx="533400" cy="276225"/>
            </a:xfrm>
            <a:prstGeom prst="rect">
              <a:avLst/>
            </a:prstGeom>
            <a:ln w="12700" cap="flat">
              <a:noFill/>
              <a:miter lim="400000"/>
            </a:ln>
            <a:effectLst/>
          </p:spPr>
        </p:pic>
        <p:pic>
          <p:nvPicPr>
            <p:cNvPr id="348" name="image12.jpeg" descr="ermine"/>
            <p:cNvPicPr>
              <a:picLocks noChangeAspect="1"/>
            </p:cNvPicPr>
            <p:nvPr/>
          </p:nvPicPr>
          <p:blipFill>
            <a:blip r:embed="rId3">
              <a:extLst/>
            </a:blip>
            <a:srcRect l="50568" t="17148" r="37727" b="76851"/>
            <a:stretch>
              <a:fillRect/>
            </a:stretch>
          </p:blipFill>
          <p:spPr>
            <a:xfrm>
              <a:off x="5105399" y="1884362"/>
              <a:ext cx="381001" cy="266701"/>
            </a:xfrm>
            <a:prstGeom prst="rect">
              <a:avLst/>
            </a:prstGeom>
            <a:ln w="12700" cap="flat">
              <a:noFill/>
              <a:miter lim="400000"/>
            </a:ln>
            <a:effectLst/>
          </p:spPr>
        </p:pic>
        <p:pic>
          <p:nvPicPr>
            <p:cNvPr id="349" name="image10.png" descr="bicycle"/>
            <p:cNvPicPr>
              <a:picLocks noChangeAspect="1"/>
            </p:cNvPicPr>
            <p:nvPr/>
          </p:nvPicPr>
          <p:blipFill>
            <a:blip r:embed="rId4">
              <a:extLst/>
            </a:blip>
            <a:srcRect l="20000" r="55000" b="54236"/>
            <a:stretch>
              <a:fillRect/>
            </a:stretch>
          </p:blipFill>
          <p:spPr>
            <a:xfrm>
              <a:off x="3429000" y="1868487"/>
              <a:ext cx="312738" cy="341313"/>
            </a:xfrm>
            <a:prstGeom prst="rect">
              <a:avLst/>
            </a:prstGeom>
            <a:ln w="12700" cap="flat">
              <a:noFill/>
              <a:miter lim="400000"/>
            </a:ln>
            <a:effectLst/>
          </p:spPr>
        </p:pic>
        <p:pic>
          <p:nvPicPr>
            <p:cNvPr id="350" name="image12.jpeg" descr="ermine"/>
            <p:cNvPicPr>
              <a:picLocks noChangeAspect="1"/>
            </p:cNvPicPr>
            <p:nvPr/>
          </p:nvPicPr>
          <p:blipFill>
            <a:blip r:embed="rId3">
              <a:extLst/>
            </a:blip>
            <a:srcRect l="49399" t="22292" r="38897" b="71706"/>
            <a:stretch>
              <a:fillRect/>
            </a:stretch>
          </p:blipFill>
          <p:spPr>
            <a:xfrm>
              <a:off x="3886200" y="1905000"/>
              <a:ext cx="381001" cy="266700"/>
            </a:xfrm>
            <a:prstGeom prst="rect">
              <a:avLst/>
            </a:prstGeom>
            <a:ln w="12700" cap="flat">
              <a:noFill/>
              <a:miter lim="400000"/>
            </a:ln>
            <a:effectLst/>
          </p:spPr>
        </p:pic>
        <p:pic>
          <p:nvPicPr>
            <p:cNvPr id="351" name="image11.png" descr="violin"/>
            <p:cNvPicPr>
              <a:picLocks noChangeAspect="1"/>
            </p:cNvPicPr>
            <p:nvPr/>
          </p:nvPicPr>
          <p:blipFill>
            <a:blip r:embed="rId5">
              <a:extLst/>
            </a:blip>
            <a:srcRect t="76233"/>
            <a:stretch>
              <a:fillRect/>
            </a:stretch>
          </p:blipFill>
          <p:spPr>
            <a:xfrm>
              <a:off x="4267200" y="1905000"/>
              <a:ext cx="533400" cy="276225"/>
            </a:xfrm>
            <a:prstGeom prst="rect">
              <a:avLst/>
            </a:prstGeom>
            <a:ln w="12700" cap="flat">
              <a:noFill/>
              <a:miter lim="400000"/>
            </a:ln>
            <a:effectLst/>
          </p:spPr>
        </p:pic>
        <p:pic>
          <p:nvPicPr>
            <p:cNvPr id="352" name="image12.jpeg" descr="ermine"/>
            <p:cNvPicPr>
              <a:picLocks noChangeAspect="1"/>
            </p:cNvPicPr>
            <p:nvPr/>
          </p:nvPicPr>
          <p:blipFill>
            <a:blip r:embed="rId3">
              <a:extLst/>
            </a:blip>
            <a:srcRect l="50568" t="17148" r="37727" b="76851"/>
            <a:stretch>
              <a:fillRect/>
            </a:stretch>
          </p:blipFill>
          <p:spPr>
            <a:xfrm>
              <a:off x="8153399" y="1884362"/>
              <a:ext cx="381001" cy="266701"/>
            </a:xfrm>
            <a:prstGeom prst="rect">
              <a:avLst/>
            </a:prstGeom>
            <a:ln w="12700" cap="flat">
              <a:noFill/>
              <a:miter lim="400000"/>
            </a:ln>
            <a:effectLst/>
          </p:spPr>
        </p:pic>
        <p:pic>
          <p:nvPicPr>
            <p:cNvPr id="353" name="image10.png" descr="bicycle"/>
            <p:cNvPicPr>
              <a:picLocks noChangeAspect="1"/>
            </p:cNvPicPr>
            <p:nvPr/>
          </p:nvPicPr>
          <p:blipFill>
            <a:blip r:embed="rId4">
              <a:extLst/>
            </a:blip>
            <a:srcRect l="20000" r="55000" b="54236"/>
            <a:stretch>
              <a:fillRect/>
            </a:stretch>
          </p:blipFill>
          <p:spPr>
            <a:xfrm>
              <a:off x="6476999" y="1868487"/>
              <a:ext cx="312739" cy="341313"/>
            </a:xfrm>
            <a:prstGeom prst="rect">
              <a:avLst/>
            </a:prstGeom>
            <a:ln w="12700" cap="flat">
              <a:noFill/>
              <a:miter lim="400000"/>
            </a:ln>
            <a:effectLst/>
          </p:spPr>
        </p:pic>
        <p:pic>
          <p:nvPicPr>
            <p:cNvPr id="354" name="image12.jpeg" descr="ermine"/>
            <p:cNvPicPr>
              <a:picLocks noChangeAspect="1"/>
            </p:cNvPicPr>
            <p:nvPr/>
          </p:nvPicPr>
          <p:blipFill>
            <a:blip r:embed="rId3">
              <a:extLst/>
            </a:blip>
            <a:srcRect l="49399" t="22292" r="38897" b="71706"/>
            <a:stretch>
              <a:fillRect/>
            </a:stretch>
          </p:blipFill>
          <p:spPr>
            <a:xfrm>
              <a:off x="7010399" y="1868487"/>
              <a:ext cx="381001" cy="266701"/>
            </a:xfrm>
            <a:prstGeom prst="rect">
              <a:avLst/>
            </a:prstGeom>
            <a:ln w="12700" cap="flat">
              <a:noFill/>
              <a:miter lim="400000"/>
            </a:ln>
            <a:effectLst/>
          </p:spPr>
        </p:pic>
        <p:pic>
          <p:nvPicPr>
            <p:cNvPr id="355" name="image11.png" descr="violin"/>
            <p:cNvPicPr>
              <a:picLocks noChangeAspect="1"/>
            </p:cNvPicPr>
            <p:nvPr/>
          </p:nvPicPr>
          <p:blipFill>
            <a:blip r:embed="rId5">
              <a:extLst/>
            </a:blip>
            <a:srcRect t="76233"/>
            <a:stretch>
              <a:fillRect/>
            </a:stretch>
          </p:blipFill>
          <p:spPr>
            <a:xfrm>
              <a:off x="7467600" y="1905000"/>
              <a:ext cx="533400" cy="276225"/>
            </a:xfrm>
            <a:prstGeom prst="rect">
              <a:avLst/>
            </a:prstGeom>
            <a:ln w="12700" cap="flat">
              <a:noFill/>
              <a:miter lim="400000"/>
            </a:ln>
            <a:effectLst/>
          </p:spPr>
        </p:pic>
      </p:grpSp>
      <p:pic>
        <p:nvPicPr>
          <p:cNvPr id="357" name="image9.png" descr="DaVinci_face_only"/>
          <p:cNvPicPr>
            <a:picLocks noChangeAspect="1"/>
          </p:cNvPicPr>
          <p:nvPr/>
        </p:nvPicPr>
        <p:blipFill>
          <a:blip r:embed="rId6">
            <a:extLst/>
          </a:blip>
          <a:stretch>
            <a:fillRect/>
          </a:stretch>
        </p:blipFill>
        <p:spPr>
          <a:xfrm>
            <a:off x="2340536" y="4647046"/>
            <a:ext cx="1192094" cy="1080001"/>
          </a:xfrm>
          <a:prstGeom prst="rect">
            <a:avLst/>
          </a:prstGeom>
          <a:ln w="12700">
            <a:miter lim="400000"/>
          </a:ln>
        </p:spPr>
      </p:pic>
      <p:pic>
        <p:nvPicPr>
          <p:cNvPr id="358" name="image10.tif" descr="bicycle"/>
          <p:cNvPicPr>
            <a:picLocks noChangeAspect="1"/>
          </p:cNvPicPr>
          <p:nvPr/>
        </p:nvPicPr>
        <p:blipFill>
          <a:blip r:embed="rId7">
            <a:extLst/>
          </a:blip>
          <a:stretch>
            <a:fillRect/>
          </a:stretch>
        </p:blipFill>
        <p:spPr>
          <a:xfrm>
            <a:off x="5068034" y="4718934"/>
            <a:ext cx="2477094" cy="1080001"/>
          </a:xfrm>
          <a:prstGeom prst="rect">
            <a:avLst/>
          </a:prstGeom>
          <a:ln w="12700">
            <a:miter lim="400000"/>
          </a:ln>
        </p:spPr>
      </p:pic>
      <p:pic>
        <p:nvPicPr>
          <p:cNvPr id="359" name="image11.png" descr="violin"/>
          <p:cNvPicPr>
            <a:picLocks noChangeAspect="1"/>
          </p:cNvPicPr>
          <p:nvPr/>
        </p:nvPicPr>
        <p:blipFill>
          <a:blip r:embed="rId5">
            <a:extLst/>
          </a:blip>
          <a:stretch>
            <a:fillRect/>
          </a:stretch>
        </p:blipFill>
        <p:spPr>
          <a:xfrm rot="2301099">
            <a:off x="8818916" y="4866172"/>
            <a:ext cx="618073" cy="1080001"/>
          </a:xfrm>
          <a:prstGeom prst="rect">
            <a:avLst/>
          </a:prstGeom>
          <a:ln w="12700">
            <a:miter lim="400000"/>
          </a:ln>
        </p:spPr>
      </p:pic>
      <p:sp>
        <p:nvSpPr>
          <p:cNvPr id="360" name="Shape 360"/>
          <p:cNvSpPr/>
          <p:nvPr/>
        </p:nvSpPr>
        <p:spPr>
          <a:xfrm>
            <a:off x="1418492" y="8556717"/>
            <a:ext cx="9126170" cy="7366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p>
            <a:r>
              <a:t>&lt;a類特徵數量,b類特徵數量,c類特徵數量,...&gt;</a:t>
            </a:r>
          </a:p>
        </p:txBody>
      </p:sp>
    </p:spTree>
  </p:cSld>
  <p:clrMapOvr>
    <a:masterClrMapping/>
  </p:clrMapOvr>
  <p:transition spd="med"/>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Shape 364"/>
          <p:cNvSpPr>
            <a:spLocks noGrp="1"/>
          </p:cNvSpPr>
          <p:nvPr>
            <p:ph type="title"/>
          </p:nvPr>
        </p:nvSpPr>
        <p:spPr>
          <a:prstGeom prst="rect">
            <a:avLst/>
          </a:prstGeom>
        </p:spPr>
        <p:txBody>
          <a:bodyPr/>
          <a:lstStyle>
            <a:lvl1pPr defTabSz="490727">
              <a:defRPr sz="6719"/>
            </a:lvl1pPr>
          </a:lstStyle>
          <a:p>
            <a:r>
              <a:t>Application of Multi-Class Classifier</a:t>
            </a:r>
          </a:p>
        </p:txBody>
      </p:sp>
      <p:sp>
        <p:nvSpPr>
          <p:cNvPr id="365" name="Shape 365"/>
          <p:cNvSpPr>
            <a:spLocks noGrp="1"/>
          </p:cNvSpPr>
          <p:nvPr>
            <p:ph type="body" idx="1"/>
          </p:nvPr>
        </p:nvSpPr>
        <p:spPr>
          <a:prstGeom prst="rect">
            <a:avLst/>
          </a:prstGeom>
        </p:spPr>
        <p:txBody>
          <a:bodyPr anchor="t"/>
          <a:lstStyle/>
          <a:p>
            <a:pPr marL="385762" indent="-385762">
              <a:buSzPct val="100000"/>
              <a:buFont typeface="Arial"/>
            </a:pPr>
            <a:r>
              <a:t>Apply a multi-class classifier, treat the bag of keypoints as the feature vector, thus determine which category or categories to assign to the image</a:t>
            </a:r>
          </a:p>
          <a:p>
            <a:pPr marL="824592" lvl="1" indent="-367392">
              <a:buSzPct val="100000"/>
              <a:buFont typeface="Arial"/>
              <a:buChar char="–"/>
            </a:pPr>
            <a:r>
              <a:t>Categorization by Naive Bayes</a:t>
            </a:r>
            <a:endParaRPr sz="2800"/>
          </a:p>
          <a:p>
            <a:pPr marL="824592" lvl="1" indent="-367392">
              <a:buSzPct val="100000"/>
              <a:buFont typeface="Arial"/>
              <a:buChar char="–"/>
            </a:pPr>
            <a:r>
              <a:t>Categorization by SVM</a:t>
            </a:r>
          </a:p>
        </p:txBody>
      </p:sp>
    </p:spTree>
  </p:cSld>
  <p:clrMapOvr>
    <a:masterClrMapping/>
  </p:clrMapOvr>
  <p:transition spd="med"/>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9" name="Shape 369"/>
          <p:cNvSpPr>
            <a:spLocks noGrp="1"/>
          </p:cNvSpPr>
          <p:nvPr>
            <p:ph type="title"/>
          </p:nvPr>
        </p:nvSpPr>
        <p:spPr>
          <a:prstGeom prst="rect">
            <a:avLst/>
          </a:prstGeom>
        </p:spPr>
        <p:txBody>
          <a:bodyPr/>
          <a:lstStyle>
            <a:lvl1pPr defTabSz="490727">
              <a:defRPr sz="6719"/>
            </a:lvl1pPr>
          </a:lstStyle>
          <a:p>
            <a:r>
              <a:t>Categorization by Naive Bayes</a:t>
            </a:r>
          </a:p>
        </p:txBody>
      </p:sp>
      <p:sp>
        <p:nvSpPr>
          <p:cNvPr id="370" name="Shape 370"/>
          <p:cNvSpPr>
            <a:spLocks noGrp="1"/>
          </p:cNvSpPr>
          <p:nvPr>
            <p:ph type="body" idx="1"/>
          </p:nvPr>
        </p:nvSpPr>
        <p:spPr>
          <a:prstGeom prst="rect">
            <a:avLst/>
          </a:prstGeom>
        </p:spPr>
        <p:txBody>
          <a:bodyPr anchor="t"/>
          <a:lstStyle/>
          <a:p>
            <a:pPr marL="514350" indent="-514350">
              <a:buSzPct val="100000"/>
              <a:buFont typeface="Arial"/>
            </a:pPr>
            <a:r>
              <a:t>Can be viewed as the maximum a posteriori probability classifier for a generative model</a:t>
            </a:r>
          </a:p>
          <a:p>
            <a:pPr marL="385762" indent="-385762">
              <a:buSzPct val="100000"/>
              <a:buFont typeface="Arial"/>
            </a:pPr>
            <a:endParaRPr/>
          </a:p>
          <a:p>
            <a:pPr marL="514350" indent="-514350">
              <a:buSzPct val="100000"/>
              <a:buFont typeface="Arial"/>
            </a:pPr>
            <a:r>
              <a:t>To avoid zero probabilities of                  , Laplace smoothing is used</a:t>
            </a:r>
          </a:p>
        </p:txBody>
      </p:sp>
      <p:pic>
        <p:nvPicPr>
          <p:cNvPr id="371" name="image20.png" descr="D:\MoSIG\S3\MachineLearning\Papers\OurPaper\Images\3.PNG"/>
          <p:cNvPicPr>
            <a:picLocks noChangeAspect="1"/>
          </p:cNvPicPr>
          <p:nvPr/>
        </p:nvPicPr>
        <p:blipFill>
          <a:blip r:embed="rId3">
            <a:extLst/>
          </a:blip>
          <a:srcRect r="77976"/>
          <a:stretch>
            <a:fillRect/>
          </a:stretch>
        </p:blipFill>
        <p:spPr>
          <a:xfrm>
            <a:off x="2486622" y="4286886"/>
            <a:ext cx="1440161" cy="1008113"/>
          </a:xfrm>
          <a:prstGeom prst="rect">
            <a:avLst/>
          </a:prstGeom>
          <a:ln w="12700">
            <a:miter lim="400000"/>
          </a:ln>
        </p:spPr>
      </p:pic>
      <p:pic>
        <p:nvPicPr>
          <p:cNvPr id="372" name="image20.png" descr="3.PNG"/>
          <p:cNvPicPr>
            <a:picLocks noChangeAspect="1"/>
          </p:cNvPicPr>
          <p:nvPr/>
        </p:nvPicPr>
        <p:blipFill>
          <a:blip r:embed="rId3">
            <a:extLst/>
          </a:blip>
          <a:stretch>
            <a:fillRect/>
          </a:stretch>
        </p:blipFill>
        <p:spPr>
          <a:xfrm>
            <a:off x="2415319" y="4286886"/>
            <a:ext cx="6490032" cy="1000547"/>
          </a:xfrm>
          <a:prstGeom prst="rect">
            <a:avLst/>
          </a:prstGeom>
          <a:ln w="12700">
            <a:miter lim="400000"/>
          </a:ln>
        </p:spPr>
      </p:pic>
      <p:sp>
        <p:nvSpPr>
          <p:cNvPr id="373" name="Shape 373"/>
          <p:cNvSpPr/>
          <p:nvPr/>
        </p:nvSpPr>
        <p:spPr>
          <a:xfrm>
            <a:off x="7311158" y="4286886"/>
            <a:ext cx="1656185" cy="1008113"/>
          </a:xfrm>
          <a:prstGeom prst="rect">
            <a:avLst/>
          </a:prstGeom>
          <a:ln w="25400">
            <a:solidFill>
              <a:srgbClr val="FF0000"/>
            </a:solidFill>
          </a:ln>
        </p:spPr>
        <p:txBody>
          <a:bodyPr lIns="45719" rIns="45719" anchor="ctr"/>
          <a:lstStyle/>
          <a:p>
            <a:pPr defTabSz="914400">
              <a:defRPr sz="1800">
                <a:solidFill>
                  <a:srgbClr val="FFFFFF"/>
                </a:solidFill>
                <a:latin typeface="Calibri"/>
                <a:ea typeface="Calibri"/>
                <a:cs typeface="Calibri"/>
                <a:sym typeface="Calibri"/>
              </a:defRPr>
            </a:pPr>
            <a:endParaRPr/>
          </a:p>
        </p:txBody>
      </p:sp>
      <p:pic>
        <p:nvPicPr>
          <p:cNvPr id="374" name="image21.png" descr="4.PNG"/>
          <p:cNvPicPr>
            <a:picLocks noChangeAspect="1"/>
          </p:cNvPicPr>
          <p:nvPr/>
        </p:nvPicPr>
        <p:blipFill>
          <a:blip r:embed="rId4">
            <a:extLst/>
          </a:blip>
          <a:stretch>
            <a:fillRect/>
          </a:stretch>
        </p:blipFill>
        <p:spPr>
          <a:xfrm>
            <a:off x="7979771" y="5386234"/>
            <a:ext cx="1107297" cy="721031"/>
          </a:xfrm>
          <a:prstGeom prst="rect">
            <a:avLst/>
          </a:prstGeom>
          <a:ln w="12700">
            <a:miter lim="400000"/>
          </a:ln>
        </p:spPr>
      </p:pic>
      <p:pic>
        <p:nvPicPr>
          <p:cNvPr id="375" name="image20.png" descr="D:\MoSIG\S3\MachineLearning\Papers\OurPaper\Images\3.PNG"/>
          <p:cNvPicPr>
            <a:picLocks noChangeAspect="1"/>
          </p:cNvPicPr>
          <p:nvPr/>
        </p:nvPicPr>
        <p:blipFill>
          <a:blip r:embed="rId3">
            <a:extLst/>
          </a:blip>
          <a:srcRect r="44940"/>
          <a:stretch>
            <a:fillRect/>
          </a:stretch>
        </p:blipFill>
        <p:spPr>
          <a:xfrm>
            <a:off x="2486621" y="4276870"/>
            <a:ext cx="3600402" cy="1008113"/>
          </a:xfrm>
          <a:prstGeom prst="rect">
            <a:avLst/>
          </a:prstGeom>
          <a:ln w="12700">
            <a:miter lim="400000"/>
          </a:ln>
        </p:spPr>
      </p:pic>
      <p:pic>
        <p:nvPicPr>
          <p:cNvPr id="376" name="image22.png" descr="5.PNG"/>
          <p:cNvPicPr>
            <a:picLocks noChangeAspect="1"/>
          </p:cNvPicPr>
          <p:nvPr/>
        </p:nvPicPr>
        <p:blipFill>
          <a:blip r:embed="rId5">
            <a:extLst/>
          </a:blip>
          <a:stretch>
            <a:fillRect/>
          </a:stretch>
        </p:blipFill>
        <p:spPr>
          <a:xfrm>
            <a:off x="2925235" y="7094111"/>
            <a:ext cx="5470200" cy="1489192"/>
          </a:xfrm>
          <a:prstGeom prst="rect">
            <a:avLst/>
          </a:prstGeom>
          <a:ln w="12700">
            <a:miter lim="400000"/>
          </a:ln>
        </p:spPr>
      </p:pic>
    </p:spTree>
  </p:cSld>
  <p:clrMapOvr>
    <a:masterClrMapping/>
  </p:clrMapOvr>
  <p:transition spd="med"/>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 name="Shape 380"/>
          <p:cNvSpPr>
            <a:spLocks noGrp="1"/>
          </p:cNvSpPr>
          <p:nvPr>
            <p:ph type="title"/>
          </p:nvPr>
        </p:nvSpPr>
        <p:spPr>
          <a:prstGeom prst="rect">
            <a:avLst/>
          </a:prstGeom>
        </p:spPr>
        <p:txBody>
          <a:bodyPr/>
          <a:lstStyle>
            <a:lvl1pPr defTabSz="490727">
              <a:defRPr sz="6719"/>
            </a:lvl1pPr>
          </a:lstStyle>
          <a:p>
            <a:r>
              <a:t>Categorization by Naive Bayes</a:t>
            </a:r>
          </a:p>
        </p:txBody>
      </p:sp>
      <p:sp>
        <p:nvSpPr>
          <p:cNvPr id="381" name="Shape 381"/>
          <p:cNvSpPr>
            <a:spLocks noGrp="1"/>
          </p:cNvSpPr>
          <p:nvPr>
            <p:ph type="body" idx="1"/>
          </p:nvPr>
        </p:nvSpPr>
        <p:spPr>
          <a:prstGeom prst="rect">
            <a:avLst/>
          </a:prstGeom>
        </p:spPr>
        <p:txBody>
          <a:bodyPr anchor="t"/>
          <a:lstStyle/>
          <a:p>
            <a:pPr marL="514350" indent="-514350">
              <a:buSzPct val="100000"/>
              <a:buFont typeface="Arial"/>
            </a:pPr>
            <a:r>
              <a:t>Can be viewed as the maximum a posteriori probability classifier for a generative model</a:t>
            </a:r>
          </a:p>
          <a:p>
            <a:pPr marL="0" lvl="1" indent="228600">
              <a:buSzTx/>
              <a:buNone/>
            </a:pPr>
            <a:r>
              <a:t>w=&lt;w</a:t>
            </a:r>
            <a:r>
              <a:rPr baseline="-5999"/>
              <a:t>1</a:t>
            </a:r>
            <a:r>
              <a:t>,w</a:t>
            </a:r>
            <a:r>
              <a:rPr baseline="-5999"/>
              <a:t>2</a:t>
            </a:r>
            <a:r>
              <a:t>,…,w</a:t>
            </a:r>
            <a:r>
              <a:rPr baseline="-5999"/>
              <a:t>n-1</a:t>
            </a:r>
            <a:r>
              <a:t>,w</a:t>
            </a:r>
            <a:r>
              <a:rPr baseline="-5999"/>
              <a:t>n</a:t>
            </a:r>
            <a:r>
              <a:t>&gt;</a:t>
            </a:r>
          </a:p>
          <a:p>
            <a:pPr marL="514350" indent="-514350">
              <a:buSzPct val="100000"/>
              <a:buFont typeface="Arial"/>
            </a:pPr>
            <a:endParaRPr/>
          </a:p>
          <a:p>
            <a:pPr marL="514350" indent="-514350">
              <a:buSzPct val="100000"/>
              <a:buFont typeface="Arial"/>
            </a:pPr>
            <a:r>
              <a:t>To avoid zero probabilities of                                 Laplace smoothing is used</a:t>
            </a:r>
          </a:p>
        </p:txBody>
      </p:sp>
      <p:sp>
        <p:nvSpPr>
          <p:cNvPr id="382" name="Shape 382"/>
          <p:cNvSpPr/>
          <p:nvPr/>
        </p:nvSpPr>
        <p:spPr>
          <a:xfrm>
            <a:off x="5830174" y="5366465"/>
            <a:ext cx="4695155" cy="782553"/>
          </a:xfrm>
          <a:prstGeom prst="rect">
            <a:avLst/>
          </a:prstGeom>
          <a:ln w="25400">
            <a:solidFill>
              <a:srgbClr val="FF0000"/>
            </a:solidFill>
          </a:ln>
        </p:spPr>
        <p:txBody>
          <a:bodyPr lIns="45719" rIns="45719" anchor="ctr"/>
          <a:lstStyle/>
          <a:p>
            <a:pPr defTabSz="914400">
              <a:defRPr sz="1800">
                <a:solidFill>
                  <a:srgbClr val="FFFFFF"/>
                </a:solidFill>
                <a:latin typeface="Calibri"/>
                <a:ea typeface="Calibri"/>
                <a:cs typeface="Calibri"/>
                <a:sym typeface="Calibri"/>
              </a:defRPr>
            </a:pPr>
            <a:endParaRPr/>
          </a:p>
        </p:txBody>
      </p:sp>
      <p:pic>
        <p:nvPicPr>
          <p:cNvPr id="383" name="pasted-image.pdf"/>
          <p:cNvPicPr>
            <a:picLocks noChangeAspect="1"/>
          </p:cNvPicPr>
          <p:nvPr/>
        </p:nvPicPr>
        <p:blipFill>
          <a:blip r:embed="rId3">
            <a:extLst/>
          </a:blip>
          <a:stretch>
            <a:fillRect/>
          </a:stretch>
        </p:blipFill>
        <p:spPr>
          <a:xfrm>
            <a:off x="1187418" y="5331782"/>
            <a:ext cx="10131365" cy="649875"/>
          </a:xfrm>
          <a:prstGeom prst="rect">
            <a:avLst/>
          </a:prstGeom>
          <a:ln w="12700">
            <a:miter lim="400000"/>
          </a:ln>
        </p:spPr>
      </p:pic>
      <p:pic>
        <p:nvPicPr>
          <p:cNvPr id="384" name="pasted-image.pdf"/>
          <p:cNvPicPr>
            <a:picLocks noChangeAspect="1"/>
          </p:cNvPicPr>
          <p:nvPr/>
        </p:nvPicPr>
        <p:blipFill>
          <a:blip r:embed="rId4">
            <a:extLst/>
          </a:blip>
          <a:stretch>
            <a:fillRect/>
          </a:stretch>
        </p:blipFill>
        <p:spPr>
          <a:xfrm>
            <a:off x="7598176" y="6590375"/>
            <a:ext cx="3632201" cy="254001"/>
          </a:xfrm>
          <a:prstGeom prst="rect">
            <a:avLst/>
          </a:prstGeom>
          <a:ln w="12700">
            <a:miter lim="400000"/>
          </a:ln>
        </p:spPr>
      </p:pic>
    </p:spTree>
  </p:cSld>
  <p:clrMapOvr>
    <a:masterClrMapping/>
  </p:clrMapOvr>
  <p:transition spd="med"/>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 name="Shape 388"/>
          <p:cNvSpPr>
            <a:spLocks noGrp="1"/>
          </p:cNvSpPr>
          <p:nvPr>
            <p:ph type="title"/>
          </p:nvPr>
        </p:nvSpPr>
        <p:spPr>
          <a:prstGeom prst="rect">
            <a:avLst/>
          </a:prstGeom>
        </p:spPr>
        <p:txBody>
          <a:bodyPr/>
          <a:lstStyle/>
          <a:p>
            <a:r>
              <a:t>Categorization by SVM</a:t>
            </a:r>
          </a:p>
        </p:txBody>
      </p:sp>
      <p:sp>
        <p:nvSpPr>
          <p:cNvPr id="389" name="Shape 389"/>
          <p:cNvSpPr>
            <a:spLocks noGrp="1"/>
          </p:cNvSpPr>
          <p:nvPr>
            <p:ph type="body" idx="1"/>
          </p:nvPr>
        </p:nvSpPr>
        <p:spPr>
          <a:prstGeom prst="rect">
            <a:avLst/>
          </a:prstGeom>
        </p:spPr>
        <p:txBody>
          <a:bodyPr anchor="t"/>
          <a:lstStyle/>
          <a:p>
            <a:r>
              <a:t>Find a hyperplane which separates two-class data with maximal margin</a:t>
            </a:r>
          </a:p>
        </p:txBody>
      </p:sp>
      <p:pic>
        <p:nvPicPr>
          <p:cNvPr id="390" name="image23.png" descr="6.PNG"/>
          <p:cNvPicPr>
            <a:picLocks noChangeAspect="1"/>
          </p:cNvPicPr>
          <p:nvPr/>
        </p:nvPicPr>
        <p:blipFill>
          <a:blip r:embed="rId2">
            <a:extLst/>
          </a:blip>
          <a:stretch>
            <a:fillRect/>
          </a:stretch>
        </p:blipFill>
        <p:spPr>
          <a:xfrm>
            <a:off x="3195119" y="4232914"/>
            <a:ext cx="5621006" cy="4804548"/>
          </a:xfrm>
          <a:prstGeom prst="rect">
            <a:avLst/>
          </a:prstGeom>
          <a:ln w="12700">
            <a:miter lim="400000"/>
          </a:ln>
        </p:spPr>
      </p:pic>
    </p:spTree>
  </p:cSld>
  <p:clrMapOvr>
    <a:masterClrMapping/>
  </p:clrMapOvr>
  <p:transition spd="med"/>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Shape 392"/>
          <p:cNvSpPr>
            <a:spLocks noGrp="1"/>
          </p:cNvSpPr>
          <p:nvPr>
            <p:ph type="title"/>
          </p:nvPr>
        </p:nvSpPr>
        <p:spPr>
          <a:prstGeom prst="rect">
            <a:avLst/>
          </a:prstGeom>
        </p:spPr>
        <p:txBody>
          <a:bodyPr/>
          <a:lstStyle/>
          <a:p>
            <a:r>
              <a:t>Experiments</a:t>
            </a:r>
          </a:p>
        </p:txBody>
      </p:sp>
      <p:sp>
        <p:nvSpPr>
          <p:cNvPr id="393" name="Shape 393"/>
          <p:cNvSpPr>
            <a:spLocks noGrp="1"/>
          </p:cNvSpPr>
          <p:nvPr>
            <p:ph type="body" idx="1"/>
          </p:nvPr>
        </p:nvSpPr>
        <p:spPr>
          <a:prstGeom prst="rect">
            <a:avLst/>
          </a:prstGeom>
        </p:spPr>
        <p:txBody>
          <a:bodyPr anchor="t"/>
          <a:lstStyle>
            <a:lvl1pPr marL="385762" indent="-385762">
              <a:buSzPct val="100000"/>
              <a:buFont typeface="Arial"/>
            </a:lvl1pPr>
          </a:lstStyle>
          <a:p>
            <a:r>
              <a:t>Some samples from the inhouse dataset</a:t>
            </a:r>
          </a:p>
        </p:txBody>
      </p:sp>
      <p:pic>
        <p:nvPicPr>
          <p:cNvPr id="394" name="image29.png" descr="D:\MoSIG\S3\MachineLearning\Papers\OurPaper\13.PNG"/>
          <p:cNvPicPr>
            <a:picLocks noChangeAspect="1"/>
          </p:cNvPicPr>
          <p:nvPr/>
        </p:nvPicPr>
        <p:blipFill>
          <a:blip r:embed="rId3">
            <a:extLst/>
          </a:blip>
          <a:stretch>
            <a:fillRect/>
          </a:stretch>
        </p:blipFill>
        <p:spPr>
          <a:xfrm>
            <a:off x="2412925" y="3809122"/>
            <a:ext cx="8178950" cy="4459141"/>
          </a:xfrm>
          <a:prstGeom prst="rect">
            <a:avLst/>
          </a:prstGeom>
          <a:ln w="12700">
            <a:miter lim="400000"/>
          </a:ln>
        </p:spPr>
      </p:pic>
    </p:spTree>
  </p:cSld>
  <p:clrMapOvr>
    <a:masterClrMapping/>
  </p:clrMapOvr>
  <p:transition spd="med"/>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 name="Shape 398"/>
          <p:cNvSpPr>
            <a:spLocks noGrp="1"/>
          </p:cNvSpPr>
          <p:nvPr>
            <p:ph type="title"/>
          </p:nvPr>
        </p:nvSpPr>
        <p:spPr>
          <a:prstGeom prst="rect">
            <a:avLst/>
          </a:prstGeom>
        </p:spPr>
        <p:txBody>
          <a:bodyPr/>
          <a:lstStyle/>
          <a:p>
            <a:r>
              <a:t>Results</a:t>
            </a:r>
          </a:p>
        </p:txBody>
      </p:sp>
      <p:pic>
        <p:nvPicPr>
          <p:cNvPr id="399" name="image30.png" descr="res-naive.PNG"/>
          <p:cNvPicPr>
            <a:picLocks noChangeAspect="1"/>
          </p:cNvPicPr>
          <p:nvPr/>
        </p:nvPicPr>
        <p:blipFill>
          <a:blip r:embed="rId3">
            <a:extLst/>
          </a:blip>
          <a:stretch>
            <a:fillRect/>
          </a:stretch>
        </p:blipFill>
        <p:spPr>
          <a:xfrm>
            <a:off x="3144368" y="2939373"/>
            <a:ext cx="6716064" cy="2724531"/>
          </a:xfrm>
          <a:prstGeom prst="rect">
            <a:avLst/>
          </a:prstGeom>
          <a:ln w="12700">
            <a:miter lim="400000"/>
          </a:ln>
        </p:spPr>
      </p:pic>
      <p:pic>
        <p:nvPicPr>
          <p:cNvPr id="400" name="image31.png" descr="res-svm.PNG"/>
          <p:cNvPicPr>
            <a:picLocks noChangeAspect="1"/>
          </p:cNvPicPr>
          <p:nvPr/>
        </p:nvPicPr>
        <p:blipFill>
          <a:blip r:embed="rId4">
            <a:extLst/>
          </a:blip>
          <a:stretch>
            <a:fillRect/>
          </a:stretch>
        </p:blipFill>
        <p:spPr>
          <a:xfrm>
            <a:off x="3125315" y="6351438"/>
            <a:ext cx="6754170" cy="2867426"/>
          </a:xfrm>
          <a:prstGeom prst="rect">
            <a:avLst/>
          </a:prstGeom>
          <a:ln w="12700">
            <a:miter lim="400000"/>
          </a:ln>
        </p:spPr>
      </p:pic>
      <p:sp>
        <p:nvSpPr>
          <p:cNvPr id="401" name="Shape 401"/>
          <p:cNvSpPr/>
          <p:nvPr/>
        </p:nvSpPr>
        <p:spPr>
          <a:xfrm>
            <a:off x="4702199" y="5099613"/>
            <a:ext cx="432049" cy="504057"/>
          </a:xfrm>
          <a:prstGeom prst="ellipse">
            <a:avLst/>
          </a:prstGeom>
          <a:ln w="25400">
            <a:solidFill>
              <a:srgbClr val="FF0000"/>
            </a:solidFill>
          </a:ln>
        </p:spPr>
        <p:txBody>
          <a:bodyPr lIns="45719" rIns="45719" anchor="ctr"/>
          <a:lstStyle/>
          <a:p>
            <a:pPr defTabSz="914400">
              <a:defRPr sz="1800">
                <a:solidFill>
                  <a:srgbClr val="FF0000"/>
                </a:solidFill>
                <a:latin typeface="Calibri"/>
                <a:ea typeface="Calibri"/>
                <a:cs typeface="Calibri"/>
                <a:sym typeface="Calibri"/>
              </a:defRPr>
            </a:pPr>
            <a:endParaRPr/>
          </a:p>
        </p:txBody>
      </p:sp>
      <p:sp>
        <p:nvSpPr>
          <p:cNvPr id="402" name="Shape 402"/>
          <p:cNvSpPr/>
          <p:nvPr/>
        </p:nvSpPr>
        <p:spPr>
          <a:xfrm>
            <a:off x="4702199" y="3371420"/>
            <a:ext cx="432049" cy="504057"/>
          </a:xfrm>
          <a:prstGeom prst="ellipse">
            <a:avLst/>
          </a:prstGeom>
          <a:ln w="25400">
            <a:solidFill>
              <a:srgbClr val="FF0000"/>
            </a:solidFill>
          </a:ln>
        </p:spPr>
        <p:txBody>
          <a:bodyPr lIns="45719" rIns="45719" anchor="ctr"/>
          <a:lstStyle/>
          <a:p>
            <a:pPr defTabSz="914400">
              <a:defRPr sz="1800">
                <a:solidFill>
                  <a:srgbClr val="FF0000"/>
                </a:solidFill>
                <a:latin typeface="Calibri"/>
                <a:ea typeface="Calibri"/>
                <a:cs typeface="Calibri"/>
                <a:sym typeface="Calibri"/>
              </a:defRPr>
            </a:pPr>
            <a:endParaRPr/>
          </a:p>
        </p:txBody>
      </p:sp>
      <p:sp>
        <p:nvSpPr>
          <p:cNvPr id="403" name="Shape 403"/>
          <p:cNvSpPr/>
          <p:nvPr/>
        </p:nvSpPr>
        <p:spPr>
          <a:xfrm>
            <a:off x="4702199" y="6986615"/>
            <a:ext cx="432049" cy="504057"/>
          </a:xfrm>
          <a:prstGeom prst="ellipse">
            <a:avLst/>
          </a:prstGeom>
          <a:ln w="25400">
            <a:solidFill>
              <a:srgbClr val="FF0000"/>
            </a:solidFill>
          </a:ln>
        </p:spPr>
        <p:txBody>
          <a:bodyPr lIns="45719" rIns="45719" anchor="ctr"/>
          <a:lstStyle/>
          <a:p>
            <a:pPr defTabSz="914400">
              <a:defRPr sz="1800">
                <a:solidFill>
                  <a:srgbClr val="FF0000"/>
                </a:solidFill>
                <a:latin typeface="Calibri"/>
                <a:ea typeface="Calibri"/>
                <a:cs typeface="Calibri"/>
                <a:sym typeface="Calibri"/>
              </a:defRPr>
            </a:pPr>
            <a:endParaRPr/>
          </a:p>
        </p:txBody>
      </p:sp>
      <p:sp>
        <p:nvSpPr>
          <p:cNvPr id="404" name="Shape 404"/>
          <p:cNvSpPr/>
          <p:nvPr/>
        </p:nvSpPr>
        <p:spPr>
          <a:xfrm>
            <a:off x="4717698" y="8712936"/>
            <a:ext cx="432049" cy="504057"/>
          </a:xfrm>
          <a:prstGeom prst="ellipse">
            <a:avLst/>
          </a:prstGeom>
          <a:ln w="25400">
            <a:solidFill>
              <a:srgbClr val="FF0000"/>
            </a:solidFill>
          </a:ln>
        </p:spPr>
        <p:txBody>
          <a:bodyPr lIns="45719" rIns="45719" anchor="ctr"/>
          <a:lstStyle/>
          <a:p>
            <a:pPr defTabSz="914400">
              <a:defRPr sz="1800">
                <a:solidFill>
                  <a:srgbClr val="FF0000"/>
                </a:solidFill>
                <a:latin typeface="Calibri"/>
                <a:ea typeface="Calibri"/>
                <a:cs typeface="Calibri"/>
                <a:sym typeface="Calibri"/>
              </a:defRPr>
            </a:pPr>
            <a:endParaRPr/>
          </a:p>
        </p:txBody>
      </p:sp>
      <p:sp>
        <p:nvSpPr>
          <p:cNvPr id="405" name="Shape 405"/>
          <p:cNvSpPr/>
          <p:nvPr/>
        </p:nvSpPr>
        <p:spPr>
          <a:xfrm>
            <a:off x="7582520" y="3227405"/>
            <a:ext cx="504057" cy="2304257"/>
          </a:xfrm>
          <a:prstGeom prst="roundRect">
            <a:avLst>
              <a:gd name="adj" fmla="val 16667"/>
            </a:avLst>
          </a:prstGeom>
          <a:ln w="25400">
            <a:solidFill>
              <a:srgbClr val="FF0000"/>
            </a:solidFill>
          </a:ln>
        </p:spPr>
        <p:txBody>
          <a:bodyPr lIns="45719" rIns="45719" anchor="ctr"/>
          <a:lstStyle/>
          <a:p>
            <a:pPr defTabSz="914400">
              <a:defRPr sz="1800">
                <a:solidFill>
                  <a:srgbClr val="FFFFFF"/>
                </a:solidFill>
                <a:latin typeface="Calibri"/>
                <a:ea typeface="Calibri"/>
                <a:cs typeface="Calibri"/>
                <a:sym typeface="Calibri"/>
              </a:defRPr>
            </a:pPr>
            <a:endParaRPr/>
          </a:p>
        </p:txBody>
      </p:sp>
      <p:sp>
        <p:nvSpPr>
          <p:cNvPr id="406" name="Shape 406"/>
          <p:cNvSpPr/>
          <p:nvPr/>
        </p:nvSpPr>
        <p:spPr>
          <a:xfrm>
            <a:off x="7582520" y="6626575"/>
            <a:ext cx="504057" cy="2564905"/>
          </a:xfrm>
          <a:prstGeom prst="roundRect">
            <a:avLst>
              <a:gd name="adj" fmla="val 16667"/>
            </a:avLst>
          </a:prstGeom>
          <a:ln w="25400">
            <a:solidFill>
              <a:srgbClr val="FF0000"/>
            </a:solidFill>
          </a:ln>
        </p:spPr>
        <p:txBody>
          <a:bodyPr lIns="45719" rIns="45719" anchor="ctr"/>
          <a:lstStyle/>
          <a:p>
            <a:pPr defTabSz="914400">
              <a:defRPr sz="1800">
                <a:solidFill>
                  <a:srgbClr val="FFFFFF"/>
                </a:solidFill>
                <a:latin typeface="Calibri"/>
                <a:ea typeface="Calibri"/>
                <a:cs typeface="Calibri"/>
                <a:sym typeface="Calibri"/>
              </a:defRPr>
            </a:pPr>
            <a:endParaRPr/>
          </a:p>
        </p:txBody>
      </p:sp>
      <p:sp>
        <p:nvSpPr>
          <p:cNvPr id="407" name="Shape 407"/>
          <p:cNvSpPr/>
          <p:nvPr/>
        </p:nvSpPr>
        <p:spPr>
          <a:xfrm>
            <a:off x="1660651" y="5758293"/>
            <a:ext cx="8355433" cy="498755"/>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600">
                <a:latin typeface="Helvetica Neue"/>
                <a:ea typeface="Helvetica Neue"/>
                <a:cs typeface="Helvetica Neue"/>
                <a:sym typeface="Helvetica Neue"/>
              </a:defRPr>
            </a:pPr>
            <a:r>
              <a:rPr dirty="0"/>
              <a:t>mean rank example: </a:t>
            </a:r>
            <a:r>
              <a:rPr dirty="0">
                <a:latin typeface="ArialUnicodeMS"/>
                <a:ea typeface="ArialUnicodeMS"/>
                <a:cs typeface="ArialUnicodeMS"/>
                <a:sym typeface="ArialUnicodeMS"/>
              </a:rPr>
              <a:t>[</a:t>
            </a:r>
            <a:r>
              <a:rPr dirty="0"/>
              <a:t>76*1+(2+3+4+9+2+4)*2</a:t>
            </a:r>
            <a:r>
              <a:rPr dirty="0">
                <a:latin typeface="ArialUnicodeMS"/>
                <a:ea typeface="ArialUnicodeMS"/>
                <a:cs typeface="ArialUnicodeMS"/>
                <a:sym typeface="ArialUnicodeMS"/>
              </a:rPr>
              <a:t>]</a:t>
            </a:r>
            <a:r>
              <a:rPr dirty="0"/>
              <a:t>/100=1.24</a:t>
            </a:r>
          </a:p>
        </p:txBody>
      </p:sp>
    </p:spTree>
  </p:cSld>
  <p:clrMapOvr>
    <a:masterClrMapping/>
  </p:clrMapOvr>
  <p:transition spd="med"/>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 name="Shape 411"/>
          <p:cNvSpPr>
            <a:spLocks noGrp="1"/>
          </p:cNvSpPr>
          <p:nvPr>
            <p:ph type="title"/>
          </p:nvPr>
        </p:nvSpPr>
        <p:spPr>
          <a:prstGeom prst="rect">
            <a:avLst/>
          </a:prstGeom>
        </p:spPr>
        <p:txBody>
          <a:bodyPr/>
          <a:lstStyle/>
          <a:p>
            <a:r>
              <a:t>Results</a:t>
            </a:r>
          </a:p>
        </p:txBody>
      </p:sp>
      <p:sp>
        <p:nvSpPr>
          <p:cNvPr id="412" name="Shape 412"/>
          <p:cNvSpPr>
            <a:spLocks noGrp="1"/>
          </p:cNvSpPr>
          <p:nvPr>
            <p:ph type="body" idx="1"/>
          </p:nvPr>
        </p:nvSpPr>
        <p:spPr>
          <a:prstGeom prst="rect">
            <a:avLst/>
          </a:prstGeom>
        </p:spPr>
        <p:txBody>
          <a:bodyPr anchor="b"/>
          <a:lstStyle>
            <a:lvl1pPr marL="425668" indent="-425668">
              <a:buSzPct val="100000"/>
              <a:buFont typeface="Arial"/>
            </a:lvl1pPr>
            <a:lvl2pPr marL="868679" indent="-411479">
              <a:buSzPct val="100000"/>
              <a:buFont typeface="Arial"/>
              <a:buChar char="–"/>
            </a:lvl2pPr>
          </a:lstStyle>
          <a:p>
            <a:r>
              <a:t>For K = 1000</a:t>
            </a:r>
            <a:endParaRPr sz="2900"/>
          </a:p>
          <a:p>
            <a:pPr lvl="1"/>
            <a:r>
              <a:t>Naive Bayes 28%	SVM 15%</a:t>
            </a:r>
          </a:p>
        </p:txBody>
      </p:sp>
      <p:pic>
        <p:nvPicPr>
          <p:cNvPr id="413" name="image32.png" descr="D:\MoSIG\S3\MachineLearning\Papers\OurPaper\14.PNG"/>
          <p:cNvPicPr>
            <a:picLocks noChangeAspect="1"/>
          </p:cNvPicPr>
          <p:nvPr/>
        </p:nvPicPr>
        <p:blipFill>
          <a:blip r:embed="rId2">
            <a:extLst/>
          </a:blip>
          <a:stretch>
            <a:fillRect/>
          </a:stretch>
        </p:blipFill>
        <p:spPr>
          <a:xfrm>
            <a:off x="2636043" y="2501087"/>
            <a:ext cx="7732549" cy="4446216"/>
          </a:xfrm>
          <a:prstGeom prst="rect">
            <a:avLst/>
          </a:prstGeom>
          <a:ln w="12700">
            <a:miter lim="400000"/>
          </a:ln>
        </p:spPr>
      </p:pic>
    </p:spTree>
  </p:cSld>
  <p:clrMapOvr>
    <a:masterClrMapping/>
  </p:clrMapOvr>
  <p:transition spd="med"/>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 name="Shape 415"/>
          <p:cNvSpPr>
            <a:spLocks noGrp="1"/>
          </p:cNvSpPr>
          <p:nvPr>
            <p:ph type="title"/>
          </p:nvPr>
        </p:nvSpPr>
        <p:spPr>
          <a:prstGeom prst="rect">
            <a:avLst/>
          </a:prstGeom>
        </p:spPr>
        <p:txBody>
          <a:bodyPr/>
          <a:lstStyle/>
          <a:p>
            <a:r>
              <a:t>Experiments</a:t>
            </a:r>
          </a:p>
        </p:txBody>
      </p:sp>
      <p:sp>
        <p:nvSpPr>
          <p:cNvPr id="416" name="Shape 416"/>
          <p:cNvSpPr>
            <a:spLocks noGrp="1"/>
          </p:cNvSpPr>
          <p:nvPr>
            <p:ph type="body" idx="1"/>
          </p:nvPr>
        </p:nvSpPr>
        <p:spPr>
          <a:prstGeom prst="rect">
            <a:avLst/>
          </a:prstGeom>
        </p:spPr>
        <p:txBody>
          <a:bodyPr anchor="t"/>
          <a:lstStyle/>
          <a:p>
            <a:r>
              <a:t>Performance of SVM in another dataset</a:t>
            </a:r>
          </a:p>
        </p:txBody>
      </p:sp>
      <p:pic>
        <p:nvPicPr>
          <p:cNvPr id="417" name="image33.png" descr="D:\MoSIG\S3\MachineLearning\Papers\OurPaper\15.PNG"/>
          <p:cNvPicPr>
            <a:picLocks noChangeAspect="1"/>
          </p:cNvPicPr>
          <p:nvPr/>
        </p:nvPicPr>
        <p:blipFill>
          <a:blip r:embed="rId3">
            <a:extLst/>
          </a:blip>
          <a:stretch>
            <a:fillRect/>
          </a:stretch>
        </p:blipFill>
        <p:spPr>
          <a:xfrm>
            <a:off x="1918485" y="3273821"/>
            <a:ext cx="9167830" cy="5678495"/>
          </a:xfrm>
          <a:prstGeom prst="rect">
            <a:avLst/>
          </a:prstGeom>
          <a:ln w="12700">
            <a:miter lim="400000"/>
          </a:ln>
        </p:spPr>
      </p:pic>
    </p:spTree>
  </p:cSld>
  <p:clrMapOvr>
    <a:masterClrMapping/>
  </p:clrMapOvr>
  <p:transition spd="med"/>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 name="Shape 421"/>
          <p:cNvSpPr>
            <a:spLocks noGrp="1"/>
          </p:cNvSpPr>
          <p:nvPr>
            <p:ph type="title"/>
          </p:nvPr>
        </p:nvSpPr>
        <p:spPr>
          <a:prstGeom prst="rect">
            <a:avLst/>
          </a:prstGeom>
        </p:spPr>
        <p:txBody>
          <a:bodyPr/>
          <a:lstStyle/>
          <a:p>
            <a:r>
              <a:t>Results</a:t>
            </a:r>
          </a:p>
        </p:txBody>
      </p:sp>
      <p:pic>
        <p:nvPicPr>
          <p:cNvPr id="422" name="image34.png" descr="D:\MoSIG\S3\MachineLearning\Papers\OurPaper\16.PNG"/>
          <p:cNvPicPr>
            <a:picLocks noChangeAspect="1"/>
          </p:cNvPicPr>
          <p:nvPr/>
        </p:nvPicPr>
        <p:blipFill>
          <a:blip r:embed="rId2">
            <a:extLst/>
          </a:blip>
          <a:stretch>
            <a:fillRect/>
          </a:stretch>
        </p:blipFill>
        <p:spPr>
          <a:xfrm>
            <a:off x="1756906" y="4003771"/>
            <a:ext cx="9490988" cy="3498658"/>
          </a:xfrm>
          <a:prstGeom prst="rect">
            <a:avLst/>
          </a:prstGeom>
          <a:ln w="12700">
            <a:miter lim="400000"/>
          </a:ln>
        </p:spPr>
      </p:pic>
    </p:spTree>
  </p:cSld>
  <p:clrMapOvr>
    <a:masterClrMapping/>
  </p:clrMapOvr>
  <p:transition spd="med"/>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 name="Shape 424"/>
          <p:cNvSpPr>
            <a:spLocks noGrp="1"/>
          </p:cNvSpPr>
          <p:nvPr>
            <p:ph type="title"/>
          </p:nvPr>
        </p:nvSpPr>
        <p:spPr>
          <a:prstGeom prst="rect">
            <a:avLst/>
          </a:prstGeom>
        </p:spPr>
        <p:txBody>
          <a:bodyPr/>
          <a:lstStyle>
            <a:lvl1pPr defTabSz="490727">
              <a:defRPr sz="6719"/>
            </a:lvl1pPr>
          </a:lstStyle>
          <a:p>
            <a:r>
              <a:t>Categorization by Naive Bayes</a:t>
            </a:r>
          </a:p>
        </p:txBody>
      </p:sp>
      <p:sp>
        <p:nvSpPr>
          <p:cNvPr id="425" name="Shape 425"/>
          <p:cNvSpPr>
            <a:spLocks noGrp="1"/>
          </p:cNvSpPr>
          <p:nvPr>
            <p:ph type="body" idx="1"/>
          </p:nvPr>
        </p:nvSpPr>
        <p:spPr>
          <a:prstGeom prst="rect">
            <a:avLst/>
          </a:prstGeom>
        </p:spPr>
        <p:txBody>
          <a:bodyPr/>
          <a:lstStyle/>
          <a:p>
            <a:pPr marL="282892" indent="-282892" defTabSz="321310">
              <a:spcBef>
                <a:spcPts val="2300"/>
              </a:spcBef>
              <a:buSzPct val="100000"/>
              <a:buFont typeface="Arial"/>
              <a:defRPr sz="1980"/>
            </a:pPr>
            <a:r>
              <a:t>example</a:t>
            </a:r>
          </a:p>
          <a:p>
            <a:pPr marL="534352" lvl="1" indent="-282892" defTabSz="321310">
              <a:spcBef>
                <a:spcPts val="2300"/>
              </a:spcBef>
              <a:buSzPct val="100000"/>
              <a:buFont typeface="Arial"/>
              <a:defRPr sz="1980"/>
            </a:pPr>
            <a:r>
              <a:t>n=3, i=1</a:t>
            </a:r>
          </a:p>
          <a:p>
            <a:pPr marL="534352" lvl="1" indent="-282892" defTabSz="321310">
              <a:spcBef>
                <a:spcPts val="2300"/>
              </a:spcBef>
              <a:buSzPct val="100000"/>
              <a:buFont typeface="Arial"/>
              <a:defRPr sz="1980"/>
            </a:pPr>
            <a:r>
              <a:t>訓練集的向量為</a:t>
            </a:r>
          </a:p>
          <a:p>
            <a:pPr marL="785812" lvl="2" indent="-282892" defTabSz="321310">
              <a:spcBef>
                <a:spcPts val="2300"/>
              </a:spcBef>
              <a:buSzPct val="100000"/>
              <a:buFont typeface="Arial"/>
              <a:defRPr sz="1980"/>
            </a:pPr>
            <a:r>
              <a:t>C1:&lt;1,1,0&gt;, &lt;1,1,3&gt;, &lt;1,2,1&gt;</a:t>
            </a:r>
          </a:p>
          <a:p>
            <a:pPr marL="785812" lvl="2" indent="-282892" defTabSz="321310">
              <a:spcBef>
                <a:spcPts val="2300"/>
              </a:spcBef>
              <a:buSzPct val="100000"/>
              <a:buFont typeface="Arial"/>
              <a:defRPr sz="1980"/>
            </a:pPr>
            <a:r>
              <a:t>C2:&lt;1,2,0&gt;, &lt;2,1,3&gt;, &lt;2,2,1&gt;</a:t>
            </a:r>
          </a:p>
          <a:p>
            <a:pPr marL="785812" lvl="2" indent="-282892" defTabSz="321310">
              <a:spcBef>
                <a:spcPts val="2300"/>
              </a:spcBef>
              <a:buSzPct val="100000"/>
              <a:buFont typeface="Arial"/>
              <a:defRPr sz="1980"/>
            </a:pPr>
            <a:r>
              <a:t>C3:&lt;1,1,1&gt;, &lt;1,3,3&gt;, &lt;3,2,1&gt;</a:t>
            </a:r>
          </a:p>
          <a:p>
            <a:pPr marL="534352" lvl="1" indent="-282892" defTabSz="321310">
              <a:spcBef>
                <a:spcPts val="2300"/>
              </a:spcBef>
              <a:buSzPct val="100000"/>
              <a:buFont typeface="Arial"/>
              <a:defRPr sz="1980"/>
            </a:pPr>
            <a:r>
              <a:t>分類的向量為 w = &lt;2,1,0&gt;</a:t>
            </a:r>
          </a:p>
          <a:p>
            <a:pPr marL="534352" lvl="1" indent="-282892" defTabSz="321310">
              <a:spcBef>
                <a:spcPts val="2300"/>
              </a:spcBef>
              <a:buSzPct val="100000"/>
              <a:buFont typeface="Arial"/>
              <a:defRPr sz="1980"/>
            </a:pPr>
            <a:r>
              <a:t>C1類別的分數：P(w1|C1)P(w2|C2)P(w3|C3)P(C1)</a:t>
            </a:r>
          </a:p>
          <a:p>
            <a:pPr marL="785812" lvl="2" indent="-282892" defTabSz="321310">
              <a:spcBef>
                <a:spcPts val="2300"/>
              </a:spcBef>
              <a:buSzPct val="100000"/>
              <a:buFont typeface="Arial"/>
              <a:defRPr sz="1980"/>
            </a:pPr>
            <a:r>
              <a:t>P(w1|C1)=[(1+1+1)/(1+1+0+1+1+3+1+2+1)]</a:t>
            </a:r>
            <a:r>
              <a:rPr baseline="31999"/>
              <a:t>2</a:t>
            </a:r>
          </a:p>
          <a:p>
            <a:pPr marL="785812" lvl="2" indent="-282892" defTabSz="321310">
              <a:spcBef>
                <a:spcPts val="2300"/>
              </a:spcBef>
              <a:buSzPct val="100000"/>
              <a:buFont typeface="Arial"/>
              <a:defRPr sz="1980"/>
            </a:pPr>
            <a:r>
              <a:t>P(C1)=(1+1+0+1+1+3+1+2+1)/(1+1+0+1+1+3+1+2+1+1+2+0+2+1+3+2+2+1+1+1+1+1+3+3+3+2+1)</a:t>
            </a:r>
          </a:p>
        </p:txBody>
      </p:sp>
    </p:spTree>
  </p:cSld>
  <p:clrMapOvr>
    <a:masterClrMapping/>
  </p:clrMapOvr>
  <p:transition spd="med"/>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79</TotalTime>
  <Words>1083</Words>
  <Application>Microsoft Office PowerPoint</Application>
  <PresentationFormat>自訂</PresentationFormat>
  <Paragraphs>198</Paragraphs>
  <Slides>30</Slides>
  <Notes>24</Notes>
  <HiddenSlides>3</HiddenSlides>
  <MMClips>0</MMClips>
  <ScaleCrop>false</ScaleCrop>
  <HeadingPairs>
    <vt:vector size="6" baseType="variant">
      <vt:variant>
        <vt:lpstr>使用字型</vt:lpstr>
      </vt:variant>
      <vt:variant>
        <vt:i4>9</vt:i4>
      </vt:variant>
      <vt:variant>
        <vt:lpstr>佈景主題</vt:lpstr>
      </vt:variant>
      <vt:variant>
        <vt:i4>1</vt:i4>
      </vt:variant>
      <vt:variant>
        <vt:lpstr>投影片標題</vt:lpstr>
      </vt:variant>
      <vt:variant>
        <vt:i4>30</vt:i4>
      </vt:variant>
    </vt:vector>
  </HeadingPairs>
  <TitlesOfParts>
    <vt:vector size="40" baseType="lpstr">
      <vt:lpstr>ArialUnicodeMS</vt:lpstr>
      <vt:lpstr>Helvetica Light</vt:lpstr>
      <vt:lpstr>Helvetica Neue</vt:lpstr>
      <vt:lpstr>Liberation Sans Narrow</vt:lpstr>
      <vt:lpstr>微軟正黑體</vt:lpstr>
      <vt:lpstr>Arial</vt:lpstr>
      <vt:lpstr>Calibri</vt:lpstr>
      <vt:lpstr>Helvetica</vt:lpstr>
      <vt:lpstr>Times</vt:lpstr>
      <vt:lpstr>White</vt:lpstr>
      <vt:lpstr>Visual Categorization with Bags of Keypoints </vt:lpstr>
      <vt:lpstr>Abstract</vt:lpstr>
      <vt:lpstr>Bag of Words Analogy</vt:lpstr>
      <vt:lpstr>Bag of Words Analogy</vt:lpstr>
      <vt:lpstr>Method</vt:lpstr>
      <vt:lpstr>Detection And Description of Image Patches</vt:lpstr>
      <vt:lpstr>Detection And Description of Image Patches</vt:lpstr>
      <vt:lpstr>Detection And Description of Image Patches</vt:lpstr>
      <vt:lpstr>Detection And Description of Image Patches</vt:lpstr>
      <vt:lpstr>Detection And Description of Image Patches</vt:lpstr>
      <vt:lpstr>Detection And Description of Image Patches</vt:lpstr>
      <vt:lpstr>Detection And Description of Image Patches</vt:lpstr>
      <vt:lpstr>Assignment of Patch Descriptors</vt:lpstr>
      <vt:lpstr>Assignment of Patch Descriptors</vt:lpstr>
      <vt:lpstr>Assignment of Patch Descriptors</vt:lpstr>
      <vt:lpstr>Assignment of Patch Descriptors</vt:lpstr>
      <vt:lpstr>Assignment of Patch Descriptors</vt:lpstr>
      <vt:lpstr>Assignment of Patch Descriptors</vt:lpstr>
      <vt:lpstr>Assignment of Patch Descriptors</vt:lpstr>
      <vt:lpstr>Contruction of Bags of Keypoints</vt:lpstr>
      <vt:lpstr>Application of Multi-Class Classifier</vt:lpstr>
      <vt:lpstr>Categorization by Naive Bayes</vt:lpstr>
      <vt:lpstr>Categorization by Naive Bayes</vt:lpstr>
      <vt:lpstr>Categorization by SVM</vt:lpstr>
      <vt:lpstr>Experiments</vt:lpstr>
      <vt:lpstr>Results</vt:lpstr>
      <vt:lpstr>Results</vt:lpstr>
      <vt:lpstr>Experiments</vt:lpstr>
      <vt:lpstr>Results</vt:lpstr>
      <vt:lpstr>Categorization by Naive Bayes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Visual Categorization with Bags of Keypoints</dc:title>
  <dc:creator>pplab-class</dc:creator>
  <cp:lastModifiedBy>pplab-class</cp:lastModifiedBy>
  <cp:revision>8</cp:revision>
  <dcterms:modified xsi:type="dcterms:W3CDTF">2016-10-25T11:29:49Z</dcterms:modified>
</cp:coreProperties>
</file>