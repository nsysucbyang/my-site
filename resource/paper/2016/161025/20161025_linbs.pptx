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6" r:id="rId12"/>
    <p:sldId id="267" r:id="rId13"/>
    <p:sldId id="270" r:id="rId14"/>
    <p:sldId id="271" r:id="rId15"/>
    <p:sldId id="272" r:id="rId16"/>
    <p:sldId id="276" r:id="rId17"/>
    <p:sldId id="278" r:id="rId18"/>
    <p:sldId id="279" r:id="rId19"/>
    <p:sldId id="274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291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FF"/>
    <a:srgbClr val="0099CC"/>
    <a:srgbClr val="C5C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9" autoAdjust="0"/>
    <p:restoredTop sz="94660"/>
  </p:normalViewPr>
  <p:slideViewPr>
    <p:cSldViewPr snapToGrid="0">
      <p:cViewPr varScale="1">
        <p:scale>
          <a:sx n="86" d="100"/>
          <a:sy n="86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18B5-9F64-4BCF-B1EE-1FDC52667EE1}" type="datetimeFigureOut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9B0B-B10D-49AA-966C-9C58E0B86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49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85C0-1FCA-4A75-9F23-6295E7490FEE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0020-C82E-415B-9299-1A25D7552E73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755A-A3D0-49B7-B750-A84F0F8C3152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F536-6844-4449-BA87-F2BF5DABF104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0BCE-4D5B-445D-9EBF-D040FF475579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3B6D-3892-4D58-A340-8C410260F3D7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35E-8418-4C4A-BC7E-83B7EA882B5A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7B-C3EA-46E9-832E-F519368F0FB0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982-7446-446B-8F17-73F2858A31F6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670E-D1D9-4108-B311-ADAABD8B0D32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F84-786D-4EF2-8481-140225BF3227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B57B-0D0F-41CB-A932-683E565E4EE2}" type="datetime1">
              <a:rPr lang="zh-TW" altLang="en-US" smtClean="0"/>
              <a:t>2016/10/25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The LCA Problem Revisited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Michael A. Bender and Martin </a:t>
            </a:r>
            <a:r>
              <a:rPr lang="en-US" altLang="zh-TW" sz="2000" dirty="0" err="1" smtClean="0"/>
              <a:t>Farach</a:t>
            </a:r>
            <a:r>
              <a:rPr lang="en-US" altLang="zh-TW" sz="2000" dirty="0" smtClean="0"/>
              <a:t>-Colton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581136"/>
              </p:ext>
            </p:extLst>
          </p:nvPr>
        </p:nvGraphicFramePr>
        <p:xfrm>
          <a:off x="2698748" y="3848099"/>
          <a:ext cx="3816351" cy="1500105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LATIN Proceedings of the 4th Latin American Symposium on Theoretical Informatics, 2000,</a:t>
                      </a:r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Pages 88-94 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2016/10/25</a:t>
            </a:fld>
            <a:endParaRPr lang="zh-TW" altLang="en-US" sz="1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 anchor="t" anchorCtr="0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TW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very simple algorithm for the Least Common Ancestors problem. We thus dispel the frequently held notion that optimal LCA computations is unwieldy and </a:t>
            </a:r>
            <a:r>
              <a:rPr lang="en-US" altLang="zh-TW" sz="2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unimplementable</a:t>
            </a:r>
            <a:r>
              <a:rPr lang="en-US" altLang="zh-TW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Interestingly, this algorithm is a </a:t>
            </a:r>
            <a:r>
              <a:rPr lang="en-US" altLang="zh-TW" sz="2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sequentialization</a:t>
            </a:r>
            <a:r>
              <a:rPr lang="en-US" altLang="zh-TW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a previously known PRAM algorithm.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Least Common Ancestor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372633" y="3333432"/>
            <a:ext cx="480291" cy="461819"/>
          </a:xfrm>
          <a:prstGeom prst="ellipse">
            <a:avLst/>
          </a:prstGeom>
          <a:solidFill>
            <a:srgbClr val="0099CC">
              <a:alpha val="50000"/>
            </a:srgbClr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w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接點 6"/>
          <p:cNvCxnSpPr>
            <a:stCxn id="5" idx="3"/>
            <a:endCxn id="8" idx="0"/>
          </p:cNvCxnSpPr>
          <p:nvPr/>
        </p:nvCxnSpPr>
        <p:spPr>
          <a:xfrm flipH="1">
            <a:off x="3537529" y="3727619"/>
            <a:ext cx="905441" cy="40660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3297383" y="4134221"/>
            <a:ext cx="480291" cy="46181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2178132" y="5169590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3109351" y="5169588"/>
            <a:ext cx="480291" cy="46181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u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4108528" y="5169588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5616899" y="4249618"/>
            <a:ext cx="480291" cy="46181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5107706" y="5152206"/>
            <a:ext cx="480291" cy="46181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6165850" y="5152206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2998512" y="6133656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10" idx="0"/>
            <a:endCxn id="8" idx="4"/>
          </p:cNvCxnSpPr>
          <p:nvPr/>
        </p:nvCxnSpPr>
        <p:spPr>
          <a:xfrm flipV="1">
            <a:off x="3349497" y="4596040"/>
            <a:ext cx="188032" cy="57354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3"/>
            <a:endCxn id="9" idx="0"/>
          </p:cNvCxnSpPr>
          <p:nvPr/>
        </p:nvCxnSpPr>
        <p:spPr>
          <a:xfrm flipH="1">
            <a:off x="2418278" y="4528408"/>
            <a:ext cx="949442" cy="641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1" idx="0"/>
            <a:endCxn id="8" idx="5"/>
          </p:cNvCxnSpPr>
          <p:nvPr/>
        </p:nvCxnSpPr>
        <p:spPr>
          <a:xfrm flipH="1" flipV="1">
            <a:off x="3707337" y="4528408"/>
            <a:ext cx="641337" cy="641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10" idx="4"/>
            <a:endCxn id="16" idx="0"/>
          </p:cNvCxnSpPr>
          <p:nvPr/>
        </p:nvCxnSpPr>
        <p:spPr>
          <a:xfrm flipH="1">
            <a:off x="3238658" y="5631407"/>
            <a:ext cx="110839" cy="5022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3" idx="0"/>
            <a:endCxn id="5" idx="5"/>
          </p:cNvCxnSpPr>
          <p:nvPr/>
        </p:nvCxnSpPr>
        <p:spPr>
          <a:xfrm flipH="1" flipV="1">
            <a:off x="4782587" y="3727619"/>
            <a:ext cx="1074458" cy="521999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4" idx="0"/>
            <a:endCxn id="13" idx="3"/>
          </p:cNvCxnSpPr>
          <p:nvPr/>
        </p:nvCxnSpPr>
        <p:spPr>
          <a:xfrm flipV="1">
            <a:off x="5347852" y="4643805"/>
            <a:ext cx="339384" cy="50840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15" idx="0"/>
            <a:endCxn id="13" idx="5"/>
          </p:cNvCxnSpPr>
          <p:nvPr/>
        </p:nvCxnSpPr>
        <p:spPr>
          <a:xfrm flipH="1" flipV="1">
            <a:off x="6026853" y="4643805"/>
            <a:ext cx="379143" cy="5084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41" idx="0"/>
            <a:endCxn id="5" idx="4"/>
          </p:cNvCxnSpPr>
          <p:nvPr/>
        </p:nvCxnSpPr>
        <p:spPr>
          <a:xfrm flipH="1" flipV="1">
            <a:off x="4612779" y="3795251"/>
            <a:ext cx="1" cy="3487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4372634" y="4143981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4556494" y="6116274"/>
            <a:ext cx="480291" cy="46181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v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5376754" y="6116273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線接點 44"/>
          <p:cNvCxnSpPr>
            <a:stCxn id="43" idx="0"/>
            <a:endCxn id="14" idx="3"/>
          </p:cNvCxnSpPr>
          <p:nvPr/>
        </p:nvCxnSpPr>
        <p:spPr>
          <a:xfrm flipV="1">
            <a:off x="4796640" y="5546393"/>
            <a:ext cx="381403" cy="56988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4" idx="0"/>
            <a:endCxn id="14" idx="5"/>
          </p:cNvCxnSpPr>
          <p:nvPr/>
        </p:nvCxnSpPr>
        <p:spPr>
          <a:xfrm flipH="1" flipV="1">
            <a:off x="5517660" y="5546393"/>
            <a:ext cx="99240" cy="569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橢圓 128"/>
          <p:cNvSpPr/>
          <p:nvPr/>
        </p:nvSpPr>
        <p:spPr>
          <a:xfrm>
            <a:off x="3308999" y="2654755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0" name="橢圓 129"/>
          <p:cNvSpPr/>
          <p:nvPr/>
        </p:nvSpPr>
        <p:spPr>
          <a:xfrm>
            <a:off x="2178132" y="3333432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1" name="橢圓 130"/>
          <p:cNvSpPr/>
          <p:nvPr/>
        </p:nvSpPr>
        <p:spPr>
          <a:xfrm>
            <a:off x="2178132" y="4134221"/>
            <a:ext cx="480291" cy="4618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8" name="直線接點 157"/>
          <p:cNvCxnSpPr>
            <a:stCxn id="5" idx="1"/>
            <a:endCxn id="129" idx="5"/>
          </p:cNvCxnSpPr>
          <p:nvPr/>
        </p:nvCxnSpPr>
        <p:spPr>
          <a:xfrm flipH="1" flipV="1">
            <a:off x="3718953" y="3048942"/>
            <a:ext cx="724017" cy="352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/>
          <p:cNvCxnSpPr>
            <a:stCxn id="129" idx="3"/>
            <a:endCxn id="130" idx="7"/>
          </p:cNvCxnSpPr>
          <p:nvPr/>
        </p:nvCxnSpPr>
        <p:spPr>
          <a:xfrm flipH="1">
            <a:off x="2588086" y="3048942"/>
            <a:ext cx="791250" cy="352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>
            <a:stCxn id="130" idx="4"/>
            <a:endCxn id="131" idx="0"/>
          </p:cNvCxnSpPr>
          <p:nvPr/>
        </p:nvCxnSpPr>
        <p:spPr>
          <a:xfrm>
            <a:off x="2418278" y="3795251"/>
            <a:ext cx="0" cy="338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is to answer the LCA queries for any pairs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a rooted tree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2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90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Research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Fast </a:t>
                </a:r>
                <a:r>
                  <a:rPr lang="en-US" altLang="zh-TW" dirty="0"/>
                  <a:t>Algorithms for Finding Nearest Common </a:t>
                </a:r>
                <a:r>
                  <a:rPr lang="en-US" altLang="zh-TW" dirty="0" smtClean="0"/>
                  <a:t>Ancestors</a:t>
                </a:r>
              </a:p>
              <a:p>
                <a:pPr lvl="1"/>
                <a:r>
                  <a:rPr lang="en-US" altLang="zh-TW" sz="2000" dirty="0" err="1" smtClean="0"/>
                  <a:t>Dov</a:t>
                </a:r>
                <a:r>
                  <a:rPr lang="en-US" altLang="zh-TW" sz="2000" dirty="0" smtClean="0"/>
                  <a:t> </a:t>
                </a:r>
                <a:r>
                  <a:rPr lang="en-US" altLang="zh-TW" sz="2000" dirty="0" err="1"/>
                  <a:t>Harel</a:t>
                </a:r>
                <a:r>
                  <a:rPr lang="en-US" altLang="zh-TW" sz="2000" dirty="0"/>
                  <a:t> and Robert </a:t>
                </a:r>
                <a:r>
                  <a:rPr lang="en-US" altLang="zh-TW" sz="2000" dirty="0" err="1"/>
                  <a:t>Endre</a:t>
                </a:r>
                <a:r>
                  <a:rPr lang="en-US" altLang="zh-TW" sz="2000" dirty="0"/>
                  <a:t> </a:t>
                </a:r>
                <a:r>
                  <a:rPr lang="en-US" altLang="zh-TW" sz="2000" dirty="0" err="1" smtClean="0"/>
                  <a:t>Tarjan</a:t>
                </a:r>
                <a:r>
                  <a:rPr lang="en-US" altLang="zh-TW" sz="2000" dirty="0" smtClean="0"/>
                  <a:t>, </a:t>
                </a:r>
                <a:r>
                  <a:rPr lang="fr-FR" altLang="zh-TW" sz="2000" dirty="0"/>
                  <a:t>SIAM J. Comput., 13(2), </a:t>
                </a:r>
                <a:r>
                  <a:rPr lang="fr-FR" altLang="zh-TW" sz="2000" dirty="0" smtClean="0"/>
                  <a:t>pp. 338–355, </a:t>
                </a:r>
                <a:r>
                  <a:rPr lang="en-US" altLang="zh-TW" sz="2000" dirty="0" smtClean="0"/>
                  <a:t>1984</a:t>
                </a:r>
              </a:p>
              <a:p>
                <a:pPr lvl="1"/>
                <a:r>
                  <a:rPr lang="en-US" altLang="zh-TW" sz="2000" dirty="0" smtClean="0"/>
                  <a:t>Query in constant time and preprocess in linear time.</a:t>
                </a:r>
              </a:p>
              <a:p>
                <a:pPr lvl="1"/>
                <a:r>
                  <a:rPr lang="en-US" altLang="zh-TW" sz="2000" dirty="0" smtClean="0"/>
                  <a:t>Too complicated to implement effectively.</a:t>
                </a:r>
              </a:p>
              <a:p>
                <a:r>
                  <a:rPr lang="en-US" altLang="zh-TW" dirty="0" smtClean="0"/>
                  <a:t>On finding </a:t>
                </a:r>
                <a:r>
                  <a:rPr lang="en-US" altLang="zh-TW" dirty="0"/>
                  <a:t>lowest common </a:t>
                </a:r>
                <a:r>
                  <a:rPr lang="en-US" altLang="zh-TW" dirty="0" smtClean="0"/>
                  <a:t>ancestors: Simplification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parallelization</a:t>
                </a:r>
              </a:p>
              <a:p>
                <a:pPr lvl="1"/>
                <a:r>
                  <a:rPr lang="en-US" altLang="zh-TW" sz="2000" dirty="0" smtClean="0"/>
                  <a:t>B</a:t>
                </a:r>
                <a:r>
                  <a:rPr lang="en-US" altLang="zh-TW" sz="2000" dirty="0"/>
                  <a:t>. </a:t>
                </a:r>
                <a:r>
                  <a:rPr lang="en-US" altLang="zh-TW" sz="2000" dirty="0" err="1"/>
                  <a:t>Schieber</a:t>
                </a:r>
                <a:r>
                  <a:rPr lang="en-US" altLang="zh-TW" sz="2000" dirty="0"/>
                  <a:t> and U. </a:t>
                </a:r>
                <a:r>
                  <a:rPr lang="en-US" altLang="zh-TW" sz="2000" dirty="0" err="1"/>
                  <a:t>Vishkin</a:t>
                </a:r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SIAM </a:t>
                </a:r>
                <a:r>
                  <a:rPr lang="en-US" altLang="zh-TW" sz="2000" dirty="0"/>
                  <a:t>J. </a:t>
                </a:r>
                <a:r>
                  <a:rPr lang="en-US" altLang="zh-TW" sz="2000" dirty="0" err="1"/>
                  <a:t>Comput</a:t>
                </a:r>
                <a:r>
                  <a:rPr lang="en-US" altLang="zh-TW" sz="2000" dirty="0"/>
                  <a:t>., </a:t>
                </a:r>
                <a:r>
                  <a:rPr lang="en-US" altLang="zh-TW" sz="2000" dirty="0" smtClean="0"/>
                  <a:t>17, pp. 1253-1262, 1988</a:t>
                </a:r>
              </a:p>
              <a:p>
                <a:pPr lvl="1"/>
                <a:r>
                  <a:rPr lang="en-US" altLang="zh-TW" sz="2000" dirty="0" smtClean="0"/>
                  <a:t>PRAM algorithm.</a:t>
                </a:r>
              </a:p>
              <a:p>
                <a:pPr lvl="1"/>
                <a:r>
                  <a:rPr lang="en-US" altLang="zh-TW" sz="2000" dirty="0" smtClean="0"/>
                  <a:t>Query in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altLang="zh-TW" sz="2000" dirty="0" smtClean="0"/>
                  <a:t>time and preprocess in linear time.</a:t>
                </a:r>
              </a:p>
              <a:p>
                <a:pPr lvl="1"/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04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Minimum Query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RMQ(2,5)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min(7,5,12,9) = </a:t>
                </a:r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value is 5 )</a:t>
                </a:r>
              </a:p>
              <a:p>
                <a:r>
                  <a:rPr lang="en-US" altLang="zh-TW" dirty="0" smtClean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RMQ(4,8)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value is 2 )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is to answer 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queries for any pairs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array.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05325"/>
              </p:ext>
            </p:extLst>
          </p:nvPr>
        </p:nvGraphicFramePr>
        <p:xfrm>
          <a:off x="1136073" y="2126672"/>
          <a:ext cx="660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905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弧形 5"/>
          <p:cNvSpPr/>
          <p:nvPr/>
        </p:nvSpPr>
        <p:spPr>
          <a:xfrm flipV="1">
            <a:off x="2992583" y="2745529"/>
            <a:ext cx="1911927" cy="646502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弧形 6"/>
          <p:cNvSpPr/>
          <p:nvPr/>
        </p:nvSpPr>
        <p:spPr>
          <a:xfrm rot="10800000" flipV="1">
            <a:off x="4244107" y="1662981"/>
            <a:ext cx="2581563" cy="867784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69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LCA prob. to RMQ prob.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410690" y="1456364"/>
            <a:ext cx="480291" cy="461819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接點 6"/>
          <p:cNvCxnSpPr>
            <a:stCxn id="6" idx="3"/>
            <a:endCxn id="8" idx="0"/>
          </p:cNvCxnSpPr>
          <p:nvPr/>
        </p:nvCxnSpPr>
        <p:spPr>
          <a:xfrm flipH="1">
            <a:off x="1935722" y="1850551"/>
            <a:ext cx="545305" cy="1889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1695576" y="20395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936646" y="2815377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1634475" y="28256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384169" y="2827962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133863" y="2087038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903878" y="36117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133863" y="2843195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285622" y="36117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>
            <a:stCxn id="10" idx="0"/>
            <a:endCxn id="8" idx="4"/>
          </p:cNvCxnSpPr>
          <p:nvPr/>
        </p:nvCxnSpPr>
        <p:spPr>
          <a:xfrm flipV="1">
            <a:off x="1874621" y="2501342"/>
            <a:ext cx="61101" cy="32428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8" idx="3"/>
            <a:endCxn id="9" idx="0"/>
          </p:cNvCxnSpPr>
          <p:nvPr/>
        </p:nvCxnSpPr>
        <p:spPr>
          <a:xfrm flipH="1">
            <a:off x="1176792" y="2433710"/>
            <a:ext cx="589121" cy="38166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1" idx="0"/>
            <a:endCxn id="8" idx="5"/>
          </p:cNvCxnSpPr>
          <p:nvPr/>
        </p:nvCxnSpPr>
        <p:spPr>
          <a:xfrm flipH="1" flipV="1">
            <a:off x="2105530" y="2433710"/>
            <a:ext cx="518785" cy="39425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0" idx="3"/>
            <a:endCxn id="15" idx="0"/>
          </p:cNvCxnSpPr>
          <p:nvPr/>
        </p:nvCxnSpPr>
        <p:spPr>
          <a:xfrm flipH="1">
            <a:off x="1525768" y="3219810"/>
            <a:ext cx="179044" cy="39191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2" idx="0"/>
            <a:endCxn id="6" idx="5"/>
          </p:cNvCxnSpPr>
          <p:nvPr/>
        </p:nvCxnSpPr>
        <p:spPr>
          <a:xfrm flipH="1" flipV="1">
            <a:off x="2820644" y="1850551"/>
            <a:ext cx="553365" cy="23648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3" idx="0"/>
            <a:endCxn id="10" idx="5"/>
          </p:cNvCxnSpPr>
          <p:nvPr/>
        </p:nvCxnSpPr>
        <p:spPr>
          <a:xfrm flipH="1" flipV="1">
            <a:off x="2044429" y="3219810"/>
            <a:ext cx="99595" cy="39191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4" idx="0"/>
            <a:endCxn id="12" idx="4"/>
          </p:cNvCxnSpPr>
          <p:nvPr/>
        </p:nvCxnSpPr>
        <p:spPr>
          <a:xfrm flipV="1">
            <a:off x="3374009" y="2548857"/>
            <a:ext cx="0" cy="29433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31166"/>
              </p:ext>
            </p:extLst>
          </p:nvPr>
        </p:nvGraphicFramePr>
        <p:xfrm>
          <a:off x="628650" y="4185084"/>
          <a:ext cx="7550244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707714"/>
              </p:ext>
            </p:extLst>
          </p:nvPr>
        </p:nvGraphicFramePr>
        <p:xfrm>
          <a:off x="628650" y="5085369"/>
          <a:ext cx="7550244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0" name="表格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684652"/>
              </p:ext>
            </p:extLst>
          </p:nvPr>
        </p:nvGraphicFramePr>
        <p:xfrm>
          <a:off x="628650" y="5985656"/>
          <a:ext cx="3998772" cy="790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308"/>
                <a:gridCol w="444308"/>
                <a:gridCol w="444308"/>
                <a:gridCol w="444308"/>
                <a:gridCol w="444308"/>
                <a:gridCol w="444308"/>
                <a:gridCol w="444308"/>
                <a:gridCol w="444308"/>
                <a:gridCol w="444308"/>
              </a:tblGrid>
              <a:tr h="395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5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1" name="文字方塊 100"/>
          <p:cNvSpPr txBox="1"/>
          <p:nvPr/>
        </p:nvSpPr>
        <p:spPr>
          <a:xfrm>
            <a:off x="193964" y="4358224"/>
            <a:ext cx="35618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4195792" y="2086073"/>
            <a:ext cx="22195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LCA Query(3,7)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E[RMQ(3,6)]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E[4]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6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字方塊 102"/>
          <p:cNvSpPr txBox="1"/>
          <p:nvPr/>
        </p:nvSpPr>
        <p:spPr>
          <a:xfrm>
            <a:off x="6457950" y="2087038"/>
            <a:ext cx="22733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LCA Query(1,8)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E[RMQ(1,15)]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E[1]</a:t>
            </a: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8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LCA prob. to RMQ prob.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solved in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means the preprocessing time and the query time.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 problem : solved in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−1)+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−1)+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we focus on the RMQ problem.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 r="-18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17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relation between RMQ[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and RMQ[i,j-1]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Buckets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41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96848"/>
              </a:xfrm>
            </p:spPr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relation between RMQ[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and RMQ[i,j-1]</a:t>
                </a: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Buckets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96848"/>
              </a:xfrm>
              <a:blipFill rotWithShape="0">
                <a:blip r:embed="rId2"/>
                <a:stretch>
                  <a:fillRect l="-1391" t="-21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571435"/>
              </p:ext>
            </p:extLst>
          </p:nvPr>
        </p:nvGraphicFramePr>
        <p:xfrm>
          <a:off x="1704109" y="3266498"/>
          <a:ext cx="6604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905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362036" y="3329709"/>
            <a:ext cx="1117600" cy="787978"/>
          </a:xfrm>
          <a:prstGeom prst="rect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288145" y="3221758"/>
            <a:ext cx="1884219" cy="97761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08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relation between RMQ[</a:t>
                </a:r>
                <a:r>
                  <a:rPr lang="en-US" altLang="zh-TW" dirty="0" err="1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and RMQ[i,j-1]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Buckets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96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Buckets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algorithm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 the array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pieces.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 costs no more than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3∗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operations.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533059"/>
              </p:ext>
            </p:extLst>
          </p:nvPr>
        </p:nvGraphicFramePr>
        <p:xfrm>
          <a:off x="1270000" y="1825625"/>
          <a:ext cx="6604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905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RMQ</a:t>
                      </a:r>
                      <a:endParaRPr lang="zh-TW" alt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向下箭號 5"/>
          <p:cNvSpPr/>
          <p:nvPr/>
        </p:nvSpPr>
        <p:spPr>
          <a:xfrm>
            <a:off x="3724852" y="1526813"/>
            <a:ext cx="157018" cy="23134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6848764" y="1454148"/>
            <a:ext cx="157018" cy="23134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824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relation between RMQ[</a:t>
                </a:r>
                <a:r>
                  <a:rPr lang="en-US" altLang="zh-TW" dirty="0" err="1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and RMQ[i,j-1]</a:t>
                </a: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Buckets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2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13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998162" y="1347456"/>
          <a:ext cx="597900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905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82307" y="2410694"/>
          <a:ext cx="3131130" cy="41282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26"/>
                <a:gridCol w="626226"/>
                <a:gridCol w="626226"/>
                <a:gridCol w="626226"/>
                <a:gridCol w="626226"/>
              </a:tblGrid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弧形 7"/>
          <p:cNvSpPr/>
          <p:nvPr/>
        </p:nvSpPr>
        <p:spPr>
          <a:xfrm flipV="1">
            <a:off x="5501985" y="1978069"/>
            <a:ext cx="1924050" cy="647577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弧形 8"/>
          <p:cNvSpPr/>
          <p:nvPr/>
        </p:nvSpPr>
        <p:spPr>
          <a:xfrm rot="10800000" flipV="1">
            <a:off x="6768522" y="1023130"/>
            <a:ext cx="657513" cy="490593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239137" y="2727433"/>
                <a:ext cx="4448077" cy="37409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Choose the index which value is smaller.</a:t>
                </a:r>
              </a:p>
              <a:p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altLang="zh-TW" sz="2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𝑐𝑜𝑚𝑒𝑠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3,1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[5,1]</m:t>
                      </m:r>
                    </m:oMath>
                  </m:oMathPara>
                </a14:m>
                <a:endParaRPr lang="en-US" altLang="zh-TW" sz="2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3,1</m:t>
                              </m:r>
                            </m:e>
                          </m:d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5,1</m:t>
                              </m:r>
                            </m:e>
                          </m:d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smaller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𝑏𝑢𝑖𝑙𝑑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𝑖𝑛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000" b="0" i="0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137" y="2727433"/>
                <a:ext cx="4448077" cy="3740961"/>
              </a:xfrm>
              <a:prstGeom prst="rect">
                <a:avLst/>
              </a:prstGeom>
              <a:blipFill rotWithShape="0">
                <a:blip r:embed="rId2"/>
                <a:stretch>
                  <a:fillRect l="-1370" b="-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弧形 11"/>
          <p:cNvSpPr/>
          <p:nvPr/>
        </p:nvSpPr>
        <p:spPr>
          <a:xfrm rot="10800000" flipV="1">
            <a:off x="5501985" y="1023129"/>
            <a:ext cx="657513" cy="490593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627548" y="157616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82307" y="2010584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69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14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998162" y="1347456"/>
          <a:ext cx="597900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905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  <a:gridCol w="62499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28676"/>
              </p:ext>
            </p:extLst>
          </p:nvPr>
        </p:nvGraphicFramePr>
        <p:xfrm>
          <a:off x="482307" y="2410694"/>
          <a:ext cx="3131130" cy="41282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226"/>
                <a:gridCol w="626226"/>
                <a:gridCol w="626226"/>
                <a:gridCol w="626226"/>
                <a:gridCol w="626226"/>
              </a:tblGrid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dirty="0">
                        <a:solidFill>
                          <a:schemeClr val="accent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586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弧形 8"/>
          <p:cNvSpPr/>
          <p:nvPr/>
        </p:nvSpPr>
        <p:spPr>
          <a:xfrm rot="10800000" flipV="1">
            <a:off x="5499676" y="970022"/>
            <a:ext cx="1986974" cy="530057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3945946" y="2981240"/>
                <a:ext cx="4845301" cy="2963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𝑞𝑢𝑒𝑟𝑦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𝑒𝑥𝑎𝑚𝑝𝑙𝑒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altLang="zh-TW" sz="20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⌋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(6−1)</m:t>
                                  </m:r>
                                </m:e>
                              </m:func>
                            </m:e>
                          </m:d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2000" b="0" i="1" dirty="0" smtClean="0">
                  <a:latin typeface="Cambria Math" panose="02040503050406030204" pitchFamily="18" charset="0"/>
                </a:endParaRPr>
              </a:p>
              <a:p>
                <a:endParaRPr lang="en-US" altLang="zh-TW" sz="20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𝑅𝑀𝑄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1,6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𝑐𝑜𝑚𝑝𝑎𝑟𝑒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solidFill>
                                        <a:srgbClr val="FF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US" altLang="zh-TW" sz="2000" i="1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𝑐𝑜𝑚𝑝𝑎𝑟𝑒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e>
                      </m:d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dirty="0"/>
              </a:p>
              <a:p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(1)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altLang="zh-TW" sz="2400" b="0" dirty="0" smtClean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946" y="2981240"/>
                <a:ext cx="4845301" cy="2963504"/>
              </a:xfrm>
              <a:prstGeom prst="rect">
                <a:avLst/>
              </a:prstGeom>
              <a:blipFill rotWithShape="0">
                <a:blip r:embed="rId2"/>
                <a:stretch>
                  <a:fillRect t="-5967" b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弧形 11"/>
          <p:cNvSpPr/>
          <p:nvPr/>
        </p:nvSpPr>
        <p:spPr>
          <a:xfrm rot="10800000" flipV="1">
            <a:off x="4235448" y="970023"/>
            <a:ext cx="1924050" cy="530057"/>
          </a:xfrm>
          <a:prstGeom prst="arc">
            <a:avLst>
              <a:gd name="adj1" fmla="val 10834766"/>
              <a:gd name="adj2" fmla="val 0"/>
            </a:avLst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2627548" y="157616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82307" y="2010584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relation between RMQ[</a:t>
                </a:r>
                <a:r>
                  <a:rPr lang="en-US" altLang="zh-TW" dirty="0" err="1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and RMQ[i,j-1]</a:t>
                </a: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Buckets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02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RMQ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868933"/>
              </p:ext>
            </p:extLst>
          </p:nvPr>
        </p:nvGraphicFramePr>
        <p:xfrm>
          <a:off x="1018944" y="1691123"/>
          <a:ext cx="7106112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68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18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601781" y="2701497"/>
                <a:ext cx="3940438" cy="685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TW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𝑏𝑙𝑜𝑐𝑘𝑠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num>
                        <m:den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781" y="2701497"/>
                <a:ext cx="3940438" cy="68518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67342"/>
              </p:ext>
            </p:extLst>
          </p:nvPr>
        </p:nvGraphicFramePr>
        <p:xfrm>
          <a:off x="906635" y="3832553"/>
          <a:ext cx="883748" cy="7927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874"/>
                <a:gridCol w="441874"/>
              </a:tblGrid>
              <a:tr h="3963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rgbClr val="FF00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rgbClr val="FF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3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0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向下箭號 12"/>
          <p:cNvSpPr/>
          <p:nvPr/>
        </p:nvSpPr>
        <p:spPr>
          <a:xfrm>
            <a:off x="1956707" y="2697821"/>
            <a:ext cx="563418" cy="68518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828968"/>
              </p:ext>
            </p:extLst>
          </p:nvPr>
        </p:nvGraphicFramePr>
        <p:xfrm>
          <a:off x="1956707" y="3832553"/>
          <a:ext cx="883748" cy="7927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874"/>
                <a:gridCol w="441874"/>
              </a:tblGrid>
              <a:tr h="3963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FF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FF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3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410875"/>
              </p:ext>
            </p:extLst>
          </p:nvPr>
        </p:nvGraphicFramePr>
        <p:xfrm>
          <a:off x="3439143" y="3832553"/>
          <a:ext cx="883748" cy="7927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748"/>
              </a:tblGrid>
              <a:tr h="3963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…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38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…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827623"/>
              </p:ext>
            </p:extLst>
          </p:nvPr>
        </p:nvGraphicFramePr>
        <p:xfrm>
          <a:off x="2520125" y="5642902"/>
          <a:ext cx="1327092" cy="7929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364"/>
                <a:gridCol w="442364"/>
                <a:gridCol w="442364"/>
              </a:tblGrid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0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172751"/>
              </p:ext>
            </p:extLst>
          </p:nvPr>
        </p:nvGraphicFramePr>
        <p:xfrm>
          <a:off x="4712088" y="5642902"/>
          <a:ext cx="1327092" cy="7929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364"/>
                <a:gridCol w="442364"/>
                <a:gridCol w="442364"/>
              </a:tblGrid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rgbClr val="FF00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rgbClr val="FF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rgbClr val="FF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kern="1200" dirty="0">
                        <a:solidFill>
                          <a:srgbClr val="FF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向下箭號 20"/>
          <p:cNvSpPr/>
          <p:nvPr/>
        </p:nvSpPr>
        <p:spPr>
          <a:xfrm>
            <a:off x="1956707" y="4791518"/>
            <a:ext cx="563418" cy="68518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611460" y="185653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044161" y="5808526"/>
            <a:ext cx="475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349786" y="580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3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 A’ by using ST algorithm.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ST’s preprocessing time 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A’s size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ST’s preprocessing time on A’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func>
                          <m:func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den>
                        </m:f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ST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02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queries ?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31653"/>
              </p:ext>
            </p:extLst>
          </p:nvPr>
        </p:nvGraphicFramePr>
        <p:xfrm>
          <a:off x="1018944" y="1940507"/>
          <a:ext cx="7106112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68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F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F0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F0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F0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18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199616"/>
              </p:ext>
            </p:extLst>
          </p:nvPr>
        </p:nvGraphicFramePr>
        <p:xfrm>
          <a:off x="2938895" y="3045881"/>
          <a:ext cx="1327092" cy="7929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364"/>
                <a:gridCol w="442364"/>
                <a:gridCol w="442364"/>
              </a:tblGrid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07702"/>
              </p:ext>
            </p:extLst>
          </p:nvPr>
        </p:nvGraphicFramePr>
        <p:xfrm>
          <a:off x="5130858" y="3045881"/>
          <a:ext cx="1327092" cy="7929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2364"/>
                <a:gridCol w="442364"/>
                <a:gridCol w="442364"/>
              </a:tblGrid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645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462931" y="3211505"/>
            <a:ext cx="475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68556" y="3211504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11460" y="210591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038853" y="3866500"/>
                <a:ext cx="7066293" cy="2771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𝑅𝑀𝑄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𝑐𝑜𝑚𝑝𝑎𝑟𝑒</m:t>
                      </m:r>
                      <m:d>
                        <m:d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400" b="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𝑅𝑀𝑄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2400" b="0" i="1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TW" sz="2400" b="0" i="1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altLang="zh-TW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endParaRPr lang="en-US" altLang="zh-TW" sz="2400" dirty="0" smtClean="0"/>
              </a:p>
              <a:p>
                <a:r>
                  <a:rPr lang="en-US" altLang="zh-TW" sz="2400" dirty="0" smtClean="0"/>
                  <a:t>RMQ in A’ is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𝑡𝑖𝑚𝑒</m:t>
                    </m:r>
                  </m:oMath>
                </a14:m>
                <a:r>
                  <a:rPr lang="en-US" altLang="zh-TW" sz="2400" dirty="0" smtClean="0"/>
                  <a:t>, how about in-block query ?</a:t>
                </a:r>
              </a:p>
              <a:p>
                <a:endParaRPr lang="en-US" altLang="zh-TW" sz="2400" dirty="0"/>
              </a:p>
              <a:p>
                <a:r>
                  <a:rPr lang="en-US" altLang="zh-TW" sz="2400" dirty="0" smtClean="0"/>
                  <a:t>If preprocess every block by ST algorithm  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 smtClean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853" y="3866500"/>
                <a:ext cx="7066293" cy="2771336"/>
              </a:xfrm>
              <a:prstGeom prst="rect">
                <a:avLst/>
              </a:prstGeom>
              <a:blipFill rotWithShape="0">
                <a:blip r:embed="rId2"/>
                <a:stretch>
                  <a:fillRect l="-12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21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…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410690" y="1456364"/>
            <a:ext cx="480291" cy="461819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接點 6"/>
          <p:cNvCxnSpPr>
            <a:stCxn id="6" idx="3"/>
            <a:endCxn id="8" idx="0"/>
          </p:cNvCxnSpPr>
          <p:nvPr/>
        </p:nvCxnSpPr>
        <p:spPr>
          <a:xfrm flipH="1">
            <a:off x="1935722" y="1850551"/>
            <a:ext cx="545305" cy="18897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1695576" y="20395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936646" y="2815377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1634475" y="28256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2384169" y="2827962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3133863" y="2087038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1903878" y="36117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133863" y="2843195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285622" y="3611723"/>
            <a:ext cx="480291" cy="46181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>
            <a:stCxn id="10" idx="0"/>
            <a:endCxn id="8" idx="4"/>
          </p:cNvCxnSpPr>
          <p:nvPr/>
        </p:nvCxnSpPr>
        <p:spPr>
          <a:xfrm flipV="1">
            <a:off x="1874621" y="2501342"/>
            <a:ext cx="61101" cy="32428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8" idx="3"/>
            <a:endCxn id="9" idx="0"/>
          </p:cNvCxnSpPr>
          <p:nvPr/>
        </p:nvCxnSpPr>
        <p:spPr>
          <a:xfrm flipH="1">
            <a:off x="1176792" y="2433710"/>
            <a:ext cx="589121" cy="38166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1" idx="0"/>
            <a:endCxn id="8" idx="5"/>
          </p:cNvCxnSpPr>
          <p:nvPr/>
        </p:nvCxnSpPr>
        <p:spPr>
          <a:xfrm flipH="1" flipV="1">
            <a:off x="2105530" y="2433710"/>
            <a:ext cx="518785" cy="39425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0" idx="3"/>
            <a:endCxn id="15" idx="0"/>
          </p:cNvCxnSpPr>
          <p:nvPr/>
        </p:nvCxnSpPr>
        <p:spPr>
          <a:xfrm flipH="1">
            <a:off x="1525768" y="3219810"/>
            <a:ext cx="179044" cy="39191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2" idx="0"/>
            <a:endCxn id="6" idx="5"/>
          </p:cNvCxnSpPr>
          <p:nvPr/>
        </p:nvCxnSpPr>
        <p:spPr>
          <a:xfrm flipH="1" flipV="1">
            <a:off x="2820644" y="1850551"/>
            <a:ext cx="553365" cy="23648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3" idx="0"/>
            <a:endCxn id="10" idx="5"/>
          </p:cNvCxnSpPr>
          <p:nvPr/>
        </p:nvCxnSpPr>
        <p:spPr>
          <a:xfrm flipH="1" flipV="1">
            <a:off x="2044429" y="3219810"/>
            <a:ext cx="99595" cy="39191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4" idx="0"/>
            <a:endCxn id="12" idx="4"/>
          </p:cNvCxnSpPr>
          <p:nvPr/>
        </p:nvCxnSpPr>
        <p:spPr>
          <a:xfrm flipV="1">
            <a:off x="3374009" y="2548857"/>
            <a:ext cx="0" cy="29433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表格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28497"/>
              </p:ext>
            </p:extLst>
          </p:nvPr>
        </p:nvGraphicFramePr>
        <p:xfrm>
          <a:off x="628650" y="4185084"/>
          <a:ext cx="7550244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910056"/>
              </p:ext>
            </p:extLst>
          </p:nvPr>
        </p:nvGraphicFramePr>
        <p:xfrm>
          <a:off x="628650" y="5085369"/>
          <a:ext cx="7550244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0" name="表格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595982"/>
              </p:ext>
            </p:extLst>
          </p:nvPr>
        </p:nvGraphicFramePr>
        <p:xfrm>
          <a:off x="628650" y="5985656"/>
          <a:ext cx="3998772" cy="790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308"/>
                <a:gridCol w="444308"/>
                <a:gridCol w="444308"/>
                <a:gridCol w="444308"/>
                <a:gridCol w="444308"/>
                <a:gridCol w="444308"/>
                <a:gridCol w="444308"/>
                <a:gridCol w="444308"/>
                <a:gridCol w="444308"/>
              </a:tblGrid>
              <a:tr h="395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953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1" name="文字方塊 100"/>
          <p:cNvSpPr txBox="1"/>
          <p:nvPr/>
        </p:nvSpPr>
        <p:spPr>
          <a:xfrm>
            <a:off x="193964" y="4358224"/>
            <a:ext cx="35618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7154" y="5032681"/>
            <a:ext cx="8143281" cy="88971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47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RMQ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370138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ra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normalized blocks.</a:t>
                </a: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tables of size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TW" b="0" i="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TW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zh-TW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RMQ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problem</m:t>
                      </m:r>
                      <m:r>
                        <m:rPr>
                          <m:nor/>
                        </m:rP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: 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),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(1)</m:t>
                          </m:r>
                        </m:e>
                      </m:d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370138"/>
                <a:ext cx="7886700" cy="4351338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172697"/>
              </p:ext>
            </p:extLst>
          </p:nvPr>
        </p:nvGraphicFramePr>
        <p:xfrm>
          <a:off x="1018944" y="1646237"/>
          <a:ext cx="7106112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  <a:gridCol w="444132"/>
              </a:tblGrid>
              <a:tr h="3689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10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14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15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16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3889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+1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95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Brute Force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relation between RMQ[</a:t>
                </a:r>
                <a:r>
                  <a:rPr lang="en-US" altLang="zh-TW" dirty="0" err="1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and RMQ[i,j-1]</a:t>
                </a: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Buckets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rad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 algorithm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TW" altLang="en-US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solidFill>
                      <a:schemeClr val="bg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solidFill>
                    <a:schemeClr val="bg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RMQ problem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66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RMQ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RMQ problem to LCA problem.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LCA problem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RMQ problem.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LCA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: solved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),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 problem : solved in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40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175451" y="3011832"/>
            <a:ext cx="595458" cy="611362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640259"/>
              </p:ext>
            </p:extLst>
          </p:nvPr>
        </p:nvGraphicFramePr>
        <p:xfrm>
          <a:off x="2262905" y="1686269"/>
          <a:ext cx="4585572" cy="816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</a:tblGrid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850319" y="1891693"/>
            <a:ext cx="710625" cy="611362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top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2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175451" y="3011832"/>
            <a:ext cx="595458" cy="611362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56994"/>
              </p:ext>
            </p:extLst>
          </p:nvPr>
        </p:nvGraphicFramePr>
        <p:xfrm>
          <a:off x="2262905" y="1686269"/>
          <a:ext cx="4585572" cy="816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</a:tblGrid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2770909" y="3826290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接點 8"/>
          <p:cNvCxnSpPr>
            <a:stCxn id="8" idx="0"/>
            <a:endCxn id="6" idx="5"/>
          </p:cNvCxnSpPr>
          <p:nvPr/>
        </p:nvCxnSpPr>
        <p:spPr>
          <a:xfrm flipH="1" flipV="1">
            <a:off x="2683706" y="3533662"/>
            <a:ext cx="384932" cy="2926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850319" y="1891693"/>
            <a:ext cx="710625" cy="611362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top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38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175451" y="3011832"/>
            <a:ext cx="595458" cy="611362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768773"/>
              </p:ext>
            </p:extLst>
          </p:nvPr>
        </p:nvGraphicFramePr>
        <p:xfrm>
          <a:off x="2262905" y="1686269"/>
          <a:ext cx="4585572" cy="816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</a:tblGrid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3241964" y="3818341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接點 8"/>
          <p:cNvCxnSpPr>
            <a:stCxn id="8" idx="0"/>
            <a:endCxn id="6" idx="5"/>
          </p:cNvCxnSpPr>
          <p:nvPr/>
        </p:nvCxnSpPr>
        <p:spPr>
          <a:xfrm flipH="1" flipV="1">
            <a:off x="2683706" y="3533662"/>
            <a:ext cx="855987" cy="28467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708995" y="4632799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8" idx="3"/>
            <a:endCxn id="10" idx="0"/>
          </p:cNvCxnSpPr>
          <p:nvPr/>
        </p:nvCxnSpPr>
        <p:spPr>
          <a:xfrm flipH="1">
            <a:off x="3006724" y="4340171"/>
            <a:ext cx="322443" cy="2926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850319" y="1891693"/>
            <a:ext cx="710625" cy="611362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top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184688" y="3616037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33444"/>
              </p:ext>
            </p:extLst>
          </p:nvPr>
        </p:nvGraphicFramePr>
        <p:xfrm>
          <a:off x="2262905" y="1686269"/>
          <a:ext cx="4585572" cy="816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</a:tblGrid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3251201" y="4422546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接點 8"/>
          <p:cNvCxnSpPr>
            <a:stCxn id="8" idx="0"/>
            <a:endCxn id="6" idx="5"/>
          </p:cNvCxnSpPr>
          <p:nvPr/>
        </p:nvCxnSpPr>
        <p:spPr>
          <a:xfrm flipH="1" flipV="1">
            <a:off x="2692943" y="4137867"/>
            <a:ext cx="855987" cy="28467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718232" y="5237004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8" idx="3"/>
            <a:endCxn id="10" idx="0"/>
          </p:cNvCxnSpPr>
          <p:nvPr/>
        </p:nvCxnSpPr>
        <p:spPr>
          <a:xfrm flipH="1">
            <a:off x="3015961" y="4944376"/>
            <a:ext cx="322443" cy="2926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738850" y="2758959"/>
            <a:ext cx="595458" cy="611362"/>
          </a:xfrm>
          <a:prstGeom prst="ellipse">
            <a:avLst/>
          </a:prstGeom>
          <a:solidFill>
            <a:srgbClr val="92D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接點 12"/>
          <p:cNvCxnSpPr>
            <a:stCxn id="12" idx="3"/>
            <a:endCxn id="6" idx="0"/>
          </p:cNvCxnSpPr>
          <p:nvPr/>
        </p:nvCxnSpPr>
        <p:spPr>
          <a:xfrm flipH="1">
            <a:off x="2482417" y="3280789"/>
            <a:ext cx="1343636" cy="3352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850319" y="1891693"/>
            <a:ext cx="710625" cy="611362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top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37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184688" y="3616037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602895"/>
              </p:ext>
            </p:extLst>
          </p:nvPr>
        </p:nvGraphicFramePr>
        <p:xfrm>
          <a:off x="2262905" y="1686269"/>
          <a:ext cx="4585572" cy="816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</a:tblGrid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3251201" y="4422546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接點 8"/>
          <p:cNvCxnSpPr>
            <a:stCxn id="8" idx="0"/>
            <a:endCxn id="6" idx="5"/>
          </p:cNvCxnSpPr>
          <p:nvPr/>
        </p:nvCxnSpPr>
        <p:spPr>
          <a:xfrm flipH="1" flipV="1">
            <a:off x="2692943" y="4137867"/>
            <a:ext cx="855987" cy="28467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718232" y="5237004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8" idx="3"/>
            <a:endCxn id="10" idx="0"/>
          </p:cNvCxnSpPr>
          <p:nvPr/>
        </p:nvCxnSpPr>
        <p:spPr>
          <a:xfrm flipH="1">
            <a:off x="3015961" y="4944376"/>
            <a:ext cx="322443" cy="2926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738850" y="2758959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接點 12"/>
          <p:cNvCxnSpPr>
            <a:stCxn id="12" idx="3"/>
            <a:endCxn id="6" idx="0"/>
          </p:cNvCxnSpPr>
          <p:nvPr/>
        </p:nvCxnSpPr>
        <p:spPr>
          <a:xfrm flipH="1">
            <a:off x="2482417" y="3280789"/>
            <a:ext cx="1343636" cy="3352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4313670" y="3616037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>
            <a:stCxn id="12" idx="5"/>
            <a:endCxn id="14" idx="0"/>
          </p:cNvCxnSpPr>
          <p:nvPr/>
        </p:nvCxnSpPr>
        <p:spPr>
          <a:xfrm>
            <a:off x="4247105" y="3280789"/>
            <a:ext cx="364294" cy="3352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850319" y="1891693"/>
            <a:ext cx="710625" cy="611362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top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69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184688" y="3616037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262905" y="1686269"/>
          <a:ext cx="4585572" cy="816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  <a:gridCol w="509508"/>
              </a:tblGrid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083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3251201" y="4422546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接點 8"/>
          <p:cNvCxnSpPr>
            <a:stCxn id="8" idx="0"/>
            <a:endCxn id="6" idx="5"/>
          </p:cNvCxnSpPr>
          <p:nvPr/>
        </p:nvCxnSpPr>
        <p:spPr>
          <a:xfrm flipH="1" flipV="1">
            <a:off x="2692943" y="4137867"/>
            <a:ext cx="855987" cy="28467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718232" y="5237004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接點 10"/>
          <p:cNvCxnSpPr>
            <a:stCxn id="8" idx="3"/>
            <a:endCxn id="10" idx="0"/>
          </p:cNvCxnSpPr>
          <p:nvPr/>
        </p:nvCxnSpPr>
        <p:spPr>
          <a:xfrm flipH="1">
            <a:off x="3015961" y="4944376"/>
            <a:ext cx="322443" cy="29262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738850" y="2758959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接點 12"/>
          <p:cNvCxnSpPr>
            <a:stCxn id="12" idx="3"/>
            <a:endCxn id="6" idx="0"/>
          </p:cNvCxnSpPr>
          <p:nvPr/>
        </p:nvCxnSpPr>
        <p:spPr>
          <a:xfrm flipH="1">
            <a:off x="2482417" y="3280789"/>
            <a:ext cx="1343636" cy="3352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/>
          <p:cNvSpPr/>
          <p:nvPr/>
        </p:nvSpPr>
        <p:spPr>
          <a:xfrm>
            <a:off x="4784724" y="4445840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15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" name="直線接點 15"/>
          <p:cNvCxnSpPr>
            <a:stCxn id="12" idx="5"/>
            <a:endCxn id="25" idx="0"/>
          </p:cNvCxnSpPr>
          <p:nvPr/>
        </p:nvCxnSpPr>
        <p:spPr>
          <a:xfrm>
            <a:off x="4247105" y="3280789"/>
            <a:ext cx="1860616" cy="32939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4189266" y="5235332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接點 17"/>
          <p:cNvCxnSpPr>
            <a:stCxn id="17" idx="0"/>
            <a:endCxn id="14" idx="3"/>
          </p:cNvCxnSpPr>
          <p:nvPr/>
        </p:nvCxnSpPr>
        <p:spPr>
          <a:xfrm flipV="1">
            <a:off x="4486995" y="4967670"/>
            <a:ext cx="384932" cy="26766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380182" y="5233660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20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2" name="直線接點 21"/>
          <p:cNvCxnSpPr>
            <a:stCxn id="21" idx="0"/>
            <a:endCxn id="14" idx="5"/>
          </p:cNvCxnSpPr>
          <p:nvPr/>
        </p:nvCxnSpPr>
        <p:spPr>
          <a:xfrm flipH="1" flipV="1">
            <a:off x="5292979" y="4967670"/>
            <a:ext cx="384932" cy="26599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/>
          <p:cNvSpPr/>
          <p:nvPr/>
        </p:nvSpPr>
        <p:spPr>
          <a:xfrm>
            <a:off x="5809992" y="3610180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0" name="直線接點 29"/>
          <p:cNvCxnSpPr>
            <a:stCxn id="14" idx="0"/>
            <a:endCxn id="25" idx="3"/>
          </p:cNvCxnSpPr>
          <p:nvPr/>
        </p:nvCxnSpPr>
        <p:spPr>
          <a:xfrm flipV="1">
            <a:off x="5082453" y="4132010"/>
            <a:ext cx="814742" cy="3138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橢圓 34"/>
          <p:cNvSpPr/>
          <p:nvPr/>
        </p:nvSpPr>
        <p:spPr>
          <a:xfrm>
            <a:off x="6318247" y="4421920"/>
            <a:ext cx="595458" cy="6113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88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6" name="直線接點 35"/>
          <p:cNvCxnSpPr>
            <a:stCxn id="25" idx="5"/>
          </p:cNvCxnSpPr>
          <p:nvPr/>
        </p:nvCxnSpPr>
        <p:spPr>
          <a:xfrm>
            <a:off x="6318247" y="4132010"/>
            <a:ext cx="271497" cy="28991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116244" y="5940852"/>
                <a:ext cx="51533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𝑏𝑢𝑖𝑙𝑑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𝐶𝑎𝑟𝑡𝑒𝑠𝑖𝑎𝑛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𝑡𝑟𝑒𝑒</m:t>
                      </m:r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𝑅𝑀𝑄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𝐿𝐶𝐴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 err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 smtClean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44" y="5940852"/>
                <a:ext cx="5153398" cy="830997"/>
              </a:xfrm>
              <a:prstGeom prst="rect">
                <a:avLst/>
              </a:prstGeom>
              <a:blipFill rotWithShape="0">
                <a:blip r:embed="rId2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橢圓 22"/>
          <p:cNvSpPr/>
          <p:nvPr/>
        </p:nvSpPr>
        <p:spPr>
          <a:xfrm>
            <a:off x="850319" y="1891693"/>
            <a:ext cx="710625" cy="611362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top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20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reduce the RMQ problem to the LCA problem through Cartesian tree.</a:t>
                </a: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reduce the LCA problem to the ±1 RMQ problem.</a:t>
                </a:r>
              </a:p>
              <a:p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LCA and RMQ problems Time complexity :</a:t>
                </a:r>
                <a:b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𝑝𝑟𝑒𝑝𝑟𝑜𝑐𝑒𝑠𝑠𝑖𝑛𝑔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𝑞𝑢𝑒𝑟𝑦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35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佈景主題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8090</TotalTime>
  <Words>1145</Words>
  <Application>Microsoft Office PowerPoint</Application>
  <PresentationFormat>如螢幕大小 (4:3)</PresentationFormat>
  <Paragraphs>882</Paragraphs>
  <Slides>29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9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</vt:lpstr>
      <vt:lpstr>Least Common Ancestor Problem</vt:lpstr>
      <vt:lpstr>Previous Research</vt:lpstr>
      <vt:lpstr>Range Minimum Query Problem</vt:lpstr>
      <vt:lpstr>Reduce LCA prob. to RMQ prob.</vt:lpstr>
      <vt:lpstr>Reduce LCA prob. to RMQ prob.</vt:lpstr>
      <vt:lpstr>RMQ problem</vt:lpstr>
      <vt:lpstr>RMQ problem</vt:lpstr>
      <vt:lpstr>RMQ problem</vt:lpstr>
      <vt:lpstr>"Buckets algorithm"</vt:lpstr>
      <vt:lpstr>RMQ problem</vt:lpstr>
      <vt:lpstr>ST algorithm</vt:lpstr>
      <vt:lpstr>ST algorithm</vt:lpstr>
      <vt:lpstr>RMQ problem</vt:lpstr>
      <vt:lpstr>Faster RMQ problem</vt:lpstr>
      <vt:lpstr>Faster RMQ problem</vt:lpstr>
      <vt:lpstr>How about queries ?</vt:lpstr>
      <vt:lpstr>Recall …</vt:lpstr>
      <vt:lpstr>±1 RMQ</vt:lpstr>
      <vt:lpstr>RMQ problem</vt:lpstr>
      <vt:lpstr>General RMQ problem</vt:lpstr>
      <vt:lpstr>Cartesian tree</vt:lpstr>
      <vt:lpstr>Cartesian tree</vt:lpstr>
      <vt:lpstr>Cartesian tree</vt:lpstr>
      <vt:lpstr>Cartesian tree</vt:lpstr>
      <vt:lpstr>Cartesian tree</vt:lpstr>
      <vt:lpstr>Cartesian tree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pplab-class</cp:lastModifiedBy>
  <cp:revision>754</cp:revision>
  <dcterms:created xsi:type="dcterms:W3CDTF">2015-06-30T03:57:49Z</dcterms:created>
  <dcterms:modified xsi:type="dcterms:W3CDTF">2016-10-25T12:21:53Z</dcterms:modified>
</cp:coreProperties>
</file>