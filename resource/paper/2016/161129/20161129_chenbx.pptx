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77" r:id="rId4"/>
    <p:sldId id="279" r:id="rId5"/>
    <p:sldId id="280" r:id="rId6"/>
    <p:sldId id="281" r:id="rId7"/>
    <p:sldId id="282" r:id="rId8"/>
    <p:sldId id="283" r:id="rId9"/>
    <p:sldId id="284" r:id="rId10"/>
    <p:sldId id="296" r:id="rId11"/>
    <p:sldId id="285" r:id="rId12"/>
    <p:sldId id="287" r:id="rId13"/>
    <p:sldId id="288" r:id="rId14"/>
    <p:sldId id="291" r:id="rId15"/>
    <p:sldId id="292" r:id="rId16"/>
    <p:sldId id="294" r:id="rId17"/>
    <p:sldId id="295" r:id="rId18"/>
    <p:sldId id="290" r:id="rId19"/>
    <p:sldId id="286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835" autoAdjust="0"/>
  </p:normalViewPr>
  <p:slideViewPr>
    <p:cSldViewPr snapToGrid="0">
      <p:cViewPr varScale="1">
        <p:scale>
          <a:sx n="66" d="100"/>
          <a:sy n="66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986E-2186-42F2-A1F5-4424A07DD94D}" type="datetimeFigureOut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4D64-E656-4722-AF7D-B3D63D1F5D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9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810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大江東去，浪淘盡，千古風流人物。</a:t>
            </a:r>
            <a:b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故壘西邊，人道是，三國周郎赤壁。</a:t>
            </a:r>
            <a:b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亂石崩雲，驚濤裂岸，捲起千堆雪。</a:t>
            </a:r>
            <a:b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江山如畫，一時多少豪傑。</a:t>
            </a:r>
          </a:p>
          <a:p>
            <a:pPr fontAlgn="base"/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遙想公瑾當年，小喬出嫁了，雄姿英發。</a:t>
            </a:r>
            <a:b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羽扇綸巾，談笑間，強虜飛灰湮滅。</a:t>
            </a:r>
            <a:b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故國神遊，多情應笑我，早生華髮。</a:t>
            </a:r>
            <a:b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人間如夢，一尊還酹江月。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483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924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039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0886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667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996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27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014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6707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346F-159C-4E5E-A9BC-B4FAF4B8F4AD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45FE-5976-4612-A121-9F7FA6C65956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126F-36C8-4C5A-8698-9E4A53D999E5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8B67-291F-45ED-BF8F-60129A7CAFCF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5E44-883D-47F1-80F2-BBD83A64BF20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BBE2-5504-4D7F-9CC4-F2C58F132876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DA84-72B1-4070-A970-AE6E5670C53F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C297-F23E-49C2-9FD2-1DB5A3D63A00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853A-160A-4D81-8E79-297A6811D44C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68B-4BF6-411C-BDB8-9879BE85A868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472C-E7F7-4061-8A6B-A2FC31C7A013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A8E3B-251A-4826-B76B-2ED6FD8BECB3}" type="datetime1">
              <a:rPr lang="zh-TW" altLang="en-US" smtClean="0"/>
              <a:t>2016/11/29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578899"/>
            <a:ext cx="9144000" cy="1819245"/>
          </a:xfrm>
        </p:spPr>
        <p:txBody>
          <a:bodyPr>
            <a:normAutofit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Personal Identification Based on Handwriting</a:t>
            </a:r>
            <a:endParaRPr lang="zh-TW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2016/11/29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981185" y="2938426"/>
            <a:ext cx="8229630" cy="246670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Yong Zhu, </a:t>
            </a:r>
            <a:r>
              <a:rPr lang="en-US" altLang="zh-TW" sz="2449" b="1" dirty="0" err="1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Tieniu</a:t>
            </a:r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 Tan and </a:t>
            </a:r>
            <a:r>
              <a:rPr lang="en-US" altLang="zh-TW" sz="2449" b="1" dirty="0" err="1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Yunhong</a:t>
            </a:r>
            <a:r>
              <a:rPr lang="en-US" altLang="zh-TW" sz="2449" b="1" dirty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 </a:t>
            </a:r>
            <a:r>
              <a:rPr lang="en-US" altLang="zh-TW" sz="2449" b="1" dirty="0" smtClean="0">
                <a:solidFill>
                  <a:srgbClr val="898989"/>
                </a:solidFill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Wang</a:t>
            </a:r>
            <a:endParaRPr lang="en-US" altLang="zh-TW" sz="2449" b="1" dirty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  <a:p>
            <a:pPr algn="ctr"/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Proceedings of</a:t>
            </a:r>
            <a:endParaRPr lang="en-US" altLang="zh-TW" sz="2449" b="1" dirty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15th International Conference on</a:t>
            </a:r>
          </a:p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Pattern Recognition</a:t>
            </a:r>
          </a:p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Barcelona, Spain</a:t>
            </a:r>
          </a:p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September 3 -7, 2000</a:t>
            </a:r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51005"/>
            <a:ext cx="10515600" cy="4825958"/>
          </a:xfrm>
        </p:spPr>
        <p:txBody>
          <a:bodyPr>
            <a:normAutofit fontScale="92500" lnSpcReduction="20000"/>
          </a:bodyPr>
          <a:lstStyle/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describe a new method to identify the</a:t>
            </a:r>
          </a:p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writer of Chinese handwriting documents. There are</a:t>
            </a:r>
          </a:p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methods for signature verification or writer</a:t>
            </a:r>
          </a:p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identification, but most of them require segmentation or</a:t>
            </a:r>
          </a:p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component analysis. They are the kinds of</a:t>
            </a:r>
          </a:p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dependent identification methods as signature</a:t>
            </a:r>
          </a:p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requires the writer to write the same text (e.g.</a:t>
            </a:r>
          </a:p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name). In our new method, we take the handwriting as</a:t>
            </a:r>
          </a:p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image containing some special texture, and writer</a:t>
            </a:r>
          </a:p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is regarded as texture identification.</a:t>
            </a:r>
            <a:endParaRPr lang="zh-TW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458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51005"/>
            <a:ext cx="10515600" cy="4825958"/>
          </a:xfrm>
        </p:spPr>
        <p:txBody>
          <a:bodyPr>
            <a:normAutofit/>
          </a:bodyPr>
          <a:lstStyle/>
          <a:p>
            <a:pPr marL="0" indent="0" algn="dist"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independent method. We apply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</a:p>
          <a:p>
            <a:pPr marL="0" indent="0" algn="dist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well established 2-D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Gabor filtering technique to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</a:p>
          <a:p>
            <a:pPr marL="0" indent="0" algn="dist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such textures and a Weighted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Euclidean</a:t>
            </a:r>
          </a:p>
          <a:p>
            <a:pPr marL="0" indent="0" algn="dist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 to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fulfill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identification task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dist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made using Chinese handwritings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</a:p>
          <a:p>
            <a:pPr marL="0" indent="0" algn="dist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people and very promising results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were </a:t>
            </a:r>
          </a:p>
          <a:p>
            <a:pPr marL="0" indent="0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achieved.</a:t>
            </a:r>
            <a:endParaRPr lang="zh-TW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5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personal identification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272" y="1235676"/>
            <a:ext cx="10515600" cy="4825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 </a:t>
            </a:r>
          </a:p>
          <a:p>
            <a:pPr marL="0" indent="0">
              <a:buNone/>
            </a:pPr>
            <a:endParaRPr lang="en-US" altLang="zh-TW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086" y="1235676"/>
            <a:ext cx="4381500" cy="24765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58" y="2688907"/>
            <a:ext cx="3365500" cy="252412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86" y="4006892"/>
            <a:ext cx="5564146" cy="257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3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personal identification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272" y="1235676"/>
            <a:ext cx="10515600" cy="4825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</a:t>
            </a:r>
          </a:p>
          <a:p>
            <a:pPr marL="0" indent="0">
              <a:buNone/>
            </a:pPr>
            <a:endParaRPr lang="en-US" altLang="zh-TW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49" y="1918857"/>
            <a:ext cx="5729097" cy="443749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986" y="2842186"/>
            <a:ext cx="4838814" cy="16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9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HBPI system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271" y="1235676"/>
            <a:ext cx="11557871" cy="51206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handwriting based personal identification (HBPI)</a:t>
            </a:r>
          </a:p>
          <a:p>
            <a:pPr marL="742950" indent="-742950">
              <a:buFont typeface="+mj-lt"/>
              <a:buAutoNum type="arabicParenR"/>
            </a:pPr>
            <a:r>
              <a:rPr lang="en-US" altLang="zh-TW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writing speed</a:t>
            </a:r>
          </a:p>
          <a:p>
            <a:pPr marL="742950" indent="-742950">
              <a:buFont typeface="+mj-lt"/>
              <a:buAutoNum type="arabicParenR"/>
            </a:pPr>
            <a:r>
              <a:rPr lang="en-US" altLang="zh-TW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</a:p>
          <a:p>
            <a:pPr marL="742950" indent="-742950">
              <a:buFont typeface="+mj-lt"/>
              <a:buAutoNum type="arabicParenR"/>
            </a:pPr>
            <a:r>
              <a:rPr lang="en-US" altLang="zh-TW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</a:p>
          <a:p>
            <a:pPr marL="742950" indent="-742950">
              <a:buFont typeface="+mj-lt"/>
              <a:buAutoNum type="arabicParenR"/>
            </a:pPr>
            <a:r>
              <a:rPr lang="en-US" altLang="zh-TW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height </a:t>
            </a:r>
          </a:p>
          <a:p>
            <a:pPr marL="742950" indent="-742950">
              <a:buFont typeface="+mj-lt"/>
              <a:buAutoNum type="arabicParenR"/>
            </a:pPr>
            <a:r>
              <a:rPr lang="en-US" altLang="zh-TW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</a:p>
          <a:p>
            <a:pPr marL="742950" indent="-742950">
              <a:buFont typeface="+mj-lt"/>
              <a:buAutoNum type="arabicParenR"/>
            </a:pPr>
            <a:r>
              <a:rPr lang="en-US" altLang="zh-TW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slant angle</a:t>
            </a:r>
          </a:p>
          <a:p>
            <a:pPr marL="742950" indent="-742950">
              <a:buFont typeface="+mj-lt"/>
              <a:buAutoNum type="arabicParenR"/>
            </a:pPr>
            <a:r>
              <a:rPr lang="en-US" altLang="zh-TW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black pixel</a:t>
            </a:r>
          </a:p>
          <a:p>
            <a:pPr marL="0" indent="0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TW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18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flow chart of the HBPI system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271" y="1235676"/>
            <a:ext cx="11557871" cy="51206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566" y="1833430"/>
            <a:ext cx="8423280" cy="352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61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of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HBPI system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271" y="1235676"/>
            <a:ext cx="11557871" cy="5120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uniform block of text</a:t>
            </a:r>
          </a:p>
          <a:p>
            <a:pPr marL="0" indent="0">
              <a:buNone/>
            </a:pPr>
            <a:endPara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679" y="1864511"/>
            <a:ext cx="2099371" cy="478381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208" y="2273312"/>
            <a:ext cx="3466776" cy="3479761"/>
          </a:xfrm>
          <a:prstGeom prst="rect">
            <a:avLst/>
          </a:prstGeom>
        </p:spPr>
      </p:pic>
      <p:sp>
        <p:nvSpPr>
          <p:cNvPr id="7" name="向右箭號 6"/>
          <p:cNvSpPr/>
          <p:nvPr/>
        </p:nvSpPr>
        <p:spPr>
          <a:xfrm>
            <a:off x="5619344" y="3531140"/>
            <a:ext cx="476656" cy="3599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675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1271" y="1235675"/>
                <a:ext cx="11771572" cy="548579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2-D Gabor 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filters</a:t>
                </a:r>
                <a:endParaRPr lang="en-US" altLang="zh-TW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200" b="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TW" sz="32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TW" alt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cos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[2</m:t>
                      </m:r>
                      <m:r>
                        <m:rPr>
                          <m:nor/>
                        </m:rPr>
                        <a:rPr lang="el-GR" altLang="zh-TW" sz="320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π</m:t>
                      </m:r>
                      <m:r>
                        <m:rPr>
                          <m:nor/>
                        </m:rPr>
                        <a:rPr lang="en-US" altLang="zh-TW" sz="32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sz="32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cos</m:t>
                      </m:r>
                      <m:r>
                        <m:rPr>
                          <m:nor/>
                        </m:rPr>
                        <a:rPr lang="el-GR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ysin</m:t>
                      </m:r>
                      <m:r>
                        <m:rPr>
                          <m:nor/>
                        </m:rPr>
                        <a:rPr lang="el-GR" altLang="zh-TW" sz="3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)]</m:t>
                      </m:r>
                    </m:oMath>
                  </m:oMathPara>
                </a14:m>
                <a:endParaRPr lang="en-US" altLang="zh-TW" sz="32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2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TW" sz="32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TW" alt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sin</m:t>
                      </m:r>
                      <m:r>
                        <m:rPr>
                          <m:nor/>
                        </m:rPr>
                        <a:rPr lang="en-US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[2</m:t>
                      </m:r>
                      <m:r>
                        <m:rPr>
                          <m:nor/>
                        </m:rPr>
                        <a:rPr lang="el-GR" altLang="zh-TW" sz="3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π</m:t>
                      </m:r>
                      <m:r>
                        <m:rPr>
                          <m:nor/>
                        </m:rPr>
                        <a:rPr lang="en-US" altLang="zh-TW" sz="3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altLang="zh-TW" sz="32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cos</m:t>
                      </m:r>
                      <m:r>
                        <m:rPr>
                          <m:nor/>
                        </m:rPr>
                        <a:rPr lang="el-GR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US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m:rPr>
                          <m:nor/>
                        </m:rPr>
                        <a:rPr lang="en-US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ysin</m:t>
                      </m:r>
                      <m:r>
                        <m:rPr>
                          <m:nor/>
                        </m:rPr>
                        <a:rPr lang="el-GR" altLang="zh-TW" sz="3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US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)]</m:t>
                      </m:r>
                    </m:oMath>
                  </m:oMathPara>
                </a14:m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l-GR" altLang="zh-TW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πσ</m:t>
                          </m:r>
                          <m:r>
                            <a:rPr lang="en-US" altLang="zh-TW" sz="3200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zh-TW" alt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TW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exp</m:t>
                      </m:r>
                      <m:r>
                        <m:rPr>
                          <m:nor/>
                        </m:rPr>
                        <a:rPr lang="en-US" altLang="zh-TW" sz="5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TW" sz="3200" i="1" baseline="30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TW" sz="3200" i="1" baseline="30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3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l-GR" altLang="zh-TW" sz="32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r>
                            <a:rPr lang="en-US" altLang="zh-TW" sz="3200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TW" sz="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sz="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sz="3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 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sz="3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 the even- and odd- symmetrical 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Gabor filters respectively.</a:t>
                </a:r>
                <a:endParaRPr lang="en-US" altLang="zh-TW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271" y="1235675"/>
                <a:ext cx="11771572" cy="5485799"/>
              </a:xfrm>
              <a:blipFill rotWithShape="0">
                <a:blip r:embed="rId3"/>
                <a:stretch>
                  <a:fillRect l="-1553" t="-3889" r="-52" b="-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975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271" y="1235675"/>
            <a:ext cx="11771572" cy="54857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odd-symmetrical Gabor filters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even-symmetrical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Gabor filters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53" y="2870003"/>
            <a:ext cx="5384966" cy="236631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32"/>
          <a:stretch/>
        </p:blipFill>
        <p:spPr>
          <a:xfrm>
            <a:off x="6388664" y="2870003"/>
            <a:ext cx="5302233" cy="23652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10" y="4197435"/>
            <a:ext cx="845609" cy="24983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082" y="4197435"/>
            <a:ext cx="845609" cy="24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1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1271" y="1235676"/>
                <a:ext cx="11557871" cy="5120674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2D Fourier transform, the spatial frequency response</a:t>
                </a:r>
              </a:p>
              <a:p>
                <a:pPr marL="0" indent="0">
                  <a:buNone/>
                </a:pPr>
                <a:endParaRPr lang="en-US" altLang="zh-TW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TW" sz="36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3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zh-TW" sz="36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zh-TW" sz="36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)]</m:t>
                          </m:r>
                        </m:num>
                        <m:den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TW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TW" sz="38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zh-TW" sz="3800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altLang="zh-TW" sz="3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r>
                                <a:rPr lang="en-US" altLang="zh-TW" sz="3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TW" sz="3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zh-TW" sz="3800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)]</m:t>
                          </m:r>
                        </m:num>
                        <m:den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den>
                      </m:f>
                    </m:oMath>
                  </m:oMathPara>
                </a14:m>
                <a:endParaRPr lang="en-US" altLang="zh-TW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j=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rad>
                  </m:oMath>
                </a14:m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TW" sz="38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d>
                        <m:dPr>
                          <m:ctrlP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38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exp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⁡{−2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π</m:t>
                      </m:r>
                      <m:r>
                        <a:rPr lang="en-US" altLang="zh-TW" sz="3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altLang="zh-TW" sz="3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altLang="zh-TW" sz="3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</a:rPr>
                            <m:t>𝑓𝑐𝑜𝑠</m:t>
                          </m:r>
                          <m:r>
                            <m:rPr>
                              <m:nor/>
                            </m:rPr>
                            <a:rPr lang="el-GR" altLang="zh-TW" sz="3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</m:d>
                      <m:r>
                        <a:rPr lang="en-US" altLang="zh-TW" sz="3800" b="0" i="1" baseline="30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US" altLang="zh-TW" sz="38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TW" sz="3800" b="0" i="1" baseline="30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3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TW" sz="38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3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exp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⁡{−2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π</m:t>
                      </m:r>
                      <m:r>
                        <a:rPr lang="en-US" altLang="zh-TW" sz="3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altLang="zh-TW" sz="3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altLang="zh-TW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8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</a:rPr>
                            <m:t>𝑓𝑐𝑜𝑠</m:t>
                          </m:r>
                          <m:r>
                            <m:rPr>
                              <m:nor/>
                            </m:rPr>
                            <a:rPr lang="el-GR" altLang="zh-TW" sz="3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</m:d>
                      <m:r>
                        <a:rPr lang="en-US" altLang="zh-TW" sz="3800" i="1" baseline="30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+(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US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TW" sz="3800" i="1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271" y="1235676"/>
                <a:ext cx="11557871" cy="5120674"/>
              </a:xfrm>
              <a:blipFill rotWithShape="0">
                <a:blip r:embed="rId3"/>
                <a:stretch>
                  <a:fillRect l="-1055" t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311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1271" y="1235676"/>
                <a:ext cx="11557871" cy="51206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TW" sz="38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d>
                        <m:dPr>
                          <m:ctrlP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38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exp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⁡{−2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π</m:t>
                      </m:r>
                      <m:r>
                        <a:rPr lang="en-US" altLang="zh-TW" sz="3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altLang="zh-TW" sz="3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altLang="zh-TW" sz="3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</a:rPr>
                            <m:t>𝑓𝑐𝑜𝑠</m:t>
                          </m:r>
                          <m:r>
                            <m:rPr>
                              <m:nor/>
                            </m:rPr>
                            <a:rPr lang="el-GR" altLang="zh-TW" sz="3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</m:d>
                      <m:r>
                        <a:rPr lang="en-US" altLang="zh-TW" sz="3800" b="0" i="1" baseline="30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US" altLang="zh-TW" sz="38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TW" sz="3800" b="0" i="1" baseline="30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TW" sz="38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3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exp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⁡{−2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π</m:t>
                      </m:r>
                      <m:r>
                        <a:rPr lang="en-US" altLang="zh-TW" sz="3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a:rPr lang="en-US" altLang="zh-TW" sz="3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altLang="zh-TW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8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TW" sz="3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3800" i="1">
                              <a:latin typeface="Cambria Math" panose="02040503050406030204" pitchFamily="18" charset="0"/>
                            </a:rPr>
                            <m:t>𝑓𝑐𝑜𝑠</m:t>
                          </m:r>
                          <m:r>
                            <m:rPr>
                              <m:nor/>
                            </m:rPr>
                            <a:rPr lang="el-GR" altLang="zh-TW" sz="38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θ</m:t>
                          </m:r>
                        </m:e>
                      </m:d>
                      <m:r>
                        <a:rPr lang="en-US" altLang="zh-TW" sz="3800" i="1" baseline="30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+(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zh-TW" sz="3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r>
                        <m:rPr>
                          <m:nor/>
                        </m:rPr>
                        <a:rPr lang="el-GR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θ</m:t>
                      </m:r>
                      <m:r>
                        <m:rPr>
                          <m:nor/>
                        </m:rPr>
                        <a:rPr lang="en-US" altLang="zh-TW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TW" sz="3800" i="1" baseline="30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TW" sz="3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3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size of image N x N</a:t>
                </a:r>
                <a:r>
                  <a:rPr lang="zh-TW" altLang="en-US" sz="3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3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 </a:t>
                </a:r>
                <a:r>
                  <a:rPr lang="en-US" altLang="zh-TW" sz="3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chosen within </a:t>
                </a:r>
                <a:r>
                  <a:rPr lang="en-US" altLang="zh-TW" sz="3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zh-TW" altLang="en-US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zh-TW" altLang="en-US" sz="5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zh-TW" sz="5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5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altLang="zh-TW" sz="5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e>
                    </m:box>
                  </m:oMath>
                </a14:m>
                <a:endParaRPr lang="en-US" altLang="zh-TW" sz="5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TW" sz="36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θ</m:t>
                    </m:r>
                  </m:oMath>
                </a14:m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{0°</a:t>
                </a:r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45°, 90°, 135°}</a:t>
                </a:r>
              </a:p>
              <a:p>
                <a:pPr marL="0" indent="0">
                  <a:buNone/>
                </a:pP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 </a:t>
                </a:r>
                <a:r>
                  <a:rPr lang="zh-TW" altLang="en-US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{2, 4, 8, 16, 32, 64}    </a:t>
                </a:r>
                <a:endParaRPr lang="en-US" altLang="zh-TW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271" y="1235676"/>
                <a:ext cx="11557871" cy="5120674"/>
              </a:xfrm>
              <a:blipFill rotWithShape="0">
                <a:blip r:embed="rId3"/>
                <a:stretch>
                  <a:fillRect l="-1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6" name="向右箭號 5"/>
          <p:cNvSpPr/>
          <p:nvPr/>
        </p:nvSpPr>
        <p:spPr>
          <a:xfrm>
            <a:off x="5016229" y="4270442"/>
            <a:ext cx="476656" cy="3599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5707585" y="4127238"/>
            <a:ext cx="3776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 Gabor channels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335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1271" y="1235676"/>
                <a:ext cx="11557871" cy="51206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Weighted Euclidean Distance (WED) classifier </a:t>
                </a:r>
              </a:p>
              <a:p>
                <a:pPr marL="0" indent="0">
                  <a:buNone/>
                </a:pPr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3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𝑊𝐸𝐷</m:t>
                      </m:r>
                      <m:d>
                        <m:dPr>
                          <m:ctrlPr>
                            <a:rPr lang="en-US" altLang="zh-TW" sz="3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TW" sz="3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zh-TW" sz="3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3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3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TW" sz="3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sz="3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3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TW" sz="3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altLang="zh-TW" sz="3000" b="0" i="1" dirty="0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3000" b="0" i="1" dirty="0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altLang="zh-TW" sz="3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sz="3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TW" sz="3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sSubSup>
                                    <m:sSubSupPr>
                                      <m:ctrlP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l-GR" altLang="zh-TW" sz="300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δ</m:t>
                                      </m:r>
                                    </m:e>
                                    <m:sub>
                                      <m: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TW" sz="3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altLang="zh-TW" sz="3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sz="3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3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denotes </a:t>
                </a:r>
                <a:r>
                  <a:rPr lang="en-US" altLang="zh-TW" sz="3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 of an unknown handwriting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3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3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sz="3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3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sz="3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sz="36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altLang="zh-TW" sz="3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TW" sz="3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3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sz="3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3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denotes </a:t>
                </a:r>
                <a:r>
                  <a:rPr lang="en-US" altLang="zh-TW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and SD by writer k</a:t>
                </a:r>
                <a:endParaRPr lang="en-US" altLang="zh-TW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271" y="1235676"/>
                <a:ext cx="11557871" cy="5120674"/>
              </a:xfrm>
              <a:blipFill rotWithShape="0">
                <a:blip r:embed="rId3"/>
                <a:stretch>
                  <a:fillRect l="-1582" t="-30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857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41" y="1634247"/>
            <a:ext cx="8613918" cy="3628417"/>
          </a:xfr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10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494128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content of training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handwriting samples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required to be the same as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samples.</a:t>
            </a:r>
          </a:p>
          <a:p>
            <a:endParaRPr lang="en-US" altLang="zh-TW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preprocessing, the new method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function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even if the input image contains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small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of text.</a:t>
            </a:r>
            <a:endParaRPr lang="en-US" altLang="zh-TW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08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812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498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292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1271" y="1235676"/>
                <a:ext cx="11557871" cy="51206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multi-channel Gabor filtering</a:t>
                </a:r>
              </a:p>
              <a:p>
                <a:pPr marL="0" indent="0">
                  <a:buNone/>
                </a:pPr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600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TW" sz="36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3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zh-TW" sz="36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3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zh-TW" sz="36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00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TW" sz="3000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</m:t>
                      </m:r>
                      <m:d>
                        <m:dPr>
                          <m:ctrlP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TW" sz="3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zh-TW" sz="3000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altLang="zh-TW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zh-TW" sz="3000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zh-TW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den>
                      </m:f>
                      <m:r>
                        <a:rPr lang="en-US" altLang="zh-TW" sz="3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TW" sz="3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where</m:t>
                      </m:r>
                      <m:r>
                        <a:rPr lang="en-US" altLang="zh-TW" sz="3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3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a:rPr lang="en-US" altLang="zh-TW" sz="3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3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rad>
                    </m:oMath>
                  </m:oMathPara>
                </a14:m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271" y="1235676"/>
                <a:ext cx="11557871" cy="5120674"/>
              </a:xfrm>
              <a:blipFill rotWithShape="0">
                <a:blip r:embed="rId3"/>
                <a:stretch>
                  <a:fillRect l="-1582" t="-30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19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360</Words>
  <Application>Microsoft Office PowerPoint</Application>
  <PresentationFormat>寬螢幕</PresentationFormat>
  <Paragraphs>135</Paragraphs>
  <Slides>19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Biometric Personal Identification Based on Handwriting</vt:lpstr>
      <vt:lpstr>Abstract(1/2)</vt:lpstr>
      <vt:lpstr>Abstract(2/2)</vt:lpstr>
      <vt:lpstr>Biometric personal identification </vt:lpstr>
      <vt:lpstr>Biometric personal identification </vt:lpstr>
      <vt:lpstr>HBPI system</vt:lpstr>
      <vt:lpstr>The flow chart of the HBPI system</vt:lpstr>
      <vt:lpstr>The preprocessing of the HBPI system</vt:lpstr>
      <vt:lpstr>Feature extraction </vt:lpstr>
      <vt:lpstr>Feature extraction </vt:lpstr>
      <vt:lpstr>Feature extraction </vt:lpstr>
      <vt:lpstr>Feature extraction </vt:lpstr>
      <vt:lpstr>Classifier</vt:lpstr>
      <vt:lpstr>Result</vt:lpstr>
      <vt:lpstr>Conclusions</vt:lpstr>
      <vt:lpstr>PowerPoint 簡報</vt:lpstr>
      <vt:lpstr>PowerPoint 簡報</vt:lpstr>
      <vt:lpstr>PowerPoint 簡報</vt:lpstr>
      <vt:lpstr>Feature extraction 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pplab-class</cp:lastModifiedBy>
  <cp:revision>163</cp:revision>
  <dcterms:created xsi:type="dcterms:W3CDTF">2016-10-10T16:56:48Z</dcterms:created>
  <dcterms:modified xsi:type="dcterms:W3CDTF">2016-11-29T11:32:36Z</dcterms:modified>
</cp:coreProperties>
</file>